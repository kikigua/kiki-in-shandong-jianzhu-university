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72" r:id="rId3"/>
    <p:sldId id="608" r:id="rId5"/>
    <p:sldId id="609" r:id="rId6"/>
    <p:sldId id="610" r:id="rId7"/>
    <p:sldId id="611" r:id="rId8"/>
    <p:sldId id="473" r:id="rId9"/>
    <p:sldId id="614" r:id="rId10"/>
    <p:sldId id="615" r:id="rId11"/>
    <p:sldId id="616" r:id="rId12"/>
    <p:sldId id="613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27" r:id="rId24"/>
    <p:sldId id="628" r:id="rId25"/>
    <p:sldId id="629" r:id="rId26"/>
    <p:sldId id="631" r:id="rId27"/>
    <p:sldId id="630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C4"/>
    <a:srgbClr val="FBC001"/>
    <a:srgbClr val="00408E"/>
    <a:srgbClr val="0050B0"/>
    <a:srgbClr val="006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6" autoAdjust="0"/>
    <p:restoredTop sz="77933" autoAdjust="0"/>
  </p:normalViewPr>
  <p:slideViewPr>
    <p:cSldViewPr snapToGrid="0">
      <p:cViewPr varScale="1">
        <p:scale>
          <a:sx n="81" d="100"/>
          <a:sy n="81" d="100"/>
        </p:scale>
        <p:origin x="633" y="30"/>
      </p:cViewPr>
      <p:guideLst>
        <p:guide orient="horz" pos="2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4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6F32B-9060-4789-8659-39364963EF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2CDFD-DF46-4BFA-BD9C-269A7A5AEA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可以看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文件夹中8-1-example-btns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源代码。该程序点击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号</a:t>
            </a:r>
            <a:r>
              <a:rPr lang="en-US" altLang="zh-CN">
                <a:sym typeface="+mn-ea"/>
              </a:rPr>
              <a:t>div</a:t>
            </a:r>
            <a:r>
              <a:rPr lang="zh-CN" altLang="en-US">
                <a:sym typeface="+mn-ea"/>
              </a:rPr>
              <a:t>时，会触发一个</a:t>
            </a:r>
            <a:r>
              <a:rPr lang="en-US" altLang="zh-CN">
                <a:sym typeface="+mn-ea"/>
              </a:rPr>
              <a:t>alert</a:t>
            </a:r>
            <a:r>
              <a:rPr lang="zh-CN" altLang="en-US">
                <a:sym typeface="+mn-ea"/>
              </a:rPr>
              <a:t>警告框，内容是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您单击了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号按钮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。这段代码展示了交互式</a:t>
            </a:r>
            <a:r>
              <a:rPr lang="en-US" altLang="zh-CN">
                <a:sym typeface="+mn-ea"/>
              </a:rPr>
              <a:t>web</a:t>
            </a:r>
            <a:r>
              <a:rPr lang="zh-CN" altLang="en-US">
                <a:sym typeface="+mn-ea"/>
              </a:rPr>
              <a:t>应用的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个核心要素：选择</a:t>
            </a:r>
            <a:r>
              <a:rPr lang="en-US" altLang="zh-CN">
                <a:sym typeface="+mn-ea"/>
              </a:rPr>
              <a:t>DOM</a:t>
            </a:r>
            <a:r>
              <a:rPr lang="zh-CN" altLang="en-US">
                <a:sym typeface="+mn-ea"/>
              </a:rPr>
              <a:t>元素、触发事件和引起页面变化。但是，这还远远不够，因为：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）一个网页通常会有大量元素，因此，要精确选择一个或一组元素并不容易；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）页面中的事件有很多，如单击、失去焦点、键盘按下等等，必须根据需要进行绑定；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）页面中动态变化的形式有很多，如显示一个对话框，对页面中的元素内容、样式、属性进行修改以及页面数据的更新等。</a:t>
            </a:r>
            <a:endParaRPr lang="zh-CN" altLang="en-US"/>
          </a:p>
          <a:p>
            <a:r>
              <a:rPr lang="zh-CN" altLang="en-US">
                <a:sym typeface="+mn-ea"/>
              </a:rPr>
              <a:t>后续我们将看到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是如何简捷地实现这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个核心要素的。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Chaining Pattern</a:t>
            </a:r>
            <a:r>
              <a:rPr lang="zh-CN" altLang="en-US">
                <a:sym typeface="+mn-ea"/>
              </a:rPr>
              <a:t>：允许我们在相同的元素上运行多条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命令，这样浏览器就不必多次查找相同的元素。</a:t>
            </a:r>
            <a:endParaRPr lang="zh-CN" altLang="en-US"/>
          </a:p>
          <a:p>
            <a:r>
              <a:rPr lang="zh-CN" altLang="en-US">
                <a:sym typeface="+mn-ea"/>
              </a:rPr>
              <a:t>链式编码风格：</a:t>
            </a:r>
            <a:endParaRPr lang="zh-CN" altLang="en-US"/>
          </a:p>
          <a:p>
            <a:r>
              <a:rPr lang="zh-CN" altLang="en-US">
                <a:sym typeface="+mn-ea"/>
              </a:rPr>
              <a:t>1. 对于同个对象不超过3个操作可以写一行：$('li').show().unbind('click');</a:t>
            </a:r>
            <a:endParaRPr lang="zh-CN" altLang="en-US"/>
          </a:p>
          <a:p>
            <a:r>
              <a:rPr lang="zh-CN" altLang="en-US">
                <a:sym typeface="+mn-ea"/>
              </a:rPr>
              <a:t>2. 对于同个对象有较多操作,建议每行写一个操作或以功能块换行：</a:t>
            </a:r>
            <a:endParaRPr lang="zh-CN" altLang="en-US"/>
          </a:p>
          <a:p>
            <a:r>
              <a:rPr lang="zh-CN" altLang="en-US">
                <a:sym typeface="+mn-ea"/>
              </a:rPr>
              <a:t>$(this).removeClass('mouseout').addClass('mouseover')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.stop().fadeTo('fast',0.6).fadeTo('fast',1)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.unbind('click').click(function(){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   //do something…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});</a:t>
            </a:r>
            <a:endParaRPr lang="zh-CN" altLang="en-US"/>
          </a:p>
          <a:p>
            <a:r>
              <a:rPr lang="zh-CN" altLang="en-US">
                <a:sym typeface="+mn-ea"/>
              </a:rPr>
              <a:t>3. 对于多个对象操作,建议每个对象一行,如果涉及子元素可以适当缩进：</a:t>
            </a:r>
            <a:endParaRPr lang="zh-CN" altLang="en-US"/>
          </a:p>
          <a:p>
            <a:r>
              <a:rPr lang="zh-CN" altLang="en-US">
                <a:sym typeface="+mn-ea"/>
              </a:rPr>
              <a:t>$(this).addClass('highlight')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  .children('li').show().end()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.siblings().reomveClass('highlight')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  .children('li').hide();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的目的就是为了减轻</a:t>
            </a:r>
            <a:r>
              <a:rPr lang="en-US" altLang="zh-CN">
                <a:sym typeface="+mn-ea"/>
              </a:rPr>
              <a:t>Web</a:t>
            </a:r>
            <a:r>
              <a:rPr lang="zh-CN" altLang="en-US">
                <a:sym typeface="+mn-ea"/>
              </a:rPr>
              <a:t>开发人员的负担，以最简洁、最简便和最少代码量的方式，帮助开发人员高效地实现交互式</a:t>
            </a:r>
            <a:r>
              <a:rPr lang="en-US" altLang="zh-CN">
                <a:sym typeface="+mn-ea"/>
              </a:rPr>
              <a:t>Web</a:t>
            </a:r>
            <a:r>
              <a:rPr lang="zh-CN" altLang="en-US">
                <a:sym typeface="+mn-ea"/>
              </a:rPr>
              <a:t>应用。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kern="100" spc="2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如果发现无法找到某个方法的报错，可以先去看看是不是没有引入jquery-1.11.3文件，或者引入的路径是否正确，再去排查其他的错误。</a:t>
            </a:r>
            <a:endParaRPr lang="zh-CN" altLang="en-US" kern="100" spc="2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实现交互效果的第一步就是选择要操控的</a:t>
            </a:r>
            <a:r>
              <a:rPr lang="en-US" altLang="zh-CN">
                <a:sym typeface="+mn-ea"/>
              </a:rPr>
              <a:t>DOM</a:t>
            </a:r>
            <a:r>
              <a:rPr lang="zh-CN" altLang="en-US">
                <a:sym typeface="+mn-ea"/>
              </a:rPr>
              <a:t>元素，下面我们就来看看它是如何做到的。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为了充分利用元素之间的各种关系，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为我们提供了很多</a:t>
            </a:r>
            <a:r>
              <a:rPr lang="en-US" altLang="zh-CN">
                <a:sym typeface="+mn-ea"/>
              </a:rPr>
              <a:t>API</a:t>
            </a:r>
            <a:r>
              <a:rPr lang="zh-CN" altLang="en-US">
                <a:sym typeface="+mn-ea"/>
              </a:rPr>
              <a:t>函数，例如</a:t>
            </a:r>
            <a:r>
              <a:rPr lang="en-US" altLang="zh-CN">
                <a:sym typeface="+mn-ea"/>
              </a:rPr>
              <a:t>parent()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children()</a:t>
            </a:r>
            <a:r>
              <a:rPr lang="zh-CN" altLang="en-US">
                <a:sym typeface="+mn-ea"/>
              </a:rPr>
              <a:t>、在同一层级的兄弟元素之间</a:t>
            </a:r>
            <a:r>
              <a:rPr lang="en-US" altLang="zh-CN">
                <a:sym typeface="+mn-ea"/>
              </a:rPr>
              <a:t>prev()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next()</a:t>
            </a:r>
            <a:r>
              <a:rPr lang="zh-CN" altLang="en-US">
                <a:sym typeface="+mn-ea"/>
              </a:rPr>
              <a:t>等等。</a:t>
            </a:r>
            <a:endParaRPr lang="zh-CN" altLang="en-US"/>
          </a:p>
          <a:p>
            <a:r>
              <a:rPr lang="zh-CN" altLang="en-US">
                <a:sym typeface="+mn-ea"/>
              </a:rPr>
              <a:t>要利用这些方法的前提是：首先将</a:t>
            </a:r>
            <a:r>
              <a:rPr lang="en-US" altLang="zh-CN">
                <a:sym typeface="+mn-ea"/>
              </a:rPr>
              <a:t>DOM</a:t>
            </a:r>
            <a:r>
              <a:rPr lang="zh-CN" altLang="en-US">
                <a:sym typeface="+mn-ea"/>
              </a:rPr>
              <a:t>元素封装成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对象，下面我们就看看这是如何实现的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对象是一个类数组的对象，它附带着一系列的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方法。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中最常用的一个函数是</a:t>
            </a:r>
            <a:r>
              <a:rPr lang="en-US" altLang="zh-CN">
                <a:sym typeface="+mn-ea"/>
              </a:rPr>
              <a:t>$()</a:t>
            </a:r>
            <a:r>
              <a:rPr lang="zh-CN" altLang="en-US">
                <a:sym typeface="+mn-ea"/>
              </a:rPr>
              <a:t>，它是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的简写。。。。。。</a:t>
            </a:r>
            <a:endParaRPr lang="zh-CN" altLang="en-US"/>
          </a:p>
          <a:p>
            <a:r>
              <a:rPr lang="zh-CN" altLang="en-US">
                <a:sym typeface="+mn-ea"/>
              </a:rPr>
              <a:t>上述第一条语句通过指定学生信息的两个键：值对创建了一个</a:t>
            </a:r>
            <a:r>
              <a:rPr lang="en-US" altLang="zh-CN">
                <a:sym typeface="+mn-ea"/>
              </a:rPr>
              <a:t>student</a:t>
            </a:r>
            <a:r>
              <a:rPr lang="zh-CN" altLang="en-US">
                <a:sym typeface="+mn-ea"/>
              </a:rPr>
              <a:t>对象，其中每一个键值对被称为学生对象的属性，此时，</a:t>
            </a:r>
            <a:r>
              <a:rPr lang="en-US" altLang="zh-CN">
                <a:sym typeface="+mn-ea"/>
              </a:rPr>
              <a:t>student</a:t>
            </a:r>
            <a:r>
              <a:rPr lang="zh-CN" altLang="en-US">
                <a:sym typeface="+mn-ea"/>
              </a:rPr>
              <a:t>是普通的</a:t>
            </a:r>
            <a:r>
              <a:rPr lang="en-US" altLang="zh-CN">
                <a:sym typeface="+mn-ea"/>
              </a:rPr>
              <a:t>Object</a:t>
            </a:r>
            <a:r>
              <a:rPr lang="zh-CN" altLang="en-US">
                <a:sym typeface="+mn-ea"/>
              </a:rPr>
              <a:t>类型的</a:t>
            </a:r>
            <a:r>
              <a:rPr lang="en-US" altLang="zh-CN">
                <a:sym typeface="+mn-ea"/>
              </a:rPr>
              <a:t>Javascript</a:t>
            </a:r>
            <a:r>
              <a:rPr lang="zh-CN" altLang="en-US">
                <a:sym typeface="+mn-ea"/>
              </a:rPr>
              <a:t>对象。而第二条语句则通过</a:t>
            </a:r>
            <a:r>
              <a:rPr lang="en-US" altLang="zh-CN">
                <a:sym typeface="+mn-ea"/>
              </a:rPr>
              <a:t>$()</a:t>
            </a:r>
            <a:r>
              <a:rPr lang="zh-CN" altLang="en-US">
                <a:sym typeface="+mn-ea"/>
              </a:rPr>
              <a:t>函数，将这个原生对象转化为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对象，目的是为了使用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中具有强大功能的方法，这些方法要比原生</a:t>
            </a:r>
            <a:r>
              <a:rPr lang="en-US" altLang="zh-CN">
                <a:sym typeface="+mn-ea"/>
              </a:rPr>
              <a:t>JavaScript</a:t>
            </a:r>
            <a:r>
              <a:rPr lang="zh-CN" altLang="en-US">
                <a:sym typeface="+mn-ea"/>
              </a:rPr>
              <a:t>方法更简单。基于上述两条语句，我们就可以轻松地使用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对象的方法，比如</a:t>
            </a:r>
            <a:r>
              <a:rPr lang="en-US" altLang="zh-CN">
                <a:sym typeface="+mn-ea"/>
              </a:rPr>
              <a:t>prop()</a:t>
            </a:r>
            <a:r>
              <a:rPr lang="zh-CN" altLang="en-US">
                <a:sym typeface="+mn-ea"/>
              </a:rPr>
              <a:t>方法，用于获取某个属性对应的值。</a:t>
            </a:r>
            <a:endParaRPr lang="zh-CN" altLang="en-US"/>
          </a:p>
          <a:p>
            <a:r>
              <a:rPr lang="zh-CN" altLang="en-US">
                <a:sym typeface="+mn-ea"/>
              </a:rPr>
              <a:t>上述语句通过</a:t>
            </a:r>
            <a:r>
              <a:rPr lang="en-US" altLang="zh-CN">
                <a:sym typeface="+mn-ea"/>
              </a:rPr>
              <a:t>$student1</a:t>
            </a:r>
            <a:r>
              <a:rPr lang="zh-CN" altLang="en-US">
                <a:sym typeface="+mn-ea"/>
              </a:rPr>
              <a:t>对象的</a:t>
            </a:r>
            <a:r>
              <a:rPr lang="en-US" altLang="zh-CN">
                <a:sym typeface="+mn-ea"/>
              </a:rPr>
              <a:t>prop()</a:t>
            </a:r>
            <a:r>
              <a:rPr lang="zh-CN" altLang="en-US">
                <a:sym typeface="+mn-ea"/>
              </a:rPr>
              <a:t>方法传入</a:t>
            </a:r>
            <a:r>
              <a:rPr lang="en-US" altLang="zh-CN">
                <a:sym typeface="+mn-ea"/>
              </a:rPr>
              <a:t>sname</a:t>
            </a:r>
            <a:r>
              <a:rPr lang="zh-CN" altLang="en-US">
                <a:sym typeface="+mn-ea"/>
              </a:rPr>
              <a:t>参数，就可以获取</a:t>
            </a:r>
            <a:r>
              <a:rPr lang="en-US" altLang="zh-CN">
                <a:sym typeface="+mn-ea"/>
              </a:rPr>
              <a:t>sname</a:t>
            </a:r>
            <a:r>
              <a:rPr lang="zh-CN" altLang="en-US">
                <a:sym typeface="+mn-ea"/>
              </a:rPr>
              <a:t>键对应的值</a:t>
            </a:r>
            <a:r>
              <a:rPr lang="en-US" altLang="zh-CN">
                <a:sym typeface="+mn-ea"/>
              </a:rPr>
              <a:t>Lily</a:t>
            </a:r>
            <a:r>
              <a:rPr lang="zh-CN" altLang="en-US">
                <a:sym typeface="+mn-ea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的选择器分类有多种说法，没有定论，这里我们只是简单地将选择器分为两种。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看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文件夹中8-1-countIns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源代码，该程序允许用户通过单击加号按钮或减号按钮，实现对数量的加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或减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在此程序代码中，我们通过$("#add")选择了加号按钮，通过$("#minus")选择了减号按钮，并进一步为它们分别绑定了</a:t>
            </a:r>
            <a:r>
              <a:rPr lang="en-US" altLang="zh-CN">
                <a:sym typeface="+mn-ea"/>
              </a:rPr>
              <a:t>click</a:t>
            </a:r>
            <a:r>
              <a:rPr lang="zh-CN" altLang="en-US">
                <a:sym typeface="+mn-ea"/>
              </a:rPr>
              <a:t>事件。</a:t>
            </a:r>
            <a:endParaRPr lang="zh-CN" altLang="en-US"/>
          </a:p>
          <a:p>
            <a:r>
              <a:rPr lang="zh-CN" altLang="en-US">
                <a:sym typeface="+mn-ea"/>
              </a:rPr>
              <a:t>为了修改数量的值，我们还利用了$(".input_count")选择了数量元素。</a:t>
            </a:r>
            <a:endParaRPr lang="zh-CN" altLang="en-US"/>
          </a:p>
          <a:p>
            <a:r>
              <a:rPr lang="zh-CN" altLang="en-US">
                <a:sym typeface="+mn-ea"/>
              </a:rPr>
              <a:t>这就是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CSS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选择器和</a:t>
            </a:r>
            <a:r>
              <a:rPr lang="en-US" altLang="zh-CN">
                <a:sym typeface="+mn-ea"/>
              </a:rPr>
              <a:t>class</a:t>
            </a:r>
            <a:r>
              <a:rPr lang="zh-CN" altLang="en-US">
                <a:sym typeface="+mn-ea"/>
              </a:rPr>
              <a:t>选择器实现了对目标元素的选择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复合选择器常常用于从一堆</a:t>
            </a:r>
            <a:r>
              <a:rPr lang="en-US" altLang="zh-CN">
                <a:sym typeface="+mn-ea"/>
              </a:rPr>
              <a:t>HTML</a:t>
            </a:r>
            <a:r>
              <a:rPr lang="zh-CN" altLang="en-US">
                <a:sym typeface="+mn-ea"/>
              </a:rPr>
              <a:t>元素中更精确地找到一个目标元素或一组目标元素。</a:t>
            </a:r>
            <a:endParaRPr lang="zh-CN" altLang="en-US"/>
          </a:p>
          <a:p>
            <a:r>
              <a:rPr lang="zh-CN" altLang="en-US">
                <a:sym typeface="+mn-ea"/>
              </a:rPr>
              <a:t>看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文件夹中8-1-likes源代码，该程序允许用户通过单击点赞图片，实现对数量加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在此程序代码中，我们通过$(".like img")选择了点赞图片，它的方法是通过复合选择器".like img"实现，先选择</a:t>
            </a:r>
            <a:r>
              <a:rPr lang="en-US" altLang="zh-CN">
                <a:sym typeface="+mn-ea"/>
              </a:rPr>
              <a:t>class=like</a:t>
            </a:r>
            <a:r>
              <a:rPr lang="zh-CN" altLang="en-US">
                <a:sym typeface="+mn-ea"/>
              </a:rPr>
              <a:t>的元素，再选择它的后代元素</a:t>
            </a:r>
            <a:r>
              <a:rPr lang="en-US" altLang="zh-CN">
                <a:sym typeface="+mn-ea"/>
              </a:rPr>
              <a:t>img</a:t>
            </a:r>
            <a:r>
              <a:rPr lang="zh-CN" altLang="en-US">
                <a:sym typeface="+mn-ea"/>
              </a:rPr>
              <a:t>；然后，为该对象绑定了</a:t>
            </a:r>
            <a:r>
              <a:rPr lang="en-US" altLang="zh-CN">
                <a:sym typeface="+mn-ea"/>
              </a:rPr>
              <a:t>click</a:t>
            </a:r>
            <a:r>
              <a:rPr lang="zh-CN" altLang="en-US">
                <a:sym typeface="+mn-ea"/>
              </a:rPr>
              <a:t>事件，在事件处理函数中，又通过$(this).next()方法找到当前元素的下一个元素，即计数元素，实现对其数量的加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其实选择目标元素还不是我们的最终目标，我们其实是希望通过首先选中目标元素，再对其进行相应的操作，如事件绑定，内容和样式的修改等。所以下面我们就看看如何实现这些目标。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.css()</a:t>
            </a:r>
            <a:r>
              <a:rPr lang="zh-CN" altLang="en-US">
                <a:sym typeface="+mn-ea"/>
              </a:rPr>
              <a:t>方法例子见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文件夹中8-2-1-css-getProp</a:t>
            </a:r>
            <a:r>
              <a:rPr lang="en-US" altLang="zh-CN">
                <a:sym typeface="+mn-ea"/>
              </a:rPr>
              <a:t>.html, 8-2-2-css-setProp.html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en-US" altLang="zh-CN">
                <a:sym typeface="+mn-ea"/>
              </a:rPr>
              <a:t>.attr()</a:t>
            </a:r>
            <a:r>
              <a:rPr lang="zh-CN" altLang="en-US">
                <a:sym typeface="+mn-ea"/>
              </a:rPr>
              <a:t>方法例子见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文件夹中8-2-3-attr-imgs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en-US" altLang="zh-CN">
                <a:sym typeface="+mn-ea"/>
              </a:rPr>
              <a:t>.prop()</a:t>
            </a:r>
            <a:r>
              <a:rPr lang="zh-CN" altLang="en-US">
                <a:sym typeface="+mn-ea"/>
              </a:rPr>
              <a:t>方法例子见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文件夹中8-2-4-prop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例子见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文件夹中8-2-5-html-text-val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en-US" altLang="zh-CN">
                <a:sym typeface="+mn-ea"/>
              </a:rPr>
              <a:t>html()</a:t>
            </a:r>
            <a:r>
              <a:rPr lang="zh-CN" altLang="en-US">
                <a:sym typeface="+mn-ea"/>
              </a:rPr>
              <a:t>获得匹配元素的标签和文本内容，结果输出包含</a:t>
            </a:r>
            <a:r>
              <a:rPr lang="en-US" altLang="zh-CN">
                <a:sym typeface="+mn-ea"/>
              </a:rPr>
              <a:t>HTML</a:t>
            </a:r>
            <a:r>
              <a:rPr lang="zh-CN" altLang="en-US">
                <a:sym typeface="+mn-ea"/>
              </a:rPr>
              <a:t>标签的完整内容；</a:t>
            </a:r>
            <a:endParaRPr lang="zh-CN" altLang="en-US"/>
          </a:p>
          <a:p>
            <a:r>
              <a:rPr lang="en-US" altLang="zh-CN">
                <a:sym typeface="+mn-ea"/>
              </a:rPr>
              <a:t>text()</a:t>
            </a:r>
            <a:r>
              <a:rPr lang="zh-CN" altLang="en-US">
                <a:sym typeface="+mn-ea"/>
              </a:rPr>
              <a:t>只获取所有匹配元素的文本内容；</a:t>
            </a:r>
            <a:endParaRPr lang="zh-CN" altLang="en-US"/>
          </a:p>
          <a:p>
            <a:r>
              <a:rPr lang="en-US" altLang="zh-CN">
                <a:sym typeface="+mn-ea"/>
              </a:rPr>
              <a:t>val()</a:t>
            </a:r>
            <a:r>
              <a:rPr lang="zh-CN" altLang="en-US">
                <a:sym typeface="+mn-ea"/>
              </a:rPr>
              <a:t>只获取匹配</a:t>
            </a:r>
            <a:r>
              <a:rPr lang="en-US" altLang="zh-CN">
                <a:sym typeface="+mn-ea"/>
              </a:rPr>
              <a:t>input</a:t>
            </a:r>
            <a:r>
              <a:rPr lang="zh-CN" altLang="en-US">
                <a:sym typeface="+mn-ea"/>
              </a:rPr>
              <a:t>元素的文本值。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例子见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文件夹中8-2-6-append4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。该程序允许用户通过不同的方式向已有的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元素中添加新的内容。</a:t>
            </a:r>
            <a:endParaRPr lang="zh-CN" altLang="en-US"/>
          </a:p>
          <a:p>
            <a:r>
              <a:rPr lang="zh-CN" altLang="en-US">
                <a:sym typeface="+mn-ea"/>
              </a:rPr>
              <a:t>prepend( "你好，" )是将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你好，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插入两个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元素包裹的文本内容之前；</a:t>
            </a:r>
            <a:endParaRPr lang="zh-CN" altLang="en-US"/>
          </a:p>
          <a:p>
            <a:r>
              <a:rPr lang="zh-CN" altLang="en-US">
                <a:sym typeface="+mn-ea"/>
              </a:rPr>
              <a:t>append( "&lt;strong&gt;？&lt;/strong&gt;" )是将加粗的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？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插入两个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元素包裹的文本内容的末尾；</a:t>
            </a:r>
            <a:endParaRPr lang="zh-CN" altLang="en-US"/>
          </a:p>
          <a:p>
            <a:r>
              <a:rPr lang="zh-CN" altLang="en-US">
                <a:sym typeface="+mn-ea"/>
              </a:rPr>
              <a:t>before($("b"))是将红色加粗的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请问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插入两个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元素之前；</a:t>
            </a:r>
            <a:endParaRPr lang="zh-CN" altLang="en-US"/>
          </a:p>
          <a:p>
            <a:r>
              <a:rPr lang="zh-CN" altLang="en-US">
                <a:sym typeface="+mn-ea"/>
              </a:rPr>
              <a:t>after("&lt;hr/&gt;")是将横线插入在</a:t>
            </a:r>
            <a:r>
              <a:rPr lang="en-US" altLang="zh-CN">
                <a:sym typeface="+mn-ea"/>
              </a:rPr>
              <a:t>div</a:t>
            </a:r>
            <a:r>
              <a:rPr lang="zh-CN" altLang="en-US">
                <a:sym typeface="+mn-ea"/>
              </a:rPr>
              <a:t>元素之后。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原生</a:t>
            </a:r>
            <a:r>
              <a:rPr lang="en-US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JavaScript</a:t>
            </a:r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是通过</a:t>
            </a:r>
            <a:r>
              <a:rPr lang="en-US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en-US" altLang="zh-CN" kern="100" spc="20" dirty="0" err="1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addEventListener</a:t>
            </a:r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（）给</a:t>
            </a:r>
            <a:r>
              <a:rPr lang="en-US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元素绑定事件（即完成注册），实现用户对</a:t>
            </a:r>
            <a:r>
              <a:rPr lang="en-US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</a:t>
            </a:r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元素发出触发行为（比如鼠标单击按钮，移动鼠标到某个图标），进而会看到事件处理函数的执行所引发的动态效果（按钮会显示按下的样式变换效果，图标会发生翻转变化等）。</a:t>
            </a:r>
            <a:endParaRPr lang="zh-CN" altLang="zh-CN" kern="100" spc="2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上例子完整代码在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文件夹8-4-1-eventDriven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中。</a:t>
            </a:r>
            <a:r>
              <a:rPr lang="zh-CN" altLang="zh-CN" kern="100" spc="2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zh-CN" kern="100" spc="2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中两种常见的事件绑定的方法：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）通过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对象的</a:t>
            </a:r>
            <a:r>
              <a:rPr lang="en-US" altLang="zh-CN">
                <a:sym typeface="+mn-ea"/>
              </a:rPr>
              <a:t>on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‘</a:t>
            </a:r>
            <a:r>
              <a:rPr lang="zh-CN" altLang="en-US">
                <a:sym typeface="+mn-ea"/>
              </a:rPr>
              <a:t>事件名称</a:t>
            </a:r>
            <a:r>
              <a:rPr lang="en-US" altLang="zh-CN">
                <a:sym typeface="+mn-ea"/>
              </a:rPr>
              <a:t>’</a:t>
            </a:r>
            <a:r>
              <a:rPr lang="zh-CN" altLang="en-US">
                <a:sym typeface="+mn-ea"/>
              </a:rPr>
              <a:t>，事件句柄）方法。事件句柄可以是直接定义的匿名函数，也可以是在别处定义的函数，只需传入函数的名称，完成对该处理函数的引用即可。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）通过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对象的具体事件方法，将上述代码进一步简化为事件名称（事件句柄）。</a:t>
            </a:r>
            <a:endParaRPr lang="zh-CN" altLang="en-US"/>
          </a:p>
          <a:p>
            <a:r>
              <a:rPr lang="zh-CN" altLang="en-US">
                <a:sym typeface="+mn-ea"/>
              </a:rPr>
              <a:t>通过对比代码的行数不难发现，借助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可以让我们通过更少的代码量实现与原生</a:t>
            </a:r>
            <a:r>
              <a:rPr lang="en-US" altLang="zh-CN">
                <a:sym typeface="+mn-ea"/>
              </a:rPr>
              <a:t>JavaScript</a:t>
            </a:r>
            <a:r>
              <a:rPr lang="zh-CN" altLang="en-US">
                <a:sym typeface="+mn-ea"/>
              </a:rPr>
              <a:t>多行代码一样的功能。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当用户触发页面上的</a:t>
            </a:r>
            <a:r>
              <a:rPr lang="en-US" altLang="zh-CN">
                <a:sym typeface="+mn-ea"/>
              </a:rPr>
              <a:t>DOM</a:t>
            </a:r>
            <a:r>
              <a:rPr lang="zh-CN" altLang="en-US">
                <a:sym typeface="+mn-ea"/>
              </a:rPr>
              <a:t>元素后，给该元素注册的事件就会被触发。事件的本质是回调函数，该函数的形参包含一个事件对象（</a:t>
            </a:r>
            <a:r>
              <a:rPr lang="en-US" altLang="zh-CN">
                <a:sym typeface="+mn-ea"/>
              </a:rPr>
              <a:t>event</a:t>
            </a:r>
            <a:r>
              <a:rPr lang="zh-CN" altLang="en-US">
                <a:sym typeface="+mn-ea"/>
              </a:rPr>
              <a:t>）。该对象在需要时，通过指定对应的实参来获取有关的详细信息，这些信息是对事件状态的描述。常见的属性和方法见表。</a:t>
            </a:r>
            <a:endParaRPr lang="zh-CN" altLang="en-US"/>
          </a:p>
          <a:p>
            <a:r>
              <a:rPr lang="zh-CN" altLang="en-US">
                <a:sym typeface="+mn-ea"/>
              </a:rPr>
              <a:t>事件冒泡例子见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文件夹8-4-2-event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，在控制台看输出。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如果要给一组嵌套的元素（比如</a:t>
            </a:r>
            <a:r>
              <a:rPr lang="en-US" altLang="zh-CN">
                <a:sym typeface="+mn-ea"/>
              </a:rPr>
              <a:t>div&gt;ul&gt;li</a:t>
            </a:r>
            <a:r>
              <a:rPr lang="zh-CN" altLang="en-US">
                <a:sym typeface="+mn-ea"/>
              </a:rPr>
              <a:t>）绑定一个单击事件，则根据冒泡机制原理，当我们向最里面的</a:t>
            </a:r>
            <a:r>
              <a:rPr lang="en-US" altLang="zh-CN">
                <a:sym typeface="+mn-ea"/>
              </a:rPr>
              <a:t>li</a:t>
            </a:r>
            <a:r>
              <a:rPr lang="zh-CN" altLang="en-US">
                <a:sym typeface="+mn-ea"/>
              </a:rPr>
              <a:t>元素添加一个</a:t>
            </a:r>
            <a:r>
              <a:rPr lang="en-US" altLang="zh-CN">
                <a:sym typeface="+mn-ea"/>
              </a:rPr>
              <a:t>click</a:t>
            </a:r>
            <a:r>
              <a:rPr lang="zh-CN" altLang="en-US">
                <a:sym typeface="+mn-ea"/>
              </a:rPr>
              <a:t>事件时，这个事件会一层一层地向外执行，执行顺序为</a:t>
            </a:r>
            <a:r>
              <a:rPr lang="en-US" altLang="zh-CN">
                <a:sym typeface="+mn-ea"/>
              </a:rPr>
              <a:t>li.click&gt;ul.click&gt;div.click</a:t>
            </a:r>
            <a:r>
              <a:rPr lang="zh-CN" altLang="en-US">
                <a:sym typeface="+mn-ea"/>
              </a:rPr>
              <a:t>，所以，事件代理就利用这个机制，给最外层的</a:t>
            </a:r>
            <a:r>
              <a:rPr lang="en-US" altLang="zh-CN">
                <a:sym typeface="+mn-ea"/>
              </a:rPr>
              <a:t>div</a:t>
            </a:r>
            <a:r>
              <a:rPr lang="zh-CN" altLang="en-US">
                <a:sym typeface="+mn-ea"/>
              </a:rPr>
              <a:t>绑定点击事件，于是单击到里面的</a:t>
            </a:r>
            <a:r>
              <a:rPr lang="en-US" altLang="zh-CN">
                <a:sym typeface="+mn-ea"/>
              </a:rPr>
              <a:t>ul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li</a:t>
            </a:r>
            <a:r>
              <a:rPr lang="zh-CN" altLang="en-US">
                <a:sym typeface="+mn-ea"/>
              </a:rPr>
              <a:t>元素时，都会冒泡到最外层的</a:t>
            </a:r>
            <a:r>
              <a:rPr lang="en-US" altLang="zh-CN">
                <a:sym typeface="+mn-ea"/>
              </a:rPr>
              <a:t>div</a:t>
            </a:r>
            <a:r>
              <a:rPr lang="zh-CN" altLang="en-US">
                <a:sym typeface="+mn-ea"/>
              </a:rPr>
              <a:t>上，这就是委托父元素代为执行事件。</a:t>
            </a:r>
            <a:endParaRPr lang="zh-CN" altLang="en-US"/>
          </a:p>
          <a:p>
            <a:r>
              <a:rPr lang="zh-CN" altLang="en-US">
                <a:sym typeface="+mn-ea"/>
              </a:rPr>
              <a:t>事件代理的真正意义是减少对</a:t>
            </a:r>
            <a:r>
              <a:rPr lang="en-US" altLang="zh-CN">
                <a:sym typeface="+mn-ea"/>
              </a:rPr>
              <a:t>DOM</a:t>
            </a:r>
            <a:r>
              <a:rPr lang="zh-CN" altLang="en-US">
                <a:sym typeface="+mn-ea"/>
              </a:rPr>
              <a:t>元素的事件操作，以优化网页的加载速度。</a:t>
            </a:r>
            <a:endParaRPr lang="zh-CN" altLang="en-US"/>
          </a:p>
          <a:p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例子在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文件夹8-4-4-event-delegate</a:t>
            </a:r>
            <a:r>
              <a:rPr lang="en-US" altLang="zh-CN">
                <a:sym typeface="+mn-ea"/>
              </a:rPr>
              <a:t>.html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在此程序中，给</a:t>
            </a:r>
            <a:r>
              <a:rPr lang="en-US" altLang="zh-CN">
                <a:sym typeface="+mn-ea"/>
              </a:rPr>
              <a:t>li</a:t>
            </a:r>
            <a:r>
              <a:rPr lang="zh-CN" altLang="en-US">
                <a:sym typeface="+mn-ea"/>
              </a:rPr>
              <a:t>元素绑定事件，如果我们仍然采用$('ul').</a:t>
            </a:r>
            <a:r>
              <a:rPr lang="en-US" altLang="zh-CN">
                <a:sym typeface="+mn-ea"/>
              </a:rPr>
              <a:t>click(function(){})</a:t>
            </a:r>
            <a:r>
              <a:rPr lang="zh-CN" altLang="en-US">
                <a:sym typeface="+mn-ea"/>
              </a:rPr>
              <a:t>的方式给所有</a:t>
            </a:r>
            <a:r>
              <a:rPr lang="en-US" altLang="zh-CN">
                <a:sym typeface="+mn-ea"/>
              </a:rPr>
              <a:t>li</a:t>
            </a:r>
            <a:r>
              <a:rPr lang="zh-CN" altLang="en-US">
                <a:sym typeface="+mn-ea"/>
              </a:rPr>
              <a:t>元素注册单击事件，就会发现它只对前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个静态元素有效，对第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个动态添加的元素无效。为解决这个问题，我们采用了</a:t>
            </a:r>
            <a:r>
              <a:rPr lang="en-US" altLang="zh-CN">
                <a:sym typeface="+mn-ea"/>
              </a:rPr>
              <a:t>jQuery</a:t>
            </a:r>
            <a:r>
              <a:rPr lang="zh-CN" altLang="en-US">
                <a:sym typeface="+mn-ea"/>
              </a:rPr>
              <a:t>提供的新方法</a:t>
            </a:r>
            <a:r>
              <a:rPr lang="en-US" altLang="zh-CN">
                <a:sym typeface="+mn-ea"/>
              </a:rPr>
              <a:t>on()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    $('ul').on('click','li',function(){</a:t>
            </a:r>
            <a:endParaRPr lang="zh-CN" altLang="en-US"/>
          </a:p>
          <a:p>
            <a:r>
              <a:rPr lang="zh-CN" altLang="en-US">
                <a:sym typeface="+mn-ea"/>
              </a:rPr>
              <a:t>        alert($(this).text());          </a:t>
            </a:r>
            <a:endParaRPr lang="zh-CN" altLang="en-US"/>
          </a:p>
          <a:p>
            <a:r>
              <a:rPr lang="zh-CN" altLang="en-US">
                <a:sym typeface="+mn-ea"/>
              </a:rPr>
              <a:t>    });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173" y="56493"/>
            <a:ext cx="10515600" cy="1001505"/>
          </a:xfrm>
        </p:spPr>
        <p:txBody>
          <a:bodyPr>
            <a:normAutofit/>
          </a:bodyPr>
          <a:lstStyle>
            <a:lvl1pPr>
              <a:defRPr sz="3600" b="1" baseline="0"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31173" y="1253331"/>
            <a:ext cx="10515600" cy="4351338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b="1" baseline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447675" indent="-179705">
              <a:lnSpc>
                <a:spcPct val="120000"/>
              </a:lnSpc>
              <a:spcBef>
                <a:spcPts val="0"/>
              </a:spcBef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894080" indent="-268605">
              <a:lnSpc>
                <a:spcPct val="120000"/>
              </a:lnSpc>
              <a:spcBef>
                <a:spcPts val="0"/>
              </a:spcBef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</a:lstStyle>
          <a:p>
            <a:pPr lvl="0"/>
            <a:r>
              <a:rPr lang="zh-CN" altLang="en-US" dirty="0"/>
              <a:t> 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任意多边形 10"/>
          <p:cNvSpPr/>
          <p:nvPr userDrawn="1"/>
        </p:nvSpPr>
        <p:spPr>
          <a:xfrm>
            <a:off x="0" y="6492876"/>
            <a:ext cx="12192000" cy="365124"/>
          </a:xfrm>
          <a:custGeom>
            <a:avLst/>
            <a:gdLst>
              <a:gd name="connsiteX0" fmla="*/ 11618439 w 12192000"/>
              <a:gd name="connsiteY0" fmla="*/ 0 h 234778"/>
              <a:gd name="connsiteX1" fmla="*/ 12192000 w 12192000"/>
              <a:gd name="connsiteY1" fmla="*/ 0 h 234778"/>
              <a:gd name="connsiteX2" fmla="*/ 12192000 w 12192000"/>
              <a:gd name="connsiteY2" fmla="*/ 234778 h 234778"/>
              <a:gd name="connsiteX3" fmla="*/ 11559745 w 12192000"/>
              <a:gd name="connsiteY3" fmla="*/ 234778 h 234778"/>
              <a:gd name="connsiteX4" fmla="*/ 0 w 12192000"/>
              <a:gd name="connsiteY4" fmla="*/ 0 h 234778"/>
              <a:gd name="connsiteX5" fmla="*/ 9261388 w 12192000"/>
              <a:gd name="connsiteY5" fmla="*/ 0 h 234778"/>
              <a:gd name="connsiteX6" fmla="*/ 9202694 w 12192000"/>
              <a:gd name="connsiteY6" fmla="*/ 234778 h 234778"/>
              <a:gd name="connsiteX7" fmla="*/ 0 w 12192000"/>
              <a:gd name="connsiteY7" fmla="*/ 234778 h 23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34778">
                <a:moveTo>
                  <a:pt x="11618439" y="0"/>
                </a:moveTo>
                <a:lnTo>
                  <a:pt x="12192000" y="0"/>
                </a:lnTo>
                <a:lnTo>
                  <a:pt x="12192000" y="234778"/>
                </a:lnTo>
                <a:lnTo>
                  <a:pt x="11559745" y="234778"/>
                </a:lnTo>
                <a:close/>
                <a:moveTo>
                  <a:pt x="0" y="0"/>
                </a:moveTo>
                <a:lnTo>
                  <a:pt x="9261388" y="0"/>
                </a:lnTo>
                <a:lnTo>
                  <a:pt x="9202694" y="234778"/>
                </a:lnTo>
                <a:lnTo>
                  <a:pt x="0" y="234778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8866569" y="6519729"/>
            <a:ext cx="2097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600" spc="300" dirty="0">
                <a:solidFill>
                  <a:srgbClr val="00408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厚德博学</a:t>
            </a:r>
            <a:endParaRPr lang="zh-CN" altLang="en-US" sz="1600" spc="300" dirty="0">
              <a:solidFill>
                <a:srgbClr val="00408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9915493" y="6519729"/>
            <a:ext cx="2097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600" spc="300" dirty="0">
                <a:solidFill>
                  <a:srgbClr val="00408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筑基建业</a:t>
            </a:r>
            <a:endParaRPr lang="zh-CN" altLang="en-US" sz="1600" spc="300" dirty="0">
              <a:solidFill>
                <a:srgbClr val="00408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98601" y="6519729"/>
            <a:ext cx="2545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lang="en-US" altLang="zh-CN" sz="1600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思源黑体 CN Normal" panose="020B0400000000000000" pitchFamily="34" charset="-122"/>
              </a:rPr>
              <a:t>Web</a:t>
            </a:r>
            <a:r>
              <a:rPr lang="zh-CN" altLang="en-US" sz="1600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思源黑体 CN Normal" panose="020B0400000000000000" pitchFamily="34" charset="-122"/>
              </a:rPr>
              <a:t>开发基础</a:t>
            </a:r>
            <a:r>
              <a:rPr lang="en-US" altLang="zh-CN" sz="1600" spc="0" baseline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思源黑体 CN Normal" panose="020B0400000000000000" pitchFamily="34" charset="-122"/>
              </a:rPr>
              <a:t>-HTML</a:t>
            </a:r>
            <a:endParaRPr lang="zh-CN" altLang="en-US" sz="1600" spc="0" baseline="0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79606" y="388250"/>
            <a:ext cx="351567" cy="351567"/>
          </a:xfrm>
          <a:prstGeom prst="rect">
            <a:avLst/>
          </a:prstGeom>
          <a:solidFill>
            <a:srgbClr val="FBC00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219972" y="324856"/>
            <a:ext cx="351567" cy="351567"/>
          </a:xfrm>
          <a:prstGeom prst="rect">
            <a:avLst/>
          </a:pr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8B3CF-81EF-499D-A143-F6A6335B1B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03F2-B476-4DB8-B4FD-C0BD10B8383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实现交互式Web应用的关键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JavaScript主要负责实现网页的动态行为，在具体实现中，一种常见的方式是通过给页面中的元素绑定事件，一旦用户通过某种行为触发该事件，就会引发页面内容的动态变化，这就是搭建交互式网站的核心。由此可以看出，交互式Web应用的实现要点包括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（1）精确地选择要操控的DOM元素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（2）为用户触发的元素绑定事件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（3）引发页面的动态变化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为什么是jQuery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jQuery相比于原生JavaScript的优势有很多，这里我们重点说三个方面：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1）Web开发领域中一个令人头疼的事实是，每种浏览器对W3C颁发的标准都有一套自己的实现方案，因此，开发人员不得不针对各种版本的浏览器逐一完成开发和测试，这意味着大量的代码工作。而jQuery通过引入一个抽象层来标准化常见的任务，从而屏蔽了浏览器之间的差异，进而减轻了开发人员的负担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（2）充分利用CSS的优势，再一次减轻开发人员的负担。由于Web开发人员必须要掌握CSS选择器的用法，因此，jQuery就顺势打造出了基于CSS选择器的DOM元素选择方式。这为交互式应用的实现提供了极大的便利。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（3）为了进一步减少重复的代码量，jQuery还支持一种称为链式编码的方式，开发人员可以利用元素所在的上下文环境，保证后续操作都仅仅与当前元素有关。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jQuery可以做什么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为了做到交互式网页的动态效果，jQuery可以做到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（1）利用CSS选择器获取页面中的DOM元素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（2）动态地改变页面的内容和外观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（3）响应用户与网站的交互行为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（4）为页面添加动态效果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（5）支持无需刷新页面，就可以从服务器获取数据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pitchFamily="2" charset="2"/>
            </a:pPr>
            <a:r>
              <a:rPr lang="en-US" altLang="zh-CN" sz="2400" dirty="0"/>
              <a:t>（6）简化常见的JavaScript的任务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jQuery的使用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jQuery官网 https://jquery.com/ 下载一个版本的js（最新版本3.6.0）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引入该文件（例如下载的版本号是jquery-1.11.3）</a:t>
            </a:r>
            <a:endParaRPr lang="en-US" altLang="zh-CN" sz="2400" dirty="0"/>
          </a:p>
        </p:txBody>
      </p:sp>
      <p:sp>
        <p:nvSpPr>
          <p:cNvPr id="506884" name="AutoShape 4"/>
          <p:cNvSpPr>
            <a:spLocks noChangeArrowheads="1"/>
          </p:cNvSpPr>
          <p:nvPr/>
        </p:nvSpPr>
        <p:spPr bwMode="auto">
          <a:xfrm>
            <a:off x="2452662" y="2628888"/>
            <a:ext cx="7326313" cy="1571698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&lt;script src="js/jquery-1.11.3.js"&gt;&lt;/script&gt;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//自己的代码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TWO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02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570587" y="3429000"/>
            <a:ext cx="8742712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DOM元素的选择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开发者工具查看DOM树结构</a:t>
            </a:r>
            <a:endParaRPr lang="zh-CN" altLang="en-US" dirty="0"/>
          </a:p>
        </p:txBody>
      </p:sp>
      <p:sp>
        <p:nvSpPr>
          <p:cNvPr id="8" name="内容占位符 7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9943" y="824865"/>
            <a:ext cx="10572115" cy="5551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使用$()函数创建jQuery对象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$()函数是jQuery独创的，它表示一个工厂函数，意思是它可以向工厂一样制造加工jQuery对象，因此，它常常被用于创建jQuery对象。比如：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通过上述两条语句，可以得到一个jQuery对象：$student1，提到对象，你会自然地反应到它会包括一些方法和属性，比如: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我们可以通过prop属性来得到$student1这个对象的sname的属性值，关于更多的方法可以去查询jQuery的API手册。</a:t>
            </a:r>
            <a:endParaRPr lang="en-US" altLang="zh-CN" sz="2400" dirty="0"/>
          </a:p>
        </p:txBody>
      </p:sp>
      <p:sp>
        <p:nvSpPr>
          <p:cNvPr id="506884" name="AutoShape 4"/>
          <p:cNvSpPr>
            <a:spLocks noChangeArrowheads="1"/>
          </p:cNvSpPr>
          <p:nvPr/>
        </p:nvSpPr>
        <p:spPr bwMode="auto">
          <a:xfrm>
            <a:off x="2452662" y="2181213"/>
            <a:ext cx="7326313" cy="830903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student = {sno：”201901020001”,  sname:  “Lily”};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$student1 = ${ student};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432844" y="4265136"/>
            <a:ext cx="7326313" cy="461329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stuName = $student1.prop(“sname”);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常见的选择器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基本选择器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复合选择器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基本选择器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jQuery的基本选择器与CSS的选择器相似，它可以有如下3种：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 标签选择器：按HTML元素的标签名称进行选择。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id选择器：取得文档中指定id的元素。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 类选择器：根据CSS类来进行选择。</a:t>
            </a:r>
            <a:endParaRPr lang="en-US" altLang="zh-CN" sz="2400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432844" y="2055336"/>
            <a:ext cx="7326313" cy="461327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$('p')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2432844" y="3382486"/>
            <a:ext cx="7326313" cy="461327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$('#id1')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432844" y="4709636"/>
            <a:ext cx="7326313" cy="461327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$('.class1')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复合选择器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31800" y="1103630"/>
          <a:ext cx="11328400" cy="506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2845"/>
                <a:gridCol w="6345555"/>
              </a:tblGrid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复合选择器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965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$("div &gt; p")</a:t>
                      </a:r>
                      <a:endParaRPr lang="en-US" altLang="zh-CN" sz="24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查找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div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所有的子元素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</a:t>
                      </a:r>
                      <a:endParaRPr lang="en-US" altLang="zh-CN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8947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$("div p")</a:t>
                      </a:r>
                      <a:endParaRPr lang="en-US" altLang="zh-CN" sz="24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查找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div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所有的后代元素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895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$("#id1").next()</a:t>
                      </a:r>
                      <a:endParaRPr lang="en-US" altLang="zh-CN" sz="24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查找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id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id1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的元素的下一个元素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8947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$("#id1").children(“span”)</a:t>
                      </a:r>
                      <a:endParaRPr lang="en-US" altLang="zh-CN" sz="24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查找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为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id1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的元素的所有子代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span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元素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894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$("#id1").parent().prev()</a:t>
                      </a:r>
                      <a:endParaRPr lang="en-US" altLang="zh-CN" sz="24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查找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为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id1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的元素的父元素的上一个元素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497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$("#id1").parent()</a:t>
                      </a:r>
                      <a:endParaRPr lang="en-US" altLang="zh-CN" sz="24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查找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为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id1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的元素的父元素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THREE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03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让内容和样式的修改变得简单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样式的修改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1 .css()方法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它能够获取$()匹配元素集合中的第一个元素的计算属性的值，并且通过指定新值，可以设定新的属性值。因此，它有两种基本用法：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（1）.css(属性名称)：获取指定属性的值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（2）.css(属性名称，新值)：为指定属性设置新的值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2 .attr()方法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（1）.attr(属性名称)：获取指定属性的值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（2）.attr(属性名称，新值)：为指定属性设置新的值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（3）.attr(属性名称, function(index, 旧值)）：通过函数的返回值为指定属性设定值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3 .prop()方法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与.attr()方法类似，可用于获取和设定checked、selected、disabled属性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文本的修改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常用的做法是通过调用text()、val()和html()方法，对HTML元素的文本内容进行修改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（1）$(“匹配元素”).text()：获取匹配元素集的每一个元素的文本值，包括它所有的子代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（2）$(“匹配元素”).text(“新值”)：为匹配元素集设置新的值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（3）$(“匹配元素”).val()：获取匹配元素集的每一个元素的文本值，重点是input元素和textarea元素 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（4）$(“匹配元素”).val(“新值”)：为匹配元素集设置新的值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（5）$(“匹配元素”).html()：获取匹配元素集的第一个元素的HTML标签和文本内容，它会解析并返回HTML中的标签元素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（6）$(“匹配元素”).html(“新值”)：为匹配元素集的第一个元素设置新的HTML值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插入新的内容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（1）.append()：在匹配元素集的最后插入新内容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（2）.prepend()：在匹配元素集的最前面插入新内容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（3）.before()：在匹配元素之前插入新内容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（4）.after()：在匹配元素之后插入新内容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FOUR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61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04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3429000"/>
            <a:ext cx="1009840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jQuery中事件的用法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用户和网页的交互事件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原生JavaScript是通过.addEventListener（）给DOM元素绑定事件，实现用户对DOM元素发出触发行为，进而会看到事件处理函数的执行所引发的动态效果。例如：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而jQuery则极大地简化了上述操作，脚本代码如下：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亦可进一步简化为：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066800" y="2369820"/>
            <a:ext cx="10058400" cy="1201364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document.getElementById("js").addEventListener("click", function(){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document.getElementById("js_output").innerHTML = "原生js事件";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});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798887" y="4136231"/>
            <a:ext cx="7326313" cy="1199832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$("#jq").on('click', function (){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$("#jq_output").html("jQuery事件");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798887" y="5546566"/>
            <a:ext cx="7326313" cy="830901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$("#jq").click( function (event){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$("#jq_output").html("jQuery事件"); });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事件对象</a:t>
            </a:r>
            <a:endParaRPr lang="zh-CN" altLang="en-US"/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838200" y="1253331"/>
          <a:ext cx="10515600" cy="481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720"/>
                <a:gridCol w="6786880"/>
              </a:tblGrid>
              <a:tr h="5734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属性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方法名称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74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（属性）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返回当前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对象表示的事件名称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734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target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（属性）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返回触发此事件的元素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74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currentTarget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（属性）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返回当前处理该事件的元素或窗口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490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preventDefault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（方法）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通知浏览器取消事件的默认动作，例如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应用于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submit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事件，会阻止其自动提交表单的动作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031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stopPropagation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（方法）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不再派发事件，即终止事件传播到其他派生</a:t>
                      </a: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DOM</a:t>
                      </a: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节点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事件代理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jQuery中的事件代理，也是指某些DOM自身并没有绑定事件，而是通过其他元素实现事件的绑定。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任务：给动态元素绑定事件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实现技巧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其中，必须保证父元素ul是已经存在的，而li可以是动态增加的后代元素，即第6个li。</a:t>
            </a:r>
            <a:endParaRPr lang="en-US" altLang="zh-CN" sz="2400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432844" y="4272121"/>
            <a:ext cx="7326313" cy="461329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24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$('ul').on('click','li',function(){}</a:t>
            </a:r>
            <a:endParaRPr lang="en-US" altLang="zh-CN" sz="24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525" y="2321454"/>
            <a:ext cx="6838950" cy="140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>
            <a:off x="1" y="73756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solidFill>
            <a:srgbClr val="FB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" y="1"/>
            <a:ext cx="12191999" cy="5023353"/>
          </a:xfrm>
          <a:custGeom>
            <a:avLst/>
            <a:gdLst>
              <a:gd name="connsiteX0" fmla="*/ 0 w 12191999"/>
              <a:gd name="connsiteY0" fmla="*/ 0 h 5023353"/>
              <a:gd name="connsiteX1" fmla="*/ 12191999 w 12191999"/>
              <a:gd name="connsiteY1" fmla="*/ 0 h 5023353"/>
              <a:gd name="connsiteX2" fmla="*/ 12191999 w 12191999"/>
              <a:gd name="connsiteY2" fmla="*/ 4002102 h 5023353"/>
              <a:gd name="connsiteX3" fmla="*/ 12072033 w 12191999"/>
              <a:gd name="connsiteY3" fmla="*/ 4044356 h 5023353"/>
              <a:gd name="connsiteX4" fmla="*/ 6095999 w 12191999"/>
              <a:gd name="connsiteY4" fmla="*/ 5023353 h 5023353"/>
              <a:gd name="connsiteX5" fmla="*/ 119965 w 12191999"/>
              <a:gd name="connsiteY5" fmla="*/ 4044356 h 5023353"/>
              <a:gd name="connsiteX6" fmla="*/ 0 w 12191999"/>
              <a:gd name="connsiteY6" fmla="*/ 4002102 h 502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5023353">
                <a:moveTo>
                  <a:pt x="0" y="0"/>
                </a:moveTo>
                <a:lnTo>
                  <a:pt x="12191999" y="0"/>
                </a:lnTo>
                <a:lnTo>
                  <a:pt x="12191999" y="4002102"/>
                </a:lnTo>
                <a:lnTo>
                  <a:pt x="12072033" y="4044356"/>
                </a:lnTo>
                <a:cubicBezTo>
                  <a:pt x="10196136" y="4679159"/>
                  <a:pt x="8186263" y="5023353"/>
                  <a:pt x="6095999" y="5023353"/>
                </a:cubicBezTo>
                <a:cubicBezTo>
                  <a:pt x="4005735" y="5023353"/>
                  <a:pt x="1995862" y="4679159"/>
                  <a:pt x="119965" y="4044356"/>
                </a:cubicBezTo>
                <a:lnTo>
                  <a:pt x="0" y="4002102"/>
                </a:lnTo>
                <a:close/>
              </a:path>
            </a:pathLst>
          </a:custGeom>
          <a:gradFill>
            <a:gsLst>
              <a:gs pos="0">
                <a:srgbClr val="0050B0"/>
              </a:gs>
              <a:gs pos="62000">
                <a:srgbClr val="0040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30363" y="4678349"/>
            <a:ext cx="242316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FBC001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408E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PART FIVE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408E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53623" y="-743565"/>
            <a:ext cx="3176640" cy="4378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2225">
                  <a:gradFill>
                    <a:gsLst>
                      <a:gs pos="0">
                        <a:prstClr val="white"/>
                      </a:gs>
                      <a:gs pos="82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ea typeface="思源黑体 CN Medium" panose="020B0600000000000000" pitchFamily="34" charset="-122"/>
                <a:cs typeface="+mn-cs"/>
              </a:rPr>
              <a:t>05</a:t>
            </a:r>
            <a:endParaRPr kumimoji="0" lang="zh-CN" altLang="en-US" sz="19900" b="0" i="0" u="none" strike="noStrike" kern="1200" cap="none" spc="0" normalizeH="0" baseline="0" noProof="0" dirty="0">
              <a:ln w="22225">
                <a:gradFill>
                  <a:gsLst>
                    <a:gs pos="0">
                      <a:prstClr val="white"/>
                    </a:gs>
                    <a:gs pos="82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0585" y="2686050"/>
            <a:ext cx="10098405" cy="19380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16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思源黑体 CN Bold" panose="020B0800000000000000" pitchFamily="34" charset="-122"/>
                <a:cs typeface="+mn-cs"/>
                <a:sym typeface="思源黑体 CN Normal" panose="020B0400000000000000" pitchFamily="34" charset="-122"/>
              </a:rPr>
              <a:t>客户端和服务器之间传输数据的利器：Ajax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16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思源黑体 CN Bold" panose="020B08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0248528" y="4215637"/>
            <a:ext cx="644190" cy="644190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87717" y="5407909"/>
            <a:ext cx="350146" cy="350146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617685" y="840752"/>
            <a:ext cx="895572" cy="895572"/>
          </a:xfrm>
          <a:prstGeom prst="ellipse">
            <a:avLst/>
          </a:prstGeom>
          <a:gradFill>
            <a:gsLst>
              <a:gs pos="14000">
                <a:srgbClr val="FFCF01"/>
              </a:gs>
              <a:gs pos="80000">
                <a:srgbClr val="F89D1B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Ajax原理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+mj-lt"/>
            </a:pPr>
            <a:r>
              <a:rPr lang="en-US" altLang="zh-CN" sz="2400" dirty="0"/>
              <a:t>在发送请求的过程中， Ajax通过封装一个请求，用于向服务器发出请求更新网页上的部分内容，具体做法是通过新建一个XMLHTTPRequest实例化对象，指明向哪个url发出请求，从而获取服务器上的数据，最终实现网页内容的部分更新。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JSON数据的读取和遍历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>
                <a:solidFill>
                  <a:srgbClr val="0070C0"/>
                </a:solidFill>
              </a:rPr>
              <a:t>异步</a:t>
            </a:r>
            <a:r>
              <a:rPr lang="en-US" altLang="zh-CN" sz="2400" dirty="0"/>
              <a:t>加载的意思是在我们向服务器发出请求数据后，会立即恢复脚本执行，无需等待。而在之后，当浏览器接收到服务器的响应时，再对响应的数据进行处理，这就很好地解决了JavaScript以</a:t>
            </a:r>
            <a:r>
              <a:rPr lang="en-US" altLang="zh-CN" sz="2400" dirty="0">
                <a:solidFill>
                  <a:srgbClr val="0070C0"/>
                </a:solidFill>
              </a:rPr>
              <a:t>队列</a:t>
            </a:r>
            <a:r>
              <a:rPr lang="en-US" altLang="zh-CN" sz="2400" dirty="0"/>
              <a:t>方式（又称同步方式）执行代码所带来的延迟问题。</a:t>
            </a:r>
            <a:endParaRPr lang="en-US" altLang="zh-CN" sz="2400" dirty="0"/>
          </a:p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对于要延迟到数据加载完成才能继续的操作，Ajax提供了回调函数的功能。为了获取JSON格式的数据，我们要调用一个全局方法.getJSON（），它要接收两个参数，第一个参数是以.json为后缀名的文件名，第二个是回调函数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+mj-lt"/>
            </a:pP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XMLHTTPRequest对象和响应状态码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59C4"/>
              </a:buClr>
              <a:buFont typeface="Wingdings" panose="05000000000000000000" charset="0"/>
              <a:buChar char="ü"/>
            </a:pPr>
            <a:r>
              <a:rPr lang="en-US" altLang="zh-CN" sz="2400" dirty="0"/>
              <a:t>Ajax的真正价值是基于前端与网站的交互实时产生的数据需要更新，而不需要更新整个页面时，才会得到充分体现。这时候，我们可以实现对网页的部分内容，涉及到的动态数据的双向传递，即从服务器获取数据和向服务器提交数据。而为了保证数据的部分更新，不会影响用户的其他交互操作，就需要用到支持异步请求。而这个过程依赖于一个叫做XMLHTTPRequest的对象。</a:t>
            </a:r>
            <a:endParaRPr lang="en-US" altLang="zh-CN" sz="2400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342674" y="3285966"/>
            <a:ext cx="7326313" cy="3052407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createXhr(){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var xhr = null; 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//如果支持标准创建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(window.XMLHttpRequest){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xhr = new  XMLHttpRequest();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else{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//IE8以下的创建方式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xhr = new ActiveXOject("Microsoft.XMLHttp");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xhr;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XMLHTTPRequest对象和响应状态码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第一步，调用createXhr函数创建一个xhr对象的实例：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800" dirty="0">
                <a:cs typeface="Times New Roman" panose="02020603050405020304" pitchFamily="18" charset="0"/>
              </a:rPr>
              <a:t>var xhr = createXhr();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第二步，利用xhr对象，发起一个请求：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800" dirty="0">
                <a:cs typeface="Times New Roman" panose="02020603050405020304" pitchFamily="18" charset="0"/>
              </a:rPr>
              <a:t>xhr.open("post"/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"</a:t>
            </a:r>
            <a:r>
              <a:rPr lang="en-US" altLang="zh-CN" sz="1800" dirty="0">
                <a:cs typeface="Times New Roman" panose="02020603050405020304" pitchFamily="18" charset="0"/>
              </a:rPr>
              <a:t>get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"</a:t>
            </a:r>
            <a:r>
              <a:rPr lang="en-US" altLang="zh-CN" sz="1800" dirty="0">
                <a:cs typeface="Times New Roman" panose="02020603050405020304" pitchFamily="18" charset="0"/>
              </a:rPr>
              <a:t>,url, true); 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第三步，状态监听，设置回调函数，每次readyState属性改变的时候，就调用该函数：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第四步：发送请求：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800" dirty="0">
                <a:cs typeface="Times New Roman" panose="02020603050405020304" pitchFamily="18" charset="0"/>
              </a:rPr>
              <a:t>xhr.send();</a:t>
            </a:r>
            <a:endParaRPr lang="en-US" altLang="zh-CN" sz="1800" dirty="0">
              <a:cs typeface="Times New Roman" panose="02020603050405020304" pitchFamily="18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342674" y="3124041"/>
            <a:ext cx="7326313" cy="2065480"/>
          </a:xfrm>
          <a:prstGeom prst="roundRect">
            <a:avLst>
              <a:gd name="adj" fmla="val 353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xhr.onreadystatechange = function(){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//判断readyState以及status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if (xhr.readyState == 4 &amp;&amp; xhr.status == 200)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{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   //接收响应数据，如果未接到，则返回空字符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var resultText = xhr.responseText;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}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1600" b="1" dirty="0" smtClean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$.get()方法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1）关于jQuery提供的 ajax函数中的get请求方法：$.get()，它的基本用法如下：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该方法表示通过远程发送一个HTTP GET请求获取信息，请求成功时可调用回调函数。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其中，url：必须，要传递的PHP脚本url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	data：可选，要发送的数据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	success：可选，回调函数，其中response表示请求得到的结果数据，status是包含的请求状态，xhr是包含的XMLHttpRequest对象)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	dataType:   可选，服务器响应的数据类型，比如xml，html，text等，jQuery会只能判断</a:t>
            </a:r>
            <a:endParaRPr lang="en-US" altLang="zh-CN" sz="2400" dirty="0"/>
          </a:p>
        </p:txBody>
      </p:sp>
      <p:sp>
        <p:nvSpPr>
          <p:cNvPr id="5" name="矩形: 圆角 4"/>
          <p:cNvSpPr/>
          <p:nvPr/>
        </p:nvSpPr>
        <p:spPr>
          <a:xfrm>
            <a:off x="616230" y="1599109"/>
            <a:ext cx="10959540" cy="68079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172800" tIns="129600" rIns="172800" bIns="129600" rtlCol="0">
            <a:spAutoFit/>
          </a:bodyPr>
          <a:p>
            <a:pPr algn="l" defTabSz="548640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$(selector).get(url,data,success(response,status,xhr),dataType)</a:t>
            </a:r>
            <a:endParaRPr lang="en-US" altLang="zh-CN" sz="2400" b="1" dirty="0">
              <a:solidFill>
                <a:prstClr val="white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$.post()方法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482" y="966820"/>
            <a:ext cx="10902066" cy="5050521"/>
          </a:xfrm>
        </p:spPr>
        <p:txBody>
          <a:bodyPr>
            <a:noAutofit/>
          </a:bodyPr>
          <a:lstStyle/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其中，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url：必须，规定把请求发送到哪个url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data：可选，要发送的数据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success：可选，请求成功时要执行的回调函数)</a:t>
            </a:r>
            <a:endParaRPr lang="en-US" altLang="zh-CN" sz="2400" dirty="0"/>
          </a:p>
          <a:p>
            <a:pPr>
              <a:buClr>
                <a:srgbClr val="0059C4"/>
              </a:buClr>
              <a:buFont typeface="Wingdings" panose="05000000000000000000" charset="0"/>
            </a:pPr>
            <a:r>
              <a:rPr lang="en-US" altLang="zh-CN" sz="2400" dirty="0"/>
              <a:t>dataType:  可选，服务器响应的数据类型</a:t>
            </a:r>
            <a:endParaRPr lang="en-US" altLang="zh-CN" sz="2400" dirty="0"/>
          </a:p>
        </p:txBody>
      </p:sp>
      <p:sp>
        <p:nvSpPr>
          <p:cNvPr id="5" name="矩形: 圆角 4"/>
          <p:cNvSpPr/>
          <p:nvPr/>
        </p:nvSpPr>
        <p:spPr>
          <a:xfrm>
            <a:off x="616230" y="1599109"/>
            <a:ext cx="11127014" cy="68062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172800" tIns="129600" rIns="172800" bIns="129600" rtlCol="0">
            <a:spAutoFit/>
          </a:bodyPr>
          <a:p>
            <a:pPr algn="l" defTabSz="548640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$(selector).post(url,data,success(response,status,xhr),dataType)</a:t>
            </a:r>
            <a:endParaRPr lang="en-US" altLang="zh-CN" sz="2400" b="1" dirty="0">
              <a:solidFill>
                <a:prstClr val="white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8162,&quot;width&quot;:15545}"/>
</p:tagLst>
</file>

<file path=ppt/tags/tag2.xml><?xml version="1.0" encoding="utf-8"?>
<p:tagLst xmlns:p="http://schemas.openxmlformats.org/presentationml/2006/main">
  <p:tag name="KSO_WM_UNIT_TABLE_BEAUTIFY" val="smartTable{5bc02c72-fd13-4b7b-a213-56f74391a6e2}"/>
</p:tagLst>
</file>

<file path=ppt/tags/tag3.xml><?xml version="1.0" encoding="utf-8"?>
<p:tagLst xmlns:p="http://schemas.openxmlformats.org/presentationml/2006/main">
  <p:tag name="KSO_WM_UNIT_TABLE_BEAUTIFY" val="smartTable{e0933520-d8dd-48b8-8c01-98a2793933bc}"/>
</p:tagLst>
</file>

<file path=ppt/tags/tag4.xml><?xml version="1.0" encoding="utf-8"?>
<p:tagLst xmlns:p="http://schemas.openxmlformats.org/presentationml/2006/main">
  <p:tag name="COMMONDATA" val="eyJoZGlkIjoiNTgzMDVjZmVmMDc1ZGU4NzRlZDJjNzU2ZjBhYjQzZGIifQ=="/>
  <p:tag name="KSO_WPP_MARK_KEY" val="e1cef6b7-2c70-4005-aebe-d90d980f0661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思源黑体 CN Medium"/>
        <a:ea typeface="思源黑体 CN Medium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4806</Words>
  <Application>WPS 演示</Application>
  <PresentationFormat>宽屏</PresentationFormat>
  <Paragraphs>298</Paragraphs>
  <Slides>25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隶书</vt:lpstr>
      <vt:lpstr>楷体</vt:lpstr>
      <vt:lpstr>思源黑体 CN Medium</vt:lpstr>
      <vt:lpstr>黑体</vt:lpstr>
      <vt:lpstr>思源黑体 CN Normal</vt:lpstr>
      <vt:lpstr>字魂71号-御守锦书</vt:lpstr>
      <vt:lpstr>思源黑体 CN Normal</vt:lpstr>
      <vt:lpstr>思源黑体 CN Bold</vt:lpstr>
      <vt:lpstr>微软雅黑</vt:lpstr>
      <vt:lpstr>Wingdings</vt:lpstr>
      <vt:lpstr>Arial Unicode MS</vt:lpstr>
      <vt:lpstr>等线</vt:lpstr>
      <vt:lpstr>Consolas</vt:lpstr>
      <vt:lpstr>1_Office 主题​​</vt:lpstr>
      <vt:lpstr>实现交互式Web应用的关键</vt:lpstr>
      <vt:lpstr>为什么是jQuery</vt:lpstr>
      <vt:lpstr>jQuery可以做什么</vt:lpstr>
      <vt:lpstr>jQuery的使用</vt:lpstr>
      <vt:lpstr>PowerPoint 演示文稿</vt:lpstr>
      <vt:lpstr>开发者工具查看DOM树结构</vt:lpstr>
      <vt:lpstr>使用$()函数创建jQuery对象</vt:lpstr>
      <vt:lpstr>常见的选择器</vt:lpstr>
      <vt:lpstr>基本选择器</vt:lpstr>
      <vt:lpstr>复合选择器</vt:lpstr>
      <vt:lpstr>PowerPoint 演示文稿</vt:lpstr>
      <vt:lpstr>样式的修改</vt:lpstr>
      <vt:lpstr>文本的修改</vt:lpstr>
      <vt:lpstr>插入新的内容</vt:lpstr>
      <vt:lpstr>PowerPoint 演示文稿</vt:lpstr>
      <vt:lpstr>用户和网页的交互事件</vt:lpstr>
      <vt:lpstr>事件对象</vt:lpstr>
      <vt:lpstr>事件代理</vt:lpstr>
      <vt:lpstr>PowerPoint 演示文稿</vt:lpstr>
      <vt:lpstr>Ajax原理</vt:lpstr>
      <vt:lpstr>JSON数据的读取和遍历</vt:lpstr>
      <vt:lpstr>XMLHTTPRequest对象和响应状态码</vt:lpstr>
      <vt:lpstr>XMLHTTPRequest对象和响应状态码</vt:lpstr>
      <vt:lpstr>$.get()方法</vt:lpstr>
      <vt:lpstr>$.post()方法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Ki怪.</cp:lastModifiedBy>
  <cp:revision>334</cp:revision>
  <dcterms:created xsi:type="dcterms:W3CDTF">2022-03-18T05:08:00Z</dcterms:created>
  <dcterms:modified xsi:type="dcterms:W3CDTF">2023-02-27T09:25:43Z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13FB892793B5460AA8AA8A0488F8E635</vt:lpwstr>
  </property>
  <property fmtid="{D5CDD505-2E9C-101B-9397-08002B2CF9AE}" pid="3" name="KSOProductBuildVer">
    <vt:lpwstr>2052-11.1.0.13703</vt:lpwstr>
  </property>
</Properties>
</file>