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72" r:id="rId3"/>
    <p:sldId id="611" r:id="rId5"/>
    <p:sldId id="608" r:id="rId6"/>
    <p:sldId id="634" r:id="rId7"/>
    <p:sldId id="635" r:id="rId8"/>
    <p:sldId id="609" r:id="rId9"/>
    <p:sldId id="636" r:id="rId10"/>
    <p:sldId id="617" r:id="rId11"/>
    <p:sldId id="618" r:id="rId12"/>
    <p:sldId id="638" r:id="rId13"/>
    <p:sldId id="637" r:id="rId14"/>
    <p:sldId id="640" r:id="rId15"/>
    <p:sldId id="641" r:id="rId16"/>
    <p:sldId id="621" r:id="rId17"/>
    <p:sldId id="639" r:id="rId18"/>
    <p:sldId id="643" r:id="rId19"/>
    <p:sldId id="642" r:id="rId20"/>
    <p:sldId id="645" r:id="rId21"/>
    <p:sldId id="644" r:id="rId22"/>
    <p:sldId id="646" r:id="rId23"/>
    <p:sldId id="647" r:id="rId24"/>
    <p:sldId id="648" r:id="rId25"/>
    <p:sldId id="649" r:id="rId26"/>
    <p:sldId id="650" r:id="rId27"/>
    <p:sldId id="652" r:id="rId28"/>
    <p:sldId id="651" r:id="rId29"/>
    <p:sldId id="654" r:id="rId30"/>
    <p:sldId id="653" r:id="rId31"/>
    <p:sldId id="655" r:id="rId32"/>
    <p:sldId id="657" r:id="rId33"/>
    <p:sldId id="656" r:id="rId34"/>
    <p:sldId id="660" r:id="rId35"/>
    <p:sldId id="658" r:id="rId36"/>
    <p:sldId id="661" r:id="rId37"/>
    <p:sldId id="663" r:id="rId38"/>
    <p:sldId id="659" r:id="rId39"/>
    <p:sldId id="664" r:id="rId40"/>
    <p:sldId id="666" r:id="rId41"/>
    <p:sldId id="662" r:id="rId42"/>
    <p:sldId id="668" r:id="rId43"/>
    <p:sldId id="669" r:id="rId44"/>
    <p:sldId id="670" r:id="rId45"/>
    <p:sldId id="667" r:id="rId46"/>
    <p:sldId id="673" r:id="rId47"/>
    <p:sldId id="671" r:id="rId48"/>
    <p:sldId id="676" r:id="rId49"/>
    <p:sldId id="677" r:id="rId50"/>
    <p:sldId id="674" r:id="rId51"/>
    <p:sldId id="678" r:id="rId52"/>
    <p:sldId id="679" r:id="rId53"/>
    <p:sldId id="680" r:id="rId54"/>
    <p:sldId id="685" r:id="rId55"/>
    <p:sldId id="686" r:id="rId56"/>
    <p:sldId id="687" r:id="rId57"/>
    <p:sldId id="688" r:id="rId58"/>
    <p:sldId id="689" r:id="rId59"/>
    <p:sldId id="690" r:id="rId60"/>
    <p:sldId id="691" r:id="rId61"/>
    <p:sldId id="683" r:id="rId62"/>
    <p:sldId id="692" r:id="rId63"/>
    <p:sldId id="684" r:id="rId64"/>
    <p:sldId id="694" r:id="rId65"/>
    <p:sldId id="695" r:id="rId66"/>
    <p:sldId id="693" r:id="rId67"/>
    <p:sldId id="697" r:id="rId68"/>
    <p:sldId id="701" r:id="rId69"/>
    <p:sldId id="699" r:id="rId70"/>
    <p:sldId id="696" r:id="rId71"/>
    <p:sldId id="702" r:id="rId72"/>
    <p:sldId id="703" r:id="rId73"/>
    <p:sldId id="704" r:id="rId74"/>
    <p:sldId id="698" r:id="rId75"/>
    <p:sldId id="706" r:id="rId76"/>
    <p:sldId id="708" r:id="rId77"/>
    <p:sldId id="709" r:id="rId78"/>
    <p:sldId id="710" r:id="rId79"/>
    <p:sldId id="711" r:id="rId80"/>
    <p:sldId id="707" r:id="rId81"/>
    <p:sldId id="712" r:id="rId82"/>
    <p:sldId id="714" r:id="rId83"/>
    <p:sldId id="713" r:id="rId84"/>
    <p:sldId id="715" r:id="rId85"/>
    <p:sldId id="717" r:id="rId86"/>
    <p:sldId id="718" r:id="rId87"/>
    <p:sldId id="719" r:id="rId88"/>
    <p:sldId id="720" r:id="rId89"/>
    <p:sldId id="716" r:id="rId90"/>
    <p:sldId id="723" r:id="rId91"/>
    <p:sldId id="721" r:id="rId92"/>
    <p:sldId id="722" r:id="rId93"/>
    <p:sldId id="724" r:id="rId94"/>
    <p:sldId id="744" r:id="rId95"/>
    <p:sldId id="726" r:id="rId96"/>
    <p:sldId id="725" r:id="rId97"/>
    <p:sldId id="727" r:id="rId98"/>
    <p:sldId id="729" r:id="rId99"/>
    <p:sldId id="615" r:id="rId100"/>
    <p:sldId id="762" r:id="rId101"/>
    <p:sldId id="731" r:id="rId102"/>
    <p:sldId id="730" r:id="rId103"/>
    <p:sldId id="733" r:id="rId104"/>
    <p:sldId id="734" r:id="rId105"/>
    <p:sldId id="735" r:id="rId106"/>
    <p:sldId id="736" r:id="rId107"/>
    <p:sldId id="737" r:id="rId108"/>
    <p:sldId id="732" r:id="rId109"/>
    <p:sldId id="739" r:id="rId110"/>
    <p:sldId id="763" r:id="rId111"/>
    <p:sldId id="764" r:id="rId112"/>
    <p:sldId id="765" r:id="rId113"/>
    <p:sldId id="738" r:id="rId114"/>
    <p:sldId id="741" r:id="rId115"/>
  </p:sldIdLst>
  <p:sldSz cx="12192000" cy="6858000"/>
  <p:notesSz cx="6858000" cy="9144000"/>
  <p:custDataLst>
    <p:tags r:id="rId1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8" userDrawn="1">
          <p15:clr>
            <a:srgbClr val="A4A3A4"/>
          </p15:clr>
        </p15:guide>
        <p15:guide id="2" pos="37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8E6"/>
    <a:srgbClr val="0059C4"/>
    <a:srgbClr val="FBC001"/>
    <a:srgbClr val="00408E"/>
    <a:srgbClr val="0050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16" autoAdjust="0"/>
    <p:restoredTop sz="77933" autoAdjust="0"/>
  </p:normalViewPr>
  <p:slideViewPr>
    <p:cSldViewPr snapToGrid="0" showGuides="1">
      <p:cViewPr varScale="1">
        <p:scale>
          <a:sx n="81" d="100"/>
          <a:sy n="81" d="100"/>
        </p:scale>
        <p:origin x="633" y="30"/>
      </p:cViewPr>
      <p:guideLst>
        <p:guide orient="horz" pos="2218"/>
        <p:guide pos="37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9" Type="http://schemas.openxmlformats.org/officeDocument/2006/relationships/tags" Target="tags/tag5.xml"/><Relationship Id="rId118" Type="http://schemas.openxmlformats.org/officeDocument/2006/relationships/tableStyles" Target="tableStyles.xml"/><Relationship Id="rId117" Type="http://schemas.openxmlformats.org/officeDocument/2006/relationships/viewProps" Target="viewProps.xml"/><Relationship Id="rId116" Type="http://schemas.openxmlformats.org/officeDocument/2006/relationships/presProps" Target="presProps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2-07T00:33: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0,'39'0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96F32B-9060-4789-8659-39364963EF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2CDFD-DF46-4BFA-BD9C-269A7A5AEA0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 eaLnBrk="1" hangingPunct="1">
              <a:lnSpc>
                <a:spcPct val="110000"/>
              </a:lnSpc>
              <a:spcBef>
                <a:spcPct val="10000"/>
              </a:spcBef>
              <a:buNone/>
            </a:pPr>
            <a:r>
              <a:rPr lang="en-US" altLang="zh-CN" dirty="0">
                <a:sym typeface="+mn-ea"/>
              </a:rPr>
              <a:t>JavaScript</a:t>
            </a:r>
            <a:r>
              <a:rPr lang="zh-CN" altLang="en-US" dirty="0">
                <a:sym typeface="+mn-ea"/>
              </a:rPr>
              <a:t>有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sym typeface="+mn-ea"/>
              </a:rPr>
              <a:t>6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sym typeface="+mn-ea"/>
              </a:rPr>
              <a:t>种数据类型</a:t>
            </a:r>
            <a:r>
              <a:rPr lang="zh-CN" altLang="en-US" dirty="0">
                <a:sym typeface="+mn-ea"/>
              </a:rPr>
              <a:t>：</a:t>
            </a:r>
            <a:endParaRPr lang="zh-CN" altLang="en-US" b="0" dirty="0"/>
          </a:p>
          <a:p>
            <a:pPr marL="0" indent="0" eaLnBrk="1" hangingPunct="1">
              <a:lnSpc>
                <a:spcPct val="110000"/>
              </a:lnSpc>
              <a:spcBef>
                <a:spcPct val="10000"/>
              </a:spcBef>
              <a:buNone/>
            </a:pPr>
            <a:r>
              <a:rPr lang="zh-CN" altLang="en-US" dirty="0">
                <a:solidFill>
                  <a:srgbClr val="000066"/>
                </a:solidFill>
                <a:sym typeface="+mn-ea"/>
              </a:rPr>
              <a:t>主要的类型有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Number</a:t>
            </a:r>
            <a:r>
              <a:rPr lang="zh-CN" altLang="en-US" dirty="0">
                <a:solidFill>
                  <a:srgbClr val="000066"/>
                </a:solidFill>
                <a:sym typeface="+mn-ea"/>
              </a:rPr>
              <a:t>、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String</a:t>
            </a:r>
            <a:r>
              <a:rPr lang="zh-CN" altLang="en-US" dirty="0">
                <a:solidFill>
                  <a:srgbClr val="000066"/>
                </a:solidFill>
                <a:sym typeface="+mn-ea"/>
              </a:rPr>
              <a:t>、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Object</a:t>
            </a:r>
            <a:r>
              <a:rPr lang="zh-CN" altLang="en-US" dirty="0">
                <a:solidFill>
                  <a:srgbClr val="000066"/>
                </a:solidFill>
                <a:sym typeface="+mn-ea"/>
              </a:rPr>
              <a:t>以及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Boolean</a:t>
            </a:r>
            <a:r>
              <a:rPr lang="zh-CN" altLang="en-US" dirty="0">
                <a:solidFill>
                  <a:srgbClr val="000066"/>
                </a:solidFill>
                <a:sym typeface="+mn-ea"/>
              </a:rPr>
              <a:t>。</a:t>
            </a:r>
            <a:endParaRPr lang="zh-CN" altLang="en-US" b="0" dirty="0">
              <a:solidFill>
                <a:srgbClr val="000066"/>
              </a:solidFill>
            </a:endParaRPr>
          </a:p>
          <a:p>
            <a:pPr marL="0" indent="0" eaLnBrk="1" hangingPunct="1">
              <a:lnSpc>
                <a:spcPct val="110000"/>
              </a:lnSpc>
              <a:spcBef>
                <a:spcPct val="10000"/>
              </a:spcBef>
              <a:buNone/>
            </a:pPr>
            <a:r>
              <a:rPr lang="zh-CN" altLang="en-US" dirty="0">
                <a:solidFill>
                  <a:srgbClr val="000066"/>
                </a:solidFill>
                <a:sym typeface="+mn-ea"/>
              </a:rPr>
              <a:t>其他两种类型为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Null</a:t>
            </a:r>
            <a:r>
              <a:rPr lang="zh-CN" altLang="en-US" dirty="0">
                <a:solidFill>
                  <a:srgbClr val="000066"/>
                </a:solidFill>
                <a:sym typeface="+mn-ea"/>
              </a:rPr>
              <a:t>和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Undefined</a:t>
            </a:r>
            <a:r>
              <a:rPr lang="zh-CN" altLang="en-US" dirty="0">
                <a:sym typeface="+mn-ea"/>
              </a:rPr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 eaLnBrk="1" hangingPunct="1">
              <a:lnSpc>
                <a:spcPct val="110000"/>
              </a:lnSpc>
              <a:spcBef>
                <a:spcPct val="10000"/>
              </a:spcBef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JavaScript </a:t>
            </a:r>
            <a:r>
              <a:rPr lang="zh-CN" altLang="en-US" dirty="0">
                <a:sym typeface="+mn-ea"/>
              </a:rPr>
              <a:t>是弱类型语言，这就意味着，等于操作符会为了比较两个值而进行强制类型转换。恒等于不像普通的等于操作符，不会进行强制类型转换。判断的时候尽量还是使用恒等于，这样不用进行强制转换比较。一言以蔽之：</a:t>
            </a:r>
            <a:r>
              <a:rPr lang="en-US" altLang="zh-CN" dirty="0">
                <a:sym typeface="+mn-ea"/>
              </a:rPr>
              <a:t>==</a:t>
            </a:r>
            <a:r>
              <a:rPr lang="zh-CN" altLang="en-US" dirty="0">
                <a:sym typeface="+mn-ea"/>
              </a:rPr>
              <a:t>先转换类型再比较，</a:t>
            </a:r>
            <a:r>
              <a:rPr lang="en-US" altLang="zh-CN" dirty="0">
                <a:sym typeface="+mn-ea"/>
              </a:rPr>
              <a:t>===</a:t>
            </a:r>
            <a:r>
              <a:rPr lang="zh-CN" altLang="en-US" dirty="0">
                <a:sym typeface="+mn-ea"/>
              </a:rPr>
              <a:t>先判断类型，如果不是同一类型直接为</a:t>
            </a:r>
            <a:r>
              <a:rPr lang="en-US" altLang="zh-CN" dirty="0">
                <a:sym typeface="+mn-ea"/>
              </a:rPr>
              <a:t>false</a:t>
            </a:r>
            <a:r>
              <a:rPr lang="zh-CN" altLang="en-US" dirty="0">
                <a:sym typeface="+mn-ea"/>
              </a:rPr>
              <a:t>。</a:t>
            </a:r>
            <a:r>
              <a:rPr lang="en-US" altLang="zh-CN" dirty="0">
                <a:sym typeface="+mn-ea"/>
              </a:rPr>
              <a:t>===</a:t>
            </a:r>
            <a:r>
              <a:rPr lang="zh-CN" altLang="en-US" dirty="0">
                <a:sym typeface="+mn-ea"/>
              </a:rPr>
              <a:t>表示恒等于，比较的两边要绝对的相同。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CN" dirty="0" err="1">
                <a:sym typeface="+mn-ea"/>
              </a:rPr>
              <a:t>JavaScirpt</a:t>
            </a:r>
            <a:r>
              <a:rPr lang="zh-CN" altLang="en-US" dirty="0">
                <a:sym typeface="+mn-ea"/>
              </a:rPr>
              <a:t>提供的控制语句可以分为以下几大类：</a:t>
            </a:r>
            <a:endParaRPr lang="zh-CN" altLang="en-US" dirty="0"/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dirty="0">
                <a:solidFill>
                  <a:srgbClr val="D60093"/>
                </a:solidFill>
                <a:sym typeface="+mn-ea"/>
              </a:rPr>
              <a:t>① 条件和分支语句：</a:t>
            </a:r>
            <a:r>
              <a:rPr lang="en-US" altLang="zh-CN" dirty="0">
                <a:sym typeface="+mn-ea"/>
              </a:rPr>
              <a:t>if…else</a:t>
            </a:r>
            <a:r>
              <a:rPr lang="zh-CN" altLang="en-US" dirty="0">
                <a:sym typeface="+mn-ea"/>
              </a:rPr>
              <a:t>语句，</a:t>
            </a:r>
            <a:r>
              <a:rPr lang="en-US" altLang="zh-CN" dirty="0">
                <a:sym typeface="+mn-ea"/>
              </a:rPr>
              <a:t>switch</a:t>
            </a:r>
            <a:r>
              <a:rPr lang="zh-CN" altLang="en-US" dirty="0">
                <a:sym typeface="+mn-ea"/>
              </a:rPr>
              <a:t>语句。</a:t>
            </a:r>
            <a:endParaRPr lang="zh-CN" altLang="en-US" dirty="0"/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dirty="0">
                <a:solidFill>
                  <a:srgbClr val="D60093"/>
                </a:solidFill>
                <a:sym typeface="+mn-ea"/>
              </a:rPr>
              <a:t>② 循环语句：</a:t>
            </a:r>
            <a:r>
              <a:rPr lang="en-US" altLang="zh-CN" dirty="0">
                <a:sym typeface="+mn-ea"/>
              </a:rPr>
              <a:t>for</a:t>
            </a:r>
            <a:r>
              <a:rPr lang="zh-CN" altLang="en-US" dirty="0">
                <a:sym typeface="+mn-ea"/>
              </a:rPr>
              <a:t>语句，</a:t>
            </a:r>
            <a:r>
              <a:rPr lang="en-US" altLang="zh-CN" dirty="0">
                <a:sym typeface="+mn-ea"/>
              </a:rPr>
              <a:t>while</a:t>
            </a:r>
            <a:r>
              <a:rPr lang="zh-CN" altLang="en-US" dirty="0">
                <a:sym typeface="+mn-ea"/>
              </a:rPr>
              <a:t>语句，</a:t>
            </a:r>
            <a:r>
              <a:rPr lang="en-US" altLang="zh-CN" dirty="0">
                <a:sym typeface="+mn-ea"/>
              </a:rPr>
              <a:t>do…while</a:t>
            </a:r>
            <a:r>
              <a:rPr lang="zh-CN" altLang="en-US" dirty="0">
                <a:sym typeface="+mn-ea"/>
              </a:rPr>
              <a:t>语句，</a:t>
            </a:r>
            <a:endParaRPr lang="zh-CN" altLang="en-US" dirty="0"/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dirty="0">
                <a:sym typeface="+mn-ea"/>
              </a:rPr>
              <a:t>                         </a:t>
            </a:r>
            <a:r>
              <a:rPr lang="en-US" altLang="zh-CN" dirty="0">
                <a:sym typeface="+mn-ea"/>
              </a:rPr>
              <a:t>break</a:t>
            </a:r>
            <a:r>
              <a:rPr lang="zh-CN" altLang="en-US" dirty="0">
                <a:sym typeface="+mn-ea"/>
              </a:rPr>
              <a:t>语句和</a:t>
            </a:r>
            <a:r>
              <a:rPr lang="en-US" altLang="zh-CN" dirty="0">
                <a:sym typeface="+mn-ea"/>
              </a:rPr>
              <a:t>continue</a:t>
            </a:r>
            <a:r>
              <a:rPr lang="zh-CN" altLang="en-US" dirty="0">
                <a:sym typeface="+mn-ea"/>
              </a:rPr>
              <a:t>语句。</a:t>
            </a:r>
            <a:endParaRPr lang="zh-CN" altLang="en-US" dirty="0"/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dirty="0">
                <a:solidFill>
                  <a:srgbClr val="D60093"/>
                </a:solidFill>
                <a:sym typeface="+mn-ea"/>
              </a:rPr>
              <a:t>③ 对象操作语句：</a:t>
            </a:r>
            <a:r>
              <a:rPr lang="en-US" altLang="zh-CN" dirty="0">
                <a:sym typeface="+mn-ea"/>
              </a:rPr>
              <a:t>new</a:t>
            </a:r>
            <a:r>
              <a:rPr lang="zh-CN" altLang="en-US" dirty="0">
                <a:sym typeface="+mn-ea"/>
              </a:rPr>
              <a:t>，</a:t>
            </a:r>
            <a:r>
              <a:rPr lang="en-US" altLang="zh-CN" dirty="0">
                <a:sym typeface="+mn-ea"/>
              </a:rPr>
              <a:t>this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with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/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dirty="0">
                <a:solidFill>
                  <a:srgbClr val="D60093"/>
                </a:solidFill>
                <a:sym typeface="+mn-ea"/>
              </a:rPr>
              <a:t>④ 注释语句：</a:t>
            </a:r>
            <a:r>
              <a:rPr lang="zh-CN" altLang="en-US" dirty="0">
                <a:sym typeface="+mn-ea"/>
              </a:rPr>
              <a:t>“</a:t>
            </a:r>
            <a:r>
              <a:rPr lang="en-US" altLang="zh-CN" dirty="0">
                <a:sym typeface="+mn-ea"/>
              </a:rPr>
              <a:t>//”</a:t>
            </a:r>
            <a:r>
              <a:rPr lang="zh-CN" altLang="en-US" dirty="0">
                <a:sym typeface="+mn-ea"/>
              </a:rPr>
              <a:t>或“</a:t>
            </a:r>
            <a:r>
              <a:rPr lang="en-US" altLang="zh-CN" dirty="0">
                <a:sym typeface="+mn-ea"/>
              </a:rPr>
              <a:t>/* */”</a:t>
            </a:r>
            <a:r>
              <a:rPr lang="zh-CN" altLang="en-US" dirty="0">
                <a:sym typeface="+mn-ea"/>
              </a:rPr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sym typeface="+mn-ea"/>
              </a:rPr>
              <a:t>循环语句包括：</a:t>
            </a:r>
            <a:r>
              <a:rPr lang="en-US" altLang="zh-CN" dirty="0">
                <a:sym typeface="+mn-ea"/>
              </a:rPr>
              <a:t>for</a:t>
            </a:r>
            <a:r>
              <a:rPr lang="zh-CN" altLang="en-US" dirty="0">
                <a:sym typeface="+mn-ea"/>
              </a:rPr>
              <a:t>语句、</a:t>
            </a:r>
            <a:r>
              <a:rPr lang="en-US" altLang="zh-CN" dirty="0">
                <a:sym typeface="+mn-ea"/>
              </a:rPr>
              <a:t>while</a:t>
            </a:r>
            <a:r>
              <a:rPr lang="zh-CN" altLang="en-US" dirty="0">
                <a:sym typeface="+mn-ea"/>
              </a:rPr>
              <a:t>语句、</a:t>
            </a:r>
            <a:r>
              <a:rPr lang="en-US" altLang="zh-CN" dirty="0">
                <a:sym typeface="+mn-ea"/>
              </a:rPr>
              <a:t>break</a:t>
            </a:r>
            <a:r>
              <a:rPr lang="zh-CN" altLang="en-US" dirty="0">
                <a:sym typeface="+mn-ea"/>
              </a:rPr>
              <a:t>语句和</a:t>
            </a:r>
            <a:r>
              <a:rPr lang="en-US" altLang="zh-CN" dirty="0">
                <a:sym typeface="+mn-ea"/>
              </a:rPr>
              <a:t>continue</a:t>
            </a:r>
            <a:r>
              <a:rPr lang="zh-CN" altLang="en-US" dirty="0">
                <a:sym typeface="+mn-ea"/>
              </a:rPr>
              <a:t>语句。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buFontTx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顾名思义，匿名函数就是没有实际名字的函数。要调用一个函数，我们必须要有方法定位它，引用它。所以，我们会需要帮它找一个名字。</a:t>
            </a:r>
            <a:endParaRPr lang="en-US" altLang="zh-CN" b="0" i="0" u="none" strike="noStrike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dirty="0"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例子</a:t>
            </a:r>
            <a:r>
              <a:rPr lang="en-US" altLang="zh-CN"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的</a:t>
            </a:r>
            <a:r>
              <a:rPr lang="zh-CN" altLang="en-US" dirty="0"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操作其实就等于换个方式去定义函数，这种用法是我们比较频繁遇到的。例如我们在设定一个</a:t>
            </a:r>
            <a:r>
              <a:rPr lang="en-US" altLang="zh-CN" dirty="0"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DOM</a:t>
            </a:r>
            <a:r>
              <a:rPr lang="zh-CN" altLang="en-US" dirty="0"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元素事件处理函数的时候，我们通常都不会为他们定名字，而是赋予它的对应事件引用一个匿名函数。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buFontTx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alert</a:t>
            </a:r>
            <a:r>
              <a:rPr lang="zh-CN" altLang="en-US" dirty="0"/>
              <a:t>前一行加上</a:t>
            </a:r>
            <a:r>
              <a:rPr lang="en-US" altLang="zh-CN" dirty="0"/>
              <a:t>“var button1=document.getElementById("b1");”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buFontTx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如果调用该方法时没有使用参数，将按字母顺序对数组中的元素进行排序，说得更精确点，是按照字符编码的顺序进行排序。要实现这一点，首先应把数组的元素都转换成字符串（如有必要），以便进行比较。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如果想按照其他标准进行排序，就需要提供比较函数，该函数要比较两个值，然后返回一个用于说明这两个值的相对顺序的数字。比较函数应该具有两个参数 </a:t>
            </a:r>
            <a:r>
              <a:rPr lang="en-US" altLang="zh-CN" dirty="0">
                <a:sym typeface="+mn-ea"/>
              </a:rPr>
              <a:t>a </a:t>
            </a:r>
            <a:r>
              <a:rPr lang="zh-CN" altLang="en-US" dirty="0">
                <a:sym typeface="+mn-ea"/>
              </a:rPr>
              <a:t>和 </a:t>
            </a:r>
            <a:r>
              <a:rPr lang="en-US" altLang="zh-CN" dirty="0">
                <a:sym typeface="+mn-ea"/>
              </a:rPr>
              <a:t>b</a:t>
            </a:r>
            <a:r>
              <a:rPr lang="zh-CN" altLang="en-US" dirty="0">
                <a:sym typeface="+mn-ea"/>
              </a:rPr>
              <a:t>，其返回值如下：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若 </a:t>
            </a:r>
            <a:r>
              <a:rPr lang="en-US" altLang="zh-CN" dirty="0">
                <a:sym typeface="+mn-ea"/>
              </a:rPr>
              <a:t>a </a:t>
            </a:r>
            <a:r>
              <a:rPr lang="zh-CN" altLang="en-US" dirty="0">
                <a:sym typeface="+mn-ea"/>
              </a:rPr>
              <a:t>小于 </a:t>
            </a:r>
            <a:r>
              <a:rPr lang="en-US" altLang="zh-CN" dirty="0">
                <a:sym typeface="+mn-ea"/>
              </a:rPr>
              <a:t>b</a:t>
            </a:r>
            <a:r>
              <a:rPr lang="zh-CN" altLang="en-US" dirty="0">
                <a:sym typeface="+mn-ea"/>
              </a:rPr>
              <a:t>，在排序后的数组中 </a:t>
            </a:r>
            <a:r>
              <a:rPr lang="en-US" altLang="zh-CN" dirty="0">
                <a:sym typeface="+mn-ea"/>
              </a:rPr>
              <a:t>a </a:t>
            </a:r>
            <a:r>
              <a:rPr lang="zh-CN" altLang="en-US" dirty="0">
                <a:sym typeface="+mn-ea"/>
              </a:rPr>
              <a:t>应该出现在 </a:t>
            </a:r>
            <a:r>
              <a:rPr lang="en-US" altLang="zh-CN" dirty="0">
                <a:sym typeface="+mn-ea"/>
              </a:rPr>
              <a:t>b </a:t>
            </a:r>
            <a:r>
              <a:rPr lang="zh-CN" altLang="en-US" dirty="0">
                <a:sym typeface="+mn-ea"/>
              </a:rPr>
              <a:t>之前，则返回一个小于 </a:t>
            </a:r>
            <a:r>
              <a:rPr lang="en-US" altLang="zh-CN" dirty="0">
                <a:sym typeface="+mn-ea"/>
              </a:rPr>
              <a:t>0 </a:t>
            </a:r>
            <a:r>
              <a:rPr lang="zh-CN" altLang="en-US" dirty="0">
                <a:sym typeface="+mn-ea"/>
              </a:rPr>
              <a:t>的值。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若 </a:t>
            </a:r>
            <a:r>
              <a:rPr lang="en-US" altLang="zh-CN" dirty="0">
                <a:sym typeface="+mn-ea"/>
              </a:rPr>
              <a:t>a </a:t>
            </a:r>
            <a:r>
              <a:rPr lang="zh-CN" altLang="en-US" dirty="0">
                <a:sym typeface="+mn-ea"/>
              </a:rPr>
              <a:t>等于 </a:t>
            </a:r>
            <a:r>
              <a:rPr lang="en-US" altLang="zh-CN" dirty="0">
                <a:sym typeface="+mn-ea"/>
              </a:rPr>
              <a:t>b</a:t>
            </a:r>
            <a:r>
              <a:rPr lang="zh-CN" altLang="en-US" dirty="0">
                <a:sym typeface="+mn-ea"/>
              </a:rPr>
              <a:t>，则返回 </a:t>
            </a:r>
            <a:r>
              <a:rPr lang="en-US" altLang="zh-CN" dirty="0">
                <a:sym typeface="+mn-ea"/>
              </a:rPr>
              <a:t>0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若 </a:t>
            </a:r>
            <a:r>
              <a:rPr lang="en-US" altLang="zh-CN" dirty="0">
                <a:sym typeface="+mn-ea"/>
              </a:rPr>
              <a:t>a </a:t>
            </a:r>
            <a:r>
              <a:rPr lang="zh-CN" altLang="en-US" dirty="0">
                <a:sym typeface="+mn-ea"/>
              </a:rPr>
              <a:t>大于 </a:t>
            </a:r>
            <a:r>
              <a:rPr lang="en-US" altLang="zh-CN" dirty="0">
                <a:sym typeface="+mn-ea"/>
              </a:rPr>
              <a:t>b</a:t>
            </a:r>
            <a:r>
              <a:rPr lang="zh-CN" altLang="en-US" dirty="0">
                <a:sym typeface="+mn-ea"/>
              </a:rPr>
              <a:t>，则返回一个大于 </a:t>
            </a:r>
            <a:r>
              <a:rPr lang="en-US" altLang="zh-CN" dirty="0">
                <a:sym typeface="+mn-ea"/>
              </a:rPr>
              <a:t>0 </a:t>
            </a:r>
            <a:r>
              <a:rPr lang="zh-CN" altLang="en-US" dirty="0">
                <a:sym typeface="+mn-ea"/>
              </a:rPr>
              <a:t>的值。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buFontTx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buFontTx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常用</a:t>
            </a:r>
            <a:r>
              <a:rPr lang="zh-CN" altLang="en-US" dirty="0"/>
              <a:t>父（</a:t>
            </a:r>
            <a:r>
              <a:rPr lang="en-US" altLang="zh-CN" dirty="0"/>
              <a:t>parent</a:t>
            </a:r>
            <a:r>
              <a:rPr lang="zh-CN" altLang="en-US" dirty="0"/>
              <a:t>）、子（</a:t>
            </a:r>
            <a:r>
              <a:rPr lang="en-US" altLang="zh-CN" dirty="0"/>
              <a:t>child</a:t>
            </a:r>
            <a:r>
              <a:rPr lang="zh-CN" altLang="en-US" dirty="0"/>
              <a:t>）和同胞（</a:t>
            </a:r>
            <a:r>
              <a:rPr lang="en-US" altLang="zh-CN" dirty="0"/>
              <a:t>sibling</a:t>
            </a:r>
            <a:r>
              <a:rPr lang="zh-CN" altLang="en-US" dirty="0"/>
              <a:t>）等术语来描述这些关系。父节点拥有子节点。同级的子节点被称为同胞（兄弟或姐妹）。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在节点树中，顶端节点被称为根（</a:t>
            </a:r>
            <a:r>
              <a:rPr lang="en-US" altLang="zh-CN" dirty="0"/>
              <a:t>root</a:t>
            </a:r>
            <a:r>
              <a:rPr lang="zh-CN" altLang="en-US" dirty="0"/>
              <a:t>）。</a:t>
            </a:r>
            <a:endParaRPr lang="zh-CN" altLang="en-US" dirty="0"/>
          </a:p>
          <a:p>
            <a:r>
              <a:rPr lang="zh-CN" altLang="en-US" dirty="0"/>
              <a:t>每个节点都有父节点、除了根（它没有父节点）。</a:t>
            </a:r>
            <a:endParaRPr lang="zh-CN" altLang="en-US" dirty="0"/>
          </a:p>
          <a:p>
            <a:r>
              <a:rPr lang="zh-CN" altLang="en-US" dirty="0"/>
              <a:t>一个节点可拥有任意数量的子节点。</a:t>
            </a:r>
            <a:endParaRPr lang="zh-CN" altLang="en-US" dirty="0"/>
          </a:p>
          <a:p>
            <a:r>
              <a:rPr lang="zh-CN" altLang="en-US" dirty="0"/>
              <a:t>同胞是拥有相同父节点的节点。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>
                <a:cs typeface="Times New Roman" panose="02020603050405020304" pitchFamily="18" charset="0"/>
                <a:sym typeface="+mn-ea"/>
              </a:rPr>
              <a:t>文档对象模型采用的分层结构为树形结构，以树节点的方式表示文档中的各种内容</a:t>
            </a:r>
            <a:r>
              <a:rPr dirty="0">
                <a:cs typeface="Times New Roman" panose="02020603050405020304" pitchFamily="18" charset="0"/>
                <a:sym typeface="+mn-ea"/>
              </a:rPr>
              <a:t>。</a:t>
            </a:r>
            <a:r>
              <a:rPr lang="zh-CN" altLang="en-US" dirty="0">
                <a:cs typeface="Times New Roman" panose="02020603050405020304" pitchFamily="18" charset="0"/>
                <a:sym typeface="+mn-ea"/>
              </a:rPr>
              <a:t>根据 </a:t>
            </a:r>
            <a:r>
              <a:rPr lang="en-US" altLang="zh-CN" dirty="0">
                <a:cs typeface="Times New Roman" panose="02020603050405020304" pitchFamily="18" charset="0"/>
                <a:sym typeface="+mn-ea"/>
              </a:rPr>
              <a:t>W3C </a:t>
            </a:r>
            <a:r>
              <a:rPr lang="zh-CN" altLang="en-US" dirty="0">
                <a:cs typeface="Times New Roman" panose="02020603050405020304" pitchFamily="18" charset="0"/>
                <a:sym typeface="+mn-ea"/>
              </a:rPr>
              <a:t>的 </a:t>
            </a:r>
            <a:r>
              <a:rPr lang="en-US" altLang="zh-CN" dirty="0">
                <a:cs typeface="Times New Roman" panose="02020603050405020304" pitchFamily="18" charset="0"/>
                <a:sym typeface="+mn-ea"/>
              </a:rPr>
              <a:t>HTML DOM </a:t>
            </a:r>
            <a:r>
              <a:rPr lang="zh-CN" altLang="en-US" dirty="0">
                <a:cs typeface="Times New Roman" panose="02020603050405020304" pitchFamily="18" charset="0"/>
                <a:sym typeface="+mn-ea"/>
              </a:rPr>
              <a:t>标准，</a:t>
            </a:r>
            <a:r>
              <a:rPr lang="en-US" altLang="zh-CN" dirty="0">
                <a:cs typeface="Times New Roman" panose="02020603050405020304" pitchFamily="18" charset="0"/>
                <a:sym typeface="+mn-ea"/>
              </a:rPr>
              <a:t>HTML </a:t>
            </a:r>
            <a:r>
              <a:rPr lang="zh-CN" altLang="en-US" dirty="0">
                <a:cs typeface="Times New Roman" panose="02020603050405020304" pitchFamily="18" charset="0"/>
                <a:sym typeface="+mn-ea"/>
              </a:rPr>
              <a:t>文档中的所有内容都是节点：</a:t>
            </a:r>
            <a:endParaRPr lang="zh-CN" altLang="en-US" dirty="0"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dirty="0">
                <a:cs typeface="Times New Roman" panose="02020603050405020304" pitchFamily="18" charset="0"/>
                <a:sym typeface="+mn-ea"/>
              </a:rPr>
              <a:t>整个文档是一个文档节点</a:t>
            </a:r>
            <a:endParaRPr lang="zh-CN" altLang="en-US" dirty="0"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dirty="0">
                <a:cs typeface="Times New Roman" panose="02020603050405020304" pitchFamily="18" charset="0"/>
                <a:sym typeface="+mn-ea"/>
              </a:rPr>
              <a:t>每个 </a:t>
            </a:r>
            <a:r>
              <a:rPr lang="en-US" altLang="zh-CN" dirty="0">
                <a:cs typeface="Times New Roman" panose="02020603050405020304" pitchFamily="18" charset="0"/>
                <a:sym typeface="+mn-ea"/>
              </a:rPr>
              <a:t>HTML </a:t>
            </a:r>
            <a:r>
              <a:rPr lang="zh-CN" altLang="en-US" dirty="0">
                <a:cs typeface="Times New Roman" panose="02020603050405020304" pitchFamily="18" charset="0"/>
                <a:sym typeface="+mn-ea"/>
              </a:rPr>
              <a:t>元素是元素节点</a:t>
            </a:r>
            <a:endParaRPr lang="zh-CN" altLang="en-US" dirty="0"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dirty="0">
                <a:cs typeface="Times New Roman" panose="02020603050405020304" pitchFamily="18" charset="0"/>
                <a:sym typeface="+mn-ea"/>
              </a:rPr>
              <a:t>HTML </a:t>
            </a:r>
            <a:r>
              <a:rPr lang="zh-CN" altLang="en-US" dirty="0">
                <a:cs typeface="Times New Roman" panose="02020603050405020304" pitchFamily="18" charset="0"/>
                <a:sym typeface="+mn-ea"/>
              </a:rPr>
              <a:t>元素内的文本是文本节点</a:t>
            </a:r>
            <a:endParaRPr lang="zh-CN" altLang="en-US" dirty="0"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dirty="0">
                <a:cs typeface="Times New Roman" panose="02020603050405020304" pitchFamily="18" charset="0"/>
                <a:sym typeface="+mn-ea"/>
              </a:rPr>
              <a:t>每个 </a:t>
            </a:r>
            <a:r>
              <a:rPr lang="en-US" altLang="zh-CN" dirty="0">
                <a:cs typeface="Times New Roman" panose="02020603050405020304" pitchFamily="18" charset="0"/>
                <a:sym typeface="+mn-ea"/>
              </a:rPr>
              <a:t>HTML </a:t>
            </a:r>
            <a:r>
              <a:rPr lang="zh-CN" altLang="en-US" dirty="0">
                <a:cs typeface="Times New Roman" panose="02020603050405020304" pitchFamily="18" charset="0"/>
                <a:sym typeface="+mn-ea"/>
              </a:rPr>
              <a:t>属性是属性节点</a:t>
            </a:r>
            <a:endParaRPr lang="zh-CN" altLang="en-US" dirty="0"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dirty="0">
                <a:cs typeface="Times New Roman" panose="02020603050405020304" pitchFamily="18" charset="0"/>
                <a:sym typeface="+mn-ea"/>
              </a:rPr>
              <a:t>注释是注释节点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在待插入</a:t>
            </a:r>
            <a:r>
              <a:rPr lang="en-US" altLang="zh-CN" dirty="0"/>
              <a:t>Element</a:t>
            </a:r>
            <a:r>
              <a:rPr lang="zh-CN" altLang="en-US" dirty="0"/>
              <a:t>节点的父节点上调用。</a:t>
            </a:r>
            <a:endParaRPr lang="en-US" altLang="zh-CN" dirty="0"/>
          </a:p>
          <a:p>
            <a:r>
              <a:rPr lang="zh-CN" altLang="en-US" dirty="0"/>
              <a:t>注意：在使用</a:t>
            </a:r>
            <a:r>
              <a:rPr lang="en-US" altLang="zh-CN" dirty="0" err="1"/>
              <a:t>appendChild</a:t>
            </a:r>
            <a:r>
              <a:rPr lang="en-US" altLang="zh-CN" dirty="0"/>
              <a:t>()</a:t>
            </a:r>
            <a:r>
              <a:rPr lang="zh-CN" altLang="en-US" dirty="0"/>
              <a:t>和</a:t>
            </a:r>
            <a:r>
              <a:rPr lang="en-US" altLang="zh-CN" dirty="0" err="1"/>
              <a:t>insertBefore</a:t>
            </a:r>
            <a:r>
              <a:rPr lang="en-US" altLang="zh-CN" dirty="0"/>
              <a:t>()</a:t>
            </a:r>
            <a:r>
              <a:rPr lang="zh-CN" altLang="en-US" dirty="0"/>
              <a:t>时，如果要插入的节点是文档中已经存在节点，则会先将节点在原位置删除，再在新位置插入。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在父节点上调用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在父节点上调用。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根据元素的</a:t>
            </a:r>
            <a:r>
              <a:rPr lang="en-US" altLang="zh-CN" dirty="0"/>
              <a:t>ID</a:t>
            </a:r>
            <a:r>
              <a:rPr lang="zh-CN" altLang="en-US" dirty="0"/>
              <a:t>属性选择元素，返回值为</a:t>
            </a:r>
            <a:r>
              <a:rPr lang="en-US" altLang="zh-CN" dirty="0"/>
              <a:t>Element</a:t>
            </a:r>
            <a:r>
              <a:rPr lang="zh-CN" altLang="en-US" dirty="0"/>
              <a:t>类型的元素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类数组只能用</a:t>
            </a:r>
            <a:r>
              <a:rPr lang="en-US" altLang="zh-CN" dirty="0"/>
              <a:t>length</a:t>
            </a:r>
            <a:r>
              <a:rPr lang="zh-CN" altLang="en-US" dirty="0"/>
              <a:t>属性和下标方式，其他如</a:t>
            </a:r>
            <a:r>
              <a:rPr lang="en-US" altLang="zh-CN" dirty="0"/>
              <a:t>push</a:t>
            </a:r>
            <a:r>
              <a:rPr lang="zh-CN" altLang="en-US" dirty="0"/>
              <a:t>、</a:t>
            </a:r>
            <a:r>
              <a:rPr lang="en-US" altLang="zh-CN" dirty="0"/>
              <a:t>reverse</a:t>
            </a:r>
            <a:r>
              <a:rPr lang="zh-CN" altLang="en-US" dirty="0"/>
              <a:t>等方法无法使用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伪数组只能用</a:t>
            </a:r>
            <a:r>
              <a:rPr lang="en-US" altLang="zh-CN" dirty="0"/>
              <a:t>length</a:t>
            </a:r>
            <a:r>
              <a:rPr lang="zh-CN" altLang="en-US" dirty="0"/>
              <a:t>属性和下标方式，其他如</a:t>
            </a:r>
            <a:r>
              <a:rPr lang="en-US" altLang="zh-CN" dirty="0"/>
              <a:t>push</a:t>
            </a:r>
            <a:r>
              <a:rPr lang="zh-CN" altLang="en-US" dirty="0"/>
              <a:t>、</a:t>
            </a:r>
            <a:r>
              <a:rPr lang="en-US" altLang="zh-CN" dirty="0"/>
              <a:t>reverse</a:t>
            </a:r>
            <a:r>
              <a:rPr lang="zh-CN" altLang="en-US" dirty="0"/>
              <a:t>等方法无法使用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通过</a:t>
            </a:r>
            <a:r>
              <a:rPr lang="en-US" altLang="zh-CN" dirty="0"/>
              <a:t>CSS</a:t>
            </a:r>
            <a:r>
              <a:rPr lang="zh-CN" altLang="en-US" dirty="0"/>
              <a:t>选择器选取元素。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1173" y="56493"/>
            <a:ext cx="10515600" cy="1001505"/>
          </a:xfrm>
        </p:spPr>
        <p:txBody>
          <a:bodyPr>
            <a:normAutofit/>
          </a:bodyPr>
          <a:lstStyle>
            <a:lvl1pPr>
              <a:defRPr sz="3600" b="1" baseline="0"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31173" y="1253331"/>
            <a:ext cx="10515600" cy="4351338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b="1" baseline="0"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447675" indent="-179705">
              <a:lnSpc>
                <a:spcPct val="120000"/>
              </a:lnSpc>
              <a:spcBef>
                <a:spcPts val="0"/>
              </a:spcBef>
              <a:defRPr baseline="0"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894080" indent="-268605">
              <a:lnSpc>
                <a:spcPct val="120000"/>
              </a:lnSpc>
              <a:spcBef>
                <a:spcPts val="0"/>
              </a:spcBef>
              <a:defRPr baseline="0"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</a:lstStyle>
          <a:p>
            <a:pPr lvl="0"/>
            <a:r>
              <a:rPr lang="zh-CN" altLang="en-US" dirty="0"/>
              <a:t>  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任意多边形 10"/>
          <p:cNvSpPr/>
          <p:nvPr userDrawn="1"/>
        </p:nvSpPr>
        <p:spPr>
          <a:xfrm>
            <a:off x="0" y="6492876"/>
            <a:ext cx="12192000" cy="365124"/>
          </a:xfrm>
          <a:custGeom>
            <a:avLst/>
            <a:gdLst>
              <a:gd name="connsiteX0" fmla="*/ 11618439 w 12192000"/>
              <a:gd name="connsiteY0" fmla="*/ 0 h 234778"/>
              <a:gd name="connsiteX1" fmla="*/ 12192000 w 12192000"/>
              <a:gd name="connsiteY1" fmla="*/ 0 h 234778"/>
              <a:gd name="connsiteX2" fmla="*/ 12192000 w 12192000"/>
              <a:gd name="connsiteY2" fmla="*/ 234778 h 234778"/>
              <a:gd name="connsiteX3" fmla="*/ 11559745 w 12192000"/>
              <a:gd name="connsiteY3" fmla="*/ 234778 h 234778"/>
              <a:gd name="connsiteX4" fmla="*/ 0 w 12192000"/>
              <a:gd name="connsiteY4" fmla="*/ 0 h 234778"/>
              <a:gd name="connsiteX5" fmla="*/ 9261388 w 12192000"/>
              <a:gd name="connsiteY5" fmla="*/ 0 h 234778"/>
              <a:gd name="connsiteX6" fmla="*/ 9202694 w 12192000"/>
              <a:gd name="connsiteY6" fmla="*/ 234778 h 234778"/>
              <a:gd name="connsiteX7" fmla="*/ 0 w 12192000"/>
              <a:gd name="connsiteY7" fmla="*/ 234778 h 234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34778">
                <a:moveTo>
                  <a:pt x="11618439" y="0"/>
                </a:moveTo>
                <a:lnTo>
                  <a:pt x="12192000" y="0"/>
                </a:lnTo>
                <a:lnTo>
                  <a:pt x="12192000" y="234778"/>
                </a:lnTo>
                <a:lnTo>
                  <a:pt x="11559745" y="234778"/>
                </a:lnTo>
                <a:close/>
                <a:moveTo>
                  <a:pt x="0" y="0"/>
                </a:moveTo>
                <a:lnTo>
                  <a:pt x="9261388" y="0"/>
                </a:lnTo>
                <a:lnTo>
                  <a:pt x="9202694" y="234778"/>
                </a:lnTo>
                <a:lnTo>
                  <a:pt x="0" y="234778"/>
                </a:lnTo>
                <a:close/>
              </a:path>
            </a:pathLst>
          </a:custGeom>
          <a:gradFill>
            <a:gsLst>
              <a:gs pos="0">
                <a:srgbClr val="0050B0"/>
              </a:gs>
              <a:gs pos="62000">
                <a:srgbClr val="0040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8866569" y="6519729"/>
            <a:ext cx="2097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1600" spc="300" dirty="0">
                <a:solidFill>
                  <a:srgbClr val="00408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rPr>
              <a:t>厚德博学</a:t>
            </a:r>
            <a:endParaRPr lang="zh-CN" altLang="en-US" sz="1600" spc="300" dirty="0">
              <a:solidFill>
                <a:srgbClr val="00408E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9915493" y="6519729"/>
            <a:ext cx="2097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1600" spc="300" dirty="0">
                <a:solidFill>
                  <a:srgbClr val="00408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rPr>
              <a:t>筑基建业</a:t>
            </a:r>
            <a:endParaRPr lang="zh-CN" altLang="en-US" sz="1600" spc="300" dirty="0">
              <a:solidFill>
                <a:srgbClr val="00408E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98601" y="6519729"/>
            <a:ext cx="254520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lang="en-US" altLang="zh-CN" sz="1600" spc="0" baseline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思源黑体 CN Normal" panose="020B0400000000000000" pitchFamily="34" charset="-122"/>
              </a:rPr>
              <a:t>Web</a:t>
            </a:r>
            <a:r>
              <a:rPr lang="zh-CN" altLang="en-US" sz="1600" spc="0" baseline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思源黑体 CN Normal" panose="020B0400000000000000" pitchFamily="34" charset="-122"/>
              </a:rPr>
              <a:t>开发基础</a:t>
            </a:r>
            <a:r>
              <a:rPr lang="en-US" altLang="zh-CN" sz="1600" spc="0" baseline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思源黑体 CN Normal" panose="020B0400000000000000" pitchFamily="34" charset="-122"/>
              </a:rPr>
              <a:t>-JavaScript</a:t>
            </a:r>
            <a:endParaRPr lang="en-US" altLang="zh-CN" sz="1600" spc="0" baseline="0" dirty="0">
              <a:solidFill>
                <a:schemeClr val="bg1"/>
              </a:solidFill>
              <a:latin typeface="Times New Roman" panose="02020603050405020304" pitchFamily="18" charset="0"/>
              <a:ea typeface="隶书" panose="02010509060101010101" pitchFamily="49" charset="-122"/>
              <a:sym typeface="思源黑体 CN Normal" panose="020B0400000000000000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79606" y="388250"/>
            <a:ext cx="351567" cy="351567"/>
          </a:xfrm>
          <a:prstGeom prst="rect">
            <a:avLst/>
          </a:prstGeom>
          <a:solidFill>
            <a:srgbClr val="FBC00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219972" y="324856"/>
            <a:ext cx="351567" cy="351567"/>
          </a:xfrm>
          <a:prstGeom prst="rect">
            <a:avLst/>
          </a:prstGeom>
          <a:gradFill>
            <a:gsLst>
              <a:gs pos="0">
                <a:srgbClr val="0050B0"/>
              </a:gs>
              <a:gs pos="62000">
                <a:srgbClr val="00408E"/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8B3CF-81EF-499D-A143-F6A6335B1B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F03F2-B476-4DB8-B4FD-C0BD10B8383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microsoft.com/office/2007/relationships/media" Target="file:///C:\Documents%20and%20Settings\Administrator\Local%20Settings\Temporary%20Internet%20Files\Content.IE5\218NQHA5\xsrv1xfe%5b1%5d.jpg" TargetMode="External"/><Relationship Id="rId1" Type="http://schemas.openxmlformats.org/officeDocument/2006/relationships/video" Target="file:///C:\Documents%20and%20Settings\Administrator\Local%20Settings\Temporary%20Internet%20Files\Content.IE5\218NQHA5\xsrv1xfe%5b1%5d.jpg" TargetMode="External"/></Relationships>
</file>

<file path=ppt/slides/_rels/slide5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hyperlink" Target="https://www.runoob.com/jsref/obj-window.html" TargetMode="External"/></Relationships>
</file>

<file path=ppt/slides/_rels/slide8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6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2.bin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customXml" Target="../ink/ink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JavaScript简介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pitchFamily="2" charset="2"/>
            </a:pPr>
            <a:r>
              <a:rPr lang="en-US" altLang="zh-CN" sz="2400" dirty="0"/>
              <a:t>JavaScript是一种基于对象和事件驱动、安全性、轻量级、解释型、弱类型的客户端脚本语言。决定Web页面的行为，具有客户端数据验证、用户交互等功能。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pitchFamily="2" charset="2"/>
            </a:pP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pitchFamily="2" charset="2"/>
            </a:pPr>
            <a:r>
              <a:rPr lang="en-US" altLang="zh-CN" sz="2400" dirty="0"/>
              <a:t>JavaScript具有如下特点：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pitchFamily="2" charset="2"/>
            </a:pPr>
            <a:r>
              <a:rPr lang="en-US" altLang="zh-CN" sz="2400" dirty="0"/>
              <a:t>    1.简单性(小程序、无须编译、解释性、弱数据类型)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pitchFamily="2" charset="2"/>
            </a:pPr>
            <a:r>
              <a:rPr lang="en-US" altLang="zh-CN" sz="2400" dirty="0"/>
              <a:t>    2.安全性( Browser无法访问本地硬盘数据/写入到数据库)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pitchFamily="2" charset="2"/>
            </a:pPr>
            <a:r>
              <a:rPr lang="en-US" altLang="zh-CN" sz="2400" dirty="0"/>
              <a:t>    3.动态性(JS可以直接对用户提交的信息作出回应)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pitchFamily="2" charset="2"/>
            </a:pPr>
            <a:r>
              <a:rPr lang="en-US" altLang="zh-CN" sz="2400" dirty="0"/>
              <a:t>    4.跨平台性(支持JS的Browser)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任意多边形 29"/>
          <p:cNvSpPr/>
          <p:nvPr/>
        </p:nvSpPr>
        <p:spPr>
          <a:xfrm>
            <a:off x="1" y="73756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solidFill>
            <a:srgbClr val="FB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2" y="1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gradFill>
            <a:gsLst>
              <a:gs pos="0">
                <a:srgbClr val="0050B0"/>
              </a:gs>
              <a:gs pos="62000">
                <a:srgbClr val="0040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730363" y="4678349"/>
            <a:ext cx="242316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FBC001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408E"/>
                </a:solidFill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rPr>
              <a:t>PART TWO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408E"/>
              </a:solidFill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353623" y="-615"/>
            <a:ext cx="3176640" cy="43783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17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 w="22225">
                  <a:gradFill>
                    <a:gsLst>
                      <a:gs pos="0">
                        <a:prstClr val="white"/>
                      </a:gs>
                      <a:gs pos="82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noFill/>
                <a:effectLst/>
                <a:uLnTx/>
                <a:uFillTx/>
                <a:ea typeface="思源黑体 CN Medium" panose="020B0600000000000000" pitchFamily="34" charset="-122"/>
                <a:cs typeface="+mn-cs"/>
              </a:rPr>
              <a:t>02</a:t>
            </a:r>
            <a:endParaRPr kumimoji="0" lang="zh-CN" altLang="en-US" sz="19900" b="0" i="0" u="none" strike="noStrike" kern="1200" cap="none" spc="0" normalizeH="0" baseline="0" noProof="0" dirty="0">
              <a:ln w="22225">
                <a:gradFill>
                  <a:gsLst>
                    <a:gs pos="0">
                      <a:prstClr val="white"/>
                    </a:gs>
                    <a:gs pos="82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noFill/>
              <a:effectLst/>
              <a:uLnTx/>
              <a:uFillTx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570587" y="3429000"/>
            <a:ext cx="8742712" cy="1014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16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思源黑体 CN Bold" panose="020B0800000000000000" pitchFamily="34" charset="-122"/>
                <a:cs typeface="+mn-cs"/>
                <a:sym typeface="思源黑体 CN Normal" panose="020B0400000000000000" pitchFamily="34" charset="-122"/>
              </a:rPr>
              <a:t>书写格式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16000"/>
                  </a:prstClr>
                </a:outerShdw>
              </a:effectLst>
              <a:uLnTx/>
              <a:uFillTx/>
              <a:latin typeface="Times New Roman" panose="02020603050405020304" pitchFamily="18" charset="0"/>
              <a:ea typeface="思源黑体 CN Bold" panose="020B08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10248528" y="4215637"/>
            <a:ext cx="644190" cy="644190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087717" y="5407909"/>
            <a:ext cx="350146" cy="350146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617685" y="840752"/>
            <a:ext cx="895572" cy="895572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语句</a:t>
            </a:r>
            <a:endParaRPr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1. 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简单语句</a:t>
            </a:r>
            <a:endParaRPr lang="zh-CN" altLang="en-US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JavaScript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的代码语句由一行中的一个或多个项和符号组成。每行开始一条新的语句，不过显式地终止语句是一个好方法。可以用分号（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）来实现，分号是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JavaScript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的终止字符。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143364" name="Rectangle 4"/>
          <p:cNvSpPr>
            <a:spLocks noGrp="1" noChangeArrowheads="1"/>
          </p:cNvSpPr>
          <p:nvPr/>
        </p:nvSpPr>
        <p:spPr>
          <a:xfrm>
            <a:off x="1785620" y="3439160"/>
            <a:ext cx="3858260" cy="1052195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 name = "Robin";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 today = new Date();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3365" name="Group 5"/>
          <p:cNvGrpSpPr/>
          <p:nvPr/>
        </p:nvGrpSpPr>
        <p:grpSpPr bwMode="auto">
          <a:xfrm>
            <a:off x="2980606" y="3497188"/>
            <a:ext cx="6719888" cy="2097088"/>
            <a:chOff x="1112" y="2608"/>
            <a:chExt cx="4233" cy="1321"/>
          </a:xfrm>
        </p:grpSpPr>
        <p:sp>
          <p:nvSpPr>
            <p:cNvPr id="4102" name="Rectangle 6"/>
            <p:cNvSpPr>
              <a:spLocks noChangeArrowheads="1"/>
            </p:cNvSpPr>
            <p:nvPr/>
          </p:nvSpPr>
          <p:spPr bwMode="auto">
            <a:xfrm>
              <a:off x="3349" y="2608"/>
              <a:ext cx="1996" cy="590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 eaLnBrk="0" hangingPunct="0">
                <a:spcBef>
                  <a:spcPct val="20000"/>
                </a:spcBef>
                <a:buBlip>
                  <a:blip r:embed="rId1"/>
                </a:buBlip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SzPct val="80000"/>
                <a:buBlip>
                  <a:blip r:embed="rId2"/>
                </a:buBlip>
                <a:defRPr sz="2800" b="1">
                  <a:solidFill>
                    <a:srgbClr val="FF6600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80000"/>
                <a:buBlip>
                  <a:blip r:embed="rId3"/>
                </a:buBlip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1"/>
                </a:buBlip>
                <a:defRPr sz="2000" b="1">
                  <a:solidFill>
                    <a:srgbClr val="FF9933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10000"/>
                </a:spcBef>
                <a:buFontTx/>
                <a:buNone/>
              </a:pPr>
              <a:r>
                <a:rPr lang="en-US" altLang="zh-CN" sz="2400" dirty="0"/>
                <a:t>var name = "Robin"</a:t>
              </a:r>
              <a:endParaRPr lang="en-US" altLang="zh-CN" sz="2400" dirty="0"/>
            </a:p>
            <a:p>
              <a:pPr eaLnBrk="1" hangingPunct="1">
                <a:lnSpc>
                  <a:spcPct val="110000"/>
                </a:lnSpc>
                <a:spcBef>
                  <a:spcPct val="10000"/>
                </a:spcBef>
                <a:buFontTx/>
                <a:buNone/>
              </a:pPr>
              <a:r>
                <a:rPr lang="en-US" altLang="zh-CN" sz="2400" dirty="0"/>
                <a:t>var today = new</a:t>
              </a:r>
              <a:r>
                <a:rPr lang="en-US" altLang="zh-CN" dirty="0"/>
                <a:t> </a:t>
              </a:r>
              <a:r>
                <a:rPr lang="en-US" altLang="zh-CN" sz="2400" dirty="0"/>
                <a:t>Date()</a:t>
              </a:r>
              <a:endParaRPr lang="en-US" altLang="zh-CN" sz="2400" dirty="0"/>
            </a:p>
          </p:txBody>
        </p:sp>
        <p:sp>
          <p:nvSpPr>
            <p:cNvPr id="4103" name="AutoShape 7"/>
            <p:cNvSpPr>
              <a:spLocks noChangeArrowheads="1"/>
            </p:cNvSpPr>
            <p:nvPr/>
          </p:nvSpPr>
          <p:spPr bwMode="auto">
            <a:xfrm>
              <a:off x="2789" y="2827"/>
              <a:ext cx="545" cy="291"/>
            </a:xfrm>
            <a:prstGeom prst="leftRightArrow">
              <a:avLst>
                <a:gd name="adj1" fmla="val 50000"/>
                <a:gd name="adj2" fmla="val 3745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1"/>
                </a:buBlip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SzPct val="80000"/>
                <a:buBlip>
                  <a:blip r:embed="rId2"/>
                </a:buBlip>
                <a:defRPr sz="2800" b="1">
                  <a:solidFill>
                    <a:srgbClr val="FF6600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80000"/>
                <a:buBlip>
                  <a:blip r:embed="rId3"/>
                </a:buBlip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1"/>
                </a:buBlip>
                <a:defRPr sz="2000" b="1">
                  <a:solidFill>
                    <a:srgbClr val="FF9933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104" name="Rectangle 8"/>
            <p:cNvSpPr>
              <a:spLocks noChangeArrowheads="1"/>
            </p:cNvSpPr>
            <p:nvPr/>
          </p:nvSpPr>
          <p:spPr bwMode="auto">
            <a:xfrm>
              <a:off x="1112" y="3612"/>
              <a:ext cx="3991" cy="317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 eaLnBrk="0" hangingPunct="0">
                <a:spcBef>
                  <a:spcPct val="20000"/>
                </a:spcBef>
                <a:buBlip>
                  <a:blip r:embed="rId1"/>
                </a:buBlip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SzPct val="80000"/>
                <a:buBlip>
                  <a:blip r:embed="rId2"/>
                </a:buBlip>
                <a:defRPr sz="2800" b="1">
                  <a:solidFill>
                    <a:srgbClr val="FF6600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80000"/>
                <a:buBlip>
                  <a:blip r:embed="rId3"/>
                </a:buBlip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1"/>
                </a:buBlip>
                <a:defRPr sz="2000" b="1">
                  <a:solidFill>
                    <a:srgbClr val="FF9933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10000"/>
                </a:spcBef>
                <a:buFontTx/>
                <a:buNone/>
              </a:pPr>
              <a:r>
                <a:rPr lang="en-US" altLang="zh-CN" sz="2400" dirty="0"/>
                <a:t>var name = “Robin”;</a:t>
              </a:r>
              <a:r>
                <a:rPr lang="zh-CN" altLang="en-US" sz="2400" dirty="0"/>
                <a:t> </a:t>
              </a:r>
              <a:r>
                <a:rPr lang="en-US" altLang="zh-CN" sz="2400" dirty="0"/>
                <a:t>var today = new Date()</a:t>
              </a:r>
              <a:endParaRPr lang="en-US" altLang="zh-CN" sz="2400" dirty="0"/>
            </a:p>
          </p:txBody>
        </p:sp>
        <p:sp>
          <p:nvSpPr>
            <p:cNvPr id="4105" name="AutoShape 9"/>
            <p:cNvSpPr>
              <a:spLocks noChangeArrowheads="1"/>
            </p:cNvSpPr>
            <p:nvPr/>
          </p:nvSpPr>
          <p:spPr bwMode="auto">
            <a:xfrm>
              <a:off x="2109" y="3276"/>
              <a:ext cx="408" cy="318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spcBef>
                  <a:spcPct val="20000"/>
                </a:spcBef>
                <a:buBlip>
                  <a:blip r:embed="rId1"/>
                </a:buBlip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SzPct val="80000"/>
                <a:buBlip>
                  <a:blip r:embed="rId2"/>
                </a:buBlip>
                <a:defRPr sz="2800" b="1">
                  <a:solidFill>
                    <a:srgbClr val="FF6600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80000"/>
                <a:buBlip>
                  <a:blip r:embed="rId3"/>
                </a:buBlip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1"/>
                </a:buBlip>
                <a:defRPr sz="2000" b="1">
                  <a:solidFill>
                    <a:srgbClr val="FF9933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320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4" name="图形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7044" y="2948816"/>
            <a:ext cx="758791" cy="75879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4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500"/>
                                        <p:tgtEl>
                                          <p:spTgt spid="14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4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语句</a:t>
            </a:r>
            <a:endParaRPr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2. 复合语句</a:t>
            </a:r>
            <a:endParaRPr lang="en-US" altLang="zh-CN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  用大括号括起来的一组JavaScript语句称为复合语句。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  例如，在函数和条件语句中常使用语句块： 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    if (x&gt;y)   {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        t=x;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        x=y;   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        y=t;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   }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  由三个简单语句构成一个复合语句。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语句</a:t>
            </a:r>
            <a:endParaRPr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3. 注释语句</a:t>
            </a:r>
            <a:endParaRPr lang="en-US" altLang="zh-CN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 ① 单行注释语句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     单行的JavaScript注释以一对正斜杠(//)开始。 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 ② 多行注释语句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     多行注释以一个正斜杠加一个星号的组合(/*)开始,并以其逆向顺序 (*/)结束。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网页中引入JavaScript</a:t>
            </a:r>
            <a:endParaRPr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pitchFamily="2" charset="2"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在网页中引入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JavaScript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，是通过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&lt;script&gt;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标记实现的。可以使用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内嵌代码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也可以使用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外部文件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。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146435" name="Rectangle 3"/>
          <p:cNvSpPr>
            <a:spLocks noGrp="1" noChangeArrowheads="1"/>
          </p:cNvSpPr>
          <p:nvPr/>
        </p:nvSpPr>
        <p:spPr>
          <a:xfrm>
            <a:off x="2092325" y="2022748"/>
            <a:ext cx="8007350" cy="2953170"/>
          </a:xfrm>
          <a:prstGeom prst="rect">
            <a:avLst/>
          </a:prstGeom>
          <a:noFill/>
          <a:ln w="12700">
            <a:solidFill>
              <a:srgbClr val="FF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</a:rPr>
              <a:t>例</a:t>
            </a:r>
            <a:r>
              <a:rPr lang="en-US" altLang="zh-CN" sz="2000" b="0" dirty="0">
                <a:latin typeface="Consolas" panose="020B0609020204030204" pitchFamily="49" charset="0"/>
              </a:rPr>
              <a:t>4-1  </a:t>
            </a:r>
            <a:r>
              <a:rPr lang="zh-CN" altLang="en-US" sz="2000" b="0" dirty="0">
                <a:latin typeface="Consolas" panose="020B0609020204030204" pitchFamily="49" charset="0"/>
              </a:rPr>
              <a:t>第一个</a:t>
            </a:r>
            <a:r>
              <a:rPr lang="en-US" altLang="zh-CN" sz="2000" b="0" dirty="0">
                <a:latin typeface="Consolas" panose="020B0609020204030204" pitchFamily="49" charset="0"/>
              </a:rPr>
              <a:t>JavaScript</a:t>
            </a:r>
            <a:r>
              <a:rPr lang="zh-CN" altLang="en-US" sz="2000" b="0" dirty="0">
                <a:latin typeface="Consolas" panose="020B0609020204030204" pitchFamily="49" charset="0"/>
              </a:rPr>
              <a:t>程序。</a:t>
            </a:r>
            <a:endParaRPr lang="zh-CN" altLang="en-US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2000" b="0" dirty="0">
                <a:latin typeface="Consolas" panose="020B0609020204030204" pitchFamily="49" charset="0"/>
              </a:rPr>
              <a:t>&lt;html&gt;</a:t>
            </a:r>
            <a:endParaRPr lang="en-US" altLang="zh-CN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2000" b="0" dirty="0">
                <a:latin typeface="Consolas" panose="020B0609020204030204" pitchFamily="49" charset="0"/>
              </a:rPr>
              <a:t>&lt;head&gt;JavaScript</a:t>
            </a:r>
            <a:r>
              <a:rPr lang="zh-CN" altLang="en-US" sz="2000" b="0" dirty="0">
                <a:latin typeface="Consolas" panose="020B0609020204030204" pitchFamily="49" charset="0"/>
              </a:rPr>
              <a:t>嵌入</a:t>
            </a:r>
            <a:r>
              <a:rPr lang="en-US" altLang="zh-CN" sz="2000" b="0" dirty="0">
                <a:latin typeface="Consolas" panose="020B0609020204030204" pitchFamily="49" charset="0"/>
              </a:rPr>
              <a:t>HTML&lt;/head&gt;</a:t>
            </a:r>
            <a:endParaRPr lang="en-US" altLang="zh-CN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2000" b="0" dirty="0">
                <a:latin typeface="Consolas" panose="020B0609020204030204" pitchFamily="49" charset="0"/>
              </a:rPr>
              <a:t>&lt;body&gt;</a:t>
            </a:r>
            <a:endParaRPr lang="en-US" altLang="zh-CN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00CC"/>
                </a:solidFill>
                <a:latin typeface="Consolas" panose="020B0609020204030204" pitchFamily="49" charset="0"/>
              </a:rPr>
              <a:t>&lt;script </a:t>
            </a:r>
            <a:r>
              <a:rPr lang="en-US" altLang="zh-CN" sz="2000" dirty="0">
                <a:solidFill>
                  <a:srgbClr val="0000CC"/>
                </a:solidFill>
                <a:latin typeface="Consolas" panose="020B0609020204030204" pitchFamily="49" charset="0"/>
              </a:rPr>
              <a:t>type="text/</a:t>
            </a:r>
            <a:r>
              <a:rPr lang="en-US" altLang="zh-CN" sz="2000" dirty="0" err="1">
                <a:solidFill>
                  <a:srgbClr val="0000CC"/>
                </a:solidFill>
                <a:latin typeface="Consolas" panose="020B0609020204030204" pitchFamily="49" charset="0"/>
              </a:rPr>
              <a:t>javascript</a:t>
            </a:r>
            <a:r>
              <a:rPr lang="en-US" altLang="zh-CN" sz="2000" dirty="0">
                <a:solidFill>
                  <a:srgbClr val="0000CC"/>
                </a:solidFill>
                <a:latin typeface="Consolas" panose="020B0609020204030204" pitchFamily="49" charset="0"/>
              </a:rPr>
              <a:t>" </a:t>
            </a:r>
            <a:r>
              <a:rPr lang="en-US" altLang="zh-CN" sz="2000" b="0" dirty="0">
                <a:solidFill>
                  <a:srgbClr val="0000CC"/>
                </a:solidFill>
                <a:latin typeface="Consolas" panose="020B0609020204030204" pitchFamily="49" charset="0"/>
              </a:rPr>
              <a:t>language="JavaScript"&gt;</a:t>
            </a:r>
            <a:endParaRPr lang="en-US" altLang="zh-CN" sz="2000" b="0" dirty="0">
              <a:solidFill>
                <a:srgbClr val="0000CC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00CC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2000" b="0" dirty="0" err="1">
                <a:solidFill>
                  <a:srgbClr val="0000CC"/>
                </a:solidFill>
                <a:latin typeface="Consolas" panose="020B0609020204030204" pitchFamily="49" charset="0"/>
              </a:rPr>
              <a:t>document.write</a:t>
            </a:r>
            <a:r>
              <a:rPr lang="en-US" altLang="zh-CN" sz="2000" b="0" dirty="0">
                <a:solidFill>
                  <a:srgbClr val="0000CC"/>
                </a:solidFill>
                <a:latin typeface="Consolas" panose="020B0609020204030204" pitchFamily="49" charset="0"/>
              </a:rPr>
              <a:t>("</a:t>
            </a:r>
            <a:r>
              <a:rPr lang="zh-CN" altLang="en-US" sz="2000" b="0" dirty="0">
                <a:solidFill>
                  <a:srgbClr val="0000CC"/>
                </a:solidFill>
                <a:latin typeface="Consolas" panose="020B0609020204030204" pitchFamily="49" charset="0"/>
              </a:rPr>
              <a:t>这是以</a:t>
            </a:r>
            <a:r>
              <a:rPr lang="en-US" altLang="zh-CN" sz="2000" b="0" dirty="0">
                <a:solidFill>
                  <a:srgbClr val="0000CC"/>
                </a:solidFill>
                <a:latin typeface="Consolas" panose="020B0609020204030204" pitchFamily="49" charset="0"/>
              </a:rPr>
              <a:t>JavaScript</a:t>
            </a:r>
            <a:r>
              <a:rPr lang="zh-CN" altLang="en-US" sz="2000" b="0" dirty="0">
                <a:solidFill>
                  <a:srgbClr val="0000CC"/>
                </a:solidFill>
                <a:latin typeface="Consolas" panose="020B0609020204030204" pitchFamily="49" charset="0"/>
              </a:rPr>
              <a:t>输出的</a:t>
            </a:r>
            <a:r>
              <a:rPr lang="en-US" altLang="zh-CN" sz="2000" b="0" dirty="0">
                <a:solidFill>
                  <a:srgbClr val="0000CC"/>
                </a:solidFill>
                <a:latin typeface="Consolas" panose="020B0609020204030204" pitchFamily="49" charset="0"/>
              </a:rPr>
              <a:t>!")</a:t>
            </a:r>
            <a:endParaRPr lang="en-US" altLang="zh-CN" sz="2000" b="0" dirty="0">
              <a:solidFill>
                <a:srgbClr val="0000CC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00CC"/>
                </a:solidFill>
                <a:latin typeface="Consolas" panose="020B0609020204030204" pitchFamily="49" charset="0"/>
              </a:rPr>
              <a:t>&lt;/script&gt;</a:t>
            </a:r>
            <a:endParaRPr lang="en-US" altLang="zh-CN" sz="2000" b="0" dirty="0">
              <a:solidFill>
                <a:srgbClr val="0000CC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2000" b="0" dirty="0">
                <a:latin typeface="Consolas" panose="020B0609020204030204" pitchFamily="49" charset="0"/>
              </a:rPr>
              <a:t>&lt;/body&gt;</a:t>
            </a:r>
            <a:endParaRPr lang="en-US" altLang="zh-CN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2000" b="0" dirty="0">
                <a:latin typeface="Consolas" panose="020B0609020204030204" pitchFamily="49" charset="0"/>
              </a:rPr>
              <a:t>&lt;/html&gt;</a:t>
            </a:r>
            <a:endParaRPr lang="en-US" altLang="zh-CN" sz="2000" b="0" dirty="0">
              <a:latin typeface="Consolas" panose="020B0609020204030204" pitchFamily="49" charset="0"/>
            </a:endParaRPr>
          </a:p>
        </p:txBody>
      </p:sp>
      <p:sp>
        <p:nvSpPr>
          <p:cNvPr id="146436" name="Rectangle 4"/>
          <p:cNvSpPr>
            <a:spLocks noChangeArrowheads="1"/>
          </p:cNvSpPr>
          <p:nvPr/>
        </p:nvSpPr>
        <p:spPr bwMode="auto">
          <a:xfrm>
            <a:off x="2092325" y="5224461"/>
            <a:ext cx="8007350" cy="1008063"/>
          </a:xfrm>
          <a:prstGeom prst="rect">
            <a:avLst/>
          </a:prstGeom>
          <a:noFill/>
          <a:ln w="12700">
            <a:solidFill>
              <a:srgbClr val="FF66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5125" indent="-365125"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000" b="0" dirty="0">
                <a:solidFill>
                  <a:srgbClr val="000099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2000" b="0" dirty="0" err="1">
                <a:solidFill>
                  <a:srgbClr val="000099"/>
                </a:solidFill>
                <a:latin typeface="Consolas" panose="020B0609020204030204" pitchFamily="49" charset="0"/>
              </a:rPr>
              <a:t>noscript</a:t>
            </a:r>
            <a:r>
              <a:rPr lang="en-US" altLang="zh-CN" sz="2000" b="0" dirty="0">
                <a:solidFill>
                  <a:srgbClr val="000099"/>
                </a:solidFill>
                <a:latin typeface="Consolas" panose="020B0609020204030204" pitchFamily="49" charset="0"/>
              </a:rPr>
              <a:t>&gt;……&lt;/</a:t>
            </a:r>
            <a:r>
              <a:rPr lang="en-US" altLang="zh-CN" sz="2000" b="0" dirty="0" err="1">
                <a:solidFill>
                  <a:srgbClr val="000099"/>
                </a:solidFill>
                <a:latin typeface="Consolas" panose="020B0609020204030204" pitchFamily="49" charset="0"/>
              </a:rPr>
              <a:t>noscript</a:t>
            </a:r>
            <a:r>
              <a:rPr lang="en-US" altLang="zh-CN" sz="2000" b="0" dirty="0">
                <a:solidFill>
                  <a:srgbClr val="000099"/>
                </a:solidFill>
                <a:latin typeface="Consolas" panose="020B0609020204030204" pitchFamily="49" charset="0"/>
              </a:rPr>
              <a:t>&gt;</a:t>
            </a:r>
            <a:r>
              <a:rPr lang="zh-CN" altLang="en-US" sz="2000" b="0" dirty="0">
                <a:solidFill>
                  <a:srgbClr val="000099"/>
                </a:solidFill>
                <a:latin typeface="Consolas" panose="020B0609020204030204" pitchFamily="49" charset="0"/>
              </a:rPr>
              <a:t>标签</a:t>
            </a:r>
            <a:endParaRPr lang="zh-CN" altLang="en-US" sz="2000" b="0" dirty="0">
              <a:solidFill>
                <a:srgbClr val="000099"/>
              </a:solidFill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000" b="0" dirty="0">
                <a:latin typeface="Consolas" panose="020B0609020204030204" pitchFamily="49" charset="0"/>
              </a:rPr>
              <a:t>---</a:t>
            </a:r>
            <a:r>
              <a:rPr lang="zh-CN" altLang="en-US" sz="2000" b="0" dirty="0">
                <a:latin typeface="Consolas" panose="020B0609020204030204" pitchFamily="49" charset="0"/>
              </a:rPr>
              <a:t>不支持或禁用</a:t>
            </a:r>
            <a:r>
              <a:rPr lang="en-US" altLang="zh-CN" sz="2000" b="0" dirty="0">
                <a:latin typeface="Consolas" panose="020B0609020204030204" pitchFamily="49" charset="0"/>
              </a:rPr>
              <a:t>JavaScript</a:t>
            </a:r>
            <a:r>
              <a:rPr lang="zh-CN" altLang="en-US" sz="2000" b="0" dirty="0">
                <a:latin typeface="Consolas" panose="020B0609020204030204" pitchFamily="49" charset="0"/>
              </a:rPr>
              <a:t>的浏览器显示其中的内容。</a:t>
            </a:r>
            <a:endParaRPr lang="zh-CN" altLang="en-US" sz="2000" b="0" dirty="0">
              <a:latin typeface="Consolas" panose="020B0609020204030204" pitchFamily="49" charset="0"/>
            </a:endParaRPr>
          </a:p>
        </p:txBody>
      </p:sp>
      <p:sp>
        <p:nvSpPr>
          <p:cNvPr id="146437" name="Rectangle 5"/>
          <p:cNvSpPr>
            <a:spLocks noChangeArrowheads="1"/>
          </p:cNvSpPr>
          <p:nvPr/>
        </p:nvSpPr>
        <p:spPr bwMode="auto">
          <a:xfrm>
            <a:off x="2163180" y="3390447"/>
            <a:ext cx="7560840" cy="90388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5125" indent="-365125"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00CC"/>
                </a:solidFill>
                <a:latin typeface="Consolas" panose="020B0609020204030204" pitchFamily="49" charset="0"/>
              </a:rPr>
              <a:t>&lt;script type="text/</a:t>
            </a:r>
            <a:r>
              <a:rPr lang="en-US" altLang="zh-CN" sz="2000" b="0" dirty="0" err="1">
                <a:solidFill>
                  <a:srgbClr val="0000CC"/>
                </a:solidFill>
                <a:latin typeface="Consolas" panose="020B0609020204030204" pitchFamily="49" charset="0"/>
              </a:rPr>
              <a:t>javascript</a:t>
            </a:r>
            <a:r>
              <a:rPr lang="en-US" altLang="zh-CN" sz="2000" b="0" dirty="0">
                <a:solidFill>
                  <a:srgbClr val="0000CC"/>
                </a:solidFill>
                <a:latin typeface="Consolas" panose="020B0609020204030204" pitchFamily="49" charset="0"/>
              </a:rPr>
              <a:t>" </a:t>
            </a:r>
            <a:r>
              <a:rPr lang="en-US" altLang="zh-CN" sz="2000" b="0" dirty="0" err="1">
                <a:solidFill>
                  <a:srgbClr val="0000CC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000" b="0" dirty="0">
                <a:solidFill>
                  <a:srgbClr val="0000CC"/>
                </a:solidFill>
                <a:latin typeface="Consolas" panose="020B0609020204030204" pitchFamily="49" charset="0"/>
              </a:rPr>
              <a:t>="external.js"&gt;</a:t>
            </a:r>
            <a:endParaRPr lang="en-US" altLang="zh-CN" sz="2000" b="0" dirty="0">
              <a:solidFill>
                <a:srgbClr val="0000CC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00CC"/>
                </a:solidFill>
                <a:latin typeface="Consolas" panose="020B0609020204030204" pitchFamily="49" charset="0"/>
              </a:rPr>
              <a:t>&lt;/script&gt;</a:t>
            </a:r>
            <a:endParaRPr lang="en-US" altLang="zh-CN" sz="2000" b="0" dirty="0">
              <a:solidFill>
                <a:srgbClr val="0000CC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对话气泡: 矩形 1"/>
          <p:cNvSpPr/>
          <p:nvPr/>
        </p:nvSpPr>
        <p:spPr bwMode="auto">
          <a:xfrm>
            <a:off x="5909310" y="2287628"/>
            <a:ext cx="2088232" cy="445319"/>
          </a:xfrm>
          <a:prstGeom prst="wedgeRectCallout">
            <a:avLst>
              <a:gd name="adj1" fmla="val -78905"/>
              <a:gd name="adj2" fmla="val 216227"/>
            </a:avLst>
          </a:prstGeom>
          <a:solidFill>
            <a:srgbClr val="CC9B10">
              <a:alpha val="10196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0" lang="en-US" altLang="zh-CN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宋体" panose="02010600030101010101" pitchFamily="2" charset="-122"/>
              </a:rPr>
              <a:t>HTML4</a:t>
            </a:r>
            <a:r>
              <a:rPr kumimoji="0" lang="zh-CN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宋体" panose="02010600030101010101" pitchFamily="2" charset="-122"/>
              </a:rPr>
              <a:t>中必选，</a:t>
            </a:r>
            <a:r>
              <a:rPr kumimoji="0" lang="en-US" altLang="zh-CN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宋体" panose="02010600030101010101" pitchFamily="2" charset="-122"/>
              </a:rPr>
              <a:t>HTML5</a:t>
            </a:r>
            <a:r>
              <a:rPr kumimoji="0" lang="zh-CN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宋体" panose="02010600030101010101" pitchFamily="2" charset="-122"/>
              </a:rPr>
              <a:t>可省略（默认为</a:t>
            </a:r>
            <a:r>
              <a:rPr lang="en-US" altLang="zh-CN" sz="1050" dirty="0">
                <a:latin typeface="Consolas" panose="020B0609020204030204" pitchFamily="49" charset="0"/>
              </a:rPr>
              <a:t>text/</a:t>
            </a:r>
            <a:r>
              <a:rPr lang="en-US" altLang="zh-CN" sz="1050" dirty="0" err="1">
                <a:latin typeface="Consolas" panose="020B0609020204030204" pitchFamily="49" charset="0"/>
              </a:rPr>
              <a:t>javascript</a:t>
            </a:r>
            <a:r>
              <a:rPr lang="zh-CN" altLang="en-US" sz="1050" dirty="0">
                <a:latin typeface="Consolas" panose="020B0609020204030204" pitchFamily="49" charset="0"/>
              </a:rPr>
              <a:t>）</a:t>
            </a:r>
            <a:endParaRPr kumimoji="0" lang="zh-CN" altLang="en-US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7" name="对话气泡: 矩形 6"/>
          <p:cNvSpPr/>
          <p:nvPr/>
        </p:nvSpPr>
        <p:spPr bwMode="auto">
          <a:xfrm>
            <a:off x="8213695" y="2395578"/>
            <a:ext cx="1008112" cy="416632"/>
          </a:xfrm>
          <a:prstGeom prst="wedgeRectCallout">
            <a:avLst>
              <a:gd name="adj1" fmla="val -73285"/>
              <a:gd name="adj2" fmla="val 199756"/>
            </a:avLst>
          </a:prstGeom>
          <a:solidFill>
            <a:srgbClr val="CC9B10">
              <a:alpha val="10196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050" dirty="0"/>
              <a:t>不赞成使用</a:t>
            </a:r>
            <a:endParaRPr kumimoji="0" lang="zh-CN" altLang="en-US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 flipV="1">
            <a:off x="6553835" y="3493135"/>
            <a:ext cx="2776855" cy="1016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4" dur="500"/>
                                        <p:tgtEl>
                                          <p:spTgt spid="14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5" grpId="0" bldLvl="0" animBg="1"/>
      <p:bldP spid="146436" grpId="0" bldLvl="0" animBg="1"/>
      <p:bldP spid="146437" grpId="0" bldLvl="0" animBg="1"/>
      <p:bldP spid="4" grpId="0" bldLvl="0" animBg="1"/>
      <p:bldP spid="4" grpId="1" bldLvl="0" animBg="1"/>
      <p:bldP spid="7" grpId="0" bldLvl="0" animBg="1"/>
      <p:bldP spid="7" grpId="1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JavaScript的保留关键字</a:t>
            </a:r>
            <a:endParaRPr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pitchFamily="2" charset="2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JavaScript有许多保留关键字。这些关键字可分为三种类型：</a:t>
            </a:r>
            <a:r>
              <a:rPr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JavaScript关键字</a:t>
            </a:r>
            <a:r>
              <a:rPr sz="2400" dirty="0">
                <a:cs typeface="Times New Roman" panose="02020603050405020304" pitchFamily="18" charset="0"/>
                <a:sym typeface="+mn-ea"/>
              </a:rPr>
              <a:t>、</a:t>
            </a:r>
            <a:r>
              <a:rPr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保留字</a:t>
            </a:r>
            <a:r>
              <a:rPr sz="2400" dirty="0">
                <a:cs typeface="Times New Roman" panose="02020603050405020304" pitchFamily="18" charset="0"/>
                <a:sym typeface="+mn-ea"/>
              </a:rPr>
              <a:t>和</a:t>
            </a:r>
            <a:r>
              <a:rPr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应避免的单词</a:t>
            </a:r>
            <a:r>
              <a:rPr sz="2400" dirty="0">
                <a:cs typeface="Times New Roman" panose="02020603050405020304" pitchFamily="18" charset="0"/>
                <a:sym typeface="+mn-ea"/>
              </a:rPr>
              <a:t>。</a:t>
            </a:r>
            <a:endParaRPr sz="2400" dirty="0"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8195" name="Object 3"/>
          <p:cNvGraphicFramePr>
            <a:graphicFrameLocks noGrp="1" noChangeAspect="1"/>
          </p:cNvGraphicFramePr>
          <p:nvPr/>
        </p:nvGraphicFramePr>
        <p:xfrm>
          <a:off x="2242344" y="2372112"/>
          <a:ext cx="7707312" cy="316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文档" r:id="rId1" imgW="5523230" imgH="2266315" progId="Word.Document.8">
                  <p:embed/>
                </p:oleObj>
              </mc:Choice>
              <mc:Fallback>
                <p:oleObj name="文档" r:id="rId1" imgW="5523230" imgH="2266315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20912"/>
                      <a:stretch>
                        <a:fillRect/>
                      </a:stretch>
                    </p:blipFill>
                    <p:spPr bwMode="auto">
                      <a:xfrm>
                        <a:off x="2242344" y="2372112"/>
                        <a:ext cx="7707312" cy="316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任意多边形 29"/>
          <p:cNvSpPr/>
          <p:nvPr/>
        </p:nvSpPr>
        <p:spPr>
          <a:xfrm>
            <a:off x="1" y="73756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solidFill>
            <a:srgbClr val="FB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2" y="1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gradFill>
            <a:gsLst>
              <a:gs pos="0">
                <a:srgbClr val="0050B0"/>
              </a:gs>
              <a:gs pos="62000">
                <a:srgbClr val="0040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730363" y="4678349"/>
            <a:ext cx="242316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FBC001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408E"/>
                </a:solidFill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rPr>
              <a:t>PART THREE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408E"/>
              </a:solidFill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353623" y="-615"/>
            <a:ext cx="3176640" cy="43783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17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 w="22225">
                  <a:gradFill>
                    <a:gsLst>
                      <a:gs pos="0">
                        <a:prstClr val="white"/>
                      </a:gs>
                      <a:gs pos="82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noFill/>
                <a:effectLst/>
                <a:uLnTx/>
                <a:uFillTx/>
                <a:ea typeface="思源黑体 CN Medium" panose="020B0600000000000000" pitchFamily="34" charset="-122"/>
                <a:cs typeface="+mn-cs"/>
              </a:rPr>
              <a:t>03</a:t>
            </a:r>
            <a:endParaRPr kumimoji="0" lang="zh-CN" altLang="en-US" sz="19900" b="0" i="0" u="none" strike="noStrike" kern="1200" cap="none" spc="0" normalizeH="0" baseline="0" noProof="0" dirty="0">
              <a:ln w="22225">
                <a:gradFill>
                  <a:gsLst>
                    <a:gs pos="0">
                      <a:prstClr val="white"/>
                    </a:gs>
                    <a:gs pos="82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noFill/>
              <a:effectLst/>
              <a:uLnTx/>
              <a:uFillTx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70585" y="3429000"/>
            <a:ext cx="10098405" cy="1014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16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思源黑体 CN Bold" panose="020B0800000000000000" pitchFamily="34" charset="-122"/>
                <a:cs typeface="+mn-cs"/>
                <a:sym typeface="思源黑体 CN Normal" panose="020B0400000000000000" pitchFamily="34" charset="-122"/>
              </a:rPr>
              <a:t>变量与数组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16000"/>
                  </a:prstClr>
                </a:outerShdw>
              </a:effectLst>
              <a:uLnTx/>
              <a:uFillTx/>
              <a:latin typeface="Times New Roman" panose="02020603050405020304" pitchFamily="18" charset="0"/>
              <a:ea typeface="思源黑体 CN Bold" panose="020B08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10248528" y="4215637"/>
            <a:ext cx="644190" cy="644190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087717" y="5407909"/>
            <a:ext cx="350146" cy="350146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617685" y="840752"/>
            <a:ext cx="895572" cy="895572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变量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1. 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变量的定义</a:t>
            </a:r>
            <a:endParaRPr lang="zh-CN" altLang="en-US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     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JavaScript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定义变量只有一个关键字“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var”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。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JavaScript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中声明变量关键字是可选的，但是建议总是使用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var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定义变量。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     </a:t>
            </a:r>
            <a:r>
              <a:rPr lang="zh-CN" altLang="en-US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语法为：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var  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变量名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                     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var  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变量名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=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变量值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p:grpSp>
        <p:nvGrpSpPr>
          <p:cNvPr id="148484" name="Group 4"/>
          <p:cNvGrpSpPr/>
          <p:nvPr/>
        </p:nvGrpSpPr>
        <p:grpSpPr bwMode="auto">
          <a:xfrm>
            <a:off x="2154144" y="3768725"/>
            <a:ext cx="7975601" cy="1803400"/>
            <a:chOff x="144" y="2823"/>
            <a:chExt cx="5024" cy="1136"/>
          </a:xfrm>
        </p:grpSpPr>
        <p:sp>
          <p:nvSpPr>
            <p:cNvPr id="9221" name="Rectangle 5"/>
            <p:cNvSpPr>
              <a:spLocks noChangeArrowheads="1"/>
            </p:cNvSpPr>
            <p:nvPr/>
          </p:nvSpPr>
          <p:spPr bwMode="auto">
            <a:xfrm>
              <a:off x="144" y="2835"/>
              <a:ext cx="2282" cy="31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1"/>
                </a:buBlip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SzPct val="80000"/>
                <a:buBlip>
                  <a:blip r:embed="rId2"/>
                </a:buBlip>
                <a:defRPr sz="2800" b="1">
                  <a:solidFill>
                    <a:srgbClr val="FF6600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80000"/>
                <a:buBlip>
                  <a:blip r:embed="rId3"/>
                </a:buBlip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1"/>
                </a:buBlip>
                <a:defRPr sz="2000" b="1">
                  <a:solidFill>
                    <a:srgbClr val="FF9933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dirty="0"/>
                <a:t>var username = “Jacqui”;</a:t>
              </a:r>
              <a:endParaRPr kumimoji="1" lang="en-US" altLang="zh-CN" sz="2400" dirty="0"/>
            </a:p>
          </p:txBody>
        </p:sp>
        <p:sp>
          <p:nvSpPr>
            <p:cNvPr id="9222" name="Rectangle 6"/>
            <p:cNvSpPr>
              <a:spLocks noChangeArrowheads="1"/>
            </p:cNvSpPr>
            <p:nvPr/>
          </p:nvSpPr>
          <p:spPr bwMode="auto">
            <a:xfrm>
              <a:off x="3050" y="2823"/>
              <a:ext cx="2118" cy="318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1"/>
                </a:buBlip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SzPct val="80000"/>
                <a:buBlip>
                  <a:blip r:embed="rId2"/>
                </a:buBlip>
                <a:defRPr sz="2800" b="1">
                  <a:solidFill>
                    <a:srgbClr val="FF6600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80000"/>
                <a:buBlip>
                  <a:blip r:embed="rId3"/>
                </a:buBlip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1"/>
                </a:buBlip>
                <a:defRPr sz="2000" b="1">
                  <a:solidFill>
                    <a:srgbClr val="FF9933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dirty="0"/>
                <a:t>username = “Jacqui”;</a:t>
              </a:r>
              <a:endParaRPr kumimoji="1" lang="en-US" altLang="zh-CN" sz="2400" dirty="0"/>
            </a:p>
          </p:txBody>
        </p:sp>
        <p:sp>
          <p:nvSpPr>
            <p:cNvPr id="9223" name="AutoShape 7"/>
            <p:cNvSpPr>
              <a:spLocks noChangeArrowheads="1"/>
            </p:cNvSpPr>
            <p:nvPr/>
          </p:nvSpPr>
          <p:spPr bwMode="auto">
            <a:xfrm>
              <a:off x="2494" y="2878"/>
              <a:ext cx="499" cy="227"/>
            </a:xfrm>
            <a:prstGeom prst="leftRightArrow">
              <a:avLst>
                <a:gd name="adj1" fmla="val 50000"/>
                <a:gd name="adj2" fmla="val 43965"/>
              </a:avLst>
            </a:prstGeom>
            <a:solidFill>
              <a:srgbClr val="3399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1"/>
                </a:buBlip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SzPct val="80000"/>
                <a:buBlip>
                  <a:blip r:embed="rId2"/>
                </a:buBlip>
                <a:defRPr sz="2800" b="1">
                  <a:solidFill>
                    <a:srgbClr val="FF6600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80000"/>
                <a:buBlip>
                  <a:blip r:embed="rId3"/>
                </a:buBlip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1"/>
                </a:buBlip>
                <a:defRPr sz="2000" b="1">
                  <a:solidFill>
                    <a:srgbClr val="FF9933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320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224" name="Rectangle 8"/>
            <p:cNvSpPr>
              <a:spLocks noChangeArrowheads="1"/>
            </p:cNvSpPr>
            <p:nvPr/>
          </p:nvSpPr>
          <p:spPr bwMode="auto">
            <a:xfrm>
              <a:off x="1742" y="3415"/>
              <a:ext cx="2136" cy="544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1"/>
                </a:buBlip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SzPct val="80000"/>
                <a:buBlip>
                  <a:blip r:embed="rId2"/>
                </a:buBlip>
                <a:defRPr sz="2800" b="1">
                  <a:solidFill>
                    <a:srgbClr val="FF6600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80000"/>
                <a:buBlip>
                  <a:blip r:embed="rId3"/>
                </a:buBlip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1"/>
                </a:buBlip>
                <a:defRPr sz="2000" b="1">
                  <a:solidFill>
                    <a:srgbClr val="FF9933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dirty="0"/>
                <a:t>var username;</a:t>
              </a:r>
              <a:endParaRPr kumimoji="1" lang="en-US" altLang="zh-CN" sz="2400" dirty="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dirty="0">
                  <a:ea typeface="宋体" panose="02010600030101010101" pitchFamily="2" charset="-122"/>
                </a:rPr>
                <a:t>username = “Jacqui”;</a:t>
              </a:r>
              <a:endParaRPr kumimoji="1" lang="en-US" altLang="zh-CN" sz="2400" dirty="0"/>
            </a:p>
          </p:txBody>
        </p:sp>
        <p:sp>
          <p:nvSpPr>
            <p:cNvPr id="9225" name="AutoShape 9"/>
            <p:cNvSpPr>
              <a:spLocks noChangeArrowheads="1"/>
            </p:cNvSpPr>
            <p:nvPr/>
          </p:nvSpPr>
          <p:spPr bwMode="auto">
            <a:xfrm>
              <a:off x="3243" y="3119"/>
              <a:ext cx="409" cy="318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spcBef>
                  <a:spcPct val="20000"/>
                </a:spcBef>
                <a:buBlip>
                  <a:blip r:embed="rId1"/>
                </a:buBlip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SzPct val="80000"/>
                <a:buBlip>
                  <a:blip r:embed="rId2"/>
                </a:buBlip>
                <a:defRPr sz="2800" b="1">
                  <a:solidFill>
                    <a:srgbClr val="FF6600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80000"/>
                <a:buBlip>
                  <a:blip r:embed="rId3"/>
                </a:buBlip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1"/>
                </a:buBlip>
                <a:defRPr sz="2000" b="1">
                  <a:solidFill>
                    <a:srgbClr val="FF9933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320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226" name="AutoShape 10"/>
            <p:cNvSpPr>
              <a:spLocks noChangeArrowheads="1"/>
            </p:cNvSpPr>
            <p:nvPr/>
          </p:nvSpPr>
          <p:spPr bwMode="auto">
            <a:xfrm>
              <a:off x="1927" y="3130"/>
              <a:ext cx="363" cy="318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spcBef>
                  <a:spcPct val="20000"/>
                </a:spcBef>
                <a:buBlip>
                  <a:blip r:embed="rId1"/>
                </a:buBlip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SzPct val="80000"/>
                <a:buBlip>
                  <a:blip r:embed="rId2"/>
                </a:buBlip>
                <a:defRPr sz="2800" b="1">
                  <a:solidFill>
                    <a:srgbClr val="FF6600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80000"/>
                <a:buBlip>
                  <a:blip r:embed="rId3"/>
                </a:buBlip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1"/>
                </a:buBlip>
                <a:defRPr sz="2000" b="1">
                  <a:solidFill>
                    <a:srgbClr val="FF9933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320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4" name="图形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0206" y="3217912"/>
            <a:ext cx="799926" cy="79992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500"/>
                                        <p:tgtEl>
                                          <p:spTgt spid="14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变量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/>
        </p:nvSpPr>
        <p:spPr>
          <a:xfrm>
            <a:off x="2675620" y="1134004"/>
            <a:ext cx="6840760" cy="4990042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</a:rPr>
              <a:t>例</a:t>
            </a:r>
            <a:r>
              <a:rPr lang="en-US" altLang="zh-CN" sz="1800" b="0" dirty="0">
                <a:latin typeface="Consolas" panose="020B0609020204030204" pitchFamily="49" charset="0"/>
              </a:rPr>
              <a:t>4-2  </a:t>
            </a:r>
            <a:r>
              <a:rPr lang="zh-CN" altLang="en-US" sz="1800" b="0" dirty="0">
                <a:latin typeface="Consolas" panose="020B0609020204030204" pitchFamily="49" charset="0"/>
              </a:rPr>
              <a:t>使用变量。</a:t>
            </a:r>
            <a:endParaRPr lang="zh-CN" altLang="en-US" sz="18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</a:rPr>
              <a:t>&lt;html&gt;</a:t>
            </a:r>
            <a:endParaRPr lang="en-US" altLang="zh-CN" sz="18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</a:rPr>
              <a:t>&lt;head&gt;</a:t>
            </a:r>
            <a:endParaRPr lang="en-US" altLang="zh-CN" sz="18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</a:rPr>
              <a:t>	&lt;title&gt;</a:t>
            </a: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变量示例</a:t>
            </a:r>
            <a:r>
              <a:rPr lang="en-US" altLang="zh-CN" sz="1800" b="0" dirty="0">
                <a:latin typeface="Consolas" panose="020B0609020204030204" pitchFamily="49" charset="0"/>
              </a:rPr>
              <a:t>&lt;/title&gt;</a:t>
            </a:r>
            <a:endParaRPr lang="en-US" altLang="zh-CN" sz="18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</a:rPr>
              <a:t> 	&lt;script&gt;</a:t>
            </a:r>
            <a:endParaRPr lang="en-US" altLang="zh-CN" sz="18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</a:rPr>
              <a:t> 	    var </a:t>
            </a:r>
            <a:r>
              <a:rPr lang="en-US" altLang="zh-CN" sz="1800" b="0" dirty="0" err="1">
                <a:latin typeface="Consolas" panose="020B0609020204030204" pitchFamily="49" charset="0"/>
              </a:rPr>
              <a:t>strWelcome</a:t>
            </a:r>
            <a:r>
              <a:rPr lang="en-US" altLang="zh-CN" sz="1800" b="0" dirty="0">
                <a:latin typeface="Consolas" panose="020B0609020204030204" pitchFamily="49" charset="0"/>
              </a:rPr>
              <a:t> = "</a:t>
            </a:r>
            <a:r>
              <a:rPr lang="zh-CN" altLang="en-US" sz="1800" b="0" dirty="0">
                <a:latin typeface="Consolas" panose="020B0609020204030204" pitchFamily="49" charset="0"/>
              </a:rPr>
              <a:t>欢迎您！</a:t>
            </a:r>
            <a:r>
              <a:rPr lang="en-US" altLang="zh-CN" sz="1800" b="0" dirty="0">
                <a:latin typeface="Consolas" panose="020B0609020204030204" pitchFamily="49" charset="0"/>
              </a:rPr>
              <a:t>&lt;</a:t>
            </a:r>
            <a:r>
              <a:rPr lang="en-US" altLang="zh-CN" sz="1800" b="0" dirty="0" err="1">
                <a:latin typeface="Consolas" panose="020B0609020204030204" pitchFamily="49" charset="0"/>
              </a:rPr>
              <a:t>br</a:t>
            </a:r>
            <a:r>
              <a:rPr lang="en-US" altLang="zh-CN" sz="1800" b="0" dirty="0">
                <a:latin typeface="Consolas" panose="020B0609020204030204" pitchFamily="49" charset="0"/>
              </a:rPr>
              <a:t>/&gt;";    </a:t>
            </a:r>
            <a:endParaRPr lang="en-US" altLang="zh-CN" sz="1800" b="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</a:rPr>
              <a:t>       var </a:t>
            </a:r>
            <a:r>
              <a:rPr lang="en-US" altLang="zh-CN" sz="1800" b="0" dirty="0" err="1">
                <a:latin typeface="Consolas" panose="020B0609020204030204" pitchFamily="49" charset="0"/>
              </a:rPr>
              <a:t>iCounter</a:t>
            </a:r>
            <a:r>
              <a:rPr lang="en-US" altLang="zh-CN" sz="1800" b="0" dirty="0">
                <a:latin typeface="Consolas" panose="020B0609020204030204" pitchFamily="49" charset="0"/>
              </a:rPr>
              <a:t> = 10;</a:t>
            </a:r>
            <a:endParaRPr lang="en-US" altLang="zh-CN" sz="1800" b="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</a:rPr>
              <a:t> 	    </a:t>
            </a:r>
            <a:r>
              <a:rPr lang="en-US" altLang="zh-CN" sz="1800" b="0" dirty="0" err="1">
                <a:latin typeface="Consolas" panose="020B0609020204030204" pitchFamily="49" charset="0"/>
              </a:rPr>
              <a:t>iCounter</a:t>
            </a:r>
            <a:r>
              <a:rPr lang="en-US" altLang="zh-CN" sz="1800" b="0" dirty="0">
                <a:latin typeface="Consolas" panose="020B0609020204030204" pitchFamily="49" charset="0"/>
              </a:rPr>
              <a:t> = </a:t>
            </a:r>
            <a:r>
              <a:rPr lang="en-US" altLang="zh-CN" sz="1800" b="0" dirty="0" err="1">
                <a:latin typeface="Consolas" panose="020B0609020204030204" pitchFamily="49" charset="0"/>
              </a:rPr>
              <a:t>iCounter</a:t>
            </a:r>
            <a:r>
              <a:rPr lang="en-US" altLang="zh-CN" sz="1800" b="0" dirty="0">
                <a:latin typeface="Consolas" panose="020B0609020204030204" pitchFamily="49" charset="0"/>
              </a:rPr>
              <a:t> + 1;</a:t>
            </a:r>
            <a:endParaRPr lang="en-US" altLang="zh-CN" sz="1800" b="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</a:rPr>
              <a:t> 	&lt;/script&gt;</a:t>
            </a:r>
            <a:endParaRPr lang="en-US" altLang="zh-CN" sz="1800" b="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</a:rPr>
              <a:t>&lt;/head&gt;</a:t>
            </a:r>
            <a:endParaRPr lang="en-US" altLang="zh-CN" sz="1800" b="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</a:rPr>
              <a:t>&lt;body&gt;</a:t>
            </a:r>
            <a:endParaRPr lang="en-US" altLang="zh-CN" sz="1800" b="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</a:rPr>
              <a:t> 	&lt;script&gt;</a:t>
            </a:r>
            <a:endParaRPr lang="en-US" altLang="zh-CN" sz="1800" b="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</a:rPr>
              <a:t> 	    </a:t>
            </a:r>
            <a:r>
              <a:rPr lang="en-US" altLang="zh-CN" sz="1800" b="0" dirty="0" err="1">
                <a:latin typeface="Consolas" panose="020B0609020204030204" pitchFamily="49" charset="0"/>
              </a:rPr>
              <a:t>document.write</a:t>
            </a:r>
            <a:r>
              <a:rPr lang="en-US" altLang="zh-CN" sz="1800" b="0" dirty="0">
                <a:latin typeface="Consolas" panose="020B0609020204030204" pitchFamily="49" charset="0"/>
              </a:rPr>
              <a:t>(</a:t>
            </a:r>
            <a:r>
              <a:rPr lang="en-US" altLang="zh-CN" sz="1800" b="0" dirty="0" err="1">
                <a:latin typeface="Consolas" panose="020B0609020204030204" pitchFamily="49" charset="0"/>
              </a:rPr>
              <a:t>strWelcome</a:t>
            </a:r>
            <a:r>
              <a:rPr lang="en-US" altLang="zh-CN" sz="1800" b="0" dirty="0">
                <a:latin typeface="Consolas" panose="020B0609020204030204" pitchFamily="49" charset="0"/>
              </a:rPr>
              <a:t>);</a:t>
            </a:r>
            <a:endParaRPr lang="en-US" altLang="zh-CN" sz="1800" b="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</a:rPr>
              <a:t> 	    </a:t>
            </a:r>
            <a:r>
              <a:rPr lang="en-US" altLang="zh-CN" sz="1800" b="0" dirty="0" err="1">
                <a:latin typeface="Consolas" panose="020B0609020204030204" pitchFamily="49" charset="0"/>
              </a:rPr>
              <a:t>document.write</a:t>
            </a:r>
            <a:r>
              <a:rPr lang="en-US" altLang="zh-CN" sz="1800" b="0" dirty="0">
                <a:latin typeface="Consolas" panose="020B0609020204030204" pitchFamily="49" charset="0"/>
              </a:rPr>
              <a:t>(</a:t>
            </a:r>
            <a:r>
              <a:rPr lang="en-US" altLang="zh-CN" sz="1800" b="0" dirty="0" err="1">
                <a:latin typeface="Consolas" panose="020B0609020204030204" pitchFamily="49" charset="0"/>
              </a:rPr>
              <a:t>iCounter</a:t>
            </a:r>
            <a:r>
              <a:rPr lang="en-US" altLang="zh-CN" sz="1800" b="0" dirty="0">
                <a:latin typeface="Consolas" panose="020B0609020204030204" pitchFamily="49" charset="0"/>
              </a:rPr>
              <a:t>);</a:t>
            </a:r>
            <a:endParaRPr lang="en-US" altLang="zh-CN" sz="1800" b="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</a:rPr>
              <a:t> 	&lt;/script&gt;</a:t>
            </a:r>
            <a:endParaRPr lang="en-US" altLang="zh-CN" sz="1800" b="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</a:rPr>
              <a:t>&lt;/body&gt;</a:t>
            </a:r>
            <a:endParaRPr lang="en-US" altLang="zh-CN" sz="1800" b="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</a:rPr>
              <a:t>&lt;/html&gt;</a:t>
            </a:r>
            <a:endParaRPr lang="en-US" altLang="zh-CN" sz="1800" b="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变量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2. 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变量命名规则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 ① 变量命名变量名由字母、数字、下划线（_）和美元符号（$）组成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 ② 变量名必须要求以字母、下划线和美元$符</a:t>
            </a:r>
            <a:r>
              <a:rPr lang="zh-CN" altLang="en-US" sz="2400" dirty="0"/>
              <a:t>号</a:t>
            </a:r>
            <a:r>
              <a:rPr lang="en-US" altLang="zh-CN" sz="2400" dirty="0"/>
              <a:t>开头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 ③ 变量名长度在0～255字符之间。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 ④ 不可以使用JavaScirpt的运算符号，例如＋,－,×,÷等。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 ⑤ 不可以使用JavaScirpt用到的保留字，例如sqrt（开方），parseInt（转换成整型）等。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 ⑥ 在JavaScirpt中，变量名大小写是有区别的，例如变量s12和S12是不同的两个变量。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数组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sz="2400" dirty="0"/>
              <a:t>数组就是由一组值按照顺序排列在一起，放在同一个变量中，而每个值都可以利用索引（Index）来得到数组中所存储的信息。</a:t>
            </a:r>
            <a:endParaRPr sz="2400" dirty="0"/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sz="2400" dirty="0"/>
              <a:t>var userNames = new Array(2)；</a:t>
            </a:r>
            <a:endParaRPr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sz="2400" dirty="0"/>
              <a:t>	</a:t>
            </a:r>
            <a:r>
              <a:rPr sz="2400" dirty="0"/>
              <a:t>定义含有两个元素的数组，userNames[0]和userNames[1]。</a:t>
            </a:r>
            <a:endParaRPr sz="2400" dirty="0"/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sz="2400" dirty="0"/>
              <a:t>var userNames = new Array( )；</a:t>
            </a:r>
            <a:endParaRPr sz="2400" dirty="0"/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sz="2400" dirty="0"/>
              <a:t>var userNames = new Array(“Alice”，“Lucy”)；</a:t>
            </a:r>
            <a:endParaRPr sz="2400" dirty="0"/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sz="2400" dirty="0"/>
              <a:t>var userNames = [“Alice”, “Lucy”];</a:t>
            </a:r>
            <a:endParaRPr sz="2400" dirty="0"/>
          </a:p>
          <a:p>
            <a:pPr marL="342900" indent="-342900">
              <a:buClr>
                <a:srgbClr val="0059C4"/>
              </a:buClr>
              <a:buFont typeface="+mj-lt"/>
            </a:pPr>
            <a:endParaRPr sz="2400" dirty="0"/>
          </a:p>
          <a:p>
            <a:pPr>
              <a:buClr>
                <a:srgbClr val="0059C4"/>
              </a:buClr>
              <a:buFont typeface="+mj-lt"/>
            </a:pPr>
            <a:endParaRPr sz="2400" dirty="0"/>
          </a:p>
          <a:p>
            <a:pPr>
              <a:buClr>
                <a:srgbClr val="0059C4"/>
              </a:buClr>
              <a:buFont typeface="+mj-lt"/>
            </a:pPr>
            <a:r>
              <a:rPr lang="zh-CN" altLang="en-US" sz="2400" dirty="0">
                <a:solidFill>
                  <a:srgbClr val="0000FF"/>
                </a:solidFill>
                <a:cs typeface="Times New Roman" panose="02020603050405020304" pitchFamily="18" charset="0"/>
                <a:sym typeface="+mn-ea"/>
              </a:rPr>
              <a:t>注：</a:t>
            </a:r>
            <a:r>
              <a:rPr lang="en-US" altLang="zh-CN" sz="2400" dirty="0">
                <a:solidFill>
                  <a:srgbClr val="0000FF"/>
                </a:solidFill>
                <a:cs typeface="Times New Roman" panose="02020603050405020304" pitchFamily="18" charset="0"/>
                <a:sym typeface="+mn-ea"/>
              </a:rPr>
              <a:t>JavaScript</a:t>
            </a:r>
            <a:r>
              <a:rPr lang="zh-CN" altLang="en-US" sz="2400" dirty="0">
                <a:solidFill>
                  <a:srgbClr val="0000FF"/>
                </a:solidFill>
                <a:cs typeface="Times New Roman" panose="02020603050405020304" pitchFamily="18" charset="0"/>
                <a:sym typeface="+mn-ea"/>
              </a:rPr>
              <a:t>中，数组的长度都是变长的。</a:t>
            </a:r>
            <a:endParaRPr lang="zh-CN" altLang="en-US" sz="24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+mj-lt"/>
            </a:pPr>
            <a:endParaRPr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数组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+mj-lt"/>
            </a:pPr>
            <a:endParaRPr sz="2400" dirty="0">
              <a:cs typeface="Times New Roman" panose="02020603050405020304" pitchFamily="18" charset="0"/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/>
        </p:nvSpPr>
        <p:spPr>
          <a:xfrm>
            <a:off x="2675620" y="1191154"/>
            <a:ext cx="6840760" cy="4990042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4-3  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使用数组。</a:t>
            </a:r>
            <a:endParaRPr lang="zh-CN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&lt;html&gt;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&lt;head&gt;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&lt;title&gt;</a:t>
            </a:r>
            <a:r>
              <a:rPr lang="zh-CN" altLang="en-US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数组示例</a:t>
            </a: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&lt;/title&gt;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&lt;/head&gt;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&lt;body&gt;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	var arrUserName = new Array(2);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	arrUserName[0] = "</a:t>
            </a:r>
            <a:r>
              <a:rPr lang="zh-CN" altLang="en-US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中国</a:t>
            </a: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";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	arrUserName[1] = "</a:t>
            </a:r>
            <a:r>
              <a:rPr lang="zh-CN" altLang="en-US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人民邮电出版社</a:t>
            </a: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";  	document.write(arrUserName[0]);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	document.write("&lt;br&gt;");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	document.write(arrUserName[1]);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	document.write("&lt;br&gt;");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&lt;/script&gt;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&lt;/body&gt;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&lt;/html&gt;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任意多边形 29"/>
          <p:cNvSpPr/>
          <p:nvPr/>
        </p:nvSpPr>
        <p:spPr>
          <a:xfrm>
            <a:off x="1" y="73756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solidFill>
            <a:srgbClr val="FB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2" y="1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gradFill>
            <a:gsLst>
              <a:gs pos="0">
                <a:srgbClr val="0050B0"/>
              </a:gs>
              <a:gs pos="62000">
                <a:srgbClr val="0040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730363" y="4678349"/>
            <a:ext cx="242316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FBC001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408E"/>
                </a:solidFill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rPr>
              <a:t>PART FOUR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408E"/>
              </a:solidFill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353623" y="-615"/>
            <a:ext cx="3176640" cy="43783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17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 w="22225">
                  <a:gradFill>
                    <a:gsLst>
                      <a:gs pos="0">
                        <a:prstClr val="white"/>
                      </a:gs>
                      <a:gs pos="82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noFill/>
                <a:effectLst/>
                <a:uLnTx/>
                <a:uFillTx/>
                <a:ea typeface="思源黑体 CN Medium" panose="020B0600000000000000" pitchFamily="34" charset="-122"/>
                <a:cs typeface="+mn-cs"/>
              </a:rPr>
              <a:t>04</a:t>
            </a:r>
            <a:endParaRPr kumimoji="0" lang="zh-CN" altLang="en-US" sz="19900" b="0" i="0" u="none" strike="noStrike" kern="1200" cap="none" spc="0" normalizeH="0" baseline="0" noProof="0" dirty="0">
              <a:ln w="22225">
                <a:gradFill>
                  <a:gsLst>
                    <a:gs pos="0">
                      <a:prstClr val="white"/>
                    </a:gs>
                    <a:gs pos="82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noFill/>
              <a:effectLst/>
              <a:uLnTx/>
              <a:uFillTx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70585" y="3429000"/>
            <a:ext cx="10098405" cy="1014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16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思源黑体 CN Bold" panose="020B0800000000000000" pitchFamily="34" charset="-122"/>
                <a:cs typeface="+mn-cs"/>
                <a:sym typeface="思源黑体 CN Normal" panose="020B0400000000000000" pitchFamily="34" charset="-122"/>
              </a:rPr>
              <a:t>数据类型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16000"/>
                  </a:prstClr>
                </a:outerShdw>
              </a:effectLst>
              <a:uLnTx/>
              <a:uFillTx/>
              <a:latin typeface="Times New Roman" panose="02020603050405020304" pitchFamily="18" charset="0"/>
              <a:ea typeface="思源黑体 CN Bold" panose="020B08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10248528" y="4215637"/>
            <a:ext cx="644190" cy="644190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087717" y="5407909"/>
            <a:ext cx="350146" cy="350146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617685" y="840752"/>
            <a:ext cx="895572" cy="895572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String数据类型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zh-CN" altLang="en-US" sz="2400" dirty="0">
              <a:cs typeface="Times New Roman" panose="02020603050405020304" pitchFamily="18" charset="0"/>
              <a:sym typeface="+mn-ea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① 字符串是用单引号或双引号来说明的。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var s1 = "The cow jumped over the moon." 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	var </a:t>
            </a:r>
            <a:r>
              <a:rPr lang="en-US" altLang="zh-CN" sz="2400" dirty="0" err="1">
                <a:cs typeface="Times New Roman" panose="02020603050405020304" pitchFamily="18" charset="0"/>
                <a:sym typeface="+mn-ea"/>
              </a:rPr>
              <a:t>sColor 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= “blue”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；       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    var </a:t>
            </a:r>
            <a:r>
              <a:rPr lang="en-US" altLang="zh-CN" sz="2400" dirty="0" err="1">
                <a:cs typeface="Times New Roman" panose="02020603050405020304" pitchFamily="18" charset="0"/>
                <a:sym typeface="+mn-ea"/>
              </a:rPr>
              <a:t>sColor 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= ‘blue’;</a:t>
            </a:r>
            <a:endParaRPr lang="en-US" altLang="zh-CN" sz="2400" dirty="0">
              <a:cs typeface="Times New Roman" panose="02020603050405020304" pitchFamily="18" charset="0"/>
              <a:sym typeface="+mn-ea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cs typeface="Times New Roman" panose="02020603050405020304" pitchFamily="18" charset="0"/>
              <a:sym typeface="+mn-ea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② 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String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类型是唯一没有固定大小的原始类型。可以用字符串存储零个或多个统一编码的字符。</a:t>
            </a:r>
            <a:endParaRPr lang="zh-CN" altLang="en-US" sz="2400" dirty="0">
              <a:cs typeface="Times New Roman" panose="02020603050405020304" pitchFamily="18" charset="0"/>
              <a:sym typeface="+mn-ea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zh-CN" altLang="en-US" sz="24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③  转义字符。如：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\n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\t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\b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\\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等。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en-US" altLang="zh-CN" sz="2400" b="0" dirty="0">
              <a:latin typeface="Consolas" panose="020B0609020204030204" pitchFamily="49" charset="0"/>
            </a:endParaRPr>
          </a:p>
          <a:p>
            <a:pPr>
              <a:buClr>
                <a:srgbClr val="0059C4"/>
              </a:buClr>
              <a:buFont typeface="+mj-lt"/>
            </a:pPr>
            <a:endParaRPr lang="en-US" altLang="zh-CN" sz="2400" dirty="0"/>
          </a:p>
        </p:txBody>
      </p:sp>
      <p:sp>
        <p:nvSpPr>
          <p:cNvPr id="14345" name="AutoShape 8"/>
          <p:cNvSpPr>
            <a:spLocks noChangeArrowheads="1"/>
          </p:cNvSpPr>
          <p:nvPr/>
        </p:nvSpPr>
        <p:spPr bwMode="auto">
          <a:xfrm>
            <a:off x="4385843" y="2314583"/>
            <a:ext cx="690980" cy="287338"/>
          </a:xfrm>
          <a:prstGeom prst="leftRightArrow">
            <a:avLst>
              <a:gd name="adj1" fmla="val 50000"/>
              <a:gd name="adj2" fmla="val 45083"/>
            </a:avLst>
          </a:prstGeom>
          <a:solidFill>
            <a:srgbClr val="9933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3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数值数据类型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1. 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整数可以以十进制、八进制和十六进制来表示。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  ① 八进制整数用前导“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0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指明。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  ② 十六进制整数用前导“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0x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指明，其中“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x”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大小写均可。</a:t>
            </a:r>
            <a:endParaRPr lang="zh-CN" altLang="en-US" sz="2400" dirty="0">
              <a:cs typeface="Times New Roman" panose="02020603050405020304" pitchFamily="18" charset="0"/>
              <a:sym typeface="+mn-ea"/>
            </a:endParaRPr>
          </a:p>
          <a:p>
            <a:pPr eaLnBrk="1" hangingPunct="1">
              <a:lnSpc>
                <a:spcPct val="110000"/>
              </a:lnSpc>
              <a:buFontTx/>
              <a:buNone/>
            </a:pPr>
            <a:endParaRPr lang="zh-CN" altLang="en-US" sz="2400" dirty="0">
              <a:cs typeface="Times New Roman" panose="02020603050405020304" pitchFamily="18" charset="0"/>
              <a:sym typeface="+mn-ea"/>
            </a:endParaRPr>
          </a:p>
          <a:p>
            <a:pPr eaLnBrk="1" hangingPunct="1">
              <a:lnSpc>
                <a:spcPct val="110000"/>
              </a:lnSpc>
              <a:buFontTx/>
              <a:buNone/>
            </a:pPr>
            <a:endParaRPr lang="zh-CN" altLang="en-US" sz="2400" dirty="0">
              <a:cs typeface="Times New Roman" panose="02020603050405020304" pitchFamily="18" charset="0"/>
              <a:sym typeface="+mn-ea"/>
            </a:endParaRPr>
          </a:p>
          <a:p>
            <a:pPr eaLnBrk="1" hangingPunct="1">
              <a:lnSpc>
                <a:spcPct val="110000"/>
              </a:lnSpc>
              <a:buFontTx/>
              <a:buNone/>
            </a:pPr>
            <a:endParaRPr lang="zh-CN" altLang="en-US" sz="2400" dirty="0">
              <a:cs typeface="Times New Roman" panose="02020603050405020304" pitchFamily="18" charset="0"/>
              <a:sym typeface="+mn-ea"/>
            </a:endParaRPr>
          </a:p>
          <a:p>
            <a:pPr eaLnBrk="1" hangingPunct="1">
              <a:lnSpc>
                <a:spcPct val="110000"/>
              </a:lnSpc>
              <a:buFontTx/>
              <a:buNone/>
            </a:pPr>
            <a:endParaRPr lang="zh-CN" altLang="en-US" sz="2400" dirty="0">
              <a:cs typeface="Times New Roman" panose="02020603050405020304" pitchFamily="18" charset="0"/>
              <a:sym typeface="+mn-ea"/>
            </a:endParaRPr>
          </a:p>
          <a:p>
            <a:pPr eaLnBrk="1" hangingPunct="1">
              <a:lnSpc>
                <a:spcPct val="110000"/>
              </a:lnSpc>
              <a:buFontTx/>
              <a:buNone/>
            </a:pPr>
            <a:endParaRPr lang="zh-CN" altLang="en-US" sz="2400" dirty="0">
              <a:cs typeface="Times New Roman" panose="02020603050405020304" pitchFamily="18" charset="0"/>
              <a:sym typeface="+mn-ea"/>
            </a:endParaRPr>
          </a:p>
          <a:p>
            <a:pPr eaLnBrk="1" hangingPunct="1">
              <a:lnSpc>
                <a:spcPct val="110000"/>
              </a:lnSpc>
              <a:buFontTx/>
              <a:buNone/>
            </a:pPr>
            <a:endParaRPr lang="zh-CN" altLang="en-US" sz="2400" dirty="0">
              <a:cs typeface="Times New Roman" panose="02020603050405020304" pitchFamily="18" charset="0"/>
              <a:sym typeface="+mn-ea"/>
            </a:endParaRP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2. 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实数使用小数点来表示。对于较大或较小的数，可用科学计数法表示，如 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132e5 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表示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13200000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24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en-US" altLang="zh-CN" sz="2400" b="0" dirty="0">
              <a:latin typeface="Consolas" panose="020B0609020204030204" pitchFamily="49" charset="0"/>
            </a:endParaRPr>
          </a:p>
          <a:p>
            <a:pPr>
              <a:buClr>
                <a:srgbClr val="0059C4"/>
              </a:buClr>
              <a:buFont typeface="+mj-lt"/>
            </a:pPr>
            <a:endParaRPr lang="en-US" altLang="zh-CN" sz="24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2620963" y="2568600"/>
            <a:ext cx="6950075" cy="504825"/>
          </a:xfrm>
          <a:prstGeom prst="rect">
            <a:avLst/>
          </a:prstGeom>
          <a:noFill/>
          <a:ln w="254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5125" indent="-365125"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 dirty="0"/>
              <a:t>例如：</a:t>
            </a:r>
            <a:r>
              <a:rPr lang="en-US" altLang="zh-CN" sz="2400" dirty="0"/>
              <a:t>var </a:t>
            </a:r>
            <a:r>
              <a:rPr lang="en-US" altLang="zh-CN" sz="2400" dirty="0" err="1"/>
              <a:t>iNum</a:t>
            </a:r>
            <a:r>
              <a:rPr lang="en-US" altLang="zh-CN" sz="2400" dirty="0"/>
              <a:t>=55;  iNum1=070;    </a:t>
            </a:r>
            <a:r>
              <a:rPr lang="en-US" altLang="zh-CN" sz="2400" dirty="0" err="1"/>
              <a:t>iNum</a:t>
            </a:r>
            <a:r>
              <a:rPr lang="en-US" altLang="zh-CN" sz="2400" dirty="0"/>
              <a:t>=0x2A;</a:t>
            </a:r>
            <a:endParaRPr lang="en-US" altLang="zh-CN" sz="2400" dirty="0"/>
          </a:p>
        </p:txBody>
      </p:sp>
      <p:sp>
        <p:nvSpPr>
          <p:cNvPr id="154628" name="Rectangle 4"/>
          <p:cNvSpPr>
            <a:spLocks noChangeArrowheads="1"/>
          </p:cNvSpPr>
          <p:nvPr/>
        </p:nvSpPr>
        <p:spPr bwMode="auto">
          <a:xfrm>
            <a:off x="2620963" y="3430611"/>
            <a:ext cx="6950075" cy="93503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/>
              <a:t>注意：尽管所有整数都可以以八进制和十六进制来表示，但所有数学运算返回的都是十进制结果。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9" dur="500"/>
                                        <p:tgtEl>
                                          <p:spTgt spid="15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4" dur="500"/>
                                        <p:tgtEl>
                                          <p:spTgt spid="15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4627" grpId="0" bldLvl="0" animBg="1"/>
      <p:bldP spid="154628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其他类型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endParaRPr lang="en-US" altLang="zh-CN" sz="2400" dirty="0">
              <a:solidFill>
                <a:srgbClr val="FF0000"/>
              </a:solidFill>
              <a:cs typeface="Times New Roman" panose="02020603050405020304" pitchFamily="18" charset="0"/>
              <a:sym typeface="+mn-ea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1. Boolean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类型</a:t>
            </a:r>
            <a:endParaRPr lang="zh-CN" altLang="en-US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    有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true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false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两个值。分别表示逻辑真和逻辑假。</a:t>
            </a:r>
            <a:endParaRPr lang="zh-CN" altLang="en-US" sz="2400" dirty="0">
              <a:cs typeface="Times New Roman" panose="02020603050405020304" pitchFamily="18" charset="0"/>
              <a:sym typeface="+mn-ea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endParaRPr lang="en-US" altLang="zh-CN" sz="2400" dirty="0">
              <a:solidFill>
                <a:srgbClr val="FF0000"/>
              </a:solidFill>
              <a:cs typeface="Times New Roman" panose="02020603050405020304" pitchFamily="18" charset="0"/>
              <a:sym typeface="+mn-ea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2. Undefined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类型</a:t>
            </a:r>
            <a:endParaRPr lang="zh-CN" altLang="en-US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    当声明的变量未初始化时，它的默认值是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undefined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endParaRPr lang="en-US" altLang="zh-CN" sz="2400">
              <a:solidFill>
                <a:srgbClr val="FF0000"/>
              </a:solidFill>
              <a:cs typeface="Times New Roman" panose="02020603050405020304" pitchFamily="18" charset="0"/>
              <a:sym typeface="+mn-ea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3. Null</a:t>
            </a:r>
            <a:r>
              <a:rPr lang="zh-CN" altLang="en-US" sz="240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数据类型</a:t>
            </a:r>
            <a:endParaRPr lang="zh-CN" altLang="en-US" sz="240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zh-CN" altLang="en-US" sz="2400"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2400">
                <a:cs typeface="Times New Roman" panose="02020603050405020304" pitchFamily="18" charset="0"/>
                <a:sym typeface="+mn-ea"/>
              </a:rPr>
              <a:t>null</a:t>
            </a:r>
            <a:r>
              <a:rPr lang="zh-CN" altLang="en-US" sz="2400">
                <a:cs typeface="Times New Roman" panose="02020603050405020304" pitchFamily="18" charset="0"/>
                <a:sym typeface="+mn-ea"/>
              </a:rPr>
              <a:t>值就是没有任何值，什么也不表示。</a:t>
            </a:r>
            <a:endParaRPr lang="zh-CN" altLang="en-US" sz="240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任意多边形 29"/>
          <p:cNvSpPr/>
          <p:nvPr/>
        </p:nvSpPr>
        <p:spPr>
          <a:xfrm>
            <a:off x="1" y="73756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solidFill>
            <a:srgbClr val="FB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2" y="1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gradFill>
            <a:gsLst>
              <a:gs pos="0">
                <a:srgbClr val="0050B0"/>
              </a:gs>
              <a:gs pos="62000">
                <a:srgbClr val="0040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730363" y="4678349"/>
            <a:ext cx="242316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FBC001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408E"/>
                </a:solidFill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rPr>
              <a:t>PART FIVE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408E"/>
              </a:solidFill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353623" y="-615"/>
            <a:ext cx="3176640" cy="43783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17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 w="22225">
                  <a:gradFill>
                    <a:gsLst>
                      <a:gs pos="0">
                        <a:prstClr val="white"/>
                      </a:gs>
                      <a:gs pos="82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noFill/>
                <a:effectLst/>
                <a:uLnTx/>
                <a:uFillTx/>
                <a:ea typeface="思源黑体 CN Medium" panose="020B0600000000000000" pitchFamily="34" charset="-122"/>
                <a:cs typeface="+mn-cs"/>
              </a:rPr>
              <a:t>05</a:t>
            </a:r>
            <a:endParaRPr kumimoji="0" lang="zh-CN" altLang="en-US" sz="19900" b="0" i="0" u="none" strike="noStrike" kern="1200" cap="none" spc="0" normalizeH="0" baseline="0" noProof="0" dirty="0">
              <a:ln w="22225">
                <a:gradFill>
                  <a:gsLst>
                    <a:gs pos="0">
                      <a:prstClr val="white"/>
                    </a:gs>
                    <a:gs pos="82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noFill/>
              <a:effectLst/>
              <a:uLnTx/>
              <a:uFillTx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70585" y="3429000"/>
            <a:ext cx="10098405" cy="1014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16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思源黑体 CN Bold" panose="020B0800000000000000" pitchFamily="34" charset="-122"/>
                <a:cs typeface="+mn-cs"/>
                <a:sym typeface="思源黑体 CN Normal" panose="020B0400000000000000" pitchFamily="34" charset="-122"/>
              </a:rPr>
              <a:t>运算符与表达式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16000"/>
                  </a:prstClr>
                </a:outerShdw>
              </a:effectLst>
              <a:uLnTx/>
              <a:uFillTx/>
              <a:latin typeface="Times New Roman" panose="02020603050405020304" pitchFamily="18" charset="0"/>
              <a:ea typeface="思源黑体 CN Bold" panose="020B08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10248528" y="4215637"/>
            <a:ext cx="644190" cy="644190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087717" y="5407909"/>
            <a:ext cx="350146" cy="350146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617685" y="840752"/>
            <a:ext cx="895572" cy="895572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算术运算符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endParaRPr lang="zh-CN" altLang="en-US" sz="2400" dirty="0"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算术运算符主要提供加、减、乘、除等操作。取余操作用“％”。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逻辑运算符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逻辑运算符包括：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与运算符“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&amp;&amp;”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或运算符“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||”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取反运算符“！”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① </a:t>
            </a:r>
            <a:r>
              <a:rPr lang="zh-CN" altLang="en-US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逻辑</a:t>
            </a:r>
            <a:r>
              <a:rPr lang="en-US" altLang="zh-CN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&amp;&amp;</a:t>
            </a:r>
            <a:r>
              <a:rPr lang="zh-CN" altLang="en-US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在“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A&amp;&amp;B”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中，只有当两个条件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B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都为真的时候，整个表达式值才为真。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pPr marL="355600" indent="-355600" eaLnBrk="1" hangingPunct="1">
              <a:lnSpc>
                <a:spcPct val="110000"/>
              </a:lnSpc>
              <a:spcBef>
                <a:spcPct val="10000"/>
              </a:spcBef>
              <a:buNone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② </a:t>
            </a:r>
            <a:r>
              <a:rPr lang="zh-CN" altLang="en-US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逻辑或</a:t>
            </a:r>
            <a:r>
              <a:rPr lang="en-US" altLang="zh-CN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||</a:t>
            </a:r>
            <a:r>
              <a:rPr lang="zh-CN" altLang="en-US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在“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A||B”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中，只要两个条件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B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有一个成立，整个表达式值就为真。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pPr marL="355600" indent="-355600" eaLnBrk="1" hangingPunct="1">
              <a:lnSpc>
                <a:spcPct val="110000"/>
              </a:lnSpc>
              <a:spcBef>
                <a:spcPct val="10000"/>
              </a:spcBef>
              <a:buNone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③ </a:t>
            </a:r>
            <a:r>
              <a:rPr lang="zh-CN" altLang="en-US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逻辑反！：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在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!A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中，当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为真时，表达式的值为假；当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为假时，表达式的值为真。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字符串运算符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zh-CN" altLang="en-US" sz="2400" dirty="0">
                <a:sym typeface="+mn-ea"/>
              </a:rPr>
              <a:t>字符串运算符主要是运算符“</a:t>
            </a:r>
            <a:r>
              <a:rPr lang="en-US" altLang="zh-CN" sz="2400" dirty="0">
                <a:sym typeface="+mn-ea"/>
              </a:rPr>
              <a:t>+”</a:t>
            </a:r>
            <a:r>
              <a:rPr lang="zh-CN" altLang="en-US" sz="2400" dirty="0">
                <a:sym typeface="+mn-ea"/>
              </a:rPr>
              <a:t>和它的变形形式“</a:t>
            </a:r>
            <a:r>
              <a:rPr lang="en-US" altLang="zh-CN" sz="2400" dirty="0">
                <a:sym typeface="+mn-ea"/>
              </a:rPr>
              <a:t>+=”</a:t>
            </a:r>
            <a:r>
              <a:rPr lang="zh-CN" altLang="en-US" sz="2400" dirty="0">
                <a:sym typeface="+mn-ea"/>
              </a:rPr>
              <a:t>。</a:t>
            </a:r>
            <a:endParaRPr lang="zh-CN" altLang="en-US" sz="2400" dirty="0">
              <a:sym typeface="+mn-ea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zh-CN" altLang="en-US" sz="2400" dirty="0">
              <a:solidFill>
                <a:srgbClr val="D60093"/>
              </a:solidFill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18438" name="Rectangle 5"/>
          <p:cNvSpPr>
            <a:spLocks noChangeArrowheads="1"/>
          </p:cNvSpPr>
          <p:nvPr/>
        </p:nvSpPr>
        <p:spPr bwMode="auto">
          <a:xfrm>
            <a:off x="3071019" y="2102803"/>
            <a:ext cx="6049962" cy="1079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 dirty="0">
                <a:solidFill>
                  <a:srgbClr val="D60093"/>
                </a:solidFill>
              </a:rPr>
              <a:t>例如：</a:t>
            </a:r>
            <a:r>
              <a:rPr lang="en-US" altLang="zh-CN" sz="2400" dirty="0">
                <a:solidFill>
                  <a:srgbClr val="D60093"/>
                </a:solidFill>
              </a:rPr>
              <a:t>var result = 5 + “5”                “55”   </a:t>
            </a:r>
            <a:endParaRPr lang="en-US" altLang="zh-CN" sz="2400" dirty="0">
              <a:solidFill>
                <a:srgbClr val="D60093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solidFill>
                  <a:srgbClr val="D60093"/>
                </a:solidFill>
              </a:rPr>
              <a:t>            var result = true + “56”         “true56”</a:t>
            </a:r>
            <a:endParaRPr lang="en-US" altLang="zh-CN" sz="2400" dirty="0">
              <a:solidFill>
                <a:srgbClr val="D6009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关系运算符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endParaRPr lang="zh-CN" altLang="en-US" sz="2400" dirty="0">
              <a:sym typeface="+mn-ea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zh-CN" altLang="en-US" sz="2400" dirty="0">
              <a:sym typeface="+mn-ea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zh-CN" altLang="en-US" sz="2400" dirty="0">
                <a:sym typeface="+mn-ea"/>
              </a:rPr>
              <a:t>关系运算符主要有</a:t>
            </a:r>
            <a:r>
              <a:rPr lang="en-US" altLang="zh-CN" sz="2400" dirty="0">
                <a:sym typeface="+mn-ea"/>
              </a:rPr>
              <a:t>==</a:t>
            </a:r>
            <a:r>
              <a:rPr lang="zh-CN" altLang="en-US" sz="2400" dirty="0">
                <a:sym typeface="+mn-ea"/>
              </a:rPr>
              <a:t>、</a:t>
            </a:r>
            <a:r>
              <a:rPr lang="en-US" altLang="zh-CN" sz="2400" dirty="0">
                <a:sym typeface="+mn-ea"/>
              </a:rPr>
              <a:t>===</a:t>
            </a:r>
            <a:r>
              <a:rPr lang="zh-CN" altLang="en-US" sz="2400" dirty="0">
                <a:sym typeface="+mn-ea"/>
              </a:rPr>
              <a:t>、</a:t>
            </a:r>
            <a:r>
              <a:rPr lang="en-US" altLang="zh-CN" sz="2400" dirty="0">
                <a:sym typeface="+mn-ea"/>
              </a:rPr>
              <a:t>!=</a:t>
            </a:r>
            <a:r>
              <a:rPr lang="zh-CN" altLang="en-US" sz="2400" dirty="0">
                <a:sym typeface="+mn-ea"/>
              </a:rPr>
              <a:t>、</a:t>
            </a:r>
            <a:r>
              <a:rPr lang="en-US" altLang="zh-CN" sz="2400" dirty="0">
                <a:sym typeface="+mn-ea"/>
              </a:rPr>
              <a:t>!==</a:t>
            </a:r>
            <a:r>
              <a:rPr lang="zh-CN" altLang="en-US" sz="2400" dirty="0">
                <a:sym typeface="+mn-ea"/>
              </a:rPr>
              <a:t>、</a:t>
            </a:r>
            <a:r>
              <a:rPr lang="en-US" altLang="zh-CN" sz="2400" dirty="0">
                <a:sym typeface="+mn-ea"/>
              </a:rPr>
              <a:t>&lt;</a:t>
            </a:r>
            <a:r>
              <a:rPr lang="zh-CN" altLang="en-US" sz="2400" dirty="0">
                <a:sym typeface="+mn-ea"/>
              </a:rPr>
              <a:t>、</a:t>
            </a:r>
            <a:r>
              <a:rPr lang="en-US" altLang="zh-CN" sz="2400" dirty="0">
                <a:sym typeface="+mn-ea"/>
              </a:rPr>
              <a:t>&gt;</a:t>
            </a:r>
            <a:r>
              <a:rPr lang="zh-CN" altLang="en-US" sz="2400" dirty="0">
                <a:sym typeface="+mn-ea"/>
              </a:rPr>
              <a:t>、</a:t>
            </a:r>
            <a:r>
              <a:rPr lang="en-US" altLang="zh-CN" sz="2400" dirty="0">
                <a:sym typeface="+mn-ea"/>
              </a:rPr>
              <a:t>&gt;=</a:t>
            </a:r>
            <a:r>
              <a:rPr lang="zh-CN" altLang="en-US" sz="2400" dirty="0">
                <a:sym typeface="+mn-ea"/>
              </a:rPr>
              <a:t>、</a:t>
            </a:r>
            <a:r>
              <a:rPr lang="en-US" altLang="zh-CN" sz="2400" dirty="0">
                <a:sym typeface="+mn-ea"/>
              </a:rPr>
              <a:t>&lt;=</a:t>
            </a:r>
            <a:r>
              <a:rPr lang="zh-CN" altLang="en-US" sz="2400" dirty="0">
                <a:sym typeface="+mn-ea"/>
              </a:rPr>
              <a:t>。</a:t>
            </a:r>
            <a:endParaRPr lang="zh-CN" altLang="en-US" sz="2400" dirty="0">
              <a:sym typeface="+mn-ea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zh-CN" altLang="en-US" sz="2400" dirty="0">
              <a:solidFill>
                <a:srgbClr val="D60093"/>
              </a:solidFill>
              <a:sym typeface="+mn-ea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zh-CN" altLang="en-US" sz="2400" dirty="0">
              <a:sym typeface="+mn-ea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zh-CN" altLang="en-US" sz="2400" dirty="0">
                <a:sym typeface="+mn-ea"/>
              </a:rPr>
              <a:t>每个关系表达式都返回一个</a:t>
            </a:r>
            <a:r>
              <a:rPr lang="en-US" altLang="zh-CN" sz="2400" dirty="0">
                <a:sym typeface="+mn-ea"/>
              </a:rPr>
              <a:t>Boolean</a:t>
            </a:r>
            <a:r>
              <a:rPr lang="zh-CN" altLang="en-US" sz="2400" dirty="0">
                <a:sym typeface="+mn-ea"/>
              </a:rPr>
              <a:t>值。</a:t>
            </a:r>
            <a:endParaRPr lang="zh-CN" altLang="en-US" sz="2400" dirty="0">
              <a:solidFill>
                <a:srgbClr val="D60093"/>
              </a:solidFill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zh-CN" altLang="en-US" sz="2400" dirty="0">
              <a:solidFill>
                <a:srgbClr val="D60093"/>
              </a:solidFill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10" name="AutoShape 32"/>
          <p:cNvSpPr>
            <a:spLocks noChangeArrowheads="1"/>
          </p:cNvSpPr>
          <p:nvPr/>
        </p:nvSpPr>
        <p:spPr bwMode="auto">
          <a:xfrm>
            <a:off x="3159046" y="2530062"/>
            <a:ext cx="685800" cy="339885"/>
          </a:xfrm>
          <a:prstGeom prst="wedgeRoundRectCallout">
            <a:avLst>
              <a:gd name="adj1" fmla="val -34491"/>
              <a:gd name="adj2" fmla="val -105023"/>
              <a:gd name="adj3" fmla="val 16667"/>
            </a:avLst>
          </a:prstGeom>
          <a:solidFill>
            <a:srgbClr val="CCECFF"/>
          </a:solidFill>
          <a:ln w="9525">
            <a:solidFill>
              <a:schemeClr val="accent1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等于 </a:t>
            </a:r>
            <a:endParaRPr lang="zh-CN" altLang="en-US" sz="1400" b="1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1" name="AutoShape 32"/>
          <p:cNvSpPr>
            <a:spLocks noChangeArrowheads="1"/>
          </p:cNvSpPr>
          <p:nvPr/>
        </p:nvSpPr>
        <p:spPr bwMode="auto">
          <a:xfrm>
            <a:off x="3787155" y="1472126"/>
            <a:ext cx="1066800" cy="339947"/>
          </a:xfrm>
          <a:prstGeom prst="wedgeRoundRectCallout">
            <a:avLst>
              <a:gd name="adj1" fmla="val -26558"/>
              <a:gd name="adj2" fmla="val 96837"/>
              <a:gd name="adj3" fmla="val 16667"/>
            </a:avLst>
          </a:prstGeom>
          <a:solidFill>
            <a:srgbClr val="CCECFF"/>
          </a:solidFill>
          <a:ln w="9525">
            <a:solidFill>
              <a:schemeClr val="accent1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绝对等于 </a:t>
            </a:r>
            <a:endParaRPr lang="zh-CN" altLang="en-US" sz="1400" b="1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32"/>
          <p:cNvSpPr>
            <a:spLocks noChangeArrowheads="1"/>
          </p:cNvSpPr>
          <p:nvPr/>
        </p:nvSpPr>
        <p:spPr bwMode="auto">
          <a:xfrm>
            <a:off x="4432006" y="2530062"/>
            <a:ext cx="838200" cy="339947"/>
          </a:xfrm>
          <a:prstGeom prst="wedgeRoundRectCallout">
            <a:avLst>
              <a:gd name="adj1" fmla="val -14014"/>
              <a:gd name="adj2" fmla="val -88278"/>
              <a:gd name="adj3" fmla="val 16667"/>
            </a:avLst>
          </a:prstGeom>
          <a:solidFill>
            <a:srgbClr val="CCECFF"/>
          </a:solidFill>
          <a:ln w="9525">
            <a:solidFill>
              <a:schemeClr val="accent1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不等于 </a:t>
            </a:r>
            <a:endParaRPr lang="zh-CN" altLang="en-US" sz="1400" b="1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32"/>
          <p:cNvSpPr>
            <a:spLocks noChangeArrowheads="1"/>
          </p:cNvSpPr>
          <p:nvPr/>
        </p:nvSpPr>
        <p:spPr bwMode="auto">
          <a:xfrm>
            <a:off x="5379120" y="1472126"/>
            <a:ext cx="1219200" cy="339947"/>
          </a:xfrm>
          <a:prstGeom prst="wedgeRoundRectCallout">
            <a:avLst>
              <a:gd name="adj1" fmla="val -44281"/>
              <a:gd name="adj2" fmla="val 109437"/>
              <a:gd name="adj3" fmla="val 16667"/>
            </a:avLst>
          </a:prstGeom>
          <a:solidFill>
            <a:srgbClr val="CCECFF"/>
          </a:solidFill>
          <a:ln w="9525">
            <a:solidFill>
              <a:schemeClr val="accent1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不绝对等于 </a:t>
            </a:r>
            <a:endParaRPr lang="zh-CN" altLang="en-US" sz="1400" b="1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4" name="AutoShape 66"/>
          <p:cNvSpPr>
            <a:spLocks noChangeArrowheads="1"/>
          </p:cNvSpPr>
          <p:nvPr/>
        </p:nvSpPr>
        <p:spPr bwMode="auto">
          <a:xfrm>
            <a:off x="2195097" y="4226834"/>
            <a:ext cx="2518054" cy="339889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3F7091"/>
            </a:solidFill>
            <a:rou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it-IT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document.write(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it-IT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it-IT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==17);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66"/>
          <p:cNvSpPr>
            <a:spLocks noChangeArrowheads="1"/>
          </p:cNvSpPr>
          <p:nvPr/>
        </p:nvSpPr>
        <p:spPr bwMode="auto">
          <a:xfrm>
            <a:off x="2195098" y="5235214"/>
            <a:ext cx="2532063" cy="339949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3F7091"/>
            </a:solidFill>
            <a:rou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it-IT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document.write(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it-IT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it-IT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===17);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AutoShape 42"/>
          <p:cNvSpPr>
            <a:spLocks noChangeArrowheads="1"/>
          </p:cNvSpPr>
          <p:nvPr/>
        </p:nvSpPr>
        <p:spPr bwMode="auto">
          <a:xfrm>
            <a:off x="4854989" y="3907983"/>
            <a:ext cx="432000" cy="978218"/>
          </a:xfrm>
          <a:prstGeom prst="rightArrow">
            <a:avLst>
              <a:gd name="adj1" fmla="val 50000"/>
              <a:gd name="adj2" fmla="val 56429"/>
            </a:avLst>
          </a:prstGeom>
          <a:gradFill rotWithShape="1">
            <a:gsLst>
              <a:gs pos="0">
                <a:srgbClr val="B563CF"/>
              </a:gs>
              <a:gs pos="100000">
                <a:srgbClr val="FFFFFF"/>
              </a:gs>
            </a:gsLst>
            <a:lin ang="5400000" scaled="1"/>
          </a:gradFill>
          <a:ln w="6350">
            <a:solidFill>
              <a:srgbClr val="80008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AutoShape 43"/>
          <p:cNvSpPr>
            <a:spLocks noChangeArrowheads="1"/>
          </p:cNvSpPr>
          <p:nvPr/>
        </p:nvSpPr>
        <p:spPr bwMode="auto">
          <a:xfrm>
            <a:off x="5425785" y="4226833"/>
            <a:ext cx="533400" cy="36036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B563CF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AutoShape 44"/>
          <p:cNvSpPr>
            <a:spLocks noChangeArrowheads="1"/>
          </p:cNvSpPr>
          <p:nvPr/>
        </p:nvSpPr>
        <p:spPr bwMode="auto">
          <a:xfrm>
            <a:off x="4852286" y="4936810"/>
            <a:ext cx="431800" cy="978218"/>
          </a:xfrm>
          <a:prstGeom prst="rightArrow">
            <a:avLst>
              <a:gd name="adj1" fmla="val 50000"/>
              <a:gd name="adj2" fmla="val 47222"/>
            </a:avLst>
          </a:prstGeom>
          <a:gradFill rotWithShape="1">
            <a:gsLst>
              <a:gs pos="0">
                <a:srgbClr val="B563CF"/>
              </a:gs>
              <a:gs pos="100000">
                <a:srgbClr val="FFFFFF"/>
              </a:gs>
            </a:gsLst>
            <a:lin ang="5400000" scaled="1"/>
          </a:gradFill>
          <a:ln w="6350">
            <a:solidFill>
              <a:srgbClr val="80008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AutoShape 45"/>
          <p:cNvSpPr>
            <a:spLocks noChangeArrowheads="1"/>
          </p:cNvSpPr>
          <p:nvPr/>
        </p:nvSpPr>
        <p:spPr bwMode="auto">
          <a:xfrm>
            <a:off x="5450909" y="5245738"/>
            <a:ext cx="533400" cy="36036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B563CF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AutoShape 66"/>
          <p:cNvSpPr>
            <a:spLocks noChangeArrowheads="1"/>
          </p:cNvSpPr>
          <p:nvPr/>
        </p:nvSpPr>
        <p:spPr bwMode="auto">
          <a:xfrm>
            <a:off x="6770894" y="4163097"/>
            <a:ext cx="2379663" cy="339949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3F7091"/>
            </a:solidFill>
            <a:rou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it-IT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document.write(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it-IT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it-IT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!=17);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AutoShape 66"/>
          <p:cNvSpPr>
            <a:spLocks noChangeArrowheads="1"/>
          </p:cNvSpPr>
          <p:nvPr/>
        </p:nvSpPr>
        <p:spPr bwMode="auto">
          <a:xfrm>
            <a:off x="6770894" y="5245739"/>
            <a:ext cx="2455863" cy="339949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3F7091"/>
            </a:solidFill>
            <a:rou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it-IT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document.write(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it-IT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"!</a:t>
            </a:r>
            <a:r>
              <a:rPr lang="it-IT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==17);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AutoShape 53"/>
          <p:cNvSpPr>
            <a:spLocks noChangeArrowheads="1"/>
          </p:cNvSpPr>
          <p:nvPr/>
        </p:nvSpPr>
        <p:spPr bwMode="auto">
          <a:xfrm>
            <a:off x="9355342" y="3849454"/>
            <a:ext cx="431800" cy="978218"/>
          </a:xfrm>
          <a:prstGeom prst="rightArrow">
            <a:avLst>
              <a:gd name="adj1" fmla="val 50000"/>
              <a:gd name="adj2" fmla="val 47222"/>
            </a:avLst>
          </a:prstGeom>
          <a:gradFill rotWithShape="1">
            <a:gsLst>
              <a:gs pos="0">
                <a:srgbClr val="B563CF"/>
              </a:gs>
              <a:gs pos="100000">
                <a:srgbClr val="FFFFFF"/>
              </a:gs>
            </a:gsLst>
            <a:lin ang="5400000" scaled="1"/>
          </a:gradFill>
          <a:ln w="6350">
            <a:solidFill>
              <a:srgbClr val="80008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AutoShape 54"/>
          <p:cNvSpPr>
            <a:spLocks noChangeArrowheads="1"/>
          </p:cNvSpPr>
          <p:nvPr/>
        </p:nvSpPr>
        <p:spPr bwMode="auto">
          <a:xfrm>
            <a:off x="9892551" y="4163097"/>
            <a:ext cx="533400" cy="36036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B563CF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AutoShape 55"/>
          <p:cNvSpPr>
            <a:spLocks noChangeArrowheads="1"/>
          </p:cNvSpPr>
          <p:nvPr/>
        </p:nvSpPr>
        <p:spPr bwMode="auto">
          <a:xfrm>
            <a:off x="9374352" y="4916363"/>
            <a:ext cx="431800" cy="978218"/>
          </a:xfrm>
          <a:prstGeom prst="rightArrow">
            <a:avLst>
              <a:gd name="adj1" fmla="val 50000"/>
              <a:gd name="adj2" fmla="val 47222"/>
            </a:avLst>
          </a:prstGeom>
          <a:gradFill rotWithShape="1">
            <a:gsLst>
              <a:gs pos="0">
                <a:srgbClr val="B563CF"/>
              </a:gs>
              <a:gs pos="100000">
                <a:srgbClr val="FFFFFF"/>
              </a:gs>
            </a:gsLst>
            <a:lin ang="5400000" scaled="1"/>
          </a:gradFill>
          <a:ln w="6350">
            <a:solidFill>
              <a:srgbClr val="80008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AutoShape 56"/>
          <p:cNvSpPr>
            <a:spLocks noChangeArrowheads="1"/>
          </p:cNvSpPr>
          <p:nvPr/>
        </p:nvSpPr>
        <p:spPr bwMode="auto">
          <a:xfrm>
            <a:off x="9879534" y="5235213"/>
            <a:ext cx="533400" cy="36036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B563CF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 autoUpdateAnimBg="0"/>
      <p:bldP spid="11" grpId="0" bldLvl="0" animBg="1" autoUpdateAnimBg="0"/>
      <p:bldP spid="12" grpId="0" bldLvl="0" animBg="1" autoUpdateAnimBg="0"/>
      <p:bldP spid="13" grpId="0" bldLvl="0" animBg="1" autoUpdateAnimBg="0"/>
      <p:bldP spid="14" grpId="0" bldLvl="0" animBg="1" autoUpdateAnimBg="0"/>
      <p:bldP spid="15" grpId="0" bldLvl="0" animBg="1" autoUpdateAnimBg="0"/>
      <p:bldP spid="16" grpId="0" bldLvl="0" animBg="1"/>
      <p:bldP spid="17" grpId="0" bldLvl="0" animBg="1" autoUpdateAnimBg="0"/>
      <p:bldP spid="18" grpId="0" bldLvl="0" animBg="1"/>
      <p:bldP spid="19" grpId="0" bldLvl="0" animBg="1" autoUpdateAnimBg="0"/>
      <p:bldP spid="26" grpId="0" bldLvl="0" animBg="1" autoUpdateAnimBg="0"/>
      <p:bldP spid="27" grpId="0" bldLvl="0" animBg="1" autoUpdateAnimBg="0"/>
      <p:bldP spid="28" grpId="0" bldLvl="0" animBg="1"/>
      <p:bldP spid="29" grpId="0" bldLvl="0" animBg="1" autoUpdateAnimBg="0"/>
      <p:bldP spid="30" grpId="0" bldLvl="0" animBg="1"/>
      <p:bldP spid="31" grpId="0" bldLvl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条件运算符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条件表达式的基本语法是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: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（条件）？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A:B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。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/>
        </p:nvSpPr>
        <p:spPr>
          <a:xfrm>
            <a:off x="2675890" y="1686560"/>
            <a:ext cx="6840855" cy="447294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4-4  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条件表达式。</a:t>
            </a:r>
            <a:endParaRPr lang="zh-CN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&lt;html&gt;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&lt;head&gt;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&lt;title&gt;</a:t>
            </a:r>
            <a:r>
              <a:rPr lang="zh-CN" altLang="en-US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条件表达式示例</a:t>
            </a: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&lt;/title&gt;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&lt;/head&gt;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&lt;body&gt;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	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a=(4&gt;3)?2005:2007;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	b=(4&lt;3)?2005:2007;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	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document.write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(a);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	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document.write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("&lt;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br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&gt;");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	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document.write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(b);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&lt;/script&gt;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&lt;/body&gt;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&lt;/html&gt;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比较运算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操作数可以是任何类型，但是比较运算只能在数字和字符上执行。不是数字或字符类型的数据都会被转换成这两种类型。</a:t>
            </a:r>
            <a:endParaRPr sz="2400" dirty="0"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&lt;（数字，数字）：按照数字大小规则比较。</a:t>
            </a:r>
            <a:endParaRPr sz="2400" dirty="0"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&lt;（字符串，字符串）：按照字母顺序规则比较。</a:t>
            </a:r>
            <a:endParaRPr sz="2400" dirty="0"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&lt;（字符串，数字）：先将字符串转换成数字，然后按数字大小规则比较。</a:t>
            </a:r>
            <a:endParaRPr sz="2400" dirty="0"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&lt;（字符串/数字/无法转换，无法转换）：比较结果是false。</a:t>
            </a:r>
            <a:endParaRPr sz="2400" dirty="0">
              <a:cs typeface="Times New Roman" panose="02020603050405020304" pitchFamily="18" charset="0"/>
              <a:sym typeface="+mn-ea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sz="2400" dirty="0"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比较运算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endParaRPr sz="2400" dirty="0"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412750" y="1238885"/>
          <a:ext cx="11550650" cy="4183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8075930"/>
              </a:tblGrid>
              <a:tr h="605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 == '12';</a:t>
                      </a:r>
                      <a:endParaRPr lang="en-US" altLang="zh-CN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//true      '12'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转成数字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altLang="zh-CN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== true;</a:t>
                      </a:r>
                      <a:endParaRPr lang="en-US" altLang="zh-CN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//true      true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转成数字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endParaRPr lang="en-US" altLang="zh-CN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46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== null;</a:t>
                      </a:r>
                      <a:endParaRPr lang="en-US" altLang="zh-CN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//false      </a:t>
                      </a:r>
                      <a:r>
                        <a:rPr lang="en-US" altLang="zh-CN" sz="2400" b="1">
                          <a:solidFill>
                            <a:srgbClr val="0068E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null、undefined与其他类型的值</a:t>
                      </a:r>
                      <a:r>
                        <a:rPr lang="zh-CN" altLang="en-US" sz="2400" b="1">
                          <a:solidFill>
                            <a:srgbClr val="0068E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，结果皆为</a:t>
                      </a:r>
                      <a:r>
                        <a:rPr lang="en-US" altLang="zh-CN" sz="2400" b="1">
                          <a:solidFill>
                            <a:srgbClr val="0068E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false</a:t>
                      </a:r>
                      <a:endParaRPr lang="en-US" altLang="zh-CN" sz="2400" b="1">
                        <a:solidFill>
                          <a:srgbClr val="0068E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&gt; true;</a:t>
                      </a:r>
                      <a:endParaRPr lang="en-US" altLang="zh-CN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//true      true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转成数字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endParaRPr lang="en-US" altLang="zh-CN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&lt; '12';</a:t>
                      </a:r>
                      <a:endParaRPr lang="en-US" altLang="zh-CN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//true      '12'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转成数字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12</a:t>
                      </a:r>
                      <a:endParaRPr lang="en-US" altLang="zh-CN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'a' &lt; 'b';</a:t>
                      </a:r>
                      <a:endParaRPr lang="en-US" altLang="zh-CN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//true      'a'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转成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97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，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'b'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转成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98</a:t>
                      </a:r>
                      <a:endParaRPr lang="en-US" altLang="zh-CN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'5' &lt; '12';</a:t>
                      </a:r>
                      <a:endParaRPr lang="en-US" altLang="zh-CN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//false      </a:t>
                      </a:r>
                      <a:r>
                        <a:rPr lang="en-US" altLang="zh-CN" sz="2400" b="1">
                          <a:solidFill>
                            <a:srgbClr val="0068E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'5'</a:t>
                      </a:r>
                      <a:r>
                        <a:rPr lang="zh-CN" altLang="en-US" sz="2400" b="1">
                          <a:solidFill>
                            <a:srgbClr val="0068E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转成</a:t>
                      </a:r>
                      <a:r>
                        <a:rPr lang="en-US" altLang="zh-CN" sz="2400" b="1">
                          <a:solidFill>
                            <a:srgbClr val="0068E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5</a:t>
                      </a:r>
                      <a:r>
                        <a:rPr lang="zh-CN" altLang="en-US" sz="2400" b="1">
                          <a:solidFill>
                            <a:srgbClr val="0068E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，</a:t>
                      </a:r>
                      <a:r>
                        <a:rPr lang="en-US" altLang="zh-CN" sz="2400" b="1">
                          <a:solidFill>
                            <a:srgbClr val="0068E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'1'</a:t>
                      </a:r>
                      <a:r>
                        <a:rPr lang="zh-CN" altLang="en-US" sz="2400" b="1">
                          <a:solidFill>
                            <a:srgbClr val="0068E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转成</a:t>
                      </a:r>
                      <a:r>
                        <a:rPr lang="en-US" altLang="zh-CN" sz="2400" b="1">
                          <a:solidFill>
                            <a:srgbClr val="0068E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endParaRPr lang="en-US" altLang="zh-CN" sz="2400" b="1">
                        <a:solidFill>
                          <a:srgbClr val="0068E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运算符优先级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endParaRPr lang="zh-CN" altLang="en-US" sz="2400" dirty="0">
              <a:cs typeface="Times New Roman" panose="02020603050405020304" pitchFamily="18" charset="0"/>
              <a:sym typeface="+mn-ea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solidFill>
                  <a:srgbClr val="0000CC"/>
                </a:solidFill>
                <a:sym typeface="+mn-ea"/>
              </a:rPr>
              <a:t>( ) </a:t>
            </a:r>
            <a:r>
              <a:rPr lang="en-US" altLang="zh-CN" sz="2400" dirty="0">
                <a:solidFill>
                  <a:srgbClr val="FF6600"/>
                </a:solidFill>
                <a:sym typeface="Wingdings" panose="05000000000000000000" pitchFamily="2" charset="2"/>
              </a:rPr>
              <a:t> </a:t>
            </a:r>
            <a:r>
              <a:rPr lang="en-US" altLang="zh-CN" sz="2400" dirty="0">
                <a:solidFill>
                  <a:srgbClr val="0000CC"/>
                </a:solidFill>
                <a:sym typeface="Wingdings" panose="05000000000000000000" pitchFamily="2" charset="2"/>
              </a:rPr>
              <a:t>++/--  </a:t>
            </a:r>
            <a:r>
              <a:rPr lang="en-US" altLang="zh-CN" sz="2400" dirty="0">
                <a:solidFill>
                  <a:srgbClr val="FF6600"/>
                </a:solidFill>
                <a:sym typeface="Wingdings" panose="05000000000000000000" pitchFamily="2" charset="2"/>
              </a:rPr>
              <a:t> </a:t>
            </a:r>
            <a:r>
              <a:rPr lang="en-US" altLang="zh-CN" sz="2400" dirty="0">
                <a:solidFill>
                  <a:srgbClr val="0000CC"/>
                </a:solidFill>
                <a:sym typeface="Wingdings" panose="05000000000000000000" pitchFamily="2" charset="2"/>
              </a:rPr>
              <a:t>*</a:t>
            </a:r>
            <a:r>
              <a:rPr lang="zh-CN" altLang="en-US" sz="2400" dirty="0">
                <a:solidFill>
                  <a:srgbClr val="0000CC"/>
                </a:solidFill>
                <a:sym typeface="Wingdings" panose="05000000000000000000" pitchFamily="2" charset="2"/>
              </a:rPr>
              <a:t>、</a:t>
            </a:r>
            <a:r>
              <a:rPr lang="en-US" altLang="zh-CN" sz="2400" dirty="0">
                <a:solidFill>
                  <a:srgbClr val="0000CC"/>
                </a:solidFill>
                <a:sym typeface="Wingdings" panose="05000000000000000000" pitchFamily="2" charset="2"/>
              </a:rPr>
              <a:t>/</a:t>
            </a:r>
            <a:r>
              <a:rPr lang="zh-CN" altLang="en-US" sz="2400" dirty="0">
                <a:solidFill>
                  <a:srgbClr val="0000CC"/>
                </a:solidFill>
                <a:sym typeface="Wingdings" panose="05000000000000000000" pitchFamily="2" charset="2"/>
              </a:rPr>
              <a:t>、</a:t>
            </a:r>
            <a:r>
              <a:rPr lang="en-US" altLang="zh-CN" sz="2400" dirty="0">
                <a:solidFill>
                  <a:srgbClr val="0000CC"/>
                </a:solidFill>
                <a:sym typeface="Wingdings" panose="05000000000000000000" pitchFamily="2" charset="2"/>
              </a:rPr>
              <a:t>% </a:t>
            </a:r>
            <a:r>
              <a:rPr lang="en-US" altLang="zh-CN" sz="2400" dirty="0">
                <a:solidFill>
                  <a:srgbClr val="FF6600"/>
                </a:solidFill>
                <a:sym typeface="Wingdings" panose="05000000000000000000" pitchFamily="2" charset="2"/>
              </a:rPr>
              <a:t> </a:t>
            </a:r>
            <a:r>
              <a:rPr lang="en-US" altLang="zh-CN" sz="2400" dirty="0">
                <a:solidFill>
                  <a:srgbClr val="0000CC"/>
                </a:solidFill>
                <a:sym typeface="Wingdings" panose="05000000000000000000" pitchFamily="2" charset="2"/>
              </a:rPr>
              <a:t>+</a:t>
            </a:r>
            <a:r>
              <a:rPr lang="zh-CN" altLang="en-US" sz="2400" dirty="0">
                <a:solidFill>
                  <a:srgbClr val="0000CC"/>
                </a:solidFill>
                <a:sym typeface="Wingdings" panose="05000000000000000000" pitchFamily="2" charset="2"/>
              </a:rPr>
              <a:t>、</a:t>
            </a:r>
            <a:r>
              <a:rPr lang="en-US" altLang="zh-CN" sz="2400" dirty="0">
                <a:solidFill>
                  <a:srgbClr val="0000CC"/>
                </a:solidFill>
                <a:sym typeface="Wingdings" panose="05000000000000000000" pitchFamily="2" charset="2"/>
              </a:rPr>
              <a:t>- </a:t>
            </a:r>
            <a:r>
              <a:rPr lang="en-US" altLang="zh-CN" sz="2400" dirty="0">
                <a:solidFill>
                  <a:srgbClr val="FF6600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400" dirty="0">
                <a:solidFill>
                  <a:srgbClr val="0000CC"/>
                </a:solidFill>
                <a:sym typeface="Wingdings" panose="05000000000000000000" pitchFamily="2" charset="2"/>
              </a:rPr>
              <a:t>&lt;</a:t>
            </a:r>
            <a:r>
              <a:rPr lang="zh-CN" altLang="en-US" sz="2400" dirty="0">
                <a:solidFill>
                  <a:srgbClr val="0000CC"/>
                </a:solidFill>
                <a:sym typeface="Wingdings" panose="05000000000000000000" pitchFamily="2" charset="2"/>
              </a:rPr>
              <a:t>、</a:t>
            </a:r>
            <a:r>
              <a:rPr lang="en-US" altLang="zh-CN" sz="2400" dirty="0">
                <a:solidFill>
                  <a:srgbClr val="0000CC"/>
                </a:solidFill>
                <a:sym typeface="Wingdings" panose="05000000000000000000" pitchFamily="2" charset="2"/>
              </a:rPr>
              <a:t>&lt;=</a:t>
            </a:r>
            <a:r>
              <a:rPr lang="zh-CN" altLang="en-US" sz="2400" dirty="0">
                <a:solidFill>
                  <a:srgbClr val="0000CC"/>
                </a:solidFill>
                <a:sym typeface="Wingdings" panose="05000000000000000000" pitchFamily="2" charset="2"/>
              </a:rPr>
              <a:t>、</a:t>
            </a:r>
            <a:r>
              <a:rPr lang="en-US" altLang="zh-CN" sz="2400" dirty="0">
                <a:solidFill>
                  <a:srgbClr val="0000CC"/>
                </a:solidFill>
                <a:sym typeface="Wingdings" panose="05000000000000000000" pitchFamily="2" charset="2"/>
              </a:rPr>
              <a:t>&gt;</a:t>
            </a:r>
            <a:r>
              <a:rPr lang="zh-CN" altLang="en-US" sz="2400" dirty="0">
                <a:solidFill>
                  <a:srgbClr val="0000CC"/>
                </a:solidFill>
                <a:sym typeface="Wingdings" panose="05000000000000000000" pitchFamily="2" charset="2"/>
              </a:rPr>
              <a:t>、</a:t>
            </a:r>
            <a:r>
              <a:rPr lang="en-US" altLang="zh-CN" sz="2400" dirty="0">
                <a:solidFill>
                  <a:srgbClr val="0000CC"/>
                </a:solidFill>
                <a:sym typeface="Wingdings" panose="05000000000000000000" pitchFamily="2" charset="2"/>
              </a:rPr>
              <a:t>&gt;=</a:t>
            </a:r>
            <a:endParaRPr lang="en-US" altLang="zh-CN" sz="2400" dirty="0">
              <a:solidFill>
                <a:srgbClr val="0000CC"/>
              </a:solidFill>
              <a:sym typeface="Wingdings" panose="05000000000000000000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solidFill>
                  <a:srgbClr val="FF6600"/>
                </a:solidFill>
                <a:sym typeface="Wingdings" panose="05000000000000000000" pitchFamily="2" charset="2"/>
              </a:rPr>
              <a:t> </a:t>
            </a:r>
            <a:r>
              <a:rPr lang="en-US" altLang="zh-CN" sz="2400" dirty="0">
                <a:solidFill>
                  <a:srgbClr val="0000CC"/>
                </a:solidFill>
                <a:sym typeface="Wingdings" panose="05000000000000000000" pitchFamily="2" charset="2"/>
              </a:rPr>
              <a:t>==</a:t>
            </a:r>
            <a:r>
              <a:rPr lang="zh-CN" altLang="en-US" sz="2400" dirty="0">
                <a:solidFill>
                  <a:srgbClr val="0000CC"/>
                </a:solidFill>
                <a:sym typeface="Wingdings" panose="05000000000000000000" pitchFamily="2" charset="2"/>
              </a:rPr>
              <a:t>、</a:t>
            </a:r>
            <a:r>
              <a:rPr lang="en-US" altLang="zh-CN" sz="2400" dirty="0">
                <a:solidFill>
                  <a:srgbClr val="0000CC"/>
                </a:solidFill>
                <a:sym typeface="Wingdings" panose="05000000000000000000" pitchFamily="2" charset="2"/>
              </a:rPr>
              <a:t>!= </a:t>
            </a:r>
            <a:r>
              <a:rPr lang="en-US" altLang="zh-CN" sz="2400" dirty="0">
                <a:solidFill>
                  <a:srgbClr val="FF6600"/>
                </a:solidFill>
                <a:sym typeface="Wingdings" panose="05000000000000000000" pitchFamily="2" charset="2"/>
              </a:rPr>
              <a:t> </a:t>
            </a:r>
            <a:r>
              <a:rPr lang="en-US" altLang="zh-CN" sz="2400" dirty="0">
                <a:solidFill>
                  <a:srgbClr val="0000CC"/>
                </a:solidFill>
                <a:sym typeface="Wingdings" panose="05000000000000000000" pitchFamily="2" charset="2"/>
              </a:rPr>
              <a:t>&amp;&amp; </a:t>
            </a:r>
            <a:r>
              <a:rPr lang="en-US" altLang="zh-CN" sz="2400" dirty="0">
                <a:solidFill>
                  <a:srgbClr val="FF6600"/>
                </a:solidFill>
                <a:sym typeface="Wingdings" panose="05000000000000000000" pitchFamily="2" charset="2"/>
              </a:rPr>
              <a:t> </a:t>
            </a:r>
            <a:r>
              <a:rPr lang="en-US" altLang="zh-CN" sz="2400" dirty="0">
                <a:solidFill>
                  <a:srgbClr val="0000CC"/>
                </a:solidFill>
                <a:sym typeface="Wingdings" panose="05000000000000000000" pitchFamily="2" charset="2"/>
              </a:rPr>
              <a:t>|| </a:t>
            </a:r>
            <a:r>
              <a:rPr lang="en-US" altLang="zh-CN" sz="2400" dirty="0">
                <a:solidFill>
                  <a:srgbClr val="FF6600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rgbClr val="0000CC"/>
                </a:solidFill>
                <a:sym typeface="Wingdings" panose="05000000000000000000" pitchFamily="2" charset="2"/>
              </a:rPr>
              <a:t>复合运算符</a:t>
            </a:r>
            <a:endParaRPr lang="zh-CN" altLang="en-US" sz="2400" dirty="0">
              <a:solidFill>
                <a:srgbClr val="0000CC"/>
              </a:solidFill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zh-CN" altLang="en-US" sz="2400" dirty="0"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任意多边形 29"/>
          <p:cNvSpPr/>
          <p:nvPr/>
        </p:nvSpPr>
        <p:spPr>
          <a:xfrm>
            <a:off x="1" y="73756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solidFill>
            <a:srgbClr val="FB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2" y="1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gradFill>
            <a:gsLst>
              <a:gs pos="0">
                <a:srgbClr val="0050B0"/>
              </a:gs>
              <a:gs pos="62000">
                <a:srgbClr val="0040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730363" y="4678349"/>
            <a:ext cx="242316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FBC001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408E"/>
                </a:solidFill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rPr>
              <a:t>PART SIX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408E"/>
              </a:solidFill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353623" y="-615"/>
            <a:ext cx="3176640" cy="43783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17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 w="22225">
                  <a:gradFill>
                    <a:gsLst>
                      <a:gs pos="0">
                        <a:prstClr val="white"/>
                      </a:gs>
                      <a:gs pos="82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noFill/>
                <a:effectLst/>
                <a:uLnTx/>
                <a:uFillTx/>
                <a:ea typeface="思源黑体 CN Medium" panose="020B0600000000000000" pitchFamily="34" charset="-122"/>
                <a:cs typeface="+mn-cs"/>
              </a:rPr>
              <a:t>06</a:t>
            </a:r>
            <a:endParaRPr kumimoji="0" lang="zh-CN" altLang="en-US" sz="19900" b="0" i="0" u="none" strike="noStrike" kern="1200" cap="none" spc="0" normalizeH="0" baseline="0" noProof="0" dirty="0">
              <a:ln w="22225">
                <a:gradFill>
                  <a:gsLst>
                    <a:gs pos="0">
                      <a:prstClr val="white"/>
                    </a:gs>
                    <a:gs pos="82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noFill/>
              <a:effectLst/>
              <a:uLnTx/>
              <a:uFillTx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70585" y="3429000"/>
            <a:ext cx="10098405" cy="1014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16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思源黑体 CN Bold" panose="020B0800000000000000" pitchFamily="34" charset="-122"/>
                <a:cs typeface="+mn-cs"/>
                <a:sym typeface="思源黑体 CN Normal" panose="020B0400000000000000" pitchFamily="34" charset="-122"/>
              </a:rPr>
              <a:t>流程控制语句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16000"/>
                  </a:prstClr>
                </a:outerShdw>
              </a:effectLst>
              <a:uLnTx/>
              <a:uFillTx/>
              <a:latin typeface="Times New Roman" panose="02020603050405020304" pitchFamily="18" charset="0"/>
              <a:ea typeface="思源黑体 CN Bold" panose="020B08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10248528" y="4215637"/>
            <a:ext cx="644190" cy="644190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087717" y="5407909"/>
            <a:ext cx="350146" cy="350146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617685" y="840752"/>
            <a:ext cx="895572" cy="895572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if语句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if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语句完成程序中的分支功能，如果条件成立，则执行相应的语句。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/>
        </p:nvSpPr>
        <p:spPr>
          <a:xfrm>
            <a:off x="2675573" y="1516063"/>
            <a:ext cx="6840855" cy="4892675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4-5  if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语句。</a:t>
            </a:r>
            <a:endParaRPr lang="zh-CN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&lt;html&gt;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&lt;head&gt;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&lt;title&gt;if</a:t>
            </a:r>
            <a:r>
              <a:rPr lang="zh-CN" altLang="en-US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语句示例</a:t>
            </a: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&lt;/title&gt;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&lt;/head&gt;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&lt;body&gt;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	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var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iHour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= 13;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if (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iHour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&lt; 12){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   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document.write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("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早上好！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");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   	}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   	else{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   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document.write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("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下午好！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");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   	}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&lt;/script&gt;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&lt;/body&gt;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&lt;/html&gt;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switch语句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分支语句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switch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可以根据一个变量的不同取值而采取不同的处理方法，这样的语句叫做</a:t>
            </a:r>
            <a:r>
              <a:rPr lang="zh-CN" altLang="en-US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多重分支语句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。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switch语句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10000"/>
              </a:lnSpc>
              <a:buFontTx/>
              <a:buNone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/>
        </p:nvSpPr>
        <p:spPr>
          <a:xfrm>
            <a:off x="2675573" y="778510"/>
            <a:ext cx="6840855" cy="566293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4-6  switch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语句。</a:t>
            </a:r>
            <a:endParaRPr lang="zh-CN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&lt;html&gt;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&lt;head&gt;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&lt;title&gt;switch</a:t>
            </a:r>
            <a:r>
              <a:rPr lang="zh-CN" altLang="en-US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语句示例</a:t>
            </a: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&lt;/title&gt;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&lt;/head&gt;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&lt;body&gt;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	var val = "";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	var i = 2;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switch(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){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	    case 1:   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val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= "one";    break;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	    case 2:   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val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= "two";    break;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	    case 3:   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val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= "three";  break;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	    default:  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val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= "&gt;3";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}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	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document.write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val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);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&lt;/script&gt;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&lt;/body&gt;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&lt;/html&gt;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循环语句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algn="just" eaLnBrk="1" hangingPunct="1">
              <a:spcBef>
                <a:spcPct val="1000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sym typeface="+mn-ea"/>
              </a:rPr>
              <a:t>1. for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语句</a:t>
            </a:r>
            <a:endParaRPr lang="zh-CN" altLang="en-US" sz="2400">
              <a:solidFill>
                <a:srgbClr val="FF0000"/>
              </a:solidFill>
            </a:endParaRPr>
          </a:p>
          <a:p>
            <a:pPr algn="just" eaLnBrk="1" hangingPunct="1">
              <a:spcBef>
                <a:spcPct val="10000"/>
              </a:spcBef>
              <a:buFontTx/>
              <a:buNone/>
            </a:pPr>
            <a:r>
              <a:rPr lang="zh-CN" altLang="en-US" sz="2400">
                <a:sym typeface="+mn-ea"/>
              </a:rPr>
              <a:t>     </a:t>
            </a:r>
            <a:r>
              <a:rPr lang="en-US" altLang="zh-CN" sz="2400">
                <a:sym typeface="+mn-ea"/>
              </a:rPr>
              <a:t>for(</a:t>
            </a:r>
            <a:r>
              <a:rPr lang="zh-CN" altLang="en-US" sz="2400">
                <a:sym typeface="+mn-ea"/>
              </a:rPr>
              <a:t>初始化部分；条件部分；增量表达式</a:t>
            </a:r>
            <a:r>
              <a:rPr lang="en-US" altLang="zh-CN" sz="2400">
                <a:sym typeface="+mn-ea"/>
              </a:rPr>
              <a:t>)</a:t>
            </a:r>
            <a:endParaRPr lang="en-US" altLang="zh-CN" sz="2400"/>
          </a:p>
          <a:p>
            <a:pPr algn="just" eaLnBrk="1" hangingPunct="1">
              <a:spcBef>
                <a:spcPct val="10000"/>
              </a:spcBef>
              <a:buFontTx/>
              <a:buNone/>
            </a:pPr>
            <a:r>
              <a:rPr lang="en-US" altLang="zh-CN" sz="2400">
                <a:sym typeface="+mn-ea"/>
              </a:rPr>
              <a:t>    {</a:t>
            </a:r>
            <a:endParaRPr lang="en-US" altLang="zh-CN" sz="2400"/>
          </a:p>
          <a:p>
            <a:pPr algn="just" eaLnBrk="1" hangingPunct="1">
              <a:spcBef>
                <a:spcPct val="10000"/>
              </a:spcBef>
              <a:buFontTx/>
              <a:buNone/>
            </a:pPr>
            <a:r>
              <a:rPr lang="en-US" altLang="zh-CN" sz="2400">
                <a:sym typeface="+mn-ea"/>
              </a:rPr>
              <a:t>       </a:t>
            </a:r>
            <a:r>
              <a:rPr lang="zh-CN" altLang="en-US" sz="2400">
                <a:sym typeface="+mn-ea"/>
              </a:rPr>
              <a:t>语句块；</a:t>
            </a:r>
            <a:endParaRPr lang="zh-CN" altLang="en-US" sz="2400"/>
          </a:p>
          <a:p>
            <a:pPr algn="just" eaLnBrk="1" hangingPunct="1">
              <a:spcBef>
                <a:spcPct val="10000"/>
              </a:spcBef>
              <a:buFontTx/>
              <a:buNone/>
            </a:pPr>
            <a:r>
              <a:rPr lang="zh-CN" altLang="en-US" sz="2400">
                <a:sym typeface="+mn-ea"/>
              </a:rPr>
              <a:t>     </a:t>
            </a:r>
            <a:r>
              <a:rPr lang="en-US" altLang="zh-CN" sz="2400">
                <a:sym typeface="+mn-ea"/>
              </a:rPr>
              <a:t>}</a:t>
            </a:r>
            <a:endParaRPr lang="en-US" altLang="zh-CN" sz="2400"/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164868" name="Rectangle 4"/>
          <p:cNvSpPr>
            <a:spLocks noGrp="1" noChangeArrowheads="1"/>
          </p:cNvSpPr>
          <p:nvPr/>
        </p:nvSpPr>
        <p:spPr>
          <a:xfrm>
            <a:off x="4558030" y="3496310"/>
            <a:ext cx="6370955" cy="2520950"/>
          </a:xfrm>
          <a:prstGeom prst="rect">
            <a:avLst/>
          </a:prstGeom>
          <a:noFill/>
          <a:ln w="25400">
            <a:solidFill>
              <a:srgbClr val="FF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Blip>
                <a:blip r:embed="rId4"/>
              </a:buBlip>
            </a:pPr>
            <a:r>
              <a:rPr lang="zh-CN" altLang="en-US" sz="2400"/>
              <a:t>执行步骤是①初始化，②判断条件，③若条件为真则执行语句块，然后执行增量表达式再转到②执行，若条件为假则结束循环。</a:t>
            </a:r>
            <a:endParaRPr lang="zh-CN" altLang="en-US" sz="2400"/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None/>
            </a:pPr>
            <a:endParaRPr lang="zh-CN" altLang="en-US" sz="240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Blip>
                <a:blip r:embed="rId4"/>
              </a:buBlip>
            </a:pPr>
            <a:r>
              <a:rPr lang="en-US" altLang="zh-CN" sz="2400"/>
              <a:t>for</a:t>
            </a:r>
            <a:r>
              <a:rPr lang="zh-CN" altLang="en-US" sz="2400"/>
              <a:t>语句中的三个结构部分都是可以省略的，但分号是不能省略的。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64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8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循环语句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/>
        </p:nvSpPr>
        <p:spPr>
          <a:xfrm>
            <a:off x="2675573" y="1197610"/>
            <a:ext cx="6840855" cy="446278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4-7  for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语句。</a:t>
            </a:r>
            <a:endParaRPr lang="zh-CN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&lt;html&gt;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&lt;head&gt;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&lt;title&gt;for</a:t>
            </a:r>
            <a:r>
              <a:rPr lang="zh-CN" altLang="en-US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语句示例</a:t>
            </a: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&lt;/title&gt;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&lt;/head&gt;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&lt;body&gt;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	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var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iSum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= 0;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	for(var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= 0;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&lt;= 100;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++){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   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iSum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+=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     }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	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document.write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iSum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);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&lt;/script&gt;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&lt;/body&gt;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&lt;/html&gt;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for……in语句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ym typeface="+mn-ea"/>
              </a:rPr>
              <a:t>用来遍历一个对象的所有用户定义的属性或者一个数组的所有元素。</a:t>
            </a:r>
            <a:endParaRPr lang="zh-CN" altLang="en-US" sz="2400" dirty="0"/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ym typeface="+mn-ea"/>
              </a:rPr>
              <a:t>for...in</a:t>
            </a:r>
            <a:r>
              <a:rPr lang="zh-CN" altLang="en-US" sz="2400" dirty="0">
                <a:sym typeface="+mn-ea"/>
              </a:rPr>
              <a:t>循环的语法格式：</a:t>
            </a:r>
            <a:endParaRPr lang="zh-CN" altLang="en-US" sz="2400" dirty="0"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for(property in Object)</a:t>
            </a:r>
            <a:endParaRPr lang="en-US" altLang="zh-CN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{</a:t>
            </a:r>
            <a:endParaRPr lang="en-US" altLang="zh-CN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JavaScript</a:t>
            </a: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代码；</a:t>
            </a:r>
            <a:endParaRPr lang="en-US" altLang="zh-CN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}</a:t>
            </a:r>
            <a:endParaRPr lang="en-US" altLang="zh-CN" sz="2400" dirty="0"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ym typeface="+mn-ea"/>
              </a:rPr>
              <a:t>Object</a:t>
            </a:r>
            <a:r>
              <a:rPr lang="zh-CN" altLang="en-US" sz="2400" dirty="0">
                <a:sym typeface="+mn-ea"/>
              </a:rPr>
              <a:t>表示对象或数组。</a:t>
            </a:r>
            <a:endParaRPr lang="zh-CN" altLang="en-US" sz="2400" dirty="0"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zh-CN" altLang="en-US" sz="2400" dirty="0"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ym typeface="+mn-ea"/>
              </a:rPr>
              <a:t>当</a:t>
            </a:r>
            <a:r>
              <a:rPr lang="en-US" altLang="zh-CN" sz="2400" dirty="0">
                <a:sym typeface="+mn-ea"/>
              </a:rPr>
              <a:t>Object</a:t>
            </a:r>
            <a:r>
              <a:rPr lang="zh-CN" altLang="en-US" sz="2400" dirty="0">
                <a:sym typeface="+mn-ea"/>
              </a:rPr>
              <a:t>为对象时，</a:t>
            </a:r>
            <a:r>
              <a:rPr lang="en-US" altLang="zh-CN" sz="2400" dirty="0">
                <a:sym typeface="+mn-ea"/>
              </a:rPr>
              <a:t>property</a:t>
            </a:r>
            <a:r>
              <a:rPr lang="zh-CN" altLang="en-US" sz="2400" dirty="0">
                <a:sym typeface="+mn-ea"/>
              </a:rPr>
              <a:t>表示所定义对象的属性。每一次循环，属性被赋予对象的下一个属性名，直到所有的属性名都用过为止。当</a:t>
            </a:r>
            <a:r>
              <a:rPr lang="en-US" altLang="zh-CN" sz="2400" dirty="0">
                <a:sym typeface="+mn-ea"/>
              </a:rPr>
              <a:t>Object</a:t>
            </a:r>
            <a:r>
              <a:rPr lang="zh-CN" altLang="en-US" sz="2400" dirty="0">
                <a:sym typeface="+mn-ea"/>
              </a:rPr>
              <a:t>为数组时，</a:t>
            </a:r>
            <a:r>
              <a:rPr lang="en-US" altLang="zh-CN" sz="2400" dirty="0">
                <a:sym typeface="+mn-ea"/>
              </a:rPr>
              <a:t>property</a:t>
            </a:r>
            <a:r>
              <a:rPr lang="zh-CN" altLang="en-US" sz="2400" dirty="0">
                <a:sym typeface="+mn-ea"/>
              </a:rPr>
              <a:t>指代数组的下标。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for……in语句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ym typeface="+mn-ea"/>
              </a:rPr>
              <a:t>例子：遍历一个数组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/>
        </p:nvSpPr>
        <p:spPr>
          <a:xfrm>
            <a:off x="2468245" y="1828800"/>
            <a:ext cx="6840855" cy="129032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var fruit=["apple", "orange", "peach", "banana"]; 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for(var i in fruit){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     document.write(fruit[i]+"&lt;br/&gt;");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29698" name="Picture 2" descr="图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680" y="3390265"/>
            <a:ext cx="4644390" cy="211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for……in语句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ym typeface="+mn-ea"/>
              </a:rPr>
              <a:t>例子：遍历一个对象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/>
        </p:nvSpPr>
        <p:spPr>
          <a:xfrm>
            <a:off x="1963738" y="1780540"/>
            <a:ext cx="8264525" cy="330200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//创建一个对象 myObject 以及三个属性name, url, content。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var myObject = new Object();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myObject.name = "布啦布啦";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myObject.url = "blabla.cn";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myObject.content = "网页教程代码图库的中文站点";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//遍历对象的所有属性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for (var prop in myObject){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	document.write("属性 '" + prop + "' 为 " + myObject[prop]);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	document.write("&lt;br&gt;");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课堂练习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endParaRPr lang="zh-CN" altLang="en-US" sz="2400" b="1">
              <a:cs typeface="Times New Roman" panose="02020603050405020304" pitchFamily="18" charset="0"/>
              <a:sym typeface="+mn-ea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zh-CN" altLang="en-US" sz="2400" b="1">
                <a:cs typeface="Times New Roman" panose="02020603050405020304" pitchFamily="18" charset="0"/>
                <a:sym typeface="+mn-ea"/>
              </a:rPr>
              <a:t>使用</a:t>
            </a:r>
            <a:r>
              <a:rPr lang="en-US" altLang="zh-CN" sz="2400" b="1">
                <a:cs typeface="Times New Roman" panose="02020603050405020304" pitchFamily="18" charset="0"/>
                <a:sym typeface="+mn-ea"/>
              </a:rPr>
              <a:t>for-in</a:t>
            </a:r>
            <a:r>
              <a:rPr lang="zh-CN" altLang="en-US" sz="2400" b="1">
                <a:cs typeface="Times New Roman" panose="02020603050405020304" pitchFamily="18" charset="0"/>
                <a:sym typeface="+mn-ea"/>
              </a:rPr>
              <a:t>语句实现数组的升序排列功能。</a:t>
            </a:r>
            <a:endParaRPr lang="zh-CN" altLang="en-US" sz="2400" b="1"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zh-CN" altLang="en-US" sz="2400" b="1">
                <a:cs typeface="Times New Roman" panose="02020603050405020304" pitchFamily="18" charset="0"/>
                <a:sym typeface="+mn-ea"/>
              </a:rPr>
              <a:t>var a=[3,2,1,5,4];</a:t>
            </a:r>
            <a:endParaRPr lang="zh-CN" altLang="en-US" sz="2400" b="1"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zh-CN" altLang="en-US" sz="2400" b="1">
                <a:cs typeface="Times New Roman" panose="02020603050405020304" pitchFamily="18" charset="0"/>
                <a:sym typeface="+mn-ea"/>
              </a:rPr>
              <a:t>交换排序</a:t>
            </a:r>
            <a:endParaRPr lang="zh-CN" altLang="en-US" sz="2400" b="1">
              <a:cs typeface="Times New Roman" panose="02020603050405020304" pitchFamily="18" charset="0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</a:pPr>
            <a:endParaRPr lang="en-US" altLang="zh-CN" sz="2400" b="1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while语句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endParaRPr lang="zh-CN" altLang="en-US" sz="2400" b="1">
              <a:cs typeface="Times New Roman" panose="02020603050405020304" pitchFamily="18" charset="0"/>
              <a:sym typeface="+mn-ea"/>
            </a:endParaRPr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 dirty="0">
                <a:sym typeface="+mn-ea"/>
              </a:rPr>
              <a:t>    </a:t>
            </a:r>
            <a:r>
              <a:rPr lang="en-US" altLang="zh-CN" sz="2400" dirty="0">
                <a:sym typeface="+mn-ea"/>
              </a:rPr>
              <a:t>while</a:t>
            </a:r>
            <a:r>
              <a:rPr lang="zh-CN" altLang="en-US" sz="2400" dirty="0">
                <a:sym typeface="+mn-ea"/>
              </a:rPr>
              <a:t>（条件）</a:t>
            </a:r>
            <a:endParaRPr lang="zh-CN" altLang="en-US" sz="2400" dirty="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ym typeface="+mn-ea"/>
              </a:rPr>
              <a:t>    </a:t>
            </a:r>
            <a:r>
              <a:rPr lang="en-US" altLang="zh-CN" sz="2400" dirty="0">
                <a:sym typeface="+mn-ea"/>
              </a:rPr>
              <a:t>{</a:t>
            </a:r>
            <a:endParaRPr lang="en-US" altLang="zh-CN" sz="2400" dirty="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ym typeface="+mn-ea"/>
              </a:rPr>
              <a:t>       </a:t>
            </a:r>
            <a:r>
              <a:rPr lang="zh-CN" altLang="en-US" sz="2400" dirty="0">
                <a:sym typeface="+mn-ea"/>
              </a:rPr>
              <a:t>语句块；</a:t>
            </a:r>
            <a:endParaRPr lang="zh-CN" altLang="en-US" sz="2400" dirty="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ym typeface="+mn-ea"/>
              </a:rPr>
              <a:t>     </a:t>
            </a:r>
            <a:r>
              <a:rPr lang="en-US" altLang="zh-CN" sz="2400" dirty="0">
                <a:sym typeface="+mn-ea"/>
              </a:rPr>
              <a:t>}</a:t>
            </a:r>
            <a:endParaRPr lang="en-US" altLang="zh-CN" sz="2400" b="1" dirty="0">
              <a:cs typeface="Times New Roman" panose="02020603050405020304" pitchFamily="18" charset="0"/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/>
        </p:nvSpPr>
        <p:spPr>
          <a:xfrm>
            <a:off x="3979228" y="966788"/>
            <a:ext cx="6840855" cy="4892675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4-8  while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语句。</a:t>
            </a:r>
            <a:endParaRPr lang="zh-CN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&lt;html&gt;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&lt;head&gt;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&lt;title&gt;while</a:t>
            </a:r>
            <a:r>
              <a:rPr lang="zh-CN" altLang="en-US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语句示例</a:t>
            </a: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&lt;/title&gt;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&lt;/head&gt;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&lt;body&gt;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	var iSum = 0;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    	var i = 0;    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	while( i&lt;=100 ){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    iSum += i;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	    i++;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    	}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    	document.write(iSum);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&lt;/script&gt;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&lt;/body&gt;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&lt;/html&gt;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do-while语句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endParaRPr lang="zh-CN" altLang="en-US" sz="2400" b="1">
              <a:cs typeface="Times New Roman" panose="02020603050405020304" pitchFamily="18" charset="0"/>
              <a:sym typeface="+mn-ea"/>
            </a:endParaRPr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 dirty="0">
                <a:sym typeface="+mn-ea"/>
              </a:rPr>
              <a:t>    </a:t>
            </a:r>
            <a:r>
              <a:rPr lang="en-US" altLang="zh-CN" sz="2400" dirty="0">
                <a:sym typeface="+mn-ea"/>
              </a:rPr>
              <a:t>do</a:t>
            </a:r>
            <a:endParaRPr lang="en-US" altLang="zh-CN" sz="2400" dirty="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ym typeface="+mn-ea"/>
              </a:rPr>
              <a:t>    {</a:t>
            </a:r>
            <a:endParaRPr lang="en-US" altLang="zh-CN" sz="2400" dirty="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ym typeface="+mn-ea"/>
              </a:rPr>
              <a:t>       </a:t>
            </a:r>
            <a:r>
              <a:rPr lang="zh-CN" altLang="en-US" sz="2400" dirty="0">
                <a:sym typeface="+mn-ea"/>
              </a:rPr>
              <a:t>语句块；</a:t>
            </a:r>
            <a:endParaRPr lang="zh-CN" altLang="en-US" sz="2400" dirty="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ym typeface="+mn-ea"/>
              </a:rPr>
              <a:t>     </a:t>
            </a:r>
            <a:r>
              <a:rPr lang="en-US" altLang="zh-CN" sz="2400" dirty="0">
                <a:sym typeface="+mn-ea"/>
              </a:rPr>
              <a:t>}while(</a:t>
            </a:r>
            <a:r>
              <a:rPr lang="zh-CN" altLang="en-US" sz="2400" dirty="0">
                <a:sym typeface="+mn-ea"/>
              </a:rPr>
              <a:t>条件</a:t>
            </a:r>
            <a:r>
              <a:rPr lang="en-US" altLang="zh-CN" sz="2400" dirty="0">
                <a:sym typeface="+mn-ea"/>
              </a:rPr>
              <a:t>)</a:t>
            </a:r>
            <a:endParaRPr lang="en-US" altLang="zh-CN" sz="2400" b="1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break和continue语句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>
                <a:sym typeface="+mn-ea"/>
              </a:rPr>
              <a:t>break</a:t>
            </a:r>
            <a:r>
              <a:rPr lang="zh-CN" altLang="en-US" sz="2400">
                <a:sym typeface="+mn-ea"/>
              </a:rPr>
              <a:t>语句的功能是结束整个循环，</a:t>
            </a:r>
            <a:r>
              <a:rPr lang="en-US" altLang="zh-CN" sz="2400">
                <a:sym typeface="+mn-ea"/>
              </a:rPr>
              <a:t>continue</a:t>
            </a:r>
            <a:r>
              <a:rPr lang="zh-CN" altLang="en-US" sz="2400">
                <a:sym typeface="+mn-ea"/>
              </a:rPr>
              <a:t>语句的功能是提前结束本次循环，整个循环并没有结束。</a:t>
            </a:r>
            <a:endParaRPr lang="zh-CN" altLang="en-US" sz="2400"/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break和continue语句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/>
        </p:nvSpPr>
        <p:spPr>
          <a:xfrm>
            <a:off x="2074863" y="982663"/>
            <a:ext cx="8042275" cy="4892675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4-9  break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语句。</a:t>
            </a:r>
            <a:endParaRPr lang="zh-CN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&lt;html&gt;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&lt;head&gt;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&lt;title&gt;break</a:t>
            </a:r>
            <a:r>
              <a:rPr lang="zh-CN" altLang="en-US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语句示例</a:t>
            </a: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&lt;/title&gt;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&lt;/head&gt;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&lt;body&gt;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&lt;script&gt;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for(i = 1; i &lt; 20; i++){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if(i%5 == 0){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  break;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   }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   document.write(“</a:t>
            </a:r>
            <a:r>
              <a:rPr lang="zh-CN" altLang="en-US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从</a:t>
            </a: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1-20</a:t>
            </a:r>
            <a:r>
              <a:rPr lang="zh-CN" altLang="en-US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遇到</a:t>
            </a: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5</a:t>
            </a:r>
            <a:r>
              <a:rPr lang="zh-CN" altLang="en-US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的倍数</a:t>
            </a: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,</a:t>
            </a:r>
            <a:r>
              <a:rPr lang="zh-CN" altLang="en-US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输出就终止</a:t>
            </a: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i=”+i+”&lt;br&gt;”);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 }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&lt;/script&gt;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&lt;/body&gt;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&lt;/html&gt;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break和continue语句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/>
        </p:nvSpPr>
        <p:spPr>
          <a:xfrm>
            <a:off x="1995488" y="982980"/>
            <a:ext cx="8201025" cy="4892675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4-10  continue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语句。</a:t>
            </a:r>
            <a:endParaRPr lang="zh-CN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&lt;html&gt;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&lt;head&gt;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&lt;title&gt;continue</a:t>
            </a:r>
            <a:r>
              <a:rPr lang="zh-CN" altLang="en-US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语句示例</a:t>
            </a: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&lt;/title&gt;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&lt;/head&gt;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&lt;body&gt;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&lt;script&gt;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for(i = 1; i &lt; 20; i++){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if(i%5 == 0){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  continue;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   }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   document.write(“</a:t>
            </a:r>
            <a:r>
              <a:rPr lang="zh-CN" altLang="en-US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从</a:t>
            </a: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1-20</a:t>
            </a:r>
            <a:r>
              <a:rPr lang="zh-CN" altLang="en-US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遇到</a:t>
            </a: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5</a:t>
            </a:r>
            <a:r>
              <a:rPr lang="zh-CN" altLang="en-US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的倍数</a:t>
            </a: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,</a:t>
            </a:r>
            <a:r>
              <a:rPr lang="zh-CN" altLang="en-US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输出就终止</a:t>
            </a: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i=”+i+”&lt;br&gt;”);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 }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&lt;/script&gt;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&lt;/body&gt;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&lt;/html&gt;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795" name="AutoShape 3"/>
          <p:cNvSpPr>
            <a:spLocks noChangeArrowheads="1"/>
          </p:cNvSpPr>
          <p:nvPr/>
        </p:nvSpPr>
        <p:spPr bwMode="auto">
          <a:xfrm>
            <a:off x="6329675" y="1158666"/>
            <a:ext cx="3816350" cy="1943100"/>
          </a:xfrm>
          <a:prstGeom prst="cloudCallout">
            <a:avLst>
              <a:gd name="adj1" fmla="val -62852"/>
              <a:gd name="adj2" fmla="val -32435"/>
            </a:avLst>
          </a:prstGeom>
          <a:solidFill>
            <a:schemeClr val="bg2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dirty="0"/>
              <a:t>将上例中的</a:t>
            </a:r>
            <a:r>
              <a:rPr kumimoji="1" lang="en-US" altLang="zh-CN" sz="2400" dirty="0"/>
              <a:t>break</a:t>
            </a:r>
            <a:r>
              <a:rPr kumimoji="1" lang="zh-CN" altLang="en-US" sz="2400" dirty="0"/>
              <a:t>改为</a:t>
            </a:r>
            <a:r>
              <a:rPr kumimoji="1" lang="en-US" altLang="zh-CN" sz="2400" dirty="0"/>
              <a:t>continue</a:t>
            </a:r>
            <a:r>
              <a:rPr kumimoji="1" lang="zh-CN" altLang="en-US" sz="2400" dirty="0"/>
              <a:t>，比较两个程序的运行结果。</a:t>
            </a:r>
            <a:endParaRPr kumimoji="1"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任意多边形 29"/>
          <p:cNvSpPr/>
          <p:nvPr/>
        </p:nvSpPr>
        <p:spPr>
          <a:xfrm>
            <a:off x="1" y="73756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solidFill>
            <a:srgbClr val="FB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2" y="1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gradFill>
            <a:gsLst>
              <a:gs pos="0">
                <a:srgbClr val="0050B0"/>
              </a:gs>
              <a:gs pos="62000">
                <a:srgbClr val="0040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730363" y="4678349"/>
            <a:ext cx="242316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FBC001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408E"/>
                </a:solidFill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rPr>
              <a:t>PART SEVEN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408E"/>
              </a:solidFill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353623" y="-615"/>
            <a:ext cx="3176640" cy="43783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17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 w="22225">
                  <a:gradFill>
                    <a:gsLst>
                      <a:gs pos="0">
                        <a:prstClr val="white"/>
                      </a:gs>
                      <a:gs pos="82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noFill/>
                <a:effectLst/>
                <a:uLnTx/>
                <a:uFillTx/>
                <a:ea typeface="思源黑体 CN Medium" panose="020B0600000000000000" pitchFamily="34" charset="-122"/>
                <a:cs typeface="+mn-cs"/>
              </a:rPr>
              <a:t>07</a:t>
            </a:r>
            <a:endParaRPr kumimoji="0" lang="zh-CN" altLang="en-US" sz="19900" b="0" i="0" u="none" strike="noStrike" kern="1200" cap="none" spc="0" normalizeH="0" baseline="0" noProof="0" dirty="0">
              <a:ln w="22225">
                <a:gradFill>
                  <a:gsLst>
                    <a:gs pos="0">
                      <a:prstClr val="white"/>
                    </a:gs>
                    <a:gs pos="82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noFill/>
              <a:effectLst/>
              <a:uLnTx/>
              <a:uFillTx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70585" y="3429000"/>
            <a:ext cx="10098405" cy="1014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16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思源黑体 CN Bold" panose="020B0800000000000000" pitchFamily="34" charset="-122"/>
                <a:cs typeface="+mn-cs"/>
                <a:sym typeface="思源黑体 CN Normal" panose="020B0400000000000000" pitchFamily="34" charset="-122"/>
              </a:rPr>
              <a:t>函数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16000"/>
                  </a:prstClr>
                </a:outerShdw>
              </a:effectLst>
              <a:uLnTx/>
              <a:uFillTx/>
              <a:latin typeface="Times New Roman" panose="02020603050405020304" pitchFamily="18" charset="0"/>
              <a:ea typeface="思源黑体 CN Bold" panose="020B08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10248528" y="4215637"/>
            <a:ext cx="644190" cy="644190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087717" y="5407909"/>
            <a:ext cx="350146" cy="350146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617685" y="840752"/>
            <a:ext cx="895572" cy="895572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函数定义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使用function关键字定义函数</a:t>
            </a:r>
            <a:endParaRPr sz="2400" dirty="0"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2036" name="Rectangle 4"/>
          <p:cNvSpPr>
            <a:spLocks noGrp="1" noChangeArrowheads="1"/>
          </p:cNvSpPr>
          <p:nvPr/>
        </p:nvSpPr>
        <p:spPr>
          <a:xfrm>
            <a:off x="2989791" y="3679347"/>
            <a:ext cx="6192838" cy="1655763"/>
          </a:xfrm>
          <a:prstGeom prst="rect">
            <a:avLst/>
          </a:prstGeom>
          <a:noFill/>
          <a:ln w="25400">
            <a:solidFill>
              <a:srgbClr val="3366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marL="365125" indent="-365125" algn="just" eaLnBrk="1" hangingPunct="1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altLang="zh-CN" sz="2400" kern="1200" dirty="0">
                <a:latin typeface="Consolas" panose="020B0609020204030204" pitchFamily="49" charset="0"/>
                <a:ea typeface="楷体_GB2312" pitchFamily="49" charset="-122"/>
              </a:rPr>
              <a:t>function </a:t>
            </a:r>
            <a:r>
              <a:rPr lang="zh-CN" altLang="en-US" sz="2400" kern="1200" dirty="0">
                <a:latin typeface="Consolas" panose="020B0609020204030204" pitchFamily="49" charset="0"/>
                <a:ea typeface="楷体_GB2312" pitchFamily="49" charset="-122"/>
              </a:rPr>
              <a:t>函数名（参数表）</a:t>
            </a:r>
            <a:r>
              <a:rPr lang="en-US" altLang="zh-CN" sz="2400" kern="1200" dirty="0">
                <a:latin typeface="Consolas" panose="020B0609020204030204" pitchFamily="49" charset="0"/>
                <a:ea typeface="楷体_GB2312" pitchFamily="49" charset="-122"/>
              </a:rPr>
              <a:t>{</a:t>
            </a:r>
            <a:endParaRPr lang="en-US" altLang="zh-CN" sz="2400" kern="1200" dirty="0">
              <a:latin typeface="Consolas" panose="020B0609020204030204" pitchFamily="49" charset="0"/>
              <a:ea typeface="楷体_GB2312" pitchFamily="49" charset="-122"/>
            </a:endParaRPr>
          </a:p>
          <a:p>
            <a:pPr marL="365125" indent="-365125" algn="just" eaLnBrk="1" hangingPunct="1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altLang="zh-CN" sz="2400" kern="1200" dirty="0">
                <a:latin typeface="Consolas" panose="020B0609020204030204" pitchFamily="49" charset="0"/>
                <a:ea typeface="楷体_GB2312" pitchFamily="49" charset="-122"/>
              </a:rPr>
              <a:t>   </a:t>
            </a:r>
            <a:r>
              <a:rPr lang="zh-CN" altLang="en-US" sz="2400" kern="1200" dirty="0">
                <a:latin typeface="Consolas" panose="020B0609020204030204" pitchFamily="49" charset="0"/>
                <a:ea typeface="楷体_GB2312" pitchFamily="49" charset="-122"/>
              </a:rPr>
              <a:t>语句块；</a:t>
            </a:r>
            <a:endParaRPr lang="zh-CN" altLang="en-US" sz="2400" kern="1200" dirty="0">
              <a:latin typeface="Consolas" panose="020B0609020204030204" pitchFamily="49" charset="0"/>
              <a:ea typeface="楷体_GB2312" pitchFamily="49" charset="-122"/>
            </a:endParaRPr>
          </a:p>
          <a:p>
            <a:pPr marL="365125" indent="-365125" algn="just" eaLnBrk="1" hangingPunct="1">
              <a:lnSpc>
                <a:spcPct val="90000"/>
              </a:lnSpc>
              <a:spcBef>
                <a:spcPct val="10000"/>
              </a:spcBef>
              <a:buNone/>
            </a:pPr>
            <a:r>
              <a:rPr lang="zh-CN" altLang="en-US" sz="2400" kern="1200" dirty="0">
                <a:latin typeface="Consolas" panose="020B0609020204030204" pitchFamily="49" charset="0"/>
                <a:ea typeface="楷体_GB2312" pitchFamily="49" charset="-122"/>
              </a:rPr>
              <a:t>   </a:t>
            </a:r>
            <a:r>
              <a:rPr lang="en-US" altLang="zh-CN" sz="2400" kern="1200" dirty="0">
                <a:latin typeface="Consolas" panose="020B0609020204030204" pitchFamily="49" charset="0"/>
                <a:ea typeface="楷体_GB2312" pitchFamily="49" charset="-122"/>
              </a:rPr>
              <a:t>return [</a:t>
            </a:r>
            <a:r>
              <a:rPr lang="zh-CN" altLang="en-US" sz="2400" kern="1200" dirty="0">
                <a:latin typeface="Consolas" panose="020B0609020204030204" pitchFamily="49" charset="0"/>
                <a:ea typeface="楷体_GB2312" pitchFamily="49" charset="-122"/>
              </a:rPr>
              <a:t>表达式</a:t>
            </a:r>
            <a:r>
              <a:rPr lang="en-US" altLang="zh-CN" sz="2400" kern="1200" dirty="0">
                <a:latin typeface="Consolas" panose="020B0609020204030204" pitchFamily="49" charset="0"/>
                <a:ea typeface="楷体_GB2312" pitchFamily="49" charset="-122"/>
              </a:rPr>
              <a:t>]</a:t>
            </a:r>
            <a:r>
              <a:rPr lang="zh-CN" altLang="en-US" sz="2400" kern="1200" dirty="0">
                <a:latin typeface="Consolas" panose="020B0609020204030204" pitchFamily="49" charset="0"/>
                <a:ea typeface="楷体_GB2312" pitchFamily="49" charset="-122"/>
              </a:rPr>
              <a:t>；</a:t>
            </a:r>
            <a:endParaRPr lang="zh-CN" altLang="en-US" sz="2400" kern="1200" dirty="0">
              <a:latin typeface="Consolas" panose="020B0609020204030204" pitchFamily="49" charset="0"/>
              <a:ea typeface="楷体_GB2312" pitchFamily="49" charset="-122"/>
            </a:endParaRPr>
          </a:p>
          <a:p>
            <a:pPr marL="365125" indent="-365125" algn="just" eaLnBrk="1" hangingPunct="1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altLang="zh-CN" sz="2400" kern="1200" dirty="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72037" name="Rectangle 5"/>
          <p:cNvSpPr>
            <a:spLocks noChangeArrowheads="1"/>
          </p:cNvSpPr>
          <p:nvPr/>
        </p:nvSpPr>
        <p:spPr bwMode="auto">
          <a:xfrm>
            <a:off x="2989791" y="1836089"/>
            <a:ext cx="6192838" cy="1390675"/>
          </a:xfrm>
          <a:prstGeom prst="rect">
            <a:avLst/>
          </a:prstGeom>
          <a:noFill/>
          <a:ln w="25400">
            <a:solidFill>
              <a:srgbClr val="FF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5125" indent="-365125"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just" eaLnBrk="1" hangingPunct="1">
              <a:spcBef>
                <a:spcPct val="10000"/>
              </a:spcBef>
              <a:buFontTx/>
              <a:buNone/>
            </a:pPr>
            <a:r>
              <a:rPr lang="en-US" altLang="zh-CN" sz="2400" b="0" dirty="0">
                <a:latin typeface="Consolas" panose="020B0609020204030204" pitchFamily="49" charset="0"/>
              </a:rPr>
              <a:t>function </a:t>
            </a:r>
            <a:r>
              <a:rPr lang="zh-CN" altLang="en-US" sz="2400" b="0" dirty="0">
                <a:latin typeface="Consolas" panose="020B0609020204030204" pitchFamily="49" charset="0"/>
              </a:rPr>
              <a:t>函数名（参数表）</a:t>
            </a:r>
            <a:r>
              <a:rPr lang="en-US" altLang="zh-CN" sz="2400" b="0" dirty="0">
                <a:latin typeface="Consolas" panose="020B0609020204030204" pitchFamily="49" charset="0"/>
              </a:rPr>
              <a:t>{</a:t>
            </a:r>
            <a:endParaRPr lang="en-US" altLang="zh-CN" sz="2400" b="0" dirty="0">
              <a:latin typeface="Consolas" panose="020B0609020204030204" pitchFamily="49" charset="0"/>
            </a:endParaRPr>
          </a:p>
          <a:p>
            <a:pPr algn="just" eaLnBrk="1" hangingPunct="1">
              <a:spcBef>
                <a:spcPct val="10000"/>
              </a:spcBef>
              <a:buFontTx/>
              <a:buNone/>
            </a:pPr>
            <a:r>
              <a:rPr lang="en-US" altLang="zh-CN" sz="2400" b="0" dirty="0">
                <a:latin typeface="Consolas" panose="020B0609020204030204" pitchFamily="49" charset="0"/>
              </a:rPr>
              <a:t>   </a:t>
            </a:r>
            <a:r>
              <a:rPr lang="zh-CN" altLang="en-US" sz="2400" b="0" dirty="0">
                <a:latin typeface="Consolas" panose="020B0609020204030204" pitchFamily="49" charset="0"/>
              </a:rPr>
              <a:t>语句块；</a:t>
            </a:r>
            <a:endParaRPr lang="zh-CN" altLang="en-US" sz="2400" b="0" dirty="0">
              <a:latin typeface="Consolas" panose="020B0609020204030204" pitchFamily="49" charset="0"/>
            </a:endParaRPr>
          </a:p>
          <a:p>
            <a:pPr algn="just" eaLnBrk="1" hangingPunct="1">
              <a:spcBef>
                <a:spcPct val="10000"/>
              </a:spcBef>
              <a:buFontTx/>
              <a:buNone/>
            </a:pPr>
            <a:r>
              <a:rPr lang="en-US" altLang="zh-CN" sz="2400" b="0" dirty="0">
                <a:latin typeface="Consolas" panose="020B0609020204030204" pitchFamily="49" charset="0"/>
              </a:rPr>
              <a:t>}</a:t>
            </a:r>
            <a:endParaRPr lang="en-US" altLang="zh-CN" sz="2400" b="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6" grpId="0" bldLvl="0" animBg="1"/>
      <p:bldP spid="172037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函数定义</a:t>
            </a:r>
            <a:endParaRPr lang="zh-CN" altLang="en-US">
              <a:sym typeface="+mn-ea"/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/>
        </p:nvSpPr>
        <p:spPr>
          <a:xfrm>
            <a:off x="2972753" y="945515"/>
            <a:ext cx="6246495" cy="548132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4-11  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函数定义。</a:t>
            </a:r>
            <a:endParaRPr lang="zh-CN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&lt;html&gt;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&lt;head&gt;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&lt;title&gt;</a:t>
            </a:r>
            <a:r>
              <a:rPr lang="zh-CN" altLang="en-US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函数定义示例</a:t>
            </a: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&lt;/title&gt;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function is(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) {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   if(i%2==0)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     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document.write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("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偶数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");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   else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     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document.write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("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奇数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");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}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&lt;/script&gt;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&lt;/head&gt;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&lt;body&gt;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&lt;script&gt;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is(8);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&lt;/script&gt;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&lt;/body&gt;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&lt;/html&gt;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函数调用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 dirty="0">
                <a:sym typeface="+mn-ea"/>
              </a:rPr>
              <a:t>函数调用的方式可以是函数语句、函数表达式和函数参数。</a:t>
            </a:r>
            <a:endParaRPr lang="zh-CN" altLang="en-US" sz="2400" dirty="0"/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 dirty="0">
                <a:sym typeface="+mn-ea"/>
              </a:rPr>
              <a:t>   </a:t>
            </a:r>
            <a:r>
              <a:rPr lang="zh-CN" altLang="en-US" sz="2400" dirty="0">
                <a:solidFill>
                  <a:srgbClr val="D60093"/>
                </a:solidFill>
                <a:sym typeface="+mn-ea"/>
              </a:rPr>
              <a:t>函数语句方式：</a:t>
            </a:r>
            <a:r>
              <a:rPr lang="zh-CN" altLang="en-US" sz="2400" dirty="0">
                <a:sym typeface="+mn-ea"/>
              </a:rPr>
              <a:t>函数名（参数）</a:t>
            </a:r>
            <a:endParaRPr lang="zh-CN" altLang="en-US" sz="2400" dirty="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ym typeface="+mn-ea"/>
              </a:rPr>
              <a:t>                                 例：</a:t>
            </a:r>
            <a:r>
              <a:rPr lang="en-US" altLang="zh-CN" sz="2400" dirty="0">
                <a:sym typeface="+mn-ea"/>
              </a:rPr>
              <a:t>show( )</a:t>
            </a:r>
            <a:r>
              <a:rPr lang="zh-CN" altLang="en-US" sz="2400" dirty="0">
                <a:sym typeface="+mn-ea"/>
              </a:rPr>
              <a:t>。</a:t>
            </a:r>
            <a:endParaRPr lang="zh-CN" altLang="en-US" sz="2400" dirty="0"/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 dirty="0">
                <a:solidFill>
                  <a:srgbClr val="D60093"/>
                </a:solidFill>
                <a:sym typeface="+mn-ea"/>
              </a:rPr>
              <a:t>   函数表达式方式：</a:t>
            </a:r>
            <a:r>
              <a:rPr lang="zh-CN" altLang="en-US" sz="2400" dirty="0">
                <a:sym typeface="+mn-ea"/>
              </a:rPr>
              <a:t>函数充当表达式中的一部分</a:t>
            </a:r>
            <a:endParaRPr lang="zh-CN" altLang="en-US" sz="2400" dirty="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ym typeface="+mn-ea"/>
              </a:rPr>
              <a:t>                                      例：</a:t>
            </a:r>
            <a:r>
              <a:rPr lang="en-US" altLang="zh-CN" sz="2400" dirty="0">
                <a:sym typeface="+mn-ea"/>
              </a:rPr>
              <a:t>x=</a:t>
            </a:r>
            <a:r>
              <a:rPr lang="en-US" altLang="zh-CN" sz="2400" dirty="0" err="1">
                <a:sym typeface="+mn-ea"/>
              </a:rPr>
              <a:t>a</a:t>
            </a:r>
            <a:r>
              <a:rPr lang="en-US" altLang="zh-CN" sz="2400" dirty="0" err="1">
                <a:sym typeface="Symbol" panose="05050102010706020507" pitchFamily="18" charset="2"/>
              </a:rPr>
              <a:t></a:t>
            </a:r>
            <a:r>
              <a:rPr lang="en-US" altLang="zh-CN" sz="2400" dirty="0" err="1">
                <a:sym typeface="+mn-ea"/>
              </a:rPr>
              <a:t>max</a:t>
            </a:r>
            <a:r>
              <a:rPr lang="en-US" altLang="zh-CN" sz="2400" dirty="0">
                <a:sym typeface="+mn-ea"/>
              </a:rPr>
              <a:t>(</a:t>
            </a:r>
            <a:r>
              <a:rPr lang="en-US" altLang="zh-CN" sz="2400" dirty="0" err="1">
                <a:sym typeface="+mn-ea"/>
              </a:rPr>
              <a:t>b,c</a:t>
            </a:r>
            <a:r>
              <a:rPr lang="en-US" altLang="zh-CN" sz="2400" dirty="0">
                <a:sym typeface="+mn-ea"/>
              </a:rPr>
              <a:t>)</a:t>
            </a:r>
            <a:r>
              <a:rPr lang="zh-CN" altLang="en-US" sz="2400" dirty="0">
                <a:sym typeface="+mn-ea"/>
              </a:rPr>
              <a:t>。</a:t>
            </a:r>
            <a:endParaRPr lang="zh-CN" altLang="en-US" sz="2400" dirty="0"/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 dirty="0">
                <a:solidFill>
                  <a:srgbClr val="D60093"/>
                </a:solidFill>
                <a:sym typeface="+mn-ea"/>
              </a:rPr>
              <a:t>   函数参数：</a:t>
            </a:r>
            <a:r>
              <a:rPr lang="zh-CN" altLang="en-US" sz="2400" dirty="0">
                <a:sym typeface="+mn-ea"/>
              </a:rPr>
              <a:t>函数充当一个函数的参数</a:t>
            </a:r>
            <a:endParaRPr lang="zh-CN" altLang="en-US" sz="2400" dirty="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ym typeface="+mn-ea"/>
              </a:rPr>
              <a:t>                         例：</a:t>
            </a:r>
            <a:r>
              <a:rPr lang="en-US" altLang="zh-CN" sz="2400" dirty="0">
                <a:sym typeface="+mn-ea"/>
              </a:rPr>
              <a:t>T=max(max(</a:t>
            </a:r>
            <a:r>
              <a:rPr lang="en-US" altLang="zh-CN" sz="2400" dirty="0" err="1">
                <a:sym typeface="+mn-ea"/>
              </a:rPr>
              <a:t>a,b</a:t>
            </a:r>
            <a:r>
              <a:rPr lang="en-US" altLang="zh-CN" sz="2400" dirty="0">
                <a:sym typeface="+mn-ea"/>
              </a:rPr>
              <a:t>),c)</a:t>
            </a:r>
            <a:r>
              <a:rPr lang="zh-CN" altLang="en-US" sz="2400" dirty="0">
                <a:sym typeface="+mn-ea"/>
              </a:rPr>
              <a:t>。</a:t>
            </a:r>
            <a:endParaRPr lang="zh-CN" altLang="en-US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函数调用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/>
        </p:nvSpPr>
        <p:spPr>
          <a:xfrm>
            <a:off x="2628900" y="799465"/>
            <a:ext cx="6934200" cy="562102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4-12  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函数调用。</a:t>
            </a:r>
            <a:endParaRPr lang="zh-CN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&lt;html&gt;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&lt;head&gt;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&lt;title&gt;</a:t>
            </a:r>
            <a:r>
              <a:rPr lang="zh-CN" altLang="en-US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函数调用示例</a:t>
            </a: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&lt;/title&gt;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   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function f1(y){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      document.write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("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函数调用举例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!&lt;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br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&gt;" + y+"&lt;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br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&gt;")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   }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   function f2(y){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      var x = y * y;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      return x;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   } 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   function max(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a,b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){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      var 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      if (a&gt;b)   t=a;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  else         t=b;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  return 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   }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&lt;/script&gt;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&lt;/head&gt;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函数调用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/>
        </p:nvSpPr>
        <p:spPr>
          <a:xfrm>
            <a:off x="2670810" y="1036638"/>
            <a:ext cx="6850380" cy="4784725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4-12  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函数调用（续）。</a:t>
            </a:r>
            <a:endParaRPr lang="zh-CN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&lt;body&gt;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&lt;script&gt;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f1(2004);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	m=f2(3)*f2(3);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	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document.write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(m +"&lt;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br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&gt;");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	n=max(10,max(20,9));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	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document.write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(n +"&lt;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br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&gt;");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&lt;/script&gt;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&lt;/body&gt;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&lt;/html&gt;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匿名函数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algn="just">
              <a:spcBef>
                <a:spcPct val="0"/>
              </a:spcBef>
              <a:buNone/>
            </a:pP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//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普通函数，函数的名字叫</a:t>
            </a:r>
            <a:r>
              <a:rPr lang="en-US" altLang="zh-CN" sz="2400" dirty="0" err="1">
                <a:cs typeface="Times New Roman" panose="02020603050405020304" pitchFamily="18" charset="0"/>
                <a:sym typeface="+mn-ea"/>
              </a:rPr>
              <a:t>fn</a:t>
            </a:r>
            <a:endParaRPr lang="en-US" altLang="zh-CN" sz="2400" kern="1200" dirty="0"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function </a:t>
            </a:r>
            <a:r>
              <a:rPr lang="en-US" altLang="zh-CN" sz="2400" dirty="0" err="1">
                <a:cs typeface="Times New Roman" panose="02020603050405020304" pitchFamily="18" charset="0"/>
                <a:sym typeface="+mn-ea"/>
              </a:rPr>
              <a:t>fn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(){</a:t>
            </a:r>
            <a:endParaRPr lang="en-US" altLang="zh-CN" sz="2400" kern="1200" dirty="0"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    console.log(“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普通函数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");</a:t>
            </a:r>
            <a:endParaRPr lang="en-US" altLang="zh-CN" sz="2400" kern="1200" dirty="0"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2400" kern="1200" dirty="0"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  <a:p>
            <a:pPr marL="342900" indent="-342900" algn="just" eaLnBrk="0" hangingPunct="0"/>
            <a:r>
              <a:rPr lang="en-US" altLang="zh-CN" sz="2400" dirty="0">
                <a:ea typeface="+mn-ea"/>
                <a:cs typeface="Times New Roman" panose="02020603050405020304" pitchFamily="18" charset="0"/>
                <a:sym typeface="+mn-ea"/>
              </a:rPr>
              <a:t>//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  <a:sym typeface="+mn-ea"/>
              </a:rPr>
              <a:t>匿名函数</a:t>
            </a:r>
            <a:endParaRPr lang="en-US" altLang="zh-CN" sz="2400" dirty="0">
              <a:ea typeface="+mn-ea"/>
              <a:cs typeface="Times New Roman" panose="02020603050405020304" pitchFamily="18" charset="0"/>
            </a:endParaRPr>
          </a:p>
          <a:p>
            <a:pPr marL="342900" indent="-342900" algn="just" eaLnBrk="0" hangingPunct="0"/>
            <a:r>
              <a:rPr lang="en-US" altLang="zh-CN" sz="2400" dirty="0">
                <a:ea typeface="+mn-ea"/>
                <a:cs typeface="Times New Roman" panose="02020603050405020304" pitchFamily="18" charset="0"/>
                <a:sym typeface="+mn-ea"/>
              </a:rPr>
              <a:t>var </a:t>
            </a:r>
            <a:r>
              <a:rPr lang="en-US" altLang="zh-CN" sz="2400" dirty="0" err="1">
                <a:ea typeface="+mn-ea"/>
                <a:cs typeface="Times New Roman" panose="02020603050405020304" pitchFamily="18" charset="0"/>
                <a:sym typeface="+mn-ea"/>
              </a:rPr>
              <a:t>fn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  <a:sym typeface="+mn-ea"/>
              </a:rPr>
              <a:t> = function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  <a:sym typeface="+mn-ea"/>
              </a:rPr>
              <a:t>() {</a:t>
            </a:r>
            <a:endParaRPr lang="en-US" altLang="zh-CN" sz="2400" dirty="0">
              <a:ea typeface="+mn-ea"/>
              <a:cs typeface="Times New Roman" panose="02020603050405020304" pitchFamily="18" charset="0"/>
            </a:endParaRPr>
          </a:p>
          <a:p>
            <a:pPr marL="342900" indent="-342900" algn="just" eaLnBrk="0" hangingPunct="0"/>
            <a:r>
              <a:rPr lang="en-US" altLang="zh-CN" sz="2400" dirty="0">
                <a:ea typeface="+mn-ea"/>
                <a:cs typeface="Times New Roman" panose="02020603050405020304" pitchFamily="18" charset="0"/>
                <a:sym typeface="+mn-ea"/>
              </a:rPr>
              <a:t>  console.log("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  <a:sym typeface="+mn-ea"/>
              </a:rPr>
              <a:t>匿名函数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  <a:sym typeface="+mn-ea"/>
              </a:rPr>
              <a:t>");</a:t>
            </a:r>
            <a:endParaRPr lang="en-US" altLang="zh-CN" sz="2400" dirty="0">
              <a:ea typeface="+mn-ea"/>
              <a:cs typeface="Times New Roman" panose="02020603050405020304" pitchFamily="18" charset="0"/>
            </a:endParaRPr>
          </a:p>
          <a:p>
            <a:pPr marL="342900" indent="-342900" algn="just" eaLnBrk="0" hangingPunct="0"/>
            <a:r>
              <a:rPr lang="en-US" altLang="zh-CN" sz="2400" dirty="0">
                <a:ea typeface="+mn-ea"/>
                <a:cs typeface="Times New Roman" panose="02020603050405020304" pitchFamily="18" charset="0"/>
                <a:sym typeface="+mn-ea"/>
              </a:rPr>
              <a:t>}</a:t>
            </a:r>
            <a:endParaRPr lang="zh-CN" altLang="en-US" sz="2400" dirty="0">
              <a:ea typeface="+mn-ea"/>
              <a:cs typeface="Times New Roman" panose="02020603050405020304" pitchFamily="18" charset="0"/>
            </a:endParaRPr>
          </a:p>
          <a:p>
            <a:pPr marL="342900" indent="-342900" algn="just" eaLnBrk="0" hangingPunct="0"/>
            <a:r>
              <a:rPr lang="en-US" altLang="zh-CN" sz="2400" dirty="0" err="1">
                <a:ea typeface="+mn-ea"/>
                <a:cs typeface="Times New Roman" panose="02020603050405020304" pitchFamily="18" charset="0"/>
                <a:sym typeface="+mn-ea"/>
              </a:rPr>
              <a:t>fn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  <a:sym typeface="+mn-ea"/>
              </a:rPr>
              <a:t>();</a:t>
            </a:r>
            <a:endParaRPr lang="zh-CN" altLang="en-US" sz="2400" dirty="0">
              <a:ea typeface="+mn-ea"/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匿名函数作为事件回调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marL="342900" indent="-342900" algn="just"/>
            <a:r>
              <a:rPr lang="en-US" altLang="zh-CN" sz="2400" dirty="0">
                <a:ea typeface="+mn-ea"/>
                <a:cs typeface="Times New Roman" panose="02020603050405020304" pitchFamily="18" charset="0"/>
                <a:sym typeface="+mn-ea"/>
              </a:rPr>
              <a:t>var btn1 = </a:t>
            </a:r>
            <a:r>
              <a:rPr lang="en-US" altLang="zh-CN" sz="2400" dirty="0" err="1">
                <a:ea typeface="+mn-ea"/>
                <a:cs typeface="Times New Roman" panose="02020603050405020304" pitchFamily="18" charset="0"/>
                <a:sym typeface="+mn-ea"/>
              </a:rPr>
              <a:t>document.getElementById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  <a:sym typeface="+mn-ea"/>
              </a:rPr>
              <a:t>(‘btn1’);</a:t>
            </a:r>
            <a:endParaRPr lang="en-US" altLang="zh-CN" sz="2400" dirty="0">
              <a:ea typeface="+mn-ea"/>
              <a:cs typeface="Times New Roman" panose="02020603050405020304" pitchFamily="18" charset="0"/>
            </a:endParaRPr>
          </a:p>
          <a:p>
            <a:pPr marL="342900" indent="-342900" algn="just"/>
            <a:r>
              <a:rPr lang="en-US" altLang="zh-CN" sz="2400" dirty="0">
                <a:ea typeface="+mn-ea"/>
                <a:cs typeface="Times New Roman" panose="02020603050405020304" pitchFamily="18" charset="0"/>
                <a:sym typeface="+mn-ea"/>
              </a:rPr>
              <a:t>btn1.onclick = function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  <a:sym typeface="+mn-ea"/>
              </a:rPr>
              <a:t>() {</a:t>
            </a:r>
            <a:endParaRPr lang="en-US" altLang="zh-CN" sz="2400" dirty="0">
              <a:ea typeface="+mn-ea"/>
              <a:cs typeface="Times New Roman" panose="02020603050405020304" pitchFamily="18" charset="0"/>
            </a:endParaRPr>
          </a:p>
          <a:p>
            <a:pPr marL="342900" indent="-342900" algn="just"/>
            <a:r>
              <a:rPr lang="en-US" altLang="zh-CN" sz="2400" dirty="0">
                <a:ea typeface="+mn-ea"/>
                <a:cs typeface="Times New Roman" panose="02020603050405020304" pitchFamily="18" charset="0"/>
                <a:sym typeface="+mn-ea"/>
              </a:rPr>
              <a:t>  console.log("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  <a:sym typeface="+mn-ea"/>
              </a:rPr>
              <a:t>匿名函数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  <a:sym typeface="+mn-ea"/>
              </a:rPr>
              <a:t>");</a:t>
            </a:r>
            <a:endParaRPr lang="en-US" altLang="zh-CN" sz="2400" dirty="0">
              <a:ea typeface="+mn-ea"/>
              <a:cs typeface="Times New Roman" panose="02020603050405020304" pitchFamily="18" charset="0"/>
            </a:endParaRPr>
          </a:p>
          <a:p>
            <a:pPr marL="342900" indent="-342900" algn="just"/>
            <a:r>
              <a:rPr lang="en-US" altLang="zh-CN" sz="2400" dirty="0">
                <a:ea typeface="+mn-ea"/>
                <a:cs typeface="Times New Roman" panose="02020603050405020304" pitchFamily="18" charset="0"/>
                <a:sym typeface="+mn-ea"/>
              </a:rPr>
              <a:t>}</a:t>
            </a:r>
            <a:endParaRPr lang="zh-CN" altLang="en-US" sz="2400" dirty="0">
              <a:ea typeface="+mn-ea"/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例：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anonymous-function.html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JavaScript的常用函数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en-US" altLang="zh-CN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1. eval()</a:t>
            </a:r>
            <a:r>
              <a:rPr lang="zh-CN" altLang="en-US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函数</a:t>
            </a:r>
            <a:endParaRPr lang="zh-CN" altLang="en-US" sz="2400" dirty="0">
              <a:solidFill>
                <a:srgbClr val="D60093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    eval()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函数，参数为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String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类型文本。主要功能是计算某个字符串，并执行其中的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JavaScript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代码。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290820" name="Rectangle 4"/>
          <p:cNvSpPr>
            <a:spLocks noChangeArrowheads="1"/>
          </p:cNvSpPr>
          <p:nvPr/>
        </p:nvSpPr>
        <p:spPr bwMode="auto">
          <a:xfrm>
            <a:off x="2315580" y="2439013"/>
            <a:ext cx="7560840" cy="3095625"/>
          </a:xfrm>
          <a:prstGeom prst="rect">
            <a:avLst/>
          </a:prstGeom>
          <a:noFill/>
          <a:ln w="25400">
            <a:solidFill>
              <a:srgbClr val="FFCC99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5125" indent="-365125"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zh-CN" altLang="en-US" sz="2400" dirty="0"/>
              <a:t>例如：</a:t>
            </a:r>
            <a:endParaRPr lang="zh-CN" altLang="en-US" sz="2400" dirty="0"/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/>
              <a:t>&lt;script&gt;</a:t>
            </a:r>
            <a:endParaRPr lang="en-US" altLang="zh-CN" sz="2400" dirty="0"/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/>
              <a:t>var </a:t>
            </a:r>
            <a:r>
              <a:rPr lang="en-US" altLang="zh-CN" sz="2400" dirty="0" err="1"/>
              <a:t>iNumber</a:t>
            </a:r>
            <a:r>
              <a:rPr lang="en-US" altLang="zh-CN" sz="2400" dirty="0"/>
              <a:t>=“100”;</a:t>
            </a:r>
            <a:endParaRPr lang="en-US" altLang="zh-CN" sz="2400" dirty="0"/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/>
              <a:t>var </a:t>
            </a:r>
            <a:r>
              <a:rPr lang="en-US" altLang="zh-CN" sz="2400" dirty="0" err="1"/>
              <a:t>anExpression</a:t>
            </a:r>
            <a:r>
              <a:rPr lang="en-US" altLang="zh-CN" sz="2400" dirty="0"/>
              <a:t>=“(16*9%7)”;</a:t>
            </a:r>
            <a:endParaRPr lang="en-US" altLang="zh-CN" sz="2400" dirty="0"/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/>
              <a:t>var total=eval(</a:t>
            </a:r>
            <a:r>
              <a:rPr lang="en-US" altLang="zh-CN" sz="2400" dirty="0" err="1"/>
              <a:t>anExpression</a:t>
            </a:r>
            <a:r>
              <a:rPr lang="en-US" altLang="zh-CN" sz="2400" dirty="0"/>
              <a:t>+“/”+</a:t>
            </a:r>
            <a:r>
              <a:rPr lang="en-US" altLang="zh-CN" sz="2400" dirty="0" err="1"/>
              <a:t>iNumber</a:t>
            </a:r>
            <a:r>
              <a:rPr lang="en-US" altLang="zh-CN" sz="2400" dirty="0"/>
              <a:t>);</a:t>
            </a:r>
            <a:endParaRPr lang="en-US" altLang="zh-CN" sz="2400" dirty="0"/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/>
              <a:t>alert(total); //</a:t>
            </a:r>
            <a:r>
              <a:rPr lang="zh-CN" altLang="en-US" sz="2400" dirty="0"/>
              <a:t>变量</a:t>
            </a:r>
            <a:r>
              <a:rPr lang="en-US" altLang="zh-CN" sz="2400" dirty="0"/>
              <a:t>total</a:t>
            </a:r>
            <a:r>
              <a:rPr lang="zh-CN" altLang="en-US" sz="2400" dirty="0"/>
              <a:t>得值为</a:t>
            </a:r>
            <a:r>
              <a:rPr lang="en-US" altLang="zh-CN" sz="2400" dirty="0"/>
              <a:t>0.04</a:t>
            </a:r>
            <a:endParaRPr lang="en-US" altLang="zh-CN" sz="2400" dirty="0"/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/>
              <a:t>&lt;/script&gt;</a:t>
            </a:r>
            <a:endParaRPr lang="en-US" altLang="zh-CN" sz="2400" dirty="0"/>
          </a:p>
        </p:txBody>
      </p:sp>
      <p:sp>
        <p:nvSpPr>
          <p:cNvPr id="290821" name="AutoShape 5"/>
          <p:cNvSpPr>
            <a:spLocks noChangeArrowheads="1"/>
          </p:cNvSpPr>
          <p:nvPr/>
        </p:nvSpPr>
        <p:spPr bwMode="auto">
          <a:xfrm>
            <a:off x="7026260" y="2439036"/>
            <a:ext cx="3096593" cy="1152525"/>
          </a:xfrm>
          <a:prstGeom prst="cloudCallout">
            <a:avLst>
              <a:gd name="adj1" fmla="val -55042"/>
              <a:gd name="adj2" fmla="val 76722"/>
            </a:avLst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dirty="0"/>
              <a:t>等同于求</a:t>
            </a:r>
            <a:endParaRPr kumimoji="1" lang="zh-CN" altLang="en-US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dirty="0"/>
              <a:t>(16*9%7)/100</a:t>
            </a:r>
            <a:endParaRPr kumimoji="1"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0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290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20" grpId="0" bldLvl="0" animBg="1"/>
      <p:bldP spid="290821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JavaScript的常用函数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2. </a:t>
            </a:r>
            <a:r>
              <a:rPr lang="en-US" altLang="zh-CN" sz="2400" dirty="0" err="1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parseInt</a:t>
            </a:r>
            <a:r>
              <a:rPr lang="en-US" altLang="zh-CN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()</a:t>
            </a:r>
            <a:r>
              <a:rPr lang="zh-CN" altLang="en-US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函数和</a:t>
            </a:r>
            <a:r>
              <a:rPr lang="en-US" altLang="zh-CN" sz="2400" dirty="0" err="1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parseFloat</a:t>
            </a:r>
            <a:r>
              <a:rPr lang="en-US" altLang="zh-CN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()</a:t>
            </a:r>
            <a:r>
              <a:rPr lang="zh-CN" altLang="en-US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函数</a:t>
            </a:r>
            <a:endParaRPr sz="2400" dirty="0"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parseInt()函数功能是从一个字符串中提出一个整数，如果遇到字符串中除了数字以外的字符，parseInt()就停止转换，返回已有的结果。</a:t>
            </a:r>
            <a:endParaRPr sz="2400" dirty="0"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如果第一个字符不是数字，parseInt()就返回“NaN”值。</a:t>
            </a:r>
            <a:endParaRPr sz="2400" dirty="0">
              <a:cs typeface="Times New Roman" panose="02020603050405020304" pitchFamily="18" charset="0"/>
              <a:sym typeface="+mn-ea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     语法：parseInt(string, [radix])</a:t>
            </a:r>
            <a:endParaRPr sz="2400" dirty="0"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8179" name="Rectangle 3"/>
          <p:cNvSpPr>
            <a:spLocks noChangeArrowheads="1"/>
          </p:cNvSpPr>
          <p:nvPr/>
        </p:nvSpPr>
        <p:spPr bwMode="auto">
          <a:xfrm>
            <a:off x="2819400" y="3649588"/>
            <a:ext cx="6553200" cy="1296988"/>
          </a:xfrm>
          <a:prstGeom prst="rect">
            <a:avLst/>
          </a:prstGeom>
          <a:noFill/>
          <a:ln w="25400">
            <a:solidFill>
              <a:srgbClr val="FF66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5125" indent="-365125"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None/>
            </a:pPr>
            <a:r>
              <a:rPr lang="zh-CN" altLang="en-US" sz="2400" dirty="0"/>
              <a:t>例如：</a:t>
            </a:r>
            <a:r>
              <a:rPr lang="en-US" altLang="zh-CN" sz="2400" dirty="0"/>
              <a:t>var num1=</a:t>
            </a:r>
            <a:r>
              <a:rPr lang="en-US" altLang="zh-CN" sz="2400" dirty="0" err="1"/>
              <a:t>parseInt</a:t>
            </a:r>
            <a:r>
              <a:rPr lang="en-US" altLang="zh-CN" sz="2400" dirty="0"/>
              <a:t>(“12ab23c”);</a:t>
            </a:r>
            <a:endParaRPr lang="en-US" altLang="zh-CN" sz="2400" dirty="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None/>
            </a:pPr>
            <a:r>
              <a:rPr lang="en-US" altLang="zh-CN" sz="2400" dirty="0"/>
              <a:t>            var num2=</a:t>
            </a:r>
            <a:r>
              <a:rPr lang="en-US" altLang="zh-CN" sz="2400" dirty="0" err="1"/>
              <a:t>parseInt</a:t>
            </a:r>
            <a:r>
              <a:rPr lang="en-US" altLang="zh-CN" sz="2400" dirty="0"/>
              <a:t>(“</a:t>
            </a:r>
            <a:r>
              <a:rPr lang="en-US" altLang="zh-CN" sz="2400" dirty="0" err="1"/>
              <a:t>abc</a:t>
            </a:r>
            <a:r>
              <a:rPr lang="en-US" altLang="zh-CN" sz="2400" dirty="0"/>
              <a:t>”);</a:t>
            </a:r>
            <a:endParaRPr lang="en-US" altLang="zh-CN" sz="2400" dirty="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None/>
            </a:pPr>
            <a:r>
              <a:rPr lang="en-US" altLang="zh-CN" sz="2400" dirty="0"/>
              <a:t>            var num3=</a:t>
            </a:r>
            <a:r>
              <a:rPr lang="en-US" altLang="zh-CN" sz="2400" dirty="0" err="1"/>
              <a:t>parseInt</a:t>
            </a:r>
            <a:r>
              <a:rPr lang="en-US" altLang="zh-CN" sz="2400" dirty="0"/>
              <a:t>(“17”,8);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500"/>
                                        <p:tgtEl>
                                          <p:spTgt spid="17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9" grpId="0" bldLvl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JavaScript的常用函数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2. </a:t>
            </a:r>
            <a:r>
              <a:rPr lang="en-US" altLang="zh-CN" sz="2400" dirty="0" err="1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parseInt</a:t>
            </a:r>
            <a:r>
              <a:rPr lang="en-US" altLang="zh-CN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()</a:t>
            </a:r>
            <a:r>
              <a:rPr lang="zh-CN" altLang="en-US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函数和</a:t>
            </a:r>
            <a:r>
              <a:rPr lang="en-US" altLang="zh-CN" sz="2400" dirty="0" err="1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parseFloat</a:t>
            </a:r>
            <a:r>
              <a:rPr lang="en-US" altLang="zh-CN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()</a:t>
            </a:r>
            <a:r>
              <a:rPr lang="zh-CN" altLang="en-US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函数</a:t>
            </a:r>
            <a:endParaRPr sz="2400" dirty="0"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parseFloat()可以解析一个字符串，并返回一个浮点数。</a:t>
            </a:r>
            <a:endParaRPr sz="2400" dirty="0">
              <a:cs typeface="Times New Roman" panose="02020603050405020304" pitchFamily="18" charset="0"/>
              <a:sym typeface="+mn-ea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     语法：parseFloat(string)</a:t>
            </a:r>
            <a:endParaRPr sz="2400" dirty="0"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92867" name="Rectangle 3"/>
          <p:cNvSpPr>
            <a:spLocks noChangeArrowheads="1"/>
          </p:cNvSpPr>
          <p:nvPr/>
        </p:nvSpPr>
        <p:spPr bwMode="auto">
          <a:xfrm>
            <a:off x="2819400" y="2671764"/>
            <a:ext cx="6553200" cy="1800225"/>
          </a:xfrm>
          <a:prstGeom prst="rect">
            <a:avLst/>
          </a:prstGeom>
          <a:noFill/>
          <a:ln w="25400">
            <a:solidFill>
              <a:srgbClr val="FF66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5125" indent="-365125"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None/>
            </a:pPr>
            <a:r>
              <a:rPr lang="zh-CN" altLang="en-US" sz="2400"/>
              <a:t>例如：</a:t>
            </a:r>
            <a:r>
              <a:rPr lang="en-US" altLang="zh-CN" sz="2400"/>
              <a:t>var fnum1=parseFloat(“-123blue”);</a:t>
            </a:r>
            <a:endParaRPr lang="en-US" altLang="zh-CN" sz="240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None/>
            </a:pPr>
            <a:r>
              <a:rPr lang="en-US" altLang="zh-CN" sz="2400"/>
              <a:t>            var fnum2=parseFloat(“22.5.34”);</a:t>
            </a:r>
            <a:endParaRPr lang="en-US" altLang="zh-CN" sz="240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None/>
            </a:pPr>
            <a:r>
              <a:rPr lang="en-US" altLang="zh-CN" sz="2400"/>
              <a:t>            var fnum3=parseFloat(“abc”);</a:t>
            </a:r>
            <a:endParaRPr lang="en-US" altLang="zh-CN" sz="240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None/>
            </a:pPr>
            <a:r>
              <a:rPr lang="en-US" altLang="zh-CN" sz="2400"/>
              <a:t>            var fnum4=parseFloat(“2e3</a:t>
            </a:r>
            <a:r>
              <a:rPr lang="zh-CN" altLang="en-US" sz="2400"/>
              <a:t>”</a:t>
            </a:r>
            <a:r>
              <a:rPr lang="en-US" altLang="zh-CN" sz="2400"/>
              <a:t>);</a:t>
            </a:r>
            <a:endParaRPr lang="en-US" altLang="zh-CN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500"/>
                                        <p:tgtEl>
                                          <p:spTgt spid="292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67" grpId="0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JavaScript的常用函数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3. </a:t>
            </a:r>
            <a:r>
              <a:rPr lang="en-US" altLang="zh-CN" sz="2400" dirty="0" err="1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isNaN</a:t>
            </a:r>
            <a:r>
              <a:rPr lang="en-US" altLang="zh-CN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()</a:t>
            </a:r>
            <a:r>
              <a:rPr lang="zh-CN" altLang="en-US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函数和</a:t>
            </a:r>
            <a:r>
              <a:rPr lang="en-US" altLang="zh-CN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Number()</a:t>
            </a:r>
            <a:r>
              <a:rPr lang="zh-CN" altLang="en-US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函数</a:t>
            </a:r>
            <a:endParaRPr lang="zh-CN" altLang="en-US" sz="2400" dirty="0">
              <a:solidFill>
                <a:srgbClr val="D60093"/>
              </a:solidFill>
              <a:cs typeface="Times New Roman" panose="02020603050405020304" pitchFamily="18" charset="0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isNaN()函数，参数无限制，主要功能是用于检查其参数是否是非数字值。</a:t>
            </a:r>
            <a:endParaRPr sz="2400" dirty="0"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85699" name="Rectangle 3"/>
          <p:cNvSpPr>
            <a:spLocks noChangeArrowheads="1"/>
          </p:cNvSpPr>
          <p:nvPr/>
        </p:nvSpPr>
        <p:spPr bwMode="auto">
          <a:xfrm>
            <a:off x="2819400" y="2209801"/>
            <a:ext cx="6553200" cy="1800225"/>
          </a:xfrm>
          <a:prstGeom prst="rect">
            <a:avLst/>
          </a:prstGeom>
          <a:noFill/>
          <a:ln w="25400">
            <a:solidFill>
              <a:srgbClr val="FF66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5125" indent="-365125"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None/>
            </a:pPr>
            <a:r>
              <a:rPr lang="zh-CN" altLang="en-US" sz="2400"/>
              <a:t>例如：</a:t>
            </a:r>
            <a:r>
              <a:rPr lang="en-US" altLang="zh-CN" sz="2400"/>
              <a:t>isNaN(12)    ----</a:t>
            </a:r>
            <a:r>
              <a:rPr lang="zh-CN" altLang="en-US" sz="2400"/>
              <a:t>返回</a:t>
            </a:r>
            <a:r>
              <a:rPr lang="en-US" altLang="zh-CN" sz="2400"/>
              <a:t>false</a:t>
            </a:r>
            <a:endParaRPr lang="en-US" altLang="zh-CN" sz="240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None/>
            </a:pPr>
            <a:r>
              <a:rPr lang="en-US" altLang="zh-CN" sz="2400"/>
              <a:t>            isNaN(0)     ----</a:t>
            </a:r>
            <a:r>
              <a:rPr lang="zh-CN" altLang="en-US" sz="2400"/>
              <a:t>返回</a:t>
            </a:r>
            <a:r>
              <a:rPr lang="en-US" altLang="zh-CN" sz="2400"/>
              <a:t>false</a:t>
            </a:r>
            <a:endParaRPr lang="en-US" altLang="zh-CN" sz="240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None/>
            </a:pPr>
            <a:r>
              <a:rPr lang="en-US" altLang="zh-CN" sz="2400"/>
              <a:t>            isNaN(“</a:t>
            </a:r>
            <a:r>
              <a:rPr lang="zh-CN" altLang="en-US" sz="2400"/>
              <a:t>请认真听课”</a:t>
            </a:r>
            <a:r>
              <a:rPr lang="en-US" altLang="zh-CN" sz="2400"/>
              <a:t>)  ---</a:t>
            </a:r>
            <a:r>
              <a:rPr lang="zh-CN" altLang="en-US" sz="2400"/>
              <a:t>返回</a:t>
            </a:r>
            <a:r>
              <a:rPr lang="en-US" altLang="zh-CN" sz="2400"/>
              <a:t>true</a:t>
            </a:r>
            <a:endParaRPr lang="en-US" altLang="zh-CN" sz="240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None/>
            </a:pPr>
            <a:r>
              <a:rPr lang="en-US" altLang="zh-CN" sz="2400"/>
              <a:t>            isNaN(“100”)  ---</a:t>
            </a:r>
            <a:r>
              <a:rPr lang="zh-CN" altLang="en-US" sz="2400"/>
              <a:t>返回</a:t>
            </a:r>
            <a:r>
              <a:rPr lang="en-US" altLang="zh-CN" sz="2400"/>
              <a:t>true</a:t>
            </a:r>
            <a:endParaRPr lang="en-US" altLang="zh-CN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500"/>
                                        <p:tgtEl>
                                          <p:spTgt spid="285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699" grpId="0" bldLvl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JavaScript的常用函数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3. </a:t>
            </a:r>
            <a:r>
              <a:rPr lang="en-US" altLang="zh-CN" sz="2400" dirty="0" err="1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isNaN</a:t>
            </a:r>
            <a:r>
              <a:rPr lang="en-US" altLang="zh-CN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()</a:t>
            </a:r>
            <a:r>
              <a:rPr lang="zh-CN" altLang="en-US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函数和</a:t>
            </a:r>
            <a:r>
              <a:rPr lang="en-US" altLang="zh-CN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Number()</a:t>
            </a:r>
            <a:r>
              <a:rPr lang="zh-CN" altLang="en-US" sz="2400" dirty="0">
                <a:solidFill>
                  <a:srgbClr val="D60093"/>
                </a:solidFill>
                <a:cs typeface="Times New Roman" panose="02020603050405020304" pitchFamily="18" charset="0"/>
                <a:sym typeface="+mn-ea"/>
              </a:rPr>
              <a:t>函数</a:t>
            </a:r>
            <a:endParaRPr lang="zh-CN" altLang="en-US" sz="2400" dirty="0">
              <a:solidFill>
                <a:srgbClr val="D60093"/>
              </a:solidFill>
              <a:cs typeface="Times New Roman" panose="02020603050405020304" pitchFamily="18" charset="0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Number()函数，参数无限制，主要功能是把对象的值转换为数字。若对象无法转换为数字，那么返回NaN。 </a:t>
            </a:r>
            <a:endParaRPr sz="2400" dirty="0">
              <a:cs typeface="Times New Roman" panose="02020603050405020304" pitchFamily="18" charset="0"/>
              <a:sym typeface="+mn-ea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     语法：Number(object)</a:t>
            </a:r>
            <a:endParaRPr sz="2400" dirty="0"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93891" name="Rectangle 3"/>
          <p:cNvSpPr>
            <a:spLocks noChangeArrowheads="1"/>
          </p:cNvSpPr>
          <p:nvPr/>
        </p:nvSpPr>
        <p:spPr bwMode="auto">
          <a:xfrm>
            <a:off x="5375910" y="2079625"/>
            <a:ext cx="5770880" cy="4176395"/>
          </a:xfrm>
          <a:prstGeom prst="rect">
            <a:avLst/>
          </a:prstGeom>
          <a:noFill/>
          <a:ln w="25400">
            <a:solidFill>
              <a:srgbClr val="FF66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5125" indent="-365125"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None/>
            </a:pPr>
            <a:r>
              <a:rPr lang="zh-CN" altLang="en-US" sz="2400"/>
              <a:t>例如：</a:t>
            </a:r>
            <a:r>
              <a:rPr lang="en-US" altLang="zh-CN" sz="2400"/>
              <a:t>var test1=new Boolean(true);</a:t>
            </a:r>
            <a:endParaRPr lang="en-US" altLang="zh-CN" sz="240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None/>
            </a:pPr>
            <a:r>
              <a:rPr lang="en-US" altLang="zh-CN" sz="2400"/>
              <a:t>            var test2=new Boolean(false);</a:t>
            </a:r>
            <a:endParaRPr lang="en-US" altLang="zh-CN" sz="240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None/>
            </a:pPr>
            <a:r>
              <a:rPr lang="en-US" altLang="zh-CN" sz="2400"/>
              <a:t>            var test3=new Date();</a:t>
            </a:r>
            <a:endParaRPr lang="en-US" altLang="zh-CN" sz="240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None/>
            </a:pPr>
            <a:r>
              <a:rPr lang="en-US" altLang="zh-CN" sz="2400"/>
              <a:t>            var test4=new String(“999.44”);</a:t>
            </a:r>
            <a:endParaRPr lang="en-US" altLang="zh-CN" sz="240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None/>
            </a:pPr>
            <a:r>
              <a:rPr lang="en-US" altLang="zh-CN" sz="2400"/>
              <a:t>            var test5=new String(“999 888”);</a:t>
            </a:r>
            <a:endParaRPr lang="en-US" altLang="zh-CN" sz="240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None/>
            </a:pPr>
            <a:r>
              <a:rPr lang="en-US" altLang="zh-CN" sz="2400"/>
              <a:t>            document.write(Number(test1));</a:t>
            </a:r>
            <a:endParaRPr lang="en-US" altLang="zh-CN" sz="240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None/>
            </a:pPr>
            <a:r>
              <a:rPr lang="en-US" altLang="zh-CN" sz="2400"/>
              <a:t>            document.write(Number(test2));</a:t>
            </a:r>
            <a:endParaRPr lang="en-US" altLang="zh-CN" sz="240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None/>
            </a:pPr>
            <a:r>
              <a:rPr lang="en-US" altLang="zh-CN" sz="2400"/>
              <a:t>            document.write(Number(test3));</a:t>
            </a:r>
            <a:endParaRPr lang="en-US" altLang="zh-CN" sz="240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None/>
            </a:pPr>
            <a:r>
              <a:rPr lang="en-US" altLang="zh-CN" sz="2400"/>
              <a:t>            document.write(Number(test4));</a:t>
            </a:r>
            <a:endParaRPr lang="en-US" altLang="zh-CN" sz="240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None/>
            </a:pPr>
            <a:r>
              <a:rPr lang="en-US" altLang="zh-CN" sz="2400"/>
              <a:t>            document.write(Number(test5));</a:t>
            </a:r>
            <a:endParaRPr lang="en-US" altLang="zh-CN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500"/>
                                        <p:tgtEl>
                                          <p:spTgt spid="29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1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CC"/>
                </a:solidFill>
                <a:ea typeface="隶书" panose="02010509060101010101" pitchFamily="49" charset="-122"/>
                <a:sym typeface="+mn-ea"/>
              </a:rPr>
              <a:t>思考：函数</a:t>
            </a:r>
            <a:r>
              <a:rPr lang="en-US" altLang="zh-CN" dirty="0">
                <a:solidFill>
                  <a:srgbClr val="0000CC"/>
                </a:solidFill>
                <a:ea typeface="隶书" panose="02010509060101010101" pitchFamily="49" charset="-122"/>
                <a:sym typeface="+mn-ea"/>
              </a:rPr>
              <a:t>Number()</a:t>
            </a:r>
            <a:r>
              <a:rPr lang="zh-CN" altLang="en-US" dirty="0">
                <a:solidFill>
                  <a:srgbClr val="0000CC"/>
                </a:solidFill>
                <a:ea typeface="隶书" panose="02010509060101010101" pitchFamily="49" charset="-122"/>
                <a:sym typeface="+mn-ea"/>
              </a:rPr>
              <a:t>和</a:t>
            </a:r>
            <a:r>
              <a:rPr lang="en-US" altLang="zh-CN" dirty="0" err="1">
                <a:solidFill>
                  <a:srgbClr val="0000CC"/>
                </a:solidFill>
                <a:ea typeface="隶书" panose="02010509060101010101" pitchFamily="49" charset="-122"/>
                <a:sym typeface="+mn-ea"/>
              </a:rPr>
              <a:t>parseInt</a:t>
            </a:r>
            <a:r>
              <a:rPr lang="en-US" altLang="zh-CN" dirty="0">
                <a:solidFill>
                  <a:srgbClr val="0000CC"/>
                </a:solidFill>
                <a:ea typeface="隶书" panose="02010509060101010101" pitchFamily="49" charset="-122"/>
                <a:sym typeface="+mn-ea"/>
              </a:rPr>
              <a:t>()</a:t>
            </a:r>
            <a:r>
              <a:rPr lang="zh-CN" altLang="en-US" dirty="0">
                <a:solidFill>
                  <a:srgbClr val="0000CC"/>
                </a:solidFill>
                <a:ea typeface="隶书" panose="02010509060101010101" pitchFamily="49" charset="-122"/>
                <a:sym typeface="+mn-ea"/>
              </a:rPr>
              <a:t>都可以将字符串转换成整数，有何区别？</a:t>
            </a:r>
            <a:endParaRPr lang="en-US" altLang="zh-CN" dirty="0">
              <a:solidFill>
                <a:srgbClr val="0000CC"/>
              </a:solidFill>
              <a:ea typeface="隶书" panose="02010509060101010101" pitchFamily="49" charset="-122"/>
            </a:endParaRPr>
          </a:p>
          <a:p>
            <a:endParaRPr lang="zh-CN" altLang="en-US"/>
          </a:p>
        </p:txBody>
      </p:sp>
      <p:sp>
        <p:nvSpPr>
          <p:cNvPr id="286723" name="Rectangle 3"/>
          <p:cNvSpPr>
            <a:spLocks noChangeArrowheads="1"/>
          </p:cNvSpPr>
          <p:nvPr/>
        </p:nvSpPr>
        <p:spPr bwMode="auto">
          <a:xfrm>
            <a:off x="2062956" y="2816746"/>
            <a:ext cx="8066088" cy="2663825"/>
          </a:xfrm>
          <a:prstGeom prst="rect">
            <a:avLst/>
          </a:prstGeom>
          <a:noFill/>
          <a:ln w="25400">
            <a:solidFill>
              <a:srgbClr val="FF66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5125" indent="-365125"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None/>
            </a:pPr>
            <a:r>
              <a:rPr lang="en-US" altLang="zh-CN" sz="2400"/>
              <a:t>1</a:t>
            </a:r>
            <a:r>
              <a:rPr lang="zh-CN" altLang="en-US" sz="2400"/>
              <a:t>）</a:t>
            </a:r>
            <a:r>
              <a:rPr lang="en-US" altLang="zh-CN" sz="2400"/>
              <a:t>Number</a:t>
            </a:r>
            <a:r>
              <a:rPr lang="zh-CN" altLang="en-US" sz="2400"/>
              <a:t>函数不但可以将字符串转换成整数，还可以转换成浮点数。它的作用是将数字字符串直接转换成数值。而</a:t>
            </a:r>
            <a:r>
              <a:rPr lang="en-US" altLang="zh-CN" sz="2400"/>
              <a:t>parseInt</a:t>
            </a:r>
            <a:r>
              <a:rPr lang="zh-CN" altLang="en-US" sz="2400"/>
              <a:t>函数只能将数字字符串转换成整数。</a:t>
            </a:r>
            <a:endParaRPr lang="zh-CN" altLang="en-US" sz="240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SzPct val="80000"/>
              <a:buFontTx/>
              <a:buNone/>
            </a:pPr>
            <a:r>
              <a:rPr lang="en-US" altLang="zh-CN" sz="2400"/>
              <a:t>2</a:t>
            </a:r>
            <a:r>
              <a:rPr lang="zh-CN" altLang="en-US" sz="2400"/>
              <a:t>）函数</a:t>
            </a:r>
            <a:r>
              <a:rPr lang="en-US" altLang="zh-CN" sz="2400"/>
              <a:t>Number</a:t>
            </a:r>
            <a:r>
              <a:rPr lang="zh-CN" altLang="en-US" sz="2400"/>
              <a:t>在转换时，如果字符串中包括非数字字符，转换将会失败，而</a:t>
            </a:r>
            <a:r>
              <a:rPr lang="en-US" altLang="zh-CN" sz="2400"/>
              <a:t>parseInt</a:t>
            </a:r>
            <a:r>
              <a:rPr lang="zh-CN" altLang="en-US" sz="2400"/>
              <a:t>函数只要开头第一个是数字字符即可转换成功。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500"/>
                                        <p:tgtEl>
                                          <p:spTgt spid="286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3" grpId="0" bldLvl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任意多边形 29"/>
          <p:cNvSpPr/>
          <p:nvPr/>
        </p:nvSpPr>
        <p:spPr>
          <a:xfrm>
            <a:off x="1" y="73756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solidFill>
            <a:srgbClr val="FB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2" y="1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gradFill>
            <a:gsLst>
              <a:gs pos="0">
                <a:srgbClr val="0050B0"/>
              </a:gs>
              <a:gs pos="62000">
                <a:srgbClr val="0040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730363" y="4678349"/>
            <a:ext cx="242316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FBC001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408E"/>
                </a:solidFill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rPr>
              <a:t>PART EIGHT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408E"/>
              </a:solidFill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353623" y="-615"/>
            <a:ext cx="3176640" cy="43783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17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 w="22225">
                  <a:gradFill>
                    <a:gsLst>
                      <a:gs pos="0">
                        <a:prstClr val="white"/>
                      </a:gs>
                      <a:gs pos="82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noFill/>
                <a:effectLst/>
                <a:uLnTx/>
                <a:uFillTx/>
                <a:ea typeface="思源黑体 CN Medium" panose="020B0600000000000000" pitchFamily="34" charset="-122"/>
                <a:cs typeface="+mn-cs"/>
              </a:rPr>
              <a:t>08</a:t>
            </a:r>
            <a:endParaRPr kumimoji="0" lang="zh-CN" altLang="en-US" sz="19900" b="0" i="0" u="none" strike="noStrike" kern="1200" cap="none" spc="0" normalizeH="0" baseline="0" noProof="0" dirty="0">
              <a:ln w="22225">
                <a:gradFill>
                  <a:gsLst>
                    <a:gs pos="0">
                      <a:prstClr val="white"/>
                    </a:gs>
                    <a:gs pos="82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noFill/>
              <a:effectLst/>
              <a:uLnTx/>
              <a:uFillTx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70585" y="3429000"/>
            <a:ext cx="10098405" cy="1014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16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思源黑体 CN Bold" panose="020B0800000000000000" pitchFamily="34" charset="-122"/>
                <a:cs typeface="+mn-cs"/>
                <a:sym typeface="思源黑体 CN Normal" panose="020B0400000000000000" pitchFamily="34" charset="-122"/>
              </a:rPr>
              <a:t>事件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16000"/>
                  </a:prstClr>
                </a:outerShdw>
              </a:effectLst>
              <a:uLnTx/>
              <a:uFillTx/>
              <a:latin typeface="Times New Roman" panose="02020603050405020304" pitchFamily="18" charset="0"/>
              <a:ea typeface="思源黑体 CN Bold" panose="020B08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10248528" y="4215637"/>
            <a:ext cx="644190" cy="644190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087717" y="5407909"/>
            <a:ext cx="350146" cy="350146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617685" y="840752"/>
            <a:ext cx="895572" cy="895572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事件</a:t>
            </a:r>
            <a:r>
              <a:rPr lang="zh-CN" altLang="en-US" sz="2400" dirty="0">
                <a:solidFill>
                  <a:srgbClr val="000099"/>
                </a:solidFill>
                <a:sym typeface="+mn-ea"/>
              </a:rPr>
              <a:t>是对计算机进行一定的操作而得到的结果。</a:t>
            </a:r>
            <a:endParaRPr lang="zh-CN" altLang="en-US" sz="2400"/>
          </a:p>
        </p:txBody>
      </p:sp>
      <p:sp>
        <p:nvSpPr>
          <p:cNvPr id="180226" name="Oval 2"/>
          <p:cNvSpPr>
            <a:spLocks noChangeArrowheads="1"/>
          </p:cNvSpPr>
          <p:nvPr/>
        </p:nvSpPr>
        <p:spPr bwMode="auto">
          <a:xfrm>
            <a:off x="2684258" y="3618042"/>
            <a:ext cx="2735263" cy="2232025"/>
          </a:xfrm>
          <a:prstGeom prst="ellipse">
            <a:avLst/>
          </a:prstGeom>
          <a:gradFill rotWithShape="1">
            <a:gsLst>
              <a:gs pos="0">
                <a:srgbClr val="FFCC99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3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pic>
        <p:nvPicPr>
          <p:cNvPr id="180228" name="Picture 4" descr="phone-1"/>
          <p:cNvPicPr>
            <a:picLocks noGrp="1"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90802" y="3474656"/>
            <a:ext cx="2516188" cy="2201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80229" name="AutoShape 5"/>
          <p:cNvSpPr>
            <a:spLocks noChangeArrowheads="1"/>
          </p:cNvSpPr>
          <p:nvPr/>
        </p:nvSpPr>
        <p:spPr bwMode="auto">
          <a:xfrm>
            <a:off x="2789305" y="2194942"/>
            <a:ext cx="2520950" cy="1008063"/>
          </a:xfrm>
          <a:prstGeom prst="foldedCorner">
            <a:avLst>
              <a:gd name="adj" fmla="val 12500"/>
            </a:avLst>
          </a:prstGeom>
          <a:gradFill rotWithShape="1">
            <a:gsLst>
              <a:gs pos="0">
                <a:schemeClr val="bg1"/>
              </a:gs>
              <a:gs pos="100000">
                <a:srgbClr val="CCFFCC"/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tx1"/>
            </a:solidFill>
            <a:rou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0">
                <a:latin typeface="Arial" panose="020B0604020202020204" pitchFamily="34" charset="0"/>
                <a:ea typeface="黑体" panose="02010609060101010101" charset="-122"/>
              </a:rPr>
              <a:t>事件：电话振铃</a:t>
            </a:r>
            <a:endParaRPr lang="zh-CN" altLang="en-US" sz="2400" b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80230" name="AutoShape 6"/>
          <p:cNvSpPr>
            <a:spLocks noChangeArrowheads="1"/>
          </p:cNvSpPr>
          <p:nvPr/>
        </p:nvSpPr>
        <p:spPr bwMode="auto">
          <a:xfrm>
            <a:off x="7077065" y="2182804"/>
            <a:ext cx="2520950" cy="1008063"/>
          </a:xfrm>
          <a:prstGeom prst="foldedCorner">
            <a:avLst>
              <a:gd name="adj" fmla="val 12500"/>
            </a:avLst>
          </a:prstGeom>
          <a:gradFill rotWithShape="1">
            <a:gsLst>
              <a:gs pos="0">
                <a:schemeClr val="bg1"/>
              </a:gs>
              <a:gs pos="100000">
                <a:srgbClr val="99CCFF"/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tx1"/>
            </a:solidFill>
            <a:rou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0">
                <a:latin typeface="Arial" panose="020B0604020202020204" pitchFamily="34" charset="0"/>
                <a:ea typeface="黑体" panose="02010609060101010101" charset="-122"/>
              </a:rPr>
              <a:t>处理事件</a:t>
            </a:r>
            <a:endParaRPr lang="zh-CN" altLang="en-US" sz="2400" b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grpSp>
        <p:nvGrpSpPr>
          <p:cNvPr id="180231" name="Group 7"/>
          <p:cNvGrpSpPr/>
          <p:nvPr/>
        </p:nvGrpSpPr>
        <p:grpSpPr bwMode="auto">
          <a:xfrm>
            <a:off x="6391536" y="3486793"/>
            <a:ext cx="3382962" cy="2276475"/>
            <a:chOff x="3198" y="2404"/>
            <a:chExt cx="2131" cy="1434"/>
          </a:xfrm>
        </p:grpSpPr>
        <p:sp>
          <p:nvSpPr>
            <p:cNvPr id="46089" name="Oval 8"/>
            <p:cNvSpPr>
              <a:spLocks noChangeArrowheads="1"/>
            </p:cNvSpPr>
            <p:nvPr/>
          </p:nvSpPr>
          <p:spPr bwMode="auto">
            <a:xfrm>
              <a:off x="3198" y="2432"/>
              <a:ext cx="2131" cy="1406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1"/>
                </a:buBlip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SzPct val="80000"/>
                <a:buBlip>
                  <a:blip r:embed="rId2"/>
                </a:buBlip>
                <a:defRPr sz="2800" b="1">
                  <a:solidFill>
                    <a:srgbClr val="FF6600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80000"/>
                <a:buBlip>
                  <a:blip r:embed="rId3"/>
                </a:buBlip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1"/>
                </a:buBlip>
                <a:defRPr sz="2000" b="1">
                  <a:solidFill>
                    <a:srgbClr val="FF9933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320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pic>
          <p:nvPicPr>
            <p:cNvPr id="46090" name="Picture 9" descr="接电话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4" y="2404"/>
              <a:ext cx="1995" cy="14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1802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1802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8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6" grpId="0" bldLvl="0" animBg="1"/>
      <p:bldP spid="180229" grpId="0" bldLvl="0" animBg="1"/>
      <p:bldP spid="180230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cs typeface="Times New Roman" panose="02020603050405020304" pitchFamily="18" charset="0"/>
                <a:sym typeface="+mn-ea"/>
              </a:rPr>
              <a:t>JavaScript </a:t>
            </a:r>
            <a:r>
              <a:rPr lang="zh-CN" altLang="en-US" dirty="0">
                <a:cs typeface="Times New Roman" panose="02020603050405020304" pitchFamily="18" charset="0"/>
                <a:sym typeface="+mn-ea"/>
              </a:rPr>
              <a:t>事件处理程序就是一组语句，在事件（如点击鼠标或移动鼠标等）发生时执行。</a:t>
            </a:r>
            <a:endParaRPr lang="zh-CN" altLang="en-US" dirty="0">
              <a:cs typeface="Times New Roman" panose="02020603050405020304" pitchFamily="18" charset="0"/>
            </a:endParaRPr>
          </a:p>
          <a:p>
            <a:endParaRPr lang="zh-CN" altLang="en-US">
              <a:cs typeface="Times New Roman" panose="02020603050405020304" pitchFamily="18" charset="0"/>
            </a:endParaRPr>
          </a:p>
        </p:txBody>
      </p:sp>
      <p:pic>
        <p:nvPicPr>
          <p:cNvPr id="182275" name="xsrv1xfe[1].jpg"/>
          <p:cNvPicPr>
            <a:picLocks noGrp="1" noRot="1" noChangeAspect="1" noChangeArrowheads="1"/>
          </p:cNvPicPr>
          <p:nvPr>
            <p:ph sz="half" idx="4294967295"/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57955" y="2565668"/>
            <a:ext cx="3059113" cy="29416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822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093" y="2890362"/>
            <a:ext cx="3887788" cy="194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2277" name="AutoShape 5"/>
          <p:cNvSpPr>
            <a:spLocks noChangeArrowheads="1"/>
          </p:cNvSpPr>
          <p:nvPr/>
        </p:nvSpPr>
        <p:spPr bwMode="auto">
          <a:xfrm>
            <a:off x="5138941" y="3141981"/>
            <a:ext cx="1800200" cy="720725"/>
          </a:xfrm>
          <a:prstGeom prst="curvedDownArrow">
            <a:avLst>
              <a:gd name="adj1" fmla="val 73921"/>
              <a:gd name="adj2" fmla="val 147841"/>
              <a:gd name="adj3" fmla="val 33333"/>
            </a:avLst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5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6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7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5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6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6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6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6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6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3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82278" name="Oval 6"/>
          <p:cNvSpPr>
            <a:spLocks noChangeArrowheads="1"/>
          </p:cNvSpPr>
          <p:nvPr/>
        </p:nvSpPr>
        <p:spPr bwMode="auto">
          <a:xfrm>
            <a:off x="2815167" y="5631614"/>
            <a:ext cx="1944687" cy="647700"/>
          </a:xfrm>
          <a:prstGeom prst="ellipse">
            <a:avLst/>
          </a:prstGeom>
          <a:gradFill rotWithShape="1">
            <a:gsLst>
              <a:gs pos="0">
                <a:srgbClr val="CCFFCC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solidFill>
              <a:schemeClr val="tx1"/>
            </a:solidFill>
            <a:round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5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6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7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5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6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6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6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6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6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0">
                <a:latin typeface="Arial" panose="020B0604020202020204" pitchFamily="34" charset="0"/>
                <a:ea typeface="黑体" panose="02010609060101010101" charset="-122"/>
              </a:rPr>
              <a:t>事件</a:t>
            </a:r>
            <a:endParaRPr lang="zh-CN" altLang="en-US" sz="2400" b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82279" name="Oval 7"/>
          <p:cNvSpPr>
            <a:spLocks noChangeArrowheads="1"/>
          </p:cNvSpPr>
          <p:nvPr/>
        </p:nvSpPr>
        <p:spPr bwMode="auto">
          <a:xfrm>
            <a:off x="7314638" y="5243836"/>
            <a:ext cx="2087562" cy="647700"/>
          </a:xfrm>
          <a:prstGeom prst="ellipse">
            <a:avLst/>
          </a:prstGeom>
          <a:gradFill rotWithShape="1">
            <a:gsLst>
              <a:gs pos="0">
                <a:srgbClr val="99CC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 algn="ctr">
            <a:solidFill>
              <a:schemeClr val="tx1"/>
            </a:solidFill>
            <a:round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5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6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7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5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6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6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6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6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6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0">
                <a:latin typeface="Arial" panose="020B0604020202020204" pitchFamily="34" charset="0"/>
                <a:ea typeface="黑体" panose="02010609060101010101" charset="-122"/>
              </a:rPr>
              <a:t>处理事件</a:t>
            </a:r>
            <a:endParaRPr lang="zh-CN" altLang="en-US" sz="2400" b="0">
              <a:latin typeface="Arial" panose="020B0604020202020204" pitchFamily="34" charset="0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22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800" decel="100000" fill="hold"/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" accel="1000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1" fill="hold"/>
                                        <p:tgtEl>
                                          <p:spTgt spid="18227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1" fill="hold"/>
                                        <p:tgtEl>
                                          <p:spTgt spid="18227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3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82275"/>
                </p:tgtEl>
              </p:cMediaNode>
            </p:video>
          </p:childTnLst>
        </p:cTn>
      </p:par>
    </p:tnLst>
    <p:bldLst>
      <p:bldP spid="182277" grpId="0" bldLvl="0" animBg="1"/>
      <p:bldP spid="182278" grpId="0" bldLvl="0" animBg="1"/>
      <p:bldP spid="182279" grpId="0" bldLvl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单击事件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鼠标单击事件是最常见的事件，语法非常简单：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       </a:t>
            </a:r>
            <a:r>
              <a:rPr lang="en-US" altLang="zh-CN" sz="2400" dirty="0">
                <a:solidFill>
                  <a:srgbClr val="CC0066"/>
                </a:solidFill>
                <a:cs typeface="Times New Roman" panose="02020603050405020304" pitchFamily="18" charset="0"/>
                <a:sym typeface="+mn-ea"/>
              </a:rPr>
              <a:t>onclick=</a:t>
            </a:r>
            <a:r>
              <a:rPr lang="zh-CN" altLang="en-US" sz="2400" dirty="0">
                <a:solidFill>
                  <a:srgbClr val="CC0066"/>
                </a:solidFill>
                <a:cs typeface="Times New Roman" panose="02020603050405020304" pitchFamily="18" charset="0"/>
                <a:sym typeface="+mn-ea"/>
              </a:rPr>
              <a:t>函数或是处理语句</a:t>
            </a:r>
            <a:endParaRPr lang="zh-CN" altLang="en-US" sz="2400" dirty="0">
              <a:solidFill>
                <a:srgbClr val="CC0066"/>
              </a:solidFill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184324" name="Rectangle 4"/>
          <p:cNvSpPr>
            <a:spLocks noChangeArrowheads="1"/>
          </p:cNvSpPr>
          <p:nvPr/>
        </p:nvSpPr>
        <p:spPr bwMode="auto">
          <a:xfrm>
            <a:off x="723315" y="2057661"/>
            <a:ext cx="7200800" cy="1008063"/>
          </a:xfrm>
          <a:prstGeom prst="rect">
            <a:avLst/>
          </a:prstGeom>
          <a:noFill/>
          <a:ln w="25400">
            <a:solidFill>
              <a:srgbClr val="FFCC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zh-CN" altLang="en-US" sz="2400" dirty="0"/>
              <a:t>事件处理程序的基本语法是：</a:t>
            </a:r>
            <a:endParaRPr lang="zh-CN" altLang="en-US" sz="2400" dirty="0"/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zh-CN" altLang="en-US" sz="2400" dirty="0"/>
              <a:t>事件名</a:t>
            </a:r>
            <a:r>
              <a:rPr lang="en-US" altLang="zh-CN" sz="2400" dirty="0"/>
              <a:t>=JavaScript </a:t>
            </a:r>
            <a:r>
              <a:rPr lang="zh-CN" altLang="en-US" sz="2400" dirty="0"/>
              <a:t>代码或调用函数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43000" y="3414840"/>
            <a:ext cx="7750840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sz="2000" b="0" dirty="0">
                <a:latin typeface="Consolas" panose="020B0609020204030204" pitchFamily="49" charset="0"/>
              </a:rPr>
              <a:t>&lt;button onclick=</a:t>
            </a:r>
            <a:r>
              <a:rPr lang="en-US" altLang="zh-CN" sz="2000" dirty="0"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latin typeface="Consolas" panose="020B0609020204030204" pitchFamily="49" charset="0"/>
              </a:rPr>
              <a:t>alert('Hello world');</a:t>
            </a:r>
            <a:r>
              <a:rPr lang="en-US" altLang="zh-CN" sz="2000" dirty="0">
                <a:latin typeface="Consolas" panose="020B0609020204030204" pitchFamily="49" charset="0"/>
              </a:rPr>
              <a:t> "</a:t>
            </a:r>
            <a:r>
              <a:rPr lang="en-US" altLang="zh-CN" sz="2000" b="0" dirty="0">
                <a:latin typeface="Consolas" panose="020B0609020204030204" pitchFamily="49" charset="0"/>
              </a:rPr>
              <a:t>&gt;</a:t>
            </a:r>
            <a:r>
              <a:rPr lang="zh-CN" altLang="en-US" sz="2000" b="0" dirty="0">
                <a:latin typeface="Consolas" panose="020B0609020204030204" pitchFamily="49" charset="0"/>
              </a:rPr>
              <a:t>按钮</a:t>
            </a:r>
            <a:r>
              <a:rPr lang="en-US" altLang="zh-CN" sz="2000" b="0" dirty="0">
                <a:latin typeface="Consolas" panose="020B0609020204030204" pitchFamily="49" charset="0"/>
              </a:rPr>
              <a:t>&lt;/button&gt;</a:t>
            </a:r>
            <a:endParaRPr lang="zh-CN" altLang="en-US" sz="2000" b="0" dirty="0">
              <a:latin typeface="Consolas" panose="020B0609020204030204" pitchFamily="49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3000" y="4134222"/>
            <a:ext cx="5300980" cy="19380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sz="2000" b="0" dirty="0">
                <a:latin typeface="Consolas" panose="020B0609020204030204" pitchFamily="49" charset="0"/>
              </a:rPr>
              <a:t>&lt;script&gt;</a:t>
            </a:r>
            <a:endParaRPr lang="en-US" altLang="zh-CN" sz="2000" b="0" dirty="0"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latin typeface="Consolas" panose="020B0609020204030204" pitchFamily="49" charset="0"/>
              </a:rPr>
              <a:t>function f() {</a:t>
            </a:r>
            <a:endParaRPr lang="en-US" altLang="zh-CN" sz="2000" b="0" dirty="0"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latin typeface="Consolas" panose="020B0609020204030204" pitchFamily="49" charset="0"/>
              </a:rPr>
              <a:t>  alert('Hello world');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latin typeface="Consolas" panose="020B0609020204030204" pitchFamily="49" charset="0"/>
              </a:rPr>
              <a:t>}</a:t>
            </a:r>
            <a:endParaRPr lang="en-US" altLang="zh-CN" sz="2000" b="0" dirty="0"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latin typeface="Consolas" panose="020B0609020204030204" pitchFamily="49" charset="0"/>
              </a:rPr>
              <a:t>&lt;/script&gt;</a:t>
            </a:r>
            <a:endParaRPr lang="en-US" altLang="zh-CN" sz="2000" b="0" dirty="0"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latin typeface="Consolas" panose="020B0609020204030204" pitchFamily="49" charset="0"/>
              </a:rPr>
              <a:t>&lt;button onclick=</a:t>
            </a:r>
            <a:r>
              <a:rPr lang="en-US" altLang="zh-CN" sz="2000" dirty="0"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latin typeface="Consolas" panose="020B0609020204030204" pitchFamily="49" charset="0"/>
              </a:rPr>
              <a:t>f();</a:t>
            </a:r>
            <a:r>
              <a:rPr lang="en-US" altLang="zh-CN" sz="2000" dirty="0">
                <a:latin typeface="Consolas" panose="020B0609020204030204" pitchFamily="49" charset="0"/>
              </a:rPr>
              <a:t> "</a:t>
            </a:r>
            <a:r>
              <a:rPr lang="en-US" altLang="zh-CN" sz="2000" b="0" dirty="0">
                <a:latin typeface="Consolas" panose="020B0609020204030204" pitchFamily="49" charset="0"/>
              </a:rPr>
              <a:t>&gt;</a:t>
            </a:r>
            <a:r>
              <a:rPr lang="zh-CN" altLang="en-US" sz="2000" b="0" dirty="0">
                <a:latin typeface="Consolas" panose="020B0609020204030204" pitchFamily="49" charset="0"/>
              </a:rPr>
              <a:t>按钮</a:t>
            </a:r>
            <a:r>
              <a:rPr lang="en-US" altLang="zh-CN" sz="2000" b="0" dirty="0">
                <a:latin typeface="Consolas" panose="020B0609020204030204" pitchFamily="49" charset="0"/>
              </a:rPr>
              <a:t>&lt;/button&gt;</a:t>
            </a:r>
            <a:endParaRPr lang="zh-CN" altLang="en-US" sz="2000" b="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4" grpId="0" bldLvl="0" animBg="1"/>
      <p:bldP spid="4" grpId="0" bldLvl="0" animBg="1"/>
      <p:bldP spid="6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单击事件</a:t>
            </a:r>
            <a:endParaRPr lang="zh-CN" altLang="en-US"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/>
        </p:nvSpPr>
        <p:spPr>
          <a:xfrm>
            <a:off x="2039303" y="1009650"/>
            <a:ext cx="8113395" cy="537210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例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4-13</a:t>
            </a:r>
            <a:endParaRPr lang="zh-CN" altLang="en-US" sz="180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&lt;html&gt;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&lt;head&gt;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&lt;title&gt;onclick</a:t>
            </a: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事件示例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&lt;/title&gt;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&lt;/head&gt;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&lt;body&gt;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&lt;script&gt;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 	function </a:t>
            </a:r>
            <a:r>
              <a:rPr lang="en-US" altLang="zh-CN" sz="1800" dirty="0" err="1">
                <a:latin typeface="Consolas" panose="020B0609020204030204" pitchFamily="49" charset="0"/>
                <a:sym typeface="+mn-ea"/>
              </a:rPr>
              <a:t>btnclick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() {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 	   alert("</a:t>
            </a: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按钮名称是：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"</a:t>
            </a: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+ button1.name + "\r\</a:t>
            </a: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按钮的标签是：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"</a:t>
            </a: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 </a:t>
            </a:r>
            <a:endParaRPr lang="zh-CN" altLang="en-US" sz="18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                       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+ button1.value );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 	}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&lt;/script&gt;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&lt;p align=center&gt;&lt;input name="button1" type="button" value="</a:t>
            </a: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单击按钮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"</a:t>
            </a: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  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onclick="</a:t>
            </a:r>
            <a:r>
              <a:rPr lang="en-US" altLang="zh-CN" sz="1800" dirty="0" err="1">
                <a:latin typeface="Consolas" panose="020B0609020204030204" pitchFamily="49" charset="0"/>
                <a:sym typeface="+mn-ea"/>
              </a:rPr>
              <a:t>btnclick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()"&gt;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&lt;/p&gt; 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&lt;/body&gt;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&lt;/html&gt;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795" name="AutoShape 3"/>
          <p:cNvSpPr>
            <a:spLocks noChangeArrowheads="1"/>
          </p:cNvSpPr>
          <p:nvPr/>
        </p:nvSpPr>
        <p:spPr bwMode="auto">
          <a:xfrm>
            <a:off x="6207755" y="1172636"/>
            <a:ext cx="3816350" cy="1943100"/>
          </a:xfrm>
          <a:prstGeom prst="cloudCallout">
            <a:avLst>
              <a:gd name="adj1" fmla="val -62852"/>
              <a:gd name="adj2" fmla="val -32435"/>
            </a:avLst>
          </a:prstGeom>
          <a:solidFill>
            <a:schemeClr val="bg2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dirty="0"/>
              <a:t>运行时报错：</a:t>
            </a:r>
            <a:endParaRPr kumimoji="1" lang="zh-CN" altLang="en-US" sz="2400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dirty="0"/>
              <a:t>button1 is not defined</a:t>
            </a:r>
            <a:endParaRPr kumimoji="1"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ldLvl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onchange事件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dirty="0" err="1">
                <a:cs typeface="Times New Roman" panose="02020603050405020304" pitchFamily="18" charset="0"/>
                <a:sym typeface="+mn-ea"/>
              </a:rPr>
              <a:t>onchange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事件是当某个</a:t>
            </a:r>
            <a:r>
              <a:rPr lang="en-US" altLang="zh-CN" sz="2400" dirty="0">
                <a:cs typeface="Times New Roman" panose="02020603050405020304" pitchFamily="18" charset="0"/>
                <a:sym typeface="+mn-ea"/>
              </a:rPr>
              <a:t>HTML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元素的内容改变的时候发生的事件 。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        </a:t>
            </a:r>
            <a:r>
              <a:rPr lang="en-US" altLang="zh-CN" sz="2400" dirty="0" err="1">
                <a:solidFill>
                  <a:srgbClr val="CC0066"/>
                </a:solidFill>
                <a:cs typeface="Times New Roman" panose="02020603050405020304" pitchFamily="18" charset="0"/>
                <a:sym typeface="+mn-ea"/>
              </a:rPr>
              <a:t>onchange</a:t>
            </a:r>
            <a:r>
              <a:rPr lang="en-US" altLang="zh-CN" sz="2400" dirty="0">
                <a:solidFill>
                  <a:srgbClr val="CC0066"/>
                </a:solidFill>
                <a:cs typeface="Times New Roman" panose="02020603050405020304" pitchFamily="18" charset="0"/>
                <a:sym typeface="+mn-ea"/>
              </a:rPr>
              <a:t>= </a:t>
            </a:r>
            <a:r>
              <a:rPr lang="zh-CN" altLang="en-US" sz="2400" dirty="0">
                <a:solidFill>
                  <a:srgbClr val="CC0066"/>
                </a:solidFill>
                <a:cs typeface="Times New Roman" panose="02020603050405020304" pitchFamily="18" charset="0"/>
                <a:sym typeface="+mn-ea"/>
              </a:rPr>
              <a:t>处理函数或是处理语句 </a:t>
            </a:r>
            <a:endParaRPr lang="zh-CN" altLang="en-US" sz="2400" dirty="0">
              <a:solidFill>
                <a:srgbClr val="CC0066"/>
              </a:solidFill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186371" name="Rectangle 3"/>
          <p:cNvSpPr>
            <a:spLocks noChangeArrowheads="1"/>
          </p:cNvSpPr>
          <p:nvPr/>
        </p:nvSpPr>
        <p:spPr bwMode="auto">
          <a:xfrm>
            <a:off x="2027548" y="2380507"/>
            <a:ext cx="8136904" cy="3384376"/>
          </a:xfrm>
          <a:prstGeom prst="rect">
            <a:avLst/>
          </a:prstGeom>
          <a:noFill/>
          <a:ln w="12700">
            <a:solidFill>
              <a:srgbClr val="FF66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 err="1">
                <a:solidFill>
                  <a:srgbClr val="CC0066"/>
                </a:solidFill>
              </a:rPr>
              <a:t>onselect</a:t>
            </a:r>
            <a:r>
              <a:rPr lang="zh-CN" altLang="en-US" sz="2400" dirty="0">
                <a:solidFill>
                  <a:srgbClr val="CC0066"/>
                </a:solidFill>
              </a:rPr>
              <a:t>事件</a:t>
            </a:r>
            <a:r>
              <a:rPr lang="zh-CN" altLang="en-US" sz="2400" dirty="0"/>
              <a:t>是</a:t>
            </a:r>
            <a:r>
              <a:rPr lang="en-US" altLang="zh-CN" sz="2400" dirty="0"/>
              <a:t>&lt;input type=“text”&gt;</a:t>
            </a:r>
            <a:r>
              <a:rPr lang="zh-CN" altLang="en-US" sz="2400" dirty="0"/>
              <a:t>和 </a:t>
            </a:r>
            <a:r>
              <a:rPr lang="en-US" altLang="zh-CN" sz="2400" dirty="0"/>
              <a:t>&lt;</a:t>
            </a:r>
            <a:r>
              <a:rPr lang="en-US" altLang="zh-CN" sz="2400" dirty="0" err="1"/>
              <a:t>textarea</a:t>
            </a:r>
            <a:r>
              <a:rPr lang="en-US" altLang="zh-CN" sz="2400" dirty="0"/>
              <a:t>&gt;</a:t>
            </a:r>
            <a:r>
              <a:rPr lang="zh-CN" altLang="en-US" sz="2400" dirty="0"/>
              <a:t>等元素的内容被选中的时候发生的事件 。</a:t>
            </a:r>
            <a:endParaRPr lang="zh-CN" altLang="en-US" sz="2400" dirty="0"/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 err="1">
                <a:solidFill>
                  <a:srgbClr val="CC0066"/>
                </a:solidFill>
              </a:rPr>
              <a:t>onfocus</a:t>
            </a:r>
            <a:r>
              <a:rPr lang="zh-CN" altLang="en-US" sz="2400" dirty="0">
                <a:solidFill>
                  <a:srgbClr val="CC0066"/>
                </a:solidFill>
              </a:rPr>
              <a:t>事件</a:t>
            </a:r>
            <a:r>
              <a:rPr lang="zh-CN" altLang="en-US" sz="2400" dirty="0"/>
              <a:t>是当光标落在某个</a:t>
            </a:r>
            <a:r>
              <a:rPr lang="en-US" altLang="zh-CN" sz="2400" dirty="0"/>
              <a:t>HTML</a:t>
            </a:r>
            <a:r>
              <a:rPr lang="zh-CN" altLang="en-US" sz="2400" dirty="0"/>
              <a:t>元素，使它得到焦点时候发生的事件 。</a:t>
            </a:r>
            <a:endParaRPr lang="zh-CN" altLang="en-US" sz="2400" dirty="0"/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 err="1">
                <a:solidFill>
                  <a:srgbClr val="CC0066"/>
                </a:solidFill>
              </a:rPr>
              <a:t>onblur</a:t>
            </a:r>
            <a:r>
              <a:rPr lang="zh-CN" altLang="en-US" sz="2400" dirty="0">
                <a:solidFill>
                  <a:srgbClr val="CC0066"/>
                </a:solidFill>
              </a:rPr>
              <a:t>事件</a:t>
            </a:r>
            <a:r>
              <a:rPr lang="zh-CN" altLang="en-US" sz="2400" dirty="0"/>
              <a:t>是某个</a:t>
            </a:r>
            <a:r>
              <a:rPr lang="en-US" altLang="zh-CN" sz="2400" dirty="0"/>
              <a:t>HTML</a:t>
            </a:r>
            <a:r>
              <a:rPr lang="zh-CN" altLang="en-US" sz="2400" dirty="0"/>
              <a:t>元素失去焦点的时候发生的事件。</a:t>
            </a:r>
            <a:endParaRPr lang="en-US" altLang="zh-CN" sz="2400" dirty="0"/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 err="1">
                <a:solidFill>
                  <a:srgbClr val="CC0066"/>
                </a:solidFill>
              </a:rPr>
              <a:t>onmouseenter</a:t>
            </a:r>
            <a:r>
              <a:rPr lang="zh-CN" altLang="en-US" sz="2400" dirty="0">
                <a:solidFill>
                  <a:srgbClr val="CC0066"/>
                </a:solidFill>
              </a:rPr>
              <a:t>事件</a:t>
            </a:r>
            <a:r>
              <a:rPr lang="zh-CN" altLang="en-US" sz="2400" dirty="0"/>
              <a:t>是鼠标进入元素区域时发生的事件。</a:t>
            </a:r>
            <a:endParaRPr lang="en-US" altLang="zh-CN" sz="2400" dirty="0"/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 err="1">
                <a:solidFill>
                  <a:srgbClr val="CC0066"/>
                </a:solidFill>
              </a:rPr>
              <a:t>onmouseleave</a:t>
            </a:r>
            <a:r>
              <a:rPr lang="zh-CN" altLang="en-US" sz="2400" dirty="0">
                <a:solidFill>
                  <a:srgbClr val="CC0066"/>
                </a:solidFill>
              </a:rPr>
              <a:t>事件</a:t>
            </a:r>
            <a:r>
              <a:rPr lang="zh-CN" altLang="en-US" sz="2400" dirty="0"/>
              <a:t>是鼠标离开元素区域时发生的事件。</a:t>
            </a:r>
            <a:endParaRPr lang="en-US" altLang="zh-CN" sz="2400" dirty="0"/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 err="1">
                <a:solidFill>
                  <a:srgbClr val="CC0066"/>
                </a:solidFill>
              </a:rPr>
              <a:t>onmouseover</a:t>
            </a:r>
            <a:r>
              <a:rPr lang="zh-CN" altLang="en-US" sz="2400" dirty="0">
                <a:solidFill>
                  <a:srgbClr val="CC0066"/>
                </a:solidFill>
              </a:rPr>
              <a:t>事件</a:t>
            </a:r>
            <a:r>
              <a:rPr lang="zh-CN" altLang="en-US" sz="2400" dirty="0"/>
              <a:t>是鼠标指针移动到元素上时触发的事件。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1" grpId="0" bldLvl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onchange事件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242" name="Rectangle 2"/>
          <p:cNvSpPr>
            <a:spLocks noGrp="1" noChangeArrowheads="1"/>
          </p:cNvSpPr>
          <p:nvPr/>
        </p:nvSpPr>
        <p:spPr>
          <a:xfrm>
            <a:off x="2066925" y="707390"/>
            <a:ext cx="8058150" cy="577469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4-14</a:t>
            </a:r>
            <a:endParaRPr lang="zh-CN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&lt;html&gt;&lt;head&gt;&lt;title&gt;onchange</a:t>
            </a:r>
            <a:r>
              <a:rPr lang="zh-CN" altLang="en-US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事件示例</a:t>
            </a: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&lt;/title&gt;&lt;/head&gt;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&lt;body&gt;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&lt;script&gt;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   function func(){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      var s = document.getElementById("s1");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      alert("你选择了：" + s.value );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} 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&lt;/script&gt;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</a:rPr>
              <a:t>	&lt;p align=center&gt;请选择你的选修课程&lt;/p&gt;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</a:rPr>
              <a:t>	&lt;p align=center&gt;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</a:rPr>
              <a:t>	   &lt;select name=select1 style="height:22px; width:129px" 		id="s1" onchange="func()"&gt; 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</a:rPr>
              <a:t>		&lt;option selected value="网页制作"&gt;网页制作&lt;/option&gt;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</a:rPr>
              <a:t>		&lt;option value="JavaScript"&gt;JavaScript&lt;/option&gt;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</a:rPr>
              <a:t>		&lt;option value="VbScript"&gt;VbScript&lt;/option&gt;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</a:rPr>
              <a:t>	&lt;/select&gt;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</a:rPr>
              <a:t>	&lt;/p&gt;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&lt;/body&gt;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&lt;/html&gt;</a:t>
            </a:r>
            <a:endParaRPr lang="en-US" altLang="zh-CN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任意多边形 29"/>
          <p:cNvSpPr/>
          <p:nvPr/>
        </p:nvSpPr>
        <p:spPr>
          <a:xfrm>
            <a:off x="1" y="73756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solidFill>
            <a:srgbClr val="FB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2" y="1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gradFill>
            <a:gsLst>
              <a:gs pos="0">
                <a:srgbClr val="0050B0"/>
              </a:gs>
              <a:gs pos="62000">
                <a:srgbClr val="0040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730363" y="4687874"/>
            <a:ext cx="242316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FBC001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408E"/>
                </a:solidFill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rPr>
              <a:t>PART NINE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408E"/>
              </a:solidFill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353623" y="-615"/>
            <a:ext cx="3176640" cy="43783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17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 w="22225">
                  <a:gradFill>
                    <a:gsLst>
                      <a:gs pos="0">
                        <a:prstClr val="white"/>
                      </a:gs>
                      <a:gs pos="82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noFill/>
                <a:effectLst/>
                <a:uLnTx/>
                <a:uFillTx/>
                <a:ea typeface="思源黑体 CN Medium" panose="020B0600000000000000" pitchFamily="34" charset="-122"/>
                <a:cs typeface="+mn-cs"/>
              </a:rPr>
              <a:t>09</a:t>
            </a:r>
            <a:endParaRPr kumimoji="0" lang="zh-CN" altLang="en-US" sz="19900" b="0" i="0" u="none" strike="noStrike" kern="1200" cap="none" spc="0" normalizeH="0" baseline="0" noProof="0" dirty="0">
              <a:ln w="22225">
                <a:gradFill>
                  <a:gsLst>
                    <a:gs pos="0">
                      <a:prstClr val="white"/>
                    </a:gs>
                    <a:gs pos="82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noFill/>
              <a:effectLst/>
              <a:uLnTx/>
              <a:uFillTx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70585" y="3429000"/>
            <a:ext cx="10098405" cy="1014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16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思源黑体 CN Bold" panose="020B0800000000000000" pitchFamily="34" charset="-122"/>
                <a:cs typeface="+mn-cs"/>
                <a:sym typeface="思源黑体 CN Normal" panose="020B0400000000000000" pitchFamily="34" charset="-122"/>
              </a:rPr>
              <a:t>对象处理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16000"/>
                  </a:prstClr>
                </a:outerShdw>
              </a:effectLst>
              <a:uLnTx/>
              <a:uFillTx/>
              <a:latin typeface="Times New Roman" panose="02020603050405020304" pitchFamily="18" charset="0"/>
              <a:ea typeface="思源黑体 CN Bold" panose="020B08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10248528" y="4215637"/>
            <a:ext cx="644190" cy="644190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087717" y="5407909"/>
            <a:ext cx="350146" cy="350146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617685" y="840752"/>
            <a:ext cx="895572" cy="895572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JavaScript的对象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sym typeface="+mn-ea"/>
              </a:rPr>
              <a:t>JavaScript</a:t>
            </a:r>
            <a:r>
              <a:rPr lang="zh-CN" altLang="en-US" sz="2400" dirty="0">
                <a:sym typeface="+mn-ea"/>
              </a:rPr>
              <a:t>中的对象是由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属性</a:t>
            </a:r>
            <a:r>
              <a:rPr lang="zh-CN" altLang="en-US" sz="2400" dirty="0">
                <a:sym typeface="+mn-ea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方法</a:t>
            </a:r>
            <a:r>
              <a:rPr lang="zh-CN" altLang="en-US" sz="2400" dirty="0">
                <a:sym typeface="+mn-ea"/>
              </a:rPr>
              <a:t>两个基本的元素构成的。</a:t>
            </a:r>
            <a:endParaRPr lang="zh-CN" altLang="en-US" sz="2400" dirty="0"/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zh-CN" altLang="en-US" sz="2400" dirty="0">
                <a:sym typeface="+mn-ea"/>
              </a:rPr>
              <a:t>在</a:t>
            </a:r>
            <a:r>
              <a:rPr lang="en-US" altLang="zh-CN" sz="2400" dirty="0">
                <a:sym typeface="+mn-ea"/>
              </a:rPr>
              <a:t>JavaScript</a:t>
            </a:r>
            <a:r>
              <a:rPr lang="zh-CN" altLang="en-US" sz="2400" dirty="0">
                <a:sym typeface="+mn-ea"/>
              </a:rPr>
              <a:t>中使用一个对象可采用以下三种方式：</a:t>
            </a:r>
            <a:endParaRPr lang="zh-CN" altLang="en-US" sz="2400" dirty="0"/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zh-CN" altLang="en-US" sz="2400" dirty="0">
                <a:sym typeface="+mn-ea"/>
              </a:rPr>
              <a:t>    	</a:t>
            </a:r>
            <a:r>
              <a:rPr lang="zh-CN" altLang="en-US" sz="2400" dirty="0">
                <a:solidFill>
                  <a:srgbClr val="D60093"/>
                </a:solidFill>
                <a:sym typeface="+mn-ea"/>
              </a:rPr>
              <a:t>① 引用</a:t>
            </a:r>
            <a:r>
              <a:rPr lang="en-US" altLang="zh-CN" sz="2400" dirty="0">
                <a:solidFill>
                  <a:srgbClr val="D60093"/>
                </a:solidFill>
                <a:sym typeface="+mn-ea"/>
              </a:rPr>
              <a:t>JavaScript</a:t>
            </a:r>
            <a:r>
              <a:rPr lang="zh-CN" altLang="en-US" sz="2400" dirty="0">
                <a:solidFill>
                  <a:srgbClr val="D60093"/>
                </a:solidFill>
                <a:sym typeface="+mn-ea"/>
              </a:rPr>
              <a:t>内置对象；</a:t>
            </a:r>
            <a:endParaRPr lang="zh-CN" altLang="en-US" sz="2400" dirty="0">
              <a:solidFill>
                <a:srgbClr val="D60093"/>
              </a:solidFill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zh-CN" altLang="en-US" sz="2400" dirty="0">
                <a:solidFill>
                  <a:srgbClr val="D60093"/>
                </a:solidFill>
                <a:sym typeface="+mn-ea"/>
              </a:rPr>
              <a:t>    	② 用户自定义对象；</a:t>
            </a:r>
            <a:endParaRPr lang="zh-CN" altLang="en-US" sz="2400" dirty="0">
              <a:solidFill>
                <a:srgbClr val="D60093"/>
              </a:solidFill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zh-CN" altLang="en-US" sz="2400" dirty="0">
                <a:solidFill>
                  <a:srgbClr val="D60093"/>
                </a:solidFill>
                <a:sym typeface="+mn-ea"/>
              </a:rPr>
              <a:t>    	③ 引用浏览器对象。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自定义对象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要创建自己的对象实例，必须首先为其定义一个构造函数。定义了对象后，用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new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关键字创建对象实例。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CC0066"/>
                </a:solidFill>
                <a:cs typeface="Times New Roman" panose="02020603050405020304" pitchFamily="18" charset="0"/>
                <a:sym typeface="+mn-ea"/>
              </a:rPr>
              <a:t>        </a:t>
            </a:r>
            <a:r>
              <a:rPr lang="en-US" altLang="zh-CN" sz="2400" dirty="0">
                <a:solidFill>
                  <a:srgbClr val="CC0066"/>
                </a:solidFill>
                <a:cs typeface="Times New Roman" panose="02020603050405020304" pitchFamily="18" charset="0"/>
                <a:sym typeface="+mn-ea"/>
              </a:rPr>
              <a:t>function User(</a:t>
            </a:r>
            <a:r>
              <a:rPr lang="en-US" altLang="zh-CN" sz="2400" dirty="0" err="1">
                <a:solidFill>
                  <a:srgbClr val="CC0066"/>
                </a:solidFill>
                <a:cs typeface="Times New Roman" panose="02020603050405020304" pitchFamily="18" charset="0"/>
                <a:sym typeface="+mn-ea"/>
              </a:rPr>
              <a:t>name,age</a:t>
            </a:r>
            <a:r>
              <a:rPr lang="en-US" altLang="zh-CN" sz="2400" dirty="0">
                <a:solidFill>
                  <a:srgbClr val="CC0066"/>
                </a:solidFill>
                <a:cs typeface="Times New Roman" panose="02020603050405020304" pitchFamily="18" charset="0"/>
                <a:sym typeface="+mn-ea"/>
              </a:rPr>
              <a:t>) { </a:t>
            </a:r>
            <a:br>
              <a:rPr lang="en-US" altLang="zh-CN" sz="2400" dirty="0">
                <a:solidFill>
                  <a:srgbClr val="CC0066"/>
                </a:solidFill>
                <a:cs typeface="Times New Roman" panose="02020603050405020304" pitchFamily="18" charset="0"/>
                <a:sym typeface="+mn-ea"/>
              </a:rPr>
            </a:br>
            <a:r>
              <a:rPr lang="en-US" altLang="zh-CN" sz="2400" dirty="0">
                <a:solidFill>
                  <a:srgbClr val="CC0066"/>
                </a:solidFill>
                <a:cs typeface="Times New Roman" panose="02020603050405020304" pitchFamily="18" charset="0"/>
                <a:sym typeface="+mn-ea"/>
              </a:rPr>
              <a:t>         this.name=name;</a:t>
            </a:r>
            <a:br>
              <a:rPr lang="en-US" altLang="zh-CN" sz="2400" dirty="0">
                <a:solidFill>
                  <a:srgbClr val="CC0066"/>
                </a:solidFill>
                <a:cs typeface="Times New Roman" panose="02020603050405020304" pitchFamily="18" charset="0"/>
                <a:sym typeface="+mn-ea"/>
              </a:rPr>
            </a:br>
            <a:r>
              <a:rPr lang="en-US" altLang="zh-CN" sz="2400" dirty="0">
                <a:solidFill>
                  <a:srgbClr val="CC0066"/>
                </a:solidFill>
                <a:cs typeface="Times New Roman" panose="02020603050405020304" pitchFamily="18" charset="0"/>
                <a:sym typeface="+mn-ea"/>
              </a:rPr>
              <a:t>         </a:t>
            </a:r>
            <a:r>
              <a:rPr lang="en-US" altLang="zh-CN" sz="2400" dirty="0" err="1">
                <a:solidFill>
                  <a:srgbClr val="CC0066"/>
                </a:solidFill>
                <a:cs typeface="Times New Roman" panose="02020603050405020304" pitchFamily="18" charset="0"/>
                <a:sym typeface="+mn-ea"/>
              </a:rPr>
              <a:t>this.age</a:t>
            </a:r>
            <a:r>
              <a:rPr lang="en-US" altLang="zh-CN" sz="2400" dirty="0">
                <a:solidFill>
                  <a:srgbClr val="CC0066"/>
                </a:solidFill>
                <a:cs typeface="Times New Roman" panose="02020603050405020304" pitchFamily="18" charset="0"/>
                <a:sym typeface="+mn-ea"/>
              </a:rPr>
              <a:t>=age;</a:t>
            </a:r>
            <a:endParaRPr lang="en-US" altLang="zh-CN" sz="2400" dirty="0">
              <a:solidFill>
                <a:srgbClr val="CC0066"/>
              </a:solidFill>
              <a:cs typeface="Times New Roman" panose="02020603050405020304" pitchFamily="18" charset="0"/>
              <a:sym typeface="+mn-ea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CC0066"/>
                </a:solidFill>
                <a:cs typeface="Times New Roman" panose="02020603050405020304" pitchFamily="18" charset="0"/>
                <a:sym typeface="+mn-ea"/>
              </a:rPr>
              <a:t>        } </a:t>
            </a:r>
            <a:endParaRPr lang="en-US" altLang="zh-CN" sz="2400" dirty="0">
              <a:solidFill>
                <a:srgbClr val="CC0066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CC0066"/>
                </a:solidFill>
                <a:cs typeface="Times New Roman" panose="02020603050405020304" pitchFamily="18" charset="0"/>
                <a:sym typeface="+mn-ea"/>
              </a:rPr>
              <a:t>        use=new User(“Bill”, “26”)</a:t>
            </a:r>
            <a:r>
              <a:rPr lang="en-US" altLang="zh-CN" sz="2400" dirty="0">
                <a:solidFill>
                  <a:schemeClr val="accent1"/>
                </a:solidFill>
                <a:cs typeface="Times New Roman" panose="02020603050405020304" pitchFamily="18" charset="0"/>
                <a:sym typeface="+mn-ea"/>
              </a:rPr>
              <a:t>      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189443" name="Rectangle 3"/>
          <p:cNvSpPr>
            <a:spLocks noChangeArrowheads="1"/>
          </p:cNvSpPr>
          <p:nvPr/>
        </p:nvSpPr>
        <p:spPr bwMode="auto">
          <a:xfrm>
            <a:off x="725170" y="5203190"/>
            <a:ext cx="9672320" cy="54483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en-US" altLang="zh-CN" sz="2400"/>
              <a:t>this</a:t>
            </a:r>
            <a:r>
              <a:rPr lang="zh-CN" altLang="en-US" sz="2400"/>
              <a:t>关键字总是指当前的对象，这同其他面向对象语言的</a:t>
            </a:r>
            <a:r>
              <a:rPr lang="en-US" altLang="zh-CN" sz="2400"/>
              <a:t>this</a:t>
            </a:r>
            <a:r>
              <a:rPr lang="zh-CN" altLang="en-US" sz="2400"/>
              <a:t>功能一样。</a:t>
            </a:r>
            <a:endParaRPr lang="zh-CN" altLang="en-US" sz="2400"/>
          </a:p>
        </p:txBody>
      </p:sp>
      <p:sp>
        <p:nvSpPr>
          <p:cNvPr id="189444" name="Rectangle 4"/>
          <p:cNvSpPr>
            <a:spLocks noChangeArrowheads="1"/>
          </p:cNvSpPr>
          <p:nvPr/>
        </p:nvSpPr>
        <p:spPr bwMode="auto">
          <a:xfrm>
            <a:off x="725473" y="4311394"/>
            <a:ext cx="5545137" cy="504825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66700" indent="-266700"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/>
              <a:t>对象实例名称</a:t>
            </a:r>
            <a:r>
              <a:rPr lang="en-US" altLang="zh-CN" sz="2400" dirty="0"/>
              <a:t>=new </a:t>
            </a:r>
            <a:r>
              <a:rPr lang="zh-CN" altLang="en-US" sz="2400" dirty="0"/>
              <a:t>对象名称</a:t>
            </a:r>
            <a:r>
              <a:rPr lang="en-US" altLang="zh-CN" sz="2400" dirty="0"/>
              <a:t>(</a:t>
            </a:r>
            <a:r>
              <a:rPr lang="zh-CN" altLang="en-US" sz="2400" dirty="0"/>
              <a:t>参数列表</a:t>
            </a:r>
            <a:r>
              <a:rPr lang="en-US" altLang="zh-CN" sz="2400" dirty="0"/>
              <a:t>)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89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2" dur="500"/>
                                        <p:tgtEl>
                                          <p:spTgt spid="189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3" grpId="0" bldLvl="0" animBg="1"/>
      <p:bldP spid="189444" grpId="0" bldLvl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JavaScript内置对象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solidFill>
                  <a:srgbClr val="D60093"/>
                </a:solidFill>
                <a:sym typeface="+mn-ea"/>
              </a:rPr>
              <a:t>1. </a:t>
            </a:r>
            <a:r>
              <a:rPr lang="zh-CN" altLang="en-US" sz="2400" dirty="0">
                <a:solidFill>
                  <a:srgbClr val="D60093"/>
                </a:solidFill>
                <a:sym typeface="+mn-ea"/>
              </a:rPr>
              <a:t>时间对象（</a:t>
            </a:r>
            <a:r>
              <a:rPr lang="en-US" altLang="zh-CN" sz="2400" dirty="0">
                <a:solidFill>
                  <a:srgbClr val="D60093"/>
                </a:solidFill>
                <a:sym typeface="+mn-ea"/>
              </a:rPr>
              <a:t>Date</a:t>
            </a:r>
            <a:r>
              <a:rPr lang="zh-CN" altLang="en-US" sz="2400" dirty="0">
                <a:solidFill>
                  <a:srgbClr val="D60093"/>
                </a:solidFill>
                <a:sym typeface="+mn-ea"/>
              </a:rPr>
              <a:t>对象）</a:t>
            </a:r>
            <a:endParaRPr lang="zh-CN" altLang="en-US" sz="2400" dirty="0">
              <a:solidFill>
                <a:srgbClr val="D60093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zh-CN" altLang="en-US" sz="2400" dirty="0">
                <a:sym typeface="+mn-ea"/>
              </a:rPr>
              <a:t>   时间对象使用前必须先声明，如：</a:t>
            </a:r>
            <a:r>
              <a:rPr lang="en-US" altLang="zh-CN" sz="2400" dirty="0">
                <a:sym typeface="+mn-ea"/>
              </a:rPr>
              <a:t>var cur=new Date()   </a:t>
            </a:r>
            <a:endParaRPr lang="en-US" altLang="zh-CN" sz="2400" dirty="0"/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sym typeface="+mn-ea"/>
              </a:rPr>
              <a:t>   </a:t>
            </a:r>
            <a:r>
              <a:rPr lang="zh-CN" altLang="en-US" sz="2400" dirty="0">
                <a:sym typeface="+mn-ea"/>
              </a:rPr>
              <a:t>注意</a:t>
            </a:r>
            <a:r>
              <a:rPr lang="en-US" altLang="zh-CN" sz="2400" dirty="0">
                <a:sym typeface="+mn-ea"/>
              </a:rPr>
              <a:t>Date()</a:t>
            </a:r>
            <a:r>
              <a:rPr lang="zh-CN" altLang="en-US" sz="2400" dirty="0">
                <a:sym typeface="+mn-ea"/>
              </a:rPr>
              <a:t>的首字母必须大写。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4" name="圆角矩形标注 3"/>
          <p:cNvSpPr>
            <a:spLocks noChangeArrowheads="1"/>
          </p:cNvSpPr>
          <p:nvPr/>
        </p:nvSpPr>
        <p:spPr bwMode="auto">
          <a:xfrm>
            <a:off x="8289291" y="501015"/>
            <a:ext cx="3167063" cy="1296988"/>
          </a:xfrm>
          <a:prstGeom prst="wedgeRoundRectCallout">
            <a:avLst>
              <a:gd name="adj1" fmla="val -60045"/>
              <a:gd name="adj2" fmla="val 26132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Comic Sans MS" panose="030F0702030302020204" pitchFamily="66" charset="0"/>
                <a:ea typeface="宋体" panose="02010600030101010101" pitchFamily="2" charset="-122"/>
              </a:rPr>
              <a:t>使用</a:t>
            </a:r>
            <a:r>
              <a:rPr lang="en-US" altLang="zh-CN" sz="2400">
                <a:latin typeface="Comic Sans MS" panose="030F0702030302020204" pitchFamily="66" charset="0"/>
                <a:ea typeface="宋体" panose="02010600030101010101" pitchFamily="2" charset="-122"/>
              </a:rPr>
              <a:t>Date</a:t>
            </a:r>
            <a:r>
              <a:rPr lang="zh-CN" altLang="en-US" sz="2400">
                <a:latin typeface="Comic Sans MS" panose="030F0702030302020204" pitchFamily="66" charset="0"/>
                <a:ea typeface="宋体" panose="02010600030101010101" pitchFamily="2" charset="-122"/>
              </a:rPr>
              <a:t>对象读取时间和日期，结果依赖于客户端的时钟</a:t>
            </a:r>
            <a:endParaRPr lang="zh-CN" altLang="en-US" sz="24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Group 29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985645" y="2442845"/>
          <a:ext cx="8220710" cy="388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0735"/>
                <a:gridCol w="6149975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</a:rPr>
                        <a:t>方法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黑体" panose="02010609060101010101" charset="-122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</a:rPr>
                        <a:t>说 明 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黑体" panose="02010609060101010101" charset="-122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getDate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()</a:t>
                      </a:r>
                      <a:endParaRPr kumimoji="0" lang="zh-CN" alt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1778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返回</a:t>
                      </a:r>
                      <a:r>
                        <a:rPr kumimoji="0" lang="en-US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 Date </a:t>
                      </a:r>
                      <a:r>
                        <a:rPr kumimoji="0" lang="zh-CN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对象的一个月中的每一天，其值介于</a:t>
                      </a:r>
                      <a:r>
                        <a:rPr kumimoji="0" lang="en-US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31</a:t>
                      </a:r>
                      <a:r>
                        <a:rPr kumimoji="0" lang="zh-CN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之间</a:t>
                      </a:r>
                      <a:endParaRPr kumimoji="0" lang="zh-CN" altLang="zh-CN" sz="1800" b="1" i="0" u="none" strike="noStrike" kern="1200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1778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getDay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()</a:t>
                      </a:r>
                      <a:endParaRPr kumimoji="0" lang="zh-CN" alt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1778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返回</a:t>
                      </a:r>
                      <a:r>
                        <a:rPr kumimoji="0" lang="en-US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 Date </a:t>
                      </a:r>
                      <a:r>
                        <a:rPr kumimoji="0" lang="zh-CN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对象的星期中的每一天，其值介于</a:t>
                      </a:r>
                      <a:r>
                        <a:rPr kumimoji="0" lang="en-US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zh-CN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kumimoji="0" lang="zh-CN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之间</a:t>
                      </a:r>
                      <a:endParaRPr kumimoji="0" lang="zh-CN" alt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1778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getHours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()</a:t>
                      </a:r>
                      <a:endParaRPr kumimoji="0" lang="zh-CN" alt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1778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返回</a:t>
                      </a:r>
                      <a:r>
                        <a:rPr kumimoji="0" lang="en-US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 Date </a:t>
                      </a:r>
                      <a:r>
                        <a:rPr kumimoji="0" lang="zh-CN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对象的小时数，其值介于</a:t>
                      </a:r>
                      <a:r>
                        <a:rPr kumimoji="0" lang="en-US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zh-CN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23</a:t>
                      </a:r>
                      <a:r>
                        <a:rPr kumimoji="0" lang="zh-CN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之间</a:t>
                      </a:r>
                      <a:endParaRPr kumimoji="0" lang="zh-CN" altLang="zh-CN" sz="1800" b="1" i="0" u="none" strike="noStrike" kern="1200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1778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getMinutes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()</a:t>
                      </a:r>
                      <a:endParaRPr kumimoji="0" lang="zh-CN" alt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1778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返回</a:t>
                      </a:r>
                      <a:r>
                        <a:rPr kumimoji="0" lang="en-US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 Date </a:t>
                      </a:r>
                      <a:r>
                        <a:rPr kumimoji="0" lang="zh-CN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对象的分钟数，其值介于</a:t>
                      </a:r>
                      <a:r>
                        <a:rPr kumimoji="0" lang="en-US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zh-CN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59</a:t>
                      </a:r>
                      <a:r>
                        <a:rPr kumimoji="0" lang="zh-CN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之间</a:t>
                      </a:r>
                      <a:endParaRPr kumimoji="0" lang="zh-CN" altLang="zh-CN" sz="1800" b="1" i="0" u="none" strike="noStrike" kern="1200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1778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getSeconds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()</a:t>
                      </a:r>
                      <a:endParaRPr kumimoji="0" lang="zh-CN" alt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1778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返回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 Date </a:t>
                      </a:r>
                      <a:r>
                        <a:rPr kumimoji="0" lang="zh-CN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对象的秒数，其值介于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zh-CN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59</a:t>
                      </a:r>
                      <a:r>
                        <a:rPr kumimoji="0" lang="zh-CN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之间</a:t>
                      </a:r>
                      <a:endParaRPr kumimoji="0" lang="zh-CN" alt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1778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getMonth()</a:t>
                      </a:r>
                      <a:endParaRPr kumimoji="0" lang="zh-CN" altLang="zh-CN" sz="1800" b="1" i="0" u="none" strike="noStrike" kern="1200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1778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返回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 Date </a:t>
                      </a:r>
                      <a:r>
                        <a:rPr kumimoji="0" lang="zh-CN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对象的月份，其值介于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zh-CN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kumimoji="0" lang="zh-CN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之间</a:t>
                      </a:r>
                      <a:endParaRPr kumimoji="0" lang="zh-CN" alt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1778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getFullYear()</a:t>
                      </a:r>
                      <a:endParaRPr kumimoji="0" lang="zh-CN" altLang="zh-CN" sz="1800" b="1" i="0" u="none" strike="noStrike" kern="1200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1778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返回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 Date </a:t>
                      </a:r>
                      <a:r>
                        <a:rPr kumimoji="0" lang="zh-CN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对象的年份，其值为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zh-CN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位数</a:t>
                      </a:r>
                      <a:endParaRPr kumimoji="0" lang="zh-CN" alt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1778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91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getTime()</a:t>
                      </a:r>
                      <a:endParaRPr kumimoji="0" lang="zh-CN" altLang="zh-CN" sz="1800" b="1" i="0" u="none" strike="noStrike" kern="1200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1778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返回自某一时刻（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1970</a:t>
                      </a:r>
                      <a:r>
                        <a:rPr kumimoji="0" lang="zh-CN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日）以来的毫秒数</a:t>
                      </a:r>
                      <a:endParaRPr kumimoji="0" lang="zh-CN" alt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1778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JavaScript内置对象</a:t>
            </a:r>
            <a:endParaRPr lang="zh-CN" altLang="en-US">
              <a:sym typeface="+mn-ea"/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/>
        </p:nvSpPr>
        <p:spPr>
          <a:xfrm>
            <a:off x="2066925" y="903288"/>
            <a:ext cx="8058150" cy="5508625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例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15</a:t>
            </a: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：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&lt;html&gt;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&lt;head&gt;&lt;title&gt;时间对象示例&lt;/title&gt;&lt;/head&gt;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&lt;body&gt;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   &lt;script&gt;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 	   var </a:t>
            </a:r>
            <a:r>
              <a:rPr lang="en-US" altLang="zh-CN" sz="1800" dirty="0" err="1">
                <a:latin typeface="Consolas" panose="020B0609020204030204" pitchFamily="49" charset="0"/>
                <a:sym typeface="+mn-ea"/>
              </a:rPr>
              <a:t>curr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=new Date();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 	   </a:t>
            </a:r>
            <a:r>
              <a:rPr lang="en-US" altLang="zh-CN" sz="1800" dirty="0" err="1">
                <a:latin typeface="Consolas" panose="020B0609020204030204" pitchFamily="49" charset="0"/>
                <a:sym typeface="+mn-ea"/>
              </a:rPr>
              <a:t>document.write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("</a:t>
            </a: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今天是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");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 	   switch(</a:t>
            </a:r>
            <a:r>
              <a:rPr lang="en-US" altLang="zh-CN" sz="1800" dirty="0" err="1">
                <a:latin typeface="Consolas" panose="020B0609020204030204" pitchFamily="49" charset="0"/>
                <a:sym typeface="+mn-ea"/>
              </a:rPr>
              <a:t>curr.getDay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()){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 		 case 0:document.write("</a:t>
            </a: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周日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,</a:t>
            </a: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休息了！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");break;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 		 case 1:document.write("</a:t>
            </a: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周一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,</a:t>
            </a: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需要工作！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");break;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 		 case 2:document.write("</a:t>
            </a: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周二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,</a:t>
            </a: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需要工作！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");break;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   	 case 3:document.write("</a:t>
            </a: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周三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,</a:t>
            </a: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需要工作！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");break;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    	 case 4:document.write("</a:t>
            </a: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周四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,</a:t>
            </a: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需要工作！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");break;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   	 case 5:document.write("</a:t>
            </a: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周五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,</a:t>
            </a: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需要工作！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");break;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 	     case 6:document.write("</a:t>
            </a: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周六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,</a:t>
            </a:r>
            <a:r>
              <a:rPr lang="zh-CN" altLang="en-US" sz="1800" dirty="0">
                <a:latin typeface="Consolas" panose="020B0609020204030204" pitchFamily="49" charset="0"/>
                <a:sym typeface="+mn-ea"/>
              </a:rPr>
              <a:t>休息了！</a:t>
            </a: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");break;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	   }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	&lt;/script&gt;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&lt;/body&gt;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sym typeface="+mn-ea"/>
              </a:rPr>
              <a:t>&lt;/html&gt;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JavaScript内置对象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solidFill>
                  <a:srgbClr val="D60093"/>
                </a:solidFill>
                <a:sym typeface="+mn-ea"/>
              </a:rPr>
              <a:t>2. Math</a:t>
            </a:r>
            <a:r>
              <a:rPr lang="zh-CN" altLang="en-US" sz="2400" dirty="0">
                <a:solidFill>
                  <a:srgbClr val="D60093"/>
                </a:solidFill>
                <a:sym typeface="+mn-ea"/>
              </a:rPr>
              <a:t>对象</a:t>
            </a:r>
            <a:endParaRPr lang="zh-CN" altLang="en-US" sz="2400" dirty="0">
              <a:solidFill>
                <a:srgbClr val="D60093"/>
              </a:solidFill>
            </a:endParaRPr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 dirty="0">
                <a:sym typeface="+mn-ea"/>
              </a:rPr>
              <a:t>    </a:t>
            </a:r>
            <a:r>
              <a:rPr lang="en-US" altLang="zh-CN" sz="2400" dirty="0">
                <a:sym typeface="+mn-ea"/>
              </a:rPr>
              <a:t>Math</a:t>
            </a:r>
            <a:r>
              <a:rPr lang="zh-CN" altLang="en-US" sz="2400" dirty="0">
                <a:sym typeface="+mn-ea"/>
              </a:rPr>
              <a:t>对象可以用来处理各种数学运算。</a:t>
            </a:r>
            <a:r>
              <a:rPr lang="en-US" altLang="zh-CN" sz="2400" dirty="0">
                <a:sym typeface="+mn-ea"/>
              </a:rPr>
              <a:t>Math</a:t>
            </a:r>
            <a:r>
              <a:rPr lang="zh-CN" altLang="en-US" sz="2400" dirty="0">
                <a:sym typeface="+mn-ea"/>
              </a:rPr>
              <a:t>对象的内置方法定义了各种数学运算和可以直接调用的</a:t>
            </a:r>
            <a:r>
              <a:rPr lang="en-US" altLang="zh-CN" sz="2400" dirty="0">
                <a:sym typeface="+mn-ea"/>
              </a:rPr>
              <a:t>Math</a:t>
            </a:r>
            <a:r>
              <a:rPr lang="zh-CN" altLang="en-US" sz="2400" dirty="0">
                <a:sym typeface="+mn-ea"/>
              </a:rPr>
              <a:t>对象的方法。</a:t>
            </a:r>
            <a:endParaRPr lang="zh-CN" altLang="en-US" sz="2400" dirty="0"/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 dirty="0">
                <a:sym typeface="+mn-ea"/>
              </a:rPr>
              <a:t>                  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Math.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数学函数（参数）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192515" name="Text Box 3"/>
          <p:cNvSpPr txBox="1">
            <a:spLocks noChangeArrowheads="1"/>
          </p:cNvSpPr>
          <p:nvPr/>
        </p:nvSpPr>
        <p:spPr bwMode="auto">
          <a:xfrm>
            <a:off x="977901" y="2989263"/>
            <a:ext cx="5256213" cy="469900"/>
          </a:xfrm>
          <a:prstGeom prst="rect">
            <a:avLst/>
          </a:prstGeom>
          <a:noFill/>
          <a:ln w="12700" algn="ctr">
            <a:solidFill>
              <a:srgbClr val="FF66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</a:rPr>
              <a:t>Math.E  Math.LN2   Math.sin(num)</a:t>
            </a:r>
            <a:r>
              <a:rPr lang="zh-CN" altLang="en-US" sz="2400">
                <a:solidFill>
                  <a:srgbClr val="0000CC"/>
                </a:solidFill>
              </a:rPr>
              <a:t>等</a:t>
            </a:r>
            <a:endParaRPr lang="zh-CN" altLang="en-US" sz="2400"/>
          </a:p>
        </p:txBody>
      </p:sp>
      <p:sp>
        <p:nvSpPr>
          <p:cNvPr id="192517" name="Text Box 5"/>
          <p:cNvSpPr txBox="1">
            <a:spLocks noChangeArrowheads="1"/>
          </p:cNvSpPr>
          <p:nvPr/>
        </p:nvSpPr>
        <p:spPr bwMode="auto">
          <a:xfrm>
            <a:off x="977900" y="3865564"/>
            <a:ext cx="6985000" cy="131603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tx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注意：</a:t>
            </a:r>
            <a:r>
              <a:rPr lang="en-US" altLang="zh-CN" sz="2400">
                <a:latin typeface="Comic Sans MS" panose="030F0702030302020204" pitchFamily="66" charset="0"/>
                <a:ea typeface="宋体" panose="02010600030101010101" pitchFamily="2" charset="-122"/>
              </a:rPr>
              <a:t>Math</a:t>
            </a:r>
            <a:r>
              <a:rPr lang="zh-CN" altLang="en-US" sz="2400">
                <a:latin typeface="Comic Sans MS" panose="030F0702030302020204" pitchFamily="66" charset="0"/>
                <a:ea typeface="宋体" panose="02010600030101010101" pitchFamily="2" charset="-122"/>
              </a:rPr>
              <a:t>是一个静态对象，不需要创建实例即可使用。</a:t>
            </a:r>
            <a:r>
              <a:rPr lang="en-US" altLang="zh-CN" sz="2400">
                <a:latin typeface="Comic Sans MS" panose="030F0702030302020204" pitchFamily="66" charset="0"/>
                <a:ea typeface="宋体" panose="02010600030101010101" pitchFamily="2" charset="-122"/>
              </a:rPr>
              <a:t>Math</a:t>
            </a:r>
            <a:r>
              <a:rPr lang="zh-CN" altLang="en-US" sz="2400">
                <a:latin typeface="Comic Sans MS" panose="030F0702030302020204" pitchFamily="66" charset="0"/>
                <a:ea typeface="宋体" panose="02010600030101010101" pitchFamily="2" charset="-122"/>
              </a:rPr>
              <a:t>对象的属性，只能读取，不能对其赋值。</a:t>
            </a:r>
            <a:endParaRPr lang="zh-CN" altLang="en-US" sz="24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5" grpId="0" bldLvl="0" animBg="1"/>
      <p:bldP spid="192517" grpId="0" bldLvl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JavaScript内置对象</a:t>
            </a:r>
            <a:endParaRPr lang="zh-CN" altLang="en-US">
              <a:sym typeface="+mn-ea"/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/>
        </p:nvSpPr>
        <p:spPr>
          <a:xfrm>
            <a:off x="2066925" y="1021715"/>
            <a:ext cx="8058150" cy="481457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例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16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：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&lt;html&gt;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&lt;head&gt;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&lt;title&gt;Math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对象示例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&lt;/title&gt;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&lt;script&gt;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    function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rnd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(){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   var a =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Math.random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(1);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   alert("0-1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的随机数为：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"+a);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}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&lt;/script&gt;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&lt;/head&gt;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&lt;body&gt;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&lt;input id=button1 type=button value="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产生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0-1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之间的随机数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" 	onclick="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rnd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()"&gt;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&lt;/body&gt;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&lt;/html&gt;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JavaScript内置对象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solidFill>
                  <a:srgbClr val="D60093"/>
                </a:solidFill>
                <a:sym typeface="+mn-ea"/>
              </a:rPr>
              <a:t>3. String</a:t>
            </a:r>
            <a:r>
              <a:rPr lang="zh-CN" altLang="en-US" sz="2400" dirty="0">
                <a:solidFill>
                  <a:srgbClr val="D60093"/>
                </a:solidFill>
                <a:sym typeface="+mn-ea"/>
              </a:rPr>
              <a:t>对象</a:t>
            </a:r>
            <a:endParaRPr lang="zh-CN" altLang="en-US" sz="2400" dirty="0">
              <a:solidFill>
                <a:srgbClr val="D60093"/>
              </a:solidFill>
            </a:endParaRPr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 dirty="0">
                <a:sym typeface="+mn-ea"/>
              </a:rPr>
              <a:t>    一般利用</a:t>
            </a:r>
            <a:r>
              <a:rPr lang="en-US" altLang="zh-CN" sz="2400" dirty="0">
                <a:sym typeface="+mn-ea"/>
              </a:rPr>
              <a:t>String</a:t>
            </a:r>
            <a:r>
              <a:rPr lang="zh-CN" altLang="en-US" sz="2400" dirty="0">
                <a:sym typeface="+mn-ea"/>
              </a:rPr>
              <a:t>对象提供的函数来处理字符串。</a:t>
            </a:r>
            <a:endParaRPr lang="zh-CN" altLang="en-US" sz="2400" dirty="0"/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     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[var] String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对象实例名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=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字符串值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194563" name="Rectangle 3"/>
          <p:cNvSpPr>
            <a:spLocks noChangeArrowheads="1"/>
          </p:cNvSpPr>
          <p:nvPr/>
        </p:nvSpPr>
        <p:spPr bwMode="auto">
          <a:xfrm>
            <a:off x="761365" y="3637915"/>
            <a:ext cx="7775575" cy="2503170"/>
          </a:xfrm>
          <a:prstGeom prst="rect">
            <a:avLst/>
          </a:prstGeom>
          <a:noFill/>
          <a:ln w="15875">
            <a:solidFill>
              <a:srgbClr val="FF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5125" indent="-365125"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String</a:t>
            </a:r>
            <a:r>
              <a:rPr lang="zh-CN" altLang="en-US" sz="2400"/>
              <a:t>对字符串的处理主要提供了下列方法：    </a:t>
            </a:r>
            <a:endParaRPr lang="zh-CN" altLang="en-US" sz="240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99"/>
                </a:solidFill>
              </a:rPr>
              <a:t>① </a:t>
            </a:r>
            <a:r>
              <a:rPr lang="en-US" altLang="zh-CN" sz="2400">
                <a:solidFill>
                  <a:srgbClr val="000099"/>
                </a:solidFill>
              </a:rPr>
              <a:t>charAt(idx): </a:t>
            </a:r>
            <a:r>
              <a:rPr lang="zh-CN" altLang="en-US" sz="2400"/>
              <a:t>返回指定位置处的字符</a:t>
            </a:r>
            <a:endParaRPr lang="zh-CN" altLang="en-US" sz="240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99"/>
                </a:solidFill>
              </a:rPr>
              <a:t>② </a:t>
            </a:r>
            <a:r>
              <a:rPr lang="en-US" altLang="zh-CN" sz="2400">
                <a:solidFill>
                  <a:srgbClr val="000099"/>
                </a:solidFill>
              </a:rPr>
              <a:t>indexOf(str): </a:t>
            </a:r>
            <a:r>
              <a:rPr lang="zh-CN" altLang="en-US" sz="2400"/>
              <a:t>返回指定子字符串的位置，从左到右</a:t>
            </a:r>
            <a:endParaRPr lang="zh-CN" altLang="en-US" sz="240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99"/>
                </a:solidFill>
              </a:rPr>
              <a:t>③ </a:t>
            </a:r>
            <a:r>
              <a:rPr lang="en-US" altLang="zh-CN" sz="2400">
                <a:solidFill>
                  <a:srgbClr val="000099"/>
                </a:solidFill>
              </a:rPr>
              <a:t>lastIndexOf(str): </a:t>
            </a:r>
            <a:r>
              <a:rPr lang="zh-CN" altLang="en-US" sz="2400"/>
              <a:t>返回指定子字符串的位置，从右到左</a:t>
            </a:r>
            <a:endParaRPr lang="zh-CN" altLang="en-US" sz="240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99"/>
                </a:solidFill>
              </a:rPr>
              <a:t>④ </a:t>
            </a:r>
            <a:r>
              <a:rPr lang="en-US" altLang="zh-CN" sz="2400">
                <a:solidFill>
                  <a:srgbClr val="000099"/>
                </a:solidFill>
              </a:rPr>
              <a:t>toLowerCase( ): </a:t>
            </a:r>
            <a:r>
              <a:rPr lang="zh-CN" altLang="en-US" sz="2400"/>
              <a:t>将字符串中的字符全部转化成小写</a:t>
            </a:r>
            <a:endParaRPr lang="zh-CN" altLang="en-US" sz="240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99"/>
                </a:solidFill>
              </a:rPr>
              <a:t>⑤ </a:t>
            </a:r>
            <a:r>
              <a:rPr lang="en-US" altLang="zh-CN" sz="2400">
                <a:solidFill>
                  <a:srgbClr val="000099"/>
                </a:solidFill>
              </a:rPr>
              <a:t>toUpperCase( ): </a:t>
            </a:r>
            <a:r>
              <a:rPr lang="zh-CN" altLang="en-US" sz="2400"/>
              <a:t>将字符串中的字符全部转化成大写</a:t>
            </a:r>
            <a:endParaRPr lang="zh-CN" altLang="en-US" sz="2400"/>
          </a:p>
        </p:txBody>
      </p:sp>
      <p:sp>
        <p:nvSpPr>
          <p:cNvPr id="194564" name="Rectangle 4"/>
          <p:cNvSpPr>
            <a:spLocks noChangeArrowheads="1"/>
          </p:cNvSpPr>
          <p:nvPr/>
        </p:nvSpPr>
        <p:spPr bwMode="auto">
          <a:xfrm>
            <a:off x="755576" y="2416845"/>
            <a:ext cx="7992888" cy="863600"/>
          </a:xfrm>
          <a:prstGeom prst="rect">
            <a:avLst/>
          </a:prstGeom>
          <a:noFill/>
          <a:ln w="15875">
            <a:solidFill>
              <a:srgbClr val="FF66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String</a:t>
            </a:r>
            <a:r>
              <a:rPr lang="zh-CN" altLang="en-US" sz="2400"/>
              <a:t>对象常用的只有一个属性</a:t>
            </a:r>
            <a:r>
              <a:rPr lang="en-US" altLang="zh-CN" sz="2400"/>
              <a:t>length</a:t>
            </a:r>
            <a:r>
              <a:rPr lang="zh-CN" altLang="en-US" sz="2400"/>
              <a:t>，返回字符串中包含的字符数。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500"/>
                                        <p:tgtEl>
                                          <p:spTgt spid="19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nimBg="1"/>
      <p:bldP spid="194564" grpId="0" bldLvl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JavaScript内置对象</a:t>
            </a:r>
            <a:endParaRPr lang="zh-CN" altLang="en-US">
              <a:sym typeface="+mn-ea"/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/>
        </p:nvSpPr>
        <p:spPr>
          <a:xfrm>
            <a:off x="2066925" y="989013"/>
            <a:ext cx="8058150" cy="5451475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例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17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：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&lt;html&gt;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&lt;head&gt;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&lt;title&gt;String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对象示例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&lt;/title&gt;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&lt;/head&gt;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&lt;body&gt;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&lt;script&gt;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    var str="I AM A CHINESE, I LOVE CHINA!";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    a=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str.charAt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(7);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    b=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str.indexOf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("A");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    c=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str.lastIndexOf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("a");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    d=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str.toLowerCase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   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document.write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(a + "&lt;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br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&gt;");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   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document.write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(b + "&lt;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br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&gt;");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   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document.write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(c + "&lt;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br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&gt;");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   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document.write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(d + "&lt;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br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&gt;");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&lt;/script&gt;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&lt;/body&gt;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&lt;/html&gt;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JavaScript内置对象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olidFill>
                  <a:srgbClr val="D60093"/>
                </a:solidFill>
                <a:sym typeface="+mn-ea"/>
              </a:rPr>
              <a:t>4. Array</a:t>
            </a:r>
            <a:r>
              <a:rPr lang="zh-CN" altLang="en-US" sz="2400" dirty="0">
                <a:solidFill>
                  <a:srgbClr val="D60093"/>
                </a:solidFill>
                <a:sym typeface="+mn-ea"/>
              </a:rPr>
              <a:t>对象</a:t>
            </a:r>
            <a:endParaRPr sz="2400" dirty="0"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数组对象的length属性获取数组元素的个数，length的值在向数组中添加元素时会自动改变。</a:t>
            </a:r>
            <a:endParaRPr sz="2400" dirty="0"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常用方法：</a:t>
            </a:r>
            <a:endParaRPr sz="2400" dirty="0">
              <a:cs typeface="Times New Roman" panose="02020603050405020304" pitchFamily="18" charset="0"/>
              <a:sym typeface="+mn-ea"/>
            </a:endParaRPr>
          </a:p>
          <a:p>
            <a:pPr marL="457200" lvl="1" indent="0">
              <a:buClr>
                <a:srgbClr val="0059C4"/>
              </a:buClr>
              <a:buFont typeface="Wingdings" panose="05000000000000000000" charset="0"/>
              <a:buNone/>
            </a:pPr>
            <a:r>
              <a:rPr b="1" dirty="0">
                <a:cs typeface="Times New Roman" panose="02020603050405020304" pitchFamily="18" charset="0"/>
                <a:sym typeface="+mn-ea"/>
              </a:rPr>
              <a:t>join()：将数组中所有元素转化为字符串，并把这些字符串连接成一个字符串。 </a:t>
            </a:r>
            <a:endParaRPr b="1" dirty="0">
              <a:cs typeface="Times New Roman" panose="02020603050405020304" pitchFamily="18" charset="0"/>
              <a:sym typeface="+mn-ea"/>
            </a:endParaRPr>
          </a:p>
          <a:p>
            <a:pPr marL="457200" lvl="1" indent="0">
              <a:buClr>
                <a:srgbClr val="0059C4"/>
              </a:buClr>
              <a:buFont typeface="Wingdings" panose="05000000000000000000" charset="0"/>
              <a:buNone/>
            </a:pPr>
            <a:r>
              <a:rPr b="1" dirty="0">
                <a:cs typeface="Times New Roman" panose="02020603050405020304" pitchFamily="18" charset="0"/>
                <a:sym typeface="+mn-ea"/>
              </a:rPr>
              <a:t>reverse()：按照数组的索引号将数组元素的顺序颠倒。</a:t>
            </a:r>
            <a:endParaRPr b="1" dirty="0">
              <a:cs typeface="Times New Roman" panose="02020603050405020304" pitchFamily="18" charset="0"/>
              <a:sym typeface="+mn-ea"/>
            </a:endParaRPr>
          </a:p>
          <a:p>
            <a:pPr marL="457200" lvl="1" indent="0">
              <a:buClr>
                <a:srgbClr val="0059C4"/>
              </a:buClr>
              <a:buFont typeface="Wingdings" panose="05000000000000000000" charset="0"/>
              <a:buNone/>
            </a:pPr>
            <a:r>
              <a:rPr b="1" dirty="0">
                <a:cs typeface="Times New Roman" panose="02020603050405020304" pitchFamily="18" charset="0"/>
                <a:sym typeface="+mn-ea"/>
              </a:rPr>
              <a:t>sort()：基于一种顺序重新排列数组的元素。</a:t>
            </a:r>
            <a:endParaRPr b="1" dirty="0">
              <a:cs typeface="Times New Roman" panose="02020603050405020304" pitchFamily="18" charset="0"/>
              <a:sym typeface="+mn-ea"/>
            </a:endParaRPr>
          </a:p>
          <a:p>
            <a:pPr marL="457200" lvl="1" indent="0">
              <a:buClr>
                <a:srgbClr val="0059C4"/>
              </a:buClr>
              <a:buFont typeface="Wingdings" panose="05000000000000000000" charset="0"/>
              <a:buNone/>
            </a:pPr>
            <a:r>
              <a:rPr b="1" dirty="0">
                <a:cs typeface="Times New Roman" panose="02020603050405020304" pitchFamily="18" charset="0"/>
                <a:sym typeface="+mn-ea"/>
              </a:rPr>
              <a:t>toString()：返回一个包含数组中所有元素的字符串，并用逗号隔开各个数组元素。</a:t>
            </a:r>
            <a:endParaRPr b="1" dirty="0"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96612" name="Text Box 4"/>
          <p:cNvSpPr txBox="1">
            <a:spLocks noChangeArrowheads="1"/>
          </p:cNvSpPr>
          <p:nvPr/>
        </p:nvSpPr>
        <p:spPr bwMode="auto">
          <a:xfrm>
            <a:off x="2279650" y="4730750"/>
            <a:ext cx="7632700" cy="1568450"/>
          </a:xfrm>
          <a:prstGeom prst="rect">
            <a:avLst/>
          </a:prstGeom>
          <a:noFill/>
          <a:ln w="12700" algn="ctr">
            <a:solidFill>
              <a:srgbClr val="FF66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CC"/>
                </a:solidFill>
              </a:rPr>
              <a:t>例子：</a:t>
            </a:r>
            <a:endParaRPr lang="zh-CN" altLang="en-US" sz="2400" dirty="0">
              <a:solidFill>
                <a:srgbClr val="0000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var classmates, </a:t>
            </a:r>
            <a:r>
              <a:rPr lang="en-US" altLang="zh-CN" sz="2400" dirty="0" err="1"/>
              <a:t>i</a:t>
            </a:r>
            <a:r>
              <a:rPr lang="zh-CN" altLang="en-US" sz="2400" dirty="0" err="1"/>
              <a:t>；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classmates = new Array("</a:t>
            </a:r>
            <a:r>
              <a:rPr lang="zh-CN" altLang="en-US" sz="2400" dirty="0"/>
              <a:t>张月</a:t>
            </a:r>
            <a:r>
              <a:rPr lang="en-US" altLang="zh-CN" sz="2400" dirty="0"/>
              <a:t>","</a:t>
            </a:r>
            <a:r>
              <a:rPr lang="zh-CN" altLang="en-US" sz="2400" dirty="0"/>
              <a:t>李良</a:t>
            </a:r>
            <a:r>
              <a:rPr lang="en-US" altLang="zh-CN" sz="2400" dirty="0"/>
              <a:t>","</a:t>
            </a:r>
            <a:r>
              <a:rPr lang="zh-CN" altLang="en-US" sz="2400" dirty="0"/>
              <a:t>王力</a:t>
            </a:r>
            <a:r>
              <a:rPr lang="en-US" altLang="zh-CN" sz="2400" dirty="0"/>
              <a:t>","</a:t>
            </a:r>
            <a:r>
              <a:rPr lang="zh-CN" altLang="en-US" sz="2400" dirty="0"/>
              <a:t>何芳</a:t>
            </a:r>
            <a:r>
              <a:rPr lang="en-US" altLang="zh-CN" sz="2400" dirty="0"/>
              <a:t>");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 err="1"/>
              <a:t>document.write</a:t>
            </a:r>
            <a:r>
              <a:rPr lang="en-US" altLang="zh-CN" sz="2400" dirty="0"/>
              <a:t>("</a:t>
            </a:r>
            <a:r>
              <a:rPr lang="zh-CN" altLang="en-US" sz="2400" dirty="0"/>
              <a:t>我的同学有</a:t>
            </a:r>
            <a:r>
              <a:rPr lang="en-US" altLang="zh-CN" sz="2400" dirty="0"/>
              <a:t>:"+</a:t>
            </a:r>
            <a:r>
              <a:rPr lang="en-US" altLang="zh-CN" sz="2400" dirty="0" err="1"/>
              <a:t>classmates.toString</a:t>
            </a:r>
            <a:r>
              <a:rPr lang="en-US" altLang="zh-CN" sz="2400" dirty="0"/>
              <a:t>());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2" grpId="0" bldLvl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对象处理语句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>
                <a:sym typeface="+mn-ea"/>
              </a:rPr>
              <a:t>  </a:t>
            </a:r>
            <a:r>
              <a:rPr lang="en-US" altLang="zh-CN" sz="2400">
                <a:solidFill>
                  <a:srgbClr val="D60093"/>
                </a:solidFill>
                <a:sym typeface="+mn-ea"/>
              </a:rPr>
              <a:t>1. for…in</a:t>
            </a:r>
            <a:r>
              <a:rPr lang="zh-CN" altLang="en-US" sz="2400">
                <a:solidFill>
                  <a:srgbClr val="D60093"/>
                </a:solidFill>
                <a:sym typeface="+mn-ea"/>
              </a:rPr>
              <a:t>语句</a:t>
            </a:r>
            <a:endParaRPr lang="zh-CN" altLang="en-US" sz="2400">
              <a:solidFill>
                <a:srgbClr val="D60093"/>
              </a:solidFill>
            </a:endParaRPr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>
                <a:sym typeface="+mn-ea"/>
              </a:rPr>
              <a:t>     如果不知道一个对象中包含多少元素，可以</a:t>
            </a:r>
            <a:r>
              <a:rPr lang="en-US" altLang="zh-CN" sz="2400">
                <a:sym typeface="+mn-ea"/>
              </a:rPr>
              <a:t>for…in</a:t>
            </a:r>
            <a:r>
              <a:rPr lang="zh-CN" altLang="en-US" sz="2400">
                <a:sym typeface="+mn-ea"/>
              </a:rPr>
              <a:t>语句实现循环。</a:t>
            </a:r>
            <a:r>
              <a:rPr lang="en-US" altLang="zh-CN" sz="2400">
                <a:sym typeface="+mn-ea"/>
              </a:rPr>
              <a:t>in</a:t>
            </a:r>
            <a:r>
              <a:rPr lang="zh-CN" altLang="en-US" sz="2400">
                <a:sym typeface="+mn-ea"/>
              </a:rPr>
              <a:t>后面跟一个对象，循环的次数是该对象中的所有元素的总和。</a:t>
            </a:r>
            <a:endParaRPr lang="zh-CN" altLang="en-US" sz="2400"/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sym typeface="+mn-ea"/>
              </a:rPr>
              <a:t>      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for(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变量名 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in 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对象或数组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)</a:t>
            </a:r>
            <a:endParaRPr lang="en-US" altLang="zh-CN" sz="240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sym typeface="+mn-ea"/>
              </a:rPr>
              <a:t>      { 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语句段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}</a:t>
            </a:r>
            <a:endParaRPr lang="en-US" altLang="zh-CN" sz="2400">
              <a:solidFill>
                <a:srgbClr val="FF0000"/>
              </a:solidFill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对象处理语句</a:t>
            </a:r>
            <a:endParaRPr lang="zh-CN" altLang="en-US">
              <a:sym typeface="+mn-ea"/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/>
        </p:nvSpPr>
        <p:spPr>
          <a:xfrm>
            <a:off x="2066925" y="1056640"/>
            <a:ext cx="8058150" cy="531114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例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18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：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&lt;html&gt;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&lt;head&gt;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&lt;title&gt;for...in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示例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&lt;/title&gt;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&lt;/head&gt;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&lt;body&gt;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&lt;script&gt;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var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arr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= new Array(3);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arr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[0] = "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计算机系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";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	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arr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[1] = "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机械系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";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	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arr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[2] = "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电子系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";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	var k=0;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	for(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in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arr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){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	   k=k+1;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	    	  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document.write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("&lt;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br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&gt;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第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" + k + "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个系为：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" +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arr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[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]);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	}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&lt;/script&gt;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&lt;/body&gt;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&lt;/html&gt;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对象处理语句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10000"/>
              </a:lnSpc>
              <a:spcBef>
                <a:spcPct val="15000"/>
              </a:spcBef>
              <a:buFontTx/>
              <a:buNone/>
            </a:pPr>
            <a:r>
              <a:rPr lang="en-US" altLang="zh-CN" sz="2400" dirty="0">
                <a:solidFill>
                  <a:srgbClr val="D60093"/>
                </a:solidFill>
                <a:sym typeface="+mn-ea"/>
              </a:rPr>
              <a:t>2. with</a:t>
            </a:r>
            <a:r>
              <a:rPr lang="zh-CN" altLang="en-US" sz="2400" dirty="0">
                <a:solidFill>
                  <a:srgbClr val="D60093"/>
                </a:solidFill>
                <a:sym typeface="+mn-ea"/>
              </a:rPr>
              <a:t>语句</a:t>
            </a:r>
            <a:endParaRPr lang="zh-CN" altLang="en-US" sz="2400" dirty="0">
              <a:solidFill>
                <a:srgbClr val="D60093"/>
              </a:solidFill>
            </a:endParaRPr>
          </a:p>
          <a:p>
            <a:pPr algn="just" eaLnBrk="1" hangingPunct="1">
              <a:lnSpc>
                <a:spcPct val="110000"/>
              </a:lnSpc>
              <a:spcBef>
                <a:spcPct val="15000"/>
              </a:spcBef>
              <a:buFontTx/>
              <a:buNone/>
            </a:pPr>
            <a:r>
              <a:rPr lang="zh-CN" altLang="en-US" sz="2400" dirty="0">
                <a:sym typeface="+mn-ea"/>
              </a:rPr>
              <a:t>    </a:t>
            </a:r>
            <a:r>
              <a:rPr lang="en-US" altLang="zh-CN" sz="2400" dirty="0">
                <a:sym typeface="+mn-ea"/>
              </a:rPr>
              <a:t>with</a:t>
            </a:r>
            <a:r>
              <a:rPr lang="zh-CN" altLang="en-US" sz="2400" dirty="0">
                <a:sym typeface="+mn-ea"/>
              </a:rPr>
              <a:t>语句也叫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开域语句</a:t>
            </a:r>
            <a:r>
              <a:rPr lang="zh-CN" altLang="en-US" sz="2400" dirty="0">
                <a:sym typeface="+mn-ea"/>
              </a:rPr>
              <a:t>，它的参数一般是对象。</a:t>
            </a:r>
            <a:endParaRPr lang="zh-CN" altLang="en-US" sz="2400" dirty="0"/>
          </a:p>
          <a:p>
            <a:pPr algn="just" eaLnBrk="1" hangingPunct="1">
              <a:lnSpc>
                <a:spcPct val="110000"/>
              </a:lnSpc>
              <a:spcBef>
                <a:spcPct val="15000"/>
              </a:spcBef>
              <a:buFontTx/>
              <a:buNone/>
            </a:pPr>
            <a:r>
              <a:rPr lang="zh-CN" altLang="en-US" sz="2400">
                <a:sym typeface="+mn-ea"/>
              </a:rPr>
              <a:t>   使用该语句的意思是：在该语句体内，任何对变量的引用被认为是这个对象的属性，以节省一些代码。</a:t>
            </a:r>
            <a:endParaRPr lang="zh-CN" altLang="en-US" sz="2400"/>
          </a:p>
          <a:p>
            <a:pPr algn="just" eaLnBrk="1" hangingPunct="1">
              <a:lnSpc>
                <a:spcPct val="110000"/>
              </a:lnSpc>
              <a:spcBef>
                <a:spcPct val="15000"/>
              </a:spcBef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      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with(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对象名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)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10000"/>
              </a:lnSpc>
              <a:spcBef>
                <a:spcPct val="15000"/>
              </a:spcBef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      { 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语句段 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}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对象处理语句</a:t>
            </a:r>
            <a:endParaRPr lang="zh-CN" altLang="en-US" dirty="0">
              <a:sym typeface="+mn-ea"/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/>
        </p:nvSpPr>
        <p:spPr>
          <a:xfrm>
            <a:off x="2066925" y="1113155"/>
            <a:ext cx="8058150" cy="463169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例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19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：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&lt;html&gt;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&lt;head&gt;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&lt;title&gt;with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语句示例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&lt;/title&gt;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&lt;/head&gt;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&lt;body&gt;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&lt;script&gt;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with(document)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		{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	   write("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你好世界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br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&gt;");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	   write("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你好中国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br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&gt;");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	   write("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再见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");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		}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&lt;/script&gt;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&lt;/body&gt;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&lt;/html&gt;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任意多边形 29"/>
          <p:cNvSpPr/>
          <p:nvPr/>
        </p:nvSpPr>
        <p:spPr>
          <a:xfrm>
            <a:off x="1" y="73756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solidFill>
            <a:srgbClr val="FB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2" y="1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gradFill>
            <a:gsLst>
              <a:gs pos="0">
                <a:srgbClr val="0050B0"/>
              </a:gs>
              <a:gs pos="62000">
                <a:srgbClr val="0040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730363" y="4687874"/>
            <a:ext cx="242316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FBC001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408E"/>
                </a:solidFill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rPr>
              <a:t>PART TEN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408E"/>
              </a:solidFill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353623" y="-615"/>
            <a:ext cx="3176640" cy="43783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17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 w="22225">
                  <a:gradFill>
                    <a:gsLst>
                      <a:gs pos="0">
                        <a:prstClr val="white"/>
                      </a:gs>
                      <a:gs pos="82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noFill/>
                <a:effectLst/>
                <a:uLnTx/>
                <a:uFillTx/>
                <a:ea typeface="思源黑体 CN Medium" panose="020B0600000000000000" pitchFamily="34" charset="-122"/>
                <a:cs typeface="+mn-cs"/>
              </a:rPr>
              <a:t>10</a:t>
            </a:r>
            <a:endParaRPr kumimoji="0" lang="en-US" altLang="zh-CN" sz="19900" b="0" i="0" u="none" strike="noStrike" kern="1200" cap="none" spc="0" normalizeH="0" baseline="0" noProof="0" dirty="0">
              <a:ln w="22225">
                <a:gradFill>
                  <a:gsLst>
                    <a:gs pos="0">
                      <a:prstClr val="white"/>
                    </a:gs>
                    <a:gs pos="82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noFill/>
              <a:effectLst/>
              <a:uLnTx/>
              <a:uFillTx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70585" y="3429000"/>
            <a:ext cx="10098405" cy="1014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16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思源黑体 CN Bold" panose="020B0800000000000000" pitchFamily="34" charset="-122"/>
                <a:cs typeface="+mn-cs"/>
                <a:sym typeface="思源黑体 CN Normal" panose="020B0400000000000000" pitchFamily="34" charset="-122"/>
              </a:rPr>
              <a:t>浏览器对象模型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16000"/>
                  </a:prstClr>
                </a:outerShdw>
              </a:effectLst>
              <a:uLnTx/>
              <a:uFillTx/>
              <a:latin typeface="Times New Roman" panose="02020603050405020304" pitchFamily="18" charset="0"/>
              <a:ea typeface="思源黑体 CN Bold" panose="020B08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10248528" y="4215637"/>
            <a:ext cx="644190" cy="644190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087717" y="5407909"/>
            <a:ext cx="350146" cy="350146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617685" y="840752"/>
            <a:ext cx="895572" cy="895572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JavaScript浏览器对象模型（BOM）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脚本程序设计语言</a:t>
            </a:r>
            <a:endParaRPr sz="2400" dirty="0"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ECMAScript规范</a:t>
            </a:r>
            <a:endParaRPr sz="2400" dirty="0"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浏览器对象模型（Browser Object Model，BOM）</a:t>
            </a:r>
            <a:endParaRPr sz="2400" dirty="0"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文档对象模型（Document Object Model，DOM） </a:t>
            </a:r>
            <a:endParaRPr sz="2400" dirty="0">
              <a:cs typeface="Times New Roman" panose="02020603050405020304" pitchFamily="18" charset="0"/>
              <a:sym typeface="+mn-ea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浏览器对象模型BOM</a:t>
            </a:r>
            <a:endParaRPr sz="2400" dirty="0"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就是指当用户打开浏览器时，浏览器中的JavaScript runtime engine将在内存中自动创建一组对象，用于对浏览器及HTML文档对象模型中数据的访问和操作。 </a:t>
            </a:r>
            <a:endParaRPr sz="2400" dirty="0"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浏览器对象层次结构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  <p:grpSp>
        <p:nvGrpSpPr>
          <p:cNvPr id="66564" name="Group 5"/>
          <p:cNvGrpSpPr/>
          <p:nvPr/>
        </p:nvGrpSpPr>
        <p:grpSpPr bwMode="auto">
          <a:xfrm>
            <a:off x="2214563" y="977900"/>
            <a:ext cx="7762875" cy="4902200"/>
            <a:chOff x="476" y="841"/>
            <a:chExt cx="4890" cy="3088"/>
          </a:xfrm>
        </p:grpSpPr>
        <p:sp>
          <p:nvSpPr>
            <p:cNvPr id="66565" name="Text Box 6"/>
            <p:cNvSpPr txBox="1">
              <a:spLocks noChangeArrowheads="1"/>
            </p:cNvSpPr>
            <p:nvPr/>
          </p:nvSpPr>
          <p:spPr bwMode="auto">
            <a:xfrm>
              <a:off x="476" y="1650"/>
              <a:ext cx="756" cy="29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Blip>
                  <a:blip r:embed="rId1"/>
                </a:buBlip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SzPct val="80000"/>
                <a:buBlip>
                  <a:blip r:embed="rId2"/>
                </a:buBlip>
                <a:defRPr sz="2800" b="1">
                  <a:solidFill>
                    <a:srgbClr val="FF6600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80000"/>
                <a:buBlip>
                  <a:blip r:embed="rId3"/>
                </a:buBlip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1"/>
                </a:buBlip>
                <a:defRPr sz="2000" b="1">
                  <a:solidFill>
                    <a:srgbClr val="FF9933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Windows</a:t>
              </a: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66566" name="Text Box 7"/>
            <p:cNvSpPr txBox="1">
              <a:spLocks noChangeArrowheads="1"/>
            </p:cNvSpPr>
            <p:nvPr/>
          </p:nvSpPr>
          <p:spPr bwMode="auto">
            <a:xfrm>
              <a:off x="1449" y="841"/>
              <a:ext cx="1837" cy="29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Blip>
                  <a:blip r:embed="rId1"/>
                </a:buBlip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SzPct val="80000"/>
                <a:buBlip>
                  <a:blip r:embed="rId2"/>
                </a:buBlip>
                <a:defRPr sz="2800" b="1">
                  <a:solidFill>
                    <a:srgbClr val="FF6600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80000"/>
                <a:buBlip>
                  <a:blip r:embed="rId3"/>
                </a:buBlip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1"/>
                </a:buBlip>
                <a:defRPr sz="2000" b="1">
                  <a:solidFill>
                    <a:srgbClr val="FF9933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Self, Parent, Top</a:t>
              </a:r>
              <a:r>
                <a:rPr lang="zh-CN" altLang="en-US" sz="1600">
                  <a:ea typeface="宋体" panose="02010600030101010101" pitchFamily="2" charset="-122"/>
                </a:rPr>
                <a:t>视窗名称属性</a:t>
              </a: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66567" name="Text Box 8"/>
            <p:cNvSpPr txBox="1">
              <a:spLocks noChangeArrowheads="1"/>
            </p:cNvSpPr>
            <p:nvPr/>
          </p:nvSpPr>
          <p:spPr bwMode="auto">
            <a:xfrm>
              <a:off x="1449" y="1227"/>
              <a:ext cx="1837" cy="2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Blip>
                  <a:blip r:embed="rId1"/>
                </a:buBlip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SzPct val="80000"/>
                <a:buBlip>
                  <a:blip r:embed="rId2"/>
                </a:buBlip>
                <a:defRPr sz="2800" b="1">
                  <a:solidFill>
                    <a:srgbClr val="FF6600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80000"/>
                <a:buBlip>
                  <a:blip r:embed="rId3"/>
                </a:buBlip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1"/>
                </a:buBlip>
                <a:defRPr sz="2000" b="1">
                  <a:solidFill>
                    <a:srgbClr val="FF9933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Navigator</a:t>
              </a:r>
              <a:r>
                <a:rPr lang="zh-CN" altLang="en-US" sz="1600">
                  <a:ea typeface="宋体" panose="02010600030101010101" pitchFamily="2" charset="-122"/>
                </a:rPr>
                <a:t>浏览器信息</a:t>
              </a: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66568" name="Text Box 9"/>
            <p:cNvSpPr txBox="1">
              <a:spLocks noChangeArrowheads="1"/>
            </p:cNvSpPr>
            <p:nvPr/>
          </p:nvSpPr>
          <p:spPr bwMode="auto">
            <a:xfrm>
              <a:off x="1449" y="1628"/>
              <a:ext cx="1945" cy="2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Blip>
                  <a:blip r:embed="rId1"/>
                </a:buBlip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SzPct val="80000"/>
                <a:buBlip>
                  <a:blip r:embed="rId2"/>
                </a:buBlip>
                <a:defRPr sz="2800" b="1">
                  <a:solidFill>
                    <a:srgbClr val="FF6600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80000"/>
                <a:buBlip>
                  <a:blip r:embed="rId3"/>
                </a:buBlip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1"/>
                </a:buBlip>
                <a:defRPr sz="2000" b="1">
                  <a:solidFill>
                    <a:srgbClr val="FF9933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Frames[]</a:t>
              </a:r>
              <a:r>
                <a:rPr lang="zh-CN" altLang="en-US" sz="1600">
                  <a:ea typeface="宋体" panose="02010600030101010101" pitchFamily="2" charset="-122"/>
                </a:rPr>
                <a:t>视窗内所有窗格的数组</a:t>
              </a: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66569" name="Text Box 10"/>
            <p:cNvSpPr txBox="1">
              <a:spLocks noChangeArrowheads="1"/>
            </p:cNvSpPr>
            <p:nvPr/>
          </p:nvSpPr>
          <p:spPr bwMode="auto">
            <a:xfrm>
              <a:off x="1449" y="2004"/>
              <a:ext cx="1513" cy="2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Blip>
                  <a:blip r:embed="rId1"/>
                </a:buBlip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SzPct val="80000"/>
                <a:buBlip>
                  <a:blip r:embed="rId2"/>
                </a:buBlip>
                <a:defRPr sz="2800" b="1">
                  <a:solidFill>
                    <a:srgbClr val="FF6600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80000"/>
                <a:buBlip>
                  <a:blip r:embed="rId3"/>
                </a:buBlip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1"/>
                </a:buBlip>
                <a:defRPr sz="2000" b="1">
                  <a:solidFill>
                    <a:srgbClr val="FF9933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Location</a:t>
              </a:r>
              <a:r>
                <a:rPr lang="zh-CN" altLang="en-US" sz="1600">
                  <a:ea typeface="宋体" panose="02010600030101010101" pitchFamily="2" charset="-122"/>
                </a:rPr>
                <a:t>视窗地址</a:t>
              </a: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66570" name="Text Box 11"/>
            <p:cNvSpPr txBox="1">
              <a:spLocks noChangeArrowheads="1"/>
            </p:cNvSpPr>
            <p:nvPr/>
          </p:nvSpPr>
          <p:spPr bwMode="auto">
            <a:xfrm>
              <a:off x="1449" y="2378"/>
              <a:ext cx="1513" cy="29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Blip>
                  <a:blip r:embed="rId1"/>
                </a:buBlip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SzPct val="80000"/>
                <a:buBlip>
                  <a:blip r:embed="rId2"/>
                </a:buBlip>
                <a:defRPr sz="2800" b="1">
                  <a:solidFill>
                    <a:srgbClr val="FF6600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80000"/>
                <a:buBlip>
                  <a:blip r:embed="rId3"/>
                </a:buBlip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1"/>
                </a:buBlip>
                <a:defRPr sz="2000" b="1">
                  <a:solidFill>
                    <a:srgbClr val="FF9933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History</a:t>
              </a:r>
              <a:r>
                <a:rPr lang="zh-CN" altLang="en-US" sz="1600">
                  <a:ea typeface="宋体" panose="02010600030101010101" pitchFamily="2" charset="-122"/>
                </a:rPr>
                <a:t>网页历史</a:t>
              </a: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66571" name="Text Box 12"/>
            <p:cNvSpPr txBox="1">
              <a:spLocks noChangeArrowheads="1"/>
            </p:cNvSpPr>
            <p:nvPr/>
          </p:nvSpPr>
          <p:spPr bwMode="auto">
            <a:xfrm>
              <a:off x="1449" y="2751"/>
              <a:ext cx="1621" cy="29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Blip>
                  <a:blip r:embed="rId1"/>
                </a:buBlip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SzPct val="80000"/>
                <a:buBlip>
                  <a:blip r:embed="rId2"/>
                </a:buBlip>
                <a:defRPr sz="2800" b="1">
                  <a:solidFill>
                    <a:srgbClr val="FF6600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80000"/>
                <a:buBlip>
                  <a:blip r:embed="rId3"/>
                </a:buBlip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1"/>
                </a:buBlip>
                <a:defRPr sz="2000" b="1">
                  <a:solidFill>
                    <a:srgbClr val="FF9933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Document</a:t>
              </a:r>
              <a:r>
                <a:rPr lang="zh-CN" altLang="en-US" sz="1600">
                  <a:ea typeface="宋体" panose="02010600030101010101" pitchFamily="2" charset="-122"/>
                </a:rPr>
                <a:t>视窗内文件属性</a:t>
              </a: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66572" name="Text Box 13"/>
            <p:cNvSpPr txBox="1">
              <a:spLocks noChangeArrowheads="1"/>
            </p:cNvSpPr>
            <p:nvPr/>
          </p:nvSpPr>
          <p:spPr bwMode="auto">
            <a:xfrm>
              <a:off x="3502" y="1217"/>
              <a:ext cx="1513" cy="29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Blip>
                  <a:blip r:embed="rId1"/>
                </a:buBlip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SzPct val="80000"/>
                <a:buBlip>
                  <a:blip r:embed="rId2"/>
                </a:buBlip>
                <a:defRPr sz="2800" b="1">
                  <a:solidFill>
                    <a:srgbClr val="FF6600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80000"/>
                <a:buBlip>
                  <a:blip r:embed="rId3"/>
                </a:buBlip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1"/>
                </a:buBlip>
                <a:defRPr sz="2000" b="1">
                  <a:solidFill>
                    <a:srgbClr val="FF9933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Plugins[]Plugins</a:t>
              </a:r>
              <a:r>
                <a:rPr lang="zh-CN" altLang="en-US" sz="1600">
                  <a:ea typeface="宋体" panose="02010600030101010101" pitchFamily="2" charset="-122"/>
                </a:rPr>
                <a:t>的信息</a:t>
              </a: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66573" name="Text Box 14"/>
            <p:cNvSpPr txBox="1">
              <a:spLocks noChangeArrowheads="1"/>
            </p:cNvSpPr>
            <p:nvPr/>
          </p:nvSpPr>
          <p:spPr bwMode="auto">
            <a:xfrm>
              <a:off x="3313" y="2006"/>
              <a:ext cx="1945" cy="2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Blip>
                  <a:blip r:embed="rId1"/>
                </a:buBlip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SzPct val="80000"/>
                <a:buBlip>
                  <a:blip r:embed="rId2"/>
                </a:buBlip>
                <a:defRPr sz="2800" b="1">
                  <a:solidFill>
                    <a:srgbClr val="FF6600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80000"/>
                <a:buBlip>
                  <a:blip r:embed="rId3"/>
                </a:buBlip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1"/>
                </a:buBlip>
                <a:defRPr sz="2000" b="1">
                  <a:solidFill>
                    <a:srgbClr val="FF9933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Forms[]</a:t>
              </a:r>
              <a:r>
                <a:rPr lang="zh-CN" altLang="en-US" sz="1600">
                  <a:ea typeface="宋体" panose="02010600030101010101" pitchFamily="2" charset="-122"/>
                </a:rPr>
                <a:t>视窗内所有表单的数组</a:t>
              </a: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66574" name="Text Box 15"/>
            <p:cNvSpPr txBox="1">
              <a:spLocks noChangeArrowheads="1"/>
            </p:cNvSpPr>
            <p:nvPr/>
          </p:nvSpPr>
          <p:spPr bwMode="auto">
            <a:xfrm>
              <a:off x="3313" y="2392"/>
              <a:ext cx="1945" cy="2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Blip>
                  <a:blip r:embed="rId1"/>
                </a:buBlip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SzPct val="80000"/>
                <a:buBlip>
                  <a:blip r:embed="rId2"/>
                </a:buBlip>
                <a:defRPr sz="2800" b="1">
                  <a:solidFill>
                    <a:srgbClr val="FF6600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80000"/>
                <a:buBlip>
                  <a:blip r:embed="rId3"/>
                </a:buBlip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1"/>
                </a:buBlip>
                <a:defRPr sz="2000" b="1">
                  <a:solidFill>
                    <a:srgbClr val="FF9933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Images[]</a:t>
              </a:r>
              <a:r>
                <a:rPr lang="zh-CN" altLang="en-US" sz="1600">
                  <a:ea typeface="宋体" panose="02010600030101010101" pitchFamily="2" charset="-122"/>
                </a:rPr>
                <a:t>视窗内所有图形的数组</a:t>
              </a: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66575" name="Text Box 16"/>
            <p:cNvSpPr txBox="1">
              <a:spLocks noChangeArrowheads="1"/>
            </p:cNvSpPr>
            <p:nvPr/>
          </p:nvSpPr>
          <p:spPr bwMode="auto">
            <a:xfrm>
              <a:off x="3313" y="2783"/>
              <a:ext cx="2053" cy="29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Blip>
                  <a:blip r:embed="rId1"/>
                </a:buBlip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SzPct val="80000"/>
                <a:buBlip>
                  <a:blip r:embed="rId2"/>
                </a:buBlip>
                <a:defRPr sz="2800" b="1">
                  <a:solidFill>
                    <a:srgbClr val="FF6600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80000"/>
                <a:buBlip>
                  <a:blip r:embed="rId3"/>
                </a:buBlip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1"/>
                </a:buBlip>
                <a:defRPr sz="2000" b="1">
                  <a:solidFill>
                    <a:srgbClr val="FF9933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Applets[]</a:t>
              </a:r>
              <a:r>
                <a:rPr lang="zh-CN" altLang="en-US" sz="1600">
                  <a:ea typeface="宋体" panose="02010600030101010101" pitchFamily="2" charset="-122"/>
                </a:rPr>
                <a:t>所有</a:t>
              </a:r>
              <a:r>
                <a:rPr lang="en-US" altLang="zh-CN" sz="1600">
                  <a:ea typeface="宋体" panose="02010600030101010101" pitchFamily="2" charset="-122"/>
                </a:rPr>
                <a:t>Java Applets</a:t>
              </a:r>
              <a:r>
                <a:rPr lang="zh-CN" altLang="en-US" sz="1600">
                  <a:ea typeface="宋体" panose="02010600030101010101" pitchFamily="2" charset="-122"/>
                </a:rPr>
                <a:t>的数组</a:t>
              </a: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66576" name="Text Box 17"/>
            <p:cNvSpPr txBox="1">
              <a:spLocks noChangeArrowheads="1"/>
            </p:cNvSpPr>
            <p:nvPr/>
          </p:nvSpPr>
          <p:spPr bwMode="auto">
            <a:xfrm>
              <a:off x="3313" y="3191"/>
              <a:ext cx="1945" cy="29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Blip>
                  <a:blip r:embed="rId1"/>
                </a:buBlip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SzPct val="80000"/>
                <a:buBlip>
                  <a:blip r:embed="rId2"/>
                </a:buBlip>
                <a:defRPr sz="2800" b="1">
                  <a:solidFill>
                    <a:srgbClr val="FF6600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80000"/>
                <a:buBlip>
                  <a:blip r:embed="rId3"/>
                </a:buBlip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1"/>
                </a:buBlip>
                <a:defRPr sz="2000" b="1">
                  <a:solidFill>
                    <a:srgbClr val="FF9933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Embeds[]</a:t>
              </a:r>
              <a:r>
                <a:rPr lang="zh-CN" altLang="en-US" sz="1600">
                  <a:ea typeface="宋体" panose="02010600030101010101" pitchFamily="2" charset="-122"/>
                </a:rPr>
                <a:t>所有播放媒体的数组</a:t>
              </a: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66577" name="Text Box 18"/>
            <p:cNvSpPr txBox="1">
              <a:spLocks noChangeArrowheads="1"/>
            </p:cNvSpPr>
            <p:nvPr/>
          </p:nvSpPr>
          <p:spPr bwMode="auto">
            <a:xfrm>
              <a:off x="3322" y="3635"/>
              <a:ext cx="1945" cy="29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Blip>
                  <a:blip r:embed="rId1"/>
                </a:buBlip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SzPct val="80000"/>
                <a:buBlip>
                  <a:blip r:embed="rId2"/>
                </a:buBlip>
                <a:defRPr sz="2800" b="1">
                  <a:solidFill>
                    <a:srgbClr val="FF6600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80000"/>
                <a:buBlip>
                  <a:blip r:embed="rId3"/>
                </a:buBlip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1"/>
                </a:buBlip>
                <a:defRPr sz="2000" b="1">
                  <a:solidFill>
                    <a:srgbClr val="FF9933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Blip>
                  <a:blip r:embed="rId2"/>
                </a:buBlip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Links[]</a:t>
              </a:r>
              <a:r>
                <a:rPr lang="zh-CN" altLang="en-US" sz="1600">
                  <a:ea typeface="宋体" panose="02010600030101010101" pitchFamily="2" charset="-122"/>
                </a:rPr>
                <a:t>所有</a:t>
              </a:r>
              <a:r>
                <a:rPr lang="en-US" altLang="zh-CN" sz="1600">
                  <a:ea typeface="宋体" panose="02010600030101010101" pitchFamily="2" charset="-122"/>
                </a:rPr>
                <a:t>link</a:t>
              </a:r>
              <a:r>
                <a:rPr lang="zh-CN" altLang="en-US" sz="1600">
                  <a:ea typeface="宋体" panose="02010600030101010101" pitchFamily="2" charset="-122"/>
                </a:rPr>
                <a:t>的数组</a:t>
              </a: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66578" name="Line 19"/>
            <p:cNvSpPr>
              <a:spLocks noChangeShapeType="1"/>
            </p:cNvSpPr>
            <p:nvPr/>
          </p:nvSpPr>
          <p:spPr bwMode="auto">
            <a:xfrm>
              <a:off x="1332" y="914"/>
              <a:ext cx="0" cy="205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79" name="Line 20"/>
            <p:cNvSpPr>
              <a:spLocks noChangeShapeType="1"/>
            </p:cNvSpPr>
            <p:nvPr/>
          </p:nvSpPr>
          <p:spPr bwMode="auto">
            <a:xfrm>
              <a:off x="1341" y="914"/>
              <a:ext cx="10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80" name="Line 21"/>
            <p:cNvSpPr>
              <a:spLocks noChangeShapeType="1"/>
            </p:cNvSpPr>
            <p:nvPr/>
          </p:nvSpPr>
          <p:spPr bwMode="auto">
            <a:xfrm>
              <a:off x="1341" y="1404"/>
              <a:ext cx="10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81" name="Line 22"/>
            <p:cNvSpPr>
              <a:spLocks noChangeShapeType="1"/>
            </p:cNvSpPr>
            <p:nvPr/>
          </p:nvSpPr>
          <p:spPr bwMode="auto">
            <a:xfrm>
              <a:off x="1341" y="2136"/>
              <a:ext cx="10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82" name="Line 23"/>
            <p:cNvSpPr>
              <a:spLocks noChangeShapeType="1"/>
            </p:cNvSpPr>
            <p:nvPr/>
          </p:nvSpPr>
          <p:spPr bwMode="auto">
            <a:xfrm>
              <a:off x="1341" y="2480"/>
              <a:ext cx="10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83" name="Line 24"/>
            <p:cNvSpPr>
              <a:spLocks noChangeShapeType="1"/>
            </p:cNvSpPr>
            <p:nvPr/>
          </p:nvSpPr>
          <p:spPr bwMode="auto">
            <a:xfrm>
              <a:off x="1341" y="2969"/>
              <a:ext cx="10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84" name="Line 25"/>
            <p:cNvSpPr>
              <a:spLocks noChangeShapeType="1"/>
            </p:cNvSpPr>
            <p:nvPr/>
          </p:nvSpPr>
          <p:spPr bwMode="auto">
            <a:xfrm>
              <a:off x="3286" y="1404"/>
              <a:ext cx="21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85" name="Line 26"/>
            <p:cNvSpPr>
              <a:spLocks noChangeShapeType="1"/>
            </p:cNvSpPr>
            <p:nvPr/>
          </p:nvSpPr>
          <p:spPr bwMode="auto">
            <a:xfrm>
              <a:off x="3205" y="2098"/>
              <a:ext cx="0" cy="176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86" name="Line 27"/>
            <p:cNvSpPr>
              <a:spLocks noChangeShapeType="1"/>
            </p:cNvSpPr>
            <p:nvPr/>
          </p:nvSpPr>
          <p:spPr bwMode="auto">
            <a:xfrm>
              <a:off x="3205" y="2098"/>
              <a:ext cx="10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87" name="Line 28"/>
            <p:cNvSpPr>
              <a:spLocks noChangeShapeType="1"/>
            </p:cNvSpPr>
            <p:nvPr/>
          </p:nvSpPr>
          <p:spPr bwMode="auto">
            <a:xfrm>
              <a:off x="3205" y="2546"/>
              <a:ext cx="10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88" name="Line 29"/>
            <p:cNvSpPr>
              <a:spLocks noChangeShapeType="1"/>
            </p:cNvSpPr>
            <p:nvPr/>
          </p:nvSpPr>
          <p:spPr bwMode="auto">
            <a:xfrm>
              <a:off x="3205" y="2937"/>
              <a:ext cx="10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89" name="Line 30"/>
            <p:cNvSpPr>
              <a:spLocks noChangeShapeType="1"/>
            </p:cNvSpPr>
            <p:nvPr/>
          </p:nvSpPr>
          <p:spPr bwMode="auto">
            <a:xfrm>
              <a:off x="3214" y="3319"/>
              <a:ext cx="10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90" name="Line 31"/>
            <p:cNvSpPr>
              <a:spLocks noChangeShapeType="1"/>
            </p:cNvSpPr>
            <p:nvPr/>
          </p:nvSpPr>
          <p:spPr bwMode="auto">
            <a:xfrm>
              <a:off x="3214" y="3850"/>
              <a:ext cx="10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91" name="Line 32"/>
            <p:cNvSpPr>
              <a:spLocks noChangeShapeType="1"/>
            </p:cNvSpPr>
            <p:nvPr/>
          </p:nvSpPr>
          <p:spPr bwMode="auto">
            <a:xfrm>
              <a:off x="1341" y="1776"/>
              <a:ext cx="10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92" name="Line 33"/>
            <p:cNvSpPr>
              <a:spLocks noChangeShapeType="1"/>
            </p:cNvSpPr>
            <p:nvPr/>
          </p:nvSpPr>
          <p:spPr bwMode="auto">
            <a:xfrm>
              <a:off x="3061" y="2932"/>
              <a:ext cx="21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93" name="Line 34"/>
            <p:cNvSpPr>
              <a:spLocks noChangeShapeType="1"/>
            </p:cNvSpPr>
            <p:nvPr/>
          </p:nvSpPr>
          <p:spPr bwMode="auto">
            <a:xfrm>
              <a:off x="1232" y="1776"/>
              <a:ext cx="21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浏览器对象层次结构</a:t>
            </a:r>
            <a:endParaRPr lang="zh-CN" altLang="en-US">
              <a:sym typeface="+mn-ea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140076" y="1150939"/>
            <a:ext cx="2303463" cy="1368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3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879600" y="1079500"/>
            <a:ext cx="1296988" cy="647700"/>
          </a:xfrm>
          <a:prstGeom prst="rect">
            <a:avLst/>
          </a:prstGeom>
          <a:gradFill rotWithShape="1">
            <a:gsLst>
              <a:gs pos="0">
                <a:srgbClr val="FFFF66"/>
              </a:gs>
              <a:gs pos="100000">
                <a:schemeClr val="bg1"/>
              </a:gs>
            </a:gsLst>
            <a:lin ang="5400000" scaled="1"/>
          </a:gradFill>
          <a:ln w="19050" algn="ctr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b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pic>
        <p:nvPicPr>
          <p:cNvPr id="6" name="Picture 4" descr="图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825" y="1079500"/>
            <a:ext cx="6553200" cy="506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4313239" y="1808163"/>
            <a:ext cx="19780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400" b="0" dirty="0">
                <a:latin typeface="Arial" panose="020B0604020202020204" pitchFamily="34" charset="0"/>
                <a:ea typeface="宋体" panose="02010600030101010101" pitchFamily="2" charset="-122"/>
              </a:rPr>
              <a:t>http://www.google.com</a:t>
            </a:r>
            <a:endParaRPr lang="en-US" altLang="zh-CN" sz="14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Picture 6" descr="图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289" y="2159001"/>
            <a:ext cx="5976937" cy="362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3536951" y="3306476"/>
            <a:ext cx="6875463" cy="584775"/>
          </a:xfrm>
          <a:prstGeom prst="rect">
            <a:avLst/>
          </a:prstGeom>
          <a:noFill/>
          <a:ln w="38100" algn="ctr">
            <a:solidFill>
              <a:srgbClr val="FF0000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3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 flipH="1">
            <a:off x="3175001" y="1079500"/>
            <a:ext cx="936625" cy="2873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2005013" y="1085850"/>
            <a:ext cx="1098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latin typeface="Arial" panose="020B0604020202020204" pitchFamily="34" charset="0"/>
                <a:ea typeface="黑体" panose="02010609060101010101" charset="-122"/>
              </a:rPr>
              <a:t>Window </a:t>
            </a:r>
            <a:endParaRPr lang="en-US" altLang="zh-CN" sz="1800" b="0">
              <a:latin typeface="Arial" panose="020B0604020202020204" pitchFamily="34" charset="0"/>
              <a:ea typeface="黑体" panose="02010609060101010101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b="0">
                <a:latin typeface="Arial" panose="020B0604020202020204" pitchFamily="34" charset="0"/>
                <a:ea typeface="黑体" panose="02010609060101010101" charset="-122"/>
              </a:rPr>
              <a:t>窗口对象</a:t>
            </a:r>
            <a:endParaRPr lang="zh-CN" altLang="en-US" sz="1800" b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3968751" y="1651508"/>
            <a:ext cx="5832475" cy="584775"/>
          </a:xfrm>
          <a:prstGeom prst="rect">
            <a:avLst/>
          </a:prstGeom>
          <a:noFill/>
          <a:ln w="38100" algn="ctr">
            <a:solidFill>
              <a:srgbClr val="FF0000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3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1879601" y="2489707"/>
            <a:ext cx="1311275" cy="584775"/>
          </a:xfrm>
          <a:prstGeom prst="rect">
            <a:avLst/>
          </a:prstGeom>
          <a:gradFill rotWithShape="1">
            <a:gsLst>
              <a:gs pos="0">
                <a:srgbClr val="FFFF66"/>
              </a:gs>
              <a:gs pos="100000">
                <a:schemeClr val="bg1"/>
              </a:gs>
            </a:gsLst>
            <a:lin ang="5400000" scaled="1"/>
          </a:gradFill>
          <a:ln w="19050" algn="ctr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3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1900238" y="2446338"/>
            <a:ext cx="1276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latin typeface="Arial" panose="020B0604020202020204" pitchFamily="34" charset="0"/>
                <a:ea typeface="黑体" panose="02010609060101010101" charset="-122"/>
              </a:rPr>
              <a:t>location</a:t>
            </a:r>
            <a:endParaRPr lang="en-US" altLang="zh-CN" sz="1800" b="0">
              <a:latin typeface="Arial" panose="020B0604020202020204" pitchFamily="34" charset="0"/>
              <a:ea typeface="黑体" panose="02010609060101010101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b="0">
                <a:latin typeface="Arial" panose="020B0604020202020204" pitchFamily="34" charset="0"/>
                <a:ea typeface="黑体" panose="02010609060101010101" charset="-122"/>
              </a:rPr>
              <a:t>地址对象</a:t>
            </a:r>
            <a:endParaRPr lang="zh-CN" altLang="en-US" sz="1800" b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3824289" y="3774788"/>
            <a:ext cx="5976937" cy="584775"/>
          </a:xfrm>
          <a:prstGeom prst="rect">
            <a:avLst/>
          </a:prstGeom>
          <a:noFill/>
          <a:ln w="38100" algn="ctr">
            <a:solidFill>
              <a:srgbClr val="FF0000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3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 flipH="1">
            <a:off x="3176588" y="3743325"/>
            <a:ext cx="792162" cy="5032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" name="Rectangle 15"/>
          <p:cNvSpPr>
            <a:spLocks noChangeArrowheads="1"/>
          </p:cNvSpPr>
          <p:nvPr/>
        </p:nvSpPr>
        <p:spPr bwMode="auto">
          <a:xfrm>
            <a:off x="1912938" y="4026407"/>
            <a:ext cx="1263650" cy="584775"/>
          </a:xfrm>
          <a:prstGeom prst="rect">
            <a:avLst/>
          </a:prstGeom>
          <a:gradFill rotWithShape="1">
            <a:gsLst>
              <a:gs pos="0">
                <a:srgbClr val="FFFF66"/>
              </a:gs>
              <a:gs pos="100000">
                <a:schemeClr val="bg1"/>
              </a:gs>
            </a:gsLst>
            <a:lin ang="5400000" scaled="1"/>
          </a:gradFill>
          <a:ln w="19050" algn="ctr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3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1806575" y="3959225"/>
            <a:ext cx="1441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latin typeface="Arial" panose="020B0604020202020204" pitchFamily="34" charset="0"/>
                <a:ea typeface="黑体" panose="02010609060101010101" charset="-122"/>
              </a:rPr>
              <a:t>document</a:t>
            </a:r>
            <a:endParaRPr lang="en-US" altLang="zh-CN" sz="1800" b="0">
              <a:latin typeface="Arial" panose="020B0604020202020204" pitchFamily="34" charset="0"/>
              <a:ea typeface="黑体" panose="02010609060101010101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b="0">
                <a:latin typeface="Arial" panose="020B0604020202020204" pitchFamily="34" charset="0"/>
                <a:ea typeface="黑体" panose="02010609060101010101" charset="-122"/>
              </a:rPr>
              <a:t>文档对象</a:t>
            </a:r>
            <a:endParaRPr lang="zh-CN" altLang="en-US" sz="1800" b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4687888" y="3738276"/>
            <a:ext cx="4824412" cy="584775"/>
          </a:xfrm>
          <a:prstGeom prst="rect">
            <a:avLst/>
          </a:prstGeom>
          <a:noFill/>
          <a:ln w="38100" algn="ctr">
            <a:solidFill>
              <a:srgbClr val="FF0000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3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0" name="Line 18"/>
          <p:cNvSpPr>
            <a:spLocks noChangeShapeType="1"/>
          </p:cNvSpPr>
          <p:nvPr/>
        </p:nvSpPr>
        <p:spPr bwMode="auto">
          <a:xfrm flipH="1">
            <a:off x="3248025" y="4678364"/>
            <a:ext cx="1582738" cy="8651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1884363" y="5236876"/>
            <a:ext cx="1350962" cy="584775"/>
          </a:xfrm>
          <a:prstGeom prst="rect">
            <a:avLst/>
          </a:prstGeom>
          <a:gradFill rotWithShape="1">
            <a:gsLst>
              <a:gs pos="0">
                <a:srgbClr val="FFFF66"/>
              </a:gs>
              <a:gs pos="100000">
                <a:schemeClr val="bg1"/>
              </a:gs>
            </a:gsLst>
            <a:lin ang="5400000" scaled="1"/>
          </a:gradFill>
          <a:ln w="19050" algn="ctr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3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1952625" y="5183188"/>
            <a:ext cx="1295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latin typeface="Arial" panose="020B0604020202020204" pitchFamily="34" charset="0"/>
                <a:ea typeface="黑体" panose="02010609060101010101" charset="-122"/>
              </a:rPr>
              <a:t>FORM</a:t>
            </a:r>
            <a:endParaRPr lang="en-US" altLang="zh-CN" sz="1800" b="0">
              <a:latin typeface="Arial" panose="020B0604020202020204" pitchFamily="34" charset="0"/>
              <a:ea typeface="黑体" panose="02010609060101010101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b="0">
                <a:latin typeface="Arial" panose="020B0604020202020204" pitchFamily="34" charset="0"/>
                <a:ea typeface="黑体" panose="02010609060101010101" charset="-122"/>
              </a:rPr>
              <a:t>表单对象</a:t>
            </a:r>
            <a:endParaRPr lang="zh-CN" altLang="en-US" sz="1800" b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23" name="Rectangle 21"/>
          <p:cNvSpPr>
            <a:spLocks noChangeArrowheads="1"/>
          </p:cNvSpPr>
          <p:nvPr/>
        </p:nvSpPr>
        <p:spPr bwMode="auto">
          <a:xfrm>
            <a:off x="4832351" y="2446339"/>
            <a:ext cx="4321175" cy="649287"/>
          </a:xfrm>
          <a:prstGeom prst="rect">
            <a:avLst/>
          </a:prstGeom>
          <a:gradFill rotWithShape="1">
            <a:gsLst>
              <a:gs pos="0">
                <a:srgbClr val="CCFFCC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0">
                <a:latin typeface="Arial" panose="020B0604020202020204" pitchFamily="34" charset="0"/>
                <a:ea typeface="黑体" panose="02010609060101010101" charset="-122"/>
              </a:rPr>
              <a:t>浏览器对象的分层结构</a:t>
            </a:r>
            <a:endParaRPr lang="zh-CN" altLang="en-US" b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3752850" y="5038725"/>
            <a:ext cx="6300788" cy="649288"/>
          </a:xfrm>
          <a:prstGeom prst="rect">
            <a:avLst/>
          </a:prstGeom>
          <a:gradFill rotWithShape="1">
            <a:gsLst>
              <a:gs pos="0">
                <a:srgbClr val="CCFFCC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0">
                <a:latin typeface="Arial" panose="020B0604020202020204" pitchFamily="34" charset="0"/>
                <a:ea typeface="黑体" panose="02010609060101010101" charset="-122"/>
              </a:rPr>
              <a:t>window.document.myform.text1 </a:t>
            </a:r>
            <a:endParaRPr lang="en-US" altLang="zh-CN" b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5335589" y="3887788"/>
            <a:ext cx="504825" cy="10795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 flipH="1">
            <a:off x="3246438" y="1943100"/>
            <a:ext cx="122555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0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00"/>
                            </p:stCondLst>
                            <p:childTnLst>
                              <p:par>
                                <p:cTn id="81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0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7" grpId="0" bldLvl="0" animBg="1"/>
      <p:bldP spid="18" grpId="0" bldLvl="0" animBg="1"/>
      <p:bldP spid="19" grpId="0" bldLvl="0" animBg="1"/>
      <p:bldP spid="21" grpId="0" bldLvl="0" animBg="1"/>
      <p:bldP spid="22" grpId="0" bldLvl="0" animBg="1"/>
      <p:bldP spid="23" grpId="0" bldLvl="0" animBg="1"/>
      <p:bldP spid="24" grpId="0" bldLvl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window</a:t>
            </a:r>
            <a:r>
              <a:rPr lang="zh-CN" altLang="en-US" dirty="0">
                <a:sym typeface="+mn-ea"/>
              </a:rPr>
              <a:t>对象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窗口(window)对象是指网页所在的浏览器，处于对象层次的顶端，它提供了处理浏览器窗口的方法和属性。</a:t>
            </a:r>
            <a:endParaRPr sz="2400" dirty="0">
              <a:cs typeface="Times New Roman" panose="02020603050405020304" pitchFamily="18" charset="0"/>
              <a:sym typeface="+mn-ea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通过window对象可以访问文档对象，历史对象和定位对象等。</a:t>
            </a:r>
            <a:endParaRPr sz="2400" dirty="0">
              <a:cs typeface="Times New Roman" panose="02020603050405020304" pitchFamily="18" charset="0"/>
              <a:sym typeface="+mn-ea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对于window对象的使用，主要集中在窗口的打开和关闭、窗口状态的设置、定时执行程序以及各种对话框的使用等四个方面。</a:t>
            </a:r>
            <a:endParaRPr sz="2400" dirty="0">
              <a:cs typeface="Times New Roman" panose="02020603050405020304" pitchFamily="18" charset="0"/>
              <a:sym typeface="+mn-ea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sz="2400" dirty="0">
              <a:cs typeface="Times New Roman" panose="02020603050405020304" pitchFamily="18" charset="0"/>
              <a:sym typeface="+mn-ea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sz="2400" dirty="0">
              <a:cs typeface="Times New Roman" panose="02020603050405020304" pitchFamily="18" charset="0"/>
              <a:sym typeface="+mn-ea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sz="2400" dirty="0">
              <a:cs typeface="Times New Roman" panose="02020603050405020304" pitchFamily="18" charset="0"/>
              <a:sym typeface="+mn-ea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sz="2400" dirty="0">
              <a:cs typeface="Times New Roman" panose="02020603050405020304" pitchFamily="18" charset="0"/>
              <a:sym typeface="+mn-ea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latin typeface="+mn-lt"/>
                <a:sym typeface="+mn-ea"/>
                <a:hlinkClick r:id="rId1"/>
              </a:rPr>
              <a:t>https://www.runoob.com/jsref/obj-window.html</a:t>
            </a:r>
            <a:endParaRPr lang="zh-CN" altLang="en-US" sz="2400" dirty="0">
              <a:latin typeface="+mn-lt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sz="2400" dirty="0"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15049" name="Rectangle 9"/>
          <p:cNvSpPr>
            <a:spLocks noChangeArrowheads="1"/>
          </p:cNvSpPr>
          <p:nvPr/>
        </p:nvSpPr>
        <p:spPr bwMode="auto">
          <a:xfrm>
            <a:off x="683260" y="3420745"/>
            <a:ext cx="7703820" cy="1346835"/>
          </a:xfrm>
          <a:prstGeom prst="rect">
            <a:avLst/>
          </a:prstGeom>
          <a:noFill/>
          <a:ln w="15875">
            <a:solidFill>
              <a:srgbClr val="008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355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4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3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window</a:t>
            </a:r>
            <a:r>
              <a:rPr lang="zh-CN" altLang="en-US" sz="2400" dirty="0">
                <a:solidFill>
                  <a:srgbClr val="FF0000"/>
                </a:solidFill>
              </a:rPr>
              <a:t>对象的常用属性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opener</a:t>
            </a:r>
            <a:r>
              <a:rPr lang="zh-CN" altLang="en-US" sz="2400" dirty="0">
                <a:solidFill>
                  <a:schemeClr val="tx1"/>
                </a:solidFill>
              </a:rPr>
              <a:t>属性 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err="1">
                <a:solidFill>
                  <a:schemeClr val="tx1"/>
                </a:solidFill>
              </a:rPr>
              <a:t>screenLeft</a:t>
            </a:r>
            <a:r>
              <a:rPr lang="zh-CN" altLang="en-US" sz="2400" dirty="0">
                <a:solidFill>
                  <a:schemeClr val="tx1"/>
                </a:solidFill>
              </a:rPr>
              <a:t>和</a:t>
            </a:r>
            <a:r>
              <a:rPr lang="en-US" altLang="zh-CN" sz="2400" dirty="0" err="1">
                <a:solidFill>
                  <a:schemeClr val="tx1"/>
                </a:solidFill>
              </a:rPr>
              <a:t>screenTop</a:t>
            </a:r>
            <a:r>
              <a:rPr lang="zh-CN" altLang="en-US" sz="2400" dirty="0">
                <a:solidFill>
                  <a:schemeClr val="tx1"/>
                </a:solidFill>
              </a:rPr>
              <a:t>属性 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5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9" grpId="0" bldLvl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window</a:t>
            </a:r>
            <a:r>
              <a:rPr lang="zh-CN" altLang="en-US" dirty="0">
                <a:sym typeface="+mn-ea"/>
              </a:rPr>
              <a:t>对象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>
                <a:solidFill>
                  <a:srgbClr val="FF0000"/>
                </a:solidFill>
                <a:sym typeface="+mn-ea"/>
              </a:rPr>
              <a:t>window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对象的主要方法：</a:t>
            </a:r>
            <a:endParaRPr lang="en-US" altLang="zh-CN" sz="2400">
              <a:solidFill>
                <a:srgbClr val="FF0000"/>
              </a:solidFill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zh-CN" altLang="en-US" sz="2400">
                <a:sym typeface="+mn-ea"/>
              </a:rPr>
              <a:t>① </a:t>
            </a:r>
            <a:r>
              <a:rPr lang="en-US" altLang="zh-CN" sz="2400">
                <a:sym typeface="+mn-ea"/>
              </a:rPr>
              <a:t>open(URL, windowName, parameterList)</a:t>
            </a:r>
            <a:endParaRPr lang="en-US" altLang="zh-CN" sz="2400">
              <a:sym typeface="+mn-ea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>
              <a:sym typeface="+mn-ea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>
              <a:sym typeface="+mn-ea"/>
            </a:endParaRPr>
          </a:p>
          <a:p>
            <a:pPr algn="just" eaLnBrk="1" hangingPunct="1">
              <a:spcBef>
                <a:spcPct val="10000"/>
              </a:spcBef>
              <a:buFontTx/>
              <a:buNone/>
            </a:pPr>
            <a:r>
              <a:rPr lang="en-US" altLang="zh-CN" sz="2400">
                <a:sym typeface="+mn-ea"/>
              </a:rPr>
              <a:t>② close()</a:t>
            </a:r>
            <a:r>
              <a:rPr lang="zh-CN" altLang="en-US" sz="2400">
                <a:sym typeface="+mn-ea"/>
              </a:rPr>
              <a:t>：关闭窗口</a:t>
            </a:r>
            <a:endParaRPr lang="zh-CN" altLang="en-US" sz="2400"/>
          </a:p>
          <a:p>
            <a:pPr algn="just" eaLnBrk="1" hangingPunct="1">
              <a:spcBef>
                <a:spcPct val="10000"/>
              </a:spcBef>
              <a:buFontTx/>
              <a:buNone/>
            </a:pPr>
            <a:r>
              <a:rPr lang="en-US" altLang="zh-CN" sz="2400">
                <a:sym typeface="+mn-ea"/>
              </a:rPr>
              <a:t>③ focus()</a:t>
            </a:r>
            <a:r>
              <a:rPr lang="zh-CN" altLang="en-US" sz="2400">
                <a:sym typeface="+mn-ea"/>
              </a:rPr>
              <a:t>：激活窗口 </a:t>
            </a:r>
            <a:endParaRPr lang="zh-CN" altLang="en-US" sz="2400"/>
          </a:p>
          <a:p>
            <a:pPr algn="just" eaLnBrk="1" hangingPunct="1">
              <a:spcBef>
                <a:spcPct val="10000"/>
              </a:spcBef>
              <a:buFontTx/>
              <a:buNone/>
            </a:pPr>
            <a:r>
              <a:rPr lang="en-US" altLang="zh-CN" sz="2400">
                <a:sym typeface="+mn-ea"/>
              </a:rPr>
              <a:t>④ blur()</a:t>
            </a:r>
            <a:r>
              <a:rPr lang="zh-CN" altLang="en-US" sz="2400">
                <a:sym typeface="+mn-ea"/>
              </a:rPr>
              <a:t>：窗口失去焦点 </a:t>
            </a:r>
            <a:endParaRPr lang="zh-CN" altLang="en-US" sz="2400">
              <a:sym typeface="+mn-ea"/>
            </a:endParaRPr>
          </a:p>
          <a:p>
            <a:pPr algn="just" eaLnBrk="1" hangingPunct="1">
              <a:spcBef>
                <a:spcPct val="10000"/>
              </a:spcBef>
              <a:buFontTx/>
              <a:buNone/>
            </a:pPr>
            <a:endParaRPr lang="zh-CN" altLang="en-US" sz="2400">
              <a:sym typeface="+mn-ea"/>
            </a:endParaRPr>
          </a:p>
          <a:p>
            <a:pPr algn="just" eaLnBrk="1" hangingPunct="1">
              <a:spcBef>
                <a:spcPct val="10000"/>
              </a:spcBef>
              <a:buFontTx/>
              <a:buNone/>
            </a:pPr>
            <a:r>
              <a:rPr lang="zh-CN" altLang="en-US" sz="2400">
                <a:solidFill>
                  <a:srgbClr val="0000CC"/>
                </a:solidFill>
                <a:sym typeface="+mn-ea"/>
              </a:rPr>
              <a:t>例</a:t>
            </a:r>
            <a:r>
              <a:rPr lang="en-US" altLang="zh-CN" sz="2400">
                <a:solidFill>
                  <a:srgbClr val="0000CC"/>
                </a:solidFill>
                <a:sym typeface="+mn-ea"/>
              </a:rPr>
              <a:t>4-20</a:t>
            </a:r>
            <a:r>
              <a:rPr lang="zh-CN" altLang="en-US" sz="2400">
                <a:solidFill>
                  <a:srgbClr val="0000CC"/>
                </a:solidFill>
                <a:sym typeface="+mn-ea"/>
              </a:rPr>
              <a:t>：设计一个有三个超链接的页面，单击这些链接时分别打开和关闭新窗口，以及关闭本身窗口。</a:t>
            </a:r>
            <a:endParaRPr lang="zh-CN" altLang="en-US" sz="2400">
              <a:solidFill>
                <a:srgbClr val="0000CC"/>
              </a:solidFill>
            </a:endParaRPr>
          </a:p>
          <a:p>
            <a:pPr algn="just" eaLnBrk="1" hangingPunct="1">
              <a:spcBef>
                <a:spcPct val="10000"/>
              </a:spcBef>
              <a:buFontTx/>
              <a:buNone/>
            </a:pPr>
            <a:endParaRPr lang="en-US" altLang="zh-CN" sz="2400"/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/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205831" name="Text Box 7"/>
          <p:cNvSpPr txBox="1">
            <a:spLocks noChangeArrowheads="1"/>
          </p:cNvSpPr>
          <p:nvPr/>
        </p:nvSpPr>
        <p:spPr bwMode="auto">
          <a:xfrm>
            <a:off x="1607503" y="1967230"/>
            <a:ext cx="8976995" cy="829945"/>
          </a:xfrm>
          <a:prstGeom prst="rect">
            <a:avLst/>
          </a:prstGeom>
          <a:noFill/>
          <a:ln w="15875" algn="ctr">
            <a:solidFill>
              <a:srgbClr val="FF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例：</a:t>
            </a:r>
            <a:r>
              <a:rPr lang="zh-CN" altLang="zh-CN" sz="2400">
                <a:ea typeface="宋体" panose="02010600030101010101" pitchFamily="2" charset="-122"/>
              </a:rPr>
              <a:t>newwin=open(“http://www.sdjzu.edu.cn”,“myWindow”, "height=</a:t>
            </a:r>
            <a:r>
              <a:rPr lang="en-US" altLang="zh-CN" sz="2400">
                <a:ea typeface="宋体" panose="02010600030101010101" pitchFamily="2" charset="-122"/>
              </a:rPr>
              <a:t>3</a:t>
            </a:r>
            <a:r>
              <a:rPr lang="zh-CN" altLang="zh-CN" sz="2400">
                <a:ea typeface="宋体" panose="02010600030101010101" pitchFamily="2" charset="-122"/>
              </a:rPr>
              <a:t>00,width=</a:t>
            </a:r>
            <a:r>
              <a:rPr lang="en-US" altLang="zh-CN" sz="2400">
                <a:ea typeface="宋体" panose="02010600030101010101" pitchFamily="2" charset="-122"/>
              </a:rPr>
              <a:t>8</a:t>
            </a:r>
            <a:r>
              <a:rPr lang="zh-CN" altLang="zh-CN" sz="2400">
                <a:ea typeface="宋体" panose="02010600030101010101" pitchFamily="2" charset="-122"/>
              </a:rPr>
              <a:t>");</a:t>
            </a:r>
            <a:endParaRPr lang="en-US" altLang="zh-CN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31" grpId="0" bldLvl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window</a:t>
            </a:r>
            <a:r>
              <a:rPr lang="zh-CN" altLang="en-US" dirty="0">
                <a:sym typeface="+mn-ea"/>
              </a:rPr>
              <a:t>对象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algn="just" eaLnBrk="1" hangingPunct="1">
              <a:spcBef>
                <a:spcPct val="10000"/>
              </a:spcBef>
              <a:buFontTx/>
              <a:buNone/>
            </a:pPr>
            <a:endParaRPr lang="en-US" altLang="zh-CN" sz="2400"/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/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/>
        </p:nvSpPr>
        <p:spPr>
          <a:xfrm>
            <a:off x="1851025" y="636270"/>
            <a:ext cx="8490585" cy="5828665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例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20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：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&lt;html&gt;&lt;head&gt;&lt;title&gt;</a:t>
            </a:r>
            <a:r>
              <a:rPr lang="zh-CN" altLang="zh-CN" sz="1800" b="1" dirty="0">
                <a:ea typeface="宋体" panose="02010600030101010101" pitchFamily="2" charset="-122"/>
                <a:sym typeface="+mn-ea"/>
              </a:rPr>
              <a:t>打开和关闭窗口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&lt;/title&gt;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&lt;script&gt;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   var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newwin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   function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opennewwin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(){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newwin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=open("http://www.sdjzu.edu.cn","myWindow","height=300, width=800,top=10,left=0,toolbar=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no,menubar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=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no,"+"scrollbars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=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no,resizable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=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no,location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=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no,status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=no");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}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function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closenewwin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(){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	  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newwin.close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}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&lt;/script&gt;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&lt;/head&gt;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&lt;body&gt;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&lt;p&gt;&lt;a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href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="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javascript:opennewwin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()"&gt;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打开新窗口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&lt;/a&gt;&lt;/p&gt;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&lt;p&gt;&lt;a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href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="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javascript:closenewwin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()"&gt;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关闭新窗口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&lt;/a&gt;&lt;/p&gt;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&lt;p&gt;&lt;a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href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="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javascript:close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()"&gt;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关闭本窗口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&lt;/a&gt;&lt;/p&gt;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&lt;/body&gt;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&lt;/html&gt;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window</a:t>
            </a:r>
            <a:r>
              <a:rPr lang="zh-CN" altLang="en-US" dirty="0">
                <a:sym typeface="+mn-ea"/>
              </a:rPr>
              <a:t>对象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>
                <a:solidFill>
                  <a:srgbClr val="FF0000"/>
                </a:solidFill>
                <a:sym typeface="+mn-ea"/>
              </a:rPr>
              <a:t>window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对象的主要方法：</a:t>
            </a:r>
            <a:endParaRPr lang="en-US" altLang="zh-CN" sz="2400">
              <a:solidFill>
                <a:srgbClr val="FF0000"/>
              </a:solidFill>
            </a:endParaRP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zh-CN" sz="2400" dirty="0">
                <a:sym typeface="+mn-ea"/>
              </a:rPr>
              <a:t>⑤ alert(message)</a:t>
            </a:r>
            <a:r>
              <a:rPr lang="zh-CN" altLang="en-US" sz="2400" dirty="0">
                <a:sym typeface="+mn-ea"/>
              </a:rPr>
              <a:t>：用于弹出一个消息对话框。</a:t>
            </a:r>
            <a:endParaRPr lang="zh-CN" altLang="en-US" sz="2400" dirty="0"/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zh-CN" sz="2400" dirty="0">
                <a:sym typeface="+mn-ea"/>
              </a:rPr>
              <a:t>⑥ confirm(message)</a:t>
            </a:r>
            <a:r>
              <a:rPr lang="zh-CN" altLang="en-US" sz="2400" dirty="0">
                <a:sym typeface="+mn-ea"/>
              </a:rPr>
              <a:t>：用于弹出一个可以确认的对话框，提供了</a:t>
            </a:r>
            <a:r>
              <a:rPr lang="en-US" altLang="zh-CN" sz="2400" dirty="0">
                <a:sym typeface="+mn-ea"/>
              </a:rPr>
              <a:t>OK</a:t>
            </a:r>
            <a:r>
              <a:rPr lang="zh-CN" altLang="en-US" sz="2400" dirty="0">
                <a:sym typeface="+mn-ea"/>
              </a:rPr>
              <a:t>和</a:t>
            </a:r>
            <a:r>
              <a:rPr lang="en-US" altLang="zh-CN" sz="2400" dirty="0" err="1">
                <a:sym typeface="+mn-ea"/>
              </a:rPr>
              <a:t>Cancel</a:t>
            </a:r>
            <a:r>
              <a:rPr lang="zh-CN" altLang="en-US" sz="2400" dirty="0">
                <a:sym typeface="+mn-ea"/>
              </a:rPr>
              <a:t>两种选择。结果返回布尔值。</a:t>
            </a:r>
            <a:endParaRPr lang="zh-CN" altLang="en-US" sz="2400" dirty="0">
              <a:sym typeface="+mn-ea"/>
            </a:endParaRPr>
          </a:p>
          <a:p>
            <a:pPr eaLnBrk="1" hangingPunct="1">
              <a:spcBef>
                <a:spcPct val="10000"/>
              </a:spcBef>
              <a:buFontTx/>
              <a:buNone/>
            </a:pPr>
            <a:endParaRPr lang="zh-CN" altLang="en-US" sz="2400" dirty="0">
              <a:sym typeface="+mn-ea"/>
            </a:endParaRPr>
          </a:p>
          <a:p>
            <a:pPr eaLnBrk="1" hangingPunct="1">
              <a:spcBef>
                <a:spcPct val="10000"/>
              </a:spcBef>
              <a:buFontTx/>
              <a:buNone/>
            </a:pPr>
            <a:endParaRPr lang="zh-CN" altLang="en-US" sz="2400" dirty="0">
              <a:sym typeface="+mn-ea"/>
            </a:endParaRPr>
          </a:p>
          <a:p>
            <a:pPr eaLnBrk="1" hangingPunct="1">
              <a:spcBef>
                <a:spcPct val="10000"/>
              </a:spcBef>
              <a:buFontTx/>
              <a:buNone/>
            </a:pPr>
            <a:endParaRPr lang="zh-CN" altLang="en-US" sz="2400" dirty="0">
              <a:sym typeface="+mn-ea"/>
            </a:endParaRPr>
          </a:p>
          <a:p>
            <a:pPr eaLnBrk="1" hangingPunct="1">
              <a:spcBef>
                <a:spcPct val="10000"/>
              </a:spcBef>
              <a:buFontTx/>
              <a:buNone/>
            </a:pPr>
            <a:endParaRPr lang="zh-CN" altLang="en-US" sz="2400" dirty="0">
              <a:sym typeface="+mn-ea"/>
            </a:endParaRPr>
          </a:p>
          <a:p>
            <a:pPr eaLnBrk="1" hangingPunct="1">
              <a:spcBef>
                <a:spcPct val="10000"/>
              </a:spcBef>
              <a:buFontTx/>
              <a:buNone/>
            </a:pPr>
            <a:endParaRPr lang="zh-CN" altLang="en-US" sz="2400" dirty="0">
              <a:sym typeface="+mn-ea"/>
            </a:endParaRP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zh-CN" sz="2400" dirty="0">
                <a:sym typeface="+mn-ea"/>
              </a:rPr>
              <a:t>⑦ prompt(message, </a:t>
            </a:r>
            <a:r>
              <a:rPr lang="en-US" altLang="zh-CN" sz="2400" dirty="0" err="1">
                <a:sym typeface="+mn-ea"/>
              </a:rPr>
              <a:t>defaultInput</a:t>
            </a:r>
            <a:r>
              <a:rPr lang="en-US" altLang="zh-CN" sz="2400" dirty="0">
                <a:sym typeface="+mn-ea"/>
              </a:rPr>
              <a:t>)</a:t>
            </a:r>
            <a:r>
              <a:rPr lang="zh-CN" altLang="en-US" sz="2400" dirty="0">
                <a:sym typeface="+mn-ea"/>
              </a:rPr>
              <a:t>：用于弹出一个可以输入文字的对话框。</a:t>
            </a:r>
            <a:endParaRPr lang="zh-CN" altLang="en-US" sz="2400" dirty="0"/>
          </a:p>
          <a:p>
            <a:pPr eaLnBrk="1" hangingPunct="1">
              <a:spcBef>
                <a:spcPct val="10000"/>
              </a:spcBef>
              <a:buFontTx/>
              <a:buNone/>
            </a:pPr>
            <a:endParaRPr lang="en-US" altLang="zh-CN" sz="2400"/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/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216069" name="Text Box 5"/>
          <p:cNvSpPr txBox="1">
            <a:spLocks noChangeArrowheads="1"/>
          </p:cNvSpPr>
          <p:nvPr/>
        </p:nvSpPr>
        <p:spPr bwMode="auto">
          <a:xfrm>
            <a:off x="646906" y="2925763"/>
            <a:ext cx="8173566" cy="2298700"/>
          </a:xfrm>
          <a:prstGeom prst="rect">
            <a:avLst/>
          </a:prstGeom>
          <a:noFill/>
          <a:ln w="15875" algn="ctr">
            <a:solidFill>
              <a:srgbClr val="FF66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</a:rPr>
              <a:t>if(confirm("</a:t>
            </a:r>
            <a:r>
              <a:rPr lang="zh-CN" altLang="en-US" sz="2400">
                <a:solidFill>
                  <a:srgbClr val="0000CC"/>
                </a:solidFill>
              </a:rPr>
              <a:t>生活多么美好</a:t>
            </a:r>
            <a:r>
              <a:rPr lang="en-US" altLang="zh-CN" sz="2400">
                <a:solidFill>
                  <a:srgbClr val="0000CC"/>
                </a:solidFill>
              </a:rPr>
              <a:t>!")){</a:t>
            </a:r>
            <a:endParaRPr lang="en-US" altLang="zh-CN" sz="2400">
              <a:solidFill>
                <a:srgbClr val="0000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</a:rPr>
              <a:t>  document.write("&lt;h1&gt;"+"</a:t>
            </a:r>
            <a:r>
              <a:rPr lang="zh-CN" altLang="en-US" sz="2400">
                <a:solidFill>
                  <a:srgbClr val="0000CC"/>
                </a:solidFill>
              </a:rPr>
              <a:t>生活真的很美好！</a:t>
            </a:r>
            <a:r>
              <a:rPr lang="en-US" altLang="zh-CN" sz="2400">
                <a:solidFill>
                  <a:srgbClr val="0000CC"/>
                </a:solidFill>
              </a:rPr>
              <a:t>"+"&lt;/h1&gt;");</a:t>
            </a:r>
            <a:endParaRPr lang="en-US" altLang="zh-CN" sz="2400">
              <a:solidFill>
                <a:srgbClr val="0000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</a:rPr>
              <a:t>}</a:t>
            </a:r>
            <a:endParaRPr lang="en-US" altLang="zh-CN" sz="2400">
              <a:solidFill>
                <a:srgbClr val="0000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</a:rPr>
              <a:t>else{</a:t>
            </a:r>
            <a:endParaRPr lang="en-US" altLang="zh-CN" sz="2400">
              <a:solidFill>
                <a:srgbClr val="0000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</a:rPr>
              <a:t>  document.write("&lt;h1&gt;"+"</a:t>
            </a:r>
            <a:r>
              <a:rPr lang="zh-CN" altLang="en-US" sz="2400">
                <a:solidFill>
                  <a:srgbClr val="0000CC"/>
                </a:solidFill>
              </a:rPr>
              <a:t>打起精神来！</a:t>
            </a:r>
            <a:r>
              <a:rPr lang="en-US" altLang="zh-CN" sz="2400">
                <a:solidFill>
                  <a:srgbClr val="0000CC"/>
                </a:solidFill>
              </a:rPr>
              <a:t>"+"&lt;/h1&gt;");</a:t>
            </a:r>
            <a:endParaRPr lang="en-US" altLang="zh-CN" sz="2400">
              <a:solidFill>
                <a:srgbClr val="0000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</a:rPr>
              <a:t>}</a:t>
            </a:r>
            <a:endParaRPr lang="en-US" altLang="zh-CN" sz="2400">
              <a:solidFill>
                <a:srgbClr val="0000CC"/>
              </a:solidFill>
            </a:endParaRPr>
          </a:p>
        </p:txBody>
      </p:sp>
      <p:sp>
        <p:nvSpPr>
          <p:cNvPr id="216072" name="Text Box 8"/>
          <p:cNvSpPr txBox="1">
            <a:spLocks noChangeArrowheads="1"/>
          </p:cNvSpPr>
          <p:nvPr/>
        </p:nvSpPr>
        <p:spPr bwMode="auto">
          <a:xfrm>
            <a:off x="646906" y="5840759"/>
            <a:ext cx="7272338" cy="473075"/>
          </a:xfrm>
          <a:prstGeom prst="rect">
            <a:avLst/>
          </a:prstGeom>
          <a:noFill/>
          <a:ln w="15875" algn="ctr">
            <a:solidFill>
              <a:srgbClr val="FF66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</a:rPr>
              <a:t>window.prompt(“what’s your name?”, “Michael”)</a:t>
            </a:r>
            <a:endParaRPr lang="en-US" altLang="zh-CN" sz="2400">
              <a:solidFill>
                <a:srgbClr val="0000C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9" grpId="0" bldLvl="0" animBg="1"/>
      <p:bldP spid="216072" grpId="0" bldLvl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window</a:t>
            </a:r>
            <a:r>
              <a:rPr lang="zh-CN" altLang="en-US" dirty="0">
                <a:sym typeface="+mn-ea"/>
              </a:rPr>
              <a:t>对象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>
                <a:solidFill>
                  <a:srgbClr val="FF0000"/>
                </a:solidFill>
                <a:sym typeface="+mn-ea"/>
              </a:rPr>
              <a:t>window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对象的主要方法：</a:t>
            </a:r>
            <a:endParaRPr lang="en-US" altLang="zh-CN" sz="2400">
              <a:solidFill>
                <a:srgbClr val="FF0000"/>
              </a:solidFill>
            </a:endParaRP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zh-CN" sz="2400">
                <a:sym typeface="+mn-ea"/>
              </a:rPr>
              <a:t>⑧ setTimeout(expression,time)</a:t>
            </a:r>
            <a:r>
              <a:rPr lang="zh-CN" altLang="en-US" sz="2400">
                <a:sym typeface="+mn-ea"/>
              </a:rPr>
              <a:t>：设置暂停，等待多少毫秒执行某代码。</a:t>
            </a:r>
            <a:endParaRPr lang="zh-CN" altLang="en-US" sz="2400"/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zh-CN" sz="2400">
                <a:sym typeface="+mn-ea"/>
              </a:rPr>
              <a:t>     clearTimeout(timer)</a:t>
            </a:r>
            <a:r>
              <a:rPr lang="zh-CN" altLang="en-US" sz="2400">
                <a:sym typeface="+mn-ea"/>
              </a:rPr>
              <a:t>：取消原来的时间控制器内的时间设置。</a:t>
            </a:r>
            <a:endParaRPr lang="zh-CN" altLang="en-US" sz="2400">
              <a:sym typeface="+mn-ea"/>
            </a:endParaRPr>
          </a:p>
          <a:p>
            <a:pPr eaLnBrk="1" hangingPunct="1">
              <a:spcBef>
                <a:spcPct val="10000"/>
              </a:spcBef>
              <a:buFontTx/>
              <a:buNone/>
            </a:pPr>
            <a:endParaRPr lang="zh-CN" altLang="en-US" sz="2400">
              <a:sym typeface="+mn-ea"/>
            </a:endParaRPr>
          </a:p>
          <a:p>
            <a:pPr eaLnBrk="1" hangingPunct="1">
              <a:spcBef>
                <a:spcPct val="10000"/>
              </a:spcBef>
              <a:buFontTx/>
              <a:buNone/>
            </a:pPr>
            <a:endParaRPr lang="zh-CN" altLang="en-US" sz="2400">
              <a:sym typeface="+mn-ea"/>
            </a:endParaRPr>
          </a:p>
          <a:p>
            <a:pPr eaLnBrk="1" hangingPunct="1">
              <a:spcBef>
                <a:spcPct val="10000"/>
              </a:spcBef>
              <a:buFontTx/>
              <a:buNone/>
            </a:pPr>
            <a:endParaRPr lang="zh-CN" altLang="en-US" sz="2400">
              <a:sym typeface="+mn-ea"/>
            </a:endParaRPr>
          </a:p>
          <a:p>
            <a:pPr eaLnBrk="1" hangingPunct="1">
              <a:spcBef>
                <a:spcPct val="10000"/>
              </a:spcBef>
              <a:buFontTx/>
              <a:buNone/>
            </a:pPr>
            <a:endParaRPr lang="zh-CN" altLang="en-US" sz="2400">
              <a:sym typeface="+mn-ea"/>
            </a:endParaRP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zh-CN" sz="2400" dirty="0">
                <a:sym typeface="+mn-ea"/>
              </a:rPr>
              <a:t>⑨ </a:t>
            </a:r>
            <a:r>
              <a:rPr lang="en-US" altLang="zh-CN" sz="2400" dirty="0" err="1">
                <a:sym typeface="+mn-ea"/>
              </a:rPr>
              <a:t>setInterval</a:t>
            </a:r>
            <a:r>
              <a:rPr lang="en-US" altLang="zh-CN" sz="2400" dirty="0">
                <a:sym typeface="+mn-ea"/>
              </a:rPr>
              <a:t>(</a:t>
            </a:r>
            <a:r>
              <a:rPr lang="en-US" altLang="zh-CN" sz="2400" dirty="0" err="1">
                <a:sym typeface="+mn-ea"/>
              </a:rPr>
              <a:t>expression,time</a:t>
            </a:r>
            <a:r>
              <a:rPr lang="en-US" altLang="zh-CN" sz="2400" dirty="0">
                <a:sym typeface="+mn-ea"/>
              </a:rPr>
              <a:t>)</a:t>
            </a:r>
            <a:r>
              <a:rPr lang="zh-CN" altLang="en-US" sz="2400" dirty="0">
                <a:sym typeface="+mn-ea"/>
              </a:rPr>
              <a:t>：以指定的时间间隔重复执行某一功能。</a:t>
            </a:r>
            <a:endParaRPr lang="zh-CN" altLang="en-US" sz="2400" dirty="0"/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zh-CN" sz="2400" dirty="0">
                <a:sym typeface="+mn-ea"/>
              </a:rPr>
              <a:t>     </a:t>
            </a:r>
            <a:r>
              <a:rPr lang="en-US" altLang="zh-CN" sz="2400" dirty="0" err="1">
                <a:sym typeface="+mn-ea"/>
              </a:rPr>
              <a:t>clearInterval</a:t>
            </a:r>
            <a:r>
              <a:rPr lang="en-US" altLang="zh-CN" sz="2400" dirty="0">
                <a:sym typeface="+mn-ea"/>
              </a:rPr>
              <a:t>(timer)</a:t>
            </a:r>
            <a:endParaRPr lang="en-US" altLang="zh-CN" sz="2400" dirty="0"/>
          </a:p>
          <a:p>
            <a:pPr eaLnBrk="1" hangingPunct="1">
              <a:spcBef>
                <a:spcPct val="10000"/>
              </a:spcBef>
              <a:buFontTx/>
              <a:buNone/>
            </a:pPr>
            <a:endParaRPr lang="en-US" altLang="zh-CN" sz="2400"/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/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218115" name="Rectangle 3"/>
          <p:cNvSpPr>
            <a:spLocks noChangeArrowheads="1"/>
          </p:cNvSpPr>
          <p:nvPr/>
        </p:nvSpPr>
        <p:spPr bwMode="auto">
          <a:xfrm>
            <a:off x="1042989" y="2686051"/>
            <a:ext cx="7850187" cy="1223963"/>
          </a:xfrm>
          <a:prstGeom prst="rect">
            <a:avLst/>
          </a:prstGeom>
          <a:noFill/>
          <a:ln w="1905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solidFill>
                  <a:schemeClr val="hlink"/>
                </a:solidFill>
              </a:rPr>
              <a:t>例如：</a:t>
            </a:r>
            <a:endParaRPr kumimoji="1" lang="zh-CN" altLang="en-US" sz="2400" dirty="0">
              <a:solidFill>
                <a:schemeClr val="hlink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solidFill>
                  <a:schemeClr val="hlink"/>
                </a:solidFill>
              </a:rPr>
              <a:t>var </a:t>
            </a:r>
            <a:r>
              <a:rPr kumimoji="1" lang="en-US" altLang="zh-CN" sz="2400" dirty="0" err="1">
                <a:solidFill>
                  <a:schemeClr val="hlink"/>
                </a:solidFill>
              </a:rPr>
              <a:t>iTimeoutId</a:t>
            </a:r>
            <a:r>
              <a:rPr kumimoji="1" lang="en-US" altLang="zh-CN" sz="2400" dirty="0">
                <a:solidFill>
                  <a:schemeClr val="hlink"/>
                </a:solidFill>
              </a:rPr>
              <a:t>=</a:t>
            </a:r>
            <a:r>
              <a:rPr kumimoji="1" lang="en-US" altLang="zh-CN" sz="2400" dirty="0" err="1">
                <a:solidFill>
                  <a:schemeClr val="hlink"/>
                </a:solidFill>
              </a:rPr>
              <a:t>setTimeout</a:t>
            </a:r>
            <a:r>
              <a:rPr kumimoji="1" lang="en-US" altLang="zh-CN" sz="2400" dirty="0">
                <a:solidFill>
                  <a:schemeClr val="hlink"/>
                </a:solidFill>
              </a:rPr>
              <a:t>(“alert(‘Hello World!’)”,1000);</a:t>
            </a:r>
            <a:endParaRPr kumimoji="1" lang="en-US" altLang="zh-CN" sz="2400" dirty="0">
              <a:solidFill>
                <a:schemeClr val="hlink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dirty="0" err="1">
                <a:solidFill>
                  <a:schemeClr val="hlink"/>
                </a:solidFill>
              </a:rPr>
              <a:t>clearTimeout</a:t>
            </a:r>
            <a:r>
              <a:rPr kumimoji="1" lang="en-US" altLang="zh-CN" sz="2400" dirty="0">
                <a:solidFill>
                  <a:schemeClr val="hlink"/>
                </a:solidFill>
              </a:rPr>
              <a:t>(</a:t>
            </a:r>
            <a:r>
              <a:rPr kumimoji="1" lang="en-US" altLang="zh-CN" sz="2400" dirty="0" err="1">
                <a:solidFill>
                  <a:schemeClr val="hlink"/>
                </a:solidFill>
              </a:rPr>
              <a:t>iTimeoutId</a:t>
            </a:r>
            <a:r>
              <a:rPr kumimoji="1" lang="en-US" altLang="zh-CN" sz="2400" dirty="0">
                <a:solidFill>
                  <a:schemeClr val="hlink"/>
                </a:solidFill>
              </a:rPr>
              <a:t>); //</a:t>
            </a:r>
            <a:r>
              <a:rPr kumimoji="1" lang="zh-CN" altLang="en-US" sz="2400" dirty="0">
                <a:solidFill>
                  <a:schemeClr val="hlink"/>
                </a:solidFill>
              </a:rPr>
              <a:t>取消还未执行的暂停 </a:t>
            </a:r>
            <a:endParaRPr kumimoji="1" lang="zh-CN" altLang="en-US" sz="2400" dirty="0">
              <a:solidFill>
                <a:schemeClr val="hlin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218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5" grpId="0" bldLvl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window</a:t>
            </a:r>
            <a:r>
              <a:rPr lang="zh-CN" altLang="en-US" dirty="0">
                <a:sym typeface="+mn-ea"/>
              </a:rPr>
              <a:t>对象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eaLnBrk="1" hangingPunct="1">
              <a:spcBef>
                <a:spcPct val="10000"/>
              </a:spcBef>
              <a:buFontTx/>
              <a:buNone/>
            </a:pPr>
            <a:r>
              <a:rPr kumimoji="1" lang="zh-CN" altLang="en-US" sz="2400" dirty="0">
                <a:solidFill>
                  <a:schemeClr val="hlink"/>
                </a:solidFill>
                <a:sym typeface="+mn-ea"/>
              </a:rPr>
              <a:t>例子：设计一个页面，页面中有一段循环显示的文字。</a:t>
            </a:r>
            <a:endParaRPr kumimoji="1" lang="zh-CN" altLang="en-US" sz="2400" dirty="0">
              <a:solidFill>
                <a:schemeClr val="hlink"/>
              </a:solidFill>
              <a:sym typeface="+mn-ea"/>
            </a:endParaRP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zh-CN" sz="2400"/>
              <a:t>设计思路： </a:t>
            </a:r>
            <a:endParaRPr lang="en-US" altLang="zh-CN" sz="2400"/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zh-CN" sz="2400"/>
              <a:t>定时显示一段文字，每次显示这段文字时把第1个字符转移到最后，从而产生循环显示的效果。 </a:t>
            </a:r>
            <a:endParaRPr lang="en-US" altLang="zh-CN" sz="2400"/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zh-CN" sz="2400"/>
              <a:t>1）全局变量loopText，</a:t>
            </a:r>
            <a:r>
              <a:rPr lang="en-US" altLang="zh-CN" sz="2400">
                <a:solidFill>
                  <a:srgbClr val="FF0000"/>
                </a:solidFill>
              </a:rPr>
              <a:t> txtlooptext.value</a:t>
            </a:r>
            <a:r>
              <a:rPr lang="en-US" altLang="zh-CN" sz="2400"/>
              <a:t>=loopText</a:t>
            </a:r>
            <a:endParaRPr lang="en-US" altLang="zh-CN" sz="2400"/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zh-CN" sz="2400"/>
              <a:t>2）重新组串：loopText=loopText.substring(1,loopText.length)+loopText.substring(0,1);</a:t>
            </a:r>
            <a:endParaRPr lang="en-US" altLang="zh-CN" sz="2400"/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zh-CN" sz="2400"/>
              <a:t>3）</a:t>
            </a:r>
            <a:r>
              <a:rPr lang="en-US" altLang="zh-CN" sz="2400">
                <a:solidFill>
                  <a:srgbClr val="0070C0"/>
                </a:solidFill>
              </a:rPr>
              <a:t>setInterval ("LoopShow()",100);</a:t>
            </a:r>
            <a:endParaRPr lang="en-US" altLang="zh-CN" sz="2400"/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zh-CN" sz="2400"/>
              <a:t>每100毫秒执行一次</a:t>
            </a:r>
            <a:endParaRPr lang="en-US" altLang="zh-CN" sz="2400"/>
          </a:p>
          <a:p>
            <a:pPr eaLnBrk="1" hangingPunct="1">
              <a:spcBef>
                <a:spcPct val="10000"/>
              </a:spcBef>
              <a:buFontTx/>
              <a:buNone/>
            </a:pPr>
            <a:endParaRPr lang="en-US" altLang="zh-CN" sz="2400"/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history对象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ym typeface="+mn-ea"/>
              </a:rPr>
              <a:t>history</a:t>
            </a:r>
            <a:r>
              <a:rPr lang="zh-CN" altLang="en-US" sz="2400" dirty="0">
                <a:sym typeface="+mn-ea"/>
              </a:rPr>
              <a:t>对象含有以前访问过的网页的</a:t>
            </a:r>
            <a:r>
              <a:rPr lang="en-US" altLang="zh-CN" sz="2400" dirty="0">
                <a:sym typeface="+mn-ea"/>
              </a:rPr>
              <a:t>URL</a:t>
            </a:r>
            <a:r>
              <a:rPr lang="zh-CN" altLang="en-US" sz="2400" dirty="0">
                <a:sym typeface="+mn-ea"/>
              </a:rPr>
              <a:t>地址。可以利用</a:t>
            </a:r>
            <a:r>
              <a:rPr lang="en-US" altLang="zh-CN" sz="2400" dirty="0">
                <a:sym typeface="+mn-ea"/>
              </a:rPr>
              <a:t>history</a:t>
            </a:r>
            <a:r>
              <a:rPr lang="zh-CN" altLang="en-US" sz="2400" dirty="0">
                <a:sym typeface="+mn-ea"/>
              </a:rPr>
              <a:t>对象实现网页的前进和后退。</a:t>
            </a:r>
            <a:endParaRPr lang="zh-CN" altLang="en-US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cs typeface="Times New Roman" panose="02020603050405020304" pitchFamily="18" charset="0"/>
              </a:rPr>
              <a:t>① 主要属性 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cs typeface="Times New Roman" panose="02020603050405020304" pitchFamily="18" charset="0"/>
              </a:rPr>
              <a:t>     current：当前的网页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cs typeface="Times New Roman" panose="02020603050405020304" pitchFamily="18" charset="0"/>
              </a:rPr>
              <a:t>     length：历史记录中的网页数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cs typeface="Times New Roman" panose="02020603050405020304" pitchFamily="18" charset="0"/>
              </a:rPr>
              <a:t>     previous：访问这个网页之前访问的网页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cs typeface="Times New Roman" panose="02020603050405020304" pitchFamily="18" charset="0"/>
              </a:rPr>
              <a:t>     next：访问这个网页之后访问的网页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cs typeface="Times New Roman" panose="02020603050405020304" pitchFamily="18" charset="0"/>
              </a:rPr>
              <a:t>② history对象的方法 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cs typeface="Times New Roman" panose="02020603050405020304" pitchFamily="18" charset="0"/>
              </a:rPr>
              <a:t>     back( )：跳转到前一个网页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cs typeface="Times New Roman" panose="02020603050405020304" pitchFamily="18" charset="0"/>
              </a:rPr>
              <a:t>     forward( )：跳转到后一个网页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cs typeface="Times New Roman" panose="02020603050405020304" pitchFamily="18" charset="0"/>
              </a:rPr>
              <a:t>     go(number)：跳转到历史记录中的某个网页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75780" name="Rectangle 6"/>
          <p:cNvSpPr>
            <a:spLocks noChangeArrowheads="1"/>
          </p:cNvSpPr>
          <p:nvPr/>
        </p:nvSpPr>
        <p:spPr bwMode="auto">
          <a:xfrm>
            <a:off x="6913245" y="4485640"/>
            <a:ext cx="5064125" cy="14452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>
            <a:lvl1pPr marL="365125" indent="-365125" eaLnBrk="0" hangingPunct="0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SzPct val="80000"/>
              <a:buBlip>
                <a:blip r:embed="rId2"/>
              </a:buBlip>
              <a:defRPr sz="2800" b="1">
                <a:solidFill>
                  <a:srgbClr val="FF66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1"/>
              </a:buBlip>
              <a:defRPr sz="2000" b="1">
                <a:solidFill>
                  <a:srgbClr val="FF9933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/>
              <a:t>例如：</a:t>
            </a:r>
            <a:endParaRPr lang="zh-CN" altLang="en-US" sz="2400"/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/>
              <a:t>history.go(-1)           history.back( )</a:t>
            </a:r>
            <a:endParaRPr lang="en-US" altLang="zh-CN" sz="2400"/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400"/>
              <a:t>history.go(1)            history.forward( )</a:t>
            </a:r>
            <a:endParaRPr lang="en-US" altLang="zh-CN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history对象</a:t>
            </a:r>
            <a:endParaRPr lang="zh-CN" altLang="en-US">
              <a:sym typeface="+mn-ea"/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/>
        </p:nvSpPr>
        <p:spPr>
          <a:xfrm>
            <a:off x="1851025" y="664845"/>
            <a:ext cx="8490585" cy="579882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例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21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：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&lt;html&gt;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&lt;head&gt;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&lt;title&gt;history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对象示例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&lt;/title&gt;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&lt;/head&gt;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&lt;body&gt;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&lt;form name="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frm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"&gt;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 	&lt;input type= "button" value="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后退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" onclick="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goback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()"&gt;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&lt;input type="button" value="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前进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" onclick="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goforward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()"&gt;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&lt;/form&gt;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&lt;script language="JavaScript"&gt;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function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goforward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(){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 		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history.go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(1);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}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 	function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goback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(){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 		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history.go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(–1);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	}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	&lt;/script&gt;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&lt;/body&gt;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&lt;/html&gt;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navigator对象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>
                <a:cs typeface="Times New Roman" panose="02020603050405020304" pitchFamily="18" charset="0"/>
                <a:sym typeface="+mn-ea"/>
              </a:rPr>
              <a:t>navigator</a:t>
            </a:r>
            <a:r>
              <a:rPr lang="zh-CN" altLang="en-US" sz="2400">
                <a:cs typeface="Times New Roman" panose="02020603050405020304" pitchFamily="18" charset="0"/>
                <a:sym typeface="+mn-ea"/>
              </a:rPr>
              <a:t>对象在浏览器打开时自动创建。</a:t>
            </a:r>
            <a:endParaRPr lang="zh-CN" altLang="en-US" sz="2400">
              <a:cs typeface="Times New Roman" panose="02020603050405020304" pitchFamily="18" charset="0"/>
              <a:sym typeface="+mn-ea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990099"/>
                </a:solidFill>
                <a:cs typeface="Times New Roman" panose="02020603050405020304" pitchFamily="18" charset="0"/>
                <a:sym typeface="+mn-ea"/>
              </a:rPr>
              <a:t>主要属性：</a:t>
            </a:r>
            <a:endParaRPr lang="zh-CN" altLang="en-US" sz="2400">
              <a:solidFill>
                <a:srgbClr val="990099"/>
              </a:solidFill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2400"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2400">
                <a:cs typeface="Times New Roman" panose="02020603050405020304" pitchFamily="18" charset="0"/>
                <a:sym typeface="+mn-ea"/>
              </a:rPr>
              <a:t>appName</a:t>
            </a:r>
            <a:r>
              <a:rPr lang="zh-CN" altLang="en-US" sz="2400">
                <a:cs typeface="Times New Roman" panose="02020603050405020304" pitchFamily="18" charset="0"/>
                <a:sym typeface="+mn-ea"/>
              </a:rPr>
              <a:t>：浏览器的名字，</a:t>
            </a:r>
            <a:r>
              <a:rPr lang="en-US" altLang="zh-CN" sz="2400">
                <a:cs typeface="Times New Roman" panose="02020603050405020304" pitchFamily="18" charset="0"/>
                <a:sym typeface="+mn-ea"/>
              </a:rPr>
              <a:t>IE</a:t>
            </a:r>
            <a:r>
              <a:rPr lang="zh-CN" altLang="en-US" sz="2400">
                <a:cs typeface="Times New Roman" panose="02020603050405020304" pitchFamily="18" charset="0"/>
                <a:sym typeface="+mn-ea"/>
              </a:rPr>
              <a:t>浏览器为“</a:t>
            </a:r>
            <a:r>
              <a:rPr lang="en-US" altLang="zh-CN" sz="2400">
                <a:cs typeface="Times New Roman" panose="02020603050405020304" pitchFamily="18" charset="0"/>
                <a:sym typeface="+mn-ea"/>
              </a:rPr>
              <a:t>Microsoft Internet Explorer”</a:t>
            </a:r>
            <a:r>
              <a:rPr lang="zh-CN" altLang="en-US" sz="2400"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>
                <a:cs typeface="Times New Roman" panose="02020603050405020304" pitchFamily="18" charset="0"/>
                <a:sym typeface="+mn-ea"/>
              </a:rPr>
              <a:t>Netscape</a:t>
            </a:r>
            <a:r>
              <a:rPr lang="zh-CN" altLang="en-US" sz="2400">
                <a:cs typeface="Times New Roman" panose="02020603050405020304" pitchFamily="18" charset="0"/>
                <a:sym typeface="+mn-ea"/>
              </a:rPr>
              <a:t>浏览器为“</a:t>
            </a:r>
            <a:r>
              <a:rPr lang="en-US" altLang="zh-CN" sz="2400">
                <a:cs typeface="Times New Roman" panose="02020603050405020304" pitchFamily="18" charset="0"/>
                <a:sym typeface="+mn-ea"/>
              </a:rPr>
              <a:t>Netscape”</a:t>
            </a:r>
            <a:r>
              <a:rPr lang="zh-CN" altLang="en-US" sz="2400"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2400"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2400"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2400">
                <a:cs typeface="Times New Roman" panose="02020603050405020304" pitchFamily="18" charset="0"/>
                <a:sym typeface="+mn-ea"/>
              </a:rPr>
              <a:t>appVersion</a:t>
            </a:r>
            <a:r>
              <a:rPr lang="zh-CN" altLang="en-US" sz="2400">
                <a:cs typeface="Times New Roman" panose="02020603050405020304" pitchFamily="18" charset="0"/>
                <a:sym typeface="+mn-ea"/>
              </a:rPr>
              <a:t>：浏览器的版本号。</a:t>
            </a:r>
            <a:endParaRPr lang="zh-CN" altLang="en-US" sz="2400"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2400"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2400">
                <a:cs typeface="Times New Roman" panose="02020603050405020304" pitchFamily="18" charset="0"/>
                <a:sym typeface="+mn-ea"/>
              </a:rPr>
              <a:t>appCodeName</a:t>
            </a:r>
            <a:r>
              <a:rPr lang="zh-CN" altLang="en-US" sz="2400">
                <a:cs typeface="Times New Roman" panose="02020603050405020304" pitchFamily="18" charset="0"/>
                <a:sym typeface="+mn-ea"/>
              </a:rPr>
              <a:t>：浏览器所使用的核心程序的名称，如</a:t>
            </a:r>
            <a:r>
              <a:rPr lang="en-US" altLang="zh-CN" sz="2400">
                <a:cs typeface="Times New Roman" panose="02020603050405020304" pitchFamily="18" charset="0"/>
                <a:sym typeface="+mn-ea"/>
              </a:rPr>
              <a:t>IE</a:t>
            </a:r>
            <a:r>
              <a:rPr lang="zh-CN" altLang="en-US" sz="2400">
                <a:cs typeface="Times New Roman" panose="02020603050405020304" pitchFamily="18" charset="0"/>
                <a:sym typeface="+mn-ea"/>
              </a:rPr>
              <a:t>的</a:t>
            </a:r>
            <a:r>
              <a:rPr lang="en-US" altLang="zh-CN" sz="2400">
                <a:cs typeface="Times New Roman" panose="02020603050405020304" pitchFamily="18" charset="0"/>
                <a:sym typeface="+mn-ea"/>
              </a:rPr>
              <a:t>Mozilla</a:t>
            </a:r>
            <a:r>
              <a:rPr lang="zh-CN" altLang="en-US" sz="2400"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2400"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2400"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2400">
                <a:cs typeface="Times New Roman" panose="02020603050405020304" pitchFamily="18" charset="0"/>
                <a:sym typeface="+mn-ea"/>
              </a:rPr>
              <a:t>userAgent</a:t>
            </a:r>
            <a:r>
              <a:rPr lang="zh-CN" altLang="en-US" sz="2400">
                <a:cs typeface="Times New Roman" panose="02020603050405020304" pitchFamily="18" charset="0"/>
                <a:sym typeface="+mn-ea"/>
              </a:rPr>
              <a:t>：用户代理，这个信息会放在</a:t>
            </a:r>
            <a:r>
              <a:rPr lang="en-US" altLang="zh-CN" sz="2400">
                <a:cs typeface="Times New Roman" panose="02020603050405020304" pitchFamily="18" charset="0"/>
                <a:sym typeface="+mn-ea"/>
              </a:rPr>
              <a:t>HTTP</a:t>
            </a:r>
            <a:r>
              <a:rPr lang="zh-CN" altLang="en-US" sz="2400">
                <a:cs typeface="Times New Roman" panose="02020603050405020304" pitchFamily="18" charset="0"/>
                <a:sym typeface="+mn-ea"/>
              </a:rPr>
              <a:t>协议的头中放送给网页服务器。如“</a:t>
            </a:r>
            <a:r>
              <a:rPr lang="en-US" altLang="zh-CN" sz="2400">
                <a:cs typeface="Times New Roman" panose="02020603050405020304" pitchFamily="18" charset="0"/>
                <a:sym typeface="+mn-ea"/>
              </a:rPr>
              <a:t>Mozilla/3.04Gold(Win95;I)”</a:t>
            </a:r>
            <a:endParaRPr lang="en-US" altLang="zh-CN" sz="2400"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sz="2400"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2400">
                <a:cs typeface="Times New Roman" panose="02020603050405020304" pitchFamily="18" charset="0"/>
                <a:sym typeface="+mn-ea"/>
              </a:rPr>
              <a:t>mimeTypes</a:t>
            </a:r>
            <a:r>
              <a:rPr lang="zh-CN" altLang="en-US" sz="2400">
                <a:cs typeface="Times New Roman" panose="02020603050405020304" pitchFamily="18" charset="0"/>
                <a:sym typeface="+mn-ea"/>
              </a:rPr>
              <a:t>：数组，浏览器所支持的所有</a:t>
            </a:r>
            <a:r>
              <a:rPr lang="en-US" altLang="zh-CN" sz="2400">
                <a:cs typeface="Times New Roman" panose="02020603050405020304" pitchFamily="18" charset="0"/>
                <a:sym typeface="+mn-ea"/>
              </a:rPr>
              <a:t>Mime</a:t>
            </a:r>
            <a:r>
              <a:rPr lang="zh-CN" altLang="en-US" sz="2400">
                <a:cs typeface="Times New Roman" panose="02020603050405020304" pitchFamily="18" charset="0"/>
                <a:sym typeface="+mn-ea"/>
              </a:rPr>
              <a:t>类型。</a:t>
            </a:r>
            <a:endParaRPr lang="zh-CN" altLang="en-US" sz="2400"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cs typeface="Times New Roman" panose="02020603050405020304" pitchFamily="18" charset="0"/>
                <a:sym typeface="+mn-ea"/>
              </a:rPr>
              <a:t>6</a:t>
            </a:r>
            <a:r>
              <a:rPr lang="zh-CN" altLang="en-US" sz="2400"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2400">
                <a:cs typeface="Times New Roman" panose="02020603050405020304" pitchFamily="18" charset="0"/>
                <a:sym typeface="+mn-ea"/>
              </a:rPr>
              <a:t>plugins</a:t>
            </a:r>
            <a:r>
              <a:rPr lang="zh-CN" altLang="en-US" sz="2400">
                <a:cs typeface="Times New Roman" panose="02020603050405020304" pitchFamily="18" charset="0"/>
                <a:sym typeface="+mn-ea"/>
              </a:rPr>
              <a:t>：数组，浏览器所安装的所有插件。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frames对象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cs typeface="Times New Roman" panose="02020603050405020304" pitchFamily="18" charset="0"/>
                <a:sym typeface="+mn-ea"/>
              </a:rPr>
              <a:t>在</a:t>
            </a:r>
            <a:r>
              <a:rPr lang="en-US" altLang="zh-CN" sz="2400" b="1" dirty="0">
                <a:cs typeface="Times New Roman" panose="02020603050405020304" pitchFamily="18" charset="0"/>
                <a:sym typeface="+mn-ea"/>
              </a:rPr>
              <a:t>window</a:t>
            </a:r>
            <a:r>
              <a:rPr lang="zh-CN" altLang="en-US" sz="2400" b="1" dirty="0">
                <a:cs typeface="Times New Roman" panose="02020603050405020304" pitchFamily="18" charset="0"/>
                <a:sym typeface="+mn-ea"/>
              </a:rPr>
              <a:t>属性中，</a:t>
            </a:r>
            <a:r>
              <a:rPr lang="en-US" altLang="zh-CN" sz="2400" b="1" dirty="0">
                <a:cs typeface="Times New Roman" panose="02020603050405020304" pitchFamily="18" charset="0"/>
                <a:sym typeface="+mn-ea"/>
              </a:rPr>
              <a:t>frames</a:t>
            </a:r>
            <a:r>
              <a:rPr lang="zh-CN" altLang="en-US" sz="2400" b="1" dirty="0">
                <a:cs typeface="Times New Roman" panose="02020603050405020304" pitchFamily="18" charset="0"/>
                <a:sym typeface="+mn-ea"/>
              </a:rPr>
              <a:t>是一个</a:t>
            </a:r>
            <a:r>
              <a:rPr lang="en-US" altLang="zh-CN" sz="2400" b="1" dirty="0">
                <a:cs typeface="Times New Roman" panose="02020603050405020304" pitchFamily="18" charset="0"/>
                <a:sym typeface="+mn-ea"/>
              </a:rPr>
              <a:t>array</a:t>
            </a:r>
            <a:r>
              <a:rPr lang="zh-CN" altLang="en-US" sz="2400" b="1" dirty="0">
                <a:cs typeface="Times New Roman" panose="02020603050405020304" pitchFamily="18" charset="0"/>
                <a:sym typeface="+mn-ea"/>
              </a:rPr>
              <a:t>型成员对象。如果窗口分祯的话，每个</a:t>
            </a:r>
            <a:r>
              <a:rPr lang="en-US" altLang="zh-CN" sz="2400" b="1" dirty="0">
                <a:cs typeface="Times New Roman" panose="02020603050405020304" pitchFamily="18" charset="0"/>
                <a:sym typeface="+mn-ea"/>
              </a:rPr>
              <a:t>frame</a:t>
            </a:r>
            <a:r>
              <a:rPr lang="zh-CN" altLang="en-US" sz="2400" b="1" dirty="0">
                <a:cs typeface="Times New Roman" panose="02020603050405020304" pitchFamily="18" charset="0"/>
                <a:sym typeface="+mn-ea"/>
              </a:rPr>
              <a:t>相当于一个单独的</a:t>
            </a:r>
            <a:r>
              <a:rPr lang="en-US" altLang="zh-CN" sz="2400" b="1" dirty="0">
                <a:cs typeface="Times New Roman" panose="02020603050405020304" pitchFamily="18" charset="0"/>
                <a:sym typeface="+mn-ea"/>
              </a:rPr>
              <a:t>window</a:t>
            </a:r>
            <a:r>
              <a:rPr lang="zh-CN" altLang="en-US" sz="2400" b="1" dirty="0">
                <a:cs typeface="Times New Roman" panose="02020603050405020304" pitchFamily="18" charset="0"/>
                <a:sym typeface="+mn-ea"/>
              </a:rPr>
              <a:t>对象。</a:t>
            </a:r>
            <a:endParaRPr lang="zh-CN" altLang="en-US" sz="2400" b="1" dirty="0"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cs typeface="Times New Roman" panose="02020603050405020304" pitchFamily="18" charset="0"/>
                <a:sym typeface="+mn-ea"/>
              </a:rPr>
              <a:t>对帧的访问可以通过数组下标</a:t>
            </a:r>
            <a:r>
              <a:rPr lang="en-US" altLang="zh-CN" sz="2400" b="1" dirty="0">
                <a:cs typeface="Times New Roman" panose="02020603050405020304" pitchFamily="18" charset="0"/>
                <a:sym typeface="+mn-ea"/>
              </a:rPr>
              <a:t>0,1,…</a:t>
            </a:r>
            <a:r>
              <a:rPr lang="zh-CN" altLang="en-US" sz="2400" b="1" dirty="0">
                <a:cs typeface="Times New Roman" panose="02020603050405020304" pitchFamily="18" charset="0"/>
                <a:sym typeface="+mn-ea"/>
              </a:rPr>
              <a:t>，或者通过帧名。</a:t>
            </a:r>
            <a:endParaRPr lang="zh-CN" altLang="en-US" sz="2400" b="1" dirty="0">
              <a:cs typeface="Times New Roman" panose="02020603050405020304" pitchFamily="18" charset="0"/>
            </a:endParaRPr>
          </a:p>
          <a:p>
            <a:pPr marL="1243330" lvl="1" indent="-53340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  <a:sym typeface="+mn-ea"/>
              </a:rPr>
              <a:t>例如：</a:t>
            </a:r>
            <a:r>
              <a:rPr lang="en-US" altLang="zh-CN" sz="2400" b="1" dirty="0" err="1">
                <a:solidFill>
                  <a:srgbClr val="0070C0"/>
                </a:solidFill>
                <a:cs typeface="Times New Roman" panose="02020603050405020304" pitchFamily="18" charset="0"/>
                <a:sym typeface="+mn-ea"/>
              </a:rPr>
              <a:t>window.frames</a:t>
            </a:r>
            <a:r>
              <a:rPr lang="en-US" altLang="zh-CN" sz="2400" b="1" dirty="0">
                <a:solidFill>
                  <a:srgbClr val="0070C0"/>
                </a:solidFill>
                <a:cs typeface="Times New Roman" panose="02020603050405020304" pitchFamily="18" charset="0"/>
                <a:sym typeface="+mn-ea"/>
              </a:rPr>
              <a:t>[0]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  <a:sym typeface="+mn-ea"/>
              </a:rPr>
              <a:t>代表第一个帧窗口。</a:t>
            </a:r>
            <a:r>
              <a:rPr lang="zh-CN" altLang="en-US" sz="2400" b="1" dirty="0">
                <a:cs typeface="Times New Roman" panose="02020603050405020304" pitchFamily="18" charset="0"/>
                <a:sym typeface="+mn-ea"/>
              </a:rPr>
              <a:t> </a:t>
            </a:r>
            <a:endParaRPr lang="en-US" altLang="zh-CN" sz="2400" b="1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location对象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ym typeface="+mn-ea"/>
              </a:rPr>
              <a:t>location</a:t>
            </a:r>
            <a:r>
              <a:rPr lang="zh-CN" altLang="en-US" sz="2400" dirty="0">
                <a:sym typeface="+mn-ea"/>
              </a:rPr>
              <a:t>对象用来存储当前窗口的</a:t>
            </a:r>
            <a:r>
              <a:rPr lang="en-US" altLang="zh-CN" sz="2400" dirty="0" err="1">
                <a:sym typeface="+mn-ea"/>
              </a:rPr>
              <a:t>url</a:t>
            </a:r>
            <a:r>
              <a:rPr lang="zh-CN" altLang="en-US" sz="2400" dirty="0">
                <a:sym typeface="+mn-ea"/>
              </a:rPr>
              <a:t>值。它储存了一个完整的</a:t>
            </a:r>
            <a:r>
              <a:rPr lang="en-US" altLang="zh-CN" sz="2400" dirty="0" err="1">
                <a:sym typeface="+mn-ea"/>
              </a:rPr>
              <a:t>url</a:t>
            </a:r>
            <a:r>
              <a:rPr lang="zh-CN" altLang="en-US" sz="2400" dirty="0">
                <a:sym typeface="+mn-ea"/>
              </a:rPr>
              <a:t>，并且可能通过对</a:t>
            </a:r>
            <a:r>
              <a:rPr lang="en-US" altLang="zh-CN" sz="2400" dirty="0">
                <a:sym typeface="+mn-ea"/>
              </a:rPr>
              <a:t>location</a:t>
            </a:r>
            <a:r>
              <a:rPr lang="zh-CN" altLang="en-US" sz="2400" dirty="0">
                <a:sym typeface="+mn-ea"/>
              </a:rPr>
              <a:t>对象的赋值来改变当前窗口的</a:t>
            </a:r>
            <a:r>
              <a:rPr lang="en-US" altLang="zh-CN" sz="2400" dirty="0" err="1">
                <a:sym typeface="+mn-ea"/>
              </a:rPr>
              <a:t>url</a:t>
            </a:r>
            <a:r>
              <a:rPr lang="zh-CN" altLang="en-US" sz="2400" dirty="0">
                <a:sym typeface="+mn-ea"/>
              </a:rPr>
              <a:t>，从而改变当前网页的内容。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2844800" y="1884045"/>
          <a:ext cx="6502400" cy="456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6299200" imgH="4362450" progId="Paint.Picture">
                  <p:embed/>
                </p:oleObj>
              </mc:Choice>
              <mc:Fallback>
                <p:oleObj name="" r:id="rId1" imgW="6299200" imgH="436245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44800" y="1884045"/>
                        <a:ext cx="6502400" cy="45643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location对象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ym typeface="+mn-ea"/>
              </a:rPr>
              <a:t>location</a:t>
            </a:r>
            <a:r>
              <a:rPr lang="zh-CN" altLang="en-US" sz="2400" dirty="0">
                <a:sym typeface="+mn-ea"/>
              </a:rPr>
              <a:t>对象用来存储当前窗口的</a:t>
            </a:r>
            <a:r>
              <a:rPr lang="en-US" altLang="zh-CN" sz="2400" dirty="0" err="1">
                <a:sym typeface="+mn-ea"/>
              </a:rPr>
              <a:t>url</a:t>
            </a:r>
            <a:r>
              <a:rPr lang="zh-CN" altLang="en-US" sz="2400" dirty="0">
                <a:sym typeface="+mn-ea"/>
              </a:rPr>
              <a:t>值。它储存了一个完整的</a:t>
            </a:r>
            <a:r>
              <a:rPr lang="en-US" altLang="zh-CN" sz="2400" dirty="0" err="1">
                <a:sym typeface="+mn-ea"/>
              </a:rPr>
              <a:t>url</a:t>
            </a:r>
            <a:r>
              <a:rPr lang="zh-CN" altLang="en-US" sz="2400" dirty="0">
                <a:sym typeface="+mn-ea"/>
              </a:rPr>
              <a:t>，并且可能通过对</a:t>
            </a:r>
            <a:r>
              <a:rPr lang="en-US" altLang="zh-CN" sz="2400" dirty="0">
                <a:sym typeface="+mn-ea"/>
              </a:rPr>
              <a:t>location</a:t>
            </a:r>
            <a:r>
              <a:rPr lang="zh-CN" altLang="en-US" sz="2400" dirty="0">
                <a:sym typeface="+mn-ea"/>
              </a:rPr>
              <a:t>对象的赋值来改变当前窗口的</a:t>
            </a:r>
            <a:r>
              <a:rPr lang="en-US" altLang="zh-CN" sz="2400" dirty="0" err="1">
                <a:sym typeface="+mn-ea"/>
              </a:rPr>
              <a:t>url</a:t>
            </a:r>
            <a:r>
              <a:rPr lang="zh-CN" altLang="en-US" sz="2400" dirty="0">
                <a:sym typeface="+mn-ea"/>
              </a:rPr>
              <a:t>，从而改变当前网页的内容。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914651"/>
            <a:ext cx="7620000" cy="1146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任意多边形 29"/>
          <p:cNvSpPr/>
          <p:nvPr/>
        </p:nvSpPr>
        <p:spPr>
          <a:xfrm>
            <a:off x="1" y="73756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solidFill>
            <a:srgbClr val="FB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2" y="1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gradFill>
            <a:gsLst>
              <a:gs pos="0">
                <a:srgbClr val="0050B0"/>
              </a:gs>
              <a:gs pos="62000">
                <a:srgbClr val="0040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730363" y="4687874"/>
            <a:ext cx="242316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FBC001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408E"/>
                </a:solidFill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rPr>
              <a:t>PART ELEVEN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408E"/>
              </a:solidFill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353623" y="-615"/>
            <a:ext cx="3176640" cy="43783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17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 w="22225">
                  <a:gradFill>
                    <a:gsLst>
                      <a:gs pos="0">
                        <a:prstClr val="white"/>
                      </a:gs>
                      <a:gs pos="82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noFill/>
                <a:effectLst/>
                <a:uLnTx/>
                <a:uFillTx/>
                <a:ea typeface="思源黑体 CN Medium" panose="020B0600000000000000" pitchFamily="34" charset="-122"/>
                <a:cs typeface="+mn-cs"/>
              </a:rPr>
              <a:t>11</a:t>
            </a:r>
            <a:endParaRPr kumimoji="0" lang="en-US" altLang="zh-CN" sz="19900" b="0" i="0" u="none" strike="noStrike" kern="1200" cap="none" spc="0" normalizeH="0" baseline="0" noProof="0" dirty="0">
              <a:ln w="22225">
                <a:gradFill>
                  <a:gsLst>
                    <a:gs pos="0">
                      <a:prstClr val="white"/>
                    </a:gs>
                    <a:gs pos="82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noFill/>
              <a:effectLst/>
              <a:uLnTx/>
              <a:uFillTx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70585" y="3429000"/>
            <a:ext cx="10098405" cy="1014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16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思源黑体 CN Bold" panose="020B0800000000000000" pitchFamily="34" charset="-122"/>
                <a:cs typeface="+mn-cs"/>
                <a:sym typeface="思源黑体 CN Normal" panose="020B0400000000000000" pitchFamily="34" charset="-122"/>
              </a:rPr>
              <a:t>文档对象模型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16000"/>
                  </a:prstClr>
                </a:outerShdw>
              </a:effectLst>
              <a:uLnTx/>
              <a:uFillTx/>
              <a:latin typeface="Times New Roman" panose="02020603050405020304" pitchFamily="18" charset="0"/>
              <a:ea typeface="思源黑体 CN Bold" panose="020B08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10248528" y="4215637"/>
            <a:ext cx="644190" cy="644190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087717" y="5407909"/>
            <a:ext cx="350146" cy="350146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617685" y="840752"/>
            <a:ext cx="895572" cy="895572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JavaScript文档对象模型（</a:t>
            </a:r>
            <a:r>
              <a:rPr lang="en-US" altLang="zh-CN">
                <a:sym typeface="+mn-ea"/>
              </a:rPr>
              <a:t>D</a:t>
            </a:r>
            <a:r>
              <a:rPr lang="zh-CN" altLang="en-US">
                <a:sym typeface="+mn-ea"/>
              </a:rPr>
              <a:t>OM）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DOM提供了一组独立于语言和平台的应用程序编程接口，描述了如何访问和操纵XML和HTML文档的结构和内容。在DOM中，一个HTML文档是一个树状结构，其中的每一块内容称为一个节点。HTML文档中的元素、属性、文本等不同的内容在内存中转化为DOM树中的相应类型的节点。</a:t>
            </a:r>
            <a:endParaRPr sz="2400" dirty="0"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endParaRPr sz="2400" dirty="0"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sz="2400" dirty="0">
                <a:cs typeface="Times New Roman" panose="02020603050405020304" pitchFamily="18" charset="0"/>
                <a:sym typeface="+mn-ea"/>
              </a:rPr>
              <a:t>在DOM中，节点类型主要有</a:t>
            </a:r>
            <a:r>
              <a:rPr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document节点</a:t>
            </a:r>
            <a:r>
              <a:rPr sz="2400" dirty="0">
                <a:cs typeface="Times New Roman" panose="02020603050405020304" pitchFamily="18" charset="0"/>
                <a:sym typeface="+mn-ea"/>
              </a:rPr>
              <a:t>、</a:t>
            </a:r>
            <a:r>
              <a:rPr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元素节点</a:t>
            </a:r>
            <a:r>
              <a:rPr sz="2400" dirty="0">
                <a:cs typeface="Times New Roman" panose="02020603050405020304" pitchFamily="18" charset="0"/>
                <a:sym typeface="+mn-ea"/>
              </a:rPr>
              <a:t>（包括根元素节点）、</a:t>
            </a:r>
            <a:r>
              <a:rPr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属性节点</a:t>
            </a:r>
            <a:r>
              <a:rPr sz="2400" dirty="0">
                <a:cs typeface="Times New Roman" panose="02020603050405020304" pitchFamily="18" charset="0"/>
                <a:sym typeface="+mn-ea"/>
              </a:rPr>
              <a:t>和</a:t>
            </a:r>
            <a:r>
              <a:rPr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文本节点</a:t>
            </a:r>
            <a:r>
              <a:rPr sz="2400" dirty="0">
                <a:cs typeface="Times New Roman" panose="02020603050405020304" pitchFamily="18" charset="0"/>
                <a:sym typeface="+mn-ea"/>
              </a:rPr>
              <a:t>这么几类。其中，document节点位于最顶层，是所有节点的祖先节点，该节点对应整个HTML文档，是操作其他节点的入口。</a:t>
            </a:r>
            <a:endParaRPr sz="2400" dirty="0"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DOM分层</a:t>
            </a:r>
            <a:endParaRPr lang="zh-CN" altLang="en-US">
              <a:sym typeface="+mn-ea"/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/>
        </p:nvSpPr>
        <p:spPr>
          <a:xfrm>
            <a:off x="631190" y="2131695"/>
            <a:ext cx="7028180" cy="41078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800" b="0">
                <a:solidFill>
                  <a:srgbClr val="FF6600"/>
                </a:solidFill>
                <a:latin typeface="+mj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400" b="0">
                <a:solidFill>
                  <a:schemeClr val="tx1"/>
                </a:solidFill>
                <a:latin typeface="+mj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"/>
              </a:buBlip>
              <a:defRPr sz="2000" b="0">
                <a:solidFill>
                  <a:srgbClr val="FF9933"/>
                </a:solidFill>
                <a:latin typeface="+mj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0">
                <a:solidFill>
                  <a:schemeClr val="tx1"/>
                </a:solidFill>
                <a:latin typeface="+mj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algn="l">
              <a:lnSpc>
                <a:spcPts val="2700"/>
              </a:lnSpc>
            </a:pPr>
            <a:r>
              <a:rPr lang="en-US" altLang="zh-CN" sz="1800" dirty="0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cs typeface="Consolas" panose="020B0609020204030204" pitchFamily="49" charset="0"/>
                <a:sym typeface="+mn-ea"/>
              </a:rPr>
              <a:t>&lt;!DOCTYPE html&gt; </a:t>
            </a:r>
            <a:endParaRPr lang="en-US" altLang="zh-CN" sz="1800" dirty="0">
              <a:solidFill>
                <a:srgbClr val="C00000"/>
              </a:solidFill>
              <a:latin typeface="Consolas" panose="020B0609020204030204" pitchFamily="49" charset="0"/>
              <a:ea typeface="Source Code Pro Light" pitchFamily="49" charset="0"/>
              <a:cs typeface="Consolas" panose="020B0609020204030204" pitchFamily="49" charset="0"/>
            </a:endParaRPr>
          </a:p>
          <a:p>
            <a:pPr algn="l">
              <a:lnSpc>
                <a:spcPts val="2700"/>
              </a:lnSpc>
            </a:pPr>
            <a:r>
              <a:rPr lang="en-US" altLang="zh-CN" sz="1800" dirty="0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cs typeface="Consolas" panose="020B0609020204030204" pitchFamily="49" charset="0"/>
                <a:sym typeface="+mn-ea"/>
              </a:rPr>
              <a:t>&lt;html&gt;</a:t>
            </a:r>
            <a:endParaRPr lang="en-US" altLang="zh-CN" sz="1800" dirty="0">
              <a:solidFill>
                <a:srgbClr val="C00000"/>
              </a:solidFill>
              <a:latin typeface="Consolas" panose="020B0609020204030204" pitchFamily="49" charset="0"/>
              <a:ea typeface="Source Code Pro Light" pitchFamily="49" charset="0"/>
              <a:cs typeface="Consolas" panose="020B0609020204030204" pitchFamily="49" charset="0"/>
            </a:endParaRPr>
          </a:p>
          <a:p>
            <a:pPr algn="l">
              <a:lnSpc>
                <a:spcPts val="2700"/>
              </a:lnSpc>
            </a:pPr>
            <a:r>
              <a:rPr lang="en-US" altLang="zh-CN" sz="1800" dirty="0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cs typeface="Consolas" panose="020B0609020204030204" pitchFamily="49" charset="0"/>
                <a:sym typeface="+mn-ea"/>
              </a:rPr>
              <a:t>&lt;head&gt;</a:t>
            </a:r>
            <a:endParaRPr lang="en-US" altLang="zh-CN" sz="1800" dirty="0">
              <a:solidFill>
                <a:srgbClr val="C00000"/>
              </a:solidFill>
              <a:latin typeface="Consolas" panose="020B0609020204030204" pitchFamily="49" charset="0"/>
              <a:ea typeface="Source Code Pro Light" pitchFamily="49" charset="0"/>
              <a:cs typeface="Consolas" panose="020B0609020204030204" pitchFamily="49" charset="0"/>
            </a:endParaRPr>
          </a:p>
          <a:p>
            <a:pPr algn="l">
              <a:lnSpc>
                <a:spcPts val="2700"/>
              </a:lnSpc>
            </a:pPr>
            <a:r>
              <a:rPr lang="en-US" altLang="zh-CN" sz="1800" dirty="0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cs typeface="Consolas" panose="020B0609020204030204" pitchFamily="49" charset="0"/>
                <a:sym typeface="+mn-ea"/>
              </a:rPr>
              <a:t>    &lt;title&gt;</a:t>
            </a:r>
            <a:r>
              <a:rPr lang="zh-CN" altLang="en-US" sz="1800" dirty="0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cs typeface="Consolas" panose="020B0609020204030204" pitchFamily="49" charset="0"/>
                <a:sym typeface="+mn-ea"/>
              </a:rPr>
              <a:t>文档标题</a:t>
            </a:r>
            <a:r>
              <a:rPr lang="en-US" altLang="zh-CN" sz="1800" dirty="0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cs typeface="Consolas" panose="020B0609020204030204" pitchFamily="49" charset="0"/>
                <a:sym typeface="+mn-ea"/>
              </a:rPr>
              <a:t>&lt;/title&gt;</a:t>
            </a:r>
            <a:endParaRPr lang="en-US" altLang="zh-CN" sz="1800" dirty="0">
              <a:solidFill>
                <a:srgbClr val="C00000"/>
              </a:solidFill>
              <a:latin typeface="Consolas" panose="020B0609020204030204" pitchFamily="49" charset="0"/>
              <a:ea typeface="Source Code Pro Light" pitchFamily="49" charset="0"/>
              <a:cs typeface="Consolas" panose="020B0609020204030204" pitchFamily="49" charset="0"/>
            </a:endParaRPr>
          </a:p>
          <a:p>
            <a:pPr algn="l">
              <a:lnSpc>
                <a:spcPts val="2700"/>
              </a:lnSpc>
            </a:pPr>
            <a:r>
              <a:rPr lang="en-US" altLang="zh-CN" sz="1800" dirty="0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cs typeface="Consolas" panose="020B0609020204030204" pitchFamily="49" charset="0"/>
                <a:sym typeface="+mn-ea"/>
              </a:rPr>
              <a:t>&lt;/head&gt;</a:t>
            </a:r>
            <a:endParaRPr lang="en-US" altLang="zh-CN" sz="1800" dirty="0">
              <a:solidFill>
                <a:srgbClr val="C00000"/>
              </a:solidFill>
              <a:latin typeface="Consolas" panose="020B0609020204030204" pitchFamily="49" charset="0"/>
              <a:ea typeface="Source Code Pro Light" pitchFamily="49" charset="0"/>
              <a:cs typeface="Consolas" panose="020B0609020204030204" pitchFamily="49" charset="0"/>
            </a:endParaRPr>
          </a:p>
          <a:p>
            <a:pPr algn="l">
              <a:lnSpc>
                <a:spcPts val="2700"/>
              </a:lnSpc>
            </a:pPr>
            <a:r>
              <a:rPr lang="en-US" altLang="zh-CN" sz="1800" dirty="0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cs typeface="Consolas" panose="020B0609020204030204" pitchFamily="49" charset="0"/>
                <a:sym typeface="+mn-ea"/>
              </a:rPr>
              <a:t>&lt;body&gt;</a:t>
            </a:r>
            <a:endParaRPr lang="en-US" altLang="zh-CN" sz="1800" dirty="0">
              <a:solidFill>
                <a:srgbClr val="C00000"/>
              </a:solidFill>
              <a:latin typeface="Consolas" panose="020B0609020204030204" pitchFamily="49" charset="0"/>
              <a:ea typeface="Source Code Pro Light" pitchFamily="49" charset="0"/>
              <a:cs typeface="Consolas" panose="020B0609020204030204" pitchFamily="49" charset="0"/>
            </a:endParaRPr>
          </a:p>
          <a:p>
            <a:pPr algn="l">
              <a:lnSpc>
                <a:spcPts val="2700"/>
              </a:lnSpc>
            </a:pPr>
            <a:r>
              <a:rPr lang="en-US" altLang="zh-CN" sz="1800" dirty="0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cs typeface="Consolas" panose="020B0609020204030204" pitchFamily="49" charset="0"/>
                <a:sym typeface="+mn-ea"/>
              </a:rPr>
              <a:t>    &lt;a href="http://www.sdjzu.edu.cn/"&gt;</a:t>
            </a:r>
            <a:r>
              <a:rPr lang="zh-CN" altLang="en-US" sz="1800" dirty="0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cs typeface="Consolas" panose="020B0609020204030204" pitchFamily="49" charset="0"/>
                <a:sym typeface="+mn-ea"/>
              </a:rPr>
              <a:t>我的链接</a:t>
            </a:r>
            <a:r>
              <a:rPr lang="en-US" altLang="zh-CN" sz="1800" dirty="0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cs typeface="Consolas" panose="020B0609020204030204" pitchFamily="49" charset="0"/>
                <a:sym typeface="+mn-ea"/>
              </a:rPr>
              <a:t>&lt;/a&gt;</a:t>
            </a:r>
            <a:endParaRPr lang="en-US" altLang="zh-CN" sz="1800" dirty="0">
              <a:solidFill>
                <a:srgbClr val="C00000"/>
              </a:solidFill>
              <a:latin typeface="Consolas" panose="020B0609020204030204" pitchFamily="49" charset="0"/>
              <a:ea typeface="Source Code Pro Light" pitchFamily="49" charset="0"/>
              <a:cs typeface="Consolas" panose="020B0609020204030204" pitchFamily="49" charset="0"/>
            </a:endParaRPr>
          </a:p>
          <a:p>
            <a:pPr algn="l">
              <a:lnSpc>
                <a:spcPts val="2700"/>
              </a:lnSpc>
            </a:pPr>
            <a:r>
              <a:rPr lang="en-US" altLang="zh-CN" sz="1800" dirty="0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cs typeface="Consolas" panose="020B0609020204030204" pitchFamily="49" charset="0"/>
                <a:sym typeface="+mn-ea"/>
              </a:rPr>
              <a:t>    &lt;h1&gt;</a:t>
            </a:r>
            <a:r>
              <a:rPr lang="zh-CN" altLang="en-US" sz="1800" dirty="0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cs typeface="Consolas" panose="020B0609020204030204" pitchFamily="49" charset="0"/>
                <a:sym typeface="+mn-ea"/>
              </a:rPr>
              <a:t>我的标题</a:t>
            </a:r>
            <a:r>
              <a:rPr lang="en-US" altLang="zh-CN" sz="1800" dirty="0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cs typeface="Consolas" panose="020B0609020204030204" pitchFamily="49" charset="0"/>
                <a:sym typeface="+mn-ea"/>
              </a:rPr>
              <a:t>&lt;/h1&gt;</a:t>
            </a:r>
            <a:endParaRPr lang="en-US" altLang="zh-CN" sz="1800" dirty="0">
              <a:solidFill>
                <a:srgbClr val="C00000"/>
              </a:solidFill>
              <a:latin typeface="Consolas" panose="020B0609020204030204" pitchFamily="49" charset="0"/>
              <a:ea typeface="Source Code Pro Light" pitchFamily="49" charset="0"/>
              <a:cs typeface="Consolas" panose="020B0609020204030204" pitchFamily="49" charset="0"/>
            </a:endParaRPr>
          </a:p>
          <a:p>
            <a:pPr algn="l">
              <a:lnSpc>
                <a:spcPts val="2700"/>
              </a:lnSpc>
            </a:pPr>
            <a:r>
              <a:rPr lang="en-US" altLang="zh-CN" sz="1800" dirty="0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cs typeface="Consolas" panose="020B0609020204030204" pitchFamily="49" charset="0"/>
                <a:sym typeface="+mn-ea"/>
              </a:rPr>
              <a:t>&lt;/body&gt;</a:t>
            </a:r>
            <a:endParaRPr lang="en-US" altLang="zh-CN" sz="1800" dirty="0">
              <a:solidFill>
                <a:srgbClr val="C00000"/>
              </a:solidFill>
              <a:latin typeface="Consolas" panose="020B0609020204030204" pitchFamily="49" charset="0"/>
              <a:ea typeface="Source Code Pro Light" pitchFamily="49" charset="0"/>
              <a:cs typeface="Consolas" panose="020B0609020204030204" pitchFamily="49" charset="0"/>
            </a:endParaRPr>
          </a:p>
          <a:p>
            <a:pPr algn="l">
              <a:lnSpc>
                <a:spcPts val="2700"/>
              </a:lnSpc>
            </a:pPr>
            <a:r>
              <a:rPr lang="en-US" altLang="zh-CN" sz="1800" dirty="0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cs typeface="Consolas" panose="020B0609020204030204" pitchFamily="49" charset="0"/>
                <a:sym typeface="+mn-ea"/>
              </a:rPr>
              <a:t>&lt;/html&gt;</a:t>
            </a:r>
            <a:endParaRPr lang="en-US" altLang="zh-CN" sz="1800" dirty="0">
              <a:solidFill>
                <a:srgbClr val="C00000"/>
              </a:solidFill>
              <a:latin typeface="Consolas" panose="020B0609020204030204" pitchFamily="49" charset="0"/>
              <a:ea typeface="Source Code Pro Light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605905" y="1245870"/>
            <a:ext cx="1583690" cy="337185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文档</a:t>
            </a: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406833" y="1858645"/>
            <a:ext cx="1981835" cy="337185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根元素：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&lt;html&gt;</a:t>
            </a:r>
            <a:endParaRPr kumimoji="0" lang="en-US" altLang="zh-C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03458" y="2471420"/>
            <a:ext cx="1981835" cy="337185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元素：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&lt;head&gt;</a:t>
            </a:r>
            <a:endParaRPr kumimoji="0" lang="en-US" altLang="zh-C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383588" y="2471420"/>
            <a:ext cx="1981835" cy="337185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元素：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&lt;body&gt;</a:t>
            </a:r>
            <a:endParaRPr kumimoji="0" lang="en-US" altLang="zh-C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803458" y="3058795"/>
            <a:ext cx="1981835" cy="337185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元素：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&lt;title&gt;</a:t>
            </a:r>
            <a:endParaRPr kumimoji="0" lang="en-US" altLang="zh-C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130483" y="3641725"/>
            <a:ext cx="1328420" cy="72644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文本：</a:t>
            </a: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“</a:t>
            </a:r>
            <a:r>
              <a: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文档标题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”</a:t>
            </a:r>
            <a:endParaRPr kumimoji="0" lang="en-US" altLang="zh-C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656320" y="3058795"/>
            <a:ext cx="1328420" cy="337185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元素：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&lt;a&gt;</a:t>
            </a:r>
            <a:endParaRPr kumimoji="0" lang="en-US" altLang="zh-C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170478" y="3058795"/>
            <a:ext cx="1443355" cy="337185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元素：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&lt;h1&gt;</a:t>
            </a:r>
            <a:endParaRPr kumimoji="0" lang="en-US" altLang="zh-C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656320" y="3641725"/>
            <a:ext cx="1328420" cy="72644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文本：</a:t>
            </a: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“</a:t>
            </a:r>
            <a:r>
              <a: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我的链接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”</a:t>
            </a:r>
            <a:endParaRPr kumimoji="0" lang="en-US" altLang="zh-C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261600" y="3641725"/>
            <a:ext cx="1328420" cy="72644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文本：</a:t>
            </a: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“</a:t>
            </a:r>
            <a:r>
              <a: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我的标题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”</a:t>
            </a:r>
            <a:endParaRPr kumimoji="0" lang="en-US" altLang="zh-C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023100" y="3058795"/>
            <a:ext cx="1431290" cy="337185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属性：</a:t>
            </a:r>
            <a:r>
              <a:rPr kumimoji="0" lang="en-US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href</a:t>
            </a:r>
            <a:endParaRPr kumimoji="0" lang="en-US" altLang="zh-C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397750" y="1583055"/>
            <a:ext cx="635" cy="2755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直接连接符 15"/>
          <p:cNvCxnSpPr/>
          <p:nvPr/>
        </p:nvCxnSpPr>
        <p:spPr>
          <a:xfrm flipH="1">
            <a:off x="5795010" y="2195830"/>
            <a:ext cx="1603375" cy="2755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直接连接符 16"/>
          <p:cNvCxnSpPr/>
          <p:nvPr/>
        </p:nvCxnSpPr>
        <p:spPr>
          <a:xfrm>
            <a:off x="7398385" y="2181860"/>
            <a:ext cx="1976755" cy="2895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直接连接符 17"/>
          <p:cNvCxnSpPr/>
          <p:nvPr/>
        </p:nvCxnSpPr>
        <p:spPr>
          <a:xfrm>
            <a:off x="5795010" y="2808605"/>
            <a:ext cx="0" cy="2501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直接连接符 18"/>
          <p:cNvCxnSpPr/>
          <p:nvPr/>
        </p:nvCxnSpPr>
        <p:spPr>
          <a:xfrm>
            <a:off x="5795010" y="3395980"/>
            <a:ext cx="0" cy="24574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直接连接符 19"/>
          <p:cNvCxnSpPr/>
          <p:nvPr/>
        </p:nvCxnSpPr>
        <p:spPr>
          <a:xfrm flipH="1">
            <a:off x="9320530" y="2808605"/>
            <a:ext cx="54610" cy="2501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直接连接符 20"/>
          <p:cNvCxnSpPr/>
          <p:nvPr/>
        </p:nvCxnSpPr>
        <p:spPr>
          <a:xfrm>
            <a:off x="9414510" y="2830195"/>
            <a:ext cx="1478280" cy="22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直接连接符 21"/>
          <p:cNvCxnSpPr/>
          <p:nvPr/>
        </p:nvCxnSpPr>
        <p:spPr>
          <a:xfrm>
            <a:off x="9320530" y="3395980"/>
            <a:ext cx="0" cy="24574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" name="直接连接符 23"/>
          <p:cNvCxnSpPr/>
          <p:nvPr/>
        </p:nvCxnSpPr>
        <p:spPr>
          <a:xfrm flipH="1">
            <a:off x="8454390" y="3227705"/>
            <a:ext cx="2019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" name="直接连接符 24"/>
          <p:cNvCxnSpPr/>
          <p:nvPr/>
        </p:nvCxnSpPr>
        <p:spPr>
          <a:xfrm>
            <a:off x="10892790" y="3395980"/>
            <a:ext cx="33020" cy="24574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文本框 27"/>
          <p:cNvSpPr txBox="1"/>
          <p:nvPr/>
        </p:nvSpPr>
        <p:spPr>
          <a:xfrm>
            <a:off x="631190" y="1054100"/>
            <a:ext cx="54463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DOM</a:t>
            </a:r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采用的是“树形结构”，用“树节点”形式来表示页面中的每一个元素。</a:t>
            </a:r>
            <a:endParaRPr lang="zh-CN" altLang="en-US" sz="2400" b="1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DOM级别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W3C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在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1998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年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10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月标准了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DOM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第一级，它定义了基本的接口，其中包含了所有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HTML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接口。在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2000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年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11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月标准化了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DOM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第二级，在第二级中不但对核心的接口升级，还定义了使用文档事件和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Css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样式表的标准的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API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。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Netscape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的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Navigator6.0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浏览器和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Microsoft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的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Internet Explorer 5.0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浏览器，都支持了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W3C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的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DOM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第一级的标准。目前，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Netscape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Firefox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FF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火狐浏览器）等浏览器已经支持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DOM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第二级的标准，但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Internet Explorer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IE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）还不完全支持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DOM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第二级的标准。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DOM对象节点属性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1. 访问指定节点</a:t>
            </a:r>
            <a:endParaRPr lang="en-US" altLang="zh-CN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/>
          <p:nvPr/>
        </p:nvSpPr>
        <p:spPr>
          <a:xfrm>
            <a:off x="7007225" y="2094230"/>
            <a:ext cx="2973705" cy="41402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zh-CN" sz="2100" b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获取某一个节点的名称</a:t>
            </a:r>
            <a:endParaRPr lang="zh-CN" altLang="zh-CN" sz="2100" b="1" dirty="0">
              <a:solidFill>
                <a:srgbClr val="3333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AutoShape 7"/>
          <p:cNvSpPr/>
          <p:nvPr/>
        </p:nvSpPr>
        <p:spPr>
          <a:xfrm>
            <a:off x="6261100" y="1969037"/>
            <a:ext cx="530225" cy="649166"/>
          </a:xfrm>
          <a:prstGeom prst="rightArrow">
            <a:avLst>
              <a:gd name="adj1" fmla="val 50000"/>
              <a:gd name="adj2" fmla="val 41674"/>
            </a:avLst>
          </a:prstGeom>
          <a:gradFill rotWithShape="1">
            <a:gsLst>
              <a:gs pos="0">
                <a:srgbClr val="B563CF"/>
              </a:gs>
              <a:gs pos="100000">
                <a:srgbClr val="FFFFFF"/>
              </a:gs>
            </a:gsLst>
            <a:lin ang="5400000" scaled="1"/>
            <a:tileRect/>
          </a:gradFill>
          <a:ln w="635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0" rIns="0" bIns="0" anchor="ctr" anchorCtr="0">
            <a:spAutoFit/>
          </a:bodyPr>
          <a:lstStyle/>
          <a:p>
            <a:endParaRPr lang="zh-CN" altLang="en-US" sz="2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2"/>
          <p:cNvSpPr/>
          <p:nvPr/>
        </p:nvSpPr>
        <p:spPr>
          <a:xfrm>
            <a:off x="7006908" y="2793365"/>
            <a:ext cx="2973705" cy="41402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0" hangingPunct="0"/>
            <a:r>
              <a:rPr lang="zh-CN" altLang="zh-CN" sz="2100" b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获取某个节点的类型</a:t>
            </a:r>
            <a:endParaRPr lang="zh-CN" altLang="zh-CN" sz="2100" b="1" dirty="0">
              <a:solidFill>
                <a:srgbClr val="3333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AutoShape 7"/>
          <p:cNvSpPr/>
          <p:nvPr/>
        </p:nvSpPr>
        <p:spPr>
          <a:xfrm>
            <a:off x="6261100" y="2667867"/>
            <a:ext cx="530225" cy="649142"/>
          </a:xfrm>
          <a:prstGeom prst="rightArrow">
            <a:avLst>
              <a:gd name="adj1" fmla="val 50000"/>
              <a:gd name="adj2" fmla="val 41674"/>
            </a:avLst>
          </a:prstGeom>
          <a:gradFill rotWithShape="1">
            <a:gsLst>
              <a:gs pos="0">
                <a:srgbClr val="B563CF"/>
              </a:gs>
              <a:gs pos="100000">
                <a:srgbClr val="FFFFFF"/>
              </a:gs>
            </a:gsLst>
            <a:lin ang="5400000" scaled="1"/>
            <a:tileRect/>
          </a:gradFill>
          <a:ln w="635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spAutoFit/>
          </a:bodyPr>
          <a:lstStyle/>
          <a:p>
            <a:endParaRPr lang="zh-CN" altLang="en-US" sz="2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2"/>
          <p:cNvSpPr/>
          <p:nvPr/>
        </p:nvSpPr>
        <p:spPr>
          <a:xfrm>
            <a:off x="7006908" y="3491865"/>
            <a:ext cx="2973705" cy="41402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0" hangingPunct="0"/>
            <a:r>
              <a:rPr lang="zh-CN" altLang="zh-CN" sz="2100" b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返回节点的值</a:t>
            </a:r>
            <a:endParaRPr lang="zh-CN" altLang="zh-CN" sz="2100" b="1" dirty="0">
              <a:solidFill>
                <a:srgbClr val="3333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AutoShape 7"/>
          <p:cNvSpPr/>
          <p:nvPr/>
        </p:nvSpPr>
        <p:spPr>
          <a:xfrm>
            <a:off x="6261100" y="3366367"/>
            <a:ext cx="530225" cy="649142"/>
          </a:xfrm>
          <a:prstGeom prst="rightArrow">
            <a:avLst>
              <a:gd name="adj1" fmla="val 50000"/>
              <a:gd name="adj2" fmla="val 41674"/>
            </a:avLst>
          </a:prstGeom>
          <a:gradFill rotWithShape="1">
            <a:gsLst>
              <a:gs pos="0">
                <a:srgbClr val="B563CF"/>
              </a:gs>
              <a:gs pos="100000">
                <a:srgbClr val="FFFFFF"/>
              </a:gs>
            </a:gsLst>
            <a:lin ang="5400000" scaled="1"/>
            <a:tileRect/>
          </a:gradFill>
          <a:ln w="635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spAutoFit/>
          </a:bodyPr>
          <a:lstStyle/>
          <a:p>
            <a:endParaRPr lang="zh-CN" altLang="en-US" sz="2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AutoShape 6"/>
          <p:cNvSpPr/>
          <p:nvPr/>
        </p:nvSpPr>
        <p:spPr>
          <a:xfrm>
            <a:off x="1750695" y="2778125"/>
            <a:ext cx="1411605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B563C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0" hangingPunct="0"/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三个属性 </a:t>
            </a:r>
            <a:endParaRPr lang="zh-CN" altLang="en-US" sz="21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443933" y="2125673"/>
            <a:ext cx="2663849" cy="1743207"/>
            <a:chOff x="2481785" y="1048554"/>
            <a:chExt cx="2665102" cy="1743464"/>
          </a:xfrm>
        </p:grpSpPr>
        <p:sp>
          <p:nvSpPr>
            <p:cNvPr id="8208" name="AutoShape 6"/>
            <p:cNvSpPr/>
            <p:nvPr/>
          </p:nvSpPr>
          <p:spPr>
            <a:xfrm>
              <a:off x="2980485" y="1048554"/>
              <a:ext cx="2166369" cy="35565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0" hangingPunct="0"/>
              <a:r>
                <a:rPr lang="en-US" altLang="zh-CN" sz="21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nodeName</a:t>
              </a:r>
              <a:r>
                <a:rPr lang="zh-CN" altLang="zh-CN" sz="21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属性</a:t>
              </a:r>
              <a:r>
                <a:rPr lang="zh-CN" altLang="en-US" sz="21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</a:t>
              </a:r>
              <a:endPara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  <p:sp>
          <p:nvSpPr>
            <p:cNvPr id="8209" name="AutoShape 6"/>
            <p:cNvSpPr/>
            <p:nvPr/>
          </p:nvSpPr>
          <p:spPr>
            <a:xfrm>
              <a:off x="2980518" y="1731502"/>
              <a:ext cx="2166369" cy="35565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0" hangingPunct="0"/>
              <a:r>
                <a:rPr lang="en-US" altLang="zh-CN" sz="21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nodeType</a:t>
              </a:r>
              <a:r>
                <a:rPr lang="zh-CN" altLang="zh-CN" sz="21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属性</a:t>
              </a:r>
              <a:r>
                <a:rPr lang="zh-CN" altLang="en-US" sz="21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</a:t>
              </a:r>
              <a:endPara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  <p:sp>
          <p:nvSpPr>
            <p:cNvPr id="8210" name="AutoShape 6"/>
            <p:cNvSpPr/>
            <p:nvPr/>
          </p:nvSpPr>
          <p:spPr>
            <a:xfrm>
              <a:off x="2980518" y="2436366"/>
              <a:ext cx="2166369" cy="35565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0" hangingPunct="0"/>
              <a:r>
                <a:rPr lang="en-US" altLang="zh-CN" sz="21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nodeValue</a:t>
              </a:r>
              <a:r>
                <a:rPr lang="zh-CN" altLang="zh-CN" sz="21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属性</a:t>
              </a:r>
              <a:r>
                <a:rPr lang="zh-CN" altLang="en-US" sz="21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</a:t>
              </a:r>
              <a:endPara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  <p:sp>
          <p:nvSpPr>
            <p:cNvPr id="8211" name="AutoShape 16"/>
            <p:cNvSpPr/>
            <p:nvPr/>
          </p:nvSpPr>
          <p:spPr>
            <a:xfrm>
              <a:off x="2481785" y="1196529"/>
              <a:ext cx="228072" cy="1486119"/>
            </a:xfrm>
            <a:prstGeom prst="leftBrace">
              <a:avLst>
                <a:gd name="adj1" fmla="val 33444"/>
                <a:gd name="adj2" fmla="val 50000"/>
              </a:avLst>
            </a:prstGeom>
            <a:noFill/>
            <a:ln w="2857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DOM对象节点属性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2180" y="903739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1. 访问指定节点</a:t>
            </a:r>
            <a:endParaRPr lang="en-US" altLang="zh-CN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marL="800100" lvl="1" indent="-342900">
              <a:buClr>
                <a:srgbClr val="0059C4"/>
              </a:buClr>
              <a:buFont typeface="Wingdings" panose="05000000000000000000" charset="0"/>
              <a:buChar char="Ø"/>
            </a:pP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nodeType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属性</a:t>
            </a:r>
            <a:endParaRPr lang="zh-CN" alt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800100" lvl="1" indent="-342900">
              <a:buClr>
                <a:srgbClr val="0059C4"/>
              </a:buClr>
              <a:buFont typeface="Wingdings" panose="05000000000000000000" charset="0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语法格式：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[sType= ] obj.nodeType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800100" lvl="1" indent="-342900">
              <a:buClr>
                <a:srgbClr val="0059C4"/>
              </a:buClr>
              <a:buFont typeface="Wingdings" panose="05000000000000000000" charset="0"/>
              <a:buChar char="Ø"/>
            </a:pP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sType: 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字符串变量，用来存储节点的类型，该类型值为数值型</a:t>
            </a:r>
            <a:endParaRPr lang="zh-CN" alt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457200" lvl="1" indent="0">
              <a:buClr>
                <a:srgbClr val="0059C4"/>
              </a:buClr>
              <a:buFont typeface="Wingdings" panose="05000000000000000000" charset="0"/>
              <a:buNone/>
            </a:pP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520190" y="3131185"/>
          <a:ext cx="853186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1148080"/>
                <a:gridCol w="1983105"/>
                <a:gridCol w="3267710"/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/>
                        <a:t>类型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/>
                        <a:t>数值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/>
                        <a:t>节点名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/>
                        <a:t>说明</a:t>
                      </a:r>
                      <a:endParaRPr lang="zh-CN" altLang="en-US" b="1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/>
                        <a:t>element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/>
                        <a:t>标签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/>
                        <a:t>任何</a:t>
                      </a:r>
                      <a:r>
                        <a:rPr lang="en-US" altLang="zh-CN" b="1"/>
                        <a:t>HTML</a:t>
                      </a:r>
                      <a:r>
                        <a:rPr lang="zh-CN" altLang="en-US" b="1"/>
                        <a:t>或</a:t>
                      </a:r>
                      <a:r>
                        <a:rPr lang="en-US" altLang="zh-CN" b="1"/>
                        <a:t>XML</a:t>
                      </a:r>
                      <a:r>
                        <a:rPr lang="zh-CN" altLang="en-US" b="1"/>
                        <a:t>的标签</a:t>
                      </a:r>
                      <a:endParaRPr lang="zh-CN" altLang="en-US" b="1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/>
                        <a:t>attribute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dirty="0"/>
                        <a:t>2</a:t>
                      </a:r>
                      <a:endParaRPr lang="en-US" altLang="zh-C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/>
                        <a:t>属性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/>
                        <a:t>标签中的属性</a:t>
                      </a:r>
                      <a:endParaRPr lang="zh-CN" altLang="en-US" b="1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/>
                        <a:t>text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/>
                        <a:t>3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/>
                        <a:t>#text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/>
                        <a:t>包含标签中的文本</a:t>
                      </a:r>
                      <a:endParaRPr lang="zh-CN" altLang="en-US" b="1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/>
                        <a:t>comment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/>
                        <a:t>8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dirty="0"/>
                        <a:t>#comment</a:t>
                      </a:r>
                      <a:endParaRPr lang="en-US" altLang="zh-C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/>
                        <a:t>HTML</a:t>
                      </a:r>
                      <a:r>
                        <a:rPr lang="zh-CN" altLang="en-US" b="1"/>
                        <a:t>的注释</a:t>
                      </a:r>
                      <a:endParaRPr lang="zh-CN" altLang="en-US" b="1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/>
                        <a:t>document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dirty="0"/>
                        <a:t>9</a:t>
                      </a:r>
                      <a:endParaRPr lang="en-US" altLang="zh-C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/>
                        <a:t>#document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/>
                        <a:t>文档对象</a:t>
                      </a:r>
                      <a:endParaRPr lang="zh-CN" altLang="en-US" b="1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/>
                        <a:t>document type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/>
                        <a:t>10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/>
                        <a:t>DOCTYPE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dirty="0"/>
                        <a:t>DTD</a:t>
                      </a:r>
                      <a:r>
                        <a:rPr lang="zh-CN" altLang="en-US" b="1" dirty="0"/>
                        <a:t>规范</a:t>
                      </a:r>
                      <a:endParaRPr lang="zh-CN" altLang="en-US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DOM对象节点属性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2. 遍历文档树</a:t>
            </a:r>
            <a:endParaRPr lang="en-US" altLang="zh-CN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/>
          <p:nvPr/>
        </p:nvSpPr>
        <p:spPr>
          <a:xfrm>
            <a:off x="6923088" y="2045334"/>
            <a:ext cx="3999865" cy="41338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0" hangingPunct="0"/>
            <a:r>
              <a:rPr lang="zh-CN" altLang="zh-CN" sz="2100" b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返回当前节点的父节点</a:t>
            </a:r>
            <a:endParaRPr lang="zh-CN" altLang="zh-CN" sz="2100" b="1" dirty="0">
              <a:solidFill>
                <a:srgbClr val="3333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AutoShape 7"/>
          <p:cNvSpPr/>
          <p:nvPr/>
        </p:nvSpPr>
        <p:spPr>
          <a:xfrm>
            <a:off x="6176010" y="1955482"/>
            <a:ext cx="510540" cy="593089"/>
          </a:xfrm>
          <a:prstGeom prst="rightArrow">
            <a:avLst>
              <a:gd name="adj1" fmla="val 50000"/>
              <a:gd name="adj2" fmla="val 41674"/>
            </a:avLst>
          </a:prstGeom>
          <a:gradFill rotWithShape="1">
            <a:gsLst>
              <a:gs pos="0">
                <a:srgbClr val="B563CF"/>
              </a:gs>
              <a:gs pos="100000">
                <a:srgbClr val="FFFFFF"/>
              </a:gs>
            </a:gsLst>
            <a:lin ang="5400000" scaled="1"/>
            <a:tileRect/>
          </a:gradFill>
          <a:ln w="635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0" rIns="0" bIns="0" anchor="ctr" anchorCtr="0">
            <a:spAutoFit/>
          </a:bodyPr>
          <a:lstStyle/>
          <a:p>
            <a:endParaRPr lang="zh-CN" altLang="en-US" sz="2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Rectangle 2"/>
          <p:cNvSpPr/>
          <p:nvPr/>
        </p:nvSpPr>
        <p:spPr>
          <a:xfrm>
            <a:off x="6923088" y="2675254"/>
            <a:ext cx="3999865" cy="41338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0" hangingPunct="0"/>
            <a:r>
              <a:rPr lang="zh-CN" altLang="zh-CN" sz="2100" b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返回当前节点的第一个子节点</a:t>
            </a:r>
            <a:endParaRPr lang="zh-CN" altLang="zh-CN" sz="2100" b="1" dirty="0">
              <a:solidFill>
                <a:srgbClr val="3333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AutoShape 7"/>
          <p:cNvSpPr/>
          <p:nvPr/>
        </p:nvSpPr>
        <p:spPr>
          <a:xfrm>
            <a:off x="6176010" y="2585402"/>
            <a:ext cx="510540" cy="593089"/>
          </a:xfrm>
          <a:prstGeom prst="rightArrow">
            <a:avLst>
              <a:gd name="adj1" fmla="val 50000"/>
              <a:gd name="adj2" fmla="val 41674"/>
            </a:avLst>
          </a:prstGeom>
          <a:gradFill rotWithShape="1">
            <a:gsLst>
              <a:gs pos="0">
                <a:srgbClr val="B563CF"/>
              </a:gs>
              <a:gs pos="100000">
                <a:srgbClr val="FFFFFF"/>
              </a:gs>
            </a:gsLst>
            <a:lin ang="5400000" scaled="1"/>
            <a:tileRect/>
          </a:gradFill>
          <a:ln w="635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spAutoFit/>
          </a:bodyPr>
          <a:lstStyle/>
          <a:p>
            <a:endParaRPr lang="zh-CN" altLang="en-US" sz="2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Rectangle 2"/>
          <p:cNvSpPr/>
          <p:nvPr/>
        </p:nvSpPr>
        <p:spPr>
          <a:xfrm>
            <a:off x="6923088" y="3305174"/>
            <a:ext cx="3999865" cy="41338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0" hangingPunct="0"/>
            <a:r>
              <a:rPr lang="zh-CN" altLang="zh-CN" sz="2100" b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返回当前节点的最后一个子节点</a:t>
            </a:r>
            <a:endParaRPr lang="zh-CN" altLang="zh-CN" sz="2100" b="1" dirty="0">
              <a:solidFill>
                <a:srgbClr val="3333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" name="AutoShape 7"/>
          <p:cNvSpPr/>
          <p:nvPr/>
        </p:nvSpPr>
        <p:spPr>
          <a:xfrm>
            <a:off x="6176010" y="3215322"/>
            <a:ext cx="510540" cy="593089"/>
          </a:xfrm>
          <a:prstGeom prst="rightArrow">
            <a:avLst>
              <a:gd name="adj1" fmla="val 50000"/>
              <a:gd name="adj2" fmla="val 41674"/>
            </a:avLst>
          </a:prstGeom>
          <a:gradFill rotWithShape="1">
            <a:gsLst>
              <a:gs pos="0">
                <a:srgbClr val="B563CF"/>
              </a:gs>
              <a:gs pos="100000">
                <a:srgbClr val="FFFFFF"/>
              </a:gs>
            </a:gsLst>
            <a:lin ang="5400000" scaled="1"/>
            <a:tileRect/>
          </a:gradFill>
          <a:ln w="635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spAutoFit/>
          </a:bodyPr>
          <a:lstStyle/>
          <a:p>
            <a:endParaRPr lang="zh-CN" altLang="en-US" sz="2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AutoShape 6"/>
          <p:cNvSpPr/>
          <p:nvPr/>
        </p:nvSpPr>
        <p:spPr>
          <a:xfrm>
            <a:off x="1173480" y="3308666"/>
            <a:ext cx="1345565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B563C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0" hangingPunct="0"/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五个属性 </a:t>
            </a:r>
            <a:endParaRPr lang="en-US" altLang="zh-CN" sz="21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652078" y="2073933"/>
            <a:ext cx="3268448" cy="2900632"/>
            <a:chOff x="1899617" y="-67644"/>
            <a:chExt cx="3268445" cy="2901593"/>
          </a:xfrm>
        </p:grpSpPr>
        <p:grpSp>
          <p:nvGrpSpPr>
            <p:cNvPr id="9232" name="组合 2"/>
            <p:cNvGrpSpPr/>
            <p:nvPr/>
          </p:nvGrpSpPr>
          <p:grpSpPr>
            <a:xfrm>
              <a:off x="1899617" y="-67644"/>
              <a:ext cx="3268445" cy="2725687"/>
              <a:chOff x="1899617" y="-67644"/>
              <a:chExt cx="3268445" cy="2725687"/>
            </a:xfrm>
          </p:grpSpPr>
          <p:sp>
            <p:nvSpPr>
              <p:cNvPr id="9235" name="AutoShape 6"/>
              <p:cNvSpPr/>
              <p:nvPr/>
            </p:nvSpPr>
            <p:spPr>
              <a:xfrm>
                <a:off x="2267950" y="-67644"/>
                <a:ext cx="2900042" cy="355718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99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ln w="9525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0" hangingPunct="0"/>
                <a:r>
                  <a:rPr lang="en-US" altLang="zh-CN" sz="2100" b="1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parentNode</a:t>
                </a:r>
                <a:r>
                  <a:rPr lang="zh-CN" altLang="zh-CN" sz="2100" b="1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属性</a:t>
                </a:r>
                <a:r>
                  <a:rPr lang="zh-CN" altLang="en-US" sz="2100" b="1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en-US" altLang="zh-CN" sz="21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  <p:sp>
            <p:nvSpPr>
              <p:cNvPr id="9236" name="AutoShape 6"/>
              <p:cNvSpPr/>
              <p:nvPr/>
            </p:nvSpPr>
            <p:spPr>
              <a:xfrm>
                <a:off x="2268020" y="572393"/>
                <a:ext cx="2900042" cy="355718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99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ln w="9525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0" hangingPunct="0"/>
                <a:r>
                  <a:rPr lang="en-US" altLang="zh-CN" sz="2100" b="1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firstChild</a:t>
                </a:r>
                <a:r>
                  <a:rPr lang="zh-CN" altLang="zh-CN" sz="2100" b="1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属性</a:t>
                </a:r>
                <a:endParaRPr lang="en-US" altLang="zh-CN" sz="21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  <p:sp>
            <p:nvSpPr>
              <p:cNvPr id="9237" name="AutoShape 6"/>
              <p:cNvSpPr/>
              <p:nvPr/>
            </p:nvSpPr>
            <p:spPr>
              <a:xfrm>
                <a:off x="2267950" y="1204494"/>
                <a:ext cx="2900042" cy="355718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99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ln w="9525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0" hangingPunct="0"/>
                <a:r>
                  <a:rPr lang="en-US" altLang="zh-CN" sz="2100" b="1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lastChild</a:t>
                </a:r>
                <a:r>
                  <a:rPr lang="zh-CN" altLang="zh-CN" sz="2100" b="1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属性</a:t>
                </a:r>
                <a:r>
                  <a:rPr lang="zh-CN" altLang="en-US" sz="2100" b="1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endParaRPr lang="en-US" altLang="zh-CN" sz="21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  <p:sp>
            <p:nvSpPr>
              <p:cNvPr id="9238" name="AutoShape 16"/>
              <p:cNvSpPr/>
              <p:nvPr/>
            </p:nvSpPr>
            <p:spPr>
              <a:xfrm>
                <a:off x="1899617" y="107674"/>
                <a:ext cx="228600" cy="2550369"/>
              </a:xfrm>
              <a:prstGeom prst="leftBrace">
                <a:avLst>
                  <a:gd name="adj1" fmla="val 33451"/>
                  <a:gd name="adj2" fmla="val 50000"/>
                </a:avLst>
              </a:prstGeom>
              <a:noFill/>
              <a:ln w="28575" cap="flat" cmpd="sng">
                <a:solidFill>
                  <a:srgbClr val="80008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21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9233" name="AutoShape 6"/>
            <p:cNvSpPr/>
            <p:nvPr/>
          </p:nvSpPr>
          <p:spPr>
            <a:xfrm>
              <a:off x="2267917" y="1836717"/>
              <a:ext cx="2900042" cy="3557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0" hangingPunct="0"/>
              <a:r>
                <a:rPr lang="en-US" altLang="zh-CN" sz="21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previousSibling</a:t>
              </a:r>
              <a:r>
                <a:rPr lang="zh-CN" altLang="zh-CN" sz="21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属性</a:t>
              </a:r>
              <a:r>
                <a:rPr lang="zh-CN" altLang="en-US" sz="21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</a:t>
              </a:r>
              <a:endPara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  <p:sp>
          <p:nvSpPr>
            <p:cNvPr id="9234" name="AutoShape 6"/>
            <p:cNvSpPr/>
            <p:nvPr/>
          </p:nvSpPr>
          <p:spPr>
            <a:xfrm>
              <a:off x="2267950" y="2478231"/>
              <a:ext cx="2900042" cy="35571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0" hangingPunct="0"/>
              <a:r>
                <a:rPr lang="en-US" altLang="zh-CN" sz="21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nextSibling</a:t>
              </a:r>
              <a:r>
                <a:rPr lang="zh-CN" altLang="zh-CN" sz="21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属性</a:t>
              </a:r>
              <a:r>
                <a:rPr lang="zh-CN" altLang="en-US" sz="21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</a:t>
              </a:r>
              <a:endPara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</p:grpSp>
      <p:sp>
        <p:nvSpPr>
          <p:cNvPr id="28" name="Rectangle 2"/>
          <p:cNvSpPr/>
          <p:nvPr/>
        </p:nvSpPr>
        <p:spPr>
          <a:xfrm>
            <a:off x="6923088" y="3935094"/>
            <a:ext cx="3999865" cy="41338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0" hangingPunct="0"/>
            <a:r>
              <a:rPr lang="zh-CN" altLang="zh-CN" sz="2100" b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返回当前节点的前一个兄弟节点</a:t>
            </a:r>
            <a:endParaRPr lang="zh-CN" altLang="zh-CN" sz="2100" b="1" dirty="0">
              <a:solidFill>
                <a:srgbClr val="3333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0" name="AutoShape 7"/>
          <p:cNvSpPr/>
          <p:nvPr/>
        </p:nvSpPr>
        <p:spPr>
          <a:xfrm>
            <a:off x="6176010" y="3845242"/>
            <a:ext cx="510540" cy="593089"/>
          </a:xfrm>
          <a:prstGeom prst="rightArrow">
            <a:avLst>
              <a:gd name="adj1" fmla="val 50000"/>
              <a:gd name="adj2" fmla="val 41674"/>
            </a:avLst>
          </a:prstGeom>
          <a:gradFill rotWithShape="1">
            <a:gsLst>
              <a:gs pos="0">
                <a:srgbClr val="B563CF"/>
              </a:gs>
              <a:gs pos="100000">
                <a:srgbClr val="FFFFFF"/>
              </a:gs>
            </a:gsLst>
            <a:lin ang="5400000" scaled="1"/>
            <a:tileRect/>
          </a:gradFill>
          <a:ln w="635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spAutoFit/>
          </a:bodyPr>
          <a:lstStyle/>
          <a:p>
            <a:endParaRPr lang="zh-CN" altLang="en-US" sz="2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1" name="Rectangle 2"/>
          <p:cNvSpPr/>
          <p:nvPr/>
        </p:nvSpPr>
        <p:spPr>
          <a:xfrm>
            <a:off x="6923405" y="4565014"/>
            <a:ext cx="3999865" cy="41338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zh-CN" sz="2100" b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返回当前节点的后一个兄弟节点</a:t>
            </a:r>
            <a:endParaRPr lang="zh-CN" altLang="zh-CN" sz="2100" b="1" dirty="0">
              <a:solidFill>
                <a:srgbClr val="3333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2" name="AutoShape 7"/>
          <p:cNvSpPr/>
          <p:nvPr/>
        </p:nvSpPr>
        <p:spPr>
          <a:xfrm>
            <a:off x="6176010" y="4475162"/>
            <a:ext cx="510540" cy="593089"/>
          </a:xfrm>
          <a:prstGeom prst="rightArrow">
            <a:avLst>
              <a:gd name="adj1" fmla="val 50000"/>
              <a:gd name="adj2" fmla="val 41674"/>
            </a:avLst>
          </a:prstGeom>
          <a:gradFill rotWithShape="1">
            <a:gsLst>
              <a:gs pos="0">
                <a:srgbClr val="B563CF"/>
              </a:gs>
              <a:gs pos="100000">
                <a:srgbClr val="FFFFFF"/>
              </a:gs>
            </a:gsLst>
            <a:lin ang="5400000" scaled="1"/>
            <a:tileRect/>
          </a:gradFill>
          <a:ln w="635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spAutoFit/>
          </a:bodyPr>
          <a:lstStyle/>
          <a:p>
            <a:endParaRPr lang="zh-CN" altLang="en-US" sz="2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4" grpId="0" bldLvl="0" animBg="1"/>
      <p:bldP spid="5" grpId="0" bldLvl="0" animBg="1"/>
      <p:bldP spid="18" grpId="0" bldLvl="0" animBg="1"/>
      <p:bldP spid="20" grpId="0" bldLvl="0" animBg="1"/>
      <p:bldP spid="22" grpId="0" bldLvl="0" animBg="1"/>
      <p:bldP spid="29" grpId="0" bldLvl="0" animBg="1"/>
      <p:bldP spid="28" grpId="0" bldLvl="0" animBg="1"/>
      <p:bldP spid="30" grpId="0" bldLvl="0" animBg="1"/>
      <p:bldP spid="31" grpId="0" bldLvl="0" animBg="1"/>
      <p:bldP spid="32" grpId="0" bldLvl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节点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olidFill>
                  <a:srgbClr val="FF0000"/>
                </a:solidFill>
              </a:rPr>
              <a:t>1. 创建节点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en-US" altLang="zh-CN" sz="2400" dirty="0"/>
              <a:t>创建新节点</a:t>
            </a:r>
            <a:endParaRPr lang="en-US" altLang="zh-CN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>
              <a:off x="5346314" y="5906453"/>
              <a:ext cx="12700" cy="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>
                <a:off x="5346314" y="5906453"/>
                <a:ext cx="12700" cy="0"/>
              </a:xfrm>
              <a:prstGeom prst="rect"/>
            </p:spPr>
          </p:pic>
        </mc:Fallback>
      </mc:AlternateContent>
      <p:sp>
        <p:nvSpPr>
          <p:cNvPr id="28" name="Rectangle 2"/>
          <p:cNvSpPr/>
          <p:nvPr/>
        </p:nvSpPr>
        <p:spPr>
          <a:xfrm>
            <a:off x="7115175" y="2040890"/>
            <a:ext cx="1580515" cy="41402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100" b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创建新元素</a:t>
            </a:r>
            <a:endParaRPr lang="zh-CN" altLang="en-US" sz="2100" b="1" dirty="0">
              <a:solidFill>
                <a:srgbClr val="3333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0" name="AutoShape 7"/>
          <p:cNvSpPr/>
          <p:nvPr/>
        </p:nvSpPr>
        <p:spPr>
          <a:xfrm>
            <a:off x="6313170" y="1951355"/>
            <a:ext cx="579755" cy="593089"/>
          </a:xfrm>
          <a:prstGeom prst="rightArrow">
            <a:avLst>
              <a:gd name="adj1" fmla="val 50000"/>
              <a:gd name="adj2" fmla="val 41674"/>
            </a:avLst>
          </a:prstGeom>
          <a:gradFill rotWithShape="1">
            <a:gsLst>
              <a:gs pos="0">
                <a:srgbClr val="B563CF"/>
              </a:gs>
              <a:gs pos="100000">
                <a:srgbClr val="FFFFFF"/>
              </a:gs>
            </a:gsLst>
            <a:lin ang="5400000" scaled="1"/>
            <a:tileRect/>
          </a:gradFill>
          <a:ln w="635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0" rIns="0" bIns="0" anchor="ctr" anchorCtr="0">
            <a:spAutoFit/>
          </a:bodyPr>
          <a:lstStyle/>
          <a:p>
            <a:endParaRPr lang="zh-CN" altLang="en-US" sz="2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1" name="Rectangle 2"/>
          <p:cNvSpPr/>
          <p:nvPr/>
        </p:nvSpPr>
        <p:spPr>
          <a:xfrm>
            <a:off x="7072630" y="2677795"/>
            <a:ext cx="1851025" cy="41402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100" b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创建文本节点</a:t>
            </a:r>
            <a:endParaRPr lang="zh-CN" altLang="en-US" sz="2100" b="1" dirty="0">
              <a:solidFill>
                <a:srgbClr val="3333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2" name="AutoShape 7"/>
          <p:cNvSpPr/>
          <p:nvPr/>
        </p:nvSpPr>
        <p:spPr>
          <a:xfrm>
            <a:off x="6313170" y="2614296"/>
            <a:ext cx="579755" cy="593089"/>
          </a:xfrm>
          <a:prstGeom prst="rightArrow">
            <a:avLst>
              <a:gd name="adj1" fmla="val 50000"/>
              <a:gd name="adj2" fmla="val 41674"/>
            </a:avLst>
          </a:prstGeom>
          <a:gradFill rotWithShape="1">
            <a:gsLst>
              <a:gs pos="0">
                <a:srgbClr val="B563CF"/>
              </a:gs>
              <a:gs pos="100000">
                <a:srgbClr val="FFFFFF"/>
              </a:gs>
            </a:gsLst>
            <a:lin ang="5400000" scaled="1"/>
            <a:tileRect/>
          </a:gradFill>
          <a:ln w="635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spAutoFit/>
          </a:bodyPr>
          <a:lstStyle/>
          <a:p>
            <a:endParaRPr lang="zh-CN" altLang="en-US" sz="2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3" name="Rectangle 2"/>
          <p:cNvSpPr/>
          <p:nvPr/>
        </p:nvSpPr>
        <p:spPr>
          <a:xfrm>
            <a:off x="7072630" y="3314700"/>
            <a:ext cx="4565650" cy="41402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zh-CN" sz="2100" b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将新的子节点添加到当前节点的末尾</a:t>
            </a:r>
            <a:endParaRPr lang="zh-CN" altLang="zh-CN" sz="2100" b="1" dirty="0">
              <a:solidFill>
                <a:srgbClr val="3333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4" name="AutoShape 7"/>
          <p:cNvSpPr/>
          <p:nvPr/>
        </p:nvSpPr>
        <p:spPr>
          <a:xfrm>
            <a:off x="6313170" y="3251201"/>
            <a:ext cx="579755" cy="593089"/>
          </a:xfrm>
          <a:prstGeom prst="rightArrow">
            <a:avLst>
              <a:gd name="adj1" fmla="val 50000"/>
              <a:gd name="adj2" fmla="val 41674"/>
            </a:avLst>
          </a:prstGeom>
          <a:gradFill rotWithShape="1">
            <a:gsLst>
              <a:gs pos="0">
                <a:srgbClr val="B563CF"/>
              </a:gs>
              <a:gs pos="100000">
                <a:srgbClr val="FFFFFF"/>
              </a:gs>
            </a:gsLst>
            <a:lin ang="5400000" scaled="1"/>
            <a:tileRect/>
          </a:gradFill>
          <a:ln w="635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spAutoFit/>
          </a:bodyPr>
          <a:lstStyle/>
          <a:p>
            <a:endParaRPr lang="zh-CN" altLang="en-US" sz="2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5" name="AutoShape 6"/>
          <p:cNvSpPr/>
          <p:nvPr/>
        </p:nvSpPr>
        <p:spPr>
          <a:xfrm>
            <a:off x="1172845" y="2685415"/>
            <a:ext cx="1391285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B563C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0" hangingPunct="0"/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三个方法 </a:t>
            </a:r>
            <a:endParaRPr lang="en-US" altLang="zh-CN" sz="21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806382" y="2098040"/>
            <a:ext cx="3250565" cy="1572895"/>
            <a:chOff x="517226" y="1172365"/>
            <a:chExt cx="3250556" cy="1572895"/>
          </a:xfrm>
        </p:grpSpPr>
        <p:sp>
          <p:nvSpPr>
            <p:cNvPr id="12306" name="AutoShape 6"/>
            <p:cNvSpPr/>
            <p:nvPr/>
          </p:nvSpPr>
          <p:spPr>
            <a:xfrm>
              <a:off x="932515" y="1172365"/>
              <a:ext cx="2835267" cy="3556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0" hangingPunct="0"/>
              <a:r>
                <a:rPr lang="en-US" altLang="zh-CN" sz="21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createElement()</a:t>
              </a:r>
              <a:r>
                <a:rPr lang="zh-CN" altLang="zh-CN" sz="21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方法</a:t>
              </a:r>
              <a:endPara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  <p:sp>
          <p:nvSpPr>
            <p:cNvPr id="12307" name="AutoShape 6"/>
            <p:cNvSpPr/>
            <p:nvPr/>
          </p:nvSpPr>
          <p:spPr>
            <a:xfrm>
              <a:off x="932515" y="1753622"/>
              <a:ext cx="2835267" cy="35544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0" hangingPunct="0"/>
              <a:r>
                <a:rPr lang="en-US" altLang="zh-CN" sz="21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createTextNode()</a:t>
              </a:r>
              <a:r>
                <a:rPr lang="zh-CN" altLang="zh-CN" sz="21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方法</a:t>
              </a:r>
              <a:endPara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  <p:sp>
          <p:nvSpPr>
            <p:cNvPr id="12308" name="AutoShape 6"/>
            <p:cNvSpPr/>
            <p:nvPr/>
          </p:nvSpPr>
          <p:spPr>
            <a:xfrm>
              <a:off x="932515" y="2389812"/>
              <a:ext cx="2835267" cy="35544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0" hangingPunct="0"/>
              <a:r>
                <a:rPr lang="en-US" altLang="zh-CN" sz="21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appendChild()</a:t>
              </a:r>
              <a:r>
                <a:rPr lang="zh-CN" altLang="zh-CN" sz="21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方法</a:t>
              </a:r>
              <a:endPara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  <p:sp>
          <p:nvSpPr>
            <p:cNvPr id="12309" name="AutoShape 16"/>
            <p:cNvSpPr/>
            <p:nvPr/>
          </p:nvSpPr>
          <p:spPr>
            <a:xfrm>
              <a:off x="517226" y="1321590"/>
              <a:ext cx="170180" cy="1304925"/>
            </a:xfrm>
            <a:prstGeom prst="leftBrace">
              <a:avLst>
                <a:gd name="adj1" fmla="val 33435"/>
                <a:gd name="adj2" fmla="val 50000"/>
              </a:avLst>
            </a:prstGeom>
            <a:noFill/>
            <a:ln w="2857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1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41" name="AutoShape 9"/>
          <p:cNvSpPr/>
          <p:nvPr/>
        </p:nvSpPr>
        <p:spPr>
          <a:xfrm>
            <a:off x="6061075" y="4398645"/>
            <a:ext cx="3641725" cy="42735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0" hangingPunct="0"/>
            <a:r>
              <a: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obj.appendChild(newChild)</a:t>
            </a:r>
            <a:endParaRPr lang="en-US" altLang="zh-CN" sz="2100" b="1" dirty="0">
              <a:latin typeface="楷体" panose="02010609060101010101" pitchFamily="49" charset="-122"/>
              <a:ea typeface="楷体" panose="02010609060101010101" pitchFamily="49" charset="-122"/>
              <a:cs typeface="Courier New" panose="02070309020205020404" pitchFamily="49" charset="0"/>
            </a:endParaRPr>
          </a:p>
        </p:txBody>
      </p:sp>
      <p:sp>
        <p:nvSpPr>
          <p:cNvPr id="43" name="AutoShape 32"/>
          <p:cNvSpPr/>
          <p:nvPr/>
        </p:nvSpPr>
        <p:spPr>
          <a:xfrm>
            <a:off x="8147685" y="5304155"/>
            <a:ext cx="1143000" cy="812445"/>
          </a:xfrm>
          <a:prstGeom prst="wedgeRoundRectCallout">
            <a:avLst>
              <a:gd name="adj1" fmla="val 17741"/>
              <a:gd name="adj2" fmla="val -124625"/>
              <a:gd name="adj3" fmla="val 16667"/>
            </a:avLst>
          </a:prstGeom>
          <a:solidFill>
            <a:srgbClr val="CCECFF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  <a:effectLst>
            <a:outerShdw dist="53882" dir="2699999" algn="ctr" rotWithShape="0">
              <a:schemeClr val="bg2">
                <a:alpha val="50000"/>
              </a:schemeClr>
            </a:outerShdw>
          </a:effectLst>
        </p:spPr>
        <p:txBody>
          <a:bodyPr anchor="t" anchorCtr="1">
            <a:spAutoFit/>
          </a:bodyPr>
          <a:lstStyle/>
          <a:p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新的子节点 </a:t>
            </a:r>
            <a:endParaRPr lang="zh-CN" altLang="en-US" sz="21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44" name="AutoShape 6"/>
          <p:cNvSpPr/>
          <p:nvPr/>
        </p:nvSpPr>
        <p:spPr>
          <a:xfrm>
            <a:off x="1172845" y="4398645"/>
            <a:ext cx="3641725" cy="42735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B563C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0" hangingPunct="0"/>
            <a:r>
              <a: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appendChild()</a:t>
            </a:r>
            <a:r>
              <a:rPr lang="zh-CN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方法</a:t>
            </a: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语法格式 </a:t>
            </a:r>
            <a:endParaRPr lang="zh-CN" altLang="en-US" sz="21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45" name="AutoShape 111"/>
          <p:cNvSpPr/>
          <p:nvPr/>
        </p:nvSpPr>
        <p:spPr>
          <a:xfrm>
            <a:off x="5166995" y="4315461"/>
            <a:ext cx="579755" cy="593089"/>
          </a:xfrm>
          <a:prstGeom prst="rightArrow">
            <a:avLst>
              <a:gd name="adj1" fmla="val 50000"/>
              <a:gd name="adj2" fmla="val 58333"/>
            </a:avLst>
          </a:prstGeom>
          <a:gradFill rotWithShape="1">
            <a:gsLst>
              <a:gs pos="0">
                <a:srgbClr val="B563CF"/>
              </a:gs>
              <a:gs pos="100000">
                <a:srgbClr val="FFFFFF"/>
              </a:gs>
            </a:gsLst>
            <a:lin ang="5400000" scaled="1"/>
            <a:tileRect/>
          </a:gradFill>
          <a:ln w="635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spAutoFit/>
          </a:bodyPr>
          <a:lstStyle/>
          <a:p>
            <a:endParaRPr lang="zh-CN" altLang="en-US" sz="2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6" name="AutoShape 32"/>
          <p:cNvSpPr/>
          <p:nvPr/>
        </p:nvSpPr>
        <p:spPr>
          <a:xfrm>
            <a:off x="5052060" y="5300345"/>
            <a:ext cx="2087880" cy="816951"/>
          </a:xfrm>
          <a:prstGeom prst="wedgeRoundRectCallout">
            <a:avLst>
              <a:gd name="adj1" fmla="val 16453"/>
              <a:gd name="adj2" fmla="val -126366"/>
              <a:gd name="adj3" fmla="val 16667"/>
            </a:avLst>
          </a:prstGeom>
          <a:solidFill>
            <a:srgbClr val="CCECFF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  <a:effectLst>
            <a:outerShdw dist="53882" dir="2699999" algn="ctr" rotWithShape="0">
              <a:schemeClr val="bg2">
                <a:alpha val="50000"/>
              </a:schemeClr>
            </a:outerShdw>
          </a:effectLst>
        </p:spPr>
        <p:txBody>
          <a:bodyPr wrap="square" anchor="t" anchorCtr="1">
            <a:spAutoFit/>
          </a:bodyPr>
          <a:lstStyle/>
          <a:p>
            <a:r>
              <a:rPr lang="zh-CN" altLang="zh-CN" sz="2100" b="1" dirty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</a:rPr>
              <a:t>该</a:t>
            </a:r>
            <a:r>
              <a:rPr lang="zh-CN" altLang="zh-CN" sz="2100" b="1" dirty="0">
                <a:latin typeface="楷体" panose="02010609060101010101" pitchFamily="49" charset="-122"/>
                <a:ea typeface="楷体" panose="02010609060101010101" pitchFamily="49" charset="-122"/>
              </a:rPr>
              <a:t>节点</a:t>
            </a: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</a:rPr>
              <a:t>末尾</a:t>
            </a:r>
            <a:r>
              <a:rPr lang="zh-CN" altLang="zh-CN" sz="2100" b="1" dirty="0">
                <a:latin typeface="楷体" panose="02010609060101010101" pitchFamily="49" charset="-122"/>
                <a:ea typeface="楷体" panose="02010609060101010101" pitchFamily="49" charset="-122"/>
              </a:rPr>
              <a:t>插入新节点</a:t>
            </a:r>
            <a:endParaRPr lang="zh-CN" altLang="en-US" sz="21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AutoShape 32"/>
          <p:cNvSpPr/>
          <p:nvPr/>
        </p:nvSpPr>
        <p:spPr>
          <a:xfrm>
            <a:off x="4087360" y="1156693"/>
            <a:ext cx="4748203" cy="459700"/>
          </a:xfrm>
          <a:prstGeom prst="wedgeRoundRectCallout">
            <a:avLst>
              <a:gd name="adj1" fmla="val -38933"/>
              <a:gd name="adj2" fmla="val 165349"/>
              <a:gd name="adj3" fmla="val 16667"/>
            </a:avLst>
          </a:prstGeom>
          <a:solidFill>
            <a:srgbClr val="CCECFF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  <a:effectLst>
            <a:outerShdw dist="53882" dir="2699999" algn="ctr" rotWithShape="0">
              <a:schemeClr val="bg2">
                <a:alpha val="50000"/>
              </a:schemeClr>
            </a:outerShdw>
          </a:effectLst>
        </p:spPr>
        <p:txBody>
          <a:bodyPr wrap="square" anchor="t" anchorCtr="1">
            <a:spAutoFit/>
          </a:bodyPr>
          <a:lstStyle/>
          <a:p>
            <a:r>
              <a:rPr lang="en-US" altLang="zh-CN" sz="21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var e = </a:t>
            </a:r>
            <a:r>
              <a:rPr lang="en-US" altLang="zh-CN" sz="21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document.createElement</a:t>
            </a:r>
            <a:r>
              <a:rPr lang="en-US" altLang="zh-CN" sz="21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(‘div’) </a:t>
            </a:r>
            <a:endParaRPr lang="zh-CN" altLang="en-US" sz="21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  <p:bldP spid="30" grpId="0" bldLvl="0" animBg="1"/>
      <p:bldP spid="31" grpId="0" bldLvl="0" animBg="1"/>
      <p:bldP spid="32" grpId="0" bldLvl="0" animBg="1"/>
      <p:bldP spid="33" grpId="0" bldLvl="0" animBg="1"/>
      <p:bldP spid="34" grpId="0" bldLvl="0" animBg="1"/>
      <p:bldP spid="35" grpId="0" bldLvl="0" animBg="1"/>
      <p:bldP spid="41" grpId="0" bldLvl="0" animBg="1"/>
      <p:bldP spid="43" grpId="0" bldLvl="0" animBg="1"/>
      <p:bldP spid="44" grpId="0" bldLvl="0" animBg="1"/>
      <p:bldP spid="45" grpId="0" bldLvl="0" animBg="1"/>
      <p:bldP spid="46" grpId="0" bldLvl="0" animBg="1"/>
      <p:bldP spid="6" grpId="0" bldLvl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节点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240761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olidFill>
                  <a:srgbClr val="FF0000"/>
                </a:solidFill>
              </a:rPr>
              <a:t>1. 创建节点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en-US" altLang="zh-CN" sz="2400" dirty="0"/>
              <a:t>创建多个节点</a:t>
            </a:r>
            <a:endParaRPr lang="en-US" altLang="zh-CN" sz="2400" dirty="0"/>
          </a:p>
          <a:p>
            <a:pPr marL="800100" lvl="1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zh-CN" altLang="zh-CN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创建多个节点通过使用循环语句，利用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createElement()</a:t>
            </a:r>
            <a:r>
              <a:rPr lang="zh-CN" altLang="zh-CN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方法和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createTextNode()</a:t>
            </a:r>
            <a:r>
              <a:rPr lang="zh-CN" altLang="zh-CN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方法生成新元素并生成文本节点。最后通过使用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appendChild()</a:t>
            </a:r>
            <a:r>
              <a:rPr lang="zh-CN" altLang="zh-CN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方法将创建的新节点添加到页面上。</a:t>
            </a:r>
            <a:endParaRPr lang="zh-CN" alt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endParaRPr lang="zh-CN" alt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699" y="3374431"/>
            <a:ext cx="8244549" cy="2407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节点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32009"/>
            <a:ext cx="10902066" cy="1244854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olidFill>
                  <a:srgbClr val="FF0000"/>
                </a:solidFill>
              </a:rPr>
              <a:t>2. 插入和追加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插入节点通过使用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insertBefore()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方法来实现。</a:t>
            </a:r>
            <a:endParaRPr lang="zh-CN" altLang="zh-CN" sz="24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3" name="AutoShape 9"/>
          <p:cNvSpPr/>
          <p:nvPr/>
        </p:nvSpPr>
        <p:spPr>
          <a:xfrm>
            <a:off x="4726940" y="2213550"/>
            <a:ext cx="4156710" cy="46799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0" hangingPunct="0"/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obj.insertBefore(new, ref)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  <a:cs typeface="Courier New" panose="02070309020205020404" pitchFamily="49" charset="0"/>
            </a:endParaRPr>
          </a:p>
        </p:txBody>
      </p:sp>
      <p:sp>
        <p:nvSpPr>
          <p:cNvPr id="34" name="AutoShape 32"/>
          <p:cNvSpPr/>
          <p:nvPr/>
        </p:nvSpPr>
        <p:spPr>
          <a:xfrm>
            <a:off x="8138795" y="2891730"/>
            <a:ext cx="2125345" cy="919735"/>
          </a:xfrm>
          <a:prstGeom prst="wedgeRoundRectCallout">
            <a:avLst>
              <a:gd name="adj1" fmla="val -40170"/>
              <a:gd name="adj2" fmla="val -87075"/>
              <a:gd name="adj3" fmla="val 16667"/>
            </a:avLst>
          </a:prstGeom>
          <a:solidFill>
            <a:srgbClr val="CCECFF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  <a:effectLst>
            <a:outerShdw dist="53882" dir="2699999" algn="ctr" rotWithShape="0">
              <a:schemeClr val="bg2">
                <a:alpha val="50000"/>
              </a:schemeClr>
            </a:outerShdw>
          </a:effectLst>
        </p:spPr>
        <p:txBody>
          <a:bodyPr wrap="square" anchor="t" anchorCtr="1">
            <a:spAutoFit/>
          </a:bodyPr>
          <a:lstStyle/>
          <a:p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该</a:t>
            </a:r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节点前插入新节点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5" name="AutoShape 32"/>
          <p:cNvSpPr/>
          <p:nvPr/>
        </p:nvSpPr>
        <p:spPr>
          <a:xfrm>
            <a:off x="5909310" y="2891730"/>
            <a:ext cx="2047875" cy="517549"/>
          </a:xfrm>
          <a:prstGeom prst="wedgeRoundRectCallout">
            <a:avLst>
              <a:gd name="adj1" fmla="val 36389"/>
              <a:gd name="adj2" fmla="val -120588"/>
              <a:gd name="adj3" fmla="val 16667"/>
            </a:avLst>
          </a:prstGeom>
          <a:solidFill>
            <a:srgbClr val="CCECFF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  <a:effectLst>
            <a:outerShdw dist="53882" dir="2699999" algn="ctr" rotWithShape="0">
              <a:schemeClr val="bg2">
                <a:alpha val="50000"/>
              </a:schemeClr>
            </a:outerShdw>
          </a:effectLst>
        </p:spPr>
        <p:txBody>
          <a:bodyPr wrap="square" anchor="t" anchorCtr="1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新的子节点 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6" name="AutoShape 6"/>
          <p:cNvSpPr/>
          <p:nvPr/>
        </p:nvSpPr>
        <p:spPr>
          <a:xfrm>
            <a:off x="1990725" y="2213550"/>
            <a:ext cx="1528445" cy="46799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B563C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0" hangingPunct="0"/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语法格式 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7" name="AutoShape 111"/>
          <p:cNvSpPr/>
          <p:nvPr/>
        </p:nvSpPr>
        <p:spPr>
          <a:xfrm>
            <a:off x="3779520" y="2123539"/>
            <a:ext cx="749935" cy="648017"/>
          </a:xfrm>
          <a:prstGeom prst="rightArrow">
            <a:avLst>
              <a:gd name="adj1" fmla="val 50000"/>
              <a:gd name="adj2" fmla="val 58333"/>
            </a:avLst>
          </a:prstGeom>
          <a:gradFill rotWithShape="1">
            <a:gsLst>
              <a:gs pos="0">
                <a:srgbClr val="B563CF"/>
              </a:gs>
              <a:gs pos="100000">
                <a:srgbClr val="FFFFFF"/>
              </a:gs>
            </a:gsLst>
            <a:lin ang="5400000" scaled="1"/>
            <a:tileRect/>
          </a:gradFill>
          <a:ln w="635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0" rIns="0" bIns="0" anchor="ctr" anchorCtr="0">
            <a:spAutoFit/>
          </a:bodyPr>
          <a:lstStyle/>
          <a:p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390" y="3448722"/>
            <a:ext cx="6644194" cy="30290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ldLvl="0" animBg="1"/>
      <p:bldP spid="34" grpId="0" bldLvl="0" animBg="1"/>
      <p:bldP spid="35" grpId="0" bldLvl="0" animBg="1"/>
      <p:bldP spid="36" grpId="0" bldLvl="0" animBg="1"/>
      <p:bldP spid="37" grpId="0" bldLvl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节点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3. 节点复制</a:t>
            </a:r>
            <a:endParaRPr lang="en-US" altLang="zh-CN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zh-CN" altLang="zh-CN" sz="24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复制节点可以使用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cloneNode()</a:t>
            </a:r>
            <a:r>
              <a:rPr lang="zh-CN" altLang="zh-CN" sz="24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方法来实现。</a:t>
            </a:r>
            <a:endParaRPr lang="zh-CN" altLang="zh-CN" sz="2400" dirty="0">
              <a:solidFill>
                <a:schemeClr val="tx1"/>
              </a:solidFill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endParaRPr lang="zh-CN" altLang="zh-CN" sz="2400" b="1" dirty="0">
              <a:solidFill>
                <a:schemeClr val="tx1"/>
              </a:solidFill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endParaRPr lang="zh-CN" altLang="zh-CN" sz="2400" b="1" dirty="0">
              <a:solidFill>
                <a:schemeClr val="tx1"/>
              </a:solidFill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endParaRPr lang="zh-CN" altLang="zh-CN" sz="2400" b="1" dirty="0">
              <a:solidFill>
                <a:schemeClr val="tx1"/>
              </a:solidFill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endParaRPr lang="zh-CN" altLang="zh-CN" sz="2400" b="1" dirty="0">
              <a:solidFill>
                <a:schemeClr val="tx1"/>
              </a:solidFill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endParaRPr lang="zh-CN" altLang="zh-CN" sz="2400" b="1" dirty="0">
              <a:solidFill>
                <a:schemeClr val="tx1"/>
              </a:solidFill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endParaRPr lang="zh-CN" altLang="zh-CN" sz="2400" b="1" dirty="0">
              <a:solidFill>
                <a:schemeClr val="tx1"/>
              </a:solidFill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deep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参数的值为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true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时表示深度复制（将当前节点的所有子节点全部复制）；为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false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时表示简单复制（只复制当前节点，不复制其子节点）</a:t>
            </a:r>
            <a:endParaRPr lang="zh-CN" altLang="en-US" sz="24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</a:pPr>
            <a:endParaRPr lang="zh-CN" altLang="en-US" sz="24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AutoShape 9"/>
          <p:cNvSpPr/>
          <p:nvPr/>
        </p:nvSpPr>
        <p:spPr>
          <a:xfrm>
            <a:off x="4726940" y="2263140"/>
            <a:ext cx="4156710" cy="46799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l" eaLnBrk="0" hangingPunct="0"/>
            <a:r>
              <a: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  <a:sym typeface="+mn-ea"/>
              </a:rPr>
              <a:t>obj.cloneNode(deep)</a:t>
            </a:r>
            <a:endParaRPr lang="en-US" altLang="zh-CN" sz="2100" b="1" dirty="0">
              <a:latin typeface="楷体" panose="02010609060101010101" pitchFamily="49" charset="-122"/>
              <a:ea typeface="楷体" panose="02010609060101010101" pitchFamily="49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5" name="AutoShape 32"/>
          <p:cNvSpPr/>
          <p:nvPr/>
        </p:nvSpPr>
        <p:spPr>
          <a:xfrm>
            <a:off x="6675120" y="3090545"/>
            <a:ext cx="2209165" cy="1175186"/>
          </a:xfrm>
          <a:prstGeom prst="wedgeRoundRectCallout">
            <a:avLst>
              <a:gd name="adj1" fmla="val -40170"/>
              <a:gd name="adj2" fmla="val -87075"/>
              <a:gd name="adj3" fmla="val 16667"/>
            </a:avLst>
          </a:prstGeom>
          <a:solidFill>
            <a:srgbClr val="CCECFF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  <a:effectLst>
            <a:outerShdw dist="53882" dir="2699999" algn="ctr" rotWithShape="0">
              <a:schemeClr val="bg2">
                <a:alpha val="50000"/>
              </a:schemeClr>
            </a:outerShdw>
          </a:effectLst>
        </p:spPr>
        <p:txBody>
          <a:bodyPr wrap="square" anchor="t" anchorCtr="1">
            <a:spAutoFit/>
          </a:bodyPr>
          <a:lstStyle/>
          <a:p>
            <a:r>
              <a:rPr lang="zh-CN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一个</a:t>
            </a:r>
            <a:r>
              <a: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Boolean</a:t>
            </a:r>
            <a:r>
              <a:rPr lang="zh-CN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值，表示是否为深度复制</a:t>
            </a:r>
            <a:endParaRPr lang="zh-CN" altLang="en-US" sz="21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6" name="AutoShape 32"/>
          <p:cNvSpPr/>
          <p:nvPr/>
        </p:nvSpPr>
        <p:spPr>
          <a:xfrm>
            <a:off x="3779520" y="3180715"/>
            <a:ext cx="2047875" cy="458848"/>
          </a:xfrm>
          <a:prstGeom prst="wedgeRoundRectCallout">
            <a:avLst>
              <a:gd name="adj1" fmla="val 15023"/>
              <a:gd name="adj2" fmla="val -167959"/>
              <a:gd name="adj3" fmla="val 16667"/>
            </a:avLst>
          </a:prstGeom>
          <a:solidFill>
            <a:srgbClr val="CCECFF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  <a:effectLst>
            <a:outerShdw dist="53882" dir="2699999" algn="ctr" rotWithShape="0">
              <a:schemeClr val="bg2">
                <a:alpha val="50000"/>
              </a:schemeClr>
            </a:outerShdw>
          </a:effectLst>
        </p:spPr>
        <p:txBody>
          <a:bodyPr wrap="square" anchor="t" anchorCtr="1">
            <a:spAutoFit/>
          </a:bodyPr>
          <a:lstStyle/>
          <a:p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要复制的节点 </a:t>
            </a:r>
            <a:endParaRPr lang="zh-CN" altLang="en-US" sz="21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7" name="AutoShape 6"/>
          <p:cNvSpPr/>
          <p:nvPr/>
        </p:nvSpPr>
        <p:spPr>
          <a:xfrm>
            <a:off x="1990725" y="2263140"/>
            <a:ext cx="1528445" cy="46799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B563C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0" hangingPunct="0"/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语法格式 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8" name="AutoShape 111"/>
          <p:cNvSpPr/>
          <p:nvPr/>
        </p:nvSpPr>
        <p:spPr>
          <a:xfrm>
            <a:off x="3779520" y="2173129"/>
            <a:ext cx="749935" cy="648017"/>
          </a:xfrm>
          <a:prstGeom prst="rightArrow">
            <a:avLst>
              <a:gd name="adj1" fmla="val 50000"/>
              <a:gd name="adj2" fmla="val 58333"/>
            </a:avLst>
          </a:prstGeom>
          <a:gradFill rotWithShape="1">
            <a:gsLst>
              <a:gs pos="0">
                <a:srgbClr val="B563CF"/>
              </a:gs>
              <a:gs pos="100000">
                <a:srgbClr val="FFFFFF"/>
              </a:gs>
            </a:gsLst>
            <a:lin ang="5400000" scaled="1"/>
            <a:tileRect/>
          </a:gradFill>
          <a:ln w="635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0" rIns="0" bIns="0" anchor="ctr" anchorCtr="0">
            <a:spAutoFit/>
          </a:bodyPr>
          <a:lstStyle/>
          <a:p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节点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3979" y="903740"/>
            <a:ext cx="10902066" cy="1426506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4. 删除与替换</a:t>
            </a:r>
            <a:endParaRPr lang="en-US" altLang="zh-CN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删除节点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800100" lvl="1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zh-CN" altLang="zh-CN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删除节点通过使用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removeChild()</a:t>
            </a:r>
            <a:r>
              <a:rPr lang="zh-CN" altLang="zh-CN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方法来实现。</a:t>
            </a:r>
            <a:endParaRPr lang="zh-CN" alt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zh-CN" altLang="en-US" sz="24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</a:pPr>
            <a:endParaRPr lang="zh-CN" altLang="en-US" sz="24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069101" y="2471468"/>
            <a:ext cx="4156710" cy="46799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l" eaLnBrk="0" hangingPunct="0"/>
            <a:r>
              <a: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  <a:sym typeface="+mn-ea"/>
              </a:rPr>
              <a:t>obj.removeChild(oldChild)</a:t>
            </a:r>
            <a:endParaRPr lang="en-US" altLang="zh-CN" sz="2100" b="1" dirty="0">
              <a:latin typeface="楷体" panose="02010609060101010101" pitchFamily="49" charset="-122"/>
              <a:ea typeface="楷体" panose="02010609060101010101" pitchFamily="49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1" name="AutoShape 32"/>
          <p:cNvSpPr/>
          <p:nvPr/>
        </p:nvSpPr>
        <p:spPr>
          <a:xfrm>
            <a:off x="6998109" y="3381505"/>
            <a:ext cx="2047875" cy="448334"/>
          </a:xfrm>
          <a:prstGeom prst="wedgeRoundRectCallout">
            <a:avLst>
              <a:gd name="adj1" fmla="val 15023"/>
              <a:gd name="adj2" fmla="val -167959"/>
              <a:gd name="adj3" fmla="val 16667"/>
            </a:avLst>
          </a:prstGeom>
          <a:solidFill>
            <a:srgbClr val="CCECFF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  <a:effectLst>
            <a:outerShdw dist="53882" dir="2699999" algn="ctr" rotWithShape="0">
              <a:schemeClr val="bg2">
                <a:alpha val="50000"/>
              </a:schemeClr>
            </a:outerShdw>
          </a:effectLst>
        </p:spPr>
        <p:txBody>
          <a:bodyPr wrap="square" anchor="t" anchorCtr="1">
            <a:spAutoFit/>
          </a:bodyPr>
          <a:lstStyle/>
          <a:p>
            <a:r>
              <a:rPr lang="zh-CN" altLang="zh-CN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要删除的节点</a:t>
            </a:r>
            <a:endParaRPr lang="zh-CN" altLang="zh-CN" sz="21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12" name="AutoShape 6"/>
          <p:cNvSpPr/>
          <p:nvPr/>
        </p:nvSpPr>
        <p:spPr>
          <a:xfrm>
            <a:off x="2332886" y="2471468"/>
            <a:ext cx="1528445" cy="46799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B563C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0" hangingPunct="0"/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语法格式 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3" name="AutoShape 111"/>
          <p:cNvSpPr/>
          <p:nvPr/>
        </p:nvSpPr>
        <p:spPr>
          <a:xfrm>
            <a:off x="4121681" y="2381457"/>
            <a:ext cx="749935" cy="648017"/>
          </a:xfrm>
          <a:prstGeom prst="rightArrow">
            <a:avLst>
              <a:gd name="adj1" fmla="val 50000"/>
              <a:gd name="adj2" fmla="val 58333"/>
            </a:avLst>
          </a:prstGeom>
          <a:gradFill rotWithShape="1">
            <a:gsLst>
              <a:gs pos="0">
                <a:srgbClr val="B563CF"/>
              </a:gs>
              <a:gs pos="100000">
                <a:srgbClr val="FFFFFF"/>
              </a:gs>
            </a:gsLst>
            <a:lin ang="5400000" scaled="1"/>
            <a:tileRect/>
          </a:gradFill>
          <a:ln w="635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0" rIns="0" bIns="0" anchor="ctr" anchorCtr="0">
            <a:spAutoFit/>
          </a:bodyPr>
          <a:lstStyle/>
          <a:p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818" y="3324951"/>
            <a:ext cx="6637513" cy="30265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1" grpId="0" bldLvl="0" animBg="1"/>
      <p:bldP spid="12" grpId="0" bldLvl="0" animBg="1"/>
      <p:bldP spid="13" grpId="0" bldLvl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节点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4. 删除与替换</a:t>
            </a:r>
            <a:endParaRPr lang="en-US" altLang="zh-CN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替换节点</a:t>
            </a:r>
            <a:endParaRPr lang="en-US" altLang="zh-CN" sz="24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800100" lvl="1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zh-CN" altLang="zh-CN" sz="2400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替换节点可以使用</a:t>
            </a:r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replaceChild()</a:t>
            </a:r>
            <a:r>
              <a:rPr lang="zh-CN" altLang="zh-CN" sz="2400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方法来实现。</a:t>
            </a:r>
            <a:endParaRPr lang="zh-CN" altLang="en-US" sz="24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zh-CN" altLang="en-US" sz="24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</a:pPr>
            <a:endParaRPr lang="zh-CN" altLang="en-US" sz="24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726940" y="3120390"/>
            <a:ext cx="4156710" cy="46799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l" eaLnBrk="0" hangingPunct="0"/>
            <a:r>
              <a: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  <a:sym typeface="+mn-ea"/>
              </a:rPr>
              <a:t>obj.replaceChild(new, old)</a:t>
            </a:r>
            <a:endParaRPr lang="en-US" altLang="zh-CN" sz="2100" b="1" dirty="0">
              <a:latin typeface="楷体" panose="02010609060101010101" pitchFamily="49" charset="-122"/>
              <a:ea typeface="楷体" panose="02010609060101010101" pitchFamily="49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1" name="AutoShape 32"/>
          <p:cNvSpPr/>
          <p:nvPr/>
        </p:nvSpPr>
        <p:spPr>
          <a:xfrm>
            <a:off x="5640705" y="3786505"/>
            <a:ext cx="1828800" cy="816955"/>
          </a:xfrm>
          <a:prstGeom prst="wedgeRoundRectCallout">
            <a:avLst>
              <a:gd name="adj1" fmla="val 41286"/>
              <a:gd name="adj2" fmla="val -87941"/>
              <a:gd name="adj3" fmla="val 16667"/>
            </a:avLst>
          </a:prstGeom>
          <a:solidFill>
            <a:srgbClr val="CCECFF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  <a:effectLst>
            <a:outerShdw dist="53882" dir="2699999" algn="ctr" rotWithShape="0">
              <a:schemeClr val="bg2">
                <a:alpha val="50000"/>
              </a:schemeClr>
            </a:outerShdw>
          </a:effectLst>
        </p:spPr>
        <p:txBody>
          <a:bodyPr wrap="square" anchor="t" anchorCtr="1">
            <a:spAutoFit/>
          </a:bodyPr>
          <a:lstStyle/>
          <a:p>
            <a:r>
              <a:rPr lang="zh-CN" altLang="zh-CN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替换后的新节点</a:t>
            </a:r>
            <a:endParaRPr lang="zh-CN" altLang="zh-CN" sz="21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12" name="AutoShape 6"/>
          <p:cNvSpPr/>
          <p:nvPr/>
        </p:nvSpPr>
        <p:spPr>
          <a:xfrm>
            <a:off x="1990725" y="3120390"/>
            <a:ext cx="1528445" cy="46799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B563C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0" hangingPunct="0"/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语法格式 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3" name="AutoShape 111"/>
          <p:cNvSpPr/>
          <p:nvPr/>
        </p:nvSpPr>
        <p:spPr>
          <a:xfrm>
            <a:off x="3779520" y="3030379"/>
            <a:ext cx="749935" cy="648017"/>
          </a:xfrm>
          <a:prstGeom prst="rightArrow">
            <a:avLst>
              <a:gd name="adj1" fmla="val 50000"/>
              <a:gd name="adj2" fmla="val 58333"/>
            </a:avLst>
          </a:prstGeom>
          <a:gradFill rotWithShape="1">
            <a:gsLst>
              <a:gs pos="0">
                <a:srgbClr val="B563CF"/>
              </a:gs>
              <a:gs pos="100000">
                <a:srgbClr val="FFFFFF"/>
              </a:gs>
            </a:gsLst>
            <a:lin ang="5400000" scaled="1"/>
            <a:tileRect/>
          </a:gradFill>
          <a:ln w="635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0" rIns="0" bIns="0" anchor="ctr" anchorCtr="0">
            <a:spAutoFit/>
          </a:bodyPr>
          <a:lstStyle/>
          <a:p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AutoShape 32"/>
          <p:cNvSpPr/>
          <p:nvPr/>
        </p:nvSpPr>
        <p:spPr>
          <a:xfrm>
            <a:off x="7856220" y="3785870"/>
            <a:ext cx="1861820" cy="816567"/>
          </a:xfrm>
          <a:prstGeom prst="wedgeRoundRectCallout">
            <a:avLst>
              <a:gd name="adj1" fmla="val -40170"/>
              <a:gd name="adj2" fmla="val -87075"/>
              <a:gd name="adj3" fmla="val 16667"/>
            </a:avLst>
          </a:prstGeom>
          <a:solidFill>
            <a:srgbClr val="CCECFF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  <a:effectLst>
            <a:outerShdw dist="53882" dir="2699999" algn="ctr" rotWithShape="0">
              <a:schemeClr val="bg2">
                <a:alpha val="50000"/>
              </a:schemeClr>
            </a:outerShdw>
          </a:effectLst>
        </p:spPr>
        <p:txBody>
          <a:bodyPr wrap="square" anchor="t" anchorCtr="1">
            <a:spAutoFit/>
          </a:bodyPr>
          <a:lstStyle/>
          <a:p>
            <a:r>
              <a:rPr lang="zh-CN" altLang="zh-CN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需要被替换的旧节点</a:t>
            </a:r>
            <a:endParaRPr lang="zh-CN" altLang="zh-CN" sz="21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1" grpId="0" bldLvl="0" animBg="1"/>
      <p:bldP spid="12" grpId="0" bldLvl="0" animBg="1"/>
      <p:bldP spid="13" grpId="0" bldLvl="0" animBg="1"/>
      <p:bldP spid="5" grpId="0" bldLvl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获取文档中的指定元素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olidFill>
                  <a:srgbClr val="FF0000"/>
                </a:solidFill>
              </a:rPr>
              <a:t>1. 通过元素的ID属性获取元素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544310" y="2602230"/>
            <a:ext cx="4846320" cy="46799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l" eaLnBrk="0" hangingPunct="0"/>
            <a:r>
              <a: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  <a:sym typeface="+mn-ea"/>
              </a:rPr>
              <a:t>document.getElementById("userId");</a:t>
            </a:r>
            <a:endParaRPr lang="en-US" altLang="zh-CN" sz="2100" b="1" dirty="0">
              <a:latin typeface="楷体" panose="02010609060101010101" pitchFamily="49" charset="-122"/>
              <a:ea typeface="楷体" panose="02010609060101010101" pitchFamily="49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2" name="AutoShape 6"/>
          <p:cNvSpPr/>
          <p:nvPr/>
        </p:nvSpPr>
        <p:spPr>
          <a:xfrm>
            <a:off x="1100455" y="2602230"/>
            <a:ext cx="3996690" cy="46799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B563C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0" hangingPunct="0"/>
            <a:r>
              <a:rPr lang="zh-CN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获取文档中</a:t>
            </a:r>
            <a:r>
              <a: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id</a:t>
            </a:r>
            <a:r>
              <a:rPr lang="zh-CN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属性为</a:t>
            </a:r>
            <a:r>
              <a: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userId</a:t>
            </a:r>
            <a:r>
              <a:rPr lang="zh-CN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的节点</a:t>
            </a:r>
            <a:endParaRPr lang="zh-CN" altLang="en-US" sz="21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3" name="AutoShape 111"/>
          <p:cNvSpPr/>
          <p:nvPr/>
        </p:nvSpPr>
        <p:spPr>
          <a:xfrm>
            <a:off x="5445760" y="2513291"/>
            <a:ext cx="749935" cy="645873"/>
          </a:xfrm>
          <a:prstGeom prst="rightArrow">
            <a:avLst>
              <a:gd name="adj1" fmla="val 50000"/>
              <a:gd name="adj2" fmla="val 58333"/>
            </a:avLst>
          </a:prstGeom>
          <a:gradFill rotWithShape="1">
            <a:gsLst>
              <a:gs pos="0">
                <a:srgbClr val="B563CF"/>
              </a:gs>
              <a:gs pos="100000">
                <a:srgbClr val="FFFFFF"/>
              </a:gs>
            </a:gsLst>
            <a:lin ang="5400000" scaled="1"/>
            <a:tileRect/>
          </a:gradFill>
          <a:ln w="635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0" rIns="0" bIns="0" anchor="ctr" anchorCtr="0">
            <a:spAutoFit/>
          </a:bodyPr>
          <a:lstStyle/>
          <a:p>
            <a:endParaRPr lang="zh-CN" altLang="en-US" sz="2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2" grpId="0" bldLvl="0" animBg="1"/>
      <p:bldP spid="13" grpId="0" bldLvl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获取文档中的指定元素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1"/>
            <a:ext cx="10902066" cy="1298532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2. 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通过元素的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name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属性获取元素</a:t>
            </a:r>
            <a:endParaRPr lang="zh-CN" altLang="en-US" sz="2400" dirty="0">
              <a:solidFill>
                <a:srgbClr val="FF0000"/>
              </a:solidFill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zh-CN" altLang="zh-CN" sz="24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使用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document</a:t>
            </a:r>
            <a:r>
              <a:rPr lang="zh-CN" altLang="zh-CN" sz="24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对象的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getElementsByName()</a:t>
            </a:r>
            <a:r>
              <a:rPr lang="zh-CN" altLang="zh-CN" sz="24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方法可以通过元素的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name</a:t>
            </a:r>
            <a:r>
              <a:rPr lang="zh-CN" altLang="zh-CN" sz="24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属性获取元素，通常用于获取表单元素。</a:t>
            </a:r>
            <a:endParaRPr lang="zh-CN" altLang="en-US" sz="24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</a:pPr>
            <a:endParaRPr lang="zh-CN" altLang="en-US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zh-CN" altLang="en-US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0" name="AutoShape 61"/>
          <p:cNvSpPr/>
          <p:nvPr/>
        </p:nvSpPr>
        <p:spPr>
          <a:xfrm>
            <a:off x="1600200" y="2660241"/>
            <a:ext cx="8345805" cy="231521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r>
              <a:rPr lang="en-US" altLang="zh-C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&lt;input type="text" name="likeRadio" id="radio" value="</a:t>
            </a:r>
            <a:r>
              <a:rPr lang="zh-CN" altLang="zh-C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体育</a:t>
            </a:r>
            <a:r>
              <a:rPr lang="en-US" altLang="zh-C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/&gt;</a:t>
            </a:r>
            <a:endParaRPr lang="zh-CN" altLang="zh-C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&lt;input type="text" name="likeRadio" id="radio" value="</a:t>
            </a:r>
            <a:r>
              <a:rPr lang="zh-CN" altLang="zh-C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美术</a:t>
            </a:r>
            <a:r>
              <a:rPr lang="en-US" altLang="zh-C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/&gt;</a:t>
            </a:r>
            <a:endParaRPr lang="zh-CN" altLang="zh-C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&lt;input type="text" name="likeRadio" id="radio" value="</a:t>
            </a:r>
            <a:r>
              <a:rPr lang="zh-CN" altLang="zh-C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文艺</a:t>
            </a:r>
            <a:r>
              <a:rPr lang="en-US" altLang="zh-C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/&gt;</a:t>
            </a:r>
            <a:endParaRPr lang="zh-CN" altLang="zh-C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&lt;script type="text/javascript"&gt;</a:t>
            </a:r>
            <a:endParaRPr lang="en-US" altLang="zh-C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alert(document.getElementsByName("likeRadio")[0].value);</a:t>
            </a:r>
            <a:endParaRPr lang="zh-CN" altLang="zh-C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&lt;/script&gt;</a:t>
            </a:r>
            <a:endParaRPr lang="en-US" altLang="zh-CN" sz="2100" b="1" dirty="0">
              <a:latin typeface="Times New Roman" panose="02020603050405020304" pitchFamily="18" charset="0"/>
              <a:ea typeface="Courier New" panose="02070309020205020404" pitchFamily="49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获取文档中的指定元素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345490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3. 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通过标签名获取元素</a:t>
            </a:r>
            <a:endParaRPr lang="zh-CN" altLang="en-US" sz="2400" dirty="0">
              <a:solidFill>
                <a:srgbClr val="FF0000"/>
              </a:solidFill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zh-CN" altLang="zh-CN" sz="2400" dirty="0">
                <a:solidFill>
                  <a:schemeClr val="tx1"/>
                </a:solidFill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使用</a:t>
            </a:r>
            <a:r>
              <a:rPr lang="en-US" altLang="zh-CN" sz="2400" dirty="0">
                <a:solidFill>
                  <a:schemeClr val="tx1"/>
                </a:solidFill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document</a:t>
            </a:r>
            <a:r>
              <a:rPr lang="zh-CN" altLang="zh-CN" sz="2400" dirty="0">
                <a:solidFill>
                  <a:schemeClr val="tx1"/>
                </a:solidFill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对象的</a:t>
            </a:r>
            <a:r>
              <a:rPr lang="en-US" altLang="zh-CN" sz="2400" dirty="0" err="1">
                <a:solidFill>
                  <a:schemeClr val="tx1"/>
                </a:solidFill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getElementsByTagName</a:t>
            </a:r>
            <a:r>
              <a:rPr lang="en-US" altLang="zh-CN" sz="2400" dirty="0">
                <a:solidFill>
                  <a:schemeClr val="tx1"/>
                </a:solidFill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()</a:t>
            </a:r>
            <a:r>
              <a:rPr lang="zh-CN" altLang="zh-CN" sz="2400" dirty="0">
                <a:solidFill>
                  <a:schemeClr val="tx1"/>
                </a:solidFill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方法可以通过标签名获取元素。</a:t>
            </a:r>
            <a:endParaRPr lang="zh-CN" altLang="zh-CN" sz="2400" dirty="0">
              <a:solidFill>
                <a:schemeClr val="tx1"/>
              </a:solidFill>
              <a:latin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endParaRPr lang="zh-CN" altLang="zh-CN" sz="2400" dirty="0">
              <a:solidFill>
                <a:schemeClr val="tx1"/>
              </a:solidFill>
              <a:latin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endParaRPr lang="zh-CN" altLang="zh-CN" sz="2400" dirty="0">
              <a:solidFill>
                <a:schemeClr val="tx1"/>
              </a:solidFill>
              <a:latin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en-US" altLang="zh-CN" sz="2400" dirty="0" err="1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getElementById</a:t>
            </a:r>
            <a:r>
              <a:rPr lang="en-US" altLang="zh-CN" sz="2400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()</a:t>
            </a:r>
            <a:r>
              <a:rPr lang="zh-CN" altLang="zh-CN" sz="2400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和</a:t>
            </a:r>
            <a:r>
              <a:rPr lang="en-US" altLang="zh-CN" sz="2400" dirty="0" err="1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getElementsByTagName</a:t>
            </a:r>
            <a:r>
              <a:rPr lang="en-US" altLang="zh-CN" sz="2400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()</a:t>
            </a:r>
            <a:r>
              <a:rPr lang="zh-CN" altLang="zh-CN" sz="2400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有着以下</a:t>
            </a:r>
            <a:r>
              <a:rPr lang="en-US" altLang="zh-CN" sz="2400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3</a:t>
            </a:r>
            <a:r>
              <a:rPr lang="zh-CN" altLang="zh-CN" sz="2400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个明显的区别</a:t>
            </a:r>
            <a:r>
              <a:rPr lang="zh-CN" altLang="en-US" sz="2400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：</a:t>
            </a:r>
            <a:endParaRPr lang="en-US" altLang="zh-CN" sz="2400" dirty="0">
              <a:latin typeface="楷体" panose="02010609060101010101" pitchFamily="49" charset="-122"/>
              <a:cs typeface="楷体" panose="02010609060101010101" pitchFamily="49" charset="-122"/>
            </a:endParaRPr>
          </a:p>
          <a:p>
            <a:pPr marL="800100" lvl="1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en-US" altLang="zh-CN" b="1" dirty="0" err="1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getElementById</a:t>
            </a:r>
            <a:r>
              <a:rPr lang="en-US" altLang="zh-CN" b="1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()</a:t>
            </a:r>
            <a:r>
              <a:rPr lang="zh-CN" altLang="zh-CN" b="1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获取的</a:t>
            </a:r>
            <a:r>
              <a:rPr lang="zh-CN" altLang="zh-CN" b="1" dirty="0">
                <a:solidFill>
                  <a:srgbClr val="FF0000"/>
                </a:solidFill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是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1</a:t>
            </a:r>
            <a:r>
              <a:rPr lang="zh-CN" altLang="zh-CN" b="1" dirty="0">
                <a:solidFill>
                  <a:srgbClr val="FF0000"/>
                </a:solidFill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个元素</a:t>
            </a:r>
            <a:r>
              <a:rPr lang="zh-CN" altLang="zh-CN" b="1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，而</a:t>
            </a:r>
            <a:r>
              <a:rPr lang="en-US" altLang="zh-CN" b="1" dirty="0" err="1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getElementsByTagName</a:t>
            </a:r>
            <a:r>
              <a:rPr lang="en-US" altLang="zh-CN" b="1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()</a:t>
            </a:r>
            <a:r>
              <a:rPr lang="zh-CN" altLang="zh-CN" b="1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获取的</a:t>
            </a:r>
            <a:r>
              <a:rPr lang="zh-CN" altLang="zh-CN" b="1" dirty="0">
                <a:solidFill>
                  <a:srgbClr val="FF0000"/>
                </a:solidFill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是多个元素</a:t>
            </a:r>
            <a:r>
              <a:rPr lang="zh-CN" altLang="zh-CN" b="1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（类数组）；</a:t>
            </a:r>
            <a:endParaRPr lang="zh-CN" altLang="zh-CN" b="1" dirty="0">
              <a:solidFill>
                <a:schemeClr val="tx1"/>
              </a:solidFill>
              <a:latin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marL="800100" lvl="1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en-US" altLang="zh-CN" b="1" dirty="0" err="1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getElementById</a:t>
            </a:r>
            <a:r>
              <a:rPr lang="en-US" altLang="zh-CN" b="1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()</a:t>
            </a:r>
            <a:r>
              <a:rPr lang="zh-CN" altLang="zh-CN" b="1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前面</a:t>
            </a:r>
            <a:r>
              <a:rPr lang="zh-CN" altLang="zh-CN" b="1" dirty="0">
                <a:solidFill>
                  <a:srgbClr val="FF0000"/>
                </a:solidFill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只可以接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document</a:t>
            </a:r>
            <a:r>
              <a:rPr lang="zh-CN" altLang="zh-CN" b="1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，也就是</a:t>
            </a:r>
            <a:r>
              <a:rPr lang="en-US" altLang="zh-CN" b="1" dirty="0" err="1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document.getElementById</a:t>
            </a:r>
            <a:r>
              <a:rPr lang="en-US" altLang="zh-CN" b="1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()</a:t>
            </a:r>
            <a:r>
              <a:rPr lang="zh-CN" altLang="zh-CN" b="1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；</a:t>
            </a:r>
            <a:r>
              <a:rPr lang="en-US" altLang="zh-CN" b="1" dirty="0" err="1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getElementsByTagName</a:t>
            </a:r>
            <a:r>
              <a:rPr lang="en-US" altLang="zh-CN" b="1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()</a:t>
            </a:r>
            <a:r>
              <a:rPr lang="zh-CN" altLang="zh-CN" b="1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前面</a:t>
            </a:r>
            <a:r>
              <a:rPr lang="zh-CN" altLang="zh-CN" b="1" dirty="0">
                <a:solidFill>
                  <a:srgbClr val="FF0000"/>
                </a:solidFill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不仅可以接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document</a:t>
            </a:r>
            <a:r>
              <a:rPr lang="zh-CN" altLang="zh-CN" b="1" dirty="0">
                <a:solidFill>
                  <a:srgbClr val="FF0000"/>
                </a:solidFill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，还可以接其他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DOM</a:t>
            </a:r>
            <a:r>
              <a:rPr lang="zh-CN" altLang="zh-CN" b="1" dirty="0">
                <a:solidFill>
                  <a:srgbClr val="FF0000"/>
                </a:solidFill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对象</a:t>
            </a:r>
            <a:r>
              <a:rPr lang="zh-CN" altLang="zh-CN" b="1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；</a:t>
            </a:r>
            <a:endParaRPr lang="zh-CN" altLang="zh-CN" b="1" dirty="0">
              <a:solidFill>
                <a:schemeClr val="tx1"/>
              </a:solidFill>
              <a:latin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marL="800100" lvl="1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en-US" altLang="zh-CN" b="1" dirty="0" err="1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getElementById</a:t>
            </a:r>
            <a:r>
              <a:rPr lang="en-US" altLang="zh-CN" b="1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()</a:t>
            </a:r>
            <a:r>
              <a:rPr lang="zh-CN" altLang="zh-CN" b="1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不可以操作动态创建的</a:t>
            </a:r>
            <a:r>
              <a:rPr lang="en-US" altLang="zh-CN" b="1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DOM</a:t>
            </a:r>
            <a:r>
              <a:rPr lang="zh-CN" altLang="zh-CN" b="1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元素，而</a:t>
            </a:r>
            <a:r>
              <a:rPr lang="en-US" altLang="zh-CN" b="1" dirty="0" err="1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getElementsByTagName</a:t>
            </a:r>
            <a:r>
              <a:rPr lang="en-US" altLang="zh-CN" b="1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()</a:t>
            </a:r>
            <a:r>
              <a:rPr lang="zh-CN" altLang="zh-CN" b="1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可以操作动态创建的</a:t>
            </a:r>
            <a:r>
              <a:rPr lang="en-US" altLang="zh-CN" b="1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DOM</a:t>
            </a:r>
            <a:r>
              <a:rPr lang="zh-CN" altLang="zh-CN" b="1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元素。</a:t>
            </a:r>
            <a:endParaRPr lang="zh-CN" altLang="en-US" sz="2055" b="1" dirty="0">
              <a:solidFill>
                <a:schemeClr val="tx1"/>
              </a:solidFill>
              <a:latin typeface="楷体" panose="02010609060101010101" pitchFamily="49" charset="-122"/>
              <a:cs typeface="楷体" panose="02010609060101010101" pitchFamily="49" charset="-122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</a:pPr>
            <a:endParaRPr lang="zh-CN" altLang="en-US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zh-CN" altLang="en-US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150553" y="2084705"/>
            <a:ext cx="5890895" cy="46799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l" eaLnBrk="0" hangingPunct="0"/>
            <a:r>
              <a: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  <a:sym typeface="+mn-ea"/>
              </a:rPr>
              <a:t>document.</a:t>
            </a:r>
            <a:r>
              <a:rPr lang="en-US" altLang="zh-CN" sz="2100" b="1" dirty="0" err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getElementsByTagName</a:t>
            </a:r>
            <a:r>
              <a: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  <a:sym typeface="+mn-ea"/>
              </a:rPr>
              <a:t>("tag name");</a:t>
            </a:r>
            <a:endParaRPr lang="en-US" altLang="zh-CN" sz="2100" b="1" dirty="0">
              <a:latin typeface="楷体" panose="02010609060101010101" pitchFamily="49" charset="-122"/>
              <a:ea typeface="楷体" panose="02010609060101010101" pitchFamily="49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获取文档中的指定元素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2755673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4. 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通过类名获取元素</a:t>
            </a:r>
            <a:endParaRPr lang="zh-CN" altLang="en-US" sz="2400" dirty="0">
              <a:solidFill>
                <a:srgbClr val="FF0000"/>
              </a:solidFill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zh-CN" altLang="zh-CN" sz="2400" dirty="0">
                <a:solidFill>
                  <a:schemeClr val="tx1"/>
                </a:solidFill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使用</a:t>
            </a:r>
            <a:r>
              <a:rPr lang="en-US" altLang="zh-CN" sz="2400" dirty="0">
                <a:solidFill>
                  <a:schemeClr val="tx1"/>
                </a:solidFill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document</a:t>
            </a:r>
            <a:r>
              <a:rPr lang="zh-CN" altLang="zh-CN" sz="2400" dirty="0">
                <a:solidFill>
                  <a:schemeClr val="tx1"/>
                </a:solidFill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对象的</a:t>
            </a:r>
            <a:r>
              <a:rPr lang="en-US" altLang="zh-CN" sz="2400" dirty="0" err="1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getElementsByClassName</a:t>
            </a:r>
            <a:r>
              <a:rPr lang="en-US" altLang="zh-CN" sz="2400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()</a:t>
            </a:r>
            <a:r>
              <a:rPr lang="zh-CN" altLang="zh-CN" sz="2400" dirty="0">
                <a:solidFill>
                  <a:schemeClr val="tx1"/>
                </a:solidFill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方法可以通过类名获取元素。</a:t>
            </a:r>
            <a:endParaRPr lang="zh-CN" altLang="zh-CN" sz="2400" dirty="0">
              <a:solidFill>
                <a:schemeClr val="tx1"/>
              </a:solidFill>
              <a:latin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endParaRPr lang="zh-CN" altLang="en-US" sz="2400" dirty="0" err="1">
              <a:latin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endParaRPr lang="zh-CN" altLang="en-US" sz="2400" dirty="0" err="1">
              <a:latin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zh-CN" altLang="en-US" sz="2400" dirty="0" err="1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与</a:t>
            </a:r>
            <a:r>
              <a:rPr lang="en-US" altLang="zh-CN" sz="2400" dirty="0" err="1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getElementsByTagName</a:t>
            </a:r>
            <a:r>
              <a:rPr lang="zh-CN" altLang="zh-CN" sz="2400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相似，</a:t>
            </a:r>
            <a:r>
              <a:rPr lang="en-US" altLang="zh-CN" sz="2400" dirty="0" err="1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getElementsByClassName</a:t>
            </a:r>
            <a:r>
              <a:rPr lang="en-US" altLang="zh-CN" sz="2400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()</a:t>
            </a:r>
            <a:r>
              <a:rPr lang="zh-CN" altLang="zh-CN" sz="2400" dirty="0"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获取的也是一个类数组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867025" y="2084705"/>
            <a:ext cx="6457950" cy="46799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l" eaLnBrk="0" hangingPunct="0"/>
            <a:r>
              <a: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  <a:sym typeface="+mn-ea"/>
              </a:rPr>
              <a:t>document.</a:t>
            </a:r>
            <a:r>
              <a:rPr lang="en-US" altLang="zh-CN" sz="2100" b="1" dirty="0" err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getElementsByClassName</a:t>
            </a:r>
            <a:r>
              <a: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  <a:sym typeface="+mn-ea"/>
              </a:rPr>
              <a:t>("class name");</a:t>
            </a:r>
            <a:endParaRPr lang="en-US" altLang="zh-CN" sz="2100" b="1" dirty="0">
              <a:latin typeface="楷体" panose="02010609060101010101" pitchFamily="49" charset="-122"/>
              <a:ea typeface="楷体" panose="02010609060101010101" pitchFamily="49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获取文档中的指定元素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4. 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通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过querySelector()和querySelectorAll()获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取元素</a:t>
            </a:r>
            <a:endParaRPr lang="zh-CN" altLang="en-US" sz="2400" dirty="0">
              <a:solidFill>
                <a:srgbClr val="FF0000"/>
              </a:solidFill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zh-CN" altLang="zh-CN" sz="2400" dirty="0">
                <a:solidFill>
                  <a:schemeClr val="tx1"/>
                </a:solidFill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querySelector()表示选取满足选择条件的第1个元素。</a:t>
            </a:r>
            <a:endParaRPr lang="zh-CN" altLang="zh-CN" sz="2400" dirty="0">
              <a:solidFill>
                <a:schemeClr val="tx1"/>
              </a:solidFill>
              <a:latin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zh-CN" altLang="zh-CN" sz="2400" dirty="0">
                <a:solidFill>
                  <a:schemeClr val="tx1"/>
                </a:solidFill>
                <a:latin typeface="楷体" panose="02010609060101010101" pitchFamily="49" charset="-122"/>
                <a:cs typeface="楷体" panose="02010609060101010101" pitchFamily="49" charset="-122"/>
                <a:sym typeface="+mn-ea"/>
              </a:rPr>
              <a:t>querySelectorAll()表示选取满足条件的所有元素。</a:t>
            </a:r>
            <a:endParaRPr lang="zh-CN" altLang="zh-CN" sz="2400" dirty="0">
              <a:solidFill>
                <a:schemeClr val="tx1"/>
              </a:solidFill>
              <a:latin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endParaRPr lang="zh-CN" altLang="en-US" sz="2400" dirty="0" err="1">
              <a:latin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endParaRPr lang="zh-CN" altLang="en-US" sz="2400" dirty="0" err="1">
              <a:latin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776855" y="2702560"/>
            <a:ext cx="6457950" cy="92583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l" eaLnBrk="0" hangingPunct="0"/>
            <a:r>
              <a:rPr lang="en-US" altLang="zh-CN" sz="21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  <a:sym typeface="+mn-ea"/>
              </a:rPr>
              <a:t>document.</a:t>
            </a:r>
            <a:r>
              <a:rPr lang="zh-CN" altLang="en-US" sz="21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querySelector</a:t>
            </a:r>
            <a:r>
              <a:rPr lang="en-US" altLang="zh-CN" sz="21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  <a:sym typeface="+mn-ea"/>
              </a:rPr>
              <a:t>("selector");</a:t>
            </a:r>
            <a:endParaRPr lang="en-US" altLang="zh-CN" sz="21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Courier New" panose="02070309020205020404" pitchFamily="49" charset="0"/>
              <a:sym typeface="+mn-ea"/>
            </a:endParaRPr>
          </a:p>
          <a:p>
            <a:pPr algn="l" eaLnBrk="0" hangingPunct="0"/>
            <a:r>
              <a:rPr lang="en-US" altLang="zh-CN" sz="21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  <a:sym typeface="+mn-ea"/>
              </a:rPr>
              <a:t>document.</a:t>
            </a:r>
            <a:r>
              <a:rPr lang="zh-CN" altLang="en-US" sz="21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querySelector</a:t>
            </a:r>
            <a:r>
              <a:rPr lang="en-US" altLang="zh-CN" sz="21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All</a:t>
            </a:r>
            <a:r>
              <a:rPr lang="en-US" altLang="zh-CN" sz="21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  <a:sym typeface="+mn-ea"/>
              </a:rPr>
              <a:t>("selector");</a:t>
            </a:r>
            <a:endParaRPr lang="en-US" altLang="zh-CN" sz="21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Courier New" panose="02070309020205020404" pitchFamily="49" charset="0"/>
              <a:sym typeface="+mn-ea"/>
            </a:endParaRPr>
          </a:p>
        </p:txBody>
      </p:sp>
      <p:pic>
        <p:nvPicPr>
          <p:cNvPr id="5" name="图片 4"/>
          <p:cNvPicPr/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299218" y="4742561"/>
            <a:ext cx="3157179" cy="1274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AutoShape 9"/>
          <p:cNvSpPr/>
          <p:nvPr/>
        </p:nvSpPr>
        <p:spPr>
          <a:xfrm>
            <a:off x="873760" y="4163695"/>
            <a:ext cx="7244080" cy="208978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l">
              <a:lnSpc>
                <a:spcPct val="120000"/>
              </a:lnSpc>
            </a:pPr>
            <a:r>
              <a:rPr lang="en-US" altLang="zh-CN" sz="2100" dirty="0" err="1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sym typeface="+mn-ea"/>
              </a:rPr>
              <a:t>document.querySelector</a:t>
            </a:r>
            <a:r>
              <a:rPr lang="en-US" altLang="zh-CN" sz="2100" dirty="0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sym typeface="+mn-ea"/>
              </a:rPr>
              <a:t>("#main")</a:t>
            </a:r>
            <a:endParaRPr lang="en-US" altLang="zh-CN" sz="2100" dirty="0">
              <a:solidFill>
                <a:srgbClr val="C00000"/>
              </a:solidFill>
              <a:latin typeface="Consolas" panose="020B0609020204030204" pitchFamily="49" charset="0"/>
              <a:ea typeface="Source Code Pro Light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2100" dirty="0" err="1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sym typeface="+mn-ea"/>
              </a:rPr>
              <a:t>document.querySelector</a:t>
            </a:r>
            <a:r>
              <a:rPr lang="en-US" altLang="zh-CN" sz="2100" dirty="0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sym typeface="+mn-ea"/>
              </a:rPr>
              <a:t>("#list </a:t>
            </a:r>
            <a:r>
              <a:rPr lang="en-US" altLang="zh-CN" sz="2100" dirty="0" err="1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sym typeface="+mn-ea"/>
              </a:rPr>
              <a:t>li:nth-child</a:t>
            </a:r>
            <a:r>
              <a:rPr lang="en-US" altLang="zh-CN" sz="2100" dirty="0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sym typeface="+mn-ea"/>
              </a:rPr>
              <a:t>(1)")</a:t>
            </a:r>
            <a:endParaRPr lang="en-US" altLang="zh-CN" sz="2100" dirty="0">
              <a:solidFill>
                <a:srgbClr val="C00000"/>
              </a:solidFill>
              <a:latin typeface="Consolas" panose="020B0609020204030204" pitchFamily="49" charset="0"/>
              <a:ea typeface="Source Code Pro Light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2100" dirty="0" err="1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sym typeface="+mn-ea"/>
              </a:rPr>
              <a:t>document.querySelectorAll</a:t>
            </a:r>
            <a:r>
              <a:rPr lang="en-US" altLang="zh-CN" sz="2100" dirty="0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sym typeface="+mn-ea"/>
              </a:rPr>
              <a:t>("#list li")</a:t>
            </a:r>
            <a:endParaRPr lang="en-US" altLang="zh-CN" sz="2100" dirty="0">
              <a:solidFill>
                <a:srgbClr val="C00000"/>
              </a:solidFill>
              <a:latin typeface="Consolas" panose="020B0609020204030204" pitchFamily="49" charset="0"/>
              <a:ea typeface="Source Code Pro Light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2100" dirty="0" err="1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sym typeface="+mn-ea"/>
              </a:rPr>
              <a:t>document.querySelectorAll</a:t>
            </a:r>
            <a:r>
              <a:rPr lang="en-US" altLang="zh-CN" sz="2100" dirty="0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sym typeface="+mn-ea"/>
              </a:rPr>
              <a:t>("</a:t>
            </a:r>
            <a:r>
              <a:rPr lang="en-US" altLang="zh-CN" sz="2100" dirty="0" err="1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sym typeface="+mn-ea"/>
              </a:rPr>
              <a:t>input:checkbox</a:t>
            </a:r>
            <a:r>
              <a:rPr lang="en-US" altLang="zh-CN" sz="2100" dirty="0">
                <a:solidFill>
                  <a:srgbClr val="C00000"/>
                </a:solidFill>
                <a:latin typeface="Consolas" panose="020B0609020204030204" pitchFamily="49" charset="0"/>
                <a:ea typeface="Source Code Pro Light" pitchFamily="49" charset="0"/>
                <a:sym typeface="+mn-ea"/>
              </a:rPr>
              <a:t>")</a:t>
            </a:r>
            <a:endParaRPr lang="en-US" altLang="zh-CN" sz="21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4" grpId="0" bldLvl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与DHTML相对应的DOM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1.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innerHTML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innerText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属性</a:t>
            </a:r>
            <a:endParaRPr lang="zh-CN" altLang="en-US" sz="2400" dirty="0">
              <a:solidFill>
                <a:srgbClr val="FF0000"/>
              </a:solidFill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innerHTML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属性声明了元素含有的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HTML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文本，不包括元素本身的开始标记和结束标记。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innerText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属性与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innerHTML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属性的功能类似，只是该属性只能声明元素包含的文本内容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。</a:t>
            </a:r>
            <a:endParaRPr lang="zh-CN" altLang="en-US" sz="2400" b="1" dirty="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15" name="AutoShape 61"/>
          <p:cNvSpPr/>
          <p:nvPr/>
        </p:nvSpPr>
        <p:spPr>
          <a:xfrm>
            <a:off x="556260" y="2935605"/>
            <a:ext cx="9236710" cy="15557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r>
              <a:rPr lang="en-US" altLang="zh-C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&lt;div id="clock"&gt;&lt;/div&gt;</a:t>
            </a:r>
            <a:endParaRPr lang="zh-CN" altLang="zh-C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&lt;script type="text/javascript"&gt;</a:t>
            </a:r>
            <a:endParaRPr lang="en-US" altLang="zh-C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document.getElementById("clock").innerHTML="2016-&lt;b&gt;12&lt;/b&gt;-24";</a:t>
            </a:r>
            <a:endParaRPr lang="zh-CN" altLang="zh-C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&lt;/script&gt;</a:t>
            </a:r>
            <a:endParaRPr lang="en-US" altLang="zh-CN" sz="2100" b="1" dirty="0">
              <a:latin typeface="Times New Roman" panose="02020603050405020304" pitchFamily="18" charset="0"/>
              <a:ea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17" name="AutoShape 9"/>
          <p:cNvSpPr/>
          <p:nvPr/>
        </p:nvSpPr>
        <p:spPr>
          <a:xfrm>
            <a:off x="10189210" y="3892550"/>
            <a:ext cx="1528445" cy="342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0" hangingPunct="0"/>
            <a:r>
              <a:rPr lang="en-US" altLang="zh-C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2016-12-24</a:t>
            </a:r>
            <a:endParaRPr lang="zh-CN" altLang="en-US" sz="2100" b="1" dirty="0">
              <a:latin typeface="Times New Roman" panose="02020603050405020304" pitchFamily="18" charset="0"/>
              <a:ea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18" name="AutoShape 111"/>
          <p:cNvSpPr/>
          <p:nvPr/>
        </p:nvSpPr>
        <p:spPr>
          <a:xfrm rot="1620000">
            <a:off x="9919970" y="3122931"/>
            <a:ext cx="749935" cy="619759"/>
          </a:xfrm>
          <a:prstGeom prst="rightArrow">
            <a:avLst>
              <a:gd name="adj1" fmla="val 50000"/>
              <a:gd name="adj2" fmla="val 58402"/>
            </a:avLst>
          </a:prstGeom>
          <a:gradFill rotWithShape="1">
            <a:gsLst>
              <a:gs pos="0">
                <a:srgbClr val="B563CF"/>
              </a:gs>
              <a:gs pos="100000">
                <a:srgbClr val="FFFFFF"/>
              </a:gs>
            </a:gsLst>
            <a:lin ang="5400000" scaled="1"/>
            <a:tileRect/>
          </a:gradFill>
          <a:ln w="635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0" rIns="0" bIns="0" anchor="ctr" anchorCtr="0">
            <a:spAutoFit/>
          </a:bodyPr>
          <a:lstStyle/>
          <a:p>
            <a:endParaRPr lang="zh-CN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Group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31190" y="4817745"/>
          <a:ext cx="10138410" cy="1530350"/>
        </p:xfrm>
        <a:graphic>
          <a:graphicData uri="http://schemas.openxmlformats.org/drawingml/2006/table">
            <a:tbl>
              <a:tblPr/>
              <a:tblGrid>
                <a:gridCol w="3763010"/>
                <a:gridCol w="3240405"/>
                <a:gridCol w="3134995"/>
              </a:tblGrid>
              <a:tr h="4629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HTML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代码</a:t>
                      </a:r>
                      <a:endParaRPr kumimoji="0" 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innerHTML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属性</a:t>
                      </a:r>
                      <a:endParaRPr kumimoji="0" 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innerText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属性</a:t>
                      </a:r>
                      <a:endParaRPr kumimoji="0" 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235">
                <a:tc>
                  <a:txBody>
                    <a:bodyPr/>
                    <a:lstStyle/>
                    <a:p>
                      <a:pPr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kumimoji="0" lang="en-US" sz="1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&lt;div&gt;Web</a:t>
                      </a:r>
                      <a:r>
                        <a:rPr kumimoji="0" lang="zh-CN" altLang="en-US" sz="1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开发基础</a:t>
                      </a:r>
                      <a:r>
                        <a:rPr kumimoji="0" lang="en-US" sz="1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&lt;/div&gt;</a:t>
                      </a:r>
                      <a:endParaRPr kumimoji="0" lang="zh-CN" sz="1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kumimoji="0" lang="en-US" sz="1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en-US" sz="160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Web</a:t>
                      </a:r>
                      <a:r>
                        <a:rPr lang="zh-CN" altLang="en-US" sz="160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开发基础</a:t>
                      </a:r>
                      <a:r>
                        <a:rPr kumimoji="0" lang="en-US" sz="1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"</a:t>
                      </a:r>
                      <a:endParaRPr kumimoji="0" lang="zh-CN" sz="1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kumimoji="0" lang="en-US" sz="1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en-US" sz="160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Web</a:t>
                      </a:r>
                      <a:r>
                        <a:rPr lang="zh-CN" altLang="en-US" sz="160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开发基础</a:t>
                      </a:r>
                      <a:r>
                        <a:rPr kumimoji="0" lang="en-US" sz="1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"</a:t>
                      </a:r>
                      <a:endParaRPr kumimoji="0" lang="zh-CN" sz="1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kumimoji="0" lang="en-US" sz="1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&lt;div&gt;&lt;b&gt;</a:t>
                      </a:r>
                      <a:r>
                        <a:rPr lang="en-US" sz="160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Web</a:t>
                      </a:r>
                      <a:r>
                        <a:rPr lang="zh-CN" altLang="en-US" sz="160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开发基础</a:t>
                      </a:r>
                      <a:r>
                        <a:rPr kumimoji="0" lang="en-US" sz="1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&lt;/b&gt;&lt;/div&gt;</a:t>
                      </a:r>
                      <a:endParaRPr kumimoji="0" lang="zh-CN" sz="1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kumimoji="0" lang="en-US" sz="1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"&lt;B&gt;</a:t>
                      </a:r>
                      <a:r>
                        <a:rPr lang="en-US" sz="160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Web</a:t>
                      </a:r>
                      <a:r>
                        <a:rPr lang="zh-CN" altLang="en-US" sz="160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开发基础</a:t>
                      </a:r>
                      <a:r>
                        <a:rPr kumimoji="0" lang="en-US" sz="1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&lt;/B&gt;"</a:t>
                      </a:r>
                      <a:endParaRPr kumimoji="0" lang="zh-CN" sz="1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kumimoji="0" lang="en-US" sz="1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en-US" sz="160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Web</a:t>
                      </a:r>
                      <a:r>
                        <a:rPr lang="zh-CN" altLang="en-US" sz="160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开发基础</a:t>
                      </a:r>
                      <a:r>
                        <a:rPr kumimoji="0" lang="en-US" sz="1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"</a:t>
                      </a:r>
                      <a:endParaRPr kumimoji="0" lang="zh-CN" sz="1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kumimoji="0" lang="en-US" sz="1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&lt;div&gt;&lt;font color="red"&gt;&lt;/font&gt;&lt;/div&gt;</a:t>
                      </a:r>
                      <a:endParaRPr kumimoji="0" lang="en-US" sz="1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kumimoji="0" lang="en-US" sz="1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"&lt;FONT color=red&gt;&lt;/FONT&gt;"</a:t>
                      </a:r>
                      <a:endParaRPr kumimoji="0" lang="en-US" sz="1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kumimoji="0" 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""</a:t>
                      </a:r>
                      <a:endParaRPr kumimoji="0" 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17" grpId="0" bldLvl="0" animBg="1"/>
      <p:bldP spid="18" grpId="0" bldLvl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与DHTML相对应的DOM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>
                <a:solidFill>
                  <a:srgbClr val="FF0000"/>
                </a:solidFill>
                <a:ea typeface="黑体" panose="02010609060101010101" charset="-122"/>
                <a:sym typeface="+mn-ea"/>
              </a:rPr>
              <a:t>2. outerHTML</a:t>
            </a:r>
            <a:r>
              <a:rPr lang="zh-CN" altLang="en-US" sz="2400" dirty="0">
                <a:solidFill>
                  <a:srgbClr val="FF0000"/>
                </a:solidFill>
                <a:ea typeface="黑体" panose="02010609060101010101" charset="-122"/>
                <a:sym typeface="+mn-ea"/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  <a:ea typeface="黑体" panose="02010609060101010101" charset="-122"/>
                <a:sym typeface="+mn-ea"/>
              </a:rPr>
              <a:t>outerText</a:t>
            </a:r>
            <a:r>
              <a:rPr lang="zh-CN" altLang="en-US" sz="2400" dirty="0">
                <a:solidFill>
                  <a:srgbClr val="FF0000"/>
                </a:solidFill>
                <a:ea typeface="黑体" panose="02010609060101010101" charset="-122"/>
                <a:sym typeface="+mn-ea"/>
              </a:rPr>
              <a:t>属性</a:t>
            </a:r>
            <a:endParaRPr lang="zh-CN" altLang="en-US" sz="2400" dirty="0">
              <a:solidFill>
                <a:srgbClr val="FF0000"/>
              </a:solidFill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outerHTML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outerText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属性替换的是整个目标节点，也就是这两个属性还对元素本身进行修改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。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endParaRPr lang="zh-CN" altLang="en-US" sz="2400" b="1" dirty="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TABLE_BEAUTIFY" val="smartTable{d8857f87-a962-4d8f-b8d7-8586ff51e2ef}"/>
  <p:tag name="TABLE_ENDDRAG_ORIGIN_RECT" val="909*362"/>
  <p:tag name="TABLE_ENDDRAG_RECT" val="32*97*909*362"/>
</p:tagLst>
</file>

<file path=ppt/tags/tag2.xml><?xml version="1.0" encoding="utf-8"?>
<p:tagLst xmlns:p="http://schemas.openxmlformats.org/presentationml/2006/main">
  <p:tag name="KSO_WM_UNIT_TABLE_BEAUTIFY" val="smartTable{d4536c49-a3c6-4c16-96ea-a7c9987c7388}"/>
  <p:tag name="TABLE_ENDDRAG_ORIGIN_RECT" val="647*305"/>
  <p:tag name="TABLE_ENDDRAG_RECT" val="54*88*647*305"/>
</p:tagLst>
</file>

<file path=ppt/tags/tag3.xml><?xml version="1.0" encoding="utf-8"?>
<p:tagLst xmlns:p="http://schemas.openxmlformats.org/presentationml/2006/main">
  <p:tag name="KSO_WM_UNIT_TABLE_BEAUTIFY" val="smartTable{91a6659b-f4be-424a-bd3a-401010dd4e00}"/>
</p:tagLst>
</file>

<file path=ppt/tags/tag4.xml><?xml version="1.0" encoding="utf-8"?>
<p:tagLst xmlns:p="http://schemas.openxmlformats.org/presentationml/2006/main">
  <p:tag name="KSO_WM_UNIT_TABLE_BEAUTIFY" val="smartTable{5d15dc8f-c45f-4794-9285-aa6cee2e1014}"/>
  <p:tag name="TABLE_ENDDRAG_ORIGIN_RECT" val="798*120"/>
  <p:tag name="TABLE_ENDDRAG_RECT" val="49*379*798*120"/>
</p:tagLst>
</file>

<file path=ppt/tags/tag5.xml><?xml version="1.0" encoding="utf-8"?>
<p:tagLst xmlns:p="http://schemas.openxmlformats.org/presentationml/2006/main">
  <p:tag name="COMMONDATA" val="eyJoZGlkIjoiNTgzMDVjZmVmMDc1ZGU4NzRlZDJjNzU2ZjBhYjQzZGIifQ=="/>
  <p:tag name="KSO_WPP_MARK_KEY" val="d0b6d5e3-32c7-4046-acfd-60edbe067923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思源黑体 CN Medium"/>
        <a:ea typeface="思源黑体 CN Medium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22326</Words>
  <Application>WPS 演示</Application>
  <PresentationFormat>宽屏</PresentationFormat>
  <Paragraphs>1690</Paragraphs>
  <Slides>112</Slides>
  <Notes>108</Notes>
  <HiddenSlides>0</HiddenSlides>
  <MMClips>1</MMClips>
  <ScaleCrop>false</ScaleCrop>
  <HeadingPairs>
    <vt:vector size="8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112</vt:i4>
      </vt:variant>
    </vt:vector>
  </HeadingPairs>
  <TitlesOfParts>
    <vt:vector size="140" baseType="lpstr">
      <vt:lpstr>Arial</vt:lpstr>
      <vt:lpstr>宋体</vt:lpstr>
      <vt:lpstr>Wingdings</vt:lpstr>
      <vt:lpstr>Times New Roman</vt:lpstr>
      <vt:lpstr>隶书</vt:lpstr>
      <vt:lpstr>楷体</vt:lpstr>
      <vt:lpstr>思源黑体 CN Medium</vt:lpstr>
      <vt:lpstr>黑体</vt:lpstr>
      <vt:lpstr>思源黑体 CN Normal</vt:lpstr>
      <vt:lpstr>字魂71号-御守锦书</vt:lpstr>
      <vt:lpstr>思源黑体 CN Normal</vt:lpstr>
      <vt:lpstr>思源黑体 CN Bold</vt:lpstr>
      <vt:lpstr>楷体_GB2312</vt:lpstr>
      <vt:lpstr>新宋体</vt:lpstr>
      <vt:lpstr>Comic Sans MS</vt:lpstr>
      <vt:lpstr>Consolas</vt:lpstr>
      <vt:lpstr>微软雅黑</vt:lpstr>
      <vt:lpstr>Arial Unicode MS</vt:lpstr>
      <vt:lpstr>等线</vt:lpstr>
      <vt:lpstr>Wingdings</vt:lpstr>
      <vt:lpstr>Symbol</vt:lpstr>
      <vt:lpstr>Source Code Pro Light</vt:lpstr>
      <vt:lpstr>Segoe Print</vt:lpstr>
      <vt:lpstr>Courier New</vt:lpstr>
      <vt:lpstr>Calibri</vt:lpstr>
      <vt:lpstr>1_Office 主题​​</vt:lpstr>
      <vt:lpstr>Word.Document.8</vt:lpstr>
      <vt:lpstr>Paint.Picture</vt:lpstr>
      <vt:lpstr>JavaScript简介</vt:lpstr>
      <vt:lpstr>PowerPoint 演示文稿</vt:lpstr>
      <vt:lpstr>语句</vt:lpstr>
      <vt:lpstr>语句</vt:lpstr>
      <vt:lpstr>语句</vt:lpstr>
      <vt:lpstr>网页中引入JavaScript</vt:lpstr>
      <vt:lpstr>JavaScript的保留关键字</vt:lpstr>
      <vt:lpstr>PowerPoint 演示文稿</vt:lpstr>
      <vt:lpstr>变量</vt:lpstr>
      <vt:lpstr>变量</vt:lpstr>
      <vt:lpstr>变量</vt:lpstr>
      <vt:lpstr>数组</vt:lpstr>
      <vt:lpstr>数组</vt:lpstr>
      <vt:lpstr>PowerPoint 演示文稿</vt:lpstr>
      <vt:lpstr>String数据类型</vt:lpstr>
      <vt:lpstr>数值数据类型</vt:lpstr>
      <vt:lpstr>其他类型</vt:lpstr>
      <vt:lpstr>PowerPoint 演示文稿</vt:lpstr>
      <vt:lpstr>算术运算符</vt:lpstr>
      <vt:lpstr>逻辑运算符</vt:lpstr>
      <vt:lpstr>字符串运算符</vt:lpstr>
      <vt:lpstr>关系运算符</vt:lpstr>
      <vt:lpstr>条件运算符</vt:lpstr>
      <vt:lpstr>比较运算</vt:lpstr>
      <vt:lpstr>比较运算</vt:lpstr>
      <vt:lpstr>运算符优先级</vt:lpstr>
      <vt:lpstr>PowerPoint 演示文稿</vt:lpstr>
      <vt:lpstr>if语句</vt:lpstr>
      <vt:lpstr>switch语句</vt:lpstr>
      <vt:lpstr>switch语句</vt:lpstr>
      <vt:lpstr>循环语句</vt:lpstr>
      <vt:lpstr>循环语句</vt:lpstr>
      <vt:lpstr>for……in语句</vt:lpstr>
      <vt:lpstr>for……in语句</vt:lpstr>
      <vt:lpstr>for……in语句</vt:lpstr>
      <vt:lpstr>课堂练习</vt:lpstr>
      <vt:lpstr>while语句</vt:lpstr>
      <vt:lpstr>do-while语句</vt:lpstr>
      <vt:lpstr>break和continue语句</vt:lpstr>
      <vt:lpstr>break和continue语句</vt:lpstr>
      <vt:lpstr>break和continue语句</vt:lpstr>
      <vt:lpstr>PowerPoint 演示文稿</vt:lpstr>
      <vt:lpstr>函数定义</vt:lpstr>
      <vt:lpstr>函数定义</vt:lpstr>
      <vt:lpstr>函数调用</vt:lpstr>
      <vt:lpstr>函数调用</vt:lpstr>
      <vt:lpstr>函数调用</vt:lpstr>
      <vt:lpstr>匿名函数</vt:lpstr>
      <vt:lpstr>匿名函数作为事件回调</vt:lpstr>
      <vt:lpstr>JavaScript的常用函数</vt:lpstr>
      <vt:lpstr>JavaScript的常用函数</vt:lpstr>
      <vt:lpstr>JavaScript的常用函数</vt:lpstr>
      <vt:lpstr>JavaScript的常用函数</vt:lpstr>
      <vt:lpstr>JavaScript的常用函数</vt:lpstr>
      <vt:lpstr>PowerPoint 演示文稿</vt:lpstr>
      <vt:lpstr>PowerPoint 演示文稿</vt:lpstr>
      <vt:lpstr>PowerPoint 演示文稿</vt:lpstr>
      <vt:lpstr>PowerPoint 演示文稿</vt:lpstr>
      <vt:lpstr>单击事件</vt:lpstr>
      <vt:lpstr>单击事件</vt:lpstr>
      <vt:lpstr>onchange事件</vt:lpstr>
      <vt:lpstr>onchange事件</vt:lpstr>
      <vt:lpstr>PowerPoint 演示文稿</vt:lpstr>
      <vt:lpstr>JavaScript的对象</vt:lpstr>
      <vt:lpstr>自定义对象</vt:lpstr>
      <vt:lpstr>JavaScript内置对象</vt:lpstr>
      <vt:lpstr>JavaScript内置对象</vt:lpstr>
      <vt:lpstr>JavaScript内置对象</vt:lpstr>
      <vt:lpstr>JavaScript内置对象</vt:lpstr>
      <vt:lpstr>JavaScript内置对象</vt:lpstr>
      <vt:lpstr>JavaScript内置对象</vt:lpstr>
      <vt:lpstr>JavaScript内置对象</vt:lpstr>
      <vt:lpstr>对象处理语句</vt:lpstr>
      <vt:lpstr>对象处理语句</vt:lpstr>
      <vt:lpstr>对象处理语句</vt:lpstr>
      <vt:lpstr>对象处理语句</vt:lpstr>
      <vt:lpstr>PowerPoint 演示文稿</vt:lpstr>
      <vt:lpstr>JavaScript浏览器对象模型（BOM）</vt:lpstr>
      <vt:lpstr>浏览器对象层次结构</vt:lpstr>
      <vt:lpstr>浏览器对象层次结构</vt:lpstr>
      <vt:lpstr>window对象</vt:lpstr>
      <vt:lpstr>window对象</vt:lpstr>
      <vt:lpstr>window对象</vt:lpstr>
      <vt:lpstr>window对象</vt:lpstr>
      <vt:lpstr>window对象</vt:lpstr>
      <vt:lpstr>window对象</vt:lpstr>
      <vt:lpstr>history对象</vt:lpstr>
      <vt:lpstr>history对象</vt:lpstr>
      <vt:lpstr>navigator对象</vt:lpstr>
      <vt:lpstr>frames对象</vt:lpstr>
      <vt:lpstr>location对象</vt:lpstr>
      <vt:lpstr>location对象</vt:lpstr>
      <vt:lpstr>PowerPoint 演示文稿</vt:lpstr>
      <vt:lpstr>JavaScript文档对象模型（DOM）</vt:lpstr>
      <vt:lpstr>DOM分层</vt:lpstr>
      <vt:lpstr>DOM级别</vt:lpstr>
      <vt:lpstr>DOM对象节点属性</vt:lpstr>
      <vt:lpstr>DOM对象节点属性</vt:lpstr>
      <vt:lpstr>DOM对象节点属性</vt:lpstr>
      <vt:lpstr>节点</vt:lpstr>
      <vt:lpstr>节点</vt:lpstr>
      <vt:lpstr>节点</vt:lpstr>
      <vt:lpstr>节点</vt:lpstr>
      <vt:lpstr>节点</vt:lpstr>
      <vt:lpstr>节点</vt:lpstr>
      <vt:lpstr>获取文档中的指定元素</vt:lpstr>
      <vt:lpstr>获取文档中的指定元素</vt:lpstr>
      <vt:lpstr>获取文档中的指定元素</vt:lpstr>
      <vt:lpstr>获取文档中的指定元素</vt:lpstr>
      <vt:lpstr>获取文档中的指定元素</vt:lpstr>
      <vt:lpstr>与DHTML相对应的DOM</vt:lpstr>
      <vt:lpstr>与DHTML相对应的DOM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Ki怪.</cp:lastModifiedBy>
  <cp:revision>525</cp:revision>
  <dcterms:created xsi:type="dcterms:W3CDTF">2022-03-18T05:08:00Z</dcterms:created>
  <dcterms:modified xsi:type="dcterms:W3CDTF">2023-02-27T09:25:28Z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36C5C34ADABA4F24A2FB85A3B04B4DAE</vt:lpwstr>
  </property>
  <property fmtid="{D5CDD505-2E9C-101B-9397-08002B2CF9AE}" pid="3" name="KSOProductBuildVer">
    <vt:lpwstr>2052-11.1.0.13703</vt:lpwstr>
  </property>
</Properties>
</file>