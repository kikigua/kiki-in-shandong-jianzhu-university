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6" r:id="rId12"/>
    <p:sldId id="272" r:id="rId13"/>
    <p:sldId id="292" r:id="rId14"/>
    <p:sldId id="263" r:id="rId15"/>
    <p:sldId id="264" r:id="rId16"/>
    <p:sldId id="265" r:id="rId17"/>
    <p:sldId id="277" r:id="rId18"/>
    <p:sldId id="278" r:id="rId19"/>
    <p:sldId id="280" r:id="rId20"/>
    <p:sldId id="281" r:id="rId21"/>
    <p:sldId id="282" r:id="rId22"/>
    <p:sldId id="314" r:id="rId23"/>
    <p:sldId id="266" r:id="rId24"/>
    <p:sldId id="267" r:id="rId25"/>
    <p:sldId id="284" r:id="rId26"/>
    <p:sldId id="286" r:id="rId27"/>
    <p:sldId id="285" r:id="rId28"/>
    <p:sldId id="287" r:id="rId29"/>
    <p:sldId id="288" r:id="rId30"/>
    <p:sldId id="289" r:id="rId31"/>
    <p:sldId id="290" r:id="rId32"/>
    <p:sldId id="275" r:id="rId33"/>
    <p:sldId id="270" r:id="rId34"/>
    <p:sldId id="271" r:id="rId35"/>
    <p:sldId id="291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1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2" autoAdjust="0"/>
    <p:restoredTop sz="84675" autoAdjust="0"/>
  </p:normalViewPr>
  <p:slideViewPr>
    <p:cSldViewPr showGuides="1">
      <p:cViewPr varScale="1">
        <p:scale>
          <a:sx n="68" d="100"/>
          <a:sy n="68" d="100"/>
        </p:scale>
        <p:origin x="-1240" y="-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tags" Target="tags/tag4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5A635-4D4C-4A5E-A136-E1D8458797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prstClr val="black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Booklet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小册子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mtClean="0"/>
              <a:t>每当一个相应请求到达时，生成一个新的线程，这样一个进程可以服务多个客户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每当一个相应请求到达时，生成一个新的线程，这样一个进程可以服务多个客户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为了充分利用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协议的功能，一般情况下，都将自己编写的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作为</a:t>
            </a:r>
            <a:r>
              <a:rPr lang="en-US" altLang="zh-CN" dirty="0" err="1" smtClean="0"/>
              <a:t>HttpServlet</a:t>
            </a:r>
            <a:r>
              <a:rPr lang="zh-CN" altLang="en-US" dirty="0" smtClean="0"/>
              <a:t>类的子类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javax.servlet.Servlet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接口中定义了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个方法：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(),service(),destroy()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。这三个方法在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Servlet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生命周期的三个阶段被分别调用。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、初始化阶段：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容器负责    加载 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en-US" altLang="zh-CN" dirty="0" smtClean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创建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类的实例</a:t>
            </a:r>
            <a:r>
              <a:rPr lang="zh-CN" altLang="en-US" dirty="0" smtClean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调用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Servlet 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实例的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init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 )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方法</a:t>
            </a:r>
            <a:r>
              <a:rPr lang="zh-CN" altLang="en-US" dirty="0" smtClean="0">
                <a:ea typeface="宋体" panose="02010600030101010101" pitchFamily="2" charset="-122"/>
              </a:rPr>
              <a:t> 。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、响应客户请求阶段：容器收到客户请求后，将请求对象</a:t>
            </a:r>
            <a:r>
              <a:rPr lang="en-US" altLang="zh-CN" dirty="0" err="1" smtClean="0">
                <a:ea typeface="宋体" panose="02010600030101010101" pitchFamily="2" charset="-122"/>
              </a:rPr>
              <a:t>ServletRequest</a:t>
            </a:r>
            <a:r>
              <a:rPr lang="zh-CN" altLang="en-US" dirty="0" smtClean="0">
                <a:ea typeface="宋体" panose="02010600030101010101" pitchFamily="2" charset="-122"/>
              </a:rPr>
              <a:t>传递给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实例的</a:t>
            </a:r>
            <a:r>
              <a:rPr lang="en-US" altLang="zh-CN" dirty="0" smtClean="0">
                <a:ea typeface="宋体" panose="02010600030101010101" pitchFamily="2" charset="-122"/>
              </a:rPr>
              <a:t>service( ) </a:t>
            </a:r>
            <a:r>
              <a:rPr lang="zh-CN" altLang="en-US" dirty="0" smtClean="0">
                <a:ea typeface="宋体" panose="02010600030101010101" pitchFamily="2" charset="-122"/>
              </a:rPr>
              <a:t>方法。 </a:t>
            </a:r>
            <a:r>
              <a:rPr lang="en-US" altLang="zh-CN" dirty="0" smtClean="0">
                <a:ea typeface="宋体" panose="02010600030101010101" pitchFamily="2" charset="-122"/>
              </a:rPr>
              <a:t>service( ) </a:t>
            </a:r>
            <a:r>
              <a:rPr lang="zh-CN" altLang="en-US" dirty="0" smtClean="0">
                <a:ea typeface="宋体" panose="02010600030101010101" pitchFamily="2" charset="-122"/>
              </a:rPr>
              <a:t>方法负责从请求对象</a:t>
            </a:r>
            <a:r>
              <a:rPr lang="en-US" altLang="zh-CN" dirty="0" err="1" smtClean="0">
                <a:ea typeface="宋体" panose="02010600030101010101" pitchFamily="2" charset="-122"/>
              </a:rPr>
              <a:t>ServletRequest</a:t>
            </a:r>
            <a:r>
              <a:rPr lang="zh-CN" altLang="en-US" dirty="0" smtClean="0">
                <a:ea typeface="宋体" panose="02010600030101010101" pitchFamily="2" charset="-122"/>
              </a:rPr>
              <a:t>中获得请求信息并处理请求。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3</a:t>
            </a:r>
            <a:r>
              <a:rPr lang="zh-CN" altLang="en-US" dirty="0" smtClean="0">
                <a:ea typeface="宋体" panose="02010600030101010101" pitchFamily="2" charset="-122"/>
              </a:rPr>
              <a:t>、终止阶段：当</a:t>
            </a:r>
            <a:r>
              <a:rPr lang="en-US" altLang="zh-CN" dirty="0" smtClean="0">
                <a:ea typeface="宋体" panose="02010600030101010101" pitchFamily="2" charset="-122"/>
              </a:rPr>
              <a:t>Web</a:t>
            </a:r>
            <a:r>
              <a:rPr lang="zh-CN" altLang="en-US" dirty="0" smtClean="0">
                <a:ea typeface="宋体" panose="02010600030101010101" pitchFamily="2" charset="-122"/>
              </a:rPr>
              <a:t>应用被终止或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容器停止运行或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容器重新装载该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时，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容器会调用</a:t>
            </a:r>
            <a:r>
              <a:rPr lang="en-US" altLang="zh-CN" dirty="0" smtClean="0"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destroy( ) 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方法释放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Servlet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</a:rPr>
              <a:t>所占的资源。</a:t>
            </a:r>
            <a:endParaRPr lang="zh-CN" altLang="en-US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HTTP 服务器会将请求信息封装成 ServletRequest 对象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调用 Servlet 容器的 service 方法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Servlet 容器拿到请求后, 根据请求的 URL 和 Servlet 的映射关系, 找到相应的 Servlet, 如果 Servlet 还没有被加载, 就用反射机制创建这个 Servlet, 并调用 Servlet 的 init 方法来完成初始化,</a:t>
            </a:r>
            <a:endParaRPr lang="zh-CN" altLang="en-US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 smtClean="0">
                <a:ea typeface="宋体" panose="02010600030101010101" pitchFamily="2" charset="-122"/>
              </a:rPr>
              <a:t>接着调用 Servlet 的 service 方法来处理请求, 把 ServletResponse 对象返回给 HTTP 服务器, HTTP 服务器会把响应发送给客户端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b="1"/>
              <a:t>init 方法 &amp; destroy 方法</a:t>
            </a:r>
            <a:endParaRPr lang="zh-CN" altLang="en-US" b="1"/>
          </a:p>
          <a:p>
            <a:r>
              <a:rPr lang="zh-CN" altLang="en-US" b="1"/>
              <a:t>Servlet 容器在加载 Servlet 类的时候会调用 init 方法，在卸载的时候会调用 destroy 方法. 可以通过init 方法初始化一些资源, destroy 方法里面释放这些资源.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Spring MVC 中的 DispatcherServlet，就是在 init 方法里创建了自己的 Spring 容器.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serialVersionUID</a:t>
            </a:r>
            <a:r>
              <a:rPr lang="en-US" altLang="zh-CN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java</a:t>
            </a:r>
            <a:r>
              <a:rPr lang="zh-CN" altLang="en-US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的序列化机制，判断类版本是否一致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META-INF/MANIFEST.MF</a:t>
            </a:r>
            <a:endParaRPr lang="zh-CN" altLang="en-US"/>
          </a:p>
          <a:p>
            <a:r>
              <a:rPr lang="zh-CN" altLang="en-US"/>
              <a:t>文件夹：</a:t>
            </a:r>
            <a:endParaRPr lang="zh-CN" altLang="en-US"/>
          </a:p>
          <a:p>
            <a:r>
              <a:rPr lang="zh-CN" altLang="en-US"/>
              <a:t>存放一个信息包，目录中的文件和目录获得Java 2平台的认可与解释，用来配置应用程序、扩展程序、类加载器和服务 manifest.mf文件，在用jar打包时自动生成。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知识点：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动态生成</a:t>
            </a:r>
            <a:r>
              <a:rPr lang="en-US" altLang="zh-CN" dirty="0" smtClean="0"/>
              <a:t>web</a:t>
            </a:r>
            <a:r>
              <a:rPr lang="zh-CN" altLang="en-US" dirty="0" smtClean="0"/>
              <a:t>页面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知识点：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）处理请求参数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）中文乱码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）重定向  </a:t>
            </a:r>
            <a:r>
              <a:rPr lang="en-US" altLang="zh-CN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response.sendRedirect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(“</a:t>
            </a:r>
            <a:r>
              <a:rPr lang="en-US" altLang="zh-CN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  <a:endParaRPr lang="en-US" altLang="zh-CN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&lt;form action=</a:t>
            </a:r>
            <a:r>
              <a:rPr lang="en-US" altLang="zh-CN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"/test/</a:t>
            </a:r>
            <a:r>
              <a:rPr lang="en-US" altLang="zh-CN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RegisterUserServlet</a:t>
            </a:r>
            <a:r>
              <a:rPr lang="en-US" altLang="zh-CN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method="post"&gt;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073C0-6EF3-42BA-A48E-AADC3DAE0F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演示调试方法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楷体" panose="02010609060101010101" charset="-122"/>
                <a:ea typeface="楷体" panose="02010609060101010101" charset="-122"/>
              </a:defRPr>
            </a:lvl1pPr>
            <a:lvl2pPr>
              <a:defRPr>
                <a:latin typeface="楷体" panose="02010609060101010101" charset="-122"/>
                <a:ea typeface="楷体" panose="02010609060101010101" charset="-122"/>
              </a:defRPr>
            </a:lvl2pPr>
            <a:lvl3pPr>
              <a:defRPr>
                <a:latin typeface="楷体" panose="02010609060101010101" charset="-122"/>
                <a:ea typeface="楷体" panose="02010609060101010101" charset="-122"/>
              </a:defRPr>
            </a:lvl3pPr>
            <a:lvl4pPr>
              <a:defRPr>
                <a:latin typeface="楷体" panose="02010609060101010101" charset="-122"/>
                <a:ea typeface="楷体" panose="02010609060101010101" charset="-122"/>
              </a:defRPr>
            </a:lvl4pPr>
            <a:lvl5pPr>
              <a:defRPr>
                <a:latin typeface="楷体" panose="02010609060101010101" charset="-122"/>
                <a:ea typeface="楷体" panose="02010609060101010101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BEB52E-93D1-46BB-A104-321F0DFAE03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</a:t>
            </a:r>
            <a:endParaRPr lang="en-US" altLang="zh-CN" sz="4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Servlet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Servlet</a:t>
            </a:r>
            <a:r>
              <a:rPr lang="zh-CN" altLang="en-US" sz="2800" dirty="0"/>
              <a:t>概述</a:t>
            </a:r>
            <a:endParaRPr lang="zh-CN" altLang="en-US" sz="2800" dirty="0"/>
          </a:p>
          <a:p>
            <a:r>
              <a:rPr lang="en-US" altLang="zh-CN" sz="2800" dirty="0" smtClean="0"/>
              <a:t>Servlet </a:t>
            </a:r>
            <a:r>
              <a:rPr lang="en-US" altLang="zh-CN" sz="2800" dirty="0"/>
              <a:t>API</a:t>
            </a:r>
            <a:r>
              <a:rPr lang="zh-CN" altLang="en-US" sz="2800" dirty="0"/>
              <a:t>简介</a:t>
            </a:r>
            <a:endParaRPr lang="zh-CN" altLang="en-US" sz="2800" dirty="0"/>
          </a:p>
          <a:p>
            <a:r>
              <a:rPr lang="en-US" altLang="zh-CN" sz="2800" dirty="0" smtClean="0"/>
              <a:t>Servlet</a:t>
            </a:r>
            <a:r>
              <a:rPr lang="zh-CN" altLang="en-US" sz="2800" dirty="0"/>
              <a:t>的</a:t>
            </a:r>
            <a:r>
              <a:rPr lang="zh-CN" altLang="en-US" sz="2800" dirty="0" smtClean="0"/>
              <a:t>生命周期</a:t>
            </a:r>
            <a:endParaRPr lang="en-US" altLang="zh-CN" sz="2800" dirty="0" smtClean="0"/>
          </a:p>
          <a:p>
            <a:r>
              <a:rPr lang="en-US" altLang="zh-CN" sz="2800" dirty="0" smtClean="0"/>
              <a:t>Servlet</a:t>
            </a:r>
            <a:r>
              <a:rPr lang="zh-CN" altLang="en-US" sz="2800" dirty="0" smtClean="0"/>
              <a:t>编写和部署过程</a:t>
            </a:r>
            <a:endParaRPr lang="zh-CN" altLang="en-US" sz="2800" dirty="0"/>
          </a:p>
          <a:p>
            <a:r>
              <a:rPr lang="en-US" altLang="zh-CN" sz="2800" dirty="0" smtClean="0"/>
              <a:t>Java </a:t>
            </a:r>
            <a:r>
              <a:rPr lang="en-US" altLang="zh-CN" sz="2800" dirty="0"/>
              <a:t>EE web</a:t>
            </a:r>
            <a:r>
              <a:rPr lang="zh-CN" altLang="en-US" sz="2800" dirty="0" smtClean="0"/>
              <a:t>应用简介</a:t>
            </a:r>
            <a:endParaRPr lang="zh-CN" altLang="en-US" sz="2800" dirty="0"/>
          </a:p>
          <a:p>
            <a:r>
              <a:rPr lang="en-US" altLang="zh-CN" sz="2800" dirty="0" smtClean="0"/>
              <a:t>Servlet</a:t>
            </a:r>
            <a:r>
              <a:rPr lang="zh-CN" altLang="en-US" sz="2800" dirty="0" smtClean="0"/>
              <a:t>示例</a:t>
            </a:r>
            <a:endParaRPr lang="en-US" altLang="zh-CN" sz="2800" dirty="0" smtClean="0"/>
          </a:p>
          <a:p>
            <a:r>
              <a:rPr lang="zh-CN" altLang="en-US" sz="2800" dirty="0" smtClean="0"/>
              <a:t>小结</a:t>
            </a:r>
            <a:endParaRPr lang="en-US" altLang="zh-CN" sz="28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330" y="1135380"/>
            <a:ext cx="9433560" cy="5113020"/>
          </a:xfrm>
        </p:spPr>
        <p:txBody>
          <a:bodyPr/>
          <a:lstStyle/>
          <a:p>
            <a:r>
              <a:rPr lang="en-US" altLang="zh-CN" dirty="0" smtClean="0"/>
              <a:t>Booklet=</a:t>
            </a:r>
            <a:r>
              <a:rPr lang="en-US" altLang="zh-CN" dirty="0" err="1" smtClean="0"/>
              <a:t>book+let</a:t>
            </a:r>
            <a:endParaRPr lang="en-US" altLang="zh-CN" dirty="0" smtClean="0"/>
          </a:p>
          <a:p>
            <a:r>
              <a:rPr lang="en-US" altLang="zh-CN" dirty="0" smtClean="0"/>
              <a:t>Applet=application +let </a:t>
            </a:r>
            <a:r>
              <a:rPr lang="zh-CN" altLang="en-US" dirty="0" smtClean="0"/>
              <a:t>小应用程序</a:t>
            </a:r>
            <a:endParaRPr lang="en-US" altLang="zh-CN" dirty="0" smtClean="0"/>
          </a:p>
          <a:p>
            <a:r>
              <a:rPr lang="en-US" altLang="zh-CN" dirty="0" smtClean="0"/>
              <a:t>Servlet=</a:t>
            </a:r>
            <a:r>
              <a:rPr lang="en-US" altLang="zh-CN" dirty="0" err="1" smtClean="0"/>
              <a:t>server+let</a:t>
            </a:r>
            <a:endParaRPr lang="en-US" altLang="zh-CN" dirty="0" smtClean="0"/>
          </a:p>
          <a:p>
            <a:pPr lvl="1"/>
            <a:r>
              <a:rPr lang="zh-CN" altLang="en-US" dirty="0"/>
              <a:t>服务器</a:t>
            </a:r>
            <a:r>
              <a:rPr lang="zh-CN" altLang="en-US" dirty="0" smtClean="0"/>
              <a:t>端的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小程序</a:t>
            </a:r>
            <a:endParaRPr lang="en-US" altLang="zh-CN" dirty="0" smtClean="0"/>
          </a:p>
          <a:p>
            <a:pPr lvl="1"/>
            <a:r>
              <a:rPr lang="zh-CN" altLang="en-US" dirty="0"/>
              <a:t>是在服务器</a:t>
            </a:r>
            <a:r>
              <a:rPr lang="zh-CN" altLang="en-US" dirty="0" smtClean="0"/>
              <a:t>端生成动态网页的一种方式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Web</a:t>
            </a:r>
            <a:r>
              <a:rPr lang="zh-CN" altLang="en-US" dirty="0" smtClean="0"/>
              <a:t>组件，由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服务器</a:t>
            </a:r>
            <a:r>
              <a:rPr lang="en-US" altLang="zh-CN" dirty="0" smtClean="0"/>
              <a:t>(Tomcat</a:t>
            </a:r>
            <a:r>
              <a:rPr lang="zh-CN" altLang="en-US" dirty="0" smtClean="0"/>
              <a:t>等</a:t>
            </a:r>
            <a:r>
              <a:rPr lang="en-US" altLang="zh-CN" dirty="0" smtClean="0"/>
              <a:t>)</a:t>
            </a:r>
            <a:r>
              <a:rPr lang="zh-CN" altLang="en-US" dirty="0" smtClean="0"/>
              <a:t>加载和运行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accent2"/>
              </a:buClr>
              <a:buSzPct val="90000"/>
              <a:buFont typeface="Monotype Sorts" pitchFamily="2" charset="2"/>
              <a:buChar char="ª"/>
            </a:pPr>
            <a:r>
              <a:rPr lang="zh-CN" altLang="en-US" dirty="0"/>
              <a:t>采用“请求</a:t>
            </a:r>
            <a:r>
              <a:rPr lang="en-US" altLang="zh-CN" dirty="0"/>
              <a:t>/</a:t>
            </a:r>
            <a:r>
              <a:rPr lang="zh-CN" altLang="en-US" dirty="0"/>
              <a:t>响应”模式与客户端（浏览器）进行</a:t>
            </a:r>
            <a:r>
              <a:rPr lang="zh-CN" altLang="en-US" dirty="0" smtClean="0"/>
              <a:t>通信</a:t>
            </a:r>
            <a:endParaRPr lang="en-US" altLang="zh-CN" dirty="0" smtClean="0"/>
          </a:p>
          <a:p>
            <a:pPr marL="685800" lvl="2" indent="-342900">
              <a:buClr>
                <a:schemeClr val="accent2"/>
              </a:buClr>
              <a:buSzPct val="90000"/>
              <a:buFont typeface="Monotype Sorts" pitchFamily="2" charset="2"/>
              <a:buChar char="ª"/>
            </a:pPr>
            <a:r>
              <a:rPr lang="zh-CN" altLang="en-US" dirty="0"/>
              <a:t>处理</a:t>
            </a:r>
            <a:r>
              <a:rPr lang="zh-CN" altLang="en-US" dirty="0" smtClean="0"/>
              <a:t>请求，返回响应</a:t>
            </a:r>
            <a:endParaRPr lang="zh-CN" altLang="en-US" dirty="0"/>
          </a:p>
        </p:txBody>
      </p:sp>
      <p:grpSp>
        <p:nvGrpSpPr>
          <p:cNvPr id="4" name="Group 4"/>
          <p:cNvGrpSpPr/>
          <p:nvPr/>
        </p:nvGrpSpPr>
        <p:grpSpPr bwMode="auto">
          <a:xfrm>
            <a:off x="2279650" y="2789239"/>
            <a:ext cx="7543800" cy="1792287"/>
            <a:chOff x="432" y="2880"/>
            <a:chExt cx="4752" cy="1129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432" y="3126"/>
              <a:ext cx="912" cy="57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600">
                  <a:cs typeface="Times New Roman" panose="02020603050405020304" pitchFamily="18" charset="0"/>
                </a:rPr>
                <a:t>Web</a:t>
              </a:r>
              <a:endParaRPr lang="en-US" altLang="zh-CN" sz="2600"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2600">
                  <a:cs typeface="Times New Roman" panose="02020603050405020304" pitchFamily="18" charset="0"/>
                </a:rPr>
                <a:t>浏览器</a:t>
              </a:r>
              <a:endParaRPr lang="zh-CN" altLang="en-US" sz="2600">
                <a:cs typeface="Times New Roman" panose="02020603050405020304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2880" y="3078"/>
              <a:ext cx="960" cy="672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600" dirty="0">
                  <a:cs typeface="Times New Roman" panose="02020603050405020304" pitchFamily="18" charset="0"/>
                </a:rPr>
                <a:t>Web</a:t>
              </a:r>
              <a:endParaRPr lang="en-US" altLang="zh-CN" sz="2600" dirty="0"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2600" dirty="0">
                  <a:cs typeface="Times New Roman" panose="02020603050405020304" pitchFamily="18" charset="0"/>
                </a:rPr>
                <a:t>服务器</a:t>
              </a:r>
              <a:endParaRPr lang="zh-CN" altLang="en-US" sz="2600" dirty="0">
                <a:cs typeface="Times New Roman" panose="02020603050405020304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396" y="2880"/>
              <a:ext cx="18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600">
                  <a:cs typeface="Times New Roman" panose="02020603050405020304" pitchFamily="18" charset="0"/>
                </a:rPr>
                <a:t>HTTP </a:t>
              </a:r>
              <a:r>
                <a:rPr lang="zh-CN" altLang="en-US" sz="2600">
                  <a:cs typeface="Times New Roman" panose="02020603050405020304" pitchFamily="18" charset="0"/>
                </a:rPr>
                <a:t>请求</a:t>
              </a:r>
              <a:endParaRPr lang="zh-CN" altLang="en-US" sz="2600">
                <a:cs typeface="Times New Roman" panose="02020603050405020304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354" y="3673"/>
              <a:ext cx="16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600">
                  <a:cs typeface="Times New Roman" panose="02020603050405020304" pitchFamily="18" charset="0"/>
                </a:rPr>
                <a:t>HTTP </a:t>
              </a:r>
              <a:r>
                <a:rPr lang="zh-CN" altLang="en-US" sz="2600">
                  <a:cs typeface="Times New Roman" panose="02020603050405020304" pitchFamily="18" charset="0"/>
                </a:rPr>
                <a:t>响应</a:t>
              </a:r>
              <a:endParaRPr lang="zh-CN" altLang="en-US" sz="2600">
                <a:cs typeface="Times New Roman" panose="02020603050405020304" pitchFamily="18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4272" y="3246"/>
              <a:ext cx="912" cy="336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600" dirty="0">
                  <a:cs typeface="Times New Roman" panose="02020603050405020304" pitchFamily="18" charset="0"/>
                </a:rPr>
                <a:t>Servlet</a:t>
              </a:r>
              <a:endParaRPr lang="en-US" altLang="zh-CN" sz="2600" dirty="0"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1356" y="3210"/>
              <a:ext cx="1536" cy="144"/>
            </a:xfrm>
            <a:prstGeom prst="rightArrow">
              <a:avLst>
                <a:gd name="adj1" fmla="val 50000"/>
                <a:gd name="adj2" fmla="val 266667"/>
              </a:avLst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utoShape 11"/>
            <p:cNvSpPr>
              <a:spLocks noChangeArrowheads="1"/>
            </p:cNvSpPr>
            <p:nvPr/>
          </p:nvSpPr>
          <p:spPr bwMode="auto">
            <a:xfrm>
              <a:off x="3840" y="3222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 rot="10800000">
              <a:off x="1332" y="3462"/>
              <a:ext cx="1536" cy="144"/>
            </a:xfrm>
            <a:prstGeom prst="rightArrow">
              <a:avLst>
                <a:gd name="adj1" fmla="val 50000"/>
                <a:gd name="adj2" fmla="val 266667"/>
              </a:avLst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3828" y="3426"/>
              <a:ext cx="432" cy="192"/>
            </a:xfrm>
            <a:prstGeom prst="leftArrow">
              <a:avLst>
                <a:gd name="adj1" fmla="val 50000"/>
                <a:gd name="adj2" fmla="val 56250"/>
              </a:avLst>
            </a:prstGeom>
            <a:noFill/>
            <a:ln w="9525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优点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易开发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由于支持内置对象（如：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等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Servlet </a:t>
            </a:r>
            <a:r>
              <a:rPr lang="zh-CN" altLang="en-US" dirty="0" smtClean="0"/>
              <a:t>不需要处理参数传递及解析</a:t>
            </a:r>
            <a:endParaRPr lang="en-US" altLang="zh-CN" dirty="0" smtClean="0"/>
          </a:p>
          <a:p>
            <a:pPr lvl="1"/>
            <a:r>
              <a:rPr lang="zh-CN" altLang="en-US" dirty="0"/>
              <a:t>可</a:t>
            </a:r>
            <a:r>
              <a:rPr lang="zh-CN" altLang="en-US" dirty="0" smtClean="0"/>
              <a:t>移植、易开发、稳健（继承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的优势）</a:t>
            </a:r>
            <a:endParaRPr lang="en-US" altLang="zh-CN" dirty="0" smtClean="0"/>
          </a:p>
          <a:p>
            <a:pPr lvl="1"/>
            <a:r>
              <a:rPr lang="zh-CN" altLang="en-US" dirty="0"/>
              <a:t>节省了内存和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资源的消耗</a:t>
            </a:r>
            <a:endParaRPr lang="en-US" altLang="zh-CN" dirty="0" smtClean="0"/>
          </a:p>
          <a:p>
            <a:pPr lvl="2"/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被客户端发送的第一个请求激活，直到</a:t>
            </a:r>
            <a:r>
              <a:rPr lang="en-US" altLang="zh-CN" dirty="0" smtClean="0"/>
              <a:t>Web </a:t>
            </a:r>
            <a:r>
              <a:rPr lang="zh-CN" altLang="en-US" dirty="0" smtClean="0"/>
              <a:t>服务器卸载时才被卸载。在这个期间，该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一直在等待以后请求。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1990" y="1207135"/>
            <a:ext cx="9833610" cy="51130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的主要功能</a:t>
            </a:r>
            <a:endParaRPr lang="en-US" altLang="zh-CN" dirty="0" smtClean="0"/>
          </a:p>
          <a:p>
            <a:pPr lvl="1"/>
            <a:r>
              <a:rPr lang="zh-CN" altLang="en-US" dirty="0"/>
              <a:t>动态</a:t>
            </a:r>
            <a:r>
              <a:rPr lang="zh-CN" altLang="en-US" dirty="0" smtClean="0"/>
              <a:t>生成</a:t>
            </a:r>
            <a:r>
              <a:rPr lang="en-US" altLang="zh-CN" dirty="0" smtClean="0"/>
              <a:t>web</a:t>
            </a:r>
            <a:r>
              <a:rPr lang="zh-CN" altLang="en-US" dirty="0" smtClean="0"/>
              <a:t>页面（最初用法）</a:t>
            </a:r>
            <a:endParaRPr lang="en-US" altLang="zh-CN" dirty="0" smtClean="0"/>
          </a:p>
          <a:p>
            <a:pPr lvl="1"/>
            <a:r>
              <a:rPr lang="zh-CN" altLang="en-US" dirty="0"/>
              <a:t>处理客户端</a:t>
            </a:r>
            <a:r>
              <a:rPr lang="zh-CN" altLang="en-US" dirty="0" smtClean="0"/>
              <a:t>的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表单输入</a:t>
            </a:r>
            <a:endParaRPr lang="en-US" altLang="zh-CN" dirty="0" smtClean="0"/>
          </a:p>
          <a:p>
            <a:pPr lvl="1"/>
            <a:r>
              <a:rPr lang="zh-CN" altLang="en-US" dirty="0"/>
              <a:t>与服务器资源</a:t>
            </a:r>
            <a:r>
              <a:rPr lang="zh-CN" altLang="en-US" dirty="0" smtClean="0"/>
              <a:t>交互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</a:t>
            </a:r>
            <a:r>
              <a:rPr lang="en-US" altLang="zh-CN" dirty="0" smtClean="0"/>
              <a:t>JDBC</a:t>
            </a:r>
            <a:r>
              <a:rPr lang="zh-CN" altLang="en-US" dirty="0" smtClean="0"/>
              <a:t>访问数据库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与</a:t>
            </a:r>
            <a:r>
              <a:rPr lang="en-US" altLang="zh-CN" dirty="0" smtClean="0"/>
              <a:t>JavaBean</a:t>
            </a:r>
            <a:r>
              <a:rPr lang="zh-CN" altLang="en-US" dirty="0" smtClean="0"/>
              <a:t>或</a:t>
            </a:r>
            <a:r>
              <a:rPr lang="en-US" altLang="zh-CN" dirty="0" smtClean="0"/>
              <a:t>EJB</a:t>
            </a:r>
            <a:r>
              <a:rPr lang="zh-CN" altLang="en-US" dirty="0" smtClean="0"/>
              <a:t>组件交互</a:t>
            </a:r>
            <a:endParaRPr lang="en-US" altLang="zh-CN" dirty="0" smtClean="0"/>
          </a:p>
          <a:p>
            <a:pPr lvl="2"/>
            <a:r>
              <a:rPr lang="zh-CN" altLang="en-US" dirty="0"/>
              <a:t>调用业务逻辑</a:t>
            </a:r>
            <a:r>
              <a:rPr lang="zh-CN" altLang="en-US" dirty="0" smtClean="0"/>
              <a:t>组件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视图派发</a:t>
            </a:r>
            <a:endParaRPr lang="en-US" altLang="zh-CN" dirty="0" smtClean="0"/>
          </a:p>
          <a:p>
            <a:pPr lvl="2"/>
            <a:r>
              <a:rPr lang="zh-CN" altLang="zh-CN" dirty="0"/>
              <a:t>将</a:t>
            </a:r>
            <a:r>
              <a:rPr lang="en-US" altLang="zh-CN" dirty="0"/>
              <a:t>JSP</a:t>
            </a:r>
            <a:r>
              <a:rPr lang="zh-CN" altLang="zh-CN" dirty="0"/>
              <a:t>或</a:t>
            </a:r>
            <a:r>
              <a:rPr lang="en-US" altLang="zh-CN" dirty="0"/>
              <a:t>html</a:t>
            </a:r>
            <a:r>
              <a:rPr lang="zh-CN" altLang="zh-CN" dirty="0"/>
              <a:t>或</a:t>
            </a:r>
            <a:r>
              <a:rPr lang="en-US" altLang="zh-CN" dirty="0"/>
              <a:t>Servlet</a:t>
            </a:r>
            <a:r>
              <a:rPr lang="zh-CN" altLang="zh-CN" dirty="0"/>
              <a:t>等视图派发到</a:t>
            </a:r>
            <a:r>
              <a:rPr lang="zh-CN" altLang="zh-CN" dirty="0" smtClean="0"/>
              <a:t>客户端</a:t>
            </a:r>
            <a:endParaRPr lang="en-US" altLang="zh-CN" dirty="0" smtClean="0"/>
          </a:p>
          <a:p>
            <a:pPr lvl="1"/>
            <a:r>
              <a:rPr lang="zh-CN" altLang="en-US" dirty="0"/>
              <a:t>处理来自许多客户的</a:t>
            </a:r>
            <a:r>
              <a:rPr lang="zh-CN" altLang="en-US" dirty="0" smtClean="0"/>
              <a:t>输入</a:t>
            </a:r>
            <a:endParaRPr lang="en-US" altLang="zh-CN" dirty="0"/>
          </a:p>
          <a:p>
            <a:pPr lvl="2"/>
            <a:r>
              <a:rPr lang="zh-CN" altLang="en-US" dirty="0" smtClean="0"/>
              <a:t>采用多线程方式为多个客户服务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135380"/>
            <a:ext cx="11072495" cy="511302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 API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规范定义的一套专门用于开发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程序的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类和接口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由两个包组成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 (</a:t>
            </a:r>
            <a:r>
              <a:rPr lang="zh-CN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jakarta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javax.servlet.http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jakarta.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.http)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任何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类必须实现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javax.servlet.Servlet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为了充分利用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协议的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b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通常将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自己编写的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HttpServlet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类的子类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243360" y="2127314"/>
            <a:ext cx="4572720" cy="3318669"/>
            <a:chOff x="4571297" y="2142455"/>
            <a:chExt cx="4465200" cy="3806825"/>
          </a:xfrm>
        </p:grpSpPr>
        <p:grpSp>
          <p:nvGrpSpPr>
            <p:cNvPr id="19" name="Group 12"/>
            <p:cNvGrpSpPr/>
            <p:nvPr/>
          </p:nvGrpSpPr>
          <p:grpSpPr bwMode="auto">
            <a:xfrm>
              <a:off x="4932040" y="2142455"/>
              <a:ext cx="3744093" cy="609600"/>
              <a:chOff x="1584" y="1824"/>
              <a:chExt cx="2064" cy="384"/>
            </a:xfrm>
          </p:grpSpPr>
          <p:sp>
            <p:nvSpPr>
              <p:cNvPr id="20" name="Rectangle 13"/>
              <p:cNvSpPr>
                <a:spLocks noChangeArrowheads="1"/>
              </p:cNvSpPr>
              <p:nvPr/>
            </p:nvSpPr>
            <p:spPr bwMode="auto">
              <a:xfrm>
                <a:off x="1680" y="1828"/>
                <a:ext cx="181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en-US" altLang="zh-CN" sz="2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javax.servlet.Servlet</a:t>
                </a:r>
                <a:endParaRPr lang="en-US" altLang="zh-CN" sz="2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Oval 14"/>
              <p:cNvSpPr>
                <a:spLocks noChangeArrowheads="1"/>
              </p:cNvSpPr>
              <p:nvPr/>
            </p:nvSpPr>
            <p:spPr bwMode="auto">
              <a:xfrm>
                <a:off x="1584" y="1824"/>
                <a:ext cx="2064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23"/>
            <p:cNvGrpSpPr/>
            <p:nvPr/>
          </p:nvGrpSpPr>
          <p:grpSpPr bwMode="auto">
            <a:xfrm>
              <a:off x="4572001" y="3150518"/>
              <a:ext cx="4464496" cy="720725"/>
              <a:chOff x="2789" y="1933"/>
              <a:chExt cx="2586" cy="454"/>
            </a:xfrm>
          </p:grpSpPr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2835" y="2024"/>
                <a:ext cx="2358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en-US" altLang="zh-CN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javax.servlet.GenericServle</a:t>
                </a:r>
                <a:r>
                  <a:rPr lang="en-US" altLang="zh-CN" sz="2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Oval 15"/>
              <p:cNvSpPr>
                <a:spLocks noChangeArrowheads="1"/>
              </p:cNvSpPr>
              <p:nvPr/>
            </p:nvSpPr>
            <p:spPr bwMode="auto">
              <a:xfrm>
                <a:off x="2789" y="1933"/>
                <a:ext cx="2586" cy="45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>
              <a:off x="5296346" y="5187280"/>
              <a:ext cx="3276600" cy="762000"/>
              <a:chOff x="3019" y="3216"/>
              <a:chExt cx="2064" cy="480"/>
            </a:xfrm>
          </p:grpSpPr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3157" y="3279"/>
                <a:ext cx="181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zh-CN" altLang="en-US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自定义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Servlet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Oval 16"/>
              <p:cNvSpPr>
                <a:spLocks noChangeArrowheads="1"/>
              </p:cNvSpPr>
              <p:nvPr/>
            </p:nvSpPr>
            <p:spPr bwMode="auto">
              <a:xfrm>
                <a:off x="3019" y="3216"/>
                <a:ext cx="2064" cy="4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Group 24"/>
            <p:cNvGrpSpPr/>
            <p:nvPr/>
          </p:nvGrpSpPr>
          <p:grpSpPr bwMode="auto">
            <a:xfrm>
              <a:off x="4571297" y="4158580"/>
              <a:ext cx="4354561" cy="609600"/>
              <a:chOff x="2760" y="2568"/>
              <a:chExt cx="2547" cy="384"/>
            </a:xfrm>
          </p:grpSpPr>
          <p:sp>
            <p:nvSpPr>
              <p:cNvPr id="29" name="Rectangle 8"/>
              <p:cNvSpPr>
                <a:spLocks noChangeArrowheads="1"/>
              </p:cNvSpPr>
              <p:nvPr/>
            </p:nvSpPr>
            <p:spPr bwMode="auto">
              <a:xfrm>
                <a:off x="2886" y="2610"/>
                <a:ext cx="230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en-US" altLang="zh-CN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javax.servlet.http.HttpServlet</a:t>
                </a:r>
                <a:endParaRPr lang="en-US" altLang="zh-CN" sz="2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Oval 17"/>
              <p:cNvSpPr>
                <a:spLocks noChangeArrowheads="1"/>
              </p:cNvSpPr>
              <p:nvPr/>
            </p:nvSpPr>
            <p:spPr bwMode="auto">
              <a:xfrm>
                <a:off x="2760" y="2568"/>
                <a:ext cx="2547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Line 18"/>
            <p:cNvSpPr>
              <a:spLocks noChangeShapeType="1"/>
            </p:cNvSpPr>
            <p:nvPr/>
          </p:nvSpPr>
          <p:spPr bwMode="auto">
            <a:xfrm flipV="1">
              <a:off x="6947346" y="2790155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 flipH="1" flipV="1">
              <a:off x="6934646" y="3871242"/>
              <a:ext cx="12700" cy="287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 flipV="1">
              <a:off x="6947346" y="4806280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520" y="1135380"/>
            <a:ext cx="11001375" cy="5113020"/>
          </a:xfrm>
        </p:spPr>
        <p:txBody>
          <a:bodyPr/>
          <a:lstStyle/>
          <a:p>
            <a:r>
              <a:rPr lang="en-US" altLang="zh-CN" dirty="0" err="1" smtClean="0"/>
              <a:t>HttpServlet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 smtClean="0"/>
              <a:t>提供了一个处理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的框架，用来简化</a:t>
            </a:r>
            <a:r>
              <a:rPr lang="en-US" altLang="zh-CN" dirty="0" err="1" smtClean="0"/>
              <a:t>HTTPServlet</a:t>
            </a:r>
            <a:r>
              <a:rPr lang="zh-CN" altLang="en-US" dirty="0" smtClean="0"/>
              <a:t>编写过程。</a:t>
            </a:r>
            <a:endParaRPr lang="en-US" altLang="zh-CN" dirty="0" smtClean="0"/>
          </a:p>
          <a:p>
            <a:pPr lvl="1"/>
            <a:r>
              <a:rPr lang="zh-CN" altLang="en-US" dirty="0"/>
              <a:t>这个类</a:t>
            </a:r>
            <a:r>
              <a:rPr lang="zh-CN" altLang="en-US" dirty="0" smtClean="0"/>
              <a:t>的</a:t>
            </a:r>
            <a:r>
              <a:rPr lang="en-US" altLang="zh-CN" dirty="0" smtClean="0"/>
              <a:t>service()</a:t>
            </a:r>
            <a:r>
              <a:rPr lang="zh-CN" altLang="en-US" dirty="0" smtClean="0"/>
              <a:t>方法支持</a:t>
            </a:r>
            <a:r>
              <a:rPr lang="en-US" altLang="zh-CN" dirty="0" smtClean="0"/>
              <a:t>GET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POST</a:t>
            </a:r>
            <a:r>
              <a:rPr lang="zh-CN" altLang="en-US" dirty="0" smtClean="0"/>
              <a:t>等标准的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通过分别调用</a:t>
            </a:r>
            <a:r>
              <a:rPr lang="en-US" altLang="zh-CN" dirty="0" err="1" smtClean="0">
                <a:solidFill>
                  <a:srgbClr val="FF0000"/>
                </a:solidFill>
              </a:rPr>
              <a:t>doGet</a:t>
            </a:r>
            <a:r>
              <a:rPr lang="zh-CN" altLang="en-US" dirty="0" smtClean="0"/>
              <a:t>和</a:t>
            </a:r>
            <a:r>
              <a:rPr lang="en-US" altLang="zh-CN" dirty="0" err="1" smtClean="0">
                <a:solidFill>
                  <a:srgbClr val="FF0000"/>
                </a:solidFill>
              </a:rPr>
              <a:t>doPost</a:t>
            </a:r>
            <a:r>
              <a:rPr lang="zh-CN" altLang="en-US" dirty="0" smtClean="0"/>
              <a:t>实现支持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service</a:t>
            </a:r>
            <a:r>
              <a:rPr lang="zh-CN" altLang="en-US" dirty="0" smtClean="0"/>
              <a:t>方法是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的核心</a:t>
            </a:r>
            <a:endParaRPr lang="en-US" altLang="zh-CN" dirty="0" smtClean="0"/>
          </a:p>
          <a:p>
            <a:pPr lvl="3"/>
            <a:r>
              <a:rPr lang="zh-CN" altLang="en-US" dirty="0"/>
              <a:t>当</a:t>
            </a:r>
            <a:r>
              <a:rPr lang="zh-CN" altLang="en-US" dirty="0" smtClean="0"/>
              <a:t>客户端请求一个</a:t>
            </a:r>
            <a:r>
              <a:rPr lang="en-US" altLang="zh-CN" dirty="0" err="1" smtClean="0">
                <a:solidFill>
                  <a:srgbClr val="FF0000"/>
                </a:solidFill>
              </a:rPr>
              <a:t>HTTPServlet</a:t>
            </a:r>
            <a:r>
              <a:rPr lang="zh-CN" altLang="en-US" dirty="0" smtClean="0"/>
              <a:t>对象时，它被调用，然后它会调用与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请求方法对应的</a:t>
            </a:r>
            <a:r>
              <a:rPr lang="en-US" altLang="zh-CN" dirty="0" err="1" smtClean="0"/>
              <a:t>doXXX</a:t>
            </a:r>
            <a:r>
              <a:rPr lang="zh-CN" altLang="en-US" dirty="0" smtClean="0"/>
              <a:t>方法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普通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结构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8256240" y="1916832"/>
            <a:ext cx="187220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1152525"/>
            <a:ext cx="11160125" cy="55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/>
          <p:cNvCxnSpPr/>
          <p:nvPr/>
        </p:nvCxnSpPr>
        <p:spPr>
          <a:xfrm flipV="1">
            <a:off x="2915285" y="3524250"/>
            <a:ext cx="682625" cy="63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915285" y="5140325"/>
            <a:ext cx="848360" cy="254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786505" y="3524885"/>
            <a:ext cx="2327275" cy="88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463155" y="3522980"/>
            <a:ext cx="2506345" cy="12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875405" y="5140325"/>
            <a:ext cx="236664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7573645" y="5140325"/>
            <a:ext cx="2588895" cy="254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POST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" y="1175703"/>
            <a:ext cx="10716684" cy="51133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客户端发送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请求的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两种主要方式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altLang="zh-CN" dirty="0" smtClean="0"/>
              <a:t>GET</a:t>
            </a:r>
            <a:endParaRPr lang="en-US" altLang="zh-CN" dirty="0" smtClean="0"/>
          </a:p>
          <a:p>
            <a:pPr lvl="2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查询信息时</a:t>
            </a:r>
            <a:r>
              <a:rPr lang="zh-CN" alt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使用</a:t>
            </a:r>
            <a:endParaRPr lang="en-US" altLang="zh-CN" sz="2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查询参数会显式地出现在</a:t>
            </a:r>
            <a:r>
              <a:rPr lang="en-US" altLang="zh-C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zh-CN" altLang="en-US" sz="2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后面</a:t>
            </a:r>
            <a:endParaRPr lang="en-US" altLang="zh-CN" sz="2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3"/>
            <a:r>
              <a:rPr lang="en-US" altLang="zh-CN" sz="2600" i="1" dirty="0" smtClean="0"/>
              <a:t>http:localhost:8080/test/servlet/</a:t>
            </a:r>
            <a:r>
              <a:rPr lang="en-US" altLang="zh-CN" sz="2600" i="1" dirty="0" err="1" smtClean="0"/>
              <a:t>LoginServlet</a:t>
            </a:r>
            <a:r>
              <a:rPr lang="en-US" altLang="zh-CN" sz="2600" i="1" dirty="0" err="1" smtClean="0">
                <a:solidFill>
                  <a:srgbClr val="FF0000"/>
                </a:solidFill>
              </a:rPr>
              <a:t>?</a:t>
            </a:r>
            <a:r>
              <a:rPr lang="en-US" altLang="zh-CN" sz="2600" i="1" dirty="0" err="1" smtClean="0"/>
              <a:t>username</a:t>
            </a:r>
            <a:r>
              <a:rPr lang="en-US" altLang="zh-CN" sz="2600" i="1" dirty="0" smtClean="0"/>
              <a:t>=</a:t>
            </a:r>
            <a:r>
              <a:rPr lang="en-US" altLang="zh-CN" sz="2600" i="1" dirty="0" err="1" smtClean="0"/>
              <a:t>zhangsan</a:t>
            </a:r>
            <a:r>
              <a:rPr lang="en-US" altLang="zh-CN" sz="2600" i="1" dirty="0" smtClean="0"/>
              <a:t> </a:t>
            </a:r>
            <a:r>
              <a:rPr lang="en-US" altLang="zh-CN" sz="2600" i="1" dirty="0" smtClean="0">
                <a:solidFill>
                  <a:srgbClr val="FF0000"/>
                </a:solidFill>
              </a:rPr>
              <a:t>&amp;</a:t>
            </a:r>
            <a:r>
              <a:rPr lang="en-US" altLang="zh-CN" sz="2600" i="1" dirty="0" smtClean="0"/>
              <a:t> password=123</a:t>
            </a:r>
            <a:endParaRPr lang="en-US" altLang="zh-CN" sz="2600" i="1" dirty="0" smtClean="0"/>
          </a:p>
          <a:p>
            <a:pPr lvl="2"/>
            <a:r>
              <a:rPr lang="zh-CN" altLang="en-US" sz="2600" dirty="0" smtClean="0"/>
              <a:t>提交的数据量</a:t>
            </a:r>
            <a:r>
              <a:rPr lang="zh-CN" altLang="en-US" sz="2600" dirty="0" smtClean="0">
                <a:solidFill>
                  <a:srgbClr val="FF0000"/>
                </a:solidFill>
              </a:rPr>
              <a:t>限制在</a:t>
            </a:r>
            <a:r>
              <a:rPr lang="en-US" altLang="zh-CN" sz="2600" dirty="0" smtClean="0">
                <a:solidFill>
                  <a:srgbClr val="FF0000"/>
                </a:solidFill>
              </a:rPr>
              <a:t>255</a:t>
            </a:r>
            <a:r>
              <a:rPr lang="zh-CN" altLang="en-US" sz="2600" dirty="0" smtClean="0">
                <a:solidFill>
                  <a:srgbClr val="FF0000"/>
                </a:solidFill>
              </a:rPr>
              <a:t>个字符</a:t>
            </a:r>
            <a:r>
              <a:rPr lang="zh-CN" altLang="en-US" sz="2600" dirty="0" smtClean="0"/>
              <a:t>内</a:t>
            </a:r>
            <a:endParaRPr lang="en-US" altLang="zh-CN" sz="2600" dirty="0" smtClean="0"/>
          </a:p>
          <a:p>
            <a:pPr lvl="1"/>
            <a:r>
              <a:rPr lang="en-US" altLang="zh-CN" dirty="0" smtClean="0"/>
              <a:t>POST</a:t>
            </a:r>
            <a:endParaRPr lang="en-US" altLang="zh-CN" dirty="0" smtClean="0"/>
          </a:p>
          <a:p>
            <a:pPr lvl="2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提交表单信息时使用</a:t>
            </a:r>
            <a:endParaRPr lang="en-US" altLang="zh-CN" sz="2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提交的信息包在消息主体内，外部不可见</a:t>
            </a:r>
            <a:endParaRPr lang="en-US" altLang="zh-CN" sz="2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zh-CN" alt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提交的数据量</a:t>
            </a:r>
            <a:r>
              <a:rPr lang="zh-CN" altLang="en-US" sz="2600" dirty="0">
                <a:solidFill>
                  <a:srgbClr val="FF0000"/>
                </a:solidFill>
              </a:rPr>
              <a:t>没有限制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776095" y="3500755"/>
            <a:ext cx="6984365" cy="7175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右箭头 5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 bldLvl="2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的生命周期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Servlet</a:t>
            </a:r>
            <a:r>
              <a:rPr lang="zh-CN" altLang="en-US" dirty="0" smtClean="0"/>
              <a:t>的运行过程与生命周期由</a:t>
            </a:r>
            <a:r>
              <a:rPr lang="en-US" altLang="zh-CN" dirty="0" smtClean="0">
                <a:solidFill>
                  <a:srgbClr val="C00000"/>
                </a:solidFill>
              </a:rPr>
              <a:t>Servlet</a:t>
            </a:r>
            <a:r>
              <a:rPr lang="zh-CN" altLang="en-US" dirty="0" smtClean="0"/>
              <a:t>容器控制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C00000"/>
                </a:solidFill>
              </a:rPr>
              <a:t>Servlet</a:t>
            </a:r>
            <a:r>
              <a:rPr lang="zh-CN" altLang="en-US" dirty="0" smtClean="0"/>
              <a:t>生命周期指的是</a:t>
            </a:r>
            <a:r>
              <a:rPr lang="en-US" altLang="zh-CN" dirty="0">
                <a:solidFill>
                  <a:srgbClr val="C00000"/>
                </a:solidFill>
              </a:rPr>
              <a:t>Servlet</a:t>
            </a:r>
            <a:r>
              <a:rPr lang="zh-CN" altLang="zh-CN" dirty="0"/>
              <a:t>从加载、初始化、接收请求、提供服务、销毁的整个</a:t>
            </a:r>
            <a:r>
              <a:rPr lang="zh-CN" altLang="zh-CN" dirty="0" smtClean="0"/>
              <a:t>过程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分为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个阶段 （</a:t>
            </a:r>
            <a:r>
              <a:rPr lang="en-US" altLang="zh-CN" dirty="0" err="1" smtClean="0"/>
              <a:t>javax.servlet.Servlet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/>
              <a:t>初始化</a:t>
            </a:r>
            <a:r>
              <a:rPr lang="zh-CN" altLang="en-US" dirty="0" smtClean="0"/>
              <a:t>阶段  </a:t>
            </a:r>
            <a:r>
              <a:rPr lang="en-US" altLang="zh-CN" dirty="0" err="1" smtClean="0"/>
              <a:t>init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响应客户请求阶段  </a:t>
            </a:r>
            <a:r>
              <a:rPr lang="en-US" altLang="zh-CN" dirty="0" smtClean="0"/>
              <a:t>service()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终止阶段  </a:t>
            </a:r>
            <a:r>
              <a:rPr lang="en-US" altLang="zh-CN" dirty="0" smtClean="0"/>
              <a:t>destroy()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 </a:t>
            </a:r>
            <a:r>
              <a:rPr lang="zh-CN" altLang="en-US" dirty="0" smtClean="0"/>
              <a:t>的生命周期</a:t>
            </a:r>
            <a:endParaRPr lang="zh-CN" altLang="en-US" dirty="0"/>
          </a:p>
        </p:txBody>
      </p:sp>
      <p:grpSp>
        <p:nvGrpSpPr>
          <p:cNvPr id="26" name="Group 239"/>
          <p:cNvGrpSpPr/>
          <p:nvPr/>
        </p:nvGrpSpPr>
        <p:grpSpPr bwMode="auto">
          <a:xfrm>
            <a:off x="1695450" y="1549125"/>
            <a:ext cx="8505006" cy="4256139"/>
            <a:chOff x="1983" y="2025"/>
            <a:chExt cx="6930" cy="5145"/>
          </a:xfrm>
        </p:grpSpPr>
        <p:sp>
          <p:nvSpPr>
            <p:cNvPr id="27" name="Text Box 217"/>
            <p:cNvSpPr txBox="1">
              <a:spLocks noChangeArrowheads="1"/>
            </p:cNvSpPr>
            <p:nvPr/>
          </p:nvSpPr>
          <p:spPr bwMode="auto">
            <a:xfrm>
              <a:off x="1983" y="2025"/>
              <a:ext cx="1710" cy="51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zh-CN" sz="2000" kern="100" dirty="0" smtClean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发送请求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28" name="Text Box 218"/>
            <p:cNvSpPr txBox="1">
              <a:spLocks noChangeArrowheads="1"/>
            </p:cNvSpPr>
            <p:nvPr/>
          </p:nvSpPr>
          <p:spPr bwMode="auto">
            <a:xfrm>
              <a:off x="4353" y="2025"/>
              <a:ext cx="1740" cy="51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266700" algn="ctr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加载</a:t>
              </a:r>
              <a:r>
                <a:rPr lang="en-US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Servlet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29" name="Text Box 219"/>
            <p:cNvSpPr txBox="1">
              <a:spLocks noChangeArrowheads="1"/>
            </p:cNvSpPr>
            <p:nvPr/>
          </p:nvSpPr>
          <p:spPr bwMode="auto">
            <a:xfrm>
              <a:off x="6753" y="2034"/>
              <a:ext cx="2025" cy="51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zh-CN" sz="2000" kern="10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创建</a:t>
              </a:r>
              <a:r>
                <a:rPr lang="en-US" sz="2000" kern="10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Servlet</a:t>
              </a:r>
              <a:r>
                <a:rPr lang="zh-CN" sz="2000" kern="10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实例</a:t>
              </a:r>
              <a:endParaRPr lang="zh-CN" sz="2000" kern="10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30" name="Text Box 220"/>
            <p:cNvSpPr txBox="1">
              <a:spLocks noChangeArrowheads="1"/>
            </p:cNvSpPr>
            <p:nvPr/>
          </p:nvSpPr>
          <p:spPr bwMode="auto">
            <a:xfrm>
              <a:off x="6753" y="3033"/>
              <a:ext cx="2085" cy="546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调用</a:t>
              </a:r>
              <a:r>
                <a:rPr lang="en-US" sz="2000" b="1" i="1" kern="100" dirty="0" err="1">
                  <a:solidFill>
                    <a:srgbClr val="FF0000"/>
                  </a:solidFill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init</a:t>
              </a:r>
              <a:r>
                <a:rPr lang="en-US" sz="2000" b="1" i="1" kern="100" dirty="0">
                  <a:solidFill>
                    <a:srgbClr val="FF0000"/>
                  </a:solidFill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()</a:t>
              </a: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方法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31" name="Text Box 226"/>
            <p:cNvSpPr txBox="1">
              <a:spLocks noChangeArrowheads="1"/>
            </p:cNvSpPr>
            <p:nvPr/>
          </p:nvSpPr>
          <p:spPr bwMode="auto">
            <a:xfrm>
              <a:off x="6753" y="4029"/>
              <a:ext cx="2085" cy="76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495300" indent="-228600" algn="just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调用</a:t>
              </a:r>
              <a:r>
                <a:rPr lang="en-US" sz="2000" b="1" i="1" kern="100" dirty="0">
                  <a:solidFill>
                    <a:srgbClr val="FF0000"/>
                  </a:solidFill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service()</a:t>
              </a:r>
              <a:endParaRPr lang="zh-CN" sz="2000" b="1" i="1" kern="100" dirty="0">
                <a:solidFill>
                  <a:srgbClr val="FF0000"/>
                </a:solidFill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  <a:p>
              <a:pPr marL="495300" indent="-228600" algn="just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方法处理请求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32" name="Text Box 227"/>
            <p:cNvSpPr txBox="1">
              <a:spLocks noChangeArrowheads="1"/>
            </p:cNvSpPr>
            <p:nvPr/>
          </p:nvSpPr>
          <p:spPr bwMode="auto">
            <a:xfrm>
              <a:off x="3980" y="4515"/>
              <a:ext cx="2010" cy="576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en-US" sz="2000" kern="10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Servlet</a:t>
              </a:r>
              <a:r>
                <a:rPr lang="zh-CN" sz="2000" kern="10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等待请求</a:t>
              </a:r>
              <a:endParaRPr lang="zh-CN" sz="2000" kern="10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33" name="Text Box 228"/>
            <p:cNvSpPr txBox="1">
              <a:spLocks noChangeArrowheads="1"/>
            </p:cNvSpPr>
            <p:nvPr/>
          </p:nvSpPr>
          <p:spPr bwMode="auto">
            <a:xfrm>
              <a:off x="6753" y="5235"/>
              <a:ext cx="2160" cy="75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495300" indent="-228600" algn="just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将处理结果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  <a:p>
              <a:pPr marL="495300" indent="-228600" algn="just">
                <a:spcAft>
                  <a:spcPts val="0"/>
                </a:spcAft>
              </a:pP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返回客户端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34" name="Text Box 229"/>
            <p:cNvSpPr txBox="1">
              <a:spLocks noChangeArrowheads="1"/>
            </p:cNvSpPr>
            <p:nvPr/>
          </p:nvSpPr>
          <p:spPr bwMode="auto">
            <a:xfrm>
              <a:off x="6753" y="6435"/>
              <a:ext cx="2160" cy="73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495300" indent="-228600" algn="just">
                <a:spcAft>
                  <a:spcPts val="0"/>
                </a:spcAft>
              </a:pPr>
              <a:r>
                <a:rPr lang="zh-CN" sz="2000" kern="100" dirty="0" smtClean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调用</a:t>
              </a:r>
              <a:r>
                <a:rPr lang="en-US" sz="2000" b="1" i="1" kern="100" dirty="0" smtClean="0">
                  <a:solidFill>
                    <a:srgbClr val="FF0000"/>
                  </a:solidFill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destroy</a:t>
              </a:r>
              <a:r>
                <a:rPr lang="en-US" sz="2000" b="1" i="1" kern="100" dirty="0">
                  <a:solidFill>
                    <a:srgbClr val="FF0000"/>
                  </a:solidFill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()</a:t>
              </a:r>
              <a:r>
                <a:rPr lang="zh-CN" sz="2000" kern="100" dirty="0">
                  <a:effectLst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rPr>
                <a:t>方法</a:t>
              </a:r>
              <a:endParaRPr lang="zh-CN" sz="2000" kern="100" dirty="0">
                <a:effectLst/>
                <a:latin typeface="Calibri" panose="020F05020202040302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cxnSp>
          <p:nvCxnSpPr>
            <p:cNvPr id="35" name="AutoShape 230"/>
            <p:cNvCxnSpPr>
              <a:cxnSpLocks noChangeShapeType="1"/>
            </p:cNvCxnSpPr>
            <p:nvPr/>
          </p:nvCxnSpPr>
          <p:spPr bwMode="auto">
            <a:xfrm>
              <a:off x="3693" y="2283"/>
              <a:ext cx="6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231"/>
            <p:cNvCxnSpPr>
              <a:cxnSpLocks noChangeShapeType="1"/>
            </p:cNvCxnSpPr>
            <p:nvPr/>
          </p:nvCxnSpPr>
          <p:spPr bwMode="auto">
            <a:xfrm>
              <a:off x="6093" y="2262"/>
              <a:ext cx="6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233"/>
            <p:cNvCxnSpPr>
              <a:cxnSpLocks noChangeShapeType="1"/>
            </p:cNvCxnSpPr>
            <p:nvPr/>
          </p:nvCxnSpPr>
          <p:spPr bwMode="auto">
            <a:xfrm>
              <a:off x="7725" y="2535"/>
              <a:ext cx="0" cy="4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234"/>
            <p:cNvCxnSpPr>
              <a:cxnSpLocks noChangeShapeType="1"/>
            </p:cNvCxnSpPr>
            <p:nvPr/>
          </p:nvCxnSpPr>
          <p:spPr bwMode="auto">
            <a:xfrm>
              <a:off x="7725" y="3579"/>
              <a:ext cx="1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235"/>
            <p:cNvCxnSpPr>
              <a:cxnSpLocks noChangeShapeType="1"/>
            </p:cNvCxnSpPr>
            <p:nvPr/>
          </p:nvCxnSpPr>
          <p:spPr bwMode="auto">
            <a:xfrm>
              <a:off x="7726" y="4785"/>
              <a:ext cx="1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236"/>
            <p:cNvCxnSpPr>
              <a:cxnSpLocks noChangeShapeType="1"/>
            </p:cNvCxnSpPr>
            <p:nvPr/>
          </p:nvCxnSpPr>
          <p:spPr bwMode="auto">
            <a:xfrm>
              <a:off x="7727" y="5985"/>
              <a:ext cx="1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237"/>
            <p:cNvCxnSpPr>
              <a:cxnSpLocks noChangeShapeType="1"/>
            </p:cNvCxnSpPr>
            <p:nvPr/>
          </p:nvCxnSpPr>
          <p:spPr bwMode="auto">
            <a:xfrm flipV="1">
              <a:off x="5990" y="4230"/>
              <a:ext cx="763" cy="2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238"/>
            <p:cNvCxnSpPr>
              <a:cxnSpLocks noChangeShapeType="1"/>
            </p:cNvCxnSpPr>
            <p:nvPr/>
          </p:nvCxnSpPr>
          <p:spPr bwMode="auto">
            <a:xfrm flipH="1" flipV="1">
              <a:off x="5990" y="5091"/>
              <a:ext cx="763" cy="4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43" name="TextBox 42"/>
          <p:cNvSpPr txBox="1"/>
          <p:nvPr/>
        </p:nvSpPr>
        <p:spPr>
          <a:xfrm>
            <a:off x="1695450" y="4499746"/>
            <a:ext cx="38884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7030A0"/>
                </a:solidFill>
              </a:rPr>
              <a:t>Servlet</a:t>
            </a:r>
            <a:r>
              <a:rPr lang="zh-CN" altLang="en-US" sz="2400" b="1" dirty="0" smtClean="0">
                <a:solidFill>
                  <a:srgbClr val="7030A0"/>
                </a:solidFill>
              </a:rPr>
              <a:t>请求</a:t>
            </a:r>
            <a:r>
              <a:rPr lang="en-US" altLang="zh-CN" sz="2400" b="1" dirty="0">
                <a:solidFill>
                  <a:srgbClr val="7030A0"/>
                </a:solidFill>
              </a:rPr>
              <a:t>/</a:t>
            </a:r>
            <a:r>
              <a:rPr lang="zh-CN" altLang="en-US" sz="2400" b="1" dirty="0" smtClean="0">
                <a:solidFill>
                  <a:srgbClr val="7030A0"/>
                </a:solidFill>
              </a:rPr>
              <a:t>响应过程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29000" y="5955030"/>
            <a:ext cx="7068185" cy="460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Web</a:t>
            </a:r>
            <a:r>
              <a:rPr lang="zh-CN" altLang="en-US" sz="2400" b="1" dirty="0" smtClean="0"/>
              <a:t>应用程序被停止，</a:t>
            </a:r>
            <a:r>
              <a:rPr lang="en-US" altLang="zh-CN" sz="2400" b="1" dirty="0" smtClean="0"/>
              <a:t>Servlet</a:t>
            </a:r>
            <a:r>
              <a:rPr lang="zh-CN" altLang="en-US" sz="2400" b="1" dirty="0" smtClean="0"/>
              <a:t>容器将卸载</a:t>
            </a:r>
            <a:r>
              <a:rPr lang="en-US" altLang="zh-CN" sz="2400" b="1" dirty="0" smtClean="0"/>
              <a:t>Servlet </a:t>
            </a:r>
            <a:endParaRPr lang="zh-CN" altLang="en-US" sz="2400" b="1" dirty="0"/>
          </a:p>
        </p:txBody>
      </p:sp>
      <p:cxnSp>
        <p:nvCxnSpPr>
          <p:cNvPr id="47" name="直接连接符 46"/>
          <p:cNvCxnSpPr/>
          <p:nvPr/>
        </p:nvCxnSpPr>
        <p:spPr>
          <a:xfrm>
            <a:off x="1587341" y="3020781"/>
            <a:ext cx="897315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631504" y="5085184"/>
            <a:ext cx="897315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6" name="直接箭头连接符 5"/>
          <p:cNvCxnSpPr>
            <a:stCxn id="27" idx="3"/>
            <a:endCxn id="28" idx="1"/>
          </p:cNvCxnSpPr>
          <p:nvPr/>
        </p:nvCxnSpPr>
        <p:spPr>
          <a:xfrm>
            <a:off x="3794088" y="1760071"/>
            <a:ext cx="81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6739545" y="1767515"/>
            <a:ext cx="81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8742455" y="1980376"/>
            <a:ext cx="0" cy="40260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8742455" y="2834653"/>
            <a:ext cx="0" cy="37225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8742455" y="3847191"/>
            <a:ext cx="2454" cy="4156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V="1">
            <a:off x="6613135" y="3373185"/>
            <a:ext cx="931692" cy="26616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3" idx="1"/>
          </p:cNvCxnSpPr>
          <p:nvPr/>
        </p:nvCxnSpPr>
        <p:spPr>
          <a:xfrm flipH="1" flipV="1">
            <a:off x="6613135" y="4085436"/>
            <a:ext cx="936410" cy="4293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754495" y="4803271"/>
            <a:ext cx="2454" cy="4156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 </a:t>
            </a:r>
            <a:r>
              <a:rPr lang="zh-CN" altLang="en-US" dirty="0"/>
              <a:t>的生命周期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3</a:t>
            </a:r>
            <a:r>
              <a:rPr lang="zh-CN" altLang="en-US" sz="2800" dirty="0"/>
              <a:t>种情况导致</a:t>
            </a:r>
            <a:r>
              <a:rPr lang="en-US" altLang="zh-CN" sz="2800" dirty="0">
                <a:solidFill>
                  <a:srgbClr val="C00000"/>
                </a:solidFill>
              </a:rPr>
              <a:t>Servlet</a:t>
            </a:r>
            <a:r>
              <a:rPr lang="zh-CN" altLang="en-US" sz="2800" dirty="0"/>
              <a:t>容器加载 </a:t>
            </a:r>
            <a:r>
              <a:rPr lang="en-US" altLang="zh-CN" sz="2800" dirty="0">
                <a:solidFill>
                  <a:srgbClr val="C00000"/>
                </a:solidFill>
              </a:rPr>
              <a:t>Servlet</a:t>
            </a:r>
            <a:r>
              <a:rPr lang="en-US" altLang="zh-CN" sz="2800" dirty="0"/>
              <a:t>: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容器启动时自动加载</a:t>
            </a:r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，</a:t>
            </a:r>
            <a:r>
              <a:rPr lang="en-US" altLang="zh-CN" sz="2400" dirty="0"/>
              <a:t>web.xml</a:t>
            </a:r>
            <a:r>
              <a:rPr lang="zh-CN" altLang="en-US" sz="2400" dirty="0"/>
              <a:t>文件中的</a:t>
            </a:r>
            <a:r>
              <a:rPr lang="en-US" altLang="zh-CN" sz="2400" dirty="0"/>
              <a:t>&lt;load-on-startup&gt;</a:t>
            </a:r>
            <a:r>
              <a:rPr lang="zh-CN" altLang="en-US" sz="2400" dirty="0"/>
              <a:t>属性设置。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容器启动后，客户首次请求该</a:t>
            </a:r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的类文件被更改，</a:t>
            </a:r>
            <a:r>
              <a:rPr lang="en-US" altLang="zh-CN" sz="2400" dirty="0">
                <a:solidFill>
                  <a:srgbClr val="C00000"/>
                </a:solidFill>
              </a:rPr>
              <a:t>Servlet</a:t>
            </a:r>
            <a:r>
              <a:rPr lang="zh-CN" altLang="en-US" sz="2400" dirty="0"/>
              <a:t>容器重新加载更新的版本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编写和部署过程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编写</a:t>
            </a:r>
            <a:r>
              <a:rPr lang="en-US" altLang="zh-C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步骤：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编写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源程序，编译生成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.class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部署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.class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修改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web.xml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，注册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和定义映射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或使用注解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@WebServlet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启动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引擎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请求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对客户端提供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响应服务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indent="0">
              <a:buNone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编写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编写</a:t>
            </a:r>
            <a:r>
              <a:rPr lang="en-US" altLang="zh-CN" dirty="0" err="1" smtClean="0"/>
              <a:t>Sevlet</a:t>
            </a:r>
            <a:r>
              <a:rPr lang="zh-CN" altLang="en-US" dirty="0" smtClean="0"/>
              <a:t>本质是继承</a:t>
            </a:r>
            <a:r>
              <a:rPr lang="en-US" altLang="zh-CN" dirty="0" err="1" smtClean="0"/>
              <a:t>HttpServlet</a:t>
            </a:r>
            <a:r>
              <a:rPr lang="zh-CN" altLang="en-US" dirty="0" smtClean="0"/>
              <a:t>类，并重写其中的体现生命周期的各种方法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init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1"/>
            <a:r>
              <a:rPr lang="en-US" altLang="zh-CN" dirty="0"/>
              <a:t>s</a:t>
            </a:r>
            <a:r>
              <a:rPr lang="en-US" altLang="zh-CN" dirty="0" smtClean="0"/>
              <a:t>ervice()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处理不同类型的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请求方案</a:t>
            </a:r>
            <a:endParaRPr lang="en-US" altLang="zh-CN" dirty="0" smtClean="0"/>
          </a:p>
          <a:p>
            <a:pPr lvl="2"/>
            <a:r>
              <a:rPr lang="en-US" altLang="zh-CN" dirty="0" err="1" smtClean="0">
                <a:solidFill>
                  <a:srgbClr val="FF0000"/>
                </a:solidFill>
              </a:rPr>
              <a:t>doGet</a:t>
            </a:r>
            <a:r>
              <a:rPr lang="en-US" altLang="zh-CN" dirty="0" smtClean="0">
                <a:solidFill>
                  <a:srgbClr val="FF0000"/>
                </a:solidFill>
              </a:rPr>
              <a:t>()  </a:t>
            </a:r>
            <a:r>
              <a:rPr lang="en-US" altLang="zh-CN" dirty="0" err="1" smtClean="0">
                <a:solidFill>
                  <a:srgbClr val="FF0000"/>
                </a:solidFill>
              </a:rPr>
              <a:t>doPost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d</a:t>
            </a:r>
            <a:r>
              <a:rPr lang="en-US" altLang="zh-CN" dirty="0" smtClean="0"/>
              <a:t>estroy()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" y="1270000"/>
            <a:ext cx="1106678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编写第一个</a:t>
            </a:r>
            <a:r>
              <a:rPr lang="en-US" altLang="zh-CN" dirty="0" smtClean="0"/>
              <a:t>Servlet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479415" y="1467485"/>
            <a:ext cx="1480820" cy="1714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738245" y="2127885"/>
            <a:ext cx="3437890" cy="508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495525" y="2127647"/>
            <a:ext cx="35845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3006725" y="2421255"/>
            <a:ext cx="3881755" cy="63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453354" y="3089528"/>
            <a:ext cx="47726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53424" y="4691861"/>
            <a:ext cx="306197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灯片编号占位符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78737" y="6160100"/>
            <a:ext cx="2520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servletExm1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3580" y="6245225"/>
            <a:ext cx="8240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必须引入包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javax.servlet</a:t>
            </a:r>
            <a:r>
              <a:rPr lang="zh-CN" altLang="en-US" sz="2400" b="1" dirty="0" smtClean="0"/>
              <a:t>和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javax.servlet.http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部署</a:t>
            </a:r>
            <a:r>
              <a:rPr lang="en-US" altLang="zh-CN" dirty="0" smtClean="0"/>
              <a:t>servlet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将编译好的目标代码部署到</a:t>
            </a:r>
            <a:r>
              <a:rPr lang="en-US" altLang="zh-CN" dirty="0" smtClean="0">
                <a:solidFill>
                  <a:srgbClr val="FF0000"/>
                </a:solidFill>
              </a:rPr>
              <a:t>web</a:t>
            </a:r>
            <a:r>
              <a:rPr lang="zh-CN" altLang="en-US" dirty="0" smtClean="0">
                <a:solidFill>
                  <a:srgbClr val="FF0000"/>
                </a:solidFill>
              </a:rPr>
              <a:t>应用</a:t>
            </a:r>
            <a:r>
              <a:rPr lang="en-US" altLang="zh-CN" dirty="0" smtClean="0">
                <a:solidFill>
                  <a:srgbClr val="FF0000"/>
                </a:solidFill>
              </a:rPr>
              <a:t>/WEB-INF/classes</a:t>
            </a:r>
            <a:r>
              <a:rPr lang="zh-CN" altLang="en-US" dirty="0" smtClean="0"/>
              <a:t>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配置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（二选一）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/WEB-INF/</a:t>
            </a:r>
            <a:r>
              <a:rPr lang="en-US" altLang="zh-CN" dirty="0" smtClean="0">
                <a:solidFill>
                  <a:srgbClr val="FF0000"/>
                </a:solidFill>
              </a:rPr>
              <a:t>web.xml</a:t>
            </a:r>
            <a:r>
              <a:rPr lang="zh-CN" altLang="en-US" dirty="0" smtClean="0"/>
              <a:t>文件，添加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配置信息</a:t>
            </a:r>
            <a:endParaRPr lang="en-US" altLang="zh-CN" dirty="0" smtClean="0"/>
          </a:p>
          <a:p>
            <a:pPr lvl="2"/>
            <a:r>
              <a:rPr lang="en-US" altLang="zh-CN" dirty="0"/>
              <a:t>@</a:t>
            </a:r>
            <a:r>
              <a:rPr lang="en-US" altLang="zh-CN" dirty="0" err="1"/>
              <a:t>WebServlet</a:t>
            </a:r>
            <a:r>
              <a:rPr lang="en-US" altLang="zh-CN" dirty="0" smtClean="0"/>
              <a:t>(“/xxx”)  “xxx”</a:t>
            </a:r>
            <a:r>
              <a:rPr lang="zh-CN" altLang="en-US" dirty="0" smtClean="0"/>
              <a:t>为访问路径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zh-CN" altLang="en-US" dirty="0" smtClean="0"/>
              <a:t>配置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4130" y="1268730"/>
            <a:ext cx="5927725" cy="51130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Servlet</a:t>
            </a:r>
            <a:r>
              <a:rPr lang="zh-CN" altLang="en-US" dirty="0" smtClean="0"/>
              <a:t>注册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&lt;servlet&gt;</a:t>
            </a:r>
            <a:endParaRPr lang="en-US" altLang="zh-CN" dirty="0"/>
          </a:p>
          <a:p>
            <a:pPr lvl="2"/>
            <a:r>
              <a:rPr lang="en-US" altLang="zh-CN" dirty="0"/>
              <a:t>&lt;servlet-name&gt;</a:t>
            </a:r>
            <a:endParaRPr lang="en-US" altLang="zh-CN" dirty="0"/>
          </a:p>
          <a:p>
            <a:pPr lvl="3"/>
            <a:r>
              <a:rPr lang="zh-CN" altLang="en-US" dirty="0"/>
              <a:t>定义</a:t>
            </a:r>
            <a:r>
              <a:rPr lang="en-US" altLang="zh-CN" dirty="0"/>
              <a:t>servlet</a:t>
            </a:r>
            <a:r>
              <a:rPr lang="zh-CN" altLang="en-US" dirty="0"/>
              <a:t>名字</a:t>
            </a:r>
            <a:endParaRPr lang="en-US" altLang="zh-CN" dirty="0"/>
          </a:p>
          <a:p>
            <a:pPr lvl="2"/>
            <a:r>
              <a:rPr lang="en-US" altLang="zh-CN" dirty="0"/>
              <a:t>&lt;servlet-class&gt;</a:t>
            </a:r>
            <a:endParaRPr lang="en-US" altLang="zh-CN" dirty="0"/>
          </a:p>
          <a:p>
            <a:pPr lvl="3"/>
            <a:r>
              <a:rPr lang="zh-CN" altLang="en-US" dirty="0"/>
              <a:t>指定了由容器载入的实际类</a:t>
            </a:r>
            <a:endParaRPr lang="zh-CN" altLang="en-US" dirty="0"/>
          </a:p>
          <a:p>
            <a:r>
              <a:rPr lang="en-US" altLang="zh-CN" dirty="0" smtClean="0"/>
              <a:t>Servlet</a:t>
            </a:r>
            <a:r>
              <a:rPr lang="zh-CN" altLang="en-US" dirty="0" smtClean="0"/>
              <a:t>映射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&lt;servlet-mapping&gt;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&lt;servlet-name&gt;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设置已注册的</a:t>
            </a:r>
            <a:r>
              <a:rPr lang="en-US" altLang="zh-CN" dirty="0" smtClean="0"/>
              <a:t>servlet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&lt;</a:t>
            </a:r>
            <a:r>
              <a:rPr lang="en-US" altLang="zh-CN" dirty="0" err="1" smtClean="0"/>
              <a:t>url</a:t>
            </a:r>
            <a:r>
              <a:rPr lang="en-US" altLang="zh-CN" dirty="0" smtClean="0"/>
              <a:t>-pattern&gt;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将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映射到一个</a:t>
            </a:r>
            <a:r>
              <a:rPr lang="en-US" altLang="zh-CN" dirty="0" smtClean="0"/>
              <a:t>URL</a:t>
            </a:r>
            <a:r>
              <a:rPr lang="zh-CN" altLang="en-US" dirty="0" smtClean="0"/>
              <a:t>访问入口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165" y="1027430"/>
            <a:ext cx="7850505" cy="2234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4439698" y="1268998"/>
            <a:ext cx="12096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492179" y="2421250"/>
            <a:ext cx="223329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88255" y="3429000"/>
            <a:ext cx="6979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dirty="0" smtClean="0"/>
              <a:t>http://localhost:8080/test/HellowoldServlet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384174" y="2997185"/>
            <a:ext cx="237617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111996" y="3068811"/>
            <a:ext cx="662940" cy="407670"/>
          </a:xfrm>
          <a:prstGeom prst="line">
            <a:avLst/>
          </a:prstGeom>
          <a:ln w="254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8472170" y="3861435"/>
            <a:ext cx="915670" cy="677545"/>
            <a:chOff x="3773378" y="5601855"/>
            <a:chExt cx="1092127" cy="807591"/>
          </a:xfrm>
        </p:grpSpPr>
        <p:cxnSp>
          <p:nvCxnSpPr>
            <p:cNvPr id="17" name="直接连接符 16"/>
            <p:cNvCxnSpPr/>
            <p:nvPr/>
          </p:nvCxnSpPr>
          <p:spPr>
            <a:xfrm flipH="1">
              <a:off x="4211960" y="5601855"/>
              <a:ext cx="1" cy="347425"/>
            </a:xfrm>
            <a:prstGeom prst="line">
              <a:avLst/>
            </a:prstGeom>
            <a:ln w="25400">
              <a:solidFill>
                <a:srgbClr val="FF000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773378" y="5970456"/>
              <a:ext cx="1092127" cy="438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 dirty="0" smtClean="0"/>
                <a:t>项目名</a:t>
              </a:r>
              <a:endParaRPr lang="zh-CN" altLang="en-US" b="1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部署</a:t>
            </a:r>
            <a:r>
              <a:rPr lang="zh-CN" altLang="en-US" dirty="0" smtClean="0">
                <a:sym typeface="+mn-ea"/>
              </a:rPr>
              <a:t>配置</a:t>
            </a:r>
            <a:r>
              <a:rPr lang="en-US" altLang="zh-CN" dirty="0" smtClean="0">
                <a:sym typeface="+mn-ea"/>
              </a:rPr>
              <a:t>3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855" y="1135380"/>
            <a:ext cx="11369040" cy="445135"/>
          </a:xfrm>
        </p:spPr>
        <p:txBody>
          <a:bodyPr/>
          <a:p>
            <a:r>
              <a:rPr lang="en-US" altLang="zh-CN" sz="2800" dirty="0">
                <a:sym typeface="+mn-ea"/>
              </a:rPr>
              <a:t>@</a:t>
            </a:r>
            <a:r>
              <a:rPr lang="en-US" altLang="zh-CN" sz="2800" dirty="0" err="1">
                <a:sym typeface="+mn-ea"/>
              </a:rPr>
              <a:t>WebServlet</a:t>
            </a:r>
            <a:r>
              <a:rPr lang="zh-CN" altLang="en-US" sz="2800" dirty="0" err="1">
                <a:sym typeface="+mn-ea"/>
              </a:rPr>
              <a:t>常用属性</a:t>
            </a:r>
            <a:endParaRPr lang="zh-CN" altLang="en-US" sz="2800" dirty="0" err="1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90195" y="1628775"/>
          <a:ext cx="11156950" cy="2837180"/>
        </p:xfrm>
        <a:graphic>
          <a:graphicData uri="http://schemas.openxmlformats.org/drawingml/2006/table">
            <a:tbl>
              <a:tblPr/>
              <a:tblGrid>
                <a:gridCol w="2049145"/>
                <a:gridCol w="2055495"/>
                <a:gridCol w="7052310"/>
              </a:tblGrid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属性名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类型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描述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1F1"/>
                    </a:solidFill>
                  </a:tcPr>
                </a:tc>
              </a:tr>
              <a:tr h="3467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servlet-name，如果没有显示指定，该Servlet的取值为全限定名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String[]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等价于 urlPatterns 属性，与该属性不能同时使用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urlPatterns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String[]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指定Servlet url的匹配模式，等价于&lt;url-parttern&gt;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9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loadOnStartup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指定Servlet的加载顺序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initParams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webInitParam[]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指定初始化参数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1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asyncSupported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是否支持异步操作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描述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8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displayName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servlet显示名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01600" y="4514215"/>
            <a:ext cx="927925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@WebServlet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>
                <a:solidFill>
                  <a:srgbClr val="401B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="exampleServlet", </a:t>
            </a:r>
            <a:r>
              <a:rPr lang="zh-CN" altLang="en-US" sz="2400">
                <a:solidFill>
                  <a:srgbClr val="401B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urlPatterns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="/servlet/example")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@WebServlet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("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/servlet/example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URL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0195" y="5539740"/>
            <a:ext cx="7482840" cy="1249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Web</a:t>
            </a:r>
            <a:r>
              <a:rPr lang="zh-CN" altLang="en-US" dirty="0" smtClean="0"/>
              <a:t>应用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Java Web</a:t>
            </a:r>
            <a:r>
              <a:rPr lang="zh-CN" altLang="en-US" dirty="0" smtClean="0"/>
              <a:t>应用结构</a:t>
            </a:r>
            <a:endParaRPr lang="en-US" altLang="zh-CN" dirty="0" smtClean="0"/>
          </a:p>
          <a:p>
            <a:pPr lvl="1"/>
            <a:r>
              <a:rPr lang="zh-CN" altLang="en-US" dirty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Java Web</a:t>
            </a:r>
            <a:r>
              <a:rPr lang="zh-CN" altLang="en-US" dirty="0" smtClean="0"/>
              <a:t>应用由一组静态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页面、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JSP</a:t>
            </a:r>
            <a:r>
              <a:rPr lang="zh-CN" altLang="en-US" dirty="0" smtClean="0"/>
              <a:t>和其它相关的</a:t>
            </a:r>
            <a:r>
              <a:rPr lang="en-US" altLang="zh-CN" dirty="0" smtClean="0"/>
              <a:t>class</a:t>
            </a:r>
            <a:r>
              <a:rPr lang="zh-CN" altLang="en-US" dirty="0" smtClean="0"/>
              <a:t>组成。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假设应用名为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，则其目录结构如下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/test :</a:t>
            </a:r>
            <a:r>
              <a:rPr lang="zh-CN" altLang="en-US" dirty="0" smtClean="0"/>
              <a:t>应用根目录，存有</a:t>
            </a:r>
            <a:r>
              <a:rPr lang="en-US" altLang="zh-CN" dirty="0" smtClean="0"/>
              <a:t>JSP\XHTML\CSS\JS</a:t>
            </a:r>
            <a:r>
              <a:rPr lang="zh-CN" altLang="en-US" dirty="0" smtClean="0"/>
              <a:t>以及各类资源文件（如图片）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/test/WEB-INF</a:t>
            </a:r>
            <a:r>
              <a:rPr lang="zh-CN" altLang="en-US" dirty="0" smtClean="0"/>
              <a:t>：</a:t>
            </a:r>
            <a:r>
              <a:rPr lang="zh-CN" altLang="en-US" dirty="0"/>
              <a:t>该目录必须</a:t>
            </a:r>
            <a:r>
              <a:rPr lang="zh-CN" altLang="en-US" dirty="0" smtClean="0"/>
              <a:t>存在，存有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应用的发布描述文件</a:t>
            </a:r>
            <a:r>
              <a:rPr lang="en-US" altLang="zh-CN" sz="2600" i="1" dirty="0" smtClean="0">
                <a:solidFill>
                  <a:srgbClr val="FF0000"/>
                </a:solidFill>
              </a:rPr>
              <a:t>web.xml</a:t>
            </a:r>
            <a:endParaRPr lang="en-US" altLang="zh-CN" sz="2600" i="1" dirty="0" smtClean="0">
              <a:solidFill>
                <a:srgbClr val="FF0000"/>
              </a:solidFill>
            </a:endParaRPr>
          </a:p>
          <a:p>
            <a:pPr lvl="2"/>
            <a:r>
              <a:rPr lang="en-US" altLang="zh-CN" dirty="0" smtClean="0"/>
              <a:t>/test/WEB-INF/classes</a:t>
            </a:r>
            <a:r>
              <a:rPr lang="zh-CN" altLang="en-US" dirty="0" smtClean="0"/>
              <a:t>：存放各种</a:t>
            </a:r>
            <a:r>
              <a:rPr lang="en-US" altLang="zh-CN" dirty="0" smtClean="0"/>
              <a:t>class</a:t>
            </a:r>
            <a:r>
              <a:rPr lang="zh-CN" altLang="en-US" dirty="0" smtClean="0"/>
              <a:t>文件，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类也在此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/test/WEB-INF/lib</a:t>
            </a:r>
            <a:r>
              <a:rPr lang="zh-CN" altLang="en-US" dirty="0" smtClean="0"/>
              <a:t>：存放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应用所需的各种</a:t>
            </a:r>
            <a:r>
              <a:rPr lang="en-US" altLang="zh-CN" dirty="0" smtClean="0"/>
              <a:t>Jar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/test/META-INF</a:t>
            </a:r>
            <a:r>
              <a:rPr lang="zh-CN" altLang="en-US" dirty="0" smtClean="0"/>
              <a:t>：用于存放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应用的上下文信息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 Web</a:t>
            </a:r>
            <a:r>
              <a:rPr lang="zh-CN" altLang="en-US" dirty="0" smtClean="0"/>
              <a:t>应用简介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web.xml</a:t>
            </a:r>
            <a:r>
              <a:rPr lang="zh-CN" altLang="en-US" dirty="0" smtClean="0"/>
              <a:t>的配置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程序只有在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应用程序的</a:t>
            </a:r>
            <a:r>
              <a:rPr lang="en-US" altLang="zh-CN" dirty="0" smtClean="0">
                <a:solidFill>
                  <a:srgbClr val="FF0000"/>
                </a:solidFill>
              </a:rPr>
              <a:t>web.xml</a:t>
            </a:r>
            <a:r>
              <a:rPr lang="zh-CN" altLang="en-US" dirty="0" smtClean="0"/>
              <a:t>中进行注册（</a:t>
            </a:r>
            <a:r>
              <a:rPr lang="en-US" altLang="zh-CN" i="1" dirty="0" smtClean="0">
                <a:solidFill>
                  <a:srgbClr val="FF0000"/>
                </a:solidFill>
              </a:rPr>
              <a:t>&lt;servlet&gt;</a:t>
            </a:r>
            <a:r>
              <a:rPr lang="zh-CN" altLang="en-US" dirty="0" smtClean="0"/>
              <a:t>）和映射</a:t>
            </a:r>
            <a:r>
              <a:rPr lang="en-US" altLang="zh-CN" dirty="0" smtClean="0"/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&lt;servlet-mapping&gt;</a:t>
            </a:r>
            <a:r>
              <a:rPr lang="en-US" altLang="zh-CN" dirty="0" smtClean="0"/>
              <a:t>)</a:t>
            </a:r>
            <a:r>
              <a:rPr lang="zh-CN" altLang="en-US" dirty="0" smtClean="0"/>
              <a:t>其访问路径，才能被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容器加载以及被外界访问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1608455" y="3328670"/>
            <a:ext cx="736409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&lt;servlet&gt;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2160"/>
              </a:lnSpc>
            </a:pPr>
            <a:r>
              <a:rPr lang="en-US" altLang="zh-CN" b="1" dirty="0" smtClean="0"/>
              <a:t>   &lt;</a:t>
            </a:r>
            <a:r>
              <a:rPr lang="en-US" altLang="zh-CN" b="1" dirty="0"/>
              <a:t>servlet-name&gt;</a:t>
            </a:r>
            <a:r>
              <a:rPr lang="en-US" altLang="zh-CN" b="1" dirty="0" err="1"/>
              <a:t>LoginServlet</a:t>
            </a:r>
            <a:r>
              <a:rPr lang="en-US" altLang="zh-CN" b="1" dirty="0"/>
              <a:t>&lt;/servlet-name&gt;</a:t>
            </a:r>
            <a:endParaRPr lang="en-US" altLang="zh-CN" b="1" dirty="0"/>
          </a:p>
          <a:p>
            <a:pPr>
              <a:lnSpc>
                <a:spcPts val="2160"/>
              </a:lnSpc>
            </a:pPr>
            <a:r>
              <a:rPr lang="en-US" altLang="zh-CN" b="1" dirty="0" smtClean="0"/>
              <a:t>   &lt;</a:t>
            </a:r>
            <a:r>
              <a:rPr lang="en-US" altLang="zh-CN" b="1" dirty="0"/>
              <a:t>servlet-class</a:t>
            </a:r>
            <a:r>
              <a:rPr lang="en-US" altLang="zh-CN" b="1" dirty="0" smtClean="0"/>
              <a:t>&gt; </a:t>
            </a:r>
            <a:r>
              <a:rPr lang="en-US" altLang="zh-CN" b="1" dirty="0" err="1" smtClean="0"/>
              <a:t>servlet.LoginServlet</a:t>
            </a:r>
            <a:r>
              <a:rPr lang="en-US" altLang="zh-CN" b="1" dirty="0" smtClean="0"/>
              <a:t> </a:t>
            </a:r>
            <a:r>
              <a:rPr lang="en-US" altLang="zh-CN" b="1" dirty="0"/>
              <a:t>&lt;/servlet-class</a:t>
            </a:r>
            <a:r>
              <a:rPr lang="en-US" altLang="zh-CN" b="1" dirty="0" smtClean="0"/>
              <a:t>&gt;</a:t>
            </a:r>
            <a:endParaRPr lang="en-US" altLang="zh-CN" b="1" dirty="0" smtClean="0"/>
          </a:p>
          <a:p>
            <a:pPr>
              <a:lnSpc>
                <a:spcPts val="216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&lt;/servlet&gt;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ts val="216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&lt;</a:t>
            </a:r>
            <a:r>
              <a:rPr lang="en-US" altLang="zh-CN" b="1" dirty="0">
                <a:solidFill>
                  <a:srgbClr val="FF0000"/>
                </a:solidFill>
              </a:rPr>
              <a:t>servlet-mapping&gt;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2160"/>
              </a:lnSpc>
            </a:pPr>
            <a:r>
              <a:rPr lang="en-US" altLang="zh-CN" b="1" dirty="0" smtClean="0"/>
              <a:t>   &lt;</a:t>
            </a:r>
            <a:r>
              <a:rPr lang="en-US" altLang="zh-CN" b="1" dirty="0"/>
              <a:t>servlet-name&gt;</a:t>
            </a:r>
            <a:r>
              <a:rPr lang="en-US" altLang="zh-CN" b="1" dirty="0" err="1"/>
              <a:t>LoginServlet</a:t>
            </a:r>
            <a:r>
              <a:rPr lang="en-US" altLang="zh-CN" b="1" dirty="0"/>
              <a:t>&lt;/servlet-name&gt;</a:t>
            </a:r>
            <a:endParaRPr lang="en-US" altLang="zh-CN" b="1" dirty="0"/>
          </a:p>
          <a:p>
            <a:pPr>
              <a:lnSpc>
                <a:spcPts val="2160"/>
              </a:lnSpc>
            </a:pPr>
            <a:r>
              <a:rPr lang="en-US" altLang="zh-CN" b="1" dirty="0" smtClean="0"/>
              <a:t>   &lt;</a:t>
            </a:r>
            <a:r>
              <a:rPr lang="en-US" altLang="zh-CN" b="1" dirty="0" err="1"/>
              <a:t>url</a:t>
            </a:r>
            <a:r>
              <a:rPr lang="en-US" altLang="zh-CN" b="1" dirty="0"/>
              <a:t>-pattern&gt;/</a:t>
            </a:r>
            <a:r>
              <a:rPr lang="en-US" altLang="zh-CN" b="1" dirty="0" err="1"/>
              <a:t>LoginServlet</a:t>
            </a:r>
            <a:r>
              <a:rPr lang="en-US" altLang="zh-CN" b="1" dirty="0"/>
              <a:t>&lt;/</a:t>
            </a:r>
            <a:r>
              <a:rPr lang="en-US" altLang="zh-CN" b="1" dirty="0" err="1"/>
              <a:t>url</a:t>
            </a:r>
            <a:r>
              <a:rPr lang="en-US" altLang="zh-CN" b="1" dirty="0"/>
              <a:t>-pattern&gt;</a:t>
            </a:r>
            <a:endParaRPr lang="en-US" altLang="zh-CN" b="1" dirty="0"/>
          </a:p>
          <a:p>
            <a:pPr>
              <a:lnSpc>
                <a:spcPts val="2160"/>
              </a:lnSpc>
            </a:pPr>
            <a:r>
              <a:rPr lang="en-US" altLang="zh-CN" b="1" dirty="0" smtClean="0">
                <a:solidFill>
                  <a:srgbClr val="FF0000"/>
                </a:solidFill>
              </a:rPr>
              <a:t>&lt;/</a:t>
            </a:r>
            <a:r>
              <a:rPr lang="en-US" altLang="zh-CN" b="1" dirty="0">
                <a:solidFill>
                  <a:srgbClr val="FF0000"/>
                </a:solidFill>
              </a:rPr>
              <a:t>servlet-mapping&gt;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529974" y="5287104"/>
            <a:ext cx="160984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837815" y="4236194"/>
            <a:ext cx="238885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示例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创建一个</a:t>
            </a:r>
            <a:r>
              <a:rPr lang="en-US" altLang="zh-CN" dirty="0" smtClean="0"/>
              <a:t>getUserServlet.java</a:t>
            </a:r>
            <a:endParaRPr lang="en-US" altLang="zh-CN" dirty="0" smtClean="0"/>
          </a:p>
          <a:p>
            <a:pPr lvl="1"/>
            <a:r>
              <a:rPr lang="zh-CN" altLang="en-US" dirty="0"/>
              <a:t>访问</a:t>
            </a:r>
            <a:r>
              <a:rPr lang="zh-CN" altLang="en-US" dirty="0" smtClean="0"/>
              <a:t>数据库，查询所有用户信息</a:t>
            </a:r>
            <a:endParaRPr lang="en-US" altLang="zh-CN" dirty="0" smtClean="0"/>
          </a:p>
          <a:p>
            <a:pPr lvl="1"/>
            <a:r>
              <a:rPr lang="zh-CN" altLang="en-US" dirty="0"/>
              <a:t>在浏览器</a:t>
            </a:r>
            <a:r>
              <a:rPr lang="zh-CN" altLang="en-US" dirty="0" smtClean="0"/>
              <a:t>中</a:t>
            </a:r>
            <a:r>
              <a:rPr lang="zh-CN" altLang="en-US" dirty="0"/>
              <a:t>以列表形式显示</a:t>
            </a:r>
            <a:r>
              <a:rPr lang="zh-CN" altLang="en-US" dirty="0" smtClean="0"/>
              <a:t>这些用户信息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11707" y="5949280"/>
            <a:ext cx="2520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servletExm2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示例</a:t>
            </a:r>
            <a:r>
              <a:rPr lang="en-US" altLang="zh-CN" dirty="0" smtClean="0"/>
              <a:t>1-</a:t>
            </a:r>
            <a:r>
              <a:rPr lang="zh-CN" altLang="en-US" dirty="0" smtClean="0"/>
              <a:t>关键代码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" y="1437640"/>
            <a:ext cx="8695690" cy="5442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15" y="2239010"/>
            <a:ext cx="9429115" cy="283908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" y="758190"/>
            <a:ext cx="813435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示例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890" y="1135380"/>
            <a:ext cx="11595100" cy="5113020"/>
          </a:xfrm>
        </p:spPr>
        <p:txBody>
          <a:bodyPr/>
          <a:lstStyle/>
          <a:p>
            <a:r>
              <a:rPr lang="zh-CN" altLang="en-US" dirty="0" smtClean="0"/>
              <a:t>通过网页注册新用户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RegisterUser.html   </a:t>
            </a:r>
            <a:r>
              <a:rPr lang="zh-CN" altLang="en-US" dirty="0" smtClean="0"/>
              <a:t>注册页面</a:t>
            </a:r>
            <a:endParaRPr lang="en-US" altLang="zh-CN" dirty="0" smtClean="0"/>
          </a:p>
          <a:p>
            <a:pPr lvl="1"/>
            <a:r>
              <a:rPr lang="en-US" altLang="zh-CN" dirty="0"/>
              <a:t>Register</a:t>
            </a:r>
            <a:r>
              <a:rPr lang="en-US" altLang="zh-CN" dirty="0" smtClean="0"/>
              <a:t>UserServlet.java  </a:t>
            </a:r>
            <a:r>
              <a:rPr lang="zh-CN" altLang="en-US" dirty="0" smtClean="0"/>
              <a:t>处理注册请求的</a:t>
            </a:r>
            <a:r>
              <a:rPr lang="en-US" altLang="zh-CN" dirty="0" smtClean="0"/>
              <a:t>servlet</a:t>
            </a:r>
            <a:endParaRPr lang="en-US" altLang="zh-CN" dirty="0" smtClean="0"/>
          </a:p>
          <a:p>
            <a:pPr lvl="1"/>
            <a:r>
              <a:rPr lang="en-US" altLang="zh-CN" dirty="0"/>
              <a:t>Register</a:t>
            </a:r>
            <a:r>
              <a:rPr lang="en-US" altLang="zh-CN" dirty="0" smtClean="0"/>
              <a:t>Success.html </a:t>
            </a:r>
            <a:r>
              <a:rPr lang="zh-CN" altLang="en-US" dirty="0" smtClean="0"/>
              <a:t>注册成功页面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11707" y="5949280"/>
            <a:ext cx="2520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servletExm3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示例</a:t>
            </a:r>
            <a:r>
              <a:rPr lang="en-US" altLang="zh-CN" dirty="0" smtClean="0"/>
              <a:t>2-</a:t>
            </a:r>
            <a:r>
              <a:rPr lang="zh-CN" altLang="en-US" dirty="0" smtClean="0"/>
              <a:t>关键代码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370" y="1135380"/>
            <a:ext cx="11566525" cy="5113020"/>
          </a:xfrm>
        </p:spPr>
        <p:txBody>
          <a:bodyPr/>
          <a:lstStyle/>
          <a:p>
            <a:r>
              <a:rPr lang="en-US" altLang="zh-CN" dirty="0"/>
              <a:t>RegisterUser.html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101600" y="6437313"/>
            <a:ext cx="711200" cy="268287"/>
          </a:xfrm>
        </p:spPr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15" y="1701165"/>
            <a:ext cx="9359900" cy="199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3431540" y="1988820"/>
            <a:ext cx="3383280" cy="63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15" y="3697605"/>
            <a:ext cx="8781415" cy="246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接连接符 9"/>
          <p:cNvCxnSpPr/>
          <p:nvPr/>
        </p:nvCxnSpPr>
        <p:spPr>
          <a:xfrm flipV="1">
            <a:off x="3841750" y="5805805"/>
            <a:ext cx="2901950" cy="254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608168" y="3580302"/>
            <a:ext cx="12585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web.xml</a:t>
            </a:r>
            <a:endParaRPr lang="zh-CN" altLang="en-US" sz="2400" b="1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3791585" y="2060575"/>
            <a:ext cx="287655" cy="1519555"/>
          </a:xfrm>
          <a:prstGeom prst="line">
            <a:avLst/>
          </a:prstGeom>
          <a:ln w="254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791895" y="3579883"/>
            <a:ext cx="17132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加上应用名</a:t>
            </a:r>
            <a:endParaRPr lang="zh-CN" altLang="en-US" sz="2400" b="1" dirty="0"/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6959600" y="1957070"/>
            <a:ext cx="1583055" cy="317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97380" y="6193790"/>
            <a:ext cx="5710555" cy="3683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或</a:t>
            </a:r>
            <a:r>
              <a:rPr lang="en-US" altLang="zh-CN" b="1" dirty="0">
                <a:sym typeface="+mn-ea"/>
              </a:rPr>
              <a:t>@</a:t>
            </a:r>
            <a:r>
              <a:rPr lang="en-US" altLang="zh-CN" b="1" dirty="0" err="1">
                <a:sym typeface="+mn-ea"/>
              </a:rPr>
              <a:t>WebServlet</a:t>
            </a:r>
            <a:r>
              <a:rPr lang="en-US" altLang="zh-CN" b="1" dirty="0" smtClean="0">
                <a:sym typeface="+mn-ea"/>
              </a:rPr>
              <a:t>(“/test/RegisterUserServlet”)</a:t>
            </a:r>
            <a:endParaRPr lang="zh-CN" altLang="en-US" b="1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示例</a:t>
            </a:r>
            <a:r>
              <a:rPr lang="en-US" altLang="zh-CN" dirty="0"/>
              <a:t>2-</a:t>
            </a:r>
            <a:r>
              <a:rPr lang="zh-CN" altLang="en-US" dirty="0"/>
              <a:t>关键</a:t>
            </a:r>
            <a:r>
              <a:rPr lang="zh-CN" altLang="en-US" dirty="0" smtClean="0"/>
              <a:t>代码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RegisterUserServlet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844824"/>
            <a:ext cx="8672400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6672064" y="2780928"/>
            <a:ext cx="15121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223792" y="3429000"/>
            <a:ext cx="34563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087888" y="4295724"/>
            <a:ext cx="0" cy="573436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287689" y="5013176"/>
            <a:ext cx="5616624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内置对象，能够保存客户端的请求信息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response </a:t>
            </a:r>
            <a:r>
              <a:rPr lang="zh-CN" altLang="en-US" sz="2400" b="1" dirty="0" smtClean="0"/>
              <a:t>响应信息</a:t>
            </a:r>
            <a:endParaRPr lang="zh-CN" altLang="en-US" sz="2400" b="1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 smtClean="0"/>
              <a:t>示例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验证输入的表单信息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RegisterUserWithValidServlet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</a:t>
            </a:r>
            <a:r>
              <a:rPr lang="en-US" altLang="zh-CN" dirty="0" err="1" smtClean="0">
                <a:solidFill>
                  <a:srgbClr val="FF0000"/>
                </a:solidFill>
              </a:rPr>
              <a:t>RegisterUserServlet</a:t>
            </a:r>
            <a:r>
              <a:rPr lang="zh-CN" altLang="en-US" dirty="0" smtClean="0"/>
              <a:t>基础上增加对输入信息的验证</a:t>
            </a:r>
            <a:endParaRPr lang="en-US" altLang="zh-CN" dirty="0" smtClean="0"/>
          </a:p>
          <a:p>
            <a:pPr lvl="3"/>
            <a:r>
              <a:rPr lang="zh-CN" altLang="en-US" dirty="0"/>
              <a:t>用户</a:t>
            </a:r>
            <a:r>
              <a:rPr lang="en-US" altLang="zh-CN" dirty="0" smtClean="0"/>
              <a:t>id</a:t>
            </a:r>
            <a:r>
              <a:rPr lang="zh-CN" altLang="en-US" dirty="0" smtClean="0"/>
              <a:t>不空且唯一，即数据库中不存在的</a:t>
            </a:r>
            <a:r>
              <a:rPr lang="en-US" altLang="zh-CN" dirty="0" smtClean="0"/>
              <a:t>id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用户名</a:t>
            </a:r>
            <a:r>
              <a:rPr lang="zh-CN" altLang="en-US" dirty="0"/>
              <a:t>不</a:t>
            </a:r>
            <a:r>
              <a:rPr lang="zh-CN" altLang="en-US" dirty="0" smtClean="0"/>
              <a:t>空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密码不能少于</a:t>
            </a:r>
            <a:r>
              <a:rPr lang="en-US" altLang="zh-CN" dirty="0" smtClean="0"/>
              <a:t>6</a:t>
            </a:r>
            <a:r>
              <a:rPr lang="zh-CN" altLang="en-US" dirty="0" smtClean="0"/>
              <a:t>位数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96200" y="5754905"/>
            <a:ext cx="2520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servletExm3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示例</a:t>
            </a:r>
            <a:r>
              <a:rPr lang="en-US" altLang="zh-CN" dirty="0" smtClean="0"/>
              <a:t>3-</a:t>
            </a:r>
            <a:r>
              <a:rPr lang="zh-CN" altLang="en-US" dirty="0" smtClean="0"/>
              <a:t>关键代码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836711"/>
            <a:ext cx="8892480" cy="6050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2351584" y="1700808"/>
            <a:ext cx="748883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063552" y="2996952"/>
            <a:ext cx="63367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063552" y="4149080"/>
            <a:ext cx="79928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703512" y="5733256"/>
            <a:ext cx="237626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456040" y="6525344"/>
            <a:ext cx="194421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029575" cy="875030"/>
          </a:xfrm>
        </p:spPr>
        <p:txBody>
          <a:bodyPr/>
          <a:lstStyle/>
          <a:p>
            <a:r>
              <a:rPr lang="zh-CN" altLang="en-US" sz="4400" dirty="0" smtClean="0"/>
              <a:t>使用</a:t>
            </a:r>
            <a:r>
              <a:rPr lang="en-US" altLang="zh-CN" sz="4400" dirty="0" smtClean="0"/>
              <a:t>request</a:t>
            </a:r>
            <a:r>
              <a:rPr lang="zh-CN" altLang="en-US" sz="4400" dirty="0" smtClean="0"/>
              <a:t>和</a:t>
            </a:r>
            <a:r>
              <a:rPr lang="en-US" altLang="zh-CN" sz="4400" dirty="0" smtClean="0"/>
              <a:t>response</a:t>
            </a:r>
            <a:r>
              <a:rPr lang="zh-CN" altLang="en-US" sz="4400" dirty="0" smtClean="0"/>
              <a:t>对象</a:t>
            </a:r>
            <a:endParaRPr lang="zh-CN" altLang="en-US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795" y="1195705"/>
            <a:ext cx="11245850" cy="5113020"/>
          </a:xfrm>
        </p:spPr>
        <p:txBody>
          <a:bodyPr>
            <a:normAutofit fontScale="92500"/>
          </a:bodyPr>
          <a:lstStyle/>
          <a:p>
            <a:r>
              <a:rPr lang="zh-CN" altLang="en-US" dirty="0" smtClean="0"/>
              <a:t>设置请求编码方式</a:t>
            </a:r>
            <a:endParaRPr lang="en-US" altLang="zh-CN" dirty="0" smtClean="0"/>
          </a:p>
          <a:p>
            <a:pPr lvl="1"/>
            <a:r>
              <a:rPr lang="en-US" altLang="zh-CN" dirty="0" err="1"/>
              <a:t>request.setCharacterEncoding</a:t>
            </a:r>
            <a:r>
              <a:rPr lang="en-US" altLang="zh-CN" dirty="0"/>
              <a:t>("utf-8</a:t>
            </a:r>
            <a:r>
              <a:rPr lang="en-US" altLang="zh-CN" dirty="0" smtClean="0"/>
              <a:t>")</a:t>
            </a:r>
            <a:endParaRPr lang="en-US" altLang="zh-CN" dirty="0" smtClean="0"/>
          </a:p>
          <a:p>
            <a:r>
              <a:rPr lang="zh-CN" altLang="en-US" dirty="0"/>
              <a:t>得到请求参数</a:t>
            </a:r>
            <a:endParaRPr lang="en-US" altLang="zh-CN" dirty="0"/>
          </a:p>
          <a:p>
            <a:pPr lvl="1"/>
            <a:r>
              <a:rPr lang="en-US" altLang="zh-CN" dirty="0" err="1"/>
              <a:t>request.getParameter</a:t>
            </a:r>
            <a:r>
              <a:rPr lang="en-US" altLang="zh-CN" dirty="0"/>
              <a:t>("username")</a:t>
            </a:r>
            <a:endParaRPr lang="en-US" altLang="zh-CN" dirty="0"/>
          </a:p>
          <a:p>
            <a:r>
              <a:rPr lang="zh-CN" altLang="en-US" dirty="0" smtClean="0"/>
              <a:t>设置响应内容格式及编码</a:t>
            </a:r>
            <a:endParaRPr lang="en-US" altLang="zh-CN" dirty="0" smtClean="0"/>
          </a:p>
          <a:p>
            <a:pPr lvl="1"/>
            <a:r>
              <a:rPr lang="en-US" altLang="zh-CN" dirty="0" err="1"/>
              <a:t>response.setContentType</a:t>
            </a:r>
            <a:r>
              <a:rPr lang="en-US" altLang="zh-CN" dirty="0"/>
              <a:t>("text/</a:t>
            </a:r>
            <a:r>
              <a:rPr lang="en-US" altLang="zh-CN" dirty="0" err="1"/>
              <a:t>html;charset</a:t>
            </a:r>
            <a:r>
              <a:rPr lang="en-US" altLang="zh-CN" dirty="0"/>
              <a:t>=utf-8</a:t>
            </a:r>
            <a:r>
              <a:rPr lang="en-US" altLang="zh-CN" dirty="0" smtClean="0"/>
              <a:t>");</a:t>
            </a:r>
            <a:endParaRPr lang="en-US" altLang="zh-CN" dirty="0" smtClean="0"/>
          </a:p>
          <a:p>
            <a:r>
              <a:rPr lang="zh-CN" altLang="en-US" dirty="0"/>
              <a:t>得到相应输出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en-US" altLang="zh-CN" dirty="0" err="1"/>
              <a:t>PrintWriter</a:t>
            </a:r>
            <a:r>
              <a:rPr lang="en-US" altLang="zh-CN" dirty="0"/>
              <a:t> </a:t>
            </a:r>
            <a:r>
              <a:rPr lang="en-US" altLang="zh-CN" dirty="0" smtClean="0"/>
              <a:t>out=</a:t>
            </a:r>
            <a:r>
              <a:rPr lang="en-US" altLang="zh-CN" dirty="0" err="1" smtClean="0"/>
              <a:t>response.getWriter</a:t>
            </a:r>
            <a:r>
              <a:rPr lang="en-US" altLang="zh-CN" dirty="0" smtClean="0"/>
              <a:t>();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out.append</a:t>
            </a:r>
            <a:r>
              <a:rPr lang="en-US" altLang="zh-CN" dirty="0" smtClean="0"/>
              <a:t>(……);/</a:t>
            </a:r>
            <a:r>
              <a:rPr lang="en-US" altLang="zh-CN" dirty="0" err="1" smtClean="0"/>
              <a:t>out.println</a:t>
            </a:r>
            <a:r>
              <a:rPr lang="en-US" altLang="zh-CN" smtClean="0"/>
              <a:t>(......);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示例关键点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9880" y="1135380"/>
            <a:ext cx="11169015" cy="5113020"/>
          </a:xfrm>
        </p:spPr>
        <p:txBody>
          <a:bodyPr/>
          <a:lstStyle/>
          <a:p>
            <a:r>
              <a:rPr lang="en-US" altLang="zh-CN" dirty="0" smtClean="0"/>
              <a:t>Servlet</a:t>
            </a:r>
            <a:r>
              <a:rPr lang="zh-CN" altLang="en-US" dirty="0" smtClean="0"/>
              <a:t>请求转发与重定向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response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dirty="0" err="1" smtClean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sendRedirect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("/3-1/getUsers");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request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dirty="0" err="1" smtClean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getRequestDispatcher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"/getUsers"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).</a:t>
            </a:r>
            <a:r>
              <a:rPr lang="en-US" altLang="zh-CN" dirty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forward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request,response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 smtClean="0"/>
          </a:p>
          <a:p>
            <a:r>
              <a:rPr lang="zh-CN" altLang="en-US" dirty="0"/>
              <a:t>表</a:t>
            </a:r>
            <a:r>
              <a:rPr lang="zh-CN" altLang="en-US" dirty="0" smtClean="0"/>
              <a:t>单</a:t>
            </a:r>
            <a:r>
              <a:rPr lang="en-US" altLang="zh-CN" dirty="0" smtClean="0"/>
              <a:t>action</a:t>
            </a:r>
            <a:r>
              <a:rPr lang="zh-CN" altLang="en-US" dirty="0" smtClean="0"/>
              <a:t>设置</a:t>
            </a:r>
            <a:endParaRPr lang="en-US" altLang="zh-CN" dirty="0" smtClean="0"/>
          </a:p>
          <a:p>
            <a:pPr lvl="1"/>
            <a:r>
              <a:rPr lang="en-US" altLang="zh-CN" dirty="0"/>
              <a:t>&lt;form method=</a:t>
            </a:r>
            <a:r>
              <a:rPr lang="en-US" altLang="zh-CN" i="1" dirty="0"/>
              <a:t>"post" action="</a:t>
            </a:r>
            <a:r>
              <a:rPr lang="en-US" altLang="zh-CN" i="1" dirty="0">
                <a:solidFill>
                  <a:srgbClr val="FF0000"/>
                </a:solidFill>
              </a:rPr>
              <a:t>/test</a:t>
            </a:r>
            <a:r>
              <a:rPr lang="en-US" altLang="zh-CN" i="1" dirty="0"/>
              <a:t>/servlet/</a:t>
            </a:r>
            <a:r>
              <a:rPr lang="en-US" altLang="zh-CN" i="1" dirty="0" err="1"/>
              <a:t>LoginServlet</a:t>
            </a:r>
            <a:r>
              <a:rPr lang="en-US" altLang="zh-CN" i="1" dirty="0" smtClean="0"/>
              <a:t>"&gt;</a:t>
            </a:r>
            <a:endParaRPr lang="en-US" altLang="zh-CN" i="1" dirty="0" smtClean="0"/>
          </a:p>
          <a:p>
            <a:pPr lvl="1"/>
            <a:r>
              <a:rPr lang="en-US" altLang="zh-CN" i="1" dirty="0" smtClean="0"/>
              <a:t>Web.xml </a:t>
            </a:r>
            <a:r>
              <a:rPr lang="zh-CN" altLang="en-US" i="1" dirty="0" smtClean="0"/>
              <a:t>中的</a:t>
            </a:r>
            <a:r>
              <a:rPr lang="en-US" altLang="zh-CN" i="1" dirty="0" err="1" smtClean="0"/>
              <a:t>url</a:t>
            </a:r>
            <a:r>
              <a:rPr lang="zh-CN" altLang="en-US" i="1" dirty="0" smtClean="0"/>
              <a:t>：</a:t>
            </a:r>
            <a:r>
              <a:rPr lang="en-US" altLang="zh-CN" dirty="0"/>
              <a:t>/</a:t>
            </a:r>
            <a:r>
              <a:rPr lang="en-US" altLang="zh-CN" dirty="0" smtClean="0"/>
              <a:t>servlet/</a:t>
            </a:r>
            <a:r>
              <a:rPr lang="en-US" altLang="zh-CN" dirty="0" err="1" smtClean="0"/>
              <a:t>LoginServlet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或使用</a:t>
            </a:r>
            <a:r>
              <a:rPr lang="en-US" altLang="zh-CN" dirty="0" smtClean="0"/>
              <a:t>@</a:t>
            </a:r>
            <a:r>
              <a:rPr lang="en-US" altLang="zh-CN" dirty="0" err="1" smtClean="0"/>
              <a:t>WebServlet</a:t>
            </a:r>
            <a:r>
              <a:rPr lang="zh-CN" altLang="en-US" dirty="0" smtClean="0"/>
              <a:t>注册</a:t>
            </a:r>
            <a:r>
              <a:rPr lang="en-US" altLang="zh-CN" smtClean="0"/>
              <a:t>Servlet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若上面两项设置都正确，</a:t>
            </a:r>
            <a:r>
              <a:rPr lang="en-US" altLang="zh-CN" dirty="0" smtClean="0"/>
              <a:t>servlet</a:t>
            </a:r>
            <a:r>
              <a:rPr lang="zh-CN" altLang="en-US" dirty="0" smtClean="0"/>
              <a:t>还无法执行，则重启</a:t>
            </a:r>
            <a:r>
              <a:rPr lang="en-US" altLang="zh-CN" dirty="0" smtClean="0"/>
              <a:t>tomcat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980" y="1135380"/>
            <a:ext cx="11257915" cy="544766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smtClean="0"/>
              <a:t>Servlet</a:t>
            </a:r>
            <a:endParaRPr lang="en-US" altLang="zh-CN" sz="2800" dirty="0" smtClean="0"/>
          </a:p>
          <a:p>
            <a:pPr lvl="1">
              <a:lnSpc>
                <a:spcPct val="90000"/>
              </a:lnSpc>
            </a:pPr>
            <a:r>
              <a:rPr lang="zh-CN" altLang="en-US" sz="2400" dirty="0" smtClean="0"/>
              <a:t>概念、工作方式、功能、</a:t>
            </a:r>
            <a:r>
              <a:rPr lang="zh-CN" altLang="en-US" sz="2400" dirty="0"/>
              <a:t>优</a:t>
            </a:r>
            <a:r>
              <a:rPr lang="zh-CN" altLang="en-US" sz="2400" dirty="0" smtClean="0"/>
              <a:t>点</a:t>
            </a:r>
            <a:endParaRPr lang="en-US" altLang="zh-CN" sz="2400" dirty="0" smtClean="0"/>
          </a:p>
          <a:p>
            <a:pPr>
              <a:lnSpc>
                <a:spcPct val="90000"/>
              </a:lnSpc>
            </a:pPr>
            <a:r>
              <a:rPr lang="en-US" altLang="zh-CN" sz="2800" dirty="0" smtClean="0"/>
              <a:t>Servlet API </a:t>
            </a:r>
            <a:r>
              <a:rPr lang="zh-CN" altLang="en-US" sz="2800" dirty="0" smtClean="0"/>
              <a:t>中的两个核心包</a:t>
            </a:r>
            <a:endParaRPr lang="en-US" altLang="zh-CN" sz="2800" dirty="0" smtClean="0"/>
          </a:p>
          <a:p>
            <a:pPr lvl="1">
              <a:lnSpc>
                <a:spcPct val="90000"/>
              </a:lnSpc>
            </a:pPr>
            <a:r>
              <a:rPr lang="en-US" altLang="zh-CN" sz="2400" dirty="0" err="1" smtClean="0"/>
              <a:t>javax.servlet</a:t>
            </a:r>
            <a:r>
              <a:rPr lang="zh-CN" altLang="en-US" sz="2400" dirty="0" smtClean="0"/>
              <a:t>和</a:t>
            </a:r>
            <a:r>
              <a:rPr lang="en-US" altLang="zh-CN" sz="2400" dirty="0" err="1" smtClean="0"/>
              <a:t>javax.servlet.http</a:t>
            </a:r>
            <a:endParaRPr lang="en-US" altLang="zh-CN" sz="2400" dirty="0" smtClean="0"/>
          </a:p>
          <a:p>
            <a:pPr lvl="1">
              <a:lnSpc>
                <a:spcPct val="90000"/>
              </a:lnSpc>
            </a:pPr>
            <a:r>
              <a:rPr lang="en-US" altLang="zh-CN" sz="2400" dirty="0" err="1" smtClean="0"/>
              <a:t>HttpServlet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所有</a:t>
            </a:r>
            <a:r>
              <a:rPr lang="en-US" altLang="zh-CN" sz="2400" dirty="0" smtClean="0"/>
              <a:t>servlet</a:t>
            </a:r>
            <a:r>
              <a:rPr lang="zh-CN" altLang="en-US" sz="2400" dirty="0" smtClean="0"/>
              <a:t>的父类</a:t>
            </a:r>
            <a:endParaRPr lang="en-US" altLang="zh-CN" sz="2400" dirty="0" smtClean="0"/>
          </a:p>
          <a:p>
            <a:pPr>
              <a:lnSpc>
                <a:spcPct val="90000"/>
              </a:lnSpc>
            </a:pPr>
            <a:r>
              <a:rPr lang="en-US" altLang="zh-CN" sz="2800" dirty="0" smtClean="0"/>
              <a:t>Servlet</a:t>
            </a:r>
            <a:r>
              <a:rPr lang="zh-CN" altLang="en-US" sz="2800" dirty="0" smtClean="0"/>
              <a:t>生命周期</a:t>
            </a:r>
            <a:endParaRPr lang="en-US" altLang="zh-CN" sz="2800" dirty="0" smtClean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何时加载和</a:t>
            </a:r>
            <a:r>
              <a:rPr lang="zh-CN" altLang="en-US" sz="2400" dirty="0" smtClean="0"/>
              <a:t>销毁</a:t>
            </a:r>
            <a:endParaRPr lang="en-US" altLang="zh-CN" sz="2400" dirty="0" smtClean="0"/>
          </a:p>
          <a:p>
            <a:pPr lvl="1">
              <a:lnSpc>
                <a:spcPct val="90000"/>
              </a:lnSpc>
            </a:pPr>
            <a:r>
              <a:rPr lang="en-US" altLang="zh-CN" sz="2400" dirty="0" smtClean="0"/>
              <a:t>Service()</a:t>
            </a:r>
            <a:endParaRPr lang="en-US" altLang="zh-CN" sz="2400" dirty="0" smtClean="0"/>
          </a:p>
          <a:p>
            <a:pPr>
              <a:lnSpc>
                <a:spcPct val="90000"/>
              </a:lnSpc>
            </a:pPr>
            <a:r>
              <a:rPr lang="en-US" altLang="zh-CN" sz="2800" dirty="0" smtClean="0"/>
              <a:t>Java Web </a:t>
            </a:r>
            <a:r>
              <a:rPr lang="zh-CN" altLang="en-US" sz="2800" dirty="0" smtClean="0"/>
              <a:t>应用结构</a:t>
            </a:r>
            <a:endParaRPr lang="en-US" altLang="zh-CN" sz="2800" dirty="0" smtClean="0"/>
          </a:p>
          <a:p>
            <a:pPr>
              <a:lnSpc>
                <a:spcPct val="90000"/>
              </a:lnSpc>
            </a:pPr>
            <a:r>
              <a:rPr lang="en-US" altLang="zh-CN" sz="2800" dirty="0" smtClean="0"/>
              <a:t>Servlet</a:t>
            </a:r>
            <a:r>
              <a:rPr lang="zh-CN" altLang="en-US" sz="2800" dirty="0" smtClean="0"/>
              <a:t>编写和部署过程</a:t>
            </a:r>
            <a:endParaRPr lang="en-US" altLang="zh-CN" sz="2800" dirty="0" smtClean="0"/>
          </a:p>
          <a:p>
            <a:pPr lvl="1">
              <a:lnSpc>
                <a:spcPct val="90000"/>
              </a:lnSpc>
            </a:pPr>
            <a:r>
              <a:rPr lang="en-US" altLang="zh-CN" sz="2400" dirty="0" err="1"/>
              <a:t>doGet</a:t>
            </a:r>
            <a:r>
              <a:rPr lang="en-US" altLang="zh-CN" sz="2400" dirty="0"/>
              <a:t>() 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doPost</a:t>
            </a:r>
            <a:r>
              <a:rPr lang="en-US" altLang="zh-CN" sz="2400" dirty="0" smtClean="0"/>
              <a:t>()  web.xml</a:t>
            </a:r>
            <a:endParaRPr lang="en-US" altLang="zh-CN" sz="2400" dirty="0" smtClean="0"/>
          </a:p>
          <a:p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10876280" y="582803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熟悉</a:t>
            </a:r>
            <a:r>
              <a:rPr lang="en-US" altLang="zh-CN" dirty="0"/>
              <a:t>Servlet</a:t>
            </a:r>
            <a:r>
              <a:rPr lang="zh-CN" altLang="zh-CN" dirty="0"/>
              <a:t>的运行机制和生命周期管理，能够编写和配置简单的</a:t>
            </a:r>
            <a:r>
              <a:rPr lang="en-US" altLang="zh-CN" dirty="0"/>
              <a:t>Servlet</a:t>
            </a:r>
            <a:r>
              <a:rPr lang="zh-CN" altLang="zh-CN" dirty="0"/>
              <a:t>程序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准备</a:t>
            </a:r>
            <a:endParaRPr lang="en-US" altLang="zh-CN" dirty="0"/>
          </a:p>
          <a:p>
            <a:pPr lvl="1"/>
            <a:r>
              <a:rPr lang="en-US" altLang="zh-CN" dirty="0" smtClean="0"/>
              <a:t>html+ </a:t>
            </a:r>
            <a:r>
              <a:rPr lang="en-US" altLang="zh-CN" dirty="0" err="1" smtClean="0"/>
              <a:t>css</a:t>
            </a:r>
            <a:r>
              <a:rPr lang="en-US" altLang="zh-CN" dirty="0" smtClean="0"/>
              <a:t> +</a:t>
            </a:r>
            <a:r>
              <a:rPr lang="en-US" altLang="zh-CN" smtClean="0"/>
              <a:t>javascript</a:t>
            </a:r>
            <a:r>
              <a:rPr lang="zh-CN" altLang="en-US" smtClean="0"/>
              <a:t>基础</a:t>
            </a:r>
            <a:r>
              <a:rPr lang="zh-CN" altLang="en-US" dirty="0" smtClean="0"/>
              <a:t>知识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</a:t>
            </a:r>
            <a:r>
              <a:rPr lang="en-US" altLang="zh-CN" dirty="0"/>
              <a:t>QQ</a:t>
            </a:r>
            <a:r>
              <a:rPr lang="zh-CN" altLang="en-US" dirty="0"/>
              <a:t>群下载实验指导书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195.741732283464,&quot;width&quot;:14042.39527559055}"/>
</p:tagLst>
</file>

<file path=ppt/tags/tag2.xml><?xml version="1.0" encoding="utf-8"?>
<p:tagLst xmlns:p="http://schemas.openxmlformats.org/presentationml/2006/main">
  <p:tag name="KSO_WM_UNIT_TABLE_BEAUTIFY" val="smartTable{efcf1da7-eb72-4952-b490-ecb26a3c5696}"/>
  <p:tag name="TABLE_ENDDRAG_ORIGIN_RECT" val="878*339"/>
  <p:tag name="TABLE_ENDDRAG_RECT" val="26*128*878*339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YmFjNWZhYmVmMzg4Mzg4NGQ0MmIwMjFlNjJhNDU3MDQifQ=="/>
  <p:tag name="KSO_WPP_MARK_KEY" val="880b0258-c558-4255-8c80-8a4666a8b6b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4829</Words>
  <Application>WPS 演示</Application>
  <PresentationFormat>全屏显示(4:3)</PresentationFormat>
  <Paragraphs>445</Paragraphs>
  <Slides>32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宋体</vt:lpstr>
      <vt:lpstr>Wingdings</vt:lpstr>
      <vt:lpstr>Tahoma</vt:lpstr>
      <vt:lpstr>Times New Roman</vt:lpstr>
      <vt:lpstr>华文新魏</vt:lpstr>
      <vt:lpstr>隶书</vt:lpstr>
      <vt:lpstr>Monotype Sorts</vt:lpstr>
      <vt:lpstr>Wingdings</vt:lpstr>
      <vt:lpstr>楷体_GB2312</vt:lpstr>
      <vt:lpstr>新宋体</vt:lpstr>
      <vt:lpstr>微软雅黑</vt:lpstr>
      <vt:lpstr>楷体</vt:lpstr>
      <vt:lpstr>Arial Unicode MS</vt:lpstr>
      <vt:lpstr>Calibri</vt:lpstr>
      <vt:lpstr>Calibri</vt:lpstr>
      <vt:lpstr>Times New Roman</vt:lpstr>
      <vt:lpstr>Office 主题</vt:lpstr>
      <vt:lpstr>数据库原理及应用</vt:lpstr>
      <vt:lpstr>PowerPoint 演示文稿</vt:lpstr>
      <vt:lpstr>Servlet</vt:lpstr>
      <vt:lpstr>Servlet概述</vt:lpstr>
      <vt:lpstr>Servlet概述</vt:lpstr>
      <vt:lpstr>Servlet概述</vt:lpstr>
      <vt:lpstr>Servlet概述</vt:lpstr>
      <vt:lpstr>Servlet API</vt:lpstr>
      <vt:lpstr>Servlet API</vt:lpstr>
      <vt:lpstr>普通Servlet结构 </vt:lpstr>
      <vt:lpstr>GET和POST</vt:lpstr>
      <vt:lpstr>Servlet的生命周期</vt:lpstr>
      <vt:lpstr>Servlet 的生命周期</vt:lpstr>
      <vt:lpstr>Servlet 的生命周期</vt:lpstr>
      <vt:lpstr>Servlet编写和部署过程</vt:lpstr>
      <vt:lpstr>Servlet编写</vt:lpstr>
      <vt:lpstr>编写第一个Servlet</vt:lpstr>
      <vt:lpstr>部署配置1</vt:lpstr>
      <vt:lpstr>部署配置2</vt:lpstr>
      <vt:lpstr>部署配置3</vt:lpstr>
      <vt:lpstr>Java Web应用简介</vt:lpstr>
      <vt:lpstr>Java Web应用简介</vt:lpstr>
      <vt:lpstr>Servlet示例1</vt:lpstr>
      <vt:lpstr>Servlet示例1-关键代码</vt:lpstr>
      <vt:lpstr>Servlet示例2</vt:lpstr>
      <vt:lpstr>Servlet示例2-关键代码1</vt:lpstr>
      <vt:lpstr>Servlet示例2-关键代码2</vt:lpstr>
      <vt:lpstr>Servlet示例3</vt:lpstr>
      <vt:lpstr>Servlet示例3-关键代码</vt:lpstr>
      <vt:lpstr>使用request和response对象</vt:lpstr>
      <vt:lpstr>Servlet示例关键点</vt:lpstr>
      <vt:lpstr>小结</vt:lpstr>
      <vt:lpstr>实验3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462</cp:revision>
  <dcterms:created xsi:type="dcterms:W3CDTF">2015-08-20T09:33:00Z</dcterms:created>
  <dcterms:modified xsi:type="dcterms:W3CDTF">2023-09-11T09:48:55Z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8FF05F5C3D6D4C31925DB98A15CDC7DC</vt:lpwstr>
  </property>
</Properties>
</file>