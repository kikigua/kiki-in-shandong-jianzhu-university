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7"/>
  </p:handoutMasterIdLst>
  <p:sldIdLst>
    <p:sldId id="339" r:id="rId3"/>
    <p:sldId id="400" r:id="rId5"/>
    <p:sldId id="418" r:id="rId6"/>
    <p:sldId id="415" r:id="rId7"/>
    <p:sldId id="417" r:id="rId8"/>
    <p:sldId id="416" r:id="rId9"/>
    <p:sldId id="433" r:id="rId10"/>
    <p:sldId id="434" r:id="rId11"/>
    <p:sldId id="419" r:id="rId12"/>
    <p:sldId id="435" r:id="rId13"/>
    <p:sldId id="420" r:id="rId14"/>
    <p:sldId id="436" r:id="rId15"/>
    <p:sldId id="421" r:id="rId16"/>
    <p:sldId id="422" r:id="rId17"/>
    <p:sldId id="423" r:id="rId18"/>
    <p:sldId id="437" r:id="rId19"/>
    <p:sldId id="424" r:id="rId20"/>
    <p:sldId id="425" r:id="rId21"/>
    <p:sldId id="426" r:id="rId22"/>
    <p:sldId id="427" r:id="rId23"/>
    <p:sldId id="428" r:id="rId24"/>
    <p:sldId id="429" r:id="rId25"/>
    <p:sldId id="411" r:id="rId26"/>
    <p:sldId id="430" r:id="rId27"/>
    <p:sldId id="431" r:id="rId28"/>
    <p:sldId id="456" r:id="rId29"/>
    <p:sldId id="457" r:id="rId30"/>
    <p:sldId id="412" r:id="rId31"/>
    <p:sldId id="438" r:id="rId32"/>
    <p:sldId id="413" r:id="rId33"/>
    <p:sldId id="462" r:id="rId34"/>
    <p:sldId id="463" r:id="rId35"/>
    <p:sldId id="414" r:id="rId36"/>
  </p:sldIdLst>
  <p:sldSz cx="12192000" cy="6858000"/>
  <p:notesSz cx="6858000" cy="9144000"/>
  <p:custDataLst>
    <p:tags r:id="rId4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3D1CE2"/>
    <a:srgbClr val="FFFFFF"/>
    <a:srgbClr val="9900CC"/>
    <a:srgbClr val="FFCCFF"/>
    <a:srgbClr val="FFFFCC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9190" autoAdjust="0"/>
  </p:normalViewPr>
  <p:slideViewPr>
    <p:cSldViewPr showGuides="1">
      <p:cViewPr>
        <p:scale>
          <a:sx n="60" d="100"/>
          <a:sy n="60" d="100"/>
        </p:scale>
        <p:origin x="-1260" y="-148"/>
      </p:cViewPr>
      <p:guideLst>
        <p:guide orient="horz" pos="2160"/>
        <p:guide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662"/>
    </p:cViewPr>
  </p:sorter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7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gs" Target="tags/tag1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D14C68F-AA02-4465-AD88-18C9C57BD17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543AC59-CF95-47F6-B17C-B59E5D463C8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fld id="{3E58F3F5-6AF7-4AC8-8768-8A9587842B63}" type="slidenum">
              <a:rPr lang="en-US" altLang="zh-CN" sz="1200" b="0" smtClean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JDBC Manager</a:t>
            </a:r>
            <a:r>
              <a:rPr lang="zh-CN" altLang="en-US" dirty="0" smtClean="0"/>
              <a:t>：表示</a:t>
            </a:r>
            <a:r>
              <a:rPr lang="en-US" altLang="zh-CN" dirty="0" smtClean="0"/>
              <a:t>JDBC DRIVER Manager--</a:t>
            </a:r>
            <a:r>
              <a:rPr lang="en-US" altLang="zh-CN" b="1" dirty="0" err="1" smtClean="0"/>
              <a:t>java.sql.DriverManager</a:t>
            </a:r>
            <a:r>
              <a:rPr lang="en-US" altLang="zh-CN" dirty="0" smtClean="0"/>
              <a:t> 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pPr eaLnBrk="1" hangingPunct="1"/>
            <a:r>
              <a:rPr lang="en-US" altLang="zh-CN" dirty="0" smtClean="0"/>
              <a:t>2</a:t>
            </a:r>
            <a:r>
              <a:rPr lang="zh-CN" altLang="en-US" dirty="0" smtClean="0"/>
              <a:t>层面的接口和类的</a:t>
            </a:r>
            <a:r>
              <a:rPr lang="en-US" altLang="zh-CN" dirty="0" smtClean="0"/>
              <a:t>2</a:t>
            </a:r>
            <a:r>
              <a:rPr lang="zh-CN" altLang="en-US" dirty="0" smtClean="0"/>
              <a:t>层面是指访问数据库的程序员和数据库驱动程序提供者</a:t>
            </a:r>
            <a:r>
              <a:rPr lang="en-US" altLang="zh-CN" dirty="0" smtClean="0"/>
              <a:t>/</a:t>
            </a:r>
            <a:r>
              <a:rPr lang="zh-CN" altLang="en-US" dirty="0" smtClean="0"/>
              <a:t>商。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访问数据库的程序员仅仅使用</a:t>
            </a:r>
            <a:r>
              <a:rPr lang="en-US" altLang="zh-CN" dirty="0" smtClean="0"/>
              <a:t>JDBC API </a:t>
            </a:r>
            <a:r>
              <a:rPr lang="zh-CN" altLang="en-US" dirty="0" smtClean="0"/>
              <a:t>就可以访问数据库（得到一个数据库连接、得到查询结果等）。而底层真正完成这些访问数据库的操作是由数据库驱动程序完成的。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43AC59-CF95-47F6-B17C-B59E5D463C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结合示例讲解每个类的作用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43AC59-CF95-47F6-B17C-B59E5D463C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Class.forName(className)可以简单的理解为：获得字符串参数中指定的类，并初始化该类。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Class.forName("");的作用是要求JVM查找并加载指定的类，如果在类中有静态初始化器的话，JVM必然会执行该类的静态代码段。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而在JDBC规范中明确要求这个Driver类必须向DriverManager注册自己，即任何一个JDBCDriver的Driver类的代码都必须类似如下： </a:t>
            </a:r>
            <a:endParaRPr lang="zh-CN" altLang="en-US"/>
          </a:p>
          <a:p>
            <a:r>
              <a:rPr lang="zh-CN" altLang="en-US"/>
              <a:t>          public classMyJDBCDriver implements Driver {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static{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   DriverManager.registerDriver(new MyJDBCDriver());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}</a:t>
            </a:r>
            <a:endParaRPr lang="zh-CN" altLang="en-US"/>
          </a:p>
          <a:p>
            <a:r>
              <a:rPr lang="zh-CN" altLang="en-US"/>
              <a:t>} 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43AC59-CF95-47F6-B17C-B59E5D463C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创建并返回一个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Statement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对象</a:t>
            </a:r>
            <a:endParaRPr kumimoji="0" lang="en-US" altLang="zh-CN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创建并返回一个</a:t>
            </a:r>
            <a:r>
              <a:rPr kumimoji="0" lang="en-US" altLang="zh-CN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prepareStatement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对象。</a:t>
            </a:r>
            <a:endParaRPr kumimoji="0" lang="zh-CN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43AC59-CF95-47F6-B17C-B59E5D463C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43AC59-CF95-47F6-B17C-B59E5D463C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这些方法称为</a:t>
            </a:r>
            <a:r>
              <a:rPr kumimoji="0" lang="en-US" altLang="zh-CN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setXXX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方法；给</a:t>
            </a:r>
            <a:r>
              <a:rPr kumimoji="0" lang="en-US" altLang="zh-CN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parameterIndex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位置的参数赋值。</a:t>
            </a:r>
            <a:endParaRPr kumimoji="0" lang="zh-CN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XXX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指的是</a:t>
            </a:r>
            <a:r>
              <a:rPr kumimoji="0" lang="en-US" altLang="zh-CN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、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float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、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double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、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long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、</a:t>
            </a:r>
            <a:r>
              <a:rPr kumimoji="0" lang="en-US" altLang="zh-CN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boolean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、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String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等类型。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43AC59-CF95-47F6-B17C-B59E5D463C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这些方法称为</a:t>
            </a:r>
            <a:r>
              <a:rPr kumimoji="0" lang="en-US" altLang="zh-CN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setXXX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方法；给</a:t>
            </a:r>
            <a:r>
              <a:rPr kumimoji="0" lang="en-US" altLang="zh-CN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parameterIndex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位置的参数赋值。</a:t>
            </a:r>
            <a:endParaRPr kumimoji="0" lang="zh-CN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XXX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指的是</a:t>
            </a:r>
            <a:r>
              <a:rPr kumimoji="0" lang="en-US" altLang="zh-CN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、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float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、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double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、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long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、</a:t>
            </a:r>
            <a:r>
              <a:rPr kumimoji="0" lang="en-US" altLang="zh-CN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boolean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、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String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等类型。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43AC59-CF95-47F6-B17C-B59E5D463C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标题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6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7" name="Picture 10" descr="校标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1" descr="软件工程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" name="Picture 2" descr="标题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12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3" name="Picture 10" descr="校标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1" descr="软件工程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44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556000" y="24384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 sz="4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zh-CN" noProof="0" dirty="0" smtClean="0"/>
              <a:t>Click to edit Master subtitle style</a:t>
            </a:r>
            <a:endParaRPr lang="en-US" altLang="zh-CN" noProof="0" dirty="0" smtClean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7600" y="152400"/>
            <a:ext cx="10401300" cy="874713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楷体" panose="02010609060101010101" charset="-122"/>
                <a:ea typeface="楷体" panose="02010609060101010101" charset="-122"/>
              </a:defRPr>
            </a:lvl1pPr>
            <a:lvl2pPr>
              <a:defRPr>
                <a:latin typeface="楷体" panose="02010609060101010101" charset="-122"/>
                <a:ea typeface="楷体" panose="02010609060101010101" charset="-122"/>
              </a:defRPr>
            </a:lvl2pPr>
            <a:lvl3pPr>
              <a:defRPr>
                <a:latin typeface="楷体" panose="02010609060101010101" charset="-122"/>
                <a:ea typeface="楷体" panose="02010609060101010101" charset="-122"/>
              </a:defRPr>
            </a:lvl3pPr>
            <a:lvl4pPr>
              <a:defRPr>
                <a:latin typeface="楷体" panose="02010609060101010101" charset="-122"/>
                <a:ea typeface="楷体" panose="02010609060101010101" charset="-122"/>
              </a:defRPr>
            </a:lvl4pPr>
            <a:lvl5pPr>
              <a:defRPr>
                <a:latin typeface="楷体" panose="02010609060101010101" charset="-122"/>
                <a:ea typeface="楷体" panose="02010609060101010101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815E6-DEA6-4F40-A954-531D7B02BB0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BAD16F-44B3-4FF9-8E1E-C32BBB8D134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135063"/>
            <a:ext cx="5255684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20884" y="1135063"/>
            <a:ext cx="52578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85031-D9B3-4736-9114-D77A86F4086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22A79-BB8D-47C7-B421-E41D70C0B26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5A7C5-02FA-4A1C-B58E-5E01BD438A1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848D3-6A97-4F2F-9CE3-5CAE7752297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A02A6-F061-4810-8A39-DBA6F558397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82BD6-1D77-49CF-B5C6-A5311217C99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855F1E-6647-443A-ACE7-7BD18783B43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83133" y="0"/>
            <a:ext cx="2738967" cy="6248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0"/>
            <a:ext cx="8017933" cy="6248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B174F-D567-416F-9979-1537EBE7E80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标题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0"/>
            <a:ext cx="10401300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endParaRPr lang="zh-CN" altLang="en-US" smtClean="0"/>
          </a:p>
        </p:txBody>
      </p:sp>
      <p:sp>
        <p:nvSpPr>
          <p:cNvPr id="1034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35063"/>
            <a:ext cx="10716684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 sz="1400" b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4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1" sz="1400" b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pPr>
              <a:defRPr/>
            </a:pPr>
            <a:fld id="{B0BEB52E-93D1-46BB-A104-321F0DFAE03E}" type="slidenum">
              <a:rPr lang="zh-CN" altLang="en-US"/>
            </a:fld>
            <a:endParaRPr lang="en-US" altLang="zh-CN"/>
          </a:p>
        </p:txBody>
      </p:sp>
      <p:grpSp>
        <p:nvGrpSpPr>
          <p:cNvPr id="1033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034" name="Picture 10" descr="校标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5" name="Picture 11" descr="软件工程2"/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 bldLvl="2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accent2"/>
        </a:buClr>
        <a:buSzPct val="90000"/>
        <a:buFont typeface="Monotype Sorts" pitchFamily="2" charset="2"/>
        <a:buChar char="ª"/>
        <a:defRPr sz="32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660066"/>
        </a:buClr>
        <a:buSzPct val="70000"/>
        <a:buFont typeface="Wingdings" panose="05000000000000000000" pitchFamily="2" charset="2"/>
        <a:buBlip>
          <a:blip r:embed="rId15"/>
        </a:buBlip>
        <a:defRPr sz="2800" b="1">
          <a:solidFill>
            <a:srgbClr val="660066"/>
          </a:solidFill>
          <a:latin typeface="+mn-lt"/>
          <a:ea typeface="+mn-ea"/>
          <a:cs typeface="楷体_GB2312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0000"/>
        <a:buFont typeface="Monotype Sorts" pitchFamily="2" charset="2"/>
        <a:buBlip>
          <a:blip r:embed="rId16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0000"/>
        <a:buBlip>
          <a:blip r:embed="rId17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2288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43075" y="1295400"/>
            <a:ext cx="8696325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4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JDBC</a:t>
            </a:r>
            <a:endParaRPr lang="en-US" altLang="zh-CN" sz="4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eaLnBrk="1" hangingPunct="1">
              <a:lnSpc>
                <a:spcPct val="80000"/>
              </a:lnSpc>
              <a:defRPr/>
            </a:pPr>
            <a:endParaRPr lang="zh-CN" altLang="en-US" sz="4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</a:rPr>
              <a:t>JDBC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 smtClean="0"/>
              <a:t>JDBC</a:t>
            </a:r>
            <a:r>
              <a:rPr lang="zh-CN" altLang="en-US" sz="2800" dirty="0" smtClean="0"/>
              <a:t>简介</a:t>
            </a:r>
            <a:endParaRPr lang="en-US" altLang="zh-CN" sz="2400" dirty="0" smtClean="0"/>
          </a:p>
          <a:p>
            <a:r>
              <a:rPr lang="en-US" altLang="zh-CN" sz="2800" dirty="0" smtClean="0"/>
              <a:t>JDBC</a:t>
            </a:r>
            <a:r>
              <a:rPr lang="zh-CN" altLang="en-US" sz="2800" dirty="0" smtClean="0"/>
              <a:t>常用类和</a:t>
            </a:r>
            <a:r>
              <a:rPr lang="zh-CN" altLang="en-US" sz="2800" dirty="0"/>
              <a:t>接口</a:t>
            </a:r>
            <a:endParaRPr lang="en-US" altLang="zh-CN" sz="2800" dirty="0" smtClean="0"/>
          </a:p>
          <a:p>
            <a:r>
              <a:rPr lang="en-US" altLang="zh-CN" sz="2800" dirty="0" smtClean="0"/>
              <a:t>JDBC</a:t>
            </a:r>
            <a:r>
              <a:rPr lang="zh-CN" altLang="en-US" sz="2800" dirty="0" smtClean="0"/>
              <a:t>使用步骤</a:t>
            </a:r>
            <a:endParaRPr lang="en-US" altLang="zh-CN" sz="2800" dirty="0" smtClean="0"/>
          </a:p>
          <a:p>
            <a:r>
              <a:rPr lang="en-US" altLang="zh-CN" sz="2800" dirty="0" smtClean="0"/>
              <a:t>JDBC</a:t>
            </a:r>
            <a:r>
              <a:rPr lang="zh-CN" altLang="en-US" sz="2800" dirty="0" smtClean="0"/>
              <a:t>实现</a:t>
            </a:r>
            <a:r>
              <a:rPr lang="en-US" altLang="zh-CN" sz="2800" dirty="0" smtClean="0"/>
              <a:t>CRUD</a:t>
            </a:r>
            <a:r>
              <a:rPr lang="zh-CN" altLang="en-US" sz="2800" dirty="0" smtClean="0"/>
              <a:t>操作</a:t>
            </a:r>
            <a:endParaRPr lang="zh-CN" altLang="en-US" sz="2800" dirty="0" smtClean="0"/>
          </a:p>
          <a:p>
            <a:r>
              <a:rPr lang="en-US" altLang="zh-CN" sz="2800" dirty="0" smtClean="0"/>
              <a:t>JDBC</a:t>
            </a:r>
            <a:r>
              <a:rPr lang="zh-CN" altLang="en-US" sz="2800" dirty="0" smtClean="0"/>
              <a:t>调用存储过程</a:t>
            </a:r>
            <a:endParaRPr lang="en-US" altLang="zh-CN" sz="2800" dirty="0" smtClean="0"/>
          </a:p>
          <a:p>
            <a:r>
              <a:rPr lang="en-US" altLang="zh-CN" sz="2800" dirty="0" smtClean="0"/>
              <a:t>JDBC</a:t>
            </a:r>
            <a:r>
              <a:rPr lang="zh-CN" altLang="en-US" sz="2800" dirty="0" smtClean="0"/>
              <a:t>事务处理</a:t>
            </a:r>
            <a:endParaRPr lang="en-US" altLang="zh-CN" sz="2800" dirty="0" smtClean="0"/>
          </a:p>
          <a:p>
            <a:r>
              <a:rPr lang="zh-CN" altLang="en-US" sz="2800" dirty="0"/>
              <a:t>小结</a:t>
            </a:r>
            <a:endParaRPr lang="en-US" altLang="zh-CN" sz="2800" dirty="0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JDBC 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JDBC</a:t>
            </a:r>
            <a:r>
              <a:rPr lang="zh-CN" altLang="en-US" dirty="0" smtClean="0"/>
              <a:t>（</a:t>
            </a:r>
            <a:r>
              <a:rPr lang="en-US" altLang="zh-CN" dirty="0" smtClean="0"/>
              <a:t>Java DataBase Connectivity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/>
              <a:t>是一</a:t>
            </a:r>
            <a:r>
              <a:rPr lang="zh-CN" altLang="en-US" dirty="0" smtClean="0"/>
              <a:t>种用于执行</a:t>
            </a:r>
            <a:r>
              <a:rPr lang="en-US" altLang="zh-CN" dirty="0" smtClean="0"/>
              <a:t>SQL</a:t>
            </a:r>
            <a:r>
              <a:rPr lang="zh-CN" altLang="en-US" dirty="0" smtClean="0"/>
              <a:t>语句的</a:t>
            </a:r>
            <a:r>
              <a:rPr lang="en-US" altLang="zh-CN" dirty="0" smtClean="0"/>
              <a:t>Java API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为多种</a:t>
            </a:r>
            <a:r>
              <a:rPr lang="zh-CN" altLang="en-US" dirty="0" smtClean="0">
                <a:solidFill>
                  <a:srgbClr val="FF0000"/>
                </a:solidFill>
              </a:rPr>
              <a:t>关系数据库</a:t>
            </a:r>
            <a:r>
              <a:rPr lang="zh-CN" altLang="en-US" dirty="0" smtClean="0"/>
              <a:t>提供统一的访问方式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SQLServer</a:t>
            </a:r>
            <a:r>
              <a:rPr lang="zh-CN" altLang="en-US" dirty="0" smtClean="0"/>
              <a:t>、</a:t>
            </a:r>
            <a:r>
              <a:rPr lang="en-US" altLang="zh-CN" dirty="0" smtClean="0"/>
              <a:t>Oracle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Mysql</a:t>
            </a:r>
            <a:r>
              <a:rPr lang="zh-CN" altLang="en-US" dirty="0"/>
              <a:t>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开发人员</a:t>
            </a:r>
            <a:r>
              <a:rPr lang="zh-CN" altLang="en-US" dirty="0" smtClean="0">
                <a:solidFill>
                  <a:srgbClr val="FF0000"/>
                </a:solidFill>
              </a:rPr>
              <a:t>无需</a:t>
            </a:r>
            <a:r>
              <a:rPr lang="zh-CN" altLang="en-US" dirty="0" smtClean="0"/>
              <a:t>为不同的关系数据库编写</a:t>
            </a:r>
            <a:r>
              <a:rPr lang="zh-CN" altLang="en-US" dirty="0" smtClean="0">
                <a:solidFill>
                  <a:srgbClr val="FF0000"/>
                </a:solidFill>
              </a:rPr>
              <a:t>专门的访问程序</a:t>
            </a:r>
            <a:r>
              <a:rPr lang="zh-CN" altLang="en-US" dirty="0" smtClean="0"/>
              <a:t>，只需通过</a:t>
            </a:r>
            <a:r>
              <a:rPr lang="en-US" altLang="zh-CN" dirty="0" smtClean="0">
                <a:solidFill>
                  <a:srgbClr val="FF0000"/>
                </a:solidFill>
              </a:rPr>
              <a:t>JDBC API</a:t>
            </a:r>
            <a:r>
              <a:rPr lang="zh-CN" altLang="en-US" dirty="0" smtClean="0"/>
              <a:t>向数据库发送</a:t>
            </a:r>
            <a:r>
              <a:rPr lang="en-US" altLang="zh-CN" dirty="0" smtClean="0"/>
              <a:t>SQL</a:t>
            </a:r>
            <a:r>
              <a:rPr lang="zh-CN" altLang="en-US" dirty="0" smtClean="0"/>
              <a:t>语句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JDBC 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/>
              <a:t>不同的数据库需要不同的</a:t>
            </a:r>
            <a:r>
              <a:rPr lang="en-US" altLang="zh-CN" sz="2800" dirty="0" smtClean="0"/>
              <a:t>JDBC</a:t>
            </a:r>
            <a:r>
              <a:rPr lang="zh-CN" altLang="en-US" sz="2800" dirty="0" smtClean="0"/>
              <a:t>驱动程序</a:t>
            </a:r>
            <a:endParaRPr lang="en-US" altLang="zh-CN" sz="2800" dirty="0" smtClean="0"/>
          </a:p>
          <a:p>
            <a:pPr lvl="1"/>
            <a:r>
              <a:rPr lang="zh-CN" altLang="en-US" sz="2400" dirty="0" smtClean="0"/>
              <a:t>开发人员可以使用统一的代码在不同的数据库上执行标准</a:t>
            </a:r>
            <a:r>
              <a:rPr lang="en-US" altLang="zh-CN" sz="2400" dirty="0" smtClean="0"/>
              <a:t>SQL</a:t>
            </a:r>
            <a:endParaRPr lang="zh-CN" alt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3962400" y="6167735"/>
            <a:ext cx="4343400" cy="46037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JDBC</a:t>
            </a:r>
            <a:r>
              <a:rPr lang="zh-CN" altLang="en-US" sz="2400" dirty="0" smtClean="0"/>
              <a:t>到数据库的通信路径</a:t>
            </a:r>
            <a:endParaRPr lang="zh-CN" altLang="en-US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8305800" y="2209800"/>
            <a:ext cx="17468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Connection</a:t>
            </a:r>
            <a:endParaRPr lang="en-US" altLang="zh-CN" sz="2000" dirty="0" smtClean="0"/>
          </a:p>
          <a:p>
            <a:r>
              <a:rPr lang="en-US" altLang="zh-CN" sz="2000" dirty="0" smtClean="0"/>
              <a:t>Execute(</a:t>
            </a:r>
            <a:r>
              <a:rPr lang="en-US" altLang="zh-CN" sz="2000" dirty="0" err="1" smtClean="0"/>
              <a:t>sql</a:t>
            </a:r>
            <a:r>
              <a:rPr lang="en-US" altLang="zh-CN" sz="2000" dirty="0" smtClean="0"/>
              <a:t>)</a:t>
            </a:r>
            <a:endParaRPr lang="en-US" altLang="zh-CN" sz="2000" dirty="0" smtClean="0"/>
          </a:p>
          <a:p>
            <a:r>
              <a:rPr lang="en-US" altLang="zh-CN" sz="2000" dirty="0" err="1" smtClean="0"/>
              <a:t>ResultSet</a:t>
            </a:r>
            <a:endParaRPr lang="zh-CN" altLang="en-US" sz="2000" dirty="0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  <p:grpSp>
        <p:nvGrpSpPr>
          <p:cNvPr id="5" name="组合 4"/>
          <p:cNvGrpSpPr/>
          <p:nvPr/>
        </p:nvGrpSpPr>
        <p:grpSpPr>
          <a:xfrm>
            <a:off x="2583180" y="2514600"/>
            <a:ext cx="6123305" cy="3581400"/>
            <a:chOff x="4068" y="3960"/>
            <a:chExt cx="9643" cy="5640"/>
          </a:xfrm>
        </p:grpSpPr>
        <p:sp>
          <p:nvSpPr>
            <p:cNvPr id="3" name="TextBox 2"/>
            <p:cNvSpPr txBox="1"/>
            <p:nvPr/>
          </p:nvSpPr>
          <p:spPr>
            <a:xfrm>
              <a:off x="5257" y="3960"/>
              <a:ext cx="7629" cy="628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0" dirty="0" smtClean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Java</a:t>
              </a:r>
              <a:r>
                <a:rPr lang="zh-CN" altLang="en-US" sz="2000" b="0" dirty="0" smtClean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应用程序中使用统一的</a:t>
              </a:r>
              <a:r>
                <a:rPr lang="en-US" altLang="zh-CN" sz="2000" b="0" dirty="0" smtClean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JDBC API </a:t>
              </a:r>
              <a:endParaRPr lang="zh-CN" altLang="en-US" sz="20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257" y="5206"/>
              <a:ext cx="7630" cy="628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0" dirty="0" smtClean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Java</a:t>
              </a:r>
              <a:r>
                <a:rPr lang="zh-CN" altLang="en-US" sz="2000" b="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驱动程序</a:t>
              </a:r>
              <a:r>
                <a:rPr lang="zh-CN" altLang="en-US" sz="2000" b="0" dirty="0" smtClean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管理器</a:t>
              </a:r>
              <a:r>
                <a:rPr lang="en-US" altLang="zh-CN" sz="2000" b="0" dirty="0" err="1" smtClean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DriverManager</a:t>
              </a:r>
              <a:endParaRPr lang="zh-CN" altLang="en-US" sz="20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068" y="6673"/>
              <a:ext cx="3326" cy="101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800" b="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SQL Server </a:t>
              </a:r>
              <a:r>
                <a:rPr lang="en-US" altLang="zh-CN" sz="1800" b="0" dirty="0" smtClean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JDBC</a:t>
              </a:r>
              <a:br>
                <a:rPr lang="en-US" altLang="zh-CN" sz="1800" b="0" dirty="0" smtClean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</a:br>
              <a:r>
                <a:rPr lang="zh-CN" altLang="en-US" sz="1800" b="0" dirty="0" smtClean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驱动程序</a:t>
              </a:r>
              <a:endParaRPr lang="en-US" altLang="zh-CN" sz="1800" b="0" dirty="0" smtClean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6" name="流程图: 磁盘 5"/>
            <p:cNvSpPr/>
            <p:nvPr/>
          </p:nvSpPr>
          <p:spPr>
            <a:xfrm>
              <a:off x="4523" y="8400"/>
              <a:ext cx="2384" cy="1200"/>
            </a:xfrm>
            <a:prstGeom prst="flowChartMagneticDisk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0" dirty="0" smtClean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SQL Server</a:t>
              </a:r>
              <a:endParaRPr lang="en-US" altLang="zh-CN" sz="2000" b="0" dirty="0" smtClean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2" name="上下箭头 11"/>
            <p:cNvSpPr/>
            <p:nvPr/>
          </p:nvSpPr>
          <p:spPr>
            <a:xfrm>
              <a:off x="8637" y="4590"/>
              <a:ext cx="390" cy="617"/>
            </a:xfrm>
            <a:prstGeom prst="up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3" name="上下箭头 12"/>
            <p:cNvSpPr/>
            <p:nvPr/>
          </p:nvSpPr>
          <p:spPr>
            <a:xfrm>
              <a:off x="9026" y="5858"/>
              <a:ext cx="361" cy="786"/>
            </a:xfrm>
            <a:prstGeom prst="up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7" name="上下箭头 16"/>
            <p:cNvSpPr/>
            <p:nvPr/>
          </p:nvSpPr>
          <p:spPr>
            <a:xfrm>
              <a:off x="5548" y="7689"/>
              <a:ext cx="398" cy="711"/>
            </a:xfrm>
            <a:prstGeom prst="up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8" name="流程图: 磁盘 7"/>
            <p:cNvSpPr/>
            <p:nvPr/>
          </p:nvSpPr>
          <p:spPr>
            <a:xfrm>
              <a:off x="8002" y="8400"/>
              <a:ext cx="2384" cy="1200"/>
            </a:xfrm>
            <a:prstGeom prst="flowChartMagneticDisk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000" b="0" dirty="0" smtClean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MySQL</a:t>
              </a:r>
              <a:endParaRPr lang="en-US" altLang="zh-CN" sz="2000" b="0" dirty="0" smtClean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2" name="流程图: 磁盘 21"/>
            <p:cNvSpPr/>
            <p:nvPr/>
          </p:nvSpPr>
          <p:spPr>
            <a:xfrm>
              <a:off x="11196" y="8400"/>
              <a:ext cx="2384" cy="1200"/>
            </a:xfrm>
            <a:prstGeom prst="flowChartMagneticDisk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000" b="0" dirty="0" smtClean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Oracle</a:t>
              </a:r>
              <a:endParaRPr lang="en-US" altLang="zh-CN" sz="2000" b="0" dirty="0" smtClean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4" name="TextBox 10"/>
            <p:cNvSpPr txBox="1"/>
            <p:nvPr/>
          </p:nvSpPr>
          <p:spPr>
            <a:xfrm>
              <a:off x="7889" y="6643"/>
              <a:ext cx="2646" cy="101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800" b="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MySQL </a:t>
              </a:r>
              <a:r>
                <a:rPr lang="en-US" altLang="zh-CN" sz="1800" b="0" dirty="0" smtClean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JDBC</a:t>
              </a:r>
              <a:br>
                <a:rPr lang="en-US" altLang="zh-CN" sz="1800" b="0" dirty="0" smtClean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</a:br>
              <a:r>
                <a:rPr lang="zh-CN" altLang="en-US" sz="1800" b="0" dirty="0" smtClean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驱动程序</a:t>
              </a:r>
              <a:endParaRPr lang="en-US" altLang="zh-CN" sz="1800" b="0" dirty="0" smtClean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25" name="TextBox 10"/>
            <p:cNvSpPr txBox="1"/>
            <p:nvPr/>
          </p:nvSpPr>
          <p:spPr>
            <a:xfrm>
              <a:off x="11065" y="6673"/>
              <a:ext cx="2646" cy="101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800" b="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Oracle </a:t>
              </a:r>
              <a:r>
                <a:rPr lang="en-US" altLang="zh-CN" sz="1800" b="0" dirty="0" smtClean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JDBC</a:t>
              </a:r>
              <a:br>
                <a:rPr lang="en-US" altLang="zh-CN" sz="1800" b="0" dirty="0" smtClean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</a:br>
              <a:r>
                <a:rPr lang="zh-CN" altLang="en-US" sz="1800" b="0" dirty="0" smtClean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驱动程序</a:t>
              </a:r>
              <a:endParaRPr lang="en-US" altLang="zh-CN" sz="1800" b="0" dirty="0" smtClean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26" name="上下箭头 25"/>
            <p:cNvSpPr/>
            <p:nvPr/>
          </p:nvSpPr>
          <p:spPr>
            <a:xfrm>
              <a:off x="8988" y="7649"/>
              <a:ext cx="398" cy="711"/>
            </a:xfrm>
            <a:prstGeom prst="up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7" name="上下箭头 26"/>
            <p:cNvSpPr/>
            <p:nvPr/>
          </p:nvSpPr>
          <p:spPr>
            <a:xfrm>
              <a:off x="12228" y="7769"/>
              <a:ext cx="398" cy="711"/>
            </a:xfrm>
            <a:prstGeom prst="up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8" name="上下箭头 27"/>
            <p:cNvSpPr/>
            <p:nvPr/>
          </p:nvSpPr>
          <p:spPr>
            <a:xfrm>
              <a:off x="5706" y="5887"/>
              <a:ext cx="361" cy="786"/>
            </a:xfrm>
            <a:prstGeom prst="up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9" name="上下箭头 28"/>
            <p:cNvSpPr/>
            <p:nvPr/>
          </p:nvSpPr>
          <p:spPr>
            <a:xfrm>
              <a:off x="12025" y="5834"/>
              <a:ext cx="361" cy="839"/>
            </a:xfrm>
            <a:prstGeom prst="up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0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sp>
        <p:nvSpPr>
          <p:cNvPr id="9" name="右箭头 8">
            <a:hlinkClick r:id="rId1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JDBC </a:t>
            </a:r>
            <a:r>
              <a:rPr lang="zh-CN" altLang="en-US" dirty="0" smtClean="0"/>
              <a:t>常用类和接口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JDBC API</a:t>
            </a:r>
            <a:r>
              <a:rPr lang="zh-CN" altLang="en-US" dirty="0" smtClean="0"/>
              <a:t>由两个包中的接口和类组成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Java.sql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完成基本数据库操作。如创建</a:t>
            </a:r>
            <a:r>
              <a:rPr lang="zh-CN" altLang="en-US" dirty="0"/>
              <a:t>连接、执行</a:t>
            </a:r>
            <a:r>
              <a:rPr lang="en-US" altLang="zh-CN" dirty="0"/>
              <a:t>SQL</a:t>
            </a:r>
            <a:r>
              <a:rPr lang="zh-CN" altLang="en-US" dirty="0"/>
              <a:t>语句、运行批处理查询。同时也有一些高级处理如批处理更新、可滚动结果集等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Javax.sql</a:t>
            </a:r>
            <a:endParaRPr lang="en-US" altLang="zh-CN" dirty="0" smtClean="0"/>
          </a:p>
          <a:p>
            <a:pPr lvl="2"/>
            <a:r>
              <a:rPr lang="zh-CN" altLang="en-US" dirty="0"/>
              <a:t>进行数据库高级</a:t>
            </a:r>
            <a:r>
              <a:rPr lang="zh-CN" altLang="en-US" dirty="0" smtClean="0"/>
              <a:t>操作。</a:t>
            </a:r>
            <a:r>
              <a:rPr lang="zh-CN" altLang="en-US" dirty="0"/>
              <a:t>如连接管理、容器管理的连接池、分布式</a:t>
            </a:r>
            <a:r>
              <a:rPr lang="zh-CN" altLang="en-US" dirty="0" smtClean="0"/>
              <a:t>事务等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JDBC </a:t>
            </a:r>
            <a:r>
              <a:rPr lang="zh-CN" altLang="en-US" dirty="0" smtClean="0"/>
              <a:t>常用类和接口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104765" y="5809615"/>
            <a:ext cx="50584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9900CC"/>
                </a:solidFill>
              </a:rPr>
              <a:t>2-1/ TutorialExample.java</a:t>
            </a:r>
            <a:r>
              <a:rPr lang="zh-CN" altLang="en-US" sz="2400" dirty="0" smtClean="0">
                <a:solidFill>
                  <a:srgbClr val="9900CC"/>
                </a:solidFill>
              </a:rPr>
              <a:t>（代码）</a:t>
            </a:r>
            <a:endParaRPr lang="zh-CN" altLang="en-US" sz="2400" dirty="0" smtClean="0">
              <a:solidFill>
                <a:srgbClr val="9900CC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55475" y="1295400"/>
            <a:ext cx="2438400" cy="609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</a:rPr>
              <a:t>Driver Manager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52600" y="2514600"/>
            <a:ext cx="2438400" cy="609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</a:rPr>
              <a:t>Connection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52600" y="3733800"/>
            <a:ext cx="2438400" cy="609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</a:rPr>
              <a:t>Statement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52600" y="4876800"/>
            <a:ext cx="2438400" cy="609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err="1" smtClean="0">
                <a:solidFill>
                  <a:schemeClr val="tx1"/>
                </a:solidFill>
              </a:rPr>
              <a:t>ResultSet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105400" y="3200400"/>
            <a:ext cx="2895600" cy="609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err="1" smtClean="0">
                <a:solidFill>
                  <a:schemeClr val="tx1"/>
                </a:solidFill>
              </a:rPr>
              <a:t>PreparedStatement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05400" y="4267200"/>
            <a:ext cx="2895600" cy="609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err="1" smtClean="0">
                <a:solidFill>
                  <a:schemeClr val="tx1"/>
                </a:solidFill>
              </a:rPr>
              <a:t>CallableStatement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3003430" y="1920815"/>
            <a:ext cx="2875" cy="60960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" idx="2"/>
            <a:endCxn id="7" idx="0"/>
          </p:cNvCxnSpPr>
          <p:nvPr/>
        </p:nvCxnSpPr>
        <p:spPr>
          <a:xfrm>
            <a:off x="2971800" y="3124200"/>
            <a:ext cx="0" cy="60960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7" idx="2"/>
            <a:endCxn id="8" idx="0"/>
          </p:cNvCxnSpPr>
          <p:nvPr/>
        </p:nvCxnSpPr>
        <p:spPr>
          <a:xfrm>
            <a:off x="2971800" y="4343400"/>
            <a:ext cx="0" cy="53340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左大括号 18"/>
          <p:cNvSpPr/>
          <p:nvPr/>
        </p:nvSpPr>
        <p:spPr>
          <a:xfrm>
            <a:off x="4458419" y="3429000"/>
            <a:ext cx="457200" cy="1266675"/>
          </a:xfrm>
          <a:prstGeom prst="leftBrac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343400" y="1367135"/>
            <a:ext cx="5572664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管理驱动程序，创建新的数据库连接</a:t>
            </a:r>
            <a:endParaRPr lang="en-US" altLang="zh-CN" sz="2400" dirty="0"/>
          </a:p>
        </p:txBody>
      </p:sp>
      <p:sp>
        <p:nvSpPr>
          <p:cNvPr id="21" name="矩形 20"/>
          <p:cNvSpPr/>
          <p:nvPr/>
        </p:nvSpPr>
        <p:spPr>
          <a:xfrm>
            <a:off x="4343400" y="2586335"/>
            <a:ext cx="4191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完成对某一指定数据库的连接</a:t>
            </a:r>
            <a:endParaRPr lang="zh-CN" altLang="en-US" sz="2400" dirty="0"/>
          </a:p>
        </p:txBody>
      </p:sp>
      <p:sp>
        <p:nvSpPr>
          <p:cNvPr id="22" name="矩形 21"/>
          <p:cNvSpPr/>
          <p:nvPr/>
        </p:nvSpPr>
        <p:spPr>
          <a:xfrm>
            <a:off x="8229600" y="3881735"/>
            <a:ext cx="20394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执行</a:t>
            </a:r>
            <a:r>
              <a:rPr lang="en-US" altLang="zh-CN" sz="2400" dirty="0" smtClean="0"/>
              <a:t>SQL</a:t>
            </a:r>
            <a:r>
              <a:rPr lang="zh-CN" altLang="en-US" sz="2400" dirty="0" smtClean="0"/>
              <a:t>语句</a:t>
            </a:r>
            <a:endParaRPr lang="zh-CN" altLang="en-US" sz="2400" dirty="0"/>
          </a:p>
        </p:txBody>
      </p:sp>
      <p:sp>
        <p:nvSpPr>
          <p:cNvPr id="23" name="矩形 22"/>
          <p:cNvSpPr/>
          <p:nvPr/>
        </p:nvSpPr>
        <p:spPr>
          <a:xfrm>
            <a:off x="4495800" y="4953000"/>
            <a:ext cx="2442713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管理执行结果集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  <p:sp>
        <p:nvSpPr>
          <p:cNvPr id="11" name="右箭头 10">
            <a:hlinkClick r:id="rId1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85800" y="1371600"/>
            <a:ext cx="98234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sz="2400" dirty="0" smtClean="0"/>
              <a:t>类</a:t>
            </a:r>
            <a:endParaRPr lang="zh-CN" sz="2400" dirty="0"/>
          </a:p>
        </p:txBody>
      </p:sp>
      <p:sp>
        <p:nvSpPr>
          <p:cNvPr id="15" name="矩形 14"/>
          <p:cNvSpPr/>
          <p:nvPr/>
        </p:nvSpPr>
        <p:spPr>
          <a:xfrm>
            <a:off x="685800" y="2578100"/>
            <a:ext cx="98234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sz="2400" dirty="0"/>
              <a:t>接口</a:t>
            </a:r>
            <a:endParaRPr lang="zh-CN" sz="2400" dirty="0"/>
          </a:p>
        </p:txBody>
      </p:sp>
      <p:sp>
        <p:nvSpPr>
          <p:cNvPr id="17" name="矩形 16"/>
          <p:cNvSpPr/>
          <p:nvPr/>
        </p:nvSpPr>
        <p:spPr>
          <a:xfrm>
            <a:off x="685800" y="3832225"/>
            <a:ext cx="98234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sz="2400" dirty="0"/>
              <a:t>接口</a:t>
            </a:r>
            <a:endParaRPr lang="zh-CN" sz="2400" dirty="0"/>
          </a:p>
        </p:txBody>
      </p:sp>
      <p:sp>
        <p:nvSpPr>
          <p:cNvPr id="18" name="矩形 17"/>
          <p:cNvSpPr/>
          <p:nvPr/>
        </p:nvSpPr>
        <p:spPr>
          <a:xfrm>
            <a:off x="685800" y="4968875"/>
            <a:ext cx="98234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sz="2400" dirty="0"/>
              <a:t>接口</a:t>
            </a:r>
            <a:endParaRPr lang="zh-CN" sz="2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" y="1143000"/>
            <a:ext cx="11915775" cy="48710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9900CC"/>
                </a:solidFill>
              </a:rPr>
              <a:t>TutorialExample</a:t>
            </a:r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3581400" y="4648200"/>
            <a:ext cx="20574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812800" y="5690870"/>
            <a:ext cx="1324610" cy="2413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812800" y="6096000"/>
            <a:ext cx="1397000" cy="2159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灯片编号占位符 2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368925" y="3451860"/>
            <a:ext cx="60521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/>
              <a:t>MySQL8 </a:t>
            </a:r>
            <a:r>
              <a:rPr lang="zh-CN" altLang="en-US" sz="2400"/>
              <a:t>：</a:t>
            </a:r>
            <a:r>
              <a:rPr lang="zh-CN" altLang="en-US" sz="2400" b="0">
                <a:solidFill>
                  <a:schemeClr val="tx1"/>
                </a:solidFill>
              </a:rPr>
              <a:t>com.mysql.</a:t>
            </a:r>
            <a:r>
              <a:rPr lang="zh-CN" altLang="en-US" sz="2400">
                <a:solidFill>
                  <a:srgbClr val="FF0000"/>
                </a:solidFill>
              </a:rPr>
              <a:t>cj</a:t>
            </a:r>
            <a:r>
              <a:rPr lang="zh-CN" altLang="en-US" sz="2400" b="0">
                <a:solidFill>
                  <a:schemeClr val="tx1"/>
                </a:solidFill>
              </a:rPr>
              <a:t>.jdbc.Driver</a:t>
            </a:r>
            <a:endParaRPr lang="zh-CN" altLang="en-US" sz="2400" b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53710" y="2243455"/>
            <a:ext cx="633412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0">
                <a:solidFill>
                  <a:schemeClr val="tx1"/>
                </a:solidFill>
              </a:rPr>
              <a:t>?characterEncoding=utf8&amp;useSSL=false&amp;serverTimezone=UTC&amp;rewriteBatchedStatements=true</a:t>
            </a:r>
            <a:endParaRPr lang="en-US" altLang="zh-CN" sz="20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685" y="1197610"/>
            <a:ext cx="10819765" cy="5240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rgbClr val="9900CC"/>
                </a:solidFill>
              </a:rPr>
              <a:t>TutorialExample</a:t>
            </a:r>
            <a:r>
              <a:rPr lang="en-US" altLang="zh-CN" dirty="0" smtClean="0">
                <a:solidFill>
                  <a:srgbClr val="9900CC"/>
                </a:solidFill>
              </a:rPr>
              <a:t>(</a:t>
            </a:r>
            <a:r>
              <a:rPr lang="zh-CN" altLang="en-US" dirty="0" smtClean="0">
                <a:solidFill>
                  <a:srgbClr val="9900CC"/>
                </a:solidFill>
              </a:rPr>
              <a:t>续</a:t>
            </a:r>
            <a:r>
              <a:rPr lang="en-US" altLang="zh-CN" dirty="0" smtClean="0">
                <a:solidFill>
                  <a:srgbClr val="9900CC"/>
                </a:solidFill>
              </a:rPr>
              <a:t>)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1242695" y="1842770"/>
            <a:ext cx="2393950" cy="2032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327785" y="6437630"/>
            <a:ext cx="17526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java.sql.DriverManager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管理驱动程序</a:t>
            </a:r>
            <a:r>
              <a:rPr lang="zh-CN" altLang="en-US" dirty="0" smtClean="0"/>
              <a:t>，创建</a:t>
            </a:r>
            <a:r>
              <a:rPr lang="zh-CN" altLang="en-US" dirty="0"/>
              <a:t>新的数据库</a:t>
            </a:r>
            <a:r>
              <a:rPr lang="zh-CN" altLang="en-US" dirty="0" smtClean="0"/>
              <a:t>连接</a:t>
            </a:r>
            <a:endParaRPr lang="en-US" altLang="zh-CN" dirty="0" smtClean="0"/>
          </a:p>
          <a:p>
            <a:r>
              <a:rPr lang="zh-CN" altLang="en-US" dirty="0" smtClean="0"/>
              <a:t>常用</a:t>
            </a:r>
            <a:r>
              <a:rPr lang="zh-CN" altLang="en-US" dirty="0"/>
              <a:t>接口</a:t>
            </a:r>
            <a:endParaRPr lang="en-US" altLang="zh-CN" dirty="0" smtClean="0"/>
          </a:p>
          <a:p>
            <a:pPr lvl="1"/>
            <a:r>
              <a:rPr lang="en-US" altLang="zh-CN" sz="2400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Connection </a:t>
            </a:r>
            <a:r>
              <a:rPr lang="en-US" altLang="zh-CN" sz="2400" dirty="0" err="1" smtClean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getConnection</a:t>
            </a:r>
            <a:r>
              <a:rPr lang="en-US" altLang="zh-CN" sz="2400" dirty="0" smtClean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2400" b="0" dirty="0" err="1" smtClean="0">
                <a:latin typeface="Tahoma" panose="020B0604030504040204" pitchFamily="34" charset="0"/>
                <a:ea typeface="宋体" panose="02010600030101010101" pitchFamily="2" charset="-122"/>
              </a:rPr>
              <a:t>url</a:t>
            </a:r>
            <a:r>
              <a:rPr lang="en-US" altLang="zh-CN" sz="2400" b="0" dirty="0">
                <a:latin typeface="Tahoma" panose="020B0604030504040204" pitchFamily="34" charset="0"/>
                <a:ea typeface="宋体" panose="02010600030101010101" pitchFamily="2" charset="-122"/>
              </a:rPr>
              <a:t>, </a:t>
            </a:r>
            <a:r>
              <a:rPr lang="en-US" altLang="zh-CN" sz="2400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user</a:t>
            </a:r>
            <a:r>
              <a:rPr lang="en-US" altLang="zh-CN" sz="2400" b="0" dirty="0">
                <a:latin typeface="Tahoma" panose="020B0604030504040204" pitchFamily="34" charset="0"/>
                <a:ea typeface="宋体" panose="02010600030101010101" pitchFamily="2" charset="-122"/>
              </a:rPr>
              <a:t>, </a:t>
            </a:r>
            <a:r>
              <a:rPr lang="en-US" altLang="zh-CN" sz="2400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password)</a:t>
            </a:r>
            <a:endParaRPr lang="en-US" altLang="zh-CN" sz="2400" b="0" dirty="0" smtClean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2"/>
            <a:r>
              <a:rPr lang="zh-CN" altLang="en-US" sz="2200" dirty="0">
                <a:latin typeface="Tahoma" panose="020B0604030504040204" pitchFamily="34" charset="0"/>
                <a:ea typeface="宋体" panose="02010600030101010101" pitchFamily="2" charset="-122"/>
              </a:rPr>
              <a:t>建立和数据库的</a:t>
            </a:r>
            <a:r>
              <a:rPr lang="zh-CN" altLang="en-US" sz="2200" dirty="0" smtClean="0">
                <a:latin typeface="Tahoma" panose="020B0604030504040204" pitchFamily="34" charset="0"/>
                <a:ea typeface="宋体" panose="02010600030101010101" pitchFamily="2" charset="-122"/>
              </a:rPr>
              <a:t>连接</a:t>
            </a:r>
            <a:endParaRPr lang="en-US" altLang="zh-CN" sz="2200" dirty="0" smtClean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2"/>
            <a:r>
              <a:rPr lang="en-US" altLang="zh-CN" sz="2200" dirty="0"/>
              <a:t>Connection conn = </a:t>
            </a:r>
            <a:r>
              <a:rPr lang="en-US" altLang="zh-CN" sz="2200" dirty="0" err="1"/>
              <a:t>DriverManager.</a:t>
            </a:r>
            <a:r>
              <a:rPr lang="en-US" altLang="zh-CN" sz="2200" i="1" dirty="0" err="1"/>
              <a:t>getConnection</a:t>
            </a:r>
            <a:r>
              <a:rPr lang="en-US" altLang="zh-CN" sz="2200" i="1" dirty="0"/>
              <a:t>(</a:t>
            </a:r>
            <a:r>
              <a:rPr lang="en-US" altLang="zh-CN" sz="2200" i="1" dirty="0" err="1"/>
              <a:t>url</a:t>
            </a:r>
            <a:r>
              <a:rPr lang="en-US" altLang="zh-CN" sz="2200" i="1" dirty="0"/>
              <a:t>, </a:t>
            </a:r>
            <a:r>
              <a:rPr lang="en-US" altLang="zh-CN" sz="2200" i="1" dirty="0" err="1"/>
              <a:t>dbUser</a:t>
            </a:r>
            <a:r>
              <a:rPr lang="en-US" altLang="zh-CN" sz="2200" i="1" dirty="0"/>
              <a:t>, dbPassword</a:t>
            </a:r>
            <a:r>
              <a:rPr lang="en-US" altLang="zh-CN" sz="2200" i="1" dirty="0" smtClean="0"/>
              <a:t>)</a:t>
            </a:r>
            <a:endParaRPr lang="en-US" altLang="zh-CN" sz="2200" i="1" dirty="0" smtClean="0"/>
          </a:p>
          <a:p>
            <a:pPr lvl="2"/>
            <a:r>
              <a:rPr lang="en-US" altLang="zh-CN" sz="2200" dirty="0" err="1"/>
              <a:t>url</a:t>
            </a:r>
            <a:r>
              <a:rPr lang="en-US" altLang="zh-CN" sz="2200" dirty="0"/>
              <a:t> = "</a:t>
            </a:r>
            <a:r>
              <a:rPr lang="en-US" altLang="zh-CN" sz="2200" dirty="0" err="1"/>
              <a:t>jdbc:mysql</a:t>
            </a:r>
            <a:r>
              <a:rPr lang="en-US" altLang="zh-CN" sz="2200" dirty="0"/>
              <a:t>://</a:t>
            </a:r>
            <a:r>
              <a:rPr lang="en-US" altLang="zh-CN" sz="2200" dirty="0" smtClean="0"/>
              <a:t>localhost:3306/</a:t>
            </a:r>
            <a:r>
              <a:rPr lang="en-US" altLang="zh-CN" sz="2200" dirty="0" err="1" smtClean="0"/>
              <a:t>testDB</a:t>
            </a:r>
            <a:r>
              <a:rPr lang="en-US" altLang="zh-CN" sz="2200" dirty="0" smtClean="0"/>
              <a:t>"</a:t>
            </a:r>
            <a:br>
              <a:rPr lang="en-US" altLang="zh-CN" sz="2000" dirty="0" smtClean="0"/>
            </a:br>
            <a:endParaRPr lang="en-US" altLang="zh-CN" sz="2000" dirty="0" smtClean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endParaRPr lang="zh-CN" alt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5918835" y="4493260"/>
            <a:ext cx="1066800" cy="855980"/>
            <a:chOff x="5334000" y="4343400"/>
            <a:chExt cx="1066800" cy="855980"/>
          </a:xfrm>
        </p:grpSpPr>
        <p:cxnSp>
          <p:nvCxnSpPr>
            <p:cNvPr id="5" name="直接箭头连接符 4"/>
            <p:cNvCxnSpPr/>
            <p:nvPr/>
          </p:nvCxnSpPr>
          <p:spPr>
            <a:xfrm>
              <a:off x="5867400" y="4343400"/>
              <a:ext cx="0" cy="4572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5334000" y="4800600"/>
              <a:ext cx="106680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/>
                <a:t>端口号</a:t>
              </a:r>
              <a:endParaRPr lang="zh-CN" altLang="en-US" sz="2000" dirty="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937375" y="4492997"/>
            <a:ext cx="1295400" cy="790649"/>
            <a:chOff x="6248400" y="4411717"/>
            <a:chExt cx="1295400" cy="790649"/>
          </a:xfrm>
        </p:grpSpPr>
        <p:sp>
          <p:nvSpPr>
            <p:cNvPr id="8" name="TextBox 7"/>
            <p:cNvSpPr txBox="1"/>
            <p:nvPr/>
          </p:nvSpPr>
          <p:spPr>
            <a:xfrm>
              <a:off x="6248400" y="4803586"/>
              <a:ext cx="129540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/>
                <a:t>数据库名</a:t>
              </a:r>
              <a:endParaRPr lang="zh-CN" altLang="en-US" sz="2000" dirty="0"/>
            </a:p>
          </p:txBody>
        </p:sp>
        <p:cxnSp>
          <p:nvCxnSpPr>
            <p:cNvPr id="9" name="直接箭头连接符 8"/>
            <p:cNvCxnSpPr/>
            <p:nvPr/>
          </p:nvCxnSpPr>
          <p:spPr>
            <a:xfrm>
              <a:off x="6781800" y="4411717"/>
              <a:ext cx="0" cy="4572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3480435" y="4493260"/>
            <a:ext cx="1044575" cy="760730"/>
            <a:chOff x="3097770" y="4419600"/>
            <a:chExt cx="1017030" cy="760730"/>
          </a:xfrm>
        </p:grpSpPr>
        <p:cxnSp>
          <p:nvCxnSpPr>
            <p:cNvPr id="10" name="直接箭头连接符 9"/>
            <p:cNvCxnSpPr/>
            <p:nvPr/>
          </p:nvCxnSpPr>
          <p:spPr>
            <a:xfrm>
              <a:off x="3657600" y="4419600"/>
              <a:ext cx="0" cy="4572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3097770" y="4781550"/>
              <a:ext cx="101703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/>
                <a:t>DBMS</a:t>
              </a:r>
              <a:endParaRPr lang="zh-CN" altLang="en-US" sz="2000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676400" y="5181600"/>
            <a:ext cx="89154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前提</a:t>
            </a:r>
            <a:r>
              <a:rPr lang="en-US" altLang="zh-CN" sz="2000" dirty="0" smtClean="0"/>
              <a:t>:</a:t>
            </a:r>
            <a:r>
              <a:rPr lang="zh-CN" altLang="en-US" sz="2000" dirty="0" smtClean="0"/>
              <a:t>注册驱动程序</a:t>
            </a:r>
            <a:r>
              <a:rPr lang="zh-CN" altLang="en-US" sz="2400" dirty="0" smtClean="0"/>
              <a:t> </a:t>
            </a:r>
            <a:r>
              <a:rPr lang="en-US" altLang="zh-CN" sz="2400" dirty="0" err="1" smtClean="0">
                <a:solidFill>
                  <a:schemeClr val="bg2"/>
                </a:solidFill>
              </a:rPr>
              <a:t>Class.</a:t>
            </a:r>
            <a:r>
              <a:rPr lang="en-US" altLang="zh-CN" sz="2400" i="1" dirty="0" err="1" smtClean="0">
                <a:solidFill>
                  <a:schemeClr val="bg2"/>
                </a:solidFill>
              </a:rPr>
              <a:t>forName</a:t>
            </a:r>
            <a:r>
              <a:rPr lang="en-US" altLang="zh-CN" sz="2400" i="1" dirty="0" smtClean="0">
                <a:solidFill>
                  <a:schemeClr val="bg2"/>
                </a:solidFill>
              </a:rPr>
              <a:t>(“</a:t>
            </a:r>
            <a:r>
              <a:rPr lang="en-US" altLang="zh-CN" sz="2400" dirty="0" err="1">
                <a:solidFill>
                  <a:schemeClr val="bg2"/>
                </a:solidFill>
              </a:rPr>
              <a:t>com.mysql.jdbc.Driver</a:t>
            </a:r>
            <a:r>
              <a:rPr lang="en-US" altLang="zh-CN" sz="2400" i="1" dirty="0" smtClean="0">
                <a:solidFill>
                  <a:schemeClr val="bg2"/>
                </a:solidFill>
              </a:rPr>
              <a:t>”)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629400" y="5567065"/>
            <a:ext cx="34290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87955" y="5620385"/>
            <a:ext cx="7527925" cy="119888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0">
                <a:solidFill>
                  <a:schemeClr val="tx1"/>
                </a:solidFill>
                <a:sym typeface="+mn-ea"/>
              </a:rPr>
              <a:t>com.mysql.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cj</a:t>
            </a:r>
            <a:r>
              <a:rPr lang="zh-CN" altLang="en-US" sz="2400" b="0">
                <a:solidFill>
                  <a:schemeClr val="tx1"/>
                </a:solidFill>
                <a:sym typeface="+mn-ea"/>
              </a:rPr>
              <a:t>.jdbc.Driver</a:t>
            </a:r>
            <a:endParaRPr lang="en-US" altLang="zh-CN" sz="2400" dirty="0" err="1" smtClean="0">
              <a:solidFill>
                <a:schemeClr val="bg2"/>
              </a:solidFill>
            </a:endParaRPr>
          </a:p>
          <a:p>
            <a:r>
              <a:rPr lang="en-US" altLang="zh-CN" sz="2400" dirty="0" err="1" smtClean="0">
                <a:solidFill>
                  <a:schemeClr val="bg2"/>
                </a:solidFill>
              </a:rPr>
              <a:t>Oracle.jdbc.driver.OracleDriver</a:t>
            </a:r>
            <a:br>
              <a:rPr lang="en-US" altLang="zh-CN" sz="2400" dirty="0" smtClean="0">
                <a:solidFill>
                  <a:schemeClr val="bg2"/>
                </a:solidFill>
              </a:rPr>
            </a:br>
            <a:r>
              <a:rPr lang="en-US" altLang="zh-CN" sz="2400" dirty="0" err="1" smtClean="0">
                <a:solidFill>
                  <a:schemeClr val="bg2"/>
                </a:solidFill>
              </a:rPr>
              <a:t>com.microsoft.jdbc.sqlserver.SQLServerDriver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java.sql.DriverManager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常用</a:t>
            </a:r>
            <a:r>
              <a:rPr lang="zh-CN" altLang="en-US" dirty="0"/>
              <a:t>接口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setLoginTimeout</a:t>
            </a:r>
            <a:r>
              <a:rPr lang="en-US" altLang="zh-CN" dirty="0" smtClean="0"/>
              <a:t>(seconds)</a:t>
            </a:r>
            <a:endParaRPr lang="en-US" altLang="zh-CN" dirty="0" smtClean="0"/>
          </a:p>
          <a:p>
            <a:pPr lvl="2"/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设置等待数据库连接的最长</a:t>
            </a:r>
            <a:r>
              <a:rPr lang="zh-CN" altLang="en-US" dirty="0" smtClean="0">
                <a:latin typeface="Tahoma" panose="020B0604030504040204" pitchFamily="34" charset="0"/>
                <a:ea typeface="宋体" panose="02010600030101010101" pitchFamily="2" charset="-122"/>
              </a:rPr>
              <a:t>时间</a:t>
            </a:r>
            <a:endParaRPr lang="en-US" altLang="zh-CN" dirty="0" smtClean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1"/>
            <a:r>
              <a:rPr lang="en-US" altLang="zh-CN" b="0" dirty="0" err="1" smtClean="0">
                <a:latin typeface="Tahoma" panose="020B0604030504040204" pitchFamily="34" charset="0"/>
                <a:ea typeface="宋体" panose="02010600030101010101" pitchFamily="2" charset="-122"/>
              </a:rPr>
              <a:t>setLogWriter</a:t>
            </a:r>
            <a:r>
              <a:rPr lang="en-US" altLang="zh-CN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(out</a:t>
            </a:r>
            <a:r>
              <a:rPr lang="zh-CN" altLang="en-US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endParaRPr lang="en-US" altLang="zh-CN" b="0" dirty="0" smtClean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2"/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设置数据库日志输出的</a:t>
            </a:r>
            <a:r>
              <a:rPr lang="en-US" altLang="zh-CN" dirty="0" err="1">
                <a:latin typeface="Tahoma" panose="020B0604030504040204" pitchFamily="34" charset="0"/>
                <a:ea typeface="宋体" panose="02010600030101010101" pitchFamily="2" charset="-122"/>
              </a:rPr>
              <a:t>PrintWriter</a:t>
            </a:r>
            <a:r>
              <a:rPr lang="zh-CN" altLang="en-US" dirty="0" smtClean="0">
                <a:latin typeface="Tahoma" panose="020B0604030504040204" pitchFamily="34" charset="0"/>
                <a:ea typeface="宋体" panose="02010600030101010101" pitchFamily="2" charset="-122"/>
              </a:rPr>
              <a:t>对象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java.sql.Connection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0550" y="1135380"/>
            <a:ext cx="10928985" cy="5341620"/>
          </a:xfrm>
        </p:spPr>
        <p:txBody>
          <a:bodyPr/>
          <a:lstStyle/>
          <a:p>
            <a:r>
              <a:rPr lang="zh-CN" altLang="en-US" dirty="0"/>
              <a:t>完成对某一指定数据库的</a:t>
            </a:r>
            <a:r>
              <a:rPr lang="zh-CN" altLang="en-US" dirty="0" smtClean="0"/>
              <a:t>连接</a:t>
            </a:r>
            <a:endParaRPr lang="en-US" altLang="zh-CN" dirty="0" smtClean="0"/>
          </a:p>
          <a:p>
            <a:r>
              <a:rPr lang="zh-CN" altLang="en-US" dirty="0"/>
              <a:t>常用</a:t>
            </a:r>
            <a:r>
              <a:rPr lang="zh-CN" altLang="en-US" dirty="0" smtClean="0"/>
              <a:t>接口</a:t>
            </a:r>
            <a:endParaRPr lang="en-US" altLang="zh-CN" dirty="0" smtClean="0"/>
          </a:p>
          <a:p>
            <a:pPr lvl="1"/>
            <a:r>
              <a:rPr lang="en-US" altLang="zh-CN" dirty="0" err="1"/>
              <a:t>DatabaseMetaData</a:t>
            </a:r>
            <a:r>
              <a:rPr lang="en-US" altLang="zh-CN" dirty="0"/>
              <a:t> </a:t>
            </a:r>
            <a:r>
              <a:rPr lang="en-US" altLang="zh-CN" dirty="0" err="1"/>
              <a:t>getMetaData</a:t>
            </a:r>
            <a:r>
              <a:rPr lang="en-US" altLang="zh-CN" dirty="0" smtClean="0"/>
              <a:t>()</a:t>
            </a:r>
            <a:endParaRPr lang="en-US" altLang="zh-CN" dirty="0" smtClean="0"/>
          </a:p>
          <a:p>
            <a:pPr lvl="2"/>
            <a:r>
              <a:rPr lang="en-US" altLang="zh-CN" dirty="0" err="1"/>
              <a:t>MetaData</a:t>
            </a:r>
            <a:r>
              <a:rPr lang="zh-CN" altLang="en-US" dirty="0"/>
              <a:t>包含了数据库的相关信息如当前数据库连接的</a:t>
            </a:r>
            <a:r>
              <a:rPr lang="zh-CN" altLang="en-US" dirty="0">
                <a:solidFill>
                  <a:srgbClr val="FF0000"/>
                </a:solidFill>
              </a:rPr>
              <a:t>用户名</a:t>
            </a:r>
            <a:r>
              <a:rPr lang="zh-CN" altLang="en-US" dirty="0"/>
              <a:t>、使用的</a:t>
            </a:r>
            <a:r>
              <a:rPr lang="en-US" altLang="zh-CN" dirty="0">
                <a:solidFill>
                  <a:srgbClr val="FF0000"/>
                </a:solidFill>
              </a:rPr>
              <a:t>JDBC</a:t>
            </a:r>
            <a:r>
              <a:rPr lang="zh-CN" altLang="en-US" dirty="0">
                <a:solidFill>
                  <a:srgbClr val="FF0000"/>
                </a:solidFill>
              </a:rPr>
              <a:t>驱动程序</a:t>
            </a:r>
            <a:r>
              <a:rPr lang="zh-CN" altLang="en-US" dirty="0"/>
              <a:t>、数据库的</a:t>
            </a:r>
            <a:r>
              <a:rPr lang="zh-CN" altLang="en-US" dirty="0">
                <a:solidFill>
                  <a:srgbClr val="FF0000"/>
                </a:solidFill>
              </a:rPr>
              <a:t>最大连接数</a:t>
            </a:r>
            <a:r>
              <a:rPr lang="zh-CN" altLang="en-US" dirty="0"/>
              <a:t>、数据库的</a:t>
            </a:r>
            <a:r>
              <a:rPr lang="zh-CN" altLang="en-US" dirty="0">
                <a:solidFill>
                  <a:srgbClr val="FF0000"/>
                </a:solidFill>
              </a:rPr>
              <a:t>版本</a:t>
            </a:r>
            <a:r>
              <a:rPr lang="zh-CN" altLang="en-US" dirty="0"/>
              <a:t>等。</a:t>
            </a:r>
            <a:endParaRPr lang="zh-CN" altLang="en-US" dirty="0"/>
          </a:p>
          <a:p>
            <a:pPr lvl="1"/>
            <a:r>
              <a:rPr lang="en-US" altLang="zh-CN" dirty="0" err="1"/>
              <a:t>boolean</a:t>
            </a:r>
            <a:r>
              <a:rPr lang="en-US" altLang="zh-CN" dirty="0"/>
              <a:t> </a:t>
            </a:r>
            <a:r>
              <a:rPr lang="en-US" altLang="zh-CN" dirty="0" err="1"/>
              <a:t>isClosed</a:t>
            </a:r>
            <a:r>
              <a:rPr lang="en-US" altLang="zh-CN" dirty="0"/>
              <a:t>()</a:t>
            </a:r>
            <a:endParaRPr lang="en-US" altLang="zh-CN" dirty="0"/>
          </a:p>
          <a:p>
            <a:pPr lvl="2"/>
            <a:r>
              <a:rPr lang="zh-CN" altLang="en-US" dirty="0"/>
              <a:t>判断当前</a:t>
            </a:r>
            <a:r>
              <a:rPr lang="en-US" altLang="zh-CN" dirty="0"/>
              <a:t>Connection</a:t>
            </a:r>
            <a:r>
              <a:rPr lang="zh-CN" altLang="en-US" dirty="0"/>
              <a:t>对象是否</a:t>
            </a:r>
            <a:r>
              <a:rPr lang="zh-CN" altLang="en-US" dirty="0" smtClean="0"/>
              <a:t>关闭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java.sql.Connection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4835" y="1135380"/>
            <a:ext cx="10934065" cy="5341620"/>
          </a:xfrm>
        </p:spPr>
        <p:txBody>
          <a:bodyPr/>
          <a:lstStyle/>
          <a:p>
            <a:r>
              <a:rPr lang="zh-CN" altLang="en-US" dirty="0" smtClean="0"/>
              <a:t>常用接口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Statement </a:t>
            </a:r>
            <a:r>
              <a:rPr lang="en-US" altLang="zh-CN" dirty="0" err="1"/>
              <a:t>createStatement</a:t>
            </a:r>
            <a:r>
              <a:rPr lang="en-US" altLang="zh-CN" dirty="0" smtClean="0"/>
              <a:t>()</a:t>
            </a:r>
            <a:endParaRPr lang="en-US" altLang="zh-CN" dirty="0" smtClean="0"/>
          </a:p>
          <a:p>
            <a:pPr marL="857250" lvl="2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Statement </a:t>
            </a:r>
            <a:r>
              <a:rPr lang="en-US" altLang="zh-CN" dirty="0" err="1"/>
              <a:t>stmt</a:t>
            </a:r>
            <a:r>
              <a:rPr lang="en-US" altLang="zh-CN" dirty="0"/>
              <a:t> = </a:t>
            </a:r>
            <a:r>
              <a:rPr lang="en-US" altLang="zh-CN" dirty="0" err="1"/>
              <a:t>conn.createStatement</a:t>
            </a:r>
            <a:r>
              <a:rPr lang="en-US" altLang="zh-CN" dirty="0"/>
              <a:t>();</a:t>
            </a:r>
            <a:endParaRPr lang="en-US" altLang="zh-CN" dirty="0"/>
          </a:p>
          <a:p>
            <a:pPr lvl="1"/>
            <a:r>
              <a:rPr lang="en-US" altLang="zh-CN" dirty="0" err="1"/>
              <a:t>PrepareStatement</a:t>
            </a:r>
            <a:r>
              <a:rPr lang="en-US" altLang="zh-CN" dirty="0"/>
              <a:t> </a:t>
            </a:r>
            <a:r>
              <a:rPr lang="en-US" altLang="zh-CN" dirty="0" err="1" smtClean="0"/>
              <a:t>prepareStatement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sql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marL="857250" lvl="2" indent="0">
              <a:buNone/>
            </a:pPr>
            <a:r>
              <a:rPr lang="en-US" altLang="zh-CN" dirty="0" err="1">
                <a:solidFill>
                  <a:srgbClr val="FF0000"/>
                </a:solidFill>
              </a:rPr>
              <a:t>PreparedStatement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/>
              <a:t>ps</a:t>
            </a:r>
            <a:r>
              <a:rPr lang="en-US" altLang="zh-CN" dirty="0"/>
              <a:t> = </a:t>
            </a:r>
            <a:r>
              <a:rPr lang="en-US" altLang="zh-CN" dirty="0" err="1"/>
              <a:t>conn.prepareStatement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sql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r>
              <a:rPr lang="en-US" altLang="zh-CN" dirty="0" smtClean="0"/>
              <a:t>void close()</a:t>
            </a:r>
            <a:endParaRPr lang="en-US" altLang="zh-CN" dirty="0" smtClean="0"/>
          </a:p>
          <a:p>
            <a:pPr lvl="2"/>
            <a:r>
              <a:rPr lang="zh-CN" altLang="en-US" dirty="0"/>
              <a:t>关闭</a:t>
            </a:r>
            <a:r>
              <a:rPr lang="zh-CN" altLang="en-US" dirty="0" smtClean="0"/>
              <a:t>连接，释放占有的资源  </a:t>
            </a:r>
            <a:r>
              <a:rPr lang="en-US" altLang="zh-CN" dirty="0" err="1" smtClean="0"/>
              <a:t>conn.close</a:t>
            </a:r>
            <a:r>
              <a:rPr lang="en-US" altLang="zh-CN" dirty="0" smtClean="0"/>
              <a:t>() 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4107180" y="2736850"/>
            <a:ext cx="7620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996815" y="3806190"/>
            <a:ext cx="7620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133600" y="5454152"/>
            <a:ext cx="731520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Connection</a:t>
            </a:r>
            <a:r>
              <a:rPr lang="en-US" altLang="zh-CN" sz="2000" dirty="0">
                <a:solidFill>
                  <a:schemeClr val="tx1"/>
                </a:solidFill>
              </a:rPr>
              <a:t> conn =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DriverManager.</a:t>
            </a:r>
            <a:r>
              <a:rPr lang="en-US" altLang="zh-CN" sz="2000" i="1" dirty="0" err="1" smtClean="0">
                <a:solidFill>
                  <a:schemeClr val="tx1"/>
                </a:solidFill>
              </a:rPr>
              <a:t>getConnection</a:t>
            </a:r>
            <a:r>
              <a:rPr lang="en-US" altLang="zh-CN" sz="2000" i="1" dirty="0" smtClean="0">
                <a:solidFill>
                  <a:schemeClr val="tx1"/>
                </a:solidFill>
              </a:rPr>
              <a:t>(……</a:t>
            </a:r>
            <a:r>
              <a:rPr lang="zh-CN" altLang="en-US" sz="2000" i="1" dirty="0" smtClean="0">
                <a:solidFill>
                  <a:schemeClr val="tx1"/>
                </a:solidFill>
              </a:rPr>
              <a:t>）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715000" y="4879340"/>
            <a:ext cx="7620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执行</a:t>
            </a:r>
            <a:r>
              <a:rPr lang="en-US" altLang="zh-CN" dirty="0" smtClean="0"/>
              <a:t>SQL</a:t>
            </a:r>
            <a:r>
              <a:rPr lang="zh-CN" altLang="en-US" dirty="0" smtClean="0"/>
              <a:t>语句接口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建立好连接之后，可以与数据库交互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Statement</a:t>
            </a:r>
            <a:endParaRPr lang="en-US" altLang="zh-CN" dirty="0" smtClean="0"/>
          </a:p>
          <a:p>
            <a:pPr lvl="2"/>
            <a:r>
              <a:rPr lang="zh-CN" altLang="en-US" b="0" dirty="0"/>
              <a:t>提供基本的 </a:t>
            </a:r>
            <a:r>
              <a:rPr lang="en-US" altLang="zh-CN" b="0" dirty="0"/>
              <a:t>SQL </a:t>
            </a:r>
            <a:r>
              <a:rPr lang="zh-CN" altLang="en-US" b="0" dirty="0"/>
              <a:t>操作</a:t>
            </a:r>
            <a:r>
              <a:rPr lang="en-US" altLang="zh-CN" b="0" dirty="0"/>
              <a:t>. </a:t>
            </a:r>
            <a:r>
              <a:rPr lang="zh-CN" altLang="en-US" b="0" dirty="0"/>
              <a:t>适合</a:t>
            </a:r>
            <a:r>
              <a:rPr lang="zh-CN" altLang="en-US" dirty="0">
                <a:solidFill>
                  <a:srgbClr val="FF0000"/>
                </a:solidFill>
              </a:rPr>
              <a:t>静态</a:t>
            </a:r>
            <a:r>
              <a:rPr lang="en-US" altLang="zh-CN" dirty="0">
                <a:solidFill>
                  <a:srgbClr val="FF0000"/>
                </a:solidFill>
              </a:rPr>
              <a:t>SQL</a:t>
            </a:r>
            <a:r>
              <a:rPr lang="zh-CN" altLang="en-US" dirty="0">
                <a:solidFill>
                  <a:srgbClr val="FF0000"/>
                </a:solidFill>
              </a:rPr>
              <a:t>语句</a:t>
            </a:r>
            <a:r>
              <a:rPr lang="en-US" altLang="zh-CN" b="0" dirty="0"/>
              <a:t>, </a:t>
            </a:r>
            <a:r>
              <a:rPr lang="zh-CN" altLang="en-US" b="0" dirty="0"/>
              <a:t>且传入的 </a:t>
            </a:r>
            <a:r>
              <a:rPr lang="en-US" altLang="zh-CN" b="0" dirty="0"/>
              <a:t>SQL </a:t>
            </a:r>
            <a:r>
              <a:rPr lang="zh-CN" altLang="en-US" b="0" dirty="0"/>
              <a:t>语句无法接受参数</a:t>
            </a:r>
            <a:r>
              <a:rPr lang="en-US" altLang="zh-CN" b="0" dirty="0"/>
              <a:t>.</a:t>
            </a:r>
            <a:endParaRPr lang="en-US" altLang="zh-CN" b="0" dirty="0" smtClean="0"/>
          </a:p>
          <a:p>
            <a:pPr lvl="1"/>
            <a:r>
              <a:rPr lang="en-US" altLang="zh-CN" dirty="0" err="1" smtClean="0"/>
              <a:t>PreparedSatement</a:t>
            </a:r>
            <a:endParaRPr lang="en-US" altLang="zh-CN" dirty="0" smtClean="0"/>
          </a:p>
          <a:p>
            <a:pPr lvl="2"/>
            <a:r>
              <a:rPr lang="en-US" altLang="zh-CN" i="1" dirty="0" smtClean="0">
                <a:solidFill>
                  <a:srgbClr val="FF0000"/>
                </a:solidFill>
              </a:rPr>
              <a:t>Statement</a:t>
            </a:r>
            <a:r>
              <a:rPr lang="zh-CN" altLang="en-US" i="1" dirty="0" smtClean="0">
                <a:solidFill>
                  <a:srgbClr val="FF0000"/>
                </a:solidFill>
              </a:rPr>
              <a:t>的子接口</a:t>
            </a:r>
            <a:r>
              <a:rPr lang="zh-CN" altLang="en-US" b="0" dirty="0" smtClean="0"/>
              <a:t>，</a:t>
            </a:r>
            <a:r>
              <a:rPr lang="zh-CN" altLang="en-US" b="0" dirty="0"/>
              <a:t>可以在 </a:t>
            </a:r>
            <a:r>
              <a:rPr lang="en-US" altLang="zh-CN" b="0" dirty="0"/>
              <a:t>SQL </a:t>
            </a:r>
            <a:r>
              <a:rPr lang="zh-CN" altLang="en-US" b="0" dirty="0"/>
              <a:t>中传递参数</a:t>
            </a:r>
            <a:r>
              <a:rPr lang="en-US" altLang="zh-CN" b="0" dirty="0"/>
              <a:t>, </a:t>
            </a:r>
            <a:r>
              <a:rPr lang="zh-CN" altLang="en-US" b="0" dirty="0"/>
              <a:t>适合</a:t>
            </a:r>
            <a:r>
              <a:rPr lang="zh-CN" altLang="en-US" dirty="0"/>
              <a:t>多次</a:t>
            </a:r>
            <a:r>
              <a:rPr lang="zh-CN" altLang="en-US" b="0" dirty="0"/>
              <a:t>使用的 </a:t>
            </a:r>
            <a:r>
              <a:rPr lang="en-US" altLang="zh-CN" b="0" dirty="0"/>
              <a:t>SQL </a:t>
            </a:r>
            <a:r>
              <a:rPr lang="zh-CN" altLang="en-US" b="0" dirty="0"/>
              <a:t>语句</a:t>
            </a:r>
            <a:r>
              <a:rPr lang="en-US" altLang="zh-CN" b="0" dirty="0"/>
              <a:t>.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CallableStatement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PreparedSatement</a:t>
            </a:r>
            <a:r>
              <a:rPr lang="zh-CN" altLang="en-US" dirty="0" smtClean="0"/>
              <a:t>的子接口，</a:t>
            </a:r>
            <a:r>
              <a:rPr lang="zh-CN" altLang="en-US" b="0" dirty="0"/>
              <a:t>可以调用 </a:t>
            </a:r>
            <a:r>
              <a:rPr lang="en-US" altLang="zh-CN" i="1" dirty="0">
                <a:solidFill>
                  <a:srgbClr val="FF0000"/>
                </a:solidFill>
              </a:rPr>
              <a:t>PL/SQL </a:t>
            </a:r>
            <a:r>
              <a:rPr lang="zh-CN" altLang="en-US" i="1" dirty="0">
                <a:solidFill>
                  <a:srgbClr val="FF0000"/>
                </a:solidFill>
              </a:rPr>
              <a:t>存储过程</a:t>
            </a:r>
            <a:r>
              <a:rPr lang="en-US" altLang="zh-CN" b="0" dirty="0" smtClean="0"/>
              <a:t>.</a:t>
            </a:r>
            <a:endParaRPr lang="en-US" altLang="zh-CN" b="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1"/>
            <a:endParaRPr lang="en-US" altLang="zh-CN" b="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java.sql.Statement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6740" y="1135380"/>
            <a:ext cx="11090910" cy="5113020"/>
          </a:xfrm>
        </p:spPr>
        <p:txBody>
          <a:bodyPr/>
          <a:lstStyle/>
          <a:p>
            <a:r>
              <a:rPr lang="en-US" altLang="zh-CN" sz="2400" dirty="0" err="1"/>
              <a:t>boolean</a:t>
            </a:r>
            <a:r>
              <a:rPr lang="en-US" altLang="zh-CN" sz="2400" dirty="0"/>
              <a:t> </a:t>
            </a:r>
            <a:r>
              <a:rPr lang="en-US" altLang="zh-CN" sz="2400" i="1" dirty="0" smtClean="0">
                <a:solidFill>
                  <a:srgbClr val="FF0000"/>
                </a:solidFill>
              </a:rPr>
              <a:t>execute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sql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/>
            <a:r>
              <a:rPr lang="zh-CN" altLang="en-US" sz="2400" dirty="0"/>
              <a:t>如果有 </a:t>
            </a:r>
            <a:r>
              <a:rPr lang="en-US" altLang="zh-CN" sz="2400" dirty="0" err="1"/>
              <a:t>ResultSet</a:t>
            </a:r>
            <a:r>
              <a:rPr lang="en-US" altLang="zh-CN" sz="2400" dirty="0"/>
              <a:t> </a:t>
            </a:r>
            <a:r>
              <a:rPr lang="zh-CN" altLang="en-US" sz="2400" dirty="0"/>
              <a:t>产生返回</a:t>
            </a:r>
            <a:r>
              <a:rPr lang="en-US" altLang="zh-CN" sz="2400" dirty="0"/>
              <a:t>true, </a:t>
            </a:r>
            <a:r>
              <a:rPr lang="zh-CN" altLang="en-US" sz="2400" dirty="0"/>
              <a:t>否则</a:t>
            </a:r>
            <a:r>
              <a:rPr lang="en-US" altLang="zh-CN" sz="2400" dirty="0"/>
              <a:t>, </a:t>
            </a:r>
            <a:r>
              <a:rPr lang="zh-CN" altLang="en-US" sz="2400" dirty="0"/>
              <a:t>返回 </a:t>
            </a:r>
            <a:r>
              <a:rPr lang="en-US" altLang="zh-CN" sz="2400" dirty="0"/>
              <a:t>false. </a:t>
            </a:r>
            <a:r>
              <a:rPr lang="zh-CN" altLang="en-US" sz="2400" dirty="0"/>
              <a:t>一般用于 </a:t>
            </a:r>
            <a:r>
              <a:rPr lang="en-US" altLang="zh-CN" sz="2400" i="1" dirty="0" smtClean="0">
                <a:solidFill>
                  <a:schemeClr val="accent3">
                    <a:lumMod val="50000"/>
                  </a:schemeClr>
                </a:solidFill>
              </a:rPr>
              <a:t>CREATE</a:t>
            </a:r>
            <a:r>
              <a:rPr lang="zh-CN" altLang="en-US" sz="2400" i="1" dirty="0" smtClean="0">
                <a:solidFill>
                  <a:schemeClr val="accent3">
                    <a:lumMod val="50000"/>
                  </a:schemeClr>
                </a:solidFill>
              </a:rPr>
              <a:t>、</a:t>
            </a:r>
            <a:r>
              <a:rPr lang="en-US" altLang="zh-CN" sz="2400" i="1" dirty="0" smtClean="0">
                <a:solidFill>
                  <a:schemeClr val="accent3">
                    <a:lumMod val="50000"/>
                  </a:schemeClr>
                </a:solidFill>
              </a:rPr>
              <a:t>ALTER </a:t>
            </a:r>
            <a:r>
              <a:rPr lang="zh-CN" altLang="en-US" sz="2400" dirty="0"/>
              <a:t>这些操作</a:t>
            </a:r>
            <a:r>
              <a:rPr lang="en-US" altLang="zh-CN" sz="2400" dirty="0"/>
              <a:t>, </a:t>
            </a:r>
            <a:r>
              <a:rPr lang="zh-CN" altLang="en-US" sz="2400" dirty="0"/>
              <a:t>或者用来检查一个</a:t>
            </a:r>
            <a:r>
              <a:rPr lang="en-US" altLang="zh-CN" sz="2400" dirty="0"/>
              <a:t>Query</a:t>
            </a:r>
            <a:r>
              <a:rPr lang="zh-CN" altLang="en-US" sz="2400" dirty="0"/>
              <a:t>有没有返回</a:t>
            </a:r>
            <a:r>
              <a:rPr lang="en-US" altLang="zh-CN" sz="2400" dirty="0" smtClean="0"/>
              <a:t>.</a:t>
            </a:r>
            <a:endParaRPr lang="en-US" altLang="zh-CN" sz="2400" dirty="0" smtClean="0"/>
          </a:p>
          <a:p>
            <a:r>
              <a:rPr lang="en-US" altLang="zh-CN" sz="2400" dirty="0" err="1"/>
              <a:t>ResultSet</a:t>
            </a:r>
            <a:r>
              <a:rPr lang="en-US" altLang="zh-CN" sz="2400" dirty="0"/>
              <a:t> </a:t>
            </a:r>
            <a:r>
              <a:rPr lang="en-US" altLang="zh-CN" sz="2400" i="1" dirty="0" err="1" smtClean="0">
                <a:solidFill>
                  <a:srgbClr val="FF0000"/>
                </a:solidFill>
              </a:rPr>
              <a:t>executeQuery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sql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/>
            <a:r>
              <a:rPr lang="zh-CN" altLang="en-US" sz="2400" dirty="0"/>
              <a:t> 返回查询结果</a:t>
            </a:r>
            <a:r>
              <a:rPr lang="zh-CN" altLang="en-US" sz="2400" dirty="0" smtClean="0"/>
              <a:t>集，专用</a:t>
            </a:r>
            <a:r>
              <a:rPr lang="zh-CN" altLang="en-US" sz="2400" dirty="0"/>
              <a:t>于</a:t>
            </a:r>
            <a:r>
              <a:rPr lang="zh-CN" altLang="en-US" sz="2400" dirty="0" smtClean="0"/>
              <a:t> </a:t>
            </a:r>
            <a:r>
              <a:rPr lang="en-US" altLang="zh-CN" sz="2400" i="1" dirty="0" smtClean="0">
                <a:solidFill>
                  <a:schemeClr val="accent3">
                    <a:lumMod val="50000"/>
                  </a:schemeClr>
                </a:solidFill>
              </a:rPr>
              <a:t>SELECT</a:t>
            </a:r>
            <a:endParaRPr lang="en-US" altLang="zh-CN" sz="2400" i="1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i="1" dirty="0" err="1" smtClean="0">
                <a:solidFill>
                  <a:srgbClr val="FF0000"/>
                </a:solidFill>
              </a:rPr>
              <a:t>executeUpdate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sql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/>
            <a:r>
              <a:rPr lang="zh-CN" altLang="en-US" sz="2400" dirty="0"/>
              <a:t>返回被影响的记录的条</a:t>
            </a:r>
            <a:r>
              <a:rPr lang="zh-CN" altLang="en-US" sz="2400" dirty="0" smtClean="0"/>
              <a:t>数</a:t>
            </a:r>
            <a:r>
              <a:rPr lang="zh-CN" altLang="en-US" sz="2400" dirty="0"/>
              <a:t>，</a:t>
            </a:r>
            <a:r>
              <a:rPr lang="zh-CN" altLang="en-US" sz="2400" dirty="0" smtClean="0"/>
              <a:t>一般用于</a:t>
            </a:r>
            <a:r>
              <a:rPr lang="en-US" altLang="zh-CN" sz="2400" i="1" dirty="0">
                <a:solidFill>
                  <a:schemeClr val="accent3">
                    <a:lumMod val="50000"/>
                  </a:schemeClr>
                </a:solidFill>
              </a:rPr>
              <a:t>I</a:t>
            </a:r>
            <a:r>
              <a:rPr lang="en-US" altLang="zh-CN" sz="2400" i="1" dirty="0" smtClean="0">
                <a:solidFill>
                  <a:schemeClr val="accent3">
                    <a:lumMod val="50000"/>
                  </a:schemeClr>
                </a:solidFill>
              </a:rPr>
              <a:t>NSERT</a:t>
            </a:r>
            <a:r>
              <a:rPr lang="zh-CN" altLang="en-US" sz="2400" i="1" dirty="0" smtClean="0">
                <a:solidFill>
                  <a:schemeClr val="accent3">
                    <a:lumMod val="50000"/>
                  </a:schemeClr>
                </a:solidFill>
              </a:rPr>
              <a:t>、</a:t>
            </a:r>
            <a:r>
              <a:rPr lang="en-US" altLang="zh-CN" sz="2400" i="1" dirty="0" smtClean="0">
                <a:solidFill>
                  <a:schemeClr val="accent3">
                    <a:lumMod val="50000"/>
                  </a:schemeClr>
                </a:solidFill>
              </a:rPr>
              <a:t> UPDATE</a:t>
            </a:r>
            <a:r>
              <a:rPr lang="zh-CN" altLang="en-US" sz="2400" i="1" dirty="0" smtClean="0">
                <a:solidFill>
                  <a:schemeClr val="accent3">
                    <a:lumMod val="50000"/>
                  </a:schemeClr>
                </a:solidFill>
              </a:rPr>
              <a:t>、</a:t>
            </a:r>
            <a:r>
              <a:rPr lang="en-US" altLang="zh-CN" sz="2400" i="1" dirty="0" smtClean="0">
                <a:solidFill>
                  <a:schemeClr val="accent3">
                    <a:lumMod val="50000"/>
                  </a:schemeClr>
                </a:solidFill>
              </a:rPr>
              <a:t>DELETE </a:t>
            </a:r>
            <a:r>
              <a:rPr lang="zh-CN" altLang="en-US" sz="2400" dirty="0"/>
              <a:t>这些</a:t>
            </a:r>
            <a:r>
              <a:rPr lang="zh-CN" altLang="en-US" sz="2400" dirty="0" smtClean="0"/>
              <a:t>操作</a:t>
            </a:r>
            <a:endParaRPr lang="en-US" altLang="zh-CN" sz="2400" dirty="0" smtClean="0"/>
          </a:p>
          <a:p>
            <a:pPr marL="457200" lvl="1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Statement </a:t>
            </a:r>
            <a:r>
              <a:rPr lang="en-US" altLang="zh-CN" sz="2400" dirty="0" err="1"/>
              <a:t>stmt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conn.createStatement</a:t>
            </a:r>
            <a:r>
              <a:rPr lang="en-US" altLang="zh-CN" sz="2400" dirty="0" smtClean="0"/>
              <a:t>()</a:t>
            </a:r>
            <a:endParaRPr lang="en-US" altLang="zh-CN" sz="2400" dirty="0" smtClean="0"/>
          </a:p>
          <a:p>
            <a:pPr marL="457200" lvl="1" indent="0">
              <a:buNone/>
            </a:pPr>
            <a:r>
              <a:rPr lang="en-US" altLang="zh-CN" sz="2400" dirty="0" err="1" smtClean="0"/>
              <a:t>stmt.execute</a:t>
            </a:r>
            <a:r>
              <a:rPr lang="en-US" altLang="zh-CN" sz="2400" dirty="0" smtClean="0"/>
              <a:t>(“select </a:t>
            </a:r>
            <a:r>
              <a:rPr lang="en-US" altLang="zh-CN" sz="2400" dirty="0" err="1" smtClean="0"/>
              <a:t>id,name,password</a:t>
            </a:r>
            <a:r>
              <a:rPr lang="en-US" altLang="zh-CN" sz="2400" dirty="0" smtClean="0"/>
              <a:t> from user”)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3703342" y="4885690"/>
            <a:ext cx="93279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912620" y="5426710"/>
            <a:ext cx="1066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369310" y="5427017"/>
            <a:ext cx="51816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925060" y="5640070"/>
            <a:ext cx="1929130" cy="39878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/>
              <a:t>静态</a:t>
            </a:r>
            <a:r>
              <a:rPr lang="en-US" altLang="zh-CN" sz="2000" dirty="0" smtClean="0"/>
              <a:t>SQL</a:t>
            </a:r>
            <a:r>
              <a:rPr lang="zh-CN" altLang="en-US" sz="2000" dirty="0" smtClean="0"/>
              <a:t>语句</a:t>
            </a:r>
            <a:endParaRPr lang="zh-CN" altLang="en-US" sz="2000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51355" y="152400"/>
            <a:ext cx="8450580" cy="875030"/>
          </a:xfrm>
        </p:spPr>
        <p:txBody>
          <a:bodyPr/>
          <a:lstStyle/>
          <a:p>
            <a:r>
              <a:rPr lang="en-US" altLang="zh-CN" sz="4400" dirty="0" err="1" smtClean="0"/>
              <a:t>java.sql.preparedStatement</a:t>
            </a:r>
            <a:endParaRPr lang="zh-CN" altLang="en-US" sz="4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" y="1135380"/>
            <a:ext cx="11210290" cy="5570220"/>
          </a:xfrm>
        </p:spPr>
        <p:txBody>
          <a:bodyPr/>
          <a:lstStyle/>
          <a:p>
            <a:pPr lvl="0"/>
            <a:r>
              <a:rPr lang="zh-CN" altLang="en-US" sz="2800" dirty="0" smtClean="0">
                <a:latin typeface="Tahoma" panose="020B0604030504040204" pitchFamily="34" charset="0"/>
                <a:ea typeface="宋体" panose="02010600030101010101" pitchFamily="2" charset="-122"/>
              </a:rPr>
              <a:t>继承</a:t>
            </a:r>
            <a:r>
              <a:rPr lang="en-US" altLang="zh-CN" sz="2800" dirty="0" smtClean="0">
                <a:latin typeface="Tahoma" panose="020B0604030504040204" pitchFamily="34" charset="0"/>
                <a:ea typeface="宋体" panose="02010600030101010101" pitchFamily="2" charset="-122"/>
              </a:rPr>
              <a:t>Statement</a:t>
            </a:r>
            <a:r>
              <a:rPr lang="zh-CN" altLang="en-US" sz="2800" dirty="0" smtClean="0">
                <a:latin typeface="Tahoma" panose="020B0604030504040204" pitchFamily="34" charset="0"/>
                <a:ea typeface="宋体" panose="02010600030101010101" pitchFamily="2" charset="-122"/>
              </a:rPr>
              <a:t>，包含已编译的</a:t>
            </a:r>
            <a:r>
              <a:rPr lang="en-US" altLang="zh-CN" sz="2800" dirty="0" smtClean="0">
                <a:latin typeface="Tahoma" panose="020B0604030504040204" pitchFamily="34" charset="0"/>
                <a:ea typeface="宋体" panose="02010600030101010101" pitchFamily="2" charset="-122"/>
              </a:rPr>
              <a:t>SQL</a:t>
            </a:r>
            <a:r>
              <a:rPr lang="zh-CN" altLang="en-US" sz="2800" dirty="0" smtClean="0">
                <a:latin typeface="Tahoma" panose="020B0604030504040204" pitchFamily="34" charset="0"/>
                <a:ea typeface="宋体" panose="02010600030101010101" pitchFamily="2" charset="-122"/>
              </a:rPr>
              <a:t>语句</a:t>
            </a:r>
            <a:endParaRPr lang="en-US" altLang="zh-CN" sz="2800" dirty="0" smtClean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 smtClean="0">
                <a:latin typeface="Tahoma" panose="020B0604030504040204" pitchFamily="34" charset="0"/>
                <a:ea typeface="宋体" panose="02010600030101010101" pitchFamily="2" charset="-122"/>
              </a:rPr>
              <a:t>SQL</a:t>
            </a:r>
            <a:r>
              <a:rPr lang="zh-CN" altLang="en-US" sz="2400" dirty="0" smtClean="0">
                <a:latin typeface="Tahoma" panose="020B0604030504040204" pitchFamily="34" charset="0"/>
                <a:ea typeface="宋体" panose="02010600030101010101" pitchFamily="2" charset="-122"/>
              </a:rPr>
              <a:t>语句可具有若干参数</a:t>
            </a:r>
            <a:endParaRPr lang="en-US" altLang="zh-CN" sz="2400" dirty="0" smtClean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1"/>
            <a:r>
              <a:rPr lang="zh-CN" altLang="en-US" sz="2400" dirty="0" smtClean="0">
                <a:latin typeface="Tahoma" panose="020B0604030504040204" pitchFamily="34" charset="0"/>
                <a:ea typeface="宋体" panose="02010600030101010101" pitchFamily="2" charset="-122"/>
              </a:rPr>
              <a:t>在语句创建时不被指定，用“？”保留参数的占位符</a:t>
            </a:r>
            <a:endParaRPr lang="en-US" altLang="zh-CN" sz="2400" dirty="0" smtClean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800" b="0" dirty="0" err="1" smtClean="0">
                <a:latin typeface="Tahoma" panose="020B0604030504040204" pitchFamily="34" charset="0"/>
                <a:ea typeface="宋体" panose="02010600030101010101" pitchFamily="2" charset="-122"/>
              </a:rPr>
              <a:t>boolean</a:t>
            </a:r>
            <a:r>
              <a:rPr lang="en-US" altLang="zh-CN" sz="2800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execute</a:t>
            </a:r>
            <a:r>
              <a:rPr lang="en-US" altLang="zh-CN" sz="2800" b="0" smtClean="0">
                <a:latin typeface="Tahoma" panose="020B0604030504040204" pitchFamily="34" charset="0"/>
                <a:ea typeface="宋体" panose="02010600030101010101" pitchFamily="2" charset="-122"/>
              </a:rPr>
              <a:t>()</a:t>
            </a:r>
            <a:endParaRPr lang="en-US" altLang="zh-CN" sz="2800" b="0" dirty="0" smtClean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800" b="0" dirty="0" err="1">
                <a:latin typeface="Tahoma" panose="020B0604030504040204" pitchFamily="34" charset="0"/>
                <a:ea typeface="宋体" panose="02010600030101010101" pitchFamily="2" charset="-122"/>
              </a:rPr>
              <a:t>ResultSet</a:t>
            </a:r>
            <a:r>
              <a:rPr lang="en-US" altLang="zh-CN" sz="2800" b="0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dirty="0" err="1">
                <a:latin typeface="Tahoma" panose="020B0604030504040204" pitchFamily="34" charset="0"/>
                <a:ea typeface="宋体" panose="02010600030101010101" pitchFamily="2" charset="-122"/>
              </a:rPr>
              <a:t>executeQuery</a:t>
            </a:r>
            <a:r>
              <a:rPr lang="en-US" altLang="zh-CN" sz="2800" b="0" dirty="0">
                <a:latin typeface="Tahoma" panose="020B0604030504040204" pitchFamily="34" charset="0"/>
                <a:ea typeface="宋体" panose="02010600030101010101" pitchFamily="2" charset="-122"/>
              </a:rPr>
              <a:t>( )</a:t>
            </a:r>
            <a:endParaRPr lang="en-US" altLang="zh-CN" sz="2800" b="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800" b="0" dirty="0" err="1"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lang="en-US" altLang="zh-CN" sz="2800" b="0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dirty="0" err="1">
                <a:latin typeface="Tahoma" panose="020B0604030504040204" pitchFamily="34" charset="0"/>
                <a:ea typeface="宋体" panose="02010600030101010101" pitchFamily="2" charset="-122"/>
              </a:rPr>
              <a:t>executeUpdate</a:t>
            </a:r>
            <a:r>
              <a:rPr lang="en-US" altLang="zh-CN" sz="2800" b="0" dirty="0">
                <a:latin typeface="Tahoma" panose="020B0604030504040204" pitchFamily="34" charset="0"/>
                <a:ea typeface="宋体" panose="02010600030101010101" pitchFamily="2" charset="-122"/>
              </a:rPr>
              <a:t>( </a:t>
            </a:r>
            <a:r>
              <a:rPr lang="en-US" altLang="zh-CN" sz="2800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  <a:endParaRPr lang="en-US" altLang="zh-CN" sz="2800" b="0" dirty="0" smtClean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2400" dirty="0" smtClean="0"/>
              <a:t>String </a:t>
            </a:r>
            <a:r>
              <a:rPr lang="en-US" altLang="zh-CN" sz="2400" dirty="0" err="1" smtClean="0"/>
              <a:t>sql</a:t>
            </a:r>
            <a:r>
              <a:rPr lang="en-US" altLang="zh-CN" sz="2400" dirty="0" smtClean="0"/>
              <a:t>=</a:t>
            </a:r>
            <a:r>
              <a:rPr lang="en-US" altLang="zh-CN" sz="2400" dirty="0"/>
              <a:t>"</a:t>
            </a:r>
            <a:r>
              <a:rPr lang="en-US" altLang="zh-CN" sz="2400" dirty="0" smtClean="0"/>
              <a:t>insert </a:t>
            </a:r>
            <a:r>
              <a:rPr lang="en-US" altLang="zh-CN" sz="2400" dirty="0"/>
              <a:t>into </a:t>
            </a:r>
            <a:r>
              <a:rPr lang="en-US" altLang="zh-CN" sz="2400" dirty="0" smtClean="0"/>
              <a:t> user(</a:t>
            </a:r>
            <a:r>
              <a:rPr lang="en-US" altLang="zh-CN" sz="2400" dirty="0" err="1" smtClean="0"/>
              <a:t>id,name,password</a:t>
            </a:r>
            <a:r>
              <a:rPr lang="en-US" altLang="zh-CN" sz="2400" dirty="0" smtClean="0"/>
              <a:t>) values(?,?,?)</a:t>
            </a:r>
            <a:r>
              <a:rPr lang="en-US" altLang="zh-CN" sz="2400" dirty="0"/>
              <a:t> "</a:t>
            </a:r>
            <a:r>
              <a:rPr lang="en-US" altLang="zh-CN" sz="2400" dirty="0" smtClean="0"/>
              <a:t>;</a:t>
            </a:r>
            <a:endParaRPr lang="en-US" altLang="zh-CN" sz="2400" dirty="0" smtClean="0"/>
          </a:p>
          <a:p>
            <a:pPr marL="457200" lvl="1" indent="0">
              <a:buNone/>
            </a:pPr>
            <a:r>
              <a:rPr lang="en-US" altLang="zh-CN" sz="2400" dirty="0" err="1" smtClean="0">
                <a:solidFill>
                  <a:srgbClr val="FF0000"/>
                </a:solidFill>
              </a:rPr>
              <a:t>PreparedStatement</a:t>
            </a:r>
            <a:r>
              <a:rPr lang="en-US" altLang="zh-CN" sz="2400" dirty="0" smtClean="0">
                <a:solidFill>
                  <a:srgbClr val="FF0000"/>
                </a:solidFill>
              </a:rPr>
              <a:t> </a:t>
            </a:r>
            <a:r>
              <a:rPr lang="en-US" altLang="zh-CN" sz="2400" dirty="0" err="1" smtClean="0"/>
              <a:t>ps</a:t>
            </a:r>
            <a:r>
              <a:rPr lang="en-US" altLang="zh-CN" sz="2400" dirty="0" smtClean="0"/>
              <a:t>= </a:t>
            </a:r>
            <a:r>
              <a:rPr lang="en-US" altLang="zh-CN" sz="2400" dirty="0" err="1" smtClean="0"/>
              <a:t>conn.prepareStatement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sql</a:t>
            </a:r>
            <a:r>
              <a:rPr lang="en-US" altLang="zh-CN" sz="2400" dirty="0" smtClean="0"/>
              <a:t>);</a:t>
            </a:r>
            <a:endParaRPr lang="en-US" altLang="zh-CN" sz="2400" dirty="0" smtClean="0"/>
          </a:p>
          <a:p>
            <a:pPr marL="457200" lvl="1" indent="0">
              <a:buNone/>
            </a:pPr>
            <a:r>
              <a:rPr lang="en-US" altLang="zh-CN" sz="2400" dirty="0" err="1" smtClean="0"/>
              <a:t>ps.executeUpdate</a:t>
            </a:r>
            <a:r>
              <a:rPr lang="en-US" altLang="zh-CN" sz="2400" dirty="0" smtClean="0"/>
              <a:t>();</a:t>
            </a:r>
            <a:endParaRPr lang="en-US" altLang="zh-CN" dirty="0" smtClean="0"/>
          </a:p>
          <a:p>
            <a:pPr marL="0" lvl="0" indent="0">
              <a:buNone/>
            </a:pPr>
            <a:endParaRPr lang="en-US" altLang="zh-CN" sz="2800" b="0" dirty="0" smtClean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879850" y="5344160"/>
            <a:ext cx="46639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093470" y="5849620"/>
            <a:ext cx="46639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522470" y="5344160"/>
            <a:ext cx="685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33600" y="152400"/>
            <a:ext cx="8029575" cy="875030"/>
          </a:xfrm>
        </p:spPr>
        <p:txBody>
          <a:bodyPr/>
          <a:lstStyle/>
          <a:p>
            <a:r>
              <a:rPr lang="en-US" altLang="zh-CN" sz="4400" dirty="0" err="1" smtClean="0"/>
              <a:t>java.sql.preparedStatement</a:t>
            </a:r>
            <a:endParaRPr lang="zh-CN" altLang="en-US" sz="4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z="2800" dirty="0" err="1" smtClean="0">
                <a:latin typeface="Tahoma" panose="020B0604030504040204" pitchFamily="34" charset="0"/>
                <a:ea typeface="宋体" panose="02010600030101010101" pitchFamily="2" charset="-122"/>
              </a:rPr>
              <a:t>setXXX</a:t>
            </a:r>
            <a:r>
              <a:rPr lang="zh-CN" altLang="en-US" sz="2800" dirty="0" smtClean="0">
                <a:latin typeface="Tahoma" panose="020B0604030504040204" pitchFamily="34" charset="0"/>
                <a:ea typeface="宋体" panose="02010600030101010101" pitchFamily="2" charset="-122"/>
              </a:rPr>
              <a:t>方法提供每个问号的值</a:t>
            </a:r>
            <a:endParaRPr lang="en-US" altLang="zh-CN" sz="2800" dirty="0" smtClean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 err="1" smtClean="0">
                <a:latin typeface="Tahoma" panose="020B0604030504040204" pitchFamily="34" charset="0"/>
                <a:ea typeface="宋体" panose="02010600030101010101" pitchFamily="2" charset="-122"/>
              </a:rPr>
              <a:t>setInt</a:t>
            </a:r>
            <a:r>
              <a:rPr lang="en-US" altLang="zh-CN" sz="2400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2400" b="0" dirty="0" err="1" smtClean="0">
                <a:latin typeface="Tahoma" panose="020B0604030504040204" pitchFamily="34" charset="0"/>
                <a:ea typeface="宋体" panose="02010600030101010101" pitchFamily="2" charset="-122"/>
              </a:rPr>
              <a:t>parameterIndex,</a:t>
            </a:r>
            <a:r>
              <a:rPr lang="en-US" altLang="zh-CN" sz="2400" dirty="0" err="1" smtClean="0"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lang="en-US" altLang="zh-CN" sz="2400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 x)</a:t>
            </a:r>
            <a:endParaRPr lang="en-US" altLang="zh-CN" sz="2400" b="0" dirty="0" smtClean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 err="1" smtClean="0">
                <a:latin typeface="Tahoma" panose="020B0604030504040204" pitchFamily="34" charset="0"/>
                <a:ea typeface="宋体" panose="02010600030101010101" pitchFamily="2" charset="-122"/>
              </a:rPr>
              <a:t>setString</a:t>
            </a:r>
            <a:r>
              <a:rPr lang="en-US" altLang="zh-CN" sz="2400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2400" b="0" dirty="0" err="1" smtClean="0">
                <a:latin typeface="Tahoma" panose="020B0604030504040204" pitchFamily="34" charset="0"/>
                <a:ea typeface="宋体" panose="02010600030101010101" pitchFamily="2" charset="-122"/>
              </a:rPr>
              <a:t>parameterIndex,</a:t>
            </a:r>
            <a:r>
              <a:rPr lang="en-US" altLang="zh-CN" sz="2400" dirty="0" err="1" smtClean="0">
                <a:latin typeface="Tahoma" panose="020B0604030504040204" pitchFamily="34" charset="0"/>
                <a:ea typeface="宋体" panose="02010600030101010101" pitchFamily="2" charset="-122"/>
              </a:rPr>
              <a:t>String</a:t>
            </a:r>
            <a:r>
              <a:rPr lang="en-US" altLang="zh-CN" sz="2400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0" dirty="0">
                <a:latin typeface="Tahoma" panose="020B0604030504040204" pitchFamily="34" charset="0"/>
                <a:ea typeface="宋体" panose="02010600030101010101" pitchFamily="2" charset="-122"/>
              </a:rPr>
              <a:t>x)</a:t>
            </a:r>
            <a:endParaRPr lang="en-US" altLang="zh-CN" sz="2400" b="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 err="1" smtClean="0">
                <a:latin typeface="Tahoma" panose="020B0604030504040204" pitchFamily="34" charset="0"/>
                <a:ea typeface="宋体" panose="02010600030101010101" pitchFamily="2" charset="-122"/>
              </a:rPr>
              <a:t>setFloat</a:t>
            </a:r>
            <a:r>
              <a:rPr lang="en-US" altLang="zh-CN" sz="2400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2400" b="0" dirty="0" err="1" smtClean="0">
                <a:latin typeface="Tahoma" panose="020B0604030504040204" pitchFamily="34" charset="0"/>
                <a:ea typeface="宋体" panose="02010600030101010101" pitchFamily="2" charset="-122"/>
              </a:rPr>
              <a:t>parameterIndex</a:t>
            </a:r>
            <a:r>
              <a:rPr lang="en-US" altLang="zh-CN" sz="2400" b="0" dirty="0">
                <a:latin typeface="Tahoma" panose="020B0604030504040204" pitchFamily="34" charset="0"/>
                <a:ea typeface="宋体" panose="02010600030101010101" pitchFamily="2" charset="-122"/>
              </a:rPr>
              <a:t>, 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Float</a:t>
            </a:r>
            <a:r>
              <a:rPr lang="en-US" altLang="zh-CN" sz="2400" b="0" dirty="0">
                <a:latin typeface="Tahoma" panose="020B0604030504040204" pitchFamily="34" charset="0"/>
                <a:ea typeface="宋体" panose="02010600030101010101" pitchFamily="2" charset="-122"/>
              </a:rPr>
              <a:t> x</a:t>
            </a:r>
            <a:r>
              <a:rPr lang="en-US" altLang="zh-CN" sz="2400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  <a:endParaRPr lang="en-US" altLang="zh-CN" sz="2400" b="0" dirty="0" smtClean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86000" y="3352800"/>
            <a:ext cx="56388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2400" dirty="0" smtClean="0">
                <a:solidFill>
                  <a:schemeClr val="tx1"/>
                </a:solidFill>
                <a:latin typeface="Tahoma" panose="020B0604030504040204" pitchFamily="34" charset="0"/>
              </a:rPr>
              <a:t>XXX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还可以是</a:t>
            </a: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double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long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、</a:t>
            </a:r>
            <a:r>
              <a:rPr lang="en-US" altLang="zh-CN" sz="2400" dirty="0" err="1">
                <a:solidFill>
                  <a:schemeClr val="tx1"/>
                </a:solidFill>
                <a:latin typeface="Tahoma" panose="020B0604030504040204" pitchFamily="34" charset="0"/>
              </a:rPr>
              <a:t>boolean</a:t>
            </a:r>
            <a:endParaRPr lang="en-US" altLang="zh-CN" sz="2400" dirty="0">
              <a:latin typeface="Tahoma" panose="020B060403050404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38400" y="4114800"/>
            <a:ext cx="495300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ps.setInt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(1, 2);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ps.setString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(2, "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zhangsan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");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ps.setString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(3, "123");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971800" y="4495800"/>
            <a:ext cx="9906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971800" y="4876800"/>
            <a:ext cx="1447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2971800" y="5235823"/>
            <a:ext cx="1447800" cy="310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4227786" y="5329580"/>
            <a:ext cx="687114" cy="1007050"/>
            <a:chOff x="3200400" y="4419600"/>
            <a:chExt cx="687114" cy="1007050"/>
          </a:xfrm>
        </p:grpSpPr>
        <p:cxnSp>
          <p:nvCxnSpPr>
            <p:cNvPr id="15" name="直接箭头连接符 14"/>
            <p:cNvCxnSpPr/>
            <p:nvPr/>
          </p:nvCxnSpPr>
          <p:spPr>
            <a:xfrm>
              <a:off x="3657600" y="4419600"/>
              <a:ext cx="0" cy="4572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3200400" y="4781490"/>
              <a:ext cx="687114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800" dirty="0" smtClean="0"/>
                <a:t>问号位置</a:t>
              </a:r>
              <a:endParaRPr lang="zh-CN" altLang="en-US" sz="1800" dirty="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018405" y="5312023"/>
            <a:ext cx="687114" cy="1007050"/>
            <a:chOff x="3200400" y="4419600"/>
            <a:chExt cx="687114" cy="1007050"/>
          </a:xfrm>
        </p:grpSpPr>
        <p:cxnSp>
          <p:nvCxnSpPr>
            <p:cNvPr id="18" name="直接箭头连接符 17"/>
            <p:cNvCxnSpPr/>
            <p:nvPr/>
          </p:nvCxnSpPr>
          <p:spPr>
            <a:xfrm>
              <a:off x="3657600" y="4419600"/>
              <a:ext cx="0" cy="4572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3200400" y="4781490"/>
              <a:ext cx="687114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800" dirty="0" smtClean="0"/>
                <a:t>参数值</a:t>
              </a:r>
              <a:endParaRPr lang="zh-CN" altLang="en-US" sz="1800" dirty="0"/>
            </a:p>
          </p:txBody>
        </p:sp>
      </p:grpSp>
      <p:sp>
        <p:nvSpPr>
          <p:cNvPr id="21" name="矩形 20"/>
          <p:cNvSpPr/>
          <p:nvPr/>
        </p:nvSpPr>
        <p:spPr>
          <a:xfrm>
            <a:off x="6036310" y="5183505"/>
            <a:ext cx="486092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多次执行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的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SQL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经常创建为</a:t>
            </a:r>
            <a:r>
              <a:rPr lang="en-US" altLang="zh-CN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PreparedStatement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以提高效率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Java.sql.ResultSet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z="2800" b="0" dirty="0" err="1">
                <a:latin typeface="Tahoma" panose="020B0604030504040204" pitchFamily="34" charset="0"/>
                <a:ea typeface="宋体" panose="02010600030101010101" pitchFamily="2" charset="-122"/>
              </a:rPr>
              <a:t>boolean</a:t>
            </a:r>
            <a:r>
              <a:rPr lang="en-US" altLang="zh-CN" sz="2800" b="0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latin typeface="Tahoma" panose="020B0604030504040204" pitchFamily="34" charset="0"/>
                <a:ea typeface="宋体" panose="02010600030101010101" pitchFamily="2" charset="-122"/>
              </a:rPr>
              <a:t>next</a:t>
            </a:r>
            <a:r>
              <a:rPr lang="en-US" altLang="zh-CN" sz="2800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()</a:t>
            </a:r>
            <a:endParaRPr lang="en-US" altLang="zh-CN" sz="2800" b="0" dirty="0" smtClean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1"/>
            <a:r>
              <a:rPr lang="zh-CN" altLang="en-US" sz="2400" b="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将指针从结果集的当前位置</a:t>
            </a:r>
            <a:r>
              <a:rPr lang="zh-CN" altLang="en-US" sz="2400" i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下移</a:t>
            </a:r>
            <a:r>
              <a:rPr lang="zh-CN" altLang="en-US" sz="2400" b="0" dirty="0" smtClean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一行，最初位于第一行之前</a:t>
            </a:r>
            <a:endParaRPr lang="en-US" altLang="zh-CN" sz="2400" b="0" dirty="0" smtClean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800" b="0" dirty="0" err="1">
                <a:latin typeface="Tahoma" panose="020B0604030504040204" pitchFamily="34" charset="0"/>
                <a:ea typeface="宋体" panose="02010600030101010101" pitchFamily="2" charset="-122"/>
              </a:rPr>
              <a:t>boolean</a:t>
            </a:r>
            <a:r>
              <a:rPr lang="en-US" altLang="zh-CN" sz="2800" b="0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latin typeface="Tahoma" panose="020B0604030504040204" pitchFamily="34" charset="0"/>
                <a:ea typeface="宋体" panose="02010600030101010101" pitchFamily="2" charset="-122"/>
              </a:rPr>
              <a:t>previous</a:t>
            </a:r>
            <a:r>
              <a:rPr lang="en-US" altLang="zh-CN" sz="2800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()</a:t>
            </a:r>
            <a:endParaRPr lang="en-US" altLang="zh-CN" sz="2800" b="0" dirty="0" smtClean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1"/>
            <a:r>
              <a:rPr lang="zh-CN" altLang="en-US" sz="2400" b="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将指针从结果集的当前</a:t>
            </a:r>
            <a:r>
              <a:rPr lang="zh-CN" altLang="en-US" sz="2400" b="0" dirty="0" smtClean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位置</a:t>
            </a:r>
            <a:r>
              <a:rPr lang="zh-CN" altLang="en-US" sz="2400" i="1" dirty="0" smtClean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上移</a:t>
            </a:r>
            <a:r>
              <a:rPr lang="zh-CN" altLang="en-US" sz="2400" b="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一行</a:t>
            </a:r>
            <a:endParaRPr lang="en-US" altLang="zh-CN" sz="2400" b="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800" b="0" dirty="0" err="1"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lang="en-US" altLang="zh-CN" sz="2800" b="0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dirty="0" err="1" smtClean="0">
                <a:latin typeface="Tahoma" panose="020B0604030504040204" pitchFamily="34" charset="0"/>
                <a:ea typeface="宋体" panose="02010600030101010101" pitchFamily="2" charset="-122"/>
              </a:rPr>
              <a:t>getInt</a:t>
            </a:r>
            <a:r>
              <a:rPr lang="en-US" altLang="zh-CN" sz="2800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2800" b="0" dirty="0" err="1" smtClean="0"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lang="en-US" altLang="zh-CN" sz="2800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0" dirty="0" err="1">
                <a:latin typeface="Tahoma" panose="020B0604030504040204" pitchFamily="34" charset="0"/>
                <a:ea typeface="宋体" panose="02010600030101010101" pitchFamily="2" charset="-122"/>
              </a:rPr>
              <a:t>columnIndex</a:t>
            </a:r>
            <a:r>
              <a:rPr lang="en-US" altLang="zh-CN" sz="2800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  <a:endParaRPr lang="en-US" altLang="zh-CN" sz="2800" b="0" dirty="0" smtClean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1"/>
            <a:r>
              <a:rPr lang="zh-CN" altLang="en-US" sz="2400" b="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返回结果集中</a:t>
            </a:r>
            <a:r>
              <a:rPr lang="en-US" altLang="zh-CN" sz="2400" b="0" dirty="0" err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columnIndex</a:t>
            </a:r>
            <a:r>
              <a:rPr lang="zh-CN" altLang="en-US" sz="2400" b="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位置的</a:t>
            </a:r>
            <a:r>
              <a:rPr lang="en-US" altLang="zh-CN" sz="2400" b="0" dirty="0" err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lang="zh-CN" altLang="en-US" sz="2400" b="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类型的值</a:t>
            </a:r>
            <a:endParaRPr lang="en-US" altLang="zh-CN" sz="2400" b="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800" b="0" dirty="0" err="1"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lang="en-US" altLang="zh-CN" sz="2800" b="0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dirty="0" err="1" smtClean="0">
                <a:latin typeface="Tahoma" panose="020B0604030504040204" pitchFamily="34" charset="0"/>
                <a:ea typeface="宋体" panose="02010600030101010101" pitchFamily="2" charset="-122"/>
              </a:rPr>
              <a:t>getInt</a:t>
            </a:r>
            <a:r>
              <a:rPr lang="en-US" altLang="zh-CN" sz="2800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(String </a:t>
            </a:r>
            <a:r>
              <a:rPr lang="en-US" altLang="zh-CN" sz="2800" b="0" dirty="0" err="1">
                <a:latin typeface="Tahoma" panose="020B0604030504040204" pitchFamily="34" charset="0"/>
                <a:ea typeface="宋体" panose="02010600030101010101" pitchFamily="2" charset="-122"/>
              </a:rPr>
              <a:t>columnName</a:t>
            </a:r>
            <a:r>
              <a:rPr lang="en-US" altLang="zh-CN" sz="2800" b="0" dirty="0" smtClean="0"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  <a:endParaRPr lang="en-US" altLang="zh-CN" sz="2800" b="0" dirty="0" smtClean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1"/>
            <a:r>
              <a:rPr lang="zh-CN" altLang="en-US" sz="2400" b="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返回结果集中</a:t>
            </a:r>
            <a:r>
              <a:rPr lang="en-US" altLang="zh-CN" sz="2400" b="0" dirty="0" err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columnName</a:t>
            </a:r>
            <a:r>
              <a:rPr lang="zh-CN" altLang="en-US" sz="2400" b="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字段的</a:t>
            </a:r>
            <a:r>
              <a:rPr lang="en-US" altLang="zh-CN" sz="2400" b="0" dirty="0" err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lang="zh-CN" altLang="en-US" sz="2400" b="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类型的值</a:t>
            </a:r>
            <a:endParaRPr lang="en-US" altLang="zh-CN" sz="2400" b="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0"/>
            <a:endParaRPr lang="en-US" altLang="zh-CN" b="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686434" y="3299460"/>
            <a:ext cx="7724955" cy="205740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12165" y="5638800"/>
            <a:ext cx="1048385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2400" dirty="0" err="1">
                <a:solidFill>
                  <a:srgbClr val="FF0000"/>
                </a:solidFill>
                <a:latin typeface="Tahoma" panose="020B0604030504040204" pitchFamily="34" charset="0"/>
              </a:rPr>
              <a:t>get</a:t>
            </a:r>
            <a:r>
              <a:rPr lang="en-US" altLang="zh-CN" sz="24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XXX</a:t>
            </a:r>
            <a:r>
              <a:rPr lang="zh-CN" altLang="en-US" sz="2400" dirty="0" smtClean="0">
                <a:solidFill>
                  <a:srgbClr val="FF0000"/>
                </a:solidFill>
                <a:latin typeface="Tahoma" panose="020B0604030504040204" pitchFamily="34" charset="0"/>
              </a:rPr>
              <a:t>方法</a:t>
            </a:r>
            <a:r>
              <a:rPr lang="zh-CN" altLang="en-US" sz="2400" dirty="0" smtClean="0">
                <a:solidFill>
                  <a:schemeClr val="tx1"/>
                </a:solidFill>
                <a:latin typeface="Tahoma" panose="020B0604030504040204" pitchFamily="34" charset="0"/>
              </a:rPr>
              <a:t>：</a:t>
            </a:r>
            <a:r>
              <a:rPr lang="en-US" altLang="zh-CN" sz="2400" dirty="0" smtClean="0">
                <a:solidFill>
                  <a:schemeClr val="tx1"/>
                </a:solidFill>
                <a:latin typeface="Tahoma" panose="020B0604030504040204" pitchFamily="34" charset="0"/>
              </a:rPr>
              <a:t>XXX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还可以</a:t>
            </a:r>
            <a:r>
              <a:rPr lang="zh-CN" altLang="en-US" sz="2400" dirty="0" smtClean="0">
                <a:solidFill>
                  <a:schemeClr val="tx1"/>
                </a:solidFill>
                <a:latin typeface="Tahoma" panose="020B0604030504040204" pitchFamily="34" charset="0"/>
              </a:rPr>
              <a:t>是</a:t>
            </a:r>
            <a:r>
              <a:rPr lang="en-US" altLang="zh-CN" sz="2400" dirty="0" smtClean="0">
                <a:solidFill>
                  <a:schemeClr val="tx1"/>
                </a:solidFill>
                <a:latin typeface="Tahoma" panose="020B0604030504040204" pitchFamily="34" charset="0"/>
              </a:rPr>
              <a:t>string </a:t>
            </a:r>
            <a:r>
              <a:rPr lang="zh-CN" altLang="en-US" sz="2400" dirty="0" smtClean="0">
                <a:solidFill>
                  <a:schemeClr val="tx1"/>
                </a:solidFill>
                <a:latin typeface="Tahoma" panose="020B0604030504040204" pitchFamily="34" charset="0"/>
              </a:rPr>
              <a:t>、</a:t>
            </a:r>
            <a:r>
              <a:rPr lang="en-US" altLang="zh-CN" sz="2400" dirty="0" smtClean="0">
                <a:solidFill>
                  <a:schemeClr val="tx1"/>
                </a:solidFill>
                <a:latin typeface="Tahoma" panose="020B0604030504040204" pitchFamily="34" charset="0"/>
              </a:rPr>
              <a:t>float</a:t>
            </a:r>
            <a:r>
              <a:rPr lang="zh-CN" altLang="en-US" sz="2400" dirty="0" smtClean="0">
                <a:solidFill>
                  <a:schemeClr val="tx1"/>
                </a:solidFill>
                <a:latin typeface="Tahoma" panose="020B0604030504040204" pitchFamily="34" charset="0"/>
              </a:rPr>
              <a:t>、</a:t>
            </a:r>
            <a:r>
              <a:rPr lang="en-US" altLang="zh-CN" sz="2400" dirty="0" smtClean="0">
                <a:solidFill>
                  <a:schemeClr val="tx1"/>
                </a:solidFill>
                <a:latin typeface="Tahoma" panose="020B0604030504040204" pitchFamily="34" charset="0"/>
              </a:rPr>
              <a:t>double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long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、</a:t>
            </a:r>
            <a:r>
              <a:rPr lang="en-US" altLang="zh-CN" sz="24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boolean</a:t>
            </a:r>
            <a:r>
              <a:rPr lang="zh-CN" altLang="en-US" sz="2400" dirty="0" smtClean="0">
                <a:solidFill>
                  <a:schemeClr val="tx1"/>
                </a:solidFill>
                <a:latin typeface="Tahoma" panose="020B0604030504040204" pitchFamily="34" charset="0"/>
              </a:rPr>
              <a:t>等</a:t>
            </a:r>
            <a:endParaRPr lang="en-US" altLang="zh-CN" sz="2400" dirty="0">
              <a:latin typeface="Tahom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ResultSet</a:t>
            </a:r>
            <a:r>
              <a:rPr lang="zh-CN" altLang="en-US" dirty="0" smtClean="0"/>
              <a:t>对象示例</a:t>
            </a:r>
            <a:endParaRPr lang="zh-CN" altLang="en-US" dirty="0"/>
          </a:p>
        </p:txBody>
      </p:sp>
      <p:graphicFrame>
        <p:nvGraphicFramePr>
          <p:cNvPr id="37" name="Group 85"/>
          <p:cNvGraphicFramePr>
            <a:graphicFrameLocks noGrp="1"/>
          </p:cNvGraphicFramePr>
          <p:nvPr>
            <p:ph idx="1"/>
          </p:nvPr>
        </p:nvGraphicFramePr>
        <p:xfrm>
          <a:off x="2279650" y="2708275"/>
          <a:ext cx="6389370" cy="2102485"/>
        </p:xfrm>
        <a:graphic>
          <a:graphicData uri="http://schemas.openxmlformats.org/drawingml/2006/table">
            <a:tbl>
              <a:tblPr/>
              <a:tblGrid>
                <a:gridCol w="1475105"/>
                <a:gridCol w="1783715"/>
                <a:gridCol w="1781175"/>
                <a:gridCol w="1349375"/>
              </a:tblGrid>
              <a:tr h="5480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password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age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John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111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Alice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222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Mike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333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19</a:t>
                      </a:r>
                      <a:endParaRPr kumimoji="0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" name="Text Box 40"/>
          <p:cNvSpPr txBox="1">
            <a:spLocks noChangeArrowheads="1"/>
          </p:cNvSpPr>
          <p:nvPr/>
        </p:nvSpPr>
        <p:spPr bwMode="auto">
          <a:xfrm>
            <a:off x="8543925" y="1341438"/>
            <a:ext cx="212407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testDB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数据库中的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user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表</a:t>
            </a: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" name="Text Box 63"/>
          <p:cNvSpPr txBox="1">
            <a:spLocks noChangeArrowheads="1"/>
          </p:cNvSpPr>
          <p:nvPr/>
        </p:nvSpPr>
        <p:spPr bwMode="auto">
          <a:xfrm>
            <a:off x="2279650" y="1989138"/>
            <a:ext cx="10795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类型</a:t>
            </a: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Text Box 86"/>
          <p:cNvSpPr txBox="1">
            <a:spLocks noChangeArrowheads="1"/>
          </p:cNvSpPr>
          <p:nvPr/>
        </p:nvSpPr>
        <p:spPr bwMode="auto">
          <a:xfrm>
            <a:off x="3935413" y="1989138"/>
            <a:ext cx="15128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Varchar</a:t>
            </a:r>
            <a:r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类型</a:t>
            </a: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" name="Text Box 87"/>
          <p:cNvSpPr txBox="1">
            <a:spLocks noChangeArrowheads="1"/>
          </p:cNvSpPr>
          <p:nvPr/>
        </p:nvSpPr>
        <p:spPr bwMode="auto">
          <a:xfrm>
            <a:off x="7391400" y="1989138"/>
            <a:ext cx="10795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类型</a:t>
            </a: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Line 88"/>
          <p:cNvSpPr>
            <a:spLocks noChangeShapeType="1"/>
          </p:cNvSpPr>
          <p:nvPr/>
        </p:nvSpPr>
        <p:spPr bwMode="auto">
          <a:xfrm>
            <a:off x="2566988" y="2349500"/>
            <a:ext cx="0" cy="2873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" name="Line 89"/>
          <p:cNvSpPr>
            <a:spLocks noChangeShapeType="1"/>
          </p:cNvSpPr>
          <p:nvPr/>
        </p:nvSpPr>
        <p:spPr bwMode="auto">
          <a:xfrm>
            <a:off x="4367213" y="2349500"/>
            <a:ext cx="0" cy="358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" name="Line 90"/>
          <p:cNvSpPr>
            <a:spLocks noChangeShapeType="1"/>
          </p:cNvSpPr>
          <p:nvPr/>
        </p:nvSpPr>
        <p:spPr bwMode="auto">
          <a:xfrm>
            <a:off x="4583113" y="2349500"/>
            <a:ext cx="1441450" cy="2873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" name="Line 91"/>
          <p:cNvSpPr>
            <a:spLocks noChangeShapeType="1"/>
          </p:cNvSpPr>
          <p:nvPr/>
        </p:nvSpPr>
        <p:spPr bwMode="auto">
          <a:xfrm>
            <a:off x="7824788" y="2349500"/>
            <a:ext cx="0" cy="2873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6" name="Line 92"/>
          <p:cNvSpPr>
            <a:spLocks noChangeShapeType="1"/>
          </p:cNvSpPr>
          <p:nvPr/>
        </p:nvSpPr>
        <p:spPr bwMode="auto">
          <a:xfrm flipH="1">
            <a:off x="8832850" y="1989138"/>
            <a:ext cx="863600" cy="71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" name="Text Box 4"/>
          <p:cNvSpPr txBox="1">
            <a:spLocks noChangeArrowheads="1"/>
          </p:cNvSpPr>
          <p:nvPr/>
        </p:nvSpPr>
        <p:spPr bwMode="auto">
          <a:xfrm>
            <a:off x="2135188" y="5373688"/>
            <a:ext cx="7920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select </a:t>
            </a:r>
            <a:r>
              <a:rPr lang="en-US" altLang="zh-CN" sz="2400" dirty="0"/>
              <a:t>id</a:t>
            </a:r>
            <a:r>
              <a:rPr lang="en-US" altLang="zh-CN" sz="2400" dirty="0" smtClean="0"/>
              <a:t>, name, age </a:t>
            </a:r>
            <a:r>
              <a:rPr lang="en-US" altLang="zh-CN" sz="2400" dirty="0"/>
              <a:t>from </a:t>
            </a:r>
            <a:r>
              <a:rPr lang="en-US" altLang="zh-CN" sz="2400" dirty="0" smtClean="0"/>
              <a:t>user </a:t>
            </a:r>
            <a:r>
              <a:rPr lang="en-US" altLang="zh-CN" sz="2400" dirty="0">
                <a:solidFill>
                  <a:srgbClr val="FF0000"/>
                </a:solidFill>
              </a:rPr>
              <a:t>where </a:t>
            </a:r>
            <a:r>
              <a:rPr lang="en-US" altLang="zh-CN" sz="2400" dirty="0" smtClean="0"/>
              <a:t>age&gt;=</a:t>
            </a:r>
            <a:r>
              <a:rPr lang="en-US" altLang="zh-CN" sz="2400" dirty="0"/>
              <a:t>20;</a:t>
            </a:r>
            <a:endParaRPr lang="en-US" altLang="zh-CN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ResultSet</a:t>
            </a:r>
            <a:r>
              <a:rPr lang="zh-CN" altLang="en-US" dirty="0"/>
              <a:t>对象</a:t>
            </a:r>
            <a:r>
              <a:rPr lang="zh-CN" altLang="en-US" dirty="0" smtClean="0"/>
              <a:t>示例</a:t>
            </a:r>
            <a:r>
              <a:rPr lang="en-US" altLang="zh-CN" dirty="0" smtClean="0"/>
              <a:t>-</a:t>
            </a:r>
            <a:r>
              <a:rPr lang="zh-CN" altLang="en-US" dirty="0" smtClean="0"/>
              <a:t>续</a:t>
            </a:r>
            <a:endParaRPr lang="zh-CN" altLang="en-US" dirty="0"/>
          </a:p>
        </p:txBody>
      </p:sp>
      <p:graphicFrame>
        <p:nvGraphicFramePr>
          <p:cNvPr id="9" name="Group 39"/>
          <p:cNvGraphicFramePr>
            <a:graphicFrameLocks noGrp="1"/>
          </p:cNvGraphicFramePr>
          <p:nvPr>
            <p:ph idx="1"/>
          </p:nvPr>
        </p:nvGraphicFramePr>
        <p:xfrm>
          <a:off x="4079875" y="1798638"/>
          <a:ext cx="5605145" cy="1223645"/>
        </p:xfrm>
        <a:graphic>
          <a:graphicData uri="http://schemas.openxmlformats.org/drawingml/2006/table">
            <a:tbl>
              <a:tblPr/>
              <a:tblGrid>
                <a:gridCol w="1793875"/>
                <a:gridCol w="2169795"/>
                <a:gridCol w="1641475"/>
              </a:tblGrid>
              <a:tr h="5765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John</a:t>
                      </a:r>
                      <a:endParaRPr kumimoji="0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70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Alice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Text Box 40"/>
          <p:cNvSpPr txBox="1">
            <a:spLocks noChangeArrowheads="1"/>
          </p:cNvSpPr>
          <p:nvPr/>
        </p:nvSpPr>
        <p:spPr bwMode="auto">
          <a:xfrm>
            <a:off x="2279650" y="1295400"/>
            <a:ext cx="151288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ResultSet</a:t>
            </a:r>
            <a:r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对象中的指针</a:t>
            </a: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Line 41"/>
          <p:cNvSpPr>
            <a:spLocks noChangeShapeType="1"/>
          </p:cNvSpPr>
          <p:nvPr/>
        </p:nvSpPr>
        <p:spPr bwMode="auto">
          <a:xfrm>
            <a:off x="3863975" y="1438275"/>
            <a:ext cx="1079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Line 42"/>
          <p:cNvSpPr>
            <a:spLocks noChangeShapeType="1"/>
          </p:cNvSpPr>
          <p:nvPr/>
        </p:nvSpPr>
        <p:spPr bwMode="auto">
          <a:xfrm>
            <a:off x="2927350" y="1943100"/>
            <a:ext cx="1081088" cy="215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Line 43"/>
          <p:cNvSpPr>
            <a:spLocks noChangeShapeType="1"/>
          </p:cNvSpPr>
          <p:nvPr/>
        </p:nvSpPr>
        <p:spPr bwMode="auto">
          <a:xfrm>
            <a:off x="2566988" y="1943100"/>
            <a:ext cx="1441450" cy="71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05000" y="3505199"/>
            <a:ext cx="7391400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……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sz="2400" dirty="0" err="1" smtClean="0">
                <a:solidFill>
                  <a:srgbClr val="FF0000"/>
                </a:solidFill>
              </a:rPr>
              <a:t>ResultSet</a:t>
            </a:r>
            <a:r>
              <a:rPr lang="en-US" altLang="zh-CN" sz="2400" dirty="0" smtClean="0">
                <a:solidFill>
                  <a:srgbClr val="FF0000"/>
                </a:solidFill>
              </a:rPr>
              <a:t> 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rs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stmt.executeQuery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sql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);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while(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rs.next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()){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altLang="zh-CN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int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id=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rs.getInt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("id");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String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name=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rs.getString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("name");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String age=</a:t>
            </a:r>
            <a:r>
              <a:rPr lang="en-US" altLang="zh-CN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rs.getInt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(“age");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……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5093576" y="4343400"/>
            <a:ext cx="252642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360683" y="4343400"/>
            <a:ext cx="50329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857391" y="4648200"/>
            <a:ext cx="125740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980982" y="4724400"/>
            <a:ext cx="83841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 smtClean="0"/>
              <a:t>JDBC</a:t>
            </a:r>
            <a:r>
              <a:rPr lang="zh-CN" altLang="en-US" sz="4400" dirty="0" smtClean="0"/>
              <a:t>与</a:t>
            </a:r>
            <a:r>
              <a:rPr lang="en-US" altLang="zh-CN" sz="4400" dirty="0" err="1" smtClean="0"/>
              <a:t>Mysql</a:t>
            </a:r>
            <a:r>
              <a:rPr lang="zh-CN" altLang="en-US" sz="4400" dirty="0"/>
              <a:t>数据类型对应</a:t>
            </a:r>
            <a:endParaRPr lang="zh-CN" altLang="en-US" sz="4400" dirty="0"/>
          </a:p>
        </p:txBody>
      </p:sp>
      <p:graphicFrame>
        <p:nvGraphicFramePr>
          <p:cNvPr id="6" name="Group 74"/>
          <p:cNvGraphicFramePr/>
          <p:nvPr/>
        </p:nvGraphicFramePr>
        <p:xfrm>
          <a:off x="1905000" y="1447800"/>
          <a:ext cx="8305800" cy="4636135"/>
        </p:xfrm>
        <a:graphic>
          <a:graphicData uri="http://schemas.openxmlformats.org/drawingml/2006/table">
            <a:tbl>
              <a:tblPr/>
              <a:tblGrid>
                <a:gridCol w="2477770"/>
                <a:gridCol w="5828030"/>
              </a:tblGrid>
              <a:tr h="6369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Mysql</a:t>
                      </a:r>
                      <a:endParaRPr kumimoji="0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CC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JDBC</a:t>
                      </a:r>
                      <a:endParaRPr kumimoji="0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CC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37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int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java.lang.Integer</a:t>
                      </a: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69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float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java.lang.Float</a:t>
                      </a: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5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double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java.lang.Double</a:t>
                      </a: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69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char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java.lang.String</a:t>
                      </a: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37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varchar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java.lang.String</a:t>
                      </a: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9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timestamp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java.sql.Timestamp</a:t>
                      </a:r>
                      <a:b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</a:b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右箭头 6">
            <a:hlinkClick r:id="rId1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286000" y="6167735"/>
            <a:ext cx="4572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getXXX</a:t>
            </a:r>
            <a:r>
              <a:rPr lang="zh-CN" altLang="en-US" sz="2400" dirty="0" smtClean="0">
                <a:solidFill>
                  <a:srgbClr val="FF0000"/>
                </a:solidFill>
                <a:latin typeface="Tahoma" panose="020B0604030504040204" pitchFamily="34" charset="0"/>
              </a:rPr>
              <a:t>、</a:t>
            </a:r>
            <a:r>
              <a:rPr lang="en-US" altLang="zh-CN" sz="24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setXXX</a:t>
            </a:r>
            <a:r>
              <a:rPr lang="zh-CN" altLang="en-US" sz="2400" dirty="0" smtClean="0">
                <a:solidFill>
                  <a:srgbClr val="FF0000"/>
                </a:solidFill>
                <a:latin typeface="Tahoma" panose="020B0604030504040204" pitchFamily="34" charset="0"/>
              </a:rPr>
              <a:t>方法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运行示例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准备工作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启动</a:t>
            </a:r>
            <a:r>
              <a:rPr lang="en-US" altLang="zh-CN" dirty="0" err="1" smtClean="0"/>
              <a:t>Mysql</a:t>
            </a:r>
            <a:r>
              <a:rPr lang="zh-CN" altLang="en-US" dirty="0" smtClean="0"/>
              <a:t>服务器，创建</a:t>
            </a:r>
            <a:r>
              <a:rPr lang="en-US" altLang="zh-CN" dirty="0" err="1" smtClean="0"/>
              <a:t>testDB</a:t>
            </a:r>
            <a:r>
              <a:rPr lang="zh-CN" altLang="en-US" dirty="0" smtClean="0"/>
              <a:t>和</a:t>
            </a:r>
            <a:r>
              <a:rPr lang="en-US" altLang="zh-CN" dirty="0" smtClean="0"/>
              <a:t>user</a:t>
            </a:r>
            <a:r>
              <a:rPr lang="zh-CN" altLang="en-US" dirty="0" smtClean="0"/>
              <a:t>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</a:t>
            </a:r>
            <a:r>
              <a:rPr lang="en-US" altLang="zh-CN" dirty="0" smtClean="0"/>
              <a:t>Eclipse</a:t>
            </a:r>
            <a:r>
              <a:rPr lang="zh-CN" altLang="en-US" dirty="0" smtClean="0"/>
              <a:t>中创建一个工程</a:t>
            </a:r>
            <a:r>
              <a:rPr lang="en-US" altLang="zh-CN" dirty="0" err="1"/>
              <a:t>jdbctest</a:t>
            </a:r>
            <a:r>
              <a:rPr lang="en-US" altLang="zh-CN" dirty="0"/>
              <a:t>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Web</a:t>
            </a:r>
            <a:r>
              <a:rPr lang="zh-CN" altLang="en-US" dirty="0" smtClean="0"/>
              <a:t>或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将</a:t>
            </a:r>
            <a:r>
              <a:rPr lang="en-US" altLang="zh-CN" dirty="0" smtClean="0"/>
              <a:t>mysqljdbc.jar</a:t>
            </a:r>
            <a:r>
              <a:rPr lang="zh-CN" altLang="en-US" dirty="0" smtClean="0"/>
              <a:t>加载到</a:t>
            </a:r>
            <a:r>
              <a:rPr lang="en-US" altLang="zh-CN" dirty="0" err="1"/>
              <a:t>jdbctest</a:t>
            </a:r>
            <a:endParaRPr lang="en-US" altLang="zh-CN" dirty="0" smtClean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32375" y="5638800"/>
            <a:ext cx="52546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9900CC"/>
                </a:solidFill>
              </a:rPr>
              <a:t>2-1 / TutorialExample.java</a:t>
            </a:r>
            <a:r>
              <a:rPr lang="zh-CN" altLang="en-US" sz="2400" dirty="0" smtClean="0">
                <a:solidFill>
                  <a:srgbClr val="9900CC"/>
                </a:solidFill>
              </a:rPr>
              <a:t>（演示）</a:t>
            </a:r>
            <a:endParaRPr lang="zh-CN" altLang="en-US" sz="2400" dirty="0">
              <a:solidFill>
                <a:srgbClr val="9900CC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JDBC</a:t>
            </a:r>
            <a:r>
              <a:rPr lang="zh-CN" altLang="en-US" dirty="0" smtClean="0"/>
              <a:t>使用步骤（总结）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7220" y="1135380"/>
            <a:ext cx="10825480" cy="511302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/>
              <a:t>①加载</a:t>
            </a:r>
            <a:r>
              <a:rPr lang="zh-CN" altLang="en-US" sz="2800" dirty="0" smtClean="0"/>
              <a:t>驱动程序 </a:t>
            </a:r>
            <a:r>
              <a:rPr lang="en-US" altLang="zh-CN" sz="2800" dirty="0" err="1" smtClean="0">
                <a:solidFill>
                  <a:srgbClr val="9900CC"/>
                </a:solidFill>
              </a:rPr>
              <a:t>class.forName</a:t>
            </a:r>
            <a:r>
              <a:rPr lang="en-US" altLang="zh-CN" sz="2800" dirty="0" smtClean="0"/>
              <a:t>(…)</a:t>
            </a:r>
            <a:endParaRPr lang="zh-CN" altLang="en-US" sz="2800" dirty="0"/>
          </a:p>
          <a:p>
            <a:pPr marL="0" indent="0">
              <a:buNone/>
            </a:pPr>
            <a:r>
              <a:rPr lang="zh-CN" altLang="en-US" sz="2800" dirty="0"/>
              <a:t>②</a:t>
            </a:r>
            <a:r>
              <a:rPr lang="zh-CN" altLang="en-US" sz="2400" dirty="0"/>
              <a:t>创建数据库连接</a:t>
            </a:r>
            <a:r>
              <a:rPr lang="zh-CN" altLang="en-US" sz="2400" dirty="0" smtClean="0"/>
              <a:t>对象 </a:t>
            </a:r>
            <a:r>
              <a:rPr lang="en-US" altLang="zh-CN" sz="2400" dirty="0" err="1" smtClean="0">
                <a:solidFill>
                  <a:srgbClr val="9900CC"/>
                </a:solidFill>
              </a:rPr>
              <a:t>DriverManager.getConnection</a:t>
            </a:r>
            <a:r>
              <a:rPr lang="en-US" altLang="zh-CN" sz="2400" dirty="0" smtClean="0"/>
              <a:t>(…)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800" dirty="0"/>
              <a:t>③创建</a:t>
            </a:r>
            <a:r>
              <a:rPr lang="en-US" altLang="zh-CN" sz="2800" dirty="0">
                <a:solidFill>
                  <a:srgbClr val="9900CC"/>
                </a:solidFill>
              </a:rPr>
              <a:t>Statement</a:t>
            </a:r>
            <a:r>
              <a:rPr lang="zh-CN" altLang="en-US" sz="2800" dirty="0"/>
              <a:t>对象或</a:t>
            </a:r>
            <a:r>
              <a:rPr lang="en-US" altLang="zh-CN" sz="2800" dirty="0" err="1">
                <a:solidFill>
                  <a:srgbClr val="9900CC"/>
                </a:solidFill>
              </a:rPr>
              <a:t>PreparedStatement</a:t>
            </a:r>
            <a:r>
              <a:rPr lang="zh-CN" altLang="en-US" sz="2800" dirty="0"/>
              <a:t>对象来执行</a:t>
            </a:r>
            <a:r>
              <a:rPr lang="en-US" altLang="zh-CN" sz="2800" dirty="0"/>
              <a:t>SQL</a:t>
            </a:r>
            <a:r>
              <a:rPr lang="zh-CN" altLang="en-US" sz="2800" dirty="0"/>
              <a:t>语句</a:t>
            </a:r>
            <a:endParaRPr lang="zh-CN" altLang="en-US" sz="2800" dirty="0"/>
          </a:p>
          <a:p>
            <a:pPr marL="0" indent="0">
              <a:buNone/>
            </a:pPr>
            <a:r>
              <a:rPr lang="zh-CN" altLang="en-US" sz="2800" dirty="0"/>
              <a:t>④遍历结果集对象，输出</a:t>
            </a:r>
            <a:r>
              <a:rPr lang="zh-CN" altLang="en-US" sz="2800" dirty="0" smtClean="0"/>
              <a:t>记录 </a:t>
            </a:r>
            <a:r>
              <a:rPr lang="en-US" altLang="zh-CN" sz="2800" dirty="0" err="1" smtClean="0">
                <a:solidFill>
                  <a:srgbClr val="9900CC"/>
                </a:solidFill>
              </a:rPr>
              <a:t>ResultSet</a:t>
            </a:r>
            <a:endParaRPr lang="zh-CN" altLang="en-US" sz="2800" dirty="0">
              <a:solidFill>
                <a:srgbClr val="9900CC"/>
              </a:solidFill>
            </a:endParaRPr>
          </a:p>
          <a:p>
            <a:pPr marL="0" indent="0">
              <a:buNone/>
            </a:pPr>
            <a:r>
              <a:rPr lang="zh-CN" altLang="en-US" sz="2800" dirty="0"/>
              <a:t>⑤依次关闭资源对象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zh-CN" altLang="en-US" sz="2400" dirty="0" smtClean="0"/>
              <a:t>注意关闭顺序与建立顺序相反</a:t>
            </a:r>
            <a:endParaRPr lang="en-US" altLang="zh-CN" sz="2400" dirty="0" smtClean="0"/>
          </a:p>
          <a:p>
            <a:pPr lvl="2"/>
            <a:r>
              <a:rPr lang="en-US" altLang="zh-CN" dirty="0" err="1" smtClean="0"/>
              <a:t>rs.close</a:t>
            </a:r>
            <a:r>
              <a:rPr lang="en-US" altLang="zh-CN" dirty="0" smtClean="0"/>
              <a:t>();</a:t>
            </a:r>
            <a:br>
              <a:rPr lang="en-US" altLang="zh-CN" dirty="0" smtClean="0"/>
            </a:br>
            <a:r>
              <a:rPr lang="en-US" altLang="zh-CN" dirty="0" err="1" smtClean="0"/>
              <a:t>stmt.close</a:t>
            </a:r>
            <a:r>
              <a:rPr lang="en-US" altLang="zh-CN" dirty="0" smtClean="0"/>
              <a:t>();</a:t>
            </a:r>
            <a:br>
              <a:rPr lang="en-US" altLang="zh-CN" dirty="0" smtClean="0"/>
            </a:br>
            <a:r>
              <a:rPr lang="en-US" altLang="zh-CN" dirty="0" err="1" smtClean="0"/>
              <a:t>conn.close</a:t>
            </a:r>
            <a:r>
              <a:rPr lang="en-US" altLang="zh-CN" dirty="0" smtClean="0"/>
              <a:t>();</a:t>
            </a:r>
            <a:endParaRPr lang="zh-CN" altLang="en-US" dirty="0"/>
          </a:p>
        </p:txBody>
      </p:sp>
      <p:sp>
        <p:nvSpPr>
          <p:cNvPr id="4" name="右箭头 3">
            <a:hlinkClick r:id="rId1" action="ppaction://hlinksldjump"/>
          </p:cNvPr>
          <p:cNvSpPr/>
          <p:nvPr/>
        </p:nvSpPr>
        <p:spPr>
          <a:xfrm>
            <a:off x="10154920" y="5638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JDBC</a:t>
            </a:r>
            <a:r>
              <a:rPr lang="zh-CN" altLang="en-US" dirty="0" smtClean="0"/>
              <a:t>实现</a:t>
            </a:r>
            <a:r>
              <a:rPr lang="en-US" altLang="zh-CN" dirty="0" smtClean="0"/>
              <a:t>CR</a:t>
            </a:r>
            <a:r>
              <a:rPr lang="en-US" altLang="zh-CN" dirty="0" smtClean="0">
                <a:sym typeface="+mn-ea"/>
              </a:rPr>
              <a:t>U</a:t>
            </a:r>
            <a:r>
              <a:rPr lang="en-US" altLang="zh-CN" dirty="0" smtClean="0"/>
              <a:t>D</a:t>
            </a:r>
            <a:r>
              <a:rPr lang="zh-CN" altLang="en-US" dirty="0" smtClean="0"/>
              <a:t>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CR</a:t>
            </a:r>
            <a:r>
              <a:rPr lang="en-US" altLang="zh-CN" dirty="0" smtClean="0">
                <a:sym typeface="+mn-ea"/>
              </a:rPr>
              <a:t>U</a:t>
            </a:r>
            <a:r>
              <a:rPr lang="en-US" altLang="zh-CN" dirty="0" smtClean="0"/>
              <a:t>D</a:t>
            </a:r>
            <a:r>
              <a:rPr lang="en-US" altLang="zh-CN" dirty="0"/>
              <a:t>(</a:t>
            </a:r>
            <a:r>
              <a:rPr lang="en-US" altLang="zh-CN" dirty="0" smtClean="0"/>
              <a:t>Create</a:t>
            </a:r>
            <a:r>
              <a:rPr lang="zh-CN" altLang="zh-CN" dirty="0"/>
              <a:t>、</a:t>
            </a:r>
            <a:r>
              <a:rPr lang="en-US" altLang="zh-CN" dirty="0"/>
              <a:t>Read</a:t>
            </a:r>
            <a:r>
              <a:rPr lang="zh-CN" altLang="zh-CN" dirty="0"/>
              <a:t>、</a:t>
            </a:r>
            <a:r>
              <a:rPr lang="en-US" altLang="zh-CN" dirty="0"/>
              <a:t>Update</a:t>
            </a:r>
            <a:r>
              <a:rPr lang="zh-CN" altLang="zh-CN" dirty="0"/>
              <a:t>、</a:t>
            </a:r>
            <a:r>
              <a:rPr lang="en-US" altLang="zh-CN" dirty="0" smtClean="0"/>
              <a:t>Delete)</a:t>
            </a:r>
            <a:endParaRPr lang="en-US" altLang="zh-CN" dirty="0"/>
          </a:p>
          <a:p>
            <a:pPr lvl="1"/>
            <a:r>
              <a:rPr lang="zh-CN" altLang="en-US" dirty="0" smtClean="0"/>
              <a:t>插入一条记录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查询若干记录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更新记录</a:t>
            </a:r>
            <a:endParaRPr lang="en-US" altLang="zh-CN" dirty="0" smtClean="0"/>
          </a:p>
          <a:p>
            <a:pPr lvl="1"/>
            <a:r>
              <a:rPr lang="zh-CN" altLang="en-US" dirty="0"/>
              <a:t>删除</a:t>
            </a:r>
            <a:r>
              <a:rPr lang="zh-CN" altLang="en-US" dirty="0" smtClean="0"/>
              <a:t>记录</a:t>
            </a:r>
            <a:endParaRPr lang="en-US" altLang="zh-CN" dirty="0" smtClean="0"/>
          </a:p>
          <a:p>
            <a:pPr lvl="1"/>
            <a:r>
              <a:rPr lang="zh-CN" altLang="en-US" dirty="0"/>
              <a:t>创建类</a:t>
            </a:r>
            <a:r>
              <a:rPr lang="en-US" altLang="zh-CN" dirty="0" err="1"/>
              <a:t>CRUDTest</a:t>
            </a:r>
            <a:r>
              <a:rPr lang="zh-CN" altLang="en-US" dirty="0" smtClean="0"/>
              <a:t>，增加相应的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个方法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add</a:t>
            </a:r>
            <a:r>
              <a:rPr lang="zh-CN" altLang="en-US" dirty="0"/>
              <a:t>、</a:t>
            </a:r>
            <a:r>
              <a:rPr lang="en-US" altLang="zh-CN" dirty="0"/>
              <a:t>get</a:t>
            </a:r>
            <a:r>
              <a:rPr lang="zh-CN" altLang="en-US" dirty="0"/>
              <a:t>、</a:t>
            </a:r>
            <a:r>
              <a:rPr lang="en-US" altLang="zh-CN" dirty="0"/>
              <a:t>update</a:t>
            </a:r>
            <a:r>
              <a:rPr lang="zh-CN" altLang="en-US" dirty="0"/>
              <a:t>、</a:t>
            </a:r>
            <a:r>
              <a:rPr lang="en-US" altLang="zh-CN" dirty="0" smtClean="0"/>
              <a:t>delete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40350" y="5788660"/>
            <a:ext cx="4946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CRUDExample.java</a:t>
            </a:r>
            <a:r>
              <a:rPr lang="zh-CN" altLang="en-US" sz="2800" dirty="0" smtClean="0"/>
              <a:t>（演示）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增强代码重用性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修改前面的示例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创建公共的数据库连接类</a:t>
            </a:r>
            <a:r>
              <a:rPr lang="en-US" altLang="zh-CN" dirty="0" err="1" smtClean="0"/>
              <a:t>DBConnection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实现</a:t>
            </a:r>
            <a:r>
              <a:rPr lang="en-US" altLang="zh-CN" dirty="0" smtClean="0"/>
              <a:t>CRUD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562600" y="4800600"/>
            <a:ext cx="48768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演示</a:t>
            </a:r>
            <a:r>
              <a:rPr lang="en-US" altLang="zh-CN" sz="2800" dirty="0" smtClean="0"/>
              <a:t>:</a:t>
            </a:r>
            <a:endParaRPr lang="en-US" altLang="zh-CN" sz="2800" dirty="0" smtClean="0"/>
          </a:p>
          <a:p>
            <a:r>
              <a:rPr lang="en-US" altLang="zh-CN" sz="2800" dirty="0" smtClean="0"/>
              <a:t>DBConnection.java</a:t>
            </a:r>
            <a:endParaRPr lang="en-US" altLang="zh-CN" sz="2800" dirty="0" smtClean="0"/>
          </a:p>
          <a:p>
            <a:r>
              <a:rPr lang="en-US" altLang="zh-CN" sz="2800" dirty="0" smtClean="0"/>
              <a:t>CRUDExample1.java</a:t>
            </a:r>
            <a:endParaRPr lang="zh-CN" altLang="en-US" sz="2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smtClean="0"/>
              <a:t>P</a:t>
            </a:r>
            <a:r>
              <a:rPr lang="en-US" altLang="zh-CN" dirty="0" err="1" smtClean="0"/>
              <a:t>reparedStatement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6230" y="1135380"/>
            <a:ext cx="11499215" cy="5113020"/>
          </a:xfrm>
        </p:spPr>
        <p:txBody>
          <a:bodyPr/>
          <a:lstStyle/>
          <a:p>
            <a:r>
              <a:rPr lang="zh-CN" altLang="en-US" dirty="0" smtClean="0"/>
              <a:t>修改前面的示例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使用</a:t>
            </a:r>
            <a:r>
              <a:rPr lang="en-US" altLang="zh-CN" dirty="0" smtClean="0"/>
              <a:t>P</a:t>
            </a:r>
            <a:r>
              <a:rPr lang="en-US" altLang="zh-CN" dirty="0" err="1" smtClean="0"/>
              <a:t>reparedStatement</a:t>
            </a:r>
            <a:r>
              <a:rPr lang="zh-CN" altLang="en-US" dirty="0" smtClean="0"/>
              <a:t>执行</a:t>
            </a:r>
            <a:r>
              <a:rPr lang="en-US" altLang="zh-CN" dirty="0" smtClean="0"/>
              <a:t>SQL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Connection </a:t>
            </a:r>
            <a:r>
              <a:rPr lang="en-US" altLang="zh-CN" sz="2400" dirty="0">
                <a:solidFill>
                  <a:srgbClr val="3D1CE2"/>
                </a:solidFill>
              </a:rPr>
              <a:t>conn </a:t>
            </a:r>
            <a:r>
              <a:rPr lang="en-US" altLang="zh-CN" sz="2400" dirty="0"/>
              <a:t>= </a:t>
            </a:r>
            <a:r>
              <a:rPr lang="en-US" altLang="zh-CN" sz="2400" dirty="0" err="1"/>
              <a:t>getConnection</a:t>
            </a:r>
            <a:r>
              <a:rPr lang="en-US" altLang="zh-CN" sz="2400" dirty="0" smtClean="0"/>
              <a:t>();</a:t>
            </a:r>
            <a:endParaRPr lang="en-US" altLang="zh-CN" sz="2400" dirty="0" smtClean="0"/>
          </a:p>
          <a:p>
            <a:pPr marL="457200" lvl="1" indent="0">
              <a:buNone/>
            </a:pPr>
            <a:r>
              <a:rPr lang="en-US" altLang="zh-CN" sz="2400" dirty="0"/>
              <a:t>String </a:t>
            </a:r>
            <a:r>
              <a:rPr lang="en-US" altLang="zh-CN" sz="2400" dirty="0" err="1"/>
              <a:t>sql</a:t>
            </a:r>
            <a:r>
              <a:rPr lang="en-US" altLang="zh-CN" sz="2400" dirty="0"/>
              <a:t> = "SELECT * FROM posts WHERE title like </a:t>
            </a:r>
            <a:r>
              <a:rPr lang="en-US" altLang="zh-CN" sz="2400" dirty="0">
                <a:solidFill>
                  <a:srgbClr val="FF0000"/>
                </a:solidFill>
              </a:rPr>
              <a:t>?</a:t>
            </a:r>
            <a:r>
              <a:rPr lang="en-US" altLang="zh-CN" sz="2400" dirty="0"/>
              <a:t>";</a:t>
            </a:r>
            <a:r>
              <a:rPr lang="en-US" altLang="zh-CN" sz="2400" dirty="0" smtClean="0"/>
              <a:t> </a:t>
            </a:r>
            <a:endParaRPr lang="en-US" altLang="zh-CN" sz="2400" dirty="0" smtClean="0"/>
          </a:p>
          <a:p>
            <a:pPr marL="457200" lvl="1" indent="0">
              <a:buNone/>
            </a:pPr>
            <a:r>
              <a:rPr lang="en-US" altLang="zh-CN" sz="2400" dirty="0" err="1" smtClean="0">
                <a:solidFill>
                  <a:srgbClr val="FF0000"/>
                </a:solidFill>
              </a:rPr>
              <a:t>PreparedStatement</a:t>
            </a:r>
            <a:r>
              <a:rPr lang="en-US" altLang="zh-CN" sz="2400" dirty="0" smtClean="0">
                <a:solidFill>
                  <a:srgbClr val="FF0000"/>
                </a:solidFill>
              </a:rPr>
              <a:t> </a:t>
            </a:r>
            <a:r>
              <a:rPr lang="en-US" altLang="zh-CN" sz="2400" dirty="0" err="1">
                <a:solidFill>
                  <a:srgbClr val="3D1CE2"/>
                </a:solidFill>
              </a:rPr>
              <a:t>stmt</a:t>
            </a:r>
            <a:r>
              <a:rPr lang="en-US" altLang="zh-CN" sz="2400" dirty="0">
                <a:solidFill>
                  <a:srgbClr val="3D1CE2"/>
                </a:solidFill>
              </a:rPr>
              <a:t> </a:t>
            </a:r>
            <a:r>
              <a:rPr lang="en-US" altLang="zh-CN" sz="2400" dirty="0"/>
              <a:t>= </a:t>
            </a:r>
            <a:r>
              <a:rPr lang="en-US" altLang="zh-CN" sz="2400" dirty="0" err="1">
                <a:solidFill>
                  <a:srgbClr val="3D1CE2"/>
                </a:solidFill>
              </a:rPr>
              <a:t>conn</a:t>
            </a:r>
            <a:r>
              <a:rPr lang="en-US" altLang="zh-CN" sz="2400" dirty="0" err="1"/>
              <a:t>.prepareStatement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sql</a:t>
            </a:r>
            <a:r>
              <a:rPr lang="en-US" altLang="zh-CN" sz="2400" dirty="0"/>
              <a:t>); </a:t>
            </a:r>
            <a:br>
              <a:rPr lang="en-US" altLang="zh-CN" sz="2400" dirty="0"/>
            </a:br>
            <a:r>
              <a:rPr lang="en-US" altLang="zh-CN" sz="2400" dirty="0" err="1">
                <a:solidFill>
                  <a:srgbClr val="3D1CE2"/>
                </a:solidFill>
              </a:rPr>
              <a:t>stmt</a:t>
            </a:r>
            <a:r>
              <a:rPr lang="en-US" altLang="zh-CN" sz="2400" dirty="0" err="1"/>
              <a:t>.setString</a:t>
            </a:r>
            <a:r>
              <a:rPr lang="en-US" altLang="zh-CN" sz="2400" dirty="0"/>
              <a:t>(1, </a:t>
            </a:r>
            <a:r>
              <a:rPr lang="en-US" altLang="zh-CN" sz="2400" dirty="0" smtClean="0"/>
              <a:t>title); </a:t>
            </a:r>
            <a:endParaRPr lang="en-US" altLang="zh-CN" sz="2400" dirty="0" smtClean="0"/>
          </a:p>
          <a:p>
            <a:pPr marL="457200" lvl="1" indent="0">
              <a:buNone/>
            </a:pPr>
            <a:r>
              <a:rPr lang="en-US" altLang="zh-CN" sz="2400" dirty="0" err="1" smtClean="0">
                <a:solidFill>
                  <a:srgbClr val="FF0000"/>
                </a:solidFill>
              </a:rPr>
              <a:t>ResultSet</a:t>
            </a:r>
            <a:r>
              <a:rPr lang="en-US" altLang="zh-CN" sz="2400" dirty="0" smtClean="0">
                <a:solidFill>
                  <a:srgbClr val="FF0000"/>
                </a:solidFill>
              </a:rPr>
              <a:t> </a:t>
            </a:r>
            <a:r>
              <a:rPr lang="en-US" altLang="zh-CN" sz="2400" dirty="0" err="1"/>
              <a:t>rs</a:t>
            </a:r>
            <a:r>
              <a:rPr lang="en-US" altLang="zh-CN" sz="2400" dirty="0"/>
              <a:t> = </a:t>
            </a:r>
            <a:r>
              <a:rPr lang="en-US" altLang="zh-CN" sz="2400" dirty="0" err="1">
                <a:solidFill>
                  <a:srgbClr val="3D1CE2"/>
                </a:solidFill>
              </a:rPr>
              <a:t>stmt</a:t>
            </a:r>
            <a:r>
              <a:rPr lang="en-US" altLang="zh-CN" sz="2400" dirty="0" err="1"/>
              <a:t>.executeQuery</a:t>
            </a:r>
            <a:r>
              <a:rPr lang="en-US" altLang="zh-CN" sz="2400" dirty="0"/>
              <a:t>();</a:t>
            </a:r>
            <a:endParaRPr lang="en-US" altLang="zh-CN" sz="2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6019800" y="4797674"/>
            <a:ext cx="4445479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演示</a:t>
            </a:r>
            <a:r>
              <a:rPr lang="en-US" altLang="zh-CN" sz="2800" dirty="0" smtClean="0"/>
              <a:t>:</a:t>
            </a:r>
            <a:endParaRPr lang="en-US" altLang="zh-CN" sz="2800" dirty="0" smtClean="0"/>
          </a:p>
          <a:p>
            <a:r>
              <a:rPr lang="en-US" altLang="zh-CN" sz="2800" dirty="0" smtClean="0"/>
              <a:t>DBConnection.java</a:t>
            </a:r>
            <a:endParaRPr lang="en-US" altLang="zh-CN" sz="2800" dirty="0" smtClean="0"/>
          </a:p>
          <a:p>
            <a:r>
              <a:rPr lang="en-US" altLang="zh-CN" sz="2800" dirty="0" smtClean="0"/>
              <a:t>CRUDExample2.java</a:t>
            </a:r>
            <a:endParaRPr lang="zh-CN" altLang="en-US" sz="2800" dirty="0"/>
          </a:p>
        </p:txBody>
      </p:sp>
      <p:sp>
        <p:nvSpPr>
          <p:cNvPr id="5" name="右箭头 4">
            <a:hlinkClick r:id="rId1" action="ppaction://hlinksldjump"/>
          </p:cNvPr>
          <p:cNvSpPr/>
          <p:nvPr/>
        </p:nvSpPr>
        <p:spPr>
          <a:xfrm>
            <a:off x="9601200" y="60960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 smtClean="0">
                <a:sym typeface="+mn-ea"/>
              </a:rPr>
              <a:t>JDBC</a:t>
            </a:r>
            <a:r>
              <a:rPr lang="zh-CN" altLang="en-US" dirty="0" smtClean="0">
                <a:sym typeface="+mn-ea"/>
              </a:rPr>
              <a:t>调用存储过程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1640" y="1135380"/>
            <a:ext cx="11347450" cy="5113020"/>
          </a:xfrm>
        </p:spPr>
        <p:txBody>
          <a:bodyPr/>
          <a:p>
            <a:r>
              <a:rPr lang="zh-CN" altLang="en-US" sz="2800"/>
              <a:t>存储过程概念</a:t>
            </a:r>
            <a:endParaRPr lang="zh-CN" altLang="en-US" sz="2800"/>
          </a:p>
          <a:p>
            <a:pPr lvl="1"/>
            <a:r>
              <a:rPr lang="zh-CN" altLang="en-US" sz="2400"/>
              <a:t>存储过程是一个 SQL 语句和可选控制流语句的预编译集合。存储过程编译完成后存放在数据库中，这样就省去了执行 SQL 语句时对 SQL 语句进行编译所花费的时间。在执行存储过程时只需要将参数传递到数据库中，而不需要将整条 SQL 语句都提交给数据库，从而减少了网络传输的流量，从另一方面提高了程序的运行速度</a:t>
            </a: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>
              <a:defRPr/>
            </a:pPr>
            <a:fld id="{625815E6-DEA6-4F40-A954-531D7B02BB04}" type="slidenum">
              <a:rPr lang="zh-CN" altLang="en-US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0780" y="3713480"/>
            <a:ext cx="8649335" cy="15601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310" y="5563235"/>
            <a:ext cx="8950325" cy="5753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72770" y="4197985"/>
            <a:ext cx="17145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定义存储过程</a:t>
            </a:r>
            <a:endParaRPr lang="zh-CN" altLang="en-US" sz="2000"/>
          </a:p>
        </p:txBody>
      </p:sp>
      <p:sp>
        <p:nvSpPr>
          <p:cNvPr id="8" name="文本框 7"/>
          <p:cNvSpPr txBox="1"/>
          <p:nvPr/>
        </p:nvSpPr>
        <p:spPr>
          <a:xfrm>
            <a:off x="572770" y="5651500"/>
            <a:ext cx="17145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调用存储过程</a:t>
            </a:r>
            <a:endParaRPr lang="zh-CN" altLang="en-US" sz="20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" y="1122045"/>
            <a:ext cx="7409180" cy="55060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 smtClean="0">
                <a:sym typeface="+mn-ea"/>
              </a:rPr>
              <a:t>JDBC</a:t>
            </a:r>
            <a:r>
              <a:rPr lang="zh-CN" altLang="en-US" dirty="0" smtClean="0">
                <a:sym typeface="+mn-ea"/>
              </a:rPr>
              <a:t>调用存储过程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>
              <a:defRPr/>
            </a:pPr>
            <a:fld id="{625815E6-DEA6-4F40-A954-531D7B02BB04}" type="slidenum">
              <a:rPr lang="zh-CN" altLang="en-US"/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915" y="4957445"/>
            <a:ext cx="4495800" cy="138684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V="1">
            <a:off x="2454910" y="3152140"/>
            <a:ext cx="4879340" cy="241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030605" y="3728720"/>
            <a:ext cx="2855595" cy="50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76200" y="1676400"/>
            <a:ext cx="3581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09600" y="4876800"/>
            <a:ext cx="56388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91820" y="6282055"/>
            <a:ext cx="4437380" cy="425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3"/>
          <p:cNvSpPr txBox="1"/>
          <p:nvPr/>
        </p:nvSpPr>
        <p:spPr>
          <a:xfrm>
            <a:off x="7284085" y="1617980"/>
            <a:ext cx="46482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/>
              <a:t>演示</a:t>
            </a:r>
            <a:r>
              <a:rPr lang="en-US" altLang="zh-CN" sz="2800" dirty="0" smtClean="0"/>
              <a:t>:CRUDExample2.java</a:t>
            </a:r>
            <a:endParaRPr lang="zh-CN" altLang="en-US" sz="2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JDBC</a:t>
            </a:r>
            <a:r>
              <a:rPr lang="zh-CN" altLang="en-US" dirty="0"/>
              <a:t>事务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i="1" dirty="0" smtClean="0">
                <a:solidFill>
                  <a:srgbClr val="FF0000"/>
                </a:solidFill>
              </a:rPr>
              <a:t>事务</a:t>
            </a:r>
            <a:r>
              <a:rPr lang="zh-CN" altLang="en-US" sz="3600" dirty="0" smtClean="0"/>
              <a:t>是由</a:t>
            </a:r>
            <a:r>
              <a:rPr lang="zh-CN" altLang="en-US" sz="3600" dirty="0"/>
              <a:t>一条或多条对数据库更新的</a:t>
            </a:r>
            <a:r>
              <a:rPr lang="en-US" altLang="zh-CN" sz="3600" dirty="0"/>
              <a:t>SQL</a:t>
            </a:r>
            <a:r>
              <a:rPr lang="zh-CN" altLang="en-US" sz="3600" dirty="0"/>
              <a:t>语句所组成的一个不可分割的工作</a:t>
            </a:r>
            <a:r>
              <a:rPr lang="zh-CN" altLang="en-US" sz="3600" dirty="0" smtClean="0"/>
              <a:t>单元</a:t>
            </a:r>
            <a:endParaRPr lang="en-US" altLang="zh-CN" sz="3600" dirty="0" smtClean="0"/>
          </a:p>
          <a:p>
            <a:pPr lvl="1"/>
            <a:r>
              <a:rPr lang="en-US" altLang="zh-CN" sz="3200" dirty="0" smtClean="0"/>
              <a:t>ACID</a:t>
            </a:r>
            <a:endParaRPr lang="en-US" altLang="zh-CN" sz="3200" dirty="0" smtClean="0"/>
          </a:p>
          <a:p>
            <a:pPr lvl="2"/>
            <a:r>
              <a:rPr lang="zh-CN" altLang="en-US" sz="2800" dirty="0"/>
              <a:t>原子</a:t>
            </a:r>
            <a:r>
              <a:rPr lang="zh-CN" altLang="en-US" sz="2800" dirty="0" smtClean="0"/>
              <a:t>性</a:t>
            </a:r>
            <a:endParaRPr lang="en-US" altLang="zh-CN" sz="2800" dirty="0" smtClean="0"/>
          </a:p>
          <a:p>
            <a:pPr lvl="2"/>
            <a:r>
              <a:rPr lang="zh-CN" altLang="en-US" sz="2800" dirty="0" smtClean="0"/>
              <a:t>一致性</a:t>
            </a:r>
            <a:endParaRPr lang="en-US" altLang="zh-CN" sz="2800" dirty="0" smtClean="0"/>
          </a:p>
          <a:p>
            <a:pPr lvl="2"/>
            <a:r>
              <a:rPr lang="zh-CN" altLang="en-US" sz="2800" dirty="0"/>
              <a:t>隔离</a:t>
            </a:r>
            <a:r>
              <a:rPr lang="zh-CN" altLang="en-US" sz="2800" dirty="0" smtClean="0"/>
              <a:t>性</a:t>
            </a:r>
            <a:endParaRPr lang="en-US" altLang="zh-CN" sz="2800" dirty="0" smtClean="0"/>
          </a:p>
          <a:p>
            <a:pPr lvl="2"/>
            <a:r>
              <a:rPr lang="zh-CN" altLang="en-US" sz="2800" dirty="0" smtClean="0"/>
              <a:t>持久性</a:t>
            </a:r>
            <a:endParaRPr lang="zh-CN" altLang="en-US" sz="28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JDBC</a:t>
            </a:r>
            <a:r>
              <a:rPr lang="zh-CN" altLang="en-US" dirty="0"/>
              <a:t>事务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5275" y="1135380"/>
            <a:ext cx="11504930" cy="5113020"/>
          </a:xfrm>
        </p:spPr>
        <p:txBody>
          <a:bodyPr/>
          <a:lstStyle/>
          <a:p>
            <a:r>
              <a:rPr lang="en-US" altLang="zh-CN" sz="3600" dirty="0" smtClean="0"/>
              <a:t>Connection</a:t>
            </a:r>
            <a:r>
              <a:rPr lang="zh-CN" altLang="en-US" sz="3600" dirty="0" smtClean="0"/>
              <a:t>接口</a:t>
            </a:r>
            <a:r>
              <a:rPr lang="zh-CN" altLang="en-US" sz="3600" dirty="0"/>
              <a:t>有</a:t>
            </a:r>
            <a:r>
              <a:rPr lang="en-US" altLang="zh-CN" sz="3600" dirty="0"/>
              <a:t>3</a:t>
            </a:r>
            <a:r>
              <a:rPr lang="zh-CN" altLang="en-US" sz="3600" dirty="0" smtClean="0"/>
              <a:t>个</a:t>
            </a:r>
            <a:r>
              <a:rPr lang="zh-CN" altLang="en-US" sz="3600" dirty="0"/>
              <a:t>事务相关的方法</a:t>
            </a:r>
            <a:endParaRPr lang="en-US" altLang="zh-CN" sz="3600" dirty="0" smtClean="0"/>
          </a:p>
          <a:p>
            <a:pPr lvl="1"/>
            <a:r>
              <a:rPr lang="en-US" altLang="zh-CN" sz="3200" dirty="0" err="1"/>
              <a:t>setAutoCommit</a:t>
            </a:r>
            <a:r>
              <a:rPr lang="en-US" altLang="zh-CN" sz="3200" dirty="0"/>
              <a:t>(</a:t>
            </a:r>
            <a:r>
              <a:rPr lang="en-US" altLang="zh-CN" sz="3200" dirty="0" err="1"/>
              <a:t>boolean</a:t>
            </a:r>
            <a:r>
              <a:rPr lang="en-US" altLang="zh-CN" sz="3200" dirty="0"/>
              <a:t> </a:t>
            </a:r>
            <a:r>
              <a:rPr lang="en-US" altLang="zh-CN" sz="3200" dirty="0" err="1"/>
              <a:t>autoCommit</a:t>
            </a:r>
            <a:r>
              <a:rPr lang="en-US" altLang="zh-CN" sz="3200" dirty="0" smtClean="0"/>
              <a:t>)</a:t>
            </a:r>
            <a:endParaRPr lang="en-US" altLang="zh-CN" sz="3200" dirty="0" smtClean="0"/>
          </a:p>
          <a:p>
            <a:pPr lvl="2"/>
            <a:r>
              <a:rPr lang="zh-CN" altLang="en-US" sz="2800" dirty="0"/>
              <a:t>设置事务提交</a:t>
            </a:r>
            <a:r>
              <a:rPr lang="zh-CN" altLang="en-US" sz="2800" dirty="0" smtClean="0"/>
              <a:t>方式。</a:t>
            </a:r>
            <a:r>
              <a:rPr lang="en-US" altLang="zh-CN" sz="2800" dirty="0"/>
              <a:t> </a:t>
            </a:r>
            <a:r>
              <a:rPr lang="en-US" altLang="zh-CN" sz="2800" dirty="0" err="1" smtClean="0"/>
              <a:t>autoCommit</a:t>
            </a:r>
            <a:r>
              <a:rPr lang="zh-CN" altLang="en-US" sz="2800" dirty="0" smtClean="0"/>
              <a:t>为</a:t>
            </a:r>
            <a:r>
              <a:rPr lang="en-US" altLang="zh-CN" sz="2800" dirty="0" smtClean="0"/>
              <a:t>false</a:t>
            </a:r>
            <a:r>
              <a:rPr lang="zh-CN" altLang="en-US" sz="2800" dirty="0" smtClean="0"/>
              <a:t>时为手动提交，默认为</a:t>
            </a:r>
            <a:r>
              <a:rPr lang="en-US" altLang="zh-CN" sz="2800" dirty="0" smtClean="0"/>
              <a:t>true</a:t>
            </a:r>
            <a:endParaRPr lang="en-US" altLang="zh-CN" sz="2800" dirty="0" smtClean="0"/>
          </a:p>
          <a:p>
            <a:pPr lvl="1"/>
            <a:r>
              <a:rPr lang="en-US" altLang="zh-CN" sz="3200" dirty="0" smtClean="0"/>
              <a:t>commit()</a:t>
            </a:r>
            <a:endParaRPr lang="en-US" altLang="zh-CN" sz="3200" dirty="0" smtClean="0"/>
          </a:p>
          <a:p>
            <a:pPr lvl="2"/>
            <a:r>
              <a:rPr lang="en-US" altLang="zh-CN" sz="2800" dirty="0" err="1" smtClean="0"/>
              <a:t>setAutoCommit</a:t>
            </a:r>
            <a:r>
              <a:rPr lang="en-US" altLang="zh-CN" sz="2800" dirty="0" smtClean="0"/>
              <a:t>(false</a:t>
            </a:r>
            <a:r>
              <a:rPr lang="en-US" altLang="zh-CN" sz="2800" dirty="0"/>
              <a:t>)</a:t>
            </a:r>
            <a:r>
              <a:rPr lang="zh-CN" altLang="en-US" sz="2800" dirty="0"/>
              <a:t>方法后应显示调用该</a:t>
            </a:r>
            <a:r>
              <a:rPr lang="en-US" altLang="zh-CN" sz="2800" dirty="0"/>
              <a:t>commit</a:t>
            </a:r>
            <a:r>
              <a:rPr lang="zh-CN" altLang="en-US" sz="2800" dirty="0" smtClean="0"/>
              <a:t>方法</a:t>
            </a:r>
            <a:endParaRPr lang="en-US" altLang="zh-CN" sz="2800" dirty="0" smtClean="0"/>
          </a:p>
          <a:p>
            <a:pPr lvl="1"/>
            <a:r>
              <a:rPr lang="en-US" altLang="zh-CN" sz="3200" dirty="0"/>
              <a:t>rollback</a:t>
            </a:r>
            <a:r>
              <a:rPr lang="en-US" altLang="zh-CN" sz="3200" dirty="0" smtClean="0"/>
              <a:t>()</a:t>
            </a:r>
            <a:endParaRPr lang="en-US" altLang="zh-CN" sz="3200" dirty="0" smtClean="0"/>
          </a:p>
          <a:p>
            <a:pPr lvl="2"/>
            <a:r>
              <a:rPr lang="zh-CN" altLang="en-US" sz="2800" dirty="0"/>
              <a:t>如果执行事务时</a:t>
            </a:r>
            <a:r>
              <a:rPr lang="zh-CN" altLang="en-US" sz="2800" dirty="0" smtClean="0"/>
              <a:t>出错，回滚已完成的操作</a:t>
            </a:r>
            <a:endParaRPr lang="zh-CN" altLang="en-US" sz="28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95" y="823595"/>
            <a:ext cx="10716895" cy="61226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JDBC</a:t>
            </a:r>
            <a:r>
              <a:rPr lang="zh-CN" altLang="en-US" dirty="0" smtClean="0"/>
              <a:t>事务示例</a:t>
            </a:r>
            <a:endParaRPr lang="zh-CN" altLang="en-US" dirty="0"/>
          </a:p>
        </p:txBody>
      </p:sp>
      <p:sp>
        <p:nvSpPr>
          <p:cNvPr id="4" name="右箭头 3">
            <a:hlinkClick r:id="rId2" action="ppaction://hlinksldjump"/>
          </p:cNvPr>
          <p:cNvSpPr/>
          <p:nvPr/>
        </p:nvSpPr>
        <p:spPr>
          <a:xfrm>
            <a:off x="10618470" y="5992495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6823075" y="4970145"/>
            <a:ext cx="46958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演示</a:t>
            </a:r>
            <a:r>
              <a:rPr lang="en-US" altLang="zh-CN" sz="2000" dirty="0" smtClean="0"/>
              <a:t>:CRUDExample2.java(</a:t>
            </a:r>
            <a:r>
              <a:rPr lang="zh-CN" altLang="en-US" sz="2000" dirty="0" smtClean="0"/>
              <a:t>代码</a:t>
            </a:r>
            <a:r>
              <a:rPr lang="en-US" altLang="zh-CN" sz="2000" dirty="0" smtClean="0"/>
              <a:t>)</a:t>
            </a:r>
            <a:endParaRPr lang="zh-CN" altLang="en-US" sz="200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2062480" y="1694815"/>
            <a:ext cx="28956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062480" y="2456815"/>
            <a:ext cx="821120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2062480" y="3200359"/>
            <a:ext cx="2209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062480" y="3952240"/>
            <a:ext cx="2209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521460" y="5486400"/>
            <a:ext cx="2059940" cy="698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524000" y="6019800"/>
            <a:ext cx="32004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JDBC</a:t>
            </a:r>
            <a:r>
              <a:rPr lang="zh-CN" altLang="en-US"/>
              <a:t>设置存储点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4185" y="1135380"/>
            <a:ext cx="11388090" cy="5113020"/>
          </a:xfrm>
        </p:spPr>
        <p:txBody>
          <a:bodyPr/>
          <a:p>
            <a:r>
              <a:rPr lang="zh-CN" altLang="en-US"/>
              <a:t>如果在事务管理时仅仅需要撤回到某个 SQL 执行点，那么可以设置存储点（Save Point）</a:t>
            </a:r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>
              <a:defRPr/>
            </a:pPr>
            <a:fld id="{625815E6-DEA6-4F40-A954-531D7B02BB04}" type="slidenum">
              <a:rPr lang="zh-CN" altLang="en-US"/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05" y="2126615"/>
            <a:ext cx="5276850" cy="41217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930" y="2126615"/>
            <a:ext cx="6816090" cy="43129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设置事务隔离级别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1219200"/>
            <a:ext cx="11619865" cy="5113020"/>
          </a:xfrm>
        </p:spPr>
        <p:txBody>
          <a:bodyPr/>
          <a:p>
            <a:pPr>
              <a:lnSpc>
                <a:spcPct val="70000"/>
              </a:lnSpc>
            </a:pPr>
            <a:r>
              <a:rPr lang="zh-CN" altLang="en-US"/>
              <a:t>java.sql.Connection  </a:t>
            </a:r>
            <a:r>
              <a:rPr lang="zh-CN" altLang="en-US">
                <a:sym typeface="+mn-ea"/>
              </a:rPr>
              <a:t>获取和设置隔离级别</a:t>
            </a:r>
            <a:endParaRPr lang="zh-CN" altLang="en-US"/>
          </a:p>
          <a:p>
            <a:pPr lvl="1">
              <a:lnSpc>
                <a:spcPct val="70000"/>
              </a:lnSpc>
            </a:pPr>
            <a:r>
              <a:rPr lang="zh-CN" altLang="en-US"/>
              <a:t>getTransactionIslation() 和setTransactionIsolation()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>
              <a:defRPr/>
            </a:pPr>
            <a:fld id="{625815E6-DEA6-4F40-A954-531D7B02BB04}" type="slidenum">
              <a:rPr lang="zh-CN" altLang="en-US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1981200"/>
            <a:ext cx="8746490" cy="47815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9780" y="1135380"/>
            <a:ext cx="10179050" cy="5113020"/>
          </a:xfrm>
        </p:spPr>
        <p:txBody>
          <a:bodyPr/>
          <a:lstStyle/>
          <a:p>
            <a:r>
              <a:rPr lang="en-US" altLang="zh-CN" dirty="0" smtClean="0"/>
              <a:t>JDBC</a:t>
            </a:r>
            <a:r>
              <a:rPr lang="zh-CN" altLang="en-US" dirty="0" smtClean="0"/>
              <a:t>概念</a:t>
            </a:r>
            <a:endParaRPr lang="en-US" altLang="zh-CN" sz="2400" dirty="0"/>
          </a:p>
          <a:p>
            <a:r>
              <a:rPr lang="en-US" altLang="zh-CN" dirty="0" smtClean="0"/>
              <a:t>JDBC</a:t>
            </a:r>
            <a:r>
              <a:rPr lang="zh-CN" altLang="en-US" dirty="0" smtClean="0"/>
              <a:t>常用</a:t>
            </a:r>
            <a:r>
              <a:rPr lang="zh-CN" altLang="en-US" dirty="0"/>
              <a:t>类</a:t>
            </a:r>
            <a:r>
              <a:rPr lang="zh-CN" altLang="en-US" dirty="0" smtClean="0"/>
              <a:t>和接口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DriverManager</a:t>
            </a:r>
            <a:r>
              <a:rPr lang="en-US" altLang="zh-CN" dirty="0" smtClean="0"/>
              <a:t>\Connection\Statement\</a:t>
            </a:r>
            <a:r>
              <a:rPr lang="en-US" altLang="zh-CN" dirty="0" err="1" smtClean="0"/>
              <a:t>ResultSet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PreparedStatement</a:t>
            </a:r>
            <a:endParaRPr lang="en-US" altLang="zh-CN" dirty="0"/>
          </a:p>
          <a:p>
            <a:r>
              <a:rPr lang="en-US" altLang="zh-CN" dirty="0"/>
              <a:t>JDBC</a:t>
            </a:r>
            <a:r>
              <a:rPr lang="zh-CN" altLang="en-US" dirty="0"/>
              <a:t>使用</a:t>
            </a:r>
            <a:r>
              <a:rPr lang="zh-CN" altLang="en-US" dirty="0" smtClean="0"/>
              <a:t>步骤</a:t>
            </a:r>
            <a:r>
              <a:rPr lang="en-US" altLang="zh-CN" dirty="0" smtClean="0"/>
              <a:t>(5</a:t>
            </a:r>
            <a:r>
              <a:rPr lang="zh-CN" altLang="en-US" dirty="0" smtClean="0"/>
              <a:t>步</a:t>
            </a:r>
            <a:r>
              <a:rPr lang="en-US" altLang="zh-CN" dirty="0" smtClean="0"/>
              <a:t>)</a:t>
            </a:r>
            <a:endParaRPr lang="en-US" altLang="zh-CN" dirty="0"/>
          </a:p>
          <a:p>
            <a:r>
              <a:rPr lang="en-US" altLang="zh-CN" dirty="0"/>
              <a:t>JDBC</a:t>
            </a:r>
            <a:r>
              <a:rPr lang="zh-CN" altLang="en-US" dirty="0"/>
              <a:t>实现</a:t>
            </a:r>
            <a:r>
              <a:rPr lang="en-US" altLang="zh-CN" dirty="0"/>
              <a:t>CRUD</a:t>
            </a:r>
            <a:r>
              <a:rPr lang="zh-CN" altLang="en-US" dirty="0" smtClean="0"/>
              <a:t>操作</a:t>
            </a:r>
            <a:endParaRPr lang="en-US" altLang="zh-CN" dirty="0" smtClean="0"/>
          </a:p>
          <a:p>
            <a:r>
              <a:rPr lang="en-US" altLang="zh-CN" dirty="0" smtClean="0"/>
              <a:t>JDBC</a:t>
            </a:r>
            <a:r>
              <a:rPr lang="zh-CN" altLang="en-US" dirty="0" smtClean="0"/>
              <a:t>事务处理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commit(),</a:t>
            </a:r>
            <a:r>
              <a:rPr lang="en-US" altLang="zh-CN" dirty="0"/>
              <a:t>rollback(), </a:t>
            </a:r>
            <a:r>
              <a:rPr lang="en-US" altLang="zh-CN" dirty="0" err="1" smtClean="0"/>
              <a:t>setAutoCommit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boolean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YmFjNWZhYmVmMzg4Mzg4NGQ0MmIwMjFlNjJhNDU3MDQifQ=="/>
  <p:tag name="KSO_WPP_MARK_KEY" val="25d4dc52-c32b-42ce-bc2c-60475b8d2375"/>
  <p:tag name="commondata" val="eyJoZGlkIjoiODJiYjg0MzBkZmQ1OGYxZWJkZjc1YWIwMDBiNGIwM2MifQ=="/>
</p:tagLst>
</file>

<file path=ppt/theme/theme1.xml><?xml version="1.0" encoding="utf-8"?>
<a:theme xmlns:a="http://schemas.openxmlformats.org/drawingml/2006/main" name="数据库原理及应用">
  <a:themeElements>
    <a:clrScheme name="数据库原理及应用 7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9900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8A0000"/>
      </a:accent6>
      <a:hlink>
        <a:srgbClr val="660066"/>
      </a:hlink>
      <a:folHlink>
        <a:srgbClr val="000099"/>
      </a:folHlink>
    </a:clrScheme>
    <a:fontScheme name="数据库原理及应用">
      <a:majorFont>
        <a:latin typeface="隶书"/>
        <a:ea typeface="隶书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数据库原理及应用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4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99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5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0033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6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FF99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7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660066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课件模板1.2(diy)</Template>
  <TotalTime>0</TotalTime>
  <Words>5240</Words>
  <Application>WPS 演示</Application>
  <PresentationFormat>全屏显示(4:3)</PresentationFormat>
  <Paragraphs>497</Paragraphs>
  <Slides>33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50" baseType="lpstr">
      <vt:lpstr>Arial</vt:lpstr>
      <vt:lpstr>宋体</vt:lpstr>
      <vt:lpstr>Wingdings</vt:lpstr>
      <vt:lpstr>隶书</vt:lpstr>
      <vt:lpstr>Tahoma</vt:lpstr>
      <vt:lpstr>Times New Roman</vt:lpstr>
      <vt:lpstr>华文新魏</vt:lpstr>
      <vt:lpstr>Monotype Sorts</vt:lpstr>
      <vt:lpstr>Wingdings</vt:lpstr>
      <vt:lpstr>楷体_GB2312</vt:lpstr>
      <vt:lpstr>新宋体</vt:lpstr>
      <vt:lpstr>微软雅黑</vt:lpstr>
      <vt:lpstr>楷体</vt:lpstr>
      <vt:lpstr>黑体</vt:lpstr>
      <vt:lpstr>Arial Unicode MS</vt:lpstr>
      <vt:lpstr>Tahoma</vt:lpstr>
      <vt:lpstr>数据库原理及应用</vt:lpstr>
      <vt:lpstr>PowerPoint 演示文稿</vt:lpstr>
      <vt:lpstr>JDBC</vt:lpstr>
      <vt:lpstr>JDBC 简介</vt:lpstr>
      <vt:lpstr>JDBC 简介</vt:lpstr>
      <vt:lpstr>JDBC 常用类和接口</vt:lpstr>
      <vt:lpstr>JDBC 常用类和接口</vt:lpstr>
      <vt:lpstr>TutorialExample</vt:lpstr>
      <vt:lpstr>TutorialExample(续)</vt:lpstr>
      <vt:lpstr>java.sql.DriverManager</vt:lpstr>
      <vt:lpstr>java.sql.DriverManager</vt:lpstr>
      <vt:lpstr>java.sql.Connection</vt:lpstr>
      <vt:lpstr>java.sql.Connection</vt:lpstr>
      <vt:lpstr>执行SQL语句接口</vt:lpstr>
      <vt:lpstr>java.sql.Statement</vt:lpstr>
      <vt:lpstr>java.sql.preparedStatement</vt:lpstr>
      <vt:lpstr>java.sql.preparedStatement</vt:lpstr>
      <vt:lpstr>Java.sql.ResultSet</vt:lpstr>
      <vt:lpstr>ResultSet对象示例</vt:lpstr>
      <vt:lpstr>ResultSet对象示例-续</vt:lpstr>
      <vt:lpstr>JDBC与Mysql数据类型对应</vt:lpstr>
      <vt:lpstr>运行示例</vt:lpstr>
      <vt:lpstr>JDBC使用步骤（总结）</vt:lpstr>
      <vt:lpstr>JDBC实现CRUD操作</vt:lpstr>
      <vt:lpstr>增强代码重用性</vt:lpstr>
      <vt:lpstr>使用PreparedStatement</vt:lpstr>
      <vt:lpstr>JDBC调用存储过程</vt:lpstr>
      <vt:lpstr>JDBC调用存储过程</vt:lpstr>
      <vt:lpstr>JDBC事务</vt:lpstr>
      <vt:lpstr>JDBC事务</vt:lpstr>
      <vt:lpstr>JDBC事务示例</vt:lpstr>
      <vt:lpstr>JDBC设置存储点</vt:lpstr>
      <vt:lpstr>设置事务隔离级别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wxh</dc:creator>
  <cp:lastModifiedBy>欲.</cp:lastModifiedBy>
  <cp:revision>2764</cp:revision>
  <cp:lastPrinted>2113-01-01T00:00:00Z</cp:lastPrinted>
  <dcterms:created xsi:type="dcterms:W3CDTF">2113-01-01T00:00:00Z</dcterms:created>
  <dcterms:modified xsi:type="dcterms:W3CDTF">2023-11-19T07:01:41Z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2052-12.1.0.15712</vt:lpwstr>
  </property>
  <property fmtid="{D5CDD505-2E9C-101B-9397-08002B2CF9AE}" pid="4" name="ICV">
    <vt:lpwstr>6A751751266745E2B740DA7A08A0B889</vt:lpwstr>
  </property>
</Properties>
</file>