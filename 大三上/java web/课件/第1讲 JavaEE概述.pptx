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4"/>
  </p:handoutMasterIdLst>
  <p:sldIdLst>
    <p:sldId id="339" r:id="rId4"/>
    <p:sldId id="382" r:id="rId6"/>
    <p:sldId id="383" r:id="rId7"/>
    <p:sldId id="401" r:id="rId8"/>
    <p:sldId id="385" r:id="rId9"/>
    <p:sldId id="386" r:id="rId10"/>
    <p:sldId id="387" r:id="rId11"/>
    <p:sldId id="388" r:id="rId12"/>
    <p:sldId id="390" r:id="rId13"/>
    <p:sldId id="389" r:id="rId14"/>
    <p:sldId id="391" r:id="rId15"/>
    <p:sldId id="392" r:id="rId16"/>
    <p:sldId id="393" r:id="rId17"/>
    <p:sldId id="394" r:id="rId18"/>
    <p:sldId id="396" r:id="rId19"/>
    <p:sldId id="395" r:id="rId20"/>
    <p:sldId id="398" r:id="rId21"/>
    <p:sldId id="397" r:id="rId22"/>
    <p:sldId id="399" r:id="rId23"/>
  </p:sldIdLst>
  <p:sldSz cx="12192000" cy="6858000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00CC"/>
    <a:srgbClr val="FFFFFF"/>
    <a:srgbClr val="FFCCFF"/>
    <a:srgbClr val="FFFF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9190" autoAdjust="0"/>
  </p:normalViewPr>
  <p:slideViewPr>
    <p:cSldViewPr showGuides="1">
      <p:cViewPr varScale="1">
        <p:scale>
          <a:sx n="63" d="100"/>
          <a:sy n="63" d="100"/>
        </p:scale>
        <p:origin x="-1176" y="-72"/>
      </p:cViewPr>
      <p:guideLst>
        <p:guide orient="horz" pos="2152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6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14C68F-AA02-4465-AD88-18C9C57BD17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543AC59-CF95-47F6-B17C-B59E5D463C8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Java EE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Java Platform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Enterprise Edition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3E58F3F5-6AF7-4AC8-8768-8A9587842B63}" type="slidenum">
              <a:rPr lang="en-US" altLang="zh-CN" sz="1200" b="0" smtClean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现在 Python 如日中天，Go 野心勃勃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2009</a:t>
            </a:r>
            <a:r>
              <a:rPr lang="zh-CN" altLang="en-US"/>
              <a:t>年</a:t>
            </a:r>
            <a:r>
              <a:rPr lang="en-US" altLang="zh-CN"/>
              <a:t>sun</a:t>
            </a:r>
            <a:r>
              <a:rPr lang="zh-CN" altLang="en-US"/>
              <a:t>被</a:t>
            </a:r>
            <a:r>
              <a:rPr lang="en-US" altLang="zh-CN"/>
              <a:t>oracle</a:t>
            </a:r>
            <a:r>
              <a:rPr lang="zh-CN" altLang="en-US"/>
              <a:t>收购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从JDK 5.0开始 J2EE 改名为 java EE，J2SE 改名为 java SE，J2ME 改名成 java ME，其实是一回事，只是叫法改了而已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技术封锁</a:t>
            </a:r>
            <a:endParaRPr lang="zh-CN" altLang="en-US"/>
          </a:p>
          <a:p>
            <a:r>
              <a:rPr lang="zh-CN" altLang="en-US"/>
              <a:t>开发语言、开发平台国产化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dirty="0" smtClean="0"/>
              <a:t>Java EE</a:t>
            </a:r>
            <a:r>
              <a:rPr lang="zh-CN" altLang="zh-CN" sz="1200" dirty="0" smtClean="0"/>
              <a:t>的客户层位于客户端机器上，可以是基于</a:t>
            </a:r>
            <a:r>
              <a:rPr lang="en-US" altLang="zh-CN" sz="1200" dirty="0" smtClean="0"/>
              <a:t>Web</a:t>
            </a:r>
            <a:r>
              <a:rPr lang="zh-CN" altLang="zh-CN" sz="1200" dirty="0" smtClean="0"/>
              <a:t>的也可以是非</a:t>
            </a:r>
            <a:r>
              <a:rPr lang="en-US" altLang="zh-CN" sz="1200" dirty="0" smtClean="0"/>
              <a:t>web</a:t>
            </a:r>
            <a:r>
              <a:rPr lang="zh-CN" altLang="zh-CN" sz="1200" dirty="0" smtClean="0"/>
              <a:t>的。例如，可以是单独的</a:t>
            </a:r>
            <a:r>
              <a:rPr lang="en-US" altLang="zh-CN" sz="1200" dirty="0" smtClean="0"/>
              <a:t>Java</a:t>
            </a:r>
            <a:r>
              <a:rPr lang="zh-CN" altLang="zh-CN" sz="1200" dirty="0" smtClean="0"/>
              <a:t>应用（</a:t>
            </a:r>
            <a:r>
              <a:rPr lang="en-US" altLang="zh-CN" sz="1200" dirty="0" smtClean="0"/>
              <a:t>Application</a:t>
            </a:r>
            <a:r>
              <a:rPr lang="zh-CN" altLang="zh-CN" sz="1200" dirty="0" smtClean="0"/>
              <a:t>），也可以是</a:t>
            </a:r>
            <a:r>
              <a:rPr lang="en-US" altLang="zh-CN" sz="1200" dirty="0" smtClean="0"/>
              <a:t>Applet</a:t>
            </a:r>
            <a:r>
              <a:rPr lang="zh-CN" altLang="en-US" sz="1200" dirty="0" smtClean="0"/>
              <a:t>（需要为客户机安装</a:t>
            </a:r>
            <a:r>
              <a:rPr lang="en-US" altLang="zh-CN" sz="1200" dirty="0" smtClean="0"/>
              <a:t>jvm</a:t>
            </a:r>
            <a:r>
              <a:rPr lang="zh-CN" altLang="en-US" sz="1200" dirty="0" smtClean="0"/>
              <a:t>）</a:t>
            </a:r>
            <a:r>
              <a:rPr lang="zh-CN" altLang="zh-CN" sz="1200" dirty="0" smtClean="0"/>
              <a:t>。</a:t>
            </a:r>
            <a:endParaRPr lang="zh-CN" altLang="zh-CN" sz="1200" dirty="0" smtClean="0"/>
          </a:p>
          <a:p>
            <a:r>
              <a:rPr lang="en-US" altLang="zh-CN" sz="1200" dirty="0" smtClean="0"/>
              <a:t>Java EE</a:t>
            </a:r>
            <a:r>
              <a:rPr lang="zh-CN" altLang="zh-CN" sz="1200" dirty="0" smtClean="0"/>
              <a:t>的</a:t>
            </a:r>
            <a:r>
              <a:rPr lang="en-US" altLang="zh-CN" sz="1200" dirty="0" smtClean="0"/>
              <a:t>Web</a:t>
            </a:r>
            <a:r>
              <a:rPr lang="zh-CN" altLang="zh-CN" sz="1200" dirty="0" smtClean="0"/>
              <a:t>层位于应用服务器上，该层中的组件主要有</a:t>
            </a:r>
            <a:r>
              <a:rPr lang="en-US" altLang="zh-CN" sz="1200" dirty="0" smtClean="0"/>
              <a:t>JSP</a:t>
            </a:r>
            <a:r>
              <a:rPr lang="zh-CN" altLang="zh-CN" sz="1200" dirty="0" smtClean="0"/>
              <a:t>、</a:t>
            </a:r>
            <a:r>
              <a:rPr lang="en-US" altLang="zh-CN" sz="1200" dirty="0" smtClean="0"/>
              <a:t>Servlet</a:t>
            </a:r>
            <a:r>
              <a:rPr lang="zh-CN" altLang="zh-CN" sz="1200" dirty="0" smtClean="0"/>
              <a:t>等组件。（</a:t>
            </a:r>
            <a:r>
              <a:rPr lang="en-US" altLang="zh-CN" sz="1200" dirty="0" smtClean="0"/>
              <a:t>wxh</a:t>
            </a:r>
            <a:r>
              <a:rPr lang="zh-CN" altLang="en-US" sz="1200" dirty="0" smtClean="0"/>
              <a:t>：接收用户请求，调用业务逻辑，返回动态生成的</a:t>
            </a:r>
            <a:r>
              <a:rPr lang="en-US" altLang="zh-CN" sz="1200" dirty="0" smtClean="0"/>
              <a:t>Web</a:t>
            </a:r>
            <a:r>
              <a:rPr lang="zh-CN" altLang="en-US" sz="1200" dirty="0" smtClean="0"/>
              <a:t>页面</a:t>
            </a:r>
            <a:r>
              <a:rPr lang="zh-CN" altLang="zh-CN" sz="1200" dirty="0" smtClean="0"/>
              <a:t>）</a:t>
            </a:r>
            <a:endParaRPr lang="zh-CN" altLang="zh-CN" sz="1200" dirty="0" smtClean="0"/>
          </a:p>
          <a:p>
            <a:r>
              <a:rPr lang="en-US" altLang="zh-CN" sz="1200" dirty="0" smtClean="0"/>
              <a:t>Java EE</a:t>
            </a:r>
            <a:r>
              <a:rPr lang="zh-CN" altLang="zh-CN" sz="1200" dirty="0" smtClean="0"/>
              <a:t>的业务逻辑层位于应用服务器上，该层中的主要组件有</a:t>
            </a:r>
            <a:r>
              <a:rPr lang="en-US" altLang="zh-CN" sz="1200" dirty="0" smtClean="0"/>
              <a:t>EJB</a:t>
            </a:r>
            <a:r>
              <a:rPr lang="zh-CN" altLang="zh-CN" sz="1200" dirty="0" smtClean="0"/>
              <a:t>。</a:t>
            </a:r>
            <a:endParaRPr lang="zh-CN" altLang="zh-CN" sz="1200" dirty="0" smtClean="0"/>
          </a:p>
          <a:p>
            <a:r>
              <a:rPr lang="en-US" altLang="zh-CN" sz="1200" dirty="0" smtClean="0"/>
              <a:t>Java EE</a:t>
            </a:r>
            <a:r>
              <a:rPr lang="zh-CN" altLang="zh-CN" sz="1200" dirty="0" smtClean="0"/>
              <a:t>的</a:t>
            </a:r>
            <a:r>
              <a:rPr lang="en-US" altLang="zh-CN" sz="1200" dirty="0" smtClean="0"/>
              <a:t>EIS</a:t>
            </a:r>
            <a:r>
              <a:rPr lang="zh-CN" altLang="zh-CN" sz="1200" dirty="0" smtClean="0"/>
              <a:t>层位于服务器上，该层主要是数据库服务器或企业遗留系统（</a:t>
            </a:r>
            <a:r>
              <a:rPr lang="en-US" altLang="zh-CN" sz="1200" dirty="0" smtClean="0"/>
              <a:t>wxh:</a:t>
            </a:r>
            <a:r>
              <a:rPr lang="zh-CN" altLang="en-US" sz="1200" dirty="0" smtClean="0"/>
              <a:t>能提供访问接口</a:t>
            </a:r>
            <a:r>
              <a:rPr lang="zh-CN" altLang="zh-CN" sz="1200" dirty="0" smtClean="0"/>
              <a:t>）。</a:t>
            </a:r>
            <a:endParaRPr lang="en-US" altLang="zh-CN" sz="1200" dirty="0" smtClean="0"/>
          </a:p>
          <a:p>
            <a:endParaRPr lang="en-US" altLang="zh-CN" sz="1200" dirty="0" smtClean="0"/>
          </a:p>
          <a:p>
            <a:r>
              <a:rPr lang="zh-CN" altLang="zh-CN" sz="1200" dirty="0" smtClean="0"/>
              <a:t>根据业务逻辑层提供服务的类别，可进一步将三层结构划分成</a:t>
            </a:r>
            <a:r>
              <a:rPr lang="en-US" altLang="zh-CN" sz="1200" dirty="0" smtClean="0"/>
              <a:t>N</a:t>
            </a:r>
            <a:r>
              <a:rPr lang="zh-CN" altLang="zh-CN" sz="1200" dirty="0" smtClean="0"/>
              <a:t>层。</a:t>
            </a:r>
            <a:endParaRPr lang="zh-CN" altLang="zh-CN" sz="1200" dirty="0" smtClean="0"/>
          </a:p>
          <a:p>
            <a:r>
              <a:rPr lang="en-US" altLang="zh-CN" sz="1200" dirty="0" smtClean="0"/>
              <a:t>Java EE</a:t>
            </a:r>
            <a:r>
              <a:rPr lang="zh-CN" altLang="zh-CN" sz="1200" dirty="0" smtClean="0"/>
              <a:t>的</a:t>
            </a:r>
            <a:r>
              <a:rPr lang="en-US" altLang="zh-CN" sz="1200" dirty="0" smtClean="0"/>
              <a:t>Web</a:t>
            </a:r>
            <a:r>
              <a:rPr lang="zh-CN" altLang="zh-CN" sz="1200" dirty="0" smtClean="0"/>
              <a:t>层与业务逻辑层通常在一台物理主机上，有时候这</a:t>
            </a:r>
            <a:r>
              <a:rPr lang="en-US" altLang="zh-CN" sz="1200" dirty="0" smtClean="0"/>
              <a:t>2</a:t>
            </a:r>
            <a:r>
              <a:rPr lang="zh-CN" altLang="zh-CN" sz="1200" dirty="0" smtClean="0"/>
              <a:t>层（</a:t>
            </a:r>
            <a:r>
              <a:rPr lang="en-US" altLang="zh-CN" sz="1200" dirty="0" smtClean="0"/>
              <a:t>Web</a:t>
            </a:r>
            <a:r>
              <a:rPr lang="zh-CN" altLang="zh-CN" sz="1200" dirty="0" smtClean="0"/>
              <a:t>层与业务逻辑层）被称为中间层，故</a:t>
            </a:r>
            <a:r>
              <a:rPr lang="en-US" altLang="zh-CN" sz="1200" dirty="0" smtClean="0"/>
              <a:t>Java EE</a:t>
            </a:r>
            <a:r>
              <a:rPr lang="zh-CN" altLang="zh-CN" sz="1200" dirty="0" smtClean="0"/>
              <a:t>此时被称为</a:t>
            </a:r>
            <a:r>
              <a:rPr lang="en-US" altLang="zh-CN" sz="1200" dirty="0" smtClean="0"/>
              <a:t>3</a:t>
            </a:r>
            <a:r>
              <a:rPr lang="zh-CN" altLang="zh-CN" sz="1200" dirty="0" smtClean="0"/>
              <a:t>层应用（客户层、中间层、</a:t>
            </a:r>
            <a:r>
              <a:rPr lang="en-US" altLang="zh-CN" sz="1200" dirty="0" smtClean="0"/>
              <a:t>EIS</a:t>
            </a:r>
            <a:r>
              <a:rPr lang="zh-CN" altLang="zh-CN" sz="1200" dirty="0" smtClean="0"/>
              <a:t>层）。</a:t>
            </a:r>
            <a:endParaRPr lang="zh-CN" altLang="en-US" sz="1200" dirty="0" smtClean="0"/>
          </a:p>
          <a:p>
            <a:endParaRPr lang="zh-CN" altLang="zh-CN" sz="1200" dirty="0" smtClean="0"/>
          </a:p>
          <a:p>
            <a:endParaRPr lang="zh-CN" altLang="en-US" dirty="0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8E3DEA66-F27E-445F-94D4-A3E32EE0E99E}" type="slidenum">
              <a:rPr lang="en-US" altLang="zh-CN" sz="1200" b="0" smtClean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</a:t>
            </a:r>
            <a:r>
              <a:rPr lang="en-US" altLang="zh-CN" sz="1200" b="1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application client 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runs on a client machine and provides a way for users to handle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tasks that require a richer user interface than can be provided by a markup language.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application client typically has a graphical user interface (GUI) created from the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Swing API or the Abstract Window Toolkit (AWT) API, but a command-line interface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is certainly possible.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Application clients directly access enterprise beans running in the business tier.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However, if application requirements warrant it, an application client can open an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HTTP connection to establish communication with a servlet running in the web tier.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Application clients written in languages other than Java can interact with Java EE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servers, enabling the Java EE platform to interoperate with legacy systems, clients, and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non-Java languages.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RMI(Remote Method Invoke)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　　正如其名字所表示的那样，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RMI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协议调用远程对象上方法。它使用了序列化方式在客户端和服务器端传递数据。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RMI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是一种被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EJB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使用的更底层的协议。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dirty="0"/>
              <a:t>JNDI(Java Naming and Directory Interface,Java命名和目录接口)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楷体" panose="02010609060101010101" charset="-122"/>
                <a:ea typeface="楷体" panose="02010609060101010101" charset="-122"/>
              </a:defRPr>
            </a:lvl1pPr>
            <a:lvl2pPr>
              <a:defRPr>
                <a:latin typeface="楷体" panose="02010609060101010101" charset="-122"/>
                <a:ea typeface="楷体" panose="02010609060101010101" charset="-122"/>
              </a:defRPr>
            </a:lvl2pPr>
            <a:lvl3pPr>
              <a:defRPr>
                <a:latin typeface="楷体" panose="02010609060101010101" charset="-122"/>
                <a:ea typeface="楷体" panose="02010609060101010101" charset="-122"/>
              </a:defRPr>
            </a:lvl3pPr>
            <a:lvl4pPr>
              <a:defRPr>
                <a:latin typeface="楷体" panose="02010609060101010101" charset="-122"/>
                <a:ea typeface="楷体" panose="02010609060101010101" charset="-122"/>
              </a:defRPr>
            </a:lvl4pPr>
            <a:lvl5pPr>
              <a:defRPr>
                <a:latin typeface="楷体" panose="02010609060101010101" charset="-122"/>
                <a:ea typeface="楷体" panose="02010609060101010101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400800"/>
            <a:ext cx="711200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400800"/>
            <a:ext cx="711200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fld id="{B0BEB52E-93D1-46BB-A104-321F0DFAE03E}" type="slidenum">
              <a:rPr lang="zh-CN" altLang="en-US"/>
            </a:fld>
            <a:endParaRPr lang="en-US" altLang="zh-CN"/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6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fld id="{B0BEB52E-93D1-46BB-A104-321F0DFAE03E}" type="slidenum">
              <a:rPr lang="zh-CN" altLang="en-US"/>
            </a:fld>
            <a:endParaRPr lang="en-US" altLang="zh-CN"/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6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绪论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EE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概述</a:t>
            </a:r>
            <a:endParaRPr lang="en-US" altLang="zh-CN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主讲：王向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辉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教研室：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软件工程</a:t>
            </a:r>
            <a:endParaRPr lang="en-US" altLang="zh-CN" sz="3200" dirty="0">
              <a:solidFill>
                <a:schemeClr val="accent6">
                  <a:lumMod val="60000"/>
                  <a:lumOff val="40000"/>
                </a:schemeClr>
              </a:solidFill>
              <a:latin typeface="+mn-ea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4400" dirty="0" smtClean="0">
              <a:latin typeface="+mj-ea"/>
              <a:ea typeface="+mj-ea"/>
              <a:cs typeface="+mn-cs"/>
            </a:endParaRP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4400" dirty="0" smtClean="0"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Java EE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dirty="0" smtClean="0"/>
              <a:t>Java EE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pPr>
              <a:buFont typeface="Wingdings" panose="05000000000000000000" charset="0"/>
              <a:buChar char="p"/>
            </a:pPr>
            <a:r>
              <a:rPr lang="en-US" altLang="zh-CN" dirty="0" smtClean="0"/>
              <a:t>Java EE</a:t>
            </a:r>
            <a:r>
              <a:rPr lang="zh-CN" altLang="en-US" dirty="0" smtClean="0"/>
              <a:t>应用模型</a:t>
            </a:r>
            <a:endParaRPr lang="en-US" altLang="zh-CN" dirty="0" smtClean="0"/>
          </a:p>
          <a:p>
            <a:pPr>
              <a:buFont typeface="Wingdings" panose="05000000000000000000" charset="0"/>
              <a:buChar char="p"/>
            </a:pPr>
            <a:r>
              <a:rPr lang="zh-CN" altLang="en-US" dirty="0" smtClean="0"/>
              <a:t>基于组件和容器的编程思想</a:t>
            </a:r>
            <a:endParaRPr lang="en-US" altLang="zh-CN" dirty="0" smtClean="0"/>
          </a:p>
          <a:p>
            <a:pPr>
              <a:buFont typeface="Wingdings" panose="05000000000000000000" charset="0"/>
              <a:buChar char="p"/>
            </a:pPr>
            <a:r>
              <a:rPr lang="en-US" altLang="zh-CN" dirty="0" smtClean="0"/>
              <a:t>Java EE</a:t>
            </a:r>
            <a:r>
              <a:rPr lang="zh-CN" altLang="en-US" dirty="0" smtClean="0"/>
              <a:t>核心</a:t>
            </a:r>
            <a:r>
              <a:rPr lang="en-US" altLang="zh-CN" dirty="0" smtClean="0"/>
              <a:t>API</a:t>
            </a:r>
            <a:r>
              <a:rPr lang="zh-CN" altLang="en-US" dirty="0" smtClean="0"/>
              <a:t>及组件</a:t>
            </a:r>
            <a:endParaRPr lang="en-US" altLang="zh-CN" dirty="0" smtClean="0"/>
          </a:p>
          <a:p>
            <a:pPr>
              <a:buFont typeface="Wingdings" panose="05000000000000000000" charset="0"/>
              <a:buChar char="p"/>
            </a:pPr>
            <a:r>
              <a:rPr lang="en-US" altLang="zh-CN" dirty="0" smtClean="0"/>
              <a:t>Java EE</a:t>
            </a:r>
            <a:r>
              <a:rPr lang="zh-CN" altLang="en-US" dirty="0" smtClean="0"/>
              <a:t>服务器</a:t>
            </a:r>
            <a:endParaRPr lang="zh-CN" altLang="en-US" dirty="0"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Java EE</a:t>
            </a:r>
            <a:r>
              <a:rPr lang="zh-CN" altLang="en-US" dirty="0" smtClean="0"/>
              <a:t>概念及由来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663575" y="1135380"/>
            <a:ext cx="11158855" cy="5113020"/>
          </a:xfrm>
        </p:spPr>
        <p:txBody>
          <a:bodyPr/>
          <a:lstStyle/>
          <a:p>
            <a:r>
              <a:rPr lang="en-US" altLang="zh-CN" sz="2800" dirty="0" smtClean="0"/>
              <a:t>Java踞编程语言排行榜首位，拥有最多的受众、最大的市场、最活跃的社区</a:t>
            </a:r>
            <a:endParaRPr lang="en-US" altLang="zh-CN" dirty="0" smtClean="0"/>
          </a:p>
          <a:p>
            <a:r>
              <a:rPr lang="en-US" altLang="zh-CN" sz="2800" dirty="0" smtClean="0"/>
              <a:t>Java EE </a:t>
            </a:r>
            <a:r>
              <a:rPr lang="zh-CN" altLang="en-US" sz="2800" dirty="0" smtClean="0"/>
              <a:t>（</a:t>
            </a:r>
            <a:r>
              <a:rPr lang="zh-CN" sz="2800" dirty="0" smtClean="0"/>
              <a:t>企业版</a:t>
            </a:r>
            <a:r>
              <a:rPr lang="zh-CN" altLang="en-US" sz="2800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sz="2400" dirty="0" smtClean="0"/>
              <a:t>Java 平台企业版（Java Platform Enterprise Edition），之前称为Java 2 Platform, Enterprise Edition (J2EE)，</a:t>
            </a:r>
            <a:endParaRPr lang="en-US" altLang="zh-CN" sz="2400" dirty="0" smtClean="0"/>
          </a:p>
          <a:p>
            <a:pPr lvl="1"/>
            <a:r>
              <a:rPr lang="zh-CN" altLang="zh-CN" sz="2400" dirty="0" smtClean="0">
                <a:cs typeface="楷体" panose="02010609060101010101" charset="-122"/>
                <a:sym typeface="+mn-ea"/>
              </a:rPr>
              <a:t>它是面向企业的</a:t>
            </a:r>
            <a:r>
              <a:rPr lang="zh-CN" altLang="zh-CN" sz="2400" dirty="0" smtClean="0">
                <a:solidFill>
                  <a:srgbClr val="FF0000"/>
                </a:solidFill>
                <a:cs typeface="楷体" panose="02010609060101010101" charset="-122"/>
                <a:sym typeface="+mn-ea"/>
              </a:rPr>
              <a:t>分布式</a:t>
            </a:r>
            <a:r>
              <a:rPr lang="zh-CN" altLang="zh-CN" sz="2400" dirty="0" smtClean="0">
                <a:cs typeface="楷体" panose="02010609060101010101" charset="-122"/>
                <a:sym typeface="+mn-ea"/>
              </a:rPr>
              <a:t>、</a:t>
            </a:r>
            <a:r>
              <a:rPr lang="zh-CN" altLang="zh-CN" sz="2400" dirty="0" smtClean="0">
                <a:solidFill>
                  <a:srgbClr val="FF0000"/>
                </a:solidFill>
                <a:cs typeface="楷体" panose="02010609060101010101" charset="-122"/>
                <a:sym typeface="+mn-ea"/>
              </a:rPr>
              <a:t>多层应用</a:t>
            </a:r>
            <a:r>
              <a:rPr lang="zh-CN" altLang="zh-CN" sz="2400" dirty="0" smtClean="0">
                <a:cs typeface="楷体" panose="02010609060101010101" charset="-122"/>
                <a:sym typeface="+mn-ea"/>
              </a:rPr>
              <a:t>的开发与部署的标准（规范）</a:t>
            </a:r>
            <a:endParaRPr lang="zh-CN" altLang="zh-CN" dirty="0" smtClean="0">
              <a:cs typeface="楷体" panose="02010609060101010101" charset="-122"/>
              <a:sym typeface="+mn-ea"/>
            </a:endParaRPr>
          </a:p>
          <a:p>
            <a:pPr lvl="0"/>
            <a:r>
              <a:rPr lang="zh-CN" altLang="en-US" dirty="0" smtClean="0"/>
              <a:t>其他标准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pPr lvl="1"/>
            <a:r>
              <a:rPr lang="en-US" altLang="zh-CN" sz="2400" dirty="0" smtClean="0"/>
              <a:t>Java SE</a:t>
            </a:r>
            <a:r>
              <a:rPr lang="zh-CN" altLang="en-US" sz="2400" dirty="0" smtClean="0"/>
              <a:t>（标准版）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Java EE</a:t>
            </a:r>
            <a:r>
              <a:rPr lang="zh-CN" altLang="en-US" sz="2400" dirty="0" smtClean="0"/>
              <a:t>是对</a:t>
            </a:r>
            <a:r>
              <a:rPr lang="en-US" altLang="zh-CN" sz="2400" dirty="0" smtClean="0"/>
              <a:t>Java SE</a:t>
            </a:r>
            <a:r>
              <a:rPr lang="zh-CN" altLang="en-US" sz="2400" dirty="0" smtClean="0"/>
              <a:t>的扩展 </a:t>
            </a:r>
            <a:endParaRPr lang="zh-CN" altLang="en-US" sz="2400" dirty="0" smtClean="0"/>
          </a:p>
          <a:p>
            <a:pPr lvl="1"/>
            <a:r>
              <a:rPr lang="en-US" altLang="zh-CN" sz="2400" dirty="0" smtClean="0"/>
              <a:t>Java ME</a:t>
            </a:r>
            <a:r>
              <a:rPr lang="zh-CN" altLang="en-US" sz="2400" dirty="0" smtClean="0"/>
              <a:t>（移动版）</a:t>
            </a:r>
            <a:r>
              <a:rPr lang="zh-CN" altLang="en-US" sz="2400" dirty="0" smtClean="0">
                <a:sym typeface="+mn-ea"/>
              </a:rPr>
              <a:t>：移动应用开发提供标准</a:t>
            </a:r>
            <a:endParaRPr lang="en-US" altLang="zh-CN" sz="2400" dirty="0"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085" y="2270443"/>
            <a:ext cx="5181600" cy="357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EE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概念及由来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 EE</a:t>
            </a:r>
            <a:r>
              <a:rPr lang="zh-CN" altLang="en-US" sz="28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主要用来开发</a:t>
            </a:r>
            <a:r>
              <a:rPr lang="zh-CN" altLang="en-US" sz="2800" dirty="0" smtClean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B/S</a:t>
            </a:r>
            <a:r>
              <a:rPr lang="zh-CN" altLang="en-US" sz="28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架构软件</a:t>
            </a:r>
            <a:endParaRPr lang="zh-CN" altLang="en-US" sz="2800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0"/>
            <a:r>
              <a:rPr lang="zh-CN" altLang="en-US" sz="28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解决传统软件开发中使用两层应用模型</a:t>
            </a:r>
            <a:r>
              <a:rPr lang="en-US" altLang="zh-CN" sz="28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en-US" altLang="zh-CN" sz="2800" dirty="0" smtClean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C/S</a:t>
            </a:r>
            <a:r>
              <a:rPr lang="en-US" altLang="zh-CN" sz="28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</a:t>
            </a:r>
            <a:r>
              <a:rPr lang="zh-CN" altLang="en-US" sz="28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的问题</a:t>
            </a:r>
            <a:endParaRPr lang="zh-CN" altLang="en-US" sz="2800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569085" y="5739130"/>
            <a:ext cx="2330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用户的程序</a:t>
            </a:r>
            <a:r>
              <a:rPr lang="en-US" altLang="zh-CN" sz="2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zh-CN" altLang="en-US" sz="2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界面和业务逻辑</a:t>
            </a:r>
            <a:r>
              <a:rPr lang="en-US" altLang="zh-CN" sz="2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</a:t>
            </a:r>
            <a:endParaRPr lang="zh-CN" altLang="en-US" sz="2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718175" y="3187700"/>
            <a:ext cx="41243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latin typeface="楷体" panose="02010609060101010101" charset="-122"/>
                <a:ea typeface="楷体" panose="02010609060101010101" charset="-122"/>
              </a:rPr>
              <a:t>数据管理、数据共享、数据及系统维护和并发控制</a:t>
            </a:r>
            <a:endParaRPr lang="zh-CN" altLang="en-US" sz="2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640580" y="4987290"/>
            <a:ext cx="5435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9900CC"/>
                </a:solidFill>
                <a:latin typeface="楷体" panose="02010609060101010101" charset="-122"/>
                <a:ea typeface="楷体" panose="02010609060101010101" charset="-122"/>
              </a:rPr>
              <a:t>优点</a:t>
            </a:r>
            <a:r>
              <a:rPr lang="zh-CN" altLang="en-US" sz="24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：软件开发容易；用户使用方便</a:t>
            </a:r>
            <a:endParaRPr lang="en-US" altLang="zh-CN" sz="24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640580" y="5447665"/>
            <a:ext cx="6798310" cy="82994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9900CC"/>
                </a:solidFill>
                <a:latin typeface="楷体" panose="02010609060101010101" charset="-122"/>
                <a:ea typeface="楷体" panose="02010609060101010101" charset="-122"/>
              </a:rPr>
              <a:t>缺点</a:t>
            </a:r>
            <a:r>
              <a:rPr lang="zh-CN" altLang="en-US" sz="24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：应用程序的升级和客户端程序的维护较为困难；重用业务逻辑和界面逻辑非常困难</a:t>
            </a:r>
            <a:endParaRPr lang="en-US" altLang="zh-CN" sz="24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Java EE</a:t>
            </a:r>
            <a:r>
              <a:rPr lang="zh-CN" altLang="en-US" dirty="0"/>
              <a:t>概念及由来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为了解决</a:t>
            </a:r>
            <a:r>
              <a:rPr lang="zh-CN" altLang="en-US" dirty="0" smtClean="0"/>
              <a:t>两</a:t>
            </a:r>
            <a:r>
              <a:rPr lang="zh-CN" altLang="zh-CN" dirty="0" smtClean="0"/>
              <a:t>层</a:t>
            </a:r>
            <a:r>
              <a:rPr lang="zh-CN" altLang="en-US" dirty="0" smtClean="0"/>
              <a:t>应用模型</a:t>
            </a:r>
            <a:r>
              <a:rPr lang="zh-CN" altLang="zh-CN" dirty="0" smtClean="0"/>
              <a:t>的缺点，以</a:t>
            </a:r>
            <a:r>
              <a:rPr lang="en-US" altLang="zh-CN" dirty="0" smtClean="0"/>
              <a:t>Sun</a:t>
            </a:r>
            <a:r>
              <a:rPr lang="zh-CN" altLang="zh-CN" dirty="0" smtClean="0"/>
              <a:t>公司为核心许多大公司如</a:t>
            </a:r>
            <a:r>
              <a:rPr lang="en-US" altLang="zh-CN" dirty="0" smtClean="0">
                <a:solidFill>
                  <a:srgbClr val="FF0000"/>
                </a:solidFill>
              </a:rPr>
              <a:t>Oracle</a:t>
            </a:r>
            <a:r>
              <a:rPr lang="zh-CN" altLang="zh-CN" dirty="0" smtClean="0"/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IBM</a:t>
            </a:r>
            <a:r>
              <a:rPr lang="zh-CN" altLang="zh-CN" dirty="0" smtClean="0"/>
              <a:t>等倡导的基于</a:t>
            </a:r>
            <a:r>
              <a:rPr lang="en-US" altLang="zh-CN" dirty="0" smtClean="0">
                <a:solidFill>
                  <a:srgbClr val="FF0000"/>
                </a:solidFill>
              </a:rPr>
              <a:t>Java</a:t>
            </a:r>
            <a:r>
              <a:rPr lang="zh-CN" altLang="zh-CN" dirty="0" smtClean="0"/>
              <a:t>的多层应用模型解决方案得到了广泛应用，迅速占领了市场，得到了业界的认可。</a:t>
            </a:r>
            <a:endParaRPr lang="zh-CN" altLang="zh-CN" dirty="0" smtClean="0"/>
          </a:p>
          <a:p>
            <a:r>
              <a:rPr lang="en-US" altLang="zh-CN" dirty="0" smtClean="0"/>
              <a:t>Java EE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Java EE</a:t>
            </a:r>
            <a:r>
              <a:rPr lang="zh-CN" altLang="en-US" dirty="0" smtClean="0"/>
              <a:t>应用模型</a:t>
            </a:r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企业级应用是由逻辑上功能不同的组件构成，不同的应用组件可以分布在不同的层上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Java EE</a:t>
            </a:r>
            <a:r>
              <a:rPr lang="zh-CN" altLang="zh-CN" dirty="0" smtClean="0"/>
              <a:t>支持四层</a:t>
            </a:r>
            <a:r>
              <a:rPr lang="zh-CN" altLang="en-US" dirty="0" smtClean="0"/>
              <a:t>应用模型</a:t>
            </a:r>
            <a:r>
              <a:rPr lang="zh-CN" altLang="zh-CN" dirty="0" smtClean="0"/>
              <a:t>：</a:t>
            </a:r>
            <a:r>
              <a:rPr lang="zh-CN" altLang="zh-CN" dirty="0" smtClean="0">
                <a:solidFill>
                  <a:srgbClr val="FF0000"/>
                </a:solidFill>
              </a:rPr>
              <a:t>客户层</a:t>
            </a:r>
            <a:r>
              <a:rPr lang="zh-CN" altLang="zh-CN" dirty="0" smtClean="0"/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Web</a:t>
            </a:r>
            <a:r>
              <a:rPr lang="zh-CN" altLang="zh-CN" dirty="0" smtClean="0">
                <a:solidFill>
                  <a:srgbClr val="FF0000"/>
                </a:solidFill>
              </a:rPr>
              <a:t>层</a:t>
            </a:r>
            <a:r>
              <a:rPr lang="zh-CN" altLang="zh-CN" dirty="0" smtClean="0"/>
              <a:t>、</a:t>
            </a:r>
            <a:r>
              <a:rPr lang="zh-CN" altLang="zh-CN" dirty="0" smtClean="0">
                <a:solidFill>
                  <a:srgbClr val="FF0000"/>
                </a:solidFill>
              </a:rPr>
              <a:t>业务逻辑层</a:t>
            </a:r>
            <a:r>
              <a:rPr lang="zh-CN" altLang="zh-CN" dirty="0" smtClean="0"/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EIS</a:t>
            </a:r>
            <a:r>
              <a:rPr lang="zh-CN" altLang="zh-CN" dirty="0" smtClean="0">
                <a:solidFill>
                  <a:srgbClr val="FF0000"/>
                </a:solidFill>
              </a:rPr>
              <a:t>层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ldLvl="2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58935" y="612140"/>
            <a:ext cx="1141095" cy="4306570"/>
          </a:xfrm>
        </p:spPr>
        <p:txBody>
          <a:bodyPr/>
          <a:lstStyle/>
          <a:p>
            <a:pPr>
              <a:defRPr/>
            </a:pPr>
            <a:r>
              <a:rPr lang="en-US" altLang="zh-CN" sz="3200" dirty="0" smtClean="0"/>
              <a:t>Java</a:t>
            </a:r>
            <a:r>
              <a:rPr lang="en-US" altLang="zh-CN" sz="4000" dirty="0" smtClean="0"/>
              <a:t> EE</a:t>
            </a:r>
            <a:r>
              <a:rPr lang="zh-CN" altLang="en-US" sz="4000" dirty="0" smtClean="0"/>
              <a:t>分层模型图</a:t>
            </a:r>
            <a:endParaRPr lang="zh-CN" altLang="en-US" sz="4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258935" y="5591790"/>
            <a:ext cx="1676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Java EE </a:t>
            </a:r>
            <a:endParaRPr lang="zh-CN" altLang="en-US" sz="24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468120" y="32385"/>
            <a:ext cx="7447280" cy="6734810"/>
            <a:chOff x="-5893820" y="-492963"/>
            <a:chExt cx="7447472" cy="6825661"/>
          </a:xfrm>
        </p:grpSpPr>
        <p:pic>
          <p:nvPicPr>
            <p:cNvPr id="17412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893820" y="-492963"/>
              <a:ext cx="7447472" cy="68256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-5075747" y="1859070"/>
              <a:ext cx="1143000" cy="529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/>
                <a:t>JSP</a:t>
              </a:r>
              <a:endParaRPr lang="zh-CN" altLang="en-US" sz="28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5075748" y="2534690"/>
              <a:ext cx="1488057" cy="529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/>
                <a:t>Servlet</a:t>
              </a:r>
              <a:endParaRPr lang="zh-CN" altLang="en-US" sz="2800" dirty="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6705600" y="529807"/>
            <a:ext cx="990600" cy="990600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705600" y="2667000"/>
            <a:ext cx="990600" cy="990600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629400" y="4343400"/>
            <a:ext cx="990600" cy="838200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705600" y="5867400"/>
            <a:ext cx="990600" cy="692989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553200" y="2171700"/>
            <a:ext cx="2431211" cy="3162300"/>
          </a:xfrm>
          <a:prstGeom prst="roundRect">
            <a:avLst/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629400" y="287911"/>
            <a:ext cx="2209800" cy="1581150"/>
          </a:xfrm>
          <a:prstGeom prst="roundRect">
            <a:avLst/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53201" y="5715000"/>
            <a:ext cx="2431210" cy="931473"/>
          </a:xfrm>
          <a:prstGeom prst="roundRect">
            <a:avLst/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7" grpId="0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分层模型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6875" y="1135380"/>
            <a:ext cx="11122660" cy="4808220"/>
          </a:xfrm>
        </p:spPr>
        <p:txBody>
          <a:bodyPr/>
          <a:lstStyle/>
          <a:p>
            <a:r>
              <a:rPr lang="zh-CN" altLang="zh-CN" sz="2800" dirty="0" smtClean="0">
                <a:solidFill>
                  <a:schemeClr val="tx1"/>
                </a:solidFill>
              </a:rPr>
              <a:t>客户层</a:t>
            </a:r>
            <a:r>
              <a:rPr lang="en-US" altLang="zh-CN" sz="2800" dirty="0" smtClean="0">
                <a:solidFill>
                  <a:schemeClr val="tx1"/>
                </a:solidFill>
              </a:rPr>
              <a:t>(Client tier) </a:t>
            </a:r>
            <a:r>
              <a:rPr lang="zh-CN" altLang="en-US" sz="2800" dirty="0" smtClean="0">
                <a:solidFill>
                  <a:schemeClr val="tx1"/>
                </a:solidFill>
              </a:rPr>
              <a:t>位于</a:t>
            </a:r>
            <a:r>
              <a:rPr lang="en-US" altLang="zh-CN" sz="2800" dirty="0">
                <a:solidFill>
                  <a:schemeClr val="tx1"/>
                </a:solidFill>
              </a:rPr>
              <a:t>C</a:t>
            </a:r>
            <a:r>
              <a:rPr lang="en-US" altLang="zh-CN" sz="2800" dirty="0" smtClean="0">
                <a:solidFill>
                  <a:schemeClr val="tx1"/>
                </a:solidFill>
              </a:rPr>
              <a:t>lient Machine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CN" sz="2400" dirty="0" smtClean="0">
                <a:solidFill>
                  <a:srgbClr val="7030A0"/>
                </a:solidFill>
              </a:rPr>
              <a:t>Web </a:t>
            </a:r>
            <a:r>
              <a:rPr lang="zh-CN" altLang="en-US" sz="2400" dirty="0" smtClean="0">
                <a:solidFill>
                  <a:srgbClr val="7030A0"/>
                </a:solidFill>
              </a:rPr>
              <a:t>客户端</a:t>
            </a:r>
            <a:r>
              <a:rPr lang="zh-CN" altLang="en-US" sz="2400" dirty="0" smtClean="0">
                <a:solidFill>
                  <a:srgbClr val="002060"/>
                </a:solidFill>
              </a:rPr>
              <a:t> （</a:t>
            </a:r>
            <a:r>
              <a:rPr lang="en-US" altLang="zh-CN" sz="2400" dirty="0" smtClean="0">
                <a:solidFill>
                  <a:srgbClr val="002060"/>
                </a:solidFill>
              </a:rPr>
              <a:t>thin client</a:t>
            </a:r>
            <a:r>
              <a:rPr lang="zh-CN" altLang="en-US" sz="2400" dirty="0" smtClean="0">
                <a:solidFill>
                  <a:srgbClr val="002060"/>
                </a:solidFill>
              </a:rPr>
              <a:t>）</a:t>
            </a:r>
            <a:endParaRPr lang="en-US" altLang="zh-CN" sz="2400" dirty="0" smtClean="0">
              <a:solidFill>
                <a:srgbClr val="002060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2060"/>
                </a:solidFill>
              </a:rPr>
              <a:t>动态</a:t>
            </a:r>
            <a:r>
              <a:rPr lang="en-US" altLang="zh-CN" dirty="0" smtClean="0">
                <a:solidFill>
                  <a:srgbClr val="002060"/>
                </a:solidFill>
              </a:rPr>
              <a:t>web</a:t>
            </a:r>
            <a:r>
              <a:rPr lang="zh-CN" altLang="en-US" dirty="0" smtClean="0">
                <a:solidFill>
                  <a:srgbClr val="002060"/>
                </a:solidFill>
              </a:rPr>
              <a:t>页面（</a:t>
            </a:r>
            <a:r>
              <a:rPr lang="en-US" altLang="zh-CN" dirty="0" smtClean="0">
                <a:solidFill>
                  <a:srgbClr val="002060"/>
                </a:solidFill>
              </a:rPr>
              <a:t>HTML</a:t>
            </a:r>
            <a:r>
              <a:rPr lang="zh-CN" altLang="en-US" dirty="0" smtClean="0">
                <a:solidFill>
                  <a:srgbClr val="002060"/>
                </a:solidFill>
              </a:rPr>
              <a:t>、</a:t>
            </a:r>
            <a:r>
              <a:rPr lang="en-US" altLang="zh-CN" dirty="0" smtClean="0">
                <a:solidFill>
                  <a:srgbClr val="002060"/>
                </a:solidFill>
              </a:rPr>
              <a:t>XML</a:t>
            </a:r>
            <a:r>
              <a:rPr lang="zh-CN" altLang="en-US" dirty="0" smtClean="0">
                <a:solidFill>
                  <a:srgbClr val="002060"/>
                </a:solidFill>
              </a:rPr>
              <a:t>）</a:t>
            </a:r>
            <a:r>
              <a:rPr lang="en-US" altLang="zh-CN" dirty="0" smtClean="0">
                <a:solidFill>
                  <a:srgbClr val="002060"/>
                </a:solidFill>
              </a:rPr>
              <a:t>,</a:t>
            </a:r>
            <a:r>
              <a:rPr lang="zh-CN" altLang="en-US" dirty="0" smtClean="0">
                <a:solidFill>
                  <a:srgbClr val="002060"/>
                </a:solidFill>
              </a:rPr>
              <a:t>由运行在</a:t>
            </a:r>
            <a:r>
              <a:rPr lang="en-US" altLang="zh-CN" dirty="0" smtClean="0">
                <a:solidFill>
                  <a:srgbClr val="002060"/>
                </a:solidFill>
              </a:rPr>
              <a:t>web</a:t>
            </a:r>
            <a:r>
              <a:rPr lang="zh-CN" altLang="en-US" dirty="0" smtClean="0">
                <a:solidFill>
                  <a:srgbClr val="002060"/>
                </a:solidFill>
              </a:rPr>
              <a:t>层的</a:t>
            </a:r>
            <a:r>
              <a:rPr lang="en-US" altLang="zh-CN" dirty="0" smtClean="0">
                <a:solidFill>
                  <a:srgbClr val="002060"/>
                </a:solidFill>
              </a:rPr>
              <a:t>web</a:t>
            </a:r>
            <a:r>
              <a:rPr lang="zh-CN" altLang="en-US" dirty="0" smtClean="0">
                <a:solidFill>
                  <a:srgbClr val="002060"/>
                </a:solidFill>
              </a:rPr>
              <a:t>组件产生</a:t>
            </a:r>
            <a:endParaRPr lang="en-US" altLang="zh-CN" dirty="0" smtClean="0">
              <a:solidFill>
                <a:srgbClr val="002060"/>
              </a:solidFill>
            </a:endParaRPr>
          </a:p>
          <a:p>
            <a:pPr lvl="2"/>
            <a:r>
              <a:rPr lang="zh-CN" altLang="en-US" dirty="0">
                <a:solidFill>
                  <a:srgbClr val="002060"/>
                </a:solidFill>
              </a:rPr>
              <a:t>一</a:t>
            </a:r>
            <a:r>
              <a:rPr lang="zh-CN" altLang="en-US" dirty="0" smtClean="0">
                <a:solidFill>
                  <a:srgbClr val="002060"/>
                </a:solidFill>
              </a:rPr>
              <a:t>个</a:t>
            </a:r>
            <a:r>
              <a:rPr lang="en-US" altLang="zh-CN" dirty="0" smtClean="0">
                <a:solidFill>
                  <a:srgbClr val="002060"/>
                </a:solidFill>
              </a:rPr>
              <a:t>web</a:t>
            </a:r>
            <a:r>
              <a:rPr lang="zh-CN" altLang="en-US" dirty="0" smtClean="0">
                <a:solidFill>
                  <a:srgbClr val="002060"/>
                </a:solidFill>
              </a:rPr>
              <a:t>浏览器，渲染从服务器端接</a:t>
            </a:r>
            <a:r>
              <a:rPr lang="zh-CN" altLang="en-US" dirty="0">
                <a:solidFill>
                  <a:srgbClr val="002060"/>
                </a:solidFill>
              </a:rPr>
              <a:t>收</a:t>
            </a:r>
            <a:r>
              <a:rPr lang="zh-CN" altLang="en-US" dirty="0" smtClean="0">
                <a:solidFill>
                  <a:srgbClr val="002060"/>
                </a:solidFill>
              </a:rPr>
              <a:t>的页面</a:t>
            </a:r>
            <a:endParaRPr lang="en-US" altLang="zh-CN" dirty="0" smtClean="0">
              <a:solidFill>
                <a:srgbClr val="00206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7030A0"/>
                </a:solidFill>
              </a:rPr>
              <a:t>Application </a:t>
            </a:r>
            <a:r>
              <a:rPr lang="zh-CN" altLang="en-US" dirty="0" smtClean="0">
                <a:solidFill>
                  <a:srgbClr val="7030A0"/>
                </a:solidFill>
              </a:rPr>
              <a:t>客户端</a:t>
            </a:r>
            <a:endParaRPr lang="en-US" altLang="zh-CN" dirty="0" smtClean="0">
              <a:solidFill>
                <a:srgbClr val="002060"/>
              </a:solidFill>
            </a:endParaRPr>
          </a:p>
          <a:p>
            <a:pPr lvl="2"/>
            <a:r>
              <a:rPr lang="en-US" altLang="zh-CN" dirty="0" smtClean="0">
                <a:solidFill>
                  <a:srgbClr val="002060"/>
                </a:solidFill>
              </a:rPr>
              <a:t>Swing </a:t>
            </a:r>
            <a:r>
              <a:rPr lang="zh-CN" altLang="en-US" dirty="0" smtClean="0">
                <a:solidFill>
                  <a:srgbClr val="002060"/>
                </a:solidFill>
              </a:rPr>
              <a:t>或 </a:t>
            </a:r>
            <a:r>
              <a:rPr lang="en-US" altLang="zh-CN" dirty="0" smtClean="0">
                <a:solidFill>
                  <a:srgbClr val="002060"/>
                </a:solidFill>
              </a:rPr>
              <a:t>AWT</a:t>
            </a:r>
            <a:r>
              <a:rPr lang="zh-CN" altLang="en-US" dirty="0" smtClean="0">
                <a:solidFill>
                  <a:srgbClr val="002060"/>
                </a:solidFill>
              </a:rPr>
              <a:t>创建</a:t>
            </a:r>
            <a:r>
              <a:rPr lang="en-US" altLang="zh-CN" dirty="0" smtClean="0">
                <a:solidFill>
                  <a:srgbClr val="002060"/>
                </a:solidFill>
              </a:rPr>
              <a:t>GUI</a:t>
            </a:r>
            <a:r>
              <a:rPr lang="zh-CN" altLang="en-US" dirty="0" smtClean="0">
                <a:solidFill>
                  <a:srgbClr val="002060"/>
                </a:solidFill>
              </a:rPr>
              <a:t>（图形用户界面）</a:t>
            </a:r>
            <a:endParaRPr lang="en-US" altLang="zh-CN" dirty="0" smtClean="0">
              <a:solidFill>
                <a:srgbClr val="002060"/>
              </a:solidFill>
            </a:endParaRPr>
          </a:p>
          <a:p>
            <a:pPr lvl="2"/>
            <a:r>
              <a:rPr lang="en-US" altLang="zh-CN" dirty="0">
                <a:solidFill>
                  <a:srgbClr val="002060"/>
                </a:solidFill>
              </a:rPr>
              <a:t>Applet</a:t>
            </a:r>
            <a:endParaRPr lang="en-US" altLang="zh-CN" dirty="0" smtClean="0">
              <a:solidFill>
                <a:srgbClr val="002060"/>
              </a:solidFill>
            </a:endParaRPr>
          </a:p>
          <a:p>
            <a:r>
              <a:rPr lang="en-US" altLang="zh-CN" sz="2800" dirty="0" smtClean="0"/>
              <a:t>Web</a:t>
            </a:r>
            <a:r>
              <a:rPr lang="zh-CN" altLang="en-US" sz="2800" dirty="0" smtClean="0"/>
              <a:t>层</a:t>
            </a:r>
            <a:r>
              <a:rPr lang="en-US" altLang="zh-CN" sz="2800" dirty="0" smtClean="0"/>
              <a:t>(Web tier) </a:t>
            </a:r>
            <a:r>
              <a:rPr lang="zh-CN" altLang="en-US" sz="2800" dirty="0" smtClean="0"/>
              <a:t>位于</a:t>
            </a:r>
            <a:r>
              <a:rPr lang="en-US" altLang="zh-CN" sz="2800" dirty="0" smtClean="0"/>
              <a:t>Java EE Server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JSP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Servlet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JSF</a:t>
            </a:r>
            <a:endParaRPr lang="en-US" altLang="zh-CN" sz="2400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分层模型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120" y="1135380"/>
            <a:ext cx="10685145" cy="5113020"/>
          </a:xfrm>
          <a:ln w="50800"/>
        </p:spPr>
        <p:txBody>
          <a:bodyPr/>
          <a:lstStyle/>
          <a:p>
            <a:r>
              <a:rPr lang="zh-CN" altLang="en-US" sz="2800" dirty="0" smtClean="0"/>
              <a:t>业务逻辑层</a:t>
            </a:r>
            <a:r>
              <a:rPr lang="en-US" altLang="zh-CN" sz="2800" dirty="0" smtClean="0"/>
              <a:t>(Business tier) </a:t>
            </a:r>
            <a:r>
              <a:rPr lang="zh-CN" altLang="en-US" sz="2800" dirty="0" smtClean="0"/>
              <a:t>位于 </a:t>
            </a:r>
            <a:r>
              <a:rPr lang="en-US" altLang="zh-CN" sz="2800" dirty="0" smtClean="0"/>
              <a:t>Java EE Server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EJB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Enterprise JavaBean</a:t>
            </a:r>
            <a:r>
              <a:rPr lang="zh-CN" altLang="en-US" sz="2400" dirty="0" smtClean="0"/>
              <a:t>）</a:t>
            </a:r>
            <a:endParaRPr lang="en-US" altLang="zh-CN" dirty="0" smtClean="0"/>
          </a:p>
          <a:p>
            <a:r>
              <a:rPr lang="en-US" altLang="zh-CN" sz="2800" dirty="0" smtClean="0"/>
              <a:t>EIS </a:t>
            </a:r>
            <a:r>
              <a:rPr lang="zh-CN" altLang="en-US" sz="2800" dirty="0" smtClean="0"/>
              <a:t>层</a:t>
            </a:r>
            <a:r>
              <a:rPr lang="en-US" altLang="zh-CN" sz="2800" dirty="0" smtClean="0"/>
              <a:t>(Enterprise information system tier)</a:t>
            </a:r>
            <a:r>
              <a:rPr lang="zh-CN" altLang="en-US" sz="2800" dirty="0" smtClean="0"/>
              <a:t>位于</a:t>
            </a:r>
            <a:r>
              <a:rPr lang="en-US" altLang="zh-CN" sz="2800" dirty="0" smtClean="0"/>
              <a:t>Database Server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企业</a:t>
            </a:r>
            <a:r>
              <a:rPr lang="zh-CN" altLang="en-US" sz="2400" dirty="0"/>
              <a:t>信息系统</a:t>
            </a:r>
            <a:r>
              <a:rPr lang="zh-CN" altLang="en-US" sz="2400" dirty="0" smtClean="0"/>
              <a:t>软件、数据管理系统</a:t>
            </a:r>
            <a:endParaRPr lang="en-US" altLang="zh-CN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057400" y="4668560"/>
            <a:ext cx="3962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2060"/>
                </a:solidFill>
              </a:rPr>
              <a:t>物理上的三层体系结构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45250" y="4658360"/>
            <a:ext cx="40697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002060"/>
                </a:solidFill>
              </a:rPr>
              <a:t>Java EE server  </a:t>
            </a:r>
            <a:endParaRPr lang="zh-CN" altLang="en-US" sz="2800" dirty="0" smtClean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5730" y="5496560"/>
            <a:ext cx="4039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002060"/>
                </a:solidFill>
              </a:rPr>
              <a:t>Database server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6019800" y="4157990"/>
            <a:ext cx="379562" cy="1687554"/>
          </a:xfrm>
          <a:prstGeom prst="leftBrace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77000" y="3896360"/>
            <a:ext cx="4037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002060"/>
                </a:solidFill>
              </a:rPr>
              <a:t>Client machine</a:t>
            </a:r>
            <a:endParaRPr lang="zh-CN" altLang="en-US" sz="2800" dirty="0" smtClean="0">
              <a:solidFill>
                <a:srgbClr val="00206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 bldLvl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基于组件和容器的编程思想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</a:t>
            </a:r>
            <a:r>
              <a:rPr lang="zh-CN" altLang="en-US" dirty="0" smtClean="0"/>
              <a:t> </a:t>
            </a:r>
            <a:r>
              <a:rPr lang="en-US" altLang="zh-CN" dirty="0" smtClean="0"/>
              <a:t>EE</a:t>
            </a:r>
            <a:r>
              <a:rPr lang="zh-CN" altLang="en-US" dirty="0" smtClean="0"/>
              <a:t>应用是由若干</a:t>
            </a:r>
            <a:r>
              <a:rPr lang="zh-CN" altLang="en-US" dirty="0" smtClean="0">
                <a:solidFill>
                  <a:srgbClr val="FF0000"/>
                </a:solidFill>
              </a:rPr>
              <a:t>组件</a:t>
            </a:r>
            <a:r>
              <a:rPr lang="zh-CN" altLang="en-US" dirty="0" smtClean="0"/>
              <a:t>构成的</a:t>
            </a:r>
            <a:endParaRPr lang="en-US" altLang="zh-CN" dirty="0" smtClean="0"/>
          </a:p>
          <a:p>
            <a:r>
              <a:rPr lang="zh-CN" altLang="en-US" dirty="0"/>
              <a:t>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Java</a:t>
            </a:r>
            <a:r>
              <a:rPr lang="en-US" altLang="zh-CN" dirty="0"/>
              <a:t> </a:t>
            </a:r>
            <a:r>
              <a:rPr lang="en-US" altLang="zh-CN" dirty="0" smtClean="0"/>
              <a:t>EE</a:t>
            </a:r>
            <a:r>
              <a:rPr lang="zh-CN" altLang="en-US" dirty="0" smtClean="0"/>
              <a:t>组件是一个</a:t>
            </a:r>
            <a:r>
              <a:rPr lang="zh-CN" altLang="en-US" dirty="0" smtClean="0">
                <a:solidFill>
                  <a:srgbClr val="FF0000"/>
                </a:solidFill>
              </a:rPr>
              <a:t>独立的功能软件单元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由相关的</a:t>
            </a:r>
            <a:r>
              <a:rPr lang="en-US" altLang="zh-CN" dirty="0" smtClean="0"/>
              <a:t>classes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files</a:t>
            </a:r>
            <a:r>
              <a:rPr lang="zh-CN" altLang="en-US" dirty="0"/>
              <a:t>构成</a:t>
            </a:r>
            <a:endParaRPr lang="en-US" altLang="zh-CN" dirty="0" smtClean="0"/>
          </a:p>
          <a:p>
            <a:pPr lvl="1"/>
            <a:r>
              <a:rPr lang="zh-CN" altLang="en-US" dirty="0"/>
              <a:t>可以与其它</a:t>
            </a:r>
            <a:r>
              <a:rPr lang="zh-CN" altLang="en-US" dirty="0" smtClean="0"/>
              <a:t>组件通信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EE </a:t>
            </a:r>
            <a:r>
              <a:rPr lang="zh-CN" altLang="en-US" dirty="0" smtClean="0"/>
              <a:t>组件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规范定义的三大类组件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运行在客户端的组件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Application </a:t>
            </a:r>
            <a:r>
              <a:rPr lang="zh-CN" altLang="en-US" dirty="0" smtClean="0"/>
              <a:t>客户端和</a:t>
            </a:r>
            <a:r>
              <a:rPr lang="en-US" altLang="zh-CN" dirty="0" smtClean="0"/>
              <a:t>Applet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web</a:t>
            </a:r>
            <a:r>
              <a:rPr lang="zh-CN" altLang="en-US" dirty="0" smtClean="0"/>
              <a:t>组件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Servlet</a:t>
            </a:r>
            <a:r>
              <a:rPr lang="en-US" altLang="zh-CN" dirty="0"/>
              <a:t>, </a:t>
            </a:r>
            <a:r>
              <a:rPr lang="en-US" altLang="zh-CN" dirty="0" smtClean="0"/>
              <a:t>JSP, </a:t>
            </a:r>
            <a:r>
              <a:rPr lang="zh-CN" altLang="en-US" dirty="0" smtClean="0"/>
              <a:t>和</a:t>
            </a:r>
            <a:r>
              <a:rPr lang="en-US" altLang="zh-CN" dirty="0" smtClean="0"/>
              <a:t> JSF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业务组件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EJB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Enterprise JavaBean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Java EE </a:t>
            </a:r>
            <a:r>
              <a:rPr lang="zh-CN" altLang="en-US" sz="4400" dirty="0"/>
              <a:t>组件 </a:t>
            </a:r>
            <a:r>
              <a:rPr lang="en-US" altLang="zh-CN" sz="4400" dirty="0"/>
              <a:t>VS </a:t>
            </a:r>
            <a:r>
              <a:rPr lang="zh-CN" altLang="en-US" sz="4400" dirty="0"/>
              <a:t>标准 </a:t>
            </a:r>
            <a:r>
              <a:rPr lang="en-US" altLang="zh-CN" sz="4400" dirty="0"/>
              <a:t>Java</a:t>
            </a:r>
            <a:r>
              <a:rPr lang="zh-CN" altLang="en-US" sz="4400" dirty="0"/>
              <a:t>类</a:t>
            </a:r>
            <a:endParaRPr lang="zh-CN" altLang="en-US" sz="4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组件使用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语言编写</a:t>
            </a:r>
            <a:endParaRPr lang="en-US" altLang="zh-CN" dirty="0" smtClean="0"/>
          </a:p>
          <a:p>
            <a:r>
              <a:rPr lang="zh-CN" altLang="en-US" dirty="0" smtClean="0"/>
              <a:t>不同于标准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1"/>
            <a:r>
              <a:rPr lang="zh-CN" altLang="en-US" dirty="0"/>
              <a:t>形式上遵循</a:t>
            </a:r>
            <a:r>
              <a:rPr lang="en-US" altLang="zh-CN" dirty="0"/>
              <a:t>Java EE</a:t>
            </a:r>
            <a:r>
              <a:rPr lang="zh-CN" altLang="en-US" dirty="0" smtClean="0"/>
              <a:t>规范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Java </a:t>
            </a:r>
            <a:r>
              <a:rPr lang="en-US" altLang="zh-CN" dirty="0" smtClean="0"/>
              <a:t>EE</a:t>
            </a:r>
            <a:r>
              <a:rPr lang="zh-CN" altLang="en-US" dirty="0" smtClean="0"/>
              <a:t>组件被组装成一个</a:t>
            </a:r>
            <a:r>
              <a:rPr lang="en-US" altLang="zh-CN" dirty="0" smtClean="0"/>
              <a:t>Java EE</a:t>
            </a:r>
            <a:r>
              <a:rPr lang="zh-CN" altLang="en-US" dirty="0" smtClean="0"/>
              <a:t>应用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发布</a:t>
            </a:r>
            <a:r>
              <a:rPr lang="zh-CN" altLang="en-US" dirty="0"/>
              <a:t>成产品</a:t>
            </a:r>
            <a:r>
              <a:rPr lang="zh-CN" altLang="en-US" dirty="0" smtClean="0"/>
              <a:t>后，由</a:t>
            </a:r>
            <a:r>
              <a:rPr lang="en-US" altLang="zh-CN" dirty="0" smtClean="0"/>
              <a:t>Java EE</a:t>
            </a:r>
            <a:r>
              <a:rPr lang="zh-CN" altLang="en-US" dirty="0" smtClean="0"/>
              <a:t>服务器运行和管理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容器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155" y="1135380"/>
            <a:ext cx="11000740" cy="5113020"/>
          </a:xfrm>
        </p:spPr>
        <p:txBody>
          <a:bodyPr/>
          <a:lstStyle/>
          <a:p>
            <a:r>
              <a:rPr lang="zh-CN" altLang="en-US" dirty="0" smtClean="0"/>
              <a:t>编写</a:t>
            </a:r>
            <a:r>
              <a:rPr lang="en-US" altLang="zh-CN" dirty="0" smtClean="0"/>
              <a:t>thin-client </a:t>
            </a:r>
            <a:r>
              <a:rPr lang="zh-CN" altLang="en-US" dirty="0" smtClean="0"/>
              <a:t>多层应用是比较难的</a:t>
            </a:r>
            <a:endParaRPr lang="en-US" altLang="zh-CN" dirty="0" smtClean="0"/>
          </a:p>
          <a:p>
            <a:pPr lvl="1"/>
            <a:r>
              <a:rPr lang="zh-CN" altLang="en-US" dirty="0"/>
              <a:t>因为在应用中需要</a:t>
            </a:r>
            <a:r>
              <a:rPr lang="zh-CN" altLang="en-US" dirty="0" smtClean="0"/>
              <a:t>编写许多复杂的代码，用来进行</a:t>
            </a:r>
            <a:r>
              <a:rPr lang="zh-CN" altLang="en-US" dirty="0" smtClean="0">
                <a:solidFill>
                  <a:srgbClr val="FF0000"/>
                </a:solidFill>
              </a:rPr>
              <a:t>事务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FF0000"/>
                </a:solidFill>
              </a:rPr>
              <a:t>状态管理</a:t>
            </a:r>
            <a:r>
              <a:rPr lang="zh-CN" altLang="en-US" dirty="0" smtClean="0"/>
              <a:t>、</a:t>
            </a:r>
            <a:r>
              <a:rPr lang="zh-CN" altLang="en-US" dirty="0" smtClean="0">
                <a:solidFill>
                  <a:srgbClr val="FF0000"/>
                </a:solidFill>
              </a:rPr>
              <a:t>多线程</a:t>
            </a:r>
            <a:r>
              <a:rPr lang="zh-CN" altLang="en-US" dirty="0" smtClean="0"/>
              <a:t>、</a:t>
            </a:r>
            <a:r>
              <a:rPr lang="zh-CN" altLang="en-US" dirty="0" smtClean="0">
                <a:solidFill>
                  <a:srgbClr val="FF0000"/>
                </a:solidFill>
              </a:rPr>
              <a:t>资源池</a:t>
            </a:r>
            <a:r>
              <a:rPr lang="zh-CN" altLang="en-US" dirty="0" smtClean="0"/>
              <a:t>以及其它复杂的</a:t>
            </a:r>
            <a:r>
              <a:rPr lang="zh-CN" altLang="en-US" dirty="0" smtClean="0">
                <a:solidFill>
                  <a:srgbClr val="FF0000"/>
                </a:solidFill>
              </a:rPr>
              <a:t>底层细节</a:t>
            </a:r>
            <a:endParaRPr lang="en-US" altLang="zh-CN" dirty="0" smtClean="0"/>
          </a:p>
          <a:p>
            <a:r>
              <a:rPr lang="en-US" altLang="zh-CN" dirty="0" smtClean="0"/>
              <a:t>Java EE</a:t>
            </a:r>
            <a:r>
              <a:rPr lang="zh-CN" altLang="en-US" dirty="0" smtClean="0"/>
              <a:t>体系结构使得编写多层应用变得容易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Java EE</a:t>
            </a:r>
            <a:r>
              <a:rPr lang="zh-CN" altLang="zh-CN" dirty="0" smtClean="0"/>
              <a:t>服务器以</a:t>
            </a:r>
            <a:r>
              <a:rPr lang="zh-CN" altLang="zh-CN" dirty="0" smtClean="0">
                <a:solidFill>
                  <a:srgbClr val="FF0000"/>
                </a:solidFill>
              </a:rPr>
              <a:t>容器</a:t>
            </a:r>
            <a:r>
              <a:rPr lang="zh-CN" altLang="en-US" dirty="0"/>
              <a:t>的</a:t>
            </a:r>
            <a:r>
              <a:rPr lang="zh-CN" altLang="en-US" dirty="0" smtClean="0"/>
              <a:t>形式提供这些底层服务，</a:t>
            </a:r>
            <a:r>
              <a:rPr lang="zh-CN" altLang="en-US" dirty="0" smtClean="0">
                <a:solidFill>
                  <a:srgbClr val="FF0000"/>
                </a:solidFill>
              </a:rPr>
              <a:t>无需自己开发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业务逻辑被组织成可重用的组件</a:t>
            </a:r>
            <a:endParaRPr lang="en-US" altLang="zh-CN" dirty="0" smtClean="0"/>
          </a:p>
          <a:p>
            <a:pPr lvl="1"/>
            <a:r>
              <a:rPr lang="zh-CN" altLang="en-US" dirty="0"/>
              <a:t>开发</a:t>
            </a:r>
            <a:r>
              <a:rPr lang="zh-CN" altLang="en-US" dirty="0" smtClean="0"/>
              <a:t>者</a:t>
            </a:r>
            <a:r>
              <a:rPr lang="zh-CN" altLang="en-US" dirty="0"/>
              <a:t>把</a:t>
            </a:r>
            <a:r>
              <a:rPr lang="zh-CN" altLang="en-US" dirty="0" smtClean="0"/>
              <a:t>精力放在解决手头的业务问题上</a:t>
            </a:r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EE </a:t>
            </a:r>
            <a:r>
              <a:rPr lang="zh-CN" altLang="en-US" dirty="0" smtClean="0"/>
              <a:t>容器概念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Java EE</a:t>
            </a:r>
            <a:r>
              <a:rPr lang="zh-CN" altLang="zh-CN" dirty="0" smtClean="0">
                <a:solidFill>
                  <a:srgbClr val="FF0000"/>
                </a:solidFill>
              </a:rPr>
              <a:t>容器</a:t>
            </a:r>
            <a:r>
              <a:rPr lang="zh-CN" altLang="zh-CN" dirty="0" smtClean="0"/>
              <a:t>是一种运行在服务器上的</a:t>
            </a:r>
            <a:r>
              <a:rPr lang="zh-CN" altLang="zh-CN" dirty="0" smtClean="0">
                <a:solidFill>
                  <a:srgbClr val="FF0000"/>
                </a:solidFill>
              </a:rPr>
              <a:t>软件实体</a:t>
            </a:r>
            <a:r>
              <a:rPr lang="zh-CN" altLang="zh-CN" dirty="0" smtClean="0"/>
              <a:t>，用于管理</a:t>
            </a:r>
            <a:r>
              <a:rPr lang="zh-CN" altLang="en-US" dirty="0" smtClean="0"/>
              <a:t>专门</a:t>
            </a:r>
            <a:r>
              <a:rPr lang="zh-CN" altLang="zh-CN" dirty="0" smtClean="0"/>
              <a:t>的组件，为开发的</a:t>
            </a:r>
            <a:r>
              <a:rPr lang="en-US" altLang="zh-CN" dirty="0" smtClean="0"/>
              <a:t>Java EE</a:t>
            </a:r>
            <a:r>
              <a:rPr lang="zh-CN" altLang="zh-CN" dirty="0" smtClean="0"/>
              <a:t>组件提供了</a:t>
            </a:r>
            <a:r>
              <a:rPr lang="zh-CN" altLang="zh-CN" dirty="0" smtClean="0">
                <a:solidFill>
                  <a:srgbClr val="FF0000"/>
                </a:solidFill>
              </a:rPr>
              <a:t>执行环境</a:t>
            </a:r>
            <a:r>
              <a:rPr lang="zh-CN" altLang="zh-CN" dirty="0" smtClean="0"/>
              <a:t>和</a:t>
            </a:r>
            <a:r>
              <a:rPr lang="zh-CN" altLang="en-US" dirty="0" smtClean="0">
                <a:solidFill>
                  <a:srgbClr val="FF0000"/>
                </a:solidFill>
              </a:rPr>
              <a:t>底层</a:t>
            </a:r>
            <a:r>
              <a:rPr lang="zh-CN" altLang="zh-CN" dirty="0" smtClean="0">
                <a:solidFill>
                  <a:srgbClr val="FF0000"/>
                </a:solidFill>
              </a:rPr>
              <a:t>服务</a:t>
            </a:r>
            <a:endParaRPr lang="en-US" altLang="zh-CN" dirty="0" smtClean="0"/>
          </a:p>
          <a:p>
            <a:r>
              <a:rPr lang="en-US" altLang="zh-CN" dirty="0" smtClean="0"/>
              <a:t>Java EE</a:t>
            </a:r>
            <a:r>
              <a:rPr lang="zh-CN" altLang="en-US" dirty="0" smtClean="0"/>
              <a:t>组件在运行前必须发布到相应的</a:t>
            </a:r>
            <a:r>
              <a:rPr lang="zh-CN" altLang="en-US" dirty="0" smtClean="0">
                <a:solidFill>
                  <a:srgbClr val="FF0000"/>
                </a:solidFill>
              </a:rPr>
              <a:t>容器</a:t>
            </a:r>
            <a:r>
              <a:rPr lang="zh-CN" altLang="en-US" dirty="0" smtClean="0"/>
              <a:t>中。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39200" y="533400"/>
            <a:ext cx="1133475" cy="4920615"/>
          </a:xfrm>
        </p:spPr>
        <p:txBody>
          <a:bodyPr/>
          <a:lstStyle/>
          <a:p>
            <a:r>
              <a:rPr lang="en-US" altLang="zh-CN" sz="3200" dirty="0" smtClean="0"/>
              <a:t>Java</a:t>
            </a:r>
            <a:r>
              <a:rPr lang="en-US" altLang="zh-CN" sz="4000" dirty="0" smtClean="0"/>
              <a:t> EE</a:t>
            </a:r>
            <a:r>
              <a:rPr lang="zh-CN" altLang="en-US" sz="4000" dirty="0" smtClean="0"/>
              <a:t>服务器和容器</a:t>
            </a:r>
            <a:endParaRPr lang="zh-CN" altLang="en-US" sz="4000" dirty="0" smtClean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085"/>
            <a:ext cx="7315200" cy="6742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圆角矩形 3"/>
          <p:cNvSpPr/>
          <p:nvPr/>
        </p:nvSpPr>
        <p:spPr>
          <a:xfrm>
            <a:off x="1752600" y="533400"/>
            <a:ext cx="2514600" cy="4572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400800" y="3098800"/>
            <a:ext cx="1143000" cy="6350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422366" y="4419600"/>
            <a:ext cx="1143000" cy="6350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 bldLvl="0" animBg="1"/>
      <p:bldP spid="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容器类型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Applet</a:t>
            </a:r>
            <a:r>
              <a:rPr lang="zh-CN" altLang="zh-CN" dirty="0" smtClean="0"/>
              <a:t>容器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管理</a:t>
            </a:r>
            <a:r>
              <a:rPr lang="en-US" altLang="zh-CN" dirty="0" smtClean="0"/>
              <a:t>Applet</a:t>
            </a:r>
            <a:r>
              <a:rPr lang="zh-CN" altLang="zh-CN" dirty="0" smtClean="0"/>
              <a:t>组件</a:t>
            </a:r>
            <a:r>
              <a:rPr lang="zh-CN" altLang="en-US" dirty="0" smtClean="0"/>
              <a:t>，包含</a:t>
            </a:r>
            <a:r>
              <a:rPr lang="zh-CN" altLang="zh-CN" dirty="0" smtClean="0"/>
              <a:t>浏览器和</a:t>
            </a:r>
            <a:r>
              <a:rPr lang="en-US" altLang="zh-CN" dirty="0" smtClean="0"/>
              <a:t>Java</a:t>
            </a:r>
            <a:r>
              <a:rPr lang="zh-CN" altLang="zh-CN" dirty="0" smtClean="0"/>
              <a:t>插件</a:t>
            </a:r>
            <a:endParaRPr lang="zh-CN" altLang="zh-CN" dirty="0" smtClean="0"/>
          </a:p>
          <a:p>
            <a:r>
              <a:rPr lang="en-US" altLang="zh-CN" dirty="0" smtClean="0"/>
              <a:t>Application</a:t>
            </a:r>
            <a:r>
              <a:rPr lang="zh-CN" altLang="zh-CN" dirty="0" smtClean="0"/>
              <a:t>容器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管理</a:t>
            </a:r>
            <a:r>
              <a:rPr lang="en-US" altLang="zh-CN" dirty="0" smtClean="0"/>
              <a:t>Application client</a:t>
            </a:r>
            <a:r>
              <a:rPr lang="zh-CN" altLang="zh-CN" dirty="0" smtClean="0"/>
              <a:t>组件</a:t>
            </a:r>
            <a:endParaRPr lang="zh-CN" altLang="zh-CN" dirty="0" smtClean="0"/>
          </a:p>
          <a:p>
            <a:r>
              <a:rPr lang="en-US" altLang="zh-CN" dirty="0" smtClean="0"/>
              <a:t>Web</a:t>
            </a:r>
            <a:r>
              <a:rPr lang="zh-CN" altLang="zh-CN" dirty="0" smtClean="0"/>
              <a:t>容器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管理</a:t>
            </a:r>
            <a:r>
              <a:rPr lang="en-US" altLang="zh-CN" dirty="0" smtClean="0"/>
              <a:t>web</a:t>
            </a:r>
            <a:r>
              <a:rPr lang="zh-CN" altLang="en-US" dirty="0" smtClean="0"/>
              <a:t>页面、</a:t>
            </a:r>
            <a:r>
              <a:rPr lang="en-US" altLang="zh-CN" dirty="0" smtClean="0"/>
              <a:t>servlets</a:t>
            </a:r>
            <a:r>
              <a:rPr lang="zh-CN" altLang="en-US" dirty="0" smtClean="0"/>
              <a:t>和一些</a:t>
            </a:r>
            <a:r>
              <a:rPr lang="en-US" altLang="zh-CN" dirty="0" smtClean="0"/>
              <a:t>EJB</a:t>
            </a:r>
            <a:r>
              <a:rPr lang="zh-CN" altLang="en-US" dirty="0" smtClean="0"/>
              <a:t>组件</a:t>
            </a:r>
            <a:endParaRPr lang="zh-CN" altLang="zh-CN" dirty="0" smtClean="0"/>
          </a:p>
          <a:p>
            <a:r>
              <a:rPr lang="en-US" altLang="zh-CN" dirty="0" smtClean="0"/>
              <a:t>EJB</a:t>
            </a:r>
            <a:r>
              <a:rPr lang="zh-CN" altLang="zh-CN" dirty="0" smtClean="0"/>
              <a:t>容器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管理</a:t>
            </a:r>
            <a:r>
              <a:rPr lang="en-US" altLang="zh-CN" dirty="0" smtClean="0"/>
              <a:t>EJB</a:t>
            </a:r>
            <a:r>
              <a:rPr lang="zh-CN" altLang="zh-CN" dirty="0" smtClean="0"/>
              <a:t>组件</a:t>
            </a:r>
            <a:endParaRPr lang="zh-CN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常见的</a:t>
            </a:r>
            <a:r>
              <a:rPr lang="en-US" altLang="zh-CN" dirty="0" smtClean="0"/>
              <a:t>Java EE</a:t>
            </a:r>
            <a:r>
              <a:rPr lang="zh-CN" altLang="en-US" dirty="0" smtClean="0"/>
              <a:t>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Tomcat: Web</a:t>
            </a:r>
            <a:r>
              <a:rPr lang="zh-CN" altLang="en-US" dirty="0" smtClean="0">
                <a:solidFill>
                  <a:srgbClr val="FF0000"/>
                </a:solidFill>
              </a:rPr>
              <a:t>服务器 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Web Container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err="1" smtClean="0"/>
              <a:t>Jboss</a:t>
            </a:r>
            <a:r>
              <a:rPr lang="en-US" altLang="zh-CN" dirty="0" smtClean="0"/>
              <a:t>:</a:t>
            </a:r>
            <a:r>
              <a:rPr lang="zh-CN" altLang="en-US" dirty="0" smtClean="0"/>
              <a:t>应用服务器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Web Container + EJB Container</a:t>
            </a:r>
            <a:endParaRPr lang="en-US" altLang="zh-CN" dirty="0" smtClean="0"/>
          </a:p>
          <a:p>
            <a:r>
              <a:rPr lang="en-US" altLang="zh-CN" dirty="0" err="1" smtClean="0"/>
              <a:t>Weblogic</a:t>
            </a:r>
            <a:r>
              <a:rPr lang="en-US" altLang="zh-CN" dirty="0" smtClean="0"/>
              <a:t>: </a:t>
            </a:r>
            <a:r>
              <a:rPr lang="zh-CN" altLang="en-US" dirty="0" smtClean="0"/>
              <a:t>商业应用服务器</a:t>
            </a:r>
            <a:endParaRPr lang="en-US" altLang="zh-CN" dirty="0" smtClean="0"/>
          </a:p>
          <a:p>
            <a:r>
              <a:rPr lang="en-US" altLang="zh-CN" dirty="0" err="1" smtClean="0"/>
              <a:t>Websphere</a:t>
            </a:r>
            <a:r>
              <a:rPr lang="en-US" altLang="zh-CN" dirty="0" smtClean="0"/>
              <a:t>:</a:t>
            </a:r>
            <a:r>
              <a:rPr lang="zh-CN" altLang="en-US" dirty="0" smtClean="0"/>
              <a:t>商业应用服务器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核心</a:t>
            </a:r>
            <a:r>
              <a:rPr lang="en-US" altLang="zh-CN" dirty="0" smtClean="0"/>
              <a:t>API</a:t>
            </a:r>
            <a:r>
              <a:rPr lang="zh-CN" altLang="en-US" dirty="0" smtClean="0"/>
              <a:t>及组件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zh-CN" dirty="0" smtClean="0"/>
              <a:t>平台由一整套</a:t>
            </a:r>
            <a:r>
              <a:rPr lang="zh-CN" altLang="zh-CN" dirty="0" smtClean="0">
                <a:solidFill>
                  <a:srgbClr val="FF0000"/>
                </a:solidFill>
              </a:rPr>
              <a:t>服务</a:t>
            </a:r>
            <a:r>
              <a:rPr lang="zh-CN" altLang="zh-CN" dirty="0" smtClean="0"/>
              <a:t>（</a:t>
            </a:r>
            <a:r>
              <a:rPr lang="en-US" altLang="zh-CN" dirty="0" smtClean="0"/>
              <a:t>Services</a:t>
            </a:r>
            <a:r>
              <a:rPr lang="zh-CN" altLang="zh-CN" dirty="0" smtClean="0"/>
              <a:t>）、</a:t>
            </a:r>
            <a:r>
              <a:rPr lang="zh-CN" altLang="zh-CN" dirty="0" smtClean="0">
                <a:solidFill>
                  <a:srgbClr val="FF0000"/>
                </a:solidFill>
              </a:rPr>
              <a:t>应用程序编程接口</a:t>
            </a:r>
            <a:r>
              <a:rPr lang="zh-CN" altLang="zh-CN" dirty="0" smtClean="0"/>
              <a:t>（</a:t>
            </a:r>
            <a:r>
              <a:rPr lang="en-US" altLang="zh-CN" dirty="0" smtClean="0"/>
              <a:t>APIs</a:t>
            </a:r>
            <a:r>
              <a:rPr lang="zh-CN" altLang="zh-CN" dirty="0" smtClean="0"/>
              <a:t>）和</a:t>
            </a:r>
            <a:r>
              <a:rPr lang="zh-CN" altLang="zh-CN" dirty="0" smtClean="0">
                <a:solidFill>
                  <a:srgbClr val="FF0000"/>
                </a:solidFill>
              </a:rPr>
              <a:t>协议</a:t>
            </a:r>
            <a:r>
              <a:rPr lang="zh-CN" altLang="zh-CN" dirty="0" smtClean="0"/>
              <a:t>构成，它对开发基于</a:t>
            </a:r>
            <a:r>
              <a:rPr lang="en-US" altLang="zh-CN" dirty="0" smtClean="0"/>
              <a:t>Web</a:t>
            </a:r>
            <a:r>
              <a:rPr lang="zh-CN" altLang="zh-CN" dirty="0" smtClean="0"/>
              <a:t>的多层应用提供了功能支持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JDBC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Servlet</a:t>
            </a:r>
            <a:r>
              <a:rPr lang="zh-CN" altLang="en-US" dirty="0" smtClean="0"/>
              <a:t>、</a:t>
            </a:r>
            <a:r>
              <a:rPr lang="en-US" altLang="zh-CN" dirty="0" err="1" smtClean="0">
                <a:solidFill>
                  <a:srgbClr val="FF0000"/>
                </a:solidFill>
              </a:rPr>
              <a:t>Jsp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JNDI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JMS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JavaMail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EJB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JPA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RMI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Java IDL/CORBA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JTA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en-US" altLang="zh-CN" dirty="0" smtClean="0"/>
              <a:t>Java EE</a:t>
            </a:r>
            <a:r>
              <a:rPr lang="zh-CN" altLang="en-US" dirty="0" smtClean="0"/>
              <a:t>四</a:t>
            </a:r>
            <a:r>
              <a:rPr lang="zh-CN" altLang="en-US" dirty="0"/>
              <a:t>层应用</a:t>
            </a:r>
            <a:r>
              <a:rPr lang="zh-CN" altLang="en-US" dirty="0" smtClean="0"/>
              <a:t>模型</a:t>
            </a:r>
            <a:endParaRPr lang="en-US" altLang="zh-CN" dirty="0" smtClean="0"/>
          </a:p>
          <a:p>
            <a:r>
              <a:rPr lang="en-US" altLang="zh-CN" dirty="0" smtClean="0"/>
              <a:t>Java EE</a:t>
            </a:r>
            <a:r>
              <a:rPr lang="zh-CN" altLang="en-US" dirty="0" smtClean="0"/>
              <a:t>容器</a:t>
            </a:r>
            <a:endParaRPr lang="en-US" altLang="zh-CN" dirty="0" smtClean="0"/>
          </a:p>
          <a:p>
            <a:r>
              <a:rPr lang="zh-CN" altLang="en-US" dirty="0"/>
              <a:t>常见</a:t>
            </a:r>
            <a:r>
              <a:rPr lang="zh-CN" altLang="en-US" dirty="0" smtClean="0"/>
              <a:t>的</a:t>
            </a:r>
            <a:r>
              <a:rPr lang="en-US" altLang="zh-CN" dirty="0" smtClean="0"/>
              <a:t>Java EE</a:t>
            </a:r>
            <a:r>
              <a:rPr lang="zh-CN" altLang="en-US" dirty="0" smtClean="0"/>
              <a:t>服务器</a:t>
            </a:r>
            <a:endParaRPr lang="en-US" altLang="zh-CN" dirty="0" smtClean="0"/>
          </a:p>
          <a:p>
            <a:r>
              <a:rPr lang="en-US" altLang="zh-CN" dirty="0" smtClean="0"/>
              <a:t>Java EE</a:t>
            </a:r>
            <a:r>
              <a:rPr lang="zh-CN" altLang="en-US" dirty="0" smtClean="0"/>
              <a:t>核心</a:t>
            </a:r>
            <a:r>
              <a:rPr lang="en-US" altLang="zh-CN" dirty="0" smtClean="0"/>
              <a:t>API</a:t>
            </a:r>
            <a:r>
              <a:rPr lang="zh-CN" altLang="en-US" dirty="0" smtClean="0"/>
              <a:t>及组件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29A74-AE01-4ED1-85B9-38B90C24E87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YmFjNWZhYmVmMzg4Mzg4NGQ0MmIwMjFlNjJhNDU3MDQifQ=="/>
  <p:tag name="KSO_WPP_MARK_KEY" val="c468529b-9d8d-4d33-8f78-76ef9cd2961e"/>
</p:tagLst>
</file>

<file path=ppt/theme/theme1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课件模板1.2(diy)</Template>
  <TotalTime>0</TotalTime>
  <Words>2152</Words>
  <Application>WPS 演示</Application>
  <PresentationFormat>全屏显示(4:3)</PresentationFormat>
  <Paragraphs>200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隶书</vt:lpstr>
      <vt:lpstr>Tahoma</vt:lpstr>
      <vt:lpstr>Times New Roman</vt:lpstr>
      <vt:lpstr>华文新魏</vt:lpstr>
      <vt:lpstr>Monotype Sorts</vt:lpstr>
      <vt:lpstr>Wingdings</vt:lpstr>
      <vt:lpstr>楷体_GB2312</vt:lpstr>
      <vt:lpstr>新宋体</vt:lpstr>
      <vt:lpstr>微软雅黑</vt:lpstr>
      <vt:lpstr>楷体</vt:lpstr>
      <vt:lpstr>华文楷体</vt:lpstr>
      <vt:lpstr>Arial Unicode MS</vt:lpstr>
      <vt:lpstr>数据库原理及应用</vt:lpstr>
      <vt:lpstr>1_数据库原理及应用</vt:lpstr>
      <vt:lpstr>PowerPoint 演示文稿</vt:lpstr>
      <vt:lpstr>Java EE概述</vt:lpstr>
      <vt:lpstr>Java EE概念及由来</vt:lpstr>
      <vt:lpstr>Java EE概念及由来</vt:lpstr>
      <vt:lpstr>Java EE概念及由来</vt:lpstr>
      <vt:lpstr>Java EE应用模型</vt:lpstr>
      <vt:lpstr>Java EE分层模型图</vt:lpstr>
      <vt:lpstr>Java EE分层模型</vt:lpstr>
      <vt:lpstr>Java EE分层模型</vt:lpstr>
      <vt:lpstr>基于组件和容器的编程思想</vt:lpstr>
      <vt:lpstr>Java EE 组件</vt:lpstr>
      <vt:lpstr>Java EE 组件 VS 标准 Java类</vt:lpstr>
      <vt:lpstr>Java EE容器</vt:lpstr>
      <vt:lpstr>Java EE 容器概念</vt:lpstr>
      <vt:lpstr>Java EE服务器和容器</vt:lpstr>
      <vt:lpstr>Java EE容器类型</vt:lpstr>
      <vt:lpstr>常见的Java EE服务器</vt:lpstr>
      <vt:lpstr>Java EE核心API及组件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wxh</dc:creator>
  <cp:lastModifiedBy>wxh</cp:lastModifiedBy>
  <cp:revision>2184</cp:revision>
  <cp:lastPrinted>2113-01-01T00:00:00Z</cp:lastPrinted>
  <dcterms:created xsi:type="dcterms:W3CDTF">2113-01-01T00:00:00Z</dcterms:created>
  <dcterms:modified xsi:type="dcterms:W3CDTF">2023-09-02T10:42:07Z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2052-11.1.0.14309</vt:lpwstr>
  </property>
  <property fmtid="{D5CDD505-2E9C-101B-9397-08002B2CF9AE}" pid="4" name="ICV">
    <vt:lpwstr>C272DD0C0CAA465AA8ACA757979B1A22</vt:lpwstr>
  </property>
</Properties>
</file>