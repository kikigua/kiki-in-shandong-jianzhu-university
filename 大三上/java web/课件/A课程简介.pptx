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39" r:id="rId3"/>
    <p:sldId id="374" r:id="rId5"/>
    <p:sldId id="375" r:id="rId6"/>
    <p:sldId id="381" r:id="rId7"/>
    <p:sldId id="387" r:id="rId8"/>
    <p:sldId id="376" r:id="rId9"/>
    <p:sldId id="377" r:id="rId10"/>
    <p:sldId id="378" r:id="rId11"/>
    <p:sldId id="379" r:id="rId12"/>
    <p:sldId id="380" r:id="rId13"/>
  </p:sldIdLst>
  <p:sldSz cx="12192000" cy="6858000"/>
  <p:notesSz cx="6858000" cy="9144000"/>
  <p:custDataLst>
    <p:tags r:id="rId1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6000" b="1" kern="1200">
        <a:solidFill>
          <a:schemeClr val="tx2"/>
        </a:solidFill>
        <a:latin typeface="隶书" panose="02010509060101010101" pitchFamily="49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FFFFFF"/>
    <a:srgbClr val="FFCCFF"/>
    <a:srgbClr val="FFFFCC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9190" autoAdjust="0"/>
  </p:normalViewPr>
  <p:slideViewPr>
    <p:cSldViewPr showGuides="1">
      <p:cViewPr varScale="1">
        <p:scale>
          <a:sx n="63" d="100"/>
          <a:sy n="63" d="100"/>
        </p:scale>
        <p:origin x="-1176" y="-72"/>
      </p:cViewPr>
      <p:guideLst>
        <p:guide orient="horz" pos="2160"/>
        <p:guide pos="3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62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9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14C68F-AA02-4465-AD88-18C9C57BD17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543AC59-CF95-47F6-B17C-B59E5D463C8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baidu.com/s?wd=se&amp;tn=44039180_cpr&amp;fenlei=mv6quAkxTZn0IZRqIHckPjm4nH00T1Y3rj0smvf3PHbkn1IBnHcL0ZwV5Hcvrjm3rH6sPfKWUMw85HfYnjn4nH6sgvPsT6K1TL0qnfK1TL0z5HD0IgF_5y9YIZ0lQzqlpA-bmyt8mh7GuZR8mvqVQL7dugPYpyq8Q1DvnjndnWRzn0" TargetMode="External"/><Relationship Id="rId3" Type="http://schemas.openxmlformats.org/officeDocument/2006/relationships/hyperlink" Target="https://www.baidu.com/s?wd=Java&amp;tn=44039180_cpr&amp;fenlei=mv6quAkxTZn0IZRqIHckPjm4nH00T1Y3rj0smvf3PHbkn1IBnHcL0ZwV5Hcvrjm3rH6sPfKWUMw85HfYnjn4nH6sgvPsT6K1TL0qnfK1TL0z5HD0IgF_5y9YIZ0lQzqlpA-bmyt8mh7GuZR8mvqVQL7dugPYpyq8Q1DvnjndnWRzn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Java EE</a:t>
            </a:r>
            <a:r>
              <a:rPr lang="zh-CN" altLang="en-US" dirty="0" smtClean="0"/>
              <a:t>平台进行</a:t>
            </a:r>
            <a:r>
              <a:rPr lang="en-US" altLang="zh-CN" dirty="0" smtClean="0"/>
              <a:t>Java Web</a:t>
            </a:r>
            <a:r>
              <a:rPr lang="zh-CN" altLang="en-US" dirty="0" smtClean="0"/>
              <a:t>应用开发的基础知识。</a:t>
            </a:r>
            <a:endParaRPr lang="zh-CN" altLang="en-US" dirty="0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623DFA8F-62E7-44CB-8294-CA229646371E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60E89481-9348-47DC-8ED4-D34C20D61A5E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随着工具包的不断扩展，</a:t>
            </a:r>
            <a:r>
              <a:rPr lang="en-US" altLang="zh-CN" dirty="0" smtClean="0"/>
              <a:t>2005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sun</a:t>
            </a:r>
            <a:r>
              <a:rPr lang="zh-CN" altLang="en-US" dirty="0" smtClean="0"/>
              <a:t>公司将其改名为</a:t>
            </a:r>
            <a:r>
              <a:rPr lang="en-US" altLang="zh-CN" dirty="0" err="1" smtClean="0"/>
              <a:t>JavaEE</a:t>
            </a:r>
            <a:endParaRPr lang="en-US" altLang="zh-CN" dirty="0" smtClean="0"/>
          </a:p>
          <a:p>
            <a:r>
              <a:rPr lang="en-US" altLang="zh-CN" dirty="0" smtClean="0"/>
              <a:t>Java</a:t>
            </a:r>
            <a:r>
              <a:rPr lang="zh-CN" altLang="en-US" dirty="0" smtClean="0"/>
              <a:t>平台有三个版本，这使软件开发人员、服务提供商和设备生产商可以针对特定的市场进行开发</a:t>
            </a:r>
            <a:endParaRPr lang="en-US" altLang="zh-CN" dirty="0" smtClean="0"/>
          </a:p>
          <a:p>
            <a:r>
              <a:rPr lang="en-US" altLang="zh-CN" dirty="0" smtClean="0">
                <a:hlinkClick r:id="rId3"/>
              </a:rPr>
              <a:t>Java</a:t>
            </a:r>
            <a:r>
              <a:rPr lang="en-US" altLang="zh-CN" dirty="0" smtClean="0"/>
              <a:t> </a:t>
            </a:r>
            <a:r>
              <a:rPr lang="en-US" altLang="zh-CN" dirty="0" smtClean="0">
                <a:hlinkClick r:id="rId4"/>
              </a:rPr>
              <a:t>SE</a:t>
            </a:r>
            <a:r>
              <a:rPr lang="zh-CN" altLang="en-US" dirty="0" smtClean="0"/>
              <a:t>（</a:t>
            </a:r>
            <a:r>
              <a:rPr lang="en-US" altLang="zh-CN" dirty="0" smtClean="0">
                <a:hlinkClick r:id="rId3"/>
              </a:rPr>
              <a:t>Java</a:t>
            </a:r>
            <a:r>
              <a:rPr lang="en-US" altLang="zh-CN" dirty="0" smtClean="0"/>
              <a:t> Platform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Standard Edition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Java ME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Java Platform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Micro Edition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由于界面，开发成本，速度等问题，</a:t>
            </a:r>
            <a:r>
              <a:rPr lang="en-US" altLang="zh-CN" dirty="0" smtClean="0"/>
              <a:t>Java SE</a:t>
            </a:r>
            <a:r>
              <a:rPr lang="zh-CN" altLang="en-US" dirty="0" smtClean="0"/>
              <a:t>很少用来做程序，但不是说，他不能做程序，</a:t>
            </a:r>
            <a:r>
              <a:rPr lang="en-US" altLang="zh-CN" dirty="0" err="1" smtClean="0"/>
              <a:t>Eclipse,NetBeans</a:t>
            </a:r>
            <a:r>
              <a:rPr lang="en-US" altLang="zh-CN" dirty="0" smtClean="0"/>
              <a:t>,</a:t>
            </a:r>
            <a:r>
              <a:rPr lang="zh-CN" altLang="en-US" dirty="0" smtClean="0"/>
              <a:t>都是</a:t>
            </a:r>
            <a:r>
              <a:rPr lang="en-US" altLang="zh-CN" dirty="0" err="1" smtClean="0"/>
              <a:t>javase</a:t>
            </a:r>
            <a:r>
              <a:rPr lang="zh-CN" altLang="en-US" dirty="0" smtClean="0"/>
              <a:t>写起来的。</a:t>
            </a:r>
            <a:endParaRPr lang="en-US" altLang="zh-CN" dirty="0" smtClean="0"/>
          </a:p>
          <a:p>
            <a:r>
              <a:rPr lang="zh-CN" altLang="en-US" dirty="0" smtClean="0"/>
              <a:t>智能终端软件如今是</a:t>
            </a:r>
            <a:r>
              <a:rPr lang="en-US" altLang="zh-CN" dirty="0" err="1" smtClean="0"/>
              <a:t>andriod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</a:t>
            </a:r>
            <a:r>
              <a:rPr lang="en-US" altLang="zh-CN" dirty="0" err="1" smtClean="0"/>
              <a:t>ios</a:t>
            </a:r>
            <a:r>
              <a:rPr lang="zh-CN" altLang="en-US" dirty="0" smtClean="0"/>
              <a:t>的天下</a:t>
            </a:r>
            <a:endParaRPr lang="en-US" altLang="zh-CN" dirty="0" smtClean="0"/>
          </a:p>
          <a:p>
            <a:r>
              <a:rPr lang="en-US" altLang="zh-CN" dirty="0" smtClean="0"/>
              <a:t>EE,</a:t>
            </a:r>
            <a:r>
              <a:rPr lang="zh-CN" altLang="en-US" dirty="0" smtClean="0"/>
              <a:t>企业级解决方案，开发套件全部免费，可控性好，安全性高，乃是当前</a:t>
            </a:r>
            <a:r>
              <a:rPr lang="en-US" altLang="zh-CN" dirty="0" smtClean="0"/>
              <a:t>B2B</a:t>
            </a:r>
            <a:r>
              <a:rPr lang="zh-CN" altLang="en-US" dirty="0" smtClean="0"/>
              <a:t>的规范。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《Java EE Web </a:t>
            </a:r>
            <a:r>
              <a:rPr lang="zh-CN" altLang="en-US" dirty="0" smtClean="0"/>
              <a:t>应用开发基础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基础入门，适合零基础。包括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开发基础（</a:t>
            </a:r>
            <a:r>
              <a:rPr lang="en-US" altLang="zh-CN" dirty="0" smtClean="0"/>
              <a:t>html\</a:t>
            </a:r>
            <a:r>
              <a:rPr lang="en-US" altLang="zh-CN" dirty="0" err="1" smtClean="0"/>
              <a:t>css</a:t>
            </a:r>
            <a:r>
              <a:rPr lang="en-US" altLang="zh-CN" dirty="0" smtClean="0"/>
              <a:t>\</a:t>
            </a:r>
            <a:r>
              <a:rPr lang="en-US" altLang="zh-CN" dirty="0" err="1" smtClean="0"/>
              <a:t>javascript</a:t>
            </a:r>
            <a:r>
              <a:rPr lang="en-US" altLang="zh-CN" dirty="0" smtClean="0"/>
              <a:t>\Ajax)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确定周一</a:t>
            </a:r>
            <a:r>
              <a:rPr lang="en-US" altLang="zh-CN" dirty="0" smtClean="0"/>
              <a:t>34</a:t>
            </a:r>
            <a:r>
              <a:rPr lang="zh-CN" altLang="en-US" dirty="0" smtClean="0"/>
              <a:t>节是否有课</a:t>
            </a:r>
            <a:endParaRPr lang="zh-CN" altLang="en-US" dirty="0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24C9C91A-4321-4912-977E-EC81B6BF133E}" type="slidenum">
              <a:rPr lang="en-US" altLang="zh-CN" sz="1200" b="0" smtClean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43AC59-CF95-47F6-B17C-B59E5D463C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176000" y="6400800"/>
            <a:ext cx="711200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0212" tIns="35106" rIns="70212" bIns="35106" anchor="ctr"/>
          <a:lstStyle/>
          <a:p>
            <a:pPr algn="ctr" defTabSz="936625"/>
            <a:endParaRPr kumimoji="1" lang="zh-CN" altLang="en-US" sz="1875" b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B0BEB52E-93D1-46BB-A104-321F0DFAE03E}" type="slidenum">
              <a:rPr lang="zh-CN" altLang="en-US"/>
            </a:fld>
            <a:endParaRPr lang="en-US" altLang="zh-CN"/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6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7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276985"/>
            <a:ext cx="11318875" cy="430339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Web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应用开发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王向辉</a:t>
            </a:r>
            <a:br>
              <a: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软件工程教研室</a:t>
            </a:r>
            <a:endParaRPr lang="zh-CN" altLang="en-US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  <a:latin typeface="+mn-ea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  <a:latin typeface="+mn-ea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3300" dirty="0" smtClean="0">
              <a:latin typeface="+mj-ea"/>
              <a:ea typeface="+mj-ea"/>
              <a:cs typeface="+mn-cs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3300" dirty="0" smtClean="0">
              <a:latin typeface="+mj-ea"/>
              <a:ea typeface="+mj-ea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0430" y="3429000"/>
            <a:ext cx="1122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/>
              <a:t>QQ</a:t>
            </a:r>
            <a:r>
              <a:rPr lang="zh-CN" altLang="en-US" sz="2800"/>
              <a:t>群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28800" y="1905000"/>
            <a:ext cx="3121660" cy="3775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72400" y="2133600"/>
            <a:ext cx="3303905" cy="369443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课程简介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课程背景</a:t>
            </a:r>
            <a:endParaRPr lang="zh-CN" altLang="en-US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课程目标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准备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知识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教材及参考书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学习方法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考核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方法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</a:endParaRPr>
          </a:p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课程内容</a:t>
            </a:r>
            <a:endParaRPr lang="en-US" altLang="zh-CN" dirty="0" smtClean="0"/>
          </a:p>
          <a:p>
            <a:pPr marL="0" indent="0">
              <a:buFont typeface="Monotype Sorts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616710" y="4521200"/>
            <a:ext cx="6473825" cy="5143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450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J2EE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</a:t>
            </a:r>
            <a:r>
              <a:rPr lang="en-US" altLang="zh-CN" dirty="0" err="1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JavaEE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的前身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Sun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公司发布的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ava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软件开发工具包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2005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年以前称为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J2EE,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之后称为</a:t>
            </a:r>
            <a:r>
              <a:rPr lang="en-US" altLang="zh-CN" dirty="0" err="1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JavaEE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Platform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Enterprise Edition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2009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sun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被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oracle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收购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Java.sun.com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www.oracle.com/technetwork/java  (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现在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  <a:endParaRPr lang="zh-CN" altLang="en-US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课程背景</a:t>
            </a:r>
            <a:endParaRPr lang="zh-CN" altLang="en-US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  <p:sp>
        <p:nvSpPr>
          <p:cNvPr id="4" name="文本框 3"/>
          <p:cNvSpPr txBox="1"/>
          <p:nvPr/>
        </p:nvSpPr>
        <p:spPr>
          <a:xfrm>
            <a:off x="2215515" y="5390515"/>
            <a:ext cx="4537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基础软件、平台软件国产化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998335" y="5390515"/>
            <a:ext cx="1849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责任  使命</a:t>
            </a:r>
            <a:endParaRPr lang="zh-CN" altLang="en-US" sz="2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579880" y="2933700"/>
            <a:ext cx="8311515" cy="510540"/>
          </a:xfrm>
          <a:prstGeom prst="roundRect">
            <a:avLst/>
          </a:prstGeom>
          <a:solidFill>
            <a:schemeClr val="accent5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450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Platform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的三个版本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SE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桌面系统软件开发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ME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小型设备、智能终端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EE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面向企业的分布式、多层应用的开发与部署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开发套件全部免费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高可靠性、成熟性和安全性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 EE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开发 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web 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应用程序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（本课程核心）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课程背景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6575" y="1211580"/>
            <a:ext cx="10942320" cy="5113020"/>
          </a:xfrm>
        </p:spPr>
        <p:txBody>
          <a:bodyPr/>
          <a:p>
            <a:pPr>
              <a:lnSpc>
                <a:spcPct val="100000"/>
              </a:lnSpc>
            </a:pPr>
            <a:r>
              <a:rPr lang="zh-CN" altLang="en-US" sz="2400"/>
              <a:t>了解</a:t>
            </a:r>
            <a:r>
              <a:rPr lang="zh-CN" altLang="en-US" sz="2400">
                <a:solidFill>
                  <a:srgbClr val="FF0000"/>
                </a:solidFill>
              </a:rPr>
              <a:t>Java EE应用模型</a:t>
            </a:r>
            <a:r>
              <a:rPr lang="zh-CN" altLang="en-US" sz="2400"/>
              <a:t>，理解基于</a:t>
            </a:r>
            <a:r>
              <a:rPr lang="zh-CN" altLang="en-US" sz="2400">
                <a:solidFill>
                  <a:srgbClr val="FF0000"/>
                </a:solidFill>
              </a:rPr>
              <a:t>组件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FF0000"/>
                </a:solidFill>
              </a:rPr>
              <a:t>容器</a:t>
            </a:r>
            <a:r>
              <a:rPr lang="zh-CN" altLang="en-US" sz="2400"/>
              <a:t>的编程思想，理解</a:t>
            </a:r>
            <a:r>
              <a:rPr lang="zh-CN" altLang="en-US" sz="2400">
                <a:solidFill>
                  <a:srgbClr val="FF0000"/>
                </a:solidFill>
              </a:rPr>
              <a:t>Java EE常用API和组件</a:t>
            </a:r>
            <a:r>
              <a:rPr lang="zh-CN" altLang="en-US" sz="2400"/>
              <a:t>的用途，能够为Web项目的构建提供基于Java EE的技术方案</a:t>
            </a: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掌握Java EE常用API和组件的使用方法，能够应用Java EE技术为特定的Web应用需求设计并开发一个</a:t>
            </a:r>
            <a:r>
              <a:rPr lang="zh-CN" altLang="en-US" sz="2400">
                <a:solidFill>
                  <a:srgbClr val="FF0000"/>
                </a:solidFill>
              </a:rPr>
              <a:t>完整的软件系统</a:t>
            </a:r>
            <a:r>
              <a:rPr lang="zh-CN" altLang="en-US" sz="2400"/>
              <a:t>，并在系统中考虑安全和隐私保护因素。</a:t>
            </a: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了解Java Web项目常用开发工具的使用原理和方法，包括：开发平台、Web容器、数据库服务器等，并了解这些工具的局限性，能够为特定的Java Web项目选择合适的开发工具。</a:t>
            </a:r>
            <a:endParaRPr lang="zh-CN" altLang="en-US" sz="2400"/>
          </a:p>
          <a:p>
            <a:pPr>
              <a:lnSpc>
                <a:spcPct val="100000"/>
              </a:lnSpc>
            </a:pPr>
            <a:r>
              <a:rPr lang="zh-CN" altLang="en-US" sz="2400"/>
              <a:t>理解</a:t>
            </a:r>
            <a:r>
              <a:rPr lang="zh-CN" altLang="en-US" sz="2400">
                <a:solidFill>
                  <a:srgbClr val="FF0000"/>
                </a:solidFill>
              </a:rPr>
              <a:t>MVC</a:t>
            </a:r>
            <a:r>
              <a:rPr lang="zh-CN" altLang="en-US" sz="2400"/>
              <a:t>开发模式的基本原理，能够应用</a:t>
            </a:r>
            <a:r>
              <a:rPr lang="zh-CN" altLang="en-US" sz="2400">
                <a:solidFill>
                  <a:srgbClr val="FF0000"/>
                </a:solidFill>
              </a:rPr>
              <a:t>JSP+Servlet+JavaBean</a:t>
            </a:r>
            <a:r>
              <a:rPr lang="zh-CN" altLang="en-US" sz="2400"/>
              <a:t>、</a:t>
            </a:r>
            <a:r>
              <a:rPr lang="zh-CN" altLang="en-US" sz="2400">
                <a:solidFill>
                  <a:srgbClr val="FF0000"/>
                </a:solidFill>
              </a:rPr>
              <a:t>JSP+JavaBean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FF0000"/>
                </a:solidFill>
              </a:rPr>
              <a:t>JSP+Servlet+JPA</a:t>
            </a:r>
            <a:r>
              <a:rPr lang="zh-CN" altLang="en-US" sz="2400"/>
              <a:t>开发模式进行软件系统的设计，并理解三种开发模式的局限性。理解Web应用前后端分离的设计模式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准备知识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网页设计基本知识 （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Web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开发基础）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>
              <a:defRPr/>
            </a:pP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Html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>
              <a:defRPr/>
            </a:pPr>
            <a:r>
              <a:rPr lang="en-US" altLang="zh-CN" dirty="0" err="1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CSS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>
              <a:defRPr/>
            </a:pPr>
            <a:r>
              <a:rPr lang="en-US" altLang="zh-CN" dirty="0" err="1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Javascript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defRPr/>
            </a:pP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语言基础（面向对象程序设计）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数据库基础（数据库原理及应用）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DBMS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熟悉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SQL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教材及参考书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140335" y="1240790"/>
            <a:ext cx="11443970" cy="4128135"/>
          </a:xfrm>
        </p:spPr>
        <p:txBody>
          <a:bodyPr/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自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编教材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《Java Web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应用开发基础教程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清华大学出版社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参考书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https://javaee.github.io/tutorial/toc.html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目前最新为 </a:t>
            </a:r>
            <a:r>
              <a:rPr lang="en-US" altLang="zh-CN" dirty="0" err="1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JavaEE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8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官网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https://www.oracle.com/java/technologies/java-ee-glance.html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学习方法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441325" y="1234440"/>
            <a:ext cx="11138535" cy="4693285"/>
          </a:xfrm>
        </p:spPr>
        <p:txBody>
          <a:bodyPr/>
          <a:lstStyle/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课程学时（共 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64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学时）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 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40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（第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1-3,8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周周一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101112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节、周四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030405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节；第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9-16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周周一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1011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实验 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24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（第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5-16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周周日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67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节 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xx206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实践型课程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认真听课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多上机实践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认真完成实验报告</a:t>
            </a:r>
            <a:endParaRPr lang="zh-CN" altLang="en-US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</a:rPr>
              <a:t>考核方法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平时成绩 （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日常表现 （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分）</a:t>
            </a:r>
            <a:endParaRPr lang="zh-CN" altLang="en-US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sz="24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课堂在线测试</a:t>
            </a:r>
            <a:endParaRPr lang="zh-CN" altLang="en-US" sz="2400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2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线下作业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实验 （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分）实验态度（随堂检查）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实验报告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期末考试 （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0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分）</a:t>
            </a:r>
            <a:endParaRPr lang="en-US" altLang="zh-CN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开卷（考核能力）</a:t>
            </a:r>
            <a:endParaRPr lang="zh-CN" altLang="en-US" dirty="0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内容占位符 2"/>
          <p:cNvSpPr>
            <a:spLocks noGrp="1"/>
          </p:cNvSpPr>
          <p:nvPr>
            <p:ph idx="1"/>
          </p:nvPr>
        </p:nvSpPr>
        <p:spPr>
          <a:xfrm>
            <a:off x="839470" y="1311910"/>
            <a:ext cx="5313680" cy="37744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Java EE </a:t>
            </a:r>
            <a:r>
              <a:rPr lang="zh-CN" altLang="en-US" sz="2800" dirty="0" smtClean="0"/>
              <a:t>概述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JDBC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Servlet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JSP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JavaBean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err="1" smtClean="0"/>
              <a:t>JSP+JavaBean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 err="1" smtClean="0"/>
              <a:t>JSP+Servlet+JavaBean</a:t>
            </a:r>
            <a:endParaRPr lang="en-US" altLang="zh-CN" sz="2800" dirty="0" smtClean="0"/>
          </a:p>
          <a:p>
            <a:endParaRPr lang="en-US" altLang="zh-CN" sz="28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课程内容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5825490" y="1205230"/>
            <a:ext cx="5050790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 sz="3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660066"/>
                </a:solidFill>
                <a:latin typeface="+mn-lt"/>
                <a:ea typeface="+mn-ea"/>
                <a:cs typeface="楷体_GB2312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Monotype Sorts" pitchFamily="2" charset="2"/>
              <a:buBlip>
                <a:blip r:embed="rId2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0000"/>
              <a:buBlip>
                <a:blip r:embed="rId3"/>
              </a:buBlip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5pPr>
            <a:lvl6pPr marL="2228850" indent="-228600" algn="l" rtl="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Char char="»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CN" sz="2800" dirty="0" smtClean="0"/>
              <a:t>EL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CN" sz="2800" dirty="0" smtClean="0"/>
              <a:t>JSTL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CN" sz="2800" dirty="0" smtClean="0"/>
              <a:t>JPA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CN" sz="2800" dirty="0" smtClean="0"/>
              <a:t>Java Web开发</a:t>
            </a:r>
            <a:r>
              <a:rPr lang="zh-CN" altLang="en-US" sz="2800" dirty="0" smtClean="0"/>
              <a:t>常用功能实例</a:t>
            </a:r>
            <a:endParaRPr lang="zh-CN" altLang="en-US" sz="2800" dirty="0" smtClean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CN" sz="2800" dirty="0" smtClean="0"/>
              <a:t>Java Web</a:t>
            </a:r>
            <a:r>
              <a:rPr lang="zh-CN" altLang="en-US" sz="2800" dirty="0" smtClean="0"/>
              <a:t>新技术概述</a:t>
            </a:r>
            <a:endParaRPr lang="zh-CN" altLang="en-US" sz="28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5337810" y="5428933"/>
            <a:ext cx="31432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dirty="0" smtClean="0"/>
              <a:t>Java web </a:t>
            </a:r>
            <a:r>
              <a:rPr lang="zh-CN" altLang="en-US" sz="2100" dirty="0" smtClean="0"/>
              <a:t>应用开发基础</a:t>
            </a:r>
            <a:endParaRPr lang="zh-CN" altLang="en-US" sz="2100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z="1050" smtClean="0"/>
            </a:fld>
            <a:endParaRPr lang="en-US" altLang="zh-CN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YmFjNWZhYmVmMzg4Mzg4NGQ0MmIwMjFlNjJhNDU3MDQifQ=="/>
  <p:tag name="KSO_WPP_MARK_KEY" val="d1698942-a733-4125-9179-47cc1500cebb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课件模板1.2(diy)</Template>
  <TotalTime>0</TotalTime>
  <Words>1287</Words>
  <Application>WPS 演示</Application>
  <PresentationFormat>全屏显示(4:3)</PresentationFormat>
  <Paragraphs>130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隶书</vt:lpstr>
      <vt:lpstr>Tahoma</vt:lpstr>
      <vt:lpstr>Times New Roman</vt:lpstr>
      <vt:lpstr>华文新魏</vt:lpstr>
      <vt:lpstr>Monotype Sorts</vt:lpstr>
      <vt:lpstr>Wingdings</vt:lpstr>
      <vt:lpstr>楷体_GB2312</vt:lpstr>
      <vt:lpstr>新宋体</vt:lpstr>
      <vt:lpstr>华文楷体</vt:lpstr>
      <vt:lpstr>微软雅黑</vt:lpstr>
      <vt:lpstr>楷体</vt:lpstr>
      <vt:lpstr>Arial Unicode MS</vt:lpstr>
      <vt:lpstr>数据库原理及应用</vt:lpstr>
      <vt:lpstr>PowerPoint 演示文稿</vt:lpstr>
      <vt:lpstr>课程简介</vt:lpstr>
      <vt:lpstr>课程背景</vt:lpstr>
      <vt:lpstr>课程背景</vt:lpstr>
      <vt:lpstr>课程目标</vt:lpstr>
      <vt:lpstr>准备知识</vt:lpstr>
      <vt:lpstr>教材及参考书</vt:lpstr>
      <vt:lpstr>学习方法</vt:lpstr>
      <vt:lpstr>考核方法</vt:lpstr>
      <vt:lpstr>课程内容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wxh</dc:creator>
  <cp:lastModifiedBy>wxh</cp:lastModifiedBy>
  <cp:revision>2219</cp:revision>
  <cp:lastPrinted>2113-01-01T00:00:00Z</cp:lastPrinted>
  <dcterms:created xsi:type="dcterms:W3CDTF">2113-01-01T00:00:00Z</dcterms:created>
  <dcterms:modified xsi:type="dcterms:W3CDTF">2023-09-02T11:21:18Z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2052-11.1.0.14309</vt:lpwstr>
  </property>
  <property fmtid="{D5CDD505-2E9C-101B-9397-08002B2CF9AE}" pid="4" name="ICV">
    <vt:lpwstr>7018AC0A8C6148E785562028279A5C68</vt:lpwstr>
  </property>
</Properties>
</file>