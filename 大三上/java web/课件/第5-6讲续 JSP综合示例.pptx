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75" r:id="rId7"/>
    <p:sldId id="334" r:id="rId8"/>
    <p:sldId id="335" r:id="rId9"/>
    <p:sldId id="336" r:id="rId10"/>
    <p:sldId id="330" r:id="rId11"/>
    <p:sldId id="331" r:id="rId12"/>
    <p:sldId id="333" r:id="rId13"/>
    <p:sldId id="337" r:id="rId14"/>
    <p:sldId id="342" r:id="rId15"/>
    <p:sldId id="338" r:id="rId16"/>
    <p:sldId id="339" r:id="rId17"/>
    <p:sldId id="340" r:id="rId18"/>
    <p:sldId id="341" r:id="rId19"/>
    <p:sldId id="301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479" autoAdjust="0"/>
  </p:normalViewPr>
  <p:slideViewPr>
    <p:cSldViewPr>
      <p:cViewPr>
        <p:scale>
          <a:sx n="70" d="100"/>
          <a:sy n="70" d="100"/>
        </p:scale>
        <p:origin x="-828" y="2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29097-885C-4E18-988A-97AD7C0E64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prstClr val="black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Java html</a:t>
            </a:r>
            <a:r>
              <a:rPr lang="zh-CN" altLang="en-US" dirty="0" smtClean="0"/>
              <a:t>交叉编码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BEB52E-93D1-46BB-A104-321F0DFAE03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lang="en-US" altLang="zh-CN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5-6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讲续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4400" dirty="0" smtClean="0">
                <a:latin typeface="+mj-ea"/>
                <a:ea typeface="+mj-ea"/>
                <a:cs typeface="+mn-cs"/>
              </a:rPr>
              <a:t>JSP</a:t>
            </a:r>
            <a:r>
              <a:rPr lang="zh-CN" altLang="en-US" sz="4400" dirty="0" smtClean="0">
                <a:latin typeface="+mj-ea"/>
                <a:ea typeface="+mj-ea"/>
                <a:cs typeface="+mn-cs"/>
              </a:rPr>
              <a:t>综合示例</a:t>
            </a:r>
            <a:endParaRPr lang="zh-CN" altLang="en-US" sz="4400" dirty="0" smtClean="0"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JSP</a:t>
            </a:r>
            <a:r>
              <a:rPr lang="zh-CN" altLang="en-US" dirty="0" smtClean="0"/>
              <a:t>综合示例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示例描述</a:t>
            </a:r>
            <a:endParaRPr lang="en-US" altLang="zh-CN" sz="2800" dirty="0" smtClean="0"/>
          </a:p>
          <a:p>
            <a:r>
              <a:rPr lang="en-US" altLang="zh-CN" sz="2800" dirty="0"/>
              <a:t>Java</a:t>
            </a:r>
            <a:r>
              <a:rPr lang="zh-CN" altLang="en-US" sz="2800" dirty="0" smtClean="0"/>
              <a:t>文件</a:t>
            </a:r>
            <a:endParaRPr lang="en-US" altLang="zh-CN" sz="2800" dirty="0" smtClean="0"/>
          </a:p>
          <a:p>
            <a:r>
              <a:rPr lang="en-US" altLang="zh-CN" sz="2800" dirty="0" smtClean="0"/>
              <a:t>Web</a:t>
            </a:r>
            <a:r>
              <a:rPr lang="zh-CN" altLang="en-US" sz="2800" dirty="0" smtClean="0"/>
              <a:t>页面文件</a:t>
            </a:r>
            <a:endParaRPr lang="en-US" altLang="zh-CN" sz="2800" dirty="0" smtClean="0"/>
          </a:p>
          <a:p>
            <a:r>
              <a:rPr lang="zh-CN" altLang="en-US" sz="2800" dirty="0" smtClean="0"/>
              <a:t>小结</a:t>
            </a:r>
            <a:endParaRPr lang="en-US" altLang="zh-CN" sz="28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示例功能描述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实现功能</a:t>
            </a:r>
            <a:endParaRPr lang="en-US" altLang="zh-CN" dirty="0"/>
          </a:p>
          <a:p>
            <a:pPr lvl="1"/>
            <a:r>
              <a:rPr lang="zh-CN" altLang="en-US" dirty="0" smtClean="0"/>
              <a:t>用户登陆</a:t>
            </a:r>
            <a:endParaRPr lang="en-US" altLang="zh-CN" dirty="0" smtClean="0"/>
          </a:p>
          <a:p>
            <a:pPr lvl="2"/>
            <a:r>
              <a:rPr lang="zh-CN" altLang="en-US" dirty="0"/>
              <a:t>登陆成功</a:t>
            </a:r>
            <a:r>
              <a:rPr lang="zh-CN" altLang="en-US" dirty="0" smtClean="0"/>
              <a:t>后显示当前用户、当前在线人数，实现退出登陆功能</a:t>
            </a:r>
            <a:endParaRPr lang="en-US" altLang="zh-CN" dirty="0" smtClean="0"/>
          </a:p>
          <a:p>
            <a:pPr lvl="1"/>
            <a:r>
              <a:rPr lang="zh-CN" altLang="en-US" dirty="0"/>
              <a:t>用户信息的增加</a:t>
            </a:r>
            <a:r>
              <a:rPr lang="zh-CN" altLang="en-US" dirty="0" smtClean="0"/>
              <a:t>和管理（查询、修改、删除）</a:t>
            </a:r>
            <a:endParaRPr lang="en-US" altLang="zh-CN" dirty="0" smtClean="0"/>
          </a:p>
          <a:p>
            <a:r>
              <a:rPr lang="zh-CN" altLang="en-US" dirty="0" smtClean="0"/>
              <a:t>前提</a:t>
            </a:r>
            <a:endParaRPr lang="en-US" altLang="zh-CN" dirty="0"/>
          </a:p>
          <a:p>
            <a:pPr lvl="1"/>
            <a:r>
              <a:rPr lang="zh-CN" altLang="en-US" dirty="0" smtClean="0"/>
              <a:t>表：</a:t>
            </a:r>
            <a:r>
              <a:rPr lang="en-US" altLang="zh-CN" dirty="0" smtClean="0"/>
              <a:t>user(</a:t>
            </a:r>
            <a:r>
              <a:rPr lang="en-US" altLang="zh-CN" dirty="0" err="1" smtClean="0"/>
              <a:t>id,name,password,sex,age,birthday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1253542"/>
            <a:ext cx="5282873" cy="491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6592920" y="2524834"/>
            <a:ext cx="2218613" cy="398780"/>
            <a:chOff x="2581997" y="3769350"/>
            <a:chExt cx="2218613" cy="398780"/>
          </a:xfrm>
        </p:grpSpPr>
        <p:sp>
          <p:nvSpPr>
            <p:cNvPr id="8" name="矩形 7"/>
            <p:cNvSpPr/>
            <p:nvPr/>
          </p:nvSpPr>
          <p:spPr>
            <a:xfrm>
              <a:off x="3851920" y="3769350"/>
              <a:ext cx="94869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监听器</a:t>
              </a:r>
              <a:endParaRPr lang="zh-CN" altLang="en-US" sz="2000" b="1" dirty="0"/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2581997" y="3982505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5591944" y="3460938"/>
            <a:ext cx="2731693" cy="398780"/>
            <a:chOff x="2581997" y="3769350"/>
            <a:chExt cx="2731693" cy="398780"/>
          </a:xfrm>
        </p:grpSpPr>
        <p:sp>
          <p:nvSpPr>
            <p:cNvPr id="11" name="矩形 10"/>
            <p:cNvSpPr/>
            <p:nvPr/>
          </p:nvSpPr>
          <p:spPr>
            <a:xfrm>
              <a:off x="3851920" y="3769350"/>
              <a:ext cx="146177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smtClean="0"/>
                <a:t>User</a:t>
              </a:r>
              <a:r>
                <a:rPr lang="zh-CN" altLang="en-US" sz="2000" b="1" dirty="0" smtClean="0"/>
                <a:t>操作类</a:t>
              </a:r>
              <a:endParaRPr lang="zh-CN" altLang="en-US" sz="2000" b="1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2581997" y="3982505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4985972" y="4293096"/>
            <a:ext cx="3242233" cy="398780"/>
            <a:chOff x="2581997" y="3769350"/>
            <a:chExt cx="3242233" cy="398780"/>
          </a:xfrm>
        </p:grpSpPr>
        <p:sp>
          <p:nvSpPr>
            <p:cNvPr id="14" name="矩形 13"/>
            <p:cNvSpPr/>
            <p:nvPr/>
          </p:nvSpPr>
          <p:spPr>
            <a:xfrm>
              <a:off x="3851920" y="3769350"/>
              <a:ext cx="197231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smtClean="0"/>
                <a:t>User</a:t>
              </a:r>
              <a:r>
                <a:rPr lang="zh-CN" altLang="en-US" sz="2000" b="1" dirty="0" smtClean="0"/>
                <a:t>数据结构类</a:t>
              </a:r>
              <a:endParaRPr lang="zh-CN" altLang="en-US" sz="2000" b="1" dirty="0"/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2581997" y="3982505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879016" y="5157192"/>
            <a:ext cx="3629583" cy="398780"/>
            <a:chOff x="2581997" y="3769350"/>
            <a:chExt cx="3629583" cy="398780"/>
          </a:xfrm>
        </p:grpSpPr>
        <p:sp>
          <p:nvSpPr>
            <p:cNvPr id="17" name="矩形 16"/>
            <p:cNvSpPr/>
            <p:nvPr/>
          </p:nvSpPr>
          <p:spPr>
            <a:xfrm>
              <a:off x="3851920" y="3769350"/>
              <a:ext cx="235966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smtClean="0"/>
                <a:t>Date String</a:t>
              </a:r>
              <a:r>
                <a:rPr lang="zh-CN" altLang="en-US" sz="2000" b="1" dirty="0" smtClean="0"/>
                <a:t>转换类</a:t>
              </a:r>
              <a:endParaRPr lang="zh-CN" altLang="en-US" sz="2000" b="1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2581997" y="3982505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073547" y="5661248"/>
            <a:ext cx="2985693" cy="398780"/>
            <a:chOff x="2581997" y="3769350"/>
            <a:chExt cx="2985693" cy="398780"/>
          </a:xfrm>
        </p:grpSpPr>
        <p:sp>
          <p:nvSpPr>
            <p:cNvPr id="20" name="矩形 19"/>
            <p:cNvSpPr/>
            <p:nvPr/>
          </p:nvSpPr>
          <p:spPr>
            <a:xfrm>
              <a:off x="3851920" y="3769350"/>
              <a:ext cx="171577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 smtClean="0"/>
                <a:t>DB</a:t>
              </a:r>
              <a:r>
                <a:rPr lang="zh-CN" altLang="en-US" sz="2000" b="1" dirty="0" smtClean="0"/>
                <a:t>连接公共类</a:t>
              </a:r>
              <a:endParaRPr lang="zh-CN" altLang="en-US" sz="2000" b="1" dirty="0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581997" y="3982505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</a:t>
            </a:r>
            <a:r>
              <a:rPr lang="zh-CN" altLang="en-US" dirty="0" smtClean="0"/>
              <a:t>关键代码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56394" y="4725144"/>
            <a:ext cx="15659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User.java</a:t>
            </a:r>
            <a:endParaRPr lang="zh-CN" altLang="en-US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113224"/>
            <a:ext cx="7686214" cy="4940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8616368" y="5733256"/>
            <a:ext cx="15659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7030A0"/>
                </a:solidFill>
              </a:rPr>
              <a:t>User.java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51984" y="3583435"/>
            <a:ext cx="410445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7030A0"/>
                </a:solidFill>
              </a:rPr>
              <a:t>定义</a:t>
            </a:r>
            <a:r>
              <a:rPr lang="zh-CN" altLang="en-US" sz="2400" b="1" dirty="0" smtClean="0">
                <a:solidFill>
                  <a:srgbClr val="7030A0"/>
                </a:solidFill>
              </a:rPr>
              <a:t>了</a:t>
            </a:r>
            <a:r>
              <a:rPr lang="en-US" altLang="zh-CN" sz="2400" b="1" dirty="0" smtClean="0">
                <a:solidFill>
                  <a:srgbClr val="7030A0"/>
                </a:solidFill>
              </a:rPr>
              <a:t>user</a:t>
            </a:r>
            <a:r>
              <a:rPr lang="zh-CN" altLang="en-US" sz="2400" b="1" dirty="0">
                <a:solidFill>
                  <a:srgbClr val="7030A0"/>
                </a:solidFill>
              </a:rPr>
              <a:t>信息的</a:t>
            </a:r>
            <a:r>
              <a:rPr lang="zh-CN" altLang="en-US" sz="2400" b="1" dirty="0" smtClean="0">
                <a:solidFill>
                  <a:srgbClr val="7030A0"/>
                </a:solidFill>
              </a:rPr>
              <a:t>结构，每个对象对应一条用户记录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UserBpo</a:t>
            </a:r>
            <a:r>
              <a:rPr lang="zh-CN" altLang="en-US" dirty="0" smtClean="0"/>
              <a:t>关键代码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616368" y="5733256"/>
            <a:ext cx="20269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7030A0"/>
                </a:solidFill>
              </a:rPr>
              <a:t>UserBpo.java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7" y="1052736"/>
            <a:ext cx="9245355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箭头连接符 6"/>
          <p:cNvCxnSpPr/>
          <p:nvPr/>
        </p:nvCxnSpPr>
        <p:spPr>
          <a:xfrm>
            <a:off x="4223792" y="1988840"/>
            <a:ext cx="108012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4439816" y="2636912"/>
            <a:ext cx="108012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899756" y="3212976"/>
            <a:ext cx="1332148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823136" y="3861048"/>
            <a:ext cx="1332148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773742" y="4437112"/>
            <a:ext cx="1332148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3823136" y="5085184"/>
            <a:ext cx="868708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web</a:t>
            </a:r>
            <a:r>
              <a:rPr lang="zh-CN" altLang="en-US" dirty="0" smtClean="0"/>
              <a:t>页面文件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908720"/>
            <a:ext cx="3888432" cy="5878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1033"/>
          <p:cNvGrpSpPr/>
          <p:nvPr/>
        </p:nvGrpSpPr>
        <p:grpSpPr>
          <a:xfrm>
            <a:off x="3359696" y="1065063"/>
            <a:ext cx="6303704" cy="1440160"/>
            <a:chOff x="1835696" y="1065063"/>
            <a:chExt cx="6303704" cy="144016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840" y="1065063"/>
              <a:ext cx="3328894" cy="1440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" name="直接箭头连接符 7"/>
            <p:cNvCxnSpPr/>
            <p:nvPr/>
          </p:nvCxnSpPr>
          <p:spPr>
            <a:xfrm>
              <a:off x="1835696" y="1484784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6732240" y="1481962"/>
              <a:ext cx="1407160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/>
                <a:t>样式文件</a:t>
              </a:r>
              <a:endParaRPr lang="zh-CN" altLang="en-US" sz="2400" b="1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105997" y="3769350"/>
            <a:ext cx="2473883" cy="398780"/>
            <a:chOff x="2581997" y="3769350"/>
            <a:chExt cx="2473883" cy="398780"/>
          </a:xfrm>
        </p:grpSpPr>
        <p:sp>
          <p:nvSpPr>
            <p:cNvPr id="14" name="矩形 13"/>
            <p:cNvSpPr/>
            <p:nvPr/>
          </p:nvSpPr>
          <p:spPr>
            <a:xfrm>
              <a:off x="3851920" y="3769350"/>
              <a:ext cx="120396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错误页面</a:t>
              </a:r>
              <a:endParaRPr lang="zh-CN" altLang="en-US" sz="2000" b="1" dirty="0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2581997" y="3982505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0" name="组合 1029"/>
          <p:cNvGrpSpPr/>
          <p:nvPr/>
        </p:nvGrpSpPr>
        <p:grpSpPr>
          <a:xfrm>
            <a:off x="4815373" y="6269250"/>
            <a:ext cx="1790728" cy="398780"/>
            <a:chOff x="3291373" y="6269250"/>
            <a:chExt cx="1790728" cy="398780"/>
          </a:xfrm>
        </p:grpSpPr>
        <p:sp>
          <p:nvSpPr>
            <p:cNvPr id="20" name="矩形 19"/>
            <p:cNvSpPr/>
            <p:nvPr/>
          </p:nvSpPr>
          <p:spPr>
            <a:xfrm>
              <a:off x="3878141" y="6269250"/>
              <a:ext cx="120396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登陆校验</a:t>
              </a:r>
              <a:endParaRPr lang="zh-CN" altLang="en-US" sz="2000" b="1" dirty="0"/>
            </a:p>
          </p:txBody>
        </p:sp>
        <p:cxnSp>
          <p:nvCxnSpPr>
            <p:cNvPr id="25" name="直接箭头连接符 24"/>
            <p:cNvCxnSpPr/>
            <p:nvPr/>
          </p:nvCxnSpPr>
          <p:spPr>
            <a:xfrm>
              <a:off x="3291373" y="6525344"/>
              <a:ext cx="704563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9" name="组合 1028"/>
          <p:cNvGrpSpPr/>
          <p:nvPr/>
        </p:nvGrpSpPr>
        <p:grpSpPr>
          <a:xfrm>
            <a:off x="5083740" y="5895624"/>
            <a:ext cx="3027760" cy="398780"/>
            <a:chOff x="3559740" y="5895624"/>
            <a:chExt cx="3027760" cy="398780"/>
          </a:xfrm>
        </p:grpSpPr>
        <p:sp>
          <p:nvSpPr>
            <p:cNvPr id="19" name="矩形 18"/>
            <p:cNvSpPr/>
            <p:nvPr/>
          </p:nvSpPr>
          <p:spPr>
            <a:xfrm>
              <a:off x="3851920" y="5895624"/>
              <a:ext cx="27355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登陆成功后应用主界面</a:t>
              </a:r>
              <a:endParaRPr lang="zh-CN" altLang="en-US" sz="2000" b="1" dirty="0"/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3559740" y="6095679"/>
              <a:ext cx="413391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5" name="组合 1024"/>
          <p:cNvGrpSpPr/>
          <p:nvPr/>
        </p:nvGrpSpPr>
        <p:grpSpPr>
          <a:xfrm>
            <a:off x="4116826" y="5462524"/>
            <a:ext cx="2435154" cy="398780"/>
            <a:chOff x="2592826" y="5462524"/>
            <a:chExt cx="2435154" cy="398780"/>
          </a:xfrm>
        </p:grpSpPr>
        <p:sp>
          <p:nvSpPr>
            <p:cNvPr id="18" name="矩形 17"/>
            <p:cNvSpPr/>
            <p:nvPr/>
          </p:nvSpPr>
          <p:spPr>
            <a:xfrm>
              <a:off x="3824020" y="5462524"/>
              <a:ext cx="120396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登陆界面</a:t>
              </a:r>
              <a:endParaRPr lang="zh-CN" altLang="en-US" sz="2000" b="1" dirty="0"/>
            </a:p>
          </p:txBody>
        </p:sp>
        <p:cxnSp>
          <p:nvCxnSpPr>
            <p:cNvPr id="27" name="直接箭头连接符 26"/>
            <p:cNvCxnSpPr/>
            <p:nvPr/>
          </p:nvCxnSpPr>
          <p:spPr>
            <a:xfrm>
              <a:off x="2592826" y="5662579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" name="组合 1023"/>
          <p:cNvGrpSpPr/>
          <p:nvPr/>
        </p:nvGrpSpPr>
        <p:grpSpPr>
          <a:xfrm>
            <a:off x="4312568" y="5042451"/>
            <a:ext cx="2631674" cy="398780"/>
            <a:chOff x="2788568" y="5042451"/>
            <a:chExt cx="2631674" cy="398780"/>
          </a:xfrm>
        </p:grpSpPr>
        <p:sp>
          <p:nvSpPr>
            <p:cNvPr id="17" name="矩形 16"/>
            <p:cNvSpPr/>
            <p:nvPr/>
          </p:nvSpPr>
          <p:spPr>
            <a:xfrm>
              <a:off x="3961012" y="5042451"/>
              <a:ext cx="145923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页面头文件</a:t>
              </a:r>
              <a:endParaRPr lang="zh-CN" altLang="en-US" sz="2000" b="1" dirty="0"/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2788568" y="5242506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4200987" y="4630899"/>
            <a:ext cx="1868353" cy="398780"/>
            <a:chOff x="2676987" y="4630899"/>
            <a:chExt cx="1868353" cy="398780"/>
          </a:xfrm>
        </p:grpSpPr>
        <p:sp>
          <p:nvSpPr>
            <p:cNvPr id="16" name="矩形 15"/>
            <p:cNvSpPr/>
            <p:nvPr/>
          </p:nvSpPr>
          <p:spPr>
            <a:xfrm>
              <a:off x="3851920" y="4630899"/>
              <a:ext cx="69342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页脚</a:t>
              </a:r>
              <a:endParaRPr lang="zh-CN" altLang="en-US" sz="2000" b="1" dirty="0"/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2676987" y="4855428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4095293" y="4253026"/>
            <a:ext cx="2412579" cy="398780"/>
            <a:chOff x="2571293" y="4253026"/>
            <a:chExt cx="2412579" cy="398780"/>
          </a:xfrm>
        </p:grpSpPr>
        <p:sp>
          <p:nvSpPr>
            <p:cNvPr id="13" name="矩形 12"/>
            <p:cNvSpPr/>
            <p:nvPr/>
          </p:nvSpPr>
          <p:spPr>
            <a:xfrm>
              <a:off x="3779912" y="4253026"/>
              <a:ext cx="120396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退出登陆</a:t>
              </a:r>
              <a:endParaRPr lang="zh-CN" altLang="en-US" sz="2000" b="1" dirty="0"/>
            </a:p>
          </p:txBody>
        </p:sp>
        <p:cxnSp>
          <p:nvCxnSpPr>
            <p:cNvPr id="30" name="直接箭头连接符 29"/>
            <p:cNvCxnSpPr/>
            <p:nvPr/>
          </p:nvCxnSpPr>
          <p:spPr>
            <a:xfrm>
              <a:off x="2571293" y="4450854"/>
              <a:ext cx="1296144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3" name="组合 1032"/>
          <p:cNvGrpSpPr/>
          <p:nvPr/>
        </p:nvGrpSpPr>
        <p:grpSpPr>
          <a:xfrm>
            <a:off x="3552915" y="2348245"/>
            <a:ext cx="3246174" cy="555758"/>
            <a:chOff x="2028915" y="2348245"/>
            <a:chExt cx="3246174" cy="555758"/>
          </a:xfrm>
        </p:grpSpPr>
        <p:cxnSp>
          <p:nvCxnSpPr>
            <p:cNvPr id="39" name="直接箭头连接符 38"/>
            <p:cNvCxnSpPr>
              <a:endCxn id="41" idx="1"/>
            </p:cNvCxnSpPr>
            <p:nvPr/>
          </p:nvCxnSpPr>
          <p:spPr>
            <a:xfrm>
              <a:off x="2028915" y="2348245"/>
              <a:ext cx="1276404" cy="35639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>
              <a:off x="3305319" y="2505223"/>
              <a:ext cx="196977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/>
                <a:t>用户管理文件夹</a:t>
              </a:r>
              <a:endParaRPr lang="zh-CN" altLang="en-US" sz="2000" b="1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web</a:t>
            </a:r>
            <a:r>
              <a:rPr lang="zh-CN" altLang="en-US" dirty="0" smtClean="0"/>
              <a:t>页面文件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908720"/>
            <a:ext cx="3096344" cy="468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057527"/>
            <a:ext cx="4010966" cy="3509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箭头连接符 6"/>
          <p:cNvCxnSpPr/>
          <p:nvPr/>
        </p:nvCxnSpPr>
        <p:spPr>
          <a:xfrm flipV="1">
            <a:off x="3107668" y="1412776"/>
            <a:ext cx="1764196" cy="62367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829134" y="2822566"/>
            <a:ext cx="196977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用户管理</a:t>
            </a:r>
            <a:r>
              <a:rPr lang="zh-CN" altLang="en-US" sz="2000" b="1" dirty="0">
                <a:solidFill>
                  <a:srgbClr val="7030A0"/>
                </a:solidFill>
              </a:rPr>
              <a:t>主界面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29134" y="1524556"/>
            <a:ext cx="215529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提交增加的信息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186149" y="3754091"/>
            <a:ext cx="223224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保存修改后的信息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320136" y="3244914"/>
            <a:ext cx="32403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用户相关界面引用的菜单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836670" y="2016229"/>
            <a:ext cx="178772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增加信息界面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560812" y="4181018"/>
            <a:ext cx="1787722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修改信息界面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829134" y="2412215"/>
            <a:ext cx="215529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删除指定信息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348146" y="5189340"/>
            <a:ext cx="363474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*_</a:t>
            </a:r>
            <a:r>
              <a:rPr lang="en-US" altLang="zh-CN" sz="2000" b="1" dirty="0" err="1" smtClean="0"/>
              <a:t>do.jsp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只有逻辑，没有界面</a:t>
            </a:r>
            <a:endParaRPr lang="zh-CN" altLang="en-US" sz="2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256790" y="836930"/>
            <a:ext cx="1381125" cy="39878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p>
            <a:r>
              <a:rPr lang="en-US" altLang="zh-CN" sz="2000" b="1"/>
              <a:t>webapp</a:t>
            </a:r>
            <a:endParaRPr lang="en-US" altLang="zh-CN" sz="2000" b="1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  <p:bldP spid="16" grpId="0"/>
      <p:bldP spid="17" grpId="0"/>
      <p:bldP spid="18" grpId="0"/>
      <p:bldP spid="19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MagUser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550629" y="5834880"/>
            <a:ext cx="1873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MagUser.jsp</a:t>
            </a:r>
            <a:endParaRPr lang="zh-CN" altLang="en-US" sz="24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24255"/>
            <a:ext cx="9919335" cy="535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箭头连接符 6"/>
          <p:cNvCxnSpPr/>
          <p:nvPr/>
        </p:nvCxnSpPr>
        <p:spPr>
          <a:xfrm>
            <a:off x="3539401" y="4940903"/>
            <a:ext cx="5112568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3503841" y="5516731"/>
            <a:ext cx="5472608" cy="2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703512" y="1484531"/>
            <a:ext cx="324036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351331" y="2852430"/>
            <a:ext cx="2664296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905" y="908719"/>
            <a:ext cx="8807575" cy="525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UpdateUser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06417" y="5870386"/>
            <a:ext cx="23342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UpdateUser.jsp</a:t>
            </a:r>
            <a:endParaRPr lang="zh-CN" altLang="en-US" sz="2400" b="1" dirty="0"/>
          </a:p>
        </p:txBody>
      </p:sp>
      <p:sp>
        <p:nvSpPr>
          <p:cNvPr id="18" name="圆角矩形 17"/>
          <p:cNvSpPr/>
          <p:nvPr/>
        </p:nvSpPr>
        <p:spPr>
          <a:xfrm>
            <a:off x="1524000" y="1169499"/>
            <a:ext cx="8460432" cy="22595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003704" y="2763636"/>
            <a:ext cx="2664296" cy="163004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本应用所有</a:t>
            </a:r>
            <a:r>
              <a:rPr lang="en-US" altLang="zh-CN" sz="2000" b="1" dirty="0" err="1" smtClean="0">
                <a:solidFill>
                  <a:srgbClr val="7030A0"/>
                </a:solidFill>
              </a:rPr>
              <a:t>jsp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页面都应有的代码，解决两个问题：</a:t>
            </a:r>
            <a:endParaRPr lang="en-US" altLang="zh-CN" sz="2000" b="1" dirty="0" smtClean="0">
              <a:solidFill>
                <a:srgbClr val="7030A0"/>
              </a:solidFill>
            </a:endParaRPr>
          </a:p>
          <a:p>
            <a:r>
              <a:rPr lang="en-US" altLang="zh-CN" sz="2000" b="1" dirty="0" smtClean="0">
                <a:solidFill>
                  <a:srgbClr val="002060"/>
                </a:solidFill>
              </a:rPr>
              <a:t>(1)</a:t>
            </a:r>
            <a:r>
              <a:rPr lang="zh-CN" altLang="en-US" sz="2000" b="1" dirty="0" smtClean="0">
                <a:solidFill>
                  <a:srgbClr val="002060"/>
                </a:solidFill>
              </a:rPr>
              <a:t>乱码</a:t>
            </a:r>
            <a:endParaRPr lang="en-US" altLang="zh-CN" sz="2000" b="1" dirty="0" smtClean="0">
              <a:solidFill>
                <a:srgbClr val="002060"/>
              </a:solidFill>
            </a:endParaRPr>
          </a:p>
          <a:p>
            <a:r>
              <a:rPr lang="en-US" altLang="zh-CN" sz="2000" b="1" dirty="0" smtClean="0">
                <a:solidFill>
                  <a:srgbClr val="002060"/>
                </a:solidFill>
              </a:rPr>
              <a:t>(2)</a:t>
            </a:r>
            <a:r>
              <a:rPr lang="zh-CN" altLang="en-US" sz="2000" b="1" dirty="0" smtClean="0">
                <a:solidFill>
                  <a:srgbClr val="002060"/>
                </a:solidFill>
              </a:rPr>
              <a:t>登陆验证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557605" y="3933056"/>
            <a:ext cx="5266587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608905" y="5517232"/>
            <a:ext cx="5266587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UpdateUser</a:t>
            </a:r>
            <a:r>
              <a:rPr lang="en-US" altLang="zh-CN" dirty="0" smtClean="0"/>
              <a:t>-</a:t>
            </a:r>
            <a:r>
              <a:rPr lang="zh-CN" altLang="en-US" dirty="0" smtClean="0"/>
              <a:t>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196752"/>
            <a:ext cx="9086850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8256240" y="5842166"/>
            <a:ext cx="23342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UpdateUser.jsp</a:t>
            </a:r>
            <a:endParaRPr lang="zh-CN" altLang="en-US" sz="2400" b="1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2670731" y="1412776"/>
            <a:ext cx="3672408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063219" y="2924944"/>
            <a:ext cx="216024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487155" y="3429000"/>
            <a:ext cx="216024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487155" y="3933056"/>
            <a:ext cx="216024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7063219" y="4365104"/>
            <a:ext cx="2160240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UpdateUser_do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890588"/>
            <a:ext cx="9077325" cy="520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536160" y="5862463"/>
            <a:ext cx="27952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UpdateUser_do.jsp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2999656" y="5917027"/>
            <a:ext cx="35496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</a:rPr>
              <a:t>只有处理逻辑，没有界面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2633337" y="3933056"/>
            <a:ext cx="3954161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919536" y="5445224"/>
            <a:ext cx="2376264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555610" y="5183615"/>
            <a:ext cx="557283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</a:rPr>
              <a:t>若有异常抛出则转到</a:t>
            </a:r>
            <a:r>
              <a:rPr lang="en-US" altLang="zh-CN" sz="2000" b="1" dirty="0" err="1" smtClean="0">
                <a:solidFill>
                  <a:srgbClr val="7030A0"/>
                </a:solidFill>
              </a:rPr>
              <a:t>error.jsp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，否则继续执行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DelUser_do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36160" y="5862463"/>
            <a:ext cx="23342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/>
              <a:t>Del</a:t>
            </a:r>
            <a:r>
              <a:rPr lang="en-US" altLang="zh-CN" sz="2400" b="1" dirty="0" err="1" smtClean="0"/>
              <a:t>User_do.jsp</a:t>
            </a:r>
            <a:endParaRPr lang="zh-CN" altLang="en-US" sz="24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793" y="1268760"/>
            <a:ext cx="8511647" cy="456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箭头连接符 6"/>
          <p:cNvCxnSpPr/>
          <p:nvPr/>
        </p:nvCxnSpPr>
        <p:spPr>
          <a:xfrm>
            <a:off x="2135560" y="5013176"/>
            <a:ext cx="5904656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135560" y="5301208"/>
            <a:ext cx="3665056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AddUser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36160" y="5862463"/>
            <a:ext cx="187325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AddUser.jsp</a:t>
            </a:r>
            <a:endParaRPr lang="zh-CN" altLang="en-US" sz="24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1412240"/>
            <a:ext cx="10685145" cy="381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箭头连接符 6"/>
          <p:cNvCxnSpPr/>
          <p:nvPr/>
        </p:nvCxnSpPr>
        <p:spPr>
          <a:xfrm>
            <a:off x="1704013" y="1700684"/>
            <a:ext cx="2952115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45" y="922020"/>
            <a:ext cx="10380980" cy="607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AddUser_do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82565" y="6245368"/>
            <a:ext cx="23342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AddUser_do.jsp</a:t>
            </a:r>
            <a:endParaRPr lang="zh-CN" altLang="en-US" sz="2400" b="1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006475" y="5417820"/>
            <a:ext cx="9338310" cy="27305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006535" y="6135722"/>
            <a:ext cx="2088232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750956" y="3911128"/>
            <a:ext cx="15659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error.jsp</a:t>
            </a:r>
            <a:endParaRPr lang="zh-CN" altLang="en-US" sz="2400" b="1" dirty="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6600190" y="4077335"/>
            <a:ext cx="2304415" cy="8636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使用</a:t>
            </a: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JSP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实现基本业务功能</a:t>
            </a:r>
            <a:endParaRPr lang="zh-CN" altLang="en-US" sz="2800" dirty="0" smtClean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" name="右箭头 3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WPS 演示</Application>
  <PresentationFormat>全屏显示(4:3)</PresentationFormat>
  <Paragraphs>155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Tahoma</vt:lpstr>
      <vt:lpstr>Times New Roman</vt:lpstr>
      <vt:lpstr>华文新魏</vt:lpstr>
      <vt:lpstr>隶书</vt:lpstr>
      <vt:lpstr>Monotype Sorts</vt:lpstr>
      <vt:lpstr>Wingdings</vt:lpstr>
      <vt:lpstr>楷体_GB2312</vt:lpstr>
      <vt:lpstr>新宋体</vt:lpstr>
      <vt:lpstr>华文楷体</vt:lpstr>
      <vt:lpstr>微软雅黑</vt:lpstr>
      <vt:lpstr>Arial Unicode MS</vt:lpstr>
      <vt:lpstr>Calibri</vt:lpstr>
      <vt:lpstr>楷体_GB2312</vt:lpstr>
      <vt:lpstr>Office 主题</vt:lpstr>
      <vt:lpstr>数据库原理及应用</vt:lpstr>
      <vt:lpstr>PowerPoint 演示文稿</vt:lpstr>
      <vt:lpstr>JSP综合示例</vt:lpstr>
      <vt:lpstr>示例功能描述</vt:lpstr>
      <vt:lpstr>Java文件</vt:lpstr>
      <vt:lpstr>User关键代码</vt:lpstr>
      <vt:lpstr>UserBpo关键代码</vt:lpstr>
      <vt:lpstr>web页面文件1</vt:lpstr>
      <vt:lpstr>web页面文件2</vt:lpstr>
      <vt:lpstr>MagUser</vt:lpstr>
      <vt:lpstr>UpdateUser</vt:lpstr>
      <vt:lpstr>UpdateUser-续</vt:lpstr>
      <vt:lpstr>UpdateUser_do</vt:lpstr>
      <vt:lpstr>DelUser_do</vt:lpstr>
      <vt:lpstr>AddUser</vt:lpstr>
      <vt:lpstr>AddUser_do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774</cp:revision>
  <dcterms:created xsi:type="dcterms:W3CDTF">2015-08-18T14:24:00Z</dcterms:created>
  <dcterms:modified xsi:type="dcterms:W3CDTF">2022-09-21T09:02:53Z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F9D29AA7EAB14FC5AE510A0BEAD2144F</vt:lpwstr>
  </property>
</Properties>
</file>