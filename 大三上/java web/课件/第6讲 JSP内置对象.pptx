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75" r:id="rId7"/>
    <p:sldId id="276" r:id="rId8"/>
    <p:sldId id="277" r:id="rId9"/>
    <p:sldId id="314" r:id="rId10"/>
    <p:sldId id="278" r:id="rId11"/>
    <p:sldId id="285" r:id="rId12"/>
    <p:sldId id="286" r:id="rId13"/>
    <p:sldId id="315" r:id="rId14"/>
    <p:sldId id="316" r:id="rId15"/>
    <p:sldId id="287" r:id="rId16"/>
    <p:sldId id="288" r:id="rId17"/>
    <p:sldId id="289" r:id="rId18"/>
    <p:sldId id="290" r:id="rId19"/>
    <p:sldId id="317" r:id="rId20"/>
    <p:sldId id="321" r:id="rId21"/>
    <p:sldId id="322" r:id="rId22"/>
    <p:sldId id="323" r:id="rId23"/>
    <p:sldId id="324" r:id="rId24"/>
    <p:sldId id="325" r:id="rId25"/>
    <p:sldId id="320" r:id="rId26"/>
    <p:sldId id="291" r:id="rId27"/>
    <p:sldId id="292" r:id="rId28"/>
    <p:sldId id="326" r:id="rId29"/>
    <p:sldId id="328" r:id="rId30"/>
    <p:sldId id="327" r:id="rId31"/>
    <p:sldId id="329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</p:sldIdLst>
  <p:sldSz cx="12192000" cy="6858000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45A5"/>
    <a:srgbClr val="F5F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253" autoAdjust="0"/>
  </p:normalViewPr>
  <p:slideViewPr>
    <p:cSldViewPr>
      <p:cViewPr>
        <p:scale>
          <a:sx n="70" d="100"/>
          <a:sy n="70" d="100"/>
        </p:scale>
        <p:origin x="-1144" y="-140"/>
      </p:cViewPr>
      <p:guideLst>
        <p:guide orient="horz" pos="2160"/>
        <p:guide pos="384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5" Type="http://schemas.openxmlformats.org/officeDocument/2006/relationships/tags" Target="tags/tag1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29097-885C-4E18-988A-97AD7C0E64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F78AD-FB37-400B-8A0A-118CFF0CC70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fld id="{3E58F3F5-6AF7-4AC8-8768-8A9587842B63}" type="slidenum">
              <a:rPr lang="en-US" altLang="zh-CN" sz="1200" b="0" smtClean="0">
                <a:solidFill>
                  <a:prstClr val="black"/>
                </a:solidFill>
                <a:latin typeface="Arial" panose="020B0604020202020204" pitchFamily="34" charset="0"/>
              </a:rPr>
            </a:fld>
            <a:endParaRPr lang="en-US" altLang="zh-CN" sz="1200" b="0" smtClean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F78AD-FB37-400B-8A0A-118CFF0CC7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 smtClean="0"/>
              <a:t>它有多个重载的方法可以输出基本数据类型（</a:t>
            </a:r>
            <a:r>
              <a:rPr lang="en-US" altLang="zh-CN" sz="1200" dirty="0" err="1" smtClean="0"/>
              <a:t>boolean</a:t>
            </a:r>
            <a:r>
              <a:rPr lang="zh-CN" altLang="en-US" sz="1200" dirty="0" smtClean="0"/>
              <a:t>、</a:t>
            </a:r>
            <a:r>
              <a:rPr lang="en-US" altLang="zh-CN" sz="1200" dirty="0" smtClean="0"/>
              <a:t>char</a:t>
            </a:r>
            <a:r>
              <a:rPr lang="zh-CN" altLang="en-US" sz="1200" dirty="0" smtClean="0"/>
              <a:t>、</a:t>
            </a:r>
            <a:r>
              <a:rPr lang="en-US" altLang="zh-CN" sz="1200" dirty="0" smtClean="0"/>
              <a:t>char[]</a:t>
            </a:r>
            <a:r>
              <a:rPr lang="zh-CN" altLang="en-US" sz="1200" dirty="0" smtClean="0"/>
              <a:t>、</a:t>
            </a:r>
            <a:r>
              <a:rPr lang="en-US" altLang="zh-CN" sz="1200" dirty="0" smtClean="0"/>
              <a:t>double</a:t>
            </a:r>
            <a:r>
              <a:rPr lang="zh-CN" altLang="en-US" sz="1200" dirty="0" smtClean="0"/>
              <a:t>、</a:t>
            </a:r>
            <a:r>
              <a:rPr lang="en-US" altLang="zh-CN" sz="1200" dirty="0" smtClean="0"/>
              <a:t>float</a:t>
            </a:r>
            <a:r>
              <a:rPr lang="zh-CN" altLang="en-US" sz="1200" dirty="0" smtClean="0"/>
              <a:t>、</a:t>
            </a:r>
            <a:r>
              <a:rPr lang="en-US" altLang="zh-CN" sz="1200" dirty="0" err="1" smtClean="0"/>
              <a:t>int</a:t>
            </a:r>
            <a:r>
              <a:rPr lang="zh-CN" altLang="en-US" sz="1200" dirty="0" smtClean="0"/>
              <a:t>、</a:t>
            </a:r>
            <a:r>
              <a:rPr lang="en-US" altLang="zh-CN" sz="1200" dirty="0" smtClean="0"/>
              <a:t>long</a:t>
            </a:r>
            <a:r>
              <a:rPr lang="zh-CN" altLang="en-US" sz="1200" dirty="0" smtClean="0"/>
              <a:t>）、</a:t>
            </a:r>
            <a:r>
              <a:rPr lang="en-US" altLang="zh-CN" sz="1200" dirty="0" smtClean="0"/>
              <a:t>String</a:t>
            </a:r>
            <a:r>
              <a:rPr lang="zh-CN" altLang="en-US" sz="1200" dirty="0" smtClean="0"/>
              <a:t>类型、</a:t>
            </a:r>
            <a:r>
              <a:rPr lang="en-US" altLang="zh-CN" sz="1200" dirty="0" smtClean="0"/>
              <a:t>Object</a:t>
            </a:r>
            <a:r>
              <a:rPr lang="zh-CN" altLang="en-US" sz="1200" dirty="0" smtClean="0"/>
              <a:t>类型等。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F78AD-FB37-400B-8A0A-118CFF0CC7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F78AD-FB37-400B-8A0A-118CFF0CC7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/>
              <a:t>当客户（浏览器如</a:t>
            </a:r>
            <a:r>
              <a:rPr lang="en-US" altLang="zh-CN" sz="1200" dirty="0" smtClean="0"/>
              <a:t>IE</a:t>
            </a:r>
            <a:r>
              <a:rPr lang="zh-CN" altLang="en-US" sz="1200" dirty="0" smtClean="0"/>
              <a:t>）访问服务器上的一个</a:t>
            </a:r>
            <a:r>
              <a:rPr lang="en-US" altLang="zh-CN" sz="1200" dirty="0" smtClean="0"/>
              <a:t>JSP</a:t>
            </a:r>
            <a:r>
              <a:rPr lang="zh-CN" altLang="en-US" sz="1200" dirty="0" smtClean="0"/>
              <a:t>页面时，</a:t>
            </a:r>
            <a:r>
              <a:rPr lang="en-US" altLang="zh-CN" sz="1200" dirty="0" smtClean="0"/>
              <a:t>JSP</a:t>
            </a:r>
            <a:r>
              <a:rPr lang="zh-CN" altLang="en-US" sz="1200" dirty="0" smtClean="0"/>
              <a:t>引擎（如</a:t>
            </a:r>
            <a:r>
              <a:rPr lang="en-US" altLang="zh-CN" sz="1200" dirty="0" smtClean="0"/>
              <a:t>Tomcat</a:t>
            </a:r>
            <a:r>
              <a:rPr lang="zh-CN" altLang="en-US" sz="1200" dirty="0" smtClean="0"/>
              <a:t>）会产生一个</a:t>
            </a:r>
            <a:r>
              <a:rPr lang="en-US" altLang="zh-CN" sz="1200" dirty="0" smtClean="0"/>
              <a:t>session</a:t>
            </a:r>
            <a:r>
              <a:rPr lang="zh-CN" altLang="en-US" sz="1200" dirty="0" smtClean="0"/>
              <a:t>对象（此对象在服务器上内存中），该</a:t>
            </a:r>
            <a:r>
              <a:rPr lang="en-US" altLang="zh-CN" sz="1200" dirty="0" smtClean="0"/>
              <a:t>session</a:t>
            </a:r>
            <a:r>
              <a:rPr lang="zh-CN" altLang="en-US" sz="1200" dirty="0" smtClean="0"/>
              <a:t>对象有一个</a:t>
            </a:r>
            <a:r>
              <a:rPr lang="en-US" altLang="zh-CN" sz="1200" dirty="0" smtClean="0"/>
              <a:t>String</a:t>
            </a:r>
            <a:r>
              <a:rPr lang="zh-CN" altLang="en-US" sz="1200" dirty="0" smtClean="0"/>
              <a:t>类型的</a:t>
            </a:r>
            <a:r>
              <a:rPr lang="en-US" altLang="zh-CN" sz="1200" dirty="0" smtClean="0"/>
              <a:t>ID</a:t>
            </a:r>
            <a:r>
              <a:rPr lang="zh-CN" altLang="en-US" sz="1200" dirty="0" smtClean="0"/>
              <a:t>号，能唯一区分该</a:t>
            </a:r>
            <a:r>
              <a:rPr lang="en-US" altLang="zh-CN" sz="1200" dirty="0" smtClean="0"/>
              <a:t>session</a:t>
            </a:r>
            <a:r>
              <a:rPr lang="zh-CN" altLang="en-US" sz="1200" dirty="0" smtClean="0"/>
              <a:t>。</a:t>
            </a:r>
            <a:r>
              <a:rPr lang="en-US" altLang="zh-CN" sz="1200" dirty="0" smtClean="0"/>
              <a:t>JSP</a:t>
            </a:r>
            <a:r>
              <a:rPr lang="zh-CN" altLang="en-US" sz="1200" dirty="0" smtClean="0"/>
              <a:t>引擎同时将这个</a:t>
            </a:r>
            <a:r>
              <a:rPr lang="en-US" altLang="zh-CN" sz="1200" dirty="0" smtClean="0"/>
              <a:t>ID</a:t>
            </a:r>
            <a:r>
              <a:rPr lang="zh-CN" altLang="en-US" sz="1200" dirty="0" smtClean="0"/>
              <a:t>号发送到客户端，如果客户端允许使用</a:t>
            </a:r>
            <a:r>
              <a:rPr lang="en-US" altLang="zh-CN" sz="1200" dirty="0" smtClean="0"/>
              <a:t>cookie</a:t>
            </a:r>
            <a:r>
              <a:rPr lang="zh-CN" altLang="en-US" sz="1200" dirty="0" smtClean="0"/>
              <a:t>就将</a:t>
            </a:r>
            <a:r>
              <a:rPr lang="en-US" altLang="zh-CN" sz="1200" dirty="0" smtClean="0"/>
              <a:t>ID</a:t>
            </a:r>
            <a:r>
              <a:rPr lang="zh-CN" altLang="en-US" sz="1200" dirty="0" smtClean="0"/>
              <a:t>放在</a:t>
            </a:r>
            <a:r>
              <a:rPr lang="en-US" altLang="zh-CN" sz="1200" dirty="0" smtClean="0"/>
              <a:t>cookie</a:t>
            </a:r>
            <a:r>
              <a:rPr lang="zh-CN" altLang="en-US" sz="1200" dirty="0" smtClean="0"/>
              <a:t>中；客户端不允许使用</a:t>
            </a:r>
            <a:r>
              <a:rPr lang="en-US" altLang="zh-CN" sz="1200" dirty="0" smtClean="0"/>
              <a:t>cookie</a:t>
            </a:r>
            <a:r>
              <a:rPr lang="zh-CN" altLang="en-US" sz="1200" dirty="0" smtClean="0"/>
              <a:t>就将该</a:t>
            </a:r>
            <a:r>
              <a:rPr lang="en-US" altLang="zh-CN" sz="1200" dirty="0" smtClean="0"/>
              <a:t>ID</a:t>
            </a:r>
            <a:r>
              <a:rPr lang="zh-CN" altLang="en-US" sz="1200" dirty="0" smtClean="0"/>
              <a:t>放在</a:t>
            </a:r>
            <a:r>
              <a:rPr lang="en-US" altLang="zh-CN" sz="1200" dirty="0" smtClean="0"/>
              <a:t>URL</a:t>
            </a:r>
            <a:r>
              <a:rPr lang="zh-CN" altLang="en-US" sz="1200" dirty="0" smtClean="0"/>
              <a:t>的结尾。这样</a:t>
            </a:r>
            <a:r>
              <a:rPr lang="en-US" altLang="zh-CN" sz="1200" dirty="0" smtClean="0"/>
              <a:t>session</a:t>
            </a:r>
            <a:r>
              <a:rPr lang="zh-CN" altLang="en-US" sz="1200" dirty="0" smtClean="0"/>
              <a:t>对象与客户之间建立了一对一的关系。当客户再访问该服务器的其他页面时，不再给客户分配新的</a:t>
            </a:r>
            <a:r>
              <a:rPr lang="en-US" altLang="zh-CN" sz="1200" dirty="0" smtClean="0"/>
              <a:t>session</a:t>
            </a:r>
            <a:r>
              <a:rPr lang="zh-CN" altLang="en-US" sz="1200" dirty="0" smtClean="0"/>
              <a:t>对象，直到客户浏览器关闭或者</a:t>
            </a:r>
            <a:r>
              <a:rPr lang="en-US" altLang="zh-CN" sz="1200" dirty="0" smtClean="0"/>
              <a:t>session</a:t>
            </a:r>
            <a:r>
              <a:rPr lang="zh-CN" altLang="en-US" sz="1200" dirty="0" smtClean="0"/>
              <a:t>过期或者调用了</a:t>
            </a:r>
            <a:r>
              <a:rPr lang="en-US" altLang="zh-CN" sz="1200" dirty="0" smtClean="0"/>
              <a:t>session</a:t>
            </a:r>
            <a:r>
              <a:rPr lang="zh-CN" altLang="en-US" sz="1200" dirty="0" smtClean="0"/>
              <a:t>对象的</a:t>
            </a:r>
            <a:r>
              <a:rPr lang="en-US" altLang="zh-CN" sz="1200" dirty="0" smtClean="0"/>
              <a:t>invalidate</a:t>
            </a:r>
            <a:r>
              <a:rPr lang="zh-CN" altLang="en-US" sz="1200" dirty="0" smtClean="0"/>
              <a:t>方法。当客户重新打开浏览器再次访问该服务器时，服务器会为该客户重新在创建一个新的</a:t>
            </a:r>
            <a:r>
              <a:rPr lang="en-US" altLang="zh-CN" sz="1200" dirty="0" smtClean="0"/>
              <a:t>session</a:t>
            </a:r>
            <a:r>
              <a:rPr lang="zh-CN" altLang="en-US" sz="1200" dirty="0" smtClean="0"/>
              <a:t>对象。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F78AD-FB37-400B-8A0A-118CFF0CC7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F78AD-FB37-400B-8A0A-118CFF0CC7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F78AD-FB37-400B-8A0A-118CFF0CC7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/>
              <a:t>假如我们在</a:t>
            </a:r>
            <a:r>
              <a:rPr lang="en-US" altLang="zh-CN" sz="1200" dirty="0" err="1" smtClean="0"/>
              <a:t>a.jsp</a:t>
            </a:r>
            <a:r>
              <a:rPr lang="zh-CN" altLang="en-US" sz="1200" dirty="0" smtClean="0"/>
              <a:t>中保存一个属性对象，那么只能在</a:t>
            </a:r>
            <a:r>
              <a:rPr lang="en-US" altLang="zh-CN" sz="1200" dirty="0" err="1" smtClean="0"/>
              <a:t>a.jsp</a:t>
            </a:r>
            <a:r>
              <a:rPr lang="zh-CN" altLang="en-US" sz="1200" dirty="0" smtClean="0"/>
              <a:t>中取得该属性对象，即使用服务器端的跳转方式到</a:t>
            </a:r>
            <a:r>
              <a:rPr lang="en-US" altLang="zh-CN" sz="1200" dirty="0" err="1" smtClean="0"/>
              <a:t>b.jsp</a:t>
            </a:r>
            <a:r>
              <a:rPr lang="zh-CN" altLang="en-US" sz="1200" dirty="0" smtClean="0"/>
              <a:t>也不能在</a:t>
            </a:r>
            <a:r>
              <a:rPr lang="en-US" altLang="zh-CN" sz="1200" dirty="0" err="1" smtClean="0"/>
              <a:t>b.jsp</a:t>
            </a:r>
            <a:r>
              <a:rPr lang="zh-CN" altLang="en-US" sz="1200" dirty="0" smtClean="0"/>
              <a:t>取得该属性对象。</a:t>
            </a:r>
            <a:endParaRPr lang="zh-CN" altLang="en-US" sz="12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F78AD-FB37-400B-8A0A-118CFF0CC7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客户端跳转：</a:t>
            </a:r>
            <a:endParaRPr lang="en-US" altLang="zh-CN" dirty="0" smtClean="0"/>
          </a:p>
          <a:p>
            <a:r>
              <a:rPr lang="en-US" altLang="zh-CN" dirty="0" err="1" smtClean="0"/>
              <a:t>Response.sendRedirect</a:t>
            </a:r>
            <a:r>
              <a:rPr lang="en-US" altLang="zh-CN" dirty="0" smtClean="0"/>
              <a:t>(“</a:t>
            </a:r>
            <a:r>
              <a:rPr lang="en-US" altLang="zh-CN" dirty="0" err="1" smtClean="0"/>
              <a:t>url</a:t>
            </a:r>
            <a:r>
              <a:rPr lang="en-US" altLang="zh-CN" dirty="0" smtClean="0"/>
              <a:t>”);</a:t>
            </a:r>
            <a:endParaRPr lang="en-US" altLang="zh-CN" dirty="0" smtClean="0"/>
          </a:p>
          <a:p>
            <a:r>
              <a:rPr lang="en-US" altLang="zh-CN" dirty="0" smtClean="0"/>
              <a:t>&lt;a&gt;</a:t>
            </a:r>
            <a:endParaRPr lang="en-US" altLang="zh-CN" dirty="0" smtClean="0"/>
          </a:p>
          <a:p>
            <a:r>
              <a:rPr lang="en-US" altLang="zh-CN" dirty="0" smtClean="0"/>
              <a:t>&lt;form action=“”&gt;</a:t>
            </a:r>
            <a:endParaRPr lang="en-US" altLang="zh-CN" dirty="0" smtClean="0"/>
          </a:p>
          <a:p>
            <a:r>
              <a:rPr lang="zh-CN" altLang="en-US" dirty="0" smtClean="0"/>
              <a:t>服务器端跳转：带着</a:t>
            </a:r>
            <a:r>
              <a:rPr lang="en-US" altLang="zh-CN" dirty="0" smtClean="0"/>
              <a:t>request</a:t>
            </a:r>
            <a:r>
              <a:rPr lang="zh-CN" altLang="en-US" baseline="0" dirty="0" smtClean="0"/>
              <a:t>和</a:t>
            </a:r>
            <a:r>
              <a:rPr lang="en-US" altLang="zh-CN" baseline="0" dirty="0" smtClean="0"/>
              <a:t>response</a:t>
            </a:r>
            <a:r>
              <a:rPr lang="zh-CN" altLang="en-US" baseline="0" dirty="0" smtClean="0"/>
              <a:t>一起跳转</a:t>
            </a:r>
            <a:endParaRPr lang="en-US" altLang="zh-CN" baseline="0" dirty="0" smtClean="0"/>
          </a:p>
          <a:p>
            <a:r>
              <a:rPr lang="en-US" altLang="zh-CN" baseline="0" dirty="0" smtClean="0"/>
              <a:t>&lt;</a:t>
            </a:r>
            <a:r>
              <a:rPr lang="en-US" altLang="zh-CN" baseline="0" dirty="0" err="1" smtClean="0"/>
              <a:t>jsp:forward</a:t>
            </a:r>
            <a:r>
              <a:rPr lang="en-US" altLang="zh-CN" baseline="0" dirty="0" smtClean="0"/>
              <a:t>&gt;</a:t>
            </a:r>
            <a:endParaRPr lang="en-US" altLang="zh-CN" baseline="0" dirty="0" smtClean="0"/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 err="1" smtClean="0"/>
              <a:t>Request.getRequestDispatcher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url</a:t>
            </a:r>
            <a:r>
              <a:rPr lang="en-US" altLang="zh-CN" dirty="0" smtClean="0"/>
              <a:t>).forward(</a:t>
            </a:r>
            <a:r>
              <a:rPr lang="en-US" altLang="zh-CN" dirty="0" err="1" smtClean="0"/>
              <a:t>request,response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endParaRPr lang="en-US" altLang="zh-CN" baseline="0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F78AD-FB37-400B-8A0A-118CFF0CC7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标题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6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7" name="Picture 10" descr="校标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1" descr="软件工程2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" name="Picture 2" descr="标题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13" name="Picture 10" descr="校标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1" descr="软件工程2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44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556000" y="24384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 sz="4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altLang="zh-CN" noProof="0" dirty="0" smtClean="0"/>
              <a:t>Click to edit Master subtitle style</a:t>
            </a:r>
            <a:endParaRPr lang="en-US" altLang="zh-CN" noProof="0" dirty="0" smtClean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7600" y="152400"/>
            <a:ext cx="10401300" cy="874713"/>
          </a:xfrm>
        </p:spPr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815E6-DEA6-4F40-A954-531D7B02BB04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BAD16F-44B3-4FF9-8E1E-C32BBB8D1342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135063"/>
            <a:ext cx="5255684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20884" y="1135063"/>
            <a:ext cx="52578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85031-D9B3-4736-9114-D77A86F40864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22A79-BB8D-47C7-B421-E41D70C0B26C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5A7C5-02FA-4A1C-B58E-5E01BD438A19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5848D3-6A97-4F2F-9CE3-5CAE77522976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A02A6-F061-4810-8A39-DBA6F5583979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82BD6-1D77-49CF-B5C6-A5311217C99B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855F1E-6647-443A-ACE7-7BD18783B432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83133" y="0"/>
            <a:ext cx="2738967" cy="6248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0"/>
            <a:ext cx="8017933" cy="6248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B174F-D567-416F-9979-1537EBE7E802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标题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0"/>
            <a:ext cx="10401300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endParaRPr lang="zh-CN" altLang="en-US" smtClean="0"/>
          </a:p>
        </p:txBody>
      </p:sp>
      <p:sp>
        <p:nvSpPr>
          <p:cNvPr id="1034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35063"/>
            <a:ext cx="10716684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 sz="1400" b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4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1" sz="1400" b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0BEB52E-93D1-46BB-A104-321F0DFAE03E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1033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1034" name="Picture 10" descr="校标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5" name="Picture 11" descr="软件工程2"/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8" grpId="0" bldLvl="2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accent2"/>
        </a:buClr>
        <a:buSzPct val="90000"/>
        <a:buFont typeface="Monotype Sorts" pitchFamily="2" charset="2"/>
        <a:buChar char="ª"/>
        <a:defRPr sz="32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660066"/>
        </a:buClr>
        <a:buSzPct val="70000"/>
        <a:buFont typeface="Wingdings" panose="05000000000000000000" pitchFamily="2" charset="2"/>
        <a:buBlip>
          <a:blip r:embed="rId15"/>
        </a:buBlip>
        <a:defRPr sz="2800" b="1">
          <a:solidFill>
            <a:srgbClr val="660066"/>
          </a:solidFill>
          <a:latin typeface="+mn-lt"/>
          <a:ea typeface="+mn-ea"/>
          <a:cs typeface="楷体_GB2312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0000"/>
        <a:buFont typeface="Monotype Sorts" pitchFamily="2" charset="2"/>
        <a:buBlip>
          <a:blip r:embed="rId16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0000"/>
        <a:buBlip>
          <a:blip r:embed="rId17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2288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" Target="slide31.xml"/><Relationship Id="rId7" Type="http://schemas.openxmlformats.org/officeDocument/2006/relationships/slide" Target="slide29.xml"/><Relationship Id="rId6" Type="http://schemas.openxmlformats.org/officeDocument/2006/relationships/slide" Target="slide23.xml"/><Relationship Id="rId5" Type="http://schemas.openxmlformats.org/officeDocument/2006/relationships/slide" Target="slide12.xml"/><Relationship Id="rId4" Type="http://schemas.openxmlformats.org/officeDocument/2006/relationships/slide" Target="slide9.xml"/><Relationship Id="rId3" Type="http://schemas.openxmlformats.org/officeDocument/2006/relationships/slide" Target="slide5.xml"/><Relationship Id="rId2" Type="http://schemas.openxmlformats.org/officeDocument/2006/relationships/slide" Target="slide37.xml"/><Relationship Id="rId10" Type="http://schemas.openxmlformats.org/officeDocument/2006/relationships/notesSlide" Target="../notesSlides/notesSlide2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" Target="slide2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slide" Target="slide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slide" Target="slide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slide" Target="slide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43075" y="1295400"/>
            <a:ext cx="8696325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en-US" altLang="zh-CN" dirty="0" smtClean="0"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dirty="0" smtClean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6</a:t>
            </a:r>
            <a:r>
              <a:rPr lang="zh-CN" altLang="en-US" dirty="0" smtClean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讲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4400" dirty="0" smtClean="0">
                <a:latin typeface="+mj-ea"/>
                <a:ea typeface="+mj-ea"/>
                <a:cs typeface="+mn-cs"/>
              </a:rPr>
              <a:t>JSP</a:t>
            </a:r>
            <a:r>
              <a:rPr lang="zh-CN" altLang="en-US" sz="4400" dirty="0" smtClean="0">
                <a:latin typeface="+mj-ea"/>
                <a:ea typeface="+mj-ea"/>
                <a:cs typeface="+mn-cs"/>
              </a:rPr>
              <a:t>内建对象</a:t>
            </a:r>
            <a:endParaRPr lang="en-US" altLang="zh-CN" sz="4400" dirty="0" smtClean="0">
              <a:latin typeface="+mj-ea"/>
              <a:ea typeface="+mj-ea"/>
              <a:cs typeface="+mn-cs"/>
            </a:endParaRPr>
          </a:p>
          <a:p>
            <a:pPr algn="l" eaLnBrk="1" hangingPunct="1">
              <a:lnSpc>
                <a:spcPct val="80000"/>
              </a:lnSpc>
              <a:defRPr/>
            </a:pPr>
            <a:endParaRPr lang="zh-CN" altLang="en-US" sz="4400" dirty="0" smtClean="0"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JSP</a:t>
            </a:r>
            <a:r>
              <a:rPr lang="zh-CN" altLang="en-US" dirty="0" smtClean="0"/>
              <a:t>内建对象</a:t>
            </a:r>
            <a:endParaRPr lang="zh-CN" altLang="en-US" dirty="0"/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 smtClean="0">
                <a:hlinkClick r:id="rId1" action="ppaction://hlinksldjump"/>
              </a:rPr>
              <a:t>Out</a:t>
            </a:r>
            <a:endParaRPr lang="en-US" altLang="zh-CN" sz="2800" dirty="0" smtClean="0">
              <a:hlinkClick r:id="rId2" action="ppaction://hlinksldjump"/>
            </a:endParaRPr>
          </a:p>
          <a:p>
            <a:r>
              <a:rPr lang="en-US" altLang="zh-CN" sz="2800" dirty="0" smtClean="0">
                <a:hlinkClick r:id="rId3" action="ppaction://hlinksldjump"/>
              </a:rPr>
              <a:t>Request/Response</a:t>
            </a:r>
            <a:endParaRPr lang="en-US" altLang="zh-CN" sz="2800" dirty="0" smtClean="0">
              <a:hlinkClick r:id="rId2" action="ppaction://hlinksldjump"/>
            </a:endParaRPr>
          </a:p>
          <a:p>
            <a:r>
              <a:rPr lang="en-US" altLang="zh-CN" sz="2800" dirty="0" smtClean="0">
                <a:hlinkClick r:id="rId4" action="ppaction://hlinksldjump"/>
              </a:rPr>
              <a:t>Cookie</a:t>
            </a:r>
            <a:endParaRPr lang="en-US" altLang="zh-CN" sz="2800" dirty="0" smtClean="0">
              <a:hlinkClick r:id="rId2" action="ppaction://hlinksldjump"/>
            </a:endParaRPr>
          </a:p>
          <a:p>
            <a:r>
              <a:rPr lang="en-US" altLang="zh-CN" sz="2800" dirty="0" smtClean="0">
                <a:hlinkClick r:id="rId5" action="ppaction://hlinksldjump"/>
              </a:rPr>
              <a:t>Session</a:t>
            </a:r>
            <a:endParaRPr lang="en-US" altLang="zh-CN" sz="2800" dirty="0" smtClean="0">
              <a:hlinkClick r:id="rId2" action="ppaction://hlinksldjump"/>
            </a:endParaRPr>
          </a:p>
          <a:p>
            <a:r>
              <a:rPr lang="en-US" altLang="zh-CN" sz="2800" dirty="0" smtClean="0">
                <a:hlinkClick r:id="rId6" action="ppaction://hlinksldjump"/>
              </a:rPr>
              <a:t>Application</a:t>
            </a:r>
            <a:endParaRPr lang="en-US" altLang="zh-CN" sz="2800" dirty="0" smtClean="0">
              <a:hlinkClick r:id="rId2" action="ppaction://hlinksldjump"/>
            </a:endParaRPr>
          </a:p>
          <a:p>
            <a:r>
              <a:rPr lang="en-US" altLang="zh-CN" sz="2800" dirty="0" smtClean="0">
                <a:hlinkClick r:id="rId7" action="ppaction://hlinksldjump"/>
              </a:rPr>
              <a:t>Page</a:t>
            </a:r>
            <a:endParaRPr lang="en-US" altLang="zh-CN" sz="2800" dirty="0" smtClean="0">
              <a:hlinkClick r:id="rId2" action="ppaction://hlinksldjump"/>
            </a:endParaRPr>
          </a:p>
          <a:p>
            <a:r>
              <a:rPr lang="en-US" altLang="zh-CN" sz="2800" dirty="0">
                <a:hlinkClick r:id="rId8" action="ppaction://hlinksldjump"/>
              </a:rPr>
              <a:t>JSP</a:t>
            </a:r>
            <a:r>
              <a:rPr lang="zh-CN" altLang="en-US" sz="2800" dirty="0">
                <a:hlinkClick r:id="rId8" action="ppaction://hlinksldjump"/>
              </a:rPr>
              <a:t>四种属性范围</a:t>
            </a:r>
            <a:endParaRPr lang="en-US" altLang="zh-CN" sz="2800" dirty="0" smtClean="0">
              <a:hlinkClick r:id="rId2" action="ppaction://hlinksldjump"/>
            </a:endParaRPr>
          </a:p>
          <a:p>
            <a:r>
              <a:rPr lang="zh-CN" altLang="en-US" sz="2800" dirty="0" smtClean="0">
                <a:hlinkClick r:id="rId2" action="ppaction://hlinksldjump"/>
              </a:rPr>
              <a:t>小结</a:t>
            </a:r>
            <a:endParaRPr lang="en-US" altLang="zh-CN" sz="2800" dirty="0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JSP</a:t>
            </a:r>
            <a:r>
              <a:rPr lang="zh-CN" altLang="en-US" dirty="0" smtClean="0"/>
              <a:t>内建对象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为了简化</a:t>
            </a:r>
            <a:r>
              <a:rPr lang="zh-CN" altLang="en-US" dirty="0" smtClean="0"/>
              <a:t>页面</a:t>
            </a:r>
            <a:r>
              <a:rPr lang="en-US" altLang="zh-CN" dirty="0" smtClean="0"/>
              <a:t>,</a:t>
            </a:r>
            <a:r>
              <a:rPr lang="zh-CN" altLang="en-US" dirty="0" smtClean="0"/>
              <a:t>提高开发速度，</a:t>
            </a:r>
            <a:r>
              <a:rPr lang="en-US" altLang="zh-CN" dirty="0"/>
              <a:t>JSP</a:t>
            </a:r>
            <a:r>
              <a:rPr lang="zh-CN" altLang="en-US" dirty="0"/>
              <a:t>提供了许多内容对象如</a:t>
            </a:r>
            <a:r>
              <a:rPr lang="en-US" altLang="zh-CN" dirty="0">
                <a:solidFill>
                  <a:srgbClr val="FF0000"/>
                </a:solidFill>
              </a:rPr>
              <a:t>request</a:t>
            </a:r>
            <a:r>
              <a:rPr lang="zh-CN" altLang="en-US" dirty="0"/>
              <a:t>等，这些对象不需要</a:t>
            </a:r>
            <a:r>
              <a:rPr lang="en-US" altLang="zh-CN" dirty="0"/>
              <a:t>JSP</a:t>
            </a:r>
            <a:r>
              <a:rPr lang="zh-CN" altLang="en-US" dirty="0"/>
              <a:t>编程者实例化，它们是由</a:t>
            </a:r>
            <a:r>
              <a:rPr lang="zh-CN" altLang="en-US" dirty="0">
                <a:solidFill>
                  <a:srgbClr val="FF0000"/>
                </a:solidFill>
              </a:rPr>
              <a:t>容器实现和管理</a:t>
            </a:r>
            <a:r>
              <a:rPr lang="zh-CN" altLang="en-US" dirty="0"/>
              <a:t>的，我们称为</a:t>
            </a:r>
            <a:r>
              <a:rPr lang="zh-CN" altLang="en-US" dirty="0">
                <a:solidFill>
                  <a:srgbClr val="FF0000"/>
                </a:solidFill>
              </a:rPr>
              <a:t>内建</a:t>
            </a:r>
            <a:r>
              <a:rPr lang="zh-CN" altLang="en-US" dirty="0" smtClean="0">
                <a:solidFill>
                  <a:srgbClr val="FF0000"/>
                </a:solidFill>
              </a:rPr>
              <a:t>对象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常用内建对象</a:t>
            </a:r>
            <a:endParaRPr lang="en-US" altLang="zh-CN" dirty="0" smtClean="0"/>
          </a:p>
          <a:p>
            <a:pPr lvl="1"/>
            <a:r>
              <a:rPr lang="en-US" altLang="zh-CN" dirty="0"/>
              <a:t>out</a:t>
            </a:r>
            <a:r>
              <a:rPr lang="zh-CN" altLang="en-US" dirty="0"/>
              <a:t>、 </a:t>
            </a:r>
            <a:r>
              <a:rPr lang="en-US" altLang="zh-CN" dirty="0" smtClean="0">
                <a:solidFill>
                  <a:srgbClr val="FF0000"/>
                </a:solidFill>
              </a:rPr>
              <a:t>request</a:t>
            </a:r>
            <a:r>
              <a:rPr lang="zh-CN" altLang="en-US" dirty="0" smtClean="0"/>
              <a:t>、</a:t>
            </a:r>
            <a:r>
              <a:rPr lang="en-US" altLang="zh-CN" dirty="0" smtClean="0">
                <a:solidFill>
                  <a:srgbClr val="FF0000"/>
                </a:solidFill>
              </a:rPr>
              <a:t>response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session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application</a:t>
            </a:r>
            <a:r>
              <a:rPr lang="zh-CN" altLang="en-US" dirty="0" smtClean="0"/>
              <a:t>、</a:t>
            </a:r>
            <a:r>
              <a:rPr lang="en-US" altLang="zh-CN" dirty="0" smtClean="0"/>
              <a:t>exception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JSP</a:t>
            </a:r>
            <a:r>
              <a:rPr lang="zh-CN" altLang="en-US" dirty="0" smtClean="0"/>
              <a:t>内建对象</a:t>
            </a:r>
            <a:r>
              <a:rPr lang="en-US" altLang="zh-CN" dirty="0" smtClean="0"/>
              <a:t>-out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0980" y="1135380"/>
            <a:ext cx="11551285" cy="5113020"/>
          </a:xfrm>
        </p:spPr>
        <p:txBody>
          <a:bodyPr/>
          <a:lstStyle/>
          <a:p>
            <a:r>
              <a:rPr lang="en-US" altLang="zh-CN" dirty="0"/>
              <a:t>out</a:t>
            </a:r>
            <a:r>
              <a:rPr lang="zh-CN" altLang="en-US" dirty="0"/>
              <a:t>对象用于向客户端</a:t>
            </a:r>
            <a:r>
              <a:rPr lang="zh-CN" altLang="en-US" dirty="0" smtClean="0"/>
              <a:t>输出数据</a:t>
            </a:r>
            <a:endParaRPr lang="en-US" altLang="zh-CN" dirty="0"/>
          </a:p>
          <a:p>
            <a:pPr lvl="1"/>
            <a:r>
              <a:rPr lang="zh-CN" altLang="en-US" dirty="0" smtClean="0"/>
              <a:t>语法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out.print</a:t>
            </a:r>
            <a:r>
              <a:rPr lang="en-US" altLang="zh-CN" dirty="0" smtClean="0"/>
              <a:t>()</a:t>
            </a:r>
            <a:r>
              <a:rPr lang="zh-CN" altLang="en-US" dirty="0" smtClean="0"/>
              <a:t>、</a:t>
            </a:r>
            <a:r>
              <a:rPr lang="en-US" altLang="zh-CN" dirty="0" smtClean="0"/>
              <a:t>o</a:t>
            </a:r>
            <a:r>
              <a:rPr lang="en-US" altLang="zh-CN" dirty="0" err="1" smtClean="0"/>
              <a:t>ut.println</a:t>
            </a:r>
            <a:r>
              <a:rPr lang="en-US" altLang="zh-CN" dirty="0" smtClean="0"/>
              <a:t>()</a:t>
            </a:r>
            <a:r>
              <a:rPr lang="zh-CN" altLang="en-US" dirty="0" smtClean="0"/>
              <a:t>、</a:t>
            </a:r>
            <a:r>
              <a:rPr lang="en-US" altLang="zh-CN" dirty="0" smtClean="0">
                <a:sym typeface="+mn-ea"/>
              </a:rPr>
              <a:t>o</a:t>
            </a:r>
            <a:r>
              <a:rPr lang="en-US" altLang="zh-CN" dirty="0" err="1" smtClean="0">
                <a:sym typeface="+mn-ea"/>
              </a:rPr>
              <a:t>ut.append()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区别：第一</a:t>
            </a:r>
            <a:r>
              <a:rPr lang="zh-CN" altLang="en-US" dirty="0"/>
              <a:t>个只是输出数据，第二个输出数据后会在后面加上一个</a:t>
            </a:r>
            <a:r>
              <a:rPr lang="zh-CN" altLang="en-US" dirty="0" smtClean="0"/>
              <a:t>换行符</a:t>
            </a:r>
            <a:br>
              <a:rPr lang="zh-CN" altLang="en-US" dirty="0" smtClean="0"/>
            </a:br>
            <a:r>
              <a:rPr lang="zh-CN" altLang="en-US" dirty="0"/>
              <a:t>但是该换行符不能被浏览器解析，要真正换行需要使用</a:t>
            </a:r>
            <a:r>
              <a:rPr lang="en-US" altLang="zh-CN" dirty="0" err="1">
                <a:solidFill>
                  <a:srgbClr val="FF0000"/>
                </a:solidFill>
              </a:rPr>
              <a:t>out.println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“</a:t>
            </a:r>
            <a:r>
              <a:rPr lang="en-US" altLang="zh-CN" dirty="0">
                <a:solidFill>
                  <a:srgbClr val="FF0000"/>
                </a:solidFill>
              </a:rPr>
              <a:t>&lt;</a:t>
            </a:r>
            <a:r>
              <a:rPr lang="en-US" altLang="zh-CN" dirty="0" err="1">
                <a:solidFill>
                  <a:srgbClr val="FF0000"/>
                </a:solidFill>
              </a:rPr>
              <a:t>br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”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dirty="0"/>
              <a:t>来实现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939851" y="4246989"/>
            <a:ext cx="6768752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/>
              <a:t>&lt;%</a:t>
            </a:r>
            <a:endParaRPr lang="en-US" altLang="zh-CN" sz="2400" b="1" dirty="0" smtClean="0"/>
          </a:p>
          <a:p>
            <a:r>
              <a:rPr lang="en-US" altLang="zh-CN" sz="2400" b="1" dirty="0" err="1" smtClean="0">
                <a:solidFill>
                  <a:srgbClr val="FF0000"/>
                </a:solidFill>
              </a:rPr>
              <a:t>out</a:t>
            </a:r>
            <a:r>
              <a:rPr lang="en-US" altLang="zh-CN" sz="2400" b="1" dirty="0" err="1" smtClean="0"/>
              <a:t>.println</a:t>
            </a:r>
            <a:r>
              <a:rPr lang="en-US" altLang="zh-CN" sz="2400" b="1" dirty="0"/>
              <a:t>("</a:t>
            </a:r>
            <a:r>
              <a:rPr lang="zh-CN" altLang="zh-CN" sz="2400" b="1" dirty="0"/>
              <a:t>输出</a:t>
            </a:r>
            <a:r>
              <a:rPr lang="en-US" altLang="zh-CN" sz="2400" b="1" dirty="0"/>
              <a:t>String");</a:t>
            </a:r>
            <a:endParaRPr lang="zh-CN" altLang="zh-CN" sz="2400" b="1" dirty="0"/>
          </a:p>
          <a:p>
            <a:r>
              <a:rPr lang="en-US" altLang="zh-CN" sz="2400" b="1" dirty="0" err="1" smtClean="0">
                <a:solidFill>
                  <a:srgbClr val="FF0000"/>
                </a:solidFill>
              </a:rPr>
              <a:t>out</a:t>
            </a:r>
            <a:r>
              <a:rPr lang="en-US" altLang="zh-CN" sz="2400" b="1" dirty="0" err="1" smtClean="0"/>
              <a:t>.println</a:t>
            </a:r>
            <a:r>
              <a:rPr lang="en-US" altLang="zh-CN" sz="2400" b="1" dirty="0" smtClean="0"/>
              <a:t>(true</a:t>
            </a:r>
            <a:r>
              <a:rPr lang="en-US" altLang="zh-CN" sz="2400" b="1" dirty="0"/>
              <a:t>);</a:t>
            </a:r>
            <a:endParaRPr lang="zh-CN" altLang="zh-CN" sz="2400" b="1" dirty="0"/>
          </a:p>
          <a:p>
            <a:r>
              <a:rPr lang="en-US" altLang="zh-CN" sz="2400" b="1" dirty="0" err="1" smtClean="0">
                <a:solidFill>
                  <a:srgbClr val="FF0000"/>
                </a:solidFill>
              </a:rPr>
              <a:t>out</a:t>
            </a:r>
            <a:r>
              <a:rPr lang="en-US" altLang="zh-CN" sz="2400" b="1" dirty="0" err="1" smtClean="0"/>
              <a:t>.println</a:t>
            </a:r>
            <a:r>
              <a:rPr lang="en-US" altLang="zh-CN" sz="2400" b="1" dirty="0" smtClean="0"/>
              <a:t>(123);</a:t>
            </a:r>
            <a:endParaRPr lang="en-US" altLang="zh-CN" sz="2400" b="1" dirty="0" smtClean="0"/>
          </a:p>
          <a:p>
            <a:r>
              <a:rPr lang="en-US" altLang="zh-CN" sz="2400" b="1" dirty="0" smtClean="0"/>
              <a:t>%&gt;</a:t>
            </a:r>
            <a:endParaRPr lang="zh-CN" altLang="zh-CN" sz="2400" b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右箭头 6">
            <a:hlinkClick r:id="rId1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JSP</a:t>
            </a:r>
            <a:r>
              <a:rPr lang="zh-CN" altLang="en-US" dirty="0"/>
              <a:t>内建对象</a:t>
            </a:r>
            <a:r>
              <a:rPr lang="en-US" altLang="zh-CN" dirty="0" smtClean="0"/>
              <a:t>-request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request</a:t>
            </a:r>
            <a:r>
              <a:rPr lang="zh-CN" altLang="en-US" dirty="0"/>
              <a:t>对象代表请求对象，客户端的请求信息被</a:t>
            </a:r>
            <a:r>
              <a:rPr lang="en-US" altLang="zh-CN" dirty="0"/>
              <a:t>Web</a:t>
            </a:r>
            <a:r>
              <a:rPr lang="zh-CN" altLang="en-US" dirty="0"/>
              <a:t>容器封装到该对象中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/>
              <a:t>请求</a:t>
            </a:r>
            <a:r>
              <a:rPr lang="zh-CN" altLang="en-US" dirty="0" smtClean="0"/>
              <a:t>信息包括表单中的信息或</a:t>
            </a:r>
            <a:r>
              <a:rPr lang="en-US" altLang="zh-CN" dirty="0" err="1" smtClean="0"/>
              <a:t>url</a:t>
            </a:r>
            <a:r>
              <a:rPr lang="zh-CN" altLang="en-US" dirty="0" smtClean="0"/>
              <a:t>参数中的信息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371" y="3272004"/>
            <a:ext cx="4392488" cy="188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96" y="5432401"/>
            <a:ext cx="9073008" cy="372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圆角矩形标注 3"/>
          <p:cNvSpPr/>
          <p:nvPr/>
        </p:nvSpPr>
        <p:spPr>
          <a:xfrm>
            <a:off x="4151784" y="4568148"/>
            <a:ext cx="3312874" cy="589044"/>
          </a:xfrm>
          <a:prstGeom prst="wedgeRoundRectCallout">
            <a:avLst>
              <a:gd name="adj1" fmla="val -80247"/>
              <a:gd name="adj2" fmla="val -31990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/>
              <a:t>Action=“</a:t>
            </a:r>
            <a:r>
              <a:rPr lang="en-US" altLang="zh-CN" sz="2000" dirty="0" err="1" smtClean="0"/>
              <a:t>LoginValid.jsp</a:t>
            </a:r>
            <a:r>
              <a:rPr lang="en-US" altLang="zh-CN" sz="2000" dirty="0" smtClean="0"/>
              <a:t>”</a:t>
            </a:r>
            <a:endParaRPr lang="zh-CN" altLang="en-US" sz="20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request-</a:t>
            </a:r>
            <a:r>
              <a:rPr lang="zh-CN" altLang="en-US" dirty="0" smtClean="0"/>
              <a:t>示例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55" y="598805"/>
            <a:ext cx="10887710" cy="616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接连接符 5"/>
          <p:cNvCxnSpPr/>
          <p:nvPr/>
        </p:nvCxnSpPr>
        <p:spPr>
          <a:xfrm flipV="1">
            <a:off x="2110740" y="1772920"/>
            <a:ext cx="2761615" cy="190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2496185" y="2061210"/>
            <a:ext cx="3168015" cy="3746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58326" y="6309320"/>
            <a:ext cx="230425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 smtClean="0"/>
              <a:t>LoginValid.jsp</a:t>
            </a:r>
            <a:endParaRPr lang="zh-CN" alt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8862733" y="6186751"/>
            <a:ext cx="172819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演示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jspExm6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9" name="右箭头 8">
            <a:hlinkClick r:id="rId2" action="ppaction://hlinksldjump"/>
          </p:cNvPr>
          <p:cNvSpPr/>
          <p:nvPr/>
        </p:nvSpPr>
        <p:spPr>
          <a:xfrm>
            <a:off x="10828734" y="5577475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JSP</a:t>
            </a:r>
            <a:r>
              <a:rPr lang="zh-CN" altLang="en-US" dirty="0"/>
              <a:t>内建对象</a:t>
            </a:r>
            <a:r>
              <a:rPr lang="en-US" altLang="zh-CN" dirty="0"/>
              <a:t>-</a:t>
            </a:r>
            <a:r>
              <a:rPr lang="en-US" altLang="zh-CN" dirty="0" smtClean="0"/>
              <a:t>response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3205" y="1135380"/>
            <a:ext cx="11533505" cy="5113020"/>
          </a:xfrm>
        </p:spPr>
        <p:txBody>
          <a:bodyPr/>
          <a:lstStyle/>
          <a:p>
            <a:r>
              <a:rPr lang="en-US" altLang="zh-CN" dirty="0"/>
              <a:t>response</a:t>
            </a:r>
            <a:r>
              <a:rPr lang="zh-CN" altLang="en-US" dirty="0"/>
              <a:t>对象代表服务器发送到客户端的</a:t>
            </a:r>
            <a:r>
              <a:rPr lang="zh-CN" altLang="en-US" dirty="0" smtClean="0"/>
              <a:t>响应</a:t>
            </a:r>
            <a:endParaRPr lang="en-US" altLang="zh-CN" dirty="0" smtClean="0"/>
          </a:p>
          <a:p>
            <a:pPr marL="685800" lvl="2" indent="-342900">
              <a:buClr>
                <a:schemeClr val="accent2"/>
              </a:buClr>
              <a:buSzPct val="90000"/>
              <a:buFont typeface="Monotype Sorts" pitchFamily="2" charset="2"/>
              <a:buChar char="ª"/>
            </a:pPr>
            <a:r>
              <a:rPr lang="zh-CN" altLang="en-US" dirty="0"/>
              <a:t>服务器端向客户端发送信息，例如设置</a:t>
            </a:r>
            <a:r>
              <a:rPr lang="en-US" altLang="zh-CN" dirty="0"/>
              <a:t>HTTP</a:t>
            </a:r>
            <a:r>
              <a:rPr lang="zh-CN" altLang="en-US" dirty="0"/>
              <a:t>的头信息、</a:t>
            </a:r>
            <a:r>
              <a:rPr lang="zh-CN" altLang="en-US" dirty="0" smtClean="0"/>
              <a:t>重定向、设置</a:t>
            </a:r>
            <a:r>
              <a:rPr lang="en-US" altLang="zh-CN" dirty="0"/>
              <a:t>Cookie</a:t>
            </a:r>
            <a:r>
              <a:rPr lang="zh-CN" altLang="en-US" dirty="0" smtClean="0"/>
              <a:t>信息</a:t>
            </a:r>
            <a:endParaRPr lang="en-US" altLang="zh-CN" dirty="0" smtClean="0"/>
          </a:p>
          <a:p>
            <a:pPr marL="685800" lvl="2" indent="-342900">
              <a:buClr>
                <a:schemeClr val="accent2"/>
              </a:buClr>
              <a:buSzPct val="90000"/>
              <a:buFont typeface="Monotype Sorts" pitchFamily="2" charset="2"/>
              <a:buChar char="ª"/>
            </a:pPr>
            <a:r>
              <a:rPr lang="zh-CN" altLang="en-US" dirty="0" smtClean="0"/>
              <a:t>设置</a:t>
            </a:r>
            <a:r>
              <a:rPr lang="en-US" altLang="zh-CN" dirty="0" smtClean="0"/>
              <a:t>HTTP</a:t>
            </a:r>
            <a:r>
              <a:rPr lang="zh-CN" altLang="en-US" dirty="0" smtClean="0"/>
              <a:t>头信息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sz="2400" dirty="0" smtClean="0"/>
              <a:t>&lt;% </a:t>
            </a:r>
            <a:r>
              <a:rPr lang="en-US" altLang="zh-CN" sz="2400" b="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response.setHeader</a:t>
            </a:r>
            <a:r>
              <a:rPr lang="en-US" altLang="zh-CN" sz="2400" b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-US" altLang="zh-CN" sz="2400" b="0" dirty="0">
                <a:solidFill>
                  <a:srgbClr val="2A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"refresh"</a:t>
            </a:r>
            <a:r>
              <a:rPr lang="en-US" altLang="zh-CN" sz="2400" b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</a:t>
            </a:r>
            <a:r>
              <a:rPr lang="en-US" altLang="zh-CN" sz="2400" b="0" dirty="0">
                <a:solidFill>
                  <a:srgbClr val="2A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"1</a:t>
            </a:r>
            <a:r>
              <a:rPr lang="en-US" altLang="zh-CN" sz="2400" b="0" dirty="0" smtClean="0">
                <a:solidFill>
                  <a:srgbClr val="2A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"</a:t>
            </a:r>
            <a:r>
              <a:rPr lang="en-US" altLang="zh-CN" sz="2400" b="0" dirty="0" smtClean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  <a:r>
              <a:rPr lang="en-US" altLang="zh-CN" sz="2400" dirty="0" smtClean="0"/>
              <a:t>%&gt;</a:t>
            </a:r>
            <a:endParaRPr lang="en-US" altLang="zh-CN" sz="2400" dirty="0" smtClean="0"/>
          </a:p>
          <a:p>
            <a:pPr marL="457200" lvl="1" indent="0">
              <a:buNone/>
            </a:pPr>
            <a:r>
              <a:rPr lang="en-US" altLang="zh-CN" sz="2400" dirty="0"/>
              <a:t>	</a:t>
            </a:r>
            <a:r>
              <a:rPr lang="zh-CN" altLang="en-US" sz="2400" b="0" dirty="0">
                <a:solidFill>
                  <a:srgbClr val="3F7F5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一秒钟刷新一次页面</a:t>
            </a:r>
            <a:endParaRPr lang="en-US" altLang="zh-CN" sz="2400" b="0" dirty="0">
              <a:solidFill>
                <a:srgbClr val="3F7F5F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sz="2400" dirty="0" smtClean="0"/>
              <a:t>&lt;%</a:t>
            </a:r>
            <a:r>
              <a:rPr lang="en-US" altLang="zh-CN" sz="2400" b="0" dirty="0" err="1" smtClean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response.setHeader</a:t>
            </a:r>
            <a:r>
              <a:rPr lang="en-US" altLang="zh-CN" sz="2400" b="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-US" altLang="zh-CN" sz="2400" b="0" dirty="0">
                <a:solidFill>
                  <a:srgbClr val="2A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"refresh</a:t>
            </a:r>
            <a:r>
              <a:rPr lang="en-US" altLang="zh-CN" sz="2400" b="0" dirty="0" smtClean="0">
                <a:solidFill>
                  <a:srgbClr val="2A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"</a:t>
            </a:r>
            <a:r>
              <a:rPr lang="en-US" altLang="zh-CN" sz="2400" b="0" dirty="0" smtClean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,</a:t>
            </a:r>
            <a:r>
              <a:rPr lang="en-US" altLang="zh-CN" sz="2400" b="0" dirty="0" smtClean="0">
                <a:solidFill>
                  <a:srgbClr val="2A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"2;URL=</a:t>
            </a:r>
            <a:r>
              <a:rPr lang="en-US" altLang="zh-CN" sz="2400" b="0" dirty="0" err="1" smtClean="0">
                <a:solidFill>
                  <a:srgbClr val="2A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index.jsp</a:t>
            </a:r>
            <a:r>
              <a:rPr lang="en-US" altLang="zh-CN" sz="2400" b="0" dirty="0" smtClean="0">
                <a:solidFill>
                  <a:srgbClr val="2A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"</a:t>
            </a:r>
            <a:r>
              <a:rPr lang="en-US" altLang="zh-CN" sz="2400" b="0" dirty="0" smtClean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);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%&gt;</a:t>
            </a:r>
            <a:endParaRPr lang="en-US" altLang="zh-CN" sz="2400" dirty="0" smtClean="0"/>
          </a:p>
          <a:p>
            <a:pPr marL="457200" lvl="1" indent="0">
              <a:buNone/>
            </a:pPr>
            <a:r>
              <a:rPr lang="en-US" altLang="zh-CN" sz="2400" dirty="0" smtClean="0"/>
              <a:t>	</a:t>
            </a:r>
            <a:r>
              <a:rPr lang="en-US" altLang="zh-CN" sz="2400" b="0" dirty="0">
                <a:solidFill>
                  <a:srgbClr val="3F7F5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  <a:r>
              <a:rPr lang="zh-CN" altLang="en-US" sz="2400" b="0" dirty="0">
                <a:solidFill>
                  <a:srgbClr val="3F7F5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秒钟后跳转</a:t>
            </a:r>
            <a:r>
              <a:rPr lang="zh-CN" altLang="en-US" sz="2400" b="0" dirty="0" smtClean="0">
                <a:solidFill>
                  <a:srgbClr val="3F7F5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到</a:t>
            </a:r>
            <a:r>
              <a:rPr lang="en-US" altLang="zh-CN" sz="2400" b="0" dirty="0" err="1" smtClean="0">
                <a:solidFill>
                  <a:srgbClr val="3F7F5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index.jsp</a:t>
            </a:r>
            <a:r>
              <a:rPr lang="zh-CN" altLang="en-US" sz="2400" b="0" dirty="0">
                <a:solidFill>
                  <a:srgbClr val="3F7F5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去</a:t>
            </a:r>
            <a:endParaRPr lang="en-US" altLang="zh-CN" sz="2400" dirty="0" smtClean="0"/>
          </a:p>
          <a:p>
            <a:pPr marL="457200" lvl="1" indent="0">
              <a:buNone/>
            </a:pP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zh-CN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8616280" y="5877476"/>
            <a:ext cx="172819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演示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jspExm7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JSP</a:t>
            </a:r>
            <a:r>
              <a:rPr lang="zh-CN" altLang="en-US" dirty="0"/>
              <a:t>内建对象</a:t>
            </a:r>
            <a:r>
              <a:rPr lang="en-US" altLang="zh-CN" dirty="0"/>
              <a:t>-response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7030" y="1135380"/>
            <a:ext cx="11488420" cy="5113020"/>
          </a:xfrm>
        </p:spPr>
        <p:txBody>
          <a:bodyPr/>
          <a:lstStyle/>
          <a:p>
            <a:r>
              <a:rPr lang="en-US" altLang="zh-CN" dirty="0" smtClean="0"/>
              <a:t>Response</a:t>
            </a:r>
            <a:r>
              <a:rPr lang="zh-CN" altLang="en-US" dirty="0" smtClean="0"/>
              <a:t>重定向</a:t>
            </a:r>
            <a:endParaRPr lang="en-US" altLang="zh-CN" dirty="0" smtClean="0"/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response</a:t>
            </a:r>
            <a:r>
              <a:rPr lang="en-US" altLang="zh-CN" dirty="0" err="1" smtClean="0"/>
              <a:t>.sendRedirect</a:t>
            </a:r>
            <a:r>
              <a:rPr lang="en-US" altLang="zh-CN" dirty="0" smtClean="0"/>
              <a:t>(“</a:t>
            </a:r>
            <a:r>
              <a:rPr lang="en-US" altLang="zh-CN" dirty="0" err="1" smtClean="0"/>
              <a:t>url</a:t>
            </a:r>
            <a:r>
              <a:rPr lang="en-US" altLang="zh-CN" dirty="0" smtClean="0"/>
              <a:t>”)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实现</a:t>
            </a:r>
            <a:r>
              <a:rPr lang="en-US" altLang="zh-CN" dirty="0" smtClean="0"/>
              <a:t>JSP/Servlet</a:t>
            </a:r>
            <a:r>
              <a:rPr lang="zh-CN" altLang="en-US" dirty="0" smtClean="0"/>
              <a:t>跳转的方法之一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重定向</a:t>
            </a:r>
            <a:r>
              <a:rPr lang="zh-CN" altLang="en-US" dirty="0"/>
              <a:t>属于客户端跳转，是客户</a:t>
            </a:r>
            <a:r>
              <a:rPr lang="zh-CN" altLang="en-US" dirty="0" smtClean="0"/>
              <a:t>端重</a:t>
            </a:r>
            <a:r>
              <a:rPr lang="zh-CN" altLang="en-US" dirty="0"/>
              <a:t>新</a:t>
            </a:r>
            <a:r>
              <a:rPr lang="zh-CN" altLang="en-US" dirty="0" smtClean="0"/>
              <a:t>向</a:t>
            </a:r>
            <a:r>
              <a:rPr lang="zh-CN" altLang="en-US" dirty="0"/>
              <a:t>服务器发送请求，原来的请求</a:t>
            </a:r>
            <a:r>
              <a:rPr lang="zh-CN" altLang="en-US" dirty="0" smtClean="0"/>
              <a:t>丢失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转发（</a:t>
            </a:r>
            <a:r>
              <a:rPr lang="en-US" altLang="zh-CN" dirty="0" smtClean="0"/>
              <a:t>forward</a:t>
            </a:r>
            <a:r>
              <a:rPr lang="zh-CN" altLang="en-US" dirty="0" smtClean="0"/>
              <a:t>）是另一种页面跳转方式</a:t>
            </a:r>
            <a:endParaRPr lang="en-US" altLang="zh-CN" dirty="0" smtClean="0"/>
          </a:p>
          <a:p>
            <a:pPr lvl="2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jsp:forward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 smtClean="0">
                <a:solidFill>
                  <a:srgbClr val="0945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getRequestDispatcher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altLang="zh-CN" dirty="0">
                <a:solidFill>
                  <a:srgbClr val="0945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request,response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dirty="0" smtClean="0"/>
              <a:t>属于</a:t>
            </a:r>
            <a:r>
              <a:rPr lang="zh-CN" altLang="en-US" dirty="0"/>
              <a:t>服务器端的跳转，原来的请求不会</a:t>
            </a:r>
            <a:r>
              <a:rPr lang="zh-CN" altLang="en-US" dirty="0" smtClean="0"/>
              <a:t>丢失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右箭头 5">
            <a:hlinkClick r:id="rId1" action="ppaction://hlinksldjump"/>
          </p:cNvPr>
          <p:cNvSpPr/>
          <p:nvPr/>
        </p:nvSpPr>
        <p:spPr>
          <a:xfrm>
            <a:off x="10680700" y="595376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67030" y="5502275"/>
            <a:ext cx="10993755" cy="36893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lIns="0" tIns="0" rIns="0" bIns="0">
            <a:spAutoFit/>
          </a:bodyPr>
          <a:lstStyle/>
          <a:p>
            <a:pPr lvl="1"/>
            <a:r>
              <a:rPr lang="en-US" altLang="zh-CN" sz="2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en-US" altLang="zh-C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.sendRedirect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en-US" altLang="zh-CN" sz="2400" b="1" dirty="0" smtClean="0">
                <a:solidFill>
                  <a:srgbClr val="0945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paraname1=paravalue1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paraname1=paravalue1”)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4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用户会话跟踪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3040" y="1324610"/>
            <a:ext cx="11506835" cy="5190490"/>
          </a:xfrm>
        </p:spPr>
        <p:txBody>
          <a:bodyPr>
            <a:normAutofit fontScale="80000"/>
          </a:bodyPr>
          <a:lstStyle/>
          <a:p>
            <a:pPr lvl="0"/>
            <a:r>
              <a:rPr lang="zh-CN" altLang="en-US" dirty="0" smtClean="0"/>
              <a:t>一</a:t>
            </a:r>
            <a:r>
              <a:rPr lang="zh-CN" altLang="en-US" dirty="0"/>
              <a:t>个用户对一个</a:t>
            </a:r>
            <a:r>
              <a:rPr lang="en-US" altLang="zh-CN" dirty="0"/>
              <a:t>Web</a:t>
            </a:r>
            <a:r>
              <a:rPr lang="zh-CN" altLang="en-US" dirty="0"/>
              <a:t>应用包含的多个</a:t>
            </a:r>
            <a:r>
              <a:rPr lang="en-US" altLang="zh-CN" dirty="0"/>
              <a:t>web</a:t>
            </a:r>
            <a:r>
              <a:rPr lang="zh-CN" altLang="en-US" dirty="0"/>
              <a:t>页面的访问过程称为一个</a:t>
            </a:r>
            <a:r>
              <a:rPr lang="zh-CN" altLang="en-US" dirty="0" smtClean="0">
                <a:solidFill>
                  <a:srgbClr val="FF0000"/>
                </a:solidFill>
              </a:rPr>
              <a:t>会话</a:t>
            </a:r>
            <a:endParaRPr lang="en-US" altLang="zh-CN" dirty="0" smtClean="0"/>
          </a:p>
          <a:p>
            <a:pPr lvl="0"/>
            <a:r>
              <a:rPr lang="zh-CN" altLang="en-US" dirty="0" smtClean="0">
                <a:solidFill>
                  <a:srgbClr val="FF0000"/>
                </a:solidFill>
              </a:rPr>
              <a:t>无状态</a:t>
            </a:r>
            <a:r>
              <a:rPr lang="zh-CN" altLang="en-US" dirty="0" smtClean="0"/>
              <a:t>的</a:t>
            </a:r>
            <a:r>
              <a:rPr lang="en-US" altLang="zh-CN" dirty="0" smtClean="0"/>
              <a:t>HTTP</a:t>
            </a:r>
            <a:r>
              <a:rPr lang="zh-CN" altLang="en-US" dirty="0" smtClean="0"/>
              <a:t>协议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它在一个请求结束、另一个请求开始时，不会记住前一个请求的所有信息</a:t>
            </a:r>
            <a:endParaRPr lang="en-US" altLang="zh-CN" dirty="0" smtClean="0"/>
          </a:p>
          <a:p>
            <a:pPr lvl="1"/>
            <a:r>
              <a:rPr lang="en-US" altLang="zh-CN" dirty="0"/>
              <a:t>Web</a:t>
            </a:r>
            <a:r>
              <a:rPr lang="zh-CN" altLang="en-US" dirty="0"/>
              <a:t>应用通常要处理用户的</a:t>
            </a:r>
            <a:r>
              <a:rPr lang="zh-CN" altLang="en-US" dirty="0">
                <a:solidFill>
                  <a:srgbClr val="FF0000"/>
                </a:solidFill>
              </a:rPr>
              <a:t>多个连续</a:t>
            </a:r>
            <a:r>
              <a:rPr lang="zh-CN" altLang="en-US" dirty="0"/>
              <a:t>的请求，而且还要</a:t>
            </a:r>
            <a:r>
              <a:rPr lang="zh-CN" altLang="en-US" dirty="0">
                <a:solidFill>
                  <a:srgbClr val="FF0000"/>
                </a:solidFill>
              </a:rPr>
              <a:t>记住前一个请求</a:t>
            </a:r>
            <a:r>
              <a:rPr lang="zh-CN" altLang="en-US" dirty="0"/>
              <a:t>的</a:t>
            </a:r>
            <a:r>
              <a:rPr lang="zh-CN" altLang="en-US" dirty="0" smtClean="0"/>
              <a:t>一些信息</a:t>
            </a:r>
            <a:endParaRPr lang="en-US" altLang="zh-CN" dirty="0"/>
          </a:p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用户</a:t>
            </a:r>
            <a:r>
              <a:rPr lang="zh-CN" altLang="en-US" dirty="0">
                <a:solidFill>
                  <a:srgbClr val="FF0000"/>
                </a:solidFill>
              </a:rPr>
              <a:t>会话</a:t>
            </a:r>
            <a:r>
              <a:rPr lang="zh-CN" altLang="en-US" dirty="0" smtClean="0">
                <a:solidFill>
                  <a:srgbClr val="FF0000"/>
                </a:solidFill>
              </a:rPr>
              <a:t>跟踪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实现</a:t>
            </a:r>
            <a:r>
              <a:rPr lang="zh-CN" altLang="en-US" dirty="0"/>
              <a:t>会话</a:t>
            </a:r>
            <a:r>
              <a:rPr lang="zh-CN" altLang="en-US" dirty="0" smtClean="0"/>
              <a:t>跟踪主要方式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cookie   </a:t>
            </a:r>
            <a:r>
              <a:rPr lang="zh-CN" altLang="en-US" dirty="0" smtClean="0"/>
              <a:t>客户</a:t>
            </a:r>
            <a:r>
              <a:rPr lang="zh-CN" altLang="en-US" dirty="0"/>
              <a:t>端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session  </a:t>
            </a:r>
            <a:r>
              <a:rPr lang="zh-CN" altLang="en-US" dirty="0" smtClean="0"/>
              <a:t>服务器</a:t>
            </a:r>
            <a:endParaRPr lang="zh-CN" altLang="en-US" dirty="0" smtClean="0"/>
          </a:p>
          <a:p>
            <a:pPr lvl="1"/>
            <a:r>
              <a:rPr lang="zh-CN" altLang="en-US" dirty="0"/>
              <a:t>隐藏表单域（数据都通过表单提交，动态生成表单）</a:t>
            </a:r>
            <a:endParaRPr lang="zh-CN" altLang="en-US" dirty="0"/>
          </a:p>
          <a:p>
            <a:pPr lvl="1"/>
            <a:r>
              <a:rPr lang="en-US" altLang="zh-CN" dirty="0"/>
              <a:t>URL</a:t>
            </a:r>
            <a:r>
              <a:rPr lang="zh-CN" altLang="en-US" dirty="0"/>
              <a:t>重写（动态生成</a:t>
            </a:r>
            <a:r>
              <a:rPr lang="en-US" altLang="zh-CN" dirty="0"/>
              <a:t>URL</a:t>
            </a:r>
            <a:r>
              <a:rPr lang="zh-CN" altLang="en-US" dirty="0"/>
              <a:t>，无法用于静态</a:t>
            </a:r>
            <a:r>
              <a:rPr lang="en-US" altLang="zh-CN" dirty="0"/>
              <a:t>HTML</a:t>
            </a:r>
            <a:r>
              <a:rPr lang="zh-CN" altLang="en-US" dirty="0"/>
              <a:t>页面）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Cookie</a:t>
            </a:r>
            <a:r>
              <a:rPr lang="zh-CN" altLang="en-US" dirty="0"/>
              <a:t>管理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cookie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Web</a:t>
            </a:r>
            <a:r>
              <a:rPr lang="zh-CN" altLang="en-US" dirty="0" smtClean="0"/>
              <a:t>服务器</a:t>
            </a:r>
            <a:r>
              <a:rPr lang="zh-CN" altLang="en-US" dirty="0" smtClean="0">
                <a:solidFill>
                  <a:srgbClr val="FF0000"/>
                </a:solidFill>
              </a:rPr>
              <a:t>暂存</a:t>
            </a:r>
            <a:r>
              <a:rPr lang="zh-CN" altLang="en-US" dirty="0" smtClean="0"/>
              <a:t>在客户端浏览器内存或硬盘文件中的少量数据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Web</a:t>
            </a:r>
            <a:r>
              <a:rPr lang="zh-CN" altLang="en-US" dirty="0" smtClean="0"/>
              <a:t>服务器通过</a:t>
            </a:r>
            <a:r>
              <a:rPr lang="en-US" altLang="zh-CN" dirty="0" smtClean="0">
                <a:solidFill>
                  <a:srgbClr val="FF0000"/>
                </a:solidFill>
              </a:rPr>
              <a:t>HTTP</a:t>
            </a:r>
            <a:r>
              <a:rPr lang="zh-CN" altLang="en-US" dirty="0" smtClean="0"/>
              <a:t>报头来获得客户端中的</a:t>
            </a:r>
            <a:r>
              <a:rPr lang="en-US" altLang="zh-CN" dirty="0" smtClean="0">
                <a:solidFill>
                  <a:srgbClr val="FF0000"/>
                </a:solidFill>
              </a:rPr>
              <a:t>Cookie</a:t>
            </a:r>
            <a:r>
              <a:rPr lang="zh-CN" altLang="en-US" dirty="0" smtClean="0"/>
              <a:t>信息。</a:t>
            </a:r>
            <a:endParaRPr lang="en-US" altLang="zh-CN" dirty="0"/>
          </a:p>
          <a:p>
            <a:r>
              <a:rPr lang="en-US" altLang="zh-CN" sz="2800" dirty="0" smtClean="0"/>
              <a:t>Cookie</a:t>
            </a:r>
            <a:r>
              <a:rPr lang="zh-CN" altLang="en-US" sz="2800" dirty="0" smtClean="0"/>
              <a:t>类</a:t>
            </a:r>
            <a:endParaRPr lang="en-US" altLang="zh-CN" sz="2800" dirty="0" smtClean="0"/>
          </a:p>
          <a:p>
            <a:pPr lvl="1"/>
            <a:r>
              <a:rPr lang="en-US" altLang="zh-CN" sz="2400" dirty="0" err="1" smtClean="0"/>
              <a:t>javax.servlet.http.Cookie</a:t>
            </a:r>
            <a:br>
              <a:rPr lang="en-US" altLang="zh-CN" dirty="0" err="1" smtClean="0"/>
            </a:br>
            <a:r>
              <a:rPr lang="en-US" altLang="zh-CN" sz="2400" dirty="0" smtClean="0">
                <a:solidFill>
                  <a:srgbClr val="FF0000"/>
                </a:solidFill>
              </a:rPr>
              <a:t>Cookie(String 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name,String</a:t>
            </a:r>
            <a:r>
              <a:rPr lang="en-US" altLang="zh-CN" sz="2400" dirty="0" smtClean="0">
                <a:solidFill>
                  <a:srgbClr val="FF0000"/>
                </a:solidFill>
              </a:rPr>
              <a:t> value) </a:t>
            </a:r>
            <a:r>
              <a:rPr lang="zh-CN" altLang="en-US" sz="2400" dirty="0" smtClean="0"/>
              <a:t>生成一个</a:t>
            </a:r>
            <a:r>
              <a:rPr lang="en-US" altLang="zh-CN" sz="2400" dirty="0" smtClean="0"/>
              <a:t>Cookie</a:t>
            </a:r>
            <a:r>
              <a:rPr lang="zh-CN" altLang="en-US" sz="2400" dirty="0" smtClean="0"/>
              <a:t>对象</a:t>
            </a:r>
            <a:br>
              <a:rPr lang="zh-CN" altLang="en-US" sz="2400" dirty="0" smtClean="0"/>
            </a:br>
            <a:r>
              <a:rPr lang="en-US" altLang="zh-CN" sz="2400" dirty="0" err="1" smtClean="0">
                <a:solidFill>
                  <a:srgbClr val="FF0000"/>
                </a:solidFill>
              </a:rPr>
              <a:t>setMaxAge</a:t>
            </a:r>
            <a:r>
              <a:rPr lang="en-US" altLang="zh-CN" sz="2400" dirty="0" smtClean="0">
                <a:solidFill>
                  <a:srgbClr val="FF0000"/>
                </a:solidFill>
              </a:rPr>
              <a:t>(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int</a:t>
            </a:r>
            <a:r>
              <a:rPr lang="en-US" altLang="zh-CN" sz="2400" dirty="0" smtClean="0">
                <a:solidFill>
                  <a:srgbClr val="FF0000"/>
                </a:solidFill>
              </a:rPr>
              <a:t> expiry)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 smtClean="0"/>
              <a:t>设置生命时间数 </a:t>
            </a:r>
            <a:r>
              <a:rPr lang="en-US" altLang="zh-CN" sz="2400" dirty="0" smtClean="0"/>
              <a:t>(</a:t>
            </a:r>
            <a:r>
              <a:rPr lang="zh-CN" altLang="en-US" sz="2400" dirty="0" smtClean="0"/>
              <a:t>秒</a:t>
            </a:r>
            <a:r>
              <a:rPr lang="en-US" altLang="zh-CN" sz="2400" dirty="0" smtClean="0"/>
              <a:t>)</a:t>
            </a:r>
            <a:br>
              <a:rPr lang="en-US" altLang="zh-CN" sz="2400" dirty="0" smtClean="0"/>
            </a:br>
            <a:r>
              <a:rPr lang="en-US" altLang="zh-CN" sz="2400" dirty="0" err="1" smtClean="0">
                <a:solidFill>
                  <a:srgbClr val="FF0000"/>
                </a:solidFill>
              </a:rPr>
              <a:t>getName</a:t>
            </a:r>
            <a:r>
              <a:rPr lang="en-US" altLang="zh-CN" sz="2400" dirty="0" smtClean="0">
                <a:solidFill>
                  <a:srgbClr val="FF0000"/>
                </a:solidFill>
              </a:rPr>
              <a:t>()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返回</a:t>
            </a:r>
            <a:r>
              <a:rPr lang="en-US" altLang="zh-CN" sz="2400" dirty="0" smtClean="0"/>
              <a:t>Cookie</a:t>
            </a:r>
            <a:r>
              <a:rPr lang="zh-CN" altLang="en-US" sz="2400" dirty="0" smtClean="0"/>
              <a:t>对象的变量名</a:t>
            </a:r>
            <a:br>
              <a:rPr lang="zh-CN" altLang="en-US" sz="2400" dirty="0" smtClean="0"/>
            </a:br>
            <a:r>
              <a:rPr lang="en-US" altLang="zh-CN" sz="2400" dirty="0" err="1" smtClean="0">
                <a:solidFill>
                  <a:srgbClr val="FF0000"/>
                </a:solidFill>
              </a:rPr>
              <a:t>getValue</a:t>
            </a:r>
            <a:r>
              <a:rPr lang="en-US" altLang="zh-CN" sz="2400" dirty="0" smtClean="0">
                <a:solidFill>
                  <a:srgbClr val="FF0000"/>
                </a:solidFill>
              </a:rPr>
              <a:t>()</a:t>
            </a:r>
            <a:r>
              <a:rPr lang="zh-CN" altLang="en-US" sz="2400" dirty="0"/>
              <a:t>返回</a:t>
            </a:r>
            <a:r>
              <a:rPr lang="en-US" altLang="zh-CN" sz="2400" dirty="0"/>
              <a:t>Cookie</a:t>
            </a:r>
            <a:r>
              <a:rPr lang="zh-CN" altLang="en-US" sz="2400" dirty="0"/>
              <a:t>对象</a:t>
            </a:r>
            <a:r>
              <a:rPr lang="zh-CN" altLang="en-US" sz="2400" dirty="0" smtClean="0"/>
              <a:t>的</a:t>
            </a:r>
            <a:r>
              <a:rPr lang="zh-CN" altLang="en-US" sz="2400" dirty="0"/>
              <a:t>值</a:t>
            </a:r>
            <a:endParaRPr lang="zh-CN" altLang="en-US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Cookie</a:t>
            </a:r>
            <a:r>
              <a:rPr lang="zh-CN" altLang="en-US" dirty="0"/>
              <a:t>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4945" y="1135380"/>
            <a:ext cx="11268075" cy="5388610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altLang="zh-CN" sz="2200" dirty="0" smtClean="0"/>
              <a:t>--</a:t>
            </a:r>
            <a:r>
              <a:rPr lang="zh-CN" altLang="en-US" sz="2200" dirty="0" smtClean="0">
                <a:solidFill>
                  <a:srgbClr val="FF0000"/>
                </a:solidFill>
              </a:rPr>
              <a:t>将</a:t>
            </a:r>
            <a:r>
              <a:rPr lang="en-US" altLang="zh-CN" sz="2200" dirty="0" smtClean="0">
                <a:solidFill>
                  <a:srgbClr val="FF0000"/>
                </a:solidFill>
              </a:rPr>
              <a:t>Cookie</a:t>
            </a:r>
            <a:r>
              <a:rPr lang="zh-CN" altLang="en-US" sz="2200" dirty="0" smtClean="0">
                <a:solidFill>
                  <a:srgbClr val="FF0000"/>
                </a:solidFill>
              </a:rPr>
              <a:t>对象传回客户端</a:t>
            </a:r>
            <a:endParaRPr lang="en-US" altLang="zh-CN" sz="2200" dirty="0" smtClean="0"/>
          </a:p>
          <a:p>
            <a:pPr marL="0" indent="0">
              <a:lnSpc>
                <a:spcPct val="11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altLang="zh-CN" sz="2200" dirty="0" smtClean="0"/>
              <a:t>&lt;%</a:t>
            </a:r>
            <a:endParaRPr lang="en-US" altLang="zh-CN" sz="2200" dirty="0" smtClean="0"/>
          </a:p>
          <a:p>
            <a:pPr marL="0" indent="0">
              <a:lnSpc>
                <a:spcPct val="11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altLang="zh-CN" sz="2200" dirty="0" smtClean="0"/>
              <a:t>  Cookie </a:t>
            </a:r>
            <a:r>
              <a:rPr lang="en-US" altLang="zh-CN" sz="2200" dirty="0" err="1" smtClean="0"/>
              <a:t>msg</a:t>
            </a:r>
            <a:r>
              <a:rPr lang="en-US" altLang="zh-CN" sz="2200" dirty="0" smtClean="0"/>
              <a:t>=new Cookie(“</a:t>
            </a:r>
            <a:r>
              <a:rPr lang="en-US" altLang="zh-CN" sz="2200" dirty="0" err="1" smtClean="0"/>
              <a:t>login”,”tom</a:t>
            </a:r>
            <a:r>
              <a:rPr lang="en-US" altLang="zh-CN" sz="2200" dirty="0" smtClean="0"/>
              <a:t>”);</a:t>
            </a:r>
            <a:endParaRPr lang="en-US" altLang="zh-CN" sz="2200" dirty="0" smtClean="0"/>
          </a:p>
          <a:p>
            <a:pPr marL="0" indent="0">
              <a:lnSpc>
                <a:spcPct val="11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altLang="zh-CN" sz="2200" dirty="0"/>
              <a:t> 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/>
              <a:t>msg.setMaxAge</a:t>
            </a:r>
            <a:r>
              <a:rPr lang="en-US" altLang="zh-CN" sz="2200" dirty="0" smtClean="0"/>
              <a:t>(30*24*60*60);//</a:t>
            </a:r>
            <a:r>
              <a:rPr lang="zh-CN" altLang="en-US" sz="2200" dirty="0" smtClean="0"/>
              <a:t>若不设置，则一直有效</a:t>
            </a:r>
            <a:endParaRPr lang="en-US" altLang="zh-CN" sz="2200" dirty="0" smtClean="0"/>
          </a:p>
          <a:p>
            <a:pPr marL="0" indent="0">
              <a:lnSpc>
                <a:spcPct val="11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altLang="zh-CN" sz="2200" dirty="0"/>
              <a:t> 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/>
              <a:t>response.addCookie</a:t>
            </a:r>
            <a:r>
              <a:rPr lang="en-US" altLang="zh-CN" sz="2200" dirty="0" smtClean="0"/>
              <a:t>(</a:t>
            </a:r>
            <a:r>
              <a:rPr lang="en-US" altLang="zh-CN" sz="2200" dirty="0" err="1" smtClean="0"/>
              <a:t>msg</a:t>
            </a:r>
            <a:r>
              <a:rPr lang="en-US" altLang="zh-CN" sz="2200" dirty="0" smtClean="0"/>
              <a:t>);</a:t>
            </a:r>
            <a:endParaRPr lang="en-US" altLang="zh-CN" sz="2200" dirty="0"/>
          </a:p>
          <a:p>
            <a:pPr marL="0" indent="0">
              <a:lnSpc>
                <a:spcPct val="11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altLang="zh-CN" sz="2200" dirty="0" smtClean="0"/>
              <a:t>%&gt;</a:t>
            </a:r>
            <a:endParaRPr lang="en-US" altLang="zh-CN" sz="2200" dirty="0" smtClean="0"/>
          </a:p>
          <a:p>
            <a:pPr marL="0" indent="0">
              <a:lnSpc>
                <a:spcPct val="11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altLang="zh-CN" sz="2200" dirty="0" smtClean="0"/>
              <a:t>--</a:t>
            </a:r>
            <a:r>
              <a:rPr lang="zh-CN" altLang="en-US" sz="2200" dirty="0" smtClean="0"/>
              <a:t>读取</a:t>
            </a:r>
            <a:r>
              <a:rPr lang="en-US" altLang="zh-CN" sz="2200" dirty="0" smtClean="0"/>
              <a:t>Cookie</a:t>
            </a:r>
            <a:r>
              <a:rPr lang="zh-CN" altLang="en-US" sz="2200" dirty="0" smtClean="0"/>
              <a:t>对象</a:t>
            </a:r>
            <a:endParaRPr lang="en-US" altLang="zh-CN" sz="2200" dirty="0" smtClean="0"/>
          </a:p>
          <a:p>
            <a:pPr marL="0" indent="0">
              <a:lnSpc>
                <a:spcPct val="11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altLang="zh-CN" sz="2200" dirty="0" smtClean="0"/>
              <a:t>&lt;%</a:t>
            </a:r>
            <a:endParaRPr lang="en-US" altLang="zh-CN" sz="2200" dirty="0" smtClean="0"/>
          </a:p>
          <a:p>
            <a:pPr marL="0" indent="0">
              <a:lnSpc>
                <a:spcPct val="11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altLang="zh-CN" sz="2200" dirty="0"/>
              <a:t> </a:t>
            </a:r>
            <a:r>
              <a:rPr lang="en-US" altLang="zh-CN" sz="2200" dirty="0" smtClean="0"/>
              <a:t> Cookie c[]=</a:t>
            </a:r>
            <a:r>
              <a:rPr lang="en-US" altLang="zh-CN" sz="2200" dirty="0" err="1" smtClean="0"/>
              <a:t>request.getCookies</a:t>
            </a:r>
            <a:r>
              <a:rPr lang="en-US" altLang="zh-CN" sz="2200" dirty="0" smtClean="0"/>
              <a:t>();</a:t>
            </a:r>
            <a:endParaRPr lang="en-US" altLang="zh-CN" sz="2200" dirty="0" smtClean="0"/>
          </a:p>
          <a:p>
            <a:pPr marL="0" indent="0">
              <a:lnSpc>
                <a:spcPct val="11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altLang="zh-CN" sz="2200" dirty="0"/>
              <a:t> </a:t>
            </a:r>
            <a:r>
              <a:rPr lang="en-US" altLang="zh-CN" sz="2200" dirty="0" smtClean="0"/>
              <a:t> if((c!=null){</a:t>
            </a:r>
            <a:endParaRPr lang="en-US" altLang="zh-CN" sz="2200" dirty="0" smtClean="0"/>
          </a:p>
          <a:p>
            <a:pPr marL="0" indent="0">
              <a:lnSpc>
                <a:spcPct val="11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altLang="zh-CN" sz="2200" dirty="0"/>
              <a:t> </a:t>
            </a:r>
            <a:r>
              <a:rPr lang="en-US" altLang="zh-CN" sz="2200" dirty="0" smtClean="0"/>
              <a:t>    for(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i=0;i&lt;</a:t>
            </a:r>
            <a:r>
              <a:rPr lang="en-US" altLang="zh-CN" sz="2200" dirty="0" err="1" smtClean="0"/>
              <a:t>c.length;i</a:t>
            </a:r>
            <a:r>
              <a:rPr lang="en-US" altLang="zh-CN" sz="2200" dirty="0" smtClean="0"/>
              <a:t>++)</a:t>
            </a:r>
            <a:endParaRPr lang="en-US" altLang="zh-CN" sz="2200" dirty="0" smtClean="0"/>
          </a:p>
          <a:p>
            <a:pPr marL="0" indent="0">
              <a:lnSpc>
                <a:spcPct val="11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altLang="zh-CN" sz="2200" dirty="0"/>
              <a:t> </a:t>
            </a:r>
            <a:r>
              <a:rPr lang="en-US" altLang="zh-CN" sz="2200" dirty="0" smtClean="0"/>
              <a:t>      </a:t>
            </a:r>
            <a:r>
              <a:rPr lang="en-US" altLang="zh-CN" sz="2200" dirty="0" err="1" smtClean="0"/>
              <a:t>out.print</a:t>
            </a:r>
            <a:r>
              <a:rPr lang="en-US" altLang="zh-CN" sz="2200" dirty="0" smtClean="0"/>
              <a:t>(c[i].</a:t>
            </a:r>
            <a:r>
              <a:rPr lang="en-US" altLang="zh-CN" sz="2200" dirty="0" err="1" smtClean="0"/>
              <a:t>getName</a:t>
            </a:r>
            <a:r>
              <a:rPr lang="en-US" altLang="zh-CN" sz="2200" dirty="0" smtClean="0"/>
              <a:t>()+”=”+c[i].</a:t>
            </a:r>
            <a:r>
              <a:rPr lang="en-US" altLang="zh-CN" sz="2200" dirty="0" err="1" smtClean="0"/>
              <a:t>getValue</a:t>
            </a:r>
            <a:r>
              <a:rPr lang="en-US" altLang="zh-CN" sz="2200" dirty="0" smtClean="0"/>
              <a:t>()+”&lt;</a:t>
            </a:r>
            <a:r>
              <a:rPr lang="en-US" altLang="zh-CN" sz="2200" dirty="0" err="1" smtClean="0"/>
              <a:t>br</a:t>
            </a:r>
            <a:r>
              <a:rPr lang="en-US" altLang="zh-CN" sz="2200" dirty="0" smtClean="0"/>
              <a:t>/&gt;”);</a:t>
            </a:r>
            <a:endParaRPr lang="en-US" altLang="zh-CN" sz="2200" dirty="0" smtClean="0"/>
          </a:p>
          <a:p>
            <a:pPr marL="0" indent="0">
              <a:lnSpc>
                <a:spcPct val="11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altLang="zh-CN" sz="2200" dirty="0" smtClean="0"/>
              <a:t>  }else{ </a:t>
            </a:r>
            <a:r>
              <a:rPr lang="en-US" altLang="zh-CN" sz="2200" dirty="0" err="1" smtClean="0"/>
              <a:t>out.print</a:t>
            </a:r>
            <a:r>
              <a:rPr lang="en-US" altLang="zh-CN" sz="2200" dirty="0" smtClean="0"/>
              <a:t>(“</a:t>
            </a:r>
            <a:r>
              <a:rPr lang="zh-CN" altLang="en-US" sz="2200" dirty="0" smtClean="0"/>
              <a:t>没有返回</a:t>
            </a:r>
            <a:r>
              <a:rPr lang="en-US" altLang="zh-CN" sz="2200" dirty="0" smtClean="0"/>
              <a:t>Cookie”);}</a:t>
            </a:r>
            <a:endParaRPr lang="en-US" altLang="zh-CN" sz="2200" dirty="0" smtClean="0"/>
          </a:p>
          <a:p>
            <a:pPr marL="0" indent="0">
              <a:lnSpc>
                <a:spcPct val="11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altLang="zh-CN" sz="2200" dirty="0" smtClean="0"/>
              <a:t>%&gt;</a:t>
            </a:r>
            <a:endParaRPr lang="en-US" altLang="zh-CN" sz="22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043678" y="5990782"/>
            <a:ext cx="374523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/>
            <a:r>
              <a:rPr lang="zh-CN" altLang="en-US" b="1" dirty="0" smtClean="0">
                <a:solidFill>
                  <a:srgbClr val="FF0000"/>
                </a:solidFill>
              </a:rPr>
              <a:t>前提</a:t>
            </a:r>
            <a:r>
              <a:rPr lang="zh-CN" altLang="en-US" b="1" dirty="0" smtClean="0"/>
              <a:t>：浏览器允许</a:t>
            </a:r>
            <a:r>
              <a:rPr lang="en-US" altLang="zh-CN" b="1" dirty="0" smtClean="0"/>
              <a:t>cookies</a:t>
            </a:r>
            <a:endParaRPr lang="en-US" altLang="zh-CN" b="1" dirty="0"/>
          </a:p>
        </p:txBody>
      </p:sp>
      <p:sp>
        <p:nvSpPr>
          <p:cNvPr id="6" name="右箭头 5">
            <a:hlinkClick r:id="rId1" action="ppaction://hlinksldjump"/>
          </p:cNvPr>
          <p:cNvSpPr/>
          <p:nvPr/>
        </p:nvSpPr>
        <p:spPr>
          <a:xfrm>
            <a:off x="10852785" y="5165725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540385" y="3042920"/>
            <a:ext cx="3178175" cy="190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2149475" y="4514215"/>
            <a:ext cx="2777490" cy="63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JSP</a:t>
            </a:r>
            <a:r>
              <a:rPr lang="zh-CN" altLang="en-US" dirty="0"/>
              <a:t>内建对象</a:t>
            </a:r>
            <a:r>
              <a:rPr lang="en-US" altLang="zh-CN" dirty="0" smtClean="0"/>
              <a:t>-session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3860" y="1135380"/>
            <a:ext cx="11035030" cy="5113020"/>
          </a:xfrm>
        </p:spPr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服务器端</a:t>
            </a:r>
            <a:r>
              <a:rPr lang="zh-CN" altLang="en-US" dirty="0" smtClean="0"/>
              <a:t>的会话管理技术</a:t>
            </a:r>
            <a:endParaRPr lang="en-US" altLang="zh-CN" dirty="0" smtClean="0"/>
          </a:p>
          <a:p>
            <a:r>
              <a:rPr lang="en-US" altLang="zh-CN" dirty="0" smtClean="0">
                <a:solidFill>
                  <a:srgbClr val="FF0000"/>
                </a:solidFill>
              </a:rPr>
              <a:t>Session </a:t>
            </a:r>
            <a:r>
              <a:rPr lang="zh-CN" altLang="en-US" dirty="0" smtClean="0"/>
              <a:t>对象可以实现多页面的信息共享</a:t>
            </a:r>
            <a:endParaRPr lang="en-US" altLang="zh-CN" dirty="0"/>
          </a:p>
          <a:p>
            <a:pPr lvl="1"/>
            <a:r>
              <a:rPr lang="en-US" altLang="zh-CN" dirty="0" err="1" smtClean="0"/>
              <a:t>javax.servlet.http.HttpSession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常用方法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session.</a:t>
            </a:r>
            <a:r>
              <a:rPr lang="en-US" altLang="zh-CN" dirty="0" err="1" smtClean="0">
                <a:solidFill>
                  <a:srgbClr val="C00000"/>
                </a:solidFill>
              </a:rPr>
              <a:t>setAttribute</a:t>
            </a:r>
            <a:r>
              <a:rPr lang="en-US" altLang="zh-CN" dirty="0" smtClean="0"/>
              <a:t>(String </a:t>
            </a:r>
            <a:r>
              <a:rPr lang="en-US" altLang="zh-CN" dirty="0" smtClean="0">
                <a:solidFill>
                  <a:srgbClr val="C00000"/>
                </a:solidFill>
              </a:rPr>
              <a:t>name</a:t>
            </a:r>
            <a:r>
              <a:rPr lang="en-US" altLang="zh-CN" dirty="0" smtClean="0"/>
              <a:t>, Object </a:t>
            </a:r>
            <a:r>
              <a:rPr lang="en-US" altLang="zh-CN" dirty="0" smtClean="0">
                <a:solidFill>
                  <a:srgbClr val="C00000"/>
                </a:solidFill>
              </a:rPr>
              <a:t>value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2"/>
            <a:r>
              <a:rPr lang="en-US" altLang="zh-CN" dirty="0"/>
              <a:t>Object </a:t>
            </a:r>
            <a:r>
              <a:rPr lang="en-US" altLang="zh-CN" dirty="0" err="1"/>
              <a:t>session.</a:t>
            </a:r>
            <a:r>
              <a:rPr lang="en-US" altLang="zh-CN" dirty="0" err="1">
                <a:solidFill>
                  <a:srgbClr val="C00000"/>
                </a:solidFill>
              </a:rPr>
              <a:t>getAttribute</a:t>
            </a:r>
            <a:r>
              <a:rPr lang="en-US" altLang="zh-CN" dirty="0"/>
              <a:t>(String </a:t>
            </a:r>
            <a:r>
              <a:rPr lang="en-US" altLang="zh-CN" dirty="0" smtClean="0">
                <a:solidFill>
                  <a:srgbClr val="C00000"/>
                </a:solidFill>
              </a:rPr>
              <a:t>name</a:t>
            </a:r>
            <a:r>
              <a:rPr lang="en-US" altLang="zh-CN" dirty="0" smtClean="0"/>
              <a:t>)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8" y="4614300"/>
            <a:ext cx="6632965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8" y="5517232"/>
            <a:ext cx="8712968" cy="468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session</a:t>
            </a:r>
            <a:r>
              <a:rPr lang="zh-CN" altLang="en-US" dirty="0" smtClean="0"/>
              <a:t>实现用户会话原理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实现用户会话跟踪原理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8" y="1988637"/>
            <a:ext cx="6154587" cy="4356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圆角矩形标注 3"/>
          <p:cNvSpPr/>
          <p:nvPr/>
        </p:nvSpPr>
        <p:spPr>
          <a:xfrm>
            <a:off x="7680176" y="1412776"/>
            <a:ext cx="2987824" cy="936104"/>
          </a:xfrm>
          <a:prstGeom prst="wedgeRoundRectCallout">
            <a:avLst>
              <a:gd name="adj1" fmla="val -63496"/>
              <a:gd name="adj2" fmla="val 112190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第一次请求，将在</a:t>
            </a:r>
            <a:r>
              <a:rPr lang="en-US" altLang="zh-CN" dirty="0" smtClean="0"/>
              <a:t>server</a:t>
            </a:r>
            <a:r>
              <a:rPr lang="zh-CN" altLang="en-US" dirty="0" smtClean="0"/>
              <a:t>内存中创建</a:t>
            </a:r>
            <a:r>
              <a:rPr lang="en-US" altLang="zh-CN" dirty="0" smtClean="0"/>
              <a:t>session</a:t>
            </a:r>
            <a:r>
              <a:rPr lang="zh-CN" altLang="en-US" dirty="0" smtClean="0"/>
              <a:t>对象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384031" y="5157192"/>
            <a:ext cx="4283969" cy="15684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重建新</a:t>
            </a:r>
            <a:r>
              <a:rPr lang="en-US" altLang="zh-CN" sz="2400" dirty="0" smtClean="0"/>
              <a:t>session</a:t>
            </a:r>
            <a:r>
              <a:rPr lang="zh-CN" altLang="en-US" sz="2400" dirty="0" smtClean="0"/>
              <a:t>对象的条件</a:t>
            </a:r>
            <a:endParaRPr lang="en-US" altLang="zh-CN" sz="2400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2400" b="1" dirty="0" smtClean="0"/>
              <a:t>浏览器关闭</a:t>
            </a:r>
            <a:endParaRPr lang="en-US" altLang="zh-CN" sz="2400" b="1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2400" b="1" dirty="0"/>
              <a:t>s</a:t>
            </a:r>
            <a:r>
              <a:rPr lang="en-US" altLang="zh-CN" sz="2400" b="1" dirty="0" smtClean="0"/>
              <a:t>ession</a:t>
            </a:r>
            <a:r>
              <a:rPr lang="zh-CN" altLang="en-US" sz="2400" b="1" dirty="0" smtClean="0"/>
              <a:t>过期</a:t>
            </a:r>
            <a:endParaRPr lang="en-US" altLang="zh-CN" sz="2400" b="1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2400" b="1" dirty="0" err="1" smtClean="0"/>
              <a:t>session.invalidate</a:t>
            </a:r>
            <a:r>
              <a:rPr lang="en-US" altLang="zh-CN" sz="2400" b="1" dirty="0" smtClean="0"/>
              <a:t>()</a:t>
            </a:r>
            <a:endParaRPr lang="en-US" altLang="zh-CN" sz="2400" b="1" dirty="0" smtClean="0"/>
          </a:p>
        </p:txBody>
      </p:sp>
      <p:grpSp>
        <p:nvGrpSpPr>
          <p:cNvPr id="2048" name="组合 2047"/>
          <p:cNvGrpSpPr/>
          <p:nvPr/>
        </p:nvGrpSpPr>
        <p:grpSpPr>
          <a:xfrm>
            <a:off x="4151784" y="2204864"/>
            <a:ext cx="1944216" cy="576064"/>
            <a:chOff x="2627784" y="2204864"/>
            <a:chExt cx="1944216" cy="576064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2627784" y="2780928"/>
              <a:ext cx="1944216" cy="0"/>
            </a:xfrm>
            <a:prstGeom prst="line">
              <a:avLst/>
            </a:prstGeom>
            <a:ln w="76200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3517337" y="2204864"/>
              <a:ext cx="648072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 err="1"/>
                <a:t>jsp</a:t>
              </a:r>
              <a:endParaRPr lang="zh-CN" altLang="en-US" sz="2400" b="1" dirty="0"/>
            </a:p>
          </p:txBody>
        </p:sp>
      </p:grpSp>
      <p:grpSp>
        <p:nvGrpSpPr>
          <p:cNvPr id="2052" name="组合 2051"/>
          <p:cNvGrpSpPr/>
          <p:nvPr/>
        </p:nvGrpSpPr>
        <p:grpSpPr>
          <a:xfrm>
            <a:off x="4151784" y="3573016"/>
            <a:ext cx="1944216" cy="460375"/>
            <a:chOff x="2627784" y="3573016"/>
            <a:chExt cx="1944216" cy="460375"/>
          </a:xfrm>
        </p:grpSpPr>
        <p:cxnSp>
          <p:nvCxnSpPr>
            <p:cNvPr id="35" name="直接连接符 34"/>
            <p:cNvCxnSpPr/>
            <p:nvPr/>
          </p:nvCxnSpPr>
          <p:spPr>
            <a:xfrm>
              <a:off x="2627784" y="4005064"/>
              <a:ext cx="1944216" cy="0"/>
            </a:xfrm>
            <a:prstGeom prst="line">
              <a:avLst/>
            </a:prstGeom>
            <a:ln w="76200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3635896" y="3573016"/>
              <a:ext cx="648072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 smtClean="0"/>
                <a:t>ID</a:t>
              </a:r>
              <a:endParaRPr lang="zh-CN" altLang="en-US" sz="2400" b="1" dirty="0"/>
            </a:p>
          </p:txBody>
        </p:sp>
      </p:grpSp>
      <p:grpSp>
        <p:nvGrpSpPr>
          <p:cNvPr id="2049" name="组合 2048"/>
          <p:cNvGrpSpPr/>
          <p:nvPr/>
        </p:nvGrpSpPr>
        <p:grpSpPr>
          <a:xfrm>
            <a:off x="4151784" y="2780928"/>
            <a:ext cx="1944216" cy="460375"/>
            <a:chOff x="2627784" y="2780928"/>
            <a:chExt cx="1944216" cy="460375"/>
          </a:xfrm>
        </p:grpSpPr>
        <p:cxnSp>
          <p:nvCxnSpPr>
            <p:cNvPr id="34" name="直接连接符 33"/>
            <p:cNvCxnSpPr/>
            <p:nvPr/>
          </p:nvCxnSpPr>
          <p:spPr>
            <a:xfrm>
              <a:off x="2627784" y="3212976"/>
              <a:ext cx="1944216" cy="0"/>
            </a:xfrm>
            <a:prstGeom prst="line">
              <a:avLst/>
            </a:prstGeom>
            <a:ln w="76200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3669737" y="2780928"/>
              <a:ext cx="648072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 smtClean="0"/>
                <a:t>ID</a:t>
              </a:r>
              <a:endParaRPr lang="zh-CN" altLang="en-US" sz="2400" b="1" dirty="0"/>
            </a:p>
          </p:txBody>
        </p:sp>
      </p:grpSp>
      <p:grpSp>
        <p:nvGrpSpPr>
          <p:cNvPr id="2053" name="组合 2052"/>
          <p:cNvGrpSpPr/>
          <p:nvPr/>
        </p:nvGrpSpPr>
        <p:grpSpPr>
          <a:xfrm>
            <a:off x="2927648" y="4005064"/>
            <a:ext cx="4210542" cy="1152128"/>
            <a:chOff x="1403648" y="4005064"/>
            <a:chExt cx="4210542" cy="1152128"/>
          </a:xfrm>
        </p:grpSpPr>
        <p:grpSp>
          <p:nvGrpSpPr>
            <p:cNvPr id="29" name="组合 28"/>
            <p:cNvGrpSpPr/>
            <p:nvPr/>
          </p:nvGrpSpPr>
          <p:grpSpPr>
            <a:xfrm>
              <a:off x="1403648" y="4005064"/>
              <a:ext cx="4210542" cy="1152128"/>
              <a:chOff x="1403648" y="4005064"/>
              <a:chExt cx="4210542" cy="1152128"/>
            </a:xfrm>
          </p:grpSpPr>
          <p:cxnSp>
            <p:nvCxnSpPr>
              <p:cNvPr id="20" name="直接连接符 19"/>
              <p:cNvCxnSpPr/>
              <p:nvPr/>
            </p:nvCxnSpPr>
            <p:spPr>
              <a:xfrm>
                <a:off x="5614189" y="4167116"/>
                <a:ext cx="0" cy="990075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 flipH="1">
                <a:off x="1403648" y="5157191"/>
                <a:ext cx="4210542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>
                <a:off x="1403648" y="4005064"/>
                <a:ext cx="0" cy="1152128"/>
              </a:xfrm>
              <a:prstGeom prst="line">
                <a:avLst/>
              </a:prstGeom>
              <a:ln w="76200">
                <a:solidFill>
                  <a:srgbClr val="FF0000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/>
            <p:cNvSpPr txBox="1"/>
            <p:nvPr/>
          </p:nvSpPr>
          <p:spPr>
            <a:xfrm>
              <a:off x="1933161" y="4579596"/>
              <a:ext cx="1584176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 err="1"/>
                <a:t>s</a:t>
              </a:r>
              <a:r>
                <a:rPr lang="en-US" altLang="zh-CN" sz="2400" b="1" dirty="0" err="1" smtClean="0"/>
                <a:t>essionID</a:t>
              </a:r>
              <a:endParaRPr lang="zh-CN" altLang="en-US" sz="2400" b="1" dirty="0"/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1703511" y="4350295"/>
            <a:ext cx="1753649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/>
              <a:t>Cookie</a:t>
            </a:r>
            <a:endParaRPr lang="en-US" altLang="zh-CN" sz="2400" b="1" dirty="0" smtClean="0"/>
          </a:p>
          <a:p>
            <a:r>
              <a:rPr lang="en-US" altLang="zh-CN" sz="2400" b="1" dirty="0" smtClean="0"/>
              <a:t>URL</a:t>
            </a:r>
            <a:r>
              <a:rPr lang="zh-CN" altLang="en-US" sz="2400" b="1" dirty="0" smtClean="0"/>
              <a:t>的结尾</a:t>
            </a:r>
            <a:endParaRPr lang="zh-CN" altLang="en-US" sz="2400" b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4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</a:t>
            </a:r>
            <a:r>
              <a:rPr lang="en-US" altLang="zh-CN" dirty="0" smtClean="0"/>
              <a:t>ession</a:t>
            </a:r>
            <a:r>
              <a:rPr lang="zh-CN" altLang="en-US" dirty="0" smtClean="0"/>
              <a:t>对象的常用方法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21665" y="1036955"/>
            <a:ext cx="10777220" cy="5631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&lt;%</a:t>
            </a:r>
            <a:endParaRPr lang="en-US" altLang="zh-CN" sz="2000" dirty="0"/>
          </a:p>
          <a:p>
            <a:r>
              <a:rPr lang="en-US" altLang="zh-CN" sz="2000" dirty="0"/>
              <a:t>  String </a:t>
            </a:r>
            <a:r>
              <a:rPr lang="en-US" altLang="zh-CN" sz="2000" b="1" dirty="0">
                <a:solidFill>
                  <a:srgbClr val="FF0000"/>
                </a:solidFill>
              </a:rPr>
              <a:t>id=</a:t>
            </a:r>
            <a:r>
              <a:rPr lang="en-US" altLang="zh-CN" sz="2000" b="1" dirty="0" err="1">
                <a:solidFill>
                  <a:srgbClr val="FF0000"/>
                </a:solidFill>
              </a:rPr>
              <a:t>session.getId</a:t>
            </a:r>
            <a:r>
              <a:rPr lang="en-US" altLang="zh-CN" sz="2000" b="1" dirty="0">
                <a:solidFill>
                  <a:srgbClr val="FF0000"/>
                </a:solidFill>
              </a:rPr>
              <a:t>()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r>
              <a:rPr lang="en-US" altLang="zh-CN" sz="2000" dirty="0"/>
              <a:t>  </a:t>
            </a:r>
            <a:r>
              <a:rPr lang="en-US" altLang="zh-CN" sz="2000" b="1" dirty="0" err="1"/>
              <a:t>boolean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isNewSession</a:t>
            </a:r>
            <a:r>
              <a:rPr lang="en-US" altLang="zh-CN" sz="2000" dirty="0"/>
              <a:t>=</a:t>
            </a:r>
            <a:r>
              <a:rPr lang="en-US" altLang="zh-CN" sz="2000" b="1" dirty="0" err="1">
                <a:solidFill>
                  <a:srgbClr val="FF0000"/>
                </a:solidFill>
              </a:rPr>
              <a:t>session.isNew</a:t>
            </a:r>
            <a:r>
              <a:rPr lang="en-US" altLang="zh-CN" sz="2000" b="1" dirty="0">
                <a:solidFill>
                  <a:srgbClr val="FF0000"/>
                </a:solidFill>
              </a:rPr>
              <a:t>()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r>
              <a:rPr lang="en-US" altLang="zh-CN" sz="2000" dirty="0"/>
              <a:t>  </a:t>
            </a:r>
            <a:r>
              <a:rPr lang="en-US" altLang="zh-CN" sz="2000" b="1" dirty="0" err="1">
                <a:solidFill>
                  <a:srgbClr val="FF0000"/>
                </a:solidFill>
              </a:rPr>
              <a:t>session.setAttribute</a:t>
            </a:r>
            <a:r>
              <a:rPr lang="en-US" altLang="zh-CN" sz="2000" dirty="0"/>
              <a:t>("name</a:t>
            </a:r>
            <a:r>
              <a:rPr lang="en-US" altLang="zh-CN" sz="2000" dirty="0" smtClean="0"/>
              <a:t>",“</a:t>
            </a:r>
            <a:r>
              <a:rPr lang="en-US" altLang="zh-CN" sz="2000" dirty="0" err="1" smtClean="0"/>
              <a:t>zhangsan</a:t>
            </a:r>
            <a:r>
              <a:rPr lang="en-US" altLang="zh-CN" sz="2000" dirty="0" smtClean="0"/>
              <a:t>");</a:t>
            </a:r>
            <a:endParaRPr lang="en-US" altLang="zh-CN" sz="2000" dirty="0"/>
          </a:p>
          <a:p>
            <a:r>
              <a:rPr lang="en-US" altLang="zh-CN" sz="2000" dirty="0"/>
              <a:t>  String name=(String)</a:t>
            </a:r>
            <a:r>
              <a:rPr lang="en-US" altLang="zh-CN" sz="2000" b="1" dirty="0" err="1">
                <a:solidFill>
                  <a:srgbClr val="FF0000"/>
                </a:solidFill>
              </a:rPr>
              <a:t>session.getAttribute</a:t>
            </a:r>
            <a:r>
              <a:rPr lang="en-US" altLang="zh-CN" sz="2000" dirty="0"/>
              <a:t>("name");</a:t>
            </a:r>
            <a:endParaRPr lang="en-US" altLang="zh-CN" sz="2000" dirty="0"/>
          </a:p>
          <a:p>
            <a:r>
              <a:rPr lang="en-US" altLang="zh-CN" sz="2000" dirty="0"/>
              <a:t>  //</a:t>
            </a:r>
            <a:r>
              <a:rPr lang="zh-CN" altLang="en-US" sz="2000" dirty="0"/>
              <a:t>默认的服务器设置的</a:t>
            </a:r>
            <a:r>
              <a:rPr lang="en-US" altLang="zh-CN" sz="2000" dirty="0"/>
              <a:t>session</a:t>
            </a:r>
            <a:r>
              <a:rPr lang="zh-CN" altLang="en-US" sz="2000" dirty="0"/>
              <a:t>超时数，超过此时间</a:t>
            </a:r>
            <a:r>
              <a:rPr lang="en-US" altLang="zh-CN" sz="2000" dirty="0"/>
              <a:t>session</a:t>
            </a:r>
            <a:r>
              <a:rPr lang="zh-CN" altLang="en-US" sz="2000" dirty="0"/>
              <a:t>失效</a:t>
            </a:r>
            <a:endParaRPr lang="zh-CN" altLang="en-US" sz="2000" dirty="0"/>
          </a:p>
          <a:p>
            <a:r>
              <a:rPr lang="zh-CN" altLang="en-US" sz="2000" dirty="0"/>
              <a:t>  </a:t>
            </a:r>
            <a:r>
              <a:rPr lang="en-US" altLang="zh-CN" sz="2000" b="1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originalMaxInactiveInterval</a:t>
            </a:r>
            <a:r>
              <a:rPr lang="en-US" altLang="zh-CN" sz="2000" dirty="0"/>
              <a:t>=</a:t>
            </a:r>
            <a:r>
              <a:rPr lang="en-US" altLang="zh-CN" sz="2000" b="1" dirty="0" err="1">
                <a:solidFill>
                  <a:srgbClr val="FF0000"/>
                </a:solidFill>
              </a:rPr>
              <a:t>session.getMaxInactiveInterval</a:t>
            </a:r>
            <a:r>
              <a:rPr lang="en-US" altLang="zh-CN" sz="2000" dirty="0"/>
              <a:t>();</a:t>
            </a:r>
            <a:endParaRPr lang="en-US" altLang="zh-CN" sz="2000" dirty="0"/>
          </a:p>
          <a:p>
            <a:r>
              <a:rPr lang="en-US" altLang="zh-CN" sz="2000" dirty="0"/>
              <a:t>  //</a:t>
            </a:r>
            <a:r>
              <a:rPr lang="zh-CN" altLang="en-US" sz="2000" dirty="0"/>
              <a:t>单位是秒即设置</a:t>
            </a:r>
            <a:r>
              <a:rPr lang="en-US" altLang="zh-CN" sz="2000" dirty="0"/>
              <a:t>session</a:t>
            </a:r>
            <a:r>
              <a:rPr lang="zh-CN" altLang="en-US" sz="2000" dirty="0"/>
              <a:t>超时的时间是</a:t>
            </a:r>
            <a:r>
              <a:rPr lang="en-US" altLang="zh-CN" sz="2000" dirty="0"/>
              <a:t>100</a:t>
            </a:r>
            <a:r>
              <a:rPr lang="zh-CN" altLang="en-US" sz="2000" dirty="0"/>
              <a:t>秒</a:t>
            </a:r>
            <a:endParaRPr lang="zh-CN" altLang="en-US" sz="2000" dirty="0"/>
          </a:p>
          <a:p>
            <a:r>
              <a:rPr lang="en-US" altLang="zh-CN" sz="2000" b="1" dirty="0" err="1">
                <a:solidFill>
                  <a:srgbClr val="FF0000"/>
                </a:solidFill>
              </a:rPr>
              <a:t>session.setMaxInactiveInterval</a:t>
            </a:r>
            <a:r>
              <a:rPr lang="en-US" altLang="zh-CN" sz="2000" b="1" dirty="0">
                <a:solidFill>
                  <a:srgbClr val="FF0000"/>
                </a:solidFill>
              </a:rPr>
              <a:t>(100); 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  </a:t>
            </a:r>
            <a:r>
              <a:rPr lang="en-US" altLang="zh-CN" sz="2000" b="1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newMaxInactiveInterval</a:t>
            </a:r>
            <a:r>
              <a:rPr lang="en-US" altLang="zh-CN" sz="2000" dirty="0"/>
              <a:t>=</a:t>
            </a:r>
            <a:r>
              <a:rPr lang="en-US" altLang="zh-CN" sz="2000" dirty="0" err="1"/>
              <a:t>session.getMaxInactiveInterval</a:t>
            </a:r>
            <a:r>
              <a:rPr lang="en-US" altLang="zh-CN" sz="2000" dirty="0"/>
              <a:t>();</a:t>
            </a:r>
            <a:endParaRPr lang="en-US" altLang="zh-CN" sz="2000" dirty="0"/>
          </a:p>
          <a:p>
            <a:r>
              <a:rPr lang="en-US" altLang="zh-CN" sz="2000" dirty="0"/>
              <a:t>%&gt;</a:t>
            </a:r>
            <a:endParaRPr lang="en-US" altLang="zh-CN" sz="2000" dirty="0"/>
          </a:p>
          <a:p>
            <a:r>
              <a:rPr lang="en-US" altLang="zh-CN" sz="2000" dirty="0"/>
              <a:t>&lt;h1&gt;</a:t>
            </a:r>
            <a:endParaRPr lang="en-US" altLang="zh-CN" sz="2000" dirty="0"/>
          </a:p>
          <a:p>
            <a:r>
              <a:rPr lang="en-US" altLang="zh-CN" sz="2000" dirty="0"/>
              <a:t>  id=&lt;%=id %&gt;&lt;</a:t>
            </a:r>
            <a:r>
              <a:rPr lang="en-US" altLang="zh-CN" sz="2000" dirty="0" err="1"/>
              <a:t>br</a:t>
            </a:r>
            <a:r>
              <a:rPr lang="en-US" altLang="zh-CN" sz="2000" dirty="0"/>
              <a:t>&gt;</a:t>
            </a:r>
            <a:endParaRPr lang="en-US" altLang="zh-CN" sz="2000" dirty="0"/>
          </a:p>
          <a:p>
            <a:r>
              <a:rPr lang="en-US" altLang="zh-CN" sz="2000" dirty="0"/>
              <a:t>  </a:t>
            </a:r>
            <a:r>
              <a:rPr lang="en-US" altLang="zh-CN" sz="2000" dirty="0" err="1"/>
              <a:t>isNewSession</a:t>
            </a:r>
            <a:r>
              <a:rPr lang="en-US" altLang="zh-CN" sz="2000" dirty="0"/>
              <a:t>=&lt;%=</a:t>
            </a:r>
            <a:r>
              <a:rPr lang="en-US" altLang="zh-CN" sz="2000" dirty="0" err="1"/>
              <a:t>isNewSession</a:t>
            </a:r>
            <a:r>
              <a:rPr lang="en-US" altLang="zh-CN" sz="2000" dirty="0"/>
              <a:t> %&gt;&lt;</a:t>
            </a:r>
            <a:r>
              <a:rPr lang="en-US" altLang="zh-CN" sz="2000" dirty="0" err="1"/>
              <a:t>br</a:t>
            </a:r>
            <a:r>
              <a:rPr lang="en-US" altLang="zh-CN" sz="2000" dirty="0"/>
              <a:t>&gt;</a:t>
            </a:r>
            <a:endParaRPr lang="en-US" altLang="zh-CN" sz="2000" dirty="0"/>
          </a:p>
          <a:p>
            <a:r>
              <a:rPr lang="en-US" altLang="zh-CN" sz="2000" dirty="0"/>
              <a:t>  name=&lt;%=name%&gt;&lt;</a:t>
            </a:r>
            <a:r>
              <a:rPr lang="en-US" altLang="zh-CN" sz="2000" dirty="0" err="1"/>
              <a:t>br</a:t>
            </a:r>
            <a:r>
              <a:rPr lang="en-US" altLang="zh-CN" sz="2000" dirty="0"/>
              <a:t>&gt;</a:t>
            </a:r>
            <a:endParaRPr lang="en-US" altLang="zh-CN" sz="2000" dirty="0"/>
          </a:p>
          <a:p>
            <a:r>
              <a:rPr lang="en-US" altLang="zh-CN" sz="2000" dirty="0"/>
              <a:t>  </a:t>
            </a:r>
            <a:r>
              <a:rPr lang="en-US" altLang="zh-CN" sz="2000" dirty="0" err="1"/>
              <a:t>originalMaxInactiveInterval</a:t>
            </a:r>
            <a:r>
              <a:rPr lang="en-US" altLang="zh-CN" sz="2000" dirty="0"/>
              <a:t>=&lt;%=</a:t>
            </a:r>
            <a:r>
              <a:rPr lang="en-US" altLang="zh-CN" sz="2000" dirty="0" err="1"/>
              <a:t>originalMaxInactiveInterval</a:t>
            </a:r>
            <a:r>
              <a:rPr lang="en-US" altLang="zh-CN" sz="2000" dirty="0"/>
              <a:t> %&gt;&lt;</a:t>
            </a:r>
            <a:r>
              <a:rPr lang="en-US" altLang="zh-CN" sz="2000" dirty="0" err="1"/>
              <a:t>br</a:t>
            </a:r>
            <a:r>
              <a:rPr lang="en-US" altLang="zh-CN" sz="2000" dirty="0"/>
              <a:t>&gt;</a:t>
            </a:r>
            <a:endParaRPr lang="en-US" altLang="zh-CN" sz="2000" dirty="0"/>
          </a:p>
          <a:p>
            <a:r>
              <a:rPr lang="en-US" altLang="zh-CN" sz="2000" dirty="0"/>
              <a:t>  </a:t>
            </a:r>
            <a:r>
              <a:rPr lang="en-US" altLang="zh-CN" sz="2000" dirty="0" err="1"/>
              <a:t>newMaxInactiveInterval</a:t>
            </a:r>
            <a:r>
              <a:rPr lang="en-US" altLang="zh-CN" sz="2000" dirty="0"/>
              <a:t>=&lt;%=</a:t>
            </a:r>
            <a:r>
              <a:rPr lang="en-US" altLang="zh-CN" sz="2000" dirty="0" err="1"/>
              <a:t>newMaxInactiveInterval</a:t>
            </a:r>
            <a:r>
              <a:rPr lang="en-US" altLang="zh-CN" sz="2000" dirty="0"/>
              <a:t> %&gt;&lt;</a:t>
            </a:r>
            <a:r>
              <a:rPr lang="en-US" altLang="zh-CN" sz="2000" dirty="0" err="1"/>
              <a:t>br</a:t>
            </a:r>
            <a:r>
              <a:rPr lang="en-US" altLang="zh-CN" sz="2000" dirty="0"/>
              <a:t>&gt;</a:t>
            </a:r>
            <a:endParaRPr lang="en-US" altLang="zh-CN" sz="2000" dirty="0"/>
          </a:p>
          <a:p>
            <a:r>
              <a:rPr lang="en-US" altLang="zh-CN" sz="2000" dirty="0"/>
              <a:t>&lt;/h1&gt; </a:t>
            </a:r>
            <a:endParaRPr lang="en-US" altLang="zh-CN" sz="20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session</a:t>
            </a:r>
            <a:r>
              <a:rPr lang="zh-CN" altLang="en-US" dirty="0"/>
              <a:t>对象的常用方法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每个</a:t>
            </a:r>
            <a:r>
              <a:rPr lang="en-US" altLang="zh-CN" dirty="0" smtClean="0"/>
              <a:t>JSP</a:t>
            </a:r>
            <a:r>
              <a:rPr lang="zh-CN" altLang="en-US" dirty="0" smtClean="0"/>
              <a:t>默认都支持</a:t>
            </a:r>
            <a:r>
              <a:rPr lang="en-US" altLang="zh-CN" dirty="0"/>
              <a:t>session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若不参与会话则</a:t>
            </a:r>
            <a:endParaRPr lang="en-US" altLang="zh-CN" dirty="0" smtClean="0"/>
          </a:p>
          <a:p>
            <a:pPr lvl="2" eaLnBrk="1" hangingPunct="1"/>
            <a:r>
              <a:rPr lang="en-US" altLang="zh-CN" dirty="0" smtClean="0"/>
              <a:t>&lt;%@ </a:t>
            </a:r>
            <a:r>
              <a:rPr lang="en-US" altLang="zh-CN" dirty="0"/>
              <a:t>page </a:t>
            </a:r>
            <a:r>
              <a:rPr lang="en-US" altLang="zh-CN" dirty="0" smtClean="0"/>
              <a:t>session=“false" %&gt;</a:t>
            </a:r>
            <a:endParaRPr lang="en-US" altLang="zh-CN" dirty="0" smtClean="0"/>
          </a:p>
          <a:p>
            <a:pPr eaLnBrk="1" hangingPunct="1"/>
            <a:r>
              <a:rPr lang="en-US" altLang="zh-CN" dirty="0" err="1" smtClean="0"/>
              <a:t>session.invalidate</a:t>
            </a:r>
            <a:r>
              <a:rPr lang="en-US" altLang="zh-CN" dirty="0" smtClean="0"/>
              <a:t>()</a:t>
            </a:r>
            <a:r>
              <a:rPr lang="zh-CN" altLang="en-US" dirty="0" smtClean="0"/>
              <a:t>方法</a:t>
            </a:r>
            <a:endParaRPr lang="en-US" altLang="zh-CN" dirty="0" smtClean="0"/>
          </a:p>
          <a:p>
            <a:pPr lvl="1" eaLnBrk="1" hangingPunct="1"/>
            <a:r>
              <a:rPr lang="zh-CN" altLang="en-US" dirty="0"/>
              <a:t>关闭会话释放所占</a:t>
            </a:r>
            <a:r>
              <a:rPr lang="zh-CN" altLang="en-US" dirty="0" smtClean="0"/>
              <a:t>资源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用于</a:t>
            </a:r>
            <a:r>
              <a:rPr lang="zh-CN" altLang="en-US" dirty="0"/>
              <a:t>网站登录后的注销功能</a:t>
            </a:r>
            <a:r>
              <a:rPr lang="zh-CN" altLang="en-US" dirty="0" smtClean="0"/>
              <a:t>调用</a:t>
            </a:r>
            <a:endParaRPr lang="en-US" altLang="zh-CN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Session-</a:t>
            </a:r>
            <a:r>
              <a:rPr lang="zh-CN" altLang="en-US" dirty="0" smtClean="0"/>
              <a:t>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0845" y="1135380"/>
            <a:ext cx="10920095" cy="511302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用户</a:t>
            </a:r>
            <a:r>
              <a:rPr lang="zh-CN" altLang="en-US" dirty="0"/>
              <a:t>登陆</a:t>
            </a:r>
            <a:r>
              <a:rPr lang="zh-CN" altLang="en-US" dirty="0" smtClean="0"/>
              <a:t>验证</a:t>
            </a:r>
            <a:r>
              <a:rPr lang="en-US" altLang="zh-CN" dirty="0" smtClean="0"/>
              <a:t>-</a:t>
            </a:r>
            <a:r>
              <a:rPr lang="zh-CN" altLang="en-US" dirty="0" smtClean="0"/>
              <a:t>通过</a:t>
            </a:r>
            <a:r>
              <a:rPr lang="en-US" altLang="zh-CN" dirty="0" smtClean="0"/>
              <a:t>session</a:t>
            </a:r>
            <a:r>
              <a:rPr lang="zh-CN" altLang="en-US" dirty="0" smtClean="0"/>
              <a:t>管理登陆用户名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Web</a:t>
            </a:r>
            <a:r>
              <a:rPr lang="zh-CN" altLang="en-US" dirty="0" smtClean="0"/>
              <a:t>页面</a:t>
            </a:r>
            <a:endParaRPr lang="en-US" altLang="zh-CN" dirty="0" smtClean="0"/>
          </a:p>
          <a:p>
            <a:pPr lvl="2" eaLnBrk="1" hangingPunct="1"/>
            <a:r>
              <a:rPr lang="en-US" altLang="zh-CN" dirty="0" err="1" smtClean="0"/>
              <a:t>index.jsp</a:t>
            </a:r>
            <a:r>
              <a:rPr lang="en-US" altLang="zh-CN" dirty="0" smtClean="0"/>
              <a:t>  </a:t>
            </a:r>
            <a:r>
              <a:rPr lang="zh-CN" altLang="en-US" dirty="0" smtClean="0"/>
              <a:t>登陆页面</a:t>
            </a:r>
            <a:endParaRPr lang="en-US" altLang="zh-CN" dirty="0" smtClean="0"/>
          </a:p>
          <a:p>
            <a:pPr lvl="2" eaLnBrk="1" hangingPunct="1"/>
            <a:r>
              <a:rPr lang="en-US" altLang="zh-CN" dirty="0" err="1" smtClean="0"/>
              <a:t>LoginValid.jsp</a:t>
            </a:r>
            <a:r>
              <a:rPr lang="en-US" altLang="zh-CN" dirty="0" smtClean="0"/>
              <a:t>  </a:t>
            </a:r>
            <a:r>
              <a:rPr lang="zh-CN" altLang="en-US" dirty="0" smtClean="0"/>
              <a:t>处理校验请求</a:t>
            </a:r>
            <a:endParaRPr lang="en-US" altLang="zh-CN" dirty="0" smtClean="0"/>
          </a:p>
          <a:p>
            <a:pPr lvl="2" eaLnBrk="1" hangingPunct="1"/>
            <a:r>
              <a:rPr lang="en-US" altLang="zh-CN" dirty="0" err="1" smtClean="0"/>
              <a:t>LoginSuccess.jsp</a:t>
            </a:r>
            <a:r>
              <a:rPr lang="en-US" altLang="zh-CN" dirty="0" smtClean="0"/>
              <a:t> </a:t>
            </a:r>
            <a:r>
              <a:rPr lang="zh-CN" altLang="en-US" dirty="0" smtClean="0"/>
              <a:t>登陆成功界面</a:t>
            </a:r>
            <a:endParaRPr lang="en-US" altLang="zh-CN" dirty="0" smtClean="0"/>
          </a:p>
          <a:p>
            <a:pPr lvl="2" eaLnBrk="1" hangingPunct="1"/>
            <a:r>
              <a:rPr lang="en-US" altLang="zh-CN" dirty="0" err="1" smtClean="0"/>
              <a:t>error.jsp</a:t>
            </a:r>
            <a:r>
              <a:rPr lang="en-US" altLang="zh-CN" dirty="0" smtClean="0"/>
              <a:t> </a:t>
            </a:r>
            <a:r>
              <a:rPr lang="zh-CN" altLang="en-US" dirty="0" smtClean="0"/>
              <a:t>错误处理页面</a:t>
            </a:r>
            <a:endParaRPr lang="en-US" altLang="zh-CN" dirty="0" smtClean="0"/>
          </a:p>
          <a:p>
            <a:pPr lvl="2" eaLnBrk="1" hangingPunct="1"/>
            <a:r>
              <a:rPr lang="en-US" altLang="zh-CN" dirty="0" err="1" smtClean="0"/>
              <a:t>exit.jsp</a:t>
            </a:r>
            <a:r>
              <a:rPr lang="en-US" altLang="zh-CN" dirty="0" smtClean="0"/>
              <a:t>  </a:t>
            </a:r>
            <a:r>
              <a:rPr lang="zh-CN" altLang="en-US" dirty="0" smtClean="0"/>
              <a:t>退出登陆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Java</a:t>
            </a:r>
            <a:endParaRPr lang="en-US" altLang="zh-CN" dirty="0" smtClean="0"/>
          </a:p>
          <a:p>
            <a:pPr lvl="2" eaLnBrk="1" hangingPunct="1"/>
            <a:r>
              <a:rPr lang="en-US" altLang="zh-CN" dirty="0" err="1" smtClean="0"/>
              <a:t>UserBpo</a:t>
            </a:r>
            <a:endParaRPr lang="en-US" altLang="zh-CN" dirty="0" smtClean="0"/>
          </a:p>
          <a:p>
            <a:pPr lvl="3" eaLnBrk="1" hangingPunct="1"/>
            <a:r>
              <a:rPr lang="en-US" altLang="zh-CN" dirty="0" err="1"/>
              <a:t>boolean</a:t>
            </a:r>
            <a:r>
              <a:rPr lang="en-US" altLang="zh-CN" dirty="0"/>
              <a:t> </a:t>
            </a:r>
            <a:r>
              <a:rPr lang="en-US" altLang="zh-CN" dirty="0" err="1"/>
              <a:t>validlogin</a:t>
            </a:r>
            <a:r>
              <a:rPr lang="en-US" altLang="zh-CN" dirty="0"/>
              <a:t>(String name, String password)</a:t>
            </a:r>
            <a:r>
              <a:rPr lang="en-US" altLang="zh-CN" dirty="0" smtClean="0"/>
              <a:t>  </a:t>
            </a:r>
            <a:endParaRPr lang="en-US" altLang="zh-CN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271270"/>
            <a:ext cx="11315700" cy="461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Session-</a:t>
            </a:r>
            <a:r>
              <a:rPr lang="zh-CN" altLang="en-US" dirty="0" smtClean="0"/>
              <a:t>示例关键代码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9508723" y="6341725"/>
            <a:ext cx="156591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/>
              <a:t>index.jsp</a:t>
            </a:r>
            <a:endParaRPr lang="zh-CN" altLang="en-US" sz="2400" b="1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2135560" y="1556792"/>
            <a:ext cx="259228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4378325" y="2637155"/>
            <a:ext cx="5318125" cy="571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4067175" y="3573145"/>
            <a:ext cx="6493510" cy="571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Session-</a:t>
            </a:r>
            <a:r>
              <a:rPr lang="zh-CN" altLang="en-US" dirty="0"/>
              <a:t>示例关键</a:t>
            </a:r>
            <a:r>
              <a:rPr lang="zh-CN" altLang="en-US" dirty="0" smtClean="0"/>
              <a:t>代码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077378" y="5623235"/>
            <a:ext cx="233426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/>
              <a:t>LoginValid.jsp</a:t>
            </a:r>
            <a:endParaRPr lang="zh-CN" altLang="en-US" sz="2400" b="1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96752"/>
            <a:ext cx="9063406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直接连接符 7"/>
          <p:cNvCxnSpPr/>
          <p:nvPr/>
        </p:nvCxnSpPr>
        <p:spPr>
          <a:xfrm>
            <a:off x="2063552" y="2780928"/>
            <a:ext cx="741682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087888" y="3140968"/>
            <a:ext cx="518457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2639616" y="3789040"/>
            <a:ext cx="590465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210" y="1098980"/>
            <a:ext cx="8945585" cy="1897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Session-</a:t>
            </a:r>
            <a:r>
              <a:rPr lang="zh-CN" altLang="en-US" dirty="0"/>
              <a:t>示例关键</a:t>
            </a:r>
            <a:r>
              <a:rPr lang="zh-CN" altLang="en-US" dirty="0" smtClean="0"/>
              <a:t>代码</a:t>
            </a:r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3135990" y="1772816"/>
            <a:ext cx="720848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7320136" y="4869160"/>
            <a:ext cx="264160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 smtClean="0"/>
              <a:t>LoginSuccess.jsp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Session-</a:t>
            </a:r>
            <a:r>
              <a:rPr lang="zh-CN" altLang="en-US" dirty="0"/>
              <a:t>示例关键</a:t>
            </a:r>
            <a:r>
              <a:rPr lang="zh-CN" altLang="en-US" dirty="0" smtClean="0"/>
              <a:t>代码</a:t>
            </a:r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8445" y="1065530"/>
            <a:ext cx="7110730" cy="542353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445613" y="5195285"/>
            <a:ext cx="294767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/>
              <a:t>续</a:t>
            </a:r>
            <a:r>
              <a:rPr lang="en-US" altLang="zh-CN" sz="2400" b="1" dirty="0" err="1" smtClean="0"/>
              <a:t>LoginSuccess.jsp</a:t>
            </a:r>
            <a:endParaRPr lang="zh-CN" altLang="en-US" sz="2400" b="1" dirty="0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279650" y="1917065"/>
            <a:ext cx="5400675" cy="762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279650" y="6210300"/>
            <a:ext cx="5400675" cy="2667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4204335" y="3213100"/>
            <a:ext cx="2324100" cy="3429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Session-</a:t>
            </a:r>
            <a:r>
              <a:rPr lang="zh-CN" altLang="en-US" dirty="0"/>
              <a:t>示例关键</a:t>
            </a:r>
            <a:r>
              <a:rPr lang="zh-CN" altLang="en-US" dirty="0" smtClean="0"/>
              <a:t>代码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469171" y="2039183"/>
            <a:ext cx="141224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 smtClean="0"/>
              <a:t>exit.jsp</a:t>
            </a:r>
            <a:endParaRPr lang="zh-CN" altLang="en-US" sz="2400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858" y="1412776"/>
            <a:ext cx="6585366" cy="1439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直接连接符 9"/>
          <p:cNvCxnSpPr/>
          <p:nvPr/>
        </p:nvCxnSpPr>
        <p:spPr>
          <a:xfrm>
            <a:off x="2207568" y="2132533"/>
            <a:ext cx="345638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913427" y="3768849"/>
            <a:ext cx="537787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6960096" y="4235895"/>
            <a:ext cx="17195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 smtClean="0"/>
              <a:t>header.jsp</a:t>
            </a:r>
            <a:endParaRPr lang="zh-CN" altLang="en-US" sz="2400" b="1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4655840" y="3768849"/>
            <a:ext cx="2357732" cy="697879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255" y="3350895"/>
            <a:ext cx="5304790" cy="4387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255" y="3039110"/>
            <a:ext cx="5492115" cy="3111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cookie VS session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915" y="1207135"/>
            <a:ext cx="11534775" cy="5230495"/>
          </a:xfrm>
        </p:spPr>
        <p:txBody>
          <a:bodyPr>
            <a:normAutofit fontScale="80000" lnSpcReduction="20000"/>
          </a:bodyPr>
          <a:lstStyle/>
          <a:p>
            <a:r>
              <a:rPr lang="zh-CN" altLang="en-US" dirty="0" smtClean="0"/>
              <a:t>存放方式不同</a:t>
            </a:r>
            <a:endParaRPr lang="en-US" altLang="zh-CN" dirty="0" smtClean="0"/>
          </a:p>
          <a:p>
            <a:pPr lvl="1"/>
            <a:r>
              <a:rPr lang="en-US" altLang="zh-CN" sz="3000" dirty="0" smtClean="0"/>
              <a:t>cookie</a:t>
            </a:r>
            <a:r>
              <a:rPr lang="zh-CN" altLang="en-US" sz="3000" dirty="0"/>
              <a:t>数据存放在</a:t>
            </a:r>
            <a:r>
              <a:rPr lang="zh-CN" altLang="en-US" sz="3000" dirty="0">
                <a:solidFill>
                  <a:srgbClr val="FF0000"/>
                </a:solidFill>
              </a:rPr>
              <a:t>客户的浏览器</a:t>
            </a:r>
            <a:r>
              <a:rPr lang="zh-CN" altLang="en-US" sz="3000" dirty="0" smtClean="0"/>
              <a:t>上</a:t>
            </a:r>
            <a:endParaRPr lang="en-US" altLang="zh-CN" sz="3000" dirty="0" smtClean="0"/>
          </a:p>
          <a:p>
            <a:pPr lvl="1"/>
            <a:r>
              <a:rPr lang="en-US" altLang="zh-CN" sz="3000" dirty="0" smtClean="0"/>
              <a:t>session</a:t>
            </a:r>
            <a:r>
              <a:rPr lang="zh-CN" altLang="en-US" sz="3000" dirty="0"/>
              <a:t>数据放在</a:t>
            </a:r>
            <a:r>
              <a:rPr lang="zh-CN" altLang="en-US" sz="3000" dirty="0">
                <a:solidFill>
                  <a:srgbClr val="FF0000"/>
                </a:solidFill>
              </a:rPr>
              <a:t>服务器</a:t>
            </a:r>
            <a:r>
              <a:rPr lang="zh-CN" altLang="en-US" sz="3000" dirty="0"/>
              <a:t>上</a:t>
            </a:r>
            <a:r>
              <a:rPr lang="zh-CN" altLang="en-US" sz="3000" dirty="0" smtClean="0"/>
              <a:t>。</a:t>
            </a:r>
            <a:endParaRPr lang="en-US" altLang="zh-CN" sz="3000" dirty="0" smtClean="0"/>
          </a:p>
          <a:p>
            <a:r>
              <a:rPr lang="zh-CN" altLang="en-US" dirty="0" smtClean="0"/>
              <a:t>安全性</a:t>
            </a:r>
            <a:endParaRPr lang="en-US" altLang="zh-CN" dirty="0" smtClean="0"/>
          </a:p>
          <a:p>
            <a:pPr lvl="1"/>
            <a:r>
              <a:rPr lang="en-US" altLang="zh-CN" sz="3000" dirty="0" smtClean="0"/>
              <a:t>cookie</a:t>
            </a:r>
            <a:r>
              <a:rPr lang="zh-CN" altLang="en-US" sz="3000" dirty="0">
                <a:solidFill>
                  <a:srgbClr val="FF0000"/>
                </a:solidFill>
              </a:rPr>
              <a:t>不是很安全</a:t>
            </a:r>
            <a:r>
              <a:rPr lang="zh-CN" altLang="en-US" sz="3000" dirty="0"/>
              <a:t>，别人可以分析存放在本地</a:t>
            </a:r>
            <a:r>
              <a:rPr lang="zh-CN" altLang="en-US" sz="3000" dirty="0" smtClean="0"/>
              <a:t>的</a:t>
            </a:r>
            <a:r>
              <a:rPr lang="en-US" altLang="zh-CN" sz="3000" dirty="0"/>
              <a:t>cookie</a:t>
            </a:r>
            <a:r>
              <a:rPr lang="zh-CN" altLang="en-US" sz="3000" dirty="0" smtClean="0"/>
              <a:t>并进行</a:t>
            </a:r>
            <a:r>
              <a:rPr lang="en-US" altLang="zh-CN" sz="3000" dirty="0"/>
              <a:t>cookie</a:t>
            </a:r>
            <a:r>
              <a:rPr lang="zh-CN" altLang="en-US" sz="3000" dirty="0" smtClean="0"/>
              <a:t>欺骗</a:t>
            </a:r>
            <a:endParaRPr lang="en-US" altLang="zh-CN" sz="3000" dirty="0" smtClean="0"/>
          </a:p>
          <a:p>
            <a:pPr lvl="1"/>
            <a:r>
              <a:rPr lang="zh-CN" altLang="en-US" sz="3000" dirty="0" smtClean="0"/>
              <a:t>考虑</a:t>
            </a:r>
            <a:r>
              <a:rPr lang="zh-CN" altLang="en-US" sz="3000" dirty="0"/>
              <a:t>到安全应当使用</a:t>
            </a:r>
            <a:r>
              <a:rPr lang="en-US" altLang="zh-CN" sz="3000" dirty="0"/>
              <a:t>session</a:t>
            </a:r>
            <a:r>
              <a:rPr lang="zh-CN" altLang="en-US" sz="3000" dirty="0" smtClean="0"/>
              <a:t>。</a:t>
            </a:r>
            <a:endParaRPr lang="en-US" altLang="zh-CN" sz="3000" dirty="0" smtClean="0"/>
          </a:p>
          <a:p>
            <a:r>
              <a:rPr lang="zh-CN" altLang="en-US" dirty="0" smtClean="0"/>
              <a:t>性能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session</a:t>
            </a:r>
            <a:r>
              <a:rPr lang="zh-CN" altLang="en-US" dirty="0"/>
              <a:t>会在一定时间内保存在服务器上。当访问增多，</a:t>
            </a:r>
            <a:r>
              <a:rPr lang="zh-CN" altLang="en-US" dirty="0" smtClean="0"/>
              <a:t>会降低服务器性能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单个</a:t>
            </a:r>
            <a:r>
              <a:rPr lang="en-US" altLang="zh-CN" dirty="0"/>
              <a:t>cookie</a:t>
            </a:r>
            <a:r>
              <a:rPr lang="zh-CN" altLang="en-US" dirty="0"/>
              <a:t>保存的数据不能超过</a:t>
            </a:r>
            <a:r>
              <a:rPr lang="en-US" altLang="zh-CN" dirty="0"/>
              <a:t>4K</a:t>
            </a:r>
            <a:r>
              <a:rPr lang="zh-CN" altLang="en-US" dirty="0"/>
              <a:t>，很多浏览器都限制一个站点最多保存</a:t>
            </a:r>
            <a:r>
              <a:rPr lang="en-US" altLang="zh-CN" dirty="0">
                <a:solidFill>
                  <a:srgbClr val="FF0000"/>
                </a:solidFill>
              </a:rPr>
              <a:t>20</a:t>
            </a:r>
            <a:r>
              <a:rPr lang="zh-CN" altLang="en-US" dirty="0"/>
              <a:t>个</a:t>
            </a:r>
            <a:r>
              <a:rPr lang="en-US" altLang="zh-CN" dirty="0" smtClean="0"/>
              <a:t>cookie</a:t>
            </a:r>
            <a:endParaRPr lang="en-US" altLang="zh-CN" dirty="0" smtClean="0"/>
          </a:p>
          <a:p>
            <a:r>
              <a:rPr lang="zh-CN" altLang="en-US" dirty="0" smtClean="0"/>
              <a:t>建议</a:t>
            </a:r>
            <a:r>
              <a:rPr lang="zh-CN" altLang="en-US" dirty="0"/>
              <a:t> </a:t>
            </a:r>
            <a:endParaRPr lang="en-US" altLang="zh-CN" dirty="0" smtClean="0"/>
          </a:p>
          <a:p>
            <a:pPr lvl="1"/>
            <a:r>
              <a:rPr lang="zh-CN" altLang="en-US" sz="3000" dirty="0" smtClean="0"/>
              <a:t>将</a:t>
            </a:r>
            <a:r>
              <a:rPr lang="zh-CN" altLang="en-US" sz="3000" dirty="0">
                <a:solidFill>
                  <a:srgbClr val="FF0000"/>
                </a:solidFill>
              </a:rPr>
              <a:t>登陆信息</a:t>
            </a:r>
            <a:r>
              <a:rPr lang="zh-CN" altLang="en-US" sz="3000" dirty="0"/>
              <a:t>等重要信息存放</a:t>
            </a:r>
            <a:r>
              <a:rPr lang="zh-CN" altLang="en-US" sz="3000" dirty="0" smtClean="0"/>
              <a:t>为</a:t>
            </a:r>
            <a:r>
              <a:rPr lang="en-US" altLang="zh-CN" sz="3000" dirty="0"/>
              <a:t>session</a:t>
            </a:r>
            <a:endParaRPr lang="en-US" altLang="zh-CN" sz="3000" dirty="0" smtClean="0"/>
          </a:p>
          <a:p>
            <a:pPr lvl="1"/>
            <a:r>
              <a:rPr lang="zh-CN" altLang="en-US" sz="3000" dirty="0" smtClean="0">
                <a:solidFill>
                  <a:srgbClr val="FF0000"/>
                </a:solidFill>
              </a:rPr>
              <a:t>其他</a:t>
            </a:r>
            <a:r>
              <a:rPr lang="zh-CN" altLang="en-US" sz="3000" dirty="0">
                <a:solidFill>
                  <a:srgbClr val="FF0000"/>
                </a:solidFill>
              </a:rPr>
              <a:t>信息</a:t>
            </a:r>
            <a:r>
              <a:rPr lang="zh-CN" altLang="en-US" sz="3000" dirty="0"/>
              <a:t>如果需要保留，可以放</a:t>
            </a:r>
            <a:r>
              <a:rPr lang="zh-CN" altLang="en-US" sz="3000" dirty="0" smtClean="0"/>
              <a:t>在</a:t>
            </a:r>
            <a:r>
              <a:rPr lang="en-US" altLang="zh-CN" sz="3000" dirty="0"/>
              <a:t>cookie</a:t>
            </a:r>
            <a:r>
              <a:rPr lang="zh-CN" altLang="en-US" sz="3000" dirty="0" smtClean="0"/>
              <a:t>中</a:t>
            </a:r>
            <a:endParaRPr lang="zh-CN" altLang="en-US" sz="30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右箭头 4">
            <a:hlinkClick r:id="rId1" action="ppaction://hlinksldjump"/>
          </p:cNvPr>
          <p:cNvSpPr/>
          <p:nvPr/>
        </p:nvSpPr>
        <p:spPr>
          <a:xfrm>
            <a:off x="10680700" y="582803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JSP</a:t>
            </a:r>
            <a:r>
              <a:rPr lang="zh-CN" altLang="en-US" dirty="0"/>
              <a:t>内建对象</a:t>
            </a:r>
            <a:r>
              <a:rPr lang="en-US" altLang="zh-CN" dirty="0" smtClean="0"/>
              <a:t>-application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CN" dirty="0" smtClean="0"/>
              <a:t>Application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负责提供应用程序在服务器中运行时的一些全局信息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实现了</a:t>
            </a:r>
            <a:r>
              <a:rPr lang="en-US" altLang="zh-CN" dirty="0" err="1" smtClean="0">
                <a:solidFill>
                  <a:srgbClr val="FF0000"/>
                </a:solidFill>
              </a:rPr>
              <a:t>javax.servlet.ServletContext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被</a:t>
            </a:r>
            <a:r>
              <a:rPr lang="zh-CN" altLang="en-US" dirty="0"/>
              <a:t>某个</a:t>
            </a:r>
            <a:r>
              <a:rPr lang="en-US" altLang="zh-CN" dirty="0"/>
              <a:t>Web</a:t>
            </a:r>
            <a:r>
              <a:rPr lang="zh-CN" altLang="en-US" dirty="0"/>
              <a:t>应用的所有的客户共享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当</a:t>
            </a:r>
            <a:r>
              <a:rPr lang="en-US" altLang="zh-CN" dirty="0"/>
              <a:t>Web</a:t>
            </a:r>
            <a:r>
              <a:rPr lang="zh-CN" altLang="en-US" dirty="0"/>
              <a:t>服务器启动后某个</a:t>
            </a:r>
            <a:r>
              <a:rPr lang="en-US" altLang="zh-CN" dirty="0"/>
              <a:t>Web</a:t>
            </a:r>
            <a:r>
              <a:rPr lang="zh-CN" altLang="en-US" dirty="0"/>
              <a:t>应用开始工作时由</a:t>
            </a:r>
            <a:r>
              <a:rPr lang="en-US" altLang="zh-CN" dirty="0">
                <a:solidFill>
                  <a:srgbClr val="FF0000"/>
                </a:solidFill>
              </a:rPr>
              <a:t>Web</a:t>
            </a:r>
            <a:r>
              <a:rPr lang="zh-CN" altLang="en-US" dirty="0">
                <a:solidFill>
                  <a:srgbClr val="FF0000"/>
                </a:solidFill>
              </a:rPr>
              <a:t>容器自动创建</a:t>
            </a:r>
            <a:r>
              <a:rPr lang="zh-CN" altLang="en-US" dirty="0"/>
              <a:t>该对象。</a:t>
            </a:r>
            <a:endParaRPr lang="zh-CN" altLang="en-US" dirty="0"/>
          </a:p>
          <a:p>
            <a:pPr eaLnBrk="1" hangingPunct="1"/>
            <a:r>
              <a:rPr lang="zh-CN" altLang="en-US" dirty="0" smtClean="0"/>
              <a:t>常用</a:t>
            </a:r>
            <a:r>
              <a:rPr lang="zh-CN" altLang="en-US" dirty="0"/>
              <a:t>方法：</a:t>
            </a:r>
            <a:endParaRPr lang="zh-CN" altLang="en-US" dirty="0"/>
          </a:p>
          <a:p>
            <a:pPr lvl="1" eaLnBrk="1" hangingPunct="1"/>
            <a:r>
              <a:rPr lang="en-US" altLang="zh-CN" dirty="0" err="1" smtClean="0">
                <a:solidFill>
                  <a:srgbClr val="FF0000"/>
                </a:solidFill>
              </a:rPr>
              <a:t>set</a:t>
            </a:r>
            <a:r>
              <a:rPr lang="en-US" altLang="zh-CN" dirty="0" err="1" smtClean="0"/>
              <a:t>Attribute</a:t>
            </a:r>
            <a:r>
              <a:rPr lang="en-US" altLang="zh-CN" dirty="0" smtClean="0"/>
              <a:t>(String </a:t>
            </a:r>
            <a:r>
              <a:rPr lang="en-US" altLang="zh-CN" dirty="0"/>
              <a:t>key, Object </a:t>
            </a:r>
            <a:r>
              <a:rPr lang="en-US" altLang="zh-CN" dirty="0" err="1"/>
              <a:t>obj</a:t>
            </a:r>
            <a:r>
              <a:rPr lang="en-US" altLang="zh-CN" dirty="0" smtClean="0"/>
              <a:t>)</a:t>
            </a:r>
            <a:endParaRPr lang="en-US" altLang="zh-CN" dirty="0"/>
          </a:p>
          <a:p>
            <a:pPr lvl="1" eaLnBrk="1" hangingPunct="1"/>
            <a:r>
              <a:rPr lang="en-US" altLang="zh-CN" dirty="0" err="1" smtClean="0">
                <a:solidFill>
                  <a:srgbClr val="FF0000"/>
                </a:solidFill>
              </a:rPr>
              <a:t>get</a:t>
            </a:r>
            <a:r>
              <a:rPr lang="en-US" altLang="zh-CN" dirty="0" err="1" smtClean="0"/>
              <a:t>Attribute</a:t>
            </a:r>
            <a:r>
              <a:rPr lang="en-US" altLang="zh-CN" dirty="0" smtClean="0"/>
              <a:t>(String </a:t>
            </a:r>
            <a:r>
              <a:rPr lang="en-US" altLang="zh-CN" dirty="0"/>
              <a:t>key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JSP</a:t>
            </a:r>
            <a:r>
              <a:rPr lang="zh-CN" altLang="en-US" dirty="0"/>
              <a:t>内建对象</a:t>
            </a:r>
            <a:r>
              <a:rPr lang="en-US" altLang="zh-CN" dirty="0" smtClean="0"/>
              <a:t>-application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solidFill>
                  <a:srgbClr val="FF0000"/>
                </a:solidFill>
              </a:rPr>
              <a:t>application</a:t>
            </a:r>
            <a:r>
              <a:rPr lang="zh-CN" altLang="en-US" dirty="0"/>
              <a:t>对象主要</a:t>
            </a:r>
            <a:r>
              <a:rPr lang="zh-CN" altLang="en-US" dirty="0" smtClean="0"/>
              <a:t>应用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在线</a:t>
            </a:r>
            <a:r>
              <a:rPr lang="zh-CN" altLang="en-US" dirty="0"/>
              <a:t>人员</a:t>
            </a:r>
            <a:r>
              <a:rPr lang="zh-CN" altLang="en-US" dirty="0" smtClean="0"/>
              <a:t>统计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在线</a:t>
            </a:r>
            <a:r>
              <a:rPr lang="zh-CN" altLang="en-US" dirty="0"/>
              <a:t>人员名单列表。</a:t>
            </a:r>
            <a:endParaRPr lang="zh-CN" altLang="en-US" dirty="0"/>
          </a:p>
          <a:p>
            <a:pPr eaLnBrk="1" hangingPunct="1"/>
            <a:r>
              <a:rPr lang="zh-CN" altLang="en-US" dirty="0"/>
              <a:t>如果要释放</a:t>
            </a:r>
            <a:r>
              <a:rPr lang="en-US" altLang="zh-CN" dirty="0">
                <a:solidFill>
                  <a:srgbClr val="FF0000"/>
                </a:solidFill>
              </a:rPr>
              <a:t>application</a:t>
            </a:r>
            <a:r>
              <a:rPr lang="zh-CN" altLang="en-US" dirty="0"/>
              <a:t>占用的资源，只能重启</a:t>
            </a:r>
            <a:r>
              <a:rPr lang="en-US" altLang="zh-CN" dirty="0"/>
              <a:t>Web</a:t>
            </a:r>
            <a:r>
              <a:rPr lang="zh-CN" altLang="en-US" dirty="0"/>
              <a:t>服务器。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application</a:t>
            </a:r>
            <a:r>
              <a:rPr lang="zh-CN" altLang="en-US" dirty="0" smtClean="0"/>
              <a:t>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统计在线人数</a:t>
            </a:r>
            <a:endParaRPr lang="en-US" altLang="zh-CN" dirty="0" smtClean="0"/>
          </a:p>
          <a:p>
            <a:pPr lvl="1"/>
            <a:r>
              <a:rPr lang="en-US" altLang="zh-CN" sz="2400" dirty="0" smtClean="0"/>
              <a:t>servlet</a:t>
            </a:r>
            <a:r>
              <a:rPr lang="zh-CN" altLang="en-US" sz="2400" dirty="0" smtClean="0"/>
              <a:t>监听器</a:t>
            </a:r>
            <a:r>
              <a:rPr lang="zh-CN" altLang="en-US" sz="2400" smtClean="0"/>
              <a:t>实现 </a:t>
            </a:r>
            <a:r>
              <a:rPr lang="en-US" altLang="zh-CN" sz="2400" smtClean="0"/>
              <a:t>SessionListener.java</a:t>
            </a:r>
            <a:endParaRPr lang="en-US" altLang="zh-CN" sz="2400" dirty="0" smtClean="0"/>
          </a:p>
          <a:p>
            <a:pPr lvl="2"/>
            <a:r>
              <a:rPr lang="en-US" altLang="zh-CN" dirty="0" err="1" smtClean="0"/>
              <a:t>HttpSessionListener</a:t>
            </a:r>
            <a:r>
              <a:rPr lang="en-US" altLang="zh-CN" dirty="0" smtClean="0"/>
              <a:t> </a:t>
            </a:r>
            <a:r>
              <a:rPr lang="zh-CN" altLang="en-US" dirty="0" smtClean="0"/>
              <a:t>（监听</a:t>
            </a:r>
            <a:r>
              <a:rPr lang="en-US" altLang="zh-CN" dirty="0" smtClean="0"/>
              <a:t>Http</a:t>
            </a:r>
            <a:r>
              <a:rPr lang="zh-CN" altLang="en-US" dirty="0" smtClean="0"/>
              <a:t>会话事件）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sessionCreated</a:t>
            </a:r>
            <a:r>
              <a:rPr lang="en-US" altLang="zh-CN" dirty="0" smtClean="0"/>
              <a:t>  </a:t>
            </a:r>
            <a:r>
              <a:rPr lang="zh-CN" altLang="en-US" dirty="0" smtClean="0"/>
              <a:t>新建</a:t>
            </a:r>
            <a:r>
              <a:rPr lang="en-US" altLang="zh-CN" dirty="0" smtClean="0"/>
              <a:t>session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sessionDestroyed</a:t>
            </a:r>
            <a:r>
              <a:rPr lang="en-US" altLang="zh-CN" dirty="0" smtClean="0"/>
              <a:t> </a:t>
            </a:r>
            <a:r>
              <a:rPr lang="zh-CN" altLang="en-US" dirty="0" smtClean="0"/>
              <a:t>销毁</a:t>
            </a:r>
            <a:r>
              <a:rPr lang="en-US" altLang="zh-CN" dirty="0" smtClean="0"/>
              <a:t>session</a:t>
            </a:r>
            <a:endParaRPr lang="en-US" altLang="zh-CN" dirty="0" smtClean="0"/>
          </a:p>
          <a:p>
            <a:pPr lvl="1"/>
            <a:r>
              <a:rPr lang="en-US" altLang="zh-CN" sz="2400" dirty="0" err="1" smtClean="0"/>
              <a:t>LoginValid.jsp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验证通过后创建有效</a:t>
            </a:r>
            <a:r>
              <a:rPr lang="en-US" altLang="zh-CN" sz="2400" dirty="0" smtClean="0"/>
              <a:t>session</a:t>
            </a:r>
            <a:endParaRPr lang="en-US" altLang="zh-CN" sz="2400" dirty="0" smtClean="0"/>
          </a:p>
          <a:p>
            <a:pPr lvl="1"/>
            <a:r>
              <a:rPr lang="en-US" altLang="zh-CN" sz="2400" dirty="0" err="1" smtClean="0"/>
              <a:t>Index.jsp</a:t>
            </a:r>
            <a:r>
              <a:rPr lang="en-US" altLang="zh-CN" sz="2400" dirty="0" smtClean="0"/>
              <a:t>/</a:t>
            </a:r>
            <a:r>
              <a:rPr lang="en-US" altLang="zh-CN" sz="2400" dirty="0" err="1" smtClean="0"/>
              <a:t>header.jsp</a:t>
            </a:r>
            <a:endParaRPr lang="en-US" altLang="zh-CN" sz="2400" dirty="0"/>
          </a:p>
          <a:p>
            <a:pPr lvl="2"/>
            <a:r>
              <a:rPr lang="zh-CN" altLang="en-US" dirty="0" smtClean="0"/>
              <a:t>显示在线人数的文件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application</a:t>
            </a:r>
            <a:r>
              <a:rPr lang="zh-CN" altLang="en-US" dirty="0" smtClean="0"/>
              <a:t>示例关键代码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969645"/>
            <a:ext cx="10231120" cy="5795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1589405" y="2708910"/>
            <a:ext cx="9165590" cy="1603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260438" y="6244980"/>
            <a:ext cx="233426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 smtClean="0"/>
              <a:t>LoginValid.jsp</a:t>
            </a:r>
            <a:endParaRPr lang="en-US" altLang="zh-CN" sz="2400" b="1" dirty="0"/>
          </a:p>
        </p:txBody>
      </p:sp>
      <p:sp>
        <p:nvSpPr>
          <p:cNvPr id="5" name="矩形 4"/>
          <p:cNvSpPr/>
          <p:nvPr/>
        </p:nvSpPr>
        <p:spPr>
          <a:xfrm>
            <a:off x="7442185" y="4459828"/>
            <a:ext cx="3707130" cy="460375"/>
          </a:xfrm>
          <a:prstGeom prst="rect">
            <a:avLst/>
          </a:prstGeom>
          <a:solidFill>
            <a:srgbClr val="F5F5F9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 smtClean="0"/>
              <a:t>登陆成功后再记录</a:t>
            </a:r>
            <a:r>
              <a:rPr lang="en-US" altLang="zh-CN" sz="2400" b="1" dirty="0" smtClean="0"/>
              <a:t>session</a:t>
            </a:r>
            <a:endParaRPr lang="en-US" altLang="zh-CN" sz="2400" b="1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75520" y="4886714"/>
            <a:ext cx="576064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/>
              <a:t>监听器的另一种配置方式：</a:t>
            </a:r>
            <a:r>
              <a:rPr lang="en-US" altLang="zh-CN" sz="2400" b="1" dirty="0" smtClean="0"/>
              <a:t>web.xml</a:t>
            </a:r>
            <a:r>
              <a:rPr lang="zh-CN" altLang="en-US" sz="2400" b="1" dirty="0" smtClean="0"/>
              <a:t>配置</a:t>
            </a:r>
            <a:endParaRPr lang="en-US" altLang="zh-CN" sz="2400" b="1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355" y="836711"/>
            <a:ext cx="9074149" cy="4117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396" y="5507054"/>
            <a:ext cx="8479068" cy="874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6833956" y="6237312"/>
            <a:ext cx="32562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/>
              <a:t>SessionListener.java</a:t>
            </a:r>
            <a:endParaRPr lang="en-US" altLang="zh-CN" sz="2400" b="1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458" y="1214438"/>
            <a:ext cx="9030252" cy="2070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application</a:t>
            </a:r>
            <a:r>
              <a:rPr lang="zh-CN" altLang="en-US" dirty="0" smtClean="0"/>
              <a:t>示例关键代码</a:t>
            </a:r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99856" y="5616822"/>
            <a:ext cx="156591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 smtClean="0"/>
              <a:t>index.jsp</a:t>
            </a:r>
            <a:endParaRPr lang="en-US" altLang="zh-CN" sz="2400" b="1" dirty="0"/>
          </a:p>
        </p:txBody>
      </p:sp>
      <p:cxnSp>
        <p:nvCxnSpPr>
          <p:cNvPr id="20" name="直接连接符 19"/>
          <p:cNvCxnSpPr/>
          <p:nvPr/>
        </p:nvCxnSpPr>
        <p:spPr>
          <a:xfrm>
            <a:off x="2063552" y="1772816"/>
            <a:ext cx="158417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2639616" y="2708920"/>
            <a:ext cx="302433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314" y="3789040"/>
            <a:ext cx="5424603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4" name="直接连接符 13"/>
          <p:cNvCxnSpPr/>
          <p:nvPr/>
        </p:nvCxnSpPr>
        <p:spPr>
          <a:xfrm>
            <a:off x="3215680" y="2060848"/>
            <a:ext cx="7200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7203917" y="5617500"/>
            <a:ext cx="17195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 smtClean="0"/>
              <a:t>header.jsp</a:t>
            </a:r>
            <a:endParaRPr lang="en-US" altLang="zh-CN" sz="2400" b="1" dirty="0"/>
          </a:p>
        </p:txBody>
      </p:sp>
      <p:sp>
        <p:nvSpPr>
          <p:cNvPr id="12" name="右箭头 11">
            <a:hlinkClick r:id="rId3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JSP</a:t>
            </a:r>
            <a:r>
              <a:rPr lang="zh-CN" altLang="en-US" dirty="0"/>
              <a:t>内建对象</a:t>
            </a:r>
            <a:r>
              <a:rPr lang="en-US" altLang="zh-CN" dirty="0"/>
              <a:t>-</a:t>
            </a:r>
            <a:r>
              <a:rPr lang="en-US" altLang="zh-CN" dirty="0" err="1"/>
              <a:t>pageContext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9585" y="1227455"/>
            <a:ext cx="11185525" cy="511302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 err="1" smtClean="0">
                <a:solidFill>
                  <a:srgbClr val="FF0000"/>
                </a:solidFill>
              </a:rPr>
              <a:t>pageContext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能够存取其它内建对象，当内</a:t>
            </a:r>
            <a:r>
              <a:rPr lang="zh-CN" altLang="en-US" dirty="0" smtClean="0">
                <a:sym typeface="+mn-ea"/>
              </a:rPr>
              <a:t>建</a:t>
            </a:r>
            <a:r>
              <a:rPr lang="zh-CN" altLang="en-US" dirty="0" smtClean="0"/>
              <a:t>对象包括属性时，也可以读取和写入这些属性</a:t>
            </a:r>
            <a:endParaRPr lang="en-US" altLang="zh-CN" dirty="0" smtClean="0"/>
          </a:p>
          <a:p>
            <a:r>
              <a:rPr lang="zh-CN" altLang="en-US" dirty="0"/>
              <a:t>主要</a:t>
            </a:r>
            <a:r>
              <a:rPr lang="zh-CN" altLang="en-US" dirty="0" smtClean="0"/>
              <a:t>方法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pageContext.</a:t>
            </a:r>
            <a:r>
              <a:rPr lang="en-US" altLang="zh-CN" dirty="0" err="1" smtClean="0">
                <a:solidFill>
                  <a:srgbClr val="FF0000"/>
                </a:solidFill>
              </a:rPr>
              <a:t>getRequest</a:t>
            </a:r>
            <a:r>
              <a:rPr lang="en-US" altLang="zh-CN" dirty="0" smtClean="0"/>
              <a:t>();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pageContext.</a:t>
            </a:r>
            <a:r>
              <a:rPr lang="en-US" altLang="zh-CN" dirty="0" err="1" smtClean="0">
                <a:solidFill>
                  <a:srgbClr val="FF0000"/>
                </a:solidFill>
              </a:rPr>
              <a:t>getResponse</a:t>
            </a:r>
            <a:r>
              <a:rPr lang="en-US" altLang="zh-CN" dirty="0" smtClean="0"/>
              <a:t>();</a:t>
            </a:r>
            <a:endParaRPr lang="en-US" altLang="zh-CN" dirty="0"/>
          </a:p>
          <a:p>
            <a:pPr lvl="1"/>
            <a:r>
              <a:rPr lang="en-US" altLang="zh-CN" dirty="0" err="1" smtClean="0"/>
              <a:t>pageContext.</a:t>
            </a:r>
            <a:r>
              <a:rPr lang="en-US" altLang="zh-CN" dirty="0" err="1" smtClean="0">
                <a:solidFill>
                  <a:srgbClr val="FF0000"/>
                </a:solidFill>
              </a:rPr>
              <a:t>getSession</a:t>
            </a:r>
            <a:r>
              <a:rPr lang="en-US" altLang="zh-CN" dirty="0" smtClean="0"/>
              <a:t>();</a:t>
            </a:r>
            <a:endParaRPr lang="en-US" altLang="zh-CN" dirty="0"/>
          </a:p>
          <a:p>
            <a:pPr lvl="1"/>
            <a:r>
              <a:rPr lang="en-US" altLang="zh-CN" dirty="0" err="1" smtClean="0"/>
              <a:t>pageContext.</a:t>
            </a:r>
            <a:r>
              <a:rPr lang="en-US" altLang="zh-CN" dirty="0" err="1" smtClean="0">
                <a:solidFill>
                  <a:srgbClr val="FF0000"/>
                </a:solidFill>
              </a:rPr>
              <a:t>getServletContext</a:t>
            </a:r>
            <a:r>
              <a:rPr lang="en-US" altLang="zh-CN" dirty="0" smtClean="0"/>
              <a:t>();</a:t>
            </a:r>
            <a:endParaRPr lang="en-US" altLang="zh-CN" dirty="0" smtClean="0"/>
          </a:p>
          <a:p>
            <a:pPr lvl="1"/>
            <a:r>
              <a:rPr lang="en-US" altLang="zh-CN" b="0" dirty="0" err="1">
                <a:solidFill>
                  <a:srgbClr val="FF0000"/>
                </a:solidFill>
              </a:rPr>
              <a:t>getAttribute</a:t>
            </a:r>
            <a:r>
              <a:rPr lang="en-US" altLang="zh-CN" b="0" dirty="0"/>
              <a:t>(</a:t>
            </a:r>
            <a:r>
              <a:rPr lang="en-US" altLang="zh-CN" dirty="0"/>
              <a:t>String key[,</a:t>
            </a:r>
            <a:r>
              <a:rPr lang="en-US" altLang="zh-CN" dirty="0" err="1"/>
              <a:t>int</a:t>
            </a:r>
            <a:r>
              <a:rPr lang="en-US" altLang="zh-CN" dirty="0"/>
              <a:t> scope</a:t>
            </a:r>
            <a:r>
              <a:rPr lang="en-US" altLang="zh-CN" dirty="0" smtClean="0"/>
              <a:t>]);</a:t>
            </a:r>
            <a:endParaRPr lang="en-US" altLang="zh-CN" dirty="0" smtClean="0"/>
          </a:p>
          <a:p>
            <a:pPr lvl="1"/>
            <a:r>
              <a:rPr lang="en-US" altLang="zh-CN" b="0" dirty="0" err="1">
                <a:solidFill>
                  <a:srgbClr val="FF0000"/>
                </a:solidFill>
              </a:rPr>
              <a:t>setAttribute</a:t>
            </a:r>
            <a:r>
              <a:rPr lang="en-US" altLang="zh-CN" b="0" dirty="0"/>
              <a:t>(</a:t>
            </a:r>
            <a:r>
              <a:rPr lang="en-US" altLang="zh-CN" dirty="0"/>
              <a:t>String </a:t>
            </a:r>
            <a:r>
              <a:rPr lang="en-US" altLang="zh-CN" dirty="0" err="1"/>
              <a:t>key,Object</a:t>
            </a:r>
            <a:r>
              <a:rPr lang="en-US" altLang="zh-CN" dirty="0"/>
              <a:t> </a:t>
            </a:r>
            <a:r>
              <a:rPr lang="en-US" altLang="zh-CN" dirty="0" err="1"/>
              <a:t>obj</a:t>
            </a:r>
            <a:r>
              <a:rPr lang="en-US" altLang="zh-CN" dirty="0"/>
              <a:t>[,</a:t>
            </a:r>
            <a:r>
              <a:rPr lang="en-US" altLang="zh-CN" dirty="0" err="1"/>
              <a:t>int</a:t>
            </a:r>
            <a:r>
              <a:rPr lang="en-US" altLang="zh-CN" dirty="0"/>
              <a:t> scope])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JSP</a:t>
            </a:r>
            <a:r>
              <a:rPr lang="zh-CN" altLang="en-US" dirty="0"/>
              <a:t>内建对象</a:t>
            </a:r>
            <a:r>
              <a:rPr lang="en-US" altLang="zh-CN" dirty="0"/>
              <a:t>-</a:t>
            </a:r>
            <a:r>
              <a:rPr lang="en-US" altLang="zh-CN" dirty="0" err="1"/>
              <a:t>pageContext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6555" y="1135380"/>
            <a:ext cx="11102340" cy="5113020"/>
          </a:xfrm>
        </p:spPr>
        <p:txBody>
          <a:bodyPr/>
          <a:lstStyle/>
          <a:p>
            <a:pPr lvl="0"/>
            <a:r>
              <a:rPr lang="zh-CN" altLang="zh-CN" dirty="0"/>
              <a:t>将属性对象保存在</a:t>
            </a:r>
            <a:r>
              <a:rPr lang="en-US" altLang="zh-CN" dirty="0"/>
              <a:t>request</a:t>
            </a:r>
            <a:r>
              <a:rPr lang="zh-CN" altLang="zh-CN" dirty="0"/>
              <a:t>中</a:t>
            </a:r>
            <a:endParaRPr lang="en-US" altLang="zh-CN" dirty="0" smtClean="0"/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request</a:t>
            </a:r>
            <a:r>
              <a:rPr lang="en-US" altLang="zh-CN" dirty="0" err="1" smtClean="0"/>
              <a:t>.setAttribute</a:t>
            </a:r>
            <a:r>
              <a:rPr lang="en-US" altLang="zh-CN" dirty="0"/>
              <a:t>(“</a:t>
            </a:r>
            <a:r>
              <a:rPr lang="en-US" altLang="zh-CN" dirty="0" err="1"/>
              <a:t>name”,”Mike</a:t>
            </a:r>
            <a:r>
              <a:rPr lang="en-US" altLang="zh-CN" dirty="0" smtClean="0"/>
              <a:t>”);</a:t>
            </a:r>
            <a:endParaRPr lang="en-US" altLang="zh-CN" dirty="0" smtClean="0"/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pageContext</a:t>
            </a:r>
            <a:r>
              <a:rPr lang="en-US" altLang="zh-CN" dirty="0" err="1"/>
              <a:t>.setAttribute</a:t>
            </a:r>
            <a:r>
              <a:rPr lang="en-US" altLang="zh-CN" dirty="0"/>
              <a:t>(“name”,”Mike”,</a:t>
            </a:r>
            <a:r>
              <a:rPr lang="en-US" altLang="zh-CN" dirty="0" err="1"/>
              <a:t>pageContext.REQUEST_SCOPE</a:t>
            </a:r>
            <a:r>
              <a:rPr lang="en-US" altLang="zh-CN" dirty="0" smtClean="0"/>
              <a:t>);</a:t>
            </a:r>
            <a:endParaRPr lang="en-US" altLang="zh-CN" dirty="0" smtClean="0"/>
          </a:p>
          <a:p>
            <a:pPr marL="857250" lvl="2" indent="0">
              <a:buNone/>
            </a:pPr>
            <a:r>
              <a:rPr lang="zh-CN" altLang="en-US" dirty="0" smtClean="0"/>
              <a:t>等价</a:t>
            </a:r>
            <a:endParaRPr lang="zh-CN" altLang="en-US" dirty="0"/>
          </a:p>
        </p:txBody>
      </p:sp>
      <p:sp>
        <p:nvSpPr>
          <p:cNvPr id="4" name="右箭头 3">
            <a:hlinkClick r:id="rId1" action="ppaction://hlinksldjump"/>
          </p:cNvPr>
          <p:cNvSpPr/>
          <p:nvPr/>
        </p:nvSpPr>
        <p:spPr>
          <a:xfrm>
            <a:off x="10640695" y="593725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JSP</a:t>
            </a:r>
            <a:r>
              <a:rPr lang="zh-CN" altLang="en-US" dirty="0" smtClean="0"/>
              <a:t>四种属性范围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1160" y="1135380"/>
            <a:ext cx="10800080" cy="5113020"/>
          </a:xfrm>
        </p:spPr>
        <p:txBody>
          <a:bodyPr/>
          <a:lstStyle/>
          <a:p>
            <a:r>
              <a:rPr lang="en-US" altLang="zh-CN" dirty="0" smtClean="0"/>
              <a:t>page </a:t>
            </a:r>
            <a:r>
              <a:rPr lang="zh-CN" altLang="en-US" dirty="0" smtClean="0"/>
              <a:t>页面范围</a:t>
            </a:r>
            <a:endParaRPr lang="en-US" altLang="zh-CN" dirty="0" smtClean="0"/>
          </a:p>
          <a:p>
            <a:r>
              <a:rPr lang="en-US" altLang="zh-CN" dirty="0" smtClean="0"/>
              <a:t>request </a:t>
            </a:r>
            <a:r>
              <a:rPr lang="zh-CN" altLang="en-US" dirty="0" smtClean="0"/>
              <a:t>请求范围</a:t>
            </a:r>
            <a:endParaRPr lang="en-US" altLang="zh-CN" dirty="0" smtClean="0"/>
          </a:p>
          <a:p>
            <a:r>
              <a:rPr lang="en-US" altLang="zh-CN" dirty="0" smtClean="0"/>
              <a:t>session </a:t>
            </a:r>
            <a:r>
              <a:rPr lang="zh-CN" altLang="en-US" dirty="0" smtClean="0"/>
              <a:t>会话范围</a:t>
            </a:r>
            <a:endParaRPr lang="en-US" altLang="zh-CN" dirty="0" smtClean="0"/>
          </a:p>
          <a:p>
            <a:r>
              <a:rPr lang="en-US" altLang="zh-CN" dirty="0" smtClean="0"/>
              <a:t>Application </a:t>
            </a:r>
            <a:r>
              <a:rPr lang="zh-CN" altLang="en-US" dirty="0" smtClean="0"/>
              <a:t>应用范围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通过内建对象保存的属性的作用域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page</a:t>
            </a:r>
            <a:r>
              <a:rPr lang="zh-CN" altLang="en-US" dirty="0" smtClean="0"/>
              <a:t>范围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0835" y="1135380"/>
            <a:ext cx="11346180" cy="5113020"/>
          </a:xfrm>
        </p:spPr>
        <p:txBody>
          <a:bodyPr/>
          <a:lstStyle/>
          <a:p>
            <a:pPr eaLnBrk="1" hangingPunct="1"/>
            <a:r>
              <a:rPr lang="en-US" altLang="zh-CN" dirty="0"/>
              <a:t>page</a:t>
            </a:r>
            <a:r>
              <a:rPr lang="zh-CN" altLang="en-US" dirty="0"/>
              <a:t>范围：在当前的</a:t>
            </a:r>
            <a:r>
              <a:rPr lang="en-US" altLang="zh-CN" dirty="0"/>
              <a:t>JSP</a:t>
            </a:r>
            <a:r>
              <a:rPr lang="zh-CN" altLang="en-US" dirty="0"/>
              <a:t>页面有效；必须通过</a:t>
            </a:r>
            <a:r>
              <a:rPr lang="en-US" altLang="zh-CN" dirty="0" err="1"/>
              <a:t>pageContext</a:t>
            </a:r>
            <a:r>
              <a:rPr lang="zh-CN" altLang="en-US" dirty="0"/>
              <a:t>来保存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 eaLnBrk="1" hangingPunct="1"/>
            <a:r>
              <a:rPr lang="en-US" altLang="zh-CN" dirty="0" err="1"/>
              <a:t>pageContext.setAttribute</a:t>
            </a:r>
            <a:r>
              <a:rPr lang="en-US" altLang="zh-CN" dirty="0"/>
              <a:t>(String name, Object </a:t>
            </a:r>
            <a:r>
              <a:rPr lang="en-US" altLang="zh-CN" dirty="0" err="1"/>
              <a:t>obj</a:t>
            </a:r>
            <a:r>
              <a:rPr lang="en-US" altLang="zh-CN" dirty="0"/>
              <a:t>);</a:t>
            </a:r>
            <a:endParaRPr lang="en-US" altLang="zh-CN" dirty="0"/>
          </a:p>
          <a:p>
            <a:pPr lvl="2" eaLnBrk="1" hangingPunct="1"/>
            <a:r>
              <a:rPr lang="en-US" altLang="zh-CN" dirty="0" err="1" smtClean="0"/>
              <a:t>pageContext.getAttribute</a:t>
            </a:r>
            <a:r>
              <a:rPr lang="en-US" altLang="zh-CN" dirty="0" smtClean="0"/>
              <a:t>(String </a:t>
            </a:r>
            <a:r>
              <a:rPr lang="en-US" altLang="zh-CN" dirty="0"/>
              <a:t>name</a:t>
            </a:r>
            <a:r>
              <a:rPr lang="en-US" altLang="zh-CN" dirty="0" smtClean="0"/>
              <a:t>);</a:t>
            </a:r>
            <a:endParaRPr lang="en-US" altLang="zh-CN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3284984"/>
            <a:ext cx="5400600" cy="3405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8027020" y="4302621"/>
            <a:ext cx="349188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在</a:t>
            </a:r>
            <a:r>
              <a:rPr lang="en-US" altLang="zh-CN" sz="2400" b="1" dirty="0" err="1"/>
              <a:t>a.jsp</a:t>
            </a:r>
            <a:r>
              <a:rPr lang="zh-CN" altLang="en-US" sz="2400" b="1" dirty="0"/>
              <a:t>中保存一个属性对象，那么只能在</a:t>
            </a:r>
            <a:r>
              <a:rPr lang="en-US" altLang="zh-CN" sz="2400" b="1" dirty="0" err="1"/>
              <a:t>a.jsp</a:t>
            </a:r>
            <a:r>
              <a:rPr lang="zh-CN" altLang="en-US" sz="2400" b="1" dirty="0"/>
              <a:t>中取得该属性对象</a:t>
            </a:r>
            <a:endParaRPr lang="zh-CN" altLang="en-US" sz="2400" b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request</a:t>
            </a:r>
            <a:r>
              <a:rPr lang="zh-CN" altLang="en-US" dirty="0" smtClean="0"/>
              <a:t>范围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115" y="1135380"/>
            <a:ext cx="11346815" cy="5113020"/>
          </a:xfrm>
        </p:spPr>
        <p:txBody>
          <a:bodyPr/>
          <a:lstStyle/>
          <a:p>
            <a:r>
              <a:rPr lang="en-US" altLang="zh-CN" dirty="0"/>
              <a:t>request</a:t>
            </a:r>
            <a:r>
              <a:rPr lang="zh-CN" altLang="en-US" dirty="0"/>
              <a:t>范围：在一次服务器的请求范围中有效，可能是一个页面到另一个</a:t>
            </a:r>
            <a:r>
              <a:rPr lang="zh-CN" altLang="en-US" dirty="0" smtClean="0"/>
              <a:t>页面</a:t>
            </a:r>
            <a:endParaRPr lang="en-US" altLang="zh-CN" dirty="0" smtClean="0"/>
          </a:p>
          <a:p>
            <a:pPr lvl="1" eaLnBrk="1" hangingPunct="1"/>
            <a:r>
              <a:rPr lang="en-US" altLang="zh-CN" dirty="0" err="1"/>
              <a:t>request.setAttribute</a:t>
            </a:r>
            <a:r>
              <a:rPr lang="en-US" altLang="zh-CN" dirty="0"/>
              <a:t>(String name, Object </a:t>
            </a:r>
            <a:r>
              <a:rPr lang="en-US" altLang="zh-CN" dirty="0" err="1"/>
              <a:t>obj</a:t>
            </a:r>
            <a:r>
              <a:rPr lang="en-US" altLang="zh-CN" dirty="0"/>
              <a:t>);</a:t>
            </a:r>
            <a:endParaRPr lang="en-US" altLang="zh-CN" dirty="0"/>
          </a:p>
          <a:p>
            <a:pPr lvl="1" eaLnBrk="1" hangingPunct="1"/>
            <a:r>
              <a:rPr lang="en-US" altLang="zh-CN" dirty="0" err="1"/>
              <a:t>request.getAttribute</a:t>
            </a:r>
            <a:r>
              <a:rPr lang="en-US" altLang="zh-CN" dirty="0"/>
              <a:t>(String name</a:t>
            </a:r>
            <a:r>
              <a:rPr lang="en-US" altLang="zh-CN" dirty="0" smtClean="0"/>
              <a:t>);</a:t>
            </a:r>
            <a:endParaRPr lang="en-US" altLang="zh-CN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615" y="3279742"/>
            <a:ext cx="5550497" cy="3484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7247890" y="3500755"/>
            <a:ext cx="438340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&lt;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form action=</a:t>
            </a: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400" b="1" i="1" dirty="0" err="1">
                <a:latin typeface="宋体" panose="02010600030101010101" pitchFamily="2" charset="-122"/>
                <a:ea typeface="宋体" panose="02010600030101010101" pitchFamily="2" charset="-122"/>
              </a:rPr>
              <a:t>login_do.jsp</a:t>
            </a: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</a:rPr>
              <a:t>" method="post"&gt;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6640731" y="5975695"/>
            <a:ext cx="720080" cy="576064"/>
          </a:xfrm>
          <a:prstGeom prst="straightConnector1">
            <a:avLst/>
          </a:prstGeom>
          <a:ln w="50800" cmpd="sng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744351" y="4682445"/>
            <a:ext cx="3389956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若为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客户端跳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转，则</a:t>
            </a:r>
            <a:r>
              <a:rPr lang="en-US" altLang="zh-CN" sz="24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a.jsp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中的属性，在</a:t>
            </a:r>
            <a:r>
              <a:rPr lang="en-US" altLang="zh-CN" sz="24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c.jsp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中将无法获得</a:t>
            </a: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session</a:t>
            </a:r>
            <a:r>
              <a:rPr lang="zh-CN" altLang="en-US" dirty="0" smtClean="0"/>
              <a:t>范围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2910" y="1135380"/>
            <a:ext cx="11255375" cy="5113020"/>
          </a:xfrm>
        </p:spPr>
        <p:txBody>
          <a:bodyPr/>
          <a:lstStyle/>
          <a:p>
            <a:r>
              <a:rPr lang="en-US" altLang="zh-CN" dirty="0"/>
              <a:t>session</a:t>
            </a:r>
            <a:r>
              <a:rPr lang="zh-CN" altLang="en-US" dirty="0"/>
              <a:t>范围：在一次会话范围内</a:t>
            </a:r>
            <a:r>
              <a:rPr lang="zh-CN" altLang="en-US" dirty="0" smtClean="0"/>
              <a:t>有效，所有参与本次会话的页面都可访问。</a:t>
            </a:r>
            <a:endParaRPr lang="en-US" altLang="zh-CN" dirty="0" smtClean="0"/>
          </a:p>
          <a:p>
            <a:pPr lvl="1" eaLnBrk="1" hangingPunct="1"/>
            <a:r>
              <a:rPr lang="en-US" altLang="zh-CN" dirty="0" err="1"/>
              <a:t>session.setAttribute</a:t>
            </a:r>
            <a:r>
              <a:rPr lang="en-US" altLang="zh-CN" dirty="0"/>
              <a:t>(String name, Object </a:t>
            </a:r>
            <a:r>
              <a:rPr lang="en-US" altLang="zh-CN" dirty="0" err="1"/>
              <a:t>obj</a:t>
            </a:r>
            <a:r>
              <a:rPr lang="en-US" altLang="zh-CN" dirty="0"/>
              <a:t>);</a:t>
            </a:r>
            <a:endParaRPr lang="en-US" altLang="zh-CN" dirty="0"/>
          </a:p>
          <a:p>
            <a:pPr lvl="1" eaLnBrk="1" hangingPunct="1"/>
            <a:r>
              <a:rPr lang="en-US" altLang="zh-CN" dirty="0" err="1"/>
              <a:t>session.getAttribute</a:t>
            </a:r>
            <a:r>
              <a:rPr lang="en-US" altLang="zh-CN" dirty="0"/>
              <a:t>(String name</a:t>
            </a:r>
            <a:r>
              <a:rPr lang="en-US" altLang="zh-CN" dirty="0" smtClean="0"/>
              <a:t>);</a:t>
            </a:r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7752184" y="4287619"/>
            <a:ext cx="1944216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主要应用：</a:t>
            </a: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用户登录</a:t>
            </a: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购物车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758279" y="3356992"/>
            <a:ext cx="5184576" cy="3404268"/>
            <a:chOff x="234279" y="3356992"/>
            <a:chExt cx="5184576" cy="3404268"/>
          </a:xfrm>
        </p:grpSpPr>
        <p:pic>
          <p:nvPicPr>
            <p:cNvPr id="4" name="Picture 4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279" y="3356992"/>
              <a:ext cx="5184576" cy="3404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圆角矩形 6"/>
            <p:cNvSpPr/>
            <p:nvPr/>
          </p:nvSpPr>
          <p:spPr>
            <a:xfrm>
              <a:off x="4283968" y="3933056"/>
              <a:ext cx="864096" cy="2825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 smtClean="0">
                  <a:solidFill>
                    <a:schemeClr val="tx1"/>
                  </a:solidFill>
                </a:rPr>
                <a:t>c.jsp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application</a:t>
            </a:r>
            <a:r>
              <a:rPr lang="zh-CN" altLang="en-US" dirty="0" smtClean="0"/>
              <a:t>范围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215" y="1135380"/>
            <a:ext cx="11199495" cy="5113020"/>
          </a:xfrm>
        </p:spPr>
        <p:txBody>
          <a:bodyPr/>
          <a:lstStyle/>
          <a:p>
            <a:r>
              <a:rPr lang="en-US" altLang="zh-CN" sz="2800" dirty="0"/>
              <a:t>application</a:t>
            </a:r>
            <a:r>
              <a:rPr lang="zh-CN" altLang="en-US" sz="2800" dirty="0"/>
              <a:t>范围：在一个</a:t>
            </a:r>
            <a:r>
              <a:rPr lang="en-US" altLang="zh-CN" sz="2800" dirty="0"/>
              <a:t>Web</a:t>
            </a:r>
            <a:r>
              <a:rPr lang="zh-CN" altLang="en-US" sz="2800" dirty="0"/>
              <a:t>应用范围内有效。只要设置一次，属于该应用的所有页面均可以取得该属性值。</a:t>
            </a:r>
            <a:endParaRPr lang="zh-CN" altLang="en-US" sz="2800" dirty="0"/>
          </a:p>
          <a:p>
            <a:pPr lvl="1" eaLnBrk="1" hangingPunct="1"/>
            <a:r>
              <a:rPr lang="en-US" altLang="zh-CN" sz="2400" dirty="0" err="1" smtClean="0"/>
              <a:t>application.setAttribute</a:t>
            </a:r>
            <a:r>
              <a:rPr lang="en-US" altLang="zh-CN" sz="2400" dirty="0" smtClean="0"/>
              <a:t>(String </a:t>
            </a:r>
            <a:r>
              <a:rPr lang="en-US" altLang="zh-CN" sz="2400" dirty="0"/>
              <a:t>name, Object </a:t>
            </a:r>
            <a:r>
              <a:rPr lang="en-US" altLang="zh-CN" sz="2400" dirty="0" err="1"/>
              <a:t>obj</a:t>
            </a:r>
            <a:r>
              <a:rPr lang="en-US" altLang="zh-CN" sz="2400" dirty="0"/>
              <a:t>);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 err="1"/>
              <a:t>application</a:t>
            </a:r>
            <a:r>
              <a:rPr lang="en-US" altLang="zh-CN" sz="2400" dirty="0" err="1" smtClean="0"/>
              <a:t>.getAttribute</a:t>
            </a:r>
            <a:r>
              <a:rPr lang="en-US" altLang="zh-CN" sz="2400" dirty="0" smtClean="0"/>
              <a:t>(String </a:t>
            </a:r>
            <a:r>
              <a:rPr lang="en-US" altLang="zh-CN" sz="2400" dirty="0"/>
              <a:t>name</a:t>
            </a:r>
            <a:r>
              <a:rPr lang="en-US" altLang="zh-CN" sz="2400" dirty="0" smtClean="0"/>
              <a:t>);</a:t>
            </a:r>
            <a:endParaRPr lang="en-US" altLang="zh-CN" sz="2400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0405" y="2979420"/>
            <a:ext cx="5988685" cy="388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确定保存对象的范围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request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session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application</a:t>
            </a:r>
            <a:r>
              <a:rPr lang="zh-CN" altLang="en-US" dirty="0"/>
              <a:t>这</a:t>
            </a:r>
            <a:r>
              <a:rPr lang="en-US" altLang="zh-CN" dirty="0"/>
              <a:t>3</a:t>
            </a:r>
            <a:r>
              <a:rPr lang="zh-CN" altLang="en-US" dirty="0"/>
              <a:t>个保存属性的对象都需要跨多个</a:t>
            </a:r>
            <a:r>
              <a:rPr lang="zh-CN" altLang="en-US" dirty="0" smtClean="0"/>
              <a:t>页</a:t>
            </a:r>
            <a:endParaRPr lang="en-US" altLang="zh-CN" dirty="0" smtClean="0"/>
          </a:p>
          <a:p>
            <a:r>
              <a:rPr lang="zh-CN" altLang="en-US" dirty="0"/>
              <a:t>属性保存是有</a:t>
            </a:r>
            <a:r>
              <a:rPr lang="zh-CN" altLang="en-US" dirty="0">
                <a:solidFill>
                  <a:srgbClr val="FF0000"/>
                </a:solidFill>
              </a:rPr>
              <a:t>内存</a:t>
            </a:r>
            <a:r>
              <a:rPr lang="zh-CN" altLang="en-US" dirty="0" smtClean="0"/>
              <a:t>开销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范围</a:t>
            </a:r>
            <a:r>
              <a:rPr lang="zh-CN" altLang="en-US" dirty="0"/>
              <a:t>越大开销越大，则服务器性能会</a:t>
            </a:r>
            <a:r>
              <a:rPr lang="zh-CN" altLang="en-US" dirty="0" smtClean="0"/>
              <a:t>降低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能</a:t>
            </a:r>
            <a:r>
              <a:rPr lang="zh-CN" altLang="en-US" dirty="0"/>
              <a:t>使用</a:t>
            </a:r>
            <a:r>
              <a:rPr lang="en-US" altLang="zh-CN" dirty="0"/>
              <a:t>request</a:t>
            </a:r>
            <a:r>
              <a:rPr lang="zh-CN" altLang="en-US" dirty="0"/>
              <a:t>的就使用</a:t>
            </a:r>
            <a:r>
              <a:rPr lang="en-US" altLang="zh-CN" dirty="0"/>
              <a:t>request</a:t>
            </a:r>
            <a:r>
              <a:rPr lang="zh-CN" altLang="en-US" dirty="0"/>
              <a:t>来保存属性对象而不用</a:t>
            </a:r>
            <a:r>
              <a:rPr lang="en-US" altLang="zh-CN" dirty="0"/>
              <a:t>session</a:t>
            </a:r>
            <a:r>
              <a:rPr lang="zh-CN" altLang="en-US" dirty="0"/>
              <a:t>或</a:t>
            </a:r>
            <a:r>
              <a:rPr lang="en-US" altLang="zh-CN" dirty="0"/>
              <a:t>application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能</a:t>
            </a:r>
            <a:r>
              <a:rPr lang="zh-CN" altLang="en-US" dirty="0"/>
              <a:t>使用</a:t>
            </a:r>
            <a:r>
              <a:rPr lang="en-US" altLang="zh-CN" dirty="0"/>
              <a:t>session</a:t>
            </a:r>
            <a:r>
              <a:rPr lang="zh-CN" altLang="en-US" dirty="0"/>
              <a:t>保存的就不用</a:t>
            </a:r>
            <a:r>
              <a:rPr lang="en-US" altLang="zh-CN" dirty="0" smtClean="0"/>
              <a:t>application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关键</a:t>
            </a:r>
            <a:r>
              <a:rPr lang="zh-CN" altLang="en-US" dirty="0"/>
              <a:t>是看待保存的</a:t>
            </a:r>
            <a:r>
              <a:rPr lang="zh-CN" altLang="en-US" dirty="0">
                <a:solidFill>
                  <a:srgbClr val="FF0000"/>
                </a:solidFill>
              </a:rPr>
              <a:t>属性对象需要的</a:t>
            </a:r>
            <a:r>
              <a:rPr lang="zh-CN" altLang="en-US" dirty="0" smtClean="0">
                <a:solidFill>
                  <a:srgbClr val="FF0000"/>
                </a:solidFill>
              </a:rPr>
              <a:t>范围</a:t>
            </a:r>
            <a:endParaRPr lang="zh-CN" altLang="en-US" dirty="0" smtClean="0">
              <a:solidFill>
                <a:srgbClr val="FF0000"/>
              </a:solidFill>
            </a:endParaRPr>
          </a:p>
        </p:txBody>
      </p:sp>
      <p:sp>
        <p:nvSpPr>
          <p:cNvPr id="4" name="右箭头 3">
            <a:hlinkClick r:id="rId1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重要的</a:t>
            </a: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JSP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内建</a:t>
            </a: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对象</a:t>
            </a:r>
            <a:endParaRPr lang="en-US" altLang="zh-CN" sz="2800" dirty="0" smtClean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 lvl="1" algn="just" eaLnBrk="1" hangingPunct="1">
              <a:defRPr/>
            </a:pPr>
            <a:r>
              <a:rPr lang="en-US" altLang="zh-CN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out</a:t>
            </a:r>
            <a:r>
              <a:rPr lang="zh-CN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、</a:t>
            </a:r>
            <a:r>
              <a:rPr lang="en-US" altLang="zh-CN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request</a:t>
            </a:r>
            <a:r>
              <a:rPr lang="zh-CN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、</a:t>
            </a:r>
            <a:r>
              <a:rPr lang="en-US" altLang="zh-CN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response</a:t>
            </a:r>
            <a:r>
              <a:rPr lang="zh-CN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、</a:t>
            </a:r>
            <a:r>
              <a:rPr lang="en-US" altLang="zh-CN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session</a:t>
            </a:r>
            <a:r>
              <a:rPr lang="zh-CN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、</a:t>
            </a:r>
            <a:r>
              <a:rPr lang="en-US" altLang="zh-CN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application</a:t>
            </a:r>
            <a:endParaRPr lang="en-US" altLang="zh-CN" sz="2400" dirty="0" smtClean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 lvl="1" algn="just" eaLnBrk="1" hangingPunct="1">
              <a:defRPr/>
            </a:pPr>
            <a:r>
              <a:rPr lang="zh-CN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用户会话</a:t>
            </a:r>
            <a:endParaRPr lang="zh-CN" altLang="en-US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 algn="just" eaLnBrk="1" hangingPunct="1"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四种属性</a:t>
            </a:r>
            <a:r>
              <a:rPr lang="zh-CN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范围</a:t>
            </a:r>
            <a:endParaRPr lang="en-US" altLang="zh-CN" sz="2800" dirty="0" smtClean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 lvl="1" algn="just" eaLnBrk="1" hangingPunct="1">
              <a:defRPr/>
            </a:pPr>
            <a:r>
              <a:rPr lang="en-US" altLang="zh-CN" sz="2400" dirty="0" smtClean="0"/>
              <a:t>page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request</a:t>
            </a:r>
            <a:r>
              <a:rPr lang="zh-CN" altLang="en-US" sz="2400" dirty="0"/>
              <a:t> 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session</a:t>
            </a:r>
            <a:r>
              <a:rPr lang="zh-CN" altLang="en-US" sz="2400" dirty="0"/>
              <a:t> 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application</a:t>
            </a:r>
            <a:endParaRPr lang="en-US" altLang="zh-CN" sz="2400" dirty="0"/>
          </a:p>
        </p:txBody>
      </p:sp>
      <p:sp>
        <p:nvSpPr>
          <p:cNvPr id="4" name="右箭头 3">
            <a:hlinkClick r:id="rId1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tags/tag1.xml><?xml version="1.0" encoding="utf-8"?>
<p:tagLst xmlns:p="http://schemas.openxmlformats.org/presentationml/2006/main">
  <p:tag name="COMMONDATA" val="eyJoZGlkIjoiYmFjNWZhYmVmMzg4Mzg4NGQ0MmIwMjFlNjJhNDU3MD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数据库原理及应用">
  <a:themeElements>
    <a:clrScheme name="数据库原理及应用 7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9900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8A0000"/>
      </a:accent6>
      <a:hlink>
        <a:srgbClr val="660066"/>
      </a:hlink>
      <a:folHlink>
        <a:srgbClr val="000099"/>
      </a:folHlink>
    </a:clrScheme>
    <a:fontScheme name="数据库原理及应用">
      <a:majorFont>
        <a:latin typeface="隶书"/>
        <a:ea typeface="隶书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数据库原理及应用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4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99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5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0033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6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FF99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7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660066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5518</Words>
  <Application>WPS 演示</Application>
  <PresentationFormat>全屏显示(4:3)</PresentationFormat>
  <Paragraphs>427</Paragraphs>
  <Slides>37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56" baseType="lpstr">
      <vt:lpstr>Arial</vt:lpstr>
      <vt:lpstr>宋体</vt:lpstr>
      <vt:lpstr>Wingdings</vt:lpstr>
      <vt:lpstr>Tahoma</vt:lpstr>
      <vt:lpstr>Times New Roman</vt:lpstr>
      <vt:lpstr>华文新魏</vt:lpstr>
      <vt:lpstr>隶书</vt:lpstr>
      <vt:lpstr>Monotype Sorts</vt:lpstr>
      <vt:lpstr>Wingdings</vt:lpstr>
      <vt:lpstr>楷体_GB2312</vt:lpstr>
      <vt:lpstr>新宋体</vt:lpstr>
      <vt:lpstr>华文楷体</vt:lpstr>
      <vt:lpstr>Courier New</vt:lpstr>
      <vt:lpstr>微软雅黑</vt:lpstr>
      <vt:lpstr>Arial Unicode MS</vt:lpstr>
      <vt:lpstr>Calibri</vt:lpstr>
      <vt:lpstr>楷体_GB2312</vt:lpstr>
      <vt:lpstr>Office 主题</vt:lpstr>
      <vt:lpstr>数据库原理及应用</vt:lpstr>
      <vt:lpstr>PowerPoint 演示文稿</vt:lpstr>
      <vt:lpstr>JSP内建对象</vt:lpstr>
      <vt:lpstr>JSP内建对象</vt:lpstr>
      <vt:lpstr>JSP内建对象-out</vt:lpstr>
      <vt:lpstr>JSP内建对象-request</vt:lpstr>
      <vt:lpstr>request-示例</vt:lpstr>
      <vt:lpstr>JSP内建对象-response</vt:lpstr>
      <vt:lpstr>JSP内建对象-response</vt:lpstr>
      <vt:lpstr>用户会话跟踪</vt:lpstr>
      <vt:lpstr>Cookie管理</vt:lpstr>
      <vt:lpstr>Cookie示例</vt:lpstr>
      <vt:lpstr>JSP内建对象-session</vt:lpstr>
      <vt:lpstr>session实现用户会话原理</vt:lpstr>
      <vt:lpstr>session对象的常用方法</vt:lpstr>
      <vt:lpstr>session对象的常用方法</vt:lpstr>
      <vt:lpstr>Session-示例</vt:lpstr>
      <vt:lpstr>Session-示例关键代码1</vt:lpstr>
      <vt:lpstr>Session-示例关键代码2</vt:lpstr>
      <vt:lpstr>Session-示例关键代码3</vt:lpstr>
      <vt:lpstr>Session-示例关键代码4</vt:lpstr>
      <vt:lpstr>Session-示例关键代码5</vt:lpstr>
      <vt:lpstr>cookie VS session</vt:lpstr>
      <vt:lpstr>JSP内建对象-application</vt:lpstr>
      <vt:lpstr>JSP内建对象-application</vt:lpstr>
      <vt:lpstr>application示例</vt:lpstr>
      <vt:lpstr>application示例关键代码1</vt:lpstr>
      <vt:lpstr>PowerPoint 演示文稿</vt:lpstr>
      <vt:lpstr>application示例关键代码3</vt:lpstr>
      <vt:lpstr>JSP内建对象-pageContext</vt:lpstr>
      <vt:lpstr>JSP内建对象-pageContext</vt:lpstr>
      <vt:lpstr>JSP四种属性范围</vt:lpstr>
      <vt:lpstr>page范围</vt:lpstr>
      <vt:lpstr>request范围</vt:lpstr>
      <vt:lpstr>session范围</vt:lpstr>
      <vt:lpstr>application范围</vt:lpstr>
      <vt:lpstr>确定保存对象的范围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wxh</dc:creator>
  <cp:lastModifiedBy>wxh</cp:lastModifiedBy>
  <cp:revision>731</cp:revision>
  <dcterms:created xsi:type="dcterms:W3CDTF">2015-08-18T14:24:00Z</dcterms:created>
  <dcterms:modified xsi:type="dcterms:W3CDTF">2022-09-19T23:33:12Z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ICV">
    <vt:lpwstr>F7AA42E2FDFB4117BDB691A4081279B8</vt:lpwstr>
  </property>
</Properties>
</file>