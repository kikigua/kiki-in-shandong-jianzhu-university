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301" r:id="rId6"/>
    <p:sldId id="302" r:id="rId7"/>
    <p:sldId id="303" r:id="rId8"/>
    <p:sldId id="304" r:id="rId9"/>
    <p:sldId id="311" r:id="rId10"/>
    <p:sldId id="312" r:id="rId11"/>
    <p:sldId id="313" r:id="rId12"/>
    <p:sldId id="314" r:id="rId13"/>
    <p:sldId id="315" r:id="rId14"/>
    <p:sldId id="316" r:id="rId15"/>
    <p:sldId id="335" r:id="rId16"/>
    <p:sldId id="336" r:id="rId17"/>
    <p:sldId id="337" r:id="rId18"/>
    <p:sldId id="338" r:id="rId19"/>
    <p:sldId id="307" r:id="rId20"/>
    <p:sldId id="308" r:id="rId21"/>
    <p:sldId id="317" r:id="rId22"/>
    <p:sldId id="319" r:id="rId23"/>
    <p:sldId id="318" r:id="rId24"/>
    <p:sldId id="309" r:id="rId25"/>
    <p:sldId id="310" r:id="rId26"/>
    <p:sldId id="320" r:id="rId27"/>
    <p:sldId id="323" r:id="rId28"/>
    <p:sldId id="362" r:id="rId29"/>
    <p:sldId id="324" r:id="rId30"/>
    <p:sldId id="322" r:id="rId31"/>
    <p:sldId id="325" r:id="rId32"/>
    <p:sldId id="326" r:id="rId33"/>
    <p:sldId id="321" r:id="rId34"/>
    <p:sldId id="327" r:id="rId35"/>
    <p:sldId id="328" r:id="rId36"/>
    <p:sldId id="329" r:id="rId37"/>
    <p:sldId id="330" r:id="rId38"/>
    <p:sldId id="331" r:id="rId39"/>
    <p:sldId id="332" r:id="rId40"/>
    <p:sldId id="333" r:id="rId41"/>
    <p:sldId id="300" r:id="rId42"/>
    <p:sldId id="339" r:id="rId43"/>
  </p:sldIdLst>
  <p:sldSz cx="12192000" cy="6858000"/>
  <p:notesSz cx="6858000" cy="9144000"/>
  <p:custDataLst>
    <p:tags r:id="rId47"/>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86329" autoAdjust="0"/>
  </p:normalViewPr>
  <p:slideViewPr>
    <p:cSldViewPr>
      <p:cViewPr>
        <p:scale>
          <a:sx n="70" d="100"/>
          <a:sy n="70" d="100"/>
        </p:scale>
        <p:origin x="-1132" y="-68"/>
      </p:cViewPr>
      <p:guideLst>
        <p:guide orient="horz" pos="2159"/>
        <p:guide pos="388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4.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8B5B2BF-6511-4DCF-9B8F-9C411FC533F6}"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10953FE9-278E-493E-BA78-CAD0D0CEB3F8}"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u="sng" dirty="0" smtClean="0"/>
          </a:p>
        </p:txBody>
      </p:sp>
      <p:sp>
        <p:nvSpPr>
          <p:cNvPr id="30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B16F7AC8-7840-4D1F-B55F-5D318448D9BC}" type="slidenum">
              <a:rPr lang="en-US" altLang="zh-CN" smtClean="0">
                <a:solidFill>
                  <a:srgbClr val="000000"/>
                </a:solidFill>
                <a:latin typeface="Arial" panose="020B0604020202020204" pitchFamily="34" charset="0"/>
              </a:rPr>
            </a:fld>
            <a:endParaRPr lang="en-US" altLang="zh-CN" smtClean="0">
              <a:solidFill>
                <a:srgbClr val="000000"/>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D633E4FD-F440-47A8-8D94-F8EF69E6960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lvl="1"/>
            <a:r>
              <a:rPr lang="en-US" altLang="zh-CN" sz="2400" smtClean="0">
                <a:latin typeface="宋体" panose="02010600030101010101" pitchFamily="2" charset="-122"/>
              </a:rPr>
              <a:t>JPA</a:t>
            </a:r>
            <a:r>
              <a:rPr lang="zh-CN" altLang="zh-CN" sz="2400" smtClean="0">
                <a:latin typeface="宋体" panose="02010600030101010101" pitchFamily="2" charset="-122"/>
              </a:rPr>
              <a:t>是规范</a:t>
            </a:r>
            <a:r>
              <a:rPr lang="zh-CN" altLang="en-US" sz="2400" smtClean="0">
                <a:latin typeface="宋体" panose="02010600030101010101" pitchFamily="2" charset="-122"/>
              </a:rPr>
              <a:t>：</a:t>
            </a:r>
            <a:r>
              <a:rPr lang="en-US" altLang="zh-CN" sz="2400" smtClean="0">
                <a:latin typeface="宋体" panose="02010600030101010101" pitchFamily="2" charset="-122"/>
              </a:rPr>
              <a:t>JPA</a:t>
            </a:r>
            <a:r>
              <a:rPr lang="zh-CN" altLang="zh-CN" sz="2400" smtClean="0">
                <a:latin typeface="宋体" panose="02010600030101010101" pitchFamily="2" charset="-122"/>
              </a:rPr>
              <a:t>本质上就是一种</a:t>
            </a:r>
            <a:r>
              <a:rPr lang="en-US" altLang="zh-CN" sz="2400" smtClean="0">
                <a:latin typeface="宋体" panose="02010600030101010101" pitchFamily="2" charset="-122"/>
              </a:rPr>
              <a:t>ORM</a:t>
            </a:r>
            <a:r>
              <a:rPr lang="zh-CN" altLang="zh-CN" sz="2400" smtClean="0">
                <a:latin typeface="宋体" panose="02010600030101010101" pitchFamily="2" charset="-122"/>
              </a:rPr>
              <a:t>规范，不是</a:t>
            </a:r>
            <a:r>
              <a:rPr lang="en-US" altLang="zh-CN" sz="2400" smtClean="0">
                <a:latin typeface="宋体" panose="02010600030101010101" pitchFamily="2" charset="-122"/>
              </a:rPr>
              <a:t>ORM</a:t>
            </a:r>
            <a:r>
              <a:rPr lang="zh-CN" altLang="zh-CN" sz="2400" smtClean="0">
                <a:latin typeface="宋体" panose="02010600030101010101" pitchFamily="2" charset="-122"/>
              </a:rPr>
              <a:t>框架</a:t>
            </a:r>
            <a:r>
              <a:rPr lang="en-US" altLang="zh-CN" sz="2400" smtClean="0">
                <a:latin typeface="宋体" panose="02010600030101010101" pitchFamily="2" charset="-122"/>
              </a:rPr>
              <a:t>——</a:t>
            </a:r>
            <a:r>
              <a:rPr lang="zh-CN" altLang="zh-CN" sz="2400" smtClean="0">
                <a:latin typeface="宋体" panose="02010600030101010101" pitchFamily="2" charset="-122"/>
              </a:rPr>
              <a:t>因为</a:t>
            </a:r>
            <a:r>
              <a:rPr lang="en-US" altLang="zh-CN" sz="2400" smtClean="0">
                <a:latin typeface="宋体" panose="02010600030101010101" pitchFamily="2" charset="-122"/>
              </a:rPr>
              <a:t>JPA</a:t>
            </a:r>
            <a:r>
              <a:rPr lang="zh-CN" altLang="zh-CN" sz="2400" smtClean="0">
                <a:latin typeface="宋体" panose="02010600030101010101" pitchFamily="2" charset="-122"/>
              </a:rPr>
              <a:t>并未提供</a:t>
            </a:r>
            <a:r>
              <a:rPr lang="en-US" altLang="zh-CN" sz="2400" smtClean="0">
                <a:latin typeface="宋体" panose="02010600030101010101" pitchFamily="2" charset="-122"/>
              </a:rPr>
              <a:t>ORM</a:t>
            </a:r>
            <a:r>
              <a:rPr lang="zh-CN" altLang="zh-CN" sz="2400" smtClean="0">
                <a:latin typeface="宋体" panose="02010600030101010101" pitchFamily="2" charset="-122"/>
              </a:rPr>
              <a:t>实现，它只是制订了一些规范，提供了一些编程的</a:t>
            </a:r>
            <a:r>
              <a:rPr lang="en-US" altLang="zh-CN" sz="2400" smtClean="0">
                <a:latin typeface="宋体" panose="02010600030101010101" pitchFamily="2" charset="-122"/>
              </a:rPr>
              <a:t>API</a:t>
            </a:r>
            <a:r>
              <a:rPr lang="zh-CN" altLang="zh-CN" sz="2400" smtClean="0">
                <a:latin typeface="宋体" panose="02010600030101010101" pitchFamily="2" charset="-122"/>
              </a:rPr>
              <a:t>接口，但具体实现则由服务器厂商来提供实现</a:t>
            </a:r>
            <a:endParaRPr lang="en-US" altLang="zh-CN" sz="2400" smtClean="0">
              <a:latin typeface="宋体" panose="02010600030101010101" pitchFamily="2" charset="-122"/>
            </a:endParaRPr>
          </a:p>
          <a:p>
            <a:endParaRPr lang="zh-CN" altLang="en-US" smtClean="0"/>
          </a:p>
        </p:txBody>
      </p:sp>
      <p:sp>
        <p:nvSpPr>
          <p:cNvPr id="4" name="灯片编号占位符 3"/>
          <p:cNvSpPr>
            <a:spLocks noGrp="1"/>
          </p:cNvSpPr>
          <p:nvPr>
            <p:ph type="sldNum" sz="quarter" idx="5"/>
          </p:nvPr>
        </p:nvSpPr>
        <p:spPr/>
        <p:txBody>
          <a:bodyPr/>
          <a:lstStyle/>
          <a:p>
            <a:pPr>
              <a:defRPr/>
            </a:pPr>
            <a:fld id="{FBB53380-B398-411D-8D5D-BB3B5CC123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dirty="0" err="1" smtClean="0"/>
              <a:t>JavaEE</a:t>
            </a:r>
            <a:r>
              <a:rPr lang="en-US" altLang="zh-CN" dirty="0" smtClean="0"/>
              <a:t> 7 Tutorial</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dirty="0" smtClean="0"/>
              <a:t>POJO</a:t>
            </a:r>
            <a:r>
              <a:rPr lang="zh-CN" altLang="en-US" dirty="0" smtClean="0"/>
              <a:t>（</a:t>
            </a:r>
            <a:r>
              <a:rPr lang="en-US" altLang="zh-CN" dirty="0" smtClean="0"/>
              <a:t>Plain Old Java</a:t>
            </a:r>
            <a:r>
              <a:rPr lang="en-US" altLang="zh-CN" baseline="0" dirty="0" smtClean="0"/>
              <a:t> Object</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GeneratedValue的strategy属性指定生成策略为TABLE,此时表示该主键ID采用第三方表来生成。</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通过示例演示每种关系</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OneToOne</a:t>
            </a:r>
            <a:r>
              <a:rPr lang="zh-CN" altLang="en-US" sz="1200" b="0" i="0" kern="1200" dirty="0" smtClean="0">
                <a:solidFill>
                  <a:schemeClr val="tx1"/>
                </a:solidFill>
                <a:effectLst/>
                <a:latin typeface="+mn-lt"/>
                <a:ea typeface="+mn-ea"/>
                <a:cs typeface="+mn-cs"/>
              </a:rPr>
              <a:t>注释指明</a:t>
            </a:r>
            <a:r>
              <a:rPr lang="en-US" altLang="zh-CN" sz="1200" b="0" i="0" kern="1200" dirty="0" smtClean="0">
                <a:solidFill>
                  <a:schemeClr val="tx1"/>
                </a:solidFill>
                <a:effectLst/>
                <a:latin typeface="+mn-lt"/>
                <a:ea typeface="+mn-ea"/>
                <a:cs typeface="+mn-cs"/>
              </a:rPr>
              <a:t>Person </a:t>
            </a:r>
            <a:r>
              <a:rPr lang="zh-CN" altLang="en-US" sz="1200" b="0" i="0" kern="1200" dirty="0" smtClean="0">
                <a:solidFill>
                  <a:schemeClr val="tx1"/>
                </a:solidFill>
                <a:effectLst/>
                <a:latin typeface="+mn-lt"/>
                <a:ea typeface="+mn-ea"/>
                <a:cs typeface="+mn-cs"/>
              </a:rPr>
              <a:t>与</a:t>
            </a:r>
            <a:r>
              <a:rPr lang="en-US" altLang="zh-CN" sz="1200" b="0" i="0" kern="1200" dirty="0" err="1" smtClean="0">
                <a:solidFill>
                  <a:schemeClr val="tx1"/>
                </a:solidFill>
                <a:effectLst/>
                <a:latin typeface="+mn-lt"/>
                <a:ea typeface="+mn-ea"/>
                <a:cs typeface="+mn-cs"/>
              </a:rPr>
              <a:t>IDCard</a:t>
            </a:r>
            <a:r>
              <a:rPr lang="zh-CN" altLang="en-US" sz="1200" b="0" i="0" kern="1200" dirty="0" smtClean="0">
                <a:solidFill>
                  <a:schemeClr val="tx1"/>
                </a:solidFill>
                <a:effectLst/>
                <a:latin typeface="+mn-lt"/>
                <a:ea typeface="+mn-ea"/>
                <a:cs typeface="+mn-cs"/>
              </a:rPr>
              <a:t>为一对一关系，</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OneToOne</a:t>
            </a:r>
            <a:r>
              <a:rPr lang="zh-CN" altLang="en-US" sz="1200" b="0" i="0" kern="1200" dirty="0" smtClean="0">
                <a:solidFill>
                  <a:schemeClr val="tx1"/>
                </a:solidFill>
                <a:effectLst/>
                <a:latin typeface="+mn-lt"/>
                <a:ea typeface="+mn-ea"/>
                <a:cs typeface="+mn-cs"/>
              </a:rPr>
              <a:t>注释五个属性：</a:t>
            </a:r>
            <a:r>
              <a:rPr lang="en-US" altLang="zh-CN" sz="1200" b="0" i="0" kern="1200" dirty="0" err="1" smtClean="0">
                <a:solidFill>
                  <a:schemeClr val="tx1"/>
                </a:solidFill>
                <a:effectLst/>
                <a:latin typeface="+mn-lt"/>
                <a:ea typeface="+mn-ea"/>
                <a:cs typeface="+mn-cs"/>
              </a:rPr>
              <a:t>targetEntity</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cascade</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fetch</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optional </a:t>
            </a:r>
            <a:r>
              <a:rPr lang="zh-CN" altLang="en-US" sz="1200" b="0" i="0" kern="1200" dirty="0" smtClean="0">
                <a:solidFill>
                  <a:schemeClr val="tx1"/>
                </a:solidFill>
                <a:effectLst/>
                <a:latin typeface="+mn-lt"/>
                <a:ea typeface="+mn-ea"/>
                <a:cs typeface="+mn-cs"/>
              </a:rPr>
              <a:t>和</a:t>
            </a:r>
            <a:r>
              <a:rPr lang="en-US" altLang="zh-CN" sz="1200" b="0" i="0" kern="1200" dirty="0" err="1" smtClean="0">
                <a:solidFill>
                  <a:schemeClr val="tx1"/>
                </a:solidFill>
                <a:effectLst/>
                <a:latin typeface="+mn-lt"/>
                <a:ea typeface="+mn-ea"/>
                <a:cs typeface="+mn-cs"/>
              </a:rPr>
              <a:t>mappedBy</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optional = true</a:t>
            </a:r>
            <a:r>
              <a:rPr lang="zh-CN" altLang="en-US" sz="1200" b="0" i="0" kern="1200" dirty="0" smtClean="0">
                <a:solidFill>
                  <a:schemeClr val="tx1"/>
                </a:solidFill>
                <a:effectLst/>
                <a:latin typeface="+mn-lt"/>
                <a:ea typeface="+mn-ea"/>
                <a:cs typeface="+mn-cs"/>
              </a:rPr>
              <a:t>设置</a:t>
            </a:r>
            <a:r>
              <a:rPr lang="en-US" altLang="zh-CN" sz="1200" b="0" i="0" kern="1200" dirty="0" err="1" smtClean="0">
                <a:solidFill>
                  <a:schemeClr val="tx1"/>
                </a:solidFill>
                <a:effectLst/>
                <a:latin typeface="+mn-lt"/>
                <a:ea typeface="+mn-ea"/>
                <a:cs typeface="+mn-cs"/>
              </a:rPr>
              <a:t>idcard</a:t>
            </a:r>
            <a:r>
              <a:rPr lang="zh-CN" altLang="en-US" sz="1200" b="0" i="0" kern="1200" dirty="0" smtClean="0">
                <a:solidFill>
                  <a:schemeClr val="tx1"/>
                </a:solidFill>
                <a:effectLst/>
                <a:latin typeface="+mn-lt"/>
                <a:ea typeface="+mn-ea"/>
                <a:cs typeface="+mn-cs"/>
              </a:rPr>
              <a:t>属性可以为</a:t>
            </a:r>
            <a:r>
              <a:rPr lang="en-US" altLang="zh-CN" sz="1200" b="0" i="0" kern="1200" dirty="0" smtClean="0">
                <a:solidFill>
                  <a:schemeClr val="tx1"/>
                </a:solidFill>
                <a:effectLst/>
                <a:latin typeface="+mn-lt"/>
                <a:ea typeface="+mn-ea"/>
                <a:cs typeface="+mn-cs"/>
              </a:rPr>
              <a:t>null,</a:t>
            </a:r>
            <a:r>
              <a:rPr lang="zh-CN" altLang="en-US" sz="1200" b="0" i="0" kern="1200" dirty="0" smtClean="0">
                <a:solidFill>
                  <a:schemeClr val="tx1"/>
                </a:solidFill>
                <a:effectLst/>
                <a:latin typeface="+mn-lt"/>
                <a:ea typeface="+mn-ea"/>
                <a:cs typeface="+mn-cs"/>
              </a:rPr>
              <a:t>也就是允讦没有身份证，未成年人就是没有身份证的。</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targetEntity</a:t>
            </a:r>
            <a:r>
              <a:rPr lang="zh-CN" altLang="en-US" sz="1200" b="0" i="0" kern="1200" dirty="0" smtClean="0">
                <a:solidFill>
                  <a:schemeClr val="tx1"/>
                </a:solidFill>
                <a:effectLst/>
                <a:latin typeface="+mn-lt"/>
                <a:ea typeface="+mn-ea"/>
                <a:cs typeface="+mn-cs"/>
              </a:rPr>
              <a:t>属性</a:t>
            </a:r>
            <a:r>
              <a:rPr lang="en-US" altLang="zh-CN" sz="1200" b="0" i="0" kern="1200" dirty="0" smtClean="0">
                <a:solidFill>
                  <a:schemeClr val="tx1"/>
                </a:solidFill>
                <a:effectLst/>
                <a:latin typeface="+mn-lt"/>
                <a:ea typeface="+mn-ea"/>
                <a:cs typeface="+mn-cs"/>
              </a:rPr>
              <a:t>:Class</a:t>
            </a:r>
            <a:r>
              <a:rPr lang="zh-CN" altLang="en-US" sz="1200" b="0" i="0" kern="1200" dirty="0" smtClean="0">
                <a:solidFill>
                  <a:schemeClr val="tx1"/>
                </a:solidFill>
                <a:effectLst/>
                <a:latin typeface="+mn-lt"/>
                <a:ea typeface="+mn-ea"/>
                <a:cs typeface="+mn-cs"/>
              </a:rPr>
              <a:t>类型的属性。定义关系类的类型，默认是该成员属性对应的类类型，所以通常不需要提供定义。</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cascade</a:t>
            </a:r>
            <a:r>
              <a:rPr lang="zh-CN" altLang="en-US" sz="1200" b="0" i="0" kern="1200" dirty="0" smtClean="0">
                <a:solidFill>
                  <a:schemeClr val="tx1"/>
                </a:solidFill>
                <a:effectLst/>
                <a:latin typeface="+mn-lt"/>
                <a:ea typeface="+mn-ea"/>
                <a:cs typeface="+mn-cs"/>
              </a:rPr>
              <a:t>属性：</a:t>
            </a:r>
            <a:r>
              <a:rPr lang="en-US" altLang="zh-CN" sz="1200" b="0" i="0" kern="1200" dirty="0" err="1" smtClean="0">
                <a:solidFill>
                  <a:schemeClr val="tx1"/>
                </a:solidFill>
                <a:effectLst/>
                <a:latin typeface="+mn-lt"/>
                <a:ea typeface="+mn-ea"/>
                <a:cs typeface="+mn-cs"/>
              </a:rPr>
              <a:t>CascadeType</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类型。该属性定义类和类之间的级联关系。定义的级联关系将被容器视为对当前类对象及其关联类对象采取相同的操作，而且这种关系是递归调用的。</a:t>
            </a:r>
            <a:r>
              <a:rPr lang="en-US" altLang="zh-CN" sz="1200" b="0" i="0" kern="1200" dirty="0" smtClean="0">
                <a:solidFill>
                  <a:schemeClr val="tx1"/>
                </a:solidFill>
                <a:effectLst/>
                <a:latin typeface="+mn-lt"/>
                <a:ea typeface="+mn-ea"/>
                <a:cs typeface="+mn-cs"/>
              </a:rPr>
              <a:t>cascade</a:t>
            </a:r>
            <a:r>
              <a:rPr lang="zh-CN" altLang="en-US" sz="1200" b="0" i="0" kern="1200" dirty="0" smtClean="0">
                <a:solidFill>
                  <a:schemeClr val="tx1"/>
                </a:solidFill>
                <a:effectLst/>
                <a:latin typeface="+mn-lt"/>
                <a:ea typeface="+mn-ea"/>
                <a:cs typeface="+mn-cs"/>
              </a:rPr>
              <a:t>的值只能从</a:t>
            </a:r>
            <a:r>
              <a:rPr lang="en-US" altLang="zh-CN" sz="1200" b="0" i="0" kern="1200" dirty="0" err="1" smtClean="0">
                <a:solidFill>
                  <a:schemeClr val="tx1"/>
                </a:solidFill>
                <a:effectLst/>
                <a:latin typeface="+mn-lt"/>
                <a:ea typeface="+mn-ea"/>
                <a:cs typeface="+mn-cs"/>
              </a:rPr>
              <a:t>CascadeType.PERSIST</a:t>
            </a:r>
            <a:r>
              <a:rPr lang="zh-CN" altLang="en-US" sz="1200" b="0" i="0" kern="1200" dirty="0" smtClean="0">
                <a:solidFill>
                  <a:schemeClr val="tx1"/>
                </a:solidFill>
                <a:effectLst/>
                <a:latin typeface="+mn-lt"/>
                <a:ea typeface="+mn-ea"/>
                <a:cs typeface="+mn-cs"/>
              </a:rPr>
              <a:t>（级联新建）、</a:t>
            </a:r>
            <a:r>
              <a:rPr lang="en-US" altLang="zh-CN" sz="1200" b="0" i="0" kern="1200" dirty="0" err="1" smtClean="0">
                <a:solidFill>
                  <a:schemeClr val="tx1"/>
                </a:solidFill>
                <a:effectLst/>
                <a:latin typeface="+mn-lt"/>
                <a:ea typeface="+mn-ea"/>
                <a:cs typeface="+mn-cs"/>
              </a:rPr>
              <a:t>CascadeType.REMOVE</a:t>
            </a:r>
            <a:r>
              <a:rPr lang="zh-CN" altLang="en-US" sz="1200" b="0" i="0" kern="1200" dirty="0" smtClean="0">
                <a:solidFill>
                  <a:schemeClr val="tx1"/>
                </a:solidFill>
                <a:effectLst/>
                <a:latin typeface="+mn-lt"/>
                <a:ea typeface="+mn-ea"/>
                <a:cs typeface="+mn-cs"/>
              </a:rPr>
              <a:t>（级联删除）、</a:t>
            </a:r>
            <a:r>
              <a:rPr lang="en-US" altLang="zh-CN" sz="1200" b="0" i="0" kern="1200" dirty="0" err="1" smtClean="0">
                <a:solidFill>
                  <a:schemeClr val="tx1"/>
                </a:solidFill>
                <a:effectLst/>
                <a:latin typeface="+mn-lt"/>
                <a:ea typeface="+mn-ea"/>
                <a:cs typeface="+mn-cs"/>
              </a:rPr>
              <a:t>CascadeType.REFRESH</a:t>
            </a:r>
            <a:r>
              <a:rPr lang="zh-CN" altLang="en-US" sz="1200" b="0" i="0" kern="1200" dirty="0" smtClean="0">
                <a:solidFill>
                  <a:schemeClr val="tx1"/>
                </a:solidFill>
                <a:effectLst/>
                <a:latin typeface="+mn-lt"/>
                <a:ea typeface="+mn-ea"/>
                <a:cs typeface="+mn-cs"/>
              </a:rPr>
              <a:t>（级联刷新）、</a:t>
            </a:r>
            <a:r>
              <a:rPr lang="en-US" altLang="zh-CN" sz="1200" b="0" i="0" kern="1200" dirty="0" err="1" smtClean="0">
                <a:solidFill>
                  <a:schemeClr val="tx1"/>
                </a:solidFill>
                <a:effectLst/>
                <a:latin typeface="+mn-lt"/>
                <a:ea typeface="+mn-ea"/>
                <a:cs typeface="+mn-cs"/>
              </a:rPr>
              <a:t>CascadeType.MERGE</a:t>
            </a:r>
            <a:r>
              <a:rPr lang="zh-CN" altLang="en-US" sz="1200" b="0" i="0" kern="1200" dirty="0" smtClean="0">
                <a:solidFill>
                  <a:schemeClr val="tx1"/>
                </a:solidFill>
                <a:effectLst/>
                <a:latin typeface="+mn-lt"/>
                <a:ea typeface="+mn-ea"/>
                <a:cs typeface="+mn-cs"/>
              </a:rPr>
              <a:t>（级联更新）中选择一个或多个。还有一个选择是使用</a:t>
            </a:r>
            <a:r>
              <a:rPr lang="en-US" altLang="zh-CN" sz="1200" b="0" i="0" kern="1200" dirty="0" err="1" smtClean="0">
                <a:solidFill>
                  <a:schemeClr val="tx1"/>
                </a:solidFill>
                <a:effectLst/>
                <a:latin typeface="+mn-lt"/>
                <a:ea typeface="+mn-ea"/>
                <a:cs typeface="+mn-cs"/>
              </a:rPr>
              <a:t>CascadeType.ALL</a:t>
            </a:r>
            <a:r>
              <a:rPr lang="zh-CN" altLang="en-US" sz="1200" b="0" i="0" kern="1200" dirty="0" smtClean="0">
                <a:solidFill>
                  <a:schemeClr val="tx1"/>
                </a:solidFill>
                <a:effectLst/>
                <a:latin typeface="+mn-lt"/>
                <a:ea typeface="+mn-ea"/>
                <a:cs typeface="+mn-cs"/>
              </a:rPr>
              <a:t>，表示选择全部四项。</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fetch</a:t>
            </a:r>
            <a:r>
              <a:rPr lang="zh-CN" altLang="en-US" sz="1200" b="0" i="0" kern="1200" dirty="0" smtClean="0">
                <a:solidFill>
                  <a:schemeClr val="tx1"/>
                </a:solidFill>
                <a:effectLst/>
                <a:latin typeface="+mn-lt"/>
                <a:ea typeface="+mn-ea"/>
                <a:cs typeface="+mn-cs"/>
              </a:rPr>
              <a:t>属性：</a:t>
            </a:r>
            <a:r>
              <a:rPr lang="en-US" altLang="zh-CN" sz="1200" b="0" i="0" kern="1200" dirty="0" err="1" smtClean="0">
                <a:solidFill>
                  <a:schemeClr val="tx1"/>
                </a:solidFill>
                <a:effectLst/>
                <a:latin typeface="+mn-lt"/>
                <a:ea typeface="+mn-ea"/>
                <a:cs typeface="+mn-cs"/>
              </a:rPr>
              <a:t>FetchType</a:t>
            </a:r>
            <a:r>
              <a:rPr lang="zh-CN" altLang="en-US" sz="1200" b="0" i="0" kern="1200" dirty="0" smtClean="0">
                <a:solidFill>
                  <a:schemeClr val="tx1"/>
                </a:solidFill>
                <a:effectLst/>
                <a:latin typeface="+mn-lt"/>
                <a:ea typeface="+mn-ea"/>
                <a:cs typeface="+mn-cs"/>
              </a:rPr>
              <a:t>类型的属性。可选择项包括：</a:t>
            </a:r>
            <a:r>
              <a:rPr lang="en-US" altLang="zh-CN" sz="1200" b="0" i="0" kern="1200" dirty="0" err="1" smtClean="0">
                <a:solidFill>
                  <a:schemeClr val="tx1"/>
                </a:solidFill>
                <a:effectLst/>
                <a:latin typeface="+mn-lt"/>
                <a:ea typeface="+mn-ea"/>
                <a:cs typeface="+mn-cs"/>
              </a:rPr>
              <a:t>FetchType.EAGER</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和</a:t>
            </a:r>
            <a:r>
              <a:rPr lang="en-US" altLang="zh-CN" sz="1200" b="0" i="0" kern="1200" dirty="0" err="1" smtClean="0">
                <a:solidFill>
                  <a:schemeClr val="tx1"/>
                </a:solidFill>
                <a:effectLst/>
                <a:latin typeface="+mn-lt"/>
                <a:ea typeface="+mn-ea"/>
                <a:cs typeface="+mn-cs"/>
              </a:rPr>
              <a:t>FetchType.LAZY</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FetchType.EAGER</a:t>
            </a:r>
            <a:r>
              <a:rPr lang="zh-CN" altLang="en-US" sz="1200" b="0" i="0" kern="1200" dirty="0" smtClean="0">
                <a:solidFill>
                  <a:schemeClr val="tx1"/>
                </a:solidFill>
                <a:effectLst/>
                <a:latin typeface="+mn-lt"/>
                <a:ea typeface="+mn-ea"/>
                <a:cs typeface="+mn-cs"/>
              </a:rPr>
              <a:t>表示关系类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本例是</a:t>
            </a:r>
            <a:r>
              <a:rPr lang="en-US" altLang="zh-CN" sz="1200" b="0" i="0" kern="1200" dirty="0" err="1" smtClean="0">
                <a:solidFill>
                  <a:schemeClr val="tx1"/>
                </a:solidFill>
                <a:effectLst/>
                <a:latin typeface="+mn-lt"/>
                <a:ea typeface="+mn-ea"/>
                <a:cs typeface="+mn-cs"/>
              </a:rPr>
              <a:t>OrderItem</a:t>
            </a:r>
            <a:r>
              <a:rPr lang="zh-CN" altLang="en-US" sz="1200" b="0" i="0" kern="1200" dirty="0" smtClean="0">
                <a:solidFill>
                  <a:schemeClr val="tx1"/>
                </a:solidFill>
                <a:effectLst/>
                <a:latin typeface="+mn-lt"/>
                <a:ea typeface="+mn-ea"/>
                <a:cs typeface="+mn-cs"/>
              </a:rPr>
              <a:t>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在主类加载的时候同时加载，</a:t>
            </a:r>
            <a:r>
              <a:rPr lang="en-US" altLang="zh-CN" sz="1200" b="0" i="0" kern="1200" dirty="0" err="1" smtClean="0">
                <a:solidFill>
                  <a:schemeClr val="tx1"/>
                </a:solidFill>
                <a:effectLst/>
                <a:latin typeface="+mn-lt"/>
                <a:ea typeface="+mn-ea"/>
                <a:cs typeface="+mn-cs"/>
              </a:rPr>
              <a:t>FetchType.LAZY</a:t>
            </a:r>
            <a:r>
              <a:rPr lang="zh-CN" altLang="en-US" sz="1200" b="0" i="0" kern="1200" dirty="0" smtClean="0">
                <a:solidFill>
                  <a:schemeClr val="tx1"/>
                </a:solidFill>
                <a:effectLst/>
                <a:latin typeface="+mn-lt"/>
                <a:ea typeface="+mn-ea"/>
                <a:cs typeface="+mn-cs"/>
              </a:rPr>
              <a:t>表示关系类在被访问时才加载。默认值是</a:t>
            </a:r>
            <a:r>
              <a:rPr lang="en-US" altLang="zh-CN" sz="1200" b="0" i="0" kern="1200" dirty="0" err="1" smtClean="0">
                <a:solidFill>
                  <a:schemeClr val="tx1"/>
                </a:solidFill>
                <a:effectLst/>
                <a:latin typeface="+mn-lt"/>
                <a:ea typeface="+mn-ea"/>
                <a:cs typeface="+mn-cs"/>
              </a:rPr>
              <a:t>FetchType.LAZY</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OrderBy</a:t>
            </a:r>
            <a:r>
              <a:rPr lang="en-US" altLang="zh-CN" sz="1200" b="0" i="0" kern="1200" dirty="0" smtClean="0">
                <a:solidFill>
                  <a:schemeClr val="tx1"/>
                </a:solidFill>
                <a:effectLst/>
                <a:latin typeface="+mn-lt"/>
                <a:ea typeface="+mn-ea"/>
                <a:cs typeface="+mn-cs"/>
              </a:rPr>
              <a:t>(value = "id ASC")</a:t>
            </a:r>
            <a:r>
              <a:rPr lang="zh-CN" altLang="en-US" sz="1200" b="0" i="0" kern="1200" dirty="0" smtClean="0">
                <a:solidFill>
                  <a:schemeClr val="tx1"/>
                </a:solidFill>
                <a:effectLst/>
                <a:latin typeface="+mn-lt"/>
                <a:ea typeface="+mn-ea"/>
                <a:cs typeface="+mn-cs"/>
              </a:rPr>
              <a:t>注释指明加载元组时按</a:t>
            </a:r>
            <a:r>
              <a:rPr lang="en-US" altLang="zh-CN" sz="1200" b="0" i="0" kern="1200" dirty="0" smtClean="0">
                <a:solidFill>
                  <a:schemeClr val="tx1"/>
                </a:solidFill>
                <a:effectLst/>
                <a:latin typeface="+mn-lt"/>
                <a:ea typeface="+mn-ea"/>
                <a:cs typeface="+mn-cs"/>
              </a:rPr>
              <a:t>id</a:t>
            </a:r>
            <a:r>
              <a:rPr lang="zh-CN" altLang="en-US" sz="1200" b="0" i="0" kern="1200" dirty="0" smtClean="0">
                <a:solidFill>
                  <a:schemeClr val="tx1"/>
                </a:solidFill>
                <a:effectLst/>
                <a:latin typeface="+mn-lt"/>
                <a:ea typeface="+mn-ea"/>
                <a:cs typeface="+mn-cs"/>
              </a:rPr>
              <a:t>的升序排序（降序 </a:t>
            </a:r>
            <a:r>
              <a:rPr lang="en-US" altLang="zh-CN" sz="1200" b="0" i="0" kern="1200" dirty="0" smtClean="0">
                <a:solidFill>
                  <a:schemeClr val="tx1"/>
                </a:solidFill>
                <a:effectLst/>
                <a:latin typeface="+mn-lt"/>
                <a:ea typeface="+mn-ea"/>
                <a:cs typeface="+mn-cs"/>
              </a:rPr>
              <a:t>"DESC"</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en-US" altLang="zh-CN" b="1" dirty="0" smtClean="0"/>
              <a:t>@</a:t>
            </a:r>
            <a:r>
              <a:rPr lang="en-US" altLang="zh-CN" b="1" dirty="0" err="1" smtClean="0"/>
              <a:t>JoinColumn</a:t>
            </a:r>
            <a:r>
              <a:rPr lang="zh-CN" altLang="en-US" b="1" dirty="0" smtClean="0"/>
              <a:t>支持的属性</a:t>
            </a:r>
            <a:endParaRPr lang="zh-CN" altLang="en-US" b="1" dirty="0" smtClean="0"/>
          </a:p>
          <a:p>
            <a:r>
              <a:rPr lang="zh-CN" altLang="en-US" dirty="0" smtClean="0"/>
              <a:t>属性 是否必须 说明 </a:t>
            </a:r>
            <a:endParaRPr lang="en-US" altLang="zh-CN" dirty="0" smtClean="0"/>
          </a:p>
          <a:p>
            <a:r>
              <a:rPr lang="en-US" altLang="zh-CN" dirty="0" err="1" smtClean="0">
                <a:effectLst/>
              </a:rPr>
              <a:t>columnDefinition</a:t>
            </a:r>
            <a:r>
              <a:rPr lang="en-US" altLang="zh-CN" dirty="0" smtClean="0"/>
              <a:t> </a:t>
            </a:r>
            <a:r>
              <a:rPr lang="zh-CN" altLang="en-US" dirty="0" smtClean="0">
                <a:effectLst/>
              </a:rPr>
              <a:t>否</a:t>
            </a:r>
            <a:r>
              <a:rPr lang="zh-CN" altLang="en-US" dirty="0" smtClean="0"/>
              <a:t> 指定</a:t>
            </a:r>
            <a:r>
              <a:rPr lang="en-US" altLang="zh-CN" dirty="0" smtClean="0"/>
              <a:t>Hibernate</a:t>
            </a:r>
            <a:r>
              <a:rPr lang="zh-CN" altLang="en-US" dirty="0" smtClean="0"/>
              <a:t>使用该属性值指定的</a:t>
            </a:r>
            <a:r>
              <a:rPr lang="en-US" altLang="zh-CN" dirty="0" smtClean="0"/>
              <a:t>SQL</a:t>
            </a:r>
            <a:r>
              <a:rPr lang="zh-CN" altLang="en-US" dirty="0" smtClean="0"/>
              <a:t>片段来创建外键列 </a:t>
            </a:r>
            <a:endParaRPr lang="en-US" altLang="zh-CN" dirty="0" smtClean="0"/>
          </a:p>
          <a:p>
            <a:r>
              <a:rPr lang="en-US" altLang="zh-CN" dirty="0" smtClean="0">
                <a:effectLst/>
              </a:rPr>
              <a:t>name</a:t>
            </a:r>
            <a:r>
              <a:rPr lang="en-US" altLang="zh-CN" dirty="0" smtClean="0"/>
              <a:t> </a:t>
            </a:r>
            <a:r>
              <a:rPr lang="zh-CN" altLang="en-US" dirty="0" smtClean="0">
                <a:effectLst/>
              </a:rPr>
              <a:t>否</a:t>
            </a:r>
            <a:r>
              <a:rPr lang="zh-CN" altLang="en-US" dirty="0" smtClean="0"/>
              <a:t> 指定该外键列的列名 </a:t>
            </a:r>
            <a:endParaRPr lang="en-US" altLang="zh-CN" dirty="0" smtClean="0"/>
          </a:p>
          <a:p>
            <a:r>
              <a:rPr lang="en-US" altLang="zh-CN" dirty="0" err="1" smtClean="0">
                <a:effectLst/>
              </a:rPr>
              <a:t>insertable</a:t>
            </a:r>
            <a:r>
              <a:rPr lang="en-US" altLang="zh-CN" dirty="0" smtClean="0"/>
              <a:t> </a:t>
            </a:r>
            <a:r>
              <a:rPr lang="zh-CN" altLang="en-US" dirty="0" smtClean="0">
                <a:effectLst/>
              </a:rPr>
              <a:t>否</a:t>
            </a:r>
            <a:r>
              <a:rPr lang="zh-CN" altLang="en-US" dirty="0" smtClean="0"/>
              <a:t> 指定该列是否包含在</a:t>
            </a:r>
            <a:r>
              <a:rPr lang="en-US" altLang="zh-CN" dirty="0" smtClean="0"/>
              <a:t>Hibernate</a:t>
            </a:r>
            <a:r>
              <a:rPr lang="zh-CN" altLang="en-US" dirty="0" smtClean="0"/>
              <a:t>生成的</a:t>
            </a:r>
            <a:r>
              <a:rPr lang="en-US" altLang="zh-CN" dirty="0" smtClean="0"/>
              <a:t>insert</a:t>
            </a:r>
            <a:r>
              <a:rPr lang="zh-CN" altLang="en-US" dirty="0" smtClean="0"/>
              <a:t>语句的列表中。默认值</a:t>
            </a:r>
            <a:r>
              <a:rPr lang="en-US" altLang="zh-CN" dirty="0" smtClean="0"/>
              <a:t>: true </a:t>
            </a:r>
            <a:endParaRPr lang="en-US" altLang="zh-CN" dirty="0" smtClean="0"/>
          </a:p>
          <a:p>
            <a:r>
              <a:rPr lang="en-US" altLang="zh-CN" dirty="0" smtClean="0">
                <a:effectLst/>
              </a:rPr>
              <a:t>updatable</a:t>
            </a:r>
            <a:r>
              <a:rPr lang="en-US" altLang="zh-CN" dirty="0" smtClean="0"/>
              <a:t> </a:t>
            </a:r>
            <a:r>
              <a:rPr lang="zh-CN" altLang="en-US" dirty="0" smtClean="0">
                <a:effectLst/>
              </a:rPr>
              <a:t>否</a:t>
            </a:r>
            <a:r>
              <a:rPr lang="zh-CN" altLang="en-US" dirty="0" smtClean="0"/>
              <a:t> 指定该列是否包含在</a:t>
            </a:r>
            <a:r>
              <a:rPr lang="en-US" altLang="zh-CN" dirty="0" smtClean="0"/>
              <a:t>Hibernate</a:t>
            </a:r>
            <a:r>
              <a:rPr lang="zh-CN" altLang="en-US" dirty="0" smtClean="0"/>
              <a:t>生成的</a:t>
            </a:r>
            <a:r>
              <a:rPr lang="en-US" altLang="zh-CN" dirty="0" smtClean="0"/>
              <a:t>update</a:t>
            </a:r>
            <a:r>
              <a:rPr lang="zh-CN" altLang="en-US" dirty="0" smtClean="0"/>
              <a:t>语句的列表中。默认值</a:t>
            </a:r>
            <a:r>
              <a:rPr lang="en-US" altLang="zh-CN" dirty="0" smtClean="0"/>
              <a:t>: true </a:t>
            </a:r>
            <a:endParaRPr lang="en-US" altLang="zh-CN" dirty="0" smtClean="0"/>
          </a:p>
          <a:p>
            <a:r>
              <a:rPr lang="en-US" altLang="zh-CN" dirty="0" err="1" smtClean="0">
                <a:effectLst/>
              </a:rPr>
              <a:t>nullable</a:t>
            </a:r>
            <a:r>
              <a:rPr lang="en-US" altLang="zh-CN" dirty="0" smtClean="0"/>
              <a:t> </a:t>
            </a:r>
            <a:r>
              <a:rPr lang="zh-CN" altLang="en-US" dirty="0" smtClean="0">
                <a:effectLst/>
              </a:rPr>
              <a:t>否</a:t>
            </a:r>
            <a:r>
              <a:rPr lang="zh-CN" altLang="en-US" dirty="0" smtClean="0"/>
              <a:t> 指定该列是否允许为</a:t>
            </a:r>
            <a:r>
              <a:rPr lang="en-US" altLang="zh-CN" dirty="0" smtClean="0"/>
              <a:t>null</a:t>
            </a:r>
            <a:r>
              <a:rPr lang="zh-CN" altLang="en-US" dirty="0" smtClean="0"/>
              <a:t>。默认值</a:t>
            </a:r>
            <a:r>
              <a:rPr lang="en-US" altLang="zh-CN" dirty="0" smtClean="0"/>
              <a:t>: true </a:t>
            </a:r>
            <a:endParaRPr lang="en-US" altLang="zh-CN" dirty="0" smtClean="0"/>
          </a:p>
          <a:p>
            <a:r>
              <a:rPr lang="en-US" altLang="zh-CN" dirty="0" smtClean="0">
                <a:effectLst/>
              </a:rPr>
              <a:t>table</a:t>
            </a:r>
            <a:r>
              <a:rPr lang="en-US" altLang="zh-CN" dirty="0" smtClean="0"/>
              <a:t> </a:t>
            </a:r>
            <a:r>
              <a:rPr lang="zh-CN" altLang="en-US" dirty="0" smtClean="0">
                <a:effectLst/>
              </a:rPr>
              <a:t>否</a:t>
            </a:r>
            <a:r>
              <a:rPr lang="zh-CN" altLang="en-US" dirty="0" smtClean="0"/>
              <a:t> 指定该列所在数据表的表名 </a:t>
            </a:r>
            <a:endParaRPr lang="en-US" altLang="zh-CN" dirty="0" smtClean="0"/>
          </a:p>
          <a:p>
            <a:r>
              <a:rPr lang="en-US" altLang="zh-CN" dirty="0" smtClean="0">
                <a:effectLst/>
              </a:rPr>
              <a:t>unique</a:t>
            </a:r>
            <a:r>
              <a:rPr lang="en-US" altLang="zh-CN" dirty="0" smtClean="0"/>
              <a:t> </a:t>
            </a:r>
            <a:r>
              <a:rPr lang="zh-CN" altLang="en-US" dirty="0" smtClean="0">
                <a:effectLst/>
              </a:rPr>
              <a:t>否</a:t>
            </a:r>
            <a:r>
              <a:rPr lang="zh-CN" altLang="en-US" dirty="0" smtClean="0"/>
              <a:t> 指定是否为该列增加唯一约束 </a:t>
            </a:r>
            <a:endParaRPr lang="en-US" altLang="zh-CN" dirty="0" smtClean="0"/>
          </a:p>
          <a:p>
            <a:r>
              <a:rPr lang="en-US" altLang="zh-CN" dirty="0" err="1" smtClean="0">
                <a:effectLst/>
              </a:rPr>
              <a:t>referencedColumnName</a:t>
            </a:r>
            <a:r>
              <a:rPr lang="en-US" altLang="zh-CN" dirty="0" smtClean="0"/>
              <a:t> </a:t>
            </a:r>
            <a:r>
              <a:rPr lang="zh-CN" altLang="en-US" dirty="0" smtClean="0">
                <a:effectLst/>
              </a:rPr>
              <a:t>否</a:t>
            </a:r>
            <a:r>
              <a:rPr lang="zh-CN" altLang="en-US" dirty="0" smtClean="0"/>
              <a:t> 指定该外列所参照的主键列的列名</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endParaRPr lang="zh-CN" altLang="en-US" dirty="0"/>
          </a:p>
          <a:p>
            <a:r>
              <a:rPr lang="zh-CN" altLang="en-US" dirty="0"/>
              <a:t>定义两个实体之间的双向关系时，关系具体的定义必须在有外键的实体，而外键参考的实体中，则仅通过mappedBy引用已定义好的关系。</a:t>
            </a:r>
            <a:endParaRPr lang="zh-CN" altLang="en-US" dirty="0"/>
          </a:p>
          <a:p>
            <a:endParaRPr lang="zh-CN" altLang="en-US" dirty="0"/>
          </a:p>
          <a:p>
            <a:r>
              <a:rPr lang="zh-CN" altLang="en-US" dirty="0"/>
              <a:t>否则关联查询会出现问题</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smtClean="0">
                <a:solidFill>
                  <a:schemeClr val="tx1"/>
                </a:solidFill>
                <a:effectLst/>
                <a:latin typeface="+mn-lt"/>
                <a:ea typeface="+mn-ea"/>
                <a:cs typeface="+mn-cs"/>
              </a:rPr>
              <a:t>@column</a:t>
            </a:r>
            <a:r>
              <a:rPr lang="zh-CN" altLang="en-US" sz="1200" b="1" i="0" kern="1200" dirty="0" smtClean="0">
                <a:solidFill>
                  <a:schemeClr val="tx1"/>
                </a:solidFill>
                <a:effectLst/>
                <a:latin typeface="+mn-lt"/>
                <a:ea typeface="+mn-ea"/>
                <a:cs typeface="+mn-cs"/>
              </a:rPr>
              <a:t>注解</a:t>
            </a:r>
            <a:endParaRPr lang="en-US" altLang="zh-CN" sz="1200" b="1" i="0" kern="1200" dirty="0" smtClean="0">
              <a:solidFill>
                <a:schemeClr val="tx1"/>
              </a:solidFill>
              <a:effectLst/>
              <a:latin typeface="+mn-lt"/>
              <a:ea typeface="+mn-ea"/>
              <a:cs typeface="+mn-cs"/>
            </a:endParaRPr>
          </a:p>
          <a:p>
            <a:r>
              <a:rPr lang="en-US" altLang="zh-CN" sz="1200" b="1" i="0" kern="1200" dirty="0" err="1" smtClean="0">
                <a:solidFill>
                  <a:schemeClr val="tx1"/>
                </a:solidFill>
                <a:effectLst/>
                <a:latin typeface="+mn-lt"/>
                <a:ea typeface="+mn-ea"/>
                <a:cs typeface="+mn-cs"/>
              </a:rPr>
              <a:t>insertable</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insertable</a:t>
            </a:r>
            <a:r>
              <a:rPr lang="zh-CN" altLang="en-US" sz="1200" b="0" i="0" kern="1200" dirty="0" smtClean="0">
                <a:solidFill>
                  <a:schemeClr val="tx1"/>
                </a:solidFill>
                <a:effectLst/>
                <a:latin typeface="+mn-lt"/>
                <a:ea typeface="+mn-ea"/>
                <a:cs typeface="+mn-cs"/>
              </a:rPr>
              <a:t>属性表示在使用“</a:t>
            </a:r>
            <a:r>
              <a:rPr lang="en-US" altLang="zh-CN" sz="1200" b="0" i="0" kern="1200" dirty="0" smtClean="0">
                <a:solidFill>
                  <a:schemeClr val="tx1"/>
                </a:solidFill>
                <a:effectLst/>
                <a:latin typeface="+mn-lt"/>
                <a:ea typeface="+mn-ea"/>
                <a:cs typeface="+mn-cs"/>
              </a:rPr>
              <a:t>insert”</a:t>
            </a:r>
            <a:r>
              <a:rPr lang="zh-CN" altLang="en-US" sz="1200" b="0" i="0" kern="1200" dirty="0" smtClean="0">
                <a:solidFill>
                  <a:schemeClr val="tx1"/>
                </a:solidFill>
                <a:effectLst/>
                <a:latin typeface="+mn-lt"/>
                <a:ea typeface="+mn-ea"/>
                <a:cs typeface="+mn-cs"/>
              </a:rPr>
              <a:t>脚本插入数据时，是否需要插入该字段的值。</a:t>
            </a:r>
            <a:endParaRPr lang="zh-CN" altLang="en-US" sz="1200" b="0" i="0" kern="1200" dirty="0" smtClean="0">
              <a:solidFill>
                <a:schemeClr val="tx1"/>
              </a:solidFill>
              <a:effectLst/>
              <a:latin typeface="+mn-lt"/>
              <a:ea typeface="+mn-ea"/>
              <a:cs typeface="+mn-cs"/>
            </a:endParaRPr>
          </a:p>
          <a:p>
            <a:r>
              <a:rPr lang="en-US" altLang="zh-CN" sz="1200" b="1" i="0" kern="1200" dirty="0" smtClean="0">
                <a:solidFill>
                  <a:schemeClr val="tx1"/>
                </a:solidFill>
                <a:effectLst/>
                <a:latin typeface="+mn-lt"/>
                <a:ea typeface="+mn-ea"/>
                <a:cs typeface="+mn-cs"/>
              </a:rPr>
              <a:t>updatable</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updatable</a:t>
            </a:r>
            <a:r>
              <a:rPr lang="zh-CN" altLang="en-US" sz="1200" b="0" i="0" kern="1200" dirty="0" smtClean="0">
                <a:solidFill>
                  <a:schemeClr val="tx1"/>
                </a:solidFill>
                <a:effectLst/>
                <a:latin typeface="+mn-lt"/>
                <a:ea typeface="+mn-ea"/>
                <a:cs typeface="+mn-cs"/>
              </a:rPr>
              <a:t>属性表示在使用“</a:t>
            </a:r>
            <a:r>
              <a:rPr lang="en-US" altLang="zh-CN" sz="1200" b="0" i="0" kern="1200" dirty="0" smtClean="0">
                <a:solidFill>
                  <a:schemeClr val="tx1"/>
                </a:solidFill>
                <a:effectLst/>
                <a:latin typeface="+mn-lt"/>
                <a:ea typeface="+mn-ea"/>
                <a:cs typeface="+mn-cs"/>
              </a:rPr>
              <a:t>update”</a:t>
            </a:r>
            <a:r>
              <a:rPr lang="zh-CN" altLang="en-US" sz="1200" b="0" i="0" kern="1200" dirty="0" smtClean="0">
                <a:solidFill>
                  <a:schemeClr val="tx1"/>
                </a:solidFill>
                <a:effectLst/>
                <a:latin typeface="+mn-lt"/>
                <a:ea typeface="+mn-ea"/>
                <a:cs typeface="+mn-cs"/>
              </a:rPr>
              <a:t>脚本插入数据时，是否需要更新该字段的值。</a:t>
            </a:r>
            <a:r>
              <a:rPr lang="en-US" altLang="zh-CN" sz="1200" b="0" i="0" kern="1200" dirty="0" err="1" smtClean="0">
                <a:solidFill>
                  <a:schemeClr val="tx1"/>
                </a:solidFill>
                <a:effectLst/>
                <a:latin typeface="+mn-lt"/>
                <a:ea typeface="+mn-ea"/>
                <a:cs typeface="+mn-cs"/>
              </a:rPr>
              <a:t>insertable</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updatable</a:t>
            </a:r>
            <a:r>
              <a:rPr lang="zh-CN" altLang="en-US" sz="1200" b="0" i="0" kern="1200" dirty="0" smtClean="0">
                <a:solidFill>
                  <a:schemeClr val="tx1"/>
                </a:solidFill>
                <a:effectLst/>
                <a:latin typeface="+mn-lt"/>
                <a:ea typeface="+mn-ea"/>
                <a:cs typeface="+mn-cs"/>
              </a:rPr>
              <a:t>属性一般多用于只读的属性，例如主键和外键等。这些字段的值通常是自动生成的。</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通过一个具体的</a:t>
            </a:r>
            <a:r>
              <a:rPr lang="en-US" altLang="zh-CN" dirty="0" smtClean="0"/>
              <a:t>CRUD</a:t>
            </a:r>
            <a:r>
              <a:rPr lang="zh-CN" altLang="en-US" dirty="0" smtClean="0"/>
              <a:t>方法解释实体的四</a:t>
            </a:r>
            <a:r>
              <a:rPr lang="zh-CN" altLang="en-US" smtClean="0"/>
              <a:t>种状态</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如果进行批量更新或删除操作，您必须使用</a:t>
            </a:r>
            <a:r>
              <a:rPr lang="en-US" altLang="zh-CN" dirty="0" err="1" smtClean="0"/>
              <a:t>executeUpdate</a:t>
            </a:r>
            <a:r>
              <a:rPr lang="en-US" altLang="zh-CN" dirty="0" smtClean="0"/>
              <a:t>()</a:t>
            </a:r>
            <a:r>
              <a:rPr lang="zh-CN" altLang="en-US" dirty="0" smtClean="0"/>
              <a:t>方法（单个的更新有</a:t>
            </a:r>
            <a:r>
              <a:rPr lang="en-US" altLang="zh-CN" dirty="0" err="1" smtClean="0"/>
              <a:t>find+setter</a:t>
            </a:r>
            <a:r>
              <a:rPr lang="zh-CN" altLang="en-US" dirty="0" smtClean="0"/>
              <a:t>方法，单个的删除有</a:t>
            </a:r>
            <a:r>
              <a:rPr lang="en-US" altLang="zh-CN" dirty="0" err="1" smtClean="0"/>
              <a:t>find+remove</a:t>
            </a:r>
            <a:r>
              <a:rPr lang="zh-CN" altLang="en-US" dirty="0" smtClean="0"/>
              <a:t>），它返回已更新或删除的实体实例的数量。但是批处理操作</a:t>
            </a:r>
            <a:r>
              <a:rPr lang="en-US" altLang="zh-CN" dirty="0" err="1" smtClean="0"/>
              <a:t>executeUpdate</a:t>
            </a:r>
            <a:r>
              <a:rPr lang="zh-CN" altLang="en-US" dirty="0" smtClean="0"/>
              <a:t>最终转换成</a:t>
            </a:r>
            <a:r>
              <a:rPr lang="en-US" altLang="zh-CN" dirty="0" smtClean="0"/>
              <a:t>SQL</a:t>
            </a:r>
            <a:r>
              <a:rPr lang="zh-CN" altLang="en-US" dirty="0" smtClean="0"/>
              <a:t>并在数据库中执行，绕过了持久化环境</a:t>
            </a:r>
            <a:r>
              <a:rPr lang="en-US" altLang="zh-CN" dirty="0" smtClean="0"/>
              <a:t>(</a:t>
            </a:r>
            <a:r>
              <a:rPr lang="en-US" altLang="zh-CN" dirty="0" err="1" smtClean="0"/>
              <a:t>persistencecontext</a:t>
            </a:r>
            <a:r>
              <a:rPr lang="en-US" altLang="zh-CN" dirty="0" smtClean="0"/>
              <a:t>)</a:t>
            </a:r>
            <a:r>
              <a:rPr lang="zh-CN" altLang="en-US" dirty="0" smtClean="0"/>
              <a:t>，因此不会将任何修改应用于受管理的实体，即托管状态被容器管理的实体并没有修改或更新。这时，需要用</a:t>
            </a:r>
            <a:r>
              <a:rPr lang="en-US" altLang="zh-CN" dirty="0" smtClean="0"/>
              <a:t>refresh()</a:t>
            </a:r>
            <a:r>
              <a:rPr lang="zh-CN" altLang="en-US" dirty="0" smtClean="0"/>
              <a:t>方法来刷新实体对象，容器将数据库中的最新值重写进实体对象。 </a:t>
            </a:r>
            <a:r>
              <a:rPr lang="en-US" altLang="zh-CN" dirty="0" smtClean="0"/>
              <a:t>JPA</a:t>
            </a:r>
            <a:r>
              <a:rPr lang="zh-CN" altLang="en-US" dirty="0" smtClean="0"/>
              <a:t>执行原生</a:t>
            </a:r>
            <a:r>
              <a:rPr lang="en-US" altLang="zh-CN" dirty="0" smtClean="0"/>
              <a:t>SQL</a:t>
            </a:r>
            <a:r>
              <a:rPr lang="zh-CN" altLang="en-US" dirty="0" smtClean="0"/>
              <a:t>不会对实体进行跟踪，所以要避免导致数据库数据发生改变的的</a:t>
            </a:r>
            <a:r>
              <a:rPr lang="en-US" altLang="zh-CN" dirty="0" smtClean="0"/>
              <a:t>insert</a:t>
            </a:r>
            <a:r>
              <a:rPr lang="zh-CN" altLang="en-US" dirty="0" smtClean="0"/>
              <a:t>，</a:t>
            </a:r>
            <a:r>
              <a:rPr lang="en-US" altLang="zh-CN" dirty="0" smtClean="0"/>
              <a:t>update</a:t>
            </a:r>
            <a:r>
              <a:rPr lang="zh-CN" altLang="en-US" dirty="0" smtClean="0"/>
              <a:t>和</a:t>
            </a:r>
            <a:r>
              <a:rPr lang="en-US" altLang="zh-CN" dirty="0" smtClean="0"/>
              <a:t>delete</a:t>
            </a:r>
            <a:r>
              <a:rPr lang="zh-CN" altLang="en-US" dirty="0" smtClean="0"/>
              <a:t>语句，因为这种改变不会反映到实体中。</a:t>
            </a:r>
            <a:r>
              <a:rPr lang="en-US" altLang="zh-CN" dirty="0" err="1" smtClean="0"/>
              <a:t>NativeSQL</a:t>
            </a:r>
            <a:r>
              <a:rPr lang="zh-CN" altLang="en-US" dirty="0" smtClean="0"/>
              <a:t>，除了做</a:t>
            </a:r>
            <a:r>
              <a:rPr lang="en-US" altLang="zh-CN" dirty="0" smtClean="0"/>
              <a:t>select</a:t>
            </a:r>
            <a:r>
              <a:rPr lang="zh-CN" altLang="en-US" dirty="0" smtClean="0"/>
              <a:t>查询之外，还有另一种应用是调用存储过程。使用</a:t>
            </a:r>
            <a:r>
              <a:rPr lang="en-US" altLang="zh-CN" dirty="0" err="1" smtClean="0"/>
              <a:t>createNativeQuery</a:t>
            </a:r>
            <a:r>
              <a:rPr lang="en-US" altLang="zh-CN" dirty="0" smtClean="0"/>
              <a:t>()</a:t>
            </a:r>
            <a:r>
              <a:rPr lang="zh-CN" altLang="en-US" dirty="0" smtClean="0"/>
              <a:t>方法指明调用，之后用</a:t>
            </a:r>
            <a:r>
              <a:rPr lang="en-US" altLang="zh-CN" dirty="0" err="1" smtClean="0"/>
              <a:t>query.executeUpdate</a:t>
            </a:r>
            <a:r>
              <a:rPr lang="en-US" altLang="zh-CN" dirty="0" smtClean="0"/>
              <a:t>()</a:t>
            </a:r>
            <a:r>
              <a:rPr lang="zh-CN" altLang="en-US" dirty="0" smtClean="0"/>
              <a:t>、</a:t>
            </a:r>
            <a:r>
              <a:rPr lang="en-US" altLang="zh-CN" dirty="0" err="1" smtClean="0"/>
              <a:t>query.getResultList</a:t>
            </a:r>
            <a:r>
              <a:rPr lang="en-US" altLang="zh-CN" dirty="0" smtClean="0"/>
              <a:t>()</a:t>
            </a:r>
            <a:r>
              <a:rPr lang="zh-CN" altLang="en-US" dirty="0" smtClean="0"/>
              <a:t>、</a:t>
            </a:r>
            <a:r>
              <a:rPr lang="en-US" altLang="zh-CN" dirty="0" err="1" smtClean="0"/>
              <a:t>query.getSingleResult</a:t>
            </a:r>
            <a:r>
              <a:rPr lang="en-US" altLang="zh-CN" dirty="0" smtClean="0"/>
              <a:t>()</a:t>
            </a:r>
            <a:r>
              <a:rPr lang="zh-CN" altLang="en-US" dirty="0" smtClean="0"/>
              <a:t>来获取结果。</a:t>
            </a:r>
            <a:endParaRPr lang="zh-CN" altLang="en-US" dirty="0" smtClean="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student course</a:t>
            </a:r>
            <a:r>
              <a:rPr lang="en-US" altLang="zh-CN" baseline="0" dirty="0" smtClean="0"/>
              <a:t> </a:t>
            </a:r>
            <a:r>
              <a:rPr lang="zh-CN" altLang="en-US" baseline="0" dirty="0" smtClean="0"/>
              <a:t>多对多映射可转换成两个</a:t>
            </a:r>
            <a:r>
              <a:rPr lang="zh-CN" altLang="en-US" baseline="0" smtClean="0"/>
              <a:t>一对多，也可以直接多对多</a:t>
            </a:r>
            <a:endParaRPr lang="zh-CN" altLang="en-US" dirty="0"/>
          </a:p>
          <a:p>
            <a:r>
              <a:rPr lang="zh-CN" altLang="en-US" dirty="0"/>
              <a:t>基础测试</a:t>
            </a:r>
            <a:endParaRPr lang="zh-CN" altLang="en-US" dirty="0"/>
          </a:p>
        </p:txBody>
      </p:sp>
      <p:sp>
        <p:nvSpPr>
          <p:cNvPr id="4" name="灯片编号占位符 3"/>
          <p:cNvSpPr>
            <a:spLocks noGrp="1"/>
          </p:cNvSpPr>
          <p:nvPr>
            <p:ph type="sldNum" sz="quarter" idx="10"/>
          </p:nvPr>
        </p:nvSpPr>
        <p:spPr/>
        <p:txBody>
          <a:bodyPr/>
          <a:lstStyle/>
          <a:p>
            <a:pPr>
              <a:defRPr/>
            </a:pPr>
            <a:fld id="{10953FE9-278E-493E-BA78-CAD0D0CEB3F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6F4F083-EF7D-4E89-8F83-529B63208129}"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27D4157-098A-4D3B-80F8-9E5F0F6062BC}"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7FEBE3-15DE-4D38-A018-04CC4419C9A5}"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A9AEC7E-A1AB-4A4C-A9F0-9CC2AFC17027}"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3ED609A-82D2-48A9-A45D-984A1AA794DB}"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A7031E4-534E-40D7-B676-829170EE88BD}"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095C7086-4F99-4B60-B3A1-F12A35A08DA2}"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50FEF47-9A88-4A80-AC31-BA3A16F52896}"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AD59EBF-FC9B-4606-93F4-5306E0F21F2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29A5609-1B0D-42F2-9AE6-CD3ED94B3E06}"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DE45A5D-B49F-48C0-8A41-AB9439DF277D}"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spTree>
      <p:nvGrpSpPr>
        <p:cNvPr id="1" name=""/>
        <p:cNvGrpSpPr/>
        <p:nvPr/>
      </p:nvGrpSpPr>
      <p:grpSpPr>
        <a:xfrm>
          <a:off x="0" y="0"/>
          <a:ext cx="0" cy="0"/>
          <a:chOff x="0" y="0"/>
          <a:chExt cx="0" cy="0"/>
        </a:xfrm>
      </p:grpSpPr>
      <p:pic>
        <p:nvPicPr>
          <p:cNvPr id="3" name="Picture 2" descr="标题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25"/>
            <a:ext cx="12192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
          <p:cNvSpPr>
            <a:spLocks noChangeArrowheads="1"/>
          </p:cNvSpPr>
          <p:nvPr/>
        </p:nvSpPr>
        <p:spPr bwMode="gray">
          <a:xfrm>
            <a:off x="0" y="1143000"/>
            <a:ext cx="12192000" cy="57150"/>
          </a:xfrm>
          <a:prstGeom prst="rect">
            <a:avLst/>
          </a:prstGeom>
          <a:gradFill rotWithShape="0">
            <a:gsLst>
              <a:gs pos="0">
                <a:srgbClr val="9933FF"/>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sp>
        <p:nvSpPr>
          <p:cNvPr id="5" name="Rectangle 6"/>
          <p:cNvSpPr>
            <a:spLocks noChangeArrowheads="1"/>
          </p:cNvSpPr>
          <p:nvPr/>
        </p:nvSpPr>
        <p:spPr bwMode="gray">
          <a:xfrm>
            <a:off x="0" y="6308725"/>
            <a:ext cx="10079567" cy="57150"/>
          </a:xfrm>
          <a:prstGeom prst="rect">
            <a:avLst/>
          </a:prstGeom>
          <a:gradFill rotWithShape="0">
            <a:gsLst>
              <a:gs pos="0">
                <a:srgbClr val="FFFFFF"/>
              </a:gs>
              <a:gs pos="100000">
                <a:srgbClr val="9933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grpSp>
        <p:nvGrpSpPr>
          <p:cNvPr id="6" name="Group 9"/>
          <p:cNvGrpSpPr/>
          <p:nvPr/>
        </p:nvGrpSpPr>
        <p:grpSpPr bwMode="auto">
          <a:xfrm>
            <a:off x="10287000" y="-28575"/>
            <a:ext cx="1905000" cy="1095375"/>
            <a:chOff x="4800" y="-18"/>
            <a:chExt cx="900" cy="690"/>
          </a:xfrm>
        </p:grpSpPr>
        <p:pic>
          <p:nvPicPr>
            <p:cNvPr id="7" name="Picture 10" descr="校标"/>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40" y="270"/>
              <a:ext cx="39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软件工程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800" y="-18"/>
              <a:ext cx="90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 name="Picture 2" descr="标题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25"/>
            <a:ext cx="12192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a:spLocks noChangeArrowheads="1"/>
          </p:cNvSpPr>
          <p:nvPr/>
        </p:nvSpPr>
        <p:spPr bwMode="gray">
          <a:xfrm>
            <a:off x="0" y="1143000"/>
            <a:ext cx="12192000" cy="57150"/>
          </a:xfrm>
          <a:prstGeom prst="rect">
            <a:avLst/>
          </a:prstGeom>
          <a:gradFill rotWithShape="0">
            <a:gsLst>
              <a:gs pos="0">
                <a:srgbClr val="9933FF"/>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sp>
        <p:nvSpPr>
          <p:cNvPr id="11" name="Rectangle 6"/>
          <p:cNvSpPr>
            <a:spLocks noChangeArrowheads="1"/>
          </p:cNvSpPr>
          <p:nvPr/>
        </p:nvSpPr>
        <p:spPr bwMode="gray">
          <a:xfrm>
            <a:off x="0" y="6308725"/>
            <a:ext cx="10079567" cy="57150"/>
          </a:xfrm>
          <a:prstGeom prst="rect">
            <a:avLst/>
          </a:prstGeom>
          <a:gradFill rotWithShape="0">
            <a:gsLst>
              <a:gs pos="0">
                <a:srgbClr val="FFFFFF"/>
              </a:gs>
              <a:gs pos="100000">
                <a:srgbClr val="9933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grpSp>
        <p:nvGrpSpPr>
          <p:cNvPr id="12" name="Group 9"/>
          <p:cNvGrpSpPr/>
          <p:nvPr/>
        </p:nvGrpSpPr>
        <p:grpSpPr bwMode="auto">
          <a:xfrm>
            <a:off x="10287000" y="-28575"/>
            <a:ext cx="1905000" cy="1095375"/>
            <a:chOff x="4800" y="-18"/>
            <a:chExt cx="900" cy="690"/>
          </a:xfrm>
        </p:grpSpPr>
        <p:pic>
          <p:nvPicPr>
            <p:cNvPr id="13" name="Picture 10" descr="校标"/>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40" y="270"/>
              <a:ext cx="39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1" descr="软件工程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800" y="-18"/>
              <a:ext cx="90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450" name="Rectangle 2"/>
          <p:cNvSpPr>
            <a:spLocks noGrp="1" noChangeArrowheads="1"/>
          </p:cNvSpPr>
          <p:nvPr>
            <p:ph type="subTitle" idx="1"/>
          </p:nvPr>
        </p:nvSpPr>
        <p:spPr>
          <a:xfrm>
            <a:off x="3556000" y="2438400"/>
            <a:ext cx="8534400" cy="1752600"/>
          </a:xfrm>
        </p:spPr>
        <p:txBody>
          <a:bodyPr/>
          <a:lstStyle>
            <a:lvl1pPr marL="0" indent="0" algn="ctr">
              <a:buFont typeface="Monotype Sorts" pitchFamily="2" charset="2"/>
              <a:buNone/>
              <a:defRPr sz="4800">
                <a:solidFill>
                  <a:schemeClr val="accent2"/>
                </a:solidFill>
              </a:defRPr>
            </a:lvl1pPr>
          </a:lstStyle>
          <a:p>
            <a:pPr lvl="0"/>
            <a:r>
              <a:rPr lang="en-US" altLang="zh-CN" noProof="0" dirty="0" smtClean="0"/>
              <a:t>Click to edit Master subtitle style</a:t>
            </a:r>
            <a:endParaRPr lang="en-US" altLang="zh-CN" noProof="0" dirty="0" smtClean="0"/>
          </a:p>
        </p:txBody>
      </p:sp>
    </p:spTree>
  </p:cSld>
  <p:clrMapOvr>
    <a:masterClrMapping/>
  </p:clrMapOvr>
  <p:transition spd="med">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152400"/>
            <a:ext cx="10401300" cy="874713"/>
          </a:xfrm>
        </p:spPr>
        <p:txBody>
          <a:bodyPr/>
          <a:lstStyle>
            <a:lvl1pPr>
              <a:defRPr>
                <a:latin typeface="华文楷体" panose="02010600040101010101" pitchFamily="2" charset="-122"/>
                <a:ea typeface="华文楷体" panose="02010600040101010101" pitchFamily="2"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7338A687-9600-4BA9-87F7-6B9649F6DB07}" type="slidenum">
              <a:rPr lang="zh-CN" altLang="en-US"/>
            </a:fld>
            <a:endParaRPr lang="en-US" altLang="zh-CN"/>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A60D2E4F-C84C-42DE-BE93-4B7345B5DFCE}" type="slidenum">
              <a:rPr lang="zh-CN" altLang="en-US"/>
            </a:fld>
            <a:endParaRPr lang="en-US" altLang="zh-CN"/>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135063"/>
            <a:ext cx="5255684"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20884" y="1135063"/>
            <a:ext cx="5257800"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8CCF4AFE-CBF2-49A4-888C-325359FA5C84}" type="slidenum">
              <a:rPr lang="zh-CN" altLang="en-US"/>
            </a:fld>
            <a:endParaRPr lang="en-US" altLang="zh-CN"/>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9FD4A0FE-F383-4E62-99DF-47791EAC842E}" type="slidenum">
              <a:rPr lang="zh-CN" altLang="en-US"/>
            </a:fld>
            <a:endParaRPr lang="en-US" altLang="zh-CN"/>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10DB7DB9-2439-4E25-89BA-0CF07B00395D}" type="slidenum">
              <a:rPr lang="zh-CN" altLang="en-US"/>
            </a:fld>
            <a:endParaRPr lang="en-US" altLang="zh-CN"/>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C0E40136-BB1D-4017-A544-5F332E8A3540}" type="slidenum">
              <a:rPr lang="zh-CN" altLang="en-US"/>
            </a:fld>
            <a:endParaRPr lang="en-US" altLang="zh-CN"/>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32E3BAA0-C68C-4AC4-B5B4-06D35AC35ED4}" type="slidenum">
              <a:rPr lang="zh-CN" altLang="en-US"/>
            </a:fld>
            <a:endParaRPr lang="en-US" altLang="zh-CN"/>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D87F0D74-F9E4-403A-B4A8-89CB43F0636B}" type="slidenum">
              <a:rPr lang="zh-CN" altLang="en-US"/>
            </a:fld>
            <a:endParaRPr lang="en-US" altLang="zh-CN"/>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4CF69301-6FBD-465F-9D72-B26BDC5C30D0}" type="slidenum">
              <a:rPr lang="zh-CN" altLang="en-US"/>
            </a:fld>
            <a:endParaRPr lang="en-US" altLang="zh-CN"/>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83133" y="0"/>
            <a:ext cx="2738967"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0"/>
            <a:ext cx="8017933" cy="6248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8"/>
          <p:cNvSpPr>
            <a:spLocks noGrp="1" noChangeArrowheads="1"/>
          </p:cNvSpPr>
          <p:nvPr>
            <p:ph type="sldNum" sz="quarter" idx="11"/>
          </p:nvPr>
        </p:nvSpPr>
        <p:spPr/>
        <p:txBody>
          <a:bodyPr/>
          <a:lstStyle>
            <a:lvl1pPr fontAlgn="auto">
              <a:spcBef>
                <a:spcPts val="0"/>
              </a:spcBef>
              <a:spcAft>
                <a:spcPts val="0"/>
              </a:spcAft>
              <a:defRPr/>
            </a:lvl1pPr>
          </a:lstStyle>
          <a:p>
            <a:pPr>
              <a:defRPr/>
            </a:pPr>
            <a:fld id="{F6038C19-3713-4989-A2EF-CD7D1220D44E}" type="slidenum">
              <a:rPr lang="zh-CN" altLang="en-US"/>
            </a:fld>
            <a:endParaRPr lang="en-US" altLang="zh-CN"/>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576917" y="2017713"/>
            <a:ext cx="10363200" cy="4114800"/>
          </a:xfrm>
        </p:spPr>
        <p:txBody>
          <a:bodyPr/>
          <a:lstStyle/>
          <a:p>
            <a:pPr lvl="0"/>
            <a:endParaRPr lang="zh-CN" altLang="en-US" noProof="0" smtClean="0"/>
          </a:p>
        </p:txBody>
      </p:sp>
      <p:sp>
        <p:nvSpPr>
          <p:cNvPr id="4" name="Rectangle 11"/>
          <p:cNvSpPr>
            <a:spLocks noGrp="1" noChangeArrowheads="1"/>
          </p:cNvSpPr>
          <p:nvPr>
            <p:ph type="dt" sz="half" idx="10"/>
          </p:nvPr>
        </p:nvSpPr>
        <p:spPr>
          <a:xfrm>
            <a:off x="1549400" y="6243638"/>
            <a:ext cx="2540000" cy="457200"/>
          </a:xfrm>
          <a:prstGeom prst="rect">
            <a:avLst/>
          </a:prstGeom>
        </p:spPr>
        <p:txBody>
          <a:bodyPr/>
          <a:lstStyle>
            <a:lvl1pPr fontAlgn="auto">
              <a:spcBef>
                <a:spcPts val="0"/>
              </a:spcBef>
              <a:spcAft>
                <a:spcPts val="0"/>
              </a:spcAft>
              <a:defRPr>
                <a:solidFill>
                  <a:srgbClr val="000000"/>
                </a:solidFill>
                <a:latin typeface="+mn-lt"/>
                <a:ea typeface="+mn-ea"/>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fontAlgn="auto">
              <a:spcBef>
                <a:spcPts val="0"/>
              </a:spcBef>
              <a:spcAft>
                <a:spcPts val="0"/>
              </a:spcAft>
              <a:defRPr/>
            </a:lvl1pPr>
          </a:lstStyle>
          <a:p>
            <a:pPr>
              <a:defRPr/>
            </a:pPr>
            <a:fld id="{CDE934D5-83B8-400B-8047-CC1EF5E6F925}" type="slidenum">
              <a:rPr lang="en-US" altLang="zh-CN"/>
            </a:fld>
            <a:endParaRPr lang="en-US" altLang="zh-CN"/>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34584" y="214313"/>
            <a:ext cx="10405533" cy="591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11"/>
          <p:cNvSpPr>
            <a:spLocks noGrp="1" noChangeArrowheads="1"/>
          </p:cNvSpPr>
          <p:nvPr>
            <p:ph type="dt" sz="half" idx="10"/>
          </p:nvPr>
        </p:nvSpPr>
        <p:spPr>
          <a:xfrm>
            <a:off x="1549400" y="6243638"/>
            <a:ext cx="2540000" cy="457200"/>
          </a:xfrm>
          <a:prstGeom prst="rect">
            <a:avLst/>
          </a:prstGeom>
        </p:spPr>
        <p:txBody>
          <a:bodyPr/>
          <a:lstStyle>
            <a:lvl1pPr fontAlgn="auto">
              <a:spcBef>
                <a:spcPts val="0"/>
              </a:spcBef>
              <a:spcAft>
                <a:spcPts val="0"/>
              </a:spcAft>
              <a:defRPr>
                <a:solidFill>
                  <a:srgbClr val="000000"/>
                </a:solidFill>
                <a:latin typeface="+mn-lt"/>
                <a:ea typeface="+mn-ea"/>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fontAlgn="auto">
              <a:spcBef>
                <a:spcPts val="0"/>
              </a:spcBef>
              <a:spcAft>
                <a:spcPts val="0"/>
              </a:spcAft>
              <a:defRPr/>
            </a:lvl1pPr>
          </a:lstStyle>
          <a:p>
            <a:pPr>
              <a:defRPr/>
            </a:pPr>
            <a:fld id="{14706ADB-46F7-48D1-B0FC-46C3C9B65211}" type="slidenum">
              <a:rPr lang="en-US" altLang="zh-CN"/>
            </a:fld>
            <a:endParaRPr lang="en-US" altLang="zh-CN"/>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image" Target="../media/image6.png"/><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image" Target="../media/image2.png"/><Relationship Id="rId14" Type="http://schemas.openxmlformats.org/officeDocument/2006/relationships/image" Target="../media/image1.jpeg"/><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A48F9484-95F0-4833-B2D8-E8B4867C6B92}"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0" name="Picture 2" descr="标题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47625"/>
            <a:ext cx="12192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Rectangle 3"/>
          <p:cNvSpPr>
            <a:spLocks noGrp="1" noChangeArrowheads="1"/>
          </p:cNvSpPr>
          <p:nvPr>
            <p:ph type="title"/>
          </p:nvPr>
        </p:nvSpPr>
        <p:spPr bwMode="auto">
          <a:xfrm>
            <a:off x="1320800" y="0"/>
            <a:ext cx="10401300" cy="874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p>
            <a:pPr lvl="0"/>
            <a:endParaRPr lang="zh-CN" altLang="en-US" dirty="0" smtClean="0"/>
          </a:p>
        </p:txBody>
      </p:sp>
      <p:sp>
        <p:nvSpPr>
          <p:cNvPr id="103428" name="Rectangle 4"/>
          <p:cNvSpPr>
            <a:spLocks noGrp="1" noChangeArrowheads="1"/>
          </p:cNvSpPr>
          <p:nvPr>
            <p:ph type="body" idx="1"/>
          </p:nvPr>
        </p:nvSpPr>
        <p:spPr bwMode="auto">
          <a:xfrm>
            <a:off x="762000" y="1135063"/>
            <a:ext cx="10716684" cy="5113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3" name="Rectangle 5"/>
          <p:cNvSpPr>
            <a:spLocks noChangeArrowheads="1"/>
          </p:cNvSpPr>
          <p:nvPr/>
        </p:nvSpPr>
        <p:spPr bwMode="gray">
          <a:xfrm>
            <a:off x="0" y="1143000"/>
            <a:ext cx="12192000" cy="57150"/>
          </a:xfrm>
          <a:prstGeom prst="rect">
            <a:avLst/>
          </a:prstGeom>
          <a:gradFill rotWithShape="0">
            <a:gsLst>
              <a:gs pos="0">
                <a:srgbClr val="9933FF"/>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sp>
        <p:nvSpPr>
          <p:cNvPr id="2054" name="Rectangle 6"/>
          <p:cNvSpPr>
            <a:spLocks noChangeArrowheads="1"/>
          </p:cNvSpPr>
          <p:nvPr/>
        </p:nvSpPr>
        <p:spPr bwMode="gray">
          <a:xfrm>
            <a:off x="0" y="6308725"/>
            <a:ext cx="10079567" cy="57150"/>
          </a:xfrm>
          <a:prstGeom prst="rect">
            <a:avLst/>
          </a:prstGeom>
          <a:gradFill rotWithShape="0">
            <a:gsLst>
              <a:gs pos="0">
                <a:srgbClr val="FFFFFF"/>
              </a:gs>
              <a:gs pos="100000">
                <a:srgbClr val="9933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16" tIns="46808" rIns="93616" bIns="46808" anchor="ctr"/>
          <a:lstStyle/>
          <a:p>
            <a:pPr algn="ctr" defTabSz="936625"/>
            <a:endParaRPr kumimoji="1" lang="zh-CN" altLang="en-US" sz="2500">
              <a:solidFill>
                <a:srgbClr val="000000"/>
              </a:solidFill>
              <a:latin typeface="Tahoma" panose="020B0604030504040204" pitchFamily="34" charset="0"/>
            </a:endParaRPr>
          </a:p>
        </p:txBody>
      </p:sp>
      <p:sp>
        <p:nvSpPr>
          <p:cNvPr id="103431" name="Rectangle 7"/>
          <p:cNvSpPr>
            <a:spLocks noGrp="1" noChangeArrowheads="1"/>
          </p:cNvSpPr>
          <p:nvPr>
            <p:ph type="ftr" sz="quarter" idx="3"/>
          </p:nvPr>
        </p:nvSpPr>
        <p:spPr bwMode="auto">
          <a:xfrm>
            <a:off x="4155017" y="6473825"/>
            <a:ext cx="38608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kumimoji="1" sz="1400" b="0">
                <a:solidFill>
                  <a:srgbClr val="000000"/>
                </a:solidFill>
                <a:latin typeface="Times New Roman" panose="02020603050405020304" pitchFamily="18" charset="0"/>
                <a:ea typeface="华文新魏" panose="02010800040101010101" pitchFamily="2" charset="-122"/>
              </a:defRPr>
            </a:lvl1pPr>
          </a:lstStyle>
          <a:p>
            <a:pPr>
              <a:defRPr/>
            </a:pPr>
            <a:endParaRPr lang="en-US" altLang="zh-CN"/>
          </a:p>
        </p:txBody>
      </p:sp>
      <p:sp>
        <p:nvSpPr>
          <p:cNvPr id="103432" name="Rectangle 8"/>
          <p:cNvSpPr>
            <a:spLocks noGrp="1" noChangeArrowheads="1"/>
          </p:cNvSpPr>
          <p:nvPr>
            <p:ph type="sldNum" sz="quarter" idx="4"/>
          </p:nvPr>
        </p:nvSpPr>
        <p:spPr bwMode="auto">
          <a:xfrm>
            <a:off x="101600" y="6437313"/>
            <a:ext cx="7112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kumimoji="1" sz="1400" b="0">
                <a:solidFill>
                  <a:srgbClr val="000000"/>
                </a:solidFill>
                <a:latin typeface="华文新魏" panose="02010800040101010101" pitchFamily="2" charset="-122"/>
                <a:ea typeface="华文新魏" panose="02010800040101010101" pitchFamily="2" charset="-122"/>
              </a:defRPr>
            </a:lvl1pPr>
          </a:lstStyle>
          <a:p>
            <a:pPr>
              <a:defRPr/>
            </a:pPr>
            <a:fld id="{1D70A24D-D9DF-4ADF-B810-8A35E13009F1}" type="slidenum">
              <a:rPr lang="zh-CN" altLang="en-US"/>
            </a:fld>
            <a:endParaRPr lang="en-US" altLang="zh-CN"/>
          </a:p>
        </p:txBody>
      </p:sp>
      <p:grpSp>
        <p:nvGrpSpPr>
          <p:cNvPr id="2057" name="Group 9"/>
          <p:cNvGrpSpPr/>
          <p:nvPr/>
        </p:nvGrpSpPr>
        <p:grpSpPr bwMode="auto">
          <a:xfrm>
            <a:off x="10287000" y="-28575"/>
            <a:ext cx="1905000" cy="1095375"/>
            <a:chOff x="4800" y="-18"/>
            <a:chExt cx="900" cy="690"/>
          </a:xfrm>
        </p:grpSpPr>
        <p:pic>
          <p:nvPicPr>
            <p:cNvPr id="2058" name="Picture 10" descr="校标"/>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040" y="270"/>
              <a:ext cx="39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9" name="Picture 11" descr="软件工程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800" y="-18"/>
              <a:ext cx="90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42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42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bldLvl="2" build="p">
        <p:tmplLst>
          <p:tmpl lvl="1">
            <p:tnLst>
              <p:par>
                <p:cTn presetID="1" presetClass="entr" presetSubtype="0" fill="hold" nodeType="clickEffect">
                  <p:stCondLst>
                    <p:cond delay="0"/>
                  </p:stCondLst>
                  <p:childTnLst>
                    <p:set>
                      <p:cBhvr>
                        <p:cTn dur="1" fill="hold">
                          <p:stCondLst>
                            <p:cond delay="0"/>
                          </p:stCondLst>
                        </p:cTn>
                        <p:tgtEl>
                          <p:spTgt spid="103428"/>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03428"/>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3428"/>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03428"/>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03428"/>
                        </p:tgtEl>
                        <p:attrNameLst>
                          <p:attrName>style.visibility</p:attrName>
                        </p:attrNameLst>
                      </p:cBhvr>
                      <p:to>
                        <p:strVal val="visible"/>
                      </p:to>
                    </p:set>
                  </p:childTnLst>
                </p:cTn>
              </p:par>
            </p:tnLst>
          </p:tmpl>
        </p:tmplLst>
      </p:bldP>
    </p:bldLst>
  </p:timing>
  <p:hf hdr="0" ftr="0" dt="0"/>
  <p:txStyles>
    <p:titleStyle>
      <a:lvl1pPr algn="ctr" rtl="0" eaLnBrk="0" fontAlgn="base" hangingPunct="0">
        <a:spcBef>
          <a:spcPct val="0"/>
        </a:spcBef>
        <a:spcAft>
          <a:spcPct val="0"/>
        </a:spcAft>
        <a:defRPr sz="48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2pPr>
      <a:lvl3pPr algn="ctr" rtl="0" eaLnBrk="0" fontAlgn="base" hangingPunct="0">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3pPr>
      <a:lvl4pPr algn="ctr" rtl="0" eaLnBrk="0" fontAlgn="base" hangingPunct="0">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4pPr>
      <a:lvl5pPr algn="ctr" rtl="0" eaLnBrk="0" fontAlgn="base" hangingPunct="0">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5pPr>
      <a:lvl6pPr marL="457200" algn="ctr" rtl="0" fontAlgn="base">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6pPr>
      <a:lvl7pPr marL="914400" algn="ctr" rtl="0" fontAlgn="base">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7pPr>
      <a:lvl8pPr marL="1371600" algn="ctr" rtl="0" fontAlgn="base">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8pPr>
      <a:lvl9pPr marL="1828800" algn="ctr" rtl="0" fontAlgn="base">
        <a:spcBef>
          <a:spcPct val="0"/>
        </a:spcBef>
        <a:spcAft>
          <a:spcPct val="0"/>
        </a:spcAft>
        <a:defRPr sz="4800" b="1">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defRPr>
      </a:lvl9pPr>
    </p:titleStyle>
    <p:bodyStyle>
      <a:lvl1pPr marL="342900" indent="-342900" algn="l" rtl="0" eaLnBrk="0" fontAlgn="base" hangingPunct="0">
        <a:spcBef>
          <a:spcPct val="35000"/>
        </a:spcBef>
        <a:spcAft>
          <a:spcPct val="0"/>
        </a:spcAft>
        <a:buClr>
          <a:schemeClr val="accent2"/>
        </a:buClr>
        <a:buSzPct val="90000"/>
        <a:buFont typeface="Monotype Sorts"/>
        <a:buChar char="ª"/>
        <a:defRPr sz="3200" b="1">
          <a:solidFill>
            <a:schemeClr val="tx1"/>
          </a:solidFill>
          <a:latin typeface="+mn-lt"/>
          <a:ea typeface="+mn-ea"/>
          <a:cs typeface="楷体_GB2312"/>
        </a:defRPr>
      </a:lvl1pPr>
      <a:lvl2pPr marL="742950" indent="-285750" algn="l" rtl="0" eaLnBrk="0" fontAlgn="base" hangingPunct="0">
        <a:spcBef>
          <a:spcPct val="35000"/>
        </a:spcBef>
        <a:spcAft>
          <a:spcPct val="0"/>
        </a:spcAft>
        <a:buClr>
          <a:srgbClr val="660066"/>
        </a:buClr>
        <a:buSzPct val="70000"/>
        <a:buFont typeface="Wingdings" panose="05000000000000000000" pitchFamily="2" charset="2"/>
        <a:buBlip>
          <a:blip r:embed="rId17"/>
        </a:buBlip>
        <a:defRPr sz="2800" b="1">
          <a:solidFill>
            <a:srgbClr val="660066"/>
          </a:solidFill>
          <a:latin typeface="+mn-lt"/>
          <a:ea typeface="+mn-ea"/>
          <a:cs typeface="楷体_GB2312"/>
        </a:defRPr>
      </a:lvl2pPr>
      <a:lvl3pPr marL="1085850" indent="-228600" algn="l" rtl="0" eaLnBrk="0" fontAlgn="base" hangingPunct="0">
        <a:spcBef>
          <a:spcPct val="35000"/>
        </a:spcBef>
        <a:spcAft>
          <a:spcPct val="0"/>
        </a:spcAft>
        <a:buClr>
          <a:srgbClr val="000099"/>
        </a:buClr>
        <a:buSzPct val="80000"/>
        <a:buFont typeface="Monotype Sorts"/>
        <a:buBlip>
          <a:blip r:embed="rId18"/>
        </a:buBlip>
        <a:defRPr sz="2400" b="1">
          <a:solidFill>
            <a:schemeClr val="tx1"/>
          </a:solidFill>
          <a:latin typeface="+mn-lt"/>
          <a:ea typeface="+mn-ea"/>
          <a:cs typeface="楷体_GB2312"/>
        </a:defRPr>
      </a:lvl3pPr>
      <a:lvl4pPr marL="1428750" indent="-228600" algn="l" rtl="0" eaLnBrk="0" fontAlgn="base" hangingPunct="0">
        <a:spcBef>
          <a:spcPct val="35000"/>
        </a:spcBef>
        <a:spcAft>
          <a:spcPct val="0"/>
        </a:spcAft>
        <a:buClr>
          <a:schemeClr val="hlink"/>
        </a:buClr>
        <a:buSzPct val="70000"/>
        <a:buBlip>
          <a:blip r:embed="rId19"/>
        </a:buBlip>
        <a:defRPr sz="2400" b="1">
          <a:solidFill>
            <a:schemeClr val="tx1"/>
          </a:solidFill>
          <a:latin typeface="+mn-lt"/>
          <a:ea typeface="+mn-ea"/>
          <a:cs typeface="楷体_GB2312"/>
        </a:defRPr>
      </a:lvl4pPr>
      <a:lvl5pPr marL="1771650" indent="-228600" algn="l" rtl="0" eaLnBrk="0" fontAlgn="base" hangingPunct="0">
        <a:spcBef>
          <a:spcPct val="35000"/>
        </a:spcBef>
        <a:spcAft>
          <a:spcPct val="0"/>
        </a:spcAft>
        <a:buClr>
          <a:schemeClr val="tx2"/>
        </a:buClr>
        <a:buChar char="»"/>
        <a:defRPr sz="2400" b="1">
          <a:solidFill>
            <a:schemeClr val="tx1"/>
          </a:solidFill>
          <a:latin typeface="+mn-lt"/>
          <a:ea typeface="+mn-ea"/>
          <a:cs typeface="楷体_GB2312"/>
        </a:defRPr>
      </a:lvl5pPr>
      <a:lvl6pPr marL="2228850" indent="-228600" algn="l" rtl="0" fontAlgn="base">
        <a:spcBef>
          <a:spcPct val="35000"/>
        </a:spcBef>
        <a:spcAft>
          <a:spcPct val="0"/>
        </a:spcAft>
        <a:buClr>
          <a:schemeClr val="tx2"/>
        </a:buClr>
        <a:buChar char="»"/>
        <a:defRPr sz="2400" b="1">
          <a:solidFill>
            <a:schemeClr val="tx1"/>
          </a:solidFill>
          <a:latin typeface="+mn-lt"/>
          <a:ea typeface="+mn-ea"/>
        </a:defRPr>
      </a:lvl6pPr>
      <a:lvl7pPr marL="2686050" indent="-228600" algn="l" rtl="0" fontAlgn="base">
        <a:spcBef>
          <a:spcPct val="35000"/>
        </a:spcBef>
        <a:spcAft>
          <a:spcPct val="0"/>
        </a:spcAft>
        <a:buClr>
          <a:schemeClr val="tx2"/>
        </a:buClr>
        <a:buChar char="»"/>
        <a:defRPr sz="2400" b="1">
          <a:solidFill>
            <a:schemeClr val="tx1"/>
          </a:solidFill>
          <a:latin typeface="+mn-lt"/>
          <a:ea typeface="+mn-ea"/>
        </a:defRPr>
      </a:lvl7pPr>
      <a:lvl8pPr marL="3143250" indent="-228600" algn="l" rtl="0" fontAlgn="base">
        <a:spcBef>
          <a:spcPct val="35000"/>
        </a:spcBef>
        <a:spcAft>
          <a:spcPct val="0"/>
        </a:spcAft>
        <a:buClr>
          <a:schemeClr val="tx2"/>
        </a:buClr>
        <a:buChar char="»"/>
        <a:defRPr sz="2400" b="1">
          <a:solidFill>
            <a:schemeClr val="tx1"/>
          </a:solidFill>
          <a:latin typeface="+mn-lt"/>
          <a:ea typeface="+mn-ea"/>
        </a:defRPr>
      </a:lvl8pPr>
      <a:lvl9pPr marL="3600450" indent="-228600" algn="l" rtl="0" fontAlgn="base">
        <a:spcBef>
          <a:spcPct val="35000"/>
        </a:spcBef>
        <a:spcAft>
          <a:spcPct val="0"/>
        </a:spcAft>
        <a:buClr>
          <a:schemeClr val="tx2"/>
        </a:buClr>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www.eclipse.org/eclipselink/"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slide" Target="slide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0.png"/><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slide" Target="slide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slide" Target="slide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Rectangle 5"/>
          <p:cNvSpPr>
            <a:spLocks noGrp="1" noChangeArrowheads="1"/>
          </p:cNvSpPr>
          <p:nvPr>
            <p:ph type="subTitle" idx="1"/>
          </p:nvPr>
        </p:nvSpPr>
        <p:spPr>
          <a:xfrm>
            <a:off x="1743075" y="1295400"/>
            <a:ext cx="8696325" cy="4953000"/>
          </a:xfrm>
        </p:spPr>
        <p:txBody>
          <a:bodyPr/>
          <a:lstStyle/>
          <a:p>
            <a:pPr eaLnBrk="1" hangingPunct="1">
              <a:lnSpc>
                <a:spcPct val="80000"/>
              </a:lnSpc>
              <a:defRPr/>
            </a:pPr>
            <a:endParaRPr lang="en-US" altLang="zh-CN" dirty="0" smtClean="0">
              <a:latin typeface="华文新魏" panose="02010800040101010101" pitchFamily="2" charset="-122"/>
              <a:ea typeface="华文新魏" panose="02010800040101010101" pitchFamily="2" charset="-122"/>
              <a:cs typeface="+mn-cs"/>
            </a:endParaRPr>
          </a:p>
          <a:p>
            <a:pPr eaLnBrk="1" hangingPunct="1">
              <a:lnSpc>
                <a:spcPct val="80000"/>
              </a:lnSpc>
              <a:defRPr/>
            </a:pPr>
            <a:r>
              <a:rPr lang="zh-CN" altLang="en-US" dirty="0" smtClean="0">
                <a:latin typeface="华文新魏" panose="02010800040101010101" pitchFamily="2" charset="-122"/>
                <a:ea typeface="华文新魏" panose="02010800040101010101" pitchFamily="2" charset="-122"/>
                <a:cs typeface="+mn-cs"/>
              </a:rPr>
              <a:t>第</a:t>
            </a:r>
            <a:r>
              <a:rPr lang="en-US" altLang="zh-CN" smtClean="0">
                <a:latin typeface="华文新魏" panose="02010800040101010101" pitchFamily="2" charset="-122"/>
                <a:ea typeface="华文新魏" panose="02010800040101010101" pitchFamily="2" charset="-122"/>
                <a:cs typeface="+mn-cs"/>
              </a:rPr>
              <a:t>11</a:t>
            </a:r>
            <a:r>
              <a:rPr lang="zh-CN" altLang="en-US" smtClean="0">
                <a:latin typeface="华文新魏" panose="02010800040101010101" pitchFamily="2" charset="-122"/>
                <a:ea typeface="华文新魏" panose="02010800040101010101" pitchFamily="2" charset="-122"/>
                <a:cs typeface="+mn-cs"/>
              </a:rPr>
              <a:t>讲 </a:t>
            </a:r>
            <a:r>
              <a:rPr lang="en-US" altLang="zh-CN" dirty="0"/>
              <a:t>Java Persistence </a:t>
            </a:r>
            <a:r>
              <a:rPr lang="en-US" altLang="zh-CN" dirty="0" smtClean="0"/>
              <a:t>API</a:t>
            </a:r>
            <a:endParaRPr lang="en-US" altLang="zh-CN" dirty="0">
              <a:latin typeface="华文新魏" panose="02010800040101010101" pitchFamily="2" charset="-122"/>
              <a:ea typeface="华文新魏" panose="02010800040101010101" pitchFamily="2" charset="-122"/>
              <a:cs typeface="+mn-cs"/>
            </a:endParaRPr>
          </a:p>
          <a:p>
            <a:pPr eaLnBrk="1" hangingPunct="1">
              <a:lnSpc>
                <a:spcPct val="80000"/>
              </a:lnSpc>
              <a:defRPr/>
            </a:pPr>
            <a:r>
              <a:rPr lang="zh-CN" altLang="en-US" dirty="0" smtClean="0">
                <a:latin typeface="华文新魏" panose="02010800040101010101" pitchFamily="2" charset="-122"/>
                <a:ea typeface="华文新魏" panose="02010800040101010101" pitchFamily="2" charset="-122"/>
                <a:cs typeface="+mn-cs"/>
              </a:rPr>
              <a:t>（</a:t>
            </a:r>
            <a:r>
              <a:rPr lang="en-US" altLang="zh-CN" dirty="0" smtClean="0">
                <a:latin typeface="华文新魏" panose="02010800040101010101" pitchFamily="2" charset="-122"/>
                <a:ea typeface="华文新魏" panose="02010800040101010101" pitchFamily="2" charset="-122"/>
                <a:cs typeface="+mn-cs"/>
              </a:rPr>
              <a:t>JPA</a:t>
            </a:r>
            <a:r>
              <a:rPr lang="zh-CN" altLang="en-US" dirty="0" smtClean="0">
                <a:latin typeface="华文新魏" panose="02010800040101010101" pitchFamily="2" charset="-122"/>
                <a:ea typeface="华文新魏" panose="02010800040101010101" pitchFamily="2" charset="-122"/>
                <a:cs typeface="+mn-cs"/>
              </a:rPr>
              <a:t>）基础</a:t>
            </a:r>
            <a:endParaRPr lang="en-US" altLang="zh-CN" dirty="0" smtClean="0">
              <a:latin typeface="华文新魏" panose="02010800040101010101" pitchFamily="2" charset="-122"/>
              <a:ea typeface="华文新魏" panose="02010800040101010101" pitchFamily="2" charset="-122"/>
              <a:cs typeface="+mn-cs"/>
            </a:endParaRPr>
          </a:p>
          <a:p>
            <a:pPr algn="l" eaLnBrk="1" hangingPunct="1">
              <a:lnSpc>
                <a:spcPct val="80000"/>
              </a:lnSpc>
              <a:defRPr/>
            </a:pPr>
            <a:endParaRPr lang="zh-CN" altLang="en-US" sz="4400" i="1" dirty="0" smtClean="0">
              <a:latin typeface="+mj-ea"/>
              <a:ea typeface="+mj-ea"/>
              <a:cs typeface="+mn-cs"/>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主要内容</a:t>
            </a:r>
            <a:endParaRPr lang="zh-CN" altLang="en-US" dirty="0"/>
          </a:p>
        </p:txBody>
      </p:sp>
      <p:sp>
        <p:nvSpPr>
          <p:cNvPr id="17411" name="内容占位符 2"/>
          <p:cNvSpPr>
            <a:spLocks noGrp="1"/>
          </p:cNvSpPr>
          <p:nvPr>
            <p:ph idx="1"/>
          </p:nvPr>
        </p:nvSpPr>
        <p:spPr/>
        <p:txBody>
          <a:bodyPr/>
          <a:lstStyle/>
          <a:p>
            <a:pPr>
              <a:buFont typeface="Wingdings" panose="05000000000000000000" pitchFamily="2" charset="2"/>
              <a:buChar char="u"/>
            </a:pPr>
            <a:r>
              <a:rPr lang="en-US" altLang="zh-CN" dirty="0" smtClean="0">
                <a:hlinkClick r:id="rId1" action="ppaction://hlinksldjump"/>
              </a:rPr>
              <a:t>JPA</a:t>
            </a:r>
            <a:r>
              <a:rPr lang="zh-CN" altLang="en-US" dirty="0" smtClean="0">
                <a:hlinkClick r:id="rId1" action="ppaction://hlinksldjump"/>
              </a:rPr>
              <a:t>概述</a:t>
            </a:r>
            <a:endParaRPr lang="en-US" altLang="zh-CN" dirty="0" smtClean="0"/>
          </a:p>
          <a:p>
            <a:pPr lvl="1">
              <a:buFont typeface="Wingdings" panose="05000000000000000000" pitchFamily="2" charset="2"/>
              <a:buChar char="u"/>
            </a:pPr>
            <a:r>
              <a:rPr lang="en-US" altLang="zh-CN" dirty="0" smtClean="0">
                <a:solidFill>
                  <a:schemeClr val="tx1"/>
                </a:solidFill>
              </a:rPr>
              <a:t>JPA</a:t>
            </a:r>
            <a:r>
              <a:rPr lang="zh-CN" altLang="en-US" dirty="0" smtClean="0">
                <a:solidFill>
                  <a:schemeClr val="tx1"/>
                </a:solidFill>
              </a:rPr>
              <a:t>概念</a:t>
            </a:r>
            <a:endParaRPr lang="en-US" altLang="zh-CN" dirty="0" smtClean="0">
              <a:solidFill>
                <a:schemeClr val="tx1"/>
              </a:solidFill>
            </a:endParaRPr>
          </a:p>
          <a:p>
            <a:pPr lvl="1">
              <a:buFont typeface="Wingdings" panose="05000000000000000000" pitchFamily="2" charset="2"/>
              <a:buChar char="u"/>
            </a:pPr>
            <a:r>
              <a:rPr lang="zh-CN" altLang="en-US" dirty="0" smtClean="0">
                <a:solidFill>
                  <a:schemeClr val="tx1"/>
                </a:solidFill>
              </a:rPr>
              <a:t>实体</a:t>
            </a:r>
            <a:endParaRPr lang="en-US" altLang="zh-CN" dirty="0" smtClean="0">
              <a:solidFill>
                <a:schemeClr val="tx1"/>
              </a:solidFill>
            </a:endParaRPr>
          </a:p>
          <a:p>
            <a:pPr lvl="1">
              <a:buFont typeface="Wingdings" panose="05000000000000000000" pitchFamily="2" charset="2"/>
              <a:buChar char="u"/>
            </a:pPr>
            <a:r>
              <a:rPr lang="en-US" altLang="zh-CN" dirty="0" smtClean="0">
                <a:solidFill>
                  <a:schemeClr val="tx1"/>
                </a:solidFill>
              </a:rPr>
              <a:t>ORM</a:t>
            </a:r>
            <a:r>
              <a:rPr lang="zh-CN" altLang="en-US" dirty="0" smtClean="0">
                <a:solidFill>
                  <a:schemeClr val="tx1"/>
                </a:solidFill>
              </a:rPr>
              <a:t>注解</a:t>
            </a:r>
            <a:endParaRPr lang="en-US" altLang="zh-CN" dirty="0" smtClean="0">
              <a:solidFill>
                <a:schemeClr val="tx1"/>
              </a:solidFill>
            </a:endParaRPr>
          </a:p>
          <a:p>
            <a:pPr>
              <a:buFont typeface="Wingdings" panose="05000000000000000000" pitchFamily="2" charset="2"/>
              <a:buChar char="u"/>
            </a:pPr>
            <a:r>
              <a:rPr lang="zh-CN" altLang="en-US" dirty="0" smtClean="0">
                <a:hlinkClick r:id="rId2" action="ppaction://hlinksldjump"/>
              </a:rPr>
              <a:t>使用</a:t>
            </a:r>
            <a:r>
              <a:rPr lang="en-US" altLang="zh-CN" dirty="0" smtClean="0">
                <a:hlinkClick r:id="rId2" action="ppaction://hlinksldjump"/>
              </a:rPr>
              <a:t>JPA</a:t>
            </a:r>
            <a:endParaRPr lang="en-US" altLang="zh-CN" dirty="0" smtClean="0"/>
          </a:p>
          <a:p>
            <a:pPr lvl="1">
              <a:buFont typeface="Wingdings" panose="05000000000000000000" pitchFamily="2" charset="2"/>
              <a:buChar char="u"/>
            </a:pPr>
            <a:r>
              <a:rPr lang="zh-CN" altLang="en-US" dirty="0">
                <a:solidFill>
                  <a:schemeClr val="tx1"/>
                </a:solidFill>
              </a:rPr>
              <a:t>常用</a:t>
            </a:r>
            <a:r>
              <a:rPr lang="zh-CN" altLang="en-US" dirty="0" smtClean="0">
                <a:solidFill>
                  <a:schemeClr val="tx1"/>
                </a:solidFill>
              </a:rPr>
              <a:t>类</a:t>
            </a:r>
            <a:endParaRPr lang="en-US" altLang="zh-CN" dirty="0" smtClean="0">
              <a:solidFill>
                <a:schemeClr val="tx1"/>
              </a:solidFill>
            </a:endParaRPr>
          </a:p>
          <a:p>
            <a:pPr lvl="1">
              <a:buFont typeface="Wingdings" panose="05000000000000000000" pitchFamily="2" charset="2"/>
              <a:buChar char="u"/>
            </a:pPr>
            <a:r>
              <a:rPr lang="zh-CN" altLang="en-US" dirty="0">
                <a:solidFill>
                  <a:schemeClr val="tx1"/>
                </a:solidFill>
              </a:rPr>
              <a:t>示例</a:t>
            </a:r>
            <a:endParaRPr lang="en-US" altLang="zh-CN" dirty="0" smtClean="0">
              <a:solidFill>
                <a:schemeClr val="tx1"/>
              </a:solidFill>
            </a:endParaRPr>
          </a:p>
          <a:p>
            <a:pPr>
              <a:buFont typeface="Wingdings" panose="05000000000000000000" pitchFamily="2" charset="2"/>
              <a:buChar char="u"/>
            </a:pPr>
            <a:r>
              <a:rPr lang="en-US" altLang="zh-CN" dirty="0">
                <a:hlinkClick r:id="rId3" action="ppaction://hlinksldjump"/>
              </a:rPr>
              <a:t>JPQL</a:t>
            </a:r>
            <a:endParaRPr lang="en-US" altLang="zh-CN" dirty="0" smtClean="0"/>
          </a:p>
        </p:txBody>
      </p:sp>
      <p:sp>
        <p:nvSpPr>
          <p:cNvPr id="17412"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21BC0C64-D178-4624-BF1A-C833BB67A1A9}"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45175" y="2556510"/>
            <a:ext cx="5327650"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pPr>
              <a:defRPr/>
            </a:pPr>
            <a:r>
              <a:rPr lang="en-US" altLang="zh-CN" dirty="0" smtClean="0"/>
              <a:t>JPA</a:t>
            </a:r>
            <a:r>
              <a:rPr lang="zh-CN" altLang="en-US" dirty="0" smtClean="0"/>
              <a:t>概述</a:t>
            </a:r>
            <a:endParaRPr lang="zh-CN" altLang="en-US" dirty="0"/>
          </a:p>
        </p:txBody>
      </p:sp>
      <p:sp>
        <p:nvSpPr>
          <p:cNvPr id="3" name="内容占位符 2"/>
          <p:cNvSpPr>
            <a:spLocks noGrp="1"/>
          </p:cNvSpPr>
          <p:nvPr>
            <p:ph idx="1"/>
          </p:nvPr>
        </p:nvSpPr>
        <p:spPr>
          <a:xfrm>
            <a:off x="267335" y="1124585"/>
            <a:ext cx="10076815" cy="5113020"/>
          </a:xfrm>
        </p:spPr>
        <p:txBody>
          <a:bodyPr/>
          <a:lstStyle/>
          <a:p>
            <a:pPr>
              <a:defRPr/>
            </a:pPr>
            <a:r>
              <a:rPr lang="en-US" altLang="zh-CN" sz="2800" dirty="0" smtClean="0"/>
              <a:t>Java Persistence API</a:t>
            </a:r>
            <a:endParaRPr lang="en-US" altLang="zh-CN" sz="2800" dirty="0" smtClean="0"/>
          </a:p>
          <a:p>
            <a:pPr lvl="1">
              <a:defRPr/>
            </a:pPr>
            <a:r>
              <a:rPr lang="zh-CN" altLang="en-US" sz="2400" dirty="0" smtClean="0"/>
              <a:t>用于对象持久化的</a:t>
            </a:r>
            <a:r>
              <a:rPr lang="en-US" altLang="zh-CN" sz="2400" dirty="0" smtClean="0"/>
              <a:t>API</a:t>
            </a:r>
            <a:endParaRPr lang="en-US" altLang="zh-CN" sz="2400" dirty="0" smtClean="0"/>
          </a:p>
          <a:p>
            <a:pPr lvl="1">
              <a:defRPr/>
            </a:pPr>
            <a:r>
              <a:rPr lang="zh-CN" altLang="en-US" sz="2400" dirty="0" smtClean="0"/>
              <a:t>是</a:t>
            </a:r>
            <a:r>
              <a:rPr lang="en-US" altLang="zh-CN" sz="2400" dirty="0" smtClean="0"/>
              <a:t>Java EE</a:t>
            </a:r>
            <a:r>
              <a:rPr lang="zh-CN" altLang="en-US" sz="2400" dirty="0" smtClean="0"/>
              <a:t>平台标准的 </a:t>
            </a:r>
            <a:r>
              <a:rPr lang="en-US" altLang="zh-CN" sz="2400" dirty="0" smtClean="0">
                <a:solidFill>
                  <a:srgbClr val="FF0000"/>
                </a:solidFill>
              </a:rPr>
              <a:t>ORM </a:t>
            </a:r>
            <a:r>
              <a:rPr lang="zh-CN" altLang="en-US" sz="2400" dirty="0" smtClean="0">
                <a:solidFill>
                  <a:srgbClr val="FF0000"/>
                </a:solidFill>
              </a:rPr>
              <a:t>规范</a:t>
            </a:r>
            <a:r>
              <a:rPr lang="zh-CN" altLang="en-US" sz="2400" dirty="0" smtClean="0"/>
              <a:t>，使得应用程序以统一的方式访问持久层。</a:t>
            </a:r>
            <a:endParaRPr lang="en-US" altLang="zh-CN" sz="2400" dirty="0" smtClean="0"/>
          </a:p>
          <a:p>
            <a:pPr marL="0" indent="0">
              <a:buFont typeface="Monotype Sorts"/>
              <a:buNone/>
              <a:defRPr/>
            </a:pPr>
            <a:endParaRPr lang="zh-CN" altLang="en-US" dirty="0"/>
          </a:p>
        </p:txBody>
      </p:sp>
      <p:sp>
        <p:nvSpPr>
          <p:cNvPr id="18437"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60C5B2C5-6871-4A8C-9B55-B0D55D7D0D93}"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
        <p:nvSpPr>
          <p:cNvPr id="18438" name="矩形 6"/>
          <p:cNvSpPr>
            <a:spLocks noChangeArrowheads="1"/>
          </p:cNvSpPr>
          <p:nvPr/>
        </p:nvSpPr>
        <p:spPr bwMode="auto">
          <a:xfrm>
            <a:off x="158115" y="3213100"/>
            <a:ext cx="5182235" cy="221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solidFill>
                  <a:srgbClr val="FF0000"/>
                </a:solidFill>
              </a:rPr>
              <a:t>JPA</a:t>
            </a:r>
            <a:r>
              <a:rPr lang="zh-CN" altLang="en-US" sz="2400" b="1" dirty="0"/>
              <a:t>本质上就是一种</a:t>
            </a:r>
            <a:r>
              <a:rPr lang="en-US" altLang="zh-CN" sz="2400" b="1" dirty="0">
                <a:solidFill>
                  <a:srgbClr val="FF0000"/>
                </a:solidFill>
              </a:rPr>
              <a:t>ORM</a:t>
            </a:r>
            <a:r>
              <a:rPr lang="zh-CN" altLang="en-US" sz="2400" b="1" dirty="0"/>
              <a:t>规范</a:t>
            </a:r>
            <a:r>
              <a:rPr lang="zh-CN" altLang="en-US" sz="2400" dirty="0"/>
              <a:t>，不是</a:t>
            </a:r>
            <a:r>
              <a:rPr lang="en-US" altLang="zh-CN" sz="2400" dirty="0"/>
              <a:t>ORM</a:t>
            </a:r>
            <a:r>
              <a:rPr lang="zh-CN" altLang="en-US" sz="2400" dirty="0"/>
              <a:t>框架</a:t>
            </a:r>
            <a:r>
              <a:rPr lang="en-US" altLang="zh-CN" sz="2400" dirty="0"/>
              <a:t>——</a:t>
            </a:r>
            <a:r>
              <a:rPr lang="zh-CN" altLang="en-US" sz="2400" dirty="0"/>
              <a:t>因为</a:t>
            </a:r>
            <a:r>
              <a:rPr lang="en-US" altLang="zh-CN" sz="2400" dirty="0"/>
              <a:t>JPA</a:t>
            </a:r>
            <a:r>
              <a:rPr lang="zh-CN" altLang="en-US" sz="2400" dirty="0"/>
              <a:t>并未提供</a:t>
            </a:r>
            <a:r>
              <a:rPr lang="en-US" altLang="zh-CN" sz="2400" dirty="0"/>
              <a:t>ORM</a:t>
            </a:r>
            <a:r>
              <a:rPr lang="zh-CN" altLang="en-US" sz="2400" dirty="0"/>
              <a:t>实现，它只是制订了一些规范，提供了一些编程的</a:t>
            </a:r>
            <a:r>
              <a:rPr lang="en-US" altLang="zh-CN" sz="2400" dirty="0"/>
              <a:t>API</a:t>
            </a:r>
            <a:r>
              <a:rPr lang="zh-CN" altLang="en-US" sz="2400" dirty="0"/>
              <a:t>接口，但具体实现则由相应服务器厂商来提供实现</a:t>
            </a:r>
            <a:endParaRPr lang="zh-CN" altLang="en-US" sz="2400" dirty="0"/>
          </a:p>
          <a:p>
            <a:endParaRPr lang="en-US" altLang="zh-CN"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JPA</a:t>
            </a:r>
            <a:r>
              <a:rPr lang="zh-CN" altLang="en-US" dirty="0" smtClean="0"/>
              <a:t>概述</a:t>
            </a:r>
            <a:r>
              <a:rPr lang="en-US" altLang="zh-CN" dirty="0" smtClean="0"/>
              <a:t>-</a:t>
            </a:r>
            <a:r>
              <a:rPr lang="zh-CN" altLang="en-US" dirty="0" smtClean="0"/>
              <a:t>续</a:t>
            </a:r>
            <a:endParaRPr lang="zh-CN" altLang="en-US" dirty="0"/>
          </a:p>
        </p:txBody>
      </p:sp>
      <p:sp>
        <p:nvSpPr>
          <p:cNvPr id="3" name="内容占位符 2"/>
          <p:cNvSpPr>
            <a:spLocks noGrp="1"/>
          </p:cNvSpPr>
          <p:nvPr>
            <p:ph idx="1"/>
          </p:nvPr>
        </p:nvSpPr>
        <p:spPr/>
        <p:txBody>
          <a:bodyPr>
            <a:normAutofit lnSpcReduction="10000"/>
          </a:bodyPr>
          <a:lstStyle/>
          <a:p>
            <a:pPr>
              <a:defRPr/>
            </a:pPr>
            <a:r>
              <a:rPr lang="en-US" altLang="zh-CN" dirty="0" smtClean="0"/>
              <a:t>ORM</a:t>
            </a:r>
            <a:endParaRPr lang="en-US" altLang="zh-CN" dirty="0" smtClean="0"/>
          </a:p>
          <a:p>
            <a:pPr lvl="1">
              <a:defRPr/>
            </a:pPr>
            <a:r>
              <a:rPr lang="en-US" altLang="zh-CN" dirty="0" smtClean="0"/>
              <a:t>Object Relational Mapping</a:t>
            </a:r>
            <a:endParaRPr lang="en-US" altLang="zh-CN" dirty="0" smtClean="0"/>
          </a:p>
          <a:p>
            <a:pPr lvl="1">
              <a:defRPr/>
            </a:pPr>
            <a:r>
              <a:rPr lang="en-US" altLang="zh-CN" dirty="0" smtClean="0"/>
              <a:t>Java </a:t>
            </a:r>
            <a:r>
              <a:rPr lang="zh-CN" altLang="en-US" dirty="0" smtClean="0"/>
              <a:t>对象与关系数据库表间的映射</a:t>
            </a:r>
            <a:endParaRPr lang="en-US" altLang="zh-CN" dirty="0" smtClean="0"/>
          </a:p>
          <a:p>
            <a:pPr>
              <a:defRPr/>
            </a:pPr>
            <a:r>
              <a:rPr lang="en-US" altLang="zh-CN" dirty="0" smtClean="0"/>
              <a:t>JPA</a:t>
            </a:r>
            <a:endParaRPr lang="en-US" altLang="zh-CN" dirty="0" smtClean="0"/>
          </a:p>
          <a:p>
            <a:pPr lvl="1">
              <a:defRPr/>
            </a:pPr>
            <a:r>
              <a:rPr lang="zh-CN" altLang="en-US" dirty="0" smtClean="0"/>
              <a:t>通过 </a:t>
            </a:r>
            <a:r>
              <a:rPr lang="en-US" altLang="zh-CN" dirty="0">
                <a:solidFill>
                  <a:srgbClr val="FF0000"/>
                </a:solidFill>
              </a:rPr>
              <a:t>JDK</a:t>
            </a:r>
            <a:r>
              <a:rPr lang="en-US" altLang="zh-CN" dirty="0"/>
              <a:t> </a:t>
            </a:r>
            <a:r>
              <a:rPr lang="zh-CN" altLang="en-US" dirty="0"/>
              <a:t>注解或</a:t>
            </a:r>
            <a:r>
              <a:rPr lang="en-US" altLang="zh-CN" dirty="0">
                <a:solidFill>
                  <a:srgbClr val="FF0000"/>
                </a:solidFill>
              </a:rPr>
              <a:t>XML</a:t>
            </a:r>
            <a:r>
              <a:rPr lang="zh-CN" altLang="en-US" dirty="0"/>
              <a:t>描述</a:t>
            </a:r>
            <a:r>
              <a:rPr lang="zh-CN" altLang="en-US" dirty="0">
                <a:solidFill>
                  <a:srgbClr val="FF0000"/>
                </a:solidFill>
              </a:rPr>
              <a:t>对象－关系表</a:t>
            </a:r>
            <a:r>
              <a:rPr lang="zh-CN" altLang="en-US" dirty="0"/>
              <a:t>的映射</a:t>
            </a:r>
            <a:r>
              <a:rPr lang="zh-CN" altLang="en-US" dirty="0" smtClean="0"/>
              <a:t>关系</a:t>
            </a:r>
            <a:endParaRPr lang="en-US" altLang="zh-CN" dirty="0" smtClean="0"/>
          </a:p>
          <a:p>
            <a:pPr lvl="1">
              <a:defRPr/>
            </a:pPr>
            <a:r>
              <a:rPr lang="zh-CN" altLang="en-US" dirty="0" smtClean="0"/>
              <a:t>并将</a:t>
            </a:r>
            <a:r>
              <a:rPr lang="zh-CN" altLang="en-US" dirty="0" smtClean="0">
                <a:solidFill>
                  <a:srgbClr val="FF0000"/>
                </a:solidFill>
              </a:rPr>
              <a:t>运行期的实体</a:t>
            </a:r>
            <a:r>
              <a:rPr lang="zh-CN" altLang="en-US" dirty="0" smtClean="0"/>
              <a:t>对象持久化到数据库中</a:t>
            </a:r>
            <a:endParaRPr lang="en-US" altLang="zh-CN" dirty="0" smtClean="0"/>
          </a:p>
          <a:p>
            <a:pPr lvl="1">
              <a:defRPr/>
            </a:pPr>
            <a:r>
              <a:rPr lang="en-US" altLang="zh-CN" dirty="0" smtClean="0"/>
              <a:t>Sun</a:t>
            </a:r>
            <a:r>
              <a:rPr lang="zh-CN" altLang="en-US" dirty="0" smtClean="0"/>
              <a:t>希望整合</a:t>
            </a:r>
            <a:r>
              <a:rPr lang="en-US" altLang="zh-CN" dirty="0" smtClean="0"/>
              <a:t>ORM</a:t>
            </a:r>
            <a:r>
              <a:rPr lang="zh-CN" altLang="en-US" dirty="0" smtClean="0"/>
              <a:t>技术，统一各种</a:t>
            </a:r>
            <a:r>
              <a:rPr lang="en-US" altLang="zh-CN" dirty="0" smtClean="0"/>
              <a:t>ORM</a:t>
            </a:r>
            <a:r>
              <a:rPr lang="zh-CN" altLang="en-US" dirty="0" smtClean="0"/>
              <a:t>框架的规范，实现天下归一。</a:t>
            </a:r>
            <a:endParaRPr lang="en-US" altLang="zh-CN" dirty="0" smtClean="0"/>
          </a:p>
          <a:p>
            <a:pPr lvl="2">
              <a:defRPr/>
            </a:pPr>
            <a:r>
              <a:rPr lang="en-US" altLang="zh-CN" dirty="0" smtClean="0"/>
              <a:t>JPA</a:t>
            </a:r>
            <a:r>
              <a:rPr lang="zh-CN" altLang="en-US" dirty="0" smtClean="0"/>
              <a:t>提供了现有</a:t>
            </a:r>
            <a:r>
              <a:rPr lang="en-US" altLang="zh-CN" dirty="0" smtClean="0"/>
              <a:t>ORM</a:t>
            </a:r>
            <a:r>
              <a:rPr lang="zh-CN" altLang="en-US" dirty="0" smtClean="0"/>
              <a:t>实现框架功能的核心子集</a:t>
            </a:r>
            <a:endParaRPr lang="zh-CN" altLang="en-US" dirty="0"/>
          </a:p>
        </p:txBody>
      </p:sp>
      <p:sp>
        <p:nvSpPr>
          <p:cNvPr id="19460"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9D59D8E2-5F21-4B9F-8B68-16A6087E9887}"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JPA</a:t>
            </a:r>
            <a:r>
              <a:rPr lang="zh-CN" altLang="en-US" dirty="0"/>
              <a:t>概述</a:t>
            </a:r>
            <a:r>
              <a:rPr lang="en-US" altLang="zh-CN" dirty="0"/>
              <a:t>-</a:t>
            </a:r>
            <a:r>
              <a:rPr lang="zh-CN" altLang="en-US" dirty="0"/>
              <a:t>续</a:t>
            </a:r>
            <a:endParaRPr lang="zh-CN" altLang="en-US" dirty="0"/>
          </a:p>
        </p:txBody>
      </p:sp>
      <p:sp>
        <p:nvSpPr>
          <p:cNvPr id="3" name="内容占位符 2"/>
          <p:cNvSpPr>
            <a:spLocks noGrp="1"/>
          </p:cNvSpPr>
          <p:nvPr>
            <p:ph idx="1"/>
          </p:nvPr>
        </p:nvSpPr>
        <p:spPr/>
        <p:txBody>
          <a:bodyPr>
            <a:normAutofit/>
          </a:bodyPr>
          <a:lstStyle/>
          <a:p>
            <a:pPr>
              <a:defRPr/>
            </a:pPr>
            <a:r>
              <a:rPr lang="en-US" altLang="zh-CN" dirty="0" smtClean="0"/>
              <a:t>JPA</a:t>
            </a:r>
            <a:r>
              <a:rPr lang="zh-CN" altLang="en-US" dirty="0" smtClean="0"/>
              <a:t>包含三方面的技术</a:t>
            </a:r>
            <a:endParaRPr lang="en-US" altLang="zh-CN" dirty="0" smtClean="0"/>
          </a:p>
          <a:p>
            <a:pPr lvl="1">
              <a:defRPr/>
            </a:pPr>
            <a:r>
              <a:rPr lang="en-US" altLang="zh-CN" dirty="0" smtClean="0">
                <a:solidFill>
                  <a:srgbClr val="FF0000"/>
                </a:solidFill>
              </a:rPr>
              <a:t>ORM</a:t>
            </a:r>
            <a:r>
              <a:rPr lang="zh-CN" altLang="en-US" dirty="0" smtClean="0">
                <a:solidFill>
                  <a:srgbClr val="FF0000"/>
                </a:solidFill>
              </a:rPr>
              <a:t>映射</a:t>
            </a:r>
            <a:r>
              <a:rPr lang="zh-CN" altLang="en-US" dirty="0" smtClean="0"/>
              <a:t>元数据：</a:t>
            </a:r>
            <a:endParaRPr lang="en-US" altLang="zh-CN" dirty="0" smtClean="0"/>
          </a:p>
          <a:p>
            <a:pPr lvl="2">
              <a:defRPr/>
            </a:pPr>
            <a:r>
              <a:rPr lang="en-US" altLang="zh-CN" dirty="0" smtClean="0"/>
              <a:t>JPA</a:t>
            </a:r>
            <a:r>
              <a:rPr lang="zh-CN" altLang="en-US" dirty="0" smtClean="0"/>
              <a:t>支持</a:t>
            </a:r>
            <a:r>
              <a:rPr lang="en-US" altLang="zh-CN" dirty="0" smtClean="0"/>
              <a:t>XML</a:t>
            </a:r>
            <a:r>
              <a:rPr lang="zh-CN" altLang="en-US" dirty="0" smtClean="0"/>
              <a:t>和 </a:t>
            </a:r>
            <a:r>
              <a:rPr lang="en-US" altLang="zh-CN" dirty="0" smtClean="0"/>
              <a:t>JDK </a:t>
            </a:r>
            <a:r>
              <a:rPr lang="zh-CN" altLang="en-US" dirty="0" smtClean="0"/>
              <a:t>注解两种元数据的形式，元数据描述对象和表之间的映射关系，框架据此将实体对象持久化到数据库表中。</a:t>
            </a:r>
            <a:r>
              <a:rPr lang="zh-CN" altLang="en-US" sz="2595" dirty="0" smtClean="0"/>
              <a:t> </a:t>
            </a:r>
            <a:endParaRPr lang="zh-CN" altLang="en-US" sz="2595" dirty="0" smtClean="0"/>
          </a:p>
          <a:p>
            <a:pPr lvl="1">
              <a:defRPr/>
            </a:pPr>
            <a:r>
              <a:rPr lang="en-US" altLang="zh-CN" dirty="0" smtClean="0"/>
              <a:t>JPA</a:t>
            </a:r>
            <a:r>
              <a:rPr lang="zh-CN" altLang="en-US" dirty="0" smtClean="0"/>
              <a:t>的</a:t>
            </a:r>
            <a:r>
              <a:rPr lang="en-US" altLang="zh-CN" dirty="0" smtClean="0">
                <a:solidFill>
                  <a:srgbClr val="FF0000"/>
                </a:solidFill>
              </a:rPr>
              <a:t>API</a:t>
            </a:r>
            <a:r>
              <a:rPr lang="zh-CN" altLang="en-US" dirty="0" smtClean="0"/>
              <a:t>：</a:t>
            </a:r>
            <a:endParaRPr lang="en-US" altLang="zh-CN" dirty="0" smtClean="0"/>
          </a:p>
          <a:p>
            <a:pPr lvl="2">
              <a:defRPr/>
            </a:pPr>
            <a:r>
              <a:rPr lang="zh-CN" altLang="en-US" dirty="0" smtClean="0"/>
              <a:t>用来操作实体对象，执行</a:t>
            </a:r>
            <a:r>
              <a:rPr lang="en-US" altLang="zh-CN" dirty="0" smtClean="0"/>
              <a:t>CRUD</a:t>
            </a:r>
            <a:r>
              <a:rPr lang="zh-CN" altLang="en-US" dirty="0" smtClean="0"/>
              <a:t>操作，框架在后台替我们完成所有的事情，开发者</a:t>
            </a:r>
            <a:r>
              <a:rPr lang="zh-CN" altLang="en-US" dirty="0" smtClean="0">
                <a:solidFill>
                  <a:srgbClr val="FF0000"/>
                </a:solidFill>
              </a:rPr>
              <a:t>从繁琐的 </a:t>
            </a:r>
            <a:r>
              <a:rPr lang="en-US" altLang="zh-CN" dirty="0" smtClean="0">
                <a:solidFill>
                  <a:srgbClr val="FF0000"/>
                </a:solidFill>
              </a:rPr>
              <a:t>JDBC</a:t>
            </a:r>
            <a:r>
              <a:rPr lang="zh-CN" altLang="en-US" dirty="0" smtClean="0">
                <a:solidFill>
                  <a:srgbClr val="FF0000"/>
                </a:solidFill>
              </a:rPr>
              <a:t>和 </a:t>
            </a:r>
            <a:r>
              <a:rPr lang="en-US" altLang="zh-CN" dirty="0" smtClean="0">
                <a:solidFill>
                  <a:srgbClr val="FF0000"/>
                </a:solidFill>
              </a:rPr>
              <a:t>SQL</a:t>
            </a:r>
            <a:r>
              <a:rPr lang="zh-CN" altLang="en-US" dirty="0" smtClean="0">
                <a:solidFill>
                  <a:srgbClr val="FF0000"/>
                </a:solidFill>
              </a:rPr>
              <a:t>代码中解脱出来</a:t>
            </a:r>
            <a:r>
              <a:rPr lang="zh-CN" altLang="en-US" dirty="0" smtClean="0"/>
              <a:t>。  </a:t>
            </a:r>
            <a:endParaRPr lang="zh-CN" altLang="en-US" dirty="0" smtClean="0"/>
          </a:p>
          <a:p>
            <a:pPr lvl="1">
              <a:defRPr/>
            </a:pPr>
            <a:r>
              <a:rPr lang="zh-CN" altLang="en-US" dirty="0" smtClean="0"/>
              <a:t>查询语言</a:t>
            </a:r>
            <a:r>
              <a:rPr lang="en-US" altLang="zh-CN" dirty="0" smtClean="0">
                <a:solidFill>
                  <a:srgbClr val="FF0000"/>
                </a:solidFill>
              </a:rPr>
              <a:t>JPQL</a:t>
            </a:r>
            <a:r>
              <a:rPr lang="zh-CN" altLang="en-US" dirty="0" smtClean="0"/>
              <a:t>：</a:t>
            </a:r>
            <a:endParaRPr lang="en-US" altLang="zh-CN" dirty="0" smtClean="0"/>
          </a:p>
          <a:p>
            <a:pPr lvl="2">
              <a:defRPr/>
            </a:pPr>
            <a:r>
              <a:rPr lang="zh-CN" altLang="en-US" dirty="0" smtClean="0"/>
              <a:t>这是持久化操作中很重要的一个方面，通过</a:t>
            </a:r>
            <a:r>
              <a:rPr lang="zh-CN" altLang="en-US" dirty="0" smtClean="0">
                <a:solidFill>
                  <a:srgbClr val="FF0000"/>
                </a:solidFill>
              </a:rPr>
              <a:t>面向对象</a:t>
            </a:r>
            <a:r>
              <a:rPr lang="zh-CN" altLang="en-US" dirty="0" smtClean="0"/>
              <a:t>而非面向数据库的查询语言查询数据，避免程序的 </a:t>
            </a:r>
            <a:r>
              <a:rPr lang="en-US" altLang="zh-CN" dirty="0" smtClean="0"/>
              <a:t>SQL</a:t>
            </a:r>
            <a:r>
              <a:rPr lang="zh-CN" altLang="en-US" dirty="0" smtClean="0"/>
              <a:t>语句紧密耦合。</a:t>
            </a:r>
            <a:endParaRPr lang="zh-CN" altLang="en-US" dirty="0" smtClean="0"/>
          </a:p>
          <a:p>
            <a:pPr marL="457200" lvl="1" indent="0">
              <a:buFont typeface="Wingdings" panose="05000000000000000000" pitchFamily="2" charset="2"/>
              <a:buNone/>
              <a:defRPr/>
            </a:pPr>
            <a:endParaRPr lang="zh-CN" altLang="en-US" dirty="0"/>
          </a:p>
        </p:txBody>
      </p:sp>
      <p:sp>
        <p:nvSpPr>
          <p:cNvPr id="20484"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D4BDA9BA-FB56-4510-B2AC-C58AE2D41D2B}"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实体（</a:t>
            </a:r>
            <a:r>
              <a:rPr lang="en-US" altLang="zh-CN" dirty="0" smtClean="0"/>
              <a:t>Entity</a:t>
            </a:r>
            <a:r>
              <a:rPr lang="zh-CN" altLang="en-US" dirty="0" smtClean="0"/>
              <a:t>）</a:t>
            </a:r>
            <a:endParaRPr lang="zh-CN" altLang="en-US" dirty="0"/>
          </a:p>
        </p:txBody>
      </p:sp>
      <p:sp>
        <p:nvSpPr>
          <p:cNvPr id="21507" name="内容占位符 2"/>
          <p:cNvSpPr>
            <a:spLocks noGrp="1"/>
          </p:cNvSpPr>
          <p:nvPr>
            <p:ph idx="1"/>
          </p:nvPr>
        </p:nvSpPr>
        <p:spPr/>
        <p:txBody>
          <a:bodyPr/>
          <a:lstStyle/>
          <a:p>
            <a:r>
              <a:rPr lang="zh-CN" altLang="en-US" dirty="0"/>
              <a:t>一个</a:t>
            </a:r>
            <a:r>
              <a:rPr lang="zh-CN" altLang="en-US" dirty="0" smtClean="0"/>
              <a:t>实体是一个</a:t>
            </a:r>
            <a:r>
              <a:rPr lang="zh-CN" altLang="en-US" dirty="0" smtClean="0">
                <a:solidFill>
                  <a:srgbClr val="FF0000"/>
                </a:solidFill>
              </a:rPr>
              <a:t>轻量级</a:t>
            </a:r>
            <a:r>
              <a:rPr lang="zh-CN" altLang="en-US" dirty="0" smtClean="0"/>
              <a:t>的持续化域对象。</a:t>
            </a:r>
            <a:endParaRPr lang="en-US" altLang="zh-CN" dirty="0" smtClean="0"/>
          </a:p>
          <a:p>
            <a:pPr lvl="1"/>
            <a:r>
              <a:rPr lang="zh-CN" altLang="en-US" dirty="0" smtClean="0"/>
              <a:t>通常一个实体表示关系数据库中的一张表</a:t>
            </a:r>
            <a:endParaRPr lang="en-US" altLang="zh-CN" dirty="0" smtClean="0"/>
          </a:p>
          <a:p>
            <a:pPr lvl="1"/>
            <a:r>
              <a:rPr lang="zh-CN" altLang="en-US" dirty="0"/>
              <a:t>实体的每个</a:t>
            </a:r>
            <a:r>
              <a:rPr lang="zh-CN" altLang="en-US" dirty="0" smtClean="0"/>
              <a:t>实例对应表中的一行</a:t>
            </a:r>
            <a:endParaRPr lang="en-US" altLang="zh-CN" dirty="0" smtClean="0"/>
          </a:p>
        </p:txBody>
      </p:sp>
      <p:sp>
        <p:nvSpPr>
          <p:cNvPr id="21508"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3C4868F2-9448-4D6E-8785-B1F382E56083}"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2150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9616" y="3429000"/>
            <a:ext cx="7131071" cy="1790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447928" y="2953349"/>
            <a:ext cx="864096" cy="368300"/>
          </a:xfrm>
          <a:prstGeom prst="rect">
            <a:avLst/>
          </a:prstGeom>
          <a:noFill/>
        </p:spPr>
        <p:txBody>
          <a:bodyPr wrap="square" rtlCol="0">
            <a:spAutoFit/>
          </a:bodyPr>
          <a:lstStyle/>
          <a:p>
            <a:r>
              <a:rPr lang="en-US" altLang="zh-CN" dirty="0" smtClean="0"/>
              <a:t>User</a:t>
            </a:r>
            <a:r>
              <a:rPr lang="zh-CN" altLang="en-US" dirty="0" smtClean="0"/>
              <a:t>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实体（</a:t>
            </a:r>
            <a:r>
              <a:rPr lang="en-US" altLang="zh-CN" dirty="0" smtClean="0"/>
              <a:t>Entity</a:t>
            </a:r>
            <a:r>
              <a:rPr lang="zh-CN" altLang="en-US" dirty="0" smtClean="0"/>
              <a:t>）</a:t>
            </a:r>
            <a:endParaRPr lang="zh-CN" altLang="en-US" dirty="0"/>
          </a:p>
        </p:txBody>
      </p:sp>
      <p:sp>
        <p:nvSpPr>
          <p:cNvPr id="21508" name="灯片编号占位符 3"/>
          <p:cNvSpPr>
            <a:spLocks noGrp="1"/>
          </p:cNvSpPr>
          <p:nvPr>
            <p:ph type="sldNum" sz="quarter" idx="11"/>
          </p:nvPr>
        </p:nvSpPr>
        <p:spPr>
          <a:xfrm>
            <a:off x="184150" y="6444298"/>
            <a:ext cx="711200" cy="268287"/>
          </a:xfrm>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3C4868F2-9448-4D6E-8785-B1F382E56083}"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2151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9496" y="1134273"/>
            <a:ext cx="6994930" cy="546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635732" y="2582561"/>
            <a:ext cx="2990888" cy="368300"/>
          </a:xfrm>
          <a:prstGeom prst="rect">
            <a:avLst/>
          </a:prstGeom>
          <a:noFill/>
        </p:spPr>
        <p:txBody>
          <a:bodyPr wrap="square" rtlCol="0">
            <a:spAutoFit/>
          </a:bodyPr>
          <a:lstStyle/>
          <a:p>
            <a:r>
              <a:rPr lang="zh-CN" altLang="en-US" b="1" dirty="0" smtClean="0"/>
              <a:t>对应于</a:t>
            </a:r>
            <a:r>
              <a:rPr lang="en-US" altLang="zh-CN" b="1" dirty="0" smtClean="0"/>
              <a:t>User</a:t>
            </a:r>
            <a:r>
              <a:rPr lang="zh-CN" altLang="en-US" b="1" dirty="0" smtClean="0"/>
              <a:t>表的</a:t>
            </a:r>
            <a:r>
              <a:rPr lang="en-US" altLang="zh-CN" b="1" dirty="0" smtClean="0"/>
              <a:t>User</a:t>
            </a:r>
            <a:r>
              <a:rPr lang="zh-CN" altLang="en-US" b="1" dirty="0" smtClean="0"/>
              <a:t>实体类</a:t>
            </a:r>
            <a:endParaRPr lang="zh-CN" altLang="en-US" b="1" dirty="0"/>
          </a:p>
        </p:txBody>
      </p:sp>
      <p:sp>
        <p:nvSpPr>
          <p:cNvPr id="9" name="TextBox 8"/>
          <p:cNvSpPr txBox="1"/>
          <p:nvPr/>
        </p:nvSpPr>
        <p:spPr>
          <a:xfrm>
            <a:off x="7607935" y="4940935"/>
            <a:ext cx="3847465" cy="1445260"/>
          </a:xfrm>
          <a:prstGeom prst="rect">
            <a:avLst/>
          </a:prstGeom>
          <a:noFill/>
        </p:spPr>
        <p:txBody>
          <a:bodyPr wrap="square" rtlCol="0">
            <a:spAutoFit/>
          </a:bodyPr>
          <a:lstStyle/>
          <a:p>
            <a:r>
              <a:rPr lang="zh-CN" altLang="en-US" sz="2400" b="1" dirty="0" smtClean="0"/>
              <a:t>实体类是一个</a:t>
            </a:r>
            <a:r>
              <a:rPr lang="en-US" altLang="zh-CN" sz="2400" b="1" dirty="0" smtClean="0"/>
              <a:t>POJO</a:t>
            </a:r>
            <a:r>
              <a:rPr lang="zh-CN" altLang="en-US" sz="2400" b="1" dirty="0" smtClean="0"/>
              <a:t>类</a:t>
            </a:r>
            <a:endParaRPr lang="en-US" altLang="zh-CN" sz="2400" b="1" dirty="0" smtClean="0"/>
          </a:p>
          <a:p>
            <a:endParaRPr lang="en-US" altLang="zh-CN" sz="2400" b="1" dirty="0" smtClean="0"/>
          </a:p>
          <a:p>
            <a:r>
              <a:rPr lang="zh-CN" altLang="en-US" sz="2000" b="1" dirty="0" smtClean="0"/>
              <a:t>利用</a:t>
            </a:r>
            <a:r>
              <a:rPr lang="en-US" altLang="zh-CN" sz="2000" b="1" dirty="0" smtClean="0"/>
              <a:t>ORM</a:t>
            </a:r>
            <a:r>
              <a:rPr lang="zh-CN" altLang="en-US" sz="2000" b="1" dirty="0" smtClean="0"/>
              <a:t>注解，指明实体和表间的映射关系</a:t>
            </a:r>
            <a:endParaRPr lang="zh-CN" altLang="en-US" sz="2000" b="1" dirty="0" smtClean="0"/>
          </a:p>
        </p:txBody>
      </p:sp>
      <p:sp>
        <p:nvSpPr>
          <p:cNvPr id="4" name="线形标注 2(带强调线) 3"/>
          <p:cNvSpPr/>
          <p:nvPr/>
        </p:nvSpPr>
        <p:spPr>
          <a:xfrm>
            <a:off x="3940837" y="909732"/>
            <a:ext cx="2232248" cy="432048"/>
          </a:xfrm>
          <a:prstGeom prst="accentCallout2">
            <a:avLst>
              <a:gd name="adj1" fmla="val 18750"/>
              <a:gd name="adj2" fmla="val -8333"/>
              <a:gd name="adj3" fmla="val 18750"/>
              <a:gd name="adj4" fmla="val -16667"/>
              <a:gd name="adj5" fmla="val 52482"/>
              <a:gd name="adj6" fmla="val -73298"/>
            </a:avLst>
          </a:prstGeom>
          <a:ln>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smtClean="0"/>
              <a:t>指明</a:t>
            </a:r>
            <a:r>
              <a:rPr lang="en-US" altLang="zh-CN" b="1" dirty="0" smtClean="0"/>
              <a:t>User</a:t>
            </a:r>
            <a:r>
              <a:rPr lang="zh-CN" altLang="en-US" b="1" dirty="0" smtClean="0"/>
              <a:t>是实体类</a:t>
            </a:r>
            <a:endParaRPr lang="zh-CN" altLang="en-US" b="1" dirty="0"/>
          </a:p>
        </p:txBody>
      </p:sp>
      <p:sp>
        <p:nvSpPr>
          <p:cNvPr id="11" name="线形标注 2(带强调线) 10"/>
          <p:cNvSpPr/>
          <p:nvPr/>
        </p:nvSpPr>
        <p:spPr>
          <a:xfrm>
            <a:off x="4103116" y="2133868"/>
            <a:ext cx="2280916" cy="432048"/>
          </a:xfrm>
          <a:prstGeom prst="accentCallout2">
            <a:avLst>
              <a:gd name="adj1" fmla="val 18750"/>
              <a:gd name="adj2" fmla="val -8333"/>
              <a:gd name="adj3" fmla="val 18750"/>
              <a:gd name="adj4" fmla="val -16667"/>
              <a:gd name="adj5" fmla="val 36688"/>
              <a:gd name="adj6" fmla="val -75132"/>
            </a:avLst>
          </a:prstGeom>
          <a:ln>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smtClean="0"/>
              <a:t>指明“</a:t>
            </a:r>
            <a:r>
              <a:rPr lang="en-US" altLang="zh-CN" b="1" dirty="0" smtClean="0"/>
              <a:t>id</a:t>
            </a:r>
            <a:r>
              <a:rPr lang="zh-CN" altLang="en-US" b="1" dirty="0" smtClean="0"/>
              <a:t>”属性对应</a:t>
            </a:r>
            <a:r>
              <a:rPr lang="en-US" altLang="zh-CN" b="1" dirty="0" smtClean="0"/>
              <a:t>User</a:t>
            </a:r>
            <a:r>
              <a:rPr lang="zh-CN" altLang="en-US" b="1" dirty="0" smtClean="0"/>
              <a:t>表的主键列</a:t>
            </a:r>
            <a:endParaRPr lang="zh-CN" altLang="en-US" b="1" dirty="0"/>
          </a:p>
        </p:txBody>
      </p:sp>
      <p:sp>
        <p:nvSpPr>
          <p:cNvPr id="12" name="线形标注 2(带强调线) 11"/>
          <p:cNvSpPr/>
          <p:nvPr/>
        </p:nvSpPr>
        <p:spPr>
          <a:xfrm>
            <a:off x="7607935" y="1630045"/>
            <a:ext cx="3117215" cy="817245"/>
          </a:xfrm>
          <a:prstGeom prst="accentCallout2">
            <a:avLst>
              <a:gd name="adj1" fmla="val 18750"/>
              <a:gd name="adj2" fmla="val -8333"/>
              <a:gd name="adj3" fmla="val 18750"/>
              <a:gd name="adj4" fmla="val -16667"/>
              <a:gd name="adj5" fmla="val 21527"/>
              <a:gd name="adj6" fmla="val -136680"/>
            </a:avLst>
          </a:prstGeom>
          <a:ln>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t>类</a:t>
            </a:r>
            <a:r>
              <a:rPr lang="zh-CN" altLang="en-US" b="1" dirty="0" smtClean="0"/>
              <a:t>名与表名同名，</a:t>
            </a:r>
            <a:endParaRPr lang="en-US" altLang="zh-CN" b="1" dirty="0" smtClean="0"/>
          </a:p>
          <a:p>
            <a:pPr algn="ctr"/>
            <a:r>
              <a:rPr lang="zh-CN" altLang="en-US" b="1" dirty="0" smtClean="0"/>
              <a:t>若不同名则用：</a:t>
            </a:r>
            <a:r>
              <a:rPr lang="en-US" altLang="zh-CN" b="1" dirty="0" smtClean="0"/>
              <a:t>@Table(name</a:t>
            </a:r>
            <a:r>
              <a:rPr lang="en-US" altLang="zh-CN" b="1" dirty="0"/>
              <a:t>="User")</a:t>
            </a:r>
            <a:endParaRPr lang="zh-CN" altLang="en-US" b="1" dirty="0"/>
          </a:p>
        </p:txBody>
      </p:sp>
      <p:sp>
        <p:nvSpPr>
          <p:cNvPr id="13" name="线形标注 2(带强调线) 12"/>
          <p:cNvSpPr/>
          <p:nvPr/>
        </p:nvSpPr>
        <p:spPr>
          <a:xfrm>
            <a:off x="5808345" y="3357880"/>
            <a:ext cx="4248785" cy="1465580"/>
          </a:xfrm>
          <a:prstGeom prst="accentCallout2">
            <a:avLst>
              <a:gd name="adj1" fmla="val 18750"/>
              <a:gd name="adj2" fmla="val -8333"/>
              <a:gd name="adj3" fmla="val 18750"/>
              <a:gd name="adj4" fmla="val -16667"/>
              <a:gd name="adj5" fmla="val -2972"/>
              <a:gd name="adj6" fmla="val -25824"/>
            </a:avLst>
          </a:prstGeom>
          <a:ln>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lnSpc>
                <a:spcPct val="110000"/>
              </a:lnSpc>
              <a:spcBef>
                <a:spcPts val="0"/>
              </a:spcBef>
              <a:spcAft>
                <a:spcPts val="0"/>
              </a:spcAft>
            </a:pPr>
            <a:r>
              <a:rPr lang="zh-CN" altLang="en-US" b="1" dirty="0" smtClean="0"/>
              <a:t>格式化时间日期</a:t>
            </a:r>
            <a:endParaRPr lang="en-US" altLang="zh-CN" b="1" dirty="0" smtClean="0"/>
          </a:p>
          <a:p>
            <a:pPr algn="ctr">
              <a:lnSpc>
                <a:spcPct val="110000"/>
              </a:lnSpc>
              <a:spcBef>
                <a:spcPts val="0"/>
              </a:spcBef>
              <a:spcAft>
                <a:spcPts val="0"/>
              </a:spcAft>
            </a:pPr>
            <a:r>
              <a:rPr lang="en-US" altLang="zh-CN" b="1" dirty="0" smtClean="0"/>
              <a:t>DATE: 2016-11-20</a:t>
            </a:r>
            <a:endParaRPr lang="en-US" altLang="zh-CN" b="1" dirty="0" smtClean="0"/>
          </a:p>
          <a:p>
            <a:pPr algn="ctr">
              <a:lnSpc>
                <a:spcPct val="110000"/>
              </a:lnSpc>
              <a:spcBef>
                <a:spcPts val="0"/>
              </a:spcBef>
              <a:spcAft>
                <a:spcPts val="0"/>
              </a:spcAft>
            </a:pPr>
            <a:r>
              <a:rPr lang="en-US" altLang="zh-CN" b="1" dirty="0" smtClean="0"/>
              <a:t>TIME: 22:50:30</a:t>
            </a:r>
            <a:endParaRPr lang="en-US" altLang="zh-CN" b="1" dirty="0" smtClean="0"/>
          </a:p>
          <a:p>
            <a:pPr algn="ctr">
              <a:lnSpc>
                <a:spcPct val="110000"/>
              </a:lnSpc>
              <a:spcBef>
                <a:spcPts val="0"/>
              </a:spcBef>
              <a:spcAft>
                <a:spcPts val="0"/>
              </a:spcAft>
            </a:pPr>
            <a:r>
              <a:rPr lang="en-US" altLang="zh-CN" b="1" dirty="0" smtClean="0"/>
              <a:t>TIMESTAMP</a:t>
            </a:r>
            <a:r>
              <a:rPr lang="zh-CN" altLang="en-US" b="1" dirty="0" smtClean="0"/>
              <a:t>：</a:t>
            </a:r>
            <a:r>
              <a:rPr lang="en-US" altLang="zh-CN" b="1" dirty="0" smtClean="0"/>
              <a:t>2016-11-20 22:50:30</a:t>
            </a:r>
            <a:endParaRPr lang="en-US" altLang="zh-CN" b="1" dirty="0" smtClean="0"/>
          </a:p>
          <a:p>
            <a:pPr algn="ctr">
              <a:lnSpc>
                <a:spcPct val="110000"/>
              </a:lnSpc>
              <a:spcBef>
                <a:spcPts val="0"/>
              </a:spcBef>
              <a:spcAft>
                <a:spcPts val="0"/>
              </a:spcAft>
            </a:pPr>
            <a:endParaRPr lang="zh-CN" altLang="en-US"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4" grpId="0" bldLvl="0" animBg="1"/>
      <p:bldP spid="11" grpId="0" bldLvl="0" animBg="1"/>
      <p:bldP spid="12" grpId="0" bldLvl="0" animBg="1"/>
      <p:bldP spid="1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实体基本注解</a:t>
            </a:r>
            <a:r>
              <a:rPr lang="en-US" altLang="zh-CN" dirty="0" smtClean="0"/>
              <a:t>-1</a:t>
            </a:r>
            <a:endParaRPr lang="zh-CN" altLang="en-US" dirty="0"/>
          </a:p>
        </p:txBody>
      </p:sp>
      <p:sp>
        <p:nvSpPr>
          <p:cNvPr id="3" name="内容占位符 2"/>
          <p:cNvSpPr>
            <a:spLocks noGrp="1"/>
          </p:cNvSpPr>
          <p:nvPr>
            <p:ph idx="1"/>
          </p:nvPr>
        </p:nvSpPr>
        <p:spPr/>
        <p:txBody>
          <a:bodyPr/>
          <a:lstStyle/>
          <a:p>
            <a:r>
              <a:rPr lang="en-US" altLang="zh-CN" dirty="0" smtClean="0"/>
              <a:t>@Entity</a:t>
            </a:r>
            <a:endParaRPr lang="en-US" altLang="zh-CN" dirty="0" smtClean="0"/>
          </a:p>
          <a:p>
            <a:pPr lvl="1"/>
            <a:r>
              <a:rPr lang="zh-CN" altLang="en-US" dirty="0" smtClean="0"/>
              <a:t>将对象标注为一个实体，表示需要保存到数据库中</a:t>
            </a:r>
            <a:endParaRPr lang="en-US" altLang="zh-CN" dirty="0" smtClean="0"/>
          </a:p>
          <a:p>
            <a:r>
              <a:rPr lang="en-US" altLang="zh-CN" dirty="0" smtClean="0"/>
              <a:t>@Table</a:t>
            </a:r>
            <a:endParaRPr lang="zh-CN" altLang="en-US" dirty="0" smtClean="0"/>
          </a:p>
          <a:p>
            <a:pPr lvl="1"/>
            <a:r>
              <a:rPr lang="zh-CN" altLang="en-US" dirty="0" smtClean="0"/>
              <a:t>默认情况下类名即为表名，通过</a:t>
            </a:r>
            <a:r>
              <a:rPr lang="en-US" altLang="zh-CN" dirty="0" smtClean="0"/>
              <a:t>name</a:t>
            </a:r>
            <a:r>
              <a:rPr lang="zh-CN" altLang="en-US" dirty="0" smtClean="0"/>
              <a:t>属性显式指定表名</a:t>
            </a:r>
            <a:endParaRPr lang="zh-CN" altLang="en-US" dirty="0" smtClean="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实体基本注</a:t>
            </a:r>
            <a:r>
              <a:rPr lang="zh-CN" altLang="en-US" dirty="0"/>
              <a:t>解</a:t>
            </a:r>
            <a:r>
              <a:rPr lang="en-US" altLang="zh-CN" dirty="0" smtClean="0"/>
              <a:t>-2</a:t>
            </a:r>
            <a:endParaRPr lang="zh-CN" altLang="en-US" dirty="0"/>
          </a:p>
        </p:txBody>
      </p:sp>
      <p:sp>
        <p:nvSpPr>
          <p:cNvPr id="3" name="内容占位符 2"/>
          <p:cNvSpPr>
            <a:spLocks noGrp="1"/>
          </p:cNvSpPr>
          <p:nvPr>
            <p:ph idx="1"/>
          </p:nvPr>
        </p:nvSpPr>
        <p:spPr>
          <a:xfrm>
            <a:off x="762000" y="1135063"/>
            <a:ext cx="10716684" cy="5113337"/>
          </a:xfrm>
        </p:spPr>
        <p:txBody>
          <a:bodyPr>
            <a:normAutofit fontScale="85000"/>
          </a:bodyPr>
          <a:lstStyle/>
          <a:p>
            <a:r>
              <a:rPr lang="en-US" altLang="zh-CN" dirty="0" smtClean="0"/>
              <a:t>@Id</a:t>
            </a:r>
            <a:endParaRPr lang="en-US" altLang="zh-CN" dirty="0" smtClean="0"/>
          </a:p>
          <a:p>
            <a:pPr lvl="1"/>
            <a:r>
              <a:rPr lang="zh-CN" altLang="en-US" dirty="0" smtClean="0"/>
              <a:t>对应的属性是表的主键</a:t>
            </a:r>
            <a:endParaRPr lang="zh-CN" altLang="en-US" dirty="0" smtClean="0"/>
          </a:p>
          <a:p>
            <a:pPr lvl="1"/>
            <a:r>
              <a:rPr lang="en-US" altLang="zh-CN" dirty="0" smtClean="0"/>
              <a:t>@</a:t>
            </a:r>
            <a:r>
              <a:rPr lang="en-US" altLang="zh-CN" dirty="0" err="1" smtClean="0"/>
              <a:t>GeneratedValue</a:t>
            </a:r>
            <a:endParaRPr lang="en-US" altLang="zh-CN" dirty="0" smtClean="0"/>
          </a:p>
          <a:p>
            <a:pPr lvl="2"/>
            <a:r>
              <a:rPr lang="zh-CN" altLang="en-US" sz="2355" dirty="0" smtClean="0"/>
              <a:t>主键的产生策略，通过</a:t>
            </a:r>
            <a:r>
              <a:rPr lang="en-US" altLang="zh-CN" sz="2355" dirty="0" smtClean="0"/>
              <a:t>strategy</a:t>
            </a:r>
            <a:r>
              <a:rPr lang="zh-CN" altLang="en-US" sz="2355" dirty="0" smtClean="0"/>
              <a:t>属性指定；</a:t>
            </a:r>
            <a:endParaRPr lang="zh-CN" altLang="en-US" sz="2355" dirty="0" smtClean="0"/>
          </a:p>
          <a:p>
            <a:pPr lvl="2"/>
            <a:r>
              <a:rPr lang="zh-CN" altLang="en-US" sz="2355" dirty="0" smtClean="0"/>
              <a:t>默认情况下，</a:t>
            </a:r>
            <a:r>
              <a:rPr lang="en-US" altLang="zh-CN" sz="2355" dirty="0" smtClean="0"/>
              <a:t>JPA</a:t>
            </a:r>
            <a:r>
              <a:rPr lang="zh-CN" altLang="en-US" sz="2355" dirty="0" smtClean="0"/>
              <a:t>自动选择一个最适合底层数据库的主键生成策略可供选择的策略</a:t>
            </a:r>
            <a:endParaRPr lang="zh-CN" altLang="en-US" sz="2355" dirty="0" smtClean="0"/>
          </a:p>
          <a:p>
            <a:pPr lvl="3"/>
            <a:r>
              <a:rPr lang="en-US" altLang="zh-CN" sz="2355" dirty="0" smtClean="0"/>
              <a:t>IDENTITY</a:t>
            </a:r>
            <a:r>
              <a:rPr lang="zh-CN" altLang="en-US" sz="2355" dirty="0" smtClean="0"/>
              <a:t>：表自增键字段（</a:t>
            </a:r>
            <a:r>
              <a:rPr lang="en-US" altLang="zh-CN" sz="2355" dirty="0" err="1" smtClean="0"/>
              <a:t>SqlServer</a:t>
            </a:r>
            <a:r>
              <a:rPr lang="zh-CN" altLang="en-US" sz="2355" dirty="0" smtClean="0"/>
              <a:t>对应策略，</a:t>
            </a:r>
            <a:r>
              <a:rPr lang="en-US" altLang="zh-CN" sz="2355" dirty="0" smtClean="0"/>
              <a:t>Oracle</a:t>
            </a:r>
            <a:r>
              <a:rPr lang="zh-CN" altLang="en-US" sz="2355" dirty="0" smtClean="0"/>
              <a:t>不支持这种方式）</a:t>
            </a:r>
            <a:endParaRPr lang="zh-CN" altLang="en-US" sz="2355" dirty="0" smtClean="0"/>
          </a:p>
          <a:p>
            <a:pPr lvl="3"/>
            <a:r>
              <a:rPr lang="en-US" altLang="zh-CN" sz="2355" dirty="0" smtClean="0"/>
              <a:t>AUTO</a:t>
            </a:r>
            <a:r>
              <a:rPr lang="zh-CN" altLang="en-US" sz="2355" dirty="0" smtClean="0"/>
              <a:t>： </a:t>
            </a:r>
            <a:r>
              <a:rPr lang="en-US" altLang="zh-CN" sz="2355" dirty="0" smtClean="0"/>
              <a:t>JPA</a:t>
            </a:r>
            <a:r>
              <a:rPr lang="zh-CN" altLang="en-US" sz="2355" dirty="0" smtClean="0"/>
              <a:t>自动选择合适的策略，是默认选项（</a:t>
            </a:r>
            <a:r>
              <a:rPr lang="en-US" altLang="zh-CN" sz="2355" dirty="0" err="1" smtClean="0"/>
              <a:t>MySql</a:t>
            </a:r>
            <a:r>
              <a:rPr lang="zh-CN" altLang="en-US" sz="2355" dirty="0" smtClean="0"/>
              <a:t>对应策略）；</a:t>
            </a:r>
            <a:endParaRPr lang="zh-CN" altLang="en-US" sz="2355" dirty="0" smtClean="0"/>
          </a:p>
          <a:p>
            <a:pPr lvl="3"/>
            <a:r>
              <a:rPr lang="en-US" altLang="zh-CN" sz="2355" dirty="0" smtClean="0"/>
              <a:t>SEQUENCE</a:t>
            </a:r>
            <a:r>
              <a:rPr lang="zh-CN" altLang="en-US" sz="2355" dirty="0" smtClean="0"/>
              <a:t>：通过序列产生主键，通过</a:t>
            </a:r>
            <a:r>
              <a:rPr lang="en-US" altLang="zh-CN" sz="2355" dirty="0" smtClean="0"/>
              <a:t>@</a:t>
            </a:r>
            <a:r>
              <a:rPr lang="en-US" altLang="zh-CN" sz="2355" dirty="0" err="1" smtClean="0"/>
              <a:t>SequenceGenerator</a:t>
            </a:r>
            <a:r>
              <a:rPr lang="zh-CN" altLang="en-US" sz="2355" dirty="0" smtClean="0"/>
              <a:t>注解指定序列名（如</a:t>
            </a:r>
            <a:r>
              <a:rPr lang="en-US" altLang="zh-CN" sz="2355" dirty="0" smtClean="0"/>
              <a:t>Oracle</a:t>
            </a:r>
            <a:r>
              <a:rPr lang="zh-CN" altLang="en-US" sz="2355" dirty="0" smtClean="0"/>
              <a:t>的</a:t>
            </a:r>
            <a:r>
              <a:rPr lang="en-US" altLang="zh-CN" sz="2355" dirty="0" smtClean="0"/>
              <a:t>Sequence</a:t>
            </a:r>
            <a:r>
              <a:rPr lang="zh-CN" altLang="en-US" sz="2355" dirty="0" smtClean="0"/>
              <a:t>， </a:t>
            </a:r>
            <a:r>
              <a:rPr lang="en-US" altLang="zh-CN" sz="2355" dirty="0" err="1" smtClean="0"/>
              <a:t>MySql</a:t>
            </a:r>
            <a:r>
              <a:rPr lang="zh-CN" altLang="en-US" sz="2355" dirty="0" smtClean="0"/>
              <a:t>不支持这种方式）；</a:t>
            </a:r>
            <a:endParaRPr lang="zh-CN" altLang="en-US" sz="2355" dirty="0" smtClean="0"/>
          </a:p>
          <a:p>
            <a:pPr lvl="3"/>
            <a:r>
              <a:rPr lang="en-US" altLang="zh-CN" sz="2355" dirty="0" smtClean="0"/>
              <a:t>TABLE</a:t>
            </a:r>
            <a:r>
              <a:rPr lang="zh-CN" altLang="en-US" sz="2355" dirty="0" smtClean="0"/>
              <a:t>：通过表产生主键，使用该策略可以使应用更易于数据库移植。不同的 </a:t>
            </a:r>
            <a:r>
              <a:rPr lang="en-US" altLang="zh-CN" sz="2355" dirty="0" smtClean="0"/>
              <a:t>JPA</a:t>
            </a:r>
            <a:r>
              <a:rPr lang="zh-CN" altLang="en-US" sz="2355" dirty="0" smtClean="0"/>
              <a:t>实现商生成的表名是不同的。</a:t>
            </a:r>
            <a:endParaRPr lang="zh-CN" altLang="en-US" sz="2355" dirty="0" smtClean="0"/>
          </a:p>
          <a:p>
            <a:endParaRPr lang="zh-CN" altLang="en-US" sz="2355"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8370"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136140" y="5661660"/>
            <a:ext cx="8286750" cy="1209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实体基本</a:t>
            </a:r>
            <a:r>
              <a:rPr lang="zh-CN" altLang="en-US" dirty="0" smtClean="0"/>
              <a:t>注</a:t>
            </a:r>
            <a:r>
              <a:rPr lang="zh-CN" altLang="en-US" dirty="0"/>
              <a:t>解</a:t>
            </a:r>
            <a:r>
              <a:rPr lang="en-US" altLang="zh-CN" dirty="0" smtClean="0"/>
              <a:t>-3</a:t>
            </a:r>
            <a:endParaRPr lang="zh-CN" altLang="en-US" dirty="0"/>
          </a:p>
        </p:txBody>
      </p:sp>
      <p:sp>
        <p:nvSpPr>
          <p:cNvPr id="3" name="内容占位符 2"/>
          <p:cNvSpPr>
            <a:spLocks noGrp="1"/>
          </p:cNvSpPr>
          <p:nvPr>
            <p:ph idx="1"/>
          </p:nvPr>
        </p:nvSpPr>
        <p:spPr/>
        <p:txBody>
          <a:bodyPr/>
          <a:lstStyle/>
          <a:p>
            <a:r>
              <a:rPr lang="en-US" altLang="zh-CN" sz="2800" dirty="0" smtClean="0"/>
              <a:t>@</a:t>
            </a:r>
            <a:r>
              <a:rPr lang="en-US" altLang="zh-CN" sz="2800" dirty="0" err="1" smtClean="0"/>
              <a:t>EmbeddedId</a:t>
            </a:r>
            <a:r>
              <a:rPr lang="zh-CN" altLang="en-US" sz="2800" dirty="0" smtClean="0"/>
              <a:t>或</a:t>
            </a:r>
            <a:r>
              <a:rPr lang="en-US" altLang="zh-CN" sz="2800" dirty="0" smtClean="0"/>
              <a:t>@</a:t>
            </a:r>
            <a:r>
              <a:rPr lang="en-US" altLang="zh-CN" sz="2800" dirty="0" err="1" smtClean="0"/>
              <a:t>IdClass</a:t>
            </a:r>
            <a:endParaRPr lang="en-US" altLang="zh-CN" sz="2800" dirty="0" smtClean="0"/>
          </a:p>
          <a:p>
            <a:pPr lvl="1"/>
            <a:r>
              <a:rPr lang="zh-CN" altLang="en-US" sz="2400" dirty="0" smtClean="0"/>
              <a:t>组合关键字</a:t>
            </a:r>
            <a:endParaRPr lang="zh-CN" altLang="en-US" sz="2400" dirty="0" smtClean="0"/>
          </a:p>
          <a:p>
            <a:r>
              <a:rPr lang="en-US" altLang="zh-CN" sz="2800" dirty="0" smtClean="0"/>
              <a:t>@Column</a:t>
            </a:r>
            <a:endParaRPr lang="en-US" altLang="zh-CN" sz="2800" dirty="0" smtClean="0"/>
          </a:p>
          <a:p>
            <a:pPr lvl="1"/>
            <a:r>
              <a:rPr lang="zh-CN" altLang="en-US" sz="2400" dirty="0" smtClean="0"/>
              <a:t>属性对应的表字段</a:t>
            </a:r>
            <a:endParaRPr lang="zh-CN" altLang="en-US" sz="2400" dirty="0" smtClean="0"/>
          </a:p>
          <a:p>
            <a:pPr lvl="0"/>
            <a:r>
              <a:rPr lang="en-US" altLang="zh-CN" sz="2740" dirty="0" smtClean="0"/>
              <a:t>@Transient</a:t>
            </a:r>
            <a:endParaRPr lang="en-US" altLang="zh-CN" sz="2740" dirty="0" smtClean="0"/>
          </a:p>
          <a:p>
            <a:pPr lvl="1"/>
            <a:r>
              <a:rPr lang="zh-CN" altLang="en-US" sz="2395" dirty="0" smtClean="0"/>
              <a:t>表示对应属性不需要持久化。在保存或更新实体对象时，该属性不会持久化到数据库中</a:t>
            </a:r>
            <a:endParaRPr lang="zh-CN" altLang="en-US" sz="2395" dirty="0" smtClean="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5" name="矩形 4"/>
          <p:cNvSpPr/>
          <p:nvPr/>
        </p:nvSpPr>
        <p:spPr>
          <a:xfrm>
            <a:off x="1117902" y="4679777"/>
            <a:ext cx="4572000" cy="1568450"/>
          </a:xfrm>
          <a:prstGeom prst="rect">
            <a:avLst/>
          </a:prstGeom>
        </p:spPr>
        <p:txBody>
          <a:bodyPr>
            <a:spAutoFit/>
          </a:bodyPr>
          <a:lstStyle/>
          <a:p>
            <a:r>
              <a:rPr lang="en-US" altLang="zh-CN" sz="2400" b="1" dirty="0">
                <a:latin typeface="Times New Roman" panose="02020603050405020304" pitchFamily="18" charset="0"/>
                <a:cs typeface="Times New Roman" panose="02020603050405020304" pitchFamily="18" charset="0"/>
              </a:rPr>
              <a:t>……</a:t>
            </a:r>
            <a:br>
              <a:rPr lang="en-US" altLang="zh-CN" sz="2400" b="1" dirty="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Transient</a:t>
            </a:r>
            <a:br>
              <a:rPr lang="en-US" altLang="zh-CN" sz="2400" b="1" dirty="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rPr>
              <a:t>private String password;</a:t>
            </a:r>
            <a:br>
              <a:rPr lang="en-US" altLang="zh-CN" sz="2400" b="1" dirty="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sym typeface="+mn-ea"/>
              </a:rPr>
              <a:t>……</a:t>
            </a:r>
            <a:r>
              <a:rPr lang="en-US" altLang="zh-CN"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p:txBody>
      </p:sp>
      <p:sp>
        <p:nvSpPr>
          <p:cNvPr id="9" name="矩形 8"/>
          <p:cNvSpPr/>
          <p:nvPr/>
        </p:nvSpPr>
        <p:spPr>
          <a:xfrm>
            <a:off x="6007735" y="1280795"/>
            <a:ext cx="5563235" cy="829945"/>
          </a:xfrm>
          <a:prstGeom prst="rect">
            <a:avLst/>
          </a:prstGeom>
        </p:spPr>
        <p:txBody>
          <a:bodyPr wrap="square">
            <a:spAutoFit/>
          </a:bodyPr>
          <a:p>
            <a:r>
              <a:rPr lang="en-US" altLang="zh-CN"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Column</a:t>
            </a:r>
            <a:r>
              <a:rPr lang="en-US" altLang="zh-CN" sz="2400" b="1" dirty="0">
                <a:latin typeface="Times New Roman" panose="02020603050405020304" pitchFamily="18" charset="0"/>
                <a:cs typeface="Times New Roman" panose="02020603050405020304" pitchFamily="18" charset="0"/>
              </a:rPr>
              <a:t>(name = " </a:t>
            </a:r>
            <a:r>
              <a:rPr lang="en-US" altLang="zh-CN" sz="2400" b="1" dirty="0" err="1">
                <a:latin typeface="Times New Roman" panose="02020603050405020304" pitchFamily="18" charset="0"/>
                <a:cs typeface="Times New Roman" panose="02020603050405020304" pitchFamily="18" charset="0"/>
              </a:rPr>
              <a:t>contact_name</a:t>
            </a:r>
            <a:r>
              <a:rPr lang="en-US" altLang="zh-CN" sz="2400" b="1" dirty="0">
                <a:latin typeface="Times New Roman" panose="02020603050405020304" pitchFamily="18" charset="0"/>
                <a:cs typeface="Times New Roman" panose="02020603050405020304" pitchFamily="18" charset="0"/>
              </a:rPr>
              <a:t> ") </a:t>
            </a:r>
            <a:br>
              <a:rPr lang="en-US" altLang="zh-CN" sz="2400" b="1" dirty="0" smtClean="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rPr>
              <a:t>private String name; </a:t>
            </a:r>
            <a:endParaRPr lang="en-US" altLang="zh-CN" sz="2400" b="1" dirty="0">
              <a:latin typeface="Times New Roman" panose="02020603050405020304" pitchFamily="18" charset="0"/>
              <a:cs typeface="Times New Roman" panose="02020603050405020304" pitchFamily="18" charset="0"/>
            </a:endParaRPr>
          </a:p>
        </p:txBody>
      </p:sp>
      <p:sp>
        <p:nvSpPr>
          <p:cNvPr id="10" name="矩形 9"/>
          <p:cNvSpPr/>
          <p:nvPr/>
        </p:nvSpPr>
        <p:spPr>
          <a:xfrm>
            <a:off x="6007735" y="2272665"/>
            <a:ext cx="5347335" cy="1568450"/>
          </a:xfrm>
          <a:prstGeom prst="rect">
            <a:avLst/>
          </a:prstGeom>
        </p:spPr>
        <p:txBody>
          <a:bodyPr wrap="square">
            <a:spAutoFit/>
          </a:bodyPr>
          <a:p>
            <a:r>
              <a:rPr lang="en-US" altLang="zh-CN"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Column</a:t>
            </a:r>
            <a:r>
              <a:rPr lang="en-US" altLang="zh-CN" sz="2400" b="1" dirty="0">
                <a:latin typeface="Times New Roman" panose="02020603050405020304" pitchFamily="18" charset="0"/>
                <a:cs typeface="Times New Roman" panose="02020603050405020304" pitchFamily="18" charset="0"/>
              </a:rPr>
              <a:t>(name = " </a:t>
            </a:r>
            <a:r>
              <a:rPr lang="en-US" altLang="zh-CN" sz="2400" b="1" dirty="0" err="1">
                <a:latin typeface="Times New Roman" panose="02020603050405020304" pitchFamily="18" charset="0"/>
                <a:cs typeface="Times New Roman" panose="02020603050405020304" pitchFamily="18" charset="0"/>
              </a:rPr>
              <a:t>contact_name</a:t>
            </a:r>
            <a:r>
              <a:rPr lang="en-US" altLang="zh-CN" sz="2400" b="1" dirty="0">
                <a:latin typeface="Times New Roman" panose="02020603050405020304" pitchFamily="18" charset="0"/>
                <a:cs typeface="Times New Roman" panose="02020603050405020304" pitchFamily="18" charset="0"/>
              </a:rPr>
              <a:t> ") </a:t>
            </a:r>
            <a:br>
              <a:rPr lang="en-US" altLang="zh-CN" sz="2400" b="1" dirty="0" smtClean="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rPr>
              <a:t>public String </a:t>
            </a:r>
            <a:r>
              <a:rPr lang="en-US" altLang="zh-CN" sz="2400" b="1" dirty="0" err="1">
                <a:latin typeface="Times New Roman" panose="02020603050405020304" pitchFamily="18" charset="0"/>
                <a:cs typeface="Times New Roman" panose="02020603050405020304" pitchFamily="18" charset="0"/>
              </a:rPr>
              <a:t>getName</a:t>
            </a:r>
            <a:r>
              <a:rPr lang="en-US" altLang="zh-CN" sz="2400" b="1" dirty="0">
                <a:latin typeface="Times New Roman" panose="02020603050405020304" pitchFamily="18" charset="0"/>
                <a:cs typeface="Times New Roman" panose="02020603050405020304" pitchFamily="18" charset="0"/>
              </a:rPr>
              <a:t>() { </a:t>
            </a:r>
            <a:endParaRPr lang="en-US" altLang="zh-CN" sz="2400" b="1" dirty="0" smtClean="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return </a:t>
            </a:r>
            <a:r>
              <a:rPr lang="en-US" altLang="zh-CN" sz="2400" b="1" dirty="0">
                <a:latin typeface="Times New Roman" panose="02020603050405020304" pitchFamily="18" charset="0"/>
                <a:cs typeface="Times New Roman" panose="02020603050405020304" pitchFamily="18" charset="0"/>
              </a:rPr>
              <a:t>name; </a:t>
            </a:r>
            <a:br>
              <a:rPr lang="en-US" altLang="zh-CN" sz="2400" b="1" dirty="0" smtClean="0">
                <a:latin typeface="Times New Roman" panose="02020603050405020304" pitchFamily="18" charset="0"/>
                <a:cs typeface="Times New Roman" panose="02020603050405020304" pitchFamily="18" charset="0"/>
              </a:rPr>
            </a:br>
            <a:r>
              <a:rPr lang="en-US" altLang="zh-CN"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p:txBody>
      </p:sp>
      <p:sp>
        <p:nvSpPr>
          <p:cNvPr id="11" name="矩形 10"/>
          <p:cNvSpPr/>
          <p:nvPr/>
        </p:nvSpPr>
        <p:spPr>
          <a:xfrm>
            <a:off x="5143560" y="1591355"/>
            <a:ext cx="864096" cy="398780"/>
          </a:xfrm>
          <a:prstGeom prst="rect">
            <a:avLst/>
          </a:prstGeom>
        </p:spPr>
        <p:txBody>
          <a:bodyPr wrap="square">
            <a:spAutoFit/>
          </a:bodyPr>
          <a:p>
            <a:r>
              <a:rPr lang="zh-CN" altLang="en-US" sz="2000" b="1" dirty="0" smtClean="0">
                <a:solidFill>
                  <a:srgbClr val="FF0000"/>
                </a:solidFill>
              </a:rPr>
              <a:t>方法</a:t>
            </a:r>
            <a:r>
              <a:rPr lang="en-US" altLang="zh-CN" sz="2000" b="1" dirty="0" smtClean="0">
                <a:solidFill>
                  <a:srgbClr val="FF0000"/>
                </a:solidFill>
              </a:rPr>
              <a:t>1</a:t>
            </a:r>
            <a:endParaRPr lang="zh-CN" altLang="en-US" sz="2000" b="1" dirty="0">
              <a:solidFill>
                <a:srgbClr val="FF0000"/>
              </a:solidFill>
            </a:endParaRPr>
          </a:p>
        </p:txBody>
      </p:sp>
      <p:sp>
        <p:nvSpPr>
          <p:cNvPr id="12" name="矩形 11"/>
          <p:cNvSpPr/>
          <p:nvPr/>
        </p:nvSpPr>
        <p:spPr>
          <a:xfrm>
            <a:off x="5143560" y="2857663"/>
            <a:ext cx="936104" cy="398780"/>
          </a:xfrm>
          <a:prstGeom prst="rect">
            <a:avLst/>
          </a:prstGeom>
        </p:spPr>
        <p:txBody>
          <a:bodyPr wrap="square">
            <a:spAutoFit/>
          </a:bodyPr>
          <a:p>
            <a:r>
              <a:rPr lang="zh-CN" altLang="en-US" sz="2000" b="1" dirty="0" smtClean="0">
                <a:solidFill>
                  <a:srgbClr val="FF0000"/>
                </a:solidFill>
              </a:rPr>
              <a:t>方法</a:t>
            </a:r>
            <a:r>
              <a:rPr lang="en-US" altLang="zh-CN" sz="2000" b="1" dirty="0" smtClean="0">
                <a:solidFill>
                  <a:srgbClr val="FF0000"/>
                </a:solidFill>
              </a:rPr>
              <a:t>2</a:t>
            </a:r>
            <a:endParaRPr lang="zh-CN" altLang="en-US" sz="2000" b="1" dirty="0">
              <a:solidFill>
                <a:srgbClr val="FF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P spid="3" grpId="0" bldLvl="2"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实体基本</a:t>
            </a:r>
            <a:r>
              <a:rPr lang="zh-CN" altLang="en-US" dirty="0" smtClean="0"/>
              <a:t>注</a:t>
            </a:r>
            <a:r>
              <a:rPr lang="zh-CN" altLang="en-US" dirty="0"/>
              <a:t>解</a:t>
            </a:r>
            <a:r>
              <a:rPr lang="en-US" altLang="zh-CN" dirty="0" smtClean="0"/>
              <a:t>-4</a:t>
            </a:r>
            <a:endParaRPr lang="zh-CN" altLang="en-US" dirty="0"/>
          </a:p>
        </p:txBody>
      </p:sp>
      <p:sp>
        <p:nvSpPr>
          <p:cNvPr id="3" name="内容占位符 2"/>
          <p:cNvSpPr>
            <a:spLocks noGrp="1"/>
          </p:cNvSpPr>
          <p:nvPr>
            <p:ph idx="1"/>
          </p:nvPr>
        </p:nvSpPr>
        <p:spPr/>
        <p:txBody>
          <a:bodyPr/>
          <a:lstStyle/>
          <a:p>
            <a:r>
              <a:rPr lang="zh-CN" altLang="en-US" dirty="0" smtClean="0"/>
              <a:t>关联关系</a:t>
            </a:r>
            <a:endParaRPr lang="en-US" altLang="zh-CN" dirty="0" smtClean="0"/>
          </a:p>
          <a:p>
            <a:pPr lvl="1"/>
            <a:r>
              <a:rPr lang="en-US" altLang="zh-CN" dirty="0" smtClean="0"/>
              <a:t>@</a:t>
            </a:r>
            <a:r>
              <a:rPr lang="en-US" altLang="zh-CN" dirty="0" err="1" smtClean="0"/>
              <a:t>OneToOne</a:t>
            </a:r>
            <a:r>
              <a:rPr lang="en-US" altLang="zh-CN" dirty="0" smtClean="0"/>
              <a:t> </a:t>
            </a:r>
            <a:endParaRPr lang="en-US" altLang="zh-CN" dirty="0" smtClean="0"/>
          </a:p>
          <a:p>
            <a:pPr lvl="1"/>
            <a:r>
              <a:rPr lang="en-US" altLang="zh-CN" dirty="0" smtClean="0"/>
              <a:t>@</a:t>
            </a:r>
            <a:r>
              <a:rPr lang="en-US" altLang="zh-CN" dirty="0" err="1" smtClean="0"/>
              <a:t>OneToMany</a:t>
            </a:r>
            <a:endParaRPr lang="en-US" altLang="zh-CN" dirty="0" smtClean="0"/>
          </a:p>
          <a:p>
            <a:pPr lvl="1"/>
            <a:r>
              <a:rPr lang="en-US" altLang="zh-CN" dirty="0" smtClean="0"/>
              <a:t>@</a:t>
            </a:r>
            <a:r>
              <a:rPr lang="en-US" altLang="zh-CN" dirty="0" err="1" smtClean="0"/>
              <a:t>ManyToOne</a:t>
            </a:r>
            <a:endParaRPr lang="en-US" altLang="zh-CN" dirty="0" smtClean="0"/>
          </a:p>
          <a:p>
            <a:pPr lvl="1"/>
            <a:r>
              <a:rPr lang="en-US" altLang="zh-CN" dirty="0" smtClean="0"/>
              <a:t>@</a:t>
            </a:r>
            <a:r>
              <a:rPr lang="en-US" altLang="zh-CN" dirty="0" err="1" smtClean="0"/>
              <a:t>ManyToMany</a:t>
            </a:r>
            <a:endParaRPr lang="en-US" altLang="zh-CN" dirty="0" smtClean="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5" name="TextBox 4"/>
          <p:cNvSpPr txBox="1"/>
          <p:nvPr/>
        </p:nvSpPr>
        <p:spPr>
          <a:xfrm>
            <a:off x="5661521" y="2370088"/>
            <a:ext cx="2631440" cy="1938020"/>
          </a:xfrm>
          <a:prstGeom prst="rect">
            <a:avLst/>
          </a:prstGeom>
          <a:noFill/>
        </p:spPr>
        <p:txBody>
          <a:bodyPr wrap="none" rtlCol="0">
            <a:spAutoFit/>
          </a:bodyPr>
          <a:lstStyle/>
          <a:p>
            <a:r>
              <a:rPr lang="zh-CN" altLang="en-US" sz="2400" b="1" dirty="0" smtClean="0">
                <a:latin typeface="宋体" panose="02010600030101010101" pitchFamily="2" charset="-122"/>
              </a:rPr>
              <a:t>关系的两个方向：</a:t>
            </a:r>
            <a:endParaRPr lang="en-US" altLang="zh-CN" sz="2400" b="1" dirty="0" smtClean="0">
              <a:latin typeface="宋体" panose="02010600030101010101" pitchFamily="2" charset="-122"/>
            </a:endParaRPr>
          </a:p>
          <a:p>
            <a:endParaRPr lang="en-US" altLang="zh-CN" sz="2400" b="1" dirty="0" smtClean="0">
              <a:latin typeface="宋体" panose="02010600030101010101" pitchFamily="2" charset="-122"/>
            </a:endParaRPr>
          </a:p>
          <a:p>
            <a:r>
              <a:rPr lang="zh-CN" altLang="en-US" sz="2400" b="1" dirty="0" smtClean="0">
                <a:latin typeface="宋体" panose="02010600030101010101" pitchFamily="2" charset="-122"/>
              </a:rPr>
              <a:t>单向</a:t>
            </a:r>
            <a:endParaRPr lang="en-US" altLang="zh-CN" sz="2400" b="1" dirty="0" smtClean="0">
              <a:latin typeface="宋体" panose="02010600030101010101" pitchFamily="2" charset="-122"/>
            </a:endParaRPr>
          </a:p>
          <a:p>
            <a:endParaRPr lang="en-US" altLang="zh-CN" sz="2400" b="1" dirty="0" smtClean="0">
              <a:latin typeface="宋体" panose="02010600030101010101" pitchFamily="2" charset="-122"/>
            </a:endParaRPr>
          </a:p>
          <a:p>
            <a:r>
              <a:rPr lang="zh-CN" altLang="en-US" sz="2400" b="1" dirty="0">
                <a:latin typeface="宋体" panose="02010600030101010101" pitchFamily="2" charset="-122"/>
              </a:rPr>
              <a:t>双向</a:t>
            </a:r>
            <a:endParaRPr lang="zh-CN" altLang="en-US" sz="2400" b="1" dirty="0">
              <a:latin typeface="宋体" panose="0201060003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t>
            </a:r>
            <a:r>
              <a:rPr lang="en-US" altLang="zh-CN" dirty="0" err="1" smtClean="0"/>
              <a:t>OneToOne</a:t>
            </a:r>
            <a:r>
              <a:rPr lang="zh-CN" altLang="en-US" dirty="0" smtClean="0"/>
              <a:t>（单向）</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5530" y="1625600"/>
            <a:ext cx="7309485" cy="17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8112224" y="1165924"/>
            <a:ext cx="2019300" cy="460375"/>
          </a:xfrm>
          <a:prstGeom prst="rect">
            <a:avLst/>
          </a:prstGeom>
          <a:noFill/>
        </p:spPr>
        <p:txBody>
          <a:bodyPr wrap="none" rtlCol="0">
            <a:spAutoFit/>
          </a:bodyPr>
          <a:lstStyle/>
          <a:p>
            <a:r>
              <a:rPr lang="zh-CN" altLang="en-US" sz="2400" b="1" dirty="0" smtClean="0"/>
              <a:t>数据库中的表</a:t>
            </a:r>
            <a:endParaRPr lang="zh-CN" altLang="en-US" sz="2400" b="1" dirty="0" smtClean="0"/>
          </a:p>
        </p:txBody>
      </p:sp>
      <p:sp>
        <p:nvSpPr>
          <p:cNvPr id="7" name="线形标注 1(带强调线) 6"/>
          <p:cNvSpPr/>
          <p:nvPr/>
        </p:nvSpPr>
        <p:spPr>
          <a:xfrm>
            <a:off x="8410417" y="1652796"/>
            <a:ext cx="1944216" cy="576064"/>
          </a:xfrm>
          <a:prstGeom prst="accentCallout1">
            <a:avLst>
              <a:gd name="adj1" fmla="val 18750"/>
              <a:gd name="adj2" fmla="val -8333"/>
              <a:gd name="adj3" fmla="val 43795"/>
              <a:gd name="adj4" fmla="val -405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smtClean="0"/>
              <a:t>外键</a:t>
            </a:r>
            <a:r>
              <a:rPr lang="en-US" altLang="zh-CN" sz="2000" b="1" dirty="0" smtClean="0"/>
              <a:t>(</a:t>
            </a:r>
            <a:r>
              <a:rPr lang="en-US" altLang="zh-CN" sz="2000" b="1" dirty="0" err="1" smtClean="0"/>
              <a:t>Foreignkey</a:t>
            </a:r>
            <a:r>
              <a:rPr lang="en-US" altLang="zh-CN" sz="2000" b="1" dirty="0" smtClean="0"/>
              <a:t>)</a:t>
            </a:r>
            <a:endParaRPr lang="en-US" altLang="zh-CN" sz="2000" b="1" dirty="0" smtClean="0"/>
          </a:p>
        </p:txBody>
      </p:sp>
      <p:sp>
        <p:nvSpPr>
          <p:cNvPr id="8" name="TextBox 7"/>
          <p:cNvSpPr txBox="1"/>
          <p:nvPr/>
        </p:nvSpPr>
        <p:spPr>
          <a:xfrm>
            <a:off x="1559496" y="3308200"/>
            <a:ext cx="7726680" cy="2676525"/>
          </a:xfrm>
          <a:prstGeom prst="rect">
            <a:avLst/>
          </a:prstGeom>
          <a:noFill/>
        </p:spPr>
        <p:txBody>
          <a:bodyPr wrap="none" rtlCol="0">
            <a:spAutoFit/>
          </a:bodyPr>
          <a:lstStyle/>
          <a:p>
            <a:r>
              <a:rPr lang="en-US" altLang="zh-CN" sz="2400" b="1" dirty="0"/>
              <a:t>public class </a:t>
            </a:r>
            <a:r>
              <a:rPr lang="en-US" altLang="zh-CN" sz="2400" b="1" dirty="0">
                <a:solidFill>
                  <a:srgbClr val="C00000"/>
                </a:solidFill>
              </a:rPr>
              <a:t>Person</a:t>
            </a:r>
            <a:r>
              <a:rPr lang="en-US" altLang="zh-CN" sz="2400" b="1" dirty="0"/>
              <a:t> implements </a:t>
            </a:r>
            <a:r>
              <a:rPr lang="en-US" altLang="zh-CN" sz="2400" b="1" dirty="0" err="1"/>
              <a:t>Serializable</a:t>
            </a:r>
            <a:r>
              <a:rPr lang="en-US" altLang="zh-CN" sz="2400" b="1" dirty="0"/>
              <a:t> </a:t>
            </a:r>
            <a:r>
              <a:rPr lang="en-US" altLang="zh-CN" sz="2400" b="1" dirty="0" smtClean="0"/>
              <a:t>{</a:t>
            </a:r>
            <a:endParaRPr lang="en-US" altLang="zh-CN" sz="2400" b="1" dirty="0" smtClean="0"/>
          </a:p>
          <a:p>
            <a:r>
              <a:rPr lang="en-US" altLang="zh-CN" sz="2400" b="1" dirty="0" smtClean="0"/>
              <a:t>    ……</a:t>
            </a:r>
            <a:endParaRPr lang="en-US" altLang="zh-CN" sz="2400" b="1" dirty="0" smtClean="0"/>
          </a:p>
          <a:p>
            <a:r>
              <a:rPr lang="en-US" altLang="zh-CN" sz="2400" b="1" dirty="0"/>
              <a:t>    </a:t>
            </a:r>
            <a:r>
              <a:rPr lang="en-US" altLang="zh-CN" sz="2400" b="1" dirty="0">
                <a:solidFill>
                  <a:srgbClr val="C00000"/>
                </a:solidFill>
              </a:rPr>
              <a:t>@</a:t>
            </a:r>
            <a:r>
              <a:rPr lang="en-US" altLang="zh-CN" sz="2400" b="1" dirty="0" err="1">
                <a:solidFill>
                  <a:srgbClr val="C00000"/>
                </a:solidFill>
              </a:rPr>
              <a:t>OneToOne</a:t>
            </a:r>
            <a:r>
              <a:rPr lang="en-US" altLang="zh-CN" sz="2400" b="1" dirty="0"/>
              <a:t>(optional = true, cascade = </a:t>
            </a:r>
            <a:r>
              <a:rPr lang="en-US" altLang="zh-CN" sz="2400" b="1" dirty="0" err="1"/>
              <a:t>CascadeType.ALL</a:t>
            </a:r>
            <a:r>
              <a:rPr lang="en-US" altLang="zh-CN" sz="2400" b="1" dirty="0"/>
              <a:t>)</a:t>
            </a:r>
            <a:endParaRPr lang="en-US" altLang="zh-CN" sz="2400" b="1" dirty="0"/>
          </a:p>
          <a:p>
            <a:r>
              <a:rPr lang="en-US" altLang="zh-CN" sz="2400" b="1" dirty="0" smtClean="0"/>
              <a:t>    </a:t>
            </a:r>
            <a:r>
              <a:rPr lang="en-US" altLang="zh-CN" sz="2400" b="1" dirty="0" smtClean="0">
                <a:solidFill>
                  <a:srgbClr val="C00000"/>
                </a:solidFill>
              </a:rPr>
              <a:t>@</a:t>
            </a:r>
            <a:r>
              <a:rPr lang="en-US" altLang="zh-CN" sz="2400" b="1" dirty="0" err="1">
                <a:solidFill>
                  <a:srgbClr val="C00000"/>
                </a:solidFill>
              </a:rPr>
              <a:t>JoinColumn</a:t>
            </a:r>
            <a:r>
              <a:rPr lang="en-US" altLang="zh-CN" sz="2400" b="1" dirty="0"/>
              <a:t>(name = "</a:t>
            </a:r>
            <a:r>
              <a:rPr lang="en-US" altLang="zh-CN" sz="2400" b="1" dirty="0" err="1"/>
              <a:t>idCard_id</a:t>
            </a:r>
            <a:r>
              <a:rPr lang="en-US" altLang="zh-CN" sz="2400" b="1" dirty="0"/>
              <a:t>", unique = true)</a:t>
            </a:r>
            <a:endParaRPr lang="en-US" altLang="zh-CN" sz="2400" b="1" dirty="0"/>
          </a:p>
          <a:p>
            <a:r>
              <a:rPr lang="en-US" altLang="zh-CN" sz="2400" b="1" dirty="0" smtClean="0"/>
              <a:t>    private </a:t>
            </a:r>
            <a:r>
              <a:rPr lang="en-US" altLang="zh-CN" sz="2400" b="1" dirty="0" err="1"/>
              <a:t>IDCard</a:t>
            </a:r>
            <a:r>
              <a:rPr lang="en-US" altLang="zh-CN" sz="2400" b="1" dirty="0"/>
              <a:t> </a:t>
            </a:r>
            <a:r>
              <a:rPr lang="en-US" altLang="zh-CN" sz="2400" b="1" dirty="0" err="1"/>
              <a:t>idCard</a:t>
            </a:r>
            <a:r>
              <a:rPr lang="en-US" altLang="zh-CN" sz="2400" b="1" dirty="0" smtClean="0"/>
              <a:t>;</a:t>
            </a:r>
            <a:endParaRPr lang="en-US" altLang="zh-CN" sz="2400" b="1" dirty="0" smtClean="0"/>
          </a:p>
          <a:p>
            <a:r>
              <a:rPr lang="en-US" altLang="zh-CN" sz="2400" b="1" dirty="0" smtClean="0"/>
              <a:t>    ……</a:t>
            </a:r>
            <a:endParaRPr lang="en-US" altLang="zh-CN" sz="2400" b="1" dirty="0" smtClean="0"/>
          </a:p>
          <a:p>
            <a:r>
              <a:rPr lang="en-US" altLang="zh-CN" sz="2400" b="1" dirty="0" smtClean="0"/>
              <a:t>}</a:t>
            </a:r>
            <a:endParaRPr lang="en-US" altLang="zh-CN" sz="2400" b="1" dirty="0" smtClean="0"/>
          </a:p>
        </p:txBody>
      </p:sp>
      <p:sp>
        <p:nvSpPr>
          <p:cNvPr id="11" name="线形标注 1(带强调线) 10"/>
          <p:cNvSpPr/>
          <p:nvPr/>
        </p:nvSpPr>
        <p:spPr>
          <a:xfrm>
            <a:off x="5999046" y="4929232"/>
            <a:ext cx="1944216" cy="504056"/>
          </a:xfrm>
          <a:prstGeom prst="accentCallout1">
            <a:avLst>
              <a:gd name="adj1" fmla="val 18750"/>
              <a:gd name="adj2" fmla="val -8333"/>
              <a:gd name="adj3" fmla="val -15907"/>
              <a:gd name="adj4" fmla="val -3912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b="1" dirty="0" smtClean="0"/>
              <a:t>Person</a:t>
            </a:r>
            <a:r>
              <a:rPr lang="zh-CN" altLang="en-US" sz="2000" b="1" dirty="0" smtClean="0"/>
              <a:t>表中的外键列名</a:t>
            </a:r>
            <a:endParaRPr lang="zh-CN" altLang="en-US" sz="2000" b="1" dirty="0" smtClean="0"/>
          </a:p>
        </p:txBody>
      </p:sp>
      <p:sp>
        <p:nvSpPr>
          <p:cNvPr id="12" name="TextBox 11"/>
          <p:cNvSpPr txBox="1"/>
          <p:nvPr/>
        </p:nvSpPr>
        <p:spPr>
          <a:xfrm>
            <a:off x="1992159" y="1768434"/>
            <a:ext cx="1360170" cy="460375"/>
          </a:xfrm>
          <a:prstGeom prst="rect">
            <a:avLst/>
          </a:prstGeom>
          <a:noFill/>
        </p:spPr>
        <p:txBody>
          <a:bodyPr wrap="none" rtlCol="0">
            <a:spAutoFit/>
          </a:bodyPr>
          <a:lstStyle/>
          <a:p>
            <a:r>
              <a:rPr lang="en-US" altLang="zh-CN" sz="2400" b="1" dirty="0" smtClean="0"/>
              <a:t>person</a:t>
            </a:r>
            <a:r>
              <a:rPr lang="zh-CN" altLang="en-US" sz="2400" b="1" dirty="0" smtClean="0"/>
              <a:t>表</a:t>
            </a:r>
            <a:endParaRPr lang="zh-CN" altLang="en-US" sz="2400" b="1" dirty="0" smtClean="0"/>
          </a:p>
        </p:txBody>
      </p:sp>
      <p:sp>
        <p:nvSpPr>
          <p:cNvPr id="13" name="TextBox 12"/>
          <p:cNvSpPr txBox="1"/>
          <p:nvPr/>
        </p:nvSpPr>
        <p:spPr>
          <a:xfrm>
            <a:off x="4941575" y="2825755"/>
            <a:ext cx="1336675" cy="460375"/>
          </a:xfrm>
          <a:prstGeom prst="rect">
            <a:avLst/>
          </a:prstGeom>
          <a:noFill/>
        </p:spPr>
        <p:txBody>
          <a:bodyPr wrap="none" rtlCol="0">
            <a:spAutoFit/>
          </a:bodyPr>
          <a:lstStyle/>
          <a:p>
            <a:r>
              <a:rPr lang="en-US" altLang="zh-CN" sz="2400" b="1" dirty="0" err="1" smtClean="0"/>
              <a:t>iDCard</a:t>
            </a:r>
            <a:r>
              <a:rPr lang="zh-CN" altLang="en-US" sz="2400" b="1" dirty="0" smtClean="0"/>
              <a:t>表</a:t>
            </a:r>
            <a:endParaRPr lang="zh-CN" altLang="en-US" sz="2400" b="1" dirty="0" smtClean="0"/>
          </a:p>
        </p:txBody>
      </p:sp>
      <p:sp>
        <p:nvSpPr>
          <p:cNvPr id="14" name="线形标注 1(带强调线) 13"/>
          <p:cNvSpPr/>
          <p:nvPr/>
        </p:nvSpPr>
        <p:spPr>
          <a:xfrm>
            <a:off x="8903970" y="3451860"/>
            <a:ext cx="2817495" cy="662305"/>
          </a:xfrm>
          <a:prstGeom prst="accentCallout1">
            <a:avLst>
              <a:gd name="adj1" fmla="val 18750"/>
              <a:gd name="adj2" fmla="val -8333"/>
              <a:gd name="adj3" fmla="val 104410"/>
              <a:gd name="adj4" fmla="val -2510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smtClean="0"/>
              <a:t>对</a:t>
            </a:r>
            <a:r>
              <a:rPr lang="en-US" altLang="zh-CN" sz="2000" b="1" dirty="0" err="1" smtClean="0"/>
              <a:t>IDCard</a:t>
            </a:r>
            <a:r>
              <a:rPr lang="zh-CN" altLang="en-US" sz="2000" b="1" dirty="0" smtClean="0"/>
              <a:t>对象执行与</a:t>
            </a:r>
            <a:r>
              <a:rPr lang="en-US" altLang="zh-CN" sz="2000" b="1" dirty="0" smtClean="0"/>
              <a:t>Person</a:t>
            </a:r>
            <a:r>
              <a:rPr lang="zh-CN" altLang="en-US" sz="2000" b="1" dirty="0" smtClean="0"/>
              <a:t>对象相同的操作</a:t>
            </a:r>
            <a:endParaRPr lang="zh-CN" altLang="en-US" sz="2000" b="1" dirty="0" smtClean="0"/>
          </a:p>
        </p:txBody>
      </p:sp>
      <p:sp>
        <p:nvSpPr>
          <p:cNvPr id="15" name="TextBox 14"/>
          <p:cNvSpPr txBox="1"/>
          <p:nvPr/>
        </p:nvSpPr>
        <p:spPr>
          <a:xfrm>
            <a:off x="1820533" y="5850345"/>
            <a:ext cx="8994775" cy="460375"/>
          </a:xfrm>
          <a:prstGeom prst="rect">
            <a:avLst/>
          </a:prstGeom>
          <a:noFill/>
        </p:spPr>
        <p:txBody>
          <a:bodyPr wrap="none" rtlCol="0">
            <a:spAutoFit/>
          </a:bodyPr>
          <a:lstStyle/>
          <a:p>
            <a:r>
              <a:rPr lang="zh-CN" altLang="en-US" sz="2400" b="1" dirty="0" smtClean="0"/>
              <a:t>在单向关系中，关联类</a:t>
            </a:r>
            <a:r>
              <a:rPr lang="en-US" altLang="zh-CN" sz="2400" b="1" dirty="0" err="1" smtClean="0">
                <a:solidFill>
                  <a:srgbClr val="C00000"/>
                </a:solidFill>
              </a:rPr>
              <a:t>IDCard</a:t>
            </a:r>
            <a:r>
              <a:rPr lang="zh-CN" altLang="en-US" sz="2400" b="1" dirty="0" smtClean="0"/>
              <a:t>为普通的实体类，无需任何关联注解</a:t>
            </a:r>
            <a:endParaRPr lang="zh-CN" altLang="en-US" sz="2400" b="1" dirty="0" smtClean="0"/>
          </a:p>
        </p:txBody>
      </p:sp>
      <p:sp>
        <p:nvSpPr>
          <p:cNvPr id="16" name="线形标注 1(带强调线) 15"/>
          <p:cNvSpPr/>
          <p:nvPr/>
        </p:nvSpPr>
        <p:spPr>
          <a:xfrm>
            <a:off x="5007610" y="3776345"/>
            <a:ext cx="2177415" cy="360045"/>
          </a:xfrm>
          <a:prstGeom prst="accentCallout1">
            <a:avLst>
              <a:gd name="adj1" fmla="val 18750"/>
              <a:gd name="adj2" fmla="val -8333"/>
              <a:gd name="adj3" fmla="val 97811"/>
              <a:gd name="adj4" fmla="val -3631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b="1" dirty="0" err="1" smtClean="0"/>
              <a:t>idCard</a:t>
            </a:r>
            <a:r>
              <a:rPr lang="zh-CN" altLang="en-US" sz="2000" b="1" dirty="0" smtClean="0"/>
              <a:t>可以为空</a:t>
            </a:r>
            <a:endParaRPr lang="zh-CN" altLang="en-US" sz="2000" b="1"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P spid="8" grpId="0"/>
      <p:bldP spid="11" grpId="0" bldLvl="0" animBg="1"/>
      <p:bldP spid="12" grpId="0"/>
      <p:bldP spid="13" grpId="0"/>
      <p:bldP spid="14" grpId="0" bldLvl="0" animBg="1"/>
      <p:bldP spid="15" grpId="0"/>
      <p:bldP spid="16"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en-US" altLang="zh-CN" dirty="0" err="1"/>
              <a:t>OneToOne</a:t>
            </a:r>
            <a:r>
              <a:rPr lang="zh-CN" altLang="en-US" dirty="0" smtClean="0"/>
              <a:t>（</a:t>
            </a:r>
            <a:r>
              <a:rPr lang="zh-CN" altLang="en-US" dirty="0"/>
              <a:t>双</a:t>
            </a:r>
            <a:r>
              <a:rPr lang="zh-CN" altLang="en-US" dirty="0" smtClean="0"/>
              <a:t>向</a:t>
            </a:r>
            <a:r>
              <a:rPr lang="zh-CN" altLang="en-US" dirty="0"/>
              <a:t>）</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8" name="TextBox 7"/>
          <p:cNvSpPr txBox="1"/>
          <p:nvPr/>
        </p:nvSpPr>
        <p:spPr>
          <a:xfrm>
            <a:off x="485775" y="1302385"/>
            <a:ext cx="6935470" cy="2799715"/>
          </a:xfrm>
          <a:prstGeom prst="rect">
            <a:avLst/>
          </a:prstGeom>
          <a:noFill/>
        </p:spPr>
        <p:txBody>
          <a:bodyPr wrap="squar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a:solidFill>
                  <a:srgbClr val="C00000"/>
                </a:solidFill>
                <a:latin typeface="Times New Roman" panose="02020603050405020304" pitchFamily="18" charset="0"/>
                <a:cs typeface="Times New Roman" panose="02020603050405020304" pitchFamily="18" charset="0"/>
              </a:rPr>
              <a:t>Person</a:t>
            </a:r>
            <a:r>
              <a:rPr lang="en-US" altLang="zh-CN" sz="2200" b="1" dirty="0">
                <a:latin typeface="Times New Roman" panose="02020603050405020304" pitchFamily="18" charset="0"/>
                <a:cs typeface="Times New Roman" panose="02020603050405020304" pitchFamily="18" charset="0"/>
              </a:rPr>
              <a:t> implements </a:t>
            </a:r>
            <a:r>
              <a:rPr lang="en-US" altLang="zh-CN" sz="2200" b="1" dirty="0" err="1">
                <a:latin typeface="Times New Roman" panose="02020603050405020304" pitchFamily="18" charset="0"/>
                <a:cs typeface="Times New Roman" panose="02020603050405020304" pitchFamily="18" charset="0"/>
              </a:rPr>
              <a:t>Serializable</a:t>
            </a: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OneToOne</a:t>
            </a:r>
            <a:r>
              <a:rPr lang="en-US" altLang="zh-CN" sz="2200" b="1" dirty="0">
                <a:latin typeface="Times New Roman" panose="02020603050405020304" pitchFamily="18" charset="0"/>
                <a:cs typeface="Times New Roman" panose="02020603050405020304" pitchFamily="18" charset="0"/>
              </a:rPr>
              <a:t>(optional = true, cascade = </a:t>
            </a:r>
            <a:r>
              <a:rPr lang="en-US" altLang="zh-CN" sz="2200" b="1" dirty="0" err="1">
                <a:latin typeface="Times New Roman" panose="02020603050405020304" pitchFamily="18" charset="0"/>
                <a:cs typeface="Times New Roman" panose="02020603050405020304" pitchFamily="18" charset="0"/>
              </a:rPr>
              <a:t>CascadeType.ALL</a:t>
            </a:r>
            <a:r>
              <a:rPr lang="en-US" altLang="zh-CN"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JoinColumn</a:t>
            </a:r>
            <a:r>
              <a:rPr lang="en-US" altLang="zh-CN" sz="2200" b="1" dirty="0">
                <a:latin typeface="Times New Roman" panose="02020603050405020304" pitchFamily="18" charset="0"/>
                <a:cs typeface="Times New Roman" panose="02020603050405020304" pitchFamily="18" charset="0"/>
              </a:rPr>
              <a:t>(name = "</a:t>
            </a:r>
            <a:r>
              <a:rPr lang="en-US" altLang="zh-CN" sz="2200" b="1" dirty="0" err="1">
                <a:latin typeface="Times New Roman" panose="02020603050405020304" pitchFamily="18" charset="0"/>
                <a:cs typeface="Times New Roman" panose="02020603050405020304" pitchFamily="18" charset="0"/>
              </a:rPr>
              <a:t>idCard_id</a:t>
            </a:r>
            <a:r>
              <a:rPr lang="en-US" altLang="zh-CN" sz="2200" b="1" dirty="0">
                <a:latin typeface="Times New Roman" panose="02020603050405020304" pitchFamily="18" charset="0"/>
                <a:cs typeface="Times New Roman" panose="02020603050405020304" pitchFamily="18" charset="0"/>
              </a:rPr>
              <a:t>", unique = true)</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private </a:t>
            </a:r>
            <a:r>
              <a:rPr lang="en-US" altLang="zh-CN" sz="2200" b="1" dirty="0" err="1">
                <a:latin typeface="Times New Roman" panose="02020603050405020304" pitchFamily="18" charset="0"/>
                <a:cs typeface="Times New Roman" panose="02020603050405020304" pitchFamily="18" charset="0"/>
              </a:rPr>
              <a:t>IDCard</a:t>
            </a:r>
            <a:r>
              <a:rPr lang="en-US" altLang="zh-CN" sz="2200" b="1" dirty="0">
                <a:latin typeface="Times New Roman" panose="02020603050405020304" pitchFamily="18" charset="0"/>
                <a:cs typeface="Times New Roman" panose="02020603050405020304" pitchFamily="18" charset="0"/>
              </a:rPr>
              <a:t> </a:t>
            </a:r>
            <a:r>
              <a:rPr lang="en-US" altLang="zh-CN" sz="2200" b="1" dirty="0" err="1">
                <a:solidFill>
                  <a:srgbClr val="C00000"/>
                </a:solidFill>
                <a:latin typeface="Times New Roman" panose="02020603050405020304" pitchFamily="18" charset="0"/>
                <a:cs typeface="Times New Roman" panose="02020603050405020304" pitchFamily="18" charset="0"/>
              </a:rPr>
              <a:t>idCard</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5130428" y="3302005"/>
            <a:ext cx="6546215" cy="460375"/>
          </a:xfrm>
          <a:prstGeom prst="rect">
            <a:avLst/>
          </a:prstGeom>
          <a:noFill/>
        </p:spPr>
        <p:txBody>
          <a:bodyPr wrap="none" rtlCol="0">
            <a:spAutoFit/>
          </a:bodyPr>
          <a:lstStyle/>
          <a:p>
            <a:r>
              <a:rPr lang="zh-CN" altLang="en-US" sz="2400" b="1" dirty="0" smtClean="0"/>
              <a:t>在双向关系中，关联类</a:t>
            </a:r>
            <a:r>
              <a:rPr lang="en-US" altLang="zh-CN" sz="2400" b="1" dirty="0" err="1" smtClean="0">
                <a:solidFill>
                  <a:srgbClr val="C00000"/>
                </a:solidFill>
              </a:rPr>
              <a:t>IDCard</a:t>
            </a:r>
            <a:r>
              <a:rPr lang="zh-CN" altLang="en-US" sz="2400" b="1" dirty="0" smtClean="0"/>
              <a:t>也需要加关联注解</a:t>
            </a:r>
            <a:endParaRPr lang="zh-CN" altLang="en-US" sz="2400" b="1" dirty="0"/>
          </a:p>
        </p:txBody>
      </p:sp>
      <p:sp>
        <p:nvSpPr>
          <p:cNvPr id="17" name="TextBox 16"/>
          <p:cNvSpPr txBox="1"/>
          <p:nvPr/>
        </p:nvSpPr>
        <p:spPr>
          <a:xfrm>
            <a:off x="485582" y="4179193"/>
            <a:ext cx="7900035" cy="2461260"/>
          </a:xfrm>
          <a:prstGeom prst="rect">
            <a:avLst/>
          </a:prstGeom>
          <a:noFill/>
        </p:spPr>
        <p:txBody>
          <a:bodyPr wrap="non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err="1">
                <a:solidFill>
                  <a:srgbClr val="C00000"/>
                </a:solidFill>
                <a:latin typeface="Times New Roman" panose="02020603050405020304" pitchFamily="18" charset="0"/>
                <a:cs typeface="Times New Roman" panose="02020603050405020304" pitchFamily="18" charset="0"/>
              </a:rPr>
              <a:t>IDCard</a:t>
            </a:r>
            <a:r>
              <a:rPr lang="en-US" altLang="zh-CN" sz="2200" b="1" dirty="0">
                <a:solidFill>
                  <a:srgbClr val="C00000"/>
                </a:solidFill>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implements </a:t>
            </a:r>
            <a:r>
              <a:rPr lang="en-US" altLang="zh-CN" sz="2200" b="1" dirty="0" err="1">
                <a:latin typeface="Times New Roman" panose="02020603050405020304" pitchFamily="18" charset="0"/>
                <a:cs typeface="Times New Roman" panose="02020603050405020304" pitchFamily="18" charset="0"/>
              </a:rPr>
              <a:t>Serializable</a:t>
            </a: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OneToOne</a:t>
            </a:r>
            <a:r>
              <a:rPr lang="en-US" altLang="zh-CN" sz="2200" b="1" dirty="0">
                <a:latin typeface="Times New Roman" panose="02020603050405020304" pitchFamily="18" charset="0"/>
                <a:cs typeface="Times New Roman" panose="02020603050405020304" pitchFamily="18" charset="0"/>
              </a:rPr>
              <a:t>(optional=</a:t>
            </a:r>
            <a:r>
              <a:rPr lang="en-US" altLang="zh-CN" sz="2200" b="1" dirty="0" err="1">
                <a:latin typeface="Times New Roman" panose="02020603050405020304" pitchFamily="18" charset="0"/>
                <a:cs typeface="Times New Roman" panose="02020603050405020304" pitchFamily="18" charset="0"/>
              </a:rPr>
              <a:t>false,cascade</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CascadeType.REFRESH</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err="1" smtClean="0">
                <a:latin typeface="Times New Roman" panose="02020603050405020304" pitchFamily="18" charset="0"/>
                <a:cs typeface="Times New Roman" panose="02020603050405020304" pitchFamily="18" charset="0"/>
              </a:rPr>
              <a:t>mappedBy</a:t>
            </a:r>
            <a:r>
              <a:rPr lang="en-US" altLang="zh-CN" sz="2200" b="1" dirty="0">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idCard</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  private </a:t>
            </a:r>
            <a:r>
              <a:rPr lang="en-US" altLang="zh-CN" sz="2200" b="1" dirty="0">
                <a:solidFill>
                  <a:srgbClr val="C00000"/>
                </a:solidFill>
                <a:latin typeface="Times New Roman" panose="02020603050405020304" pitchFamily="18" charset="0"/>
                <a:cs typeface="Times New Roman" panose="02020603050405020304" pitchFamily="18" charset="0"/>
              </a:rPr>
              <a:t>Person</a:t>
            </a:r>
            <a:r>
              <a:rPr lang="en-US" altLang="zh-CN" sz="2200" b="1" dirty="0">
                <a:latin typeface="Times New Roman" panose="02020603050405020304" pitchFamily="18" charset="0"/>
                <a:cs typeface="Times New Roman" panose="02020603050405020304" pitchFamily="18" charset="0"/>
              </a:rPr>
              <a:t> person;</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18" name="线形标注 1(带强调线) 17"/>
          <p:cNvSpPr/>
          <p:nvPr/>
        </p:nvSpPr>
        <p:spPr>
          <a:xfrm>
            <a:off x="5841365" y="5644515"/>
            <a:ext cx="5677535" cy="504190"/>
          </a:xfrm>
          <a:prstGeom prst="accentCallout1">
            <a:avLst>
              <a:gd name="adj1" fmla="val 18750"/>
              <a:gd name="adj2" fmla="val -8333"/>
              <a:gd name="adj3" fmla="val -10492"/>
              <a:gd name="adj4" fmla="val -24925"/>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200" b="1" dirty="0" smtClean="0"/>
              <a:t>引用</a:t>
            </a:r>
            <a:r>
              <a:rPr lang="en-US" altLang="zh-CN" sz="2200" b="1" dirty="0" smtClean="0"/>
              <a:t>Person</a:t>
            </a:r>
            <a:r>
              <a:rPr lang="zh-CN" altLang="en-US" sz="2200" b="1" dirty="0" smtClean="0"/>
              <a:t>类的</a:t>
            </a:r>
            <a:r>
              <a:rPr lang="en-US" altLang="zh-CN" sz="2200" b="1" dirty="0" err="1" smtClean="0"/>
              <a:t>idCard</a:t>
            </a:r>
            <a:r>
              <a:rPr lang="zh-CN" altLang="en-US" sz="2200" b="1" dirty="0" smtClean="0"/>
              <a:t>域上的一对一关联</a:t>
            </a:r>
            <a:endParaRPr lang="zh-CN" altLang="en-US" sz="2200" b="1" dirty="0"/>
          </a:p>
        </p:txBody>
      </p:sp>
      <p:sp>
        <p:nvSpPr>
          <p:cNvPr id="3" name="文本框 2"/>
          <p:cNvSpPr txBox="1"/>
          <p:nvPr>
            <p:custDataLst>
              <p:tags r:id="rId1"/>
            </p:custDataLst>
          </p:nvPr>
        </p:nvSpPr>
        <p:spPr>
          <a:xfrm>
            <a:off x="6744335" y="1341120"/>
            <a:ext cx="5092700" cy="1308735"/>
          </a:xfrm>
          <a:prstGeom prst="rect">
            <a:avLst/>
          </a:prstGeom>
          <a:solidFill>
            <a:schemeClr val="accent3"/>
          </a:solidFill>
        </p:spPr>
        <p:style>
          <a:lnRef idx="2">
            <a:schemeClr val="accent2"/>
          </a:lnRef>
          <a:fillRef idx="1">
            <a:schemeClr val="lt1"/>
          </a:fillRef>
          <a:effectRef idx="0">
            <a:schemeClr val="accent2"/>
          </a:effectRef>
          <a:fontRef idx="minor">
            <a:schemeClr val="dk1"/>
          </a:fontRef>
        </p:style>
        <p:txBody>
          <a:bodyPr wrap="square" rtlCol="0" anchor="t">
            <a:spAutoFit/>
          </a:bodyPr>
          <a:p>
            <a:pPr>
              <a:lnSpc>
                <a:spcPct val="110000"/>
              </a:lnSpc>
            </a:pPr>
            <a:r>
              <a:rPr lang="zh-CN" altLang="en-US" sz="2400" dirty="0">
                <a:latin typeface="黑体" panose="02010609060101010101" charset="-122"/>
                <a:ea typeface="黑体" panose="02010609060101010101" charset="-122"/>
                <a:cs typeface="黑体" panose="02010609060101010101" charset="-122"/>
                <a:sym typeface="+mn-ea"/>
              </a:rPr>
              <a:t>关系</a:t>
            </a:r>
            <a:r>
              <a:rPr lang="zh-CN" altLang="en-US" sz="2400" dirty="0">
                <a:solidFill>
                  <a:srgbClr val="FF0000"/>
                </a:solidFill>
                <a:latin typeface="黑体" panose="02010609060101010101" charset="-122"/>
                <a:ea typeface="黑体" panose="02010609060101010101" charset="-122"/>
                <a:cs typeface="黑体" panose="02010609060101010101" charset="-122"/>
                <a:sym typeface="+mn-ea"/>
              </a:rPr>
              <a:t>具体的定义</a:t>
            </a:r>
            <a:r>
              <a:rPr lang="zh-CN" altLang="en-US" sz="2400" dirty="0">
                <a:latin typeface="黑体" panose="02010609060101010101" charset="-122"/>
                <a:ea typeface="黑体" panose="02010609060101010101" charset="-122"/>
                <a:cs typeface="黑体" panose="02010609060101010101" charset="-122"/>
                <a:sym typeface="+mn-ea"/>
              </a:rPr>
              <a:t>必须在</a:t>
            </a:r>
            <a:r>
              <a:rPr lang="zh-CN" altLang="en-US" sz="2400" dirty="0">
                <a:solidFill>
                  <a:srgbClr val="FF0000"/>
                </a:solidFill>
                <a:latin typeface="黑体" panose="02010609060101010101" charset="-122"/>
                <a:ea typeface="黑体" panose="02010609060101010101" charset="-122"/>
                <a:cs typeface="黑体" panose="02010609060101010101" charset="-122"/>
                <a:sym typeface="+mn-ea"/>
              </a:rPr>
              <a:t>有外键的实体</a:t>
            </a:r>
            <a:r>
              <a:rPr lang="zh-CN" altLang="en-US" sz="2400" dirty="0">
                <a:latin typeface="黑体" panose="02010609060101010101" charset="-122"/>
                <a:ea typeface="黑体" panose="02010609060101010101" charset="-122"/>
                <a:cs typeface="黑体" panose="02010609060101010101" charset="-122"/>
                <a:sym typeface="+mn-ea"/>
              </a:rPr>
              <a:t>，而外键参考的实体中，则仅通过</a:t>
            </a:r>
            <a:r>
              <a:rPr lang="zh-CN" altLang="en-US" sz="2400" dirty="0">
                <a:solidFill>
                  <a:srgbClr val="FF0000"/>
                </a:solidFill>
                <a:latin typeface="黑体" panose="02010609060101010101" charset="-122"/>
                <a:ea typeface="黑体" panose="02010609060101010101" charset="-122"/>
                <a:cs typeface="黑体" panose="02010609060101010101" charset="-122"/>
                <a:sym typeface="+mn-ea"/>
              </a:rPr>
              <a:t>mappedBy</a:t>
            </a:r>
            <a:r>
              <a:rPr lang="zh-CN" altLang="en-US" sz="2400" dirty="0">
                <a:latin typeface="黑体" panose="02010609060101010101" charset="-122"/>
                <a:ea typeface="黑体" panose="02010609060101010101" charset="-122"/>
                <a:cs typeface="黑体" panose="02010609060101010101" charset="-122"/>
                <a:sym typeface="+mn-ea"/>
              </a:rPr>
              <a:t>引用已定义好的关系</a:t>
            </a:r>
            <a:endParaRPr lang="zh-CN" altLang="en-US" sz="2400" dirty="0">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p:bldP spid="18" grpId="0" bldLvl="0" animBg="1"/>
      <p:bldP spid="3" grpId="0" animBg="1"/>
      <p:bldP spid="3" grpId="1"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en-US" altLang="zh-CN" dirty="0" err="1" smtClean="0"/>
              <a:t>OneToMany</a:t>
            </a:r>
            <a:endParaRPr lang="zh-CN" altLang="en-US" dirty="0"/>
          </a:p>
        </p:txBody>
      </p:sp>
      <p:sp>
        <p:nvSpPr>
          <p:cNvPr id="3" name="内容占位符 2"/>
          <p:cNvSpPr>
            <a:spLocks noGrp="1"/>
          </p:cNvSpPr>
          <p:nvPr>
            <p:ph idx="1"/>
          </p:nvPr>
        </p:nvSpPr>
        <p:spPr/>
        <p:txBody>
          <a:bodyPr/>
          <a:lstStyle/>
          <a:p>
            <a:r>
              <a:rPr lang="en-US" altLang="zh-CN" dirty="0"/>
              <a:t>@</a:t>
            </a:r>
            <a:r>
              <a:rPr lang="en-US" altLang="zh-CN" dirty="0" err="1" smtClean="0"/>
              <a:t>OneToMany</a:t>
            </a:r>
            <a:endParaRPr lang="en-US" altLang="zh-CN" dirty="0" smtClean="0"/>
          </a:p>
          <a:p>
            <a:r>
              <a:rPr lang="en-US" altLang="zh-CN" dirty="0" smtClean="0"/>
              <a:t>@</a:t>
            </a:r>
            <a:r>
              <a:rPr lang="en-US" altLang="zh-CN" dirty="0" err="1" smtClean="0"/>
              <a:t>ManyToOne</a:t>
            </a:r>
            <a:r>
              <a:rPr lang="en-US" altLang="zh-CN" dirty="0" smtClean="0"/>
              <a:t>  </a:t>
            </a:r>
            <a:endParaRPr lang="en-US" altLang="zh-CN" dirty="0" smtClean="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7" name="线形标注 1(带强调线) 6"/>
          <p:cNvSpPr/>
          <p:nvPr/>
        </p:nvSpPr>
        <p:spPr>
          <a:xfrm>
            <a:off x="8616315" y="901065"/>
            <a:ext cx="2863215" cy="440055"/>
          </a:xfrm>
          <a:prstGeom prst="accentCallout1">
            <a:avLst>
              <a:gd name="adj1" fmla="val 18750"/>
              <a:gd name="adj2" fmla="val -8333"/>
              <a:gd name="adj3" fmla="val 136191"/>
              <a:gd name="adj4" fmla="val -1736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200" b="1" dirty="0" smtClean="0"/>
              <a:t>外键</a:t>
            </a:r>
            <a:r>
              <a:rPr lang="en-US" altLang="zh-CN" sz="2200" b="1" dirty="0" smtClean="0"/>
              <a:t>(</a:t>
            </a:r>
            <a:r>
              <a:rPr lang="en-US" altLang="zh-CN" sz="2200" b="1" dirty="0" err="1" smtClean="0"/>
              <a:t>Foreignkey</a:t>
            </a:r>
            <a:r>
              <a:rPr lang="en-US" altLang="zh-CN" sz="2200" b="1" dirty="0" smtClean="0"/>
              <a:t>)</a:t>
            </a:r>
            <a:endParaRPr lang="zh-CN" altLang="en-US" sz="2200" b="1" dirty="0"/>
          </a:p>
        </p:txBody>
      </p:sp>
      <p:sp>
        <p:nvSpPr>
          <p:cNvPr id="8" name="TextBox 7"/>
          <p:cNvSpPr txBox="1"/>
          <p:nvPr/>
        </p:nvSpPr>
        <p:spPr>
          <a:xfrm>
            <a:off x="337756" y="3134845"/>
            <a:ext cx="5902325" cy="2461260"/>
          </a:xfrm>
          <a:prstGeom prst="rect">
            <a:avLst/>
          </a:prstGeom>
          <a:noFill/>
        </p:spPr>
        <p:txBody>
          <a:bodyPr wrap="non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a:solidFill>
                  <a:srgbClr val="C00000"/>
                </a:solidFill>
                <a:latin typeface="Times New Roman" panose="02020603050405020304" pitchFamily="18" charset="0"/>
                <a:cs typeface="Times New Roman" panose="02020603050405020304" pitchFamily="18" charset="0"/>
              </a:rPr>
              <a:t>Employee</a:t>
            </a:r>
            <a:r>
              <a:rPr lang="en-US" altLang="zh-CN" sz="2200" b="1" dirty="0">
                <a:latin typeface="Times New Roman" panose="02020603050405020304" pitchFamily="18" charset="0"/>
                <a:cs typeface="Times New Roman" panose="02020603050405020304" pitchFamily="18" charset="0"/>
              </a:rPr>
              <a:t> implements Serializable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cs typeface="Times New Roman" panose="02020603050405020304" pitchFamily="18" charset="0"/>
              </a:rPr>
              <a:t>@</a:t>
            </a:r>
            <a:r>
              <a:rPr lang="en-US" altLang="zh-CN" sz="2200" b="1" dirty="0" err="1" smtClean="0">
                <a:solidFill>
                  <a:srgbClr val="C00000"/>
                </a:solidFill>
                <a:latin typeface="Times New Roman" panose="02020603050405020304" pitchFamily="18" charset="0"/>
                <a:cs typeface="Times New Roman" panose="02020603050405020304" pitchFamily="18" charset="0"/>
              </a:rPr>
              <a:t>ManyToOne</a:t>
            </a:r>
            <a:endParaRPr lang="en-US" altLang="zh-CN" sz="2200" b="1" dirty="0" smtClean="0">
              <a:solidFill>
                <a:srgbClr val="C00000"/>
              </a:solidFill>
              <a:latin typeface="Times New Roman" panose="02020603050405020304" pitchFamily="18" charset="0"/>
              <a:cs typeface="Times New Roman" panose="02020603050405020304" pitchFamily="18" charset="0"/>
            </a:endParaRPr>
          </a:p>
          <a:p>
            <a:r>
              <a:rPr lang="en-US" altLang="zh-CN" sz="2200" b="1" dirty="0">
                <a:solidFill>
                  <a:srgbClr val="C00000"/>
                </a:solidFill>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r>
              <a:rPr lang="en-US" altLang="zh-CN" sz="2200" b="1" dirty="0" err="1" smtClean="0">
                <a:latin typeface="Times New Roman" panose="02020603050405020304" pitchFamily="18" charset="0"/>
                <a:cs typeface="Times New Roman" panose="02020603050405020304" pitchFamily="18" charset="0"/>
              </a:rPr>
              <a:t>JoinColumn</a:t>
            </a:r>
            <a:r>
              <a:rPr lang="en-US" altLang="zh-CN" sz="2200" b="1" dirty="0" smtClean="0">
                <a:latin typeface="Times New Roman" panose="02020603050405020304" pitchFamily="18" charset="0"/>
                <a:cs typeface="Times New Roman" panose="02020603050405020304" pitchFamily="18" charset="0"/>
              </a:rPr>
              <a:t>(name</a:t>
            </a:r>
            <a:r>
              <a:rPr lang="en-US" altLang="zh-CN" sz="2200" b="1" dirty="0">
                <a:latin typeface="Times New Roman" panose="02020603050405020304" pitchFamily="18" charset="0"/>
                <a:cs typeface="Times New Roman" panose="02020603050405020304" pitchFamily="18" charset="0"/>
              </a:rPr>
              <a:t>="</a:t>
            </a:r>
            <a:r>
              <a:rPr lang="en-US" altLang="zh-CN" sz="2200" b="1" dirty="0" err="1" smtClean="0">
                <a:latin typeface="Times New Roman" panose="02020603050405020304" pitchFamily="18" charset="0"/>
                <a:cs typeface="Times New Roman" panose="02020603050405020304" pitchFamily="18" charset="0"/>
              </a:rPr>
              <a:t>deptId</a:t>
            </a:r>
            <a:r>
              <a:rPr lang="en-US" altLang="zh-CN"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private </a:t>
            </a:r>
            <a:r>
              <a:rPr lang="en-US" altLang="zh-CN" sz="2200" b="1" dirty="0">
                <a:solidFill>
                  <a:srgbClr val="C00000"/>
                </a:solidFill>
                <a:latin typeface="Times New Roman" panose="02020603050405020304" pitchFamily="18" charset="0"/>
                <a:cs typeface="Times New Roman" panose="02020603050405020304" pitchFamily="18" charset="0"/>
              </a:rPr>
              <a:t>Department </a:t>
            </a:r>
            <a:r>
              <a:rPr lang="en-US" altLang="zh-CN" sz="2200" b="1" dirty="0" smtClean="0">
                <a:latin typeface="Times New Roman" panose="02020603050405020304" pitchFamily="18" charset="0"/>
                <a:cs typeface="Times New Roman" panose="02020603050405020304" pitchFamily="18" charset="0"/>
              </a:rPr>
              <a:t>department;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551157" y="1660803"/>
            <a:ext cx="1435100" cy="460375"/>
          </a:xfrm>
          <a:prstGeom prst="rect">
            <a:avLst/>
          </a:prstGeom>
          <a:noFill/>
        </p:spPr>
        <p:txBody>
          <a:bodyPr wrap="none" rtlCol="0">
            <a:spAutoFit/>
          </a:bodyPr>
          <a:lstStyle/>
          <a:p>
            <a:r>
              <a:rPr lang="en-US" altLang="zh-CN" sz="2400" b="1" dirty="0" smtClean="0"/>
              <a:t>employ</a:t>
            </a:r>
            <a:r>
              <a:rPr lang="zh-CN" altLang="en-US" sz="2400" b="1" dirty="0" smtClean="0"/>
              <a:t>表</a:t>
            </a:r>
            <a:endParaRPr lang="zh-CN" altLang="en-US" sz="2400" b="1" dirty="0"/>
          </a:p>
        </p:txBody>
      </p:sp>
      <p:pic>
        <p:nvPicPr>
          <p:cNvPr id="307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0145" y="1440180"/>
            <a:ext cx="5074285" cy="2465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6495792" y="3134985"/>
            <a:ext cx="2002155" cy="460375"/>
          </a:xfrm>
          <a:prstGeom prst="rect">
            <a:avLst/>
          </a:prstGeom>
          <a:noFill/>
        </p:spPr>
        <p:txBody>
          <a:bodyPr wrap="none" rtlCol="0">
            <a:spAutoFit/>
          </a:bodyPr>
          <a:lstStyle/>
          <a:p>
            <a:r>
              <a:rPr lang="en-US" altLang="zh-CN" sz="2400" b="1" dirty="0" smtClean="0"/>
              <a:t>department</a:t>
            </a:r>
            <a:r>
              <a:rPr lang="zh-CN" altLang="en-US" sz="2400" b="1" dirty="0" smtClean="0"/>
              <a:t>表</a:t>
            </a:r>
            <a:endParaRPr lang="zh-CN" altLang="en-US" sz="2400" b="1" dirty="0"/>
          </a:p>
        </p:txBody>
      </p:sp>
      <p:sp>
        <p:nvSpPr>
          <p:cNvPr id="18" name="TextBox 17"/>
          <p:cNvSpPr txBox="1"/>
          <p:nvPr/>
        </p:nvSpPr>
        <p:spPr>
          <a:xfrm>
            <a:off x="5770766" y="4340344"/>
            <a:ext cx="6167120" cy="2122805"/>
          </a:xfrm>
          <a:prstGeom prst="rect">
            <a:avLst/>
          </a:prstGeom>
          <a:noFill/>
        </p:spPr>
        <p:txBody>
          <a:bodyPr wrap="non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smtClean="0">
                <a:solidFill>
                  <a:srgbClr val="C00000"/>
                </a:solidFill>
                <a:latin typeface="Times New Roman" panose="02020603050405020304" pitchFamily="18" charset="0"/>
                <a:cs typeface="Times New Roman" panose="02020603050405020304" pitchFamily="18" charset="0"/>
              </a:rPr>
              <a:t>Department </a:t>
            </a:r>
            <a:r>
              <a:rPr lang="en-US" altLang="zh-CN" sz="2200" b="1" dirty="0" smtClean="0">
                <a:latin typeface="Times New Roman" panose="02020603050405020304" pitchFamily="18" charset="0"/>
                <a:cs typeface="Times New Roman" panose="02020603050405020304" pitchFamily="18" charset="0"/>
              </a:rPr>
              <a:t>implements </a:t>
            </a:r>
            <a:r>
              <a:rPr lang="en-US" altLang="zh-CN" sz="2200" b="1" dirty="0">
                <a:latin typeface="Times New Roman" panose="02020603050405020304" pitchFamily="18" charset="0"/>
                <a:cs typeface="Times New Roman" panose="02020603050405020304" pitchFamily="18" charset="0"/>
              </a:rPr>
              <a:t>Serializable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cs typeface="Times New Roman" panose="02020603050405020304" pitchFamily="18" charset="0"/>
              </a:rPr>
              <a:t>@</a:t>
            </a:r>
            <a:r>
              <a:rPr lang="en-US" altLang="zh-CN" sz="2200" b="1" dirty="0" err="1" smtClean="0">
                <a:solidFill>
                  <a:srgbClr val="C00000"/>
                </a:solidFill>
                <a:latin typeface="Times New Roman" panose="02020603050405020304" pitchFamily="18" charset="0"/>
                <a:cs typeface="Times New Roman" panose="02020603050405020304" pitchFamily="18" charset="0"/>
              </a:rPr>
              <a:t>OneToMany</a:t>
            </a:r>
            <a:r>
              <a:rPr lang="en-US" altLang="zh-CN" sz="2200" b="1" dirty="0" smtClean="0">
                <a:latin typeface="Times New Roman" panose="02020603050405020304" pitchFamily="18" charset="0"/>
                <a:cs typeface="Times New Roman" panose="02020603050405020304" pitchFamily="18" charset="0"/>
              </a:rPr>
              <a:t>(</a:t>
            </a:r>
            <a:r>
              <a:rPr lang="en-US" altLang="zh-CN" sz="2200" b="1" dirty="0" err="1" smtClean="0">
                <a:latin typeface="Times New Roman" panose="02020603050405020304" pitchFamily="18" charset="0"/>
                <a:cs typeface="Times New Roman" panose="02020603050405020304" pitchFamily="18" charset="0"/>
              </a:rPr>
              <a:t>mappedBy</a:t>
            </a:r>
            <a:r>
              <a:rPr lang="en-US" altLang="zh-CN" sz="2200" b="1" dirty="0" smtClean="0">
                <a:latin typeface="Times New Roman" panose="02020603050405020304" pitchFamily="18" charset="0"/>
                <a:cs typeface="Times New Roman" panose="02020603050405020304" pitchFamily="18" charset="0"/>
              </a:rPr>
              <a:t>="department")</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private</a:t>
            </a:r>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cs typeface="Times New Roman" panose="02020603050405020304" pitchFamily="18" charset="0"/>
              </a:rPr>
              <a:t>List&lt;Employee&gt; </a:t>
            </a:r>
            <a:r>
              <a:rPr lang="en-US" altLang="zh-CN" sz="2200" b="1" dirty="0" smtClean="0">
                <a:latin typeface="Times New Roman" panose="02020603050405020304" pitchFamily="18" charset="0"/>
                <a:cs typeface="Times New Roman" panose="02020603050405020304" pitchFamily="18" charset="0"/>
              </a:rPr>
              <a:t>employees</a:t>
            </a:r>
            <a:r>
              <a:rPr lang="en-US" altLang="zh-CN" sz="2200" b="1" dirty="0" smtClean="0">
                <a:solidFill>
                  <a:srgbClr val="C00000"/>
                </a:solidFill>
                <a:latin typeface="Times New Roman" panose="02020603050405020304" pitchFamily="18" charset="0"/>
                <a:cs typeface="Times New Roman" panose="02020603050405020304" pitchFamily="18" charset="0"/>
              </a:rPr>
              <a:t>;</a:t>
            </a:r>
            <a:endParaRPr lang="en-US" altLang="zh-CN" sz="2200" b="1" dirty="0" smtClean="0">
              <a:solidFill>
                <a:srgbClr val="C00000"/>
              </a:solidFill>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P spid="12"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t>
            </a:r>
            <a:r>
              <a:rPr lang="en-US" altLang="zh-CN" dirty="0" err="1"/>
              <a:t>Many</a:t>
            </a:r>
            <a:r>
              <a:rPr lang="en-US" altLang="zh-CN" dirty="0" err="1" smtClean="0"/>
              <a:t>ToMany</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8" name="TextBox 7"/>
          <p:cNvSpPr txBox="1"/>
          <p:nvPr/>
        </p:nvSpPr>
        <p:spPr>
          <a:xfrm>
            <a:off x="605790" y="1340485"/>
            <a:ext cx="9871075" cy="2461260"/>
          </a:xfrm>
          <a:prstGeom prst="rect">
            <a:avLst/>
          </a:prstGeom>
          <a:noFill/>
        </p:spPr>
        <p:txBody>
          <a:bodyPr wrap="squar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smtClean="0">
                <a:solidFill>
                  <a:srgbClr val="C00000"/>
                </a:solidFill>
                <a:latin typeface="Times New Roman" panose="02020603050405020304" pitchFamily="18" charset="0"/>
                <a:cs typeface="Times New Roman" panose="02020603050405020304" pitchFamily="18" charset="0"/>
              </a:rPr>
              <a:t>Student</a:t>
            </a:r>
            <a:r>
              <a:rPr lang="en-US" altLang="zh-CN" sz="2200" b="1" dirty="0" smtClean="0">
                <a:latin typeface="Times New Roman" panose="02020603050405020304" pitchFamily="18" charset="0"/>
                <a:cs typeface="Times New Roman" panose="02020603050405020304" pitchFamily="18" charset="0"/>
              </a:rPr>
              <a:t> implements </a:t>
            </a:r>
            <a:r>
              <a:rPr lang="en-US" altLang="zh-CN" sz="2200" b="1" dirty="0" err="1">
                <a:latin typeface="Times New Roman" panose="02020603050405020304" pitchFamily="18" charset="0"/>
                <a:cs typeface="Times New Roman" panose="02020603050405020304" pitchFamily="18" charset="0"/>
              </a:rPr>
              <a:t>Serializable</a:t>
            </a: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ManyToMany</a:t>
            </a:r>
            <a:endParaRPr lang="en-US" altLang="zh-CN" sz="2200" b="1" dirty="0">
              <a:solidFill>
                <a:srgbClr val="C00000"/>
              </a:solidFill>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JoinTable</a:t>
            </a:r>
            <a:r>
              <a:rPr lang="en-US" altLang="zh-CN" sz="2200" b="1" dirty="0">
                <a:latin typeface="Times New Roman" panose="02020603050405020304" pitchFamily="18" charset="0"/>
                <a:cs typeface="Times New Roman" panose="02020603050405020304" pitchFamily="18" charset="0"/>
              </a:rPr>
              <a:t>(name="</a:t>
            </a:r>
            <a:r>
              <a:rPr lang="en-US" altLang="zh-CN" sz="2200" b="1" dirty="0" err="1">
                <a:latin typeface="Times New Roman" panose="02020603050405020304" pitchFamily="18" charset="0"/>
                <a:cs typeface="Times New Roman" panose="02020603050405020304" pitchFamily="18" charset="0"/>
              </a:rPr>
              <a:t>sc</a:t>
            </a:r>
            <a:r>
              <a:rPr lang="en-US" altLang="zh-CN" sz="2200" b="1" dirty="0">
                <a:latin typeface="Times New Roman" panose="02020603050405020304" pitchFamily="18" charset="0"/>
                <a:cs typeface="Times New Roman" panose="02020603050405020304" pitchFamily="18" charset="0"/>
              </a:rPr>
              <a:t>", </a:t>
            </a:r>
            <a:r>
              <a:rPr lang="en-US" altLang="zh-CN" sz="2200" b="1" dirty="0" err="1">
                <a:latin typeface="Times New Roman" panose="02020603050405020304" pitchFamily="18" charset="0"/>
                <a:cs typeface="Times New Roman" panose="02020603050405020304" pitchFamily="18" charset="0"/>
              </a:rPr>
              <a:t>joinColumns</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JoinColumn</a:t>
            </a:r>
            <a:r>
              <a:rPr lang="en-US" altLang="zh-CN" sz="2200" b="1" dirty="0">
                <a:latin typeface="Times New Roman" panose="02020603050405020304" pitchFamily="18" charset="0"/>
                <a:cs typeface="Times New Roman" panose="02020603050405020304" pitchFamily="18" charset="0"/>
              </a:rPr>
              <a:t>(name="</a:t>
            </a:r>
            <a:r>
              <a:rPr lang="en-US" altLang="zh-CN" sz="2200" b="1" dirty="0" err="1">
                <a:solidFill>
                  <a:srgbClr val="C00000"/>
                </a:solidFill>
                <a:latin typeface="Times New Roman" panose="02020603050405020304" pitchFamily="18" charset="0"/>
                <a:cs typeface="Times New Roman" panose="02020603050405020304" pitchFamily="18" charset="0"/>
              </a:rPr>
              <a:t>stuid</a:t>
            </a:r>
            <a:r>
              <a:rPr lang="en-US" altLang="zh-CN" sz="2200" b="1" dirty="0">
                <a:latin typeface="Times New Roman" panose="02020603050405020304" pitchFamily="18" charset="0"/>
                <a:cs typeface="Times New Roman" panose="02020603050405020304" pitchFamily="18" charset="0"/>
              </a:rPr>
              <a:t>")}, </a:t>
            </a:r>
            <a:endParaRPr lang="en-US" altLang="zh-CN" sz="2200" b="1" dirty="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err="1">
                <a:latin typeface="Times New Roman" panose="02020603050405020304" pitchFamily="18" charset="0"/>
                <a:cs typeface="Times New Roman" panose="02020603050405020304" pitchFamily="18" charset="0"/>
              </a:rPr>
              <a:t>inverseJoinColumns</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JoinColumn</a:t>
            </a:r>
            <a:r>
              <a:rPr lang="en-US" altLang="zh-CN" sz="2200" b="1" dirty="0">
                <a:latin typeface="Times New Roman" panose="02020603050405020304" pitchFamily="18" charset="0"/>
                <a:cs typeface="Times New Roman" panose="02020603050405020304" pitchFamily="18" charset="0"/>
              </a:rPr>
              <a:t>(name="</a:t>
            </a:r>
            <a:r>
              <a:rPr lang="en-US" altLang="zh-CN" sz="2200" b="1" dirty="0" err="1">
                <a:solidFill>
                  <a:srgbClr val="C00000"/>
                </a:solidFill>
                <a:latin typeface="Times New Roman" panose="02020603050405020304" pitchFamily="18" charset="0"/>
                <a:cs typeface="Times New Roman" panose="02020603050405020304" pitchFamily="18" charset="0"/>
              </a:rPr>
              <a:t>cno</a:t>
            </a:r>
            <a:r>
              <a:rPr lang="en-US" altLang="zh-CN"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private </a:t>
            </a:r>
            <a:r>
              <a:rPr lang="en-US" altLang="zh-CN" sz="2200" b="1" dirty="0">
                <a:latin typeface="Times New Roman" panose="02020603050405020304" pitchFamily="18" charset="0"/>
                <a:cs typeface="Times New Roman" panose="02020603050405020304" pitchFamily="18" charset="0"/>
              </a:rPr>
              <a:t>List&lt;Course&gt; </a:t>
            </a:r>
            <a:r>
              <a:rPr lang="en-US" altLang="zh-CN" sz="2200" b="1" dirty="0">
                <a:solidFill>
                  <a:srgbClr val="C00000"/>
                </a:solidFill>
                <a:latin typeface="Times New Roman" panose="02020603050405020304" pitchFamily="18" charset="0"/>
                <a:cs typeface="Times New Roman" panose="02020603050405020304" pitchFamily="18" charset="0"/>
              </a:rPr>
              <a:t>courses</a:t>
            </a: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628015" y="4131310"/>
            <a:ext cx="5752465" cy="2122805"/>
          </a:xfrm>
          <a:prstGeom prst="rect">
            <a:avLst/>
          </a:prstGeom>
          <a:noFill/>
        </p:spPr>
        <p:txBody>
          <a:bodyPr wrap="square" rtlCol="0">
            <a:spAutoFit/>
          </a:bodyPr>
          <a:lstStyle/>
          <a:p>
            <a:r>
              <a:rPr lang="en-US" altLang="zh-CN" sz="2200" b="1" dirty="0">
                <a:latin typeface="Times New Roman" panose="02020603050405020304" pitchFamily="18" charset="0"/>
                <a:cs typeface="Times New Roman" panose="02020603050405020304" pitchFamily="18" charset="0"/>
              </a:rPr>
              <a:t>public class </a:t>
            </a:r>
            <a:r>
              <a:rPr lang="en-US" altLang="zh-CN" sz="2200" b="1" dirty="0" smtClean="0">
                <a:solidFill>
                  <a:srgbClr val="C00000"/>
                </a:solidFill>
                <a:latin typeface="Times New Roman" panose="02020603050405020304" pitchFamily="18" charset="0"/>
                <a:cs typeface="Times New Roman" panose="02020603050405020304" pitchFamily="18" charset="0"/>
              </a:rPr>
              <a:t>Course</a:t>
            </a:r>
            <a:r>
              <a:rPr lang="en-US" altLang="zh-CN" sz="2200" b="1" dirty="0" smtClean="0">
                <a:latin typeface="Times New Roman" panose="02020603050405020304" pitchFamily="18" charset="0"/>
                <a:cs typeface="Times New Roman" panose="02020603050405020304" pitchFamily="18" charset="0"/>
              </a:rPr>
              <a:t> implements </a:t>
            </a:r>
            <a:r>
              <a:rPr lang="en-US" altLang="zh-CN" sz="2200" b="1" dirty="0" err="1">
                <a:latin typeface="Times New Roman" panose="02020603050405020304" pitchFamily="18" charset="0"/>
                <a:cs typeface="Times New Roman" panose="02020603050405020304" pitchFamily="18" charset="0"/>
              </a:rPr>
              <a:t>Serializable</a:t>
            </a: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cs typeface="Times New Roman" panose="02020603050405020304" pitchFamily="18" charset="0"/>
              </a:rPr>
              <a:t>@</a:t>
            </a:r>
            <a:r>
              <a:rPr lang="en-US" altLang="zh-CN" sz="2200" b="1" dirty="0" err="1">
                <a:solidFill>
                  <a:srgbClr val="C00000"/>
                </a:solidFill>
                <a:latin typeface="Times New Roman" panose="02020603050405020304" pitchFamily="18" charset="0"/>
                <a:cs typeface="Times New Roman" panose="02020603050405020304" pitchFamily="18" charset="0"/>
              </a:rPr>
              <a:t>ManyToMany</a:t>
            </a:r>
            <a:r>
              <a:rPr lang="en-US" altLang="zh-CN" sz="2200" b="1" dirty="0">
                <a:latin typeface="Times New Roman" panose="02020603050405020304" pitchFamily="18" charset="0"/>
                <a:cs typeface="Times New Roman" panose="02020603050405020304" pitchFamily="18" charset="0"/>
              </a:rPr>
              <a:t>(</a:t>
            </a:r>
            <a:r>
              <a:rPr lang="en-US" altLang="zh-CN" sz="2200" b="1" dirty="0" err="1">
                <a:latin typeface="Times New Roman" panose="02020603050405020304" pitchFamily="18" charset="0"/>
                <a:cs typeface="Times New Roman" panose="02020603050405020304" pitchFamily="18" charset="0"/>
              </a:rPr>
              <a:t>mappedBy</a:t>
            </a:r>
            <a:r>
              <a:rPr lang="en-US" altLang="zh-CN" sz="2200" b="1" dirty="0">
                <a:latin typeface="Times New Roman" panose="02020603050405020304" pitchFamily="18" charset="0"/>
                <a:cs typeface="Times New Roman" panose="02020603050405020304" pitchFamily="18" charset="0"/>
              </a:rPr>
              <a:t>="courses</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solidFill>
                  <a:srgbClr val="C00000"/>
                </a:solidFill>
                <a:latin typeface="Times New Roman" panose="02020603050405020304" pitchFamily="18" charset="0"/>
                <a:cs typeface="Times New Roman" panose="02020603050405020304" pitchFamily="18" charset="0"/>
              </a:rPr>
              <a:t> </a:t>
            </a:r>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private</a:t>
            </a:r>
            <a:r>
              <a:rPr lang="en-US" altLang="zh-CN" sz="2200" b="1" dirty="0" smtClean="0">
                <a:solidFill>
                  <a:srgbClr val="C00000"/>
                </a:solidFill>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List&lt;Student&gt;</a:t>
            </a:r>
            <a:r>
              <a:rPr lang="en-US" altLang="zh-CN" sz="2200" b="1" dirty="0">
                <a:solidFill>
                  <a:srgbClr val="C00000"/>
                </a:solidFill>
                <a:latin typeface="Times New Roman" panose="02020603050405020304" pitchFamily="18" charset="0"/>
                <a:cs typeface="Times New Roman" panose="02020603050405020304" pitchFamily="18" charset="0"/>
              </a:rPr>
              <a:t> students;</a:t>
            </a:r>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   ……</a:t>
            </a:r>
            <a:endParaRPr lang="en-US" altLang="zh-CN" sz="2200" b="1" dirty="0" smtClean="0">
              <a:latin typeface="Times New Roman" panose="02020603050405020304" pitchFamily="18" charset="0"/>
              <a:cs typeface="Times New Roman" panose="02020603050405020304" pitchFamily="18" charset="0"/>
            </a:endParaRPr>
          </a:p>
          <a:p>
            <a:r>
              <a:rPr lang="en-US" altLang="zh-CN"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9" name="右箭头 8">
            <a:hlinkClick r:id="rId1" action="ppaction://hlinksldjump"/>
          </p:cNvPr>
          <p:cNvSpPr/>
          <p:nvPr/>
        </p:nvSpPr>
        <p:spPr>
          <a:xfrm>
            <a:off x="10416540" y="5517515"/>
            <a:ext cx="838200" cy="609600"/>
          </a:xfrm>
          <a:prstGeom prst="right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TextBox 16"/>
          <p:cNvSpPr txBox="1"/>
          <p:nvPr/>
        </p:nvSpPr>
        <p:spPr>
          <a:xfrm>
            <a:off x="6252587" y="3670925"/>
            <a:ext cx="5415280" cy="460375"/>
          </a:xfrm>
          <a:prstGeom prst="rect">
            <a:avLst/>
          </a:prstGeom>
          <a:noFill/>
        </p:spPr>
        <p:txBody>
          <a:bodyPr wrap="none" rtlCol="0">
            <a:spAutoFit/>
          </a:bodyPr>
          <a:p>
            <a:r>
              <a:rPr lang="en-US" altLang="zh-CN" sz="2400" b="1" dirty="0" smtClean="0"/>
              <a:t>Student</a:t>
            </a:r>
            <a:r>
              <a:rPr lang="zh-CN" altLang="en-US" sz="2400" b="1" dirty="0" smtClean="0"/>
              <a:t>和</a:t>
            </a:r>
            <a:r>
              <a:rPr lang="en-US" altLang="zh-CN" sz="2400" b="1" dirty="0" smtClean="0"/>
              <a:t>Course</a:t>
            </a:r>
            <a:r>
              <a:rPr lang="zh-CN" altLang="en-US" sz="2400" b="1" dirty="0" smtClean="0"/>
              <a:t>实体间</a:t>
            </a:r>
            <a:r>
              <a:rPr lang="zh-CN" sz="2400" b="1" dirty="0" smtClean="0"/>
              <a:t>双向多对多关系</a:t>
            </a:r>
            <a:endParaRPr lang="zh-CN" sz="24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9" grpId="0" bldLvl="0" animBg="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使用</a:t>
            </a:r>
            <a:r>
              <a:rPr lang="en-US" altLang="zh-CN" dirty="0" smtClean="0"/>
              <a:t>JPA</a:t>
            </a:r>
            <a:endParaRPr lang="zh-CN" altLang="en-US" dirty="0"/>
          </a:p>
        </p:txBody>
      </p:sp>
      <p:sp>
        <p:nvSpPr>
          <p:cNvPr id="24579" name="内容占位符 2"/>
          <p:cNvSpPr>
            <a:spLocks noGrp="1"/>
          </p:cNvSpPr>
          <p:nvPr>
            <p:ph idx="1"/>
          </p:nvPr>
        </p:nvSpPr>
        <p:spPr>
          <a:xfrm>
            <a:off x="313055" y="1135380"/>
            <a:ext cx="11320780" cy="5113020"/>
          </a:xfrm>
        </p:spPr>
        <p:txBody>
          <a:bodyPr/>
          <a:lstStyle/>
          <a:p>
            <a:r>
              <a:rPr lang="zh-CN" altLang="en-US" dirty="0" smtClean="0"/>
              <a:t>使用</a:t>
            </a:r>
            <a:r>
              <a:rPr lang="en-US" altLang="zh-CN" dirty="0" smtClean="0"/>
              <a:t>JPA</a:t>
            </a:r>
            <a:r>
              <a:rPr lang="zh-CN" altLang="en-US" dirty="0" smtClean="0"/>
              <a:t>持久化对象步骤</a:t>
            </a:r>
            <a:endParaRPr lang="en-US" altLang="zh-CN" dirty="0" smtClean="0"/>
          </a:p>
          <a:p>
            <a:pPr lvl="1"/>
            <a:r>
              <a:rPr lang="zh-CN" altLang="en-US" dirty="0" smtClean="0"/>
              <a:t>创建</a:t>
            </a:r>
            <a:r>
              <a:rPr lang="en-US" altLang="zh-CN" dirty="0" err="1" smtClean="0">
                <a:solidFill>
                  <a:srgbClr val="FF0000"/>
                </a:solidFill>
              </a:rPr>
              <a:t>EntityManagerFactory</a:t>
            </a:r>
            <a:r>
              <a:rPr lang="en-US" altLang="zh-CN" dirty="0" smtClean="0"/>
              <a:t>;</a:t>
            </a:r>
            <a:endParaRPr lang="en-US" altLang="zh-CN" dirty="0" smtClean="0"/>
          </a:p>
          <a:p>
            <a:pPr lvl="2"/>
            <a:r>
              <a:rPr lang="zh-CN" altLang="en-US" dirty="0" smtClean="0"/>
              <a:t>创建和销毁都相当耗费资源，通常一个系统内一个数据库仅创建一个</a:t>
            </a:r>
            <a:endParaRPr lang="en-US" altLang="zh-CN" dirty="0" smtClean="0"/>
          </a:p>
          <a:p>
            <a:pPr lvl="1"/>
            <a:r>
              <a:rPr lang="zh-CN" altLang="en-US" dirty="0" smtClean="0"/>
              <a:t>创建</a:t>
            </a:r>
            <a:r>
              <a:rPr lang="en-US" altLang="zh-CN" dirty="0" err="1" smtClean="0">
                <a:solidFill>
                  <a:srgbClr val="FF0000"/>
                </a:solidFill>
              </a:rPr>
              <a:t>EntityManager</a:t>
            </a:r>
            <a:r>
              <a:rPr lang="en-US" altLang="zh-CN" dirty="0" smtClean="0"/>
              <a:t>;</a:t>
            </a:r>
            <a:endParaRPr lang="en-US" altLang="zh-CN" dirty="0" smtClean="0"/>
          </a:p>
          <a:p>
            <a:pPr lvl="1"/>
            <a:r>
              <a:rPr lang="zh-CN" altLang="en-US" dirty="0" smtClean="0"/>
              <a:t>创建实体类</a:t>
            </a:r>
            <a:r>
              <a:rPr lang="en-US" altLang="zh-CN" dirty="0" smtClean="0"/>
              <a:t>,</a:t>
            </a:r>
            <a:r>
              <a:rPr lang="zh-CN" altLang="en-US" dirty="0" smtClean="0"/>
              <a:t>使用</a:t>
            </a:r>
            <a:r>
              <a:rPr lang="zh-CN" altLang="en-US" dirty="0" smtClean="0">
                <a:solidFill>
                  <a:srgbClr val="FF0000"/>
                </a:solidFill>
              </a:rPr>
              <a:t>注解</a:t>
            </a:r>
            <a:r>
              <a:rPr lang="zh-CN" altLang="en-US" dirty="0" smtClean="0"/>
              <a:t>来描述实体类跟数据库表之间的一一映射关系</a:t>
            </a:r>
            <a:r>
              <a:rPr lang="en-US" altLang="zh-CN" dirty="0" smtClean="0"/>
              <a:t>.</a:t>
            </a:r>
            <a:endParaRPr lang="en-US" altLang="zh-CN" dirty="0" smtClean="0"/>
          </a:p>
          <a:p>
            <a:pPr lvl="1"/>
            <a:r>
              <a:rPr lang="zh-CN" altLang="en-US" dirty="0" smtClean="0"/>
              <a:t>使用</a:t>
            </a:r>
            <a:r>
              <a:rPr lang="en-US" altLang="zh-CN" dirty="0" smtClean="0"/>
              <a:t>JPA API</a:t>
            </a:r>
            <a:r>
              <a:rPr lang="zh-CN" altLang="en-US" dirty="0" smtClean="0"/>
              <a:t>完成数据</a:t>
            </a:r>
            <a:r>
              <a:rPr lang="zh-CN" altLang="en-US" dirty="0" smtClean="0">
                <a:solidFill>
                  <a:srgbClr val="FF0000"/>
                </a:solidFill>
              </a:rPr>
              <a:t>增加、删除、修改和查询操作</a:t>
            </a:r>
            <a:r>
              <a:rPr lang="zh-CN" altLang="en-US" dirty="0" smtClean="0"/>
              <a:t>（</a:t>
            </a:r>
            <a:r>
              <a:rPr lang="en-US" altLang="zh-CN" dirty="0" smtClean="0"/>
              <a:t>persist </a:t>
            </a:r>
            <a:r>
              <a:rPr lang="zh-CN" altLang="en-US" dirty="0" smtClean="0"/>
              <a:t>、</a:t>
            </a:r>
            <a:r>
              <a:rPr lang="en-US" altLang="zh-CN" dirty="0" smtClean="0"/>
              <a:t>remove</a:t>
            </a:r>
            <a:r>
              <a:rPr lang="zh-CN" altLang="en-US" dirty="0"/>
              <a:t> 、</a:t>
            </a:r>
            <a:r>
              <a:rPr lang="en-US" altLang="zh-CN" dirty="0"/>
              <a:t>merge </a:t>
            </a:r>
            <a:r>
              <a:rPr lang="zh-CN" altLang="en-US" dirty="0" smtClean="0"/>
              <a:t>、</a:t>
            </a:r>
            <a:r>
              <a:rPr lang="en-US" altLang="zh-CN" dirty="0" smtClean="0"/>
              <a:t>find</a:t>
            </a:r>
            <a:r>
              <a:rPr lang="zh-CN" altLang="en-US" dirty="0" smtClean="0"/>
              <a:t>）</a:t>
            </a:r>
            <a:endParaRPr lang="zh-CN" altLang="en-US" dirty="0" smtClean="0"/>
          </a:p>
        </p:txBody>
      </p:sp>
      <p:sp>
        <p:nvSpPr>
          <p:cNvPr id="24580"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6B768E6B-B83E-4041-9741-9A1DB6565CD2}"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使用</a:t>
            </a:r>
            <a:r>
              <a:rPr lang="en-US" altLang="zh-CN" dirty="0"/>
              <a:t>JPA</a:t>
            </a:r>
            <a:endParaRPr lang="zh-CN" altLang="en-US" dirty="0"/>
          </a:p>
        </p:txBody>
      </p:sp>
      <p:sp>
        <p:nvSpPr>
          <p:cNvPr id="25603"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87003C55-1244-41F7-B28F-05B0A7389B1F}"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2560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3755" y="955675"/>
            <a:ext cx="10490200" cy="582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smtClean="0"/>
              <a:t>JPA</a:t>
            </a:r>
            <a:r>
              <a:rPr lang="zh-CN" altLang="en-US" dirty="0" smtClean="0"/>
              <a:t>示例</a:t>
            </a:r>
            <a:r>
              <a:rPr lang="en-US" altLang="zh-CN" dirty="0" smtClean="0"/>
              <a:t>-</a:t>
            </a:r>
            <a:r>
              <a:rPr lang="zh-CN" altLang="en-US" dirty="0" smtClean="0"/>
              <a:t>描述</a:t>
            </a:r>
            <a:endParaRPr lang="zh-CN" altLang="en-US" dirty="0"/>
          </a:p>
        </p:txBody>
      </p:sp>
      <p:sp>
        <p:nvSpPr>
          <p:cNvPr id="22531" name="内容占位符 2"/>
          <p:cNvSpPr>
            <a:spLocks noGrp="1"/>
          </p:cNvSpPr>
          <p:nvPr>
            <p:ph idx="1"/>
          </p:nvPr>
        </p:nvSpPr>
        <p:spPr/>
        <p:txBody>
          <a:bodyPr/>
          <a:lstStyle/>
          <a:p>
            <a:r>
              <a:rPr lang="zh-CN" altLang="en-US" sz="2800" dirty="0" smtClean="0"/>
              <a:t>实现对用户的</a:t>
            </a:r>
            <a:r>
              <a:rPr lang="en-US" altLang="zh-CN" sz="2800" dirty="0" smtClean="0"/>
              <a:t>CRUD</a:t>
            </a:r>
            <a:r>
              <a:rPr lang="zh-CN" altLang="en-US" sz="2800" dirty="0" smtClean="0"/>
              <a:t>操作</a:t>
            </a:r>
            <a:endParaRPr lang="en-US" altLang="zh-CN" sz="2800" dirty="0" smtClean="0"/>
          </a:p>
          <a:p>
            <a:pPr lvl="1"/>
            <a:r>
              <a:rPr lang="zh-CN" altLang="en-US" sz="2400" dirty="0" smtClean="0"/>
              <a:t>代码文件结构</a:t>
            </a:r>
            <a:endParaRPr lang="zh-CN" altLang="en-US" sz="2400" dirty="0" smtClean="0"/>
          </a:p>
        </p:txBody>
      </p:sp>
      <p:sp>
        <p:nvSpPr>
          <p:cNvPr id="22532"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22DF9021-49F2-41BD-BD4D-5E509AD03F2B}"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5939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7940" y="2268855"/>
            <a:ext cx="4150360" cy="440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线形标注 1(带强调线) 6"/>
          <p:cNvSpPr/>
          <p:nvPr/>
        </p:nvSpPr>
        <p:spPr>
          <a:xfrm>
            <a:off x="5735955" y="3500755"/>
            <a:ext cx="5782945" cy="466090"/>
          </a:xfrm>
          <a:prstGeom prst="accentCallout1">
            <a:avLst>
              <a:gd name="adj1" fmla="val 18750"/>
              <a:gd name="adj2" fmla="val -8333"/>
              <a:gd name="adj3" fmla="val 62977"/>
              <a:gd name="adj4" fmla="val -2185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smtClean="0"/>
              <a:t>通过</a:t>
            </a:r>
            <a:r>
              <a:rPr lang="en-US" altLang="zh-CN" sz="2400" b="1" dirty="0" smtClean="0"/>
              <a:t>UserDao</a:t>
            </a:r>
            <a:r>
              <a:rPr lang="zh-CN" altLang="en-US" sz="2400" b="1" dirty="0" smtClean="0"/>
              <a:t>类对</a:t>
            </a:r>
            <a:r>
              <a:rPr lang="en-US" altLang="zh-CN" sz="2400" b="1" dirty="0" smtClean="0"/>
              <a:t>User</a:t>
            </a:r>
            <a:r>
              <a:rPr lang="zh-CN" altLang="en-US" sz="2400" b="1" dirty="0" smtClean="0"/>
              <a:t>表进行</a:t>
            </a:r>
            <a:r>
              <a:rPr lang="en-US" altLang="zh-CN" sz="2400" b="1" dirty="0" smtClean="0"/>
              <a:t>CRUD</a:t>
            </a:r>
            <a:r>
              <a:rPr lang="zh-CN" altLang="en-US" sz="2400" b="1" dirty="0" smtClean="0"/>
              <a:t>操作</a:t>
            </a:r>
            <a:endParaRPr lang="zh-CN" altLang="en-US" sz="2400" b="1" dirty="0" smtClean="0"/>
          </a:p>
        </p:txBody>
      </p:sp>
      <p:sp>
        <p:nvSpPr>
          <p:cNvPr id="3" name="线形标注 1(带强调线) 2"/>
          <p:cNvSpPr/>
          <p:nvPr/>
        </p:nvSpPr>
        <p:spPr>
          <a:xfrm>
            <a:off x="5520055" y="4364990"/>
            <a:ext cx="5998845" cy="431800"/>
          </a:xfrm>
          <a:prstGeom prst="accentCallout1">
            <a:avLst>
              <a:gd name="adj1" fmla="val 18750"/>
              <a:gd name="adj2" fmla="val -8333"/>
              <a:gd name="adj3" fmla="val 62647"/>
              <a:gd name="adj4" fmla="val -2337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smtClean="0"/>
              <a:t>实体类（对应</a:t>
            </a:r>
            <a:r>
              <a:rPr lang="en-US" altLang="zh-CN" sz="2400" b="1" dirty="0" smtClean="0"/>
              <a:t>User</a:t>
            </a:r>
            <a:r>
              <a:rPr lang="zh-CN" altLang="en-US" sz="2400" b="1" dirty="0" smtClean="0"/>
              <a:t>表）</a:t>
            </a:r>
            <a:endParaRPr lang="zh-CN" altLang="en-US" sz="2400" b="1" dirty="0" smtClean="0"/>
          </a:p>
        </p:txBody>
      </p:sp>
      <p:sp>
        <p:nvSpPr>
          <p:cNvPr id="8" name="线形标注 1(带强调线) 7"/>
          <p:cNvSpPr/>
          <p:nvPr/>
        </p:nvSpPr>
        <p:spPr>
          <a:xfrm>
            <a:off x="6096000" y="5876925"/>
            <a:ext cx="3944620" cy="845820"/>
          </a:xfrm>
          <a:prstGeom prst="accentCallout1">
            <a:avLst>
              <a:gd name="adj1" fmla="val 18750"/>
              <a:gd name="adj2" fmla="val -8333"/>
              <a:gd name="adj3" fmla="val 67133"/>
              <a:gd name="adj4" fmla="val -3331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200" b="1" dirty="0" smtClean="0"/>
              <a:t>JPA</a:t>
            </a:r>
            <a:r>
              <a:rPr lang="zh-CN" altLang="en-US" sz="2200" b="1" dirty="0" smtClean="0"/>
              <a:t>配置信息，包括数据库连接信息，实体类信息</a:t>
            </a:r>
            <a:endParaRPr lang="zh-CN" altLang="en-US" sz="2200" b="1" dirty="0"/>
          </a:p>
        </p:txBody>
      </p:sp>
      <p:sp>
        <p:nvSpPr>
          <p:cNvPr id="10" name="线形标注 1(带强调线) 9"/>
          <p:cNvSpPr/>
          <p:nvPr/>
        </p:nvSpPr>
        <p:spPr>
          <a:xfrm>
            <a:off x="6672064" y="5228694"/>
            <a:ext cx="2592288" cy="504056"/>
          </a:xfrm>
          <a:prstGeom prst="accentCallout1">
            <a:avLst>
              <a:gd name="adj1" fmla="val 18750"/>
              <a:gd name="adj2" fmla="val -8333"/>
              <a:gd name="adj3" fmla="val 94900"/>
              <a:gd name="adj4" fmla="val -3833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200" b="1" dirty="0" smtClean="0"/>
              <a:t>访问数据库公共类</a:t>
            </a:r>
            <a:endParaRPr lang="zh-CN" altLang="en-US" sz="2200" b="1"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3" grpId="0" bldLvl="0" animBg="1"/>
      <p:bldP spid="8" grpId="0" bldLvl="0" animBg="1"/>
      <p:bldP spid="1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smtClean="0"/>
              <a:t>JPA</a:t>
            </a:r>
            <a:r>
              <a:rPr lang="zh-CN" altLang="en-US" dirty="0" smtClean="0"/>
              <a:t>示例</a:t>
            </a:r>
            <a:r>
              <a:rPr lang="en-US" altLang="zh-CN" dirty="0" smtClean="0"/>
              <a:t>-</a:t>
            </a:r>
            <a:r>
              <a:rPr lang="zh-CN" altLang="en-US" dirty="0" smtClean="0"/>
              <a:t>准备</a:t>
            </a:r>
            <a:endParaRPr lang="zh-CN" altLang="en-US" dirty="0"/>
          </a:p>
        </p:txBody>
      </p:sp>
      <p:sp>
        <p:nvSpPr>
          <p:cNvPr id="22531" name="内容占位符 2"/>
          <p:cNvSpPr>
            <a:spLocks noGrp="1"/>
          </p:cNvSpPr>
          <p:nvPr>
            <p:ph idx="1"/>
          </p:nvPr>
        </p:nvSpPr>
        <p:spPr/>
        <p:txBody>
          <a:bodyPr/>
          <a:lstStyle/>
          <a:p>
            <a:r>
              <a:rPr lang="zh-CN" altLang="en-US" dirty="0" smtClean="0"/>
              <a:t>准备</a:t>
            </a:r>
            <a:endParaRPr lang="en-US" altLang="zh-CN" dirty="0" smtClean="0"/>
          </a:p>
          <a:p>
            <a:pPr lvl="1"/>
            <a:r>
              <a:rPr lang="zh-CN" altLang="en-US" dirty="0" smtClean="0"/>
              <a:t>一个</a:t>
            </a:r>
            <a:r>
              <a:rPr lang="en-US" altLang="zh-CN" dirty="0" smtClean="0"/>
              <a:t>JPA</a:t>
            </a:r>
            <a:r>
              <a:rPr lang="zh-CN" altLang="en-US" dirty="0" smtClean="0"/>
              <a:t>实现框架</a:t>
            </a:r>
            <a:endParaRPr lang="en-US" altLang="zh-CN" dirty="0" smtClean="0"/>
          </a:p>
          <a:p>
            <a:pPr lvl="2"/>
            <a:r>
              <a:rPr lang="en-US" altLang="zh-CN" dirty="0" err="1" smtClean="0">
                <a:solidFill>
                  <a:srgbClr val="FF0000"/>
                </a:solidFill>
              </a:rPr>
              <a:t>EclipseLink</a:t>
            </a:r>
            <a:r>
              <a:rPr lang="en-US" altLang="zh-CN" dirty="0" smtClean="0"/>
              <a:t> </a:t>
            </a:r>
            <a:r>
              <a:rPr lang="zh-CN" altLang="en-US" dirty="0" smtClean="0"/>
              <a:t>开源 前身 </a:t>
            </a:r>
            <a:r>
              <a:rPr lang="en-US" altLang="zh-CN" dirty="0" err="1" smtClean="0"/>
              <a:t>TopLink</a:t>
            </a:r>
            <a:endParaRPr lang="en-US" altLang="zh-CN" dirty="0" smtClean="0"/>
          </a:p>
          <a:p>
            <a:pPr lvl="3"/>
            <a:r>
              <a:rPr lang="en-US" altLang="zh-CN" dirty="0" smtClean="0">
                <a:hlinkClick r:id="rId1"/>
              </a:rPr>
              <a:t>http://www.eclipse.org/eclipselink/#jpa</a:t>
            </a:r>
            <a:r>
              <a:rPr lang="en-US" altLang="zh-CN" dirty="0" smtClean="0"/>
              <a:t> </a:t>
            </a:r>
            <a:r>
              <a:rPr lang="zh-CN" altLang="en-US" dirty="0" smtClean="0"/>
              <a:t>官网</a:t>
            </a:r>
            <a:endParaRPr lang="en-US" altLang="zh-CN" dirty="0" smtClean="0"/>
          </a:p>
          <a:p>
            <a:pPr lvl="1"/>
            <a:r>
              <a:rPr lang="zh-CN" altLang="en-US" dirty="0" smtClean="0"/>
              <a:t>安装（见安装说明）</a:t>
            </a:r>
            <a:endParaRPr lang="en-US" altLang="zh-CN" dirty="0" smtClean="0"/>
          </a:p>
        </p:txBody>
      </p:sp>
      <p:sp>
        <p:nvSpPr>
          <p:cNvPr id="22532"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22DF9021-49F2-41BD-BD4D-5E509AD03F2B}"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smtClean="0"/>
              <a:t>JPA</a:t>
            </a:r>
            <a:r>
              <a:rPr lang="zh-CN" altLang="en-US" dirty="0" smtClean="0"/>
              <a:t>示例</a:t>
            </a:r>
            <a:r>
              <a:rPr lang="en-US" altLang="zh-CN" dirty="0" smtClean="0"/>
              <a:t>-persistence.xml</a:t>
            </a:r>
            <a:endParaRPr lang="zh-CN" altLang="en-US" dirty="0"/>
          </a:p>
        </p:txBody>
      </p:sp>
      <p:sp>
        <p:nvSpPr>
          <p:cNvPr id="23555" name="内容占位符 2"/>
          <p:cNvSpPr>
            <a:spLocks noGrp="1"/>
          </p:cNvSpPr>
          <p:nvPr>
            <p:ph idx="1"/>
          </p:nvPr>
        </p:nvSpPr>
        <p:spPr>
          <a:xfrm>
            <a:off x="351790" y="1195070"/>
            <a:ext cx="11299825" cy="5113020"/>
          </a:xfrm>
        </p:spPr>
        <p:txBody>
          <a:bodyPr/>
          <a:lstStyle/>
          <a:p>
            <a:r>
              <a:rPr lang="zh-CN" altLang="en-US" sz="2800" dirty="0" smtClean="0"/>
              <a:t>若安装成功，则项目中会出现</a:t>
            </a:r>
            <a:r>
              <a:rPr lang="en-US" altLang="zh-CN" sz="2800" dirty="0" smtClean="0">
                <a:solidFill>
                  <a:srgbClr val="FF0000"/>
                </a:solidFill>
              </a:rPr>
              <a:t>persistence.xml</a:t>
            </a:r>
            <a:r>
              <a:rPr lang="zh-CN" altLang="en-US" sz="2800" dirty="0" smtClean="0"/>
              <a:t>文件，需要配置相关信息</a:t>
            </a:r>
            <a:endParaRPr lang="zh-CN" altLang="en-US" sz="2800" dirty="0" smtClean="0"/>
          </a:p>
        </p:txBody>
      </p:sp>
      <p:sp>
        <p:nvSpPr>
          <p:cNvPr id="23556"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DC466D3D-DD43-4C95-BA0C-AD4C85C3CC79}"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
        <p:nvSpPr>
          <p:cNvPr id="8" name="矩形 7"/>
          <p:cNvSpPr>
            <a:spLocks noChangeArrowheads="1"/>
          </p:cNvSpPr>
          <p:nvPr/>
        </p:nvSpPr>
        <p:spPr bwMode="auto">
          <a:xfrm>
            <a:off x="695960" y="5948680"/>
            <a:ext cx="71704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t>在</a:t>
            </a:r>
            <a:r>
              <a:rPr lang="en-US" altLang="zh-CN" sz="2400" b="1" dirty="0">
                <a:solidFill>
                  <a:srgbClr val="FF0000"/>
                </a:solidFill>
              </a:rPr>
              <a:t>persistence.xml</a:t>
            </a:r>
            <a:r>
              <a:rPr lang="zh-CN" altLang="en-US" sz="2400" b="1" dirty="0"/>
              <a:t>中配置数据库连接信息和实体类</a:t>
            </a:r>
            <a:endParaRPr lang="zh-CN" altLang="en-US" sz="2400" b="1" dirty="0"/>
          </a:p>
        </p:txBody>
      </p:sp>
      <p:pic>
        <p:nvPicPr>
          <p:cNvPr id="604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0040" y="2348230"/>
            <a:ext cx="11520805" cy="2769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线形标注 1(带强调线) 9"/>
          <p:cNvSpPr/>
          <p:nvPr/>
        </p:nvSpPr>
        <p:spPr>
          <a:xfrm>
            <a:off x="5614035" y="2655570"/>
            <a:ext cx="5040630" cy="575945"/>
          </a:xfrm>
          <a:prstGeom prst="accentCallout1">
            <a:avLst>
              <a:gd name="adj1" fmla="val 18750"/>
              <a:gd name="adj2" fmla="val -8333"/>
              <a:gd name="adj3" fmla="val 22601"/>
              <a:gd name="adj4" fmla="val -2401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smtClean="0"/>
              <a:t>持续化单元，一个</a:t>
            </a:r>
            <a:r>
              <a:rPr lang="en-US" altLang="zh-CN" sz="2400" b="1" dirty="0" smtClean="0"/>
              <a:t>DB</a:t>
            </a:r>
            <a:r>
              <a:rPr lang="zh-CN" altLang="en-US" sz="2400" b="1" dirty="0"/>
              <a:t>对应一个单元</a:t>
            </a:r>
            <a:endParaRPr lang="zh-CN" altLang="en-US" sz="2400" b="1" dirty="0"/>
          </a:p>
        </p:txBody>
      </p:sp>
      <p:sp>
        <p:nvSpPr>
          <p:cNvPr id="3" name="矩形 2"/>
          <p:cNvSpPr>
            <a:spLocks noChangeArrowheads="1"/>
          </p:cNvSpPr>
          <p:nvPr/>
        </p:nvSpPr>
        <p:spPr bwMode="auto">
          <a:xfrm>
            <a:off x="4295775" y="4436745"/>
            <a:ext cx="70675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sz="2400" b="1" dirty="0"/>
              <a:t>MySQL8</a:t>
            </a:r>
            <a:r>
              <a:rPr lang="zh-CN" altLang="en-US" sz="2400" b="1" dirty="0"/>
              <a:t>换成：</a:t>
            </a:r>
            <a:r>
              <a:rPr lang="zh-CN" altLang="en-US" sz="2400" b="1" dirty="0">
                <a:solidFill>
                  <a:schemeClr val="bg2"/>
                </a:solidFill>
              </a:rPr>
              <a:t>com.mysql.cj.jdbc.Driver</a:t>
            </a:r>
            <a:endParaRPr lang="zh-CN" altLang="en-US" sz="2400" b="1" dirty="0"/>
          </a:p>
          <a:p>
            <a:r>
              <a:rPr lang="zh-CN" altLang="en-US" sz="2400" b="1" dirty="0">
                <a:solidFill>
                  <a:schemeClr val="bg2"/>
                </a:solidFill>
              </a:rPr>
              <a:t>jdbc:mysql://localhost:3306/testDB?characterEncoding=utf8&amp;amp;useSSL=false&amp;amp;serverTimezone=UTC&amp;amp;rewriteBatchedStatements=true</a:t>
            </a:r>
            <a:endParaRPr lang="zh-CN" altLang="en-US" sz="2400" b="1" dirty="0">
              <a:solidFill>
                <a:schemeClr val="bg2"/>
              </a:solidFill>
            </a:endParaRPr>
          </a:p>
        </p:txBody>
      </p:sp>
      <p:cxnSp>
        <p:nvCxnSpPr>
          <p:cNvPr id="4" name="直接箭头连接符 3"/>
          <p:cNvCxnSpPr/>
          <p:nvPr/>
        </p:nvCxnSpPr>
        <p:spPr>
          <a:xfrm flipH="1">
            <a:off x="9336405" y="3555365"/>
            <a:ext cx="217805" cy="953770"/>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H="1">
            <a:off x="10560685" y="3860800"/>
            <a:ext cx="146050" cy="1008380"/>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bldLvl="0" animBg="1"/>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2133600" y="152400"/>
            <a:ext cx="8029575" cy="1087120"/>
          </a:xfrm>
        </p:spPr>
        <p:txBody>
          <a:bodyPr>
            <a:normAutofit fontScale="90000"/>
          </a:bodyPr>
          <a:lstStyle/>
          <a:p>
            <a:pPr>
              <a:defRPr/>
            </a:pPr>
            <a:r>
              <a:rPr lang="en-US" altLang="zh-CN" dirty="0" smtClean="0"/>
              <a:t>JPA</a:t>
            </a:r>
            <a:r>
              <a:rPr lang="zh-CN" altLang="en-US" dirty="0" smtClean="0"/>
              <a:t>示例</a:t>
            </a:r>
            <a:r>
              <a:rPr lang="en-US" altLang="zh-CN" dirty="0" smtClean="0"/>
              <a:t>-</a:t>
            </a:r>
            <a:r>
              <a:rPr lang="en-US" altLang="zh-CN" dirty="0"/>
              <a:t> </a:t>
            </a:r>
            <a:r>
              <a:rPr lang="en-US" altLang="zh-CN" sz="4000" dirty="0" err="1"/>
              <a:t>EntityManagerFactory</a:t>
            </a:r>
            <a:endParaRPr lang="zh-CN" altLang="en-US" sz="4000" dirty="0"/>
          </a:p>
        </p:txBody>
      </p:sp>
      <p:sp>
        <p:nvSpPr>
          <p:cNvPr id="3" name="内容占位符 2"/>
          <p:cNvSpPr>
            <a:spLocks noGrp="1"/>
          </p:cNvSpPr>
          <p:nvPr>
            <p:ph idx="1"/>
          </p:nvPr>
        </p:nvSpPr>
        <p:spPr/>
        <p:txBody>
          <a:bodyPr/>
          <a:lstStyle/>
          <a:p>
            <a:pPr>
              <a:defRPr/>
            </a:pPr>
            <a:r>
              <a:rPr lang="zh-CN" altLang="en-US" dirty="0" smtClean="0"/>
              <a:t>创建</a:t>
            </a:r>
            <a:r>
              <a:rPr lang="en-US" altLang="zh-CN" dirty="0" err="1" smtClean="0"/>
              <a:t>EntityManagerFactory</a:t>
            </a:r>
            <a:r>
              <a:rPr lang="zh-CN" altLang="en-US" dirty="0" smtClean="0"/>
              <a:t>公共类</a:t>
            </a:r>
            <a:endParaRPr lang="en-US" altLang="zh-CN" dirty="0" smtClean="0"/>
          </a:p>
          <a:p>
            <a:pPr marL="0" indent="0">
              <a:buFont typeface="Monotype Sorts"/>
              <a:buNone/>
              <a:defRPr/>
            </a:pPr>
            <a:endParaRPr lang="zh-CN" altLang="en-US" dirty="0"/>
          </a:p>
        </p:txBody>
      </p:sp>
      <p:sp>
        <p:nvSpPr>
          <p:cNvPr id="26628"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4DC61B8F-DF66-4FBC-A22A-CBB2CB370515}"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0900" y="1701800"/>
            <a:ext cx="10685780" cy="500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p:cNvCxnSpPr/>
          <p:nvPr/>
        </p:nvCxnSpPr>
        <p:spPr>
          <a:xfrm flipV="1">
            <a:off x="2242820" y="3284855"/>
            <a:ext cx="9109710" cy="889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232400" y="5445125"/>
            <a:ext cx="230378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线形标注 1(带强调线) 9"/>
          <p:cNvSpPr/>
          <p:nvPr/>
        </p:nvSpPr>
        <p:spPr>
          <a:xfrm rot="5400000">
            <a:off x="9707245" y="2606675"/>
            <a:ext cx="893445" cy="3114675"/>
          </a:xfrm>
          <a:prstGeom prst="accentCallout1">
            <a:avLst>
              <a:gd name="adj1" fmla="val 50030"/>
              <a:gd name="adj2" fmla="val -7178"/>
              <a:gd name="adj3" fmla="val 49908"/>
              <a:gd name="adj4" fmla="val -44776"/>
            </a:avLst>
          </a:prstGeom>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altLang="zh-CN" sz="2400" b="1" dirty="0" smtClean="0"/>
              <a:t>Persistence.xml</a:t>
            </a:r>
            <a:r>
              <a:rPr lang="zh-CN" altLang="en-US" sz="2400" dirty="0" smtClean="0"/>
              <a:t>中的持续化单元名称</a:t>
            </a:r>
            <a:endParaRPr lang="zh-CN" altLang="en-US" sz="2400"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JPA</a:t>
            </a:r>
            <a:r>
              <a:rPr lang="zh-CN" altLang="en-US" dirty="0" smtClean="0"/>
              <a:t>示例</a:t>
            </a:r>
            <a:r>
              <a:rPr lang="en-US" altLang="zh-CN" dirty="0" smtClean="0"/>
              <a:t>-</a:t>
            </a:r>
            <a:r>
              <a:rPr lang="en-US" altLang="zh-CN" dirty="0" err="1"/>
              <a:t>EntityManager</a:t>
            </a:r>
            <a:endParaRPr lang="zh-CN" altLang="en-US" dirty="0"/>
          </a:p>
        </p:txBody>
      </p:sp>
      <p:sp>
        <p:nvSpPr>
          <p:cNvPr id="27651" name="内容占位符 2"/>
          <p:cNvSpPr>
            <a:spLocks noGrp="1"/>
          </p:cNvSpPr>
          <p:nvPr>
            <p:ph idx="1"/>
          </p:nvPr>
        </p:nvSpPr>
        <p:spPr/>
        <p:txBody>
          <a:bodyPr/>
          <a:lstStyle/>
          <a:p>
            <a:r>
              <a:rPr lang="en-US" altLang="zh-CN" dirty="0" smtClean="0"/>
              <a:t>UserDao.java —</a:t>
            </a:r>
            <a:r>
              <a:rPr lang="zh-CN" altLang="en-US" dirty="0" smtClean="0"/>
              <a:t>增加</a:t>
            </a:r>
            <a:r>
              <a:rPr lang="en-US" altLang="zh-CN" dirty="0" smtClean="0"/>
              <a:t>/</a:t>
            </a:r>
            <a:r>
              <a:rPr lang="zh-CN" altLang="en-US" dirty="0" smtClean="0"/>
              <a:t>修改</a:t>
            </a:r>
            <a:endParaRPr lang="zh-CN" altLang="en-US" dirty="0" smtClean="0"/>
          </a:p>
        </p:txBody>
      </p:sp>
      <p:sp>
        <p:nvSpPr>
          <p:cNvPr id="27652"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3D9AD3A0-52D8-4C6A-B129-C5FBC2FEC37B}"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pic>
        <p:nvPicPr>
          <p:cNvPr id="2765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2553" y="4632883"/>
            <a:ext cx="6652245" cy="177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470" y="1772816"/>
            <a:ext cx="6434109"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直接连接符 3"/>
          <p:cNvCxnSpPr/>
          <p:nvPr/>
        </p:nvCxnSpPr>
        <p:spPr>
          <a:xfrm>
            <a:off x="2495600" y="3717032"/>
            <a:ext cx="187220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567608" y="5589240"/>
            <a:ext cx="187220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1504" y="2132856"/>
            <a:ext cx="8773898"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pPr>
              <a:defRPr/>
            </a:pPr>
            <a:r>
              <a:rPr lang="en-US" altLang="zh-CN" dirty="0"/>
              <a:t>JPA</a:t>
            </a:r>
            <a:r>
              <a:rPr lang="zh-CN" altLang="en-US" dirty="0" smtClean="0"/>
              <a:t>示例</a:t>
            </a:r>
            <a:r>
              <a:rPr lang="en-US" altLang="zh-CN" dirty="0" smtClean="0"/>
              <a:t>-</a:t>
            </a:r>
            <a:r>
              <a:rPr lang="en-US" altLang="zh-CN" dirty="0" err="1"/>
              <a:t>EntityManager</a:t>
            </a:r>
            <a:endParaRPr lang="zh-CN" altLang="en-US" dirty="0"/>
          </a:p>
        </p:txBody>
      </p:sp>
      <p:sp>
        <p:nvSpPr>
          <p:cNvPr id="27651" name="内容占位符 2"/>
          <p:cNvSpPr>
            <a:spLocks noGrp="1"/>
          </p:cNvSpPr>
          <p:nvPr>
            <p:ph idx="1"/>
          </p:nvPr>
        </p:nvSpPr>
        <p:spPr/>
        <p:txBody>
          <a:bodyPr/>
          <a:lstStyle/>
          <a:p>
            <a:r>
              <a:rPr lang="en-US" altLang="zh-CN" dirty="0" smtClean="0"/>
              <a:t>UserDao.java —</a:t>
            </a:r>
            <a:r>
              <a:rPr lang="zh-CN" altLang="en-US" dirty="0" smtClean="0"/>
              <a:t>删除</a:t>
            </a:r>
            <a:endParaRPr lang="zh-CN" altLang="en-US" dirty="0" smtClean="0"/>
          </a:p>
        </p:txBody>
      </p:sp>
      <p:sp>
        <p:nvSpPr>
          <p:cNvPr id="27652"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3D9AD3A0-52D8-4C6A-B129-C5FBC2FEC37B}"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cxnSp>
        <p:nvCxnSpPr>
          <p:cNvPr id="4" name="直接连接符 3"/>
          <p:cNvCxnSpPr/>
          <p:nvPr/>
        </p:nvCxnSpPr>
        <p:spPr>
          <a:xfrm>
            <a:off x="2207568" y="3717032"/>
            <a:ext cx="237626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647728" y="3068960"/>
            <a:ext cx="122413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线形标注 1(带强调线) 9"/>
          <p:cNvSpPr/>
          <p:nvPr/>
        </p:nvSpPr>
        <p:spPr>
          <a:xfrm>
            <a:off x="7694295" y="3284855"/>
            <a:ext cx="3343275" cy="798195"/>
          </a:xfrm>
          <a:prstGeom prst="accentCallout1">
            <a:avLst>
              <a:gd name="adj1" fmla="val 51789"/>
              <a:gd name="adj2" fmla="val -3190"/>
              <a:gd name="adj3" fmla="val -24821"/>
              <a:gd name="adj4" fmla="val -1261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smtClean="0"/>
              <a:t>先根据关键字查询待删除的对象</a:t>
            </a:r>
            <a:endParaRPr lang="zh-CN" altLang="en-US" sz="2400" b="1" dirty="0" smtClean="0"/>
          </a:p>
        </p:txBody>
      </p:sp>
      <p:sp>
        <p:nvSpPr>
          <p:cNvPr id="11" name="线形标注 1(带强调线) 10"/>
          <p:cNvSpPr/>
          <p:nvPr/>
        </p:nvSpPr>
        <p:spPr>
          <a:xfrm>
            <a:off x="7104380" y="4421505"/>
            <a:ext cx="2736215" cy="758190"/>
          </a:xfrm>
          <a:prstGeom prst="accentCallout1">
            <a:avLst>
              <a:gd name="adj1" fmla="val 18750"/>
              <a:gd name="adj2" fmla="val -8333"/>
              <a:gd name="adj3" fmla="val -53339"/>
              <a:gd name="adj4" fmla="val -3473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200" b="1" dirty="0" smtClean="0"/>
              <a:t>再删除该对象，并将改变提交到数据库</a:t>
            </a:r>
            <a:endParaRPr lang="zh-CN" altLang="en-US" sz="2200" b="1"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JPA</a:t>
            </a:r>
            <a:r>
              <a:rPr lang="zh-CN" altLang="en-US" dirty="0" smtClean="0"/>
              <a:t>的生命周期</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 y="-19685"/>
            <a:ext cx="10451465" cy="6896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127760" y="2925445"/>
            <a:ext cx="1530985" cy="46037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wrap="square" rtlCol="0" anchor="t">
            <a:spAutoFit/>
          </a:bodyPr>
          <a:p>
            <a:r>
              <a:rPr lang="zh-CN" altLang="en-US" sz="2400" dirty="0" smtClean="0">
                <a:latin typeface="黑体" panose="02010609060101010101" charset="-122"/>
                <a:ea typeface="黑体" panose="02010609060101010101" charset="-122"/>
                <a:sym typeface="+mn-ea"/>
              </a:rPr>
              <a:t>或游离态</a:t>
            </a:r>
            <a:endParaRPr lang="zh-CN" altLang="en-US" sz="2400" dirty="0" smtClean="0">
              <a:latin typeface="黑体" panose="02010609060101010101" charset="-122"/>
              <a:ea typeface="黑体" panose="02010609060101010101" charset="-122"/>
              <a:sym typeface="+mn-ea"/>
            </a:endParaRPr>
          </a:p>
        </p:txBody>
      </p:sp>
      <p:sp>
        <p:nvSpPr>
          <p:cNvPr id="7" name="文本框 6"/>
          <p:cNvSpPr txBox="1"/>
          <p:nvPr/>
        </p:nvSpPr>
        <p:spPr>
          <a:xfrm>
            <a:off x="8040370" y="5949315"/>
            <a:ext cx="1530985" cy="46037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wrap="square" rtlCol="0" anchor="t">
            <a:spAutoFit/>
          </a:bodyPr>
          <a:p>
            <a:r>
              <a:rPr lang="zh-CN" altLang="en-US" sz="2400" dirty="0" smtClean="0">
                <a:latin typeface="黑体" panose="02010609060101010101" charset="-122"/>
                <a:ea typeface="黑体" panose="02010609060101010101" charset="-122"/>
                <a:sym typeface="+mn-ea"/>
              </a:rPr>
              <a:t>或受控态</a:t>
            </a:r>
            <a:endParaRPr lang="zh-CN" altLang="en-US" sz="2400" dirty="0" smtClean="0">
              <a:latin typeface="黑体" panose="02010609060101010101" charset="-122"/>
              <a:ea typeface="黑体" panose="02010609060101010101" charset="-122"/>
              <a:sym typeface="+mn-ea"/>
            </a:endParaRPr>
          </a:p>
        </p:txBody>
      </p:sp>
    </p:spTree>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实体的状态</a:t>
            </a:r>
            <a:endParaRPr lang="zh-CN" altLang="en-US"/>
          </a:p>
        </p:txBody>
      </p:sp>
      <p:sp>
        <p:nvSpPr>
          <p:cNvPr id="4" name="灯片编号占位符 3"/>
          <p:cNvSpPr>
            <a:spLocks noGrp="1"/>
          </p:cNvSpPr>
          <p:nvPr>
            <p:ph type="sldNum" sz="quarter" idx="11"/>
          </p:nvPr>
        </p:nvSpPr>
        <p:spPr/>
        <p:txBody>
          <a:bodyPr/>
          <a:p>
            <a:pPr>
              <a:defRPr/>
            </a:pPr>
            <a:fld id="{7338A687-9600-4BA9-87F7-6B9649F6DB07}" type="slidenum">
              <a:rPr lang="zh-CN" altLang="en-US"/>
            </a:fld>
            <a:endParaRPr lang="en-US" altLang="zh-CN"/>
          </a:p>
        </p:txBody>
      </p:sp>
      <p:pic>
        <p:nvPicPr>
          <p:cNvPr id="6" name="图片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01600" y="1340485"/>
            <a:ext cx="12250420" cy="4716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实体的状态</a:t>
            </a:r>
            <a:endParaRPr lang="zh-CN" altLang="en-US" dirty="0"/>
          </a:p>
        </p:txBody>
      </p:sp>
      <p:sp>
        <p:nvSpPr>
          <p:cNvPr id="3" name="内容占位符 2"/>
          <p:cNvSpPr>
            <a:spLocks noGrp="1"/>
          </p:cNvSpPr>
          <p:nvPr>
            <p:ph idx="1"/>
          </p:nvPr>
        </p:nvSpPr>
        <p:spPr/>
        <p:txBody>
          <a:bodyPr>
            <a:normAutofit fontScale="85000"/>
          </a:bodyPr>
          <a:lstStyle/>
          <a:p>
            <a:r>
              <a:rPr lang="zh-CN" altLang="en-US" dirty="0" smtClean="0"/>
              <a:t>新建态</a:t>
            </a:r>
            <a:r>
              <a:rPr lang="en-US" altLang="zh-CN" dirty="0" smtClean="0"/>
              <a:t>new </a:t>
            </a:r>
            <a:r>
              <a:rPr lang="zh-CN" altLang="en-US" dirty="0" smtClean="0"/>
              <a:t>（自由状态）</a:t>
            </a:r>
            <a:endParaRPr lang="en-US" altLang="zh-CN" dirty="0" smtClean="0"/>
          </a:p>
          <a:p>
            <a:pPr lvl="1"/>
            <a:r>
              <a:rPr lang="zh-CN" altLang="en-US" dirty="0" smtClean="0"/>
              <a:t>新创建的实体对象，尚未拥有持久化主键，没有和一个持久化上下文关联起来</a:t>
            </a:r>
            <a:endParaRPr lang="zh-CN" altLang="en-US" dirty="0" smtClean="0"/>
          </a:p>
          <a:p>
            <a:r>
              <a:rPr lang="zh-CN" altLang="en-US" dirty="0" smtClean="0"/>
              <a:t>受控态</a:t>
            </a:r>
            <a:r>
              <a:rPr lang="en-US" altLang="zh-CN" dirty="0" smtClean="0"/>
              <a:t>managed </a:t>
            </a:r>
            <a:r>
              <a:rPr lang="zh-CN" altLang="en-US" dirty="0" smtClean="0"/>
              <a:t>（持久状态）</a:t>
            </a:r>
            <a:endParaRPr lang="en-US" altLang="zh-CN" dirty="0" smtClean="0"/>
          </a:p>
          <a:p>
            <a:pPr lvl="1"/>
            <a:r>
              <a:rPr lang="zh-CN" altLang="en-US" dirty="0" smtClean="0"/>
              <a:t>已经拥有持久化主键并和持久化上下文建立了联系</a:t>
            </a:r>
            <a:endParaRPr lang="zh-CN" altLang="en-US" dirty="0" smtClean="0"/>
          </a:p>
          <a:p>
            <a:r>
              <a:rPr lang="zh-CN" altLang="en-US" dirty="0" smtClean="0"/>
              <a:t>游离态</a:t>
            </a:r>
            <a:r>
              <a:rPr lang="en-US" altLang="zh-CN" dirty="0" smtClean="0"/>
              <a:t>detached </a:t>
            </a:r>
            <a:r>
              <a:rPr lang="zh-CN" altLang="en-US" dirty="0" smtClean="0"/>
              <a:t>（分离状态）</a:t>
            </a:r>
            <a:endParaRPr lang="en-US" altLang="zh-CN" dirty="0" smtClean="0"/>
          </a:p>
          <a:p>
            <a:pPr lvl="1"/>
            <a:r>
              <a:rPr lang="zh-CN" altLang="en-US" dirty="0" smtClean="0"/>
              <a:t>拥有持久化主键，但尚未和持久化上下文建立联系</a:t>
            </a:r>
            <a:endParaRPr lang="zh-CN" altLang="en-US" dirty="0" smtClean="0"/>
          </a:p>
          <a:p>
            <a:r>
              <a:rPr lang="zh-CN" altLang="en-US" dirty="0" smtClean="0"/>
              <a:t>删除态</a:t>
            </a:r>
            <a:r>
              <a:rPr lang="en-US" altLang="zh-CN" dirty="0" smtClean="0"/>
              <a:t>removed</a:t>
            </a:r>
            <a:r>
              <a:rPr lang="zh-CN" altLang="en-US" dirty="0" smtClean="0"/>
              <a:t>（删除状态）</a:t>
            </a:r>
            <a:endParaRPr lang="en-US" altLang="zh-CN" dirty="0" smtClean="0"/>
          </a:p>
          <a:p>
            <a:pPr lvl="1"/>
            <a:r>
              <a:rPr lang="zh-CN" altLang="en-US" dirty="0" smtClean="0"/>
              <a:t>拥有持久化主键，已经和持久化上下文建立联系，但已经被安排从数据库中删除</a:t>
            </a:r>
            <a:endParaRPr lang="zh-CN" altLang="en-US" dirty="0" smtClean="0"/>
          </a:p>
          <a:p>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5" name="右箭头 4">
            <a:hlinkClick r:id="rId1" action="ppaction://hlinksldjump"/>
          </p:cNvPr>
          <p:cNvSpPr/>
          <p:nvPr/>
        </p:nvSpPr>
        <p:spPr>
          <a:xfrm>
            <a:off x="9677400" y="6019800"/>
            <a:ext cx="838200" cy="609600"/>
          </a:xfrm>
          <a:prstGeom prst="rightArrow">
            <a:avLst/>
          </a:prstGeom>
          <a:solidFill>
            <a:srgbClr val="9900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JPQL</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p"/>
            </a:pPr>
            <a:r>
              <a:rPr lang="en-US" altLang="zh-CN" sz="2800" dirty="0" smtClean="0"/>
              <a:t>Java Persistence Query Language</a:t>
            </a:r>
            <a:r>
              <a:rPr lang="zh-CN" altLang="en-US" sz="2800" dirty="0" smtClean="0"/>
              <a:t>（</a:t>
            </a:r>
            <a:r>
              <a:rPr lang="en-US" altLang="zh-CN" sz="2800" dirty="0" smtClean="0"/>
              <a:t>Java</a:t>
            </a:r>
            <a:r>
              <a:rPr lang="zh-CN" altLang="en-US" sz="2800" dirty="0" smtClean="0"/>
              <a:t>持久化查询语言）</a:t>
            </a:r>
            <a:endParaRPr lang="zh-CN" altLang="en-US" sz="2800" dirty="0" smtClean="0"/>
          </a:p>
          <a:p>
            <a:pPr>
              <a:buFont typeface="Wingdings" panose="05000000000000000000" pitchFamily="2" charset="2"/>
              <a:buChar char="p"/>
            </a:pPr>
            <a:r>
              <a:rPr lang="zh-CN" altLang="en-US" sz="2800" dirty="0" smtClean="0"/>
              <a:t>是一种可移植的查询语言，可以被编译成所有主流数据库服务器上的</a:t>
            </a:r>
            <a:r>
              <a:rPr lang="en-US" altLang="zh-CN" sz="2800" dirty="0" smtClean="0"/>
              <a:t>SQL</a:t>
            </a:r>
            <a:endParaRPr lang="en-US" altLang="zh-CN" sz="2800" dirty="0" smtClean="0"/>
          </a:p>
          <a:p>
            <a:pPr>
              <a:buFont typeface="Wingdings" panose="05000000000000000000" pitchFamily="2" charset="2"/>
              <a:buChar char="p"/>
            </a:pPr>
            <a:r>
              <a:rPr lang="en-US" altLang="zh-CN" sz="2800" dirty="0" smtClean="0"/>
              <a:t>JPQL</a:t>
            </a:r>
            <a:r>
              <a:rPr lang="zh-CN" altLang="en-US" sz="2800" dirty="0" smtClean="0"/>
              <a:t>是面向对象的，通过面向对象而非面向数据库的查询语言查询数据，在</a:t>
            </a:r>
            <a:r>
              <a:rPr lang="en-US" altLang="zh-CN" sz="2800" dirty="0" smtClean="0"/>
              <a:t>Java</a:t>
            </a:r>
            <a:r>
              <a:rPr lang="zh-CN" altLang="en-US" sz="2800" dirty="0" smtClean="0"/>
              <a:t>空间对类和对象进行操作，避免程序的</a:t>
            </a:r>
            <a:r>
              <a:rPr lang="en-US" altLang="zh-CN" sz="2800" dirty="0" smtClean="0"/>
              <a:t>SQL</a:t>
            </a:r>
            <a:r>
              <a:rPr lang="zh-CN" altLang="en-US" sz="2800" dirty="0" smtClean="0"/>
              <a:t>语句紧密耦合</a:t>
            </a:r>
            <a:endParaRPr lang="zh-CN" altLang="en-US" sz="2800" dirty="0" smtClean="0"/>
          </a:p>
          <a:p>
            <a:pPr>
              <a:buFont typeface="Wingdings" panose="05000000000000000000" pitchFamily="2" charset="2"/>
              <a:buChar char="p"/>
            </a:pPr>
            <a:r>
              <a:rPr lang="zh-CN" altLang="en-US" sz="2800" dirty="0" smtClean="0"/>
              <a:t>使用 </a:t>
            </a:r>
            <a:r>
              <a:rPr lang="en-US" altLang="zh-CN" sz="2800" dirty="0" err="1" smtClean="0"/>
              <a:t>javax.persistence.Query</a:t>
            </a:r>
            <a:r>
              <a:rPr lang="zh-CN" altLang="en-US" sz="2800" dirty="0" smtClean="0"/>
              <a:t>接口代表一个查询实例</a:t>
            </a:r>
            <a:endParaRPr lang="zh-CN" altLang="en-US" sz="2800" dirty="0" smtClean="0"/>
          </a:p>
          <a:p>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a:t>
            </a:r>
            <a:r>
              <a:rPr lang="zh-CN" altLang="en-US" dirty="0"/>
              <a:t>创建</a:t>
            </a:r>
            <a:r>
              <a:rPr lang="en-US" altLang="zh-CN" dirty="0"/>
              <a:t>Query</a:t>
            </a:r>
            <a:r>
              <a:rPr lang="zh-CN" altLang="en-US" dirty="0"/>
              <a:t>实例</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sz="2800" dirty="0" smtClean="0"/>
              <a:t>通过</a:t>
            </a:r>
            <a:r>
              <a:rPr lang="en-US" altLang="zh-CN" sz="2800" dirty="0" err="1" smtClean="0"/>
              <a:t>EntityManager</a:t>
            </a:r>
            <a:r>
              <a:rPr lang="zh-CN" altLang="en-US" sz="2800" dirty="0" smtClean="0"/>
              <a:t>来生成</a:t>
            </a:r>
            <a:r>
              <a:rPr lang="en-US" altLang="zh-CN" sz="2800" dirty="0" smtClean="0"/>
              <a:t>Query</a:t>
            </a:r>
            <a:r>
              <a:rPr lang="zh-CN" altLang="en-US" sz="2800" dirty="0" smtClean="0"/>
              <a:t>实例：</a:t>
            </a:r>
            <a:endParaRPr lang="en-US" altLang="zh-CN" sz="2800" dirty="0"/>
          </a:p>
          <a:p>
            <a:pPr lvl="1">
              <a:buFont typeface="Wingdings" panose="05000000000000000000" pitchFamily="2" charset="2"/>
              <a:buChar char="u"/>
            </a:pPr>
            <a:r>
              <a:rPr lang="en-US" altLang="zh-CN" sz="2400" dirty="0" err="1" smtClean="0"/>
              <a:t>EntityManager</a:t>
            </a:r>
            <a:r>
              <a:rPr lang="zh-CN" altLang="en-US" sz="2400" dirty="0" smtClean="0"/>
              <a:t>提供的使用</a:t>
            </a:r>
            <a:r>
              <a:rPr lang="en-US" altLang="zh-CN" sz="2400" dirty="0" smtClean="0"/>
              <a:t>JPQL</a:t>
            </a:r>
            <a:r>
              <a:rPr lang="zh-CN" altLang="en-US" sz="2400" dirty="0" smtClean="0"/>
              <a:t>（或原生</a:t>
            </a:r>
            <a:r>
              <a:rPr lang="en-US" altLang="zh-CN" sz="2400" dirty="0" smtClean="0"/>
              <a:t>SQL</a:t>
            </a:r>
            <a:r>
              <a:rPr lang="zh-CN" altLang="en-US" sz="2400" dirty="0" smtClean="0"/>
              <a:t>）创建</a:t>
            </a:r>
            <a:r>
              <a:rPr lang="en-US" altLang="zh-CN" sz="2400" dirty="0" smtClean="0"/>
              <a:t>Query</a:t>
            </a:r>
            <a:r>
              <a:rPr lang="zh-CN" altLang="en-US" sz="2400" dirty="0" smtClean="0"/>
              <a:t>的方法</a:t>
            </a:r>
            <a:endParaRPr lang="zh-CN" altLang="en-US" sz="2400"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7600" y="2331720"/>
            <a:ext cx="9447530" cy="357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a:t>
            </a:r>
            <a:r>
              <a:rPr lang="zh-CN" altLang="en-US" dirty="0"/>
              <a:t>使用</a:t>
            </a:r>
            <a:r>
              <a:rPr lang="en-US" altLang="zh-CN" dirty="0"/>
              <a:t>Query</a:t>
            </a:r>
            <a:r>
              <a:rPr lang="zh-CN" altLang="en-US" dirty="0"/>
              <a:t>接口</a:t>
            </a:r>
            <a:endParaRPr lang="zh-CN" altLang="en-US" dirty="0"/>
          </a:p>
        </p:txBody>
      </p:sp>
      <p:sp>
        <p:nvSpPr>
          <p:cNvPr id="3" name="内容占位符 2"/>
          <p:cNvSpPr>
            <a:spLocks noGrp="1"/>
          </p:cNvSpPr>
          <p:nvPr>
            <p:ph idx="1"/>
          </p:nvPr>
        </p:nvSpPr>
        <p:spPr/>
        <p:txBody>
          <a:bodyPr>
            <a:normAutofit lnSpcReduction="10000"/>
          </a:bodyPr>
          <a:lstStyle/>
          <a:p>
            <a:pPr>
              <a:buFont typeface="Wingdings" panose="05000000000000000000" pitchFamily="2" charset="2"/>
              <a:buChar char="u"/>
            </a:pPr>
            <a:r>
              <a:rPr lang="zh-CN" altLang="en-US" dirty="0" smtClean="0">
                <a:latin typeface="宋体" panose="02010600030101010101" pitchFamily="2" charset="-122"/>
                <a:ea typeface="宋体" panose="02010600030101010101" pitchFamily="2" charset="-122"/>
              </a:rPr>
              <a:t>Q</a:t>
            </a:r>
            <a:r>
              <a:rPr lang="en-US" altLang="zh-CN" dirty="0" err="1" smtClean="0">
                <a:latin typeface="宋体" panose="02010600030101010101" pitchFamily="2" charset="-122"/>
                <a:ea typeface="宋体" panose="02010600030101010101" pitchFamily="2" charset="-122"/>
              </a:rPr>
              <a:t>uery</a:t>
            </a:r>
            <a:r>
              <a:rPr lang="zh-CN" altLang="zh-CN" dirty="0" smtClean="0">
                <a:latin typeface="宋体" panose="02010600030101010101" pitchFamily="2" charset="-122"/>
                <a:ea typeface="宋体" panose="02010600030101010101" pitchFamily="2" charset="-122"/>
              </a:rPr>
              <a:t>接口执行数据查询的</a:t>
            </a:r>
            <a:r>
              <a:rPr lang="zh-CN" altLang="en-US" dirty="0" smtClean="0">
                <a:latin typeface="宋体" panose="02010600030101010101" pitchFamily="2" charset="-122"/>
                <a:ea typeface="宋体" panose="02010600030101010101" pitchFamily="2" charset="-122"/>
              </a:rPr>
              <a:t>部分</a:t>
            </a:r>
            <a:r>
              <a:rPr lang="zh-CN" altLang="zh-CN" dirty="0" smtClean="0">
                <a:latin typeface="宋体" panose="02010600030101010101" pitchFamily="2" charset="-122"/>
                <a:ea typeface="宋体" panose="02010600030101010101" pitchFamily="2" charset="-122"/>
              </a:rPr>
              <a:t>方法</a:t>
            </a:r>
            <a:r>
              <a:rPr lang="zh-CN" altLang="en-US" b="0" dirty="0" smtClean="0">
                <a:latin typeface="宋体" panose="02010600030101010101" pitchFamily="2" charset="-122"/>
                <a:ea typeface="宋体" panose="02010600030101010101" pitchFamily="2" charset="-122"/>
              </a:rPr>
              <a:t>：</a:t>
            </a:r>
            <a:endParaRPr lang="en-US" altLang="zh-CN" b="0" dirty="0" smtClean="0">
              <a:latin typeface="宋体" panose="02010600030101010101" pitchFamily="2" charset="-122"/>
              <a:ea typeface="宋体" panose="02010600030101010101" pitchFamily="2" charset="-122"/>
            </a:endParaRPr>
          </a:p>
          <a:p>
            <a:pPr lvl="1"/>
            <a:r>
              <a:rPr lang="en-US" altLang="zh-CN" dirty="0" err="1" smtClean="0">
                <a:latin typeface="宋体" panose="02010600030101010101" pitchFamily="2" charset="-122"/>
                <a:ea typeface="宋体" panose="02010600030101010101" pitchFamily="2" charset="-122"/>
              </a:rPr>
              <a:t>getSingleResult</a:t>
            </a:r>
            <a:r>
              <a:rPr lang="en-US" altLang="zh-CN" b="0" dirty="0" smtClean="0">
                <a:latin typeface="宋体" panose="02010600030101010101" pitchFamily="2" charset="-122"/>
                <a:ea typeface="宋体" panose="02010600030101010101" pitchFamily="2" charset="-122"/>
              </a:rPr>
              <a:t>()</a:t>
            </a:r>
            <a:r>
              <a:rPr lang="zh-CN" altLang="en-US" b="0" dirty="0" smtClean="0">
                <a:latin typeface="宋体" panose="02010600030101010101" pitchFamily="2" charset="-122"/>
                <a:ea typeface="宋体" panose="02010600030101010101" pitchFamily="2" charset="-122"/>
              </a:rPr>
              <a:t>：</a:t>
            </a:r>
            <a:r>
              <a:rPr lang="zh-CN" altLang="zh-CN" b="0" dirty="0" smtClean="0">
                <a:latin typeface="宋体" panose="02010600030101010101" pitchFamily="2" charset="-122"/>
                <a:ea typeface="宋体" panose="02010600030101010101" pitchFamily="2" charset="-122"/>
              </a:rPr>
              <a:t>单一查询结果</a:t>
            </a:r>
            <a:endParaRPr lang="en-US" altLang="zh-CN" b="0" dirty="0" smtClean="0">
              <a:latin typeface="宋体" panose="02010600030101010101" pitchFamily="2" charset="-122"/>
              <a:ea typeface="宋体" panose="02010600030101010101" pitchFamily="2" charset="-122"/>
            </a:endParaRPr>
          </a:p>
          <a:p>
            <a:pPr lvl="1"/>
            <a:r>
              <a:rPr lang="en-US" altLang="zh-CN" dirty="0" err="1" smtClean="0">
                <a:latin typeface="宋体" panose="02010600030101010101" pitchFamily="2" charset="-122"/>
                <a:ea typeface="宋体" panose="02010600030101010101" pitchFamily="2" charset="-122"/>
              </a:rPr>
              <a:t>getResultList</a:t>
            </a:r>
            <a:r>
              <a:rPr lang="en-US" altLang="zh-CN" b="0" dirty="0" smtClean="0">
                <a:latin typeface="宋体" panose="02010600030101010101" pitchFamily="2" charset="-122"/>
                <a:ea typeface="宋体" panose="02010600030101010101" pitchFamily="2" charset="-122"/>
              </a:rPr>
              <a:t>()</a:t>
            </a:r>
            <a:r>
              <a:rPr lang="zh-CN" altLang="en-US" b="0" dirty="0" smtClean="0">
                <a:latin typeface="宋体" panose="02010600030101010101" pitchFamily="2" charset="-122"/>
                <a:ea typeface="宋体" panose="02010600030101010101" pitchFamily="2" charset="-122"/>
              </a:rPr>
              <a:t>：</a:t>
            </a:r>
            <a:r>
              <a:rPr lang="zh-CN" altLang="zh-CN" b="0" dirty="0" smtClean="0">
                <a:latin typeface="宋体" panose="02010600030101010101" pitchFamily="2" charset="-122"/>
                <a:ea typeface="宋体" panose="02010600030101010101" pitchFamily="2" charset="-122"/>
              </a:rPr>
              <a:t>多个查询结果</a:t>
            </a:r>
            <a:endParaRPr lang="en-US" altLang="zh-CN" b="0" dirty="0" smtClean="0">
              <a:latin typeface="宋体" panose="02010600030101010101" pitchFamily="2" charset="-122"/>
              <a:ea typeface="宋体" panose="02010600030101010101" pitchFamily="2" charset="-122"/>
            </a:endParaRPr>
          </a:p>
          <a:p>
            <a:pPr lvl="1"/>
            <a:r>
              <a:rPr lang="en-US" altLang="zh-CN" dirty="0" err="1" smtClean="0">
                <a:latin typeface="宋体" panose="02010600030101010101" pitchFamily="2" charset="-122"/>
                <a:ea typeface="宋体" panose="02010600030101010101" pitchFamily="2" charset="-122"/>
              </a:rPr>
              <a:t>setParameter</a:t>
            </a:r>
            <a:r>
              <a:rPr lang="zh-CN" altLang="en-US" b="0" dirty="0" smtClean="0">
                <a:latin typeface="宋体" panose="02010600030101010101" pitchFamily="2" charset="-122"/>
                <a:ea typeface="宋体" panose="02010600030101010101" pitchFamily="2" charset="-122"/>
              </a:rPr>
              <a:t>：</a:t>
            </a:r>
            <a:endParaRPr lang="zh-CN" altLang="en-US" b="0" dirty="0" smtClean="0">
              <a:latin typeface="宋体" panose="02010600030101010101" pitchFamily="2" charset="-122"/>
              <a:ea typeface="宋体" panose="02010600030101010101" pitchFamily="2" charset="-122"/>
            </a:endParaRPr>
          </a:p>
          <a:p>
            <a:pPr lvl="2"/>
            <a:r>
              <a:rPr lang="en-US" altLang="zh-CN" sz="2000" b="0" dirty="0" smtClean="0">
                <a:latin typeface="宋体" panose="02010600030101010101" pitchFamily="2" charset="-122"/>
                <a:ea typeface="宋体" panose="02010600030101010101" pitchFamily="2" charset="-122"/>
              </a:rPr>
              <a:t>Query </a:t>
            </a:r>
            <a:r>
              <a:rPr lang="en-US" altLang="zh-CN" sz="2000" b="0" dirty="0" err="1" smtClean="0">
                <a:latin typeface="宋体" panose="02010600030101010101" pitchFamily="2" charset="-122"/>
                <a:ea typeface="宋体" panose="02010600030101010101" pitchFamily="2" charset="-122"/>
              </a:rPr>
              <a:t>setParameter</a:t>
            </a:r>
            <a:r>
              <a:rPr lang="en-US" altLang="zh-CN" sz="2000" b="0" dirty="0" smtClean="0">
                <a:latin typeface="宋体" panose="02010600030101010101" pitchFamily="2" charset="-122"/>
                <a:ea typeface="宋体" panose="02010600030101010101" pitchFamily="2" charset="-122"/>
              </a:rPr>
              <a:t>(</a:t>
            </a:r>
            <a:r>
              <a:rPr lang="en-US" altLang="zh-CN" sz="2000" b="0" dirty="0" err="1" smtClean="0">
                <a:latin typeface="宋体" panose="02010600030101010101" pitchFamily="2" charset="-122"/>
                <a:ea typeface="宋体" panose="02010600030101010101" pitchFamily="2" charset="-122"/>
              </a:rPr>
              <a:t>int</a:t>
            </a:r>
            <a:r>
              <a:rPr lang="en-US" altLang="zh-CN" sz="2000" b="0" dirty="0" smtClean="0">
                <a:latin typeface="宋体" panose="02010600030101010101" pitchFamily="2" charset="-122"/>
                <a:ea typeface="宋体" panose="02010600030101010101" pitchFamily="2" charset="-122"/>
              </a:rPr>
              <a:t> position, Object value)</a:t>
            </a:r>
            <a:r>
              <a:rPr lang="zh-CN" altLang="en-US" sz="2000" b="0" dirty="0" smtClean="0">
                <a:latin typeface="宋体" panose="02010600030101010101" pitchFamily="2" charset="-122"/>
                <a:ea typeface="宋体" panose="02010600030101010101" pitchFamily="2" charset="-122"/>
              </a:rPr>
              <a:t>：</a:t>
            </a:r>
            <a:r>
              <a:rPr lang="zh-CN" altLang="zh-CN" sz="2000" b="0" dirty="0" smtClean="0">
                <a:latin typeface="宋体" panose="02010600030101010101" pitchFamily="2" charset="-122"/>
                <a:ea typeface="宋体" panose="02010600030101010101" pitchFamily="2" charset="-122"/>
              </a:rPr>
              <a:t>通过参数位置号绑定查询语句中的参数</a:t>
            </a:r>
            <a:endParaRPr lang="en-US" altLang="zh-CN" sz="2000" b="0" dirty="0" smtClean="0">
              <a:latin typeface="宋体" panose="02010600030101010101" pitchFamily="2" charset="-122"/>
              <a:ea typeface="宋体" panose="02010600030101010101" pitchFamily="2" charset="-122"/>
            </a:endParaRPr>
          </a:p>
          <a:p>
            <a:pPr lvl="2"/>
            <a:r>
              <a:rPr lang="en-US" altLang="zh-CN" sz="2000" b="0" dirty="0" smtClean="0">
                <a:latin typeface="宋体" panose="02010600030101010101" pitchFamily="2" charset="-122"/>
                <a:ea typeface="宋体" panose="02010600030101010101" pitchFamily="2" charset="-122"/>
              </a:rPr>
              <a:t>Query </a:t>
            </a:r>
            <a:r>
              <a:rPr lang="en-US" altLang="zh-CN" sz="2000" b="0" dirty="0" err="1" smtClean="0">
                <a:latin typeface="宋体" panose="02010600030101010101" pitchFamily="2" charset="-122"/>
                <a:ea typeface="宋体" panose="02010600030101010101" pitchFamily="2" charset="-122"/>
              </a:rPr>
              <a:t>setParameter</a:t>
            </a:r>
            <a:r>
              <a:rPr lang="en-US" altLang="zh-CN" sz="2000" b="0" dirty="0" smtClean="0">
                <a:latin typeface="宋体" panose="02010600030101010101" pitchFamily="2" charset="-122"/>
                <a:ea typeface="宋体" panose="02010600030101010101" pitchFamily="2" charset="-122"/>
              </a:rPr>
              <a:t>(String name, Object value)</a:t>
            </a:r>
            <a:r>
              <a:rPr lang="zh-CN" altLang="en-US" sz="2000" b="0" dirty="0" smtClean="0">
                <a:latin typeface="宋体" panose="02010600030101010101" pitchFamily="2" charset="-122"/>
                <a:ea typeface="宋体" panose="02010600030101010101" pitchFamily="2" charset="-122"/>
              </a:rPr>
              <a:t>：</a:t>
            </a:r>
            <a:r>
              <a:rPr lang="zh-CN" altLang="zh-CN" sz="2000" b="0" dirty="0" smtClean="0">
                <a:latin typeface="宋体" panose="02010600030101010101" pitchFamily="2" charset="-122"/>
                <a:ea typeface="宋体" panose="02010600030101010101" pitchFamily="2" charset="-122"/>
              </a:rPr>
              <a:t>绑定命名参数</a:t>
            </a:r>
            <a:endParaRPr lang="en-US" altLang="zh-CN" sz="2000" b="0" dirty="0" smtClean="0">
              <a:latin typeface="宋体" panose="02010600030101010101" pitchFamily="2" charset="-122"/>
              <a:ea typeface="宋体" panose="02010600030101010101" pitchFamily="2" charset="-122"/>
            </a:endParaRPr>
          </a:p>
          <a:p>
            <a:pPr lvl="1"/>
            <a:r>
              <a:rPr lang="en-US" altLang="zh-CN" dirty="0" err="1" smtClean="0">
                <a:latin typeface="宋体" panose="02010600030101010101" pitchFamily="2" charset="-122"/>
                <a:ea typeface="宋体" panose="02010600030101010101" pitchFamily="2" charset="-122"/>
              </a:rPr>
              <a:t>setMaxResults</a:t>
            </a:r>
            <a:r>
              <a:rPr lang="zh-CN" altLang="en-US" b="0" dirty="0" smtClean="0">
                <a:latin typeface="宋体" panose="02010600030101010101" pitchFamily="2" charset="-122"/>
                <a:ea typeface="宋体" panose="02010600030101010101" pitchFamily="2" charset="-122"/>
              </a:rPr>
              <a:t>：</a:t>
            </a:r>
            <a:r>
              <a:rPr lang="zh-CN" altLang="zh-CN" b="0" dirty="0" smtClean="0">
                <a:latin typeface="宋体" panose="02010600030101010101" pitchFamily="2" charset="-122"/>
                <a:ea typeface="宋体" panose="02010600030101010101" pitchFamily="2" charset="-122"/>
              </a:rPr>
              <a:t>设置返回的最大结果数</a:t>
            </a:r>
            <a:endParaRPr lang="en-US" altLang="zh-CN" b="0" dirty="0" smtClean="0">
              <a:latin typeface="宋体" panose="02010600030101010101" pitchFamily="2" charset="-122"/>
              <a:ea typeface="宋体" panose="02010600030101010101" pitchFamily="2" charset="-122"/>
            </a:endParaRPr>
          </a:p>
          <a:p>
            <a:pPr lvl="1"/>
            <a:r>
              <a:rPr lang="en-US" altLang="zh-CN" dirty="0" err="1" smtClean="0">
                <a:latin typeface="宋体" panose="02010600030101010101" pitchFamily="2" charset="-122"/>
                <a:ea typeface="宋体" panose="02010600030101010101" pitchFamily="2" charset="-122"/>
              </a:rPr>
              <a:t>executeUpdate</a:t>
            </a:r>
            <a:r>
              <a:rPr lang="zh-CN" altLang="en-US" b="0" dirty="0" smtClean="0">
                <a:latin typeface="宋体" panose="02010600030101010101" pitchFamily="2" charset="-122"/>
                <a:ea typeface="宋体" panose="02010600030101010101" pitchFamily="2" charset="-122"/>
              </a:rPr>
              <a:t>：</a:t>
            </a:r>
            <a:r>
              <a:rPr lang="zh-CN" altLang="zh-CN" b="0" dirty="0" smtClean="0">
                <a:latin typeface="宋体" panose="02010600030101010101" pitchFamily="2" charset="-122"/>
                <a:ea typeface="宋体" panose="02010600030101010101" pitchFamily="2" charset="-122"/>
              </a:rPr>
              <a:t>新增、删除或更改的语句，通过该方法执行</a:t>
            </a:r>
            <a:endParaRPr lang="en-US" altLang="zh-CN" b="0" dirty="0" smtClean="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JPQL</a:t>
            </a:r>
            <a:r>
              <a:rPr lang="zh-CN" altLang="en-US" dirty="0"/>
              <a:t>示例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UserDao.java —</a:t>
            </a:r>
            <a:r>
              <a:rPr lang="zh-CN" altLang="en-US" dirty="0" smtClean="0"/>
              <a:t>查询</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624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395" y="4295140"/>
            <a:ext cx="11457305" cy="71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920" y="1735455"/>
            <a:ext cx="7781290" cy="1786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2" y="5705121"/>
            <a:ext cx="4147661"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03507" y="3522211"/>
            <a:ext cx="1407160" cy="460375"/>
          </a:xfrm>
          <a:prstGeom prst="rect">
            <a:avLst/>
          </a:prstGeom>
          <a:noFill/>
        </p:spPr>
        <p:txBody>
          <a:bodyPr wrap="none" rtlCol="0">
            <a:spAutoFit/>
          </a:bodyPr>
          <a:lstStyle/>
          <a:p>
            <a:r>
              <a:rPr lang="zh-CN" altLang="en-US" sz="2400" b="1" dirty="0" smtClean="0"/>
              <a:t>返回多值</a:t>
            </a:r>
            <a:endParaRPr lang="zh-CN" altLang="en-US" sz="2400" b="1" dirty="0"/>
          </a:p>
        </p:txBody>
      </p:sp>
      <p:sp>
        <p:nvSpPr>
          <p:cNvPr id="9" name="TextBox 8"/>
          <p:cNvSpPr txBox="1"/>
          <p:nvPr/>
        </p:nvSpPr>
        <p:spPr>
          <a:xfrm>
            <a:off x="1645722" y="5083765"/>
            <a:ext cx="2019300" cy="460375"/>
          </a:xfrm>
          <a:prstGeom prst="rect">
            <a:avLst/>
          </a:prstGeom>
          <a:noFill/>
        </p:spPr>
        <p:txBody>
          <a:bodyPr wrap="none" rtlCol="0">
            <a:spAutoFit/>
          </a:bodyPr>
          <a:lstStyle/>
          <a:p>
            <a:r>
              <a:rPr lang="zh-CN" altLang="en-US" sz="2400" b="1" dirty="0" smtClean="0"/>
              <a:t>确定返回单值</a:t>
            </a:r>
            <a:endParaRPr lang="zh-CN" altLang="en-US" sz="2400" b="1" dirty="0"/>
          </a:p>
        </p:txBody>
      </p:sp>
      <p:sp>
        <p:nvSpPr>
          <p:cNvPr id="10" name="线形标注 1(带强调线) 9"/>
          <p:cNvSpPr/>
          <p:nvPr/>
        </p:nvSpPr>
        <p:spPr>
          <a:xfrm>
            <a:off x="7752184" y="2928520"/>
            <a:ext cx="1584176" cy="288032"/>
          </a:xfrm>
          <a:prstGeom prst="accentCallout1">
            <a:avLst>
              <a:gd name="adj1" fmla="val 18750"/>
              <a:gd name="adj2" fmla="val -8333"/>
              <a:gd name="adj3" fmla="val -69923"/>
              <a:gd name="adj4" fmla="val -2403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400" b="1" dirty="0" smtClean="0"/>
              <a:t>JPQL</a:t>
            </a:r>
            <a:endParaRPr lang="en-US" altLang="zh-CN" sz="2400" b="1"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4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2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JPQL</a:t>
            </a:r>
            <a:r>
              <a:rPr lang="zh-CN" altLang="en-US" dirty="0" smtClean="0"/>
              <a:t>基础</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en-US" altLang="zh-CN" sz="2800" dirty="0" smtClean="0"/>
              <a:t>JPQL</a:t>
            </a:r>
            <a:r>
              <a:rPr lang="zh-CN" altLang="en-US" sz="2800" dirty="0" smtClean="0"/>
              <a:t>支持三种语句类型，可以在查询中使用</a:t>
            </a:r>
            <a:r>
              <a:rPr lang="en-US" altLang="zh-CN" sz="2800" dirty="0" smtClean="0"/>
              <a:t>JPQL</a:t>
            </a:r>
            <a:r>
              <a:rPr lang="zh-CN" altLang="en-US" sz="2800" dirty="0" smtClean="0"/>
              <a:t>执行选择、更新、删除操作：</a:t>
            </a:r>
            <a:endParaRPr lang="zh-CN" altLang="en-US" sz="2800" dirty="0" smtClean="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6" name="矩形 5"/>
          <p:cNvSpPr/>
          <p:nvPr/>
        </p:nvSpPr>
        <p:spPr>
          <a:xfrm>
            <a:off x="623501" y="2708885"/>
            <a:ext cx="2635250" cy="460375"/>
          </a:xfrm>
          <a:prstGeom prst="rect">
            <a:avLst/>
          </a:prstGeom>
        </p:spPr>
        <p:txBody>
          <a:bodyPr wrap="none">
            <a:spAutoFit/>
          </a:bodyPr>
          <a:lstStyle/>
          <a:p>
            <a:r>
              <a:rPr lang="zh-CN" altLang="en-US" sz="2400" b="1" dirty="0">
                <a:latin typeface="宋体" panose="02010600030101010101" pitchFamily="2" charset="-122"/>
              </a:rPr>
              <a:t>定义和使用</a:t>
            </a:r>
            <a:r>
              <a:rPr lang="en-US" altLang="zh-CN" sz="2400" b="1" dirty="0">
                <a:latin typeface="宋体" panose="02010600030101010101" pitchFamily="2" charset="-122"/>
              </a:rPr>
              <a:t>Select</a:t>
            </a:r>
            <a:endParaRPr lang="zh-CN" altLang="en-US" sz="2400" b="1" dirty="0"/>
          </a:p>
        </p:txBody>
      </p:sp>
      <p:pic>
        <p:nvPicPr>
          <p:cNvPr id="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50920" y="1777365"/>
            <a:ext cx="7070090" cy="4660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fr-FR" altLang="zh-CN" dirty="0"/>
              <a:t>JPQL--</a:t>
            </a:r>
            <a:r>
              <a:rPr lang="zh-CN" altLang="en-US" dirty="0"/>
              <a:t>条件表达式和操作</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81472" y="1340768"/>
            <a:ext cx="87630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a:t>
            </a:r>
            <a:r>
              <a:rPr lang="zh-CN" altLang="en-US" dirty="0"/>
              <a:t>使用</a:t>
            </a:r>
            <a:r>
              <a:rPr lang="en-US" altLang="zh-CN" dirty="0"/>
              <a:t>JPQL</a:t>
            </a:r>
            <a:r>
              <a:rPr lang="zh-CN" altLang="en-US" dirty="0"/>
              <a:t>函数</a:t>
            </a:r>
            <a:endParaRPr lang="zh-CN" altLang="en-US" dirty="0"/>
          </a:p>
        </p:txBody>
      </p:sp>
      <p:sp>
        <p:nvSpPr>
          <p:cNvPr id="3" name="内容占位符 2"/>
          <p:cNvSpPr>
            <a:spLocks noGrp="1"/>
          </p:cNvSpPr>
          <p:nvPr>
            <p:ph idx="1"/>
          </p:nvPr>
        </p:nvSpPr>
        <p:spPr>
          <a:xfrm>
            <a:off x="336550" y="1135380"/>
            <a:ext cx="11142345" cy="5113020"/>
          </a:xfrm>
        </p:spPr>
        <p:txBody>
          <a:bodyPr/>
          <a:lstStyle/>
          <a:p>
            <a:pPr>
              <a:buFont typeface="Wingdings" panose="05000000000000000000" pitchFamily="2" charset="2"/>
              <a:buChar char="u"/>
            </a:pPr>
            <a:r>
              <a:rPr lang="zh-CN" altLang="en-US" dirty="0" smtClean="0"/>
              <a:t>字符串函数</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5605" y="1661160"/>
            <a:ext cx="9649460" cy="513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a:t>
            </a:r>
            <a:r>
              <a:rPr lang="zh-CN" altLang="en-US" dirty="0"/>
              <a:t>使用</a:t>
            </a:r>
            <a:r>
              <a:rPr lang="en-US" altLang="zh-CN" dirty="0"/>
              <a:t>JPQL</a:t>
            </a:r>
            <a:r>
              <a:rPr lang="zh-CN" altLang="en-US" dirty="0"/>
              <a:t>函数</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sz="2800" dirty="0" smtClean="0"/>
              <a:t>算数函数</a:t>
            </a:r>
            <a:endParaRPr lang="en-US" altLang="zh-CN" sz="2800" dirty="0" smtClean="0"/>
          </a:p>
          <a:p>
            <a:endParaRPr lang="en-US" altLang="zh-CN" sz="2800" dirty="0"/>
          </a:p>
          <a:p>
            <a:endParaRPr lang="en-US" altLang="zh-CN" sz="2800" dirty="0" smtClean="0"/>
          </a:p>
          <a:p>
            <a:endParaRPr lang="en-US" altLang="zh-CN" sz="2800" dirty="0" smtClean="0"/>
          </a:p>
          <a:p>
            <a:pPr>
              <a:buFont typeface="Wingdings" panose="05000000000000000000" pitchFamily="2" charset="2"/>
              <a:buChar char="u"/>
            </a:pPr>
            <a:r>
              <a:rPr lang="zh-CN" altLang="en-US" sz="2800" dirty="0"/>
              <a:t>时间函数</a:t>
            </a:r>
            <a:endParaRPr lang="zh-CN" altLang="en-US" sz="2800"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pic>
        <p:nvPicPr>
          <p:cNvPr id="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3750" y="1916113"/>
            <a:ext cx="80010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4149725"/>
            <a:ext cx="710565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a:t>
            </a:r>
            <a:r>
              <a:rPr lang="zh-CN" altLang="en-US" dirty="0"/>
              <a:t>投影</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6" name="内容占位符 2"/>
          <p:cNvSpPr>
            <a:spLocks noGrp="1"/>
          </p:cNvSpPr>
          <p:nvPr>
            <p:ph idx="1"/>
          </p:nvPr>
        </p:nvSpPr>
        <p:spPr>
          <a:xfrm>
            <a:off x="153035" y="1135380"/>
            <a:ext cx="11613515" cy="5113020"/>
          </a:xfrm>
        </p:spPr>
        <p:txBody>
          <a:bodyPr/>
          <a:lstStyle/>
          <a:p>
            <a:pPr>
              <a:buFont typeface="Wingdings" panose="05000000000000000000" pitchFamily="2" charset="2"/>
              <a:buChar char="u"/>
            </a:pPr>
            <a:r>
              <a:rPr lang="zh-CN" altLang="en-US" dirty="0" smtClean="0"/>
              <a:t>构造器函数</a:t>
            </a:r>
            <a:endParaRPr lang="en-US" altLang="zh-CN" dirty="0" smtClean="0"/>
          </a:p>
          <a:p>
            <a:pPr lvl="1">
              <a:buFont typeface="Wingdings" panose="05000000000000000000" pitchFamily="2" charset="2"/>
              <a:buChar char="u"/>
            </a:pPr>
            <a:r>
              <a:rPr lang="zh-CN" altLang="en-US" dirty="0" smtClean="0"/>
              <a:t>你可以创建一个新的对象作为查询结果。这个对象不要求是实体，但要有一个构造器，它的顺序和类型与</a:t>
            </a:r>
            <a:r>
              <a:rPr lang="en-US" altLang="zh-CN" dirty="0" smtClean="0"/>
              <a:t>SELECT </a:t>
            </a:r>
            <a:r>
              <a:rPr lang="zh-CN" altLang="en-US" dirty="0" smtClean="0"/>
              <a:t>语句一致。</a:t>
            </a:r>
            <a:endParaRPr lang="en-US" altLang="zh-CN" dirty="0" smtClean="0"/>
          </a:p>
          <a:p>
            <a:pPr>
              <a:buFont typeface="Wingdings" panose="05000000000000000000" pitchFamily="2" charset="2"/>
              <a:buChar char="u"/>
            </a:pPr>
            <a:r>
              <a:rPr lang="zh-CN" altLang="en-US" dirty="0" smtClean="0"/>
              <a:t>例</a:t>
            </a:r>
            <a:endParaRPr lang="en-US" altLang="zh-CN" dirty="0" smtClean="0"/>
          </a:p>
        </p:txBody>
      </p:sp>
      <p:pic>
        <p:nvPicPr>
          <p:cNvPr id="634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8715" y="2852420"/>
            <a:ext cx="10640060" cy="1547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900586" y="4574238"/>
            <a:ext cx="6580505" cy="460375"/>
          </a:xfrm>
          <a:prstGeom prst="rect">
            <a:avLst/>
          </a:prstGeom>
          <a:noFill/>
        </p:spPr>
        <p:txBody>
          <a:bodyPr wrap="square" rtlCol="0">
            <a:spAutoFit/>
          </a:bodyPr>
          <a:lstStyle/>
          <a:p>
            <a:r>
              <a:rPr lang="zh-CN" altLang="en-US" sz="2400" b="1" dirty="0" smtClean="0"/>
              <a:t>前提：</a:t>
            </a:r>
            <a:r>
              <a:rPr lang="en-US" altLang="zh-CN" sz="2400" b="1" dirty="0" smtClean="0"/>
              <a:t>User</a:t>
            </a:r>
            <a:r>
              <a:rPr lang="zh-CN" altLang="en-US" sz="2400" b="1" dirty="0" smtClean="0"/>
              <a:t>类中有一个带有</a:t>
            </a:r>
            <a:r>
              <a:rPr lang="zh-CN" altLang="en-US" sz="2400" b="1" dirty="0" smtClean="0">
                <a:solidFill>
                  <a:srgbClr val="FF0000"/>
                </a:solidFill>
              </a:rPr>
              <a:t>三个参数</a:t>
            </a:r>
            <a:r>
              <a:rPr lang="zh-CN" altLang="en-US" sz="2400" b="1" dirty="0" smtClean="0"/>
              <a:t>的构造函数</a:t>
            </a:r>
            <a:endParaRPr lang="zh-CN" altLang="en-US" sz="2400" b="1" dirty="0"/>
          </a:p>
        </p:txBody>
      </p:sp>
      <p:sp>
        <p:nvSpPr>
          <p:cNvPr id="3" name="TextBox 6"/>
          <p:cNvSpPr txBox="1"/>
          <p:nvPr/>
        </p:nvSpPr>
        <p:spPr>
          <a:xfrm>
            <a:off x="2253615" y="5034915"/>
            <a:ext cx="7310755" cy="1568450"/>
          </a:xfrm>
          <a:prstGeom prst="rect">
            <a:avLst/>
          </a:prstGeom>
          <a:noFill/>
        </p:spPr>
        <p:txBody>
          <a:bodyPr wrap="square" rtlCol="0">
            <a:spAutoFit/>
          </a:bodyPr>
          <a:p>
            <a:r>
              <a:rPr lang="en-US" sz="2400" b="1" dirty="0" smtClean="0"/>
              <a:t>public class User{</a:t>
            </a:r>
            <a:r>
              <a:rPr lang="en-US" sz="2400" b="1" dirty="0" smtClean="0">
                <a:sym typeface="+mn-ea"/>
              </a:rPr>
              <a:t>……</a:t>
            </a:r>
            <a:br>
              <a:rPr lang="en-US" sz="2400" b="1" dirty="0" smtClean="0"/>
            </a:br>
            <a:r>
              <a:rPr lang="en-US" sz="2400" b="1" dirty="0" smtClean="0"/>
              <a:t>    public </a:t>
            </a:r>
            <a:r>
              <a:rPr lang="en-US" sz="2400" b="1" dirty="0" smtClean="0">
                <a:solidFill>
                  <a:srgbClr val="FF0000"/>
                </a:solidFill>
              </a:rPr>
              <a:t>User(String name, String email, int age)</a:t>
            </a:r>
            <a:r>
              <a:rPr lang="en-US" sz="2400" b="1" dirty="0" smtClean="0"/>
              <a:t>{……</a:t>
            </a:r>
            <a:br>
              <a:rPr lang="en-US" sz="2400" b="1" dirty="0" smtClean="0"/>
            </a:br>
            <a:r>
              <a:rPr lang="en-US" sz="2400" b="1" dirty="0" smtClean="0"/>
              <a:t>    }</a:t>
            </a:r>
            <a:endParaRPr lang="en-US" sz="2400" b="1" dirty="0" smtClean="0"/>
          </a:p>
          <a:p>
            <a:r>
              <a:rPr lang="en-US" sz="2400" b="1" dirty="0"/>
              <a:t>}</a:t>
            </a:r>
            <a:endParaRPr lang="en-US" sz="24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JPQL-</a:t>
            </a:r>
            <a:r>
              <a:rPr lang="zh-CN" altLang="en-US" dirty="0" smtClean="0"/>
              <a:t>其它查询</a:t>
            </a:r>
            <a:endParaRPr lang="zh-CN" altLang="en-US" dirty="0"/>
          </a:p>
        </p:txBody>
      </p:sp>
      <p:sp>
        <p:nvSpPr>
          <p:cNvPr id="3" name="内容占位符 2"/>
          <p:cNvSpPr>
            <a:spLocks noGrp="1"/>
          </p:cNvSpPr>
          <p:nvPr>
            <p:ph idx="1"/>
          </p:nvPr>
        </p:nvSpPr>
        <p:spPr>
          <a:xfrm>
            <a:off x="548640" y="1278890"/>
            <a:ext cx="10930255" cy="5113020"/>
          </a:xfrm>
        </p:spPr>
        <p:txBody>
          <a:bodyPr>
            <a:normAutofit fontScale="90000" lnSpcReduction="20000"/>
          </a:bodyPr>
          <a:lstStyle/>
          <a:p>
            <a:pPr>
              <a:buFont typeface="Wingdings" panose="05000000000000000000" pitchFamily="2" charset="2"/>
              <a:buChar char="u"/>
            </a:pPr>
            <a:r>
              <a:rPr lang="zh-CN" altLang="en-US" sz="2825" dirty="0" smtClean="0">
                <a:latin typeface="宋体" panose="02010600030101010101" pitchFamily="2" charset="-122"/>
                <a:ea typeface="宋体" panose="02010600030101010101" pitchFamily="2" charset="-122"/>
              </a:rPr>
              <a:t>使用聚合：</a:t>
            </a:r>
            <a:endParaRPr lang="zh-CN" altLang="en-US" sz="2825" dirty="0" smtClean="0">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聚合函数：</a:t>
            </a:r>
            <a:r>
              <a:rPr lang="en-US" altLang="zh-CN" sz="2825" dirty="0" smtClean="0">
                <a:solidFill>
                  <a:srgbClr val="FF0000"/>
                </a:solidFill>
                <a:latin typeface="宋体" panose="02010600030101010101" pitchFamily="2" charset="-122"/>
                <a:ea typeface="宋体" panose="02010600030101010101" pitchFamily="2" charset="-122"/>
              </a:rPr>
              <a:t>AVG</a:t>
            </a:r>
            <a:r>
              <a:rPr lang="zh-CN" altLang="en-US" sz="2825" dirty="0" smtClean="0">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COUNT</a:t>
            </a:r>
            <a:r>
              <a:rPr lang="zh-CN" altLang="en-US" sz="2825" dirty="0" smtClean="0">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MAX</a:t>
            </a:r>
            <a:r>
              <a:rPr lang="zh-CN" altLang="en-US" sz="2825" dirty="0" smtClean="0">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MIN</a:t>
            </a:r>
            <a:r>
              <a:rPr lang="zh-CN" altLang="en-US" sz="2825" dirty="0" smtClean="0">
                <a:latin typeface="宋体" panose="02010600030101010101" pitchFamily="2" charset="-122"/>
                <a:ea typeface="宋体" panose="02010600030101010101" pitchFamily="2" charset="-122"/>
              </a:rPr>
              <a:t>和</a:t>
            </a:r>
            <a:r>
              <a:rPr lang="en-US" altLang="zh-CN" sz="2825" dirty="0" smtClean="0">
                <a:solidFill>
                  <a:srgbClr val="FF0000"/>
                </a:solidFill>
                <a:latin typeface="宋体" panose="02010600030101010101" pitchFamily="2" charset="-122"/>
                <a:ea typeface="宋体" panose="02010600030101010101" pitchFamily="2" charset="-122"/>
              </a:rPr>
              <a:t>SUM</a:t>
            </a:r>
            <a:endParaRPr lang="en-US" altLang="zh-CN" sz="2825" dirty="0" smtClean="0">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通过</a:t>
            </a:r>
            <a:r>
              <a:rPr lang="en-US" altLang="en-US" sz="2825" dirty="0" smtClean="0">
                <a:solidFill>
                  <a:srgbClr val="FF0000"/>
                </a:solidFill>
                <a:latin typeface="宋体" panose="02010600030101010101" pitchFamily="2" charset="-122"/>
                <a:ea typeface="宋体" panose="02010600030101010101" pitchFamily="2" charset="-122"/>
              </a:rPr>
              <a:t>GROUP </a:t>
            </a:r>
            <a:r>
              <a:rPr lang="en-US" altLang="en-US" sz="2825" dirty="0" err="1" smtClean="0">
                <a:solidFill>
                  <a:srgbClr val="FF0000"/>
                </a:solidFill>
                <a:latin typeface="宋体" panose="02010600030101010101" pitchFamily="2" charset="-122"/>
                <a:ea typeface="宋体" panose="02010600030101010101" pitchFamily="2" charset="-122"/>
              </a:rPr>
              <a:t>BY</a:t>
            </a:r>
            <a:r>
              <a:rPr lang="en-US" altLang="en-US" sz="2825" dirty="0" err="1" smtClean="0">
                <a:latin typeface="宋体" panose="02010600030101010101" pitchFamily="2" charset="-122"/>
                <a:ea typeface="宋体" panose="02010600030101010101" pitchFamily="2" charset="-122"/>
              </a:rPr>
              <a:t>和</a:t>
            </a:r>
            <a:r>
              <a:rPr lang="en-US" altLang="en-US" sz="2825" dirty="0" err="1" smtClean="0">
                <a:solidFill>
                  <a:srgbClr val="FF0000"/>
                </a:solidFill>
                <a:latin typeface="宋体" panose="02010600030101010101" pitchFamily="2" charset="-122"/>
                <a:ea typeface="宋体" panose="02010600030101010101" pitchFamily="2" charset="-122"/>
              </a:rPr>
              <a:t>HAVING</a:t>
            </a:r>
            <a:r>
              <a:rPr lang="zh-CN" altLang="en-US" sz="2825" dirty="0" smtClean="0">
                <a:latin typeface="宋体" panose="02010600030101010101" pitchFamily="2" charset="-122"/>
                <a:ea typeface="宋体" panose="02010600030101010101" pitchFamily="2" charset="-122"/>
              </a:rPr>
              <a:t>分组</a:t>
            </a:r>
            <a:endParaRPr lang="zh-CN" altLang="en-US" sz="2825" dirty="0" smtClean="0">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25" dirty="0" smtClean="0">
                <a:latin typeface="宋体" panose="02010600030101010101" pitchFamily="2" charset="-122"/>
                <a:ea typeface="宋体" panose="02010600030101010101" pitchFamily="2" charset="-122"/>
              </a:rPr>
              <a:t>排序：</a:t>
            </a:r>
            <a:r>
              <a:rPr lang="en-US" altLang="zh-CN" sz="2825" dirty="0" smtClean="0">
                <a:solidFill>
                  <a:srgbClr val="FF0000"/>
                </a:solidFill>
                <a:latin typeface="宋体" panose="02010600030101010101" pitchFamily="2" charset="-122"/>
                <a:ea typeface="宋体" panose="02010600030101010101" pitchFamily="2" charset="-122"/>
              </a:rPr>
              <a:t>ORDER BY</a:t>
            </a:r>
            <a:endParaRPr lang="en-US" altLang="zh-CN" sz="2825" dirty="0" smtClean="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25" dirty="0" smtClean="0">
                <a:latin typeface="宋体" panose="02010600030101010101" pitchFamily="2" charset="-122"/>
                <a:ea typeface="宋体" panose="02010600030101010101" pitchFamily="2" charset="-122"/>
              </a:rPr>
              <a:t>使用子查询</a:t>
            </a:r>
            <a:endParaRPr lang="zh-CN" altLang="en-US" sz="2825" dirty="0" smtClean="0">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可以在</a:t>
            </a:r>
            <a:r>
              <a:rPr lang="en-US" altLang="en-US" sz="2825" dirty="0" err="1" smtClean="0">
                <a:solidFill>
                  <a:srgbClr val="FF0000"/>
                </a:solidFill>
                <a:latin typeface="宋体" panose="02010600030101010101" pitchFamily="2" charset="-122"/>
                <a:ea typeface="宋体" panose="02010600030101010101" pitchFamily="2" charset="-122"/>
              </a:rPr>
              <a:t>WHERE</a:t>
            </a:r>
            <a:r>
              <a:rPr lang="en-US" altLang="en-US" sz="2825" dirty="0" err="1" smtClean="0">
                <a:latin typeface="宋体" panose="02010600030101010101" pitchFamily="2" charset="-122"/>
                <a:ea typeface="宋体" panose="02010600030101010101" pitchFamily="2" charset="-122"/>
              </a:rPr>
              <a:t>和</a:t>
            </a:r>
            <a:r>
              <a:rPr lang="en-US" altLang="en-US" sz="2825" dirty="0" err="1" smtClean="0">
                <a:solidFill>
                  <a:srgbClr val="FF0000"/>
                </a:solidFill>
                <a:latin typeface="宋体" panose="02010600030101010101" pitchFamily="2" charset="-122"/>
                <a:ea typeface="宋体" panose="02010600030101010101" pitchFamily="2" charset="-122"/>
              </a:rPr>
              <a:t>HAVING</a:t>
            </a:r>
            <a:r>
              <a:rPr lang="zh-CN" altLang="en-US" sz="2825" dirty="0" smtClean="0">
                <a:latin typeface="宋体" panose="02010600030101010101" pitchFamily="2" charset="-122"/>
                <a:ea typeface="宋体" panose="02010600030101010101" pitchFamily="2" charset="-122"/>
              </a:rPr>
              <a:t>子句中使用子查询；</a:t>
            </a:r>
            <a:endParaRPr lang="zh-CN" altLang="en-US" sz="2825" dirty="0" smtClean="0">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可以在子查询中使用</a:t>
            </a:r>
            <a:r>
              <a:rPr lang="en-US" altLang="zh-CN" sz="2825" dirty="0" smtClean="0">
                <a:solidFill>
                  <a:srgbClr val="FF0000"/>
                </a:solidFill>
                <a:latin typeface="宋体" panose="02010600030101010101" pitchFamily="2" charset="-122"/>
                <a:ea typeface="宋体" panose="02010600030101010101" pitchFamily="2" charset="-122"/>
              </a:rPr>
              <a:t>IN</a:t>
            </a:r>
            <a:r>
              <a:rPr lang="zh-CN" altLang="en-US" sz="2825" dirty="0" smtClean="0">
                <a:solidFill>
                  <a:srgbClr val="FF0000"/>
                </a:solidFill>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EXISTS</a:t>
            </a:r>
            <a:r>
              <a:rPr lang="zh-CN" altLang="en-US" sz="2825" dirty="0" smtClean="0">
                <a:solidFill>
                  <a:srgbClr val="FF0000"/>
                </a:solidFill>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ALL</a:t>
            </a:r>
            <a:r>
              <a:rPr lang="zh-CN" altLang="en-US" sz="2825" dirty="0" smtClean="0">
                <a:solidFill>
                  <a:srgbClr val="FF0000"/>
                </a:solidFill>
                <a:latin typeface="宋体" panose="02010600030101010101" pitchFamily="2" charset="-122"/>
                <a:ea typeface="宋体" panose="02010600030101010101" pitchFamily="2" charset="-122"/>
              </a:rPr>
              <a:t>、</a:t>
            </a:r>
            <a:r>
              <a:rPr lang="en-US" altLang="zh-CN" sz="2825" dirty="0" smtClean="0">
                <a:solidFill>
                  <a:srgbClr val="FF0000"/>
                </a:solidFill>
                <a:latin typeface="宋体" panose="02010600030101010101" pitchFamily="2" charset="-122"/>
                <a:ea typeface="宋体" panose="02010600030101010101" pitchFamily="2" charset="-122"/>
              </a:rPr>
              <a:t>ANY</a:t>
            </a:r>
            <a:r>
              <a:rPr lang="zh-CN" altLang="en-US" sz="2825" dirty="0" smtClean="0">
                <a:latin typeface="宋体" panose="02010600030101010101" pitchFamily="2" charset="-122"/>
                <a:ea typeface="宋体" panose="02010600030101010101" pitchFamily="2" charset="-122"/>
              </a:rPr>
              <a:t>和</a:t>
            </a:r>
            <a:r>
              <a:rPr lang="en-US" altLang="zh-CN" sz="2825" dirty="0" smtClean="0">
                <a:solidFill>
                  <a:srgbClr val="FF0000"/>
                </a:solidFill>
                <a:latin typeface="宋体" panose="02010600030101010101" pitchFamily="2" charset="-122"/>
                <a:ea typeface="宋体" panose="02010600030101010101" pitchFamily="2" charset="-122"/>
              </a:rPr>
              <a:t>SOME</a:t>
            </a:r>
            <a:endParaRPr lang="en-US" altLang="zh-CN" sz="2825" dirty="0" smtClean="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u"/>
            </a:pPr>
            <a:r>
              <a:rPr lang="zh-CN" altLang="en-US" sz="2825" dirty="0" smtClean="0">
                <a:latin typeface="宋体" panose="02010600030101010101" pitchFamily="2" charset="-122"/>
                <a:ea typeface="宋体" panose="02010600030101010101" pitchFamily="2" charset="-122"/>
              </a:rPr>
              <a:t>联接实体</a:t>
            </a:r>
            <a:endParaRPr lang="zh-CN" altLang="en-US" sz="2825" dirty="0" smtClean="0">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关联联结：</a:t>
            </a:r>
            <a:r>
              <a:rPr lang="en-US" altLang="zh-CN" sz="2825" dirty="0" smtClean="0">
                <a:solidFill>
                  <a:srgbClr val="FF0000"/>
                </a:solidFill>
                <a:latin typeface="宋体" panose="02010600030101010101" pitchFamily="2" charset="-122"/>
                <a:ea typeface="宋体" panose="02010600030101010101" pitchFamily="2" charset="-122"/>
              </a:rPr>
              <a:t>INNER JOIN</a:t>
            </a:r>
            <a:endParaRPr lang="en-US" altLang="zh-CN" sz="2825" dirty="0" smtClean="0">
              <a:solidFill>
                <a:srgbClr val="FF0000"/>
              </a:solidFill>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外联结：</a:t>
            </a:r>
            <a:r>
              <a:rPr lang="en-US" altLang="zh-CN" sz="2825" dirty="0" smtClean="0">
                <a:solidFill>
                  <a:srgbClr val="FF0000"/>
                </a:solidFill>
                <a:latin typeface="宋体" panose="02010600030101010101" pitchFamily="2" charset="-122"/>
                <a:ea typeface="宋体" panose="02010600030101010101" pitchFamily="2" charset="-122"/>
              </a:rPr>
              <a:t>LEFT JOIN</a:t>
            </a:r>
            <a:r>
              <a:rPr lang="zh-CN" altLang="en-US" sz="2825" dirty="0" smtClean="0">
                <a:solidFill>
                  <a:srgbClr val="FF0000"/>
                </a:solidFill>
                <a:latin typeface="宋体" panose="02010600030101010101" pitchFamily="2" charset="-122"/>
                <a:ea typeface="宋体" panose="02010600030101010101" pitchFamily="2" charset="-122"/>
              </a:rPr>
              <a:t>或</a:t>
            </a:r>
            <a:r>
              <a:rPr lang="en-US" altLang="zh-CN" sz="2825" dirty="0" smtClean="0">
                <a:solidFill>
                  <a:srgbClr val="FF0000"/>
                </a:solidFill>
                <a:latin typeface="宋体" panose="02010600030101010101" pitchFamily="2" charset="-122"/>
                <a:ea typeface="宋体" panose="02010600030101010101" pitchFamily="2" charset="-122"/>
              </a:rPr>
              <a:t>LEFT OUTER JOIN</a:t>
            </a:r>
            <a:endParaRPr lang="en-US" altLang="zh-CN" sz="2825" dirty="0" smtClean="0">
              <a:solidFill>
                <a:srgbClr val="FF0000"/>
              </a:solidFill>
              <a:latin typeface="宋体" panose="02010600030101010101" pitchFamily="2" charset="-122"/>
              <a:ea typeface="宋体" panose="02010600030101010101" pitchFamily="2" charset="-122"/>
            </a:endParaRPr>
          </a:p>
          <a:p>
            <a:pPr lvl="1"/>
            <a:r>
              <a:rPr lang="zh-CN" altLang="en-US" sz="2825" dirty="0" smtClean="0">
                <a:latin typeface="宋体" panose="02010600030101010101" pitchFamily="2" charset="-122"/>
                <a:ea typeface="宋体" panose="02010600030101010101" pitchFamily="2" charset="-122"/>
              </a:rPr>
              <a:t>获取联结：</a:t>
            </a:r>
            <a:r>
              <a:rPr lang="en-US" altLang="zh-CN" sz="2825" dirty="0" smtClean="0">
                <a:solidFill>
                  <a:srgbClr val="FF0000"/>
                </a:solidFill>
                <a:latin typeface="宋体" panose="02010600030101010101" pitchFamily="2" charset="-122"/>
                <a:ea typeface="宋体" panose="02010600030101010101" pitchFamily="2" charset="-122"/>
              </a:rPr>
              <a:t>JOIN FETCH</a:t>
            </a:r>
            <a:endParaRPr lang="zh-CN" altLang="en-US" sz="2825"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JPQL-- Update</a:t>
            </a:r>
            <a:r>
              <a:rPr lang="zh-CN" altLang="en-US" dirty="0"/>
              <a:t>和</a:t>
            </a:r>
            <a:r>
              <a:rPr lang="en-US" altLang="zh-CN" dirty="0"/>
              <a:t>Delete</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sz="2400" dirty="0" smtClean="0">
                <a:latin typeface="宋体" panose="02010600030101010101" pitchFamily="2" charset="-122"/>
                <a:ea typeface="宋体" panose="02010600030101010101" pitchFamily="2" charset="-122"/>
              </a:rPr>
              <a:t>大数据量的更新、删除，</a:t>
            </a:r>
            <a:r>
              <a:rPr lang="zh-CN" altLang="zh-CN" sz="2400" dirty="0" smtClean="0">
                <a:latin typeface="宋体" panose="02010600030101010101" pitchFamily="2" charset="-122"/>
                <a:ea typeface="宋体" panose="02010600030101010101" pitchFamily="2" charset="-122"/>
              </a:rPr>
              <a:t>可以用</a:t>
            </a:r>
            <a:r>
              <a:rPr lang="en-US" altLang="zh-CN" sz="2400" dirty="0" smtClean="0">
                <a:latin typeface="宋体" panose="02010600030101010101" pitchFamily="2" charset="-122"/>
                <a:ea typeface="宋体" panose="02010600030101010101" pitchFamily="2" charset="-122"/>
              </a:rPr>
              <a:t> </a:t>
            </a:r>
            <a:r>
              <a:rPr lang="en-US" altLang="zh-CN" sz="2400" dirty="0" err="1" smtClean="0">
                <a:solidFill>
                  <a:srgbClr val="FF0000"/>
                </a:solidFill>
                <a:latin typeface="宋体" panose="02010600030101010101" pitchFamily="2" charset="-122"/>
                <a:ea typeface="宋体" panose="02010600030101010101" pitchFamily="2" charset="-122"/>
              </a:rPr>
              <a:t>EntityManager</a:t>
            </a:r>
            <a:r>
              <a:rPr lang="zh-CN" altLang="zh-CN" sz="2400" dirty="0" smtClean="0">
                <a:latin typeface="宋体" panose="02010600030101010101" pitchFamily="2" charset="-122"/>
                <a:ea typeface="宋体" panose="02010600030101010101" pitchFamily="2" charset="-122"/>
              </a:rPr>
              <a:t>进行实体的更新操作，也可以通过查询语言执行数据表的字段更新，记录删除的操作</a:t>
            </a:r>
            <a:endParaRPr lang="en-US" altLang="zh-CN" sz="2400" dirty="0" smtClean="0">
              <a:latin typeface="宋体" panose="02010600030101010101" pitchFamily="2" charset="-122"/>
              <a:ea typeface="宋体" panose="02010600030101010101" pitchFamily="2" charset="-122"/>
            </a:endParaRPr>
          </a:p>
          <a:p>
            <a:pPr lvl="1"/>
            <a:r>
              <a:rPr lang="en-US" altLang="zh-CN" sz="2400" dirty="0" smtClean="0">
                <a:solidFill>
                  <a:srgbClr val="C00000"/>
                </a:solidFill>
                <a:latin typeface="宋体" panose="02010600030101010101" pitchFamily="2" charset="-122"/>
                <a:ea typeface="宋体" panose="02010600030101010101" pitchFamily="2" charset="-122"/>
              </a:rPr>
              <a:t>UPDATE </a:t>
            </a:r>
            <a:r>
              <a:rPr lang="en-US" altLang="zh-CN" sz="2400" dirty="0" smtClean="0">
                <a:latin typeface="宋体" panose="02010600030101010101" pitchFamily="2" charset="-122"/>
                <a:ea typeface="宋体" panose="02010600030101010101" pitchFamily="2" charset="-122"/>
              </a:rPr>
              <a:t>User u SET u.name = :name </a:t>
            </a:r>
            <a:br>
              <a:rPr lang="en-US" altLang="zh-CN" sz="2400" dirty="0" smtClean="0">
                <a:latin typeface="宋体" panose="02010600030101010101" pitchFamily="2" charset="-122"/>
                <a:ea typeface="宋体" panose="02010600030101010101" pitchFamily="2" charset="-122"/>
              </a:rPr>
            </a:br>
            <a:r>
              <a:rPr lang="en-US" altLang="zh-CN" sz="2400" dirty="0" smtClean="0">
                <a:solidFill>
                  <a:srgbClr val="C00000"/>
                </a:solidFill>
                <a:latin typeface="宋体" panose="02010600030101010101" pitchFamily="2" charset="-122"/>
                <a:ea typeface="宋体" panose="02010600030101010101" pitchFamily="2" charset="-122"/>
              </a:rPr>
              <a:t>WHERE </a:t>
            </a:r>
            <a:r>
              <a:rPr lang="en-US" altLang="zh-CN" sz="2400" dirty="0" smtClean="0">
                <a:latin typeface="宋体" panose="02010600030101010101" pitchFamily="2" charset="-122"/>
                <a:ea typeface="宋体" panose="02010600030101010101" pitchFamily="2" charset="-122"/>
              </a:rPr>
              <a:t>u.id = :</a:t>
            </a:r>
            <a:r>
              <a:rPr lang="en-US" altLang="zh-CN" sz="2400" dirty="0" err="1" smtClean="0">
                <a:latin typeface="宋体" panose="02010600030101010101" pitchFamily="2" charset="-122"/>
                <a:ea typeface="宋体" panose="02010600030101010101" pitchFamily="2" charset="-122"/>
              </a:rPr>
              <a:t>userid</a:t>
            </a:r>
            <a:r>
              <a:rPr lang="en-US" altLang="zh-CN" sz="2400" dirty="0" smtClean="0">
                <a:latin typeface="宋体" panose="02010600030101010101" pitchFamily="2" charset="-122"/>
                <a:ea typeface="宋体" panose="02010600030101010101" pitchFamily="2" charset="-122"/>
              </a:rPr>
              <a:t>  </a:t>
            </a:r>
            <a:endParaRPr lang="en-US" altLang="zh-CN" sz="2400" dirty="0" smtClean="0">
              <a:latin typeface="宋体" panose="02010600030101010101" pitchFamily="2" charset="-122"/>
              <a:ea typeface="宋体" panose="02010600030101010101" pitchFamily="2" charset="-122"/>
            </a:endParaRPr>
          </a:p>
          <a:p>
            <a:pPr lvl="1"/>
            <a:r>
              <a:rPr lang="en-US" altLang="zh-CN" sz="2400" dirty="0" smtClean="0">
                <a:solidFill>
                  <a:srgbClr val="C00000"/>
                </a:solidFill>
                <a:latin typeface="宋体" panose="02010600030101010101" pitchFamily="2" charset="-122"/>
                <a:ea typeface="宋体" panose="02010600030101010101" pitchFamily="2" charset="-122"/>
              </a:rPr>
              <a:t>DELETE</a:t>
            </a:r>
            <a:r>
              <a:rPr lang="en-US" altLang="zh-CN" sz="2400" dirty="0" smtClean="0">
                <a:latin typeface="宋体" panose="02010600030101010101" pitchFamily="2" charset="-122"/>
                <a:ea typeface="宋体" panose="02010600030101010101" pitchFamily="2" charset="-122"/>
              </a:rPr>
              <a:t> </a:t>
            </a:r>
            <a:r>
              <a:rPr lang="en-US" altLang="zh-CN" sz="2400" dirty="0" smtClean="0">
                <a:solidFill>
                  <a:srgbClr val="C00000"/>
                </a:solidFill>
                <a:latin typeface="宋体" panose="02010600030101010101" pitchFamily="2" charset="-122"/>
                <a:ea typeface="宋体" panose="02010600030101010101" pitchFamily="2" charset="-122"/>
              </a:rPr>
              <a:t>FROM</a:t>
            </a:r>
            <a:r>
              <a:rPr lang="en-US" altLang="zh-CN" sz="2400" dirty="0" smtClean="0">
                <a:latin typeface="宋体" panose="02010600030101010101" pitchFamily="2" charset="-122"/>
                <a:ea typeface="宋体" panose="02010600030101010101" pitchFamily="2" charset="-122"/>
              </a:rPr>
              <a:t> User u </a:t>
            </a:r>
            <a:br>
              <a:rPr lang="en-US" altLang="zh-CN" sz="2400" dirty="0" smtClean="0">
                <a:latin typeface="宋体" panose="02010600030101010101" pitchFamily="2" charset="-122"/>
                <a:ea typeface="宋体" panose="02010600030101010101" pitchFamily="2" charset="-122"/>
              </a:rPr>
            </a:br>
            <a:r>
              <a:rPr lang="en-US" altLang="zh-CN" sz="2400" dirty="0" smtClean="0">
                <a:solidFill>
                  <a:srgbClr val="C00000"/>
                </a:solidFill>
                <a:latin typeface="宋体" panose="02010600030101010101" pitchFamily="2" charset="-122"/>
                <a:ea typeface="宋体" panose="02010600030101010101" pitchFamily="2" charset="-122"/>
              </a:rPr>
              <a:t>WHERE </a:t>
            </a:r>
            <a:r>
              <a:rPr lang="en-US" altLang="zh-CN" sz="2400" dirty="0" smtClean="0">
                <a:latin typeface="宋体" panose="02010600030101010101" pitchFamily="2" charset="-122"/>
                <a:ea typeface="宋体" panose="02010600030101010101" pitchFamily="2" charset="-122"/>
              </a:rPr>
              <a:t>u.name = :username and sex=:sex</a:t>
            </a:r>
            <a:endParaRPr lang="zh-CN" altLang="en-US" sz="2400"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
        <p:nvSpPr>
          <p:cNvPr id="5" name="右箭头 4">
            <a:hlinkClick r:id="rId1" action="ppaction://hlinksldjump"/>
          </p:cNvPr>
          <p:cNvSpPr/>
          <p:nvPr/>
        </p:nvSpPr>
        <p:spPr>
          <a:xfrm>
            <a:off x="9677400" y="6019800"/>
            <a:ext cx="838200" cy="609600"/>
          </a:xfrm>
          <a:prstGeom prst="rightArrow">
            <a:avLst/>
          </a:prstGeom>
          <a:solidFill>
            <a:srgbClr val="9900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小结</a:t>
            </a:r>
            <a:endParaRPr lang="zh-CN" altLang="en-US" dirty="0"/>
          </a:p>
        </p:txBody>
      </p:sp>
      <p:sp>
        <p:nvSpPr>
          <p:cNvPr id="28675" name="内容占位符 2"/>
          <p:cNvSpPr>
            <a:spLocks noGrp="1"/>
          </p:cNvSpPr>
          <p:nvPr>
            <p:ph idx="1"/>
          </p:nvPr>
        </p:nvSpPr>
        <p:spPr/>
        <p:txBody>
          <a:bodyPr/>
          <a:lstStyle/>
          <a:p>
            <a:pPr>
              <a:buFont typeface="Wingdings" panose="05000000000000000000" pitchFamily="2" charset="2"/>
              <a:buChar char="u"/>
            </a:pPr>
            <a:r>
              <a:rPr lang="en-US" altLang="zh-CN" dirty="0" smtClean="0"/>
              <a:t>JPA</a:t>
            </a:r>
            <a:r>
              <a:rPr lang="zh-CN" altLang="en-US" dirty="0" smtClean="0"/>
              <a:t>基本概念</a:t>
            </a:r>
            <a:endParaRPr lang="en-US" altLang="zh-CN" dirty="0" smtClean="0"/>
          </a:p>
          <a:p>
            <a:pPr lvl="1">
              <a:buFont typeface="Wingdings" panose="05000000000000000000" pitchFamily="2" charset="2"/>
              <a:buChar char="u"/>
            </a:pPr>
            <a:r>
              <a:rPr lang="en-US" altLang="zh-CN" dirty="0" smtClean="0"/>
              <a:t>JPA</a:t>
            </a:r>
            <a:r>
              <a:rPr lang="zh-CN" altLang="en-US" dirty="0" smtClean="0"/>
              <a:t>、实体类、</a:t>
            </a:r>
            <a:r>
              <a:rPr lang="en-US" altLang="zh-CN" dirty="0" smtClean="0"/>
              <a:t>ORM</a:t>
            </a:r>
            <a:endParaRPr lang="en-US" altLang="zh-CN" dirty="0"/>
          </a:p>
          <a:p>
            <a:pPr lvl="1">
              <a:buFont typeface="Wingdings" panose="05000000000000000000" pitchFamily="2" charset="2"/>
              <a:buChar char="u"/>
            </a:pPr>
            <a:r>
              <a:rPr lang="zh-CN" altLang="en-US" dirty="0" smtClean="0"/>
              <a:t>实体类中</a:t>
            </a:r>
            <a:r>
              <a:rPr lang="en-US" altLang="zh-CN" dirty="0" smtClean="0"/>
              <a:t>ORM</a:t>
            </a:r>
            <a:r>
              <a:rPr lang="zh-CN" altLang="en-US" dirty="0" smtClean="0"/>
              <a:t>常用注解作用</a:t>
            </a:r>
            <a:endParaRPr lang="en-US" altLang="zh-CN" dirty="0" smtClean="0"/>
          </a:p>
          <a:p>
            <a:pPr lvl="2">
              <a:buFont typeface="Wingdings" panose="05000000000000000000" pitchFamily="2" charset="2"/>
              <a:buChar char="u"/>
            </a:pPr>
            <a:r>
              <a:rPr lang="en-US" altLang="zh-CN" dirty="0" smtClean="0"/>
              <a:t>@entity @id @table @column ……</a:t>
            </a:r>
            <a:endParaRPr lang="en-US" altLang="zh-CN" dirty="0" smtClean="0"/>
          </a:p>
          <a:p>
            <a:pPr>
              <a:buFont typeface="Wingdings" panose="05000000000000000000" pitchFamily="2" charset="2"/>
              <a:buChar char="u"/>
            </a:pPr>
            <a:r>
              <a:rPr lang="zh-CN" altLang="en-US" dirty="0" smtClean="0"/>
              <a:t>使用</a:t>
            </a:r>
            <a:r>
              <a:rPr lang="en-US" altLang="zh-CN" dirty="0" smtClean="0"/>
              <a:t>JPA</a:t>
            </a:r>
            <a:r>
              <a:rPr lang="zh-CN" altLang="en-US" dirty="0" smtClean="0"/>
              <a:t>的关键类和步骤</a:t>
            </a:r>
            <a:endParaRPr lang="en-US" altLang="zh-CN" dirty="0" smtClean="0"/>
          </a:p>
          <a:p>
            <a:pPr lvl="1">
              <a:buFont typeface="Wingdings" panose="05000000000000000000" pitchFamily="2" charset="2"/>
              <a:buChar char="u"/>
            </a:pPr>
            <a:r>
              <a:rPr lang="en-US" altLang="zh-CN" dirty="0" err="1" smtClean="0"/>
              <a:t>EntityManagerFactory</a:t>
            </a:r>
            <a:endParaRPr lang="en-US" altLang="zh-CN" dirty="0" smtClean="0"/>
          </a:p>
          <a:p>
            <a:pPr lvl="1">
              <a:buFont typeface="Wingdings" panose="05000000000000000000" pitchFamily="2" charset="2"/>
              <a:buChar char="u"/>
            </a:pPr>
            <a:r>
              <a:rPr lang="en-US" altLang="zh-CN" dirty="0" err="1" smtClean="0"/>
              <a:t>EntityManager</a:t>
            </a:r>
            <a:endParaRPr lang="en-US" altLang="zh-CN" dirty="0" smtClean="0"/>
          </a:p>
          <a:p>
            <a:pPr>
              <a:buFont typeface="Wingdings" panose="05000000000000000000" pitchFamily="2" charset="2"/>
              <a:buChar char="u"/>
            </a:pPr>
            <a:r>
              <a:rPr lang="en-US" altLang="zh-CN" dirty="0" smtClean="0"/>
              <a:t>JPQL</a:t>
            </a:r>
            <a:r>
              <a:rPr lang="zh-CN" altLang="en-US" dirty="0"/>
              <a:t>基本概念和用法</a:t>
            </a:r>
            <a:endParaRPr lang="en-US" altLang="zh-CN" dirty="0" smtClean="0"/>
          </a:p>
          <a:p>
            <a:pPr>
              <a:buFont typeface="Wingdings" panose="05000000000000000000" pitchFamily="2" charset="2"/>
              <a:buChar char="u"/>
            </a:pPr>
            <a:endParaRPr lang="zh-CN" altLang="en-US" dirty="0" smtClean="0"/>
          </a:p>
        </p:txBody>
      </p:sp>
      <p:sp>
        <p:nvSpPr>
          <p:cNvPr id="28676" name="灯片编号占位符 3"/>
          <p:cNvSpPr>
            <a:spLocks noGrp="1"/>
          </p:cNvSpPr>
          <p:nvPr>
            <p:ph type="sldNum" sz="quarter" idx="11"/>
          </p:nvPr>
        </p:nvSpPr>
        <p:spPr>
          <a:noFill/>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spcBef>
                <a:spcPct val="0"/>
              </a:spcBef>
              <a:spcAft>
                <a:spcPct val="0"/>
              </a:spcAft>
            </a:pPr>
            <a:fld id="{A35C4B6A-BC8E-49DD-AF66-9BA21A83794C}" type="slidenum">
              <a:rPr lang="zh-CN" altLang="en-US" smtClean="0">
                <a:solidFill>
                  <a:srgbClr val="000000"/>
                </a:solidFill>
                <a:latin typeface="华文新魏" panose="02010800040101010101" pitchFamily="2" charset="-122"/>
                <a:ea typeface="华文新魏" panose="02010800040101010101" pitchFamily="2" charset="-122"/>
              </a:rPr>
            </a:fld>
            <a:endParaRPr lang="en-US" altLang="zh-CN" smtClean="0">
              <a:solidFill>
                <a:srgbClr val="000000"/>
              </a:solidFill>
              <a:latin typeface="华文新魏" panose="02010800040101010101" pitchFamily="2" charset="-122"/>
              <a:ea typeface="华文新魏" panose="02010800040101010101" pitchFamily="2" charset="-122"/>
            </a:endParaRPr>
          </a:p>
        </p:txBody>
      </p:sp>
      <p:sp>
        <p:nvSpPr>
          <p:cNvPr id="5" name="右箭头 4">
            <a:hlinkClick r:id="rId1" action="ppaction://hlinksldjump"/>
          </p:cNvPr>
          <p:cNvSpPr/>
          <p:nvPr/>
        </p:nvSpPr>
        <p:spPr>
          <a:xfrm>
            <a:off x="9677400" y="6019800"/>
            <a:ext cx="838200" cy="609600"/>
          </a:xfrm>
          <a:prstGeom prst="rightArrow">
            <a:avLst/>
          </a:prstGeom>
          <a:solidFill>
            <a:srgbClr val="9900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23240" y="1135380"/>
            <a:ext cx="10208260" cy="5139055"/>
          </a:xfrm>
        </p:spPr>
        <p:txBody>
          <a:bodyPr/>
          <a:lstStyle/>
          <a:p>
            <a:r>
              <a:rPr lang="en-US" altLang="zh-CN" dirty="0" smtClean="0"/>
              <a:t>JPA</a:t>
            </a:r>
            <a:r>
              <a:rPr lang="zh-CN" altLang="en-US" dirty="0" smtClean="0"/>
              <a:t>程序演示</a:t>
            </a:r>
            <a:endParaRPr lang="en-US" altLang="zh-CN" dirty="0" smtClean="0"/>
          </a:p>
          <a:p>
            <a:pPr lvl="1"/>
            <a:r>
              <a:rPr lang="zh-CN" altLang="en-US" dirty="0" smtClean="0"/>
              <a:t>数据库</a:t>
            </a:r>
            <a:endParaRPr lang="en-US" altLang="zh-CN" dirty="0" smtClean="0"/>
          </a:p>
          <a:p>
            <a:pPr lvl="2"/>
            <a:r>
              <a:rPr lang="en-US" altLang="zh-CN" dirty="0" smtClean="0"/>
              <a:t>student</a:t>
            </a:r>
            <a:r>
              <a:rPr lang="zh-CN" altLang="en-US" dirty="0" smtClean="0"/>
              <a:t>、</a:t>
            </a:r>
            <a:r>
              <a:rPr lang="en-US" altLang="zh-CN" dirty="0" smtClean="0"/>
              <a:t>course</a:t>
            </a:r>
            <a:r>
              <a:rPr lang="zh-CN" altLang="en-US" dirty="0" smtClean="0"/>
              <a:t>、</a:t>
            </a:r>
            <a:r>
              <a:rPr lang="en-US" altLang="zh-CN" dirty="0" err="1" smtClean="0"/>
              <a:t>sc</a:t>
            </a:r>
            <a:r>
              <a:rPr lang="zh-CN" altLang="en-US" dirty="0" smtClean="0"/>
              <a:t>、</a:t>
            </a:r>
            <a:r>
              <a:rPr lang="en-US" altLang="zh-CN" dirty="0" smtClean="0"/>
              <a:t>classinfo(</a:t>
            </a:r>
            <a:r>
              <a:rPr lang="zh-CN" altLang="en-US" dirty="0" smtClean="0"/>
              <a:t>班级</a:t>
            </a:r>
            <a:r>
              <a:rPr lang="en-US" altLang="zh-CN" dirty="0" smtClean="0"/>
              <a:t>)</a:t>
            </a:r>
            <a:endParaRPr lang="en-US" altLang="zh-CN" dirty="0" smtClean="0"/>
          </a:p>
          <a:p>
            <a:pPr lvl="1"/>
            <a:r>
              <a:rPr lang="zh-CN" altLang="en-US" dirty="0"/>
              <a:t>功能</a:t>
            </a:r>
            <a:endParaRPr lang="en-US" altLang="zh-CN" dirty="0" smtClean="0"/>
          </a:p>
          <a:p>
            <a:pPr lvl="2"/>
            <a:r>
              <a:rPr lang="en-US" altLang="zh-CN" dirty="0" err="1" smtClean="0"/>
              <a:t>StudentDao</a:t>
            </a:r>
            <a:endParaRPr lang="en-US" altLang="zh-CN" dirty="0" err="1" smtClean="0"/>
          </a:p>
          <a:p>
            <a:pPr lvl="3"/>
            <a:r>
              <a:rPr lang="zh-CN" altLang="en-US" dirty="0" err="1" smtClean="0"/>
              <a:t>增加学生：同时增加一个学生类型的用户</a:t>
            </a:r>
            <a:endParaRPr lang="en-US" altLang="zh-CN" dirty="0" smtClean="0"/>
          </a:p>
          <a:p>
            <a:pPr lvl="3"/>
            <a:r>
              <a:rPr lang="zh-CN" altLang="en-US" dirty="0" smtClean="0"/>
              <a:t>查询所有学生</a:t>
            </a:r>
            <a:r>
              <a:rPr lang="en-US" altLang="zh-CN" dirty="0" smtClean="0"/>
              <a:t>:</a:t>
            </a:r>
            <a:r>
              <a:rPr lang="zh-CN" altLang="en-US" dirty="0" smtClean="0"/>
              <a:t>包含班级信息</a:t>
            </a:r>
            <a:endParaRPr lang="en-US" altLang="zh-CN" dirty="0" smtClean="0"/>
          </a:p>
          <a:p>
            <a:pPr lvl="3"/>
            <a:r>
              <a:rPr lang="zh-CN" altLang="en-US" dirty="0" smtClean="0"/>
              <a:t>增加选课记录：直接添加到</a:t>
            </a:r>
            <a:r>
              <a:rPr lang="en-US" altLang="zh-CN" dirty="0" smtClean="0"/>
              <a:t>SC</a:t>
            </a:r>
            <a:r>
              <a:rPr lang="zh-CN" altLang="en-US" dirty="0" smtClean="0"/>
              <a:t>表</a:t>
            </a:r>
            <a:endParaRPr lang="en-US" altLang="zh-CN" dirty="0" smtClean="0"/>
          </a:p>
          <a:p>
            <a:pPr lvl="3"/>
            <a:r>
              <a:rPr lang="zh-CN" altLang="en-US" dirty="0" smtClean="0"/>
              <a:t>查询学生选课情况 </a:t>
            </a:r>
            <a:r>
              <a:rPr lang="en-US" altLang="zh-CN" dirty="0" smtClean="0"/>
              <a:t>@</a:t>
            </a:r>
            <a:r>
              <a:rPr lang="en-US" altLang="zh-CN" dirty="0" err="1" smtClean="0"/>
              <a:t>toString</a:t>
            </a:r>
            <a:endParaRPr lang="en-US" altLang="zh-CN" dirty="0" smtClean="0"/>
          </a:p>
          <a:p>
            <a:pPr lvl="2"/>
            <a:r>
              <a:rPr lang="en-US" altLang="zh-CN" dirty="0" smtClean="0"/>
              <a:t>Web</a:t>
            </a:r>
            <a:r>
              <a:rPr lang="zh-CN" altLang="en-US" dirty="0" smtClean="0"/>
              <a:t>页面（</a:t>
            </a:r>
            <a:r>
              <a:rPr lang="en-US" altLang="zh-CN" dirty="0" smtClean="0"/>
              <a:t>EL/JSTL</a:t>
            </a:r>
            <a:r>
              <a:rPr lang="zh-CN" altLang="en-US" dirty="0" smtClean="0"/>
              <a:t>，过滤器）</a:t>
            </a:r>
            <a:endParaRPr lang="zh-CN" altLang="en-US" dirty="0"/>
          </a:p>
        </p:txBody>
      </p:sp>
      <p:sp>
        <p:nvSpPr>
          <p:cNvPr id="4" name="灯片编号占位符 3"/>
          <p:cNvSpPr>
            <a:spLocks noGrp="1"/>
          </p:cNvSpPr>
          <p:nvPr>
            <p:ph type="sldNum" sz="quarter" idx="11"/>
          </p:nvPr>
        </p:nvSpPr>
        <p:spPr/>
        <p:txBody>
          <a:bodyPr/>
          <a:lstStyle/>
          <a:p>
            <a:pPr>
              <a:defRPr/>
            </a:pPr>
            <a:fld id="{7338A687-9600-4BA9-87F7-6B9649F6DB07}"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131,&quot;width&quot;:14600}"/>
</p:tagLst>
</file>

<file path=ppt/tags/tag2.xml><?xml version="1.0" encoding="utf-8"?>
<p:tagLst xmlns:p="http://schemas.openxmlformats.org/presentationml/2006/main">
  <p:tag name="KSO_WM_UNIT_PLACING_PICTURE_USER_VIEWPORT" val="{&quot;height&quot;:2061,&quot;width&quot;:8020}"/>
</p:tagLst>
</file>

<file path=ppt/tags/tag3.xml><?xml version="1.0" encoding="utf-8"?>
<p:tagLst xmlns:p="http://schemas.openxmlformats.org/presentationml/2006/main">
  <p:tag name="KSO_WM_UNIT_PLACING_PICTURE_USER_VIEWPORT" val="{&quot;height&quot;:2911,&quot;width&quot;:7562}"/>
</p:tagLst>
</file>

<file path=ppt/tags/tag4.xml><?xml version="1.0" encoding="utf-8"?>
<p:tagLst xmlns:p="http://schemas.openxmlformats.org/presentationml/2006/main">
  <p:tag name="KSO_WPP_MARK_KEY" val="6c989745-6b1b-476a-9345-fe7197a1b440"/>
  <p:tag name="COMMONDATA" val="eyJoZGlkIjoiYmFjNWZhYmVmMzg4Mzg4NGQ0MmIwMjFlNjJhNDU3MD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数据库原理及应用">
  <a:themeElements>
    <a:clrScheme name="数据库原理及应用 7">
      <a:dk1>
        <a:srgbClr val="000000"/>
      </a:dk1>
      <a:lt1>
        <a:srgbClr val="CCECFF"/>
      </a:lt1>
      <a:dk2>
        <a:srgbClr val="CC3300"/>
      </a:dk2>
      <a:lt2>
        <a:srgbClr val="666699"/>
      </a:lt2>
      <a:accent1>
        <a:srgbClr val="FFCCCC"/>
      </a:accent1>
      <a:accent2>
        <a:srgbClr val="990000"/>
      </a:accent2>
      <a:accent3>
        <a:srgbClr val="E2F4FF"/>
      </a:accent3>
      <a:accent4>
        <a:srgbClr val="000000"/>
      </a:accent4>
      <a:accent5>
        <a:srgbClr val="FFE2E2"/>
      </a:accent5>
      <a:accent6>
        <a:srgbClr val="8A0000"/>
      </a:accent6>
      <a:hlink>
        <a:srgbClr val="660066"/>
      </a:hlink>
      <a:folHlink>
        <a:srgbClr val="000099"/>
      </a:folHlink>
    </a:clrScheme>
    <a:fontScheme name="数据库原理及应用">
      <a:majorFont>
        <a:latin typeface="隶书"/>
        <a:ea typeface="隶书"/>
        <a:cs typeface=""/>
      </a:majorFont>
      <a:minorFont>
        <a:latin typeface="楷体_GB2312"/>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数据库原理及应用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数据库原理及应用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数据库原理及应用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
      <a:clrScheme name="数据库原理及应用 4">
        <a:dk1>
          <a:srgbClr val="000000"/>
        </a:dk1>
        <a:lt1>
          <a:srgbClr val="CCECFF"/>
        </a:lt1>
        <a:dk2>
          <a:srgbClr val="CC3300"/>
        </a:dk2>
        <a:lt2>
          <a:srgbClr val="666699"/>
        </a:lt2>
        <a:accent1>
          <a:srgbClr val="FFCCCC"/>
        </a:accent1>
        <a:accent2>
          <a:srgbClr val="990000"/>
        </a:accent2>
        <a:accent3>
          <a:srgbClr val="E2F4FF"/>
        </a:accent3>
        <a:accent4>
          <a:srgbClr val="000000"/>
        </a:accent4>
        <a:accent5>
          <a:srgbClr val="FFE2E2"/>
        </a:accent5>
        <a:accent6>
          <a:srgbClr val="8A0000"/>
        </a:accent6>
        <a:hlink>
          <a:srgbClr val="990000"/>
        </a:hlink>
        <a:folHlink>
          <a:srgbClr val="000099"/>
        </a:folHlink>
      </a:clrScheme>
      <a:clrMap bg1="lt1" tx1="dk1" bg2="lt2" tx2="dk2" accent1="accent1" accent2="accent2" accent3="accent3" accent4="accent4" accent5="accent5" accent6="accent6" hlink="hlink" folHlink="folHlink"/>
    </a:extraClrScheme>
    <a:extraClrScheme>
      <a:clrScheme name="数据库原理及应用 5">
        <a:dk1>
          <a:srgbClr val="000000"/>
        </a:dk1>
        <a:lt1>
          <a:srgbClr val="CCECFF"/>
        </a:lt1>
        <a:dk2>
          <a:srgbClr val="CC3300"/>
        </a:dk2>
        <a:lt2>
          <a:srgbClr val="666699"/>
        </a:lt2>
        <a:accent1>
          <a:srgbClr val="FFCCCC"/>
        </a:accent1>
        <a:accent2>
          <a:srgbClr val="990000"/>
        </a:accent2>
        <a:accent3>
          <a:srgbClr val="E2F4FF"/>
        </a:accent3>
        <a:accent4>
          <a:srgbClr val="000000"/>
        </a:accent4>
        <a:accent5>
          <a:srgbClr val="FFE2E2"/>
        </a:accent5>
        <a:accent6>
          <a:srgbClr val="8A0000"/>
        </a:accent6>
        <a:hlink>
          <a:srgbClr val="003300"/>
        </a:hlink>
        <a:folHlink>
          <a:srgbClr val="000099"/>
        </a:folHlink>
      </a:clrScheme>
      <a:clrMap bg1="lt1" tx1="dk1" bg2="lt2" tx2="dk2" accent1="accent1" accent2="accent2" accent3="accent3" accent4="accent4" accent5="accent5" accent6="accent6" hlink="hlink" folHlink="folHlink"/>
    </a:extraClrScheme>
    <a:extraClrScheme>
      <a:clrScheme name="数据库原理及应用 6">
        <a:dk1>
          <a:srgbClr val="000000"/>
        </a:dk1>
        <a:lt1>
          <a:srgbClr val="CCECFF"/>
        </a:lt1>
        <a:dk2>
          <a:srgbClr val="CC3300"/>
        </a:dk2>
        <a:lt2>
          <a:srgbClr val="666699"/>
        </a:lt2>
        <a:accent1>
          <a:srgbClr val="FFCCCC"/>
        </a:accent1>
        <a:accent2>
          <a:srgbClr val="990000"/>
        </a:accent2>
        <a:accent3>
          <a:srgbClr val="E2F4FF"/>
        </a:accent3>
        <a:accent4>
          <a:srgbClr val="000000"/>
        </a:accent4>
        <a:accent5>
          <a:srgbClr val="FFE2E2"/>
        </a:accent5>
        <a:accent6>
          <a:srgbClr val="8A0000"/>
        </a:accent6>
        <a:hlink>
          <a:srgbClr val="FF9900"/>
        </a:hlink>
        <a:folHlink>
          <a:srgbClr val="000099"/>
        </a:folHlink>
      </a:clrScheme>
      <a:clrMap bg1="lt1" tx1="dk1" bg2="lt2" tx2="dk2" accent1="accent1" accent2="accent2" accent3="accent3" accent4="accent4" accent5="accent5" accent6="accent6" hlink="hlink" folHlink="folHlink"/>
    </a:extraClrScheme>
    <a:extraClrScheme>
      <a:clrScheme name="数据库原理及应用 7">
        <a:dk1>
          <a:srgbClr val="000000"/>
        </a:dk1>
        <a:lt1>
          <a:srgbClr val="CCECFF"/>
        </a:lt1>
        <a:dk2>
          <a:srgbClr val="CC3300"/>
        </a:dk2>
        <a:lt2>
          <a:srgbClr val="666699"/>
        </a:lt2>
        <a:accent1>
          <a:srgbClr val="FFCCCC"/>
        </a:accent1>
        <a:accent2>
          <a:srgbClr val="990000"/>
        </a:accent2>
        <a:accent3>
          <a:srgbClr val="E2F4FF"/>
        </a:accent3>
        <a:accent4>
          <a:srgbClr val="000000"/>
        </a:accent4>
        <a:accent5>
          <a:srgbClr val="FFE2E2"/>
        </a:accent5>
        <a:accent6>
          <a:srgbClr val="8A0000"/>
        </a:accent6>
        <a:hlink>
          <a:srgbClr val="660066"/>
        </a:hlink>
        <a:folHlink>
          <a:srgbClr val="0000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5656</Words>
  <Application>WPS 演示</Application>
  <PresentationFormat>全屏显示(4:3)</PresentationFormat>
  <Paragraphs>492</Paragraphs>
  <Slides>39</Slides>
  <Notes>13</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39</vt:i4>
      </vt:variant>
    </vt:vector>
  </HeadingPairs>
  <TitlesOfParts>
    <vt:vector size="58" baseType="lpstr">
      <vt:lpstr>Arial</vt:lpstr>
      <vt:lpstr>宋体</vt:lpstr>
      <vt:lpstr>Wingdings</vt:lpstr>
      <vt:lpstr>Calibri</vt:lpstr>
      <vt:lpstr>Tahoma</vt:lpstr>
      <vt:lpstr>Times New Roman</vt:lpstr>
      <vt:lpstr>华文新魏</vt:lpstr>
      <vt:lpstr>隶书</vt:lpstr>
      <vt:lpstr>Monotype Sorts</vt:lpstr>
      <vt:lpstr>Wingdings</vt:lpstr>
      <vt:lpstr>楷体_GB2312</vt:lpstr>
      <vt:lpstr>新宋体</vt:lpstr>
      <vt:lpstr>Monotype Sorts</vt:lpstr>
      <vt:lpstr>华文楷体</vt:lpstr>
      <vt:lpstr>微软雅黑</vt:lpstr>
      <vt:lpstr>Arial Unicode MS</vt:lpstr>
      <vt:lpstr>黑体</vt:lpstr>
      <vt:lpstr>Office 主题</vt:lpstr>
      <vt:lpstr>数据库原理及应用</vt:lpstr>
      <vt:lpstr>PowerPoint 演示文稿</vt:lpstr>
      <vt:lpstr>主要内容</vt:lpstr>
      <vt:lpstr>JPA概述</vt:lpstr>
      <vt:lpstr>JPA概述-续</vt:lpstr>
      <vt:lpstr>JPA概述-续</vt:lpstr>
      <vt:lpstr>实体（Entity）</vt:lpstr>
      <vt:lpstr>实体（Entity）</vt:lpstr>
      <vt:lpstr>实体基本注解-1</vt:lpstr>
      <vt:lpstr>实体基本注解-2</vt:lpstr>
      <vt:lpstr>实体基本注解-3</vt:lpstr>
      <vt:lpstr>实体基本注解-4</vt:lpstr>
      <vt:lpstr>@OneToOne（单向）</vt:lpstr>
      <vt:lpstr>@OneToOne（双向）</vt:lpstr>
      <vt:lpstr>@OneToMany</vt:lpstr>
      <vt:lpstr>@ManyToMany</vt:lpstr>
      <vt:lpstr>使用JPA</vt:lpstr>
      <vt:lpstr>使用JPA</vt:lpstr>
      <vt:lpstr>JPA示例-描述</vt:lpstr>
      <vt:lpstr>JPA示例-准备</vt:lpstr>
      <vt:lpstr>JPA示例-persistence.xml</vt:lpstr>
      <vt:lpstr>JPA示例- EntityManagerFactory</vt:lpstr>
      <vt:lpstr>JPA示例-EntityManager</vt:lpstr>
      <vt:lpstr>JPA示例-EntityManager</vt:lpstr>
      <vt:lpstr>JPA的生命周期</vt:lpstr>
      <vt:lpstr>实体的状态</vt:lpstr>
      <vt:lpstr>实体的状态</vt:lpstr>
      <vt:lpstr>JPQL</vt:lpstr>
      <vt:lpstr>JPQL—创建Query实例</vt:lpstr>
      <vt:lpstr>JPQL—使用Query接口</vt:lpstr>
      <vt:lpstr>使用JPQL示例</vt:lpstr>
      <vt:lpstr>JPQL基础</vt:lpstr>
      <vt:lpstr>JPQL--条件表达式和操作</vt:lpstr>
      <vt:lpstr>JPQL--使用JPQL函数</vt:lpstr>
      <vt:lpstr>JPQL--使用JPQL函数</vt:lpstr>
      <vt:lpstr>JPQL--投影</vt:lpstr>
      <vt:lpstr>JPQL-其它查询</vt:lpstr>
      <vt:lpstr>JPQL-- Update和Delete</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wxh</dc:creator>
  <cp:lastModifiedBy>wxh</cp:lastModifiedBy>
  <cp:revision>959</cp:revision>
  <dcterms:created xsi:type="dcterms:W3CDTF">2015-08-20T09:30:00Z</dcterms:created>
  <dcterms:modified xsi:type="dcterms:W3CDTF">2022-11-23T00:20:06Z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1760E029AF9E4E35822D0297FC7B1B5E</vt:lpwstr>
  </property>
</Properties>
</file>