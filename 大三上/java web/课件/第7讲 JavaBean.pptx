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9" r:id="rId5"/>
    <p:sldId id="257" r:id="rId6"/>
    <p:sldId id="260" r:id="rId7"/>
    <p:sldId id="258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0" r:id="rId17"/>
    <p:sldId id="271" r:id="rId18"/>
    <p:sldId id="301" r:id="rId19"/>
    <p:sldId id="272" r:id="rId20"/>
    <p:sldId id="341" r:id="rId21"/>
    <p:sldId id="293" r:id="rId22"/>
    <p:sldId id="294" r:id="rId23"/>
    <p:sldId id="295" r:id="rId24"/>
    <p:sldId id="296" r:id="rId25"/>
    <p:sldId id="297" r:id="rId26"/>
    <p:sldId id="298" r:id="rId27"/>
    <p:sldId id="299" r:id="rId28"/>
    <p:sldId id="274" r:id="rId29"/>
    <p:sldId id="275" r:id="rId30"/>
    <p:sldId id="276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302" r:id="rId42"/>
    <p:sldId id="288" r:id="rId43"/>
    <p:sldId id="289" r:id="rId44"/>
    <p:sldId id="290" r:id="rId45"/>
    <p:sldId id="291" r:id="rId46"/>
    <p:sldId id="292" r:id="rId47"/>
    <p:sldId id="303" r:id="rId48"/>
    <p:sldId id="305" r:id="rId49"/>
    <p:sldId id="310" r:id="rId50"/>
    <p:sldId id="311" r:id="rId51"/>
    <p:sldId id="306" r:id="rId52"/>
    <p:sldId id="307" r:id="rId53"/>
    <p:sldId id="312" r:id="rId54"/>
    <p:sldId id="304" r:id="rId55"/>
    <p:sldId id="308" r:id="rId56"/>
    <p:sldId id="300" r:id="rId57"/>
  </p:sldIdLst>
  <p:sldSz cx="12192000" cy="6858000"/>
  <p:notesSz cx="6858000" cy="9144000"/>
  <p:custDataLst>
    <p:tags r:id="rId6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2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64" autoAdjust="0"/>
    <p:restoredTop sz="81400" autoAdjust="0"/>
  </p:normalViewPr>
  <p:slideViewPr>
    <p:cSldViewPr>
      <p:cViewPr varScale="1">
        <p:scale>
          <a:sx n="65" d="100"/>
          <a:sy n="65" d="100"/>
        </p:scale>
        <p:origin x="-1272" y="-68"/>
      </p:cViewPr>
      <p:guideLst>
        <p:guide orient="horz" pos="2192"/>
        <p:guide pos="383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1" Type="http://schemas.openxmlformats.org/officeDocument/2006/relationships/tags" Target="tags/tag1.xml"/><Relationship Id="rId60" Type="http://schemas.openxmlformats.org/officeDocument/2006/relationships/tableStyles" Target="tableStyles.xml"/><Relationship Id="rId6" Type="http://schemas.openxmlformats.org/officeDocument/2006/relationships/slide" Target="slides/slide3.xml"/><Relationship Id="rId59" Type="http://schemas.openxmlformats.org/officeDocument/2006/relationships/viewProps" Target="viewProps.xml"/><Relationship Id="rId58" Type="http://schemas.openxmlformats.org/officeDocument/2006/relationships/presProps" Target="presProps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B22DFE-C4A7-40A9-AF40-6CFBAF02D3E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833961-F6AB-4680-B818-3EB145842C1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150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  <p:sp>
        <p:nvSpPr>
          <p:cNvPr id="2150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000" b="1">
                <a:solidFill>
                  <a:schemeClr val="tx2"/>
                </a:solidFill>
                <a:latin typeface="隶书" panose="02010509060101010101" pitchFamily="49" charset="-122"/>
                <a:ea typeface="宋体" panose="02010600030101010101" pitchFamily="2" charset="-122"/>
              </a:defRPr>
            </a:lvl9pPr>
          </a:lstStyle>
          <a:p>
            <a:pPr eaLnBrk="1" hangingPunct="1"/>
            <a:fld id="{3E58F3F5-6AF7-4AC8-8768-8A9587842B63}" type="slidenum">
              <a:rPr lang="en-US" altLang="zh-CN" sz="1200" b="0" smtClean="0">
                <a:solidFill>
                  <a:prstClr val="black"/>
                </a:solidFill>
                <a:latin typeface="Arial" panose="020B0604020202020204" pitchFamily="34" charset="0"/>
              </a:rPr>
            </a:fld>
            <a:endParaRPr lang="en-US" altLang="zh-CN" sz="1200" b="0" smtClean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833961-F6AB-4680-B818-3EB145842C1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F78AD-FB37-400B-8A0A-118CFF0CC704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F78AD-FB37-400B-8A0A-118CFF0CC704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在</a:t>
            </a:r>
            <a:r>
              <a:rPr lang="en-US" altLang="zh-CN" dirty="0" smtClean="0"/>
              <a:t>Eclipse</a:t>
            </a:r>
            <a:r>
              <a:rPr lang="zh-CN" altLang="en-US" dirty="0" smtClean="0"/>
              <a:t>中演示</a:t>
            </a:r>
            <a:r>
              <a:rPr lang="en-US" altLang="zh-CN" dirty="0" err="1" smtClean="0"/>
              <a:t>UserBean</a:t>
            </a:r>
            <a:r>
              <a:rPr lang="zh-CN" altLang="en-US" dirty="0" smtClean="0"/>
              <a:t>创建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833961-F6AB-4680-B818-3EB145842C1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、修改</a:t>
            </a:r>
            <a:r>
              <a:rPr lang="en-US" altLang="zh-CN" dirty="0" smtClean="0"/>
              <a:t>5-6</a:t>
            </a:r>
            <a:r>
              <a:rPr lang="zh-CN" altLang="en-US" dirty="0" smtClean="0"/>
              <a:t>演示示例代码，使用脚本访问新建的</a:t>
            </a:r>
            <a:r>
              <a:rPr lang="en-US" altLang="zh-CN" dirty="0" err="1" smtClean="0"/>
              <a:t>UserBean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、展示一个小功能：若出错，则跳转到</a:t>
            </a:r>
            <a:r>
              <a:rPr lang="en-US" altLang="zh-CN" dirty="0" err="1" smtClean="0"/>
              <a:t>index.jsp</a:t>
            </a:r>
            <a:r>
              <a:rPr lang="zh-CN" altLang="en-US" dirty="0" smtClean="0"/>
              <a:t>，并在其上显示错误信息。体验</a:t>
            </a:r>
            <a:r>
              <a:rPr lang="en-US" altLang="zh-CN" dirty="0" smtClean="0"/>
              <a:t>request</a:t>
            </a:r>
            <a:r>
              <a:rPr lang="zh-CN" altLang="en-US" dirty="0" smtClean="0"/>
              <a:t>作用范围的含义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833961-F6AB-4680-B818-3EB145842C1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若不设置</a:t>
            </a:r>
            <a:r>
              <a:rPr lang="en-US" altLang="zh-CN"/>
              <a:t>scope</a:t>
            </a:r>
            <a:r>
              <a:rPr lang="zh-CN" altLang="en-US"/>
              <a:t>，则</a:t>
            </a:r>
            <a:r>
              <a:rPr lang="zh-CN" altLang="en-US"/>
              <a:t>默认值是page，表示该Bean只在当前页面内可用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演示：修改</a:t>
            </a:r>
            <a:r>
              <a:rPr lang="en-US" altLang="zh-CN" dirty="0" err="1" smtClean="0"/>
              <a:t>LoginValid.jsp</a:t>
            </a:r>
            <a:r>
              <a:rPr lang="zh-CN" altLang="en-US" dirty="0" smtClean="0"/>
              <a:t>使用</a:t>
            </a:r>
            <a:r>
              <a:rPr lang="en-US" altLang="zh-CN" dirty="0" smtClean="0"/>
              <a:t>&lt;</a:t>
            </a:r>
            <a:r>
              <a:rPr lang="en-US" altLang="zh-CN" dirty="0" err="1" smtClean="0"/>
              <a:t>jsp:userBean</a:t>
            </a:r>
            <a:r>
              <a:rPr lang="en-US" altLang="zh-CN" dirty="0" smtClean="0"/>
              <a:t>&gt;</a:t>
            </a:r>
            <a:r>
              <a:rPr lang="zh-CN" altLang="en-US" dirty="0" smtClean="0"/>
              <a:t>访问</a:t>
            </a:r>
            <a:r>
              <a:rPr lang="en-US" altLang="zh-CN" dirty="0" err="1" smtClean="0"/>
              <a:t>UserBean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833961-F6AB-4680-B818-3EB145842C1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修改</a:t>
            </a:r>
            <a:r>
              <a:rPr lang="en-US" altLang="zh-CN" dirty="0" err="1" smtClean="0"/>
              <a:t>LoginValid.jsp</a:t>
            </a:r>
            <a:r>
              <a:rPr lang="zh-CN" altLang="en-US" dirty="0" smtClean="0"/>
              <a:t>使得</a:t>
            </a:r>
            <a:r>
              <a:rPr lang="en-US" altLang="zh-CN" dirty="0" smtClean="0"/>
              <a:t>user</a:t>
            </a:r>
            <a:r>
              <a:rPr lang="zh-CN" altLang="en-US" dirty="0" smtClean="0"/>
              <a:t>的作用范围为</a:t>
            </a:r>
            <a:r>
              <a:rPr lang="en-US" altLang="zh-CN" dirty="0" smtClean="0"/>
              <a:t>session</a:t>
            </a:r>
            <a:endParaRPr lang="en-US" altLang="zh-CN" dirty="0" smtClean="0"/>
          </a:p>
          <a:p>
            <a:r>
              <a:rPr lang="zh-CN" altLang="en-US" dirty="0" smtClean="0"/>
              <a:t>修改</a:t>
            </a:r>
            <a:r>
              <a:rPr lang="en-US" altLang="zh-CN" dirty="0" err="1" smtClean="0"/>
              <a:t>header.jsp</a:t>
            </a:r>
            <a:r>
              <a:rPr lang="zh-CN" altLang="en-US" dirty="0" smtClean="0"/>
              <a:t>访问</a:t>
            </a:r>
            <a:r>
              <a:rPr lang="en-US" altLang="zh-CN" dirty="0" err="1" smtClean="0"/>
              <a:t>user.username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833961-F6AB-4680-B818-3EB145842C1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833961-F6AB-4680-B818-3EB145842C1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属性定义</a:t>
            </a:r>
            <a:endParaRPr lang="en-US" altLang="zh-CN" dirty="0" smtClean="0"/>
          </a:p>
          <a:p>
            <a:r>
              <a:rPr lang="en-US" altLang="zh-CN" dirty="0" smtClean="0"/>
              <a:t>get/set</a:t>
            </a:r>
            <a:r>
              <a:rPr lang="zh-CN" altLang="en-US" dirty="0" smtClean="0"/>
              <a:t>方法</a:t>
            </a:r>
            <a:endParaRPr lang="en-US" altLang="zh-CN" dirty="0" smtClean="0"/>
          </a:p>
          <a:p>
            <a:r>
              <a:rPr lang="zh-CN" altLang="en-US" dirty="0" smtClean="0"/>
              <a:t>业务逻辑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833961-F6AB-4680-B818-3EB145842C1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在登录界面进行错误提示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833961-F6AB-4680-B818-3EB145842C1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定义</a:t>
            </a:r>
            <a:r>
              <a:rPr lang="en-US" altLang="zh-CN" dirty="0" smtClean="0"/>
              <a:t>user</a:t>
            </a:r>
            <a:r>
              <a:rPr lang="zh-CN" altLang="en-US" dirty="0" smtClean="0"/>
              <a:t>的</a:t>
            </a:r>
            <a:r>
              <a:rPr lang="en-US" altLang="zh-CN" dirty="0" smtClean="0"/>
              <a:t>scope</a:t>
            </a:r>
            <a:r>
              <a:rPr lang="zh-CN" altLang="en-US" dirty="0" smtClean="0"/>
              <a:t>为</a:t>
            </a:r>
            <a:r>
              <a:rPr lang="en-US" altLang="zh-CN" dirty="0" smtClean="0"/>
              <a:t>session</a:t>
            </a:r>
            <a:r>
              <a:rPr lang="zh-CN" altLang="en-US" dirty="0" smtClean="0"/>
              <a:t>，以方便其它页面访问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833961-F6AB-4680-B818-3EB145842C1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833961-F6AB-4680-B818-3EB145842C1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页面头文件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833961-F6AB-4680-B818-3EB145842C1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833961-F6AB-4680-B818-3EB145842C1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示例演示：</a:t>
            </a:r>
            <a:endParaRPr lang="en-US" altLang="zh-CN" dirty="0" smtClean="0"/>
          </a:p>
          <a:p>
            <a:r>
              <a:rPr lang="en-US" altLang="zh-CN" dirty="0" smtClean="0"/>
              <a:t>1</a:t>
            </a:r>
            <a:r>
              <a:rPr lang="zh-CN" altLang="en-US" dirty="0" smtClean="0"/>
              <a:t>、用户信息修改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、带条件查询</a:t>
            </a:r>
            <a:endParaRPr lang="en-US" altLang="zh-CN" dirty="0" smtClean="0"/>
          </a:p>
          <a:p>
            <a:r>
              <a:rPr lang="en-US" altLang="zh-CN" dirty="0" smtClean="0"/>
              <a:t>3</a:t>
            </a:r>
            <a:r>
              <a:rPr lang="zh-CN" altLang="en-US" dirty="0" smtClean="0"/>
              <a:t>、删除</a:t>
            </a:r>
            <a:endParaRPr lang="en-US" altLang="zh-CN" dirty="0" smtClean="0"/>
          </a:p>
          <a:p>
            <a:r>
              <a:rPr lang="zh-CN" altLang="en-US" dirty="0" smtClean="0"/>
              <a:t>注意：页面跳转路径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833961-F6AB-4680-B818-3EB145842C1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833961-F6AB-4680-B818-3EB145842C1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标题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7625"/>
            <a:ext cx="1219200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5"/>
          <p:cNvSpPr>
            <a:spLocks noChangeArrowheads="1"/>
          </p:cNvSpPr>
          <p:nvPr/>
        </p:nvSpPr>
        <p:spPr bwMode="gray">
          <a:xfrm>
            <a:off x="0" y="1143000"/>
            <a:ext cx="12192000" cy="57150"/>
          </a:xfrm>
          <a:prstGeom prst="rect">
            <a:avLst/>
          </a:prstGeom>
          <a:gradFill rotWithShape="0">
            <a:gsLst>
              <a:gs pos="0">
                <a:srgbClr val="9933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616" tIns="46808" rIns="93616" bIns="46808" anchor="ctr"/>
          <a:lstStyle/>
          <a:p>
            <a:pPr algn="ctr" defTabSz="936625"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5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gray">
          <a:xfrm>
            <a:off x="0" y="6308725"/>
            <a:ext cx="10079567" cy="5715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9933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616" tIns="46808" rIns="93616" bIns="46808" anchor="ctr"/>
          <a:lstStyle/>
          <a:p>
            <a:pPr algn="ctr" defTabSz="936625"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5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6" name="Group 9"/>
          <p:cNvGrpSpPr/>
          <p:nvPr/>
        </p:nvGrpSpPr>
        <p:grpSpPr bwMode="auto">
          <a:xfrm>
            <a:off x="10287000" y="-28575"/>
            <a:ext cx="1905000" cy="1095375"/>
            <a:chOff x="4800" y="-18"/>
            <a:chExt cx="900" cy="690"/>
          </a:xfrm>
        </p:grpSpPr>
        <p:pic>
          <p:nvPicPr>
            <p:cNvPr id="7" name="Picture 10" descr="校标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40" y="270"/>
              <a:ext cx="397" cy="4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11" descr="软件工程2"/>
            <p:cNvPicPr>
              <a:picLocks noChangeAspect="1" noChangeArrowheads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0" y="-18"/>
              <a:ext cx="900" cy="5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9" name="Picture 2" descr="标题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7625"/>
            <a:ext cx="1219200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5"/>
          <p:cNvSpPr>
            <a:spLocks noChangeArrowheads="1"/>
          </p:cNvSpPr>
          <p:nvPr/>
        </p:nvSpPr>
        <p:spPr bwMode="gray">
          <a:xfrm>
            <a:off x="0" y="1143000"/>
            <a:ext cx="12192000" cy="57150"/>
          </a:xfrm>
          <a:prstGeom prst="rect">
            <a:avLst/>
          </a:prstGeom>
          <a:gradFill rotWithShape="0">
            <a:gsLst>
              <a:gs pos="0">
                <a:srgbClr val="9933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616" tIns="46808" rIns="93616" bIns="46808" anchor="ctr"/>
          <a:lstStyle/>
          <a:p>
            <a:pPr algn="ctr" defTabSz="936625"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5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gray">
          <a:xfrm>
            <a:off x="0" y="6308725"/>
            <a:ext cx="10079567" cy="5715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9933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616" tIns="46808" rIns="93616" bIns="46808" anchor="ctr"/>
          <a:lstStyle/>
          <a:p>
            <a:pPr algn="ctr" defTabSz="936625"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5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12" name="Group 9"/>
          <p:cNvGrpSpPr/>
          <p:nvPr/>
        </p:nvGrpSpPr>
        <p:grpSpPr bwMode="auto">
          <a:xfrm>
            <a:off x="10287000" y="-28575"/>
            <a:ext cx="1905000" cy="1095375"/>
            <a:chOff x="4800" y="-18"/>
            <a:chExt cx="900" cy="690"/>
          </a:xfrm>
        </p:grpSpPr>
        <p:pic>
          <p:nvPicPr>
            <p:cNvPr id="13" name="Picture 10" descr="校标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40" y="270"/>
              <a:ext cx="397" cy="4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" name="Picture 11" descr="软件工程2"/>
            <p:cNvPicPr>
              <a:picLocks noChangeAspect="1" noChangeArrowheads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0" y="-18"/>
              <a:ext cx="900" cy="5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44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3556000" y="2438400"/>
            <a:ext cx="85344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 sz="48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altLang="zh-CN" noProof="0" dirty="0" smtClean="0"/>
              <a:t>Click to edit Master subtitle style</a:t>
            </a:r>
            <a:endParaRPr lang="en-US" altLang="zh-CN" noProof="0" dirty="0" smtClean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17600" y="152400"/>
            <a:ext cx="10401300" cy="874713"/>
          </a:xfrm>
        </p:spPr>
        <p:txBody>
          <a:bodyPr/>
          <a:lstStyle>
            <a:lvl1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5815E6-DEA6-4F40-A954-531D7B02BB04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BAD16F-44B3-4FF9-8E1E-C32BBB8D1342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62000" y="1135063"/>
            <a:ext cx="5255684" cy="5113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20884" y="1135063"/>
            <a:ext cx="5257800" cy="5113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B85031-D9B3-4736-9114-D77A86F40864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B22A79-BB8D-47C7-B421-E41D70C0B26C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5A7C5-02FA-4A1C-B58E-5E01BD438A19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5848D3-6A97-4F2F-9CE3-5CAE77522976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1A02A6-F061-4810-8A39-DBA6F5583979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A82BD6-1D77-49CF-B5C6-A5311217C99B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855F1E-6647-443A-ACE7-7BD18783B432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83133" y="0"/>
            <a:ext cx="2738967" cy="6248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62000" y="0"/>
            <a:ext cx="8017933" cy="6248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3B174F-D567-416F-9979-1537EBE7E802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34584" y="214313"/>
            <a:ext cx="10390716" cy="146208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1576917" y="2017713"/>
            <a:ext cx="10363200" cy="4114800"/>
          </a:xfrm>
        </p:spPr>
        <p:txBody>
          <a:bodyPr/>
          <a:lstStyle/>
          <a:p>
            <a:pPr lvl="0"/>
            <a:endParaRPr lang="zh-CN" altLang="en-US" noProof="0" smtClean="0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xfrm>
            <a:off x="1549400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4550EC-44CA-45B9-AEF8-BA9EC8B2E434}" type="slidenum">
              <a:rPr lang="en-US" altLang="zh-CN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1534584" y="214313"/>
            <a:ext cx="10405533" cy="5918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xfrm>
            <a:off x="1549400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D65C57-AFFA-4696-B284-9DB53B0B983C}" type="slidenum">
              <a:rPr lang="en-US" altLang="zh-CN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image" Target="../media/image6.png"/><Relationship Id="rId18" Type="http://schemas.openxmlformats.org/officeDocument/2006/relationships/image" Target="../media/image5.png"/><Relationship Id="rId17" Type="http://schemas.openxmlformats.org/officeDocument/2006/relationships/image" Target="../media/image4.png"/><Relationship Id="rId16" Type="http://schemas.openxmlformats.org/officeDocument/2006/relationships/image" Target="../media/image3.png"/><Relationship Id="rId15" Type="http://schemas.openxmlformats.org/officeDocument/2006/relationships/image" Target="../media/image2.png"/><Relationship Id="rId14" Type="http://schemas.openxmlformats.org/officeDocument/2006/relationships/image" Target="../media/image1.jpe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标题3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7625"/>
            <a:ext cx="1219200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1320800" y="0"/>
            <a:ext cx="10401300" cy="87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endParaRPr lang="zh-CN" altLang="en-US" smtClean="0"/>
          </a:p>
        </p:txBody>
      </p:sp>
      <p:sp>
        <p:nvSpPr>
          <p:cNvPr id="1034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135063"/>
            <a:ext cx="10716684" cy="5113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/>
            <a:r>
              <a:rPr lang="en-US" altLang="zh-CN" smtClean="0"/>
              <a:t>Second level</a:t>
            </a:r>
            <a:endParaRPr lang="en-US" altLang="zh-CN" smtClean="0"/>
          </a:p>
          <a:p>
            <a:pPr lvl="2"/>
            <a:r>
              <a:rPr lang="en-US" altLang="zh-CN" smtClean="0"/>
              <a:t>Third level</a:t>
            </a:r>
            <a:endParaRPr lang="en-US" altLang="zh-CN" smtClean="0"/>
          </a:p>
          <a:p>
            <a:pPr lvl="3"/>
            <a:r>
              <a:rPr lang="en-US" altLang="zh-CN" smtClean="0"/>
              <a:t>Fourth level</a:t>
            </a:r>
            <a:endParaRPr lang="en-US" altLang="zh-CN" smtClean="0"/>
          </a:p>
          <a:p>
            <a:pPr lvl="4"/>
            <a:r>
              <a:rPr lang="en-US" altLang="zh-CN" smtClean="0"/>
              <a:t>Fifth level</a:t>
            </a:r>
            <a:endParaRPr lang="en-US" altLang="zh-CN" smtClean="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gray">
          <a:xfrm>
            <a:off x="0" y="1143000"/>
            <a:ext cx="12192000" cy="57150"/>
          </a:xfrm>
          <a:prstGeom prst="rect">
            <a:avLst/>
          </a:prstGeom>
          <a:gradFill rotWithShape="0">
            <a:gsLst>
              <a:gs pos="0">
                <a:srgbClr val="9933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616" tIns="46808" rIns="93616" bIns="46808" anchor="ctr"/>
          <a:lstStyle/>
          <a:p>
            <a:pPr algn="ctr" defTabSz="936625"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5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gray">
          <a:xfrm>
            <a:off x="0" y="6308725"/>
            <a:ext cx="10079567" cy="5715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9933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616" tIns="46808" rIns="93616" bIns="46808" anchor="ctr"/>
          <a:lstStyle/>
          <a:p>
            <a:pPr algn="ctr" defTabSz="936625"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5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343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55017" y="6473825"/>
            <a:ext cx="38608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kumimoji="1" sz="1400" b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0343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1600" y="6437313"/>
            <a:ext cx="711200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>
              <a:defRPr kumimoji="1" sz="1400" b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0BEB52E-93D1-46BB-A104-321F0DFAE03E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grpSp>
        <p:nvGrpSpPr>
          <p:cNvPr id="1033" name="Group 9"/>
          <p:cNvGrpSpPr/>
          <p:nvPr/>
        </p:nvGrpSpPr>
        <p:grpSpPr bwMode="auto">
          <a:xfrm>
            <a:off x="10287000" y="-28575"/>
            <a:ext cx="1905000" cy="1095375"/>
            <a:chOff x="4800" y="-18"/>
            <a:chExt cx="900" cy="690"/>
          </a:xfrm>
        </p:grpSpPr>
        <p:pic>
          <p:nvPicPr>
            <p:cNvPr id="1034" name="Picture 10" descr="校标"/>
            <p:cNvPicPr>
              <a:picLocks noChangeAspect="1" noChangeArrowheads="1"/>
            </p:cNvPicPr>
            <p:nvPr userDrawn="1"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40" y="270"/>
              <a:ext cx="397" cy="4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35" name="Picture 11" descr="软件工程2"/>
            <p:cNvPicPr>
              <a:picLocks noChangeAspect="1" noChangeArrowheads="1"/>
            </p:cNvPicPr>
            <p:nvPr userDrawn="1"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0" y="-18"/>
              <a:ext cx="900" cy="5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28" grpId="0" bldLvl="2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34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34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34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34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34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anose="02010509060101010101" pitchFamily="49" charset="-122"/>
          <a:ea typeface="隶书" panose="020105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anose="02010509060101010101" pitchFamily="49" charset="-122"/>
          <a:ea typeface="隶书" panose="020105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anose="02010509060101010101" pitchFamily="49" charset="-122"/>
          <a:ea typeface="隶书" panose="020105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anose="02010509060101010101" pitchFamily="49" charset="-122"/>
          <a:ea typeface="隶书" panose="020105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anose="02010509060101010101" pitchFamily="49" charset="-122"/>
          <a:ea typeface="隶书" panose="020105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anose="02010509060101010101" pitchFamily="49" charset="-122"/>
          <a:ea typeface="隶书" panose="020105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anose="02010509060101010101" pitchFamily="49" charset="-122"/>
          <a:ea typeface="隶书" panose="020105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隶书" panose="02010509060101010101" pitchFamily="49" charset="-122"/>
          <a:ea typeface="隶书" panose="020105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chemeClr val="accent2"/>
        </a:buClr>
        <a:buSzPct val="90000"/>
        <a:buFont typeface="Monotype Sorts" pitchFamily="2" charset="2"/>
        <a:buChar char="ª"/>
        <a:defRPr sz="3200" b="1">
          <a:solidFill>
            <a:schemeClr val="tx1"/>
          </a:solidFill>
          <a:latin typeface="+mn-lt"/>
          <a:ea typeface="+mn-ea"/>
          <a:cs typeface="楷体_GB2312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660066"/>
        </a:buClr>
        <a:buSzPct val="70000"/>
        <a:buFont typeface="Wingdings" panose="05000000000000000000" pitchFamily="2" charset="2"/>
        <a:buBlip>
          <a:blip r:embed="rId17"/>
        </a:buBlip>
        <a:defRPr sz="2800" b="1">
          <a:solidFill>
            <a:srgbClr val="660066"/>
          </a:solidFill>
          <a:latin typeface="+mn-lt"/>
          <a:ea typeface="+mn-ea"/>
          <a:cs typeface="楷体_GB2312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0099"/>
        </a:buClr>
        <a:buSzPct val="80000"/>
        <a:buFont typeface="Monotype Sorts" pitchFamily="2" charset="2"/>
        <a:buBlip>
          <a:blip r:embed="rId18"/>
        </a:buBlip>
        <a:defRPr sz="2400" b="1">
          <a:solidFill>
            <a:schemeClr val="tx1"/>
          </a:solidFill>
          <a:latin typeface="+mn-lt"/>
          <a:ea typeface="+mn-ea"/>
          <a:cs typeface="楷体_GB2312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0000"/>
        <a:buBlip>
          <a:blip r:embed="rId19"/>
        </a:buBlip>
        <a:defRPr sz="2400" b="1">
          <a:solidFill>
            <a:schemeClr val="tx1"/>
          </a:solidFill>
          <a:latin typeface="+mn-lt"/>
          <a:ea typeface="+mn-ea"/>
          <a:cs typeface="楷体_GB2312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sz="2400" b="1">
          <a:solidFill>
            <a:schemeClr val="tx1"/>
          </a:solidFill>
          <a:latin typeface="+mn-lt"/>
          <a:ea typeface="+mn-ea"/>
          <a:cs typeface="楷体_GB2312"/>
        </a:defRPr>
      </a:lvl5pPr>
      <a:lvl6pPr marL="2228850" indent="-228600" algn="l" rtl="0" fontAlgn="base">
        <a:spcBef>
          <a:spcPct val="35000"/>
        </a:spcBef>
        <a:spcAft>
          <a:spcPct val="0"/>
        </a:spcAft>
        <a:buClr>
          <a:schemeClr val="tx2"/>
        </a:buClr>
        <a:buChar char="»"/>
        <a:defRPr sz="2400" b="1">
          <a:solidFill>
            <a:schemeClr val="tx1"/>
          </a:solidFill>
          <a:latin typeface="+mn-lt"/>
          <a:ea typeface="+mn-ea"/>
        </a:defRPr>
      </a:lvl6pPr>
      <a:lvl7pPr marL="2686050" indent="-228600" algn="l" rtl="0" fontAlgn="base">
        <a:spcBef>
          <a:spcPct val="35000"/>
        </a:spcBef>
        <a:spcAft>
          <a:spcPct val="0"/>
        </a:spcAft>
        <a:buClr>
          <a:schemeClr val="tx2"/>
        </a:buClr>
        <a:buChar char="»"/>
        <a:defRPr sz="2400" b="1">
          <a:solidFill>
            <a:schemeClr val="tx1"/>
          </a:solidFill>
          <a:latin typeface="+mn-lt"/>
          <a:ea typeface="+mn-ea"/>
        </a:defRPr>
      </a:lvl7pPr>
      <a:lvl8pPr marL="3143250" indent="-228600" algn="l" rtl="0" fontAlgn="base">
        <a:spcBef>
          <a:spcPct val="35000"/>
        </a:spcBef>
        <a:spcAft>
          <a:spcPct val="0"/>
        </a:spcAft>
        <a:buClr>
          <a:schemeClr val="tx2"/>
        </a:buClr>
        <a:buChar char="»"/>
        <a:defRPr sz="2400" b="1">
          <a:solidFill>
            <a:schemeClr val="tx1"/>
          </a:solidFill>
          <a:latin typeface="+mn-lt"/>
          <a:ea typeface="+mn-ea"/>
        </a:defRPr>
      </a:lvl8pPr>
      <a:lvl9pPr marL="3600450" indent="-228600" algn="l" rtl="0" fontAlgn="base">
        <a:spcBef>
          <a:spcPct val="35000"/>
        </a:spcBef>
        <a:spcAft>
          <a:spcPct val="0"/>
        </a:spcAft>
        <a:buClr>
          <a:schemeClr val="tx2"/>
        </a:buClr>
        <a:buChar char="»"/>
        <a:defRPr sz="24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2.xml"/><Relationship Id="rId6" Type="http://schemas.openxmlformats.org/officeDocument/2006/relationships/slide" Target="slide54.xml"/><Relationship Id="rId5" Type="http://schemas.openxmlformats.org/officeDocument/2006/relationships/slide" Target="slide35.xml"/><Relationship Id="rId4" Type="http://schemas.openxmlformats.org/officeDocument/2006/relationships/slide" Target="slide14.xml"/><Relationship Id="rId3" Type="http://schemas.openxmlformats.org/officeDocument/2006/relationships/slide" Target="slide7.xml"/><Relationship Id="rId2" Type="http://schemas.openxmlformats.org/officeDocument/2006/relationships/slide" Target="slide5.xml"/><Relationship Id="rId1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slide" Target="slid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slide" Target="slide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Relationship Id="rId3" Type="http://schemas.openxmlformats.org/officeDocument/2006/relationships/slide" Target="slide3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slide" Target="slide2.xml"/><Relationship Id="rId8" Type="http://schemas.openxmlformats.org/officeDocument/2006/relationships/slide" Target="slide34.xml"/><Relationship Id="rId7" Type="http://schemas.openxmlformats.org/officeDocument/2006/relationships/slide" Target="slide32.xml"/><Relationship Id="rId6" Type="http://schemas.openxmlformats.org/officeDocument/2006/relationships/slide" Target="slide31.xml"/><Relationship Id="rId5" Type="http://schemas.openxmlformats.org/officeDocument/2006/relationships/slide" Target="slide30.xml"/><Relationship Id="rId4" Type="http://schemas.openxmlformats.org/officeDocument/2006/relationships/slide" Target="slide29.xml"/><Relationship Id="rId3" Type="http://schemas.openxmlformats.org/officeDocument/2006/relationships/slide" Target="slide27.xml"/><Relationship Id="rId2" Type="http://schemas.openxmlformats.org/officeDocument/2006/relationships/slide" Target="slide26.xml"/><Relationship Id="rId10" Type="http://schemas.openxmlformats.org/officeDocument/2006/relationships/slideLayout" Target="../slideLayouts/slideLayout2.xml"/><Relationship Id="rId1" Type="http://schemas.openxmlformats.org/officeDocument/2006/relationships/slide" Target="slide17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16.xml"/><Relationship Id="rId1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slide" Target="slide16.xml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slide" Target="slide16.xml"/><Relationship Id="rId1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slide" Target="slide16.xml"/><Relationship Id="rId1" Type="http://schemas.openxmlformats.org/officeDocument/2006/relationships/image" Target="../media/image31.png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3.png"/><Relationship Id="rId2" Type="http://schemas.openxmlformats.org/officeDocument/2006/relationships/slide" Target="slide16.xml"/><Relationship Id="rId1" Type="http://schemas.openxmlformats.org/officeDocument/2006/relationships/image" Target="../media/image3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16.xml"/><Relationship Id="rId1" Type="http://schemas.openxmlformats.org/officeDocument/2006/relationships/image" Target="../media/image34.png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2.xml"/><Relationship Id="rId2" Type="http://schemas.openxmlformats.org/officeDocument/2006/relationships/slide" Target="slide16.xml"/><Relationship Id="rId1" Type="http://schemas.openxmlformats.org/officeDocument/2006/relationships/image" Target="../media/image35.png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3.png"/><Relationship Id="rId3" Type="http://schemas.openxmlformats.org/officeDocument/2006/relationships/image" Target="../media/image37.png"/><Relationship Id="rId2" Type="http://schemas.openxmlformats.org/officeDocument/2006/relationships/slide" Target="slide16.xml"/><Relationship Id="rId1" Type="http://schemas.openxmlformats.org/officeDocument/2006/relationships/image" Target="../media/image3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1" Type="http://schemas.openxmlformats.org/officeDocument/2006/relationships/image" Target="../media/image3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16.xml"/><Relationship Id="rId1" Type="http://schemas.openxmlformats.org/officeDocument/2006/relationships/image" Target="../media/image3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16.xml"/><Relationship Id="rId1" Type="http://schemas.openxmlformats.org/officeDocument/2006/relationships/image" Target="../media/image40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1.png"/><Relationship Id="rId2" Type="http://schemas.openxmlformats.org/officeDocument/2006/relationships/hyperlink" Target="http://zh.wikipedia.org/wiki/%E8%BD%AF%E4%BB%B6%E6%9E%B6%E6%9E%84" TargetMode="External"/><Relationship Id="rId1" Type="http://schemas.openxmlformats.org/officeDocument/2006/relationships/hyperlink" Target="http://zh.wikipedia.org/wiki/%E8%BD%AF%E4%BB%B6%E5%B7%A5%E7%A8%8B" TargetMode="Externa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2" Type="http://schemas.openxmlformats.org/officeDocument/2006/relationships/image" Target="../media/image43.png"/><Relationship Id="rId1" Type="http://schemas.openxmlformats.org/officeDocument/2006/relationships/image" Target="../media/image42.png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slide" Target="slide2.xml"/><Relationship Id="rId2" Type="http://schemas.openxmlformats.org/officeDocument/2006/relationships/slide" Target="slide43.xml"/><Relationship Id="rId1" Type="http://schemas.openxmlformats.org/officeDocument/2006/relationships/slide" Target="slide40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4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39.xml"/><Relationship Id="rId1" Type="http://schemas.openxmlformats.org/officeDocument/2006/relationships/image" Target="../media/image4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1" Type="http://schemas.openxmlformats.org/officeDocument/2006/relationships/image" Target="../media/image47.png"/></Relationships>
</file>

<file path=ppt/slides/_rels/slide4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slide" Target="slide39.xml"/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image" Target="../media/image48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1" Type="http://schemas.openxmlformats.org/officeDocument/2006/relationships/image" Target="../media/image51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4.png"/><Relationship Id="rId1" Type="http://schemas.openxmlformats.org/officeDocument/2006/relationships/image" Target="../media/image53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5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6.png"/></Relationships>
</file>

<file path=ppt/slides/_rels/slide5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slide" Target="slide45.xml"/><Relationship Id="rId2" Type="http://schemas.openxmlformats.org/officeDocument/2006/relationships/image" Target="../media/image58.png"/><Relationship Id="rId1" Type="http://schemas.openxmlformats.org/officeDocument/2006/relationships/image" Target="../media/image57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39.xml"/><Relationship Id="rId1" Type="http://schemas.openxmlformats.org/officeDocument/2006/relationships/image" Target="../media/image59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5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43075" y="1295400"/>
            <a:ext cx="8696325" cy="49530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endParaRPr lang="en-US" altLang="zh-CN" dirty="0" smtClean="0"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zh-CN" altLang="en-US" dirty="0" smtClean="0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第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7</a:t>
            </a:r>
            <a:r>
              <a:rPr lang="zh-CN" altLang="en-US" dirty="0" smtClean="0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讲</a:t>
            </a:r>
            <a:endParaRPr lang="en-US" altLang="zh-CN" dirty="0"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zh-CN" sz="4400" dirty="0" smtClean="0">
                <a:latin typeface="+mj-ea"/>
                <a:ea typeface="+mj-ea"/>
                <a:cs typeface="+mn-cs"/>
              </a:rPr>
              <a:t>JavaBean</a:t>
            </a:r>
            <a:endParaRPr lang="en-US" altLang="zh-CN" sz="4400" dirty="0" smtClean="0">
              <a:latin typeface="+mj-ea"/>
              <a:ea typeface="+mj-ea"/>
              <a:cs typeface="+mn-cs"/>
            </a:endParaRPr>
          </a:p>
          <a:p>
            <a:pPr algn="l" eaLnBrk="1" hangingPunct="1">
              <a:lnSpc>
                <a:spcPct val="80000"/>
              </a:lnSpc>
              <a:defRPr/>
            </a:pPr>
            <a:endParaRPr lang="zh-CN" altLang="en-US" sz="4400" dirty="0" smtClean="0">
              <a:latin typeface="+mj-ea"/>
              <a:ea typeface="+mj-ea"/>
              <a:cs typeface="+mn-cs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主要内容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>
                <a:hlinkClick r:id="rId1" action="ppaction://hlinksldjump"/>
              </a:rPr>
              <a:t>JavaBean</a:t>
            </a:r>
            <a:r>
              <a:rPr lang="zh-CN" altLang="en-US" dirty="0" smtClean="0">
                <a:hlinkClick r:id="rId1" action="ppaction://hlinksldjump"/>
              </a:rPr>
              <a:t>简介</a:t>
            </a:r>
            <a:endParaRPr lang="en-US" altLang="zh-CN" dirty="0" smtClean="0"/>
          </a:p>
          <a:p>
            <a:r>
              <a:rPr lang="en-US" altLang="zh-CN" dirty="0" smtClean="0">
                <a:hlinkClick r:id="rId2" action="ppaction://hlinksldjump"/>
              </a:rPr>
              <a:t>JavaBean</a:t>
            </a:r>
            <a:r>
              <a:rPr lang="zh-CN" altLang="en-US" dirty="0" smtClean="0">
                <a:hlinkClick r:id="rId2" action="ppaction://hlinksldjump"/>
              </a:rPr>
              <a:t>规范</a:t>
            </a:r>
            <a:endParaRPr lang="en-US" altLang="zh-CN" dirty="0" smtClean="0"/>
          </a:p>
          <a:p>
            <a:r>
              <a:rPr lang="zh-CN" altLang="en-US" dirty="0" smtClean="0">
                <a:hlinkClick r:id="rId3" action="ppaction://hlinksldjump"/>
              </a:rPr>
              <a:t>在</a:t>
            </a:r>
            <a:r>
              <a:rPr lang="en-US" altLang="zh-CN" dirty="0" smtClean="0">
                <a:hlinkClick r:id="rId3" action="ppaction://hlinksldjump"/>
              </a:rPr>
              <a:t>JSP</a:t>
            </a:r>
            <a:r>
              <a:rPr lang="zh-CN" altLang="en-US" dirty="0" smtClean="0">
                <a:hlinkClick r:id="rId3" action="ppaction://hlinksldjump"/>
              </a:rPr>
              <a:t>中访问</a:t>
            </a:r>
            <a:r>
              <a:rPr lang="en-US" altLang="zh-CN" dirty="0" smtClean="0">
                <a:hlinkClick r:id="rId3" action="ppaction://hlinksldjump"/>
              </a:rPr>
              <a:t>JavaBean</a:t>
            </a:r>
            <a:endParaRPr lang="en-US" altLang="zh-CN" dirty="0" smtClean="0"/>
          </a:p>
          <a:p>
            <a:pPr lvl="1"/>
            <a:r>
              <a:rPr lang="zh-CN" altLang="en-US" dirty="0"/>
              <a:t>脚本</a:t>
            </a:r>
            <a:r>
              <a:rPr lang="zh-CN" altLang="en-US" dirty="0" smtClean="0"/>
              <a:t>段</a:t>
            </a:r>
            <a:endParaRPr lang="en-US" altLang="zh-CN" dirty="0" smtClean="0"/>
          </a:p>
          <a:p>
            <a:pPr lvl="1"/>
            <a:r>
              <a:rPr lang="zh-CN" altLang="en-US" dirty="0"/>
              <a:t>动作</a:t>
            </a:r>
            <a:r>
              <a:rPr lang="zh-CN" altLang="en-US" dirty="0" smtClean="0"/>
              <a:t>元素</a:t>
            </a:r>
            <a:endParaRPr lang="en-US" altLang="zh-CN" dirty="0"/>
          </a:p>
          <a:p>
            <a:r>
              <a:rPr lang="en-US" altLang="zh-CN" dirty="0" smtClean="0">
                <a:hlinkClick r:id="rId4" action="ppaction://hlinksldjump"/>
              </a:rPr>
              <a:t>JSP+JavaBean</a:t>
            </a:r>
            <a:r>
              <a:rPr lang="zh-CN" altLang="en-US" dirty="0" smtClean="0">
                <a:hlinkClick r:id="rId4" action="ppaction://hlinksldjump"/>
              </a:rPr>
              <a:t>开发示例</a:t>
            </a:r>
            <a:endParaRPr lang="en-US" altLang="zh-CN" dirty="0" smtClean="0"/>
          </a:p>
          <a:p>
            <a:r>
              <a:rPr lang="en-US" altLang="zh-CN" dirty="0" smtClean="0">
                <a:hlinkClick r:id="rId5" action="ppaction://hlinksldjump"/>
              </a:rPr>
              <a:t>JSP+Servlet+JavaBean</a:t>
            </a:r>
            <a:r>
              <a:rPr lang="zh-CN" altLang="en-US" dirty="0" smtClean="0">
                <a:hlinkClick r:id="rId5" action="ppaction://hlinksldjump"/>
              </a:rPr>
              <a:t>开发示例</a:t>
            </a:r>
            <a:endParaRPr lang="en-US" altLang="zh-CN" dirty="0" smtClean="0"/>
          </a:p>
          <a:p>
            <a:r>
              <a:rPr lang="zh-CN" altLang="en-US" dirty="0">
                <a:hlinkClick r:id="rId6" action="ppaction://hlinksldjump"/>
              </a:rPr>
              <a:t>小结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 smtClean="0"/>
              <a:t>JavaBean</a:t>
            </a:r>
            <a:r>
              <a:rPr lang="zh-CN" altLang="en-US" dirty="0" smtClean="0"/>
              <a:t>简介</a:t>
            </a:r>
            <a:endParaRPr lang="zh-CN" altLang="en-US" dirty="0"/>
          </a:p>
        </p:txBody>
      </p:sp>
      <p:sp>
        <p:nvSpPr>
          <p:cNvPr id="12291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/>
              <a:t>JavaBean</a:t>
            </a:r>
            <a:r>
              <a:rPr lang="zh-CN" altLang="zh-CN" sz="2800" smtClean="0"/>
              <a:t>是一</a:t>
            </a:r>
            <a:r>
              <a:rPr lang="zh-CN" altLang="zh-CN" sz="2800" dirty="0"/>
              <a:t>种可重用的、跨平台的软件组件</a:t>
            </a:r>
            <a:r>
              <a:rPr lang="zh-CN" altLang="zh-CN" sz="2800" dirty="0" smtClean="0"/>
              <a:t>模型</a:t>
            </a:r>
            <a:endParaRPr lang="en-US" altLang="zh-CN" sz="2800" dirty="0" smtClean="0"/>
          </a:p>
          <a:p>
            <a:r>
              <a:rPr lang="zh-CN" altLang="en-US" sz="2800" dirty="0" smtClean="0"/>
              <a:t>两种类型</a:t>
            </a:r>
            <a:endParaRPr lang="en-US" altLang="zh-CN" sz="2800" dirty="0" smtClean="0"/>
          </a:p>
          <a:p>
            <a:pPr lvl="1"/>
            <a:r>
              <a:rPr lang="zh-CN" altLang="zh-CN" sz="2400" dirty="0"/>
              <a:t>用在用户界面（如</a:t>
            </a:r>
            <a:r>
              <a:rPr lang="en-US" altLang="zh-CN" sz="2400" dirty="0"/>
              <a:t>AWT</a:t>
            </a:r>
            <a:r>
              <a:rPr lang="zh-CN" altLang="zh-CN" sz="2400" dirty="0"/>
              <a:t>或</a:t>
            </a:r>
            <a:r>
              <a:rPr lang="en-US" altLang="zh-CN" sz="2400" dirty="0"/>
              <a:t>Swing</a:t>
            </a:r>
            <a:r>
              <a:rPr lang="zh-CN" altLang="zh-CN" sz="2400" dirty="0"/>
              <a:t>）的</a:t>
            </a:r>
            <a:r>
              <a:rPr lang="en-US" altLang="zh-CN" sz="2400" dirty="0" smtClean="0"/>
              <a:t>JavaBean</a:t>
            </a:r>
            <a:endParaRPr lang="en-US" altLang="zh-CN" sz="2400" dirty="0" smtClean="0"/>
          </a:p>
          <a:p>
            <a:pPr lvl="1"/>
            <a:r>
              <a:rPr lang="zh-CN" altLang="zh-CN" sz="2400" dirty="0">
                <a:solidFill>
                  <a:srgbClr val="FF0000"/>
                </a:solidFill>
              </a:rPr>
              <a:t>用在非用户</a:t>
            </a:r>
            <a:r>
              <a:rPr lang="zh-CN" altLang="zh-CN" sz="2400" dirty="0" smtClean="0">
                <a:solidFill>
                  <a:srgbClr val="FF0000"/>
                </a:solidFill>
              </a:rPr>
              <a:t>界面的</a:t>
            </a:r>
            <a:r>
              <a:rPr lang="en-US" altLang="zh-CN" sz="2400" dirty="0" smtClean="0">
                <a:solidFill>
                  <a:srgbClr val="FF0000"/>
                </a:solidFill>
              </a:rPr>
              <a:t>JavaBean</a:t>
            </a:r>
            <a:r>
              <a:rPr lang="zh-CN" altLang="en-US" sz="2400" dirty="0" smtClean="0">
                <a:solidFill>
                  <a:srgbClr val="FF0000"/>
                </a:solidFill>
              </a:rPr>
              <a:t>（</a:t>
            </a:r>
            <a:r>
              <a:rPr lang="en-US" altLang="zh-CN" sz="2400" dirty="0" smtClean="0">
                <a:solidFill>
                  <a:srgbClr val="FF0000"/>
                </a:solidFill>
              </a:rPr>
              <a:t>JSP</a:t>
            </a:r>
            <a:r>
              <a:rPr lang="zh-CN" altLang="en-US" sz="2400" dirty="0" smtClean="0">
                <a:solidFill>
                  <a:srgbClr val="FF0000"/>
                </a:solidFill>
              </a:rPr>
              <a:t>中使用）</a:t>
            </a:r>
            <a:endParaRPr lang="en-US" altLang="zh-CN" sz="2400" dirty="0" smtClean="0">
              <a:solidFill>
                <a:srgbClr val="FF0000"/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ldLvl="2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 smtClean="0"/>
              <a:t>JavaBean</a:t>
            </a:r>
            <a:r>
              <a:rPr lang="zh-CN" altLang="en-US" dirty="0" smtClean="0"/>
              <a:t>简介</a:t>
            </a:r>
            <a:endParaRPr lang="zh-CN" altLang="en-US" dirty="0"/>
          </a:p>
        </p:txBody>
      </p:sp>
      <p:sp>
        <p:nvSpPr>
          <p:cNvPr id="12291" name="内容占位符 2"/>
          <p:cNvSpPr>
            <a:spLocks noGrp="1"/>
          </p:cNvSpPr>
          <p:nvPr>
            <p:ph idx="1"/>
          </p:nvPr>
        </p:nvSpPr>
        <p:spPr>
          <a:xfrm>
            <a:off x="379095" y="1135380"/>
            <a:ext cx="11099800" cy="5113020"/>
          </a:xfrm>
        </p:spPr>
        <p:txBody>
          <a:bodyPr>
            <a:normAutofit/>
          </a:bodyPr>
          <a:lstStyle/>
          <a:p>
            <a:r>
              <a:rPr lang="en-US" altLang="zh-CN" sz="2800" dirty="0" smtClean="0"/>
              <a:t>JSP</a:t>
            </a:r>
            <a:r>
              <a:rPr lang="zh-CN" altLang="en-US" sz="2800" dirty="0" smtClean="0"/>
              <a:t>与</a:t>
            </a:r>
            <a:r>
              <a:rPr lang="en-US" altLang="zh-CN" sz="2800" dirty="0" smtClean="0"/>
              <a:t>JavaBean</a:t>
            </a:r>
            <a:r>
              <a:rPr lang="zh-CN" altLang="en-US" sz="2800" dirty="0" smtClean="0"/>
              <a:t>结合好处</a:t>
            </a:r>
            <a:endParaRPr lang="en-US" altLang="zh-CN" sz="2800" dirty="0"/>
          </a:p>
          <a:p>
            <a:pPr lvl="1"/>
            <a:r>
              <a:rPr lang="zh-CN" altLang="en-US" sz="2400" dirty="0" smtClean="0"/>
              <a:t>提高代码的可维护性</a:t>
            </a:r>
            <a:endParaRPr lang="en-US" altLang="zh-CN" sz="2400" dirty="0" smtClean="0"/>
          </a:p>
          <a:p>
            <a:pPr lvl="2"/>
            <a:r>
              <a:rPr lang="zh-CN" altLang="en-US" sz="2200" dirty="0" smtClean="0"/>
              <a:t>传统</a:t>
            </a:r>
            <a:r>
              <a:rPr lang="en-US" altLang="zh-CN" sz="2200" dirty="0" smtClean="0">
                <a:solidFill>
                  <a:srgbClr val="FF0000"/>
                </a:solidFill>
              </a:rPr>
              <a:t>JSP</a:t>
            </a:r>
            <a:r>
              <a:rPr lang="zh-CN" altLang="en-US" sz="2200" dirty="0"/>
              <a:t>既负责</a:t>
            </a:r>
            <a:r>
              <a:rPr lang="zh-CN" altLang="en-US" sz="2200" dirty="0">
                <a:solidFill>
                  <a:srgbClr val="FF0000"/>
                </a:solidFill>
              </a:rPr>
              <a:t>表示逻辑</a:t>
            </a:r>
            <a:r>
              <a:rPr lang="zh-CN" altLang="en-US" sz="2200" dirty="0"/>
              <a:t>、</a:t>
            </a:r>
            <a:r>
              <a:rPr lang="zh-CN" altLang="en-US" sz="2200" dirty="0">
                <a:solidFill>
                  <a:srgbClr val="FF0000"/>
                </a:solidFill>
              </a:rPr>
              <a:t>流程控制</a:t>
            </a:r>
            <a:r>
              <a:rPr lang="zh-CN" altLang="en-US" sz="2200" dirty="0"/>
              <a:t>、还有</a:t>
            </a:r>
            <a:r>
              <a:rPr lang="zh-CN" altLang="en-US" sz="2200" dirty="0">
                <a:solidFill>
                  <a:srgbClr val="FF0000"/>
                </a:solidFill>
              </a:rPr>
              <a:t>业务逻辑</a:t>
            </a:r>
            <a:r>
              <a:rPr lang="zh-CN" altLang="en-US" sz="2200" dirty="0"/>
              <a:t>（可能访问数据库），使得代码难以</a:t>
            </a:r>
            <a:r>
              <a:rPr lang="zh-CN" altLang="en-US" sz="2200" dirty="0" smtClean="0"/>
              <a:t>维护</a:t>
            </a:r>
            <a:endParaRPr lang="en-US" altLang="zh-CN" sz="2200" dirty="0" smtClean="0"/>
          </a:p>
          <a:p>
            <a:pPr lvl="2"/>
            <a:r>
              <a:rPr lang="en-US" altLang="zh-CN" sz="2200" dirty="0">
                <a:solidFill>
                  <a:srgbClr val="FF0000"/>
                </a:solidFill>
              </a:rPr>
              <a:t>JavaBean</a:t>
            </a:r>
            <a:r>
              <a:rPr lang="zh-CN" altLang="en-US" sz="2200" dirty="0"/>
              <a:t>负责</a:t>
            </a:r>
            <a:r>
              <a:rPr lang="zh-CN" altLang="en-US" sz="2200" dirty="0">
                <a:solidFill>
                  <a:srgbClr val="FF0000"/>
                </a:solidFill>
              </a:rPr>
              <a:t>业务逻辑</a:t>
            </a:r>
            <a:r>
              <a:rPr lang="zh-CN" altLang="en-US" sz="2200" dirty="0"/>
              <a:t>和</a:t>
            </a:r>
            <a:r>
              <a:rPr lang="zh-CN" altLang="en-US" sz="2200" dirty="0">
                <a:solidFill>
                  <a:srgbClr val="FF0000"/>
                </a:solidFill>
              </a:rPr>
              <a:t>数据访问逻辑</a:t>
            </a:r>
            <a:endParaRPr lang="en-US" altLang="zh-CN" sz="2200" dirty="0"/>
          </a:p>
          <a:p>
            <a:pPr lvl="1"/>
            <a:r>
              <a:rPr lang="zh-CN" altLang="en-US" sz="2400" dirty="0" smtClean="0"/>
              <a:t>易于角色分工</a:t>
            </a:r>
            <a:endParaRPr lang="en-US" altLang="zh-CN" sz="2400" dirty="0" smtClean="0"/>
          </a:p>
          <a:p>
            <a:pPr lvl="2"/>
            <a:r>
              <a:rPr lang="zh-CN" altLang="en-US" sz="2200" dirty="0"/>
              <a:t>不熟悉</a:t>
            </a:r>
            <a:r>
              <a:rPr lang="en-US" altLang="zh-CN" sz="2200" dirty="0"/>
              <a:t>Java</a:t>
            </a:r>
            <a:r>
              <a:rPr lang="zh-CN" altLang="en-US" sz="2200" dirty="0"/>
              <a:t>的美工人员可以只负责</a:t>
            </a:r>
            <a:r>
              <a:rPr lang="en-US" altLang="zh-CN" sz="2200" dirty="0"/>
              <a:t>JSP</a:t>
            </a:r>
            <a:r>
              <a:rPr lang="zh-CN" altLang="en-US" sz="2200" dirty="0" smtClean="0"/>
              <a:t>的表示逻辑而</a:t>
            </a:r>
            <a:r>
              <a:rPr lang="zh-CN" altLang="en-US" sz="2200" dirty="0"/>
              <a:t>不用掌握</a:t>
            </a:r>
            <a:r>
              <a:rPr lang="en-US" altLang="zh-CN" sz="2200" dirty="0"/>
              <a:t>Java</a:t>
            </a:r>
            <a:r>
              <a:rPr lang="zh-CN" altLang="en-US" sz="2200" dirty="0"/>
              <a:t>编码</a:t>
            </a:r>
            <a:endParaRPr lang="en-US" altLang="zh-CN" sz="2200" dirty="0" smtClean="0"/>
          </a:p>
          <a:p>
            <a:pPr lvl="1"/>
            <a:r>
              <a:rPr lang="zh-CN" altLang="en-US" sz="2400" dirty="0" smtClean="0"/>
              <a:t>有利于代码重用</a:t>
            </a:r>
            <a:endParaRPr lang="en-US" altLang="zh-CN" sz="2400" dirty="0" smtClean="0"/>
          </a:p>
          <a:p>
            <a:pPr lvl="2"/>
            <a:r>
              <a:rPr lang="zh-CN" altLang="en-US" sz="2200" dirty="0"/>
              <a:t>业务处理由</a:t>
            </a:r>
            <a:r>
              <a:rPr lang="en-US" altLang="zh-CN" sz="2200" dirty="0"/>
              <a:t>JavaBean</a:t>
            </a:r>
            <a:r>
              <a:rPr lang="zh-CN" altLang="en-US" sz="2200" dirty="0"/>
              <a:t>来完成，可以充分利用</a:t>
            </a:r>
            <a:r>
              <a:rPr lang="en-US" altLang="zh-CN" sz="2200" dirty="0">
                <a:solidFill>
                  <a:srgbClr val="FF0000"/>
                </a:solidFill>
              </a:rPr>
              <a:t>JavaBean</a:t>
            </a:r>
            <a:r>
              <a:rPr lang="zh-CN" altLang="en-US" sz="2200" dirty="0"/>
              <a:t>的</a:t>
            </a:r>
            <a:r>
              <a:rPr lang="zh-CN" altLang="en-US" sz="2200" dirty="0">
                <a:solidFill>
                  <a:srgbClr val="FF0000"/>
                </a:solidFill>
              </a:rPr>
              <a:t>可重用</a:t>
            </a:r>
            <a:r>
              <a:rPr lang="zh-CN" altLang="en-US" sz="2200" dirty="0"/>
              <a:t>的特点，提高开发效率</a:t>
            </a:r>
            <a:r>
              <a:rPr lang="zh-CN" altLang="en-US" sz="2200" dirty="0" smtClean="0"/>
              <a:t>。</a:t>
            </a:r>
            <a:endParaRPr lang="zh-CN" altLang="en-US" sz="22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右箭头 4">
            <a:hlinkClick r:id="rId1" action="ppaction://hlinksldjump"/>
          </p:cNvPr>
          <p:cNvSpPr/>
          <p:nvPr/>
        </p:nvSpPr>
        <p:spPr>
          <a:xfrm>
            <a:off x="9677400" y="6019800"/>
            <a:ext cx="838200" cy="609600"/>
          </a:xfrm>
          <a:prstGeom prst="rightArrow">
            <a:avLst/>
          </a:prstGeom>
          <a:solidFill>
            <a:srgbClr val="99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ldLvl="2" uiExpand="1" build="p"/>
      <p:bldP spid="5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JavaBean</a:t>
            </a:r>
            <a:r>
              <a:rPr lang="zh-CN" altLang="en-US" dirty="0" smtClean="0"/>
              <a:t>编写规范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①JavaBean</a:t>
            </a:r>
            <a:r>
              <a:rPr lang="zh-CN" altLang="en-US" dirty="0"/>
              <a:t>是一个</a:t>
            </a:r>
            <a:r>
              <a:rPr lang="en-US" altLang="zh-CN" dirty="0">
                <a:solidFill>
                  <a:srgbClr val="FF0000"/>
                </a:solidFill>
              </a:rPr>
              <a:t>public</a:t>
            </a:r>
            <a:r>
              <a:rPr lang="zh-CN" altLang="en-US" dirty="0"/>
              <a:t>的类；</a:t>
            </a:r>
            <a:endParaRPr lang="zh-CN" altLang="en-US" dirty="0"/>
          </a:p>
          <a:p>
            <a:pPr eaLnBrk="1" hangingPunct="1"/>
            <a:r>
              <a:rPr lang="zh-CN" altLang="en-US" dirty="0"/>
              <a:t>②</a:t>
            </a:r>
            <a:r>
              <a:rPr lang="en-US" altLang="zh-CN" dirty="0"/>
              <a:t>JavaBean</a:t>
            </a:r>
            <a:r>
              <a:rPr lang="zh-CN" altLang="en-US" dirty="0"/>
              <a:t>有一个</a:t>
            </a:r>
            <a:r>
              <a:rPr lang="zh-CN" altLang="en-US" dirty="0">
                <a:solidFill>
                  <a:srgbClr val="FF0000"/>
                </a:solidFill>
              </a:rPr>
              <a:t>无参数</a:t>
            </a:r>
            <a:r>
              <a:rPr lang="zh-CN" altLang="en-US" dirty="0"/>
              <a:t>的构造方法；</a:t>
            </a:r>
            <a:endParaRPr lang="zh-CN" altLang="en-US" dirty="0"/>
          </a:p>
          <a:p>
            <a:pPr eaLnBrk="1" hangingPunct="1"/>
            <a:r>
              <a:rPr lang="zh-CN" altLang="en-US" dirty="0"/>
              <a:t>③</a:t>
            </a:r>
            <a:r>
              <a:rPr lang="en-US" altLang="zh-CN" dirty="0"/>
              <a:t>JavaBean</a:t>
            </a:r>
            <a:r>
              <a:rPr lang="zh-CN" altLang="en-US" dirty="0"/>
              <a:t>的每个属性最好是</a:t>
            </a:r>
            <a:r>
              <a:rPr lang="en-US" altLang="zh-CN" dirty="0">
                <a:solidFill>
                  <a:srgbClr val="FF0000"/>
                </a:solidFill>
              </a:rPr>
              <a:t>private</a:t>
            </a:r>
            <a:r>
              <a:rPr lang="zh-CN" altLang="en-US" dirty="0"/>
              <a:t>的，每个属性有一对</a:t>
            </a:r>
            <a:r>
              <a:rPr lang="en-US" altLang="zh-CN" dirty="0"/>
              <a:t>get</a:t>
            </a:r>
            <a:r>
              <a:rPr lang="zh-CN" altLang="en-US" dirty="0"/>
              <a:t>和</a:t>
            </a:r>
            <a:r>
              <a:rPr lang="en-US" altLang="zh-CN" dirty="0"/>
              <a:t>set</a:t>
            </a:r>
            <a:r>
              <a:rPr lang="zh-CN" altLang="en-US" dirty="0"/>
              <a:t>方法，通过</a:t>
            </a:r>
            <a:r>
              <a:rPr lang="en-US" altLang="zh-CN" dirty="0">
                <a:solidFill>
                  <a:srgbClr val="FF0000"/>
                </a:solidFill>
              </a:rPr>
              <a:t>get</a:t>
            </a:r>
            <a:r>
              <a:rPr lang="zh-CN" altLang="en-US" dirty="0"/>
              <a:t>和</a:t>
            </a:r>
            <a:r>
              <a:rPr lang="en-US" altLang="zh-CN" dirty="0">
                <a:solidFill>
                  <a:srgbClr val="FF0000"/>
                </a:solidFill>
              </a:rPr>
              <a:t>set</a:t>
            </a:r>
            <a:r>
              <a:rPr lang="zh-CN" altLang="en-US" dirty="0"/>
              <a:t>方法来读取和设置属性。</a:t>
            </a:r>
            <a:endParaRPr lang="zh-CN" altLang="en-US" dirty="0"/>
          </a:p>
          <a:p>
            <a:pPr eaLnBrk="1" hangingPunct="1"/>
            <a:r>
              <a:rPr lang="zh-CN" altLang="en-US" dirty="0"/>
              <a:t>④</a:t>
            </a:r>
            <a:r>
              <a:rPr lang="en-US" altLang="zh-CN" dirty="0"/>
              <a:t>JavaBean</a:t>
            </a:r>
            <a:r>
              <a:rPr lang="zh-CN" altLang="en-US" dirty="0"/>
              <a:t>中可以增加</a:t>
            </a:r>
            <a:r>
              <a:rPr lang="zh-CN" altLang="en-US" dirty="0">
                <a:solidFill>
                  <a:srgbClr val="FF0000"/>
                </a:solidFill>
              </a:rPr>
              <a:t>业务方法</a:t>
            </a:r>
            <a:r>
              <a:rPr lang="zh-CN" altLang="en-US" dirty="0"/>
              <a:t>，来进行数据库的访问操作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编写</a:t>
            </a:r>
            <a:r>
              <a:rPr lang="en-US" altLang="zh-CN" dirty="0" smtClean="0"/>
              <a:t>JavaBean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 smtClean="0"/>
              <a:t>一个</a:t>
            </a:r>
            <a:r>
              <a:rPr lang="en-US" altLang="zh-CN" dirty="0" smtClean="0"/>
              <a:t>JavaBean</a:t>
            </a:r>
            <a:r>
              <a:rPr lang="zh-CN" altLang="en-US" dirty="0" smtClean="0"/>
              <a:t>示例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UserBean.java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属性 </a:t>
            </a:r>
            <a:r>
              <a:rPr lang="en-US" altLang="zh-CN" dirty="0" err="1" smtClean="0"/>
              <a:t>userid</a:t>
            </a:r>
            <a:r>
              <a:rPr lang="en-US" altLang="zh-CN" dirty="0" smtClean="0"/>
              <a:t>, username, </a:t>
            </a:r>
            <a:r>
              <a:rPr lang="en-US" altLang="zh-CN" dirty="0" err="1" smtClean="0"/>
              <a:t>password,sex,age,birthday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属性访问方法</a:t>
            </a:r>
            <a:r>
              <a:rPr lang="en-US" altLang="zh-CN" dirty="0" err="1" smtClean="0"/>
              <a:t>getXXX</a:t>
            </a:r>
            <a:r>
              <a:rPr lang="en-US" altLang="zh-CN" dirty="0" smtClean="0"/>
              <a:t>()/</a:t>
            </a:r>
            <a:r>
              <a:rPr lang="en-US" altLang="zh-CN" dirty="0" err="1" smtClean="0"/>
              <a:t>setXXX</a:t>
            </a:r>
            <a:r>
              <a:rPr lang="en-US" altLang="zh-CN" dirty="0" smtClean="0"/>
              <a:t>()  </a:t>
            </a:r>
            <a:r>
              <a:rPr lang="en-US" altLang="zh-CN" dirty="0" smtClean="0">
                <a:solidFill>
                  <a:srgbClr val="FF0000"/>
                </a:solidFill>
              </a:rPr>
              <a:t>Eclipse</a:t>
            </a:r>
            <a:r>
              <a:rPr lang="zh-CN" altLang="en-US" dirty="0" smtClean="0">
                <a:solidFill>
                  <a:srgbClr val="FF0000"/>
                </a:solidFill>
              </a:rPr>
              <a:t>自动生成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lvl="2"/>
            <a:r>
              <a:rPr lang="zh-CN" altLang="en-US" dirty="0" smtClean="0"/>
              <a:t>业务方法</a:t>
            </a:r>
            <a:endParaRPr lang="en-US" altLang="zh-CN" dirty="0" smtClean="0"/>
          </a:p>
          <a:p>
            <a:pPr lvl="3"/>
            <a:r>
              <a:rPr lang="en-US" altLang="zh-CN" dirty="0" err="1" smtClean="0"/>
              <a:t>validLogin</a:t>
            </a:r>
            <a:r>
              <a:rPr lang="en-US" altLang="zh-CN" dirty="0" smtClean="0"/>
              <a:t>()</a:t>
            </a:r>
            <a:endParaRPr lang="en-US" altLang="zh-CN" dirty="0" smtClean="0"/>
          </a:p>
          <a:p>
            <a:pPr lvl="3"/>
            <a:r>
              <a:rPr lang="en-US" altLang="zh-CN" dirty="0" err="1" smtClean="0"/>
              <a:t>getUsers</a:t>
            </a:r>
            <a:r>
              <a:rPr lang="en-US" altLang="zh-CN" dirty="0" smtClean="0"/>
              <a:t>()</a:t>
            </a:r>
            <a:endParaRPr lang="en-US" altLang="zh-CN" dirty="0" smtClean="0"/>
          </a:p>
          <a:p>
            <a:pPr lvl="3"/>
            <a:r>
              <a:rPr lang="en-US" altLang="zh-CN" dirty="0" err="1" smtClean="0"/>
              <a:t>getUserById</a:t>
            </a:r>
            <a:r>
              <a:rPr lang="en-US" altLang="zh-CN" dirty="0" smtClean="0"/>
              <a:t>()</a:t>
            </a:r>
            <a:endParaRPr lang="en-US" altLang="zh-CN" dirty="0" smtClean="0"/>
          </a:p>
          <a:p>
            <a:pPr lvl="3"/>
            <a:r>
              <a:rPr lang="en-US" altLang="zh-CN" dirty="0" err="1" smtClean="0"/>
              <a:t>updateUser</a:t>
            </a:r>
            <a:r>
              <a:rPr lang="en-US" altLang="zh-CN" dirty="0" smtClean="0"/>
              <a:t>()</a:t>
            </a:r>
            <a:endParaRPr lang="en-US" altLang="zh-CN" dirty="0" smtClean="0"/>
          </a:p>
          <a:p>
            <a:pPr lvl="3"/>
            <a:r>
              <a:rPr lang="en-US" altLang="zh-CN" dirty="0" err="1" smtClean="0"/>
              <a:t>delUserById</a:t>
            </a:r>
            <a:r>
              <a:rPr lang="en-US" altLang="zh-CN" dirty="0" smtClean="0"/>
              <a:t>()</a:t>
            </a:r>
            <a:endParaRPr lang="en-US" altLang="zh-CN" dirty="0" smtClean="0"/>
          </a:p>
          <a:p>
            <a:pPr lvl="3"/>
            <a:r>
              <a:rPr lang="en-US" altLang="zh-CN" dirty="0" err="1" smtClean="0"/>
              <a:t>addUser</a:t>
            </a:r>
            <a:r>
              <a:rPr lang="en-US" altLang="zh-CN" dirty="0" smtClean="0"/>
              <a:t>()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右箭头 4">
            <a:hlinkClick r:id="rId1" action="ppaction://hlinksldjump"/>
          </p:cNvPr>
          <p:cNvSpPr/>
          <p:nvPr/>
        </p:nvSpPr>
        <p:spPr>
          <a:xfrm>
            <a:off x="9677400" y="6019800"/>
            <a:ext cx="838200" cy="609600"/>
          </a:xfrm>
          <a:prstGeom prst="rightArrow">
            <a:avLst/>
          </a:prstGeom>
          <a:solidFill>
            <a:srgbClr val="99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JSP</a:t>
            </a:r>
            <a:r>
              <a:rPr lang="zh-CN" altLang="en-US" dirty="0" smtClean="0"/>
              <a:t>访问</a:t>
            </a:r>
            <a:r>
              <a:rPr lang="en-US" altLang="zh-CN" dirty="0" smtClean="0"/>
              <a:t>JavaBean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/>
              <a:t>2</a:t>
            </a:r>
            <a:r>
              <a:rPr lang="zh-CN" altLang="en-US" dirty="0" smtClean="0"/>
              <a:t>种访问方式</a:t>
            </a:r>
            <a:endParaRPr lang="en-US" altLang="zh-CN" dirty="0" smtClean="0"/>
          </a:p>
          <a:p>
            <a:pPr lvl="1" eaLnBrk="1" hangingPunct="1"/>
            <a:r>
              <a:rPr lang="zh-CN" altLang="en-US" dirty="0" smtClean="0"/>
              <a:t>通过</a:t>
            </a:r>
            <a:r>
              <a:rPr lang="zh-CN" altLang="en-US" dirty="0"/>
              <a:t>脚本段代码访问</a:t>
            </a:r>
            <a:r>
              <a:rPr lang="en-US" altLang="zh-CN" dirty="0" smtClean="0"/>
              <a:t>JavaBean</a:t>
            </a:r>
            <a:endParaRPr lang="zh-CN" altLang="en-US" dirty="0"/>
          </a:p>
          <a:p>
            <a:pPr lvl="1" eaLnBrk="1" hangingPunct="1"/>
            <a:r>
              <a:rPr lang="zh-CN" altLang="en-US" dirty="0" smtClean="0"/>
              <a:t>通过</a:t>
            </a:r>
            <a:r>
              <a:rPr lang="en-US" altLang="zh-CN" dirty="0"/>
              <a:t>&lt;</a:t>
            </a:r>
            <a:r>
              <a:rPr lang="en-US" altLang="zh-CN" dirty="0" err="1"/>
              <a:t>jsp:useBean</a:t>
            </a:r>
            <a:r>
              <a:rPr lang="en-US" altLang="zh-CN" dirty="0"/>
              <a:t>&gt;</a:t>
            </a:r>
            <a:r>
              <a:rPr lang="zh-CN" altLang="en-US" dirty="0"/>
              <a:t>动作元素（建议使用）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脚本访问</a:t>
            </a:r>
            <a:r>
              <a:rPr lang="en-US" altLang="zh-CN" dirty="0" smtClean="0"/>
              <a:t>JavaBean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9071" y="1268759"/>
            <a:ext cx="9031425" cy="4996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直接连接符 5"/>
          <p:cNvCxnSpPr/>
          <p:nvPr/>
        </p:nvCxnSpPr>
        <p:spPr>
          <a:xfrm>
            <a:off x="1847528" y="1700808"/>
            <a:ext cx="4197255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圆角矩形 6"/>
          <p:cNvSpPr/>
          <p:nvPr/>
        </p:nvSpPr>
        <p:spPr>
          <a:xfrm>
            <a:off x="2063552" y="2636912"/>
            <a:ext cx="4392488" cy="93610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3359696" y="3933056"/>
            <a:ext cx="4392488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3592" y="5229200"/>
            <a:ext cx="8064896" cy="576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4647" y="5989930"/>
            <a:ext cx="5616624" cy="727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670422" y="6136297"/>
            <a:ext cx="1378547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err="1" smtClean="0"/>
              <a:t>index.jsp</a:t>
            </a:r>
            <a:endParaRPr lang="zh-CN" altLang="en-US" sz="20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8328248" y="1268759"/>
            <a:ext cx="199302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err="1" smtClean="0"/>
              <a:t>LoginValid.jsp</a:t>
            </a:r>
            <a:endParaRPr lang="zh-CN" altLang="en-US" sz="2000" b="1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00200" y="152400"/>
            <a:ext cx="8562975" cy="875030"/>
          </a:xfrm>
        </p:spPr>
        <p:txBody>
          <a:bodyPr/>
          <a:lstStyle/>
          <a:p>
            <a:r>
              <a:rPr lang="en-US" altLang="zh-CN" dirty="0" smtClean="0"/>
              <a:t>&lt;</a:t>
            </a:r>
            <a:r>
              <a:rPr lang="en-US" altLang="zh-CN" dirty="0" err="1" smtClean="0"/>
              <a:t>jsp:useBean</a:t>
            </a:r>
            <a:r>
              <a:rPr lang="en-US" altLang="zh-CN" dirty="0" smtClean="0"/>
              <a:t>&gt;</a:t>
            </a:r>
            <a:r>
              <a:rPr lang="zh-CN" altLang="en-US" dirty="0" smtClean="0"/>
              <a:t>访问</a:t>
            </a:r>
            <a:r>
              <a:rPr lang="en-US" altLang="zh-CN" dirty="0" smtClean="0"/>
              <a:t>JavaBean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关键动作元素</a:t>
            </a:r>
            <a:endParaRPr lang="en-US" altLang="zh-CN" dirty="0" smtClean="0"/>
          </a:p>
          <a:p>
            <a:pPr lvl="1"/>
            <a:r>
              <a:rPr lang="en-US" altLang="zh-CN" dirty="0"/>
              <a:t>&lt;</a:t>
            </a:r>
            <a:r>
              <a:rPr lang="en-US" altLang="zh-CN" dirty="0" err="1"/>
              <a:t>jsp:useBean</a:t>
            </a:r>
            <a:r>
              <a:rPr lang="en-US" altLang="zh-CN" dirty="0" smtClean="0"/>
              <a:t>&gt; 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实例化一个</a:t>
            </a:r>
            <a:r>
              <a:rPr lang="en-US" altLang="zh-CN" dirty="0" smtClean="0"/>
              <a:t>JavaBean</a:t>
            </a:r>
            <a:endParaRPr lang="en-US" altLang="zh-CN" dirty="0" smtClean="0"/>
          </a:p>
          <a:p>
            <a:pPr lvl="1"/>
            <a:r>
              <a:rPr lang="en-US" altLang="zh-CN" dirty="0"/>
              <a:t>&lt;</a:t>
            </a:r>
            <a:r>
              <a:rPr lang="en-US" altLang="zh-CN" dirty="0" err="1"/>
              <a:t>jsp:setProperty</a:t>
            </a:r>
            <a:r>
              <a:rPr lang="en-US" altLang="zh-CN" dirty="0" smtClean="0"/>
              <a:t>&gt;</a:t>
            </a:r>
            <a:endParaRPr lang="en-US" altLang="zh-CN" dirty="0" smtClean="0"/>
          </a:p>
          <a:p>
            <a:pPr lvl="2"/>
            <a:r>
              <a:rPr lang="zh-CN" altLang="zh-CN" dirty="0" smtClean="0"/>
              <a:t>设置</a:t>
            </a:r>
            <a:r>
              <a:rPr lang="en-US" altLang="zh-CN" dirty="0"/>
              <a:t>JavaBean</a:t>
            </a:r>
            <a:r>
              <a:rPr lang="zh-CN" altLang="zh-CN" dirty="0"/>
              <a:t>实例的属性</a:t>
            </a:r>
            <a:endParaRPr lang="en-US" altLang="zh-CN" dirty="0" smtClean="0"/>
          </a:p>
          <a:p>
            <a:pPr lvl="1"/>
            <a:r>
              <a:rPr lang="en-US" altLang="zh-CN" dirty="0"/>
              <a:t>&lt;</a:t>
            </a:r>
            <a:r>
              <a:rPr lang="en-US" altLang="zh-CN" dirty="0" err="1" smtClean="0"/>
              <a:t>jsp:getProperty</a:t>
            </a:r>
            <a:r>
              <a:rPr lang="en-US" altLang="zh-CN" dirty="0" smtClean="0"/>
              <a:t>&gt;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读取</a:t>
            </a:r>
            <a:r>
              <a:rPr lang="en-US" altLang="zh-CN" dirty="0" smtClean="0"/>
              <a:t>JavaBean</a:t>
            </a:r>
            <a:r>
              <a:rPr lang="zh-CN" altLang="zh-CN" dirty="0"/>
              <a:t>实例的</a:t>
            </a:r>
            <a:r>
              <a:rPr lang="zh-CN" altLang="zh-CN" dirty="0" smtClean="0"/>
              <a:t>属性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&lt;</a:t>
            </a:r>
            <a:r>
              <a:rPr lang="en-US" altLang="zh-CN" dirty="0" err="1" smtClean="0"/>
              <a:t>jsp:useBean</a:t>
            </a:r>
            <a:r>
              <a:rPr lang="en-US" altLang="zh-CN" dirty="0" smtClean="0"/>
              <a:t>&gt;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24000" y="1135063"/>
            <a:ext cx="9144000" cy="96178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 dirty="0"/>
              <a:t>&lt;</a:t>
            </a:r>
            <a:r>
              <a:rPr lang="en-US" altLang="zh-CN" sz="2400" dirty="0" err="1">
                <a:solidFill>
                  <a:srgbClr val="7030A0"/>
                </a:solidFill>
              </a:rPr>
              <a:t>jsp:useBean</a:t>
            </a:r>
            <a:r>
              <a:rPr lang="en-US" altLang="zh-CN" sz="2400" dirty="0"/>
              <a:t> </a:t>
            </a:r>
            <a:r>
              <a:rPr lang="en-US" altLang="zh-CN" sz="2400" dirty="0">
                <a:solidFill>
                  <a:srgbClr val="0070C0"/>
                </a:solidFill>
              </a:rPr>
              <a:t>id</a:t>
            </a:r>
            <a:r>
              <a:rPr lang="en-US" altLang="zh-CN" sz="2400" dirty="0"/>
              <a:t>="</a:t>
            </a:r>
            <a:r>
              <a:rPr lang="en-US" altLang="zh-CN" sz="2400" dirty="0" err="1"/>
              <a:t>beanName</a:t>
            </a:r>
            <a:r>
              <a:rPr lang="en-US" altLang="zh-CN" sz="2400" dirty="0"/>
              <a:t>" </a:t>
            </a:r>
            <a:r>
              <a:rPr lang="en-US" altLang="zh-CN" sz="2400" dirty="0" smtClean="0">
                <a:solidFill>
                  <a:srgbClr val="0070C0"/>
                </a:solidFill>
              </a:rPr>
              <a:t>class</a:t>
            </a:r>
            <a:r>
              <a:rPr lang="en-US" altLang="zh-CN" sz="2400" dirty="0"/>
              <a:t>="</a:t>
            </a:r>
            <a:r>
              <a:rPr lang="en-US" altLang="zh-CN" sz="2400" dirty="0" err="1"/>
              <a:t>package.className</a:t>
            </a:r>
            <a:r>
              <a:rPr lang="en-US" altLang="zh-CN" sz="2400" dirty="0"/>
              <a:t>" </a:t>
            </a:r>
            <a:r>
              <a:rPr lang="en-US" altLang="zh-CN" sz="2400" dirty="0" smtClean="0">
                <a:solidFill>
                  <a:srgbClr val="0070C0"/>
                </a:solidFill>
              </a:rPr>
              <a:t>scope</a:t>
            </a:r>
            <a:r>
              <a:rPr lang="en-US" altLang="zh-CN" sz="2400" dirty="0"/>
              <a:t>="</a:t>
            </a:r>
            <a:r>
              <a:rPr lang="en-US" altLang="zh-CN" sz="2400" dirty="0" err="1"/>
              <a:t>page|request|session|application</a:t>
            </a:r>
            <a:r>
              <a:rPr lang="en-US" altLang="zh-CN" sz="2400" dirty="0"/>
              <a:t>" </a:t>
            </a:r>
            <a:r>
              <a:rPr lang="en-US" altLang="zh-CN" sz="2400" dirty="0" smtClean="0"/>
              <a:t>/&gt;</a:t>
            </a:r>
            <a:endParaRPr lang="en-US" altLang="zh-CN" sz="24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1600200" y="6137906"/>
            <a:ext cx="533400" cy="268287"/>
          </a:xfrm>
        </p:spPr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 flipV="1">
            <a:off x="3935760" y="1556792"/>
            <a:ext cx="0" cy="776119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215680" y="2252519"/>
            <a:ext cx="1985418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/>
              <a:t>JavaBean</a:t>
            </a:r>
            <a:r>
              <a:rPr lang="zh-CN" altLang="en-US" sz="2000" b="1" dirty="0" smtClean="0"/>
              <a:t>实例名</a:t>
            </a:r>
            <a:endParaRPr lang="zh-CN" altLang="en-US" sz="2000" b="1" dirty="0"/>
          </a:p>
        </p:txBody>
      </p:sp>
      <p:cxnSp>
        <p:nvCxnSpPr>
          <p:cNvPr id="11" name="直接箭头连接符 10"/>
          <p:cNvCxnSpPr/>
          <p:nvPr/>
        </p:nvCxnSpPr>
        <p:spPr>
          <a:xfrm flipV="1">
            <a:off x="6384032" y="1509138"/>
            <a:ext cx="0" cy="69572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663952" y="2204864"/>
            <a:ext cx="2376264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/>
              <a:t>JavaBean</a:t>
            </a:r>
            <a:r>
              <a:rPr lang="zh-CN" altLang="en-US" sz="2000" b="1" dirty="0" smtClean="0"/>
              <a:t>完整类名</a:t>
            </a:r>
            <a:endParaRPr lang="zh-CN" altLang="en-US" sz="2000" b="1" dirty="0"/>
          </a:p>
        </p:txBody>
      </p:sp>
      <p:cxnSp>
        <p:nvCxnSpPr>
          <p:cNvPr id="13" name="直接箭头连接符 12"/>
          <p:cNvCxnSpPr/>
          <p:nvPr/>
        </p:nvCxnSpPr>
        <p:spPr>
          <a:xfrm flipV="1">
            <a:off x="2310305" y="1844824"/>
            <a:ext cx="0" cy="80780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590225" y="2684567"/>
            <a:ext cx="2618164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/>
              <a:t>JavaBean</a:t>
            </a:r>
            <a:r>
              <a:rPr lang="zh-CN" altLang="en-US" sz="2000" b="1" dirty="0" smtClean="0"/>
              <a:t>作用范围</a:t>
            </a:r>
            <a:endParaRPr lang="zh-CN" altLang="en-US" sz="2000" b="1" dirty="0"/>
          </a:p>
        </p:txBody>
      </p:sp>
      <p:sp>
        <p:nvSpPr>
          <p:cNvPr id="16" name="矩形 15"/>
          <p:cNvSpPr/>
          <p:nvPr/>
        </p:nvSpPr>
        <p:spPr>
          <a:xfrm>
            <a:off x="639445" y="3068955"/>
            <a:ext cx="10556875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i="1" dirty="0">
                <a:solidFill>
                  <a:srgbClr val="7030A0"/>
                </a:solidFill>
              </a:rPr>
              <a:t>Servlet</a:t>
            </a:r>
            <a:r>
              <a:rPr lang="zh-CN" altLang="zh-CN" sz="2400" b="1" i="1" dirty="0">
                <a:solidFill>
                  <a:srgbClr val="7030A0"/>
                </a:solidFill>
              </a:rPr>
              <a:t>容器</a:t>
            </a:r>
            <a:r>
              <a:rPr lang="zh-CN" altLang="zh-CN" sz="2400" b="1" dirty="0"/>
              <a:t>首先在</a:t>
            </a:r>
            <a:r>
              <a:rPr lang="en-US" altLang="zh-CN" sz="2400" b="1" i="1" dirty="0">
                <a:solidFill>
                  <a:srgbClr val="7030A0"/>
                </a:solidFill>
              </a:rPr>
              <a:t>scope</a:t>
            </a:r>
            <a:r>
              <a:rPr lang="zh-CN" altLang="zh-CN" sz="2400" b="1" dirty="0"/>
              <a:t>指定的范围中查找</a:t>
            </a:r>
            <a:r>
              <a:rPr lang="en-US" altLang="zh-CN" sz="2400" b="1" i="1" dirty="0" err="1">
                <a:solidFill>
                  <a:srgbClr val="7030A0"/>
                </a:solidFill>
              </a:rPr>
              <a:t>beanName</a:t>
            </a:r>
            <a:r>
              <a:rPr lang="zh-CN" altLang="zh-CN" sz="2400" b="1" dirty="0"/>
              <a:t>实例。如果找到，就可以在</a:t>
            </a:r>
            <a:r>
              <a:rPr lang="en-US" altLang="zh-CN" sz="2400" b="1" dirty="0"/>
              <a:t>JSP</a:t>
            </a:r>
            <a:r>
              <a:rPr lang="zh-CN" altLang="zh-CN" sz="2400" b="1" dirty="0"/>
              <a:t>页面使用该实例；如果找不到，</a:t>
            </a:r>
            <a:r>
              <a:rPr lang="en-US" altLang="zh-CN" sz="2400" b="1" i="1" dirty="0">
                <a:solidFill>
                  <a:srgbClr val="7030A0"/>
                </a:solidFill>
              </a:rPr>
              <a:t>Servlet</a:t>
            </a:r>
            <a:r>
              <a:rPr lang="zh-CN" altLang="zh-CN" sz="2400" b="1" i="1" dirty="0">
                <a:solidFill>
                  <a:srgbClr val="7030A0"/>
                </a:solidFill>
              </a:rPr>
              <a:t>容器</a:t>
            </a:r>
            <a:r>
              <a:rPr lang="zh-CN" altLang="zh-CN" sz="2400" b="1" dirty="0"/>
              <a:t>才创建一个新的实例</a:t>
            </a:r>
            <a:endParaRPr lang="zh-CN" altLang="zh-CN" sz="2400" b="1" dirty="0"/>
          </a:p>
        </p:txBody>
      </p:sp>
      <p:sp>
        <p:nvSpPr>
          <p:cNvPr id="17" name="矩形 16"/>
          <p:cNvSpPr/>
          <p:nvPr/>
        </p:nvSpPr>
        <p:spPr>
          <a:xfrm>
            <a:off x="1668764" y="3971379"/>
            <a:ext cx="8748464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 smtClean="0"/>
              <a:t>例：</a:t>
            </a:r>
            <a:endParaRPr lang="en-US" altLang="zh-CN" sz="2000" b="1" dirty="0" smtClean="0"/>
          </a:p>
          <a:p>
            <a:r>
              <a:rPr lang="en-US" altLang="zh-CN" sz="2000" dirty="0" smtClean="0"/>
              <a:t>&lt;</a:t>
            </a:r>
            <a:r>
              <a:rPr lang="en-US" altLang="zh-CN" sz="2000" b="1" dirty="0" err="1" smtClean="0">
                <a:solidFill>
                  <a:srgbClr val="7030A0"/>
                </a:solidFill>
              </a:rPr>
              <a:t>jsp:useBean</a:t>
            </a:r>
            <a:r>
              <a:rPr lang="en-US" altLang="zh-CN" sz="2000" dirty="0" smtClean="0"/>
              <a:t> </a:t>
            </a:r>
            <a:r>
              <a:rPr lang="en-US" altLang="zh-CN" sz="2000" b="1" dirty="0" smtClean="0"/>
              <a:t>id=</a:t>
            </a:r>
            <a:r>
              <a:rPr lang="en-US" altLang="zh-CN" sz="2000" dirty="0"/>
              <a:t>"</a:t>
            </a:r>
            <a:r>
              <a:rPr lang="en-US" altLang="zh-CN" sz="2000" b="1" i="1" dirty="0" smtClean="0">
                <a:solidFill>
                  <a:srgbClr val="FF0000"/>
                </a:solidFill>
              </a:rPr>
              <a:t>user</a:t>
            </a:r>
            <a:r>
              <a:rPr lang="en-US" altLang="zh-CN" sz="2000" dirty="0"/>
              <a:t>"</a:t>
            </a:r>
            <a:r>
              <a:rPr lang="en-US" altLang="zh-CN" sz="2000" dirty="0" smtClean="0"/>
              <a:t> </a:t>
            </a:r>
            <a:r>
              <a:rPr lang="en-US" altLang="zh-CN" sz="2000" b="1" dirty="0" smtClean="0"/>
              <a:t>class</a:t>
            </a:r>
            <a:r>
              <a:rPr lang="en-US" altLang="zh-CN" sz="2000" dirty="0" smtClean="0"/>
              <a:t>=“</a:t>
            </a:r>
            <a:r>
              <a:rPr lang="en-US" altLang="zh-CN" sz="2000" b="1" i="1" dirty="0" err="1" smtClean="0">
                <a:solidFill>
                  <a:srgbClr val="FF0000"/>
                </a:solidFill>
              </a:rPr>
              <a:t>bean.UserBean</a:t>
            </a:r>
            <a:r>
              <a:rPr lang="en-US" altLang="zh-CN" sz="2000" dirty="0" smtClean="0"/>
              <a:t>“ </a:t>
            </a:r>
            <a:r>
              <a:rPr lang="en-US" altLang="zh-CN" sz="2000" b="1" dirty="0" smtClean="0"/>
              <a:t>scope</a:t>
            </a:r>
            <a:r>
              <a:rPr lang="en-US" altLang="zh-CN" sz="2000" dirty="0" smtClean="0"/>
              <a:t>=“</a:t>
            </a:r>
            <a:r>
              <a:rPr lang="en-US" altLang="zh-CN" sz="2000" b="1" i="1" dirty="0" smtClean="0">
                <a:solidFill>
                  <a:srgbClr val="FF0000"/>
                </a:solidFill>
              </a:rPr>
              <a:t>session</a:t>
            </a:r>
            <a:r>
              <a:rPr lang="en-US" altLang="zh-CN" sz="2000" dirty="0" smtClean="0"/>
              <a:t>”/</a:t>
            </a:r>
            <a:r>
              <a:rPr lang="en-US" altLang="zh-CN" sz="2000" b="1" dirty="0" smtClean="0"/>
              <a:t>&gt;</a:t>
            </a:r>
            <a:endParaRPr lang="en-US" altLang="zh-CN" sz="2000" b="1" dirty="0" smtClean="0"/>
          </a:p>
        </p:txBody>
      </p:sp>
      <p:sp>
        <p:nvSpPr>
          <p:cNvPr id="18" name="矩形 17"/>
          <p:cNvSpPr/>
          <p:nvPr/>
        </p:nvSpPr>
        <p:spPr>
          <a:xfrm>
            <a:off x="1818153" y="5221170"/>
            <a:ext cx="8748464" cy="1630045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r>
              <a:rPr lang="en-US" altLang="zh-CN" sz="2000" dirty="0" smtClean="0"/>
              <a:t>&lt;%@</a:t>
            </a:r>
            <a:r>
              <a:rPr lang="en-US" altLang="zh-CN" sz="2000" dirty="0"/>
              <a:t>page import=</a:t>
            </a:r>
            <a:r>
              <a:rPr lang="en-US" altLang="zh-CN" sz="2000" i="1" dirty="0"/>
              <a:t>"</a:t>
            </a:r>
            <a:r>
              <a:rPr lang="en-US" altLang="zh-CN" sz="2000" b="1" i="1" dirty="0" err="1">
                <a:solidFill>
                  <a:srgbClr val="FF0000"/>
                </a:solidFill>
              </a:rPr>
              <a:t>bean.UserBean</a:t>
            </a:r>
            <a:r>
              <a:rPr lang="en-US" altLang="zh-CN" sz="2000" i="1" dirty="0" smtClean="0"/>
              <a:t>"%&gt;</a:t>
            </a:r>
            <a:endParaRPr lang="en-US" altLang="zh-CN" sz="2000" i="1" dirty="0" smtClean="0"/>
          </a:p>
          <a:p>
            <a:r>
              <a:rPr lang="en-US" altLang="zh-CN" sz="2000" dirty="0" smtClean="0"/>
              <a:t>&lt;% </a:t>
            </a:r>
            <a:r>
              <a:rPr lang="en-US" altLang="zh-CN" sz="2000" dirty="0" err="1" smtClean="0"/>
              <a:t>UserBean</a:t>
            </a:r>
            <a:r>
              <a:rPr lang="en-US" altLang="zh-CN" sz="2000" dirty="0" smtClean="0"/>
              <a:t> 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user</a:t>
            </a:r>
            <a:r>
              <a:rPr lang="en-US" altLang="zh-CN" sz="2000" dirty="0" smtClean="0"/>
              <a:t>=(</a:t>
            </a:r>
            <a:r>
              <a:rPr lang="en-US" altLang="zh-CN" sz="2000" dirty="0" err="1" smtClean="0"/>
              <a:t>UserBean</a:t>
            </a:r>
            <a:r>
              <a:rPr lang="en-US" altLang="zh-CN" sz="2000" dirty="0" smtClean="0"/>
              <a:t>) </a:t>
            </a:r>
            <a:r>
              <a:rPr lang="en-US" altLang="zh-CN" sz="2000" b="1" dirty="0" err="1" smtClean="0">
                <a:solidFill>
                  <a:srgbClr val="FF0000"/>
                </a:solidFill>
              </a:rPr>
              <a:t>session</a:t>
            </a:r>
            <a:r>
              <a:rPr lang="en-US" altLang="zh-CN" sz="2000" dirty="0" err="1" smtClean="0"/>
              <a:t>.getAttribute</a:t>
            </a:r>
            <a:r>
              <a:rPr lang="en-US" altLang="zh-CN" sz="2000" dirty="0" smtClean="0"/>
              <a:t>(“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user</a:t>
            </a:r>
            <a:r>
              <a:rPr lang="en-US" altLang="zh-CN" sz="2000" dirty="0" smtClean="0"/>
              <a:t>”);</a:t>
            </a:r>
            <a:endParaRPr lang="en-US" altLang="zh-CN" sz="2000" dirty="0" smtClean="0"/>
          </a:p>
          <a:p>
            <a:r>
              <a:rPr lang="en-US" altLang="zh-CN" sz="2000" dirty="0"/>
              <a:t> </a:t>
            </a:r>
            <a:r>
              <a:rPr lang="en-US" altLang="zh-CN" sz="2000" dirty="0" smtClean="0"/>
              <a:t>  if(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user</a:t>
            </a:r>
            <a:r>
              <a:rPr lang="en-US" altLang="zh-CN" sz="2000" dirty="0" smtClean="0"/>
              <a:t>==null){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user</a:t>
            </a:r>
            <a:r>
              <a:rPr lang="en-US" altLang="zh-CN" sz="2000" dirty="0" smtClean="0"/>
              <a:t>=new </a:t>
            </a:r>
            <a:r>
              <a:rPr lang="en-US" altLang="zh-CN" sz="2000" b="1" dirty="0" err="1" smtClean="0">
                <a:solidFill>
                  <a:srgbClr val="FF0000"/>
                </a:solidFill>
              </a:rPr>
              <a:t>UserBean</a:t>
            </a:r>
            <a:r>
              <a:rPr lang="en-US" altLang="zh-CN" sz="2000" dirty="0" smtClean="0"/>
              <a:t>();</a:t>
            </a:r>
            <a:endParaRPr lang="en-US" altLang="zh-CN" sz="2000" dirty="0" smtClean="0"/>
          </a:p>
          <a:p>
            <a:r>
              <a:rPr lang="en-US" altLang="zh-CN" sz="2000" dirty="0"/>
              <a:t> </a:t>
            </a:r>
            <a:r>
              <a:rPr lang="en-US" altLang="zh-CN" sz="2000" dirty="0" smtClean="0"/>
              <a:t>  </a:t>
            </a:r>
            <a:r>
              <a:rPr lang="en-US" altLang="zh-CN" sz="2000" b="1" dirty="0" err="1" smtClean="0">
                <a:solidFill>
                  <a:srgbClr val="FF0000"/>
                </a:solidFill>
              </a:rPr>
              <a:t>session</a:t>
            </a:r>
            <a:r>
              <a:rPr lang="en-US" altLang="zh-CN" sz="2000" dirty="0" err="1" smtClean="0"/>
              <a:t>.setAttribute</a:t>
            </a:r>
            <a:r>
              <a:rPr lang="en-US" altLang="zh-CN" sz="2000" dirty="0" smtClean="0"/>
              <a:t>(“</a:t>
            </a:r>
            <a:r>
              <a:rPr lang="en-US" altLang="zh-CN" sz="2000" b="1" dirty="0" err="1" smtClean="0">
                <a:solidFill>
                  <a:srgbClr val="FF0000"/>
                </a:solidFill>
              </a:rPr>
              <a:t>user</a:t>
            </a:r>
            <a:r>
              <a:rPr lang="en-US" altLang="zh-CN" sz="2000" dirty="0" err="1" smtClean="0"/>
              <a:t>”,</a:t>
            </a:r>
            <a:r>
              <a:rPr lang="en-US" altLang="zh-CN" sz="2000" b="1" dirty="0" err="1" smtClean="0">
                <a:solidFill>
                  <a:srgbClr val="FF0000"/>
                </a:solidFill>
              </a:rPr>
              <a:t>user</a:t>
            </a:r>
            <a:r>
              <a:rPr lang="en-US" altLang="zh-CN" sz="2000" dirty="0" smtClean="0"/>
              <a:t>);</a:t>
            </a:r>
            <a:endParaRPr lang="en-US" altLang="zh-CN" sz="2000" dirty="0" smtClean="0"/>
          </a:p>
          <a:p>
            <a:r>
              <a:rPr lang="en-US" altLang="zh-CN" sz="2000" dirty="0" smtClean="0"/>
              <a:t>%&gt;</a:t>
            </a:r>
            <a:endParaRPr lang="zh-CN" altLang="en-US" sz="2000" dirty="0"/>
          </a:p>
        </p:txBody>
      </p:sp>
      <p:cxnSp>
        <p:nvCxnSpPr>
          <p:cNvPr id="20" name="直接箭头连接符 19"/>
          <p:cNvCxnSpPr/>
          <p:nvPr/>
        </p:nvCxnSpPr>
        <p:spPr>
          <a:xfrm>
            <a:off x="4943872" y="4713769"/>
            <a:ext cx="0" cy="507402"/>
          </a:xfrm>
          <a:prstGeom prst="straightConnector1">
            <a:avLst/>
          </a:prstGeom>
          <a:ln w="50800" cmpd="dbl">
            <a:solidFill>
              <a:srgbClr val="7030A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103441" y="4802376"/>
            <a:ext cx="64262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等价</a:t>
            </a:r>
            <a:endParaRPr lang="zh-CN" altLang="en-US" b="1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4" grpId="0"/>
      <p:bldP spid="16" grpId="0"/>
      <p:bldP spid="17" grpId="0"/>
      <p:bldP spid="18" grpId="0" bldLvl="0" animBg="1"/>
      <p:bldP spid="2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CN" dirty="0"/>
              <a:t>&lt;</a:t>
            </a:r>
            <a:r>
              <a:rPr lang="en-US" altLang="zh-CN" dirty="0" err="1"/>
              <a:t>jsp:setProperty</a:t>
            </a:r>
            <a:r>
              <a:rPr lang="en-US" altLang="zh-CN" dirty="0" smtClean="0"/>
              <a:t>&gt;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605" y="1135380"/>
            <a:ext cx="11123295" cy="5113020"/>
          </a:xfrm>
        </p:spPr>
        <p:txBody>
          <a:bodyPr/>
          <a:lstStyle/>
          <a:p>
            <a:r>
              <a:rPr lang="en-US" altLang="zh-CN" sz="2400" dirty="0" smtClean="0"/>
              <a:t>4</a:t>
            </a:r>
            <a:r>
              <a:rPr lang="zh-CN" altLang="en-US" sz="2400" dirty="0" smtClean="0"/>
              <a:t>种使用格式</a:t>
            </a:r>
            <a:endParaRPr lang="en-US" altLang="zh-CN" sz="2400" dirty="0" smtClean="0"/>
          </a:p>
          <a:p>
            <a:pPr lvl="1"/>
            <a:r>
              <a:rPr lang="en-US" altLang="zh-CN" sz="2400" dirty="0"/>
              <a:t>&lt;</a:t>
            </a:r>
            <a:r>
              <a:rPr lang="en-US" altLang="zh-CN" sz="2400" dirty="0" err="1" smtClean="0"/>
              <a:t>jsp:setProperty</a:t>
            </a:r>
            <a:r>
              <a:rPr lang="en-US" altLang="zh-CN" sz="2400" dirty="0" smtClean="0"/>
              <a:t> </a:t>
            </a:r>
            <a:r>
              <a:rPr lang="en-US" altLang="zh-CN" sz="2400" dirty="0">
                <a:solidFill>
                  <a:srgbClr val="FF0000"/>
                </a:solidFill>
              </a:rPr>
              <a:t>name</a:t>
            </a:r>
            <a:r>
              <a:rPr lang="en-US" altLang="zh-CN" sz="2400" dirty="0"/>
              <a:t>="</a:t>
            </a:r>
            <a:r>
              <a:rPr lang="en-US" altLang="zh-CN" sz="2400" dirty="0" err="1"/>
              <a:t>beanName</a:t>
            </a:r>
            <a:r>
              <a:rPr lang="en-US" altLang="zh-CN" sz="2400" dirty="0"/>
              <a:t>" </a:t>
            </a:r>
            <a:r>
              <a:rPr lang="en-US" altLang="zh-CN" sz="2400" dirty="0">
                <a:solidFill>
                  <a:srgbClr val="FF0000"/>
                </a:solidFill>
              </a:rPr>
              <a:t>property</a:t>
            </a:r>
            <a:r>
              <a:rPr lang="en-US" altLang="zh-CN" sz="2400" dirty="0"/>
              <a:t>="*" </a:t>
            </a:r>
            <a:r>
              <a:rPr lang="en-US" altLang="zh-CN" sz="2400" dirty="0" smtClean="0"/>
              <a:t>/&gt;</a:t>
            </a:r>
            <a:endParaRPr lang="en-US" altLang="zh-CN" sz="2400" dirty="0" smtClean="0"/>
          </a:p>
          <a:p>
            <a:pPr lvl="2"/>
            <a:r>
              <a:rPr lang="zh-CN" altLang="en-US" sz="2000" dirty="0" smtClean="0"/>
              <a:t>自动用请求（</a:t>
            </a:r>
            <a:r>
              <a:rPr lang="en-US" altLang="zh-CN" sz="2000" dirty="0" smtClean="0"/>
              <a:t>request</a:t>
            </a:r>
            <a:r>
              <a:rPr lang="zh-CN" altLang="en-US" sz="2000" dirty="0" smtClean="0"/>
              <a:t>）参数设置</a:t>
            </a:r>
            <a:r>
              <a:rPr lang="en-US" altLang="zh-CN" sz="2000" dirty="0" smtClean="0"/>
              <a:t>JavaBean</a:t>
            </a:r>
            <a:r>
              <a:rPr lang="zh-CN" altLang="en-US" sz="2000" dirty="0" smtClean="0"/>
              <a:t>实例中的同名属性，若参数名与属性名不一致，则该属性将不会设置。（会进行自动地数据类型转换）</a:t>
            </a:r>
            <a:endParaRPr lang="zh-CN" altLang="zh-CN" sz="2000" dirty="0"/>
          </a:p>
          <a:p>
            <a:pPr lvl="1"/>
            <a:r>
              <a:rPr lang="en-US" altLang="zh-CN" sz="2400" dirty="0"/>
              <a:t>&lt;</a:t>
            </a:r>
            <a:r>
              <a:rPr lang="en-US" altLang="zh-CN" sz="2400" dirty="0" err="1" smtClean="0"/>
              <a:t>jsp:setProperty</a:t>
            </a:r>
            <a:r>
              <a:rPr lang="en-US" altLang="zh-CN" sz="2400" dirty="0" smtClean="0"/>
              <a:t> </a:t>
            </a:r>
            <a:r>
              <a:rPr lang="en-US" altLang="zh-CN" sz="2400" dirty="0">
                <a:solidFill>
                  <a:srgbClr val="FF0000"/>
                </a:solidFill>
              </a:rPr>
              <a:t>name</a:t>
            </a:r>
            <a:r>
              <a:rPr lang="en-US" altLang="zh-CN" sz="2400" dirty="0"/>
              <a:t>="</a:t>
            </a:r>
            <a:r>
              <a:rPr lang="en-US" altLang="zh-CN" sz="2400" dirty="0" err="1"/>
              <a:t>beanName</a:t>
            </a:r>
            <a:r>
              <a:rPr lang="en-US" altLang="zh-CN" sz="2400" dirty="0"/>
              <a:t>" </a:t>
            </a:r>
            <a:r>
              <a:rPr lang="en-US" altLang="zh-CN" sz="2400" dirty="0" smtClean="0"/>
              <a:t> </a:t>
            </a:r>
            <a:r>
              <a:rPr lang="en-US" altLang="zh-CN" sz="2400" dirty="0" smtClean="0">
                <a:solidFill>
                  <a:srgbClr val="FF0000"/>
                </a:solidFill>
              </a:rPr>
              <a:t>property</a:t>
            </a:r>
            <a:r>
              <a:rPr lang="en-US" altLang="zh-CN" sz="2400" dirty="0"/>
              <a:t>="</a:t>
            </a:r>
            <a:r>
              <a:rPr lang="en-US" altLang="zh-CN" sz="2400" dirty="0" err="1"/>
              <a:t>propertyName</a:t>
            </a:r>
            <a:r>
              <a:rPr lang="en-US" altLang="zh-CN" sz="2400" dirty="0"/>
              <a:t>" </a:t>
            </a:r>
            <a:r>
              <a:rPr lang="en-US" altLang="zh-CN" sz="2400" dirty="0" smtClean="0"/>
              <a:t>/&gt;</a:t>
            </a:r>
            <a:endParaRPr lang="en-US" altLang="zh-CN" sz="2400" dirty="0" smtClean="0"/>
          </a:p>
          <a:p>
            <a:pPr lvl="2"/>
            <a:r>
              <a:rPr lang="zh-CN" altLang="en-US" sz="2000" dirty="0"/>
              <a:t>自动用请求参数</a:t>
            </a:r>
            <a:r>
              <a:rPr lang="zh-CN" altLang="en-US" sz="2000" dirty="0" smtClean="0"/>
              <a:t>设置</a:t>
            </a:r>
            <a:r>
              <a:rPr lang="en-US" altLang="zh-CN" sz="2000" dirty="0" smtClean="0"/>
              <a:t>JavaBean</a:t>
            </a:r>
            <a:r>
              <a:rPr lang="zh-CN" altLang="en-US" sz="2000" dirty="0"/>
              <a:t>实例中</a:t>
            </a:r>
            <a:r>
              <a:rPr lang="zh-CN" altLang="en-US" sz="2000" dirty="0" smtClean="0"/>
              <a:t>的</a:t>
            </a:r>
            <a:r>
              <a:rPr lang="zh-CN" altLang="en-US" sz="2000" dirty="0"/>
              <a:t>一</a:t>
            </a:r>
            <a:r>
              <a:rPr lang="zh-CN" altLang="en-US" sz="2000" dirty="0" smtClean="0"/>
              <a:t>个属性（与参数同名）</a:t>
            </a:r>
            <a:endParaRPr lang="zh-CN" altLang="zh-CN" sz="2000" dirty="0"/>
          </a:p>
          <a:p>
            <a:pPr lvl="1"/>
            <a:r>
              <a:rPr lang="en-US" altLang="zh-CN" sz="2400" dirty="0"/>
              <a:t>&lt;</a:t>
            </a:r>
            <a:r>
              <a:rPr lang="en-US" altLang="zh-CN" sz="2400" dirty="0" err="1" smtClean="0"/>
              <a:t>jsp:setProperty</a:t>
            </a:r>
            <a:r>
              <a:rPr lang="en-US" altLang="zh-CN" sz="2400" dirty="0" smtClean="0"/>
              <a:t> </a:t>
            </a:r>
            <a:r>
              <a:rPr lang="en-US" altLang="zh-CN" sz="2400" dirty="0">
                <a:solidFill>
                  <a:srgbClr val="FF0000"/>
                </a:solidFill>
              </a:rPr>
              <a:t>name</a:t>
            </a:r>
            <a:r>
              <a:rPr lang="en-US" altLang="zh-CN" sz="2400" dirty="0"/>
              <a:t>="</a:t>
            </a:r>
            <a:r>
              <a:rPr lang="en-US" altLang="zh-CN" sz="2400" dirty="0" err="1"/>
              <a:t>beanName</a:t>
            </a:r>
            <a:r>
              <a:rPr lang="en-US" altLang="zh-CN" sz="2400" dirty="0"/>
              <a:t>" </a:t>
            </a:r>
            <a:r>
              <a:rPr lang="en-US" altLang="zh-CN" sz="2400" dirty="0">
                <a:solidFill>
                  <a:srgbClr val="FF0000"/>
                </a:solidFill>
              </a:rPr>
              <a:t>property</a:t>
            </a:r>
            <a:r>
              <a:rPr lang="en-US" altLang="zh-CN" sz="2400" dirty="0"/>
              <a:t>=" </a:t>
            </a:r>
            <a:r>
              <a:rPr lang="en-US" altLang="zh-CN" sz="2400" dirty="0" err="1"/>
              <a:t>propertyName</a:t>
            </a:r>
            <a:r>
              <a:rPr lang="en-US" altLang="zh-CN" sz="2400" dirty="0"/>
              <a:t>" </a:t>
            </a:r>
            <a:r>
              <a:rPr lang="en-US" altLang="zh-CN" sz="2400" dirty="0" err="1" smtClean="0">
                <a:solidFill>
                  <a:srgbClr val="FF0000"/>
                </a:solidFill>
              </a:rPr>
              <a:t>param</a:t>
            </a:r>
            <a:r>
              <a:rPr lang="en-US" altLang="zh-CN" sz="2400" dirty="0"/>
              <a:t>= "</a:t>
            </a:r>
            <a:r>
              <a:rPr lang="en-US" altLang="zh-CN" sz="2400" dirty="0" err="1"/>
              <a:t>paramName</a:t>
            </a:r>
            <a:r>
              <a:rPr lang="en-US" altLang="zh-CN" sz="2400" dirty="0" smtClean="0"/>
              <a:t>"/&gt;</a:t>
            </a:r>
            <a:endParaRPr lang="en-US" altLang="zh-CN" sz="2400" dirty="0" smtClean="0"/>
          </a:p>
          <a:p>
            <a:pPr lvl="2"/>
            <a:r>
              <a:rPr lang="zh-CN" altLang="en-US" sz="2000" dirty="0" smtClean="0"/>
              <a:t>请求参数名与</a:t>
            </a:r>
            <a:r>
              <a:rPr lang="en-US" altLang="zh-CN" sz="2000" dirty="0" smtClean="0"/>
              <a:t>JavaBean</a:t>
            </a:r>
            <a:r>
              <a:rPr lang="zh-CN" altLang="en-US" sz="2000" dirty="0" smtClean="0"/>
              <a:t>实例属性名不一致时，需</a:t>
            </a:r>
            <a:r>
              <a:rPr lang="zh-CN" altLang="en-US" sz="2000" dirty="0"/>
              <a:t>同时</a:t>
            </a:r>
            <a:r>
              <a:rPr lang="zh-CN" altLang="en-US" sz="2000" dirty="0" smtClean="0"/>
              <a:t>指定</a:t>
            </a:r>
            <a:r>
              <a:rPr lang="en-US" altLang="zh-CN" sz="2000" dirty="0" smtClean="0"/>
              <a:t>property</a:t>
            </a:r>
            <a:r>
              <a:rPr lang="zh-CN" altLang="en-US" sz="2000" dirty="0" smtClean="0"/>
              <a:t>和</a:t>
            </a:r>
            <a:r>
              <a:rPr lang="en-US" altLang="zh-CN" sz="2000" dirty="0" err="1" smtClean="0"/>
              <a:t>param</a:t>
            </a:r>
            <a:endParaRPr lang="zh-CN" altLang="zh-CN" sz="2000" dirty="0"/>
          </a:p>
          <a:p>
            <a:pPr lvl="1"/>
            <a:r>
              <a:rPr lang="en-US" altLang="zh-CN" sz="2400" dirty="0"/>
              <a:t>&lt;</a:t>
            </a:r>
            <a:r>
              <a:rPr lang="en-US" altLang="zh-CN" sz="2400" dirty="0" err="1" smtClean="0"/>
              <a:t>jsp:setProperty</a:t>
            </a:r>
            <a:r>
              <a:rPr lang="en-US" altLang="zh-CN" sz="2400" dirty="0" smtClean="0"/>
              <a:t> </a:t>
            </a:r>
            <a:r>
              <a:rPr lang="en-US" altLang="zh-CN" sz="2400" dirty="0">
                <a:solidFill>
                  <a:srgbClr val="FF0000"/>
                </a:solidFill>
              </a:rPr>
              <a:t>name</a:t>
            </a:r>
            <a:r>
              <a:rPr lang="en-US" altLang="zh-CN" sz="2400" dirty="0"/>
              <a:t>="</a:t>
            </a:r>
            <a:r>
              <a:rPr lang="en-US" altLang="zh-CN" sz="2400" dirty="0" err="1"/>
              <a:t>beanName</a:t>
            </a:r>
            <a:r>
              <a:rPr lang="en-US" altLang="zh-CN" sz="2400" dirty="0"/>
              <a:t>" </a:t>
            </a:r>
            <a:r>
              <a:rPr lang="en-US" altLang="zh-CN" sz="2400" dirty="0">
                <a:solidFill>
                  <a:srgbClr val="FF0000"/>
                </a:solidFill>
              </a:rPr>
              <a:t>property</a:t>
            </a:r>
            <a:r>
              <a:rPr lang="en-US" altLang="zh-CN" sz="2400" dirty="0"/>
              <a:t>=" </a:t>
            </a:r>
            <a:r>
              <a:rPr lang="en-US" altLang="zh-CN" sz="2400" dirty="0" err="1"/>
              <a:t>propertyName</a:t>
            </a:r>
            <a:r>
              <a:rPr lang="en-US" altLang="zh-CN" sz="2400" dirty="0"/>
              <a:t>" </a:t>
            </a:r>
            <a:r>
              <a:rPr lang="en-US" altLang="zh-CN" sz="2400" dirty="0" smtClean="0">
                <a:solidFill>
                  <a:srgbClr val="FF0000"/>
                </a:solidFill>
              </a:rPr>
              <a:t>value</a:t>
            </a:r>
            <a:r>
              <a:rPr lang="en-US" altLang="zh-CN" sz="2400" dirty="0"/>
              <a:t>= "expression"/&gt;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&lt;</a:t>
            </a:r>
            <a:r>
              <a:rPr lang="en-US" altLang="zh-CN" dirty="0" err="1"/>
              <a:t>jsp:setProperty</a:t>
            </a:r>
            <a:r>
              <a:rPr lang="en-US" altLang="zh-CN" dirty="0" smtClean="0"/>
              <a:t>&gt;</a:t>
            </a:r>
            <a:r>
              <a:rPr lang="zh-CN" altLang="en-US" dirty="0" smtClean="0"/>
              <a:t>示例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660" y="1188720"/>
            <a:ext cx="10779125" cy="44462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8328248" y="1052736"/>
            <a:ext cx="199302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err="1" smtClean="0"/>
              <a:t>LoginValid.jsp</a:t>
            </a:r>
            <a:endParaRPr lang="zh-CN" altLang="en-US" sz="2000" b="1" dirty="0"/>
          </a:p>
        </p:txBody>
      </p:sp>
      <p:cxnSp>
        <p:nvCxnSpPr>
          <p:cNvPr id="8" name="直接连接符 7"/>
          <p:cNvCxnSpPr/>
          <p:nvPr/>
        </p:nvCxnSpPr>
        <p:spPr>
          <a:xfrm>
            <a:off x="1991544" y="1685062"/>
            <a:ext cx="5112568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1991544" y="1981473"/>
            <a:ext cx="684076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4554650" y="2353449"/>
            <a:ext cx="467233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4644127" y="2894335"/>
            <a:ext cx="2099538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2783205" y="2277110"/>
            <a:ext cx="720090" cy="3082290"/>
          </a:xfrm>
          <a:prstGeom prst="line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3532287" y="4694287"/>
            <a:ext cx="6493295" cy="2016224"/>
            <a:chOff x="1979712" y="4437112"/>
            <a:chExt cx="6493295" cy="2016224"/>
          </a:xfrm>
        </p:grpSpPr>
        <p:sp>
          <p:nvSpPr>
            <p:cNvPr id="14" name="圆角矩形 13"/>
            <p:cNvSpPr/>
            <p:nvPr/>
          </p:nvSpPr>
          <p:spPr>
            <a:xfrm>
              <a:off x="1979712" y="4437112"/>
              <a:ext cx="6493295" cy="2016224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053" name="Picture 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51720" y="4633934"/>
              <a:ext cx="6336704" cy="14593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&lt;</a:t>
            </a:r>
            <a:r>
              <a:rPr lang="en-US" altLang="zh-CN" dirty="0" err="1" smtClean="0"/>
              <a:t>jsp:getProperty</a:t>
            </a:r>
            <a:r>
              <a:rPr lang="en-US" altLang="zh-CN" dirty="0"/>
              <a:t>&gt;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24000" y="1268760"/>
            <a:ext cx="9144000" cy="565745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 dirty="0"/>
              <a:t>&lt;</a:t>
            </a:r>
            <a:r>
              <a:rPr lang="en-US" altLang="zh-CN" sz="2400" dirty="0" err="1" smtClean="0">
                <a:solidFill>
                  <a:srgbClr val="7030A0"/>
                </a:solidFill>
              </a:rPr>
              <a:t>jsp:getPropety</a:t>
            </a:r>
            <a:r>
              <a:rPr lang="en-US" altLang="zh-CN" sz="2400" dirty="0" smtClean="0"/>
              <a:t> </a:t>
            </a:r>
            <a:r>
              <a:rPr lang="en-US" altLang="zh-CN" sz="2400" dirty="0">
                <a:solidFill>
                  <a:srgbClr val="FF0000"/>
                </a:solidFill>
              </a:rPr>
              <a:t>name</a:t>
            </a:r>
            <a:r>
              <a:rPr lang="en-US" altLang="zh-CN" sz="2400" dirty="0"/>
              <a:t>="</a:t>
            </a:r>
            <a:r>
              <a:rPr lang="en-US" altLang="zh-CN" sz="2400" dirty="0" err="1"/>
              <a:t>beanName</a:t>
            </a:r>
            <a:r>
              <a:rPr lang="en-US" altLang="zh-CN" sz="2400" dirty="0"/>
              <a:t>" </a:t>
            </a:r>
            <a:r>
              <a:rPr lang="en-US" altLang="zh-CN" sz="2400" dirty="0">
                <a:solidFill>
                  <a:srgbClr val="FF0000"/>
                </a:solidFill>
              </a:rPr>
              <a:t>property</a:t>
            </a:r>
            <a:r>
              <a:rPr lang="en-US" altLang="zh-CN" sz="2400" dirty="0"/>
              <a:t>="</a:t>
            </a:r>
            <a:r>
              <a:rPr lang="en-US" altLang="zh-CN" sz="2400" dirty="0" err="1"/>
              <a:t>propertyName</a:t>
            </a:r>
            <a:r>
              <a:rPr lang="en-US" altLang="zh-CN" sz="2400" dirty="0" smtClean="0"/>
              <a:t>"/&gt;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204864"/>
            <a:ext cx="8811972" cy="1555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8342949" y="1700808"/>
            <a:ext cx="199302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err="1" smtClean="0"/>
              <a:t>header.jsp</a:t>
            </a:r>
            <a:endParaRPr lang="zh-CN" altLang="en-US" sz="2000" b="1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1703512" y="2492896"/>
            <a:ext cx="828092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2495600" y="3717032"/>
            <a:ext cx="7065284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/>
        </p:nvGrpSpPr>
        <p:grpSpPr>
          <a:xfrm>
            <a:off x="1977324" y="3862538"/>
            <a:ext cx="8632460" cy="2852936"/>
            <a:chOff x="179512" y="4005064"/>
            <a:chExt cx="8632460" cy="2852936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528" y="4005064"/>
              <a:ext cx="8424936" cy="27119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1" name="圆角矩形 10"/>
            <p:cNvSpPr/>
            <p:nvPr/>
          </p:nvSpPr>
          <p:spPr>
            <a:xfrm>
              <a:off x="179512" y="4005064"/>
              <a:ext cx="8632460" cy="2852936"/>
            </a:xfrm>
            <a:prstGeom prst="roundRect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1559496" y="3945250"/>
            <a:ext cx="377788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/>
              <a:t>等价</a:t>
            </a:r>
            <a:endParaRPr lang="zh-CN" altLang="en-US" sz="2000" b="1" dirty="0"/>
          </a:p>
        </p:txBody>
      </p:sp>
      <p:cxnSp>
        <p:nvCxnSpPr>
          <p:cNvPr id="15" name="直接连接符 14"/>
          <p:cNvCxnSpPr/>
          <p:nvPr/>
        </p:nvCxnSpPr>
        <p:spPr>
          <a:xfrm>
            <a:off x="2711624" y="4653136"/>
            <a:ext cx="7624348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3233036" y="6574438"/>
            <a:ext cx="3290762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右箭头 15">
            <a:hlinkClick r:id="rId3" action="ppaction://hlinksldjump"/>
          </p:cNvPr>
          <p:cNvSpPr/>
          <p:nvPr/>
        </p:nvSpPr>
        <p:spPr>
          <a:xfrm>
            <a:off x="9587900" y="5410200"/>
            <a:ext cx="838200" cy="609600"/>
          </a:xfrm>
          <a:prstGeom prst="rightArrow">
            <a:avLst/>
          </a:prstGeom>
          <a:solidFill>
            <a:srgbClr val="99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连接符 17"/>
          <p:cNvCxnSpPr/>
          <p:nvPr/>
        </p:nvCxnSpPr>
        <p:spPr>
          <a:xfrm>
            <a:off x="2580092" y="4149080"/>
            <a:ext cx="4380004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圆角矩形 7"/>
          <p:cNvSpPr/>
          <p:nvPr/>
        </p:nvSpPr>
        <p:spPr>
          <a:xfrm>
            <a:off x="2711624" y="4735856"/>
            <a:ext cx="5976664" cy="565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4" grpId="0"/>
      <p:bldP spid="16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JSP+JavaBean</a:t>
            </a:r>
            <a:r>
              <a:rPr lang="zh-CN" altLang="en-US" dirty="0"/>
              <a:t>开发示例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4985" y="1135380"/>
            <a:ext cx="10389235" cy="5113020"/>
          </a:xfrm>
        </p:spPr>
        <p:txBody>
          <a:bodyPr/>
          <a:lstStyle/>
          <a:p>
            <a:r>
              <a:rPr lang="zh-CN" altLang="en-US" dirty="0"/>
              <a:t>实现功能</a:t>
            </a:r>
            <a:endParaRPr lang="en-US" altLang="zh-CN" dirty="0"/>
          </a:p>
          <a:p>
            <a:pPr lvl="1"/>
            <a:r>
              <a:rPr lang="zh-CN" altLang="en-US" dirty="0"/>
              <a:t>用户登录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用户</a:t>
            </a:r>
            <a:r>
              <a:rPr lang="zh-CN" altLang="en-US" dirty="0"/>
              <a:t>信息的</a:t>
            </a:r>
            <a:r>
              <a:rPr lang="zh-CN" altLang="en-US" dirty="0" smtClean="0"/>
              <a:t>增加和查询</a:t>
            </a:r>
            <a:endParaRPr lang="en-US" altLang="zh-CN" dirty="0" smtClean="0"/>
          </a:p>
          <a:p>
            <a:r>
              <a:rPr lang="zh-CN" altLang="en-US" dirty="0"/>
              <a:t>改造</a:t>
            </a:r>
            <a:r>
              <a:rPr lang="zh-CN" altLang="en-US" dirty="0" smtClean="0"/>
              <a:t>成</a:t>
            </a:r>
            <a:r>
              <a:rPr lang="en-US" altLang="zh-CN" dirty="0" err="1" smtClean="0"/>
              <a:t>JSP+JavaBean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示例代码文件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4072" y="1340769"/>
            <a:ext cx="2811610" cy="4752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1222" y="2996952"/>
            <a:ext cx="3466859" cy="2852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直接箭头连接符 5"/>
          <p:cNvCxnSpPr>
            <a:endCxn id="1028" idx="0"/>
          </p:cNvCxnSpPr>
          <p:nvPr/>
        </p:nvCxnSpPr>
        <p:spPr>
          <a:xfrm flipH="1">
            <a:off x="4684652" y="2564904"/>
            <a:ext cx="2275444" cy="43204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圆角矩形 6"/>
          <p:cNvSpPr/>
          <p:nvPr/>
        </p:nvSpPr>
        <p:spPr>
          <a:xfrm>
            <a:off x="7031990" y="3062605"/>
            <a:ext cx="2379345" cy="303022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3549765" y="3284983"/>
            <a:ext cx="2272609" cy="79208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3548347" y="4361018"/>
            <a:ext cx="1827574" cy="39604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7805" y="1340485"/>
            <a:ext cx="2792095" cy="999490"/>
          </a:xfrm>
          <a:prstGeom prst="rect">
            <a:avLst/>
          </a:prstGeom>
        </p:spPr>
      </p:pic>
      <p:sp>
        <p:nvSpPr>
          <p:cNvPr id="13" name="圆角矩形 12"/>
          <p:cNvSpPr/>
          <p:nvPr/>
        </p:nvSpPr>
        <p:spPr>
          <a:xfrm>
            <a:off x="1703705" y="1268730"/>
            <a:ext cx="2498090" cy="122428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0193020" y="5835015"/>
            <a:ext cx="17259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</a:rPr>
              <a:t>演示</a:t>
            </a:r>
            <a:r>
              <a:rPr lang="en-US" altLang="zh-CN" sz="2400" b="1">
                <a:solidFill>
                  <a:srgbClr val="FF0000"/>
                </a:solidFill>
              </a:rPr>
              <a:t> 5-3</a:t>
            </a:r>
            <a:endParaRPr lang="en-US" altLang="zh-CN" sz="2400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11" grpId="0" bldLvl="0" animBg="1"/>
      <p:bldP spid="12" grpId="0" bldLvl="0" animBg="1"/>
      <p:bldP spid="13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关键代码文件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zh-CN" dirty="0" smtClean="0">
                <a:hlinkClick r:id="rId1" action="ppaction://hlinksldjump"/>
              </a:rPr>
              <a:t>UserBean.java</a:t>
            </a:r>
            <a:endParaRPr lang="en-US" altLang="zh-CN" dirty="0" smtClean="0"/>
          </a:p>
          <a:p>
            <a:r>
              <a:rPr lang="en-US" altLang="zh-CN" dirty="0" smtClean="0">
                <a:hlinkClick r:id="rId2" action="ppaction://hlinksldjump"/>
              </a:rPr>
              <a:t>index.jsp</a:t>
            </a:r>
            <a:endParaRPr lang="en-US" altLang="zh-CN" dirty="0" smtClean="0"/>
          </a:p>
          <a:p>
            <a:r>
              <a:rPr lang="en-US" altLang="zh-CN" dirty="0" smtClean="0">
                <a:hlinkClick r:id="rId3" action="ppaction://hlinksldjump"/>
              </a:rPr>
              <a:t>LoginValid.jsp</a:t>
            </a:r>
            <a:endParaRPr lang="en-US" altLang="zh-CN" dirty="0" smtClean="0"/>
          </a:p>
          <a:p>
            <a:r>
              <a:rPr lang="en-US" altLang="zh-CN" dirty="0" smtClean="0">
                <a:hlinkClick r:id="rId4" action="ppaction://hlinksldjump"/>
              </a:rPr>
              <a:t>LoginCheck.jsp</a:t>
            </a:r>
            <a:endParaRPr lang="en-US" altLang="zh-CN" dirty="0" smtClean="0"/>
          </a:p>
          <a:p>
            <a:r>
              <a:rPr lang="en-US" altLang="zh-CN" dirty="0" smtClean="0">
                <a:hlinkClick r:id="rId5" action="ppaction://hlinksldjump"/>
              </a:rPr>
              <a:t>header.jsp</a:t>
            </a:r>
            <a:endParaRPr lang="en-US" altLang="zh-CN" dirty="0" smtClean="0"/>
          </a:p>
          <a:p>
            <a:r>
              <a:rPr lang="en-US" altLang="zh-CN" dirty="0">
                <a:hlinkClick r:id="rId6" action="ppaction://hlinksldjump"/>
              </a:rPr>
              <a:t>MagUser.jsp</a:t>
            </a:r>
            <a:endParaRPr lang="en-US" altLang="zh-CN" dirty="0"/>
          </a:p>
          <a:p>
            <a:r>
              <a:rPr lang="en-US" altLang="zh-CN" dirty="0">
                <a:hlinkClick r:id="rId7" action="ppaction://hlinksldjump"/>
              </a:rPr>
              <a:t>AddUser.jsp</a:t>
            </a:r>
            <a:endParaRPr lang="en-US" altLang="zh-CN" dirty="0"/>
          </a:p>
          <a:p>
            <a:r>
              <a:rPr lang="en-US" altLang="zh-CN" dirty="0">
                <a:hlinkClick r:id="rId8" action="ppaction://hlinksldjump"/>
              </a:rPr>
              <a:t>AddUser_do.jsp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右箭头 4">
            <a:hlinkClick r:id="rId9" action="ppaction://hlinksldjump"/>
          </p:cNvPr>
          <p:cNvSpPr/>
          <p:nvPr/>
        </p:nvSpPr>
        <p:spPr>
          <a:xfrm>
            <a:off x="9677400" y="6019800"/>
            <a:ext cx="838200" cy="609600"/>
          </a:xfrm>
          <a:prstGeom prst="rightArrow">
            <a:avLst/>
          </a:prstGeom>
          <a:solidFill>
            <a:srgbClr val="99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UserBean.java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136" y="889670"/>
            <a:ext cx="4752528" cy="2343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7664234" y="1772816"/>
            <a:ext cx="224819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 smtClean="0"/>
              <a:t>getXXX</a:t>
            </a:r>
            <a:endParaRPr lang="en-US" altLang="zh-CN" sz="2400" dirty="0" smtClean="0"/>
          </a:p>
          <a:p>
            <a:r>
              <a:rPr lang="en-US" altLang="zh-CN" sz="2400" dirty="0" err="1" smtClean="0"/>
              <a:t>setXXX</a:t>
            </a:r>
            <a:endParaRPr lang="en-US" altLang="zh-CN" sz="2400" dirty="0" smtClean="0"/>
          </a:p>
          <a:p>
            <a:r>
              <a:rPr lang="en-US" altLang="zh-CN" sz="2400" dirty="0"/>
              <a:t>……</a:t>
            </a:r>
            <a:endParaRPr lang="zh-CN" alt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1467" y="3413125"/>
            <a:ext cx="7272808" cy="29116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dirty="0" smtClean="0">
                <a:sym typeface="+mn-ea"/>
              </a:rPr>
              <a:t>UserBean.java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>
              <a:defRPr/>
            </a:pPr>
            <a:fld id="{625815E6-DEA6-4F40-A954-531D7B02BB04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805" y="1433195"/>
            <a:ext cx="10349865" cy="1499235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UserBean.java</a:t>
            </a:r>
            <a:r>
              <a:rPr lang="zh-CN" altLang="en-US" dirty="0" smtClean="0"/>
              <a:t>续</a:t>
            </a:r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670" y="949325"/>
            <a:ext cx="10106660" cy="5814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UserBean.java</a:t>
            </a:r>
            <a:r>
              <a:rPr lang="zh-CN" altLang="en-US" dirty="0" smtClean="0"/>
              <a:t>续</a:t>
            </a:r>
            <a:r>
              <a:rPr lang="en-US" altLang="zh-CN" dirty="0" smtClean="0"/>
              <a:t>2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5385" y="1027430"/>
            <a:ext cx="9216390" cy="58381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UserBean.java</a:t>
            </a:r>
            <a:r>
              <a:rPr lang="zh-CN" altLang="en-US" dirty="0" smtClean="0"/>
              <a:t>续</a:t>
            </a:r>
            <a:r>
              <a:rPr lang="en-US" altLang="zh-CN" dirty="0" smtClean="0"/>
              <a:t>3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1852" y="1268759"/>
            <a:ext cx="9116148" cy="49465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UserBean.java</a:t>
            </a:r>
            <a:r>
              <a:rPr lang="zh-CN" altLang="en-US" dirty="0" smtClean="0"/>
              <a:t>续</a:t>
            </a:r>
            <a:r>
              <a:rPr lang="en-US" altLang="zh-CN" dirty="0" smtClean="0"/>
              <a:t>4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845" y="369570"/>
            <a:ext cx="8389620" cy="59391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5910" y="5661025"/>
            <a:ext cx="5685155" cy="9251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UserBean.java</a:t>
            </a:r>
            <a:r>
              <a:rPr lang="zh-CN" altLang="en-US" dirty="0" smtClean="0"/>
              <a:t>续</a:t>
            </a:r>
            <a:r>
              <a:rPr lang="en-US" altLang="zh-CN" dirty="0" smtClean="0"/>
              <a:t>5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285" y="1027430"/>
            <a:ext cx="10473690" cy="54717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右箭头 6">
            <a:hlinkClick r:id="rId2" action="ppaction://hlinksldjump"/>
          </p:cNvPr>
          <p:cNvSpPr/>
          <p:nvPr/>
        </p:nvSpPr>
        <p:spPr>
          <a:xfrm>
            <a:off x="10485120" y="6096000"/>
            <a:ext cx="838200" cy="609600"/>
          </a:xfrm>
          <a:prstGeom prst="rightArrow">
            <a:avLst/>
          </a:prstGeom>
          <a:solidFill>
            <a:srgbClr val="99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UserBean.java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0269" y="908720"/>
            <a:ext cx="8301248" cy="5077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7536" y="6047184"/>
            <a:ext cx="39624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62200" y="-38001"/>
            <a:ext cx="7800975" cy="874713"/>
          </a:xfrm>
        </p:spPr>
        <p:txBody>
          <a:bodyPr/>
          <a:lstStyle/>
          <a:p>
            <a:r>
              <a:rPr lang="en-US" altLang="zh-CN" dirty="0"/>
              <a:t>UserBean.java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1267" y="692696"/>
            <a:ext cx="8460432" cy="4781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3051" y="5474246"/>
            <a:ext cx="4000500" cy="143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右箭头 6">
            <a:hlinkClick r:id="rId3" action="ppaction://hlinksldjump"/>
          </p:cNvPr>
          <p:cNvSpPr/>
          <p:nvPr/>
        </p:nvSpPr>
        <p:spPr>
          <a:xfrm>
            <a:off x="9677400" y="6019800"/>
            <a:ext cx="838200" cy="609600"/>
          </a:xfrm>
          <a:prstGeom prst="rightArrow">
            <a:avLst/>
          </a:prstGeom>
          <a:solidFill>
            <a:srgbClr val="99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index.jsp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4050" y="908720"/>
            <a:ext cx="8981799" cy="5848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直接连接符 5"/>
          <p:cNvCxnSpPr/>
          <p:nvPr/>
        </p:nvCxnSpPr>
        <p:spPr>
          <a:xfrm>
            <a:off x="1884489" y="1628800"/>
            <a:ext cx="5075607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2321865" y="5949280"/>
            <a:ext cx="5075607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右箭头 6">
            <a:hlinkClick r:id="rId2" action="ppaction://hlinksldjump"/>
          </p:cNvPr>
          <p:cNvSpPr/>
          <p:nvPr/>
        </p:nvSpPr>
        <p:spPr>
          <a:xfrm>
            <a:off x="9677400" y="6019800"/>
            <a:ext cx="838200" cy="609600"/>
          </a:xfrm>
          <a:prstGeom prst="rightArrow">
            <a:avLst/>
          </a:prstGeom>
          <a:solidFill>
            <a:srgbClr val="99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115" y="1266190"/>
            <a:ext cx="10227945" cy="418147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LoginValid.jsp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983799" y="1809775"/>
            <a:ext cx="6912768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7832705" y="2110378"/>
            <a:ext cx="207640" cy="144016"/>
          </a:xfrm>
          <a:prstGeom prst="line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2135550" y="3495293"/>
            <a:ext cx="4608512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040216" y="2109909"/>
            <a:ext cx="216024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使用</a:t>
            </a:r>
            <a:r>
              <a:rPr lang="en-US" altLang="zh-CN" dirty="0" smtClean="0"/>
              <a:t>request</a:t>
            </a:r>
            <a:r>
              <a:rPr lang="zh-CN" altLang="en-US" dirty="0" smtClean="0"/>
              <a:t>中的参数设置</a:t>
            </a:r>
            <a:r>
              <a:rPr lang="en-US" altLang="zh-CN" dirty="0" smtClean="0"/>
              <a:t>bean</a:t>
            </a:r>
            <a:r>
              <a:rPr lang="zh-CN" altLang="en-US" dirty="0" smtClean="0"/>
              <a:t>属性，</a:t>
            </a:r>
            <a:endParaRPr lang="en-US" altLang="zh-CN" dirty="0" smtClean="0"/>
          </a:p>
          <a:p>
            <a:r>
              <a:rPr lang="zh-CN" altLang="en-US" dirty="0"/>
              <a:t>自动完成数据类型转换</a:t>
            </a:r>
            <a:endParaRPr lang="zh-CN" altLang="en-US" dirty="0"/>
          </a:p>
        </p:txBody>
      </p:sp>
      <p:cxnSp>
        <p:nvCxnSpPr>
          <p:cNvPr id="16" name="直接连接符 15"/>
          <p:cNvCxnSpPr/>
          <p:nvPr/>
        </p:nvCxnSpPr>
        <p:spPr>
          <a:xfrm>
            <a:off x="2075225" y="4301227"/>
            <a:ext cx="6264696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2075225" y="4621515"/>
            <a:ext cx="6264696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3082945" y="2430026"/>
            <a:ext cx="1944216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右箭头 12">
            <a:hlinkClick r:id="rId2" action="ppaction://hlinksldjump"/>
          </p:cNvPr>
          <p:cNvSpPr/>
          <p:nvPr/>
        </p:nvSpPr>
        <p:spPr>
          <a:xfrm>
            <a:off x="9677400" y="6019800"/>
            <a:ext cx="838200" cy="609600"/>
          </a:xfrm>
          <a:prstGeom prst="rightArrow">
            <a:avLst/>
          </a:prstGeom>
          <a:solidFill>
            <a:srgbClr val="99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bldLvl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LoginSuccess.jsp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5520" y="3695286"/>
            <a:ext cx="8633900" cy="4249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右箭头 5">
            <a:hlinkClick r:id="rId2" action="ppaction://hlinksldjump"/>
          </p:cNvPr>
          <p:cNvSpPr/>
          <p:nvPr/>
        </p:nvSpPr>
        <p:spPr>
          <a:xfrm>
            <a:off x="10488295" y="5661660"/>
            <a:ext cx="838200" cy="609600"/>
          </a:xfrm>
          <a:prstGeom prst="rightArrow">
            <a:avLst/>
          </a:prstGeom>
          <a:solidFill>
            <a:srgbClr val="99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7805" y="1772920"/>
            <a:ext cx="8620760" cy="475615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LoginCheck.jsp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9496" y="1052736"/>
            <a:ext cx="9031232" cy="3816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223791" y="5307305"/>
            <a:ext cx="3357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/>
              <a:t>（</a:t>
            </a:r>
            <a:r>
              <a:rPr lang="en-US" altLang="zh-CN" sz="2000" dirty="0" smtClean="0"/>
              <a:t>1</a:t>
            </a:r>
            <a:r>
              <a:rPr lang="zh-CN" altLang="en-US" sz="2000" dirty="0" smtClean="0"/>
              <a:t>）设置页面编码</a:t>
            </a:r>
            <a:endParaRPr lang="en-US" altLang="zh-CN" sz="2000" dirty="0" smtClean="0"/>
          </a:p>
          <a:p>
            <a:r>
              <a:rPr lang="zh-CN" altLang="en-US" sz="2000" dirty="0" smtClean="0"/>
              <a:t>（</a:t>
            </a:r>
            <a:r>
              <a:rPr lang="en-US" altLang="zh-CN" sz="2000" dirty="0"/>
              <a:t>2</a:t>
            </a:r>
            <a:r>
              <a:rPr lang="zh-CN" altLang="en-US" sz="2000" dirty="0" smtClean="0"/>
              <a:t>）验证</a:t>
            </a:r>
            <a:r>
              <a:rPr lang="zh-CN" altLang="en-US" sz="2000" dirty="0"/>
              <a:t>用户是否成功登陆</a:t>
            </a:r>
            <a:endParaRPr lang="zh-CN" altLang="en-US" sz="2000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2567608" y="2348880"/>
            <a:ext cx="432048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1754632" y="2960948"/>
            <a:ext cx="8836096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1991544" y="3933056"/>
            <a:ext cx="2952328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3863752" y="3573016"/>
            <a:ext cx="648072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5271055" y="4365104"/>
            <a:ext cx="2697153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右箭头 11">
            <a:hlinkClick r:id="rId2" action="ppaction://hlinksldjump"/>
          </p:cNvPr>
          <p:cNvSpPr/>
          <p:nvPr/>
        </p:nvSpPr>
        <p:spPr>
          <a:xfrm>
            <a:off x="9677400" y="6019800"/>
            <a:ext cx="838200" cy="609600"/>
          </a:xfrm>
          <a:prstGeom prst="rightArrow">
            <a:avLst/>
          </a:prstGeom>
          <a:solidFill>
            <a:srgbClr val="99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980728"/>
            <a:ext cx="9144000" cy="46805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header.jsp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3071664" y="1700808"/>
            <a:ext cx="4464496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1631504" y="3501008"/>
            <a:ext cx="8784976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2639616" y="3861048"/>
            <a:ext cx="7416824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3359696" y="4869160"/>
            <a:ext cx="4176464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3359696" y="5229200"/>
            <a:ext cx="2988332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150602" y="5661248"/>
            <a:ext cx="2849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/>
              <a:t>所有</a:t>
            </a:r>
            <a:r>
              <a:rPr lang="en-US" altLang="zh-CN" sz="2000" dirty="0" smtClean="0"/>
              <a:t>web</a:t>
            </a:r>
            <a:r>
              <a:rPr lang="zh-CN" altLang="en-US" sz="2000" dirty="0" smtClean="0"/>
              <a:t>界面的头部信息</a:t>
            </a:r>
            <a:endParaRPr lang="zh-CN" altLang="en-US" sz="2000" dirty="0"/>
          </a:p>
        </p:txBody>
      </p:sp>
      <p:sp>
        <p:nvSpPr>
          <p:cNvPr id="12" name="右箭头 11">
            <a:hlinkClick r:id="rId2" action="ppaction://hlinksldjump"/>
          </p:cNvPr>
          <p:cNvSpPr/>
          <p:nvPr/>
        </p:nvSpPr>
        <p:spPr>
          <a:xfrm>
            <a:off x="9677400" y="6019800"/>
            <a:ext cx="838200" cy="609600"/>
          </a:xfrm>
          <a:prstGeom prst="rightArrow">
            <a:avLst/>
          </a:prstGeom>
          <a:solidFill>
            <a:srgbClr val="99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MagUser.jsp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511" y="1843812"/>
            <a:ext cx="8703999" cy="3888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5231904" y="5908198"/>
            <a:ext cx="170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/>
              <a:t>查询所有用户</a:t>
            </a:r>
            <a:endParaRPr lang="zh-CN" altLang="en-US" sz="2000" dirty="0"/>
          </a:p>
        </p:txBody>
      </p:sp>
      <p:cxnSp>
        <p:nvCxnSpPr>
          <p:cNvPr id="12" name="直接连接符 11"/>
          <p:cNvCxnSpPr/>
          <p:nvPr/>
        </p:nvCxnSpPr>
        <p:spPr>
          <a:xfrm>
            <a:off x="2817998" y="2779916"/>
            <a:ext cx="551025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5231904" y="4580116"/>
            <a:ext cx="823606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右箭头 10">
            <a:hlinkClick r:id="rId2" action="ppaction://hlinksldjump"/>
          </p:cNvPr>
          <p:cNvSpPr/>
          <p:nvPr/>
        </p:nvSpPr>
        <p:spPr>
          <a:xfrm>
            <a:off x="10680700" y="6019800"/>
            <a:ext cx="838200" cy="609600"/>
          </a:xfrm>
          <a:prstGeom prst="rightArrow">
            <a:avLst/>
          </a:prstGeom>
          <a:solidFill>
            <a:srgbClr val="99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3680" y="1776730"/>
            <a:ext cx="2826385" cy="354965"/>
          </a:xfrm>
          <a:prstGeom prst="rect">
            <a:avLst/>
          </a:prstGeom>
        </p:spPr>
      </p:pic>
      <p:cxnSp>
        <p:nvCxnSpPr>
          <p:cNvPr id="10" name="直接连接符 9"/>
          <p:cNvCxnSpPr/>
          <p:nvPr/>
        </p:nvCxnSpPr>
        <p:spPr>
          <a:xfrm>
            <a:off x="1853538" y="2131844"/>
            <a:ext cx="827491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5460" y="1278255"/>
            <a:ext cx="5764530" cy="318135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AddUser.jsp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370" y="1339850"/>
            <a:ext cx="10557510" cy="4536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4674225" y="5876007"/>
            <a:ext cx="297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/>
              <a:t>得到输入项格式错误信息</a:t>
            </a:r>
            <a:endParaRPr lang="zh-CN" altLang="en-US" sz="2000" dirty="0"/>
          </a:p>
        </p:txBody>
      </p:sp>
      <p:sp>
        <p:nvSpPr>
          <p:cNvPr id="6" name="矩形 5"/>
          <p:cNvSpPr/>
          <p:nvPr/>
        </p:nvSpPr>
        <p:spPr>
          <a:xfrm>
            <a:off x="6816080" y="2203598"/>
            <a:ext cx="2448272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/>
              <a:t>第一次访问该页面，</a:t>
            </a:r>
            <a:r>
              <a:rPr lang="en-US" altLang="zh-CN" dirty="0" smtClean="0"/>
              <a:t>errors==null,</a:t>
            </a:r>
            <a:r>
              <a:rPr lang="zh-CN" altLang="en-US" dirty="0" smtClean="0"/>
              <a:t>即所有</a:t>
            </a:r>
            <a:r>
              <a:rPr lang="zh-CN" altLang="en-US" dirty="0"/>
              <a:t>错误信息为空字符串</a:t>
            </a:r>
            <a:endParaRPr lang="zh-CN" altLang="en-US" dirty="0"/>
          </a:p>
        </p:txBody>
      </p:sp>
      <p:cxnSp>
        <p:nvCxnSpPr>
          <p:cNvPr id="9" name="直接箭头连接符 8"/>
          <p:cNvCxnSpPr/>
          <p:nvPr/>
        </p:nvCxnSpPr>
        <p:spPr>
          <a:xfrm>
            <a:off x="3863752" y="2365180"/>
            <a:ext cx="2952328" cy="161583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>
            <a:endCxn id="7" idx="0"/>
          </p:cNvCxnSpPr>
          <p:nvPr/>
        </p:nvCxnSpPr>
        <p:spPr>
          <a:xfrm>
            <a:off x="7686596" y="5515967"/>
            <a:ext cx="0" cy="36004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370" y="1325245"/>
            <a:ext cx="5764530" cy="318135"/>
          </a:xfrm>
          <a:prstGeom prst="rect">
            <a:avLst/>
          </a:prstGeom>
        </p:spPr>
      </p:pic>
      <p:sp>
        <p:nvSpPr>
          <p:cNvPr id="5" name="圆角矩形 4"/>
          <p:cNvSpPr/>
          <p:nvPr/>
        </p:nvSpPr>
        <p:spPr>
          <a:xfrm>
            <a:off x="1201420" y="1643380"/>
            <a:ext cx="10684510" cy="403669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AddUser.jsp</a:t>
            </a:r>
            <a:r>
              <a:rPr lang="zh-CN" altLang="en-US" dirty="0" smtClean="0"/>
              <a:t>续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650" y="1161415"/>
            <a:ext cx="11409045" cy="41967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8" name="直接连接符 7"/>
          <p:cNvCxnSpPr/>
          <p:nvPr/>
        </p:nvCxnSpPr>
        <p:spPr>
          <a:xfrm>
            <a:off x="1734121" y="1397030"/>
            <a:ext cx="5256584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6309169" y="2534047"/>
            <a:ext cx="3484004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6473634" y="3036327"/>
            <a:ext cx="3484004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7846964" y="3538607"/>
            <a:ext cx="1309954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右箭头 8">
            <a:hlinkClick r:id="rId2" action="ppaction://hlinksldjump"/>
          </p:cNvPr>
          <p:cNvSpPr/>
          <p:nvPr/>
        </p:nvSpPr>
        <p:spPr>
          <a:xfrm>
            <a:off x="9677400" y="6019800"/>
            <a:ext cx="838200" cy="609600"/>
          </a:xfrm>
          <a:prstGeom prst="rightArrow">
            <a:avLst/>
          </a:prstGeom>
          <a:solidFill>
            <a:srgbClr val="99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2358475" y="5358684"/>
            <a:ext cx="632968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200" dirty="0" smtClean="0"/>
              <a:t>从</a:t>
            </a:r>
            <a:r>
              <a:rPr lang="en-US" altLang="zh-CN" sz="2200" dirty="0" smtClean="0"/>
              <a:t>request</a:t>
            </a:r>
            <a:r>
              <a:rPr lang="zh-CN" altLang="en-US" sz="2200" dirty="0" smtClean="0"/>
              <a:t>对象中得到</a:t>
            </a:r>
            <a:r>
              <a:rPr lang="en-US" altLang="zh-CN" sz="2200" dirty="0" err="1" smtClean="0"/>
              <a:t>newuser</a:t>
            </a:r>
            <a:r>
              <a:rPr lang="zh-CN" altLang="en-US" sz="2200" dirty="0" smtClean="0"/>
              <a:t>，并在表格中显示。</a:t>
            </a:r>
            <a:endParaRPr lang="en-US" altLang="zh-CN" sz="2200" dirty="0" smtClean="0"/>
          </a:p>
          <a:p>
            <a:r>
              <a:rPr lang="zh-CN" altLang="en-US" sz="2200" dirty="0" smtClean="0"/>
              <a:t>若是重定向到该页面则</a:t>
            </a:r>
            <a:r>
              <a:rPr lang="en-US" altLang="zh-CN" sz="2200" dirty="0" smtClean="0"/>
              <a:t>request</a:t>
            </a:r>
            <a:r>
              <a:rPr lang="zh-CN" altLang="en-US" sz="2200" dirty="0" smtClean="0"/>
              <a:t>中没有</a:t>
            </a:r>
            <a:r>
              <a:rPr lang="en-US" altLang="zh-CN" sz="2200" dirty="0" err="1" smtClean="0"/>
              <a:t>newuser</a:t>
            </a:r>
            <a:endParaRPr lang="zh-CN" altLang="en-US" sz="22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AddUser_do.jsp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800" y="1042035"/>
            <a:ext cx="10589260" cy="39503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直接连接符 5"/>
          <p:cNvCxnSpPr/>
          <p:nvPr/>
        </p:nvCxnSpPr>
        <p:spPr>
          <a:xfrm>
            <a:off x="1559786" y="1485548"/>
            <a:ext cx="7352781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1631504" y="1844700"/>
            <a:ext cx="5040142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944378" y="2421399"/>
            <a:ext cx="792088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1775510" y="2708988"/>
            <a:ext cx="2016224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1919655" y="3645029"/>
            <a:ext cx="4968875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1847900" y="4005145"/>
            <a:ext cx="792088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右箭头 10">
            <a:hlinkClick r:id="rId2" action="ppaction://hlinksldjump"/>
          </p:cNvPr>
          <p:cNvSpPr/>
          <p:nvPr/>
        </p:nvSpPr>
        <p:spPr>
          <a:xfrm>
            <a:off x="9677400" y="6019800"/>
            <a:ext cx="838200" cy="609600"/>
          </a:xfrm>
          <a:prstGeom prst="rightArrow">
            <a:avLst/>
          </a:prstGeom>
          <a:solidFill>
            <a:srgbClr val="99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1271270" y="4992370"/>
            <a:ext cx="9312910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dirty="0" smtClean="0"/>
              <a:t>从</a:t>
            </a:r>
            <a:r>
              <a:rPr lang="en-US" altLang="zh-CN" sz="2200" dirty="0" smtClean="0"/>
              <a:t>request</a:t>
            </a:r>
            <a:r>
              <a:rPr lang="zh-CN" altLang="en-US" sz="2200" dirty="0" smtClean="0"/>
              <a:t>对象中得到提交的参数信息，并设置</a:t>
            </a:r>
            <a:r>
              <a:rPr lang="en-US" altLang="zh-CN" sz="2200" dirty="0" err="1" smtClean="0"/>
              <a:t>newuser</a:t>
            </a:r>
            <a:r>
              <a:rPr lang="zh-CN" altLang="en-US" sz="2200" dirty="0" smtClean="0"/>
              <a:t>对象属性</a:t>
            </a:r>
            <a:r>
              <a:rPr lang="zh-CN" altLang="en-US" sz="2200" dirty="0"/>
              <a:t>；</a:t>
            </a:r>
            <a:endParaRPr lang="en-US" altLang="zh-CN" sz="2200" dirty="0" smtClean="0"/>
          </a:p>
          <a:p>
            <a:r>
              <a:rPr lang="zh-CN" altLang="en-US" sz="2200" dirty="0" smtClean="0"/>
              <a:t>调用</a:t>
            </a:r>
            <a:r>
              <a:rPr lang="en-US" altLang="zh-CN" sz="2200" dirty="0" err="1" smtClean="0"/>
              <a:t>addUser</a:t>
            </a:r>
            <a:r>
              <a:rPr lang="zh-CN" altLang="en-US" sz="2200" dirty="0" smtClean="0"/>
              <a:t>方法增加新用户</a:t>
            </a:r>
            <a:r>
              <a:rPr lang="zh-CN" altLang="en-US" sz="2200" dirty="0"/>
              <a:t>；</a:t>
            </a:r>
            <a:endParaRPr lang="en-US" altLang="zh-CN" sz="2200" dirty="0" smtClean="0"/>
          </a:p>
          <a:p>
            <a:r>
              <a:rPr lang="zh-CN" altLang="en-US" sz="2200" dirty="0"/>
              <a:t>若</a:t>
            </a:r>
            <a:r>
              <a:rPr lang="zh-CN" altLang="en-US" sz="2200" dirty="0" smtClean="0"/>
              <a:t>出错，则回到</a:t>
            </a:r>
            <a:r>
              <a:rPr lang="en-US" altLang="zh-CN" sz="2200" dirty="0" err="1" smtClean="0"/>
              <a:t>AddUser.jsp</a:t>
            </a:r>
            <a:r>
              <a:rPr lang="zh-CN" altLang="en-US" sz="2200" dirty="0" smtClean="0"/>
              <a:t>，并在当前页面</a:t>
            </a:r>
            <a:r>
              <a:rPr lang="zh-CN" altLang="en-US" sz="2200" smtClean="0"/>
              <a:t>提示错误信息；</a:t>
            </a:r>
            <a:endParaRPr lang="en-US" altLang="zh-CN" sz="2200" dirty="0" smtClean="0"/>
          </a:p>
          <a:p>
            <a:r>
              <a:rPr lang="zh-CN" altLang="en-US" sz="2200" dirty="0" smtClean="0"/>
              <a:t>若成功，则跳转到</a:t>
            </a:r>
            <a:r>
              <a:rPr lang="en-US" altLang="zh-CN" sz="2200" dirty="0" err="1" smtClean="0"/>
              <a:t>MagUser.jsp</a:t>
            </a:r>
            <a:r>
              <a:rPr lang="zh-CN" altLang="en-US" sz="2200" dirty="0" smtClean="0"/>
              <a:t>。</a:t>
            </a:r>
            <a:endParaRPr lang="zh-CN" altLang="en-US" sz="22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JSP+Servlet+JavaBean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MVC</a:t>
            </a:r>
            <a:r>
              <a:rPr lang="zh-CN" altLang="en-US" dirty="0" smtClean="0"/>
              <a:t>设计模式</a:t>
            </a:r>
            <a:endParaRPr lang="en-US" altLang="zh-CN" dirty="0" smtClean="0"/>
          </a:p>
          <a:p>
            <a:r>
              <a:rPr lang="zh-CN" altLang="en-US" dirty="0"/>
              <a:t>示例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MVC</a:t>
            </a:r>
            <a:r>
              <a:rPr lang="zh-CN" altLang="en-US" dirty="0" smtClean="0"/>
              <a:t>设计模式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dirty="0"/>
              <a:t>MVC</a:t>
            </a:r>
            <a:r>
              <a:rPr lang="zh-CN" altLang="en-US" sz="2400" dirty="0"/>
              <a:t>模式</a:t>
            </a:r>
            <a:r>
              <a:rPr lang="zh-CN" altLang="en-US" sz="2400" b="0" dirty="0"/>
              <a:t>（</a:t>
            </a:r>
            <a:r>
              <a:rPr lang="en-US" altLang="zh-CN" sz="2400" b="0" dirty="0"/>
              <a:t>Model-View-Controller</a:t>
            </a:r>
            <a:r>
              <a:rPr lang="zh-CN" altLang="en-US" sz="2400" b="0" dirty="0"/>
              <a:t>）是</a:t>
            </a:r>
            <a:r>
              <a:rPr lang="zh-CN" altLang="en-US" sz="2400" b="0" dirty="0">
                <a:hlinkClick r:id="rId1" tooltip="软件工程"/>
              </a:rPr>
              <a:t>软件工程</a:t>
            </a:r>
            <a:r>
              <a:rPr lang="zh-CN" altLang="en-US" sz="2400" b="0" dirty="0"/>
              <a:t>中的一种</a:t>
            </a:r>
            <a:r>
              <a:rPr lang="zh-CN" altLang="en-US" sz="2400" b="0" dirty="0">
                <a:hlinkClick r:id="rId2" tooltip="软件架构"/>
              </a:rPr>
              <a:t>软件架构</a:t>
            </a:r>
            <a:r>
              <a:rPr lang="zh-CN" altLang="en-US" sz="2400" b="0" dirty="0"/>
              <a:t>模式，把软件系统分为三个基本部分：模型（</a:t>
            </a:r>
            <a:r>
              <a:rPr lang="en-US" altLang="zh-CN" sz="2400" b="0" dirty="0"/>
              <a:t>Model</a:t>
            </a:r>
            <a:r>
              <a:rPr lang="zh-CN" altLang="en-US" sz="2400" b="0" dirty="0"/>
              <a:t>）、视图（</a:t>
            </a:r>
            <a:r>
              <a:rPr lang="en-US" altLang="zh-CN" sz="2400" b="0" dirty="0"/>
              <a:t>View</a:t>
            </a:r>
            <a:r>
              <a:rPr lang="zh-CN" altLang="en-US" sz="2400" b="0" dirty="0"/>
              <a:t>）和控制器（</a:t>
            </a:r>
            <a:r>
              <a:rPr lang="en-US" altLang="zh-CN" sz="2400" b="0" dirty="0"/>
              <a:t>Controller</a:t>
            </a:r>
            <a:r>
              <a:rPr lang="zh-CN" altLang="en-US" sz="2400" b="0" dirty="0"/>
              <a:t>）</a:t>
            </a:r>
            <a:r>
              <a:rPr lang="zh-CN" altLang="en-US" b="0" dirty="0"/>
              <a:t>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69077" y="5056133"/>
            <a:ext cx="7324434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b="1" dirty="0" smtClean="0">
                <a:solidFill>
                  <a:srgbClr val="7030A0"/>
                </a:solidFill>
              </a:rPr>
              <a:t>MVC</a:t>
            </a:r>
            <a:r>
              <a:rPr lang="zh-CN" altLang="en-US" sz="2200" b="1" dirty="0" smtClean="0">
                <a:solidFill>
                  <a:srgbClr val="7030A0"/>
                </a:solidFill>
              </a:rPr>
              <a:t>是一种代码</a:t>
            </a:r>
            <a:r>
              <a:rPr lang="zh-CN" altLang="en-US" sz="2200" b="1" dirty="0">
                <a:solidFill>
                  <a:srgbClr val="7030A0"/>
                </a:solidFill>
              </a:rPr>
              <a:t>组织</a:t>
            </a:r>
            <a:r>
              <a:rPr lang="zh-CN" altLang="en-US" sz="2200" b="1" dirty="0" smtClean="0">
                <a:solidFill>
                  <a:srgbClr val="7030A0"/>
                </a:solidFill>
              </a:rPr>
              <a:t>方式</a:t>
            </a:r>
            <a:endParaRPr lang="en-US" altLang="zh-CN" sz="2200" b="1" dirty="0" smtClean="0">
              <a:solidFill>
                <a:srgbClr val="7030A0"/>
              </a:solidFill>
            </a:endParaRPr>
          </a:p>
          <a:p>
            <a:r>
              <a:rPr lang="zh-CN" altLang="en-US" sz="2200" b="1" dirty="0" smtClean="0">
                <a:solidFill>
                  <a:srgbClr val="7030A0"/>
                </a:solidFill>
              </a:rPr>
              <a:t>优点：程序</a:t>
            </a:r>
            <a:r>
              <a:rPr lang="zh-CN" altLang="en-US" sz="2200" b="1" dirty="0">
                <a:solidFill>
                  <a:srgbClr val="7030A0"/>
                </a:solidFill>
              </a:rPr>
              <a:t>更</a:t>
            </a:r>
            <a:r>
              <a:rPr lang="zh-CN" altLang="en-US" sz="2200" b="1" dirty="0" smtClean="0">
                <a:solidFill>
                  <a:srgbClr val="7030A0"/>
                </a:solidFill>
              </a:rPr>
              <a:t>健壮、代码重用性高、维护方便</a:t>
            </a:r>
            <a:endParaRPr lang="en-US" altLang="zh-CN" sz="2200" b="1" dirty="0" smtClean="0">
              <a:solidFill>
                <a:srgbClr val="7030A0"/>
              </a:solidFill>
            </a:endParaRPr>
          </a:p>
          <a:p>
            <a:r>
              <a:rPr lang="zh-CN" altLang="en-US" sz="2200" b="1" dirty="0">
                <a:solidFill>
                  <a:srgbClr val="7030A0"/>
                </a:solidFill>
              </a:rPr>
              <a:t>适合大型软件应用开发</a:t>
            </a:r>
            <a:endParaRPr lang="zh-CN" altLang="en-US" sz="2200" b="1" dirty="0">
              <a:solidFill>
                <a:srgbClr val="7030A0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960" y="2327910"/>
            <a:ext cx="10548620" cy="272796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6960235" y="5055870"/>
            <a:ext cx="3800475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200" b="1"/>
              <a:t>虚线表示不是MVC，是JSP+JavaBean</a:t>
            </a:r>
            <a:endParaRPr lang="zh-CN" altLang="en-US" sz="2200" b="1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示例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用户信息修改</a:t>
            </a:r>
            <a:endParaRPr lang="en-US" altLang="zh-CN" dirty="0" smtClean="0"/>
          </a:p>
          <a:p>
            <a:r>
              <a:rPr lang="zh-CN" altLang="en-US" dirty="0"/>
              <a:t>改</a:t>
            </a:r>
            <a:r>
              <a:rPr lang="zh-CN" altLang="en-US" dirty="0" smtClean="0"/>
              <a:t>成</a:t>
            </a:r>
            <a:r>
              <a:rPr lang="en-US" altLang="zh-CN" dirty="0" err="1" smtClean="0"/>
              <a:t>JSP+Servlet+JavaBean</a:t>
            </a:r>
            <a:endParaRPr lang="zh-CN" altLang="en-US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5460" y="1267460"/>
            <a:ext cx="3345815" cy="2371090"/>
          </a:xfrm>
          <a:prstGeom prst="rect">
            <a:avLst/>
          </a:prstGeom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3403" y="3480494"/>
            <a:ext cx="2650669" cy="26128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主要文件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5220" y="1412777"/>
            <a:ext cx="2811610" cy="4752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0" name="直接箭头连接符 9"/>
          <p:cNvCxnSpPr/>
          <p:nvPr/>
        </p:nvCxnSpPr>
        <p:spPr>
          <a:xfrm flipH="1">
            <a:off x="5569628" y="2636912"/>
            <a:ext cx="1541616" cy="84358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圆角矩形 11"/>
          <p:cNvSpPr/>
          <p:nvPr/>
        </p:nvSpPr>
        <p:spPr>
          <a:xfrm>
            <a:off x="4433324" y="5710655"/>
            <a:ext cx="2272609" cy="382641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圆角矩形 13"/>
          <p:cNvSpPr/>
          <p:nvPr/>
        </p:nvSpPr>
        <p:spPr>
          <a:xfrm>
            <a:off x="2207260" y="2997200"/>
            <a:ext cx="2982595" cy="30924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0193020" y="5835015"/>
            <a:ext cx="17259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</a:rPr>
              <a:t>演示</a:t>
            </a:r>
            <a:r>
              <a:rPr lang="en-US" altLang="zh-CN" sz="2400" b="1">
                <a:solidFill>
                  <a:srgbClr val="FF0000"/>
                </a:solidFill>
              </a:rPr>
              <a:t> 5-4</a:t>
            </a:r>
            <a:endParaRPr lang="en-US" altLang="zh-CN" sz="2400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  <p:bldP spid="14" grpId="0" bldLvl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修改功能</a:t>
            </a:r>
            <a:r>
              <a:rPr lang="zh-CN" altLang="en-US" dirty="0" smtClean="0"/>
              <a:t>关键代码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CN" dirty="0" smtClean="0">
                <a:hlinkClick r:id="rId1" action="ppaction://hlinksldjump"/>
              </a:rPr>
              <a:t>UpdateUserServlet.java</a:t>
            </a:r>
            <a:r>
              <a:rPr lang="en-US" altLang="zh-CN" dirty="0" smtClean="0"/>
              <a:t>  </a:t>
            </a:r>
            <a:r>
              <a:rPr lang="zh-CN" altLang="en-US" dirty="0" smtClean="0"/>
              <a:t>（</a:t>
            </a:r>
            <a:r>
              <a:rPr lang="en-US" altLang="zh-CN" dirty="0" smtClean="0"/>
              <a:t>Control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接收更新后的参数值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校验参数有效性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调用更新的业务逻辑</a:t>
            </a:r>
            <a:endParaRPr lang="en-US" altLang="zh-CN" dirty="0" smtClean="0"/>
          </a:p>
          <a:p>
            <a:pPr lvl="1"/>
            <a:r>
              <a:rPr lang="zh-CN" altLang="en-US" dirty="0"/>
              <a:t>页面跳转</a:t>
            </a:r>
            <a:endParaRPr lang="en-US" altLang="zh-CN" dirty="0" smtClean="0"/>
          </a:p>
          <a:p>
            <a:r>
              <a:rPr lang="en-US" altLang="zh-CN" dirty="0" err="1" smtClean="0">
                <a:hlinkClick r:id="rId2" action="ppaction://hlinksldjump"/>
              </a:rPr>
              <a:t>UpdateUser.jsp</a:t>
            </a:r>
            <a:r>
              <a:rPr lang="en-US" altLang="zh-CN" dirty="0" smtClean="0"/>
              <a:t> </a:t>
            </a:r>
            <a:r>
              <a:rPr lang="zh-CN" altLang="en-US" dirty="0" smtClean="0"/>
              <a:t>（</a:t>
            </a:r>
            <a:r>
              <a:rPr lang="en-US" altLang="zh-CN" dirty="0" smtClean="0"/>
              <a:t>View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根据</a:t>
            </a:r>
            <a:r>
              <a:rPr lang="en-US" altLang="zh-CN" dirty="0" err="1" smtClean="0"/>
              <a:t>userid</a:t>
            </a:r>
            <a:r>
              <a:rPr lang="zh-CN" altLang="en-US" dirty="0" smtClean="0"/>
              <a:t>查询用户基本信息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在表单中显示查询到的基本信息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处理校验失败后的错误提示信息</a:t>
            </a:r>
            <a:endParaRPr lang="en-US" altLang="zh-CN" dirty="0" smtClean="0"/>
          </a:p>
          <a:p>
            <a:r>
              <a:rPr lang="en-US" altLang="zh-CN" dirty="0" smtClean="0"/>
              <a:t>UserBean.java(</a:t>
            </a:r>
            <a:r>
              <a:rPr lang="en-US" altLang="zh-CN" dirty="0" err="1" smtClean="0"/>
              <a:t>updateUser</a:t>
            </a:r>
            <a:r>
              <a:rPr lang="zh-CN" altLang="en-US" dirty="0" smtClean="0"/>
              <a:t>方法</a:t>
            </a:r>
            <a:r>
              <a:rPr lang="en-US" altLang="zh-CN" dirty="0" smtClean="0"/>
              <a:t>) </a:t>
            </a:r>
            <a:r>
              <a:rPr lang="zh-CN" altLang="en-US" dirty="0" smtClean="0"/>
              <a:t>（</a:t>
            </a:r>
            <a:r>
              <a:rPr lang="en-US" altLang="zh-CN" dirty="0" smtClean="0"/>
              <a:t>Model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各种</a:t>
            </a:r>
            <a:r>
              <a:rPr lang="en-US" altLang="zh-CN" dirty="0" smtClean="0"/>
              <a:t>user</a:t>
            </a:r>
            <a:r>
              <a:rPr lang="zh-CN" altLang="en-US" dirty="0" smtClean="0"/>
              <a:t>相关的业务逻辑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右箭头 4">
            <a:hlinkClick r:id="rId3" action="ppaction://hlinksldjump"/>
          </p:cNvPr>
          <p:cNvSpPr/>
          <p:nvPr/>
        </p:nvSpPr>
        <p:spPr>
          <a:xfrm>
            <a:off x="9677400" y="6019800"/>
            <a:ext cx="838200" cy="609600"/>
          </a:xfrm>
          <a:prstGeom prst="rightArrow">
            <a:avLst/>
          </a:prstGeom>
          <a:solidFill>
            <a:srgbClr val="99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585" y="1027430"/>
            <a:ext cx="11029950" cy="535749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UpdateUserServlet.java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6968484" y="1568584"/>
            <a:ext cx="2545452" cy="368300"/>
            <a:chOff x="5323834" y="1403484"/>
            <a:chExt cx="2545452" cy="368300"/>
          </a:xfrm>
        </p:grpSpPr>
        <p:sp>
          <p:nvSpPr>
            <p:cNvPr id="5" name="TextBox 4"/>
            <p:cNvSpPr txBox="1"/>
            <p:nvPr/>
          </p:nvSpPr>
          <p:spPr>
            <a:xfrm>
              <a:off x="5971906" y="1403484"/>
              <a:ext cx="18973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 smtClean="0"/>
                <a:t>接收</a:t>
              </a:r>
              <a:r>
                <a:rPr lang="en-US" altLang="zh-CN" dirty="0" smtClean="0"/>
                <a:t>request</a:t>
              </a:r>
              <a:r>
                <a:rPr lang="zh-CN" altLang="en-US" dirty="0" smtClean="0"/>
                <a:t>参数</a:t>
              </a:r>
              <a:endParaRPr lang="zh-CN" altLang="en-US" dirty="0"/>
            </a:p>
          </p:txBody>
        </p:sp>
        <p:cxnSp>
          <p:nvCxnSpPr>
            <p:cNvPr id="10" name="直接箭头连接符 9"/>
            <p:cNvCxnSpPr>
              <a:endCxn id="5" idx="1"/>
            </p:cNvCxnSpPr>
            <p:nvPr/>
          </p:nvCxnSpPr>
          <p:spPr>
            <a:xfrm>
              <a:off x="5323834" y="1587515"/>
              <a:ext cx="648072" cy="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组合 22"/>
          <p:cNvGrpSpPr/>
          <p:nvPr/>
        </p:nvGrpSpPr>
        <p:grpSpPr>
          <a:xfrm>
            <a:off x="5517958" y="2202562"/>
            <a:ext cx="2835963" cy="368300"/>
            <a:chOff x="4999798" y="1835532"/>
            <a:chExt cx="2835963" cy="368300"/>
          </a:xfrm>
        </p:grpSpPr>
        <p:sp>
          <p:nvSpPr>
            <p:cNvPr id="7" name="TextBox 6"/>
            <p:cNvSpPr txBox="1"/>
            <p:nvPr/>
          </p:nvSpPr>
          <p:spPr>
            <a:xfrm>
              <a:off x="6052681" y="1835532"/>
              <a:ext cx="17830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 smtClean="0"/>
                <a:t>校验参数有效性</a:t>
              </a:r>
              <a:endParaRPr lang="zh-CN" altLang="en-US" dirty="0"/>
            </a:p>
          </p:txBody>
        </p:sp>
        <p:cxnSp>
          <p:nvCxnSpPr>
            <p:cNvPr id="14" name="直接箭头连接符 13"/>
            <p:cNvCxnSpPr/>
            <p:nvPr/>
          </p:nvCxnSpPr>
          <p:spPr>
            <a:xfrm>
              <a:off x="4999798" y="1844824"/>
              <a:ext cx="972108" cy="175374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组合 23"/>
          <p:cNvGrpSpPr/>
          <p:nvPr/>
        </p:nvGrpSpPr>
        <p:grpSpPr>
          <a:xfrm>
            <a:off x="4372382" y="2649111"/>
            <a:ext cx="2361084" cy="368300"/>
            <a:chOff x="2699792" y="2132856"/>
            <a:chExt cx="2361084" cy="368300"/>
          </a:xfrm>
        </p:grpSpPr>
        <p:sp>
          <p:nvSpPr>
            <p:cNvPr id="8" name="TextBox 7"/>
            <p:cNvSpPr txBox="1"/>
            <p:nvPr/>
          </p:nvSpPr>
          <p:spPr>
            <a:xfrm>
              <a:off x="3506396" y="2132856"/>
              <a:ext cx="15544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 smtClean="0"/>
                <a:t>调用业务逻辑</a:t>
              </a:r>
              <a:endParaRPr lang="zh-CN" altLang="en-US" dirty="0"/>
            </a:p>
          </p:txBody>
        </p:sp>
        <p:cxnSp>
          <p:nvCxnSpPr>
            <p:cNvPr id="16" name="直接箭头连接符 15"/>
            <p:cNvCxnSpPr/>
            <p:nvPr/>
          </p:nvCxnSpPr>
          <p:spPr>
            <a:xfrm>
              <a:off x="2699792" y="2348880"/>
              <a:ext cx="864096" cy="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组合 24"/>
          <p:cNvGrpSpPr/>
          <p:nvPr/>
        </p:nvGrpSpPr>
        <p:grpSpPr>
          <a:xfrm>
            <a:off x="7800187" y="5214620"/>
            <a:ext cx="2723668" cy="368300"/>
            <a:chOff x="5432505" y="4509450"/>
            <a:chExt cx="2723678" cy="653568"/>
          </a:xfrm>
        </p:grpSpPr>
        <p:sp>
          <p:nvSpPr>
            <p:cNvPr id="9" name="TextBox 8"/>
            <p:cNvSpPr txBox="1"/>
            <p:nvPr/>
          </p:nvSpPr>
          <p:spPr>
            <a:xfrm>
              <a:off x="6372461" y="4509450"/>
              <a:ext cx="1783722" cy="6535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跳转</a:t>
              </a:r>
              <a:r>
                <a:rPr lang="zh-CN" altLang="en-US" dirty="0" smtClean="0"/>
                <a:t>到结果视图</a:t>
              </a:r>
              <a:endParaRPr lang="zh-CN" altLang="en-US" dirty="0"/>
            </a:p>
          </p:txBody>
        </p:sp>
        <p:cxnSp>
          <p:nvCxnSpPr>
            <p:cNvPr id="18" name="直接箭头连接符 17"/>
            <p:cNvCxnSpPr/>
            <p:nvPr/>
          </p:nvCxnSpPr>
          <p:spPr>
            <a:xfrm>
              <a:off x="5432505" y="4547762"/>
              <a:ext cx="939695" cy="216024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19"/>
            <p:cNvCxnSpPr/>
            <p:nvPr/>
          </p:nvCxnSpPr>
          <p:spPr>
            <a:xfrm flipV="1">
              <a:off x="5909545" y="4995118"/>
              <a:ext cx="576582" cy="127333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UpdateUserServlet</a:t>
            </a:r>
            <a:r>
              <a:rPr lang="zh-CN" altLang="en-US" dirty="0" smtClean="0"/>
              <a:t>续</a:t>
            </a:r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6816" y="1124744"/>
            <a:ext cx="9219485" cy="50405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直接连接符 5"/>
          <p:cNvCxnSpPr/>
          <p:nvPr/>
        </p:nvCxnSpPr>
        <p:spPr>
          <a:xfrm>
            <a:off x="1516816" y="1412776"/>
            <a:ext cx="1050792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3935760" y="1412776"/>
            <a:ext cx="2664296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/>
          <p:cNvGrpSpPr/>
          <p:nvPr/>
        </p:nvGrpSpPr>
        <p:grpSpPr>
          <a:xfrm>
            <a:off x="6312024" y="3311397"/>
            <a:ext cx="4259952" cy="368300"/>
            <a:chOff x="5323834" y="1403484"/>
            <a:chExt cx="4259952" cy="368300"/>
          </a:xfrm>
        </p:grpSpPr>
        <p:sp>
          <p:nvSpPr>
            <p:cNvPr id="8" name="TextBox 7"/>
            <p:cNvSpPr txBox="1"/>
            <p:nvPr/>
          </p:nvSpPr>
          <p:spPr>
            <a:xfrm>
              <a:off x="5971906" y="1403484"/>
              <a:ext cx="36118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 smtClean="0"/>
                <a:t>将接收的参数封装成</a:t>
              </a:r>
              <a:r>
                <a:rPr lang="en-US" altLang="zh-CN" dirty="0" err="1" smtClean="0"/>
                <a:t>UserBean</a:t>
              </a:r>
              <a:r>
                <a:rPr lang="zh-CN" altLang="en-US" dirty="0" smtClean="0"/>
                <a:t>对象</a:t>
              </a:r>
              <a:endParaRPr lang="zh-CN" altLang="en-US" dirty="0"/>
            </a:p>
          </p:txBody>
        </p:sp>
        <p:cxnSp>
          <p:nvCxnSpPr>
            <p:cNvPr id="10" name="直接箭头连接符 9"/>
            <p:cNvCxnSpPr>
              <a:endCxn id="8" idx="1"/>
            </p:cNvCxnSpPr>
            <p:nvPr/>
          </p:nvCxnSpPr>
          <p:spPr>
            <a:xfrm>
              <a:off x="5323834" y="1587515"/>
              <a:ext cx="648072" cy="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UpdateUserServlet</a:t>
            </a:r>
            <a:r>
              <a:rPr lang="zh-CN" altLang="en-US" dirty="0" smtClean="0"/>
              <a:t>续</a:t>
            </a:r>
            <a:r>
              <a:rPr lang="en-US" altLang="zh-CN" dirty="0" smtClean="0"/>
              <a:t>2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412774"/>
            <a:ext cx="9144000" cy="180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直接连接符 5"/>
          <p:cNvCxnSpPr/>
          <p:nvPr/>
        </p:nvCxnSpPr>
        <p:spPr>
          <a:xfrm>
            <a:off x="1516816" y="1700808"/>
            <a:ext cx="1050792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4727848" y="1700808"/>
            <a:ext cx="525396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右箭头 8">
            <a:hlinkClick r:id="rId2" action="ppaction://hlinksldjump"/>
          </p:cNvPr>
          <p:cNvSpPr/>
          <p:nvPr/>
        </p:nvSpPr>
        <p:spPr>
          <a:xfrm>
            <a:off x="9677400" y="6019800"/>
            <a:ext cx="838200" cy="609600"/>
          </a:xfrm>
          <a:prstGeom prst="rightArrow">
            <a:avLst/>
          </a:prstGeom>
          <a:solidFill>
            <a:srgbClr val="99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" name="组合 7"/>
          <p:cNvGrpSpPr/>
          <p:nvPr/>
        </p:nvGrpSpPr>
        <p:grpSpPr>
          <a:xfrm>
            <a:off x="5375920" y="2420888"/>
            <a:ext cx="4373880" cy="1698591"/>
            <a:chOff x="4898478" y="343442"/>
            <a:chExt cx="4373880" cy="1698591"/>
          </a:xfrm>
        </p:grpSpPr>
        <p:sp>
          <p:nvSpPr>
            <p:cNvPr id="10" name="TextBox 9"/>
            <p:cNvSpPr txBox="1"/>
            <p:nvPr/>
          </p:nvSpPr>
          <p:spPr>
            <a:xfrm>
              <a:off x="4898478" y="1612138"/>
              <a:ext cx="4373880" cy="4298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200" dirty="0" smtClean="0"/>
                <a:t>校验输入参数的有效性，可以多个</a:t>
              </a:r>
              <a:endParaRPr lang="zh-CN" altLang="en-US" sz="2200" dirty="0"/>
            </a:p>
          </p:txBody>
        </p:sp>
        <p:cxnSp>
          <p:nvCxnSpPr>
            <p:cNvPr id="11" name="直接箭头连接符 10"/>
            <p:cNvCxnSpPr/>
            <p:nvPr/>
          </p:nvCxnSpPr>
          <p:spPr>
            <a:xfrm>
              <a:off x="5971906" y="343442"/>
              <a:ext cx="0" cy="1252704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UpdateUser.jsp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065" y="981075"/>
            <a:ext cx="10963275" cy="52914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组合 4"/>
          <p:cNvGrpSpPr/>
          <p:nvPr/>
        </p:nvGrpSpPr>
        <p:grpSpPr>
          <a:xfrm>
            <a:off x="5808479" y="2853323"/>
            <a:ext cx="4681334" cy="614804"/>
            <a:chOff x="4546852" y="1218575"/>
            <a:chExt cx="4681334" cy="614804"/>
          </a:xfrm>
        </p:grpSpPr>
        <p:sp>
          <p:nvSpPr>
            <p:cNvPr id="6" name="TextBox 5"/>
            <p:cNvSpPr txBox="1"/>
            <p:nvPr/>
          </p:nvSpPr>
          <p:spPr>
            <a:xfrm>
              <a:off x="5971906" y="1403484"/>
              <a:ext cx="3256280" cy="4298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200" dirty="0" smtClean="0"/>
                <a:t>根据</a:t>
              </a:r>
              <a:r>
                <a:rPr lang="en-US" altLang="zh-CN" sz="2200" dirty="0" err="1" smtClean="0"/>
                <a:t>userid</a:t>
              </a:r>
              <a:r>
                <a:rPr lang="zh-CN" altLang="en-US" sz="2200" dirty="0" smtClean="0"/>
                <a:t>查询用户信息</a:t>
              </a:r>
              <a:endParaRPr lang="zh-CN" altLang="en-US" sz="2200" dirty="0"/>
            </a:p>
          </p:txBody>
        </p:sp>
        <p:cxnSp>
          <p:nvCxnSpPr>
            <p:cNvPr id="7" name="直接箭头连接符 6"/>
            <p:cNvCxnSpPr>
              <a:endCxn id="6" idx="1"/>
            </p:cNvCxnSpPr>
            <p:nvPr/>
          </p:nvCxnSpPr>
          <p:spPr>
            <a:xfrm>
              <a:off x="4546852" y="1218575"/>
              <a:ext cx="1425054" cy="40069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组合 8"/>
          <p:cNvGrpSpPr/>
          <p:nvPr/>
        </p:nvGrpSpPr>
        <p:grpSpPr>
          <a:xfrm>
            <a:off x="5088399" y="4005198"/>
            <a:ext cx="6975987" cy="1992629"/>
            <a:chOff x="4286937" y="-608094"/>
            <a:chExt cx="8397534" cy="2106783"/>
          </a:xfrm>
        </p:grpSpPr>
        <p:sp>
          <p:nvSpPr>
            <p:cNvPr id="10" name="TextBox 9"/>
            <p:cNvSpPr txBox="1"/>
            <p:nvPr/>
          </p:nvSpPr>
          <p:spPr>
            <a:xfrm>
              <a:off x="5499889" y="686322"/>
              <a:ext cx="7184582" cy="8123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200" dirty="0" smtClean="0"/>
                <a:t>Servlet</a:t>
              </a:r>
              <a:r>
                <a:rPr lang="zh-CN" altLang="en-US" sz="2200" dirty="0" smtClean="0"/>
                <a:t>处理后的错误提示信息</a:t>
              </a:r>
              <a:endParaRPr lang="en-US" altLang="zh-CN" sz="2200" dirty="0" smtClean="0"/>
            </a:p>
            <a:p>
              <a:r>
                <a:rPr lang="zh-CN" altLang="en-US" sz="2200" dirty="0" smtClean="0"/>
                <a:t>若</a:t>
              </a:r>
              <a:r>
                <a:rPr lang="en-US" altLang="zh-CN" sz="2200" dirty="0" smtClean="0"/>
                <a:t>errors</a:t>
              </a:r>
              <a:r>
                <a:rPr lang="zh-CN" altLang="en-US" sz="2200" dirty="0" smtClean="0"/>
                <a:t>为</a:t>
              </a:r>
              <a:r>
                <a:rPr lang="en-US" altLang="zh-CN" sz="2200" dirty="0" smtClean="0"/>
                <a:t>null</a:t>
              </a:r>
              <a:r>
                <a:rPr lang="zh-CN" altLang="en-US" sz="2200" dirty="0" smtClean="0"/>
                <a:t>，则错误提示信息为空字符串</a:t>
              </a:r>
              <a:endParaRPr lang="zh-CN" altLang="en-US" sz="2200" dirty="0"/>
            </a:p>
          </p:txBody>
        </p:sp>
        <p:cxnSp>
          <p:nvCxnSpPr>
            <p:cNvPr id="11" name="直接箭头连接符 10"/>
            <p:cNvCxnSpPr/>
            <p:nvPr/>
          </p:nvCxnSpPr>
          <p:spPr>
            <a:xfrm>
              <a:off x="4286937" y="-608094"/>
              <a:ext cx="1906410" cy="1218551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065" y="980440"/>
            <a:ext cx="5764530" cy="318135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UpdateUser.jsp</a:t>
            </a:r>
            <a:r>
              <a:rPr lang="zh-CN" altLang="en-US" dirty="0" smtClean="0"/>
              <a:t>续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9496" y="1153988"/>
            <a:ext cx="8802404" cy="269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2220" y="1485900"/>
            <a:ext cx="10132060" cy="40411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8073" y="5526772"/>
            <a:ext cx="1265559" cy="2868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右箭头 8">
            <a:hlinkClick r:id="rId4" action="ppaction://hlinksldjump"/>
          </p:cNvPr>
          <p:cNvSpPr/>
          <p:nvPr/>
        </p:nvSpPr>
        <p:spPr>
          <a:xfrm>
            <a:off x="9677400" y="6019800"/>
            <a:ext cx="838200" cy="609600"/>
          </a:xfrm>
          <a:prstGeom prst="rightArrow">
            <a:avLst/>
          </a:prstGeom>
          <a:solidFill>
            <a:srgbClr val="99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" name="组合 7"/>
          <p:cNvGrpSpPr/>
          <p:nvPr/>
        </p:nvGrpSpPr>
        <p:grpSpPr>
          <a:xfrm>
            <a:off x="6860868" y="3427983"/>
            <a:ext cx="1859280" cy="2437791"/>
            <a:chOff x="5971906" y="-604412"/>
            <a:chExt cx="1859280" cy="2437791"/>
          </a:xfrm>
        </p:grpSpPr>
        <p:sp>
          <p:nvSpPr>
            <p:cNvPr id="10" name="TextBox 9"/>
            <p:cNvSpPr txBox="1"/>
            <p:nvPr/>
          </p:nvSpPr>
          <p:spPr>
            <a:xfrm>
              <a:off x="5971906" y="1403484"/>
              <a:ext cx="1859280" cy="4298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200" dirty="0" smtClean="0"/>
                <a:t>错误提示信息</a:t>
              </a:r>
              <a:endParaRPr lang="zh-CN" altLang="en-US" sz="2200" dirty="0"/>
            </a:p>
          </p:txBody>
        </p:sp>
        <p:cxnSp>
          <p:nvCxnSpPr>
            <p:cNvPr id="11" name="直接箭头连接符 10"/>
            <p:cNvCxnSpPr/>
            <p:nvPr/>
          </p:nvCxnSpPr>
          <p:spPr>
            <a:xfrm>
              <a:off x="7214372" y="-604412"/>
              <a:ext cx="360040" cy="1944216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查询功能关键代码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520" y="1135380"/>
            <a:ext cx="11001375" cy="5113020"/>
          </a:xfrm>
        </p:spPr>
        <p:txBody>
          <a:bodyPr>
            <a:normAutofit fontScale="72500"/>
          </a:bodyPr>
          <a:lstStyle/>
          <a:p>
            <a:r>
              <a:rPr lang="en-US" altLang="zh-CN" sz="3300" dirty="0" err="1"/>
              <a:t>MagUser.jsp</a:t>
            </a:r>
            <a:endParaRPr lang="en-US" altLang="zh-CN" sz="3300" dirty="0"/>
          </a:p>
          <a:p>
            <a:pPr lvl="1"/>
            <a:r>
              <a:rPr lang="zh-CN" altLang="en-US" sz="3035" dirty="0"/>
              <a:t>查询条件表单（用户名、性别）</a:t>
            </a:r>
            <a:endParaRPr lang="en-US" altLang="zh-CN" sz="3035" dirty="0"/>
          </a:p>
          <a:p>
            <a:pPr lvl="1"/>
            <a:r>
              <a:rPr lang="zh-CN" altLang="en-US" sz="3035" dirty="0"/>
              <a:t>查询结果显示</a:t>
            </a:r>
            <a:endParaRPr lang="en-US" altLang="zh-CN" sz="3035" dirty="0"/>
          </a:p>
          <a:p>
            <a:pPr lvl="1"/>
            <a:r>
              <a:rPr lang="zh-CN" altLang="en-US" sz="3035" dirty="0"/>
              <a:t>查询错误提示</a:t>
            </a:r>
            <a:endParaRPr lang="en-US" altLang="zh-CN" sz="3035" dirty="0"/>
          </a:p>
          <a:p>
            <a:r>
              <a:rPr lang="en-US" altLang="zh-CN" sz="3300" dirty="0"/>
              <a:t>GetUsersServlet.java</a:t>
            </a:r>
            <a:endParaRPr lang="en-US" altLang="zh-CN" sz="3300" dirty="0"/>
          </a:p>
          <a:p>
            <a:pPr lvl="1"/>
            <a:r>
              <a:rPr lang="zh-CN" altLang="en-US" sz="3035" dirty="0"/>
              <a:t>接收条件参数</a:t>
            </a:r>
            <a:endParaRPr lang="en-US" altLang="zh-CN" sz="3035" dirty="0"/>
          </a:p>
          <a:p>
            <a:pPr lvl="1"/>
            <a:r>
              <a:rPr lang="zh-CN" altLang="en-US" sz="3035" dirty="0" smtClean="0"/>
              <a:t>调用查询业务逻辑</a:t>
            </a:r>
            <a:endParaRPr lang="en-US" altLang="zh-CN" sz="3035" dirty="0" smtClean="0"/>
          </a:p>
          <a:p>
            <a:pPr lvl="1"/>
            <a:r>
              <a:rPr lang="zh-CN" altLang="en-US" sz="3035" dirty="0"/>
              <a:t>页面跳转</a:t>
            </a:r>
            <a:endParaRPr lang="en-US" altLang="zh-CN" sz="3035" dirty="0"/>
          </a:p>
          <a:p>
            <a:r>
              <a:rPr lang="en-US" altLang="zh-CN" sz="3300" dirty="0"/>
              <a:t>UserBpo.java</a:t>
            </a:r>
            <a:endParaRPr lang="en-US" altLang="zh-CN" sz="3300" dirty="0"/>
          </a:p>
          <a:p>
            <a:pPr lvl="1"/>
            <a:r>
              <a:rPr lang="en-US" altLang="zh-CN" sz="3035" dirty="0" err="1"/>
              <a:t>getUsers</a:t>
            </a:r>
            <a:r>
              <a:rPr lang="en-US" altLang="zh-CN" sz="3035" dirty="0"/>
              <a:t>(String username, String sex</a:t>
            </a:r>
            <a:r>
              <a:rPr lang="en-US" altLang="zh-CN" sz="3035" dirty="0" smtClean="0"/>
              <a:t>)</a:t>
            </a:r>
            <a:endParaRPr lang="en-US" altLang="zh-CN" sz="3035" dirty="0" smtClean="0"/>
          </a:p>
          <a:p>
            <a:pPr lvl="2"/>
            <a:r>
              <a:rPr lang="zh-CN" altLang="en-US" sz="3035" dirty="0"/>
              <a:t>查询</a:t>
            </a:r>
            <a:r>
              <a:rPr lang="zh-CN" altLang="en-US" sz="3035" dirty="0" smtClean="0"/>
              <a:t>逻辑</a:t>
            </a:r>
            <a:endParaRPr lang="zh-CN" altLang="en-US" sz="3035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8173" y="1043974"/>
            <a:ext cx="9149827" cy="32491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圆角矩形 12"/>
          <p:cNvSpPr/>
          <p:nvPr/>
        </p:nvSpPr>
        <p:spPr>
          <a:xfrm>
            <a:off x="2135560" y="2636912"/>
            <a:ext cx="7344816" cy="104849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MagUser.jsp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6384578" y="1268473"/>
            <a:ext cx="4025264" cy="864774"/>
            <a:chOff x="4765277" y="201361"/>
            <a:chExt cx="3312377" cy="1651342"/>
          </a:xfrm>
        </p:grpSpPr>
        <p:sp>
          <p:nvSpPr>
            <p:cNvPr id="6" name="TextBox 5"/>
            <p:cNvSpPr txBox="1"/>
            <p:nvPr/>
          </p:nvSpPr>
          <p:spPr>
            <a:xfrm>
              <a:off x="5168677" y="201361"/>
              <a:ext cx="2908977" cy="14672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200" b="1" dirty="0" smtClean="0"/>
                <a:t>获得错误信息。若</a:t>
              </a:r>
              <a:r>
                <a:rPr lang="en-US" altLang="zh-CN" sz="2200" b="1" dirty="0" smtClean="0"/>
                <a:t>request</a:t>
              </a:r>
              <a:r>
                <a:rPr lang="zh-CN" altLang="en-US" sz="2200" b="1" dirty="0" smtClean="0"/>
                <a:t>中没有，则</a:t>
              </a:r>
              <a:r>
                <a:rPr lang="en-US" altLang="zh-CN" sz="2200" b="1" dirty="0" smtClean="0"/>
                <a:t>error</a:t>
              </a:r>
              <a:r>
                <a:rPr lang="zh-CN" altLang="en-US" sz="2200" b="1" dirty="0" smtClean="0"/>
                <a:t>为空</a:t>
              </a:r>
              <a:endParaRPr lang="zh-CN" altLang="en-US" sz="2200" b="1" dirty="0"/>
            </a:p>
          </p:txBody>
        </p:sp>
        <p:cxnSp>
          <p:nvCxnSpPr>
            <p:cNvPr id="7" name="直接箭头连接符 6"/>
            <p:cNvCxnSpPr>
              <a:endCxn id="6" idx="1"/>
            </p:cNvCxnSpPr>
            <p:nvPr/>
          </p:nvCxnSpPr>
          <p:spPr>
            <a:xfrm flipV="1">
              <a:off x="4765277" y="935997"/>
              <a:ext cx="403400" cy="916706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组合 14"/>
          <p:cNvGrpSpPr/>
          <p:nvPr/>
        </p:nvGrpSpPr>
        <p:grpSpPr>
          <a:xfrm>
            <a:off x="5103495" y="3712210"/>
            <a:ext cx="5564505" cy="1101497"/>
            <a:chOff x="4577762" y="-378271"/>
            <a:chExt cx="2963804" cy="3828841"/>
          </a:xfrm>
        </p:grpSpPr>
        <p:sp>
          <p:nvSpPr>
            <p:cNvPr id="16" name="TextBox 15"/>
            <p:cNvSpPr txBox="1"/>
            <p:nvPr/>
          </p:nvSpPr>
          <p:spPr>
            <a:xfrm>
              <a:off x="5169268" y="779759"/>
              <a:ext cx="2372298" cy="26708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200" b="1" dirty="0" smtClean="0"/>
                <a:t>从</a:t>
              </a:r>
              <a:r>
                <a:rPr lang="en-US" altLang="zh-CN" sz="2200" b="1" dirty="0" smtClean="0"/>
                <a:t>request</a:t>
              </a:r>
              <a:r>
                <a:rPr lang="zh-CN" altLang="en-US" sz="2200" b="1" dirty="0" smtClean="0"/>
                <a:t>中获得查询条件，若没有，则为空</a:t>
              </a:r>
              <a:endParaRPr lang="zh-CN" altLang="en-US" sz="2200" b="1" dirty="0"/>
            </a:p>
          </p:txBody>
        </p:sp>
        <p:cxnSp>
          <p:nvCxnSpPr>
            <p:cNvPr id="17" name="直接箭头连接符 16"/>
            <p:cNvCxnSpPr>
              <a:endCxn id="16" idx="1"/>
            </p:cNvCxnSpPr>
            <p:nvPr/>
          </p:nvCxnSpPr>
          <p:spPr>
            <a:xfrm>
              <a:off x="4577762" y="-378271"/>
              <a:ext cx="591506" cy="2493131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组合 19"/>
          <p:cNvGrpSpPr/>
          <p:nvPr/>
        </p:nvGrpSpPr>
        <p:grpSpPr>
          <a:xfrm>
            <a:off x="3656938" y="3925562"/>
            <a:ext cx="3589655" cy="1598930"/>
            <a:chOff x="5169268" y="-3527464"/>
            <a:chExt cx="2760732" cy="5889584"/>
          </a:xfrm>
        </p:grpSpPr>
        <p:sp>
          <p:nvSpPr>
            <p:cNvPr id="21" name="TextBox 20"/>
            <p:cNvSpPr txBox="1"/>
            <p:nvPr/>
          </p:nvSpPr>
          <p:spPr>
            <a:xfrm>
              <a:off x="5169268" y="778622"/>
              <a:ext cx="2760732" cy="1583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200" b="1" dirty="0" smtClean="0"/>
                <a:t>从</a:t>
              </a:r>
              <a:r>
                <a:rPr lang="en-US" altLang="zh-CN" sz="2200" b="1" dirty="0" smtClean="0"/>
                <a:t>request</a:t>
              </a:r>
              <a:r>
                <a:rPr lang="zh-CN" altLang="en-US" sz="2200" b="1" dirty="0" smtClean="0"/>
                <a:t>中获得结果列表</a:t>
              </a:r>
              <a:endParaRPr lang="zh-CN" altLang="en-US" sz="2200" b="1" dirty="0"/>
            </a:p>
          </p:txBody>
        </p:sp>
        <p:cxnSp>
          <p:nvCxnSpPr>
            <p:cNvPr id="22" name="直接箭头连接符 21"/>
            <p:cNvCxnSpPr/>
            <p:nvPr/>
          </p:nvCxnSpPr>
          <p:spPr>
            <a:xfrm>
              <a:off x="5685361" y="-3527464"/>
              <a:ext cx="670056" cy="4544852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Box 23"/>
          <p:cNvSpPr txBox="1"/>
          <p:nvPr/>
        </p:nvSpPr>
        <p:spPr>
          <a:xfrm>
            <a:off x="2480211" y="5669108"/>
            <a:ext cx="569386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dirty="0" smtClean="0"/>
              <a:t>这些变量只有在</a:t>
            </a:r>
            <a:r>
              <a:rPr lang="en-US" altLang="zh-CN" sz="2200" dirty="0" smtClean="0"/>
              <a:t>request</a:t>
            </a:r>
            <a:r>
              <a:rPr lang="zh-CN" altLang="en-US" sz="2200" dirty="0" smtClean="0"/>
              <a:t>对象存在时，才有值。第一次重定向到该页面时均为空</a:t>
            </a:r>
            <a:endParaRPr lang="zh-CN" altLang="en-US" sz="22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660" y="1557020"/>
            <a:ext cx="4903470" cy="27051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  <p:bldP spid="24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MagUser.jsp</a:t>
            </a:r>
            <a:r>
              <a:rPr lang="zh-CN" altLang="en-US" dirty="0" smtClean="0"/>
              <a:t>续</a:t>
            </a:r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8071" y="1628800"/>
            <a:ext cx="8936707" cy="1440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207568" y="4149080"/>
            <a:ext cx="569386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dirty="0" smtClean="0"/>
              <a:t>查询条件表单，默认为从</a:t>
            </a:r>
            <a:r>
              <a:rPr lang="en-US" altLang="zh-CN" sz="2200" dirty="0" smtClean="0"/>
              <a:t>request</a:t>
            </a:r>
            <a:r>
              <a:rPr lang="zh-CN" altLang="en-US" sz="2200" dirty="0" smtClean="0"/>
              <a:t>取到的值</a:t>
            </a:r>
            <a:endParaRPr lang="zh-CN" altLang="en-US" sz="2200" dirty="0"/>
          </a:p>
        </p:txBody>
      </p:sp>
      <p:grpSp>
        <p:nvGrpSpPr>
          <p:cNvPr id="9" name="组合 8"/>
          <p:cNvGrpSpPr/>
          <p:nvPr/>
        </p:nvGrpSpPr>
        <p:grpSpPr>
          <a:xfrm>
            <a:off x="3287688" y="1880828"/>
            <a:ext cx="5693860" cy="1613514"/>
            <a:chOff x="1763688" y="1880828"/>
            <a:chExt cx="5693860" cy="1613514"/>
          </a:xfrm>
        </p:grpSpPr>
        <p:sp>
          <p:nvSpPr>
            <p:cNvPr id="7" name="TextBox 6"/>
            <p:cNvSpPr txBox="1"/>
            <p:nvPr/>
          </p:nvSpPr>
          <p:spPr>
            <a:xfrm>
              <a:off x="1763688" y="3064447"/>
              <a:ext cx="5693860" cy="429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200" dirty="0" smtClean="0"/>
                <a:t>提交到</a:t>
              </a:r>
              <a:r>
                <a:rPr lang="en-US" altLang="zh-CN" sz="2200" dirty="0" err="1" smtClean="0"/>
                <a:t>GetUsersServlet</a:t>
              </a:r>
              <a:endParaRPr lang="zh-CN" altLang="en-US" sz="2200" dirty="0"/>
            </a:p>
          </p:txBody>
        </p:sp>
        <p:cxnSp>
          <p:nvCxnSpPr>
            <p:cNvPr id="8" name="直接箭头连接符 7"/>
            <p:cNvCxnSpPr/>
            <p:nvPr/>
          </p:nvCxnSpPr>
          <p:spPr>
            <a:xfrm>
              <a:off x="3216758" y="1880828"/>
              <a:ext cx="0" cy="1188132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MagUser.jsp</a:t>
            </a:r>
            <a:r>
              <a:rPr lang="zh-CN" altLang="en-US" dirty="0" smtClean="0"/>
              <a:t>续</a:t>
            </a:r>
            <a:r>
              <a:rPr lang="en-US" altLang="zh-CN" dirty="0" smtClean="0"/>
              <a:t>2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999" y="1022541"/>
            <a:ext cx="9118931" cy="53285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6374401"/>
            <a:ext cx="1000125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0" name="组合 9"/>
          <p:cNvGrpSpPr/>
          <p:nvPr/>
        </p:nvGrpSpPr>
        <p:grpSpPr>
          <a:xfrm>
            <a:off x="2524660" y="1700808"/>
            <a:ext cx="8143340" cy="368300"/>
            <a:chOff x="1000660" y="1700808"/>
            <a:chExt cx="8143340" cy="368300"/>
          </a:xfrm>
        </p:grpSpPr>
        <p:sp>
          <p:nvSpPr>
            <p:cNvPr id="6" name="TextBox 5"/>
            <p:cNvSpPr txBox="1"/>
            <p:nvPr/>
          </p:nvSpPr>
          <p:spPr>
            <a:xfrm>
              <a:off x="2843808" y="1700808"/>
              <a:ext cx="6300192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smtClean="0"/>
                <a:t>users</a:t>
              </a:r>
              <a:r>
                <a:rPr lang="zh-CN" altLang="en-US" dirty="0" smtClean="0"/>
                <a:t>将从</a:t>
              </a:r>
              <a:r>
                <a:rPr lang="en-US" altLang="zh-CN" dirty="0" smtClean="0"/>
                <a:t>request</a:t>
              </a:r>
              <a:r>
                <a:rPr lang="zh-CN" altLang="en-US" dirty="0"/>
                <a:t>中</a:t>
              </a:r>
              <a:r>
                <a:rPr lang="zh-CN" altLang="en-US" dirty="0" smtClean="0"/>
                <a:t>获得，若存在则逐行显示，否则不显示</a:t>
              </a:r>
              <a:endParaRPr lang="zh-CN" altLang="en-US" dirty="0"/>
            </a:p>
          </p:txBody>
        </p:sp>
        <p:cxnSp>
          <p:nvCxnSpPr>
            <p:cNvPr id="7" name="直接箭头连接符 6"/>
            <p:cNvCxnSpPr/>
            <p:nvPr/>
          </p:nvCxnSpPr>
          <p:spPr>
            <a:xfrm flipV="1">
              <a:off x="1000660" y="1885474"/>
              <a:ext cx="1483108" cy="25753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组合 14"/>
          <p:cNvGrpSpPr/>
          <p:nvPr/>
        </p:nvGrpSpPr>
        <p:grpSpPr>
          <a:xfrm>
            <a:off x="4808984" y="5038930"/>
            <a:ext cx="1853952" cy="1051454"/>
            <a:chOff x="3284984" y="5038930"/>
            <a:chExt cx="1853952" cy="1051454"/>
          </a:xfrm>
        </p:grpSpPr>
        <p:cxnSp>
          <p:nvCxnSpPr>
            <p:cNvPr id="9" name="直接箭头连接符 8"/>
            <p:cNvCxnSpPr/>
            <p:nvPr/>
          </p:nvCxnSpPr>
          <p:spPr>
            <a:xfrm>
              <a:off x="4211960" y="5038930"/>
              <a:ext cx="0" cy="406294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3284984" y="5445224"/>
              <a:ext cx="1853952" cy="6451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 smtClean="0"/>
                <a:t>每条记录后面增加“删除”链接</a:t>
              </a:r>
              <a:endParaRPr lang="zh-CN" altLang="en-US" dirty="0"/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6384032" y="4509120"/>
            <a:ext cx="2529662" cy="1581264"/>
            <a:chOff x="4860032" y="4509120"/>
            <a:chExt cx="2529662" cy="1581264"/>
          </a:xfrm>
        </p:grpSpPr>
        <p:cxnSp>
          <p:nvCxnSpPr>
            <p:cNvPr id="11" name="直接箭头连接符 10"/>
            <p:cNvCxnSpPr/>
            <p:nvPr/>
          </p:nvCxnSpPr>
          <p:spPr>
            <a:xfrm>
              <a:off x="4860032" y="4509120"/>
              <a:ext cx="1296144" cy="936104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5535742" y="5445224"/>
              <a:ext cx="1853952" cy="6451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 smtClean="0"/>
                <a:t>每条记录后面增加“修改”链接</a:t>
              </a:r>
              <a:endParaRPr lang="zh-CN" altLang="en-US" dirty="0"/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GetUsersServlet.java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9648" y="1124744"/>
            <a:ext cx="9138352" cy="4229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圆角矩形 4"/>
          <p:cNvSpPr/>
          <p:nvPr/>
        </p:nvSpPr>
        <p:spPr>
          <a:xfrm>
            <a:off x="1919536" y="4332108"/>
            <a:ext cx="4251296" cy="52424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/>
          <p:cNvGrpSpPr/>
          <p:nvPr/>
        </p:nvGrpSpPr>
        <p:grpSpPr>
          <a:xfrm>
            <a:off x="6170832" y="4205535"/>
            <a:ext cx="3237535" cy="645160"/>
            <a:chOff x="4646832" y="4205535"/>
            <a:chExt cx="3237535" cy="645160"/>
          </a:xfrm>
        </p:grpSpPr>
        <p:cxnSp>
          <p:nvCxnSpPr>
            <p:cNvPr id="6" name="直接箭头连接符 5"/>
            <p:cNvCxnSpPr/>
            <p:nvPr/>
          </p:nvCxnSpPr>
          <p:spPr>
            <a:xfrm flipV="1">
              <a:off x="4646832" y="4463170"/>
              <a:ext cx="933280" cy="131062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5584548" y="4205535"/>
              <a:ext cx="2299819" cy="6451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 smtClean="0"/>
                <a:t>查询后显示查询错误和结果信息</a:t>
              </a:r>
              <a:endParaRPr lang="zh-CN" altLang="en-US" dirty="0"/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5807968" y="5157192"/>
            <a:ext cx="3237535" cy="580916"/>
            <a:chOff x="4646832" y="3992919"/>
            <a:chExt cx="3237535" cy="580916"/>
          </a:xfrm>
        </p:grpSpPr>
        <p:cxnSp>
          <p:nvCxnSpPr>
            <p:cNvPr id="13" name="直接箭头连接符 12"/>
            <p:cNvCxnSpPr/>
            <p:nvPr/>
          </p:nvCxnSpPr>
          <p:spPr>
            <a:xfrm>
              <a:off x="4646832" y="3992919"/>
              <a:ext cx="933280" cy="470251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5584548" y="4205535"/>
              <a:ext cx="2299819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 smtClean="0"/>
                <a:t>带着</a:t>
              </a:r>
              <a:r>
                <a:rPr lang="en-US" altLang="zh-CN" dirty="0" smtClean="0"/>
                <a:t>request</a:t>
              </a:r>
              <a:r>
                <a:rPr lang="zh-CN" altLang="en-US" dirty="0" smtClean="0"/>
                <a:t>跳转</a:t>
              </a:r>
              <a:endParaRPr lang="zh-CN" altLang="en-US" dirty="0"/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UserBpo.java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999" y="1484784"/>
            <a:ext cx="9030973" cy="2232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圆角矩形 4"/>
          <p:cNvSpPr/>
          <p:nvPr/>
        </p:nvSpPr>
        <p:spPr>
          <a:xfrm>
            <a:off x="1886606" y="1916832"/>
            <a:ext cx="3849354" cy="52424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5735960" y="1794749"/>
            <a:ext cx="3237535" cy="388697"/>
            <a:chOff x="4646832" y="4205535"/>
            <a:chExt cx="3237535" cy="388697"/>
          </a:xfrm>
        </p:grpSpPr>
        <p:cxnSp>
          <p:nvCxnSpPr>
            <p:cNvPr id="7" name="直接箭头连接符 6"/>
            <p:cNvCxnSpPr/>
            <p:nvPr/>
          </p:nvCxnSpPr>
          <p:spPr>
            <a:xfrm flipV="1">
              <a:off x="4646832" y="4463170"/>
              <a:ext cx="933280" cy="131062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5584548" y="4205535"/>
              <a:ext cx="2299819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 smtClean="0"/>
                <a:t>处理参数的</a:t>
              </a:r>
              <a:r>
                <a:rPr lang="en-US" altLang="zh-CN" dirty="0" smtClean="0"/>
                <a:t>null</a:t>
              </a:r>
              <a:r>
                <a:rPr lang="zh-CN" altLang="en-US" dirty="0" smtClean="0"/>
                <a:t>值</a:t>
              </a:r>
              <a:endParaRPr lang="zh-CN" altLang="en-US" dirty="0"/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UserBpo.java</a:t>
            </a:r>
            <a:r>
              <a:rPr lang="zh-CN" altLang="en-US" dirty="0" smtClean="0"/>
              <a:t>续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3694" y="908720"/>
            <a:ext cx="8100392" cy="54145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512" y="6357942"/>
            <a:ext cx="12954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右箭头 6">
            <a:hlinkClick r:id="rId3" action="ppaction://hlinksldjump"/>
          </p:cNvPr>
          <p:cNvSpPr/>
          <p:nvPr/>
        </p:nvSpPr>
        <p:spPr>
          <a:xfrm>
            <a:off x="9677400" y="6019800"/>
            <a:ext cx="838200" cy="609600"/>
          </a:xfrm>
          <a:prstGeom prst="rightArrow">
            <a:avLst/>
          </a:prstGeom>
          <a:solidFill>
            <a:srgbClr val="99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2711624" y="1340768"/>
            <a:ext cx="5616624" cy="52424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8" grpId="0" bldLvl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删除功能关键代码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/>
              <a:t>MagUser.jsp</a:t>
            </a:r>
            <a:endParaRPr lang="en-US" altLang="zh-CN" dirty="0" smtClean="0"/>
          </a:p>
          <a:p>
            <a:pPr lvl="1"/>
            <a:r>
              <a:rPr lang="zh-CN" altLang="en-US" dirty="0"/>
              <a:t>显示删除链接</a:t>
            </a:r>
            <a:endParaRPr lang="en-US" altLang="zh-CN" dirty="0" smtClean="0"/>
          </a:p>
          <a:p>
            <a:r>
              <a:rPr lang="en-US" altLang="zh-CN" dirty="0" smtClean="0"/>
              <a:t>DeleteUserServlet.java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接收</a:t>
            </a:r>
            <a:r>
              <a:rPr lang="en-US" altLang="zh-CN" dirty="0" err="1" smtClean="0"/>
              <a:t>userid</a:t>
            </a:r>
            <a:r>
              <a:rPr lang="zh-CN" altLang="en-US" dirty="0" smtClean="0"/>
              <a:t>参数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调用</a:t>
            </a:r>
            <a:r>
              <a:rPr lang="zh-CN" altLang="en-US" dirty="0"/>
              <a:t>删除</a:t>
            </a:r>
            <a:r>
              <a:rPr lang="zh-CN" altLang="en-US" dirty="0" smtClean="0"/>
              <a:t>业务逻辑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页面跳转</a:t>
            </a:r>
            <a:endParaRPr lang="en-US" altLang="zh-CN" dirty="0" smtClean="0"/>
          </a:p>
          <a:p>
            <a:r>
              <a:rPr lang="en-US" altLang="zh-CN" dirty="0" smtClean="0"/>
              <a:t>UserBean.java</a:t>
            </a:r>
            <a:endParaRPr lang="en-US" altLang="zh-CN" dirty="0" smtClean="0"/>
          </a:p>
          <a:p>
            <a:pPr lvl="1"/>
            <a:r>
              <a:rPr lang="en-US" altLang="zh-CN" dirty="0" err="1"/>
              <a:t>delUserById</a:t>
            </a:r>
            <a:r>
              <a:rPr lang="en-US" altLang="zh-CN" dirty="0" smtClean="0"/>
              <a:t>()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DeleteUserServlet.java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0514" y="1484783"/>
            <a:ext cx="9167486" cy="3466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右箭头 5">
            <a:hlinkClick r:id="rId2" action="ppaction://hlinksldjump"/>
          </p:cNvPr>
          <p:cNvSpPr/>
          <p:nvPr/>
        </p:nvSpPr>
        <p:spPr>
          <a:xfrm>
            <a:off x="9677400" y="6019800"/>
            <a:ext cx="838200" cy="609600"/>
          </a:xfrm>
          <a:prstGeom prst="rightArrow">
            <a:avLst/>
          </a:prstGeom>
          <a:solidFill>
            <a:srgbClr val="99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小结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JavaBean</a:t>
            </a:r>
            <a:r>
              <a:rPr lang="zh-CN" altLang="en-US" dirty="0" smtClean="0"/>
              <a:t>编写规范</a:t>
            </a:r>
            <a:endParaRPr lang="en-US" altLang="zh-CN" dirty="0" smtClean="0"/>
          </a:p>
          <a:p>
            <a:pPr lvl="1"/>
            <a:r>
              <a:rPr lang="zh-CN" altLang="en-US" dirty="0"/>
              <a:t>属性</a:t>
            </a:r>
            <a:r>
              <a:rPr lang="zh-CN" altLang="en-US" dirty="0" smtClean="0"/>
              <a:t>定义、</a:t>
            </a:r>
            <a:r>
              <a:rPr lang="en-US" altLang="zh-CN" dirty="0" smtClean="0"/>
              <a:t>get/set</a:t>
            </a:r>
            <a:r>
              <a:rPr lang="zh-CN" altLang="en-US" dirty="0" smtClean="0"/>
              <a:t>方法、业务逻辑</a:t>
            </a:r>
            <a:endParaRPr lang="en-US" altLang="zh-CN" dirty="0"/>
          </a:p>
          <a:p>
            <a:r>
              <a:rPr lang="zh-CN" altLang="en-US" dirty="0"/>
              <a:t>在</a:t>
            </a:r>
            <a:r>
              <a:rPr lang="en-US" altLang="zh-CN" dirty="0"/>
              <a:t>JSP</a:t>
            </a:r>
            <a:r>
              <a:rPr lang="zh-CN" altLang="en-US" dirty="0" smtClean="0"/>
              <a:t>中使用动作</a:t>
            </a:r>
            <a:r>
              <a:rPr lang="zh-CN" altLang="en-US" dirty="0"/>
              <a:t>元素</a:t>
            </a:r>
            <a:r>
              <a:rPr lang="zh-CN" altLang="en-US" dirty="0" smtClean="0"/>
              <a:t>访问</a:t>
            </a:r>
            <a:r>
              <a:rPr lang="en-US" altLang="zh-CN" dirty="0" smtClean="0"/>
              <a:t>JavaBean</a:t>
            </a:r>
            <a:endParaRPr lang="en-US" altLang="zh-CN" dirty="0" smtClean="0"/>
          </a:p>
          <a:p>
            <a:pPr lvl="1"/>
            <a:r>
              <a:rPr lang="en-US" altLang="zh-CN" dirty="0"/>
              <a:t>&lt;</a:t>
            </a:r>
            <a:r>
              <a:rPr lang="en-US" altLang="zh-CN" dirty="0" err="1"/>
              <a:t>jsp:useBean</a:t>
            </a:r>
            <a:r>
              <a:rPr lang="en-US" altLang="zh-CN" dirty="0" smtClean="0"/>
              <a:t>&gt;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&lt;</a:t>
            </a:r>
            <a:r>
              <a:rPr lang="en-US" altLang="zh-CN" dirty="0" err="1" smtClean="0"/>
              <a:t>jsp:setProperty</a:t>
            </a:r>
            <a:r>
              <a:rPr lang="en-US" altLang="zh-CN" dirty="0" smtClean="0"/>
              <a:t>&gt;</a:t>
            </a:r>
            <a:endParaRPr lang="en-US" altLang="zh-CN" dirty="0" smtClean="0"/>
          </a:p>
          <a:p>
            <a:pPr lvl="1"/>
            <a:r>
              <a:rPr lang="en-US" altLang="zh-CN" dirty="0"/>
              <a:t>&lt;</a:t>
            </a:r>
            <a:r>
              <a:rPr lang="en-US" altLang="zh-CN" dirty="0" err="1" smtClean="0"/>
              <a:t>jsp:getProperty</a:t>
            </a:r>
            <a:r>
              <a:rPr lang="en-US" altLang="zh-CN" dirty="0" smtClean="0"/>
              <a:t>&gt;</a:t>
            </a:r>
            <a:endParaRPr lang="en-US" altLang="zh-CN" dirty="0"/>
          </a:p>
          <a:p>
            <a:r>
              <a:rPr lang="zh-CN" altLang="en-US" dirty="0" smtClean="0"/>
              <a:t>开发模式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JSP+JavaBean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JSP+Servlet+JavaBean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5815E6-DEA6-4F40-A954-531D7B02BB04}" type="slidenum">
              <a:rPr lang="zh-CN" altLang="en-US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右箭头 4">
            <a:hlinkClick r:id="rId1" action="ppaction://hlinksldjump"/>
          </p:cNvPr>
          <p:cNvSpPr/>
          <p:nvPr/>
        </p:nvSpPr>
        <p:spPr>
          <a:xfrm>
            <a:off x="10332720" y="5828030"/>
            <a:ext cx="838200" cy="609600"/>
          </a:xfrm>
          <a:prstGeom prst="rightArrow">
            <a:avLst/>
          </a:prstGeom>
          <a:solidFill>
            <a:srgbClr val="99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tags/tag1.xml><?xml version="1.0" encoding="utf-8"?>
<p:tagLst xmlns:p="http://schemas.openxmlformats.org/presentationml/2006/main">
  <p:tag name="COMMONDATA" val="eyJoZGlkIjoiYmFjNWZhYmVmMzg4Mzg4NGQ0MmIwMjFlNjJhNDU3MDQifQ=="/>
</p:tagLst>
</file>

<file path=ppt/theme/theme1.xml><?xml version="1.0" encoding="utf-8"?>
<a:theme xmlns:a="http://schemas.openxmlformats.org/drawingml/2006/main" name="数据库原理及应用">
  <a:themeElements>
    <a:clrScheme name="数据库原理及应用 7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CCCC"/>
      </a:accent1>
      <a:accent2>
        <a:srgbClr val="990000"/>
      </a:accent2>
      <a:accent3>
        <a:srgbClr val="E2F4FF"/>
      </a:accent3>
      <a:accent4>
        <a:srgbClr val="000000"/>
      </a:accent4>
      <a:accent5>
        <a:srgbClr val="FFE2E2"/>
      </a:accent5>
      <a:accent6>
        <a:srgbClr val="8A0000"/>
      </a:accent6>
      <a:hlink>
        <a:srgbClr val="660066"/>
      </a:hlink>
      <a:folHlink>
        <a:srgbClr val="000099"/>
      </a:folHlink>
    </a:clrScheme>
    <a:fontScheme name="数据库原理及应用">
      <a:majorFont>
        <a:latin typeface="隶书"/>
        <a:ea typeface="隶书"/>
        <a:cs typeface=""/>
      </a:majorFont>
      <a:minorFont>
        <a:latin typeface="楷体_GB2312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数据库原理及应用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原理及应用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原理及应用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原理及应用 4">
        <a:dk1>
          <a:srgbClr val="000000"/>
        </a:dk1>
        <a:lt1>
          <a:srgbClr val="CCECFF"/>
        </a:lt1>
        <a:dk2>
          <a:srgbClr val="CC3300"/>
        </a:dk2>
        <a:lt2>
          <a:srgbClr val="666699"/>
        </a:lt2>
        <a:accent1>
          <a:srgbClr val="FFCCCC"/>
        </a:accent1>
        <a:accent2>
          <a:srgbClr val="990000"/>
        </a:accent2>
        <a:accent3>
          <a:srgbClr val="E2F4FF"/>
        </a:accent3>
        <a:accent4>
          <a:srgbClr val="000000"/>
        </a:accent4>
        <a:accent5>
          <a:srgbClr val="FFE2E2"/>
        </a:accent5>
        <a:accent6>
          <a:srgbClr val="8A0000"/>
        </a:accent6>
        <a:hlink>
          <a:srgbClr val="990000"/>
        </a:hlink>
        <a:folHlink>
          <a:srgbClr val="0000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原理及应用 5">
        <a:dk1>
          <a:srgbClr val="000000"/>
        </a:dk1>
        <a:lt1>
          <a:srgbClr val="CCECFF"/>
        </a:lt1>
        <a:dk2>
          <a:srgbClr val="CC3300"/>
        </a:dk2>
        <a:lt2>
          <a:srgbClr val="666699"/>
        </a:lt2>
        <a:accent1>
          <a:srgbClr val="FFCCCC"/>
        </a:accent1>
        <a:accent2>
          <a:srgbClr val="990000"/>
        </a:accent2>
        <a:accent3>
          <a:srgbClr val="E2F4FF"/>
        </a:accent3>
        <a:accent4>
          <a:srgbClr val="000000"/>
        </a:accent4>
        <a:accent5>
          <a:srgbClr val="FFE2E2"/>
        </a:accent5>
        <a:accent6>
          <a:srgbClr val="8A0000"/>
        </a:accent6>
        <a:hlink>
          <a:srgbClr val="003300"/>
        </a:hlink>
        <a:folHlink>
          <a:srgbClr val="0000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原理及应用 6">
        <a:dk1>
          <a:srgbClr val="000000"/>
        </a:dk1>
        <a:lt1>
          <a:srgbClr val="CCECFF"/>
        </a:lt1>
        <a:dk2>
          <a:srgbClr val="CC3300"/>
        </a:dk2>
        <a:lt2>
          <a:srgbClr val="666699"/>
        </a:lt2>
        <a:accent1>
          <a:srgbClr val="FFCCCC"/>
        </a:accent1>
        <a:accent2>
          <a:srgbClr val="990000"/>
        </a:accent2>
        <a:accent3>
          <a:srgbClr val="E2F4FF"/>
        </a:accent3>
        <a:accent4>
          <a:srgbClr val="000000"/>
        </a:accent4>
        <a:accent5>
          <a:srgbClr val="FFE2E2"/>
        </a:accent5>
        <a:accent6>
          <a:srgbClr val="8A0000"/>
        </a:accent6>
        <a:hlink>
          <a:srgbClr val="FF9900"/>
        </a:hlink>
        <a:folHlink>
          <a:srgbClr val="0000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原理及应用 7">
        <a:dk1>
          <a:srgbClr val="000000"/>
        </a:dk1>
        <a:lt1>
          <a:srgbClr val="CCECFF"/>
        </a:lt1>
        <a:dk2>
          <a:srgbClr val="CC3300"/>
        </a:dk2>
        <a:lt2>
          <a:srgbClr val="666699"/>
        </a:lt2>
        <a:accent1>
          <a:srgbClr val="FFCCCC"/>
        </a:accent1>
        <a:accent2>
          <a:srgbClr val="990000"/>
        </a:accent2>
        <a:accent3>
          <a:srgbClr val="E2F4FF"/>
        </a:accent3>
        <a:accent4>
          <a:srgbClr val="000000"/>
        </a:accent4>
        <a:accent5>
          <a:srgbClr val="FFE2E2"/>
        </a:accent5>
        <a:accent6>
          <a:srgbClr val="8A0000"/>
        </a:accent6>
        <a:hlink>
          <a:srgbClr val="660066"/>
        </a:hlink>
        <a:folHlink>
          <a:srgbClr val="0000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4034</Words>
  <Application>WPS 演示</Application>
  <PresentationFormat>全屏显示(4:3)</PresentationFormat>
  <Paragraphs>453</Paragraphs>
  <Slides>54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54</vt:i4>
      </vt:variant>
    </vt:vector>
  </HeadingPairs>
  <TitlesOfParts>
    <vt:vector size="70" baseType="lpstr">
      <vt:lpstr>Arial</vt:lpstr>
      <vt:lpstr>宋体</vt:lpstr>
      <vt:lpstr>Wingdings</vt:lpstr>
      <vt:lpstr>Tahoma</vt:lpstr>
      <vt:lpstr>Times New Roman</vt:lpstr>
      <vt:lpstr>华文新魏</vt:lpstr>
      <vt:lpstr>隶书</vt:lpstr>
      <vt:lpstr>Monotype Sorts</vt:lpstr>
      <vt:lpstr>Wingdings</vt:lpstr>
      <vt:lpstr>楷体_GB2312</vt:lpstr>
      <vt:lpstr>新宋体</vt:lpstr>
      <vt:lpstr>华文楷体</vt:lpstr>
      <vt:lpstr>微软雅黑</vt:lpstr>
      <vt:lpstr>Arial Unicode MS</vt:lpstr>
      <vt:lpstr>Calibri</vt:lpstr>
      <vt:lpstr>数据库原理及应用</vt:lpstr>
      <vt:lpstr>PowerPoint 演示文稿</vt:lpstr>
      <vt:lpstr>主要内容</vt:lpstr>
      <vt:lpstr>JavaBean简介</vt:lpstr>
      <vt:lpstr>JavaBean简介</vt:lpstr>
      <vt:lpstr>JavaBean编写规范</vt:lpstr>
      <vt:lpstr>编写JavaBean</vt:lpstr>
      <vt:lpstr>JSP访问JavaBean</vt:lpstr>
      <vt:lpstr>脚本访问JavaBean</vt:lpstr>
      <vt:lpstr>&lt;jsp:useBean&gt;访问JavaBean</vt:lpstr>
      <vt:lpstr>&lt;jsp:useBean&gt;</vt:lpstr>
      <vt:lpstr>&lt;jsp:setProperty&gt;</vt:lpstr>
      <vt:lpstr>&lt;jsp:setProperty&gt;示例</vt:lpstr>
      <vt:lpstr>&lt;jsp:getProperty&gt;</vt:lpstr>
      <vt:lpstr>JSP+JavaBean开发示例</vt:lpstr>
      <vt:lpstr>示例代码文件</vt:lpstr>
      <vt:lpstr>关键代码文件</vt:lpstr>
      <vt:lpstr>UserBean.java</vt:lpstr>
      <vt:lpstr>UserBean.java</vt:lpstr>
      <vt:lpstr>UserBean.java续1</vt:lpstr>
      <vt:lpstr>UserBean.java续2</vt:lpstr>
      <vt:lpstr>UserBean.java续3</vt:lpstr>
      <vt:lpstr>UserBean.java续4</vt:lpstr>
      <vt:lpstr>UserBean.java续5</vt:lpstr>
      <vt:lpstr>UserBean.java续6</vt:lpstr>
      <vt:lpstr>UserBean.java续7</vt:lpstr>
      <vt:lpstr>index.jsp</vt:lpstr>
      <vt:lpstr>LoginValid.jsp</vt:lpstr>
      <vt:lpstr>LoginSuccess.jsp</vt:lpstr>
      <vt:lpstr>LoginCheck.jsp</vt:lpstr>
      <vt:lpstr>header.jsp</vt:lpstr>
      <vt:lpstr>MagUser.jsp</vt:lpstr>
      <vt:lpstr>AddUser.jsp</vt:lpstr>
      <vt:lpstr>AddUser.jsp续</vt:lpstr>
      <vt:lpstr>AddUser_do.jsp</vt:lpstr>
      <vt:lpstr>JSP+Servlet+JavaBean</vt:lpstr>
      <vt:lpstr>MVC设计模式</vt:lpstr>
      <vt:lpstr>示例</vt:lpstr>
      <vt:lpstr>主要文件</vt:lpstr>
      <vt:lpstr>修改功能关键代码</vt:lpstr>
      <vt:lpstr>UpdateUserServlet.java</vt:lpstr>
      <vt:lpstr>UpdateUserServlet续1</vt:lpstr>
      <vt:lpstr>UpdateUserServlet续2</vt:lpstr>
      <vt:lpstr>UpdateUser.jsp</vt:lpstr>
      <vt:lpstr>UpdateUser.jsp续</vt:lpstr>
      <vt:lpstr>查询功能关键代码</vt:lpstr>
      <vt:lpstr>MagUser.jsp</vt:lpstr>
      <vt:lpstr>MagUser.jsp续1</vt:lpstr>
      <vt:lpstr>MagUser.jsp续2</vt:lpstr>
      <vt:lpstr>GetUsersServlet.java</vt:lpstr>
      <vt:lpstr>UserBpo.java</vt:lpstr>
      <vt:lpstr>UserBpo.java续</vt:lpstr>
      <vt:lpstr>删除功能关键代码</vt:lpstr>
      <vt:lpstr>DeleteUserServlet.java</vt:lpstr>
      <vt:lpstr>小结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wxh</dc:creator>
  <cp:lastModifiedBy>wxh</cp:lastModifiedBy>
  <cp:revision>494</cp:revision>
  <dcterms:created xsi:type="dcterms:W3CDTF">2015-08-20T09:30:00Z</dcterms:created>
  <dcterms:modified xsi:type="dcterms:W3CDTF">2023-10-23T01:05:42Z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72238F69145848A0A40B959173B67566</vt:lpwstr>
  </property>
</Properties>
</file>