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3" r:id="rId18"/>
    <p:sldId id="271" r:id="rId19"/>
    <p:sldId id="272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4" r:id="rId28"/>
    <p:sldId id="281" r:id="rId29"/>
    <p:sldId id="282" r:id="rId30"/>
    <p:sldId id="286" r:id="rId31"/>
    <p:sldId id="285" r:id="rId32"/>
  </p:sldIdLst>
  <p:sldSz cx="12192000" cy="6858000"/>
  <p:notesSz cx="6858000" cy="9144000"/>
  <p:custDataLst>
    <p:tags r:id="rId36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楷体_GB2312"/>
        <a:ea typeface="楷体_GB231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楷体_GB2312"/>
        <a:ea typeface="楷体_GB231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楷体_GB2312"/>
        <a:ea typeface="楷体_GB231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楷体_GB2312"/>
        <a:ea typeface="楷体_GB231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楷体_GB2312"/>
        <a:ea typeface="楷体_GB231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楷体_GB2312"/>
        <a:ea typeface="楷体_GB231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楷体_GB2312"/>
        <a:ea typeface="楷体_GB231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楷体_GB2312"/>
        <a:ea typeface="楷体_GB231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楷体_GB2312"/>
        <a:ea typeface="楷体_GB231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3" userDrawn="1">
          <p15:clr>
            <a:srgbClr val="A4A3A4"/>
          </p15:clr>
        </p15:guide>
        <p15:guide id="2" pos="382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79742"/>
  </p:normalViewPr>
  <p:slideViewPr>
    <p:cSldViewPr showGuides="1">
      <p:cViewPr>
        <p:scale>
          <a:sx n="60" d="100"/>
          <a:sy n="60" d="100"/>
        </p:scale>
        <p:origin x="-1032" y="184"/>
      </p:cViewPr>
      <p:guideLst>
        <p:guide orient="horz" pos="2103"/>
        <p:guide pos="382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6" Type="http://schemas.openxmlformats.org/officeDocument/2006/relationships/tags" Target="tags/tag1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D7ED070-D31E-4349-8620-726FAAD87BEE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p>
            <a:pPr lvl="0" algn="r" eaLnBrk="1" fontAlgn="base" hangingPunct="1">
              <a:buNone/>
            </a:pPr>
            <a:fld id="{9A0DB2DC-4C9A-4742-B13C-FB6460FD3503}" type="slidenum">
              <a:rPr lang="zh-CN" altLang="en-US" sz="1200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z="1200" strike="noStrike" noProof="1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7410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741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p>
            <a:pPr lvl="0" algn="r"/>
            <a:fld id="{9A0DB2DC-4C9A-4742-B13C-FB6460FD3503}" type="slidenum">
              <a:rPr lang="en-US" altLang="zh-CN" sz="1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8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457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457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p>
            <a:pPr lvl="0" algn="r"/>
            <a:fld id="{9A0DB2DC-4C9A-4742-B13C-FB6460FD3503}" type="slidenum">
              <a:rPr lang="zh-CN" altLang="en-US" sz="1800" dirty="0">
                <a:latin typeface="楷体_GB2312"/>
                <a:ea typeface="楷体_GB2312"/>
              </a:rPr>
            </a:fld>
            <a:endParaRPr lang="zh-CN" altLang="en-US" sz="1800" dirty="0">
              <a:latin typeface="楷体_GB2312"/>
              <a:ea typeface="楷体_GB231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4505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/>
            <a:r>
              <a:rPr lang="en-US" altLang="zh-CN" dirty="0"/>
              <a:t>&lt;c:redirect url=</a:t>
            </a:r>
            <a:r>
              <a:rPr lang="en-US" altLang="zh-CN" i="1" dirty="0"/>
              <a:t>"/index.jsp"/&gt;</a:t>
            </a:r>
            <a:endParaRPr lang="en-US" altLang="zh-CN" i="1" dirty="0"/>
          </a:p>
          <a:p>
            <a:pPr lvl="0"/>
            <a:r>
              <a:rPr lang="zh-CN" altLang="en-US" i="1" dirty="0"/>
              <a:t>无需加项目名</a:t>
            </a:r>
            <a:endParaRPr lang="zh-CN" altLang="en-US" dirty="0"/>
          </a:p>
        </p:txBody>
      </p:sp>
      <p:sp>
        <p:nvSpPr>
          <p:cNvPr id="45059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标题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7625"/>
            <a:ext cx="12192000" cy="1190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Rectangle 5"/>
          <p:cNvSpPr>
            <a:spLocks noChangeArrowheads="1"/>
          </p:cNvSpPr>
          <p:nvPr/>
        </p:nvSpPr>
        <p:spPr bwMode="gray">
          <a:xfrm>
            <a:off x="0" y="1143000"/>
            <a:ext cx="12192000" cy="57150"/>
          </a:xfrm>
          <a:prstGeom prst="rect">
            <a:avLst/>
          </a:prstGeom>
          <a:gradFill rotWithShape="0">
            <a:gsLst>
              <a:gs pos="0">
                <a:srgbClr val="9933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16" tIns="46808" rIns="93616" bIns="46808" anchor="ctr"/>
          <a:lstStyle>
            <a:lvl1pPr defTabSz="936625" eaLnBrk="0" hangingPunct="0"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9pPr>
          </a:lstStyle>
          <a:p>
            <a:pPr marL="0" marR="0" lvl="0" indent="0" algn="ctr" defTabSz="9366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5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楷体_GB2312"/>
            </a:endParaRPr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gray">
          <a:xfrm>
            <a:off x="0" y="6308725"/>
            <a:ext cx="10079567" cy="571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9933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16" tIns="46808" rIns="93616" bIns="46808" anchor="ctr"/>
          <a:lstStyle>
            <a:lvl1pPr defTabSz="936625" eaLnBrk="0" hangingPunct="0"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9pPr>
          </a:lstStyle>
          <a:p>
            <a:pPr marL="0" marR="0" lvl="0" indent="0" algn="ctr" defTabSz="9366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5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楷体_GB2312"/>
            </a:endParaRPr>
          </a:p>
        </p:txBody>
      </p:sp>
      <p:grpSp>
        <p:nvGrpSpPr>
          <p:cNvPr id="2053" name="Group 9"/>
          <p:cNvGrpSpPr/>
          <p:nvPr/>
        </p:nvGrpSpPr>
        <p:grpSpPr>
          <a:xfrm>
            <a:off x="10287000" y="-28575"/>
            <a:ext cx="1905000" cy="1095375"/>
            <a:chOff x="4800" y="-18"/>
            <a:chExt cx="900" cy="690"/>
          </a:xfrm>
        </p:grpSpPr>
        <p:pic>
          <p:nvPicPr>
            <p:cNvPr id="2054" name="Picture 10" descr="校标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5040" y="270"/>
              <a:ext cx="397" cy="4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055" name="Picture 11" descr="软件工程2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4800" y="-18"/>
              <a:ext cx="900" cy="546"/>
            </a:xfrm>
            <a:prstGeom prst="rect">
              <a:avLst/>
            </a:prstGeom>
            <a:noFill/>
            <a:ln w="9525">
              <a:noFill/>
            </a:ln>
          </p:spPr>
        </p:pic>
      </p:grpSp>
      <p:pic>
        <p:nvPicPr>
          <p:cNvPr id="2056" name="Picture 2" descr="标题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7625"/>
            <a:ext cx="12192000" cy="1190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" name="Rectangle 5"/>
          <p:cNvSpPr>
            <a:spLocks noChangeArrowheads="1"/>
          </p:cNvSpPr>
          <p:nvPr/>
        </p:nvSpPr>
        <p:spPr bwMode="gray">
          <a:xfrm>
            <a:off x="0" y="1143000"/>
            <a:ext cx="12192000" cy="57150"/>
          </a:xfrm>
          <a:prstGeom prst="rect">
            <a:avLst/>
          </a:prstGeom>
          <a:gradFill rotWithShape="0">
            <a:gsLst>
              <a:gs pos="0">
                <a:srgbClr val="9933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16" tIns="46808" rIns="93616" bIns="46808" anchor="ctr"/>
          <a:lstStyle>
            <a:lvl1pPr defTabSz="936625" eaLnBrk="0" hangingPunct="0"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9pPr>
          </a:lstStyle>
          <a:p>
            <a:pPr marL="0" marR="0" lvl="0" indent="0" algn="ctr" defTabSz="9366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5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楷体_GB2312"/>
            </a:endParaRPr>
          </a:p>
        </p:txBody>
      </p:sp>
      <p:sp>
        <p:nvSpPr>
          <p:cNvPr id="20" name="Rectangle 6"/>
          <p:cNvSpPr>
            <a:spLocks noChangeArrowheads="1"/>
          </p:cNvSpPr>
          <p:nvPr/>
        </p:nvSpPr>
        <p:spPr bwMode="gray">
          <a:xfrm>
            <a:off x="0" y="6308725"/>
            <a:ext cx="10079567" cy="571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9933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16" tIns="46808" rIns="93616" bIns="46808" anchor="ctr"/>
          <a:lstStyle>
            <a:lvl1pPr defTabSz="936625" eaLnBrk="0" hangingPunct="0"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9pPr>
          </a:lstStyle>
          <a:p>
            <a:pPr marL="0" marR="0" lvl="0" indent="0" algn="ctr" defTabSz="9366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5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楷体_GB2312"/>
            </a:endParaRPr>
          </a:p>
        </p:txBody>
      </p:sp>
      <p:grpSp>
        <p:nvGrpSpPr>
          <p:cNvPr id="2059" name="Group 9"/>
          <p:cNvGrpSpPr/>
          <p:nvPr/>
        </p:nvGrpSpPr>
        <p:grpSpPr>
          <a:xfrm>
            <a:off x="10287000" y="-28575"/>
            <a:ext cx="1905000" cy="1095375"/>
            <a:chOff x="4800" y="-18"/>
            <a:chExt cx="900" cy="690"/>
          </a:xfrm>
        </p:grpSpPr>
        <p:pic>
          <p:nvPicPr>
            <p:cNvPr id="2060" name="Picture 10" descr="校标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5040" y="270"/>
              <a:ext cx="397" cy="4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061" name="Picture 11" descr="软件工程2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4800" y="-18"/>
              <a:ext cx="900" cy="54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044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3556000" y="2438400"/>
            <a:ext cx="85344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 sz="4800">
                <a:solidFill>
                  <a:schemeClr val="accent2"/>
                </a:solidFill>
              </a:defRPr>
            </a:lvl1pPr>
          </a:lstStyle>
          <a:p>
            <a:pPr lvl="0" fontAlgn="base"/>
            <a:r>
              <a:rPr lang="en-US" altLang="zh-CN" strike="noStrike" noProof="0" dirty="0" smtClean="0"/>
              <a:t>Click to edit Master subtitle style</a:t>
            </a:r>
            <a:endParaRPr lang="en-US" altLang="zh-CN" strike="noStrike" noProof="0" dirty="0" smtClean="0"/>
          </a:p>
        </p:txBody>
      </p:sp>
    </p:spTree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7600" y="152400"/>
            <a:ext cx="10401300" cy="874713"/>
          </a:xfrm>
        </p:spPr>
        <p:txBody>
          <a:bodyPr/>
          <a:lstStyle>
            <a:lvl1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pPr fontAlgn="base"/>
            <a:r>
              <a:rPr lang="zh-CN" altLang="en-US" strike="noStrike" noProof="1" dirty="0" smtClean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dirty="0" smtClean="0"/>
              <a:t>单击此处编辑母版文本样式</a:t>
            </a:r>
            <a:endParaRPr lang="zh-CN" altLang="en-US" strike="noStrike" noProof="1" dirty="0" smtClean="0"/>
          </a:p>
          <a:p>
            <a:pPr lvl="1" fontAlgn="base"/>
            <a:r>
              <a:rPr lang="zh-CN" altLang="en-US" strike="noStrike" noProof="1" dirty="0" smtClean="0"/>
              <a:t>第二级</a:t>
            </a:r>
            <a:endParaRPr lang="zh-CN" altLang="en-US" strike="noStrike" noProof="1" dirty="0" smtClean="0"/>
          </a:p>
          <a:p>
            <a:pPr lvl="2" fontAlgn="base"/>
            <a:r>
              <a:rPr lang="zh-CN" altLang="en-US" strike="noStrike" noProof="1" dirty="0" smtClean="0"/>
              <a:t>第三级</a:t>
            </a:r>
            <a:endParaRPr lang="zh-CN" altLang="en-US" strike="noStrike" noProof="1" dirty="0" smtClean="0"/>
          </a:p>
          <a:p>
            <a:pPr lvl="3" fontAlgn="base"/>
            <a:r>
              <a:rPr lang="zh-CN" altLang="en-US" strike="noStrike" noProof="1" dirty="0" smtClean="0"/>
              <a:t>第四级</a:t>
            </a:r>
            <a:endParaRPr lang="zh-CN" altLang="en-US" strike="noStrike" noProof="1" dirty="0" smtClean="0"/>
          </a:p>
          <a:p>
            <a:pPr lvl="4" fontAlgn="base"/>
            <a:r>
              <a:rPr lang="zh-CN" altLang="en-US" strike="noStrike" noProof="1" dirty="0" smtClean="0"/>
              <a:t>第五级</a:t>
            </a:r>
            <a:endParaRPr lang="zh-CN" altLang="en-US" strike="noStrike" noProof="1" dirty="0"/>
          </a:p>
        </p:txBody>
      </p:sp>
      <p:sp>
        <p:nvSpPr>
          <p:cNvPr id="12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55017" y="6473825"/>
            <a:ext cx="38608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3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1600" y="6437313"/>
            <a:ext cx="7112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fontAlgn="base">
              <a:buNone/>
            </a:pPr>
            <a:fld id="{9A0DB2DC-4C9A-4742-B13C-FB6460FD3503}" type="slidenum">
              <a:rPr lang="zh-CN" altLang="en-US" strike="noStrike" noProof="1" dirty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</a:fld>
            <a:endParaRPr lang="zh-CN" altLang="en-US" strike="noStrike" noProof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12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55017" y="6473825"/>
            <a:ext cx="38608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3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1600" y="6437313"/>
            <a:ext cx="7112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fontAlgn="base">
              <a:buNone/>
            </a:pPr>
            <a:fld id="{9A0DB2DC-4C9A-4742-B13C-FB6460FD3503}" type="slidenum">
              <a:rPr lang="zh-CN" altLang="en-US" strike="noStrike" noProof="1" dirty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</a:fld>
            <a:endParaRPr lang="zh-CN" altLang="en-US" strike="noStrike" noProof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62000" y="1135063"/>
            <a:ext cx="5255684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20884" y="1135063"/>
            <a:ext cx="5257800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2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55017" y="6473825"/>
            <a:ext cx="38608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3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1600" y="6437313"/>
            <a:ext cx="7112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fontAlgn="base">
              <a:buNone/>
            </a:pPr>
            <a:fld id="{9A0DB2DC-4C9A-4742-B13C-FB6460FD3503}" type="slidenum">
              <a:rPr lang="zh-CN" altLang="en-US" strike="noStrike" noProof="1" dirty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</a:fld>
            <a:endParaRPr lang="zh-CN" altLang="en-US" strike="noStrike" noProof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2" name="Rectangle 7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4155017" y="6473825"/>
            <a:ext cx="38608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3" name="Rectangle 8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101600" y="6437313"/>
            <a:ext cx="7112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fontAlgn="base">
              <a:buNone/>
            </a:pPr>
            <a:fld id="{9A0DB2DC-4C9A-4742-B13C-FB6460FD3503}" type="slidenum">
              <a:rPr lang="zh-CN" altLang="en-US" strike="noStrike" noProof="1" dirty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</a:fld>
            <a:endParaRPr lang="zh-CN" altLang="en-US" strike="noStrike" noProof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12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55017" y="6473825"/>
            <a:ext cx="38608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3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1600" y="6437313"/>
            <a:ext cx="7112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fontAlgn="base">
              <a:buNone/>
            </a:pPr>
            <a:fld id="{9A0DB2DC-4C9A-4742-B13C-FB6460FD3503}" type="slidenum">
              <a:rPr lang="zh-CN" altLang="en-US" strike="noStrike" noProof="1" dirty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</a:fld>
            <a:endParaRPr lang="zh-CN" altLang="en-US" strike="noStrike" noProof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55017" y="6473825"/>
            <a:ext cx="38608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3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1600" y="6437313"/>
            <a:ext cx="7112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fontAlgn="base">
              <a:buNone/>
            </a:pPr>
            <a:fld id="{9A0DB2DC-4C9A-4742-B13C-FB6460FD3503}" type="slidenum">
              <a:rPr lang="zh-CN" altLang="en-US" strike="noStrike" noProof="1" dirty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</a:fld>
            <a:endParaRPr lang="zh-CN" altLang="en-US" strike="noStrike" noProof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12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55017" y="6473825"/>
            <a:ext cx="38608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3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1600" y="6437313"/>
            <a:ext cx="7112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fontAlgn="base">
              <a:buNone/>
            </a:pPr>
            <a:fld id="{9A0DB2DC-4C9A-4742-B13C-FB6460FD3503}" type="slidenum">
              <a:rPr lang="zh-CN" altLang="en-US" strike="noStrike" noProof="1" dirty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</a:fld>
            <a:endParaRPr lang="zh-CN" altLang="en-US" strike="noStrike" noProof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Monotype Sorts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楷体_GB231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12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55017" y="6473825"/>
            <a:ext cx="38608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3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1600" y="6437313"/>
            <a:ext cx="7112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fontAlgn="base">
              <a:buNone/>
            </a:pPr>
            <a:fld id="{9A0DB2DC-4C9A-4742-B13C-FB6460FD3503}" type="slidenum">
              <a:rPr lang="zh-CN" altLang="en-US" strike="noStrike" noProof="1" dirty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</a:fld>
            <a:endParaRPr lang="zh-CN" altLang="en-US" strike="noStrike" noProof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2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55017" y="6473825"/>
            <a:ext cx="38608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3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1600" y="6437313"/>
            <a:ext cx="7112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fontAlgn="base">
              <a:buNone/>
            </a:pPr>
            <a:fld id="{9A0DB2DC-4C9A-4742-B13C-FB6460FD3503}" type="slidenum">
              <a:rPr lang="zh-CN" altLang="en-US" strike="noStrike" noProof="1" dirty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</a:fld>
            <a:endParaRPr lang="zh-CN" altLang="en-US" strike="noStrike" noProof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83133" y="0"/>
            <a:ext cx="2738967" cy="62484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62000" y="0"/>
            <a:ext cx="8017933" cy="62484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2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55017" y="6473825"/>
            <a:ext cx="38608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3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1600" y="6437313"/>
            <a:ext cx="7112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fontAlgn="base">
              <a:buNone/>
            </a:pPr>
            <a:fld id="{9A0DB2DC-4C9A-4742-B13C-FB6460FD3503}" type="slidenum">
              <a:rPr lang="zh-CN" altLang="en-US" strike="noStrike" noProof="1" dirty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</a:fld>
            <a:endParaRPr lang="zh-CN" altLang="en-US" strike="noStrike" noProof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34584" y="214313"/>
            <a:ext cx="10390716" cy="1462087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576917" y="2017713"/>
            <a:ext cx="10363200" cy="4114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Monotype Sorts"/>
              <a:buChar char="ª"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楷体_GB2312"/>
            </a:endParaRPr>
          </a:p>
        </p:txBody>
      </p:sp>
      <p:sp>
        <p:nvSpPr>
          <p:cNvPr id="12" name="Rectangle 11"/>
          <p:cNvSpPr>
            <a:spLocks noGrp="1" noChangeArrowheads="1"/>
          </p:cNvSpPr>
          <p:nvPr>
            <p:ph type="dt" sz="half" idx="2"/>
          </p:nvPr>
        </p:nvSpPr>
        <p:spPr>
          <a:xfrm>
            <a:off x="1549400" y="6243638"/>
            <a:ext cx="2540000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55017" y="6473825"/>
            <a:ext cx="38608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4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1600" y="6437313"/>
            <a:ext cx="7112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fontAlgn="base">
              <a:buNone/>
            </a:pPr>
            <a:fld id="{9A0DB2DC-4C9A-4742-B13C-FB6460FD3503}" type="slidenum">
              <a:rPr lang="en-US" altLang="zh-CN" strike="noStrike" noProof="1" dirty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</a:fld>
            <a:endParaRPr lang="en-US" altLang="zh-CN" strike="noStrike" noProof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1534584" y="214313"/>
            <a:ext cx="10405533" cy="59182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2" name="Rectangle 11"/>
          <p:cNvSpPr>
            <a:spLocks noGrp="1" noChangeArrowheads="1"/>
          </p:cNvSpPr>
          <p:nvPr>
            <p:ph type="dt" sz="half" idx="2"/>
          </p:nvPr>
        </p:nvSpPr>
        <p:spPr>
          <a:xfrm>
            <a:off x="1549400" y="6243638"/>
            <a:ext cx="2540000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55017" y="6473825"/>
            <a:ext cx="38608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4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1600" y="6437313"/>
            <a:ext cx="7112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fontAlgn="base">
              <a:buNone/>
            </a:pPr>
            <a:fld id="{9A0DB2DC-4C9A-4742-B13C-FB6460FD3503}" type="slidenum">
              <a:rPr lang="en-US" altLang="zh-CN" strike="noStrike" noProof="1" dirty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</a:fld>
            <a:endParaRPr lang="en-US" altLang="zh-CN" strike="noStrike" noProof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6.png"/><Relationship Id="rId18" Type="http://schemas.openxmlformats.org/officeDocument/2006/relationships/image" Target="../media/image5.png"/><Relationship Id="rId17" Type="http://schemas.openxmlformats.org/officeDocument/2006/relationships/image" Target="../media/image4.png"/><Relationship Id="rId16" Type="http://schemas.openxmlformats.org/officeDocument/2006/relationships/image" Target="../media/image3.png"/><Relationship Id="rId15" Type="http://schemas.openxmlformats.org/officeDocument/2006/relationships/image" Target="../media/image2.png"/><Relationship Id="rId14" Type="http://schemas.openxmlformats.org/officeDocument/2006/relationships/image" Target="../media/image1.jpe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2" descr="标题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-47625"/>
            <a:ext cx="12192000" cy="1190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4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320800" y="0"/>
            <a:ext cx="10401300" cy="87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/>
            <a:endParaRPr lang="zh-CN" altLang="en-US" strike="noStrike" noProof="1" smtClean="0"/>
          </a:p>
        </p:txBody>
      </p:sp>
      <p:sp>
        <p:nvSpPr>
          <p:cNvPr id="1028" name="Rectangle 4"/>
          <p:cNvSpPr>
            <a:spLocks noGrp="1"/>
          </p:cNvSpPr>
          <p:nvPr>
            <p:ph type="body"/>
          </p:nvPr>
        </p:nvSpPr>
        <p:spPr>
          <a:xfrm>
            <a:off x="762000" y="1135063"/>
            <a:ext cx="10716684" cy="5113337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 indent="-285750"/>
            <a:r>
              <a:rPr lang="en-US" altLang="zh-CN" dirty="0"/>
              <a:t>Second level</a:t>
            </a:r>
            <a:endParaRPr lang="en-US" altLang="zh-CN" dirty="0"/>
          </a:p>
          <a:p>
            <a:pPr lvl="2" indent="-228600"/>
            <a:r>
              <a:rPr lang="en-US" altLang="zh-CN" dirty="0"/>
              <a:t>Third level</a:t>
            </a:r>
            <a:endParaRPr lang="en-US" altLang="zh-CN" dirty="0"/>
          </a:p>
          <a:p>
            <a:pPr lvl="3" indent="-228600"/>
            <a:r>
              <a:rPr lang="en-US" altLang="zh-CN" dirty="0"/>
              <a:t>Fourth level</a:t>
            </a:r>
            <a:endParaRPr lang="en-US" altLang="zh-CN" dirty="0"/>
          </a:p>
          <a:p>
            <a:pPr lvl="4" indent="-228600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gray">
          <a:xfrm>
            <a:off x="0" y="1143000"/>
            <a:ext cx="12192000" cy="57150"/>
          </a:xfrm>
          <a:prstGeom prst="rect">
            <a:avLst/>
          </a:prstGeom>
          <a:gradFill rotWithShape="0">
            <a:gsLst>
              <a:gs pos="0">
                <a:srgbClr val="9933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16" tIns="46808" rIns="93616" bIns="46808" anchor="ctr"/>
          <a:lstStyle>
            <a:lvl1pPr defTabSz="936625" eaLnBrk="0" hangingPunct="0"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9pPr>
          </a:lstStyle>
          <a:p>
            <a:pPr marL="0" marR="0" lvl="0" indent="0" algn="ctr" defTabSz="9366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5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楷体_GB2312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gray">
          <a:xfrm>
            <a:off x="0" y="6308725"/>
            <a:ext cx="10079567" cy="571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9933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16" tIns="46808" rIns="93616" bIns="46808" anchor="ctr"/>
          <a:lstStyle>
            <a:lvl1pPr defTabSz="936625" eaLnBrk="0" hangingPunct="0"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9pPr>
          </a:lstStyle>
          <a:p>
            <a:pPr marL="0" marR="0" lvl="0" indent="0" algn="ctr" defTabSz="9366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5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楷体_GB2312"/>
            </a:endParaRPr>
          </a:p>
        </p:txBody>
      </p:sp>
      <p:sp>
        <p:nvSpPr>
          <p:cNvPr id="10343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55017" y="6473825"/>
            <a:ext cx="38608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kumimoji="1" sz="1400" b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034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1600" y="6437313"/>
            <a:ext cx="7112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</a:fld>
            <a:endParaRPr lang="zh-CN" altLang="en-US" strike="noStrike" noProof="1" dirty="0"/>
          </a:p>
        </p:txBody>
      </p:sp>
      <p:grpSp>
        <p:nvGrpSpPr>
          <p:cNvPr id="1033" name="Group 9"/>
          <p:cNvGrpSpPr/>
          <p:nvPr/>
        </p:nvGrpSpPr>
        <p:grpSpPr>
          <a:xfrm>
            <a:off x="10287000" y="-28575"/>
            <a:ext cx="1905000" cy="1095375"/>
            <a:chOff x="4800" y="-18"/>
            <a:chExt cx="900" cy="690"/>
          </a:xfrm>
        </p:grpSpPr>
        <p:pic>
          <p:nvPicPr>
            <p:cNvPr id="1034" name="Picture 10" descr="校标"/>
            <p:cNvPicPr>
              <a:picLocks noChangeAspect="1"/>
            </p:cNvPicPr>
            <p:nvPr userDrawn="1"/>
          </p:nvPicPr>
          <p:blipFill>
            <a:blip r:embed="rId15"/>
            <a:stretch>
              <a:fillRect/>
            </a:stretch>
          </p:blipFill>
          <p:spPr>
            <a:xfrm>
              <a:off x="5040" y="270"/>
              <a:ext cx="397" cy="4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35" name="Picture 11" descr="软件工程2"/>
            <p:cNvPicPr>
              <a:picLocks noChangeAspect="1"/>
            </p:cNvPicPr>
            <p:nvPr userDrawn="1"/>
          </p:nvPicPr>
          <p:blipFill>
            <a:blip r:embed="rId16"/>
            <a:stretch>
              <a:fillRect/>
            </a:stretch>
          </p:blipFill>
          <p:spPr>
            <a:xfrm>
              <a:off x="4800" y="-18"/>
              <a:ext cx="900" cy="546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 spd="med">
    <p:fade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chemeClr val="accent2"/>
        </a:buClr>
        <a:buSzPct val="90000"/>
        <a:buFont typeface="Monotype Sorts"/>
        <a:buChar char="ª"/>
        <a:defRPr sz="3200" b="1">
          <a:solidFill>
            <a:schemeClr val="tx1"/>
          </a:solidFill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660066"/>
        </a:buClr>
        <a:buSzPct val="70000"/>
        <a:buFont typeface="Wingdings" panose="05000000000000000000" pitchFamily="2" charset="2"/>
        <a:buBlip>
          <a:blip r:embed="rId17"/>
        </a:buBlip>
        <a:defRPr sz="2800" b="1">
          <a:solidFill>
            <a:srgbClr val="660066"/>
          </a:solidFill>
          <a:latin typeface="+mn-lt"/>
          <a:ea typeface="+mn-ea"/>
          <a:cs typeface="楷体_GB2312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0099"/>
        </a:buClr>
        <a:buSzPct val="80000"/>
        <a:buFont typeface="Monotype Sorts"/>
        <a:buBlip>
          <a:blip r:embed="rId18"/>
        </a:buBlip>
        <a:defRPr sz="2400" b="1">
          <a:solidFill>
            <a:schemeClr val="tx1"/>
          </a:solidFill>
          <a:latin typeface="+mn-lt"/>
          <a:ea typeface="+mn-ea"/>
          <a:cs typeface="楷体_GB2312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0000"/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  <a:cs typeface="楷体_GB2312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sz="2400" b="1">
          <a:solidFill>
            <a:schemeClr val="tx1"/>
          </a:solidFill>
          <a:latin typeface="+mn-lt"/>
          <a:ea typeface="+mn-ea"/>
          <a:cs typeface="楷体_GB2312"/>
        </a:defRPr>
      </a:lvl5pPr>
      <a:lvl6pPr marL="2228850" indent="-228600" algn="l" rtl="0" fontAlgn="base">
        <a:spcBef>
          <a:spcPct val="35000"/>
        </a:spcBef>
        <a:spcAft>
          <a:spcPct val="0"/>
        </a:spcAft>
        <a:buClr>
          <a:schemeClr val="tx2"/>
        </a:buClr>
        <a:buChar char="»"/>
        <a:defRPr sz="2400" b="1">
          <a:solidFill>
            <a:schemeClr val="tx1"/>
          </a:solidFill>
          <a:latin typeface="+mn-lt"/>
          <a:ea typeface="+mn-ea"/>
        </a:defRPr>
      </a:lvl6pPr>
      <a:lvl7pPr marL="2686050" indent="-228600" algn="l" rtl="0" fontAlgn="base">
        <a:spcBef>
          <a:spcPct val="35000"/>
        </a:spcBef>
        <a:spcAft>
          <a:spcPct val="0"/>
        </a:spcAft>
        <a:buClr>
          <a:schemeClr val="tx2"/>
        </a:buClr>
        <a:buChar char="»"/>
        <a:defRPr sz="2400" b="1">
          <a:solidFill>
            <a:schemeClr val="tx1"/>
          </a:solidFill>
          <a:latin typeface="+mn-lt"/>
          <a:ea typeface="+mn-ea"/>
        </a:defRPr>
      </a:lvl7pPr>
      <a:lvl8pPr marL="3143250" indent="-228600" algn="l" rtl="0" fontAlgn="base">
        <a:spcBef>
          <a:spcPct val="35000"/>
        </a:spcBef>
        <a:spcAft>
          <a:spcPct val="0"/>
        </a:spcAft>
        <a:buClr>
          <a:schemeClr val="tx2"/>
        </a:buClr>
        <a:buChar char="»"/>
        <a:defRPr sz="2400" b="1">
          <a:solidFill>
            <a:schemeClr val="tx1"/>
          </a:solidFill>
          <a:latin typeface="+mn-lt"/>
          <a:ea typeface="+mn-ea"/>
        </a:defRPr>
      </a:lvl8pPr>
      <a:lvl9pPr marL="3600450" indent="-228600" algn="l" rtl="0" fontAlgn="base">
        <a:spcBef>
          <a:spcPct val="35000"/>
        </a:spcBef>
        <a:spcAft>
          <a:spcPct val="0"/>
        </a:spcAft>
        <a:buClr>
          <a:schemeClr val="tx2"/>
        </a:buClr>
        <a:buChar char="»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slide" Target="slide23.xml"/><Relationship Id="rId3" Type="http://schemas.openxmlformats.org/officeDocument/2006/relationships/slide" Target="slide18.xml"/><Relationship Id="rId2" Type="http://schemas.openxmlformats.org/officeDocument/2006/relationships/slide" Target="slide13.xml"/><Relationship Id="rId1" Type="http://schemas.openxmlformats.org/officeDocument/2006/relationships/slide" Target="slide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3.xml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3.xml"/><Relationship Id="rId1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slide" Target="slide3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3.xml"/><Relationship Id="rId1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3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7525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43075" y="1295400"/>
            <a:ext cx="8696325" cy="49530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35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Monotype Sorts" pitchFamily="2" charset="2"/>
              <a:buNone/>
              <a:defRPr/>
            </a:pPr>
            <a:endParaRPr kumimoji="0" lang="en-US" altLang="zh-CN" sz="4800" b="1" i="0" u="none" strike="noStrike" kern="0" cap="none" spc="0" normalizeH="0" baseline="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35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Monotype Sorts" pitchFamily="2" charset="2"/>
              <a:buNone/>
              <a:defRPr/>
            </a:pP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第</a:t>
            </a:r>
            <a:r>
              <a:rPr kumimoji="0" lang="en-US" altLang="zh-CN" sz="48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9</a:t>
            </a: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讲 </a:t>
            </a:r>
            <a:r>
              <a:rPr kumimoji="0" lang="en-US" altLang="zh-CN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JSTL</a:t>
            </a: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（</a:t>
            </a:r>
            <a:r>
              <a:rPr kumimoji="0" lang="en-US" altLang="zh-CN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JSP</a:t>
            </a: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标准标签库）</a:t>
            </a:r>
            <a:endParaRPr kumimoji="0" lang="en-US" altLang="zh-CN" sz="4800" b="1" i="0" u="none" strike="noStrike" kern="0" cap="none" spc="0" normalizeH="0" baseline="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35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Monotype Sorts" pitchFamily="2" charset="2"/>
              <a:buNone/>
              <a:defRPr/>
            </a:pPr>
            <a:endParaRPr kumimoji="0" lang="zh-CN" altLang="en-US" sz="4400" b="1" i="1" u="none" strike="noStrike" kern="0" cap="none" spc="0" normalizeH="0" baseline="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JSTL</a:t>
            </a: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简介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18434" name="内容占位符 2"/>
          <p:cNvSpPr>
            <a:spLocks noGrp="1"/>
          </p:cNvSpPr>
          <p:nvPr>
            <p:ph idx="1"/>
          </p:nvPr>
        </p:nvSpPr>
        <p:spPr>
          <a:xfrm>
            <a:off x="761365" y="1196975"/>
            <a:ext cx="10839450" cy="5113655"/>
          </a:xfrm>
        </p:spPr>
        <p:txBody>
          <a:bodyPr vert="horz" wrap="square" lIns="91440" tIns="45720" rIns="91440" bIns="45720" anchor="t"/>
          <a:p>
            <a:r>
              <a:rPr lang="en-US" altLang="zh-CN" dirty="0"/>
              <a:t>JSP</a:t>
            </a:r>
            <a:r>
              <a:rPr lang="zh-CN" altLang="en-US" dirty="0"/>
              <a:t>中的</a:t>
            </a:r>
            <a:r>
              <a:rPr lang="en-US" altLang="zh-CN" dirty="0"/>
              <a:t>Java</a:t>
            </a:r>
            <a:r>
              <a:rPr lang="zh-CN" altLang="en-US" dirty="0"/>
              <a:t>脚本段缺点</a:t>
            </a:r>
            <a:endParaRPr lang="en-US" altLang="zh-CN" dirty="0"/>
          </a:p>
          <a:p>
            <a:pPr lvl="1"/>
            <a:r>
              <a:rPr lang="zh-CN" altLang="en-US" sz="2400" dirty="0"/>
              <a:t>增加页面复杂度</a:t>
            </a:r>
            <a:endParaRPr lang="en-US" altLang="zh-CN" sz="2400" dirty="0"/>
          </a:p>
          <a:p>
            <a:pPr lvl="1"/>
            <a:r>
              <a:rPr lang="zh-CN" altLang="en-US" sz="2400" dirty="0"/>
              <a:t>程序可维护性降低</a:t>
            </a:r>
            <a:endParaRPr lang="en-US" altLang="zh-CN" sz="2400" dirty="0"/>
          </a:p>
          <a:p>
            <a:pPr lvl="1"/>
            <a:r>
              <a:rPr lang="zh-CN" altLang="en-US" sz="2400" dirty="0"/>
              <a:t>不利于项目的角色分工</a:t>
            </a:r>
            <a:endParaRPr lang="en-US" altLang="zh-CN" sz="2400" dirty="0"/>
          </a:p>
          <a:p>
            <a:r>
              <a:rPr lang="en-US" altLang="zh-CN" sz="2400" dirty="0"/>
              <a:t>JSP</a:t>
            </a:r>
            <a:r>
              <a:rPr lang="zh-CN" altLang="en-US" sz="2400" dirty="0"/>
              <a:t>支持使用</a:t>
            </a:r>
            <a:r>
              <a:rPr lang="en-US" altLang="zh-CN" sz="2400" dirty="0"/>
              <a:t>Java</a:t>
            </a:r>
            <a:r>
              <a:rPr lang="zh-CN" altLang="en-US" sz="2400" dirty="0"/>
              <a:t>自定义的标签来替代脚本代码</a:t>
            </a:r>
            <a:endParaRPr lang="en-US" altLang="zh-CN" sz="2400" dirty="0"/>
          </a:p>
          <a:p>
            <a:pPr lvl="1"/>
            <a:r>
              <a:rPr lang="zh-CN" altLang="en-US" sz="2400" dirty="0"/>
              <a:t>会导致不同程序员创建重复功能的自定义标签</a:t>
            </a:r>
            <a:endParaRPr lang="en-US" altLang="zh-CN" sz="2400" dirty="0"/>
          </a:p>
          <a:p>
            <a:r>
              <a:rPr lang="en-US" altLang="zh-CN" sz="2400" dirty="0"/>
              <a:t>JSTL</a:t>
            </a:r>
            <a:r>
              <a:rPr lang="zh-CN" altLang="en-US" sz="2400" dirty="0"/>
              <a:t>（</a:t>
            </a:r>
            <a:r>
              <a:rPr lang="sv-SE" altLang="zh-CN" sz="2400" dirty="0"/>
              <a:t>JavaServer Pages Standard Tag Library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lvl="1"/>
            <a:r>
              <a:rPr lang="zh-CN" altLang="zh-CN" sz="2400" dirty="0"/>
              <a:t>统一的</a:t>
            </a:r>
            <a:r>
              <a:rPr lang="en-US" altLang="zh-CN" sz="2400" dirty="0"/>
              <a:t>JSP</a:t>
            </a:r>
            <a:r>
              <a:rPr lang="zh-CN" altLang="zh-CN" sz="2400" dirty="0"/>
              <a:t>官方标准标签库</a:t>
            </a:r>
            <a:endParaRPr lang="en-US" altLang="zh-CN" sz="2400" dirty="0"/>
          </a:p>
          <a:p>
            <a:pPr lvl="1"/>
            <a:r>
              <a:rPr lang="zh-CN" altLang="zh-CN" sz="2400" dirty="0"/>
              <a:t>实现了</a:t>
            </a:r>
            <a:r>
              <a:rPr lang="en-US" altLang="zh-CN" sz="2400" dirty="0"/>
              <a:t>JSP</a:t>
            </a:r>
            <a:r>
              <a:rPr lang="zh-CN" altLang="zh-CN" sz="2400" dirty="0"/>
              <a:t>应用开发中需要的常用操作</a:t>
            </a:r>
            <a:endParaRPr lang="en-US" altLang="zh-CN" sz="2400" dirty="0"/>
          </a:p>
          <a:p>
            <a:pPr lvl="1"/>
            <a:r>
              <a:rPr lang="zh-CN" altLang="zh-CN" sz="2400" dirty="0"/>
              <a:t>不断完善的开放源代码的</a:t>
            </a:r>
            <a:r>
              <a:rPr lang="en-US" altLang="zh-CN" sz="2400" dirty="0"/>
              <a:t>JSP</a:t>
            </a:r>
            <a:r>
              <a:rPr lang="zh-CN" altLang="zh-CN" sz="2400" dirty="0"/>
              <a:t>标签库</a:t>
            </a:r>
            <a:endParaRPr lang="zh-CN" altLang="zh-CN" sz="2400" dirty="0"/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600200" y="6437313"/>
            <a:ext cx="533400" cy="268287"/>
          </a:xfrm>
        </p:spPr>
        <p:txBody>
          <a:bodyPr wrap="square" lIns="91440" tIns="45720" rIns="91440" bIns="4572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楷体_GB2312"/>
                <a:ea typeface="楷体_GB231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5pPr>
          </a:lstStyle>
          <a:p>
            <a:pPr lvl="0">
              <a:buSzTx/>
            </a:pPr>
            <a:fld id="{9A0DB2DC-4C9A-4742-B13C-FB6460FD3503}" type="slidenum">
              <a: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fld>
            <a:endParaRPr lang="zh-CN" altLang="en-US" sz="14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主要内容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19458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p>
            <a:r>
              <a:rPr lang="zh-CN" altLang="en-US" dirty="0"/>
              <a:t>核心标签库</a:t>
            </a:r>
            <a:endParaRPr lang="en-US" altLang="zh-CN" dirty="0"/>
          </a:p>
          <a:p>
            <a:pPr lvl="1"/>
            <a:r>
              <a:rPr lang="zh-CN" altLang="en-US" dirty="0">
                <a:hlinkClick r:id="rId1" action="ppaction://hlinksldjump"/>
              </a:rPr>
              <a:t>表达式操作</a:t>
            </a:r>
            <a:endParaRPr lang="en-US" altLang="zh-CN" dirty="0"/>
          </a:p>
          <a:p>
            <a:pPr lvl="1"/>
            <a:r>
              <a:rPr lang="zh-CN" altLang="en-US" dirty="0">
                <a:hlinkClick r:id="rId2" action="ppaction://hlinksldjump"/>
              </a:rPr>
              <a:t>流程控制操作</a:t>
            </a:r>
            <a:endParaRPr lang="en-US" altLang="zh-CN" dirty="0"/>
          </a:p>
          <a:p>
            <a:pPr lvl="1"/>
            <a:r>
              <a:rPr lang="zh-CN" altLang="en-US" dirty="0">
                <a:hlinkClick r:id="rId3" action="ppaction://hlinksldjump"/>
              </a:rPr>
              <a:t>迭代操作</a:t>
            </a:r>
            <a:endParaRPr lang="en-US" altLang="zh-CN" dirty="0"/>
          </a:p>
          <a:p>
            <a:pPr lvl="1"/>
            <a:r>
              <a:rPr lang="en-US" altLang="zh-CN" dirty="0">
                <a:hlinkClick r:id="rId4" action="ppaction://hlinksldjump"/>
              </a:rPr>
              <a:t>URL</a:t>
            </a:r>
            <a:r>
              <a:rPr lang="zh-CN" altLang="en-US" dirty="0">
                <a:hlinkClick r:id="rId4" action="ppaction://hlinksldjump"/>
              </a:rPr>
              <a:t>操作</a:t>
            </a:r>
            <a:endParaRPr lang="en-US" altLang="zh-CN" dirty="0"/>
          </a:p>
        </p:txBody>
      </p:sp>
      <p:sp>
        <p:nvSpPr>
          <p:cNvPr id="1945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600200" y="6437313"/>
            <a:ext cx="533400" cy="268287"/>
          </a:xfrm>
        </p:spPr>
        <p:txBody>
          <a:bodyPr wrap="square" lIns="91440" tIns="45720" rIns="91440" bIns="4572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楷体_GB2312"/>
                <a:ea typeface="楷体_GB231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5pPr>
          </a:lstStyle>
          <a:p>
            <a:pPr lvl="0">
              <a:buSzTx/>
            </a:pPr>
            <a:fld id="{9A0DB2DC-4C9A-4742-B13C-FB6460FD3503}" type="slidenum">
              <a: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fld>
            <a:endParaRPr lang="zh-CN" altLang="en-US" sz="14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核心标签库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20482" name="内容占位符 2"/>
          <p:cNvSpPr>
            <a:spLocks noGrp="1"/>
          </p:cNvSpPr>
          <p:nvPr>
            <p:ph idx="1"/>
          </p:nvPr>
        </p:nvSpPr>
        <p:spPr>
          <a:xfrm>
            <a:off x="1703388" y="1196975"/>
            <a:ext cx="8964612" cy="5113338"/>
          </a:xfrm>
        </p:spPr>
        <p:txBody>
          <a:bodyPr vert="horz" wrap="square" lIns="91440" tIns="45720" rIns="91440" bIns="45720" anchor="t"/>
          <a:p>
            <a:r>
              <a:rPr lang="zh-CN" altLang="en-US" dirty="0"/>
              <a:t>核心标签库有</a:t>
            </a:r>
            <a:r>
              <a:rPr lang="en-US" altLang="zh-CN" dirty="0"/>
              <a:t>4</a:t>
            </a:r>
            <a:r>
              <a:rPr lang="zh-CN" altLang="en-US" dirty="0"/>
              <a:t>类标签</a:t>
            </a:r>
            <a:endParaRPr lang="en-US" altLang="zh-CN" dirty="0"/>
          </a:p>
          <a:p>
            <a:pPr lvl="1"/>
            <a:r>
              <a:rPr lang="zh-CN" altLang="en-US" dirty="0"/>
              <a:t>表达式操作</a:t>
            </a:r>
            <a:endParaRPr lang="en-US" altLang="zh-CN" dirty="0"/>
          </a:p>
          <a:p>
            <a:pPr lvl="2"/>
            <a:r>
              <a:rPr lang="en-US" altLang="zh-CN" dirty="0"/>
              <a:t>out</a:t>
            </a:r>
            <a:r>
              <a:rPr lang="zh-CN" altLang="en-US" dirty="0"/>
              <a:t>、</a:t>
            </a:r>
            <a:r>
              <a:rPr lang="en-US" altLang="zh-CN" dirty="0"/>
              <a:t>set</a:t>
            </a:r>
            <a:r>
              <a:rPr lang="zh-CN" altLang="en-US" dirty="0"/>
              <a:t>、</a:t>
            </a:r>
            <a:r>
              <a:rPr lang="en-US" altLang="zh-CN" dirty="0"/>
              <a:t>remove</a:t>
            </a:r>
            <a:r>
              <a:rPr lang="zh-CN" altLang="en-US" dirty="0"/>
              <a:t>、</a:t>
            </a:r>
            <a:r>
              <a:rPr lang="en-US" altLang="zh-CN" dirty="0"/>
              <a:t>catch</a:t>
            </a:r>
            <a:endParaRPr lang="en-US" altLang="zh-CN" dirty="0"/>
          </a:p>
          <a:p>
            <a:pPr lvl="1"/>
            <a:r>
              <a:rPr lang="zh-CN" altLang="en-US" dirty="0"/>
              <a:t>流程控制操作</a:t>
            </a:r>
            <a:endParaRPr lang="en-US" altLang="zh-CN" dirty="0"/>
          </a:p>
          <a:p>
            <a:pPr lvl="2"/>
            <a:r>
              <a:rPr lang="en-US" altLang="zh-CN" dirty="0"/>
              <a:t>if</a:t>
            </a:r>
            <a:r>
              <a:rPr lang="zh-CN" altLang="en-US" dirty="0"/>
              <a:t>、</a:t>
            </a:r>
            <a:r>
              <a:rPr lang="en-US" altLang="zh-CN" dirty="0"/>
              <a:t>choose</a:t>
            </a:r>
            <a:r>
              <a:rPr lang="zh-CN" altLang="en-US" dirty="0"/>
              <a:t>、</a:t>
            </a:r>
            <a:r>
              <a:rPr lang="en-US" altLang="zh-CN" dirty="0"/>
              <a:t>when</a:t>
            </a:r>
            <a:r>
              <a:rPr lang="zh-CN" altLang="en-US" dirty="0"/>
              <a:t>、</a:t>
            </a:r>
            <a:r>
              <a:rPr lang="en-US" altLang="zh-CN" dirty="0"/>
              <a:t>otherwise</a:t>
            </a:r>
            <a:endParaRPr lang="en-US" altLang="zh-CN" dirty="0"/>
          </a:p>
          <a:p>
            <a:pPr lvl="1"/>
            <a:r>
              <a:rPr lang="zh-CN" altLang="en-US" dirty="0"/>
              <a:t>迭代操作</a:t>
            </a:r>
            <a:endParaRPr lang="en-US" altLang="zh-CN" dirty="0"/>
          </a:p>
          <a:p>
            <a:pPr lvl="2"/>
            <a:r>
              <a:rPr lang="en-US" altLang="zh-CN" dirty="0"/>
              <a:t>forEach</a:t>
            </a:r>
            <a:r>
              <a:rPr lang="zh-CN" altLang="en-US" dirty="0"/>
              <a:t>、</a:t>
            </a:r>
            <a:r>
              <a:rPr lang="en-US" altLang="zh-CN" dirty="0"/>
              <a:t>forTokens</a:t>
            </a:r>
            <a:endParaRPr lang="en-US" altLang="zh-CN" dirty="0"/>
          </a:p>
          <a:p>
            <a:pPr lvl="1"/>
            <a:r>
              <a:rPr lang="en-US" altLang="zh-CN" dirty="0"/>
              <a:t>URL</a:t>
            </a:r>
            <a:r>
              <a:rPr lang="zh-CN" altLang="en-US" dirty="0"/>
              <a:t>操作</a:t>
            </a:r>
            <a:endParaRPr lang="en-US" altLang="zh-CN" dirty="0"/>
          </a:p>
          <a:p>
            <a:pPr lvl="2"/>
            <a:r>
              <a:rPr lang="pt-BR" altLang="zh-CN" dirty="0"/>
              <a:t>Import</a:t>
            </a:r>
            <a:r>
              <a:rPr lang="zh-CN" altLang="en-US" dirty="0"/>
              <a:t>、</a:t>
            </a:r>
            <a:r>
              <a:rPr lang="pt-BR" altLang="zh-CN" dirty="0"/>
              <a:t>url</a:t>
            </a:r>
            <a:r>
              <a:rPr lang="zh-CN" altLang="en-US" dirty="0"/>
              <a:t>、</a:t>
            </a:r>
            <a:r>
              <a:rPr lang="pt-BR" altLang="zh-CN" dirty="0"/>
              <a:t>redirect</a:t>
            </a:r>
            <a:endParaRPr lang="pt-BR" altLang="zh-CN" dirty="0"/>
          </a:p>
          <a:p>
            <a:pPr lvl="2"/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20483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600200" y="6437313"/>
            <a:ext cx="533400" cy="268287"/>
          </a:xfrm>
        </p:spPr>
        <p:txBody>
          <a:bodyPr wrap="square" lIns="91440" tIns="45720" rIns="91440" bIns="4572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楷体_GB2312"/>
                <a:ea typeface="楷体_GB231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5pPr>
          </a:lstStyle>
          <a:p>
            <a:pPr lvl="0">
              <a:buSzTx/>
            </a:pPr>
            <a:fld id="{9A0DB2DC-4C9A-4742-B13C-FB6460FD3503}" type="slidenum">
              <a: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fld>
            <a:endParaRPr lang="zh-CN" altLang="en-US" sz="14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表达式操作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21506" name="内容占位符 2"/>
          <p:cNvSpPr>
            <a:spLocks noGrp="1"/>
          </p:cNvSpPr>
          <p:nvPr>
            <p:ph idx="1"/>
          </p:nvPr>
        </p:nvSpPr>
        <p:spPr>
          <a:xfrm>
            <a:off x="591185" y="1135380"/>
            <a:ext cx="10765790" cy="5113020"/>
          </a:xfrm>
        </p:spPr>
        <p:txBody>
          <a:bodyPr vert="horz" wrap="square" lIns="91440" tIns="45720" rIns="91440" bIns="45720" anchor="t"/>
          <a:p>
            <a:r>
              <a:rPr lang="en-US" altLang="zh-CN" dirty="0"/>
              <a:t>JSP</a:t>
            </a:r>
            <a:r>
              <a:rPr lang="zh-CN" altLang="zh-CN" dirty="0"/>
              <a:t>中使用核心标签库时，必须使用</a:t>
            </a:r>
            <a:r>
              <a:rPr lang="en-US" altLang="zh-CN" dirty="0"/>
              <a:t>&lt;%@ taglib&gt;</a:t>
            </a:r>
            <a:r>
              <a:rPr lang="zh-CN" altLang="zh-CN" dirty="0"/>
              <a:t>指令</a:t>
            </a:r>
            <a:r>
              <a:rPr lang="zh-CN" altLang="en-US" dirty="0"/>
              <a:t>指定标签库</a:t>
            </a:r>
            <a:endParaRPr lang="en-US" altLang="zh-CN" dirty="0"/>
          </a:p>
          <a:p>
            <a:pPr lvl="1"/>
            <a:r>
              <a:rPr lang="it-IT" altLang="zh-CN" sz="2400" dirty="0"/>
              <a:t>&lt;%@ taglib </a:t>
            </a:r>
            <a:r>
              <a:rPr lang="it-IT" altLang="zh-CN" sz="2400" dirty="0">
                <a:solidFill>
                  <a:srgbClr val="FF0000"/>
                </a:solidFill>
              </a:rPr>
              <a:t>uri</a:t>
            </a:r>
            <a:r>
              <a:rPr lang="it-IT" altLang="zh-CN" sz="2400" dirty="0"/>
              <a:t>="</a:t>
            </a:r>
            <a:r>
              <a:rPr lang="it-IT" altLang="zh-CN" sz="2400" dirty="0">
                <a:solidFill>
                  <a:srgbClr val="FF0000"/>
                </a:solidFill>
              </a:rPr>
              <a:t>http://java.sun.com/jsp/jstl/core</a:t>
            </a:r>
            <a:r>
              <a:rPr lang="it-IT" altLang="zh-CN" sz="2400" dirty="0"/>
              <a:t>" prefix="</a:t>
            </a:r>
            <a:r>
              <a:rPr lang="it-IT" altLang="zh-CN" sz="2400" dirty="0">
                <a:solidFill>
                  <a:srgbClr val="FF0000"/>
                </a:solidFill>
              </a:rPr>
              <a:t>c</a:t>
            </a:r>
            <a:r>
              <a:rPr lang="it-IT" altLang="zh-CN" sz="2400" dirty="0"/>
              <a:t>"%&gt;</a:t>
            </a:r>
            <a:endParaRPr lang="it-IT" altLang="zh-CN" sz="2400" dirty="0"/>
          </a:p>
          <a:p>
            <a:r>
              <a:rPr lang="en-US" altLang="zh-CN" sz="2800" dirty="0"/>
              <a:t>4</a:t>
            </a:r>
            <a:r>
              <a:rPr lang="zh-CN" altLang="en-US" sz="2800" dirty="0"/>
              <a:t>个表达式操作</a:t>
            </a:r>
            <a:endParaRPr lang="en-US" altLang="zh-CN" sz="2800" dirty="0"/>
          </a:p>
          <a:p>
            <a:pPr lvl="1"/>
            <a:r>
              <a:rPr lang="en-US" altLang="zh-CN" sz="2400" dirty="0"/>
              <a:t>&lt;</a:t>
            </a:r>
            <a:r>
              <a:rPr lang="en-US" altLang="zh-CN" sz="2400" dirty="0">
                <a:solidFill>
                  <a:srgbClr val="FF0000"/>
                </a:solidFill>
              </a:rPr>
              <a:t>c:</a:t>
            </a:r>
            <a:r>
              <a:rPr lang="en-US" altLang="zh-CN" sz="2400" dirty="0"/>
              <a:t>out&gt;</a:t>
            </a:r>
            <a:r>
              <a:rPr lang="zh-CN" altLang="en-US" sz="2400" dirty="0"/>
              <a:t>、</a:t>
            </a:r>
            <a:r>
              <a:rPr lang="en-US" altLang="zh-CN" sz="2400" dirty="0"/>
              <a:t>&lt;</a:t>
            </a:r>
            <a:r>
              <a:rPr lang="en-US" altLang="zh-CN" sz="2400" dirty="0">
                <a:solidFill>
                  <a:srgbClr val="FF0000"/>
                </a:solidFill>
              </a:rPr>
              <a:t>c:</a:t>
            </a:r>
            <a:r>
              <a:rPr lang="en-US" altLang="zh-CN" sz="2400" dirty="0"/>
              <a:t>set&gt;</a:t>
            </a:r>
            <a:r>
              <a:rPr lang="zh-CN" altLang="en-US" sz="2400" dirty="0"/>
              <a:t>、</a:t>
            </a:r>
            <a:r>
              <a:rPr lang="en-US" altLang="zh-CN" sz="2400" dirty="0"/>
              <a:t>&lt;</a:t>
            </a:r>
            <a:r>
              <a:rPr lang="en-US" altLang="zh-CN" sz="2400" dirty="0">
                <a:solidFill>
                  <a:srgbClr val="FF0000"/>
                </a:solidFill>
              </a:rPr>
              <a:t>c:</a:t>
            </a:r>
            <a:r>
              <a:rPr lang="en-US" altLang="zh-CN" sz="2400" dirty="0"/>
              <a:t>remove&gt;</a:t>
            </a:r>
            <a:r>
              <a:rPr lang="zh-CN" altLang="en-US" sz="2400" dirty="0"/>
              <a:t>、</a:t>
            </a:r>
            <a:r>
              <a:rPr lang="en-US" altLang="zh-CN" sz="2400" dirty="0"/>
              <a:t>&lt;</a:t>
            </a:r>
            <a:r>
              <a:rPr lang="en-US" altLang="zh-CN" sz="2400" dirty="0">
                <a:solidFill>
                  <a:srgbClr val="FF0000"/>
                </a:solidFill>
              </a:rPr>
              <a:t>c:</a:t>
            </a:r>
            <a:r>
              <a:rPr lang="en-US" altLang="zh-CN" sz="2400" dirty="0"/>
              <a:t>catch&gt;</a:t>
            </a:r>
            <a:endParaRPr lang="en-US" altLang="zh-CN" sz="2400" dirty="0"/>
          </a:p>
        </p:txBody>
      </p:sp>
      <p:sp>
        <p:nvSpPr>
          <p:cNvPr id="21507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600200" y="6437313"/>
            <a:ext cx="533400" cy="268287"/>
          </a:xfrm>
        </p:spPr>
        <p:txBody>
          <a:bodyPr wrap="square" lIns="91440" tIns="45720" rIns="91440" bIns="4572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楷体_GB2312"/>
                <a:ea typeface="楷体_GB231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5pPr>
          </a:lstStyle>
          <a:p>
            <a:pPr lvl="0">
              <a:buSzTx/>
            </a:pPr>
            <a:fld id="{9A0DB2DC-4C9A-4742-B13C-FB6460FD3503}" type="slidenum">
              <a: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fld>
            <a:endParaRPr lang="zh-CN" altLang="en-US" sz="14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c:out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22530" name="内容占位符 2"/>
          <p:cNvSpPr>
            <a:spLocks noGrp="1"/>
          </p:cNvSpPr>
          <p:nvPr>
            <p:ph idx="1"/>
          </p:nvPr>
        </p:nvSpPr>
        <p:spPr>
          <a:xfrm>
            <a:off x="591185" y="1135380"/>
            <a:ext cx="11191240" cy="5113020"/>
          </a:xfrm>
        </p:spPr>
        <p:txBody>
          <a:bodyPr vert="horz" wrap="square" lIns="91440" tIns="45720" rIns="91440" bIns="45720" anchor="t"/>
          <a:p>
            <a:r>
              <a:rPr lang="en-US" altLang="zh-CN" sz="2800" dirty="0"/>
              <a:t>&lt;</a:t>
            </a:r>
            <a:r>
              <a:rPr lang="en-US" altLang="zh-CN" sz="2800" dirty="0">
                <a:solidFill>
                  <a:srgbClr val="FF0000"/>
                </a:solidFill>
              </a:rPr>
              <a:t>c:out value</a:t>
            </a:r>
            <a:r>
              <a:rPr lang="en-US" altLang="zh-CN" sz="2800" dirty="0"/>
              <a:t>=”vaule” [</a:t>
            </a:r>
            <a:r>
              <a:rPr lang="en-US" altLang="zh-CN" sz="2800" dirty="0">
                <a:solidFill>
                  <a:srgbClr val="FF0000"/>
                </a:solidFill>
              </a:rPr>
              <a:t>escapeXml</a:t>
            </a:r>
            <a:r>
              <a:rPr lang="en-US" altLang="zh-CN" sz="2800" dirty="0"/>
              <a:t>=”{true|false}”]  [</a:t>
            </a:r>
            <a:r>
              <a:rPr lang="en-US" altLang="zh-CN" sz="2800" dirty="0">
                <a:solidFill>
                  <a:srgbClr val="FF0000"/>
                </a:solidFill>
              </a:rPr>
              <a:t>default</a:t>
            </a:r>
            <a:r>
              <a:rPr lang="en-US" altLang="zh-CN" sz="2800" dirty="0"/>
              <a:t>=”defaultValue”] /&gt;</a:t>
            </a:r>
            <a:endParaRPr lang="en-US" altLang="zh-CN" sz="2800" dirty="0"/>
          </a:p>
          <a:p>
            <a:pPr lvl="1"/>
            <a:r>
              <a:rPr lang="en-US" altLang="zh-CN" dirty="0"/>
              <a:t>value  </a:t>
            </a:r>
            <a:endParaRPr lang="en-US" altLang="zh-CN" dirty="0"/>
          </a:p>
          <a:p>
            <a:pPr lvl="2"/>
            <a:r>
              <a:rPr lang="zh-CN" altLang="zh-CN" dirty="0"/>
              <a:t>输出到页面的数据，取值是</a:t>
            </a:r>
            <a:r>
              <a:rPr lang="en-US" altLang="zh-CN" dirty="0">
                <a:solidFill>
                  <a:srgbClr val="FF0000"/>
                </a:solidFill>
              </a:rPr>
              <a:t>EL</a:t>
            </a:r>
            <a:r>
              <a:rPr lang="zh-CN" altLang="zh-CN" dirty="0">
                <a:solidFill>
                  <a:srgbClr val="FF0000"/>
                </a:solidFill>
              </a:rPr>
              <a:t>表达式或常量 </a:t>
            </a:r>
            <a:r>
              <a:rPr lang="zh-CN" altLang="en-US" i="1" dirty="0">
                <a:solidFill>
                  <a:srgbClr val="FF0000"/>
                </a:solidFill>
              </a:rPr>
              <a:t>必须指定</a:t>
            </a:r>
            <a:endParaRPr lang="en-US" altLang="zh-CN" i="1" dirty="0">
              <a:solidFill>
                <a:srgbClr val="FF0000"/>
              </a:solidFill>
            </a:endParaRPr>
          </a:p>
          <a:p>
            <a:pPr lvl="1"/>
            <a:r>
              <a:rPr lang="en-US" altLang="zh-CN" dirty="0"/>
              <a:t>escapeXML </a:t>
            </a:r>
            <a:endParaRPr lang="en-US" altLang="zh-CN" dirty="0"/>
          </a:p>
          <a:p>
            <a:pPr lvl="2"/>
            <a:r>
              <a:rPr lang="zh-CN" altLang="zh-CN" dirty="0"/>
              <a:t>取值为</a:t>
            </a:r>
            <a:r>
              <a:rPr lang="en-US" altLang="zh-CN" dirty="0"/>
              <a:t>true</a:t>
            </a:r>
            <a:r>
              <a:rPr lang="zh-CN" altLang="zh-CN" dirty="0"/>
              <a:t>或</a:t>
            </a:r>
            <a:r>
              <a:rPr lang="en-US" altLang="zh-CN" dirty="0"/>
              <a:t>false</a:t>
            </a:r>
            <a:r>
              <a:rPr lang="zh-CN" altLang="zh-CN" dirty="0"/>
              <a:t>。</a:t>
            </a:r>
            <a:r>
              <a:rPr lang="en-US" altLang="zh-CN" dirty="0"/>
              <a:t>true</a:t>
            </a:r>
            <a:r>
              <a:rPr lang="zh-CN" altLang="zh-CN" dirty="0"/>
              <a:t>表示将特殊字符如“</a:t>
            </a:r>
            <a:r>
              <a:rPr lang="en-US" altLang="zh-CN" dirty="0"/>
              <a:t>&lt;</a:t>
            </a:r>
            <a:r>
              <a:rPr lang="zh-CN" altLang="zh-CN" dirty="0"/>
              <a:t>”等转换成实体代码；</a:t>
            </a:r>
            <a:r>
              <a:rPr lang="en-US" altLang="zh-CN" dirty="0"/>
              <a:t>false</a:t>
            </a:r>
            <a:r>
              <a:rPr lang="zh-CN" altLang="zh-CN" dirty="0"/>
              <a:t>表示不将特殊字符转换成实体代码</a:t>
            </a:r>
            <a:endParaRPr lang="en-US" altLang="zh-CN" dirty="0"/>
          </a:p>
          <a:p>
            <a:pPr lvl="2"/>
            <a:r>
              <a:rPr lang="zh-CN" altLang="en-US" dirty="0"/>
              <a:t>默认为</a:t>
            </a:r>
            <a:r>
              <a:rPr lang="en-US" altLang="zh-CN" dirty="0"/>
              <a:t>true</a:t>
            </a:r>
            <a:endParaRPr lang="en-US" altLang="zh-CN" dirty="0"/>
          </a:p>
          <a:p>
            <a:pPr lvl="1"/>
            <a:r>
              <a:rPr lang="en-US" altLang="zh-CN" dirty="0"/>
              <a:t>default</a:t>
            </a:r>
            <a:endParaRPr lang="en-US" altLang="zh-CN" dirty="0"/>
          </a:p>
          <a:p>
            <a:pPr lvl="2"/>
            <a:r>
              <a:rPr lang="zh-CN" altLang="en-US" dirty="0"/>
              <a:t>指定输出的默认值，取值为</a:t>
            </a:r>
            <a:r>
              <a:rPr lang="en-US" altLang="zh-CN" dirty="0">
                <a:solidFill>
                  <a:srgbClr val="FF0000"/>
                </a:solidFill>
              </a:rPr>
              <a:t>EL</a:t>
            </a:r>
            <a:r>
              <a:rPr lang="zh-CN" altLang="en-US" dirty="0">
                <a:solidFill>
                  <a:srgbClr val="FF0000"/>
                </a:solidFill>
              </a:rPr>
              <a:t>表达式或常量</a:t>
            </a:r>
            <a:r>
              <a:rPr lang="zh-CN" altLang="en-US" dirty="0"/>
              <a:t>。在</a:t>
            </a:r>
            <a:r>
              <a:rPr lang="en-US" altLang="zh-CN" dirty="0"/>
              <a:t>value</a:t>
            </a:r>
            <a:r>
              <a:rPr lang="zh-CN" altLang="en-US" dirty="0"/>
              <a:t>是</a:t>
            </a:r>
            <a:r>
              <a:rPr lang="en-US" altLang="zh-CN" i="1" dirty="0">
                <a:solidFill>
                  <a:srgbClr val="FF0000"/>
                </a:solidFill>
              </a:rPr>
              <a:t>null</a:t>
            </a:r>
            <a:r>
              <a:rPr lang="zh-CN" altLang="en-US" dirty="0"/>
              <a:t>情况下输出</a:t>
            </a:r>
            <a:r>
              <a:rPr lang="en-US" altLang="zh-CN" dirty="0"/>
              <a:t>default</a:t>
            </a:r>
            <a:r>
              <a:rPr lang="zh-CN" altLang="en-US" dirty="0"/>
              <a:t>指定的默认值</a:t>
            </a:r>
            <a:endParaRPr lang="zh-CN" altLang="en-US" dirty="0"/>
          </a:p>
        </p:txBody>
      </p:sp>
      <p:sp>
        <p:nvSpPr>
          <p:cNvPr id="22531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600200" y="6437313"/>
            <a:ext cx="533400" cy="268287"/>
          </a:xfrm>
        </p:spPr>
        <p:txBody>
          <a:bodyPr wrap="square" lIns="91440" tIns="45720" rIns="91440" bIns="4572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楷体_GB2312"/>
                <a:ea typeface="楷体_GB231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5pPr>
          </a:lstStyle>
          <a:p>
            <a:pPr lvl="0">
              <a:buSzTx/>
            </a:pPr>
            <a:fld id="{9A0DB2DC-4C9A-4742-B13C-FB6460FD3503}" type="slidenum">
              <a: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fld>
            <a:endParaRPr lang="zh-CN" altLang="en-US" sz="14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特殊字符对应的实体代码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2355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600200" y="6437313"/>
            <a:ext cx="533400" cy="268287"/>
          </a:xfrm>
        </p:spPr>
        <p:txBody>
          <a:bodyPr wrap="square" lIns="91440" tIns="45720" rIns="91440" bIns="4572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楷体_GB2312"/>
                <a:ea typeface="楷体_GB231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5pPr>
          </a:lstStyle>
          <a:p>
            <a:pPr lvl="0">
              <a:buSzTx/>
            </a:pPr>
            <a:fld id="{9A0DB2DC-4C9A-4742-B13C-FB6460FD3503}" type="slidenum">
              <a: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fld>
            <a:endParaRPr lang="zh-CN" altLang="en-US" sz="14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23555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3388" y="1484313"/>
            <a:ext cx="8974137" cy="2520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2351088" y="4967288"/>
            <a:ext cx="6891337" cy="82994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buSzTx/>
            </a:pPr>
            <a:r>
              <a:rPr lang="zh-CN" altLang="en-US" sz="2400" dirty="0">
                <a:latin typeface="楷体_GB2312"/>
                <a:ea typeface="楷体_GB2312"/>
              </a:rPr>
              <a:t>这些字符在</a:t>
            </a:r>
            <a:r>
              <a:rPr lang="en-US" altLang="zh-CN" sz="2400" dirty="0">
                <a:latin typeface="楷体_GB2312"/>
                <a:ea typeface="楷体_GB2312"/>
              </a:rPr>
              <a:t>html</a:t>
            </a:r>
            <a:r>
              <a:rPr lang="zh-CN" altLang="en-US" sz="2400" dirty="0">
                <a:latin typeface="楷体_GB2312"/>
                <a:ea typeface="楷体_GB2312"/>
              </a:rPr>
              <a:t>中有特殊用途，若想让把它们当作普通符号来显示，则指定</a:t>
            </a:r>
            <a:r>
              <a:rPr lang="en-US" altLang="zh-CN" sz="2400" b="1" i="1" dirty="0">
                <a:solidFill>
                  <a:srgbClr val="FF0000"/>
                </a:solidFill>
                <a:latin typeface="楷体_GB2312"/>
                <a:ea typeface="楷体_GB2312"/>
              </a:rPr>
              <a:t>escapeXML</a:t>
            </a:r>
            <a:r>
              <a:rPr lang="zh-CN" altLang="en-US" sz="2400" b="1" i="1" dirty="0">
                <a:solidFill>
                  <a:srgbClr val="FF0000"/>
                </a:solidFill>
                <a:latin typeface="楷体_GB2312"/>
                <a:ea typeface="楷体_GB2312"/>
              </a:rPr>
              <a:t>为</a:t>
            </a:r>
            <a:r>
              <a:rPr lang="en-US" altLang="zh-CN" sz="2400" b="1" i="1" dirty="0">
                <a:solidFill>
                  <a:srgbClr val="FF0000"/>
                </a:solidFill>
                <a:latin typeface="楷体_GB2312"/>
                <a:ea typeface="楷体_GB2312"/>
              </a:rPr>
              <a:t>true</a:t>
            </a:r>
            <a:endParaRPr lang="zh-CN" altLang="en-US" sz="2400" b="1" i="1" dirty="0">
              <a:solidFill>
                <a:srgbClr val="FF0000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c:out</a:t>
            </a: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示例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25602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600200" y="5889625"/>
            <a:ext cx="533400" cy="268288"/>
          </a:xfrm>
        </p:spPr>
        <p:txBody>
          <a:bodyPr wrap="square" lIns="91440" tIns="45720" rIns="91440" bIns="4572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楷体_GB2312"/>
                <a:ea typeface="楷体_GB231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5pPr>
          </a:lstStyle>
          <a:p>
            <a:pPr lvl="0">
              <a:buSzTx/>
            </a:pPr>
            <a:fld id="{9A0DB2DC-4C9A-4742-B13C-FB6460FD3503}" type="slidenum">
              <a: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fld>
            <a:endParaRPr lang="zh-CN" altLang="en-US" sz="14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2560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3388" y="1139825"/>
            <a:ext cx="8496300" cy="13287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60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538" y="2757488"/>
            <a:ext cx="8007350" cy="4270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5605" name="TextBox 4"/>
          <p:cNvSpPr txBox="1"/>
          <p:nvPr/>
        </p:nvSpPr>
        <p:spPr>
          <a:xfrm>
            <a:off x="8497888" y="908050"/>
            <a:ext cx="156591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>
              <a:buSzTx/>
            </a:pPr>
            <a:r>
              <a:rPr lang="en-US" altLang="zh-CN" sz="2400" b="1" dirty="0">
                <a:latin typeface="楷体_GB2312"/>
                <a:ea typeface="楷体_GB2312"/>
              </a:rPr>
              <a:t>index.jsp</a:t>
            </a:r>
            <a:endParaRPr lang="zh-CN" altLang="en-US" sz="2400" b="1" dirty="0">
              <a:latin typeface="楷体_GB2312"/>
              <a:ea typeface="楷体_GB2312"/>
            </a:endParaRPr>
          </a:p>
        </p:txBody>
      </p:sp>
      <p:pic>
        <p:nvPicPr>
          <p:cNvPr id="3076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0188" y="4068763"/>
            <a:ext cx="9167812" cy="331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7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7488" y="4805363"/>
            <a:ext cx="9498012" cy="234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上下箭头 6"/>
          <p:cNvSpPr/>
          <p:nvPr/>
        </p:nvSpPr>
        <p:spPr>
          <a:xfrm>
            <a:off x="5448300" y="3068638"/>
            <a:ext cx="465138" cy="1000125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84225" y="5301615"/>
            <a:ext cx="11068685" cy="119888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square" anchor="t">
            <a:spAutoFit/>
          </a:bodyPr>
          <a:p>
            <a:pPr>
              <a:buSzTx/>
            </a:pPr>
            <a:r>
              <a:rPr lang="zh-CN" altLang="en-US" sz="2400" dirty="0">
                <a:latin typeface="楷体_GB2312"/>
                <a:ea typeface="楷体_GB2312"/>
              </a:rPr>
              <a:t>引入</a:t>
            </a:r>
            <a:r>
              <a:rPr lang="en-US" altLang="zh-CN" sz="2400" b="1" i="1" dirty="0">
                <a:solidFill>
                  <a:srgbClr val="FF0000"/>
                </a:solidFill>
                <a:latin typeface="楷体_GB2312"/>
                <a:ea typeface="楷体_GB2312"/>
              </a:rPr>
              <a:t>jstl jar</a:t>
            </a:r>
            <a:r>
              <a:rPr lang="zh-CN" altLang="en-US" sz="2400" dirty="0">
                <a:latin typeface="楷体_GB2312"/>
                <a:ea typeface="楷体_GB2312"/>
              </a:rPr>
              <a:t>包后，标签才有效（</a:t>
            </a:r>
            <a:endParaRPr lang="en-US" altLang="zh-CN" sz="2400" dirty="0">
              <a:latin typeface="楷体_GB2312"/>
              <a:ea typeface="楷体_GB2312"/>
            </a:endParaRPr>
          </a:p>
          <a:p>
            <a:pPr>
              <a:buSzTx/>
            </a:pPr>
            <a:r>
              <a:rPr lang="zh-CN" altLang="en-US" sz="2400" dirty="0">
                <a:latin typeface="楷体_GB2312"/>
                <a:ea typeface="楷体_GB2312"/>
              </a:rPr>
              <a:t>拷贝</a:t>
            </a:r>
            <a:r>
              <a:rPr lang="en-US" altLang="zh-CN" sz="2400" dirty="0">
                <a:latin typeface="楷体_GB2312"/>
                <a:ea typeface="楷体_GB2312"/>
              </a:rPr>
              <a:t>%tomcat_home%\</a:t>
            </a:r>
            <a:r>
              <a:rPr lang="en-US" altLang="zh-CN" sz="2400" b="1" dirty="0">
                <a:latin typeface="楷体_GB2312"/>
                <a:ea typeface="楷体_GB2312"/>
              </a:rPr>
              <a:t>webapps\examples\WEB-INF\lib</a:t>
            </a:r>
            <a:r>
              <a:rPr lang="zh-CN" altLang="en-US" sz="2400" dirty="0">
                <a:latin typeface="楷体_GB2312"/>
                <a:ea typeface="楷体_GB2312"/>
              </a:rPr>
              <a:t>下的两个</a:t>
            </a:r>
            <a:r>
              <a:rPr lang="en-US" altLang="zh-CN" sz="2400" dirty="0">
                <a:latin typeface="楷体_GB2312"/>
                <a:ea typeface="楷体_GB2312"/>
              </a:rPr>
              <a:t>jar</a:t>
            </a:r>
            <a:r>
              <a:rPr lang="zh-CN" altLang="en-US" sz="2400" dirty="0">
                <a:latin typeface="楷体_GB2312"/>
                <a:ea typeface="楷体_GB2312"/>
              </a:rPr>
              <a:t>到自己项目的</a:t>
            </a:r>
            <a:r>
              <a:rPr lang="en-US" altLang="zh-CN" sz="2400" dirty="0">
                <a:latin typeface="楷体_GB2312"/>
                <a:ea typeface="楷体_GB2312"/>
              </a:rPr>
              <a:t>WEB-INF\lib</a:t>
            </a:r>
            <a:r>
              <a:rPr lang="zh-CN" altLang="en-US" sz="2400" dirty="0">
                <a:latin typeface="楷体_GB2312"/>
                <a:ea typeface="楷体_GB2312"/>
              </a:rPr>
              <a:t>下</a:t>
            </a:r>
            <a:r>
              <a:rPr lang="en-US" altLang="zh-CN" sz="2400" dirty="0">
                <a:latin typeface="楷体_GB2312"/>
                <a:ea typeface="楷体_GB2312"/>
              </a:rPr>
              <a:t>,</a:t>
            </a:r>
            <a:r>
              <a:rPr lang="zh-CN" altLang="en-US" sz="2400" dirty="0">
                <a:latin typeface="楷体_GB2312"/>
                <a:ea typeface="楷体_GB2312"/>
              </a:rPr>
              <a:t>然后在工程中</a:t>
            </a:r>
            <a:r>
              <a:rPr lang="en-US" altLang="zh-CN" sz="2400" dirty="0">
                <a:latin typeface="楷体_GB2312"/>
                <a:ea typeface="楷体_GB2312"/>
              </a:rPr>
              <a:t>import</a:t>
            </a:r>
            <a:r>
              <a:rPr lang="zh-CN" altLang="en-US" sz="2400" dirty="0">
                <a:latin typeface="楷体_GB2312"/>
                <a:ea typeface="楷体_GB2312"/>
              </a:rPr>
              <a:t>即可）</a:t>
            </a:r>
            <a:endParaRPr lang="zh-CN" altLang="en-US" sz="2400" dirty="0">
              <a:latin typeface="楷体_GB2312"/>
              <a:ea typeface="楷体_GB2312"/>
            </a:endParaRPr>
          </a:p>
        </p:txBody>
      </p:sp>
      <p:cxnSp>
        <p:nvCxnSpPr>
          <p:cNvPr id="10" name="直接箭头连接符 9"/>
          <p:cNvCxnSpPr/>
          <p:nvPr/>
        </p:nvCxnSpPr>
        <p:spPr>
          <a:xfrm>
            <a:off x="3719513" y="4400550"/>
            <a:ext cx="0" cy="104457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圆角矩形 16"/>
          <p:cNvSpPr/>
          <p:nvPr/>
        </p:nvSpPr>
        <p:spPr>
          <a:xfrm>
            <a:off x="5232400" y="4681538"/>
            <a:ext cx="4535488" cy="4635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078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3025" y="5189538"/>
            <a:ext cx="5476875" cy="4635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" name="TextBox 19"/>
          <p:cNvSpPr txBox="1"/>
          <p:nvPr/>
        </p:nvSpPr>
        <p:spPr>
          <a:xfrm>
            <a:off x="7680325" y="5653088"/>
            <a:ext cx="26974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>
              <a:buSzTx/>
            </a:pPr>
            <a:r>
              <a:rPr lang="zh-CN" altLang="en-US" dirty="0">
                <a:latin typeface="楷体_GB2312"/>
                <a:ea typeface="楷体_GB2312"/>
              </a:rPr>
              <a:t>默认值也可放在标签体内</a:t>
            </a:r>
            <a:endParaRPr lang="zh-CN" altLang="en-US" dirty="0">
              <a:latin typeface="楷体_GB2312"/>
              <a:ea typeface="楷体_GB231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 bldLvl="0" animBg="1"/>
      <p:bldP spid="17" grpId="0" bldLvl="0" animBg="1"/>
      <p:bldP spid="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c:set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26626" name="内容占位符 2"/>
          <p:cNvSpPr>
            <a:spLocks noGrp="1"/>
          </p:cNvSpPr>
          <p:nvPr>
            <p:ph idx="1"/>
          </p:nvPr>
        </p:nvSpPr>
        <p:spPr>
          <a:xfrm>
            <a:off x="347980" y="1135380"/>
            <a:ext cx="11388725" cy="5534025"/>
          </a:xfrm>
        </p:spPr>
        <p:txBody>
          <a:bodyPr vert="horz" wrap="square" lIns="91440" tIns="45720" rIns="91440" bIns="45720" anchor="t"/>
          <a:p>
            <a:r>
              <a:rPr lang="zh-CN" altLang="zh-CN" sz="2800" dirty="0"/>
              <a:t>设置某个变量的值</a:t>
            </a:r>
            <a:endParaRPr lang="en-US" altLang="zh-CN" sz="2800" dirty="0"/>
          </a:p>
          <a:p>
            <a:pPr lvl="1"/>
            <a:r>
              <a:rPr lang="en-US" altLang="zh-CN" sz="2400" dirty="0"/>
              <a:t>&lt;</a:t>
            </a:r>
            <a:r>
              <a:rPr lang="en-US" altLang="zh-CN" sz="2400" dirty="0">
                <a:solidFill>
                  <a:srgbClr val="FF0000"/>
                </a:solidFill>
              </a:rPr>
              <a:t>c:set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var</a:t>
            </a:r>
            <a:r>
              <a:rPr lang="en-US" altLang="zh-CN" sz="2400" dirty="0"/>
              <a:t>="varName" </a:t>
            </a:r>
            <a:r>
              <a:rPr lang="en-US" altLang="zh-CN" sz="2400" dirty="0">
                <a:solidFill>
                  <a:srgbClr val="FF0000"/>
                </a:solidFill>
              </a:rPr>
              <a:t>value</a:t>
            </a:r>
            <a:r>
              <a:rPr lang="en-US" altLang="zh-CN" sz="2400" dirty="0"/>
              <a:t>="somevalue" [</a:t>
            </a:r>
            <a:r>
              <a:rPr lang="en-US" altLang="zh-CN" sz="2400" dirty="0">
                <a:solidFill>
                  <a:srgbClr val="FF0000"/>
                </a:solidFill>
              </a:rPr>
              <a:t>scope</a:t>
            </a:r>
            <a:r>
              <a:rPr lang="en-US" altLang="zh-CN" sz="2400" dirty="0"/>
              <a:t>="{page|request|session|application}"] /&gt;</a:t>
            </a:r>
            <a:endParaRPr lang="en-US" altLang="zh-CN" sz="2400" dirty="0"/>
          </a:p>
          <a:p>
            <a:pPr lvl="2"/>
            <a:r>
              <a:rPr lang="zh-CN" altLang="zh-CN" dirty="0"/>
              <a:t>设置变量</a:t>
            </a:r>
            <a:r>
              <a:rPr lang="en-US" altLang="zh-CN" dirty="0">
                <a:solidFill>
                  <a:srgbClr val="FF0000"/>
                </a:solidFill>
              </a:rPr>
              <a:t>varName</a:t>
            </a:r>
            <a:r>
              <a:rPr lang="zh-CN" altLang="zh-CN" dirty="0"/>
              <a:t>的值为</a:t>
            </a:r>
            <a:r>
              <a:rPr lang="en-US" altLang="zh-CN" dirty="0">
                <a:solidFill>
                  <a:srgbClr val="FF0000"/>
                </a:solidFill>
              </a:rPr>
              <a:t>somevalue</a:t>
            </a:r>
            <a:r>
              <a:rPr lang="zh-CN" altLang="zh-CN" dirty="0"/>
              <a:t>，并将</a:t>
            </a:r>
            <a:r>
              <a:rPr lang="en-US" altLang="zh-CN" dirty="0"/>
              <a:t>varName</a:t>
            </a:r>
            <a:r>
              <a:rPr lang="zh-CN" altLang="zh-CN" dirty="0"/>
              <a:t>保存在某个</a:t>
            </a:r>
            <a:r>
              <a:rPr lang="en-US" altLang="zh-CN" dirty="0"/>
              <a:t>JSP</a:t>
            </a:r>
            <a:r>
              <a:rPr lang="zh-CN" altLang="zh-CN" dirty="0"/>
              <a:t>范围中</a:t>
            </a:r>
            <a:endParaRPr lang="en-US" altLang="zh-CN" dirty="0"/>
          </a:p>
          <a:p>
            <a:pPr lvl="1"/>
            <a:r>
              <a:rPr lang="en-US" altLang="zh-CN" sz="2400" dirty="0"/>
              <a:t>&lt;</a:t>
            </a:r>
            <a:r>
              <a:rPr lang="en-US" altLang="zh-CN" sz="2400" dirty="0">
                <a:solidFill>
                  <a:srgbClr val="FF0000"/>
                </a:solidFill>
              </a:rPr>
              <a:t>c:set target</a:t>
            </a:r>
            <a:r>
              <a:rPr lang="en-US" altLang="zh-CN" sz="2400" dirty="0"/>
              <a:t>=”target”  </a:t>
            </a:r>
            <a:r>
              <a:rPr lang="en-US" altLang="zh-CN" sz="2400" dirty="0">
                <a:solidFill>
                  <a:srgbClr val="FF0000"/>
                </a:solidFill>
              </a:rPr>
              <a:t>property</a:t>
            </a:r>
            <a:r>
              <a:rPr lang="en-US" altLang="zh-CN" sz="2400" dirty="0"/>
              <a:t>=”propertyName” </a:t>
            </a:r>
            <a:r>
              <a:rPr lang="en-US" altLang="zh-CN" sz="2400" dirty="0">
                <a:solidFill>
                  <a:srgbClr val="FF0000"/>
                </a:solidFill>
              </a:rPr>
              <a:t>value</a:t>
            </a:r>
            <a:r>
              <a:rPr lang="en-US" altLang="zh-CN" sz="2400" dirty="0"/>
              <a:t>=”value” [</a:t>
            </a:r>
            <a:r>
              <a:rPr lang="en-US" altLang="zh-CN" sz="2400" dirty="0">
                <a:solidFill>
                  <a:srgbClr val="FF0000"/>
                </a:solidFill>
              </a:rPr>
              <a:t>scope</a:t>
            </a:r>
            <a:r>
              <a:rPr lang="en-US" altLang="zh-CN" sz="2400" dirty="0"/>
              <a:t>=”{page|request|session|application}”]/&gt;</a:t>
            </a:r>
            <a:endParaRPr lang="en-US" altLang="zh-CN" sz="2400" dirty="0"/>
          </a:p>
          <a:p>
            <a:pPr lvl="2"/>
            <a:r>
              <a:rPr lang="zh-CN" altLang="zh-CN" dirty="0"/>
              <a:t>设置某个</a:t>
            </a:r>
            <a:r>
              <a:rPr lang="en-US" altLang="zh-CN" dirty="0"/>
              <a:t>JSP</a:t>
            </a:r>
            <a:r>
              <a:rPr lang="zh-CN" altLang="zh-CN" dirty="0"/>
              <a:t>范围中的</a:t>
            </a:r>
            <a:r>
              <a:rPr lang="en-US" altLang="zh-CN" dirty="0"/>
              <a:t>JavaBean</a:t>
            </a:r>
            <a:r>
              <a:rPr lang="zh-CN" altLang="zh-CN" dirty="0"/>
              <a:t>对象</a:t>
            </a:r>
            <a:r>
              <a:rPr lang="en-US" altLang="zh-CN" dirty="0">
                <a:solidFill>
                  <a:srgbClr val="FF0000"/>
                </a:solidFill>
              </a:rPr>
              <a:t>target</a:t>
            </a:r>
            <a:r>
              <a:rPr lang="zh-CN" altLang="zh-CN" dirty="0"/>
              <a:t>的属性</a:t>
            </a:r>
            <a:r>
              <a:rPr lang="en-US" altLang="zh-CN" dirty="0">
                <a:solidFill>
                  <a:srgbClr val="FF0000"/>
                </a:solidFill>
              </a:rPr>
              <a:t>propertyName</a:t>
            </a:r>
            <a:r>
              <a:rPr lang="zh-CN" altLang="zh-CN" dirty="0"/>
              <a:t>的值为</a:t>
            </a:r>
            <a:r>
              <a:rPr lang="en-US" altLang="zh-CN" dirty="0">
                <a:solidFill>
                  <a:srgbClr val="FF0000"/>
                </a:solidFill>
              </a:rPr>
              <a:t>value</a:t>
            </a:r>
            <a:r>
              <a:rPr lang="zh-CN" altLang="en-US" dirty="0"/>
              <a:t>。对基本数据类型进行自动类型转换</a:t>
            </a:r>
            <a:endParaRPr lang="en-US" altLang="zh-CN" dirty="0"/>
          </a:p>
          <a:p>
            <a:pPr lvl="1"/>
            <a:r>
              <a:rPr lang="zh-CN" altLang="en-US" dirty="0"/>
              <a:t>两种格式中的</a:t>
            </a:r>
            <a:r>
              <a:rPr lang="en-US" altLang="zh-CN" dirty="0"/>
              <a:t>value</a:t>
            </a:r>
            <a:r>
              <a:rPr lang="zh-CN" altLang="en-US" dirty="0"/>
              <a:t>属性值都可用</a:t>
            </a:r>
            <a:r>
              <a:rPr lang="en-US" altLang="zh-CN" dirty="0"/>
              <a:t>&lt;c:set&gt;body content&lt;/c:set&gt;</a:t>
            </a:r>
            <a:r>
              <a:rPr lang="zh-CN" altLang="en-US" dirty="0"/>
              <a:t>标签体中的</a:t>
            </a:r>
            <a:r>
              <a:rPr lang="en-US" altLang="zh-CN" dirty="0"/>
              <a:t>body content</a:t>
            </a:r>
            <a:r>
              <a:rPr lang="zh-CN" altLang="en-US" dirty="0"/>
              <a:t>设置</a:t>
            </a:r>
            <a:endParaRPr lang="en-US" altLang="zh-CN" dirty="0"/>
          </a:p>
        </p:txBody>
      </p:sp>
      <p:sp>
        <p:nvSpPr>
          <p:cNvPr id="26627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600200" y="6437313"/>
            <a:ext cx="533400" cy="268287"/>
          </a:xfrm>
        </p:spPr>
        <p:txBody>
          <a:bodyPr wrap="square" lIns="91440" tIns="45720" rIns="91440" bIns="4572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楷体_GB2312"/>
                <a:ea typeface="楷体_GB231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5pPr>
          </a:lstStyle>
          <a:p>
            <a:pPr lvl="0">
              <a:buSzTx/>
            </a:pPr>
            <a:fld id="{9A0DB2DC-4C9A-4742-B13C-FB6460FD3503}" type="slidenum">
              <a: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fld>
            <a:endParaRPr lang="zh-CN" altLang="en-US" sz="14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c:set</a:t>
            </a: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示例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27650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600200" y="6437313"/>
            <a:ext cx="533400" cy="268287"/>
          </a:xfrm>
        </p:spPr>
        <p:txBody>
          <a:bodyPr wrap="square" lIns="91440" tIns="45720" rIns="91440" bIns="4572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楷体_GB2312"/>
                <a:ea typeface="楷体_GB231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5pPr>
          </a:lstStyle>
          <a:p>
            <a:pPr lvl="0">
              <a:buSzTx/>
            </a:pPr>
            <a:fld id="{9A0DB2DC-4C9A-4742-B13C-FB6460FD3503}" type="slidenum">
              <a: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fld>
            <a:endParaRPr lang="zh-CN" altLang="en-US" sz="14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27651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310" y="1497330"/>
            <a:ext cx="11423650" cy="1095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652" name="TextBox 5"/>
          <p:cNvSpPr txBox="1"/>
          <p:nvPr/>
        </p:nvSpPr>
        <p:spPr>
          <a:xfrm>
            <a:off x="7967663" y="908050"/>
            <a:ext cx="233426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>
              <a:buSzTx/>
            </a:pPr>
            <a:r>
              <a:rPr lang="en-US" altLang="zh-CN" sz="2400" b="1" dirty="0">
                <a:latin typeface="楷体_GB2312"/>
                <a:ea typeface="楷体_GB2312"/>
              </a:rPr>
              <a:t>LoginValid.jsp</a:t>
            </a:r>
            <a:endParaRPr lang="zh-CN" altLang="en-US" sz="2400" b="1" dirty="0">
              <a:latin typeface="楷体_GB2312"/>
              <a:ea typeface="楷体_GB2312"/>
            </a:endParaRPr>
          </a:p>
        </p:txBody>
      </p:sp>
      <p:pic>
        <p:nvPicPr>
          <p:cNvPr id="2765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75" y="3067050"/>
            <a:ext cx="11236960" cy="32111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圆角矩形 7"/>
          <p:cNvSpPr/>
          <p:nvPr/>
        </p:nvSpPr>
        <p:spPr>
          <a:xfrm>
            <a:off x="448310" y="1912620"/>
            <a:ext cx="7038975" cy="6794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601470" y="4731385"/>
            <a:ext cx="8296910" cy="3175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9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c:remove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28674" name="内容占位符 2"/>
          <p:cNvSpPr>
            <a:spLocks noGrp="1"/>
          </p:cNvSpPr>
          <p:nvPr>
            <p:ph idx="1"/>
          </p:nvPr>
        </p:nvSpPr>
        <p:spPr>
          <a:xfrm>
            <a:off x="307975" y="1135380"/>
            <a:ext cx="11417935" cy="5113020"/>
          </a:xfrm>
        </p:spPr>
        <p:txBody>
          <a:bodyPr vert="horz" wrap="square" lIns="91440" tIns="45720" rIns="91440" bIns="45720" anchor="t"/>
          <a:p>
            <a:r>
              <a:rPr lang="zh-CN" altLang="zh-CN" dirty="0"/>
              <a:t>用于删除某个</a:t>
            </a:r>
            <a:r>
              <a:rPr lang="en-US" altLang="zh-CN" dirty="0"/>
              <a:t>JSP</a:t>
            </a:r>
            <a:r>
              <a:rPr lang="zh-CN" altLang="zh-CN" dirty="0"/>
              <a:t>范围中的变量或</a:t>
            </a:r>
            <a:r>
              <a:rPr lang="en-US" altLang="zh-CN" dirty="0"/>
              <a:t>JavaBean</a:t>
            </a:r>
            <a:r>
              <a:rPr lang="zh-CN" altLang="zh-CN" dirty="0"/>
              <a:t>对象</a:t>
            </a:r>
            <a:endParaRPr lang="en-US" altLang="zh-CN" dirty="0"/>
          </a:p>
          <a:p>
            <a:pPr lvl="1"/>
            <a:r>
              <a:rPr lang="en-US" altLang="zh-CN" sz="2400" dirty="0"/>
              <a:t>&lt;</a:t>
            </a:r>
            <a:r>
              <a:rPr lang="en-US" altLang="zh-CN" sz="2400" dirty="0">
                <a:solidFill>
                  <a:srgbClr val="FF0000"/>
                </a:solidFill>
              </a:rPr>
              <a:t>c:remove</a:t>
            </a:r>
            <a:r>
              <a:rPr lang="en-US" altLang="zh-CN" sz="2400" dirty="0"/>
              <a:t>  </a:t>
            </a:r>
            <a:r>
              <a:rPr lang="en-US" altLang="zh-CN" sz="2400" dirty="0">
                <a:solidFill>
                  <a:srgbClr val="FF0000"/>
                </a:solidFill>
              </a:rPr>
              <a:t>var</a:t>
            </a:r>
            <a:r>
              <a:rPr lang="en-US" altLang="zh-CN" sz="2400" dirty="0"/>
              <a:t>=”varName” [</a:t>
            </a:r>
            <a:r>
              <a:rPr lang="en-US" altLang="zh-CN" sz="2400" dirty="0">
                <a:solidFill>
                  <a:srgbClr val="FF0000"/>
                </a:solidFill>
              </a:rPr>
              <a:t>scope</a:t>
            </a:r>
            <a:r>
              <a:rPr lang="en-US" altLang="zh-CN" sz="2400" dirty="0"/>
              <a:t>=”{page|request|session|application}”]/&gt;</a:t>
            </a:r>
            <a:endParaRPr lang="en-US" altLang="zh-CN" sz="2400" dirty="0"/>
          </a:p>
          <a:p>
            <a:pPr lvl="2"/>
            <a:r>
              <a:rPr lang="en-US" altLang="zh-CN" dirty="0"/>
              <a:t>&lt;c:remove var="num"  scope="request"/&gt;</a:t>
            </a:r>
            <a:endParaRPr lang="en-US" altLang="zh-CN" dirty="0"/>
          </a:p>
        </p:txBody>
      </p:sp>
      <p:sp>
        <p:nvSpPr>
          <p:cNvPr id="28675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600200" y="6437313"/>
            <a:ext cx="533400" cy="268287"/>
          </a:xfrm>
        </p:spPr>
        <p:txBody>
          <a:bodyPr wrap="square" lIns="91440" tIns="45720" rIns="91440" bIns="4572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楷体_GB2312"/>
                <a:ea typeface="楷体_GB231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5pPr>
          </a:lstStyle>
          <a:p>
            <a:pPr lvl="0">
              <a:buSzTx/>
            </a:pPr>
            <a:fld id="{9A0DB2DC-4C9A-4742-B13C-FB6460FD3503}" type="slidenum">
              <a: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fld>
            <a:endParaRPr lang="zh-CN" altLang="en-US" sz="14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c:catch</a:t>
            </a:r>
            <a:endParaRPr kumimoji="0" lang="en-US" altLang="zh-CN" sz="40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29698" name="内容占位符 2"/>
          <p:cNvSpPr>
            <a:spLocks noGrp="1"/>
          </p:cNvSpPr>
          <p:nvPr>
            <p:ph idx="1"/>
          </p:nvPr>
        </p:nvSpPr>
        <p:spPr>
          <a:xfrm>
            <a:off x="428625" y="1135380"/>
            <a:ext cx="11155045" cy="2293620"/>
          </a:xfrm>
        </p:spPr>
        <p:txBody>
          <a:bodyPr vert="horz" wrap="square" lIns="91440" tIns="45720" rIns="91440" bIns="45720" anchor="t"/>
          <a:p>
            <a:r>
              <a:rPr lang="zh-CN" altLang="zh-CN" sz="2400" dirty="0"/>
              <a:t>捕获该标签中脚本代码或该标签中其他标签抛出的</a:t>
            </a:r>
            <a:r>
              <a:rPr lang="zh-CN" altLang="zh-CN" sz="2400" i="1" dirty="0">
                <a:solidFill>
                  <a:srgbClr val="FF0000"/>
                </a:solidFill>
              </a:rPr>
              <a:t>异常</a:t>
            </a:r>
            <a:r>
              <a:rPr lang="zh-CN" altLang="zh-CN" sz="2400" dirty="0"/>
              <a:t>，并将异常信息保存</a:t>
            </a:r>
            <a:endParaRPr lang="zh-CN" altLang="zh-CN" sz="2400" dirty="0"/>
          </a:p>
          <a:p>
            <a:pPr marL="0" indent="0">
              <a:buNone/>
            </a:pPr>
            <a:r>
              <a:rPr lang="en-US" altLang="zh-CN" sz="2400" dirty="0"/>
              <a:t>&lt;</a:t>
            </a:r>
            <a:r>
              <a:rPr lang="en-US" altLang="zh-CN" sz="2400" dirty="0">
                <a:solidFill>
                  <a:srgbClr val="FF0000"/>
                </a:solidFill>
              </a:rPr>
              <a:t>c:catch </a:t>
            </a:r>
            <a:r>
              <a:rPr lang="en-US" altLang="zh-CN" sz="2400" dirty="0"/>
              <a:t>[</a:t>
            </a:r>
            <a:r>
              <a:rPr lang="en-US" altLang="zh-CN" sz="2400" dirty="0">
                <a:solidFill>
                  <a:srgbClr val="FF0000"/>
                </a:solidFill>
              </a:rPr>
              <a:t>var</a:t>
            </a:r>
            <a:r>
              <a:rPr lang="en-US" altLang="zh-CN" sz="2400" dirty="0"/>
              <a:t>=”varName”]&gt;</a:t>
            </a:r>
            <a:br>
              <a:rPr lang="en-US" altLang="zh-CN" sz="2400" dirty="0"/>
            </a:br>
            <a:r>
              <a:rPr lang="en-US" altLang="zh-CN" sz="2400" dirty="0"/>
              <a:t>other tag or scriptlets may ran exception</a:t>
            </a:r>
            <a:br>
              <a:rPr lang="en-US" altLang="zh-CN" sz="2400" dirty="0"/>
            </a:br>
            <a:r>
              <a:rPr lang="en-US" altLang="zh-CN" sz="2400" dirty="0"/>
              <a:t>&lt;/</a:t>
            </a:r>
            <a:r>
              <a:rPr lang="en-US" altLang="zh-CN" sz="2400" dirty="0">
                <a:solidFill>
                  <a:srgbClr val="FF0000"/>
                </a:solidFill>
              </a:rPr>
              <a:t>c:catch</a:t>
            </a:r>
            <a:r>
              <a:rPr lang="en-US" altLang="zh-CN" sz="2400" dirty="0"/>
              <a:t>&gt;</a:t>
            </a:r>
            <a:endParaRPr lang="en-US" altLang="zh-CN" sz="2400" dirty="0"/>
          </a:p>
          <a:p>
            <a:pPr lvl="1"/>
            <a:endParaRPr lang="zh-CN" altLang="en-US" sz="2400" dirty="0"/>
          </a:p>
        </p:txBody>
      </p:sp>
      <p:sp>
        <p:nvSpPr>
          <p:cNvPr id="2969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600200" y="6437313"/>
            <a:ext cx="533400" cy="268287"/>
          </a:xfrm>
        </p:spPr>
        <p:txBody>
          <a:bodyPr wrap="square" lIns="91440" tIns="45720" rIns="91440" bIns="4572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楷体_GB2312"/>
                <a:ea typeface="楷体_GB231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5pPr>
          </a:lstStyle>
          <a:p>
            <a:pPr lvl="0">
              <a:buSzTx/>
            </a:pPr>
            <a:fld id="{9A0DB2DC-4C9A-4742-B13C-FB6460FD3503}" type="slidenum">
              <a:rPr lang="zh-CN" altLang="en-US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fld>
            <a:endParaRPr lang="zh-CN" altLang="en-US" sz="24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74825" y="3284538"/>
            <a:ext cx="8713788" cy="193802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buSzTx/>
            </a:pPr>
            <a:r>
              <a:rPr lang="en-US" altLang="zh-CN" sz="2400" dirty="0">
                <a:latin typeface="楷体_GB2312"/>
                <a:ea typeface="楷体_GB2312"/>
              </a:rPr>
              <a:t>&lt;</a:t>
            </a:r>
            <a:r>
              <a:rPr lang="en-US" altLang="zh-CN" sz="2400" b="1" dirty="0">
                <a:solidFill>
                  <a:srgbClr val="FF0000"/>
                </a:solidFill>
                <a:latin typeface="楷体_GB2312"/>
                <a:ea typeface="楷体_GB2312"/>
              </a:rPr>
              <a:t>c:catch</a:t>
            </a:r>
            <a:r>
              <a:rPr lang="en-US" altLang="zh-CN" sz="2400" dirty="0">
                <a:latin typeface="楷体_GB2312"/>
                <a:ea typeface="楷体_GB2312"/>
              </a:rPr>
              <a:t> var="</a:t>
            </a:r>
            <a:r>
              <a:rPr lang="en-US" altLang="zh-CN" sz="2400" b="1" i="1" dirty="0">
                <a:solidFill>
                  <a:srgbClr val="FF0000"/>
                </a:solidFill>
                <a:latin typeface="楷体_GB2312"/>
                <a:ea typeface="楷体_GB2312"/>
              </a:rPr>
              <a:t>error</a:t>
            </a:r>
            <a:r>
              <a:rPr lang="en-US" altLang="zh-CN" sz="2400" dirty="0">
                <a:latin typeface="楷体_GB2312"/>
                <a:ea typeface="楷体_GB2312"/>
              </a:rPr>
              <a:t>"&gt;</a:t>
            </a:r>
            <a:endParaRPr lang="zh-CN" altLang="zh-CN" sz="2400" dirty="0">
              <a:latin typeface="楷体_GB2312"/>
              <a:ea typeface="楷体_GB2312"/>
            </a:endParaRPr>
          </a:p>
          <a:p>
            <a:pPr>
              <a:buSzTx/>
            </a:pPr>
            <a:r>
              <a:rPr lang="en-US" altLang="zh-CN" sz="2400" dirty="0">
                <a:latin typeface="楷体_GB2312"/>
                <a:ea typeface="楷体_GB2312"/>
              </a:rPr>
              <a:t> &lt;jsp:useBean id="user" class=“bean.UserBean"/&gt;</a:t>
            </a:r>
            <a:endParaRPr lang="zh-CN" altLang="zh-CN" sz="2400" dirty="0">
              <a:latin typeface="楷体_GB2312"/>
              <a:ea typeface="楷体_GB2312"/>
            </a:endParaRPr>
          </a:p>
          <a:p>
            <a:pPr>
              <a:buSzTx/>
            </a:pPr>
            <a:r>
              <a:rPr lang="en-US" altLang="zh-CN" sz="2400" dirty="0">
                <a:latin typeface="楷体_GB2312"/>
                <a:ea typeface="楷体_GB2312"/>
              </a:rPr>
              <a:t> &lt;</a:t>
            </a:r>
            <a:r>
              <a:rPr lang="en-US" altLang="zh-CN" sz="2400" b="1" dirty="0">
                <a:solidFill>
                  <a:srgbClr val="FF0000"/>
                </a:solidFill>
                <a:latin typeface="楷体_GB2312"/>
                <a:ea typeface="楷体_GB2312"/>
              </a:rPr>
              <a:t>c:set</a:t>
            </a:r>
            <a:r>
              <a:rPr lang="en-US" altLang="zh-CN" sz="2400" dirty="0">
                <a:latin typeface="楷体_GB2312"/>
                <a:ea typeface="楷体_GB2312"/>
              </a:rPr>
              <a:t> target="${user}" property="age" value="Alice"/&gt;</a:t>
            </a:r>
            <a:endParaRPr lang="zh-CN" altLang="zh-CN" sz="2400" dirty="0">
              <a:latin typeface="楷体_GB2312"/>
              <a:ea typeface="楷体_GB2312"/>
            </a:endParaRPr>
          </a:p>
          <a:p>
            <a:pPr>
              <a:buSzTx/>
            </a:pPr>
            <a:r>
              <a:rPr lang="en-US" altLang="zh-CN" sz="2400" dirty="0">
                <a:latin typeface="楷体_GB2312"/>
                <a:ea typeface="楷体_GB2312"/>
              </a:rPr>
              <a:t>&lt;/</a:t>
            </a:r>
            <a:r>
              <a:rPr lang="en-US" altLang="zh-CN" sz="2400" b="1" dirty="0">
                <a:solidFill>
                  <a:srgbClr val="FF0000"/>
                </a:solidFill>
                <a:latin typeface="楷体_GB2312"/>
                <a:ea typeface="楷体_GB2312"/>
              </a:rPr>
              <a:t>c:catch</a:t>
            </a:r>
            <a:r>
              <a:rPr lang="en-US" altLang="zh-CN" sz="2400" dirty="0">
                <a:latin typeface="楷体_GB2312"/>
                <a:ea typeface="楷体_GB2312"/>
              </a:rPr>
              <a:t>&gt;</a:t>
            </a:r>
            <a:endParaRPr lang="zh-CN" altLang="zh-CN" sz="2400" dirty="0">
              <a:latin typeface="楷体_GB2312"/>
              <a:ea typeface="楷体_GB2312"/>
            </a:endParaRPr>
          </a:p>
          <a:p>
            <a:pPr>
              <a:buSzTx/>
            </a:pPr>
            <a:r>
              <a:rPr lang="en-US" altLang="zh-CN" sz="2400" b="1" dirty="0">
                <a:solidFill>
                  <a:srgbClr val="FF0000"/>
                </a:solidFill>
                <a:latin typeface="楷体_GB2312"/>
                <a:ea typeface="楷体_GB2312"/>
              </a:rPr>
              <a:t>${error}</a:t>
            </a:r>
            <a:endParaRPr lang="zh-CN" altLang="en-US" sz="2400" b="1" dirty="0">
              <a:solidFill>
                <a:srgbClr val="FF0000"/>
              </a:solidFill>
              <a:latin typeface="楷体_GB2312"/>
              <a:ea typeface="楷体_GB231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6959600" y="4406265"/>
            <a:ext cx="3168650" cy="1231951"/>
            <a:chOff x="5436096" y="4406245"/>
            <a:chExt cx="3168352" cy="1232645"/>
          </a:xfrm>
        </p:grpSpPr>
        <p:sp>
          <p:nvSpPr>
            <p:cNvPr id="29702" name="TextBox 6"/>
            <p:cNvSpPr txBox="1"/>
            <p:nvPr/>
          </p:nvSpPr>
          <p:spPr>
            <a:xfrm>
              <a:off x="5652120" y="4808477"/>
              <a:ext cx="2952328" cy="83041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buSzTx/>
              </a:pPr>
              <a:r>
                <a:rPr lang="zh-CN" altLang="en-US" sz="2400" dirty="0">
                  <a:latin typeface="楷体_GB2312"/>
                  <a:ea typeface="楷体_GB2312"/>
                </a:rPr>
                <a:t>捕捉到数据类型转换异常（</a:t>
              </a:r>
              <a:r>
                <a:rPr lang="en-US" altLang="zh-CN" sz="2400" dirty="0">
                  <a:latin typeface="楷体_GB2312"/>
                  <a:ea typeface="楷体_GB2312"/>
                </a:rPr>
                <a:t>String-&gt;int</a:t>
              </a:r>
              <a:r>
                <a:rPr lang="zh-CN" altLang="en-US" sz="2400" dirty="0">
                  <a:latin typeface="楷体_GB2312"/>
                  <a:ea typeface="楷体_GB2312"/>
                </a:rPr>
                <a:t>）</a:t>
              </a:r>
              <a:endParaRPr lang="zh-CN" altLang="en-US" sz="2400" dirty="0">
                <a:latin typeface="楷体_GB2312"/>
                <a:ea typeface="楷体_GB2312"/>
              </a:endParaRPr>
            </a:p>
          </p:txBody>
        </p:sp>
        <p:cxnSp>
          <p:nvCxnSpPr>
            <p:cNvPr id="9" name="直接箭头连接符 8"/>
            <p:cNvCxnSpPr/>
            <p:nvPr/>
          </p:nvCxnSpPr>
          <p:spPr>
            <a:xfrm>
              <a:off x="5436096" y="4406880"/>
              <a:ext cx="1152417" cy="401864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箭头连接符 9"/>
            <p:cNvCxnSpPr>
              <a:endCxn id="29702" idx="0"/>
            </p:cNvCxnSpPr>
            <p:nvPr/>
          </p:nvCxnSpPr>
          <p:spPr>
            <a:xfrm flipH="1">
              <a:off x="7128212" y="4406245"/>
              <a:ext cx="612717" cy="401864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/>
          <p:cNvSpPr txBox="1"/>
          <p:nvPr/>
        </p:nvSpPr>
        <p:spPr>
          <a:xfrm>
            <a:off x="7329805" y="2968625"/>
            <a:ext cx="3997325" cy="4603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buSzTx/>
            </a:pPr>
            <a:r>
              <a:rPr lang="zh-CN" altLang="en-US" sz="2400" dirty="0">
                <a:latin typeface="楷体_GB2312"/>
                <a:ea typeface="楷体_GB2312"/>
              </a:rPr>
              <a:t>异常信息被赋值给</a:t>
            </a:r>
            <a:r>
              <a:rPr lang="en-US" altLang="zh-CN" sz="2400" dirty="0">
                <a:latin typeface="楷体_GB2312"/>
                <a:ea typeface="楷体_GB2312"/>
              </a:rPr>
              <a:t>error</a:t>
            </a:r>
            <a:r>
              <a:rPr lang="zh-CN" altLang="en-US" sz="2400" dirty="0">
                <a:latin typeface="楷体_GB2312"/>
                <a:ea typeface="楷体_GB2312"/>
              </a:rPr>
              <a:t>变量</a:t>
            </a:r>
            <a:endParaRPr lang="zh-CN" altLang="en-US" sz="2400" dirty="0">
              <a:latin typeface="楷体_GB2312"/>
              <a:ea typeface="楷体_GB2312"/>
            </a:endParaRPr>
          </a:p>
        </p:txBody>
      </p:sp>
      <p:cxnSp>
        <p:nvCxnSpPr>
          <p:cNvPr id="20" name="直接箭头连接符 19"/>
          <p:cNvCxnSpPr/>
          <p:nvPr/>
        </p:nvCxnSpPr>
        <p:spPr>
          <a:xfrm flipV="1">
            <a:off x="9204325" y="3644900"/>
            <a:ext cx="780415" cy="139319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558925" y="5559425"/>
            <a:ext cx="3889375" cy="4603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buSzTx/>
            </a:pPr>
            <a:r>
              <a:rPr lang="zh-CN" altLang="en-US" sz="2400" dirty="0">
                <a:latin typeface="楷体_GB2312"/>
                <a:ea typeface="楷体_GB2312"/>
              </a:rPr>
              <a:t>使用表达式显示变量的值</a:t>
            </a:r>
            <a:endParaRPr lang="zh-CN" altLang="en-US" sz="2400" dirty="0">
              <a:latin typeface="楷体_GB2312"/>
              <a:ea typeface="楷体_GB2312"/>
            </a:endParaRPr>
          </a:p>
        </p:txBody>
      </p:sp>
      <p:pic>
        <p:nvPicPr>
          <p:cNvPr id="512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6580" y="6019800"/>
            <a:ext cx="7862570" cy="4768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" name="右箭头 14">
            <a:hlinkClick r:id="rId2" action="ppaction://hlinksldjump"/>
          </p:cNvPr>
          <p:cNvSpPr/>
          <p:nvPr/>
        </p:nvSpPr>
        <p:spPr>
          <a:xfrm>
            <a:off x="10488930" y="6095683"/>
            <a:ext cx="838200" cy="609600"/>
          </a:xfrm>
          <a:prstGeom prst="rightArrow">
            <a:avLst/>
          </a:prstGeom>
          <a:solidFill>
            <a:srgbClr val="99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8" grpId="0"/>
      <p:bldP spid="22" grpId="0"/>
      <p:bldP spid="15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流程控制操作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30722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p>
            <a:r>
              <a:rPr lang="en-US" altLang="zh-CN" dirty="0"/>
              <a:t>&lt;c:if&gt;</a:t>
            </a:r>
            <a:endParaRPr lang="en-US" altLang="zh-CN" dirty="0"/>
          </a:p>
          <a:p>
            <a:pPr lvl="1"/>
            <a:r>
              <a:rPr lang="zh-CN" altLang="zh-CN" dirty="0"/>
              <a:t>用于条件判断。类似于</a:t>
            </a:r>
            <a:r>
              <a:rPr lang="en-US" altLang="zh-CN" dirty="0"/>
              <a:t>Java</a:t>
            </a:r>
            <a:r>
              <a:rPr lang="zh-CN" altLang="zh-CN" dirty="0"/>
              <a:t>语言中的</a:t>
            </a:r>
            <a:r>
              <a:rPr lang="en-US" altLang="zh-CN" dirty="0"/>
              <a:t>if</a:t>
            </a:r>
            <a:r>
              <a:rPr lang="zh-CN" altLang="zh-CN" dirty="0"/>
              <a:t>语句</a:t>
            </a:r>
            <a:endParaRPr lang="en-US" altLang="zh-CN" dirty="0"/>
          </a:p>
          <a:p>
            <a:r>
              <a:rPr lang="en-US" altLang="zh-CN" dirty="0"/>
              <a:t>&lt;c:choose&gt;/&lt;c:when&gt;/&lt;c:otherwise&gt;</a:t>
            </a:r>
            <a:endParaRPr lang="en-US" altLang="zh-CN" dirty="0"/>
          </a:p>
          <a:p>
            <a:pPr lvl="1"/>
            <a:r>
              <a:rPr lang="zh-CN" altLang="en-US" dirty="0"/>
              <a:t>配合使用，</a:t>
            </a:r>
            <a:r>
              <a:rPr lang="zh-CN" altLang="zh-CN" dirty="0"/>
              <a:t>相当于</a:t>
            </a:r>
            <a:r>
              <a:rPr lang="en-US" altLang="zh-CN" dirty="0"/>
              <a:t>java</a:t>
            </a:r>
            <a:r>
              <a:rPr lang="zh-CN" altLang="zh-CN" dirty="0"/>
              <a:t>语言中的</a:t>
            </a:r>
            <a:r>
              <a:rPr lang="en-US" altLang="zh-CN" dirty="0"/>
              <a:t>switch case default</a:t>
            </a:r>
            <a:r>
              <a:rPr lang="zh-CN" altLang="zh-CN" dirty="0"/>
              <a:t>语句</a:t>
            </a:r>
            <a:endParaRPr lang="zh-CN" altLang="en-US" dirty="0"/>
          </a:p>
        </p:txBody>
      </p:sp>
      <p:sp>
        <p:nvSpPr>
          <p:cNvPr id="30723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600200" y="6437313"/>
            <a:ext cx="533400" cy="268287"/>
          </a:xfrm>
        </p:spPr>
        <p:txBody>
          <a:bodyPr wrap="square" lIns="91440" tIns="45720" rIns="91440" bIns="4572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楷体_GB2312"/>
                <a:ea typeface="楷体_GB231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5pPr>
          </a:lstStyle>
          <a:p>
            <a:pPr lvl="0">
              <a:buSzTx/>
            </a:pPr>
            <a:fld id="{9A0DB2DC-4C9A-4742-B13C-FB6460FD3503}" type="slidenum">
              <a: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fld>
            <a:endParaRPr lang="zh-CN" altLang="en-US" sz="14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c:if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31746" name="内容占位符 2"/>
          <p:cNvSpPr>
            <a:spLocks noGrp="1"/>
          </p:cNvSpPr>
          <p:nvPr>
            <p:ph idx="1"/>
          </p:nvPr>
        </p:nvSpPr>
        <p:spPr>
          <a:xfrm>
            <a:off x="550545" y="1135380"/>
            <a:ext cx="11080750" cy="5113020"/>
          </a:xfrm>
        </p:spPr>
        <p:txBody>
          <a:bodyPr vert="horz" wrap="square" lIns="91440" tIns="45720" rIns="91440" bIns="45720" anchor="t"/>
          <a:p>
            <a:r>
              <a:rPr lang="en-US" altLang="zh-CN" sz="2800" dirty="0"/>
              <a:t>&lt;</a:t>
            </a:r>
            <a:r>
              <a:rPr lang="en-US" altLang="zh-CN" sz="2800" dirty="0">
                <a:solidFill>
                  <a:srgbClr val="FF0000"/>
                </a:solidFill>
              </a:rPr>
              <a:t>c:if</a:t>
            </a:r>
            <a:r>
              <a:rPr lang="en-US" altLang="zh-CN" sz="2800" dirty="0"/>
              <a:t> </a:t>
            </a:r>
            <a:r>
              <a:rPr lang="en-US" altLang="zh-CN" sz="2800" dirty="0">
                <a:solidFill>
                  <a:srgbClr val="FF0000"/>
                </a:solidFill>
              </a:rPr>
              <a:t>test</a:t>
            </a:r>
            <a:r>
              <a:rPr lang="en-US" altLang="zh-CN" sz="2800" dirty="0"/>
              <a:t>=”testCondition” </a:t>
            </a:r>
            <a:r>
              <a:rPr lang="en-US" altLang="zh-CN" sz="2800" dirty="0">
                <a:solidFill>
                  <a:srgbClr val="FF0000"/>
                </a:solidFill>
              </a:rPr>
              <a:t>var</a:t>
            </a:r>
            <a:r>
              <a:rPr lang="en-US" altLang="zh-CN" sz="2800" dirty="0"/>
              <a:t>=”varName” [</a:t>
            </a:r>
            <a:r>
              <a:rPr lang="en-US" altLang="zh-CN" sz="2800" dirty="0">
                <a:solidFill>
                  <a:srgbClr val="FF0000"/>
                </a:solidFill>
              </a:rPr>
              <a:t>scope</a:t>
            </a:r>
            <a:r>
              <a:rPr lang="en-US" altLang="zh-CN" sz="2800" dirty="0"/>
              <a:t>=”{page|request|session|application}”] &gt;</a:t>
            </a:r>
            <a:br>
              <a:rPr lang="en-US" altLang="zh-CN" sz="2800" dirty="0"/>
            </a:br>
            <a:r>
              <a:rPr lang="en-US" altLang="zh-CN" sz="2800" dirty="0"/>
              <a:t>body content</a:t>
            </a:r>
            <a:br>
              <a:rPr lang="en-US" altLang="zh-CN" sz="2800" dirty="0"/>
            </a:br>
            <a:r>
              <a:rPr lang="en-US" altLang="zh-CN" sz="2800" dirty="0"/>
              <a:t>&lt;/</a:t>
            </a:r>
            <a:r>
              <a:rPr lang="en-US" altLang="zh-CN" sz="2800" dirty="0">
                <a:solidFill>
                  <a:srgbClr val="FF0000"/>
                </a:solidFill>
              </a:rPr>
              <a:t>c:if</a:t>
            </a:r>
            <a:r>
              <a:rPr lang="en-US" altLang="zh-CN" sz="2800" dirty="0"/>
              <a:t>&gt;</a:t>
            </a:r>
            <a:endParaRPr lang="zh-CN" altLang="zh-CN" sz="2800" dirty="0"/>
          </a:p>
          <a:p>
            <a:pPr lvl="1"/>
            <a:r>
              <a:rPr lang="zh-CN" altLang="zh-CN" sz="2400" dirty="0"/>
              <a:t>如果</a:t>
            </a:r>
            <a:r>
              <a:rPr lang="en-US" altLang="zh-CN" sz="2400" dirty="0">
                <a:solidFill>
                  <a:srgbClr val="FF0000"/>
                </a:solidFill>
              </a:rPr>
              <a:t>test</a:t>
            </a:r>
            <a:r>
              <a:rPr lang="zh-CN" altLang="zh-CN" sz="2400" dirty="0"/>
              <a:t>指定的表达式</a:t>
            </a:r>
            <a:r>
              <a:rPr lang="en-US" altLang="zh-CN" sz="2400" dirty="0">
                <a:solidFill>
                  <a:srgbClr val="FF0000"/>
                </a:solidFill>
              </a:rPr>
              <a:t>testCondition</a:t>
            </a:r>
            <a:r>
              <a:rPr lang="zh-CN" altLang="zh-CN" sz="2400" dirty="0"/>
              <a:t>结果为</a:t>
            </a:r>
            <a:r>
              <a:rPr lang="en-US" altLang="zh-CN" sz="2400" dirty="0">
                <a:solidFill>
                  <a:srgbClr val="FF0000"/>
                </a:solidFill>
              </a:rPr>
              <a:t>true</a:t>
            </a:r>
            <a:r>
              <a:rPr lang="zh-CN" altLang="zh-CN" sz="2400" dirty="0"/>
              <a:t>，则执行</a:t>
            </a:r>
            <a:r>
              <a:rPr lang="en-US" altLang="zh-CN" sz="2400" dirty="0"/>
              <a:t>body</a:t>
            </a:r>
            <a:r>
              <a:rPr lang="zh-CN" altLang="zh-CN" sz="2400" dirty="0"/>
              <a:t>的内容；如果是</a:t>
            </a:r>
            <a:r>
              <a:rPr lang="en-US" altLang="zh-CN" sz="2400" dirty="0">
                <a:solidFill>
                  <a:srgbClr val="FF0000"/>
                </a:solidFill>
              </a:rPr>
              <a:t>false</a:t>
            </a:r>
            <a:r>
              <a:rPr lang="zh-CN" altLang="zh-CN" sz="2400" dirty="0"/>
              <a:t>，则不执行</a:t>
            </a:r>
            <a:r>
              <a:rPr lang="en-US" altLang="zh-CN" sz="2400" dirty="0"/>
              <a:t>body</a:t>
            </a:r>
            <a:r>
              <a:rPr lang="zh-CN" altLang="zh-CN" sz="2400" dirty="0"/>
              <a:t>。</a:t>
            </a:r>
            <a:r>
              <a:rPr lang="en-US" altLang="zh-CN" sz="2400" dirty="0">
                <a:solidFill>
                  <a:srgbClr val="FF0000"/>
                </a:solidFill>
              </a:rPr>
              <a:t>var</a:t>
            </a:r>
            <a:r>
              <a:rPr lang="zh-CN" altLang="zh-CN" sz="2400" dirty="0"/>
              <a:t>属性用于保存</a:t>
            </a:r>
            <a:r>
              <a:rPr lang="en-US" altLang="zh-CN" sz="2400" dirty="0">
                <a:solidFill>
                  <a:srgbClr val="FF0000"/>
                </a:solidFill>
              </a:rPr>
              <a:t>testCondition</a:t>
            </a:r>
            <a:r>
              <a:rPr lang="zh-CN" altLang="zh-CN" sz="2400" dirty="0"/>
              <a:t>的结果，保存的范围用</a:t>
            </a:r>
            <a:r>
              <a:rPr lang="en-US" altLang="zh-CN" sz="2400" dirty="0">
                <a:solidFill>
                  <a:srgbClr val="FF0000"/>
                </a:solidFill>
              </a:rPr>
              <a:t>scope</a:t>
            </a:r>
            <a:r>
              <a:rPr lang="zh-CN" altLang="zh-CN" sz="2400" dirty="0"/>
              <a:t>属性指定，默认是</a:t>
            </a:r>
            <a:r>
              <a:rPr lang="en-US" altLang="zh-CN" sz="2400" dirty="0"/>
              <a:t>page</a:t>
            </a:r>
            <a:r>
              <a:rPr lang="zh-CN" altLang="zh-CN" sz="2400" dirty="0"/>
              <a:t>范围。</a:t>
            </a:r>
            <a:endParaRPr lang="zh-CN" altLang="en-US" sz="2400" dirty="0"/>
          </a:p>
        </p:txBody>
      </p:sp>
      <p:sp>
        <p:nvSpPr>
          <p:cNvPr id="31747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600200" y="6437313"/>
            <a:ext cx="533400" cy="268287"/>
          </a:xfrm>
        </p:spPr>
        <p:txBody>
          <a:bodyPr wrap="square" lIns="91440" tIns="45720" rIns="91440" bIns="4572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楷体_GB2312"/>
                <a:ea typeface="楷体_GB231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5pPr>
          </a:lstStyle>
          <a:p>
            <a:pPr lvl="0">
              <a:buSzTx/>
            </a:pPr>
            <a:fld id="{9A0DB2DC-4C9A-4742-B13C-FB6460FD3503}" type="slidenum">
              <a: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fld>
            <a:endParaRPr lang="zh-CN" altLang="en-US" sz="14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c:if</a:t>
            </a: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示例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32770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600200" y="6437313"/>
            <a:ext cx="533400" cy="268287"/>
          </a:xfrm>
        </p:spPr>
        <p:txBody>
          <a:bodyPr wrap="square" lIns="91440" tIns="45720" rIns="91440" bIns="4572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楷体_GB2312"/>
                <a:ea typeface="楷体_GB231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5pPr>
          </a:lstStyle>
          <a:p>
            <a:pPr lvl="0">
              <a:buSzTx/>
            </a:pPr>
            <a:fld id="{9A0DB2DC-4C9A-4742-B13C-FB6460FD3503}" type="slidenum">
              <a: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fld>
            <a:endParaRPr lang="zh-CN" altLang="en-US" sz="14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2771" name="TextBox 5"/>
          <p:cNvSpPr txBox="1"/>
          <p:nvPr/>
        </p:nvSpPr>
        <p:spPr>
          <a:xfrm>
            <a:off x="7967663" y="908050"/>
            <a:ext cx="233426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>
              <a:buSzTx/>
            </a:pPr>
            <a:r>
              <a:rPr lang="en-US" altLang="zh-CN" sz="2400" b="1" dirty="0">
                <a:latin typeface="楷体_GB2312"/>
                <a:ea typeface="楷体_GB2312"/>
              </a:rPr>
              <a:t>UpdateUser.jsp</a:t>
            </a:r>
            <a:endParaRPr lang="zh-CN" altLang="en-US" sz="2400" b="1" dirty="0">
              <a:latin typeface="楷体_GB2312"/>
              <a:ea typeface="楷体_GB2312"/>
            </a:endParaRPr>
          </a:p>
        </p:txBody>
      </p:sp>
      <p:pic>
        <p:nvPicPr>
          <p:cNvPr id="3277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8775" y="1370013"/>
            <a:ext cx="8859838" cy="15541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上下箭头 4"/>
          <p:cNvSpPr/>
          <p:nvPr/>
        </p:nvSpPr>
        <p:spPr>
          <a:xfrm>
            <a:off x="5303838" y="2708275"/>
            <a:ext cx="622300" cy="1008063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171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3860800"/>
            <a:ext cx="9109075" cy="17589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2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4138" y="5589588"/>
            <a:ext cx="3182937" cy="4857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3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5250" y="6108700"/>
            <a:ext cx="3182938" cy="3444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c:if</a:t>
            </a: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示例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3379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600200" y="6437313"/>
            <a:ext cx="533400" cy="268287"/>
          </a:xfrm>
        </p:spPr>
        <p:txBody>
          <a:bodyPr wrap="square" lIns="91440" tIns="45720" rIns="91440" bIns="4572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楷体_GB2312"/>
                <a:ea typeface="楷体_GB231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5pPr>
          </a:lstStyle>
          <a:p>
            <a:pPr lvl="0">
              <a:buSzTx/>
            </a:pPr>
            <a:fld id="{9A0DB2DC-4C9A-4742-B13C-FB6460FD3503}" type="slidenum">
              <a: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fld>
            <a:endParaRPr lang="zh-CN" altLang="en-US" sz="14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33795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878" y="1342073"/>
            <a:ext cx="9093200" cy="20875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3796" name="TextBox 5"/>
          <p:cNvSpPr txBox="1"/>
          <p:nvPr/>
        </p:nvSpPr>
        <p:spPr>
          <a:xfrm>
            <a:off x="7967663" y="908050"/>
            <a:ext cx="233426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>
              <a:buSzTx/>
            </a:pPr>
            <a:r>
              <a:rPr lang="en-US" altLang="zh-CN" sz="2400" b="1" dirty="0">
                <a:latin typeface="楷体_GB2312"/>
                <a:ea typeface="楷体_GB2312"/>
              </a:rPr>
              <a:t>UpdateUser.jsp</a:t>
            </a:r>
            <a:endParaRPr lang="zh-CN" altLang="en-US" sz="2400" b="1" dirty="0">
              <a:latin typeface="楷体_GB2312"/>
              <a:ea typeface="楷体_GB2312"/>
            </a:endParaRPr>
          </a:p>
        </p:txBody>
      </p:sp>
      <p:pic>
        <p:nvPicPr>
          <p:cNvPr id="6147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968" y="3942715"/>
            <a:ext cx="7726362" cy="14398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上下箭头 4"/>
          <p:cNvSpPr/>
          <p:nvPr/>
        </p:nvSpPr>
        <p:spPr>
          <a:xfrm>
            <a:off x="4072890" y="3243580"/>
            <a:ext cx="431800" cy="636270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148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70" y="5347335"/>
            <a:ext cx="2283460" cy="4699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49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665" y="5742940"/>
            <a:ext cx="1839595" cy="47180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/>
        </p:nvGrpSpPr>
        <p:grpSpPr>
          <a:xfrm>
            <a:off x="6884035" y="5211445"/>
            <a:ext cx="4695190" cy="1090295"/>
            <a:chOff x="10746" y="8439"/>
            <a:chExt cx="7394" cy="1717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548" y="8782"/>
              <a:ext cx="5261" cy="619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557" y="9401"/>
              <a:ext cx="5583" cy="755"/>
            </a:xfrm>
            <a:prstGeom prst="rect">
              <a:avLst/>
            </a:prstGeom>
          </p:spPr>
        </p:pic>
        <p:sp>
          <p:nvSpPr>
            <p:cNvPr id="7" name="上下箭头 6"/>
            <p:cNvSpPr/>
            <p:nvPr/>
          </p:nvSpPr>
          <p:spPr>
            <a:xfrm rot="18240000">
              <a:off x="11039" y="8146"/>
              <a:ext cx="864" cy="1450"/>
            </a:xfrm>
            <a:prstGeom prst="up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替换</a:t>
              </a: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4817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3213" y="1368425"/>
            <a:ext cx="9045575" cy="40084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>
            <a:norm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&lt;</a:t>
            </a:r>
            <a:r>
              <a:rPr kumimoji="0" lang="en-US" altLang="zh-CN" sz="3600" b="1" i="0" u="none" strike="noStrike" kern="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c:choose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&gt;/&lt;</a:t>
            </a:r>
            <a:r>
              <a:rPr kumimoji="0" lang="en-US" altLang="zh-CN" sz="3600" b="1" i="0" u="none" strike="noStrike" kern="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c:when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&gt;/&lt;</a:t>
            </a:r>
            <a:r>
              <a:rPr kumimoji="0" lang="en-US" altLang="zh-CN" sz="3600" b="1" i="0" u="none" strike="noStrike" kern="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c:otherwise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&gt;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3481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600200" y="6437313"/>
            <a:ext cx="533400" cy="268287"/>
          </a:xfrm>
        </p:spPr>
        <p:txBody>
          <a:bodyPr wrap="square" lIns="91440" tIns="45720" rIns="91440" bIns="4572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楷体_GB2312"/>
                <a:ea typeface="楷体_GB231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5pPr>
          </a:lstStyle>
          <a:p>
            <a:pPr lvl="0">
              <a:buSzTx/>
            </a:pPr>
            <a:fld id="{9A0DB2DC-4C9A-4742-B13C-FB6460FD3503}" type="slidenum">
              <a: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fld>
            <a:endParaRPr lang="zh-CN" altLang="en-US" sz="14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4820" name="TextBox 5"/>
          <p:cNvSpPr txBox="1"/>
          <p:nvPr/>
        </p:nvSpPr>
        <p:spPr>
          <a:xfrm>
            <a:off x="7967663" y="908050"/>
            <a:ext cx="233426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>
              <a:buSzTx/>
            </a:pPr>
            <a:r>
              <a:rPr lang="en-US" altLang="zh-CN" sz="2400" b="1" dirty="0">
                <a:latin typeface="楷体_GB2312"/>
                <a:ea typeface="楷体_GB2312"/>
              </a:rPr>
              <a:t>LoginValid.jsp</a:t>
            </a:r>
            <a:endParaRPr lang="zh-CN" altLang="en-US" sz="2400" b="1" dirty="0">
              <a:latin typeface="楷体_GB2312"/>
              <a:ea typeface="楷体_GB231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132763" y="2597150"/>
            <a:ext cx="2468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>
              <a:buSzTx/>
            </a:pPr>
            <a:r>
              <a:rPr lang="zh-CN" altLang="en-US" dirty="0">
                <a:latin typeface="楷体_GB2312"/>
                <a:ea typeface="楷体_GB2312"/>
              </a:rPr>
              <a:t>调用</a:t>
            </a:r>
            <a:r>
              <a:rPr lang="en-US" altLang="zh-CN" dirty="0">
                <a:latin typeface="楷体_GB2312"/>
                <a:ea typeface="楷体_GB2312"/>
              </a:rPr>
              <a:t>user</a:t>
            </a:r>
            <a:r>
              <a:rPr lang="zh-CN" altLang="en-US" dirty="0">
                <a:latin typeface="楷体_GB2312"/>
                <a:ea typeface="楷体_GB2312"/>
              </a:rPr>
              <a:t>方法的返回值</a:t>
            </a:r>
            <a:endParaRPr lang="zh-CN" altLang="en-US" dirty="0">
              <a:latin typeface="楷体_GB2312"/>
              <a:ea typeface="楷体_GB2312"/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>
            <a:off x="4440238" y="2565400"/>
            <a:ext cx="3692525" cy="21590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>
            <a:off x="6907213" y="2457450"/>
            <a:ext cx="1349375" cy="21590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663565" y="3569018"/>
            <a:ext cx="1325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>
              <a:buSzTx/>
            </a:pPr>
            <a:r>
              <a:rPr lang="zh-CN" altLang="en-US" dirty="0">
                <a:latin typeface="楷体_GB2312"/>
                <a:ea typeface="楷体_GB2312"/>
              </a:rPr>
              <a:t>重定向标签</a:t>
            </a:r>
            <a:endParaRPr lang="zh-CN" altLang="en-US" dirty="0">
              <a:latin typeface="楷体_GB2312"/>
              <a:ea typeface="楷体_GB2312"/>
            </a:endParaRPr>
          </a:p>
        </p:txBody>
      </p:sp>
      <p:cxnSp>
        <p:nvCxnSpPr>
          <p:cNvPr id="15" name="直接箭头连接符 14"/>
          <p:cNvCxnSpPr>
            <a:endCxn id="14" idx="1"/>
          </p:cNvCxnSpPr>
          <p:nvPr/>
        </p:nvCxnSpPr>
        <p:spPr>
          <a:xfrm>
            <a:off x="3820478" y="3569018"/>
            <a:ext cx="1843088" cy="18415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右箭头 10">
            <a:hlinkClick r:id="rId2" action="ppaction://hlinksldjump"/>
          </p:cNvPr>
          <p:cNvSpPr/>
          <p:nvPr/>
        </p:nvSpPr>
        <p:spPr>
          <a:xfrm>
            <a:off x="9677400" y="6019800"/>
            <a:ext cx="838200" cy="609600"/>
          </a:xfrm>
          <a:prstGeom prst="rightArrow">
            <a:avLst/>
          </a:prstGeom>
          <a:solidFill>
            <a:srgbClr val="99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4" grpId="0"/>
      <p:bldP spid="11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迭代操作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35842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p>
            <a:r>
              <a:rPr lang="zh-CN" altLang="zh-CN" dirty="0"/>
              <a:t>遍历集合对象</a:t>
            </a:r>
            <a:endParaRPr lang="en-US" altLang="zh-CN" dirty="0"/>
          </a:p>
          <a:p>
            <a:pPr lvl="1"/>
            <a:r>
              <a:rPr lang="zh-CN" altLang="en-US" dirty="0"/>
              <a:t>也称迭代或循环操作</a:t>
            </a:r>
            <a:endParaRPr lang="en-US" altLang="zh-CN" dirty="0"/>
          </a:p>
          <a:p>
            <a:pPr lvl="1"/>
            <a:r>
              <a:rPr lang="en-US" altLang="zh-CN" dirty="0"/>
              <a:t>&lt;c:forEach&gt;</a:t>
            </a:r>
            <a:endParaRPr lang="en-US" altLang="zh-CN" dirty="0"/>
          </a:p>
          <a:p>
            <a:pPr lvl="2"/>
            <a:r>
              <a:rPr lang="zh-CN" altLang="zh-CN" dirty="0"/>
              <a:t>类似于</a:t>
            </a:r>
            <a:r>
              <a:rPr lang="en-US" altLang="zh-CN" dirty="0"/>
              <a:t>Java</a:t>
            </a:r>
            <a:r>
              <a:rPr lang="zh-CN" altLang="zh-CN" dirty="0"/>
              <a:t>中的</a:t>
            </a:r>
            <a:r>
              <a:rPr lang="en-US" altLang="zh-CN" dirty="0"/>
              <a:t>for</a:t>
            </a:r>
            <a:r>
              <a:rPr lang="zh-CN" altLang="zh-CN" dirty="0"/>
              <a:t>循环</a:t>
            </a:r>
            <a:endParaRPr lang="en-US" altLang="zh-CN" dirty="0"/>
          </a:p>
          <a:p>
            <a:pPr lvl="1"/>
            <a:r>
              <a:rPr lang="en-US" altLang="zh-CN" dirty="0"/>
              <a:t>&lt;c:forTokens&gt;</a:t>
            </a:r>
            <a:endParaRPr lang="en-US" altLang="zh-CN" dirty="0"/>
          </a:p>
          <a:p>
            <a:pPr lvl="2"/>
            <a:r>
              <a:rPr lang="zh-CN" altLang="zh-CN" dirty="0"/>
              <a:t>按照指定的一个或多个分隔符对字符串进行迭代</a:t>
            </a:r>
            <a:endParaRPr lang="zh-CN" altLang="en-US" dirty="0"/>
          </a:p>
        </p:txBody>
      </p:sp>
      <p:sp>
        <p:nvSpPr>
          <p:cNvPr id="35843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600200" y="6437313"/>
            <a:ext cx="533400" cy="268287"/>
          </a:xfrm>
        </p:spPr>
        <p:txBody>
          <a:bodyPr wrap="square" lIns="91440" tIns="45720" rIns="91440" bIns="4572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楷体_GB2312"/>
                <a:ea typeface="楷体_GB231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5pPr>
          </a:lstStyle>
          <a:p>
            <a:pPr lvl="0">
              <a:buSzTx/>
            </a:pPr>
            <a:fld id="{9A0DB2DC-4C9A-4742-B13C-FB6460FD3503}" type="slidenum">
              <a: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fld>
            <a:endParaRPr lang="zh-CN" altLang="en-US" sz="14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&lt;</a:t>
            </a:r>
            <a:r>
              <a:rPr kumimoji="0" lang="en-US" altLang="zh-CN" sz="48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c:forEach</a:t>
            </a:r>
            <a:r>
              <a:rPr kumimoji="0" lang="en-US" altLang="zh-CN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&gt;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36866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600200" y="6437313"/>
            <a:ext cx="533400" cy="268287"/>
          </a:xfrm>
        </p:spPr>
        <p:txBody>
          <a:bodyPr wrap="square" lIns="91440" tIns="45720" rIns="91440" bIns="4572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楷体_GB2312"/>
                <a:ea typeface="楷体_GB231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5pPr>
          </a:lstStyle>
          <a:p>
            <a:pPr lvl="0">
              <a:buSzTx/>
            </a:pPr>
            <a:fld id="{9A0DB2DC-4C9A-4742-B13C-FB6460FD3503}" type="slidenum">
              <a: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fld>
            <a:endParaRPr lang="zh-CN" altLang="en-US" sz="14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36867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155" y="1412875"/>
            <a:ext cx="10786745" cy="46697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TextBox 7"/>
          <p:cNvSpPr txBox="1"/>
          <p:nvPr/>
        </p:nvSpPr>
        <p:spPr>
          <a:xfrm>
            <a:off x="7206933" y="2584768"/>
            <a:ext cx="225171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>
              <a:buSzTx/>
            </a:pPr>
            <a:r>
              <a:rPr lang="zh-CN" altLang="en-US" b="1" dirty="0">
                <a:latin typeface="楷体_GB2312"/>
                <a:ea typeface="楷体_GB2312"/>
              </a:rPr>
              <a:t>取每个变量的属性值</a:t>
            </a:r>
            <a:endParaRPr lang="en-US" altLang="zh-CN" b="1" dirty="0">
              <a:latin typeface="楷体_GB2312"/>
              <a:ea typeface="楷体_GB2312"/>
            </a:endParaRPr>
          </a:p>
        </p:txBody>
      </p:sp>
      <p:cxnSp>
        <p:nvCxnSpPr>
          <p:cNvPr id="14" name="直接箭头连接符 13"/>
          <p:cNvCxnSpPr/>
          <p:nvPr/>
        </p:nvCxnSpPr>
        <p:spPr>
          <a:xfrm>
            <a:off x="5139055" y="2689543"/>
            <a:ext cx="1973263" cy="15875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803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098" y="5594033"/>
            <a:ext cx="4867275" cy="33337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13" name="直接箭头连接符 12"/>
          <p:cNvCxnSpPr/>
          <p:nvPr/>
        </p:nvCxnSpPr>
        <p:spPr>
          <a:xfrm>
            <a:off x="4312285" y="4351655"/>
            <a:ext cx="1511935" cy="108013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>
            <a:off x="869315" y="1946275"/>
            <a:ext cx="4866640" cy="42545"/>
          </a:xfrm>
          <a:prstGeom prst="straightConnector1">
            <a:avLst/>
          </a:prstGeom>
          <a:ln w="254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5203825" y="3338830"/>
            <a:ext cx="65405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/>
              <a:t>&lt;% </a:t>
            </a:r>
            <a:r>
              <a:rPr lang="en-US" altLang="zh-CN" sz="2400" b="1"/>
              <a:t>String path=</a:t>
            </a:r>
            <a:r>
              <a:rPr lang="zh-CN" altLang="en-US" sz="2400" b="1"/>
              <a:t>request.getContextPath()%&gt;</a:t>
            </a:r>
            <a:endParaRPr lang="zh-CN" altLang="en-US" sz="2400" b="1"/>
          </a:p>
        </p:txBody>
      </p:sp>
      <p:cxnSp>
        <p:nvCxnSpPr>
          <p:cNvPr id="10" name="直接箭头连接符 9"/>
          <p:cNvCxnSpPr/>
          <p:nvPr/>
        </p:nvCxnSpPr>
        <p:spPr>
          <a:xfrm>
            <a:off x="3549015" y="4279900"/>
            <a:ext cx="1250950" cy="13335"/>
          </a:xfrm>
          <a:prstGeom prst="straightConnector1">
            <a:avLst/>
          </a:prstGeom>
          <a:ln w="254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6"/>
          <p:cNvSpPr txBox="1"/>
          <p:nvPr/>
        </p:nvSpPr>
        <p:spPr>
          <a:xfrm>
            <a:off x="6095683" y="1988820"/>
            <a:ext cx="225171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>
              <a:buSzTx/>
            </a:pPr>
            <a:r>
              <a:rPr lang="zh-CN" altLang="en-US" b="1" dirty="0">
                <a:latin typeface="楷体_GB2312"/>
                <a:ea typeface="楷体_GB2312"/>
              </a:rPr>
              <a:t>设置循环变量和集合</a:t>
            </a:r>
            <a:endParaRPr lang="en-US" altLang="zh-CN" b="1" dirty="0">
              <a:latin typeface="楷体_GB2312"/>
              <a:ea typeface="楷体_GB2312"/>
            </a:endParaRPr>
          </a:p>
        </p:txBody>
      </p:sp>
      <p:cxnSp>
        <p:nvCxnSpPr>
          <p:cNvPr id="16" name="直接箭头连接符 15"/>
          <p:cNvCxnSpPr/>
          <p:nvPr/>
        </p:nvCxnSpPr>
        <p:spPr>
          <a:xfrm>
            <a:off x="5373370" y="1988820"/>
            <a:ext cx="584200" cy="18415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695325" y="1341120"/>
            <a:ext cx="5112385" cy="36004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" grpId="0"/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&lt;</a:t>
            </a:r>
            <a:r>
              <a:rPr kumimoji="0" lang="en-US" altLang="zh-CN" sz="48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c:forEach</a:t>
            </a:r>
            <a:r>
              <a:rPr kumimoji="0" lang="en-US" altLang="zh-CN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&gt;</a:t>
            </a: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其它属性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37890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600200" y="6437313"/>
            <a:ext cx="533400" cy="268287"/>
          </a:xfrm>
        </p:spPr>
        <p:txBody>
          <a:bodyPr wrap="square" lIns="91440" tIns="45720" rIns="91440" bIns="4572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楷体_GB2312"/>
                <a:ea typeface="楷体_GB231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5pPr>
          </a:lstStyle>
          <a:p>
            <a:pPr lvl="0">
              <a:buSzTx/>
            </a:pPr>
            <a:fld id="{9A0DB2DC-4C9A-4742-B13C-FB6460FD3503}" type="slidenum">
              <a: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fld>
            <a:endParaRPr lang="zh-CN" altLang="en-US" sz="14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37891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1268413"/>
            <a:ext cx="9144000" cy="37782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varStatus</a:t>
            </a: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的</a:t>
            </a:r>
            <a:r>
              <a:rPr kumimoji="0" lang="en-US" altLang="zh-CN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4</a:t>
            </a: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个属性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3891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600200" y="6437313"/>
            <a:ext cx="533400" cy="268287"/>
          </a:xfrm>
        </p:spPr>
        <p:txBody>
          <a:bodyPr wrap="square" lIns="91440" tIns="45720" rIns="91440" bIns="4572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楷体_GB2312"/>
                <a:ea typeface="楷体_GB231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5pPr>
          </a:lstStyle>
          <a:p>
            <a:pPr lvl="0">
              <a:buSzTx/>
            </a:pPr>
            <a:fld id="{9A0DB2DC-4C9A-4742-B13C-FB6460FD3503}" type="slidenum">
              <a: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fld>
            <a:endParaRPr lang="zh-CN" altLang="en-US" sz="14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38915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3388" y="1557338"/>
            <a:ext cx="8493125" cy="24479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099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925" y="4076700"/>
            <a:ext cx="9001125" cy="8286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00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4738" y="4675188"/>
            <a:ext cx="5972175" cy="1490662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6" name="直接连接符 5"/>
          <p:cNvCxnSpPr/>
          <p:nvPr/>
        </p:nvCxnSpPr>
        <p:spPr>
          <a:xfrm>
            <a:off x="1703388" y="4905375"/>
            <a:ext cx="1368425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6959600" y="5057775"/>
            <a:ext cx="1368425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5178425" y="5421313"/>
            <a:ext cx="1368425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6959600" y="5876925"/>
            <a:ext cx="1008063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7283450" y="6165850"/>
            <a:ext cx="1044575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ea"/>
              </a:rPr>
              <a:t>&lt;</a:t>
            </a:r>
            <a:r>
              <a:rPr kumimoji="0" lang="en-US" altLang="zh-CN" sz="4800" b="1" i="0" u="none" strike="noStrike" kern="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ea"/>
              </a:rPr>
              <a:t>c:forTokens</a:t>
            </a:r>
            <a:r>
              <a:rPr kumimoji="0" lang="en-US" altLang="zh-CN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ea"/>
              </a:rPr>
              <a:t>&gt;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ea"/>
            </a:endParaRPr>
          </a:p>
        </p:txBody>
      </p:sp>
      <p:sp>
        <p:nvSpPr>
          <p:cNvPr id="39938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600200" y="6437313"/>
            <a:ext cx="533400" cy="268287"/>
          </a:xfrm>
        </p:spPr>
        <p:txBody>
          <a:bodyPr wrap="square" lIns="91440" tIns="45720" rIns="91440" bIns="4572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楷体_GB2312"/>
                <a:ea typeface="楷体_GB231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5pPr>
          </a:lstStyle>
          <a:p>
            <a:pPr lvl="0">
              <a:buSzTx/>
            </a:pPr>
            <a:fld id="{9A0DB2DC-4C9A-4742-B13C-FB6460FD3503}" type="slidenum">
              <a: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fld>
            <a:endParaRPr lang="zh-CN" altLang="en-US" sz="14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39939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1341438"/>
            <a:ext cx="9036050" cy="12239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7613650" y="2192338"/>
            <a:ext cx="26974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>
              <a:buSzTx/>
            </a:pPr>
            <a:r>
              <a:rPr lang="zh-CN" altLang="zh-CN" dirty="0">
                <a:latin typeface="楷体_GB2312"/>
                <a:ea typeface="楷体_GB2312"/>
              </a:rPr>
              <a:t>指定</a:t>
            </a:r>
            <a:r>
              <a:rPr lang="en-US" altLang="zh-CN" dirty="0">
                <a:latin typeface="楷体_GB2312"/>
                <a:ea typeface="楷体_GB2312"/>
              </a:rPr>
              <a:t>","</a:t>
            </a:r>
            <a:r>
              <a:rPr lang="zh-CN" altLang="zh-CN" dirty="0">
                <a:latin typeface="楷体_GB2312"/>
                <a:ea typeface="楷体_GB2312"/>
              </a:rPr>
              <a:t>和</a:t>
            </a:r>
            <a:r>
              <a:rPr lang="en-US" altLang="zh-CN" dirty="0">
                <a:latin typeface="楷体_GB2312"/>
                <a:ea typeface="楷体_GB2312"/>
              </a:rPr>
              <a:t>"-"</a:t>
            </a:r>
            <a:r>
              <a:rPr lang="zh-CN" altLang="zh-CN" dirty="0">
                <a:latin typeface="楷体_GB2312"/>
                <a:ea typeface="楷体_GB2312"/>
              </a:rPr>
              <a:t>作为分隔符</a:t>
            </a:r>
            <a:endParaRPr lang="zh-CN" altLang="en-US" dirty="0">
              <a:latin typeface="楷体_GB2312"/>
              <a:ea typeface="楷体_GB231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83113" y="2168525"/>
            <a:ext cx="15544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>
              <a:buSzTx/>
            </a:pPr>
            <a:r>
              <a:rPr lang="zh-CN" altLang="en-US" dirty="0">
                <a:latin typeface="楷体_GB2312"/>
                <a:ea typeface="楷体_GB2312"/>
              </a:rPr>
              <a:t>待分隔字符串</a:t>
            </a:r>
            <a:endParaRPr lang="zh-CN" altLang="en-US" dirty="0">
              <a:latin typeface="楷体_GB2312"/>
              <a:ea typeface="楷体_GB2312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>
            <a:off x="4872038" y="1601788"/>
            <a:ext cx="496888" cy="60325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9191625" y="1557338"/>
            <a:ext cx="223838" cy="60325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9963" y="3068638"/>
            <a:ext cx="7064375" cy="2520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右箭头 11">
            <a:hlinkClick r:id="rId3" action="ppaction://hlinksldjump"/>
          </p:cNvPr>
          <p:cNvSpPr/>
          <p:nvPr/>
        </p:nvSpPr>
        <p:spPr>
          <a:xfrm>
            <a:off x="9677400" y="6019800"/>
            <a:ext cx="838200" cy="609600"/>
          </a:xfrm>
          <a:prstGeom prst="rightArrow">
            <a:avLst/>
          </a:prstGeom>
          <a:solidFill>
            <a:srgbClr val="99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2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URL</a:t>
            </a: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操作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40962" name="内容占位符 2"/>
          <p:cNvSpPr>
            <a:spLocks noGrp="1"/>
          </p:cNvSpPr>
          <p:nvPr>
            <p:ph idx="1"/>
          </p:nvPr>
        </p:nvSpPr>
        <p:spPr>
          <a:xfrm>
            <a:off x="1524000" y="1135063"/>
            <a:ext cx="8609013" cy="5113337"/>
          </a:xfrm>
        </p:spPr>
        <p:txBody>
          <a:bodyPr vert="horz" wrap="square" lIns="91440" tIns="45720" rIns="91440" bIns="45720" anchor="t"/>
          <a:p>
            <a:r>
              <a:rPr lang="en-US" altLang="zh-CN" dirty="0"/>
              <a:t>&lt;c:import&gt;</a:t>
            </a:r>
            <a:endParaRPr lang="en-US" altLang="zh-CN" dirty="0"/>
          </a:p>
          <a:p>
            <a:pPr lvl="1"/>
            <a:r>
              <a:rPr lang="zh-CN" altLang="zh-CN" dirty="0"/>
              <a:t>包含文件</a:t>
            </a:r>
            <a:r>
              <a:rPr lang="en-US" altLang="zh-CN" dirty="0"/>
              <a:t>(</a:t>
            </a:r>
            <a:r>
              <a:rPr lang="zh-CN" altLang="en-US" dirty="0"/>
              <a:t>静态或动态</a:t>
            </a:r>
            <a:r>
              <a:rPr lang="en-US" altLang="zh-CN" dirty="0"/>
              <a:t>)</a:t>
            </a:r>
            <a:endParaRPr lang="en-US" altLang="zh-CN" dirty="0"/>
          </a:p>
          <a:p>
            <a:r>
              <a:rPr lang="en-US" altLang="zh-CN" dirty="0"/>
              <a:t>&lt;c:redirect&gt;</a:t>
            </a:r>
            <a:endParaRPr lang="en-US" altLang="zh-CN" dirty="0"/>
          </a:p>
          <a:p>
            <a:pPr lvl="1"/>
            <a:r>
              <a:rPr lang="zh-CN" altLang="zh-CN" dirty="0"/>
              <a:t>重定向</a:t>
            </a:r>
            <a:endParaRPr lang="en-US" altLang="zh-CN" dirty="0"/>
          </a:p>
          <a:p>
            <a:r>
              <a:rPr lang="en-US" altLang="zh-CN" dirty="0"/>
              <a:t>&lt;c:url&gt;</a:t>
            </a:r>
            <a:endParaRPr lang="en-US" altLang="zh-CN" dirty="0"/>
          </a:p>
          <a:p>
            <a:pPr lvl="1"/>
            <a:r>
              <a:rPr lang="zh-CN" altLang="zh-CN" dirty="0"/>
              <a:t>引入</a:t>
            </a:r>
            <a:r>
              <a:rPr lang="en-US" altLang="zh-CN" dirty="0"/>
              <a:t>URL</a:t>
            </a:r>
            <a:endParaRPr lang="en-US" altLang="zh-CN" dirty="0"/>
          </a:p>
          <a:p>
            <a:r>
              <a:rPr lang="en-US" altLang="zh-CN" dirty="0"/>
              <a:t>&lt;c:param&gt;</a:t>
            </a:r>
            <a:endParaRPr lang="en-US" altLang="zh-CN" dirty="0"/>
          </a:p>
          <a:p>
            <a:pPr lvl="1"/>
            <a:r>
              <a:rPr lang="zh-CN" altLang="zh-CN" dirty="0"/>
              <a:t>配合传递参数</a:t>
            </a:r>
            <a:endParaRPr lang="zh-CN" altLang="en-US" dirty="0"/>
          </a:p>
        </p:txBody>
      </p:sp>
      <p:sp>
        <p:nvSpPr>
          <p:cNvPr id="40963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600200" y="6437313"/>
            <a:ext cx="533400" cy="268287"/>
          </a:xfrm>
        </p:spPr>
        <p:txBody>
          <a:bodyPr wrap="square" lIns="91440" tIns="45720" rIns="91440" bIns="4572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楷体_GB2312"/>
                <a:ea typeface="楷体_GB231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5pPr>
          </a:lstStyle>
          <a:p>
            <a:pPr lvl="0">
              <a:buSzTx/>
            </a:pPr>
            <a:fld id="{9A0DB2DC-4C9A-4742-B13C-FB6460FD3503}" type="slidenum">
              <a: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fld>
            <a:endParaRPr lang="zh-CN" altLang="en-US" sz="14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&lt;</a:t>
            </a:r>
            <a:r>
              <a:rPr kumimoji="0" lang="en-US" altLang="zh-CN" sz="48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c:import</a:t>
            </a:r>
            <a:r>
              <a:rPr kumimoji="0" lang="en-US" altLang="zh-CN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&gt;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41986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p>
            <a:r>
              <a:rPr lang="en-US" altLang="zh-CN" dirty="0"/>
              <a:t>&lt;c:import&gt;</a:t>
            </a:r>
            <a:r>
              <a:rPr lang="zh-CN" altLang="zh-CN" dirty="0"/>
              <a:t>与</a:t>
            </a:r>
            <a:r>
              <a:rPr lang="en-US" altLang="zh-CN" dirty="0"/>
              <a:t>&lt;jsp:include&gt;</a:t>
            </a:r>
            <a:r>
              <a:rPr lang="zh-CN" altLang="zh-CN" dirty="0"/>
              <a:t>类似，但是比</a:t>
            </a:r>
            <a:r>
              <a:rPr lang="en-US" altLang="zh-CN" dirty="0"/>
              <a:t>&lt;jsp:include&gt;</a:t>
            </a:r>
            <a:r>
              <a:rPr lang="zh-CN" altLang="zh-CN" dirty="0"/>
              <a:t>功能更强大</a:t>
            </a:r>
            <a:endParaRPr lang="en-US" altLang="zh-CN" dirty="0"/>
          </a:p>
          <a:p>
            <a:pPr lvl="1"/>
            <a:r>
              <a:rPr lang="en-US" altLang="zh-CN" dirty="0"/>
              <a:t>&lt;jsp:include&gt;</a:t>
            </a:r>
            <a:r>
              <a:rPr lang="zh-CN" altLang="en-US" dirty="0"/>
              <a:t>只能包含</a:t>
            </a:r>
            <a:r>
              <a:rPr lang="zh-CN" altLang="zh-CN" dirty="0"/>
              <a:t>同一个</a:t>
            </a:r>
            <a:r>
              <a:rPr lang="en-US" altLang="zh-CN" dirty="0"/>
              <a:t>Web</a:t>
            </a:r>
            <a:r>
              <a:rPr lang="zh-CN" altLang="zh-CN" dirty="0"/>
              <a:t>应用下的文件</a:t>
            </a:r>
            <a:endParaRPr lang="en-US" altLang="zh-CN" dirty="0"/>
          </a:p>
          <a:p>
            <a:pPr lvl="1"/>
            <a:r>
              <a:rPr lang="en-US" altLang="zh-CN" dirty="0"/>
              <a:t>&lt;c:import&gt;</a:t>
            </a:r>
            <a:r>
              <a:rPr lang="zh-CN" altLang="zh-CN" dirty="0"/>
              <a:t>还能包含不同</a:t>
            </a:r>
            <a:r>
              <a:rPr lang="en-US" altLang="zh-CN" dirty="0"/>
              <a:t>Web</a:t>
            </a:r>
            <a:r>
              <a:rPr lang="zh-CN" altLang="zh-CN" dirty="0"/>
              <a:t>应用下的文件</a:t>
            </a:r>
            <a:endParaRPr lang="zh-CN" altLang="en-US" dirty="0"/>
          </a:p>
        </p:txBody>
      </p:sp>
      <p:sp>
        <p:nvSpPr>
          <p:cNvPr id="41987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600200" y="6437313"/>
            <a:ext cx="533400" cy="268287"/>
          </a:xfrm>
        </p:spPr>
        <p:txBody>
          <a:bodyPr wrap="square" lIns="91440" tIns="45720" rIns="91440" bIns="4572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楷体_GB2312"/>
                <a:ea typeface="楷体_GB231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5pPr>
          </a:lstStyle>
          <a:p>
            <a:pPr lvl="0">
              <a:buSzTx/>
            </a:pPr>
            <a:fld id="{9A0DB2DC-4C9A-4742-B13C-FB6460FD3503}" type="slidenum">
              <a: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fld>
            <a:endParaRPr lang="zh-CN" altLang="en-US" sz="14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&lt;</a:t>
            </a:r>
            <a:r>
              <a:rPr kumimoji="0" lang="en-US" altLang="zh-CN" sz="48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c:import</a:t>
            </a:r>
            <a:r>
              <a:rPr kumimoji="0" lang="en-US" altLang="zh-CN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&gt;</a:t>
            </a: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属性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43010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600200" y="6437313"/>
            <a:ext cx="533400" cy="268287"/>
          </a:xfrm>
        </p:spPr>
        <p:txBody>
          <a:bodyPr wrap="square" lIns="91440" tIns="45720" rIns="91440" bIns="4572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楷体_GB2312"/>
                <a:ea typeface="楷体_GB231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5pPr>
          </a:lstStyle>
          <a:p>
            <a:pPr lvl="0">
              <a:buSzTx/>
            </a:pPr>
            <a:fld id="{9A0DB2DC-4C9A-4742-B13C-FB6460FD3503}" type="slidenum">
              <a: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fld>
            <a:endParaRPr lang="zh-CN" altLang="en-US" sz="14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43011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163" y="1341438"/>
            <a:ext cx="8828087" cy="36004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3012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525" y="5219700"/>
            <a:ext cx="8923338" cy="863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&lt;</a:t>
            </a:r>
            <a:r>
              <a:rPr kumimoji="0" lang="en-US" altLang="zh-CN" sz="4800" b="1" i="0" u="none" strike="noStrike" kern="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c:redirect</a:t>
            </a:r>
            <a:r>
              <a:rPr kumimoji="0" lang="en-US" altLang="zh-CN" sz="4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&gt;</a:t>
            </a:r>
            <a:endParaRPr kumimoji="0" lang="en-US" altLang="zh-CN" sz="4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44034" name="内容占位符 2"/>
          <p:cNvSpPr>
            <a:spLocks noGrp="1"/>
          </p:cNvSpPr>
          <p:nvPr>
            <p:ph idx="1"/>
          </p:nvPr>
        </p:nvSpPr>
        <p:spPr>
          <a:xfrm>
            <a:off x="613410" y="1252855"/>
            <a:ext cx="9438005" cy="709295"/>
          </a:xfrm>
        </p:spPr>
        <p:txBody>
          <a:bodyPr vert="horz" wrap="square" lIns="91440" tIns="45720" rIns="91440" bIns="45720" anchor="t"/>
          <a:p>
            <a:r>
              <a:rPr lang="zh-CN" altLang="en-US" dirty="0"/>
              <a:t>用于将客户请求重定向到另一个资源</a:t>
            </a:r>
            <a:endParaRPr lang="zh-CN" altLang="en-US" dirty="0"/>
          </a:p>
        </p:txBody>
      </p:sp>
      <p:sp>
        <p:nvSpPr>
          <p:cNvPr id="44035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600200" y="6437313"/>
            <a:ext cx="533400" cy="268287"/>
          </a:xfrm>
        </p:spPr>
        <p:txBody>
          <a:bodyPr wrap="square" lIns="91440" tIns="45720" rIns="91440" bIns="4572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楷体_GB2312"/>
                <a:ea typeface="楷体_GB231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5pPr>
          </a:lstStyle>
          <a:p>
            <a:pPr lvl="0">
              <a:buSzTx/>
            </a:pPr>
            <a:fld id="{9A0DB2DC-4C9A-4742-B13C-FB6460FD3503}" type="slidenum">
              <a: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fld>
            <a:endParaRPr lang="zh-CN" altLang="en-US" sz="14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102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1950" y="2187575"/>
            <a:ext cx="8951913" cy="24653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7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950" y="4838700"/>
            <a:ext cx="8801100" cy="16557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&lt;</a:t>
            </a:r>
            <a:r>
              <a:rPr kumimoji="0" lang="en-US" altLang="zh-CN" sz="4800" b="1" i="0" u="none" strike="noStrike" kern="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c:url</a:t>
            </a:r>
            <a:r>
              <a:rPr kumimoji="0" lang="en-US" altLang="zh-CN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&gt;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46082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p>
            <a:r>
              <a:rPr lang="zh-CN" altLang="en-US" dirty="0"/>
              <a:t>一个</a:t>
            </a:r>
            <a:r>
              <a:rPr lang="en-US" altLang="zh-CN" dirty="0"/>
              <a:t>URL</a:t>
            </a:r>
            <a:r>
              <a:rPr lang="zh-CN" altLang="en-US" dirty="0"/>
              <a:t>地址格式化为一个字符串，并且保存在一个变量当中</a:t>
            </a:r>
            <a:endParaRPr lang="zh-CN" altLang="en-US" dirty="0"/>
          </a:p>
        </p:txBody>
      </p:sp>
      <p:sp>
        <p:nvSpPr>
          <p:cNvPr id="46083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600200" y="6437313"/>
            <a:ext cx="533400" cy="268287"/>
          </a:xfrm>
        </p:spPr>
        <p:txBody>
          <a:bodyPr wrap="square" lIns="91440" tIns="45720" rIns="91440" bIns="4572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楷体_GB2312"/>
                <a:ea typeface="楷体_GB231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5pPr>
          </a:lstStyle>
          <a:p>
            <a:pPr lvl="0">
              <a:buSzTx/>
            </a:pPr>
            <a:fld id="{9A0DB2DC-4C9A-4742-B13C-FB6460FD3503}" type="slidenum">
              <a: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fld>
            <a:endParaRPr lang="zh-CN" altLang="en-US" sz="14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2050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1950" y="2420938"/>
            <a:ext cx="8888413" cy="23764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&lt;</a:t>
            </a:r>
            <a:r>
              <a:rPr kumimoji="0" lang="en-US" altLang="zh-CN" sz="4800" b="1" i="0" u="none" strike="noStrike" kern="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c:url</a:t>
            </a:r>
            <a:r>
              <a:rPr kumimoji="0" lang="en-US" altLang="zh-CN" sz="4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&gt;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47106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600200" y="6437313"/>
            <a:ext cx="533400" cy="268287"/>
          </a:xfrm>
        </p:spPr>
        <p:txBody>
          <a:bodyPr wrap="square" lIns="91440" tIns="45720" rIns="91440" bIns="4572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楷体_GB2312"/>
                <a:ea typeface="楷体_GB231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5pPr>
          </a:lstStyle>
          <a:p>
            <a:pPr lvl="0">
              <a:buSzTx/>
            </a:pPr>
            <a:fld id="{9A0DB2DC-4C9A-4742-B13C-FB6460FD3503}" type="slidenum">
              <a: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fld>
            <a:endParaRPr lang="zh-CN" altLang="en-US" sz="14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47107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3388" y="1916113"/>
            <a:ext cx="8774112" cy="2808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右箭头 5">
            <a:hlinkClick r:id="rId2" action="ppaction://hlinksldjump"/>
          </p:cNvPr>
          <p:cNvSpPr/>
          <p:nvPr/>
        </p:nvSpPr>
        <p:spPr>
          <a:xfrm>
            <a:off x="9677400" y="6019800"/>
            <a:ext cx="838200" cy="609600"/>
          </a:xfrm>
          <a:prstGeom prst="rightArrow">
            <a:avLst/>
          </a:prstGeom>
          <a:solidFill>
            <a:srgbClr val="99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小结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631950" y="1135063"/>
            <a:ext cx="8785225" cy="51133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Monotype Sorts" pitchFamily="2" charset="2"/>
              <a:buChar char="ª"/>
              <a:defRPr/>
            </a:pP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表达式操作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660066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&lt;</a:t>
            </a:r>
            <a:r>
              <a:rPr kumimoji="0" lang="en-US" altLang="zh-CN" sz="28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c:out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&gt; &lt;</a:t>
            </a:r>
            <a:r>
              <a:rPr kumimoji="0" lang="en-US" altLang="zh-CN" sz="28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c:set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&gt; &lt;</a:t>
            </a:r>
            <a:r>
              <a:rPr kumimoji="0" lang="en-US" altLang="zh-CN" sz="28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c:remove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&gt;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 &lt;</a:t>
            </a:r>
            <a:r>
              <a:rPr kumimoji="0" lang="en-US" altLang="zh-CN" sz="28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c:catch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&gt;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660066"/>
              </a:solidFill>
              <a:effectLst/>
              <a:uLnTx/>
              <a:uFillTx/>
              <a:latin typeface="+mn-lt"/>
              <a:ea typeface="+mn-ea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Monotype Sorts" pitchFamily="2" charset="2"/>
              <a:buChar char="ª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流程控制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操作</a:t>
            </a:r>
            <a:endParaRPr kumimoji="0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660066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&lt;</a:t>
            </a:r>
            <a:r>
              <a:rPr kumimoji="0" lang="en-US" altLang="zh-CN" sz="28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c:if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&gt;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&lt;</a:t>
            </a:r>
            <a:r>
              <a:rPr kumimoji="0" lang="en-US" altLang="zh-CN" sz="28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c:choose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&gt; &lt;</a:t>
            </a:r>
            <a:r>
              <a:rPr kumimoji="0" lang="en-US" altLang="zh-CN" sz="28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c:when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&gt; &lt;</a:t>
            </a:r>
            <a:r>
              <a:rPr kumimoji="0" lang="en-US" altLang="zh-CN" sz="28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c:otherwise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&gt;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660066"/>
              </a:solidFill>
              <a:effectLst/>
              <a:uLnTx/>
              <a:uFillTx/>
              <a:latin typeface="+mn-lt"/>
              <a:ea typeface="+mn-ea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Monotype Sorts" pitchFamily="2" charset="2"/>
              <a:buChar char="ª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迭代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操作</a:t>
            </a:r>
            <a:endParaRPr kumimoji="0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660066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&lt;</a:t>
            </a:r>
            <a:r>
              <a:rPr kumimoji="0" lang="en-US" altLang="zh-CN" sz="28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c:forEach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&gt; &lt;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c:</a:t>
            </a:r>
            <a:r>
              <a:rPr kumimoji="0" lang="en-US" altLang="zh-CN" sz="28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forTokens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&gt;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660066"/>
              </a:solidFill>
              <a:effectLst/>
              <a:uLnTx/>
              <a:uFillTx/>
              <a:latin typeface="+mn-lt"/>
              <a:ea typeface="+mn-ea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Monotype Sorts" pitchFamily="2" charset="2"/>
              <a:buChar char="ª"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URL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操作</a:t>
            </a:r>
            <a:endParaRPr kumimoji="0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660066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&lt;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c:</a:t>
            </a:r>
            <a:r>
              <a:rPr kumimoji="0" lang="en-US" altLang="zh-CN" sz="28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import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&gt; &lt;</a:t>
            </a:r>
            <a:r>
              <a:rPr kumimoji="0" lang="en-US" altLang="zh-CN" sz="28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c:redirect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&gt; &lt;</a:t>
            </a:r>
            <a:r>
              <a:rPr kumimoji="0" lang="en-US" altLang="zh-CN" sz="28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c:param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&gt; &lt;</a:t>
            </a:r>
            <a:r>
              <a:rPr kumimoji="0" lang="en-US" altLang="zh-CN" sz="28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c:url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&gt;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660066"/>
              </a:solidFill>
              <a:effectLst/>
              <a:uLnTx/>
              <a:uFillTx/>
              <a:latin typeface="+mn-lt"/>
              <a:ea typeface="+mn-ea"/>
              <a:cs typeface="楷体_GB231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Monotype Sorts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楷体_GB2312"/>
            </a:endParaRPr>
          </a:p>
        </p:txBody>
      </p:sp>
      <p:sp>
        <p:nvSpPr>
          <p:cNvPr id="48131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600200" y="6437313"/>
            <a:ext cx="533400" cy="268287"/>
          </a:xfrm>
        </p:spPr>
        <p:txBody>
          <a:bodyPr wrap="square" lIns="91440" tIns="45720" rIns="91440" bIns="4572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楷体_GB2312"/>
                <a:ea typeface="楷体_GB231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楷体_GB2312"/>
                <a:ea typeface="楷体_GB2312"/>
                <a:cs typeface="+mn-cs"/>
              </a:defRPr>
            </a:lvl5pPr>
          </a:lstStyle>
          <a:p>
            <a:pPr lvl="0">
              <a:buSzTx/>
            </a:pPr>
            <a:fld id="{9A0DB2DC-4C9A-4742-B13C-FB6460FD3503}" type="slidenum">
              <a: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fld>
            <a:endParaRPr lang="zh-CN" altLang="en-US" sz="14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" name="右箭头 4">
            <a:hlinkClick r:id="rId2" action="ppaction://hlinksldjump"/>
          </p:cNvPr>
          <p:cNvSpPr/>
          <p:nvPr/>
        </p:nvSpPr>
        <p:spPr>
          <a:xfrm>
            <a:off x="9677400" y="6019800"/>
            <a:ext cx="838200" cy="609600"/>
          </a:xfrm>
          <a:prstGeom prst="rightArrow">
            <a:avLst/>
          </a:prstGeom>
          <a:solidFill>
            <a:srgbClr val="99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tags/tag1.xml><?xml version="1.0" encoding="utf-8"?>
<p:tagLst xmlns:p="http://schemas.openxmlformats.org/presentationml/2006/main">
  <p:tag name="COMMONDATA" val="eyJoZGlkIjoiYmFjNWZhYmVmMzg4Mzg4NGQ0MmIwMjFlNjJhNDU3MDQifQ=="/>
</p:tagLst>
</file>

<file path=ppt/theme/theme1.xml><?xml version="1.0" encoding="utf-8"?>
<a:theme xmlns:a="http://schemas.openxmlformats.org/drawingml/2006/main" name="数据库原理及应用">
  <a:themeElements>
    <a:clrScheme name="数据库原理及应用 7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CCCC"/>
      </a:accent1>
      <a:accent2>
        <a:srgbClr val="990000"/>
      </a:accent2>
      <a:accent3>
        <a:srgbClr val="E2F4FF"/>
      </a:accent3>
      <a:accent4>
        <a:srgbClr val="000000"/>
      </a:accent4>
      <a:accent5>
        <a:srgbClr val="FFE2E2"/>
      </a:accent5>
      <a:accent6>
        <a:srgbClr val="8A0000"/>
      </a:accent6>
      <a:hlink>
        <a:srgbClr val="660066"/>
      </a:hlink>
      <a:folHlink>
        <a:srgbClr val="000099"/>
      </a:folHlink>
    </a:clrScheme>
    <a:fontScheme name="数据库原理及应用">
      <a:majorFont>
        <a:latin typeface="隶书"/>
        <a:ea typeface="隶书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数据库原理及应用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4">
        <a:dk1>
          <a:srgbClr val="000000"/>
        </a:dk1>
        <a:lt1>
          <a:srgbClr val="CCECFF"/>
        </a:lt1>
        <a:dk2>
          <a:srgbClr val="CC3300"/>
        </a:dk2>
        <a:lt2>
          <a:srgbClr val="666699"/>
        </a:lt2>
        <a:accent1>
          <a:srgbClr val="FFCCCC"/>
        </a:accent1>
        <a:accent2>
          <a:srgbClr val="990000"/>
        </a:accent2>
        <a:accent3>
          <a:srgbClr val="E2F4FF"/>
        </a:accent3>
        <a:accent4>
          <a:srgbClr val="000000"/>
        </a:accent4>
        <a:accent5>
          <a:srgbClr val="FFE2E2"/>
        </a:accent5>
        <a:accent6>
          <a:srgbClr val="8A0000"/>
        </a:accent6>
        <a:hlink>
          <a:srgbClr val="990000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5">
        <a:dk1>
          <a:srgbClr val="000000"/>
        </a:dk1>
        <a:lt1>
          <a:srgbClr val="CCECFF"/>
        </a:lt1>
        <a:dk2>
          <a:srgbClr val="CC3300"/>
        </a:dk2>
        <a:lt2>
          <a:srgbClr val="666699"/>
        </a:lt2>
        <a:accent1>
          <a:srgbClr val="FFCCCC"/>
        </a:accent1>
        <a:accent2>
          <a:srgbClr val="990000"/>
        </a:accent2>
        <a:accent3>
          <a:srgbClr val="E2F4FF"/>
        </a:accent3>
        <a:accent4>
          <a:srgbClr val="000000"/>
        </a:accent4>
        <a:accent5>
          <a:srgbClr val="FFE2E2"/>
        </a:accent5>
        <a:accent6>
          <a:srgbClr val="8A0000"/>
        </a:accent6>
        <a:hlink>
          <a:srgbClr val="003300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6">
        <a:dk1>
          <a:srgbClr val="000000"/>
        </a:dk1>
        <a:lt1>
          <a:srgbClr val="CCECFF"/>
        </a:lt1>
        <a:dk2>
          <a:srgbClr val="CC3300"/>
        </a:dk2>
        <a:lt2>
          <a:srgbClr val="666699"/>
        </a:lt2>
        <a:accent1>
          <a:srgbClr val="FFCCCC"/>
        </a:accent1>
        <a:accent2>
          <a:srgbClr val="990000"/>
        </a:accent2>
        <a:accent3>
          <a:srgbClr val="E2F4FF"/>
        </a:accent3>
        <a:accent4>
          <a:srgbClr val="000000"/>
        </a:accent4>
        <a:accent5>
          <a:srgbClr val="FFE2E2"/>
        </a:accent5>
        <a:accent6>
          <a:srgbClr val="8A0000"/>
        </a:accent6>
        <a:hlink>
          <a:srgbClr val="FF9900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7">
        <a:dk1>
          <a:srgbClr val="000000"/>
        </a:dk1>
        <a:lt1>
          <a:srgbClr val="CCECFF"/>
        </a:lt1>
        <a:dk2>
          <a:srgbClr val="CC3300"/>
        </a:dk2>
        <a:lt2>
          <a:srgbClr val="666699"/>
        </a:lt2>
        <a:accent1>
          <a:srgbClr val="FFCCCC"/>
        </a:accent1>
        <a:accent2>
          <a:srgbClr val="990000"/>
        </a:accent2>
        <a:accent3>
          <a:srgbClr val="E2F4FF"/>
        </a:accent3>
        <a:accent4>
          <a:srgbClr val="000000"/>
        </a:accent4>
        <a:accent5>
          <a:srgbClr val="FFE2E2"/>
        </a:accent5>
        <a:accent6>
          <a:srgbClr val="8A0000"/>
        </a:accent6>
        <a:hlink>
          <a:srgbClr val="660066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2878</Words>
  <Application>WPS 演示</Application>
  <PresentationFormat>全屏显示(4:3)</PresentationFormat>
  <Paragraphs>260</Paragraphs>
  <Slides>29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7" baseType="lpstr">
      <vt:lpstr>Arial</vt:lpstr>
      <vt:lpstr>宋体</vt:lpstr>
      <vt:lpstr>Wingdings</vt:lpstr>
      <vt:lpstr>楷体_GB2312</vt:lpstr>
      <vt:lpstr>新宋体</vt:lpstr>
      <vt:lpstr>Tahoma</vt:lpstr>
      <vt:lpstr>Times New Roman</vt:lpstr>
      <vt:lpstr>华文新魏</vt:lpstr>
      <vt:lpstr>隶书</vt:lpstr>
      <vt:lpstr>Monotype Sorts</vt:lpstr>
      <vt:lpstr>Wingdings</vt:lpstr>
      <vt:lpstr>Monotype Sorts</vt:lpstr>
      <vt:lpstr>华文楷体</vt:lpstr>
      <vt:lpstr>Calibri</vt:lpstr>
      <vt:lpstr>微软雅黑</vt:lpstr>
      <vt:lpstr>Arial Unicode MS</vt:lpstr>
      <vt:lpstr>楷体_GB2312</vt:lpstr>
      <vt:lpstr>数据库原理及应用</vt:lpstr>
      <vt:lpstr>PowerPoint 演示文稿</vt:lpstr>
      <vt:lpstr>JSTL简介</vt:lpstr>
      <vt:lpstr>主要内容</vt:lpstr>
      <vt:lpstr>核心标签库</vt:lpstr>
      <vt:lpstr>表达式操作</vt:lpstr>
      <vt:lpstr>c:out</vt:lpstr>
      <vt:lpstr>特殊字符对应的实体代码</vt:lpstr>
      <vt:lpstr>c:out示例</vt:lpstr>
      <vt:lpstr>c:set</vt:lpstr>
      <vt:lpstr>c:set示例</vt:lpstr>
      <vt:lpstr>c:remove</vt:lpstr>
      <vt:lpstr>c:catch</vt:lpstr>
      <vt:lpstr>流程控制操作</vt:lpstr>
      <vt:lpstr>c:if</vt:lpstr>
      <vt:lpstr>c:if示例</vt:lpstr>
      <vt:lpstr>c:if示例</vt:lpstr>
      <vt:lpstr>&lt;c:choose&gt;/&lt;c:when&gt;/&lt;c:otherwise&gt;</vt:lpstr>
      <vt:lpstr>迭代操作</vt:lpstr>
      <vt:lpstr>&lt;c:forEach&gt;</vt:lpstr>
      <vt:lpstr>&lt;c:forEach&gt;其它属性</vt:lpstr>
      <vt:lpstr>varStatus的4个属性</vt:lpstr>
      <vt:lpstr>&lt;c:forTokens&gt;</vt:lpstr>
      <vt:lpstr>URL操作</vt:lpstr>
      <vt:lpstr>&lt;c:import&gt;</vt:lpstr>
      <vt:lpstr>&lt;c:import&gt;属性</vt:lpstr>
      <vt:lpstr>&lt;c:redirect&gt;</vt:lpstr>
      <vt:lpstr>&lt;c:url&gt;</vt:lpstr>
      <vt:lpstr>&lt;c:url&gt;</vt:lpstr>
      <vt:lpstr>小结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wxh</dc:creator>
  <cp:lastModifiedBy>wxh</cp:lastModifiedBy>
  <cp:revision>285</cp:revision>
  <dcterms:created xsi:type="dcterms:W3CDTF">2015-08-20T09:33:00Z</dcterms:created>
  <dcterms:modified xsi:type="dcterms:W3CDTF">2023-10-23T03:06:36Z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DA867B497DC34FC9BE697730C3DE35C3</vt:lpwstr>
  </property>
</Properties>
</file>