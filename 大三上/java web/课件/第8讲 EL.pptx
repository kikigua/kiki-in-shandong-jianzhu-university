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301" r:id="rId6"/>
    <p:sldId id="259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00" r:id="rId19"/>
  </p:sldIdLst>
  <p:sldSz cx="12192000" cy="6858000"/>
  <p:notesSz cx="6858000" cy="9144000"/>
  <p:custDataLst>
    <p:tags r:id="rId23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955"/>
    <p:restoredTop sz="81400"/>
  </p:normalViewPr>
  <p:slideViewPr>
    <p:cSldViewPr showGuides="1">
      <p:cViewPr varScale="1">
        <p:scale>
          <a:sx n="65" d="100"/>
          <a:sy n="65" d="100"/>
        </p:scale>
        <p:origin x="-1272" y="-68"/>
      </p:cViewPr>
      <p:guideLst>
        <p:guide orient="horz" pos="2170"/>
        <p:guide pos="38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gs" Target="tags/tag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8BCB2F9-6797-471C-ADF5-4B2BFBE148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843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843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algn="r"/>
            <a:fld id="{9A0DB2DC-4C9A-4742-B13C-FB6460FD3503}" type="slidenum"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若表达式为</a:t>
            </a:r>
            <a:r>
              <a:rPr lang="en-US" altLang="zh-CN" dirty="0"/>
              <a:t>null</a:t>
            </a:r>
            <a:r>
              <a:rPr lang="zh-CN" altLang="en-US" dirty="0"/>
              <a:t>，则显示为空白</a:t>
            </a:r>
            <a:r>
              <a:rPr lang="en-US" altLang="zh-CN" dirty="0"/>
              <a:t>(EL</a:t>
            </a:r>
            <a:r>
              <a:rPr lang="zh-CN" altLang="en-US" dirty="0"/>
              <a:t>自动转换</a:t>
            </a:r>
            <a:r>
              <a:rPr lang="en-US" altLang="zh-CN" dirty="0"/>
              <a:t>)</a:t>
            </a:r>
            <a:endParaRPr lang="en-US" altLang="zh-CN" dirty="0"/>
          </a:p>
          <a:p>
            <a:pPr lvl="0" eaLnBrk="1" hangingPunct="1">
              <a:spcBef>
                <a:spcPct val="0"/>
              </a:spcBef>
            </a:pPr>
            <a:endParaRPr lang="en-US" altLang="zh-CN" dirty="0"/>
          </a:p>
          <a:p>
            <a:pPr lvl="0" eaLnBrk="1" hangingPunct="1">
              <a:spcBef>
                <a:spcPct val="0"/>
              </a:spcBef>
            </a:pPr>
            <a:r>
              <a:rPr lang="en-US" altLang="zh-CN" dirty="0"/>
              <a:t>EL</a:t>
            </a:r>
            <a:r>
              <a:rPr lang="zh-CN" altLang="en-US" dirty="0"/>
              <a:t>按照</a:t>
            </a:r>
            <a:r>
              <a:rPr lang="en-US" altLang="zh-CN" dirty="0"/>
              <a:t>page</a:t>
            </a:r>
            <a:r>
              <a:rPr lang="zh-CN" altLang="en-US" dirty="0"/>
              <a:t>、</a:t>
            </a:r>
            <a:r>
              <a:rPr lang="en-US" altLang="zh-CN" dirty="0"/>
              <a:t>request</a:t>
            </a:r>
            <a:r>
              <a:rPr lang="zh-CN" altLang="en-US" dirty="0"/>
              <a:t>、</a:t>
            </a:r>
            <a:r>
              <a:rPr lang="en-US" altLang="zh-CN" dirty="0"/>
              <a:t>session</a:t>
            </a:r>
            <a:r>
              <a:rPr lang="zh-CN" altLang="en-US" dirty="0"/>
              <a:t>、</a:t>
            </a:r>
            <a:r>
              <a:rPr lang="en-US" altLang="zh-CN" dirty="0"/>
              <a:t>application</a:t>
            </a:r>
            <a:r>
              <a:rPr lang="zh-CN" altLang="en-US" dirty="0"/>
              <a:t>的范围找</a:t>
            </a:r>
            <a:r>
              <a:rPr lang="en-US" altLang="zh-CN" dirty="0"/>
              <a:t>user</a:t>
            </a:r>
            <a:r>
              <a:rPr lang="zh-CN" altLang="en-US" dirty="0"/>
              <a:t>对象</a:t>
            </a:r>
            <a:endParaRPr lang="zh-CN" altLang="en-US" dirty="0"/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algn="r"/>
            <a:fld id="{9A0DB2DC-4C9A-4742-B13C-FB6460FD3503}" type="slidenum">
              <a:rPr lang="zh-CN" altLang="en-US" sz="18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8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277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r>
              <a:rPr lang="zh-CN" altLang="en-US" dirty="0"/>
              <a:t>注意：</a:t>
            </a:r>
            <a:r>
              <a:rPr lang="en-US" altLang="zh-CN" dirty="0"/>
              <a:t>empty</a:t>
            </a:r>
            <a:r>
              <a:rPr lang="zh-CN" altLang="en-US" dirty="0"/>
              <a:t>判断是否为</a:t>
            </a:r>
            <a:r>
              <a:rPr lang="en-US" altLang="zh-CN" dirty="0"/>
              <a:t>null</a:t>
            </a:r>
            <a:r>
              <a:rPr lang="zh-CN" altLang="en-US" dirty="0"/>
              <a:t>或空字符串</a:t>
            </a:r>
            <a:endParaRPr lang="zh-CN" altLang="en-US" dirty="0"/>
          </a:p>
        </p:txBody>
      </p:sp>
      <p:sp>
        <p:nvSpPr>
          <p:cNvPr id="3277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标题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7625"/>
            <a:ext cx="12192000" cy="1190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>
            <a:lvl1pPr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36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5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gray">
          <a:xfrm>
            <a:off x="0" y="6308725"/>
            <a:ext cx="10079038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>
            <a:lvl1pPr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36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5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077" name="Group 9"/>
          <p:cNvGrpSpPr/>
          <p:nvPr/>
        </p:nvGrpSpPr>
        <p:grpSpPr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3078" name="Picture 10" descr="校标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5040" y="270"/>
              <a:ext cx="397" cy="4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079" name="Picture 11" descr="软件工程2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4800" y="-18"/>
              <a:ext cx="900" cy="546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3080" name="Picture 2" descr="标题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7625"/>
            <a:ext cx="12192000" cy="1190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>
            <a:lvl1pPr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36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5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gray">
          <a:xfrm>
            <a:off x="0" y="6308725"/>
            <a:ext cx="10079038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>
            <a:lvl1pPr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36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5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083" name="Group 9"/>
          <p:cNvGrpSpPr/>
          <p:nvPr/>
        </p:nvGrpSpPr>
        <p:grpSpPr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3084" name="Picture 10" descr="校标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5040" y="270"/>
              <a:ext cx="397" cy="4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085" name="Picture 11" descr="软件工程2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4800" y="-18"/>
              <a:ext cx="900" cy="54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044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556000" y="24384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 sz="4800">
                <a:solidFill>
                  <a:schemeClr val="accent2"/>
                </a:solidFill>
              </a:defRPr>
            </a:lvl1pPr>
          </a:lstStyle>
          <a:p>
            <a:pPr lvl="0" fontAlgn="base"/>
            <a:r>
              <a:rPr lang="en-US" altLang="zh-CN" strike="noStrike" noProof="0" dirty="0" smtClean="0"/>
              <a:t>Click to edit Master subtitle style</a:t>
            </a:r>
            <a:endParaRPr lang="en-US" altLang="zh-CN" strike="noStrike" noProof="0" dirty="0" smtClean="0"/>
          </a:p>
        </p:txBody>
      </p: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7600" y="152400"/>
            <a:ext cx="10401300" cy="874713"/>
          </a:xfrm>
        </p:spPr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fontAlgn="base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base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base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base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base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135063"/>
            <a:ext cx="5255684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20884" y="1135063"/>
            <a:ext cx="52578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83133" y="0"/>
            <a:ext cx="2738967" cy="62484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0"/>
            <a:ext cx="8017933" cy="6248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4584" y="214313"/>
            <a:ext cx="10390716" cy="146208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/>
              <a:buChar char="ª"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12" name="Rectangle 11"/>
          <p:cNvSpPr>
            <a:spLocks noGrp="1" noChangeArrowheads="1"/>
          </p:cNvSpPr>
          <p:nvPr>
            <p:ph type="dt" sz="half" idx="2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4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en-US" altLang="zh-CN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en-US" altLang="zh-CN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534584" y="214313"/>
            <a:ext cx="10405533" cy="59182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Rectangle 11"/>
          <p:cNvSpPr>
            <a:spLocks noGrp="1" noChangeArrowheads="1"/>
          </p:cNvSpPr>
          <p:nvPr>
            <p:ph type="dt" sz="half" idx="2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4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fontAlgn="base">
              <a:buNone/>
            </a:pPr>
            <a:fld id="{9A0DB2DC-4C9A-4742-B13C-FB6460FD3503}" type="slidenum">
              <a:rPr lang="en-US" altLang="zh-CN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en-US" altLang="zh-CN" strike="noStrike" noProof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image" Target="../media/image6.png"/><Relationship Id="rId18" Type="http://schemas.openxmlformats.org/officeDocument/2006/relationships/image" Target="../media/image5.png"/><Relationship Id="rId17" Type="http://schemas.openxmlformats.org/officeDocument/2006/relationships/image" Target="../media/image4.png"/><Relationship Id="rId16" Type="http://schemas.openxmlformats.org/officeDocument/2006/relationships/image" Target="../media/image3.png"/><Relationship Id="rId15" Type="http://schemas.openxmlformats.org/officeDocument/2006/relationships/image" Target="../media/image2.png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50" name="Picture 2" descr="标题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-47625"/>
            <a:ext cx="12192000" cy="1190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4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20800" y="0"/>
            <a:ext cx="10401300" cy="87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/>
            <a:endParaRPr lang="zh-CN" altLang="en-US" strike="noStrike" noProof="1" smtClean="0"/>
          </a:p>
        </p:txBody>
      </p:sp>
      <p:sp>
        <p:nvSpPr>
          <p:cNvPr id="2052" name="Rectangle 4"/>
          <p:cNvSpPr>
            <a:spLocks noGrp="1"/>
          </p:cNvSpPr>
          <p:nvPr>
            <p:ph type="body"/>
          </p:nvPr>
        </p:nvSpPr>
        <p:spPr>
          <a:xfrm>
            <a:off x="762000" y="1135063"/>
            <a:ext cx="10717213" cy="5113337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 indent="-285750"/>
            <a:r>
              <a:rPr lang="en-US" altLang="zh-CN" dirty="0"/>
              <a:t>Second level</a:t>
            </a:r>
            <a:endParaRPr lang="en-US" altLang="zh-CN" dirty="0"/>
          </a:p>
          <a:p>
            <a:pPr lvl="2" indent="-228600"/>
            <a:r>
              <a:rPr lang="en-US" altLang="zh-CN" dirty="0"/>
              <a:t>Third level</a:t>
            </a:r>
            <a:endParaRPr lang="en-US" altLang="zh-CN" dirty="0"/>
          </a:p>
          <a:p>
            <a:pPr lvl="3" indent="-228600"/>
            <a:r>
              <a:rPr lang="en-US" altLang="zh-CN" dirty="0"/>
              <a:t>Fourth level</a:t>
            </a:r>
            <a:endParaRPr lang="en-US" altLang="zh-CN" dirty="0"/>
          </a:p>
          <a:p>
            <a:pPr lvl="4" indent="-228600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>
            <a:lvl1pPr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36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5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gray">
          <a:xfrm>
            <a:off x="0" y="6308725"/>
            <a:ext cx="10079038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>
            <a:lvl1pPr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66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366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5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4488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 sz="1400" b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34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  <p:grpSp>
        <p:nvGrpSpPr>
          <p:cNvPr id="2057" name="Group 9"/>
          <p:cNvGrpSpPr/>
          <p:nvPr/>
        </p:nvGrpSpPr>
        <p:grpSpPr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2058" name="Picture 10" descr="校标"/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5040" y="270"/>
              <a:ext cx="397" cy="4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59" name="Picture 11" descr="软件工程2"/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4800" y="-18"/>
              <a:ext cx="900" cy="546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med">
    <p:fade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accent2"/>
        </a:buClr>
        <a:buSzPct val="90000"/>
        <a:buFont typeface="Monotype Sorts"/>
        <a:buChar char="ª"/>
        <a:defRPr sz="32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660066"/>
        </a:buClr>
        <a:buSzPct val="70000"/>
        <a:buFont typeface="Wingdings" panose="05000000000000000000" pitchFamily="2" charset="2"/>
        <a:buBlip>
          <a:blip r:embed="rId17"/>
        </a:buBlip>
        <a:defRPr sz="2800" b="1">
          <a:solidFill>
            <a:srgbClr val="660066"/>
          </a:solidFill>
          <a:latin typeface="+mn-lt"/>
          <a:ea typeface="+mn-ea"/>
          <a:cs typeface="楷体_GB2312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0000"/>
        <a:buFont typeface="Monotype Sorts"/>
        <a:buBlip>
          <a:blip r:embed="rId18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0000"/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2288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slide" Target="slide15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slide" Target="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43075" y="1295400"/>
            <a:ext cx="8696325" cy="495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 pitchFamily="2" charset="2"/>
              <a:buNone/>
              <a:defRPr/>
            </a:pPr>
            <a:endParaRPr kumimoji="0" lang="en-US" altLang="zh-CN" sz="4800" b="1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 pitchFamily="2" charset="2"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</a:t>
            </a:r>
            <a:r>
              <a: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8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讲</a:t>
            </a:r>
            <a:r>
              <a:rPr kumimoji="0" lang="zh-CN" altLang="en-US" sz="48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EL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（表达式语言）</a:t>
            </a:r>
            <a:endParaRPr kumimoji="0" lang="en-US" altLang="zh-CN" sz="4800" b="1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 pitchFamily="2" charset="2"/>
              <a:buNone/>
              <a:defRPr/>
            </a:pPr>
            <a:endParaRPr kumimoji="0" lang="zh-CN" altLang="en-US" sz="4400" b="1" i="1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EL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简介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19458" name="内容占位符 2"/>
          <p:cNvSpPr>
            <a:spLocks noGrp="1"/>
          </p:cNvSpPr>
          <p:nvPr>
            <p:ph idx="1"/>
          </p:nvPr>
        </p:nvSpPr>
        <p:spPr>
          <a:xfrm>
            <a:off x="393700" y="1196975"/>
            <a:ext cx="11125200" cy="5113338"/>
          </a:xfrm>
        </p:spPr>
        <p:txBody>
          <a:bodyPr vert="horz" wrap="square" lIns="91440" tIns="45720" rIns="91440" bIns="45720" anchor="t"/>
          <a:p>
            <a:r>
              <a:rPr lang="en-US" altLang="zh-CN" dirty="0"/>
              <a:t>EL</a:t>
            </a:r>
            <a:r>
              <a:rPr lang="zh-CN" altLang="en-US" dirty="0"/>
              <a:t>（</a:t>
            </a:r>
            <a:r>
              <a:rPr lang="en-US" altLang="zh-CN" dirty="0"/>
              <a:t>Expression Language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sz="2400" dirty="0"/>
              <a:t>获取</a:t>
            </a:r>
            <a:r>
              <a:rPr lang="en-US" altLang="zh-CN" sz="2400" dirty="0">
                <a:solidFill>
                  <a:srgbClr val="FF0000"/>
                </a:solidFill>
              </a:rPr>
              <a:t>JSP</a:t>
            </a:r>
            <a:r>
              <a:rPr lang="zh-CN" altLang="en-US" sz="2400" dirty="0">
                <a:solidFill>
                  <a:srgbClr val="FF0000"/>
                </a:solidFill>
              </a:rPr>
              <a:t>内建对象</a:t>
            </a:r>
            <a:r>
              <a:rPr lang="zh-CN" altLang="en-US" sz="2400" dirty="0"/>
              <a:t>（</a:t>
            </a:r>
            <a:r>
              <a:rPr lang="en-US" altLang="zh-CN" sz="2400" dirty="0"/>
              <a:t>page\request\session\application</a:t>
            </a:r>
            <a:r>
              <a:rPr lang="zh-CN" altLang="en-US" sz="2400" dirty="0"/>
              <a:t>）的变量值或</a:t>
            </a:r>
            <a:r>
              <a:rPr lang="en-US" altLang="zh-CN" sz="2400" dirty="0"/>
              <a:t>JavaBean</a:t>
            </a:r>
            <a:r>
              <a:rPr lang="zh-CN" altLang="en-US" sz="2400" dirty="0"/>
              <a:t>对象的属性值</a:t>
            </a:r>
            <a:endParaRPr lang="en-US" altLang="zh-CN" sz="2400" dirty="0"/>
          </a:p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EL+JSTL</a:t>
            </a:r>
            <a:r>
              <a:rPr lang="zh-CN" altLang="en-US" sz="2400" dirty="0"/>
              <a:t>替代</a:t>
            </a:r>
            <a:r>
              <a:rPr lang="en-US" altLang="zh-CN" sz="2400" dirty="0"/>
              <a:t>JSP</a:t>
            </a:r>
            <a:r>
              <a:rPr lang="zh-CN" altLang="en-US" sz="2400" dirty="0"/>
              <a:t>中的</a:t>
            </a:r>
            <a:r>
              <a:rPr lang="en-US" altLang="zh-CN" sz="2400" dirty="0"/>
              <a:t>Java</a:t>
            </a:r>
            <a:r>
              <a:rPr lang="zh-CN" altLang="en-US" sz="2400" dirty="0"/>
              <a:t>脚本</a:t>
            </a:r>
            <a:endParaRPr lang="en-US" altLang="zh-CN" sz="2400" dirty="0"/>
          </a:p>
          <a:p>
            <a:pPr lvl="1"/>
            <a:r>
              <a:rPr lang="zh-CN" altLang="zh-CN" sz="2400" dirty="0"/>
              <a:t>支持</a:t>
            </a:r>
            <a:r>
              <a:rPr lang="en-US" altLang="zh-CN" sz="2400" dirty="0"/>
              <a:t>Servlet2.4/JSP2.0</a:t>
            </a:r>
            <a:r>
              <a:rPr lang="zh-CN" altLang="zh-CN" sz="2400" dirty="0"/>
              <a:t>的</a:t>
            </a:r>
            <a:r>
              <a:rPr lang="en-US" altLang="zh-CN" sz="2400" dirty="0"/>
              <a:t>Servlet</a:t>
            </a:r>
            <a:r>
              <a:rPr lang="zh-CN" altLang="zh-CN" sz="2400" dirty="0"/>
              <a:t>容器（如</a:t>
            </a:r>
            <a:r>
              <a:rPr lang="en-US" altLang="zh-CN" sz="2400" dirty="0"/>
              <a:t>Tomcat5.0</a:t>
            </a:r>
            <a:r>
              <a:rPr lang="zh-CN" altLang="zh-CN" sz="2400" dirty="0"/>
              <a:t>以上）都可以运行包含</a:t>
            </a:r>
            <a:r>
              <a:rPr lang="en-US" altLang="zh-CN" sz="2400" dirty="0"/>
              <a:t>EL</a:t>
            </a:r>
            <a:r>
              <a:rPr lang="zh-CN" altLang="zh-CN" sz="2400" dirty="0"/>
              <a:t>的</a:t>
            </a:r>
            <a:r>
              <a:rPr lang="en-US" altLang="zh-CN" sz="2400" dirty="0"/>
              <a:t>JSP</a:t>
            </a:r>
            <a:r>
              <a:rPr lang="zh-CN" altLang="zh-CN" sz="2400" dirty="0"/>
              <a:t>页面。</a:t>
            </a:r>
            <a:endParaRPr lang="zh-CN" altLang="en-US" sz="2400" dirty="0"/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主要内容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20482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en-US" altLang="zh-CN" dirty="0">
                <a:hlinkClick r:id="rId1" action="ppaction://hlinksldjump"/>
              </a:rPr>
              <a:t>EL</a:t>
            </a:r>
            <a:r>
              <a:rPr lang="zh-CN" altLang="en-US" dirty="0">
                <a:hlinkClick r:id="rId1" action="ppaction://hlinksldjump"/>
              </a:rPr>
              <a:t>语法</a:t>
            </a:r>
            <a:endParaRPr lang="en-US" altLang="zh-CN" dirty="0">
              <a:hlinkClick r:id="rId1" action="ppaction://hlinksldjump"/>
            </a:endParaRPr>
          </a:p>
          <a:p>
            <a:r>
              <a:rPr lang="en-US" altLang="zh-CN" dirty="0">
                <a:hlinkClick r:id="rId1" action="ppaction://hlinksldjump"/>
              </a:rPr>
              <a:t>EL</a:t>
            </a:r>
            <a:r>
              <a:rPr lang="zh-CN" altLang="en-US" dirty="0">
                <a:hlinkClick r:id="rId1" action="ppaction://hlinksldjump"/>
              </a:rPr>
              <a:t>隐含对象</a:t>
            </a:r>
            <a:endParaRPr lang="en-US" altLang="zh-CN" dirty="0">
              <a:hlinkClick r:id="rId1" action="ppaction://hlinksldjump"/>
            </a:endParaRPr>
          </a:p>
          <a:p>
            <a:r>
              <a:rPr lang="en-US" altLang="zh-CN" dirty="0">
                <a:hlinkClick r:id="rId1" action="ppaction://hlinksldjump"/>
              </a:rPr>
              <a:t>EL</a:t>
            </a:r>
            <a:r>
              <a:rPr lang="zh-CN" altLang="en-US" dirty="0">
                <a:hlinkClick r:id="rId1" action="ppaction://hlinksldjump"/>
              </a:rPr>
              <a:t>运算符</a:t>
            </a:r>
            <a:endParaRPr lang="en-US" altLang="zh-CN" dirty="0">
              <a:hlinkClick r:id="rId1" action="ppaction://hlinksldjump"/>
            </a:endParaRPr>
          </a:p>
          <a:p>
            <a:pPr lvl="1"/>
            <a:r>
              <a:rPr lang="zh-CN" altLang="en-US" dirty="0">
                <a:hlinkClick r:id="rId1" action="ppaction://hlinksldjump"/>
              </a:rPr>
              <a:t>算数</a:t>
            </a:r>
            <a:endParaRPr lang="en-US" altLang="zh-CN" dirty="0">
              <a:hlinkClick r:id="rId1" action="ppaction://hlinksldjump"/>
            </a:endParaRPr>
          </a:p>
          <a:p>
            <a:pPr lvl="1"/>
            <a:r>
              <a:rPr lang="zh-CN" altLang="en-US" dirty="0">
                <a:hlinkClick r:id="rId1" action="ppaction://hlinksldjump"/>
              </a:rPr>
              <a:t>关系</a:t>
            </a:r>
            <a:endParaRPr lang="en-US" altLang="zh-CN" dirty="0">
              <a:hlinkClick r:id="rId1" action="ppaction://hlinksldjump"/>
            </a:endParaRPr>
          </a:p>
          <a:p>
            <a:pPr lvl="1"/>
            <a:r>
              <a:rPr lang="zh-CN" altLang="en-US" dirty="0">
                <a:hlinkClick r:id="rId1" action="ppaction://hlinksldjump"/>
              </a:rPr>
              <a:t>逻辑</a:t>
            </a:r>
            <a:endParaRPr lang="en-US" altLang="zh-CN" dirty="0">
              <a:hlinkClick r:id="rId1" action="ppaction://hlinksldjump"/>
            </a:endParaRPr>
          </a:p>
          <a:p>
            <a:pPr lvl="1"/>
            <a:r>
              <a:rPr lang="zh-CN" altLang="en-US" dirty="0">
                <a:hlinkClick r:id="rId1" action="ppaction://hlinksldjump"/>
              </a:rPr>
              <a:t>其他</a:t>
            </a:r>
            <a:endParaRPr lang="en-US" altLang="zh-CN" dirty="0">
              <a:hlinkClick r:id="rId1" action="ppaction://hlinksldjump"/>
            </a:endParaRPr>
          </a:p>
          <a:p>
            <a:r>
              <a:rPr lang="zh-CN" altLang="en-US" dirty="0">
                <a:hlinkClick r:id="rId1" action="ppaction://hlinksldjump"/>
              </a:rPr>
              <a:t>小结</a:t>
            </a:r>
            <a:endParaRPr lang="zh-CN" altLang="en-US" dirty="0"/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EL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语法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1117600" y="1135063"/>
            <a:ext cx="9015413" cy="1198562"/>
          </a:xfrm>
        </p:spPr>
        <p:txBody>
          <a:bodyPr vert="horz" wrap="square" lIns="91440" tIns="45720" rIns="91440" bIns="45720" anchor="t"/>
          <a:p>
            <a:r>
              <a:rPr lang="en-US" altLang="zh-CN" dirty="0">
                <a:solidFill>
                  <a:srgbClr val="FF0000"/>
                </a:solidFill>
              </a:rPr>
              <a:t>${</a:t>
            </a:r>
            <a:r>
              <a:rPr lang="en-US" altLang="zh-CN" dirty="0"/>
              <a:t>EL Expression </a:t>
            </a:r>
            <a:r>
              <a:rPr lang="en-US" altLang="zh-CN" dirty="0">
                <a:solidFill>
                  <a:srgbClr val="FF0000"/>
                </a:solidFill>
              </a:rPr>
              <a:t>}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[]</a:t>
            </a:r>
            <a:r>
              <a:rPr lang="zh-CN" altLang="en-US" dirty="0"/>
              <a:t>和</a:t>
            </a:r>
            <a:r>
              <a:rPr lang="en-US" altLang="zh-CN" dirty="0"/>
              <a:t>.</a:t>
            </a:r>
            <a:r>
              <a:rPr lang="zh-CN" altLang="en-US" dirty="0"/>
              <a:t>运算符</a:t>
            </a:r>
            <a:endParaRPr lang="zh-CN" altLang="en-US" dirty="0"/>
          </a:p>
        </p:txBody>
      </p:sp>
      <p:sp>
        <p:nvSpPr>
          <p:cNvPr id="21507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02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2636838"/>
            <a:ext cx="9109075" cy="669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8256588" y="2133600"/>
            <a:ext cx="1465262" cy="39846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buSzTx/>
            </a:pPr>
            <a:r>
              <a:rPr lang="en-US" altLang="zh-CN" sz="2000" b="1" dirty="0">
                <a:latin typeface="楷体_GB2312"/>
                <a:ea typeface="楷体_GB2312"/>
              </a:rPr>
              <a:t>Header.jsp</a:t>
            </a:r>
            <a:endParaRPr lang="zh-CN" altLang="en-US" sz="2000" b="1" dirty="0">
              <a:latin typeface="楷体_GB2312"/>
              <a:ea typeface="楷体_GB2312"/>
            </a:endParaRPr>
          </a:p>
        </p:txBody>
      </p:sp>
      <p:pic>
        <p:nvPicPr>
          <p:cNvPr id="1028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175" y="4365625"/>
            <a:ext cx="5713413" cy="5762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下箭头 7"/>
          <p:cNvSpPr/>
          <p:nvPr/>
        </p:nvSpPr>
        <p:spPr>
          <a:xfrm>
            <a:off x="5075238" y="3444875"/>
            <a:ext cx="649288" cy="841375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24075" y="5775325"/>
            <a:ext cx="6551613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SzTx/>
            </a:pPr>
            <a:r>
              <a:rPr lang="zh-CN" altLang="en-US" sz="2400" b="1" dirty="0">
                <a:latin typeface="楷体_GB2312"/>
                <a:ea typeface="楷体_GB2312"/>
              </a:rPr>
              <a:t>获取</a:t>
            </a:r>
            <a:r>
              <a:rPr lang="en-US" altLang="zh-CN" sz="2400" b="1" dirty="0">
                <a:latin typeface="楷体_GB2312"/>
                <a:ea typeface="楷体_GB2312"/>
              </a:rPr>
              <a:t>session</a:t>
            </a:r>
            <a:r>
              <a:rPr lang="zh-CN" altLang="en-US" sz="2400" b="1" dirty="0">
                <a:latin typeface="楷体_GB2312"/>
                <a:ea typeface="楷体_GB2312"/>
              </a:rPr>
              <a:t>中的</a:t>
            </a:r>
            <a:r>
              <a:rPr lang="en-US" altLang="zh-CN" sz="2400" b="1" dirty="0">
                <a:latin typeface="楷体_GB2312"/>
                <a:ea typeface="楷体_GB2312"/>
              </a:rPr>
              <a:t>user</a:t>
            </a:r>
            <a:r>
              <a:rPr lang="zh-CN" altLang="en-US" sz="2400" b="1" dirty="0">
                <a:latin typeface="楷体_GB2312"/>
                <a:ea typeface="楷体_GB2312"/>
              </a:rPr>
              <a:t>对象的</a:t>
            </a:r>
            <a:r>
              <a:rPr lang="en-US" altLang="zh-CN" sz="2400" b="1" dirty="0">
                <a:latin typeface="楷体_GB2312"/>
                <a:ea typeface="楷体_GB2312"/>
              </a:rPr>
              <a:t>username</a:t>
            </a:r>
            <a:r>
              <a:rPr lang="zh-CN" altLang="en-US" sz="2400" b="1" dirty="0">
                <a:latin typeface="楷体_GB2312"/>
                <a:ea typeface="楷体_GB2312"/>
              </a:rPr>
              <a:t>属性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492500" y="5084763"/>
            <a:ext cx="5195888" cy="584200"/>
            <a:chOff x="1967710" y="5085184"/>
            <a:chExt cx="5197342" cy="584551"/>
          </a:xfrm>
        </p:grpSpPr>
        <p:sp>
          <p:nvSpPr>
            <p:cNvPr id="9" name="左右箭头 8"/>
            <p:cNvSpPr/>
            <p:nvPr/>
          </p:nvSpPr>
          <p:spPr>
            <a:xfrm>
              <a:off x="1967710" y="5229733"/>
              <a:ext cx="732043" cy="287511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21515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15816" y="5085184"/>
              <a:ext cx="4249236" cy="584551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ldLvl="0" animBg="1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EL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语法续</a:t>
            </a: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1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23554" name="内容占位符 2"/>
          <p:cNvSpPr>
            <a:spLocks noGrp="1"/>
          </p:cNvSpPr>
          <p:nvPr>
            <p:ph idx="1"/>
          </p:nvPr>
        </p:nvSpPr>
        <p:spPr>
          <a:xfrm>
            <a:off x="649288" y="1135063"/>
            <a:ext cx="9483725" cy="565150"/>
          </a:xfrm>
        </p:spPr>
        <p:txBody>
          <a:bodyPr vert="horz" wrap="square" lIns="91440" tIns="45720" rIns="91440" bIns="45720" anchor="t"/>
          <a:p>
            <a:r>
              <a:rPr lang="en-US" altLang="zh-CN" dirty="0"/>
              <a:t>[]</a:t>
            </a:r>
            <a:r>
              <a:rPr lang="zh-CN" altLang="en-US" dirty="0"/>
              <a:t>和</a:t>
            </a:r>
            <a:r>
              <a:rPr lang="en-US" altLang="zh-CN" dirty="0"/>
              <a:t>.</a:t>
            </a:r>
            <a:r>
              <a:rPr lang="zh-CN" altLang="en-US" dirty="0"/>
              <a:t>混合使用</a:t>
            </a:r>
            <a:endParaRPr lang="zh-CN" altLang="en-US" dirty="0"/>
          </a:p>
        </p:txBody>
      </p:sp>
      <p:sp>
        <p:nvSpPr>
          <p:cNvPr id="23555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08213" y="1858963"/>
            <a:ext cx="7848600" cy="37846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SzTx/>
            </a:pPr>
            <a:r>
              <a:rPr lang="en-US" altLang="zh-CN" sz="2400" b="1" dirty="0">
                <a:latin typeface="楷体_GB2312"/>
                <a:ea typeface="楷体_GB2312"/>
              </a:rPr>
              <a:t>&lt;%</a:t>
            </a:r>
            <a:endParaRPr lang="zh-CN" altLang="zh-CN" sz="2400" b="1" dirty="0">
              <a:latin typeface="楷体_GB2312"/>
              <a:ea typeface="楷体_GB2312"/>
            </a:endParaRPr>
          </a:p>
          <a:p>
            <a:pPr>
              <a:buSzTx/>
            </a:pPr>
            <a:r>
              <a:rPr lang="en-US" altLang="zh-CN" sz="2400" b="1" dirty="0">
                <a:latin typeface="楷体_GB2312"/>
                <a:ea typeface="楷体_GB2312"/>
              </a:rPr>
              <a:t>	User[] users=new User[3]; </a:t>
            </a:r>
            <a:endParaRPr lang="zh-CN" altLang="zh-CN" sz="2400" b="1" dirty="0">
              <a:latin typeface="楷体_GB2312"/>
              <a:ea typeface="楷体_GB2312"/>
            </a:endParaRPr>
          </a:p>
          <a:p>
            <a:pPr>
              <a:buSzTx/>
            </a:pPr>
            <a:r>
              <a:rPr lang="en-US" altLang="zh-CN" sz="2400" b="1" dirty="0">
                <a:latin typeface="楷体_GB2312"/>
                <a:ea typeface="楷体_GB2312"/>
              </a:rPr>
              <a:t>	for(int i=0;i&lt;3;i++){</a:t>
            </a:r>
            <a:endParaRPr lang="zh-CN" altLang="zh-CN" sz="2400" b="1" dirty="0">
              <a:latin typeface="楷体_GB2312"/>
              <a:ea typeface="楷体_GB2312"/>
            </a:endParaRPr>
          </a:p>
          <a:p>
            <a:pPr>
              <a:buSzTx/>
            </a:pPr>
            <a:r>
              <a:rPr lang="en-US" altLang="zh-CN" sz="2400" b="1" dirty="0">
                <a:latin typeface="楷体_GB2312"/>
                <a:ea typeface="楷体_GB2312"/>
              </a:rPr>
              <a:t>		User u=new User();</a:t>
            </a:r>
            <a:endParaRPr lang="zh-CN" altLang="zh-CN" sz="2400" b="1" dirty="0">
              <a:latin typeface="楷体_GB2312"/>
              <a:ea typeface="楷体_GB2312"/>
            </a:endParaRPr>
          </a:p>
          <a:p>
            <a:pPr>
              <a:buSzTx/>
            </a:pPr>
            <a:r>
              <a:rPr lang="en-US" altLang="zh-CN" sz="2400" b="1" dirty="0">
                <a:latin typeface="楷体_GB2312"/>
                <a:ea typeface="楷体_GB2312"/>
              </a:rPr>
              <a:t>		u.setName("user-"+i);</a:t>
            </a:r>
            <a:endParaRPr lang="zh-CN" altLang="zh-CN" sz="2400" b="1" dirty="0">
              <a:latin typeface="楷体_GB2312"/>
              <a:ea typeface="楷体_GB2312"/>
            </a:endParaRPr>
          </a:p>
          <a:p>
            <a:pPr>
              <a:buSzTx/>
            </a:pPr>
            <a:r>
              <a:rPr lang="en-US" altLang="zh-CN" sz="2400" b="1" dirty="0">
                <a:latin typeface="楷体_GB2312"/>
                <a:ea typeface="楷体_GB2312"/>
              </a:rPr>
              <a:t>		users[i]=u;</a:t>
            </a:r>
            <a:endParaRPr lang="zh-CN" altLang="zh-CN" sz="2400" b="1" dirty="0">
              <a:latin typeface="楷体_GB2312"/>
              <a:ea typeface="楷体_GB2312"/>
            </a:endParaRPr>
          </a:p>
          <a:p>
            <a:pPr>
              <a:buSzTx/>
            </a:pPr>
            <a:r>
              <a:rPr lang="en-US" altLang="zh-CN" sz="2400" b="1" dirty="0">
                <a:latin typeface="楷体_GB2312"/>
                <a:ea typeface="楷体_GB2312"/>
              </a:rPr>
              <a:t>	}</a:t>
            </a:r>
            <a:endParaRPr lang="zh-CN" altLang="zh-CN" sz="2400" b="1" dirty="0">
              <a:latin typeface="楷体_GB2312"/>
              <a:ea typeface="楷体_GB2312"/>
            </a:endParaRPr>
          </a:p>
          <a:p>
            <a:pPr>
              <a:buSzTx/>
            </a:pPr>
            <a:r>
              <a:rPr lang="en-US" altLang="zh-CN" sz="2400" b="1" dirty="0">
                <a:latin typeface="楷体_GB2312"/>
                <a:ea typeface="楷体_GB2312"/>
              </a:rPr>
              <a:t>	</a:t>
            </a:r>
            <a:r>
              <a:rPr lang="en-US" altLang="zh-CN" sz="2400" b="1" dirty="0">
                <a:solidFill>
                  <a:srgbClr val="FF0000"/>
                </a:solidFill>
                <a:latin typeface="楷体_GB2312"/>
                <a:ea typeface="楷体_GB2312"/>
              </a:rPr>
              <a:t>request</a:t>
            </a:r>
            <a:r>
              <a:rPr lang="en-US" altLang="zh-CN" sz="2400" b="1" dirty="0">
                <a:latin typeface="楷体_GB2312"/>
                <a:ea typeface="楷体_GB2312"/>
              </a:rPr>
              <a:t>.setAttribute("users",</a:t>
            </a:r>
            <a:r>
              <a:rPr lang="en-US" altLang="zh-CN" sz="2400" b="1" dirty="0">
                <a:solidFill>
                  <a:srgbClr val="FF0000"/>
                </a:solidFill>
                <a:latin typeface="楷体_GB2312"/>
                <a:ea typeface="楷体_GB2312"/>
              </a:rPr>
              <a:t>users</a:t>
            </a:r>
            <a:r>
              <a:rPr lang="en-US" altLang="zh-CN" sz="2400" b="1" dirty="0">
                <a:latin typeface="楷体_GB2312"/>
                <a:ea typeface="楷体_GB2312"/>
              </a:rPr>
              <a:t>);</a:t>
            </a:r>
            <a:endParaRPr lang="zh-CN" altLang="zh-CN" sz="2400" b="1" dirty="0">
              <a:latin typeface="楷体_GB2312"/>
              <a:ea typeface="楷体_GB2312"/>
            </a:endParaRPr>
          </a:p>
          <a:p>
            <a:pPr>
              <a:buSzTx/>
            </a:pPr>
            <a:r>
              <a:rPr lang="en-US" altLang="zh-CN" sz="2400" b="1" dirty="0">
                <a:latin typeface="楷体_GB2312"/>
                <a:ea typeface="楷体_GB2312"/>
              </a:rPr>
              <a:t>%&gt;</a:t>
            </a:r>
            <a:endParaRPr lang="zh-CN" altLang="zh-CN" sz="2400" b="1" dirty="0">
              <a:latin typeface="楷体_GB2312"/>
              <a:ea typeface="楷体_GB2312"/>
            </a:endParaRPr>
          </a:p>
          <a:p>
            <a:pPr>
              <a:buSzTx/>
            </a:pPr>
            <a:r>
              <a:rPr lang="en-US" altLang="zh-CN" sz="2400" b="1" dirty="0">
                <a:solidFill>
                  <a:srgbClr val="FF0000"/>
                </a:solidFill>
                <a:latin typeface="楷体_GB2312"/>
                <a:ea typeface="楷体_GB2312"/>
              </a:rPr>
              <a:t>${users[0].name}}</a:t>
            </a:r>
            <a:endParaRPr lang="zh-CN" altLang="en-US" sz="2400" b="1" dirty="0">
              <a:solidFill>
                <a:srgbClr val="FF0000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EL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语法续</a:t>
            </a: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2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24578" name="内容占位符 2"/>
          <p:cNvSpPr>
            <a:spLocks noGrp="1"/>
          </p:cNvSpPr>
          <p:nvPr>
            <p:ph idx="1"/>
          </p:nvPr>
        </p:nvSpPr>
        <p:spPr>
          <a:xfrm>
            <a:off x="476250" y="1135063"/>
            <a:ext cx="11141075" cy="5113337"/>
          </a:xfrm>
        </p:spPr>
        <p:txBody>
          <a:bodyPr vert="horz" wrap="square" lIns="91440" tIns="45720" rIns="91440" bIns="45720" anchor="t"/>
          <a:p>
            <a:r>
              <a:rPr lang="zh-CN" altLang="zh-CN" dirty="0"/>
              <a:t>以下</a:t>
            </a:r>
            <a:r>
              <a:rPr lang="en-US" altLang="zh-CN" dirty="0"/>
              <a:t>2</a:t>
            </a:r>
            <a:r>
              <a:rPr lang="zh-CN" altLang="zh-CN" dirty="0"/>
              <a:t>种情况只能使用</a:t>
            </a:r>
            <a:r>
              <a:rPr lang="en-US" altLang="zh-CN" dirty="0"/>
              <a:t>[ ]</a:t>
            </a:r>
            <a:r>
              <a:rPr lang="zh-CN" altLang="zh-CN" dirty="0"/>
              <a:t>运算符，不能使用</a:t>
            </a:r>
            <a:r>
              <a:rPr lang="en-US" altLang="zh-CN" dirty="0"/>
              <a:t>.</a:t>
            </a:r>
            <a:r>
              <a:rPr lang="zh-CN" altLang="zh-CN" dirty="0"/>
              <a:t>运算符</a:t>
            </a:r>
            <a:endParaRPr lang="en-US" altLang="zh-CN" dirty="0"/>
          </a:p>
          <a:p>
            <a:pPr lvl="1"/>
            <a:r>
              <a:rPr lang="zh-CN" altLang="zh-CN" dirty="0"/>
              <a:t>情况</a:t>
            </a:r>
            <a:r>
              <a:rPr lang="en-US" altLang="zh-CN" dirty="0"/>
              <a:t>1</a:t>
            </a:r>
            <a:r>
              <a:rPr lang="zh-CN" altLang="zh-CN" dirty="0"/>
              <a:t>：待获取的属性名称中含有</a:t>
            </a:r>
            <a:r>
              <a:rPr lang="en-US" altLang="zh-CN" dirty="0"/>
              <a:t>.</a:t>
            </a:r>
            <a:r>
              <a:rPr lang="zh-CN" altLang="zh-CN" dirty="0"/>
              <a:t>或</a:t>
            </a:r>
            <a:r>
              <a:rPr lang="en-US" altLang="zh-CN" dirty="0"/>
              <a:t>_</a:t>
            </a:r>
            <a:r>
              <a:rPr lang="zh-CN" altLang="zh-CN" dirty="0"/>
              <a:t>等非字母或数字的符号。例如，</a:t>
            </a:r>
            <a:r>
              <a:rPr lang="en-US" altLang="zh-CN" dirty="0"/>
              <a:t>user</a:t>
            </a:r>
            <a:r>
              <a:rPr lang="zh-CN" altLang="zh-CN" dirty="0"/>
              <a:t>的</a:t>
            </a:r>
            <a:r>
              <a:rPr lang="en-US" altLang="zh-CN" dirty="0"/>
              <a:t>name</a:t>
            </a:r>
            <a:r>
              <a:rPr lang="zh-CN" altLang="zh-CN" dirty="0"/>
              <a:t>属性如果改为</a:t>
            </a:r>
            <a:r>
              <a:rPr lang="en-US" altLang="zh-CN" dirty="0"/>
              <a:t>na_me</a:t>
            </a:r>
            <a:endParaRPr lang="en-US" altLang="zh-CN" dirty="0"/>
          </a:p>
          <a:p>
            <a:pPr lvl="2"/>
            <a:r>
              <a:rPr lang="zh-CN" altLang="zh-CN" dirty="0"/>
              <a:t>而应该使用</a:t>
            </a:r>
            <a:r>
              <a:rPr lang="en-US" altLang="zh-CN" dirty="0"/>
              <a:t>userName=${user["na_me"]}</a:t>
            </a:r>
            <a:endParaRPr lang="en-US" altLang="zh-CN" dirty="0"/>
          </a:p>
          <a:p>
            <a:pPr lvl="1"/>
            <a:r>
              <a:rPr lang="zh-CN" altLang="zh-CN" dirty="0"/>
              <a:t>情况</a:t>
            </a:r>
            <a:r>
              <a:rPr lang="en-US" altLang="zh-CN" dirty="0"/>
              <a:t>2</a:t>
            </a:r>
            <a:r>
              <a:rPr lang="zh-CN" altLang="zh-CN" dirty="0"/>
              <a:t>：待获取的</a:t>
            </a:r>
            <a:r>
              <a:rPr lang="en-US" altLang="zh-CN" dirty="0"/>
              <a:t>JavaBean</a:t>
            </a:r>
            <a:r>
              <a:rPr lang="zh-CN" altLang="zh-CN" dirty="0"/>
              <a:t>由一个变量指定</a:t>
            </a:r>
            <a:endParaRPr lang="zh-CN" altLang="en-US" dirty="0"/>
          </a:p>
        </p:txBody>
      </p:sp>
      <p:sp>
        <p:nvSpPr>
          <p:cNvPr id="2457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08213" y="4508500"/>
            <a:ext cx="7559675" cy="119856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SzTx/>
            </a:pPr>
            <a:r>
              <a:rPr lang="en-US" altLang="zh-CN" sz="2400" b="1" dirty="0">
                <a:latin typeface="楷体_GB2312"/>
                <a:ea typeface="楷体_GB2312"/>
              </a:rPr>
              <a:t>&lt;</a:t>
            </a:r>
            <a:r>
              <a:rPr lang="en-US" altLang="zh-CN" sz="2400" b="1" dirty="0">
                <a:solidFill>
                  <a:srgbClr val="FF0000"/>
                </a:solidFill>
                <a:latin typeface="楷体_GB2312"/>
                <a:ea typeface="楷体_GB2312"/>
              </a:rPr>
              <a:t>c:forEach</a:t>
            </a:r>
            <a:r>
              <a:rPr lang="en-US" altLang="zh-CN" sz="2400" b="1" dirty="0">
                <a:latin typeface="楷体_GB2312"/>
                <a:ea typeface="楷体_GB2312"/>
              </a:rPr>
              <a:t> var="i" begin="0" end="3"&gt;</a:t>
            </a:r>
            <a:endParaRPr lang="zh-CN" altLang="zh-CN" sz="2400" b="1" dirty="0">
              <a:latin typeface="楷体_GB2312"/>
              <a:ea typeface="楷体_GB2312"/>
            </a:endParaRPr>
          </a:p>
          <a:p>
            <a:pPr>
              <a:buSzTx/>
            </a:pPr>
            <a:r>
              <a:rPr lang="en-US" altLang="zh-CN" sz="2400" b="1" dirty="0">
                <a:latin typeface="楷体_GB2312"/>
                <a:ea typeface="楷体_GB2312"/>
              </a:rPr>
              <a:t>	${users[i].name }</a:t>
            </a:r>
            <a:endParaRPr lang="zh-CN" altLang="zh-CN" sz="2400" b="1" dirty="0">
              <a:latin typeface="楷体_GB2312"/>
              <a:ea typeface="楷体_GB2312"/>
            </a:endParaRPr>
          </a:p>
          <a:p>
            <a:pPr>
              <a:buSzTx/>
            </a:pPr>
            <a:r>
              <a:rPr lang="en-US" altLang="zh-CN" sz="2400" b="1" dirty="0">
                <a:latin typeface="楷体_GB2312"/>
                <a:ea typeface="楷体_GB2312"/>
              </a:rPr>
              <a:t>&lt;</a:t>
            </a:r>
            <a:r>
              <a:rPr lang="en-US" altLang="zh-CN" sz="2400" b="1" dirty="0">
                <a:solidFill>
                  <a:srgbClr val="FF0000"/>
                </a:solidFill>
                <a:latin typeface="楷体_GB2312"/>
                <a:ea typeface="楷体_GB2312"/>
              </a:rPr>
              <a:t>/c:forEach</a:t>
            </a:r>
            <a:r>
              <a:rPr lang="en-US" altLang="zh-CN" sz="2400" b="1" dirty="0">
                <a:latin typeface="楷体_GB2312"/>
                <a:ea typeface="楷体_GB2312"/>
              </a:rPr>
              <a:t>&gt;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EL</a:t>
            </a:r>
            <a:r>
              <a:rPr kumimoji="0" lang="zh-CN" altLang="zh-CN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获取变量</a:t>
            </a:r>
            <a:r>
              <a:rPr kumimoji="0" lang="zh-CN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时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的</a:t>
            </a:r>
            <a:r>
              <a:rPr kumimoji="0" lang="zh-CN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搜索顺序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5625" y="1135063"/>
            <a:ext cx="10742613" cy="5113338"/>
          </a:xfrm>
        </p:spPr>
        <p:txBody>
          <a:bodyPr vert="horz" wrap="square" lIns="91440" tIns="45720" rIns="91440" bIns="45720" numCol="1" anchor="t" anchorCtr="0" compatLnSpc="1">
            <a:normAutofit fontScale="92500" lnSpcReduction="1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 pitchFamily="2" charset="2"/>
              <a:buChar char="ª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JSP</a:t>
            </a:r>
            <a:r>
              <a:rPr kumimoji="0" lang="zh-CN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的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4</a:t>
            </a:r>
            <a:r>
              <a:rPr kumimoji="0" lang="zh-CN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个属性</a:t>
            </a:r>
            <a:r>
              <a:rPr kumimoji="0" lang="zh-CN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范围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660066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page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request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session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application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 pitchFamily="2" charset="2"/>
              <a:buChar char="ª"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EL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中的表示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660066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pageScope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requestScope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sessionScope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applicationScope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 pitchFamily="2" charset="2"/>
              <a:buChar char="ª"/>
              <a:defRPr/>
            </a:pPr>
            <a:r>
              <a:rPr kumimoji="0" lang="zh-CN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获取某个特定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JSP</a:t>
            </a:r>
            <a:r>
              <a:rPr kumimoji="0" lang="zh-CN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范围的</a:t>
            </a:r>
            <a:r>
              <a:rPr kumimoji="0" lang="zh-CN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变量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660066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${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xxxScope.varName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}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660066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${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varName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}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1085850" marR="0" lvl="2" indent="-2286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Monotype Sorts" pitchFamily="2" charset="2"/>
              <a:buBlip>
                <a:blip r:embed="rId2"/>
              </a:buBlip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按照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page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request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session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application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的</a:t>
            </a:r>
            <a:r>
              <a:rPr kumimoji="0" lang="zh-CN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顺序搜索变量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1085850" marR="0" lvl="2" indent="-2286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Monotype Sorts" pitchFamily="2" charset="2"/>
              <a:buBlip>
                <a:blip r:embed="rId2"/>
              </a:buBlip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若存在即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返回值，否则继续在下一个对象中寻找，若四个对象中都没有，则返回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null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类型自动转换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26626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en-US" altLang="zh-CN" dirty="0"/>
              <a:t>${param.age+5}</a:t>
            </a:r>
            <a:endParaRPr lang="en-US" altLang="zh-CN" dirty="0"/>
          </a:p>
          <a:p>
            <a:pPr lvl="1"/>
            <a:r>
              <a:rPr lang="en-US" altLang="zh-CN" dirty="0"/>
              <a:t>JSP</a:t>
            </a:r>
            <a:r>
              <a:rPr lang="zh-CN" altLang="zh-CN" dirty="0"/>
              <a:t>页面传递的参数都是</a:t>
            </a:r>
            <a:r>
              <a:rPr lang="en-US" altLang="zh-CN" dirty="0"/>
              <a:t>String</a:t>
            </a:r>
            <a:r>
              <a:rPr lang="zh-CN" altLang="zh-CN" dirty="0"/>
              <a:t>类型的</a:t>
            </a:r>
            <a:r>
              <a:rPr lang="zh-CN" altLang="en-US" dirty="0"/>
              <a:t>，</a:t>
            </a:r>
            <a:r>
              <a:rPr lang="en-US" altLang="zh-CN" dirty="0"/>
              <a:t>EL</a:t>
            </a:r>
            <a:r>
              <a:rPr lang="zh-CN" altLang="en-US" dirty="0"/>
              <a:t>自动转换成</a:t>
            </a:r>
            <a:r>
              <a:rPr lang="en-US" altLang="zh-CN" dirty="0"/>
              <a:t>int</a:t>
            </a:r>
            <a:endParaRPr lang="zh-CN" altLang="en-US" dirty="0"/>
          </a:p>
        </p:txBody>
      </p:sp>
      <p:sp>
        <p:nvSpPr>
          <p:cNvPr id="26627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702243" y="4652963"/>
            <a:ext cx="5548312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buSzTx/>
            </a:pPr>
            <a:r>
              <a:rPr lang="en-US" altLang="zh-CN" sz="2800" b="1" dirty="0">
                <a:latin typeface="Calibri" panose="020F0502020204030204" pitchFamily="34" charset="0"/>
                <a:ea typeface="宋体" panose="02010600030101010101" pitchFamily="2" charset="-122"/>
              </a:rPr>
              <a:t>${pageContext.request.contextPath}</a:t>
            </a:r>
            <a:endParaRPr lang="zh-CN" altLang="en-US" sz="2800" b="1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999423" y="3630930"/>
            <a:ext cx="485902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buSzTx/>
            </a:pP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&lt;%=request.getContextPath()%&gt;</a:t>
            </a:r>
            <a:endParaRPr lang="zh-CN" altLang="en-US" sz="28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上下箭头 6"/>
          <p:cNvSpPr/>
          <p:nvPr/>
        </p:nvSpPr>
        <p:spPr>
          <a:xfrm>
            <a:off x="5519738" y="4152900"/>
            <a:ext cx="233363" cy="50006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EL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隐含对象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5788" y="1135063"/>
            <a:ext cx="10933113" cy="5113338"/>
          </a:xfrm>
        </p:spPr>
        <p:txBody>
          <a:bodyPr vert="horz" wrap="square" lIns="91440" tIns="45720" rIns="91440" bIns="45720" numCol="1" anchor="t" anchorCtr="0" compatLnSpc="1">
            <a:normAutofit fontScale="925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 pitchFamily="2" charset="2"/>
              <a:buChar char="ª"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11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个隐含对象  仅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用来获取参数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值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660066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en-US" altLang="zh-CN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pageContext</a:t>
            </a:r>
            <a:r>
              <a:rPr kumimoji="0" lang="en-US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  JSP</a:t>
            </a:r>
            <a:r>
              <a:rPr kumimoji="0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页面上下文  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javax.servlet.ServletContext</a:t>
            </a:r>
            <a:endParaRPr kumimoji="0" lang="en-US" altLang="zh-CN" sz="2600" b="1" i="0" u="none" strike="noStrike" kern="0" cap="none" spc="0" normalizeH="0" baseline="0" noProof="0" dirty="0" smtClean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660066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en-US" altLang="zh-CN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pageScope</a:t>
            </a:r>
            <a:r>
              <a:rPr kumimoji="0" lang="en-US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/</a:t>
            </a:r>
            <a:r>
              <a:rPr kumimoji="0" lang="en-US" altLang="zh-CN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requestScope</a:t>
            </a:r>
            <a:r>
              <a:rPr kumimoji="0" lang="en-US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/</a:t>
            </a:r>
            <a:r>
              <a:rPr kumimoji="0" lang="en-US" altLang="zh-CN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sessionScope</a:t>
            </a:r>
            <a:r>
              <a:rPr kumimoji="0" lang="en-US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/</a:t>
            </a:r>
            <a:r>
              <a:rPr kumimoji="0" lang="en-US" altLang="zh-CN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applicationScope</a:t>
            </a:r>
            <a:endParaRPr kumimoji="0" lang="en-US" altLang="zh-CN" sz="2600" b="1" i="0" u="none" strike="noStrike" kern="0" cap="none" spc="0" normalizeH="0" baseline="0" noProof="0" dirty="0" smtClean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660066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p</a:t>
            </a:r>
            <a:r>
              <a:rPr kumimoji="0" lang="en-US" altLang="zh-CN" sz="2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aram</a:t>
            </a:r>
            <a:r>
              <a:rPr kumimoji="0" lang="en-US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  </a:t>
            </a:r>
            <a:r>
              <a:rPr kumimoji="0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请求参数值  </a:t>
            </a:r>
            <a:endParaRPr kumimoji="0" lang="en-US" altLang="zh-CN" sz="2600" b="1" i="0" u="none" strike="noStrike" kern="0" cap="none" spc="0" normalizeH="0" baseline="0" noProof="0" dirty="0" smtClean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1085850" marR="0" lvl="2" indent="-2286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Monotype Sorts" pitchFamily="2" charset="2"/>
              <a:buBlip>
                <a:blip r:embed="rId2"/>
              </a:buBlip>
              <a:defRPr/>
            </a:pPr>
            <a:r>
              <a:rPr kumimoji="0" lang="en-US" altLang="zh-CN" sz="22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param.parameterName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=</a:t>
            </a:r>
            <a:r>
              <a:rPr kumimoji="0" lang="en-US" altLang="zh-CN" sz="22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request.getParameter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(“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paramName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”)</a:t>
            </a:r>
            <a:endParaRPr kumimoji="0" lang="en-US" altLang="zh-CN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660066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en-US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Header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客户端提交请求中的</a:t>
            </a:r>
            <a:r>
              <a:rPr kumimoji="0" lang="en-US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header</a:t>
            </a:r>
            <a:endParaRPr kumimoji="0" lang="en-US" altLang="zh-CN" sz="2600" b="1" i="0" u="none" strike="noStrike" kern="0" cap="none" spc="0" normalizeH="0" baseline="0" noProof="0" dirty="0" smtClean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1085850" marR="0" lvl="2" indent="-2286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Monotype Sorts" pitchFamily="2" charset="2"/>
              <a:buBlip>
                <a:blip r:embed="rId2"/>
              </a:buBlip>
              <a:defRPr/>
            </a:pPr>
            <a:r>
              <a:rPr kumimoji="0" lang="en-US" altLang="zh-CN" sz="22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header.headerName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  =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request.getHeader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(“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headerName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”)</a:t>
            </a:r>
            <a:endParaRPr kumimoji="0" lang="en-US" altLang="zh-CN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660066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Cookie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客户端的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cookie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660066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en-US" altLang="zh-CN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initParam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JSP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页面在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web.xml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中的初始化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参数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Monotype Sorts" pitchFamily="2" charset="2"/>
              <a:buChar char="ª"/>
              <a:defRPr/>
            </a:pP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除</a:t>
            </a:r>
            <a:r>
              <a:rPr kumimoji="0" lang="en-US" altLang="zh-CN" sz="32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pageContext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，其它对象全是</a:t>
            </a:r>
            <a:r>
              <a:rPr kumimoji="0" lang="en-US" altLang="zh-CN" sz="32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java.util.Map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类型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27651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EL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算数运算符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2867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703388" y="1196975"/>
          <a:ext cx="8713788" cy="41767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78050"/>
                <a:gridCol w="2178050"/>
                <a:gridCol w="2177415"/>
                <a:gridCol w="2179955"/>
              </a:tblGrid>
              <a:tr h="75628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算术运算符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说明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范例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结果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</a:tr>
              <a:tr h="68389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+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加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${15 + 3}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18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</a:tr>
              <a:tr h="68326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减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${15 - 3}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</a:tr>
              <a:tr h="68453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*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乘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${15 * 3}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45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</a:tr>
              <a:tr h="68389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div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除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${15 / 3}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</a:tr>
              <a:tr h="68453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%</a:t>
                      </a: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mod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取余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${15 % 3}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EL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关系运算符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2969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93763" y="1125538"/>
          <a:ext cx="10333038" cy="51295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8825"/>
                <a:gridCol w="2909570"/>
                <a:gridCol w="3947160"/>
                <a:gridCol w="1447165"/>
              </a:tblGrid>
              <a:tr h="73279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chemeClr val="tx1"/>
                          </a:solidFill>
                          <a:effectLst/>
                        </a:rPr>
                        <a:t>关系运算符</a:t>
                      </a:r>
                      <a:endParaRPr lang="zh-CN" sz="20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chemeClr val="tx1"/>
                          </a:solidFill>
                          <a:effectLst/>
                        </a:rPr>
                        <a:t>说明</a:t>
                      </a:r>
                      <a:endParaRPr lang="zh-CN" sz="20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chemeClr val="tx1"/>
                          </a:solidFill>
                          <a:effectLst/>
                        </a:rPr>
                        <a:t>范例</a:t>
                      </a:r>
                      <a:endParaRPr lang="zh-CN" sz="20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chemeClr val="tx1"/>
                          </a:solidFill>
                          <a:effectLst/>
                        </a:rPr>
                        <a:t>结果</a:t>
                      </a:r>
                      <a:endParaRPr lang="zh-CN" sz="20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</a:tr>
              <a:tr h="73279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== </a:t>
                      </a: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 eq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判断是否相等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${8 == 8} </a:t>
                      </a: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 ${8 eq 8}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true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</a:tr>
              <a:tr h="73279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!= </a:t>
                      </a: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 ne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判断是否不等于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${8 != 8} </a:t>
                      </a: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 ${8 ne 8}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false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</a:tr>
              <a:tr h="73279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&lt; </a:t>
                      </a: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 lt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判断是否小于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${5 &lt; 8} </a:t>
                      </a: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 ${5 lt 8}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true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</a:tr>
              <a:tr h="73279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&gt; </a:t>
                      </a: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 gt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判断是否大于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${5 &gt; 8} </a:t>
                      </a: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 ${5 gt 8}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false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</a:tr>
              <a:tr h="73279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&lt;= </a:t>
                      </a: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 le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判断是否小于等于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${5 &lt;= 8} </a:t>
                      </a: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 ${5 le 8}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true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</a:tr>
              <a:tr h="73279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&gt;= </a:t>
                      </a: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 ge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判断是否大于等于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${5 &gt;= 8} </a:t>
                      </a: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 ${5 ge 8}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false</a:t>
                      </a:r>
                      <a:endParaRPr lang="en-US" sz="2400" kern="100" dirty="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1" marR="68581" marT="0" marB="0" anchor="ctr" anchorCtr="1"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EL</a:t>
            </a:r>
            <a:r>
              <a:rPr kumimoji="0" lang="zh-CN" altLang="en-US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逻辑运算符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0722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038225" y="1460500"/>
          <a:ext cx="10148888" cy="36760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95195"/>
                <a:gridCol w="1639570"/>
                <a:gridCol w="3776980"/>
                <a:gridCol w="2536190"/>
              </a:tblGrid>
              <a:tr h="54610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逻辑运算符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说明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范例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结果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 anchor="ctr" anchorCtr="1"/>
                </a:tc>
              </a:tr>
              <a:tr h="104330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&amp;&amp; </a:t>
                      </a: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  and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与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${A &amp;&amp; B} </a:t>
                      </a: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 ${A and B}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true / false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 anchor="ctr" anchorCtr="1"/>
                </a:tc>
              </a:tr>
              <a:tr h="104330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||  </a:t>
                      </a: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  or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${A || B} </a:t>
                      </a: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 ${A or B}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true / false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 anchor="ctr" anchorCtr="1"/>
                </a:tc>
              </a:tr>
              <a:tr h="104330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!   </a:t>
                      </a: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  not</a:t>
                      </a:r>
                      <a:endParaRPr lang="en-US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非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${ !A } </a:t>
                      </a: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或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 ${not A}</a:t>
                      </a:r>
                      <a:endParaRPr lang="en-US" sz="2400" kern="100" dirty="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 anchor="ctr" anchorCtr="1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true / false</a:t>
                      </a:r>
                      <a:endParaRPr lang="en-US" sz="2400" kern="100" dirty="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 anchor="ctr" anchorCtr="1"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EL</a:t>
            </a: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其他运算符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1746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62025" y="1379538"/>
          <a:ext cx="10436225" cy="3911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7720"/>
                <a:gridCol w="2232025"/>
                <a:gridCol w="3738880"/>
                <a:gridCol w="2387600"/>
              </a:tblGrid>
              <a:tr h="73406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 dirty="0" smtClean="0">
                          <a:solidFill>
                            <a:schemeClr val="tx1"/>
                          </a:solidFill>
                          <a:effectLst/>
                        </a:rPr>
                        <a:t>其他运算符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说明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范例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结果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</a:tr>
              <a:tr h="115570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empty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判断是否是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null</a:t>
                      </a: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或空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${empty </a:t>
                      </a:r>
                      <a:r>
                        <a:rPr lang="en-US" sz="2400" kern="100" dirty="0" err="1">
                          <a:solidFill>
                            <a:schemeClr val="tx1"/>
                          </a:solidFill>
                          <a:effectLst/>
                        </a:rPr>
                        <a:t>requestScope.userName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}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true /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false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</a:tr>
              <a:tr h="115570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? :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条件运算符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${ A ? B :C}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当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为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true</a:t>
                      </a: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执行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；否则执行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</a:tr>
              <a:tr h="86614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solidFill>
                            <a:schemeClr val="tx1"/>
                          </a:solidFill>
                          <a:effectLst/>
                        </a:rPr>
                        <a:t>( )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solidFill>
                            <a:schemeClr val="tx1"/>
                          </a:solidFill>
                          <a:effectLst/>
                        </a:rPr>
                        <a:t>改变优先权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${ A * (B+C)}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乘以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和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</a:rPr>
                        <a:t>的和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运算符优先级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379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703388" y="1341438"/>
          <a:ext cx="8785225" cy="4248150"/>
        </p:xfrm>
        <a:graphic>
          <a:graphicData uri="http://schemas.openxmlformats.org/drawingml/2006/table">
            <a:tbl>
              <a:tblPr/>
              <a:tblGrid>
                <a:gridCol w="3465830"/>
                <a:gridCol w="5319395"/>
              </a:tblGrid>
              <a:tr h="424815">
                <a:tc rowSpan="10"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            </a:t>
                      </a:r>
                      <a:r>
                        <a:rPr lang="zh-CN" sz="2400" b="1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高</a:t>
                      </a:r>
                      <a:endParaRPr lang="zh-CN" sz="2400" b="1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            </a:t>
                      </a:r>
                      <a:endParaRPr lang="zh-CN" sz="2400" b="1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66700" algn="just">
                        <a:spcAft>
                          <a:spcPts val="0"/>
                        </a:spcAft>
                      </a:pPr>
                      <a:br>
                        <a:rPr lang="zh-CN" sz="2400" b="1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</a:br>
                      <a:r>
                        <a:rPr lang="en-US" sz="2400" b="1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        </a:t>
                      </a:r>
                      <a:endParaRPr lang="zh-CN" sz="2400" b="1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             </a:t>
                      </a:r>
                      <a:r>
                        <a:rPr lang="zh-CN" sz="2400" b="1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低</a:t>
                      </a:r>
                      <a:endParaRPr lang="zh-CN" sz="2400" b="1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[  ]</a:t>
                      </a:r>
                      <a:r>
                        <a:rPr lang="zh-CN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.</a:t>
                      </a:r>
                      <a:endParaRPr lang="zh-CN" sz="2400" b="1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815">
                <a:tc vMerge="1">
                  <a:tcPr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(  )</a:t>
                      </a:r>
                      <a:endParaRPr lang="zh-CN" sz="2400" b="1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815">
                <a:tc vMerge="1">
                  <a:tcPr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-</a:t>
                      </a:r>
                      <a:r>
                        <a:rPr lang="zh-CN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（负）、</a:t>
                      </a: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not</a:t>
                      </a:r>
                      <a:r>
                        <a:rPr lang="zh-CN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!</a:t>
                      </a:r>
                      <a:r>
                        <a:rPr lang="zh-CN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empty</a:t>
                      </a:r>
                      <a:endParaRPr lang="zh-CN" sz="2400" b="1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815">
                <a:tc vMerge="1">
                  <a:tcPr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*</a:t>
                      </a:r>
                      <a:r>
                        <a:rPr lang="zh-CN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/ </a:t>
                      </a:r>
                      <a:r>
                        <a:rPr lang="zh-CN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div</a:t>
                      </a:r>
                      <a:r>
                        <a:rPr lang="zh-CN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% </a:t>
                      </a:r>
                      <a:r>
                        <a:rPr lang="zh-CN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mod</a:t>
                      </a:r>
                      <a:endParaRPr lang="zh-CN" sz="2400" b="1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815">
                <a:tc vMerge="1">
                  <a:tcPr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-</a:t>
                      </a:r>
                      <a:r>
                        <a:rPr lang="zh-CN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（减）</a:t>
                      </a:r>
                      <a:endParaRPr lang="zh-CN" sz="2400" b="1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815">
                <a:tc vMerge="1">
                  <a:tcPr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&lt;</a:t>
                      </a:r>
                      <a:r>
                        <a:rPr lang="zh-CN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&gt;</a:t>
                      </a:r>
                      <a:r>
                        <a:rPr lang="zh-CN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&lt;=</a:t>
                      </a:r>
                      <a:r>
                        <a:rPr lang="zh-CN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&gt;=</a:t>
                      </a:r>
                      <a:r>
                        <a:rPr lang="zh-CN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lt</a:t>
                      </a:r>
                      <a:r>
                        <a:rPr lang="zh-CN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gt</a:t>
                      </a:r>
                      <a:r>
                        <a:rPr lang="zh-CN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le</a:t>
                      </a:r>
                      <a:r>
                        <a:rPr lang="zh-CN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ge</a:t>
                      </a:r>
                      <a:endParaRPr lang="zh-CN" sz="2400" b="1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815">
                <a:tc vMerge="1">
                  <a:tcPr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==</a:t>
                      </a:r>
                      <a:r>
                        <a:rPr lang="zh-CN" sz="2400" b="1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en-US" sz="2400" b="1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!=</a:t>
                      </a:r>
                      <a:r>
                        <a:rPr lang="zh-CN" sz="2400" b="1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en-US" sz="2400" b="1" kern="100" dirty="0" err="1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eq</a:t>
                      </a:r>
                      <a:r>
                        <a:rPr lang="zh-CN" sz="2400" b="1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en-US" sz="2400" b="1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ne</a:t>
                      </a:r>
                      <a:endParaRPr lang="zh-CN" sz="2400" b="1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815">
                <a:tc vMerge="1">
                  <a:tcPr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&amp;&amp;</a:t>
                      </a:r>
                      <a:r>
                        <a:rPr lang="zh-CN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and</a:t>
                      </a:r>
                      <a:endParaRPr lang="zh-CN" sz="2400" b="1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815">
                <a:tc vMerge="1">
                  <a:tcPr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||</a:t>
                      </a:r>
                      <a:r>
                        <a:rPr lang="zh-CN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en-US" sz="2400" b="1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or</a:t>
                      </a:r>
                      <a:endParaRPr lang="zh-CN" sz="2400" b="1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815">
                <a:tc vMerge="1">
                  <a:tcPr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?  :</a:t>
                      </a:r>
                      <a:endParaRPr lang="zh-CN" sz="2400" b="1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33821" name="AutoShape 1"/>
          <p:cNvCxnSpPr/>
          <p:nvPr/>
        </p:nvCxnSpPr>
        <p:spPr>
          <a:xfrm>
            <a:off x="3071813" y="1700213"/>
            <a:ext cx="0" cy="1000125"/>
          </a:xfrm>
          <a:prstGeom prst="straightConnector1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>
            <a:outerShdw dist="40159" dir="4293848" algn="ctr" rotWithShape="0">
              <a:srgbClr val="7F7F7F">
                <a:alpha val="50000"/>
              </a:srgbClr>
            </a:outerShdw>
          </a:effectLst>
        </p:spPr>
      </p:cxn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小结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j-cs"/>
            </a:endParaRPr>
          </a:p>
        </p:txBody>
      </p:sp>
      <p:sp>
        <p:nvSpPr>
          <p:cNvPr id="34818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r>
              <a:rPr lang="en-US" altLang="zh-CN" dirty="0"/>
              <a:t>EL</a:t>
            </a:r>
            <a:r>
              <a:rPr lang="zh-CN" altLang="en-US" dirty="0"/>
              <a:t>作用</a:t>
            </a:r>
            <a:endParaRPr lang="en-US" altLang="zh-CN" dirty="0"/>
          </a:p>
          <a:p>
            <a:r>
              <a:rPr lang="en-US" altLang="zh-CN" dirty="0"/>
              <a:t>EL</a:t>
            </a:r>
            <a:r>
              <a:rPr lang="zh-CN" altLang="en-US" dirty="0"/>
              <a:t>语法</a:t>
            </a:r>
            <a:endParaRPr lang="en-US" altLang="zh-CN" dirty="0"/>
          </a:p>
          <a:p>
            <a:r>
              <a:rPr lang="en-US" altLang="zh-CN" dirty="0"/>
              <a:t>EL</a:t>
            </a:r>
            <a:r>
              <a:rPr lang="zh-CN" altLang="en-US" dirty="0"/>
              <a:t>中的隐含对象</a:t>
            </a:r>
            <a:endParaRPr lang="en-US" altLang="zh-CN" dirty="0"/>
          </a:p>
          <a:p>
            <a:r>
              <a:rPr lang="en-US" altLang="zh-CN" dirty="0"/>
              <a:t>EL</a:t>
            </a:r>
            <a:r>
              <a:rPr lang="zh-CN" altLang="en-US" dirty="0"/>
              <a:t>中的各种运算符</a:t>
            </a:r>
            <a:endParaRPr lang="en-US" altLang="zh-CN" dirty="0"/>
          </a:p>
          <a:p>
            <a:pPr lvl="1"/>
            <a:r>
              <a:rPr lang="zh-CN" altLang="en-US" dirty="0"/>
              <a:t>算数</a:t>
            </a:r>
            <a:endParaRPr lang="en-US" altLang="zh-CN" dirty="0"/>
          </a:p>
          <a:p>
            <a:pPr lvl="1"/>
            <a:r>
              <a:rPr lang="zh-CN" altLang="en-US" dirty="0"/>
              <a:t>关系</a:t>
            </a:r>
            <a:endParaRPr lang="en-US" altLang="zh-CN" dirty="0"/>
          </a:p>
          <a:p>
            <a:pPr lvl="1"/>
            <a:r>
              <a:rPr lang="zh-CN" altLang="en-US" dirty="0"/>
              <a:t>逻辑</a:t>
            </a:r>
            <a:endParaRPr lang="en-US" altLang="zh-CN" dirty="0"/>
          </a:p>
          <a:p>
            <a:pPr lvl="1"/>
            <a:r>
              <a:rPr lang="zh-CN" altLang="en-US" dirty="0"/>
              <a:t>其他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3481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600200" y="6437313"/>
            <a:ext cx="533400" cy="268287"/>
          </a:xfrm>
        </p:spPr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buSzTx/>
            </a:pPr>
            <a:fld id="{9A0DB2DC-4C9A-4742-B13C-FB6460FD3503}" type="slidenum">
              <a:rPr lang="zh-CN" altLang="en-US" sz="1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1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右箭头 4">
            <a:hlinkClick r:id="rId1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tags/tag1.xml><?xml version="1.0" encoding="utf-8"?>
<p:tagLst xmlns:p="http://schemas.openxmlformats.org/presentationml/2006/main">
  <p:tag name="commondata" val="eyJoZGlkIjoiYmFjNWZhYmVmMzg4Mzg4NGQ0MmIwMjFlNjJhNDU3MD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数据库原理及应用">
  <a:themeElements>
    <a:clrScheme name="数据库原理及应用 7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9900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8A0000"/>
      </a:accent6>
      <a:hlink>
        <a:srgbClr val="660066"/>
      </a:hlink>
      <a:folHlink>
        <a:srgbClr val="000099"/>
      </a:folHlink>
    </a:clrScheme>
    <a:fontScheme name="数据库原理及应用">
      <a:majorFont>
        <a:latin typeface="隶书"/>
        <a:ea typeface="隶书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数据库原理及应用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4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9900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5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0033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6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FF99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7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660066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2652</Words>
  <Application>WPS 演示</Application>
  <PresentationFormat>全屏显示(4:3)</PresentationFormat>
  <Paragraphs>379</Paragraphs>
  <Slides>15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6" baseType="lpstr">
      <vt:lpstr>Arial</vt:lpstr>
      <vt:lpstr>宋体</vt:lpstr>
      <vt:lpstr>Wingdings</vt:lpstr>
      <vt:lpstr>Calibri</vt:lpstr>
      <vt:lpstr>Tahoma</vt:lpstr>
      <vt:lpstr>Times New Roman</vt:lpstr>
      <vt:lpstr>华文新魏</vt:lpstr>
      <vt:lpstr>隶书</vt:lpstr>
      <vt:lpstr>Monotype Sorts</vt:lpstr>
      <vt:lpstr>Wingdings</vt:lpstr>
      <vt:lpstr>楷体_GB2312</vt:lpstr>
      <vt:lpstr>新宋体</vt:lpstr>
      <vt:lpstr>Monotype Sorts</vt:lpstr>
      <vt:lpstr>华文楷体</vt:lpstr>
      <vt:lpstr>Calibri</vt:lpstr>
      <vt:lpstr>Times New Roman</vt:lpstr>
      <vt:lpstr>微软雅黑</vt:lpstr>
      <vt:lpstr>Arial Unicode MS</vt:lpstr>
      <vt:lpstr>楷体_GB2312</vt:lpstr>
      <vt:lpstr>Office 主题</vt:lpstr>
      <vt:lpstr>数据库原理及应用</vt:lpstr>
      <vt:lpstr>PowerPoint 演示文稿</vt:lpstr>
      <vt:lpstr>EL简介</vt:lpstr>
      <vt:lpstr>主要内容</vt:lpstr>
      <vt:lpstr>EL语法</vt:lpstr>
      <vt:lpstr>EL语法续1</vt:lpstr>
      <vt:lpstr>EL语法续2</vt:lpstr>
      <vt:lpstr>EL获取变量时的搜索顺序</vt:lpstr>
      <vt:lpstr>类型自动转换</vt:lpstr>
      <vt:lpstr>EL隐含对象</vt:lpstr>
      <vt:lpstr>EL算数运算符</vt:lpstr>
      <vt:lpstr>EL关系运算符</vt:lpstr>
      <vt:lpstr>EL逻辑运算符</vt:lpstr>
      <vt:lpstr>EL其他运算符</vt:lpstr>
      <vt:lpstr>运算符优先级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wxh</dc:creator>
  <cp:lastModifiedBy>wxh</cp:lastModifiedBy>
  <cp:revision>473</cp:revision>
  <dcterms:created xsi:type="dcterms:W3CDTF">2015-08-20T09:30:00Z</dcterms:created>
  <dcterms:modified xsi:type="dcterms:W3CDTF">2023-10-23T03:04:12Z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870F1959031F41AAAE77C90C497B25D3_12</vt:lpwstr>
  </property>
</Properties>
</file>