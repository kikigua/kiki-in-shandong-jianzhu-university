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86" r:id="rId6"/>
    <p:sldId id="287" r:id="rId7"/>
    <p:sldId id="288" r:id="rId8"/>
    <p:sldId id="313" r:id="rId9"/>
    <p:sldId id="290" r:id="rId10"/>
    <p:sldId id="301" r:id="rId11"/>
    <p:sldId id="291" r:id="rId12"/>
    <p:sldId id="296" r:id="rId13"/>
    <p:sldId id="292" r:id="rId14"/>
    <p:sldId id="293" r:id="rId15"/>
    <p:sldId id="294" r:id="rId16"/>
    <p:sldId id="295" r:id="rId17"/>
    <p:sldId id="297" r:id="rId18"/>
    <p:sldId id="298" r:id="rId19"/>
    <p:sldId id="299" r:id="rId20"/>
    <p:sldId id="300" r:id="rId21"/>
    <p:sldId id="327" r:id="rId22"/>
    <p:sldId id="328" r:id="rId23"/>
    <p:sldId id="329" r:id="rId24"/>
    <p:sldId id="330" r:id="rId25"/>
    <p:sldId id="331" r:id="rId26"/>
    <p:sldId id="285" r:id="rId27"/>
  </p:sldIdLst>
  <p:sldSz cx="12192000" cy="6858000"/>
  <p:notesSz cx="6858000" cy="9144000"/>
  <p:custDataLst>
    <p:tags r:id="rId3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7320"/>
  </p:normalViewPr>
  <p:slideViewPr>
    <p:cSldViewPr showGuides="1">
      <p:cViewPr>
        <p:scale>
          <a:sx n="60" d="100"/>
          <a:sy n="60" d="100"/>
        </p:scale>
        <p:origin x="-1428" y="-296"/>
      </p:cViewPr>
      <p:guideLst>
        <p:guide orient="horz" pos="2160"/>
        <p:guide pos="3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5337F98-4FA8-40B5-A2EE-10ED6302FF6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355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endParaRPr lang="zh-CN" altLang="en-US" dirty="0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  <a:sym typeface="+mn-ea"/>
              </a:rPr>
              <a:t>DispatcherType.FORWARD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58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endParaRPr lang="zh-CN" altLang="en-US" dirty="0"/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session的活化与钝化就是当用户访问时网站异常，不能丢掉session，所有也必须采用文件存储；和之前那个统计网站访问量一样的原理。</a:t>
            </a:r>
            <a:endParaRPr lang="zh-CN" altLang="en-US"/>
          </a:p>
          <a:p>
            <a:r>
              <a:rPr lang="zh-CN" altLang="en-US"/>
              <a:t> class Person implements必须实现这两个接口，实现session活化和钝化的要求</a:t>
            </a:r>
            <a:endParaRPr lang="zh-CN" altLang="en-US"/>
          </a:p>
          <a:p>
            <a:r>
              <a:rPr lang="zh-CN" altLang="en-US"/>
              <a:t>活化：从硬盘上读取到内存中</a:t>
            </a:r>
            <a:endParaRPr lang="zh-CN" altLang="en-US"/>
          </a:p>
          <a:p>
            <a:r>
              <a:rPr lang="zh-CN" altLang="en-US"/>
              <a:t>纯化：从内存中写到硬盘上</a:t>
            </a:r>
            <a:endParaRPr lang="zh-CN" altLang="en-US"/>
          </a:p>
          <a:p>
            <a:r>
              <a:rPr lang="zh-CN" altLang="en-US"/>
              <a:t>public class Person implements HttpSessionActivationListener,Serializable{  </a:t>
            </a:r>
            <a:endParaRPr lang="zh-CN" altLang="en-US"/>
          </a:p>
          <a:p>
            <a:r>
              <a:rPr lang="zh-CN" altLang="en-US"/>
              <a:t>        private static final long serialVersionUID = 1L;  </a:t>
            </a:r>
            <a:endParaRPr lang="zh-CN" altLang="en-US"/>
          </a:p>
          <a:p>
            <a:r>
              <a:rPr lang="zh-CN" altLang="en-US"/>
              <a:t>        private String name;  </a:t>
            </a:r>
            <a:endParaRPr lang="zh-CN" altLang="en-US"/>
          </a:p>
          <a:p>
            <a:r>
              <a:rPr lang="zh-CN" altLang="en-US"/>
              <a:t>        public Person(String name) {  </a:t>
            </a:r>
            <a:endParaRPr lang="zh-CN" altLang="en-US"/>
          </a:p>
          <a:p>
            <a:r>
              <a:rPr lang="zh-CN" altLang="en-US"/>
              <a:t>            this.name = name;  </a:t>
            </a:r>
            <a:endParaRPr lang="zh-CN" altLang="en-US"/>
          </a:p>
          <a:p>
            <a:r>
              <a:rPr lang="zh-CN" altLang="en-US"/>
              <a:t>        }  </a:t>
            </a:r>
            <a:endParaRPr lang="zh-CN" altLang="en-US"/>
          </a:p>
          <a:p>
            <a:r>
              <a:rPr lang="zh-CN" altLang="en-US"/>
              <a:t>        @Override  </a:t>
            </a:r>
            <a:endParaRPr lang="zh-CN" altLang="en-US"/>
          </a:p>
          <a:p>
            <a:r>
              <a:rPr lang="zh-CN" altLang="en-US"/>
              <a:t>        public void sessionWillPassivate(HttpSessionEvent se) {  </a:t>
            </a:r>
            <a:endParaRPr lang="zh-CN" altLang="en-US"/>
          </a:p>
          <a:p>
            <a:r>
              <a:rPr lang="zh-CN" altLang="en-US"/>
              <a:t>            System.out.println("一个Person对象钝化了呵呵...");  </a:t>
            </a:r>
            <a:endParaRPr lang="zh-CN" altLang="en-US"/>
          </a:p>
          <a:p>
            <a:r>
              <a:rPr lang="zh-CN" altLang="en-US"/>
              <a:t>        }  </a:t>
            </a:r>
            <a:endParaRPr lang="zh-CN" altLang="en-US"/>
          </a:p>
          <a:p>
            <a:r>
              <a:rPr lang="zh-CN" altLang="en-US"/>
              <a:t>      </a:t>
            </a:r>
            <a:endParaRPr lang="zh-CN" altLang="en-US"/>
          </a:p>
          <a:p>
            <a:r>
              <a:rPr lang="zh-CN" altLang="en-US"/>
              <a:t>        @Override  </a:t>
            </a:r>
            <a:endParaRPr lang="zh-CN" altLang="en-US"/>
          </a:p>
          <a:p>
            <a:r>
              <a:rPr lang="zh-CN" altLang="en-US"/>
              <a:t>        public void sessionDidActivate(HttpSessionEvent se) {  </a:t>
            </a:r>
            <a:endParaRPr lang="zh-CN" altLang="en-US"/>
          </a:p>
          <a:p>
            <a:r>
              <a:rPr lang="zh-CN" altLang="en-US"/>
              <a:t>            System.out.println("一个Person对象活化了呵呵...");  </a:t>
            </a:r>
            <a:endParaRPr lang="zh-CN" altLang="en-US"/>
          </a:p>
          <a:p>
            <a:r>
              <a:rPr lang="zh-CN" altLang="en-US"/>
              <a:t>        } 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标题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gray">
          <a:xfrm>
            <a:off x="0" y="6308725"/>
            <a:ext cx="10079038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grpSp>
        <p:nvGrpSpPr>
          <p:cNvPr id="2053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2054" name="Picture 10" descr="校标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5" name="Picture 11" descr="软件工程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6" name="Picture 2" descr="标题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gray">
          <a:xfrm>
            <a:off x="0" y="6308725"/>
            <a:ext cx="10079038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grpSp>
        <p:nvGrpSpPr>
          <p:cNvPr id="2059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2060" name="Picture 10" descr="校标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61" name="Picture 11" descr="软件工程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 fontAlgn="base"/>
            <a:r>
              <a:rPr lang="en-US" altLang="zh-CN" strike="noStrike" noProof="0" dirty="0" smtClean="0"/>
              <a:t>Click to edit Master subtitle style</a:t>
            </a:r>
            <a:endParaRPr lang="en-US" altLang="zh-CN" strike="noStrike" noProof="0" dirty="0" smtClean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4" y="214313"/>
            <a:ext cx="10390716" cy="146208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/>
              <a:buChar char="ª"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dt" sz="half" idx="2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en-US" altLang="zh-CN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34584" y="214313"/>
            <a:ext cx="10405533" cy="5918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dt" sz="half" idx="2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en-US" altLang="zh-CN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6.png"/><Relationship Id="rId18" Type="http://schemas.openxmlformats.org/officeDocument/2006/relationships/image" Target="../media/image5.png"/><Relationship Id="rId17" Type="http://schemas.openxmlformats.org/officeDocument/2006/relationships/image" Target="../media/image4.png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标题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/>
            <a:endParaRPr lang="zh-CN" altLang="en-US" strike="noStrike" noProof="1" smtClean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762000" y="1135063"/>
            <a:ext cx="10717213" cy="511333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038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  <p:grpSp>
        <p:nvGrpSpPr>
          <p:cNvPr id="1033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35" name="Picture 11" descr="软件工程2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7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/>
        <a:buBlip>
          <a:blip r:embed="rId18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endParaRPr kumimoji="0" lang="en-US" altLang="zh-CN" sz="48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10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讲 过滤器和监听器</a:t>
            </a:r>
            <a:endParaRPr kumimoji="0" lang="zh-CN" altLang="en-US" sz="4400" b="1" i="1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主要内容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843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过滤器</a:t>
            </a:r>
            <a:endParaRPr lang="en-US" altLang="zh-CN" dirty="0"/>
          </a:p>
          <a:p>
            <a:pPr lvl="1"/>
            <a:r>
              <a:rPr lang="en-US" altLang="zh-CN" dirty="0"/>
              <a:t>1 </a:t>
            </a:r>
            <a:r>
              <a:rPr lang="zh-CN" altLang="en-US" dirty="0"/>
              <a:t>过滤器的基本概念</a:t>
            </a:r>
            <a:endParaRPr lang="en-US" altLang="zh-CN" dirty="0"/>
          </a:p>
          <a:p>
            <a:pPr lvl="1"/>
            <a:r>
              <a:rPr lang="en-US" altLang="zh-CN" dirty="0"/>
              <a:t>2 </a:t>
            </a:r>
            <a:r>
              <a:rPr lang="zh-CN" altLang="en-US" dirty="0"/>
              <a:t>过滤器的生命周期与常用方法</a:t>
            </a:r>
            <a:endParaRPr lang="en-US" altLang="zh-CN" dirty="0"/>
          </a:p>
          <a:p>
            <a:pPr lvl="1"/>
            <a:r>
              <a:rPr lang="en-US" altLang="zh-CN" dirty="0"/>
              <a:t>3 </a:t>
            </a:r>
            <a:r>
              <a:rPr lang="zh-CN" altLang="en-US" dirty="0"/>
              <a:t>第一个过滤器实例</a:t>
            </a:r>
            <a:endParaRPr lang="en-US" altLang="zh-CN" dirty="0"/>
          </a:p>
          <a:p>
            <a:pPr lvl="1"/>
            <a:r>
              <a:rPr lang="en-US" altLang="zh-CN" dirty="0"/>
              <a:t>4 </a:t>
            </a:r>
            <a:r>
              <a:rPr lang="zh-CN" altLang="en-US" dirty="0"/>
              <a:t>过滤器链</a:t>
            </a:r>
            <a:endParaRPr lang="en-US" altLang="zh-CN" dirty="0"/>
          </a:p>
          <a:p>
            <a:pPr lvl="1"/>
            <a:r>
              <a:rPr lang="en-US" altLang="zh-CN" dirty="0"/>
              <a:t>5 </a:t>
            </a:r>
            <a:r>
              <a:rPr lang="zh-CN" altLang="en-US" dirty="0"/>
              <a:t>过滤器的分类</a:t>
            </a:r>
            <a:endParaRPr lang="en-US" altLang="zh-CN" dirty="0"/>
          </a:p>
          <a:p>
            <a:pPr lvl="1"/>
            <a:r>
              <a:rPr lang="en-US" altLang="zh-CN" dirty="0"/>
              <a:t>6 </a:t>
            </a:r>
            <a:r>
              <a:rPr lang="zh-CN" altLang="en-US" dirty="0"/>
              <a:t>综合案例</a:t>
            </a:r>
            <a:endParaRPr lang="en-US" altLang="zh-CN" dirty="0"/>
          </a:p>
          <a:p>
            <a:r>
              <a:rPr lang="zh-CN" altLang="en-US" dirty="0"/>
              <a:t>监听器</a:t>
            </a:r>
            <a:endParaRPr lang="en-US" altLang="zh-CN" dirty="0"/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1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、过滤器的基本概念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 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b="0" dirty="0"/>
              <a:t>什么是过滤器</a:t>
            </a:r>
            <a:endParaRPr lang="zh-CN" altLang="en-US" b="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过滤器是一个</a:t>
            </a:r>
            <a:r>
              <a:rPr lang="zh-CN" altLang="en-US" dirty="0">
                <a:solidFill>
                  <a:srgbClr val="FF0000"/>
                </a:solidFill>
              </a:rPr>
              <a:t>服务器端</a:t>
            </a:r>
            <a:r>
              <a:rPr lang="zh-CN" altLang="en-US" dirty="0"/>
              <a:t>的组件，它可以截取客户端的</a:t>
            </a:r>
            <a:r>
              <a:rPr lang="zh-CN" altLang="en-US" dirty="0">
                <a:solidFill>
                  <a:srgbClr val="FF0000"/>
                </a:solidFill>
              </a:rPr>
              <a:t>请求</a:t>
            </a:r>
            <a:r>
              <a:rPr lang="zh-CN" altLang="en-US" dirty="0"/>
              <a:t>和服务端的</a:t>
            </a:r>
            <a:r>
              <a:rPr lang="zh-CN" altLang="en-US" dirty="0">
                <a:solidFill>
                  <a:srgbClr val="FF0000"/>
                </a:solidFill>
              </a:rPr>
              <a:t>响应</a:t>
            </a:r>
            <a:r>
              <a:rPr lang="zh-CN" altLang="en-US" dirty="0"/>
              <a:t>信息，并对这些信息进行</a:t>
            </a:r>
            <a:r>
              <a:rPr lang="zh-CN" altLang="en-US" dirty="0">
                <a:solidFill>
                  <a:srgbClr val="FF0000"/>
                </a:solidFill>
              </a:rPr>
              <a:t>过滤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过滤器</a:t>
            </a: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的工作原理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048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048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488" y="1123950"/>
            <a:ext cx="8623300" cy="5148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4" name="文本框 2"/>
          <p:cNvSpPr txBox="1"/>
          <p:nvPr/>
        </p:nvSpPr>
        <p:spPr>
          <a:xfrm>
            <a:off x="10741025" y="2486025"/>
            <a:ext cx="1292225" cy="24622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200" b="1">
                <a:latin typeface="宋体" panose="02010600030101010101" pitchFamily="2" charset="-122"/>
                <a:ea typeface="宋体" panose="02010600030101010101" pitchFamily="2" charset="-122"/>
              </a:rPr>
              <a:t>HTML</a:t>
            </a:r>
            <a:endParaRPr lang="en-US" altLang="zh-CN" sz="2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b="1">
                <a:latin typeface="宋体" panose="02010600030101010101" pitchFamily="2" charset="-122"/>
                <a:ea typeface="宋体" panose="02010600030101010101" pitchFamily="2" charset="-122"/>
              </a:rPr>
              <a:t>CSS</a:t>
            </a:r>
            <a:endParaRPr lang="en-US" altLang="zh-CN" sz="2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b="1">
                <a:latin typeface="宋体" panose="02010600030101010101" pitchFamily="2" charset="-122"/>
                <a:ea typeface="宋体" panose="02010600030101010101" pitchFamily="2" charset="-122"/>
              </a:rPr>
              <a:t>JS</a:t>
            </a:r>
            <a:endParaRPr lang="en-US" altLang="zh-CN" sz="2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200" b="1">
                <a:latin typeface="宋体" panose="02010600030101010101" pitchFamily="2" charset="-122"/>
                <a:ea typeface="宋体" panose="02010600030101010101" pitchFamily="2" charset="-122"/>
              </a:rPr>
              <a:t>图片</a:t>
            </a:r>
            <a:endParaRPr lang="zh-CN" altLang="en-US" sz="2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b="1">
                <a:latin typeface="宋体" panose="02010600030101010101" pitchFamily="2" charset="-122"/>
                <a:ea typeface="宋体" panose="02010600030101010101" pitchFamily="2" charset="-122"/>
              </a:rPr>
              <a:t>JSP</a:t>
            </a:r>
            <a:endParaRPr lang="en-US" altLang="zh-CN" sz="2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b="1">
                <a:latin typeface="宋体" panose="02010600030101010101" pitchFamily="2" charset="-122"/>
                <a:ea typeface="宋体" panose="02010600030101010101" pitchFamily="2" charset="-122"/>
              </a:rPr>
              <a:t>Servlet</a:t>
            </a:r>
            <a:endParaRPr lang="zh-CN" altLang="en-US" sz="2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2313" y="152400"/>
            <a:ext cx="8170863" cy="874713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2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、过滤器的生命周期与常用方法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038" y="1187450"/>
            <a:ext cx="11385550" cy="5113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/>
              <a:buChar char="ª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过滤器的生命周期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实例化：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指在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Web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工程的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web.xml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文件（或注解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@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WebFilter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）里声明一个过滤器，在声明了过滤器之后，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Web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容器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会创建一个过滤器的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实例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初始化：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在创建了过滤器实例之后，服务器会执行过滤器中的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init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()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方法，这是过滤器的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初始化方法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过滤：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初始化之后过滤器就可以对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请求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响应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进行过滤了，过滤主要调用的是过滤器的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doFilter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()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方法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销毁：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最后当服务器停止时，会将过滤器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销毁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，销毁过滤器前主要调用过滤器的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destory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()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方法，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释放资源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0575" y="20320"/>
            <a:ext cx="10334625" cy="6892925"/>
          </a:xfrm>
          <a:solidFill>
            <a:schemeClr val="accent3"/>
          </a:solidFill>
        </p:spPr>
        <p:txBody>
          <a:bodyPr/>
          <a:p>
            <a:pPr marL="0" indent="0">
              <a:buNone/>
            </a:pPr>
            <a:r>
              <a:rPr lang="zh-CN" altLang="zh-CN" sz="2000" dirty="0">
                <a:sym typeface="+mn-ea"/>
              </a:rPr>
              <a:t>使用</a:t>
            </a:r>
            <a:r>
              <a:rPr lang="en-US" altLang="zh-CN" sz="2000" dirty="0">
                <a:sym typeface="+mn-ea"/>
              </a:rPr>
              <a:t>XML</a:t>
            </a:r>
            <a:r>
              <a:rPr lang="zh-CN" altLang="zh-CN" sz="2000" dirty="0">
                <a:sym typeface="+mn-ea"/>
              </a:rPr>
              <a:t>配置过滤器，需要在</a:t>
            </a:r>
            <a:r>
              <a:rPr lang="en-US" altLang="zh-CN" sz="2000" dirty="0">
                <a:sym typeface="+mn-ea"/>
              </a:rPr>
              <a:t>web.xml</a:t>
            </a:r>
            <a:r>
              <a:rPr lang="zh-CN" altLang="zh-CN" sz="2000" dirty="0">
                <a:sym typeface="+mn-ea"/>
              </a:rPr>
              <a:t>文件中使用</a:t>
            </a:r>
            <a:r>
              <a:rPr lang="en-US" altLang="zh-CN" sz="2000" dirty="0">
                <a:sym typeface="+mn-ea"/>
              </a:rPr>
              <a:t>&lt;filter&gt;</a:t>
            </a:r>
            <a:r>
              <a:rPr lang="zh-CN" altLang="zh-CN" sz="2000" dirty="0">
                <a:sym typeface="+mn-ea"/>
              </a:rPr>
              <a:t>和</a:t>
            </a:r>
            <a:r>
              <a:rPr lang="en-US" altLang="zh-CN" sz="2000" dirty="0">
                <a:sym typeface="+mn-ea"/>
              </a:rPr>
              <a:t>&lt;filter-mapping&gt;</a:t>
            </a:r>
            <a:r>
              <a:rPr lang="zh-CN" altLang="zh-CN" sz="2000" dirty="0">
                <a:sym typeface="+mn-ea"/>
              </a:rPr>
              <a:t>这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zh-CN" sz="2000" dirty="0">
                <a:sym typeface="+mn-ea"/>
              </a:rPr>
              <a:t>对</a:t>
            </a:r>
            <a:r>
              <a:rPr lang="zh-CN" altLang="zh-CN" sz="2000" dirty="0" smtClean="0">
                <a:sym typeface="+mn-ea"/>
              </a:rPr>
              <a:t>标签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&lt;web-app …&gt;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&lt;filter&gt;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&lt;filter-name&gt;</a:t>
            </a:r>
            <a:r>
              <a:rPr lang="en-US" altLang="zh-CN" sz="2000" dirty="0" err="1">
                <a:sym typeface="+mn-ea"/>
              </a:rPr>
              <a:t>myFilter</a:t>
            </a:r>
            <a:r>
              <a:rPr lang="en-US" altLang="zh-CN" sz="2000" dirty="0">
                <a:sym typeface="+mn-ea"/>
              </a:rPr>
              <a:t>&lt;/filter-name&gt;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&lt;filter-class&gt;</a:t>
            </a:r>
            <a:r>
              <a:rPr lang="en-US" altLang="zh-CN" sz="2000" dirty="0" err="1">
                <a:sym typeface="+mn-ea"/>
              </a:rPr>
              <a:t>filter.MyFilter</a:t>
            </a:r>
            <a:r>
              <a:rPr lang="en-US" altLang="zh-CN" sz="2000" dirty="0">
                <a:sym typeface="+mn-ea"/>
              </a:rPr>
              <a:t>&lt;/filter-class&gt;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&lt;/filter&gt;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&lt;filter-mapping&gt;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&lt;filter-name&gt;</a:t>
            </a:r>
            <a:r>
              <a:rPr lang="en-US" altLang="zh-CN" sz="2000" dirty="0" err="1">
                <a:sym typeface="+mn-ea"/>
              </a:rPr>
              <a:t>myFilter</a:t>
            </a:r>
            <a:r>
              <a:rPr lang="en-US" altLang="zh-CN" sz="2000" dirty="0">
                <a:sym typeface="+mn-ea"/>
              </a:rPr>
              <a:t>&lt;/filter-name&gt;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&lt;</a:t>
            </a:r>
            <a:r>
              <a:rPr lang="en-US" altLang="zh-CN" sz="2000" dirty="0" err="1">
                <a:sym typeface="+mn-ea"/>
              </a:rPr>
              <a:t>url</a:t>
            </a:r>
            <a:r>
              <a:rPr lang="en-US" altLang="zh-CN" sz="2000" dirty="0">
                <a:sym typeface="+mn-ea"/>
              </a:rPr>
              <a:t>-pattern&gt;/</a:t>
            </a:r>
            <a:r>
              <a:rPr lang="en-US" altLang="zh-CN" sz="2000" dirty="0" err="1">
                <a:sym typeface="+mn-ea"/>
              </a:rPr>
              <a:t>index.jsp</a:t>
            </a:r>
            <a:r>
              <a:rPr lang="en-US" altLang="zh-CN" sz="2000" dirty="0">
                <a:sym typeface="+mn-ea"/>
              </a:rPr>
              <a:t>&lt;/</a:t>
            </a:r>
            <a:r>
              <a:rPr lang="en-US" altLang="zh-CN" sz="2000" dirty="0" err="1">
                <a:sym typeface="+mn-ea"/>
              </a:rPr>
              <a:t>url</a:t>
            </a:r>
            <a:r>
              <a:rPr lang="en-US" altLang="zh-CN" sz="2000" dirty="0">
                <a:sym typeface="+mn-ea"/>
              </a:rPr>
              <a:t>-pattern&gt;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&lt;dispatcher&gt;REQUEST&lt;/dispatcher&gt;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&lt;/filter-mapping&gt;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&lt;filter-mapping&gt;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&lt;filter-name&gt;</a:t>
            </a:r>
            <a:r>
              <a:rPr lang="en-US" altLang="zh-CN" sz="2000" dirty="0" err="1">
                <a:sym typeface="+mn-ea"/>
              </a:rPr>
              <a:t>myFilterFilter</a:t>
            </a:r>
            <a:r>
              <a:rPr lang="en-US" altLang="zh-CN" sz="2000" dirty="0">
                <a:sym typeface="+mn-ea"/>
              </a:rPr>
              <a:t>&lt;/filter-name&gt;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&lt;</a:t>
            </a:r>
            <a:r>
              <a:rPr lang="en-US" altLang="zh-CN" sz="2000" dirty="0" err="1">
                <a:sym typeface="+mn-ea"/>
              </a:rPr>
              <a:t>url</a:t>
            </a:r>
            <a:r>
              <a:rPr lang="en-US" altLang="zh-CN" sz="2000" dirty="0">
                <a:sym typeface="+mn-ea"/>
              </a:rPr>
              <a:t>-pattern&gt;/</a:t>
            </a:r>
            <a:r>
              <a:rPr lang="en-US" altLang="zh-CN" sz="2000" dirty="0" err="1">
                <a:sym typeface="+mn-ea"/>
              </a:rPr>
              <a:t>another.jsp</a:t>
            </a:r>
            <a:r>
              <a:rPr lang="en-US" altLang="zh-CN" sz="2000" dirty="0">
                <a:sym typeface="+mn-ea"/>
              </a:rPr>
              <a:t>&lt;/</a:t>
            </a:r>
            <a:r>
              <a:rPr lang="en-US" altLang="zh-CN" sz="2000" dirty="0" err="1">
                <a:sym typeface="+mn-ea"/>
              </a:rPr>
              <a:t>url</a:t>
            </a:r>
            <a:r>
              <a:rPr lang="en-US" altLang="zh-CN" sz="2000" dirty="0">
                <a:sym typeface="+mn-ea"/>
              </a:rPr>
              <a:t>-pattern&gt;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&lt;dispatcher&gt;REQUEST&lt;/dispatcher&gt;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&lt;/filter-mapping&gt;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&lt;/web-app</a:t>
            </a:r>
            <a:r>
              <a:rPr lang="en-US" altLang="zh-CN" sz="2000" dirty="0" smtClean="0">
                <a:sym typeface="+mn-ea"/>
              </a:rPr>
              <a:t>&gt;</a:t>
            </a:r>
            <a:endParaRPr lang="en-US" altLang="zh-CN" sz="2000" dirty="0" smtClean="0">
              <a:sym typeface="+mn-ea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3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、第一个过滤器实例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253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2531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7900" y="900113"/>
            <a:ext cx="10142538" cy="5368925"/>
          </a:xfrm>
        </p:spPr>
      </p:pic>
      <p:sp>
        <p:nvSpPr>
          <p:cNvPr id="23556" name="TextBox 4"/>
          <p:cNvSpPr txBox="1"/>
          <p:nvPr/>
        </p:nvSpPr>
        <p:spPr>
          <a:xfrm>
            <a:off x="3098800" y="5813425"/>
            <a:ext cx="5040313" cy="830263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en-US" altLang="zh-CN" sz="2400" b="1" noProof="1" dirty="0">
                <a:solidFill>
                  <a:srgbClr val="FF0000"/>
                </a:solidFill>
                <a:latin typeface="楷体_GB2312"/>
                <a:ea typeface="楷体_GB2312"/>
                <a:cs typeface="+mn-cs"/>
              </a:rPr>
              <a:t>@WebFilter </a:t>
            </a:r>
            <a:r>
              <a:rPr lang="en-US" altLang="zh-CN" sz="2400" b="1" noProof="1" dirty="0">
                <a:latin typeface="楷体_GB2312"/>
                <a:ea typeface="楷体_GB2312"/>
                <a:cs typeface="+mn-cs"/>
              </a:rPr>
              <a:t>Servlet</a:t>
            </a:r>
            <a:r>
              <a:rPr lang="en-US" altLang="zh-CN" sz="2400" b="1" noProof="1" dirty="0">
                <a:solidFill>
                  <a:srgbClr val="FF0000"/>
                </a:solidFill>
                <a:latin typeface="楷体_GB2312"/>
                <a:ea typeface="楷体_GB2312"/>
                <a:cs typeface="+mn-cs"/>
              </a:rPr>
              <a:t>3.0</a:t>
            </a:r>
            <a:r>
              <a:rPr lang="zh-CN" altLang="en-US" sz="2400" b="1" noProof="1" dirty="0">
                <a:latin typeface="楷体_GB2312"/>
                <a:ea typeface="楷体_GB2312"/>
                <a:cs typeface="+mn-cs"/>
              </a:rPr>
              <a:t>支持</a:t>
            </a:r>
            <a:endParaRPr lang="en-US" altLang="zh-CN" sz="2400" b="1" noProof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zh-CN" altLang="en-US" sz="2400" b="1" noProof="1" dirty="0">
                <a:latin typeface="楷体_GB2312"/>
                <a:ea typeface="楷体_GB2312"/>
                <a:cs typeface="+mn-cs"/>
              </a:rPr>
              <a:t>较低</a:t>
            </a:r>
            <a:r>
              <a:rPr lang="en-US" altLang="zh-CN" sz="2400" b="1" noProof="1" dirty="0">
                <a:latin typeface="楷体_GB2312"/>
                <a:ea typeface="楷体_GB2312"/>
                <a:cs typeface="+mn-cs"/>
              </a:rPr>
              <a:t>Servlet</a:t>
            </a:r>
            <a:r>
              <a:rPr lang="zh-CN" altLang="en-US" sz="2400" b="1" noProof="1" dirty="0">
                <a:latin typeface="楷体_GB2312"/>
                <a:ea typeface="楷体_GB2312"/>
                <a:cs typeface="+mn-cs"/>
              </a:rPr>
              <a:t>版本使用</a:t>
            </a:r>
            <a:r>
              <a:rPr lang="en-US" altLang="zh-CN" sz="2400" b="1" noProof="1" dirty="0">
                <a:solidFill>
                  <a:srgbClr val="FF0000"/>
                </a:solidFill>
                <a:latin typeface="楷体_GB2312"/>
                <a:ea typeface="楷体_GB2312"/>
                <a:cs typeface="+mn-cs"/>
              </a:rPr>
              <a:t>Web.xml</a:t>
            </a:r>
            <a:r>
              <a:rPr lang="zh-CN" altLang="en-US" sz="2400" b="1" noProof="1" dirty="0">
                <a:latin typeface="楷体_GB2312"/>
                <a:ea typeface="楷体_GB2312"/>
                <a:cs typeface="+mn-cs"/>
              </a:rPr>
              <a:t>配置</a:t>
            </a:r>
            <a:endParaRPr lang="en-US" altLang="zh-CN" sz="2400" b="1" noProof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45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00" y="101600"/>
            <a:ext cx="11074400" cy="6062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Rectangle 3"/>
          <p:cNvSpPr/>
          <p:nvPr/>
        </p:nvSpPr>
        <p:spPr>
          <a:xfrm>
            <a:off x="200025" y="6164263"/>
            <a:ext cx="11734800" cy="5207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152352" anchor="ctr">
            <a:spAutoFit/>
          </a:bodyPr>
          <a:p>
            <a:pPr eaLnBrk="0" hangingPunct="0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楷体_GB2312"/>
              </a:rPr>
              <a:t>@WebFilter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servletNames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 = {"SimpleServlet"},</a:t>
            </a:r>
            <a:r>
              <a:rPr lang="zh-CN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filterName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="SimpleFilter") </a:t>
            </a:r>
            <a:endParaRPr lang="zh-CN" altLang="zh-CN" sz="2400" dirty="0">
              <a:solidFill>
                <a:srgbClr val="000000"/>
              </a:solidFill>
              <a:latin typeface="Consolas" panose="020B0609020204030204" pitchFamily="49" charset="0"/>
              <a:ea typeface="楷体_GB2312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4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、过滤器链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一个</a:t>
            </a:r>
            <a:r>
              <a:rPr lang="en-US" altLang="zh-CN" dirty="0"/>
              <a:t>Web</a:t>
            </a:r>
            <a:r>
              <a:rPr lang="zh-CN" altLang="en-US" dirty="0"/>
              <a:t>项目可能存在</a:t>
            </a:r>
            <a:r>
              <a:rPr lang="zh-CN" altLang="en-US" dirty="0">
                <a:solidFill>
                  <a:srgbClr val="FF0000"/>
                </a:solidFill>
              </a:rPr>
              <a:t>多个过滤器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zh-CN" altLang="en-US" dirty="0">
                <a:solidFill>
                  <a:srgbClr val="FF0000"/>
                </a:solidFill>
              </a:rPr>
              <a:t>同一个</a:t>
            </a:r>
            <a:r>
              <a:rPr lang="en-US" altLang="zh-CN" dirty="0"/>
              <a:t>Web</a:t>
            </a:r>
            <a:r>
              <a:rPr lang="zh-CN" altLang="en-US" dirty="0"/>
              <a:t>资源，也可能有</a:t>
            </a:r>
            <a:r>
              <a:rPr lang="zh-CN" altLang="en-US" dirty="0">
                <a:solidFill>
                  <a:srgbClr val="FF0000"/>
                </a:solidFill>
              </a:rPr>
              <a:t>多个</a:t>
            </a:r>
            <a:r>
              <a:rPr lang="zh-CN" altLang="en-US" dirty="0"/>
              <a:t>过滤器与之相关联</a:t>
            </a:r>
            <a:endParaRPr lang="en-US" altLang="zh-CN" dirty="0"/>
          </a:p>
          <a:p>
            <a:r>
              <a:rPr lang="zh-CN" altLang="en-US" dirty="0"/>
              <a:t>当为同一个</a:t>
            </a:r>
            <a:r>
              <a:rPr lang="en-US" altLang="zh-CN" dirty="0"/>
              <a:t>Web</a:t>
            </a:r>
            <a:r>
              <a:rPr lang="zh-CN" altLang="en-US" dirty="0"/>
              <a:t>资源关联多个过滤器时，如果客户端请求相应的</a:t>
            </a:r>
            <a:r>
              <a:rPr lang="en-US" altLang="zh-CN" dirty="0"/>
              <a:t>Web</a:t>
            </a:r>
            <a:r>
              <a:rPr lang="zh-CN" altLang="en-US" dirty="0"/>
              <a:t>资源，</a:t>
            </a:r>
            <a:r>
              <a:rPr lang="en-US" altLang="zh-CN" dirty="0"/>
              <a:t>Web</a:t>
            </a:r>
            <a:r>
              <a:rPr lang="zh-CN" altLang="en-US" dirty="0"/>
              <a:t>容器该按照什么样的顺序进行过滤呢？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过滤器链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过滤器链执行过程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662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662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298575"/>
            <a:ext cx="9404350" cy="5014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8" name="TextBox 4"/>
          <p:cNvSpPr txBox="1"/>
          <p:nvPr/>
        </p:nvSpPr>
        <p:spPr>
          <a:xfrm>
            <a:off x="8402638" y="1109663"/>
            <a:ext cx="2938462" cy="460375"/>
          </a:xfrm>
          <a:prstGeom prst="rect">
            <a:avLst/>
          </a:prstGeom>
          <a:solidFill>
            <a:srgbClr val="E0E0EB"/>
          </a:solidFill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zh-CN" altLang="en-US" sz="2400" b="1" dirty="0">
                <a:latin typeface="楷体_GB2312"/>
                <a:ea typeface="楷体_GB2312"/>
              </a:rPr>
              <a:t>过滤器链的执行过程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6629" name="TextBox 6"/>
          <p:cNvSpPr txBox="1"/>
          <p:nvPr/>
        </p:nvSpPr>
        <p:spPr>
          <a:xfrm>
            <a:off x="4051300" y="5976938"/>
            <a:ext cx="1719263" cy="460375"/>
          </a:xfrm>
          <a:prstGeom prst="rect">
            <a:avLst/>
          </a:prstGeom>
          <a:solidFill>
            <a:srgbClr val="E0E0EB"/>
          </a:solidFill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400" b="1" dirty="0" err="1">
                <a:latin typeface="楷体_GB2312"/>
                <a:ea typeface="楷体_GB2312"/>
              </a:rPr>
              <a:t>doFilter</a:t>
            </a:r>
            <a:r>
              <a:rPr lang="en-US" altLang="zh-CN" sz="2400" b="1" dirty="0">
                <a:latin typeface="楷体_GB2312"/>
                <a:ea typeface="楷体_GB2312"/>
              </a:rPr>
              <a:t>()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6630" name="TextBox 7"/>
          <p:cNvSpPr txBox="1"/>
          <p:nvPr/>
        </p:nvSpPr>
        <p:spPr>
          <a:xfrm>
            <a:off x="6427788" y="5976938"/>
            <a:ext cx="1719262" cy="460375"/>
          </a:xfrm>
          <a:prstGeom prst="rect">
            <a:avLst/>
          </a:prstGeom>
          <a:solidFill>
            <a:srgbClr val="E0E0EB"/>
          </a:solidFill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400" b="1" dirty="0" err="1">
                <a:latin typeface="楷体_GB2312"/>
                <a:ea typeface="楷体_GB2312"/>
              </a:rPr>
              <a:t>doFilter</a:t>
            </a:r>
            <a:r>
              <a:rPr lang="en-US" altLang="zh-CN" sz="2400" b="1" dirty="0">
                <a:latin typeface="楷体_GB2312"/>
                <a:ea typeface="楷体_GB2312"/>
              </a:rPr>
              <a:t>()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7650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过滤器链示例</a:t>
            </a:r>
            <a:endParaRPr lang="en-US" altLang="zh-CN" dirty="0"/>
          </a:p>
          <a:p>
            <a:pPr lvl="1"/>
            <a:r>
              <a:rPr lang="en-US" altLang="zh-CN" dirty="0"/>
              <a:t>TestFilter1,TestFilter2 </a:t>
            </a:r>
            <a:r>
              <a:rPr lang="zh-CN" altLang="en-US" dirty="0"/>
              <a:t>（演示）</a:t>
            </a:r>
            <a:endParaRPr lang="en-US" altLang="zh-CN" dirty="0"/>
          </a:p>
          <a:p>
            <a:pPr lvl="2"/>
            <a:r>
              <a:rPr lang="en-US" altLang="zh-CN" dirty="0"/>
              <a:t>@WebFilter </a:t>
            </a:r>
            <a:r>
              <a:rPr lang="zh-CN" altLang="en-US" dirty="0"/>
              <a:t>按字母序执行</a:t>
            </a:r>
            <a:endParaRPr lang="en-US" altLang="zh-CN" dirty="0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5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、过滤器的分类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867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867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13" y="933450"/>
            <a:ext cx="10779125" cy="5302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request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这个类型是最常用的，也是</a:t>
            </a:r>
            <a:r>
              <a:rPr lang="en-US" altLang="zh-CN" dirty="0">
                <a:solidFill>
                  <a:srgbClr val="FF0000"/>
                </a:solidFill>
              </a:rPr>
              <a:t>dispatcher</a:t>
            </a:r>
            <a:r>
              <a:rPr lang="zh-CN" altLang="en-US" dirty="0"/>
              <a:t>属性的默认值，表示用户</a:t>
            </a:r>
            <a:r>
              <a:rPr lang="zh-CN" altLang="en-US" dirty="0">
                <a:solidFill>
                  <a:srgbClr val="FF0000"/>
                </a:solidFill>
              </a:rPr>
              <a:t>直接请求</a:t>
            </a:r>
            <a:r>
              <a:rPr lang="zh-CN" altLang="en-US" dirty="0"/>
              <a:t>一个</a:t>
            </a:r>
            <a:r>
              <a:rPr lang="en-US" altLang="zh-CN" dirty="0"/>
              <a:t>Web</a:t>
            </a:r>
            <a:r>
              <a:rPr lang="zh-CN" altLang="en-US" dirty="0"/>
              <a:t>资源时触发过滤器。</a:t>
            </a:r>
            <a:endParaRPr lang="en-US" altLang="zh-CN" dirty="0"/>
          </a:p>
          <a:p>
            <a:pPr lvl="1"/>
            <a:r>
              <a:rPr lang="zh-CN" altLang="en-US" dirty="0"/>
              <a:t>客户端</a:t>
            </a:r>
            <a:r>
              <a:rPr lang="zh-CN" altLang="en-US" dirty="0">
                <a:solidFill>
                  <a:srgbClr val="FF0000"/>
                </a:solidFill>
              </a:rPr>
              <a:t>重定向</a:t>
            </a:r>
            <a:r>
              <a:rPr lang="zh-CN" altLang="en-US" dirty="0"/>
              <a:t>发送的</a:t>
            </a:r>
            <a:r>
              <a:rPr lang="en-US" altLang="zh-CN" dirty="0"/>
              <a:t>url</a:t>
            </a:r>
            <a:endParaRPr lang="en-US" altLang="zh-CN" dirty="0"/>
          </a:p>
          <a:p>
            <a:pPr lvl="2"/>
            <a:r>
              <a:rPr lang="en-US" altLang="zh-CN" dirty="0"/>
              <a:t>response.sendRedirect("index.jsp");</a:t>
            </a:r>
            <a:endParaRPr lang="en-US" altLang="zh-CN" dirty="0"/>
          </a:p>
          <a:p>
            <a:pPr lvl="2"/>
            <a:r>
              <a:rPr lang="zh-CN" altLang="en-US" dirty="0"/>
              <a:t>超链接</a:t>
            </a:r>
            <a:r>
              <a:rPr lang="en-US" altLang="zh-CN" dirty="0"/>
              <a:t>/form</a:t>
            </a:r>
            <a:r>
              <a:rPr lang="zh-CN" altLang="en-US" dirty="0"/>
              <a:t>表单</a:t>
            </a:r>
            <a:endParaRPr lang="en-US" altLang="zh-CN" dirty="0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485775" y="5022850"/>
            <a:ext cx="10729913" cy="5207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152352" anchor="ctr">
            <a:spAutoFit/>
          </a:bodyPr>
          <a:p>
            <a:pPr eaLnBrk="0" hangingPunct="0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楷体_GB2312"/>
              </a:rPr>
              <a:t>@WebFilter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value=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  <a:sym typeface="楷体_GB2312"/>
              </a:rPr>
              <a:t>"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/*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  <a:sym typeface="楷体_GB2312"/>
              </a:rPr>
              <a:t>"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  <a:sym typeface="楷体_GB2312"/>
              </a:rPr>
              <a:t>, dispatcherTypes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 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=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DispatcherType.REQUEST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) </a:t>
            </a:r>
            <a:endParaRPr lang="zh-CN" altLang="zh-CN" sz="2400" dirty="0">
              <a:solidFill>
                <a:srgbClr val="000000"/>
              </a:solidFill>
              <a:latin typeface="Consolas" panose="020B0609020204030204" pitchFamily="49" charset="0"/>
              <a:ea typeface="楷体_GB2312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1263650" y="4319588"/>
            <a:ext cx="2682875" cy="5207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152352" anchor="ctr">
            <a:spAutoFit/>
          </a:bodyPr>
          <a:p>
            <a:pPr eaLnBrk="0" hangingPunct="0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楷体_GB2312"/>
              </a:rPr>
              <a:t>@WebFilter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(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  <a:sym typeface="楷体_GB2312"/>
              </a:rPr>
              <a:t>"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/*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  <a:sym typeface="楷体_GB2312"/>
              </a:rPr>
              <a:t>"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) </a:t>
            </a:r>
            <a:endParaRPr lang="zh-CN" altLang="zh-CN" sz="2400" dirty="0">
              <a:solidFill>
                <a:srgbClr val="000000"/>
              </a:solidFill>
              <a:latin typeface="Consolas" panose="020B0609020204030204" pitchFamily="49" charset="0"/>
              <a:ea typeface="楷体_GB231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forward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对服务器端转发的</a:t>
            </a:r>
            <a:r>
              <a:rPr lang="en-US" altLang="zh-CN" dirty="0"/>
              <a:t>url</a:t>
            </a:r>
            <a:r>
              <a:rPr lang="zh-CN" altLang="en-US" dirty="0"/>
              <a:t>进行过滤</a:t>
            </a:r>
            <a:endParaRPr lang="en-US" altLang="zh-CN" dirty="0"/>
          </a:p>
          <a:p>
            <a:pPr lvl="1"/>
            <a:r>
              <a:rPr lang="en-US" altLang="zh-CN" dirty="0"/>
              <a:t>dispatcher</a:t>
            </a:r>
            <a:r>
              <a:rPr lang="zh-CN" altLang="en-US" dirty="0"/>
              <a:t>值为</a:t>
            </a:r>
            <a:r>
              <a:rPr lang="en-US" altLang="zh-CN" dirty="0">
                <a:solidFill>
                  <a:srgbClr val="FF0000"/>
                </a:solidFill>
              </a:rPr>
              <a:t>forward</a:t>
            </a:r>
            <a:endParaRPr lang="en-US" altLang="zh-CN" dirty="0"/>
          </a:p>
          <a:p>
            <a:pPr lvl="1"/>
            <a:r>
              <a:rPr lang="en-US" altLang="zh-CN" dirty="0"/>
              <a:t>request.</a:t>
            </a:r>
            <a:r>
              <a:rPr lang="en-US" altLang="zh-CN" dirty="0">
                <a:solidFill>
                  <a:srgbClr val="FF0000"/>
                </a:solidFill>
              </a:rPr>
              <a:t>getRequestDispatcher</a:t>
            </a:r>
            <a:r>
              <a:rPr lang="en-US" altLang="zh-CN" dirty="0"/>
              <a:t>("index.jsp").forward(request, response); </a:t>
            </a:r>
            <a:endParaRPr lang="en-US" altLang="zh-CN" dirty="0"/>
          </a:p>
          <a:p>
            <a:pPr lvl="1"/>
            <a:r>
              <a:rPr lang="en-US" altLang="zh-CN" dirty="0"/>
              <a:t>&lt;jsp:forward&gt;</a:t>
            </a:r>
            <a:endParaRPr lang="en-US" altLang="zh-CN" dirty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03" name="Rectangle 3"/>
          <p:cNvSpPr/>
          <p:nvPr/>
        </p:nvSpPr>
        <p:spPr>
          <a:xfrm>
            <a:off x="501650" y="4249738"/>
            <a:ext cx="11188700" cy="89058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152352" anchor="ctr">
            <a:spAutoFit/>
          </a:bodyPr>
          <a:p>
            <a:pPr eaLnBrk="0" hangingPunct="0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楷体_GB2312"/>
              </a:rPr>
              <a:t>@WebFilter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value=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"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/*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"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, dispatcherTypes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 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= {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DispatcherType.REQUEST,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楷体_GB2312"/>
            </a:endParaRPr>
          </a:p>
          <a:p>
            <a:pPr eaLnBrk="0" hangingPunct="0">
              <a:buSzTx/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                                         DispatcherType.FORWARD</a:t>
            </a:r>
            <a:r>
              <a:rPr lang="zh-CN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楷体_GB2312"/>
              </a:rPr>
              <a:t>}) </a:t>
            </a:r>
            <a:endParaRPr lang="zh-CN" altLang="zh-CN" sz="2400" dirty="0">
              <a:solidFill>
                <a:srgbClr val="000000"/>
              </a:solidFill>
              <a:latin typeface="Consolas" panose="020B0609020204030204" pitchFamily="49" charset="0"/>
              <a:ea typeface="楷体_GB231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include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dirty="0">
                <a:solidFill>
                  <a:srgbClr val="FF0000"/>
                </a:solidFill>
              </a:rPr>
              <a:t>INCLUDE</a:t>
            </a:r>
            <a:r>
              <a:rPr lang="zh-CN" altLang="en-US" dirty="0"/>
              <a:t>类型的过滤器与</a:t>
            </a:r>
            <a:r>
              <a:rPr lang="en-US" altLang="zh-CN" dirty="0">
                <a:solidFill>
                  <a:srgbClr val="FF0000"/>
                </a:solidFill>
              </a:rPr>
              <a:t>FORWARD</a:t>
            </a:r>
            <a:r>
              <a:rPr lang="zh-CN" altLang="en-US" dirty="0"/>
              <a:t>类型的类似，在使用</a:t>
            </a:r>
            <a:r>
              <a:rPr lang="en-US" altLang="zh-CN" dirty="0"/>
              <a:t>RequestDispatcher.</a:t>
            </a:r>
            <a:r>
              <a:rPr lang="en-US" altLang="zh-CN" dirty="0">
                <a:solidFill>
                  <a:srgbClr val="FF0000"/>
                </a:solidFill>
              </a:rPr>
              <a:t>include</a:t>
            </a:r>
            <a:r>
              <a:rPr lang="en-US" altLang="zh-CN" dirty="0"/>
              <a:t>()</a:t>
            </a:r>
            <a:r>
              <a:rPr lang="zh-CN" altLang="en-US" dirty="0"/>
              <a:t>方法调用</a:t>
            </a:r>
            <a:r>
              <a:rPr lang="en-US" altLang="zh-CN" dirty="0"/>
              <a:t>Web</a:t>
            </a:r>
            <a:r>
              <a:rPr lang="zh-CN" altLang="en-US" dirty="0"/>
              <a:t>资源时被触发</a:t>
            </a:r>
            <a:endParaRPr lang="en-US" altLang="zh-CN" dirty="0"/>
          </a:p>
          <a:p>
            <a:pPr lvl="1"/>
            <a:r>
              <a:rPr lang="en-US" altLang="zh-CN" dirty="0"/>
              <a:t>&lt;</a:t>
            </a:r>
            <a:r>
              <a:rPr lang="en-US" altLang="zh-CN" dirty="0">
                <a:solidFill>
                  <a:srgbClr val="FF0000"/>
                </a:solidFill>
              </a:rPr>
              <a:t>jsp:include</a:t>
            </a:r>
            <a:r>
              <a:rPr lang="en-US" altLang="zh-CN" dirty="0"/>
              <a:t>&gt;</a:t>
            </a:r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error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dirty="0">
                <a:solidFill>
                  <a:srgbClr val="FF0000"/>
                </a:solidFill>
              </a:rPr>
              <a:t>ERROR</a:t>
            </a:r>
            <a:r>
              <a:rPr lang="zh-CN" altLang="zh-CN" dirty="0"/>
              <a:t>是指通过</a:t>
            </a:r>
            <a:r>
              <a:rPr lang="en-US" altLang="zh-CN" dirty="0"/>
              <a:t>Java Web</a:t>
            </a:r>
            <a:r>
              <a:rPr lang="zh-CN" altLang="zh-CN" dirty="0"/>
              <a:t>的错误处理机制的请求可以触发过滤器</a:t>
            </a:r>
            <a:endParaRPr lang="en-US" altLang="zh-CN" dirty="0"/>
          </a:p>
          <a:p>
            <a:pPr lvl="1"/>
            <a:r>
              <a:rPr lang="zh-CN" altLang="zh-CN" dirty="0"/>
              <a:t>在</a:t>
            </a:r>
            <a:r>
              <a:rPr lang="en-US" altLang="zh-CN" dirty="0"/>
              <a:t>web.xml</a:t>
            </a:r>
            <a:r>
              <a:rPr lang="zh-CN" altLang="zh-CN" dirty="0"/>
              <a:t>中使用</a:t>
            </a:r>
            <a:r>
              <a:rPr lang="en-US" altLang="zh-CN" dirty="0">
                <a:solidFill>
                  <a:srgbClr val="FF0000"/>
                </a:solidFill>
              </a:rPr>
              <a:t>&lt;error-page&gt;</a:t>
            </a:r>
            <a:r>
              <a:rPr lang="zh-CN" altLang="zh-CN" dirty="0"/>
              <a:t>指定出错页面</a:t>
            </a:r>
            <a:r>
              <a:rPr lang="en-US" altLang="zh-CN" dirty="0">
                <a:solidFill>
                  <a:srgbClr val="FF0000"/>
                </a:solidFill>
              </a:rPr>
              <a:t>error.jsp</a:t>
            </a:r>
            <a:r>
              <a:rPr lang="zh-CN" altLang="zh-CN" dirty="0"/>
              <a:t>并为</a:t>
            </a:r>
            <a:r>
              <a:rPr lang="en-US" altLang="zh-CN" dirty="0"/>
              <a:t>error.jsp</a:t>
            </a:r>
            <a:r>
              <a:rPr lang="zh-CN" altLang="zh-CN" dirty="0"/>
              <a:t>配置了过滤器</a:t>
            </a:r>
            <a:r>
              <a:rPr lang="en-US" altLang="zh-CN" dirty="0">
                <a:solidFill>
                  <a:srgbClr val="FF0000"/>
                </a:solidFill>
              </a:rPr>
              <a:t>ErrorFilter</a:t>
            </a:r>
            <a:r>
              <a:rPr lang="zh-CN" altLang="zh-CN" dirty="0"/>
              <a:t>，在访问</a:t>
            </a:r>
            <a:r>
              <a:rPr lang="en-US" altLang="zh-CN" dirty="0">
                <a:solidFill>
                  <a:srgbClr val="FF0000"/>
                </a:solidFill>
              </a:rPr>
              <a:t>error.jsp</a:t>
            </a:r>
            <a:r>
              <a:rPr lang="zh-CN" altLang="zh-CN" dirty="0"/>
              <a:t>之前会触发过滤器</a:t>
            </a:r>
            <a:r>
              <a:rPr lang="en-US" altLang="zh-CN" dirty="0">
                <a:solidFill>
                  <a:srgbClr val="FF0000"/>
                </a:solidFill>
              </a:rPr>
              <a:t>ErrorFilter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277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0" y="4191000"/>
            <a:ext cx="5672138" cy="1720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3" name="TextBox 5"/>
          <p:cNvSpPr txBox="1"/>
          <p:nvPr/>
        </p:nvSpPr>
        <p:spPr>
          <a:xfrm>
            <a:off x="2566988" y="5229225"/>
            <a:ext cx="2089150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Web.xml</a:t>
            </a:r>
            <a:r>
              <a:rPr lang="zh-CN" altLang="en-US" sz="2400" b="1" dirty="0">
                <a:latin typeface="楷体_GB2312"/>
                <a:ea typeface="楷体_GB2312"/>
              </a:rPr>
              <a:t>配置</a:t>
            </a:r>
            <a:endParaRPr lang="en-US" altLang="zh-CN" sz="24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综合案例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登陆校验</a:t>
            </a:r>
            <a:endParaRPr lang="en-US" altLang="zh-CN" dirty="0"/>
          </a:p>
          <a:p>
            <a:pPr lvl="1"/>
            <a:r>
              <a:rPr lang="zh-CN" altLang="en-US" dirty="0"/>
              <a:t>页面筛选</a:t>
            </a:r>
            <a:endParaRPr lang="en-US" altLang="zh-CN" dirty="0"/>
          </a:p>
          <a:p>
            <a:pPr lvl="1"/>
            <a:r>
              <a:rPr lang="zh-CN" altLang="en-US" dirty="0"/>
              <a:t>设置编码</a:t>
            </a:r>
            <a:endParaRPr lang="zh-CN" altLang="en-US" dirty="0"/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监听器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Listener </a:t>
            </a:r>
            <a:r>
              <a:rPr lang="zh-CN" altLang="en-US" sz="2800" dirty="0"/>
              <a:t>用于监听 </a:t>
            </a:r>
            <a:r>
              <a:rPr lang="en-US" altLang="zh-CN" sz="2800" dirty="0"/>
              <a:t>J</a:t>
            </a:r>
            <a:r>
              <a:rPr lang="en-US" altLang="zh-CN" sz="2800" dirty="0"/>
              <a:t>ava web</a:t>
            </a:r>
            <a:r>
              <a:rPr lang="zh-CN" altLang="en-US" sz="2800" dirty="0"/>
              <a:t>程序中的事件，例如创建、修改、删除</a:t>
            </a:r>
            <a:r>
              <a:rPr lang="en-US" altLang="zh-CN" sz="2800" dirty="0">
                <a:solidFill>
                  <a:srgbClr val="FF0000"/>
                </a:solidFill>
              </a:rPr>
              <a:t>Session</a:t>
            </a:r>
            <a:r>
              <a:rPr lang="zh-CN" altLang="en-US" sz="2800" dirty="0"/>
              <a:t>、</a:t>
            </a:r>
            <a:r>
              <a:rPr lang="en-US" altLang="zh-CN" sz="2800" dirty="0">
                <a:solidFill>
                  <a:srgbClr val="FF0000"/>
                </a:solidFill>
              </a:rPr>
              <a:t>request</a:t>
            </a:r>
            <a:r>
              <a:rPr lang="zh-CN" altLang="en-US" sz="2800" dirty="0"/>
              <a:t>、</a:t>
            </a:r>
            <a:r>
              <a:rPr lang="en-US" altLang="zh-CN" sz="2800" dirty="0">
                <a:solidFill>
                  <a:srgbClr val="FF0000"/>
                </a:solidFill>
              </a:rPr>
              <a:t>context</a:t>
            </a:r>
            <a:r>
              <a:rPr lang="zh-CN" altLang="en-US" sz="2800" dirty="0"/>
              <a:t>等，并触发相应的事件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Listener </a:t>
            </a:r>
            <a:r>
              <a:rPr lang="zh-CN" altLang="en-US" sz="2800" dirty="0"/>
              <a:t>对应观察者模式，事件发生的时候会自动触发该事件对应的</a:t>
            </a:r>
            <a:r>
              <a:rPr lang="en-US" altLang="zh-CN" sz="2800" dirty="0">
                <a:solidFill>
                  <a:srgbClr val="FF0000"/>
                </a:solidFill>
              </a:rPr>
              <a:t>Listener</a:t>
            </a:r>
            <a:r>
              <a:rPr lang="zh-CN" altLang="en-US" sz="2800" dirty="0"/>
              <a:t>。 </a:t>
            </a:r>
            <a:r>
              <a:rPr lang="en-US" altLang="zh-CN" sz="2800" dirty="0"/>
              <a:t>Listener </a:t>
            </a:r>
            <a:r>
              <a:rPr lang="zh-CN" altLang="en-US" sz="2800" dirty="0"/>
              <a:t>主要用于对 </a:t>
            </a:r>
            <a:r>
              <a:rPr lang="en-US" altLang="zh-CN" sz="2800" dirty="0"/>
              <a:t>Session</a:t>
            </a:r>
            <a:r>
              <a:rPr lang="zh-CN" altLang="en-US" sz="2800" dirty="0"/>
              <a:t>、</a:t>
            </a:r>
            <a:r>
              <a:rPr lang="en-US" altLang="zh-CN" sz="2800" dirty="0"/>
              <a:t>request</a:t>
            </a:r>
            <a:r>
              <a:rPr lang="zh-CN" altLang="en-US" sz="2800" dirty="0"/>
              <a:t>、</a:t>
            </a:r>
            <a:r>
              <a:rPr lang="en-US" altLang="zh-CN" sz="2800" dirty="0"/>
              <a:t>context </a:t>
            </a:r>
            <a:r>
              <a:rPr lang="zh-CN" altLang="en-US" sz="2800" dirty="0"/>
              <a:t>进行监控。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Servlet</a:t>
            </a:r>
            <a:r>
              <a:rPr lang="zh-CN" altLang="en-US" sz="2800" dirty="0"/>
              <a:t>监听器的主要应用包括统计</a:t>
            </a:r>
            <a:r>
              <a:rPr lang="zh-CN" altLang="en-US" sz="2800" dirty="0">
                <a:solidFill>
                  <a:srgbClr val="FF0000"/>
                </a:solidFill>
              </a:rPr>
              <a:t>在线用户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rgbClr val="FF0000"/>
                </a:solidFill>
              </a:rPr>
              <a:t>统计网站访问量</a:t>
            </a:r>
            <a:r>
              <a:rPr lang="zh-CN" altLang="en-US" sz="2800" dirty="0"/>
              <a:t>、系统启动时</a:t>
            </a:r>
            <a:r>
              <a:rPr lang="zh-CN" altLang="en-US" sz="2800" dirty="0">
                <a:solidFill>
                  <a:srgbClr val="FF0000"/>
                </a:solidFill>
              </a:rPr>
              <a:t>初始化</a:t>
            </a:r>
            <a:r>
              <a:rPr lang="zh-CN" altLang="en-US" sz="2800" dirty="0"/>
              <a:t>信息等。</a:t>
            </a:r>
            <a:endParaRPr lang="zh-CN" altLang="en-US" sz="2800" dirty="0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Servlet</a:t>
            </a:r>
            <a:r>
              <a:rPr lang="zh-CN" altLang="en-US"/>
              <a:t>事件和监听器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540" y="1027430"/>
            <a:ext cx="9646920" cy="544258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1416050" y="1485265"/>
            <a:ext cx="25920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6050" y="2788920"/>
            <a:ext cx="25920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492250" y="5212715"/>
            <a:ext cx="25920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113655" y="3200400"/>
            <a:ext cx="4582795" cy="12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读初始化参数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40255" y="1027430"/>
            <a:ext cx="7791450" cy="2122805"/>
          </a:xfrm>
          <a:prstGeom prst="rect">
            <a:avLst/>
          </a:prstGeom>
          <a:solidFill>
            <a:srgbClr val="FFFFFF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zh-CN" sz="2200" b="1" dirty="0">
                <a:sym typeface="+mn-ea"/>
              </a:rPr>
              <a:t>&lt;web-app…&gt;</a:t>
            </a: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>
                <a:sym typeface="+mn-ea"/>
              </a:rPr>
              <a:t>    &lt;context-</a:t>
            </a:r>
            <a:r>
              <a:rPr lang="en-US" altLang="zh-CN" sz="2200" b="1" dirty="0" err="1">
                <a:sym typeface="+mn-ea"/>
              </a:rPr>
              <a:t>param</a:t>
            </a:r>
            <a:r>
              <a:rPr lang="en-US" altLang="zh-CN" sz="2200" b="1" dirty="0">
                <a:sym typeface="+mn-ea"/>
              </a:rPr>
              <a:t>&gt;</a:t>
            </a: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>
                <a:sym typeface="+mn-ea"/>
              </a:rPr>
              <a:t>        &lt;</a:t>
            </a:r>
            <a:r>
              <a:rPr lang="en-US" altLang="zh-CN" sz="2200" b="1" dirty="0" err="1">
                <a:sym typeface="+mn-ea"/>
              </a:rPr>
              <a:t>param</a:t>
            </a:r>
            <a:r>
              <a:rPr lang="en-US" altLang="zh-CN" sz="2200" b="1" dirty="0">
                <a:sym typeface="+mn-ea"/>
              </a:rPr>
              <a:t>-name&gt;</a:t>
            </a:r>
            <a:r>
              <a:rPr lang="en-US" altLang="zh-CN" sz="2200" b="1" dirty="0">
                <a:solidFill>
                  <a:srgbClr val="FF0000"/>
                </a:solidFill>
                <a:sym typeface="+mn-ea"/>
              </a:rPr>
              <a:t>projectname</a:t>
            </a:r>
            <a:r>
              <a:rPr lang="en-US" altLang="zh-CN" sz="2200" b="1" dirty="0">
                <a:sym typeface="+mn-ea"/>
              </a:rPr>
              <a:t>&lt;/</a:t>
            </a:r>
            <a:r>
              <a:rPr lang="en-US" altLang="zh-CN" sz="2200" b="1" dirty="0" err="1">
                <a:sym typeface="+mn-ea"/>
              </a:rPr>
              <a:t>param</a:t>
            </a:r>
            <a:r>
              <a:rPr lang="en-US" altLang="zh-CN" sz="2200" b="1" dirty="0">
                <a:sym typeface="+mn-ea"/>
              </a:rPr>
              <a:t>-name&gt;</a:t>
            </a: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>
                <a:sym typeface="+mn-ea"/>
              </a:rPr>
              <a:t>        &lt;</a:t>
            </a:r>
            <a:r>
              <a:rPr lang="en-US" altLang="zh-CN" sz="2200" b="1" dirty="0" err="1">
                <a:sym typeface="+mn-ea"/>
              </a:rPr>
              <a:t>param</a:t>
            </a:r>
            <a:r>
              <a:rPr lang="en-US" altLang="zh-CN" sz="2200" b="1" dirty="0">
                <a:sym typeface="+mn-ea"/>
              </a:rPr>
              <a:t>-value&gt;</a:t>
            </a:r>
            <a:r>
              <a:rPr lang="en-US" altLang="zh-CN" sz="2200" b="1" dirty="0">
                <a:solidFill>
                  <a:srgbClr val="FF0000"/>
                </a:solidFill>
                <a:sym typeface="+mn-ea"/>
              </a:rPr>
              <a:t>pickcoursesystem</a:t>
            </a:r>
            <a:r>
              <a:rPr lang="en-US" altLang="zh-CN" sz="2200" b="1" dirty="0">
                <a:sym typeface="+mn-ea"/>
              </a:rPr>
              <a:t>&lt;/</a:t>
            </a:r>
            <a:r>
              <a:rPr lang="en-US" altLang="zh-CN" sz="2200" b="1" dirty="0" err="1">
                <a:sym typeface="+mn-ea"/>
              </a:rPr>
              <a:t>param</a:t>
            </a:r>
            <a:r>
              <a:rPr lang="en-US" altLang="zh-CN" sz="2200" b="1" dirty="0">
                <a:sym typeface="+mn-ea"/>
              </a:rPr>
              <a:t>-value&gt;</a:t>
            </a: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>
                <a:sym typeface="+mn-ea"/>
              </a:rPr>
              <a:t>    &lt;/context-</a:t>
            </a:r>
            <a:r>
              <a:rPr lang="en-US" altLang="zh-CN" sz="2200" b="1" dirty="0" err="1">
                <a:sym typeface="+mn-ea"/>
              </a:rPr>
              <a:t>param</a:t>
            </a:r>
            <a:r>
              <a:rPr lang="en-US" altLang="zh-CN" sz="2200" b="1" dirty="0">
                <a:sym typeface="+mn-ea"/>
              </a:rPr>
              <a:t>&gt;</a:t>
            </a: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>
                <a:sym typeface="+mn-ea"/>
              </a:rPr>
              <a:t>&lt;/web-app</a:t>
            </a:r>
            <a:r>
              <a:rPr lang="en-US" altLang="zh-CN" sz="2200" b="1" dirty="0" smtClean="0">
                <a:sym typeface="+mn-ea"/>
              </a:rPr>
              <a:t>&gt;</a:t>
            </a:r>
            <a:endParaRPr lang="en-US" altLang="zh-CN" sz="2200" b="1" dirty="0" smtClean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50" y="1265555"/>
            <a:ext cx="15132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web.xml</a:t>
            </a:r>
            <a:endParaRPr lang="en-US" altLang="zh-CN" sz="2400" b="1" dirty="0" smtClean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315" y="3261360"/>
            <a:ext cx="10527665" cy="3375025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6233795" y="3789045"/>
            <a:ext cx="3175000" cy="190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67715" y="3501390"/>
            <a:ext cx="16560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统计在线人数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" y="1242695"/>
            <a:ext cx="12083415" cy="47028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5371465" y="1903095"/>
            <a:ext cx="3175000" cy="190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437120" y="5612130"/>
            <a:ext cx="2710180" cy="768350"/>
          </a:xfrm>
          <a:prstGeom prst="rect">
            <a:avLst/>
          </a:prstGeom>
          <a:solidFill>
            <a:srgbClr val="FFFFFF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zh-CN" sz="2200" b="1" dirty="0" smtClean="0">
                <a:sym typeface="+mn-ea"/>
              </a:rPr>
              <a:t>JSP</a:t>
            </a:r>
            <a:r>
              <a:rPr lang="zh-CN" altLang="en-US" sz="2200" b="1" dirty="0" smtClean="0">
                <a:sym typeface="+mn-ea"/>
              </a:rPr>
              <a:t>页面上直接显示</a:t>
            </a:r>
            <a:r>
              <a:rPr lang="en-US" altLang="zh-CN" sz="2200" b="1" dirty="0" smtClean="0">
                <a:solidFill>
                  <a:srgbClr val="FF0000"/>
                </a:solidFill>
                <a:sym typeface="+mn-ea"/>
              </a:rPr>
              <a:t>${onlineNumber}</a:t>
            </a:r>
            <a:endParaRPr lang="en-US" altLang="zh-CN" sz="2200" b="1" dirty="0" smtClean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Servlet</a:t>
            </a:r>
            <a:r>
              <a:rPr lang="zh-CN" altLang="en-US">
                <a:sym typeface="+mn-ea"/>
              </a:rPr>
              <a:t>事件和监听器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7515" y="1135380"/>
            <a:ext cx="11366500" cy="5113020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ServletContext</a:t>
            </a:r>
            <a:r>
              <a:rPr lang="zh-CN" altLang="en-US"/>
              <a:t>AttributeListener</a:t>
            </a:r>
            <a:endParaRPr lang="zh-CN" altLang="en-US"/>
          </a:p>
          <a:p>
            <a:r>
              <a:rPr lang="en-US" altLang="zh-CN" dirty="0" err="1">
                <a:sym typeface="+mn-ea"/>
              </a:rPr>
              <a:t>http.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HttpSession</a:t>
            </a:r>
            <a:r>
              <a:rPr lang="en-US" altLang="zh-CN" dirty="0" err="1">
                <a:sym typeface="+mn-ea"/>
              </a:rPr>
              <a:t>AttributeListener</a:t>
            </a:r>
            <a:endParaRPr lang="zh-CN" altLang="en-US" dirty="0" err="1">
              <a:sym typeface="+mn-ea"/>
            </a:endParaRPr>
          </a:p>
          <a:p>
            <a:r>
              <a:rPr lang="en-US" altLang="zh-CN" dirty="0" err="1">
                <a:sym typeface="+mn-ea"/>
              </a:rPr>
              <a:t>http.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ServletRequest</a:t>
            </a:r>
            <a:r>
              <a:rPr lang="en-US" altLang="zh-CN" dirty="0" err="1">
                <a:sym typeface="+mn-ea"/>
              </a:rPr>
              <a:t>AttributeListener</a:t>
            </a:r>
            <a:endParaRPr lang="en-US" altLang="zh-CN" dirty="0" err="1">
              <a:sym typeface="+mn-ea"/>
            </a:endParaRPr>
          </a:p>
          <a:p>
            <a:pPr marL="457200" lvl="1" indent="0">
              <a:buNone/>
            </a:pPr>
            <a:r>
              <a:rPr lang="zh-CN" altLang="en-US"/>
              <a:t>attributeAdded(ServletContextAttributeEvent arg0)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attributeReplaced(ServletContextAttributeEvent arg0)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attributeRemoved(ServletContextAttributeEvent arg0)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89455" y="5206365"/>
            <a:ext cx="632206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rgbClr val="FF0000"/>
                </a:solidFill>
                <a:sym typeface="+mn-ea"/>
              </a:rPr>
              <a:t>ServletContext、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Session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Request</a:t>
            </a:r>
            <a:r>
              <a:rPr lang="zh-CN" altLang="en-US" sz="2400" b="1">
                <a:sym typeface="+mn-ea"/>
              </a:rPr>
              <a:t>中的属性</a:t>
            </a: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Servlet</a:t>
            </a:r>
            <a:r>
              <a:rPr lang="zh-CN" altLang="en-US">
                <a:sym typeface="+mn-ea"/>
              </a:rPr>
              <a:t>事件和监听器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http.Http</a:t>
            </a:r>
            <a:r>
              <a:rPr lang="zh-CN" altLang="en-US">
                <a:solidFill>
                  <a:srgbClr val="FF0000"/>
                </a:solidFill>
              </a:rPr>
              <a:t>SessionActive</a:t>
            </a:r>
            <a:r>
              <a:rPr lang="zh-CN" altLang="en-US"/>
              <a:t>Listener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>
                <a:sym typeface="+mn-ea"/>
              </a:rPr>
              <a:t>sessionWillPassivate(HttpSessionEvent arg0)：用于监听HttpSession对象的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钝化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将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session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从内存保存到硬盘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)</a:t>
            </a:r>
            <a:endParaRPr lang="zh-CN" altLang="en-US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zh-CN" altLang="en-US">
                <a:sym typeface="+mn-ea"/>
              </a:rPr>
              <a:t>sessionDidActivate(HttpSessionEvent arg0)：用于监听HttpSession对象的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活化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将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session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从硬盘保存到内存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)</a:t>
            </a:r>
            <a:endParaRPr lang="zh-CN" altLang="en-US"/>
          </a:p>
          <a:p>
            <a:r>
              <a:rPr lang="zh-CN" altLang="en-US">
                <a:sym typeface="+mn-ea"/>
              </a:rPr>
              <a:t>http.Http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SessionActive</a:t>
            </a:r>
            <a:r>
              <a:rPr lang="zh-CN" altLang="en-US">
                <a:sym typeface="+mn-ea"/>
              </a:rPr>
              <a:t>Listener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valueBound(HttpSessionBindingEvent arg0)：用于监听HttpSession对象中对象</a:t>
            </a:r>
            <a:r>
              <a:rPr lang="zh-CN" altLang="en-US">
                <a:solidFill>
                  <a:srgbClr val="FF0000"/>
                </a:solidFill>
              </a:rPr>
              <a:t>绑定</a:t>
            </a:r>
            <a:r>
              <a:rPr lang="zh-CN" altLang="en-US"/>
              <a:t>。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valueUnbound(HttpSessionBindingEvent arg0)：用于监听HttpSession对象中</a:t>
            </a:r>
            <a:r>
              <a:rPr lang="zh-CN" altLang="en-US">
                <a:solidFill>
                  <a:srgbClr val="FF0000"/>
                </a:solidFill>
              </a:rPr>
              <a:t>删除</a:t>
            </a:r>
            <a:r>
              <a:rPr lang="zh-CN" altLang="en-US"/>
              <a:t>。</a:t>
            </a:r>
            <a:endParaRPr lang="zh-CN" altLang="en-US"/>
          </a:p>
          <a:p>
            <a:pPr marL="457200" lvl="1" indent="0">
              <a:buNone/>
            </a:pPr>
            <a:endParaRPr lang="en-US" altLang="zh-CN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小结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>
          <a:xfrm>
            <a:off x="1631950" y="1135063"/>
            <a:ext cx="8785225" cy="5113337"/>
          </a:xfrm>
        </p:spPr>
        <p:txBody>
          <a:bodyPr vert="horz" wrap="square" lIns="91440" tIns="45720" rIns="91440" bIns="45720" anchor="t"/>
          <a:p>
            <a:pPr marL="0" indent="0">
              <a:buNone/>
            </a:pPr>
            <a:r>
              <a:rPr lang="zh-CN" altLang="en-US" dirty="0"/>
              <a:t>过滤器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原理、配置（</a:t>
            </a:r>
            <a:r>
              <a:rPr lang="en-US" altLang="zh-CN" dirty="0">
                <a:solidFill>
                  <a:srgbClr val="FF0000"/>
                </a:solidFill>
              </a:rPr>
              <a:t>@WebFilter</a:t>
            </a:r>
            <a:r>
              <a:rPr lang="zh-CN" altLang="en-US" dirty="0"/>
              <a:t>）、应用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监听器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配置（</a:t>
            </a:r>
            <a:r>
              <a:rPr lang="en-US" altLang="zh-CN" dirty="0">
                <a:solidFill>
                  <a:srgbClr val="FF0000"/>
                </a:solidFill>
              </a:rPr>
              <a:t>@WebListener</a:t>
            </a:r>
            <a:r>
              <a:rPr lang="zh-CN" altLang="en-US" dirty="0"/>
              <a:t>）、应用</a:t>
            </a:r>
            <a:endParaRPr lang="zh-CN" altLang="en-US" dirty="0"/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tags/tag1.xml><?xml version="1.0" encoding="utf-8"?>
<p:tagLst xmlns:p="http://schemas.openxmlformats.org/presentationml/2006/main">
  <p:tag name="KSO_WPP_MARK_KEY" val="d79288da-0367-4b4f-bdd1-ce68e529c4e5"/>
  <p:tag name="COMMONDATA" val="eyJoZGlkIjoiYmFjNWZhYmVmMzg4Mzg4NGQ0MmIwMjFlNjJhNDU3MDQifQ=="/>
</p:tagLst>
</file>

<file path=ppt/theme/theme1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3090</Words>
  <Application>WPS 演示</Application>
  <PresentationFormat>全屏显示(4:3)</PresentationFormat>
  <Paragraphs>205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Arial</vt:lpstr>
      <vt:lpstr>宋体</vt:lpstr>
      <vt:lpstr>Wingdings</vt:lpstr>
      <vt:lpstr>楷体_GB2312</vt:lpstr>
      <vt:lpstr>新宋体</vt:lpstr>
      <vt:lpstr>Tahoma</vt:lpstr>
      <vt:lpstr>Times New Roman</vt:lpstr>
      <vt:lpstr>华文新魏</vt:lpstr>
      <vt:lpstr>隶书</vt:lpstr>
      <vt:lpstr>Monotype Sorts</vt:lpstr>
      <vt:lpstr>Wingdings</vt:lpstr>
      <vt:lpstr>Monotype Sorts</vt:lpstr>
      <vt:lpstr>华文楷体</vt:lpstr>
      <vt:lpstr>Calibri</vt:lpstr>
      <vt:lpstr>Consolas</vt:lpstr>
      <vt:lpstr>微软雅黑</vt:lpstr>
      <vt:lpstr>Arial Unicode MS</vt:lpstr>
      <vt:lpstr>楷体_GB2312</vt:lpstr>
      <vt:lpstr>数据库原理及应用</vt:lpstr>
      <vt:lpstr>PowerPoint 演示文稿</vt:lpstr>
      <vt:lpstr>主要内容</vt:lpstr>
      <vt:lpstr>1、过滤器的基本概念 </vt:lpstr>
      <vt:lpstr>过滤器的工作原理</vt:lpstr>
      <vt:lpstr>2、过滤器的生命周期与常用方法</vt:lpstr>
      <vt:lpstr>PowerPoint 演示文稿</vt:lpstr>
      <vt:lpstr>3、第一个过滤器实例</vt:lpstr>
      <vt:lpstr>PowerPoint 演示文稿</vt:lpstr>
      <vt:lpstr>4、过滤器链</vt:lpstr>
      <vt:lpstr>过滤器链执行过程</vt:lpstr>
      <vt:lpstr>PowerPoint 演示文稿</vt:lpstr>
      <vt:lpstr>5、过滤器的分类</vt:lpstr>
      <vt:lpstr>request</vt:lpstr>
      <vt:lpstr>forward</vt:lpstr>
      <vt:lpstr>include</vt:lpstr>
      <vt:lpstr>error</vt:lpstr>
      <vt:lpstr>综合案例</vt:lpstr>
      <vt:lpstr>监听器</vt:lpstr>
      <vt:lpstr>Servlet事件和监听器</vt:lpstr>
      <vt:lpstr>读初始化参数</vt:lpstr>
      <vt:lpstr>统计在线人数</vt:lpstr>
      <vt:lpstr>Servlet事件和监听器</vt:lpstr>
      <vt:lpstr>Servlet事件和监听器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wxh</dc:creator>
  <cp:lastModifiedBy>wxh</cp:lastModifiedBy>
  <cp:revision>425</cp:revision>
  <dcterms:created xsi:type="dcterms:W3CDTF">2015-08-20T09:33:00Z</dcterms:created>
  <dcterms:modified xsi:type="dcterms:W3CDTF">2022-10-26T11:57:32Z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E69F9CB71CEF452B8B70FCCB27CD05BC</vt:lpwstr>
  </property>
</Properties>
</file>