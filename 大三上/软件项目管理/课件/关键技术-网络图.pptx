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jpeg" ContentType="image/jpeg"/>
  <Default Extension="JPG" ContentType="image/.jpg"/>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firstSlideNum="0">
  <p:sldMasterIdLst>
    <p:sldMasterId id="2147483648" r:id="rId1"/>
    <p:sldMasterId id="2147483660" r:id="rId3"/>
    <p:sldMasterId id="2147483662" r:id="rId4"/>
  </p:sldMasterIdLst>
  <p:notesMasterIdLst>
    <p:notesMasterId r:id="rId7"/>
  </p:notesMasterIdLst>
  <p:handoutMasterIdLst>
    <p:handoutMasterId r:id="rId63"/>
  </p:handoutMasterIdLst>
  <p:sldIdLst>
    <p:sldId id="256" r:id="rId5"/>
    <p:sldId id="762" r:id="rId6"/>
    <p:sldId id="338" r:id="rId8"/>
    <p:sldId id="310" r:id="rId9"/>
    <p:sldId id="311" r:id="rId10"/>
    <p:sldId id="321" r:id="rId11"/>
    <p:sldId id="320" r:id="rId12"/>
    <p:sldId id="323" r:id="rId13"/>
    <p:sldId id="324" r:id="rId14"/>
    <p:sldId id="325" r:id="rId15"/>
    <p:sldId id="326" r:id="rId16"/>
    <p:sldId id="327" r:id="rId17"/>
    <p:sldId id="328" r:id="rId18"/>
    <p:sldId id="329" r:id="rId19"/>
    <p:sldId id="330" r:id="rId20"/>
    <p:sldId id="331" r:id="rId21"/>
    <p:sldId id="332" r:id="rId22"/>
    <p:sldId id="333" r:id="rId23"/>
    <p:sldId id="334" r:id="rId24"/>
    <p:sldId id="335" r:id="rId25"/>
    <p:sldId id="336" r:id="rId26"/>
    <p:sldId id="337" r:id="rId27"/>
    <p:sldId id="339" r:id="rId28"/>
    <p:sldId id="351" r:id="rId29"/>
    <p:sldId id="352" r:id="rId30"/>
    <p:sldId id="341" r:id="rId31"/>
    <p:sldId id="342" r:id="rId32"/>
    <p:sldId id="343" r:id="rId33"/>
    <p:sldId id="344" r:id="rId34"/>
    <p:sldId id="345" r:id="rId35"/>
    <p:sldId id="356" r:id="rId36"/>
    <p:sldId id="357" r:id="rId37"/>
    <p:sldId id="340" r:id="rId38"/>
    <p:sldId id="347" r:id="rId39"/>
    <p:sldId id="353" r:id="rId40"/>
    <p:sldId id="348" r:id="rId41"/>
    <p:sldId id="354" r:id="rId42"/>
    <p:sldId id="355" r:id="rId43"/>
    <p:sldId id="349" r:id="rId44"/>
    <p:sldId id="358" r:id="rId45"/>
    <p:sldId id="359" r:id="rId46"/>
    <p:sldId id="766" r:id="rId47"/>
    <p:sldId id="764" r:id="rId48"/>
    <p:sldId id="765" r:id="rId49"/>
    <p:sldId id="770" r:id="rId50"/>
    <p:sldId id="756" r:id="rId51"/>
    <p:sldId id="771" r:id="rId52"/>
    <p:sldId id="767" r:id="rId53"/>
    <p:sldId id="774" r:id="rId54"/>
    <p:sldId id="775" r:id="rId55"/>
    <p:sldId id="768" r:id="rId56"/>
    <p:sldId id="769" r:id="rId57"/>
    <p:sldId id="778" r:id="rId58"/>
    <p:sldId id="776" r:id="rId59"/>
    <p:sldId id="777" r:id="rId60"/>
    <p:sldId id="780" r:id="rId61"/>
    <p:sldId id="779" r:id="rId62"/>
  </p:sldIdLst>
  <p:sldSz cx="12192000" cy="7560945"/>
  <p:notesSz cx="6858000" cy="9144000"/>
  <p:custDataLst>
    <p:tags r:id="rId68"/>
  </p:custDataLst>
  <p:defaultTextStyle>
    <a:defPPr>
      <a:defRPr lang="zh-CN"/>
    </a:defPPr>
    <a:lvl1pPr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470" userDrawn="1">
          <p15:clr>
            <a:srgbClr val="A4A3A4"/>
          </p15:clr>
        </p15:guide>
        <p15:guide id="2" pos="387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磊" initials="杨"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CC"/>
    <a:srgbClr val="FF9900"/>
    <a:srgbClr val="0000FF"/>
    <a:srgbClr val="DBD600"/>
    <a:srgbClr val="8BBF20"/>
    <a:srgbClr val="F0F977"/>
    <a:srgbClr val="A50021"/>
    <a:srgbClr val="0386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16" autoAdjust="0"/>
    <p:restoredTop sz="85673" autoAdjust="0"/>
  </p:normalViewPr>
  <p:slideViewPr>
    <p:cSldViewPr snapToGrid="0" snapToObjects="1" showGuides="1">
      <p:cViewPr varScale="1">
        <p:scale>
          <a:sx n="52" d="100"/>
          <a:sy n="52" d="100"/>
        </p:scale>
        <p:origin x="1368" y="51"/>
      </p:cViewPr>
      <p:guideLst>
        <p:guide orient="horz" pos="2470"/>
        <p:guide pos="387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3" d="100"/>
          <a:sy n="53" d="100"/>
        </p:scale>
        <p:origin x="-2904" y="-102"/>
      </p:cViewPr>
      <p:guideLst>
        <p:guide orient="horz" pos="2893"/>
        <p:guide pos="218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8" Type="http://schemas.openxmlformats.org/officeDocument/2006/relationships/tags" Target="tags/tag3.xml"/><Relationship Id="rId67" Type="http://schemas.openxmlformats.org/officeDocument/2006/relationships/commentAuthors" Target="commentAuthors.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vl1pPr>
          </a:lstStyle>
          <a:p>
            <a:pPr>
              <a:defRPr/>
            </a:pPr>
            <a:fld id="{3E19670D-C869-4A5D-A780-D41936B3781A}" type="slidenum">
              <a:rPr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p:nvPr>
        </p:nvSpPr>
        <p:spPr bwMode="auto">
          <a:xfrm>
            <a:off x="0" y="0"/>
            <a:ext cx="2970213" cy="458788"/>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5" name="日期占位符 2"/>
          <p:cNvSpPr>
            <a:spLocks noGrp="1" noChangeArrowheads="1"/>
          </p:cNvSpPr>
          <p:nvPr>
            <p:ph type="dt" idx="1"/>
          </p:nvPr>
        </p:nvSpPr>
        <p:spPr bwMode="auto">
          <a:xfrm>
            <a:off x="3883025" y="0"/>
            <a:ext cx="2973388" cy="458788"/>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941388" y="1143000"/>
            <a:ext cx="4975225"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p:cNvSpPr>
            <a:spLocks noGrp="1" noChangeArrowheads="1"/>
          </p:cNvSpPr>
          <p:nvPr>
            <p:ph type="body" sz="quarter" idx="3"/>
          </p:nvPr>
        </p:nvSpPr>
        <p:spPr bwMode="auto">
          <a:xfrm>
            <a:off x="685800" y="4400550"/>
            <a:ext cx="5486400" cy="360045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3078" name="页脚占位符 5"/>
          <p:cNvSpPr>
            <a:spLocks noGrp="1" noChangeArrowheads="1"/>
          </p:cNvSpPr>
          <p:nvPr>
            <p:ph type="ftr" sz="quarter" idx="4"/>
          </p:nvPr>
        </p:nvSpPr>
        <p:spPr bwMode="auto">
          <a:xfrm>
            <a:off x="0" y="8685213"/>
            <a:ext cx="2970213" cy="458787"/>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9" name="灯片编号占位符 6"/>
          <p:cNvSpPr>
            <a:spLocks noGrp="1" noChangeArrowheads="1"/>
          </p:cNvSpPr>
          <p:nvPr>
            <p:ph type="sldNum" sz="quarter" idx="5"/>
          </p:nvPr>
        </p:nvSpPr>
        <p:spPr bwMode="auto">
          <a:xfrm>
            <a:off x="3883025" y="8685213"/>
            <a:ext cx="2973388" cy="458787"/>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atin typeface="Calibri" panose="020F0502020204030204" pitchFamily="34" charset="0"/>
                <a:ea typeface="宋体" panose="02010600030101010101" pitchFamily="2" charset="-122"/>
              </a:defRPr>
            </a:lvl1pPr>
          </a:lstStyle>
          <a:p>
            <a:pPr>
              <a:defRPr/>
            </a:pPr>
            <a:fld id="{9ABF73B3-AB42-43BE-BB63-9452E30E81D8}" type="slidenum">
              <a:rPr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555" eaLnBrk="0" hangingPunct="0">
              <a:defRPr sz="3100">
                <a:solidFill>
                  <a:schemeClr val="tx1"/>
                </a:solidFill>
                <a:latin typeface="Tahoma" panose="020B0604030504040204" pitchFamily="34" charset="0"/>
                <a:ea typeface="幼圆" panose="02010509060101010101" pitchFamily="49" charset="-122"/>
              </a:defRPr>
            </a:lvl1pPr>
            <a:lvl2pPr marL="742950" indent="-285750" defTabSz="1011555" eaLnBrk="0" hangingPunct="0">
              <a:defRPr sz="3100">
                <a:solidFill>
                  <a:schemeClr val="tx1"/>
                </a:solidFill>
                <a:latin typeface="Tahoma" panose="020B0604030504040204" pitchFamily="34" charset="0"/>
                <a:ea typeface="幼圆" panose="02010509060101010101" pitchFamily="49" charset="-122"/>
              </a:defRPr>
            </a:lvl2pPr>
            <a:lvl3pPr marL="1143000" indent="-228600" defTabSz="1011555" eaLnBrk="0" hangingPunct="0">
              <a:defRPr sz="3100">
                <a:solidFill>
                  <a:schemeClr val="tx1"/>
                </a:solidFill>
                <a:latin typeface="Tahoma" panose="020B0604030504040204" pitchFamily="34" charset="0"/>
                <a:ea typeface="幼圆" panose="02010509060101010101" pitchFamily="49" charset="-122"/>
              </a:defRPr>
            </a:lvl3pPr>
            <a:lvl4pPr marL="1600200" indent="-228600" defTabSz="1011555" eaLnBrk="0" hangingPunct="0">
              <a:defRPr sz="3100">
                <a:solidFill>
                  <a:schemeClr val="tx1"/>
                </a:solidFill>
                <a:latin typeface="Tahoma" panose="020B0604030504040204" pitchFamily="34" charset="0"/>
                <a:ea typeface="幼圆" panose="02010509060101010101" pitchFamily="49" charset="-122"/>
              </a:defRPr>
            </a:lvl4pPr>
            <a:lvl5pPr marL="2057400" indent="-228600" defTabSz="1011555" eaLnBrk="0" hangingPunct="0">
              <a:defRPr sz="3100">
                <a:solidFill>
                  <a:schemeClr val="tx1"/>
                </a:solidFill>
                <a:latin typeface="Tahoma" panose="020B0604030504040204" pitchFamily="34" charset="0"/>
                <a:ea typeface="幼圆" panose="02010509060101010101" pitchFamily="49" charset="-122"/>
              </a:defRPr>
            </a:lvl5pPr>
            <a:lvl6pPr marL="2514600" indent="-228600" defTabSz="1011555" eaLnBrk="0" fontAlgn="base" hangingPunct="0">
              <a:lnSpc>
                <a:spcPct val="150000"/>
              </a:lnSpc>
              <a:spcBef>
                <a:spcPct val="20000"/>
              </a:spcBef>
              <a:spcAft>
                <a:spcPct val="0"/>
              </a:spcAft>
              <a:buChar char="•"/>
              <a:defRPr sz="3100">
                <a:solidFill>
                  <a:schemeClr val="tx1"/>
                </a:solidFill>
                <a:latin typeface="Tahoma" panose="020B0604030504040204" pitchFamily="34" charset="0"/>
                <a:ea typeface="幼圆" panose="02010509060101010101" pitchFamily="49" charset="-122"/>
              </a:defRPr>
            </a:lvl6pPr>
            <a:lvl7pPr marL="2971800" indent="-228600" defTabSz="1011555" eaLnBrk="0" fontAlgn="base" hangingPunct="0">
              <a:lnSpc>
                <a:spcPct val="150000"/>
              </a:lnSpc>
              <a:spcBef>
                <a:spcPct val="20000"/>
              </a:spcBef>
              <a:spcAft>
                <a:spcPct val="0"/>
              </a:spcAft>
              <a:buChar char="•"/>
              <a:defRPr sz="3100">
                <a:solidFill>
                  <a:schemeClr val="tx1"/>
                </a:solidFill>
                <a:latin typeface="Tahoma" panose="020B0604030504040204" pitchFamily="34" charset="0"/>
                <a:ea typeface="幼圆" panose="02010509060101010101" pitchFamily="49" charset="-122"/>
              </a:defRPr>
            </a:lvl7pPr>
            <a:lvl8pPr marL="3429000" indent="-228600" defTabSz="1011555" eaLnBrk="0" fontAlgn="base" hangingPunct="0">
              <a:lnSpc>
                <a:spcPct val="150000"/>
              </a:lnSpc>
              <a:spcBef>
                <a:spcPct val="20000"/>
              </a:spcBef>
              <a:spcAft>
                <a:spcPct val="0"/>
              </a:spcAft>
              <a:buChar char="•"/>
              <a:defRPr sz="3100">
                <a:solidFill>
                  <a:schemeClr val="tx1"/>
                </a:solidFill>
                <a:latin typeface="Tahoma" panose="020B0604030504040204" pitchFamily="34" charset="0"/>
                <a:ea typeface="幼圆" panose="02010509060101010101" pitchFamily="49" charset="-122"/>
              </a:defRPr>
            </a:lvl8pPr>
            <a:lvl9pPr marL="3886200" indent="-228600" defTabSz="1011555" eaLnBrk="0" fontAlgn="base" hangingPunct="0">
              <a:lnSpc>
                <a:spcPct val="150000"/>
              </a:lnSpc>
              <a:spcBef>
                <a:spcPct val="20000"/>
              </a:spcBef>
              <a:spcAft>
                <a:spcPct val="0"/>
              </a:spcAft>
              <a:buChar char="•"/>
              <a:defRPr sz="3100">
                <a:solidFill>
                  <a:schemeClr val="tx1"/>
                </a:solidFill>
                <a:latin typeface="Tahoma" panose="020B0604030504040204" pitchFamily="34" charset="0"/>
                <a:ea typeface="幼圆" panose="02010509060101010101" pitchFamily="49" charset="-122"/>
              </a:defRPr>
            </a:lvl9pPr>
          </a:lstStyle>
          <a:p>
            <a:pPr eaLnBrk="1" hangingPunct="1"/>
            <a:fld id="{F4ED1A59-14CC-4F17-B2D7-DAFC42638336}" type="slidenum">
              <a:rPr lang="zh-CN" altLang="en-US" sz="1300">
                <a:ea typeface="宋体" panose="02010600030101010101" pitchFamily="2" charset="-122"/>
              </a:rPr>
            </a:fld>
            <a:endParaRPr lang="en-US" altLang="zh-CN" sz="1300">
              <a:ea typeface="宋体" panose="02010600030101010101" pitchFamily="2" charset="-122"/>
            </a:endParaRPr>
          </a:p>
        </p:txBody>
      </p:sp>
      <p:sp>
        <p:nvSpPr>
          <p:cNvPr id="102403" name="Rectangle 2"/>
          <p:cNvSpPr>
            <a:spLocks noGrp="1" noRot="1" noChangeAspect="1" noChangeArrowheads="1" noTextEdit="1"/>
          </p:cNvSpPr>
          <p:nvPr>
            <p:ph type="sldImg"/>
          </p:nvPr>
        </p:nvSpPr>
        <p:spPr>
          <a:xfrm>
            <a:off x="458788" y="768350"/>
            <a:ext cx="6186487" cy="3836988"/>
          </a:xfrm>
        </p:spPr>
      </p:sp>
      <p:sp>
        <p:nvSpPr>
          <p:cNvPr id="102404" name="Rectangle 3"/>
          <p:cNvSpPr>
            <a:spLocks noGrp="1" noChangeArrowheads="1"/>
          </p:cNvSpPr>
          <p:nvPr>
            <p:ph type="body" idx="1"/>
          </p:nvPr>
        </p:nvSpPr>
        <p:spPr>
          <a:xfrm>
            <a:off x="944563" y="4860925"/>
            <a:ext cx="5210175"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555" eaLnBrk="0" hangingPunct="0">
              <a:defRPr sz="3100">
                <a:solidFill>
                  <a:schemeClr val="tx1"/>
                </a:solidFill>
                <a:latin typeface="Tahoma" panose="020B0604030504040204" pitchFamily="34" charset="0"/>
                <a:ea typeface="幼圆" panose="02010509060101010101" pitchFamily="49" charset="-122"/>
              </a:defRPr>
            </a:lvl1pPr>
            <a:lvl2pPr marL="742950" indent="-285750" defTabSz="1011555" eaLnBrk="0" hangingPunct="0">
              <a:defRPr sz="3100">
                <a:solidFill>
                  <a:schemeClr val="tx1"/>
                </a:solidFill>
                <a:latin typeface="Tahoma" panose="020B0604030504040204" pitchFamily="34" charset="0"/>
                <a:ea typeface="幼圆" panose="02010509060101010101" pitchFamily="49" charset="-122"/>
              </a:defRPr>
            </a:lvl2pPr>
            <a:lvl3pPr marL="1143000" indent="-228600" defTabSz="1011555" eaLnBrk="0" hangingPunct="0">
              <a:defRPr sz="3100">
                <a:solidFill>
                  <a:schemeClr val="tx1"/>
                </a:solidFill>
                <a:latin typeface="Tahoma" panose="020B0604030504040204" pitchFamily="34" charset="0"/>
                <a:ea typeface="幼圆" panose="02010509060101010101" pitchFamily="49" charset="-122"/>
              </a:defRPr>
            </a:lvl3pPr>
            <a:lvl4pPr marL="1600200" indent="-228600" defTabSz="1011555" eaLnBrk="0" hangingPunct="0">
              <a:defRPr sz="3100">
                <a:solidFill>
                  <a:schemeClr val="tx1"/>
                </a:solidFill>
                <a:latin typeface="Tahoma" panose="020B0604030504040204" pitchFamily="34" charset="0"/>
                <a:ea typeface="幼圆" panose="02010509060101010101" pitchFamily="49" charset="-122"/>
              </a:defRPr>
            </a:lvl4pPr>
            <a:lvl5pPr marL="2057400" indent="-228600" defTabSz="1011555" eaLnBrk="0" hangingPunct="0">
              <a:defRPr sz="3100">
                <a:solidFill>
                  <a:schemeClr val="tx1"/>
                </a:solidFill>
                <a:latin typeface="Tahoma" panose="020B0604030504040204" pitchFamily="34" charset="0"/>
                <a:ea typeface="幼圆" panose="02010509060101010101" pitchFamily="49" charset="-122"/>
              </a:defRPr>
            </a:lvl5pPr>
            <a:lvl6pPr marL="2514600" indent="-228600" defTabSz="1011555" eaLnBrk="0" fontAlgn="base" hangingPunct="0">
              <a:lnSpc>
                <a:spcPct val="150000"/>
              </a:lnSpc>
              <a:spcBef>
                <a:spcPct val="20000"/>
              </a:spcBef>
              <a:spcAft>
                <a:spcPct val="0"/>
              </a:spcAft>
              <a:buChar char="•"/>
              <a:defRPr sz="3100">
                <a:solidFill>
                  <a:schemeClr val="tx1"/>
                </a:solidFill>
                <a:latin typeface="Tahoma" panose="020B0604030504040204" pitchFamily="34" charset="0"/>
                <a:ea typeface="幼圆" panose="02010509060101010101" pitchFamily="49" charset="-122"/>
              </a:defRPr>
            </a:lvl6pPr>
            <a:lvl7pPr marL="2971800" indent="-228600" defTabSz="1011555" eaLnBrk="0" fontAlgn="base" hangingPunct="0">
              <a:lnSpc>
                <a:spcPct val="150000"/>
              </a:lnSpc>
              <a:spcBef>
                <a:spcPct val="20000"/>
              </a:spcBef>
              <a:spcAft>
                <a:spcPct val="0"/>
              </a:spcAft>
              <a:buChar char="•"/>
              <a:defRPr sz="3100">
                <a:solidFill>
                  <a:schemeClr val="tx1"/>
                </a:solidFill>
                <a:latin typeface="Tahoma" panose="020B0604030504040204" pitchFamily="34" charset="0"/>
                <a:ea typeface="幼圆" panose="02010509060101010101" pitchFamily="49" charset="-122"/>
              </a:defRPr>
            </a:lvl7pPr>
            <a:lvl8pPr marL="3429000" indent="-228600" defTabSz="1011555" eaLnBrk="0" fontAlgn="base" hangingPunct="0">
              <a:lnSpc>
                <a:spcPct val="150000"/>
              </a:lnSpc>
              <a:spcBef>
                <a:spcPct val="20000"/>
              </a:spcBef>
              <a:spcAft>
                <a:spcPct val="0"/>
              </a:spcAft>
              <a:buChar char="•"/>
              <a:defRPr sz="3100">
                <a:solidFill>
                  <a:schemeClr val="tx1"/>
                </a:solidFill>
                <a:latin typeface="Tahoma" panose="020B0604030504040204" pitchFamily="34" charset="0"/>
                <a:ea typeface="幼圆" panose="02010509060101010101" pitchFamily="49" charset="-122"/>
              </a:defRPr>
            </a:lvl8pPr>
            <a:lvl9pPr marL="3886200" indent="-228600" defTabSz="1011555" eaLnBrk="0" fontAlgn="base" hangingPunct="0">
              <a:lnSpc>
                <a:spcPct val="150000"/>
              </a:lnSpc>
              <a:spcBef>
                <a:spcPct val="20000"/>
              </a:spcBef>
              <a:spcAft>
                <a:spcPct val="0"/>
              </a:spcAft>
              <a:buChar char="•"/>
              <a:defRPr sz="3100">
                <a:solidFill>
                  <a:schemeClr val="tx1"/>
                </a:solidFill>
                <a:latin typeface="Tahoma" panose="020B0604030504040204" pitchFamily="34" charset="0"/>
                <a:ea typeface="幼圆" panose="02010509060101010101" pitchFamily="49" charset="-122"/>
              </a:defRPr>
            </a:lvl9pPr>
          </a:lstStyle>
          <a:p>
            <a:pPr eaLnBrk="1" hangingPunct="1"/>
            <a:fld id="{F9AF29DD-71C7-481A-B635-DCDAA4C3D824}" type="slidenum">
              <a:rPr lang="zh-CN" altLang="en-US" sz="1300">
                <a:ea typeface="宋体" panose="02010600030101010101" pitchFamily="2" charset="-122"/>
              </a:rPr>
            </a:fld>
            <a:endParaRPr lang="en-US" altLang="zh-CN" sz="1300">
              <a:ea typeface="宋体" panose="02010600030101010101" pitchFamily="2" charset="-122"/>
            </a:endParaRPr>
          </a:p>
        </p:txBody>
      </p:sp>
      <p:sp>
        <p:nvSpPr>
          <p:cNvPr id="103427" name="Rectangle 2"/>
          <p:cNvSpPr>
            <a:spLocks noGrp="1" noRot="1" noChangeAspect="1" noChangeArrowheads="1" noTextEdit="1"/>
          </p:cNvSpPr>
          <p:nvPr>
            <p:ph type="sldImg"/>
          </p:nvPr>
        </p:nvSpPr>
        <p:spPr>
          <a:xfrm>
            <a:off x="458788" y="768350"/>
            <a:ext cx="6186487" cy="3836988"/>
          </a:xfrm>
        </p:spPr>
      </p:sp>
      <p:sp>
        <p:nvSpPr>
          <p:cNvPr id="103428" name="Rectangle 3"/>
          <p:cNvSpPr>
            <a:spLocks noGrp="1" noChangeArrowheads="1"/>
          </p:cNvSpPr>
          <p:nvPr>
            <p:ph type="body" idx="1"/>
          </p:nvPr>
        </p:nvSpPr>
        <p:spPr>
          <a:xfrm>
            <a:off x="944563" y="4860925"/>
            <a:ext cx="5210175"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zh-CN" sz="800"/>
              <a:t>PERT</a:t>
            </a:r>
            <a:r>
              <a:rPr lang="zh-CN" altLang="en-US" sz="700"/>
              <a:t>计划评审技术</a:t>
            </a:r>
            <a:br>
              <a:rPr lang="zh-CN" altLang="en-US" sz="700"/>
            </a:br>
            <a:r>
              <a:rPr lang="zh-CN" altLang="en-US" sz="700"/>
              <a:t>（</a:t>
            </a:r>
            <a:r>
              <a:rPr lang="en-US" altLang="zh-CN" sz="700"/>
              <a:t>Program Evaluation and Review Technique</a:t>
            </a:r>
            <a:r>
              <a:rPr lang="zh-CN" altLang="en-US" sz="700"/>
              <a:t>）</a:t>
            </a:r>
            <a:endParaRPr lang="en-US" altLang="zh-CN" sz="800"/>
          </a:p>
          <a:p>
            <a:pPr eaLnBrk="1" hangingPunct="1">
              <a:lnSpc>
                <a:spcPct val="80000"/>
              </a:lnSpc>
            </a:pPr>
            <a:r>
              <a:rPr lang="zh-CN" altLang="en-US" sz="800"/>
              <a:t>一种采用概率估算的网络图</a:t>
            </a:r>
            <a:endParaRPr lang="zh-CN" altLang="zh-CN" sz="800"/>
          </a:p>
          <a:p>
            <a:pPr eaLnBrk="1" hangingPunct="1">
              <a:lnSpc>
                <a:spcPct val="80000"/>
              </a:lnSpc>
            </a:pPr>
            <a:r>
              <a:rPr lang="zh-CN" altLang="en-US" sz="800"/>
              <a:t>一种评估活动或任务很可能的工期（历时）的方法</a:t>
            </a:r>
            <a:r>
              <a:rPr lang="zh-CN" altLang="en-US" sz="800">
                <a:latin typeface="宋体" panose="02010600030101010101" pitchFamily="2" charset="-122"/>
              </a:rPr>
              <a:t>需要给出每项活动的三个估计时间：乐观时间</a:t>
            </a:r>
            <a:r>
              <a:rPr lang="en-US" altLang="zh-CN" sz="800">
                <a:latin typeface="宋体" panose="02010600030101010101" pitchFamily="2" charset="-122"/>
              </a:rPr>
              <a:t>to</a:t>
            </a:r>
            <a:r>
              <a:rPr lang="zh-CN" altLang="en-US" sz="800">
                <a:latin typeface="宋体" panose="02010600030101010101" pitchFamily="2" charset="-122"/>
              </a:rPr>
              <a:t>、最可能时间</a:t>
            </a:r>
            <a:r>
              <a:rPr lang="en-US" altLang="zh-CN" sz="800">
                <a:latin typeface="宋体" panose="02010600030101010101" pitchFamily="2" charset="-122"/>
              </a:rPr>
              <a:t>tm</a:t>
            </a:r>
            <a:r>
              <a:rPr lang="zh-CN" altLang="en-US" sz="800">
                <a:latin typeface="宋体" panose="02010600030101010101" pitchFamily="2" charset="-122"/>
              </a:rPr>
              <a:t>、悲观时间</a:t>
            </a:r>
            <a:r>
              <a:rPr lang="en-US" altLang="zh-CN" sz="800">
                <a:latin typeface="宋体" panose="02010600030101010101" pitchFamily="2" charset="-122"/>
              </a:rPr>
              <a:t>tp</a:t>
            </a:r>
            <a:r>
              <a:rPr lang="zh-CN" altLang="en-US" sz="800">
                <a:latin typeface="宋体" panose="02010600030101010101" pitchFamily="2" charset="-122"/>
              </a:rPr>
              <a:t>。这种期望工期可以用下面的公式计算：</a:t>
            </a:r>
            <a:r>
              <a:rPr kumimoji="1" lang="zh-CN" altLang="en-US" sz="800"/>
              <a:t> </a:t>
            </a:r>
            <a:r>
              <a:rPr kumimoji="1" lang="en-US" altLang="zh-CN" sz="800" i="1"/>
              <a:t>t =</a:t>
            </a:r>
            <a:r>
              <a:rPr kumimoji="1" lang="en-US" altLang="zh-CN" sz="800"/>
              <a:t>(</a:t>
            </a:r>
            <a:r>
              <a:rPr kumimoji="1" lang="en-US" altLang="zh-CN" sz="800" i="1"/>
              <a:t> t0+4 tm+tp</a:t>
            </a:r>
            <a:r>
              <a:rPr kumimoji="1" lang="en-US" altLang="zh-CN" sz="800"/>
              <a:t>)</a:t>
            </a:r>
            <a:r>
              <a:rPr kumimoji="1" lang="en-US" altLang="zh-CN" sz="800" i="1"/>
              <a:t>/6</a:t>
            </a:r>
            <a:endParaRPr kumimoji="1" lang="en-US" altLang="zh-CN" sz="800" i="1"/>
          </a:p>
          <a:p>
            <a:pPr eaLnBrk="1" hangingPunct="1">
              <a:lnSpc>
                <a:spcPct val="80000"/>
              </a:lnSpc>
            </a:pPr>
            <a:r>
              <a:rPr lang="zh-CN" altLang="en-US" sz="800"/>
              <a:t>运用蒙特卡罗模拟、三角模拟等方法确定出每项项目活动的可能工期和整个项目可能工期</a:t>
            </a:r>
            <a:endParaRPr lang="zh-CN" altLang="en-US" sz="800"/>
          </a:p>
          <a:p>
            <a:pPr lvl="1" eaLnBrk="1" hangingPunct="1">
              <a:lnSpc>
                <a:spcPct val="150000"/>
              </a:lnSpc>
              <a:buFont typeface="Wingdings" panose="05000000000000000000" pitchFamily="2" charset="2"/>
              <a:buNone/>
            </a:pPr>
            <a:r>
              <a:rPr lang="zh-CN" altLang="en-US" sz="800" b="1"/>
              <a:t>确定工期</a:t>
            </a:r>
            <a:endParaRPr lang="zh-CN" altLang="en-US" sz="800" b="1"/>
          </a:p>
          <a:p>
            <a:pPr lvl="2" eaLnBrk="1" hangingPunct="1">
              <a:lnSpc>
                <a:spcPct val="150000"/>
              </a:lnSpc>
              <a:buFont typeface="Wingdings" panose="05000000000000000000" pitchFamily="2" charset="2"/>
              <a:buNone/>
            </a:pPr>
            <a:r>
              <a:rPr lang="zh-CN" altLang="en-US" sz="800" b="1"/>
              <a:t>预算工作量小时数</a:t>
            </a:r>
            <a:r>
              <a:rPr lang="en-US" altLang="zh-CN" sz="800" b="1"/>
              <a:t>/</a:t>
            </a:r>
            <a:r>
              <a:rPr lang="zh-CN" altLang="en-US" sz="800" b="1"/>
              <a:t>每一阶段的小时数</a:t>
            </a:r>
            <a:r>
              <a:rPr lang="en-US" altLang="zh-CN" sz="800" b="1"/>
              <a:t>/</a:t>
            </a:r>
            <a:r>
              <a:rPr lang="zh-CN" altLang="en-US" sz="800" b="1"/>
              <a:t>可用百分比</a:t>
            </a:r>
            <a:endParaRPr lang="zh-CN" altLang="en-US" sz="800" b="1"/>
          </a:p>
          <a:p>
            <a:pPr lvl="2" eaLnBrk="1" hangingPunct="1">
              <a:lnSpc>
                <a:spcPct val="150000"/>
              </a:lnSpc>
              <a:buFont typeface="Wingdings" panose="05000000000000000000" pitchFamily="2" charset="2"/>
              <a:buNone/>
            </a:pPr>
            <a:r>
              <a:rPr lang="zh-CN" altLang="en-US" sz="800" b="1"/>
              <a:t>举例：</a:t>
            </a:r>
            <a:endParaRPr lang="zh-CN" altLang="en-US" sz="800" b="1"/>
          </a:p>
          <a:p>
            <a:pPr lvl="2" eaLnBrk="1" hangingPunct="1">
              <a:lnSpc>
                <a:spcPct val="150000"/>
              </a:lnSpc>
              <a:buFont typeface="Wingdings" panose="05000000000000000000" pitchFamily="2" charset="2"/>
              <a:buNone/>
            </a:pPr>
            <a:r>
              <a:rPr lang="zh-CN" altLang="en-US" sz="800" b="1"/>
              <a:t>   </a:t>
            </a:r>
            <a:r>
              <a:rPr lang="en-US" altLang="zh-CN" sz="800" b="1"/>
              <a:t>24</a:t>
            </a:r>
            <a:r>
              <a:rPr lang="zh-CN" altLang="en-US" sz="800" b="1"/>
              <a:t>小时的工作量</a:t>
            </a:r>
            <a:r>
              <a:rPr lang="en-US" altLang="zh-CN" sz="800" b="1"/>
              <a:t>/</a:t>
            </a:r>
            <a:r>
              <a:rPr lang="zh-CN" altLang="en-US" sz="800" b="1"/>
              <a:t>每天工作</a:t>
            </a:r>
            <a:r>
              <a:rPr lang="en-US" altLang="zh-CN" sz="800" b="1"/>
              <a:t>8</a:t>
            </a:r>
            <a:r>
              <a:rPr lang="zh-CN" altLang="en-US" sz="800" b="1"/>
              <a:t>小时</a:t>
            </a:r>
            <a:r>
              <a:rPr lang="en-US" altLang="zh-CN" sz="800" b="1"/>
              <a:t>/70%</a:t>
            </a:r>
            <a:r>
              <a:rPr lang="zh-CN" altLang="en-US" sz="800" b="1"/>
              <a:t>的可用率</a:t>
            </a:r>
            <a:r>
              <a:rPr lang="en-US" altLang="zh-CN" sz="800" b="1"/>
              <a:t>=4.5</a:t>
            </a:r>
            <a:r>
              <a:rPr lang="zh-CN" altLang="en-US" sz="800" b="1"/>
              <a:t>天为工期</a:t>
            </a:r>
            <a:endParaRPr lang="zh-CN" altLang="en-US" sz="800" b="1"/>
          </a:p>
          <a:p>
            <a:pPr lvl="1" eaLnBrk="1" hangingPunct="1">
              <a:lnSpc>
                <a:spcPct val="150000"/>
              </a:lnSpc>
              <a:buFont typeface="Wingdings" panose="05000000000000000000" pitchFamily="2" charset="2"/>
              <a:buNone/>
            </a:pPr>
            <a:r>
              <a:rPr lang="zh-CN" altLang="en-US" sz="800" b="1"/>
              <a:t>将你的网络逻辑和关键路径分析合并这些工期估算，做一个初始的进度。</a:t>
            </a:r>
            <a:endParaRPr lang="zh-CN" altLang="en-US" sz="800" b="1"/>
          </a:p>
          <a:p>
            <a:pPr lvl="1" eaLnBrk="1" hangingPunct="1">
              <a:lnSpc>
                <a:spcPct val="150000"/>
              </a:lnSpc>
              <a:buFont typeface="Wingdings" panose="05000000000000000000" pitchFamily="2" charset="2"/>
              <a:buNone/>
            </a:pPr>
            <a:r>
              <a:rPr lang="zh-CN" altLang="en-US" sz="800" b="1"/>
              <a:t>适当加入应急储备时间</a:t>
            </a:r>
            <a:endParaRPr lang="zh-CN" altLang="en-US" sz="800" b="1"/>
          </a:p>
          <a:p>
            <a:pPr lvl="1" eaLnBrk="1" hangingPunct="1">
              <a:lnSpc>
                <a:spcPct val="150000"/>
              </a:lnSpc>
              <a:buFont typeface="Wingdings" panose="05000000000000000000" pitchFamily="2" charset="2"/>
              <a:buNone/>
            </a:pPr>
            <a:r>
              <a:rPr lang="zh-CN" altLang="en-US" sz="800" b="1"/>
              <a:t>用分配的资源确定工作量估算。</a:t>
            </a:r>
            <a:endParaRPr lang="zh-CN" altLang="en-US" sz="800" b="1"/>
          </a:p>
          <a:p>
            <a:pPr lvl="1" eaLnBrk="1" hangingPunct="1">
              <a:lnSpc>
                <a:spcPct val="150000"/>
              </a:lnSpc>
              <a:buFont typeface="Wingdings" panose="05000000000000000000" pitchFamily="2" charset="2"/>
              <a:buNone/>
            </a:pPr>
            <a:r>
              <a:rPr lang="zh-CN" altLang="en-US" sz="800" b="1"/>
              <a:t>用已知的可用的特定资源将工作量估算转换成一个日历表：</a:t>
            </a:r>
            <a:endParaRPr lang="zh-CN" altLang="en-US" sz="800" b="1"/>
          </a:p>
          <a:p>
            <a:pPr lvl="2" eaLnBrk="1" hangingPunct="1">
              <a:lnSpc>
                <a:spcPct val="150000"/>
              </a:lnSpc>
              <a:buFont typeface="Wingdings" panose="05000000000000000000" pitchFamily="2" charset="2"/>
              <a:buNone/>
            </a:pPr>
            <a:r>
              <a:rPr lang="zh-CN" altLang="en-US" sz="800" b="1"/>
              <a:t>考虑公众假期和休假</a:t>
            </a:r>
            <a:endParaRPr lang="zh-CN" altLang="en-US" sz="800" b="1"/>
          </a:p>
          <a:p>
            <a:pPr lvl="2" eaLnBrk="1" hangingPunct="1">
              <a:lnSpc>
                <a:spcPct val="150000"/>
              </a:lnSpc>
              <a:buFont typeface="Wingdings" panose="05000000000000000000" pitchFamily="2" charset="2"/>
              <a:buNone/>
            </a:pPr>
            <a:r>
              <a:rPr lang="zh-CN" altLang="en-US" sz="800" b="1"/>
              <a:t>考虑所有可能会影响预期可用性的因素</a:t>
            </a:r>
            <a:endParaRPr lang="zh-CN" altLang="en-US" sz="800" b="1"/>
          </a:p>
          <a:p>
            <a:pPr eaLnBrk="1" hangingPunct="1">
              <a:lnSpc>
                <a:spcPct val="80000"/>
              </a:lnSpc>
            </a:pPr>
            <a:endParaRPr lang="zh-CN" altLang="en-US" sz="8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r>
              <a:rPr lang="zh-CN" altLang="en-US" dirty="0"/>
              <a:t>参考：</a:t>
            </a:r>
            <a:r>
              <a:rPr lang="en-US" altLang="zh-CN" dirty="0"/>
              <a:t>https://baike.baidu.com/item/</a:t>
            </a:r>
            <a:r>
              <a:rPr lang="zh-CN" altLang="en-US" dirty="0"/>
              <a:t>关键路径法</a:t>
            </a:r>
            <a:r>
              <a:rPr lang="en-US" altLang="zh-CN" dirty="0"/>
              <a:t>/4425928?fr=Aladdin</a:t>
            </a:r>
            <a:endParaRPr lang="en-US" altLang="zh-CN" dirty="0"/>
          </a:p>
          <a:p>
            <a:pPr eaLnBrk="1" hangingPunct="1">
              <a:buFont typeface="Monotype Sorts" charset="0"/>
              <a:buNone/>
            </a:pPr>
            <a:r>
              <a:rPr lang="zh-CN" altLang="en-US" dirty="0"/>
              <a:t>扩展知识：正推法、逆推法</a:t>
            </a:r>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r>
              <a:rPr lang="zh-CN" altLang="en-US" dirty="0"/>
              <a:t>参考：</a:t>
            </a:r>
            <a:r>
              <a:rPr lang="en-US" altLang="zh-CN" dirty="0"/>
              <a:t>https://baike.baidu.com/item/</a:t>
            </a:r>
            <a:r>
              <a:rPr lang="zh-CN" altLang="en-US" dirty="0"/>
              <a:t>关键路径法</a:t>
            </a:r>
            <a:r>
              <a:rPr lang="en-US" altLang="zh-CN" dirty="0"/>
              <a:t>/4425928?fr=Aladdin</a:t>
            </a:r>
            <a:endParaRPr lang="en-US" altLang="zh-CN" dirty="0"/>
          </a:p>
          <a:p>
            <a:pPr eaLnBrk="1" hangingPunct="1">
              <a:buFont typeface="Monotype Sorts" charset="0"/>
              <a:buNone/>
            </a:pPr>
            <a:r>
              <a:rPr lang="zh-CN" altLang="en-US" dirty="0"/>
              <a:t>扩展知识：正推法、逆推法</a:t>
            </a:r>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r>
              <a:rPr lang="zh-CN" altLang="en-US" dirty="0"/>
              <a:t>参考：</a:t>
            </a:r>
            <a:r>
              <a:rPr lang="en-US" altLang="zh-CN" dirty="0"/>
              <a:t>https://baike.baidu.com/item/</a:t>
            </a:r>
            <a:r>
              <a:rPr lang="zh-CN" altLang="en-US" dirty="0"/>
              <a:t>关键路径法</a:t>
            </a:r>
            <a:r>
              <a:rPr lang="en-US" altLang="zh-CN" dirty="0"/>
              <a:t>/4425928?fr=</a:t>
            </a:r>
            <a:r>
              <a:rPr lang="en-US" altLang="zh-CN" dirty="0" err="1"/>
              <a:t>aladdin</a:t>
            </a:r>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238250"/>
            <a:ext cx="9144000" cy="2632075"/>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971925"/>
            <a:ext cx="9144000"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2AF88477-48E1-4CF0-8EB9-142E499F7548}"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EFD1C6A-13D5-4BC6-A7E2-4B62A58330D4}"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6C31440A-D864-41DC-B390-C88EBD02AB7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5FD14F6-A94F-4B13-B731-9423223642F6}"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884363"/>
            <a:ext cx="10515600" cy="3146425"/>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5059363"/>
            <a:ext cx="10515600" cy="16541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FFFB1509-6FBC-4C48-B835-222CC488B31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FA9CEB8-CD95-423D-BCDB-CEEDD13B9761}"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2012950"/>
            <a:ext cx="5181600" cy="479742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2012950"/>
            <a:ext cx="5181600" cy="479742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3"/>
          <p:cNvSpPr>
            <a:spLocks noGrp="1"/>
          </p:cNvSpPr>
          <p:nvPr>
            <p:ph type="dt" sz="half" idx="10"/>
          </p:nvPr>
        </p:nvSpPr>
        <p:spPr/>
        <p:txBody>
          <a:bodyPr/>
          <a:lstStyle>
            <a:lvl1pPr>
              <a:defRPr/>
            </a:lvl1pPr>
          </a:lstStyle>
          <a:p>
            <a:pPr>
              <a:defRPr/>
            </a:pPr>
            <a:fld id="{A355C352-2F5B-4754-9125-2F91B0AA4EC3}"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C4DC7C9-DB16-4362-B62B-EC67B9D20B38}"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403225"/>
            <a:ext cx="10515600" cy="146050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854200"/>
            <a:ext cx="5157787"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762250"/>
            <a:ext cx="5157787" cy="406241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854200"/>
            <a:ext cx="5183188"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762250"/>
            <a:ext cx="5183188" cy="406241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3"/>
          <p:cNvSpPr>
            <a:spLocks noGrp="1"/>
          </p:cNvSpPr>
          <p:nvPr>
            <p:ph type="dt" sz="half" idx="10"/>
          </p:nvPr>
        </p:nvSpPr>
        <p:spPr/>
        <p:txBody>
          <a:bodyPr/>
          <a:lstStyle>
            <a:lvl1pPr>
              <a:defRPr/>
            </a:lvl1pPr>
          </a:lstStyle>
          <a:p>
            <a:pPr>
              <a:defRPr/>
            </a:pPr>
            <a:fld id="{ABF9E5F5-4F3C-4614-A20C-3DF1A6632E2A}"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5890CA61-C042-4080-BBF8-D021CCA4086C}"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08424AE9-F93C-48C5-87A1-E423B835A9A1}"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96BF27D-831E-4312-BB77-8E0F1FC072FF}"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E530459-E9BD-452C-9837-2C09CDA84529}"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5A8566B-B98C-433A-A05B-3B09FBA20BBC}"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1089025"/>
            <a:ext cx="6172200" cy="53736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0A263C05-7030-494B-86A6-50B10EEB1B79}"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AAD7715-F44A-4019-83F4-2F755408C5A8}"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1089025"/>
            <a:ext cx="6172200" cy="537368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A1B0C7C4-D140-417F-9901-FDB328CAE89E}"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70C33FD-8D31-44BA-84BB-39A9F3B21023}"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0FBAB5F6-AEBA-4CAF-BAF6-C7FA61E49E9E}"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2018F51-F472-44A8-94EB-976086C94C6B}"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403225"/>
            <a:ext cx="2628900" cy="64071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403225"/>
            <a:ext cx="7734300" cy="640715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453F553-164D-4CA1-B5EB-33509E033991}"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486E0E-3EF3-4F79-BC03-ADB2ACD30997}"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noChangeArrowheads="1"/>
          </p:cNvSpPr>
          <p:nvPr>
            <p:ph type="sldNum" sz="quarter" idx="10"/>
          </p:nvPr>
        </p:nvSpPr>
        <p:spPr/>
        <p:txBody>
          <a:bodyPr/>
          <a:lstStyle>
            <a:lvl1pPr>
              <a:defRPr/>
            </a:lvl1pPr>
          </a:lstStyle>
          <a:p>
            <a:pPr>
              <a:defRPr/>
            </a:pPr>
            <a:fld id="{A8AD41E0-BECD-40E0-9031-124EEDB14C5A}" type="slidenum">
              <a:rPr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noChangeArrowheads="1"/>
          </p:cNvSpPr>
          <p:nvPr>
            <p:ph type="sldNum" sz="quarter" idx="10"/>
          </p:nvPr>
        </p:nvSpPr>
        <p:spPr/>
        <p:txBody>
          <a:bodyPr/>
          <a:lstStyle>
            <a:lvl1pPr>
              <a:defRPr/>
            </a:lvl1pPr>
          </a:lstStyle>
          <a:p>
            <a:pPr>
              <a:defRPr/>
            </a:pPr>
            <a:fld id="{48FCA3E5-9AB8-4531-B86F-EBECED5A7283}" type="slidenum">
              <a:rPr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lvl1pPr>
              <a:defRPr sz="2400"/>
            </a:lvl1pPr>
          </a:lstStyle>
          <a:p>
            <a:endParaRPr lang="en-US" dirty="0"/>
          </a:p>
        </p:txBody>
      </p:sp>
      <p:sp>
        <p:nvSpPr>
          <p:cNvPr id="27" name="内容占位符 26"/>
          <p:cNvSpPr>
            <a:spLocks noGrp="1"/>
          </p:cNvSpPr>
          <p:nvPr>
            <p:ph idx="1"/>
          </p:nvPr>
        </p:nvSpPr>
        <p:spPr/>
        <p:txBody>
          <a:bodyPr/>
          <a:lstStyle>
            <a:lvl1pPr marL="0" indent="0">
              <a:buNone/>
              <a:defRPr/>
            </a:lvl1pPr>
          </a:lstStyle>
          <a:p>
            <a:pPr lvl="0"/>
            <a:endParaRPr lang="en-US" dirty="0"/>
          </a:p>
        </p:txBody>
      </p:sp>
      <p:sp>
        <p:nvSpPr>
          <p:cNvPr id="4" name="日期占位符 24"/>
          <p:cNvSpPr>
            <a:spLocks noGrp="1"/>
          </p:cNvSpPr>
          <p:nvPr>
            <p:ph type="dt" sz="half" idx="10"/>
          </p:nvPr>
        </p:nvSpPr>
        <p:spPr>
          <a:xfrm>
            <a:off x="0" y="0"/>
            <a:ext cx="0" cy="0"/>
          </a:xfrm>
        </p:spPr>
        <p:txBody>
          <a:bodyPr/>
          <a:lstStyle>
            <a:lvl1pPr>
              <a:defRPr/>
            </a:lvl1pPr>
          </a:lstStyle>
          <a:p>
            <a:pPr>
              <a:defRPr/>
            </a:pPr>
            <a:endParaRPr lang="zh-CN" altLang="en-US" dirty="0"/>
          </a:p>
        </p:txBody>
      </p:sp>
      <p:sp>
        <p:nvSpPr>
          <p:cNvPr id="6" name="灯片编号占位符 15"/>
          <p:cNvSpPr>
            <a:spLocks noGrp="1"/>
          </p:cNvSpPr>
          <p:nvPr>
            <p:ph type="sldNum" sz="quarter" idx="12"/>
          </p:nvPr>
        </p:nvSpPr>
        <p:spPr>
          <a:xfrm>
            <a:off x="10972800" y="7137400"/>
            <a:ext cx="1011238" cy="273050"/>
          </a:xfrm>
        </p:spPr>
        <p:txBody>
          <a:bodyPr/>
          <a:lstStyle>
            <a:lvl1pPr>
              <a:defRPr/>
            </a:lvl1pPr>
          </a:lstStyle>
          <a:p>
            <a:pPr>
              <a:defRPr/>
            </a:pPr>
            <a:fld id="{E6407E92-E445-4657-B64C-BE059AB20FBD}" type="slidenum">
              <a:rPr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403225"/>
            <a:ext cx="105156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838200" y="2012950"/>
            <a:ext cx="10515600"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7008813"/>
            <a:ext cx="2743200" cy="401637"/>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D24FCC2-23DF-4ADE-9E07-C5F5D3262469}" type="datetimeFigureOut">
              <a:rPr lang="zh-CN" altLang="en-US"/>
            </a:fld>
            <a:endParaRPr lang="zh-CN" altLang="en-US"/>
          </a:p>
        </p:txBody>
      </p:sp>
      <p:sp>
        <p:nvSpPr>
          <p:cNvPr id="5" name="页脚占位符 4"/>
          <p:cNvSpPr>
            <a:spLocks noGrp="1"/>
          </p:cNvSpPr>
          <p:nvPr>
            <p:ph type="ftr" sz="quarter" idx="3"/>
          </p:nvPr>
        </p:nvSpPr>
        <p:spPr>
          <a:xfrm>
            <a:off x="4038600" y="7008813"/>
            <a:ext cx="4114800" cy="401637"/>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610600" y="7008813"/>
            <a:ext cx="2743200" cy="401637"/>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656F0DA-45B5-44A3-9304-266A7B263D45}"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2F2F2"/>
        </a:solidFill>
        <a:effectLst/>
      </p:bgPr>
    </p:bg>
    <p:spTree>
      <p:nvGrpSpPr>
        <p:cNvPr id="1" name=""/>
        <p:cNvGrpSpPr/>
        <p:nvPr/>
      </p:nvGrpSpPr>
      <p:grpSpPr>
        <a:xfrm>
          <a:off x="0" y="0"/>
          <a:ext cx="0" cy="0"/>
          <a:chOff x="0" y="0"/>
          <a:chExt cx="0" cy="0"/>
        </a:xfrm>
      </p:grpSpPr>
      <p:sp>
        <p:nvSpPr>
          <p:cNvPr id="1028" name="矩形 8"/>
          <p:cNvSpPr>
            <a:spLocks noChangeArrowheads="1"/>
          </p:cNvSpPr>
          <p:nvPr/>
        </p:nvSpPr>
        <p:spPr bwMode="auto">
          <a:xfrm>
            <a:off x="0" y="7458075"/>
            <a:ext cx="12192000" cy="92075"/>
          </a:xfrm>
          <a:prstGeom prst="rect">
            <a:avLst/>
          </a:prstGeom>
          <a:solidFill>
            <a:srgbClr val="A6A6A6"/>
          </a:solidFill>
          <a:ln w="12700">
            <a:solidFill>
              <a:srgbClr val="A6A6A6"/>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1029" name="矩形 9"/>
          <p:cNvSpPr>
            <a:spLocks noChangeArrowheads="1"/>
          </p:cNvSpPr>
          <p:nvPr/>
        </p:nvSpPr>
        <p:spPr bwMode="auto">
          <a:xfrm>
            <a:off x="0" y="515938"/>
            <a:ext cx="12192000" cy="34925"/>
          </a:xfrm>
          <a:prstGeom prst="rect">
            <a:avLst/>
          </a:prstGeom>
          <a:solidFill>
            <a:srgbClr val="01395C"/>
          </a:solidFill>
          <a:ln w="12700">
            <a:solidFill>
              <a:srgbClr val="01395C"/>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2056" name="灯片编号占位符 5"/>
          <p:cNvSpPr>
            <a:spLocks noGrp="1" noChangeArrowheads="1"/>
          </p:cNvSpPr>
          <p:nvPr>
            <p:ph type="sldNum" sz="quarter" idx="4"/>
          </p:nvPr>
        </p:nvSpPr>
        <p:spPr bwMode="auto">
          <a:xfrm>
            <a:off x="9191625" y="74613"/>
            <a:ext cx="2743200" cy="401637"/>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Char char="•"/>
              <a:defRPr sz="1200" noProof="1">
                <a:solidFill>
                  <a:srgbClr val="01395C"/>
                </a:solidFill>
              </a:defRPr>
            </a:lvl1pPr>
          </a:lstStyle>
          <a:p>
            <a:pPr>
              <a:defRPr/>
            </a:pPr>
            <a:fld id="{ECA731D4-A08D-45EE-9232-64CC33821BED}" type="slidenum">
              <a:rPr altLang="en-US"/>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2pPr>
      <a:lvl3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3pPr>
      <a:lvl4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4pPr>
      <a:lvl5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5pPr>
      <a:lvl6pPr marL="4572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6pPr>
      <a:lvl7pPr marL="9144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7pPr>
      <a:lvl8pPr marL="13716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8pPr>
      <a:lvl9pPr marL="18288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rgbClr val="F2F2F2"/>
        </a:solidFill>
        <a:effectLst/>
      </p:bgPr>
    </p:bg>
    <p:spTree>
      <p:nvGrpSpPr>
        <p:cNvPr id="1" name=""/>
        <p:cNvGrpSpPr/>
        <p:nvPr/>
      </p:nvGrpSpPr>
      <p:grpSpPr>
        <a:xfrm>
          <a:off x="0" y="0"/>
          <a:ext cx="0" cy="0"/>
          <a:chOff x="0" y="0"/>
          <a:chExt cx="0" cy="0"/>
        </a:xfrm>
      </p:grpSpPr>
      <p:sp>
        <p:nvSpPr>
          <p:cNvPr id="1028" name="矩形 8"/>
          <p:cNvSpPr>
            <a:spLocks noChangeArrowheads="1"/>
          </p:cNvSpPr>
          <p:nvPr/>
        </p:nvSpPr>
        <p:spPr bwMode="auto">
          <a:xfrm>
            <a:off x="0" y="7458075"/>
            <a:ext cx="12192000" cy="92075"/>
          </a:xfrm>
          <a:prstGeom prst="rect">
            <a:avLst/>
          </a:prstGeom>
          <a:solidFill>
            <a:srgbClr val="A6A6A6"/>
          </a:solidFill>
          <a:ln w="12700">
            <a:solidFill>
              <a:srgbClr val="A6A6A6"/>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1029" name="矩形 9"/>
          <p:cNvSpPr>
            <a:spLocks noChangeArrowheads="1"/>
          </p:cNvSpPr>
          <p:nvPr/>
        </p:nvSpPr>
        <p:spPr bwMode="auto">
          <a:xfrm>
            <a:off x="0" y="515938"/>
            <a:ext cx="12192000" cy="34925"/>
          </a:xfrm>
          <a:prstGeom prst="rect">
            <a:avLst/>
          </a:prstGeom>
          <a:solidFill>
            <a:srgbClr val="01395C"/>
          </a:solidFill>
          <a:ln w="12700">
            <a:solidFill>
              <a:srgbClr val="01395C"/>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2056" name="灯片编号占位符 5"/>
          <p:cNvSpPr>
            <a:spLocks noGrp="1" noChangeArrowheads="1"/>
          </p:cNvSpPr>
          <p:nvPr>
            <p:ph type="sldNum" sz="quarter" idx="4"/>
          </p:nvPr>
        </p:nvSpPr>
        <p:spPr bwMode="auto">
          <a:xfrm>
            <a:off x="9191625" y="74613"/>
            <a:ext cx="2743200" cy="401637"/>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Char char="•"/>
              <a:defRPr sz="1200" noProof="1">
                <a:solidFill>
                  <a:srgbClr val="01395C"/>
                </a:solidFill>
              </a:defRPr>
            </a:lvl1pPr>
          </a:lstStyle>
          <a:p>
            <a:pPr>
              <a:defRPr/>
            </a:pPr>
            <a:fld id="{BE1E0957-E904-4AFC-A12B-0BC2BB8162F8}" type="slidenum">
              <a:rPr altLang="en-US"/>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Lst>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2pPr>
      <a:lvl3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3pPr>
      <a:lvl4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4pPr>
      <a:lvl5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5pPr>
      <a:lvl6pPr marL="4572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6pPr>
      <a:lvl7pPr marL="9144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7pPr>
      <a:lvl8pPr marL="13716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8pPr>
      <a:lvl9pPr marL="18288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4.xml"/><Relationship Id="rId2" Type="http://schemas.openxmlformats.org/officeDocument/2006/relationships/image" Target="../media/image3.emf"/><Relationship Id="rId1"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3.emf"/><Relationship Id="rId1"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13.x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image" Target="../media/image6.wmf"/><Relationship Id="rId3" Type="http://schemas.openxmlformats.org/officeDocument/2006/relationships/oleObject" Target="../embeddings/oleObject3.bin"/><Relationship Id="rId2" Type="http://schemas.openxmlformats.org/officeDocument/2006/relationships/image" Target="../media/image5.wmf"/><Relationship Id="rId1"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7.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10.emf"/><Relationship Id="rId1" Type="http://schemas.openxmlformats.org/officeDocument/2006/relationships/oleObject" Target="../embeddings/oleObject6.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image" Target="../media/image14.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image" Target="../media/image14.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image" Target="../media/image15.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4.xml"/><Relationship Id="rId2" Type="http://schemas.openxmlformats.org/officeDocument/2006/relationships/image" Target="../media/image17.png"/><Relationship Id="rId1"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image" Target="../media/image18.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image" Target="../media/image19.GIF"/></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image" Target="../media/image2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image" Target="../media/image7.em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image" Target="../media/image7.e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70" name="矩形 1" hidden="1"/>
          <p:cNvSpPr>
            <a:spLocks noChangeArrowheads="1"/>
          </p:cNvSpPr>
          <p:nvPr/>
        </p:nvSpPr>
        <p:spPr bwMode="auto">
          <a:xfrm>
            <a:off x="-11113" y="4502150"/>
            <a:ext cx="12203113" cy="2192338"/>
          </a:xfrm>
          <a:custGeom>
            <a:avLst/>
            <a:gdLst>
              <a:gd name="T0" fmla="*/ 11430 w 12202851"/>
              <a:gd name="T1" fmla="*/ 0 h 1987781"/>
              <a:gd name="T2" fmla="*/ 12208423 w 12202851"/>
              <a:gd name="T3" fmla="*/ 5991325 h 1987781"/>
              <a:gd name="T4" fmla="*/ 12198031 w 12202851"/>
              <a:gd name="T5" fmla="*/ 18913193 h 1987781"/>
              <a:gd name="T6" fmla="*/ 0 w 12202851"/>
              <a:gd name="T7" fmla="*/ 18913193 h 1987781"/>
              <a:gd name="T8" fmla="*/ 11430 w 12202851"/>
              <a:gd name="T9" fmla="*/ 0 h 1987781"/>
              <a:gd name="T10" fmla="*/ 0 60000 65536"/>
              <a:gd name="T11" fmla="*/ 0 60000 65536"/>
              <a:gd name="T12" fmla="*/ 0 60000 65536"/>
              <a:gd name="T13" fmla="*/ 0 60000 65536"/>
              <a:gd name="T14" fmla="*/ 0 60000 65536"/>
              <a:gd name="T15" fmla="*/ 0 w 12202851"/>
              <a:gd name="T16" fmla="*/ 0 h 1987781"/>
              <a:gd name="T17" fmla="*/ 12202851 w 12202851"/>
              <a:gd name="T18" fmla="*/ 1987781 h 1987781"/>
            </a:gdLst>
            <a:ahLst/>
            <a:cxnLst>
              <a:cxn ang="T10">
                <a:pos x="T0" y="T1"/>
              </a:cxn>
              <a:cxn ang="T11">
                <a:pos x="T2" y="T3"/>
              </a:cxn>
              <a:cxn ang="T12">
                <a:pos x="T4" y="T5"/>
              </a:cxn>
              <a:cxn ang="T13">
                <a:pos x="T6" y="T7"/>
              </a:cxn>
              <a:cxn ang="T14">
                <a:pos x="T8" y="T9"/>
              </a:cxn>
            </a:cxnLst>
            <a:rect l="T15" t="T16" r="T17" b="T18"/>
            <a:pathLst>
              <a:path w="12202851" h="1987781">
                <a:moveTo>
                  <a:pt x="11430" y="0"/>
                </a:moveTo>
                <a:cubicBezTo>
                  <a:pt x="3514321" y="1818409"/>
                  <a:pt x="8046951" y="1697875"/>
                  <a:pt x="12202391" y="629689"/>
                </a:cubicBezTo>
                <a:cubicBezTo>
                  <a:pt x="12205855" y="1003762"/>
                  <a:pt x="12188536" y="1613708"/>
                  <a:pt x="12192000" y="1987781"/>
                </a:cubicBezTo>
                <a:lnTo>
                  <a:pt x="0" y="1987781"/>
                </a:lnTo>
                <a:lnTo>
                  <a:pt x="11430" y="0"/>
                </a:lnTo>
                <a:close/>
              </a:path>
            </a:pathLst>
          </a:custGeom>
          <a:solidFill>
            <a:srgbClr val="8BBF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171" name="组合 9"/>
          <p:cNvGrpSpPr/>
          <p:nvPr/>
        </p:nvGrpSpPr>
        <p:grpSpPr bwMode="auto">
          <a:xfrm>
            <a:off x="-3175" y="4502150"/>
            <a:ext cx="12203113" cy="3173413"/>
            <a:chOff x="0" y="0"/>
            <a:chExt cx="12202851" cy="2878281"/>
          </a:xfrm>
        </p:grpSpPr>
        <p:sp>
          <p:nvSpPr>
            <p:cNvPr id="7175" name="矩形 1"/>
            <p:cNvSpPr>
              <a:spLocks noChangeArrowheads="1"/>
            </p:cNvSpPr>
            <p:nvPr/>
          </p:nvSpPr>
          <p:spPr bwMode="auto">
            <a:xfrm>
              <a:off x="0" y="69113"/>
              <a:ext cx="12202851" cy="2331134"/>
            </a:xfrm>
            <a:custGeom>
              <a:avLst/>
              <a:gdLst>
                <a:gd name="T0" fmla="*/ 0 w 12202851"/>
                <a:gd name="T1" fmla="*/ 0 h 2330681"/>
                <a:gd name="T2" fmla="*/ 12202387 w 12202851"/>
                <a:gd name="T3" fmla="*/ 1034355 h 2330681"/>
                <a:gd name="T4" fmla="*/ 12192003 w 12202851"/>
                <a:gd name="T5" fmla="*/ 2341122 h 2330681"/>
                <a:gd name="T6" fmla="*/ 0 w 12202851"/>
                <a:gd name="T7" fmla="*/ 2341122 h 2330681"/>
                <a:gd name="T8" fmla="*/ 0 w 12202851"/>
                <a:gd name="T9" fmla="*/ 0 h 2330681"/>
                <a:gd name="T10" fmla="*/ 0 60000 65536"/>
                <a:gd name="T11" fmla="*/ 0 60000 65536"/>
                <a:gd name="T12" fmla="*/ 0 60000 65536"/>
                <a:gd name="T13" fmla="*/ 0 60000 65536"/>
                <a:gd name="T14" fmla="*/ 0 60000 65536"/>
                <a:gd name="T15" fmla="*/ 0 w 12202851"/>
                <a:gd name="T16" fmla="*/ 0 h 2330681"/>
                <a:gd name="T17" fmla="*/ 12202851 w 12202851"/>
                <a:gd name="T18" fmla="*/ 2330681 h 2330681"/>
              </a:gdLst>
              <a:ahLst/>
              <a:cxnLst>
                <a:cxn ang="T10">
                  <a:pos x="T0" y="T1"/>
                </a:cxn>
                <a:cxn ang="T11">
                  <a:pos x="T2" y="T3"/>
                </a:cxn>
                <a:cxn ang="T12">
                  <a:pos x="T4" y="T5"/>
                </a:cxn>
                <a:cxn ang="T13">
                  <a:pos x="T6" y="T7"/>
                </a:cxn>
                <a:cxn ang="T14">
                  <a:pos x="T8" y="T9"/>
                </a:cxn>
              </a:cxnLst>
              <a:rect l="T15" t="T16" r="T17" b="T18"/>
              <a:pathLst>
                <a:path w="12202851" h="2330681">
                  <a:moveTo>
                    <a:pt x="0" y="0"/>
                  </a:moveTo>
                  <a:cubicBezTo>
                    <a:pt x="3502891" y="1818409"/>
                    <a:pt x="8046951" y="2097925"/>
                    <a:pt x="12202391" y="1029739"/>
                  </a:cubicBezTo>
                  <a:cubicBezTo>
                    <a:pt x="12205855" y="1403812"/>
                    <a:pt x="12188536" y="1956608"/>
                    <a:pt x="12192000" y="2330681"/>
                  </a:cubicBezTo>
                  <a:lnTo>
                    <a:pt x="0" y="2330681"/>
                  </a:lnTo>
                  <a:lnTo>
                    <a:pt x="0" y="0"/>
                  </a:lnTo>
                  <a:close/>
                </a:path>
              </a:pathLst>
            </a:custGeom>
            <a:solidFill>
              <a:srgbClr val="8BBF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76" name="矩形 1"/>
            <p:cNvSpPr>
              <a:spLocks noChangeArrowheads="1"/>
            </p:cNvSpPr>
            <p:nvPr/>
          </p:nvSpPr>
          <p:spPr bwMode="auto">
            <a:xfrm>
              <a:off x="0" y="0"/>
              <a:ext cx="12202851" cy="2639264"/>
            </a:xfrm>
            <a:custGeom>
              <a:avLst/>
              <a:gdLst>
                <a:gd name="T0" fmla="*/ 0 w 12202851"/>
                <a:gd name="T1" fmla="*/ 0 h 2639291"/>
                <a:gd name="T2" fmla="*/ 12202387 w 12202851"/>
                <a:gd name="T3" fmla="*/ 1406607 h 2639291"/>
                <a:gd name="T4" fmla="*/ 12192003 w 12202851"/>
                <a:gd name="T5" fmla="*/ 2638673 h 2639291"/>
                <a:gd name="T6" fmla="*/ 0 w 12202851"/>
                <a:gd name="T7" fmla="*/ 2638673 h 2639291"/>
                <a:gd name="T8" fmla="*/ 0 w 12202851"/>
                <a:gd name="T9" fmla="*/ 0 h 2639291"/>
                <a:gd name="T10" fmla="*/ 0 60000 65536"/>
                <a:gd name="T11" fmla="*/ 0 60000 65536"/>
                <a:gd name="T12" fmla="*/ 0 60000 65536"/>
                <a:gd name="T13" fmla="*/ 0 60000 65536"/>
                <a:gd name="T14" fmla="*/ 0 60000 65536"/>
                <a:gd name="T15" fmla="*/ 0 w 12202851"/>
                <a:gd name="T16" fmla="*/ 0 h 2639291"/>
                <a:gd name="T17" fmla="*/ 12202851 w 12202851"/>
                <a:gd name="T18" fmla="*/ 2639291 h 2639291"/>
              </a:gdLst>
              <a:ahLst/>
              <a:cxnLst>
                <a:cxn ang="T10">
                  <a:pos x="T0" y="T1"/>
                </a:cxn>
                <a:cxn ang="T11">
                  <a:pos x="T2" y="T3"/>
                </a:cxn>
                <a:cxn ang="T12">
                  <a:pos x="T4" y="T5"/>
                </a:cxn>
                <a:cxn ang="T13">
                  <a:pos x="T6" y="T7"/>
                </a:cxn>
                <a:cxn ang="T14">
                  <a:pos x="T8" y="T9"/>
                </a:cxn>
              </a:cxnLst>
              <a:rect l="T15" t="T16" r="T17" b="T18"/>
              <a:pathLst>
                <a:path w="12202851" h="2639291">
                  <a:moveTo>
                    <a:pt x="0" y="0"/>
                  </a:moveTo>
                  <a:cubicBezTo>
                    <a:pt x="3502891" y="1818409"/>
                    <a:pt x="8024091" y="2726575"/>
                    <a:pt x="12202391" y="1406929"/>
                  </a:cubicBezTo>
                  <a:cubicBezTo>
                    <a:pt x="12205855" y="1781002"/>
                    <a:pt x="12188536" y="2265218"/>
                    <a:pt x="12192000" y="2639291"/>
                  </a:cubicBezTo>
                  <a:lnTo>
                    <a:pt x="0" y="2639291"/>
                  </a:lnTo>
                  <a:lnTo>
                    <a:pt x="0" y="0"/>
                  </a:lnTo>
                  <a:close/>
                </a:path>
              </a:pathLst>
            </a:custGeom>
            <a:solidFill>
              <a:srgbClr val="0495D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77" name="矩形 1"/>
            <p:cNvSpPr>
              <a:spLocks noChangeArrowheads="1"/>
            </p:cNvSpPr>
            <p:nvPr/>
          </p:nvSpPr>
          <p:spPr bwMode="auto">
            <a:xfrm>
              <a:off x="0" y="10079"/>
              <a:ext cx="12193326" cy="2868202"/>
            </a:xfrm>
            <a:custGeom>
              <a:avLst/>
              <a:gdLst>
                <a:gd name="T0" fmla="*/ 0 w 12192999"/>
                <a:gd name="T1" fmla="*/ 0 h 2867891"/>
                <a:gd name="T2" fmla="*/ 12199529 w 12192999"/>
                <a:gd name="T3" fmla="*/ 1739616 h 2867891"/>
                <a:gd name="T4" fmla="*/ 12199529 w 12192999"/>
                <a:gd name="T5" fmla="*/ 2875055 h 2867891"/>
                <a:gd name="T6" fmla="*/ 0 w 12192999"/>
                <a:gd name="T7" fmla="*/ 2875055 h 2867891"/>
                <a:gd name="T8" fmla="*/ 0 w 12192999"/>
                <a:gd name="T9" fmla="*/ 0 h 2867891"/>
                <a:gd name="T10" fmla="*/ 0 60000 65536"/>
                <a:gd name="T11" fmla="*/ 0 60000 65536"/>
                <a:gd name="T12" fmla="*/ 0 60000 65536"/>
                <a:gd name="T13" fmla="*/ 0 60000 65536"/>
                <a:gd name="T14" fmla="*/ 0 60000 65536"/>
                <a:gd name="T15" fmla="*/ 0 w 12192999"/>
                <a:gd name="T16" fmla="*/ 0 h 2867891"/>
                <a:gd name="T17" fmla="*/ 12192999 w 12192999"/>
                <a:gd name="T18" fmla="*/ 2867891 h 2867891"/>
              </a:gdLst>
              <a:ahLst/>
              <a:cxnLst>
                <a:cxn ang="T10">
                  <a:pos x="T0" y="T1"/>
                </a:cxn>
                <a:cxn ang="T11">
                  <a:pos x="T2" y="T3"/>
                </a:cxn>
                <a:cxn ang="T12">
                  <a:pos x="T4" y="T5"/>
                </a:cxn>
                <a:cxn ang="T13">
                  <a:pos x="T6" y="T7"/>
                </a:cxn>
                <a:cxn ang="T14">
                  <a:pos x="T8" y="T9"/>
                </a:cxn>
              </a:cxnLst>
              <a:rect l="T15" t="T16" r="T17" b="T18"/>
              <a:pathLst>
                <a:path w="12192999" h="2867891">
                  <a:moveTo>
                    <a:pt x="0" y="0"/>
                  </a:moveTo>
                  <a:cubicBezTo>
                    <a:pt x="3502891" y="1818409"/>
                    <a:pt x="8013700" y="3054928"/>
                    <a:pt x="12192000" y="1735282"/>
                  </a:cubicBezTo>
                  <a:cubicBezTo>
                    <a:pt x="12195464" y="2109355"/>
                    <a:pt x="12188536" y="2493818"/>
                    <a:pt x="12192000" y="2867891"/>
                  </a:cubicBezTo>
                  <a:lnTo>
                    <a:pt x="0" y="2867891"/>
                  </a:lnTo>
                  <a:lnTo>
                    <a:pt x="0" y="0"/>
                  </a:lnTo>
                  <a:close/>
                </a:path>
              </a:pathLst>
            </a:custGeom>
            <a:solidFill>
              <a:srgbClr val="0139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7172" name="矩形 10"/>
          <p:cNvSpPr>
            <a:spLocks noChangeArrowheads="1"/>
          </p:cNvSpPr>
          <p:nvPr/>
        </p:nvSpPr>
        <p:spPr bwMode="auto">
          <a:xfrm>
            <a:off x="2008188" y="3097213"/>
            <a:ext cx="32623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山东建筑大学</a:t>
            </a:r>
            <a:endParaRPr lang="en-US" altLang="zh-CN" sz="2400" b="1">
              <a:solidFill>
                <a:srgbClr val="01395C"/>
              </a:solidFill>
              <a:latin typeface="方正粗宋简体"/>
              <a:ea typeface="方正粗宋简体"/>
              <a:cs typeface="方正粗宋简体"/>
            </a:endParaRPr>
          </a:p>
          <a:p>
            <a:pPr algn="ct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计算机科学与技术学院</a:t>
            </a:r>
            <a:endParaRPr lang="zh-CN" altLang="en-US" sz="2400" b="1">
              <a:solidFill>
                <a:srgbClr val="01395C"/>
              </a:solidFill>
              <a:latin typeface="方正粗宋简体"/>
              <a:ea typeface="方正粗宋简体"/>
              <a:cs typeface="方正粗宋简体"/>
            </a:endParaRPr>
          </a:p>
        </p:txBody>
      </p:sp>
      <p:sp>
        <p:nvSpPr>
          <p:cNvPr id="12296" name="标题 7"/>
          <p:cNvSpPr>
            <a:spLocks noChangeArrowheads="1"/>
          </p:cNvSpPr>
          <p:nvPr/>
        </p:nvSpPr>
        <p:spPr bwMode="auto">
          <a:xfrm>
            <a:off x="90488" y="900113"/>
            <a:ext cx="7097712" cy="779462"/>
          </a:xfrm>
          <a:prstGeom prst="rect">
            <a:avLst/>
          </a:prstGeom>
          <a:noFill/>
          <a:ln w="9525">
            <a:noFill/>
            <a:miter lim="800000"/>
          </a:ln>
        </p:spPr>
        <p:txBody>
          <a:bodyPr anchor="b"/>
          <a:lstStyle/>
          <a:p>
            <a:pPr algn="ctr" eaLnBrk="1" hangingPunct="1">
              <a:lnSpc>
                <a:spcPct val="90000"/>
              </a:lnSpc>
              <a:buFont typeface="Arial" panose="020B0604020202020204" pitchFamily="34" charset="0"/>
              <a:buNone/>
              <a:defRPr/>
            </a:pPr>
            <a:r>
              <a:rPr lang="zh-CN" altLang="en-US" sz="4400" b="1" dirty="0">
                <a:solidFill>
                  <a:srgbClr val="01395C"/>
                </a:solidFill>
                <a:latin typeface="+mj-lt"/>
                <a:ea typeface="+mj-ea"/>
                <a:cs typeface="+mj-cs"/>
                <a:sym typeface="+mn-ea"/>
              </a:rPr>
              <a:t>关键技术：网络图</a:t>
            </a:r>
            <a:endParaRPr lang="zh-CN" altLang="en-US" sz="4400" b="1" dirty="0">
              <a:solidFill>
                <a:srgbClr val="01395C"/>
              </a:solidFill>
              <a:latin typeface="+mj-lt"/>
              <a:ea typeface="+mj-ea"/>
              <a:cs typeface="+mj-cs"/>
              <a:sym typeface="+mn-ea"/>
            </a:endParaRPr>
          </a:p>
        </p:txBody>
      </p:sp>
      <p:graphicFrame>
        <p:nvGraphicFramePr>
          <p:cNvPr id="7174" name="对象 7"/>
          <p:cNvGraphicFramePr/>
          <p:nvPr/>
        </p:nvGraphicFramePr>
        <p:xfrm>
          <a:off x="7267575" y="1328738"/>
          <a:ext cx="4232275" cy="4337050"/>
        </p:xfrm>
        <a:graphic>
          <a:graphicData uri="http://schemas.openxmlformats.org/presentationml/2006/ole">
            <mc:AlternateContent xmlns:mc="http://schemas.openxmlformats.org/markup-compatibility/2006">
              <mc:Choice xmlns:v="urn:schemas-microsoft-com:vml" Requires="v">
                <p:oleObj spid="_x0000_s7195" name="BMP 图像" r:id="rId1" imgW="5057775" imgH="4981575" progId="Paint.Picture">
                  <p:embed/>
                </p:oleObj>
              </mc:Choice>
              <mc:Fallback>
                <p:oleObj name="BMP 图像" r:id="rId1" imgW="5057775" imgH="4981575" progId="Paint.Picture">
                  <p:embed/>
                  <p:pic>
                    <p:nvPicPr>
                      <p:cNvPr id="0" name="对象 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7575" y="1328738"/>
                        <a:ext cx="4232275" cy="433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6.2</a:t>
            </a:r>
            <a:r>
              <a:rPr lang="zh-CN" altLang="en-US" sz="2400" b="1" dirty="0">
                <a:solidFill>
                  <a:srgbClr val="01395C"/>
                </a:solidFill>
                <a:latin typeface="方正粗宋简体"/>
                <a:ea typeface="方正粗宋简体"/>
                <a:cs typeface="方正粗宋简体"/>
              </a:rPr>
              <a:t> 进度管理图示方法</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388114" y="764853"/>
            <a:ext cx="1415772"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pPr eaLnBrk="1" hangingPunct="1"/>
            <a:r>
              <a:rPr lang="zh-CN" altLang="zh-CN" sz="2400" b="1" dirty="0">
                <a:effectLst/>
              </a:rPr>
              <a:t>网络图法</a:t>
            </a:r>
            <a:endParaRPr lang="zh-CN" altLang="zh-CN" sz="2400" b="1" dirty="0">
              <a:effectLst/>
            </a:endParaRPr>
          </a:p>
        </p:txBody>
      </p:sp>
      <p:sp>
        <p:nvSpPr>
          <p:cNvPr id="11" name="文本框 10"/>
          <p:cNvSpPr txBox="1"/>
          <p:nvPr/>
        </p:nvSpPr>
        <p:spPr>
          <a:xfrm>
            <a:off x="481792" y="1528763"/>
            <a:ext cx="11228416" cy="498085"/>
          </a:xfrm>
          <a:prstGeom prst="rect">
            <a:avLst/>
          </a:prstGeom>
          <a:noFill/>
        </p:spPr>
        <p:txBody>
          <a:bodyPr wrap="square">
            <a:spAutoFit/>
          </a:bodyPr>
          <a:lstStyle/>
          <a:p>
            <a:pPr marL="0" lvl="1" eaLnBrk="1" hangingPunct="1">
              <a:lnSpc>
                <a:spcPct val="150000"/>
              </a:lnSpc>
            </a:pPr>
            <a:r>
              <a:rPr lang="zh-CN" altLang="zh-CN" sz="2000" dirty="0">
                <a:solidFill>
                  <a:srgbClr val="C00000"/>
                </a:solidFill>
                <a:ea typeface="楷体_GB2312" charset="-122"/>
              </a:rPr>
              <a:t>双代号网络图（</a:t>
            </a:r>
            <a:r>
              <a:rPr lang="en-US" altLang="zh-CN" sz="2000" dirty="0">
                <a:solidFill>
                  <a:srgbClr val="C00000"/>
                </a:solidFill>
                <a:latin typeface="+mn-ea"/>
                <a:ea typeface="+mn-ea"/>
              </a:rPr>
              <a:t>Active On the Arrow</a:t>
            </a:r>
            <a:r>
              <a:rPr lang="zh-CN" altLang="zh-CN" sz="2000" dirty="0">
                <a:solidFill>
                  <a:srgbClr val="C00000"/>
                </a:solidFill>
                <a:latin typeface="+mn-ea"/>
                <a:ea typeface="+mn-ea"/>
              </a:rPr>
              <a:t>，</a:t>
            </a:r>
            <a:r>
              <a:rPr lang="en-US" altLang="zh-CN" sz="2000" dirty="0">
                <a:solidFill>
                  <a:srgbClr val="C00000"/>
                </a:solidFill>
                <a:latin typeface="+mn-ea"/>
                <a:ea typeface="+mn-ea"/>
              </a:rPr>
              <a:t>AOA</a:t>
            </a:r>
            <a:r>
              <a:rPr lang="zh-CN" altLang="zh-CN" sz="2000" dirty="0">
                <a:solidFill>
                  <a:srgbClr val="C00000"/>
                </a:solidFill>
                <a:ea typeface="楷体_GB2312" charset="-122"/>
              </a:rPr>
              <a:t>）</a:t>
            </a:r>
            <a:r>
              <a:rPr lang="zh-CN" altLang="zh-CN" sz="2000" dirty="0">
                <a:ea typeface="楷体_GB2312" charset="-122"/>
              </a:rPr>
              <a:t>中的工作由带有两个节点的箭线来表示</a:t>
            </a:r>
            <a:endParaRPr lang="en-US" altLang="zh-CN" sz="2000" dirty="0">
              <a:ea typeface="楷体_GB2312" charset="-122"/>
            </a:endParaRPr>
          </a:p>
        </p:txBody>
      </p:sp>
      <p:pic>
        <p:nvPicPr>
          <p:cNvPr id="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43848" y="4757091"/>
            <a:ext cx="5876918" cy="214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792" y="2271716"/>
            <a:ext cx="7199168" cy="1987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481792" y="5552625"/>
            <a:ext cx="5124311" cy="959750"/>
          </a:xfrm>
          <a:prstGeom prst="rect">
            <a:avLst/>
          </a:prstGeom>
          <a:noFill/>
        </p:spPr>
        <p:txBody>
          <a:bodyPr wrap="square">
            <a:spAutoFit/>
          </a:bodyPr>
          <a:lstStyle/>
          <a:p>
            <a:pPr marL="0" lvl="1" eaLnBrk="1" hangingPunct="1">
              <a:lnSpc>
                <a:spcPct val="150000"/>
              </a:lnSpc>
            </a:pPr>
            <a:r>
              <a:rPr lang="zh-CN" altLang="zh-CN" sz="2000" dirty="0">
                <a:solidFill>
                  <a:srgbClr val="C00000"/>
                </a:solidFill>
                <a:ea typeface="楷体_GB2312" charset="-122"/>
              </a:rPr>
              <a:t>单代号网络图</a:t>
            </a:r>
            <a:r>
              <a:rPr lang="zh-CN" altLang="zh-CN" sz="2000" dirty="0">
                <a:solidFill>
                  <a:srgbClr val="C00000"/>
                </a:solidFill>
                <a:latin typeface="+mn-ea"/>
                <a:ea typeface="+mn-ea"/>
              </a:rPr>
              <a:t>（</a:t>
            </a:r>
            <a:r>
              <a:rPr lang="en-US" altLang="zh-CN" sz="2000" dirty="0">
                <a:solidFill>
                  <a:srgbClr val="C00000"/>
                </a:solidFill>
                <a:latin typeface="+mn-ea"/>
                <a:ea typeface="+mn-ea"/>
              </a:rPr>
              <a:t>Activity On Node</a:t>
            </a:r>
            <a:r>
              <a:rPr lang="zh-CN" altLang="zh-CN" sz="2000" dirty="0">
                <a:solidFill>
                  <a:srgbClr val="C00000"/>
                </a:solidFill>
                <a:latin typeface="+mn-ea"/>
                <a:ea typeface="+mn-ea"/>
              </a:rPr>
              <a:t>，</a:t>
            </a:r>
            <a:r>
              <a:rPr lang="en-US" altLang="zh-CN" sz="2000" dirty="0">
                <a:solidFill>
                  <a:srgbClr val="C00000"/>
                </a:solidFill>
                <a:latin typeface="+mn-ea"/>
                <a:ea typeface="+mn-ea"/>
              </a:rPr>
              <a:t>AON</a:t>
            </a:r>
            <a:r>
              <a:rPr lang="zh-CN" altLang="zh-CN" sz="2000" dirty="0">
                <a:solidFill>
                  <a:srgbClr val="C00000"/>
                </a:solidFill>
                <a:latin typeface="+mn-ea"/>
                <a:ea typeface="+mn-ea"/>
              </a:rPr>
              <a:t>）</a:t>
            </a:r>
            <a:r>
              <a:rPr lang="zh-CN" altLang="zh-CN" sz="2000" dirty="0">
                <a:ea typeface="楷体_GB2312" charset="-122"/>
              </a:rPr>
              <a:t>中的工作用节点表示</a:t>
            </a:r>
            <a:endParaRPr lang="zh-CN" altLang="en-US" sz="2000" dirty="0">
              <a:ea typeface="楷体_GB2312"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2"/>
          <p:cNvSpPr>
            <a:spLocks noGrp="1"/>
          </p:cNvSpPr>
          <p:nvPr>
            <p:ph idx="1"/>
          </p:nvPr>
        </p:nvSpPr>
        <p:spPr>
          <a:xfrm>
            <a:off x="323273" y="-125762"/>
            <a:ext cx="11443854" cy="4171289"/>
          </a:xfrm>
        </p:spPr>
        <p:txBody>
          <a:bodyPr/>
          <a:lstStyle/>
          <a:p>
            <a:pPr eaLnBrk="1" hangingPunct="1">
              <a:lnSpc>
                <a:spcPct val="150000"/>
              </a:lnSpc>
            </a:pPr>
            <a:r>
              <a:rPr lang="zh-CN" altLang="zh-CN" b="1" dirty="0">
                <a:effectLst/>
                <a:latin typeface="+mn-ea"/>
              </a:rPr>
              <a:t>网络图法</a:t>
            </a:r>
            <a:endParaRPr lang="zh-CN" altLang="zh-CN" b="1" dirty="0">
              <a:effectLst/>
              <a:latin typeface="+mn-ea"/>
            </a:endParaRPr>
          </a:p>
          <a:p>
            <a:pPr lvl="1" eaLnBrk="1" hangingPunct="1">
              <a:lnSpc>
                <a:spcPct val="150000"/>
              </a:lnSpc>
            </a:pPr>
            <a:r>
              <a:rPr lang="zh-CN" altLang="zh-CN" dirty="0">
                <a:latin typeface="+mn-ea"/>
              </a:rPr>
              <a:t>网络图是以箭线和节点来表示各项工作及流程的有向、有序的网状图形。网络图按其表示方法的不同，又分为</a:t>
            </a:r>
            <a:r>
              <a:rPr lang="zh-CN" altLang="zh-CN" b="1" dirty="0">
                <a:latin typeface="+mn-ea"/>
              </a:rPr>
              <a:t>双代号（</a:t>
            </a:r>
            <a:r>
              <a:rPr lang="en-US" altLang="zh-CN" b="1" dirty="0">
                <a:latin typeface="+mn-ea"/>
              </a:rPr>
              <a:t>Active On the Arrow</a:t>
            </a:r>
            <a:r>
              <a:rPr lang="zh-CN" altLang="zh-CN" b="1" dirty="0">
                <a:latin typeface="+mn-ea"/>
              </a:rPr>
              <a:t>，</a:t>
            </a:r>
            <a:r>
              <a:rPr lang="en-US" altLang="zh-CN" b="1" dirty="0">
                <a:latin typeface="+mn-ea"/>
              </a:rPr>
              <a:t>AOA</a:t>
            </a:r>
            <a:r>
              <a:rPr lang="zh-CN" altLang="zh-CN" b="1" dirty="0">
                <a:latin typeface="+mn-ea"/>
              </a:rPr>
              <a:t>）网络图</a:t>
            </a:r>
            <a:r>
              <a:rPr lang="zh-CN" altLang="zh-CN" dirty="0">
                <a:latin typeface="+mn-ea"/>
              </a:rPr>
              <a:t>和</a:t>
            </a:r>
            <a:r>
              <a:rPr lang="zh-CN" altLang="zh-CN" b="1" dirty="0">
                <a:latin typeface="+mn-ea"/>
              </a:rPr>
              <a:t>单代号（</a:t>
            </a:r>
            <a:r>
              <a:rPr lang="en-US" altLang="zh-CN" b="1" dirty="0">
                <a:latin typeface="+mn-ea"/>
              </a:rPr>
              <a:t>Activity On Node</a:t>
            </a:r>
            <a:r>
              <a:rPr lang="zh-CN" altLang="zh-CN" b="1" dirty="0">
                <a:latin typeface="+mn-ea"/>
              </a:rPr>
              <a:t>，</a:t>
            </a:r>
            <a:r>
              <a:rPr lang="en-US" altLang="zh-CN" b="1" dirty="0">
                <a:latin typeface="+mn-ea"/>
              </a:rPr>
              <a:t>AON</a:t>
            </a:r>
            <a:r>
              <a:rPr lang="zh-CN" altLang="zh-CN" b="1" dirty="0">
                <a:latin typeface="+mn-ea"/>
              </a:rPr>
              <a:t>）网络图</a:t>
            </a:r>
            <a:r>
              <a:rPr lang="zh-CN" altLang="zh-CN" dirty="0">
                <a:latin typeface="+mn-ea"/>
              </a:rPr>
              <a:t>（又称</a:t>
            </a:r>
            <a:r>
              <a:rPr lang="zh-CN" altLang="zh-CN" b="1" dirty="0">
                <a:latin typeface="+mn-ea"/>
              </a:rPr>
              <a:t>前导图法（</a:t>
            </a:r>
            <a:r>
              <a:rPr lang="en-US" altLang="zh-CN" b="1" dirty="0">
                <a:latin typeface="+mn-ea"/>
              </a:rPr>
              <a:t>Precedence Diagramming Method</a:t>
            </a:r>
            <a:r>
              <a:rPr lang="zh-CN" altLang="zh-CN" b="1" dirty="0">
                <a:latin typeface="+mn-ea"/>
              </a:rPr>
              <a:t>，</a:t>
            </a:r>
            <a:r>
              <a:rPr lang="en-US" altLang="zh-CN" b="1" dirty="0">
                <a:latin typeface="+mn-ea"/>
              </a:rPr>
              <a:t>PDM</a:t>
            </a:r>
            <a:r>
              <a:rPr lang="zh-CN" altLang="zh-CN" b="1" dirty="0">
                <a:latin typeface="+mn-ea"/>
              </a:rPr>
              <a:t>））</a:t>
            </a:r>
            <a:r>
              <a:rPr lang="zh-CN" altLang="zh-CN" dirty="0">
                <a:latin typeface="+mn-ea"/>
              </a:rPr>
              <a:t>。</a:t>
            </a:r>
            <a:endParaRPr lang="zh-CN" altLang="en-US" dirty="0">
              <a:latin typeface="+mn-ea"/>
            </a:endParaRPr>
          </a:p>
          <a:p>
            <a:pPr lvl="1" eaLnBrk="1" hangingPunct="1">
              <a:lnSpc>
                <a:spcPct val="150000"/>
              </a:lnSpc>
            </a:pPr>
            <a:r>
              <a:rPr lang="zh-CN" altLang="zh-CN" dirty="0">
                <a:latin typeface="+mn-ea"/>
              </a:rPr>
              <a:t>双代号网络图中的工作由带有两个节点的箭线来表示，单代号网络图中的工作用节点表示。</a:t>
            </a:r>
            <a:endParaRPr lang="zh-CN" altLang="en-US" dirty="0">
              <a:latin typeface="+mn-ea"/>
            </a:endParaRPr>
          </a:p>
        </p:txBody>
      </p:sp>
      <p:sp>
        <p:nvSpPr>
          <p:cNvPr id="35844" name="灯片编号占位符 3"/>
          <p:cNvSpPr>
            <a:spLocks noGrp="1"/>
          </p:cNvSpPr>
          <p:nvPr>
            <p:ph type="sldNum" sz="quarter" idx="4294967295"/>
          </p:nvPr>
        </p:nvSpPr>
        <p:spPr>
          <a:noFill/>
        </p:spPr>
        <p:txBody>
          <a:bodyPr/>
          <a:lstStyle>
            <a:lvl1pPr>
              <a:spcBef>
                <a:spcPct val="20000"/>
              </a:spcBef>
              <a:buClr>
                <a:srgbClr val="5F5F5F"/>
              </a:buClr>
              <a:buSzPct val="75000"/>
              <a:buFont typeface="Wingdings" panose="05000000000000000000" pitchFamily="2" charset="2"/>
              <a:buChar char="l"/>
              <a:defRPr sz="3530">
                <a:solidFill>
                  <a:schemeClr val="tx1"/>
                </a:solidFill>
                <a:latin typeface="Times New Roman" panose="02020603050405020304" pitchFamily="18" charset="0"/>
                <a:ea typeface="宋体" panose="02010600030101010101" pitchFamily="2" charset="-122"/>
              </a:defRPr>
            </a:lvl1pPr>
            <a:lvl2pPr marL="819150" indent="-314960">
              <a:spcBef>
                <a:spcPct val="20000"/>
              </a:spcBef>
              <a:buClr>
                <a:srgbClr val="292929"/>
              </a:buClr>
              <a:buSzPct val="55000"/>
              <a:buFont typeface="Wingdings" panose="05000000000000000000" pitchFamily="2" charset="2"/>
              <a:buChar char="¢"/>
              <a:defRPr sz="2645">
                <a:solidFill>
                  <a:srgbClr val="292929"/>
                </a:solidFill>
                <a:latin typeface="Arial" panose="020B0604020202020204" pitchFamily="34" charset="0"/>
                <a:ea typeface="楷体_GB2312" charset="-122"/>
              </a:defRPr>
            </a:lvl2pPr>
            <a:lvl3pPr marL="1260475" indent="-252095">
              <a:spcBef>
                <a:spcPct val="20000"/>
              </a:spcBef>
              <a:buClr>
                <a:schemeClr val="accent2"/>
              </a:buClr>
              <a:buSzPct val="65000"/>
              <a:buFont typeface="Wingdings" panose="05000000000000000000" pitchFamily="2" charset="2"/>
              <a:buChar char="p"/>
              <a:defRPr sz="2205">
                <a:solidFill>
                  <a:schemeClr val="tx1"/>
                </a:solidFill>
                <a:latin typeface="Times New Roman" panose="02020603050405020304" pitchFamily="18" charset="0"/>
                <a:ea typeface="宋体" panose="02010600030101010101" pitchFamily="2" charset="-122"/>
              </a:defRPr>
            </a:lvl3pPr>
            <a:lvl4pPr marL="1764030" indent="-252095">
              <a:spcBef>
                <a:spcPct val="20000"/>
              </a:spcBef>
              <a:buClr>
                <a:schemeClr val="folHlink"/>
              </a:buClr>
              <a:buSzPct val="70000"/>
              <a:buFont typeface="Wingdings" panose="05000000000000000000" pitchFamily="2" charset="2"/>
              <a:buChar char="ü"/>
              <a:defRPr>
                <a:solidFill>
                  <a:schemeClr val="tx1"/>
                </a:solidFill>
                <a:latin typeface="Perpetua" panose="02020502060401020303" pitchFamily="18" charset="0"/>
                <a:ea typeface="宋体" panose="02010600030101010101" pitchFamily="2" charset="-122"/>
              </a:defRPr>
            </a:lvl4pPr>
            <a:lvl5pPr marL="2268220" indent="-252095">
              <a:spcBef>
                <a:spcPct val="20000"/>
              </a:spcBef>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5pPr>
            <a:lvl6pPr marL="277241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6pPr>
            <a:lvl7pPr marL="327660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7pPr>
            <a:lvl8pPr marL="378079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8pPr>
            <a:lvl9pPr marL="4284345"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9pPr>
          </a:lstStyle>
          <a:p>
            <a:pPr>
              <a:spcBef>
                <a:spcPct val="0"/>
              </a:spcBef>
              <a:buClrTx/>
              <a:buSzTx/>
              <a:buFontTx/>
              <a:buNone/>
            </a:pPr>
            <a:fld id="{D61CD00D-3759-4B35-8E10-18FE3D7A851A}" type="slidenum">
              <a:rPr lang="en-US" altLang="zh-CN" sz="1545">
                <a:solidFill>
                  <a:schemeClr val="bg1"/>
                </a:solidFill>
                <a:latin typeface="Arial Black" panose="020B0A04020102020204" pitchFamily="34" charset="0"/>
              </a:rPr>
            </a:fld>
            <a:endParaRPr lang="en-US" altLang="zh-CN" sz="1545">
              <a:solidFill>
                <a:schemeClr val="bg1"/>
              </a:solidFill>
              <a:latin typeface="Arial Black" panose="020B0A04020102020204" pitchFamily="34" charset="0"/>
            </a:endParaRPr>
          </a:p>
        </p:txBody>
      </p:sp>
      <p:pic>
        <p:nvPicPr>
          <p:cNvPr id="3584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2604" y="5080001"/>
            <a:ext cx="5412066" cy="197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7973" y="5080001"/>
            <a:ext cx="6061423" cy="167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239523" y="6577209"/>
            <a:ext cx="6007003" cy="959160"/>
          </a:xfrm>
        </p:spPr>
        <p:txBody>
          <a:bodyPr/>
          <a:lstStyle/>
          <a:p>
            <a:pPr eaLnBrk="1" hangingPunct="1"/>
            <a:r>
              <a:rPr lang="zh-CN" altLang="en-US" sz="2645" dirty="0">
                <a:latin typeface="华文楷体" panose="02010600040101010101" pitchFamily="2" charset="-122"/>
                <a:ea typeface="华文楷体" panose="02010600040101010101" pitchFamily="2" charset="-122"/>
              </a:rPr>
              <a:t>活动之间的逻辑关系</a:t>
            </a:r>
            <a:endParaRPr lang="zh-CN" altLang="en-US" sz="2645" dirty="0">
              <a:latin typeface="华文楷体" panose="02010600040101010101" pitchFamily="2" charset="-122"/>
              <a:ea typeface="华文楷体" panose="02010600040101010101" pitchFamily="2" charset="-122"/>
            </a:endParaRPr>
          </a:p>
        </p:txBody>
      </p:sp>
      <p:pic>
        <p:nvPicPr>
          <p:cNvPr id="12" name="Picture 4"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5228" y="899322"/>
            <a:ext cx="9073515" cy="5208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2"/>
          <p:cNvSpPr txBox="1">
            <a:spLocks noChangeArrowheads="1"/>
          </p:cNvSpPr>
          <p:nvPr/>
        </p:nvSpPr>
        <p:spPr bwMode="auto">
          <a:xfrm>
            <a:off x="5270008" y="24894"/>
            <a:ext cx="1651983" cy="415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0965" tIns="60482" rIns="120965" bIns="60482" numCol="1" anchor="ctr" anchorCtr="0" compatLnSpc="1"/>
          <a:lstStyle>
            <a:lvl1pPr algn="ctr"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cs typeface="+mj-cs"/>
              </a:defRPr>
            </a:lvl1pPr>
            <a:lvl2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2pPr>
            <a:lvl3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3pPr>
            <a:lvl4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4pPr>
            <a:lvl5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5pPr>
            <a:lvl6pPr marL="457200" algn="l" defTabSz="1097280" rtl="0" fontAlgn="base">
              <a:spcBef>
                <a:spcPct val="0"/>
              </a:spcBef>
              <a:spcAft>
                <a:spcPct val="0"/>
              </a:spcAft>
              <a:defRPr sz="3600" b="1">
                <a:solidFill>
                  <a:srgbClr val="0E207F"/>
                </a:solidFill>
                <a:latin typeface="Tahoma" panose="020B0604030504040204" pitchFamily="34" charset="0"/>
              </a:defRPr>
            </a:lvl6pPr>
            <a:lvl7pPr marL="914400" algn="l" defTabSz="1097280" rtl="0" fontAlgn="base">
              <a:spcBef>
                <a:spcPct val="0"/>
              </a:spcBef>
              <a:spcAft>
                <a:spcPct val="0"/>
              </a:spcAft>
              <a:defRPr sz="3600" b="1">
                <a:solidFill>
                  <a:srgbClr val="0E207F"/>
                </a:solidFill>
                <a:latin typeface="Tahoma" panose="020B0604030504040204" pitchFamily="34" charset="0"/>
              </a:defRPr>
            </a:lvl7pPr>
            <a:lvl8pPr marL="1371600" algn="l" defTabSz="1097280" rtl="0" fontAlgn="base">
              <a:spcBef>
                <a:spcPct val="0"/>
              </a:spcBef>
              <a:spcAft>
                <a:spcPct val="0"/>
              </a:spcAft>
              <a:defRPr sz="3600" b="1">
                <a:solidFill>
                  <a:srgbClr val="0E207F"/>
                </a:solidFill>
                <a:latin typeface="Tahoma" panose="020B0604030504040204" pitchFamily="34" charset="0"/>
              </a:defRPr>
            </a:lvl8pPr>
            <a:lvl9pPr marL="1828800" algn="l" defTabSz="1097280" rtl="0" fontAlgn="base">
              <a:spcBef>
                <a:spcPct val="0"/>
              </a:spcBef>
              <a:spcAft>
                <a:spcPct val="0"/>
              </a:spcAft>
              <a:defRPr sz="3600" b="1">
                <a:solidFill>
                  <a:srgbClr val="0E207F"/>
                </a:solidFill>
                <a:latin typeface="Tahoma" panose="020B0604030504040204" pitchFamily="34" charset="0"/>
              </a:defRPr>
            </a:lvl9pPr>
          </a:lstStyle>
          <a:p>
            <a:pPr eaLnBrk="1" hangingPunct="1">
              <a:lnSpc>
                <a:spcPct val="100000"/>
              </a:lnSpc>
              <a:buNone/>
            </a:pPr>
            <a:r>
              <a:rPr lang="zh-CN" altLang="en-US" kern="0" dirty="0"/>
              <a:t>网络图</a:t>
            </a:r>
            <a:endParaRPr lang="zh-CN" altLang="en-US"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灯片编号占位符 3"/>
          <p:cNvSpPr>
            <a:spLocks noGrp="1"/>
          </p:cNvSpPr>
          <p:nvPr>
            <p:ph type="sldNum" sz="quarter" idx="4294967295"/>
          </p:nvPr>
        </p:nvSpPr>
        <p:spPr>
          <a:noFill/>
        </p:spPr>
        <p:txBody>
          <a:bodyPr/>
          <a:lstStyle>
            <a:lvl1pPr>
              <a:spcBef>
                <a:spcPct val="20000"/>
              </a:spcBef>
              <a:buClr>
                <a:srgbClr val="5F5F5F"/>
              </a:buClr>
              <a:buSzPct val="75000"/>
              <a:buFont typeface="Wingdings" panose="05000000000000000000" pitchFamily="2" charset="2"/>
              <a:buChar char="l"/>
              <a:defRPr sz="3530">
                <a:solidFill>
                  <a:schemeClr val="tx1"/>
                </a:solidFill>
                <a:latin typeface="Times New Roman" panose="02020603050405020304" pitchFamily="18" charset="0"/>
                <a:ea typeface="宋体" panose="02010600030101010101" pitchFamily="2" charset="-122"/>
              </a:defRPr>
            </a:lvl1pPr>
            <a:lvl2pPr marL="819150" indent="-314960">
              <a:spcBef>
                <a:spcPct val="20000"/>
              </a:spcBef>
              <a:buClr>
                <a:srgbClr val="292929"/>
              </a:buClr>
              <a:buSzPct val="55000"/>
              <a:buFont typeface="Wingdings" panose="05000000000000000000" pitchFamily="2" charset="2"/>
              <a:buChar char="¢"/>
              <a:defRPr sz="2645">
                <a:solidFill>
                  <a:srgbClr val="292929"/>
                </a:solidFill>
                <a:latin typeface="Arial" panose="020B0604020202020204" pitchFamily="34" charset="0"/>
                <a:ea typeface="楷体_GB2312" charset="-122"/>
              </a:defRPr>
            </a:lvl2pPr>
            <a:lvl3pPr marL="1260475" indent="-252095">
              <a:spcBef>
                <a:spcPct val="20000"/>
              </a:spcBef>
              <a:buClr>
                <a:schemeClr val="accent2"/>
              </a:buClr>
              <a:buSzPct val="65000"/>
              <a:buFont typeface="Wingdings" panose="05000000000000000000" pitchFamily="2" charset="2"/>
              <a:buChar char="p"/>
              <a:defRPr sz="2205">
                <a:solidFill>
                  <a:schemeClr val="tx1"/>
                </a:solidFill>
                <a:latin typeface="Times New Roman" panose="02020603050405020304" pitchFamily="18" charset="0"/>
                <a:ea typeface="宋体" panose="02010600030101010101" pitchFamily="2" charset="-122"/>
              </a:defRPr>
            </a:lvl3pPr>
            <a:lvl4pPr marL="1764030" indent="-252095">
              <a:spcBef>
                <a:spcPct val="20000"/>
              </a:spcBef>
              <a:buClr>
                <a:schemeClr val="folHlink"/>
              </a:buClr>
              <a:buSzPct val="70000"/>
              <a:buFont typeface="Wingdings" panose="05000000000000000000" pitchFamily="2" charset="2"/>
              <a:buChar char="ü"/>
              <a:defRPr>
                <a:solidFill>
                  <a:schemeClr val="tx1"/>
                </a:solidFill>
                <a:latin typeface="Perpetua" panose="02020502060401020303" pitchFamily="18" charset="0"/>
                <a:ea typeface="宋体" panose="02010600030101010101" pitchFamily="2" charset="-122"/>
              </a:defRPr>
            </a:lvl4pPr>
            <a:lvl5pPr marL="2268220" indent="-252095">
              <a:spcBef>
                <a:spcPct val="20000"/>
              </a:spcBef>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5pPr>
            <a:lvl6pPr marL="277241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6pPr>
            <a:lvl7pPr marL="327660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7pPr>
            <a:lvl8pPr marL="378079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8pPr>
            <a:lvl9pPr marL="4284345"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9pPr>
          </a:lstStyle>
          <a:p>
            <a:pPr>
              <a:spcBef>
                <a:spcPct val="0"/>
              </a:spcBef>
              <a:buClrTx/>
              <a:buSzTx/>
              <a:buFontTx/>
              <a:buNone/>
            </a:pPr>
            <a:fld id="{D794E200-C427-49F5-AED2-4CA256B14A86}" type="slidenum">
              <a:rPr lang="en-US" altLang="zh-CN" sz="1545">
                <a:solidFill>
                  <a:schemeClr val="bg1"/>
                </a:solidFill>
                <a:latin typeface="Arial Black" panose="020B0A04020102020204" pitchFamily="34" charset="0"/>
              </a:rPr>
            </a:fld>
            <a:endParaRPr lang="en-US" altLang="zh-CN" sz="1545">
              <a:solidFill>
                <a:schemeClr val="bg1"/>
              </a:solidFill>
              <a:latin typeface="Arial Black" panose="020B0A04020102020204" pitchFamily="34" charset="0"/>
            </a:endParaRPr>
          </a:p>
        </p:txBody>
      </p:sp>
      <p:sp>
        <p:nvSpPr>
          <p:cNvPr id="5" name="Rectangle 2"/>
          <p:cNvSpPr>
            <a:spLocks noGrp="1" noChangeArrowheads="1"/>
          </p:cNvSpPr>
          <p:nvPr>
            <p:ph type="title"/>
          </p:nvPr>
        </p:nvSpPr>
        <p:spPr>
          <a:xfrm>
            <a:off x="406399" y="74612"/>
            <a:ext cx="1829876" cy="599969"/>
          </a:xfrm>
        </p:spPr>
        <p:txBody>
          <a:bodyPr/>
          <a:lstStyle/>
          <a:p>
            <a:pPr eaLnBrk="1" hangingPunct="1"/>
            <a:r>
              <a:rPr lang="zh-CN" altLang="en-US" dirty="0"/>
              <a:t>网络图</a:t>
            </a:r>
            <a:endParaRPr lang="zh-CN" altLang="en-US" dirty="0"/>
          </a:p>
        </p:txBody>
      </p:sp>
      <p:sp>
        <p:nvSpPr>
          <p:cNvPr id="2" name="内容占位符 1"/>
          <p:cNvSpPr>
            <a:spLocks noGrp="1"/>
          </p:cNvSpPr>
          <p:nvPr>
            <p:ph idx="1"/>
          </p:nvPr>
        </p:nvSpPr>
        <p:spPr>
          <a:xfrm>
            <a:off x="406399" y="1082930"/>
            <a:ext cx="11528425" cy="3489070"/>
          </a:xfrm>
        </p:spPr>
        <p:txBody>
          <a:bodyPr/>
          <a:lstStyle/>
          <a:p>
            <a:pPr>
              <a:lnSpc>
                <a:spcPct val="150000"/>
              </a:lnSpc>
            </a:pPr>
            <a:r>
              <a:rPr lang="zh-CN" altLang="en-US" dirty="0"/>
              <a:t>结束</a:t>
            </a:r>
            <a:r>
              <a:rPr lang="en-US" altLang="zh-CN" dirty="0"/>
              <a:t>-</a:t>
            </a:r>
            <a:r>
              <a:rPr lang="zh-CN" altLang="en-US" dirty="0"/>
              <a:t>开始的关系（</a:t>
            </a:r>
            <a:r>
              <a:rPr lang="en-US" altLang="zh-CN" dirty="0"/>
              <a:t>FS</a:t>
            </a:r>
            <a:r>
              <a:rPr lang="zh-CN" altLang="en-US" dirty="0"/>
              <a:t>型）：某活动必须结束，然后另一活动才能开始；</a:t>
            </a:r>
            <a:endParaRPr lang="en-US" altLang="zh-CN" dirty="0"/>
          </a:p>
          <a:p>
            <a:pPr>
              <a:lnSpc>
                <a:spcPct val="150000"/>
              </a:lnSpc>
            </a:pPr>
            <a:r>
              <a:rPr lang="zh-CN" altLang="en-US" dirty="0"/>
              <a:t>结束</a:t>
            </a:r>
            <a:r>
              <a:rPr lang="en-US" altLang="zh-CN" dirty="0"/>
              <a:t>-</a:t>
            </a:r>
            <a:r>
              <a:rPr lang="zh-CN" altLang="en-US" dirty="0"/>
              <a:t>结束的关系（</a:t>
            </a:r>
            <a:r>
              <a:rPr lang="en-US" altLang="zh-CN" dirty="0"/>
              <a:t>FF</a:t>
            </a:r>
            <a:r>
              <a:rPr lang="zh-CN" altLang="en-US" dirty="0"/>
              <a:t>型）：某活动结束前，另一活动必须结束；</a:t>
            </a:r>
            <a:endParaRPr lang="en-US" altLang="zh-CN" dirty="0"/>
          </a:p>
          <a:p>
            <a:pPr>
              <a:lnSpc>
                <a:spcPct val="150000"/>
              </a:lnSpc>
            </a:pPr>
            <a:r>
              <a:rPr lang="zh-CN" altLang="en-US" dirty="0"/>
              <a:t>开始</a:t>
            </a:r>
            <a:r>
              <a:rPr lang="en-US" altLang="zh-CN" dirty="0"/>
              <a:t>-</a:t>
            </a:r>
            <a:r>
              <a:rPr lang="zh-CN" altLang="en-US" dirty="0"/>
              <a:t>开始的关系（</a:t>
            </a:r>
            <a:r>
              <a:rPr lang="en-US" altLang="zh-CN" dirty="0"/>
              <a:t>SS</a:t>
            </a:r>
            <a:r>
              <a:rPr lang="zh-CN" altLang="en-US" dirty="0"/>
              <a:t>型）：某活动必须在另一活动开始前开始；</a:t>
            </a:r>
            <a:endParaRPr lang="en-US" altLang="zh-CN" dirty="0"/>
          </a:p>
          <a:p>
            <a:pPr>
              <a:lnSpc>
                <a:spcPct val="150000"/>
              </a:lnSpc>
            </a:pPr>
            <a:r>
              <a:rPr lang="zh-CN" altLang="en-US" dirty="0"/>
              <a:t>开始</a:t>
            </a:r>
            <a:r>
              <a:rPr lang="en-US" altLang="zh-CN" dirty="0"/>
              <a:t>-</a:t>
            </a:r>
            <a:r>
              <a:rPr lang="zh-CN" altLang="en-US" dirty="0"/>
              <a:t>开始的关系（</a:t>
            </a:r>
            <a:r>
              <a:rPr lang="en-US" altLang="zh-CN" dirty="0"/>
              <a:t>SS</a:t>
            </a:r>
            <a:r>
              <a:rPr lang="zh-CN" altLang="en-US" dirty="0"/>
              <a:t>型）：某活动必须在另一活动开始前开始。</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9474" name="Rectangle 2"/>
          <p:cNvSpPr>
            <a:spLocks noGrp="1" noChangeArrowheads="1"/>
          </p:cNvSpPr>
          <p:nvPr>
            <p:ph type="body" idx="1"/>
          </p:nvPr>
        </p:nvSpPr>
        <p:spPr>
          <a:xfrm>
            <a:off x="2355626" y="2378649"/>
            <a:ext cx="7944576" cy="3355310"/>
          </a:xfrm>
        </p:spPr>
        <p:txBody>
          <a:bodyPr/>
          <a:lstStyle/>
          <a:p>
            <a:pPr marL="671830" indent="-671830"/>
            <a:r>
              <a:rPr lang="zh-CN" altLang="en-US" sz="3085" b="1"/>
              <a:t>工序</a:t>
            </a:r>
            <a:endParaRPr lang="zh-CN" altLang="en-US" sz="3085" b="1"/>
          </a:p>
          <a:p>
            <a:pPr marL="671830" indent="-671830"/>
            <a:endParaRPr lang="zh-CN" altLang="en-US" sz="3085" b="1"/>
          </a:p>
          <a:p>
            <a:pPr marL="671830" indent="-671830"/>
            <a:r>
              <a:rPr lang="zh-CN" altLang="en-US" sz="3085" b="1"/>
              <a:t>紧前工序</a:t>
            </a:r>
            <a:endParaRPr lang="zh-CN" altLang="en-US" sz="3085" b="1"/>
          </a:p>
          <a:p>
            <a:pPr marL="671830" indent="-671830"/>
            <a:endParaRPr lang="zh-CN" altLang="en-US" sz="3085" b="1"/>
          </a:p>
          <a:p>
            <a:pPr marL="671830" indent="-671830"/>
            <a:r>
              <a:rPr lang="zh-CN" altLang="en-US" sz="3085" b="1"/>
              <a:t>紧后工序</a:t>
            </a:r>
            <a:endParaRPr lang="zh-CN" altLang="en-US" sz="3085" b="1"/>
          </a:p>
        </p:txBody>
      </p:sp>
      <p:sp>
        <p:nvSpPr>
          <p:cNvPr id="489476" name="Rectangle 4"/>
          <p:cNvSpPr>
            <a:spLocks noChangeArrowheads="1"/>
          </p:cNvSpPr>
          <p:nvPr/>
        </p:nvSpPr>
        <p:spPr bwMode="auto">
          <a:xfrm>
            <a:off x="2355627" y="1356479"/>
            <a:ext cx="2084225" cy="63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zh-CN" altLang="en-US" sz="3530" b="1">
                <a:solidFill>
                  <a:srgbClr val="FF3300"/>
                </a:solidFill>
              </a:rPr>
              <a:t>基本概念</a:t>
            </a:r>
            <a:r>
              <a:rPr lang="en-US" altLang="zh-CN" sz="3530" b="1">
                <a:solidFill>
                  <a:srgbClr val="FF3300"/>
                </a:solidFill>
              </a:rPr>
              <a:t>:</a:t>
            </a:r>
            <a:endParaRPr lang="en-US" altLang="zh-CN" sz="3530" b="1">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9474">
                                            <p:txEl>
                                              <p:pRg st="0" end="0"/>
                                            </p:txEl>
                                          </p:spTgt>
                                        </p:tgtEl>
                                        <p:attrNameLst>
                                          <p:attrName>style.visibility</p:attrName>
                                        </p:attrNameLst>
                                      </p:cBhvr>
                                      <p:to>
                                        <p:strVal val="visible"/>
                                      </p:to>
                                    </p:set>
                                    <p:animEffect transition="in" filter="dissolve">
                                      <p:cBhvr>
                                        <p:cTn id="7" dur="500"/>
                                        <p:tgtEl>
                                          <p:spTgt spid="4894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9474">
                                            <p:txEl>
                                              <p:pRg st="2" end="2"/>
                                            </p:txEl>
                                          </p:spTgt>
                                        </p:tgtEl>
                                        <p:attrNameLst>
                                          <p:attrName>style.visibility</p:attrName>
                                        </p:attrNameLst>
                                      </p:cBhvr>
                                      <p:to>
                                        <p:strVal val="visible"/>
                                      </p:to>
                                    </p:set>
                                    <p:animEffect transition="in" filter="dissolve">
                                      <p:cBhvr>
                                        <p:cTn id="12" dur="500"/>
                                        <p:tgtEl>
                                          <p:spTgt spid="48947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89474">
                                            <p:txEl>
                                              <p:pRg st="4" end="4"/>
                                            </p:txEl>
                                          </p:spTgt>
                                        </p:tgtEl>
                                        <p:attrNameLst>
                                          <p:attrName>style.visibility</p:attrName>
                                        </p:attrNameLst>
                                      </p:cBhvr>
                                      <p:to>
                                        <p:strVal val="visible"/>
                                      </p:to>
                                    </p:set>
                                    <p:animEffect transition="in" filter="dissolve">
                                      <p:cBhvr>
                                        <p:cTn id="17" dur="500"/>
                                        <p:tgtEl>
                                          <p:spTgt spid="48947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74" grpId="0" autoUpdateAnimBg="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22" name="Rectangle 2"/>
          <p:cNvSpPr>
            <a:spLocks noGrp="1" noChangeArrowheads="1"/>
          </p:cNvSpPr>
          <p:nvPr>
            <p:ph type="body" idx="1"/>
          </p:nvPr>
        </p:nvSpPr>
        <p:spPr>
          <a:xfrm>
            <a:off x="1727271" y="1724912"/>
            <a:ext cx="7944576" cy="560094"/>
          </a:xfrm>
        </p:spPr>
        <p:txBody>
          <a:bodyPr/>
          <a:lstStyle/>
          <a:p>
            <a:pPr marL="671830" indent="-671830"/>
            <a:r>
              <a:rPr lang="zh-CN" altLang="en-US" sz="3085" b="1"/>
              <a:t>双代号有向图：</a:t>
            </a:r>
            <a:endParaRPr lang="zh-CN" altLang="en-US" sz="3085" b="1"/>
          </a:p>
        </p:txBody>
      </p:sp>
      <p:grpSp>
        <p:nvGrpSpPr>
          <p:cNvPr id="491523" name="Group 3"/>
          <p:cNvGrpSpPr/>
          <p:nvPr/>
        </p:nvGrpSpPr>
        <p:grpSpPr bwMode="auto">
          <a:xfrm>
            <a:off x="6988650" y="653731"/>
            <a:ext cx="3864645" cy="1039674"/>
            <a:chOff x="2064" y="1671"/>
            <a:chExt cx="2208" cy="594"/>
          </a:xfrm>
        </p:grpSpPr>
        <p:sp>
          <p:nvSpPr>
            <p:cNvPr id="491524" name="Oval 4"/>
            <p:cNvSpPr>
              <a:spLocks noChangeArrowheads="1"/>
            </p:cNvSpPr>
            <p:nvPr/>
          </p:nvSpPr>
          <p:spPr bwMode="auto">
            <a:xfrm>
              <a:off x="2064" y="168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25" name="Oval 5"/>
            <p:cNvSpPr>
              <a:spLocks noChangeArrowheads="1"/>
            </p:cNvSpPr>
            <p:nvPr/>
          </p:nvSpPr>
          <p:spPr bwMode="auto">
            <a:xfrm>
              <a:off x="3840" y="1728"/>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26" name="Rectangle 6"/>
            <p:cNvSpPr>
              <a:spLocks noChangeArrowheads="1"/>
            </p:cNvSpPr>
            <p:nvPr/>
          </p:nvSpPr>
          <p:spPr bwMode="auto">
            <a:xfrm>
              <a:off x="2152" y="1671"/>
              <a:ext cx="17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i</a:t>
              </a:r>
              <a:endParaRPr lang="en-US" altLang="zh-CN" sz="3530" b="1"/>
            </a:p>
          </p:txBody>
        </p:sp>
        <p:sp>
          <p:nvSpPr>
            <p:cNvPr id="491527" name="Rectangle 7"/>
            <p:cNvSpPr>
              <a:spLocks noChangeArrowheads="1"/>
            </p:cNvSpPr>
            <p:nvPr/>
          </p:nvSpPr>
          <p:spPr bwMode="auto">
            <a:xfrm>
              <a:off x="3926" y="1680"/>
              <a:ext cx="178"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dirty="0"/>
                <a:t>j</a:t>
              </a:r>
              <a:endParaRPr lang="en-US" altLang="zh-CN" sz="3530" b="1" dirty="0"/>
            </a:p>
          </p:txBody>
        </p:sp>
        <p:sp>
          <p:nvSpPr>
            <p:cNvPr id="491528" name="Line 8"/>
            <p:cNvSpPr>
              <a:spLocks noChangeShapeType="1"/>
            </p:cNvSpPr>
            <p:nvPr/>
          </p:nvSpPr>
          <p:spPr bwMode="auto">
            <a:xfrm>
              <a:off x="2496" y="1920"/>
              <a:ext cx="1296"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29" name="Rectangle 9"/>
            <p:cNvSpPr>
              <a:spLocks noChangeArrowheads="1"/>
            </p:cNvSpPr>
            <p:nvPr/>
          </p:nvSpPr>
          <p:spPr bwMode="auto">
            <a:xfrm>
              <a:off x="2865" y="1902"/>
              <a:ext cx="498"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dirty="0"/>
                <a:t>(</a:t>
              </a:r>
              <a:r>
                <a:rPr lang="en-US" altLang="zh-CN" sz="3530" i="1" dirty="0" err="1"/>
                <a:t>i</a:t>
              </a:r>
              <a:r>
                <a:rPr lang="en-US" altLang="zh-CN" sz="3530" i="1" dirty="0"/>
                <a:t>, j</a:t>
              </a:r>
              <a:r>
                <a:rPr lang="en-US" altLang="zh-CN" sz="3530" dirty="0"/>
                <a:t>)</a:t>
              </a:r>
              <a:endParaRPr lang="en-US" altLang="zh-CN" sz="3530" dirty="0"/>
            </a:p>
          </p:txBody>
        </p:sp>
      </p:grpSp>
      <p:grpSp>
        <p:nvGrpSpPr>
          <p:cNvPr id="491530" name="Group 10"/>
          <p:cNvGrpSpPr/>
          <p:nvPr/>
        </p:nvGrpSpPr>
        <p:grpSpPr bwMode="auto">
          <a:xfrm>
            <a:off x="2031823" y="4396736"/>
            <a:ext cx="6332557" cy="1816804"/>
            <a:chOff x="558" y="2512"/>
            <a:chExt cx="3618" cy="1038"/>
          </a:xfrm>
        </p:grpSpPr>
        <p:grpSp>
          <p:nvGrpSpPr>
            <p:cNvPr id="491531" name="Group 11"/>
            <p:cNvGrpSpPr/>
            <p:nvPr/>
          </p:nvGrpSpPr>
          <p:grpSpPr bwMode="auto">
            <a:xfrm>
              <a:off x="720" y="2784"/>
              <a:ext cx="3456" cy="766"/>
              <a:chOff x="720" y="2736"/>
              <a:chExt cx="3456" cy="766"/>
            </a:xfrm>
          </p:grpSpPr>
          <p:sp>
            <p:nvSpPr>
              <p:cNvPr id="491532" name="Rectangle 12"/>
              <p:cNvSpPr>
                <a:spLocks noChangeArrowheads="1"/>
              </p:cNvSpPr>
              <p:nvPr/>
            </p:nvSpPr>
            <p:spPr bwMode="auto">
              <a:xfrm>
                <a:off x="1344" y="3091"/>
                <a:ext cx="23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a</a:t>
                </a:r>
                <a:endParaRPr lang="en-US" altLang="zh-CN" sz="3530" b="1" i="1"/>
              </a:p>
            </p:txBody>
          </p:sp>
          <p:sp>
            <p:nvSpPr>
              <p:cNvPr id="491533" name="Rectangle 13"/>
              <p:cNvSpPr>
                <a:spLocks noChangeArrowheads="1"/>
              </p:cNvSpPr>
              <p:nvPr/>
            </p:nvSpPr>
            <p:spPr bwMode="auto">
              <a:xfrm>
                <a:off x="2304" y="3139"/>
                <a:ext cx="240"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b</a:t>
                </a:r>
                <a:endParaRPr lang="en-US" altLang="zh-CN" sz="3530" b="1" i="1"/>
              </a:p>
            </p:txBody>
          </p:sp>
          <p:sp>
            <p:nvSpPr>
              <p:cNvPr id="491534" name="Rectangle 14"/>
              <p:cNvSpPr>
                <a:spLocks noChangeArrowheads="1"/>
              </p:cNvSpPr>
              <p:nvPr/>
            </p:nvSpPr>
            <p:spPr bwMode="auto">
              <a:xfrm>
                <a:off x="3312" y="3091"/>
                <a:ext cx="258"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buFontTx/>
                  <a:buNone/>
                </a:pPr>
                <a:r>
                  <a:rPr lang="en-US" altLang="zh-CN" sz="3530" b="1" i="1"/>
                  <a:t>c</a:t>
                </a:r>
                <a:endParaRPr lang="en-US" altLang="zh-CN" sz="3530" b="1"/>
              </a:p>
            </p:txBody>
          </p:sp>
          <p:grpSp>
            <p:nvGrpSpPr>
              <p:cNvPr id="491535" name="Group 15"/>
              <p:cNvGrpSpPr/>
              <p:nvPr/>
            </p:nvGrpSpPr>
            <p:grpSpPr bwMode="auto">
              <a:xfrm>
                <a:off x="720" y="2736"/>
                <a:ext cx="3456" cy="641"/>
                <a:chOff x="672" y="2719"/>
                <a:chExt cx="3456" cy="641"/>
              </a:xfrm>
            </p:grpSpPr>
            <p:grpSp>
              <p:nvGrpSpPr>
                <p:cNvPr id="491536" name="Group 16"/>
                <p:cNvGrpSpPr/>
                <p:nvPr/>
              </p:nvGrpSpPr>
              <p:grpSpPr bwMode="auto">
                <a:xfrm>
                  <a:off x="672" y="2719"/>
                  <a:ext cx="3456" cy="641"/>
                  <a:chOff x="912" y="799"/>
                  <a:chExt cx="3456" cy="641"/>
                </a:xfrm>
              </p:grpSpPr>
              <p:sp>
                <p:nvSpPr>
                  <p:cNvPr id="491537" name="Oval 17"/>
                  <p:cNvSpPr>
                    <a:spLocks noChangeArrowheads="1"/>
                  </p:cNvSpPr>
                  <p:nvPr/>
                </p:nvSpPr>
                <p:spPr bwMode="auto">
                  <a:xfrm>
                    <a:off x="912" y="1008"/>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38" name="Oval 18"/>
                  <p:cNvSpPr>
                    <a:spLocks noChangeArrowheads="1"/>
                  </p:cNvSpPr>
                  <p:nvPr/>
                </p:nvSpPr>
                <p:spPr bwMode="auto">
                  <a:xfrm>
                    <a:off x="1968" y="1008"/>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39" name="Oval 19"/>
                  <p:cNvSpPr>
                    <a:spLocks noChangeArrowheads="1"/>
                  </p:cNvSpPr>
                  <p:nvPr/>
                </p:nvSpPr>
                <p:spPr bwMode="auto">
                  <a:xfrm>
                    <a:off x="2976" y="1008"/>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40" name="Line 20"/>
                  <p:cNvSpPr>
                    <a:spLocks noChangeShapeType="1"/>
                  </p:cNvSpPr>
                  <p:nvPr/>
                </p:nvSpPr>
                <p:spPr bwMode="auto">
                  <a:xfrm>
                    <a:off x="1296" y="1200"/>
                    <a:ext cx="672"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41" name="Line 21"/>
                  <p:cNvSpPr>
                    <a:spLocks noChangeShapeType="1"/>
                  </p:cNvSpPr>
                  <p:nvPr/>
                </p:nvSpPr>
                <p:spPr bwMode="auto">
                  <a:xfrm>
                    <a:off x="2352" y="1200"/>
                    <a:ext cx="624"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42" name="Oval 22"/>
                  <p:cNvSpPr>
                    <a:spLocks noChangeArrowheads="1"/>
                  </p:cNvSpPr>
                  <p:nvPr/>
                </p:nvSpPr>
                <p:spPr bwMode="auto">
                  <a:xfrm>
                    <a:off x="3984" y="1056"/>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43" name="Line 23"/>
                  <p:cNvSpPr>
                    <a:spLocks noChangeShapeType="1"/>
                  </p:cNvSpPr>
                  <p:nvPr/>
                </p:nvSpPr>
                <p:spPr bwMode="auto">
                  <a:xfrm>
                    <a:off x="3360" y="1200"/>
                    <a:ext cx="624"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44" name="Rectangle 24"/>
                  <p:cNvSpPr>
                    <a:spLocks noChangeArrowheads="1"/>
                  </p:cNvSpPr>
                  <p:nvPr/>
                </p:nvSpPr>
                <p:spPr bwMode="auto">
                  <a:xfrm>
                    <a:off x="2496" y="799"/>
                    <a:ext cx="10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endParaRPr lang="zh-CN" altLang="zh-CN" sz="3530" b="1"/>
                  </a:p>
                </p:txBody>
              </p:sp>
            </p:grpSp>
            <p:sp>
              <p:nvSpPr>
                <p:cNvPr id="491545" name="Rectangle 25"/>
                <p:cNvSpPr>
                  <a:spLocks noChangeArrowheads="1"/>
                </p:cNvSpPr>
                <p:nvPr/>
              </p:nvSpPr>
              <p:spPr bwMode="auto">
                <a:xfrm>
                  <a:off x="1746" y="2911"/>
                  <a:ext cx="20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2</a:t>
                  </a:r>
                  <a:endParaRPr lang="en-US" altLang="zh-CN" sz="2645" i="1"/>
                </a:p>
              </p:txBody>
            </p:sp>
            <p:sp>
              <p:nvSpPr>
                <p:cNvPr id="491546" name="Rectangle 26"/>
                <p:cNvSpPr>
                  <a:spLocks noChangeArrowheads="1"/>
                </p:cNvSpPr>
                <p:nvPr/>
              </p:nvSpPr>
              <p:spPr bwMode="auto">
                <a:xfrm>
                  <a:off x="738" y="2911"/>
                  <a:ext cx="18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dirty="0"/>
                    <a:t>1</a:t>
                  </a:r>
                  <a:endParaRPr lang="en-US" altLang="zh-CN" sz="2645" i="1" dirty="0"/>
                </a:p>
              </p:txBody>
            </p:sp>
            <p:sp>
              <p:nvSpPr>
                <p:cNvPr id="491547" name="Rectangle 27"/>
                <p:cNvSpPr>
                  <a:spLocks noChangeArrowheads="1"/>
                </p:cNvSpPr>
                <p:nvPr/>
              </p:nvSpPr>
              <p:spPr bwMode="auto">
                <a:xfrm>
                  <a:off x="2782" y="2911"/>
                  <a:ext cx="208"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3</a:t>
                  </a:r>
                  <a:endParaRPr lang="en-US" altLang="zh-CN" sz="2645" i="1"/>
                </a:p>
              </p:txBody>
            </p:sp>
            <p:sp>
              <p:nvSpPr>
                <p:cNvPr id="491548" name="Rectangle 28"/>
                <p:cNvSpPr>
                  <a:spLocks noChangeArrowheads="1"/>
                </p:cNvSpPr>
                <p:nvPr/>
              </p:nvSpPr>
              <p:spPr bwMode="auto">
                <a:xfrm>
                  <a:off x="3810" y="2911"/>
                  <a:ext cx="20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4</a:t>
                  </a:r>
                  <a:endParaRPr lang="en-US" altLang="zh-CN" sz="2645" i="1"/>
                </a:p>
              </p:txBody>
            </p:sp>
          </p:grpSp>
        </p:grpSp>
        <p:sp>
          <p:nvSpPr>
            <p:cNvPr id="491549" name="Rectangle 29"/>
            <p:cNvSpPr>
              <a:spLocks noChangeArrowheads="1"/>
            </p:cNvSpPr>
            <p:nvPr/>
          </p:nvSpPr>
          <p:spPr bwMode="auto">
            <a:xfrm>
              <a:off x="558" y="2512"/>
              <a:ext cx="422"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3085" i="1"/>
                <a:t>e.g.</a:t>
              </a:r>
              <a:endParaRPr lang="en-US" altLang="zh-CN" sz="3085" i="1"/>
            </a:p>
          </p:txBody>
        </p:sp>
      </p:grpSp>
      <p:grpSp>
        <p:nvGrpSpPr>
          <p:cNvPr id="491550" name="Group 30"/>
          <p:cNvGrpSpPr/>
          <p:nvPr/>
        </p:nvGrpSpPr>
        <p:grpSpPr bwMode="auto">
          <a:xfrm>
            <a:off x="2019571" y="2410154"/>
            <a:ext cx="4969079" cy="1591016"/>
            <a:chOff x="521" y="1680"/>
            <a:chExt cx="2839" cy="909"/>
          </a:xfrm>
        </p:grpSpPr>
        <p:grpSp>
          <p:nvGrpSpPr>
            <p:cNvPr id="491551" name="Group 31"/>
            <p:cNvGrpSpPr/>
            <p:nvPr/>
          </p:nvGrpSpPr>
          <p:grpSpPr bwMode="auto">
            <a:xfrm>
              <a:off x="1632" y="1680"/>
              <a:ext cx="1728" cy="432"/>
              <a:chOff x="624" y="2256"/>
              <a:chExt cx="1728" cy="432"/>
            </a:xfrm>
          </p:grpSpPr>
          <p:grpSp>
            <p:nvGrpSpPr>
              <p:cNvPr id="491552" name="Group 32"/>
              <p:cNvGrpSpPr/>
              <p:nvPr/>
            </p:nvGrpSpPr>
            <p:grpSpPr bwMode="auto">
              <a:xfrm>
                <a:off x="624" y="2273"/>
                <a:ext cx="336" cy="367"/>
                <a:chOff x="624" y="2273"/>
                <a:chExt cx="336" cy="367"/>
              </a:xfrm>
            </p:grpSpPr>
            <p:sp>
              <p:nvSpPr>
                <p:cNvPr id="491553" name="Oval 33"/>
                <p:cNvSpPr>
                  <a:spLocks noChangeArrowheads="1"/>
                </p:cNvSpPr>
                <p:nvPr/>
              </p:nvSpPr>
              <p:spPr bwMode="auto">
                <a:xfrm>
                  <a:off x="624" y="2304"/>
                  <a:ext cx="336" cy="33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54" name="Rectangle 34"/>
                <p:cNvSpPr>
                  <a:spLocks noChangeArrowheads="1"/>
                </p:cNvSpPr>
                <p:nvPr/>
              </p:nvSpPr>
              <p:spPr bwMode="auto">
                <a:xfrm>
                  <a:off x="680" y="2273"/>
                  <a:ext cx="17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dirty="0" err="1"/>
                    <a:t>i</a:t>
                  </a:r>
                  <a:endParaRPr lang="en-US" altLang="zh-CN" sz="3530" b="1" dirty="0"/>
                </a:p>
              </p:txBody>
            </p:sp>
          </p:grpSp>
          <p:sp>
            <p:nvSpPr>
              <p:cNvPr id="491555" name="Rectangle 35"/>
              <p:cNvSpPr>
                <a:spLocks noChangeArrowheads="1"/>
              </p:cNvSpPr>
              <p:nvPr/>
            </p:nvSpPr>
            <p:spPr bwMode="auto">
              <a:xfrm>
                <a:off x="1152" y="2256"/>
                <a:ext cx="1200"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990600" indent="-53340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752600" indent="-3810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209800" indent="-3810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6670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1242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814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386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FontTx/>
                  <a:buNone/>
                </a:pPr>
                <a:r>
                  <a:rPr lang="zh-CN" altLang="en-US" sz="3085" b="1" dirty="0"/>
                  <a:t>工序起点</a:t>
                </a:r>
                <a:endParaRPr lang="zh-CN" altLang="en-US" sz="3085" b="1" dirty="0"/>
              </a:p>
            </p:txBody>
          </p:sp>
        </p:grpSp>
        <p:grpSp>
          <p:nvGrpSpPr>
            <p:cNvPr id="491556" name="Group 36"/>
            <p:cNvGrpSpPr/>
            <p:nvPr/>
          </p:nvGrpSpPr>
          <p:grpSpPr bwMode="auto">
            <a:xfrm>
              <a:off x="1702" y="2181"/>
              <a:ext cx="1466" cy="408"/>
              <a:chOff x="2902" y="2181"/>
              <a:chExt cx="1466" cy="408"/>
            </a:xfrm>
          </p:grpSpPr>
          <p:grpSp>
            <p:nvGrpSpPr>
              <p:cNvPr id="491557" name="Group 37"/>
              <p:cNvGrpSpPr/>
              <p:nvPr/>
            </p:nvGrpSpPr>
            <p:grpSpPr bwMode="auto">
              <a:xfrm>
                <a:off x="2902" y="2181"/>
                <a:ext cx="336" cy="373"/>
                <a:chOff x="646" y="2901"/>
                <a:chExt cx="336" cy="373"/>
              </a:xfrm>
            </p:grpSpPr>
            <p:sp>
              <p:nvSpPr>
                <p:cNvPr id="491558" name="Oval 38"/>
                <p:cNvSpPr>
                  <a:spLocks noChangeArrowheads="1"/>
                </p:cNvSpPr>
                <p:nvPr/>
              </p:nvSpPr>
              <p:spPr bwMode="auto">
                <a:xfrm>
                  <a:off x="646" y="2938"/>
                  <a:ext cx="336" cy="33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559" name="Rectangle 39"/>
                <p:cNvSpPr>
                  <a:spLocks noChangeArrowheads="1"/>
                </p:cNvSpPr>
                <p:nvPr/>
              </p:nvSpPr>
              <p:spPr bwMode="auto">
                <a:xfrm>
                  <a:off x="720" y="2901"/>
                  <a:ext cx="14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buFontTx/>
                    <a:buNone/>
                  </a:pPr>
                  <a:r>
                    <a:rPr lang="en-US" altLang="zh-CN" sz="3530" b="1" i="1" dirty="0"/>
                    <a:t>j</a:t>
                  </a:r>
                  <a:endParaRPr lang="en-US" altLang="zh-CN" sz="3530" b="1" dirty="0"/>
                </a:p>
              </p:txBody>
            </p:sp>
          </p:grpSp>
          <p:sp>
            <p:nvSpPr>
              <p:cNvPr id="491560" name="Rectangle 40"/>
              <p:cNvSpPr>
                <a:spLocks noChangeArrowheads="1"/>
              </p:cNvSpPr>
              <p:nvPr/>
            </p:nvSpPr>
            <p:spPr bwMode="auto">
              <a:xfrm>
                <a:off x="3358" y="2265"/>
                <a:ext cx="1010"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zh-CN" altLang="en-US" sz="3085" b="1"/>
                  <a:t>工序终点</a:t>
                </a:r>
                <a:endParaRPr lang="zh-CN" altLang="en-US" sz="3085" b="1"/>
              </a:p>
            </p:txBody>
          </p:sp>
        </p:grpSp>
        <p:sp>
          <p:nvSpPr>
            <p:cNvPr id="491561" name="Rectangle 41"/>
            <p:cNvSpPr>
              <a:spLocks noChangeArrowheads="1"/>
            </p:cNvSpPr>
            <p:nvPr/>
          </p:nvSpPr>
          <p:spPr bwMode="auto">
            <a:xfrm>
              <a:off x="521" y="2016"/>
              <a:ext cx="604"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zh-CN" altLang="en-US" sz="3085" b="1"/>
                <a:t>事项</a:t>
              </a:r>
              <a:r>
                <a:rPr lang="en-US" altLang="zh-CN" sz="3085" b="1"/>
                <a:t>:</a:t>
              </a:r>
              <a:endParaRPr lang="en-US" altLang="zh-CN" sz="3085" b="1"/>
            </a:p>
          </p:txBody>
        </p:sp>
        <p:grpSp>
          <p:nvGrpSpPr>
            <p:cNvPr id="491562" name="Group 42"/>
            <p:cNvGrpSpPr/>
            <p:nvPr/>
          </p:nvGrpSpPr>
          <p:grpSpPr bwMode="auto">
            <a:xfrm>
              <a:off x="1104" y="1872"/>
              <a:ext cx="528" cy="576"/>
              <a:chOff x="1152" y="1728"/>
              <a:chExt cx="528" cy="576"/>
            </a:xfrm>
          </p:grpSpPr>
          <p:sp>
            <p:nvSpPr>
              <p:cNvPr id="491563" name="Line 43"/>
              <p:cNvSpPr>
                <a:spLocks noChangeShapeType="1"/>
              </p:cNvSpPr>
              <p:nvPr/>
            </p:nvSpPr>
            <p:spPr bwMode="auto">
              <a:xfrm flipV="1">
                <a:off x="1152" y="1728"/>
                <a:ext cx="480" cy="288"/>
              </a:xfrm>
              <a:prstGeom prst="line">
                <a:avLst/>
              </a:prstGeom>
              <a:noFill/>
              <a:ln w="158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91564" name="Line 44"/>
              <p:cNvSpPr>
                <a:spLocks noChangeShapeType="1"/>
              </p:cNvSpPr>
              <p:nvPr/>
            </p:nvSpPr>
            <p:spPr bwMode="auto">
              <a:xfrm>
                <a:off x="1152" y="2016"/>
                <a:ext cx="528" cy="288"/>
              </a:xfrm>
              <a:prstGeom prst="line">
                <a:avLst/>
              </a:prstGeom>
              <a:noFill/>
              <a:ln w="158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grpSp>
      <p:sp>
        <p:nvSpPr>
          <p:cNvPr id="491565" name="Rectangle 45"/>
          <p:cNvSpPr>
            <a:spLocks noChangeArrowheads="1"/>
          </p:cNvSpPr>
          <p:nvPr/>
        </p:nvSpPr>
        <p:spPr bwMode="auto">
          <a:xfrm>
            <a:off x="2744192" y="614355"/>
            <a:ext cx="4253087" cy="63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zh-CN" altLang="en-US" sz="3530" b="1">
                <a:solidFill>
                  <a:srgbClr val="FF3300"/>
                </a:solidFill>
              </a:rPr>
              <a:t>网络图的基本组成：</a:t>
            </a:r>
            <a:endParaRPr lang="zh-CN" altLang="en-US" sz="3530" b="1">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22">
                                            <p:txEl>
                                              <p:pRg st="0" end="0"/>
                                            </p:txEl>
                                          </p:spTgt>
                                        </p:tgtEl>
                                        <p:attrNameLst>
                                          <p:attrName>style.visibility</p:attrName>
                                        </p:attrNameLst>
                                      </p:cBhvr>
                                      <p:to>
                                        <p:strVal val="visible"/>
                                      </p:to>
                                    </p:set>
                                    <p:animEffect transition="in" filter="wipe(left)">
                                      <p:cBhvr>
                                        <p:cTn id="7" dur="500"/>
                                        <p:tgtEl>
                                          <p:spTgt spid="4915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91523"/>
                                        </p:tgtEl>
                                        <p:attrNameLst>
                                          <p:attrName>style.visibility</p:attrName>
                                        </p:attrNameLst>
                                      </p:cBhvr>
                                      <p:to>
                                        <p:strVal val="visible"/>
                                      </p:to>
                                    </p:set>
                                    <p:animEffect transition="in" filter="wipe(left)">
                                      <p:cBhvr>
                                        <p:cTn id="12" dur="500"/>
                                        <p:tgtEl>
                                          <p:spTgt spid="4915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1530"/>
                                        </p:tgtEl>
                                        <p:attrNameLst>
                                          <p:attrName>style.visibility</p:attrName>
                                        </p:attrNameLst>
                                      </p:cBhvr>
                                      <p:to>
                                        <p:strVal val="visible"/>
                                      </p:to>
                                    </p:set>
                                    <p:animEffect transition="in" filter="wipe(left)">
                                      <p:cBhvr>
                                        <p:cTn id="17" dur="500"/>
                                        <p:tgtEl>
                                          <p:spTgt spid="491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22" grpId="0"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a:xfrm>
            <a:off x="2205101" y="367563"/>
            <a:ext cx="8569431" cy="922405"/>
          </a:xfrm>
        </p:spPr>
        <p:txBody>
          <a:bodyPr/>
          <a:lstStyle/>
          <a:p>
            <a:r>
              <a:rPr lang="en-US" altLang="zh-CN"/>
              <a:t> </a:t>
            </a:r>
            <a:endParaRPr lang="en-US" altLang="zh-CN"/>
          </a:p>
        </p:txBody>
      </p:sp>
      <p:sp>
        <p:nvSpPr>
          <p:cNvPr id="374787" name="Rectangle 3"/>
          <p:cNvSpPr>
            <a:spLocks noGrp="1" noChangeArrowheads="1"/>
          </p:cNvSpPr>
          <p:nvPr>
            <p:ph type="body" idx="1"/>
          </p:nvPr>
        </p:nvSpPr>
        <p:spPr>
          <a:xfrm>
            <a:off x="524584" y="23318"/>
            <a:ext cx="11261016" cy="6331300"/>
          </a:xfrm>
        </p:spPr>
        <p:txBody>
          <a:bodyPr/>
          <a:lstStyle/>
          <a:p>
            <a:pPr algn="just">
              <a:lnSpc>
                <a:spcPct val="90000"/>
              </a:lnSpc>
              <a:buFont typeface="Wingdings" panose="05000000000000000000" pitchFamily="2" charset="2"/>
              <a:buNone/>
            </a:pPr>
            <a:r>
              <a:rPr lang="zh-CN" altLang="en-US" dirty="0">
                <a:ea typeface="黑体" panose="02010609060101010101" pitchFamily="49" charset="-122"/>
              </a:rPr>
              <a:t>网络图（箭头图）的组成要素</a:t>
            </a:r>
            <a:endParaRPr lang="zh-CN" altLang="en-US" dirty="0"/>
          </a:p>
          <a:p>
            <a:pPr algn="just">
              <a:lnSpc>
                <a:spcPct val="150000"/>
              </a:lnSpc>
              <a:buFont typeface="Wingdings" panose="05000000000000000000" pitchFamily="2" charset="2"/>
              <a:buNone/>
            </a:pPr>
            <a:r>
              <a:rPr lang="zh-CN" altLang="en-US" sz="2400" dirty="0"/>
              <a:t>一般表示工程计划的网络图由三部分组成：箭线、结点和线路。</a:t>
            </a:r>
            <a:endParaRPr lang="zh-CN" altLang="en-US" sz="2400" dirty="0"/>
          </a:p>
          <a:p>
            <a:pPr algn="just">
              <a:lnSpc>
                <a:spcPct val="150000"/>
              </a:lnSpc>
              <a:buFont typeface="Wingdings" panose="05000000000000000000" pitchFamily="2" charset="2"/>
              <a:buNone/>
            </a:pPr>
            <a:r>
              <a:rPr lang="zh-CN" altLang="en-US" sz="2400" b="1" dirty="0"/>
              <a:t>实箭线</a:t>
            </a:r>
            <a:r>
              <a:rPr lang="zh-CN" altLang="en-US" sz="2400" dirty="0"/>
              <a:t>  它表示一道具体工序，箭头表示工序进行方向，通常称为双代号表示法。</a:t>
            </a:r>
            <a:endParaRPr lang="zh-CN" altLang="en-US" sz="2400" dirty="0"/>
          </a:p>
          <a:p>
            <a:pPr algn="just">
              <a:lnSpc>
                <a:spcPct val="150000"/>
              </a:lnSpc>
              <a:buFont typeface="Wingdings" panose="05000000000000000000" pitchFamily="2" charset="2"/>
              <a:buNone/>
            </a:pPr>
            <a:r>
              <a:rPr lang="zh-CN" altLang="en-US" sz="2400" b="1" dirty="0"/>
              <a:t>虚箭线</a:t>
            </a:r>
            <a:r>
              <a:rPr lang="zh-CN" altLang="en-US" sz="2400" dirty="0"/>
              <a:t>  它表示一道虚工序。虚工序不是实际中的具体工序，它仅用于表示工序与工序之间的关联关系</a:t>
            </a:r>
            <a:endParaRPr lang="zh-CN" altLang="en-US" sz="2400" dirty="0"/>
          </a:p>
          <a:p>
            <a:pPr algn="just">
              <a:lnSpc>
                <a:spcPct val="150000"/>
              </a:lnSpc>
              <a:buFont typeface="Wingdings" panose="05000000000000000000" pitchFamily="2" charset="2"/>
              <a:buNone/>
            </a:pPr>
            <a:r>
              <a:rPr lang="zh-CN" altLang="en-US" sz="2400" b="1" dirty="0"/>
              <a:t>结点</a:t>
            </a:r>
            <a:r>
              <a:rPr lang="zh-CN" altLang="en-US" sz="2400" dirty="0"/>
              <a:t>  它表示一个事项。事项又称事件，表示一些工序的结束或开始。。</a:t>
            </a:r>
            <a:endParaRPr lang="zh-CN" altLang="en-US" sz="2400" dirty="0"/>
          </a:p>
          <a:p>
            <a:pPr algn="just">
              <a:lnSpc>
                <a:spcPct val="150000"/>
              </a:lnSpc>
              <a:buFont typeface="Wingdings" panose="05000000000000000000" pitchFamily="2" charset="2"/>
              <a:buNone/>
            </a:pPr>
            <a:r>
              <a:rPr lang="zh-CN" altLang="en-US" sz="2400" b="1" dirty="0"/>
              <a:t>线路 </a:t>
            </a:r>
            <a:r>
              <a:rPr lang="zh-CN" altLang="en-US" sz="2400" dirty="0"/>
              <a:t> 它是指从最初结点（总开工事项）开始顺着箭头方向连续不断地到达终点（总完工事项）的通路，其中时间和最大的线路为关键线路，相应有次关键线路，关键线路上的序称为关键工序。</a:t>
            </a:r>
            <a:endParaRPr lang="en-US" altLang="zh-C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18" name="Text Box 66"/>
          <p:cNvSpPr txBox="1">
            <a:spLocks noChangeArrowheads="1"/>
          </p:cNvSpPr>
          <p:nvPr/>
        </p:nvSpPr>
        <p:spPr bwMode="auto">
          <a:xfrm>
            <a:off x="900789" y="1440917"/>
            <a:ext cx="7662779" cy="1953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buClr>
                <a:schemeClr val="accent2"/>
              </a:buClr>
              <a:buFont typeface="Wingdings" panose="05000000000000000000" pitchFamily="2" charset="2"/>
              <a:buChar char="v"/>
            </a:pPr>
            <a:r>
              <a:rPr lang="en-US" altLang="zh-CN" sz="2800" dirty="0"/>
              <a:t>  </a:t>
            </a:r>
            <a:r>
              <a:rPr lang="zh-CN" altLang="en-US" sz="2800" dirty="0"/>
              <a:t>将整个工程分解为若干工序</a:t>
            </a:r>
            <a:endParaRPr lang="zh-CN" altLang="en-US" sz="2800" dirty="0"/>
          </a:p>
          <a:p>
            <a:pPr algn="l">
              <a:lnSpc>
                <a:spcPct val="150000"/>
              </a:lnSpc>
              <a:buClr>
                <a:schemeClr val="accent2"/>
              </a:buClr>
              <a:buFont typeface="Wingdings" panose="05000000000000000000" pitchFamily="2" charset="2"/>
              <a:buChar char="v"/>
            </a:pPr>
            <a:r>
              <a:rPr lang="zh-CN" altLang="en-US" sz="2800" dirty="0"/>
              <a:t>  确定各工序的前后顺序（紧前、紧后）</a:t>
            </a:r>
            <a:endParaRPr lang="zh-CN" altLang="en-US" sz="2800" dirty="0"/>
          </a:p>
          <a:p>
            <a:pPr algn="l">
              <a:lnSpc>
                <a:spcPct val="150000"/>
              </a:lnSpc>
              <a:buClr>
                <a:schemeClr val="accent2"/>
              </a:buClr>
              <a:buFont typeface="Wingdings" panose="05000000000000000000" pitchFamily="2" charset="2"/>
              <a:buChar char="v"/>
            </a:pPr>
            <a:r>
              <a:rPr lang="zh-CN" altLang="en-US" sz="2800" dirty="0"/>
              <a:t>  确定工序完成时间        </a:t>
            </a:r>
            <a:endParaRPr lang="zh-CN" altLang="en-US" sz="2800" dirty="0"/>
          </a:p>
        </p:txBody>
      </p:sp>
      <p:sp>
        <p:nvSpPr>
          <p:cNvPr id="74819" name="Text Box 67"/>
          <p:cNvSpPr txBox="1">
            <a:spLocks noChangeArrowheads="1"/>
          </p:cNvSpPr>
          <p:nvPr/>
        </p:nvSpPr>
        <p:spPr bwMode="auto">
          <a:xfrm>
            <a:off x="1413555" y="4794677"/>
            <a:ext cx="92152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Tx/>
              <a:buNone/>
            </a:pPr>
            <a:r>
              <a:rPr lang="zh-CN" altLang="en-US" sz="2400" dirty="0">
                <a:solidFill>
                  <a:srgbClr val="FF0000"/>
                </a:solidFill>
                <a:latin typeface="微软雅黑" panose="020B0503020204020204" pitchFamily="34" charset="-122"/>
              </a:rPr>
              <a:t>三点估计法：最乐观时间</a:t>
            </a:r>
            <a:r>
              <a:rPr lang="en-US" altLang="zh-CN" sz="2400" dirty="0">
                <a:solidFill>
                  <a:srgbClr val="FF0000"/>
                </a:solidFill>
                <a:latin typeface="微软雅黑" panose="020B0503020204020204" pitchFamily="34" charset="-122"/>
              </a:rPr>
              <a:t>a</a:t>
            </a:r>
            <a:r>
              <a:rPr lang="zh-CN" altLang="en-US" sz="2400" dirty="0">
                <a:solidFill>
                  <a:srgbClr val="FF0000"/>
                </a:solidFill>
                <a:latin typeface="微软雅黑" panose="020B0503020204020204" pitchFamily="34" charset="-122"/>
              </a:rPr>
              <a:t>、最可能时间</a:t>
            </a:r>
            <a:r>
              <a:rPr lang="en-US" altLang="zh-CN" sz="2400" dirty="0">
                <a:solidFill>
                  <a:srgbClr val="FF0000"/>
                </a:solidFill>
                <a:latin typeface="微软雅黑" panose="020B0503020204020204" pitchFamily="34" charset="-122"/>
              </a:rPr>
              <a:t>m</a:t>
            </a:r>
            <a:r>
              <a:rPr lang="zh-CN" altLang="en-US" sz="2400" dirty="0">
                <a:solidFill>
                  <a:srgbClr val="FF0000"/>
                </a:solidFill>
                <a:latin typeface="微软雅黑" panose="020B0503020204020204" pitchFamily="34" charset="-122"/>
              </a:rPr>
              <a:t>、最悲观时间</a:t>
            </a:r>
            <a:r>
              <a:rPr lang="en-US" altLang="zh-CN" sz="2400" dirty="0">
                <a:solidFill>
                  <a:srgbClr val="FF0000"/>
                </a:solidFill>
                <a:latin typeface="微软雅黑" panose="020B0503020204020204" pitchFamily="34" charset="-122"/>
              </a:rPr>
              <a:t>b </a:t>
            </a:r>
            <a:endParaRPr lang="en-US" altLang="zh-CN" sz="2400" dirty="0">
              <a:solidFill>
                <a:srgbClr val="FF0000"/>
              </a:solidFill>
              <a:latin typeface="微软雅黑" panose="020B0503020204020204" pitchFamily="34" charset="-122"/>
            </a:endParaRPr>
          </a:p>
        </p:txBody>
      </p:sp>
      <p:grpSp>
        <p:nvGrpSpPr>
          <p:cNvPr id="74825" name="Group 73"/>
          <p:cNvGrpSpPr/>
          <p:nvPr/>
        </p:nvGrpSpPr>
        <p:grpSpPr bwMode="auto">
          <a:xfrm>
            <a:off x="8321355" y="1913380"/>
            <a:ext cx="3497444" cy="1069429"/>
            <a:chOff x="3011" y="3312"/>
            <a:chExt cx="1075" cy="611"/>
          </a:xfrm>
        </p:grpSpPr>
        <p:sp>
          <p:nvSpPr>
            <p:cNvPr id="74820" name="Text Box 68"/>
            <p:cNvSpPr txBox="1">
              <a:spLocks noChangeArrowheads="1"/>
            </p:cNvSpPr>
            <p:nvPr/>
          </p:nvSpPr>
          <p:spPr bwMode="auto">
            <a:xfrm>
              <a:off x="3011" y="3462"/>
              <a:ext cx="231"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buFontTx/>
                <a:buNone/>
              </a:pPr>
              <a:r>
                <a:rPr lang="en-US" altLang="zh-CN" sz="2800" dirty="0" err="1">
                  <a:latin typeface="+mn-ea"/>
                  <a:ea typeface="+mn-ea"/>
                </a:rPr>
                <a:t>t</a:t>
              </a:r>
              <a:r>
                <a:rPr lang="en-US" altLang="zh-CN" sz="2800" baseline="-25000" dirty="0" err="1">
                  <a:latin typeface="+mn-ea"/>
                  <a:ea typeface="+mn-ea"/>
                </a:rPr>
                <a:t>ij</a:t>
              </a:r>
              <a:r>
                <a:rPr lang="en-US" altLang="zh-CN" sz="2800" dirty="0">
                  <a:latin typeface="+mn-ea"/>
                  <a:ea typeface="+mn-ea"/>
                </a:rPr>
                <a:t>=</a:t>
              </a:r>
              <a:endParaRPr lang="en-US" altLang="zh-CN" sz="2800" dirty="0">
                <a:latin typeface="+mn-ea"/>
                <a:ea typeface="+mn-ea"/>
              </a:endParaRPr>
            </a:p>
          </p:txBody>
        </p:sp>
        <p:grpSp>
          <p:nvGrpSpPr>
            <p:cNvPr id="74821" name="Group 69"/>
            <p:cNvGrpSpPr/>
            <p:nvPr/>
          </p:nvGrpSpPr>
          <p:grpSpPr bwMode="auto">
            <a:xfrm>
              <a:off x="3222" y="3312"/>
              <a:ext cx="864" cy="611"/>
              <a:chOff x="2352" y="2880"/>
              <a:chExt cx="864" cy="611"/>
            </a:xfrm>
          </p:grpSpPr>
          <p:sp>
            <p:nvSpPr>
              <p:cNvPr id="74822" name="Line 70"/>
              <p:cNvSpPr>
                <a:spLocks noChangeShapeType="1"/>
              </p:cNvSpPr>
              <p:nvPr/>
            </p:nvSpPr>
            <p:spPr bwMode="auto">
              <a:xfrm>
                <a:off x="2352" y="3168"/>
                <a:ext cx="8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mn-ea"/>
                  <a:ea typeface="+mn-ea"/>
                </a:endParaRPr>
              </a:p>
            </p:txBody>
          </p:sp>
          <p:sp>
            <p:nvSpPr>
              <p:cNvPr id="74823" name="Text Box 71"/>
              <p:cNvSpPr txBox="1">
                <a:spLocks noChangeArrowheads="1"/>
              </p:cNvSpPr>
              <p:nvPr/>
            </p:nvSpPr>
            <p:spPr bwMode="auto">
              <a:xfrm>
                <a:off x="2592" y="3192"/>
                <a:ext cx="336"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Tx/>
                  <a:buNone/>
                </a:pPr>
                <a:r>
                  <a:rPr lang="en-US" altLang="zh-CN" sz="2800" dirty="0">
                    <a:latin typeface="+mn-ea"/>
                    <a:ea typeface="+mn-ea"/>
                  </a:rPr>
                  <a:t>6</a:t>
                </a:r>
                <a:endParaRPr lang="en-US" altLang="zh-CN" sz="2800" dirty="0">
                  <a:latin typeface="+mn-ea"/>
                  <a:ea typeface="+mn-ea"/>
                </a:endParaRPr>
              </a:p>
            </p:txBody>
          </p:sp>
          <p:sp>
            <p:nvSpPr>
              <p:cNvPr id="74824" name="Text Box 72"/>
              <p:cNvSpPr txBox="1">
                <a:spLocks noChangeArrowheads="1"/>
              </p:cNvSpPr>
              <p:nvPr/>
            </p:nvSpPr>
            <p:spPr bwMode="auto">
              <a:xfrm>
                <a:off x="2400" y="2880"/>
                <a:ext cx="816"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Tx/>
                  <a:buNone/>
                </a:pPr>
                <a:r>
                  <a:rPr lang="en-US" altLang="zh-CN" sz="2800">
                    <a:latin typeface="+mn-ea"/>
                    <a:ea typeface="+mn-ea"/>
                  </a:rPr>
                  <a:t>a+4m+b</a:t>
                </a:r>
                <a:endParaRPr lang="en-US" altLang="zh-CN" sz="2800">
                  <a:latin typeface="+mn-ea"/>
                  <a:ea typeface="+mn-ea"/>
                </a:endParaRPr>
              </a:p>
            </p:txBody>
          </p:sp>
        </p:grpSp>
      </p:grpSp>
      <p:sp>
        <p:nvSpPr>
          <p:cNvPr id="74826" name="AutoShape 74"/>
          <p:cNvSpPr/>
          <p:nvPr/>
        </p:nvSpPr>
        <p:spPr bwMode="auto">
          <a:xfrm>
            <a:off x="1063497" y="3947534"/>
            <a:ext cx="351808" cy="1237456"/>
          </a:xfrm>
          <a:prstGeom prst="leftBrace">
            <a:avLst>
              <a:gd name="adj1" fmla="val 29312"/>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nchor="ctr"/>
          <a:lstStyle/>
          <a:p>
            <a:endParaRPr lang="zh-CN" altLang="en-US" sz="2400">
              <a:latin typeface="微软雅黑" panose="020B0503020204020204" pitchFamily="34" charset="-122"/>
            </a:endParaRPr>
          </a:p>
        </p:txBody>
      </p:sp>
      <p:sp>
        <p:nvSpPr>
          <p:cNvPr id="74829" name="Rectangle 77"/>
          <p:cNvSpPr>
            <a:spLocks noChangeArrowheads="1"/>
          </p:cNvSpPr>
          <p:nvPr/>
        </p:nvSpPr>
        <p:spPr bwMode="auto">
          <a:xfrm>
            <a:off x="1588583" y="3790009"/>
            <a:ext cx="1538883" cy="449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buFontTx/>
              <a:buNone/>
            </a:pPr>
            <a:r>
              <a:rPr lang="zh-CN" altLang="en-US" sz="2400" dirty="0">
                <a:solidFill>
                  <a:srgbClr val="FF0000"/>
                </a:solidFill>
                <a:latin typeface="微软雅黑" panose="020B0503020204020204" pitchFamily="34" charset="-122"/>
              </a:rPr>
              <a:t>一点估计法</a:t>
            </a:r>
            <a:endParaRPr lang="zh-CN" altLang="en-US" sz="2400" dirty="0">
              <a:solidFill>
                <a:srgbClr val="FF0000"/>
              </a:solidFill>
              <a:latin typeface="微软雅黑" panose="020B0503020204020204" pitchFamily="34" charset="-122"/>
            </a:endParaRPr>
          </a:p>
        </p:txBody>
      </p:sp>
      <p:sp>
        <p:nvSpPr>
          <p:cNvPr id="74830" name="Rectangle 78"/>
          <p:cNvSpPr>
            <a:spLocks noChangeArrowheads="1"/>
          </p:cNvSpPr>
          <p:nvPr/>
        </p:nvSpPr>
        <p:spPr bwMode="auto">
          <a:xfrm>
            <a:off x="2570913" y="582849"/>
            <a:ext cx="5144109" cy="623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spcBef>
                <a:spcPct val="0"/>
              </a:spcBef>
              <a:buFontTx/>
              <a:buNone/>
            </a:pPr>
            <a:r>
              <a:rPr lang="zh-CN" altLang="en-US" sz="3530" b="1">
                <a:solidFill>
                  <a:schemeClr val="tx2"/>
                </a:solidFill>
              </a:rPr>
              <a:t>绘制网络图的准备工作</a:t>
            </a:r>
            <a:endParaRPr lang="zh-CN" altLang="en-US" sz="3530" b="1">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4818">
                                            <p:txEl>
                                              <p:pRg st="0" end="0"/>
                                            </p:txEl>
                                          </p:spTgt>
                                        </p:tgtEl>
                                        <p:attrNameLst>
                                          <p:attrName>style.visibility</p:attrName>
                                        </p:attrNameLst>
                                      </p:cBhvr>
                                      <p:to>
                                        <p:strVal val="visible"/>
                                      </p:to>
                                    </p:set>
                                    <p:anim calcmode="lin" valueType="num">
                                      <p:cBhvr additive="base">
                                        <p:cTn id="7" dur="500" fill="hold"/>
                                        <p:tgtEl>
                                          <p:spTgt spid="748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48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4818">
                                            <p:txEl>
                                              <p:pRg st="1" end="1"/>
                                            </p:txEl>
                                          </p:spTgt>
                                        </p:tgtEl>
                                        <p:attrNameLst>
                                          <p:attrName>style.visibility</p:attrName>
                                        </p:attrNameLst>
                                      </p:cBhvr>
                                      <p:to>
                                        <p:strVal val="visible"/>
                                      </p:to>
                                    </p:set>
                                    <p:anim calcmode="lin" valueType="num">
                                      <p:cBhvr additive="base">
                                        <p:cTn id="13" dur="500" fill="hold"/>
                                        <p:tgtEl>
                                          <p:spTgt spid="7481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481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4818">
                                            <p:txEl>
                                              <p:pRg st="2" end="2"/>
                                            </p:txEl>
                                          </p:spTgt>
                                        </p:tgtEl>
                                        <p:attrNameLst>
                                          <p:attrName>style.visibility</p:attrName>
                                        </p:attrNameLst>
                                      </p:cBhvr>
                                      <p:to>
                                        <p:strVal val="visible"/>
                                      </p:to>
                                    </p:set>
                                    <p:anim calcmode="lin" valueType="num">
                                      <p:cBhvr additive="base">
                                        <p:cTn id="19" dur="500" fill="hold"/>
                                        <p:tgtEl>
                                          <p:spTgt spid="7481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481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4826"/>
                                        </p:tgtEl>
                                        <p:attrNameLst>
                                          <p:attrName>style.visibility</p:attrName>
                                        </p:attrNameLst>
                                      </p:cBhvr>
                                      <p:to>
                                        <p:strVal val="visible"/>
                                      </p:to>
                                    </p:set>
                                    <p:anim calcmode="lin" valueType="num">
                                      <p:cBhvr additive="base">
                                        <p:cTn id="25" dur="500" fill="hold"/>
                                        <p:tgtEl>
                                          <p:spTgt spid="74826"/>
                                        </p:tgtEl>
                                        <p:attrNameLst>
                                          <p:attrName>ppt_x</p:attrName>
                                        </p:attrNameLst>
                                      </p:cBhvr>
                                      <p:tavLst>
                                        <p:tav tm="0">
                                          <p:val>
                                            <p:strVal val="0-#ppt_w/2"/>
                                          </p:val>
                                        </p:tav>
                                        <p:tav tm="100000">
                                          <p:val>
                                            <p:strVal val="#ppt_x"/>
                                          </p:val>
                                        </p:tav>
                                      </p:tavLst>
                                    </p:anim>
                                    <p:anim calcmode="lin" valueType="num">
                                      <p:cBhvr additive="base">
                                        <p:cTn id="26" dur="500" fill="hold"/>
                                        <p:tgtEl>
                                          <p:spTgt spid="7482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4829"/>
                                        </p:tgtEl>
                                        <p:attrNameLst>
                                          <p:attrName>style.visibility</p:attrName>
                                        </p:attrNameLst>
                                      </p:cBhvr>
                                      <p:to>
                                        <p:strVal val="visible"/>
                                      </p:to>
                                    </p:set>
                                    <p:anim calcmode="lin" valueType="num">
                                      <p:cBhvr additive="base">
                                        <p:cTn id="31" dur="500" fill="hold"/>
                                        <p:tgtEl>
                                          <p:spTgt spid="74829"/>
                                        </p:tgtEl>
                                        <p:attrNameLst>
                                          <p:attrName>ppt_x</p:attrName>
                                        </p:attrNameLst>
                                      </p:cBhvr>
                                      <p:tavLst>
                                        <p:tav tm="0">
                                          <p:val>
                                            <p:strVal val="0-#ppt_w/2"/>
                                          </p:val>
                                        </p:tav>
                                        <p:tav tm="100000">
                                          <p:val>
                                            <p:strVal val="#ppt_x"/>
                                          </p:val>
                                        </p:tav>
                                      </p:tavLst>
                                    </p:anim>
                                    <p:anim calcmode="lin" valueType="num">
                                      <p:cBhvr additive="base">
                                        <p:cTn id="32" dur="500" fill="hold"/>
                                        <p:tgtEl>
                                          <p:spTgt spid="7482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4819"/>
                                        </p:tgtEl>
                                        <p:attrNameLst>
                                          <p:attrName>style.visibility</p:attrName>
                                        </p:attrNameLst>
                                      </p:cBhvr>
                                      <p:to>
                                        <p:strVal val="visible"/>
                                      </p:to>
                                    </p:set>
                                    <p:anim calcmode="lin" valueType="num">
                                      <p:cBhvr additive="base">
                                        <p:cTn id="37" dur="500" fill="hold"/>
                                        <p:tgtEl>
                                          <p:spTgt spid="74819"/>
                                        </p:tgtEl>
                                        <p:attrNameLst>
                                          <p:attrName>ppt_x</p:attrName>
                                        </p:attrNameLst>
                                      </p:cBhvr>
                                      <p:tavLst>
                                        <p:tav tm="0">
                                          <p:val>
                                            <p:strVal val="0-#ppt_w/2"/>
                                          </p:val>
                                        </p:tav>
                                        <p:tav tm="100000">
                                          <p:val>
                                            <p:strVal val="#ppt_x"/>
                                          </p:val>
                                        </p:tav>
                                      </p:tavLst>
                                    </p:anim>
                                    <p:anim calcmode="lin" valueType="num">
                                      <p:cBhvr additive="base">
                                        <p:cTn id="38" dur="500" fill="hold"/>
                                        <p:tgtEl>
                                          <p:spTgt spid="74819"/>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74825"/>
                                        </p:tgtEl>
                                        <p:attrNameLst>
                                          <p:attrName>style.visibility</p:attrName>
                                        </p:attrNameLst>
                                      </p:cBhvr>
                                      <p:to>
                                        <p:strVal val="visible"/>
                                      </p:to>
                                    </p:set>
                                    <p:anim calcmode="lin" valueType="num">
                                      <p:cBhvr additive="base">
                                        <p:cTn id="43" dur="500" fill="hold"/>
                                        <p:tgtEl>
                                          <p:spTgt spid="74825"/>
                                        </p:tgtEl>
                                        <p:attrNameLst>
                                          <p:attrName>ppt_x</p:attrName>
                                        </p:attrNameLst>
                                      </p:cBhvr>
                                      <p:tavLst>
                                        <p:tav tm="0">
                                          <p:val>
                                            <p:strVal val="0-#ppt_w/2"/>
                                          </p:val>
                                        </p:tav>
                                        <p:tav tm="100000">
                                          <p:val>
                                            <p:strVal val="#ppt_x"/>
                                          </p:val>
                                        </p:tav>
                                      </p:tavLst>
                                    </p:anim>
                                    <p:anim calcmode="lin" valueType="num">
                                      <p:cBhvr additive="base">
                                        <p:cTn id="44" dur="500" fill="hold"/>
                                        <p:tgtEl>
                                          <p:spTgt spid="748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18" grpId="0" autoUpdateAnimBg="0" build="p"/>
      <p:bldP spid="74819" grpId="0" autoUpdateAnimBg="0"/>
      <p:bldP spid="7482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3570" name="Rectangle 2"/>
          <p:cNvSpPr>
            <a:spLocks noGrp="1" noChangeArrowheads="1"/>
          </p:cNvSpPr>
          <p:nvPr>
            <p:ph type="body" idx="1"/>
          </p:nvPr>
        </p:nvSpPr>
        <p:spPr>
          <a:xfrm>
            <a:off x="1643256" y="1669779"/>
            <a:ext cx="7946327" cy="497083"/>
          </a:xfrm>
        </p:spPr>
        <p:txBody>
          <a:bodyPr/>
          <a:lstStyle/>
          <a:p>
            <a:pPr marL="671830" indent="-671830">
              <a:buClr>
                <a:srgbClr val="FF3300"/>
              </a:buClr>
              <a:buFontTx/>
              <a:buAutoNum type="arabicPeriod"/>
            </a:pPr>
            <a:r>
              <a:rPr lang="zh-CN" altLang="en-US" sz="3085" b="1"/>
              <a:t>方向，时序，编号。</a:t>
            </a:r>
            <a:endParaRPr lang="zh-CN" altLang="en-US" sz="3085" b="1"/>
          </a:p>
        </p:txBody>
      </p:sp>
      <p:grpSp>
        <p:nvGrpSpPr>
          <p:cNvPr id="493571" name="Group 3"/>
          <p:cNvGrpSpPr/>
          <p:nvPr/>
        </p:nvGrpSpPr>
        <p:grpSpPr bwMode="auto">
          <a:xfrm>
            <a:off x="3155509" y="3360562"/>
            <a:ext cx="6133024" cy="3491833"/>
            <a:chOff x="1152" y="1296"/>
            <a:chExt cx="3504" cy="1995"/>
          </a:xfrm>
        </p:grpSpPr>
        <p:sp>
          <p:nvSpPr>
            <p:cNvPr id="493572" name="Rectangle 4"/>
            <p:cNvSpPr>
              <a:spLocks noChangeArrowheads="1"/>
            </p:cNvSpPr>
            <p:nvPr/>
          </p:nvSpPr>
          <p:spPr bwMode="auto">
            <a:xfrm>
              <a:off x="2064" y="2928"/>
              <a:ext cx="240"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b</a:t>
              </a:r>
              <a:endParaRPr lang="en-US" altLang="zh-CN" sz="3530" b="1"/>
            </a:p>
          </p:txBody>
        </p:sp>
        <p:grpSp>
          <p:nvGrpSpPr>
            <p:cNvPr id="493573" name="Group 5"/>
            <p:cNvGrpSpPr/>
            <p:nvPr/>
          </p:nvGrpSpPr>
          <p:grpSpPr bwMode="auto">
            <a:xfrm>
              <a:off x="1152" y="1296"/>
              <a:ext cx="3504" cy="1642"/>
              <a:chOff x="1152" y="1296"/>
              <a:chExt cx="3504" cy="1642"/>
            </a:xfrm>
          </p:grpSpPr>
          <p:sp>
            <p:nvSpPr>
              <p:cNvPr id="493574" name="Oval 6"/>
              <p:cNvSpPr>
                <a:spLocks noChangeArrowheads="1"/>
              </p:cNvSpPr>
              <p:nvPr/>
            </p:nvSpPr>
            <p:spPr bwMode="auto">
              <a:xfrm>
                <a:off x="1152" y="2064"/>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3575" name="Oval 7"/>
              <p:cNvSpPr>
                <a:spLocks noChangeArrowheads="1"/>
              </p:cNvSpPr>
              <p:nvPr/>
            </p:nvSpPr>
            <p:spPr bwMode="auto">
              <a:xfrm>
                <a:off x="2688" y="2112"/>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3576" name="Rectangle 8"/>
              <p:cNvSpPr>
                <a:spLocks noChangeArrowheads="1"/>
              </p:cNvSpPr>
              <p:nvPr/>
            </p:nvSpPr>
            <p:spPr bwMode="auto">
              <a:xfrm>
                <a:off x="1248" y="2112"/>
                <a:ext cx="17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i</a:t>
                </a:r>
                <a:endParaRPr lang="en-US" altLang="zh-CN" sz="3530" b="1"/>
              </a:p>
            </p:txBody>
          </p:sp>
          <p:sp>
            <p:nvSpPr>
              <p:cNvPr id="493577" name="Rectangle 9"/>
              <p:cNvSpPr>
                <a:spLocks noChangeArrowheads="1"/>
              </p:cNvSpPr>
              <p:nvPr/>
            </p:nvSpPr>
            <p:spPr bwMode="auto">
              <a:xfrm>
                <a:off x="2832" y="2160"/>
                <a:ext cx="178"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j</a:t>
                </a:r>
                <a:endParaRPr lang="en-US" altLang="zh-CN" sz="3530" b="1"/>
              </a:p>
            </p:txBody>
          </p:sp>
          <p:sp>
            <p:nvSpPr>
              <p:cNvPr id="493578" name="Oval 10"/>
              <p:cNvSpPr>
                <a:spLocks noChangeArrowheads="1"/>
              </p:cNvSpPr>
              <p:nvPr/>
            </p:nvSpPr>
            <p:spPr bwMode="auto">
              <a:xfrm>
                <a:off x="4224" y="216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3579" name="Line 11"/>
              <p:cNvSpPr>
                <a:spLocks noChangeShapeType="1"/>
              </p:cNvSpPr>
              <p:nvPr/>
            </p:nvSpPr>
            <p:spPr bwMode="auto">
              <a:xfrm>
                <a:off x="3120" y="2352"/>
                <a:ext cx="1104"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3580" name="Rectangle 12"/>
              <p:cNvSpPr>
                <a:spLocks noChangeArrowheads="1"/>
              </p:cNvSpPr>
              <p:nvPr/>
            </p:nvSpPr>
            <p:spPr bwMode="auto">
              <a:xfrm>
                <a:off x="3600" y="1968"/>
                <a:ext cx="20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7</a:t>
                </a:r>
                <a:endParaRPr lang="en-US" altLang="zh-CN" sz="3530" b="1"/>
              </a:p>
            </p:txBody>
          </p:sp>
          <p:sp>
            <p:nvSpPr>
              <p:cNvPr id="493581" name="Freeform 13"/>
              <p:cNvSpPr/>
              <p:nvPr/>
            </p:nvSpPr>
            <p:spPr bwMode="auto">
              <a:xfrm>
                <a:off x="1344" y="1672"/>
                <a:ext cx="1536" cy="344"/>
              </a:xfrm>
              <a:custGeom>
                <a:avLst/>
                <a:gdLst>
                  <a:gd name="T0" fmla="*/ 1536 w 1536"/>
                  <a:gd name="T1" fmla="*/ 344 h 344"/>
                  <a:gd name="T2" fmla="*/ 768 w 1536"/>
                  <a:gd name="T3" fmla="*/ 8 h 344"/>
                  <a:gd name="T4" fmla="*/ 0 w 1536"/>
                  <a:gd name="T5" fmla="*/ 296 h 344"/>
                </a:gdLst>
                <a:ahLst/>
                <a:cxnLst>
                  <a:cxn ang="0">
                    <a:pos x="T0" y="T1"/>
                  </a:cxn>
                  <a:cxn ang="0">
                    <a:pos x="T2" y="T3"/>
                  </a:cxn>
                  <a:cxn ang="0">
                    <a:pos x="T4" y="T5"/>
                  </a:cxn>
                </a:cxnLst>
                <a:rect l="0" t="0" r="r" b="b"/>
                <a:pathLst>
                  <a:path w="1536" h="344">
                    <a:moveTo>
                      <a:pt x="1536" y="344"/>
                    </a:moveTo>
                    <a:cubicBezTo>
                      <a:pt x="1280" y="180"/>
                      <a:pt x="1024" y="16"/>
                      <a:pt x="768" y="8"/>
                    </a:cubicBezTo>
                    <a:cubicBezTo>
                      <a:pt x="512" y="0"/>
                      <a:pt x="136" y="248"/>
                      <a:pt x="0" y="296"/>
                    </a:cubicBezTo>
                  </a:path>
                </a:pathLst>
              </a:custGeom>
              <a:noFill/>
              <a:ln w="15875"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3582" name="Freeform 14"/>
              <p:cNvSpPr/>
              <p:nvPr/>
            </p:nvSpPr>
            <p:spPr bwMode="auto">
              <a:xfrm rot="10800000">
                <a:off x="1392" y="2592"/>
                <a:ext cx="1536" cy="344"/>
              </a:xfrm>
              <a:custGeom>
                <a:avLst/>
                <a:gdLst>
                  <a:gd name="T0" fmla="*/ 1536 w 1536"/>
                  <a:gd name="T1" fmla="*/ 344 h 344"/>
                  <a:gd name="T2" fmla="*/ 768 w 1536"/>
                  <a:gd name="T3" fmla="*/ 8 h 344"/>
                  <a:gd name="T4" fmla="*/ 0 w 1536"/>
                  <a:gd name="T5" fmla="*/ 296 h 344"/>
                </a:gdLst>
                <a:ahLst/>
                <a:cxnLst>
                  <a:cxn ang="0">
                    <a:pos x="T0" y="T1"/>
                  </a:cxn>
                  <a:cxn ang="0">
                    <a:pos x="T2" y="T3"/>
                  </a:cxn>
                  <a:cxn ang="0">
                    <a:pos x="T4" y="T5"/>
                  </a:cxn>
                </a:cxnLst>
                <a:rect l="0" t="0" r="r" b="b"/>
                <a:pathLst>
                  <a:path w="1536" h="344">
                    <a:moveTo>
                      <a:pt x="1536" y="344"/>
                    </a:moveTo>
                    <a:cubicBezTo>
                      <a:pt x="1280" y="180"/>
                      <a:pt x="1024" y="16"/>
                      <a:pt x="768" y="8"/>
                    </a:cubicBezTo>
                    <a:cubicBezTo>
                      <a:pt x="512" y="0"/>
                      <a:pt x="136" y="248"/>
                      <a:pt x="0" y="296"/>
                    </a:cubicBezTo>
                  </a:path>
                </a:pathLst>
              </a:custGeom>
              <a:noFill/>
              <a:ln w="158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3583" name="Rectangle 15"/>
              <p:cNvSpPr>
                <a:spLocks noChangeArrowheads="1"/>
              </p:cNvSpPr>
              <p:nvPr/>
            </p:nvSpPr>
            <p:spPr bwMode="auto">
              <a:xfrm>
                <a:off x="2064" y="2575"/>
                <a:ext cx="10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endParaRPr lang="zh-CN" altLang="zh-CN" sz="3530" b="1"/>
              </a:p>
            </p:txBody>
          </p:sp>
          <p:sp>
            <p:nvSpPr>
              <p:cNvPr id="493584" name="Rectangle 16"/>
              <p:cNvSpPr>
                <a:spLocks noChangeArrowheads="1"/>
              </p:cNvSpPr>
              <p:nvPr/>
            </p:nvSpPr>
            <p:spPr bwMode="auto">
              <a:xfrm>
                <a:off x="2016" y="1296"/>
                <a:ext cx="23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a</a:t>
                </a:r>
                <a:endParaRPr lang="en-US" altLang="zh-CN" sz="3530" b="1"/>
              </a:p>
            </p:txBody>
          </p:sp>
          <p:sp>
            <p:nvSpPr>
              <p:cNvPr id="493585" name="Rectangle 17"/>
              <p:cNvSpPr>
                <a:spLocks noChangeArrowheads="1"/>
              </p:cNvSpPr>
              <p:nvPr/>
            </p:nvSpPr>
            <p:spPr bwMode="auto">
              <a:xfrm>
                <a:off x="2016" y="1711"/>
                <a:ext cx="10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endParaRPr lang="zh-CN" altLang="zh-CN" sz="3530" b="1"/>
              </a:p>
            </p:txBody>
          </p:sp>
        </p:grpSp>
      </p:grpSp>
      <p:sp>
        <p:nvSpPr>
          <p:cNvPr id="493586" name="Line 18"/>
          <p:cNvSpPr>
            <a:spLocks noChangeShapeType="1"/>
          </p:cNvSpPr>
          <p:nvPr/>
        </p:nvSpPr>
        <p:spPr bwMode="auto">
          <a:xfrm flipH="1">
            <a:off x="10128673" y="4116687"/>
            <a:ext cx="336056" cy="109218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nvGrpSpPr>
          <p:cNvPr id="493587" name="Group 19"/>
          <p:cNvGrpSpPr/>
          <p:nvPr/>
        </p:nvGrpSpPr>
        <p:grpSpPr bwMode="auto">
          <a:xfrm>
            <a:off x="2315369" y="4704785"/>
            <a:ext cx="336056" cy="756126"/>
            <a:chOff x="5232" y="2688"/>
            <a:chExt cx="384" cy="576"/>
          </a:xfrm>
        </p:grpSpPr>
        <p:sp>
          <p:nvSpPr>
            <p:cNvPr id="493588" name="Line 20"/>
            <p:cNvSpPr>
              <a:spLocks noChangeShapeType="1"/>
            </p:cNvSpPr>
            <p:nvPr/>
          </p:nvSpPr>
          <p:spPr bwMode="auto">
            <a:xfrm flipH="1">
              <a:off x="5232" y="2688"/>
              <a:ext cx="384" cy="576"/>
            </a:xfrm>
            <a:prstGeom prst="line">
              <a:avLst/>
            </a:prstGeom>
            <a:noFill/>
            <a:ln w="222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93589" name="Line 21"/>
            <p:cNvSpPr>
              <a:spLocks noChangeShapeType="1"/>
            </p:cNvSpPr>
            <p:nvPr/>
          </p:nvSpPr>
          <p:spPr bwMode="auto">
            <a:xfrm>
              <a:off x="5232" y="2736"/>
              <a:ext cx="384" cy="528"/>
            </a:xfrm>
            <a:prstGeom prst="line">
              <a:avLst/>
            </a:prstGeom>
            <a:noFill/>
            <a:ln w="222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sp>
        <p:nvSpPr>
          <p:cNvPr id="493590" name="Rectangle 22"/>
          <p:cNvSpPr>
            <a:spLocks noChangeArrowheads="1"/>
          </p:cNvSpPr>
          <p:nvPr/>
        </p:nvSpPr>
        <p:spPr bwMode="auto">
          <a:xfrm>
            <a:off x="1613503" y="2557178"/>
            <a:ext cx="5814412" cy="567399"/>
          </a:xfrm>
          <a:prstGeom prst="rect">
            <a:avLst/>
          </a:prstGeom>
          <a:noFill/>
          <a:ln>
            <a:noFill/>
          </a:ln>
          <a:effectLst/>
          <a:extLst>
            <a:ext uri="{909E8E84-426E-40DD-AFC4-6F175D3DCCD1}">
              <a14:hiddenFill xmlns:a14="http://schemas.microsoft.com/office/drawing/2010/main">
                <a:gradFill rotWithShape="0">
                  <a:gsLst>
                    <a:gs pos="0">
                      <a:srgbClr val="006600"/>
                    </a:gs>
                    <a:gs pos="100000">
                      <a:srgbClr val="006600">
                        <a:gamma/>
                        <a:shade val="46275"/>
                        <a:invGamma/>
                      </a:srgb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buClr>
                <a:srgbClr val="FF3300"/>
              </a:buClr>
              <a:buFontTx/>
              <a:buAutoNum type="arabicPeriod" startAt="2"/>
            </a:pPr>
            <a:r>
              <a:rPr lang="zh-CN" altLang="en-US" sz="3085" b="1"/>
              <a:t>两个结点间只允许画一条线。</a:t>
            </a:r>
            <a:endParaRPr lang="zh-CN" altLang="en-US" sz="3085" b="1"/>
          </a:p>
        </p:txBody>
      </p:sp>
      <p:sp>
        <p:nvSpPr>
          <p:cNvPr id="493591" name="Rectangle 23"/>
          <p:cNvSpPr>
            <a:spLocks noChangeArrowheads="1"/>
          </p:cNvSpPr>
          <p:nvPr/>
        </p:nvSpPr>
        <p:spPr bwMode="auto">
          <a:xfrm>
            <a:off x="1895300" y="759628"/>
            <a:ext cx="3440365" cy="63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zh-CN" altLang="en-US" sz="3530" b="1">
                <a:solidFill>
                  <a:srgbClr val="FF3300"/>
                </a:solidFill>
              </a:rPr>
              <a:t>绘制网络图规则</a:t>
            </a:r>
            <a:r>
              <a:rPr lang="en-US" altLang="zh-CN" sz="3530" b="1">
                <a:solidFill>
                  <a:srgbClr val="FF3300"/>
                </a:solidFill>
              </a:rPr>
              <a:t>:</a:t>
            </a:r>
            <a:endParaRPr lang="en-US" altLang="zh-CN" sz="3530" b="1">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3570">
                                            <p:txEl>
                                              <p:pRg st="0" end="0"/>
                                            </p:txEl>
                                          </p:spTgt>
                                        </p:tgtEl>
                                        <p:attrNameLst>
                                          <p:attrName>style.visibility</p:attrName>
                                        </p:attrNameLst>
                                      </p:cBhvr>
                                      <p:to>
                                        <p:strVal val="visible"/>
                                      </p:to>
                                    </p:set>
                                    <p:animEffect transition="in" filter="wipe(left)">
                                      <p:cBhvr>
                                        <p:cTn id="7" dur="500"/>
                                        <p:tgtEl>
                                          <p:spTgt spid="4935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3590"/>
                                        </p:tgtEl>
                                        <p:attrNameLst>
                                          <p:attrName>style.visibility</p:attrName>
                                        </p:attrNameLst>
                                      </p:cBhvr>
                                      <p:to>
                                        <p:strVal val="visible"/>
                                      </p:to>
                                    </p:set>
                                    <p:animEffect transition="in" filter="wipe(left)">
                                      <p:cBhvr>
                                        <p:cTn id="12" dur="500"/>
                                        <p:tgtEl>
                                          <p:spTgt spid="4935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3571"/>
                                        </p:tgtEl>
                                        <p:attrNameLst>
                                          <p:attrName>style.visibility</p:attrName>
                                        </p:attrNameLst>
                                      </p:cBhvr>
                                      <p:to>
                                        <p:strVal val="visible"/>
                                      </p:to>
                                    </p:set>
                                    <p:animEffect transition="in" filter="wipe(left)">
                                      <p:cBhvr>
                                        <p:cTn id="17" dur="500"/>
                                        <p:tgtEl>
                                          <p:spTgt spid="4935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93587"/>
                                        </p:tgtEl>
                                        <p:attrNameLst>
                                          <p:attrName>style.visibility</p:attrName>
                                        </p:attrNameLst>
                                      </p:cBhvr>
                                      <p:to>
                                        <p:strVal val="visible"/>
                                      </p:to>
                                    </p:set>
                                    <p:animEffect transition="in" filter="wipe(left)">
                                      <p:cBhvr>
                                        <p:cTn id="22" dur="500"/>
                                        <p:tgtEl>
                                          <p:spTgt spid="4935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3586"/>
                                        </p:tgtEl>
                                        <p:attrNameLst>
                                          <p:attrName>style.visibility</p:attrName>
                                        </p:attrNameLst>
                                      </p:cBhvr>
                                      <p:to>
                                        <p:strVal val="visible"/>
                                      </p:to>
                                    </p:set>
                                    <p:animEffect transition="in" filter="wipe(left)">
                                      <p:cBhvr>
                                        <p:cTn id="27" dur="500"/>
                                        <p:tgtEl>
                                          <p:spTgt spid="493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70" grpId="0" autoUpdateAnimBg="0" build="p"/>
      <p:bldP spid="493590"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4594" name="Rectangle 2"/>
          <p:cNvSpPr>
            <a:spLocks noGrp="1" noChangeArrowheads="1"/>
          </p:cNvSpPr>
          <p:nvPr>
            <p:ph type="body" idx="1"/>
          </p:nvPr>
        </p:nvSpPr>
        <p:spPr>
          <a:xfrm>
            <a:off x="1786782" y="1885067"/>
            <a:ext cx="8453912" cy="3791133"/>
          </a:xfrm>
        </p:spPr>
        <p:txBody>
          <a:bodyPr/>
          <a:lstStyle/>
          <a:p>
            <a:pPr marL="671830" indent="-671830">
              <a:buClr>
                <a:srgbClr val="FF3300"/>
              </a:buClr>
              <a:buFontTx/>
              <a:buAutoNum type="arabicPeriod" startAt="3"/>
            </a:pPr>
            <a:r>
              <a:rPr lang="zh-CN" altLang="en-US" sz="3085" b="1"/>
              <a:t>紧前，紧后工序</a:t>
            </a:r>
            <a:r>
              <a:rPr lang="en-US" altLang="zh-CN" sz="3085" b="1">
                <a:latin typeface="Times New Roman" panose="02020603050405020304" pitchFamily="18" charset="0"/>
              </a:rPr>
              <a:t>—</a:t>
            </a:r>
            <a:r>
              <a:rPr lang="zh-CN" altLang="en-US" sz="3085" b="1"/>
              <a:t>表示工序前后衔接的逻辑关系．</a:t>
            </a:r>
            <a:endParaRPr lang="zh-CN" altLang="en-US" sz="3085" b="1"/>
          </a:p>
        </p:txBody>
      </p:sp>
      <p:grpSp>
        <p:nvGrpSpPr>
          <p:cNvPr id="494595" name="Group 3"/>
          <p:cNvGrpSpPr/>
          <p:nvPr/>
        </p:nvGrpSpPr>
        <p:grpSpPr bwMode="auto">
          <a:xfrm>
            <a:off x="3323537" y="3360562"/>
            <a:ext cx="5292884" cy="1932323"/>
            <a:chOff x="1296" y="1776"/>
            <a:chExt cx="3024" cy="1104"/>
          </a:xfrm>
        </p:grpSpPr>
        <p:grpSp>
          <p:nvGrpSpPr>
            <p:cNvPr id="494596" name="Group 4"/>
            <p:cNvGrpSpPr/>
            <p:nvPr/>
          </p:nvGrpSpPr>
          <p:grpSpPr bwMode="auto">
            <a:xfrm>
              <a:off x="1296" y="1776"/>
              <a:ext cx="3024" cy="1104"/>
              <a:chOff x="960" y="1152"/>
              <a:chExt cx="3024" cy="1104"/>
            </a:xfrm>
          </p:grpSpPr>
          <p:sp>
            <p:nvSpPr>
              <p:cNvPr id="494597" name="Oval 5"/>
              <p:cNvSpPr>
                <a:spLocks noChangeArrowheads="1"/>
              </p:cNvSpPr>
              <p:nvPr/>
            </p:nvSpPr>
            <p:spPr bwMode="auto">
              <a:xfrm>
                <a:off x="960" y="1152"/>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4598" name="Oval 6"/>
              <p:cNvSpPr>
                <a:spLocks noChangeArrowheads="1"/>
              </p:cNvSpPr>
              <p:nvPr/>
            </p:nvSpPr>
            <p:spPr bwMode="auto">
              <a:xfrm>
                <a:off x="960" y="1872"/>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4599" name="Oval 7"/>
              <p:cNvSpPr>
                <a:spLocks noChangeArrowheads="1"/>
              </p:cNvSpPr>
              <p:nvPr/>
            </p:nvSpPr>
            <p:spPr bwMode="auto">
              <a:xfrm>
                <a:off x="2256" y="1584"/>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4600" name="Oval 8"/>
              <p:cNvSpPr>
                <a:spLocks noChangeArrowheads="1"/>
              </p:cNvSpPr>
              <p:nvPr/>
            </p:nvSpPr>
            <p:spPr bwMode="auto">
              <a:xfrm>
                <a:off x="3600" y="1200"/>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4601" name="Oval 9"/>
              <p:cNvSpPr>
                <a:spLocks noChangeArrowheads="1"/>
              </p:cNvSpPr>
              <p:nvPr/>
            </p:nvSpPr>
            <p:spPr bwMode="auto">
              <a:xfrm>
                <a:off x="3600" y="1872"/>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4602" name="Line 10"/>
              <p:cNvSpPr>
                <a:spLocks noChangeShapeType="1"/>
              </p:cNvSpPr>
              <p:nvPr/>
            </p:nvSpPr>
            <p:spPr bwMode="auto">
              <a:xfrm>
                <a:off x="1344" y="1392"/>
                <a:ext cx="912" cy="288"/>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4603" name="Line 11"/>
              <p:cNvSpPr>
                <a:spLocks noChangeShapeType="1"/>
              </p:cNvSpPr>
              <p:nvPr/>
            </p:nvSpPr>
            <p:spPr bwMode="auto">
              <a:xfrm flipV="1">
                <a:off x="1344" y="1824"/>
                <a:ext cx="912" cy="192"/>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4604" name="Line 12"/>
              <p:cNvSpPr>
                <a:spLocks noChangeShapeType="1"/>
              </p:cNvSpPr>
              <p:nvPr/>
            </p:nvSpPr>
            <p:spPr bwMode="auto">
              <a:xfrm flipV="1">
                <a:off x="2640" y="1440"/>
                <a:ext cx="960" cy="24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4605" name="Line 13"/>
              <p:cNvSpPr>
                <a:spLocks noChangeShapeType="1"/>
              </p:cNvSpPr>
              <p:nvPr/>
            </p:nvSpPr>
            <p:spPr bwMode="auto">
              <a:xfrm>
                <a:off x="2640" y="1776"/>
                <a:ext cx="960" cy="24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4606" name="Rectangle 14"/>
              <p:cNvSpPr>
                <a:spLocks noChangeArrowheads="1"/>
              </p:cNvSpPr>
              <p:nvPr/>
            </p:nvSpPr>
            <p:spPr bwMode="auto">
              <a:xfrm>
                <a:off x="3024" y="1200"/>
                <a:ext cx="23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c</a:t>
                </a:r>
                <a:endParaRPr lang="en-US" altLang="zh-CN" sz="3530" b="1"/>
              </a:p>
            </p:txBody>
          </p:sp>
          <p:sp>
            <p:nvSpPr>
              <p:cNvPr id="494607" name="Rectangle 15"/>
              <p:cNvSpPr>
                <a:spLocks noChangeArrowheads="1"/>
              </p:cNvSpPr>
              <p:nvPr/>
            </p:nvSpPr>
            <p:spPr bwMode="auto">
              <a:xfrm>
                <a:off x="1728" y="1200"/>
                <a:ext cx="23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a</a:t>
                </a:r>
                <a:endParaRPr lang="en-US" altLang="zh-CN" sz="3530" b="1"/>
              </a:p>
            </p:txBody>
          </p:sp>
          <p:sp>
            <p:nvSpPr>
              <p:cNvPr id="494608" name="Rectangle 16"/>
              <p:cNvSpPr>
                <a:spLocks noChangeArrowheads="1"/>
              </p:cNvSpPr>
              <p:nvPr/>
            </p:nvSpPr>
            <p:spPr bwMode="auto">
              <a:xfrm>
                <a:off x="1536" y="1584"/>
                <a:ext cx="240"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b</a:t>
                </a:r>
                <a:endParaRPr lang="en-US" altLang="zh-CN" sz="3530" b="1"/>
              </a:p>
            </p:txBody>
          </p:sp>
          <p:sp>
            <p:nvSpPr>
              <p:cNvPr id="494609" name="Rectangle 17"/>
              <p:cNvSpPr>
                <a:spLocks noChangeArrowheads="1"/>
              </p:cNvSpPr>
              <p:nvPr/>
            </p:nvSpPr>
            <p:spPr bwMode="auto">
              <a:xfrm>
                <a:off x="3120" y="1632"/>
                <a:ext cx="240"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d</a:t>
                </a:r>
                <a:endParaRPr lang="en-US" altLang="zh-CN" sz="3530" b="1"/>
              </a:p>
            </p:txBody>
          </p:sp>
        </p:grpSp>
        <p:sp>
          <p:nvSpPr>
            <p:cNvPr id="494610" name="Rectangle 18"/>
            <p:cNvSpPr>
              <a:spLocks noChangeArrowheads="1"/>
            </p:cNvSpPr>
            <p:nvPr/>
          </p:nvSpPr>
          <p:spPr bwMode="auto">
            <a:xfrm>
              <a:off x="1392" y="1824"/>
              <a:ext cx="18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1</a:t>
              </a:r>
              <a:endParaRPr lang="en-US" altLang="zh-CN" sz="2645" i="1"/>
            </a:p>
          </p:txBody>
        </p:sp>
        <p:sp>
          <p:nvSpPr>
            <p:cNvPr id="494611" name="Rectangle 19"/>
            <p:cNvSpPr>
              <a:spLocks noChangeArrowheads="1"/>
            </p:cNvSpPr>
            <p:nvPr/>
          </p:nvSpPr>
          <p:spPr bwMode="auto">
            <a:xfrm>
              <a:off x="1344" y="2544"/>
              <a:ext cx="24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FontTx/>
                <a:buNone/>
              </a:pPr>
              <a:r>
                <a:rPr lang="en-US" altLang="zh-CN" sz="2645" i="1"/>
                <a:t>2</a:t>
              </a:r>
              <a:endParaRPr lang="en-US" altLang="zh-CN" sz="2645" i="1"/>
            </a:p>
          </p:txBody>
        </p:sp>
        <p:sp>
          <p:nvSpPr>
            <p:cNvPr id="494612" name="Rectangle 20"/>
            <p:cNvSpPr>
              <a:spLocks noChangeArrowheads="1"/>
            </p:cNvSpPr>
            <p:nvPr/>
          </p:nvSpPr>
          <p:spPr bwMode="auto">
            <a:xfrm>
              <a:off x="4032" y="1872"/>
              <a:ext cx="20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zh-CN" sz="2645" i="1"/>
                <a:t>4</a:t>
              </a:r>
              <a:endParaRPr lang="en-US" altLang="zh-CN" sz="2645" i="1"/>
            </a:p>
          </p:txBody>
        </p:sp>
        <p:sp>
          <p:nvSpPr>
            <p:cNvPr id="494613" name="Rectangle 21"/>
            <p:cNvSpPr>
              <a:spLocks noChangeArrowheads="1"/>
            </p:cNvSpPr>
            <p:nvPr/>
          </p:nvSpPr>
          <p:spPr bwMode="auto">
            <a:xfrm>
              <a:off x="4032" y="2544"/>
              <a:ext cx="21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zh-CN" sz="2645" i="1"/>
                <a:t>5</a:t>
              </a:r>
              <a:endParaRPr lang="en-US" altLang="zh-CN" sz="2645" i="1"/>
            </a:p>
          </p:txBody>
        </p:sp>
        <p:sp>
          <p:nvSpPr>
            <p:cNvPr id="494614" name="Rectangle 22"/>
            <p:cNvSpPr>
              <a:spLocks noChangeArrowheads="1"/>
            </p:cNvSpPr>
            <p:nvPr/>
          </p:nvSpPr>
          <p:spPr bwMode="auto">
            <a:xfrm>
              <a:off x="2688" y="2256"/>
              <a:ext cx="208"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3</a:t>
              </a:r>
              <a:endParaRPr lang="en-US" altLang="zh-CN" sz="2645" i="1"/>
            </a:p>
          </p:txBody>
        </p:sp>
      </p:grpSp>
      <p:sp>
        <p:nvSpPr>
          <p:cNvPr id="494615" name="Rectangle 23"/>
          <p:cNvSpPr>
            <a:spLocks noChangeArrowheads="1"/>
          </p:cNvSpPr>
          <p:nvPr/>
        </p:nvSpPr>
        <p:spPr bwMode="auto">
          <a:xfrm>
            <a:off x="2259361" y="924156"/>
            <a:ext cx="3440365" cy="63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zh-CN" altLang="en-US" sz="3530" b="1">
                <a:solidFill>
                  <a:srgbClr val="FF3300"/>
                </a:solidFill>
              </a:rPr>
              <a:t>绘制网络图规则</a:t>
            </a:r>
            <a:r>
              <a:rPr lang="en-US" altLang="zh-CN" sz="3530" b="1">
                <a:solidFill>
                  <a:srgbClr val="FF3300"/>
                </a:solidFill>
              </a:rPr>
              <a:t>:</a:t>
            </a:r>
            <a:endParaRPr lang="en-US" altLang="zh-CN" sz="3530" b="1">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4594">
                                            <p:txEl>
                                              <p:pRg st="0" end="0"/>
                                            </p:txEl>
                                          </p:spTgt>
                                        </p:tgtEl>
                                        <p:attrNameLst>
                                          <p:attrName>style.visibility</p:attrName>
                                        </p:attrNameLst>
                                      </p:cBhvr>
                                      <p:to>
                                        <p:strVal val="visible"/>
                                      </p:to>
                                    </p:set>
                                    <p:animEffect transition="in" filter="wipe(left)">
                                      <p:cBhvr>
                                        <p:cTn id="7" dur="500"/>
                                        <p:tgtEl>
                                          <p:spTgt spid="4945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94595"/>
                                        </p:tgtEl>
                                        <p:attrNameLst>
                                          <p:attrName>style.visibility</p:attrName>
                                        </p:attrNameLst>
                                      </p:cBhvr>
                                      <p:to>
                                        <p:strVal val="visible"/>
                                      </p:to>
                                    </p:set>
                                    <p:animEffect transition="in" filter="wipe(left)">
                                      <p:cBhvr>
                                        <p:cTn id="12" dur="500"/>
                                        <p:tgtEl>
                                          <p:spTgt spid="494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4" grpId="0" autoUpdateAnimBg="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p:cNvSpPr>
            <a:spLocks noGrp="1" noChangeArrowheads="1"/>
          </p:cNvSpPr>
          <p:nvPr>
            <p:ph type="body" idx="1"/>
          </p:nvPr>
        </p:nvSpPr>
        <p:spPr>
          <a:xfrm>
            <a:off x="2122837" y="1921822"/>
            <a:ext cx="7946327" cy="3791133"/>
          </a:xfrm>
        </p:spPr>
        <p:txBody>
          <a:bodyPr/>
          <a:lstStyle/>
          <a:p>
            <a:pPr marL="671830" indent="-671830">
              <a:buClr>
                <a:srgbClr val="FF3300"/>
              </a:buClr>
              <a:buFontTx/>
              <a:buAutoNum type="arabicPeriod" startAt="4"/>
            </a:pPr>
            <a:r>
              <a:rPr lang="zh-CN" altLang="en-US" sz="3085" b="1"/>
              <a:t>不允许出现回路</a:t>
            </a:r>
            <a:endParaRPr lang="zh-CN" altLang="en-US" sz="3085" b="1"/>
          </a:p>
        </p:txBody>
      </p:sp>
      <p:grpSp>
        <p:nvGrpSpPr>
          <p:cNvPr id="495619" name="Group 3"/>
          <p:cNvGrpSpPr/>
          <p:nvPr/>
        </p:nvGrpSpPr>
        <p:grpSpPr bwMode="auto">
          <a:xfrm>
            <a:off x="3407551" y="2436408"/>
            <a:ext cx="4536758" cy="3276547"/>
            <a:chOff x="1344" y="1392"/>
            <a:chExt cx="2592" cy="1872"/>
          </a:xfrm>
        </p:grpSpPr>
        <p:grpSp>
          <p:nvGrpSpPr>
            <p:cNvPr id="495620" name="Group 4"/>
            <p:cNvGrpSpPr/>
            <p:nvPr/>
          </p:nvGrpSpPr>
          <p:grpSpPr bwMode="auto">
            <a:xfrm>
              <a:off x="1344" y="1536"/>
              <a:ext cx="2592" cy="1728"/>
              <a:chOff x="1344" y="1536"/>
              <a:chExt cx="2592" cy="1728"/>
            </a:xfrm>
          </p:grpSpPr>
          <p:sp>
            <p:nvSpPr>
              <p:cNvPr id="495621" name="Oval 5"/>
              <p:cNvSpPr>
                <a:spLocks noChangeArrowheads="1"/>
              </p:cNvSpPr>
              <p:nvPr/>
            </p:nvSpPr>
            <p:spPr bwMode="auto">
              <a:xfrm>
                <a:off x="1344" y="1536"/>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5622" name="Oval 6"/>
              <p:cNvSpPr>
                <a:spLocks noChangeArrowheads="1"/>
              </p:cNvSpPr>
              <p:nvPr/>
            </p:nvSpPr>
            <p:spPr bwMode="auto">
              <a:xfrm>
                <a:off x="3504" y="1536"/>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5623" name="Rectangle 7"/>
              <p:cNvSpPr>
                <a:spLocks noChangeArrowheads="1"/>
              </p:cNvSpPr>
              <p:nvPr/>
            </p:nvSpPr>
            <p:spPr bwMode="auto">
              <a:xfrm>
                <a:off x="1440" y="1584"/>
                <a:ext cx="20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1</a:t>
                </a:r>
                <a:endParaRPr lang="en-US" altLang="zh-CN" sz="3530" b="1"/>
              </a:p>
            </p:txBody>
          </p:sp>
          <p:sp>
            <p:nvSpPr>
              <p:cNvPr id="495624" name="Rectangle 8"/>
              <p:cNvSpPr>
                <a:spLocks noChangeArrowheads="1"/>
              </p:cNvSpPr>
              <p:nvPr/>
            </p:nvSpPr>
            <p:spPr bwMode="auto">
              <a:xfrm>
                <a:off x="3600" y="1584"/>
                <a:ext cx="23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2</a:t>
                </a:r>
                <a:endParaRPr lang="en-US" altLang="zh-CN" sz="3530" b="1"/>
              </a:p>
            </p:txBody>
          </p:sp>
          <p:sp>
            <p:nvSpPr>
              <p:cNvPr id="495625" name="Oval 9"/>
              <p:cNvSpPr>
                <a:spLocks noChangeArrowheads="1"/>
              </p:cNvSpPr>
              <p:nvPr/>
            </p:nvSpPr>
            <p:spPr bwMode="auto">
              <a:xfrm>
                <a:off x="2448" y="2832"/>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5626" name="Rectangle 10"/>
              <p:cNvSpPr>
                <a:spLocks noChangeArrowheads="1"/>
              </p:cNvSpPr>
              <p:nvPr/>
            </p:nvSpPr>
            <p:spPr bwMode="auto">
              <a:xfrm>
                <a:off x="2544" y="2880"/>
                <a:ext cx="24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3</a:t>
                </a:r>
                <a:endParaRPr lang="en-US" altLang="zh-CN" sz="3530" b="1"/>
              </a:p>
            </p:txBody>
          </p:sp>
          <p:sp>
            <p:nvSpPr>
              <p:cNvPr id="495627" name="Line 11"/>
              <p:cNvSpPr>
                <a:spLocks noChangeShapeType="1"/>
              </p:cNvSpPr>
              <p:nvPr/>
            </p:nvSpPr>
            <p:spPr bwMode="auto">
              <a:xfrm flipH="1" flipV="1">
                <a:off x="1680" y="1920"/>
                <a:ext cx="816" cy="96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5628" name="Line 12"/>
              <p:cNvSpPr>
                <a:spLocks noChangeShapeType="1"/>
              </p:cNvSpPr>
              <p:nvPr/>
            </p:nvSpPr>
            <p:spPr bwMode="auto">
              <a:xfrm>
                <a:off x="1776" y="1728"/>
                <a:ext cx="1728"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5629" name="Line 13"/>
              <p:cNvSpPr>
                <a:spLocks noChangeShapeType="1"/>
              </p:cNvSpPr>
              <p:nvPr/>
            </p:nvSpPr>
            <p:spPr bwMode="auto">
              <a:xfrm flipH="1">
                <a:off x="2832" y="1968"/>
                <a:ext cx="816" cy="912"/>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95630" name="Rectangle 14"/>
            <p:cNvSpPr>
              <a:spLocks noChangeArrowheads="1"/>
            </p:cNvSpPr>
            <p:nvPr/>
          </p:nvSpPr>
          <p:spPr bwMode="auto">
            <a:xfrm>
              <a:off x="2544" y="1392"/>
              <a:ext cx="23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zh-CN" sz="3530" i="1"/>
                <a:t>a</a:t>
              </a:r>
              <a:endParaRPr lang="en-US" altLang="zh-CN" sz="3530" i="1"/>
            </a:p>
          </p:txBody>
        </p:sp>
        <p:sp>
          <p:nvSpPr>
            <p:cNvPr id="495631" name="Rectangle 15"/>
            <p:cNvSpPr>
              <a:spLocks noChangeArrowheads="1"/>
            </p:cNvSpPr>
            <p:nvPr/>
          </p:nvSpPr>
          <p:spPr bwMode="auto">
            <a:xfrm>
              <a:off x="3120" y="2064"/>
              <a:ext cx="240"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zh-CN" sz="3530" i="1"/>
                <a:t>b</a:t>
              </a:r>
              <a:endParaRPr lang="en-US" altLang="zh-CN" sz="3530" i="1"/>
            </a:p>
          </p:txBody>
        </p:sp>
        <p:sp>
          <p:nvSpPr>
            <p:cNvPr id="495632" name="Rectangle 16"/>
            <p:cNvSpPr>
              <a:spLocks noChangeArrowheads="1"/>
            </p:cNvSpPr>
            <p:nvPr/>
          </p:nvSpPr>
          <p:spPr bwMode="auto">
            <a:xfrm>
              <a:off x="2064" y="2064"/>
              <a:ext cx="23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zh-CN" sz="3530" i="1"/>
                <a:t>c</a:t>
              </a:r>
              <a:endParaRPr lang="en-US" altLang="zh-CN" sz="3530" i="1"/>
            </a:p>
          </p:txBody>
        </p:sp>
      </p:grpSp>
      <p:sp>
        <p:nvSpPr>
          <p:cNvPr id="495633" name="Rectangle 17"/>
          <p:cNvSpPr>
            <a:spLocks noChangeArrowheads="1"/>
          </p:cNvSpPr>
          <p:nvPr/>
        </p:nvSpPr>
        <p:spPr bwMode="auto">
          <a:xfrm>
            <a:off x="2434390" y="924156"/>
            <a:ext cx="3440365" cy="63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zh-CN" altLang="en-US" sz="3530" b="1">
                <a:solidFill>
                  <a:srgbClr val="FF3300"/>
                </a:solidFill>
              </a:rPr>
              <a:t>绘制网络图规则</a:t>
            </a:r>
            <a:r>
              <a:rPr lang="en-US" altLang="zh-CN" sz="3530" b="1">
                <a:solidFill>
                  <a:srgbClr val="FF3300"/>
                </a:solidFill>
              </a:rPr>
              <a:t>:</a:t>
            </a:r>
            <a:endParaRPr lang="en-US" altLang="zh-CN" sz="3530" b="1">
              <a:solidFill>
                <a:srgbClr val="FF33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body" idx="1"/>
          </p:nvPr>
        </p:nvSpPr>
        <p:spPr>
          <a:xfrm>
            <a:off x="1727270" y="1717039"/>
            <a:ext cx="7946327" cy="3791133"/>
          </a:xfrm>
        </p:spPr>
        <p:txBody>
          <a:bodyPr/>
          <a:lstStyle/>
          <a:p>
            <a:pPr marL="671830" indent="-671830">
              <a:buClr>
                <a:srgbClr val="FF3300"/>
              </a:buClr>
              <a:buFontTx/>
              <a:buAutoNum type="arabicPeriod" startAt="5"/>
            </a:pPr>
            <a:r>
              <a:rPr lang="zh-CN" altLang="en-US" sz="3085" b="1"/>
              <a:t>虚工序的运用</a:t>
            </a:r>
            <a:endParaRPr lang="zh-CN" altLang="en-US" sz="3085" b="1"/>
          </a:p>
          <a:p>
            <a:pPr marL="671830" indent="-671830">
              <a:buClr>
                <a:srgbClr val="FF3300"/>
              </a:buClr>
            </a:pPr>
            <a:endParaRPr lang="en-US" altLang="zh-CN" sz="3085" b="1"/>
          </a:p>
        </p:txBody>
      </p:sp>
      <p:grpSp>
        <p:nvGrpSpPr>
          <p:cNvPr id="496643" name="Group 3"/>
          <p:cNvGrpSpPr/>
          <p:nvPr/>
        </p:nvGrpSpPr>
        <p:grpSpPr bwMode="auto">
          <a:xfrm>
            <a:off x="4499734" y="2620189"/>
            <a:ext cx="3444575" cy="987164"/>
            <a:chOff x="2832" y="672"/>
            <a:chExt cx="1968" cy="564"/>
          </a:xfrm>
        </p:grpSpPr>
        <p:sp>
          <p:nvSpPr>
            <p:cNvPr id="496644" name="Oval 4"/>
            <p:cNvSpPr>
              <a:spLocks noChangeArrowheads="1"/>
            </p:cNvSpPr>
            <p:nvPr/>
          </p:nvSpPr>
          <p:spPr bwMode="auto">
            <a:xfrm>
              <a:off x="2832" y="672"/>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6645" name="Oval 5"/>
            <p:cNvSpPr>
              <a:spLocks noChangeArrowheads="1"/>
            </p:cNvSpPr>
            <p:nvPr/>
          </p:nvSpPr>
          <p:spPr bwMode="auto">
            <a:xfrm>
              <a:off x="4368" y="72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6646" name="Rectangle 6"/>
            <p:cNvSpPr>
              <a:spLocks noChangeArrowheads="1"/>
            </p:cNvSpPr>
            <p:nvPr/>
          </p:nvSpPr>
          <p:spPr bwMode="auto">
            <a:xfrm>
              <a:off x="2928" y="720"/>
              <a:ext cx="20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1</a:t>
              </a:r>
              <a:endParaRPr lang="en-US" altLang="zh-CN" sz="3530" b="1"/>
            </a:p>
          </p:txBody>
        </p:sp>
        <p:sp>
          <p:nvSpPr>
            <p:cNvPr id="496647" name="Rectangle 7"/>
            <p:cNvSpPr>
              <a:spLocks noChangeArrowheads="1"/>
            </p:cNvSpPr>
            <p:nvPr/>
          </p:nvSpPr>
          <p:spPr bwMode="auto">
            <a:xfrm>
              <a:off x="4464" y="768"/>
              <a:ext cx="23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2</a:t>
              </a:r>
              <a:endParaRPr lang="en-US" altLang="zh-CN" sz="3530" b="1"/>
            </a:p>
          </p:txBody>
        </p:sp>
        <p:sp>
          <p:nvSpPr>
            <p:cNvPr id="496648" name="Line 8"/>
            <p:cNvSpPr>
              <a:spLocks noChangeShapeType="1"/>
            </p:cNvSpPr>
            <p:nvPr/>
          </p:nvSpPr>
          <p:spPr bwMode="auto">
            <a:xfrm>
              <a:off x="3264" y="912"/>
              <a:ext cx="1104" cy="0"/>
            </a:xfrm>
            <a:prstGeom prst="line">
              <a:avLst/>
            </a:prstGeom>
            <a:noFill/>
            <a:ln w="15875">
              <a:solidFill>
                <a:schemeClr val="tx1"/>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6649" name="Rectangle 9"/>
            <p:cNvSpPr>
              <a:spLocks noChangeArrowheads="1"/>
            </p:cNvSpPr>
            <p:nvPr/>
          </p:nvSpPr>
          <p:spPr bwMode="auto">
            <a:xfrm>
              <a:off x="3696" y="912"/>
              <a:ext cx="227"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i="1"/>
                <a:t>0</a:t>
              </a:r>
              <a:endParaRPr lang="en-US" altLang="zh-CN" sz="3085" b="1" i="1"/>
            </a:p>
          </p:txBody>
        </p:sp>
      </p:grpSp>
      <p:sp>
        <p:nvSpPr>
          <p:cNvPr id="496650" name="Rectangle 10"/>
          <p:cNvSpPr>
            <a:spLocks noChangeArrowheads="1"/>
          </p:cNvSpPr>
          <p:nvPr/>
        </p:nvSpPr>
        <p:spPr bwMode="auto">
          <a:xfrm>
            <a:off x="2142091" y="3864647"/>
            <a:ext cx="3568606" cy="63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zh-CN" sz="3530" b="1"/>
              <a:t>①  </a:t>
            </a:r>
            <a:r>
              <a:rPr lang="zh-CN" altLang="en-US" sz="3085" b="1"/>
              <a:t>解决画法中问题</a:t>
            </a:r>
            <a:endParaRPr lang="zh-CN" altLang="en-US" sz="3085" b="1"/>
          </a:p>
        </p:txBody>
      </p:sp>
      <p:sp>
        <p:nvSpPr>
          <p:cNvPr id="496651" name="Rectangle 11"/>
          <p:cNvSpPr>
            <a:spLocks noChangeArrowheads="1"/>
          </p:cNvSpPr>
          <p:nvPr/>
        </p:nvSpPr>
        <p:spPr bwMode="auto">
          <a:xfrm>
            <a:off x="2131589" y="4620773"/>
            <a:ext cx="8568371" cy="63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zh-CN" sz="3530" b="1"/>
              <a:t>②  </a:t>
            </a:r>
            <a:r>
              <a:rPr lang="zh-CN" altLang="en-US" sz="3085" b="1"/>
              <a:t>正确表达工序的前行、后续关系</a:t>
            </a:r>
            <a:r>
              <a:rPr lang="en-US" altLang="zh-CN" sz="3085" b="1"/>
              <a:t>(</a:t>
            </a:r>
            <a:r>
              <a:rPr lang="zh-CN" altLang="en-US" sz="3085" b="1"/>
              <a:t>连结、隔离</a:t>
            </a:r>
            <a:r>
              <a:rPr lang="en-US" altLang="zh-CN" sz="3085"/>
              <a:t>)</a:t>
            </a:r>
            <a:endParaRPr lang="en-US" altLang="zh-CN" sz="3085"/>
          </a:p>
        </p:txBody>
      </p:sp>
      <p:sp>
        <p:nvSpPr>
          <p:cNvPr id="496652" name="Rectangle 12"/>
          <p:cNvSpPr>
            <a:spLocks noChangeArrowheads="1"/>
          </p:cNvSpPr>
          <p:nvPr/>
        </p:nvSpPr>
        <p:spPr bwMode="auto">
          <a:xfrm>
            <a:off x="2142092" y="5292885"/>
            <a:ext cx="3262432" cy="63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zh-CN" sz="3530" b="1"/>
              <a:t>③ </a:t>
            </a:r>
            <a:r>
              <a:rPr lang="en-US" altLang="zh-CN" sz="2645">
                <a:latin typeface="宋体" panose="02010600030101010101" pitchFamily="2" charset="-122"/>
              </a:rPr>
              <a:t> </a:t>
            </a:r>
            <a:r>
              <a:rPr lang="zh-CN" altLang="en-US" sz="3085" b="1"/>
              <a:t>表达平行作业</a:t>
            </a:r>
            <a:endParaRPr lang="zh-CN" altLang="en-US" sz="3085" b="1"/>
          </a:p>
        </p:txBody>
      </p:sp>
      <p:sp>
        <p:nvSpPr>
          <p:cNvPr id="496653" name="Rectangle 13"/>
          <p:cNvSpPr>
            <a:spLocks noChangeArrowheads="1"/>
          </p:cNvSpPr>
          <p:nvPr/>
        </p:nvSpPr>
        <p:spPr bwMode="auto">
          <a:xfrm>
            <a:off x="2749443" y="687867"/>
            <a:ext cx="3440365" cy="63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zh-CN" altLang="en-US" sz="3530" b="1">
                <a:solidFill>
                  <a:srgbClr val="FF3300"/>
                </a:solidFill>
              </a:rPr>
              <a:t>绘制网络图规则</a:t>
            </a:r>
            <a:r>
              <a:rPr lang="en-US" altLang="zh-CN" sz="3530" b="1">
                <a:solidFill>
                  <a:srgbClr val="FF3300"/>
                </a:solidFill>
              </a:rPr>
              <a:t>:</a:t>
            </a:r>
            <a:endParaRPr lang="en-US" altLang="zh-CN" sz="3530" b="1">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6643"/>
                                        </p:tgtEl>
                                        <p:attrNameLst>
                                          <p:attrName>style.visibility</p:attrName>
                                        </p:attrNameLst>
                                      </p:cBhvr>
                                      <p:to>
                                        <p:strVal val="visible"/>
                                      </p:to>
                                    </p:set>
                                    <p:animEffect transition="in" filter="wipe(left)">
                                      <p:cBhvr>
                                        <p:cTn id="7" dur="500"/>
                                        <p:tgtEl>
                                          <p:spTgt spid="4966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6650"/>
                                        </p:tgtEl>
                                        <p:attrNameLst>
                                          <p:attrName>style.visibility</p:attrName>
                                        </p:attrNameLst>
                                      </p:cBhvr>
                                      <p:to>
                                        <p:strVal val="visible"/>
                                      </p:to>
                                    </p:set>
                                    <p:animEffect transition="in" filter="wipe(left)">
                                      <p:cBhvr>
                                        <p:cTn id="12" dur="500"/>
                                        <p:tgtEl>
                                          <p:spTgt spid="4966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6651"/>
                                        </p:tgtEl>
                                        <p:attrNameLst>
                                          <p:attrName>style.visibility</p:attrName>
                                        </p:attrNameLst>
                                      </p:cBhvr>
                                      <p:to>
                                        <p:strVal val="visible"/>
                                      </p:to>
                                    </p:set>
                                    <p:animEffect transition="in" filter="wipe(left)">
                                      <p:cBhvr>
                                        <p:cTn id="17" dur="500"/>
                                        <p:tgtEl>
                                          <p:spTgt spid="4966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6652"/>
                                        </p:tgtEl>
                                        <p:attrNameLst>
                                          <p:attrName>style.visibility</p:attrName>
                                        </p:attrNameLst>
                                      </p:cBhvr>
                                      <p:to>
                                        <p:strVal val="visible"/>
                                      </p:to>
                                    </p:set>
                                    <p:animEffect transition="in" filter="wipe(left)">
                                      <p:cBhvr>
                                        <p:cTn id="22" dur="500"/>
                                        <p:tgtEl>
                                          <p:spTgt spid="496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50" grpId="0" autoUpdateAnimBg="0"/>
      <p:bldP spid="496651" grpId="0" autoUpdateAnimBg="0"/>
      <p:bldP spid="496652"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2786" name="Group 2"/>
          <p:cNvGrpSpPr/>
          <p:nvPr/>
        </p:nvGrpSpPr>
        <p:grpSpPr bwMode="auto">
          <a:xfrm>
            <a:off x="2752942" y="3540844"/>
            <a:ext cx="7109688" cy="3243291"/>
            <a:chOff x="970" y="2023"/>
            <a:chExt cx="4062" cy="1853"/>
          </a:xfrm>
        </p:grpSpPr>
        <p:sp>
          <p:nvSpPr>
            <p:cNvPr id="502787" name="Rectangle 3"/>
            <p:cNvSpPr>
              <a:spLocks noChangeArrowheads="1"/>
            </p:cNvSpPr>
            <p:nvPr/>
          </p:nvSpPr>
          <p:spPr bwMode="auto">
            <a:xfrm>
              <a:off x="970" y="2023"/>
              <a:ext cx="4062" cy="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lgn="l">
                <a:spcBef>
                  <a:spcPct val="0"/>
                </a:spcBef>
                <a:buFontTx/>
                <a:buChar char="•"/>
              </a:pPr>
              <a:endParaRPr lang="en-US" altLang="zh-CN" sz="2645" b="1"/>
            </a:p>
            <a:p>
              <a:pPr algn="l">
                <a:spcBef>
                  <a:spcPct val="0"/>
                </a:spcBef>
                <a:buFontTx/>
                <a:buNone/>
              </a:pPr>
              <a:r>
                <a:rPr lang="en-US" altLang="zh-CN" sz="2645" b="1"/>
                <a:t>② </a:t>
              </a:r>
              <a:r>
                <a:rPr lang="zh-CN" altLang="en-US" sz="2645" b="1"/>
                <a:t>四个工序</a:t>
              </a:r>
              <a:r>
                <a:rPr lang="en-US" altLang="zh-CN" sz="2645" b="1"/>
                <a:t>A</a:t>
              </a:r>
              <a:r>
                <a:rPr lang="zh-CN" altLang="en-US" sz="2645" b="1"/>
                <a:t>、</a:t>
              </a:r>
              <a:r>
                <a:rPr lang="en-US" altLang="zh-CN" sz="2645" b="1"/>
                <a:t>B</a:t>
              </a:r>
              <a:r>
                <a:rPr lang="zh-CN" altLang="en-US" sz="2645" b="1"/>
                <a:t>、</a:t>
              </a:r>
              <a:r>
                <a:rPr lang="en-US" altLang="zh-CN" sz="2645" b="1"/>
                <a:t>C</a:t>
              </a:r>
              <a:r>
                <a:rPr lang="zh-CN" altLang="en-US" sz="2645" b="1"/>
                <a:t>、</a:t>
              </a:r>
              <a:r>
                <a:rPr lang="en-US" altLang="zh-CN" sz="2645" b="1"/>
                <a:t>D</a:t>
              </a:r>
              <a:r>
                <a:rPr lang="zh-CN" altLang="en-US" sz="2645" b="1"/>
                <a:t>有如下关系：</a:t>
              </a:r>
              <a:endParaRPr lang="zh-CN" altLang="en-US" sz="2645" b="1"/>
            </a:p>
            <a:p>
              <a:pPr algn="l">
                <a:spcBef>
                  <a:spcPct val="0"/>
                </a:spcBef>
                <a:buFontTx/>
                <a:buNone/>
              </a:pPr>
              <a:r>
                <a:rPr lang="zh-CN" altLang="en-US" sz="2645" b="1"/>
                <a:t>        </a:t>
              </a:r>
              <a:r>
                <a:rPr lang="en-US" altLang="zh-CN" sz="2645" b="1"/>
                <a:t>A</a:t>
              </a:r>
              <a:r>
                <a:rPr lang="zh-CN" altLang="en-US" sz="2645" b="1"/>
                <a:t>是</a:t>
              </a:r>
              <a:r>
                <a:rPr lang="en-US" altLang="zh-CN" sz="2645" b="1"/>
                <a:t>X</a:t>
              </a:r>
              <a:r>
                <a:rPr lang="zh-CN" altLang="en-US" sz="2645" b="1"/>
                <a:t>的紧前工序，</a:t>
              </a:r>
              <a:r>
                <a:rPr lang="en-US" altLang="zh-CN" sz="2645" b="1"/>
                <a:t>A</a:t>
              </a:r>
              <a:r>
                <a:rPr lang="zh-CN" altLang="en-US" sz="2645" b="1"/>
                <a:t>和</a:t>
              </a:r>
              <a:r>
                <a:rPr lang="en-US" altLang="zh-CN" sz="2645" b="1"/>
                <a:t>B</a:t>
              </a:r>
              <a:r>
                <a:rPr lang="zh-CN" altLang="en-US" sz="2645" b="1"/>
                <a:t>同时又是</a:t>
              </a:r>
              <a:r>
                <a:rPr lang="en-US" altLang="zh-CN" sz="2645" b="1"/>
                <a:t>Y</a:t>
              </a:r>
              <a:r>
                <a:rPr lang="zh-CN" altLang="en-US" sz="2645" b="1"/>
                <a:t>的紧前工序</a:t>
              </a:r>
              <a:endParaRPr lang="zh-CN" altLang="en-US" sz="2645" b="1"/>
            </a:p>
          </p:txBody>
        </p:sp>
        <p:grpSp>
          <p:nvGrpSpPr>
            <p:cNvPr id="502788" name="Group 4"/>
            <p:cNvGrpSpPr/>
            <p:nvPr/>
          </p:nvGrpSpPr>
          <p:grpSpPr bwMode="auto">
            <a:xfrm>
              <a:off x="1405" y="2888"/>
              <a:ext cx="2050" cy="988"/>
              <a:chOff x="1405" y="1932"/>
              <a:chExt cx="2050" cy="988"/>
            </a:xfrm>
          </p:grpSpPr>
          <p:sp>
            <p:nvSpPr>
              <p:cNvPr id="502789" name="Oval 5"/>
              <p:cNvSpPr>
                <a:spLocks noChangeArrowheads="1"/>
              </p:cNvSpPr>
              <p:nvPr/>
            </p:nvSpPr>
            <p:spPr bwMode="auto">
              <a:xfrm>
                <a:off x="1410" y="2070"/>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325" dirty="0">
                    <a:solidFill>
                      <a:schemeClr val="bg1"/>
                    </a:solidFill>
                  </a:rPr>
                  <a:t>1</a:t>
                </a:r>
                <a:endParaRPr lang="en-US" altLang="zh-CN" sz="1325" dirty="0">
                  <a:solidFill>
                    <a:schemeClr val="bg1"/>
                  </a:solidFill>
                </a:endParaRPr>
              </a:p>
            </p:txBody>
          </p:sp>
          <p:sp>
            <p:nvSpPr>
              <p:cNvPr id="502790" name="Oval 6"/>
              <p:cNvSpPr>
                <a:spLocks noChangeArrowheads="1"/>
              </p:cNvSpPr>
              <p:nvPr/>
            </p:nvSpPr>
            <p:spPr bwMode="auto">
              <a:xfrm>
                <a:off x="2334" y="2070"/>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325">
                    <a:solidFill>
                      <a:schemeClr val="bg1"/>
                    </a:solidFill>
                  </a:rPr>
                  <a:t>2</a:t>
                </a:r>
                <a:endParaRPr lang="en-US" altLang="zh-CN" sz="1325">
                  <a:solidFill>
                    <a:schemeClr val="bg1"/>
                  </a:solidFill>
                </a:endParaRPr>
              </a:p>
            </p:txBody>
          </p:sp>
          <p:sp>
            <p:nvSpPr>
              <p:cNvPr id="502791" name="Oval 7"/>
              <p:cNvSpPr>
                <a:spLocks noChangeArrowheads="1"/>
              </p:cNvSpPr>
              <p:nvPr/>
            </p:nvSpPr>
            <p:spPr bwMode="auto">
              <a:xfrm>
                <a:off x="3235" y="2070"/>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325">
                    <a:solidFill>
                      <a:schemeClr val="bg1"/>
                    </a:solidFill>
                  </a:rPr>
                  <a:t>3</a:t>
                </a:r>
                <a:endParaRPr lang="en-US" altLang="zh-CN" sz="1325">
                  <a:solidFill>
                    <a:schemeClr val="bg1"/>
                  </a:solidFill>
                </a:endParaRPr>
              </a:p>
            </p:txBody>
          </p:sp>
          <p:sp>
            <p:nvSpPr>
              <p:cNvPr id="502792" name="Oval 8"/>
              <p:cNvSpPr>
                <a:spLocks noChangeArrowheads="1"/>
              </p:cNvSpPr>
              <p:nvPr/>
            </p:nvSpPr>
            <p:spPr bwMode="auto">
              <a:xfrm>
                <a:off x="1405" y="2700"/>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325">
                    <a:solidFill>
                      <a:schemeClr val="bg1"/>
                    </a:solidFill>
                  </a:rPr>
                  <a:t>4</a:t>
                </a:r>
                <a:endParaRPr lang="en-US" altLang="zh-CN" sz="1325">
                  <a:solidFill>
                    <a:schemeClr val="bg1"/>
                  </a:solidFill>
                </a:endParaRPr>
              </a:p>
            </p:txBody>
          </p:sp>
          <p:sp>
            <p:nvSpPr>
              <p:cNvPr id="502793" name="Oval 9"/>
              <p:cNvSpPr>
                <a:spLocks noChangeArrowheads="1"/>
              </p:cNvSpPr>
              <p:nvPr/>
            </p:nvSpPr>
            <p:spPr bwMode="auto">
              <a:xfrm>
                <a:off x="2334" y="2700"/>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325" dirty="0">
                    <a:solidFill>
                      <a:schemeClr val="bg1"/>
                    </a:solidFill>
                  </a:rPr>
                  <a:t>5</a:t>
                </a:r>
                <a:endParaRPr lang="en-US" altLang="zh-CN" sz="1325" dirty="0">
                  <a:solidFill>
                    <a:schemeClr val="bg1"/>
                  </a:solidFill>
                </a:endParaRPr>
              </a:p>
            </p:txBody>
          </p:sp>
          <p:sp>
            <p:nvSpPr>
              <p:cNvPr id="502794" name="Oval 10"/>
              <p:cNvSpPr>
                <a:spLocks noChangeArrowheads="1"/>
              </p:cNvSpPr>
              <p:nvPr/>
            </p:nvSpPr>
            <p:spPr bwMode="auto">
              <a:xfrm>
                <a:off x="3235" y="2700"/>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325" dirty="0">
                    <a:solidFill>
                      <a:schemeClr val="bg1"/>
                    </a:solidFill>
                  </a:rPr>
                  <a:t>6</a:t>
                </a:r>
                <a:endParaRPr lang="en-US" altLang="zh-CN" sz="1325" dirty="0">
                  <a:solidFill>
                    <a:schemeClr val="bg1"/>
                  </a:solidFill>
                </a:endParaRPr>
              </a:p>
            </p:txBody>
          </p:sp>
          <p:cxnSp>
            <p:nvCxnSpPr>
              <p:cNvPr id="502795" name="AutoShape 11"/>
              <p:cNvCxnSpPr>
                <a:cxnSpLocks noChangeShapeType="1"/>
              </p:cNvCxnSpPr>
              <p:nvPr/>
            </p:nvCxnSpPr>
            <p:spPr bwMode="auto">
              <a:xfrm>
                <a:off x="1630" y="2180"/>
                <a:ext cx="704"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2796" name="AutoShape 12"/>
              <p:cNvCxnSpPr>
                <a:cxnSpLocks noChangeShapeType="1"/>
                <a:stCxn id="502790" idx="6"/>
                <a:endCxn id="502791" idx="2"/>
              </p:cNvCxnSpPr>
              <p:nvPr/>
            </p:nvCxnSpPr>
            <p:spPr bwMode="auto">
              <a:xfrm>
                <a:off x="2554" y="2180"/>
                <a:ext cx="681"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2797" name="AutoShape 13"/>
              <p:cNvCxnSpPr>
                <a:cxnSpLocks noChangeShapeType="1"/>
                <a:stCxn id="502792" idx="6"/>
                <a:endCxn id="502793" idx="2"/>
              </p:cNvCxnSpPr>
              <p:nvPr/>
            </p:nvCxnSpPr>
            <p:spPr bwMode="auto">
              <a:xfrm>
                <a:off x="1625" y="2810"/>
                <a:ext cx="709"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2798" name="AutoShape 14"/>
              <p:cNvCxnSpPr>
                <a:cxnSpLocks noChangeShapeType="1"/>
                <a:stCxn id="502793" idx="6"/>
                <a:endCxn id="502794" idx="2"/>
              </p:cNvCxnSpPr>
              <p:nvPr/>
            </p:nvCxnSpPr>
            <p:spPr bwMode="auto">
              <a:xfrm>
                <a:off x="2554" y="2810"/>
                <a:ext cx="681"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2799" name="AutoShape 15"/>
              <p:cNvCxnSpPr>
                <a:cxnSpLocks noChangeShapeType="1"/>
                <a:stCxn id="502790" idx="4"/>
                <a:endCxn id="502793" idx="0"/>
              </p:cNvCxnSpPr>
              <p:nvPr/>
            </p:nvCxnSpPr>
            <p:spPr bwMode="auto">
              <a:xfrm>
                <a:off x="2444" y="2290"/>
                <a:ext cx="0" cy="410"/>
              </a:xfrm>
              <a:prstGeom prst="straightConnector1">
                <a:avLst/>
              </a:prstGeom>
              <a:noFill/>
              <a:ln w="952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2800" name="Rectangle 16"/>
              <p:cNvSpPr>
                <a:spLocks noChangeArrowheads="1"/>
              </p:cNvSpPr>
              <p:nvPr/>
            </p:nvSpPr>
            <p:spPr bwMode="auto">
              <a:xfrm>
                <a:off x="1953" y="1932"/>
                <a:ext cx="99"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spcBef>
                    <a:spcPct val="0"/>
                  </a:spcBef>
                  <a:buFontTx/>
                  <a:buNone/>
                </a:pPr>
                <a:r>
                  <a:rPr lang="en-US" altLang="zh-CN" sz="2645" b="1"/>
                  <a:t>A</a:t>
                </a:r>
                <a:endParaRPr lang="en-US" altLang="zh-CN" sz="2645" b="1"/>
              </a:p>
            </p:txBody>
          </p:sp>
          <p:sp>
            <p:nvSpPr>
              <p:cNvPr id="502801" name="Rectangle 17"/>
              <p:cNvSpPr>
                <a:spLocks noChangeArrowheads="1"/>
              </p:cNvSpPr>
              <p:nvPr/>
            </p:nvSpPr>
            <p:spPr bwMode="auto">
              <a:xfrm>
                <a:off x="1944" y="2608"/>
                <a:ext cx="107"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spcBef>
                    <a:spcPct val="0"/>
                  </a:spcBef>
                  <a:buFontTx/>
                  <a:buNone/>
                </a:pPr>
                <a:r>
                  <a:rPr lang="en-US" altLang="zh-CN" sz="2645" b="1"/>
                  <a:t>B</a:t>
                </a:r>
                <a:endParaRPr lang="en-US" altLang="zh-CN" sz="2645" b="1"/>
              </a:p>
            </p:txBody>
          </p:sp>
          <p:sp>
            <p:nvSpPr>
              <p:cNvPr id="502802" name="Rectangle 18"/>
              <p:cNvSpPr>
                <a:spLocks noChangeArrowheads="1"/>
              </p:cNvSpPr>
              <p:nvPr/>
            </p:nvSpPr>
            <p:spPr bwMode="auto">
              <a:xfrm>
                <a:off x="2876" y="1950"/>
                <a:ext cx="93"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spcBef>
                    <a:spcPct val="0"/>
                  </a:spcBef>
                  <a:buFontTx/>
                  <a:buNone/>
                </a:pPr>
                <a:r>
                  <a:rPr lang="en-US" altLang="zh-CN" sz="2645" b="1"/>
                  <a:t>X</a:t>
                </a:r>
                <a:endParaRPr lang="en-US" altLang="zh-CN" sz="2645" b="1"/>
              </a:p>
            </p:txBody>
          </p:sp>
          <p:sp>
            <p:nvSpPr>
              <p:cNvPr id="502803" name="Rectangle 19"/>
              <p:cNvSpPr>
                <a:spLocks noChangeArrowheads="1"/>
              </p:cNvSpPr>
              <p:nvPr/>
            </p:nvSpPr>
            <p:spPr bwMode="auto">
              <a:xfrm>
                <a:off x="2886" y="2599"/>
                <a:ext cx="92"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spcBef>
                    <a:spcPct val="0"/>
                  </a:spcBef>
                  <a:buFontTx/>
                  <a:buNone/>
                </a:pPr>
                <a:r>
                  <a:rPr lang="en-US" altLang="zh-CN" sz="2645" b="1"/>
                  <a:t>Y</a:t>
                </a:r>
                <a:endParaRPr lang="en-US" altLang="zh-CN" sz="2645" b="1"/>
              </a:p>
            </p:txBody>
          </p:sp>
          <p:sp>
            <p:nvSpPr>
              <p:cNvPr id="502804" name="Rectangle 20"/>
              <p:cNvSpPr>
                <a:spLocks noChangeArrowheads="1"/>
              </p:cNvSpPr>
              <p:nvPr/>
            </p:nvSpPr>
            <p:spPr bwMode="auto">
              <a:xfrm>
                <a:off x="2429" y="2300"/>
                <a:ext cx="175"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spcBef>
                    <a:spcPct val="0"/>
                  </a:spcBef>
                  <a:buFontTx/>
                  <a:buNone/>
                </a:pPr>
                <a:r>
                  <a:rPr lang="en-US" altLang="zh-CN" sz="2645" b="1"/>
                  <a:t>A </a:t>
                </a:r>
                <a:r>
                  <a:rPr lang="en-US" altLang="zh-CN" sz="3085" b="1">
                    <a:cs typeface="Tahoma" panose="020B0604030504040204" pitchFamily="34" charset="0"/>
                  </a:rPr>
                  <a:t>'</a:t>
                </a:r>
                <a:endParaRPr lang="en-US" altLang="zh-CN" sz="3085" b="1">
                  <a:cs typeface="Tahoma" panose="020B0604030504040204" pitchFamily="34" charset="0"/>
                </a:endParaRPr>
              </a:p>
            </p:txBody>
          </p:sp>
        </p:grpSp>
        <p:sp>
          <p:nvSpPr>
            <p:cNvPr id="502805" name="AutoShape 21"/>
            <p:cNvSpPr>
              <a:spLocks noChangeArrowheads="1"/>
            </p:cNvSpPr>
            <p:nvPr/>
          </p:nvSpPr>
          <p:spPr bwMode="auto">
            <a:xfrm>
              <a:off x="4197" y="3053"/>
              <a:ext cx="644" cy="502"/>
            </a:xfrm>
            <a:prstGeom prst="wedgeRoundRectCallout">
              <a:avLst>
                <a:gd name="adj1" fmla="val -323449"/>
                <a:gd name="adj2" fmla="val 102389"/>
                <a:gd name="adj3" fmla="val 16667"/>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nchor="ctr"/>
            <a:lstStyle/>
            <a:p>
              <a:pPr>
                <a:spcBef>
                  <a:spcPct val="0"/>
                </a:spcBef>
                <a:buFontTx/>
                <a:buNone/>
              </a:pPr>
              <a:r>
                <a:rPr lang="zh-CN" altLang="en-US" sz="2645" b="1"/>
                <a:t>虚工序</a:t>
              </a:r>
              <a:endParaRPr lang="zh-CN" altLang="en-US" sz="2645" b="1"/>
            </a:p>
          </p:txBody>
        </p:sp>
      </p:grpSp>
      <p:sp>
        <p:nvSpPr>
          <p:cNvPr id="502806" name="Rectangle 22"/>
          <p:cNvSpPr>
            <a:spLocks noChangeArrowheads="1"/>
          </p:cNvSpPr>
          <p:nvPr/>
        </p:nvSpPr>
        <p:spPr bwMode="auto">
          <a:xfrm>
            <a:off x="2565663" y="719372"/>
            <a:ext cx="4137351"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r>
              <a:rPr lang="en-US" altLang="zh-CN" sz="2645" b="1">
                <a:solidFill>
                  <a:schemeClr val="hlink"/>
                </a:solidFill>
              </a:rPr>
              <a:t> </a:t>
            </a:r>
            <a:r>
              <a:rPr lang="zh-CN" altLang="en-US" sz="2645" b="1">
                <a:solidFill>
                  <a:schemeClr val="hlink"/>
                </a:solidFill>
              </a:rPr>
              <a:t>两种情况需要引入虚工序：</a:t>
            </a:r>
            <a:endParaRPr lang="zh-CN" altLang="en-US" sz="2645" b="1">
              <a:solidFill>
                <a:schemeClr val="hlink"/>
              </a:solidFill>
            </a:endParaRPr>
          </a:p>
        </p:txBody>
      </p:sp>
      <p:grpSp>
        <p:nvGrpSpPr>
          <p:cNvPr id="502807" name="Group 23"/>
          <p:cNvGrpSpPr/>
          <p:nvPr/>
        </p:nvGrpSpPr>
        <p:grpSpPr bwMode="auto">
          <a:xfrm>
            <a:off x="2948975" y="1356478"/>
            <a:ext cx="7815055" cy="2184365"/>
            <a:chOff x="1082" y="775"/>
            <a:chExt cx="4465" cy="1248"/>
          </a:xfrm>
        </p:grpSpPr>
        <p:grpSp>
          <p:nvGrpSpPr>
            <p:cNvPr id="502808" name="Group 24"/>
            <p:cNvGrpSpPr/>
            <p:nvPr/>
          </p:nvGrpSpPr>
          <p:grpSpPr bwMode="auto">
            <a:xfrm>
              <a:off x="1207" y="991"/>
              <a:ext cx="1144" cy="979"/>
              <a:chOff x="1420" y="2974"/>
              <a:chExt cx="1144" cy="979"/>
            </a:xfrm>
          </p:grpSpPr>
          <p:sp>
            <p:nvSpPr>
              <p:cNvPr id="502809" name="Oval 25"/>
              <p:cNvSpPr>
                <a:spLocks noChangeArrowheads="1"/>
              </p:cNvSpPr>
              <p:nvPr/>
            </p:nvSpPr>
            <p:spPr bwMode="auto">
              <a:xfrm>
                <a:off x="1420" y="3423"/>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545" dirty="0">
                    <a:solidFill>
                      <a:schemeClr val="bg1"/>
                    </a:solidFill>
                  </a:rPr>
                  <a:t>1</a:t>
                </a:r>
                <a:endParaRPr lang="en-US" altLang="zh-CN" sz="1545" dirty="0">
                  <a:solidFill>
                    <a:schemeClr val="bg1"/>
                  </a:solidFill>
                </a:endParaRPr>
              </a:p>
            </p:txBody>
          </p:sp>
          <p:sp>
            <p:nvSpPr>
              <p:cNvPr id="502810" name="Oval 26"/>
              <p:cNvSpPr>
                <a:spLocks noChangeArrowheads="1"/>
              </p:cNvSpPr>
              <p:nvPr/>
            </p:nvSpPr>
            <p:spPr bwMode="auto">
              <a:xfrm>
                <a:off x="2344" y="3423"/>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545">
                    <a:solidFill>
                      <a:schemeClr val="bg1"/>
                    </a:solidFill>
                  </a:rPr>
                  <a:t>2</a:t>
                </a:r>
                <a:endParaRPr lang="en-US" altLang="zh-CN" sz="1545">
                  <a:solidFill>
                    <a:schemeClr val="bg1"/>
                  </a:solidFill>
                </a:endParaRPr>
              </a:p>
            </p:txBody>
          </p:sp>
          <p:cxnSp>
            <p:nvCxnSpPr>
              <p:cNvPr id="502811" name="AutoShape 27"/>
              <p:cNvCxnSpPr>
                <a:cxnSpLocks noChangeShapeType="1"/>
                <a:stCxn id="502809" idx="0"/>
                <a:endCxn id="502810" idx="1"/>
              </p:cNvCxnSpPr>
              <p:nvPr/>
            </p:nvCxnSpPr>
            <p:spPr bwMode="auto">
              <a:xfrm rot="5400000" flipV="1">
                <a:off x="1937" y="3016"/>
                <a:ext cx="32" cy="846"/>
              </a:xfrm>
              <a:prstGeom prst="curvedConnector3">
                <a:avLst>
                  <a:gd name="adj1" fmla="val -737505"/>
                </a:avLst>
              </a:prstGeom>
              <a:noFill/>
              <a:ln w="31750">
                <a:solidFill>
                  <a:srgbClr val="0000FF"/>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2812" name="AutoShape 28"/>
              <p:cNvCxnSpPr>
                <a:cxnSpLocks noChangeShapeType="1"/>
              </p:cNvCxnSpPr>
              <p:nvPr/>
            </p:nvCxnSpPr>
            <p:spPr bwMode="auto">
              <a:xfrm rot="16200000" flipH="1">
                <a:off x="1973" y="3179"/>
                <a:ext cx="1" cy="924"/>
              </a:xfrm>
              <a:prstGeom prst="curvedConnector3">
                <a:avLst>
                  <a:gd name="adj1" fmla="val 24399995"/>
                </a:avLst>
              </a:prstGeom>
              <a:noFill/>
              <a:ln w="31750">
                <a:solidFill>
                  <a:srgbClr val="0000FF"/>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2813" name="Text Box 29"/>
              <p:cNvSpPr txBox="1">
                <a:spLocks noChangeArrowheads="1"/>
              </p:cNvSpPr>
              <p:nvPr/>
            </p:nvSpPr>
            <p:spPr bwMode="auto">
              <a:xfrm>
                <a:off x="1867" y="2974"/>
                <a:ext cx="21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en-US" altLang="zh-CN" sz="2645" b="1"/>
                  <a:t>A</a:t>
                </a:r>
                <a:endParaRPr lang="en-US" altLang="zh-CN" sz="2645" b="1"/>
              </a:p>
            </p:txBody>
          </p:sp>
          <p:sp>
            <p:nvSpPr>
              <p:cNvPr id="502814" name="Text Box 30"/>
              <p:cNvSpPr txBox="1">
                <a:spLocks noChangeArrowheads="1"/>
              </p:cNvSpPr>
              <p:nvPr/>
            </p:nvSpPr>
            <p:spPr bwMode="auto">
              <a:xfrm>
                <a:off x="1867" y="3675"/>
                <a:ext cx="21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en-US" altLang="zh-CN" sz="2645" b="1"/>
                  <a:t>B</a:t>
                </a:r>
                <a:endParaRPr lang="en-US" altLang="zh-CN" sz="2645" b="1"/>
              </a:p>
            </p:txBody>
          </p:sp>
        </p:grpSp>
        <p:sp>
          <p:nvSpPr>
            <p:cNvPr id="502815" name="Oval 31"/>
            <p:cNvSpPr>
              <a:spLocks noChangeArrowheads="1"/>
            </p:cNvSpPr>
            <p:nvPr/>
          </p:nvSpPr>
          <p:spPr bwMode="auto">
            <a:xfrm>
              <a:off x="3342" y="1418"/>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545">
                  <a:solidFill>
                    <a:schemeClr val="bg1"/>
                  </a:solidFill>
                </a:rPr>
                <a:t>1</a:t>
              </a:r>
              <a:endParaRPr lang="en-US" altLang="zh-CN" sz="1545">
                <a:solidFill>
                  <a:schemeClr val="bg1"/>
                </a:solidFill>
              </a:endParaRPr>
            </a:p>
          </p:txBody>
        </p:sp>
        <p:sp>
          <p:nvSpPr>
            <p:cNvPr id="502816" name="Oval 32"/>
            <p:cNvSpPr>
              <a:spLocks noChangeArrowheads="1"/>
            </p:cNvSpPr>
            <p:nvPr/>
          </p:nvSpPr>
          <p:spPr bwMode="auto">
            <a:xfrm>
              <a:off x="4266" y="1418"/>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545">
                  <a:solidFill>
                    <a:schemeClr val="bg1"/>
                  </a:solidFill>
                </a:rPr>
                <a:t>2</a:t>
              </a:r>
              <a:endParaRPr lang="en-US" altLang="zh-CN" sz="1545">
                <a:solidFill>
                  <a:schemeClr val="bg1"/>
                </a:solidFill>
              </a:endParaRPr>
            </a:p>
          </p:txBody>
        </p:sp>
        <p:cxnSp>
          <p:nvCxnSpPr>
            <p:cNvPr id="502817" name="AutoShape 33"/>
            <p:cNvCxnSpPr>
              <a:cxnSpLocks noChangeShapeType="1"/>
              <a:stCxn id="502815" idx="0"/>
              <a:endCxn id="502816" idx="1"/>
            </p:cNvCxnSpPr>
            <p:nvPr/>
          </p:nvCxnSpPr>
          <p:spPr bwMode="auto">
            <a:xfrm rot="5400000" flipV="1">
              <a:off x="3859" y="1011"/>
              <a:ext cx="32" cy="846"/>
            </a:xfrm>
            <a:prstGeom prst="curvedConnector3">
              <a:avLst>
                <a:gd name="adj1" fmla="val -450000"/>
              </a:avLst>
            </a:prstGeom>
            <a:noFill/>
            <a:ln w="31750">
              <a:solidFill>
                <a:srgbClr val="0000FF"/>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2818" name="Text Box 34"/>
            <p:cNvSpPr txBox="1">
              <a:spLocks noChangeArrowheads="1"/>
            </p:cNvSpPr>
            <p:nvPr/>
          </p:nvSpPr>
          <p:spPr bwMode="auto">
            <a:xfrm>
              <a:off x="3777" y="996"/>
              <a:ext cx="21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en-US" altLang="zh-CN" sz="2645" b="1"/>
                <a:t>A</a:t>
              </a:r>
              <a:endParaRPr lang="en-US" altLang="zh-CN" sz="2645" b="1"/>
            </a:p>
          </p:txBody>
        </p:sp>
        <p:sp>
          <p:nvSpPr>
            <p:cNvPr id="502819" name="Oval 35"/>
            <p:cNvSpPr>
              <a:spLocks noChangeArrowheads="1"/>
            </p:cNvSpPr>
            <p:nvPr/>
          </p:nvSpPr>
          <p:spPr bwMode="auto">
            <a:xfrm>
              <a:off x="3719" y="1803"/>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545">
                  <a:solidFill>
                    <a:schemeClr val="bg1"/>
                  </a:solidFill>
                </a:rPr>
                <a:t>3</a:t>
              </a:r>
              <a:endParaRPr lang="en-US" altLang="zh-CN" sz="1545">
                <a:solidFill>
                  <a:schemeClr val="bg1"/>
                </a:solidFill>
              </a:endParaRPr>
            </a:p>
          </p:txBody>
        </p:sp>
        <p:cxnSp>
          <p:nvCxnSpPr>
            <p:cNvPr id="502820" name="AutoShape 36"/>
            <p:cNvCxnSpPr>
              <a:cxnSpLocks noChangeShapeType="1"/>
              <a:stCxn id="502815" idx="5"/>
              <a:endCxn id="502819" idx="1"/>
            </p:cNvCxnSpPr>
            <p:nvPr/>
          </p:nvCxnSpPr>
          <p:spPr bwMode="auto">
            <a:xfrm>
              <a:off x="3530" y="1606"/>
              <a:ext cx="221" cy="229"/>
            </a:xfrm>
            <a:prstGeom prst="straightConnector1">
              <a:avLst/>
            </a:prstGeom>
            <a:noFill/>
            <a:ln w="31750">
              <a:solidFill>
                <a:srgbClr val="0000FF"/>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2821" name="AutoShape 37"/>
            <p:cNvCxnSpPr>
              <a:cxnSpLocks noChangeShapeType="1"/>
              <a:stCxn id="502819" idx="7"/>
              <a:endCxn id="502816" idx="3"/>
            </p:cNvCxnSpPr>
            <p:nvPr/>
          </p:nvCxnSpPr>
          <p:spPr bwMode="auto">
            <a:xfrm flipV="1">
              <a:off x="3907" y="1606"/>
              <a:ext cx="391" cy="229"/>
            </a:xfrm>
            <a:prstGeom prst="straightConnector1">
              <a:avLst/>
            </a:prstGeom>
            <a:noFill/>
            <a:ln w="31750">
              <a:solidFill>
                <a:srgbClr val="0000FF"/>
              </a:solidFill>
              <a:prstDash val="dash"/>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2822" name="Text Box 38"/>
            <p:cNvSpPr txBox="1">
              <a:spLocks noChangeArrowheads="1"/>
            </p:cNvSpPr>
            <p:nvPr/>
          </p:nvSpPr>
          <p:spPr bwMode="auto">
            <a:xfrm>
              <a:off x="3423" y="1697"/>
              <a:ext cx="21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en-US" altLang="zh-CN" sz="2645" b="1"/>
                <a:t>B</a:t>
              </a:r>
              <a:endParaRPr lang="en-US" altLang="zh-CN" sz="2645" b="1"/>
            </a:p>
          </p:txBody>
        </p:sp>
        <p:sp>
          <p:nvSpPr>
            <p:cNvPr id="502823" name="AutoShape 39"/>
            <p:cNvSpPr>
              <a:spLocks noChangeArrowheads="1"/>
            </p:cNvSpPr>
            <p:nvPr/>
          </p:nvSpPr>
          <p:spPr bwMode="auto">
            <a:xfrm>
              <a:off x="2448" y="1507"/>
              <a:ext cx="814" cy="153"/>
            </a:xfrm>
            <a:prstGeom prst="rightArrow">
              <a:avLst>
                <a:gd name="adj1" fmla="val 50000"/>
                <a:gd name="adj2" fmla="val 13300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nchor="ctr"/>
            <a:lstStyle/>
            <a:p>
              <a:endParaRPr lang="zh-CN" altLang="en-US"/>
            </a:p>
          </p:txBody>
        </p:sp>
        <p:sp>
          <p:nvSpPr>
            <p:cNvPr id="502824" name="AutoShape 40"/>
            <p:cNvSpPr>
              <a:spLocks noChangeArrowheads="1"/>
            </p:cNvSpPr>
            <p:nvPr/>
          </p:nvSpPr>
          <p:spPr bwMode="auto">
            <a:xfrm>
              <a:off x="4903" y="799"/>
              <a:ext cx="644" cy="502"/>
            </a:xfrm>
            <a:prstGeom prst="wedgeRoundRectCallout">
              <a:avLst>
                <a:gd name="adj1" fmla="val -174532"/>
                <a:gd name="adj2" fmla="val 130477"/>
                <a:gd name="adj3" fmla="val 16667"/>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nchor="ctr"/>
            <a:lstStyle/>
            <a:p>
              <a:pPr>
                <a:spcBef>
                  <a:spcPct val="0"/>
                </a:spcBef>
                <a:buFontTx/>
                <a:buNone/>
              </a:pPr>
              <a:r>
                <a:rPr lang="zh-CN" altLang="en-US" sz="1545" b="1"/>
                <a:t>虚工序</a:t>
              </a:r>
              <a:endParaRPr lang="zh-CN" altLang="en-US" sz="1545" b="1"/>
            </a:p>
          </p:txBody>
        </p:sp>
        <p:sp>
          <p:nvSpPr>
            <p:cNvPr id="502825" name="Rectangle 41"/>
            <p:cNvSpPr>
              <a:spLocks noChangeArrowheads="1"/>
            </p:cNvSpPr>
            <p:nvPr/>
          </p:nvSpPr>
          <p:spPr bwMode="auto">
            <a:xfrm>
              <a:off x="1082" y="775"/>
              <a:ext cx="3186"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lgn="l">
                <a:spcBef>
                  <a:spcPct val="0"/>
                </a:spcBef>
                <a:buFontTx/>
                <a:buNone/>
              </a:pPr>
              <a:r>
                <a:rPr lang="en-US" altLang="zh-CN" sz="2645" b="1"/>
                <a:t> ① </a:t>
              </a:r>
              <a:r>
                <a:rPr lang="zh-CN" altLang="en-US" sz="2645" b="1"/>
                <a:t>两个工序</a:t>
              </a:r>
              <a:r>
                <a:rPr lang="en-US" altLang="zh-CN" sz="2645" b="1"/>
                <a:t>A</a:t>
              </a:r>
              <a:r>
                <a:rPr lang="zh-CN" altLang="en-US" sz="2645" b="1"/>
                <a:t>、</a:t>
              </a:r>
              <a:r>
                <a:rPr lang="en-US" altLang="zh-CN" sz="2645" b="1"/>
                <a:t>B</a:t>
              </a:r>
              <a:r>
                <a:rPr lang="zh-CN" altLang="en-US" sz="2645" b="1"/>
                <a:t>有相同的始点和终点</a:t>
              </a:r>
              <a:endParaRPr lang="zh-CN" altLang="en-US" sz="2645" b="1"/>
            </a:p>
          </p:txBody>
        </p:sp>
        <p:sp>
          <p:nvSpPr>
            <p:cNvPr id="502826" name="Text Box 42"/>
            <p:cNvSpPr txBox="1">
              <a:spLocks noChangeArrowheads="1"/>
            </p:cNvSpPr>
            <p:nvPr/>
          </p:nvSpPr>
          <p:spPr bwMode="auto">
            <a:xfrm>
              <a:off x="4052" y="1697"/>
              <a:ext cx="434"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en-US" altLang="zh-CN" sz="2645" b="1"/>
                <a:t>B </a:t>
              </a:r>
              <a:r>
                <a:rPr lang="en-US" altLang="zh-CN" sz="3085" b="1">
                  <a:cs typeface="Tahoma" panose="020B0604030504040204" pitchFamily="34" charset="0"/>
                </a:rPr>
                <a:t>'</a:t>
              </a:r>
              <a:endParaRPr lang="en-US" altLang="zh-CN" sz="3085" b="1">
                <a:cs typeface="Tahoma" panose="020B060403050404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2807"/>
                                        </p:tgtEl>
                                        <p:attrNameLst>
                                          <p:attrName>style.visibility</p:attrName>
                                        </p:attrNameLst>
                                      </p:cBhvr>
                                      <p:to>
                                        <p:strVal val="visible"/>
                                      </p:to>
                                    </p:set>
                                    <p:animEffect transition="in" filter="wipe(left)">
                                      <p:cBhvr>
                                        <p:cTn id="7" dur="500"/>
                                        <p:tgtEl>
                                          <p:spTgt spid="5028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02786"/>
                                        </p:tgtEl>
                                        <p:attrNameLst>
                                          <p:attrName>style.visibility</p:attrName>
                                        </p:attrNameLst>
                                      </p:cBhvr>
                                      <p:to>
                                        <p:strVal val="visible"/>
                                      </p:to>
                                    </p:set>
                                    <p:animEffect transition="in" filter="wipe(left)">
                                      <p:cBhvr>
                                        <p:cTn id="12" dur="500"/>
                                        <p:tgtEl>
                                          <p:spTgt spid="502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ChangeArrowheads="1"/>
          </p:cNvSpPr>
          <p:nvPr/>
        </p:nvSpPr>
        <p:spPr bwMode="auto">
          <a:xfrm>
            <a:off x="2378381" y="588100"/>
            <a:ext cx="8406654" cy="1042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buFontTx/>
              <a:buNone/>
            </a:pPr>
            <a:r>
              <a:rPr lang="zh-CN" altLang="en-US" sz="3085"/>
              <a:t>例</a:t>
            </a:r>
            <a:r>
              <a:rPr lang="en-US" altLang="zh-CN" sz="3085"/>
              <a:t>1</a:t>
            </a:r>
            <a:r>
              <a:rPr lang="zh-CN" altLang="en-US" sz="3085"/>
              <a:t>、</a:t>
            </a:r>
            <a:r>
              <a:rPr lang="en-US" altLang="zh-CN" sz="3085" b="1" i="1"/>
              <a:t>a, b, c, d,</a:t>
            </a:r>
            <a:r>
              <a:rPr lang="en-US" altLang="zh-CN" sz="3085" b="1"/>
              <a:t> </a:t>
            </a:r>
            <a:r>
              <a:rPr lang="zh-CN" altLang="en-US" sz="3085" b="1"/>
              <a:t>四道工序，</a:t>
            </a:r>
            <a:r>
              <a:rPr lang="en-US" altLang="zh-CN" sz="3085" b="1" i="1"/>
              <a:t>c</a:t>
            </a:r>
            <a:r>
              <a:rPr lang="zh-CN" altLang="en-US" sz="3085" b="1"/>
              <a:t>在 </a:t>
            </a:r>
            <a:r>
              <a:rPr lang="en-US" altLang="zh-CN" sz="3085" b="1" i="1"/>
              <a:t>a</a:t>
            </a:r>
            <a:r>
              <a:rPr lang="en-US" altLang="zh-CN" sz="3085" b="1"/>
              <a:t>,</a:t>
            </a:r>
            <a:r>
              <a:rPr lang="en-US" altLang="zh-CN" sz="3085" b="1" i="1"/>
              <a:t> b</a:t>
            </a:r>
            <a:r>
              <a:rPr lang="zh-CN" altLang="en-US" sz="3085" b="1"/>
              <a:t>完工后开始，　　</a:t>
            </a:r>
            <a:r>
              <a:rPr lang="en-US" altLang="zh-CN" sz="3085" b="1" i="1"/>
              <a:t>d</a:t>
            </a:r>
            <a:r>
              <a:rPr lang="zh-CN" altLang="en-US" sz="3085" b="1"/>
              <a:t>在 </a:t>
            </a:r>
            <a:r>
              <a:rPr lang="en-US" altLang="zh-CN" sz="3085" b="1" i="1"/>
              <a:t>b</a:t>
            </a:r>
            <a:r>
              <a:rPr lang="zh-CN" altLang="en-US" sz="3085" b="1"/>
              <a:t>完工后开始。</a:t>
            </a:r>
            <a:endParaRPr lang="zh-CN" altLang="en-US" sz="3085" b="1"/>
          </a:p>
        </p:txBody>
      </p:sp>
      <p:grpSp>
        <p:nvGrpSpPr>
          <p:cNvPr id="497667" name="Group 3"/>
          <p:cNvGrpSpPr/>
          <p:nvPr/>
        </p:nvGrpSpPr>
        <p:grpSpPr bwMode="auto">
          <a:xfrm>
            <a:off x="3071495" y="1848309"/>
            <a:ext cx="5292884" cy="1932323"/>
            <a:chOff x="1152" y="1056"/>
            <a:chExt cx="3024" cy="1104"/>
          </a:xfrm>
        </p:grpSpPr>
        <p:grpSp>
          <p:nvGrpSpPr>
            <p:cNvPr id="497668" name="Group 4"/>
            <p:cNvGrpSpPr/>
            <p:nvPr/>
          </p:nvGrpSpPr>
          <p:grpSpPr bwMode="auto">
            <a:xfrm>
              <a:off x="1152" y="1056"/>
              <a:ext cx="3024" cy="1104"/>
              <a:chOff x="960" y="1152"/>
              <a:chExt cx="3024" cy="1104"/>
            </a:xfrm>
          </p:grpSpPr>
          <p:sp>
            <p:nvSpPr>
              <p:cNvPr id="497669" name="Oval 5"/>
              <p:cNvSpPr>
                <a:spLocks noChangeArrowheads="1"/>
              </p:cNvSpPr>
              <p:nvPr/>
            </p:nvSpPr>
            <p:spPr bwMode="auto">
              <a:xfrm>
                <a:off x="960" y="1152"/>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70" name="Oval 6"/>
              <p:cNvSpPr>
                <a:spLocks noChangeArrowheads="1"/>
              </p:cNvSpPr>
              <p:nvPr/>
            </p:nvSpPr>
            <p:spPr bwMode="auto">
              <a:xfrm>
                <a:off x="960" y="1872"/>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71" name="Oval 7"/>
              <p:cNvSpPr>
                <a:spLocks noChangeArrowheads="1"/>
              </p:cNvSpPr>
              <p:nvPr/>
            </p:nvSpPr>
            <p:spPr bwMode="auto">
              <a:xfrm>
                <a:off x="2256" y="1584"/>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72" name="Oval 8"/>
              <p:cNvSpPr>
                <a:spLocks noChangeArrowheads="1"/>
              </p:cNvSpPr>
              <p:nvPr/>
            </p:nvSpPr>
            <p:spPr bwMode="auto">
              <a:xfrm>
                <a:off x="3600" y="1200"/>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73" name="Oval 9"/>
              <p:cNvSpPr>
                <a:spLocks noChangeArrowheads="1"/>
              </p:cNvSpPr>
              <p:nvPr/>
            </p:nvSpPr>
            <p:spPr bwMode="auto">
              <a:xfrm>
                <a:off x="3600" y="1872"/>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74" name="Line 10"/>
              <p:cNvSpPr>
                <a:spLocks noChangeShapeType="1"/>
              </p:cNvSpPr>
              <p:nvPr/>
            </p:nvSpPr>
            <p:spPr bwMode="auto">
              <a:xfrm>
                <a:off x="1344" y="1392"/>
                <a:ext cx="912" cy="288"/>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75" name="Line 11"/>
              <p:cNvSpPr>
                <a:spLocks noChangeShapeType="1"/>
              </p:cNvSpPr>
              <p:nvPr/>
            </p:nvSpPr>
            <p:spPr bwMode="auto">
              <a:xfrm flipV="1">
                <a:off x="1344" y="1824"/>
                <a:ext cx="912" cy="192"/>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76" name="Line 12"/>
              <p:cNvSpPr>
                <a:spLocks noChangeShapeType="1"/>
              </p:cNvSpPr>
              <p:nvPr/>
            </p:nvSpPr>
            <p:spPr bwMode="auto">
              <a:xfrm flipV="1">
                <a:off x="2640" y="1440"/>
                <a:ext cx="960" cy="24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77" name="Line 13"/>
              <p:cNvSpPr>
                <a:spLocks noChangeShapeType="1"/>
              </p:cNvSpPr>
              <p:nvPr/>
            </p:nvSpPr>
            <p:spPr bwMode="auto">
              <a:xfrm>
                <a:off x="2640" y="1776"/>
                <a:ext cx="960" cy="24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78" name="Rectangle 14"/>
              <p:cNvSpPr>
                <a:spLocks noChangeArrowheads="1"/>
              </p:cNvSpPr>
              <p:nvPr/>
            </p:nvSpPr>
            <p:spPr bwMode="auto">
              <a:xfrm>
                <a:off x="3024" y="1200"/>
                <a:ext cx="23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c</a:t>
                </a:r>
                <a:endParaRPr lang="en-US" altLang="zh-CN" sz="3530" b="1" i="1"/>
              </a:p>
            </p:txBody>
          </p:sp>
          <p:sp>
            <p:nvSpPr>
              <p:cNvPr id="497679" name="Rectangle 15"/>
              <p:cNvSpPr>
                <a:spLocks noChangeArrowheads="1"/>
              </p:cNvSpPr>
              <p:nvPr/>
            </p:nvSpPr>
            <p:spPr bwMode="auto">
              <a:xfrm>
                <a:off x="1728" y="1200"/>
                <a:ext cx="23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a</a:t>
                </a:r>
                <a:endParaRPr lang="en-US" altLang="zh-CN" sz="3530" b="1" i="1"/>
              </a:p>
            </p:txBody>
          </p:sp>
          <p:sp>
            <p:nvSpPr>
              <p:cNvPr id="497680" name="Rectangle 16"/>
              <p:cNvSpPr>
                <a:spLocks noChangeArrowheads="1"/>
              </p:cNvSpPr>
              <p:nvPr/>
            </p:nvSpPr>
            <p:spPr bwMode="auto">
              <a:xfrm>
                <a:off x="1536" y="1584"/>
                <a:ext cx="240"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b</a:t>
                </a:r>
                <a:endParaRPr lang="en-US" altLang="zh-CN" sz="3530" b="1" i="1"/>
              </a:p>
            </p:txBody>
          </p:sp>
          <p:sp>
            <p:nvSpPr>
              <p:cNvPr id="497681" name="Rectangle 17"/>
              <p:cNvSpPr>
                <a:spLocks noChangeArrowheads="1"/>
              </p:cNvSpPr>
              <p:nvPr/>
            </p:nvSpPr>
            <p:spPr bwMode="auto">
              <a:xfrm>
                <a:off x="3120" y="1632"/>
                <a:ext cx="240"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d</a:t>
                </a:r>
                <a:endParaRPr lang="en-US" altLang="zh-CN" sz="3530" b="1" i="1"/>
              </a:p>
            </p:txBody>
          </p:sp>
        </p:grpSp>
        <p:sp>
          <p:nvSpPr>
            <p:cNvPr id="497682" name="Rectangle 18"/>
            <p:cNvSpPr>
              <a:spLocks noChangeArrowheads="1"/>
            </p:cNvSpPr>
            <p:nvPr/>
          </p:nvSpPr>
          <p:spPr bwMode="auto">
            <a:xfrm>
              <a:off x="1248" y="1104"/>
              <a:ext cx="18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1</a:t>
              </a:r>
              <a:endParaRPr lang="en-US" altLang="zh-CN" sz="2645" i="1"/>
            </a:p>
          </p:txBody>
        </p:sp>
        <p:sp>
          <p:nvSpPr>
            <p:cNvPr id="497683" name="Rectangle 19"/>
            <p:cNvSpPr>
              <a:spLocks noChangeArrowheads="1"/>
            </p:cNvSpPr>
            <p:nvPr/>
          </p:nvSpPr>
          <p:spPr bwMode="auto">
            <a:xfrm>
              <a:off x="1248" y="1824"/>
              <a:ext cx="20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2</a:t>
              </a:r>
              <a:endParaRPr lang="en-US" altLang="zh-CN" sz="2645" i="1"/>
            </a:p>
          </p:txBody>
        </p:sp>
        <p:sp>
          <p:nvSpPr>
            <p:cNvPr id="497684" name="Rectangle 20"/>
            <p:cNvSpPr>
              <a:spLocks noChangeArrowheads="1"/>
            </p:cNvSpPr>
            <p:nvPr/>
          </p:nvSpPr>
          <p:spPr bwMode="auto">
            <a:xfrm>
              <a:off x="2544" y="1536"/>
              <a:ext cx="208"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3</a:t>
              </a:r>
              <a:endParaRPr lang="en-US" altLang="zh-CN" sz="2645" i="1"/>
            </a:p>
          </p:txBody>
        </p:sp>
        <p:sp>
          <p:nvSpPr>
            <p:cNvPr id="497685" name="Rectangle 21"/>
            <p:cNvSpPr>
              <a:spLocks noChangeArrowheads="1"/>
            </p:cNvSpPr>
            <p:nvPr/>
          </p:nvSpPr>
          <p:spPr bwMode="auto">
            <a:xfrm>
              <a:off x="3888" y="1152"/>
              <a:ext cx="20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4</a:t>
              </a:r>
              <a:endParaRPr lang="en-US" altLang="zh-CN" sz="2645" i="1"/>
            </a:p>
          </p:txBody>
        </p:sp>
        <p:sp>
          <p:nvSpPr>
            <p:cNvPr id="497686" name="Rectangle 22"/>
            <p:cNvSpPr>
              <a:spLocks noChangeArrowheads="1"/>
            </p:cNvSpPr>
            <p:nvPr/>
          </p:nvSpPr>
          <p:spPr bwMode="auto">
            <a:xfrm>
              <a:off x="3888" y="1824"/>
              <a:ext cx="21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5</a:t>
              </a:r>
              <a:endParaRPr lang="en-US" altLang="zh-CN" sz="2645" i="1"/>
            </a:p>
          </p:txBody>
        </p:sp>
      </p:grpSp>
      <p:grpSp>
        <p:nvGrpSpPr>
          <p:cNvPr id="497687" name="Group 23"/>
          <p:cNvGrpSpPr/>
          <p:nvPr/>
        </p:nvGrpSpPr>
        <p:grpSpPr bwMode="auto">
          <a:xfrm>
            <a:off x="3155509" y="4116690"/>
            <a:ext cx="5124856" cy="2520421"/>
            <a:chOff x="1200" y="2352"/>
            <a:chExt cx="2928" cy="1440"/>
          </a:xfrm>
        </p:grpSpPr>
        <p:sp>
          <p:nvSpPr>
            <p:cNvPr id="497688" name="Oval 24"/>
            <p:cNvSpPr>
              <a:spLocks noChangeArrowheads="1"/>
            </p:cNvSpPr>
            <p:nvPr/>
          </p:nvSpPr>
          <p:spPr bwMode="auto">
            <a:xfrm>
              <a:off x="1200" y="2544"/>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FontTx/>
                <a:buNone/>
              </a:pPr>
              <a:endParaRPr lang="zh-CN" altLang="zh-CN" sz="4410">
                <a:solidFill>
                  <a:schemeClr val="tx2"/>
                </a:solidFill>
              </a:endParaRPr>
            </a:p>
          </p:txBody>
        </p:sp>
        <p:sp>
          <p:nvSpPr>
            <p:cNvPr id="497689" name="Oval 25"/>
            <p:cNvSpPr>
              <a:spLocks noChangeArrowheads="1"/>
            </p:cNvSpPr>
            <p:nvPr/>
          </p:nvSpPr>
          <p:spPr bwMode="auto">
            <a:xfrm>
              <a:off x="2448" y="2544"/>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90" name="Oval 26"/>
            <p:cNvSpPr>
              <a:spLocks noChangeArrowheads="1"/>
            </p:cNvSpPr>
            <p:nvPr/>
          </p:nvSpPr>
          <p:spPr bwMode="auto">
            <a:xfrm>
              <a:off x="3744" y="2544"/>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91" name="Oval 27"/>
            <p:cNvSpPr>
              <a:spLocks noChangeArrowheads="1"/>
            </p:cNvSpPr>
            <p:nvPr/>
          </p:nvSpPr>
          <p:spPr bwMode="auto">
            <a:xfrm>
              <a:off x="2448" y="3360"/>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92" name="Oval 28"/>
            <p:cNvSpPr>
              <a:spLocks noChangeArrowheads="1"/>
            </p:cNvSpPr>
            <p:nvPr/>
          </p:nvSpPr>
          <p:spPr bwMode="auto">
            <a:xfrm>
              <a:off x="3744" y="3360"/>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93" name="Line 29"/>
            <p:cNvSpPr>
              <a:spLocks noChangeShapeType="1"/>
            </p:cNvSpPr>
            <p:nvPr/>
          </p:nvSpPr>
          <p:spPr bwMode="auto">
            <a:xfrm>
              <a:off x="1584" y="2736"/>
              <a:ext cx="864"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94" name="Line 30"/>
            <p:cNvSpPr>
              <a:spLocks noChangeShapeType="1"/>
            </p:cNvSpPr>
            <p:nvPr/>
          </p:nvSpPr>
          <p:spPr bwMode="auto">
            <a:xfrm>
              <a:off x="2832" y="2736"/>
              <a:ext cx="912"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95" name="Line 31"/>
            <p:cNvSpPr>
              <a:spLocks noChangeShapeType="1"/>
            </p:cNvSpPr>
            <p:nvPr/>
          </p:nvSpPr>
          <p:spPr bwMode="auto">
            <a:xfrm>
              <a:off x="1632" y="3600"/>
              <a:ext cx="816"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96" name="Line 32"/>
            <p:cNvSpPr>
              <a:spLocks noChangeShapeType="1"/>
            </p:cNvSpPr>
            <p:nvPr/>
          </p:nvSpPr>
          <p:spPr bwMode="auto">
            <a:xfrm>
              <a:off x="2832" y="3552"/>
              <a:ext cx="912"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97" name="Line 33"/>
            <p:cNvSpPr>
              <a:spLocks noChangeShapeType="1"/>
            </p:cNvSpPr>
            <p:nvPr/>
          </p:nvSpPr>
          <p:spPr bwMode="auto">
            <a:xfrm flipV="1">
              <a:off x="2640" y="2928"/>
              <a:ext cx="0" cy="432"/>
            </a:xfrm>
            <a:prstGeom prst="line">
              <a:avLst/>
            </a:prstGeom>
            <a:noFill/>
            <a:ln w="158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698" name="Rectangle 34"/>
            <p:cNvSpPr>
              <a:spLocks noChangeArrowheads="1"/>
            </p:cNvSpPr>
            <p:nvPr/>
          </p:nvSpPr>
          <p:spPr bwMode="auto">
            <a:xfrm>
              <a:off x="1872" y="2352"/>
              <a:ext cx="23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a</a:t>
              </a:r>
              <a:endParaRPr lang="en-US" altLang="zh-CN" sz="3530" b="1" i="1"/>
            </a:p>
          </p:txBody>
        </p:sp>
        <p:sp>
          <p:nvSpPr>
            <p:cNvPr id="497699" name="Rectangle 35"/>
            <p:cNvSpPr>
              <a:spLocks noChangeArrowheads="1"/>
            </p:cNvSpPr>
            <p:nvPr/>
          </p:nvSpPr>
          <p:spPr bwMode="auto">
            <a:xfrm>
              <a:off x="1920" y="3216"/>
              <a:ext cx="240"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b</a:t>
              </a:r>
              <a:endParaRPr lang="en-US" altLang="zh-CN" sz="3530" b="1" i="1"/>
            </a:p>
          </p:txBody>
        </p:sp>
        <p:sp>
          <p:nvSpPr>
            <p:cNvPr id="497700" name="Rectangle 36"/>
            <p:cNvSpPr>
              <a:spLocks noChangeArrowheads="1"/>
            </p:cNvSpPr>
            <p:nvPr/>
          </p:nvSpPr>
          <p:spPr bwMode="auto">
            <a:xfrm>
              <a:off x="3216" y="2400"/>
              <a:ext cx="23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c</a:t>
              </a:r>
              <a:endParaRPr lang="en-US" altLang="zh-CN" sz="3530" b="1" i="1"/>
            </a:p>
          </p:txBody>
        </p:sp>
        <p:sp>
          <p:nvSpPr>
            <p:cNvPr id="497701" name="Rectangle 37"/>
            <p:cNvSpPr>
              <a:spLocks noChangeArrowheads="1"/>
            </p:cNvSpPr>
            <p:nvPr/>
          </p:nvSpPr>
          <p:spPr bwMode="auto">
            <a:xfrm>
              <a:off x="3216" y="3216"/>
              <a:ext cx="240"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i="1"/>
                <a:t>d</a:t>
              </a:r>
              <a:endParaRPr lang="en-US" altLang="zh-CN" sz="3530" b="1" i="1"/>
            </a:p>
          </p:txBody>
        </p:sp>
        <p:sp>
          <p:nvSpPr>
            <p:cNvPr id="497702" name="Oval 38"/>
            <p:cNvSpPr>
              <a:spLocks noChangeArrowheads="1"/>
            </p:cNvSpPr>
            <p:nvPr/>
          </p:nvSpPr>
          <p:spPr bwMode="auto">
            <a:xfrm>
              <a:off x="1248" y="3408"/>
              <a:ext cx="384" cy="384"/>
            </a:xfrm>
            <a:prstGeom prst="ellipse">
              <a:avLst/>
            </a:prstGeom>
            <a:noFill/>
            <a:ln w="158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FontTx/>
                <a:buNone/>
              </a:pPr>
              <a:endParaRPr lang="zh-CN" altLang="zh-CN" sz="4410">
                <a:solidFill>
                  <a:schemeClr val="tx2"/>
                </a:solidFill>
              </a:endParaRPr>
            </a:p>
          </p:txBody>
        </p:sp>
        <p:sp>
          <p:nvSpPr>
            <p:cNvPr id="497703" name="Rectangle 39"/>
            <p:cNvSpPr>
              <a:spLocks noChangeArrowheads="1"/>
            </p:cNvSpPr>
            <p:nvPr/>
          </p:nvSpPr>
          <p:spPr bwMode="auto">
            <a:xfrm>
              <a:off x="1296" y="2592"/>
              <a:ext cx="18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1</a:t>
              </a:r>
              <a:endParaRPr lang="en-US" altLang="zh-CN" sz="2645" i="1"/>
            </a:p>
          </p:txBody>
        </p:sp>
        <p:sp>
          <p:nvSpPr>
            <p:cNvPr id="497704" name="Rectangle 40"/>
            <p:cNvSpPr>
              <a:spLocks noChangeArrowheads="1"/>
            </p:cNvSpPr>
            <p:nvPr/>
          </p:nvSpPr>
          <p:spPr bwMode="auto">
            <a:xfrm>
              <a:off x="1344" y="3504"/>
              <a:ext cx="20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2</a:t>
              </a:r>
              <a:endParaRPr lang="en-US" altLang="zh-CN" sz="2645" i="1"/>
            </a:p>
          </p:txBody>
        </p:sp>
        <p:sp>
          <p:nvSpPr>
            <p:cNvPr id="497705" name="Rectangle 41"/>
            <p:cNvSpPr>
              <a:spLocks noChangeArrowheads="1"/>
            </p:cNvSpPr>
            <p:nvPr/>
          </p:nvSpPr>
          <p:spPr bwMode="auto">
            <a:xfrm>
              <a:off x="2544" y="2592"/>
              <a:ext cx="20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zh-CN" sz="2645" i="1"/>
                <a:t>4</a:t>
              </a:r>
              <a:endParaRPr lang="en-US" altLang="zh-CN" sz="2645" i="1"/>
            </a:p>
          </p:txBody>
        </p:sp>
        <p:sp>
          <p:nvSpPr>
            <p:cNvPr id="497706" name="Rectangle 42"/>
            <p:cNvSpPr>
              <a:spLocks noChangeArrowheads="1"/>
            </p:cNvSpPr>
            <p:nvPr/>
          </p:nvSpPr>
          <p:spPr bwMode="auto">
            <a:xfrm>
              <a:off x="2524" y="3408"/>
              <a:ext cx="208"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3</a:t>
              </a:r>
              <a:endParaRPr lang="en-US" altLang="zh-CN" sz="2645" i="1"/>
            </a:p>
          </p:txBody>
        </p:sp>
        <p:sp>
          <p:nvSpPr>
            <p:cNvPr id="497707" name="Rectangle 43"/>
            <p:cNvSpPr>
              <a:spLocks noChangeArrowheads="1"/>
            </p:cNvSpPr>
            <p:nvPr/>
          </p:nvSpPr>
          <p:spPr bwMode="auto">
            <a:xfrm>
              <a:off x="3840" y="2592"/>
              <a:ext cx="21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5</a:t>
              </a:r>
              <a:endParaRPr lang="en-US" altLang="zh-CN" sz="2645" i="1"/>
            </a:p>
          </p:txBody>
        </p:sp>
        <p:sp>
          <p:nvSpPr>
            <p:cNvPr id="497708" name="Rectangle 44"/>
            <p:cNvSpPr>
              <a:spLocks noChangeArrowheads="1"/>
            </p:cNvSpPr>
            <p:nvPr/>
          </p:nvSpPr>
          <p:spPr bwMode="auto">
            <a:xfrm>
              <a:off x="3840" y="3408"/>
              <a:ext cx="211"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6</a:t>
              </a:r>
              <a:endParaRPr lang="en-US" altLang="zh-CN" sz="2645" i="1"/>
            </a:p>
          </p:txBody>
        </p:sp>
      </p:grpSp>
      <p:grpSp>
        <p:nvGrpSpPr>
          <p:cNvPr id="497709" name="Group 45"/>
          <p:cNvGrpSpPr/>
          <p:nvPr/>
        </p:nvGrpSpPr>
        <p:grpSpPr bwMode="auto">
          <a:xfrm>
            <a:off x="9036491" y="2352393"/>
            <a:ext cx="336056" cy="756126"/>
            <a:chOff x="5232" y="2688"/>
            <a:chExt cx="384" cy="576"/>
          </a:xfrm>
        </p:grpSpPr>
        <p:sp>
          <p:nvSpPr>
            <p:cNvPr id="497710" name="Line 46"/>
            <p:cNvSpPr>
              <a:spLocks noChangeShapeType="1"/>
            </p:cNvSpPr>
            <p:nvPr/>
          </p:nvSpPr>
          <p:spPr bwMode="auto">
            <a:xfrm flipH="1">
              <a:off x="5232" y="2688"/>
              <a:ext cx="384" cy="576"/>
            </a:xfrm>
            <a:prstGeom prst="line">
              <a:avLst/>
            </a:prstGeom>
            <a:noFill/>
            <a:ln w="222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97711" name="Line 47"/>
            <p:cNvSpPr>
              <a:spLocks noChangeShapeType="1"/>
            </p:cNvSpPr>
            <p:nvPr/>
          </p:nvSpPr>
          <p:spPr bwMode="auto">
            <a:xfrm>
              <a:off x="5232" y="2736"/>
              <a:ext cx="384" cy="528"/>
            </a:xfrm>
            <a:prstGeom prst="line">
              <a:avLst/>
            </a:prstGeom>
            <a:noFill/>
            <a:ln w="222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grpSp>
        <p:nvGrpSpPr>
          <p:cNvPr id="497712" name="Group 48"/>
          <p:cNvGrpSpPr/>
          <p:nvPr/>
        </p:nvGrpSpPr>
        <p:grpSpPr bwMode="auto">
          <a:xfrm>
            <a:off x="8700435" y="4872814"/>
            <a:ext cx="588098" cy="1008168"/>
            <a:chOff x="4368" y="2784"/>
            <a:chExt cx="432" cy="576"/>
          </a:xfrm>
        </p:grpSpPr>
        <p:sp>
          <p:nvSpPr>
            <p:cNvPr id="497713" name="Line 49"/>
            <p:cNvSpPr>
              <a:spLocks noChangeShapeType="1"/>
            </p:cNvSpPr>
            <p:nvPr/>
          </p:nvSpPr>
          <p:spPr bwMode="auto">
            <a:xfrm>
              <a:off x="4368" y="3120"/>
              <a:ext cx="240" cy="240"/>
            </a:xfrm>
            <a:prstGeom prst="line">
              <a:avLst/>
            </a:prstGeom>
            <a:noFill/>
            <a:ln w="222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97714" name="Line 50"/>
            <p:cNvSpPr>
              <a:spLocks noChangeShapeType="1"/>
            </p:cNvSpPr>
            <p:nvPr/>
          </p:nvSpPr>
          <p:spPr bwMode="auto">
            <a:xfrm flipV="1">
              <a:off x="4608" y="2784"/>
              <a:ext cx="192" cy="576"/>
            </a:xfrm>
            <a:prstGeom prst="line">
              <a:avLst/>
            </a:prstGeom>
            <a:noFill/>
            <a:ln w="222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7667"/>
                                        </p:tgtEl>
                                        <p:attrNameLst>
                                          <p:attrName>style.visibility</p:attrName>
                                        </p:attrNameLst>
                                      </p:cBhvr>
                                      <p:to>
                                        <p:strVal val="visible"/>
                                      </p:to>
                                    </p:set>
                                    <p:animEffect transition="in" filter="wipe(left)">
                                      <p:cBhvr>
                                        <p:cTn id="7" dur="500"/>
                                        <p:tgtEl>
                                          <p:spTgt spid="4976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97709"/>
                                        </p:tgtEl>
                                        <p:attrNameLst>
                                          <p:attrName>style.visibility</p:attrName>
                                        </p:attrNameLst>
                                      </p:cBhvr>
                                      <p:to>
                                        <p:strVal val="visible"/>
                                      </p:to>
                                    </p:set>
                                    <p:animEffect transition="in" filter="wipe(left)">
                                      <p:cBhvr>
                                        <p:cTn id="12" dur="500"/>
                                        <p:tgtEl>
                                          <p:spTgt spid="49770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7687"/>
                                        </p:tgtEl>
                                        <p:attrNameLst>
                                          <p:attrName>style.visibility</p:attrName>
                                        </p:attrNameLst>
                                      </p:cBhvr>
                                      <p:to>
                                        <p:strVal val="visible"/>
                                      </p:to>
                                    </p:set>
                                    <p:animEffect transition="in" filter="wipe(left)">
                                      <p:cBhvr>
                                        <p:cTn id="17" dur="500"/>
                                        <p:tgtEl>
                                          <p:spTgt spid="4976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97712"/>
                                        </p:tgtEl>
                                        <p:attrNameLst>
                                          <p:attrName>style.visibility</p:attrName>
                                        </p:attrNameLst>
                                      </p:cBhvr>
                                      <p:to>
                                        <p:strVal val="visible"/>
                                      </p:to>
                                    </p:set>
                                    <p:animEffect transition="in" filter="wipe(left)">
                                      <p:cBhvr>
                                        <p:cTn id="22" dur="500"/>
                                        <p:tgtEl>
                                          <p:spTgt spid="497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ChangeArrowheads="1"/>
          </p:cNvSpPr>
          <p:nvPr/>
        </p:nvSpPr>
        <p:spPr bwMode="auto">
          <a:xfrm>
            <a:off x="2516653" y="449827"/>
            <a:ext cx="8149361" cy="1517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buFontTx/>
              <a:buNone/>
            </a:pPr>
            <a:r>
              <a:rPr lang="zh-CN" altLang="en-US" sz="3085"/>
              <a:t>例</a:t>
            </a:r>
            <a:r>
              <a:rPr lang="en-US" altLang="zh-CN" sz="3085"/>
              <a:t>2</a:t>
            </a:r>
            <a:r>
              <a:rPr lang="zh-CN" altLang="en-US" sz="3085"/>
              <a:t>、</a:t>
            </a:r>
            <a:r>
              <a:rPr lang="zh-CN" altLang="en-US" sz="3085" b="1"/>
              <a:t>已知</a:t>
            </a:r>
            <a:r>
              <a:rPr lang="en-US" altLang="zh-CN" sz="3085" b="1"/>
              <a:t>A</a:t>
            </a:r>
            <a:r>
              <a:rPr lang="zh-CN" altLang="en-US" sz="3085" b="1"/>
              <a:t>是</a:t>
            </a:r>
            <a:r>
              <a:rPr lang="en-US" altLang="zh-CN" sz="3085" b="1"/>
              <a:t>B</a:t>
            </a:r>
            <a:r>
              <a:rPr lang="zh-CN" altLang="en-US" sz="3085" b="1"/>
              <a:t>得紧前工序，</a:t>
            </a:r>
            <a:r>
              <a:rPr lang="en-US" altLang="zh-CN" sz="3085" b="1"/>
              <a:t>C</a:t>
            </a:r>
            <a:r>
              <a:rPr lang="zh-CN" altLang="en-US" sz="3085" b="1"/>
              <a:t>是</a:t>
            </a:r>
            <a:r>
              <a:rPr lang="en-US" altLang="zh-CN" sz="3085" b="1"/>
              <a:t>E</a:t>
            </a:r>
            <a:r>
              <a:rPr lang="zh-CN" altLang="en-US" sz="3085" b="1"/>
              <a:t>的紧前工序，</a:t>
            </a:r>
            <a:r>
              <a:rPr lang="en-US" altLang="zh-CN" sz="3085" b="1"/>
              <a:t>A,C</a:t>
            </a:r>
            <a:r>
              <a:rPr lang="zh-CN" altLang="en-US" sz="3085" b="1"/>
              <a:t>是</a:t>
            </a:r>
            <a:r>
              <a:rPr lang="en-US" altLang="zh-CN" sz="3085" b="1"/>
              <a:t>D</a:t>
            </a:r>
            <a:r>
              <a:rPr lang="zh-CN" altLang="en-US" sz="3085" b="1"/>
              <a:t>的紧前工序．</a:t>
            </a:r>
            <a:endParaRPr lang="zh-CN" altLang="en-US" sz="3085" b="1"/>
          </a:p>
          <a:p>
            <a:pPr algn="just">
              <a:buFontTx/>
              <a:buNone/>
            </a:pPr>
            <a:endParaRPr lang="en-US" altLang="zh-CN" sz="3085"/>
          </a:p>
        </p:txBody>
      </p:sp>
      <p:grpSp>
        <p:nvGrpSpPr>
          <p:cNvPr id="498691" name="Group 3"/>
          <p:cNvGrpSpPr/>
          <p:nvPr/>
        </p:nvGrpSpPr>
        <p:grpSpPr bwMode="auto">
          <a:xfrm>
            <a:off x="3239524" y="1932324"/>
            <a:ext cx="6418323" cy="4123689"/>
            <a:chOff x="1248" y="1296"/>
            <a:chExt cx="3667" cy="2356"/>
          </a:xfrm>
        </p:grpSpPr>
        <p:grpSp>
          <p:nvGrpSpPr>
            <p:cNvPr id="498692" name="Group 4"/>
            <p:cNvGrpSpPr/>
            <p:nvPr/>
          </p:nvGrpSpPr>
          <p:grpSpPr bwMode="auto">
            <a:xfrm>
              <a:off x="1248" y="1296"/>
              <a:ext cx="3521" cy="2356"/>
              <a:chOff x="1248" y="1296"/>
              <a:chExt cx="3521" cy="2356"/>
            </a:xfrm>
          </p:grpSpPr>
          <p:sp>
            <p:nvSpPr>
              <p:cNvPr id="498693" name="Oval 5"/>
              <p:cNvSpPr>
                <a:spLocks noChangeArrowheads="1"/>
              </p:cNvSpPr>
              <p:nvPr/>
            </p:nvSpPr>
            <p:spPr bwMode="auto">
              <a:xfrm>
                <a:off x="1248" y="1479"/>
                <a:ext cx="161" cy="306"/>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694" name="Oval 6"/>
              <p:cNvSpPr>
                <a:spLocks noChangeArrowheads="1"/>
              </p:cNvSpPr>
              <p:nvPr/>
            </p:nvSpPr>
            <p:spPr bwMode="auto">
              <a:xfrm>
                <a:off x="2544" y="1479"/>
                <a:ext cx="161" cy="306"/>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695" name="Oval 7"/>
              <p:cNvSpPr>
                <a:spLocks noChangeArrowheads="1"/>
              </p:cNvSpPr>
              <p:nvPr/>
            </p:nvSpPr>
            <p:spPr bwMode="auto">
              <a:xfrm>
                <a:off x="3936" y="1479"/>
                <a:ext cx="161" cy="306"/>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696" name="Oval 8"/>
              <p:cNvSpPr>
                <a:spLocks noChangeArrowheads="1"/>
              </p:cNvSpPr>
              <p:nvPr/>
            </p:nvSpPr>
            <p:spPr bwMode="auto">
              <a:xfrm>
                <a:off x="3168" y="2343"/>
                <a:ext cx="161" cy="306"/>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697" name="Oval 9"/>
              <p:cNvSpPr>
                <a:spLocks noChangeArrowheads="1"/>
              </p:cNvSpPr>
              <p:nvPr/>
            </p:nvSpPr>
            <p:spPr bwMode="auto">
              <a:xfrm>
                <a:off x="4608" y="2391"/>
                <a:ext cx="161" cy="306"/>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698" name="Oval 10"/>
              <p:cNvSpPr>
                <a:spLocks noChangeArrowheads="1"/>
              </p:cNvSpPr>
              <p:nvPr/>
            </p:nvSpPr>
            <p:spPr bwMode="auto">
              <a:xfrm>
                <a:off x="1248" y="3207"/>
                <a:ext cx="161" cy="306"/>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699" name="Oval 11"/>
              <p:cNvSpPr>
                <a:spLocks noChangeArrowheads="1"/>
              </p:cNvSpPr>
              <p:nvPr/>
            </p:nvSpPr>
            <p:spPr bwMode="auto">
              <a:xfrm>
                <a:off x="2592" y="3159"/>
                <a:ext cx="161" cy="306"/>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700" name="Oval 12"/>
              <p:cNvSpPr>
                <a:spLocks noChangeArrowheads="1"/>
              </p:cNvSpPr>
              <p:nvPr/>
            </p:nvSpPr>
            <p:spPr bwMode="auto">
              <a:xfrm>
                <a:off x="3984" y="3207"/>
                <a:ext cx="161" cy="306"/>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701" name="Line 13"/>
              <p:cNvSpPr>
                <a:spLocks noChangeShapeType="1"/>
              </p:cNvSpPr>
              <p:nvPr/>
            </p:nvSpPr>
            <p:spPr bwMode="auto">
              <a:xfrm>
                <a:off x="1632" y="1632"/>
                <a:ext cx="91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702" name="Line 14"/>
              <p:cNvSpPr>
                <a:spLocks noChangeShapeType="1"/>
              </p:cNvSpPr>
              <p:nvPr/>
            </p:nvSpPr>
            <p:spPr bwMode="auto">
              <a:xfrm>
                <a:off x="2928" y="1632"/>
                <a:ext cx="1008"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703" name="Line 15"/>
              <p:cNvSpPr>
                <a:spLocks noChangeShapeType="1"/>
              </p:cNvSpPr>
              <p:nvPr/>
            </p:nvSpPr>
            <p:spPr bwMode="auto">
              <a:xfrm>
                <a:off x="3552" y="2496"/>
                <a:ext cx="1056"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704" name="Line 16"/>
              <p:cNvSpPr>
                <a:spLocks noChangeShapeType="1"/>
              </p:cNvSpPr>
              <p:nvPr/>
            </p:nvSpPr>
            <p:spPr bwMode="auto">
              <a:xfrm>
                <a:off x="1632" y="3360"/>
                <a:ext cx="96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705" name="Line 17"/>
              <p:cNvSpPr>
                <a:spLocks noChangeShapeType="1"/>
              </p:cNvSpPr>
              <p:nvPr/>
            </p:nvSpPr>
            <p:spPr bwMode="auto">
              <a:xfrm>
                <a:off x="2976" y="3360"/>
                <a:ext cx="1008"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706" name="Line 18"/>
              <p:cNvSpPr>
                <a:spLocks noChangeShapeType="1"/>
              </p:cNvSpPr>
              <p:nvPr/>
            </p:nvSpPr>
            <p:spPr bwMode="auto">
              <a:xfrm>
                <a:off x="2832" y="1776"/>
                <a:ext cx="432" cy="576"/>
              </a:xfrm>
              <a:prstGeom prst="line">
                <a:avLst/>
              </a:prstGeom>
              <a:noFill/>
              <a:ln w="952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707" name="Line 19"/>
              <p:cNvSpPr>
                <a:spLocks noChangeShapeType="1"/>
              </p:cNvSpPr>
              <p:nvPr/>
            </p:nvSpPr>
            <p:spPr bwMode="auto">
              <a:xfrm flipV="1">
                <a:off x="2784" y="2640"/>
                <a:ext cx="480" cy="480"/>
              </a:xfrm>
              <a:prstGeom prst="line">
                <a:avLst/>
              </a:prstGeom>
              <a:noFill/>
              <a:ln w="952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498708" name="Rectangle 20"/>
              <p:cNvSpPr>
                <a:spLocks noChangeArrowheads="1"/>
              </p:cNvSpPr>
              <p:nvPr/>
            </p:nvSpPr>
            <p:spPr bwMode="auto">
              <a:xfrm>
                <a:off x="1968" y="1296"/>
                <a:ext cx="247"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spAutoFit/>
              </a:bodyPr>
              <a:lstStyle/>
              <a:p>
                <a:pPr algn="l">
                  <a:spcBef>
                    <a:spcPct val="0"/>
                  </a:spcBef>
                  <a:buFontTx/>
                  <a:buNone/>
                </a:pPr>
                <a:r>
                  <a:rPr lang="en-US" altLang="zh-CN" sz="2645" b="1"/>
                  <a:t>A </a:t>
                </a:r>
                <a:endParaRPr lang="en-US" altLang="zh-CN" sz="2645" b="1"/>
              </a:p>
            </p:txBody>
          </p:sp>
          <p:sp>
            <p:nvSpPr>
              <p:cNvPr id="498709" name="Rectangle 21"/>
              <p:cNvSpPr>
                <a:spLocks noChangeArrowheads="1"/>
              </p:cNvSpPr>
              <p:nvPr/>
            </p:nvSpPr>
            <p:spPr bwMode="auto">
              <a:xfrm>
                <a:off x="3408" y="1344"/>
                <a:ext cx="22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spAutoFit/>
              </a:bodyPr>
              <a:lstStyle/>
              <a:p>
                <a:pPr algn="l">
                  <a:spcBef>
                    <a:spcPct val="0"/>
                  </a:spcBef>
                  <a:buFontTx/>
                  <a:buNone/>
                </a:pPr>
                <a:r>
                  <a:rPr lang="en-US" altLang="zh-CN" sz="2645" b="1"/>
                  <a:t>B</a:t>
                </a:r>
                <a:endParaRPr lang="en-US" altLang="zh-CN" sz="2645" b="1"/>
              </a:p>
            </p:txBody>
          </p:sp>
          <p:sp>
            <p:nvSpPr>
              <p:cNvPr id="498710" name="Rectangle 22"/>
              <p:cNvSpPr>
                <a:spLocks noChangeArrowheads="1"/>
              </p:cNvSpPr>
              <p:nvPr/>
            </p:nvSpPr>
            <p:spPr bwMode="auto">
              <a:xfrm>
                <a:off x="3984" y="2160"/>
                <a:ext cx="22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spAutoFit/>
              </a:bodyPr>
              <a:lstStyle/>
              <a:p>
                <a:pPr algn="l">
                  <a:spcBef>
                    <a:spcPct val="0"/>
                  </a:spcBef>
                  <a:buFontTx/>
                  <a:buNone/>
                </a:pPr>
                <a:r>
                  <a:rPr lang="en-US" altLang="zh-CN" sz="2645" b="1"/>
                  <a:t>D</a:t>
                </a:r>
                <a:endParaRPr lang="en-US" altLang="zh-CN" sz="2645" b="1"/>
              </a:p>
            </p:txBody>
          </p:sp>
          <p:sp>
            <p:nvSpPr>
              <p:cNvPr id="498711" name="Rectangle 23"/>
              <p:cNvSpPr>
                <a:spLocks noChangeArrowheads="1"/>
              </p:cNvSpPr>
              <p:nvPr/>
            </p:nvSpPr>
            <p:spPr bwMode="auto">
              <a:xfrm>
                <a:off x="1968" y="3360"/>
                <a:ext cx="22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spAutoFit/>
              </a:bodyPr>
              <a:lstStyle/>
              <a:p>
                <a:pPr algn="l">
                  <a:spcBef>
                    <a:spcPct val="0"/>
                  </a:spcBef>
                  <a:buFontTx/>
                  <a:buNone/>
                </a:pPr>
                <a:r>
                  <a:rPr lang="en-US" altLang="zh-CN" sz="2645" b="1"/>
                  <a:t>C</a:t>
                </a:r>
                <a:endParaRPr lang="en-US" altLang="zh-CN" sz="2645" b="1"/>
              </a:p>
            </p:txBody>
          </p:sp>
          <p:sp>
            <p:nvSpPr>
              <p:cNvPr id="498712" name="Rectangle 24"/>
              <p:cNvSpPr>
                <a:spLocks noChangeArrowheads="1"/>
              </p:cNvSpPr>
              <p:nvPr/>
            </p:nvSpPr>
            <p:spPr bwMode="auto">
              <a:xfrm>
                <a:off x="3408" y="3360"/>
                <a:ext cx="195"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spAutoFit/>
              </a:bodyPr>
              <a:lstStyle/>
              <a:p>
                <a:pPr algn="l">
                  <a:spcBef>
                    <a:spcPct val="0"/>
                  </a:spcBef>
                  <a:buFontTx/>
                  <a:buNone/>
                </a:pPr>
                <a:r>
                  <a:rPr lang="en-US" altLang="zh-CN" sz="2645" b="1"/>
                  <a:t>E</a:t>
                </a:r>
                <a:endParaRPr lang="en-US" altLang="zh-CN" sz="2645" b="1"/>
              </a:p>
            </p:txBody>
          </p:sp>
        </p:grpSp>
        <p:sp>
          <p:nvSpPr>
            <p:cNvPr id="498713" name="Rectangle 25"/>
            <p:cNvSpPr>
              <a:spLocks noChangeArrowheads="1"/>
            </p:cNvSpPr>
            <p:nvPr/>
          </p:nvSpPr>
          <p:spPr bwMode="auto">
            <a:xfrm>
              <a:off x="1344" y="1488"/>
              <a:ext cx="18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1</a:t>
              </a:r>
              <a:endParaRPr lang="en-US" altLang="zh-CN" sz="2645" i="1"/>
            </a:p>
          </p:txBody>
        </p:sp>
        <p:sp>
          <p:nvSpPr>
            <p:cNvPr id="498714" name="Rectangle 26"/>
            <p:cNvSpPr>
              <a:spLocks noChangeArrowheads="1"/>
            </p:cNvSpPr>
            <p:nvPr/>
          </p:nvSpPr>
          <p:spPr bwMode="auto">
            <a:xfrm>
              <a:off x="2640" y="1488"/>
              <a:ext cx="20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zh-CN" sz="2645" i="1"/>
                <a:t>2</a:t>
              </a:r>
              <a:endParaRPr lang="en-US" altLang="zh-CN" sz="2645" i="1"/>
            </a:p>
          </p:txBody>
        </p:sp>
        <p:sp>
          <p:nvSpPr>
            <p:cNvPr id="498715" name="Rectangle 27"/>
            <p:cNvSpPr>
              <a:spLocks noChangeArrowheads="1"/>
            </p:cNvSpPr>
            <p:nvPr/>
          </p:nvSpPr>
          <p:spPr bwMode="auto">
            <a:xfrm>
              <a:off x="1344" y="3216"/>
              <a:ext cx="208"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zh-CN" sz="2645" i="1"/>
                <a:t>3</a:t>
              </a:r>
              <a:endParaRPr lang="en-US" altLang="zh-CN" sz="2645" i="1"/>
            </a:p>
          </p:txBody>
        </p:sp>
        <p:sp>
          <p:nvSpPr>
            <p:cNvPr id="498716" name="Rectangle 28"/>
            <p:cNvSpPr>
              <a:spLocks noChangeArrowheads="1"/>
            </p:cNvSpPr>
            <p:nvPr/>
          </p:nvSpPr>
          <p:spPr bwMode="auto">
            <a:xfrm>
              <a:off x="2688" y="3168"/>
              <a:ext cx="24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FontTx/>
                <a:buNone/>
              </a:pPr>
              <a:r>
                <a:rPr lang="en-US" altLang="en-US" sz="2645" i="1"/>
                <a:t>4</a:t>
              </a:r>
              <a:endParaRPr lang="en-US" altLang="zh-CN" sz="2645" i="1"/>
            </a:p>
          </p:txBody>
        </p:sp>
        <p:sp>
          <p:nvSpPr>
            <p:cNvPr id="498717" name="Rectangle 29"/>
            <p:cNvSpPr>
              <a:spLocks noChangeArrowheads="1"/>
            </p:cNvSpPr>
            <p:nvPr/>
          </p:nvSpPr>
          <p:spPr bwMode="auto">
            <a:xfrm>
              <a:off x="3264" y="2352"/>
              <a:ext cx="21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5</a:t>
              </a:r>
              <a:endParaRPr lang="en-US" altLang="zh-CN" sz="2645" i="1"/>
            </a:p>
          </p:txBody>
        </p:sp>
        <p:sp>
          <p:nvSpPr>
            <p:cNvPr id="498718" name="Rectangle 30"/>
            <p:cNvSpPr>
              <a:spLocks noChangeArrowheads="1"/>
            </p:cNvSpPr>
            <p:nvPr/>
          </p:nvSpPr>
          <p:spPr bwMode="auto">
            <a:xfrm>
              <a:off x="4704" y="2400"/>
              <a:ext cx="211"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6</a:t>
              </a:r>
              <a:endParaRPr lang="en-US" altLang="zh-CN" sz="2645" i="1"/>
            </a:p>
          </p:txBody>
        </p:sp>
        <p:sp>
          <p:nvSpPr>
            <p:cNvPr id="498719" name="Rectangle 31"/>
            <p:cNvSpPr>
              <a:spLocks noChangeArrowheads="1"/>
            </p:cNvSpPr>
            <p:nvPr/>
          </p:nvSpPr>
          <p:spPr bwMode="auto">
            <a:xfrm>
              <a:off x="4032" y="1488"/>
              <a:ext cx="182"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7</a:t>
              </a:r>
              <a:endParaRPr lang="en-US" altLang="zh-CN" sz="2645" i="1"/>
            </a:p>
          </p:txBody>
        </p:sp>
        <p:sp>
          <p:nvSpPr>
            <p:cNvPr id="498720" name="Rectangle 32"/>
            <p:cNvSpPr>
              <a:spLocks noChangeArrowheads="1"/>
            </p:cNvSpPr>
            <p:nvPr/>
          </p:nvSpPr>
          <p:spPr bwMode="auto">
            <a:xfrm>
              <a:off x="4080" y="3216"/>
              <a:ext cx="20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pPr>
              <a:r>
                <a:rPr lang="en-US" altLang="en-US" sz="2645" i="1"/>
                <a:t>8</a:t>
              </a:r>
              <a:endParaRPr lang="en-US" altLang="zh-CN" sz="2645" i="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8691"/>
                                        </p:tgtEl>
                                        <p:attrNameLst>
                                          <p:attrName>style.visibility</p:attrName>
                                        </p:attrNameLst>
                                      </p:cBhvr>
                                      <p:to>
                                        <p:strVal val="visible"/>
                                      </p:to>
                                    </p:set>
                                    <p:animEffect transition="in" filter="wipe(left)">
                                      <p:cBhvr>
                                        <p:cTn id="7" dur="500"/>
                                        <p:tgtEl>
                                          <p:spTgt spid="498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ChangeArrowheads="1"/>
          </p:cNvSpPr>
          <p:nvPr/>
        </p:nvSpPr>
        <p:spPr bwMode="auto">
          <a:xfrm>
            <a:off x="1993193" y="1309219"/>
            <a:ext cx="7106433" cy="567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buClr>
                <a:srgbClr val="FF3300"/>
              </a:buClr>
              <a:buFontTx/>
              <a:buAutoNum type="arabicPeriod" startAt="6"/>
            </a:pPr>
            <a:r>
              <a:rPr lang="zh-CN" altLang="en-US" sz="3085" b="1"/>
              <a:t>网络图只允许有一个起点和一个终点</a:t>
            </a:r>
            <a:r>
              <a:rPr lang="en-US" altLang="zh-CN" sz="3085" b="1"/>
              <a:t>.</a:t>
            </a:r>
            <a:endParaRPr lang="en-US" altLang="zh-CN" sz="3085" b="1"/>
          </a:p>
        </p:txBody>
      </p:sp>
      <p:grpSp>
        <p:nvGrpSpPr>
          <p:cNvPr id="500739" name="Group 3"/>
          <p:cNvGrpSpPr/>
          <p:nvPr/>
        </p:nvGrpSpPr>
        <p:grpSpPr bwMode="auto">
          <a:xfrm>
            <a:off x="1895299" y="2268380"/>
            <a:ext cx="8401403" cy="4368729"/>
            <a:chOff x="384" y="1440"/>
            <a:chExt cx="4800" cy="2496"/>
          </a:xfrm>
        </p:grpSpPr>
        <p:grpSp>
          <p:nvGrpSpPr>
            <p:cNvPr id="500740" name="Group 4"/>
            <p:cNvGrpSpPr/>
            <p:nvPr/>
          </p:nvGrpSpPr>
          <p:grpSpPr bwMode="auto">
            <a:xfrm>
              <a:off x="384" y="1440"/>
              <a:ext cx="4800" cy="2496"/>
              <a:chOff x="384" y="1440"/>
              <a:chExt cx="4800" cy="2496"/>
            </a:xfrm>
          </p:grpSpPr>
          <p:sp>
            <p:nvSpPr>
              <p:cNvPr id="500741" name="Oval 5"/>
              <p:cNvSpPr>
                <a:spLocks noChangeArrowheads="1"/>
              </p:cNvSpPr>
              <p:nvPr/>
            </p:nvSpPr>
            <p:spPr bwMode="auto">
              <a:xfrm>
                <a:off x="384" y="2352"/>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42" name="Oval 6"/>
              <p:cNvSpPr>
                <a:spLocks noChangeArrowheads="1"/>
              </p:cNvSpPr>
              <p:nvPr/>
            </p:nvSpPr>
            <p:spPr bwMode="auto">
              <a:xfrm>
                <a:off x="1536" y="2352"/>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43" name="Rectangle 7"/>
              <p:cNvSpPr>
                <a:spLocks noChangeArrowheads="1"/>
              </p:cNvSpPr>
              <p:nvPr/>
            </p:nvSpPr>
            <p:spPr bwMode="auto">
              <a:xfrm>
                <a:off x="480" y="2400"/>
                <a:ext cx="20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1</a:t>
                </a:r>
                <a:endParaRPr lang="en-US" altLang="zh-CN" sz="3530" b="1"/>
              </a:p>
            </p:txBody>
          </p:sp>
          <p:sp>
            <p:nvSpPr>
              <p:cNvPr id="500744" name="Rectangle 8"/>
              <p:cNvSpPr>
                <a:spLocks noChangeArrowheads="1"/>
              </p:cNvSpPr>
              <p:nvPr/>
            </p:nvSpPr>
            <p:spPr bwMode="auto">
              <a:xfrm>
                <a:off x="1632" y="2400"/>
                <a:ext cx="23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2</a:t>
                </a:r>
                <a:endParaRPr lang="en-US" altLang="zh-CN" sz="3530" b="1"/>
              </a:p>
            </p:txBody>
          </p:sp>
          <p:sp>
            <p:nvSpPr>
              <p:cNvPr id="500745" name="Oval 9"/>
              <p:cNvSpPr>
                <a:spLocks noChangeArrowheads="1"/>
              </p:cNvSpPr>
              <p:nvPr/>
            </p:nvSpPr>
            <p:spPr bwMode="auto">
              <a:xfrm>
                <a:off x="1680" y="144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46" name="Rectangle 10"/>
              <p:cNvSpPr>
                <a:spLocks noChangeArrowheads="1"/>
              </p:cNvSpPr>
              <p:nvPr/>
            </p:nvSpPr>
            <p:spPr bwMode="auto">
              <a:xfrm>
                <a:off x="1776" y="1488"/>
                <a:ext cx="24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3</a:t>
                </a:r>
                <a:endParaRPr lang="en-US" altLang="zh-CN" sz="3530" b="1"/>
              </a:p>
            </p:txBody>
          </p:sp>
          <p:sp>
            <p:nvSpPr>
              <p:cNvPr id="500747" name="Oval 11"/>
              <p:cNvSpPr>
                <a:spLocks noChangeArrowheads="1"/>
              </p:cNvSpPr>
              <p:nvPr/>
            </p:nvSpPr>
            <p:spPr bwMode="auto">
              <a:xfrm>
                <a:off x="2592" y="240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48" name="Rectangle 12"/>
              <p:cNvSpPr>
                <a:spLocks noChangeArrowheads="1"/>
              </p:cNvSpPr>
              <p:nvPr/>
            </p:nvSpPr>
            <p:spPr bwMode="auto">
              <a:xfrm>
                <a:off x="2688" y="2448"/>
                <a:ext cx="235"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4</a:t>
                </a:r>
                <a:endParaRPr lang="en-US" altLang="zh-CN" sz="3530" b="1"/>
              </a:p>
            </p:txBody>
          </p:sp>
          <p:sp>
            <p:nvSpPr>
              <p:cNvPr id="500749" name="Oval 13"/>
              <p:cNvSpPr>
                <a:spLocks noChangeArrowheads="1"/>
              </p:cNvSpPr>
              <p:nvPr/>
            </p:nvSpPr>
            <p:spPr bwMode="auto">
              <a:xfrm>
                <a:off x="2640" y="3504"/>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50" name="Rectangle 14"/>
              <p:cNvSpPr>
                <a:spLocks noChangeArrowheads="1"/>
              </p:cNvSpPr>
              <p:nvPr/>
            </p:nvSpPr>
            <p:spPr bwMode="auto">
              <a:xfrm>
                <a:off x="2736" y="3552"/>
                <a:ext cx="245"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5</a:t>
                </a:r>
                <a:endParaRPr lang="en-US" altLang="zh-CN" sz="3530" b="1"/>
              </a:p>
            </p:txBody>
          </p:sp>
          <p:sp>
            <p:nvSpPr>
              <p:cNvPr id="500751" name="Oval 15"/>
              <p:cNvSpPr>
                <a:spLocks noChangeArrowheads="1"/>
              </p:cNvSpPr>
              <p:nvPr/>
            </p:nvSpPr>
            <p:spPr bwMode="auto">
              <a:xfrm>
                <a:off x="3840" y="240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52" name="Rectangle 16"/>
              <p:cNvSpPr>
                <a:spLocks noChangeArrowheads="1"/>
              </p:cNvSpPr>
              <p:nvPr/>
            </p:nvSpPr>
            <p:spPr bwMode="auto">
              <a:xfrm>
                <a:off x="3936" y="2448"/>
                <a:ext cx="24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6</a:t>
                </a:r>
                <a:endParaRPr lang="en-US" altLang="zh-CN" sz="3530" b="1"/>
              </a:p>
            </p:txBody>
          </p:sp>
          <p:sp>
            <p:nvSpPr>
              <p:cNvPr id="500753" name="Oval 17"/>
              <p:cNvSpPr>
                <a:spLocks noChangeArrowheads="1"/>
              </p:cNvSpPr>
              <p:nvPr/>
            </p:nvSpPr>
            <p:spPr bwMode="auto">
              <a:xfrm>
                <a:off x="4704" y="1728"/>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54" name="Rectangle 18"/>
              <p:cNvSpPr>
                <a:spLocks noChangeArrowheads="1"/>
              </p:cNvSpPr>
              <p:nvPr/>
            </p:nvSpPr>
            <p:spPr bwMode="auto">
              <a:xfrm>
                <a:off x="4800" y="1776"/>
                <a:ext cx="20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7</a:t>
                </a:r>
                <a:endParaRPr lang="en-US" altLang="zh-CN" sz="3530" b="1"/>
              </a:p>
            </p:txBody>
          </p:sp>
          <p:sp>
            <p:nvSpPr>
              <p:cNvPr id="500755" name="Oval 19"/>
              <p:cNvSpPr>
                <a:spLocks noChangeArrowheads="1"/>
              </p:cNvSpPr>
              <p:nvPr/>
            </p:nvSpPr>
            <p:spPr bwMode="auto">
              <a:xfrm>
                <a:off x="4752" y="288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56" name="Rectangle 20"/>
              <p:cNvSpPr>
                <a:spLocks noChangeArrowheads="1"/>
              </p:cNvSpPr>
              <p:nvPr/>
            </p:nvSpPr>
            <p:spPr bwMode="auto">
              <a:xfrm>
                <a:off x="4848" y="2928"/>
                <a:ext cx="24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8</a:t>
                </a:r>
                <a:endParaRPr lang="en-US" altLang="zh-CN" sz="3530" b="1"/>
              </a:p>
            </p:txBody>
          </p:sp>
          <p:sp>
            <p:nvSpPr>
              <p:cNvPr id="500757" name="Line 21"/>
              <p:cNvSpPr>
                <a:spLocks noChangeShapeType="1"/>
              </p:cNvSpPr>
              <p:nvPr/>
            </p:nvSpPr>
            <p:spPr bwMode="auto">
              <a:xfrm>
                <a:off x="816" y="2592"/>
                <a:ext cx="720"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58" name="Line 22"/>
              <p:cNvSpPr>
                <a:spLocks noChangeShapeType="1"/>
              </p:cNvSpPr>
              <p:nvPr/>
            </p:nvSpPr>
            <p:spPr bwMode="auto">
              <a:xfrm>
                <a:off x="1967" y="2591"/>
                <a:ext cx="623"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59" name="Line 23"/>
              <p:cNvSpPr>
                <a:spLocks noChangeShapeType="1"/>
              </p:cNvSpPr>
              <p:nvPr/>
            </p:nvSpPr>
            <p:spPr bwMode="auto">
              <a:xfrm>
                <a:off x="3024" y="2592"/>
                <a:ext cx="816"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60" name="Line 24"/>
              <p:cNvSpPr>
                <a:spLocks noChangeShapeType="1"/>
              </p:cNvSpPr>
              <p:nvPr/>
            </p:nvSpPr>
            <p:spPr bwMode="auto">
              <a:xfrm flipV="1">
                <a:off x="4176" y="2064"/>
                <a:ext cx="528" cy="384"/>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61" name="Line 25"/>
              <p:cNvSpPr>
                <a:spLocks noChangeShapeType="1"/>
              </p:cNvSpPr>
              <p:nvPr/>
            </p:nvSpPr>
            <p:spPr bwMode="auto">
              <a:xfrm>
                <a:off x="4272" y="2688"/>
                <a:ext cx="480" cy="288"/>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62" name="Line 26"/>
              <p:cNvSpPr>
                <a:spLocks noChangeShapeType="1"/>
              </p:cNvSpPr>
              <p:nvPr/>
            </p:nvSpPr>
            <p:spPr bwMode="auto">
              <a:xfrm>
                <a:off x="1824" y="2784"/>
                <a:ext cx="864" cy="768"/>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63" name="Line 27"/>
              <p:cNvSpPr>
                <a:spLocks noChangeShapeType="1"/>
              </p:cNvSpPr>
              <p:nvPr/>
            </p:nvSpPr>
            <p:spPr bwMode="auto">
              <a:xfrm>
                <a:off x="2112" y="1728"/>
                <a:ext cx="576" cy="672"/>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00764" name="Rectangle 28"/>
            <p:cNvSpPr>
              <a:spLocks noChangeArrowheads="1"/>
            </p:cNvSpPr>
            <p:nvPr/>
          </p:nvSpPr>
          <p:spPr bwMode="auto">
            <a:xfrm>
              <a:off x="2160" y="2286"/>
              <a:ext cx="21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2</a:t>
              </a:r>
              <a:endParaRPr lang="en-US" altLang="zh-CN" sz="3530" b="1"/>
            </a:p>
          </p:txBody>
        </p:sp>
        <p:sp>
          <p:nvSpPr>
            <p:cNvPr id="500765" name="Rectangle 29"/>
            <p:cNvSpPr>
              <a:spLocks noChangeArrowheads="1"/>
            </p:cNvSpPr>
            <p:nvPr/>
          </p:nvSpPr>
          <p:spPr bwMode="auto">
            <a:xfrm>
              <a:off x="1056" y="2256"/>
              <a:ext cx="218"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4</a:t>
              </a:r>
              <a:endParaRPr lang="en-US" altLang="zh-CN" sz="3530" b="1"/>
            </a:p>
          </p:txBody>
        </p:sp>
        <p:sp>
          <p:nvSpPr>
            <p:cNvPr id="500766" name="Rectangle 30"/>
            <p:cNvSpPr>
              <a:spLocks noChangeArrowheads="1"/>
            </p:cNvSpPr>
            <p:nvPr/>
          </p:nvSpPr>
          <p:spPr bwMode="auto">
            <a:xfrm>
              <a:off x="2400" y="1728"/>
              <a:ext cx="225"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3</a:t>
              </a:r>
              <a:endParaRPr lang="en-US" altLang="zh-CN" sz="3530" b="1"/>
            </a:p>
          </p:txBody>
        </p:sp>
        <p:sp>
          <p:nvSpPr>
            <p:cNvPr id="500767" name="Rectangle 31"/>
            <p:cNvSpPr>
              <a:spLocks noChangeArrowheads="1"/>
            </p:cNvSpPr>
            <p:nvPr/>
          </p:nvSpPr>
          <p:spPr bwMode="auto">
            <a:xfrm>
              <a:off x="2304" y="2976"/>
              <a:ext cx="225"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3</a:t>
              </a:r>
              <a:endParaRPr lang="en-US" altLang="zh-CN" sz="3530" b="1"/>
            </a:p>
          </p:txBody>
        </p:sp>
        <p:sp>
          <p:nvSpPr>
            <p:cNvPr id="500768" name="Rectangle 32"/>
            <p:cNvSpPr>
              <a:spLocks noChangeArrowheads="1"/>
            </p:cNvSpPr>
            <p:nvPr/>
          </p:nvSpPr>
          <p:spPr bwMode="auto">
            <a:xfrm>
              <a:off x="3264" y="2256"/>
              <a:ext cx="192"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1</a:t>
              </a:r>
              <a:endParaRPr lang="en-US" altLang="zh-CN" sz="3530" b="1"/>
            </a:p>
          </p:txBody>
        </p:sp>
        <p:sp>
          <p:nvSpPr>
            <p:cNvPr id="500769" name="Rectangle 33"/>
            <p:cNvSpPr>
              <a:spLocks noChangeArrowheads="1"/>
            </p:cNvSpPr>
            <p:nvPr/>
          </p:nvSpPr>
          <p:spPr bwMode="auto">
            <a:xfrm>
              <a:off x="4272" y="1968"/>
              <a:ext cx="21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2</a:t>
              </a:r>
              <a:endParaRPr lang="en-US" altLang="zh-CN" sz="3530" b="1"/>
            </a:p>
          </p:txBody>
        </p:sp>
        <p:sp>
          <p:nvSpPr>
            <p:cNvPr id="500770" name="Rectangle 34"/>
            <p:cNvSpPr>
              <a:spLocks noChangeArrowheads="1"/>
            </p:cNvSpPr>
            <p:nvPr/>
          </p:nvSpPr>
          <p:spPr bwMode="auto">
            <a:xfrm>
              <a:off x="4560" y="2544"/>
              <a:ext cx="192"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1</a:t>
              </a:r>
              <a:endParaRPr lang="en-US" altLang="zh-CN" sz="3530" b="1"/>
            </a:p>
          </p:txBody>
        </p:sp>
      </p:grpSp>
      <p:sp>
        <p:nvSpPr>
          <p:cNvPr id="500771" name="Rectangle 35"/>
          <p:cNvSpPr>
            <a:spLocks noChangeArrowheads="1"/>
          </p:cNvSpPr>
          <p:nvPr/>
        </p:nvSpPr>
        <p:spPr bwMode="auto">
          <a:xfrm>
            <a:off x="2854460" y="504086"/>
            <a:ext cx="3440365" cy="63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zh-CN" altLang="en-US" sz="3530" b="1">
                <a:solidFill>
                  <a:srgbClr val="FF3300"/>
                </a:solidFill>
              </a:rPr>
              <a:t>绘制网络图规则</a:t>
            </a:r>
            <a:r>
              <a:rPr lang="en-US" altLang="zh-CN" sz="3530" b="1">
                <a:solidFill>
                  <a:srgbClr val="FF3300"/>
                </a:solidFill>
              </a:rPr>
              <a:t>:</a:t>
            </a:r>
            <a:endParaRPr lang="en-US" altLang="zh-CN" sz="3530" b="1">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0739"/>
                                        </p:tgtEl>
                                        <p:attrNameLst>
                                          <p:attrName>style.visibility</p:attrName>
                                        </p:attrNameLst>
                                      </p:cBhvr>
                                      <p:to>
                                        <p:strVal val="visible"/>
                                      </p:to>
                                    </p:set>
                                    <p:animEffect transition="in" filter="wipe(left)">
                                      <p:cBhvr>
                                        <p:cTn id="7" dur="500"/>
                                        <p:tgtEl>
                                          <p:spTgt spid="500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62" name="Group 2"/>
          <p:cNvGrpSpPr/>
          <p:nvPr/>
        </p:nvGrpSpPr>
        <p:grpSpPr bwMode="auto">
          <a:xfrm>
            <a:off x="1643257" y="1260210"/>
            <a:ext cx="8882734" cy="4683782"/>
            <a:chOff x="336" y="912"/>
            <a:chExt cx="5075" cy="2676"/>
          </a:xfrm>
        </p:grpSpPr>
        <p:sp>
          <p:nvSpPr>
            <p:cNvPr id="501763" name="Oval 3"/>
            <p:cNvSpPr>
              <a:spLocks noChangeArrowheads="1"/>
            </p:cNvSpPr>
            <p:nvPr/>
          </p:nvSpPr>
          <p:spPr bwMode="auto">
            <a:xfrm>
              <a:off x="336" y="192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64" name="Oval 4"/>
            <p:cNvSpPr>
              <a:spLocks noChangeArrowheads="1"/>
            </p:cNvSpPr>
            <p:nvPr/>
          </p:nvSpPr>
          <p:spPr bwMode="auto">
            <a:xfrm>
              <a:off x="1536" y="192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65" name="Rectangle 5"/>
            <p:cNvSpPr>
              <a:spLocks noChangeArrowheads="1"/>
            </p:cNvSpPr>
            <p:nvPr/>
          </p:nvSpPr>
          <p:spPr bwMode="auto">
            <a:xfrm>
              <a:off x="432" y="1968"/>
              <a:ext cx="20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1</a:t>
              </a:r>
              <a:endParaRPr lang="en-US" altLang="zh-CN" sz="3530" b="1"/>
            </a:p>
          </p:txBody>
        </p:sp>
        <p:sp>
          <p:nvSpPr>
            <p:cNvPr id="501766" name="Rectangle 6"/>
            <p:cNvSpPr>
              <a:spLocks noChangeArrowheads="1"/>
            </p:cNvSpPr>
            <p:nvPr/>
          </p:nvSpPr>
          <p:spPr bwMode="auto">
            <a:xfrm>
              <a:off x="1632" y="1968"/>
              <a:ext cx="23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2</a:t>
              </a:r>
              <a:endParaRPr lang="en-US" altLang="zh-CN" sz="3530" b="1"/>
            </a:p>
          </p:txBody>
        </p:sp>
        <p:sp>
          <p:nvSpPr>
            <p:cNvPr id="501767" name="Oval 7"/>
            <p:cNvSpPr>
              <a:spLocks noChangeArrowheads="1"/>
            </p:cNvSpPr>
            <p:nvPr/>
          </p:nvSpPr>
          <p:spPr bwMode="auto">
            <a:xfrm>
              <a:off x="2208" y="912"/>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68" name="Rectangle 8"/>
            <p:cNvSpPr>
              <a:spLocks noChangeArrowheads="1"/>
            </p:cNvSpPr>
            <p:nvPr/>
          </p:nvSpPr>
          <p:spPr bwMode="auto">
            <a:xfrm>
              <a:off x="2304" y="960"/>
              <a:ext cx="24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3</a:t>
              </a:r>
              <a:endParaRPr lang="en-US" altLang="zh-CN" sz="3530" b="1"/>
            </a:p>
          </p:txBody>
        </p:sp>
        <p:sp>
          <p:nvSpPr>
            <p:cNvPr id="501769" name="Oval 9"/>
            <p:cNvSpPr>
              <a:spLocks noChangeArrowheads="1"/>
            </p:cNvSpPr>
            <p:nvPr/>
          </p:nvSpPr>
          <p:spPr bwMode="auto">
            <a:xfrm>
              <a:off x="2688" y="192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70" name="Rectangle 10"/>
            <p:cNvSpPr>
              <a:spLocks noChangeArrowheads="1"/>
            </p:cNvSpPr>
            <p:nvPr/>
          </p:nvSpPr>
          <p:spPr bwMode="auto">
            <a:xfrm>
              <a:off x="2784" y="1968"/>
              <a:ext cx="235"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4</a:t>
              </a:r>
              <a:endParaRPr lang="en-US" altLang="zh-CN" sz="3530" b="1"/>
            </a:p>
          </p:txBody>
        </p:sp>
        <p:sp>
          <p:nvSpPr>
            <p:cNvPr id="501771" name="Oval 11"/>
            <p:cNvSpPr>
              <a:spLocks noChangeArrowheads="1"/>
            </p:cNvSpPr>
            <p:nvPr/>
          </p:nvSpPr>
          <p:spPr bwMode="auto">
            <a:xfrm>
              <a:off x="3888" y="192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72" name="Rectangle 12"/>
            <p:cNvSpPr>
              <a:spLocks noChangeArrowheads="1"/>
            </p:cNvSpPr>
            <p:nvPr/>
          </p:nvSpPr>
          <p:spPr bwMode="auto">
            <a:xfrm>
              <a:off x="3984" y="1968"/>
              <a:ext cx="24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6</a:t>
              </a:r>
              <a:endParaRPr lang="en-US" altLang="zh-CN" sz="3530" b="1"/>
            </a:p>
          </p:txBody>
        </p:sp>
        <p:sp>
          <p:nvSpPr>
            <p:cNvPr id="501773" name="Oval 13"/>
            <p:cNvSpPr>
              <a:spLocks noChangeArrowheads="1"/>
            </p:cNvSpPr>
            <p:nvPr/>
          </p:nvSpPr>
          <p:spPr bwMode="auto">
            <a:xfrm>
              <a:off x="2736" y="2976"/>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74" name="Rectangle 14"/>
            <p:cNvSpPr>
              <a:spLocks noChangeArrowheads="1"/>
            </p:cNvSpPr>
            <p:nvPr/>
          </p:nvSpPr>
          <p:spPr bwMode="auto">
            <a:xfrm>
              <a:off x="2832" y="3024"/>
              <a:ext cx="245"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5</a:t>
              </a:r>
              <a:endParaRPr lang="en-US" altLang="zh-CN" sz="3530" b="1"/>
            </a:p>
          </p:txBody>
        </p:sp>
        <p:sp>
          <p:nvSpPr>
            <p:cNvPr id="501775" name="Oval 15"/>
            <p:cNvSpPr>
              <a:spLocks noChangeArrowheads="1"/>
            </p:cNvSpPr>
            <p:nvPr/>
          </p:nvSpPr>
          <p:spPr bwMode="auto">
            <a:xfrm>
              <a:off x="4896" y="960"/>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76" name="Rectangle 16"/>
            <p:cNvSpPr>
              <a:spLocks noChangeArrowheads="1"/>
            </p:cNvSpPr>
            <p:nvPr/>
          </p:nvSpPr>
          <p:spPr bwMode="auto">
            <a:xfrm>
              <a:off x="4992" y="1008"/>
              <a:ext cx="20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7</a:t>
              </a:r>
              <a:endParaRPr lang="en-US" altLang="zh-CN" sz="3530" b="1"/>
            </a:p>
          </p:txBody>
        </p:sp>
        <p:sp>
          <p:nvSpPr>
            <p:cNvPr id="501777" name="Oval 17"/>
            <p:cNvSpPr>
              <a:spLocks noChangeArrowheads="1"/>
            </p:cNvSpPr>
            <p:nvPr/>
          </p:nvSpPr>
          <p:spPr bwMode="auto">
            <a:xfrm>
              <a:off x="4944" y="2928"/>
              <a:ext cx="432" cy="432"/>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78" name="Rectangle 18"/>
            <p:cNvSpPr>
              <a:spLocks noChangeArrowheads="1"/>
            </p:cNvSpPr>
            <p:nvPr/>
          </p:nvSpPr>
          <p:spPr bwMode="auto">
            <a:xfrm>
              <a:off x="5040" y="2976"/>
              <a:ext cx="24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530" b="1"/>
                <a:t>8</a:t>
              </a:r>
              <a:endParaRPr lang="en-US" altLang="zh-CN" sz="3530" b="1"/>
            </a:p>
          </p:txBody>
        </p:sp>
        <p:sp>
          <p:nvSpPr>
            <p:cNvPr id="501779" name="Line 19"/>
            <p:cNvSpPr>
              <a:spLocks noChangeShapeType="1"/>
            </p:cNvSpPr>
            <p:nvPr/>
          </p:nvSpPr>
          <p:spPr bwMode="auto">
            <a:xfrm>
              <a:off x="768" y="2160"/>
              <a:ext cx="768"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80" name="Line 20"/>
            <p:cNvSpPr>
              <a:spLocks noChangeShapeType="1"/>
            </p:cNvSpPr>
            <p:nvPr/>
          </p:nvSpPr>
          <p:spPr bwMode="auto">
            <a:xfrm>
              <a:off x="1968" y="2160"/>
              <a:ext cx="720"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81" name="Line 21"/>
            <p:cNvSpPr>
              <a:spLocks noChangeShapeType="1"/>
            </p:cNvSpPr>
            <p:nvPr/>
          </p:nvSpPr>
          <p:spPr bwMode="auto">
            <a:xfrm>
              <a:off x="3120" y="2160"/>
              <a:ext cx="768" cy="0"/>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82" name="Line 22"/>
            <p:cNvSpPr>
              <a:spLocks noChangeShapeType="1"/>
            </p:cNvSpPr>
            <p:nvPr/>
          </p:nvSpPr>
          <p:spPr bwMode="auto">
            <a:xfrm flipV="1">
              <a:off x="4272" y="1344"/>
              <a:ext cx="672" cy="624"/>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83" name="Line 23"/>
            <p:cNvSpPr>
              <a:spLocks noChangeShapeType="1"/>
            </p:cNvSpPr>
            <p:nvPr/>
          </p:nvSpPr>
          <p:spPr bwMode="auto">
            <a:xfrm>
              <a:off x="4272" y="2304"/>
              <a:ext cx="720" cy="672"/>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84" name="Line 24"/>
            <p:cNvSpPr>
              <a:spLocks noChangeShapeType="1"/>
            </p:cNvSpPr>
            <p:nvPr/>
          </p:nvSpPr>
          <p:spPr bwMode="auto">
            <a:xfrm>
              <a:off x="1872" y="2304"/>
              <a:ext cx="912" cy="768"/>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85" name="Line 25"/>
            <p:cNvSpPr>
              <a:spLocks noChangeShapeType="1"/>
            </p:cNvSpPr>
            <p:nvPr/>
          </p:nvSpPr>
          <p:spPr bwMode="auto">
            <a:xfrm>
              <a:off x="2592" y="1296"/>
              <a:ext cx="288" cy="624"/>
            </a:xfrm>
            <a:prstGeom prst="line">
              <a:avLst/>
            </a:prstGeom>
            <a:noFill/>
            <a:ln w="158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86" name="Line 26"/>
            <p:cNvSpPr>
              <a:spLocks noChangeShapeType="1"/>
            </p:cNvSpPr>
            <p:nvPr/>
          </p:nvSpPr>
          <p:spPr bwMode="auto">
            <a:xfrm flipV="1">
              <a:off x="624" y="1200"/>
              <a:ext cx="1584" cy="720"/>
            </a:xfrm>
            <a:prstGeom prst="line">
              <a:avLst/>
            </a:prstGeom>
            <a:noFill/>
            <a:ln w="15875">
              <a:solidFill>
                <a:schemeClr val="tx1"/>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87" name="Line 27"/>
            <p:cNvSpPr>
              <a:spLocks noChangeShapeType="1"/>
            </p:cNvSpPr>
            <p:nvPr/>
          </p:nvSpPr>
          <p:spPr bwMode="auto">
            <a:xfrm flipV="1">
              <a:off x="3168" y="3168"/>
              <a:ext cx="1776" cy="48"/>
            </a:xfrm>
            <a:prstGeom prst="line">
              <a:avLst/>
            </a:prstGeom>
            <a:noFill/>
            <a:ln w="15875">
              <a:solidFill>
                <a:schemeClr val="tx1"/>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88" name="Line 28"/>
            <p:cNvSpPr>
              <a:spLocks noChangeShapeType="1"/>
            </p:cNvSpPr>
            <p:nvPr/>
          </p:nvSpPr>
          <p:spPr bwMode="auto">
            <a:xfrm>
              <a:off x="5136" y="1392"/>
              <a:ext cx="0" cy="1536"/>
            </a:xfrm>
            <a:prstGeom prst="line">
              <a:avLst/>
            </a:prstGeom>
            <a:noFill/>
            <a:ln w="15875">
              <a:solidFill>
                <a:schemeClr val="tx1"/>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789" name="Rectangle 29"/>
            <p:cNvSpPr>
              <a:spLocks noChangeArrowheads="1"/>
            </p:cNvSpPr>
            <p:nvPr/>
          </p:nvSpPr>
          <p:spPr bwMode="auto">
            <a:xfrm>
              <a:off x="2208" y="1824"/>
              <a:ext cx="21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2</a:t>
              </a:r>
              <a:endParaRPr lang="en-US" altLang="zh-CN" sz="3530" b="1"/>
            </a:p>
          </p:txBody>
        </p:sp>
        <p:sp>
          <p:nvSpPr>
            <p:cNvPr id="501790" name="Rectangle 30"/>
            <p:cNvSpPr>
              <a:spLocks noChangeArrowheads="1"/>
            </p:cNvSpPr>
            <p:nvPr/>
          </p:nvSpPr>
          <p:spPr bwMode="auto">
            <a:xfrm>
              <a:off x="1008" y="2208"/>
              <a:ext cx="218"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4</a:t>
              </a:r>
              <a:endParaRPr lang="en-US" altLang="zh-CN" sz="3530" b="1"/>
            </a:p>
          </p:txBody>
        </p:sp>
        <p:sp>
          <p:nvSpPr>
            <p:cNvPr id="501791" name="Rectangle 31"/>
            <p:cNvSpPr>
              <a:spLocks noChangeArrowheads="1"/>
            </p:cNvSpPr>
            <p:nvPr/>
          </p:nvSpPr>
          <p:spPr bwMode="auto">
            <a:xfrm>
              <a:off x="1248" y="1200"/>
              <a:ext cx="227"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0</a:t>
              </a:r>
              <a:endParaRPr lang="en-US" altLang="zh-CN" sz="3530" b="1"/>
            </a:p>
          </p:txBody>
        </p:sp>
        <p:sp>
          <p:nvSpPr>
            <p:cNvPr id="501792" name="Rectangle 32"/>
            <p:cNvSpPr>
              <a:spLocks noChangeArrowheads="1"/>
            </p:cNvSpPr>
            <p:nvPr/>
          </p:nvSpPr>
          <p:spPr bwMode="auto">
            <a:xfrm>
              <a:off x="2784" y="1296"/>
              <a:ext cx="225"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3</a:t>
              </a:r>
              <a:endParaRPr lang="en-US" altLang="zh-CN" sz="3530" b="1"/>
            </a:p>
          </p:txBody>
        </p:sp>
        <p:sp>
          <p:nvSpPr>
            <p:cNvPr id="501793" name="Rectangle 33"/>
            <p:cNvSpPr>
              <a:spLocks noChangeArrowheads="1"/>
            </p:cNvSpPr>
            <p:nvPr/>
          </p:nvSpPr>
          <p:spPr bwMode="auto">
            <a:xfrm>
              <a:off x="3360" y="1824"/>
              <a:ext cx="192"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1</a:t>
              </a:r>
              <a:endParaRPr lang="en-US" altLang="zh-CN" sz="3530" b="1"/>
            </a:p>
          </p:txBody>
        </p:sp>
        <p:sp>
          <p:nvSpPr>
            <p:cNvPr id="501794" name="Rectangle 34"/>
            <p:cNvSpPr>
              <a:spLocks noChangeArrowheads="1"/>
            </p:cNvSpPr>
            <p:nvPr/>
          </p:nvSpPr>
          <p:spPr bwMode="auto">
            <a:xfrm>
              <a:off x="2448" y="2448"/>
              <a:ext cx="225"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3</a:t>
              </a:r>
              <a:endParaRPr lang="en-US" altLang="zh-CN" sz="3530" b="1"/>
            </a:p>
          </p:txBody>
        </p:sp>
        <p:sp>
          <p:nvSpPr>
            <p:cNvPr id="501795" name="Rectangle 35"/>
            <p:cNvSpPr>
              <a:spLocks noChangeArrowheads="1"/>
            </p:cNvSpPr>
            <p:nvPr/>
          </p:nvSpPr>
          <p:spPr bwMode="auto">
            <a:xfrm>
              <a:off x="3888" y="3264"/>
              <a:ext cx="227"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0</a:t>
              </a:r>
              <a:endParaRPr lang="en-US" altLang="zh-CN" sz="3530" b="1"/>
            </a:p>
          </p:txBody>
        </p:sp>
        <p:sp>
          <p:nvSpPr>
            <p:cNvPr id="501796" name="Rectangle 36"/>
            <p:cNvSpPr>
              <a:spLocks noChangeArrowheads="1"/>
            </p:cNvSpPr>
            <p:nvPr/>
          </p:nvSpPr>
          <p:spPr bwMode="auto">
            <a:xfrm>
              <a:off x="4368" y="1344"/>
              <a:ext cx="21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2</a:t>
              </a:r>
              <a:endParaRPr lang="en-US" altLang="zh-CN" sz="3530" b="1"/>
            </a:p>
          </p:txBody>
        </p:sp>
        <p:sp>
          <p:nvSpPr>
            <p:cNvPr id="501797" name="Rectangle 37"/>
            <p:cNvSpPr>
              <a:spLocks noChangeArrowheads="1"/>
            </p:cNvSpPr>
            <p:nvPr/>
          </p:nvSpPr>
          <p:spPr bwMode="auto">
            <a:xfrm>
              <a:off x="5184" y="1920"/>
              <a:ext cx="227"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0</a:t>
              </a:r>
              <a:endParaRPr lang="en-US" altLang="zh-CN" sz="3530" b="1"/>
            </a:p>
          </p:txBody>
        </p:sp>
        <p:sp>
          <p:nvSpPr>
            <p:cNvPr id="501798" name="Rectangle 38"/>
            <p:cNvSpPr>
              <a:spLocks noChangeArrowheads="1"/>
            </p:cNvSpPr>
            <p:nvPr/>
          </p:nvSpPr>
          <p:spPr bwMode="auto">
            <a:xfrm>
              <a:off x="4560" y="2256"/>
              <a:ext cx="192"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FontTx/>
                <a:buNone/>
              </a:pPr>
              <a:r>
                <a:rPr lang="en-US" altLang="zh-CN" sz="3085" b="1"/>
                <a:t>1</a:t>
              </a:r>
              <a:endParaRPr lang="en-US" altLang="zh-CN" sz="3530"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501762"/>
                                        </p:tgtEl>
                                        <p:attrNameLst>
                                          <p:attrName>style.visibility</p:attrName>
                                        </p:attrNameLst>
                                      </p:cBhvr>
                                      <p:to>
                                        <p:strVal val="visible"/>
                                      </p:to>
                                    </p:set>
                                    <p:animEffect transition="in" filter="blinds(vertical)">
                                      <p:cBhvr>
                                        <p:cTn id="7" dur="500"/>
                                        <p:tgtEl>
                                          <p:spTgt spid="501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ChangeArrowheads="1"/>
          </p:cNvSpPr>
          <p:nvPr/>
        </p:nvSpPr>
        <p:spPr bwMode="auto">
          <a:xfrm>
            <a:off x="2933223" y="295800"/>
            <a:ext cx="2771593"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spcBef>
                <a:spcPct val="0"/>
              </a:spcBef>
              <a:buFontTx/>
              <a:buNone/>
            </a:pPr>
            <a:r>
              <a:rPr lang="zh-CN" altLang="en-US" sz="3085" b="1"/>
              <a:t>绘制工程网络图</a:t>
            </a:r>
            <a:endParaRPr lang="zh-CN" altLang="en-US" sz="3085" b="1"/>
          </a:p>
        </p:txBody>
      </p:sp>
      <p:sp>
        <p:nvSpPr>
          <p:cNvPr id="82947" name="Text Box 3"/>
          <p:cNvSpPr txBox="1">
            <a:spLocks noChangeArrowheads="1"/>
          </p:cNvSpPr>
          <p:nvPr/>
        </p:nvSpPr>
        <p:spPr bwMode="auto">
          <a:xfrm>
            <a:off x="1739525" y="1163946"/>
            <a:ext cx="6402569"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2645" b="1"/>
              <a:t>（</a:t>
            </a:r>
            <a:r>
              <a:rPr lang="en-US" altLang="zh-CN" sz="2645" b="1"/>
              <a:t>1</a:t>
            </a:r>
            <a:r>
              <a:rPr lang="zh-CN" altLang="en-US" sz="2645" b="1"/>
              <a:t>）顺序：按工序的先后从左至右</a:t>
            </a:r>
            <a:endParaRPr lang="zh-CN" altLang="en-US" sz="2645" b="1"/>
          </a:p>
        </p:txBody>
      </p:sp>
      <p:sp>
        <p:nvSpPr>
          <p:cNvPr id="82948" name="Text Box 4"/>
          <p:cNvSpPr txBox="1">
            <a:spLocks noChangeArrowheads="1"/>
          </p:cNvSpPr>
          <p:nvPr/>
        </p:nvSpPr>
        <p:spPr bwMode="auto">
          <a:xfrm>
            <a:off x="1739523" y="1711787"/>
            <a:ext cx="2770712"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2645" b="1"/>
              <a:t>（</a:t>
            </a:r>
            <a:r>
              <a:rPr lang="en-US" altLang="zh-CN" sz="2645" b="1"/>
              <a:t>2</a:t>
            </a:r>
            <a:r>
              <a:rPr lang="zh-CN" altLang="en-US" sz="2645" b="1"/>
              <a:t>）图的结构</a:t>
            </a:r>
            <a:endParaRPr lang="zh-CN" altLang="en-US" sz="2645" b="1"/>
          </a:p>
        </p:txBody>
      </p:sp>
      <p:sp>
        <p:nvSpPr>
          <p:cNvPr id="82949" name="AutoShape 5"/>
          <p:cNvSpPr/>
          <p:nvPr/>
        </p:nvSpPr>
        <p:spPr bwMode="auto">
          <a:xfrm>
            <a:off x="1933807" y="2396151"/>
            <a:ext cx="320304" cy="1211202"/>
          </a:xfrm>
          <a:prstGeom prst="leftBrace">
            <a:avLst>
              <a:gd name="adj1" fmla="val 31512"/>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nchor="ctr"/>
          <a:lstStyle/>
          <a:p>
            <a:endParaRPr lang="zh-CN" altLang="en-US"/>
          </a:p>
        </p:txBody>
      </p:sp>
      <p:sp>
        <p:nvSpPr>
          <p:cNvPr id="82950" name="Text Box 6"/>
          <p:cNvSpPr txBox="1">
            <a:spLocks noChangeArrowheads="1"/>
          </p:cNvSpPr>
          <p:nvPr/>
        </p:nvSpPr>
        <p:spPr bwMode="auto">
          <a:xfrm>
            <a:off x="2276864" y="2322640"/>
            <a:ext cx="703617"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2645" b="1">
                <a:solidFill>
                  <a:srgbClr val="3333FF"/>
                </a:solidFill>
              </a:rPr>
              <a:t>弧：</a:t>
            </a:r>
            <a:endParaRPr lang="zh-CN" altLang="en-US" sz="2645" b="1">
              <a:solidFill>
                <a:srgbClr val="3333FF"/>
              </a:solidFill>
            </a:endParaRPr>
          </a:p>
        </p:txBody>
      </p:sp>
      <p:grpSp>
        <p:nvGrpSpPr>
          <p:cNvPr id="82951" name="Group 7"/>
          <p:cNvGrpSpPr/>
          <p:nvPr/>
        </p:nvGrpSpPr>
        <p:grpSpPr bwMode="auto">
          <a:xfrm>
            <a:off x="3053994" y="2285884"/>
            <a:ext cx="8034776" cy="558344"/>
            <a:chOff x="1342" y="1306"/>
            <a:chExt cx="4358" cy="319"/>
          </a:xfrm>
        </p:grpSpPr>
        <p:grpSp>
          <p:nvGrpSpPr>
            <p:cNvPr id="82952" name="Group 8"/>
            <p:cNvGrpSpPr/>
            <p:nvPr/>
          </p:nvGrpSpPr>
          <p:grpSpPr bwMode="auto">
            <a:xfrm>
              <a:off x="1342" y="1306"/>
              <a:ext cx="227" cy="275"/>
              <a:chOff x="2021" y="1945"/>
              <a:chExt cx="227" cy="275"/>
            </a:xfrm>
          </p:grpSpPr>
          <p:sp>
            <p:nvSpPr>
              <p:cNvPr id="82953" name="Oval 9"/>
              <p:cNvSpPr>
                <a:spLocks noChangeArrowheads="1"/>
              </p:cNvSpPr>
              <p:nvPr/>
            </p:nvSpPr>
            <p:spPr bwMode="auto">
              <a:xfrm>
                <a:off x="2021" y="1966"/>
                <a:ext cx="227"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nchor="ctr"/>
              <a:lstStyle/>
              <a:p>
                <a:pPr>
                  <a:spcBef>
                    <a:spcPct val="0"/>
                  </a:spcBef>
                  <a:buFontTx/>
                  <a:buNone/>
                </a:pPr>
                <a:endParaRPr lang="zh-CN" altLang="zh-CN" b="1" i="1"/>
              </a:p>
            </p:txBody>
          </p:sp>
          <p:graphicFrame>
            <p:nvGraphicFramePr>
              <p:cNvPr id="82954" name="Object 10"/>
              <p:cNvGraphicFramePr>
                <a:graphicFrameLocks noChangeAspect="1"/>
              </p:cNvGraphicFramePr>
              <p:nvPr/>
            </p:nvGraphicFramePr>
            <p:xfrm>
              <a:off x="2061" y="1945"/>
              <a:ext cx="160" cy="275"/>
            </p:xfrm>
            <a:graphic>
              <a:graphicData uri="http://schemas.openxmlformats.org/presentationml/2006/ole">
                <mc:AlternateContent xmlns:mc="http://schemas.openxmlformats.org/markup-compatibility/2006">
                  <mc:Choice xmlns:v="urn:schemas-microsoft-com:vml" Requires="v">
                    <p:oleObj spid="_x0000_s8206" name="Equation" r:id="rId1" imgW="88900" imgH="152400" progId="Equation.3">
                      <p:embed/>
                    </p:oleObj>
                  </mc:Choice>
                  <mc:Fallback>
                    <p:oleObj name="Equation" r:id="rId1" imgW="88900" imgH="152400" progId="Equation.3">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1" y="1945"/>
                            <a:ext cx="160"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955" name="Group 11"/>
            <p:cNvGrpSpPr/>
            <p:nvPr/>
          </p:nvGrpSpPr>
          <p:grpSpPr bwMode="auto">
            <a:xfrm>
              <a:off x="2036" y="1327"/>
              <a:ext cx="227" cy="250"/>
              <a:chOff x="2715" y="1966"/>
              <a:chExt cx="227" cy="250"/>
            </a:xfrm>
          </p:grpSpPr>
          <p:sp>
            <p:nvSpPr>
              <p:cNvPr id="82956" name="Oval 12"/>
              <p:cNvSpPr>
                <a:spLocks noChangeArrowheads="1"/>
              </p:cNvSpPr>
              <p:nvPr/>
            </p:nvSpPr>
            <p:spPr bwMode="auto">
              <a:xfrm>
                <a:off x="2715" y="1966"/>
                <a:ext cx="227"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nchor="ctr"/>
              <a:lstStyle/>
              <a:p>
                <a:pPr>
                  <a:spcBef>
                    <a:spcPct val="0"/>
                  </a:spcBef>
                  <a:buFontTx/>
                  <a:buNone/>
                </a:pPr>
                <a:endParaRPr lang="zh-CN" altLang="zh-CN" sz="1545" b="1" i="1"/>
              </a:p>
            </p:txBody>
          </p:sp>
          <p:graphicFrame>
            <p:nvGraphicFramePr>
              <p:cNvPr id="82957" name="Object 13"/>
              <p:cNvGraphicFramePr>
                <a:graphicFrameLocks noChangeAspect="1"/>
              </p:cNvGraphicFramePr>
              <p:nvPr/>
            </p:nvGraphicFramePr>
            <p:xfrm>
              <a:off x="2755" y="1966"/>
              <a:ext cx="161" cy="250"/>
            </p:xfrm>
            <a:graphic>
              <a:graphicData uri="http://schemas.openxmlformats.org/presentationml/2006/ole">
                <mc:AlternateContent xmlns:mc="http://schemas.openxmlformats.org/markup-compatibility/2006">
                  <mc:Choice xmlns:v="urn:schemas-microsoft-com:vml" Requires="v">
                    <p:oleObj spid="_x0000_s8207" name="Equation" r:id="rId3" imgW="114300" imgH="177800" progId="Equation.3">
                      <p:embed/>
                    </p:oleObj>
                  </mc:Choice>
                  <mc:Fallback>
                    <p:oleObj name="Equation" r:id="rId3" imgW="114300" imgH="1778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5" y="1966"/>
                            <a:ext cx="16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cxnSp>
          <p:nvCxnSpPr>
            <p:cNvPr id="82958" name="AutoShape 14"/>
            <p:cNvCxnSpPr>
              <a:cxnSpLocks noChangeShapeType="1"/>
            </p:cNvCxnSpPr>
            <p:nvPr/>
          </p:nvCxnSpPr>
          <p:spPr bwMode="auto">
            <a:xfrm>
              <a:off x="1569" y="1437"/>
              <a:ext cx="467"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959" name="Text Box 15"/>
            <p:cNvSpPr txBox="1">
              <a:spLocks noChangeArrowheads="1"/>
            </p:cNvSpPr>
            <p:nvPr/>
          </p:nvSpPr>
          <p:spPr bwMode="auto">
            <a:xfrm>
              <a:off x="2402" y="1327"/>
              <a:ext cx="91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2645" b="1"/>
                <a:t>表示工序</a:t>
              </a:r>
              <a:endParaRPr lang="zh-CN" altLang="en-US" sz="2645" b="1"/>
            </a:p>
          </p:txBody>
        </p:sp>
        <p:grpSp>
          <p:nvGrpSpPr>
            <p:cNvPr id="82960" name="Group 16"/>
            <p:cNvGrpSpPr/>
            <p:nvPr/>
          </p:nvGrpSpPr>
          <p:grpSpPr bwMode="auto">
            <a:xfrm>
              <a:off x="3338" y="1326"/>
              <a:ext cx="227" cy="275"/>
              <a:chOff x="2021" y="1945"/>
              <a:chExt cx="227" cy="275"/>
            </a:xfrm>
          </p:grpSpPr>
          <p:sp>
            <p:nvSpPr>
              <p:cNvPr id="82961" name="Oval 17"/>
              <p:cNvSpPr>
                <a:spLocks noChangeArrowheads="1"/>
              </p:cNvSpPr>
              <p:nvPr/>
            </p:nvSpPr>
            <p:spPr bwMode="auto">
              <a:xfrm>
                <a:off x="2021" y="1966"/>
                <a:ext cx="227"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nchor="ctr"/>
              <a:lstStyle/>
              <a:p>
                <a:pPr>
                  <a:spcBef>
                    <a:spcPct val="0"/>
                  </a:spcBef>
                  <a:buFontTx/>
                  <a:buNone/>
                </a:pPr>
                <a:endParaRPr lang="zh-CN" altLang="zh-CN" b="1" i="1"/>
              </a:p>
            </p:txBody>
          </p:sp>
          <p:graphicFrame>
            <p:nvGraphicFramePr>
              <p:cNvPr id="82962" name="Object 18"/>
              <p:cNvGraphicFramePr>
                <a:graphicFrameLocks noChangeAspect="1"/>
              </p:cNvGraphicFramePr>
              <p:nvPr/>
            </p:nvGraphicFramePr>
            <p:xfrm>
              <a:off x="2061" y="1945"/>
              <a:ext cx="160" cy="275"/>
            </p:xfrm>
            <a:graphic>
              <a:graphicData uri="http://schemas.openxmlformats.org/presentationml/2006/ole">
                <mc:AlternateContent xmlns:mc="http://schemas.openxmlformats.org/markup-compatibility/2006">
                  <mc:Choice xmlns:v="urn:schemas-microsoft-com:vml" Requires="v">
                    <p:oleObj spid="_x0000_s8208" name="Equation" r:id="rId5" imgW="88900" imgH="152400" progId="Equation.3">
                      <p:embed/>
                    </p:oleObj>
                  </mc:Choice>
                  <mc:Fallback>
                    <p:oleObj name="Equation" r:id="rId5" imgW="88900" imgH="152400" progId="Equation.3">
                      <p:embed/>
                      <p:pic>
                        <p:nvPicPr>
                          <p:cNvPr id="0" name="Object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1" y="1945"/>
                            <a:ext cx="160"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963" name="Group 19"/>
            <p:cNvGrpSpPr/>
            <p:nvPr/>
          </p:nvGrpSpPr>
          <p:grpSpPr bwMode="auto">
            <a:xfrm>
              <a:off x="3692" y="1351"/>
              <a:ext cx="227" cy="250"/>
              <a:chOff x="2715" y="1966"/>
              <a:chExt cx="227" cy="250"/>
            </a:xfrm>
          </p:grpSpPr>
          <p:sp>
            <p:nvSpPr>
              <p:cNvPr id="82964" name="Oval 20"/>
              <p:cNvSpPr>
                <a:spLocks noChangeArrowheads="1"/>
              </p:cNvSpPr>
              <p:nvPr/>
            </p:nvSpPr>
            <p:spPr bwMode="auto">
              <a:xfrm>
                <a:off x="2715" y="1966"/>
                <a:ext cx="227"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nchor="ctr"/>
              <a:lstStyle/>
              <a:p>
                <a:pPr>
                  <a:spcBef>
                    <a:spcPct val="0"/>
                  </a:spcBef>
                  <a:buFontTx/>
                  <a:buNone/>
                </a:pPr>
                <a:endParaRPr lang="zh-CN" altLang="zh-CN" sz="1545" b="1" i="1"/>
              </a:p>
            </p:txBody>
          </p:sp>
          <p:graphicFrame>
            <p:nvGraphicFramePr>
              <p:cNvPr id="82965" name="Object 21"/>
              <p:cNvGraphicFramePr>
                <a:graphicFrameLocks noChangeAspect="1"/>
              </p:cNvGraphicFramePr>
              <p:nvPr/>
            </p:nvGraphicFramePr>
            <p:xfrm>
              <a:off x="2755" y="1966"/>
              <a:ext cx="161" cy="250"/>
            </p:xfrm>
            <a:graphic>
              <a:graphicData uri="http://schemas.openxmlformats.org/presentationml/2006/ole">
                <mc:AlternateContent xmlns:mc="http://schemas.openxmlformats.org/markup-compatibility/2006">
                  <mc:Choice xmlns:v="urn:schemas-microsoft-com:vml" Requires="v">
                    <p:oleObj spid="_x0000_s8209" name="Equation" r:id="rId6" imgW="114300" imgH="177800" progId="Equation.3">
                      <p:embed/>
                    </p:oleObj>
                  </mc:Choice>
                  <mc:Fallback>
                    <p:oleObj name="Equation" r:id="rId6" imgW="114300" imgH="17780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5" y="1966"/>
                            <a:ext cx="16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2966" name="Rectangle 22"/>
            <p:cNvSpPr>
              <a:spLocks noChangeArrowheads="1"/>
            </p:cNvSpPr>
            <p:nvPr/>
          </p:nvSpPr>
          <p:spPr bwMode="auto">
            <a:xfrm>
              <a:off x="3601" y="1347"/>
              <a:ext cx="18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spcBef>
                  <a:spcPct val="0"/>
                </a:spcBef>
                <a:buFontTx/>
                <a:buNone/>
              </a:pPr>
              <a:r>
                <a:rPr lang="zh-CN" altLang="en-US" sz="2645" b="1"/>
                <a:t>、</a:t>
              </a:r>
              <a:endParaRPr lang="zh-CN" altLang="en-US" sz="2645" b="1"/>
            </a:p>
          </p:txBody>
        </p:sp>
        <p:sp>
          <p:nvSpPr>
            <p:cNvPr id="82967" name="Rectangle 23"/>
            <p:cNvSpPr>
              <a:spLocks noChangeArrowheads="1"/>
            </p:cNvSpPr>
            <p:nvPr/>
          </p:nvSpPr>
          <p:spPr bwMode="auto">
            <a:xfrm>
              <a:off x="4041" y="1336"/>
              <a:ext cx="1659"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spcBef>
                  <a:spcPct val="0"/>
                </a:spcBef>
                <a:buFontTx/>
                <a:buNone/>
              </a:pPr>
              <a:r>
                <a:rPr lang="zh-CN" altLang="en-US" sz="2645" b="1"/>
                <a:t>为工序的起点、终点</a:t>
              </a:r>
              <a:endParaRPr lang="zh-CN" altLang="en-US" sz="2645" b="1"/>
            </a:p>
          </p:txBody>
        </p:sp>
      </p:grpSp>
      <p:sp>
        <p:nvSpPr>
          <p:cNvPr id="82968" name="Text Box 24"/>
          <p:cNvSpPr txBox="1">
            <a:spLocks noChangeArrowheads="1"/>
          </p:cNvSpPr>
          <p:nvPr/>
        </p:nvSpPr>
        <p:spPr bwMode="auto">
          <a:xfrm>
            <a:off x="2254111" y="2838975"/>
            <a:ext cx="1149941"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2645" b="1">
                <a:solidFill>
                  <a:srgbClr val="3333FF"/>
                </a:solidFill>
              </a:rPr>
              <a:t>结点：</a:t>
            </a:r>
            <a:endParaRPr lang="zh-CN" altLang="en-US" sz="2645" b="1">
              <a:solidFill>
                <a:srgbClr val="3333FF"/>
              </a:solidFill>
            </a:endParaRPr>
          </a:p>
        </p:txBody>
      </p:sp>
      <p:sp>
        <p:nvSpPr>
          <p:cNvPr id="82969" name="Text Box 25"/>
          <p:cNvSpPr txBox="1">
            <a:spLocks noChangeArrowheads="1"/>
          </p:cNvSpPr>
          <p:nvPr/>
        </p:nvSpPr>
        <p:spPr bwMode="auto">
          <a:xfrm>
            <a:off x="3540575" y="2838975"/>
            <a:ext cx="7475499"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2645" b="1"/>
              <a:t>相邻工序的时间分界点，称为事项</a:t>
            </a:r>
            <a:endParaRPr lang="zh-CN" altLang="en-US" sz="2645" b="1"/>
          </a:p>
        </p:txBody>
      </p:sp>
      <p:sp>
        <p:nvSpPr>
          <p:cNvPr id="82970" name="Text Box 26"/>
          <p:cNvSpPr txBox="1">
            <a:spLocks noChangeArrowheads="1"/>
          </p:cNvSpPr>
          <p:nvPr/>
        </p:nvSpPr>
        <p:spPr bwMode="auto">
          <a:xfrm>
            <a:off x="2254109" y="3320306"/>
            <a:ext cx="726371"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2645" b="1">
                <a:solidFill>
                  <a:srgbClr val="3333FF"/>
                </a:solidFill>
              </a:rPr>
              <a:t>权：</a:t>
            </a:r>
            <a:endParaRPr lang="zh-CN" altLang="en-US" sz="2645" b="1">
              <a:solidFill>
                <a:srgbClr val="3333FF"/>
              </a:solidFill>
            </a:endParaRPr>
          </a:p>
        </p:txBody>
      </p:sp>
      <p:sp>
        <p:nvSpPr>
          <p:cNvPr id="82971" name="Rectangle 27"/>
          <p:cNvSpPr>
            <a:spLocks noChangeArrowheads="1"/>
          </p:cNvSpPr>
          <p:nvPr/>
        </p:nvSpPr>
        <p:spPr bwMode="auto">
          <a:xfrm>
            <a:off x="3257028" y="3320306"/>
            <a:ext cx="2854727"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spcBef>
                <a:spcPct val="0"/>
              </a:spcBef>
              <a:buFontTx/>
              <a:buNone/>
            </a:pPr>
            <a:r>
              <a:rPr lang="zh-CN" altLang="en-US" sz="2645" b="1"/>
              <a:t>工序的完成时间</a:t>
            </a:r>
            <a:endParaRPr lang="zh-CN" altLang="en-US" sz="2645" b="1"/>
          </a:p>
        </p:txBody>
      </p:sp>
      <p:sp>
        <p:nvSpPr>
          <p:cNvPr id="82972" name="Text Box 28"/>
          <p:cNvSpPr txBox="1">
            <a:spLocks noChangeArrowheads="1"/>
          </p:cNvSpPr>
          <p:nvPr/>
        </p:nvSpPr>
        <p:spPr bwMode="auto">
          <a:xfrm>
            <a:off x="1933805" y="3801636"/>
            <a:ext cx="1533256"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2645" b="1">
                <a:solidFill>
                  <a:srgbClr val="3333FF"/>
                </a:solidFill>
              </a:rPr>
              <a:t>相邻弧：</a:t>
            </a:r>
            <a:endParaRPr lang="zh-CN" altLang="en-US" sz="2645" b="1">
              <a:solidFill>
                <a:srgbClr val="3333FF"/>
              </a:solidFill>
            </a:endParaRPr>
          </a:p>
        </p:txBody>
      </p:sp>
      <p:sp>
        <p:nvSpPr>
          <p:cNvPr id="82973" name="Rectangle 29"/>
          <p:cNvSpPr>
            <a:spLocks noChangeArrowheads="1"/>
          </p:cNvSpPr>
          <p:nvPr/>
        </p:nvSpPr>
        <p:spPr bwMode="auto">
          <a:xfrm>
            <a:off x="3404051" y="3801636"/>
            <a:ext cx="6756128"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spcBef>
                <a:spcPct val="0"/>
              </a:spcBef>
              <a:buFontTx/>
              <a:buNone/>
            </a:pPr>
            <a:r>
              <a:rPr lang="zh-CN" altLang="en-US" sz="2645" b="1"/>
              <a:t>工序的前后衔接关系，称为紧前或紧后工序</a:t>
            </a:r>
            <a:endParaRPr lang="zh-CN" altLang="en-US" sz="2645" b="1"/>
          </a:p>
        </p:txBody>
      </p:sp>
      <p:sp>
        <p:nvSpPr>
          <p:cNvPr id="82974" name="Text Box 30"/>
          <p:cNvSpPr txBox="1">
            <a:spLocks noChangeArrowheads="1"/>
          </p:cNvSpPr>
          <p:nvPr/>
        </p:nvSpPr>
        <p:spPr bwMode="auto">
          <a:xfrm>
            <a:off x="1739523" y="4345977"/>
            <a:ext cx="2770712"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2645" b="1"/>
              <a:t>（</a:t>
            </a:r>
            <a:r>
              <a:rPr lang="en-US" altLang="zh-CN" sz="2645" b="1"/>
              <a:t>3</a:t>
            </a:r>
            <a:r>
              <a:rPr lang="zh-CN" altLang="en-US" sz="2645" b="1"/>
              <a:t>）绘图要求</a:t>
            </a:r>
            <a:endParaRPr lang="zh-CN" altLang="en-US" sz="2645" b="1"/>
          </a:p>
        </p:txBody>
      </p:sp>
      <p:sp>
        <p:nvSpPr>
          <p:cNvPr id="82975" name="Rectangle 31"/>
          <p:cNvSpPr>
            <a:spLocks noChangeArrowheads="1"/>
          </p:cNvSpPr>
          <p:nvPr/>
        </p:nvSpPr>
        <p:spPr bwMode="auto">
          <a:xfrm>
            <a:off x="2222604" y="4827307"/>
            <a:ext cx="5097549"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lgn="l">
              <a:spcBef>
                <a:spcPct val="0"/>
              </a:spcBef>
              <a:buFontTx/>
              <a:buNone/>
            </a:pPr>
            <a:r>
              <a:rPr lang="zh-CN" altLang="en-US" sz="2645" b="1"/>
              <a:t>图中不能出现缺口、回路和多重边</a:t>
            </a:r>
            <a:endParaRPr lang="zh-CN" altLang="en-US" sz="2645" b="1"/>
          </a:p>
        </p:txBody>
      </p:sp>
      <p:sp>
        <p:nvSpPr>
          <p:cNvPr id="82976" name="Rectangle 32"/>
          <p:cNvSpPr>
            <a:spLocks noChangeArrowheads="1"/>
          </p:cNvSpPr>
          <p:nvPr/>
        </p:nvSpPr>
        <p:spPr bwMode="auto">
          <a:xfrm>
            <a:off x="1487483" y="5754962"/>
            <a:ext cx="1492999" cy="894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spcBef>
                <a:spcPct val="0"/>
              </a:spcBef>
              <a:buFontTx/>
              <a:buNone/>
            </a:pPr>
            <a:r>
              <a:rPr lang="zh-CN" altLang="en-US" sz="2645" b="1" dirty="0">
                <a:solidFill>
                  <a:srgbClr val="FF0000"/>
                </a:solidFill>
              </a:rPr>
              <a:t>多重边的处理：</a:t>
            </a:r>
            <a:endParaRPr lang="zh-CN" altLang="en-US" sz="2645" b="1" dirty="0">
              <a:solidFill>
                <a:srgbClr val="FF0000"/>
              </a:solidFill>
            </a:endParaRPr>
          </a:p>
        </p:txBody>
      </p:sp>
      <p:grpSp>
        <p:nvGrpSpPr>
          <p:cNvPr id="82977" name="Group 33"/>
          <p:cNvGrpSpPr/>
          <p:nvPr/>
        </p:nvGrpSpPr>
        <p:grpSpPr bwMode="auto">
          <a:xfrm>
            <a:off x="3540573" y="5205370"/>
            <a:ext cx="2002334" cy="1713537"/>
            <a:chOff x="1420" y="2974"/>
            <a:chExt cx="1144" cy="979"/>
          </a:xfrm>
        </p:grpSpPr>
        <p:sp>
          <p:nvSpPr>
            <p:cNvPr id="82978" name="Oval 34"/>
            <p:cNvSpPr>
              <a:spLocks noChangeArrowheads="1"/>
            </p:cNvSpPr>
            <p:nvPr/>
          </p:nvSpPr>
          <p:spPr bwMode="auto">
            <a:xfrm>
              <a:off x="1420" y="3423"/>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a:solidFill>
                    <a:schemeClr val="bg1"/>
                  </a:solidFill>
                </a:rPr>
                <a:t>1</a:t>
              </a:r>
              <a:endParaRPr lang="en-US" altLang="zh-CN">
                <a:solidFill>
                  <a:schemeClr val="bg1"/>
                </a:solidFill>
              </a:endParaRPr>
            </a:p>
          </p:txBody>
        </p:sp>
        <p:sp>
          <p:nvSpPr>
            <p:cNvPr id="82979" name="Oval 35"/>
            <p:cNvSpPr>
              <a:spLocks noChangeArrowheads="1"/>
            </p:cNvSpPr>
            <p:nvPr/>
          </p:nvSpPr>
          <p:spPr bwMode="auto">
            <a:xfrm>
              <a:off x="2344" y="3423"/>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a:solidFill>
                    <a:schemeClr val="bg1"/>
                  </a:solidFill>
                </a:rPr>
                <a:t>2</a:t>
              </a:r>
              <a:endParaRPr lang="en-US" altLang="zh-CN">
                <a:solidFill>
                  <a:schemeClr val="bg1"/>
                </a:solidFill>
              </a:endParaRPr>
            </a:p>
          </p:txBody>
        </p:sp>
        <p:cxnSp>
          <p:nvCxnSpPr>
            <p:cNvPr id="82980" name="AutoShape 36"/>
            <p:cNvCxnSpPr>
              <a:cxnSpLocks noChangeShapeType="1"/>
              <a:stCxn id="82978" idx="0"/>
              <a:endCxn id="82979" idx="1"/>
            </p:cNvCxnSpPr>
            <p:nvPr/>
          </p:nvCxnSpPr>
          <p:spPr bwMode="auto">
            <a:xfrm rot="5400000" flipV="1">
              <a:off x="1937" y="3016"/>
              <a:ext cx="32" cy="846"/>
            </a:xfrm>
            <a:prstGeom prst="curvedConnector3">
              <a:avLst>
                <a:gd name="adj1" fmla="val -737505"/>
              </a:avLst>
            </a:prstGeom>
            <a:noFill/>
            <a:ln w="31750">
              <a:solidFill>
                <a:srgbClr val="0000FF"/>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981" name="AutoShape 37"/>
            <p:cNvCxnSpPr>
              <a:cxnSpLocks noChangeShapeType="1"/>
            </p:cNvCxnSpPr>
            <p:nvPr/>
          </p:nvCxnSpPr>
          <p:spPr bwMode="auto">
            <a:xfrm rot="16200000" flipH="1">
              <a:off x="1973" y="3179"/>
              <a:ext cx="1" cy="924"/>
            </a:xfrm>
            <a:prstGeom prst="curvedConnector3">
              <a:avLst>
                <a:gd name="adj1" fmla="val 24399995"/>
              </a:avLst>
            </a:prstGeom>
            <a:noFill/>
            <a:ln w="31750">
              <a:solidFill>
                <a:srgbClr val="0000FF"/>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982" name="Text Box 38"/>
            <p:cNvSpPr txBox="1">
              <a:spLocks noChangeArrowheads="1"/>
            </p:cNvSpPr>
            <p:nvPr/>
          </p:nvSpPr>
          <p:spPr bwMode="auto">
            <a:xfrm>
              <a:off x="1867" y="2974"/>
              <a:ext cx="21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en-US" altLang="zh-CN" sz="2645" b="1"/>
                <a:t>a</a:t>
              </a:r>
              <a:endParaRPr lang="en-US" altLang="zh-CN" sz="2645" b="1"/>
            </a:p>
          </p:txBody>
        </p:sp>
        <p:sp>
          <p:nvSpPr>
            <p:cNvPr id="82983" name="Text Box 39"/>
            <p:cNvSpPr txBox="1">
              <a:spLocks noChangeArrowheads="1"/>
            </p:cNvSpPr>
            <p:nvPr/>
          </p:nvSpPr>
          <p:spPr bwMode="auto">
            <a:xfrm>
              <a:off x="1867" y="3675"/>
              <a:ext cx="21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en-US" altLang="zh-CN" sz="2645" b="1"/>
                <a:t>b</a:t>
              </a:r>
              <a:endParaRPr lang="en-US" altLang="zh-CN" sz="2645" b="1"/>
            </a:p>
          </p:txBody>
        </p:sp>
      </p:grpSp>
      <p:grpSp>
        <p:nvGrpSpPr>
          <p:cNvPr id="82984" name="Group 40"/>
          <p:cNvGrpSpPr/>
          <p:nvPr/>
        </p:nvGrpSpPr>
        <p:grpSpPr bwMode="auto">
          <a:xfrm>
            <a:off x="7289699" y="5308639"/>
            <a:ext cx="2002334" cy="1871063"/>
            <a:chOff x="3562" y="3033"/>
            <a:chExt cx="1144" cy="1069"/>
          </a:xfrm>
        </p:grpSpPr>
        <p:sp>
          <p:nvSpPr>
            <p:cNvPr id="82985" name="Oval 41"/>
            <p:cNvSpPr>
              <a:spLocks noChangeArrowheads="1"/>
            </p:cNvSpPr>
            <p:nvPr/>
          </p:nvSpPr>
          <p:spPr bwMode="auto">
            <a:xfrm>
              <a:off x="3562" y="3455"/>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a:solidFill>
                    <a:schemeClr val="bg1"/>
                  </a:solidFill>
                </a:rPr>
                <a:t>1</a:t>
              </a:r>
              <a:endParaRPr lang="en-US" altLang="zh-CN">
                <a:solidFill>
                  <a:schemeClr val="bg1"/>
                </a:solidFill>
              </a:endParaRPr>
            </a:p>
          </p:txBody>
        </p:sp>
        <p:sp>
          <p:nvSpPr>
            <p:cNvPr id="82986" name="Oval 42"/>
            <p:cNvSpPr>
              <a:spLocks noChangeArrowheads="1"/>
            </p:cNvSpPr>
            <p:nvPr/>
          </p:nvSpPr>
          <p:spPr bwMode="auto">
            <a:xfrm>
              <a:off x="4486" y="3455"/>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a:solidFill>
                    <a:schemeClr val="bg1"/>
                  </a:solidFill>
                </a:rPr>
                <a:t>2</a:t>
              </a:r>
              <a:endParaRPr lang="en-US" altLang="zh-CN">
                <a:solidFill>
                  <a:schemeClr val="bg1"/>
                </a:solidFill>
              </a:endParaRPr>
            </a:p>
          </p:txBody>
        </p:sp>
        <p:cxnSp>
          <p:nvCxnSpPr>
            <p:cNvPr id="82987" name="AutoShape 43"/>
            <p:cNvCxnSpPr>
              <a:cxnSpLocks noChangeShapeType="1"/>
              <a:stCxn id="82985" idx="0"/>
              <a:endCxn id="82986" idx="1"/>
            </p:cNvCxnSpPr>
            <p:nvPr/>
          </p:nvCxnSpPr>
          <p:spPr bwMode="auto">
            <a:xfrm rot="5400000" flipV="1">
              <a:off x="4079" y="3048"/>
              <a:ext cx="32" cy="846"/>
            </a:xfrm>
            <a:prstGeom prst="curvedConnector3">
              <a:avLst>
                <a:gd name="adj1" fmla="val -450000"/>
              </a:avLst>
            </a:prstGeom>
            <a:noFill/>
            <a:ln w="31750">
              <a:solidFill>
                <a:srgbClr val="0000FF"/>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988" name="Text Box 44"/>
            <p:cNvSpPr txBox="1">
              <a:spLocks noChangeArrowheads="1"/>
            </p:cNvSpPr>
            <p:nvPr/>
          </p:nvSpPr>
          <p:spPr bwMode="auto">
            <a:xfrm>
              <a:off x="3997" y="3033"/>
              <a:ext cx="21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en-US" altLang="zh-CN" sz="2645" b="1"/>
                <a:t>a</a:t>
              </a:r>
              <a:endParaRPr lang="en-US" altLang="zh-CN" sz="2645" b="1"/>
            </a:p>
          </p:txBody>
        </p:sp>
        <p:sp>
          <p:nvSpPr>
            <p:cNvPr id="82989" name="Oval 45"/>
            <p:cNvSpPr>
              <a:spLocks noChangeArrowheads="1"/>
            </p:cNvSpPr>
            <p:nvPr/>
          </p:nvSpPr>
          <p:spPr bwMode="auto">
            <a:xfrm>
              <a:off x="3939" y="3840"/>
              <a:ext cx="220" cy="220"/>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a:solidFill>
                    <a:schemeClr val="bg1"/>
                  </a:solidFill>
                </a:rPr>
                <a:t>3</a:t>
              </a:r>
              <a:endParaRPr lang="en-US" altLang="zh-CN">
                <a:solidFill>
                  <a:schemeClr val="bg1"/>
                </a:solidFill>
              </a:endParaRPr>
            </a:p>
          </p:txBody>
        </p:sp>
        <p:cxnSp>
          <p:nvCxnSpPr>
            <p:cNvPr id="82990" name="AutoShape 46"/>
            <p:cNvCxnSpPr>
              <a:cxnSpLocks noChangeShapeType="1"/>
              <a:stCxn id="82985" idx="5"/>
              <a:endCxn id="82989" idx="1"/>
            </p:cNvCxnSpPr>
            <p:nvPr/>
          </p:nvCxnSpPr>
          <p:spPr bwMode="auto">
            <a:xfrm>
              <a:off x="3750" y="3643"/>
              <a:ext cx="221" cy="229"/>
            </a:xfrm>
            <a:prstGeom prst="straightConnector1">
              <a:avLst/>
            </a:prstGeom>
            <a:noFill/>
            <a:ln w="31750">
              <a:solidFill>
                <a:srgbClr val="0000FF"/>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991" name="AutoShape 47"/>
            <p:cNvCxnSpPr>
              <a:cxnSpLocks noChangeShapeType="1"/>
              <a:stCxn id="82989" idx="7"/>
              <a:endCxn id="82986" idx="3"/>
            </p:cNvCxnSpPr>
            <p:nvPr/>
          </p:nvCxnSpPr>
          <p:spPr bwMode="auto">
            <a:xfrm flipV="1">
              <a:off x="4127" y="3643"/>
              <a:ext cx="391" cy="229"/>
            </a:xfrm>
            <a:prstGeom prst="straightConnector1">
              <a:avLst/>
            </a:prstGeom>
            <a:noFill/>
            <a:ln w="31750">
              <a:solidFill>
                <a:srgbClr val="0000FF"/>
              </a:solidFill>
              <a:prstDash val="dash"/>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992" name="Text Box 48"/>
            <p:cNvSpPr txBox="1">
              <a:spLocks noChangeArrowheads="1"/>
            </p:cNvSpPr>
            <p:nvPr/>
          </p:nvSpPr>
          <p:spPr bwMode="auto">
            <a:xfrm>
              <a:off x="3643" y="3734"/>
              <a:ext cx="21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en-US" altLang="zh-CN" sz="2645" b="1"/>
                <a:t>b</a:t>
              </a:r>
              <a:endParaRPr lang="en-US" altLang="zh-CN" sz="2645" b="1"/>
            </a:p>
          </p:txBody>
        </p:sp>
        <p:sp>
          <p:nvSpPr>
            <p:cNvPr id="82993" name="Text Box 49"/>
            <p:cNvSpPr txBox="1">
              <a:spLocks noChangeArrowheads="1"/>
            </p:cNvSpPr>
            <p:nvPr/>
          </p:nvSpPr>
          <p:spPr bwMode="auto">
            <a:xfrm>
              <a:off x="4304" y="3785"/>
              <a:ext cx="402"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en-US" altLang="zh-CN" sz="2645" b="1"/>
                <a:t>b </a:t>
              </a:r>
              <a:r>
                <a:rPr lang="en-US" altLang="zh-CN" sz="3085" b="1">
                  <a:cs typeface="Tahoma" panose="020B0604030504040204" pitchFamily="34" charset="0"/>
                </a:rPr>
                <a:t>'</a:t>
              </a:r>
              <a:endParaRPr lang="en-US" altLang="zh-CN" sz="3085" b="1">
                <a:cs typeface="Tahoma" panose="020B0604030504040204" pitchFamily="34" charset="0"/>
              </a:endParaRPr>
            </a:p>
          </p:txBody>
        </p:sp>
      </p:grpSp>
      <p:sp>
        <p:nvSpPr>
          <p:cNvPr id="82994" name="AutoShape 50"/>
          <p:cNvSpPr>
            <a:spLocks noChangeArrowheads="1"/>
          </p:cNvSpPr>
          <p:nvPr/>
        </p:nvSpPr>
        <p:spPr bwMode="auto">
          <a:xfrm>
            <a:off x="5712688" y="6108520"/>
            <a:ext cx="1424738" cy="267795"/>
          </a:xfrm>
          <a:prstGeom prst="rightArrow">
            <a:avLst>
              <a:gd name="adj1" fmla="val 50000"/>
              <a:gd name="adj2" fmla="val 133006"/>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nchor="ctr"/>
          <a:lstStyle/>
          <a:p>
            <a:endParaRPr lang="zh-CN" altLang="en-US"/>
          </a:p>
        </p:txBody>
      </p:sp>
      <p:sp>
        <p:nvSpPr>
          <p:cNvPr id="82995" name="AutoShape 51"/>
          <p:cNvSpPr>
            <a:spLocks noChangeArrowheads="1"/>
          </p:cNvSpPr>
          <p:nvPr/>
        </p:nvSpPr>
        <p:spPr bwMode="auto">
          <a:xfrm>
            <a:off x="9822373" y="5656946"/>
            <a:ext cx="1127188" cy="878647"/>
          </a:xfrm>
          <a:prstGeom prst="wedgeRoundRectCallout">
            <a:avLst>
              <a:gd name="adj1" fmla="val -171741"/>
              <a:gd name="adj2" fmla="val 63546"/>
              <a:gd name="adj3" fmla="val 16667"/>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nchor="ctr"/>
          <a:lstStyle/>
          <a:p>
            <a:pPr>
              <a:spcBef>
                <a:spcPct val="0"/>
              </a:spcBef>
              <a:buFontTx/>
              <a:buNone/>
            </a:pPr>
            <a:r>
              <a:rPr lang="zh-CN" altLang="en-US" sz="2645" b="1"/>
              <a:t>虚工序</a:t>
            </a:r>
            <a:endParaRPr lang="zh-CN" altLang="en-US" sz="2645" b="1"/>
          </a:p>
        </p:txBody>
      </p:sp>
      <p:grpSp>
        <p:nvGrpSpPr>
          <p:cNvPr id="83009" name="Group 65"/>
          <p:cNvGrpSpPr/>
          <p:nvPr/>
        </p:nvGrpSpPr>
        <p:grpSpPr bwMode="auto">
          <a:xfrm>
            <a:off x="7081417" y="157528"/>
            <a:ext cx="4055427" cy="1487748"/>
            <a:chOff x="3443" y="90"/>
            <a:chExt cx="2317" cy="850"/>
          </a:xfrm>
        </p:grpSpPr>
        <p:sp>
          <p:nvSpPr>
            <p:cNvPr id="82997" name="Oval 53"/>
            <p:cNvSpPr>
              <a:spLocks noChangeArrowheads="1"/>
            </p:cNvSpPr>
            <p:nvPr/>
          </p:nvSpPr>
          <p:spPr bwMode="auto">
            <a:xfrm>
              <a:off x="3443" y="191"/>
              <a:ext cx="153" cy="194"/>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545">
                  <a:solidFill>
                    <a:schemeClr val="bg1"/>
                  </a:solidFill>
                </a:rPr>
                <a:t>1</a:t>
              </a:r>
              <a:endParaRPr lang="en-US" altLang="zh-CN" sz="1545">
                <a:solidFill>
                  <a:schemeClr val="bg1"/>
                </a:solidFill>
              </a:endParaRPr>
            </a:p>
          </p:txBody>
        </p:sp>
        <p:sp>
          <p:nvSpPr>
            <p:cNvPr id="82998" name="Oval 54"/>
            <p:cNvSpPr>
              <a:spLocks noChangeArrowheads="1"/>
            </p:cNvSpPr>
            <p:nvPr/>
          </p:nvSpPr>
          <p:spPr bwMode="auto">
            <a:xfrm>
              <a:off x="4635" y="191"/>
              <a:ext cx="153" cy="194"/>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545">
                  <a:solidFill>
                    <a:schemeClr val="bg1"/>
                  </a:solidFill>
                </a:rPr>
                <a:t>3</a:t>
              </a:r>
              <a:endParaRPr lang="en-US" altLang="zh-CN" sz="1545">
                <a:solidFill>
                  <a:schemeClr val="bg1"/>
                </a:solidFill>
              </a:endParaRPr>
            </a:p>
          </p:txBody>
        </p:sp>
        <p:sp>
          <p:nvSpPr>
            <p:cNvPr id="82999" name="Oval 55"/>
            <p:cNvSpPr>
              <a:spLocks noChangeArrowheads="1"/>
            </p:cNvSpPr>
            <p:nvPr/>
          </p:nvSpPr>
          <p:spPr bwMode="auto">
            <a:xfrm>
              <a:off x="3851" y="746"/>
              <a:ext cx="153" cy="194"/>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545">
                  <a:solidFill>
                    <a:schemeClr val="bg1"/>
                  </a:solidFill>
                </a:rPr>
                <a:t>2</a:t>
              </a:r>
              <a:endParaRPr lang="en-US" altLang="zh-CN" sz="1545">
                <a:solidFill>
                  <a:schemeClr val="bg1"/>
                </a:solidFill>
              </a:endParaRPr>
            </a:p>
          </p:txBody>
        </p:sp>
        <p:sp>
          <p:nvSpPr>
            <p:cNvPr id="83000" name="Oval 56"/>
            <p:cNvSpPr>
              <a:spLocks noChangeArrowheads="1"/>
            </p:cNvSpPr>
            <p:nvPr/>
          </p:nvSpPr>
          <p:spPr bwMode="auto">
            <a:xfrm>
              <a:off x="5607" y="191"/>
              <a:ext cx="153" cy="194"/>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545">
                  <a:solidFill>
                    <a:schemeClr val="bg1"/>
                  </a:solidFill>
                </a:rPr>
                <a:t>4</a:t>
              </a:r>
              <a:endParaRPr lang="en-US" altLang="zh-CN" sz="1545">
                <a:solidFill>
                  <a:schemeClr val="bg1"/>
                </a:solidFill>
              </a:endParaRPr>
            </a:p>
          </p:txBody>
        </p:sp>
        <p:sp>
          <p:nvSpPr>
            <p:cNvPr id="83001" name="Line 57"/>
            <p:cNvSpPr>
              <a:spLocks noChangeShapeType="1"/>
            </p:cNvSpPr>
            <p:nvPr/>
          </p:nvSpPr>
          <p:spPr bwMode="auto">
            <a:xfrm>
              <a:off x="3596" y="294"/>
              <a:ext cx="1039" cy="0"/>
            </a:xfrm>
            <a:prstGeom prst="line">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nchorCtr="1"/>
            <a:lstStyle/>
            <a:p>
              <a:endParaRPr lang="zh-CN" altLang="en-US" sz="1545"/>
            </a:p>
          </p:txBody>
        </p:sp>
        <p:cxnSp>
          <p:nvCxnSpPr>
            <p:cNvPr id="83002" name="AutoShape 58"/>
            <p:cNvCxnSpPr>
              <a:cxnSpLocks noChangeShapeType="1"/>
              <a:stCxn id="82997" idx="5"/>
              <a:endCxn id="82999" idx="1"/>
            </p:cNvCxnSpPr>
            <p:nvPr/>
          </p:nvCxnSpPr>
          <p:spPr bwMode="auto">
            <a:xfrm>
              <a:off x="3574" y="356"/>
              <a:ext cx="299" cy="418"/>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003" name="AutoShape 59"/>
            <p:cNvCxnSpPr>
              <a:cxnSpLocks noChangeShapeType="1"/>
              <a:stCxn id="82999" idx="6"/>
              <a:endCxn id="82998" idx="3"/>
            </p:cNvCxnSpPr>
            <p:nvPr/>
          </p:nvCxnSpPr>
          <p:spPr bwMode="auto">
            <a:xfrm flipV="1">
              <a:off x="4004" y="356"/>
              <a:ext cx="653" cy="487"/>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004" name="AutoShape 60"/>
            <p:cNvCxnSpPr>
              <a:cxnSpLocks noChangeShapeType="1"/>
              <a:stCxn id="82998" idx="6"/>
            </p:cNvCxnSpPr>
            <p:nvPr/>
          </p:nvCxnSpPr>
          <p:spPr bwMode="auto">
            <a:xfrm>
              <a:off x="4788" y="288"/>
              <a:ext cx="819" cy="6"/>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005" name="Text Box 61"/>
            <p:cNvSpPr txBox="1">
              <a:spLocks noChangeArrowheads="1"/>
            </p:cNvSpPr>
            <p:nvPr/>
          </p:nvSpPr>
          <p:spPr bwMode="auto">
            <a:xfrm>
              <a:off x="3826" y="90"/>
              <a:ext cx="620" cy="203"/>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zh-CN" altLang="en-US" sz="1545" b="1"/>
                <a:t>烧水</a:t>
              </a:r>
              <a:r>
                <a:rPr lang="zh-CN" altLang="en-US" sz="1545" b="1">
                  <a:solidFill>
                    <a:schemeClr val="hlink"/>
                  </a:solidFill>
                </a:rPr>
                <a:t>（</a:t>
              </a:r>
              <a:r>
                <a:rPr lang="en-US" altLang="zh-CN" sz="1545" b="1">
                  <a:solidFill>
                    <a:schemeClr val="hlink"/>
                  </a:solidFill>
                </a:rPr>
                <a:t>10</a:t>
              </a:r>
              <a:r>
                <a:rPr lang="zh-CN" altLang="en-US" sz="1545" b="1">
                  <a:solidFill>
                    <a:schemeClr val="hlink"/>
                  </a:solidFill>
                </a:rPr>
                <a:t>）</a:t>
              </a:r>
              <a:endParaRPr lang="zh-CN" altLang="en-US" sz="1545" b="1">
                <a:solidFill>
                  <a:schemeClr val="hlink"/>
                </a:solidFill>
              </a:endParaRPr>
            </a:p>
          </p:txBody>
        </p:sp>
        <p:sp>
          <p:nvSpPr>
            <p:cNvPr id="83006" name="Text Box 62"/>
            <p:cNvSpPr txBox="1">
              <a:spLocks noChangeArrowheads="1"/>
            </p:cNvSpPr>
            <p:nvPr/>
          </p:nvSpPr>
          <p:spPr bwMode="auto">
            <a:xfrm>
              <a:off x="3488" y="543"/>
              <a:ext cx="310" cy="203"/>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zh-CN" altLang="en-US" sz="1545" b="1"/>
                <a:t>备茶</a:t>
              </a:r>
              <a:r>
                <a:rPr lang="zh-CN" altLang="en-US" sz="1545" b="1">
                  <a:solidFill>
                    <a:schemeClr val="hlink"/>
                  </a:solidFill>
                </a:rPr>
                <a:t>（</a:t>
              </a:r>
              <a:r>
                <a:rPr lang="en-US" altLang="zh-CN" sz="1545" b="1">
                  <a:solidFill>
                    <a:schemeClr val="hlink"/>
                  </a:solidFill>
                </a:rPr>
                <a:t>3</a:t>
              </a:r>
              <a:r>
                <a:rPr lang="zh-CN" altLang="en-US" sz="1545" b="1">
                  <a:solidFill>
                    <a:schemeClr val="hlink"/>
                  </a:solidFill>
                </a:rPr>
                <a:t>）</a:t>
              </a:r>
              <a:endParaRPr lang="zh-CN" altLang="en-US" sz="1545" b="1">
                <a:solidFill>
                  <a:schemeClr val="hlink"/>
                </a:solidFill>
              </a:endParaRPr>
            </a:p>
          </p:txBody>
        </p:sp>
        <p:sp>
          <p:nvSpPr>
            <p:cNvPr id="83007" name="Text Box 63"/>
            <p:cNvSpPr txBox="1">
              <a:spLocks noChangeArrowheads="1"/>
            </p:cNvSpPr>
            <p:nvPr/>
          </p:nvSpPr>
          <p:spPr bwMode="auto">
            <a:xfrm>
              <a:off x="4912" y="91"/>
              <a:ext cx="695" cy="203"/>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zh-CN" altLang="en-US" sz="1545" b="1" dirty="0"/>
                <a:t>沏茶</a:t>
              </a:r>
              <a:r>
                <a:rPr lang="zh-CN" altLang="en-US" sz="1545" b="1" dirty="0">
                  <a:solidFill>
                    <a:schemeClr val="hlink"/>
                  </a:solidFill>
                </a:rPr>
                <a:t>（</a:t>
              </a:r>
              <a:r>
                <a:rPr lang="en-US" altLang="zh-CN" sz="1545" b="1" dirty="0">
                  <a:solidFill>
                    <a:schemeClr val="hlink"/>
                  </a:solidFill>
                </a:rPr>
                <a:t>2</a:t>
              </a:r>
              <a:r>
                <a:rPr lang="zh-CN" altLang="en-US" sz="1545" b="1" dirty="0">
                  <a:solidFill>
                    <a:schemeClr val="hlink"/>
                  </a:solidFill>
                </a:rPr>
                <a:t>）</a:t>
              </a:r>
              <a:endParaRPr lang="zh-CN" altLang="en-US" sz="1545" b="1" dirty="0">
                <a:solidFill>
                  <a:schemeClr val="hlink"/>
                </a:solidFill>
              </a:endParaRPr>
            </a:p>
          </p:txBody>
        </p:sp>
        <p:sp>
          <p:nvSpPr>
            <p:cNvPr id="83008" name="Text Box 64"/>
            <p:cNvSpPr txBox="1">
              <a:spLocks noChangeArrowheads="1"/>
            </p:cNvSpPr>
            <p:nvPr/>
          </p:nvSpPr>
          <p:spPr bwMode="auto">
            <a:xfrm rot="-1755453">
              <a:off x="4070" y="640"/>
              <a:ext cx="587" cy="203"/>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zh-CN" altLang="en-US" sz="1545" b="1" dirty="0"/>
                <a:t>洗碗</a:t>
              </a:r>
              <a:r>
                <a:rPr lang="zh-CN" altLang="en-US" sz="1545" b="1" dirty="0">
                  <a:solidFill>
                    <a:schemeClr val="hlink"/>
                  </a:solidFill>
                </a:rPr>
                <a:t>（</a:t>
              </a:r>
              <a:r>
                <a:rPr lang="en-US" altLang="zh-CN" sz="1545" b="1" dirty="0">
                  <a:solidFill>
                    <a:schemeClr val="hlink"/>
                  </a:solidFill>
                </a:rPr>
                <a:t>2</a:t>
              </a:r>
              <a:r>
                <a:rPr lang="zh-CN" altLang="en-US" sz="1545" b="1" dirty="0">
                  <a:solidFill>
                    <a:schemeClr val="hlink"/>
                  </a:solidFill>
                </a:rPr>
                <a:t>）</a:t>
              </a:r>
              <a:endParaRPr lang="zh-CN" altLang="en-US" sz="1545" b="1" dirty="0">
                <a:solidFill>
                  <a:schemeClr val="hlink"/>
                </a:solidFill>
              </a:endParaRPr>
            </a:p>
          </p:txBody>
        </p:sp>
      </p:grpSp>
      <p:sp>
        <p:nvSpPr>
          <p:cNvPr id="83010" name="Line 66"/>
          <p:cNvSpPr>
            <a:spLocks noChangeShapeType="1"/>
          </p:cNvSpPr>
          <p:nvPr/>
        </p:nvSpPr>
        <p:spPr bwMode="auto">
          <a:xfrm>
            <a:off x="7034157" y="0"/>
            <a:ext cx="0" cy="1969079"/>
          </a:xfrm>
          <a:prstGeom prst="line">
            <a:avLst/>
          </a:prstGeom>
          <a:noFill/>
          <a:ln w="19050">
            <a:solidFill>
              <a:schemeClr val="hlink"/>
            </a:solidFill>
            <a:prstDash val="dash"/>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lstStyle/>
          <a:p>
            <a:endParaRPr lang="zh-CN" altLang="en-US" sz="1545"/>
          </a:p>
        </p:txBody>
      </p:sp>
      <p:sp>
        <p:nvSpPr>
          <p:cNvPr id="83012" name="Line 68"/>
          <p:cNvSpPr>
            <a:spLocks noChangeShapeType="1"/>
          </p:cNvSpPr>
          <p:nvPr/>
        </p:nvSpPr>
        <p:spPr bwMode="auto">
          <a:xfrm>
            <a:off x="7049910" y="1969079"/>
            <a:ext cx="3976664" cy="0"/>
          </a:xfrm>
          <a:prstGeom prst="line">
            <a:avLst/>
          </a:prstGeom>
          <a:noFill/>
          <a:ln w="19050">
            <a:solidFill>
              <a:schemeClr val="hlink"/>
            </a:solidFill>
            <a:prstDash val="dash"/>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lstStyle/>
          <a:p>
            <a:endParaRPr lang="zh-CN" altLang="en-US" sz="154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dissolve">
                                      <p:cBhvr>
                                        <p:cTn id="7" dur="500"/>
                                        <p:tgtEl>
                                          <p:spTgt spid="8294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947"/>
                                        </p:tgtEl>
                                        <p:attrNameLst>
                                          <p:attrName>style.visibility</p:attrName>
                                        </p:attrNameLst>
                                      </p:cBhvr>
                                      <p:to>
                                        <p:strVal val="visible"/>
                                      </p:to>
                                    </p:set>
                                    <p:animEffect transition="in" filter="dissolve">
                                      <p:cBhvr>
                                        <p:cTn id="12" dur="500"/>
                                        <p:tgtEl>
                                          <p:spTgt spid="8294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2948"/>
                                        </p:tgtEl>
                                        <p:attrNameLst>
                                          <p:attrName>style.visibility</p:attrName>
                                        </p:attrNameLst>
                                      </p:cBhvr>
                                      <p:to>
                                        <p:strVal val="visible"/>
                                      </p:to>
                                    </p:set>
                                    <p:animEffect transition="in" filter="dissolve">
                                      <p:cBhvr>
                                        <p:cTn id="17" dur="500"/>
                                        <p:tgtEl>
                                          <p:spTgt spid="8294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82949"/>
                                        </p:tgtEl>
                                        <p:attrNameLst>
                                          <p:attrName>style.visibility</p:attrName>
                                        </p:attrNameLst>
                                      </p:cBhvr>
                                      <p:to>
                                        <p:strVal val="visible"/>
                                      </p:to>
                                    </p:set>
                                    <p:animEffect transition="in" filter="barn(outHorizontal)">
                                      <p:cBhvr>
                                        <p:cTn id="22" dur="500"/>
                                        <p:tgtEl>
                                          <p:spTgt spid="8294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2950"/>
                                        </p:tgtEl>
                                        <p:attrNameLst>
                                          <p:attrName>style.visibility</p:attrName>
                                        </p:attrNameLst>
                                      </p:cBhvr>
                                      <p:to>
                                        <p:strVal val="visible"/>
                                      </p:to>
                                    </p:set>
                                    <p:animEffect transition="in" filter="blinds(horizontal)">
                                      <p:cBhvr>
                                        <p:cTn id="27" dur="500"/>
                                        <p:tgtEl>
                                          <p:spTgt spid="8295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2951"/>
                                        </p:tgtEl>
                                        <p:attrNameLst>
                                          <p:attrName>style.visibility</p:attrName>
                                        </p:attrNameLst>
                                      </p:cBhvr>
                                      <p:to>
                                        <p:strVal val="visible"/>
                                      </p:to>
                                    </p:set>
                                    <p:animEffect transition="in" filter="blinds(horizontal)">
                                      <p:cBhvr>
                                        <p:cTn id="32" dur="500"/>
                                        <p:tgtEl>
                                          <p:spTgt spid="8295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2968"/>
                                        </p:tgtEl>
                                        <p:attrNameLst>
                                          <p:attrName>style.visibility</p:attrName>
                                        </p:attrNameLst>
                                      </p:cBhvr>
                                      <p:to>
                                        <p:strVal val="visible"/>
                                      </p:to>
                                    </p:set>
                                    <p:animEffect transition="in" filter="blinds(horizontal)">
                                      <p:cBhvr>
                                        <p:cTn id="37" dur="500"/>
                                        <p:tgtEl>
                                          <p:spTgt spid="8296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2969"/>
                                        </p:tgtEl>
                                        <p:attrNameLst>
                                          <p:attrName>style.visibility</p:attrName>
                                        </p:attrNameLst>
                                      </p:cBhvr>
                                      <p:to>
                                        <p:strVal val="visible"/>
                                      </p:to>
                                    </p:set>
                                    <p:animEffect transition="in" filter="blinds(horizontal)">
                                      <p:cBhvr>
                                        <p:cTn id="42" dur="500"/>
                                        <p:tgtEl>
                                          <p:spTgt spid="8296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2970"/>
                                        </p:tgtEl>
                                        <p:attrNameLst>
                                          <p:attrName>style.visibility</p:attrName>
                                        </p:attrNameLst>
                                      </p:cBhvr>
                                      <p:to>
                                        <p:strVal val="visible"/>
                                      </p:to>
                                    </p:set>
                                    <p:animEffect transition="in" filter="blinds(horizontal)">
                                      <p:cBhvr>
                                        <p:cTn id="47" dur="500"/>
                                        <p:tgtEl>
                                          <p:spTgt spid="8297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2971"/>
                                        </p:tgtEl>
                                        <p:attrNameLst>
                                          <p:attrName>style.visibility</p:attrName>
                                        </p:attrNameLst>
                                      </p:cBhvr>
                                      <p:to>
                                        <p:strVal val="visible"/>
                                      </p:to>
                                    </p:set>
                                    <p:animEffect transition="in" filter="blinds(horizontal)">
                                      <p:cBhvr>
                                        <p:cTn id="52" dur="500"/>
                                        <p:tgtEl>
                                          <p:spTgt spid="8297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2972"/>
                                        </p:tgtEl>
                                        <p:attrNameLst>
                                          <p:attrName>style.visibility</p:attrName>
                                        </p:attrNameLst>
                                      </p:cBhvr>
                                      <p:to>
                                        <p:strVal val="visible"/>
                                      </p:to>
                                    </p:set>
                                    <p:animEffect transition="in" filter="blinds(horizontal)">
                                      <p:cBhvr>
                                        <p:cTn id="57" dur="500"/>
                                        <p:tgtEl>
                                          <p:spTgt spid="8297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82973"/>
                                        </p:tgtEl>
                                        <p:attrNameLst>
                                          <p:attrName>style.visibility</p:attrName>
                                        </p:attrNameLst>
                                      </p:cBhvr>
                                      <p:to>
                                        <p:strVal val="visible"/>
                                      </p:to>
                                    </p:set>
                                    <p:animEffect transition="in" filter="blinds(horizontal)">
                                      <p:cBhvr>
                                        <p:cTn id="62" dur="500"/>
                                        <p:tgtEl>
                                          <p:spTgt spid="8297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82974"/>
                                        </p:tgtEl>
                                        <p:attrNameLst>
                                          <p:attrName>style.visibility</p:attrName>
                                        </p:attrNameLst>
                                      </p:cBhvr>
                                      <p:to>
                                        <p:strVal val="visible"/>
                                      </p:to>
                                    </p:set>
                                    <p:animEffect transition="in" filter="blinds(horizontal)">
                                      <p:cBhvr>
                                        <p:cTn id="67" dur="500"/>
                                        <p:tgtEl>
                                          <p:spTgt spid="82974"/>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82975"/>
                                        </p:tgtEl>
                                        <p:attrNameLst>
                                          <p:attrName>style.visibility</p:attrName>
                                        </p:attrNameLst>
                                      </p:cBhvr>
                                      <p:to>
                                        <p:strVal val="visible"/>
                                      </p:to>
                                    </p:set>
                                    <p:animEffect transition="in" filter="blinds(horizontal)">
                                      <p:cBhvr>
                                        <p:cTn id="72" dur="500"/>
                                        <p:tgtEl>
                                          <p:spTgt spid="82975"/>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82976"/>
                                        </p:tgtEl>
                                        <p:attrNameLst>
                                          <p:attrName>style.visibility</p:attrName>
                                        </p:attrNameLst>
                                      </p:cBhvr>
                                      <p:to>
                                        <p:strVal val="visible"/>
                                      </p:to>
                                    </p:set>
                                    <p:animEffect transition="in" filter="blinds(horizontal)">
                                      <p:cBhvr>
                                        <p:cTn id="77" dur="500"/>
                                        <p:tgtEl>
                                          <p:spTgt spid="82976"/>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499"/>
                                          </p:stCondLst>
                                        </p:cTn>
                                        <p:tgtEl>
                                          <p:spTgt spid="82977"/>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82994"/>
                                        </p:tgtEl>
                                        <p:attrNameLst>
                                          <p:attrName>style.visibility</p:attrName>
                                        </p:attrNameLst>
                                      </p:cBhvr>
                                      <p:to>
                                        <p:strVal val="visible"/>
                                      </p:to>
                                    </p:set>
                                    <p:animEffect transition="in" filter="wipe(left)">
                                      <p:cBhvr>
                                        <p:cTn id="86" dur="500"/>
                                        <p:tgtEl>
                                          <p:spTgt spid="82994"/>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499"/>
                                          </p:stCondLst>
                                        </p:cTn>
                                        <p:tgtEl>
                                          <p:spTgt spid="8298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82995"/>
                                        </p:tgtEl>
                                        <p:attrNameLst>
                                          <p:attrName>style.visibility</p:attrName>
                                        </p:attrNameLst>
                                      </p:cBhvr>
                                      <p:to>
                                        <p:strVal val="visible"/>
                                      </p:to>
                                    </p:set>
                                    <p:animEffect transition="in" filter="blinds(horizontal)">
                                      <p:cBhvr>
                                        <p:cTn id="95" dur="500"/>
                                        <p:tgtEl>
                                          <p:spTgt spid="829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autoUpdateAnimBg="0"/>
      <p:bldP spid="82947" grpId="0" autoUpdateAnimBg="0"/>
      <p:bldP spid="82948" grpId="0" autoUpdateAnimBg="0"/>
      <p:bldP spid="82950" grpId="0" autoUpdateAnimBg="0"/>
      <p:bldP spid="82968" grpId="0" autoUpdateAnimBg="0"/>
      <p:bldP spid="82969" grpId="0" autoUpdateAnimBg="0"/>
      <p:bldP spid="82970" grpId="0" autoUpdateAnimBg="0"/>
      <p:bldP spid="82971" grpId="0" autoUpdateAnimBg="0"/>
      <p:bldP spid="82972" grpId="0" autoUpdateAnimBg="0"/>
      <p:bldP spid="82973" grpId="0" autoUpdateAnimBg="0"/>
      <p:bldP spid="82974" grpId="0" autoUpdateAnimBg="0"/>
      <p:bldP spid="82975" grpId="0" autoUpdateAnimBg="0"/>
      <p:bldP spid="82976" grpId="0" autoUpdateAnimBg="0"/>
      <p:bldP spid="82995"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13" name="Text Box 45"/>
          <p:cNvSpPr txBox="1">
            <a:spLocks noChangeArrowheads="1"/>
          </p:cNvSpPr>
          <p:nvPr/>
        </p:nvSpPr>
        <p:spPr bwMode="auto">
          <a:xfrm>
            <a:off x="1559243" y="703619"/>
            <a:ext cx="9661613" cy="894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79383">
            <a:spAutoFit/>
          </a:bodyPr>
          <a:lstStyle/>
          <a:p>
            <a:pPr algn="l">
              <a:buFontTx/>
              <a:buNone/>
            </a:pPr>
            <a:r>
              <a:rPr lang="zh-CN" altLang="en-US" sz="2645" b="1" dirty="0">
                <a:solidFill>
                  <a:srgbClr val="3333FF"/>
                </a:solidFill>
              </a:rPr>
              <a:t>例 </a:t>
            </a:r>
            <a:r>
              <a:rPr lang="zh-CN" altLang="en-US" sz="2645" b="1" dirty="0"/>
              <a:t>  某工厂进行技术改造，需要拆掉旧厂房、建造新厂房和安排设备。这项改建工程可以分解为</a:t>
            </a:r>
            <a:r>
              <a:rPr lang="en-US" altLang="zh-CN" sz="2645" b="1" dirty="0"/>
              <a:t>7</a:t>
            </a:r>
            <a:r>
              <a:rPr lang="zh-CN" altLang="en-US" sz="2645" b="1" dirty="0"/>
              <a:t>道工序，其相关资料如下表：</a:t>
            </a:r>
            <a:endParaRPr lang="zh-CN" altLang="en-US" sz="2645" b="1" dirty="0"/>
          </a:p>
        </p:txBody>
      </p:sp>
      <p:graphicFrame>
        <p:nvGraphicFramePr>
          <p:cNvPr id="58575" name="Group 207"/>
          <p:cNvGraphicFramePr>
            <a:graphicFrameLocks noGrp="1"/>
          </p:cNvGraphicFramePr>
          <p:nvPr>
            <p:custDataLst>
              <p:tags r:id="rId1"/>
            </p:custDataLst>
          </p:nvPr>
        </p:nvGraphicFramePr>
        <p:xfrm>
          <a:off x="1792032" y="2352394"/>
          <a:ext cx="8576433" cy="4493004"/>
        </p:xfrm>
        <a:graphic>
          <a:graphicData uri="http://schemas.openxmlformats.org/drawingml/2006/table">
            <a:tbl>
              <a:tblPr/>
              <a:tblGrid>
                <a:gridCol w="2054843"/>
                <a:gridCol w="2056593"/>
                <a:gridCol w="2177364"/>
                <a:gridCol w="2287633"/>
              </a:tblGrid>
              <a:tr h="560070">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600" b="1" i="0" u="none" strike="noStrike" cap="none" normalizeH="0" baseline="0">
                          <a:ln>
                            <a:noFill/>
                          </a:ln>
                          <a:solidFill>
                            <a:srgbClr val="3333FF"/>
                          </a:solidFill>
                          <a:effectLst/>
                          <a:latin typeface="Tahoma" panose="020B0604030504040204" pitchFamily="34" charset="0"/>
                          <a:ea typeface="宋体" panose="02010600030101010101" pitchFamily="2" charset="-122"/>
                        </a:rPr>
                        <a:t>工序代号</a:t>
                      </a:r>
                      <a:endParaRPr kumimoji="1" lang="zh-CN" altLang="en-US" sz="26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600" b="1" i="0" u="none" strike="noStrike" cap="none" normalizeH="0" baseline="0">
                          <a:ln>
                            <a:noFill/>
                          </a:ln>
                          <a:solidFill>
                            <a:srgbClr val="3333FF"/>
                          </a:solidFill>
                          <a:effectLst/>
                          <a:latin typeface="Tahoma" panose="020B0604030504040204" pitchFamily="34" charset="0"/>
                          <a:ea typeface="宋体" panose="02010600030101010101" pitchFamily="2" charset="-122"/>
                        </a:rPr>
                        <a:t>工序名称</a:t>
                      </a:r>
                      <a:endParaRPr kumimoji="1" lang="zh-CN" altLang="en-US" sz="26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600" b="1" i="0" u="none" strike="noStrike" cap="none" normalizeH="0" baseline="0">
                          <a:ln>
                            <a:noFill/>
                          </a:ln>
                          <a:solidFill>
                            <a:srgbClr val="3333FF"/>
                          </a:solidFill>
                          <a:effectLst/>
                          <a:latin typeface="Tahoma" panose="020B0604030504040204" pitchFamily="34" charset="0"/>
                          <a:ea typeface="宋体" panose="02010600030101010101" pitchFamily="2" charset="-122"/>
                        </a:rPr>
                        <a:t>紧前工序</a:t>
                      </a:r>
                      <a:endParaRPr kumimoji="1" lang="zh-CN" altLang="en-US" sz="26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600" b="1" i="0" u="none" strike="noStrike" cap="none" normalizeH="0" baseline="0">
                          <a:ln>
                            <a:noFill/>
                          </a:ln>
                          <a:solidFill>
                            <a:srgbClr val="3333FF"/>
                          </a:solidFill>
                          <a:effectLst/>
                          <a:latin typeface="Tahoma" panose="020B0604030504040204" pitchFamily="34" charset="0"/>
                          <a:ea typeface="宋体" panose="02010600030101010101" pitchFamily="2" charset="-122"/>
                        </a:rPr>
                        <a:t>工序时间（周）</a:t>
                      </a:r>
                      <a:endParaRPr kumimoji="1" lang="zh-CN" altLang="en-US" sz="26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0094">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A</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拆迁</a:t>
                      </a:r>
                      <a:endPar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2</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6593">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B</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工程设计</a:t>
                      </a:r>
                      <a:endPar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3</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5847">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C</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土建工程设计</a:t>
                      </a:r>
                      <a:endPar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B</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2.5</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0094">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D</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采购设备</a:t>
                      </a:r>
                      <a:endPar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B</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6</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0094">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E</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厂房土建</a:t>
                      </a:r>
                      <a:endPar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C</a:t>
                      </a:r>
                      <a:r>
                        <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A</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20</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0094">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F</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设备安装</a:t>
                      </a:r>
                      <a:endPar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D</a:t>
                      </a:r>
                      <a:r>
                        <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E</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4</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0094">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G</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设备调试</a:t>
                      </a:r>
                      <a:endParaRPr kumimoji="1" lang="zh-CN" altLang="en-US"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F</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rPr>
                        <a:t>2</a:t>
                      </a:r>
                      <a:endParaRPr kumimoji="1" lang="en-US" altLang="zh-CN" sz="26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Oval 2"/>
          <p:cNvSpPr>
            <a:spLocks noChangeArrowheads="1"/>
          </p:cNvSpPr>
          <p:nvPr/>
        </p:nvSpPr>
        <p:spPr bwMode="auto">
          <a:xfrm>
            <a:off x="1620505" y="4361728"/>
            <a:ext cx="577596" cy="616103"/>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2205" b="1">
                <a:solidFill>
                  <a:srgbClr val="FF0000"/>
                </a:solidFill>
                <a:latin typeface="微软雅黑" panose="020B0503020204020204" pitchFamily="34" charset="-122"/>
              </a:rPr>
              <a:t>1</a:t>
            </a:r>
            <a:endParaRPr lang="en-US" altLang="zh-CN" sz="2205" b="1">
              <a:solidFill>
                <a:srgbClr val="FF0000"/>
              </a:solidFill>
              <a:latin typeface="微软雅黑" panose="020B0503020204020204" pitchFamily="34" charset="-122"/>
            </a:endParaRPr>
          </a:p>
        </p:txBody>
      </p:sp>
      <p:sp>
        <p:nvSpPr>
          <p:cNvPr id="75779" name="Oval 3"/>
          <p:cNvSpPr>
            <a:spLocks noChangeArrowheads="1"/>
          </p:cNvSpPr>
          <p:nvPr/>
        </p:nvSpPr>
        <p:spPr bwMode="auto">
          <a:xfrm>
            <a:off x="3136258" y="5656944"/>
            <a:ext cx="577596" cy="616103"/>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2205" b="1">
                <a:solidFill>
                  <a:srgbClr val="FF0000"/>
                </a:solidFill>
                <a:latin typeface="微软雅黑" panose="020B0503020204020204" pitchFamily="34" charset="-122"/>
              </a:rPr>
              <a:t>2</a:t>
            </a:r>
            <a:endParaRPr lang="en-US" altLang="zh-CN" sz="2205" b="1" baseline="-25000">
              <a:solidFill>
                <a:srgbClr val="FF0000"/>
              </a:solidFill>
              <a:latin typeface="微软雅黑" panose="020B0503020204020204" pitchFamily="34" charset="-122"/>
            </a:endParaRPr>
          </a:p>
        </p:txBody>
      </p:sp>
      <p:sp>
        <p:nvSpPr>
          <p:cNvPr id="75780" name="Oval 4"/>
          <p:cNvSpPr>
            <a:spLocks noChangeArrowheads="1"/>
          </p:cNvSpPr>
          <p:nvPr/>
        </p:nvSpPr>
        <p:spPr bwMode="auto">
          <a:xfrm>
            <a:off x="4996818" y="5695451"/>
            <a:ext cx="577596" cy="616103"/>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2205" b="1">
                <a:solidFill>
                  <a:srgbClr val="FF0000"/>
                </a:solidFill>
                <a:latin typeface="微软雅黑" panose="020B0503020204020204" pitchFamily="34" charset="-122"/>
              </a:rPr>
              <a:t>3</a:t>
            </a:r>
            <a:endParaRPr lang="en-US" altLang="zh-CN" sz="2205" b="1" baseline="-25000">
              <a:solidFill>
                <a:srgbClr val="FF0000"/>
              </a:solidFill>
              <a:latin typeface="微软雅黑" panose="020B0503020204020204" pitchFamily="34" charset="-122"/>
            </a:endParaRPr>
          </a:p>
        </p:txBody>
      </p:sp>
      <p:sp>
        <p:nvSpPr>
          <p:cNvPr id="75781" name="Oval 5"/>
          <p:cNvSpPr>
            <a:spLocks noChangeArrowheads="1"/>
          </p:cNvSpPr>
          <p:nvPr/>
        </p:nvSpPr>
        <p:spPr bwMode="auto">
          <a:xfrm>
            <a:off x="6729606" y="5740958"/>
            <a:ext cx="575847" cy="616103"/>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2205" b="1">
                <a:solidFill>
                  <a:srgbClr val="FF0000"/>
                </a:solidFill>
                <a:latin typeface="微软雅黑" panose="020B0503020204020204" pitchFamily="34" charset="-122"/>
              </a:rPr>
              <a:t>4</a:t>
            </a:r>
            <a:endParaRPr lang="en-US" altLang="zh-CN" sz="2205" b="1" baseline="-25000">
              <a:solidFill>
                <a:srgbClr val="FF0000"/>
              </a:solidFill>
              <a:latin typeface="微软雅黑" panose="020B0503020204020204" pitchFamily="34" charset="-122"/>
            </a:endParaRPr>
          </a:p>
        </p:txBody>
      </p:sp>
      <p:sp>
        <p:nvSpPr>
          <p:cNvPr id="75782" name="Oval 6"/>
          <p:cNvSpPr>
            <a:spLocks noChangeArrowheads="1"/>
          </p:cNvSpPr>
          <p:nvPr/>
        </p:nvSpPr>
        <p:spPr bwMode="auto">
          <a:xfrm>
            <a:off x="8450145" y="5740958"/>
            <a:ext cx="577596" cy="616103"/>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2205" b="1">
                <a:solidFill>
                  <a:srgbClr val="FF0000"/>
                </a:solidFill>
                <a:latin typeface="微软雅黑" panose="020B0503020204020204" pitchFamily="34" charset="-122"/>
              </a:rPr>
              <a:t>5</a:t>
            </a:r>
            <a:endParaRPr lang="en-US" altLang="zh-CN" sz="2205" b="1" baseline="-25000">
              <a:solidFill>
                <a:srgbClr val="FF0000"/>
              </a:solidFill>
              <a:latin typeface="微软雅黑" panose="020B0503020204020204" pitchFamily="34" charset="-122"/>
            </a:endParaRPr>
          </a:p>
        </p:txBody>
      </p:sp>
      <p:sp>
        <p:nvSpPr>
          <p:cNvPr id="75783" name="Text Box 7"/>
          <p:cNvSpPr txBox="1">
            <a:spLocks noChangeArrowheads="1"/>
          </p:cNvSpPr>
          <p:nvPr/>
        </p:nvSpPr>
        <p:spPr bwMode="auto">
          <a:xfrm>
            <a:off x="3060995" y="4043175"/>
            <a:ext cx="1020421" cy="644108"/>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2205" b="1" dirty="0">
                <a:solidFill>
                  <a:srgbClr val="FF0000"/>
                </a:solidFill>
                <a:latin typeface="微软雅黑" panose="020B0503020204020204" pitchFamily="34" charset="-122"/>
                <a:cs typeface="微软雅黑" panose="020B0503020204020204" pitchFamily="34" charset="-122"/>
              </a:rPr>
              <a:t>A</a:t>
            </a:r>
            <a:r>
              <a:rPr lang="zh-CN" altLang="en-US" sz="2205" b="1" dirty="0">
                <a:solidFill>
                  <a:srgbClr val="FF0000"/>
                </a:solidFill>
                <a:latin typeface="微软雅黑" panose="020B0503020204020204" pitchFamily="34" charset="-122"/>
                <a:cs typeface="微软雅黑" panose="020B0503020204020204" pitchFamily="34" charset="-122"/>
              </a:rPr>
              <a:t>（</a:t>
            </a:r>
            <a:r>
              <a:rPr lang="en-US" altLang="zh-CN" sz="2205" b="1" dirty="0">
                <a:solidFill>
                  <a:srgbClr val="FF0000"/>
                </a:solidFill>
                <a:latin typeface="微软雅黑" panose="020B0503020204020204" pitchFamily="34" charset="-122"/>
                <a:cs typeface="微软雅黑" panose="020B0503020204020204" pitchFamily="34" charset="-122"/>
              </a:rPr>
              <a:t>2</a:t>
            </a:r>
            <a:r>
              <a:rPr lang="zh-CN" altLang="en-US" sz="2205" b="1" dirty="0">
                <a:solidFill>
                  <a:srgbClr val="FF0000"/>
                </a:solidFill>
                <a:latin typeface="微软雅黑" panose="020B0503020204020204" pitchFamily="34" charset="-122"/>
                <a:cs typeface="微软雅黑" panose="020B0503020204020204" pitchFamily="34" charset="-122"/>
              </a:rPr>
              <a:t>）</a:t>
            </a:r>
            <a:endParaRPr lang="zh-CN" altLang="en-US" sz="2205" b="1" dirty="0">
              <a:solidFill>
                <a:srgbClr val="FF0000"/>
              </a:solidFill>
              <a:latin typeface="微软雅黑" panose="020B0503020204020204" pitchFamily="34" charset="-122"/>
              <a:cs typeface="微软雅黑" panose="020B0503020204020204" pitchFamily="34" charset="-122"/>
            </a:endParaRPr>
          </a:p>
        </p:txBody>
      </p:sp>
      <p:cxnSp>
        <p:nvCxnSpPr>
          <p:cNvPr id="75784" name="AutoShape 8"/>
          <p:cNvCxnSpPr>
            <a:cxnSpLocks noChangeShapeType="1"/>
            <a:stCxn id="75778" idx="5"/>
            <a:endCxn id="75779" idx="1"/>
          </p:cNvCxnSpPr>
          <p:nvPr/>
        </p:nvCxnSpPr>
        <p:spPr bwMode="auto">
          <a:xfrm>
            <a:off x="2114086" y="4888568"/>
            <a:ext cx="1106185" cy="857643"/>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786" name="AutoShape 10"/>
          <p:cNvCxnSpPr>
            <a:cxnSpLocks noChangeShapeType="1"/>
            <a:stCxn id="75779" idx="6"/>
            <a:endCxn id="75780" idx="2"/>
          </p:cNvCxnSpPr>
          <p:nvPr/>
        </p:nvCxnSpPr>
        <p:spPr bwMode="auto">
          <a:xfrm>
            <a:off x="3713854" y="5964998"/>
            <a:ext cx="1282964" cy="38506"/>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787" name="AutoShape 11"/>
          <p:cNvCxnSpPr>
            <a:cxnSpLocks noChangeShapeType="1"/>
            <a:stCxn id="75781" idx="6"/>
            <a:endCxn id="75782" idx="2"/>
          </p:cNvCxnSpPr>
          <p:nvPr/>
        </p:nvCxnSpPr>
        <p:spPr bwMode="auto">
          <a:xfrm>
            <a:off x="7305454" y="6049010"/>
            <a:ext cx="1144691" cy="0"/>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88" name="Text Box 12"/>
          <p:cNvSpPr txBox="1">
            <a:spLocks noChangeArrowheads="1"/>
          </p:cNvSpPr>
          <p:nvPr/>
        </p:nvSpPr>
        <p:spPr bwMode="auto">
          <a:xfrm>
            <a:off x="1729021" y="5317387"/>
            <a:ext cx="938157" cy="644108"/>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2205" b="1" dirty="0">
                <a:solidFill>
                  <a:srgbClr val="FF0000"/>
                </a:solidFill>
                <a:latin typeface="微软雅黑" panose="020B0503020204020204" pitchFamily="34" charset="-122"/>
              </a:rPr>
              <a:t>B (3)</a:t>
            </a:r>
            <a:endParaRPr lang="en-US" altLang="zh-CN" sz="2205" b="1" dirty="0">
              <a:solidFill>
                <a:srgbClr val="FF0000"/>
              </a:solidFill>
              <a:latin typeface="微软雅黑" panose="020B0503020204020204" pitchFamily="34" charset="-122"/>
            </a:endParaRPr>
          </a:p>
        </p:txBody>
      </p:sp>
      <p:sp>
        <p:nvSpPr>
          <p:cNvPr id="75789" name="Text Box 13"/>
          <p:cNvSpPr txBox="1">
            <a:spLocks noChangeArrowheads="1"/>
          </p:cNvSpPr>
          <p:nvPr/>
        </p:nvSpPr>
        <p:spPr bwMode="auto">
          <a:xfrm>
            <a:off x="3874881" y="5539675"/>
            <a:ext cx="1053676" cy="644108"/>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2205" b="1">
                <a:solidFill>
                  <a:srgbClr val="FF0000"/>
                </a:solidFill>
                <a:latin typeface="微软雅黑" panose="020B0503020204020204" pitchFamily="34" charset="-122"/>
              </a:rPr>
              <a:t>C (2.5)</a:t>
            </a:r>
            <a:endParaRPr lang="en-US" altLang="zh-CN" sz="2205" b="1">
              <a:solidFill>
                <a:srgbClr val="FF0000"/>
              </a:solidFill>
              <a:latin typeface="微软雅黑" panose="020B0503020204020204" pitchFamily="34" charset="-122"/>
            </a:endParaRPr>
          </a:p>
        </p:txBody>
      </p:sp>
      <p:sp>
        <p:nvSpPr>
          <p:cNvPr id="75790" name="Text Box 14"/>
          <p:cNvSpPr txBox="1">
            <a:spLocks noChangeArrowheads="1"/>
          </p:cNvSpPr>
          <p:nvPr/>
        </p:nvSpPr>
        <p:spPr bwMode="auto">
          <a:xfrm>
            <a:off x="4928557" y="6610854"/>
            <a:ext cx="904901" cy="644108"/>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2645" b="1">
                <a:solidFill>
                  <a:srgbClr val="FF0000"/>
                </a:solidFill>
                <a:latin typeface="微软雅黑" panose="020B0503020204020204" pitchFamily="34" charset="-122"/>
              </a:rPr>
              <a:t>D </a:t>
            </a:r>
            <a:r>
              <a:rPr lang="en-US" altLang="zh-CN" b="1">
                <a:solidFill>
                  <a:srgbClr val="FF0000"/>
                </a:solidFill>
                <a:latin typeface="微软雅黑" panose="020B0503020204020204" pitchFamily="34" charset="-122"/>
              </a:rPr>
              <a:t>(6)</a:t>
            </a:r>
            <a:endParaRPr lang="en-US" altLang="zh-CN" b="1">
              <a:solidFill>
                <a:srgbClr val="FF0000"/>
              </a:solidFill>
              <a:latin typeface="微软雅黑" panose="020B0503020204020204" pitchFamily="34" charset="-122"/>
            </a:endParaRPr>
          </a:p>
        </p:txBody>
      </p:sp>
      <p:sp>
        <p:nvSpPr>
          <p:cNvPr id="75791" name="Text Box 15"/>
          <p:cNvSpPr txBox="1">
            <a:spLocks noChangeArrowheads="1"/>
          </p:cNvSpPr>
          <p:nvPr/>
        </p:nvSpPr>
        <p:spPr bwMode="auto">
          <a:xfrm>
            <a:off x="5761695" y="5539675"/>
            <a:ext cx="859393" cy="644108"/>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2205" b="1">
                <a:solidFill>
                  <a:srgbClr val="FF0000"/>
                </a:solidFill>
                <a:latin typeface="微软雅黑" panose="020B0503020204020204" pitchFamily="34" charset="-122"/>
              </a:rPr>
              <a:t>E (20)</a:t>
            </a:r>
            <a:endParaRPr lang="en-US" altLang="zh-CN" sz="2205" b="1">
              <a:solidFill>
                <a:srgbClr val="FF0000"/>
              </a:solidFill>
              <a:latin typeface="微软雅黑" panose="020B0503020204020204" pitchFamily="34" charset="-122"/>
            </a:endParaRPr>
          </a:p>
        </p:txBody>
      </p:sp>
      <p:sp>
        <p:nvSpPr>
          <p:cNvPr id="75792" name="Text Box 16"/>
          <p:cNvSpPr txBox="1">
            <a:spLocks noChangeArrowheads="1"/>
          </p:cNvSpPr>
          <p:nvPr/>
        </p:nvSpPr>
        <p:spPr bwMode="auto">
          <a:xfrm>
            <a:off x="7778032" y="5383899"/>
            <a:ext cx="672112" cy="645858"/>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2205" b="1">
                <a:solidFill>
                  <a:srgbClr val="FF0000"/>
                </a:solidFill>
                <a:latin typeface="微软雅黑" panose="020B0503020204020204" pitchFamily="34" charset="-122"/>
              </a:rPr>
              <a:t>F (4)</a:t>
            </a:r>
            <a:endParaRPr lang="en-US" altLang="zh-CN" sz="2205" b="1">
              <a:solidFill>
                <a:srgbClr val="FF0000"/>
              </a:solidFill>
              <a:latin typeface="微软雅黑" panose="020B0503020204020204" pitchFamily="34" charset="-122"/>
            </a:endParaRPr>
          </a:p>
        </p:txBody>
      </p:sp>
      <p:sp>
        <p:nvSpPr>
          <p:cNvPr id="75793" name="Oval 17"/>
          <p:cNvSpPr>
            <a:spLocks noChangeArrowheads="1"/>
          </p:cNvSpPr>
          <p:nvPr/>
        </p:nvSpPr>
        <p:spPr bwMode="auto">
          <a:xfrm>
            <a:off x="10181184" y="5760212"/>
            <a:ext cx="577596" cy="616103"/>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2205" b="1">
                <a:solidFill>
                  <a:srgbClr val="FF0000"/>
                </a:solidFill>
                <a:latin typeface="微软雅黑" panose="020B0503020204020204" pitchFamily="34" charset="-122"/>
              </a:rPr>
              <a:t>6</a:t>
            </a:r>
            <a:endParaRPr lang="en-US" altLang="zh-CN" sz="2205" b="1" baseline="-25000">
              <a:solidFill>
                <a:srgbClr val="FF0000"/>
              </a:solidFill>
              <a:latin typeface="微软雅黑" panose="020B0503020204020204" pitchFamily="34" charset="-122"/>
            </a:endParaRPr>
          </a:p>
        </p:txBody>
      </p:sp>
      <p:cxnSp>
        <p:nvCxnSpPr>
          <p:cNvPr id="75794" name="AutoShape 18"/>
          <p:cNvCxnSpPr>
            <a:cxnSpLocks noChangeShapeType="1"/>
            <a:stCxn id="75782" idx="6"/>
            <a:endCxn id="75793" idx="2"/>
          </p:cNvCxnSpPr>
          <p:nvPr/>
        </p:nvCxnSpPr>
        <p:spPr bwMode="auto">
          <a:xfrm>
            <a:off x="9027740" y="6049011"/>
            <a:ext cx="1153442" cy="19254"/>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95" name="Text Box 19"/>
          <p:cNvSpPr txBox="1">
            <a:spLocks noChangeArrowheads="1"/>
          </p:cNvSpPr>
          <p:nvPr/>
        </p:nvSpPr>
        <p:spPr bwMode="auto">
          <a:xfrm>
            <a:off x="9323541" y="5317387"/>
            <a:ext cx="857643" cy="644108"/>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2205" b="1">
                <a:solidFill>
                  <a:srgbClr val="FF0000"/>
                </a:solidFill>
                <a:latin typeface="微软雅黑" panose="020B0503020204020204" pitchFamily="34" charset="-122"/>
              </a:rPr>
              <a:t>G (2)</a:t>
            </a:r>
            <a:endParaRPr lang="en-US" altLang="zh-CN" sz="2205" b="1">
              <a:solidFill>
                <a:srgbClr val="FF0000"/>
              </a:solidFill>
              <a:latin typeface="微软雅黑" panose="020B0503020204020204" pitchFamily="34" charset="-122"/>
            </a:endParaRPr>
          </a:p>
        </p:txBody>
      </p:sp>
      <p:cxnSp>
        <p:nvCxnSpPr>
          <p:cNvPr id="75798" name="AutoShape 22"/>
          <p:cNvCxnSpPr>
            <a:cxnSpLocks noChangeShapeType="1"/>
          </p:cNvCxnSpPr>
          <p:nvPr/>
        </p:nvCxnSpPr>
        <p:spPr bwMode="auto">
          <a:xfrm flipV="1">
            <a:off x="6192267" y="6267798"/>
            <a:ext cx="621353" cy="743874"/>
          </a:xfrm>
          <a:prstGeom prst="straightConnector1">
            <a:avLst/>
          </a:prstGeom>
          <a:noFill/>
          <a:ln w="25400">
            <a:solidFill>
              <a:srgbClr val="0000FF"/>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5887" name="Group 111"/>
          <p:cNvGrpSpPr/>
          <p:nvPr/>
        </p:nvGrpSpPr>
        <p:grpSpPr bwMode="auto">
          <a:xfrm>
            <a:off x="3629839" y="6183784"/>
            <a:ext cx="2562428" cy="827888"/>
            <a:chOff x="1471" y="3533"/>
            <a:chExt cx="1464" cy="473"/>
          </a:xfrm>
        </p:grpSpPr>
        <p:cxnSp>
          <p:nvCxnSpPr>
            <p:cNvPr id="75797" name="AutoShape 21"/>
            <p:cNvCxnSpPr>
              <a:cxnSpLocks noChangeShapeType="1"/>
            </p:cNvCxnSpPr>
            <p:nvPr/>
          </p:nvCxnSpPr>
          <p:spPr bwMode="auto">
            <a:xfrm>
              <a:off x="1471" y="3533"/>
              <a:ext cx="258" cy="473"/>
            </a:xfrm>
            <a:prstGeom prst="straightConnector1">
              <a:avLst/>
            </a:prstGeom>
            <a:noFill/>
            <a:ln w="25400">
              <a:solidFill>
                <a:srgbClr val="0000FF"/>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99" name="Line 23"/>
            <p:cNvSpPr>
              <a:spLocks noChangeShapeType="1"/>
            </p:cNvSpPr>
            <p:nvPr/>
          </p:nvSpPr>
          <p:spPr bwMode="auto">
            <a:xfrm>
              <a:off x="1729" y="4006"/>
              <a:ext cx="1206" cy="0"/>
            </a:xfrm>
            <a:prstGeom prst="line">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nchorCtr="1"/>
            <a:lstStyle/>
            <a:p>
              <a:endParaRPr lang="zh-CN" altLang="en-US" sz="2205">
                <a:solidFill>
                  <a:srgbClr val="FF0000"/>
                </a:solidFill>
              </a:endParaRPr>
            </a:p>
          </p:txBody>
        </p:sp>
      </p:grpSp>
      <p:cxnSp>
        <p:nvCxnSpPr>
          <p:cNvPr id="75800" name="AutoShape 24"/>
          <p:cNvCxnSpPr>
            <a:cxnSpLocks noChangeShapeType="1"/>
            <a:stCxn id="75778" idx="6"/>
          </p:cNvCxnSpPr>
          <p:nvPr/>
        </p:nvCxnSpPr>
        <p:spPr bwMode="auto">
          <a:xfrm>
            <a:off x="2198100" y="4669779"/>
            <a:ext cx="2203617" cy="0"/>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801" name="AutoShape 25"/>
          <p:cNvCxnSpPr>
            <a:cxnSpLocks noChangeShapeType="1"/>
            <a:endCxn id="75780" idx="0"/>
          </p:cNvCxnSpPr>
          <p:nvPr/>
        </p:nvCxnSpPr>
        <p:spPr bwMode="auto">
          <a:xfrm>
            <a:off x="4401717" y="4687283"/>
            <a:ext cx="883898" cy="1008168"/>
          </a:xfrm>
          <a:prstGeom prst="straightConnector1">
            <a:avLst/>
          </a:prstGeom>
          <a:noFill/>
          <a:ln w="25400">
            <a:solidFill>
              <a:srgbClr val="0000FF"/>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75883" name="Group 107"/>
          <p:cNvGraphicFramePr>
            <a:graphicFrameLocks noGrp="1"/>
          </p:cNvGraphicFramePr>
          <p:nvPr/>
        </p:nvGraphicFramePr>
        <p:xfrm>
          <a:off x="2182347" y="427073"/>
          <a:ext cx="8576432" cy="3371281"/>
        </p:xfrm>
        <a:graphic>
          <a:graphicData uri="http://schemas.openxmlformats.org/drawingml/2006/table">
            <a:tbl>
              <a:tblPr/>
              <a:tblGrid>
                <a:gridCol w="2054843"/>
                <a:gridCol w="2056594"/>
                <a:gridCol w="2177364"/>
                <a:gridCol w="2287631"/>
              </a:tblGrid>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rPr>
                        <a:t>工序代号</a:t>
                      </a:r>
                      <a:endPar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rPr>
                        <a:t>工序名称</a:t>
                      </a:r>
                      <a:endPar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rPr>
                        <a:t>紧前工序</a:t>
                      </a:r>
                      <a:endPar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rPr>
                        <a:t>工序时间（周）</a:t>
                      </a:r>
                      <a:endPar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拆迁</a:t>
                      </a:r>
                      <a:endPar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2</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B</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工程设计</a:t>
                      </a:r>
                      <a:endPar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3</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C</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土建工程设计</a:t>
                      </a:r>
                      <a:endPar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B</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2.5</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6570">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D</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采购设备</a:t>
                      </a:r>
                      <a:endPar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B</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6</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2077">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E</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厂房土建</a:t>
                      </a:r>
                      <a:endPar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C</a:t>
                      </a: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20</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F</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设备安装</a:t>
                      </a:r>
                      <a:endPar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D</a:t>
                      </a: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E</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4</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G</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设备调试</a:t>
                      </a:r>
                      <a:endPar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F</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2</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cxnSp>
        <p:nvCxnSpPr>
          <p:cNvPr id="75886" name="AutoShape 110"/>
          <p:cNvCxnSpPr>
            <a:cxnSpLocks noChangeShapeType="1"/>
            <a:stCxn id="75780" idx="6"/>
          </p:cNvCxnSpPr>
          <p:nvPr/>
        </p:nvCxnSpPr>
        <p:spPr bwMode="auto">
          <a:xfrm>
            <a:off x="5574413" y="6003502"/>
            <a:ext cx="1155193" cy="0"/>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88" name="Rectangle 112"/>
          <p:cNvSpPr>
            <a:spLocks noChangeArrowheads="1"/>
          </p:cNvSpPr>
          <p:nvPr/>
        </p:nvSpPr>
        <p:spPr bwMode="auto">
          <a:xfrm>
            <a:off x="242568" y="3678365"/>
            <a:ext cx="679673"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spcBef>
                <a:spcPct val="0"/>
              </a:spcBef>
              <a:buFontTx/>
              <a:buNone/>
            </a:pPr>
            <a:r>
              <a:rPr lang="zh-CN" altLang="en-US" sz="2645" b="1">
                <a:solidFill>
                  <a:schemeClr val="hlink"/>
                </a:solidFill>
              </a:rPr>
              <a:t>解：</a:t>
            </a:r>
            <a:endParaRPr lang="zh-CN" altLang="en-US" sz="2645" b="1">
              <a:solidFill>
                <a:schemeClr va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57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75800"/>
                                        </p:tgtEl>
                                        <p:attrNameLst>
                                          <p:attrName>style.visibility</p:attrName>
                                        </p:attrNameLst>
                                      </p:cBhvr>
                                      <p:to>
                                        <p:strVal val="visible"/>
                                      </p:to>
                                    </p:set>
                                    <p:animEffect transition="in" filter="wipe(left)">
                                      <p:cBhvr>
                                        <p:cTn id="11" dur="500"/>
                                        <p:tgtEl>
                                          <p:spTgt spid="7580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7578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5784"/>
                                        </p:tgtEl>
                                        <p:attrNameLst>
                                          <p:attrName>style.visibility</p:attrName>
                                        </p:attrNameLst>
                                      </p:cBhvr>
                                      <p:to>
                                        <p:strVal val="visible"/>
                                      </p:to>
                                    </p:set>
                                    <p:animEffect transition="in" filter="wipe(left)">
                                      <p:cBhvr>
                                        <p:cTn id="20" dur="500"/>
                                        <p:tgtEl>
                                          <p:spTgt spid="7578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7578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7577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5786"/>
                                        </p:tgtEl>
                                        <p:attrNameLst>
                                          <p:attrName>style.visibility</p:attrName>
                                        </p:attrNameLst>
                                      </p:cBhvr>
                                      <p:to>
                                        <p:strVal val="visible"/>
                                      </p:to>
                                    </p:set>
                                    <p:animEffect transition="in" filter="wipe(left)">
                                      <p:cBhvr>
                                        <p:cTn id="33" dur="500"/>
                                        <p:tgtEl>
                                          <p:spTgt spid="7578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7578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75887"/>
                                        </p:tgtEl>
                                        <p:attrNameLst>
                                          <p:attrName>style.visibility</p:attrName>
                                        </p:attrNameLst>
                                      </p:cBhvr>
                                      <p:to>
                                        <p:strVal val="visible"/>
                                      </p:to>
                                    </p:set>
                                    <p:anim calcmode="lin" valueType="num">
                                      <p:cBhvr additive="base">
                                        <p:cTn id="42" dur="500" fill="hold"/>
                                        <p:tgtEl>
                                          <p:spTgt spid="75887"/>
                                        </p:tgtEl>
                                        <p:attrNameLst>
                                          <p:attrName>ppt_x</p:attrName>
                                        </p:attrNameLst>
                                      </p:cBhvr>
                                      <p:tavLst>
                                        <p:tav tm="0">
                                          <p:val>
                                            <p:strVal val="0-#ppt_w/2"/>
                                          </p:val>
                                        </p:tav>
                                        <p:tav tm="100000">
                                          <p:val>
                                            <p:strVal val="#ppt_x"/>
                                          </p:val>
                                        </p:tav>
                                      </p:tavLst>
                                    </p:anim>
                                    <p:anim calcmode="lin" valueType="num">
                                      <p:cBhvr additive="base">
                                        <p:cTn id="43" dur="500" fill="hold"/>
                                        <p:tgtEl>
                                          <p:spTgt spid="75887"/>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7579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5801"/>
                                        </p:tgtEl>
                                        <p:attrNameLst>
                                          <p:attrName>style.visibility</p:attrName>
                                        </p:attrNameLst>
                                      </p:cBhvr>
                                      <p:to>
                                        <p:strVal val="visible"/>
                                      </p:to>
                                    </p:set>
                                    <p:animEffect transition="in" filter="wipe(left)">
                                      <p:cBhvr>
                                        <p:cTn id="52" dur="500"/>
                                        <p:tgtEl>
                                          <p:spTgt spid="75801"/>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7578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75886"/>
                                        </p:tgtEl>
                                        <p:attrNameLst>
                                          <p:attrName>style.visibility</p:attrName>
                                        </p:attrNameLst>
                                      </p:cBhvr>
                                      <p:to>
                                        <p:strVal val="visible"/>
                                      </p:to>
                                    </p:set>
                                    <p:anim calcmode="lin" valueType="num">
                                      <p:cBhvr additive="base">
                                        <p:cTn id="61" dur="500" fill="hold"/>
                                        <p:tgtEl>
                                          <p:spTgt spid="75886"/>
                                        </p:tgtEl>
                                        <p:attrNameLst>
                                          <p:attrName>ppt_x</p:attrName>
                                        </p:attrNameLst>
                                      </p:cBhvr>
                                      <p:tavLst>
                                        <p:tav tm="0">
                                          <p:val>
                                            <p:strVal val="0-#ppt_w/2"/>
                                          </p:val>
                                        </p:tav>
                                        <p:tav tm="100000">
                                          <p:val>
                                            <p:strVal val="#ppt_x"/>
                                          </p:val>
                                        </p:tav>
                                      </p:tavLst>
                                    </p:anim>
                                    <p:anim calcmode="lin" valueType="num">
                                      <p:cBhvr additive="base">
                                        <p:cTn id="62" dur="500" fill="hold"/>
                                        <p:tgtEl>
                                          <p:spTgt spid="75886"/>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7579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75798"/>
                                        </p:tgtEl>
                                        <p:attrNameLst>
                                          <p:attrName>style.visibility</p:attrName>
                                        </p:attrNameLst>
                                      </p:cBhvr>
                                      <p:to>
                                        <p:strVal val="visible"/>
                                      </p:to>
                                    </p:set>
                                    <p:animEffect transition="in" filter="wipe(left)">
                                      <p:cBhvr>
                                        <p:cTn id="71" dur="500"/>
                                        <p:tgtEl>
                                          <p:spTgt spid="75798"/>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499"/>
                                          </p:stCondLst>
                                        </p:cTn>
                                        <p:tgtEl>
                                          <p:spTgt spid="75781"/>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75787"/>
                                        </p:tgtEl>
                                        <p:attrNameLst>
                                          <p:attrName>style.visibility</p:attrName>
                                        </p:attrNameLst>
                                      </p:cBhvr>
                                      <p:to>
                                        <p:strVal val="visible"/>
                                      </p:to>
                                    </p:set>
                                    <p:animEffect transition="in" filter="wipe(left)">
                                      <p:cBhvr>
                                        <p:cTn id="80" dur="500"/>
                                        <p:tgtEl>
                                          <p:spTgt spid="75787"/>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7579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499"/>
                                          </p:stCondLst>
                                        </p:cTn>
                                        <p:tgtEl>
                                          <p:spTgt spid="7578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75794"/>
                                        </p:tgtEl>
                                        <p:attrNameLst>
                                          <p:attrName>style.visibility</p:attrName>
                                        </p:attrNameLst>
                                      </p:cBhvr>
                                      <p:to>
                                        <p:strVal val="visible"/>
                                      </p:to>
                                    </p:set>
                                    <p:animEffect transition="in" filter="wipe(left)">
                                      <p:cBhvr>
                                        <p:cTn id="93" dur="500"/>
                                        <p:tgtEl>
                                          <p:spTgt spid="75794"/>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499"/>
                                          </p:stCondLst>
                                        </p:cTn>
                                        <p:tgtEl>
                                          <p:spTgt spid="75795"/>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499"/>
                                          </p:stCondLst>
                                        </p:cTn>
                                        <p:tgtEl>
                                          <p:spTgt spid="757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animBg="1" autoUpdateAnimBg="0"/>
      <p:bldP spid="75779" grpId="0" animBg="1" autoUpdateAnimBg="0"/>
      <p:bldP spid="75780" grpId="0" animBg="1" autoUpdateAnimBg="0"/>
      <p:bldP spid="75781" grpId="0" animBg="1" autoUpdateAnimBg="0"/>
      <p:bldP spid="75782" grpId="0" animBg="1" autoUpdateAnimBg="0"/>
      <p:bldP spid="75783" grpId="0" autoUpdateAnimBg="0"/>
      <p:bldP spid="75788" grpId="0" autoUpdateAnimBg="0"/>
      <p:bldP spid="75789" grpId="0" autoUpdateAnimBg="0"/>
      <p:bldP spid="75790" grpId="0" autoUpdateAnimBg="0"/>
      <p:bldP spid="75791" grpId="0" autoUpdateAnimBg="0"/>
      <p:bldP spid="75792" grpId="0" autoUpdateAnimBg="0"/>
      <p:bldP spid="75793" grpId="0" animBg="1" autoUpdateAnimBg="0"/>
      <p:bldP spid="75795"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133" name="Group 333"/>
          <p:cNvGraphicFramePr>
            <a:graphicFrameLocks noGrp="1"/>
          </p:cNvGraphicFramePr>
          <p:nvPr/>
        </p:nvGraphicFramePr>
        <p:xfrm>
          <a:off x="2182348" y="726373"/>
          <a:ext cx="4281215" cy="2540403"/>
        </p:xfrm>
        <a:graphic>
          <a:graphicData uri="http://schemas.openxmlformats.org/drawingml/2006/table">
            <a:tbl>
              <a:tblPr/>
              <a:tblGrid>
                <a:gridCol w="1177947"/>
                <a:gridCol w="1232206"/>
                <a:gridCol w="1871062"/>
              </a:tblGrid>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rPr>
                        <a:t>工序代号</a:t>
                      </a:r>
                      <a:endPar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rPr>
                        <a:t>紧前工序</a:t>
                      </a:r>
                      <a:endPar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rPr>
                        <a:t>工序时间（周）</a:t>
                      </a:r>
                      <a:endPar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2</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B</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3</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C</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2</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6570">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D</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3</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2077">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E</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4</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7202" name="Group 402"/>
          <p:cNvGraphicFramePr>
            <a:graphicFrameLocks noGrp="1"/>
          </p:cNvGraphicFramePr>
          <p:nvPr/>
        </p:nvGraphicFramePr>
        <p:xfrm>
          <a:off x="6778616" y="701869"/>
          <a:ext cx="4184949" cy="2540403"/>
        </p:xfrm>
        <a:graphic>
          <a:graphicData uri="http://schemas.openxmlformats.org/drawingml/2006/table">
            <a:tbl>
              <a:tblPr/>
              <a:tblGrid>
                <a:gridCol w="1177947"/>
                <a:gridCol w="1438740"/>
                <a:gridCol w="1568262"/>
              </a:tblGrid>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rPr>
                        <a:t>工序代号</a:t>
                      </a:r>
                      <a:endPar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rPr>
                        <a:t>紧前工序</a:t>
                      </a:r>
                      <a:endParaRPr kumimoji="1" lang="zh-CN" altLang="en-US" sz="22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800" b="1" i="0" u="none" strike="noStrike" cap="none" normalizeH="0" baseline="0">
                          <a:ln>
                            <a:noFill/>
                          </a:ln>
                          <a:solidFill>
                            <a:srgbClr val="3333FF"/>
                          </a:solidFill>
                          <a:effectLst/>
                          <a:latin typeface="Tahoma" panose="020B0604030504040204" pitchFamily="34" charset="0"/>
                          <a:ea typeface="宋体" panose="02010600030101010101" pitchFamily="2" charset="-122"/>
                        </a:rPr>
                        <a:t>工序时间（周）</a:t>
                      </a:r>
                      <a:endParaRPr kumimoji="1" lang="zh-CN" altLang="en-US" sz="1800" b="1" i="0" u="none" strike="noStrike" cap="none" normalizeH="0" baseline="0">
                        <a:ln>
                          <a:noFill/>
                        </a:ln>
                        <a:solidFill>
                          <a:srgbClr val="3333FF"/>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F</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B</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7</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G</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B</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6</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439">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H</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D </a:t>
                      </a: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E</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4</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6570">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I</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B </a:t>
                      </a: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C</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2077">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J</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G</a:t>
                      </a:r>
                      <a:r>
                        <a:rPr kumimoji="1" lang="zh-CN" altLang="en-US"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I</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rPr>
                        <a:t>3</a:t>
                      </a:r>
                      <a:endParaRPr kumimoji="1" lang="en-US" altLang="zh-CN" sz="2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L="0" marR="0" marT="0" marB="7938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7135" name="Line 335"/>
          <p:cNvSpPr>
            <a:spLocks noChangeShapeType="1"/>
          </p:cNvSpPr>
          <p:nvPr/>
        </p:nvSpPr>
        <p:spPr bwMode="auto">
          <a:xfrm>
            <a:off x="6573830" y="299302"/>
            <a:ext cx="0" cy="2964995"/>
          </a:xfrm>
          <a:prstGeom prst="line">
            <a:avLst/>
          </a:prstGeom>
          <a:noFill/>
          <a:ln w="38100">
            <a:solidFill>
              <a:srgbClr val="FFFF00"/>
            </a:solidFill>
            <a:prstDash val="sysDot"/>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lIns="0" tIns="0" rIns="0" bIns="79383" anchor="ctr"/>
          <a:lstStyle/>
          <a:p>
            <a:endParaRPr lang="zh-CN" altLang="en-US"/>
          </a:p>
        </p:txBody>
      </p:sp>
      <p:sp>
        <p:nvSpPr>
          <p:cNvPr id="77136" name="Text Box 336"/>
          <p:cNvSpPr txBox="1">
            <a:spLocks noChangeArrowheads="1"/>
          </p:cNvSpPr>
          <p:nvPr/>
        </p:nvSpPr>
        <p:spPr bwMode="auto">
          <a:xfrm>
            <a:off x="2182348" y="63012"/>
            <a:ext cx="3049009"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zh-CN" altLang="en-US" sz="2645" b="1">
                <a:solidFill>
                  <a:schemeClr val="folHlink"/>
                </a:solidFill>
              </a:rPr>
              <a:t>例：</a:t>
            </a:r>
            <a:r>
              <a:rPr lang="zh-CN" altLang="en-US" sz="2645" b="1"/>
              <a:t>绘制工程网络图</a:t>
            </a:r>
            <a:endParaRPr lang="zh-CN" altLang="en-US" sz="2645" b="1"/>
          </a:p>
        </p:txBody>
      </p:sp>
      <p:sp>
        <p:nvSpPr>
          <p:cNvPr id="77137" name="Text Box 337"/>
          <p:cNvSpPr txBox="1">
            <a:spLocks noChangeArrowheads="1"/>
          </p:cNvSpPr>
          <p:nvPr/>
        </p:nvSpPr>
        <p:spPr bwMode="auto">
          <a:xfrm>
            <a:off x="6759363" y="63012"/>
            <a:ext cx="2410152"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buFontTx/>
              <a:buNone/>
            </a:pPr>
            <a:r>
              <a:rPr lang="zh-CN" altLang="en-US" sz="2645" b="1">
                <a:solidFill>
                  <a:schemeClr val="folHlink"/>
                </a:solidFill>
                <a:ea typeface="隶书" panose="02010509060101010101" pitchFamily="49" charset="-122"/>
              </a:rPr>
              <a:t>续左表</a:t>
            </a:r>
            <a:endParaRPr lang="zh-CN" altLang="en-US" sz="2645" b="1">
              <a:ea typeface="隶书" panose="02010509060101010101" pitchFamily="49" charset="-122"/>
            </a:endParaRPr>
          </a:p>
        </p:txBody>
      </p:sp>
      <p:sp>
        <p:nvSpPr>
          <p:cNvPr id="77138" name="Rectangle 338"/>
          <p:cNvSpPr>
            <a:spLocks noChangeArrowheads="1"/>
          </p:cNvSpPr>
          <p:nvPr/>
        </p:nvSpPr>
        <p:spPr bwMode="auto">
          <a:xfrm>
            <a:off x="1282698" y="3294051"/>
            <a:ext cx="679673" cy="48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spAutoFit/>
          </a:bodyPr>
          <a:lstStyle/>
          <a:p>
            <a:pPr>
              <a:spcBef>
                <a:spcPct val="0"/>
              </a:spcBef>
              <a:buFontTx/>
              <a:buNone/>
            </a:pPr>
            <a:r>
              <a:rPr lang="zh-CN" altLang="en-US" sz="2645" b="1">
                <a:solidFill>
                  <a:schemeClr val="hlink"/>
                </a:solidFill>
              </a:rPr>
              <a:t>解：</a:t>
            </a:r>
            <a:endParaRPr lang="zh-CN" altLang="en-US" sz="2645" b="1">
              <a:solidFill>
                <a:schemeClr val="hlink"/>
              </a:solidFill>
            </a:endParaRPr>
          </a:p>
        </p:txBody>
      </p:sp>
      <p:sp>
        <p:nvSpPr>
          <p:cNvPr id="77141" name="Oval 341"/>
          <p:cNvSpPr>
            <a:spLocks noChangeArrowheads="1"/>
          </p:cNvSpPr>
          <p:nvPr/>
        </p:nvSpPr>
        <p:spPr bwMode="auto">
          <a:xfrm>
            <a:off x="1967061" y="5256129"/>
            <a:ext cx="425320" cy="423571"/>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985" b="1">
                <a:solidFill>
                  <a:srgbClr val="FF0000"/>
                </a:solidFill>
                <a:latin typeface="微软雅黑" panose="020B0503020204020204" pitchFamily="34" charset="-122"/>
              </a:rPr>
              <a:t>1</a:t>
            </a:r>
            <a:endParaRPr lang="en-US" altLang="zh-CN" sz="1985" b="1">
              <a:solidFill>
                <a:srgbClr val="FF0000"/>
              </a:solidFill>
              <a:latin typeface="微软雅黑" panose="020B0503020204020204" pitchFamily="34" charset="-122"/>
            </a:endParaRPr>
          </a:p>
        </p:txBody>
      </p:sp>
      <p:cxnSp>
        <p:nvCxnSpPr>
          <p:cNvPr id="77150" name="AutoShape 350"/>
          <p:cNvCxnSpPr>
            <a:cxnSpLocks noChangeShapeType="1"/>
          </p:cNvCxnSpPr>
          <p:nvPr/>
        </p:nvCxnSpPr>
        <p:spPr bwMode="auto">
          <a:xfrm flipV="1">
            <a:off x="2313619" y="4599770"/>
            <a:ext cx="1314469" cy="705368"/>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51" name="Text Box 351"/>
          <p:cNvSpPr txBox="1">
            <a:spLocks noChangeArrowheads="1"/>
          </p:cNvSpPr>
          <p:nvPr/>
        </p:nvSpPr>
        <p:spPr bwMode="auto">
          <a:xfrm>
            <a:off x="2304867" y="4584016"/>
            <a:ext cx="729872" cy="383313"/>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1985" b="1">
                <a:solidFill>
                  <a:srgbClr val="FF0000"/>
                </a:solidFill>
                <a:latin typeface="微软雅黑" panose="020B0503020204020204" pitchFamily="34" charset="-122"/>
              </a:rPr>
              <a:t>A (2)</a:t>
            </a:r>
            <a:endParaRPr lang="en-US" altLang="zh-CN" sz="1985" b="1">
              <a:solidFill>
                <a:srgbClr val="FF0000"/>
              </a:solidFill>
              <a:latin typeface="微软雅黑" panose="020B0503020204020204" pitchFamily="34" charset="-122"/>
            </a:endParaRPr>
          </a:p>
        </p:txBody>
      </p:sp>
      <p:cxnSp>
        <p:nvCxnSpPr>
          <p:cNvPr id="77152" name="AutoShape 352"/>
          <p:cNvCxnSpPr>
            <a:cxnSpLocks noChangeShapeType="1"/>
            <a:stCxn id="77141" idx="6"/>
          </p:cNvCxnSpPr>
          <p:nvPr/>
        </p:nvCxnSpPr>
        <p:spPr bwMode="auto">
          <a:xfrm>
            <a:off x="2392383" y="5467913"/>
            <a:ext cx="1314470" cy="0"/>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53" name="Text Box 353"/>
          <p:cNvSpPr txBox="1">
            <a:spLocks noChangeArrowheads="1"/>
          </p:cNvSpPr>
          <p:nvPr/>
        </p:nvSpPr>
        <p:spPr bwMode="auto">
          <a:xfrm>
            <a:off x="4510235" y="4228706"/>
            <a:ext cx="938157" cy="519837"/>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1985" b="1">
                <a:solidFill>
                  <a:srgbClr val="FF0000"/>
                </a:solidFill>
                <a:latin typeface="微软雅黑" panose="020B0503020204020204" pitchFamily="34" charset="-122"/>
              </a:rPr>
              <a:t>D (3)</a:t>
            </a:r>
            <a:endParaRPr lang="en-US" altLang="zh-CN" sz="1985" b="1">
              <a:solidFill>
                <a:srgbClr val="FF0000"/>
              </a:solidFill>
              <a:latin typeface="微软雅黑" panose="020B0503020204020204" pitchFamily="34" charset="-122"/>
            </a:endParaRPr>
          </a:p>
        </p:txBody>
      </p:sp>
      <p:cxnSp>
        <p:nvCxnSpPr>
          <p:cNvPr id="77154" name="AutoShape 354"/>
          <p:cNvCxnSpPr>
            <a:cxnSpLocks noChangeShapeType="1"/>
            <a:stCxn id="77141" idx="5"/>
            <a:endCxn id="77173" idx="2"/>
          </p:cNvCxnSpPr>
          <p:nvPr/>
        </p:nvCxnSpPr>
        <p:spPr bwMode="auto">
          <a:xfrm>
            <a:off x="2329371" y="5618438"/>
            <a:ext cx="1533256" cy="988916"/>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55" name="Text Box 355"/>
          <p:cNvSpPr txBox="1">
            <a:spLocks noChangeArrowheads="1"/>
          </p:cNvSpPr>
          <p:nvPr/>
        </p:nvSpPr>
        <p:spPr bwMode="auto">
          <a:xfrm>
            <a:off x="2712685" y="5679700"/>
            <a:ext cx="938157" cy="519836"/>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1985" b="1">
                <a:solidFill>
                  <a:srgbClr val="FF0000"/>
                </a:solidFill>
                <a:latin typeface="微软雅黑" panose="020B0503020204020204" pitchFamily="34" charset="-122"/>
              </a:rPr>
              <a:t>C (2)</a:t>
            </a:r>
            <a:endParaRPr lang="en-US" altLang="zh-CN" sz="1985" b="1">
              <a:solidFill>
                <a:srgbClr val="FF0000"/>
              </a:solidFill>
              <a:latin typeface="微软雅黑" panose="020B0503020204020204" pitchFamily="34" charset="-122"/>
            </a:endParaRPr>
          </a:p>
        </p:txBody>
      </p:sp>
      <p:sp>
        <p:nvSpPr>
          <p:cNvPr id="77156" name="Oval 356"/>
          <p:cNvSpPr>
            <a:spLocks noChangeArrowheads="1"/>
          </p:cNvSpPr>
          <p:nvPr/>
        </p:nvSpPr>
        <p:spPr bwMode="auto">
          <a:xfrm>
            <a:off x="3650843" y="4331914"/>
            <a:ext cx="425322" cy="423571"/>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985" b="1" dirty="0">
                <a:solidFill>
                  <a:srgbClr val="FF0000"/>
                </a:solidFill>
                <a:latin typeface="微软雅黑" panose="020B0503020204020204" pitchFamily="34" charset="-122"/>
              </a:rPr>
              <a:t>2</a:t>
            </a:r>
            <a:endParaRPr lang="en-US" altLang="zh-CN" sz="1985" b="1" dirty="0">
              <a:solidFill>
                <a:srgbClr val="FF0000"/>
              </a:solidFill>
              <a:latin typeface="微软雅黑" panose="020B0503020204020204" pitchFamily="34" charset="-122"/>
            </a:endParaRPr>
          </a:p>
        </p:txBody>
      </p:sp>
      <p:cxnSp>
        <p:nvCxnSpPr>
          <p:cNvPr id="77157" name="AutoShape 357"/>
          <p:cNvCxnSpPr>
            <a:cxnSpLocks noChangeShapeType="1"/>
            <a:stCxn id="77156" idx="6"/>
            <a:endCxn id="77169" idx="2"/>
          </p:cNvCxnSpPr>
          <p:nvPr/>
        </p:nvCxnSpPr>
        <p:spPr bwMode="auto">
          <a:xfrm>
            <a:off x="4053410" y="4599768"/>
            <a:ext cx="2331389" cy="0"/>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59" name="Text Box 359"/>
          <p:cNvSpPr txBox="1">
            <a:spLocks noChangeArrowheads="1"/>
          </p:cNvSpPr>
          <p:nvPr/>
        </p:nvSpPr>
        <p:spPr bwMode="auto">
          <a:xfrm>
            <a:off x="4004055" y="3703619"/>
            <a:ext cx="938157" cy="519837"/>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1985" b="1" dirty="0">
                <a:solidFill>
                  <a:srgbClr val="FF0000"/>
                </a:solidFill>
                <a:latin typeface="微软雅黑" panose="020B0503020204020204" pitchFamily="34" charset="-122"/>
              </a:rPr>
              <a:t>E (4)</a:t>
            </a:r>
            <a:endParaRPr lang="en-US" altLang="zh-CN" sz="1985" b="1" dirty="0">
              <a:solidFill>
                <a:srgbClr val="FF0000"/>
              </a:solidFill>
              <a:latin typeface="微软雅黑" panose="020B0503020204020204" pitchFamily="34" charset="-122"/>
            </a:endParaRPr>
          </a:p>
        </p:txBody>
      </p:sp>
      <p:sp>
        <p:nvSpPr>
          <p:cNvPr id="77160" name="Oval 360"/>
          <p:cNvSpPr>
            <a:spLocks noChangeArrowheads="1"/>
          </p:cNvSpPr>
          <p:nvPr/>
        </p:nvSpPr>
        <p:spPr bwMode="auto">
          <a:xfrm>
            <a:off x="3701602" y="5217623"/>
            <a:ext cx="425322" cy="423571"/>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985" b="1">
                <a:solidFill>
                  <a:srgbClr val="FF0000"/>
                </a:solidFill>
                <a:latin typeface="微软雅黑" panose="020B0503020204020204" pitchFamily="34" charset="-122"/>
              </a:rPr>
              <a:t>3</a:t>
            </a:r>
            <a:endParaRPr lang="en-US" altLang="zh-CN" sz="1985" b="1">
              <a:solidFill>
                <a:srgbClr val="FF0000"/>
              </a:solidFill>
              <a:latin typeface="微软雅黑" panose="020B0503020204020204" pitchFamily="34" charset="-122"/>
            </a:endParaRPr>
          </a:p>
        </p:txBody>
      </p:sp>
      <p:cxnSp>
        <p:nvCxnSpPr>
          <p:cNvPr id="77161" name="AutoShape 361"/>
          <p:cNvCxnSpPr>
            <a:cxnSpLocks noChangeShapeType="1"/>
            <a:stCxn id="77160" idx="6"/>
          </p:cNvCxnSpPr>
          <p:nvPr/>
        </p:nvCxnSpPr>
        <p:spPr bwMode="auto">
          <a:xfrm>
            <a:off x="4126922" y="5429408"/>
            <a:ext cx="4682031" cy="10502"/>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62" name="Text Box 362"/>
          <p:cNvSpPr txBox="1">
            <a:spLocks noChangeArrowheads="1"/>
          </p:cNvSpPr>
          <p:nvPr/>
        </p:nvSpPr>
        <p:spPr bwMode="auto">
          <a:xfrm>
            <a:off x="5226105" y="5014589"/>
            <a:ext cx="938157" cy="519836"/>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1985" b="1">
                <a:solidFill>
                  <a:srgbClr val="FF0000"/>
                </a:solidFill>
                <a:latin typeface="微软雅黑" panose="020B0503020204020204" pitchFamily="34" charset="-122"/>
              </a:rPr>
              <a:t>F(7)</a:t>
            </a:r>
            <a:endParaRPr lang="en-US" altLang="zh-CN" sz="1985" b="1">
              <a:solidFill>
                <a:srgbClr val="FF0000"/>
              </a:solidFill>
              <a:latin typeface="微软雅黑" panose="020B0503020204020204" pitchFamily="34" charset="-122"/>
            </a:endParaRPr>
          </a:p>
        </p:txBody>
      </p:sp>
      <p:sp>
        <p:nvSpPr>
          <p:cNvPr id="77163" name="Text Box 363"/>
          <p:cNvSpPr txBox="1">
            <a:spLocks noChangeArrowheads="1"/>
          </p:cNvSpPr>
          <p:nvPr/>
        </p:nvSpPr>
        <p:spPr bwMode="auto">
          <a:xfrm>
            <a:off x="3687598" y="5816222"/>
            <a:ext cx="729872" cy="383313"/>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1985" b="1">
                <a:solidFill>
                  <a:srgbClr val="FF0000"/>
                </a:solidFill>
                <a:latin typeface="微软雅黑" panose="020B0503020204020204" pitchFamily="34" charset="-122"/>
              </a:rPr>
              <a:t>B </a:t>
            </a:r>
            <a:r>
              <a:rPr lang="en-US" altLang="zh-CN" sz="1985" b="1">
                <a:solidFill>
                  <a:srgbClr val="FF0000"/>
                </a:solidFill>
                <a:latin typeface="微软雅黑" panose="020B0503020204020204" pitchFamily="34" charset="-122"/>
                <a:cs typeface="Tahoma" panose="020B0604030504040204" pitchFamily="34" charset="0"/>
              </a:rPr>
              <a:t>'</a:t>
            </a:r>
            <a:r>
              <a:rPr lang="en-US" altLang="zh-CN" sz="1985" b="1">
                <a:solidFill>
                  <a:srgbClr val="FF0000"/>
                </a:solidFill>
                <a:latin typeface="微软雅黑" panose="020B0503020204020204" pitchFamily="34" charset="-122"/>
              </a:rPr>
              <a:t>(0)</a:t>
            </a:r>
            <a:endParaRPr lang="en-US" altLang="zh-CN" sz="1985" b="1">
              <a:solidFill>
                <a:srgbClr val="FF0000"/>
              </a:solidFill>
              <a:latin typeface="微软雅黑" panose="020B0503020204020204" pitchFamily="34" charset="-122"/>
            </a:endParaRPr>
          </a:p>
        </p:txBody>
      </p:sp>
      <p:cxnSp>
        <p:nvCxnSpPr>
          <p:cNvPr id="77164" name="AutoShape 364"/>
          <p:cNvCxnSpPr>
            <a:cxnSpLocks noChangeShapeType="1"/>
            <a:stCxn id="77160" idx="5"/>
            <a:endCxn id="77176" idx="1"/>
          </p:cNvCxnSpPr>
          <p:nvPr/>
        </p:nvCxnSpPr>
        <p:spPr bwMode="auto">
          <a:xfrm>
            <a:off x="4063913" y="5579931"/>
            <a:ext cx="1403734" cy="876897"/>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65" name="Text Box 365"/>
          <p:cNvSpPr txBox="1">
            <a:spLocks noChangeArrowheads="1"/>
          </p:cNvSpPr>
          <p:nvPr/>
        </p:nvSpPr>
        <p:spPr bwMode="auto">
          <a:xfrm>
            <a:off x="4757027" y="5679700"/>
            <a:ext cx="938157" cy="519836"/>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1985" b="1">
                <a:solidFill>
                  <a:srgbClr val="FF0000"/>
                </a:solidFill>
                <a:latin typeface="微软雅黑" panose="020B0503020204020204" pitchFamily="34" charset="-122"/>
              </a:rPr>
              <a:t>G(6)</a:t>
            </a:r>
            <a:endParaRPr lang="en-US" altLang="zh-CN" sz="1985" b="1">
              <a:solidFill>
                <a:srgbClr val="FF0000"/>
              </a:solidFill>
              <a:latin typeface="微软雅黑" panose="020B0503020204020204" pitchFamily="34" charset="-122"/>
            </a:endParaRPr>
          </a:p>
        </p:txBody>
      </p:sp>
      <p:sp>
        <p:nvSpPr>
          <p:cNvPr id="77167" name="Oval 367"/>
          <p:cNvSpPr>
            <a:spLocks noChangeArrowheads="1"/>
          </p:cNvSpPr>
          <p:nvPr/>
        </p:nvSpPr>
        <p:spPr bwMode="auto">
          <a:xfrm>
            <a:off x="4982816" y="3689617"/>
            <a:ext cx="425322" cy="423571"/>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985" b="1" dirty="0">
                <a:solidFill>
                  <a:srgbClr val="FF0000"/>
                </a:solidFill>
                <a:latin typeface="微软雅黑" panose="020B0503020204020204" pitchFamily="34" charset="-122"/>
              </a:rPr>
              <a:t>4</a:t>
            </a:r>
            <a:endParaRPr lang="en-US" altLang="zh-CN" sz="1985" b="1" dirty="0">
              <a:solidFill>
                <a:srgbClr val="FF0000"/>
              </a:solidFill>
              <a:latin typeface="微软雅黑" panose="020B0503020204020204" pitchFamily="34" charset="-122"/>
            </a:endParaRPr>
          </a:p>
        </p:txBody>
      </p:sp>
      <p:cxnSp>
        <p:nvCxnSpPr>
          <p:cNvPr id="77168" name="AutoShape 368"/>
          <p:cNvCxnSpPr>
            <a:cxnSpLocks noChangeShapeType="1"/>
            <a:endCxn id="77169" idx="1"/>
          </p:cNvCxnSpPr>
          <p:nvPr/>
        </p:nvCxnSpPr>
        <p:spPr bwMode="auto">
          <a:xfrm>
            <a:off x="5408137" y="3964414"/>
            <a:ext cx="1039674" cy="484830"/>
          </a:xfrm>
          <a:prstGeom prst="straightConnector1">
            <a:avLst/>
          </a:prstGeom>
          <a:noFill/>
          <a:ln w="31750">
            <a:solidFill>
              <a:srgbClr val="0000FF"/>
            </a:solidFill>
            <a:prstDash val="dash"/>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69" name="Oval 369"/>
          <p:cNvSpPr>
            <a:spLocks noChangeArrowheads="1"/>
          </p:cNvSpPr>
          <p:nvPr/>
        </p:nvSpPr>
        <p:spPr bwMode="auto">
          <a:xfrm>
            <a:off x="6384799" y="4387984"/>
            <a:ext cx="425320" cy="423571"/>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985" b="1">
                <a:solidFill>
                  <a:srgbClr val="FF0000"/>
                </a:solidFill>
                <a:latin typeface="微软雅黑" panose="020B0503020204020204" pitchFamily="34" charset="-122"/>
              </a:rPr>
              <a:t>5</a:t>
            </a:r>
            <a:endParaRPr lang="en-US" altLang="zh-CN" sz="1985" b="1">
              <a:solidFill>
                <a:srgbClr val="FF0000"/>
              </a:solidFill>
              <a:latin typeface="微软雅黑" panose="020B0503020204020204" pitchFamily="34" charset="-122"/>
            </a:endParaRPr>
          </a:p>
        </p:txBody>
      </p:sp>
      <p:sp>
        <p:nvSpPr>
          <p:cNvPr id="77170" name="Text Box 370"/>
          <p:cNvSpPr txBox="1">
            <a:spLocks noChangeArrowheads="1"/>
          </p:cNvSpPr>
          <p:nvPr/>
        </p:nvSpPr>
        <p:spPr bwMode="auto">
          <a:xfrm>
            <a:off x="5829955" y="3771882"/>
            <a:ext cx="938157" cy="519836"/>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1985" b="1">
                <a:solidFill>
                  <a:srgbClr val="FF0000"/>
                </a:solidFill>
                <a:latin typeface="微软雅黑" panose="020B0503020204020204" pitchFamily="34" charset="-122"/>
              </a:rPr>
              <a:t>E</a:t>
            </a:r>
            <a:r>
              <a:rPr lang="en-US" altLang="zh-CN" sz="1985" b="1">
                <a:solidFill>
                  <a:srgbClr val="FF0000"/>
                </a:solidFill>
                <a:latin typeface="微软雅黑" panose="020B0503020204020204" pitchFamily="34" charset="-122"/>
                <a:cs typeface="Tahoma" panose="020B0604030504040204" pitchFamily="34" charset="0"/>
              </a:rPr>
              <a:t>'</a:t>
            </a:r>
            <a:r>
              <a:rPr lang="en-US" altLang="zh-CN" sz="1985" b="1">
                <a:solidFill>
                  <a:srgbClr val="FF0000"/>
                </a:solidFill>
                <a:latin typeface="微软雅黑" panose="020B0503020204020204" pitchFamily="34" charset="-122"/>
              </a:rPr>
              <a:t>(0)</a:t>
            </a:r>
            <a:endParaRPr lang="en-US" altLang="zh-CN" sz="1985" b="1">
              <a:solidFill>
                <a:srgbClr val="FF0000"/>
              </a:solidFill>
              <a:latin typeface="微软雅黑" panose="020B0503020204020204" pitchFamily="34" charset="-122"/>
            </a:endParaRPr>
          </a:p>
        </p:txBody>
      </p:sp>
      <p:cxnSp>
        <p:nvCxnSpPr>
          <p:cNvPr id="77172" name="AutoShape 372"/>
          <p:cNvCxnSpPr>
            <a:cxnSpLocks noChangeShapeType="1"/>
            <a:stCxn id="77160" idx="4"/>
          </p:cNvCxnSpPr>
          <p:nvPr/>
        </p:nvCxnSpPr>
        <p:spPr bwMode="auto">
          <a:xfrm>
            <a:off x="3915138" y="5641192"/>
            <a:ext cx="115519" cy="754375"/>
          </a:xfrm>
          <a:prstGeom prst="straightConnector1">
            <a:avLst/>
          </a:prstGeom>
          <a:noFill/>
          <a:ln w="31750">
            <a:solidFill>
              <a:srgbClr val="0000FF"/>
            </a:solidFill>
            <a:prstDash val="dash"/>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73" name="Oval 373"/>
          <p:cNvSpPr>
            <a:spLocks noChangeArrowheads="1"/>
          </p:cNvSpPr>
          <p:nvPr/>
        </p:nvSpPr>
        <p:spPr bwMode="auto">
          <a:xfrm>
            <a:off x="3862629" y="6395569"/>
            <a:ext cx="425322" cy="423571"/>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985" b="1">
                <a:solidFill>
                  <a:srgbClr val="FF0000"/>
                </a:solidFill>
                <a:latin typeface="微软雅黑" panose="020B0503020204020204" pitchFamily="34" charset="-122"/>
              </a:rPr>
              <a:t>6</a:t>
            </a:r>
            <a:endParaRPr lang="en-US" altLang="zh-CN" sz="1985" b="1">
              <a:solidFill>
                <a:srgbClr val="FF0000"/>
              </a:solidFill>
              <a:latin typeface="微软雅黑" panose="020B0503020204020204" pitchFamily="34" charset="-122"/>
            </a:endParaRPr>
          </a:p>
        </p:txBody>
      </p:sp>
      <p:cxnSp>
        <p:nvCxnSpPr>
          <p:cNvPr id="77174" name="AutoShape 374"/>
          <p:cNvCxnSpPr>
            <a:cxnSpLocks noChangeShapeType="1"/>
            <a:stCxn id="77173" idx="6"/>
          </p:cNvCxnSpPr>
          <p:nvPr/>
        </p:nvCxnSpPr>
        <p:spPr bwMode="auto">
          <a:xfrm>
            <a:off x="4287949" y="6607354"/>
            <a:ext cx="1120187" cy="0"/>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75" name="Text Box 375"/>
          <p:cNvSpPr txBox="1">
            <a:spLocks noChangeArrowheads="1"/>
          </p:cNvSpPr>
          <p:nvPr/>
        </p:nvSpPr>
        <p:spPr bwMode="auto">
          <a:xfrm>
            <a:off x="4287948" y="6607355"/>
            <a:ext cx="938157" cy="519836"/>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1985" b="1">
                <a:solidFill>
                  <a:srgbClr val="FF0000"/>
                </a:solidFill>
                <a:latin typeface="微软雅黑" panose="020B0503020204020204" pitchFamily="34" charset="-122"/>
              </a:rPr>
              <a:t>I (10)</a:t>
            </a:r>
            <a:endParaRPr lang="en-US" altLang="zh-CN" sz="1985" b="1">
              <a:solidFill>
                <a:srgbClr val="FF0000"/>
              </a:solidFill>
              <a:latin typeface="微软雅黑" panose="020B0503020204020204" pitchFamily="34" charset="-122"/>
            </a:endParaRPr>
          </a:p>
        </p:txBody>
      </p:sp>
      <p:sp>
        <p:nvSpPr>
          <p:cNvPr id="77176" name="Oval 376"/>
          <p:cNvSpPr>
            <a:spLocks noChangeArrowheads="1"/>
          </p:cNvSpPr>
          <p:nvPr/>
        </p:nvSpPr>
        <p:spPr bwMode="auto">
          <a:xfrm>
            <a:off x="5404635" y="6395569"/>
            <a:ext cx="425320" cy="423571"/>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985" b="1">
                <a:solidFill>
                  <a:srgbClr val="FF0000"/>
                </a:solidFill>
                <a:latin typeface="微软雅黑" panose="020B0503020204020204" pitchFamily="34" charset="-122"/>
              </a:rPr>
              <a:t>7</a:t>
            </a:r>
            <a:endParaRPr lang="en-US" altLang="zh-CN" sz="1985" b="1">
              <a:solidFill>
                <a:srgbClr val="FF0000"/>
              </a:solidFill>
              <a:latin typeface="微软雅黑" panose="020B0503020204020204" pitchFamily="34" charset="-122"/>
            </a:endParaRPr>
          </a:p>
        </p:txBody>
      </p:sp>
      <p:cxnSp>
        <p:nvCxnSpPr>
          <p:cNvPr id="77177" name="AutoShape 377"/>
          <p:cNvCxnSpPr>
            <a:cxnSpLocks noChangeShapeType="1"/>
            <a:stCxn id="77176" idx="6"/>
          </p:cNvCxnSpPr>
          <p:nvPr/>
        </p:nvCxnSpPr>
        <p:spPr bwMode="auto">
          <a:xfrm>
            <a:off x="5829956" y="6607354"/>
            <a:ext cx="2450409" cy="0"/>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78" name="Text Box 378"/>
          <p:cNvSpPr txBox="1">
            <a:spLocks noChangeArrowheads="1"/>
          </p:cNvSpPr>
          <p:nvPr/>
        </p:nvSpPr>
        <p:spPr bwMode="auto">
          <a:xfrm>
            <a:off x="5982231" y="6607355"/>
            <a:ext cx="938157" cy="519836"/>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1985" b="1">
                <a:solidFill>
                  <a:srgbClr val="FF0000"/>
                </a:solidFill>
                <a:latin typeface="微软雅黑" panose="020B0503020204020204" pitchFamily="34" charset="-122"/>
              </a:rPr>
              <a:t>J(3)</a:t>
            </a:r>
            <a:endParaRPr lang="en-US" altLang="zh-CN" sz="1985" b="1">
              <a:solidFill>
                <a:srgbClr val="FF0000"/>
              </a:solidFill>
              <a:latin typeface="微软雅黑" panose="020B0503020204020204" pitchFamily="34" charset="-122"/>
            </a:endParaRPr>
          </a:p>
        </p:txBody>
      </p:sp>
      <p:cxnSp>
        <p:nvCxnSpPr>
          <p:cNvPr id="77179" name="AutoShape 379"/>
          <p:cNvCxnSpPr>
            <a:cxnSpLocks noChangeShapeType="1"/>
            <a:stCxn id="77169" idx="6"/>
          </p:cNvCxnSpPr>
          <p:nvPr/>
        </p:nvCxnSpPr>
        <p:spPr bwMode="auto">
          <a:xfrm>
            <a:off x="6810121" y="4599768"/>
            <a:ext cx="1473746" cy="0"/>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80" name="Text Box 380"/>
          <p:cNvSpPr txBox="1">
            <a:spLocks noChangeArrowheads="1"/>
          </p:cNvSpPr>
          <p:nvPr/>
        </p:nvSpPr>
        <p:spPr bwMode="auto">
          <a:xfrm>
            <a:off x="7105919" y="4228706"/>
            <a:ext cx="938157" cy="519837"/>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5400">
                <a:solidFill>
                  <a:srgbClr val="0000FF"/>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nchorCtr="1"/>
          <a:lstStyle/>
          <a:p>
            <a:pPr algn="l">
              <a:buFontTx/>
              <a:buNone/>
            </a:pPr>
            <a:r>
              <a:rPr lang="en-US" altLang="zh-CN" sz="1985" b="1">
                <a:solidFill>
                  <a:srgbClr val="FF0000"/>
                </a:solidFill>
                <a:latin typeface="微软雅黑" panose="020B0503020204020204" pitchFamily="34" charset="-122"/>
              </a:rPr>
              <a:t>H (4)</a:t>
            </a:r>
            <a:endParaRPr lang="en-US" altLang="zh-CN" sz="1985" b="1">
              <a:solidFill>
                <a:srgbClr val="FF0000"/>
              </a:solidFill>
              <a:latin typeface="微软雅黑" panose="020B0503020204020204" pitchFamily="34" charset="-122"/>
            </a:endParaRPr>
          </a:p>
        </p:txBody>
      </p:sp>
      <p:cxnSp>
        <p:nvCxnSpPr>
          <p:cNvPr id="77181" name="AutoShape 381"/>
          <p:cNvCxnSpPr>
            <a:cxnSpLocks noChangeShapeType="1"/>
            <a:endCxn id="77183" idx="1"/>
          </p:cNvCxnSpPr>
          <p:nvPr/>
        </p:nvCxnSpPr>
        <p:spPr bwMode="auto">
          <a:xfrm>
            <a:off x="8283865" y="4599768"/>
            <a:ext cx="588098" cy="736874"/>
          </a:xfrm>
          <a:prstGeom prst="straightConnector1">
            <a:avLst/>
          </a:prstGeom>
          <a:noFill/>
          <a:ln w="25400">
            <a:solidFill>
              <a:srgbClr val="0000FF"/>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182" name="AutoShape 382"/>
          <p:cNvCxnSpPr>
            <a:cxnSpLocks noChangeShapeType="1"/>
            <a:endCxn id="77183" idx="3"/>
          </p:cNvCxnSpPr>
          <p:nvPr/>
        </p:nvCxnSpPr>
        <p:spPr bwMode="auto">
          <a:xfrm flipV="1">
            <a:off x="8283865" y="5637693"/>
            <a:ext cx="588098" cy="969662"/>
          </a:xfrm>
          <a:prstGeom prst="straightConnector1">
            <a:avLst/>
          </a:prstGeom>
          <a:noFill/>
          <a:ln w="25400">
            <a:solidFill>
              <a:srgbClr val="0000FF"/>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183" name="Oval 383"/>
          <p:cNvSpPr>
            <a:spLocks noChangeArrowheads="1"/>
          </p:cNvSpPr>
          <p:nvPr/>
        </p:nvSpPr>
        <p:spPr bwMode="auto">
          <a:xfrm>
            <a:off x="8808954" y="5275382"/>
            <a:ext cx="425322" cy="423571"/>
          </a:xfrm>
          <a:prstGeom prst="ellipse">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79383"/>
          <a:lstStyle/>
          <a:p>
            <a:pPr>
              <a:spcBef>
                <a:spcPct val="0"/>
              </a:spcBef>
              <a:buFontTx/>
              <a:buNone/>
            </a:pPr>
            <a:r>
              <a:rPr lang="en-US" altLang="zh-CN" sz="1985" b="1" dirty="0">
                <a:solidFill>
                  <a:srgbClr val="FF0000"/>
                </a:solidFill>
                <a:latin typeface="微软雅黑" panose="020B0503020204020204" pitchFamily="34" charset="-122"/>
              </a:rPr>
              <a:t>8</a:t>
            </a:r>
            <a:endParaRPr lang="en-US" altLang="zh-CN" sz="1985" b="1" dirty="0">
              <a:solidFill>
                <a:srgbClr val="FF0000"/>
              </a:solidFill>
              <a:latin typeface="微软雅黑" panose="020B0503020204020204" pitchFamily="34" charset="-122"/>
            </a:endParaRPr>
          </a:p>
        </p:txBody>
      </p:sp>
      <p:sp>
        <p:nvSpPr>
          <p:cNvPr id="77184" name="Text Box 384"/>
          <p:cNvSpPr txBox="1">
            <a:spLocks noChangeArrowheads="1"/>
          </p:cNvSpPr>
          <p:nvPr/>
        </p:nvSpPr>
        <p:spPr bwMode="auto">
          <a:xfrm>
            <a:off x="2712687" y="5082850"/>
            <a:ext cx="729871" cy="383315"/>
          </a:xfrm>
          <a:prstGeom prst="rect">
            <a:avLst/>
          </a:prstGeom>
          <a:noFill/>
          <a:ln>
            <a:noFill/>
          </a:ln>
          <a:effectLst/>
          <a:extLst>
            <a:ext uri="{909E8E84-426E-40DD-AFC4-6F175D3DCCD1}">
              <a14:hiddenFill xmlns:a14="http://schemas.microsoft.com/office/drawing/2010/main">
                <a:solidFill>
                  <a:srgbClr val="336600"/>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a:buFontTx/>
              <a:buNone/>
            </a:pPr>
            <a:r>
              <a:rPr lang="en-US" altLang="zh-CN" sz="1985" b="1">
                <a:solidFill>
                  <a:srgbClr val="FF0000"/>
                </a:solidFill>
                <a:latin typeface="微软雅黑" panose="020B0503020204020204" pitchFamily="34" charset="-122"/>
              </a:rPr>
              <a:t>B (3)</a:t>
            </a:r>
            <a:endParaRPr lang="en-US" altLang="zh-CN" sz="1985" b="1">
              <a:solidFill>
                <a:srgbClr val="FF0000"/>
              </a:solidFill>
              <a:latin typeface="微软雅黑" panose="020B0503020204020204" pitchFamily="34" charset="-122"/>
            </a:endParaRPr>
          </a:p>
        </p:txBody>
      </p:sp>
      <p:cxnSp>
        <p:nvCxnSpPr>
          <p:cNvPr id="77185" name="AutoShape 385"/>
          <p:cNvCxnSpPr>
            <a:cxnSpLocks noChangeShapeType="1"/>
            <a:stCxn id="77156" idx="7"/>
            <a:endCxn id="77167" idx="2"/>
          </p:cNvCxnSpPr>
          <p:nvPr/>
        </p:nvCxnSpPr>
        <p:spPr bwMode="auto">
          <a:xfrm flipV="1">
            <a:off x="3990399" y="3901403"/>
            <a:ext cx="992415" cy="547841"/>
          </a:xfrm>
          <a:prstGeom prst="straightConnector1">
            <a:avLst/>
          </a:prstGeom>
          <a:noFill/>
          <a:ln w="25400">
            <a:solidFill>
              <a:srgbClr val="00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71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71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7150"/>
                                        </p:tgtEl>
                                        <p:attrNameLst>
                                          <p:attrName>style.visibility</p:attrName>
                                        </p:attrNameLst>
                                      </p:cBhvr>
                                      <p:to>
                                        <p:strVal val="visible"/>
                                      </p:to>
                                    </p:set>
                                    <p:animEffect transition="in" filter="wipe(left)">
                                      <p:cBhvr>
                                        <p:cTn id="15" dur="500"/>
                                        <p:tgtEl>
                                          <p:spTgt spid="7715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7715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77152"/>
                                        </p:tgtEl>
                                        <p:attrNameLst>
                                          <p:attrName>style.visibility</p:attrName>
                                        </p:attrNameLst>
                                      </p:cBhvr>
                                      <p:to>
                                        <p:strVal val="visible"/>
                                      </p:to>
                                    </p:set>
                                    <p:animEffect transition="in" filter="wipe(left)">
                                      <p:cBhvr>
                                        <p:cTn id="24" dur="500"/>
                                        <p:tgtEl>
                                          <p:spTgt spid="77152"/>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7718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7154"/>
                                        </p:tgtEl>
                                        <p:attrNameLst>
                                          <p:attrName>style.visibility</p:attrName>
                                        </p:attrNameLst>
                                      </p:cBhvr>
                                      <p:to>
                                        <p:strVal val="visible"/>
                                      </p:to>
                                    </p:set>
                                    <p:animEffect transition="in" filter="wipe(left)">
                                      <p:cBhvr>
                                        <p:cTn id="33" dur="500"/>
                                        <p:tgtEl>
                                          <p:spTgt spid="77154"/>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7715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7715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77157"/>
                                        </p:tgtEl>
                                        <p:attrNameLst>
                                          <p:attrName>style.visibility</p:attrName>
                                        </p:attrNameLst>
                                      </p:cBhvr>
                                      <p:to>
                                        <p:strVal val="visible"/>
                                      </p:to>
                                    </p:set>
                                    <p:animEffect transition="in" filter="wipe(left)">
                                      <p:cBhvr>
                                        <p:cTn id="46" dur="500"/>
                                        <p:tgtEl>
                                          <p:spTgt spid="77157"/>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7715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77185"/>
                                        </p:tgtEl>
                                        <p:attrNameLst>
                                          <p:attrName>style.visibility</p:attrName>
                                        </p:attrNameLst>
                                      </p:cBhvr>
                                      <p:to>
                                        <p:strVal val="visible"/>
                                      </p:to>
                                    </p:set>
                                    <p:animEffect transition="in" filter="wipe(left)">
                                      <p:cBhvr>
                                        <p:cTn id="55" dur="500"/>
                                        <p:tgtEl>
                                          <p:spTgt spid="77185"/>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77159"/>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499"/>
                                          </p:stCondLst>
                                        </p:cTn>
                                        <p:tgtEl>
                                          <p:spTgt spid="77160"/>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77161"/>
                                        </p:tgtEl>
                                        <p:attrNameLst>
                                          <p:attrName>style.visibility</p:attrName>
                                        </p:attrNameLst>
                                      </p:cBhvr>
                                      <p:to>
                                        <p:strVal val="visible"/>
                                      </p:to>
                                    </p:set>
                                    <p:animEffect transition="in" filter="wipe(left)">
                                      <p:cBhvr>
                                        <p:cTn id="68" dur="500"/>
                                        <p:tgtEl>
                                          <p:spTgt spid="77161"/>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7716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77164"/>
                                        </p:tgtEl>
                                        <p:attrNameLst>
                                          <p:attrName>style.visibility</p:attrName>
                                        </p:attrNameLst>
                                      </p:cBhvr>
                                      <p:to>
                                        <p:strVal val="visible"/>
                                      </p:to>
                                    </p:set>
                                    <p:animEffect transition="in" filter="wipe(left)">
                                      <p:cBhvr>
                                        <p:cTn id="77" dur="500"/>
                                        <p:tgtEl>
                                          <p:spTgt spid="77164"/>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499"/>
                                          </p:stCondLst>
                                        </p:cTn>
                                        <p:tgtEl>
                                          <p:spTgt spid="77165"/>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499"/>
                                          </p:stCondLst>
                                        </p:cTn>
                                        <p:tgtEl>
                                          <p:spTgt spid="77167"/>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77168"/>
                                        </p:tgtEl>
                                        <p:attrNameLst>
                                          <p:attrName>style.visibility</p:attrName>
                                        </p:attrNameLst>
                                      </p:cBhvr>
                                      <p:to>
                                        <p:strVal val="visible"/>
                                      </p:to>
                                    </p:set>
                                    <p:animEffect transition="in" filter="wipe(left)">
                                      <p:cBhvr>
                                        <p:cTn id="90" dur="500"/>
                                        <p:tgtEl>
                                          <p:spTgt spid="77168"/>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7717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7716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77179"/>
                                        </p:tgtEl>
                                        <p:attrNameLst>
                                          <p:attrName>style.visibility</p:attrName>
                                        </p:attrNameLst>
                                      </p:cBhvr>
                                      <p:to>
                                        <p:strVal val="visible"/>
                                      </p:to>
                                    </p:set>
                                    <p:animEffect transition="in" filter="wipe(left)">
                                      <p:cBhvr>
                                        <p:cTn id="103" dur="500"/>
                                        <p:tgtEl>
                                          <p:spTgt spid="77179"/>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499"/>
                                          </p:stCondLst>
                                        </p:cTn>
                                        <p:tgtEl>
                                          <p:spTgt spid="77180"/>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77172"/>
                                        </p:tgtEl>
                                        <p:attrNameLst>
                                          <p:attrName>style.visibility</p:attrName>
                                        </p:attrNameLst>
                                      </p:cBhvr>
                                      <p:to>
                                        <p:strVal val="visible"/>
                                      </p:to>
                                    </p:set>
                                    <p:animEffect transition="in" filter="wipe(left)">
                                      <p:cBhvr>
                                        <p:cTn id="112" dur="500"/>
                                        <p:tgtEl>
                                          <p:spTgt spid="77172"/>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499"/>
                                          </p:stCondLst>
                                        </p:cTn>
                                        <p:tgtEl>
                                          <p:spTgt spid="77163"/>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499"/>
                                          </p:stCondLst>
                                        </p:cTn>
                                        <p:tgtEl>
                                          <p:spTgt spid="77173"/>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77174"/>
                                        </p:tgtEl>
                                        <p:attrNameLst>
                                          <p:attrName>style.visibility</p:attrName>
                                        </p:attrNameLst>
                                      </p:cBhvr>
                                      <p:to>
                                        <p:strVal val="visible"/>
                                      </p:to>
                                    </p:set>
                                    <p:animEffect transition="in" filter="wipe(left)">
                                      <p:cBhvr>
                                        <p:cTn id="125" dur="500"/>
                                        <p:tgtEl>
                                          <p:spTgt spid="77174"/>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499"/>
                                          </p:stCondLst>
                                        </p:cTn>
                                        <p:tgtEl>
                                          <p:spTgt spid="77175"/>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0" nodeType="clickEffect">
                                  <p:stCondLst>
                                    <p:cond delay="0"/>
                                  </p:stCondLst>
                                  <p:childTnLst>
                                    <p:set>
                                      <p:cBhvr>
                                        <p:cTn id="133" dur="1" fill="hold">
                                          <p:stCondLst>
                                            <p:cond delay="499"/>
                                          </p:stCondLst>
                                        </p:cTn>
                                        <p:tgtEl>
                                          <p:spTgt spid="77176"/>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nodeType="clickEffect">
                                  <p:stCondLst>
                                    <p:cond delay="0"/>
                                  </p:stCondLst>
                                  <p:childTnLst>
                                    <p:set>
                                      <p:cBhvr>
                                        <p:cTn id="137" dur="1" fill="hold">
                                          <p:stCondLst>
                                            <p:cond delay="0"/>
                                          </p:stCondLst>
                                        </p:cTn>
                                        <p:tgtEl>
                                          <p:spTgt spid="77177"/>
                                        </p:tgtEl>
                                        <p:attrNameLst>
                                          <p:attrName>style.visibility</p:attrName>
                                        </p:attrNameLst>
                                      </p:cBhvr>
                                      <p:to>
                                        <p:strVal val="visible"/>
                                      </p:to>
                                    </p:set>
                                    <p:animEffect transition="in" filter="wipe(left)">
                                      <p:cBhvr>
                                        <p:cTn id="138" dur="500"/>
                                        <p:tgtEl>
                                          <p:spTgt spid="77177"/>
                                        </p:tgtEl>
                                      </p:cBhvr>
                                    </p:animEffec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499"/>
                                          </p:stCondLst>
                                        </p:cTn>
                                        <p:tgtEl>
                                          <p:spTgt spid="7717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nodeType="clickEffect">
                                  <p:stCondLst>
                                    <p:cond delay="0"/>
                                  </p:stCondLst>
                                  <p:childTnLst>
                                    <p:set>
                                      <p:cBhvr>
                                        <p:cTn id="146" dur="1" fill="hold">
                                          <p:stCondLst>
                                            <p:cond delay="0"/>
                                          </p:stCondLst>
                                        </p:cTn>
                                        <p:tgtEl>
                                          <p:spTgt spid="77181"/>
                                        </p:tgtEl>
                                        <p:attrNameLst>
                                          <p:attrName>style.visibility</p:attrName>
                                        </p:attrNameLst>
                                      </p:cBhvr>
                                      <p:to>
                                        <p:strVal val="visible"/>
                                      </p:to>
                                    </p:set>
                                    <p:animEffect transition="in" filter="wipe(left)">
                                      <p:cBhvr>
                                        <p:cTn id="147" dur="500"/>
                                        <p:tgtEl>
                                          <p:spTgt spid="77181"/>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77182"/>
                                        </p:tgtEl>
                                        <p:attrNameLst>
                                          <p:attrName>style.visibility</p:attrName>
                                        </p:attrNameLst>
                                      </p:cBhvr>
                                      <p:to>
                                        <p:strVal val="visible"/>
                                      </p:to>
                                    </p:set>
                                    <p:animEffect transition="in" filter="wipe(left)">
                                      <p:cBhvr>
                                        <p:cTn id="152" dur="500"/>
                                        <p:tgtEl>
                                          <p:spTgt spid="77182"/>
                                        </p:tgtEl>
                                      </p:cBhvr>
                                    </p:animEffec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499"/>
                                          </p:stCondLst>
                                        </p:cTn>
                                        <p:tgtEl>
                                          <p:spTgt spid="77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38" grpId="0" autoUpdateAnimBg="0"/>
      <p:bldP spid="77141" grpId="0" animBg="1" autoUpdateAnimBg="0"/>
      <p:bldP spid="77151" grpId="0" autoUpdateAnimBg="0"/>
      <p:bldP spid="77153" grpId="0" autoUpdateAnimBg="0"/>
      <p:bldP spid="77155" grpId="0" autoUpdateAnimBg="0"/>
      <p:bldP spid="77156" grpId="0" animBg="1" autoUpdateAnimBg="0"/>
      <p:bldP spid="77159" grpId="0" autoUpdateAnimBg="0"/>
      <p:bldP spid="77160" grpId="0" animBg="1" autoUpdateAnimBg="0"/>
      <p:bldP spid="77162" grpId="0" autoUpdateAnimBg="0"/>
      <p:bldP spid="77163" grpId="0" autoUpdateAnimBg="0"/>
      <p:bldP spid="77165" grpId="0" autoUpdateAnimBg="0"/>
      <p:bldP spid="77167" grpId="0" animBg="1" autoUpdateAnimBg="0"/>
      <p:bldP spid="77169" grpId="0" animBg="1" autoUpdateAnimBg="0"/>
      <p:bldP spid="77170" grpId="0" autoUpdateAnimBg="0"/>
      <p:bldP spid="77173" grpId="0" animBg="1" autoUpdateAnimBg="0"/>
      <p:bldP spid="77175" grpId="0" autoUpdateAnimBg="0"/>
      <p:bldP spid="77176" grpId="0" animBg="1" autoUpdateAnimBg="0"/>
      <p:bldP spid="77178" grpId="0" autoUpdateAnimBg="0"/>
      <p:bldP spid="77180" grpId="0" autoUpdateAnimBg="0"/>
      <p:bldP spid="77183" grpId="0" animBg="1" autoUpdateAnimBg="0"/>
      <p:bldP spid="77184"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7" name="Rectangle 3"/>
          <p:cNvSpPr>
            <a:spLocks noGrp="1" noChangeArrowheads="1"/>
          </p:cNvSpPr>
          <p:nvPr>
            <p:ph type="body" idx="1"/>
          </p:nvPr>
        </p:nvSpPr>
        <p:spPr>
          <a:xfrm>
            <a:off x="1846290" y="831389"/>
            <a:ext cx="8907238" cy="5634190"/>
          </a:xfrm>
        </p:spPr>
        <p:txBody>
          <a:bodyPr/>
          <a:lstStyle/>
          <a:p>
            <a:pPr>
              <a:lnSpc>
                <a:spcPct val="140000"/>
              </a:lnSpc>
              <a:buFont typeface="Wingdings" panose="05000000000000000000" pitchFamily="2" charset="2"/>
              <a:buNone/>
            </a:pPr>
            <a:r>
              <a:rPr lang="zh-CN" altLang="en-US" sz="3085" b="1" dirty="0">
                <a:solidFill>
                  <a:srgbClr val="FF3300"/>
                </a:solidFill>
              </a:rPr>
              <a:t>网络时间与关键路线</a:t>
            </a:r>
            <a:endParaRPr lang="zh-CN" altLang="en-US" sz="3085" b="1" dirty="0">
              <a:solidFill>
                <a:srgbClr val="FF3300"/>
              </a:solidFill>
            </a:endParaRPr>
          </a:p>
          <a:p>
            <a:pPr>
              <a:lnSpc>
                <a:spcPct val="140000"/>
              </a:lnSpc>
              <a:buFont typeface="Wingdings" panose="05000000000000000000" pitchFamily="2" charset="2"/>
              <a:buNone/>
            </a:pPr>
            <a:r>
              <a:rPr lang="zh-CN" altLang="en-US" sz="2645" b="1" dirty="0"/>
              <a:t>   </a:t>
            </a:r>
            <a:r>
              <a:rPr lang="zh-CN" altLang="en-US" sz="2645" dirty="0"/>
              <a:t>   在绘制出网络图之后，我们可以由网络图求出：</a:t>
            </a:r>
            <a:endParaRPr lang="zh-CN" altLang="en-US" sz="2645" dirty="0"/>
          </a:p>
          <a:p>
            <a:pPr>
              <a:lnSpc>
                <a:spcPct val="140000"/>
              </a:lnSpc>
              <a:buFont typeface="Wingdings" panose="05000000000000000000" pitchFamily="2" charset="2"/>
              <a:buNone/>
            </a:pPr>
            <a:r>
              <a:rPr lang="en-US" altLang="zh-CN" sz="2645" dirty="0"/>
              <a:t>1</a:t>
            </a:r>
            <a:r>
              <a:rPr lang="zh-CN" altLang="en-US" sz="2645" dirty="0"/>
              <a:t>、完成此工程项目所需的最少时间。</a:t>
            </a:r>
            <a:endParaRPr lang="zh-CN" altLang="en-US" sz="2645" dirty="0"/>
          </a:p>
          <a:p>
            <a:pPr>
              <a:lnSpc>
                <a:spcPct val="140000"/>
              </a:lnSpc>
              <a:buFont typeface="Wingdings" panose="05000000000000000000" pitchFamily="2" charset="2"/>
              <a:buNone/>
            </a:pPr>
            <a:r>
              <a:rPr lang="en-US" altLang="zh-CN" sz="2645" dirty="0"/>
              <a:t>2</a:t>
            </a:r>
            <a:r>
              <a:rPr lang="zh-CN" altLang="en-US" sz="2645" dirty="0"/>
              <a:t>、每个工序的开始时间与结束时间。</a:t>
            </a:r>
            <a:endParaRPr lang="zh-CN" altLang="en-US" sz="2645" dirty="0"/>
          </a:p>
          <a:p>
            <a:pPr>
              <a:lnSpc>
                <a:spcPct val="140000"/>
              </a:lnSpc>
              <a:buFont typeface="Wingdings" panose="05000000000000000000" pitchFamily="2" charset="2"/>
              <a:buNone/>
            </a:pPr>
            <a:r>
              <a:rPr lang="en-US" altLang="zh-CN" sz="2645" dirty="0"/>
              <a:t>3</a:t>
            </a:r>
            <a:r>
              <a:rPr lang="zh-CN" altLang="en-US" sz="2645" dirty="0"/>
              <a:t>、关键路线及其应用的关键工序。</a:t>
            </a:r>
            <a:endParaRPr lang="zh-CN" altLang="en-US" sz="2645" dirty="0"/>
          </a:p>
          <a:p>
            <a:pPr>
              <a:lnSpc>
                <a:spcPct val="140000"/>
              </a:lnSpc>
              <a:buFont typeface="Wingdings" panose="05000000000000000000" pitchFamily="2" charset="2"/>
              <a:buNone/>
            </a:pPr>
            <a:r>
              <a:rPr lang="en-US" altLang="zh-CN" sz="2645" dirty="0"/>
              <a:t>4</a:t>
            </a:r>
            <a:r>
              <a:rPr lang="zh-CN" altLang="en-US" sz="2645" dirty="0"/>
              <a:t>、非关键工序在不影响工程的完成时间的前提下，其开始时间与结束时间可以推迟多久。</a:t>
            </a:r>
            <a:endParaRPr lang="zh-CN" altLang="en-US" sz="2645" dirty="0"/>
          </a:p>
          <a:p>
            <a:pPr>
              <a:lnSpc>
                <a:spcPct val="140000"/>
              </a:lnSpc>
              <a:buFont typeface="Wingdings" panose="05000000000000000000" pitchFamily="2" charset="2"/>
              <a:buNone/>
            </a:pPr>
            <a:r>
              <a:rPr lang="zh-CN" altLang="en-US" sz="2645" b="1" dirty="0"/>
              <a:t>        </a:t>
            </a:r>
            <a:endParaRPr lang="zh-CN" altLang="en-US" sz="2645"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96670" y="0"/>
            <a:ext cx="9672320" cy="480695"/>
          </a:xfrm>
        </p:spPr>
        <p:txBody>
          <a:bodyPr/>
          <a:lstStyle/>
          <a:p>
            <a:pPr>
              <a:defRPr/>
            </a:pPr>
            <a:r>
              <a:rPr lang="zh-CN" altLang="zh-CN" dirty="0"/>
              <a:t>关键路径法（</a:t>
            </a:r>
            <a:r>
              <a:rPr lang="en-US" altLang="zh-CN" dirty="0"/>
              <a:t>CPM</a:t>
            </a:r>
            <a:r>
              <a:rPr lang="zh-CN" altLang="zh-CN" dirty="0"/>
              <a:t>）</a:t>
            </a:r>
            <a:br>
              <a:rPr lang="en-US" altLang="zh-CN" dirty="0">
                <a:effectLst/>
              </a:rPr>
            </a:br>
            <a:endParaRPr lang="zh-CN" altLang="en-US" dirty="0"/>
          </a:p>
        </p:txBody>
      </p:sp>
      <p:sp>
        <p:nvSpPr>
          <p:cNvPr id="3" name="内容占位符 2"/>
          <p:cNvSpPr>
            <a:spLocks noGrp="1"/>
          </p:cNvSpPr>
          <p:nvPr>
            <p:ph idx="1"/>
          </p:nvPr>
        </p:nvSpPr>
        <p:spPr>
          <a:xfrm>
            <a:off x="549275" y="756285"/>
            <a:ext cx="10585450" cy="6217285"/>
          </a:xfrm>
        </p:spPr>
        <p:txBody>
          <a:bodyPr/>
          <a:lstStyle/>
          <a:p>
            <a:pPr lvl="1" eaLnBrk="1" latinLnBrk="0" hangingPunct="1">
              <a:lnSpc>
                <a:spcPct val="150000"/>
              </a:lnSpc>
              <a:defRPr/>
            </a:pPr>
            <a:r>
              <a:rPr lang="zh-CN" altLang="zh-CN" b="1" dirty="0"/>
              <a:t>关键路径法（</a:t>
            </a:r>
            <a:r>
              <a:rPr lang="en-US" altLang="zh-CN" b="1" dirty="0"/>
              <a:t>Critical Path Method</a:t>
            </a:r>
            <a:r>
              <a:rPr lang="zh-CN" altLang="zh-CN" b="1" dirty="0"/>
              <a:t>，</a:t>
            </a:r>
            <a:r>
              <a:rPr lang="en-US" altLang="zh-CN" b="1" dirty="0"/>
              <a:t>CPM</a:t>
            </a:r>
            <a:r>
              <a:rPr lang="zh-CN" altLang="zh-CN" b="1" dirty="0"/>
              <a:t>）</a:t>
            </a:r>
            <a:r>
              <a:rPr lang="zh-CN" altLang="zh-CN" dirty="0"/>
              <a:t>是一项用于确定软件项目的起始时间和完工时间的方法。</a:t>
            </a:r>
            <a:r>
              <a:rPr lang="en-US" altLang="zh-CN" dirty="0"/>
              <a:t>CPM</a:t>
            </a:r>
            <a:r>
              <a:rPr lang="zh-CN" altLang="zh-CN" dirty="0"/>
              <a:t>是一种最常用的数学分析技术，即根据指定的网络顺序逻辑关系和单一的历时估算，计算每一个活动的单一的、确定的最早和最迟开始和完成日期。关键路径具有下列特征：</a:t>
            </a:r>
            <a:endParaRPr lang="zh-CN" altLang="zh-CN" dirty="0"/>
          </a:p>
          <a:p>
            <a:pPr lvl="2" eaLnBrk="1" latinLnBrk="0" hangingPunct="1">
              <a:lnSpc>
                <a:spcPct val="150000"/>
              </a:lnSpc>
              <a:defRPr/>
            </a:pPr>
            <a:r>
              <a:rPr lang="zh-CN" altLang="zh-CN" dirty="0"/>
              <a:t>网络图上至少存在一条关键路径。</a:t>
            </a:r>
            <a:endParaRPr lang="zh-CN" altLang="zh-CN" dirty="0"/>
          </a:p>
          <a:p>
            <a:pPr lvl="2" eaLnBrk="1" latinLnBrk="0" hangingPunct="1">
              <a:lnSpc>
                <a:spcPct val="150000"/>
              </a:lnSpc>
              <a:defRPr/>
            </a:pPr>
            <a:r>
              <a:rPr lang="zh-CN" altLang="zh-CN" dirty="0"/>
              <a:t>关键路径是网络图中的最长路径。</a:t>
            </a:r>
            <a:endParaRPr lang="zh-CN" altLang="zh-CN" dirty="0"/>
          </a:p>
          <a:p>
            <a:pPr lvl="2" eaLnBrk="1" latinLnBrk="0" hangingPunct="1">
              <a:lnSpc>
                <a:spcPct val="150000"/>
              </a:lnSpc>
              <a:defRPr/>
            </a:pPr>
            <a:r>
              <a:rPr lang="zh-CN" altLang="zh-CN" dirty="0"/>
              <a:t>关键路径的工期是完成项目的最短工期。</a:t>
            </a:r>
            <a:endParaRPr lang="zh-CN" altLang="zh-CN" dirty="0"/>
          </a:p>
          <a:p>
            <a:pPr lvl="2" eaLnBrk="1" latinLnBrk="0" hangingPunct="1">
              <a:lnSpc>
                <a:spcPct val="150000"/>
              </a:lnSpc>
              <a:defRPr/>
            </a:pPr>
            <a:r>
              <a:rPr lang="zh-CN" altLang="zh-CN" dirty="0"/>
              <a:t>关键路径是动态变化的，随着项目的进展，非关键路径可能会变成关键路径。</a:t>
            </a:r>
            <a:endParaRPr lang="zh-CN" altLang="zh-CN" dirty="0"/>
          </a:p>
          <a:p>
            <a:pPr lvl="2" eaLnBrk="1" latinLnBrk="0" hangingPunct="1">
              <a:lnSpc>
                <a:spcPct val="150000"/>
              </a:lnSpc>
              <a:defRPr/>
            </a:pPr>
            <a:r>
              <a:rPr lang="zh-CN" altLang="zh-CN" dirty="0"/>
              <a:t>关键路径上的活动是关键活动，任何关键活动的延迟都会导致整个项目完成的延迟。</a:t>
            </a:r>
            <a:endParaRPr lang="zh-CN" altLang="zh-CN" dirty="0"/>
          </a:p>
          <a:p>
            <a:pPr lvl="1" eaLnBrk="1" hangingPunct="1">
              <a:defRPr/>
            </a:pPr>
            <a:endParaRPr lang="zh-CN" altLang="zh-CN" dirty="0"/>
          </a:p>
          <a:p>
            <a:pPr eaLnBrk="1" hangingPunct="1">
              <a:defRPr/>
            </a:pPr>
            <a:endParaRPr lang="zh-CN" altLang="en-US" dirty="0"/>
          </a:p>
        </p:txBody>
      </p:sp>
      <p:sp>
        <p:nvSpPr>
          <p:cNvPr id="33796" name="灯片编号占位符 3"/>
          <p:cNvSpPr>
            <a:spLocks noGrp="1"/>
          </p:cNvSpPr>
          <p:nvPr>
            <p:ph type="sldNum" sz="quarter" idx="4294967295"/>
          </p:nvPr>
        </p:nvSpPr>
        <p:spPr>
          <a:noFill/>
        </p:spPr>
        <p:txBody>
          <a:bodyPr/>
          <a:lstStyle>
            <a:lvl1pPr>
              <a:spcBef>
                <a:spcPct val="20000"/>
              </a:spcBef>
              <a:buClr>
                <a:srgbClr val="5F5F5F"/>
              </a:buClr>
              <a:buSzPct val="75000"/>
              <a:buFont typeface="Wingdings" panose="05000000000000000000" pitchFamily="2" charset="2"/>
              <a:buChar char="l"/>
              <a:defRPr sz="3530">
                <a:solidFill>
                  <a:schemeClr val="tx1"/>
                </a:solidFill>
                <a:latin typeface="Times New Roman" panose="02020603050405020304" pitchFamily="18" charset="0"/>
                <a:ea typeface="宋体" panose="02010600030101010101" pitchFamily="2" charset="-122"/>
              </a:defRPr>
            </a:lvl1pPr>
            <a:lvl2pPr marL="819150" indent="-314960">
              <a:spcBef>
                <a:spcPct val="20000"/>
              </a:spcBef>
              <a:buClr>
                <a:srgbClr val="292929"/>
              </a:buClr>
              <a:buSzPct val="55000"/>
              <a:buFont typeface="Wingdings" panose="05000000000000000000" pitchFamily="2" charset="2"/>
              <a:buChar char="¢"/>
              <a:defRPr sz="2645">
                <a:solidFill>
                  <a:srgbClr val="292929"/>
                </a:solidFill>
                <a:latin typeface="Arial" panose="020B0604020202020204" pitchFamily="34" charset="0"/>
                <a:ea typeface="楷体_GB2312" charset="-122"/>
              </a:defRPr>
            </a:lvl2pPr>
            <a:lvl3pPr marL="1260475" indent="-252095">
              <a:spcBef>
                <a:spcPct val="20000"/>
              </a:spcBef>
              <a:buClr>
                <a:schemeClr val="accent2"/>
              </a:buClr>
              <a:buSzPct val="65000"/>
              <a:buFont typeface="Wingdings" panose="05000000000000000000" pitchFamily="2" charset="2"/>
              <a:buChar char="p"/>
              <a:defRPr sz="2205">
                <a:solidFill>
                  <a:schemeClr val="tx1"/>
                </a:solidFill>
                <a:latin typeface="Times New Roman" panose="02020603050405020304" pitchFamily="18" charset="0"/>
                <a:ea typeface="宋体" panose="02010600030101010101" pitchFamily="2" charset="-122"/>
              </a:defRPr>
            </a:lvl3pPr>
            <a:lvl4pPr marL="1764030" indent="-252095">
              <a:spcBef>
                <a:spcPct val="20000"/>
              </a:spcBef>
              <a:buClr>
                <a:schemeClr val="folHlink"/>
              </a:buClr>
              <a:buSzPct val="70000"/>
              <a:buFont typeface="Wingdings" panose="05000000000000000000" pitchFamily="2" charset="2"/>
              <a:buChar char="ü"/>
              <a:defRPr>
                <a:solidFill>
                  <a:schemeClr val="tx1"/>
                </a:solidFill>
                <a:latin typeface="Perpetua" panose="02020502060401020303" pitchFamily="18" charset="0"/>
                <a:ea typeface="宋体" panose="02010600030101010101" pitchFamily="2" charset="-122"/>
              </a:defRPr>
            </a:lvl4pPr>
            <a:lvl5pPr marL="2268220" indent="-252095">
              <a:spcBef>
                <a:spcPct val="20000"/>
              </a:spcBef>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5pPr>
            <a:lvl6pPr marL="277241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6pPr>
            <a:lvl7pPr marL="327660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7pPr>
            <a:lvl8pPr marL="378079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8pPr>
            <a:lvl9pPr marL="4284345"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9pPr>
          </a:lstStyle>
          <a:p>
            <a:pPr>
              <a:spcBef>
                <a:spcPct val="0"/>
              </a:spcBef>
              <a:buClrTx/>
              <a:buSzTx/>
              <a:buFontTx/>
              <a:buNone/>
            </a:pPr>
            <a:fld id="{F8420928-541E-4EB8-8094-D086F5038960}" type="slidenum">
              <a:rPr lang="en-US" altLang="zh-CN" sz="1545">
                <a:solidFill>
                  <a:schemeClr val="bg1"/>
                </a:solidFill>
                <a:latin typeface="Arial Black" panose="020B0A04020102020204" pitchFamily="34" charset="0"/>
              </a:rPr>
            </a:fld>
            <a:endParaRPr lang="en-US" altLang="zh-CN" sz="1545">
              <a:solidFill>
                <a:schemeClr val="bg1"/>
              </a:solidFill>
              <a:latin typeface="Arial Black" panose="020B0A040201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flipH="1">
            <a:off x="370205" y="730250"/>
            <a:ext cx="11340465" cy="2074545"/>
          </a:xfrm>
        </p:spPr>
        <p:txBody>
          <a:bodyPr/>
          <a:lstStyle/>
          <a:p>
            <a:pPr eaLnBrk="1" latinLnBrk="0" hangingPunct="1">
              <a:lnSpc>
                <a:spcPct val="150000"/>
              </a:lnSpc>
              <a:defRPr/>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字母</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C</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D</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E</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F</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H</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J</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代表了项目中需要进行的子项目或工作包，连线箭头则表明了工作包之间的关系，节点数字</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5</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6</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7</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8</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则表明的是一种状况，从</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开始，到</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8</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结束，中间的数字则表明上一工作包的结束和下一工作包的开始。</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820" name="灯片编号占位符 3"/>
          <p:cNvSpPr>
            <a:spLocks noGrp="1"/>
          </p:cNvSpPr>
          <p:nvPr>
            <p:ph type="sldNum" sz="quarter" idx="4294967295"/>
          </p:nvPr>
        </p:nvSpPr>
        <p:spPr>
          <a:noFill/>
        </p:spPr>
        <p:txBody>
          <a:bodyPr/>
          <a:lstStyle>
            <a:lvl1pPr>
              <a:spcBef>
                <a:spcPct val="20000"/>
              </a:spcBef>
              <a:buClr>
                <a:srgbClr val="5F5F5F"/>
              </a:buClr>
              <a:buSzPct val="75000"/>
              <a:buFont typeface="Wingdings" panose="05000000000000000000" pitchFamily="2" charset="2"/>
              <a:buChar char="l"/>
              <a:defRPr sz="3530">
                <a:solidFill>
                  <a:schemeClr val="tx1"/>
                </a:solidFill>
                <a:latin typeface="Times New Roman" panose="02020603050405020304" pitchFamily="18" charset="0"/>
                <a:ea typeface="宋体" panose="02010600030101010101" pitchFamily="2" charset="-122"/>
              </a:defRPr>
            </a:lvl1pPr>
            <a:lvl2pPr marL="819150" indent="-314960">
              <a:spcBef>
                <a:spcPct val="20000"/>
              </a:spcBef>
              <a:buClr>
                <a:srgbClr val="292929"/>
              </a:buClr>
              <a:buSzPct val="55000"/>
              <a:buFont typeface="Wingdings" panose="05000000000000000000" pitchFamily="2" charset="2"/>
              <a:buChar char="¢"/>
              <a:defRPr sz="2645">
                <a:solidFill>
                  <a:srgbClr val="292929"/>
                </a:solidFill>
                <a:latin typeface="Arial" panose="020B0604020202020204" pitchFamily="34" charset="0"/>
                <a:ea typeface="楷体_GB2312" charset="-122"/>
              </a:defRPr>
            </a:lvl2pPr>
            <a:lvl3pPr marL="1260475" indent="-252095">
              <a:spcBef>
                <a:spcPct val="20000"/>
              </a:spcBef>
              <a:buClr>
                <a:schemeClr val="accent2"/>
              </a:buClr>
              <a:buSzPct val="65000"/>
              <a:buFont typeface="Wingdings" panose="05000000000000000000" pitchFamily="2" charset="2"/>
              <a:buChar char="p"/>
              <a:defRPr sz="2205">
                <a:solidFill>
                  <a:schemeClr val="tx1"/>
                </a:solidFill>
                <a:latin typeface="Times New Roman" panose="02020603050405020304" pitchFamily="18" charset="0"/>
                <a:ea typeface="宋体" panose="02010600030101010101" pitchFamily="2" charset="-122"/>
              </a:defRPr>
            </a:lvl3pPr>
            <a:lvl4pPr marL="1764030" indent="-252095">
              <a:spcBef>
                <a:spcPct val="20000"/>
              </a:spcBef>
              <a:buClr>
                <a:schemeClr val="folHlink"/>
              </a:buClr>
              <a:buSzPct val="70000"/>
              <a:buFont typeface="Wingdings" panose="05000000000000000000" pitchFamily="2" charset="2"/>
              <a:buChar char="ü"/>
              <a:defRPr>
                <a:solidFill>
                  <a:schemeClr val="tx1"/>
                </a:solidFill>
                <a:latin typeface="Perpetua" panose="02020502060401020303" pitchFamily="18" charset="0"/>
                <a:ea typeface="宋体" panose="02010600030101010101" pitchFamily="2" charset="-122"/>
              </a:defRPr>
            </a:lvl4pPr>
            <a:lvl5pPr marL="2268220" indent="-252095">
              <a:spcBef>
                <a:spcPct val="20000"/>
              </a:spcBef>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5pPr>
            <a:lvl6pPr marL="277241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6pPr>
            <a:lvl7pPr marL="327660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7pPr>
            <a:lvl8pPr marL="378079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8pPr>
            <a:lvl9pPr marL="4284345"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9pPr>
          </a:lstStyle>
          <a:p>
            <a:pPr>
              <a:spcBef>
                <a:spcPct val="0"/>
              </a:spcBef>
              <a:buClrTx/>
              <a:buSzTx/>
              <a:buFontTx/>
              <a:buNone/>
            </a:pPr>
            <a:fld id="{6B18664F-E705-4F17-AD09-4122B0D17894}" type="slidenum">
              <a:rPr lang="en-US" altLang="zh-CN" sz="1545">
                <a:solidFill>
                  <a:schemeClr val="bg1"/>
                </a:solidFill>
                <a:latin typeface="Arial Black" panose="020B0A04020102020204" pitchFamily="34" charset="0"/>
              </a:rPr>
            </a:fld>
            <a:endParaRPr lang="en-US" altLang="zh-CN" sz="1545">
              <a:solidFill>
                <a:schemeClr val="bg1"/>
              </a:solidFill>
              <a:latin typeface="Arial Black" panose="020B0A04020102020204" pitchFamily="34" charset="0"/>
            </a:endParaRPr>
          </a:p>
        </p:txBody>
      </p:sp>
      <p:pic>
        <p:nvPicPr>
          <p:cNvPr id="3482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34316" y="2651040"/>
            <a:ext cx="7141192" cy="3045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灯片编号占位符 3"/>
          <p:cNvSpPr>
            <a:spLocks noGrp="1"/>
          </p:cNvSpPr>
          <p:nvPr>
            <p:ph type="sldNum" sz="quarter" idx="4294967295"/>
          </p:nvPr>
        </p:nvSpPr>
        <p:spPr>
          <a:noFill/>
        </p:spPr>
        <p:txBody>
          <a:bodyPr/>
          <a:lstStyle>
            <a:lvl1pPr>
              <a:spcBef>
                <a:spcPct val="20000"/>
              </a:spcBef>
              <a:buClr>
                <a:srgbClr val="5F5F5F"/>
              </a:buClr>
              <a:buSzPct val="75000"/>
              <a:buFont typeface="Wingdings" panose="05000000000000000000" pitchFamily="2" charset="2"/>
              <a:buChar char="l"/>
              <a:defRPr sz="3530">
                <a:solidFill>
                  <a:schemeClr val="tx1"/>
                </a:solidFill>
                <a:latin typeface="Times New Roman" panose="02020603050405020304" pitchFamily="18" charset="0"/>
                <a:ea typeface="宋体" panose="02010600030101010101" pitchFamily="2" charset="-122"/>
              </a:defRPr>
            </a:lvl1pPr>
            <a:lvl2pPr marL="819150" indent="-314960">
              <a:spcBef>
                <a:spcPct val="20000"/>
              </a:spcBef>
              <a:buClr>
                <a:srgbClr val="292929"/>
              </a:buClr>
              <a:buSzPct val="55000"/>
              <a:buFont typeface="Wingdings" panose="05000000000000000000" pitchFamily="2" charset="2"/>
              <a:buChar char="¢"/>
              <a:defRPr sz="2645">
                <a:solidFill>
                  <a:srgbClr val="292929"/>
                </a:solidFill>
                <a:latin typeface="Arial" panose="020B0604020202020204" pitchFamily="34" charset="0"/>
                <a:ea typeface="楷体_GB2312" charset="-122"/>
              </a:defRPr>
            </a:lvl2pPr>
            <a:lvl3pPr marL="1260475" indent="-252095">
              <a:spcBef>
                <a:spcPct val="20000"/>
              </a:spcBef>
              <a:buClr>
                <a:schemeClr val="accent2"/>
              </a:buClr>
              <a:buSzPct val="65000"/>
              <a:buFont typeface="Wingdings" panose="05000000000000000000" pitchFamily="2" charset="2"/>
              <a:buChar char="p"/>
              <a:defRPr sz="2205">
                <a:solidFill>
                  <a:schemeClr val="tx1"/>
                </a:solidFill>
                <a:latin typeface="Times New Roman" panose="02020603050405020304" pitchFamily="18" charset="0"/>
                <a:ea typeface="宋体" panose="02010600030101010101" pitchFamily="2" charset="-122"/>
              </a:defRPr>
            </a:lvl3pPr>
            <a:lvl4pPr marL="1764030" indent="-252095">
              <a:spcBef>
                <a:spcPct val="20000"/>
              </a:spcBef>
              <a:buClr>
                <a:schemeClr val="folHlink"/>
              </a:buClr>
              <a:buSzPct val="70000"/>
              <a:buFont typeface="Wingdings" panose="05000000000000000000" pitchFamily="2" charset="2"/>
              <a:buChar char="ü"/>
              <a:defRPr>
                <a:solidFill>
                  <a:schemeClr val="tx1"/>
                </a:solidFill>
                <a:latin typeface="Perpetua" panose="02020502060401020303" pitchFamily="18" charset="0"/>
                <a:ea typeface="宋体" panose="02010600030101010101" pitchFamily="2" charset="-122"/>
              </a:defRPr>
            </a:lvl4pPr>
            <a:lvl5pPr marL="2268220" indent="-252095">
              <a:spcBef>
                <a:spcPct val="20000"/>
              </a:spcBef>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5pPr>
            <a:lvl6pPr marL="277241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6pPr>
            <a:lvl7pPr marL="327660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7pPr>
            <a:lvl8pPr marL="378079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8pPr>
            <a:lvl9pPr marL="4284345"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9pPr>
          </a:lstStyle>
          <a:p>
            <a:pPr>
              <a:spcBef>
                <a:spcPct val="0"/>
              </a:spcBef>
              <a:buClrTx/>
              <a:buSzTx/>
              <a:buFontTx/>
              <a:buNone/>
            </a:pPr>
            <a:fld id="{D794E200-C427-49F5-AED2-4CA256B14A86}" type="slidenum">
              <a:rPr lang="en-US" altLang="zh-CN" sz="1545">
                <a:solidFill>
                  <a:schemeClr val="bg1"/>
                </a:solidFill>
                <a:latin typeface="Arial Black" panose="020B0A04020102020204" pitchFamily="34" charset="0"/>
              </a:rPr>
            </a:fld>
            <a:endParaRPr lang="en-US" altLang="zh-CN" sz="1545">
              <a:solidFill>
                <a:schemeClr val="bg1"/>
              </a:solidFill>
              <a:latin typeface="Arial Black" panose="020B0A04020102020204" pitchFamily="34" charset="0"/>
            </a:endParaRPr>
          </a:p>
        </p:txBody>
      </p:sp>
      <p:sp>
        <p:nvSpPr>
          <p:cNvPr id="5" name="Rectangle 2"/>
          <p:cNvSpPr>
            <a:spLocks noGrp="1" noChangeArrowheads="1"/>
          </p:cNvSpPr>
          <p:nvPr>
            <p:ph type="title"/>
          </p:nvPr>
        </p:nvSpPr>
        <p:spPr>
          <a:xfrm>
            <a:off x="1181179" y="37340"/>
            <a:ext cx="9824391" cy="1008168"/>
          </a:xfrm>
        </p:spPr>
        <p:txBody>
          <a:bodyPr/>
          <a:lstStyle/>
          <a:p>
            <a:pPr eaLnBrk="1" hangingPunct="1"/>
            <a:r>
              <a:rPr lang="zh-CN" altLang="en-US" dirty="0"/>
              <a:t>名词解释</a:t>
            </a:r>
            <a:endParaRPr lang="zh-CN" altLang="en-US" dirty="0"/>
          </a:p>
        </p:txBody>
      </p:sp>
      <p:sp>
        <p:nvSpPr>
          <p:cNvPr id="9" name="Rectangle 3"/>
          <p:cNvSpPr>
            <a:spLocks noGrp="1" noChangeArrowheads="1"/>
          </p:cNvSpPr>
          <p:nvPr>
            <p:ph idx="1"/>
          </p:nvPr>
        </p:nvSpPr>
        <p:spPr>
          <a:xfrm>
            <a:off x="798195" y="958215"/>
            <a:ext cx="10701655" cy="4549140"/>
          </a:xfrm>
        </p:spPr>
        <p:txBody>
          <a:bodyPr/>
          <a:lstStyle/>
          <a:p>
            <a:pPr algn="just" latinLnBrk="0">
              <a:lnSpc>
                <a:spcPct val="150000"/>
              </a:lnSpc>
            </a:pP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活动：项目过程中的工作单元。</a:t>
            </a:r>
            <a:endParaRPr lang="en-US" altLang="zh-CN"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pPr algn="just" latinLnBrk="0">
              <a:lnSpc>
                <a:spcPct val="150000"/>
              </a:lnSpc>
            </a:pP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活动历时（工期</a:t>
            </a:r>
            <a:r>
              <a:rPr lang="en-US" altLang="zh-CN"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）：完成活动所必需的时间。</a:t>
            </a:r>
            <a:endParaRPr lang="en-US" altLang="zh-CN"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pPr algn="just" latinLnBrk="0">
              <a:lnSpc>
                <a:spcPct val="150000"/>
              </a:lnSpc>
            </a:pP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事件：一项活动开始或完成的时间点。事件既不消耗资源，也不占用时间。</a:t>
            </a:r>
            <a:endParaRPr lang="en-US" altLang="zh-CN"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pPr algn="just" latinLnBrk="0">
              <a:lnSpc>
                <a:spcPct val="150000"/>
              </a:lnSpc>
            </a:pP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路径：项目网络图中一组顺序相连的活动。</a:t>
            </a:r>
            <a:endParaRPr lang="en-US" altLang="zh-CN"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pPr algn="just" latinLnBrk="0">
              <a:lnSpc>
                <a:spcPct val="150000"/>
              </a:lnSpc>
            </a:pP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最早开始时间（</a:t>
            </a:r>
            <a:r>
              <a:rPr lang="en-US" altLang="zh-CN"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ES</a:t>
            </a: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）：某项活动可能开始的最早时间。</a:t>
            </a:r>
            <a:endParaRPr lang="en-US" altLang="zh-CN"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pPr algn="just" latinLnBrk="0">
              <a:lnSpc>
                <a:spcPct val="150000"/>
              </a:lnSpc>
            </a:pP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最早完成时间（</a:t>
            </a:r>
            <a:r>
              <a:rPr lang="en-US" altLang="zh-CN"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EF</a:t>
            </a: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）：完成一项活动最早的可能时间。</a:t>
            </a:r>
            <a:r>
              <a:rPr lang="en-US" altLang="zh-CN"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EF=ES+D</a:t>
            </a:r>
            <a:endParaRPr lang="en-US" altLang="zh-CN"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fill="hold" grpId="0" nodeType="clickEffect">
                                  <p:stCondLst>
                                    <p:cond delay="0"/>
                                  </p:stCondLst>
                                  <p:childTnLst>
                                    <p:set>
                                      <p:cBhvr>
                                        <p:cTn id="6"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anim calcmode="lin" valueType="num">
                                      <p:cBhvr>
                                        <p:cTn id="8"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9">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0" presetClass="entr" presetSubtype="0" fill="hold" grpId="0" nodeType="clickEffect">
                                  <p:stCondLst>
                                    <p:cond delay="0"/>
                                  </p:stCondLst>
                                  <p:childTnLst>
                                    <p:set>
                                      <p:cBhvr>
                                        <p:cTn id="13" fill="hold">
                                          <p:stCondLst>
                                            <p:cond delay="0"/>
                                          </p:stCondLst>
                                        </p:cTn>
                                        <p:tgtEl>
                                          <p:spTgt spid="9">
                                            <p:txEl>
                                              <p:pRg st="1" end="1"/>
                                            </p:txEl>
                                          </p:spTgt>
                                        </p:tgtEl>
                                        <p:attrNameLst>
                                          <p:attrName>style.visibility</p:attrName>
                                        </p:attrNameLst>
                                      </p:cBhvr>
                                      <p:to>
                                        <p:strVal val="visible"/>
                                      </p:to>
                                    </p:set>
                                    <p:animEffect transition="in" filter="fade">
                                      <p:cBhvr>
                                        <p:cTn id="14" dur="500"/>
                                        <p:tgtEl>
                                          <p:spTgt spid="9">
                                            <p:txEl>
                                              <p:pRg st="1" end="1"/>
                                            </p:txEl>
                                          </p:spTgt>
                                        </p:tgtEl>
                                      </p:cBhvr>
                                    </p:animEffect>
                                    <p:anim calcmode="lin" valueType="num">
                                      <p:cBhvr>
                                        <p:cTn id="15"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9">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0" presetClass="entr" presetSubtype="0" fill="hold" grpId="0" nodeType="clickEffect">
                                  <p:stCondLst>
                                    <p:cond delay="0"/>
                                  </p:stCondLst>
                                  <p:childTnLst>
                                    <p:set>
                                      <p:cBhvr>
                                        <p:cTn id="20" fill="hold">
                                          <p:stCondLst>
                                            <p:cond delay="0"/>
                                          </p:stCondLst>
                                        </p:cTn>
                                        <p:tgtEl>
                                          <p:spTgt spid="9">
                                            <p:txEl>
                                              <p:pRg st="2" end="2"/>
                                            </p:txEl>
                                          </p:spTgt>
                                        </p:tgtEl>
                                        <p:attrNameLst>
                                          <p:attrName>style.visibility</p:attrName>
                                        </p:attrNameLst>
                                      </p:cBhvr>
                                      <p:to>
                                        <p:strVal val="visible"/>
                                      </p:to>
                                    </p:set>
                                    <p:animEffect transition="in" filter="fade">
                                      <p:cBhvr>
                                        <p:cTn id="21" dur="500"/>
                                        <p:tgtEl>
                                          <p:spTgt spid="9">
                                            <p:txEl>
                                              <p:pRg st="2" end="2"/>
                                            </p:txEl>
                                          </p:spTgt>
                                        </p:tgtEl>
                                      </p:cBhvr>
                                    </p:animEffect>
                                    <p:anim calcmode="lin" valueType="num">
                                      <p:cBhvr>
                                        <p:cTn id="22"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9">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0" presetClass="entr" presetSubtype="0" fill="hold" grpId="0" nodeType="clickEffect">
                                  <p:stCondLst>
                                    <p:cond delay="0"/>
                                  </p:stCondLst>
                                  <p:childTnLst>
                                    <p:set>
                                      <p:cBhvr>
                                        <p:cTn id="27" fill="hold">
                                          <p:stCondLst>
                                            <p:cond delay="0"/>
                                          </p:stCondLst>
                                        </p:cTn>
                                        <p:tgtEl>
                                          <p:spTgt spid="9">
                                            <p:txEl>
                                              <p:pRg st="3" end="3"/>
                                            </p:txEl>
                                          </p:spTgt>
                                        </p:tgtEl>
                                        <p:attrNameLst>
                                          <p:attrName>style.visibility</p:attrName>
                                        </p:attrNameLst>
                                      </p:cBhvr>
                                      <p:to>
                                        <p:strVal val="visible"/>
                                      </p:to>
                                    </p:set>
                                    <p:animEffect transition="in" filter="fade">
                                      <p:cBhvr>
                                        <p:cTn id="28" dur="500"/>
                                        <p:tgtEl>
                                          <p:spTgt spid="9">
                                            <p:txEl>
                                              <p:pRg st="3" end="3"/>
                                            </p:txEl>
                                          </p:spTgt>
                                        </p:tgtEl>
                                      </p:cBhvr>
                                    </p:animEffect>
                                    <p:anim calcmode="lin" valueType="num">
                                      <p:cBhvr>
                                        <p:cTn id="2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9">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0" presetClass="entr" presetSubtype="0" fill="hold" grpId="0" nodeType="clickEffect">
                                  <p:stCondLst>
                                    <p:cond delay="0"/>
                                  </p:stCondLst>
                                  <p:childTnLst>
                                    <p:set>
                                      <p:cBhvr>
                                        <p:cTn id="34" fill="hold">
                                          <p:stCondLst>
                                            <p:cond delay="0"/>
                                          </p:stCondLst>
                                        </p:cTn>
                                        <p:tgtEl>
                                          <p:spTgt spid="9">
                                            <p:txEl>
                                              <p:pRg st="4" end="4"/>
                                            </p:txEl>
                                          </p:spTgt>
                                        </p:tgtEl>
                                        <p:attrNameLst>
                                          <p:attrName>style.visibility</p:attrName>
                                        </p:attrNameLst>
                                      </p:cBhvr>
                                      <p:to>
                                        <p:strVal val="visible"/>
                                      </p:to>
                                    </p:set>
                                    <p:animEffect transition="in" filter="fade">
                                      <p:cBhvr>
                                        <p:cTn id="35" dur="500"/>
                                        <p:tgtEl>
                                          <p:spTgt spid="9">
                                            <p:txEl>
                                              <p:pRg st="4" end="4"/>
                                            </p:txEl>
                                          </p:spTgt>
                                        </p:tgtEl>
                                      </p:cBhvr>
                                    </p:animEffect>
                                    <p:anim calcmode="lin" valueType="num">
                                      <p:cBhvr>
                                        <p:cTn id="36"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7" dur="500" fill="hold"/>
                                        <p:tgtEl>
                                          <p:spTgt spid="9">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0" presetClass="entr" presetSubtype="0" fill="hold" grpId="0" nodeType="clickEffect">
                                  <p:stCondLst>
                                    <p:cond delay="0"/>
                                  </p:stCondLst>
                                  <p:childTnLst>
                                    <p:set>
                                      <p:cBhvr>
                                        <p:cTn id="41" fill="hold">
                                          <p:stCondLst>
                                            <p:cond delay="0"/>
                                          </p:stCondLst>
                                        </p:cTn>
                                        <p:tgtEl>
                                          <p:spTgt spid="9">
                                            <p:txEl>
                                              <p:pRg st="5" end="5"/>
                                            </p:txEl>
                                          </p:spTgt>
                                        </p:tgtEl>
                                        <p:attrNameLst>
                                          <p:attrName>style.visibility</p:attrName>
                                        </p:attrNameLst>
                                      </p:cBhvr>
                                      <p:to>
                                        <p:strVal val="visible"/>
                                      </p:to>
                                    </p:set>
                                    <p:animEffect transition="in" filter="fade">
                                      <p:cBhvr>
                                        <p:cTn id="42" dur="500"/>
                                        <p:tgtEl>
                                          <p:spTgt spid="9">
                                            <p:txEl>
                                              <p:pRg st="5" end="5"/>
                                            </p:txEl>
                                          </p:spTgt>
                                        </p:tgtEl>
                                      </p:cBhvr>
                                    </p:animEffect>
                                    <p:anim calcmode="lin" valueType="num">
                                      <p:cBhvr>
                                        <p:cTn id="43"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44" dur="500" fill="hold"/>
                                        <p:tgtEl>
                                          <p:spTgt spid="9">
                                            <p:txEl>
                                              <p:pRg st="5" end="5"/>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灯片编号占位符 3"/>
          <p:cNvSpPr>
            <a:spLocks noGrp="1"/>
          </p:cNvSpPr>
          <p:nvPr>
            <p:ph type="sldNum" sz="quarter" idx="4294967295"/>
          </p:nvPr>
        </p:nvSpPr>
        <p:spPr>
          <a:noFill/>
        </p:spPr>
        <p:txBody>
          <a:bodyPr/>
          <a:lstStyle>
            <a:lvl1pPr>
              <a:spcBef>
                <a:spcPct val="20000"/>
              </a:spcBef>
              <a:buClr>
                <a:srgbClr val="5F5F5F"/>
              </a:buClr>
              <a:buSzPct val="75000"/>
              <a:buFont typeface="Wingdings" panose="05000000000000000000" pitchFamily="2" charset="2"/>
              <a:buChar char="l"/>
              <a:defRPr sz="3530">
                <a:solidFill>
                  <a:schemeClr val="tx1"/>
                </a:solidFill>
                <a:latin typeface="Times New Roman" panose="02020603050405020304" pitchFamily="18" charset="0"/>
                <a:ea typeface="宋体" panose="02010600030101010101" pitchFamily="2" charset="-122"/>
              </a:defRPr>
            </a:lvl1pPr>
            <a:lvl2pPr marL="819150" indent="-314960">
              <a:spcBef>
                <a:spcPct val="20000"/>
              </a:spcBef>
              <a:buClr>
                <a:srgbClr val="292929"/>
              </a:buClr>
              <a:buSzPct val="55000"/>
              <a:buFont typeface="Wingdings" panose="05000000000000000000" pitchFamily="2" charset="2"/>
              <a:buChar char="¢"/>
              <a:defRPr sz="2645">
                <a:solidFill>
                  <a:srgbClr val="292929"/>
                </a:solidFill>
                <a:latin typeface="Arial" panose="020B0604020202020204" pitchFamily="34" charset="0"/>
                <a:ea typeface="楷体_GB2312" charset="-122"/>
              </a:defRPr>
            </a:lvl2pPr>
            <a:lvl3pPr marL="1260475" indent="-252095">
              <a:spcBef>
                <a:spcPct val="20000"/>
              </a:spcBef>
              <a:buClr>
                <a:schemeClr val="accent2"/>
              </a:buClr>
              <a:buSzPct val="65000"/>
              <a:buFont typeface="Wingdings" panose="05000000000000000000" pitchFamily="2" charset="2"/>
              <a:buChar char="p"/>
              <a:defRPr sz="2205">
                <a:solidFill>
                  <a:schemeClr val="tx1"/>
                </a:solidFill>
                <a:latin typeface="Times New Roman" panose="02020603050405020304" pitchFamily="18" charset="0"/>
                <a:ea typeface="宋体" panose="02010600030101010101" pitchFamily="2" charset="-122"/>
              </a:defRPr>
            </a:lvl3pPr>
            <a:lvl4pPr marL="1764030" indent="-252095">
              <a:spcBef>
                <a:spcPct val="20000"/>
              </a:spcBef>
              <a:buClr>
                <a:schemeClr val="folHlink"/>
              </a:buClr>
              <a:buSzPct val="70000"/>
              <a:buFont typeface="Wingdings" panose="05000000000000000000" pitchFamily="2" charset="2"/>
              <a:buChar char="ü"/>
              <a:defRPr>
                <a:solidFill>
                  <a:schemeClr val="tx1"/>
                </a:solidFill>
                <a:latin typeface="Perpetua" panose="02020502060401020303" pitchFamily="18" charset="0"/>
                <a:ea typeface="宋体" panose="02010600030101010101" pitchFamily="2" charset="-122"/>
              </a:defRPr>
            </a:lvl4pPr>
            <a:lvl5pPr marL="2268220" indent="-252095">
              <a:spcBef>
                <a:spcPct val="20000"/>
              </a:spcBef>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5pPr>
            <a:lvl6pPr marL="277241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6pPr>
            <a:lvl7pPr marL="327660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7pPr>
            <a:lvl8pPr marL="378079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8pPr>
            <a:lvl9pPr marL="4284345"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9pPr>
          </a:lstStyle>
          <a:p>
            <a:pPr>
              <a:spcBef>
                <a:spcPct val="0"/>
              </a:spcBef>
              <a:buClrTx/>
              <a:buSzTx/>
              <a:buFontTx/>
              <a:buNone/>
            </a:pPr>
            <a:fld id="{D794E200-C427-49F5-AED2-4CA256B14A86}" type="slidenum">
              <a:rPr lang="en-US" altLang="zh-CN" sz="1545">
                <a:solidFill>
                  <a:schemeClr val="bg1"/>
                </a:solidFill>
                <a:latin typeface="Arial Black" panose="020B0A04020102020204" pitchFamily="34" charset="0"/>
              </a:rPr>
            </a:fld>
            <a:endParaRPr lang="en-US" altLang="zh-CN" sz="1545">
              <a:solidFill>
                <a:schemeClr val="bg1"/>
              </a:solidFill>
              <a:latin typeface="Arial Black" panose="020B0A04020102020204" pitchFamily="34" charset="0"/>
            </a:endParaRPr>
          </a:p>
        </p:txBody>
      </p:sp>
      <p:sp>
        <p:nvSpPr>
          <p:cNvPr id="5" name="Rectangle 2"/>
          <p:cNvSpPr>
            <a:spLocks noGrp="1" noChangeArrowheads="1"/>
          </p:cNvSpPr>
          <p:nvPr>
            <p:ph type="title"/>
          </p:nvPr>
        </p:nvSpPr>
        <p:spPr>
          <a:xfrm>
            <a:off x="1181179" y="37340"/>
            <a:ext cx="9824391" cy="1008168"/>
          </a:xfrm>
        </p:spPr>
        <p:txBody>
          <a:bodyPr/>
          <a:lstStyle/>
          <a:p>
            <a:pPr eaLnBrk="1" hangingPunct="1"/>
            <a:r>
              <a:rPr lang="zh-CN" altLang="en-US" dirty="0"/>
              <a:t>名词解释</a:t>
            </a:r>
            <a:endParaRPr lang="zh-CN" altLang="en-US" dirty="0"/>
          </a:p>
        </p:txBody>
      </p:sp>
      <p:sp>
        <p:nvSpPr>
          <p:cNvPr id="7" name="Rectangle 3"/>
          <p:cNvSpPr>
            <a:spLocks noGrp="1" noChangeArrowheads="1"/>
          </p:cNvSpPr>
          <p:nvPr>
            <p:ph idx="1"/>
          </p:nvPr>
        </p:nvSpPr>
        <p:spPr>
          <a:xfrm>
            <a:off x="989410" y="1115438"/>
            <a:ext cx="10207704" cy="4535008"/>
          </a:xfrm>
        </p:spPr>
        <p:txBody>
          <a:bodyPr/>
          <a:lstStyle/>
          <a:p>
            <a:pPr algn="just">
              <a:lnSpc>
                <a:spcPct val="150000"/>
              </a:lnSpc>
              <a:buClrTx/>
              <a:buSzTx/>
            </a:pP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最晚开始时间（LS）：在不延迟项目完工时间的前提下，一项活动最晚可能开始的时间。</a:t>
            </a:r>
            <a:endPar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buClrTx/>
              <a:buSzTx/>
            </a:pP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最晚完成时间（LF）：完成一项活动最晚的可能时间。LF=LS+D</a:t>
            </a:r>
            <a:endPar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buClrTx/>
              <a:buSzTx/>
            </a:pP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时差（TS）：在不延误项目完成时间的情况下，一项活动从其最早开始时间算起，可以延迟的时间。TS=LS-ES</a:t>
            </a:r>
            <a:endPar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buClrTx/>
              <a:buSzTx/>
            </a:pP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关键活动：时差为零的活动。</a:t>
            </a:r>
            <a:endPar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buClrTx/>
              <a:buSzTx/>
            </a:pPr>
            <a:r>
              <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关键路径：总时差为零或总工期最长的路径。</a:t>
            </a:r>
            <a:endParaRPr lang="zh-CN" altLang="en-US" sz="24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fill="hold" grpId="0" nodeType="clickEffect">
                                  <p:stCondLst>
                                    <p:cond delay="0"/>
                                  </p:stCondLst>
                                  <p:childTnLst>
                                    <p:set>
                                      <p:cBhvr>
                                        <p:cTn id="6"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anim calcmode="lin" valueType="num">
                                      <p:cBhvr>
                                        <p:cTn id="8"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0" presetClass="entr" presetSubtype="0" fill="hold" grpId="0" nodeType="clickEffect">
                                  <p:stCondLst>
                                    <p:cond delay="0"/>
                                  </p:stCondLst>
                                  <p:childTnLst>
                                    <p:set>
                                      <p:cBhvr>
                                        <p:cTn id="13" fill="hold">
                                          <p:stCondLst>
                                            <p:cond delay="0"/>
                                          </p:stCondLst>
                                        </p:cTn>
                                        <p:tgtEl>
                                          <p:spTgt spid="7">
                                            <p:txEl>
                                              <p:pRg st="1" end="1"/>
                                            </p:txEl>
                                          </p:spTgt>
                                        </p:tgtEl>
                                        <p:attrNameLst>
                                          <p:attrName>style.visibility</p:attrName>
                                        </p:attrNameLst>
                                      </p:cBhvr>
                                      <p:to>
                                        <p:strVal val="visible"/>
                                      </p:to>
                                    </p:set>
                                    <p:animEffect transition="in" filter="fade">
                                      <p:cBhvr>
                                        <p:cTn id="14" dur="500"/>
                                        <p:tgtEl>
                                          <p:spTgt spid="7">
                                            <p:txEl>
                                              <p:pRg st="1" end="1"/>
                                            </p:txEl>
                                          </p:spTgt>
                                        </p:tgtEl>
                                      </p:cBhvr>
                                    </p:animEffect>
                                    <p:anim calcmode="lin" valueType="num">
                                      <p:cBhvr>
                                        <p:cTn id="15"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0" presetClass="entr" presetSubtype="0" fill="hold" grpId="0" nodeType="clickEffect">
                                  <p:stCondLst>
                                    <p:cond delay="0"/>
                                  </p:stCondLst>
                                  <p:childTnLst>
                                    <p:set>
                                      <p:cBhvr>
                                        <p:cTn id="20" fill="hold">
                                          <p:stCondLst>
                                            <p:cond delay="0"/>
                                          </p:stCondLst>
                                        </p:cTn>
                                        <p:tgtEl>
                                          <p:spTgt spid="7">
                                            <p:txEl>
                                              <p:pRg st="2" end="2"/>
                                            </p:txEl>
                                          </p:spTgt>
                                        </p:tgtEl>
                                        <p:attrNameLst>
                                          <p:attrName>style.visibility</p:attrName>
                                        </p:attrNameLst>
                                      </p:cBhvr>
                                      <p:to>
                                        <p:strVal val="visible"/>
                                      </p:to>
                                    </p:set>
                                    <p:animEffect transition="in" filter="fade">
                                      <p:cBhvr>
                                        <p:cTn id="21" dur="500"/>
                                        <p:tgtEl>
                                          <p:spTgt spid="7">
                                            <p:txEl>
                                              <p:pRg st="2" end="2"/>
                                            </p:txEl>
                                          </p:spTgt>
                                        </p:tgtEl>
                                      </p:cBhvr>
                                    </p:animEffect>
                                    <p:anim calcmode="lin" valueType="num">
                                      <p:cBhvr>
                                        <p:cTn id="22"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7">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0" presetClass="entr" presetSubtype="0" fill="hold" grpId="0" nodeType="clickEffect">
                                  <p:stCondLst>
                                    <p:cond delay="0"/>
                                  </p:stCondLst>
                                  <p:childTnLst>
                                    <p:set>
                                      <p:cBhvr>
                                        <p:cTn id="27" fill="hold">
                                          <p:stCondLst>
                                            <p:cond delay="0"/>
                                          </p:stCondLst>
                                        </p:cTn>
                                        <p:tgtEl>
                                          <p:spTgt spid="7">
                                            <p:txEl>
                                              <p:pRg st="3" end="3"/>
                                            </p:txEl>
                                          </p:spTgt>
                                        </p:tgtEl>
                                        <p:attrNameLst>
                                          <p:attrName>style.visibility</p:attrName>
                                        </p:attrNameLst>
                                      </p:cBhvr>
                                      <p:to>
                                        <p:strVal val="visible"/>
                                      </p:to>
                                    </p:set>
                                    <p:animEffect transition="in" filter="fade">
                                      <p:cBhvr>
                                        <p:cTn id="28" dur="500"/>
                                        <p:tgtEl>
                                          <p:spTgt spid="7">
                                            <p:txEl>
                                              <p:pRg st="3" end="3"/>
                                            </p:txEl>
                                          </p:spTgt>
                                        </p:tgtEl>
                                      </p:cBhvr>
                                    </p:animEffect>
                                    <p:anim calcmode="lin" valueType="num">
                                      <p:cBhvr>
                                        <p:cTn id="2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7">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0" presetClass="entr" presetSubtype="0" fill="hold" grpId="0" nodeType="clickEffect">
                                  <p:stCondLst>
                                    <p:cond delay="0"/>
                                  </p:stCondLst>
                                  <p:childTnLst>
                                    <p:set>
                                      <p:cBhvr>
                                        <p:cTn id="34" fill="hold">
                                          <p:stCondLst>
                                            <p:cond delay="0"/>
                                          </p:stCondLst>
                                        </p:cTn>
                                        <p:tgtEl>
                                          <p:spTgt spid="7">
                                            <p:txEl>
                                              <p:pRg st="4" end="4"/>
                                            </p:txEl>
                                          </p:spTgt>
                                        </p:tgtEl>
                                        <p:attrNameLst>
                                          <p:attrName>style.visibility</p:attrName>
                                        </p:attrNameLst>
                                      </p:cBhvr>
                                      <p:to>
                                        <p:strVal val="visible"/>
                                      </p:to>
                                    </p:set>
                                    <p:animEffect transition="in" filter="fade">
                                      <p:cBhvr>
                                        <p:cTn id="35" dur="500"/>
                                        <p:tgtEl>
                                          <p:spTgt spid="7">
                                            <p:txEl>
                                              <p:pRg st="4" end="4"/>
                                            </p:txEl>
                                          </p:spTgt>
                                        </p:tgtEl>
                                      </p:cBhvr>
                                    </p:animEffect>
                                    <p:anim calcmode="lin" valueType="num">
                                      <p:cBhvr>
                                        <p:cTn id="36"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500" fill="hold"/>
                                        <p:tgtEl>
                                          <p:spTgt spid="7">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Text Box 2"/>
          <p:cNvSpPr txBox="1">
            <a:spLocks noChangeArrowheads="1"/>
          </p:cNvSpPr>
          <p:nvPr/>
        </p:nvSpPr>
        <p:spPr bwMode="auto">
          <a:xfrm>
            <a:off x="1055160" y="453328"/>
            <a:ext cx="1088760" cy="635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buFontTx/>
              <a:buNone/>
            </a:pPr>
            <a:r>
              <a:rPr lang="zh-CN" altLang="en-US" sz="3530" b="1"/>
              <a:t>例：</a:t>
            </a:r>
            <a:endParaRPr lang="zh-CN" altLang="en-US" sz="3530" b="1"/>
          </a:p>
        </p:txBody>
      </p:sp>
      <p:grpSp>
        <p:nvGrpSpPr>
          <p:cNvPr id="543747" name="Group 3"/>
          <p:cNvGrpSpPr/>
          <p:nvPr/>
        </p:nvGrpSpPr>
        <p:grpSpPr bwMode="auto">
          <a:xfrm>
            <a:off x="1643257" y="924154"/>
            <a:ext cx="9493585" cy="5880983"/>
            <a:chOff x="336" y="336"/>
            <a:chExt cx="5424" cy="3360"/>
          </a:xfrm>
        </p:grpSpPr>
        <p:sp>
          <p:nvSpPr>
            <p:cNvPr id="543748" name="Text Box 4"/>
            <p:cNvSpPr txBox="1">
              <a:spLocks noChangeArrowheads="1"/>
            </p:cNvSpPr>
            <p:nvPr/>
          </p:nvSpPr>
          <p:spPr bwMode="auto">
            <a:xfrm>
              <a:off x="460" y="336"/>
              <a:ext cx="4571" cy="3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0"/>
                </a:spcBef>
                <a:tabLst>
                  <a:tab pos="4381500" algn="l"/>
                </a:tabLst>
                <a:defRPr kumimoji="1" sz="2400">
                  <a:solidFill>
                    <a:schemeClr val="tx1"/>
                  </a:solidFill>
                  <a:latin typeface="Times New Roman" panose="02020603050405020304" pitchFamily="18" charset="0"/>
                  <a:ea typeface="宋体" panose="02010600030101010101" pitchFamily="2" charset="-122"/>
                </a:defRPr>
              </a:lvl1pPr>
              <a:lvl2pPr algn="l">
                <a:spcBef>
                  <a:spcPct val="0"/>
                </a:spcBef>
                <a:tabLst>
                  <a:tab pos="4381500" algn="l"/>
                </a:tabLst>
                <a:defRPr kumimoji="1" sz="2400">
                  <a:solidFill>
                    <a:schemeClr val="tx1"/>
                  </a:solidFill>
                  <a:latin typeface="Times New Roman" panose="02020603050405020304" pitchFamily="18" charset="0"/>
                  <a:ea typeface="宋体" panose="02010600030101010101" pitchFamily="2" charset="-122"/>
                </a:defRPr>
              </a:lvl2pPr>
              <a:lvl3pPr algn="l">
                <a:spcBef>
                  <a:spcPct val="0"/>
                </a:spcBef>
                <a:tabLst>
                  <a:tab pos="4381500" algn="l"/>
                </a:tabLst>
                <a:defRPr kumimoji="1" sz="2400">
                  <a:solidFill>
                    <a:schemeClr val="tx1"/>
                  </a:solidFill>
                  <a:latin typeface="Times New Roman" panose="02020603050405020304" pitchFamily="18" charset="0"/>
                  <a:ea typeface="宋体" panose="02010600030101010101" pitchFamily="2" charset="-122"/>
                </a:defRPr>
              </a:lvl3pPr>
              <a:lvl4pPr algn="l">
                <a:spcBef>
                  <a:spcPct val="0"/>
                </a:spcBef>
                <a:tabLst>
                  <a:tab pos="4381500" algn="l"/>
                </a:tabLst>
                <a:defRPr kumimoji="1" sz="2400">
                  <a:solidFill>
                    <a:schemeClr val="tx1"/>
                  </a:solidFill>
                  <a:latin typeface="Times New Roman" panose="02020603050405020304" pitchFamily="18" charset="0"/>
                  <a:ea typeface="宋体" panose="02010600030101010101" pitchFamily="2" charset="-122"/>
                </a:defRPr>
              </a:lvl4pPr>
              <a:lvl5pPr algn="l">
                <a:spcBef>
                  <a:spcPct val="0"/>
                </a:spcBef>
                <a:tabLst>
                  <a:tab pos="43815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3815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3815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3815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3815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75000"/>
                </a:lnSpc>
                <a:spcBef>
                  <a:spcPct val="50000"/>
                </a:spcBef>
                <a:buFontTx/>
                <a:buNone/>
              </a:pPr>
              <a:r>
                <a:rPr lang="zh-CN" altLang="en-US" sz="3085" b="1"/>
                <a:t>工序            内容               工时</a:t>
              </a:r>
              <a:r>
                <a:rPr lang="en-US" altLang="zh-CN" sz="3085" b="1"/>
                <a:t>(</a:t>
              </a:r>
              <a:r>
                <a:rPr lang="zh-CN" altLang="en-US" sz="3085" b="1"/>
                <a:t>天</a:t>
              </a:r>
              <a:r>
                <a:rPr lang="en-US" altLang="zh-CN" sz="3085" b="1"/>
                <a:t>)     </a:t>
              </a:r>
              <a:r>
                <a:rPr lang="zh-CN" altLang="en-US" sz="3085" b="1"/>
                <a:t>紧前工序</a:t>
              </a:r>
              <a:endParaRPr lang="zh-CN" altLang="en-US" sz="3085" b="1"/>
            </a:p>
            <a:p>
              <a:pPr>
                <a:lnSpc>
                  <a:spcPct val="75000"/>
                </a:lnSpc>
                <a:spcBef>
                  <a:spcPct val="50000"/>
                </a:spcBef>
                <a:buFontTx/>
                <a:buNone/>
              </a:pPr>
              <a:r>
                <a:rPr lang="zh-CN" altLang="en-US" sz="3530" b="1"/>
                <a:t>  </a:t>
              </a:r>
              <a:r>
                <a:rPr lang="en-US" altLang="zh-CN" sz="3085"/>
                <a:t>A</a:t>
              </a:r>
              <a:r>
                <a:rPr lang="en-US" altLang="zh-CN" sz="3085" b="1"/>
                <a:t>           </a:t>
              </a:r>
              <a:r>
                <a:rPr lang="zh-CN" altLang="en-US" sz="3085" b="1"/>
                <a:t>初步研究                 </a:t>
              </a:r>
              <a:r>
                <a:rPr lang="en-US" altLang="zh-CN" sz="3085" b="1"/>
                <a:t>1                  /</a:t>
              </a:r>
              <a:endParaRPr lang="en-US" altLang="zh-CN" sz="3085" b="1"/>
            </a:p>
            <a:p>
              <a:pPr>
                <a:lnSpc>
                  <a:spcPct val="75000"/>
                </a:lnSpc>
                <a:spcBef>
                  <a:spcPct val="50000"/>
                </a:spcBef>
                <a:buFontTx/>
                <a:buNone/>
              </a:pPr>
              <a:r>
                <a:rPr lang="en-US" altLang="zh-CN" sz="3085" b="1"/>
                <a:t>  B           </a:t>
              </a:r>
              <a:r>
                <a:rPr lang="zh-CN" altLang="en-US" sz="3085" b="1"/>
                <a:t>研究选点                  </a:t>
              </a:r>
              <a:r>
                <a:rPr lang="en-US" altLang="zh-CN" sz="3085" b="1"/>
                <a:t>2                  A</a:t>
              </a:r>
              <a:endParaRPr lang="en-US" altLang="zh-CN" sz="3085" b="1"/>
            </a:p>
            <a:p>
              <a:pPr>
                <a:lnSpc>
                  <a:spcPct val="75000"/>
                </a:lnSpc>
                <a:spcBef>
                  <a:spcPct val="50000"/>
                </a:spcBef>
                <a:buFontTx/>
                <a:buNone/>
              </a:pPr>
              <a:r>
                <a:rPr lang="en-US" altLang="zh-CN" sz="3085" b="1"/>
                <a:t>  C       </a:t>
              </a:r>
              <a:r>
                <a:rPr lang="zh-CN" altLang="en-US" sz="3085" b="1"/>
                <a:t>准备调研方案              </a:t>
              </a:r>
              <a:r>
                <a:rPr lang="en-US" altLang="zh-CN" sz="3085" b="1"/>
                <a:t>4                  A</a:t>
              </a:r>
              <a:endParaRPr lang="en-US" altLang="zh-CN" sz="3085" b="1"/>
            </a:p>
            <a:p>
              <a:pPr>
                <a:lnSpc>
                  <a:spcPct val="75000"/>
                </a:lnSpc>
                <a:spcBef>
                  <a:spcPct val="50000"/>
                </a:spcBef>
                <a:buFontTx/>
                <a:buNone/>
              </a:pPr>
              <a:r>
                <a:rPr lang="en-US" altLang="zh-CN" sz="3085" b="1"/>
                <a:t>  D        </a:t>
              </a:r>
              <a:r>
                <a:rPr lang="zh-CN" altLang="en-US" sz="3085" b="1"/>
                <a:t>联系调研点                 </a:t>
              </a:r>
              <a:r>
                <a:rPr lang="en-US" altLang="zh-CN" sz="3085" b="1"/>
                <a:t>2                  B</a:t>
              </a:r>
              <a:endParaRPr lang="en-US" altLang="zh-CN" sz="3085" b="1"/>
            </a:p>
            <a:p>
              <a:pPr>
                <a:lnSpc>
                  <a:spcPct val="75000"/>
                </a:lnSpc>
                <a:spcBef>
                  <a:spcPct val="50000"/>
                </a:spcBef>
                <a:buFontTx/>
                <a:buNone/>
              </a:pPr>
              <a:r>
                <a:rPr lang="en-US" altLang="zh-CN" sz="3085" b="1"/>
                <a:t>  E       </a:t>
              </a:r>
              <a:r>
                <a:rPr lang="zh-CN" altLang="en-US" sz="3085" b="1"/>
                <a:t>培训工作人员              </a:t>
              </a:r>
              <a:r>
                <a:rPr lang="en-US" altLang="zh-CN" sz="3085" b="1"/>
                <a:t>3                B,C</a:t>
              </a:r>
              <a:endParaRPr lang="en-US" altLang="zh-CN" sz="3085" b="1"/>
            </a:p>
            <a:p>
              <a:pPr>
                <a:lnSpc>
                  <a:spcPct val="75000"/>
                </a:lnSpc>
                <a:spcBef>
                  <a:spcPct val="50000"/>
                </a:spcBef>
                <a:buFontTx/>
                <a:buNone/>
              </a:pPr>
              <a:r>
                <a:rPr lang="en-US" altLang="zh-CN" sz="3085" b="1"/>
                <a:t>  F           </a:t>
              </a:r>
              <a:r>
                <a:rPr lang="zh-CN" altLang="en-US" sz="3085" b="1"/>
                <a:t>准备表格                  </a:t>
              </a:r>
              <a:r>
                <a:rPr lang="en-US" altLang="zh-CN" sz="3085" b="1"/>
                <a:t>1                   C</a:t>
              </a:r>
              <a:endParaRPr lang="en-US" altLang="zh-CN" sz="3085" b="1"/>
            </a:p>
            <a:p>
              <a:pPr>
                <a:lnSpc>
                  <a:spcPct val="75000"/>
                </a:lnSpc>
                <a:spcBef>
                  <a:spcPct val="50000"/>
                </a:spcBef>
                <a:buFontTx/>
                <a:buNone/>
              </a:pPr>
              <a:r>
                <a:rPr lang="en-US" altLang="zh-CN" sz="3085" b="1"/>
                <a:t>  G          </a:t>
              </a:r>
              <a:r>
                <a:rPr lang="zh-CN" altLang="en-US" sz="3085" b="1"/>
                <a:t>实地调研                  </a:t>
              </a:r>
              <a:r>
                <a:rPr lang="en-US" altLang="zh-CN" sz="3085" b="1"/>
                <a:t>5                D,E,F</a:t>
              </a:r>
              <a:endParaRPr lang="en-US" altLang="zh-CN" sz="3085" b="1"/>
            </a:p>
            <a:p>
              <a:pPr>
                <a:lnSpc>
                  <a:spcPct val="75000"/>
                </a:lnSpc>
                <a:spcBef>
                  <a:spcPct val="50000"/>
                </a:spcBef>
                <a:buFontTx/>
                <a:buNone/>
              </a:pPr>
              <a:r>
                <a:rPr lang="en-US" altLang="zh-CN" sz="3085" b="1"/>
                <a:t>  H        </a:t>
              </a:r>
              <a:r>
                <a:rPr lang="zh-CN" altLang="en-US" sz="3085" b="1"/>
                <a:t>写调研报告                </a:t>
              </a:r>
              <a:r>
                <a:rPr lang="en-US" altLang="zh-CN" sz="3085" b="1"/>
                <a:t>2                   G</a:t>
              </a:r>
              <a:endParaRPr lang="en-US" altLang="zh-CN" sz="3085" b="1"/>
            </a:p>
            <a:p>
              <a:pPr>
                <a:lnSpc>
                  <a:spcPct val="75000"/>
                </a:lnSpc>
                <a:spcBef>
                  <a:spcPct val="50000"/>
                </a:spcBef>
                <a:buFontTx/>
                <a:buNone/>
              </a:pPr>
              <a:r>
                <a:rPr lang="en-US" altLang="zh-CN" sz="3085" b="1"/>
                <a:t>  I            </a:t>
              </a:r>
              <a:r>
                <a:rPr lang="zh-CN" altLang="en-US" sz="3085" b="1"/>
                <a:t>开会汇总                  </a:t>
              </a:r>
              <a:r>
                <a:rPr lang="en-US" altLang="zh-CN" sz="3085" b="1"/>
                <a:t>3                   H</a:t>
              </a:r>
              <a:endParaRPr lang="en-US" altLang="zh-CN" sz="3085" b="1"/>
            </a:p>
          </p:txBody>
        </p:sp>
        <p:sp>
          <p:nvSpPr>
            <p:cNvPr id="543749" name="Line 5"/>
            <p:cNvSpPr>
              <a:spLocks noChangeShapeType="1"/>
            </p:cNvSpPr>
            <p:nvPr/>
          </p:nvSpPr>
          <p:spPr bwMode="auto">
            <a:xfrm>
              <a:off x="336" y="672"/>
              <a:ext cx="5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229" tIns="51599" rIns="99229" bIns="51599" anchor="ctr">
              <a:spAutoFit/>
            </a:bodyPr>
            <a:lstStyle/>
            <a:p>
              <a:endParaRPr lang="zh-CN" altLang="en-US"/>
            </a:p>
          </p:txBody>
        </p:sp>
        <p:sp>
          <p:nvSpPr>
            <p:cNvPr id="543750" name="Line 6"/>
            <p:cNvSpPr>
              <a:spLocks noChangeShapeType="1"/>
            </p:cNvSpPr>
            <p:nvPr/>
          </p:nvSpPr>
          <p:spPr bwMode="auto">
            <a:xfrm>
              <a:off x="1056" y="336"/>
              <a:ext cx="0" cy="33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229" tIns="51599" rIns="99229" bIns="51599" anchor="ctr">
              <a:spAutoFit/>
            </a:bodyPr>
            <a:lstStyle/>
            <a:p>
              <a:endParaRPr lang="zh-CN" altLang="en-US"/>
            </a:p>
          </p:txBody>
        </p:sp>
        <p:sp>
          <p:nvSpPr>
            <p:cNvPr id="543751" name="Line 7"/>
            <p:cNvSpPr>
              <a:spLocks noChangeShapeType="1"/>
            </p:cNvSpPr>
            <p:nvPr/>
          </p:nvSpPr>
          <p:spPr bwMode="auto">
            <a:xfrm>
              <a:off x="2688" y="336"/>
              <a:ext cx="0" cy="326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229" tIns="51599" rIns="99229" bIns="51599" anchor="ctr">
              <a:spAutoFit/>
            </a:bodyPr>
            <a:lstStyle/>
            <a:p>
              <a:endParaRPr lang="zh-CN" altLang="en-US"/>
            </a:p>
          </p:txBody>
        </p:sp>
        <p:sp>
          <p:nvSpPr>
            <p:cNvPr id="543752" name="Line 8"/>
            <p:cNvSpPr>
              <a:spLocks noChangeShapeType="1"/>
            </p:cNvSpPr>
            <p:nvPr/>
          </p:nvSpPr>
          <p:spPr bwMode="auto">
            <a:xfrm>
              <a:off x="3888" y="336"/>
              <a:ext cx="0" cy="33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229" tIns="51599" rIns="99229" bIns="51599" anchor="ctr">
              <a:spAutoFit/>
            </a:bodyPr>
            <a:lstStyle/>
            <a:p>
              <a:endParaRPr lang="zh-CN" altLang="en-US"/>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813" name="Rectangle 45"/>
          <p:cNvSpPr>
            <a:spLocks noGrp="1" noChangeArrowheads="1"/>
          </p:cNvSpPr>
          <p:nvPr>
            <p:ph type="title" idx="4294967295"/>
          </p:nvPr>
        </p:nvSpPr>
        <p:spPr bwMode="auto">
          <a:xfrm>
            <a:off x="495300" y="273050"/>
            <a:ext cx="89106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9714" tIns="54857" rIns="109714" bIns="54857" numCol="1" anchor="ctr" anchorCtr="0" compatLnSpc="1"/>
          <a:lstStyle>
            <a:lvl1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cs typeface="+mj-cs"/>
              </a:defRPr>
            </a:lvl1pPr>
            <a:lvl2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2pPr>
            <a:lvl3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3pPr>
            <a:lvl4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4pPr>
            <a:lvl5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5pPr>
            <a:lvl6pPr marL="457200" algn="l" defTabSz="1097280" rtl="0" fontAlgn="base">
              <a:spcBef>
                <a:spcPct val="0"/>
              </a:spcBef>
              <a:spcAft>
                <a:spcPct val="0"/>
              </a:spcAft>
              <a:defRPr sz="3600" b="1">
                <a:solidFill>
                  <a:srgbClr val="0E207F"/>
                </a:solidFill>
                <a:latin typeface="Tahoma" panose="020B0604030504040204" pitchFamily="34" charset="0"/>
              </a:defRPr>
            </a:lvl6pPr>
            <a:lvl7pPr marL="914400" algn="l" defTabSz="1097280" rtl="0" fontAlgn="base">
              <a:spcBef>
                <a:spcPct val="0"/>
              </a:spcBef>
              <a:spcAft>
                <a:spcPct val="0"/>
              </a:spcAft>
              <a:defRPr sz="3600" b="1">
                <a:solidFill>
                  <a:srgbClr val="0E207F"/>
                </a:solidFill>
                <a:latin typeface="Tahoma" panose="020B0604030504040204" pitchFamily="34" charset="0"/>
              </a:defRPr>
            </a:lvl7pPr>
            <a:lvl8pPr marL="1371600" algn="l" defTabSz="1097280" rtl="0" fontAlgn="base">
              <a:spcBef>
                <a:spcPct val="0"/>
              </a:spcBef>
              <a:spcAft>
                <a:spcPct val="0"/>
              </a:spcAft>
              <a:defRPr sz="3600" b="1">
                <a:solidFill>
                  <a:srgbClr val="0E207F"/>
                </a:solidFill>
                <a:latin typeface="Tahoma" panose="020B0604030504040204" pitchFamily="34" charset="0"/>
              </a:defRPr>
            </a:lvl8pPr>
            <a:lvl9pPr marL="1828800" algn="l" defTabSz="1097280" rtl="0" fontAlgn="base">
              <a:spcBef>
                <a:spcPct val="0"/>
              </a:spcBef>
              <a:spcAft>
                <a:spcPct val="0"/>
              </a:spcAft>
              <a:defRPr sz="3600" b="1">
                <a:solidFill>
                  <a:srgbClr val="0E207F"/>
                </a:solidFill>
                <a:latin typeface="Tahoma" panose="020B0604030504040204" pitchFamily="34" charset="0"/>
              </a:defRPr>
            </a:lvl9pPr>
          </a:lstStyle>
          <a:p>
            <a:r>
              <a:rPr lang="en-US" altLang="zh-CN"/>
              <a:t>Tahoma 36 pt </a:t>
            </a:r>
            <a:endParaRPr lang="zh-CN" altLang="zh-CN"/>
          </a:p>
        </p:txBody>
      </p:sp>
      <p:pic>
        <p:nvPicPr>
          <p:cNvPr id="2" name="图片 1"/>
          <p:cNvPicPr>
            <a:picLocks noChangeAspect="1"/>
          </p:cNvPicPr>
          <p:nvPr/>
        </p:nvPicPr>
        <p:blipFill>
          <a:blip r:embed="rId1"/>
          <a:stretch>
            <a:fillRect/>
          </a:stretch>
        </p:blipFill>
        <p:spPr>
          <a:xfrm>
            <a:off x="1433610" y="1848309"/>
            <a:ext cx="9319529" cy="362382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307201" y="588098"/>
            <a:ext cx="9986557" cy="642657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p:cNvSpPr>
            <a:spLocks noGrp="1"/>
          </p:cNvSpPr>
          <p:nvPr>
            <p:ph idx="1"/>
          </p:nvPr>
        </p:nvSpPr>
        <p:spPr>
          <a:xfrm>
            <a:off x="0" y="0"/>
            <a:ext cx="4187825" cy="436245"/>
          </a:xfrm>
        </p:spPr>
        <p:txBody>
          <a:bodyPr/>
          <a:lstStyle/>
          <a:p>
            <a:pPr marL="457200" lvl="1" indent="0" eaLnBrk="1" hangingPunct="1">
              <a:buNone/>
            </a:pPr>
            <a:r>
              <a:rPr lang="zh-CN" altLang="en-US" sz="2400" b="1" dirty="0">
                <a:latin typeface="+mn-ea"/>
              </a:rPr>
              <a:t>计划评审技术（</a:t>
            </a:r>
            <a:r>
              <a:rPr lang="en-US" altLang="zh-CN" sz="2400" b="1" dirty="0">
                <a:latin typeface="+mn-ea"/>
              </a:rPr>
              <a:t>PERT</a:t>
            </a:r>
            <a:r>
              <a:rPr lang="zh-CN" altLang="en-US" sz="2400" b="1" dirty="0">
                <a:latin typeface="+mn-ea"/>
              </a:rPr>
              <a:t>）</a:t>
            </a:r>
            <a:endParaRPr lang="zh-CN" altLang="en-US" b="1" dirty="0">
              <a:latin typeface="+mn-ea"/>
            </a:endParaRPr>
          </a:p>
        </p:txBody>
      </p:sp>
      <p:sp>
        <p:nvSpPr>
          <p:cNvPr id="31748" name="灯片编号占位符 3"/>
          <p:cNvSpPr>
            <a:spLocks noGrp="1"/>
          </p:cNvSpPr>
          <p:nvPr>
            <p:ph type="sldNum" sz="quarter" idx="4294967295"/>
          </p:nvPr>
        </p:nvSpPr>
        <p:spPr>
          <a:noFill/>
        </p:spPr>
        <p:txBody>
          <a:bodyPr/>
          <a:lstStyle>
            <a:lvl1pPr>
              <a:spcBef>
                <a:spcPct val="20000"/>
              </a:spcBef>
              <a:buClr>
                <a:srgbClr val="5F5F5F"/>
              </a:buClr>
              <a:buSzPct val="75000"/>
              <a:buFont typeface="Wingdings" panose="05000000000000000000" pitchFamily="2" charset="2"/>
              <a:buChar char="l"/>
              <a:defRPr sz="3530">
                <a:solidFill>
                  <a:schemeClr val="tx1"/>
                </a:solidFill>
                <a:latin typeface="Times New Roman" panose="02020603050405020304" pitchFamily="18" charset="0"/>
                <a:ea typeface="宋体" panose="02010600030101010101" pitchFamily="2" charset="-122"/>
              </a:defRPr>
            </a:lvl1pPr>
            <a:lvl2pPr marL="819150" indent="-314960">
              <a:spcBef>
                <a:spcPct val="20000"/>
              </a:spcBef>
              <a:buClr>
                <a:srgbClr val="292929"/>
              </a:buClr>
              <a:buSzPct val="55000"/>
              <a:buFont typeface="Wingdings" panose="05000000000000000000" pitchFamily="2" charset="2"/>
              <a:buChar char="¢"/>
              <a:defRPr sz="2645">
                <a:solidFill>
                  <a:srgbClr val="292929"/>
                </a:solidFill>
                <a:latin typeface="Arial" panose="020B0604020202020204" pitchFamily="34" charset="0"/>
                <a:ea typeface="楷体_GB2312" charset="-122"/>
              </a:defRPr>
            </a:lvl2pPr>
            <a:lvl3pPr marL="1260475" indent="-252095">
              <a:spcBef>
                <a:spcPct val="20000"/>
              </a:spcBef>
              <a:buClr>
                <a:schemeClr val="accent2"/>
              </a:buClr>
              <a:buSzPct val="65000"/>
              <a:buFont typeface="Wingdings" panose="05000000000000000000" pitchFamily="2" charset="2"/>
              <a:buChar char="p"/>
              <a:defRPr sz="2205">
                <a:solidFill>
                  <a:schemeClr val="tx1"/>
                </a:solidFill>
                <a:latin typeface="Times New Roman" panose="02020603050405020304" pitchFamily="18" charset="0"/>
                <a:ea typeface="宋体" panose="02010600030101010101" pitchFamily="2" charset="-122"/>
              </a:defRPr>
            </a:lvl3pPr>
            <a:lvl4pPr marL="1764030" indent="-252095">
              <a:spcBef>
                <a:spcPct val="20000"/>
              </a:spcBef>
              <a:buClr>
                <a:schemeClr val="folHlink"/>
              </a:buClr>
              <a:buSzPct val="70000"/>
              <a:buFont typeface="Wingdings" panose="05000000000000000000" pitchFamily="2" charset="2"/>
              <a:buChar char="ü"/>
              <a:defRPr>
                <a:solidFill>
                  <a:schemeClr val="tx1"/>
                </a:solidFill>
                <a:latin typeface="Perpetua" panose="02020502060401020303" pitchFamily="18" charset="0"/>
                <a:ea typeface="宋体" panose="02010600030101010101" pitchFamily="2" charset="-122"/>
              </a:defRPr>
            </a:lvl4pPr>
            <a:lvl5pPr marL="2268220" indent="-252095">
              <a:spcBef>
                <a:spcPct val="20000"/>
              </a:spcBef>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5pPr>
            <a:lvl6pPr marL="277241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6pPr>
            <a:lvl7pPr marL="327660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7pPr>
            <a:lvl8pPr marL="3780790"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8pPr>
            <a:lvl9pPr marL="4284345" indent="-252095" eaLnBrk="0" fontAlgn="base" hangingPunct="0">
              <a:spcBef>
                <a:spcPct val="20000"/>
              </a:spcBef>
              <a:spcAft>
                <a:spcPct val="0"/>
              </a:spcAft>
              <a:buClr>
                <a:schemeClr val="bg2"/>
              </a:buClr>
              <a:buFont typeface="Wingdings" panose="05000000000000000000" pitchFamily="2" charset="2"/>
              <a:buChar char="§"/>
              <a:defRPr sz="1765">
                <a:solidFill>
                  <a:schemeClr val="tx1"/>
                </a:solidFill>
                <a:latin typeface="Perpetua" panose="02020502060401020303" pitchFamily="18" charset="0"/>
                <a:ea typeface="宋体" panose="02010600030101010101" pitchFamily="2" charset="-122"/>
              </a:defRPr>
            </a:lvl9pPr>
          </a:lstStyle>
          <a:p>
            <a:pPr>
              <a:spcBef>
                <a:spcPct val="0"/>
              </a:spcBef>
              <a:buClrTx/>
              <a:buSzTx/>
              <a:buFontTx/>
              <a:buNone/>
            </a:pPr>
            <a:fld id="{D794E200-C427-49F5-AED2-4CA256B14A86}" type="slidenum">
              <a:rPr lang="en-US" altLang="zh-CN" sz="1545">
                <a:solidFill>
                  <a:schemeClr val="bg1"/>
                </a:solidFill>
                <a:latin typeface="Arial Black" panose="020B0A04020102020204" pitchFamily="34" charset="0"/>
              </a:rPr>
            </a:fld>
            <a:endParaRPr lang="en-US" altLang="zh-CN" sz="1545">
              <a:solidFill>
                <a:schemeClr val="bg1"/>
              </a:solidFill>
              <a:latin typeface="Arial Black" panose="020B0A04020102020204" pitchFamily="34" charset="0"/>
            </a:endParaRPr>
          </a:p>
        </p:txBody>
      </p:sp>
      <p:sp>
        <p:nvSpPr>
          <p:cNvPr id="6" name="Text Box 2"/>
          <p:cNvSpPr txBox="1">
            <a:spLocks noChangeArrowheads="1"/>
          </p:cNvSpPr>
          <p:nvPr/>
        </p:nvSpPr>
        <p:spPr bwMode="auto">
          <a:xfrm>
            <a:off x="1875591" y="806890"/>
            <a:ext cx="8440818"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79383">
            <a:spAutoFit/>
          </a:bodyPr>
          <a:lstStyle/>
          <a:p>
            <a:pPr algn="l">
              <a:buFontTx/>
              <a:buNone/>
            </a:pPr>
            <a:r>
              <a:rPr lang="zh-CN" altLang="en-US" sz="3085" b="1" dirty="0">
                <a:solidFill>
                  <a:srgbClr val="0000CC"/>
                </a:solidFill>
              </a:rPr>
              <a:t>工程工期的概率分析</a:t>
            </a:r>
            <a:r>
              <a:rPr lang="en-US" altLang="zh-CN" sz="3085" b="1" dirty="0">
                <a:solidFill>
                  <a:srgbClr val="0000CC"/>
                </a:solidFill>
              </a:rPr>
              <a:t>——</a:t>
            </a:r>
            <a:r>
              <a:rPr lang="zh-CN" altLang="en-US" sz="3085" b="1" dirty="0">
                <a:solidFill>
                  <a:srgbClr val="0000CC"/>
                </a:solidFill>
              </a:rPr>
              <a:t>计划评审技术（</a:t>
            </a:r>
            <a:r>
              <a:rPr lang="en-US" altLang="zh-CN" sz="3085" b="1" dirty="0">
                <a:solidFill>
                  <a:srgbClr val="0000CC"/>
                </a:solidFill>
              </a:rPr>
              <a:t>PERT</a:t>
            </a:r>
            <a:r>
              <a:rPr lang="zh-CN" altLang="en-US" sz="3085" b="1" dirty="0">
                <a:solidFill>
                  <a:srgbClr val="0000CC"/>
                </a:solidFill>
              </a:rPr>
              <a:t>）</a:t>
            </a:r>
            <a:endParaRPr lang="zh-CN" altLang="en-US" sz="3085" b="1" dirty="0">
              <a:solidFill>
                <a:srgbClr val="0000CC"/>
              </a:solidFill>
            </a:endParaRPr>
          </a:p>
        </p:txBody>
      </p:sp>
      <p:sp>
        <p:nvSpPr>
          <p:cNvPr id="2" name="文本框 1"/>
          <p:cNvSpPr txBox="1"/>
          <p:nvPr/>
        </p:nvSpPr>
        <p:spPr>
          <a:xfrm>
            <a:off x="60629" y="1623731"/>
            <a:ext cx="11874196" cy="5003742"/>
          </a:xfrm>
          <a:prstGeom prst="rect">
            <a:avLst/>
          </a:prstGeom>
          <a:noFill/>
        </p:spPr>
        <p:txBody>
          <a:bodyPr wrap="square" rtlCol="0">
            <a:spAutoFit/>
          </a:bodyPr>
          <a:lstStyle/>
          <a:p>
            <a:pPr lvl="1" eaLnBrk="1" hangingPunct="1">
              <a:lnSpc>
                <a:spcPct val="150000"/>
              </a:lnSpc>
            </a:pPr>
            <a:r>
              <a:rPr lang="zh-CN" altLang="zh-CN" sz="2400" b="1" dirty="0">
                <a:latin typeface="微软雅黑" panose="020B0503020204020204" pitchFamily="34" charset="-122"/>
              </a:rPr>
              <a:t>计划评审技术（</a:t>
            </a:r>
            <a:r>
              <a:rPr lang="en-US" altLang="zh-CN" sz="2400" b="1" dirty="0">
                <a:latin typeface="微软雅黑" panose="020B0503020204020204" pitchFamily="34" charset="-122"/>
              </a:rPr>
              <a:t>Program Evaluation and Review Technique</a:t>
            </a:r>
            <a:r>
              <a:rPr lang="zh-CN" altLang="zh-CN" sz="2400" b="1" dirty="0">
                <a:latin typeface="微软雅黑" panose="020B0503020204020204" pitchFamily="34" charset="-122"/>
              </a:rPr>
              <a:t>，</a:t>
            </a:r>
            <a:r>
              <a:rPr lang="en-US" altLang="zh-CN" sz="2400" b="1" dirty="0">
                <a:latin typeface="微软雅黑" panose="020B0503020204020204" pitchFamily="34" charset="-122"/>
              </a:rPr>
              <a:t>PERT</a:t>
            </a:r>
            <a:r>
              <a:rPr lang="zh-CN" altLang="zh-CN" sz="2400" b="1" dirty="0">
                <a:latin typeface="微软雅黑" panose="020B0503020204020204" pitchFamily="34" charset="-122"/>
              </a:rPr>
              <a:t>）</a:t>
            </a:r>
            <a:r>
              <a:rPr lang="zh-CN" altLang="zh-CN" sz="2400" dirty="0">
                <a:latin typeface="微软雅黑" panose="020B0503020204020204" pitchFamily="34" charset="-122"/>
              </a:rPr>
              <a:t>是</a:t>
            </a:r>
            <a:r>
              <a:rPr lang="en-US" altLang="zh-CN" sz="2400" dirty="0">
                <a:latin typeface="微软雅黑" panose="020B0503020204020204" pitchFamily="34" charset="-122"/>
              </a:rPr>
              <a:t>50</a:t>
            </a:r>
            <a:r>
              <a:rPr lang="zh-CN" altLang="zh-CN" sz="2400" dirty="0">
                <a:latin typeface="微软雅黑" panose="020B0503020204020204" pitchFamily="34" charset="-122"/>
              </a:rPr>
              <a:t>年代末美国海军部在研制北极星潜艇系统时为协调</a:t>
            </a:r>
            <a:r>
              <a:rPr lang="en-US" altLang="zh-CN" sz="2400" dirty="0">
                <a:latin typeface="微软雅黑" panose="020B0503020204020204" pitchFamily="34" charset="-122"/>
              </a:rPr>
              <a:t>3000</a:t>
            </a:r>
            <a:r>
              <a:rPr lang="zh-CN" altLang="zh-CN" sz="2400" dirty="0">
                <a:latin typeface="微软雅黑" panose="020B0503020204020204" pitchFamily="34" charset="-122"/>
              </a:rPr>
              <a:t>多个承包商和研究机构而开发的，其理论基础是假设软件项目持续时问以及整个项目完成时间是随机的，且服从某种概率分布。</a:t>
            </a:r>
            <a:r>
              <a:rPr lang="en-US" altLang="zh-CN" sz="2400" dirty="0">
                <a:latin typeface="微软雅黑" panose="020B0503020204020204" pitchFamily="34" charset="-122"/>
              </a:rPr>
              <a:t>PERT</a:t>
            </a:r>
            <a:r>
              <a:rPr lang="zh-CN" altLang="zh-CN" sz="2400" dirty="0">
                <a:latin typeface="微软雅黑" panose="020B0503020204020204" pitchFamily="34" charset="-122"/>
              </a:rPr>
              <a:t>可以估计整个项目在某个时间内完成的概率。</a:t>
            </a:r>
            <a:endParaRPr lang="zh-CN" altLang="zh-CN" sz="2400" dirty="0">
              <a:latin typeface="微软雅黑" panose="020B0503020204020204" pitchFamily="34" charset="-122"/>
            </a:endParaRPr>
          </a:p>
          <a:p>
            <a:pPr lvl="1" eaLnBrk="1" hangingPunct="1">
              <a:lnSpc>
                <a:spcPct val="150000"/>
              </a:lnSpc>
            </a:pPr>
            <a:r>
              <a:rPr lang="zh-CN" altLang="zh-CN" sz="2400" dirty="0">
                <a:latin typeface="微软雅黑" panose="020B0503020204020204" pitchFamily="34" charset="-122"/>
              </a:rPr>
              <a:t>构造</a:t>
            </a:r>
            <a:r>
              <a:rPr lang="en-US" altLang="zh-CN" sz="2400" dirty="0">
                <a:latin typeface="微软雅黑" panose="020B0503020204020204" pitchFamily="34" charset="-122"/>
              </a:rPr>
              <a:t>PERT</a:t>
            </a:r>
            <a:r>
              <a:rPr lang="zh-CN" altLang="zh-CN" sz="2400" dirty="0">
                <a:latin typeface="微软雅黑" panose="020B0503020204020204" pitchFamily="34" charset="-122"/>
              </a:rPr>
              <a:t>陈需要明确三个概念，事件、活动和关键路线。</a:t>
            </a:r>
            <a:endParaRPr lang="zh-CN" altLang="zh-CN" sz="2400" dirty="0">
              <a:latin typeface="微软雅黑" panose="020B0503020204020204" pitchFamily="34" charset="-122"/>
            </a:endParaRPr>
          </a:p>
          <a:p>
            <a:pPr lvl="2" eaLnBrk="1" hangingPunct="1">
              <a:lnSpc>
                <a:spcPct val="150000"/>
              </a:lnSpc>
            </a:pPr>
            <a:r>
              <a:rPr lang="zh-CN" altLang="zh-CN" sz="2400" b="1" dirty="0">
                <a:latin typeface="微软雅黑" panose="020B0503020204020204" pitchFamily="34" charset="-122"/>
              </a:rPr>
              <a:t>事件（</a:t>
            </a:r>
            <a:r>
              <a:rPr lang="en-US" altLang="zh-CN" sz="2400" b="1" dirty="0">
                <a:latin typeface="微软雅黑" panose="020B0503020204020204" pitchFamily="34" charset="-122"/>
              </a:rPr>
              <a:t>Events</a:t>
            </a:r>
            <a:r>
              <a:rPr lang="zh-CN" altLang="zh-CN" sz="2400" b="1" dirty="0">
                <a:latin typeface="微软雅黑" panose="020B0503020204020204" pitchFamily="34" charset="-122"/>
              </a:rPr>
              <a:t>）</a:t>
            </a:r>
            <a:r>
              <a:rPr lang="zh-CN" altLang="zh-CN" sz="2400" dirty="0">
                <a:latin typeface="微软雅黑" panose="020B0503020204020204" pitchFamily="34" charset="-122"/>
              </a:rPr>
              <a:t>表示主要活动结束的那一点。</a:t>
            </a:r>
            <a:endParaRPr lang="zh-CN" altLang="zh-CN" sz="2400" dirty="0">
              <a:latin typeface="微软雅黑" panose="020B0503020204020204" pitchFamily="34" charset="-122"/>
            </a:endParaRPr>
          </a:p>
          <a:p>
            <a:pPr lvl="2" eaLnBrk="1" hangingPunct="1">
              <a:lnSpc>
                <a:spcPct val="150000"/>
              </a:lnSpc>
            </a:pPr>
            <a:r>
              <a:rPr lang="zh-CN" altLang="zh-CN" sz="2400" b="1" dirty="0">
                <a:latin typeface="微软雅黑" panose="020B0503020204020204" pitchFamily="34" charset="-122"/>
              </a:rPr>
              <a:t>活动（</a:t>
            </a:r>
            <a:r>
              <a:rPr lang="en-US" altLang="zh-CN" sz="2400" b="1" dirty="0">
                <a:latin typeface="微软雅黑" panose="020B0503020204020204" pitchFamily="34" charset="-122"/>
              </a:rPr>
              <a:t>Activities</a:t>
            </a:r>
            <a:r>
              <a:rPr lang="zh-CN" altLang="zh-CN" sz="2400" b="1" dirty="0">
                <a:latin typeface="微软雅黑" panose="020B0503020204020204" pitchFamily="34" charset="-122"/>
              </a:rPr>
              <a:t>）</a:t>
            </a:r>
            <a:r>
              <a:rPr lang="zh-CN" altLang="zh-CN" sz="2400" dirty="0">
                <a:latin typeface="微软雅黑" panose="020B0503020204020204" pitchFamily="34" charset="-122"/>
              </a:rPr>
              <a:t>表示从一个事件到另一个事件之间的过程。</a:t>
            </a:r>
            <a:endParaRPr lang="zh-CN" altLang="zh-CN" sz="2400" dirty="0">
              <a:latin typeface="微软雅黑" panose="020B0503020204020204" pitchFamily="34" charset="-122"/>
            </a:endParaRPr>
          </a:p>
          <a:p>
            <a:pPr lvl="2" eaLnBrk="1" hangingPunct="1">
              <a:lnSpc>
                <a:spcPct val="150000"/>
              </a:lnSpc>
            </a:pPr>
            <a:r>
              <a:rPr lang="zh-CN" altLang="zh-CN" sz="2400" b="1" dirty="0">
                <a:latin typeface="微软雅黑" panose="020B0503020204020204" pitchFamily="34" charset="-122"/>
              </a:rPr>
              <a:t>关键路线（</a:t>
            </a:r>
            <a:r>
              <a:rPr lang="en-US" altLang="zh-CN" sz="2400" b="1" dirty="0">
                <a:latin typeface="微软雅黑" panose="020B0503020204020204" pitchFamily="34" charset="-122"/>
              </a:rPr>
              <a:t>Critical Path</a:t>
            </a:r>
            <a:r>
              <a:rPr lang="zh-CN" altLang="zh-CN" sz="2400" b="1" dirty="0">
                <a:latin typeface="微软雅黑" panose="020B0503020204020204" pitchFamily="34" charset="-122"/>
              </a:rPr>
              <a:t>）</a:t>
            </a:r>
            <a:r>
              <a:rPr lang="zh-CN" altLang="zh-CN" sz="2400" dirty="0">
                <a:latin typeface="微软雅黑" panose="020B0503020204020204" pitchFamily="34" charset="-122"/>
              </a:rPr>
              <a:t>是</a:t>
            </a:r>
            <a:r>
              <a:rPr lang="en-US" altLang="zh-CN" sz="2400" dirty="0">
                <a:latin typeface="微软雅黑" panose="020B0503020204020204" pitchFamily="34" charset="-122"/>
              </a:rPr>
              <a:t>PERT</a:t>
            </a:r>
            <a:r>
              <a:rPr lang="zh-CN" altLang="zh-CN" sz="2400" dirty="0">
                <a:latin typeface="微软雅黑" panose="020B0503020204020204" pitchFamily="34" charset="-122"/>
              </a:rPr>
              <a:t>网络中花费时间最长的事件和活动的序列。</a:t>
            </a:r>
            <a:endParaRPr lang="zh-CN" altLang="en-US" sz="2400" dirty="0">
              <a:latin typeface="微软雅黑" panose="020B0503020204020204" pitchFamily="34" charset="-122"/>
            </a:endParaRPr>
          </a:p>
          <a:p>
            <a:pPr>
              <a:lnSpc>
                <a:spcPct val="150000"/>
              </a:lnSpc>
            </a:pPr>
            <a:endParaRPr lang="zh-CN" altLang="en-US" sz="2400" dirty="0">
              <a:latin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body" idx="1"/>
          </p:nvPr>
        </p:nvSpPr>
        <p:spPr>
          <a:xfrm>
            <a:off x="771237" y="1518458"/>
            <a:ext cx="10580254" cy="4753033"/>
          </a:xfrm>
        </p:spPr>
        <p:txBody>
          <a:bodyPr/>
          <a:lstStyle/>
          <a:p>
            <a:pPr>
              <a:lnSpc>
                <a:spcPct val="150000"/>
              </a:lnSpc>
            </a:pPr>
            <a:r>
              <a:rPr lang="en-US" altLang="zh-CN" sz="2645" dirty="0">
                <a:solidFill>
                  <a:srgbClr val="003399"/>
                </a:solidFill>
                <a:latin typeface="宋体" panose="02010600030101010101" pitchFamily="2" charset="-122"/>
                <a:ea typeface="宋体" panose="02010600030101010101" pitchFamily="2" charset="-122"/>
              </a:rPr>
              <a:t>PERT</a:t>
            </a:r>
            <a:r>
              <a:rPr lang="zh-CN" altLang="en-US" sz="2645" dirty="0">
                <a:solidFill>
                  <a:srgbClr val="003399"/>
                </a:solidFill>
                <a:latin typeface="宋体" panose="02010600030101010101" pitchFamily="2" charset="-122"/>
                <a:ea typeface="宋体" panose="02010600030101010101" pitchFamily="2" charset="-122"/>
              </a:rPr>
              <a:t>（</a:t>
            </a:r>
            <a:r>
              <a:rPr lang="en-US" altLang="zh-CN" sz="2645" dirty="0">
                <a:solidFill>
                  <a:srgbClr val="003399"/>
                </a:solidFill>
                <a:latin typeface="宋体" panose="02010600030101010101" pitchFamily="2" charset="-122"/>
                <a:ea typeface="宋体" panose="02010600030101010101" pitchFamily="2" charset="-122"/>
              </a:rPr>
              <a:t>Program/Project Evaluation and Review Technique</a:t>
            </a:r>
            <a:r>
              <a:rPr lang="zh-CN" altLang="en-US" sz="2645" dirty="0">
                <a:solidFill>
                  <a:srgbClr val="003399"/>
                </a:solidFill>
                <a:latin typeface="宋体" panose="02010600030101010101" pitchFamily="2" charset="-122"/>
                <a:ea typeface="宋体" panose="02010600030101010101" pitchFamily="2" charset="-122"/>
              </a:rPr>
              <a:t>）即</a:t>
            </a:r>
            <a:r>
              <a:rPr lang="zh-CN" altLang="en-US" sz="2645" dirty="0">
                <a:solidFill>
                  <a:srgbClr val="FF3300"/>
                </a:solidFill>
                <a:latin typeface="宋体" panose="02010600030101010101" pitchFamily="2" charset="-122"/>
                <a:ea typeface="宋体" panose="02010600030101010101" pitchFamily="2" charset="-122"/>
              </a:rPr>
              <a:t>计划评审技术</a:t>
            </a:r>
            <a:r>
              <a:rPr lang="zh-CN" altLang="en-US" sz="2645" dirty="0">
                <a:solidFill>
                  <a:srgbClr val="003399"/>
                </a:solidFill>
                <a:latin typeface="宋体" panose="02010600030101010101" pitchFamily="2" charset="-122"/>
                <a:ea typeface="宋体" panose="02010600030101010101" pitchFamily="2" charset="-122"/>
              </a:rPr>
              <a:t>，简单地说，</a:t>
            </a:r>
            <a:r>
              <a:rPr lang="en-US" altLang="zh-CN" sz="2645" dirty="0">
                <a:solidFill>
                  <a:srgbClr val="003399"/>
                </a:solidFill>
                <a:latin typeface="宋体" panose="02010600030101010101" pitchFamily="2" charset="-122"/>
                <a:ea typeface="宋体" panose="02010600030101010101" pitchFamily="2" charset="-122"/>
              </a:rPr>
              <a:t>PERT</a:t>
            </a:r>
            <a:r>
              <a:rPr lang="zh-CN" altLang="en-US" sz="2645" dirty="0">
                <a:solidFill>
                  <a:srgbClr val="003399"/>
                </a:solidFill>
                <a:latin typeface="宋体" panose="02010600030101010101" pitchFamily="2" charset="-122"/>
                <a:ea typeface="宋体" panose="02010600030101010101" pitchFamily="2" charset="-122"/>
              </a:rPr>
              <a:t>是利用</a:t>
            </a:r>
            <a:r>
              <a:rPr lang="zh-CN" altLang="en-US" sz="2645" dirty="0">
                <a:solidFill>
                  <a:srgbClr val="FF3300"/>
                </a:solidFill>
                <a:latin typeface="宋体" panose="02010600030101010101" pitchFamily="2" charset="-122"/>
                <a:ea typeface="宋体" panose="02010600030101010101" pitchFamily="2" charset="-122"/>
              </a:rPr>
              <a:t>网络分析</a:t>
            </a:r>
            <a:r>
              <a:rPr lang="zh-CN" altLang="en-US" sz="2645" dirty="0">
                <a:solidFill>
                  <a:srgbClr val="003399"/>
                </a:solidFill>
                <a:latin typeface="宋体" panose="02010600030101010101" pitchFamily="2" charset="-122"/>
                <a:ea typeface="宋体" panose="02010600030101010101" pitchFamily="2" charset="-122"/>
              </a:rPr>
              <a:t>制定计划以及对计划予以评价的技术。它能协调整个计划的各道工序，合理安排人力、物力、时间、资金，加速计划的完成。在现代计划的编制和分析手段上，</a:t>
            </a:r>
            <a:r>
              <a:rPr lang="en-US" altLang="zh-CN" sz="2645" dirty="0">
                <a:solidFill>
                  <a:srgbClr val="003399"/>
                </a:solidFill>
                <a:latin typeface="宋体" panose="02010600030101010101" pitchFamily="2" charset="-122"/>
                <a:ea typeface="宋体" panose="02010600030101010101" pitchFamily="2" charset="-122"/>
              </a:rPr>
              <a:t>PERT</a:t>
            </a:r>
            <a:r>
              <a:rPr lang="zh-CN" altLang="en-US" sz="2645" dirty="0">
                <a:solidFill>
                  <a:srgbClr val="003399"/>
                </a:solidFill>
                <a:latin typeface="宋体" panose="02010600030101010101" pitchFamily="2" charset="-122"/>
                <a:ea typeface="宋体" panose="02010600030101010101" pitchFamily="2" charset="-122"/>
              </a:rPr>
              <a:t>被广泛地使用，是现代项目管理的重要手段和方法。</a:t>
            </a:r>
            <a:endParaRPr lang="zh-CN" altLang="en-US" sz="2645" dirty="0">
              <a:solidFill>
                <a:srgbClr val="003399"/>
              </a:solidFill>
              <a:latin typeface="宋体" panose="02010600030101010101" pitchFamily="2" charset="-122"/>
              <a:ea typeface="宋体" panose="02010600030101010101" pitchFamily="2" charset="-122"/>
            </a:endParaRPr>
          </a:p>
          <a:p>
            <a:pPr eaLnBrk="1" hangingPunct="1">
              <a:lnSpc>
                <a:spcPct val="150000"/>
              </a:lnSpc>
              <a:buFontTx/>
              <a:buNone/>
            </a:pPr>
            <a:r>
              <a:rPr lang="zh-CN" altLang="en-US" sz="2645" dirty="0">
                <a:solidFill>
                  <a:srgbClr val="003399"/>
                </a:solidFill>
                <a:latin typeface="华文楷体" panose="02010600040101010101" pitchFamily="2" charset="-122"/>
                <a:ea typeface="华文楷体" panose="02010600040101010101" pitchFamily="2" charset="-122"/>
              </a:rPr>
              <a:t>     假定活动的工期存在三种可能：悲观、正常、乐观三种情况</a:t>
            </a:r>
            <a:endParaRPr lang="zh-CN" altLang="en-US" sz="2645" dirty="0">
              <a:solidFill>
                <a:srgbClr val="003399"/>
              </a:solidFill>
              <a:latin typeface="华文楷体" panose="02010600040101010101" pitchFamily="2" charset="-122"/>
              <a:ea typeface="华文楷体" panose="02010600040101010101" pitchFamily="2" charset="-122"/>
            </a:endParaRPr>
          </a:p>
          <a:p>
            <a:pPr eaLnBrk="1" hangingPunct="1">
              <a:lnSpc>
                <a:spcPct val="150000"/>
              </a:lnSpc>
              <a:buFontTx/>
              <a:buNone/>
            </a:pPr>
            <a:r>
              <a:rPr lang="en-US" altLang="zh-CN" sz="2645" dirty="0">
                <a:solidFill>
                  <a:srgbClr val="003399"/>
                </a:solidFill>
                <a:latin typeface="华文楷体" panose="02010600040101010101" pitchFamily="2" charset="-122"/>
                <a:ea typeface="华文楷体" panose="02010600040101010101" pitchFamily="2" charset="-122"/>
              </a:rPr>
              <a:t>		PERT: t = ( t0 + 4*tm + </a:t>
            </a:r>
            <a:r>
              <a:rPr lang="en-US" altLang="zh-CN" sz="2645" dirty="0" err="1">
                <a:solidFill>
                  <a:srgbClr val="003399"/>
                </a:solidFill>
                <a:latin typeface="华文楷体" panose="02010600040101010101" pitchFamily="2" charset="-122"/>
                <a:ea typeface="华文楷体" panose="02010600040101010101" pitchFamily="2" charset="-122"/>
              </a:rPr>
              <a:t>tp</a:t>
            </a:r>
            <a:r>
              <a:rPr lang="en-US" altLang="zh-CN" sz="2645" dirty="0">
                <a:solidFill>
                  <a:srgbClr val="003399"/>
                </a:solidFill>
                <a:latin typeface="华文楷体" panose="02010600040101010101" pitchFamily="2" charset="-122"/>
                <a:ea typeface="华文楷体" panose="02010600040101010101" pitchFamily="2" charset="-122"/>
              </a:rPr>
              <a:t>) / 6</a:t>
            </a:r>
            <a:endParaRPr lang="zh-CN" altLang="en-US" sz="2645" dirty="0">
              <a:solidFill>
                <a:srgbClr val="003399"/>
              </a:solidFill>
              <a:latin typeface="华文楷体" panose="02010600040101010101" pitchFamily="2" charset="-122"/>
              <a:ea typeface="华文楷体" panose="02010600040101010101" pitchFamily="2" charset="-122"/>
            </a:endParaRPr>
          </a:p>
        </p:txBody>
      </p:sp>
      <p:sp>
        <p:nvSpPr>
          <p:cNvPr id="5" name="Text Box 2"/>
          <p:cNvSpPr txBox="1">
            <a:spLocks noChangeArrowheads="1"/>
          </p:cNvSpPr>
          <p:nvPr/>
        </p:nvSpPr>
        <p:spPr bwMode="auto">
          <a:xfrm>
            <a:off x="1949830" y="855066"/>
            <a:ext cx="9889151"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3085" b="1" dirty="0">
                <a:solidFill>
                  <a:srgbClr val="0000CC"/>
                </a:solidFill>
              </a:rPr>
              <a:t>工程工期的概率分析</a:t>
            </a:r>
            <a:r>
              <a:rPr lang="en-US" altLang="zh-CN" sz="3085" b="1" dirty="0">
                <a:solidFill>
                  <a:srgbClr val="0000CC"/>
                </a:solidFill>
              </a:rPr>
              <a:t>——</a:t>
            </a:r>
            <a:r>
              <a:rPr lang="zh-CN" altLang="en-US" sz="3085" b="1" dirty="0">
                <a:solidFill>
                  <a:srgbClr val="0000CC"/>
                </a:solidFill>
              </a:rPr>
              <a:t>计划评审技术（</a:t>
            </a:r>
            <a:r>
              <a:rPr lang="en-US" altLang="zh-CN" sz="3085" b="1" dirty="0">
                <a:solidFill>
                  <a:srgbClr val="0000CC"/>
                </a:solidFill>
              </a:rPr>
              <a:t>PERT</a:t>
            </a:r>
            <a:r>
              <a:rPr lang="zh-CN" altLang="en-US" sz="3085" b="1" dirty="0">
                <a:solidFill>
                  <a:srgbClr val="0000CC"/>
                </a:solidFill>
              </a:rPr>
              <a:t>）</a:t>
            </a:r>
            <a:endParaRPr lang="zh-CN" altLang="en-US" sz="3085" b="1" dirty="0">
              <a:solidFill>
                <a:srgbClr val="0000CC"/>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1951310" y="498833"/>
            <a:ext cx="9889151"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3085" b="1" dirty="0">
                <a:solidFill>
                  <a:srgbClr val="0000CC"/>
                </a:solidFill>
              </a:rPr>
              <a:t>工程工期的概率分析</a:t>
            </a:r>
            <a:r>
              <a:rPr lang="en-US" altLang="zh-CN" sz="3085" b="1" dirty="0">
                <a:solidFill>
                  <a:srgbClr val="0000CC"/>
                </a:solidFill>
              </a:rPr>
              <a:t>——</a:t>
            </a:r>
            <a:r>
              <a:rPr lang="zh-CN" altLang="en-US" sz="3085" b="1" dirty="0">
                <a:solidFill>
                  <a:srgbClr val="0000CC"/>
                </a:solidFill>
              </a:rPr>
              <a:t>计划评审技术（</a:t>
            </a:r>
            <a:r>
              <a:rPr lang="en-US" altLang="zh-CN" sz="3085" b="1" dirty="0">
                <a:solidFill>
                  <a:srgbClr val="0000CC"/>
                </a:solidFill>
              </a:rPr>
              <a:t>PERT</a:t>
            </a:r>
            <a:r>
              <a:rPr lang="zh-CN" altLang="en-US" sz="3085" b="1" dirty="0">
                <a:solidFill>
                  <a:srgbClr val="0000CC"/>
                </a:solidFill>
              </a:rPr>
              <a:t>）</a:t>
            </a:r>
            <a:endParaRPr lang="zh-CN" altLang="en-US" sz="3085" b="1" dirty="0">
              <a:solidFill>
                <a:srgbClr val="0000CC"/>
              </a:solidFill>
            </a:endParaRPr>
          </a:p>
        </p:txBody>
      </p:sp>
      <p:sp>
        <p:nvSpPr>
          <p:cNvPr id="217091" name="Text Box 3"/>
          <p:cNvSpPr txBox="1">
            <a:spLocks noChangeArrowheads="1"/>
          </p:cNvSpPr>
          <p:nvPr/>
        </p:nvSpPr>
        <p:spPr bwMode="auto">
          <a:xfrm>
            <a:off x="1235441" y="1426489"/>
            <a:ext cx="9250294" cy="1098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Clr>
                <a:schemeClr val="hlink"/>
              </a:buClr>
              <a:buFont typeface="Wingdings" panose="05000000000000000000" pitchFamily="2" charset="2"/>
              <a:buChar char="Ø"/>
            </a:pPr>
            <a:r>
              <a:rPr lang="en-US" altLang="zh-CN" sz="3085" b="1" dirty="0"/>
              <a:t>  </a:t>
            </a:r>
            <a:r>
              <a:rPr lang="en-US" altLang="zh-CN" sz="3530" b="1" dirty="0">
                <a:solidFill>
                  <a:schemeClr val="folHlink"/>
                </a:solidFill>
                <a:ea typeface="隶书" panose="02010509060101010101" pitchFamily="49" charset="-122"/>
              </a:rPr>
              <a:t>PERT</a:t>
            </a:r>
            <a:r>
              <a:rPr lang="zh-CN" altLang="en-US" sz="3530" b="1" dirty="0">
                <a:solidFill>
                  <a:schemeClr val="folHlink"/>
                </a:solidFill>
                <a:latin typeface="隶书" panose="02010509060101010101" pitchFamily="49" charset="-122"/>
                <a:ea typeface="隶书" panose="02010509060101010101" pitchFamily="49" charset="-122"/>
              </a:rPr>
              <a:t>与</a:t>
            </a:r>
            <a:r>
              <a:rPr lang="en-US" altLang="zh-CN" sz="3530" b="1" dirty="0">
                <a:solidFill>
                  <a:schemeClr val="folHlink"/>
                </a:solidFill>
                <a:ea typeface="隶书" panose="02010509060101010101" pitchFamily="49" charset="-122"/>
              </a:rPr>
              <a:t>CPM</a:t>
            </a:r>
            <a:r>
              <a:rPr lang="zh-CN" altLang="en-US" sz="3530" b="1" dirty="0">
                <a:solidFill>
                  <a:schemeClr val="folHlink"/>
                </a:solidFill>
                <a:ea typeface="隶书" panose="02010509060101010101" pitchFamily="49" charset="-122"/>
              </a:rPr>
              <a:t>（关键路径）</a:t>
            </a:r>
            <a:r>
              <a:rPr lang="zh-CN" altLang="en-US" sz="3530" b="1" dirty="0">
                <a:solidFill>
                  <a:schemeClr val="folHlink"/>
                </a:solidFill>
                <a:latin typeface="隶书" panose="02010509060101010101" pitchFamily="49" charset="-122"/>
                <a:ea typeface="隶书" panose="02010509060101010101" pitchFamily="49" charset="-122"/>
              </a:rPr>
              <a:t>的主要区别：</a:t>
            </a:r>
            <a:endParaRPr lang="zh-CN" altLang="en-US" sz="3530" b="1" dirty="0">
              <a:solidFill>
                <a:schemeClr val="folHlink"/>
              </a:solidFill>
              <a:latin typeface="隶书" panose="02010509060101010101" pitchFamily="49" charset="-122"/>
              <a:ea typeface="隶书" panose="02010509060101010101" pitchFamily="49" charset="-122"/>
            </a:endParaRPr>
          </a:p>
          <a:p>
            <a:pPr algn="l">
              <a:buFontTx/>
              <a:buNone/>
            </a:pPr>
            <a:r>
              <a:rPr lang="zh-CN" altLang="en-US" sz="3085" b="1" dirty="0"/>
              <a:t>    </a:t>
            </a:r>
            <a:r>
              <a:rPr lang="en-US" altLang="zh-CN" sz="3085" b="1" dirty="0">
                <a:solidFill>
                  <a:schemeClr val="tx2"/>
                </a:solidFill>
              </a:rPr>
              <a:t>CPM</a:t>
            </a:r>
            <a:r>
              <a:rPr lang="zh-CN" altLang="en-US" sz="3085" b="1" dirty="0"/>
              <a:t>工序时间是确定的；    </a:t>
            </a:r>
            <a:endParaRPr lang="zh-CN" altLang="en-US" sz="3085" b="1" dirty="0"/>
          </a:p>
        </p:txBody>
      </p:sp>
      <p:grpSp>
        <p:nvGrpSpPr>
          <p:cNvPr id="217104" name="Group 16"/>
          <p:cNvGrpSpPr/>
          <p:nvPr/>
        </p:nvGrpSpPr>
        <p:grpSpPr bwMode="auto">
          <a:xfrm>
            <a:off x="1235440" y="3059510"/>
            <a:ext cx="9901403" cy="1303968"/>
            <a:chOff x="319" y="2581"/>
            <a:chExt cx="5486" cy="745"/>
          </a:xfrm>
        </p:grpSpPr>
        <p:graphicFrame>
          <p:nvGraphicFramePr>
            <p:cNvPr id="217092" name="Object 4"/>
            <p:cNvGraphicFramePr>
              <a:graphicFrameLocks noChangeAspect="1"/>
            </p:cNvGraphicFramePr>
            <p:nvPr/>
          </p:nvGraphicFramePr>
          <p:xfrm>
            <a:off x="3267" y="2916"/>
            <a:ext cx="1785" cy="410"/>
          </p:xfrm>
          <a:graphic>
            <a:graphicData uri="http://schemas.openxmlformats.org/presentationml/2006/ole">
              <mc:AlternateContent xmlns:mc="http://schemas.openxmlformats.org/markup-compatibility/2006">
                <mc:Choice xmlns:v="urn:schemas-microsoft-com:vml" Requires="v">
                  <p:oleObj spid="_x0000_s9221" name="Equation" r:id="rId1" imgW="731520" imgH="175260" progId="Equation.3">
                    <p:embed/>
                  </p:oleObj>
                </mc:Choice>
                <mc:Fallback>
                  <p:oleObj name="Equation" r:id="rId1" imgW="731520" imgH="17526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7" y="2916"/>
                          <a:ext cx="1785" cy="4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7093" name="Rectangle 5"/>
            <p:cNvSpPr>
              <a:spLocks noChangeArrowheads="1"/>
            </p:cNvSpPr>
            <p:nvPr/>
          </p:nvSpPr>
          <p:spPr bwMode="auto">
            <a:xfrm>
              <a:off x="319" y="2581"/>
              <a:ext cx="5486" cy="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lnSpc>
                  <a:spcPct val="130000"/>
                </a:lnSpc>
                <a:buFontTx/>
                <a:buNone/>
              </a:pPr>
              <a:r>
                <a:rPr lang="en-US" altLang="zh-CN" sz="3085" b="1" dirty="0">
                  <a:solidFill>
                    <a:schemeClr val="tx2"/>
                  </a:solidFill>
                </a:rPr>
                <a:t>PERT</a:t>
              </a:r>
              <a:r>
                <a:rPr lang="zh-CN" altLang="en-US" sz="3085" b="1" dirty="0"/>
                <a:t>工序时间</a:t>
              </a:r>
              <a:r>
                <a:rPr lang="en-US" altLang="zh-CN" sz="3085" b="1" i="1" dirty="0" err="1"/>
                <a:t>t</a:t>
              </a:r>
              <a:r>
                <a:rPr lang="en-US" altLang="zh-CN" sz="3085" b="1" i="1" baseline="-25000" dirty="0" err="1"/>
                <a:t>ij</a:t>
              </a:r>
              <a:r>
                <a:rPr lang="en-US" altLang="zh-CN" sz="3085" b="1" i="1" baseline="-25000" dirty="0"/>
                <a:t> </a:t>
              </a:r>
              <a:r>
                <a:rPr lang="zh-CN" altLang="en-US" sz="3085" b="1" dirty="0"/>
                <a:t>是随机变量，而完工期</a:t>
              </a:r>
              <a:r>
                <a:rPr lang="en-US" altLang="zh-CN" sz="3085" b="1" i="1" dirty="0"/>
                <a:t>T </a:t>
              </a:r>
              <a:r>
                <a:rPr lang="zh-CN" altLang="en-US" sz="3085" b="1" dirty="0"/>
                <a:t>也是随机的，由概率知识：</a:t>
              </a:r>
              <a:r>
                <a:rPr lang="en-US" altLang="zh-CN" sz="3085" b="1" i="1" dirty="0"/>
                <a:t>T </a:t>
              </a:r>
              <a:r>
                <a:rPr lang="zh-CN" altLang="en-US" sz="3085" b="1" dirty="0"/>
                <a:t>服从正态分布</a:t>
              </a:r>
              <a:endParaRPr lang="zh-CN" altLang="en-US" sz="3085" b="1" dirty="0"/>
            </a:p>
          </p:txBody>
        </p:sp>
      </p:grpSp>
      <p:grpSp>
        <p:nvGrpSpPr>
          <p:cNvPr id="217105" name="Group 17"/>
          <p:cNvGrpSpPr/>
          <p:nvPr/>
        </p:nvGrpSpPr>
        <p:grpSpPr bwMode="auto">
          <a:xfrm>
            <a:off x="4032406" y="4363482"/>
            <a:ext cx="4478997" cy="2081098"/>
            <a:chOff x="3055" y="1715"/>
            <a:chExt cx="2559" cy="1189"/>
          </a:xfrm>
        </p:grpSpPr>
        <p:grpSp>
          <p:nvGrpSpPr>
            <p:cNvPr id="217106" name="Group 18"/>
            <p:cNvGrpSpPr/>
            <p:nvPr/>
          </p:nvGrpSpPr>
          <p:grpSpPr bwMode="auto">
            <a:xfrm>
              <a:off x="3206" y="1883"/>
              <a:ext cx="1773" cy="684"/>
              <a:chOff x="1519" y="2016"/>
              <a:chExt cx="2055" cy="987"/>
            </a:xfrm>
          </p:grpSpPr>
          <p:sp>
            <p:nvSpPr>
              <p:cNvPr id="217107" name="Freeform 19"/>
              <p:cNvSpPr/>
              <p:nvPr/>
            </p:nvSpPr>
            <p:spPr bwMode="auto">
              <a:xfrm>
                <a:off x="2545" y="2016"/>
                <a:ext cx="1029" cy="987"/>
              </a:xfrm>
              <a:custGeom>
                <a:avLst/>
                <a:gdLst>
                  <a:gd name="T0" fmla="*/ 1029 w 1029"/>
                  <a:gd name="T1" fmla="*/ 987 h 987"/>
                  <a:gd name="T2" fmla="*/ 919 w 1029"/>
                  <a:gd name="T3" fmla="*/ 976 h 987"/>
                  <a:gd name="T4" fmla="*/ 866 w 1029"/>
                  <a:gd name="T5" fmla="*/ 964 h 987"/>
                  <a:gd name="T6" fmla="*/ 812 w 1029"/>
                  <a:gd name="T7" fmla="*/ 949 h 987"/>
                  <a:gd name="T8" fmla="*/ 757 w 1029"/>
                  <a:gd name="T9" fmla="*/ 926 h 987"/>
                  <a:gd name="T10" fmla="*/ 704 w 1029"/>
                  <a:gd name="T11" fmla="*/ 894 h 987"/>
                  <a:gd name="T12" fmla="*/ 649 w 1029"/>
                  <a:gd name="T13" fmla="*/ 854 h 987"/>
                  <a:gd name="T14" fmla="*/ 542 w 1029"/>
                  <a:gd name="T15" fmla="*/ 741 h 987"/>
                  <a:gd name="T16" fmla="*/ 434 w 1029"/>
                  <a:gd name="T17" fmla="*/ 579 h 987"/>
                  <a:gd name="T18" fmla="*/ 325 w 1029"/>
                  <a:gd name="T19" fmla="*/ 385 h 987"/>
                  <a:gd name="T20" fmla="*/ 270 w 1029"/>
                  <a:gd name="T21" fmla="*/ 286 h 987"/>
                  <a:gd name="T22" fmla="*/ 217 w 1029"/>
                  <a:gd name="T23" fmla="*/ 196 h 987"/>
                  <a:gd name="T24" fmla="*/ 163 w 1029"/>
                  <a:gd name="T25" fmla="*/ 116 h 987"/>
                  <a:gd name="T26" fmla="*/ 110 w 1029"/>
                  <a:gd name="T27" fmla="*/ 53 h 987"/>
                  <a:gd name="T28" fmla="*/ 55 w 1029"/>
                  <a:gd name="T29" fmla="*/ 13 h 987"/>
                  <a:gd name="T30" fmla="*/ 0 w 1029"/>
                  <a:gd name="T31" fmla="*/ 0 h 9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9" h="987">
                    <a:moveTo>
                      <a:pt x="1029" y="987"/>
                    </a:moveTo>
                    <a:lnTo>
                      <a:pt x="919" y="976"/>
                    </a:lnTo>
                    <a:lnTo>
                      <a:pt x="866" y="964"/>
                    </a:lnTo>
                    <a:lnTo>
                      <a:pt x="812" y="949"/>
                    </a:lnTo>
                    <a:lnTo>
                      <a:pt x="757" y="926"/>
                    </a:lnTo>
                    <a:lnTo>
                      <a:pt x="704" y="894"/>
                    </a:lnTo>
                    <a:lnTo>
                      <a:pt x="649" y="854"/>
                    </a:lnTo>
                    <a:lnTo>
                      <a:pt x="542" y="741"/>
                    </a:lnTo>
                    <a:lnTo>
                      <a:pt x="434" y="579"/>
                    </a:lnTo>
                    <a:lnTo>
                      <a:pt x="325" y="385"/>
                    </a:lnTo>
                    <a:lnTo>
                      <a:pt x="270" y="286"/>
                    </a:lnTo>
                    <a:lnTo>
                      <a:pt x="217" y="196"/>
                    </a:lnTo>
                    <a:lnTo>
                      <a:pt x="163" y="116"/>
                    </a:lnTo>
                    <a:lnTo>
                      <a:pt x="110" y="53"/>
                    </a:lnTo>
                    <a:lnTo>
                      <a:pt x="55" y="13"/>
                    </a:lnTo>
                    <a:lnTo>
                      <a:pt x="0" y="0"/>
                    </a:lnTo>
                  </a:path>
                </a:pathLst>
              </a:custGeom>
              <a:noFill/>
              <a:ln w="7620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7108" name="Freeform 20"/>
              <p:cNvSpPr/>
              <p:nvPr/>
            </p:nvSpPr>
            <p:spPr bwMode="auto">
              <a:xfrm>
                <a:off x="1519" y="2016"/>
                <a:ext cx="1026" cy="987"/>
              </a:xfrm>
              <a:custGeom>
                <a:avLst/>
                <a:gdLst>
                  <a:gd name="T0" fmla="*/ 0 w 1026"/>
                  <a:gd name="T1" fmla="*/ 987 h 987"/>
                  <a:gd name="T2" fmla="*/ 108 w 1026"/>
                  <a:gd name="T3" fmla="*/ 976 h 987"/>
                  <a:gd name="T4" fmla="*/ 163 w 1026"/>
                  <a:gd name="T5" fmla="*/ 964 h 987"/>
                  <a:gd name="T6" fmla="*/ 215 w 1026"/>
                  <a:gd name="T7" fmla="*/ 949 h 987"/>
                  <a:gd name="T8" fmla="*/ 270 w 1026"/>
                  <a:gd name="T9" fmla="*/ 926 h 987"/>
                  <a:gd name="T10" fmla="*/ 325 w 1026"/>
                  <a:gd name="T11" fmla="*/ 894 h 987"/>
                  <a:gd name="T12" fmla="*/ 378 w 1026"/>
                  <a:gd name="T13" fmla="*/ 854 h 987"/>
                  <a:gd name="T14" fmla="*/ 487 w 1026"/>
                  <a:gd name="T15" fmla="*/ 741 h 987"/>
                  <a:gd name="T16" fmla="*/ 595 w 1026"/>
                  <a:gd name="T17" fmla="*/ 579 h 987"/>
                  <a:gd name="T18" fmla="*/ 702 w 1026"/>
                  <a:gd name="T19" fmla="*/ 385 h 987"/>
                  <a:gd name="T20" fmla="*/ 757 w 1026"/>
                  <a:gd name="T21" fmla="*/ 286 h 987"/>
                  <a:gd name="T22" fmla="*/ 812 w 1026"/>
                  <a:gd name="T23" fmla="*/ 196 h 987"/>
                  <a:gd name="T24" fmla="*/ 864 w 1026"/>
                  <a:gd name="T25" fmla="*/ 116 h 987"/>
                  <a:gd name="T26" fmla="*/ 919 w 1026"/>
                  <a:gd name="T27" fmla="*/ 53 h 987"/>
                  <a:gd name="T28" fmla="*/ 974 w 1026"/>
                  <a:gd name="T29" fmla="*/ 13 h 987"/>
                  <a:gd name="T30" fmla="*/ 1026 w 1026"/>
                  <a:gd name="T31" fmla="*/ 0 h 9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6" h="987">
                    <a:moveTo>
                      <a:pt x="0" y="987"/>
                    </a:moveTo>
                    <a:lnTo>
                      <a:pt x="108" y="976"/>
                    </a:lnTo>
                    <a:lnTo>
                      <a:pt x="163" y="964"/>
                    </a:lnTo>
                    <a:lnTo>
                      <a:pt x="215" y="949"/>
                    </a:lnTo>
                    <a:lnTo>
                      <a:pt x="270" y="926"/>
                    </a:lnTo>
                    <a:lnTo>
                      <a:pt x="325" y="894"/>
                    </a:lnTo>
                    <a:lnTo>
                      <a:pt x="378" y="854"/>
                    </a:lnTo>
                    <a:lnTo>
                      <a:pt x="487" y="741"/>
                    </a:lnTo>
                    <a:lnTo>
                      <a:pt x="595" y="579"/>
                    </a:lnTo>
                    <a:lnTo>
                      <a:pt x="702" y="385"/>
                    </a:lnTo>
                    <a:lnTo>
                      <a:pt x="757" y="286"/>
                    </a:lnTo>
                    <a:lnTo>
                      <a:pt x="812" y="196"/>
                    </a:lnTo>
                    <a:lnTo>
                      <a:pt x="864" y="116"/>
                    </a:lnTo>
                    <a:lnTo>
                      <a:pt x="919" y="53"/>
                    </a:lnTo>
                    <a:lnTo>
                      <a:pt x="974" y="13"/>
                    </a:lnTo>
                    <a:lnTo>
                      <a:pt x="1026" y="0"/>
                    </a:lnTo>
                  </a:path>
                </a:pathLst>
              </a:custGeom>
              <a:noFill/>
              <a:ln w="7620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17109" name="Line 21"/>
            <p:cNvSpPr>
              <a:spLocks noChangeShapeType="1"/>
            </p:cNvSpPr>
            <p:nvPr/>
          </p:nvSpPr>
          <p:spPr bwMode="auto">
            <a:xfrm>
              <a:off x="4096" y="1715"/>
              <a:ext cx="3" cy="966"/>
            </a:xfrm>
            <a:prstGeom prst="line">
              <a:avLst/>
            </a:prstGeom>
            <a:noFill/>
            <a:ln w="28575">
              <a:solidFill>
                <a:schemeClr val="tx1"/>
              </a:solidFill>
              <a:round/>
              <a:headEnd type="arrow" w="med" len="me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217110" name="Group 22"/>
            <p:cNvGrpSpPr/>
            <p:nvPr/>
          </p:nvGrpSpPr>
          <p:grpSpPr bwMode="auto">
            <a:xfrm>
              <a:off x="4090" y="1877"/>
              <a:ext cx="24" cy="726"/>
              <a:chOff x="2736" y="2391"/>
              <a:chExt cx="27" cy="1049"/>
            </a:xfrm>
          </p:grpSpPr>
          <p:sp>
            <p:nvSpPr>
              <p:cNvPr id="217111" name="Line 23"/>
              <p:cNvSpPr>
                <a:spLocks noChangeShapeType="1"/>
              </p:cNvSpPr>
              <p:nvPr/>
            </p:nvSpPr>
            <p:spPr bwMode="auto">
              <a:xfrm>
                <a:off x="2736" y="2391"/>
                <a:ext cx="27" cy="1"/>
              </a:xfrm>
              <a:prstGeom prst="line">
                <a:avLst/>
              </a:prstGeom>
              <a:noFill/>
              <a:ln w="30226">
                <a:solidFill>
                  <a:schemeClr val="tx1"/>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12" name="Line 24"/>
              <p:cNvSpPr>
                <a:spLocks noChangeShapeType="1"/>
              </p:cNvSpPr>
              <p:nvPr/>
            </p:nvSpPr>
            <p:spPr bwMode="auto">
              <a:xfrm>
                <a:off x="2736" y="2599"/>
                <a:ext cx="27" cy="1"/>
              </a:xfrm>
              <a:prstGeom prst="line">
                <a:avLst/>
              </a:prstGeom>
              <a:noFill/>
              <a:ln w="30226">
                <a:solidFill>
                  <a:schemeClr val="tx1"/>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13" name="Line 25"/>
              <p:cNvSpPr>
                <a:spLocks noChangeShapeType="1"/>
              </p:cNvSpPr>
              <p:nvPr/>
            </p:nvSpPr>
            <p:spPr bwMode="auto">
              <a:xfrm>
                <a:off x="2736" y="2809"/>
                <a:ext cx="27" cy="1"/>
              </a:xfrm>
              <a:prstGeom prst="line">
                <a:avLst/>
              </a:prstGeom>
              <a:noFill/>
              <a:ln w="30226">
                <a:solidFill>
                  <a:schemeClr val="tx1"/>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14" name="Line 26"/>
              <p:cNvSpPr>
                <a:spLocks noChangeShapeType="1"/>
              </p:cNvSpPr>
              <p:nvPr/>
            </p:nvSpPr>
            <p:spPr bwMode="auto">
              <a:xfrm>
                <a:off x="2736" y="3020"/>
                <a:ext cx="27" cy="1"/>
              </a:xfrm>
              <a:prstGeom prst="line">
                <a:avLst/>
              </a:prstGeom>
              <a:noFill/>
              <a:ln w="30226">
                <a:solidFill>
                  <a:schemeClr val="tx1"/>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15" name="Line 27"/>
              <p:cNvSpPr>
                <a:spLocks noChangeShapeType="1"/>
              </p:cNvSpPr>
              <p:nvPr/>
            </p:nvSpPr>
            <p:spPr bwMode="auto">
              <a:xfrm>
                <a:off x="2736" y="3230"/>
                <a:ext cx="27" cy="1"/>
              </a:xfrm>
              <a:prstGeom prst="line">
                <a:avLst/>
              </a:prstGeom>
              <a:noFill/>
              <a:ln w="30226">
                <a:solidFill>
                  <a:schemeClr val="tx1"/>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16" name="Line 28"/>
              <p:cNvSpPr>
                <a:spLocks noChangeShapeType="1"/>
              </p:cNvSpPr>
              <p:nvPr/>
            </p:nvSpPr>
            <p:spPr bwMode="auto">
              <a:xfrm>
                <a:off x="2736" y="3439"/>
                <a:ext cx="27" cy="1"/>
              </a:xfrm>
              <a:prstGeom prst="line">
                <a:avLst/>
              </a:prstGeom>
              <a:noFill/>
              <a:ln w="30226">
                <a:solidFill>
                  <a:schemeClr val="tx1"/>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217117" name="Group 29"/>
            <p:cNvGrpSpPr/>
            <p:nvPr/>
          </p:nvGrpSpPr>
          <p:grpSpPr bwMode="auto">
            <a:xfrm>
              <a:off x="3335" y="2610"/>
              <a:ext cx="1693" cy="9"/>
              <a:chOff x="3460" y="3358"/>
              <a:chExt cx="1849" cy="12"/>
            </a:xfrm>
          </p:grpSpPr>
          <p:sp>
            <p:nvSpPr>
              <p:cNvPr id="217118" name="Line 30"/>
              <p:cNvSpPr>
                <a:spLocks noChangeShapeType="1"/>
              </p:cNvSpPr>
              <p:nvPr/>
            </p:nvSpPr>
            <p:spPr bwMode="auto">
              <a:xfrm>
                <a:off x="5308" y="3358"/>
                <a:ext cx="1" cy="12"/>
              </a:xfrm>
              <a:prstGeom prst="line">
                <a:avLst/>
              </a:prstGeom>
              <a:noFill/>
              <a:ln w="30163">
                <a:solidFill>
                  <a:srgbClr val="F0F0F0"/>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19" name="Line 31"/>
              <p:cNvSpPr>
                <a:spLocks noChangeShapeType="1"/>
              </p:cNvSpPr>
              <p:nvPr/>
            </p:nvSpPr>
            <p:spPr bwMode="auto">
              <a:xfrm>
                <a:off x="5104" y="3358"/>
                <a:ext cx="1" cy="12"/>
              </a:xfrm>
              <a:prstGeom prst="line">
                <a:avLst/>
              </a:prstGeom>
              <a:noFill/>
              <a:ln w="30163">
                <a:solidFill>
                  <a:srgbClr val="F0F0F0"/>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20" name="Line 32"/>
              <p:cNvSpPr>
                <a:spLocks noChangeShapeType="1"/>
              </p:cNvSpPr>
              <p:nvPr/>
            </p:nvSpPr>
            <p:spPr bwMode="auto">
              <a:xfrm>
                <a:off x="4897" y="3358"/>
                <a:ext cx="1" cy="12"/>
              </a:xfrm>
              <a:prstGeom prst="line">
                <a:avLst/>
              </a:prstGeom>
              <a:noFill/>
              <a:ln w="30163">
                <a:solidFill>
                  <a:srgbClr val="F0F0F0"/>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21" name="Line 33"/>
              <p:cNvSpPr>
                <a:spLocks noChangeShapeType="1"/>
              </p:cNvSpPr>
              <p:nvPr/>
            </p:nvSpPr>
            <p:spPr bwMode="auto">
              <a:xfrm>
                <a:off x="4693" y="3358"/>
                <a:ext cx="1" cy="12"/>
              </a:xfrm>
              <a:prstGeom prst="line">
                <a:avLst/>
              </a:prstGeom>
              <a:noFill/>
              <a:ln w="30163">
                <a:solidFill>
                  <a:srgbClr val="F0F0F0"/>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22" name="Line 34"/>
              <p:cNvSpPr>
                <a:spLocks noChangeShapeType="1"/>
              </p:cNvSpPr>
              <p:nvPr/>
            </p:nvSpPr>
            <p:spPr bwMode="auto">
              <a:xfrm>
                <a:off x="4486" y="3358"/>
                <a:ext cx="1" cy="12"/>
              </a:xfrm>
              <a:prstGeom prst="line">
                <a:avLst/>
              </a:prstGeom>
              <a:noFill/>
              <a:ln w="30163">
                <a:solidFill>
                  <a:srgbClr val="F0F0F0"/>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23" name="Line 35"/>
              <p:cNvSpPr>
                <a:spLocks noChangeShapeType="1"/>
              </p:cNvSpPr>
              <p:nvPr/>
            </p:nvSpPr>
            <p:spPr bwMode="auto">
              <a:xfrm>
                <a:off x="4282" y="3358"/>
                <a:ext cx="1" cy="12"/>
              </a:xfrm>
              <a:prstGeom prst="line">
                <a:avLst/>
              </a:prstGeom>
              <a:noFill/>
              <a:ln w="30163">
                <a:solidFill>
                  <a:srgbClr val="F0F0F0"/>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24" name="Line 36"/>
              <p:cNvSpPr>
                <a:spLocks noChangeShapeType="1"/>
              </p:cNvSpPr>
              <p:nvPr/>
            </p:nvSpPr>
            <p:spPr bwMode="auto">
              <a:xfrm>
                <a:off x="4076" y="3358"/>
                <a:ext cx="1" cy="12"/>
              </a:xfrm>
              <a:prstGeom prst="line">
                <a:avLst/>
              </a:prstGeom>
              <a:noFill/>
              <a:ln w="30163">
                <a:solidFill>
                  <a:srgbClr val="F0F0F0"/>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25" name="Line 37"/>
              <p:cNvSpPr>
                <a:spLocks noChangeShapeType="1"/>
              </p:cNvSpPr>
              <p:nvPr/>
            </p:nvSpPr>
            <p:spPr bwMode="auto">
              <a:xfrm>
                <a:off x="3871" y="3358"/>
                <a:ext cx="1" cy="12"/>
              </a:xfrm>
              <a:prstGeom prst="line">
                <a:avLst/>
              </a:prstGeom>
              <a:noFill/>
              <a:ln w="30163">
                <a:solidFill>
                  <a:srgbClr val="F0F0F0"/>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26" name="Line 38"/>
              <p:cNvSpPr>
                <a:spLocks noChangeShapeType="1"/>
              </p:cNvSpPr>
              <p:nvPr/>
            </p:nvSpPr>
            <p:spPr bwMode="auto">
              <a:xfrm>
                <a:off x="3665" y="3358"/>
                <a:ext cx="1" cy="12"/>
              </a:xfrm>
              <a:prstGeom prst="line">
                <a:avLst/>
              </a:prstGeom>
              <a:noFill/>
              <a:ln w="30163">
                <a:solidFill>
                  <a:srgbClr val="F0F0F0"/>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7127" name="Line 39"/>
              <p:cNvSpPr>
                <a:spLocks noChangeShapeType="1"/>
              </p:cNvSpPr>
              <p:nvPr/>
            </p:nvSpPr>
            <p:spPr bwMode="auto">
              <a:xfrm>
                <a:off x="3460" y="3358"/>
                <a:ext cx="1" cy="12"/>
              </a:xfrm>
              <a:prstGeom prst="line">
                <a:avLst/>
              </a:prstGeom>
              <a:noFill/>
              <a:ln w="30163">
                <a:solidFill>
                  <a:srgbClr val="F0F0F0"/>
                </a:solidFill>
                <a:round/>
              </a:ln>
              <a:effectLst>
                <a:outerShdw dist="12700" dir="54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217128" name="Rectangle 40"/>
            <p:cNvSpPr>
              <a:spLocks noChangeArrowheads="1"/>
            </p:cNvSpPr>
            <p:nvPr/>
          </p:nvSpPr>
          <p:spPr bwMode="auto">
            <a:xfrm>
              <a:off x="5396" y="2515"/>
              <a:ext cx="2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l" eaLnBrk="0" hangingPunct="0">
                <a:spcBef>
                  <a:spcPct val="0"/>
                </a:spcBef>
                <a:buFontTx/>
                <a:buNone/>
              </a:pPr>
              <a:r>
                <a:rPr lang="en-US" altLang="zh-CN" sz="2645" b="1" i="1"/>
                <a:t>T</a:t>
              </a:r>
              <a:endParaRPr lang="en-US" altLang="zh-CN" sz="2645" b="1" i="1"/>
            </a:p>
          </p:txBody>
        </p:sp>
        <p:sp>
          <p:nvSpPr>
            <p:cNvPr id="217129" name="Text Box 41"/>
            <p:cNvSpPr txBox="1">
              <a:spLocks noChangeArrowheads="1"/>
            </p:cNvSpPr>
            <p:nvPr/>
          </p:nvSpPr>
          <p:spPr bwMode="auto">
            <a:xfrm>
              <a:off x="3960" y="2619"/>
              <a:ext cx="447"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buFontTx/>
                <a:buNone/>
              </a:pPr>
              <a:r>
                <a:rPr lang="en-US" altLang="zh-CN" sz="2645" b="1" i="1">
                  <a:latin typeface="Symbol" panose="05050102010706020507" pitchFamily="18" charset="2"/>
                  <a:sym typeface="Symbol" panose="05050102010706020507" pitchFamily="18" charset="2"/>
                </a:rPr>
                <a:t>T</a:t>
              </a:r>
              <a:r>
                <a:rPr lang="en-US" altLang="zh-CN" sz="2645" b="1" i="1" baseline="-25000">
                  <a:latin typeface="Symbol" panose="05050102010706020507" pitchFamily="18" charset="2"/>
                  <a:sym typeface="Symbol" panose="05050102010706020507" pitchFamily="18" charset="2"/>
                </a:rPr>
                <a:t>E</a:t>
              </a:r>
              <a:endParaRPr lang="en-US" altLang="zh-CN" sz="2645" b="1" baseline="-25000">
                <a:latin typeface="Symbol" panose="05050102010706020507" pitchFamily="18" charset="2"/>
              </a:endParaRPr>
            </a:p>
          </p:txBody>
        </p:sp>
        <p:sp>
          <p:nvSpPr>
            <p:cNvPr id="217130" name="Line 42"/>
            <p:cNvSpPr>
              <a:spLocks noChangeShapeType="1"/>
            </p:cNvSpPr>
            <p:nvPr/>
          </p:nvSpPr>
          <p:spPr bwMode="auto">
            <a:xfrm>
              <a:off x="3055" y="2614"/>
              <a:ext cx="2278" cy="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46" tIns="49008" rIns="19846" bIns="49008"/>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7091">
                                            <p:txEl>
                                              <p:pRg st="0" end="0"/>
                                            </p:txEl>
                                          </p:spTgt>
                                        </p:tgtEl>
                                        <p:attrNameLst>
                                          <p:attrName>style.visibility</p:attrName>
                                        </p:attrNameLst>
                                      </p:cBhvr>
                                      <p:to>
                                        <p:strVal val="visible"/>
                                      </p:to>
                                    </p:set>
                                    <p:anim calcmode="lin" valueType="num">
                                      <p:cBhvr additive="base">
                                        <p:cTn id="7" dur="500" fill="hold"/>
                                        <p:tgtEl>
                                          <p:spTgt spid="217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7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7091">
                                            <p:txEl>
                                              <p:pRg st="1" end="1"/>
                                            </p:txEl>
                                          </p:spTgt>
                                        </p:tgtEl>
                                        <p:attrNameLst>
                                          <p:attrName>style.visibility</p:attrName>
                                        </p:attrNameLst>
                                      </p:cBhvr>
                                      <p:to>
                                        <p:strVal val="visible"/>
                                      </p:to>
                                    </p:set>
                                    <p:anim calcmode="lin" valueType="num">
                                      <p:cBhvr additive="base">
                                        <p:cTn id="13" dur="500" fill="hold"/>
                                        <p:tgtEl>
                                          <p:spTgt spid="2170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70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17104"/>
                                        </p:tgtEl>
                                        <p:attrNameLst>
                                          <p:attrName>style.visibility</p:attrName>
                                        </p:attrNameLst>
                                      </p:cBhvr>
                                      <p:to>
                                        <p:strVal val="visible"/>
                                      </p:to>
                                    </p:set>
                                    <p:anim calcmode="lin" valueType="num">
                                      <p:cBhvr additive="base">
                                        <p:cTn id="19" dur="500" fill="hold"/>
                                        <p:tgtEl>
                                          <p:spTgt spid="217104"/>
                                        </p:tgtEl>
                                        <p:attrNameLst>
                                          <p:attrName>ppt_x</p:attrName>
                                        </p:attrNameLst>
                                      </p:cBhvr>
                                      <p:tavLst>
                                        <p:tav tm="0">
                                          <p:val>
                                            <p:strVal val="0-#ppt_w/2"/>
                                          </p:val>
                                        </p:tav>
                                        <p:tav tm="100000">
                                          <p:val>
                                            <p:strVal val="#ppt_x"/>
                                          </p:val>
                                        </p:tav>
                                      </p:tavLst>
                                    </p:anim>
                                    <p:anim calcmode="lin" valueType="num">
                                      <p:cBhvr additive="base">
                                        <p:cTn id="20" dur="500" fill="hold"/>
                                        <p:tgtEl>
                                          <p:spTgt spid="21710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17105"/>
                                        </p:tgtEl>
                                        <p:attrNameLst>
                                          <p:attrName>style.visibility</p:attrName>
                                        </p:attrNameLst>
                                      </p:cBhvr>
                                      <p:to>
                                        <p:strVal val="visible"/>
                                      </p:to>
                                    </p:set>
                                    <p:animEffect transition="in" filter="wipe(left)">
                                      <p:cBhvr>
                                        <p:cTn id="25" dur="500"/>
                                        <p:tgtEl>
                                          <p:spTgt spid="217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autoUpdateAnimBg="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1951310" y="498833"/>
            <a:ext cx="9889151"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3085" b="1" dirty="0">
                <a:solidFill>
                  <a:srgbClr val="0000CC"/>
                </a:solidFill>
              </a:rPr>
              <a:t>工程工期的概率分析</a:t>
            </a:r>
            <a:r>
              <a:rPr lang="en-US" altLang="zh-CN" sz="3085" b="1" dirty="0">
                <a:solidFill>
                  <a:srgbClr val="0000CC"/>
                </a:solidFill>
              </a:rPr>
              <a:t>——</a:t>
            </a:r>
            <a:r>
              <a:rPr lang="zh-CN" altLang="en-US" sz="3085" b="1" dirty="0">
                <a:solidFill>
                  <a:srgbClr val="0000CC"/>
                </a:solidFill>
              </a:rPr>
              <a:t>计划评审技术（</a:t>
            </a:r>
            <a:r>
              <a:rPr lang="en-US" altLang="zh-CN" sz="3085" b="1" dirty="0">
                <a:solidFill>
                  <a:srgbClr val="0000CC"/>
                </a:solidFill>
              </a:rPr>
              <a:t>PERT</a:t>
            </a:r>
            <a:r>
              <a:rPr lang="zh-CN" altLang="en-US" sz="3085" b="1" dirty="0">
                <a:solidFill>
                  <a:srgbClr val="0000CC"/>
                </a:solidFill>
              </a:rPr>
              <a:t>）</a:t>
            </a:r>
            <a:endParaRPr lang="zh-CN" altLang="en-US" sz="3085" b="1" dirty="0">
              <a:solidFill>
                <a:srgbClr val="0000CC"/>
              </a:solidFill>
            </a:endParaRPr>
          </a:p>
        </p:txBody>
      </p:sp>
      <p:sp>
        <p:nvSpPr>
          <p:cNvPr id="34" name="Rectangle 3"/>
          <p:cNvSpPr>
            <a:spLocks noGrp="1" noChangeArrowheads="1"/>
          </p:cNvSpPr>
          <p:nvPr/>
        </p:nvSpPr>
        <p:spPr bwMode="auto">
          <a:xfrm>
            <a:off x="1391214" y="1344224"/>
            <a:ext cx="9073515" cy="621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817" tIns="50408" rIns="100817" bIns="50408" numCol="1" anchor="t" anchorCtr="0" compatLnSpc="1"/>
          <a:lstStyle>
            <a:lvl1pPr marL="469900" indent="-469900" algn="l" rtl="0" fontAlgn="base">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880" algn="l" rtl="0" fontAlgn="base">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605" algn="l" rtl="0" fontAlgn="base">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4180" indent="-387350" algn="l" rtl="0" fontAlgn="base">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4230" indent="-398780" algn="l" rtl="0" fontAlgn="base">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latinLnBrk="0">
              <a:lnSpc>
                <a:spcPct val="150000"/>
              </a:lnSpc>
              <a:spcBef>
                <a:spcPts val="0"/>
              </a:spcBef>
              <a:buFont typeface="Wingdings" panose="05000000000000000000" pitchFamily="2" charset="2"/>
              <a:buNone/>
            </a:pPr>
            <a:r>
              <a:rPr lang="zh-CN" altLang="en-US" sz="2400" dirty="0">
                <a:solidFill>
                  <a:srgbClr val="FF9900"/>
                </a:solidFill>
                <a:latin typeface="微软雅黑" panose="020B0503020204020204" pitchFamily="34" charset="-122"/>
                <a:ea typeface="微软雅黑" panose="020B0503020204020204" pitchFamily="34" charset="-122"/>
                <a:cs typeface="微软雅黑" panose="020B0503020204020204" pitchFamily="34" charset="-122"/>
              </a:rPr>
              <a:t>单一时间估计法：</a:t>
            </a:r>
            <a:endParaRPr lang="zh-CN" altLang="en-US" sz="2400" dirty="0">
              <a:solidFill>
                <a:srgbClr val="FF99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50000"/>
              </a:lnSpc>
              <a:spcBef>
                <a:spcPts val="0"/>
              </a:spcBef>
              <a:buFont typeface="Wingdings" panose="05000000000000000000" pitchFamily="2" charset="2"/>
              <a:buNone/>
            </a:pPr>
            <a:r>
              <a:rPr lang="zh-CN" altLang="en-US" sz="2400" dirty="0">
                <a:solidFill>
                  <a:srgbClr val="FF99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估计一个最可能工作实现时间，对应于</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CPM</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网络</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50000"/>
              </a:lnSpc>
              <a:spcBef>
                <a:spcPts val="0"/>
              </a:spcBef>
              <a:buFont typeface="Wingdings" panose="05000000000000000000" pitchFamily="2" charset="2"/>
              <a:buNone/>
            </a:pPr>
            <a:r>
              <a:rPr lang="zh-CN" altLang="en-US" sz="2400" dirty="0">
                <a:solidFill>
                  <a:srgbClr val="FF9900"/>
                </a:solidFill>
                <a:latin typeface="微软雅黑" panose="020B0503020204020204" pitchFamily="34" charset="-122"/>
                <a:ea typeface="微软雅黑" panose="020B0503020204020204" pitchFamily="34" charset="-122"/>
                <a:cs typeface="微软雅黑" panose="020B0503020204020204" pitchFamily="34" charset="-122"/>
              </a:rPr>
              <a:t>三个时间估计法</a:t>
            </a:r>
            <a:r>
              <a:rPr lang="en-US" altLang="zh-CN" sz="2400" dirty="0">
                <a:solidFill>
                  <a:srgbClr val="FF99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solidFill>
                <a:srgbClr val="FF99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50000"/>
              </a:lnSpc>
              <a:spcBef>
                <a:spcPts val="0"/>
              </a:spcBef>
              <a:buFont typeface="Wingdings" panose="05000000000000000000" pitchFamily="2" charset="2"/>
              <a:buNone/>
            </a:pPr>
            <a:r>
              <a:rPr lang="en-US" altLang="zh-CN" sz="2400" dirty="0">
                <a:solidFill>
                  <a:srgbClr val="FF99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估计工作执行的三个时间，乐观时间</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o</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、悲观时间</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、最大可能估计时间</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，对应于</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PERT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网络   </a:t>
            </a:r>
            <a:r>
              <a:rPr lang="zh-CN" altLang="en-US" sz="2400" dirty="0">
                <a:solidFill>
                  <a:srgbClr val="FF9900"/>
                </a:solidFill>
                <a:latin typeface="微软雅黑" panose="020B0503020204020204" pitchFamily="34" charset="-122"/>
                <a:ea typeface="微软雅黑" panose="020B0503020204020204" pitchFamily="34" charset="-122"/>
                <a:cs typeface="微软雅黑" panose="020B0503020204020204" pitchFamily="34" charset="-122"/>
              </a:rPr>
              <a:t>期望时间  </a:t>
            </a:r>
            <a:r>
              <a:rPr lang="el-GR" altLang="zh-CN" sz="24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μ</a:t>
            </a:r>
            <a:r>
              <a:rPr lang="zh-CN" altLang="en-US" sz="2400" dirty="0">
                <a:solidFill>
                  <a:srgbClr val="FF99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FF9900"/>
                </a:solidFill>
                <a:latin typeface="微软雅黑" panose="020B0503020204020204" pitchFamily="34" charset="-122"/>
                <a:ea typeface="微软雅黑" panose="020B0503020204020204" pitchFamily="34" charset="-122"/>
                <a:cs typeface="微软雅黑" panose="020B0503020204020204" pitchFamily="34" charset="-122"/>
              </a:rPr>
              <a:t>(o+4m+P)/6</a:t>
            </a:r>
            <a:endParaRPr lang="en-US" altLang="zh-CN" sz="2400" dirty="0">
              <a:solidFill>
                <a:srgbClr val="FF99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1951310" y="498833"/>
            <a:ext cx="9889151"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3085" b="1" dirty="0">
                <a:solidFill>
                  <a:srgbClr val="0000CC"/>
                </a:solidFill>
              </a:rPr>
              <a:t>工程工期的概率分析</a:t>
            </a:r>
            <a:r>
              <a:rPr lang="en-US" altLang="zh-CN" sz="3085" b="1" dirty="0">
                <a:solidFill>
                  <a:srgbClr val="0000CC"/>
                </a:solidFill>
              </a:rPr>
              <a:t>——</a:t>
            </a:r>
            <a:r>
              <a:rPr lang="zh-CN" altLang="en-US" sz="3085" b="1" dirty="0">
                <a:solidFill>
                  <a:srgbClr val="0000CC"/>
                </a:solidFill>
              </a:rPr>
              <a:t>计划评审技术（</a:t>
            </a:r>
            <a:r>
              <a:rPr lang="en-US" altLang="zh-CN" sz="3085" b="1" dirty="0">
                <a:solidFill>
                  <a:srgbClr val="0000CC"/>
                </a:solidFill>
              </a:rPr>
              <a:t>PERT</a:t>
            </a:r>
            <a:r>
              <a:rPr lang="zh-CN" altLang="en-US" sz="3085" b="1" dirty="0">
                <a:solidFill>
                  <a:srgbClr val="0000CC"/>
                </a:solidFill>
              </a:rPr>
              <a:t>）</a:t>
            </a:r>
            <a:endParaRPr lang="zh-CN" altLang="en-US" sz="3085" b="1" dirty="0">
              <a:solidFill>
                <a:srgbClr val="0000CC"/>
              </a:solidFill>
            </a:endParaRPr>
          </a:p>
        </p:txBody>
      </p:sp>
      <p:sp>
        <p:nvSpPr>
          <p:cNvPr id="2" name="矩形 1"/>
          <p:cNvSpPr/>
          <p:nvPr/>
        </p:nvSpPr>
        <p:spPr>
          <a:xfrm>
            <a:off x="1951309" y="1344225"/>
            <a:ext cx="7687284" cy="923330"/>
          </a:xfrm>
          <a:prstGeom prst="rect">
            <a:avLst/>
          </a:prstGeom>
        </p:spPr>
        <p:txBody>
          <a:bodyPr wrap="square">
            <a:spAutoFit/>
          </a:bodyPr>
          <a:lstStyle/>
          <a:p>
            <a:r>
              <a:rPr lang="en-US" altLang="zh-CN" b="0" i="0" dirty="0">
                <a:solidFill>
                  <a:srgbClr val="4D4D4D"/>
                </a:solidFill>
                <a:effectLst/>
                <a:latin typeface="微软雅黑" panose="020B0503020204020204" pitchFamily="34" charset="-122"/>
                <a:ea typeface="微软雅黑" panose="020B0503020204020204" pitchFamily="34" charset="-122"/>
              </a:rPr>
              <a:t>P </a:t>
            </a:r>
            <a:r>
              <a:rPr lang="zh-CN" altLang="en-US" b="0" i="0" dirty="0">
                <a:solidFill>
                  <a:srgbClr val="4D4D4D"/>
                </a:solidFill>
                <a:effectLst/>
                <a:latin typeface="微软雅黑" panose="020B0503020204020204" pitchFamily="34" charset="-122"/>
                <a:ea typeface="微软雅黑" panose="020B0503020204020204" pitchFamily="34" charset="-122"/>
              </a:rPr>
              <a:t>代表最悲观工期 </a:t>
            </a:r>
            <a:r>
              <a:rPr lang="en-US" altLang="zh-CN" b="0" i="0" dirty="0">
                <a:solidFill>
                  <a:srgbClr val="4D4D4D"/>
                </a:solidFill>
                <a:effectLst/>
                <a:latin typeface="微软雅黑" panose="020B0503020204020204" pitchFamily="34" charset="-122"/>
                <a:ea typeface="微软雅黑" panose="020B0503020204020204" pitchFamily="34" charset="-122"/>
              </a:rPr>
              <a:t>pessimistic</a:t>
            </a:r>
            <a:br>
              <a:rPr lang="en-US" altLang="zh-CN" b="0" i="0" dirty="0">
                <a:solidFill>
                  <a:srgbClr val="4D4D4D"/>
                </a:solidFill>
                <a:effectLst/>
                <a:latin typeface="微软雅黑" panose="020B0503020204020204" pitchFamily="34" charset="-122"/>
                <a:ea typeface="微软雅黑" panose="020B0503020204020204" pitchFamily="34" charset="-122"/>
              </a:rPr>
            </a:br>
            <a:r>
              <a:rPr lang="en-US" altLang="zh-CN" b="0" i="0" dirty="0">
                <a:solidFill>
                  <a:srgbClr val="4D4D4D"/>
                </a:solidFill>
                <a:effectLst/>
                <a:latin typeface="微软雅黑" panose="020B0503020204020204" pitchFamily="34" charset="-122"/>
                <a:ea typeface="微软雅黑" panose="020B0503020204020204" pitchFamily="34" charset="-122"/>
              </a:rPr>
              <a:t>M </a:t>
            </a:r>
            <a:r>
              <a:rPr lang="zh-CN" altLang="en-US" b="0" i="0" dirty="0">
                <a:solidFill>
                  <a:srgbClr val="4D4D4D"/>
                </a:solidFill>
                <a:effectLst/>
                <a:latin typeface="微软雅黑" panose="020B0503020204020204" pitchFamily="34" charset="-122"/>
                <a:ea typeface="微软雅黑" panose="020B0503020204020204" pitchFamily="34" charset="-122"/>
              </a:rPr>
              <a:t>代表最可能工期 </a:t>
            </a:r>
            <a:r>
              <a:rPr lang="en-US" altLang="zh-CN" b="0" i="0" dirty="0">
                <a:solidFill>
                  <a:srgbClr val="4D4D4D"/>
                </a:solidFill>
                <a:effectLst/>
                <a:latin typeface="微软雅黑" panose="020B0503020204020204" pitchFamily="34" charset="-122"/>
                <a:ea typeface="微软雅黑" panose="020B0503020204020204" pitchFamily="34" charset="-122"/>
              </a:rPr>
              <a:t>may</a:t>
            </a:r>
            <a:br>
              <a:rPr lang="en-US" altLang="zh-CN" b="0" i="0" dirty="0">
                <a:solidFill>
                  <a:srgbClr val="4D4D4D"/>
                </a:solidFill>
                <a:effectLst/>
                <a:latin typeface="微软雅黑" panose="020B0503020204020204" pitchFamily="34" charset="-122"/>
                <a:ea typeface="微软雅黑" panose="020B0503020204020204" pitchFamily="34" charset="-122"/>
              </a:rPr>
            </a:br>
            <a:r>
              <a:rPr lang="en-US" altLang="zh-CN" b="0" i="0" dirty="0">
                <a:solidFill>
                  <a:srgbClr val="4D4D4D"/>
                </a:solidFill>
                <a:effectLst/>
                <a:latin typeface="微软雅黑" panose="020B0503020204020204" pitchFamily="34" charset="-122"/>
                <a:ea typeface="微软雅黑" panose="020B0503020204020204" pitchFamily="34" charset="-122"/>
              </a:rPr>
              <a:t>O </a:t>
            </a:r>
            <a:r>
              <a:rPr lang="zh-CN" altLang="en-US" b="0" i="0" dirty="0">
                <a:solidFill>
                  <a:srgbClr val="4D4D4D"/>
                </a:solidFill>
                <a:effectLst/>
                <a:latin typeface="微软雅黑" panose="020B0503020204020204" pitchFamily="34" charset="-122"/>
                <a:ea typeface="微软雅黑" panose="020B0503020204020204" pitchFamily="34" charset="-122"/>
              </a:rPr>
              <a:t>代表最乐观工期 </a:t>
            </a:r>
            <a:r>
              <a:rPr lang="en-US" altLang="zh-CN" b="0" i="0" dirty="0">
                <a:solidFill>
                  <a:srgbClr val="4D4D4D"/>
                </a:solidFill>
                <a:effectLst/>
                <a:latin typeface="微软雅黑" panose="020B0503020204020204" pitchFamily="34" charset="-122"/>
                <a:ea typeface="微软雅黑" panose="020B0503020204020204" pitchFamily="34" charset="-122"/>
              </a:rPr>
              <a:t>optimistic</a:t>
            </a:r>
            <a:endParaRPr lang="en-US" altLang="zh-CN" b="0" i="0" dirty="0">
              <a:solidFill>
                <a:srgbClr val="4D4D4D"/>
              </a:solidFill>
              <a:effectLst/>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316389" y="2638089"/>
            <a:ext cx="9158761" cy="292274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1667761" y="90158"/>
            <a:ext cx="9889151"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3085" b="1" dirty="0">
                <a:solidFill>
                  <a:srgbClr val="0000CC"/>
                </a:solidFill>
              </a:rPr>
              <a:t>工程工期的概率分析</a:t>
            </a:r>
            <a:r>
              <a:rPr lang="en-US" altLang="zh-CN" sz="3085" b="1" dirty="0">
                <a:solidFill>
                  <a:srgbClr val="0000CC"/>
                </a:solidFill>
              </a:rPr>
              <a:t>——</a:t>
            </a:r>
            <a:r>
              <a:rPr lang="zh-CN" altLang="en-US" sz="3085" b="1" dirty="0">
                <a:solidFill>
                  <a:srgbClr val="0000CC"/>
                </a:solidFill>
              </a:rPr>
              <a:t>计划评审技术（</a:t>
            </a:r>
            <a:r>
              <a:rPr lang="en-US" altLang="zh-CN" sz="3085" b="1" dirty="0">
                <a:solidFill>
                  <a:srgbClr val="0000CC"/>
                </a:solidFill>
              </a:rPr>
              <a:t>PERT</a:t>
            </a:r>
            <a:r>
              <a:rPr lang="zh-CN" altLang="en-US" sz="3085" b="1" dirty="0">
                <a:solidFill>
                  <a:srgbClr val="0000CC"/>
                </a:solidFill>
              </a:rPr>
              <a:t>）</a:t>
            </a:r>
            <a:endParaRPr lang="zh-CN" altLang="en-US" sz="3085" b="1" dirty="0">
              <a:solidFill>
                <a:srgbClr val="0000CC"/>
              </a:solidFill>
            </a:endParaRPr>
          </a:p>
        </p:txBody>
      </p:sp>
      <p:pic>
        <p:nvPicPr>
          <p:cNvPr id="276482" name="Picture 2" descr="https://img-blog.csdnimg.cn/20190417125430462.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3959" y="783670"/>
            <a:ext cx="6104529" cy="6316492"/>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6671945" y="1176020"/>
            <a:ext cx="5276215" cy="3149600"/>
          </a:xfrm>
          <a:prstGeom prst="rect">
            <a:avLst/>
          </a:prstGeom>
        </p:spPr>
        <p:txBody>
          <a:bodyPr wrap="square">
            <a:spAutoFit/>
          </a:bodyPr>
          <a:lstStyle/>
          <a:p>
            <a:pPr marL="0" indent="0" latinLnBrk="0">
              <a:lnSpc>
                <a:spcPct val="150000"/>
              </a:lnSpc>
            </a:pPr>
            <a:r>
              <a:rPr lang="zh-CN" altLang="en-US" sz="2205" dirty="0"/>
              <a:t>用PERT公式计算出来的是完成某活动的平均工期，即有50%的可能性在该工期内完成。用正态统计分布图，工期落在平均工期1个标准差范围之内的概率是68.26%,2个标准差之内的概率是95.46%,3个标准差的概率是99.73%</a:t>
            </a:r>
            <a:endParaRPr lang="zh-CN" altLang="en-US" sz="220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1667761" y="90158"/>
            <a:ext cx="9889151"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3085" b="1" dirty="0">
                <a:solidFill>
                  <a:srgbClr val="0000CC"/>
                </a:solidFill>
              </a:rPr>
              <a:t>工程工期的概率分析</a:t>
            </a:r>
            <a:r>
              <a:rPr lang="en-US" altLang="zh-CN" sz="3085" b="1" dirty="0">
                <a:solidFill>
                  <a:srgbClr val="0000CC"/>
                </a:solidFill>
              </a:rPr>
              <a:t>——</a:t>
            </a:r>
            <a:r>
              <a:rPr lang="zh-CN" altLang="en-US" sz="3085" b="1" dirty="0">
                <a:solidFill>
                  <a:srgbClr val="0000CC"/>
                </a:solidFill>
              </a:rPr>
              <a:t>计划评审技术（</a:t>
            </a:r>
            <a:r>
              <a:rPr lang="en-US" altLang="zh-CN" sz="3085" b="1" dirty="0">
                <a:solidFill>
                  <a:srgbClr val="0000CC"/>
                </a:solidFill>
              </a:rPr>
              <a:t>PERT</a:t>
            </a:r>
            <a:r>
              <a:rPr lang="zh-CN" altLang="en-US" sz="3085" b="1" dirty="0">
                <a:solidFill>
                  <a:srgbClr val="0000CC"/>
                </a:solidFill>
              </a:rPr>
              <a:t>）</a:t>
            </a:r>
            <a:endParaRPr lang="zh-CN" altLang="en-US" sz="3085" b="1" dirty="0">
              <a:solidFill>
                <a:srgbClr val="0000CC"/>
              </a:solidFill>
            </a:endParaRPr>
          </a:p>
        </p:txBody>
      </p:sp>
      <p:sp>
        <p:nvSpPr>
          <p:cNvPr id="7" name="矩形 6"/>
          <p:cNvSpPr/>
          <p:nvPr/>
        </p:nvSpPr>
        <p:spPr>
          <a:xfrm>
            <a:off x="2651425" y="1680280"/>
            <a:ext cx="6889150" cy="1477328"/>
          </a:xfrm>
          <a:prstGeom prst="rect">
            <a:avLst/>
          </a:prstGeom>
        </p:spPr>
        <p:txBody>
          <a:bodyPr wrap="square">
            <a:spAutoFit/>
          </a:bodyPr>
          <a:lstStyle/>
          <a:p>
            <a:pPr>
              <a:buNone/>
            </a:pPr>
            <a:br>
              <a:rPr lang="zh-CN" altLang="en-US" dirty="0"/>
            </a:br>
            <a:r>
              <a:rPr lang="zh-CN" altLang="en-US" b="0" i="0" dirty="0">
                <a:solidFill>
                  <a:srgbClr val="4D4D4D"/>
                </a:solidFill>
                <a:effectLst/>
                <a:latin typeface="微软雅黑" panose="020B0503020204020204" pitchFamily="34" charset="-122"/>
                <a:ea typeface="微软雅黑" panose="020B0503020204020204" pitchFamily="34" charset="-122"/>
              </a:rPr>
              <a:t>平均值：</a:t>
            </a:r>
            <a:r>
              <a:rPr lang="el-GR" altLang="zh-CN" b="0" i="0" dirty="0">
                <a:solidFill>
                  <a:srgbClr val="4D4D4D"/>
                </a:solidFill>
                <a:effectLst/>
                <a:latin typeface="微软雅黑" panose="020B0503020204020204" pitchFamily="34" charset="-122"/>
                <a:ea typeface="微软雅黑" panose="020B0503020204020204" pitchFamily="34" charset="-122"/>
              </a:rPr>
              <a:t>μ</a:t>
            </a:r>
            <a:br>
              <a:rPr lang="el-GR" altLang="zh-CN" dirty="0"/>
            </a:br>
            <a:r>
              <a:rPr lang="en-US" altLang="zh-CN" b="0" i="0" dirty="0">
                <a:solidFill>
                  <a:srgbClr val="4D4D4D"/>
                </a:solidFill>
                <a:effectLst/>
                <a:latin typeface="微软雅黑" panose="020B0503020204020204" pitchFamily="34" charset="-122"/>
                <a:ea typeface="微软雅黑" panose="020B0503020204020204" pitchFamily="34" charset="-122"/>
              </a:rPr>
              <a:t>P</a:t>
            </a:r>
            <a:r>
              <a:rPr lang="zh-CN" altLang="en-US" b="0" i="0" dirty="0">
                <a:solidFill>
                  <a:srgbClr val="4D4D4D"/>
                </a:solidFill>
                <a:effectLst/>
                <a:latin typeface="微软雅黑" panose="020B0503020204020204" pitchFamily="34" charset="-122"/>
                <a:ea typeface="微软雅黑" panose="020B0503020204020204" pitchFamily="34" charset="-122"/>
              </a:rPr>
              <a:t>（</a:t>
            </a:r>
            <a:r>
              <a:rPr lang="el-GR" altLang="zh-CN" b="0" i="0" dirty="0">
                <a:solidFill>
                  <a:srgbClr val="4D4D4D"/>
                </a:solidFill>
                <a:effectLst/>
                <a:latin typeface="微软雅黑" panose="020B0503020204020204" pitchFamily="34" charset="-122"/>
                <a:ea typeface="微软雅黑" panose="020B0503020204020204" pitchFamily="34" charset="-122"/>
              </a:rPr>
              <a:t>μ-σ</a:t>
            </a:r>
            <a:r>
              <a:rPr lang="zh-CN" altLang="el-GR" b="0" i="0" dirty="0">
                <a:solidFill>
                  <a:srgbClr val="4D4D4D"/>
                </a:solidFill>
                <a:effectLst/>
                <a:latin typeface="微软雅黑" panose="020B0503020204020204" pitchFamily="34" charset="-122"/>
                <a:ea typeface="微软雅黑" panose="020B0503020204020204" pitchFamily="34" charset="-122"/>
              </a:rPr>
              <a:t>，</a:t>
            </a:r>
            <a:r>
              <a:rPr lang="el-GR" altLang="zh-CN" b="0" i="0" dirty="0">
                <a:solidFill>
                  <a:srgbClr val="4D4D4D"/>
                </a:solidFill>
                <a:effectLst/>
                <a:latin typeface="微软雅黑" panose="020B0503020204020204" pitchFamily="34" charset="-122"/>
                <a:ea typeface="微软雅黑" panose="020B0503020204020204" pitchFamily="34" charset="-122"/>
              </a:rPr>
              <a:t>μ+σ</a:t>
            </a:r>
            <a:r>
              <a:rPr lang="zh-CN" altLang="el-GR" b="0" i="0" dirty="0">
                <a:solidFill>
                  <a:srgbClr val="4D4D4D"/>
                </a:solidFill>
                <a:effectLst/>
                <a:latin typeface="微软雅黑" panose="020B0503020204020204" pitchFamily="34" charset="-122"/>
                <a:ea typeface="微软雅黑" panose="020B0503020204020204" pitchFamily="34" charset="-122"/>
              </a:rPr>
              <a:t>）</a:t>
            </a:r>
            <a:r>
              <a:rPr lang="el-GR" altLang="zh-CN" b="0" i="0" dirty="0">
                <a:solidFill>
                  <a:srgbClr val="4D4D4D"/>
                </a:solidFill>
                <a:effectLst/>
                <a:latin typeface="微软雅黑" panose="020B0503020204020204" pitchFamily="34" charset="-122"/>
                <a:ea typeface="微软雅黑" panose="020B0503020204020204" pitchFamily="34" charset="-122"/>
              </a:rPr>
              <a:t>= 68.26%</a:t>
            </a:r>
            <a:br>
              <a:rPr lang="el-GR" altLang="zh-CN" dirty="0"/>
            </a:br>
            <a:r>
              <a:rPr lang="en-US" altLang="zh-CN" b="0" i="0" dirty="0">
                <a:solidFill>
                  <a:srgbClr val="4D4D4D"/>
                </a:solidFill>
                <a:effectLst/>
                <a:latin typeface="微软雅黑" panose="020B0503020204020204" pitchFamily="34" charset="-122"/>
                <a:ea typeface="微软雅黑" panose="020B0503020204020204" pitchFamily="34" charset="-122"/>
              </a:rPr>
              <a:t>P</a:t>
            </a:r>
            <a:r>
              <a:rPr lang="zh-CN" altLang="en-US" b="0" i="0" dirty="0">
                <a:solidFill>
                  <a:srgbClr val="4D4D4D"/>
                </a:solidFill>
                <a:effectLst/>
                <a:latin typeface="微软雅黑" panose="020B0503020204020204" pitchFamily="34" charset="-122"/>
                <a:ea typeface="微软雅黑" panose="020B0503020204020204" pitchFamily="34" charset="-122"/>
              </a:rPr>
              <a:t>（</a:t>
            </a:r>
            <a:r>
              <a:rPr lang="el-GR" altLang="zh-CN" b="0" i="0" dirty="0">
                <a:solidFill>
                  <a:srgbClr val="4D4D4D"/>
                </a:solidFill>
                <a:effectLst/>
                <a:latin typeface="微软雅黑" panose="020B0503020204020204" pitchFamily="34" charset="-122"/>
                <a:ea typeface="微软雅黑" panose="020B0503020204020204" pitchFamily="34" charset="-122"/>
              </a:rPr>
              <a:t>μ-2σ</a:t>
            </a:r>
            <a:r>
              <a:rPr lang="zh-CN" altLang="el-GR" b="0" i="0" dirty="0">
                <a:solidFill>
                  <a:srgbClr val="4D4D4D"/>
                </a:solidFill>
                <a:effectLst/>
                <a:latin typeface="微软雅黑" panose="020B0503020204020204" pitchFamily="34" charset="-122"/>
                <a:ea typeface="微软雅黑" panose="020B0503020204020204" pitchFamily="34" charset="-122"/>
              </a:rPr>
              <a:t>，</a:t>
            </a:r>
            <a:r>
              <a:rPr lang="el-GR" altLang="zh-CN" b="0" i="0" dirty="0">
                <a:solidFill>
                  <a:srgbClr val="4D4D4D"/>
                </a:solidFill>
                <a:effectLst/>
                <a:latin typeface="微软雅黑" panose="020B0503020204020204" pitchFamily="34" charset="-122"/>
                <a:ea typeface="微软雅黑" panose="020B0503020204020204" pitchFamily="34" charset="-122"/>
              </a:rPr>
              <a:t>μ+2σ</a:t>
            </a:r>
            <a:r>
              <a:rPr lang="zh-CN" altLang="el-GR" b="0" i="0" dirty="0">
                <a:solidFill>
                  <a:srgbClr val="4D4D4D"/>
                </a:solidFill>
                <a:effectLst/>
                <a:latin typeface="微软雅黑" panose="020B0503020204020204" pitchFamily="34" charset="-122"/>
                <a:ea typeface="微软雅黑" panose="020B0503020204020204" pitchFamily="34" charset="-122"/>
              </a:rPr>
              <a:t>）</a:t>
            </a:r>
            <a:r>
              <a:rPr lang="el-GR" altLang="zh-CN" b="0" i="0" dirty="0">
                <a:solidFill>
                  <a:srgbClr val="4D4D4D"/>
                </a:solidFill>
                <a:effectLst/>
                <a:latin typeface="微软雅黑" panose="020B0503020204020204" pitchFamily="34" charset="-122"/>
                <a:ea typeface="微软雅黑" panose="020B0503020204020204" pitchFamily="34" charset="-122"/>
              </a:rPr>
              <a:t>= 95.46%</a:t>
            </a:r>
            <a:br>
              <a:rPr lang="el-GR" altLang="zh-CN" dirty="0"/>
            </a:br>
            <a:r>
              <a:rPr lang="en-US" altLang="zh-CN" b="0" i="0" dirty="0">
                <a:solidFill>
                  <a:srgbClr val="4D4D4D"/>
                </a:solidFill>
                <a:effectLst/>
                <a:latin typeface="微软雅黑" panose="020B0503020204020204" pitchFamily="34" charset="-122"/>
                <a:ea typeface="微软雅黑" panose="020B0503020204020204" pitchFamily="34" charset="-122"/>
              </a:rPr>
              <a:t>P</a:t>
            </a:r>
            <a:r>
              <a:rPr lang="zh-CN" altLang="en-US" b="0" i="0" dirty="0">
                <a:solidFill>
                  <a:srgbClr val="4D4D4D"/>
                </a:solidFill>
                <a:effectLst/>
                <a:latin typeface="微软雅黑" panose="020B0503020204020204" pitchFamily="34" charset="-122"/>
                <a:ea typeface="微软雅黑" panose="020B0503020204020204" pitchFamily="34" charset="-122"/>
              </a:rPr>
              <a:t>（</a:t>
            </a:r>
            <a:r>
              <a:rPr lang="el-GR" altLang="zh-CN" b="0" i="0" dirty="0">
                <a:solidFill>
                  <a:srgbClr val="4D4D4D"/>
                </a:solidFill>
                <a:effectLst/>
                <a:latin typeface="微软雅黑" panose="020B0503020204020204" pitchFamily="34" charset="-122"/>
                <a:ea typeface="微软雅黑" panose="020B0503020204020204" pitchFamily="34" charset="-122"/>
              </a:rPr>
              <a:t>μ-3σ</a:t>
            </a:r>
            <a:r>
              <a:rPr lang="zh-CN" altLang="el-GR" b="0" i="0" dirty="0">
                <a:solidFill>
                  <a:srgbClr val="4D4D4D"/>
                </a:solidFill>
                <a:effectLst/>
                <a:latin typeface="微软雅黑" panose="020B0503020204020204" pitchFamily="34" charset="-122"/>
                <a:ea typeface="微软雅黑" panose="020B0503020204020204" pitchFamily="34" charset="-122"/>
              </a:rPr>
              <a:t>，</a:t>
            </a:r>
            <a:r>
              <a:rPr lang="el-GR" altLang="zh-CN" b="0" i="0" dirty="0">
                <a:solidFill>
                  <a:srgbClr val="4D4D4D"/>
                </a:solidFill>
                <a:effectLst/>
                <a:latin typeface="微软雅黑" panose="020B0503020204020204" pitchFamily="34" charset="-122"/>
                <a:ea typeface="微软雅黑" panose="020B0503020204020204" pitchFamily="34" charset="-122"/>
              </a:rPr>
              <a:t>μ+3σ</a:t>
            </a:r>
            <a:r>
              <a:rPr lang="zh-CN" altLang="el-GR" b="0" i="0" dirty="0">
                <a:solidFill>
                  <a:srgbClr val="4D4D4D"/>
                </a:solidFill>
                <a:effectLst/>
                <a:latin typeface="微软雅黑" panose="020B0503020204020204" pitchFamily="34" charset="-122"/>
                <a:ea typeface="微软雅黑" panose="020B0503020204020204" pitchFamily="34" charset="-122"/>
              </a:rPr>
              <a:t>）</a:t>
            </a:r>
            <a:r>
              <a:rPr lang="el-GR" altLang="zh-CN" b="0" i="0" dirty="0">
                <a:solidFill>
                  <a:srgbClr val="4D4D4D"/>
                </a:solidFill>
                <a:effectLst/>
                <a:latin typeface="微软雅黑" panose="020B0503020204020204" pitchFamily="34" charset="-122"/>
                <a:ea typeface="微软雅黑" panose="020B0503020204020204" pitchFamily="34" charset="-122"/>
              </a:rPr>
              <a:t>= 99.73%</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1667761" y="90158"/>
            <a:ext cx="9889151"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3085" b="1" dirty="0">
                <a:solidFill>
                  <a:srgbClr val="0000CC"/>
                </a:solidFill>
              </a:rPr>
              <a:t>工程工期的概率分析</a:t>
            </a:r>
            <a:r>
              <a:rPr lang="en-US" altLang="zh-CN" sz="3085" b="1" dirty="0">
                <a:solidFill>
                  <a:srgbClr val="0000CC"/>
                </a:solidFill>
              </a:rPr>
              <a:t>——</a:t>
            </a:r>
            <a:r>
              <a:rPr lang="zh-CN" altLang="en-US" sz="3085" b="1" dirty="0">
                <a:solidFill>
                  <a:srgbClr val="0000CC"/>
                </a:solidFill>
              </a:rPr>
              <a:t>计划评审技术（</a:t>
            </a:r>
            <a:r>
              <a:rPr lang="en-US" altLang="zh-CN" sz="3085" b="1" dirty="0">
                <a:solidFill>
                  <a:srgbClr val="0000CC"/>
                </a:solidFill>
              </a:rPr>
              <a:t>PERT</a:t>
            </a:r>
            <a:r>
              <a:rPr lang="zh-CN" altLang="en-US" sz="3085" b="1" dirty="0">
                <a:solidFill>
                  <a:srgbClr val="0000CC"/>
                </a:solidFill>
              </a:rPr>
              <a:t>）</a:t>
            </a:r>
            <a:endParaRPr lang="zh-CN" altLang="en-US" sz="3085" b="1" dirty="0">
              <a:solidFill>
                <a:srgbClr val="0000CC"/>
              </a:solidFill>
            </a:endParaRPr>
          </a:p>
        </p:txBody>
      </p:sp>
      <p:sp>
        <p:nvSpPr>
          <p:cNvPr id="2" name="矩形 1"/>
          <p:cNvSpPr/>
          <p:nvPr/>
        </p:nvSpPr>
        <p:spPr>
          <a:xfrm>
            <a:off x="443344" y="720113"/>
            <a:ext cx="11305309" cy="6121035"/>
          </a:xfrm>
          <a:prstGeom prst="rect">
            <a:avLst/>
          </a:prstGeom>
        </p:spPr>
        <p:txBody>
          <a:bodyPr wrap="square">
            <a:spAutoFit/>
          </a:bodyPr>
          <a:lstStyle/>
          <a:p>
            <a:pPr>
              <a:lnSpc>
                <a:spcPct val="150000"/>
              </a:lnSpc>
            </a:pPr>
            <a:r>
              <a:rPr lang="zh-CN" altLang="en-US" sz="2400" dirty="0">
                <a:latin typeface="微软雅黑" panose="020B0503020204020204" pitchFamily="34" charset="-122"/>
              </a:rPr>
              <a:t>常规考法</a:t>
            </a:r>
            <a:r>
              <a:rPr lang="en-US" altLang="zh-CN" sz="2400" dirty="0">
                <a:latin typeface="微软雅黑" panose="020B0503020204020204" pitchFamily="34" charset="-122"/>
              </a:rPr>
              <a:t>1</a:t>
            </a:r>
            <a:r>
              <a:rPr lang="zh-CN" altLang="en-US" sz="2400" dirty="0">
                <a:latin typeface="微软雅黑" panose="020B0503020204020204" pitchFamily="34" charset="-122"/>
              </a:rPr>
              <a:t>：完成活动</a:t>
            </a:r>
            <a:r>
              <a:rPr lang="en-US" altLang="zh-CN" sz="2400" dirty="0">
                <a:latin typeface="微软雅黑" panose="020B0503020204020204" pitchFamily="34" charset="-122"/>
              </a:rPr>
              <a:t>A</a:t>
            </a:r>
            <a:r>
              <a:rPr lang="zh-CN" altLang="en-US" sz="2400" dirty="0">
                <a:latin typeface="微软雅黑" panose="020B0503020204020204" pitchFamily="34" charset="-122"/>
              </a:rPr>
              <a:t>悲观估计</a:t>
            </a:r>
            <a:r>
              <a:rPr lang="en-US" altLang="zh-CN" sz="2400" dirty="0">
                <a:latin typeface="微软雅黑" panose="020B0503020204020204" pitchFamily="34" charset="-122"/>
              </a:rPr>
              <a:t>36</a:t>
            </a:r>
            <a:r>
              <a:rPr lang="zh-CN" altLang="en-US" sz="2400" dirty="0">
                <a:latin typeface="微软雅黑" panose="020B0503020204020204" pitchFamily="34" charset="-122"/>
              </a:rPr>
              <a:t>天，最可能估计</a:t>
            </a:r>
            <a:r>
              <a:rPr lang="en-US" altLang="zh-CN" sz="2400" dirty="0">
                <a:latin typeface="微软雅黑" panose="020B0503020204020204" pitchFamily="34" charset="-122"/>
              </a:rPr>
              <a:t>21</a:t>
            </a:r>
            <a:r>
              <a:rPr lang="zh-CN" altLang="en-US" sz="2400" dirty="0">
                <a:latin typeface="微软雅黑" panose="020B0503020204020204" pitchFamily="34" charset="-122"/>
              </a:rPr>
              <a:t>天，乐观估计</a:t>
            </a:r>
            <a:r>
              <a:rPr lang="en-US" altLang="zh-CN" sz="2400" dirty="0">
                <a:latin typeface="微软雅黑" panose="020B0503020204020204" pitchFamily="34" charset="-122"/>
              </a:rPr>
              <a:t>6</a:t>
            </a:r>
            <a:r>
              <a:rPr lang="zh-CN" altLang="en-US" sz="2400" dirty="0">
                <a:latin typeface="微软雅黑" panose="020B0503020204020204" pitchFamily="34" charset="-122"/>
              </a:rPr>
              <a:t>天，求该活动的期望完成时间。</a:t>
            </a:r>
            <a:endParaRPr lang="zh-CN" altLang="en-US" sz="2400" dirty="0">
              <a:latin typeface="微软雅黑" panose="020B0503020204020204" pitchFamily="34" charset="-122"/>
            </a:endParaRPr>
          </a:p>
          <a:p>
            <a:pPr>
              <a:lnSpc>
                <a:spcPct val="150000"/>
              </a:lnSpc>
            </a:pPr>
            <a:r>
              <a:rPr lang="zh-CN" altLang="en-US" sz="2400" dirty="0">
                <a:latin typeface="微软雅黑" panose="020B0503020204020204" pitchFamily="34" charset="-122"/>
              </a:rPr>
              <a:t>      解： </a:t>
            </a:r>
            <a:r>
              <a:rPr lang="en-US" altLang="zh-CN" sz="2400" dirty="0">
                <a:latin typeface="微软雅黑" panose="020B0503020204020204" pitchFamily="34" charset="-122"/>
              </a:rPr>
              <a:t>T(e) =</a:t>
            </a:r>
            <a:r>
              <a:rPr lang="zh-CN" altLang="en-US" sz="2400" dirty="0">
                <a:latin typeface="微软雅黑" panose="020B0503020204020204" pitchFamily="34" charset="-122"/>
              </a:rPr>
              <a:t>（</a:t>
            </a:r>
            <a:r>
              <a:rPr lang="en-US" altLang="zh-CN" sz="2400" dirty="0">
                <a:latin typeface="微软雅黑" panose="020B0503020204020204" pitchFamily="34" charset="-122"/>
              </a:rPr>
              <a:t>36+21*4+6</a:t>
            </a:r>
            <a:r>
              <a:rPr lang="zh-CN" altLang="en-US" sz="2400" dirty="0">
                <a:latin typeface="微软雅黑" panose="020B0503020204020204" pitchFamily="34" charset="-122"/>
              </a:rPr>
              <a:t>）</a:t>
            </a:r>
            <a:r>
              <a:rPr lang="en-US" altLang="zh-CN" sz="2400" dirty="0">
                <a:latin typeface="微软雅黑" panose="020B0503020204020204" pitchFamily="34" charset="-122"/>
              </a:rPr>
              <a:t>/ 6 =21</a:t>
            </a:r>
            <a:r>
              <a:rPr lang="zh-CN" altLang="en-US" sz="2400" dirty="0">
                <a:latin typeface="微软雅黑" panose="020B0503020204020204" pitchFamily="34" charset="-122"/>
              </a:rPr>
              <a:t>（天）</a:t>
            </a:r>
            <a:endParaRPr lang="zh-CN" altLang="en-US" sz="2400" dirty="0">
              <a:latin typeface="微软雅黑" panose="020B0503020204020204" pitchFamily="34" charset="-122"/>
            </a:endParaRPr>
          </a:p>
          <a:p>
            <a:pPr>
              <a:lnSpc>
                <a:spcPct val="150000"/>
              </a:lnSpc>
            </a:pPr>
            <a:r>
              <a:rPr lang="zh-CN" altLang="en-US" sz="2400" dirty="0">
                <a:latin typeface="微软雅黑" panose="020B0503020204020204" pitchFamily="34" charset="-122"/>
              </a:rPr>
              <a:t>         常规考法</a:t>
            </a:r>
            <a:r>
              <a:rPr lang="en-US" altLang="zh-CN" sz="2400" dirty="0">
                <a:latin typeface="微软雅黑" panose="020B0503020204020204" pitchFamily="34" charset="-122"/>
              </a:rPr>
              <a:t>2</a:t>
            </a:r>
            <a:r>
              <a:rPr lang="zh-CN" altLang="en-US" sz="2400" dirty="0">
                <a:latin typeface="微软雅黑" panose="020B0503020204020204" pitchFamily="34" charset="-122"/>
              </a:rPr>
              <a:t>：完成活动</a:t>
            </a:r>
            <a:r>
              <a:rPr lang="en-US" altLang="zh-CN" sz="2400" dirty="0">
                <a:latin typeface="微软雅黑" panose="020B0503020204020204" pitchFamily="34" charset="-122"/>
              </a:rPr>
              <a:t>A</a:t>
            </a:r>
            <a:r>
              <a:rPr lang="zh-CN" altLang="en-US" sz="2400" dirty="0">
                <a:latin typeface="微软雅黑" panose="020B0503020204020204" pitchFamily="34" charset="-122"/>
              </a:rPr>
              <a:t>悲观估计</a:t>
            </a:r>
            <a:r>
              <a:rPr lang="en-US" altLang="zh-CN" sz="2400" dirty="0">
                <a:latin typeface="微软雅黑" panose="020B0503020204020204" pitchFamily="34" charset="-122"/>
              </a:rPr>
              <a:t>36</a:t>
            </a:r>
            <a:r>
              <a:rPr lang="zh-CN" altLang="en-US" sz="2400" dirty="0">
                <a:latin typeface="微软雅黑" panose="020B0503020204020204" pitchFamily="34" charset="-122"/>
              </a:rPr>
              <a:t>天，最可能估计</a:t>
            </a:r>
            <a:r>
              <a:rPr lang="en-US" altLang="zh-CN" sz="2400" dirty="0">
                <a:latin typeface="微软雅黑" panose="020B0503020204020204" pitchFamily="34" charset="-122"/>
              </a:rPr>
              <a:t>21</a:t>
            </a:r>
            <a:r>
              <a:rPr lang="zh-CN" altLang="en-US" sz="2400" dirty="0">
                <a:latin typeface="微软雅黑" panose="020B0503020204020204" pitchFamily="34" charset="-122"/>
              </a:rPr>
              <a:t>天，乐观估计</a:t>
            </a:r>
            <a:r>
              <a:rPr lang="en-US" altLang="zh-CN" sz="2400" dirty="0">
                <a:latin typeface="微软雅黑" panose="020B0503020204020204" pitchFamily="34" charset="-122"/>
              </a:rPr>
              <a:t>6</a:t>
            </a:r>
            <a:r>
              <a:rPr lang="zh-CN" altLang="en-US" sz="2400" dirty="0">
                <a:latin typeface="微软雅黑" panose="020B0503020204020204" pitchFamily="34" charset="-122"/>
              </a:rPr>
              <a:t>天，求标准差。</a:t>
            </a:r>
            <a:endParaRPr lang="zh-CN" altLang="en-US" sz="2400" dirty="0">
              <a:latin typeface="微软雅黑" panose="020B0503020204020204" pitchFamily="34" charset="-122"/>
            </a:endParaRPr>
          </a:p>
          <a:p>
            <a:pPr>
              <a:lnSpc>
                <a:spcPct val="150000"/>
              </a:lnSpc>
            </a:pPr>
            <a:r>
              <a:rPr lang="zh-CN" altLang="en-US" sz="2400" dirty="0">
                <a:latin typeface="微软雅黑" panose="020B0503020204020204" pitchFamily="34" charset="-122"/>
              </a:rPr>
              <a:t>      解： </a:t>
            </a:r>
            <a:r>
              <a:rPr lang="en-US" altLang="zh-CN" sz="2400" dirty="0">
                <a:latin typeface="微软雅黑" panose="020B0503020204020204" pitchFamily="34" charset="-122"/>
              </a:rPr>
              <a:t>σ = (36 - 6) / 6= 5</a:t>
            </a:r>
            <a:r>
              <a:rPr lang="zh-CN" altLang="en-US" sz="2400" dirty="0">
                <a:latin typeface="微软雅黑" panose="020B0503020204020204" pitchFamily="34" charset="-122"/>
              </a:rPr>
              <a:t>（天）</a:t>
            </a:r>
            <a:endParaRPr lang="zh-CN" altLang="en-US" sz="2400" dirty="0">
              <a:latin typeface="微软雅黑" panose="020B0503020204020204" pitchFamily="34" charset="-122"/>
            </a:endParaRPr>
          </a:p>
          <a:p>
            <a:pPr>
              <a:lnSpc>
                <a:spcPct val="150000"/>
              </a:lnSpc>
            </a:pPr>
            <a:r>
              <a:rPr lang="zh-CN" altLang="en-US" sz="2400" dirty="0">
                <a:latin typeface="微软雅黑" panose="020B0503020204020204" pitchFamily="34" charset="-122"/>
              </a:rPr>
              <a:t>      常规考法</a:t>
            </a:r>
            <a:r>
              <a:rPr lang="en-US" altLang="zh-CN" sz="2400" dirty="0">
                <a:latin typeface="微软雅黑" panose="020B0503020204020204" pitchFamily="34" charset="-122"/>
              </a:rPr>
              <a:t>3</a:t>
            </a:r>
            <a:r>
              <a:rPr lang="zh-CN" altLang="en-US" sz="2400" dirty="0">
                <a:latin typeface="微软雅黑" panose="020B0503020204020204" pitchFamily="34" charset="-122"/>
              </a:rPr>
              <a:t>：完成活动</a:t>
            </a:r>
            <a:r>
              <a:rPr lang="en-US" altLang="zh-CN" sz="2400" dirty="0">
                <a:latin typeface="微软雅黑" panose="020B0503020204020204" pitchFamily="34" charset="-122"/>
              </a:rPr>
              <a:t>A</a:t>
            </a:r>
            <a:r>
              <a:rPr lang="zh-CN" altLang="en-US" sz="2400" dirty="0">
                <a:latin typeface="微软雅黑" panose="020B0503020204020204" pitchFamily="34" charset="-122"/>
              </a:rPr>
              <a:t>悲观估计</a:t>
            </a:r>
            <a:r>
              <a:rPr lang="en-US" altLang="zh-CN" sz="2400" dirty="0">
                <a:latin typeface="微软雅黑" panose="020B0503020204020204" pitchFamily="34" charset="-122"/>
              </a:rPr>
              <a:t>36</a:t>
            </a:r>
            <a:r>
              <a:rPr lang="zh-CN" altLang="en-US" sz="2400" dirty="0">
                <a:latin typeface="微软雅黑" panose="020B0503020204020204" pitchFamily="34" charset="-122"/>
              </a:rPr>
              <a:t>天，最可能估计</a:t>
            </a:r>
            <a:r>
              <a:rPr lang="en-US" altLang="zh-CN" sz="2400" dirty="0">
                <a:latin typeface="微软雅黑" panose="020B0503020204020204" pitchFamily="34" charset="-122"/>
              </a:rPr>
              <a:t>21</a:t>
            </a:r>
            <a:r>
              <a:rPr lang="zh-CN" altLang="en-US" sz="2400" dirty="0">
                <a:latin typeface="微软雅黑" panose="020B0503020204020204" pitchFamily="34" charset="-122"/>
              </a:rPr>
              <a:t>天，乐观估计</a:t>
            </a:r>
            <a:r>
              <a:rPr lang="en-US" altLang="zh-CN" sz="2400" dirty="0">
                <a:latin typeface="微软雅黑" panose="020B0503020204020204" pitchFamily="34" charset="-122"/>
              </a:rPr>
              <a:t>6</a:t>
            </a:r>
            <a:r>
              <a:rPr lang="zh-CN" altLang="en-US" sz="2400" dirty="0">
                <a:latin typeface="微软雅黑" panose="020B0503020204020204" pitchFamily="34" charset="-122"/>
              </a:rPr>
              <a:t>天，活动</a:t>
            </a:r>
            <a:r>
              <a:rPr lang="en-US" altLang="zh-CN" sz="2400" dirty="0">
                <a:latin typeface="微软雅黑" panose="020B0503020204020204" pitchFamily="34" charset="-122"/>
              </a:rPr>
              <a:t>A</a:t>
            </a:r>
            <a:r>
              <a:rPr lang="zh-CN" altLang="en-US" sz="2400" dirty="0">
                <a:latin typeface="微软雅黑" panose="020B0503020204020204" pitchFamily="34" charset="-122"/>
              </a:rPr>
              <a:t>在</a:t>
            </a:r>
            <a:r>
              <a:rPr lang="en-US" altLang="zh-CN" sz="2400" dirty="0">
                <a:latin typeface="微软雅黑" panose="020B0503020204020204" pitchFamily="34" charset="-122"/>
              </a:rPr>
              <a:t>16</a:t>
            </a:r>
            <a:r>
              <a:rPr lang="zh-CN" altLang="en-US" sz="2400" dirty="0">
                <a:latin typeface="微软雅黑" panose="020B0503020204020204" pitchFamily="34" charset="-122"/>
              </a:rPr>
              <a:t>天到</a:t>
            </a:r>
            <a:r>
              <a:rPr lang="en-US" altLang="zh-CN" sz="2400" dirty="0">
                <a:latin typeface="微软雅黑" panose="020B0503020204020204" pitchFamily="34" charset="-122"/>
              </a:rPr>
              <a:t>26</a:t>
            </a:r>
            <a:r>
              <a:rPr lang="zh-CN" altLang="en-US" sz="2400" dirty="0">
                <a:latin typeface="微软雅黑" panose="020B0503020204020204" pitchFamily="34" charset="-122"/>
              </a:rPr>
              <a:t>天内完成的概率是多少？</a:t>
            </a:r>
            <a:endParaRPr lang="en-US" altLang="zh-CN" sz="2400" dirty="0">
              <a:latin typeface="微软雅黑" panose="020B0503020204020204" pitchFamily="34" charset="-122"/>
            </a:endParaRPr>
          </a:p>
          <a:p>
            <a:pPr>
              <a:lnSpc>
                <a:spcPct val="150000"/>
              </a:lnSpc>
            </a:pPr>
            <a:r>
              <a:rPr lang="zh-CN" altLang="en-US" sz="2400" dirty="0">
                <a:latin typeface="微软雅黑" panose="020B0503020204020204" pitchFamily="34" charset="-122"/>
              </a:rPr>
              <a:t>解：根据正态分布，</a:t>
            </a:r>
            <a:r>
              <a:rPr lang="en-US" altLang="zh-CN" sz="2400" dirty="0">
                <a:latin typeface="微软雅黑" panose="020B0503020204020204" pitchFamily="34" charset="-122"/>
              </a:rPr>
              <a:t>16(21-5)~26(21+5)</a:t>
            </a:r>
            <a:r>
              <a:rPr lang="zh-CN" altLang="en-US" sz="2400" dirty="0">
                <a:latin typeface="微软雅黑" panose="020B0503020204020204" pitchFamily="34" charset="-122"/>
              </a:rPr>
              <a:t>这个区间范围内的概率都是</a:t>
            </a:r>
            <a:r>
              <a:rPr lang="en-US" altLang="zh-CN" sz="2400" dirty="0">
                <a:latin typeface="微软雅黑" panose="020B0503020204020204" pitchFamily="34" charset="-122"/>
              </a:rPr>
              <a:t>68.26%</a:t>
            </a:r>
            <a:r>
              <a:rPr lang="zh-CN" altLang="en-US" sz="2400" dirty="0">
                <a:latin typeface="微软雅黑" panose="020B0503020204020204" pitchFamily="34" charset="-122"/>
              </a:rPr>
              <a:t>。</a:t>
            </a:r>
            <a:endParaRPr lang="en-US" altLang="zh-CN" sz="2400" dirty="0">
              <a:latin typeface="微软雅黑" panose="020B0503020204020204" pitchFamily="34" charset="-122"/>
            </a:endParaRPr>
          </a:p>
          <a:p>
            <a:pPr>
              <a:lnSpc>
                <a:spcPct val="150000"/>
              </a:lnSpc>
            </a:pPr>
            <a:r>
              <a:rPr lang="zh-CN" altLang="en-US" sz="2400" dirty="0">
                <a:latin typeface="微软雅黑" panose="020B0503020204020204" pitchFamily="34" charset="-122"/>
              </a:rPr>
              <a:t>注：在正负一个标准差的概率有 </a:t>
            </a:r>
            <a:r>
              <a:rPr lang="en-US" altLang="zh-CN" sz="2400" dirty="0">
                <a:latin typeface="微软雅黑" panose="020B0503020204020204" pitchFamily="34" charset="-122"/>
              </a:rPr>
              <a:t>68.26%</a:t>
            </a:r>
            <a:r>
              <a:rPr lang="zh-CN" altLang="en-US" sz="2400" dirty="0">
                <a:latin typeface="微软雅黑" panose="020B0503020204020204" pitchFamily="34" charset="-122"/>
              </a:rPr>
              <a:t>，所以活动</a:t>
            </a:r>
            <a:r>
              <a:rPr lang="en-US" altLang="zh-CN" sz="2400" dirty="0">
                <a:latin typeface="微软雅黑" panose="020B0503020204020204" pitchFamily="34" charset="-122"/>
              </a:rPr>
              <a:t>A</a:t>
            </a:r>
            <a:r>
              <a:rPr lang="zh-CN" altLang="en-US" sz="2400" dirty="0">
                <a:latin typeface="微软雅黑" panose="020B0503020204020204" pitchFamily="34" charset="-122"/>
              </a:rPr>
              <a:t>在</a:t>
            </a:r>
            <a:r>
              <a:rPr lang="en-US" altLang="zh-CN" sz="2400" dirty="0">
                <a:latin typeface="微软雅黑" panose="020B0503020204020204" pitchFamily="34" charset="-122"/>
              </a:rPr>
              <a:t>16</a:t>
            </a:r>
            <a:r>
              <a:rPr lang="zh-CN" altLang="en-US" sz="2400" dirty="0">
                <a:latin typeface="微软雅黑" panose="020B0503020204020204" pitchFamily="34" charset="-122"/>
              </a:rPr>
              <a:t>天到</a:t>
            </a:r>
            <a:r>
              <a:rPr lang="en-US" altLang="zh-CN" sz="2400" dirty="0">
                <a:latin typeface="微软雅黑" panose="020B0503020204020204" pitchFamily="34" charset="-122"/>
              </a:rPr>
              <a:t>26</a:t>
            </a:r>
            <a:r>
              <a:rPr lang="zh-CN" altLang="en-US" sz="2400" dirty="0">
                <a:latin typeface="微软雅黑" panose="020B0503020204020204" pitchFamily="34" charset="-122"/>
              </a:rPr>
              <a:t>天内完成的概率是</a:t>
            </a:r>
            <a:r>
              <a:rPr lang="en-US" altLang="zh-CN" sz="2400" dirty="0">
                <a:latin typeface="微软雅黑" panose="020B0503020204020204" pitchFamily="34" charset="-122"/>
              </a:rPr>
              <a:t>68.26%</a:t>
            </a:r>
            <a:r>
              <a:rPr lang="zh-CN" altLang="en-US" sz="2400" dirty="0">
                <a:latin typeface="微软雅黑" panose="020B0503020204020204" pitchFamily="34" charset="-122"/>
              </a:rPr>
              <a:t>。</a:t>
            </a:r>
            <a:endParaRPr lang="zh-CN" altLang="en-US" sz="2400" dirty="0">
              <a:latin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1951310" y="498833"/>
            <a:ext cx="9889151"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zh-CN" altLang="en-US" sz="3085" b="1" dirty="0">
                <a:solidFill>
                  <a:srgbClr val="0000CC"/>
                </a:solidFill>
              </a:rPr>
              <a:t>工程工期的概率分析</a:t>
            </a:r>
            <a:r>
              <a:rPr lang="en-US" altLang="zh-CN" sz="3085" b="1" dirty="0">
                <a:solidFill>
                  <a:srgbClr val="0000CC"/>
                </a:solidFill>
              </a:rPr>
              <a:t>——</a:t>
            </a:r>
            <a:r>
              <a:rPr lang="zh-CN" altLang="en-US" sz="3085" b="1" dirty="0">
                <a:solidFill>
                  <a:srgbClr val="0000CC"/>
                </a:solidFill>
              </a:rPr>
              <a:t>计划评审技术（</a:t>
            </a:r>
            <a:r>
              <a:rPr lang="en-US" altLang="zh-CN" sz="3085" b="1" dirty="0">
                <a:solidFill>
                  <a:srgbClr val="0000CC"/>
                </a:solidFill>
              </a:rPr>
              <a:t>PERT</a:t>
            </a:r>
            <a:r>
              <a:rPr lang="zh-CN" altLang="en-US" sz="3085" b="1" dirty="0">
                <a:solidFill>
                  <a:srgbClr val="0000CC"/>
                </a:solidFill>
              </a:rPr>
              <a:t>）</a:t>
            </a:r>
            <a:endParaRPr lang="zh-CN" altLang="en-US" sz="3085" b="1" dirty="0">
              <a:solidFill>
                <a:srgbClr val="0000CC"/>
              </a:solidFill>
            </a:endParaRPr>
          </a:p>
        </p:txBody>
      </p:sp>
      <p:sp>
        <p:nvSpPr>
          <p:cNvPr id="17" name="Rectangle 2"/>
          <p:cNvSpPr txBox="1">
            <a:spLocks noChangeArrowheads="1"/>
          </p:cNvSpPr>
          <p:nvPr/>
        </p:nvSpPr>
        <p:spPr>
          <a:xfrm>
            <a:off x="1534795" y="1082675"/>
            <a:ext cx="8821420" cy="647700"/>
          </a:xfrm>
          <a:prstGeom prst="rect">
            <a:avLst/>
          </a:prstGeom>
        </p:spPr>
        <p:txBody>
          <a:bodyPr/>
          <a:lstStyle>
            <a:lvl1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cs typeface="+mj-cs"/>
              </a:defRPr>
            </a:lvl1pPr>
            <a:lvl2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2pPr>
            <a:lvl3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3pPr>
            <a:lvl4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4pPr>
            <a:lvl5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5pPr>
            <a:lvl6pPr marL="457200" algn="l" defTabSz="1097280" rtl="0" fontAlgn="base">
              <a:spcBef>
                <a:spcPct val="0"/>
              </a:spcBef>
              <a:spcAft>
                <a:spcPct val="0"/>
              </a:spcAft>
              <a:defRPr sz="3600" b="1">
                <a:solidFill>
                  <a:srgbClr val="0E207F"/>
                </a:solidFill>
                <a:latin typeface="Tahoma" panose="020B0604030504040204" pitchFamily="34" charset="0"/>
              </a:defRPr>
            </a:lvl6pPr>
            <a:lvl7pPr marL="914400" algn="l" defTabSz="1097280" rtl="0" fontAlgn="base">
              <a:spcBef>
                <a:spcPct val="0"/>
              </a:spcBef>
              <a:spcAft>
                <a:spcPct val="0"/>
              </a:spcAft>
              <a:defRPr sz="3600" b="1">
                <a:solidFill>
                  <a:srgbClr val="0E207F"/>
                </a:solidFill>
                <a:latin typeface="Tahoma" panose="020B0604030504040204" pitchFamily="34" charset="0"/>
              </a:defRPr>
            </a:lvl7pPr>
            <a:lvl8pPr marL="1371600" algn="l" defTabSz="1097280" rtl="0" fontAlgn="base">
              <a:spcBef>
                <a:spcPct val="0"/>
              </a:spcBef>
              <a:spcAft>
                <a:spcPct val="0"/>
              </a:spcAft>
              <a:defRPr sz="3600" b="1">
                <a:solidFill>
                  <a:srgbClr val="0E207F"/>
                </a:solidFill>
                <a:latin typeface="Tahoma" panose="020B0604030504040204" pitchFamily="34" charset="0"/>
              </a:defRPr>
            </a:lvl8pPr>
            <a:lvl9pPr marL="1828800" algn="l" defTabSz="1097280" rtl="0" fontAlgn="base">
              <a:spcBef>
                <a:spcPct val="0"/>
              </a:spcBef>
              <a:spcAft>
                <a:spcPct val="0"/>
              </a:spcAft>
              <a:defRPr sz="3600" b="1">
                <a:solidFill>
                  <a:srgbClr val="0E207F"/>
                </a:solidFill>
                <a:latin typeface="Tahoma" panose="020B0604030504040204" pitchFamily="34" charset="0"/>
              </a:defRPr>
            </a:lvl9pPr>
          </a:lstStyle>
          <a:p>
            <a:pPr>
              <a:lnSpc>
                <a:spcPct val="100000"/>
              </a:lnSpc>
              <a:buNone/>
            </a:pPr>
            <a:r>
              <a:rPr lang="zh-CN" altLang="en-US" sz="2645" kern="0" dirty="0"/>
              <a:t>科信建筑公司项目中每一个活动的均值和方差</a:t>
            </a:r>
            <a:endParaRPr lang="zh-CN" altLang="en-US" sz="2645" kern="0" dirty="0"/>
          </a:p>
        </p:txBody>
      </p:sp>
      <p:graphicFrame>
        <p:nvGraphicFramePr>
          <p:cNvPr id="18" name="Group 109"/>
          <p:cNvGraphicFramePr/>
          <p:nvPr>
            <p:custDataLst>
              <p:tags r:id="rId1"/>
            </p:custDataLst>
          </p:nvPr>
        </p:nvGraphicFramePr>
        <p:xfrm>
          <a:off x="668655" y="1623060"/>
          <a:ext cx="10952480" cy="5433695"/>
        </p:xfrm>
        <a:graphic>
          <a:graphicData uri="http://schemas.openxmlformats.org/drawingml/2006/table">
            <a:tbl>
              <a:tblPr/>
              <a:tblGrid>
                <a:gridCol w="1066800"/>
                <a:gridCol w="1887220"/>
                <a:gridCol w="1887855"/>
                <a:gridCol w="1731645"/>
                <a:gridCol w="2205355"/>
                <a:gridCol w="2173605"/>
              </a:tblGrid>
              <a:tr h="782955">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活动</a:t>
                      </a:r>
                      <a:endParaRPr kumimoji="0" lang="zh-CN" altLang="en-US"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marL="100817" marR="100817" marT="50408" marB="504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乐观估计时间</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o</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marL="100817" marR="100817" marT="50408" marB="504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最大可能时间</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m</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marL="100817" marR="100817" marT="50408" marB="504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悲观估计时间</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p</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marL="100817" marR="100817" marT="50408" marB="504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均值</a:t>
                      </a:r>
                      <a:r>
                        <a:rPr kumimoji="0" lang="el-GR" altLang="zh-CN" sz="1600" b="1" i="0" u="none" strike="noStrike" cap="none" normalizeH="0" baseline="0">
                          <a:ln>
                            <a:noFill/>
                          </a:ln>
                          <a:solidFill>
                            <a:schemeClr val="tx2"/>
                          </a:solidFill>
                          <a:effectLst/>
                          <a:latin typeface="Verdana" panose="020B0604030504040204" pitchFamily="34" charset="0"/>
                          <a:ea typeface="宋体" panose="02010600030101010101" pitchFamily="2" charset="-122"/>
                        </a:rPr>
                        <a:t>μ</a:t>
                      </a:r>
                      <a:r>
                        <a:rPr kumimoji="0" lang="en-US" altLang="zh-CN" sz="1600" b="1" i="0" u="none" strike="noStrike" cap="none" normalizeH="0" baseline="0">
                          <a:ln>
                            <a:noFill/>
                          </a:ln>
                          <a:solidFill>
                            <a:schemeClr val="tx2"/>
                          </a:solidFill>
                          <a:effectLst/>
                          <a:latin typeface="Verdana" panose="020B060403050404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(o+4m+P)/6</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marL="100817" marR="100817" marT="50408" marB="504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方差</a:t>
                      </a:r>
                      <a:endPar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marL="100817" marR="100817" marT="50408" marB="504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650740">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A</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B</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C</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D</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E</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F</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G</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H</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I</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J</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K</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L</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M</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N</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100817" marR="100817" marT="50408" marB="504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6</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5</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5</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3</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3</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5</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100817" marR="100817" marT="50408" marB="504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3.5</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5.5</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4.5</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6.5</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8</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7.5</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5.5</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5.5</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100817" marR="100817" marT="50408" marB="504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8</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18</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11</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17</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100817" marR="100817" marT="50408" marB="504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6</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5</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7</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9</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7</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8</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5</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6</a:t>
                      </a:r>
                      <a:endPar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100817" marR="100817" marT="50408" marB="504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600">
                          <a:solidFill>
                            <a:schemeClr val="tx1"/>
                          </a:solidFill>
                          <a:latin typeface="Verdana" panose="020B0604030504040204" pitchFamily="34" charset="0"/>
                          <a:ea typeface="宋体" panose="02010600030101010101" pitchFamily="2" charset="-122"/>
                        </a:defRPr>
                      </a:lvl1pPr>
                      <a:lvl2pPr marL="471805">
                        <a:spcBef>
                          <a:spcPct val="20000"/>
                        </a:spcBef>
                        <a:buClr>
                          <a:schemeClr val="accent2"/>
                        </a:buClr>
                        <a:buFont typeface="Wingdings" panose="05000000000000000000" pitchFamily="2" charset="2"/>
                        <a:defRPr sz="2200">
                          <a:solidFill>
                            <a:schemeClr val="tx1"/>
                          </a:solidFill>
                          <a:latin typeface="Verdana" panose="020B0604030504040204" pitchFamily="34" charset="0"/>
                          <a:ea typeface="宋体" panose="02010600030101010101" pitchFamily="2" charset="-122"/>
                        </a:defRPr>
                      </a:lvl2pPr>
                      <a:lvl3pPr marL="909955">
                        <a:spcBef>
                          <a:spcPct val="20000"/>
                        </a:spcBef>
                        <a:buClr>
                          <a:schemeClr val="accent2"/>
                        </a:buClr>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3pPr>
                      <a:lvl4pPr marL="1306830">
                        <a:spcBef>
                          <a:spcPct val="20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marL="1695450">
                        <a:spcBef>
                          <a:spcPct val="25000"/>
                        </a:spcBef>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1526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6098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0670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524250" fontAlgn="base">
                        <a:spcBef>
                          <a:spcPct val="25000"/>
                        </a:spcBef>
                        <a:spcAft>
                          <a:spcPct val="0"/>
                        </a:spcAft>
                        <a:buClr>
                          <a:schemeClr val="accent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1/9</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0</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1/9</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100817" marR="100817" marT="50408" marB="504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1480073" y="84014"/>
            <a:ext cx="9889151"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en-US" altLang="zh-CN" sz="3085" b="1" dirty="0">
                <a:solidFill>
                  <a:srgbClr val="0000CC"/>
                </a:solidFill>
              </a:rPr>
              <a:t>Beta</a:t>
            </a:r>
            <a:r>
              <a:rPr lang="zh-CN" altLang="en-US" sz="3085" b="1" dirty="0">
                <a:solidFill>
                  <a:srgbClr val="0000CC"/>
                </a:solidFill>
              </a:rPr>
              <a:t>分布</a:t>
            </a:r>
            <a:endParaRPr lang="zh-CN" altLang="en-US" sz="3085" b="1" dirty="0">
              <a:solidFill>
                <a:srgbClr val="0000CC"/>
              </a:solidFill>
            </a:endParaRPr>
          </a:p>
        </p:txBody>
      </p:sp>
      <p:sp>
        <p:nvSpPr>
          <p:cNvPr id="17" name="Rectangle 2"/>
          <p:cNvSpPr txBox="1">
            <a:spLocks noChangeArrowheads="1"/>
          </p:cNvSpPr>
          <p:nvPr/>
        </p:nvSpPr>
        <p:spPr>
          <a:xfrm>
            <a:off x="708660" y="671830"/>
            <a:ext cx="10918825" cy="5715000"/>
          </a:xfrm>
          <a:prstGeom prst="rect">
            <a:avLst/>
          </a:prstGeom>
        </p:spPr>
        <p:txBody>
          <a:bodyPr/>
          <a:lstStyle>
            <a:lvl1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cs typeface="+mj-cs"/>
              </a:defRPr>
            </a:lvl1pPr>
            <a:lvl2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2pPr>
            <a:lvl3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3pPr>
            <a:lvl4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4pPr>
            <a:lvl5pPr algn="l" defTabSz="1097280" rtl="0" eaLnBrk="0" fontAlgn="base" hangingPunct="0">
              <a:spcBef>
                <a:spcPct val="0"/>
              </a:spcBef>
              <a:spcAft>
                <a:spcPct val="0"/>
              </a:spcAft>
              <a:defRPr sz="3600" b="1">
                <a:solidFill>
                  <a:srgbClr val="0E207F"/>
                </a:solidFill>
                <a:latin typeface="楷体" panose="02010609060101010101" pitchFamily="49" charset="-122"/>
                <a:ea typeface="楷体" panose="02010609060101010101" pitchFamily="49" charset="-122"/>
              </a:defRPr>
            </a:lvl5pPr>
            <a:lvl6pPr marL="457200" algn="l" defTabSz="1097280" rtl="0" fontAlgn="base">
              <a:spcBef>
                <a:spcPct val="0"/>
              </a:spcBef>
              <a:spcAft>
                <a:spcPct val="0"/>
              </a:spcAft>
              <a:defRPr sz="3600" b="1">
                <a:solidFill>
                  <a:srgbClr val="0E207F"/>
                </a:solidFill>
                <a:latin typeface="Tahoma" panose="020B0604030504040204" pitchFamily="34" charset="0"/>
              </a:defRPr>
            </a:lvl6pPr>
            <a:lvl7pPr marL="914400" algn="l" defTabSz="1097280" rtl="0" fontAlgn="base">
              <a:spcBef>
                <a:spcPct val="0"/>
              </a:spcBef>
              <a:spcAft>
                <a:spcPct val="0"/>
              </a:spcAft>
              <a:defRPr sz="3600" b="1">
                <a:solidFill>
                  <a:srgbClr val="0E207F"/>
                </a:solidFill>
                <a:latin typeface="Tahoma" panose="020B0604030504040204" pitchFamily="34" charset="0"/>
              </a:defRPr>
            </a:lvl7pPr>
            <a:lvl8pPr marL="1371600" algn="l" defTabSz="1097280" rtl="0" fontAlgn="base">
              <a:spcBef>
                <a:spcPct val="0"/>
              </a:spcBef>
              <a:spcAft>
                <a:spcPct val="0"/>
              </a:spcAft>
              <a:defRPr sz="3600" b="1">
                <a:solidFill>
                  <a:srgbClr val="0E207F"/>
                </a:solidFill>
                <a:latin typeface="Tahoma" panose="020B0604030504040204" pitchFamily="34" charset="0"/>
              </a:defRPr>
            </a:lvl8pPr>
            <a:lvl9pPr marL="1828800" algn="l" defTabSz="1097280" rtl="0" fontAlgn="base">
              <a:spcBef>
                <a:spcPct val="0"/>
              </a:spcBef>
              <a:spcAft>
                <a:spcPct val="0"/>
              </a:spcAft>
              <a:defRPr sz="3600" b="1">
                <a:solidFill>
                  <a:srgbClr val="0E207F"/>
                </a:solidFill>
                <a:latin typeface="Tahoma" panose="020B0604030504040204" pitchFamily="34" charset="0"/>
              </a:defRPr>
            </a:lvl9pPr>
          </a:lstStyle>
          <a:p>
            <a:pPr marL="0" indent="565150" latinLnBrk="0">
              <a:lnSpc>
                <a:spcPct val="150000"/>
              </a:lnSpc>
            </a:pP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例如有某种特殊的硬币，我们事先完全无法确定它出现正面的概率。然后抛</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次硬币，出现</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次正面，于是我们认为硬币出现正面的概率最可能是</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0.5</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，但是即使硬币出现正面的概率为</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0.4</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，也会出现抛</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次出现</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次正面的情况。因此我们并不能完全确定硬币出现正面的概率就是</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0.5</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，所以</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也是一个随机变量，它符合</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beta</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分布。</a:t>
            </a:r>
            <a:endParaRPr lang="zh-CN" altLang="en-US" sz="2400" b="0" dirty="0">
              <a:latin typeface="微软雅黑" panose="020B0503020204020204" pitchFamily="34" charset="-122"/>
              <a:ea typeface="微软雅黑" panose="020B0503020204020204" pitchFamily="34" charset="-122"/>
              <a:cs typeface="微软雅黑" panose="020B0503020204020204" pitchFamily="34" charset="-122"/>
            </a:endParaRPr>
          </a:p>
          <a:p>
            <a:pPr marL="0" indent="565150" latinLnBrk="0">
              <a:lnSpc>
                <a:spcPct val="150000"/>
              </a:lnSpc>
            </a:pP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用一句话来说，</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beta</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分布可以看作一个概率的概率分布，当你不知道一个东西的具体概率是多少时，它可以给出所有概率出现的可能性大小。</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Beta</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分布是一个连续分布，由于它描述概率</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的分布，因此其取值范围为</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Beta</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分布有</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α</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β</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两个参数，其中</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α</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为成功次数加</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β</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为失败次数加</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Beta</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是二项分布的共轭分布。</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Beta</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分布的均值是</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α/(α+</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β)</a:t>
            </a:r>
            <a:endParaRPr lang="en-US" altLang="zh-CN" sz="2400" b="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1480073" y="84014"/>
            <a:ext cx="9889151" cy="55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9383">
            <a:spAutoFit/>
          </a:bodyPr>
          <a:lstStyle/>
          <a:p>
            <a:pPr algn="l">
              <a:buFontTx/>
              <a:buNone/>
            </a:pPr>
            <a:r>
              <a:rPr lang="en-US" altLang="zh-CN" sz="3085" b="1" dirty="0">
                <a:solidFill>
                  <a:srgbClr val="0000CC"/>
                </a:solidFill>
              </a:rPr>
              <a:t>Beta</a:t>
            </a:r>
            <a:r>
              <a:rPr lang="zh-CN" altLang="en-US" sz="3085" b="1" dirty="0">
                <a:solidFill>
                  <a:srgbClr val="0000CC"/>
                </a:solidFill>
              </a:rPr>
              <a:t>分布</a:t>
            </a:r>
            <a:endParaRPr lang="zh-CN" altLang="en-US" sz="3085" b="1" dirty="0">
              <a:solidFill>
                <a:srgbClr val="0000CC"/>
              </a:solidFill>
            </a:endParaRPr>
          </a:p>
        </p:txBody>
      </p:sp>
      <p:pic>
        <p:nvPicPr>
          <p:cNvPr id="291842" name="Picture 2" descr="è¿éåå¾çæè¿°"/>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00084" y="1387496"/>
            <a:ext cx="5636349" cy="56363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414020" y="1711325"/>
            <a:ext cx="6269990" cy="3415030"/>
          </a:xfrm>
          <a:prstGeom prst="rect">
            <a:avLst/>
          </a:prstGeom>
        </p:spPr>
        <p:txBody>
          <a:bodyPr wrap="square">
            <a:spAutoFit/>
          </a:bodyPr>
          <a:lstStyle/>
          <a:p>
            <a:pPr marL="0" indent="0" latinLnBrk="0">
              <a:lnSpc>
                <a:spcPct val="150000"/>
              </a:lnSpc>
            </a:pPr>
            <a:r>
              <a:rPr lang="zh-CN" altLang="en-US" sz="2400" dirty="0">
                <a:latin typeface="微软雅黑" panose="020B0503020204020204" pitchFamily="34" charset="-122"/>
                <a:cs typeface="微软雅黑" panose="020B0503020204020204" pitchFamily="34" charset="-122"/>
              </a:rPr>
              <a:t>Beta(α0+hits,β0+misses)Beta(α0+hits,β0+misses) 其中α0α0和β0β0是一开始的参数，在这里是81和219。所以在这一例子里，αα增加了1(击中了一次)。ββ没有增加(没有漏球)。这就是我们的新的beta分布Beta(81+1,219) ，我们跟原来的比较</a:t>
            </a:r>
            <a:endParaRPr lang="zh-CN" altLang="en-US" sz="2400" dirty="0">
              <a:latin typeface="微软雅黑" panose="020B0503020204020204" pitchFamily="34" charset="-122"/>
              <a:cs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6.2</a:t>
            </a:r>
            <a:r>
              <a:rPr lang="zh-CN" altLang="en-US" sz="2400" b="1" dirty="0">
                <a:solidFill>
                  <a:srgbClr val="01395C"/>
                </a:solidFill>
                <a:latin typeface="方正粗宋简体"/>
                <a:ea typeface="方正粗宋简体"/>
                <a:cs typeface="方正粗宋简体"/>
              </a:rPr>
              <a:t> 进度管理图示方法</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388114" y="764853"/>
            <a:ext cx="1447832"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pPr eaLnBrk="1" hangingPunct="1"/>
            <a:r>
              <a:rPr lang="zh-CN" altLang="en-US" sz="2400" b="1" dirty="0">
                <a:effectLst/>
              </a:rPr>
              <a:t>里程碑图</a:t>
            </a:r>
            <a:endParaRPr lang="zh-CN" altLang="zh-CN" sz="2400" b="1" dirty="0">
              <a:effectLst/>
            </a:endParaRPr>
          </a:p>
        </p:txBody>
      </p:sp>
      <p:grpSp>
        <p:nvGrpSpPr>
          <p:cNvPr id="12" name="Group 4"/>
          <p:cNvGrpSpPr/>
          <p:nvPr/>
        </p:nvGrpSpPr>
        <p:grpSpPr bwMode="auto">
          <a:xfrm>
            <a:off x="1120914" y="1736914"/>
            <a:ext cx="8534400" cy="3525838"/>
            <a:chOff x="0" y="973"/>
            <a:chExt cx="6130" cy="2961"/>
          </a:xfrm>
        </p:grpSpPr>
        <p:sp>
          <p:nvSpPr>
            <p:cNvPr id="13" name="Line 5"/>
            <p:cNvSpPr>
              <a:spLocks noChangeShapeType="1"/>
            </p:cNvSpPr>
            <p:nvPr/>
          </p:nvSpPr>
          <p:spPr bwMode="auto">
            <a:xfrm flipV="1">
              <a:off x="76" y="973"/>
              <a:ext cx="6054" cy="2961"/>
            </a:xfrm>
            <a:prstGeom prst="line">
              <a:avLst/>
            </a:prstGeom>
            <a:noFill/>
            <a:ln w="76200">
              <a:solidFill>
                <a:srgbClr val="400097"/>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sz="2000"/>
            </a:p>
          </p:txBody>
        </p:sp>
        <p:sp>
          <p:nvSpPr>
            <p:cNvPr id="14" name="Rectangle 6"/>
            <p:cNvSpPr>
              <a:spLocks noChangeArrowheads="1"/>
            </p:cNvSpPr>
            <p:nvPr/>
          </p:nvSpPr>
          <p:spPr bwMode="auto">
            <a:xfrm>
              <a:off x="755" y="3522"/>
              <a:ext cx="136" cy="131"/>
            </a:xfrm>
            <a:prstGeom prst="rect">
              <a:avLst/>
            </a:prstGeom>
            <a:solidFill>
              <a:srgbClr val="000000"/>
            </a:solidFill>
            <a:ln w="25400">
              <a:solidFill>
                <a:srgbClr val="000000"/>
              </a:solidFill>
              <a:miter lim="800000"/>
            </a:ln>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15" name="Rectangle 7"/>
            <p:cNvSpPr>
              <a:spLocks noChangeArrowheads="1"/>
            </p:cNvSpPr>
            <p:nvPr/>
          </p:nvSpPr>
          <p:spPr bwMode="auto">
            <a:xfrm>
              <a:off x="743" y="3620"/>
              <a:ext cx="135" cy="20"/>
            </a:xfrm>
            <a:prstGeom prst="rect">
              <a:avLst/>
            </a:prstGeom>
            <a:gradFill rotWithShape="0">
              <a:gsLst>
                <a:gs pos="0">
                  <a:srgbClr val="0000FF"/>
                </a:gs>
                <a:gs pos="50000">
                  <a:srgbClr val="38B0FF"/>
                </a:gs>
                <a:gs pos="100000">
                  <a:srgbClr val="0000FF"/>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16" name="Freeform 8"/>
            <p:cNvSpPr>
              <a:spLocks noChangeArrowheads="1"/>
            </p:cNvSpPr>
            <p:nvPr/>
          </p:nvSpPr>
          <p:spPr bwMode="auto">
            <a:xfrm>
              <a:off x="743" y="3507"/>
              <a:ext cx="135" cy="133"/>
            </a:xfrm>
            <a:custGeom>
              <a:avLst/>
              <a:gdLst>
                <a:gd name="T0" fmla="*/ 135 w 135"/>
                <a:gd name="T1" fmla="*/ 0 h 133"/>
                <a:gd name="T2" fmla="*/ 0 w 135"/>
                <a:gd name="T3" fmla="*/ 0 h 133"/>
                <a:gd name="T4" fmla="*/ 0 w 135"/>
                <a:gd name="T5" fmla="*/ 133 h 133"/>
                <a:gd name="T6" fmla="*/ 0 60000 65536"/>
                <a:gd name="T7" fmla="*/ 0 60000 65536"/>
                <a:gd name="T8" fmla="*/ 0 60000 65536"/>
                <a:gd name="T9" fmla="*/ 0 w 135"/>
                <a:gd name="T10" fmla="*/ 0 h 133"/>
                <a:gd name="T11" fmla="*/ 135 w 135"/>
                <a:gd name="T12" fmla="*/ 133 h 133"/>
              </a:gdLst>
              <a:ahLst/>
              <a:cxnLst>
                <a:cxn ang="T6">
                  <a:pos x="T0" y="T1"/>
                </a:cxn>
                <a:cxn ang="T7">
                  <a:pos x="T2" y="T3"/>
                </a:cxn>
                <a:cxn ang="T8">
                  <a:pos x="T4" y="T5"/>
                </a:cxn>
              </a:cxnLst>
              <a:rect l="T9" t="T10" r="T11" b="T12"/>
              <a:pathLst>
                <a:path w="135" h="133">
                  <a:moveTo>
                    <a:pt x="135" y="0"/>
                  </a:moveTo>
                  <a:lnTo>
                    <a:pt x="0" y="0"/>
                  </a:lnTo>
                  <a:lnTo>
                    <a:pt x="0" y="133"/>
                  </a:lnTo>
                  <a:lnTo>
                    <a:pt x="135" y="0"/>
                  </a:lnTo>
                  <a:close/>
                </a:path>
              </a:pathLst>
            </a:custGeom>
            <a:solidFill>
              <a:srgbClr val="00EFEF"/>
            </a:solidFill>
            <a:ln w="25400">
              <a:solidFill>
                <a:srgbClr val="400097"/>
              </a:solidFill>
              <a:round/>
            </a:ln>
          </p:spPr>
          <p:txBody>
            <a:bodyPr wrap="none"/>
            <a:lstStyle/>
            <a:p>
              <a:endParaRPr lang="zh-CN" altLang="en-US" sz="2000"/>
            </a:p>
          </p:txBody>
        </p:sp>
        <p:sp>
          <p:nvSpPr>
            <p:cNvPr id="17" name="Rectangle 9"/>
            <p:cNvSpPr>
              <a:spLocks noChangeArrowheads="1"/>
            </p:cNvSpPr>
            <p:nvPr/>
          </p:nvSpPr>
          <p:spPr bwMode="auto">
            <a:xfrm>
              <a:off x="760" y="3524"/>
              <a:ext cx="101" cy="99"/>
            </a:xfrm>
            <a:prstGeom prst="rect">
              <a:avLst/>
            </a:prstGeom>
            <a:solidFill>
              <a:srgbClr val="38B0FF"/>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18" name="Freeform 10"/>
            <p:cNvSpPr>
              <a:spLocks noChangeArrowheads="1"/>
            </p:cNvSpPr>
            <p:nvPr/>
          </p:nvSpPr>
          <p:spPr bwMode="auto">
            <a:xfrm>
              <a:off x="744" y="3507"/>
              <a:ext cx="15" cy="131"/>
            </a:xfrm>
            <a:custGeom>
              <a:avLst/>
              <a:gdLst>
                <a:gd name="T0" fmla="*/ 15 w 15"/>
                <a:gd name="T1" fmla="*/ 115 h 131"/>
                <a:gd name="T2" fmla="*/ 15 w 15"/>
                <a:gd name="T3" fmla="*/ 15 h 131"/>
                <a:gd name="T4" fmla="*/ 0 w 15"/>
                <a:gd name="T5" fmla="*/ 0 h 131"/>
                <a:gd name="T6" fmla="*/ 0 w 15"/>
                <a:gd name="T7" fmla="*/ 131 h 131"/>
                <a:gd name="T8" fmla="*/ 0 60000 65536"/>
                <a:gd name="T9" fmla="*/ 0 60000 65536"/>
                <a:gd name="T10" fmla="*/ 0 60000 65536"/>
                <a:gd name="T11" fmla="*/ 0 60000 65536"/>
                <a:gd name="T12" fmla="*/ 0 w 15"/>
                <a:gd name="T13" fmla="*/ 0 h 131"/>
                <a:gd name="T14" fmla="*/ 15 w 15"/>
                <a:gd name="T15" fmla="*/ 131 h 131"/>
              </a:gdLst>
              <a:ahLst/>
              <a:cxnLst>
                <a:cxn ang="T8">
                  <a:pos x="T0" y="T1"/>
                </a:cxn>
                <a:cxn ang="T9">
                  <a:pos x="T2" y="T3"/>
                </a:cxn>
                <a:cxn ang="T10">
                  <a:pos x="T4" y="T5"/>
                </a:cxn>
                <a:cxn ang="T11">
                  <a:pos x="T6" y="T7"/>
                </a:cxn>
              </a:cxnLst>
              <a:rect l="T12" t="T13" r="T14" b="T15"/>
              <a:pathLst>
                <a:path w="15" h="131">
                  <a:moveTo>
                    <a:pt x="15" y="115"/>
                  </a:moveTo>
                  <a:lnTo>
                    <a:pt x="15" y="15"/>
                  </a:lnTo>
                  <a:lnTo>
                    <a:pt x="0" y="0"/>
                  </a:lnTo>
                  <a:lnTo>
                    <a:pt x="0" y="131"/>
                  </a:lnTo>
                  <a:lnTo>
                    <a:pt x="15" y="115"/>
                  </a:lnTo>
                  <a:close/>
                </a:path>
              </a:pathLst>
            </a:custGeom>
            <a:gradFill rotWithShape="0">
              <a:gsLst>
                <a:gs pos="0">
                  <a:srgbClr val="00EFEF"/>
                </a:gs>
                <a:gs pos="50000">
                  <a:srgbClr val="FFFFFF"/>
                </a:gs>
                <a:gs pos="100000">
                  <a:srgbClr val="00EFEF"/>
                </a:gs>
              </a:gsLst>
              <a:lin ang="16200000" scaled="1"/>
            </a:gra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19" name="Freeform 11"/>
            <p:cNvSpPr/>
            <p:nvPr/>
          </p:nvSpPr>
          <p:spPr bwMode="auto">
            <a:xfrm>
              <a:off x="760" y="3523"/>
              <a:ext cx="100" cy="99"/>
            </a:xfrm>
            <a:custGeom>
              <a:avLst/>
              <a:gdLst>
                <a:gd name="T0" fmla="*/ 0 w 100"/>
                <a:gd name="T1" fmla="*/ 99 h 99"/>
                <a:gd name="T2" fmla="*/ 0 w 100"/>
                <a:gd name="T3" fmla="*/ 0 h 99"/>
                <a:gd name="T4" fmla="*/ 100 w 100"/>
                <a:gd name="T5" fmla="*/ 0 h 99"/>
                <a:gd name="T6" fmla="*/ 0 60000 65536"/>
                <a:gd name="T7" fmla="*/ 0 60000 65536"/>
                <a:gd name="T8" fmla="*/ 0 60000 65536"/>
                <a:gd name="T9" fmla="*/ 0 w 100"/>
                <a:gd name="T10" fmla="*/ 0 h 99"/>
                <a:gd name="T11" fmla="*/ 100 w 100"/>
                <a:gd name="T12" fmla="*/ 99 h 99"/>
              </a:gdLst>
              <a:ahLst/>
              <a:cxnLst>
                <a:cxn ang="T6">
                  <a:pos x="T0" y="T1"/>
                </a:cxn>
                <a:cxn ang="T7">
                  <a:pos x="T2" y="T3"/>
                </a:cxn>
                <a:cxn ang="T8">
                  <a:pos x="T4" y="T5"/>
                </a:cxn>
              </a:cxnLst>
              <a:rect l="T9" t="T10" r="T11" b="T12"/>
              <a:pathLst>
                <a:path w="100" h="99">
                  <a:moveTo>
                    <a:pt x="0" y="99"/>
                  </a:moveTo>
                  <a:lnTo>
                    <a:pt x="0" y="0"/>
                  </a:lnTo>
                  <a:lnTo>
                    <a:pt x="100" y="0"/>
                  </a:lnTo>
                </a:path>
              </a:pathLst>
            </a:custGeom>
            <a:noFill/>
            <a:ln w="25400">
              <a:solidFill>
                <a:srgbClr val="FFFFFF"/>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sz="2000"/>
            </a:p>
          </p:txBody>
        </p:sp>
        <p:sp>
          <p:nvSpPr>
            <p:cNvPr id="20" name="Freeform 12"/>
            <p:cNvSpPr>
              <a:spLocks noChangeArrowheads="1"/>
            </p:cNvSpPr>
            <p:nvPr/>
          </p:nvSpPr>
          <p:spPr bwMode="auto">
            <a:xfrm>
              <a:off x="742" y="3636"/>
              <a:ext cx="136" cy="5"/>
            </a:xfrm>
            <a:custGeom>
              <a:avLst/>
              <a:gdLst>
                <a:gd name="T0" fmla="*/ 136 w 136"/>
                <a:gd name="T1" fmla="*/ 5 h 5"/>
                <a:gd name="T2" fmla="*/ 135 w 136"/>
                <a:gd name="T3" fmla="*/ 1 h 5"/>
                <a:gd name="T4" fmla="*/ 5 w 136"/>
                <a:gd name="T5" fmla="*/ 0 h 5"/>
                <a:gd name="T6" fmla="*/ 0 w 136"/>
                <a:gd name="T7" fmla="*/ 5 h 5"/>
                <a:gd name="T8" fmla="*/ 0 60000 65536"/>
                <a:gd name="T9" fmla="*/ 0 60000 65536"/>
                <a:gd name="T10" fmla="*/ 0 60000 65536"/>
                <a:gd name="T11" fmla="*/ 0 60000 65536"/>
                <a:gd name="T12" fmla="*/ 0 w 136"/>
                <a:gd name="T13" fmla="*/ 0 h 5"/>
                <a:gd name="T14" fmla="*/ 136 w 136"/>
                <a:gd name="T15" fmla="*/ 5 h 5"/>
              </a:gdLst>
              <a:ahLst/>
              <a:cxnLst>
                <a:cxn ang="T8">
                  <a:pos x="T0" y="T1"/>
                </a:cxn>
                <a:cxn ang="T9">
                  <a:pos x="T2" y="T3"/>
                </a:cxn>
                <a:cxn ang="T10">
                  <a:pos x="T4" y="T5"/>
                </a:cxn>
                <a:cxn ang="T11">
                  <a:pos x="T6" y="T7"/>
                </a:cxn>
              </a:cxnLst>
              <a:rect l="T12" t="T13" r="T14" b="T15"/>
              <a:pathLst>
                <a:path w="136" h="5">
                  <a:moveTo>
                    <a:pt x="136" y="5"/>
                  </a:moveTo>
                  <a:lnTo>
                    <a:pt x="135" y="1"/>
                  </a:lnTo>
                  <a:lnTo>
                    <a:pt x="5" y="0"/>
                  </a:lnTo>
                  <a:lnTo>
                    <a:pt x="0" y="5"/>
                  </a:lnTo>
                  <a:lnTo>
                    <a:pt x="136" y="5"/>
                  </a:lnTo>
                  <a:close/>
                </a:path>
              </a:pathLst>
            </a:custGeom>
            <a:solidFill>
              <a:srgbClr val="0000FF"/>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21" name="Freeform 13"/>
            <p:cNvSpPr>
              <a:spLocks noChangeArrowheads="1"/>
            </p:cNvSpPr>
            <p:nvPr/>
          </p:nvSpPr>
          <p:spPr bwMode="auto">
            <a:xfrm>
              <a:off x="860" y="3506"/>
              <a:ext cx="18" cy="134"/>
            </a:xfrm>
            <a:custGeom>
              <a:avLst/>
              <a:gdLst>
                <a:gd name="T0" fmla="*/ 0 w 18"/>
                <a:gd name="T1" fmla="*/ 117 h 134"/>
                <a:gd name="T2" fmla="*/ 0 w 18"/>
                <a:gd name="T3" fmla="*/ 18 h 134"/>
                <a:gd name="T4" fmla="*/ 18 w 18"/>
                <a:gd name="T5" fmla="*/ 0 h 134"/>
                <a:gd name="T6" fmla="*/ 18 w 18"/>
                <a:gd name="T7" fmla="*/ 134 h 134"/>
                <a:gd name="T8" fmla="*/ 0 60000 65536"/>
                <a:gd name="T9" fmla="*/ 0 60000 65536"/>
                <a:gd name="T10" fmla="*/ 0 60000 65536"/>
                <a:gd name="T11" fmla="*/ 0 60000 65536"/>
                <a:gd name="T12" fmla="*/ 0 w 18"/>
                <a:gd name="T13" fmla="*/ 0 h 134"/>
                <a:gd name="T14" fmla="*/ 18 w 18"/>
                <a:gd name="T15" fmla="*/ 134 h 134"/>
              </a:gdLst>
              <a:ahLst/>
              <a:cxnLst>
                <a:cxn ang="T8">
                  <a:pos x="T0" y="T1"/>
                </a:cxn>
                <a:cxn ang="T9">
                  <a:pos x="T2" y="T3"/>
                </a:cxn>
                <a:cxn ang="T10">
                  <a:pos x="T4" y="T5"/>
                </a:cxn>
                <a:cxn ang="T11">
                  <a:pos x="T6" y="T7"/>
                </a:cxn>
              </a:cxnLst>
              <a:rect l="T12" t="T13" r="T14" b="T15"/>
              <a:pathLst>
                <a:path w="18" h="134">
                  <a:moveTo>
                    <a:pt x="0" y="117"/>
                  </a:moveTo>
                  <a:lnTo>
                    <a:pt x="0" y="18"/>
                  </a:lnTo>
                  <a:lnTo>
                    <a:pt x="18" y="0"/>
                  </a:lnTo>
                  <a:lnTo>
                    <a:pt x="18" y="134"/>
                  </a:lnTo>
                  <a:lnTo>
                    <a:pt x="0" y="117"/>
                  </a:lnTo>
                  <a:close/>
                </a:path>
              </a:pathLst>
            </a:custGeom>
            <a:solidFill>
              <a:srgbClr val="0000FF"/>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22" name="Line 14"/>
            <p:cNvSpPr>
              <a:spLocks noChangeShapeType="1"/>
            </p:cNvSpPr>
            <p:nvPr/>
          </p:nvSpPr>
          <p:spPr bwMode="auto">
            <a:xfrm>
              <a:off x="760" y="3622"/>
              <a:ext cx="100" cy="0"/>
            </a:xfrm>
            <a:prstGeom prst="line">
              <a:avLst/>
            </a:prstGeom>
            <a:noFill/>
            <a:ln w="25400">
              <a:solidFill>
                <a:srgbClr val="00EFEF"/>
              </a:solidFill>
              <a:round/>
            </a:ln>
            <a:extLst>
              <a:ext uri="{909E8E84-426E-40DD-AFC4-6F175D3DCCD1}">
                <a14:hiddenFill xmlns:a14="http://schemas.microsoft.com/office/drawing/2010/main">
                  <a:noFill/>
                </a14:hiddenFill>
              </a:ext>
            </a:extLst>
          </p:spPr>
          <p:txBody>
            <a:bodyPr wrap="none"/>
            <a:lstStyle/>
            <a:p>
              <a:endParaRPr lang="zh-CN" altLang="en-US" sz="2000"/>
            </a:p>
          </p:txBody>
        </p:sp>
        <p:sp>
          <p:nvSpPr>
            <p:cNvPr id="23" name="Freeform 15"/>
            <p:cNvSpPr>
              <a:spLocks noChangeArrowheads="1"/>
            </p:cNvSpPr>
            <p:nvPr/>
          </p:nvSpPr>
          <p:spPr bwMode="auto">
            <a:xfrm>
              <a:off x="859" y="3522"/>
              <a:ext cx="1" cy="101"/>
            </a:xfrm>
            <a:custGeom>
              <a:avLst/>
              <a:gdLst>
                <a:gd name="T0" fmla="*/ 0 w 1"/>
                <a:gd name="T1" fmla="*/ 0 h 101"/>
                <a:gd name="T2" fmla="*/ 0 w 1"/>
                <a:gd name="T3" fmla="*/ 0 h 101"/>
                <a:gd name="T4" fmla="*/ 1 w 1"/>
                <a:gd name="T5" fmla="*/ 1 h 101"/>
                <a:gd name="T6" fmla="*/ 1 w 1"/>
                <a:gd name="T7" fmla="*/ 101 h 101"/>
                <a:gd name="T8" fmla="*/ 0 w 1"/>
                <a:gd name="T9" fmla="*/ 98 h 101"/>
                <a:gd name="T10" fmla="*/ 0 60000 65536"/>
                <a:gd name="T11" fmla="*/ 0 60000 65536"/>
                <a:gd name="T12" fmla="*/ 0 60000 65536"/>
                <a:gd name="T13" fmla="*/ 0 60000 65536"/>
                <a:gd name="T14" fmla="*/ 0 60000 65536"/>
                <a:gd name="T15" fmla="*/ 0 w 1"/>
                <a:gd name="T16" fmla="*/ 0 h 101"/>
                <a:gd name="T17" fmla="*/ 1 w 1"/>
                <a:gd name="T18" fmla="*/ 101 h 101"/>
              </a:gdLst>
              <a:ahLst/>
              <a:cxnLst>
                <a:cxn ang="T10">
                  <a:pos x="T0" y="T1"/>
                </a:cxn>
                <a:cxn ang="T11">
                  <a:pos x="T2" y="T3"/>
                </a:cxn>
                <a:cxn ang="T12">
                  <a:pos x="T4" y="T5"/>
                </a:cxn>
                <a:cxn ang="T13">
                  <a:pos x="T6" y="T7"/>
                </a:cxn>
                <a:cxn ang="T14">
                  <a:pos x="T8" y="T9"/>
                </a:cxn>
              </a:cxnLst>
              <a:rect l="T15" t="T16" r="T17" b="T18"/>
              <a:pathLst>
                <a:path w="1" h="101">
                  <a:moveTo>
                    <a:pt x="0" y="0"/>
                  </a:moveTo>
                  <a:cubicBezTo>
                    <a:pt x="0" y="0"/>
                    <a:pt x="0" y="0"/>
                    <a:pt x="0" y="0"/>
                  </a:cubicBezTo>
                  <a:cubicBezTo>
                    <a:pt x="1" y="1"/>
                    <a:pt x="1" y="1"/>
                    <a:pt x="1" y="1"/>
                  </a:cubicBezTo>
                  <a:cubicBezTo>
                    <a:pt x="1" y="101"/>
                    <a:pt x="1" y="101"/>
                    <a:pt x="1" y="101"/>
                  </a:cubicBezTo>
                  <a:cubicBezTo>
                    <a:pt x="0" y="98"/>
                    <a:pt x="0" y="98"/>
                    <a:pt x="0" y="98"/>
                  </a:cubicBezTo>
                  <a:lnTo>
                    <a:pt x="0" y="0"/>
                  </a:lnTo>
                  <a:close/>
                </a:path>
              </a:pathLst>
            </a:custGeom>
            <a:solidFill>
              <a:srgbClr val="00DCE4"/>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24" name="Freeform 16"/>
            <p:cNvSpPr>
              <a:spLocks noChangeArrowheads="1"/>
            </p:cNvSpPr>
            <p:nvPr/>
          </p:nvSpPr>
          <p:spPr bwMode="auto">
            <a:xfrm>
              <a:off x="861" y="3508"/>
              <a:ext cx="16" cy="30"/>
            </a:xfrm>
            <a:custGeom>
              <a:avLst/>
              <a:gdLst>
                <a:gd name="T0" fmla="*/ 0 w 16"/>
                <a:gd name="T1" fmla="*/ 16 h 30"/>
                <a:gd name="T2" fmla="*/ 0 w 16"/>
                <a:gd name="T3" fmla="*/ 16 h 30"/>
                <a:gd name="T4" fmla="*/ 0 w 16"/>
                <a:gd name="T5" fmla="*/ 27 h 30"/>
                <a:gd name="T6" fmla="*/ 12 w 16"/>
                <a:gd name="T7" fmla="*/ 12 h 30"/>
                <a:gd name="T8" fmla="*/ 16 w 16"/>
                <a:gd name="T9" fmla="*/ 30 h 30"/>
                <a:gd name="T10" fmla="*/ 16 w 16"/>
                <a:gd name="T11" fmla="*/ 0 h 30"/>
                <a:gd name="T12" fmla="*/ 0 60000 65536"/>
                <a:gd name="T13" fmla="*/ 0 60000 65536"/>
                <a:gd name="T14" fmla="*/ 0 60000 65536"/>
                <a:gd name="T15" fmla="*/ 0 60000 65536"/>
                <a:gd name="T16" fmla="*/ 0 60000 65536"/>
                <a:gd name="T17" fmla="*/ 0 60000 65536"/>
                <a:gd name="T18" fmla="*/ 0 w 16"/>
                <a:gd name="T19" fmla="*/ 0 h 30"/>
                <a:gd name="T20" fmla="*/ 16 w 16"/>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16" h="30">
                  <a:moveTo>
                    <a:pt x="0" y="16"/>
                  </a:moveTo>
                  <a:cubicBezTo>
                    <a:pt x="0" y="16"/>
                    <a:pt x="0" y="16"/>
                    <a:pt x="0" y="16"/>
                  </a:cubicBezTo>
                  <a:cubicBezTo>
                    <a:pt x="0" y="16"/>
                    <a:pt x="0" y="28"/>
                    <a:pt x="0" y="27"/>
                  </a:cubicBezTo>
                  <a:cubicBezTo>
                    <a:pt x="5" y="14"/>
                    <a:pt x="11" y="11"/>
                    <a:pt x="12" y="12"/>
                  </a:cubicBezTo>
                  <a:cubicBezTo>
                    <a:pt x="13" y="13"/>
                    <a:pt x="16" y="30"/>
                    <a:pt x="16" y="30"/>
                  </a:cubicBezTo>
                  <a:cubicBezTo>
                    <a:pt x="16" y="0"/>
                    <a:pt x="16" y="0"/>
                    <a:pt x="16" y="0"/>
                  </a:cubicBezTo>
                  <a:lnTo>
                    <a:pt x="0" y="16"/>
                  </a:lnTo>
                  <a:close/>
                </a:path>
              </a:pathLst>
            </a:custGeom>
            <a:solidFill>
              <a:srgbClr val="280078"/>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25" name="Freeform 17"/>
            <p:cNvSpPr>
              <a:spLocks noChangeArrowheads="1"/>
            </p:cNvSpPr>
            <p:nvPr/>
          </p:nvSpPr>
          <p:spPr bwMode="auto">
            <a:xfrm>
              <a:off x="861" y="3591"/>
              <a:ext cx="16" cy="45"/>
            </a:xfrm>
            <a:custGeom>
              <a:avLst/>
              <a:gdLst>
                <a:gd name="T0" fmla="*/ 16 w 16"/>
                <a:gd name="T1" fmla="*/ 45 h 45"/>
                <a:gd name="T2" fmla="*/ 16 w 16"/>
                <a:gd name="T3" fmla="*/ 45 h 45"/>
                <a:gd name="T4" fmla="*/ 16 w 16"/>
                <a:gd name="T5" fmla="*/ 0 h 45"/>
                <a:gd name="T6" fmla="*/ 11 w 16"/>
                <a:gd name="T7" fmla="*/ 33 h 45"/>
                <a:gd name="T8" fmla="*/ 5 w 16"/>
                <a:gd name="T9" fmla="*/ 29 h 45"/>
                <a:gd name="T10" fmla="*/ 1 w 16"/>
                <a:gd name="T11" fmla="*/ 21 h 45"/>
                <a:gd name="T12" fmla="*/ 0 w 16"/>
                <a:gd name="T13" fmla="*/ 31 h 45"/>
                <a:gd name="T14" fmla="*/ 0 60000 65536"/>
                <a:gd name="T15" fmla="*/ 0 60000 65536"/>
                <a:gd name="T16" fmla="*/ 0 60000 65536"/>
                <a:gd name="T17" fmla="*/ 0 60000 65536"/>
                <a:gd name="T18" fmla="*/ 0 60000 65536"/>
                <a:gd name="T19" fmla="*/ 0 60000 65536"/>
                <a:gd name="T20" fmla="*/ 0 60000 65536"/>
                <a:gd name="T21" fmla="*/ 0 w 16"/>
                <a:gd name="T22" fmla="*/ 0 h 45"/>
                <a:gd name="T23" fmla="*/ 16 w 16"/>
                <a:gd name="T24" fmla="*/ 45 h 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45">
                  <a:moveTo>
                    <a:pt x="16" y="45"/>
                  </a:moveTo>
                  <a:cubicBezTo>
                    <a:pt x="16" y="45"/>
                    <a:pt x="16" y="45"/>
                    <a:pt x="16" y="45"/>
                  </a:cubicBezTo>
                  <a:cubicBezTo>
                    <a:pt x="16" y="0"/>
                    <a:pt x="16" y="0"/>
                    <a:pt x="16" y="0"/>
                  </a:cubicBezTo>
                  <a:cubicBezTo>
                    <a:pt x="16" y="0"/>
                    <a:pt x="15" y="25"/>
                    <a:pt x="11" y="33"/>
                  </a:cubicBezTo>
                  <a:cubicBezTo>
                    <a:pt x="10" y="36"/>
                    <a:pt x="5" y="33"/>
                    <a:pt x="5" y="29"/>
                  </a:cubicBezTo>
                  <a:cubicBezTo>
                    <a:pt x="1" y="21"/>
                    <a:pt x="1" y="21"/>
                    <a:pt x="1" y="21"/>
                  </a:cubicBezTo>
                  <a:cubicBezTo>
                    <a:pt x="0" y="31"/>
                    <a:pt x="0" y="31"/>
                    <a:pt x="0" y="31"/>
                  </a:cubicBezTo>
                  <a:lnTo>
                    <a:pt x="16" y="45"/>
                  </a:lnTo>
                  <a:close/>
                </a:path>
              </a:pathLst>
            </a:custGeom>
            <a:solidFill>
              <a:srgbClr val="280078"/>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26" name="Text Box 18"/>
            <p:cNvSpPr txBox="1">
              <a:spLocks noChangeArrowheads="1"/>
            </p:cNvSpPr>
            <p:nvPr/>
          </p:nvSpPr>
          <p:spPr bwMode="auto">
            <a:xfrm>
              <a:off x="0" y="3281"/>
              <a:ext cx="737"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zh-CN" altLang="en-US" sz="2000" dirty="0">
                  <a:solidFill>
                    <a:srgbClr val="400097"/>
                  </a:solidFill>
                  <a:latin typeface="Arial" panose="020B0604020202020204" pitchFamily="34" charset="0"/>
                </a:rPr>
                <a:t>规格说明</a:t>
              </a:r>
              <a:endParaRPr kumimoji="0" lang="en-US" altLang="zh-CN" sz="2000" dirty="0">
                <a:solidFill>
                  <a:srgbClr val="400097"/>
                </a:solidFill>
                <a:latin typeface="Arial" panose="020B0604020202020204" pitchFamily="34" charset="0"/>
              </a:endParaRPr>
            </a:p>
          </p:txBody>
        </p:sp>
        <p:sp>
          <p:nvSpPr>
            <p:cNvPr id="27" name="Text Box 19"/>
            <p:cNvSpPr txBox="1">
              <a:spLocks noChangeArrowheads="1"/>
            </p:cNvSpPr>
            <p:nvPr/>
          </p:nvSpPr>
          <p:spPr bwMode="auto">
            <a:xfrm>
              <a:off x="1039" y="2955"/>
              <a:ext cx="36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zh-CN" altLang="en-US" sz="2000" dirty="0">
                  <a:solidFill>
                    <a:srgbClr val="400097"/>
                  </a:solidFill>
                  <a:latin typeface="Arial" panose="020B0604020202020204" pitchFamily="34" charset="0"/>
                </a:rPr>
                <a:t>设计</a:t>
              </a:r>
              <a:endParaRPr kumimoji="0" lang="en-US" altLang="zh-CN" sz="2000" dirty="0">
                <a:solidFill>
                  <a:srgbClr val="400097"/>
                </a:solidFill>
                <a:latin typeface="Arial" panose="020B0604020202020204" pitchFamily="34" charset="0"/>
              </a:endParaRPr>
            </a:p>
          </p:txBody>
        </p:sp>
        <p:sp>
          <p:nvSpPr>
            <p:cNvPr id="28" name="Text Box 20"/>
            <p:cNvSpPr txBox="1">
              <a:spLocks noChangeArrowheads="1"/>
            </p:cNvSpPr>
            <p:nvPr/>
          </p:nvSpPr>
          <p:spPr bwMode="auto">
            <a:xfrm>
              <a:off x="718" y="3645"/>
              <a:ext cx="447"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en-US" altLang="zh-CN" sz="2000">
                  <a:solidFill>
                    <a:srgbClr val="400097"/>
                  </a:solidFill>
                  <a:latin typeface="Arial" panose="020B0604020202020204" pitchFamily="34" charset="0"/>
                </a:rPr>
                <a:t>08/11</a:t>
              </a:r>
              <a:endParaRPr kumimoji="0" lang="en-US" altLang="zh-CN" sz="2000">
                <a:solidFill>
                  <a:srgbClr val="400097"/>
                </a:solidFill>
                <a:latin typeface="Arial" panose="020B0604020202020204" pitchFamily="34" charset="0"/>
              </a:endParaRPr>
            </a:p>
          </p:txBody>
        </p:sp>
        <p:sp>
          <p:nvSpPr>
            <p:cNvPr id="29" name="Text Box 21"/>
            <p:cNvSpPr txBox="1">
              <a:spLocks noChangeArrowheads="1"/>
            </p:cNvSpPr>
            <p:nvPr/>
          </p:nvSpPr>
          <p:spPr bwMode="auto">
            <a:xfrm>
              <a:off x="1350" y="3298"/>
              <a:ext cx="433"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en-US" altLang="zh-CN" sz="2000">
                  <a:solidFill>
                    <a:srgbClr val="400097"/>
                  </a:solidFill>
                  <a:latin typeface="Arial" panose="020B0604020202020204" pitchFamily="34" charset="0"/>
                </a:rPr>
                <a:t>11/11</a:t>
              </a:r>
              <a:endParaRPr kumimoji="0" lang="en-US" altLang="zh-CN" sz="2000">
                <a:solidFill>
                  <a:srgbClr val="400097"/>
                </a:solidFill>
                <a:latin typeface="Arial" panose="020B0604020202020204" pitchFamily="34" charset="0"/>
              </a:endParaRPr>
            </a:p>
          </p:txBody>
        </p:sp>
        <p:sp>
          <p:nvSpPr>
            <p:cNvPr id="30" name="Text Box 22"/>
            <p:cNvSpPr txBox="1">
              <a:spLocks noChangeArrowheads="1"/>
            </p:cNvSpPr>
            <p:nvPr/>
          </p:nvSpPr>
          <p:spPr bwMode="auto">
            <a:xfrm>
              <a:off x="2280" y="2206"/>
              <a:ext cx="737"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zh-CN" altLang="en-US" sz="2000" dirty="0">
                  <a:solidFill>
                    <a:srgbClr val="400097"/>
                  </a:solidFill>
                  <a:latin typeface="Arial" panose="020B0604020202020204" pitchFamily="34" charset="0"/>
                </a:rPr>
                <a:t>单元测试</a:t>
              </a:r>
              <a:endParaRPr kumimoji="0" lang="en-US" altLang="zh-CN" sz="2000" dirty="0">
                <a:solidFill>
                  <a:srgbClr val="400097"/>
                </a:solidFill>
                <a:latin typeface="Arial" panose="020B0604020202020204" pitchFamily="34" charset="0"/>
              </a:endParaRPr>
            </a:p>
          </p:txBody>
        </p:sp>
        <p:sp>
          <p:nvSpPr>
            <p:cNvPr id="31" name="Text Box 23"/>
            <p:cNvSpPr txBox="1">
              <a:spLocks noChangeArrowheads="1"/>
            </p:cNvSpPr>
            <p:nvPr/>
          </p:nvSpPr>
          <p:spPr bwMode="auto">
            <a:xfrm>
              <a:off x="2068" y="2970"/>
              <a:ext cx="461"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en-US" altLang="zh-CN" sz="2000">
                  <a:solidFill>
                    <a:srgbClr val="400097"/>
                  </a:solidFill>
                  <a:latin typeface="Arial" panose="020B0604020202020204" pitchFamily="34" charset="0"/>
                </a:rPr>
                <a:t>02/12</a:t>
              </a:r>
              <a:endParaRPr kumimoji="0" lang="en-US" altLang="zh-CN" sz="2000">
                <a:solidFill>
                  <a:srgbClr val="400097"/>
                </a:solidFill>
                <a:latin typeface="Arial" panose="020B0604020202020204" pitchFamily="34" charset="0"/>
              </a:endParaRPr>
            </a:p>
          </p:txBody>
        </p:sp>
        <p:sp>
          <p:nvSpPr>
            <p:cNvPr id="32" name="Text Box 24"/>
            <p:cNvSpPr txBox="1">
              <a:spLocks noChangeArrowheads="1"/>
            </p:cNvSpPr>
            <p:nvPr/>
          </p:nvSpPr>
          <p:spPr bwMode="auto">
            <a:xfrm>
              <a:off x="2907" y="2646"/>
              <a:ext cx="35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en-US" altLang="zh-CN" sz="2000">
                  <a:solidFill>
                    <a:srgbClr val="400097"/>
                  </a:solidFill>
                  <a:latin typeface="Arial" panose="020B0604020202020204" pitchFamily="34" charset="0"/>
                </a:rPr>
                <a:t>5/12</a:t>
              </a:r>
              <a:endParaRPr kumimoji="0" lang="en-US" altLang="zh-CN" sz="2000">
                <a:solidFill>
                  <a:srgbClr val="400097"/>
                </a:solidFill>
                <a:latin typeface="Arial" panose="020B0604020202020204" pitchFamily="34" charset="0"/>
              </a:endParaRPr>
            </a:p>
          </p:txBody>
        </p:sp>
        <p:sp>
          <p:nvSpPr>
            <p:cNvPr id="33" name="Text Box 25"/>
            <p:cNvSpPr txBox="1">
              <a:spLocks noChangeArrowheads="1"/>
            </p:cNvSpPr>
            <p:nvPr/>
          </p:nvSpPr>
          <p:spPr bwMode="auto">
            <a:xfrm>
              <a:off x="3966" y="1538"/>
              <a:ext cx="36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zh-CN" altLang="en-US" sz="2000" dirty="0">
                  <a:solidFill>
                    <a:srgbClr val="A0004C"/>
                  </a:solidFill>
                  <a:latin typeface="Arial" panose="020B0604020202020204" pitchFamily="34" charset="0"/>
                </a:rPr>
                <a:t>交付</a:t>
              </a:r>
              <a:endParaRPr kumimoji="0" lang="en-US" altLang="zh-CN" sz="2000" dirty="0">
                <a:solidFill>
                  <a:srgbClr val="A0004C"/>
                </a:solidFill>
                <a:latin typeface="Arial" panose="020B0604020202020204" pitchFamily="34" charset="0"/>
              </a:endParaRPr>
            </a:p>
          </p:txBody>
        </p:sp>
        <p:sp>
          <p:nvSpPr>
            <p:cNvPr id="34" name="Text Box 26"/>
            <p:cNvSpPr txBox="1">
              <a:spLocks noChangeArrowheads="1"/>
            </p:cNvSpPr>
            <p:nvPr/>
          </p:nvSpPr>
          <p:spPr bwMode="auto">
            <a:xfrm>
              <a:off x="1666" y="2658"/>
              <a:ext cx="36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zh-CN" altLang="en-US" sz="2000" dirty="0">
                  <a:solidFill>
                    <a:srgbClr val="400097"/>
                  </a:solidFill>
                  <a:latin typeface="Arial" panose="020B0604020202020204" pitchFamily="34" charset="0"/>
                </a:rPr>
                <a:t>编码</a:t>
              </a:r>
              <a:endParaRPr kumimoji="0" lang="en-US" altLang="zh-CN" sz="2000" dirty="0">
                <a:solidFill>
                  <a:srgbClr val="400097"/>
                </a:solidFill>
                <a:latin typeface="Arial" panose="020B0604020202020204" pitchFamily="34" charset="0"/>
              </a:endParaRPr>
            </a:p>
          </p:txBody>
        </p:sp>
        <p:sp>
          <p:nvSpPr>
            <p:cNvPr id="35" name="Text Box 27"/>
            <p:cNvSpPr txBox="1">
              <a:spLocks noChangeArrowheads="1"/>
            </p:cNvSpPr>
            <p:nvPr/>
          </p:nvSpPr>
          <p:spPr bwMode="auto">
            <a:xfrm>
              <a:off x="3677" y="2276"/>
              <a:ext cx="35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en-US" altLang="zh-CN" sz="2000">
                  <a:solidFill>
                    <a:srgbClr val="A0004C"/>
                  </a:solidFill>
                  <a:latin typeface="Arial" panose="020B0604020202020204" pitchFamily="34" charset="0"/>
                </a:rPr>
                <a:t>9/12</a:t>
              </a:r>
              <a:endParaRPr kumimoji="0" lang="en-US" altLang="zh-CN" sz="2000">
                <a:solidFill>
                  <a:srgbClr val="A0004C"/>
                </a:solidFill>
                <a:latin typeface="Arial" panose="020B0604020202020204" pitchFamily="34" charset="0"/>
              </a:endParaRPr>
            </a:p>
          </p:txBody>
        </p:sp>
        <p:sp>
          <p:nvSpPr>
            <p:cNvPr id="36" name="Text Box 28"/>
            <p:cNvSpPr txBox="1">
              <a:spLocks noChangeArrowheads="1"/>
            </p:cNvSpPr>
            <p:nvPr/>
          </p:nvSpPr>
          <p:spPr bwMode="auto">
            <a:xfrm>
              <a:off x="4460" y="1946"/>
              <a:ext cx="447"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en-US" altLang="zh-CN" sz="2000">
                  <a:solidFill>
                    <a:srgbClr val="A0004C"/>
                  </a:solidFill>
                  <a:latin typeface="Arial" panose="020B0604020202020204" pitchFamily="34" charset="0"/>
                </a:rPr>
                <a:t>11/12</a:t>
              </a:r>
              <a:endParaRPr kumimoji="0" lang="en-US" altLang="zh-CN" sz="2000">
                <a:solidFill>
                  <a:srgbClr val="A0004C"/>
                </a:solidFill>
                <a:latin typeface="Arial" panose="020B0604020202020204" pitchFamily="34" charset="0"/>
              </a:endParaRPr>
            </a:p>
          </p:txBody>
        </p:sp>
        <p:sp>
          <p:nvSpPr>
            <p:cNvPr id="37" name="Rectangle 29"/>
            <p:cNvSpPr>
              <a:spLocks noChangeArrowheads="1"/>
            </p:cNvSpPr>
            <p:nvPr/>
          </p:nvSpPr>
          <p:spPr bwMode="auto">
            <a:xfrm>
              <a:off x="3475" y="2201"/>
              <a:ext cx="146" cy="139"/>
            </a:xfrm>
            <a:prstGeom prst="rect">
              <a:avLst/>
            </a:prstGeom>
            <a:solidFill>
              <a:srgbClr val="740B00"/>
            </a:solidFill>
            <a:ln w="25400">
              <a:solidFill>
                <a:srgbClr val="740B00"/>
              </a:solidFill>
              <a:miter lim="800000"/>
            </a:ln>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38" name="Rectangle 30"/>
            <p:cNvSpPr>
              <a:spLocks noChangeArrowheads="1"/>
            </p:cNvSpPr>
            <p:nvPr/>
          </p:nvSpPr>
          <p:spPr bwMode="auto">
            <a:xfrm>
              <a:off x="3467" y="2307"/>
              <a:ext cx="145" cy="27"/>
            </a:xfrm>
            <a:prstGeom prst="rect">
              <a:avLst/>
            </a:prstGeom>
            <a:solidFill>
              <a:srgbClr val="95250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39" name="Freeform 31"/>
            <p:cNvSpPr>
              <a:spLocks noChangeArrowheads="1"/>
            </p:cNvSpPr>
            <p:nvPr/>
          </p:nvSpPr>
          <p:spPr bwMode="auto">
            <a:xfrm>
              <a:off x="3467" y="2188"/>
              <a:ext cx="143" cy="81"/>
            </a:xfrm>
            <a:custGeom>
              <a:avLst/>
              <a:gdLst>
                <a:gd name="T0" fmla="*/ 143 w 143"/>
                <a:gd name="T1" fmla="*/ 0 h 81"/>
                <a:gd name="T2" fmla="*/ 0 w 143"/>
                <a:gd name="T3" fmla="*/ 0 h 81"/>
                <a:gd name="T4" fmla="*/ 79 w 143"/>
                <a:gd name="T5" fmla="*/ 81 h 81"/>
                <a:gd name="T6" fmla="*/ 0 60000 65536"/>
                <a:gd name="T7" fmla="*/ 0 60000 65536"/>
                <a:gd name="T8" fmla="*/ 0 60000 65536"/>
                <a:gd name="T9" fmla="*/ 0 w 143"/>
                <a:gd name="T10" fmla="*/ 0 h 81"/>
                <a:gd name="T11" fmla="*/ 143 w 143"/>
                <a:gd name="T12" fmla="*/ 81 h 81"/>
              </a:gdLst>
              <a:ahLst/>
              <a:cxnLst>
                <a:cxn ang="T6">
                  <a:pos x="T0" y="T1"/>
                </a:cxn>
                <a:cxn ang="T7">
                  <a:pos x="T2" y="T3"/>
                </a:cxn>
                <a:cxn ang="T8">
                  <a:pos x="T4" y="T5"/>
                </a:cxn>
              </a:cxnLst>
              <a:rect l="T9" t="T10" r="T11" b="T12"/>
              <a:pathLst>
                <a:path w="143" h="81">
                  <a:moveTo>
                    <a:pt x="143" y="0"/>
                  </a:moveTo>
                  <a:lnTo>
                    <a:pt x="0" y="0"/>
                  </a:lnTo>
                  <a:lnTo>
                    <a:pt x="79" y="81"/>
                  </a:lnTo>
                  <a:lnTo>
                    <a:pt x="143" y="0"/>
                  </a:lnTo>
                  <a:close/>
                </a:path>
              </a:pathLst>
            </a:custGeom>
            <a:solidFill>
              <a:srgbClr val="FFCBCB"/>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40" name="Rectangle 32"/>
            <p:cNvSpPr>
              <a:spLocks noChangeArrowheads="1"/>
            </p:cNvSpPr>
            <p:nvPr/>
          </p:nvSpPr>
          <p:spPr bwMode="auto">
            <a:xfrm>
              <a:off x="3485" y="2207"/>
              <a:ext cx="106" cy="105"/>
            </a:xfrm>
            <a:prstGeom prst="rect">
              <a:avLst/>
            </a:prstGeom>
            <a:solidFill>
              <a:srgbClr val="FF6379"/>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41" name="Freeform 33"/>
            <p:cNvSpPr>
              <a:spLocks noChangeArrowheads="1"/>
            </p:cNvSpPr>
            <p:nvPr/>
          </p:nvSpPr>
          <p:spPr bwMode="auto">
            <a:xfrm>
              <a:off x="3467" y="2188"/>
              <a:ext cx="18" cy="144"/>
            </a:xfrm>
            <a:custGeom>
              <a:avLst/>
              <a:gdLst>
                <a:gd name="T0" fmla="*/ 18 w 18"/>
                <a:gd name="T1" fmla="*/ 124 h 144"/>
                <a:gd name="T2" fmla="*/ 18 w 18"/>
                <a:gd name="T3" fmla="*/ 18 h 144"/>
                <a:gd name="T4" fmla="*/ 0 w 18"/>
                <a:gd name="T5" fmla="*/ 0 h 144"/>
                <a:gd name="T6" fmla="*/ 0 w 18"/>
                <a:gd name="T7" fmla="*/ 144 h 144"/>
                <a:gd name="T8" fmla="*/ 0 60000 65536"/>
                <a:gd name="T9" fmla="*/ 0 60000 65536"/>
                <a:gd name="T10" fmla="*/ 0 60000 65536"/>
                <a:gd name="T11" fmla="*/ 0 60000 65536"/>
                <a:gd name="T12" fmla="*/ 0 w 18"/>
                <a:gd name="T13" fmla="*/ 0 h 144"/>
                <a:gd name="T14" fmla="*/ 18 w 18"/>
                <a:gd name="T15" fmla="*/ 144 h 144"/>
              </a:gdLst>
              <a:ahLst/>
              <a:cxnLst>
                <a:cxn ang="T8">
                  <a:pos x="T0" y="T1"/>
                </a:cxn>
                <a:cxn ang="T9">
                  <a:pos x="T2" y="T3"/>
                </a:cxn>
                <a:cxn ang="T10">
                  <a:pos x="T4" y="T5"/>
                </a:cxn>
                <a:cxn ang="T11">
                  <a:pos x="T6" y="T7"/>
                </a:cxn>
              </a:cxnLst>
              <a:rect l="T12" t="T13" r="T14" b="T15"/>
              <a:pathLst>
                <a:path w="18" h="144">
                  <a:moveTo>
                    <a:pt x="18" y="124"/>
                  </a:moveTo>
                  <a:lnTo>
                    <a:pt x="18" y="18"/>
                  </a:lnTo>
                  <a:lnTo>
                    <a:pt x="0" y="0"/>
                  </a:lnTo>
                  <a:lnTo>
                    <a:pt x="0" y="144"/>
                  </a:lnTo>
                  <a:lnTo>
                    <a:pt x="18" y="124"/>
                  </a:lnTo>
                  <a:close/>
                </a:path>
              </a:pathLst>
            </a:custGeom>
            <a:solidFill>
              <a:srgbClr val="FF9494"/>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42" name="Freeform 34"/>
            <p:cNvSpPr/>
            <p:nvPr/>
          </p:nvSpPr>
          <p:spPr bwMode="auto">
            <a:xfrm>
              <a:off x="3485" y="2207"/>
              <a:ext cx="106" cy="105"/>
            </a:xfrm>
            <a:custGeom>
              <a:avLst/>
              <a:gdLst>
                <a:gd name="T0" fmla="*/ 0 w 106"/>
                <a:gd name="T1" fmla="*/ 105 h 105"/>
                <a:gd name="T2" fmla="*/ 0 w 106"/>
                <a:gd name="T3" fmla="*/ 0 h 105"/>
                <a:gd name="T4" fmla="*/ 106 w 106"/>
                <a:gd name="T5" fmla="*/ 0 h 105"/>
                <a:gd name="T6" fmla="*/ 0 60000 65536"/>
                <a:gd name="T7" fmla="*/ 0 60000 65536"/>
                <a:gd name="T8" fmla="*/ 0 60000 65536"/>
                <a:gd name="T9" fmla="*/ 0 w 106"/>
                <a:gd name="T10" fmla="*/ 0 h 105"/>
                <a:gd name="T11" fmla="*/ 106 w 106"/>
                <a:gd name="T12" fmla="*/ 105 h 105"/>
              </a:gdLst>
              <a:ahLst/>
              <a:cxnLst>
                <a:cxn ang="T6">
                  <a:pos x="T0" y="T1"/>
                </a:cxn>
                <a:cxn ang="T7">
                  <a:pos x="T2" y="T3"/>
                </a:cxn>
                <a:cxn ang="T8">
                  <a:pos x="T4" y="T5"/>
                </a:cxn>
              </a:cxnLst>
              <a:rect l="T9" t="T10" r="T11" b="T12"/>
              <a:pathLst>
                <a:path w="106" h="105">
                  <a:moveTo>
                    <a:pt x="0" y="105"/>
                  </a:moveTo>
                  <a:lnTo>
                    <a:pt x="0" y="0"/>
                  </a:lnTo>
                  <a:lnTo>
                    <a:pt x="106" y="0"/>
                  </a:lnTo>
                </a:path>
              </a:pathLst>
            </a:custGeom>
            <a:noFill/>
            <a:ln w="25400">
              <a:solidFill>
                <a:srgbClr val="F32D3B"/>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sz="2000"/>
            </a:p>
          </p:txBody>
        </p:sp>
        <p:sp>
          <p:nvSpPr>
            <p:cNvPr id="43" name="Freeform 35"/>
            <p:cNvSpPr>
              <a:spLocks noChangeArrowheads="1"/>
            </p:cNvSpPr>
            <p:nvPr/>
          </p:nvSpPr>
          <p:spPr bwMode="auto">
            <a:xfrm>
              <a:off x="3552" y="2160"/>
              <a:ext cx="58" cy="172"/>
            </a:xfrm>
            <a:custGeom>
              <a:avLst/>
              <a:gdLst>
                <a:gd name="T0" fmla="*/ 0 w 19"/>
                <a:gd name="T1" fmla="*/ 12910854 h 144"/>
                <a:gd name="T2" fmla="*/ 0 w 19"/>
                <a:gd name="T3" fmla="*/ 1896120 h 144"/>
                <a:gd name="T4" fmla="*/ 2147483647 w 19"/>
                <a:gd name="T5" fmla="*/ 0 h 144"/>
                <a:gd name="T6" fmla="*/ 2147483647 w 19"/>
                <a:gd name="T7" fmla="*/ 14912725 h 144"/>
                <a:gd name="T8" fmla="*/ 0 60000 65536"/>
                <a:gd name="T9" fmla="*/ 0 60000 65536"/>
                <a:gd name="T10" fmla="*/ 0 60000 65536"/>
                <a:gd name="T11" fmla="*/ 0 60000 65536"/>
                <a:gd name="T12" fmla="*/ 0 w 19"/>
                <a:gd name="T13" fmla="*/ 0 h 144"/>
                <a:gd name="T14" fmla="*/ 19 w 19"/>
                <a:gd name="T15" fmla="*/ 144 h 144"/>
              </a:gdLst>
              <a:ahLst/>
              <a:cxnLst>
                <a:cxn ang="T8">
                  <a:pos x="T0" y="T1"/>
                </a:cxn>
                <a:cxn ang="T9">
                  <a:pos x="T2" y="T3"/>
                </a:cxn>
                <a:cxn ang="T10">
                  <a:pos x="T4" y="T5"/>
                </a:cxn>
                <a:cxn ang="T11">
                  <a:pos x="T6" y="T7"/>
                </a:cxn>
              </a:cxnLst>
              <a:rect l="T12" t="T13" r="T14" b="T15"/>
              <a:pathLst>
                <a:path w="19" h="144">
                  <a:moveTo>
                    <a:pt x="0" y="125"/>
                  </a:moveTo>
                  <a:lnTo>
                    <a:pt x="0" y="18"/>
                  </a:lnTo>
                  <a:lnTo>
                    <a:pt x="19" y="0"/>
                  </a:lnTo>
                  <a:lnTo>
                    <a:pt x="19" y="144"/>
                  </a:lnTo>
                  <a:lnTo>
                    <a:pt x="0" y="125"/>
                  </a:lnTo>
                  <a:close/>
                </a:path>
              </a:pathLst>
            </a:custGeom>
            <a:solidFill>
              <a:srgbClr val="DA0030"/>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44" name="Line 36"/>
            <p:cNvSpPr>
              <a:spLocks noChangeShapeType="1"/>
            </p:cNvSpPr>
            <p:nvPr/>
          </p:nvSpPr>
          <p:spPr bwMode="auto">
            <a:xfrm>
              <a:off x="3485" y="2312"/>
              <a:ext cx="106" cy="0"/>
            </a:xfrm>
            <a:prstGeom prst="line">
              <a:avLst/>
            </a:prstGeom>
            <a:noFill/>
            <a:ln w="25400">
              <a:solidFill>
                <a:srgbClr val="BC0024"/>
              </a:solidFill>
              <a:round/>
            </a:ln>
            <a:extLst>
              <a:ext uri="{909E8E84-426E-40DD-AFC4-6F175D3DCCD1}">
                <a14:hiddenFill xmlns:a14="http://schemas.microsoft.com/office/drawing/2010/main">
                  <a:noFill/>
                </a14:hiddenFill>
              </a:ext>
            </a:extLst>
          </p:spPr>
          <p:txBody>
            <a:bodyPr wrap="none"/>
            <a:lstStyle/>
            <a:p>
              <a:endParaRPr lang="zh-CN" altLang="en-US" sz="2000"/>
            </a:p>
          </p:txBody>
        </p:sp>
        <p:sp>
          <p:nvSpPr>
            <p:cNvPr id="45" name="Text Box 37"/>
            <p:cNvSpPr txBox="1">
              <a:spLocks noChangeArrowheads="1"/>
            </p:cNvSpPr>
            <p:nvPr/>
          </p:nvSpPr>
          <p:spPr bwMode="auto">
            <a:xfrm>
              <a:off x="3056" y="1855"/>
              <a:ext cx="737"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l">
                <a:spcAft>
                  <a:spcPct val="15000"/>
                </a:spcAft>
              </a:pPr>
              <a:r>
                <a:rPr kumimoji="0" lang="zh-CN" altLang="en-US" sz="2000" dirty="0">
                  <a:solidFill>
                    <a:srgbClr val="A0004C"/>
                  </a:solidFill>
                  <a:latin typeface="Arial" panose="020B0604020202020204" pitchFamily="34" charset="0"/>
                </a:rPr>
                <a:t>集成测试</a:t>
              </a:r>
              <a:endParaRPr kumimoji="0" lang="en-US" altLang="zh-CN" sz="2000" dirty="0">
                <a:solidFill>
                  <a:srgbClr val="A0004C"/>
                </a:solidFill>
                <a:latin typeface="Arial" panose="020B0604020202020204" pitchFamily="34" charset="0"/>
              </a:endParaRPr>
            </a:p>
          </p:txBody>
        </p:sp>
        <p:sp>
          <p:nvSpPr>
            <p:cNvPr id="46" name="Rectangle 38"/>
            <p:cNvSpPr>
              <a:spLocks noChangeArrowheads="1"/>
            </p:cNvSpPr>
            <p:nvPr/>
          </p:nvSpPr>
          <p:spPr bwMode="auto">
            <a:xfrm>
              <a:off x="1415" y="3198"/>
              <a:ext cx="136" cy="130"/>
            </a:xfrm>
            <a:prstGeom prst="rect">
              <a:avLst/>
            </a:prstGeom>
            <a:solidFill>
              <a:srgbClr val="000000"/>
            </a:solidFill>
            <a:ln w="25400">
              <a:solidFill>
                <a:srgbClr val="000000"/>
              </a:solidFill>
              <a:miter lim="800000"/>
            </a:ln>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47" name="Rectangle 39"/>
            <p:cNvSpPr>
              <a:spLocks noChangeArrowheads="1"/>
            </p:cNvSpPr>
            <p:nvPr/>
          </p:nvSpPr>
          <p:spPr bwMode="auto">
            <a:xfrm>
              <a:off x="1403" y="3296"/>
              <a:ext cx="135" cy="19"/>
            </a:xfrm>
            <a:prstGeom prst="rect">
              <a:avLst/>
            </a:prstGeom>
            <a:gradFill rotWithShape="0">
              <a:gsLst>
                <a:gs pos="0">
                  <a:srgbClr val="0000FF"/>
                </a:gs>
                <a:gs pos="50000">
                  <a:srgbClr val="38B0FF"/>
                </a:gs>
                <a:gs pos="100000">
                  <a:srgbClr val="0000FF"/>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48" name="Freeform 40"/>
            <p:cNvSpPr>
              <a:spLocks noChangeArrowheads="1"/>
            </p:cNvSpPr>
            <p:nvPr/>
          </p:nvSpPr>
          <p:spPr bwMode="auto">
            <a:xfrm>
              <a:off x="1403" y="3183"/>
              <a:ext cx="135" cy="132"/>
            </a:xfrm>
            <a:custGeom>
              <a:avLst/>
              <a:gdLst>
                <a:gd name="T0" fmla="*/ 135 w 135"/>
                <a:gd name="T1" fmla="*/ 0 h 132"/>
                <a:gd name="T2" fmla="*/ 0 w 135"/>
                <a:gd name="T3" fmla="*/ 0 h 132"/>
                <a:gd name="T4" fmla="*/ 0 w 135"/>
                <a:gd name="T5" fmla="*/ 132 h 132"/>
                <a:gd name="T6" fmla="*/ 0 60000 65536"/>
                <a:gd name="T7" fmla="*/ 0 60000 65536"/>
                <a:gd name="T8" fmla="*/ 0 60000 65536"/>
                <a:gd name="T9" fmla="*/ 0 w 135"/>
                <a:gd name="T10" fmla="*/ 0 h 132"/>
                <a:gd name="T11" fmla="*/ 135 w 135"/>
                <a:gd name="T12" fmla="*/ 132 h 132"/>
              </a:gdLst>
              <a:ahLst/>
              <a:cxnLst>
                <a:cxn ang="T6">
                  <a:pos x="T0" y="T1"/>
                </a:cxn>
                <a:cxn ang="T7">
                  <a:pos x="T2" y="T3"/>
                </a:cxn>
                <a:cxn ang="T8">
                  <a:pos x="T4" y="T5"/>
                </a:cxn>
              </a:cxnLst>
              <a:rect l="T9" t="T10" r="T11" b="T12"/>
              <a:pathLst>
                <a:path w="135" h="132">
                  <a:moveTo>
                    <a:pt x="135" y="0"/>
                  </a:moveTo>
                  <a:lnTo>
                    <a:pt x="0" y="0"/>
                  </a:lnTo>
                  <a:lnTo>
                    <a:pt x="0" y="132"/>
                  </a:lnTo>
                  <a:lnTo>
                    <a:pt x="135" y="0"/>
                  </a:lnTo>
                  <a:close/>
                </a:path>
              </a:pathLst>
            </a:custGeom>
            <a:solidFill>
              <a:srgbClr val="00EFEF"/>
            </a:solidFill>
            <a:ln w="25400">
              <a:solidFill>
                <a:srgbClr val="400097"/>
              </a:solidFill>
              <a:round/>
            </a:ln>
          </p:spPr>
          <p:txBody>
            <a:bodyPr wrap="none"/>
            <a:lstStyle/>
            <a:p>
              <a:endParaRPr lang="zh-CN" altLang="en-US" sz="2000"/>
            </a:p>
          </p:txBody>
        </p:sp>
        <p:sp>
          <p:nvSpPr>
            <p:cNvPr id="49" name="Rectangle 41"/>
            <p:cNvSpPr>
              <a:spLocks noChangeArrowheads="1"/>
            </p:cNvSpPr>
            <p:nvPr/>
          </p:nvSpPr>
          <p:spPr bwMode="auto">
            <a:xfrm>
              <a:off x="1420" y="3199"/>
              <a:ext cx="102" cy="99"/>
            </a:xfrm>
            <a:prstGeom prst="rect">
              <a:avLst/>
            </a:prstGeom>
            <a:solidFill>
              <a:srgbClr val="38B0FF"/>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50" name="Freeform 42"/>
            <p:cNvSpPr>
              <a:spLocks noChangeArrowheads="1"/>
            </p:cNvSpPr>
            <p:nvPr/>
          </p:nvSpPr>
          <p:spPr bwMode="auto">
            <a:xfrm>
              <a:off x="1405" y="3183"/>
              <a:ext cx="15" cy="131"/>
            </a:xfrm>
            <a:custGeom>
              <a:avLst/>
              <a:gdLst>
                <a:gd name="T0" fmla="*/ 15 w 15"/>
                <a:gd name="T1" fmla="*/ 115 h 131"/>
                <a:gd name="T2" fmla="*/ 15 w 15"/>
                <a:gd name="T3" fmla="*/ 14 h 131"/>
                <a:gd name="T4" fmla="*/ 0 w 15"/>
                <a:gd name="T5" fmla="*/ 0 h 131"/>
                <a:gd name="T6" fmla="*/ 0 w 15"/>
                <a:gd name="T7" fmla="*/ 131 h 131"/>
                <a:gd name="T8" fmla="*/ 0 60000 65536"/>
                <a:gd name="T9" fmla="*/ 0 60000 65536"/>
                <a:gd name="T10" fmla="*/ 0 60000 65536"/>
                <a:gd name="T11" fmla="*/ 0 60000 65536"/>
                <a:gd name="T12" fmla="*/ 0 w 15"/>
                <a:gd name="T13" fmla="*/ 0 h 131"/>
                <a:gd name="T14" fmla="*/ 15 w 15"/>
                <a:gd name="T15" fmla="*/ 131 h 131"/>
              </a:gdLst>
              <a:ahLst/>
              <a:cxnLst>
                <a:cxn ang="T8">
                  <a:pos x="T0" y="T1"/>
                </a:cxn>
                <a:cxn ang="T9">
                  <a:pos x="T2" y="T3"/>
                </a:cxn>
                <a:cxn ang="T10">
                  <a:pos x="T4" y="T5"/>
                </a:cxn>
                <a:cxn ang="T11">
                  <a:pos x="T6" y="T7"/>
                </a:cxn>
              </a:cxnLst>
              <a:rect l="T12" t="T13" r="T14" b="T15"/>
              <a:pathLst>
                <a:path w="15" h="131">
                  <a:moveTo>
                    <a:pt x="15" y="115"/>
                  </a:moveTo>
                  <a:lnTo>
                    <a:pt x="15" y="14"/>
                  </a:lnTo>
                  <a:lnTo>
                    <a:pt x="0" y="0"/>
                  </a:lnTo>
                  <a:lnTo>
                    <a:pt x="0" y="131"/>
                  </a:lnTo>
                  <a:lnTo>
                    <a:pt x="15" y="115"/>
                  </a:lnTo>
                  <a:close/>
                </a:path>
              </a:pathLst>
            </a:custGeom>
            <a:gradFill rotWithShape="0">
              <a:gsLst>
                <a:gs pos="0">
                  <a:srgbClr val="00EFEF"/>
                </a:gs>
                <a:gs pos="50000">
                  <a:srgbClr val="FFFFFF"/>
                </a:gs>
                <a:gs pos="100000">
                  <a:srgbClr val="00EFEF"/>
                </a:gs>
              </a:gsLst>
              <a:lin ang="16200000" scaled="1"/>
            </a:gra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51" name="Freeform 43"/>
            <p:cNvSpPr/>
            <p:nvPr/>
          </p:nvSpPr>
          <p:spPr bwMode="auto">
            <a:xfrm>
              <a:off x="1420" y="3198"/>
              <a:ext cx="100" cy="100"/>
            </a:xfrm>
            <a:custGeom>
              <a:avLst/>
              <a:gdLst>
                <a:gd name="T0" fmla="*/ 0 w 100"/>
                <a:gd name="T1" fmla="*/ 100 h 100"/>
                <a:gd name="T2" fmla="*/ 0 w 100"/>
                <a:gd name="T3" fmla="*/ 0 h 100"/>
                <a:gd name="T4" fmla="*/ 100 w 100"/>
                <a:gd name="T5" fmla="*/ 0 h 100"/>
                <a:gd name="T6" fmla="*/ 0 60000 65536"/>
                <a:gd name="T7" fmla="*/ 0 60000 65536"/>
                <a:gd name="T8" fmla="*/ 0 60000 65536"/>
                <a:gd name="T9" fmla="*/ 0 w 100"/>
                <a:gd name="T10" fmla="*/ 0 h 100"/>
                <a:gd name="T11" fmla="*/ 100 w 100"/>
                <a:gd name="T12" fmla="*/ 100 h 100"/>
              </a:gdLst>
              <a:ahLst/>
              <a:cxnLst>
                <a:cxn ang="T6">
                  <a:pos x="T0" y="T1"/>
                </a:cxn>
                <a:cxn ang="T7">
                  <a:pos x="T2" y="T3"/>
                </a:cxn>
                <a:cxn ang="T8">
                  <a:pos x="T4" y="T5"/>
                </a:cxn>
              </a:cxnLst>
              <a:rect l="T9" t="T10" r="T11" b="T12"/>
              <a:pathLst>
                <a:path w="100" h="100">
                  <a:moveTo>
                    <a:pt x="0" y="100"/>
                  </a:moveTo>
                  <a:lnTo>
                    <a:pt x="0" y="0"/>
                  </a:lnTo>
                  <a:lnTo>
                    <a:pt x="100" y="0"/>
                  </a:lnTo>
                </a:path>
              </a:pathLst>
            </a:custGeom>
            <a:noFill/>
            <a:ln w="25400">
              <a:solidFill>
                <a:srgbClr val="FFFFFF"/>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sz="2000"/>
            </a:p>
          </p:txBody>
        </p:sp>
        <p:sp>
          <p:nvSpPr>
            <p:cNvPr id="52" name="Freeform 44"/>
            <p:cNvSpPr>
              <a:spLocks noChangeArrowheads="1"/>
            </p:cNvSpPr>
            <p:nvPr/>
          </p:nvSpPr>
          <p:spPr bwMode="auto">
            <a:xfrm>
              <a:off x="1403" y="3312"/>
              <a:ext cx="135" cy="4"/>
            </a:xfrm>
            <a:custGeom>
              <a:avLst/>
              <a:gdLst>
                <a:gd name="T0" fmla="*/ 135 w 135"/>
                <a:gd name="T1" fmla="*/ 4 h 4"/>
                <a:gd name="T2" fmla="*/ 134 w 135"/>
                <a:gd name="T3" fmla="*/ 0 h 4"/>
                <a:gd name="T4" fmla="*/ 5 w 135"/>
                <a:gd name="T5" fmla="*/ 0 h 4"/>
                <a:gd name="T6" fmla="*/ 0 w 135"/>
                <a:gd name="T7" fmla="*/ 4 h 4"/>
                <a:gd name="T8" fmla="*/ 0 60000 65536"/>
                <a:gd name="T9" fmla="*/ 0 60000 65536"/>
                <a:gd name="T10" fmla="*/ 0 60000 65536"/>
                <a:gd name="T11" fmla="*/ 0 60000 65536"/>
                <a:gd name="T12" fmla="*/ 0 w 135"/>
                <a:gd name="T13" fmla="*/ 0 h 4"/>
                <a:gd name="T14" fmla="*/ 135 w 135"/>
                <a:gd name="T15" fmla="*/ 4 h 4"/>
              </a:gdLst>
              <a:ahLst/>
              <a:cxnLst>
                <a:cxn ang="T8">
                  <a:pos x="T0" y="T1"/>
                </a:cxn>
                <a:cxn ang="T9">
                  <a:pos x="T2" y="T3"/>
                </a:cxn>
                <a:cxn ang="T10">
                  <a:pos x="T4" y="T5"/>
                </a:cxn>
                <a:cxn ang="T11">
                  <a:pos x="T6" y="T7"/>
                </a:cxn>
              </a:cxnLst>
              <a:rect l="T12" t="T13" r="T14" b="T15"/>
              <a:pathLst>
                <a:path w="135" h="4">
                  <a:moveTo>
                    <a:pt x="135" y="4"/>
                  </a:moveTo>
                  <a:lnTo>
                    <a:pt x="134" y="0"/>
                  </a:lnTo>
                  <a:lnTo>
                    <a:pt x="5" y="0"/>
                  </a:lnTo>
                  <a:lnTo>
                    <a:pt x="0" y="4"/>
                  </a:lnTo>
                  <a:lnTo>
                    <a:pt x="135" y="4"/>
                  </a:lnTo>
                  <a:close/>
                </a:path>
              </a:pathLst>
            </a:custGeom>
            <a:solidFill>
              <a:srgbClr val="0000FF"/>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53" name="Freeform 45"/>
            <p:cNvSpPr>
              <a:spLocks noChangeArrowheads="1"/>
            </p:cNvSpPr>
            <p:nvPr/>
          </p:nvSpPr>
          <p:spPr bwMode="auto">
            <a:xfrm>
              <a:off x="1520" y="3181"/>
              <a:ext cx="18" cy="134"/>
            </a:xfrm>
            <a:custGeom>
              <a:avLst/>
              <a:gdLst>
                <a:gd name="T0" fmla="*/ 0 w 18"/>
                <a:gd name="T1" fmla="*/ 117 h 134"/>
                <a:gd name="T2" fmla="*/ 0 w 18"/>
                <a:gd name="T3" fmla="*/ 18 h 134"/>
                <a:gd name="T4" fmla="*/ 18 w 18"/>
                <a:gd name="T5" fmla="*/ 0 h 134"/>
                <a:gd name="T6" fmla="*/ 18 w 18"/>
                <a:gd name="T7" fmla="*/ 134 h 134"/>
                <a:gd name="T8" fmla="*/ 0 60000 65536"/>
                <a:gd name="T9" fmla="*/ 0 60000 65536"/>
                <a:gd name="T10" fmla="*/ 0 60000 65536"/>
                <a:gd name="T11" fmla="*/ 0 60000 65536"/>
                <a:gd name="T12" fmla="*/ 0 w 18"/>
                <a:gd name="T13" fmla="*/ 0 h 134"/>
                <a:gd name="T14" fmla="*/ 18 w 18"/>
                <a:gd name="T15" fmla="*/ 134 h 134"/>
              </a:gdLst>
              <a:ahLst/>
              <a:cxnLst>
                <a:cxn ang="T8">
                  <a:pos x="T0" y="T1"/>
                </a:cxn>
                <a:cxn ang="T9">
                  <a:pos x="T2" y="T3"/>
                </a:cxn>
                <a:cxn ang="T10">
                  <a:pos x="T4" y="T5"/>
                </a:cxn>
                <a:cxn ang="T11">
                  <a:pos x="T6" y="T7"/>
                </a:cxn>
              </a:cxnLst>
              <a:rect l="T12" t="T13" r="T14" b="T15"/>
              <a:pathLst>
                <a:path w="18" h="134">
                  <a:moveTo>
                    <a:pt x="0" y="117"/>
                  </a:moveTo>
                  <a:lnTo>
                    <a:pt x="0" y="18"/>
                  </a:lnTo>
                  <a:lnTo>
                    <a:pt x="18" y="0"/>
                  </a:lnTo>
                  <a:lnTo>
                    <a:pt x="18" y="134"/>
                  </a:lnTo>
                  <a:lnTo>
                    <a:pt x="0" y="117"/>
                  </a:lnTo>
                  <a:close/>
                </a:path>
              </a:pathLst>
            </a:custGeom>
            <a:solidFill>
              <a:srgbClr val="0000FF"/>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54" name="Line 46"/>
            <p:cNvSpPr>
              <a:spLocks noChangeShapeType="1"/>
            </p:cNvSpPr>
            <p:nvPr/>
          </p:nvSpPr>
          <p:spPr bwMode="auto">
            <a:xfrm>
              <a:off x="1420" y="3298"/>
              <a:ext cx="101" cy="0"/>
            </a:xfrm>
            <a:prstGeom prst="line">
              <a:avLst/>
            </a:prstGeom>
            <a:noFill/>
            <a:ln w="25400">
              <a:solidFill>
                <a:srgbClr val="00EFEF"/>
              </a:solidFill>
              <a:round/>
            </a:ln>
            <a:extLst>
              <a:ext uri="{909E8E84-426E-40DD-AFC4-6F175D3DCCD1}">
                <a14:hiddenFill xmlns:a14="http://schemas.microsoft.com/office/drawing/2010/main">
                  <a:noFill/>
                </a14:hiddenFill>
              </a:ext>
            </a:extLst>
          </p:spPr>
          <p:txBody>
            <a:bodyPr wrap="none"/>
            <a:lstStyle/>
            <a:p>
              <a:endParaRPr lang="zh-CN" altLang="en-US" sz="2000"/>
            </a:p>
          </p:txBody>
        </p:sp>
        <p:sp>
          <p:nvSpPr>
            <p:cNvPr id="55" name="Freeform 47"/>
            <p:cNvSpPr>
              <a:spLocks noChangeArrowheads="1"/>
            </p:cNvSpPr>
            <p:nvPr/>
          </p:nvSpPr>
          <p:spPr bwMode="auto">
            <a:xfrm>
              <a:off x="1520" y="3198"/>
              <a:ext cx="0" cy="100"/>
            </a:xfrm>
            <a:custGeom>
              <a:avLst/>
              <a:gdLst>
                <a:gd name="T0" fmla="*/ 0 h 100"/>
                <a:gd name="T1" fmla="*/ 0 h 100"/>
                <a:gd name="T2" fmla="*/ 0 h 100"/>
                <a:gd name="T3" fmla="*/ 100 h 100"/>
                <a:gd name="T4" fmla="*/ 98 h 100"/>
                <a:gd name="T5" fmla="*/ 0 60000 65536"/>
                <a:gd name="T6" fmla="*/ 0 60000 65536"/>
                <a:gd name="T7" fmla="*/ 0 60000 65536"/>
                <a:gd name="T8" fmla="*/ 0 60000 65536"/>
                <a:gd name="T9" fmla="*/ 0 60000 65536"/>
                <a:gd name="T10" fmla="*/ 0 h 100"/>
                <a:gd name="T11" fmla="*/ 100 h 100"/>
              </a:gdLst>
              <a:ahLst/>
              <a:cxnLst>
                <a:cxn ang="T5">
                  <a:pos x="0" y="T0"/>
                </a:cxn>
                <a:cxn ang="T6">
                  <a:pos x="0" y="T1"/>
                </a:cxn>
                <a:cxn ang="T7">
                  <a:pos x="0" y="T2"/>
                </a:cxn>
                <a:cxn ang="T8">
                  <a:pos x="0" y="T3"/>
                </a:cxn>
                <a:cxn ang="T9">
                  <a:pos x="0" y="T4"/>
                </a:cxn>
              </a:cxnLst>
              <a:rect l="0" t="T10" r="0" b="T11"/>
              <a:pathLst>
                <a:path h="100">
                  <a:moveTo>
                    <a:pt x="0" y="0"/>
                  </a:moveTo>
                  <a:cubicBezTo>
                    <a:pt x="0" y="0"/>
                    <a:pt x="0" y="0"/>
                    <a:pt x="0" y="0"/>
                  </a:cubicBezTo>
                  <a:cubicBezTo>
                    <a:pt x="0" y="0"/>
                    <a:pt x="0" y="0"/>
                    <a:pt x="0" y="0"/>
                  </a:cubicBezTo>
                  <a:cubicBezTo>
                    <a:pt x="0" y="100"/>
                    <a:pt x="0" y="100"/>
                    <a:pt x="0" y="100"/>
                  </a:cubicBezTo>
                  <a:cubicBezTo>
                    <a:pt x="0" y="98"/>
                    <a:pt x="0" y="98"/>
                    <a:pt x="0" y="98"/>
                  </a:cubicBezTo>
                  <a:lnTo>
                    <a:pt x="0" y="0"/>
                  </a:lnTo>
                  <a:close/>
                </a:path>
              </a:pathLst>
            </a:custGeom>
            <a:solidFill>
              <a:srgbClr val="00DCE4"/>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56" name="Freeform 48"/>
            <p:cNvSpPr>
              <a:spLocks noChangeArrowheads="1"/>
            </p:cNvSpPr>
            <p:nvPr/>
          </p:nvSpPr>
          <p:spPr bwMode="auto">
            <a:xfrm>
              <a:off x="1522" y="3183"/>
              <a:ext cx="15" cy="30"/>
            </a:xfrm>
            <a:custGeom>
              <a:avLst/>
              <a:gdLst>
                <a:gd name="T0" fmla="*/ 0 w 15"/>
                <a:gd name="T1" fmla="*/ 17 h 30"/>
                <a:gd name="T2" fmla="*/ 0 w 15"/>
                <a:gd name="T3" fmla="*/ 17 h 30"/>
                <a:gd name="T4" fmla="*/ 0 w 15"/>
                <a:gd name="T5" fmla="*/ 27 h 30"/>
                <a:gd name="T6" fmla="*/ 12 w 15"/>
                <a:gd name="T7" fmla="*/ 12 h 30"/>
                <a:gd name="T8" fmla="*/ 15 w 15"/>
                <a:gd name="T9" fmla="*/ 30 h 30"/>
                <a:gd name="T10" fmla="*/ 15 w 15"/>
                <a:gd name="T11" fmla="*/ 0 h 30"/>
                <a:gd name="T12" fmla="*/ 0 60000 65536"/>
                <a:gd name="T13" fmla="*/ 0 60000 65536"/>
                <a:gd name="T14" fmla="*/ 0 60000 65536"/>
                <a:gd name="T15" fmla="*/ 0 60000 65536"/>
                <a:gd name="T16" fmla="*/ 0 60000 65536"/>
                <a:gd name="T17" fmla="*/ 0 60000 65536"/>
                <a:gd name="T18" fmla="*/ 0 w 15"/>
                <a:gd name="T19" fmla="*/ 0 h 30"/>
                <a:gd name="T20" fmla="*/ 15 w 15"/>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15" h="30">
                  <a:moveTo>
                    <a:pt x="0" y="17"/>
                  </a:moveTo>
                  <a:cubicBezTo>
                    <a:pt x="0" y="17"/>
                    <a:pt x="0" y="17"/>
                    <a:pt x="0" y="17"/>
                  </a:cubicBezTo>
                  <a:cubicBezTo>
                    <a:pt x="0" y="17"/>
                    <a:pt x="0" y="28"/>
                    <a:pt x="0" y="27"/>
                  </a:cubicBezTo>
                  <a:cubicBezTo>
                    <a:pt x="4" y="14"/>
                    <a:pt x="11" y="12"/>
                    <a:pt x="12" y="12"/>
                  </a:cubicBezTo>
                  <a:cubicBezTo>
                    <a:pt x="13" y="14"/>
                    <a:pt x="15" y="30"/>
                    <a:pt x="15" y="30"/>
                  </a:cubicBezTo>
                  <a:cubicBezTo>
                    <a:pt x="15" y="0"/>
                    <a:pt x="15" y="0"/>
                    <a:pt x="15" y="0"/>
                  </a:cubicBezTo>
                  <a:lnTo>
                    <a:pt x="0" y="17"/>
                  </a:lnTo>
                  <a:close/>
                </a:path>
              </a:pathLst>
            </a:custGeom>
            <a:solidFill>
              <a:srgbClr val="280078"/>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57" name="Freeform 49"/>
            <p:cNvSpPr>
              <a:spLocks noChangeArrowheads="1"/>
            </p:cNvSpPr>
            <p:nvPr/>
          </p:nvSpPr>
          <p:spPr bwMode="auto">
            <a:xfrm>
              <a:off x="1522" y="3266"/>
              <a:ext cx="15" cy="46"/>
            </a:xfrm>
            <a:custGeom>
              <a:avLst/>
              <a:gdLst>
                <a:gd name="T0" fmla="*/ 15 w 15"/>
                <a:gd name="T1" fmla="*/ 46 h 46"/>
                <a:gd name="T2" fmla="*/ 15 w 15"/>
                <a:gd name="T3" fmla="*/ 46 h 46"/>
                <a:gd name="T4" fmla="*/ 15 w 15"/>
                <a:gd name="T5" fmla="*/ 0 h 46"/>
                <a:gd name="T6" fmla="*/ 11 w 15"/>
                <a:gd name="T7" fmla="*/ 34 h 46"/>
                <a:gd name="T8" fmla="*/ 4 w 15"/>
                <a:gd name="T9" fmla="*/ 30 h 46"/>
                <a:gd name="T10" fmla="*/ 1 w 15"/>
                <a:gd name="T11" fmla="*/ 22 h 46"/>
                <a:gd name="T12" fmla="*/ 0 w 15"/>
                <a:gd name="T13" fmla="*/ 31 h 46"/>
                <a:gd name="T14" fmla="*/ 0 60000 65536"/>
                <a:gd name="T15" fmla="*/ 0 60000 65536"/>
                <a:gd name="T16" fmla="*/ 0 60000 65536"/>
                <a:gd name="T17" fmla="*/ 0 60000 65536"/>
                <a:gd name="T18" fmla="*/ 0 60000 65536"/>
                <a:gd name="T19" fmla="*/ 0 60000 65536"/>
                <a:gd name="T20" fmla="*/ 0 60000 65536"/>
                <a:gd name="T21" fmla="*/ 0 w 15"/>
                <a:gd name="T22" fmla="*/ 0 h 46"/>
                <a:gd name="T23" fmla="*/ 15 w 1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46">
                  <a:moveTo>
                    <a:pt x="15" y="46"/>
                  </a:moveTo>
                  <a:cubicBezTo>
                    <a:pt x="15" y="46"/>
                    <a:pt x="15" y="46"/>
                    <a:pt x="15" y="46"/>
                  </a:cubicBezTo>
                  <a:cubicBezTo>
                    <a:pt x="15" y="0"/>
                    <a:pt x="15" y="0"/>
                    <a:pt x="15" y="0"/>
                  </a:cubicBezTo>
                  <a:cubicBezTo>
                    <a:pt x="15" y="0"/>
                    <a:pt x="14" y="25"/>
                    <a:pt x="11" y="34"/>
                  </a:cubicBezTo>
                  <a:cubicBezTo>
                    <a:pt x="10" y="36"/>
                    <a:pt x="5" y="34"/>
                    <a:pt x="4" y="30"/>
                  </a:cubicBezTo>
                  <a:cubicBezTo>
                    <a:pt x="1" y="22"/>
                    <a:pt x="1" y="22"/>
                    <a:pt x="1" y="22"/>
                  </a:cubicBezTo>
                  <a:cubicBezTo>
                    <a:pt x="0" y="31"/>
                    <a:pt x="0" y="31"/>
                    <a:pt x="0" y="31"/>
                  </a:cubicBezTo>
                  <a:lnTo>
                    <a:pt x="15" y="46"/>
                  </a:lnTo>
                  <a:close/>
                </a:path>
              </a:pathLst>
            </a:custGeom>
            <a:solidFill>
              <a:srgbClr val="280078"/>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58" name="Rectangle 50"/>
            <p:cNvSpPr>
              <a:spLocks noChangeArrowheads="1"/>
            </p:cNvSpPr>
            <p:nvPr/>
          </p:nvSpPr>
          <p:spPr bwMode="auto">
            <a:xfrm>
              <a:off x="2098" y="2878"/>
              <a:ext cx="136" cy="130"/>
            </a:xfrm>
            <a:prstGeom prst="rect">
              <a:avLst/>
            </a:prstGeom>
            <a:solidFill>
              <a:srgbClr val="000000"/>
            </a:solidFill>
            <a:ln w="25400">
              <a:solidFill>
                <a:srgbClr val="000000"/>
              </a:solidFill>
              <a:miter lim="800000"/>
            </a:ln>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59" name="Rectangle 51"/>
            <p:cNvSpPr>
              <a:spLocks noChangeArrowheads="1"/>
            </p:cNvSpPr>
            <p:nvPr/>
          </p:nvSpPr>
          <p:spPr bwMode="auto">
            <a:xfrm>
              <a:off x="2086" y="2976"/>
              <a:ext cx="135" cy="19"/>
            </a:xfrm>
            <a:prstGeom prst="rect">
              <a:avLst/>
            </a:prstGeom>
            <a:gradFill rotWithShape="0">
              <a:gsLst>
                <a:gs pos="0">
                  <a:srgbClr val="0000FF"/>
                </a:gs>
                <a:gs pos="50000">
                  <a:srgbClr val="38B0FF"/>
                </a:gs>
                <a:gs pos="100000">
                  <a:srgbClr val="0000FF"/>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60" name="Freeform 52"/>
            <p:cNvSpPr>
              <a:spLocks noChangeArrowheads="1"/>
            </p:cNvSpPr>
            <p:nvPr/>
          </p:nvSpPr>
          <p:spPr bwMode="auto">
            <a:xfrm>
              <a:off x="2086" y="2862"/>
              <a:ext cx="135" cy="133"/>
            </a:xfrm>
            <a:custGeom>
              <a:avLst/>
              <a:gdLst>
                <a:gd name="T0" fmla="*/ 135 w 135"/>
                <a:gd name="T1" fmla="*/ 0 h 133"/>
                <a:gd name="T2" fmla="*/ 0 w 135"/>
                <a:gd name="T3" fmla="*/ 0 h 133"/>
                <a:gd name="T4" fmla="*/ 0 w 135"/>
                <a:gd name="T5" fmla="*/ 133 h 133"/>
                <a:gd name="T6" fmla="*/ 0 60000 65536"/>
                <a:gd name="T7" fmla="*/ 0 60000 65536"/>
                <a:gd name="T8" fmla="*/ 0 60000 65536"/>
                <a:gd name="T9" fmla="*/ 0 w 135"/>
                <a:gd name="T10" fmla="*/ 0 h 133"/>
                <a:gd name="T11" fmla="*/ 135 w 135"/>
                <a:gd name="T12" fmla="*/ 133 h 133"/>
              </a:gdLst>
              <a:ahLst/>
              <a:cxnLst>
                <a:cxn ang="T6">
                  <a:pos x="T0" y="T1"/>
                </a:cxn>
                <a:cxn ang="T7">
                  <a:pos x="T2" y="T3"/>
                </a:cxn>
                <a:cxn ang="T8">
                  <a:pos x="T4" y="T5"/>
                </a:cxn>
              </a:cxnLst>
              <a:rect l="T9" t="T10" r="T11" b="T12"/>
              <a:pathLst>
                <a:path w="135" h="133">
                  <a:moveTo>
                    <a:pt x="135" y="0"/>
                  </a:moveTo>
                  <a:lnTo>
                    <a:pt x="0" y="0"/>
                  </a:lnTo>
                  <a:lnTo>
                    <a:pt x="0" y="133"/>
                  </a:lnTo>
                  <a:lnTo>
                    <a:pt x="135" y="0"/>
                  </a:lnTo>
                  <a:close/>
                </a:path>
              </a:pathLst>
            </a:custGeom>
            <a:solidFill>
              <a:srgbClr val="00EFEF"/>
            </a:solidFill>
            <a:ln w="25400">
              <a:solidFill>
                <a:srgbClr val="400097"/>
              </a:solidFill>
              <a:round/>
            </a:ln>
          </p:spPr>
          <p:txBody>
            <a:bodyPr wrap="none"/>
            <a:lstStyle/>
            <a:p>
              <a:endParaRPr lang="zh-CN" altLang="en-US" sz="2000"/>
            </a:p>
          </p:txBody>
        </p:sp>
        <p:sp>
          <p:nvSpPr>
            <p:cNvPr id="61" name="Rectangle 53"/>
            <p:cNvSpPr>
              <a:spLocks noChangeArrowheads="1"/>
            </p:cNvSpPr>
            <p:nvPr/>
          </p:nvSpPr>
          <p:spPr bwMode="auto">
            <a:xfrm>
              <a:off x="2103" y="2879"/>
              <a:ext cx="101" cy="99"/>
            </a:xfrm>
            <a:prstGeom prst="rect">
              <a:avLst/>
            </a:prstGeom>
            <a:solidFill>
              <a:srgbClr val="38B0FF"/>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62" name="Freeform 54"/>
            <p:cNvSpPr>
              <a:spLocks noChangeArrowheads="1"/>
            </p:cNvSpPr>
            <p:nvPr/>
          </p:nvSpPr>
          <p:spPr bwMode="auto">
            <a:xfrm>
              <a:off x="2087" y="2862"/>
              <a:ext cx="15" cy="131"/>
            </a:xfrm>
            <a:custGeom>
              <a:avLst/>
              <a:gdLst>
                <a:gd name="T0" fmla="*/ 15 w 15"/>
                <a:gd name="T1" fmla="*/ 116 h 131"/>
                <a:gd name="T2" fmla="*/ 15 w 15"/>
                <a:gd name="T3" fmla="*/ 15 h 131"/>
                <a:gd name="T4" fmla="*/ 0 w 15"/>
                <a:gd name="T5" fmla="*/ 0 h 131"/>
                <a:gd name="T6" fmla="*/ 0 w 15"/>
                <a:gd name="T7" fmla="*/ 131 h 131"/>
                <a:gd name="T8" fmla="*/ 0 60000 65536"/>
                <a:gd name="T9" fmla="*/ 0 60000 65536"/>
                <a:gd name="T10" fmla="*/ 0 60000 65536"/>
                <a:gd name="T11" fmla="*/ 0 60000 65536"/>
                <a:gd name="T12" fmla="*/ 0 w 15"/>
                <a:gd name="T13" fmla="*/ 0 h 131"/>
                <a:gd name="T14" fmla="*/ 15 w 15"/>
                <a:gd name="T15" fmla="*/ 131 h 131"/>
              </a:gdLst>
              <a:ahLst/>
              <a:cxnLst>
                <a:cxn ang="T8">
                  <a:pos x="T0" y="T1"/>
                </a:cxn>
                <a:cxn ang="T9">
                  <a:pos x="T2" y="T3"/>
                </a:cxn>
                <a:cxn ang="T10">
                  <a:pos x="T4" y="T5"/>
                </a:cxn>
                <a:cxn ang="T11">
                  <a:pos x="T6" y="T7"/>
                </a:cxn>
              </a:cxnLst>
              <a:rect l="T12" t="T13" r="T14" b="T15"/>
              <a:pathLst>
                <a:path w="15" h="131">
                  <a:moveTo>
                    <a:pt x="15" y="116"/>
                  </a:moveTo>
                  <a:lnTo>
                    <a:pt x="15" y="15"/>
                  </a:lnTo>
                  <a:lnTo>
                    <a:pt x="0" y="0"/>
                  </a:lnTo>
                  <a:lnTo>
                    <a:pt x="0" y="131"/>
                  </a:lnTo>
                  <a:lnTo>
                    <a:pt x="15" y="116"/>
                  </a:lnTo>
                  <a:close/>
                </a:path>
              </a:pathLst>
            </a:custGeom>
            <a:gradFill rotWithShape="0">
              <a:gsLst>
                <a:gs pos="0">
                  <a:srgbClr val="00EFEF"/>
                </a:gs>
                <a:gs pos="50000">
                  <a:srgbClr val="FFFFFF"/>
                </a:gs>
                <a:gs pos="100000">
                  <a:srgbClr val="00EFEF"/>
                </a:gs>
              </a:gsLst>
              <a:lin ang="16200000" scaled="1"/>
            </a:gra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63" name="Freeform 55"/>
            <p:cNvSpPr/>
            <p:nvPr/>
          </p:nvSpPr>
          <p:spPr bwMode="auto">
            <a:xfrm>
              <a:off x="2103" y="2878"/>
              <a:ext cx="100" cy="100"/>
            </a:xfrm>
            <a:custGeom>
              <a:avLst/>
              <a:gdLst>
                <a:gd name="T0" fmla="*/ 0 w 100"/>
                <a:gd name="T1" fmla="*/ 100 h 100"/>
                <a:gd name="T2" fmla="*/ 0 w 100"/>
                <a:gd name="T3" fmla="*/ 0 h 100"/>
                <a:gd name="T4" fmla="*/ 100 w 100"/>
                <a:gd name="T5" fmla="*/ 0 h 100"/>
                <a:gd name="T6" fmla="*/ 0 60000 65536"/>
                <a:gd name="T7" fmla="*/ 0 60000 65536"/>
                <a:gd name="T8" fmla="*/ 0 60000 65536"/>
                <a:gd name="T9" fmla="*/ 0 w 100"/>
                <a:gd name="T10" fmla="*/ 0 h 100"/>
                <a:gd name="T11" fmla="*/ 100 w 100"/>
                <a:gd name="T12" fmla="*/ 100 h 100"/>
              </a:gdLst>
              <a:ahLst/>
              <a:cxnLst>
                <a:cxn ang="T6">
                  <a:pos x="T0" y="T1"/>
                </a:cxn>
                <a:cxn ang="T7">
                  <a:pos x="T2" y="T3"/>
                </a:cxn>
                <a:cxn ang="T8">
                  <a:pos x="T4" y="T5"/>
                </a:cxn>
              </a:cxnLst>
              <a:rect l="T9" t="T10" r="T11" b="T12"/>
              <a:pathLst>
                <a:path w="100" h="100">
                  <a:moveTo>
                    <a:pt x="0" y="100"/>
                  </a:moveTo>
                  <a:lnTo>
                    <a:pt x="0" y="0"/>
                  </a:lnTo>
                  <a:lnTo>
                    <a:pt x="100" y="0"/>
                  </a:lnTo>
                </a:path>
              </a:pathLst>
            </a:custGeom>
            <a:noFill/>
            <a:ln w="25400">
              <a:solidFill>
                <a:srgbClr val="FFFFFF"/>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sz="2000"/>
            </a:p>
          </p:txBody>
        </p:sp>
        <p:sp>
          <p:nvSpPr>
            <p:cNvPr id="64" name="Freeform 56"/>
            <p:cNvSpPr>
              <a:spLocks noChangeArrowheads="1"/>
            </p:cNvSpPr>
            <p:nvPr/>
          </p:nvSpPr>
          <p:spPr bwMode="auto">
            <a:xfrm>
              <a:off x="2085" y="2992"/>
              <a:ext cx="136" cy="4"/>
            </a:xfrm>
            <a:custGeom>
              <a:avLst/>
              <a:gdLst>
                <a:gd name="T0" fmla="*/ 136 w 136"/>
                <a:gd name="T1" fmla="*/ 4 h 4"/>
                <a:gd name="T2" fmla="*/ 135 w 136"/>
                <a:gd name="T3" fmla="*/ 0 h 4"/>
                <a:gd name="T4" fmla="*/ 5 w 136"/>
                <a:gd name="T5" fmla="*/ 0 h 4"/>
                <a:gd name="T6" fmla="*/ 0 w 136"/>
                <a:gd name="T7" fmla="*/ 4 h 4"/>
                <a:gd name="T8" fmla="*/ 0 60000 65536"/>
                <a:gd name="T9" fmla="*/ 0 60000 65536"/>
                <a:gd name="T10" fmla="*/ 0 60000 65536"/>
                <a:gd name="T11" fmla="*/ 0 60000 65536"/>
                <a:gd name="T12" fmla="*/ 0 w 136"/>
                <a:gd name="T13" fmla="*/ 0 h 4"/>
                <a:gd name="T14" fmla="*/ 136 w 136"/>
                <a:gd name="T15" fmla="*/ 4 h 4"/>
              </a:gdLst>
              <a:ahLst/>
              <a:cxnLst>
                <a:cxn ang="T8">
                  <a:pos x="T0" y="T1"/>
                </a:cxn>
                <a:cxn ang="T9">
                  <a:pos x="T2" y="T3"/>
                </a:cxn>
                <a:cxn ang="T10">
                  <a:pos x="T4" y="T5"/>
                </a:cxn>
                <a:cxn ang="T11">
                  <a:pos x="T6" y="T7"/>
                </a:cxn>
              </a:cxnLst>
              <a:rect l="T12" t="T13" r="T14" b="T15"/>
              <a:pathLst>
                <a:path w="136" h="4">
                  <a:moveTo>
                    <a:pt x="136" y="4"/>
                  </a:moveTo>
                  <a:lnTo>
                    <a:pt x="135" y="0"/>
                  </a:lnTo>
                  <a:lnTo>
                    <a:pt x="5" y="0"/>
                  </a:lnTo>
                  <a:lnTo>
                    <a:pt x="0" y="4"/>
                  </a:lnTo>
                  <a:lnTo>
                    <a:pt x="136" y="4"/>
                  </a:lnTo>
                  <a:close/>
                </a:path>
              </a:pathLst>
            </a:custGeom>
            <a:solidFill>
              <a:srgbClr val="0000FF"/>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65" name="Freeform 57"/>
            <p:cNvSpPr>
              <a:spLocks noChangeArrowheads="1"/>
            </p:cNvSpPr>
            <p:nvPr/>
          </p:nvSpPr>
          <p:spPr bwMode="auto">
            <a:xfrm>
              <a:off x="2203" y="2861"/>
              <a:ext cx="18" cy="134"/>
            </a:xfrm>
            <a:custGeom>
              <a:avLst/>
              <a:gdLst>
                <a:gd name="T0" fmla="*/ 0 w 18"/>
                <a:gd name="T1" fmla="*/ 117 h 134"/>
                <a:gd name="T2" fmla="*/ 0 w 18"/>
                <a:gd name="T3" fmla="*/ 18 h 134"/>
                <a:gd name="T4" fmla="*/ 18 w 18"/>
                <a:gd name="T5" fmla="*/ 0 h 134"/>
                <a:gd name="T6" fmla="*/ 18 w 18"/>
                <a:gd name="T7" fmla="*/ 134 h 134"/>
                <a:gd name="T8" fmla="*/ 0 60000 65536"/>
                <a:gd name="T9" fmla="*/ 0 60000 65536"/>
                <a:gd name="T10" fmla="*/ 0 60000 65536"/>
                <a:gd name="T11" fmla="*/ 0 60000 65536"/>
                <a:gd name="T12" fmla="*/ 0 w 18"/>
                <a:gd name="T13" fmla="*/ 0 h 134"/>
                <a:gd name="T14" fmla="*/ 18 w 18"/>
                <a:gd name="T15" fmla="*/ 134 h 134"/>
              </a:gdLst>
              <a:ahLst/>
              <a:cxnLst>
                <a:cxn ang="T8">
                  <a:pos x="T0" y="T1"/>
                </a:cxn>
                <a:cxn ang="T9">
                  <a:pos x="T2" y="T3"/>
                </a:cxn>
                <a:cxn ang="T10">
                  <a:pos x="T4" y="T5"/>
                </a:cxn>
                <a:cxn ang="T11">
                  <a:pos x="T6" y="T7"/>
                </a:cxn>
              </a:cxnLst>
              <a:rect l="T12" t="T13" r="T14" b="T15"/>
              <a:pathLst>
                <a:path w="18" h="134">
                  <a:moveTo>
                    <a:pt x="0" y="117"/>
                  </a:moveTo>
                  <a:lnTo>
                    <a:pt x="0" y="18"/>
                  </a:lnTo>
                  <a:lnTo>
                    <a:pt x="18" y="0"/>
                  </a:lnTo>
                  <a:lnTo>
                    <a:pt x="18" y="134"/>
                  </a:lnTo>
                  <a:lnTo>
                    <a:pt x="0" y="117"/>
                  </a:lnTo>
                  <a:close/>
                </a:path>
              </a:pathLst>
            </a:custGeom>
            <a:solidFill>
              <a:srgbClr val="0000FF"/>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66" name="Line 58"/>
            <p:cNvSpPr>
              <a:spLocks noChangeShapeType="1"/>
            </p:cNvSpPr>
            <p:nvPr/>
          </p:nvSpPr>
          <p:spPr bwMode="auto">
            <a:xfrm>
              <a:off x="2103" y="2978"/>
              <a:ext cx="101" cy="0"/>
            </a:xfrm>
            <a:prstGeom prst="line">
              <a:avLst/>
            </a:prstGeom>
            <a:noFill/>
            <a:ln w="25400">
              <a:solidFill>
                <a:srgbClr val="00EFEF"/>
              </a:solidFill>
              <a:round/>
            </a:ln>
            <a:extLst>
              <a:ext uri="{909E8E84-426E-40DD-AFC4-6F175D3DCCD1}">
                <a14:hiddenFill xmlns:a14="http://schemas.microsoft.com/office/drawing/2010/main">
                  <a:noFill/>
                </a14:hiddenFill>
              </a:ext>
            </a:extLst>
          </p:spPr>
          <p:txBody>
            <a:bodyPr wrap="none"/>
            <a:lstStyle/>
            <a:p>
              <a:endParaRPr lang="zh-CN" altLang="en-US" sz="2000"/>
            </a:p>
          </p:txBody>
        </p:sp>
        <p:sp>
          <p:nvSpPr>
            <p:cNvPr id="67" name="Freeform 59"/>
            <p:cNvSpPr>
              <a:spLocks noChangeArrowheads="1"/>
            </p:cNvSpPr>
            <p:nvPr/>
          </p:nvSpPr>
          <p:spPr bwMode="auto">
            <a:xfrm>
              <a:off x="2202" y="2878"/>
              <a:ext cx="1" cy="100"/>
            </a:xfrm>
            <a:custGeom>
              <a:avLst/>
              <a:gdLst>
                <a:gd name="T0" fmla="*/ 0 w 1"/>
                <a:gd name="T1" fmla="*/ 0 h 100"/>
                <a:gd name="T2" fmla="*/ 0 w 1"/>
                <a:gd name="T3" fmla="*/ 0 h 100"/>
                <a:gd name="T4" fmla="*/ 1 w 1"/>
                <a:gd name="T5" fmla="*/ 0 h 100"/>
                <a:gd name="T6" fmla="*/ 1 w 1"/>
                <a:gd name="T7" fmla="*/ 100 h 100"/>
                <a:gd name="T8" fmla="*/ 0 w 1"/>
                <a:gd name="T9" fmla="*/ 98 h 100"/>
                <a:gd name="T10" fmla="*/ 0 60000 65536"/>
                <a:gd name="T11" fmla="*/ 0 60000 65536"/>
                <a:gd name="T12" fmla="*/ 0 60000 65536"/>
                <a:gd name="T13" fmla="*/ 0 60000 65536"/>
                <a:gd name="T14" fmla="*/ 0 60000 65536"/>
                <a:gd name="T15" fmla="*/ 0 w 1"/>
                <a:gd name="T16" fmla="*/ 0 h 100"/>
                <a:gd name="T17" fmla="*/ 1 w 1"/>
                <a:gd name="T18" fmla="*/ 100 h 100"/>
              </a:gdLst>
              <a:ahLst/>
              <a:cxnLst>
                <a:cxn ang="T10">
                  <a:pos x="T0" y="T1"/>
                </a:cxn>
                <a:cxn ang="T11">
                  <a:pos x="T2" y="T3"/>
                </a:cxn>
                <a:cxn ang="T12">
                  <a:pos x="T4" y="T5"/>
                </a:cxn>
                <a:cxn ang="T13">
                  <a:pos x="T6" y="T7"/>
                </a:cxn>
                <a:cxn ang="T14">
                  <a:pos x="T8" y="T9"/>
                </a:cxn>
              </a:cxnLst>
              <a:rect l="T15" t="T16" r="T17" b="T18"/>
              <a:pathLst>
                <a:path w="1" h="100">
                  <a:moveTo>
                    <a:pt x="0" y="0"/>
                  </a:moveTo>
                  <a:cubicBezTo>
                    <a:pt x="0" y="0"/>
                    <a:pt x="0" y="0"/>
                    <a:pt x="0" y="0"/>
                  </a:cubicBezTo>
                  <a:cubicBezTo>
                    <a:pt x="1" y="0"/>
                    <a:pt x="1" y="0"/>
                    <a:pt x="1" y="0"/>
                  </a:cubicBezTo>
                  <a:cubicBezTo>
                    <a:pt x="1" y="100"/>
                    <a:pt x="1" y="100"/>
                    <a:pt x="1" y="100"/>
                  </a:cubicBezTo>
                  <a:cubicBezTo>
                    <a:pt x="0" y="98"/>
                    <a:pt x="0" y="98"/>
                    <a:pt x="0" y="98"/>
                  </a:cubicBezTo>
                  <a:lnTo>
                    <a:pt x="0" y="0"/>
                  </a:lnTo>
                  <a:close/>
                </a:path>
              </a:pathLst>
            </a:custGeom>
            <a:solidFill>
              <a:srgbClr val="00DCE4"/>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68" name="Freeform 60"/>
            <p:cNvSpPr>
              <a:spLocks noChangeArrowheads="1"/>
            </p:cNvSpPr>
            <p:nvPr/>
          </p:nvSpPr>
          <p:spPr bwMode="auto">
            <a:xfrm>
              <a:off x="2204" y="2863"/>
              <a:ext cx="16" cy="30"/>
            </a:xfrm>
            <a:custGeom>
              <a:avLst/>
              <a:gdLst>
                <a:gd name="T0" fmla="*/ 0 w 16"/>
                <a:gd name="T1" fmla="*/ 17 h 30"/>
                <a:gd name="T2" fmla="*/ 0 w 16"/>
                <a:gd name="T3" fmla="*/ 17 h 30"/>
                <a:gd name="T4" fmla="*/ 0 w 16"/>
                <a:gd name="T5" fmla="*/ 27 h 30"/>
                <a:gd name="T6" fmla="*/ 12 w 16"/>
                <a:gd name="T7" fmla="*/ 12 h 30"/>
                <a:gd name="T8" fmla="*/ 16 w 16"/>
                <a:gd name="T9" fmla="*/ 30 h 30"/>
                <a:gd name="T10" fmla="*/ 16 w 16"/>
                <a:gd name="T11" fmla="*/ 0 h 30"/>
                <a:gd name="T12" fmla="*/ 0 60000 65536"/>
                <a:gd name="T13" fmla="*/ 0 60000 65536"/>
                <a:gd name="T14" fmla="*/ 0 60000 65536"/>
                <a:gd name="T15" fmla="*/ 0 60000 65536"/>
                <a:gd name="T16" fmla="*/ 0 60000 65536"/>
                <a:gd name="T17" fmla="*/ 0 60000 65536"/>
                <a:gd name="T18" fmla="*/ 0 w 16"/>
                <a:gd name="T19" fmla="*/ 0 h 30"/>
                <a:gd name="T20" fmla="*/ 16 w 16"/>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16" h="30">
                  <a:moveTo>
                    <a:pt x="0" y="17"/>
                  </a:moveTo>
                  <a:cubicBezTo>
                    <a:pt x="0" y="17"/>
                    <a:pt x="0" y="17"/>
                    <a:pt x="0" y="17"/>
                  </a:cubicBezTo>
                  <a:cubicBezTo>
                    <a:pt x="0" y="17"/>
                    <a:pt x="0" y="28"/>
                    <a:pt x="0" y="27"/>
                  </a:cubicBezTo>
                  <a:cubicBezTo>
                    <a:pt x="5" y="14"/>
                    <a:pt x="12" y="12"/>
                    <a:pt x="12" y="12"/>
                  </a:cubicBezTo>
                  <a:cubicBezTo>
                    <a:pt x="13" y="13"/>
                    <a:pt x="16" y="30"/>
                    <a:pt x="16" y="30"/>
                  </a:cubicBezTo>
                  <a:cubicBezTo>
                    <a:pt x="16" y="0"/>
                    <a:pt x="16" y="0"/>
                    <a:pt x="16" y="0"/>
                  </a:cubicBezTo>
                  <a:lnTo>
                    <a:pt x="0" y="17"/>
                  </a:lnTo>
                  <a:close/>
                </a:path>
              </a:pathLst>
            </a:custGeom>
            <a:solidFill>
              <a:srgbClr val="280078"/>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69" name="Freeform 61"/>
            <p:cNvSpPr>
              <a:spLocks noChangeArrowheads="1"/>
            </p:cNvSpPr>
            <p:nvPr/>
          </p:nvSpPr>
          <p:spPr bwMode="auto">
            <a:xfrm>
              <a:off x="2204" y="2946"/>
              <a:ext cx="16" cy="46"/>
            </a:xfrm>
            <a:custGeom>
              <a:avLst/>
              <a:gdLst>
                <a:gd name="T0" fmla="*/ 16 w 16"/>
                <a:gd name="T1" fmla="*/ 46 h 46"/>
                <a:gd name="T2" fmla="*/ 16 w 16"/>
                <a:gd name="T3" fmla="*/ 46 h 46"/>
                <a:gd name="T4" fmla="*/ 16 w 16"/>
                <a:gd name="T5" fmla="*/ 0 h 46"/>
                <a:gd name="T6" fmla="*/ 12 w 16"/>
                <a:gd name="T7" fmla="*/ 34 h 46"/>
                <a:gd name="T8" fmla="*/ 5 w 16"/>
                <a:gd name="T9" fmla="*/ 30 h 46"/>
                <a:gd name="T10" fmla="*/ 1 w 16"/>
                <a:gd name="T11" fmla="*/ 22 h 46"/>
                <a:gd name="T12" fmla="*/ 0 w 16"/>
                <a:gd name="T13" fmla="*/ 31 h 46"/>
                <a:gd name="T14" fmla="*/ 0 60000 65536"/>
                <a:gd name="T15" fmla="*/ 0 60000 65536"/>
                <a:gd name="T16" fmla="*/ 0 60000 65536"/>
                <a:gd name="T17" fmla="*/ 0 60000 65536"/>
                <a:gd name="T18" fmla="*/ 0 60000 65536"/>
                <a:gd name="T19" fmla="*/ 0 60000 65536"/>
                <a:gd name="T20" fmla="*/ 0 60000 65536"/>
                <a:gd name="T21" fmla="*/ 0 w 16"/>
                <a:gd name="T22" fmla="*/ 0 h 46"/>
                <a:gd name="T23" fmla="*/ 16 w 16"/>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46">
                  <a:moveTo>
                    <a:pt x="16" y="46"/>
                  </a:moveTo>
                  <a:cubicBezTo>
                    <a:pt x="16" y="46"/>
                    <a:pt x="16" y="46"/>
                    <a:pt x="16" y="46"/>
                  </a:cubicBezTo>
                  <a:cubicBezTo>
                    <a:pt x="16" y="0"/>
                    <a:pt x="16" y="0"/>
                    <a:pt x="16" y="0"/>
                  </a:cubicBezTo>
                  <a:cubicBezTo>
                    <a:pt x="16" y="0"/>
                    <a:pt x="15" y="25"/>
                    <a:pt x="12" y="34"/>
                  </a:cubicBezTo>
                  <a:cubicBezTo>
                    <a:pt x="10" y="36"/>
                    <a:pt x="5" y="34"/>
                    <a:pt x="5" y="30"/>
                  </a:cubicBezTo>
                  <a:cubicBezTo>
                    <a:pt x="1" y="22"/>
                    <a:pt x="1" y="22"/>
                    <a:pt x="1" y="22"/>
                  </a:cubicBezTo>
                  <a:cubicBezTo>
                    <a:pt x="0" y="31"/>
                    <a:pt x="0" y="31"/>
                    <a:pt x="0" y="31"/>
                  </a:cubicBezTo>
                  <a:lnTo>
                    <a:pt x="16" y="46"/>
                  </a:lnTo>
                  <a:close/>
                </a:path>
              </a:pathLst>
            </a:custGeom>
            <a:solidFill>
              <a:srgbClr val="280078"/>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70" name="Rectangle 62"/>
            <p:cNvSpPr>
              <a:spLocks noChangeArrowheads="1"/>
            </p:cNvSpPr>
            <p:nvPr/>
          </p:nvSpPr>
          <p:spPr bwMode="auto">
            <a:xfrm>
              <a:off x="2754" y="2521"/>
              <a:ext cx="136" cy="130"/>
            </a:xfrm>
            <a:prstGeom prst="rect">
              <a:avLst/>
            </a:prstGeom>
            <a:solidFill>
              <a:srgbClr val="000000"/>
            </a:solidFill>
            <a:ln w="25400">
              <a:solidFill>
                <a:srgbClr val="000000"/>
              </a:solidFill>
              <a:miter lim="800000"/>
            </a:ln>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71" name="Rectangle 63"/>
            <p:cNvSpPr>
              <a:spLocks noChangeArrowheads="1"/>
            </p:cNvSpPr>
            <p:nvPr/>
          </p:nvSpPr>
          <p:spPr bwMode="auto">
            <a:xfrm>
              <a:off x="2742" y="2619"/>
              <a:ext cx="135" cy="20"/>
            </a:xfrm>
            <a:prstGeom prst="rect">
              <a:avLst/>
            </a:prstGeom>
            <a:gradFill rotWithShape="0">
              <a:gsLst>
                <a:gs pos="0">
                  <a:srgbClr val="0000FF"/>
                </a:gs>
                <a:gs pos="50000">
                  <a:srgbClr val="38B0FF"/>
                </a:gs>
                <a:gs pos="100000">
                  <a:srgbClr val="0000FF"/>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72" name="Freeform 64"/>
            <p:cNvSpPr>
              <a:spLocks noChangeArrowheads="1"/>
            </p:cNvSpPr>
            <p:nvPr/>
          </p:nvSpPr>
          <p:spPr bwMode="auto">
            <a:xfrm>
              <a:off x="2742" y="2506"/>
              <a:ext cx="135" cy="133"/>
            </a:xfrm>
            <a:custGeom>
              <a:avLst/>
              <a:gdLst>
                <a:gd name="T0" fmla="*/ 135 w 135"/>
                <a:gd name="T1" fmla="*/ 0 h 133"/>
                <a:gd name="T2" fmla="*/ 0 w 135"/>
                <a:gd name="T3" fmla="*/ 0 h 133"/>
                <a:gd name="T4" fmla="*/ 0 w 135"/>
                <a:gd name="T5" fmla="*/ 133 h 133"/>
                <a:gd name="T6" fmla="*/ 0 60000 65536"/>
                <a:gd name="T7" fmla="*/ 0 60000 65536"/>
                <a:gd name="T8" fmla="*/ 0 60000 65536"/>
                <a:gd name="T9" fmla="*/ 0 w 135"/>
                <a:gd name="T10" fmla="*/ 0 h 133"/>
                <a:gd name="T11" fmla="*/ 135 w 135"/>
                <a:gd name="T12" fmla="*/ 133 h 133"/>
              </a:gdLst>
              <a:ahLst/>
              <a:cxnLst>
                <a:cxn ang="T6">
                  <a:pos x="T0" y="T1"/>
                </a:cxn>
                <a:cxn ang="T7">
                  <a:pos x="T2" y="T3"/>
                </a:cxn>
                <a:cxn ang="T8">
                  <a:pos x="T4" y="T5"/>
                </a:cxn>
              </a:cxnLst>
              <a:rect l="T9" t="T10" r="T11" b="T12"/>
              <a:pathLst>
                <a:path w="135" h="133">
                  <a:moveTo>
                    <a:pt x="135" y="0"/>
                  </a:moveTo>
                  <a:lnTo>
                    <a:pt x="0" y="0"/>
                  </a:lnTo>
                  <a:lnTo>
                    <a:pt x="0" y="133"/>
                  </a:lnTo>
                  <a:lnTo>
                    <a:pt x="135" y="0"/>
                  </a:lnTo>
                  <a:close/>
                </a:path>
              </a:pathLst>
            </a:custGeom>
            <a:solidFill>
              <a:srgbClr val="00EFEF"/>
            </a:solidFill>
            <a:ln w="25400">
              <a:solidFill>
                <a:srgbClr val="400097"/>
              </a:solidFill>
              <a:round/>
            </a:ln>
          </p:spPr>
          <p:txBody>
            <a:bodyPr wrap="none"/>
            <a:lstStyle/>
            <a:p>
              <a:endParaRPr lang="zh-CN" altLang="en-US" sz="2000"/>
            </a:p>
          </p:txBody>
        </p:sp>
        <p:sp>
          <p:nvSpPr>
            <p:cNvPr id="73" name="Rectangle 65"/>
            <p:cNvSpPr>
              <a:spLocks noChangeArrowheads="1"/>
            </p:cNvSpPr>
            <p:nvPr/>
          </p:nvSpPr>
          <p:spPr bwMode="auto">
            <a:xfrm>
              <a:off x="2759" y="2522"/>
              <a:ext cx="101" cy="99"/>
            </a:xfrm>
            <a:prstGeom prst="rect">
              <a:avLst/>
            </a:prstGeom>
            <a:solidFill>
              <a:srgbClr val="38B0FF"/>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74" name="Freeform 66"/>
            <p:cNvSpPr>
              <a:spLocks noChangeArrowheads="1"/>
            </p:cNvSpPr>
            <p:nvPr/>
          </p:nvSpPr>
          <p:spPr bwMode="auto">
            <a:xfrm>
              <a:off x="2743" y="2506"/>
              <a:ext cx="15" cy="131"/>
            </a:xfrm>
            <a:custGeom>
              <a:avLst/>
              <a:gdLst>
                <a:gd name="T0" fmla="*/ 15 w 15"/>
                <a:gd name="T1" fmla="*/ 115 h 131"/>
                <a:gd name="T2" fmla="*/ 15 w 15"/>
                <a:gd name="T3" fmla="*/ 14 h 131"/>
                <a:gd name="T4" fmla="*/ 0 w 15"/>
                <a:gd name="T5" fmla="*/ 0 h 131"/>
                <a:gd name="T6" fmla="*/ 0 w 15"/>
                <a:gd name="T7" fmla="*/ 131 h 131"/>
                <a:gd name="T8" fmla="*/ 0 60000 65536"/>
                <a:gd name="T9" fmla="*/ 0 60000 65536"/>
                <a:gd name="T10" fmla="*/ 0 60000 65536"/>
                <a:gd name="T11" fmla="*/ 0 60000 65536"/>
                <a:gd name="T12" fmla="*/ 0 w 15"/>
                <a:gd name="T13" fmla="*/ 0 h 131"/>
                <a:gd name="T14" fmla="*/ 15 w 15"/>
                <a:gd name="T15" fmla="*/ 131 h 131"/>
              </a:gdLst>
              <a:ahLst/>
              <a:cxnLst>
                <a:cxn ang="T8">
                  <a:pos x="T0" y="T1"/>
                </a:cxn>
                <a:cxn ang="T9">
                  <a:pos x="T2" y="T3"/>
                </a:cxn>
                <a:cxn ang="T10">
                  <a:pos x="T4" y="T5"/>
                </a:cxn>
                <a:cxn ang="T11">
                  <a:pos x="T6" y="T7"/>
                </a:cxn>
              </a:cxnLst>
              <a:rect l="T12" t="T13" r="T14" b="T15"/>
              <a:pathLst>
                <a:path w="15" h="131">
                  <a:moveTo>
                    <a:pt x="15" y="115"/>
                  </a:moveTo>
                  <a:lnTo>
                    <a:pt x="15" y="14"/>
                  </a:lnTo>
                  <a:lnTo>
                    <a:pt x="0" y="0"/>
                  </a:lnTo>
                  <a:lnTo>
                    <a:pt x="0" y="131"/>
                  </a:lnTo>
                  <a:lnTo>
                    <a:pt x="15" y="115"/>
                  </a:lnTo>
                  <a:close/>
                </a:path>
              </a:pathLst>
            </a:custGeom>
            <a:gradFill rotWithShape="0">
              <a:gsLst>
                <a:gs pos="0">
                  <a:srgbClr val="00EFEF"/>
                </a:gs>
                <a:gs pos="50000">
                  <a:srgbClr val="FFFFFF"/>
                </a:gs>
                <a:gs pos="100000">
                  <a:srgbClr val="00EFEF"/>
                </a:gs>
              </a:gsLst>
              <a:lin ang="16200000" scaled="1"/>
            </a:gra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75" name="Freeform 67"/>
            <p:cNvSpPr/>
            <p:nvPr/>
          </p:nvSpPr>
          <p:spPr bwMode="auto">
            <a:xfrm>
              <a:off x="2759" y="2522"/>
              <a:ext cx="100" cy="99"/>
            </a:xfrm>
            <a:custGeom>
              <a:avLst/>
              <a:gdLst>
                <a:gd name="T0" fmla="*/ 0 w 100"/>
                <a:gd name="T1" fmla="*/ 99 h 99"/>
                <a:gd name="T2" fmla="*/ 0 w 100"/>
                <a:gd name="T3" fmla="*/ 0 h 99"/>
                <a:gd name="T4" fmla="*/ 100 w 100"/>
                <a:gd name="T5" fmla="*/ 0 h 99"/>
                <a:gd name="T6" fmla="*/ 0 60000 65536"/>
                <a:gd name="T7" fmla="*/ 0 60000 65536"/>
                <a:gd name="T8" fmla="*/ 0 60000 65536"/>
                <a:gd name="T9" fmla="*/ 0 w 100"/>
                <a:gd name="T10" fmla="*/ 0 h 99"/>
                <a:gd name="T11" fmla="*/ 100 w 100"/>
                <a:gd name="T12" fmla="*/ 99 h 99"/>
              </a:gdLst>
              <a:ahLst/>
              <a:cxnLst>
                <a:cxn ang="T6">
                  <a:pos x="T0" y="T1"/>
                </a:cxn>
                <a:cxn ang="T7">
                  <a:pos x="T2" y="T3"/>
                </a:cxn>
                <a:cxn ang="T8">
                  <a:pos x="T4" y="T5"/>
                </a:cxn>
              </a:cxnLst>
              <a:rect l="T9" t="T10" r="T11" b="T12"/>
              <a:pathLst>
                <a:path w="100" h="99">
                  <a:moveTo>
                    <a:pt x="0" y="99"/>
                  </a:moveTo>
                  <a:lnTo>
                    <a:pt x="0" y="0"/>
                  </a:lnTo>
                  <a:lnTo>
                    <a:pt x="100" y="0"/>
                  </a:lnTo>
                </a:path>
              </a:pathLst>
            </a:custGeom>
            <a:noFill/>
            <a:ln w="25400">
              <a:solidFill>
                <a:srgbClr val="FFFFFF"/>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sz="2000"/>
            </a:p>
          </p:txBody>
        </p:sp>
        <p:sp>
          <p:nvSpPr>
            <p:cNvPr id="76" name="Freeform 68"/>
            <p:cNvSpPr>
              <a:spLocks noChangeArrowheads="1"/>
            </p:cNvSpPr>
            <p:nvPr/>
          </p:nvSpPr>
          <p:spPr bwMode="auto">
            <a:xfrm>
              <a:off x="2859" y="2504"/>
              <a:ext cx="18" cy="135"/>
            </a:xfrm>
            <a:custGeom>
              <a:avLst/>
              <a:gdLst>
                <a:gd name="T0" fmla="*/ 0 w 18"/>
                <a:gd name="T1" fmla="*/ 117 h 135"/>
                <a:gd name="T2" fmla="*/ 0 w 18"/>
                <a:gd name="T3" fmla="*/ 18 h 135"/>
                <a:gd name="T4" fmla="*/ 18 w 18"/>
                <a:gd name="T5" fmla="*/ 0 h 135"/>
                <a:gd name="T6" fmla="*/ 18 w 18"/>
                <a:gd name="T7" fmla="*/ 135 h 135"/>
                <a:gd name="T8" fmla="*/ 0 60000 65536"/>
                <a:gd name="T9" fmla="*/ 0 60000 65536"/>
                <a:gd name="T10" fmla="*/ 0 60000 65536"/>
                <a:gd name="T11" fmla="*/ 0 60000 65536"/>
                <a:gd name="T12" fmla="*/ 0 w 18"/>
                <a:gd name="T13" fmla="*/ 0 h 135"/>
                <a:gd name="T14" fmla="*/ 18 w 18"/>
                <a:gd name="T15" fmla="*/ 135 h 135"/>
              </a:gdLst>
              <a:ahLst/>
              <a:cxnLst>
                <a:cxn ang="T8">
                  <a:pos x="T0" y="T1"/>
                </a:cxn>
                <a:cxn ang="T9">
                  <a:pos x="T2" y="T3"/>
                </a:cxn>
                <a:cxn ang="T10">
                  <a:pos x="T4" y="T5"/>
                </a:cxn>
                <a:cxn ang="T11">
                  <a:pos x="T6" y="T7"/>
                </a:cxn>
              </a:cxnLst>
              <a:rect l="T12" t="T13" r="T14" b="T15"/>
              <a:pathLst>
                <a:path w="18" h="135">
                  <a:moveTo>
                    <a:pt x="0" y="117"/>
                  </a:moveTo>
                  <a:lnTo>
                    <a:pt x="0" y="18"/>
                  </a:lnTo>
                  <a:lnTo>
                    <a:pt x="18" y="0"/>
                  </a:lnTo>
                  <a:lnTo>
                    <a:pt x="18" y="135"/>
                  </a:lnTo>
                  <a:lnTo>
                    <a:pt x="0" y="117"/>
                  </a:lnTo>
                  <a:close/>
                </a:path>
              </a:pathLst>
            </a:custGeom>
            <a:solidFill>
              <a:srgbClr val="0000FF"/>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77" name="Line 69"/>
            <p:cNvSpPr>
              <a:spLocks noChangeShapeType="1"/>
            </p:cNvSpPr>
            <p:nvPr/>
          </p:nvSpPr>
          <p:spPr bwMode="auto">
            <a:xfrm>
              <a:off x="2759" y="2621"/>
              <a:ext cx="101" cy="0"/>
            </a:xfrm>
            <a:prstGeom prst="line">
              <a:avLst/>
            </a:prstGeom>
            <a:noFill/>
            <a:ln w="25400">
              <a:solidFill>
                <a:srgbClr val="00EFEF"/>
              </a:solidFill>
              <a:round/>
            </a:ln>
            <a:extLst>
              <a:ext uri="{909E8E84-426E-40DD-AFC4-6F175D3DCCD1}">
                <a14:hiddenFill xmlns:a14="http://schemas.microsoft.com/office/drawing/2010/main">
                  <a:noFill/>
                </a14:hiddenFill>
              </a:ext>
            </a:extLst>
          </p:spPr>
          <p:txBody>
            <a:bodyPr wrap="none"/>
            <a:lstStyle/>
            <a:p>
              <a:endParaRPr lang="zh-CN" altLang="en-US" sz="2000"/>
            </a:p>
          </p:txBody>
        </p:sp>
        <p:sp>
          <p:nvSpPr>
            <p:cNvPr id="78" name="Freeform 70"/>
            <p:cNvSpPr>
              <a:spLocks noChangeArrowheads="1"/>
            </p:cNvSpPr>
            <p:nvPr/>
          </p:nvSpPr>
          <p:spPr bwMode="auto">
            <a:xfrm>
              <a:off x="2858" y="2521"/>
              <a:ext cx="1" cy="100"/>
            </a:xfrm>
            <a:custGeom>
              <a:avLst/>
              <a:gdLst>
                <a:gd name="T0" fmla="*/ 0 w 1"/>
                <a:gd name="T1" fmla="*/ 0 h 100"/>
                <a:gd name="T2" fmla="*/ 0 w 1"/>
                <a:gd name="T3" fmla="*/ 0 h 100"/>
                <a:gd name="T4" fmla="*/ 1 w 1"/>
                <a:gd name="T5" fmla="*/ 1 h 100"/>
                <a:gd name="T6" fmla="*/ 1 w 1"/>
                <a:gd name="T7" fmla="*/ 100 h 100"/>
                <a:gd name="T8" fmla="*/ 0 w 1"/>
                <a:gd name="T9" fmla="*/ 98 h 100"/>
                <a:gd name="T10" fmla="*/ 0 60000 65536"/>
                <a:gd name="T11" fmla="*/ 0 60000 65536"/>
                <a:gd name="T12" fmla="*/ 0 60000 65536"/>
                <a:gd name="T13" fmla="*/ 0 60000 65536"/>
                <a:gd name="T14" fmla="*/ 0 60000 65536"/>
                <a:gd name="T15" fmla="*/ 0 w 1"/>
                <a:gd name="T16" fmla="*/ 0 h 100"/>
                <a:gd name="T17" fmla="*/ 1 w 1"/>
                <a:gd name="T18" fmla="*/ 100 h 100"/>
              </a:gdLst>
              <a:ahLst/>
              <a:cxnLst>
                <a:cxn ang="T10">
                  <a:pos x="T0" y="T1"/>
                </a:cxn>
                <a:cxn ang="T11">
                  <a:pos x="T2" y="T3"/>
                </a:cxn>
                <a:cxn ang="T12">
                  <a:pos x="T4" y="T5"/>
                </a:cxn>
                <a:cxn ang="T13">
                  <a:pos x="T6" y="T7"/>
                </a:cxn>
                <a:cxn ang="T14">
                  <a:pos x="T8" y="T9"/>
                </a:cxn>
              </a:cxnLst>
              <a:rect l="T15" t="T16" r="T17" b="T18"/>
              <a:pathLst>
                <a:path w="1" h="100">
                  <a:moveTo>
                    <a:pt x="0" y="0"/>
                  </a:moveTo>
                  <a:cubicBezTo>
                    <a:pt x="0" y="0"/>
                    <a:pt x="0" y="0"/>
                    <a:pt x="0" y="0"/>
                  </a:cubicBezTo>
                  <a:cubicBezTo>
                    <a:pt x="1" y="1"/>
                    <a:pt x="1" y="1"/>
                    <a:pt x="1" y="1"/>
                  </a:cubicBezTo>
                  <a:cubicBezTo>
                    <a:pt x="1" y="100"/>
                    <a:pt x="1" y="100"/>
                    <a:pt x="1" y="100"/>
                  </a:cubicBezTo>
                  <a:cubicBezTo>
                    <a:pt x="0" y="98"/>
                    <a:pt x="0" y="98"/>
                    <a:pt x="0" y="98"/>
                  </a:cubicBezTo>
                  <a:lnTo>
                    <a:pt x="0" y="0"/>
                  </a:lnTo>
                  <a:close/>
                </a:path>
              </a:pathLst>
            </a:custGeom>
            <a:solidFill>
              <a:srgbClr val="00DCE4"/>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79" name="Freeform 71"/>
            <p:cNvSpPr>
              <a:spLocks noChangeArrowheads="1"/>
            </p:cNvSpPr>
            <p:nvPr/>
          </p:nvSpPr>
          <p:spPr bwMode="auto">
            <a:xfrm>
              <a:off x="2860" y="2506"/>
              <a:ext cx="16" cy="30"/>
            </a:xfrm>
            <a:custGeom>
              <a:avLst/>
              <a:gdLst>
                <a:gd name="T0" fmla="*/ 0 w 16"/>
                <a:gd name="T1" fmla="*/ 17 h 30"/>
                <a:gd name="T2" fmla="*/ 0 w 16"/>
                <a:gd name="T3" fmla="*/ 17 h 30"/>
                <a:gd name="T4" fmla="*/ 0 w 16"/>
                <a:gd name="T5" fmla="*/ 28 h 30"/>
                <a:gd name="T6" fmla="*/ 12 w 16"/>
                <a:gd name="T7" fmla="*/ 12 h 30"/>
                <a:gd name="T8" fmla="*/ 16 w 16"/>
                <a:gd name="T9" fmla="*/ 30 h 30"/>
                <a:gd name="T10" fmla="*/ 16 w 16"/>
                <a:gd name="T11" fmla="*/ 0 h 30"/>
                <a:gd name="T12" fmla="*/ 0 60000 65536"/>
                <a:gd name="T13" fmla="*/ 0 60000 65536"/>
                <a:gd name="T14" fmla="*/ 0 60000 65536"/>
                <a:gd name="T15" fmla="*/ 0 60000 65536"/>
                <a:gd name="T16" fmla="*/ 0 60000 65536"/>
                <a:gd name="T17" fmla="*/ 0 60000 65536"/>
                <a:gd name="T18" fmla="*/ 0 w 16"/>
                <a:gd name="T19" fmla="*/ 0 h 30"/>
                <a:gd name="T20" fmla="*/ 16 w 16"/>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16" h="30">
                  <a:moveTo>
                    <a:pt x="0" y="17"/>
                  </a:moveTo>
                  <a:cubicBezTo>
                    <a:pt x="0" y="17"/>
                    <a:pt x="0" y="17"/>
                    <a:pt x="0" y="17"/>
                  </a:cubicBezTo>
                  <a:cubicBezTo>
                    <a:pt x="0" y="17"/>
                    <a:pt x="0" y="28"/>
                    <a:pt x="0" y="28"/>
                  </a:cubicBezTo>
                  <a:cubicBezTo>
                    <a:pt x="5" y="14"/>
                    <a:pt x="12" y="12"/>
                    <a:pt x="12" y="12"/>
                  </a:cubicBezTo>
                  <a:cubicBezTo>
                    <a:pt x="14" y="14"/>
                    <a:pt x="16" y="30"/>
                    <a:pt x="16" y="30"/>
                  </a:cubicBezTo>
                  <a:cubicBezTo>
                    <a:pt x="16" y="0"/>
                    <a:pt x="16" y="0"/>
                    <a:pt x="16" y="0"/>
                  </a:cubicBezTo>
                  <a:lnTo>
                    <a:pt x="0" y="17"/>
                  </a:lnTo>
                  <a:close/>
                </a:path>
              </a:pathLst>
            </a:custGeom>
            <a:solidFill>
              <a:srgbClr val="280078"/>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80" name="Freeform 72"/>
            <p:cNvSpPr>
              <a:spLocks noChangeArrowheads="1"/>
            </p:cNvSpPr>
            <p:nvPr/>
          </p:nvSpPr>
          <p:spPr bwMode="auto">
            <a:xfrm>
              <a:off x="2860" y="2589"/>
              <a:ext cx="16" cy="46"/>
            </a:xfrm>
            <a:custGeom>
              <a:avLst/>
              <a:gdLst>
                <a:gd name="T0" fmla="*/ 16 w 16"/>
                <a:gd name="T1" fmla="*/ 46 h 46"/>
                <a:gd name="T2" fmla="*/ 16 w 16"/>
                <a:gd name="T3" fmla="*/ 46 h 46"/>
                <a:gd name="T4" fmla="*/ 16 w 16"/>
                <a:gd name="T5" fmla="*/ 0 h 46"/>
                <a:gd name="T6" fmla="*/ 12 w 16"/>
                <a:gd name="T7" fmla="*/ 34 h 46"/>
                <a:gd name="T8" fmla="*/ 5 w 16"/>
                <a:gd name="T9" fmla="*/ 30 h 46"/>
                <a:gd name="T10" fmla="*/ 1 w 16"/>
                <a:gd name="T11" fmla="*/ 22 h 46"/>
                <a:gd name="T12" fmla="*/ 0 w 16"/>
                <a:gd name="T13" fmla="*/ 31 h 46"/>
                <a:gd name="T14" fmla="*/ 0 60000 65536"/>
                <a:gd name="T15" fmla="*/ 0 60000 65536"/>
                <a:gd name="T16" fmla="*/ 0 60000 65536"/>
                <a:gd name="T17" fmla="*/ 0 60000 65536"/>
                <a:gd name="T18" fmla="*/ 0 60000 65536"/>
                <a:gd name="T19" fmla="*/ 0 60000 65536"/>
                <a:gd name="T20" fmla="*/ 0 60000 65536"/>
                <a:gd name="T21" fmla="*/ 0 w 16"/>
                <a:gd name="T22" fmla="*/ 0 h 46"/>
                <a:gd name="T23" fmla="*/ 16 w 16"/>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46">
                  <a:moveTo>
                    <a:pt x="16" y="46"/>
                  </a:moveTo>
                  <a:cubicBezTo>
                    <a:pt x="16" y="46"/>
                    <a:pt x="16" y="46"/>
                    <a:pt x="16" y="46"/>
                  </a:cubicBezTo>
                  <a:cubicBezTo>
                    <a:pt x="16" y="0"/>
                    <a:pt x="16" y="0"/>
                    <a:pt x="16" y="0"/>
                  </a:cubicBezTo>
                  <a:cubicBezTo>
                    <a:pt x="16" y="0"/>
                    <a:pt x="15" y="26"/>
                    <a:pt x="12" y="34"/>
                  </a:cubicBezTo>
                  <a:cubicBezTo>
                    <a:pt x="10" y="36"/>
                    <a:pt x="5" y="34"/>
                    <a:pt x="5" y="30"/>
                  </a:cubicBezTo>
                  <a:cubicBezTo>
                    <a:pt x="1" y="22"/>
                    <a:pt x="1" y="22"/>
                    <a:pt x="1" y="22"/>
                  </a:cubicBezTo>
                  <a:cubicBezTo>
                    <a:pt x="0" y="31"/>
                    <a:pt x="0" y="31"/>
                    <a:pt x="0" y="31"/>
                  </a:cubicBezTo>
                  <a:lnTo>
                    <a:pt x="16" y="46"/>
                  </a:lnTo>
                  <a:close/>
                </a:path>
              </a:pathLst>
            </a:custGeom>
            <a:solidFill>
              <a:srgbClr val="280078"/>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81" name="Rectangle 73"/>
            <p:cNvSpPr>
              <a:spLocks noChangeArrowheads="1"/>
            </p:cNvSpPr>
            <p:nvPr/>
          </p:nvSpPr>
          <p:spPr bwMode="auto">
            <a:xfrm>
              <a:off x="4306" y="1817"/>
              <a:ext cx="146" cy="138"/>
            </a:xfrm>
            <a:prstGeom prst="rect">
              <a:avLst/>
            </a:prstGeom>
            <a:solidFill>
              <a:srgbClr val="740B00"/>
            </a:solidFill>
            <a:ln w="25400">
              <a:solidFill>
                <a:srgbClr val="740B00"/>
              </a:solidFill>
              <a:miter lim="800000"/>
            </a:ln>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82" name="Rectangle 74"/>
            <p:cNvSpPr>
              <a:spLocks noChangeArrowheads="1"/>
            </p:cNvSpPr>
            <p:nvPr/>
          </p:nvSpPr>
          <p:spPr bwMode="auto">
            <a:xfrm>
              <a:off x="4298" y="1922"/>
              <a:ext cx="145" cy="27"/>
            </a:xfrm>
            <a:prstGeom prst="rect">
              <a:avLst/>
            </a:prstGeom>
            <a:solidFill>
              <a:srgbClr val="95250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83" name="Freeform 75"/>
            <p:cNvSpPr>
              <a:spLocks noChangeArrowheads="1"/>
            </p:cNvSpPr>
            <p:nvPr/>
          </p:nvSpPr>
          <p:spPr bwMode="auto">
            <a:xfrm>
              <a:off x="4298" y="1803"/>
              <a:ext cx="143" cy="81"/>
            </a:xfrm>
            <a:custGeom>
              <a:avLst/>
              <a:gdLst>
                <a:gd name="T0" fmla="*/ 143 w 143"/>
                <a:gd name="T1" fmla="*/ 0 h 81"/>
                <a:gd name="T2" fmla="*/ 0 w 143"/>
                <a:gd name="T3" fmla="*/ 0 h 81"/>
                <a:gd name="T4" fmla="*/ 79 w 143"/>
                <a:gd name="T5" fmla="*/ 81 h 81"/>
                <a:gd name="T6" fmla="*/ 0 60000 65536"/>
                <a:gd name="T7" fmla="*/ 0 60000 65536"/>
                <a:gd name="T8" fmla="*/ 0 60000 65536"/>
                <a:gd name="T9" fmla="*/ 0 w 143"/>
                <a:gd name="T10" fmla="*/ 0 h 81"/>
                <a:gd name="T11" fmla="*/ 143 w 143"/>
                <a:gd name="T12" fmla="*/ 81 h 81"/>
              </a:gdLst>
              <a:ahLst/>
              <a:cxnLst>
                <a:cxn ang="T6">
                  <a:pos x="T0" y="T1"/>
                </a:cxn>
                <a:cxn ang="T7">
                  <a:pos x="T2" y="T3"/>
                </a:cxn>
                <a:cxn ang="T8">
                  <a:pos x="T4" y="T5"/>
                </a:cxn>
              </a:cxnLst>
              <a:rect l="T9" t="T10" r="T11" b="T12"/>
              <a:pathLst>
                <a:path w="143" h="81">
                  <a:moveTo>
                    <a:pt x="143" y="0"/>
                  </a:moveTo>
                  <a:lnTo>
                    <a:pt x="0" y="0"/>
                  </a:lnTo>
                  <a:lnTo>
                    <a:pt x="79" y="81"/>
                  </a:lnTo>
                  <a:lnTo>
                    <a:pt x="143" y="0"/>
                  </a:lnTo>
                  <a:close/>
                </a:path>
              </a:pathLst>
            </a:custGeom>
            <a:solidFill>
              <a:srgbClr val="FFCBCB"/>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84" name="Rectangle 76"/>
            <p:cNvSpPr>
              <a:spLocks noChangeArrowheads="1"/>
            </p:cNvSpPr>
            <p:nvPr/>
          </p:nvSpPr>
          <p:spPr bwMode="auto">
            <a:xfrm>
              <a:off x="4316" y="1822"/>
              <a:ext cx="107" cy="105"/>
            </a:xfrm>
            <a:prstGeom prst="rect">
              <a:avLst/>
            </a:prstGeom>
            <a:solidFill>
              <a:srgbClr val="FF6379"/>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sz="2000"/>
            </a:p>
          </p:txBody>
        </p:sp>
        <p:sp>
          <p:nvSpPr>
            <p:cNvPr id="85" name="Freeform 77"/>
            <p:cNvSpPr>
              <a:spLocks noChangeArrowheads="1"/>
            </p:cNvSpPr>
            <p:nvPr/>
          </p:nvSpPr>
          <p:spPr bwMode="auto">
            <a:xfrm>
              <a:off x="4298" y="1803"/>
              <a:ext cx="18" cy="144"/>
            </a:xfrm>
            <a:custGeom>
              <a:avLst/>
              <a:gdLst>
                <a:gd name="T0" fmla="*/ 18 w 18"/>
                <a:gd name="T1" fmla="*/ 124 h 144"/>
                <a:gd name="T2" fmla="*/ 18 w 18"/>
                <a:gd name="T3" fmla="*/ 18 h 144"/>
                <a:gd name="T4" fmla="*/ 0 w 18"/>
                <a:gd name="T5" fmla="*/ 0 h 144"/>
                <a:gd name="T6" fmla="*/ 0 w 18"/>
                <a:gd name="T7" fmla="*/ 144 h 144"/>
                <a:gd name="T8" fmla="*/ 0 60000 65536"/>
                <a:gd name="T9" fmla="*/ 0 60000 65536"/>
                <a:gd name="T10" fmla="*/ 0 60000 65536"/>
                <a:gd name="T11" fmla="*/ 0 60000 65536"/>
                <a:gd name="T12" fmla="*/ 0 w 18"/>
                <a:gd name="T13" fmla="*/ 0 h 144"/>
                <a:gd name="T14" fmla="*/ 18 w 18"/>
                <a:gd name="T15" fmla="*/ 144 h 144"/>
              </a:gdLst>
              <a:ahLst/>
              <a:cxnLst>
                <a:cxn ang="T8">
                  <a:pos x="T0" y="T1"/>
                </a:cxn>
                <a:cxn ang="T9">
                  <a:pos x="T2" y="T3"/>
                </a:cxn>
                <a:cxn ang="T10">
                  <a:pos x="T4" y="T5"/>
                </a:cxn>
                <a:cxn ang="T11">
                  <a:pos x="T6" y="T7"/>
                </a:cxn>
              </a:cxnLst>
              <a:rect l="T12" t="T13" r="T14" b="T15"/>
              <a:pathLst>
                <a:path w="18" h="144">
                  <a:moveTo>
                    <a:pt x="18" y="124"/>
                  </a:moveTo>
                  <a:lnTo>
                    <a:pt x="18" y="18"/>
                  </a:lnTo>
                  <a:lnTo>
                    <a:pt x="0" y="0"/>
                  </a:lnTo>
                  <a:lnTo>
                    <a:pt x="0" y="144"/>
                  </a:lnTo>
                  <a:lnTo>
                    <a:pt x="18" y="124"/>
                  </a:lnTo>
                  <a:close/>
                </a:path>
              </a:pathLst>
            </a:custGeom>
            <a:solidFill>
              <a:srgbClr val="FF9494"/>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86" name="Freeform 78"/>
            <p:cNvSpPr/>
            <p:nvPr/>
          </p:nvSpPr>
          <p:spPr bwMode="auto">
            <a:xfrm>
              <a:off x="4316" y="1822"/>
              <a:ext cx="106" cy="105"/>
            </a:xfrm>
            <a:custGeom>
              <a:avLst/>
              <a:gdLst>
                <a:gd name="T0" fmla="*/ 0 w 106"/>
                <a:gd name="T1" fmla="*/ 105 h 105"/>
                <a:gd name="T2" fmla="*/ 0 w 106"/>
                <a:gd name="T3" fmla="*/ 0 h 105"/>
                <a:gd name="T4" fmla="*/ 106 w 106"/>
                <a:gd name="T5" fmla="*/ 0 h 105"/>
                <a:gd name="T6" fmla="*/ 0 60000 65536"/>
                <a:gd name="T7" fmla="*/ 0 60000 65536"/>
                <a:gd name="T8" fmla="*/ 0 60000 65536"/>
                <a:gd name="T9" fmla="*/ 0 w 106"/>
                <a:gd name="T10" fmla="*/ 0 h 105"/>
                <a:gd name="T11" fmla="*/ 106 w 106"/>
                <a:gd name="T12" fmla="*/ 105 h 105"/>
              </a:gdLst>
              <a:ahLst/>
              <a:cxnLst>
                <a:cxn ang="T6">
                  <a:pos x="T0" y="T1"/>
                </a:cxn>
                <a:cxn ang="T7">
                  <a:pos x="T2" y="T3"/>
                </a:cxn>
                <a:cxn ang="T8">
                  <a:pos x="T4" y="T5"/>
                </a:cxn>
              </a:cxnLst>
              <a:rect l="T9" t="T10" r="T11" b="T12"/>
              <a:pathLst>
                <a:path w="106" h="105">
                  <a:moveTo>
                    <a:pt x="0" y="105"/>
                  </a:moveTo>
                  <a:lnTo>
                    <a:pt x="0" y="0"/>
                  </a:lnTo>
                  <a:lnTo>
                    <a:pt x="106" y="0"/>
                  </a:lnTo>
                </a:path>
              </a:pathLst>
            </a:custGeom>
            <a:noFill/>
            <a:ln w="25400">
              <a:solidFill>
                <a:srgbClr val="F32D3B"/>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sz="2000"/>
            </a:p>
          </p:txBody>
        </p:sp>
        <p:sp>
          <p:nvSpPr>
            <p:cNvPr id="87" name="Freeform 79"/>
            <p:cNvSpPr>
              <a:spLocks noChangeArrowheads="1"/>
            </p:cNvSpPr>
            <p:nvPr/>
          </p:nvSpPr>
          <p:spPr bwMode="auto">
            <a:xfrm>
              <a:off x="4422" y="1803"/>
              <a:ext cx="20" cy="145"/>
            </a:xfrm>
            <a:custGeom>
              <a:avLst/>
              <a:gdLst>
                <a:gd name="T0" fmla="*/ 0 w 20"/>
                <a:gd name="T1" fmla="*/ 125 h 145"/>
                <a:gd name="T2" fmla="*/ 0 w 20"/>
                <a:gd name="T3" fmla="*/ 19 h 145"/>
                <a:gd name="T4" fmla="*/ 20 w 20"/>
                <a:gd name="T5" fmla="*/ 0 h 145"/>
                <a:gd name="T6" fmla="*/ 20 w 20"/>
                <a:gd name="T7" fmla="*/ 145 h 145"/>
                <a:gd name="T8" fmla="*/ 0 60000 65536"/>
                <a:gd name="T9" fmla="*/ 0 60000 65536"/>
                <a:gd name="T10" fmla="*/ 0 60000 65536"/>
                <a:gd name="T11" fmla="*/ 0 60000 65536"/>
                <a:gd name="T12" fmla="*/ 0 w 20"/>
                <a:gd name="T13" fmla="*/ 0 h 145"/>
                <a:gd name="T14" fmla="*/ 20 w 20"/>
                <a:gd name="T15" fmla="*/ 145 h 145"/>
              </a:gdLst>
              <a:ahLst/>
              <a:cxnLst>
                <a:cxn ang="T8">
                  <a:pos x="T0" y="T1"/>
                </a:cxn>
                <a:cxn ang="T9">
                  <a:pos x="T2" y="T3"/>
                </a:cxn>
                <a:cxn ang="T10">
                  <a:pos x="T4" y="T5"/>
                </a:cxn>
                <a:cxn ang="T11">
                  <a:pos x="T6" y="T7"/>
                </a:cxn>
              </a:cxnLst>
              <a:rect l="T12" t="T13" r="T14" b="T15"/>
              <a:pathLst>
                <a:path w="20" h="145">
                  <a:moveTo>
                    <a:pt x="0" y="125"/>
                  </a:moveTo>
                  <a:lnTo>
                    <a:pt x="0" y="19"/>
                  </a:lnTo>
                  <a:lnTo>
                    <a:pt x="20" y="0"/>
                  </a:lnTo>
                  <a:lnTo>
                    <a:pt x="20" y="145"/>
                  </a:lnTo>
                  <a:lnTo>
                    <a:pt x="0" y="125"/>
                  </a:lnTo>
                  <a:close/>
                </a:path>
              </a:pathLst>
            </a:custGeom>
            <a:solidFill>
              <a:srgbClr val="DA0030"/>
            </a:solidFill>
            <a:ln>
              <a:noFill/>
            </a:ln>
            <a:extLst>
              <a:ext uri="{91240B29-F687-4F45-9708-019B960494DF}">
                <a14:hiddenLine xmlns:a14="http://schemas.microsoft.com/office/drawing/2010/main" w="25400">
                  <a:solidFill>
                    <a:srgbClr val="000000"/>
                  </a:solidFill>
                  <a:round/>
                </a14:hiddenLine>
              </a:ext>
            </a:extLst>
          </p:spPr>
          <p:txBody>
            <a:bodyPr wrap="none"/>
            <a:lstStyle/>
            <a:p>
              <a:endParaRPr lang="zh-CN" altLang="en-US" sz="2000"/>
            </a:p>
          </p:txBody>
        </p:sp>
        <p:sp>
          <p:nvSpPr>
            <p:cNvPr id="88" name="Line 80"/>
            <p:cNvSpPr>
              <a:spLocks noChangeShapeType="1"/>
            </p:cNvSpPr>
            <p:nvPr/>
          </p:nvSpPr>
          <p:spPr bwMode="auto">
            <a:xfrm>
              <a:off x="4316" y="1927"/>
              <a:ext cx="106" cy="0"/>
            </a:xfrm>
            <a:prstGeom prst="line">
              <a:avLst/>
            </a:prstGeom>
            <a:noFill/>
            <a:ln w="25400">
              <a:solidFill>
                <a:srgbClr val="BC0024"/>
              </a:solidFill>
              <a:round/>
            </a:ln>
            <a:extLst>
              <a:ext uri="{909E8E84-426E-40DD-AFC4-6F175D3DCCD1}">
                <a14:hiddenFill xmlns:a14="http://schemas.microsoft.com/office/drawing/2010/main">
                  <a:noFill/>
                </a14:hiddenFill>
              </a:ext>
            </a:extLst>
          </p:spPr>
          <p:txBody>
            <a:bodyPr wrap="none"/>
            <a:lstStyle/>
            <a:p>
              <a:endParaRPr lang="zh-CN" altLang="en-US" sz="2000"/>
            </a:p>
          </p:txBody>
        </p:sp>
      </p:gr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91850" y="4374520"/>
            <a:ext cx="3528102" cy="2646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6.2</a:t>
            </a:r>
            <a:r>
              <a:rPr lang="zh-CN" altLang="en-US" sz="2400" b="1" dirty="0">
                <a:solidFill>
                  <a:srgbClr val="01395C"/>
                </a:solidFill>
                <a:latin typeface="方正粗宋简体"/>
                <a:ea typeface="方正粗宋简体"/>
                <a:cs typeface="方正粗宋简体"/>
              </a:rPr>
              <a:t> 进度管理图示方法</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388114" y="764853"/>
            <a:ext cx="1447832"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pPr eaLnBrk="1" hangingPunct="1"/>
            <a:r>
              <a:rPr lang="zh-CN" altLang="en-US" sz="2400" b="1" dirty="0">
                <a:effectLst/>
              </a:rPr>
              <a:t>里程碑图</a:t>
            </a:r>
            <a:endParaRPr lang="zh-CN" altLang="zh-CN" sz="2400" b="1" dirty="0">
              <a:effectLst/>
            </a:endParaRPr>
          </a:p>
        </p:txBody>
      </p:sp>
      <p:sp>
        <p:nvSpPr>
          <p:cNvPr id="11" name="文本框 10"/>
          <p:cNvSpPr txBox="1"/>
          <p:nvPr/>
        </p:nvSpPr>
        <p:spPr>
          <a:xfrm>
            <a:off x="481792" y="1528763"/>
            <a:ext cx="11228416" cy="3903248"/>
          </a:xfrm>
          <a:prstGeom prst="rect">
            <a:avLst/>
          </a:prstGeom>
          <a:noFill/>
        </p:spPr>
        <p:txBody>
          <a:bodyPr wrap="square">
            <a:spAutoFit/>
          </a:bodyPr>
          <a:lstStyle/>
          <a:p>
            <a:pPr eaLnBrk="1" hangingPunct="1">
              <a:lnSpc>
                <a:spcPct val="150000"/>
              </a:lnSpc>
            </a:pPr>
            <a:r>
              <a:rPr lang="zh-CN" altLang="zh-CN" sz="2400" dirty="0">
                <a:effectLst/>
              </a:rPr>
              <a:t>编制里程碑计划的具体</a:t>
            </a:r>
            <a:r>
              <a:rPr lang="zh-CN" altLang="zh-CN" sz="2400" dirty="0">
                <a:solidFill>
                  <a:srgbClr val="C00000"/>
                </a:solidFill>
                <a:effectLst/>
              </a:rPr>
              <a:t>步骤</a:t>
            </a:r>
            <a:r>
              <a:rPr lang="zh-CN" altLang="zh-CN" sz="2400" dirty="0">
                <a:effectLst/>
              </a:rPr>
              <a:t>一般如下：</a:t>
            </a:r>
            <a:endParaRPr lang="zh-CN" altLang="zh-CN" sz="2400" dirty="0">
              <a:effectLst/>
            </a:endParaRPr>
          </a:p>
          <a:p>
            <a:pPr lvl="1" eaLnBrk="1" hangingPunct="1">
              <a:lnSpc>
                <a:spcPct val="150000"/>
              </a:lnSpc>
            </a:pPr>
            <a:r>
              <a:rPr lang="zh-CN" altLang="zh-CN" sz="2400" dirty="0">
                <a:ea typeface="楷体_GB2312" charset="-122"/>
              </a:rPr>
              <a:t>（</a:t>
            </a:r>
            <a:r>
              <a:rPr lang="en-US" altLang="zh-CN" sz="2400" dirty="0">
                <a:ea typeface="楷体_GB2312" charset="-122"/>
              </a:rPr>
              <a:t>1</a:t>
            </a:r>
            <a:r>
              <a:rPr lang="zh-CN" altLang="zh-CN" sz="2400" dirty="0">
                <a:ea typeface="楷体_GB2312" charset="-122"/>
              </a:rPr>
              <a:t>）</a:t>
            </a:r>
            <a:r>
              <a:rPr lang="zh-CN" altLang="zh-CN" sz="2400" dirty="0">
                <a:solidFill>
                  <a:srgbClr val="C00000"/>
                </a:solidFill>
                <a:ea typeface="楷体_GB2312" charset="-122"/>
              </a:rPr>
              <a:t>认可</a:t>
            </a:r>
            <a:r>
              <a:rPr lang="zh-CN" altLang="zh-CN" sz="2400" dirty="0">
                <a:ea typeface="楷体_GB2312" charset="-122"/>
              </a:rPr>
              <a:t>最终的里程碑。</a:t>
            </a:r>
            <a:endParaRPr lang="zh-CN" altLang="zh-CN" sz="2400" dirty="0">
              <a:ea typeface="楷体_GB2312" charset="-122"/>
            </a:endParaRPr>
          </a:p>
          <a:p>
            <a:pPr lvl="1" eaLnBrk="1" hangingPunct="1">
              <a:lnSpc>
                <a:spcPct val="150000"/>
              </a:lnSpc>
            </a:pPr>
            <a:r>
              <a:rPr lang="zh-CN" altLang="zh-CN" sz="2400" dirty="0">
                <a:ea typeface="楷体_GB2312" charset="-122"/>
              </a:rPr>
              <a:t>（</a:t>
            </a:r>
            <a:r>
              <a:rPr lang="en-US" altLang="zh-CN" sz="2400" dirty="0">
                <a:ea typeface="楷体_GB2312" charset="-122"/>
              </a:rPr>
              <a:t>2</a:t>
            </a:r>
            <a:r>
              <a:rPr lang="zh-CN" altLang="zh-CN" sz="2400" dirty="0">
                <a:ea typeface="楷体_GB2312" charset="-122"/>
              </a:rPr>
              <a:t>）集体</a:t>
            </a:r>
            <a:r>
              <a:rPr lang="zh-CN" altLang="zh-CN" sz="2400" dirty="0">
                <a:solidFill>
                  <a:srgbClr val="C00000"/>
                </a:solidFill>
                <a:ea typeface="楷体_GB2312" charset="-122"/>
              </a:rPr>
              <a:t>讨论</a:t>
            </a:r>
            <a:r>
              <a:rPr lang="zh-CN" altLang="zh-CN" sz="2400" dirty="0">
                <a:ea typeface="楷体_GB2312" charset="-122"/>
              </a:rPr>
              <a:t>所有可能的里程碑。</a:t>
            </a:r>
            <a:endParaRPr lang="zh-CN" altLang="zh-CN" sz="2400" dirty="0">
              <a:ea typeface="楷体_GB2312" charset="-122"/>
            </a:endParaRPr>
          </a:p>
          <a:p>
            <a:pPr lvl="1" eaLnBrk="1" hangingPunct="1">
              <a:lnSpc>
                <a:spcPct val="150000"/>
              </a:lnSpc>
            </a:pPr>
            <a:r>
              <a:rPr lang="zh-CN" altLang="zh-CN" sz="2400" dirty="0">
                <a:ea typeface="楷体_GB2312" charset="-122"/>
              </a:rPr>
              <a:t>（</a:t>
            </a:r>
            <a:r>
              <a:rPr lang="en-US" altLang="zh-CN" sz="2400" dirty="0">
                <a:ea typeface="楷体_GB2312" charset="-122"/>
              </a:rPr>
              <a:t>3</a:t>
            </a:r>
            <a:r>
              <a:rPr lang="zh-CN" altLang="zh-CN" sz="2400" dirty="0">
                <a:ea typeface="楷体_GB2312" charset="-122"/>
              </a:rPr>
              <a:t>）</a:t>
            </a:r>
            <a:r>
              <a:rPr lang="zh-CN" altLang="zh-CN" sz="2400" dirty="0">
                <a:solidFill>
                  <a:srgbClr val="C00000"/>
                </a:solidFill>
                <a:ea typeface="楷体_GB2312" charset="-122"/>
              </a:rPr>
              <a:t>审核</a:t>
            </a:r>
            <a:r>
              <a:rPr lang="zh-CN" altLang="zh-CN" sz="2400" dirty="0">
                <a:ea typeface="楷体_GB2312" charset="-122"/>
              </a:rPr>
              <a:t>备选里程碑。</a:t>
            </a:r>
            <a:endParaRPr lang="zh-CN" altLang="zh-CN" sz="2400" dirty="0">
              <a:ea typeface="楷体_GB2312" charset="-122"/>
            </a:endParaRPr>
          </a:p>
          <a:p>
            <a:pPr lvl="1" eaLnBrk="1" hangingPunct="1">
              <a:lnSpc>
                <a:spcPct val="150000"/>
              </a:lnSpc>
            </a:pPr>
            <a:r>
              <a:rPr lang="zh-CN" altLang="zh-CN" sz="2400" dirty="0">
                <a:ea typeface="楷体_GB2312" charset="-122"/>
              </a:rPr>
              <a:t>（</a:t>
            </a:r>
            <a:r>
              <a:rPr lang="en-US" altLang="zh-CN" sz="2400" dirty="0">
                <a:ea typeface="楷体_GB2312" charset="-122"/>
              </a:rPr>
              <a:t>4</a:t>
            </a:r>
            <a:r>
              <a:rPr lang="zh-CN" altLang="zh-CN" sz="2400" dirty="0">
                <a:ea typeface="楷体_GB2312" charset="-122"/>
              </a:rPr>
              <a:t>）对结果路径进行</a:t>
            </a:r>
            <a:r>
              <a:rPr lang="zh-CN" altLang="zh-CN" sz="2400" dirty="0">
                <a:solidFill>
                  <a:srgbClr val="C00000"/>
                </a:solidFill>
                <a:ea typeface="楷体_GB2312" charset="-122"/>
              </a:rPr>
              <a:t>实验</a:t>
            </a:r>
            <a:r>
              <a:rPr lang="zh-CN" altLang="zh-CN" sz="2400" dirty="0">
                <a:ea typeface="楷体_GB2312" charset="-122"/>
              </a:rPr>
              <a:t>。</a:t>
            </a:r>
            <a:endParaRPr lang="zh-CN" altLang="zh-CN" sz="2400" dirty="0">
              <a:ea typeface="楷体_GB2312" charset="-122"/>
            </a:endParaRPr>
          </a:p>
          <a:p>
            <a:pPr lvl="1" eaLnBrk="1" hangingPunct="1">
              <a:lnSpc>
                <a:spcPct val="150000"/>
              </a:lnSpc>
            </a:pPr>
            <a:r>
              <a:rPr lang="zh-CN" altLang="zh-CN" sz="2400" dirty="0">
                <a:ea typeface="楷体_GB2312" charset="-122"/>
              </a:rPr>
              <a:t>（</a:t>
            </a:r>
            <a:r>
              <a:rPr lang="en-US" altLang="zh-CN" sz="2400" dirty="0">
                <a:ea typeface="楷体_GB2312" charset="-122"/>
              </a:rPr>
              <a:t>5</a:t>
            </a:r>
            <a:r>
              <a:rPr lang="zh-CN" altLang="zh-CN" sz="2400" dirty="0">
                <a:ea typeface="楷体_GB2312" charset="-122"/>
              </a:rPr>
              <a:t>）用</a:t>
            </a:r>
            <a:r>
              <a:rPr lang="zh-CN" altLang="zh-CN" sz="2400" dirty="0">
                <a:solidFill>
                  <a:srgbClr val="C00000"/>
                </a:solidFill>
                <a:ea typeface="楷体_GB2312" charset="-122"/>
              </a:rPr>
              <a:t>连线</a:t>
            </a:r>
            <a:r>
              <a:rPr lang="zh-CN" altLang="zh-CN" sz="2400" dirty="0">
                <a:ea typeface="楷体_GB2312" charset="-122"/>
              </a:rPr>
              <a:t>表示里程碑之间的逻辑关系。</a:t>
            </a:r>
            <a:endParaRPr lang="zh-CN" altLang="zh-CN" sz="2400" dirty="0">
              <a:ea typeface="楷体_GB2312" charset="-122"/>
            </a:endParaRPr>
          </a:p>
          <a:p>
            <a:pPr lvl="1" eaLnBrk="1" hangingPunct="1">
              <a:lnSpc>
                <a:spcPct val="150000"/>
              </a:lnSpc>
            </a:pPr>
            <a:r>
              <a:rPr lang="zh-CN" altLang="zh-CN" sz="2400" dirty="0">
                <a:ea typeface="楷体_GB2312" charset="-122"/>
              </a:rPr>
              <a:t>（</a:t>
            </a:r>
            <a:r>
              <a:rPr lang="en-US" altLang="zh-CN" sz="2400" dirty="0">
                <a:ea typeface="楷体_GB2312" charset="-122"/>
              </a:rPr>
              <a:t>6</a:t>
            </a:r>
            <a:r>
              <a:rPr lang="zh-CN" altLang="zh-CN" sz="2400" dirty="0">
                <a:ea typeface="楷体_GB2312" charset="-122"/>
              </a:rPr>
              <a:t>）</a:t>
            </a:r>
            <a:r>
              <a:rPr lang="zh-CN" altLang="zh-CN" sz="2400" dirty="0">
                <a:solidFill>
                  <a:srgbClr val="C00000"/>
                </a:solidFill>
                <a:ea typeface="楷体_GB2312" charset="-122"/>
              </a:rPr>
              <a:t>确定</a:t>
            </a:r>
            <a:r>
              <a:rPr lang="zh-CN" altLang="zh-CN" sz="2400" dirty="0">
                <a:ea typeface="楷体_GB2312" charset="-122"/>
              </a:rPr>
              <a:t>最终的里程碑计划。 </a:t>
            </a:r>
            <a:endParaRPr lang="zh-CN" altLang="en-US" sz="2400" dirty="0">
              <a:ea typeface="楷体_GB2312" charset="-122"/>
            </a:endParaRPr>
          </a:p>
        </p:txBody>
      </p:sp>
      <p:pic>
        <p:nvPicPr>
          <p:cNvPr id="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91850" y="4374520"/>
            <a:ext cx="3528102" cy="2646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6.2</a:t>
            </a:r>
            <a:r>
              <a:rPr lang="zh-CN" altLang="en-US" sz="2400" b="1" dirty="0">
                <a:solidFill>
                  <a:srgbClr val="01395C"/>
                </a:solidFill>
                <a:latin typeface="方正粗宋简体"/>
                <a:ea typeface="方正粗宋简体"/>
                <a:cs typeface="方正粗宋简体"/>
              </a:rPr>
              <a:t> 进度管理图示方法</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4157007" y="764853"/>
            <a:ext cx="3877985"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pPr eaLnBrk="1" hangingPunct="1"/>
            <a:r>
              <a:rPr lang="zh-CN" altLang="en-US" sz="2400" dirty="0">
                <a:effectLst/>
              </a:rPr>
              <a:t>三个与时间相关的重要概念</a:t>
            </a:r>
            <a:endParaRPr lang="zh-CN" altLang="zh-CN" sz="2400" b="1" dirty="0">
              <a:effectLst/>
            </a:endParaRPr>
          </a:p>
        </p:txBody>
      </p:sp>
      <p:sp>
        <p:nvSpPr>
          <p:cNvPr id="11" name="文本框 10"/>
          <p:cNvSpPr txBox="1"/>
          <p:nvPr/>
        </p:nvSpPr>
        <p:spPr>
          <a:xfrm>
            <a:off x="481792" y="1528763"/>
            <a:ext cx="11228416" cy="5011244"/>
          </a:xfrm>
          <a:prstGeom prst="rect">
            <a:avLst/>
          </a:prstGeom>
          <a:noFill/>
        </p:spPr>
        <p:txBody>
          <a:bodyPr wrap="square">
            <a:spAutoFit/>
          </a:bodyPr>
          <a:lstStyle/>
          <a:p>
            <a:pPr eaLnBrk="1" hangingPunct="1">
              <a:lnSpc>
                <a:spcPct val="150000"/>
              </a:lnSpc>
            </a:pPr>
            <a:r>
              <a:rPr lang="zh-CN" altLang="en-US" sz="2400" dirty="0">
                <a:effectLst/>
              </a:rPr>
              <a:t>软件开发项目生命周期中有三个与时间相关的重要概念：检查点、里程碑、基线</a:t>
            </a:r>
            <a:endParaRPr lang="en-US" altLang="zh-CN" sz="2400" dirty="0">
              <a:effectLst/>
            </a:endParaRPr>
          </a:p>
          <a:p>
            <a:pPr marL="457200" indent="-457200" eaLnBrk="1" hangingPunct="1">
              <a:lnSpc>
                <a:spcPct val="150000"/>
              </a:lnSpc>
              <a:buFont typeface="+mj-lt"/>
              <a:buAutoNum type="arabicPeriod"/>
            </a:pPr>
            <a:r>
              <a:rPr lang="zh-CN" altLang="en-US" sz="2400" dirty="0">
                <a:solidFill>
                  <a:srgbClr val="C00000"/>
                </a:solidFill>
                <a:ea typeface="楷体_GB2312" charset="-122"/>
              </a:rPr>
              <a:t>检查点</a:t>
            </a:r>
            <a:r>
              <a:rPr lang="zh-CN" altLang="en-US" sz="2400" dirty="0">
                <a:ea typeface="楷体_GB2312" charset="-122"/>
              </a:rPr>
              <a:t>：是指在规定的时间间隔内对项目进行检查，比较实际进度与估算进度计划之间的差异，并根据差异做出调整。</a:t>
            </a:r>
            <a:endParaRPr lang="en-US" altLang="zh-CN" sz="2400" dirty="0">
              <a:ea typeface="楷体_GB2312" charset="-122"/>
            </a:endParaRPr>
          </a:p>
          <a:p>
            <a:pPr marL="457200" indent="-457200" eaLnBrk="1" hangingPunct="1">
              <a:lnSpc>
                <a:spcPct val="150000"/>
              </a:lnSpc>
              <a:buFont typeface="+mj-lt"/>
              <a:buAutoNum type="arabicPeriod"/>
            </a:pPr>
            <a:r>
              <a:rPr lang="zh-CN" altLang="en-US" sz="2400" dirty="0">
                <a:solidFill>
                  <a:srgbClr val="C00000"/>
                </a:solidFill>
                <a:ea typeface="楷体_GB2312" charset="-122"/>
              </a:rPr>
              <a:t>里程碑</a:t>
            </a:r>
            <a:r>
              <a:rPr lang="zh-CN" altLang="en-US" sz="2400" dirty="0">
                <a:ea typeface="楷体_GB2312" charset="-122"/>
              </a:rPr>
              <a:t>：是指一个具有历史意义的事件，通常代表项目工作中一个重要阶段的完成。</a:t>
            </a:r>
            <a:endParaRPr lang="en-US" altLang="zh-CN" sz="2400" dirty="0">
              <a:ea typeface="楷体_GB2312" charset="-122"/>
            </a:endParaRPr>
          </a:p>
          <a:p>
            <a:pPr marL="457200" indent="-457200" eaLnBrk="1" hangingPunct="1">
              <a:lnSpc>
                <a:spcPct val="150000"/>
              </a:lnSpc>
              <a:buFont typeface="+mj-lt"/>
              <a:buAutoNum type="arabicPeriod"/>
            </a:pPr>
            <a:r>
              <a:rPr lang="zh-CN" altLang="en-US" sz="2400" dirty="0">
                <a:solidFill>
                  <a:srgbClr val="C00000"/>
                </a:solidFill>
                <a:ea typeface="楷体_GB2312" charset="-122"/>
              </a:rPr>
              <a:t>基      线</a:t>
            </a:r>
            <a:r>
              <a:rPr lang="zh-CN" altLang="en-US" sz="2400" dirty="0">
                <a:ea typeface="楷体_GB2312" charset="-122"/>
              </a:rPr>
              <a:t>：则是指一个配置在项目不同时间点上通过正式评审而进入正式受控的一种（里程碑）状态。</a:t>
            </a:r>
            <a:endParaRPr lang="en-US" altLang="zh-CN" sz="2400" dirty="0">
              <a:ea typeface="楷体_GB2312" charset="-122"/>
            </a:endParaRPr>
          </a:p>
          <a:p>
            <a:pPr eaLnBrk="1" hangingPunct="1">
              <a:lnSpc>
                <a:spcPct val="150000"/>
              </a:lnSpc>
            </a:pPr>
            <a:endParaRPr lang="en-US" altLang="zh-CN" sz="2400" dirty="0">
              <a:solidFill>
                <a:srgbClr val="0066CC"/>
              </a:solidFill>
              <a:ea typeface="楷体_GB2312" charset="-122"/>
            </a:endParaRPr>
          </a:p>
          <a:p>
            <a:pPr eaLnBrk="1" hangingPunct="1">
              <a:lnSpc>
                <a:spcPct val="150000"/>
              </a:lnSpc>
            </a:pPr>
            <a:r>
              <a:rPr lang="zh-CN" altLang="en-US" sz="2400" dirty="0">
                <a:solidFill>
                  <a:srgbClr val="0066CC"/>
                </a:solidFill>
                <a:ea typeface="楷体_GB2312" charset="-122"/>
              </a:rPr>
              <a:t>三者的关系</a:t>
            </a:r>
            <a:r>
              <a:rPr lang="zh-CN" altLang="en-US" sz="2400" dirty="0">
                <a:ea typeface="楷体_GB2312" charset="-122"/>
              </a:rPr>
              <a:t>：重要的检查点是里程碑，重要的需要客户确认的里程碑就是基线。</a:t>
            </a:r>
            <a:endParaRPr lang="en-US" altLang="zh-CN" sz="2400" dirty="0">
              <a:ea typeface="楷体_GB2312" charset="-122"/>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a:t>
            </a:r>
            <a:r>
              <a:rPr lang="zh-CN" altLang="en-US" sz="2400" b="1" dirty="0">
                <a:solidFill>
                  <a:srgbClr val="01395C"/>
                </a:solidFill>
                <a:latin typeface="方正粗宋简体"/>
                <a:ea typeface="方正粗宋简体"/>
                <a:cs typeface="方正粗宋简体"/>
              </a:rPr>
              <a:t> 任务历时估计</a:t>
            </a:r>
            <a:endParaRPr lang="zh-CN" altLang="en-US" sz="2400" b="1" dirty="0">
              <a:solidFill>
                <a:srgbClr val="01395C"/>
              </a:solidFill>
              <a:latin typeface="方正粗宋简体"/>
              <a:ea typeface="方正粗宋简体"/>
              <a:cs typeface="方正粗宋简体"/>
            </a:endParaRPr>
          </a:p>
        </p:txBody>
      </p:sp>
      <p:sp>
        <p:nvSpPr>
          <p:cNvPr id="3" name="文本框 2"/>
          <p:cNvSpPr txBox="1"/>
          <p:nvPr/>
        </p:nvSpPr>
        <p:spPr>
          <a:xfrm>
            <a:off x="791796" y="950925"/>
            <a:ext cx="10608407" cy="5077460"/>
          </a:xfrm>
          <a:prstGeom prst="rect">
            <a:avLst/>
          </a:prstGeom>
          <a:noFill/>
        </p:spPr>
        <p:txBody>
          <a:bodyPr wrap="square" rtlCol="0">
            <a:spAutoFit/>
          </a:bodyPr>
          <a:lstStyle/>
          <a:p>
            <a:pPr indent="539750">
              <a:lnSpc>
                <a:spcPct val="150000"/>
              </a:lnSpc>
            </a:pPr>
            <a:r>
              <a:rPr lang="zh-CN" altLang="en-US" sz="2400" dirty="0">
                <a:solidFill>
                  <a:srgbClr val="C00000"/>
                </a:solidFill>
              </a:rPr>
              <a:t>任务历时估计</a:t>
            </a:r>
            <a:r>
              <a:rPr lang="zh-CN" altLang="en-US" sz="2400" dirty="0"/>
              <a:t>是</a:t>
            </a:r>
            <a:r>
              <a:rPr lang="zh-CN" altLang="en-US" sz="2400" dirty="0">
                <a:solidFill>
                  <a:srgbClr val="0066CC"/>
                </a:solidFill>
              </a:rPr>
              <a:t>基于资源估算</a:t>
            </a:r>
            <a:r>
              <a:rPr lang="zh-CN" altLang="en-US" sz="2400" dirty="0"/>
              <a:t>的结果，估算完成</a:t>
            </a:r>
            <a:r>
              <a:rPr lang="zh-CN" altLang="en-US" sz="2400" dirty="0">
                <a:solidFill>
                  <a:srgbClr val="0066CC"/>
                </a:solidFill>
              </a:rPr>
              <a:t>单项活动</a:t>
            </a:r>
            <a:r>
              <a:rPr lang="zh-CN" altLang="en-US" sz="2400" dirty="0"/>
              <a:t>所需工作时段数的过程。</a:t>
            </a:r>
            <a:endParaRPr lang="en-US" altLang="zh-CN" sz="2400" dirty="0"/>
          </a:p>
          <a:p>
            <a:pPr indent="539750">
              <a:lnSpc>
                <a:spcPct val="150000"/>
              </a:lnSpc>
            </a:pPr>
            <a:r>
              <a:rPr lang="zh-CN" altLang="en-US" sz="2400" dirty="0"/>
              <a:t>本过程的</a:t>
            </a:r>
            <a:r>
              <a:rPr lang="zh-CN" altLang="en-US" sz="2400" dirty="0">
                <a:solidFill>
                  <a:srgbClr val="C00000"/>
                </a:solidFill>
              </a:rPr>
              <a:t>主要作用</a:t>
            </a:r>
            <a:r>
              <a:rPr lang="zh-CN" altLang="en-US" sz="2400" dirty="0"/>
              <a:t>是确定完成</a:t>
            </a:r>
            <a:r>
              <a:rPr lang="zh-CN" altLang="en-US" sz="2400" dirty="0">
                <a:solidFill>
                  <a:srgbClr val="0066CC"/>
                </a:solidFill>
              </a:rPr>
              <a:t>每个活动</a:t>
            </a:r>
            <a:r>
              <a:rPr lang="zh-CN" altLang="en-US" sz="2400" dirty="0"/>
              <a:t>所需花费的时间量，为</a:t>
            </a:r>
            <a:r>
              <a:rPr lang="zh-CN" altLang="en-US" sz="2400" dirty="0">
                <a:solidFill>
                  <a:srgbClr val="0066CC"/>
                </a:solidFill>
              </a:rPr>
              <a:t>制定进度计划</a:t>
            </a:r>
            <a:r>
              <a:rPr lang="zh-CN" altLang="en-US" sz="2400" dirty="0"/>
              <a:t>过程提供主要的输入。</a:t>
            </a:r>
            <a:endParaRPr lang="en-US" altLang="zh-CN" sz="2400" dirty="0"/>
          </a:p>
          <a:p>
            <a:pPr>
              <a:lnSpc>
                <a:spcPct val="150000"/>
              </a:lnSpc>
            </a:pPr>
            <a:endParaRPr lang="zh-CN" altLang="en-US" sz="2400" dirty="0"/>
          </a:p>
          <a:p>
            <a:pPr>
              <a:lnSpc>
                <a:spcPct val="150000"/>
              </a:lnSpc>
            </a:pPr>
            <a:r>
              <a:rPr lang="zh-CN" altLang="en-US" sz="2400" dirty="0"/>
              <a:t>参数估算法</a:t>
            </a:r>
            <a:endParaRPr lang="en-US" altLang="zh-CN" sz="2400" dirty="0"/>
          </a:p>
          <a:p>
            <a:pPr marL="457200" indent="-457200">
              <a:lnSpc>
                <a:spcPct val="150000"/>
              </a:lnSpc>
              <a:buFont typeface="+mj-lt"/>
              <a:buAutoNum type="arabicPeriod"/>
            </a:pPr>
            <a:r>
              <a:rPr lang="zh-CN" altLang="en-US" sz="2400" dirty="0"/>
              <a:t>经验导出模型</a:t>
            </a:r>
            <a:endParaRPr lang="en-US" altLang="zh-CN" sz="2400" dirty="0"/>
          </a:p>
          <a:p>
            <a:pPr marL="457200" indent="-457200">
              <a:lnSpc>
                <a:spcPct val="150000"/>
              </a:lnSpc>
              <a:buFont typeface="+mj-lt"/>
              <a:buAutoNum type="arabicPeriod"/>
            </a:pPr>
            <a:r>
              <a:rPr lang="en-US" altLang="zh-CN" sz="2400" dirty="0"/>
              <a:t>PERT</a:t>
            </a:r>
            <a:r>
              <a:rPr lang="zh-CN" altLang="en-US" sz="2400" dirty="0"/>
              <a:t>工程评估技术</a:t>
            </a:r>
            <a:endParaRPr lang="en-US" altLang="zh-CN" sz="2400" dirty="0"/>
          </a:p>
          <a:p>
            <a:pPr marL="457200" indent="-457200">
              <a:lnSpc>
                <a:spcPct val="150000"/>
              </a:lnSpc>
              <a:buFont typeface="+mj-lt"/>
              <a:buAutoNum type="arabicPeriod"/>
            </a:pPr>
            <a:r>
              <a:rPr lang="zh-CN" altLang="en-US" sz="2400" dirty="0"/>
              <a:t>类比估算法</a:t>
            </a:r>
            <a:endParaRPr lang="zh-CN" altLang="en-US" sz="2400" dirty="0"/>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a:t>
            </a:r>
            <a:r>
              <a:rPr lang="zh-CN" altLang="en-US" sz="2400" b="1" dirty="0">
                <a:solidFill>
                  <a:srgbClr val="01395C"/>
                </a:solidFill>
                <a:latin typeface="方正粗宋简体"/>
                <a:ea typeface="方正粗宋简体"/>
                <a:cs typeface="方正粗宋简体"/>
              </a:rPr>
              <a:t> 任务历时估计</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138845" y="757646"/>
            <a:ext cx="1914307"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en-US" altLang="zh-CN" sz="2400" dirty="0"/>
              <a:t>1 </a:t>
            </a:r>
            <a:r>
              <a:rPr lang="zh-CN" altLang="en-US" sz="2400" dirty="0"/>
              <a:t>参数估算法</a:t>
            </a:r>
            <a:endParaRPr lang="zh-CN" altLang="en-US" sz="2400" dirty="0"/>
          </a:p>
        </p:txBody>
      </p:sp>
      <mc:AlternateContent xmlns:mc="http://schemas.openxmlformats.org/markup-compatibility/2006">
        <mc:Choice xmlns:a14="http://schemas.microsoft.com/office/drawing/2010/main" Requires="a14">
          <p:sp>
            <p:nvSpPr>
              <p:cNvPr id="3" name="文本框 2"/>
              <p:cNvSpPr txBox="1"/>
              <p:nvPr/>
            </p:nvSpPr>
            <p:spPr>
              <a:xfrm>
                <a:off x="791796" y="1557754"/>
                <a:ext cx="10608407" cy="5285229"/>
              </a:xfrm>
              <a:prstGeom prst="rect">
                <a:avLst/>
              </a:prstGeom>
              <a:noFill/>
            </p:spPr>
            <p:txBody>
              <a:bodyPr wrap="square" rtlCol="0">
                <a:spAutoFit/>
              </a:bodyPr>
              <a:lstStyle/>
              <a:p>
                <a:pPr>
                  <a:lnSpc>
                    <a:spcPct val="150000"/>
                  </a:lnSpc>
                </a:pPr>
                <a:r>
                  <a:rPr lang="zh-CN" altLang="en-US" sz="2400" dirty="0">
                    <a:solidFill>
                      <a:srgbClr val="C00000"/>
                    </a:solidFill>
                  </a:rPr>
                  <a:t>参数估算法</a:t>
                </a:r>
                <a:r>
                  <a:rPr lang="zh-CN" altLang="en-US" sz="2400" dirty="0"/>
                  <a:t>也称为</a:t>
                </a:r>
                <a:r>
                  <a:rPr lang="zh-CN" altLang="en-US" sz="2400" dirty="0">
                    <a:solidFill>
                      <a:srgbClr val="C00000"/>
                    </a:solidFill>
                  </a:rPr>
                  <a:t>定额估算法</a:t>
                </a:r>
                <a:r>
                  <a:rPr lang="zh-CN" altLang="en-US" sz="2400" dirty="0"/>
                  <a:t>，是一种基于</a:t>
                </a:r>
                <a:r>
                  <a:rPr lang="zh-CN" altLang="en-US" sz="2400" dirty="0">
                    <a:solidFill>
                      <a:srgbClr val="0066CC"/>
                    </a:solidFill>
                  </a:rPr>
                  <a:t>历史数据</a:t>
                </a:r>
                <a:r>
                  <a:rPr lang="zh-CN" altLang="en-US" sz="2400" dirty="0"/>
                  <a:t>和</a:t>
                </a:r>
                <a:r>
                  <a:rPr lang="zh-CN" altLang="en-US" sz="2400" dirty="0">
                    <a:solidFill>
                      <a:srgbClr val="0066CC"/>
                    </a:solidFill>
                  </a:rPr>
                  <a:t>项目参数</a:t>
                </a:r>
                <a:r>
                  <a:rPr lang="zh-CN" altLang="en-US" sz="2400" dirty="0"/>
                  <a:t>，使用某种算法来计算</a:t>
                </a:r>
                <a:r>
                  <a:rPr lang="zh-CN" altLang="en-US" sz="2400" dirty="0">
                    <a:solidFill>
                      <a:srgbClr val="0066CC"/>
                    </a:solidFill>
                  </a:rPr>
                  <a:t>成本</a:t>
                </a:r>
                <a:r>
                  <a:rPr lang="zh-CN" altLang="en-US" sz="2400" dirty="0"/>
                  <a:t>或</a:t>
                </a:r>
                <a:r>
                  <a:rPr lang="zh-CN" altLang="en-US" sz="2400" dirty="0">
                    <a:solidFill>
                      <a:srgbClr val="0066CC"/>
                    </a:solidFill>
                  </a:rPr>
                  <a:t>持续时间</a:t>
                </a:r>
                <a:r>
                  <a:rPr lang="zh-CN" altLang="en-US" sz="2400" dirty="0"/>
                  <a:t>的估算技术。公式：</a:t>
                </a:r>
                <a:endParaRPr lang="en-US" altLang="zh-CN" sz="2400" dirty="0"/>
              </a:p>
              <a:p>
                <a:pPr algn="ctr" eaLnBrk="1" hangingPunct="1">
                  <a:lnSpc>
                    <a:spcPct val="150000"/>
                  </a:lnSpc>
                  <a:buFont typeface="Monotype Sorts" charset="0"/>
                  <a:buNone/>
                </a:pPr>
                <a14:m>
                  <m:oMathPara xmlns:m="http://schemas.openxmlformats.org/officeDocument/2006/math">
                    <m:oMathParaPr>
                      <m:jc m:val="centerGroup"/>
                    </m:oMathParaPr>
                    <m:oMath xmlns:m="http://schemas.openxmlformats.org/officeDocument/2006/math">
                      <m:r>
                        <a:rPr lang="en-US" altLang="zh-CN" sz="3600" b="1" i="1" smtClean="0">
                          <a:solidFill>
                            <a:schemeClr val="accent2"/>
                          </a:solidFill>
                          <a:latin typeface="Cambria Math" panose="02040503050406030204" pitchFamily="18" charset="0"/>
                          <a:ea typeface="+mn-ea"/>
                        </a:rPr>
                        <m:t>𝑻</m:t>
                      </m:r>
                      <m:r>
                        <a:rPr lang="en-US" altLang="zh-CN" sz="3600" b="1" i="1" smtClean="0">
                          <a:solidFill>
                            <a:schemeClr val="accent2"/>
                          </a:solidFill>
                          <a:latin typeface="Cambria Math" panose="02040503050406030204" pitchFamily="18" charset="0"/>
                          <a:ea typeface="+mn-ea"/>
                        </a:rPr>
                        <m:t>= </m:t>
                      </m:r>
                      <m:f>
                        <m:fPr>
                          <m:ctrlPr>
                            <a:rPr lang="en-US" altLang="zh-CN" sz="3600" b="1" i="1" smtClean="0">
                              <a:solidFill>
                                <a:schemeClr val="accent2"/>
                              </a:solidFill>
                              <a:latin typeface="Cambria Math" panose="02040503050406030204" pitchFamily="18" charset="0"/>
                              <a:ea typeface="+mn-ea"/>
                            </a:rPr>
                          </m:ctrlPr>
                        </m:fPr>
                        <m:num>
                          <m:r>
                            <a:rPr lang="en-US" altLang="zh-CN" sz="3600" b="1" i="1" smtClean="0">
                              <a:solidFill>
                                <a:schemeClr val="accent2"/>
                              </a:solidFill>
                              <a:latin typeface="Cambria Math" panose="02040503050406030204" pitchFamily="18" charset="0"/>
                              <a:ea typeface="+mn-ea"/>
                            </a:rPr>
                            <m:t>𝑸</m:t>
                          </m:r>
                        </m:num>
                        <m:den>
                          <m:r>
                            <a:rPr lang="en-US" altLang="zh-CN" sz="3600" b="1" i="1" smtClean="0">
                              <a:solidFill>
                                <a:schemeClr val="accent2"/>
                              </a:solidFill>
                              <a:latin typeface="Cambria Math" panose="02040503050406030204" pitchFamily="18" charset="0"/>
                              <a:ea typeface="+mn-ea"/>
                            </a:rPr>
                            <m:t>𝑹</m:t>
                          </m:r>
                          <m:r>
                            <a:rPr lang="en-US" altLang="zh-CN" sz="3600" b="1" i="1" smtClean="0">
                              <a:solidFill>
                                <a:schemeClr val="accent2"/>
                              </a:solidFill>
                              <a:latin typeface="Cambria Math" panose="02040503050406030204" pitchFamily="18" charset="0"/>
                              <a:ea typeface="Cambria Math" panose="02040503050406030204" pitchFamily="18" charset="0"/>
                            </a:rPr>
                            <m:t>×</m:t>
                          </m:r>
                          <m:r>
                            <a:rPr lang="en-US" altLang="zh-CN" sz="3600" b="1" i="1" smtClean="0">
                              <a:solidFill>
                                <a:schemeClr val="accent2"/>
                              </a:solidFill>
                              <a:latin typeface="Cambria Math" panose="02040503050406030204" pitchFamily="18" charset="0"/>
                              <a:ea typeface="Cambria Math" panose="02040503050406030204" pitchFamily="18" charset="0"/>
                            </a:rPr>
                            <m:t>𝑺</m:t>
                          </m:r>
                        </m:den>
                      </m:f>
                    </m:oMath>
                  </m:oMathPara>
                </a14:m>
                <a:endParaRPr lang="en-US" altLang="zh-CN" sz="3600" b="1" dirty="0">
                  <a:solidFill>
                    <a:schemeClr val="accent2"/>
                  </a:solidFill>
                  <a:latin typeface="+mn-ea"/>
                  <a:ea typeface="+mn-ea"/>
                </a:endParaRPr>
              </a:p>
              <a:p>
                <a:pPr marL="342900" indent="-342900" eaLnBrk="1" hangingPunct="1">
                  <a:lnSpc>
                    <a:spcPct val="150000"/>
                  </a:lnSpc>
                  <a:buFont typeface="Wingdings" panose="05000000000000000000" pitchFamily="2" charset="2"/>
                  <a:buChar char="Ø"/>
                </a:pPr>
                <a:r>
                  <a:rPr lang="en-US" altLang="zh-CN" sz="2400" dirty="0">
                    <a:latin typeface="+mn-ea"/>
                    <a:ea typeface="+mn-ea"/>
                  </a:rPr>
                  <a:t>T</a:t>
                </a:r>
                <a:r>
                  <a:rPr lang="zh-CN" altLang="en-US" sz="2400" dirty="0">
                    <a:latin typeface="+mn-ea"/>
                    <a:ea typeface="+mn-ea"/>
                  </a:rPr>
                  <a:t>：活动历时</a:t>
                </a:r>
                <a:endParaRPr lang="zh-CN" altLang="en-US" sz="2400" dirty="0">
                  <a:latin typeface="+mn-ea"/>
                  <a:ea typeface="+mn-ea"/>
                </a:endParaRPr>
              </a:p>
              <a:p>
                <a:pPr marL="342900" indent="-342900" eaLnBrk="1" hangingPunct="1">
                  <a:lnSpc>
                    <a:spcPct val="150000"/>
                  </a:lnSpc>
                  <a:buFont typeface="Wingdings" panose="05000000000000000000" pitchFamily="2" charset="2"/>
                  <a:buChar char="Ø"/>
                </a:pPr>
                <a:r>
                  <a:rPr lang="en-US" altLang="zh-CN" sz="2400" dirty="0">
                    <a:latin typeface="+mn-ea"/>
                    <a:ea typeface="+mn-ea"/>
                  </a:rPr>
                  <a:t>Q</a:t>
                </a:r>
                <a:r>
                  <a:rPr lang="zh-CN" altLang="en-US" sz="2400" dirty="0">
                    <a:latin typeface="+mn-ea"/>
                    <a:ea typeface="+mn-ea"/>
                  </a:rPr>
                  <a:t>：任务工作量</a:t>
                </a:r>
                <a:endParaRPr lang="zh-CN" altLang="en-US" sz="2400" dirty="0">
                  <a:latin typeface="+mn-ea"/>
                  <a:ea typeface="+mn-ea"/>
                </a:endParaRPr>
              </a:p>
              <a:p>
                <a:pPr marL="342900" indent="-342900" eaLnBrk="1" hangingPunct="1">
                  <a:lnSpc>
                    <a:spcPct val="150000"/>
                  </a:lnSpc>
                  <a:buFont typeface="Wingdings" panose="05000000000000000000" pitchFamily="2" charset="2"/>
                  <a:buChar char="Ø"/>
                </a:pPr>
                <a:r>
                  <a:rPr lang="en-US" altLang="zh-CN" sz="2400" dirty="0">
                    <a:latin typeface="+mn-ea"/>
                    <a:ea typeface="+mn-ea"/>
                  </a:rPr>
                  <a:t>R</a:t>
                </a:r>
                <a:r>
                  <a:rPr lang="zh-CN" altLang="en-US" sz="2400" dirty="0">
                    <a:latin typeface="+mn-ea"/>
                    <a:ea typeface="+mn-ea"/>
                  </a:rPr>
                  <a:t>：人力数量</a:t>
                </a:r>
                <a:endParaRPr lang="zh-CN" altLang="en-US" sz="2400" dirty="0">
                  <a:latin typeface="+mn-ea"/>
                  <a:ea typeface="+mn-ea"/>
                </a:endParaRPr>
              </a:p>
              <a:p>
                <a:pPr marL="342900" indent="-342900" eaLnBrk="1" hangingPunct="1">
                  <a:lnSpc>
                    <a:spcPct val="150000"/>
                  </a:lnSpc>
                  <a:buFont typeface="Wingdings" panose="05000000000000000000" pitchFamily="2" charset="2"/>
                  <a:buChar char="Ø"/>
                </a:pPr>
                <a:r>
                  <a:rPr lang="en-US" altLang="zh-CN" sz="2400" dirty="0">
                    <a:latin typeface="+mn-ea"/>
                    <a:ea typeface="+mn-ea"/>
                  </a:rPr>
                  <a:t>S</a:t>
                </a:r>
                <a:r>
                  <a:rPr lang="zh-CN" altLang="en-US" sz="2400" dirty="0">
                    <a:latin typeface="+mn-ea"/>
                    <a:ea typeface="+mn-ea"/>
                  </a:rPr>
                  <a:t>：工作效率（贡献率</a:t>
                </a:r>
                <a:r>
                  <a:rPr lang="zh-CN" altLang="en-US" sz="2400" dirty="0"/>
                  <a:t>）</a:t>
                </a:r>
                <a:endParaRPr lang="zh-CN" altLang="en-US"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791796" y="1557754"/>
                <a:ext cx="10608407" cy="5285229"/>
              </a:xfrm>
              <a:prstGeom prst="rect">
                <a:avLst/>
              </a:prstGeom>
              <a:blipFill rotWithShape="1">
                <a:blip r:embed="rId1"/>
                <a:stretch>
                  <a:fillRect l="-6" t="-2" b="4"/>
                </a:stretch>
              </a:blipFill>
            </p:spPr>
            <p:txBody>
              <a:bodyPr/>
              <a:lstStyle/>
              <a:p>
                <a:r>
                  <a:rPr lang="zh-CN" altLang="en-US">
                    <a:noFill/>
                  </a:rPr>
                  <a:t> </a:t>
                </a:r>
              </a:p>
            </p:txBody>
          </p:sp>
        </mc:Fallback>
      </mc:AlternateContent>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a:t>
            </a:r>
            <a:r>
              <a:rPr lang="zh-CN" altLang="en-US" sz="2400" b="1" dirty="0">
                <a:solidFill>
                  <a:srgbClr val="01395C"/>
                </a:solidFill>
                <a:latin typeface="方正粗宋简体"/>
                <a:ea typeface="方正粗宋简体"/>
                <a:cs typeface="方正粗宋简体"/>
              </a:rPr>
              <a:t> 任务历时估计</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138845" y="757646"/>
            <a:ext cx="1914307"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en-US" altLang="zh-CN" sz="2400" dirty="0"/>
              <a:t>1 </a:t>
            </a:r>
            <a:r>
              <a:rPr lang="zh-CN" altLang="en-US" sz="2400" dirty="0"/>
              <a:t>参数估算法</a:t>
            </a:r>
            <a:endParaRPr lang="zh-CN" altLang="en-US" sz="2400" dirty="0"/>
          </a:p>
        </p:txBody>
      </p:sp>
      <p:sp>
        <p:nvSpPr>
          <p:cNvPr id="3" name="文本框 2"/>
          <p:cNvSpPr txBox="1"/>
          <p:nvPr/>
        </p:nvSpPr>
        <p:spPr>
          <a:xfrm>
            <a:off x="791796" y="1557754"/>
            <a:ext cx="10608407" cy="3869329"/>
          </a:xfrm>
          <a:prstGeom prst="rect">
            <a:avLst/>
          </a:prstGeom>
          <a:noFill/>
        </p:spPr>
        <p:txBody>
          <a:bodyPr wrap="square" rtlCol="0">
            <a:spAutoFit/>
          </a:bodyPr>
          <a:lstStyle/>
          <a:p>
            <a:pPr marL="457200" indent="-457200" eaLnBrk="1" hangingPunct="1">
              <a:lnSpc>
                <a:spcPct val="150000"/>
              </a:lnSpc>
              <a:buFont typeface="Wingdings" panose="05000000000000000000" pitchFamily="2" charset="2"/>
              <a:buChar char="ü"/>
            </a:pPr>
            <a:r>
              <a:rPr lang="zh-CN" altLang="en-US" sz="2800" dirty="0">
                <a:solidFill>
                  <a:srgbClr val="C00000"/>
                </a:solidFill>
                <a:latin typeface="隶书" panose="02010509060101010101" pitchFamily="49" charset="-122"/>
                <a:ea typeface="隶书" panose="02010509060101010101" pitchFamily="49" charset="-122"/>
              </a:rPr>
              <a:t>例如</a:t>
            </a:r>
            <a:endParaRPr lang="zh-CN" altLang="en-US" sz="2800" dirty="0">
              <a:solidFill>
                <a:srgbClr val="C00000"/>
              </a:solidFill>
              <a:latin typeface="隶书" panose="02010509060101010101" pitchFamily="49" charset="-122"/>
              <a:ea typeface="隶书" panose="02010509060101010101" pitchFamily="49" charset="-122"/>
            </a:endParaRPr>
          </a:p>
          <a:p>
            <a:pPr lvl="1" eaLnBrk="1" hangingPunct="1">
              <a:lnSpc>
                <a:spcPct val="150000"/>
              </a:lnSpc>
            </a:pPr>
            <a:r>
              <a:rPr lang="en-US" altLang="zh-CN" sz="2800" dirty="0">
                <a:solidFill>
                  <a:srgbClr val="C00000"/>
                </a:solidFill>
                <a:latin typeface="隶书" panose="02010509060101010101" pitchFamily="49" charset="-122"/>
                <a:ea typeface="隶书" panose="02010509060101010101" pitchFamily="49" charset="-122"/>
              </a:rPr>
              <a:t>Q=6</a:t>
            </a:r>
            <a:r>
              <a:rPr lang="zh-CN" altLang="en-US" sz="2800" dirty="0">
                <a:solidFill>
                  <a:srgbClr val="C00000"/>
                </a:solidFill>
                <a:latin typeface="隶书" panose="02010509060101010101" pitchFamily="49" charset="-122"/>
                <a:ea typeface="隶书" panose="02010509060101010101" pitchFamily="49" charset="-122"/>
              </a:rPr>
              <a:t>人天</a:t>
            </a:r>
            <a:r>
              <a:rPr lang="en-US" altLang="zh-CN" sz="2800" dirty="0">
                <a:solidFill>
                  <a:srgbClr val="C00000"/>
                </a:solidFill>
                <a:latin typeface="隶书" panose="02010509060101010101" pitchFamily="49" charset="-122"/>
                <a:ea typeface="隶书" panose="02010509060101010101" pitchFamily="49" charset="-122"/>
              </a:rPr>
              <a:t>,R=2</a:t>
            </a:r>
            <a:r>
              <a:rPr lang="zh-CN" altLang="en-US" sz="2800" dirty="0">
                <a:solidFill>
                  <a:srgbClr val="C00000"/>
                </a:solidFill>
                <a:latin typeface="隶书" panose="02010509060101010101" pitchFamily="49" charset="-122"/>
                <a:ea typeface="隶书" panose="02010509060101010101" pitchFamily="49" charset="-122"/>
              </a:rPr>
              <a:t>人</a:t>
            </a:r>
            <a:r>
              <a:rPr lang="en-US" altLang="zh-CN" sz="2800" dirty="0">
                <a:solidFill>
                  <a:srgbClr val="C00000"/>
                </a:solidFill>
                <a:latin typeface="隶书" panose="02010509060101010101" pitchFamily="49" charset="-122"/>
                <a:ea typeface="隶书" panose="02010509060101010101" pitchFamily="49" charset="-122"/>
              </a:rPr>
              <a:t>,S=1</a:t>
            </a:r>
            <a:endParaRPr lang="en-US" altLang="zh-CN" sz="2800" dirty="0">
              <a:solidFill>
                <a:srgbClr val="C00000"/>
              </a:solidFill>
              <a:latin typeface="隶书" panose="02010509060101010101" pitchFamily="49" charset="-122"/>
              <a:ea typeface="隶书" panose="02010509060101010101" pitchFamily="49" charset="-122"/>
            </a:endParaRPr>
          </a:p>
          <a:p>
            <a:pPr lvl="1" eaLnBrk="1" hangingPunct="1">
              <a:lnSpc>
                <a:spcPct val="150000"/>
              </a:lnSpc>
            </a:pPr>
            <a:r>
              <a:rPr lang="zh-CN" altLang="en-US" sz="2800" dirty="0">
                <a:solidFill>
                  <a:srgbClr val="C00000"/>
                </a:solidFill>
                <a:latin typeface="隶书" panose="02010509060101010101" pitchFamily="49" charset="-122"/>
                <a:ea typeface="隶书" panose="02010509060101010101" pitchFamily="49" charset="-122"/>
              </a:rPr>
              <a:t>则：</a:t>
            </a:r>
            <a:r>
              <a:rPr lang="en-US" altLang="zh-CN" sz="2800" dirty="0">
                <a:solidFill>
                  <a:srgbClr val="C00000"/>
                </a:solidFill>
                <a:latin typeface="隶书" panose="02010509060101010101" pitchFamily="49" charset="-122"/>
                <a:ea typeface="隶书" panose="02010509060101010101" pitchFamily="49" charset="-122"/>
              </a:rPr>
              <a:t>T=3</a:t>
            </a:r>
            <a:r>
              <a:rPr lang="zh-CN" altLang="en-US" sz="2800" dirty="0">
                <a:solidFill>
                  <a:srgbClr val="C00000"/>
                </a:solidFill>
                <a:latin typeface="隶书" panose="02010509060101010101" pitchFamily="49" charset="-122"/>
                <a:ea typeface="隶书" panose="02010509060101010101" pitchFamily="49" charset="-122"/>
              </a:rPr>
              <a:t>天</a:t>
            </a:r>
            <a:endParaRPr lang="zh-CN" altLang="en-US" sz="2800" dirty="0">
              <a:solidFill>
                <a:srgbClr val="C00000"/>
              </a:solidFill>
              <a:latin typeface="隶书" panose="02010509060101010101" pitchFamily="49" charset="-122"/>
              <a:ea typeface="隶书" panose="02010509060101010101" pitchFamily="49" charset="-122"/>
            </a:endParaRPr>
          </a:p>
          <a:p>
            <a:pPr marL="457200" indent="-457200" eaLnBrk="1" hangingPunct="1">
              <a:lnSpc>
                <a:spcPct val="150000"/>
              </a:lnSpc>
              <a:buFont typeface="Wingdings" panose="05000000000000000000" pitchFamily="2" charset="2"/>
              <a:buChar char="ü"/>
            </a:pPr>
            <a:r>
              <a:rPr lang="zh-CN" altLang="en-US" sz="2800" dirty="0">
                <a:solidFill>
                  <a:srgbClr val="0066CC"/>
                </a:solidFill>
                <a:latin typeface="隶书" panose="02010509060101010101" pitchFamily="49" charset="-122"/>
                <a:ea typeface="隶书" panose="02010509060101010101" pitchFamily="49" charset="-122"/>
              </a:rPr>
              <a:t>例如</a:t>
            </a:r>
            <a:endParaRPr lang="zh-CN" altLang="en-US" sz="2800" dirty="0">
              <a:solidFill>
                <a:srgbClr val="0066CC"/>
              </a:solidFill>
              <a:latin typeface="隶书" panose="02010509060101010101" pitchFamily="49" charset="-122"/>
              <a:ea typeface="隶书" panose="02010509060101010101" pitchFamily="49" charset="-122"/>
            </a:endParaRPr>
          </a:p>
          <a:p>
            <a:pPr lvl="1" eaLnBrk="1" hangingPunct="1">
              <a:lnSpc>
                <a:spcPct val="150000"/>
              </a:lnSpc>
            </a:pPr>
            <a:r>
              <a:rPr lang="en-US" altLang="zh-CN" sz="2800" dirty="0">
                <a:solidFill>
                  <a:srgbClr val="0066CC"/>
                </a:solidFill>
                <a:latin typeface="隶书" panose="02010509060101010101" pitchFamily="49" charset="-122"/>
                <a:ea typeface="隶书" panose="02010509060101010101" pitchFamily="49" charset="-122"/>
              </a:rPr>
              <a:t>Q=6</a:t>
            </a:r>
            <a:r>
              <a:rPr lang="zh-CN" altLang="en-US" sz="2800" dirty="0">
                <a:solidFill>
                  <a:srgbClr val="0066CC"/>
                </a:solidFill>
                <a:latin typeface="隶书" panose="02010509060101010101" pitchFamily="49" charset="-122"/>
                <a:ea typeface="隶书" panose="02010509060101010101" pitchFamily="49" charset="-122"/>
              </a:rPr>
              <a:t>人天</a:t>
            </a:r>
            <a:r>
              <a:rPr lang="en-US" altLang="zh-CN" sz="2800" dirty="0">
                <a:solidFill>
                  <a:srgbClr val="0066CC"/>
                </a:solidFill>
                <a:latin typeface="隶书" panose="02010509060101010101" pitchFamily="49" charset="-122"/>
                <a:ea typeface="隶书" panose="02010509060101010101" pitchFamily="49" charset="-122"/>
              </a:rPr>
              <a:t>,R=2</a:t>
            </a:r>
            <a:r>
              <a:rPr lang="zh-CN" altLang="en-US" sz="2800" dirty="0">
                <a:solidFill>
                  <a:srgbClr val="0066CC"/>
                </a:solidFill>
                <a:latin typeface="隶书" panose="02010509060101010101" pitchFamily="49" charset="-122"/>
                <a:ea typeface="隶书" panose="02010509060101010101" pitchFamily="49" charset="-122"/>
              </a:rPr>
              <a:t>人</a:t>
            </a:r>
            <a:r>
              <a:rPr lang="en-US" altLang="zh-CN" sz="2800" dirty="0">
                <a:solidFill>
                  <a:srgbClr val="0066CC"/>
                </a:solidFill>
                <a:latin typeface="隶书" panose="02010509060101010101" pitchFamily="49" charset="-122"/>
                <a:ea typeface="隶书" panose="02010509060101010101" pitchFamily="49" charset="-122"/>
              </a:rPr>
              <a:t>,S=1.5</a:t>
            </a:r>
            <a:endParaRPr lang="en-US" altLang="zh-CN" sz="2800" dirty="0">
              <a:solidFill>
                <a:srgbClr val="0066CC"/>
              </a:solidFill>
              <a:latin typeface="隶书" panose="02010509060101010101" pitchFamily="49" charset="-122"/>
              <a:ea typeface="隶书" panose="02010509060101010101" pitchFamily="49" charset="-122"/>
            </a:endParaRPr>
          </a:p>
          <a:p>
            <a:pPr lvl="1" eaLnBrk="1" hangingPunct="1">
              <a:lnSpc>
                <a:spcPct val="150000"/>
              </a:lnSpc>
            </a:pPr>
            <a:r>
              <a:rPr lang="zh-CN" altLang="en-US" sz="2800" dirty="0">
                <a:solidFill>
                  <a:srgbClr val="0066CC"/>
                </a:solidFill>
                <a:latin typeface="隶书" panose="02010509060101010101" pitchFamily="49" charset="-122"/>
                <a:ea typeface="隶书" panose="02010509060101010101" pitchFamily="49" charset="-122"/>
              </a:rPr>
              <a:t>则：</a:t>
            </a:r>
            <a:r>
              <a:rPr lang="en-US" altLang="zh-CN" sz="2800" dirty="0">
                <a:solidFill>
                  <a:srgbClr val="0066CC"/>
                </a:solidFill>
                <a:latin typeface="隶书" panose="02010509060101010101" pitchFamily="49" charset="-122"/>
                <a:ea typeface="隶书" panose="02010509060101010101" pitchFamily="49" charset="-122"/>
              </a:rPr>
              <a:t>T=2</a:t>
            </a:r>
            <a:r>
              <a:rPr lang="zh-CN" altLang="en-US" sz="2800" dirty="0">
                <a:solidFill>
                  <a:srgbClr val="0066CC"/>
                </a:solidFill>
                <a:latin typeface="隶书" panose="02010509060101010101" pitchFamily="49" charset="-122"/>
                <a:ea typeface="隶书" panose="02010509060101010101" pitchFamily="49" charset="-122"/>
              </a:rPr>
              <a:t>天</a:t>
            </a:r>
            <a:endParaRPr lang="zh-CN" altLang="en-US" sz="2800" dirty="0">
              <a:solidFill>
                <a:srgbClr val="0066CC"/>
              </a:solidFill>
              <a:latin typeface="隶书" panose="02010509060101010101" pitchFamily="49" charset="-122"/>
              <a:ea typeface="隶书" panose="02010509060101010101" pitchFamily="49" charset="-122"/>
            </a:endParaRPr>
          </a:p>
        </p:txBody>
      </p:sp>
      <p:pic>
        <p:nvPicPr>
          <p:cNvPr id="5" name="图片 4"/>
          <p:cNvPicPr>
            <a:picLocks noChangeAspect="1"/>
          </p:cNvPicPr>
          <p:nvPr/>
        </p:nvPicPr>
        <p:blipFill>
          <a:blip r:embed="rId1"/>
          <a:stretch>
            <a:fillRect/>
          </a:stretch>
        </p:blipFill>
        <p:spPr>
          <a:xfrm>
            <a:off x="6031199" y="1693141"/>
            <a:ext cx="2324161" cy="500756"/>
          </a:xfrm>
          <a:prstGeom prst="rect">
            <a:avLst/>
          </a:prstGeom>
        </p:spPr>
      </p:pic>
      <p:pic>
        <p:nvPicPr>
          <p:cNvPr id="7" name="图片 6"/>
          <p:cNvPicPr>
            <a:picLocks noChangeAspect="1"/>
          </p:cNvPicPr>
          <p:nvPr/>
        </p:nvPicPr>
        <p:blipFill>
          <a:blip r:embed="rId2"/>
          <a:stretch>
            <a:fillRect/>
          </a:stretch>
        </p:blipFill>
        <p:spPr>
          <a:xfrm>
            <a:off x="6095999" y="2329284"/>
            <a:ext cx="3288561" cy="2026585"/>
          </a:xfrm>
          <a:prstGeom prst="rect">
            <a:avLst/>
          </a:prstGeom>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a:t>
            </a:r>
            <a:r>
              <a:rPr lang="zh-CN" altLang="en-US" sz="2400" b="1" dirty="0">
                <a:solidFill>
                  <a:srgbClr val="01395C"/>
                </a:solidFill>
                <a:latin typeface="方正粗宋简体"/>
                <a:ea typeface="方正粗宋简体"/>
                <a:cs typeface="方正粗宋简体"/>
              </a:rPr>
              <a:t> 任务历时估计</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4976141" y="757646"/>
            <a:ext cx="2239716"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en-US" altLang="zh-CN" sz="2400" dirty="0"/>
              <a:t>2 </a:t>
            </a:r>
            <a:r>
              <a:rPr lang="zh-CN" altLang="en-US" sz="2400" dirty="0"/>
              <a:t>经验导出模型</a:t>
            </a:r>
            <a:endParaRPr lang="zh-CN" altLang="en-US" sz="2400" dirty="0"/>
          </a:p>
        </p:txBody>
      </p:sp>
      <mc:AlternateContent xmlns:mc="http://schemas.openxmlformats.org/markup-compatibility/2006">
        <mc:Choice xmlns:a14="http://schemas.microsoft.com/office/drawing/2010/main" Requires="a14">
          <p:sp>
            <p:nvSpPr>
              <p:cNvPr id="3" name="文本框 2"/>
              <p:cNvSpPr txBox="1"/>
              <p:nvPr/>
            </p:nvSpPr>
            <p:spPr>
              <a:xfrm>
                <a:off x="791796" y="1557754"/>
                <a:ext cx="10608407" cy="4850687"/>
              </a:xfrm>
              <a:prstGeom prst="rect">
                <a:avLst/>
              </a:prstGeom>
              <a:noFill/>
            </p:spPr>
            <p:txBody>
              <a:bodyPr wrap="square" rtlCol="0">
                <a:spAutoFit/>
              </a:bodyPr>
              <a:lstStyle/>
              <a:p>
                <a:pPr>
                  <a:lnSpc>
                    <a:spcPct val="150000"/>
                  </a:lnSpc>
                </a:pPr>
                <a:r>
                  <a:rPr lang="zh-CN" altLang="en-US" sz="2000" dirty="0">
                    <a:latin typeface="+mn-ea"/>
                    <a:ea typeface="+mn-ea"/>
                  </a:rPr>
                  <a:t>经验导出模型是根据大量的数据统计分析结果得出的经验公式：</a:t>
                </a:r>
                <a:endParaRPr lang="en-US" altLang="zh-CN" sz="2000" dirty="0">
                  <a:latin typeface="+mn-ea"/>
                  <a:ea typeface="+mn-ea"/>
                </a:endParaRPr>
              </a:p>
              <a:p>
                <a:pPr>
                  <a:lnSpc>
                    <a:spcPct val="150000"/>
                  </a:lnSpc>
                </a:pPr>
                <a14:m>
                  <m:oMathPara xmlns:m="http://schemas.openxmlformats.org/officeDocument/2006/math">
                    <m:oMathParaPr>
                      <m:jc m:val="centerGroup"/>
                    </m:oMathParaPr>
                    <m:oMath xmlns:m="http://schemas.openxmlformats.org/officeDocument/2006/math">
                      <m:r>
                        <a:rPr lang="en-US" altLang="zh-CN" sz="3200" b="0" i="1" smtClean="0">
                          <a:solidFill>
                            <a:srgbClr val="C00000"/>
                          </a:solidFill>
                          <a:latin typeface="Cambria Math" panose="02040503050406030204" pitchFamily="18" charset="0"/>
                        </a:rPr>
                        <m:t>𝐷</m:t>
                      </m:r>
                      <m:r>
                        <a:rPr lang="en-US" altLang="zh-CN" sz="3200" b="0" i="1" smtClean="0">
                          <a:solidFill>
                            <a:srgbClr val="C00000"/>
                          </a:solidFill>
                          <a:latin typeface="Cambria Math" panose="02040503050406030204" pitchFamily="18" charset="0"/>
                        </a:rPr>
                        <m:t>=</m:t>
                      </m:r>
                      <m:r>
                        <a:rPr lang="en-US" altLang="zh-CN" sz="3200" b="0" i="1" smtClean="0">
                          <a:solidFill>
                            <a:srgbClr val="C00000"/>
                          </a:solidFill>
                          <a:latin typeface="Cambria Math" panose="02040503050406030204" pitchFamily="18" charset="0"/>
                        </a:rPr>
                        <m:t>𝑎</m:t>
                      </m:r>
                      <m:r>
                        <a:rPr lang="en-US" altLang="zh-CN" sz="3200" b="0" i="1" smtClean="0">
                          <a:solidFill>
                            <a:srgbClr val="C00000"/>
                          </a:solidFill>
                          <a:latin typeface="Cambria Math" panose="02040503050406030204" pitchFamily="18" charset="0"/>
                        </a:rPr>
                        <m:t> ×</m:t>
                      </m:r>
                      <m:sSup>
                        <m:sSupPr>
                          <m:ctrlPr>
                            <a:rPr lang="en-US" altLang="zh-CN" sz="3200" b="0" i="1" smtClean="0">
                              <a:solidFill>
                                <a:srgbClr val="C00000"/>
                              </a:solidFill>
                              <a:latin typeface="Cambria Math" panose="02040503050406030204" pitchFamily="18" charset="0"/>
                              <a:ea typeface="Cambria Math" panose="02040503050406030204" pitchFamily="18" charset="0"/>
                            </a:rPr>
                          </m:ctrlPr>
                        </m:sSupPr>
                        <m:e>
                          <m:r>
                            <a:rPr lang="en-US" altLang="zh-CN" sz="3200" b="0" i="1" smtClean="0">
                              <a:solidFill>
                                <a:srgbClr val="C00000"/>
                              </a:solidFill>
                              <a:latin typeface="Cambria Math" panose="02040503050406030204" pitchFamily="18" charset="0"/>
                              <a:ea typeface="Cambria Math" panose="02040503050406030204" pitchFamily="18" charset="0"/>
                            </a:rPr>
                            <m:t>𝐸</m:t>
                          </m:r>
                        </m:e>
                        <m:sup>
                          <m:r>
                            <a:rPr lang="en-US" altLang="zh-CN" sz="3200" b="0" i="1" smtClean="0">
                              <a:solidFill>
                                <a:srgbClr val="C00000"/>
                              </a:solidFill>
                              <a:latin typeface="Cambria Math" panose="02040503050406030204" pitchFamily="18" charset="0"/>
                              <a:ea typeface="Cambria Math" panose="02040503050406030204" pitchFamily="18" charset="0"/>
                            </a:rPr>
                            <m:t>𝑏</m:t>
                          </m:r>
                        </m:sup>
                      </m:sSup>
                    </m:oMath>
                  </m:oMathPara>
                </a14:m>
                <a:endParaRPr lang="en-US" altLang="zh-CN" sz="2000" dirty="0"/>
              </a:p>
              <a:p>
                <a:pPr>
                  <a:lnSpc>
                    <a:spcPct val="150000"/>
                  </a:lnSpc>
                </a:pPr>
                <a:r>
                  <a:rPr lang="en-US" altLang="zh-CN" sz="2000" dirty="0">
                    <a:latin typeface="+mn-ea"/>
                    <a:ea typeface="+mn-ea"/>
                  </a:rPr>
                  <a:t>D</a:t>
                </a:r>
                <a:r>
                  <a:rPr lang="zh-CN" altLang="en-US" sz="2000" dirty="0">
                    <a:latin typeface="+mn-ea"/>
                    <a:ea typeface="+mn-ea"/>
                  </a:rPr>
                  <a:t>：历时估计值，以月为单位</a:t>
                </a:r>
                <a:endParaRPr lang="en-US" altLang="zh-CN" sz="2000" dirty="0">
                  <a:latin typeface="+mn-ea"/>
                  <a:ea typeface="+mn-ea"/>
                </a:endParaRPr>
              </a:p>
              <a:p>
                <a:pPr>
                  <a:lnSpc>
                    <a:spcPct val="150000"/>
                  </a:lnSpc>
                </a:pPr>
                <a:r>
                  <a:rPr lang="en-US" altLang="zh-CN" sz="2000" dirty="0">
                    <a:latin typeface="+mn-ea"/>
                    <a:ea typeface="+mn-ea"/>
                  </a:rPr>
                  <a:t>E</a:t>
                </a:r>
                <a:r>
                  <a:rPr lang="zh-CN" altLang="en-US" sz="2000" dirty="0">
                    <a:latin typeface="+mn-ea"/>
                    <a:ea typeface="+mn-ea"/>
                  </a:rPr>
                  <a:t>：工作量，以人月为单位</a:t>
                </a:r>
                <a:endParaRPr lang="en-US" altLang="zh-CN" sz="2000" dirty="0">
                  <a:latin typeface="+mn-ea"/>
                  <a:ea typeface="+mn-ea"/>
                </a:endParaRPr>
              </a:p>
              <a:p>
                <a:pPr>
                  <a:lnSpc>
                    <a:spcPct val="150000"/>
                  </a:lnSpc>
                </a:pPr>
                <a:r>
                  <a:rPr lang="en-US" altLang="zh-CN" sz="2000" dirty="0">
                    <a:latin typeface="+mn-ea"/>
                    <a:ea typeface="+mn-ea"/>
                  </a:rPr>
                  <a:t>a</a:t>
                </a:r>
                <a:r>
                  <a:rPr lang="zh-CN" altLang="en-US" sz="2000" dirty="0">
                    <a:latin typeface="+mn-ea"/>
                    <a:ea typeface="+mn-ea"/>
                  </a:rPr>
                  <a:t>和</a:t>
                </a:r>
                <a:r>
                  <a:rPr lang="en-US" altLang="zh-CN" sz="2000" dirty="0">
                    <a:latin typeface="+mn-ea"/>
                    <a:ea typeface="+mn-ea"/>
                  </a:rPr>
                  <a:t>b</a:t>
                </a:r>
                <a:r>
                  <a:rPr lang="zh-CN" altLang="en-US" sz="2000" dirty="0">
                    <a:latin typeface="+mn-ea"/>
                    <a:ea typeface="+mn-ea"/>
                  </a:rPr>
                  <a:t>分别是参数，</a:t>
                </a:r>
                <a:r>
                  <a:rPr lang="en-US" altLang="zh-CN" sz="2000" dirty="0">
                    <a:latin typeface="+mn-ea"/>
                    <a:ea typeface="+mn-ea"/>
                  </a:rPr>
                  <a:t>a</a:t>
                </a:r>
                <a:r>
                  <a:rPr lang="zh-CN" altLang="en-US" sz="2000" dirty="0">
                    <a:latin typeface="+mn-ea"/>
                    <a:ea typeface="+mn-ea"/>
                  </a:rPr>
                  <a:t>取值在</a:t>
                </a:r>
                <a:r>
                  <a:rPr lang="en-US" altLang="zh-CN" sz="2000" dirty="0">
                    <a:latin typeface="+mn-ea"/>
                    <a:ea typeface="+mn-ea"/>
                  </a:rPr>
                  <a:t>2~4</a:t>
                </a:r>
                <a:r>
                  <a:rPr lang="zh-CN" altLang="en-US" sz="2000" dirty="0">
                    <a:latin typeface="+mn-ea"/>
                    <a:ea typeface="+mn-ea"/>
                  </a:rPr>
                  <a:t>，</a:t>
                </a:r>
                <a:r>
                  <a:rPr lang="en-US" altLang="zh-CN" sz="2000" dirty="0">
                    <a:latin typeface="+mn-ea"/>
                    <a:ea typeface="+mn-ea"/>
                  </a:rPr>
                  <a:t>b</a:t>
                </a:r>
                <a:r>
                  <a:rPr lang="zh-CN" altLang="en-US" sz="2000" dirty="0">
                    <a:latin typeface="+mn-ea"/>
                    <a:ea typeface="+mn-ea"/>
                  </a:rPr>
                  <a:t>取值为</a:t>
                </a:r>
                <a:r>
                  <a:rPr lang="en-US" altLang="zh-CN" sz="2000" dirty="0">
                    <a:latin typeface="+mn-ea"/>
                    <a:ea typeface="+mn-ea"/>
                  </a:rPr>
                  <a:t>1/3</a:t>
                </a:r>
                <a:r>
                  <a:rPr lang="zh-CN" altLang="en-US" sz="2000" dirty="0">
                    <a:latin typeface="+mn-ea"/>
                    <a:ea typeface="+mn-ea"/>
                  </a:rPr>
                  <a:t>左右。</a:t>
                </a:r>
                <a:endParaRPr lang="en-US" altLang="zh-CN" sz="2000" dirty="0">
                  <a:latin typeface="+mn-ea"/>
                  <a:ea typeface="+mn-ea"/>
                </a:endParaRPr>
              </a:p>
              <a:p>
                <a:pPr>
                  <a:lnSpc>
                    <a:spcPct val="150000"/>
                  </a:lnSpc>
                </a:pPr>
                <a:endParaRPr lang="en-US" altLang="zh-CN" sz="2000" dirty="0">
                  <a:latin typeface="+mn-ea"/>
                  <a:ea typeface="+mn-ea"/>
                </a:endParaRPr>
              </a:p>
              <a:p>
                <a:pPr>
                  <a:lnSpc>
                    <a:spcPct val="150000"/>
                  </a:lnSpc>
                </a:pPr>
                <a:r>
                  <a:rPr lang="zh-CN" altLang="en-US" sz="2000" dirty="0">
                    <a:latin typeface="+mn-ea"/>
                    <a:ea typeface="+mn-ea"/>
                  </a:rPr>
                  <a:t>在</a:t>
                </a:r>
                <a:r>
                  <a:rPr lang="en-US" altLang="zh-CN" sz="2000" dirty="0">
                    <a:latin typeface="+mn-ea"/>
                    <a:ea typeface="+mn-ea"/>
                  </a:rPr>
                  <a:t>IBM</a:t>
                </a:r>
                <a:r>
                  <a:rPr lang="zh-CN" altLang="en-US" sz="2000" dirty="0">
                    <a:latin typeface="+mn-ea"/>
                    <a:ea typeface="+mn-ea"/>
                  </a:rPr>
                  <a:t>的</a:t>
                </a:r>
                <a:r>
                  <a:rPr lang="en-US" altLang="zh-CN" sz="2000" dirty="0">
                    <a:latin typeface="+mn-ea"/>
                    <a:ea typeface="+mn-ea"/>
                  </a:rPr>
                  <a:t>Walston-Felix</a:t>
                </a:r>
                <a:r>
                  <a:rPr lang="zh-CN" altLang="en-US" sz="2000" dirty="0">
                    <a:latin typeface="+mn-ea"/>
                    <a:ea typeface="+mn-ea"/>
                  </a:rPr>
                  <a:t>模型当中，</a:t>
                </a:r>
                <a14:m>
                  <m:oMath xmlns:m="http://schemas.openxmlformats.org/officeDocument/2006/math">
                    <m:r>
                      <a:rPr lang="en-US" altLang="zh-CN" sz="2000" b="0" i="1" smtClean="0">
                        <a:solidFill>
                          <a:srgbClr val="C00000"/>
                        </a:solidFill>
                        <a:latin typeface="Cambria Math" panose="02040503050406030204" pitchFamily="18" charset="0"/>
                      </a:rPr>
                      <m:t>𝐷</m:t>
                    </m:r>
                    <m:r>
                      <a:rPr lang="en-US" altLang="zh-CN" sz="2000" b="0" i="1" smtClean="0">
                        <a:solidFill>
                          <a:srgbClr val="C00000"/>
                        </a:solidFill>
                        <a:latin typeface="Cambria Math" panose="02040503050406030204" pitchFamily="18" charset="0"/>
                      </a:rPr>
                      <m:t>=</m:t>
                    </m:r>
                    <m:r>
                      <a:rPr lang="en-US" altLang="zh-CN" sz="2000" b="0" i="1" smtClean="0">
                        <a:solidFill>
                          <a:srgbClr val="C00000"/>
                        </a:solidFill>
                        <a:latin typeface="Cambria Math" panose="02040503050406030204" pitchFamily="18" charset="0"/>
                      </a:rPr>
                      <m:t>2</m:t>
                    </m:r>
                    <m:r>
                      <a:rPr lang="en-US" altLang="zh-CN" sz="2000" b="0" i="1" smtClean="0">
                        <a:solidFill>
                          <a:srgbClr val="C00000"/>
                        </a:solidFill>
                        <a:latin typeface="Cambria Math" panose="02040503050406030204" pitchFamily="18" charset="0"/>
                      </a:rPr>
                      <m:t>.</m:t>
                    </m:r>
                    <m:r>
                      <a:rPr lang="en-US" altLang="zh-CN" sz="2000" b="0" i="1" smtClean="0">
                        <a:solidFill>
                          <a:srgbClr val="C00000"/>
                        </a:solidFill>
                        <a:latin typeface="Cambria Math" panose="02040503050406030204" pitchFamily="18" charset="0"/>
                      </a:rPr>
                      <m:t>4</m:t>
                    </m:r>
                    <m:r>
                      <a:rPr lang="en-US" altLang="zh-CN" sz="2000" b="0" i="1" smtClean="0">
                        <a:solidFill>
                          <a:srgbClr val="C00000"/>
                        </a:solidFill>
                        <a:latin typeface="Cambria Math" panose="02040503050406030204" pitchFamily="18" charset="0"/>
                      </a:rPr>
                      <m:t> ×</m:t>
                    </m:r>
                    <m:sSup>
                      <m:sSupPr>
                        <m:ctrlPr>
                          <a:rPr lang="en-US" altLang="zh-CN" sz="2000" b="0" i="1" smtClean="0">
                            <a:solidFill>
                              <a:srgbClr val="C00000"/>
                            </a:solidFill>
                            <a:latin typeface="Cambria Math" panose="02040503050406030204" pitchFamily="18" charset="0"/>
                            <a:ea typeface="Cambria Math" panose="02040503050406030204" pitchFamily="18" charset="0"/>
                          </a:rPr>
                        </m:ctrlPr>
                      </m:sSupPr>
                      <m:e>
                        <m:r>
                          <a:rPr lang="en-US" altLang="zh-CN" sz="2000" b="0" i="1" smtClean="0">
                            <a:solidFill>
                              <a:srgbClr val="C00000"/>
                            </a:solidFill>
                            <a:latin typeface="Cambria Math" panose="02040503050406030204" pitchFamily="18" charset="0"/>
                            <a:ea typeface="Cambria Math" panose="02040503050406030204" pitchFamily="18" charset="0"/>
                          </a:rPr>
                          <m:t>𝐸</m:t>
                        </m:r>
                      </m:e>
                      <m:sup>
                        <m:r>
                          <a:rPr lang="en-US" altLang="zh-CN" sz="2000" b="0" i="1" smtClean="0">
                            <a:solidFill>
                              <a:srgbClr val="C00000"/>
                            </a:solidFill>
                            <a:latin typeface="Cambria Math" panose="02040503050406030204" pitchFamily="18" charset="0"/>
                            <a:ea typeface="Cambria Math" panose="02040503050406030204" pitchFamily="18" charset="0"/>
                          </a:rPr>
                          <m:t>0</m:t>
                        </m:r>
                        <m:r>
                          <a:rPr lang="en-US" altLang="zh-CN" sz="2000" b="0" i="1" smtClean="0">
                            <a:solidFill>
                              <a:srgbClr val="C00000"/>
                            </a:solidFill>
                            <a:latin typeface="Cambria Math" panose="02040503050406030204" pitchFamily="18" charset="0"/>
                            <a:ea typeface="Cambria Math" panose="02040503050406030204" pitchFamily="18" charset="0"/>
                          </a:rPr>
                          <m:t>.</m:t>
                        </m:r>
                        <m:r>
                          <a:rPr lang="en-US" altLang="zh-CN" sz="2000" b="0" i="1" smtClean="0">
                            <a:solidFill>
                              <a:srgbClr val="C00000"/>
                            </a:solidFill>
                            <a:latin typeface="Cambria Math" panose="02040503050406030204" pitchFamily="18" charset="0"/>
                            <a:ea typeface="Cambria Math" panose="02040503050406030204" pitchFamily="18" charset="0"/>
                          </a:rPr>
                          <m:t>35</m:t>
                        </m:r>
                      </m:sup>
                    </m:sSup>
                  </m:oMath>
                </a14:m>
                <a:endParaRPr lang="en-US" altLang="zh-CN" sz="1400" dirty="0"/>
              </a:p>
              <a:p>
                <a:pPr>
                  <a:lnSpc>
                    <a:spcPct val="150000"/>
                  </a:lnSpc>
                </a:pPr>
                <a:r>
                  <a:rPr lang="zh-CN" altLang="en-US" sz="2000" dirty="0">
                    <a:latin typeface="+mn-ea"/>
                    <a:ea typeface="+mn-ea"/>
                  </a:rPr>
                  <a:t>在基本</a:t>
                </a:r>
                <a:r>
                  <a:rPr lang="en-US" altLang="zh-CN" sz="2000" dirty="0">
                    <a:latin typeface="+mn-ea"/>
                    <a:ea typeface="+mn-ea"/>
                  </a:rPr>
                  <a:t>COCOMO</a:t>
                </a:r>
                <a:r>
                  <a:rPr lang="zh-CN" altLang="en-US" sz="2000" dirty="0">
                    <a:latin typeface="+mn-ea"/>
                    <a:ea typeface="+mn-ea"/>
                  </a:rPr>
                  <a:t>模型当中，</a:t>
                </a:r>
                <a:r>
                  <a:rPr lang="en-US" altLang="zh-CN" sz="2000" b="0" dirty="0">
                    <a:solidFill>
                      <a:srgbClr val="C00000"/>
                    </a:solidFill>
                  </a:rPr>
                  <a:t> </a:t>
                </a:r>
                <a14:m>
                  <m:oMath xmlns:m="http://schemas.openxmlformats.org/officeDocument/2006/math">
                    <m:r>
                      <a:rPr lang="en-US" altLang="zh-CN" sz="2000" b="0" i="1" smtClean="0">
                        <a:solidFill>
                          <a:srgbClr val="C00000"/>
                        </a:solidFill>
                        <a:latin typeface="Cambria Math" panose="02040503050406030204" pitchFamily="18" charset="0"/>
                      </a:rPr>
                      <m:t>𝐷</m:t>
                    </m:r>
                    <m:r>
                      <a:rPr lang="en-US" altLang="zh-CN" sz="2000" b="0" i="1" smtClean="0">
                        <a:solidFill>
                          <a:srgbClr val="C00000"/>
                        </a:solidFill>
                        <a:latin typeface="Cambria Math" panose="02040503050406030204" pitchFamily="18" charset="0"/>
                      </a:rPr>
                      <m:t>=</m:t>
                    </m:r>
                    <m:r>
                      <a:rPr lang="en-US" altLang="zh-CN" sz="2000" b="0" i="1" smtClean="0">
                        <a:solidFill>
                          <a:srgbClr val="C00000"/>
                        </a:solidFill>
                        <a:latin typeface="Cambria Math" panose="02040503050406030204" pitchFamily="18" charset="0"/>
                      </a:rPr>
                      <m:t>2</m:t>
                    </m:r>
                    <m:r>
                      <a:rPr lang="en-US" altLang="zh-CN" sz="2000" b="0" i="1" smtClean="0">
                        <a:solidFill>
                          <a:srgbClr val="C00000"/>
                        </a:solidFill>
                        <a:latin typeface="Cambria Math" panose="02040503050406030204" pitchFamily="18" charset="0"/>
                      </a:rPr>
                      <m:t>.</m:t>
                    </m:r>
                    <m:r>
                      <a:rPr lang="en-US" altLang="zh-CN" sz="2000" b="0" i="1" smtClean="0">
                        <a:solidFill>
                          <a:srgbClr val="C00000"/>
                        </a:solidFill>
                        <a:latin typeface="Cambria Math" panose="02040503050406030204" pitchFamily="18" charset="0"/>
                      </a:rPr>
                      <m:t>5</m:t>
                    </m:r>
                    <m:r>
                      <a:rPr lang="en-US" altLang="zh-CN" sz="2000" b="0" i="1" smtClean="0">
                        <a:solidFill>
                          <a:srgbClr val="C00000"/>
                        </a:solidFill>
                        <a:latin typeface="Cambria Math" panose="02040503050406030204" pitchFamily="18" charset="0"/>
                      </a:rPr>
                      <m:t> ×</m:t>
                    </m:r>
                    <m:sSup>
                      <m:sSupPr>
                        <m:ctrlPr>
                          <a:rPr lang="en-US" altLang="zh-CN" sz="2000" b="0" i="1" smtClean="0">
                            <a:solidFill>
                              <a:srgbClr val="C00000"/>
                            </a:solidFill>
                            <a:latin typeface="Cambria Math" panose="02040503050406030204" pitchFamily="18" charset="0"/>
                            <a:ea typeface="Cambria Math" panose="02040503050406030204" pitchFamily="18" charset="0"/>
                          </a:rPr>
                        </m:ctrlPr>
                      </m:sSupPr>
                      <m:e>
                        <m:r>
                          <a:rPr lang="en-US" altLang="zh-CN" sz="2000" b="0" i="1" smtClean="0">
                            <a:solidFill>
                              <a:srgbClr val="C00000"/>
                            </a:solidFill>
                            <a:latin typeface="Cambria Math" panose="02040503050406030204" pitchFamily="18" charset="0"/>
                            <a:ea typeface="Cambria Math" panose="02040503050406030204" pitchFamily="18" charset="0"/>
                          </a:rPr>
                          <m:t>𝐸</m:t>
                        </m:r>
                      </m:e>
                      <m:sup>
                        <m:r>
                          <a:rPr lang="en-US" altLang="zh-CN" sz="2000" b="0" i="1" smtClean="0">
                            <a:solidFill>
                              <a:srgbClr val="C00000"/>
                            </a:solidFill>
                            <a:latin typeface="Cambria Math" panose="02040503050406030204" pitchFamily="18" charset="0"/>
                            <a:ea typeface="Cambria Math" panose="02040503050406030204" pitchFamily="18" charset="0"/>
                          </a:rPr>
                          <m:t>𝑏</m:t>
                        </m:r>
                      </m:sup>
                    </m:sSup>
                  </m:oMath>
                </a14:m>
                <a:r>
                  <a:rPr lang="en-US" altLang="zh-CN" sz="2000" dirty="0">
                    <a:latin typeface="+mn-ea"/>
                    <a:ea typeface="+mn-ea"/>
                  </a:rPr>
                  <a:t>, b</a:t>
                </a:r>
                <a:r>
                  <a:rPr lang="zh-CN" altLang="en-US" sz="2000" dirty="0">
                    <a:latin typeface="+mn-ea"/>
                    <a:ea typeface="+mn-ea"/>
                  </a:rPr>
                  <a:t>取值 表如下：</a:t>
                </a:r>
                <a:endParaRPr lang="en-US" altLang="zh-CN" sz="2000" dirty="0">
                  <a:latin typeface="+mn-ea"/>
                  <a:ea typeface="+mn-ea"/>
                </a:endParaRPr>
              </a:p>
              <a:p>
                <a:pPr>
                  <a:lnSpc>
                    <a:spcPct val="150000"/>
                  </a:lnSpc>
                </a:pPr>
                <a:endParaRPr lang="en-US" altLang="zh-CN" sz="2000" dirty="0">
                  <a:latin typeface="+mn-ea"/>
                  <a:ea typeface="+mn-ea"/>
                </a:endParaRPr>
              </a:p>
              <a:p>
                <a:endParaRPr lang="zh-CN" altLang="en-US" sz="2000" dirty="0">
                  <a:latin typeface="+mn-ea"/>
                  <a:ea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791796" y="1557754"/>
                <a:ext cx="10608407" cy="4850687"/>
              </a:xfrm>
              <a:prstGeom prst="rect">
                <a:avLst/>
              </a:prstGeom>
              <a:blipFill rotWithShape="1">
                <a:blip r:embed="rId1"/>
                <a:stretch>
                  <a:fillRect l="-6" t="-2"/>
                </a:stretch>
              </a:blipFill>
            </p:spPr>
            <p:txBody>
              <a:bodyPr/>
              <a:lstStyle/>
              <a:p>
                <a:r>
                  <a:rPr lang="zh-CN" altLang="en-US">
                    <a:noFill/>
                  </a:rPr>
                  <a:t> </a:t>
                </a:r>
              </a:p>
            </p:txBody>
          </p:sp>
        </mc:Fallback>
      </mc:AlternateContent>
      <p:graphicFrame>
        <p:nvGraphicFramePr>
          <p:cNvPr id="4" name="Group 22"/>
          <p:cNvGraphicFramePr>
            <a:graphicFrameLocks noGrp="1"/>
          </p:cNvGraphicFramePr>
          <p:nvPr/>
        </p:nvGraphicFramePr>
        <p:xfrm>
          <a:off x="7622771" y="5264035"/>
          <a:ext cx="4139737" cy="1694815"/>
        </p:xfrm>
        <a:graphic>
          <a:graphicData uri="http://schemas.openxmlformats.org/drawingml/2006/table">
            <a:tbl>
              <a:tblPr>
                <a:tableStyleId>{08FB837D-C827-4EFA-A057-4D05807E0F7C}</a:tableStyleId>
              </a:tblPr>
              <a:tblGrid>
                <a:gridCol w="1788775"/>
                <a:gridCol w="2350962"/>
              </a:tblGrid>
              <a:tr h="342876">
                <a:tc>
                  <a:txBody>
                    <a:bodyPr/>
                    <a:lstStyle/>
                    <a:p>
                      <a:pPr marL="0" marR="0" lvl="0" indent="0" algn="ctr" defTabSz="914400" rtl="0" eaLnBrk="1" fontAlgn="base" latinLnBrk="0" hangingPunct="1">
                        <a:lnSpc>
                          <a:spcPct val="100000"/>
                        </a:lnSpc>
                        <a:spcBef>
                          <a:spcPct val="20000"/>
                        </a:spcBef>
                        <a:spcAft>
                          <a:spcPct val="0"/>
                        </a:spcAft>
                        <a:buClr>
                          <a:srgbClr val="FF0000"/>
                        </a:buClr>
                        <a:buSzPct val="55000"/>
                        <a:buFont typeface="Monotype Sorts" charset="0"/>
                        <a:buNone/>
                      </a:pPr>
                      <a:r>
                        <a:rPr kumimoji="1" lang="zh-CN" altLang="en-US" sz="2400" b="1" u="none" strike="noStrike" cap="none" normalizeH="0" baseline="0" dirty="0">
                          <a:ln>
                            <a:noFill/>
                          </a:ln>
                          <a:solidFill>
                            <a:schemeClr val="tx1"/>
                          </a:solidFill>
                          <a:effectLst/>
                        </a:rPr>
                        <a:t>方式</a:t>
                      </a:r>
                      <a:endParaRPr kumimoji="1" lang="zh-CN" altLang="en-US" sz="2400" b="1" i="0" u="none" strike="noStrike" cap="none" normalizeH="0" baseline="0" dirty="0">
                        <a:ln>
                          <a:noFill/>
                        </a:ln>
                        <a:solidFill>
                          <a:schemeClr val="tx1"/>
                        </a:solidFill>
                        <a:effectLst/>
                        <a:latin typeface="Arial Narrow" panose="020B0606020202030204" pitchFamily="34" charset="0"/>
                        <a:ea typeface="宋体" panose="02010600030101010101" pitchFamily="2" charset="-122"/>
                      </a:endParaRPr>
                    </a:p>
                  </a:txBody>
                  <a:tcPr marT="34278" marB="34278"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u="none" strike="noStrike" cap="none" normalizeH="0" baseline="0" dirty="0">
                          <a:ln>
                            <a:noFill/>
                          </a:ln>
                          <a:solidFill>
                            <a:schemeClr val="tx1"/>
                          </a:solidFill>
                          <a:effectLst/>
                          <a:latin typeface="+mn-ea"/>
                          <a:ea typeface="+mn-ea"/>
                        </a:rPr>
                        <a:t>b</a:t>
                      </a:r>
                      <a:endParaRPr kumimoji="1" lang="en-US" altLang="zh-CN" sz="2400" b="1" i="0" u="none" strike="noStrike" cap="none" normalizeH="0" baseline="0" dirty="0">
                        <a:ln>
                          <a:noFill/>
                        </a:ln>
                        <a:solidFill>
                          <a:schemeClr val="tx1"/>
                        </a:solidFill>
                        <a:effectLst/>
                        <a:latin typeface="+mn-ea"/>
                        <a:ea typeface="+mn-ea"/>
                      </a:endParaRPr>
                    </a:p>
                  </a:txBody>
                  <a:tcPr marT="34278" marB="34278" horzOverflow="overflow"/>
                </a:tc>
              </a:tr>
              <a:tr h="460596">
                <a:tc>
                  <a:txBody>
                    <a:bodyPr/>
                    <a:lstStyle/>
                    <a:p>
                      <a:pPr marL="0" marR="0" lvl="0" indent="0" algn="l" defTabSz="914400" rtl="0" eaLnBrk="1" fontAlgn="base" latinLnBrk="0" hangingPunct="1">
                        <a:lnSpc>
                          <a:spcPct val="100000"/>
                        </a:lnSpc>
                        <a:spcBef>
                          <a:spcPct val="20000"/>
                        </a:spcBef>
                        <a:spcAft>
                          <a:spcPct val="0"/>
                        </a:spcAft>
                        <a:buClr>
                          <a:srgbClr val="FF0000"/>
                        </a:buClr>
                        <a:buSzPct val="55000"/>
                        <a:buFont typeface="Monotype Sorts" charset="0"/>
                        <a:buNone/>
                      </a:pPr>
                      <a:r>
                        <a:rPr kumimoji="1" lang="zh-CN" altLang="en-US" sz="1800" b="0" u="none" strike="noStrike" cap="none" normalizeH="0" baseline="0" dirty="0">
                          <a:ln>
                            <a:noFill/>
                          </a:ln>
                          <a:solidFill>
                            <a:schemeClr val="tx1"/>
                          </a:solidFill>
                          <a:effectLst/>
                        </a:rPr>
                        <a:t>有机</a:t>
                      </a:r>
                      <a:endParaRPr kumimoji="1" lang="zh-CN" altLang="en-US" sz="1800" b="0" i="0" u="none" strike="noStrike" cap="none" normalizeH="0" baseline="0" dirty="0">
                        <a:ln>
                          <a:noFill/>
                        </a:ln>
                        <a:solidFill>
                          <a:schemeClr val="tx1"/>
                        </a:solidFill>
                        <a:effectLst/>
                        <a:latin typeface="Arial Narrow" panose="020B0606020202030204" pitchFamily="34" charset="0"/>
                        <a:ea typeface="宋体" panose="02010600030101010101" pitchFamily="2" charset="-122"/>
                      </a:endParaRPr>
                    </a:p>
                  </a:txBody>
                  <a:tcPr marT="34278" marB="34278" horzOverflow="overflow"/>
                </a:tc>
                <a:tc>
                  <a:txBody>
                    <a:bodyPr/>
                    <a:lstStyle/>
                    <a:p>
                      <a:pPr marL="0" marR="0" lvl="0" indent="0" algn="ctr" defTabSz="914400" rtl="0" eaLnBrk="1" fontAlgn="base" latinLnBrk="0" hangingPunct="1">
                        <a:lnSpc>
                          <a:spcPct val="100000"/>
                        </a:lnSpc>
                        <a:spcBef>
                          <a:spcPct val="20000"/>
                        </a:spcBef>
                        <a:spcAft>
                          <a:spcPct val="0"/>
                        </a:spcAft>
                        <a:buClr>
                          <a:srgbClr val="FF0000"/>
                        </a:buClr>
                        <a:buSzPct val="55000"/>
                        <a:buFont typeface="Monotype Sorts" charset="0"/>
                        <a:buNone/>
                      </a:pPr>
                      <a:r>
                        <a:rPr kumimoji="1" lang="en-US" altLang="zh-CN" sz="1800" b="0" u="none" strike="noStrike" cap="none" normalizeH="0" baseline="0" dirty="0">
                          <a:ln>
                            <a:noFill/>
                          </a:ln>
                          <a:solidFill>
                            <a:schemeClr val="tx1"/>
                          </a:solidFill>
                          <a:effectLst/>
                          <a:latin typeface="+mn-ea"/>
                          <a:ea typeface="+mn-ea"/>
                        </a:rPr>
                        <a:t>0.38</a:t>
                      </a:r>
                      <a:endParaRPr kumimoji="1" lang="en-US" altLang="zh-CN" sz="1800" b="0" i="0" u="none" strike="noStrike" cap="none" normalizeH="0" baseline="0" dirty="0">
                        <a:ln>
                          <a:noFill/>
                        </a:ln>
                        <a:solidFill>
                          <a:schemeClr val="tx1"/>
                        </a:solidFill>
                        <a:effectLst/>
                        <a:latin typeface="+mn-ea"/>
                        <a:ea typeface="+mn-ea"/>
                      </a:endParaRPr>
                    </a:p>
                  </a:txBody>
                  <a:tcPr marT="34278" marB="34278" horzOverflow="overflow"/>
                </a:tc>
              </a:tr>
              <a:tr h="457027">
                <a:tc>
                  <a:txBody>
                    <a:bodyPr/>
                    <a:lstStyle/>
                    <a:p>
                      <a:pPr marL="0" marR="0" lvl="0" indent="0" algn="l" defTabSz="914400" rtl="0" eaLnBrk="1" fontAlgn="base" latinLnBrk="0" hangingPunct="1">
                        <a:lnSpc>
                          <a:spcPct val="100000"/>
                        </a:lnSpc>
                        <a:spcBef>
                          <a:spcPct val="20000"/>
                        </a:spcBef>
                        <a:spcAft>
                          <a:spcPct val="0"/>
                        </a:spcAft>
                        <a:buClr>
                          <a:srgbClr val="FF0000"/>
                        </a:buClr>
                        <a:buSzPct val="55000"/>
                        <a:buFont typeface="Monotype Sorts" charset="0"/>
                        <a:buNone/>
                      </a:pPr>
                      <a:r>
                        <a:rPr kumimoji="1" lang="zh-CN" altLang="en-US" sz="1800" b="0" u="none" strike="noStrike" cap="none" normalizeH="0" baseline="0">
                          <a:ln>
                            <a:noFill/>
                          </a:ln>
                          <a:solidFill>
                            <a:schemeClr val="tx1"/>
                          </a:solidFill>
                          <a:effectLst/>
                        </a:rPr>
                        <a:t>半有机</a:t>
                      </a:r>
                      <a:endParaRPr kumimoji="1" lang="zh-CN" altLang="en-US" sz="1800" b="0" i="0" u="none" strike="noStrike" cap="none" normalizeH="0" baseline="0">
                        <a:ln>
                          <a:noFill/>
                        </a:ln>
                        <a:solidFill>
                          <a:schemeClr val="tx1"/>
                        </a:solidFill>
                        <a:effectLst/>
                        <a:latin typeface="Arial Narrow" panose="020B0606020202030204" pitchFamily="34" charset="0"/>
                        <a:ea typeface="宋体" panose="02010600030101010101" pitchFamily="2" charset="-122"/>
                      </a:endParaRPr>
                    </a:p>
                  </a:txBody>
                  <a:tcPr marT="34278" marB="34278" horzOverflow="overflow"/>
                </a:tc>
                <a:tc>
                  <a:txBody>
                    <a:bodyPr/>
                    <a:lstStyle/>
                    <a:p>
                      <a:pPr marL="0" marR="0" lvl="0" indent="0" algn="ctr" defTabSz="914400" rtl="0" eaLnBrk="1" fontAlgn="base" latinLnBrk="0" hangingPunct="1">
                        <a:lnSpc>
                          <a:spcPct val="100000"/>
                        </a:lnSpc>
                        <a:spcBef>
                          <a:spcPct val="20000"/>
                        </a:spcBef>
                        <a:spcAft>
                          <a:spcPct val="0"/>
                        </a:spcAft>
                        <a:buClr>
                          <a:srgbClr val="FF0000"/>
                        </a:buClr>
                        <a:buSzPct val="55000"/>
                        <a:buFont typeface="Monotype Sorts" charset="0"/>
                        <a:buNone/>
                      </a:pPr>
                      <a:r>
                        <a:rPr kumimoji="1" lang="en-US" altLang="zh-CN" sz="1800" b="0" u="none" strike="noStrike" cap="none" normalizeH="0" baseline="0" dirty="0">
                          <a:ln>
                            <a:noFill/>
                          </a:ln>
                          <a:solidFill>
                            <a:schemeClr val="tx1"/>
                          </a:solidFill>
                          <a:effectLst/>
                          <a:latin typeface="+mn-ea"/>
                          <a:ea typeface="+mn-ea"/>
                        </a:rPr>
                        <a:t>0.35</a:t>
                      </a:r>
                      <a:endParaRPr kumimoji="1" lang="en-US" altLang="zh-CN" sz="1800" b="0" i="0" u="none" strike="noStrike" cap="none" normalizeH="0" baseline="0" dirty="0">
                        <a:ln>
                          <a:noFill/>
                        </a:ln>
                        <a:solidFill>
                          <a:schemeClr val="tx1"/>
                        </a:solidFill>
                        <a:effectLst/>
                        <a:latin typeface="+mn-ea"/>
                        <a:ea typeface="+mn-ea"/>
                      </a:endParaRPr>
                    </a:p>
                  </a:txBody>
                  <a:tcPr marT="34278" marB="34278" horzOverflow="overflow"/>
                </a:tc>
              </a:tr>
              <a:tr h="342876">
                <a:tc>
                  <a:txBody>
                    <a:bodyPr/>
                    <a:lstStyle/>
                    <a:p>
                      <a:pPr marL="0" marR="0" lvl="0" indent="0" algn="l" defTabSz="914400" rtl="0" eaLnBrk="1" fontAlgn="base" latinLnBrk="0" hangingPunct="1">
                        <a:lnSpc>
                          <a:spcPct val="100000"/>
                        </a:lnSpc>
                        <a:spcBef>
                          <a:spcPct val="20000"/>
                        </a:spcBef>
                        <a:spcAft>
                          <a:spcPct val="0"/>
                        </a:spcAft>
                        <a:buClr>
                          <a:srgbClr val="FF0000"/>
                        </a:buClr>
                        <a:buSzPct val="55000"/>
                        <a:buFont typeface="Monotype Sorts" charset="0"/>
                        <a:buNone/>
                      </a:pPr>
                      <a:r>
                        <a:rPr kumimoji="1" lang="zh-CN" altLang="en-US" sz="1800" b="0" u="none" strike="noStrike" cap="none" normalizeH="0" baseline="0" dirty="0">
                          <a:ln>
                            <a:noFill/>
                          </a:ln>
                          <a:solidFill>
                            <a:schemeClr val="tx1"/>
                          </a:solidFill>
                          <a:effectLst/>
                        </a:rPr>
                        <a:t>嵌入式</a:t>
                      </a:r>
                      <a:endParaRPr kumimoji="1" lang="zh-CN" altLang="en-US" sz="1800" b="0" i="0" u="none" strike="noStrike" cap="none" normalizeH="0" baseline="0" dirty="0">
                        <a:ln>
                          <a:noFill/>
                        </a:ln>
                        <a:solidFill>
                          <a:schemeClr val="tx1"/>
                        </a:solidFill>
                        <a:effectLst/>
                        <a:latin typeface="Arial Narrow" panose="020B0606020202030204" pitchFamily="34" charset="0"/>
                        <a:ea typeface="宋体" panose="02010600030101010101" pitchFamily="2" charset="-122"/>
                      </a:endParaRPr>
                    </a:p>
                  </a:txBody>
                  <a:tcPr marT="34278" marB="34278" horzOverflow="overflow"/>
                </a:tc>
                <a:tc>
                  <a:txBody>
                    <a:bodyPr/>
                    <a:lstStyle/>
                    <a:p>
                      <a:pPr marL="0" marR="0" lvl="0" indent="0" algn="ctr" defTabSz="914400" rtl="0" eaLnBrk="1" fontAlgn="base" latinLnBrk="0" hangingPunct="1">
                        <a:lnSpc>
                          <a:spcPct val="100000"/>
                        </a:lnSpc>
                        <a:spcBef>
                          <a:spcPct val="20000"/>
                        </a:spcBef>
                        <a:spcAft>
                          <a:spcPct val="0"/>
                        </a:spcAft>
                        <a:buClr>
                          <a:srgbClr val="FF0000"/>
                        </a:buClr>
                        <a:buSzPct val="55000"/>
                        <a:buFont typeface="Monotype Sorts" charset="0"/>
                        <a:buNone/>
                      </a:pPr>
                      <a:r>
                        <a:rPr kumimoji="1" lang="en-US" altLang="zh-CN" sz="1800" b="0" u="none" strike="noStrike" cap="none" normalizeH="0" baseline="0" dirty="0">
                          <a:ln>
                            <a:noFill/>
                          </a:ln>
                          <a:solidFill>
                            <a:schemeClr val="tx1"/>
                          </a:solidFill>
                          <a:effectLst/>
                          <a:latin typeface="+mn-ea"/>
                          <a:ea typeface="+mn-ea"/>
                        </a:rPr>
                        <a:t>0.32</a:t>
                      </a:r>
                      <a:endParaRPr kumimoji="1" lang="en-US" altLang="zh-CN" sz="1800" b="0" i="0" u="none" strike="noStrike" cap="none" normalizeH="0" baseline="0" dirty="0">
                        <a:ln>
                          <a:noFill/>
                        </a:ln>
                        <a:solidFill>
                          <a:schemeClr val="tx1"/>
                        </a:solidFill>
                        <a:effectLst/>
                        <a:latin typeface="+mn-ea"/>
                        <a:ea typeface="+mn-ea"/>
                      </a:endParaRPr>
                    </a:p>
                  </a:txBody>
                  <a:tcPr marT="34278" marB="34278" horzOverflow="overflow"/>
                </a:tc>
              </a:tr>
            </a:tbl>
          </a:graphicData>
        </a:graphic>
      </p:graphicFrame>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a:t>
            </a:r>
            <a:r>
              <a:rPr lang="zh-CN" altLang="en-US" sz="2400" b="1" dirty="0">
                <a:solidFill>
                  <a:srgbClr val="01395C"/>
                </a:solidFill>
                <a:latin typeface="方正粗宋简体"/>
                <a:ea typeface="方正粗宋简体"/>
                <a:cs typeface="方正粗宋简体"/>
              </a:rPr>
              <a:t> 任务历时估计</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4676379" y="754986"/>
            <a:ext cx="2839239"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pPr algn="ctr"/>
            <a:r>
              <a:rPr lang="en-US" altLang="zh-CN" sz="2400" dirty="0"/>
              <a:t>3 PERT</a:t>
            </a:r>
            <a:r>
              <a:rPr lang="zh-CN" altLang="en-US" sz="2400" dirty="0"/>
              <a:t>工程评估技术</a:t>
            </a:r>
            <a:endParaRPr lang="zh-CN" altLang="en-US" sz="2400" dirty="0"/>
          </a:p>
        </p:txBody>
      </p:sp>
      <p:sp>
        <p:nvSpPr>
          <p:cNvPr id="3" name="文本框 2"/>
          <p:cNvSpPr txBox="1"/>
          <p:nvPr/>
        </p:nvSpPr>
        <p:spPr>
          <a:xfrm>
            <a:off x="791794" y="1453327"/>
            <a:ext cx="10608407" cy="4459041"/>
          </a:xfrm>
          <a:prstGeom prst="rect">
            <a:avLst/>
          </a:prstGeom>
          <a:noFill/>
        </p:spPr>
        <p:txBody>
          <a:bodyPr wrap="square" rtlCol="0">
            <a:spAutoFit/>
          </a:bodyPr>
          <a:lstStyle/>
          <a:p>
            <a:pPr indent="539750">
              <a:lnSpc>
                <a:spcPct val="150000"/>
              </a:lnSpc>
            </a:pPr>
            <a:r>
              <a:rPr lang="en-US" altLang="zh-CN" sz="2400" dirty="0">
                <a:latin typeface="+mn-ea"/>
                <a:ea typeface="+mn-ea"/>
              </a:rPr>
              <a:t>PERT(Program Evaluation and Review Technique)</a:t>
            </a:r>
            <a:r>
              <a:rPr lang="zh-CN" altLang="en-US" sz="2400" dirty="0">
                <a:latin typeface="+mn-ea"/>
                <a:ea typeface="+mn-ea"/>
              </a:rPr>
              <a:t>即</a:t>
            </a:r>
            <a:r>
              <a:rPr lang="zh-CN" altLang="en-US" sz="2400" dirty="0">
                <a:solidFill>
                  <a:srgbClr val="C00000"/>
                </a:solidFill>
                <a:latin typeface="+mn-ea"/>
                <a:ea typeface="+mn-ea"/>
              </a:rPr>
              <a:t>计划评审技术</a:t>
            </a:r>
            <a:r>
              <a:rPr lang="zh-CN" altLang="en-US" sz="2400" dirty="0">
                <a:latin typeface="+mn-ea"/>
                <a:ea typeface="+mn-ea"/>
              </a:rPr>
              <a:t>，最早是由美国海军在计划和控制北极星导弹的研制时发展起来的。</a:t>
            </a:r>
            <a:r>
              <a:rPr lang="en-US" altLang="zh-CN" sz="2400" dirty="0">
                <a:latin typeface="+mn-ea"/>
                <a:ea typeface="+mn-ea"/>
              </a:rPr>
              <a:t>PERT</a:t>
            </a:r>
            <a:r>
              <a:rPr lang="zh-CN" altLang="en-US" sz="2400" dirty="0">
                <a:latin typeface="+mn-ea"/>
                <a:ea typeface="+mn-ea"/>
              </a:rPr>
              <a:t>技术使原先估计的、研制北极星潜艇的时间缩短了两年。</a:t>
            </a:r>
            <a:endParaRPr lang="zh-CN" altLang="en-US" sz="2400" dirty="0">
              <a:latin typeface="+mn-ea"/>
              <a:ea typeface="+mn-ea"/>
            </a:endParaRPr>
          </a:p>
          <a:p>
            <a:pPr indent="539750">
              <a:lnSpc>
                <a:spcPct val="150000"/>
              </a:lnSpc>
            </a:pPr>
            <a:r>
              <a:rPr lang="zh-CN" altLang="en-US" sz="2400" dirty="0">
                <a:solidFill>
                  <a:srgbClr val="C00000"/>
                </a:solidFill>
                <a:latin typeface="+mn-ea"/>
                <a:ea typeface="+mn-ea"/>
              </a:rPr>
              <a:t>简单地说</a:t>
            </a:r>
            <a:r>
              <a:rPr lang="zh-CN" altLang="en-US" sz="2400" dirty="0">
                <a:latin typeface="+mn-ea"/>
                <a:ea typeface="+mn-ea"/>
              </a:rPr>
              <a:t>，</a:t>
            </a:r>
            <a:r>
              <a:rPr lang="en-US" altLang="zh-CN" sz="2400" dirty="0">
                <a:latin typeface="+mn-ea"/>
                <a:ea typeface="+mn-ea"/>
              </a:rPr>
              <a:t>PERT</a:t>
            </a:r>
            <a:r>
              <a:rPr lang="zh-CN" altLang="en-US" sz="2400" dirty="0">
                <a:latin typeface="+mn-ea"/>
                <a:ea typeface="+mn-ea"/>
              </a:rPr>
              <a:t>是利用</a:t>
            </a:r>
            <a:r>
              <a:rPr lang="zh-CN" altLang="en-US" sz="2400" dirty="0">
                <a:solidFill>
                  <a:srgbClr val="C00000"/>
                </a:solidFill>
                <a:latin typeface="+mn-ea"/>
                <a:ea typeface="+mn-ea"/>
              </a:rPr>
              <a:t>网络分析</a:t>
            </a:r>
            <a:r>
              <a:rPr lang="zh-CN" altLang="en-US" sz="2400" dirty="0">
                <a:latin typeface="+mn-ea"/>
                <a:ea typeface="+mn-ea"/>
              </a:rPr>
              <a:t>制定计划以及对计划予以评价的技术。它能协调整个计划的各道工序，合理安排人力、物力、时间、资金，加速计划的完成。</a:t>
            </a:r>
            <a:endParaRPr lang="zh-CN" altLang="en-US" sz="2400" dirty="0">
              <a:latin typeface="+mn-ea"/>
              <a:ea typeface="+mn-ea"/>
            </a:endParaRPr>
          </a:p>
          <a:p>
            <a:pPr indent="539750">
              <a:lnSpc>
                <a:spcPct val="150000"/>
              </a:lnSpc>
            </a:pPr>
            <a:r>
              <a:rPr lang="en-US" altLang="zh-CN" sz="2400" dirty="0">
                <a:latin typeface="+mn-ea"/>
                <a:ea typeface="+mn-ea"/>
              </a:rPr>
              <a:t>PERT</a:t>
            </a:r>
            <a:r>
              <a:rPr lang="zh-CN" altLang="en-US" sz="2400" dirty="0">
                <a:latin typeface="+mn-ea"/>
                <a:ea typeface="+mn-ea"/>
              </a:rPr>
              <a:t>网络是一种类似流程图的</a:t>
            </a:r>
            <a:r>
              <a:rPr lang="zh-CN" altLang="en-US" sz="2400" dirty="0">
                <a:solidFill>
                  <a:srgbClr val="C00000"/>
                </a:solidFill>
                <a:latin typeface="+mn-ea"/>
                <a:ea typeface="+mn-ea"/>
              </a:rPr>
              <a:t>箭线图</a:t>
            </a:r>
            <a:r>
              <a:rPr lang="zh-CN" altLang="en-US" sz="2400" dirty="0">
                <a:latin typeface="+mn-ea"/>
                <a:ea typeface="+mn-ea"/>
              </a:rPr>
              <a:t>。它描绘出项目包含的各种活动的先后次序，标明每项活动的时间或相关的成本。</a:t>
            </a:r>
            <a:endParaRPr lang="zh-CN" altLang="en-US" sz="2400" dirty="0">
              <a:latin typeface="+mn-ea"/>
              <a:ea typeface="+mn-ea"/>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a:t>
            </a:r>
            <a:r>
              <a:rPr lang="zh-CN" altLang="en-US" sz="2400" b="1" dirty="0">
                <a:solidFill>
                  <a:srgbClr val="01395C"/>
                </a:solidFill>
                <a:latin typeface="方正粗宋简体"/>
                <a:ea typeface="方正粗宋简体"/>
                <a:cs typeface="方正粗宋简体"/>
              </a:rPr>
              <a:t> 任务历时估计</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4676379" y="731084"/>
            <a:ext cx="2839239"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pPr algn="ctr"/>
            <a:r>
              <a:rPr lang="en-US" altLang="zh-CN" sz="2400" dirty="0"/>
              <a:t>3 PERT</a:t>
            </a:r>
            <a:r>
              <a:rPr lang="zh-CN" altLang="en-US" sz="2400" dirty="0"/>
              <a:t>工程评估技术</a:t>
            </a:r>
            <a:endParaRPr lang="zh-CN" altLang="en-US" sz="2400" dirty="0"/>
          </a:p>
        </p:txBody>
      </p:sp>
      <p:sp>
        <p:nvSpPr>
          <p:cNvPr id="3" name="文本框 2"/>
          <p:cNvSpPr txBox="1"/>
          <p:nvPr/>
        </p:nvSpPr>
        <p:spPr>
          <a:xfrm>
            <a:off x="484222" y="1586948"/>
            <a:ext cx="4677982" cy="5012398"/>
          </a:xfrm>
          <a:prstGeom prst="rect">
            <a:avLst/>
          </a:prstGeom>
          <a:noFill/>
        </p:spPr>
        <p:txBody>
          <a:bodyPr wrap="square" rtlCol="0">
            <a:spAutoFit/>
          </a:bodyPr>
          <a:lstStyle/>
          <a:p>
            <a:pPr algn="l">
              <a:lnSpc>
                <a:spcPct val="150000"/>
              </a:lnSpc>
            </a:pPr>
            <a:r>
              <a:rPr lang="zh-CN" altLang="en-US" sz="2400" b="0" i="0" u="none" strike="noStrike" dirty="0">
                <a:solidFill>
                  <a:srgbClr val="333333"/>
                </a:solidFill>
                <a:effectLst/>
                <a:latin typeface="Arial" panose="020B0604020202020204" pitchFamily="34" charset="0"/>
              </a:rPr>
              <a:t>需要明确三个概念：事件、活动和关键路线。</a:t>
            </a:r>
            <a:endParaRPr lang="zh-CN" altLang="en-US" sz="2400" b="0" i="0" u="none" strike="noStrike" dirty="0">
              <a:solidFill>
                <a:srgbClr val="333333"/>
              </a:solidFill>
              <a:effectLst/>
              <a:latin typeface="Arial" panose="020B0604020202020204" pitchFamily="34" charset="0"/>
            </a:endParaRPr>
          </a:p>
          <a:p>
            <a:pPr algn="l">
              <a:lnSpc>
                <a:spcPct val="150000"/>
              </a:lnSpc>
            </a:pPr>
            <a:r>
              <a:rPr lang="en-US" altLang="zh-CN" sz="2400" b="0" i="0" u="none" strike="noStrike" dirty="0">
                <a:solidFill>
                  <a:srgbClr val="333333"/>
                </a:solidFill>
                <a:effectLst/>
                <a:latin typeface="Arial" panose="020B0604020202020204" pitchFamily="34" charset="0"/>
              </a:rPr>
              <a:t>1</a:t>
            </a:r>
            <a:r>
              <a:rPr lang="zh-CN" altLang="en-US" sz="2400" b="0" i="0" u="none" strike="noStrike" dirty="0">
                <a:solidFill>
                  <a:srgbClr val="333333"/>
                </a:solidFill>
                <a:effectLst/>
                <a:latin typeface="Arial" panose="020B0604020202020204" pitchFamily="34" charset="0"/>
              </a:rPr>
              <a:t>、</a:t>
            </a:r>
            <a:r>
              <a:rPr lang="zh-CN" altLang="en-US" sz="2400" b="0" i="0" u="none" strike="noStrike" dirty="0">
                <a:solidFill>
                  <a:srgbClr val="C00000"/>
                </a:solidFill>
                <a:effectLst/>
                <a:latin typeface="Arial" panose="020B0604020202020204" pitchFamily="34" charset="0"/>
              </a:rPr>
              <a:t>事件（</a:t>
            </a:r>
            <a:r>
              <a:rPr lang="en-US" altLang="zh-CN" sz="2400" b="0" i="0" u="none" strike="noStrike" dirty="0">
                <a:solidFill>
                  <a:srgbClr val="C00000"/>
                </a:solidFill>
                <a:effectLst/>
                <a:latin typeface="Arial" panose="020B0604020202020204" pitchFamily="34" charset="0"/>
              </a:rPr>
              <a:t>Events</a:t>
            </a:r>
            <a:r>
              <a:rPr lang="zh-CN" altLang="en-US" sz="2400" b="0" i="0" u="none" strike="noStrike" dirty="0">
                <a:solidFill>
                  <a:srgbClr val="C00000"/>
                </a:solidFill>
                <a:effectLst/>
                <a:latin typeface="Arial" panose="020B0604020202020204" pitchFamily="34" charset="0"/>
              </a:rPr>
              <a:t>）</a:t>
            </a:r>
            <a:r>
              <a:rPr lang="zh-CN" altLang="en-US" sz="2400" b="0" i="0" u="none" strike="noStrike" dirty="0">
                <a:solidFill>
                  <a:srgbClr val="333333"/>
                </a:solidFill>
                <a:effectLst/>
                <a:latin typeface="Arial" panose="020B0604020202020204" pitchFamily="34" charset="0"/>
              </a:rPr>
              <a:t>表示主要活动结束的那一点；</a:t>
            </a:r>
            <a:endParaRPr lang="zh-CN" altLang="en-US" sz="2400" b="0" i="0" u="none" strike="noStrike" dirty="0">
              <a:solidFill>
                <a:srgbClr val="333333"/>
              </a:solidFill>
              <a:effectLst/>
              <a:latin typeface="Arial" panose="020B0604020202020204" pitchFamily="34" charset="0"/>
            </a:endParaRPr>
          </a:p>
          <a:p>
            <a:pPr algn="l">
              <a:lnSpc>
                <a:spcPct val="150000"/>
              </a:lnSpc>
            </a:pPr>
            <a:r>
              <a:rPr lang="en-US" altLang="zh-CN" sz="2400" b="0" i="0" u="none" strike="noStrike" dirty="0">
                <a:solidFill>
                  <a:srgbClr val="333333"/>
                </a:solidFill>
                <a:effectLst/>
                <a:latin typeface="Arial" panose="020B0604020202020204" pitchFamily="34" charset="0"/>
              </a:rPr>
              <a:t>2</a:t>
            </a:r>
            <a:r>
              <a:rPr lang="zh-CN" altLang="en-US" sz="2400" b="0" i="0" u="none" strike="noStrike" dirty="0">
                <a:solidFill>
                  <a:srgbClr val="333333"/>
                </a:solidFill>
                <a:effectLst/>
                <a:latin typeface="Arial" panose="020B0604020202020204" pitchFamily="34" charset="0"/>
              </a:rPr>
              <a:t>、</a:t>
            </a:r>
            <a:r>
              <a:rPr lang="zh-CN" altLang="en-US" sz="2400" b="0" i="0" u="none" strike="noStrike" dirty="0">
                <a:solidFill>
                  <a:srgbClr val="C00000"/>
                </a:solidFill>
                <a:effectLst/>
                <a:latin typeface="Arial" panose="020B0604020202020204" pitchFamily="34" charset="0"/>
              </a:rPr>
              <a:t>活动（</a:t>
            </a:r>
            <a:r>
              <a:rPr lang="en-US" altLang="zh-CN" sz="2400" b="0" i="0" u="none" strike="noStrike" dirty="0">
                <a:solidFill>
                  <a:srgbClr val="C00000"/>
                </a:solidFill>
                <a:effectLst/>
                <a:latin typeface="Arial" panose="020B0604020202020204" pitchFamily="34" charset="0"/>
              </a:rPr>
              <a:t>Activities</a:t>
            </a:r>
            <a:r>
              <a:rPr lang="zh-CN" altLang="en-US" sz="2400" b="0" i="0" u="none" strike="noStrike" dirty="0">
                <a:solidFill>
                  <a:srgbClr val="C00000"/>
                </a:solidFill>
                <a:effectLst/>
                <a:latin typeface="Arial" panose="020B0604020202020204" pitchFamily="34" charset="0"/>
              </a:rPr>
              <a:t>）</a:t>
            </a:r>
            <a:r>
              <a:rPr lang="zh-CN" altLang="en-US" sz="2400" b="0" i="0" u="none" strike="noStrike" dirty="0">
                <a:solidFill>
                  <a:srgbClr val="333333"/>
                </a:solidFill>
                <a:effectLst/>
                <a:latin typeface="Arial" panose="020B0604020202020204" pitchFamily="34" charset="0"/>
              </a:rPr>
              <a:t>表示从一个事件到另一个事件之间的过程；</a:t>
            </a:r>
            <a:endParaRPr lang="zh-CN" altLang="en-US" sz="2400" b="0" i="0" u="none" strike="noStrike" dirty="0">
              <a:solidFill>
                <a:srgbClr val="333333"/>
              </a:solidFill>
              <a:effectLst/>
              <a:latin typeface="Arial" panose="020B0604020202020204" pitchFamily="34" charset="0"/>
            </a:endParaRPr>
          </a:p>
          <a:p>
            <a:pPr algn="l">
              <a:lnSpc>
                <a:spcPct val="150000"/>
              </a:lnSpc>
            </a:pPr>
            <a:r>
              <a:rPr lang="en-US" altLang="zh-CN" sz="2400" b="0" i="0" u="none" strike="noStrike" dirty="0">
                <a:solidFill>
                  <a:srgbClr val="333333"/>
                </a:solidFill>
                <a:effectLst/>
                <a:latin typeface="Arial" panose="020B0604020202020204" pitchFamily="34" charset="0"/>
              </a:rPr>
              <a:t>3</a:t>
            </a:r>
            <a:r>
              <a:rPr lang="zh-CN" altLang="en-US" sz="2400" b="0" i="0" u="none" strike="noStrike" dirty="0">
                <a:solidFill>
                  <a:srgbClr val="333333"/>
                </a:solidFill>
                <a:effectLst/>
                <a:latin typeface="Arial" panose="020B0604020202020204" pitchFamily="34" charset="0"/>
              </a:rPr>
              <a:t>、</a:t>
            </a:r>
            <a:r>
              <a:rPr lang="zh-CN" altLang="en-US" sz="2400" b="0" i="0" u="none" strike="noStrike" dirty="0">
                <a:solidFill>
                  <a:srgbClr val="C00000"/>
                </a:solidFill>
                <a:effectLst/>
                <a:latin typeface="Arial" panose="020B0604020202020204" pitchFamily="34" charset="0"/>
              </a:rPr>
              <a:t>关键路线（</a:t>
            </a:r>
            <a:r>
              <a:rPr lang="en-US" altLang="zh-CN" sz="2400" b="0" i="0" u="none" strike="noStrike" dirty="0">
                <a:solidFill>
                  <a:srgbClr val="C00000"/>
                </a:solidFill>
                <a:effectLst/>
                <a:latin typeface="Arial" panose="020B0604020202020204" pitchFamily="34" charset="0"/>
              </a:rPr>
              <a:t>Critical Path</a:t>
            </a:r>
            <a:r>
              <a:rPr lang="zh-CN" altLang="en-US" sz="2400" b="0" i="0" u="none" strike="noStrike" dirty="0">
                <a:solidFill>
                  <a:srgbClr val="C00000"/>
                </a:solidFill>
                <a:effectLst/>
                <a:latin typeface="Arial" panose="020B0604020202020204" pitchFamily="34" charset="0"/>
              </a:rPr>
              <a:t>）</a:t>
            </a:r>
            <a:r>
              <a:rPr lang="zh-CN" altLang="en-US" sz="2400" b="0" i="0" u="none" strike="noStrike" dirty="0">
                <a:solidFill>
                  <a:srgbClr val="333333"/>
                </a:solidFill>
                <a:effectLst/>
                <a:latin typeface="Arial" panose="020B0604020202020204" pitchFamily="34" charset="0"/>
              </a:rPr>
              <a:t>是</a:t>
            </a:r>
            <a:r>
              <a:rPr lang="en-US" altLang="zh-CN" sz="2400" b="0" i="0" u="none" strike="noStrike" dirty="0">
                <a:solidFill>
                  <a:srgbClr val="333333"/>
                </a:solidFill>
                <a:effectLst/>
                <a:latin typeface="Arial" panose="020B0604020202020204" pitchFamily="34" charset="0"/>
              </a:rPr>
              <a:t>PERT</a:t>
            </a:r>
            <a:r>
              <a:rPr lang="zh-CN" altLang="en-US" sz="2400" b="0" i="0" u="none" strike="noStrike" dirty="0">
                <a:solidFill>
                  <a:srgbClr val="333333"/>
                </a:solidFill>
                <a:effectLst/>
                <a:latin typeface="Arial" panose="020B0604020202020204" pitchFamily="34" charset="0"/>
              </a:rPr>
              <a:t>网络中花费时间最长的事件和活动的序列。</a:t>
            </a:r>
            <a:endParaRPr lang="zh-CN" altLang="en-US" sz="2400" b="0" i="0" u="none" strike="noStrike" dirty="0">
              <a:solidFill>
                <a:srgbClr val="333333"/>
              </a:solidFill>
              <a:effectLst/>
              <a:latin typeface="Arial" panose="020B0604020202020204" pitchFamily="34" charset="0"/>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83644" y="1586948"/>
            <a:ext cx="6312991" cy="5012398"/>
          </a:xfrm>
          <a:prstGeom prst="rect">
            <a:avLst/>
          </a:prstGeom>
        </p:spPr>
        <p:style>
          <a:lnRef idx="2">
            <a:schemeClr val="accent2">
              <a:shade val="50000"/>
            </a:schemeClr>
          </a:lnRef>
          <a:fillRef idx="1">
            <a:schemeClr val="accent2"/>
          </a:fillRef>
          <a:effectRef idx="0">
            <a:schemeClr val="accent2"/>
          </a:effectRef>
          <a:fontRef idx="minor">
            <a:schemeClr val="lt1"/>
          </a:fontRef>
        </p:style>
      </p:pic>
      <p:sp>
        <p:nvSpPr>
          <p:cNvPr id="4" name="椭圆 3"/>
          <p:cNvSpPr/>
          <p:nvPr/>
        </p:nvSpPr>
        <p:spPr bwMode="auto">
          <a:xfrm>
            <a:off x="6658375" y="6790402"/>
            <a:ext cx="440575" cy="432262"/>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Impact" panose="020B0806030902050204" pitchFamily="34" charset="0"/>
              <a:ea typeface="宋体" panose="02010600030101010101" pitchFamily="2" charset="-122"/>
            </a:endParaRPr>
          </a:p>
        </p:txBody>
      </p:sp>
      <p:cxnSp>
        <p:nvCxnSpPr>
          <p:cNvPr id="7" name="直接箭头连接符 6"/>
          <p:cNvCxnSpPr/>
          <p:nvPr/>
        </p:nvCxnSpPr>
        <p:spPr bwMode="auto">
          <a:xfrm>
            <a:off x="8686800" y="7024943"/>
            <a:ext cx="739833"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8" name="文本框 7"/>
          <p:cNvSpPr txBox="1"/>
          <p:nvPr/>
        </p:nvSpPr>
        <p:spPr>
          <a:xfrm>
            <a:off x="7192452" y="6830179"/>
            <a:ext cx="646331" cy="369332"/>
          </a:xfrm>
          <a:prstGeom prst="rect">
            <a:avLst/>
          </a:prstGeom>
          <a:noFill/>
        </p:spPr>
        <p:txBody>
          <a:bodyPr wrap="none" rtlCol="0">
            <a:spAutoFit/>
          </a:bodyPr>
          <a:lstStyle/>
          <a:p>
            <a:r>
              <a:rPr lang="zh-CN" altLang="en-US" dirty="0"/>
              <a:t>事件</a:t>
            </a:r>
            <a:endParaRPr lang="zh-CN" altLang="en-US" dirty="0"/>
          </a:p>
        </p:txBody>
      </p:sp>
      <p:sp>
        <p:nvSpPr>
          <p:cNvPr id="9" name="文本框 8"/>
          <p:cNvSpPr txBox="1"/>
          <p:nvPr/>
        </p:nvSpPr>
        <p:spPr>
          <a:xfrm>
            <a:off x="9426633" y="6831965"/>
            <a:ext cx="646331" cy="369332"/>
          </a:xfrm>
          <a:prstGeom prst="rect">
            <a:avLst/>
          </a:prstGeom>
          <a:noFill/>
        </p:spPr>
        <p:txBody>
          <a:bodyPr wrap="none" rtlCol="0">
            <a:spAutoFit/>
          </a:bodyPr>
          <a:lstStyle/>
          <a:p>
            <a:r>
              <a:rPr lang="zh-CN" altLang="en-US" dirty="0"/>
              <a:t>活动</a:t>
            </a:r>
            <a:endParaRPr lang="zh-CN" altLang="en-US" dirty="0"/>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a:t>
            </a:r>
            <a:r>
              <a:rPr lang="zh-CN" altLang="en-US" sz="2400" b="1" dirty="0">
                <a:solidFill>
                  <a:srgbClr val="01395C"/>
                </a:solidFill>
                <a:latin typeface="方正粗宋简体"/>
                <a:ea typeface="方正粗宋简体"/>
                <a:cs typeface="方正粗宋简体"/>
              </a:rPr>
              <a:t> 任务历时估计</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4676379" y="754986"/>
            <a:ext cx="2839239"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pPr algn="ctr"/>
            <a:r>
              <a:rPr lang="en-US" altLang="zh-CN" sz="2400" dirty="0"/>
              <a:t>3 PERT</a:t>
            </a:r>
            <a:r>
              <a:rPr lang="zh-CN" altLang="en-US" sz="2400" dirty="0"/>
              <a:t>工程评估技术</a:t>
            </a:r>
            <a:endParaRPr lang="zh-CN" altLang="en-US" sz="2400" dirty="0"/>
          </a:p>
        </p:txBody>
      </p:sp>
      <mc:AlternateContent xmlns:mc="http://schemas.openxmlformats.org/markup-compatibility/2006">
        <mc:Choice xmlns:a14="http://schemas.microsoft.com/office/drawing/2010/main" Requires="a14">
          <p:sp>
            <p:nvSpPr>
              <p:cNvPr id="3" name="文本框 2"/>
              <p:cNvSpPr txBox="1"/>
              <p:nvPr/>
            </p:nvSpPr>
            <p:spPr>
              <a:xfrm>
                <a:off x="899862" y="1765572"/>
                <a:ext cx="10608407" cy="4738861"/>
              </a:xfrm>
              <a:prstGeom prst="rect">
                <a:avLst/>
              </a:prstGeom>
              <a:noFill/>
            </p:spPr>
            <p:txBody>
              <a:bodyPr wrap="square" rtlCol="0">
                <a:spAutoFit/>
              </a:bodyPr>
              <a:lstStyle/>
              <a:p>
                <a:pPr>
                  <a:lnSpc>
                    <a:spcPct val="150000"/>
                  </a:lnSpc>
                </a:pPr>
                <a:r>
                  <a:rPr lang="zh-CN" altLang="en-US" sz="2400" dirty="0">
                    <a:latin typeface="+mn-ea"/>
                    <a:ea typeface="+mn-ea"/>
                  </a:rPr>
                  <a:t>工程评估评审技术（</a:t>
                </a:r>
                <a:r>
                  <a:rPr lang="en-US" altLang="zh-CN" sz="2400" dirty="0">
                    <a:latin typeface="+mn-ea"/>
                    <a:ea typeface="+mn-ea"/>
                  </a:rPr>
                  <a:t>PERT)-</a:t>
                </a:r>
                <a:r>
                  <a:rPr lang="zh-CN" altLang="en-US" sz="2400" dirty="0">
                    <a:latin typeface="+mn-ea"/>
                    <a:ea typeface="+mn-ea"/>
                  </a:rPr>
                  <a:t>加权算法</a:t>
                </a:r>
                <a:endParaRPr lang="en-US" altLang="zh-CN" sz="2400" dirty="0">
                  <a:latin typeface="+mn-ea"/>
                  <a:ea typeface="+mn-ea"/>
                </a:endParaRPr>
              </a:p>
              <a:p>
                <a:pPr eaLnBrk="1" hangingPunct="1">
                  <a:lnSpc>
                    <a:spcPct val="150000"/>
                  </a:lnSpc>
                </a:pPr>
                <a:r>
                  <a:rPr lang="zh-CN" altLang="en-US" sz="2400" dirty="0">
                    <a:latin typeface="+mn-ea"/>
                    <a:ea typeface="+mn-ea"/>
                  </a:rPr>
                  <a:t>它是基于对某项任务的乐观，悲观以及最可能的概率时间估计</a:t>
                </a:r>
                <a:endParaRPr lang="zh-CN" altLang="en-US" sz="2400" dirty="0">
                  <a:latin typeface="+mn-ea"/>
                  <a:ea typeface="+mn-ea"/>
                </a:endParaRPr>
              </a:p>
              <a:p>
                <a:pPr eaLnBrk="1" hangingPunct="1">
                  <a:lnSpc>
                    <a:spcPct val="150000"/>
                  </a:lnSpc>
                </a:pPr>
                <a:r>
                  <a:rPr lang="zh-CN" altLang="en-US" sz="2400" dirty="0">
                    <a:latin typeface="+mn-ea"/>
                    <a:ea typeface="+mn-ea"/>
                  </a:rPr>
                  <a:t>采用加权平均得到期望值</a:t>
                </a:r>
                <a:endParaRPr lang="en-US" altLang="zh-CN" sz="2400" dirty="0">
                  <a:latin typeface="+mn-ea"/>
                  <a:ea typeface="+mn-ea"/>
                </a:endParaRPr>
              </a:p>
              <a:p>
                <a:pPr eaLnBrk="1" hangingPunct="1">
                  <a:lnSpc>
                    <a:spcPct val="150000"/>
                  </a:lnSpc>
                </a:pPr>
                <a14:m>
                  <m:oMathPara xmlns:m="http://schemas.openxmlformats.org/officeDocument/2006/math">
                    <m:oMathParaPr>
                      <m:jc m:val="centerGroup"/>
                    </m:oMathParaPr>
                    <m:oMath xmlns:m="http://schemas.openxmlformats.org/officeDocument/2006/math">
                      <m:r>
                        <a:rPr lang="en-US" altLang="zh-CN" sz="2800" b="0" i="1" smtClean="0">
                          <a:solidFill>
                            <a:srgbClr val="C00000"/>
                          </a:solidFill>
                          <a:latin typeface="Cambria Math" panose="02040503050406030204" pitchFamily="18" charset="0"/>
                          <a:ea typeface="+mn-ea"/>
                        </a:rPr>
                        <m:t>𝐸</m:t>
                      </m:r>
                      <m:r>
                        <a:rPr lang="en-US" altLang="zh-CN" sz="2800" b="0" i="1" smtClean="0">
                          <a:solidFill>
                            <a:srgbClr val="C00000"/>
                          </a:solidFill>
                          <a:latin typeface="Cambria Math" panose="02040503050406030204" pitchFamily="18" charset="0"/>
                          <a:ea typeface="+mn-ea"/>
                        </a:rPr>
                        <m:t>=</m:t>
                      </m:r>
                      <m:f>
                        <m:fPr>
                          <m:ctrlPr>
                            <a:rPr lang="en-US" altLang="zh-CN" sz="2800" i="1" smtClean="0">
                              <a:solidFill>
                                <a:srgbClr val="C00000"/>
                              </a:solidFill>
                              <a:latin typeface="Cambria Math" panose="02040503050406030204" pitchFamily="18" charset="0"/>
                              <a:ea typeface="+mn-ea"/>
                            </a:rPr>
                          </m:ctrlPr>
                        </m:fPr>
                        <m:num>
                          <m:r>
                            <a:rPr lang="en-US" altLang="zh-CN" sz="2800" b="0" i="1" smtClean="0">
                              <a:solidFill>
                                <a:srgbClr val="C00000"/>
                              </a:solidFill>
                              <a:latin typeface="Cambria Math" panose="02040503050406030204" pitchFamily="18" charset="0"/>
                              <a:ea typeface="+mn-ea"/>
                            </a:rPr>
                            <m:t>𝑂</m:t>
                          </m:r>
                          <m:r>
                            <a:rPr lang="en-US" altLang="zh-CN" sz="2800" b="0" i="1" smtClean="0">
                              <a:solidFill>
                                <a:srgbClr val="C00000"/>
                              </a:solidFill>
                              <a:latin typeface="Cambria Math" panose="02040503050406030204" pitchFamily="18" charset="0"/>
                              <a:ea typeface="+mn-ea"/>
                            </a:rPr>
                            <m:t>+</m:t>
                          </m:r>
                          <m:r>
                            <a:rPr lang="en-US" altLang="zh-CN" sz="2800" b="0" i="1" smtClean="0">
                              <a:solidFill>
                                <a:srgbClr val="C00000"/>
                              </a:solidFill>
                              <a:latin typeface="Cambria Math" panose="02040503050406030204" pitchFamily="18" charset="0"/>
                              <a:ea typeface="+mn-ea"/>
                            </a:rPr>
                            <m:t>4</m:t>
                          </m:r>
                          <m:r>
                            <a:rPr lang="en-US" altLang="zh-CN" sz="2800" b="0" i="1" smtClean="0">
                              <a:solidFill>
                                <a:srgbClr val="C00000"/>
                              </a:solidFill>
                              <a:latin typeface="Cambria Math" panose="02040503050406030204" pitchFamily="18" charset="0"/>
                              <a:ea typeface="+mn-ea"/>
                            </a:rPr>
                            <m:t>𝑀</m:t>
                          </m:r>
                          <m:r>
                            <a:rPr lang="en-US" altLang="zh-CN" sz="2800" b="0" i="1" smtClean="0">
                              <a:solidFill>
                                <a:srgbClr val="C00000"/>
                              </a:solidFill>
                              <a:latin typeface="Cambria Math" panose="02040503050406030204" pitchFamily="18" charset="0"/>
                              <a:ea typeface="+mn-ea"/>
                            </a:rPr>
                            <m:t>+</m:t>
                          </m:r>
                          <m:r>
                            <a:rPr lang="en-US" altLang="zh-CN" sz="2800" b="0" i="1" smtClean="0">
                              <a:solidFill>
                                <a:srgbClr val="C00000"/>
                              </a:solidFill>
                              <a:latin typeface="Cambria Math" panose="02040503050406030204" pitchFamily="18" charset="0"/>
                              <a:ea typeface="+mn-ea"/>
                            </a:rPr>
                            <m:t>𝑃</m:t>
                          </m:r>
                        </m:num>
                        <m:den>
                          <m:r>
                            <a:rPr lang="en-US" altLang="zh-CN" sz="2800" b="0" i="1" smtClean="0">
                              <a:solidFill>
                                <a:srgbClr val="C00000"/>
                              </a:solidFill>
                              <a:latin typeface="Cambria Math" panose="02040503050406030204" pitchFamily="18" charset="0"/>
                              <a:ea typeface="+mn-ea"/>
                            </a:rPr>
                            <m:t>6</m:t>
                          </m:r>
                        </m:den>
                      </m:f>
                    </m:oMath>
                  </m:oMathPara>
                </a14:m>
                <a:endParaRPr lang="en-US" altLang="zh-CN" sz="2800" dirty="0">
                  <a:solidFill>
                    <a:srgbClr val="C00000"/>
                  </a:solidFill>
                  <a:latin typeface="+mn-ea"/>
                  <a:ea typeface="+mn-ea"/>
                </a:endParaRPr>
              </a:p>
              <a:p>
                <a:pPr eaLnBrk="1" hangingPunct="1">
                  <a:lnSpc>
                    <a:spcPct val="150000"/>
                  </a:lnSpc>
                </a:pPr>
                <a:r>
                  <a:rPr lang="en-US" altLang="zh-CN" sz="2400" dirty="0">
                    <a:latin typeface="+mn-ea"/>
                    <a:ea typeface="+mn-ea"/>
                    <a:sym typeface="Wingdings" panose="05000000000000000000" pitchFamily="2" charset="2"/>
                  </a:rPr>
                  <a:t>O</a:t>
                </a:r>
                <a:r>
                  <a:rPr lang="zh-CN" altLang="en-US" sz="2400" dirty="0">
                    <a:latin typeface="+mn-ea"/>
                    <a:ea typeface="+mn-ea"/>
                    <a:sym typeface="Wingdings" panose="05000000000000000000" pitchFamily="2" charset="2"/>
                  </a:rPr>
                  <a:t>：最小估算值：</a:t>
                </a:r>
                <a:r>
                  <a:rPr lang="zh-CN" altLang="en-US" sz="2400" dirty="0">
                    <a:latin typeface="+mn-ea"/>
                    <a:ea typeface="+mn-ea"/>
                  </a:rPr>
                  <a:t>乐观</a:t>
                </a:r>
                <a:r>
                  <a:rPr lang="en-US" altLang="zh-CN" sz="2400" dirty="0">
                    <a:latin typeface="+mn-ea"/>
                    <a:ea typeface="+mn-ea"/>
                  </a:rPr>
                  <a:t>(Optimistic)</a:t>
                </a:r>
                <a:r>
                  <a:rPr lang="zh-CN" altLang="en-US" sz="2400" dirty="0">
                    <a:latin typeface="+mn-ea"/>
                    <a:ea typeface="+mn-ea"/>
                    <a:sym typeface="Wingdings" panose="05000000000000000000" pitchFamily="2" charset="2"/>
                  </a:rPr>
                  <a:t>， </a:t>
                </a:r>
                <a:endParaRPr lang="zh-CN" altLang="en-US" sz="2400" dirty="0">
                  <a:latin typeface="+mn-ea"/>
                  <a:ea typeface="+mn-ea"/>
                  <a:sym typeface="Wingdings" panose="05000000000000000000" pitchFamily="2" charset="2"/>
                </a:endParaRPr>
              </a:p>
              <a:p>
                <a:pPr eaLnBrk="1" hangingPunct="1">
                  <a:lnSpc>
                    <a:spcPct val="150000"/>
                  </a:lnSpc>
                </a:pPr>
                <a:r>
                  <a:rPr lang="en-US" altLang="zh-CN" sz="2400" dirty="0">
                    <a:latin typeface="+mn-ea"/>
                    <a:ea typeface="+mn-ea"/>
                    <a:sym typeface="Wingdings" panose="05000000000000000000" pitchFamily="2" charset="2"/>
                  </a:rPr>
                  <a:t>P</a:t>
                </a:r>
                <a:r>
                  <a:rPr lang="zh-CN" altLang="en-US" sz="2400" dirty="0">
                    <a:latin typeface="+mn-ea"/>
                    <a:ea typeface="+mn-ea"/>
                    <a:sym typeface="Wingdings" panose="05000000000000000000" pitchFamily="2" charset="2"/>
                  </a:rPr>
                  <a:t>：最大估算值：</a:t>
                </a:r>
                <a:r>
                  <a:rPr lang="zh-CN" altLang="en-US" sz="2400" dirty="0">
                    <a:latin typeface="+mn-ea"/>
                    <a:ea typeface="+mn-ea"/>
                  </a:rPr>
                  <a:t>悲观</a:t>
                </a:r>
                <a:r>
                  <a:rPr lang="en-US" altLang="zh-CN" sz="2400" dirty="0">
                    <a:latin typeface="+mn-ea"/>
                    <a:ea typeface="+mn-ea"/>
                  </a:rPr>
                  <a:t>(Pessimistic)</a:t>
                </a:r>
                <a:r>
                  <a:rPr lang="zh-CN" altLang="en-US" sz="2400" dirty="0">
                    <a:latin typeface="+mn-ea"/>
                    <a:ea typeface="+mn-ea"/>
                    <a:sym typeface="Wingdings" panose="05000000000000000000" pitchFamily="2" charset="2"/>
                  </a:rPr>
                  <a:t>，</a:t>
                </a:r>
                <a:endParaRPr lang="zh-CN" altLang="en-US" sz="2400" dirty="0">
                  <a:latin typeface="+mn-ea"/>
                  <a:ea typeface="+mn-ea"/>
                  <a:sym typeface="Wingdings" panose="05000000000000000000" pitchFamily="2" charset="2"/>
                </a:endParaRPr>
              </a:p>
              <a:p>
                <a:pPr eaLnBrk="1" hangingPunct="1">
                  <a:lnSpc>
                    <a:spcPct val="150000"/>
                  </a:lnSpc>
                </a:pPr>
                <a:r>
                  <a:rPr lang="en-US" altLang="zh-CN" sz="2400" dirty="0">
                    <a:latin typeface="+mn-ea"/>
                    <a:ea typeface="+mn-ea"/>
                    <a:sym typeface="Wingdings" panose="05000000000000000000" pitchFamily="2" charset="2"/>
                  </a:rPr>
                  <a:t>M</a:t>
                </a:r>
                <a:r>
                  <a:rPr lang="zh-CN" altLang="en-US" sz="2400" dirty="0">
                    <a:latin typeface="+mn-ea"/>
                    <a:ea typeface="+mn-ea"/>
                    <a:sym typeface="Wingdings" panose="05000000000000000000" pitchFamily="2" charset="2"/>
                  </a:rPr>
                  <a:t>：最大可能估算</a:t>
                </a:r>
                <a:r>
                  <a:rPr lang="en-US" altLang="zh-CN" sz="2400" dirty="0">
                    <a:latin typeface="+mn-ea"/>
                    <a:ea typeface="+mn-ea"/>
                    <a:sym typeface="Wingdings" panose="05000000000000000000" pitchFamily="2" charset="2"/>
                  </a:rPr>
                  <a:t>(Most Likely)</a:t>
                </a:r>
                <a:r>
                  <a:rPr lang="zh-CN" altLang="en-US" sz="2400" dirty="0">
                    <a:latin typeface="+mn-ea"/>
                    <a:ea typeface="+mn-ea"/>
                    <a:sym typeface="Wingdings" panose="05000000000000000000" pitchFamily="2" charset="2"/>
                  </a:rPr>
                  <a:t>。</a:t>
                </a:r>
                <a:endParaRPr lang="zh-CN" altLang="en-US" sz="2400" dirty="0">
                  <a:latin typeface="+mn-ea"/>
                  <a:ea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899862" y="1765572"/>
                <a:ext cx="10608407" cy="4738861"/>
              </a:xfrm>
              <a:prstGeom prst="rect">
                <a:avLst/>
              </a:prstGeom>
              <a:blipFill rotWithShape="1">
                <a:blip r:embed="rId1"/>
                <a:stretch>
                  <a:fillRect l="-1" t="-6" r="2" b="3"/>
                </a:stretch>
              </a:blipFill>
            </p:spPr>
            <p:txBody>
              <a:bodyPr/>
              <a:lstStyle/>
              <a:p>
                <a:r>
                  <a:rPr lang="zh-CN" altLang="en-US">
                    <a:noFill/>
                  </a:rPr>
                  <a:t> </a:t>
                </a:r>
              </a:p>
            </p:txBody>
          </p:sp>
        </mc:Fallback>
      </mc:AlternateContent>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a:t>
            </a:r>
            <a:r>
              <a:rPr lang="zh-CN" altLang="en-US" sz="2400" b="1" dirty="0">
                <a:solidFill>
                  <a:srgbClr val="01395C"/>
                </a:solidFill>
                <a:latin typeface="方正粗宋简体"/>
                <a:ea typeface="方正粗宋简体"/>
                <a:cs typeface="方正粗宋简体"/>
              </a:rPr>
              <a:t> 任务历时估计</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120411" y="779026"/>
            <a:ext cx="1951175"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en-US" altLang="zh-CN" sz="2400" dirty="0"/>
              <a:t>4 </a:t>
            </a:r>
            <a:r>
              <a:rPr lang="zh-CN" altLang="en-US" sz="2400" dirty="0"/>
              <a:t>类比估算法</a:t>
            </a:r>
            <a:endParaRPr lang="zh-CN" altLang="en-US" sz="2400" dirty="0"/>
          </a:p>
        </p:txBody>
      </p:sp>
      <p:sp>
        <p:nvSpPr>
          <p:cNvPr id="3" name="文本框 2"/>
          <p:cNvSpPr txBox="1"/>
          <p:nvPr/>
        </p:nvSpPr>
        <p:spPr>
          <a:xfrm>
            <a:off x="788149" y="1557754"/>
            <a:ext cx="10615697" cy="3903248"/>
          </a:xfrm>
          <a:prstGeom prst="rect">
            <a:avLst/>
          </a:prstGeom>
          <a:noFill/>
        </p:spPr>
        <p:txBody>
          <a:bodyPr wrap="square" rtlCol="0">
            <a:spAutoFit/>
          </a:bodyPr>
          <a:lstStyle/>
          <a:p>
            <a:pPr>
              <a:lnSpc>
                <a:spcPct val="150000"/>
              </a:lnSpc>
            </a:pPr>
            <a:r>
              <a:rPr lang="zh-CN" altLang="en-US" sz="2400" dirty="0">
                <a:solidFill>
                  <a:srgbClr val="C00000"/>
                </a:solidFill>
              </a:rPr>
              <a:t>类比估算</a:t>
            </a:r>
            <a:r>
              <a:rPr lang="zh-CN" altLang="en-US" sz="2400" dirty="0"/>
              <a:t>是一种使用</a:t>
            </a:r>
            <a:r>
              <a:rPr lang="zh-CN" altLang="en-US" sz="2400" dirty="0">
                <a:solidFill>
                  <a:srgbClr val="C00000"/>
                </a:solidFill>
              </a:rPr>
              <a:t>相似活动</a:t>
            </a:r>
            <a:r>
              <a:rPr lang="zh-CN" altLang="en-US" sz="2400" dirty="0"/>
              <a:t>或</a:t>
            </a:r>
            <a:r>
              <a:rPr lang="zh-CN" altLang="en-US" sz="2400" dirty="0">
                <a:solidFill>
                  <a:srgbClr val="C00000"/>
                </a:solidFill>
              </a:rPr>
              <a:t>项目的历史数据</a:t>
            </a:r>
            <a:r>
              <a:rPr lang="zh-CN" altLang="en-US" sz="2400" dirty="0"/>
              <a:t>估算</a:t>
            </a:r>
            <a:r>
              <a:rPr lang="zh-CN" altLang="en-US" sz="2400" dirty="0">
                <a:solidFill>
                  <a:srgbClr val="C00000"/>
                </a:solidFill>
              </a:rPr>
              <a:t>当前活动</a:t>
            </a:r>
            <a:r>
              <a:rPr lang="zh-CN" altLang="en-US" sz="2400" dirty="0"/>
              <a:t>或</a:t>
            </a:r>
            <a:r>
              <a:rPr lang="zh-CN" altLang="en-US" sz="2400" dirty="0">
                <a:solidFill>
                  <a:srgbClr val="C00000"/>
                </a:solidFill>
              </a:rPr>
              <a:t>项目的持续时间</a:t>
            </a:r>
            <a:r>
              <a:rPr lang="zh-CN" altLang="en-US" sz="2400" dirty="0"/>
              <a:t>或</a:t>
            </a:r>
            <a:r>
              <a:rPr lang="zh-CN" altLang="en-US" sz="2400" dirty="0">
                <a:solidFill>
                  <a:srgbClr val="C00000"/>
                </a:solidFill>
              </a:rPr>
              <a:t>成本</a:t>
            </a:r>
            <a:r>
              <a:rPr lang="zh-CN" altLang="en-US" sz="2400" dirty="0"/>
              <a:t>的技术。</a:t>
            </a:r>
            <a:endParaRPr lang="en-US" altLang="zh-CN" sz="2400" dirty="0"/>
          </a:p>
          <a:p>
            <a:pPr>
              <a:lnSpc>
                <a:spcPct val="150000"/>
              </a:lnSpc>
            </a:pPr>
            <a:endParaRPr lang="en-US" altLang="zh-CN" sz="2400" dirty="0"/>
          </a:p>
          <a:p>
            <a:pPr>
              <a:lnSpc>
                <a:spcPct val="150000"/>
              </a:lnSpc>
            </a:pPr>
            <a:r>
              <a:rPr lang="zh-CN" altLang="en-US" sz="2400" dirty="0">
                <a:solidFill>
                  <a:srgbClr val="C00000"/>
                </a:solidFill>
              </a:rPr>
              <a:t>类比估算</a:t>
            </a:r>
            <a:r>
              <a:rPr lang="zh-CN" altLang="en-US" sz="2400" dirty="0"/>
              <a:t>以过去类似项目的参数值（如持续时间、预算、规模、质量和复杂性等）为基础来估算未来项目的同类参数或指标。</a:t>
            </a:r>
            <a:endParaRPr lang="en-US" altLang="zh-CN" sz="2400" dirty="0"/>
          </a:p>
          <a:p>
            <a:pPr>
              <a:lnSpc>
                <a:spcPct val="150000"/>
              </a:lnSpc>
            </a:pPr>
            <a:endParaRPr lang="en-US" altLang="zh-CN" sz="2400" dirty="0"/>
          </a:p>
          <a:p>
            <a:pPr>
              <a:lnSpc>
                <a:spcPct val="150000"/>
              </a:lnSpc>
            </a:pPr>
            <a:r>
              <a:rPr lang="zh-CN" altLang="en-US" sz="2400" dirty="0"/>
              <a:t>相对于其他估算技术，类比估算通常成本较低、耗时较少，但准确性也较低。</a:t>
            </a:r>
            <a:endParaRPr lang="zh-CN" altLang="en-US" sz="2400" dirty="0"/>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6.4</a:t>
            </a:r>
            <a:r>
              <a:rPr lang="zh-CN" altLang="en-US" sz="2400" b="1" dirty="0">
                <a:solidFill>
                  <a:srgbClr val="01395C"/>
                </a:solidFill>
                <a:latin typeface="方正粗宋简体"/>
                <a:ea typeface="方正粗宋简体"/>
                <a:cs typeface="方正粗宋简体"/>
              </a:rPr>
              <a:t> 进度计划安排</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224604" y="779026"/>
            <a:ext cx="1742785"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2400" dirty="0"/>
              <a:t>关键路径法</a:t>
            </a:r>
            <a:endParaRPr lang="zh-CN" altLang="en-US" sz="2400" dirty="0"/>
          </a:p>
        </p:txBody>
      </p:sp>
      <p:sp>
        <p:nvSpPr>
          <p:cNvPr id="3" name="文本框 2"/>
          <p:cNvSpPr txBox="1"/>
          <p:nvPr/>
        </p:nvSpPr>
        <p:spPr>
          <a:xfrm>
            <a:off x="788149" y="1557754"/>
            <a:ext cx="10615697" cy="2861617"/>
          </a:xfrm>
          <a:prstGeom prst="rect">
            <a:avLst/>
          </a:prstGeom>
          <a:noFill/>
        </p:spPr>
        <p:txBody>
          <a:bodyPr wrap="square" rtlCol="0">
            <a:spAutoFit/>
          </a:bodyPr>
          <a:lstStyle/>
          <a:p>
            <a:pPr eaLnBrk="1" hangingPunct="1">
              <a:lnSpc>
                <a:spcPct val="150000"/>
              </a:lnSpc>
              <a:spcBef>
                <a:spcPct val="20000"/>
              </a:spcBef>
              <a:buClr>
                <a:srgbClr val="292929"/>
              </a:buClr>
              <a:buSzPct val="55000"/>
              <a:defRPr/>
            </a:pPr>
            <a:r>
              <a:rPr kumimoji="0" lang="zh-CN" altLang="zh-CN" sz="2400" b="1" i="0" u="none" strike="noStrike" kern="1200" cap="none" spc="0" normalizeH="0" baseline="0" noProof="0" dirty="0">
                <a:ln>
                  <a:noFill/>
                </a:ln>
                <a:solidFill>
                  <a:srgbClr val="C00000"/>
                </a:solidFill>
                <a:effectLst/>
                <a:uLnTx/>
                <a:uFillTx/>
                <a:latin typeface="Arial" panose="020B0604020202020204"/>
                <a:ea typeface="楷体_GB2312" charset="-122"/>
                <a:cs typeface="+mn-cs"/>
              </a:rPr>
              <a:t>关键路径法（</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楷体_GB2312" charset="-122"/>
                <a:cs typeface="+mn-cs"/>
              </a:rPr>
              <a:t>Critical Path Method</a:t>
            </a:r>
            <a:r>
              <a:rPr kumimoji="0" lang="zh-CN" altLang="zh-CN" sz="2400" b="1" i="0" u="none" strike="noStrike" kern="1200" cap="none" spc="0" normalizeH="0" baseline="0" noProof="0" dirty="0">
                <a:ln>
                  <a:noFill/>
                </a:ln>
                <a:solidFill>
                  <a:srgbClr val="C00000"/>
                </a:solidFill>
                <a:effectLst/>
                <a:uLnTx/>
                <a:uFillTx/>
                <a:latin typeface="Arial" panose="020B0604020202020204"/>
                <a:ea typeface="楷体_GB2312" charset="-122"/>
                <a:cs typeface="+mn-cs"/>
              </a:rPr>
              <a:t>，</a:t>
            </a:r>
            <a:r>
              <a:rPr kumimoji="0" lang="en-US" altLang="zh-CN" sz="2400" b="1" i="0" u="none" strike="noStrike" kern="1200" cap="none" spc="0" normalizeH="0" baseline="0" noProof="0" dirty="0">
                <a:ln>
                  <a:noFill/>
                </a:ln>
                <a:solidFill>
                  <a:srgbClr val="C00000"/>
                </a:solidFill>
                <a:effectLst/>
                <a:uLnTx/>
                <a:uFillTx/>
                <a:latin typeface="Arial" panose="020B0604020202020204"/>
                <a:ea typeface="楷体_GB2312" charset="-122"/>
                <a:cs typeface="+mn-cs"/>
              </a:rPr>
              <a:t>CPM</a:t>
            </a:r>
            <a:r>
              <a:rPr kumimoji="0" lang="zh-CN" altLang="zh-CN" sz="2400" b="1" i="0" u="none" strike="noStrike" kern="1200" cap="none" spc="0" normalizeH="0" baseline="0" noProof="0" dirty="0">
                <a:ln>
                  <a:noFill/>
                </a:ln>
                <a:solidFill>
                  <a:srgbClr val="C00000"/>
                </a:solidFill>
                <a:effectLst/>
                <a:uLnTx/>
                <a:uFillTx/>
                <a:latin typeface="Arial" panose="020B0604020202020204"/>
                <a:ea typeface="楷体_GB2312" charset="-122"/>
                <a:cs typeface="+mn-cs"/>
              </a:rPr>
              <a:t>）</a:t>
            </a:r>
            <a:r>
              <a:rPr kumimoji="0" lang="zh-CN" altLang="zh-CN" sz="2400" b="0" i="0" u="none" strike="noStrike" kern="1200" cap="none" spc="0" normalizeH="0" baseline="0" noProof="0" dirty="0">
                <a:ln>
                  <a:noFill/>
                </a:ln>
                <a:solidFill>
                  <a:srgbClr val="292929"/>
                </a:solidFill>
                <a:effectLst/>
                <a:uLnTx/>
                <a:uFillTx/>
                <a:latin typeface="Arial" panose="020B0604020202020204"/>
                <a:ea typeface="楷体_GB2312" charset="-122"/>
                <a:cs typeface="+mn-cs"/>
              </a:rPr>
              <a:t>是一项用于确定软件项目的</a:t>
            </a:r>
            <a:r>
              <a:rPr kumimoji="0" lang="zh-CN" altLang="zh-CN" sz="2400" b="0" i="0" u="none" strike="noStrike" kern="1200" cap="none" spc="0" normalizeH="0" baseline="0" noProof="0" dirty="0">
                <a:ln>
                  <a:noFill/>
                </a:ln>
                <a:solidFill>
                  <a:srgbClr val="C00000"/>
                </a:solidFill>
                <a:effectLst/>
                <a:uLnTx/>
                <a:uFillTx/>
                <a:latin typeface="Arial" panose="020B0604020202020204"/>
                <a:ea typeface="楷体_GB2312" charset="-122"/>
                <a:cs typeface="+mn-cs"/>
              </a:rPr>
              <a:t>起始时间</a:t>
            </a:r>
            <a:r>
              <a:rPr kumimoji="0" lang="zh-CN" altLang="zh-CN" sz="2400" b="0" i="0" u="none" strike="noStrike" kern="1200" cap="none" spc="0" normalizeH="0" baseline="0" noProof="0" dirty="0">
                <a:ln>
                  <a:noFill/>
                </a:ln>
                <a:solidFill>
                  <a:srgbClr val="292929"/>
                </a:solidFill>
                <a:effectLst/>
                <a:uLnTx/>
                <a:uFillTx/>
                <a:latin typeface="Arial" panose="020B0604020202020204"/>
                <a:ea typeface="楷体_GB2312" charset="-122"/>
                <a:cs typeface="+mn-cs"/>
              </a:rPr>
              <a:t>和</a:t>
            </a:r>
            <a:r>
              <a:rPr kumimoji="0" lang="zh-CN" altLang="zh-CN" sz="2400" b="0" i="0" u="none" strike="noStrike" kern="1200" cap="none" spc="0" normalizeH="0" baseline="0" noProof="0" dirty="0">
                <a:ln>
                  <a:noFill/>
                </a:ln>
                <a:solidFill>
                  <a:srgbClr val="C00000"/>
                </a:solidFill>
                <a:effectLst/>
                <a:uLnTx/>
                <a:uFillTx/>
                <a:latin typeface="Arial" panose="020B0604020202020204"/>
                <a:ea typeface="楷体_GB2312" charset="-122"/>
                <a:cs typeface="+mn-cs"/>
              </a:rPr>
              <a:t>完工时间</a:t>
            </a:r>
            <a:r>
              <a:rPr kumimoji="0" lang="zh-CN" altLang="zh-CN" sz="2400" b="0" i="0" u="none" strike="noStrike" kern="1200" cap="none" spc="0" normalizeH="0" baseline="0" noProof="0" dirty="0">
                <a:ln>
                  <a:noFill/>
                </a:ln>
                <a:solidFill>
                  <a:srgbClr val="292929"/>
                </a:solidFill>
                <a:effectLst/>
                <a:uLnTx/>
                <a:uFillTx/>
                <a:latin typeface="Arial" panose="020B0604020202020204"/>
                <a:ea typeface="楷体_GB2312" charset="-122"/>
                <a:cs typeface="+mn-cs"/>
              </a:rPr>
              <a:t>的方法。</a:t>
            </a:r>
            <a:endParaRPr kumimoji="0" lang="zh-CN" altLang="zh-CN" sz="2400" b="0" i="0" u="none" strike="noStrike" kern="1200" cap="none" spc="0" normalizeH="0" baseline="0" noProof="0" dirty="0">
              <a:ln>
                <a:noFill/>
              </a:ln>
              <a:solidFill>
                <a:srgbClr val="292929"/>
              </a:solidFill>
              <a:effectLst/>
              <a:uLnTx/>
              <a:uFillTx/>
              <a:latin typeface="Arial" panose="020B0604020202020204"/>
              <a:ea typeface="楷体_GB2312" charset="-122"/>
              <a:cs typeface="+mn-cs"/>
            </a:endParaRPr>
          </a:p>
          <a:p>
            <a:pPr eaLnBrk="1" hangingPunct="1">
              <a:lnSpc>
                <a:spcPct val="150000"/>
              </a:lnSpc>
              <a:spcBef>
                <a:spcPct val="20000"/>
              </a:spcBef>
              <a:buClr>
                <a:srgbClr val="292929"/>
              </a:buClr>
              <a:buSzPct val="55000"/>
              <a:defRPr/>
            </a:pPr>
            <a:r>
              <a:rPr kumimoji="0" lang="en-US" altLang="zh-CN" sz="2400" b="0" i="0" u="none" strike="noStrike" kern="1200" cap="none" spc="0" normalizeH="0" baseline="0" noProof="0" dirty="0">
                <a:ln>
                  <a:noFill/>
                </a:ln>
                <a:solidFill>
                  <a:srgbClr val="292929"/>
                </a:solidFill>
                <a:effectLst/>
                <a:uLnTx/>
                <a:uFillTx/>
                <a:latin typeface="Arial" panose="020B0604020202020204"/>
                <a:ea typeface="楷体_GB2312" charset="-122"/>
                <a:cs typeface="+mn-cs"/>
              </a:rPr>
              <a:t>CPM</a:t>
            </a:r>
            <a:r>
              <a:rPr kumimoji="0" lang="zh-CN" altLang="zh-CN" sz="2400" b="0" i="0" u="none" strike="noStrike" kern="1200" cap="none" spc="0" normalizeH="0" baseline="0" noProof="0" dirty="0">
                <a:ln>
                  <a:noFill/>
                </a:ln>
                <a:solidFill>
                  <a:srgbClr val="292929"/>
                </a:solidFill>
                <a:effectLst/>
                <a:uLnTx/>
                <a:uFillTx/>
                <a:latin typeface="Arial" panose="020B0604020202020204"/>
                <a:ea typeface="楷体_GB2312" charset="-122"/>
                <a:cs typeface="+mn-cs"/>
              </a:rPr>
              <a:t>是一种最常用的数学分析技术，即根据指定的</a:t>
            </a:r>
            <a:r>
              <a:rPr kumimoji="0" lang="zh-CN" altLang="zh-CN" sz="2400" b="0" i="0" u="none" strike="noStrike" kern="1200" cap="none" spc="0" normalizeH="0" baseline="0" noProof="0" dirty="0">
                <a:ln>
                  <a:noFill/>
                </a:ln>
                <a:solidFill>
                  <a:srgbClr val="C00000"/>
                </a:solidFill>
                <a:effectLst/>
                <a:uLnTx/>
                <a:uFillTx/>
                <a:latin typeface="Arial" panose="020B0604020202020204"/>
                <a:ea typeface="楷体_GB2312" charset="-122"/>
                <a:cs typeface="+mn-cs"/>
              </a:rPr>
              <a:t>网络顺序逻辑关系</a:t>
            </a:r>
            <a:r>
              <a:rPr kumimoji="0" lang="zh-CN" altLang="zh-CN" sz="2400" b="0" i="0" u="none" strike="noStrike" kern="1200" cap="none" spc="0" normalizeH="0" baseline="0" noProof="0" dirty="0">
                <a:ln>
                  <a:noFill/>
                </a:ln>
                <a:solidFill>
                  <a:srgbClr val="292929"/>
                </a:solidFill>
                <a:effectLst/>
                <a:uLnTx/>
                <a:uFillTx/>
                <a:latin typeface="Arial" panose="020B0604020202020204"/>
                <a:ea typeface="楷体_GB2312" charset="-122"/>
                <a:cs typeface="+mn-cs"/>
              </a:rPr>
              <a:t>和</a:t>
            </a:r>
            <a:r>
              <a:rPr kumimoji="0" lang="zh-CN" altLang="zh-CN" sz="2400" b="0" i="0" u="none" strike="noStrike" kern="1200" cap="none" spc="0" normalizeH="0" baseline="0" noProof="0" dirty="0">
                <a:ln>
                  <a:noFill/>
                </a:ln>
                <a:solidFill>
                  <a:srgbClr val="C00000"/>
                </a:solidFill>
                <a:effectLst/>
                <a:uLnTx/>
                <a:uFillTx/>
                <a:latin typeface="Arial" panose="020B0604020202020204"/>
                <a:ea typeface="楷体_GB2312" charset="-122"/>
                <a:cs typeface="+mn-cs"/>
              </a:rPr>
              <a:t>单一的历时估算</a:t>
            </a:r>
            <a:r>
              <a:rPr kumimoji="0" lang="zh-CN" altLang="zh-CN" sz="2400" b="0" i="0" u="none" strike="noStrike" kern="1200" cap="none" spc="0" normalizeH="0" baseline="0" noProof="0" dirty="0">
                <a:ln>
                  <a:noFill/>
                </a:ln>
                <a:solidFill>
                  <a:srgbClr val="292929"/>
                </a:solidFill>
                <a:effectLst/>
                <a:uLnTx/>
                <a:uFillTx/>
                <a:latin typeface="Arial" panose="020B0604020202020204"/>
                <a:ea typeface="楷体_GB2312" charset="-122"/>
                <a:cs typeface="+mn-cs"/>
              </a:rPr>
              <a:t>，计算每一个活动的</a:t>
            </a:r>
            <a:r>
              <a:rPr kumimoji="0" lang="zh-CN" altLang="zh-CN" sz="2400" b="0" i="0" u="none" strike="noStrike" kern="1200" cap="none" spc="0" normalizeH="0" baseline="0" noProof="0" dirty="0">
                <a:ln>
                  <a:noFill/>
                </a:ln>
                <a:solidFill>
                  <a:srgbClr val="C00000"/>
                </a:solidFill>
                <a:effectLst/>
                <a:uLnTx/>
                <a:uFillTx/>
                <a:latin typeface="Arial" panose="020B0604020202020204"/>
                <a:ea typeface="楷体_GB2312" charset="-122"/>
                <a:cs typeface="+mn-cs"/>
              </a:rPr>
              <a:t>单一的、确定的</a:t>
            </a:r>
            <a:r>
              <a:rPr kumimoji="0" lang="zh-CN" altLang="zh-CN" sz="2400" b="0" i="0" u="none" strike="noStrike" kern="1200" cap="none" spc="0" normalizeH="0" baseline="0" noProof="0" dirty="0">
                <a:ln>
                  <a:noFill/>
                </a:ln>
                <a:solidFill>
                  <a:srgbClr val="292929"/>
                </a:solidFill>
                <a:effectLst/>
                <a:uLnTx/>
                <a:uFillTx/>
                <a:latin typeface="Arial" panose="020B0604020202020204"/>
                <a:ea typeface="楷体_GB2312" charset="-122"/>
                <a:cs typeface="+mn-cs"/>
              </a:rPr>
              <a:t>最早和最迟开始和完成日期。</a:t>
            </a:r>
            <a:endParaRPr kumimoji="0" lang="en-US" altLang="zh-CN" sz="2400" b="0" i="0" u="none" strike="noStrike" kern="1200" cap="none" spc="0" normalizeH="0" baseline="0" noProof="0" dirty="0">
              <a:ln>
                <a:noFill/>
              </a:ln>
              <a:solidFill>
                <a:srgbClr val="292929"/>
              </a:solidFill>
              <a:effectLst/>
              <a:uLnTx/>
              <a:uFillTx/>
              <a:latin typeface="Arial" panose="020B0604020202020204"/>
              <a:ea typeface="楷体_GB2312" charset="-122"/>
              <a:cs typeface="+mn-cs"/>
            </a:endParaRPr>
          </a:p>
          <a:p>
            <a:pPr>
              <a:lnSpc>
                <a:spcPct val="150000"/>
              </a:lnSpc>
            </a:pPr>
            <a:endParaRPr lang="en-US" altLang="zh-CN" sz="2400" dirty="0"/>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6.4</a:t>
            </a:r>
            <a:r>
              <a:rPr lang="zh-CN" altLang="en-US" sz="2400" b="1" dirty="0">
                <a:solidFill>
                  <a:srgbClr val="01395C"/>
                </a:solidFill>
                <a:latin typeface="方正粗宋简体"/>
                <a:ea typeface="方正粗宋简体"/>
                <a:cs typeface="方正粗宋简体"/>
              </a:rPr>
              <a:t> 进度计划安排</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224604" y="779026"/>
            <a:ext cx="1742785"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2400" dirty="0"/>
              <a:t>关键路径法</a:t>
            </a:r>
            <a:endParaRPr lang="zh-CN" altLang="en-US" sz="2400" dirty="0"/>
          </a:p>
        </p:txBody>
      </p:sp>
      <p:sp>
        <p:nvSpPr>
          <p:cNvPr id="3" name="文本框 2"/>
          <p:cNvSpPr txBox="1"/>
          <p:nvPr/>
        </p:nvSpPr>
        <p:spPr>
          <a:xfrm>
            <a:off x="788149" y="1557754"/>
            <a:ext cx="10615697" cy="4457246"/>
          </a:xfrm>
          <a:prstGeom prst="rect">
            <a:avLst/>
          </a:prstGeom>
          <a:noFill/>
        </p:spPr>
        <p:txBody>
          <a:bodyPr wrap="square" rtlCol="0">
            <a:spAutoFit/>
          </a:bodyPr>
          <a:lstStyle/>
          <a:p>
            <a:pPr eaLnBrk="1" hangingPunct="1">
              <a:lnSpc>
                <a:spcPct val="150000"/>
              </a:lnSpc>
              <a:defRPr/>
            </a:pPr>
            <a:r>
              <a:rPr lang="zh-CN" altLang="zh-CN" sz="2400" dirty="0"/>
              <a:t>关键路径具有下列</a:t>
            </a:r>
            <a:r>
              <a:rPr lang="zh-CN" altLang="zh-CN" sz="2400" dirty="0">
                <a:solidFill>
                  <a:srgbClr val="C00000"/>
                </a:solidFill>
              </a:rPr>
              <a:t>特征：</a:t>
            </a:r>
            <a:endParaRPr lang="zh-CN" altLang="zh-CN" sz="2400" dirty="0">
              <a:solidFill>
                <a:srgbClr val="C00000"/>
              </a:solidFill>
            </a:endParaRPr>
          </a:p>
          <a:p>
            <a:pPr marL="800100" lvl="1" indent="-342900" eaLnBrk="1" hangingPunct="1">
              <a:lnSpc>
                <a:spcPct val="150000"/>
              </a:lnSpc>
              <a:buFont typeface="Arial" panose="020B0604020202020204" pitchFamily="34" charset="0"/>
              <a:buChar char="•"/>
              <a:defRPr/>
            </a:pPr>
            <a:r>
              <a:rPr lang="zh-CN" altLang="zh-CN" sz="2400" dirty="0"/>
              <a:t>网络图上至少存在一条关键路径。</a:t>
            </a:r>
            <a:endParaRPr lang="zh-CN" altLang="zh-CN" sz="2400" dirty="0"/>
          </a:p>
          <a:p>
            <a:pPr marL="800100" lvl="1" indent="-342900" eaLnBrk="1" hangingPunct="1">
              <a:lnSpc>
                <a:spcPct val="150000"/>
              </a:lnSpc>
              <a:buFont typeface="Arial" panose="020B0604020202020204" pitchFamily="34" charset="0"/>
              <a:buChar char="•"/>
              <a:defRPr/>
            </a:pPr>
            <a:r>
              <a:rPr lang="zh-CN" altLang="zh-CN" sz="2400" dirty="0"/>
              <a:t>关键路径是网络图中的最长路径。</a:t>
            </a:r>
            <a:endParaRPr lang="zh-CN" altLang="zh-CN" sz="2400" dirty="0"/>
          </a:p>
          <a:p>
            <a:pPr marL="800100" lvl="1" indent="-342900" eaLnBrk="1" hangingPunct="1">
              <a:lnSpc>
                <a:spcPct val="150000"/>
              </a:lnSpc>
              <a:buFont typeface="Arial" panose="020B0604020202020204" pitchFamily="34" charset="0"/>
              <a:buChar char="•"/>
              <a:defRPr/>
            </a:pPr>
            <a:r>
              <a:rPr lang="zh-CN" altLang="zh-CN" sz="2400" dirty="0"/>
              <a:t>关键路径的工期是完成项目的最短工期。</a:t>
            </a:r>
            <a:endParaRPr lang="zh-CN" altLang="zh-CN" sz="2400" dirty="0"/>
          </a:p>
          <a:p>
            <a:pPr marL="800100" lvl="1" indent="-342900" eaLnBrk="1" hangingPunct="1">
              <a:lnSpc>
                <a:spcPct val="150000"/>
              </a:lnSpc>
              <a:buFont typeface="Arial" panose="020B0604020202020204" pitchFamily="34" charset="0"/>
              <a:buChar char="•"/>
              <a:defRPr/>
            </a:pPr>
            <a:r>
              <a:rPr lang="zh-CN" altLang="zh-CN" sz="2400" dirty="0"/>
              <a:t>关键路径是动态变化的，随着项目的进展，非关键路径可能会变成关键路径。</a:t>
            </a:r>
            <a:endParaRPr lang="zh-CN" altLang="zh-CN" sz="2400" dirty="0"/>
          </a:p>
          <a:p>
            <a:pPr marL="800100" lvl="1" indent="-342900" eaLnBrk="1" hangingPunct="1">
              <a:lnSpc>
                <a:spcPct val="150000"/>
              </a:lnSpc>
              <a:buFont typeface="Arial" panose="020B0604020202020204" pitchFamily="34" charset="0"/>
              <a:buChar char="•"/>
              <a:defRPr/>
            </a:pPr>
            <a:r>
              <a:rPr lang="zh-CN" altLang="zh-CN" sz="2400" dirty="0"/>
              <a:t>关键路径上的活动是关键活动，任何关键活动的延迟都会导致整个项目完成的延迟。</a:t>
            </a:r>
            <a:endParaRPr lang="en-US" altLang="zh-CN" sz="2400" dirty="0"/>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6.4</a:t>
            </a:r>
            <a:r>
              <a:rPr lang="zh-CN" altLang="en-US" sz="2400" b="1" dirty="0">
                <a:solidFill>
                  <a:srgbClr val="01395C"/>
                </a:solidFill>
                <a:latin typeface="方正粗宋简体"/>
                <a:ea typeface="方正粗宋简体"/>
                <a:cs typeface="方正粗宋简体"/>
              </a:rPr>
              <a:t> 进度计划安排</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224604" y="779026"/>
            <a:ext cx="1742785"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2400" dirty="0"/>
              <a:t>关键路径法</a:t>
            </a:r>
            <a:endParaRPr lang="zh-CN" altLang="en-US" sz="2400" dirty="0"/>
          </a:p>
        </p:txBody>
      </p:sp>
      <p:sp>
        <p:nvSpPr>
          <p:cNvPr id="3" name="文本框 2"/>
          <p:cNvSpPr txBox="1"/>
          <p:nvPr/>
        </p:nvSpPr>
        <p:spPr>
          <a:xfrm>
            <a:off x="711062" y="1557754"/>
            <a:ext cx="10769867" cy="2243050"/>
          </a:xfrm>
          <a:prstGeom prst="rect">
            <a:avLst/>
          </a:prstGeom>
          <a:noFill/>
        </p:spPr>
        <p:txBody>
          <a:bodyPr wrap="square" rtlCol="0">
            <a:spAutoFit/>
          </a:bodyPr>
          <a:lstStyle/>
          <a:p>
            <a:pPr indent="612140">
              <a:lnSpc>
                <a:spcPct val="150000"/>
              </a:lnSpc>
            </a:pPr>
            <a:r>
              <a:rPr lang="zh-CN" altLang="zh-CN" sz="2400" dirty="0">
                <a:effectLst/>
                <a:latin typeface="+mn-ea"/>
                <a:ea typeface="+mn-ea"/>
              </a:rPr>
              <a:t>字母</a:t>
            </a:r>
            <a:r>
              <a:rPr lang="en-US" altLang="zh-CN" sz="2400" dirty="0">
                <a:effectLst/>
                <a:latin typeface="+mn-ea"/>
                <a:ea typeface="+mn-ea"/>
              </a:rPr>
              <a:t>A</a:t>
            </a:r>
            <a:r>
              <a:rPr lang="zh-CN" altLang="zh-CN" sz="2400" dirty="0">
                <a:effectLst/>
                <a:latin typeface="+mn-ea"/>
                <a:ea typeface="+mn-ea"/>
              </a:rPr>
              <a:t>、</a:t>
            </a:r>
            <a:r>
              <a:rPr lang="en-US" altLang="zh-CN" sz="2400" dirty="0">
                <a:effectLst/>
                <a:latin typeface="+mn-ea"/>
                <a:ea typeface="+mn-ea"/>
              </a:rPr>
              <a:t>B</a:t>
            </a:r>
            <a:r>
              <a:rPr lang="zh-CN" altLang="zh-CN" sz="2400" dirty="0">
                <a:effectLst/>
                <a:latin typeface="+mn-ea"/>
                <a:ea typeface="+mn-ea"/>
              </a:rPr>
              <a:t>、</a:t>
            </a:r>
            <a:r>
              <a:rPr lang="en-US" altLang="zh-CN" sz="2400" dirty="0">
                <a:effectLst/>
                <a:latin typeface="+mn-ea"/>
                <a:ea typeface="+mn-ea"/>
              </a:rPr>
              <a:t>C</a:t>
            </a:r>
            <a:r>
              <a:rPr lang="zh-CN" altLang="zh-CN" sz="2400" dirty="0">
                <a:effectLst/>
                <a:latin typeface="+mn-ea"/>
                <a:ea typeface="+mn-ea"/>
              </a:rPr>
              <a:t>、</a:t>
            </a:r>
            <a:r>
              <a:rPr lang="en-US" altLang="zh-CN" sz="2400" dirty="0">
                <a:effectLst/>
                <a:latin typeface="+mn-ea"/>
                <a:ea typeface="+mn-ea"/>
              </a:rPr>
              <a:t>D</a:t>
            </a:r>
            <a:r>
              <a:rPr lang="zh-CN" altLang="zh-CN" sz="2400" dirty="0">
                <a:effectLst/>
                <a:latin typeface="+mn-ea"/>
                <a:ea typeface="+mn-ea"/>
              </a:rPr>
              <a:t>、</a:t>
            </a:r>
            <a:r>
              <a:rPr lang="en-US" altLang="zh-CN" sz="2400" dirty="0">
                <a:effectLst/>
                <a:latin typeface="+mn-ea"/>
                <a:ea typeface="+mn-ea"/>
              </a:rPr>
              <a:t>E</a:t>
            </a:r>
            <a:r>
              <a:rPr lang="zh-CN" altLang="zh-CN" sz="2400" dirty="0">
                <a:effectLst/>
                <a:latin typeface="+mn-ea"/>
                <a:ea typeface="+mn-ea"/>
              </a:rPr>
              <a:t>、</a:t>
            </a:r>
            <a:r>
              <a:rPr lang="en-US" altLang="zh-CN" sz="2400" dirty="0">
                <a:effectLst/>
                <a:latin typeface="+mn-ea"/>
                <a:ea typeface="+mn-ea"/>
              </a:rPr>
              <a:t>F</a:t>
            </a:r>
            <a:r>
              <a:rPr lang="zh-CN" altLang="zh-CN" sz="2400" dirty="0">
                <a:effectLst/>
                <a:latin typeface="+mn-ea"/>
                <a:ea typeface="+mn-ea"/>
              </a:rPr>
              <a:t>、</a:t>
            </a:r>
            <a:r>
              <a:rPr lang="en-US" altLang="zh-CN" sz="2400" dirty="0">
                <a:effectLst/>
                <a:latin typeface="+mn-ea"/>
                <a:ea typeface="+mn-ea"/>
              </a:rPr>
              <a:t>G</a:t>
            </a:r>
            <a:r>
              <a:rPr lang="zh-CN" altLang="zh-CN" sz="2400" dirty="0">
                <a:effectLst/>
                <a:latin typeface="+mn-ea"/>
                <a:ea typeface="+mn-ea"/>
              </a:rPr>
              <a:t>、</a:t>
            </a:r>
            <a:r>
              <a:rPr lang="en-US" altLang="zh-CN" sz="2400" dirty="0">
                <a:effectLst/>
                <a:latin typeface="+mn-ea"/>
                <a:ea typeface="+mn-ea"/>
              </a:rPr>
              <a:t>H</a:t>
            </a:r>
            <a:r>
              <a:rPr lang="zh-CN" altLang="zh-CN" sz="2400" dirty="0">
                <a:effectLst/>
                <a:latin typeface="+mn-ea"/>
                <a:ea typeface="+mn-ea"/>
              </a:rPr>
              <a:t>、</a:t>
            </a:r>
            <a:r>
              <a:rPr lang="en-US" altLang="zh-CN" sz="2400" dirty="0">
                <a:effectLst/>
                <a:latin typeface="+mn-ea"/>
                <a:ea typeface="+mn-ea"/>
              </a:rPr>
              <a:t>I</a:t>
            </a:r>
            <a:r>
              <a:rPr lang="zh-CN" altLang="zh-CN" sz="2400" dirty="0">
                <a:effectLst/>
                <a:latin typeface="+mn-ea"/>
                <a:ea typeface="+mn-ea"/>
              </a:rPr>
              <a:t>、</a:t>
            </a:r>
            <a:r>
              <a:rPr lang="en-US" altLang="zh-CN" sz="2400" dirty="0">
                <a:effectLst/>
                <a:latin typeface="+mn-ea"/>
                <a:ea typeface="+mn-ea"/>
              </a:rPr>
              <a:t>J</a:t>
            </a:r>
            <a:r>
              <a:rPr lang="zh-CN" altLang="zh-CN" sz="2400" dirty="0">
                <a:effectLst/>
                <a:latin typeface="+mn-ea"/>
                <a:ea typeface="+mn-ea"/>
              </a:rPr>
              <a:t>代表了项目中需要进行的子项目或工作包，连线箭头则表明了工作包之间的关系，节点数字</a:t>
            </a:r>
            <a:r>
              <a:rPr lang="en-US" altLang="zh-CN" sz="2400" dirty="0">
                <a:effectLst/>
                <a:latin typeface="+mn-ea"/>
                <a:ea typeface="+mn-ea"/>
              </a:rPr>
              <a:t>1</a:t>
            </a:r>
            <a:r>
              <a:rPr lang="zh-CN" altLang="zh-CN" sz="2400" dirty="0">
                <a:effectLst/>
                <a:latin typeface="+mn-ea"/>
                <a:ea typeface="+mn-ea"/>
              </a:rPr>
              <a:t>，</a:t>
            </a:r>
            <a:r>
              <a:rPr lang="en-US" altLang="zh-CN" sz="2400" dirty="0">
                <a:effectLst/>
                <a:latin typeface="+mn-ea"/>
                <a:ea typeface="+mn-ea"/>
              </a:rPr>
              <a:t>2</a:t>
            </a:r>
            <a:r>
              <a:rPr lang="zh-CN" altLang="zh-CN" sz="2400" dirty="0">
                <a:effectLst/>
                <a:latin typeface="+mn-ea"/>
                <a:ea typeface="+mn-ea"/>
              </a:rPr>
              <a:t>，</a:t>
            </a:r>
            <a:r>
              <a:rPr lang="en-US" altLang="zh-CN" sz="2400" dirty="0">
                <a:effectLst/>
                <a:latin typeface="+mn-ea"/>
                <a:ea typeface="+mn-ea"/>
              </a:rPr>
              <a:t>3</a:t>
            </a:r>
            <a:r>
              <a:rPr lang="zh-CN" altLang="zh-CN" sz="2400" dirty="0">
                <a:effectLst/>
                <a:latin typeface="+mn-ea"/>
                <a:ea typeface="+mn-ea"/>
              </a:rPr>
              <a:t>，</a:t>
            </a:r>
            <a:r>
              <a:rPr lang="en-US" altLang="zh-CN" sz="2400" dirty="0">
                <a:effectLst/>
                <a:latin typeface="+mn-ea"/>
                <a:ea typeface="+mn-ea"/>
              </a:rPr>
              <a:t>4</a:t>
            </a:r>
            <a:r>
              <a:rPr lang="zh-CN" altLang="zh-CN" sz="2400" dirty="0">
                <a:effectLst/>
                <a:latin typeface="+mn-ea"/>
                <a:ea typeface="+mn-ea"/>
              </a:rPr>
              <a:t>，</a:t>
            </a:r>
            <a:r>
              <a:rPr lang="en-US" altLang="zh-CN" sz="2400" dirty="0">
                <a:effectLst/>
                <a:latin typeface="+mn-ea"/>
                <a:ea typeface="+mn-ea"/>
              </a:rPr>
              <a:t>5</a:t>
            </a:r>
            <a:r>
              <a:rPr lang="zh-CN" altLang="zh-CN" sz="2400" dirty="0">
                <a:effectLst/>
                <a:latin typeface="+mn-ea"/>
                <a:ea typeface="+mn-ea"/>
              </a:rPr>
              <a:t>，</a:t>
            </a:r>
            <a:r>
              <a:rPr lang="en-US" altLang="zh-CN" sz="2400" dirty="0">
                <a:effectLst/>
                <a:latin typeface="+mn-ea"/>
                <a:ea typeface="+mn-ea"/>
              </a:rPr>
              <a:t>6</a:t>
            </a:r>
            <a:r>
              <a:rPr lang="zh-CN" altLang="zh-CN" sz="2400" dirty="0">
                <a:effectLst/>
                <a:latin typeface="+mn-ea"/>
                <a:ea typeface="+mn-ea"/>
              </a:rPr>
              <a:t>，</a:t>
            </a:r>
            <a:r>
              <a:rPr lang="en-US" altLang="zh-CN" sz="2400" dirty="0">
                <a:effectLst/>
                <a:latin typeface="+mn-ea"/>
                <a:ea typeface="+mn-ea"/>
              </a:rPr>
              <a:t>7</a:t>
            </a:r>
            <a:r>
              <a:rPr lang="zh-CN" altLang="zh-CN" sz="2400" dirty="0">
                <a:effectLst/>
                <a:latin typeface="+mn-ea"/>
                <a:ea typeface="+mn-ea"/>
              </a:rPr>
              <a:t>，</a:t>
            </a:r>
            <a:r>
              <a:rPr lang="en-US" altLang="zh-CN" sz="2400" dirty="0">
                <a:effectLst/>
                <a:latin typeface="+mn-ea"/>
                <a:ea typeface="+mn-ea"/>
              </a:rPr>
              <a:t>8</a:t>
            </a:r>
            <a:r>
              <a:rPr lang="zh-CN" altLang="zh-CN" sz="2400" dirty="0">
                <a:effectLst/>
                <a:latin typeface="+mn-ea"/>
                <a:ea typeface="+mn-ea"/>
              </a:rPr>
              <a:t>则表明的是一种状况，从</a:t>
            </a:r>
            <a:r>
              <a:rPr lang="en-US" altLang="zh-CN" sz="2400" dirty="0">
                <a:effectLst/>
                <a:latin typeface="+mn-ea"/>
                <a:ea typeface="+mn-ea"/>
              </a:rPr>
              <a:t>1</a:t>
            </a:r>
            <a:r>
              <a:rPr lang="zh-CN" altLang="zh-CN" sz="2400" dirty="0">
                <a:effectLst/>
                <a:latin typeface="+mn-ea"/>
                <a:ea typeface="+mn-ea"/>
              </a:rPr>
              <a:t>开始，到</a:t>
            </a:r>
            <a:r>
              <a:rPr lang="en-US" altLang="zh-CN" sz="2400" dirty="0">
                <a:effectLst/>
                <a:latin typeface="+mn-ea"/>
                <a:ea typeface="+mn-ea"/>
              </a:rPr>
              <a:t>8</a:t>
            </a:r>
            <a:r>
              <a:rPr lang="zh-CN" altLang="zh-CN" sz="2400" dirty="0">
                <a:effectLst/>
                <a:latin typeface="+mn-ea"/>
                <a:ea typeface="+mn-ea"/>
              </a:rPr>
              <a:t>结束，中间的数字则表明上一工作包的结束和下一工作包的开始。</a:t>
            </a:r>
            <a:endParaRPr lang="zh-CN" altLang="en-US" sz="2400" dirty="0">
              <a:latin typeface="+mn-ea"/>
              <a:ea typeface="+mn-ea"/>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61922" y="3938469"/>
            <a:ext cx="6668146" cy="284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6.4</a:t>
            </a:r>
            <a:r>
              <a:rPr lang="zh-CN" altLang="en-US" sz="2400" b="1" dirty="0">
                <a:solidFill>
                  <a:srgbClr val="01395C"/>
                </a:solidFill>
                <a:latin typeface="方正粗宋简体"/>
                <a:ea typeface="方正粗宋简体"/>
                <a:cs typeface="方正粗宋简体"/>
              </a:rPr>
              <a:t> 进度计划安排</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224604" y="779026"/>
            <a:ext cx="1742785"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2400" dirty="0"/>
              <a:t>关键路径法</a:t>
            </a:r>
            <a:endParaRPr lang="zh-CN" altLang="en-US" sz="2400" dirty="0"/>
          </a:p>
        </p:txBody>
      </p:sp>
      <p:sp>
        <p:nvSpPr>
          <p:cNvPr id="3" name="文本框 2"/>
          <p:cNvSpPr txBox="1"/>
          <p:nvPr/>
        </p:nvSpPr>
        <p:spPr>
          <a:xfrm>
            <a:off x="-530352" y="1557754"/>
            <a:ext cx="6750442" cy="2243050"/>
          </a:xfrm>
          <a:prstGeom prst="rect">
            <a:avLst/>
          </a:prstGeom>
          <a:noFill/>
        </p:spPr>
        <p:txBody>
          <a:bodyPr wrap="square" rtlCol="0">
            <a:spAutoFit/>
          </a:bodyPr>
          <a:lstStyle/>
          <a:p>
            <a:pPr indent="612140">
              <a:lnSpc>
                <a:spcPct val="150000"/>
              </a:lnSpc>
            </a:pPr>
            <a:r>
              <a:rPr lang="en-US" altLang="zh-CN" sz="2400" dirty="0">
                <a:latin typeface="+mn-ea"/>
                <a:ea typeface="+mn-ea"/>
              </a:rPr>
              <a:t>A+D+H+J=1+4+6+3=14</a:t>
            </a:r>
            <a:r>
              <a:rPr lang="zh-CN" altLang="en-US" sz="2400" dirty="0">
                <a:latin typeface="+mn-ea"/>
                <a:ea typeface="+mn-ea"/>
              </a:rPr>
              <a:t>（天）</a:t>
            </a:r>
            <a:endParaRPr lang="en-US" altLang="zh-CN" sz="2400" dirty="0">
              <a:latin typeface="+mn-ea"/>
              <a:ea typeface="+mn-ea"/>
            </a:endParaRPr>
          </a:p>
          <a:p>
            <a:pPr indent="612140">
              <a:lnSpc>
                <a:spcPct val="150000"/>
              </a:lnSpc>
            </a:pPr>
            <a:r>
              <a:rPr lang="en-US" altLang="zh-CN" sz="2400" dirty="0">
                <a:latin typeface="+mn-ea"/>
                <a:ea typeface="+mn-ea"/>
              </a:rPr>
              <a:t>B+E+H+J=2+5+6+3=16</a:t>
            </a:r>
            <a:r>
              <a:rPr lang="zh-CN" altLang="en-US" sz="2400" dirty="0">
                <a:latin typeface="+mn-ea"/>
                <a:ea typeface="+mn-ea"/>
              </a:rPr>
              <a:t>（天） </a:t>
            </a:r>
            <a:r>
              <a:rPr lang="zh-CN" altLang="en-US" sz="2400" dirty="0">
                <a:solidFill>
                  <a:srgbClr val="C00000"/>
                </a:solidFill>
                <a:latin typeface="+mn-ea"/>
                <a:ea typeface="+mn-ea"/>
              </a:rPr>
              <a:t>最长</a:t>
            </a:r>
            <a:endParaRPr lang="en-US" altLang="zh-CN" sz="2400" dirty="0">
              <a:solidFill>
                <a:srgbClr val="C00000"/>
              </a:solidFill>
              <a:latin typeface="+mn-ea"/>
              <a:ea typeface="+mn-ea"/>
            </a:endParaRPr>
          </a:p>
          <a:p>
            <a:pPr indent="612140">
              <a:lnSpc>
                <a:spcPct val="150000"/>
              </a:lnSpc>
            </a:pPr>
            <a:r>
              <a:rPr lang="en-US" altLang="zh-CN" sz="2400" dirty="0">
                <a:latin typeface="+mn-ea"/>
                <a:ea typeface="+mn-ea"/>
              </a:rPr>
              <a:t>B+F+J=2+4+3=9</a:t>
            </a:r>
            <a:r>
              <a:rPr lang="zh-CN" altLang="en-US" sz="2400" dirty="0">
                <a:latin typeface="+mn-ea"/>
                <a:ea typeface="+mn-ea"/>
              </a:rPr>
              <a:t>（天）</a:t>
            </a:r>
            <a:endParaRPr lang="en-US" altLang="zh-CN" sz="2400" dirty="0">
              <a:latin typeface="+mn-ea"/>
              <a:ea typeface="+mn-ea"/>
            </a:endParaRPr>
          </a:p>
          <a:p>
            <a:pPr indent="612140">
              <a:lnSpc>
                <a:spcPct val="150000"/>
              </a:lnSpc>
            </a:pPr>
            <a:r>
              <a:rPr lang="en-US" altLang="zh-CN" sz="2400" dirty="0">
                <a:latin typeface="+mn-ea"/>
                <a:ea typeface="+mn-ea"/>
              </a:rPr>
              <a:t>C+G+I+J=3+6+2=3=14</a:t>
            </a:r>
            <a:r>
              <a:rPr lang="zh-CN" altLang="en-US" sz="2400" dirty="0">
                <a:latin typeface="+mn-ea"/>
                <a:ea typeface="+mn-ea"/>
              </a:rPr>
              <a:t>（天）</a:t>
            </a:r>
            <a:endParaRPr lang="zh-CN" altLang="en-US" sz="2400" dirty="0">
              <a:latin typeface="+mn-ea"/>
              <a:ea typeface="+mn-ea"/>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13766" y="1557754"/>
            <a:ext cx="6810594" cy="2904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420624" y="4727448"/>
            <a:ext cx="11311128" cy="2241255"/>
          </a:xfrm>
          <a:prstGeom prst="rect">
            <a:avLst/>
          </a:prstGeom>
          <a:noFill/>
        </p:spPr>
        <p:txBody>
          <a:bodyPr wrap="square" rtlCol="0">
            <a:spAutoFit/>
          </a:bodyPr>
          <a:lstStyle/>
          <a:p>
            <a:pPr>
              <a:lnSpc>
                <a:spcPct val="150000"/>
              </a:lnSpc>
            </a:pPr>
            <a:r>
              <a:rPr lang="zh-CN" altLang="en-US" sz="2400" dirty="0"/>
              <a:t>关键路径是该图中</a:t>
            </a:r>
            <a:r>
              <a:rPr lang="zh-CN" altLang="en-US" sz="2400" dirty="0">
                <a:solidFill>
                  <a:srgbClr val="C00000"/>
                </a:solidFill>
              </a:rPr>
              <a:t>最长</a:t>
            </a:r>
            <a:r>
              <a:rPr lang="zh-CN" altLang="en-US" sz="2400" dirty="0"/>
              <a:t>的路径，即路径</a:t>
            </a:r>
            <a:r>
              <a:rPr lang="en-US" altLang="zh-CN" sz="2400" dirty="0"/>
              <a:t>2</a:t>
            </a:r>
            <a:r>
              <a:rPr lang="zh-CN" altLang="en-US" sz="2400" dirty="0"/>
              <a:t>，由</a:t>
            </a:r>
            <a:r>
              <a:rPr lang="en-US" altLang="zh-CN" sz="2400" dirty="0"/>
              <a:t>B</a:t>
            </a:r>
            <a:r>
              <a:rPr lang="zh-CN" altLang="en-US" sz="2400" dirty="0"/>
              <a:t>，</a:t>
            </a:r>
            <a:r>
              <a:rPr lang="en-US" altLang="zh-CN" sz="2400" dirty="0"/>
              <a:t>E</a:t>
            </a:r>
            <a:r>
              <a:rPr lang="zh-CN" altLang="en-US" sz="2400" dirty="0"/>
              <a:t>，</a:t>
            </a:r>
            <a:r>
              <a:rPr lang="en-US" altLang="zh-CN" sz="2400" dirty="0"/>
              <a:t>H</a:t>
            </a:r>
            <a:r>
              <a:rPr lang="zh-CN" altLang="en-US" sz="2400" dirty="0"/>
              <a:t>，</a:t>
            </a:r>
            <a:r>
              <a:rPr lang="en-US" altLang="zh-CN" sz="2400" dirty="0"/>
              <a:t>J</a:t>
            </a:r>
            <a:r>
              <a:rPr lang="zh-CN" altLang="en-US" sz="2400" dirty="0"/>
              <a:t>组成，历时</a:t>
            </a:r>
            <a:r>
              <a:rPr lang="en-US" altLang="zh-CN" sz="2400" dirty="0"/>
              <a:t>16</a:t>
            </a:r>
            <a:r>
              <a:rPr lang="zh-CN" altLang="en-US" sz="2400" dirty="0"/>
              <a:t>天。</a:t>
            </a:r>
            <a:endParaRPr lang="en-US" altLang="zh-CN" sz="2400" dirty="0"/>
          </a:p>
          <a:p>
            <a:pPr>
              <a:lnSpc>
                <a:spcPct val="150000"/>
              </a:lnSpc>
            </a:pPr>
            <a:r>
              <a:rPr lang="zh-CN" altLang="en-US" sz="2400" dirty="0"/>
              <a:t>关键路径反映了完成项目需要的</a:t>
            </a:r>
            <a:r>
              <a:rPr lang="zh-CN" altLang="en-US" sz="2400" dirty="0">
                <a:solidFill>
                  <a:srgbClr val="C00000"/>
                </a:solidFill>
              </a:rPr>
              <a:t>最短</a:t>
            </a:r>
            <a:r>
              <a:rPr lang="zh-CN" altLang="en-US" sz="2400" dirty="0"/>
              <a:t>时间，其所有的组成工作包的执行情况都应给与密切关注，避免项目的延期完成。</a:t>
            </a:r>
            <a:endParaRPr lang="en-US" altLang="zh-CN" sz="2400" dirty="0"/>
          </a:p>
          <a:p>
            <a:pPr>
              <a:lnSpc>
                <a:spcPct val="150000"/>
              </a:lnSpc>
            </a:pPr>
            <a:r>
              <a:rPr lang="zh-CN" altLang="en-US" sz="2400" dirty="0"/>
              <a:t>关键活动在资源管理上享有</a:t>
            </a:r>
            <a:r>
              <a:rPr lang="zh-CN" altLang="en-US" sz="2400" dirty="0">
                <a:solidFill>
                  <a:srgbClr val="C00000"/>
                </a:solidFill>
              </a:rPr>
              <a:t>最高</a:t>
            </a:r>
            <a:r>
              <a:rPr lang="zh-CN" altLang="en-US" sz="2400" dirty="0"/>
              <a:t>的优先权。</a:t>
            </a:r>
            <a:endParaRPr lang="zh-CN" altLang="en-US" sz="2400" dirty="0"/>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6.4</a:t>
            </a:r>
            <a:r>
              <a:rPr lang="zh-CN" altLang="en-US" sz="2400" b="1" dirty="0">
                <a:solidFill>
                  <a:srgbClr val="01395C"/>
                </a:solidFill>
                <a:latin typeface="方正粗宋简体"/>
                <a:ea typeface="方正粗宋简体"/>
                <a:cs typeface="方正粗宋简体"/>
              </a:rPr>
              <a:t> 进度计划安排</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224604" y="779026"/>
            <a:ext cx="1742785"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2400" dirty="0"/>
              <a:t>关键路径法</a:t>
            </a:r>
            <a:endParaRPr lang="zh-CN" altLang="en-US" sz="2400" dirty="0"/>
          </a:p>
        </p:txBody>
      </p:sp>
      <p:sp>
        <p:nvSpPr>
          <p:cNvPr id="3" name="文本框 2"/>
          <p:cNvSpPr txBox="1"/>
          <p:nvPr/>
        </p:nvSpPr>
        <p:spPr>
          <a:xfrm>
            <a:off x="788149" y="1557754"/>
            <a:ext cx="10615697" cy="5011244"/>
          </a:xfrm>
          <a:prstGeom prst="rect">
            <a:avLst/>
          </a:prstGeom>
          <a:noFill/>
        </p:spPr>
        <p:txBody>
          <a:bodyPr wrap="square" rtlCol="0">
            <a:spAutoFit/>
          </a:bodyPr>
          <a:lstStyle/>
          <a:p>
            <a:pPr marL="0" marR="0" lvl="0" indent="612140" algn="l" defTabSz="914400" rtl="0" eaLnBrk="0" fontAlgn="base" latinLnBrk="0" hangingPunct="0">
              <a:lnSpc>
                <a:spcPct val="150000"/>
              </a:lnSpc>
              <a:spcBef>
                <a:spcPct val="0"/>
              </a:spcBef>
              <a:spcAft>
                <a:spcPct val="0"/>
              </a:spcAft>
              <a:buClrTx/>
              <a:buSzTx/>
              <a:buFontTx/>
              <a:buNone/>
            </a:pPr>
            <a:r>
              <a:rPr lang="zh-CN" altLang="en-US" sz="2400" dirty="0">
                <a:solidFill>
                  <a:srgbClr val="C00000"/>
                </a:solidFill>
                <a:latin typeface="Arial" panose="020B0604020202020204" pitchFamily="34" charset="0"/>
              </a:rPr>
              <a:t>计划评审技术（</a:t>
            </a:r>
            <a:r>
              <a:rPr lang="en-US" altLang="zh-CN" sz="2400" dirty="0">
                <a:solidFill>
                  <a:srgbClr val="C00000"/>
                </a:solidFill>
                <a:latin typeface="Arial" panose="020B0604020202020204" pitchFamily="34" charset="0"/>
              </a:rPr>
              <a:t>PERT</a:t>
            </a:r>
            <a:r>
              <a:rPr lang="zh-CN" altLang="en-US" sz="2400" dirty="0">
                <a:solidFill>
                  <a:srgbClr val="C00000"/>
                </a:solidFill>
                <a:latin typeface="Arial" panose="020B0604020202020204" pitchFamily="34" charset="0"/>
              </a:rPr>
              <a:t>）</a:t>
            </a:r>
            <a:r>
              <a:rPr lang="zh-CN" altLang="en-US" sz="2400" dirty="0">
                <a:solidFill>
                  <a:srgbClr val="333333"/>
                </a:solidFill>
                <a:latin typeface="Arial" panose="020B0604020202020204" pitchFamily="34" charset="0"/>
              </a:rPr>
              <a:t>和</a:t>
            </a:r>
            <a:r>
              <a:rPr lang="zh-CN" altLang="en-US" sz="2400" dirty="0">
                <a:solidFill>
                  <a:srgbClr val="C00000"/>
                </a:solidFill>
                <a:latin typeface="Arial" panose="020B0604020202020204" pitchFamily="34" charset="0"/>
              </a:rPr>
              <a:t>关键路径法（</a:t>
            </a:r>
            <a:r>
              <a:rPr lang="en-US" altLang="zh-CN" sz="2400" dirty="0">
                <a:solidFill>
                  <a:srgbClr val="C00000"/>
                </a:solidFill>
                <a:latin typeface="Arial" panose="020B0604020202020204" pitchFamily="34" charset="0"/>
              </a:rPr>
              <a:t>CPM</a:t>
            </a:r>
            <a:r>
              <a:rPr lang="zh-CN" altLang="en-US" sz="2400" dirty="0">
                <a:solidFill>
                  <a:srgbClr val="C00000"/>
                </a:solidFill>
                <a:latin typeface="Arial" panose="020B0604020202020204" pitchFamily="34" charset="0"/>
              </a:rPr>
              <a:t>）</a:t>
            </a:r>
            <a:r>
              <a:rPr lang="zh-CN" altLang="en-US" sz="2400" dirty="0">
                <a:solidFill>
                  <a:srgbClr val="333333"/>
                </a:solidFill>
                <a:latin typeface="Arial" panose="020B0604020202020204" pitchFamily="34" charset="0"/>
              </a:rPr>
              <a:t>基本上一样，唯一的区别是计划评审技术的每个活动的工期不是确定的，而是包括了</a:t>
            </a:r>
            <a:r>
              <a:rPr lang="zh-CN" altLang="en-US" sz="2400" dirty="0">
                <a:solidFill>
                  <a:srgbClr val="C00000"/>
                </a:solidFill>
                <a:latin typeface="Arial" panose="020B0604020202020204" pitchFamily="34" charset="0"/>
              </a:rPr>
              <a:t>悲观值</a:t>
            </a:r>
            <a:r>
              <a:rPr lang="zh-CN" altLang="en-US" sz="2400" dirty="0">
                <a:solidFill>
                  <a:srgbClr val="333333"/>
                </a:solidFill>
                <a:latin typeface="Arial" panose="020B0604020202020204" pitchFamily="34" charset="0"/>
              </a:rPr>
              <a:t>，</a:t>
            </a:r>
            <a:r>
              <a:rPr lang="zh-CN" altLang="en-US" sz="2400" dirty="0">
                <a:solidFill>
                  <a:srgbClr val="C00000"/>
                </a:solidFill>
                <a:latin typeface="Arial" panose="020B0604020202020204" pitchFamily="34" charset="0"/>
              </a:rPr>
              <a:t>乐观值</a:t>
            </a:r>
            <a:r>
              <a:rPr lang="zh-CN" altLang="en-US" sz="2400" dirty="0">
                <a:solidFill>
                  <a:srgbClr val="333333"/>
                </a:solidFill>
                <a:latin typeface="Arial" panose="020B0604020202020204" pitchFamily="34" charset="0"/>
              </a:rPr>
              <a:t>和</a:t>
            </a:r>
            <a:r>
              <a:rPr lang="zh-CN" altLang="en-US" sz="2400" dirty="0">
                <a:solidFill>
                  <a:srgbClr val="C00000"/>
                </a:solidFill>
                <a:latin typeface="Arial" panose="020B0604020202020204" pitchFamily="34" charset="0"/>
              </a:rPr>
              <a:t>最有可能值</a:t>
            </a:r>
            <a:r>
              <a:rPr lang="zh-CN" altLang="en-US" sz="2400" dirty="0">
                <a:solidFill>
                  <a:srgbClr val="333333"/>
                </a:solidFill>
                <a:latin typeface="Arial" panose="020B0604020202020204" pitchFamily="34" charset="0"/>
              </a:rPr>
              <a:t>三个</a:t>
            </a:r>
            <a:r>
              <a:rPr lang="zh-CN" altLang="en-US" sz="2400">
                <a:solidFill>
                  <a:srgbClr val="333333"/>
                </a:solidFill>
                <a:latin typeface="Arial" panose="020B0604020202020204" pitchFamily="34" charset="0"/>
              </a:rPr>
              <a:t>值。</a:t>
            </a:r>
            <a:endParaRPr lang="en-US" altLang="zh-CN" sz="2400" dirty="0">
              <a:solidFill>
                <a:srgbClr val="333333"/>
              </a:solidFill>
              <a:latin typeface="Arial" panose="020B0604020202020204" pitchFamily="34" charset="0"/>
            </a:endParaRPr>
          </a:p>
          <a:p>
            <a:pPr marL="0" marR="0" lvl="0" indent="612140" algn="l" defTabSz="914400" rtl="0" eaLnBrk="0" fontAlgn="base" latinLnBrk="0" hangingPunct="0">
              <a:lnSpc>
                <a:spcPct val="150000"/>
              </a:lnSpc>
              <a:spcBef>
                <a:spcPct val="0"/>
              </a:spcBef>
              <a:spcAft>
                <a:spcPct val="0"/>
              </a:spcAft>
              <a:buClrTx/>
              <a:buSzTx/>
              <a:buFontTx/>
              <a:buNone/>
            </a:pPr>
            <a:r>
              <a:rPr lang="zh-CN" altLang="zh-CN" sz="2400" dirty="0">
                <a:solidFill>
                  <a:srgbClr val="333333"/>
                </a:solidFill>
                <a:latin typeface="Arial" panose="020B0604020202020204" pitchFamily="34" charset="0"/>
              </a:rPr>
              <a:t>关键路径法是用寻找关键路径及其时间长度来确定项目的完成日期与总工期的方法。</a:t>
            </a:r>
            <a:endParaRPr lang="zh-CN" altLang="zh-CN" sz="2400" dirty="0">
              <a:solidFill>
                <a:srgbClr val="333333"/>
              </a:solidFill>
              <a:latin typeface="Arial" panose="020B0604020202020204" pitchFamily="34" charset="0"/>
            </a:endParaRPr>
          </a:p>
          <a:p>
            <a:pPr marL="0" marR="0" lvl="0" indent="612140" algn="l" defTabSz="914400" rtl="0" eaLnBrk="0" fontAlgn="base" latinLnBrk="0" hangingPunct="0">
              <a:lnSpc>
                <a:spcPct val="150000"/>
              </a:lnSpc>
              <a:spcBef>
                <a:spcPct val="0"/>
              </a:spcBef>
              <a:spcAft>
                <a:spcPct val="0"/>
              </a:spcAft>
              <a:buClrTx/>
              <a:buSzTx/>
              <a:buFontTx/>
              <a:buNone/>
            </a:pPr>
            <a:r>
              <a:rPr lang="zh-CN" altLang="zh-CN" sz="2400" dirty="0">
                <a:solidFill>
                  <a:srgbClr val="333333"/>
                </a:solidFill>
                <a:latin typeface="Arial" panose="020B0604020202020204" pitchFamily="34" charset="0"/>
              </a:rPr>
              <a:t>根据绘制方法的不同，关键路径法可以分为两种：即</a:t>
            </a:r>
            <a:r>
              <a:rPr lang="zh-CN" altLang="zh-CN" sz="2400" dirty="0">
                <a:solidFill>
                  <a:srgbClr val="C00000"/>
                </a:solidFill>
                <a:latin typeface="Arial" panose="020B0604020202020204" pitchFamily="34" charset="0"/>
              </a:rPr>
              <a:t>箭线图（ADM）</a:t>
            </a:r>
            <a:r>
              <a:rPr lang="zh-CN" altLang="zh-CN" sz="2400" dirty="0">
                <a:solidFill>
                  <a:srgbClr val="333333"/>
                </a:solidFill>
                <a:latin typeface="Arial" panose="020B0604020202020204" pitchFamily="34" charset="0"/>
              </a:rPr>
              <a:t>和</a:t>
            </a:r>
            <a:r>
              <a:rPr lang="zh-CN" altLang="zh-CN" sz="2400" dirty="0">
                <a:solidFill>
                  <a:srgbClr val="C00000"/>
                </a:solidFill>
                <a:latin typeface="Arial" panose="020B0604020202020204" pitchFamily="34" charset="0"/>
              </a:rPr>
              <a:t>前导图（PDM）</a:t>
            </a:r>
            <a:r>
              <a:rPr lang="zh-CN" altLang="zh-CN" sz="2400" dirty="0">
                <a:solidFill>
                  <a:srgbClr val="333333"/>
                </a:solidFill>
                <a:latin typeface="Arial" panose="020B0604020202020204" pitchFamily="34" charset="0"/>
              </a:rPr>
              <a:t>。</a:t>
            </a:r>
            <a:endParaRPr lang="zh-CN" altLang="zh-CN" sz="2400" dirty="0">
              <a:solidFill>
                <a:srgbClr val="333333"/>
              </a:solidFill>
              <a:latin typeface="Arial" panose="020B0604020202020204" pitchFamily="34" charset="0"/>
            </a:endParaRPr>
          </a:p>
          <a:p>
            <a:pPr marL="0" marR="0" lvl="0" indent="612140" algn="l" defTabSz="914400" rtl="0" eaLnBrk="0" fontAlgn="base" latinLnBrk="0" hangingPunct="0">
              <a:lnSpc>
                <a:spcPct val="150000"/>
              </a:lnSpc>
              <a:spcBef>
                <a:spcPct val="0"/>
              </a:spcBef>
              <a:spcAft>
                <a:spcPct val="0"/>
              </a:spcAft>
              <a:buClrTx/>
              <a:buSzTx/>
              <a:buFontTx/>
              <a:buNone/>
            </a:pPr>
            <a:r>
              <a:rPr lang="zh-CN" altLang="zh-CN" sz="2400" dirty="0">
                <a:solidFill>
                  <a:srgbClr val="333333"/>
                </a:solidFill>
                <a:latin typeface="Arial" panose="020B0604020202020204" pitchFamily="34" charset="0"/>
              </a:rPr>
              <a:t>箭线图（ADM）法又称为</a:t>
            </a:r>
            <a:r>
              <a:rPr lang="zh-CN" altLang="zh-CN" sz="2400" dirty="0">
                <a:solidFill>
                  <a:srgbClr val="136EC2"/>
                </a:solidFill>
                <a:latin typeface="Arial" panose="020B0604020202020204" pitchFamily="34" charset="0"/>
              </a:rPr>
              <a:t>双代号网络图</a:t>
            </a:r>
            <a:r>
              <a:rPr lang="zh-CN" altLang="zh-CN" sz="2400" dirty="0">
                <a:solidFill>
                  <a:srgbClr val="333333"/>
                </a:solidFill>
                <a:latin typeface="Arial" panose="020B0604020202020204" pitchFamily="34" charset="0"/>
              </a:rPr>
              <a:t>法</a:t>
            </a:r>
            <a:endParaRPr lang="en-US" altLang="zh-CN" sz="2400" dirty="0">
              <a:solidFill>
                <a:srgbClr val="333333"/>
              </a:solidFill>
              <a:latin typeface="Arial" panose="020B0604020202020204" pitchFamily="34" charset="0"/>
            </a:endParaRPr>
          </a:p>
          <a:p>
            <a:pPr marL="0" marR="0" lvl="0" indent="612140" algn="l" defTabSz="914400" rtl="0" eaLnBrk="0" fontAlgn="base" latinLnBrk="0" hangingPunct="0">
              <a:lnSpc>
                <a:spcPct val="150000"/>
              </a:lnSpc>
              <a:spcBef>
                <a:spcPct val="0"/>
              </a:spcBef>
              <a:spcAft>
                <a:spcPct val="0"/>
              </a:spcAft>
              <a:buClrTx/>
              <a:buSzTx/>
              <a:buFontTx/>
              <a:buNone/>
            </a:pPr>
            <a:r>
              <a:rPr lang="zh-CN" altLang="en-US" sz="2400" b="0" i="0" u="none" strike="noStrike" dirty="0">
                <a:solidFill>
                  <a:srgbClr val="333333"/>
                </a:solidFill>
                <a:effectLst/>
                <a:latin typeface="Arial" panose="020B0604020202020204" pitchFamily="34" charset="0"/>
              </a:rPr>
              <a:t>前导图（</a:t>
            </a:r>
            <a:r>
              <a:rPr lang="en-US" altLang="zh-CN" sz="2400" b="0" i="0" u="none" strike="noStrike" dirty="0">
                <a:solidFill>
                  <a:srgbClr val="333333"/>
                </a:solidFill>
                <a:effectLst/>
                <a:latin typeface="Arial" panose="020B0604020202020204" pitchFamily="34" charset="0"/>
              </a:rPr>
              <a:t>PDM</a:t>
            </a:r>
            <a:r>
              <a:rPr lang="zh-CN" altLang="en-US" sz="2400" b="0" i="0" u="none" strike="noStrike" dirty="0">
                <a:solidFill>
                  <a:srgbClr val="333333"/>
                </a:solidFill>
                <a:effectLst/>
                <a:latin typeface="Arial" panose="020B0604020202020204" pitchFamily="34" charset="0"/>
              </a:rPr>
              <a:t>）法又称为</a:t>
            </a:r>
            <a:r>
              <a:rPr lang="zh-CN" altLang="en-US" sz="2400" b="0" i="0" u="none" strike="noStrike" dirty="0">
                <a:solidFill>
                  <a:srgbClr val="136EC2"/>
                </a:solidFill>
                <a:effectLst/>
                <a:latin typeface="Arial" panose="020B0604020202020204" pitchFamily="34" charset="0"/>
              </a:rPr>
              <a:t>单代号网络图</a:t>
            </a:r>
            <a:r>
              <a:rPr lang="zh-CN" altLang="en-US" sz="2400" b="0" i="0" u="none" strike="noStrike" dirty="0">
                <a:solidFill>
                  <a:srgbClr val="333333"/>
                </a:solidFill>
                <a:effectLst/>
                <a:latin typeface="Arial" panose="020B0604020202020204" pitchFamily="34" charset="0"/>
              </a:rPr>
              <a:t>法</a:t>
            </a:r>
            <a:endParaRPr lang="zh-CN" altLang="en-US" sz="2400" dirty="0"/>
          </a:p>
        </p:txBody>
      </p:sp>
    </p:spTree>
  </p:cSld>
  <p:clrMapOvr>
    <a:masterClrMapping/>
  </p:clrMapOvr>
  <p:transition spd="slow"/>
</p:sld>
</file>

<file path=ppt/tags/tag1.xml><?xml version="1.0" encoding="utf-8"?>
<p:tagLst xmlns:p="http://schemas.openxmlformats.org/presentationml/2006/main">
  <p:tag name="KSO_WM_UNIT_TABLE_BEAUTIFY" val="smartTable{58b74ed4-07c7-49eb-abe0-1bcf751f4fe9}"/>
</p:tagLst>
</file>

<file path=ppt/tags/tag2.xml><?xml version="1.0" encoding="utf-8"?>
<p:tagLst xmlns:p="http://schemas.openxmlformats.org/presentationml/2006/main">
  <p:tag name="KSO_WM_UNIT_TABLE_BEAUTIFY" val="smartTable{eb0290c6-99cd-47ae-a362-cade42511258}"/>
  <p:tag name="TABLE_ENDDRAG_ORIGIN_RECT" val="862*426"/>
  <p:tag name="TABLE_ENDDRAG_RECT" val="52*172*862*426"/>
</p:tagLst>
</file>

<file path=ppt/tags/tag3.xml><?xml version="1.0" encoding="utf-8"?>
<p:tagLst xmlns:p="http://schemas.openxmlformats.org/presentationml/2006/main">
  <p:tag name="KSO_WPP_MARK_KEY" val="9cc72721-c5ba-464a-aaff-1af53be0b9f3"/>
  <p:tag name="COMMONDATA" val="eyJoZGlkIjoiZmJmZTY0MmZjYjFiMjgwOTI0Y2I4NTdjZmUxMzMyMGM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Impact"/>
        <a:ea typeface="方正粗宋简体"/>
        <a:cs typeface="方正粗宋简体"/>
      </a:majorFont>
      <a:minorFont>
        <a:latin typeface="Impac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Impact"/>
        <a:ea typeface="方正粗宋简体"/>
        <a:cs typeface="方正粗宋简体"/>
      </a:majorFont>
      <a:minorFont>
        <a:latin typeface="Impac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7894</Words>
  <Application>WPS 演示</Application>
  <PresentationFormat>自定义</PresentationFormat>
  <Paragraphs>1152</Paragraphs>
  <Slides>57</Slides>
  <Notes>19</Notes>
  <HiddenSlides>0</HiddenSlides>
  <MMClips>0</MMClips>
  <ScaleCrop>false</ScaleCrop>
  <HeadingPairs>
    <vt:vector size="8" baseType="variant">
      <vt:variant>
        <vt:lpstr>已用的字体</vt:lpstr>
      </vt:variant>
      <vt:variant>
        <vt:i4>30</vt:i4>
      </vt:variant>
      <vt:variant>
        <vt:lpstr>主题</vt:lpstr>
      </vt:variant>
      <vt:variant>
        <vt:i4>3</vt:i4>
      </vt:variant>
      <vt:variant>
        <vt:lpstr>嵌入 OLE 服务器</vt:lpstr>
      </vt:variant>
      <vt:variant>
        <vt:i4>6</vt:i4>
      </vt:variant>
      <vt:variant>
        <vt:lpstr>幻灯片标题</vt:lpstr>
      </vt:variant>
      <vt:variant>
        <vt:i4>57</vt:i4>
      </vt:variant>
    </vt:vector>
  </HeadingPairs>
  <TitlesOfParts>
    <vt:vector size="96" baseType="lpstr">
      <vt:lpstr>Arial</vt:lpstr>
      <vt:lpstr>宋体</vt:lpstr>
      <vt:lpstr>Wingdings</vt:lpstr>
      <vt:lpstr>Impact</vt:lpstr>
      <vt:lpstr>微软雅黑</vt:lpstr>
      <vt:lpstr>等线 Light</vt:lpstr>
      <vt:lpstr>方正粗宋简体</vt:lpstr>
      <vt:lpstr>Calibri</vt:lpstr>
      <vt:lpstr>楷体_GB2312</vt:lpstr>
      <vt:lpstr>Arial Narrow</vt:lpstr>
      <vt:lpstr>Monotype Sorts</vt:lpstr>
      <vt:lpstr>Times New Roman</vt:lpstr>
      <vt:lpstr>新宋体</vt:lpstr>
      <vt:lpstr>Perpetua</vt:lpstr>
      <vt:lpstr>Arial Black</vt:lpstr>
      <vt:lpstr>华文楷体</vt:lpstr>
      <vt:lpstr>楷体</vt:lpstr>
      <vt:lpstr>Tahoma</vt:lpstr>
      <vt:lpstr>幼圆</vt:lpstr>
      <vt:lpstr>黑体</vt:lpstr>
      <vt:lpstr>Arial Unicode MS</vt:lpstr>
      <vt:lpstr>隶书</vt:lpstr>
      <vt:lpstr>楷体_GB2312</vt:lpstr>
      <vt:lpstr>Symbol</vt:lpstr>
      <vt:lpstr>Verdana</vt:lpstr>
      <vt:lpstr>Cambria Math</vt:lpstr>
      <vt:lpstr>Arial</vt:lpstr>
      <vt:lpstr>Wingdings</vt:lpstr>
      <vt:lpstr>等线</vt:lpstr>
      <vt:lpstr>方正粗宋简体</vt:lpstr>
      <vt:lpstr>自定义设计方案</vt:lpstr>
      <vt:lpstr>1_Office 主题</vt:lpstr>
      <vt:lpstr>2_Office 主题</vt:lpstr>
      <vt:lpstr>Paint.Picture</vt:lpstr>
      <vt:lpstr>Equation.3</vt:lpstr>
      <vt:lpstr>Equation.3</vt:lpstr>
      <vt:lpstr>Equation.3</vt:lpstr>
      <vt:lpstr>Equation.3</vt:lpstr>
      <vt:lpstr>Equation.3</vt:lpstr>
      <vt:lpstr>PowerPoint 演示文稿</vt:lpstr>
      <vt:lpstr>PowerPoint 演示文稿</vt:lpstr>
      <vt:lpstr>PowerPoint 演示文稿</vt:lpstr>
      <vt:lpstr>活动之间的逻辑关系</vt:lpstr>
      <vt:lpstr>网络图</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关键路径法（CPM） </vt:lpstr>
      <vt:lpstr>PowerPoint 演示文稿</vt:lpstr>
      <vt:lpstr>名词解释</vt:lpstr>
      <vt:lpstr>名词解释</vt:lpstr>
      <vt:lpstr>PowerPoint 演示文稿</vt:lpstr>
      <vt:lpstr>Tahoma 36 pt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邵浩</dc:creator>
  <cp:keywords>邵浩</cp:keywords>
  <cp:lastModifiedBy>蓝数码</cp:lastModifiedBy>
  <cp:revision>798</cp:revision>
  <dcterms:created xsi:type="dcterms:W3CDTF">2014-04-12T07:42:00Z</dcterms:created>
  <dcterms:modified xsi:type="dcterms:W3CDTF">2023-11-08T02:20:01Z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6B82A7BC3C68432CBA0C6306E3A99976_12</vt:lpwstr>
  </property>
</Properties>
</file>