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0" r:id="rId3"/>
    <p:sldMasterId id="2147483662" r:id="rId4"/>
  </p:sldMasterIdLst>
  <p:notesMasterIdLst>
    <p:notesMasterId r:id="rId7"/>
  </p:notesMasterIdLst>
  <p:handoutMasterIdLst>
    <p:handoutMasterId r:id="rId45"/>
  </p:handoutMasterIdLst>
  <p:sldIdLst>
    <p:sldId id="256" r:id="rId5"/>
    <p:sldId id="610" r:id="rId6"/>
    <p:sldId id="722" r:id="rId8"/>
    <p:sldId id="723" r:id="rId9"/>
    <p:sldId id="724" r:id="rId10"/>
    <p:sldId id="725" r:id="rId11"/>
    <p:sldId id="726" r:id="rId12"/>
    <p:sldId id="738" r:id="rId13"/>
    <p:sldId id="739" r:id="rId14"/>
    <p:sldId id="740" r:id="rId15"/>
    <p:sldId id="742" r:id="rId16"/>
    <p:sldId id="741" r:id="rId17"/>
    <p:sldId id="727" r:id="rId18"/>
    <p:sldId id="743" r:id="rId19"/>
    <p:sldId id="744" r:id="rId20"/>
    <p:sldId id="745" r:id="rId21"/>
    <p:sldId id="746" r:id="rId22"/>
    <p:sldId id="732" r:id="rId23"/>
    <p:sldId id="747" r:id="rId24"/>
    <p:sldId id="748" r:id="rId25"/>
    <p:sldId id="749" r:id="rId26"/>
    <p:sldId id="750" r:id="rId27"/>
    <p:sldId id="736" r:id="rId28"/>
    <p:sldId id="751" r:id="rId29"/>
    <p:sldId id="752" r:id="rId30"/>
    <p:sldId id="753" r:id="rId31"/>
    <p:sldId id="754" r:id="rId32"/>
    <p:sldId id="758" r:id="rId33"/>
    <p:sldId id="755" r:id="rId34"/>
    <p:sldId id="756" r:id="rId35"/>
    <p:sldId id="757" r:id="rId36"/>
    <p:sldId id="759" r:id="rId37"/>
    <p:sldId id="760" r:id="rId38"/>
    <p:sldId id="761" r:id="rId39"/>
    <p:sldId id="762" r:id="rId40"/>
    <p:sldId id="763" r:id="rId41"/>
    <p:sldId id="733" r:id="rId42"/>
    <p:sldId id="728" r:id="rId43"/>
    <p:sldId id="735" r:id="rId44"/>
  </p:sldIdLst>
  <p:sldSz cx="12192000" cy="7560945"/>
  <p:notesSz cx="6858000" cy="9144000"/>
  <p:custDataLst>
    <p:tags r:id="rId50"/>
  </p:custDataLst>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489" userDrawn="1">
          <p15:clr>
            <a:srgbClr val="A4A3A4"/>
          </p15:clr>
        </p15:guide>
        <p15:guide id="2" pos="384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磊" initials="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0F977"/>
    <a:srgbClr val="FF9900"/>
    <a:srgbClr val="0066CC"/>
    <a:srgbClr val="0000FF"/>
    <a:srgbClr val="DBD600"/>
    <a:srgbClr val="8BBF20"/>
    <a:srgbClr val="A50021"/>
    <a:srgbClr val="038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98" autoAdjust="0"/>
    <p:restoredTop sz="85673" autoAdjust="0"/>
  </p:normalViewPr>
  <p:slideViewPr>
    <p:cSldViewPr snapToGrid="0" snapToObjects="1" showGuides="1">
      <p:cViewPr varScale="1">
        <p:scale>
          <a:sx n="89" d="100"/>
          <a:sy n="89" d="100"/>
        </p:scale>
        <p:origin x="1650" y="84"/>
      </p:cViewPr>
      <p:guideLst>
        <p:guide orient="horz" pos="2489"/>
        <p:guide pos="38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0" Type="http://schemas.openxmlformats.org/officeDocument/2006/relationships/tags" Target="tags/tag2.xml"/><Relationship Id="rId5" Type="http://schemas.openxmlformats.org/officeDocument/2006/relationships/slide" Target="slides/slide1.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vl1pPr>
          </a:lstStyle>
          <a:p>
            <a:pPr>
              <a:defRPr/>
            </a:pPr>
            <a:fld id="{3E19670D-C869-4A5D-A780-D41936B3781A}" type="slidenum">
              <a:rPr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atin typeface="Calibri" panose="020F0502020204030204" pitchFamily="34" charset="0"/>
                <a:ea typeface="宋体" panose="02010600030101010101" pitchFamily="2" charset="-122"/>
              </a:defRPr>
            </a:lvl1pPr>
          </a:lstStyle>
          <a:p>
            <a:pPr>
              <a:defRPr/>
            </a:pPr>
            <a:fld id="{9ABF73B3-AB42-43BE-BB63-9452E30E81D8}" type="slidenum">
              <a:rPr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a:solidFill>
              <a:srgbClr val="000000"/>
            </a:solidFill>
            <a:miter lim="800000"/>
          </a:ln>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endParaRPr lang="en-US" altLang="zh-CN" dirty="0"/>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4985577-8461-4E40-A0A2-C7E9F9E56771}" type="slidenum">
              <a:rPr altLang="en-US" smtClean="0">
                <a:latin typeface="Calibri" panose="020F0502020204030204" pitchFamily="34" charset="0"/>
                <a:ea typeface="宋体" panose="02010600030101010101" pitchFamily="2" charset="-122"/>
              </a:rPr>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dirty="0"/>
              <a:t>计时法：确定在项目整个生命周期中实施风险管理过程的次数和频率，并确定应纳入项目进度计划的风险管理活动。</a:t>
            </a:r>
            <a:endParaRPr lang="en-US" altLang="zh-CN" dirty="0"/>
          </a:p>
          <a:p>
            <a:pPr eaLnBrk="1" hangingPunct="1">
              <a:buFont typeface="Monotype Sorts" charset="0"/>
              <a:buNone/>
            </a:pPr>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dirty="0"/>
              <a:t>计时法：确定在项目整个生命周期中实施风险管理过程的次数和频率，并确定应纳入项目进度计划的风险管理活动。</a:t>
            </a:r>
            <a:endParaRPr lang="en-US" altLang="zh-CN" dirty="0"/>
          </a:p>
          <a:p>
            <a:pPr eaLnBrk="1" hangingPunct="1">
              <a:buFont typeface="Monotype Sorts" charset="0"/>
              <a:buNone/>
            </a:pP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38250"/>
            <a:ext cx="9144000" cy="2632075"/>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971925"/>
            <a:ext cx="914400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AF88477-48E1-4CF0-8EB9-142E499F754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FD1C6A-13D5-4BC6-A7E2-4B62A58330D4}"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C31440A-D864-41DC-B390-C88EBD02AB7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FD14F6-A94F-4B13-B731-9423223642F6}"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884363"/>
            <a:ext cx="10515600" cy="3146425"/>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5059363"/>
            <a:ext cx="105156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FFFB1509-6FBC-4C48-B835-222CC488B31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FA9CEB8-CD95-423D-BCDB-CEEDD13B9761}"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355C352-2F5B-4754-9125-2F91B0AA4EC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C4DC7C9-DB16-4362-B62B-EC67B9D20B38}"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403225"/>
            <a:ext cx="10515600" cy="146050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854200"/>
            <a:ext cx="5157787"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762250"/>
            <a:ext cx="5157787"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854200"/>
            <a:ext cx="5183188"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762250"/>
            <a:ext cx="5183188"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fld id="{ABF9E5F5-4F3C-4614-A20C-3DF1A6632E2A}"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890CA61-C042-4080-BBF8-D021CCA4086C}"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8424AE9-F93C-48C5-87A1-E423B835A9A1}"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96BF27D-831E-4312-BB77-8E0F1FC072FF}"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E530459-E9BD-452C-9837-2C09CDA8452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5A8566B-B98C-433A-A05B-3B09FBA20BBC}"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1089025"/>
            <a:ext cx="6172200"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A263C05-7030-494B-86A6-50B10EEB1B7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AD7715-F44A-4019-83F4-2F755408C5A8}"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1089025"/>
            <a:ext cx="6172200" cy="537368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A1B0C7C4-D140-417F-9901-FDB328CAE89E}"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70C33FD-8D31-44BA-84BB-39A9F3B21023}"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FBAB5F6-AEBA-4CAF-BAF6-C7FA61E49E9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018F51-F472-44A8-94EB-976086C94C6B}"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403225"/>
            <a:ext cx="2628900" cy="6407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403225"/>
            <a:ext cx="7734300" cy="640715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453F553-164D-4CA1-B5EB-33509E03399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486E0E-3EF3-4F79-BC03-ADB2ACD30997}"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A8AD41E0-BECD-40E0-9031-124EEDB14C5A}" type="slidenum">
              <a:rPr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48FCA3E5-9AB8-4531-B86F-EBECED5A7283}" type="slidenum">
              <a:rPr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lang="zh-CN" altLang="en-US" dirty="0"/>
              <a:t>单击此处编辑母版标题样式</a:t>
            </a:r>
            <a:endParaRPr lang="en-US" dirty="0"/>
          </a:p>
        </p:txBody>
      </p:sp>
      <p:sp>
        <p:nvSpPr>
          <p:cNvPr id="27" name="内容占位符 26"/>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日期占位符 24"/>
          <p:cNvSpPr>
            <a:spLocks noGrp="1"/>
          </p:cNvSpPr>
          <p:nvPr>
            <p:ph type="dt" sz="half" idx="10"/>
          </p:nvPr>
        </p:nvSpPr>
        <p:spPr>
          <a:xfrm>
            <a:off x="0" y="0"/>
            <a:ext cx="0" cy="0"/>
          </a:xfrm>
        </p:spPr>
        <p:txBody>
          <a:bodyPr/>
          <a:lstStyle>
            <a:lvl1pPr>
              <a:defRPr/>
            </a:lvl1pPr>
          </a:lstStyle>
          <a:p>
            <a:pPr>
              <a:defRPr/>
            </a:pPr>
            <a:fld id="{EFC4D294-EBF5-4C94-B9F9-98355490C3CB}" type="datetimeFigureOut">
              <a:rPr lang="zh-CN" altLang="en-US"/>
            </a:fld>
            <a:endParaRPr lang="zh-CN" altLang="en-US"/>
          </a:p>
        </p:txBody>
      </p:sp>
      <p:sp>
        <p:nvSpPr>
          <p:cNvPr id="5" name="页脚占位符 18"/>
          <p:cNvSpPr>
            <a:spLocks noGrp="1"/>
          </p:cNvSpPr>
          <p:nvPr>
            <p:ph type="ftr" sz="quarter" idx="11"/>
          </p:nvPr>
        </p:nvSpPr>
        <p:spPr>
          <a:xfrm>
            <a:off x="4775200" y="84138"/>
            <a:ext cx="3860800" cy="319087"/>
          </a:xfrm>
        </p:spPr>
        <p:txBody>
          <a:bodyPr/>
          <a:lstStyle>
            <a:lvl1pPr>
              <a:defRPr/>
            </a:lvl1pPr>
          </a:lstStyle>
          <a:p>
            <a:pPr>
              <a:defRPr/>
            </a:pPr>
            <a:endParaRPr lang="zh-CN" altLang="en-US"/>
          </a:p>
        </p:txBody>
      </p:sp>
      <p:sp>
        <p:nvSpPr>
          <p:cNvPr id="6" name="灯片编号占位符 15"/>
          <p:cNvSpPr>
            <a:spLocks noGrp="1"/>
          </p:cNvSpPr>
          <p:nvPr>
            <p:ph type="sldNum" sz="quarter" idx="12"/>
          </p:nvPr>
        </p:nvSpPr>
        <p:spPr>
          <a:xfrm>
            <a:off x="10972800" y="7137400"/>
            <a:ext cx="1011238" cy="273050"/>
          </a:xfrm>
        </p:spPr>
        <p:txBody>
          <a:bodyPr/>
          <a:lstStyle>
            <a:lvl1pPr>
              <a:defRPr/>
            </a:lvl1pPr>
          </a:lstStyle>
          <a:p>
            <a:pPr>
              <a:defRPr/>
            </a:pPr>
            <a:fld id="{E6407E92-E445-4657-B64C-BE059AB20FBD}" type="slidenum">
              <a:rPr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403225"/>
            <a:ext cx="105156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2012950"/>
            <a:ext cx="105156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7008813"/>
            <a:ext cx="2743200" cy="40163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D24FCC2-23DF-4ADE-9E07-C5F5D3262469}" type="datetimeFigureOut">
              <a:rPr lang="zh-CN" altLang="en-US"/>
            </a:fld>
            <a:endParaRPr lang="zh-CN" altLang="en-US"/>
          </a:p>
        </p:txBody>
      </p:sp>
      <p:sp>
        <p:nvSpPr>
          <p:cNvPr id="5" name="页脚占位符 4"/>
          <p:cNvSpPr>
            <a:spLocks noGrp="1"/>
          </p:cNvSpPr>
          <p:nvPr>
            <p:ph type="ftr" sz="quarter" idx="3"/>
          </p:nvPr>
        </p:nvSpPr>
        <p:spPr>
          <a:xfrm>
            <a:off x="4038600" y="7008813"/>
            <a:ext cx="4114800"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7008813"/>
            <a:ext cx="2743200" cy="40163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56F0DA-45B5-44A3-9304-266A7B263D4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ECA731D4-A08D-45EE-9232-64CC33821BED}"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BE1E0957-E904-4AFC-A12B-0BC2BB8162F8}"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4.xml"/><Relationship Id="rId2" Type="http://schemas.openxmlformats.org/officeDocument/2006/relationships/image" Target="../media/image6.pn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4.xml"/><Relationship Id="rId2" Type="http://schemas.openxmlformats.org/officeDocument/2006/relationships/image" Target="../media/image9.png"/><Relationship Id="rId1" Type="http://schemas.openxmlformats.org/officeDocument/2006/relationships/tags" Target="../tags/tag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70" name="矩形 1" hidden="1"/>
          <p:cNvSpPr>
            <a:spLocks noChangeArrowheads="1"/>
          </p:cNvSpPr>
          <p:nvPr/>
        </p:nvSpPr>
        <p:spPr bwMode="auto">
          <a:xfrm>
            <a:off x="-11113" y="4502150"/>
            <a:ext cx="12203113" cy="2192338"/>
          </a:xfrm>
          <a:custGeom>
            <a:avLst/>
            <a:gdLst>
              <a:gd name="T0" fmla="*/ 11430 w 12202851"/>
              <a:gd name="T1" fmla="*/ 0 h 1987781"/>
              <a:gd name="T2" fmla="*/ 12208423 w 12202851"/>
              <a:gd name="T3" fmla="*/ 5991325 h 1987781"/>
              <a:gd name="T4" fmla="*/ 12198031 w 12202851"/>
              <a:gd name="T5" fmla="*/ 18913193 h 1987781"/>
              <a:gd name="T6" fmla="*/ 0 w 12202851"/>
              <a:gd name="T7" fmla="*/ 18913193 h 1987781"/>
              <a:gd name="T8" fmla="*/ 11430 w 12202851"/>
              <a:gd name="T9" fmla="*/ 0 h 1987781"/>
              <a:gd name="T10" fmla="*/ 0 60000 65536"/>
              <a:gd name="T11" fmla="*/ 0 60000 65536"/>
              <a:gd name="T12" fmla="*/ 0 60000 65536"/>
              <a:gd name="T13" fmla="*/ 0 60000 65536"/>
              <a:gd name="T14" fmla="*/ 0 60000 65536"/>
              <a:gd name="T15" fmla="*/ 0 w 12202851"/>
              <a:gd name="T16" fmla="*/ 0 h 1987781"/>
              <a:gd name="T17" fmla="*/ 12202851 w 12202851"/>
              <a:gd name="T18" fmla="*/ 1987781 h 1987781"/>
            </a:gdLst>
            <a:ahLst/>
            <a:cxnLst>
              <a:cxn ang="T10">
                <a:pos x="T0" y="T1"/>
              </a:cxn>
              <a:cxn ang="T11">
                <a:pos x="T2" y="T3"/>
              </a:cxn>
              <a:cxn ang="T12">
                <a:pos x="T4" y="T5"/>
              </a:cxn>
              <a:cxn ang="T13">
                <a:pos x="T6" y="T7"/>
              </a:cxn>
              <a:cxn ang="T14">
                <a:pos x="T8" y="T9"/>
              </a:cxn>
            </a:cxnLst>
            <a:rect l="T15" t="T16" r="T17" b="T18"/>
            <a:pathLst>
              <a:path w="12202851" h="1987781">
                <a:moveTo>
                  <a:pt x="11430" y="0"/>
                </a:moveTo>
                <a:cubicBezTo>
                  <a:pt x="3514321" y="1818409"/>
                  <a:pt x="8046951" y="1697875"/>
                  <a:pt x="12202391" y="629689"/>
                </a:cubicBezTo>
                <a:cubicBezTo>
                  <a:pt x="12205855" y="1003762"/>
                  <a:pt x="12188536" y="1613708"/>
                  <a:pt x="12192000" y="1987781"/>
                </a:cubicBezTo>
                <a:lnTo>
                  <a:pt x="0" y="1987781"/>
                </a:lnTo>
                <a:lnTo>
                  <a:pt x="1143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171" name="组合 9"/>
          <p:cNvGrpSpPr/>
          <p:nvPr/>
        </p:nvGrpSpPr>
        <p:grpSpPr bwMode="auto">
          <a:xfrm>
            <a:off x="-3175" y="4502150"/>
            <a:ext cx="12203113" cy="3173413"/>
            <a:chOff x="0" y="0"/>
            <a:chExt cx="12202851" cy="2878281"/>
          </a:xfrm>
        </p:grpSpPr>
        <p:sp>
          <p:nvSpPr>
            <p:cNvPr id="7175" name="矩形 1"/>
            <p:cNvSpPr>
              <a:spLocks noChangeArrowheads="1"/>
            </p:cNvSpPr>
            <p:nvPr/>
          </p:nvSpPr>
          <p:spPr bwMode="auto">
            <a:xfrm>
              <a:off x="0" y="69113"/>
              <a:ext cx="12202851" cy="2331134"/>
            </a:xfrm>
            <a:custGeom>
              <a:avLst/>
              <a:gdLst>
                <a:gd name="T0" fmla="*/ 0 w 12202851"/>
                <a:gd name="T1" fmla="*/ 0 h 2330681"/>
                <a:gd name="T2" fmla="*/ 12202387 w 12202851"/>
                <a:gd name="T3" fmla="*/ 1034355 h 2330681"/>
                <a:gd name="T4" fmla="*/ 12192003 w 12202851"/>
                <a:gd name="T5" fmla="*/ 2341122 h 2330681"/>
                <a:gd name="T6" fmla="*/ 0 w 12202851"/>
                <a:gd name="T7" fmla="*/ 2341122 h 2330681"/>
                <a:gd name="T8" fmla="*/ 0 w 12202851"/>
                <a:gd name="T9" fmla="*/ 0 h 2330681"/>
                <a:gd name="T10" fmla="*/ 0 60000 65536"/>
                <a:gd name="T11" fmla="*/ 0 60000 65536"/>
                <a:gd name="T12" fmla="*/ 0 60000 65536"/>
                <a:gd name="T13" fmla="*/ 0 60000 65536"/>
                <a:gd name="T14" fmla="*/ 0 60000 65536"/>
                <a:gd name="T15" fmla="*/ 0 w 12202851"/>
                <a:gd name="T16" fmla="*/ 0 h 2330681"/>
                <a:gd name="T17" fmla="*/ 12202851 w 12202851"/>
                <a:gd name="T18" fmla="*/ 2330681 h 2330681"/>
              </a:gdLst>
              <a:ahLst/>
              <a:cxnLst>
                <a:cxn ang="T10">
                  <a:pos x="T0" y="T1"/>
                </a:cxn>
                <a:cxn ang="T11">
                  <a:pos x="T2" y="T3"/>
                </a:cxn>
                <a:cxn ang="T12">
                  <a:pos x="T4" y="T5"/>
                </a:cxn>
                <a:cxn ang="T13">
                  <a:pos x="T6" y="T7"/>
                </a:cxn>
                <a:cxn ang="T14">
                  <a:pos x="T8" y="T9"/>
                </a:cxn>
              </a:cxnLst>
              <a:rect l="T15" t="T16" r="T17" b="T18"/>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6" name="矩形 1"/>
            <p:cNvSpPr>
              <a:spLocks noChangeArrowheads="1"/>
            </p:cNvSpPr>
            <p:nvPr/>
          </p:nvSpPr>
          <p:spPr bwMode="auto">
            <a:xfrm>
              <a:off x="0" y="0"/>
              <a:ext cx="12202851" cy="2639264"/>
            </a:xfrm>
            <a:custGeom>
              <a:avLst/>
              <a:gdLst>
                <a:gd name="T0" fmla="*/ 0 w 12202851"/>
                <a:gd name="T1" fmla="*/ 0 h 2639291"/>
                <a:gd name="T2" fmla="*/ 12202387 w 12202851"/>
                <a:gd name="T3" fmla="*/ 1406607 h 2639291"/>
                <a:gd name="T4" fmla="*/ 12192003 w 12202851"/>
                <a:gd name="T5" fmla="*/ 2638673 h 2639291"/>
                <a:gd name="T6" fmla="*/ 0 w 12202851"/>
                <a:gd name="T7" fmla="*/ 2638673 h 2639291"/>
                <a:gd name="T8" fmla="*/ 0 w 12202851"/>
                <a:gd name="T9" fmla="*/ 0 h 2639291"/>
                <a:gd name="T10" fmla="*/ 0 60000 65536"/>
                <a:gd name="T11" fmla="*/ 0 60000 65536"/>
                <a:gd name="T12" fmla="*/ 0 60000 65536"/>
                <a:gd name="T13" fmla="*/ 0 60000 65536"/>
                <a:gd name="T14" fmla="*/ 0 60000 65536"/>
                <a:gd name="T15" fmla="*/ 0 w 12202851"/>
                <a:gd name="T16" fmla="*/ 0 h 2639291"/>
                <a:gd name="T17" fmla="*/ 12202851 w 12202851"/>
                <a:gd name="T18" fmla="*/ 2639291 h 2639291"/>
              </a:gdLst>
              <a:ahLst/>
              <a:cxnLst>
                <a:cxn ang="T10">
                  <a:pos x="T0" y="T1"/>
                </a:cxn>
                <a:cxn ang="T11">
                  <a:pos x="T2" y="T3"/>
                </a:cxn>
                <a:cxn ang="T12">
                  <a:pos x="T4" y="T5"/>
                </a:cxn>
                <a:cxn ang="T13">
                  <a:pos x="T6" y="T7"/>
                </a:cxn>
                <a:cxn ang="T14">
                  <a:pos x="T8" y="T9"/>
                </a:cxn>
              </a:cxnLst>
              <a:rect l="T15" t="T16" r="T17" b="T18"/>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7" name="矩形 1"/>
            <p:cNvSpPr>
              <a:spLocks noChangeArrowheads="1"/>
            </p:cNvSpPr>
            <p:nvPr/>
          </p:nvSpPr>
          <p:spPr bwMode="auto">
            <a:xfrm>
              <a:off x="0" y="10079"/>
              <a:ext cx="12193326" cy="2868202"/>
            </a:xfrm>
            <a:custGeom>
              <a:avLst/>
              <a:gdLst>
                <a:gd name="T0" fmla="*/ 0 w 12192999"/>
                <a:gd name="T1" fmla="*/ 0 h 2867891"/>
                <a:gd name="T2" fmla="*/ 12199529 w 12192999"/>
                <a:gd name="T3" fmla="*/ 1739616 h 2867891"/>
                <a:gd name="T4" fmla="*/ 12199529 w 12192999"/>
                <a:gd name="T5" fmla="*/ 2875055 h 2867891"/>
                <a:gd name="T6" fmla="*/ 0 w 12192999"/>
                <a:gd name="T7" fmla="*/ 2875055 h 2867891"/>
                <a:gd name="T8" fmla="*/ 0 w 12192999"/>
                <a:gd name="T9" fmla="*/ 0 h 2867891"/>
                <a:gd name="T10" fmla="*/ 0 60000 65536"/>
                <a:gd name="T11" fmla="*/ 0 60000 65536"/>
                <a:gd name="T12" fmla="*/ 0 60000 65536"/>
                <a:gd name="T13" fmla="*/ 0 60000 65536"/>
                <a:gd name="T14" fmla="*/ 0 60000 65536"/>
                <a:gd name="T15" fmla="*/ 0 w 12192999"/>
                <a:gd name="T16" fmla="*/ 0 h 2867891"/>
                <a:gd name="T17" fmla="*/ 12192999 w 12192999"/>
                <a:gd name="T18" fmla="*/ 2867891 h 2867891"/>
              </a:gdLst>
              <a:ahLst/>
              <a:cxnLst>
                <a:cxn ang="T10">
                  <a:pos x="T0" y="T1"/>
                </a:cxn>
                <a:cxn ang="T11">
                  <a:pos x="T2" y="T3"/>
                </a:cxn>
                <a:cxn ang="T12">
                  <a:pos x="T4" y="T5"/>
                </a:cxn>
                <a:cxn ang="T13">
                  <a:pos x="T6" y="T7"/>
                </a:cxn>
                <a:cxn ang="T14">
                  <a:pos x="T8" y="T9"/>
                </a:cxn>
              </a:cxnLst>
              <a:rect l="T15" t="T16" r="T17" b="T18"/>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139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7172" name="矩形 10"/>
          <p:cNvSpPr>
            <a:spLocks noChangeArrowheads="1"/>
          </p:cNvSpPr>
          <p:nvPr/>
        </p:nvSpPr>
        <p:spPr bwMode="auto">
          <a:xfrm>
            <a:off x="2008188" y="3097213"/>
            <a:ext cx="32623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山东建筑大学</a:t>
            </a:r>
            <a:endParaRPr lang="en-US" altLang="zh-CN" sz="2400" b="1">
              <a:solidFill>
                <a:srgbClr val="01395C"/>
              </a:solidFill>
              <a:latin typeface="方正粗宋简体"/>
              <a:ea typeface="方正粗宋简体"/>
              <a:cs typeface="方正粗宋简体"/>
            </a:endParaRPr>
          </a:p>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计算机科学与技术学院</a:t>
            </a:r>
            <a:endParaRPr lang="zh-CN" altLang="en-US" sz="2400" b="1">
              <a:solidFill>
                <a:srgbClr val="01395C"/>
              </a:solidFill>
              <a:latin typeface="方正粗宋简体"/>
              <a:ea typeface="方正粗宋简体"/>
              <a:cs typeface="方正粗宋简体"/>
            </a:endParaRPr>
          </a:p>
        </p:txBody>
      </p:sp>
      <p:sp>
        <p:nvSpPr>
          <p:cNvPr id="12296" name="标题 7"/>
          <p:cNvSpPr>
            <a:spLocks noChangeArrowheads="1"/>
          </p:cNvSpPr>
          <p:nvPr/>
        </p:nvSpPr>
        <p:spPr bwMode="auto">
          <a:xfrm>
            <a:off x="90488" y="900113"/>
            <a:ext cx="7097712" cy="779462"/>
          </a:xfrm>
          <a:prstGeom prst="rect">
            <a:avLst/>
          </a:prstGeom>
          <a:noFill/>
          <a:ln w="9525">
            <a:noFill/>
            <a:miter lim="800000"/>
          </a:ln>
        </p:spPr>
        <p:txBody>
          <a:bodyPr anchor="b"/>
          <a:lstStyle/>
          <a:p>
            <a:pPr algn="ctr" eaLnBrk="1" hangingPunct="1">
              <a:lnSpc>
                <a:spcPct val="90000"/>
              </a:lnSpc>
              <a:buFont typeface="Arial" panose="020B0604020202020204" pitchFamily="34" charset="0"/>
              <a:buNone/>
              <a:defRPr/>
            </a:pPr>
            <a:r>
              <a:rPr lang="zh-CN" altLang="en-US" sz="4400" dirty="0">
                <a:solidFill>
                  <a:srgbClr val="01395C"/>
                </a:solidFill>
                <a:latin typeface="+mj-lt"/>
                <a:ea typeface="+mj-ea"/>
                <a:cs typeface="+mj-cs"/>
                <a:sym typeface="+mn-ea"/>
              </a:rPr>
              <a:t>第</a:t>
            </a:r>
            <a:r>
              <a:rPr lang="en-US" altLang="zh-CN" sz="4400" dirty="0">
                <a:solidFill>
                  <a:srgbClr val="01395C"/>
                </a:solidFill>
                <a:latin typeface="+mj-lt"/>
                <a:ea typeface="+mj-ea"/>
                <a:cs typeface="+mj-cs"/>
                <a:sym typeface="+mn-ea"/>
              </a:rPr>
              <a:t>10</a:t>
            </a:r>
            <a:r>
              <a:rPr lang="zh-CN" altLang="en-US" sz="4400" dirty="0">
                <a:solidFill>
                  <a:srgbClr val="01395C"/>
                </a:solidFill>
                <a:latin typeface="+mj-lt"/>
                <a:ea typeface="+mj-ea"/>
                <a:cs typeface="+mj-cs"/>
                <a:sym typeface="+mn-ea"/>
              </a:rPr>
              <a:t>章 软件项目的风险管理</a:t>
            </a:r>
            <a:endParaRPr lang="zh-CN" altLang="en-US" sz="4400" dirty="0">
              <a:solidFill>
                <a:srgbClr val="01395C"/>
              </a:solidFill>
              <a:latin typeface="+mj-lt"/>
              <a:ea typeface="+mj-ea"/>
              <a:cs typeface="+mj-cs"/>
              <a:sym typeface="+mn-ea"/>
            </a:endParaRPr>
          </a:p>
        </p:txBody>
      </p:sp>
      <p:graphicFrame>
        <p:nvGraphicFramePr>
          <p:cNvPr id="7174" name="对象 7"/>
          <p:cNvGraphicFramePr/>
          <p:nvPr/>
        </p:nvGraphicFramePr>
        <p:xfrm>
          <a:off x="7267575" y="1328738"/>
          <a:ext cx="4232275" cy="4337050"/>
        </p:xfrm>
        <a:graphic>
          <a:graphicData uri="http://schemas.openxmlformats.org/presentationml/2006/ole">
            <mc:AlternateContent xmlns:mc="http://schemas.openxmlformats.org/markup-compatibility/2006">
              <mc:Choice xmlns:v="urn:schemas-microsoft-com:vml" Requires="v">
                <p:oleObj spid="_x0000_s7193" name="BMP 图像" r:id="rId1" imgW="5057775" imgH="4981575" progId="Paint.Picture">
                  <p:embed/>
                </p:oleObj>
              </mc:Choice>
              <mc:Fallback>
                <p:oleObj name="BMP 图像" r:id="rId1" imgW="5057775" imgH="4981575" progId="Paint.Picture">
                  <p:embed/>
                  <p:pic>
                    <p:nvPicPr>
                      <p:cNvPr id="0" name="对象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7575" y="1328738"/>
                        <a:ext cx="4232275"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3896003" y="959511"/>
            <a:ext cx="2556143"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800" b="1" dirty="0">
                <a:solidFill>
                  <a:srgbClr val="005EA4"/>
                </a:solidFill>
                <a:latin typeface="微软雅黑" panose="020B0503020204020204" pitchFamily="34" charset="-122"/>
              </a:rPr>
              <a:t>10.1 </a:t>
            </a:r>
            <a:r>
              <a:rPr lang="zh-CN" altLang="en-US" sz="2800" b="1" dirty="0">
                <a:solidFill>
                  <a:srgbClr val="005EA4"/>
                </a:solidFill>
                <a:latin typeface="微软雅黑" panose="020B0503020204020204" pitchFamily="34" charset="-122"/>
              </a:rPr>
              <a:t>风险概念</a:t>
            </a:r>
            <a:endParaRPr lang="zh-CN" altLang="zh-CN" sz="2800" b="1" dirty="0">
              <a:solidFill>
                <a:srgbClr val="005EA4"/>
              </a:solidFill>
              <a:latin typeface="微软雅黑" panose="020B0503020204020204" pitchFamily="34" charset="-122"/>
            </a:endParaRPr>
          </a:p>
        </p:txBody>
      </p:sp>
      <p:sp>
        <p:nvSpPr>
          <p:cNvPr id="5" name="TextBox 4"/>
          <p:cNvSpPr txBox="1">
            <a:spLocks noChangeArrowheads="1"/>
          </p:cNvSpPr>
          <p:nvPr/>
        </p:nvSpPr>
        <p:spPr bwMode="auto">
          <a:xfrm>
            <a:off x="3896003" y="2855887"/>
            <a:ext cx="3241040" cy="76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en-US" altLang="zh-CN" sz="2800" b="1" dirty="0">
                <a:solidFill>
                  <a:srgbClr val="005EA4"/>
                </a:solidFill>
                <a:latin typeface="微软雅黑" panose="020B0503020204020204" pitchFamily="34" charset="-122"/>
              </a:rPr>
              <a:t>10.3 </a:t>
            </a:r>
            <a:r>
              <a:rPr lang="zh-CN" altLang="en-US" sz="2800" b="1" dirty="0">
                <a:solidFill>
                  <a:srgbClr val="005EA4"/>
                </a:solidFill>
                <a:latin typeface="微软雅黑" panose="020B0503020204020204" pitchFamily="34" charset="-122"/>
              </a:rPr>
              <a:t>风险管理计划</a:t>
            </a:r>
            <a:endParaRPr lang="zh-CN" altLang="zh-CN" sz="2800" b="1" dirty="0">
              <a:solidFill>
                <a:srgbClr val="005EA4"/>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讲</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解</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提</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纲</a:t>
            </a:r>
            <a:endPar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endParaRPr>
          </a:p>
        </p:txBody>
      </p:sp>
      <p:sp>
        <p:nvSpPr>
          <p:cNvPr id="8" name="文本框 52"/>
          <p:cNvSpPr txBox="1">
            <a:spLocks noChangeArrowheads="1"/>
          </p:cNvSpPr>
          <p:nvPr/>
        </p:nvSpPr>
        <p:spPr bwMode="auto">
          <a:xfrm>
            <a:off x="-96838" y="608013"/>
            <a:ext cx="3430588" cy="3968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b="1" spc="140" dirty="0">
                <a:solidFill>
                  <a:schemeClr val="bg1"/>
                </a:solidFill>
                <a:effectLst>
                  <a:outerShdw blurRad="38100" dist="38100" dir="2700000" algn="tl">
                    <a:srgbClr val="000000">
                      <a:alpha val="43137"/>
                    </a:srgbClr>
                  </a:outerShdw>
                </a:effectLst>
                <a:latin typeface="微软雅黑" panose="020B0503020204020204" pitchFamily="34" charset="-122"/>
              </a:rPr>
              <a:t>软件项目管理</a:t>
            </a:r>
            <a:endParaRPr lang="zh-CN" altLang="en-US" b="1" spc="140" dirty="0">
              <a:solidFill>
                <a:schemeClr val="bg1"/>
              </a:solidFill>
              <a:effectLst>
                <a:outerShdw blurRad="38100" dist="38100" dir="2700000" algn="tl">
                  <a:srgbClr val="000000">
                    <a:alpha val="43137"/>
                  </a:srgbClr>
                </a:outerShdw>
              </a:effectLst>
              <a:latin typeface="微软雅黑" panose="020B0503020204020204" pitchFamily="34" charset="-122"/>
            </a:endParaRP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endPar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endParaRPr>
          </a:p>
        </p:txBody>
      </p:sp>
      <p:cxnSp>
        <p:nvCxnSpPr>
          <p:cNvPr id="22" name="直接连接符 21"/>
          <p:cNvCxnSpPr/>
          <p:nvPr/>
        </p:nvCxnSpPr>
        <p:spPr>
          <a:xfrm>
            <a:off x="3430588" y="3664701"/>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3896003" y="1907699"/>
            <a:ext cx="3274288"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800" b="1" dirty="0">
                <a:solidFill>
                  <a:srgbClr val="005EA4"/>
                </a:solidFill>
                <a:latin typeface="微软雅黑" panose="020B0503020204020204" pitchFamily="34" charset="-122"/>
              </a:rPr>
              <a:t>10.2 </a:t>
            </a:r>
            <a:r>
              <a:rPr lang="zh-CN" altLang="en-US" sz="2800" b="1" dirty="0">
                <a:solidFill>
                  <a:srgbClr val="005EA4"/>
                </a:solidFill>
                <a:latin typeface="微软雅黑" panose="020B0503020204020204" pitchFamily="34" charset="-122"/>
              </a:rPr>
              <a:t>风险管理模型</a:t>
            </a:r>
            <a:endParaRPr lang="zh-CN" altLang="zh-CN" sz="2800" b="1" dirty="0">
              <a:solidFill>
                <a:srgbClr val="005EA4"/>
              </a:solidFill>
              <a:latin typeface="微软雅黑" panose="020B0503020204020204" pitchFamily="34" charset="-122"/>
            </a:endParaRPr>
          </a:p>
        </p:txBody>
      </p:sp>
      <p:cxnSp>
        <p:nvCxnSpPr>
          <p:cNvPr id="21" name="直接连接符 20"/>
          <p:cNvCxnSpPr/>
          <p:nvPr/>
        </p:nvCxnSpPr>
        <p:spPr>
          <a:xfrm>
            <a:off x="3430588" y="2697663"/>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430588" y="1730625"/>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430588"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0588" y="4633326"/>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896003" y="3804075"/>
            <a:ext cx="2529840" cy="76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en-US" altLang="zh-CN" sz="2800" b="1" dirty="0">
                <a:solidFill>
                  <a:srgbClr val="005EA4"/>
                </a:solidFill>
                <a:latin typeface="微软雅黑" panose="020B0503020204020204" pitchFamily="34" charset="-122"/>
              </a:rPr>
              <a:t>10.4 </a:t>
            </a:r>
            <a:r>
              <a:rPr lang="zh-CN" altLang="en-US" sz="2800" b="1" dirty="0">
                <a:solidFill>
                  <a:srgbClr val="005EA4"/>
                </a:solidFill>
                <a:latin typeface="微软雅黑" panose="020B0503020204020204" pitchFamily="34" charset="-122"/>
              </a:rPr>
              <a:t>风险识别</a:t>
            </a:r>
            <a:endParaRPr lang="zh-CN" altLang="zh-CN" sz="2800" b="1" dirty="0">
              <a:solidFill>
                <a:srgbClr val="005EA4"/>
              </a:solidFill>
              <a:latin typeface="微软雅黑" panose="020B0503020204020204" pitchFamily="34" charset="-122"/>
            </a:endParaRPr>
          </a:p>
        </p:txBody>
      </p:sp>
      <p:cxnSp>
        <p:nvCxnSpPr>
          <p:cNvPr id="17" name="直接连接符 16"/>
          <p:cNvCxnSpPr/>
          <p:nvPr/>
        </p:nvCxnSpPr>
        <p:spPr>
          <a:xfrm>
            <a:off x="3430588" y="5601951"/>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8" name="TextBox 4"/>
          <p:cNvSpPr txBox="1">
            <a:spLocks noChangeArrowheads="1"/>
          </p:cNvSpPr>
          <p:nvPr/>
        </p:nvSpPr>
        <p:spPr bwMode="auto">
          <a:xfrm>
            <a:off x="3896003" y="4752263"/>
            <a:ext cx="2529840" cy="76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en-US" altLang="zh-CN" sz="2800" b="1" dirty="0">
                <a:solidFill>
                  <a:srgbClr val="005EA4"/>
                </a:solidFill>
                <a:latin typeface="微软雅黑" panose="020B0503020204020204" pitchFamily="34" charset="-122"/>
              </a:rPr>
              <a:t>10.5 </a:t>
            </a:r>
            <a:r>
              <a:rPr lang="zh-CN" altLang="en-US" sz="2800" b="1" dirty="0">
                <a:solidFill>
                  <a:srgbClr val="005EA4"/>
                </a:solidFill>
                <a:latin typeface="微软雅黑" panose="020B0503020204020204" pitchFamily="34" charset="-122"/>
              </a:rPr>
              <a:t>风险分析</a:t>
            </a:r>
            <a:endParaRPr lang="zh-CN" altLang="zh-CN" sz="2800" b="1" dirty="0">
              <a:solidFill>
                <a:srgbClr val="005EA4"/>
              </a:solidFill>
              <a:latin typeface="微软雅黑" panose="020B0503020204020204" pitchFamily="34" charset="-122"/>
            </a:endParaRPr>
          </a:p>
        </p:txBody>
      </p:sp>
      <p:cxnSp>
        <p:nvCxnSpPr>
          <p:cNvPr id="20" name="直接连接符 19"/>
          <p:cNvCxnSpPr/>
          <p:nvPr/>
        </p:nvCxnSpPr>
        <p:spPr>
          <a:xfrm>
            <a:off x="3430588" y="65705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25" name="TextBox 4"/>
          <p:cNvSpPr txBox="1">
            <a:spLocks noChangeArrowheads="1"/>
          </p:cNvSpPr>
          <p:nvPr/>
        </p:nvSpPr>
        <p:spPr bwMode="auto">
          <a:xfrm>
            <a:off x="3896003" y="5700451"/>
            <a:ext cx="2529840" cy="76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en-US" altLang="zh-CN" sz="2800" b="1" dirty="0">
                <a:solidFill>
                  <a:srgbClr val="005EA4"/>
                </a:solidFill>
                <a:latin typeface="微软雅黑" panose="020B0503020204020204" pitchFamily="34" charset="-122"/>
              </a:rPr>
              <a:t>10.6 </a:t>
            </a:r>
            <a:r>
              <a:rPr lang="zh-CN" altLang="en-US" sz="2800" b="1" dirty="0">
                <a:solidFill>
                  <a:srgbClr val="005EA4"/>
                </a:solidFill>
                <a:latin typeface="微软雅黑" panose="020B0503020204020204" pitchFamily="34" charset="-122"/>
              </a:rPr>
              <a:t>风险监控</a:t>
            </a:r>
            <a:endParaRPr lang="zh-CN" altLang="zh-CN" sz="2800" b="1" dirty="0">
              <a:solidFill>
                <a:srgbClr val="005EA4"/>
              </a:solidFill>
              <a:latin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p:tgtEl>
                                          <p:spTgt spid="4"/>
                                        </p:tgtEl>
                                        <p:attrNameLst>
                                          <p:attrName>ppt_x</p:attrName>
                                        </p:attrNameLst>
                                      </p:cBhvr>
                                      <p:tavLst>
                                        <p:tav tm="0">
                                          <p:val>
                                            <p:strVal val="#ppt_x-#ppt_w*1.125000"/>
                                          </p:val>
                                        </p:tav>
                                        <p:tav tm="100000">
                                          <p:val>
                                            <p:strVal val="#ppt_x"/>
                                          </p:val>
                                        </p:tav>
                                      </p:tavLst>
                                    </p:anim>
                                    <p:animEffect transition="in" filter="wipe(right)">
                                      <p:cBhvr>
                                        <p:cTn id="27" dur="500"/>
                                        <p:tgtEl>
                                          <p:spTgt spid="4"/>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p:tgtEl>
                                          <p:spTgt spid="19"/>
                                        </p:tgtEl>
                                        <p:attrNameLst>
                                          <p:attrName>ppt_x</p:attrName>
                                        </p:attrNameLst>
                                      </p:cBhvr>
                                      <p:tavLst>
                                        <p:tav tm="0">
                                          <p:val>
                                            <p:strVal val="#ppt_x-#ppt_w*1.125000"/>
                                          </p:val>
                                        </p:tav>
                                        <p:tav tm="100000">
                                          <p:val>
                                            <p:strVal val="#ppt_x"/>
                                          </p:val>
                                        </p:tav>
                                      </p:tavLst>
                                    </p:anim>
                                    <p:animEffect transition="in" filter="wipe(right)">
                                      <p:cBhvr>
                                        <p:cTn id="31" dur="500"/>
                                        <p:tgtEl>
                                          <p:spTgt spid="19"/>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p:tgtEl>
                                          <p:spTgt spid="5"/>
                                        </p:tgtEl>
                                        <p:attrNameLst>
                                          <p:attrName>ppt_x</p:attrName>
                                        </p:attrNameLst>
                                      </p:cBhvr>
                                      <p:tavLst>
                                        <p:tav tm="0">
                                          <p:val>
                                            <p:strVal val="#ppt_x-#ppt_w*1.125000"/>
                                          </p:val>
                                        </p:tav>
                                        <p:tav tm="100000">
                                          <p:val>
                                            <p:strVal val="#ppt_x"/>
                                          </p:val>
                                        </p:tav>
                                      </p:tavLst>
                                    </p:anim>
                                    <p:animEffect transition="in" filter="wipe(right)">
                                      <p:cBhvr>
                                        <p:cTn id="35" dur="500"/>
                                        <p:tgtEl>
                                          <p:spTgt spid="5"/>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p:tgtEl>
                                          <p:spTgt spid="16"/>
                                        </p:tgtEl>
                                        <p:attrNameLst>
                                          <p:attrName>ppt_x</p:attrName>
                                        </p:attrNameLst>
                                      </p:cBhvr>
                                      <p:tavLst>
                                        <p:tav tm="0">
                                          <p:val>
                                            <p:strVal val="#ppt_x-#ppt_w*1.125000"/>
                                          </p:val>
                                        </p:tav>
                                        <p:tav tm="100000">
                                          <p:val>
                                            <p:strVal val="#ppt_x"/>
                                          </p:val>
                                        </p:tav>
                                      </p:tavLst>
                                    </p:anim>
                                    <p:animEffect transition="in" filter="wipe(right)">
                                      <p:cBhvr>
                                        <p:cTn id="59" dur="500"/>
                                        <p:tgtEl>
                                          <p:spTgt spid="16"/>
                                        </p:tgtEl>
                                      </p:cBhvr>
                                    </p:animEffect>
                                  </p:childTnLst>
                                </p:cTn>
                              </p:par>
                            </p:childTnLst>
                          </p:cTn>
                        </p:par>
                        <p:par>
                          <p:cTn id="60" fill="hold">
                            <p:stCondLst>
                              <p:cond delay="4500"/>
                            </p:stCondLst>
                            <p:childTnLst>
                              <p:par>
                                <p:cTn id="61" presetID="22" presetClass="entr" presetSubtype="8"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par>
                                <p:cTn id="64" presetID="12" presetClass="entr" presetSubtype="8"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p:tgtEl>
                                          <p:spTgt spid="18"/>
                                        </p:tgtEl>
                                        <p:attrNameLst>
                                          <p:attrName>ppt_x</p:attrName>
                                        </p:attrNameLst>
                                      </p:cBhvr>
                                      <p:tavLst>
                                        <p:tav tm="0">
                                          <p:val>
                                            <p:strVal val="#ppt_x-#ppt_w*1.125000"/>
                                          </p:val>
                                        </p:tav>
                                        <p:tav tm="100000">
                                          <p:val>
                                            <p:strVal val="#ppt_x"/>
                                          </p:val>
                                        </p:tav>
                                      </p:tavLst>
                                    </p:anim>
                                    <p:animEffect transition="in" filter="wipe(right)">
                                      <p:cBhvr>
                                        <p:cTn id="67" dur="500"/>
                                        <p:tgtEl>
                                          <p:spTgt spid="18"/>
                                        </p:tgtEl>
                                      </p:cBhvr>
                                    </p:animEffect>
                                  </p:childTnLst>
                                </p:cTn>
                              </p:par>
                            </p:childTnLst>
                          </p:cTn>
                        </p:par>
                        <p:par>
                          <p:cTn id="68" fill="hold">
                            <p:stCondLst>
                              <p:cond delay="5000"/>
                            </p:stCondLst>
                            <p:childTnLst>
                              <p:par>
                                <p:cTn id="69" presetID="22" presetClass="entr" presetSubtype="8"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left)">
                                      <p:cBhvr>
                                        <p:cTn id="71" dur="500"/>
                                        <p:tgtEl>
                                          <p:spTgt spid="20"/>
                                        </p:tgtEl>
                                      </p:cBhvr>
                                    </p:animEffect>
                                  </p:childTnLst>
                                </p:cTn>
                              </p:par>
                              <p:par>
                                <p:cTn id="72" presetID="12" presetClass="entr" presetSubtype="8"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 calcmode="lin" valueType="num">
                                      <p:cBhvr additive="base">
                                        <p:cTn id="74" dur="500"/>
                                        <p:tgtEl>
                                          <p:spTgt spid="25"/>
                                        </p:tgtEl>
                                        <p:attrNameLst>
                                          <p:attrName>ppt_x</p:attrName>
                                        </p:attrNameLst>
                                      </p:cBhvr>
                                      <p:tavLst>
                                        <p:tav tm="0">
                                          <p:val>
                                            <p:strVal val="#ppt_x-#ppt_w*1.125000"/>
                                          </p:val>
                                        </p:tav>
                                        <p:tav tm="100000">
                                          <p:val>
                                            <p:strVal val="#ppt_x"/>
                                          </p:val>
                                        </p:tav>
                                      </p:tavLst>
                                    </p:anim>
                                    <p:animEffect transition="in" filter="wipe(right)">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9" grpId="0"/>
      <p:bldP spid="16" grpId="0"/>
      <p:bldP spid="18"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10.1</a:t>
            </a:r>
            <a:r>
              <a:rPr lang="zh-CN" altLang="en-US" sz="2400" b="1" dirty="0">
                <a:solidFill>
                  <a:srgbClr val="01395C"/>
                </a:solidFill>
                <a:latin typeface="方正粗宋简体"/>
                <a:ea typeface="方正粗宋简体"/>
                <a:cs typeface="方正粗宋简体"/>
              </a:rPr>
              <a:t> 风险概念</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3349250"/>
          </a:xfrm>
          <a:prstGeom prst="rect">
            <a:avLst/>
          </a:prstGeom>
          <a:noFill/>
        </p:spPr>
        <p:txBody>
          <a:bodyPr>
            <a:spAutoFit/>
          </a:bodyPr>
          <a:lstStyle/>
          <a:p>
            <a:pPr eaLnBrk="1" hangingPunct="1">
              <a:lnSpc>
                <a:spcPct val="150000"/>
              </a:lnSpc>
              <a:defRPr/>
            </a:pPr>
            <a:r>
              <a:rPr lang="zh-CN" altLang="en-US" sz="2400" kern="0" dirty="0"/>
              <a:t>所谓</a:t>
            </a:r>
            <a:r>
              <a:rPr lang="zh-CN" altLang="en-US" sz="2400" kern="0" dirty="0">
                <a:solidFill>
                  <a:srgbClr val="C00000"/>
                </a:solidFill>
              </a:rPr>
              <a:t>“风险”</a:t>
            </a:r>
            <a:r>
              <a:rPr lang="zh-CN" altLang="en-US" sz="2400" kern="0" dirty="0"/>
              <a:t>，归纳起来主要有两种意见：</a:t>
            </a:r>
            <a:endParaRPr lang="en-US" altLang="zh-CN" sz="2400" kern="0" dirty="0"/>
          </a:p>
          <a:p>
            <a:pPr eaLnBrk="1" hangingPunct="1">
              <a:lnSpc>
                <a:spcPct val="150000"/>
              </a:lnSpc>
              <a:defRPr/>
            </a:pPr>
            <a:r>
              <a:rPr lang="zh-CN" altLang="en-US" sz="2400" kern="0" dirty="0">
                <a:solidFill>
                  <a:srgbClr val="C00000"/>
                </a:solidFill>
              </a:rPr>
              <a:t>主观学</a:t>
            </a:r>
            <a:r>
              <a:rPr lang="zh-CN" altLang="en-US" sz="2400" kern="0" dirty="0"/>
              <a:t>认为，风险是损失的不确定性；</a:t>
            </a:r>
            <a:endParaRPr lang="en-US" altLang="zh-CN" sz="2400" kern="0" dirty="0"/>
          </a:p>
          <a:p>
            <a:pPr eaLnBrk="1" hangingPunct="1">
              <a:lnSpc>
                <a:spcPct val="150000"/>
              </a:lnSpc>
              <a:defRPr/>
            </a:pPr>
            <a:r>
              <a:rPr lang="zh-CN" altLang="en-US" sz="2400" kern="0" dirty="0">
                <a:solidFill>
                  <a:srgbClr val="C00000"/>
                </a:solidFill>
              </a:rPr>
              <a:t>客观学</a:t>
            </a:r>
            <a:r>
              <a:rPr lang="zh-CN" altLang="en-US" sz="2400" kern="0" dirty="0"/>
              <a:t>认为，风险是在给定情况下一定时期可能发生的各种结果间的差异。</a:t>
            </a:r>
            <a:endParaRPr lang="en-US" altLang="zh-CN" sz="2400" kern="0" dirty="0"/>
          </a:p>
          <a:p>
            <a:pPr eaLnBrk="1" hangingPunct="1">
              <a:lnSpc>
                <a:spcPct val="150000"/>
              </a:lnSpc>
              <a:defRPr/>
            </a:pPr>
            <a:r>
              <a:rPr lang="zh-CN" altLang="en-US" sz="2400" kern="0" dirty="0"/>
              <a:t>两个</a:t>
            </a:r>
            <a:r>
              <a:rPr lang="zh-CN" altLang="en-US" sz="2400" kern="0" dirty="0">
                <a:solidFill>
                  <a:srgbClr val="C00000"/>
                </a:solidFill>
              </a:rPr>
              <a:t>基本特征</a:t>
            </a:r>
            <a:r>
              <a:rPr lang="zh-CN" altLang="en-US" sz="2400" kern="0" dirty="0"/>
              <a:t>：不确定性、损失。</a:t>
            </a:r>
            <a:endParaRPr lang="en-US" altLang="zh-CN" sz="2400" kern="0" dirty="0"/>
          </a:p>
          <a:p>
            <a:pPr eaLnBrk="1" hangingPunct="1">
              <a:lnSpc>
                <a:spcPct val="150000"/>
              </a:lnSpc>
              <a:defRPr/>
            </a:pPr>
            <a:r>
              <a:rPr lang="en-US" altLang="zh-CN" sz="2400" kern="0" dirty="0"/>
              <a:t>IT</a:t>
            </a:r>
            <a:r>
              <a:rPr lang="zh-CN" altLang="en-US" sz="2400" kern="0" dirty="0"/>
              <a:t>行业中的软件项目开发是一项可能损失的活动，不管开发过程如何进行，都有可能</a:t>
            </a:r>
            <a:r>
              <a:rPr lang="zh-CN" altLang="en-US" sz="2400" kern="0" dirty="0">
                <a:solidFill>
                  <a:srgbClr val="C00000"/>
                </a:solidFill>
              </a:rPr>
              <a:t>超出预算</a:t>
            </a:r>
            <a:r>
              <a:rPr lang="zh-CN" altLang="en-US" sz="2400" kern="0" dirty="0"/>
              <a:t>或</a:t>
            </a:r>
            <a:r>
              <a:rPr lang="zh-CN" altLang="en-US" sz="2400" kern="0" dirty="0">
                <a:solidFill>
                  <a:srgbClr val="C00000"/>
                </a:solidFill>
              </a:rPr>
              <a:t>时间延迟</a:t>
            </a:r>
            <a:r>
              <a:rPr lang="zh-CN" altLang="en-US" sz="2400" kern="0" dirty="0"/>
              <a:t>。</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10.1</a:t>
            </a:r>
            <a:r>
              <a:rPr lang="zh-CN" altLang="en-US" sz="2400" b="1" dirty="0">
                <a:solidFill>
                  <a:srgbClr val="01395C"/>
                </a:solidFill>
                <a:latin typeface="方正粗宋简体"/>
                <a:ea typeface="方正粗宋简体"/>
                <a:cs typeface="方正粗宋简体"/>
              </a:rPr>
              <a:t> 风险概念</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1679755"/>
          </a:xfrm>
          <a:prstGeom prst="rect">
            <a:avLst/>
          </a:prstGeom>
          <a:noFill/>
        </p:spPr>
        <p:txBody>
          <a:bodyPr>
            <a:spAutoFit/>
          </a:bodyPr>
          <a:lstStyle/>
          <a:p>
            <a:pPr eaLnBrk="1" hangingPunct="1">
              <a:lnSpc>
                <a:spcPct val="150000"/>
              </a:lnSpc>
              <a:defRPr/>
            </a:pPr>
            <a:r>
              <a:rPr lang="zh-CN" altLang="en-US" sz="2400" kern="0" dirty="0">
                <a:solidFill>
                  <a:srgbClr val="C00000"/>
                </a:solidFill>
              </a:rPr>
              <a:t>项目风险管理</a:t>
            </a:r>
            <a:r>
              <a:rPr lang="zh-CN" altLang="en-US" sz="2400" kern="0" dirty="0"/>
              <a:t>，实际上就是贯穿在项目开发过程中的一系列管理步骤，其中包括</a:t>
            </a:r>
            <a:r>
              <a:rPr lang="zh-CN" altLang="en-US" sz="2400" kern="0" dirty="0">
                <a:solidFill>
                  <a:srgbClr val="C00000"/>
                </a:solidFill>
              </a:rPr>
              <a:t>风险识别</a:t>
            </a:r>
            <a:r>
              <a:rPr lang="zh-CN" altLang="en-US" sz="2400" kern="0" dirty="0"/>
              <a:t>、</a:t>
            </a:r>
            <a:r>
              <a:rPr lang="zh-CN" altLang="en-US" sz="2400" kern="0" dirty="0">
                <a:solidFill>
                  <a:srgbClr val="C00000"/>
                </a:solidFill>
              </a:rPr>
              <a:t>风险计划</a:t>
            </a:r>
            <a:r>
              <a:rPr lang="zh-CN" altLang="en-US" sz="2400" kern="0" dirty="0"/>
              <a:t>、</a:t>
            </a:r>
            <a:r>
              <a:rPr lang="zh-CN" altLang="en-US" sz="2400" kern="0" dirty="0">
                <a:solidFill>
                  <a:srgbClr val="C00000"/>
                </a:solidFill>
              </a:rPr>
              <a:t>风险分析</a:t>
            </a:r>
            <a:r>
              <a:rPr lang="zh-CN" altLang="en-US" sz="2400" kern="0" dirty="0"/>
              <a:t>、</a:t>
            </a:r>
            <a:r>
              <a:rPr lang="zh-CN" altLang="en-US" sz="2400" kern="0" dirty="0">
                <a:solidFill>
                  <a:srgbClr val="C00000"/>
                </a:solidFill>
              </a:rPr>
              <a:t>风险解决</a:t>
            </a:r>
            <a:r>
              <a:rPr lang="zh-CN" altLang="en-US" sz="2400" kern="0" dirty="0"/>
              <a:t>和</a:t>
            </a:r>
            <a:r>
              <a:rPr lang="zh-CN" altLang="en-US" sz="2400" kern="0" dirty="0">
                <a:solidFill>
                  <a:srgbClr val="C00000"/>
                </a:solidFill>
              </a:rPr>
              <a:t>风险监控</a:t>
            </a:r>
            <a:r>
              <a:rPr lang="zh-CN" altLang="en-US" sz="2400" kern="0" dirty="0"/>
              <a:t>。</a:t>
            </a:r>
            <a:endParaRPr lang="en-US" altLang="zh-CN" sz="2400" kern="0" dirty="0"/>
          </a:p>
          <a:p>
            <a:pPr eaLnBrk="1" hangingPunct="1">
              <a:lnSpc>
                <a:spcPct val="150000"/>
              </a:lnSpc>
              <a:defRPr/>
            </a:pPr>
            <a:r>
              <a:rPr lang="zh-CN" altLang="en-US" sz="2400" kern="0" dirty="0"/>
              <a:t>它能让风险管理者主动“攻击”风险，进行有效的风险管理。</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8" name="矩形: 圆顶角 7"/>
          <p:cNvSpPr/>
          <p:nvPr/>
        </p:nvSpPr>
        <p:spPr bwMode="auto">
          <a:xfrm>
            <a:off x="5238070" y="3331027"/>
            <a:ext cx="1820092" cy="583475"/>
          </a:xfrm>
          <a:prstGeom prst="round2Same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91440" tIns="45720" rIns="91440" bIns="45720" numCol="1" rtlCol="0" anchor="t" anchorCtr="0" compatLnSpc="1"/>
          <a:lstStyle/>
          <a:p>
            <a:pPr marL="0" marR="0" indent="0" algn="ctr" defTabSz="914400" rtl="0" eaLnBrk="1" fontAlgn="base" latinLnBrk="0" hangingPunct="1">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rPr>
              <a:t>软件风险</a:t>
            </a:r>
            <a:endPar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endParaRPr>
          </a:p>
        </p:txBody>
      </p:sp>
      <p:sp>
        <p:nvSpPr>
          <p:cNvPr id="10" name="矩形: 圆顶角 9"/>
          <p:cNvSpPr/>
          <p:nvPr/>
        </p:nvSpPr>
        <p:spPr bwMode="auto">
          <a:xfrm>
            <a:off x="2995613" y="4711335"/>
            <a:ext cx="1820092" cy="583475"/>
          </a:xfrm>
          <a:prstGeom prst="round2Same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91440" tIns="45720" rIns="91440" bIns="45720" numCol="1" rtlCol="0" anchor="t" anchorCtr="0" compatLnSpc="1"/>
          <a:lstStyle/>
          <a:p>
            <a:pPr marL="0" marR="0" indent="0" algn="ctr" defTabSz="914400" rtl="0" eaLnBrk="1" fontAlgn="base" latinLnBrk="0" hangingPunct="1">
              <a:spcBef>
                <a:spcPct val="0"/>
              </a:spcBef>
              <a:spcAft>
                <a:spcPct val="0"/>
              </a:spcAft>
              <a:buClrTx/>
              <a:buSzTx/>
              <a:buFont typeface="Arial" panose="020B0604020202020204" pitchFamily="34" charset="0"/>
              <a:buNone/>
            </a:pPr>
            <a:r>
              <a:rPr lang="zh-CN" altLang="en-US" sz="2800" dirty="0">
                <a:solidFill>
                  <a:srgbClr val="F0F977"/>
                </a:solidFill>
                <a:latin typeface="Impact" panose="020B0806030902050204" pitchFamily="34" charset="0"/>
                <a:ea typeface="宋体" panose="02010600030101010101" pitchFamily="2" charset="-122"/>
              </a:rPr>
              <a:t>技术</a:t>
            </a:r>
            <a:r>
              <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rPr>
              <a:t>风险</a:t>
            </a:r>
            <a:endPar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endParaRPr>
          </a:p>
        </p:txBody>
      </p:sp>
      <p:sp>
        <p:nvSpPr>
          <p:cNvPr id="11" name="矩形: 圆顶角 10"/>
          <p:cNvSpPr/>
          <p:nvPr/>
        </p:nvSpPr>
        <p:spPr bwMode="auto">
          <a:xfrm>
            <a:off x="5238070" y="4711335"/>
            <a:ext cx="1820092" cy="583475"/>
          </a:xfrm>
          <a:prstGeom prst="round2Same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91440" tIns="45720" rIns="91440" bIns="45720" numCol="1" rtlCol="0" anchor="t" anchorCtr="0" compatLnSpc="1"/>
          <a:lstStyle/>
          <a:p>
            <a:pPr marL="0" marR="0" indent="0" algn="ctr" defTabSz="914400" rtl="0" eaLnBrk="1" fontAlgn="base" latinLnBrk="0" hangingPunct="1">
              <a:spcBef>
                <a:spcPct val="0"/>
              </a:spcBef>
              <a:spcAft>
                <a:spcPct val="0"/>
              </a:spcAft>
              <a:buClrTx/>
              <a:buSzTx/>
              <a:buFont typeface="Arial" panose="020B0604020202020204" pitchFamily="34" charset="0"/>
              <a:buNone/>
            </a:pPr>
            <a:r>
              <a:rPr lang="zh-CN" altLang="en-US" sz="2800" dirty="0">
                <a:solidFill>
                  <a:srgbClr val="F0F977"/>
                </a:solidFill>
                <a:latin typeface="Impact" panose="020B0806030902050204" pitchFamily="34" charset="0"/>
                <a:ea typeface="宋体" panose="02010600030101010101" pitchFamily="2" charset="-122"/>
              </a:rPr>
              <a:t>项目</a:t>
            </a:r>
            <a:r>
              <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rPr>
              <a:t>风险</a:t>
            </a:r>
            <a:endPar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endParaRPr>
          </a:p>
        </p:txBody>
      </p:sp>
      <p:sp>
        <p:nvSpPr>
          <p:cNvPr id="12" name="矩形: 圆顶角 11"/>
          <p:cNvSpPr/>
          <p:nvPr/>
        </p:nvSpPr>
        <p:spPr bwMode="auto">
          <a:xfrm>
            <a:off x="7480527" y="4711334"/>
            <a:ext cx="1820092" cy="583475"/>
          </a:xfrm>
          <a:prstGeom prst="round2Same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91440" tIns="45720" rIns="91440" bIns="45720" numCol="1" rtlCol="0" anchor="t" anchorCtr="0" compatLnSpc="1"/>
          <a:lstStyle/>
          <a:p>
            <a:pPr marL="0" marR="0" indent="0" algn="ctr" defTabSz="914400" rtl="0" eaLnBrk="1" fontAlgn="base" latinLnBrk="0" hangingPunct="1">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rPr>
              <a:t>商业风险</a:t>
            </a:r>
            <a:endParaRPr kumimoji="0" lang="zh-CN" altLang="en-US" sz="2800" b="0" i="0" u="none" strike="noStrike" cap="none" normalizeH="0" baseline="0" dirty="0">
              <a:ln>
                <a:noFill/>
              </a:ln>
              <a:solidFill>
                <a:srgbClr val="F0F977"/>
              </a:solidFill>
              <a:effectLst/>
              <a:latin typeface="Impact" panose="020B0806030902050204" pitchFamily="34" charset="0"/>
              <a:ea typeface="宋体" panose="02010600030101010101" pitchFamily="2" charset="-122"/>
            </a:endParaRPr>
          </a:p>
        </p:txBody>
      </p:sp>
      <p:cxnSp>
        <p:nvCxnSpPr>
          <p:cNvPr id="13" name="直接箭头连接符 12"/>
          <p:cNvCxnSpPr>
            <a:stCxn id="8" idx="1"/>
            <a:endCxn id="11" idx="3"/>
          </p:cNvCxnSpPr>
          <p:nvPr/>
        </p:nvCxnSpPr>
        <p:spPr bwMode="auto">
          <a:xfrm>
            <a:off x="6148116" y="3914502"/>
            <a:ext cx="0" cy="796833"/>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15" name="连接符: 肘形 14"/>
          <p:cNvCxnSpPr>
            <a:endCxn id="12" idx="3"/>
          </p:cNvCxnSpPr>
          <p:nvPr/>
        </p:nvCxnSpPr>
        <p:spPr bwMode="auto">
          <a:xfrm>
            <a:off x="6148116" y="4312918"/>
            <a:ext cx="2242457" cy="398416"/>
          </a:xfrm>
          <a:prstGeom prst="bentConnector2">
            <a:avLst/>
          </a:prstGeom>
          <a:solidFill>
            <a:schemeClr val="accent1"/>
          </a:solidFill>
          <a:ln w="9525" cap="flat" cmpd="sng" algn="ctr">
            <a:solidFill>
              <a:schemeClr val="tx1"/>
            </a:solidFill>
            <a:prstDash val="solid"/>
            <a:round/>
            <a:headEnd type="none" w="med" len="med"/>
            <a:tailEnd type="triangle"/>
          </a:ln>
        </p:spPr>
      </p:cxnSp>
      <p:cxnSp>
        <p:nvCxnSpPr>
          <p:cNvPr id="21" name="连接符: 肘形 20"/>
          <p:cNvCxnSpPr>
            <a:endCxn id="10" idx="3"/>
          </p:cNvCxnSpPr>
          <p:nvPr/>
        </p:nvCxnSpPr>
        <p:spPr bwMode="auto">
          <a:xfrm rot="10800000" flipV="1">
            <a:off x="3905660" y="4312917"/>
            <a:ext cx="2280557" cy="398417"/>
          </a:xfrm>
          <a:prstGeom prst="bentConnector2">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10.1</a:t>
            </a:r>
            <a:r>
              <a:rPr lang="zh-CN" altLang="en-US" sz="2400" b="1" dirty="0">
                <a:solidFill>
                  <a:srgbClr val="01395C"/>
                </a:solidFill>
                <a:latin typeface="方正粗宋简体"/>
                <a:ea typeface="方正粗宋简体"/>
                <a:cs typeface="方正粗宋简体"/>
              </a:rPr>
              <a:t> 风险概念</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5357685"/>
          </a:xfrm>
          <a:prstGeom prst="rect">
            <a:avLst/>
          </a:prstGeom>
          <a:noFill/>
        </p:spPr>
        <p:txBody>
          <a:bodyPr>
            <a:spAutoFit/>
          </a:bodyPr>
          <a:lstStyle/>
          <a:p>
            <a:r>
              <a:rPr lang="en-US" altLang="zh-CN" sz="3200" b="1" dirty="0">
                <a:solidFill>
                  <a:srgbClr val="C00000"/>
                </a:solidFill>
              </a:rPr>
              <a:t>PMP</a:t>
            </a:r>
            <a:r>
              <a:rPr lang="zh-CN" altLang="en-US" sz="3200" b="1" dirty="0">
                <a:solidFill>
                  <a:srgbClr val="C00000"/>
                </a:solidFill>
              </a:rPr>
              <a:t>风险管理过程包括：</a:t>
            </a:r>
            <a:endParaRPr lang="zh-CN" altLang="en-US" sz="3200" b="1" dirty="0">
              <a:solidFill>
                <a:srgbClr val="C00000"/>
              </a:solidFill>
            </a:endParaRPr>
          </a:p>
          <a:p>
            <a:pPr lvl="1">
              <a:lnSpc>
                <a:spcPct val="150000"/>
              </a:lnSpc>
            </a:pPr>
            <a:endParaRPr lang="en-US" altLang="zh-CN" sz="1200" dirty="0"/>
          </a:p>
          <a:p>
            <a:pPr marL="914400" lvl="1" indent="-457200">
              <a:lnSpc>
                <a:spcPct val="150000"/>
              </a:lnSpc>
              <a:buFont typeface="Wingdings" panose="05000000000000000000" pitchFamily="2" charset="2"/>
              <a:buChar char="Ø"/>
            </a:pPr>
            <a:r>
              <a:rPr lang="zh-CN" altLang="en-US" sz="2800" dirty="0"/>
              <a:t>风险管理计划</a:t>
            </a:r>
            <a:endParaRPr lang="zh-CN" altLang="en-US" sz="2800" dirty="0"/>
          </a:p>
          <a:p>
            <a:pPr marL="914400" lvl="1" indent="-457200">
              <a:lnSpc>
                <a:spcPct val="150000"/>
              </a:lnSpc>
              <a:buFont typeface="Wingdings" panose="05000000000000000000" pitchFamily="2" charset="2"/>
              <a:buChar char="Ø"/>
            </a:pPr>
            <a:r>
              <a:rPr lang="zh-CN" altLang="en-US" sz="2800" dirty="0"/>
              <a:t>风险识别</a:t>
            </a:r>
            <a:endParaRPr lang="zh-CN" altLang="en-US" sz="2800" dirty="0"/>
          </a:p>
          <a:p>
            <a:pPr marL="914400" lvl="1" indent="-457200">
              <a:lnSpc>
                <a:spcPct val="150000"/>
              </a:lnSpc>
              <a:buFont typeface="Wingdings" panose="05000000000000000000" pitchFamily="2" charset="2"/>
              <a:buChar char="Ø"/>
            </a:pPr>
            <a:r>
              <a:rPr lang="zh-CN" altLang="en-US" sz="2800" dirty="0"/>
              <a:t>风险定性分析</a:t>
            </a:r>
            <a:endParaRPr lang="zh-CN" altLang="en-US" sz="2800" dirty="0"/>
          </a:p>
          <a:p>
            <a:pPr marL="914400" lvl="1" indent="-457200">
              <a:lnSpc>
                <a:spcPct val="150000"/>
              </a:lnSpc>
              <a:buFont typeface="Wingdings" panose="05000000000000000000" pitchFamily="2" charset="2"/>
              <a:buChar char="Ø"/>
            </a:pPr>
            <a:r>
              <a:rPr lang="zh-CN" altLang="en-US" sz="2800" dirty="0"/>
              <a:t>风险定量分析</a:t>
            </a:r>
            <a:endParaRPr lang="zh-CN" altLang="en-US" sz="2800" dirty="0"/>
          </a:p>
          <a:p>
            <a:pPr marL="914400" lvl="1" indent="-457200">
              <a:lnSpc>
                <a:spcPct val="150000"/>
              </a:lnSpc>
              <a:buFont typeface="Wingdings" panose="05000000000000000000" pitchFamily="2" charset="2"/>
              <a:buChar char="Ø"/>
            </a:pPr>
            <a:r>
              <a:rPr lang="zh-CN" altLang="en-US" sz="2800" dirty="0"/>
              <a:t>风险应对计划</a:t>
            </a:r>
            <a:endParaRPr lang="zh-CN" altLang="en-US" sz="2800" dirty="0"/>
          </a:p>
          <a:p>
            <a:pPr marL="914400" lvl="1" indent="-457200">
              <a:lnSpc>
                <a:spcPct val="150000"/>
              </a:lnSpc>
              <a:buFont typeface="Wingdings" panose="05000000000000000000" pitchFamily="2" charset="2"/>
              <a:buChar char="Ø"/>
            </a:pPr>
            <a:r>
              <a:rPr lang="zh-CN" altLang="en-US" sz="2800" dirty="0"/>
              <a:t>风险监控</a:t>
            </a:r>
            <a:endParaRPr lang="zh-CN" altLang="en-US" sz="2800" dirty="0"/>
          </a:p>
          <a:p>
            <a:pPr eaLnBrk="1" hangingPunct="1">
              <a:lnSpc>
                <a:spcPct val="150000"/>
              </a:lnSpc>
              <a:defRPr/>
            </a:pP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pic>
        <p:nvPicPr>
          <p:cNvPr id="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3471133"/>
            <a:ext cx="4800600" cy="2190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10.1</a:t>
            </a:r>
            <a:r>
              <a:rPr lang="zh-CN" altLang="en-US" sz="2400" b="1" dirty="0">
                <a:solidFill>
                  <a:srgbClr val="01395C"/>
                </a:solidFill>
                <a:latin typeface="方正粗宋简体"/>
                <a:ea typeface="方正粗宋简体"/>
                <a:cs typeface="方正粗宋简体"/>
              </a:rPr>
              <a:t> 风险概念</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777732"/>
            <a:ext cx="8305799" cy="6211572"/>
          </a:xfrm>
          <a:prstGeom prst="rect">
            <a:avLst/>
          </a:prstGeom>
          <a:noFill/>
        </p:spPr>
        <p:txBody>
          <a:bodyPr wrap="square">
            <a:spAutoFit/>
          </a:bodyPr>
          <a:lstStyle/>
          <a:p>
            <a:pPr>
              <a:lnSpc>
                <a:spcPct val="150000"/>
              </a:lnSpc>
            </a:pPr>
            <a:r>
              <a:rPr lang="en-US" altLang="zh-CN" sz="2800" b="1" dirty="0">
                <a:solidFill>
                  <a:srgbClr val="C00000"/>
                </a:solidFill>
              </a:rPr>
              <a:t>CMMI</a:t>
            </a:r>
            <a:r>
              <a:rPr lang="zh-CN" altLang="en-US" sz="2800" b="1" dirty="0">
                <a:solidFill>
                  <a:srgbClr val="C00000"/>
                </a:solidFill>
              </a:rPr>
              <a:t>风险管理域内容：</a:t>
            </a:r>
            <a:endParaRPr lang="zh-CN" altLang="en-US" sz="2800" b="1" dirty="0">
              <a:solidFill>
                <a:srgbClr val="C00000"/>
              </a:solidFill>
            </a:endParaRPr>
          </a:p>
          <a:p>
            <a:pPr lvl="1">
              <a:lnSpc>
                <a:spcPct val="150000"/>
              </a:lnSpc>
            </a:pPr>
            <a:r>
              <a:rPr lang="zh-CN" altLang="en-US" sz="2400" dirty="0"/>
              <a:t>特定目标</a:t>
            </a:r>
            <a:r>
              <a:rPr lang="en-US" altLang="zh-CN" sz="2400" dirty="0"/>
              <a:t>1</a:t>
            </a:r>
            <a:r>
              <a:rPr lang="zh-CN" altLang="en-US" sz="2400" dirty="0"/>
              <a:t>：风险管理标准（对应</a:t>
            </a:r>
            <a:r>
              <a:rPr lang="zh-CN" altLang="en-US" sz="2400" dirty="0">
                <a:solidFill>
                  <a:srgbClr val="FF0000"/>
                </a:solidFill>
              </a:rPr>
              <a:t>风险计划</a:t>
            </a:r>
            <a:r>
              <a:rPr lang="zh-CN" altLang="en-US" sz="2400" dirty="0"/>
              <a:t>）</a:t>
            </a:r>
            <a:endParaRPr lang="zh-CN" altLang="en-US" sz="2400" dirty="0"/>
          </a:p>
          <a:p>
            <a:pPr lvl="2">
              <a:lnSpc>
                <a:spcPct val="150000"/>
              </a:lnSpc>
            </a:pPr>
            <a:r>
              <a:rPr lang="zh-CN" altLang="en-US" sz="2400" dirty="0"/>
              <a:t>执行方法</a:t>
            </a:r>
            <a:r>
              <a:rPr lang="en-US" altLang="zh-CN" sz="2400" dirty="0"/>
              <a:t>1.1</a:t>
            </a:r>
            <a:r>
              <a:rPr lang="zh-CN" altLang="en-US" sz="2400" dirty="0"/>
              <a:t>：决定风险来源和类别</a:t>
            </a:r>
            <a:endParaRPr lang="zh-CN" altLang="en-US" sz="2400" dirty="0"/>
          </a:p>
          <a:p>
            <a:pPr lvl="2">
              <a:lnSpc>
                <a:spcPct val="150000"/>
              </a:lnSpc>
            </a:pPr>
            <a:r>
              <a:rPr lang="zh-CN" altLang="en-US" sz="2400" dirty="0"/>
              <a:t>执行方法</a:t>
            </a:r>
            <a:r>
              <a:rPr lang="en-US" altLang="zh-CN" sz="2400" dirty="0"/>
              <a:t>1.2</a:t>
            </a:r>
            <a:r>
              <a:rPr lang="zh-CN" altLang="en-US" sz="2400" dirty="0"/>
              <a:t>：定义风险参数</a:t>
            </a:r>
            <a:endParaRPr lang="zh-CN" altLang="en-US" sz="2400" dirty="0"/>
          </a:p>
          <a:p>
            <a:pPr lvl="2">
              <a:lnSpc>
                <a:spcPct val="150000"/>
              </a:lnSpc>
            </a:pPr>
            <a:r>
              <a:rPr lang="zh-CN" altLang="en-US" sz="2400" dirty="0"/>
              <a:t>执行方法</a:t>
            </a:r>
            <a:r>
              <a:rPr lang="en-US" altLang="zh-CN" sz="2400" dirty="0"/>
              <a:t>1.3</a:t>
            </a:r>
            <a:r>
              <a:rPr lang="zh-CN" altLang="en-US" sz="2400" dirty="0"/>
              <a:t>：建立风险管理策略</a:t>
            </a:r>
            <a:endParaRPr lang="zh-CN" altLang="en-US" sz="2400" dirty="0"/>
          </a:p>
          <a:p>
            <a:pPr lvl="1">
              <a:lnSpc>
                <a:spcPct val="150000"/>
              </a:lnSpc>
            </a:pPr>
            <a:r>
              <a:rPr lang="zh-CN" altLang="en-US" sz="2400" dirty="0"/>
              <a:t>特定目标</a:t>
            </a:r>
            <a:r>
              <a:rPr lang="en-US" altLang="zh-CN" sz="2400" dirty="0"/>
              <a:t>2</a:t>
            </a:r>
            <a:r>
              <a:rPr lang="zh-CN" altLang="en-US" sz="2400" dirty="0"/>
              <a:t>：界定并分析风险（对应</a:t>
            </a:r>
            <a:r>
              <a:rPr lang="zh-CN" altLang="en-US" sz="2400" dirty="0">
                <a:solidFill>
                  <a:srgbClr val="FF0000"/>
                </a:solidFill>
              </a:rPr>
              <a:t>风险识别和分析</a:t>
            </a:r>
            <a:r>
              <a:rPr lang="zh-CN" altLang="en-US" sz="2400" dirty="0"/>
              <a:t>）</a:t>
            </a:r>
            <a:endParaRPr lang="zh-CN" altLang="en-US" sz="2400" dirty="0"/>
          </a:p>
          <a:p>
            <a:pPr lvl="2">
              <a:lnSpc>
                <a:spcPct val="150000"/>
              </a:lnSpc>
            </a:pPr>
            <a:r>
              <a:rPr lang="zh-CN" altLang="en-US" sz="2400" dirty="0"/>
              <a:t>执行方法</a:t>
            </a:r>
            <a:r>
              <a:rPr lang="en-US" altLang="zh-CN" sz="2400" dirty="0"/>
              <a:t>2.1</a:t>
            </a:r>
            <a:r>
              <a:rPr lang="zh-CN" altLang="en-US" sz="2400" dirty="0"/>
              <a:t>：界定风险</a:t>
            </a:r>
            <a:endParaRPr lang="zh-CN" altLang="en-US" sz="2400" dirty="0"/>
          </a:p>
          <a:p>
            <a:pPr lvl="2">
              <a:lnSpc>
                <a:spcPct val="150000"/>
              </a:lnSpc>
            </a:pPr>
            <a:r>
              <a:rPr lang="zh-CN" altLang="en-US" sz="2400" dirty="0"/>
              <a:t>执行方法</a:t>
            </a:r>
            <a:r>
              <a:rPr lang="en-US" altLang="zh-CN" sz="2400" dirty="0"/>
              <a:t>2.2</a:t>
            </a:r>
            <a:r>
              <a:rPr lang="zh-CN" altLang="en-US" sz="2400" dirty="0"/>
              <a:t>：评估、分类及排序风险</a:t>
            </a:r>
            <a:endParaRPr lang="zh-CN" altLang="en-US" sz="2400" dirty="0"/>
          </a:p>
          <a:p>
            <a:pPr lvl="1">
              <a:lnSpc>
                <a:spcPct val="150000"/>
              </a:lnSpc>
            </a:pPr>
            <a:r>
              <a:rPr lang="zh-CN" altLang="en-US" sz="2400" dirty="0"/>
              <a:t>特定目标</a:t>
            </a:r>
            <a:r>
              <a:rPr lang="en-US" altLang="zh-CN" sz="2400" dirty="0"/>
              <a:t>3</a:t>
            </a:r>
            <a:r>
              <a:rPr lang="zh-CN" altLang="en-US" sz="2400" dirty="0"/>
              <a:t>：降低风险（对应</a:t>
            </a:r>
            <a:r>
              <a:rPr lang="zh-CN" altLang="en-US" sz="2400" dirty="0">
                <a:solidFill>
                  <a:srgbClr val="FF0000"/>
                </a:solidFill>
              </a:rPr>
              <a:t>风险应对和监控</a:t>
            </a:r>
            <a:r>
              <a:rPr lang="zh-CN" altLang="en-US" sz="2400" dirty="0"/>
              <a:t>）</a:t>
            </a:r>
            <a:endParaRPr lang="zh-CN" altLang="en-US" sz="2400" dirty="0"/>
          </a:p>
          <a:p>
            <a:pPr lvl="2">
              <a:lnSpc>
                <a:spcPct val="150000"/>
              </a:lnSpc>
            </a:pPr>
            <a:r>
              <a:rPr lang="zh-CN" altLang="en-US" sz="2400" dirty="0"/>
              <a:t>执行方法</a:t>
            </a:r>
            <a:r>
              <a:rPr lang="en-US" altLang="zh-CN" sz="2400" dirty="0"/>
              <a:t>3.1</a:t>
            </a:r>
            <a:r>
              <a:rPr lang="zh-CN" altLang="en-US" sz="2400" dirty="0"/>
              <a:t>：开发风险降低计划</a:t>
            </a:r>
            <a:endParaRPr lang="zh-CN" altLang="en-US" sz="2400" dirty="0"/>
          </a:p>
          <a:p>
            <a:pPr lvl="2">
              <a:lnSpc>
                <a:spcPct val="150000"/>
              </a:lnSpc>
            </a:pPr>
            <a:r>
              <a:rPr lang="zh-CN" altLang="en-US" sz="2400" dirty="0"/>
              <a:t>执行方法</a:t>
            </a:r>
            <a:r>
              <a:rPr lang="en-US" altLang="zh-CN" sz="2400" dirty="0"/>
              <a:t>3.2</a:t>
            </a:r>
            <a:r>
              <a:rPr lang="zh-CN" altLang="en-US" sz="2400" dirty="0"/>
              <a:t>：执行风险降低计划</a:t>
            </a:r>
            <a:endParaRPr lang="en-US" altLang="zh-CN" sz="2400" dirty="0"/>
          </a:p>
        </p:txBody>
      </p:sp>
      <p:pic>
        <p:nvPicPr>
          <p:cNvPr id="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59983" y="5294312"/>
            <a:ext cx="1905000" cy="1781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10.2</a:t>
            </a:r>
            <a:r>
              <a:rPr lang="zh-CN" altLang="en-US" sz="2400" b="1" dirty="0">
                <a:solidFill>
                  <a:srgbClr val="01395C"/>
                </a:solidFill>
                <a:latin typeface="方正粗宋简体"/>
                <a:ea typeface="方正粗宋简体"/>
                <a:cs typeface="方正粗宋简体"/>
              </a:rPr>
              <a:t> 风险管理模型</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435429" y="1376363"/>
            <a:ext cx="11469187" cy="5677535"/>
          </a:xfrm>
          <a:prstGeom prst="rect">
            <a:avLst/>
          </a:prstGeom>
          <a:noFill/>
        </p:spPr>
        <p:txBody>
          <a:bodyPr wrap="square">
            <a:spAutoFit/>
          </a:bodyPr>
          <a:lstStyle/>
          <a:p>
            <a:pPr indent="647700" algn="just" latinLnBrk="0">
              <a:lnSpc>
                <a:spcPct val="150000"/>
              </a:lnSpc>
            </a:pPr>
            <a:r>
              <a:rPr lang="zh-CN" altLang="en-US" sz="2200" dirty="0">
                <a:latin typeface="+mn-ea"/>
                <a:ea typeface="+mn-ea"/>
              </a:rPr>
              <a:t>美国著名的软件工程专家巴利</a:t>
            </a:r>
            <a:r>
              <a:rPr lang="en-US" altLang="zh-CN" sz="2200" dirty="0">
                <a:latin typeface="+mn-ea"/>
                <a:ea typeface="+mn-ea"/>
              </a:rPr>
              <a:t>·</a:t>
            </a:r>
            <a:r>
              <a:rPr lang="zh-CN" altLang="en-US" sz="2200" dirty="0">
                <a:latin typeface="+mn-ea"/>
                <a:ea typeface="+mn-ea"/>
              </a:rPr>
              <a:t>玻姆（</a:t>
            </a:r>
            <a:r>
              <a:rPr lang="en-US" altLang="zh-CN" sz="2200" dirty="0">
                <a:latin typeface="+mn-ea"/>
                <a:ea typeface="+mn-ea"/>
              </a:rPr>
              <a:t>Barry Boehm</a:t>
            </a:r>
            <a:r>
              <a:rPr lang="zh-CN" altLang="en-US" sz="2200" dirty="0">
                <a:latin typeface="+mn-ea"/>
                <a:ea typeface="+mn-ea"/>
              </a:rPr>
              <a:t>）</a:t>
            </a:r>
            <a:endParaRPr lang="en-US" altLang="zh-CN" sz="2200" dirty="0">
              <a:latin typeface="+mn-ea"/>
              <a:ea typeface="+mn-ea"/>
            </a:endParaRPr>
          </a:p>
          <a:p>
            <a:pPr indent="647700" algn="just" latinLnBrk="0">
              <a:lnSpc>
                <a:spcPct val="150000"/>
              </a:lnSpc>
            </a:pPr>
            <a:r>
              <a:rPr lang="zh-CN" altLang="en-US" sz="2200" dirty="0">
                <a:latin typeface="+mn-ea"/>
                <a:ea typeface="+mn-ea"/>
              </a:rPr>
              <a:t>用公式 </a:t>
            </a:r>
            <a:r>
              <a:rPr lang="en-US" altLang="zh-CN" sz="2200" dirty="0">
                <a:solidFill>
                  <a:srgbClr val="C00000"/>
                </a:solidFill>
                <a:latin typeface="+mn-ea"/>
                <a:ea typeface="+mn-ea"/>
              </a:rPr>
              <a:t>RE = P(UO) * L(UO) </a:t>
            </a:r>
            <a:r>
              <a:rPr lang="zh-CN" altLang="en-US" sz="2200" dirty="0">
                <a:latin typeface="+mn-ea"/>
                <a:ea typeface="+mn-ea"/>
              </a:rPr>
              <a:t>对风险进行定义。</a:t>
            </a:r>
            <a:endParaRPr lang="zh-CN" altLang="en-US" sz="2200" dirty="0">
              <a:latin typeface="+mn-ea"/>
              <a:ea typeface="+mn-ea"/>
            </a:endParaRPr>
          </a:p>
          <a:p>
            <a:pPr indent="647700" algn="just" latinLnBrk="0">
              <a:lnSpc>
                <a:spcPct val="150000"/>
              </a:lnSpc>
            </a:pPr>
            <a:r>
              <a:rPr lang="en-US" altLang="zh-CN" sz="2200" dirty="0">
                <a:solidFill>
                  <a:srgbClr val="C00000"/>
                </a:solidFill>
                <a:latin typeface="+mn-ea"/>
                <a:ea typeface="+mn-ea"/>
              </a:rPr>
              <a:t>RE </a:t>
            </a:r>
            <a:r>
              <a:rPr lang="zh-CN" altLang="en-US" sz="2200" dirty="0">
                <a:latin typeface="+mn-ea"/>
                <a:ea typeface="+mn-ea"/>
              </a:rPr>
              <a:t>表示风险或者风险所造成的影响</a:t>
            </a:r>
            <a:endParaRPr lang="zh-CN" altLang="en-US" sz="2200" dirty="0">
              <a:latin typeface="+mn-ea"/>
              <a:ea typeface="+mn-ea"/>
            </a:endParaRPr>
          </a:p>
          <a:p>
            <a:pPr indent="647700" algn="just" latinLnBrk="0">
              <a:lnSpc>
                <a:spcPct val="150000"/>
              </a:lnSpc>
            </a:pPr>
            <a:r>
              <a:rPr lang="en-US" altLang="zh-CN" sz="2200" dirty="0">
                <a:solidFill>
                  <a:srgbClr val="C00000"/>
                </a:solidFill>
                <a:latin typeface="+mn-ea"/>
                <a:ea typeface="+mn-ea"/>
              </a:rPr>
              <a:t>P(UO) </a:t>
            </a:r>
            <a:r>
              <a:rPr lang="zh-CN" altLang="en-US" sz="2200" dirty="0">
                <a:latin typeface="+mn-ea"/>
                <a:ea typeface="+mn-ea"/>
              </a:rPr>
              <a:t>表示令人不满意的结果所发生的概率</a:t>
            </a:r>
            <a:endParaRPr lang="zh-CN" altLang="en-US" sz="2200" dirty="0">
              <a:latin typeface="+mn-ea"/>
              <a:ea typeface="+mn-ea"/>
            </a:endParaRPr>
          </a:p>
          <a:p>
            <a:pPr indent="647700" algn="just" latinLnBrk="0">
              <a:lnSpc>
                <a:spcPct val="150000"/>
              </a:lnSpc>
            </a:pPr>
            <a:r>
              <a:rPr lang="en-US" altLang="zh-CN" sz="2200" dirty="0">
                <a:solidFill>
                  <a:srgbClr val="C00000"/>
                </a:solidFill>
                <a:latin typeface="+mn-ea"/>
                <a:ea typeface="+mn-ea"/>
              </a:rPr>
              <a:t>L(UO) </a:t>
            </a:r>
            <a:r>
              <a:rPr lang="zh-CN" altLang="en-US" sz="2200" dirty="0">
                <a:latin typeface="+mn-ea"/>
                <a:ea typeface="+mn-ea"/>
              </a:rPr>
              <a:t>表示糟糕的结果会产生的破坏性的程度</a:t>
            </a:r>
            <a:endParaRPr lang="en-US" altLang="zh-CN" sz="2200" dirty="0">
              <a:latin typeface="+mn-ea"/>
              <a:ea typeface="+mn-ea"/>
            </a:endParaRPr>
          </a:p>
          <a:p>
            <a:pPr indent="647700" algn="just" latinLnBrk="0">
              <a:lnSpc>
                <a:spcPct val="150000"/>
              </a:lnSpc>
            </a:pPr>
            <a:r>
              <a:rPr lang="en-US" altLang="zh-CN" sz="2200" dirty="0">
                <a:latin typeface="+mn-ea"/>
                <a:ea typeface="+mn-ea"/>
              </a:rPr>
              <a:t>Boehm</a:t>
            </a:r>
            <a:r>
              <a:rPr lang="zh-CN" altLang="en-US" sz="2200" dirty="0">
                <a:solidFill>
                  <a:srgbClr val="C00000"/>
                </a:solidFill>
                <a:latin typeface="+mn-ea"/>
                <a:ea typeface="+mn-ea"/>
              </a:rPr>
              <a:t>思想的核心</a:t>
            </a:r>
            <a:r>
              <a:rPr lang="zh-CN" altLang="en-US" sz="2200" dirty="0">
                <a:latin typeface="+mn-ea"/>
                <a:ea typeface="+mn-ea"/>
              </a:rPr>
              <a:t>是</a:t>
            </a:r>
            <a:r>
              <a:rPr lang="en-US" altLang="zh-CN" sz="2200" dirty="0">
                <a:solidFill>
                  <a:srgbClr val="C00000"/>
                </a:solidFill>
                <a:latin typeface="+mn-ea"/>
                <a:ea typeface="+mn-ea"/>
              </a:rPr>
              <a:t>10</a:t>
            </a:r>
            <a:r>
              <a:rPr lang="zh-CN" altLang="en-US" sz="2200" dirty="0">
                <a:solidFill>
                  <a:srgbClr val="C00000"/>
                </a:solidFill>
                <a:latin typeface="+mn-ea"/>
                <a:ea typeface="+mn-ea"/>
              </a:rPr>
              <a:t>大风险因素列表</a:t>
            </a:r>
            <a:r>
              <a:rPr lang="zh-CN" altLang="en-US" sz="2200" dirty="0">
                <a:latin typeface="+mn-ea"/>
                <a:ea typeface="+mn-ea"/>
              </a:rPr>
              <a:t>，其中包括人员短缺、不合理的进度安排和预算、不断的需求变动等。针对每个风险因素，</a:t>
            </a:r>
            <a:r>
              <a:rPr lang="en-US" altLang="zh-CN" sz="2200" dirty="0">
                <a:latin typeface="+mn-ea"/>
                <a:ea typeface="+mn-ea"/>
              </a:rPr>
              <a:t>Boehm</a:t>
            </a:r>
            <a:r>
              <a:rPr lang="zh-CN" altLang="en-US" sz="2200" dirty="0">
                <a:latin typeface="+mn-ea"/>
                <a:ea typeface="+mn-ea"/>
              </a:rPr>
              <a:t>都给出了一系列的风险管理策略。</a:t>
            </a:r>
            <a:endParaRPr lang="zh-CN" altLang="en-US" sz="2200" dirty="0">
              <a:latin typeface="+mn-ea"/>
              <a:ea typeface="+mn-ea"/>
            </a:endParaRPr>
          </a:p>
          <a:p>
            <a:pPr indent="647700" algn="just" latinLnBrk="0">
              <a:lnSpc>
                <a:spcPct val="150000"/>
              </a:lnSpc>
            </a:pPr>
            <a:r>
              <a:rPr lang="zh-CN" altLang="en-US" sz="2200" dirty="0">
                <a:latin typeface="+mn-ea"/>
                <a:ea typeface="+mn-ea"/>
              </a:rPr>
              <a:t>在实际操作时，以</a:t>
            </a:r>
            <a:r>
              <a:rPr lang="en-US" altLang="zh-CN" sz="2200" dirty="0">
                <a:latin typeface="+mn-ea"/>
                <a:ea typeface="+mn-ea"/>
              </a:rPr>
              <a:t>10</a:t>
            </a:r>
            <a:r>
              <a:rPr lang="zh-CN" altLang="en-US" sz="2200" dirty="0">
                <a:latin typeface="+mn-ea"/>
                <a:ea typeface="+mn-ea"/>
              </a:rPr>
              <a:t>大风险列表为依据，总结当前项目具体的风险因素，评估后进行计划和实施，在下一次定期召开的会议上再对这</a:t>
            </a:r>
            <a:r>
              <a:rPr lang="en-US" altLang="zh-CN" sz="2200" dirty="0">
                <a:latin typeface="+mn-ea"/>
                <a:ea typeface="+mn-ea"/>
              </a:rPr>
              <a:t>10</a:t>
            </a:r>
            <a:r>
              <a:rPr lang="zh-CN" altLang="en-US" sz="2200" dirty="0">
                <a:latin typeface="+mn-ea"/>
                <a:ea typeface="+mn-ea"/>
              </a:rPr>
              <a:t>大风险因素的解决情况进行总结，产生新的</a:t>
            </a:r>
            <a:r>
              <a:rPr lang="en-US" altLang="zh-CN" sz="2200" dirty="0">
                <a:latin typeface="+mn-ea"/>
                <a:ea typeface="+mn-ea"/>
              </a:rPr>
              <a:t>10</a:t>
            </a:r>
            <a:r>
              <a:rPr lang="zh-CN" altLang="en-US" sz="2200" dirty="0">
                <a:latin typeface="+mn-ea"/>
                <a:ea typeface="+mn-ea"/>
              </a:rPr>
              <a:t>大风险因素表，依此类推。</a:t>
            </a:r>
            <a:endParaRPr lang="zh-CN" altLang="en-US" sz="2200" dirty="0">
              <a:latin typeface="+mn-ea"/>
              <a:ea typeface="+mn-ea"/>
            </a:endParaRPr>
          </a:p>
          <a:p>
            <a:pPr algn="just">
              <a:lnSpc>
                <a:spcPct val="150000"/>
              </a:lnSpc>
            </a:pPr>
            <a:endParaRPr lang="zh-CN" altLang="en-US" sz="2200" dirty="0">
              <a:latin typeface="+mn-ea"/>
              <a:ea typeface="+mn-ea"/>
            </a:endParaRPr>
          </a:p>
        </p:txBody>
      </p:sp>
      <p:sp>
        <p:nvSpPr>
          <p:cNvPr id="2" name="文本框 1"/>
          <p:cNvSpPr txBox="1"/>
          <p:nvPr/>
        </p:nvSpPr>
        <p:spPr>
          <a:xfrm>
            <a:off x="5285520" y="775064"/>
            <a:ext cx="1620957" cy="523220"/>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800" dirty="0"/>
              <a:t>玻姆模型</a:t>
            </a:r>
            <a:endParaRPr lang="zh-CN" altLang="en-US" sz="2800" dirty="0"/>
          </a:p>
        </p:txBody>
      </p:sp>
      <p:pic>
        <p:nvPicPr>
          <p:cNvPr id="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04020" y="775335"/>
            <a:ext cx="2452370" cy="29914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10.2</a:t>
            </a:r>
            <a:r>
              <a:rPr lang="zh-CN" altLang="en-US" sz="2400" b="1" dirty="0">
                <a:solidFill>
                  <a:srgbClr val="01395C"/>
                </a:solidFill>
                <a:latin typeface="方正粗宋简体"/>
                <a:ea typeface="方正粗宋简体"/>
                <a:cs typeface="方正粗宋简体"/>
              </a:rPr>
              <a:t> 风险管理模型</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574766" y="1376363"/>
            <a:ext cx="10937965" cy="3905043"/>
          </a:xfrm>
          <a:prstGeom prst="rect">
            <a:avLst/>
          </a:prstGeom>
          <a:noFill/>
        </p:spPr>
        <p:txBody>
          <a:bodyPr wrap="square">
            <a:spAutoFit/>
          </a:bodyPr>
          <a:lstStyle/>
          <a:p>
            <a:pPr indent="457200" eaLnBrk="1" hangingPunct="1">
              <a:lnSpc>
                <a:spcPct val="150000"/>
              </a:lnSpc>
              <a:defRPr/>
            </a:pPr>
            <a:r>
              <a:rPr lang="zh-CN" altLang="en-US" sz="2400" kern="0" dirty="0">
                <a:latin typeface="+mn-ea"/>
                <a:ea typeface="+mn-ea"/>
              </a:rPr>
              <a:t>卡内基梅隆大学的</a:t>
            </a:r>
            <a:r>
              <a:rPr lang="en-US" altLang="zh-CN" sz="2400" kern="0" dirty="0">
                <a:latin typeface="+mn-ea"/>
                <a:ea typeface="+mn-ea"/>
              </a:rPr>
              <a:t>SEI(Software Engineering Institution)</a:t>
            </a:r>
            <a:r>
              <a:rPr lang="zh-CN" altLang="en-US" sz="2400" kern="0" dirty="0">
                <a:latin typeface="+mn-ea"/>
                <a:ea typeface="+mn-ea"/>
              </a:rPr>
              <a:t>，</a:t>
            </a:r>
            <a:r>
              <a:rPr lang="zh-CN" altLang="en-US" sz="2400" kern="0" dirty="0"/>
              <a:t>提出了持续风险管理模型</a:t>
            </a:r>
            <a:r>
              <a:rPr lang="en-US" altLang="zh-CN" sz="2400" kern="0" dirty="0">
                <a:latin typeface="+mn-ea"/>
                <a:ea typeface="+mn-ea"/>
              </a:rPr>
              <a:t>(Continuous </a:t>
            </a:r>
            <a:r>
              <a:rPr lang="en-US" altLang="zh-CN" sz="2400" kern="0" dirty="0" err="1">
                <a:latin typeface="+mn-ea"/>
                <a:ea typeface="+mn-ea"/>
              </a:rPr>
              <a:t>Rish</a:t>
            </a:r>
            <a:r>
              <a:rPr lang="en-US" altLang="zh-CN" sz="2400" kern="0" dirty="0">
                <a:latin typeface="+mn-ea"/>
                <a:ea typeface="+mn-ea"/>
              </a:rPr>
              <a:t> Management, CRM)</a:t>
            </a:r>
            <a:r>
              <a:rPr lang="zh-CN" altLang="en-US" sz="2400" kern="0" dirty="0">
                <a:latin typeface="+mn-ea"/>
                <a:ea typeface="+mn-ea"/>
              </a:rPr>
              <a:t>。</a:t>
            </a:r>
            <a:endParaRPr lang="en-US" altLang="zh-CN" sz="2400" kern="0" dirty="0">
              <a:latin typeface="+mn-ea"/>
              <a:ea typeface="+mn-ea"/>
            </a:endParaRPr>
          </a:p>
          <a:p>
            <a:pPr indent="457200">
              <a:lnSpc>
                <a:spcPct val="150000"/>
              </a:lnSpc>
            </a:pPr>
            <a:r>
              <a:rPr lang="en-US" altLang="zh-CN" sz="2400" kern="0" dirty="0">
                <a:latin typeface="+mn-ea"/>
                <a:ea typeface="+mn-ea"/>
              </a:rPr>
              <a:t>SEI</a:t>
            </a:r>
            <a:r>
              <a:rPr lang="zh-CN" altLang="en-US" sz="2400" kern="0" dirty="0">
                <a:latin typeface="+mn-ea"/>
                <a:ea typeface="+mn-ea"/>
              </a:rPr>
              <a:t>的</a:t>
            </a:r>
            <a:r>
              <a:rPr lang="zh-CN" altLang="en-US" sz="2400" kern="0" dirty="0">
                <a:solidFill>
                  <a:srgbClr val="C00000"/>
                </a:solidFill>
                <a:latin typeface="+mn-ea"/>
                <a:ea typeface="+mn-ea"/>
              </a:rPr>
              <a:t>风险管理原则</a:t>
            </a:r>
            <a:r>
              <a:rPr lang="zh-CN" altLang="en-US" sz="2400" kern="0" dirty="0">
                <a:latin typeface="+mn-ea"/>
                <a:ea typeface="+mn-ea"/>
              </a:rPr>
              <a:t>是：不断地评估可能造成恶劣后果的因素，决定最迫切需要处理的风险，实现控制风险的策略，评测并确保风险策略实施的有效性。</a:t>
            </a:r>
            <a:endParaRPr lang="zh-CN" altLang="en-US" sz="2400" kern="0" dirty="0">
              <a:latin typeface="+mn-ea"/>
              <a:ea typeface="+mn-ea"/>
            </a:endParaRPr>
          </a:p>
          <a:p>
            <a:pPr indent="457200">
              <a:lnSpc>
                <a:spcPct val="150000"/>
              </a:lnSpc>
            </a:pPr>
            <a:r>
              <a:rPr lang="en-US" altLang="zh-CN" sz="2400" kern="0" dirty="0">
                <a:latin typeface="+mn-ea"/>
                <a:ea typeface="+mn-ea"/>
              </a:rPr>
              <a:t>CRM</a:t>
            </a:r>
            <a:r>
              <a:rPr lang="zh-CN" altLang="en-US" sz="2400" kern="0" dirty="0">
                <a:latin typeface="+mn-ea"/>
                <a:ea typeface="+mn-ea"/>
              </a:rPr>
              <a:t>模型要求在项目生命期的所有阶段都关注风险识别和管理，它将风险管理划分为</a:t>
            </a:r>
            <a:r>
              <a:rPr lang="en-US" altLang="zh-CN" sz="2400" kern="0" dirty="0">
                <a:solidFill>
                  <a:srgbClr val="C00000"/>
                </a:solidFill>
                <a:latin typeface="+mn-ea"/>
                <a:ea typeface="+mn-ea"/>
              </a:rPr>
              <a:t>5</a:t>
            </a:r>
            <a:r>
              <a:rPr lang="zh-CN" altLang="en-US" sz="2400" kern="0" dirty="0">
                <a:solidFill>
                  <a:srgbClr val="C00000"/>
                </a:solidFill>
                <a:latin typeface="+mn-ea"/>
                <a:ea typeface="+mn-ea"/>
              </a:rPr>
              <a:t>个步骤</a:t>
            </a:r>
            <a:r>
              <a:rPr lang="zh-CN" altLang="en-US" sz="2400" kern="0" dirty="0">
                <a:latin typeface="+mn-ea"/>
                <a:ea typeface="+mn-ea"/>
              </a:rPr>
              <a:t>，即</a:t>
            </a:r>
            <a:r>
              <a:rPr lang="zh-CN" altLang="en-US" sz="2400" kern="0" dirty="0">
                <a:solidFill>
                  <a:srgbClr val="C00000"/>
                </a:solidFill>
                <a:latin typeface="+mn-ea"/>
                <a:ea typeface="+mn-ea"/>
              </a:rPr>
              <a:t>风险识别、分析、计划、跟踪、控制</a:t>
            </a:r>
            <a:r>
              <a:rPr lang="zh-CN" altLang="en-US" sz="2400" kern="0" dirty="0">
                <a:latin typeface="+mn-ea"/>
                <a:ea typeface="+mn-ea"/>
              </a:rPr>
              <a:t>。 </a:t>
            </a:r>
            <a:endParaRPr lang="zh-CN" altLang="en-US" sz="2400" kern="0" dirty="0">
              <a:latin typeface="+mn-ea"/>
              <a:ea typeface="+mn-ea"/>
            </a:endParaRPr>
          </a:p>
          <a:p>
            <a:pPr eaLnBrk="1" hangingPunct="1">
              <a:lnSpc>
                <a:spcPct val="150000"/>
              </a:lnSpc>
              <a:defRPr/>
            </a:pPr>
            <a:endParaRPr lang="en-US" altLang="zh-CN"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2" name="文本框 1"/>
          <p:cNvSpPr txBox="1"/>
          <p:nvPr/>
        </p:nvSpPr>
        <p:spPr>
          <a:xfrm>
            <a:off x="4920036" y="775064"/>
            <a:ext cx="2351926" cy="523220"/>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800" dirty="0"/>
              <a:t>SEI</a:t>
            </a:r>
            <a:r>
              <a:rPr lang="zh-CN" altLang="en-US" sz="2800" dirty="0"/>
              <a:t>的</a:t>
            </a:r>
            <a:r>
              <a:rPr lang="en-US" altLang="zh-CN" sz="2800" dirty="0"/>
              <a:t>CRM</a:t>
            </a:r>
            <a:r>
              <a:rPr lang="zh-CN" altLang="en-US" sz="2800" dirty="0"/>
              <a:t>模型</a:t>
            </a:r>
            <a:endParaRPr lang="zh-CN" altLang="en-US" sz="2800" dirty="0"/>
          </a:p>
        </p:txBody>
      </p:sp>
      <p:pic>
        <p:nvPicPr>
          <p:cNvPr id="7"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11472" y="5099050"/>
            <a:ext cx="2895600" cy="21717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810" y="5225065"/>
            <a:ext cx="5758544" cy="19414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10.2</a:t>
            </a:r>
            <a:r>
              <a:rPr lang="zh-CN" altLang="en-US" sz="2400" b="1" dirty="0">
                <a:solidFill>
                  <a:srgbClr val="01395C"/>
                </a:solidFill>
                <a:latin typeface="方正粗宋简体"/>
                <a:ea typeface="方正粗宋简体"/>
                <a:cs typeface="方正粗宋简体"/>
              </a:rPr>
              <a:t> 风险管理模型</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7" y="1620202"/>
            <a:ext cx="10622054" cy="2241255"/>
          </a:xfrm>
          <a:prstGeom prst="rect">
            <a:avLst/>
          </a:prstGeom>
          <a:noFill/>
        </p:spPr>
        <p:txBody>
          <a:bodyPr wrap="square">
            <a:spAutoFit/>
          </a:bodyPr>
          <a:lstStyle/>
          <a:p>
            <a:pPr indent="457200" algn="just">
              <a:lnSpc>
                <a:spcPct val="150000"/>
              </a:lnSpc>
            </a:pPr>
            <a:r>
              <a:rPr lang="zh-CN" altLang="en-US" sz="2400" dirty="0">
                <a:effectLst/>
              </a:rPr>
              <a:t>将形成各种系统的组织划分为</a:t>
            </a:r>
            <a:r>
              <a:rPr lang="en-US" altLang="zh-CN" sz="2400" dirty="0">
                <a:effectLst/>
              </a:rPr>
              <a:t>4</a:t>
            </a:r>
            <a:r>
              <a:rPr lang="zh-CN" altLang="en-US" sz="2400" dirty="0">
                <a:effectLst/>
              </a:rPr>
              <a:t>个组成部分，即任务、结构、角色、技术。</a:t>
            </a:r>
            <a:endParaRPr lang="en-US" altLang="zh-CN" sz="2400" dirty="0">
              <a:effectLst/>
            </a:endParaRPr>
          </a:p>
          <a:p>
            <a:pPr indent="457200" algn="just">
              <a:lnSpc>
                <a:spcPct val="150000"/>
              </a:lnSpc>
            </a:pPr>
            <a:r>
              <a:rPr lang="zh-CN" altLang="en-US" sz="2400" dirty="0">
                <a:effectLst/>
              </a:rPr>
              <a:t>关键思路：模型的各个组成部分是密切相关的，一个组成部分的变化会影响其他的组成部分。如果一个组成部分的状态和其他的状态不一致，就会造成比较严重的后果，并可能降低整个系统的性能。</a:t>
            </a:r>
            <a:endParaRPr lang="zh-CN" altLang="en-US" sz="2400" dirty="0">
              <a:effectLst/>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2" name="文本框 1"/>
          <p:cNvSpPr txBox="1"/>
          <p:nvPr/>
        </p:nvSpPr>
        <p:spPr>
          <a:xfrm>
            <a:off x="5105984" y="793188"/>
            <a:ext cx="1980029" cy="523220"/>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800" dirty="0"/>
              <a:t>李维特模型</a:t>
            </a:r>
            <a:endParaRPr lang="zh-CN" altLang="en-US" sz="2800"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10.2</a:t>
            </a:r>
            <a:r>
              <a:rPr lang="zh-CN" altLang="en-US" sz="2400" b="1" dirty="0">
                <a:solidFill>
                  <a:srgbClr val="01395C"/>
                </a:solidFill>
                <a:latin typeface="方正粗宋简体"/>
                <a:ea typeface="方正粗宋简体"/>
                <a:cs typeface="方正粗宋简体"/>
              </a:rPr>
              <a:t> 风险管理模型</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925512" y="1376363"/>
            <a:ext cx="10340975" cy="2797048"/>
          </a:xfrm>
          <a:prstGeom prst="rect">
            <a:avLst/>
          </a:prstGeom>
          <a:noFill/>
        </p:spPr>
        <p:txBody>
          <a:bodyPr>
            <a:spAutoFit/>
          </a:bodyPr>
          <a:lstStyle/>
          <a:p>
            <a:pPr indent="457200" algn="just">
              <a:lnSpc>
                <a:spcPct val="150000"/>
              </a:lnSpc>
            </a:pPr>
            <a:r>
              <a:rPr lang="zh-CN" altLang="en-US" sz="2400" dirty="0">
                <a:solidFill>
                  <a:srgbClr val="C00000"/>
                </a:solidFill>
                <a:effectLst/>
                <a:latin typeface="+mn-ea"/>
                <a:ea typeface="+mn-ea"/>
              </a:rPr>
              <a:t>软件能力成熟度模型集成</a:t>
            </a:r>
            <a:r>
              <a:rPr lang="zh-CN" altLang="en-US" sz="2400" dirty="0">
                <a:effectLst/>
                <a:latin typeface="+mn-ea"/>
                <a:ea typeface="+mn-ea"/>
              </a:rPr>
              <a:t>（</a:t>
            </a:r>
            <a:r>
              <a:rPr lang="en-US" altLang="zh-CN" sz="2400" dirty="0">
                <a:effectLst/>
                <a:latin typeface="+mn-ea"/>
                <a:ea typeface="+mn-ea"/>
              </a:rPr>
              <a:t>Capability Maturity Model Integration</a:t>
            </a:r>
            <a:r>
              <a:rPr lang="zh-CN" altLang="en-US" sz="2400" dirty="0">
                <a:effectLst/>
                <a:latin typeface="+mn-ea"/>
                <a:ea typeface="+mn-ea"/>
              </a:rPr>
              <a:t>，</a:t>
            </a:r>
            <a:r>
              <a:rPr lang="en-US" altLang="zh-CN" sz="2400" dirty="0">
                <a:effectLst/>
                <a:latin typeface="+mn-ea"/>
                <a:ea typeface="+mn-ea"/>
              </a:rPr>
              <a:t>CMMI</a:t>
            </a:r>
            <a:r>
              <a:rPr lang="zh-CN" altLang="en-US" sz="2400" dirty="0">
                <a:effectLst/>
                <a:latin typeface="+mn-ea"/>
                <a:ea typeface="+mn-ea"/>
              </a:rPr>
              <a:t>）是由美国</a:t>
            </a:r>
            <a:r>
              <a:rPr lang="zh-CN" altLang="en-US" sz="2400" dirty="0">
                <a:solidFill>
                  <a:srgbClr val="C00000"/>
                </a:solidFill>
                <a:effectLst/>
                <a:latin typeface="+mn-ea"/>
                <a:ea typeface="+mn-ea"/>
              </a:rPr>
              <a:t>卡内基梅隆大学</a:t>
            </a:r>
            <a:r>
              <a:rPr lang="zh-CN" altLang="en-US" sz="2400" dirty="0">
                <a:effectLst/>
                <a:latin typeface="+mn-ea"/>
                <a:ea typeface="+mn-ea"/>
              </a:rPr>
              <a:t>软件工程研究所（</a:t>
            </a:r>
            <a:r>
              <a:rPr lang="en-US" altLang="zh-CN" sz="2400" dirty="0">
                <a:effectLst/>
                <a:latin typeface="+mn-ea"/>
                <a:ea typeface="+mn-ea"/>
              </a:rPr>
              <a:t>Software Engineering Institute</a:t>
            </a:r>
            <a:r>
              <a:rPr lang="zh-CN" altLang="en-US" sz="2400" dirty="0">
                <a:effectLst/>
                <a:latin typeface="+mn-ea"/>
                <a:ea typeface="+mn-ea"/>
              </a:rPr>
              <a:t>，</a:t>
            </a:r>
            <a:r>
              <a:rPr lang="en-US" altLang="zh-CN" sz="2400" dirty="0">
                <a:effectLst/>
                <a:latin typeface="+mn-ea"/>
                <a:ea typeface="+mn-ea"/>
              </a:rPr>
              <a:t>SEI</a:t>
            </a:r>
            <a:r>
              <a:rPr lang="zh-CN" altLang="en-US" sz="2400" dirty="0">
                <a:effectLst/>
                <a:latin typeface="+mn-ea"/>
                <a:ea typeface="+mn-ea"/>
              </a:rPr>
              <a:t>）在</a:t>
            </a:r>
            <a:r>
              <a:rPr lang="en-US" altLang="zh-CN" sz="2400" dirty="0">
                <a:solidFill>
                  <a:srgbClr val="C00000"/>
                </a:solidFill>
                <a:effectLst/>
                <a:latin typeface="+mn-ea"/>
                <a:ea typeface="+mn-ea"/>
              </a:rPr>
              <a:t>CMM</a:t>
            </a:r>
            <a:r>
              <a:rPr lang="zh-CN" altLang="en-US" sz="2400" dirty="0">
                <a:effectLst/>
                <a:latin typeface="+mn-ea"/>
                <a:ea typeface="+mn-ea"/>
              </a:rPr>
              <a:t>基础上发展而来。</a:t>
            </a:r>
            <a:endParaRPr lang="zh-CN" altLang="en-US" sz="2400" dirty="0">
              <a:effectLst/>
              <a:latin typeface="+mn-ea"/>
              <a:ea typeface="+mn-ea"/>
            </a:endParaRPr>
          </a:p>
          <a:p>
            <a:pPr indent="457200" algn="just">
              <a:lnSpc>
                <a:spcPct val="150000"/>
              </a:lnSpc>
            </a:pPr>
            <a:r>
              <a:rPr lang="zh-CN" altLang="en-US" sz="2400" dirty="0">
                <a:effectLst/>
                <a:latin typeface="+mn-ea"/>
                <a:ea typeface="+mn-ea"/>
              </a:rPr>
              <a:t>目前，</a:t>
            </a:r>
            <a:r>
              <a:rPr lang="en-US" altLang="zh-CN" sz="2400" dirty="0">
                <a:effectLst/>
                <a:latin typeface="+mn-ea"/>
                <a:ea typeface="+mn-ea"/>
              </a:rPr>
              <a:t>CMMI</a:t>
            </a:r>
            <a:r>
              <a:rPr lang="zh-CN" altLang="en-US" sz="2400" dirty="0">
                <a:effectLst/>
                <a:latin typeface="+mn-ea"/>
                <a:ea typeface="+mn-ea"/>
              </a:rPr>
              <a:t>是全球软件业界的管理标准。</a:t>
            </a:r>
            <a:r>
              <a:rPr lang="zh-CN" altLang="en-US" sz="2400" dirty="0">
                <a:solidFill>
                  <a:srgbClr val="C00000"/>
                </a:solidFill>
                <a:effectLst/>
                <a:latin typeface="+mn-ea"/>
                <a:ea typeface="+mn-ea"/>
              </a:rPr>
              <a:t>风险管理过程域</a:t>
            </a:r>
            <a:r>
              <a:rPr lang="zh-CN" altLang="en-US" sz="2400" dirty="0">
                <a:effectLst/>
                <a:latin typeface="+mn-ea"/>
                <a:ea typeface="+mn-ea"/>
              </a:rPr>
              <a:t>在</a:t>
            </a:r>
            <a:r>
              <a:rPr lang="en-US" altLang="zh-CN" sz="2400" dirty="0">
                <a:effectLst/>
                <a:latin typeface="+mn-ea"/>
                <a:ea typeface="+mn-ea"/>
              </a:rPr>
              <a:t>CMMI</a:t>
            </a:r>
            <a:r>
              <a:rPr lang="zh-CN" altLang="en-US" sz="2400" dirty="0">
                <a:effectLst/>
                <a:latin typeface="+mn-ea"/>
                <a:ea typeface="+mn-ea"/>
              </a:rPr>
              <a:t>的第三级，即已定义级中建立一个关键过程域（</a:t>
            </a:r>
            <a:r>
              <a:rPr lang="en-US" altLang="zh-CN" sz="2400" dirty="0">
                <a:effectLst/>
                <a:latin typeface="+mn-ea"/>
                <a:ea typeface="+mn-ea"/>
              </a:rPr>
              <a:t>Key Practice Area</a:t>
            </a:r>
            <a:r>
              <a:rPr lang="zh-CN" altLang="en-US" sz="2400" dirty="0">
                <a:effectLst/>
                <a:latin typeface="+mn-ea"/>
                <a:ea typeface="+mn-ea"/>
              </a:rPr>
              <a:t>，</a:t>
            </a:r>
            <a:r>
              <a:rPr lang="en-US" altLang="zh-CN" sz="2400" dirty="0">
                <a:effectLst/>
                <a:latin typeface="+mn-ea"/>
                <a:ea typeface="+mn-ea"/>
              </a:rPr>
              <a:t>KPA</a:t>
            </a:r>
            <a:r>
              <a:rPr lang="zh-CN" altLang="en-US" sz="2400" dirty="0">
                <a:effectLst/>
                <a:latin typeface="+mn-ea"/>
                <a:ea typeface="+mn-ea"/>
              </a:rPr>
              <a:t>）。</a:t>
            </a:r>
            <a:endParaRPr lang="zh-CN" altLang="en-US" sz="2400" dirty="0">
              <a:effectLst/>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2" name="文本框 1"/>
          <p:cNvSpPr txBox="1"/>
          <p:nvPr/>
        </p:nvSpPr>
        <p:spPr>
          <a:xfrm>
            <a:off x="4437532" y="819016"/>
            <a:ext cx="3316934" cy="523220"/>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800" dirty="0"/>
              <a:t>CMU/SEI</a:t>
            </a:r>
            <a:r>
              <a:rPr lang="zh-CN" altLang="en-US" sz="2800" dirty="0"/>
              <a:t>的</a:t>
            </a:r>
            <a:r>
              <a:rPr lang="en-US" altLang="zh-CN" sz="2800" dirty="0"/>
              <a:t>CMMI</a:t>
            </a:r>
            <a:r>
              <a:rPr lang="zh-CN" altLang="en-US" sz="2800" dirty="0"/>
              <a:t>模型</a:t>
            </a:r>
            <a:endParaRPr lang="zh-CN" altLang="en-US" sz="2800" dirty="0"/>
          </a:p>
        </p:txBody>
      </p:sp>
      <p:pic>
        <p:nvPicPr>
          <p:cNvPr id="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83931" y="4902925"/>
            <a:ext cx="2133600" cy="213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10.2</a:t>
            </a:r>
            <a:r>
              <a:rPr lang="zh-CN" altLang="en-US" sz="2400" b="1" dirty="0">
                <a:solidFill>
                  <a:srgbClr val="01395C"/>
                </a:solidFill>
                <a:latin typeface="方正粗宋简体"/>
                <a:ea typeface="方正粗宋简体"/>
                <a:cs typeface="方正粗宋简体"/>
              </a:rPr>
              <a:t> 风险管理模型</a:t>
            </a:r>
            <a:endParaRPr lang="zh-CN" altLang="en-US" sz="2400" b="1" dirty="0">
              <a:solidFill>
                <a:srgbClr val="01395C"/>
              </a:solidFill>
              <a:latin typeface="方正粗宋简体"/>
              <a:ea typeface="方正粗宋简体"/>
              <a:cs typeface="方正粗宋简体"/>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2" name="文本框 1"/>
          <p:cNvSpPr txBox="1"/>
          <p:nvPr/>
        </p:nvSpPr>
        <p:spPr>
          <a:xfrm>
            <a:off x="4437532" y="819016"/>
            <a:ext cx="3316934" cy="523220"/>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en-US" altLang="zh-CN" sz="2800" dirty="0"/>
              <a:t>CMU/SEI</a:t>
            </a:r>
            <a:r>
              <a:rPr lang="zh-CN" altLang="en-US" sz="2800" dirty="0"/>
              <a:t>的</a:t>
            </a:r>
            <a:r>
              <a:rPr lang="en-US" altLang="zh-CN" sz="2800" dirty="0"/>
              <a:t>CMMI</a:t>
            </a:r>
            <a:r>
              <a:rPr lang="zh-CN" altLang="en-US" sz="2800" dirty="0"/>
              <a:t>模型</a:t>
            </a:r>
            <a:endParaRPr lang="zh-CN" altLang="en-US" sz="2800" dirty="0"/>
          </a:p>
        </p:txBody>
      </p:sp>
      <p:grpSp>
        <p:nvGrpSpPr>
          <p:cNvPr id="12" name="Group 5"/>
          <p:cNvGrpSpPr>
            <a:grpSpLocks noChangeAspect="1"/>
          </p:cNvGrpSpPr>
          <p:nvPr/>
        </p:nvGrpSpPr>
        <p:grpSpPr bwMode="auto">
          <a:xfrm>
            <a:off x="3201663" y="1732644"/>
            <a:ext cx="7687145" cy="5449389"/>
            <a:chOff x="1803" y="6199"/>
            <a:chExt cx="7920" cy="5616"/>
          </a:xfrm>
        </p:grpSpPr>
        <p:sp>
          <p:nvSpPr>
            <p:cNvPr id="13" name="AutoShape 6"/>
            <p:cNvSpPr>
              <a:spLocks noChangeAspect="1" noChangeArrowheads="1"/>
            </p:cNvSpPr>
            <p:nvPr/>
          </p:nvSpPr>
          <p:spPr bwMode="auto">
            <a:xfrm>
              <a:off x="1803" y="6199"/>
              <a:ext cx="7920" cy="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lstStyle/>
            <a:p>
              <a:endParaRPr lang="zh-CN" altLang="en-US" sz="3600"/>
            </a:p>
          </p:txBody>
        </p:sp>
        <p:sp>
          <p:nvSpPr>
            <p:cNvPr id="14" name="Rectangle 7"/>
            <p:cNvSpPr>
              <a:spLocks noChangeArrowheads="1"/>
            </p:cNvSpPr>
            <p:nvPr/>
          </p:nvSpPr>
          <p:spPr bwMode="auto">
            <a:xfrm>
              <a:off x="2523" y="9787"/>
              <a:ext cx="3780" cy="2028"/>
            </a:xfrm>
            <a:prstGeom prst="rect">
              <a:avLst/>
            </a:prstGeom>
            <a:solidFill>
              <a:srgbClr val="FFFFFF"/>
            </a:solidFill>
            <a:ln w="9525" algn="ctr">
              <a:solidFill>
                <a:srgbClr val="000000"/>
              </a:solidFill>
              <a:prstDash val="dash"/>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15" name="Rectangle 8"/>
            <p:cNvSpPr>
              <a:spLocks noChangeArrowheads="1"/>
            </p:cNvSpPr>
            <p:nvPr/>
          </p:nvSpPr>
          <p:spPr bwMode="auto">
            <a:xfrm>
              <a:off x="7743" y="6355"/>
              <a:ext cx="1800" cy="4524"/>
            </a:xfrm>
            <a:prstGeom prst="rect">
              <a:avLst/>
            </a:prstGeom>
            <a:solidFill>
              <a:srgbClr val="FFFFFF"/>
            </a:solidFill>
            <a:ln w="9525" algn="ctr">
              <a:solidFill>
                <a:srgbClr val="000000"/>
              </a:solidFill>
              <a:prstDash val="dash"/>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16" name="Rectangle 9"/>
            <p:cNvSpPr>
              <a:spLocks noChangeArrowheads="1"/>
            </p:cNvSpPr>
            <p:nvPr/>
          </p:nvSpPr>
          <p:spPr bwMode="auto">
            <a:xfrm>
              <a:off x="1803" y="6355"/>
              <a:ext cx="4860" cy="2028"/>
            </a:xfrm>
            <a:prstGeom prst="rect">
              <a:avLst/>
            </a:prstGeom>
            <a:solidFill>
              <a:srgbClr val="FFFFFF"/>
            </a:solidFill>
            <a:ln w="9525" algn="ctr">
              <a:solidFill>
                <a:srgbClr val="000000"/>
              </a:solidFill>
              <a:prstDash val="dash"/>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17" name="Oval 10"/>
            <p:cNvSpPr>
              <a:spLocks noChangeArrowheads="1"/>
            </p:cNvSpPr>
            <p:nvPr/>
          </p:nvSpPr>
          <p:spPr bwMode="auto">
            <a:xfrm>
              <a:off x="5223" y="6822"/>
              <a:ext cx="1261" cy="1302"/>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制定并维护风险管理策略</a:t>
              </a:r>
              <a:endParaRPr lang="zh-CN" altLang="en-US" sz="3600"/>
            </a:p>
          </p:txBody>
        </p:sp>
        <p:sp>
          <p:nvSpPr>
            <p:cNvPr id="18" name="Oval 11"/>
            <p:cNvSpPr>
              <a:spLocks noChangeArrowheads="1"/>
            </p:cNvSpPr>
            <p:nvPr/>
          </p:nvSpPr>
          <p:spPr bwMode="auto">
            <a:xfrm>
              <a:off x="1984" y="6822"/>
              <a:ext cx="1257" cy="1302"/>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确定风险来源和种类</a:t>
              </a:r>
              <a:endParaRPr lang="zh-CN" altLang="en-US" sz="1600" b="0">
                <a:latin typeface="Times New Roman" panose="02020603050405020304" pitchFamily="18" charset="0"/>
              </a:endParaRPr>
            </a:p>
            <a:p>
              <a:endParaRPr lang="en-US" altLang="zh-CN" sz="3600"/>
            </a:p>
          </p:txBody>
        </p:sp>
        <p:sp>
          <p:nvSpPr>
            <p:cNvPr id="19" name="Oval 12"/>
            <p:cNvSpPr>
              <a:spLocks noChangeArrowheads="1"/>
            </p:cNvSpPr>
            <p:nvPr/>
          </p:nvSpPr>
          <p:spPr bwMode="auto">
            <a:xfrm>
              <a:off x="3602" y="6822"/>
              <a:ext cx="1260" cy="1304"/>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定义风险参数</a:t>
              </a:r>
              <a:endParaRPr lang="zh-CN" altLang="en-US" sz="3600"/>
            </a:p>
          </p:txBody>
        </p:sp>
        <p:sp>
          <p:nvSpPr>
            <p:cNvPr id="20" name="Oval 13"/>
            <p:cNvSpPr>
              <a:spLocks noChangeArrowheads="1"/>
            </p:cNvSpPr>
            <p:nvPr/>
          </p:nvSpPr>
          <p:spPr bwMode="auto">
            <a:xfrm>
              <a:off x="4683" y="9871"/>
              <a:ext cx="1261" cy="1008"/>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建立风险缓解计划</a:t>
              </a:r>
              <a:endParaRPr lang="zh-CN" altLang="en-US" sz="3600"/>
            </a:p>
          </p:txBody>
        </p:sp>
        <p:sp>
          <p:nvSpPr>
            <p:cNvPr id="21" name="Oval 14"/>
            <p:cNvSpPr>
              <a:spLocks noChangeArrowheads="1"/>
            </p:cNvSpPr>
            <p:nvPr/>
          </p:nvSpPr>
          <p:spPr bwMode="auto">
            <a:xfrm>
              <a:off x="2808" y="9871"/>
              <a:ext cx="1260" cy="1008"/>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实施风险缓解计划</a:t>
              </a:r>
              <a:endParaRPr lang="zh-CN" altLang="en-US" sz="3600"/>
            </a:p>
          </p:txBody>
        </p:sp>
        <p:sp>
          <p:nvSpPr>
            <p:cNvPr id="22" name="Oval 15"/>
            <p:cNvSpPr>
              <a:spLocks noChangeArrowheads="1"/>
            </p:cNvSpPr>
            <p:nvPr/>
          </p:nvSpPr>
          <p:spPr bwMode="auto">
            <a:xfrm>
              <a:off x="7923" y="7392"/>
              <a:ext cx="1260" cy="1303"/>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识别风险</a:t>
              </a:r>
              <a:endParaRPr lang="zh-CN" altLang="en-US" sz="3600"/>
            </a:p>
          </p:txBody>
        </p:sp>
        <p:sp>
          <p:nvSpPr>
            <p:cNvPr id="23" name="Oval 16"/>
            <p:cNvSpPr>
              <a:spLocks noChangeArrowheads="1"/>
            </p:cNvSpPr>
            <p:nvPr/>
          </p:nvSpPr>
          <p:spPr bwMode="auto">
            <a:xfrm>
              <a:off x="7923" y="9314"/>
              <a:ext cx="1261" cy="1302"/>
            </a:xfrm>
            <a:prstGeom prst="ellipse">
              <a:avLst/>
            </a:prstGeom>
            <a:solidFill>
              <a:srgbClr val="FFFFFF"/>
            </a:solidFill>
            <a:ln w="9525">
              <a:solidFill>
                <a:srgbClr val="000000"/>
              </a:solidFill>
              <a:round/>
            </a:ln>
          </p:spPr>
          <p:txBody>
            <a:bodyPr lIns="0" tIns="0" rIns="0" bIns="0"/>
            <a:lstStyle/>
            <a:p>
              <a:pPr algn="just"/>
              <a:r>
                <a:rPr lang="zh-CN" altLang="en-US" sz="1600" b="0">
                  <a:latin typeface="Times New Roman" panose="02020603050405020304" pitchFamily="18" charset="0"/>
                </a:rPr>
                <a:t>评估、分类和排序风险</a:t>
              </a:r>
              <a:endParaRPr lang="zh-CN" altLang="en-US" sz="3600"/>
            </a:p>
          </p:txBody>
        </p:sp>
        <p:sp>
          <p:nvSpPr>
            <p:cNvPr id="24" name="Line 17"/>
            <p:cNvSpPr>
              <a:spLocks noChangeShapeType="1"/>
            </p:cNvSpPr>
            <p:nvPr/>
          </p:nvSpPr>
          <p:spPr bwMode="auto">
            <a:xfrm>
              <a:off x="3243" y="7447"/>
              <a:ext cx="36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25" name="Line 18"/>
            <p:cNvSpPr>
              <a:spLocks noChangeShapeType="1"/>
            </p:cNvSpPr>
            <p:nvPr/>
          </p:nvSpPr>
          <p:spPr bwMode="auto">
            <a:xfrm>
              <a:off x="4863" y="7447"/>
              <a:ext cx="36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26" name="Text Box 19"/>
            <p:cNvSpPr txBox="1">
              <a:spLocks noChangeArrowheads="1"/>
            </p:cNvSpPr>
            <p:nvPr/>
          </p:nvSpPr>
          <p:spPr bwMode="auto">
            <a:xfrm>
              <a:off x="2883" y="6370"/>
              <a:ext cx="2520" cy="453"/>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b="0" dirty="0">
                  <a:solidFill>
                    <a:srgbClr val="C00000"/>
                  </a:solidFill>
                  <a:latin typeface="Times New Roman" panose="02020603050405020304" pitchFamily="18" charset="0"/>
                </a:rPr>
                <a:t>目标</a:t>
              </a:r>
              <a:r>
                <a:rPr lang="en-US" altLang="zh-CN" sz="1600" b="0" dirty="0">
                  <a:solidFill>
                    <a:srgbClr val="C00000"/>
                  </a:solidFill>
                  <a:latin typeface="Times New Roman" panose="02020603050405020304" pitchFamily="18" charset="0"/>
                </a:rPr>
                <a:t>1</a:t>
              </a:r>
              <a:r>
                <a:rPr lang="zh-CN" altLang="en-US" sz="1600" b="0" dirty="0">
                  <a:solidFill>
                    <a:srgbClr val="C00000"/>
                  </a:solidFill>
                  <a:latin typeface="Times New Roman" panose="02020603050405020304" pitchFamily="18" charset="0"/>
                </a:rPr>
                <a:t>：准备风险管理</a:t>
              </a:r>
              <a:endParaRPr lang="zh-CN" altLang="en-US" sz="3600" dirty="0">
                <a:solidFill>
                  <a:srgbClr val="C00000"/>
                </a:solidFill>
              </a:endParaRPr>
            </a:p>
          </p:txBody>
        </p:sp>
        <p:sp>
          <p:nvSpPr>
            <p:cNvPr id="27" name="Text Box 20"/>
            <p:cNvSpPr txBox="1">
              <a:spLocks noChangeArrowheads="1"/>
            </p:cNvSpPr>
            <p:nvPr/>
          </p:nvSpPr>
          <p:spPr bwMode="auto">
            <a:xfrm>
              <a:off x="7923" y="6511"/>
              <a:ext cx="1620" cy="72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b="0" dirty="0">
                  <a:solidFill>
                    <a:srgbClr val="C00000"/>
                  </a:solidFill>
                  <a:latin typeface="Times New Roman" panose="02020603050405020304" pitchFamily="18" charset="0"/>
                </a:rPr>
                <a:t>目标</a:t>
              </a:r>
              <a:r>
                <a:rPr lang="en-US" altLang="zh-CN" sz="1600" b="0" dirty="0">
                  <a:solidFill>
                    <a:srgbClr val="C00000"/>
                  </a:solidFill>
                  <a:latin typeface="Times New Roman" panose="02020603050405020304" pitchFamily="18" charset="0"/>
                </a:rPr>
                <a:t>2</a:t>
              </a:r>
              <a:r>
                <a:rPr lang="zh-CN" altLang="en-US" sz="1600" b="0" dirty="0">
                  <a:solidFill>
                    <a:srgbClr val="C00000"/>
                  </a:solidFill>
                  <a:latin typeface="Times New Roman" panose="02020603050405020304" pitchFamily="18" charset="0"/>
                </a:rPr>
                <a:t>：识别、分析风险</a:t>
              </a:r>
              <a:endParaRPr lang="zh-CN" altLang="en-US" sz="3600" dirty="0">
                <a:solidFill>
                  <a:srgbClr val="C00000"/>
                </a:solidFill>
              </a:endParaRPr>
            </a:p>
          </p:txBody>
        </p:sp>
        <p:sp>
          <p:nvSpPr>
            <p:cNvPr id="28" name="AutoShape 21"/>
            <p:cNvSpPr>
              <a:spLocks noChangeArrowheads="1"/>
            </p:cNvSpPr>
            <p:nvPr/>
          </p:nvSpPr>
          <p:spPr bwMode="auto">
            <a:xfrm>
              <a:off x="3513" y="8599"/>
              <a:ext cx="1440" cy="780"/>
            </a:xfrm>
            <a:prstGeom prst="can">
              <a:avLst>
                <a:gd name="adj" fmla="val 25000"/>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600" b="0">
                  <a:latin typeface="Times New Roman" panose="02020603050405020304" pitchFamily="18" charset="0"/>
                </a:rPr>
                <a:t>风险库</a:t>
              </a:r>
              <a:endParaRPr lang="zh-CN" altLang="en-US" sz="3600"/>
            </a:p>
          </p:txBody>
        </p:sp>
        <p:sp>
          <p:nvSpPr>
            <p:cNvPr id="29" name="Text Box 22"/>
            <p:cNvSpPr txBox="1">
              <a:spLocks noChangeArrowheads="1"/>
            </p:cNvSpPr>
            <p:nvPr/>
          </p:nvSpPr>
          <p:spPr bwMode="auto">
            <a:xfrm rot="10800000" flipV="1">
              <a:off x="3530" y="11154"/>
              <a:ext cx="1873" cy="341"/>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sz="1600" b="0" dirty="0">
                  <a:solidFill>
                    <a:srgbClr val="C00000"/>
                  </a:solidFill>
                  <a:latin typeface="Times New Roman" panose="02020603050405020304" pitchFamily="18" charset="0"/>
                </a:rPr>
                <a:t>目标</a:t>
              </a:r>
              <a:r>
                <a:rPr lang="en-US" altLang="zh-CN" sz="1600" b="0" dirty="0">
                  <a:solidFill>
                    <a:srgbClr val="C00000"/>
                  </a:solidFill>
                  <a:latin typeface="Times New Roman" panose="02020603050405020304" pitchFamily="18" charset="0"/>
                </a:rPr>
                <a:t>3</a:t>
              </a:r>
              <a:r>
                <a:rPr lang="zh-CN" altLang="en-US" sz="1600" b="0" dirty="0">
                  <a:solidFill>
                    <a:srgbClr val="C00000"/>
                  </a:solidFill>
                  <a:latin typeface="Times New Roman" panose="02020603050405020304" pitchFamily="18" charset="0"/>
                </a:rPr>
                <a:t>：缓解风险</a:t>
              </a:r>
              <a:endParaRPr lang="zh-CN" altLang="en-US" sz="3600" dirty="0">
                <a:solidFill>
                  <a:srgbClr val="C00000"/>
                </a:solidFill>
              </a:endParaRPr>
            </a:p>
          </p:txBody>
        </p:sp>
        <p:sp>
          <p:nvSpPr>
            <p:cNvPr id="30" name="Line 23"/>
            <p:cNvSpPr>
              <a:spLocks noChangeShapeType="1"/>
            </p:cNvSpPr>
            <p:nvPr/>
          </p:nvSpPr>
          <p:spPr bwMode="auto">
            <a:xfrm>
              <a:off x="3063" y="7915"/>
              <a:ext cx="900" cy="624"/>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1" name="Line 24"/>
            <p:cNvSpPr>
              <a:spLocks noChangeShapeType="1"/>
            </p:cNvSpPr>
            <p:nvPr/>
          </p:nvSpPr>
          <p:spPr bwMode="auto">
            <a:xfrm>
              <a:off x="4143" y="8071"/>
              <a:ext cx="0" cy="468"/>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2" name="Line 25"/>
            <p:cNvSpPr>
              <a:spLocks noChangeShapeType="1"/>
            </p:cNvSpPr>
            <p:nvPr/>
          </p:nvSpPr>
          <p:spPr bwMode="auto">
            <a:xfrm>
              <a:off x="6483" y="7759"/>
              <a:ext cx="144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3" name="Line 26"/>
            <p:cNvSpPr>
              <a:spLocks noChangeShapeType="1"/>
            </p:cNvSpPr>
            <p:nvPr/>
          </p:nvSpPr>
          <p:spPr bwMode="auto">
            <a:xfrm flipH="1">
              <a:off x="5043" y="8227"/>
              <a:ext cx="2880" cy="624"/>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4" name="Line 27"/>
            <p:cNvSpPr>
              <a:spLocks noChangeShapeType="1"/>
            </p:cNvSpPr>
            <p:nvPr/>
          </p:nvSpPr>
          <p:spPr bwMode="auto">
            <a:xfrm>
              <a:off x="8568" y="8695"/>
              <a:ext cx="1" cy="624"/>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5" name="Line 28"/>
            <p:cNvSpPr>
              <a:spLocks noChangeShapeType="1"/>
            </p:cNvSpPr>
            <p:nvPr/>
          </p:nvSpPr>
          <p:spPr bwMode="auto">
            <a:xfrm flipH="1" flipV="1">
              <a:off x="5043" y="9163"/>
              <a:ext cx="2880" cy="78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6" name="Line 29"/>
            <p:cNvSpPr>
              <a:spLocks noChangeShapeType="1"/>
            </p:cNvSpPr>
            <p:nvPr/>
          </p:nvSpPr>
          <p:spPr bwMode="auto">
            <a:xfrm flipH="1">
              <a:off x="5943" y="10411"/>
              <a:ext cx="216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7" name="Line 30"/>
            <p:cNvSpPr>
              <a:spLocks noChangeShapeType="1"/>
            </p:cNvSpPr>
            <p:nvPr/>
          </p:nvSpPr>
          <p:spPr bwMode="auto">
            <a:xfrm flipH="1">
              <a:off x="4143" y="10411"/>
              <a:ext cx="54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8" name="Line 31"/>
            <p:cNvSpPr>
              <a:spLocks noChangeShapeType="1"/>
            </p:cNvSpPr>
            <p:nvPr/>
          </p:nvSpPr>
          <p:spPr bwMode="auto">
            <a:xfrm flipH="1" flipV="1">
              <a:off x="1968" y="10411"/>
              <a:ext cx="772" cy="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sp>
          <p:nvSpPr>
            <p:cNvPr id="39" name="Line 32"/>
            <p:cNvSpPr>
              <a:spLocks noChangeShapeType="1"/>
            </p:cNvSpPr>
            <p:nvPr/>
          </p:nvSpPr>
          <p:spPr bwMode="auto">
            <a:xfrm flipH="1" flipV="1">
              <a:off x="1983" y="8383"/>
              <a:ext cx="1" cy="2019"/>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3600"/>
            </a:p>
          </p:txBody>
        </p:sp>
      </p:grpSp>
      <p:sp>
        <p:nvSpPr>
          <p:cNvPr id="4" name="文本框 3"/>
          <p:cNvSpPr txBox="1"/>
          <p:nvPr/>
        </p:nvSpPr>
        <p:spPr>
          <a:xfrm>
            <a:off x="1564983" y="2821358"/>
            <a:ext cx="553998" cy="2165782"/>
          </a:xfrm>
          <a:prstGeom prst="rect">
            <a:avLst/>
          </a:prstGeom>
        </p:spPr>
        <p:style>
          <a:lnRef idx="0">
            <a:schemeClr val="accent2"/>
          </a:lnRef>
          <a:fillRef idx="3">
            <a:schemeClr val="accent2"/>
          </a:fillRef>
          <a:effectRef idx="3">
            <a:schemeClr val="accent2"/>
          </a:effectRef>
          <a:fontRef idx="minor">
            <a:schemeClr val="lt1"/>
          </a:fontRef>
        </p:style>
        <p:txBody>
          <a:bodyPr vert="eaVert" wrap="square" rtlCol="0">
            <a:spAutoFit/>
          </a:bodyPr>
          <a:lstStyle/>
          <a:p>
            <a:pPr algn="ctr"/>
            <a:r>
              <a:rPr lang="zh-CN" altLang="en-US" sz="2400" dirty="0"/>
              <a:t>三  个  目  标</a:t>
            </a:r>
            <a:endParaRPr lang="zh-CN" altLang="en-US" sz="2400"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10.2</a:t>
            </a:r>
            <a:r>
              <a:rPr lang="zh-CN" altLang="en-US" sz="2400" b="1" dirty="0">
                <a:solidFill>
                  <a:srgbClr val="01395C"/>
                </a:solidFill>
                <a:latin typeface="方正粗宋简体"/>
                <a:ea typeface="方正粗宋简体"/>
                <a:cs typeface="方正粗宋简体"/>
              </a:rPr>
              <a:t> 风险管理模型</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925512" y="1533117"/>
            <a:ext cx="10340975" cy="3903248"/>
          </a:xfrm>
          <a:prstGeom prst="rect">
            <a:avLst/>
          </a:prstGeom>
          <a:noFill/>
        </p:spPr>
        <p:txBody>
          <a:bodyPr>
            <a:spAutoFit/>
          </a:bodyPr>
          <a:lstStyle/>
          <a:p>
            <a:pPr>
              <a:lnSpc>
                <a:spcPct val="150000"/>
              </a:lnSpc>
            </a:pPr>
            <a:r>
              <a:rPr lang="zh-CN" altLang="en-US" sz="2400" dirty="0"/>
              <a:t>风险管理原则：</a:t>
            </a:r>
            <a:endParaRPr lang="zh-CN" altLang="en-US" sz="2400" dirty="0"/>
          </a:p>
          <a:p>
            <a:pPr marL="457200" indent="-457200">
              <a:lnSpc>
                <a:spcPct val="150000"/>
              </a:lnSpc>
              <a:buFont typeface="+mj-lt"/>
              <a:buAutoNum type="arabicPeriod"/>
            </a:pPr>
            <a:r>
              <a:rPr lang="zh-CN" altLang="en-US" sz="2400" dirty="0"/>
              <a:t>持续的评估。</a:t>
            </a:r>
            <a:endParaRPr lang="zh-CN" altLang="en-US" sz="2400" dirty="0"/>
          </a:p>
          <a:p>
            <a:pPr marL="457200" indent="-457200">
              <a:lnSpc>
                <a:spcPct val="150000"/>
              </a:lnSpc>
              <a:buFont typeface="+mj-lt"/>
              <a:buAutoNum type="arabicPeriod"/>
            </a:pPr>
            <a:r>
              <a:rPr lang="zh-CN" altLang="en-US" sz="2400" dirty="0"/>
              <a:t>培养开放的沟通环境：所有组成员应参与风险识别与分析，领导者应鼓励建立没有责备的文化。</a:t>
            </a:r>
            <a:endParaRPr lang="zh-CN" altLang="en-US" sz="2400" dirty="0"/>
          </a:p>
          <a:p>
            <a:pPr marL="457200" indent="-457200">
              <a:lnSpc>
                <a:spcPct val="150000"/>
              </a:lnSpc>
              <a:buFont typeface="+mj-lt"/>
              <a:buAutoNum type="arabicPeriod"/>
            </a:pPr>
            <a:r>
              <a:rPr lang="zh-CN" altLang="en-US" sz="2400" dirty="0"/>
              <a:t>从经验中学习：学习可以大大降低不确定性，强调组织级或企业级的从项目结果中学习的重要性。</a:t>
            </a:r>
            <a:endParaRPr lang="zh-CN" altLang="en-US" sz="2400" dirty="0"/>
          </a:p>
          <a:p>
            <a:pPr marL="457200" indent="-457200">
              <a:lnSpc>
                <a:spcPct val="150000"/>
              </a:lnSpc>
              <a:buFont typeface="+mj-lt"/>
              <a:buAutoNum type="arabicPeriod"/>
            </a:pPr>
            <a:r>
              <a:rPr lang="zh-CN" altLang="en-US" sz="2400" dirty="0"/>
              <a:t>责任分担：组中任何成员都有义务进行风险管理 </a:t>
            </a:r>
            <a:endParaRPr lang="zh-CN" altLang="en-US" sz="240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2" name="文本框 1"/>
          <p:cNvSpPr txBox="1"/>
          <p:nvPr/>
        </p:nvSpPr>
        <p:spPr>
          <a:xfrm>
            <a:off x="4094489" y="767062"/>
            <a:ext cx="4164923" cy="523220"/>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sz="2800" dirty="0">
                <a:latin typeface="+mn-ea"/>
              </a:rPr>
              <a:t>微软的</a:t>
            </a:r>
            <a:r>
              <a:rPr lang="en-US" altLang="zh-CN" sz="2800" dirty="0">
                <a:latin typeface="+mn-ea"/>
              </a:rPr>
              <a:t>MSF</a:t>
            </a:r>
            <a:r>
              <a:rPr lang="zh-CN" altLang="en-US" sz="2800" dirty="0">
                <a:latin typeface="+mn-ea"/>
              </a:rPr>
              <a:t>风险管理模型</a:t>
            </a:r>
            <a:endParaRPr lang="zh-CN" altLang="en-US" sz="2800" dirty="0">
              <a:latin typeface="+mn-ea"/>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10.3</a:t>
            </a:r>
            <a:r>
              <a:rPr lang="zh-CN" altLang="en-US" sz="2400" b="1" dirty="0">
                <a:solidFill>
                  <a:srgbClr val="01395C"/>
                </a:solidFill>
                <a:latin typeface="方正粗宋简体"/>
                <a:ea typeface="方正粗宋简体"/>
                <a:cs typeface="方正粗宋简体"/>
              </a:rPr>
              <a:t> 风险管理计划</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1679755"/>
          </a:xfrm>
          <a:prstGeom prst="rect">
            <a:avLst/>
          </a:prstGeom>
          <a:noFill/>
        </p:spPr>
        <p:txBody>
          <a:bodyPr>
            <a:spAutoFit/>
          </a:bodyPr>
          <a:lstStyle/>
          <a:p>
            <a:pPr eaLnBrk="1" hangingPunct="1">
              <a:lnSpc>
                <a:spcPct val="150000"/>
              </a:lnSpc>
              <a:defRPr/>
            </a:pPr>
            <a:r>
              <a:rPr lang="zh-CN" altLang="en-US" sz="2400" kern="0" dirty="0"/>
              <a:t>风险管理计划的内容</a:t>
            </a:r>
            <a:endParaRPr lang="en-US" altLang="zh-CN" sz="2400" kern="0" dirty="0"/>
          </a:p>
          <a:p>
            <a:pPr eaLnBrk="1" hangingPunct="1">
              <a:lnSpc>
                <a:spcPct val="150000"/>
              </a:lnSpc>
              <a:defRPr/>
            </a:pPr>
            <a:r>
              <a:rPr lang="zh-CN" altLang="en-US" sz="2400" kern="0" dirty="0"/>
              <a:t>风险管理计划的工具与技术</a:t>
            </a:r>
            <a:endParaRPr lang="en-US" altLang="zh-CN" sz="2400" kern="0" dirty="0"/>
          </a:p>
          <a:p>
            <a:pPr eaLnBrk="1" hangingPunct="1">
              <a:lnSpc>
                <a:spcPct val="150000"/>
              </a:lnSpc>
              <a:defRPr/>
            </a:pPr>
            <a:r>
              <a:rPr lang="zh-CN" altLang="en-US" sz="2400" kern="0" dirty="0"/>
              <a:t>风险管理计划的输入、输出</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10.3</a:t>
            </a:r>
            <a:r>
              <a:rPr lang="zh-CN" altLang="en-US" sz="2400" b="1" dirty="0">
                <a:solidFill>
                  <a:srgbClr val="01395C"/>
                </a:solidFill>
                <a:latin typeface="方正粗宋简体"/>
                <a:ea typeface="方正粗宋简体"/>
                <a:cs typeface="方正粗宋简体"/>
              </a:rPr>
              <a:t> 风险管理计划</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1293093" y="2213691"/>
            <a:ext cx="5227782" cy="2797048"/>
          </a:xfrm>
          <a:prstGeom prst="rect">
            <a:avLst/>
          </a:prstGeom>
          <a:noFill/>
        </p:spPr>
        <p:txBody>
          <a:bodyPr wrap="square" numCol="1">
            <a:spAutoFit/>
          </a:bodyPr>
          <a:lstStyle/>
          <a:p>
            <a:pPr marL="457200" indent="-457200" eaLnBrk="1" hangingPunct="1">
              <a:lnSpc>
                <a:spcPct val="150000"/>
              </a:lnSpc>
              <a:buFont typeface="+mj-lt"/>
              <a:buAutoNum type="arabicPeriod"/>
              <a:defRPr/>
            </a:pPr>
            <a:r>
              <a:rPr lang="zh-CN" altLang="en-US" sz="2400" kern="0" dirty="0">
                <a:latin typeface="+mn-ea"/>
                <a:ea typeface="+mn-ea"/>
              </a:rPr>
              <a:t>方法论</a:t>
            </a:r>
            <a:endParaRPr lang="en-US" altLang="zh-CN" sz="2400" kern="0" dirty="0">
              <a:latin typeface="+mn-ea"/>
              <a:ea typeface="+mn-ea"/>
            </a:endParaRPr>
          </a:p>
          <a:p>
            <a:pPr marL="457200" indent="-457200" eaLnBrk="1" hangingPunct="1">
              <a:lnSpc>
                <a:spcPct val="150000"/>
              </a:lnSpc>
              <a:buFont typeface="+mj-lt"/>
              <a:buAutoNum type="arabicPeriod"/>
              <a:defRPr/>
            </a:pPr>
            <a:r>
              <a:rPr lang="zh-CN" altLang="en-US" sz="2400" kern="0" dirty="0">
                <a:latin typeface="+mn-ea"/>
                <a:ea typeface="+mn-ea"/>
              </a:rPr>
              <a:t>角色与职责</a:t>
            </a:r>
            <a:endParaRPr lang="en-US" altLang="zh-CN" sz="2400" kern="0" dirty="0">
              <a:latin typeface="+mn-ea"/>
              <a:ea typeface="+mn-ea"/>
            </a:endParaRPr>
          </a:p>
          <a:p>
            <a:pPr marL="457200" indent="-457200" eaLnBrk="1" hangingPunct="1">
              <a:lnSpc>
                <a:spcPct val="150000"/>
              </a:lnSpc>
              <a:buFont typeface="+mj-lt"/>
              <a:buAutoNum type="arabicPeriod"/>
              <a:defRPr/>
            </a:pPr>
            <a:r>
              <a:rPr lang="zh-CN" altLang="en-US" sz="2400" kern="0" dirty="0">
                <a:latin typeface="+mn-ea"/>
                <a:ea typeface="+mn-ea"/>
              </a:rPr>
              <a:t>预算</a:t>
            </a:r>
            <a:endParaRPr lang="en-US" altLang="zh-CN" sz="2400" kern="0" dirty="0">
              <a:latin typeface="+mn-ea"/>
              <a:ea typeface="+mn-ea"/>
            </a:endParaRPr>
          </a:p>
          <a:p>
            <a:pPr marL="457200" indent="-457200" eaLnBrk="1" hangingPunct="1">
              <a:lnSpc>
                <a:spcPct val="150000"/>
              </a:lnSpc>
              <a:buFont typeface="+mj-lt"/>
              <a:buAutoNum type="arabicPeriod"/>
              <a:defRPr/>
            </a:pPr>
            <a:r>
              <a:rPr lang="zh-CN" altLang="en-US" sz="2400" kern="0" dirty="0">
                <a:latin typeface="+mn-ea"/>
                <a:ea typeface="+mn-ea"/>
              </a:rPr>
              <a:t>计时法</a:t>
            </a:r>
            <a:endParaRPr lang="en-US" altLang="zh-CN" sz="2400" kern="0" dirty="0">
              <a:latin typeface="+mn-ea"/>
              <a:ea typeface="+mn-ea"/>
            </a:endParaRPr>
          </a:p>
          <a:p>
            <a:pPr marL="457200" indent="-457200" eaLnBrk="1" hangingPunct="1">
              <a:lnSpc>
                <a:spcPct val="150000"/>
              </a:lnSpc>
              <a:buFont typeface="+mj-lt"/>
              <a:buAutoNum type="arabicPeriod"/>
              <a:defRPr/>
            </a:pPr>
            <a:r>
              <a:rPr lang="zh-CN" altLang="en-US" sz="2400" kern="0" dirty="0">
                <a:latin typeface="+mn-ea"/>
                <a:ea typeface="+mn-ea"/>
              </a:rPr>
              <a:t>风险分类（重点）</a:t>
            </a:r>
            <a:endParaRPr lang="en-US" altLang="zh-CN"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7" name="文本框 6"/>
          <p:cNvSpPr txBox="1"/>
          <p:nvPr/>
        </p:nvSpPr>
        <p:spPr>
          <a:xfrm>
            <a:off x="2953326" y="918802"/>
            <a:ext cx="6100618" cy="660437"/>
          </a:xfrm>
          <a:prstGeom prst="rect">
            <a:avLst/>
          </a:prstGeom>
          <a:noFill/>
        </p:spPr>
        <p:txBody>
          <a:bodyPr wrap="square">
            <a:spAutoFit/>
          </a:bodyPr>
          <a:lstStyle/>
          <a:p>
            <a:pPr algn="ctr" eaLnBrk="1" hangingPunct="1">
              <a:lnSpc>
                <a:spcPct val="150000"/>
              </a:lnSpc>
              <a:defRPr/>
            </a:pPr>
            <a:r>
              <a:rPr lang="zh-CN" altLang="en-US" sz="2800" b="1" kern="0" dirty="0">
                <a:solidFill>
                  <a:srgbClr val="C00000"/>
                </a:solidFill>
              </a:rPr>
              <a:t>风险管理计划的内容</a:t>
            </a:r>
            <a:endParaRPr lang="en-US" altLang="zh-CN" sz="2800" b="1" kern="0" dirty="0">
              <a:solidFill>
                <a:srgbClr val="C00000"/>
              </a:solidFill>
            </a:endParaRPr>
          </a:p>
        </p:txBody>
      </p:sp>
      <p:sp>
        <p:nvSpPr>
          <p:cNvPr id="8" name="文本框 7"/>
          <p:cNvSpPr txBox="1"/>
          <p:nvPr/>
        </p:nvSpPr>
        <p:spPr>
          <a:xfrm>
            <a:off x="6428511" y="2213691"/>
            <a:ext cx="4544291" cy="2797048"/>
          </a:xfrm>
          <a:prstGeom prst="rect">
            <a:avLst/>
          </a:prstGeom>
          <a:noFill/>
        </p:spPr>
        <p:txBody>
          <a:bodyPr wrap="square" numCol="1">
            <a:spAutoFit/>
          </a:bodyPr>
          <a:lstStyle/>
          <a:p>
            <a:pPr marL="457200" indent="-457200" eaLnBrk="1" hangingPunct="1">
              <a:lnSpc>
                <a:spcPct val="150000"/>
              </a:lnSpc>
              <a:buFont typeface="+mj-lt"/>
              <a:buAutoNum type="arabicPeriod" startAt="6"/>
              <a:defRPr/>
            </a:pPr>
            <a:r>
              <a:rPr lang="zh-CN" altLang="en-US" sz="2400" kern="0" dirty="0">
                <a:latin typeface="+mn-ea"/>
                <a:ea typeface="+mn-ea"/>
              </a:rPr>
              <a:t>风险概率和影响的定义</a:t>
            </a:r>
            <a:endParaRPr lang="en-US" altLang="zh-CN" sz="2400" kern="0" dirty="0">
              <a:latin typeface="+mn-ea"/>
              <a:ea typeface="+mn-ea"/>
            </a:endParaRPr>
          </a:p>
          <a:p>
            <a:pPr marL="457200" indent="-457200" eaLnBrk="1" hangingPunct="1">
              <a:lnSpc>
                <a:spcPct val="150000"/>
              </a:lnSpc>
              <a:buFont typeface="+mj-lt"/>
              <a:buAutoNum type="arabicPeriod" startAt="6"/>
              <a:defRPr/>
            </a:pPr>
            <a:r>
              <a:rPr lang="zh-CN" altLang="en-US" sz="2400" kern="0" dirty="0">
                <a:latin typeface="+mn-ea"/>
                <a:ea typeface="+mn-ea"/>
              </a:rPr>
              <a:t>概率和影响矩阵</a:t>
            </a:r>
            <a:endParaRPr lang="en-US" altLang="zh-CN" sz="2400" kern="0" dirty="0">
              <a:latin typeface="+mn-ea"/>
              <a:ea typeface="+mn-ea"/>
            </a:endParaRPr>
          </a:p>
          <a:p>
            <a:pPr marL="457200" indent="-457200" eaLnBrk="1" hangingPunct="1">
              <a:lnSpc>
                <a:spcPct val="150000"/>
              </a:lnSpc>
              <a:buFont typeface="+mj-lt"/>
              <a:buAutoNum type="arabicPeriod" startAt="6"/>
              <a:defRPr/>
            </a:pPr>
            <a:r>
              <a:rPr lang="zh-CN" altLang="en-US" sz="2400" kern="0" dirty="0">
                <a:latin typeface="+mn-ea"/>
                <a:ea typeface="+mn-ea"/>
              </a:rPr>
              <a:t>修改利害关系者承受度</a:t>
            </a:r>
            <a:endParaRPr lang="en-US" altLang="zh-CN" sz="2400" kern="0" dirty="0">
              <a:latin typeface="+mn-ea"/>
              <a:ea typeface="+mn-ea"/>
            </a:endParaRPr>
          </a:p>
          <a:p>
            <a:pPr marL="457200" indent="-457200" eaLnBrk="1" hangingPunct="1">
              <a:lnSpc>
                <a:spcPct val="150000"/>
              </a:lnSpc>
              <a:buFont typeface="+mj-lt"/>
              <a:buAutoNum type="arabicPeriod" startAt="6"/>
              <a:defRPr/>
            </a:pPr>
            <a:r>
              <a:rPr lang="zh-CN" altLang="en-US" sz="2400" kern="0" dirty="0">
                <a:latin typeface="+mn-ea"/>
                <a:ea typeface="+mn-ea"/>
              </a:rPr>
              <a:t>汇报格式</a:t>
            </a:r>
            <a:endParaRPr lang="en-US" altLang="zh-CN" sz="2400" kern="0" dirty="0">
              <a:latin typeface="+mn-ea"/>
              <a:ea typeface="+mn-ea"/>
            </a:endParaRPr>
          </a:p>
          <a:p>
            <a:pPr marL="457200" indent="-457200" eaLnBrk="1" hangingPunct="1">
              <a:lnSpc>
                <a:spcPct val="150000"/>
              </a:lnSpc>
              <a:buFont typeface="+mj-lt"/>
              <a:buAutoNum type="arabicPeriod" startAt="6"/>
              <a:defRPr/>
            </a:pPr>
            <a:r>
              <a:rPr lang="zh-CN" altLang="en-US" sz="2400" kern="0" dirty="0">
                <a:latin typeface="+mn-ea"/>
                <a:ea typeface="+mn-ea"/>
              </a:rPr>
              <a:t>跟踪</a:t>
            </a:r>
            <a:endParaRPr lang="en-US" altLang="zh-CN" sz="2400" kern="0" dirty="0">
              <a:latin typeface="+mn-ea"/>
              <a:ea typeface="+mn-ea"/>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10.3</a:t>
            </a:r>
            <a:r>
              <a:rPr lang="zh-CN" altLang="en-US" sz="2400" b="1" dirty="0">
                <a:solidFill>
                  <a:srgbClr val="01395C"/>
                </a:solidFill>
                <a:latin typeface="方正粗宋简体"/>
                <a:ea typeface="方正粗宋简体"/>
                <a:cs typeface="方正粗宋简体"/>
              </a:rPr>
              <a:t> 风险管理计划</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4770583" y="2213691"/>
            <a:ext cx="2650834" cy="1728871"/>
          </a:xfrm>
          <a:prstGeom prst="rect">
            <a:avLst/>
          </a:prstGeom>
          <a:noFill/>
        </p:spPr>
        <p:txBody>
          <a:bodyPr wrap="square" numCol="1">
            <a:spAutoFit/>
          </a:bodyPr>
          <a:lstStyle/>
          <a:p>
            <a:pPr marL="457200" indent="-457200" eaLnBrk="1" hangingPunct="1">
              <a:lnSpc>
                <a:spcPct val="200000"/>
              </a:lnSpc>
              <a:buFont typeface="Wingdings" panose="05000000000000000000" pitchFamily="2" charset="2"/>
              <a:buChar char="Ø"/>
              <a:defRPr/>
            </a:pPr>
            <a:r>
              <a:rPr lang="zh-CN" altLang="en-US" sz="3200" kern="0" dirty="0">
                <a:latin typeface="+mn-ea"/>
                <a:ea typeface="+mn-ea"/>
              </a:rPr>
              <a:t>应急计划</a:t>
            </a:r>
            <a:endParaRPr lang="en-US" altLang="zh-CN" sz="3200" kern="0" dirty="0">
              <a:latin typeface="+mn-ea"/>
              <a:ea typeface="+mn-ea"/>
            </a:endParaRPr>
          </a:p>
          <a:p>
            <a:pPr marL="457200" indent="-457200" eaLnBrk="1" hangingPunct="1">
              <a:lnSpc>
                <a:spcPct val="150000"/>
              </a:lnSpc>
              <a:buFont typeface="Wingdings" panose="05000000000000000000" pitchFamily="2" charset="2"/>
              <a:buChar char="Ø"/>
              <a:defRPr/>
            </a:pPr>
            <a:r>
              <a:rPr lang="zh-CN" altLang="en-US" sz="3200" kern="0" dirty="0">
                <a:latin typeface="+mn-ea"/>
                <a:ea typeface="+mn-ea"/>
              </a:rPr>
              <a:t>应急储备</a:t>
            </a:r>
            <a:endParaRPr lang="en-US" altLang="zh-CN" sz="32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7" name="文本框 6"/>
          <p:cNvSpPr txBox="1"/>
          <p:nvPr/>
        </p:nvSpPr>
        <p:spPr>
          <a:xfrm>
            <a:off x="2953326" y="918802"/>
            <a:ext cx="6100618" cy="660437"/>
          </a:xfrm>
          <a:prstGeom prst="rect">
            <a:avLst/>
          </a:prstGeom>
          <a:noFill/>
        </p:spPr>
        <p:txBody>
          <a:bodyPr wrap="square">
            <a:spAutoFit/>
          </a:bodyPr>
          <a:lstStyle/>
          <a:p>
            <a:pPr algn="ctr" eaLnBrk="1" hangingPunct="1">
              <a:lnSpc>
                <a:spcPct val="150000"/>
              </a:lnSpc>
              <a:defRPr/>
            </a:pPr>
            <a:r>
              <a:rPr lang="zh-CN" altLang="en-US" sz="2800" b="1" kern="0" dirty="0">
                <a:solidFill>
                  <a:srgbClr val="C00000"/>
                </a:solidFill>
              </a:rPr>
              <a:t>风险管理计划的其他内容</a:t>
            </a:r>
            <a:endParaRPr lang="en-US" altLang="zh-CN" sz="2800" b="1" kern="0" dirty="0">
              <a:solidFill>
                <a:srgbClr val="C00000"/>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10.3</a:t>
            </a:r>
            <a:r>
              <a:rPr lang="zh-CN" altLang="en-US" sz="2400" b="1" dirty="0">
                <a:solidFill>
                  <a:srgbClr val="01395C"/>
                </a:solidFill>
                <a:latin typeface="方正粗宋简体"/>
                <a:ea typeface="方正粗宋简体"/>
                <a:cs typeface="方正粗宋简体"/>
              </a:rPr>
              <a:t> 风险管理计划</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3247877"/>
          </a:xfrm>
          <a:prstGeom prst="rect">
            <a:avLst/>
          </a:prstGeom>
          <a:noFill/>
        </p:spPr>
        <p:txBody>
          <a:bodyPr>
            <a:spAutoFit/>
          </a:bodyPr>
          <a:lstStyle/>
          <a:p>
            <a:pPr algn="ctr" eaLnBrk="1" hangingPunct="1">
              <a:lnSpc>
                <a:spcPct val="150000"/>
              </a:lnSpc>
              <a:defRPr/>
            </a:pPr>
            <a:r>
              <a:rPr lang="zh-CN" altLang="en-US" sz="2800" kern="0" dirty="0"/>
              <a:t>制定风险管理计划的</a:t>
            </a:r>
            <a:r>
              <a:rPr lang="zh-CN" altLang="en-US" sz="2800" kern="0" dirty="0">
                <a:solidFill>
                  <a:srgbClr val="C00000"/>
                </a:solidFill>
              </a:rPr>
              <a:t>工具与技术</a:t>
            </a:r>
            <a:endParaRPr lang="en-US" altLang="zh-CN" sz="2800" kern="0" dirty="0">
              <a:solidFill>
                <a:srgbClr val="C00000"/>
              </a:solidFill>
            </a:endParaRPr>
          </a:p>
          <a:p>
            <a:pPr algn="ctr" eaLnBrk="1" hangingPunct="1">
              <a:lnSpc>
                <a:spcPct val="150000"/>
              </a:lnSpc>
              <a:defRPr/>
            </a:pPr>
            <a:endParaRPr lang="en-US" altLang="zh-CN" sz="2800" kern="0" dirty="0">
              <a:solidFill>
                <a:srgbClr val="C00000"/>
              </a:solidFill>
            </a:endParaRPr>
          </a:p>
          <a:p>
            <a:pPr marL="457200" indent="-457200" eaLnBrk="1" hangingPunct="1">
              <a:lnSpc>
                <a:spcPct val="150000"/>
              </a:lnSpc>
              <a:buFont typeface="+mj-lt"/>
              <a:buAutoNum type="arabicPeriod"/>
              <a:defRPr/>
            </a:pPr>
            <a:r>
              <a:rPr lang="zh-CN" altLang="en-US" sz="2800" kern="0" dirty="0">
                <a:latin typeface="+mn-ea"/>
                <a:ea typeface="+mn-ea"/>
              </a:rPr>
              <a:t>风险核对表法</a:t>
            </a:r>
            <a:endParaRPr lang="en-US" altLang="zh-CN" sz="2800" kern="0" dirty="0">
              <a:latin typeface="+mn-ea"/>
              <a:ea typeface="+mn-ea"/>
            </a:endParaRPr>
          </a:p>
          <a:p>
            <a:pPr marL="457200" indent="-457200" eaLnBrk="1" hangingPunct="1">
              <a:lnSpc>
                <a:spcPct val="150000"/>
              </a:lnSpc>
              <a:buFont typeface="+mj-lt"/>
              <a:buAutoNum type="arabicPeriod"/>
              <a:defRPr/>
            </a:pPr>
            <a:r>
              <a:rPr lang="zh-CN" altLang="en-US" sz="2800" kern="0" dirty="0">
                <a:latin typeface="+mn-ea"/>
                <a:ea typeface="+mn-ea"/>
              </a:rPr>
              <a:t>风险管理表格</a:t>
            </a:r>
            <a:endParaRPr lang="en-US" altLang="zh-CN" sz="2800" kern="0" dirty="0">
              <a:latin typeface="+mn-ea"/>
              <a:ea typeface="+mn-ea"/>
            </a:endParaRPr>
          </a:p>
          <a:p>
            <a:pPr marL="457200" indent="-457200" eaLnBrk="1" hangingPunct="1">
              <a:lnSpc>
                <a:spcPct val="150000"/>
              </a:lnSpc>
              <a:buFont typeface="+mj-lt"/>
              <a:buAutoNum type="arabicPeriod"/>
              <a:defRPr/>
            </a:pPr>
            <a:r>
              <a:rPr lang="zh-CN" altLang="en-US" sz="2800" kern="0" dirty="0">
                <a:latin typeface="+mn-ea"/>
                <a:ea typeface="+mn-ea"/>
              </a:rPr>
              <a:t>风险数据库模式</a:t>
            </a:r>
            <a:endParaRPr lang="en-US" altLang="zh-CN" sz="28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10.3</a:t>
            </a:r>
            <a:r>
              <a:rPr lang="zh-CN" altLang="en-US" sz="2400" b="1" dirty="0">
                <a:solidFill>
                  <a:srgbClr val="01395C"/>
                </a:solidFill>
                <a:latin typeface="方正粗宋简体"/>
                <a:ea typeface="方正粗宋简体"/>
                <a:cs typeface="方正粗宋简体"/>
              </a:rPr>
              <a:t> 风险管理计划</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925512" y="568478"/>
            <a:ext cx="10340975" cy="6303905"/>
          </a:xfrm>
          <a:prstGeom prst="rect">
            <a:avLst/>
          </a:prstGeom>
          <a:noFill/>
        </p:spPr>
        <p:txBody>
          <a:bodyPr>
            <a:spAutoFit/>
          </a:bodyPr>
          <a:lstStyle/>
          <a:p>
            <a:pPr algn="ctr" eaLnBrk="1" hangingPunct="1">
              <a:lnSpc>
                <a:spcPct val="150000"/>
              </a:lnSpc>
              <a:defRPr/>
            </a:pPr>
            <a:r>
              <a:rPr lang="zh-CN" altLang="en-US" sz="2800" kern="0" dirty="0"/>
              <a:t>制定风险管理计划的</a:t>
            </a:r>
            <a:r>
              <a:rPr lang="zh-CN" altLang="en-US" sz="2800" kern="0" dirty="0">
                <a:solidFill>
                  <a:srgbClr val="C00000"/>
                </a:solidFill>
              </a:rPr>
              <a:t>输入、输出</a:t>
            </a:r>
            <a:endParaRPr lang="en-US" altLang="zh-CN" sz="2800" kern="0" dirty="0">
              <a:solidFill>
                <a:srgbClr val="C00000"/>
              </a:solidFill>
            </a:endParaRPr>
          </a:p>
          <a:p>
            <a:pPr algn="ctr" eaLnBrk="1" hangingPunct="1">
              <a:lnSpc>
                <a:spcPct val="150000"/>
              </a:lnSpc>
              <a:defRPr/>
            </a:pPr>
            <a:endParaRPr lang="en-US" altLang="zh-CN" sz="2000" kern="0" dirty="0">
              <a:solidFill>
                <a:srgbClr val="C00000"/>
              </a:solidFill>
            </a:endParaRPr>
          </a:p>
          <a:p>
            <a:pPr eaLnBrk="1" hangingPunct="1">
              <a:lnSpc>
                <a:spcPct val="150000"/>
              </a:lnSpc>
              <a:defRPr/>
            </a:pPr>
            <a:r>
              <a:rPr lang="zh-CN" altLang="en-US" sz="2800" kern="0" dirty="0">
                <a:latin typeface="+mn-ea"/>
                <a:ea typeface="+mn-ea"/>
              </a:rPr>
              <a:t>一、输入</a:t>
            </a:r>
            <a:endParaRPr lang="en-US" altLang="zh-CN" sz="2800" kern="0" dirty="0">
              <a:latin typeface="+mn-ea"/>
              <a:ea typeface="+mn-ea"/>
            </a:endParaRPr>
          </a:p>
          <a:p>
            <a:pPr marL="457200" indent="-457200" eaLnBrk="1" hangingPunct="1">
              <a:lnSpc>
                <a:spcPct val="150000"/>
              </a:lnSpc>
              <a:buFont typeface="Arial" panose="020B0604020202020204" pitchFamily="34" charset="0"/>
              <a:buChar char="•"/>
              <a:defRPr/>
            </a:pPr>
            <a:r>
              <a:rPr lang="zh-CN" altLang="en-US" sz="2400" dirty="0">
                <a:effectLst/>
              </a:rPr>
              <a:t>企业环境因素：组织及参与项目的人员的</a:t>
            </a:r>
            <a:r>
              <a:rPr lang="zh-CN" altLang="en-US" sz="2400" dirty="0">
                <a:solidFill>
                  <a:srgbClr val="C00000"/>
                </a:solidFill>
                <a:effectLst/>
              </a:rPr>
              <a:t>风险态度</a:t>
            </a:r>
            <a:r>
              <a:rPr lang="zh-CN" altLang="en-US" sz="2400" dirty="0">
                <a:effectLst/>
              </a:rPr>
              <a:t>和</a:t>
            </a:r>
            <a:r>
              <a:rPr lang="zh-CN" altLang="en-US" sz="2400" dirty="0">
                <a:solidFill>
                  <a:srgbClr val="C00000"/>
                </a:solidFill>
                <a:effectLst/>
              </a:rPr>
              <a:t>风险承受度</a:t>
            </a:r>
            <a:r>
              <a:rPr lang="zh-CN" altLang="en-US" sz="2400" dirty="0">
                <a:effectLst/>
              </a:rPr>
              <a:t>将影响项目管理计划。风险态度和承受度可通过</a:t>
            </a:r>
            <a:r>
              <a:rPr lang="zh-CN" altLang="en-US" sz="2400" dirty="0">
                <a:solidFill>
                  <a:srgbClr val="C00000"/>
                </a:solidFill>
                <a:effectLst/>
              </a:rPr>
              <a:t>政策说明书或行动</a:t>
            </a:r>
            <a:r>
              <a:rPr lang="zh-CN" altLang="en-US" sz="2400" dirty="0">
                <a:effectLst/>
              </a:rPr>
              <a:t>反映出来。</a:t>
            </a:r>
            <a:endParaRPr lang="zh-CN" altLang="en-US" sz="2400" dirty="0">
              <a:effectLst/>
            </a:endParaRPr>
          </a:p>
          <a:p>
            <a:pPr marL="457200" indent="-457200" eaLnBrk="1" hangingPunct="1">
              <a:lnSpc>
                <a:spcPct val="150000"/>
              </a:lnSpc>
              <a:buFont typeface="Arial" panose="020B0604020202020204" pitchFamily="34" charset="0"/>
              <a:buChar char="•"/>
              <a:defRPr/>
            </a:pPr>
            <a:r>
              <a:rPr lang="zh-CN" altLang="en-US" sz="2400" dirty="0">
                <a:effectLst/>
              </a:rPr>
              <a:t>组织过程资产：组织可能设有</a:t>
            </a:r>
            <a:r>
              <a:rPr lang="zh-CN" altLang="en-US" sz="2400" dirty="0">
                <a:solidFill>
                  <a:srgbClr val="C00000"/>
                </a:solidFill>
                <a:effectLst/>
              </a:rPr>
              <a:t>既定的风险管理方法</a:t>
            </a:r>
            <a:r>
              <a:rPr lang="zh-CN" altLang="en-US" sz="2400" dirty="0">
                <a:effectLst/>
              </a:rPr>
              <a:t>，例如风险分类、概念和术语的通用定义、标准模板、角色和职责、决策授权水平。</a:t>
            </a:r>
            <a:endParaRPr lang="zh-CN" altLang="en-US" sz="2400" dirty="0">
              <a:effectLst/>
            </a:endParaRPr>
          </a:p>
          <a:p>
            <a:pPr marL="457200" indent="-457200" eaLnBrk="1" hangingPunct="1">
              <a:lnSpc>
                <a:spcPct val="150000"/>
              </a:lnSpc>
              <a:buFont typeface="Arial" panose="020B0604020202020204" pitchFamily="34" charset="0"/>
              <a:buChar char="•"/>
              <a:defRPr/>
            </a:pPr>
            <a:r>
              <a:rPr lang="zh-CN" altLang="en-US" sz="2400" dirty="0">
                <a:effectLst/>
              </a:rPr>
              <a:t>项目范围说明书</a:t>
            </a:r>
            <a:endParaRPr lang="zh-CN" altLang="en-US" sz="2400" dirty="0">
              <a:effectLst/>
            </a:endParaRPr>
          </a:p>
          <a:p>
            <a:pPr marL="457200" indent="-457200" eaLnBrk="1" hangingPunct="1">
              <a:lnSpc>
                <a:spcPct val="150000"/>
              </a:lnSpc>
              <a:buFont typeface="Arial" panose="020B0604020202020204" pitchFamily="34" charset="0"/>
              <a:buChar char="•"/>
              <a:defRPr/>
            </a:pPr>
            <a:r>
              <a:rPr lang="zh-CN" altLang="en-US" sz="2400" dirty="0">
                <a:effectLst/>
              </a:rPr>
              <a:t>项目管理计划</a:t>
            </a:r>
            <a:endParaRPr lang="zh-CN" altLang="en-US" sz="2400" dirty="0">
              <a:effectLst/>
            </a:endParaRPr>
          </a:p>
          <a:p>
            <a:pPr eaLnBrk="1" hangingPunct="1">
              <a:lnSpc>
                <a:spcPct val="150000"/>
              </a:lnSpc>
              <a:defRPr/>
            </a:pPr>
            <a:r>
              <a:rPr lang="zh-CN" altLang="en-US" sz="2800" kern="0" dirty="0">
                <a:latin typeface="+mn-ea"/>
                <a:ea typeface="+mn-ea"/>
              </a:rPr>
              <a:t>二、输出</a:t>
            </a:r>
            <a:endParaRPr lang="en-US" altLang="zh-CN" sz="28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dirty="0"/>
              <a:t>风险管理计划</a:t>
            </a:r>
            <a:endParaRPr lang="en-US" altLang="zh-CN" sz="240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1679755"/>
          </a:xfrm>
          <a:prstGeom prst="rect">
            <a:avLst/>
          </a:prstGeom>
          <a:noFill/>
        </p:spPr>
        <p:txBody>
          <a:bodyPr>
            <a:spAutoFit/>
          </a:bodyPr>
          <a:lstStyle/>
          <a:p>
            <a:pPr eaLnBrk="1" hangingPunct="1">
              <a:lnSpc>
                <a:spcPct val="150000"/>
              </a:lnSpc>
              <a:defRPr/>
            </a:pPr>
            <a:r>
              <a:rPr lang="zh-CN" altLang="en-US" sz="2400" kern="0" dirty="0"/>
              <a:t>风险识别概述</a:t>
            </a:r>
            <a:endParaRPr lang="en-US" altLang="zh-CN" sz="2400" kern="0" dirty="0"/>
          </a:p>
          <a:p>
            <a:pPr eaLnBrk="1" hangingPunct="1">
              <a:lnSpc>
                <a:spcPct val="150000"/>
              </a:lnSpc>
              <a:defRPr/>
            </a:pPr>
            <a:r>
              <a:rPr lang="zh-CN" altLang="en-US" sz="2400" kern="0" dirty="0"/>
              <a:t>用于风险误别的方法</a:t>
            </a:r>
            <a:endParaRPr lang="en-US" altLang="zh-CN" sz="2400" kern="0" dirty="0"/>
          </a:p>
          <a:p>
            <a:pPr eaLnBrk="1" hangingPunct="1">
              <a:lnSpc>
                <a:spcPct val="150000"/>
              </a:lnSpc>
              <a:defRPr/>
            </a:pPr>
            <a:r>
              <a:rPr lang="zh-CN" altLang="en-US" sz="2400" kern="0" dirty="0"/>
              <a:t>风险识别的输入、输出</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4449744"/>
          </a:xfrm>
          <a:prstGeom prst="rect">
            <a:avLst/>
          </a:prstGeom>
          <a:noFill/>
        </p:spPr>
        <p:txBody>
          <a:bodyPr>
            <a:spAutoFit/>
          </a:bodyPr>
          <a:lstStyle/>
          <a:p>
            <a:pPr eaLnBrk="1" hangingPunct="1">
              <a:lnSpc>
                <a:spcPct val="150000"/>
              </a:lnSpc>
              <a:defRPr/>
            </a:pPr>
            <a:r>
              <a:rPr lang="zh-CN" altLang="en-US" sz="2400" kern="0" dirty="0">
                <a:latin typeface="+mn-ea"/>
                <a:ea typeface="+mn-ea"/>
              </a:rPr>
              <a:t>一、</a:t>
            </a:r>
            <a:r>
              <a:rPr lang="zh-CN" altLang="en-US" sz="2400" kern="0" dirty="0">
                <a:solidFill>
                  <a:srgbClr val="C00000"/>
                </a:solidFill>
                <a:latin typeface="+mn-ea"/>
                <a:ea typeface="+mn-ea"/>
              </a:rPr>
              <a:t>风险识别</a:t>
            </a:r>
            <a:r>
              <a:rPr lang="zh-CN" altLang="en-US" sz="2400" kern="0" dirty="0">
                <a:latin typeface="+mn-ea"/>
                <a:ea typeface="+mn-ea"/>
              </a:rPr>
              <a:t>：就是企图采用系统化的方法，识别某特定项目已知的和可预测的风险。</a:t>
            </a:r>
            <a:endParaRPr lang="en-US" altLang="zh-CN" sz="2400" kern="0" dirty="0">
              <a:latin typeface="+mn-ea"/>
              <a:ea typeface="+mn-ea"/>
            </a:endParaRPr>
          </a:p>
          <a:p>
            <a:pPr eaLnBrk="1" hangingPunct="1">
              <a:lnSpc>
                <a:spcPct val="150000"/>
              </a:lnSpc>
              <a:defRPr/>
            </a:pPr>
            <a:endParaRPr lang="zh-CN" altLang="en-US" sz="2400" kern="0" dirty="0">
              <a:latin typeface="+mn-ea"/>
              <a:ea typeface="+mn-ea"/>
            </a:endParaRPr>
          </a:p>
          <a:p>
            <a:pPr eaLnBrk="1" hangingPunct="1">
              <a:lnSpc>
                <a:spcPct val="150000"/>
              </a:lnSpc>
              <a:defRPr/>
            </a:pPr>
            <a:r>
              <a:rPr lang="zh-CN" altLang="en-US" sz="2400" kern="0" dirty="0">
                <a:latin typeface="+mn-ea"/>
                <a:ea typeface="+mn-ea"/>
              </a:rPr>
              <a:t>二、软件风险包含</a:t>
            </a:r>
            <a:r>
              <a:rPr lang="zh-CN" altLang="en-US" sz="2400" kern="0" dirty="0">
                <a:solidFill>
                  <a:srgbClr val="C00000"/>
                </a:solidFill>
                <a:latin typeface="+mn-ea"/>
                <a:ea typeface="+mn-ea"/>
              </a:rPr>
              <a:t>两个特征</a:t>
            </a:r>
            <a:r>
              <a:rPr lang="zh-CN" altLang="en-US" sz="2400" kern="0" dirty="0">
                <a:latin typeface="+mn-ea"/>
                <a:ea typeface="+mn-ea"/>
              </a:rPr>
              <a:t>：</a:t>
            </a:r>
            <a:endParaRPr lang="zh-CN" altLang="en-US" sz="2400" kern="0" dirty="0">
              <a:latin typeface="+mn-ea"/>
              <a:ea typeface="+mn-ea"/>
            </a:endParaRPr>
          </a:p>
          <a:p>
            <a:pPr eaLnBrk="1" hangingPunct="1">
              <a:lnSpc>
                <a:spcPct val="150000"/>
              </a:lnSpc>
              <a:defRPr/>
            </a:pPr>
            <a:r>
              <a:rPr lang="en-US" altLang="zh-CN" sz="2400" kern="0" dirty="0">
                <a:latin typeface="+mn-ea"/>
                <a:ea typeface="+mn-ea"/>
              </a:rPr>
              <a:t>1</a:t>
            </a:r>
            <a:r>
              <a:rPr lang="zh-CN" altLang="en-US" sz="2400" kern="0" dirty="0">
                <a:latin typeface="+mn-ea"/>
                <a:ea typeface="+mn-ea"/>
              </a:rPr>
              <a:t>、不确定性：刻划风险的事件可能发生也可能不发生，没有</a:t>
            </a:r>
            <a:r>
              <a:rPr lang="en-US" altLang="zh-CN" sz="2400" kern="0" dirty="0">
                <a:latin typeface="+mn-ea"/>
                <a:ea typeface="+mn-ea"/>
              </a:rPr>
              <a:t>100</a:t>
            </a:r>
            <a:r>
              <a:rPr lang="zh-CN" altLang="en-US" sz="2400" kern="0" dirty="0">
                <a:latin typeface="+mn-ea"/>
                <a:ea typeface="+mn-ea"/>
              </a:rPr>
              <a:t>％发生的风险。</a:t>
            </a:r>
            <a:endParaRPr lang="zh-CN" altLang="en-US" sz="2400" kern="0" dirty="0">
              <a:latin typeface="+mn-ea"/>
              <a:ea typeface="+mn-ea"/>
            </a:endParaRPr>
          </a:p>
          <a:p>
            <a:pPr eaLnBrk="1" hangingPunct="1">
              <a:lnSpc>
                <a:spcPct val="150000"/>
              </a:lnSpc>
              <a:defRPr/>
            </a:pPr>
            <a:r>
              <a:rPr lang="en-US" altLang="zh-CN" sz="2400" kern="0" dirty="0">
                <a:latin typeface="+mn-ea"/>
                <a:ea typeface="+mn-ea"/>
              </a:rPr>
              <a:t>2</a:t>
            </a:r>
            <a:r>
              <a:rPr lang="zh-CN" altLang="en-US" sz="2400" kern="0" dirty="0">
                <a:latin typeface="+mn-ea"/>
                <a:ea typeface="+mn-ea"/>
              </a:rPr>
              <a:t>、损失：如果风险变成了现实，就会产生恶性后果或损失。</a:t>
            </a:r>
            <a:endParaRPr lang="zh-CN" altLang="en-US" sz="2400" kern="0" dirty="0">
              <a:latin typeface="+mn-ea"/>
              <a:ea typeface="+mn-ea"/>
            </a:endParaRPr>
          </a:p>
          <a:p>
            <a:pPr eaLnBrk="1" hangingPunct="1">
              <a:lnSpc>
                <a:spcPct val="150000"/>
              </a:lnSpc>
              <a:defRPr/>
            </a:pP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pic>
        <p:nvPicPr>
          <p:cNvPr id="7"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78913" y="5646738"/>
            <a:ext cx="21526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3349250"/>
          </a:xfrm>
          <a:prstGeom prst="rect">
            <a:avLst/>
          </a:prstGeom>
          <a:noFill/>
        </p:spPr>
        <p:txBody>
          <a:bodyPr>
            <a:spAutoFit/>
          </a:bodyPr>
          <a:lstStyle/>
          <a:p>
            <a:pPr eaLnBrk="1" hangingPunct="1">
              <a:lnSpc>
                <a:spcPct val="150000"/>
              </a:lnSpc>
              <a:defRPr/>
            </a:pPr>
            <a:r>
              <a:rPr lang="zh-CN" altLang="en-US" sz="2400" kern="0" dirty="0"/>
              <a:t>量化不确定的程度和与每个风险相关的损失的程度</a:t>
            </a:r>
            <a:endParaRPr lang="en-US" altLang="zh-CN" sz="2400" kern="0" dirty="0"/>
          </a:p>
          <a:p>
            <a:pPr eaLnBrk="1" hangingPunct="1">
              <a:lnSpc>
                <a:spcPct val="150000"/>
              </a:lnSpc>
              <a:defRPr/>
            </a:pPr>
            <a:r>
              <a:rPr lang="zh-CN" altLang="en-US" sz="2400" kern="0" dirty="0"/>
              <a:t>一、项目风险</a:t>
            </a:r>
            <a:endParaRPr lang="en-US" altLang="zh-CN" sz="2400" kern="0" dirty="0"/>
          </a:p>
          <a:p>
            <a:pPr indent="647700" eaLnBrk="1" hangingPunct="1">
              <a:lnSpc>
                <a:spcPct val="150000"/>
              </a:lnSpc>
              <a:defRPr/>
            </a:pPr>
            <a:r>
              <a:rPr lang="zh-CN" altLang="en-US" sz="2400" kern="0" dirty="0"/>
              <a:t>潜在的预算、进度、人力、资源、客户、需求等方面的问题以及它们对软件项目的影响。</a:t>
            </a:r>
            <a:endParaRPr lang="en-US" altLang="zh-CN" sz="2400" kern="0" dirty="0"/>
          </a:p>
          <a:p>
            <a:pPr eaLnBrk="1" hangingPunct="1">
              <a:lnSpc>
                <a:spcPct val="150000"/>
              </a:lnSpc>
              <a:defRPr/>
            </a:pPr>
            <a:r>
              <a:rPr lang="zh-CN" altLang="en-US" sz="2400" kern="0" dirty="0"/>
              <a:t>二、技术风险</a:t>
            </a:r>
            <a:endParaRPr lang="en-US" altLang="zh-CN" sz="2400" kern="0" dirty="0"/>
          </a:p>
          <a:p>
            <a:pPr eaLnBrk="1" hangingPunct="1">
              <a:lnSpc>
                <a:spcPct val="150000"/>
              </a:lnSpc>
              <a:defRPr/>
            </a:pPr>
            <a:r>
              <a:rPr lang="zh-CN" altLang="en-US" sz="2400" kern="0" dirty="0"/>
              <a:t>三、商业风险（</a:t>
            </a:r>
            <a:r>
              <a:rPr lang="en-US" altLang="zh-CN" sz="2400" kern="0" dirty="0"/>
              <a:t>5 </a:t>
            </a:r>
            <a:r>
              <a:rPr lang="zh-CN" altLang="en-US" sz="2400" kern="0" dirty="0"/>
              <a:t>个主要的商业风险：见下页）</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3995581"/>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五个主要的商业风险</a:t>
            </a:r>
            <a:endParaRPr lang="en-US" altLang="zh-CN" sz="2800" kern="0" dirty="0">
              <a:solidFill>
                <a:srgbClr val="C00000"/>
              </a:solidFill>
            </a:endParaRPr>
          </a:p>
          <a:p>
            <a:pPr marL="457200" indent="-457200" eaLnBrk="1" hangingPunct="1">
              <a:lnSpc>
                <a:spcPct val="150000"/>
              </a:lnSpc>
              <a:buFont typeface="+mj-lt"/>
              <a:buAutoNum type="arabicPeriod"/>
              <a:defRPr/>
            </a:pPr>
            <a:r>
              <a:rPr lang="zh-CN" altLang="en-US" sz="2400" kern="0" dirty="0"/>
              <a:t>开发一个没有人真正需要的优秀产品或系统（市场风险）；</a:t>
            </a:r>
            <a:r>
              <a:rPr lang="zh-CN" altLang="en-US" sz="2400" kern="0" dirty="0">
                <a:solidFill>
                  <a:srgbClr val="C00000"/>
                </a:solidFill>
              </a:rPr>
              <a:t>没人用</a:t>
            </a:r>
            <a:endParaRPr lang="en-US" altLang="zh-CN" sz="2400" kern="0" dirty="0">
              <a:solidFill>
                <a:srgbClr val="C00000"/>
              </a:solidFill>
            </a:endParaRPr>
          </a:p>
          <a:p>
            <a:pPr marL="457200" indent="-457200" eaLnBrk="1" hangingPunct="1">
              <a:lnSpc>
                <a:spcPct val="150000"/>
              </a:lnSpc>
              <a:buFont typeface="+mj-lt"/>
              <a:buAutoNum type="arabicPeriod"/>
              <a:defRPr/>
            </a:pPr>
            <a:r>
              <a:rPr lang="zh-CN" altLang="en-US" sz="2400" kern="0" dirty="0"/>
              <a:t>开发的产品不再符合公司的整体商业策略（策略风险）；</a:t>
            </a:r>
            <a:r>
              <a:rPr lang="zh-CN" altLang="en-US" sz="2400" kern="0" dirty="0">
                <a:solidFill>
                  <a:srgbClr val="C00000"/>
                </a:solidFill>
              </a:rPr>
              <a:t>没策略</a:t>
            </a:r>
            <a:endParaRPr lang="en-US" altLang="zh-CN" sz="2400" kern="0" dirty="0">
              <a:solidFill>
                <a:srgbClr val="C00000"/>
              </a:solidFill>
            </a:endParaRPr>
          </a:p>
          <a:p>
            <a:pPr marL="457200" indent="-457200" eaLnBrk="1" hangingPunct="1">
              <a:lnSpc>
                <a:spcPct val="150000"/>
              </a:lnSpc>
              <a:buFont typeface="+mj-lt"/>
              <a:buAutoNum type="arabicPeriod"/>
              <a:defRPr/>
            </a:pPr>
            <a:r>
              <a:rPr lang="zh-CN" altLang="en-US" sz="2400" kern="0" dirty="0"/>
              <a:t>建造了一个销售部门不知道如何去卖的产品（销售风险）；</a:t>
            </a:r>
            <a:r>
              <a:rPr lang="zh-CN" altLang="en-US" sz="2400" kern="0" dirty="0">
                <a:solidFill>
                  <a:srgbClr val="C00000"/>
                </a:solidFill>
              </a:rPr>
              <a:t>没人卖</a:t>
            </a:r>
            <a:endParaRPr lang="en-US" altLang="zh-CN" sz="2400" kern="0" dirty="0">
              <a:solidFill>
                <a:srgbClr val="C00000"/>
              </a:solidFill>
            </a:endParaRPr>
          </a:p>
          <a:p>
            <a:pPr marL="457200" indent="-457200" eaLnBrk="1" hangingPunct="1">
              <a:lnSpc>
                <a:spcPct val="150000"/>
              </a:lnSpc>
              <a:buFont typeface="+mj-lt"/>
              <a:buAutoNum type="arabicPeriod"/>
              <a:defRPr/>
            </a:pPr>
            <a:r>
              <a:rPr lang="zh-CN" altLang="en-US" sz="2400" kern="0" dirty="0"/>
              <a:t>由于重点的转移或人员的变动而失去了高级管理层的支持（管理风险）；</a:t>
            </a:r>
            <a:r>
              <a:rPr lang="zh-CN" altLang="en-US" sz="2400" kern="0" dirty="0">
                <a:solidFill>
                  <a:srgbClr val="C00000"/>
                </a:solidFill>
              </a:rPr>
              <a:t>没人管</a:t>
            </a:r>
            <a:endParaRPr lang="en-US" altLang="zh-CN" sz="2400" kern="0" dirty="0">
              <a:solidFill>
                <a:srgbClr val="C00000"/>
              </a:solidFill>
            </a:endParaRPr>
          </a:p>
          <a:p>
            <a:pPr marL="457200" indent="-457200" eaLnBrk="1" hangingPunct="1">
              <a:lnSpc>
                <a:spcPct val="150000"/>
              </a:lnSpc>
              <a:buFont typeface="+mj-lt"/>
              <a:buAutoNum type="arabicPeriod"/>
              <a:defRPr/>
            </a:pPr>
            <a:r>
              <a:rPr lang="zh-CN" altLang="en-US" sz="2400" kern="0" dirty="0"/>
              <a:t>没有得到预算或人力上的保证（预算风险）。</a:t>
            </a:r>
            <a:r>
              <a:rPr lang="zh-CN" altLang="en-US" sz="2400" kern="0" dirty="0">
                <a:solidFill>
                  <a:srgbClr val="C00000"/>
                </a:solidFill>
              </a:rPr>
              <a:t>没钱，没人</a:t>
            </a:r>
            <a:endParaRPr lang="en-US" altLang="zh-CN" sz="2400" kern="0" dirty="0">
              <a:solidFill>
                <a:srgbClr val="C00000"/>
              </a:solidFill>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2084748" y="854797"/>
            <a:ext cx="8022503" cy="2333588"/>
          </a:xfrm>
          <a:prstGeom prst="rect">
            <a:avLst/>
          </a:prstGeom>
          <a:noFill/>
        </p:spPr>
        <p:txBody>
          <a:bodyPr wrap="square">
            <a:spAutoFit/>
          </a:bodyPr>
          <a:lstStyle/>
          <a:p>
            <a:pPr algn="ctr" eaLnBrk="1" hangingPunct="1">
              <a:lnSpc>
                <a:spcPct val="150000"/>
              </a:lnSpc>
              <a:defRPr/>
            </a:pPr>
            <a:r>
              <a:rPr lang="zh-CN" altLang="en-US" sz="2800" kern="0" dirty="0">
                <a:solidFill>
                  <a:srgbClr val="C00000"/>
                </a:solidFill>
              </a:rPr>
              <a:t>风险方式</a:t>
            </a:r>
            <a:endParaRPr lang="en-US" altLang="zh-CN" sz="2800" kern="0" dirty="0">
              <a:solidFill>
                <a:srgbClr val="C00000"/>
              </a:solidFill>
            </a:endParaRPr>
          </a:p>
          <a:p>
            <a:pPr marL="457200" indent="-457200" eaLnBrk="1" hangingPunct="1">
              <a:lnSpc>
                <a:spcPct val="150000"/>
              </a:lnSpc>
              <a:buFont typeface="+mj-lt"/>
              <a:buAutoNum type="arabicPeriod"/>
              <a:defRPr/>
            </a:pPr>
            <a:r>
              <a:rPr lang="zh-CN" altLang="en-US" sz="2400" kern="0" dirty="0"/>
              <a:t>已知风险</a:t>
            </a:r>
            <a:endParaRPr lang="en-US" altLang="zh-CN" sz="2400" kern="0" dirty="0"/>
          </a:p>
          <a:p>
            <a:pPr marL="457200" indent="-457200" eaLnBrk="1" hangingPunct="1">
              <a:lnSpc>
                <a:spcPct val="150000"/>
              </a:lnSpc>
              <a:buFont typeface="+mj-lt"/>
              <a:buAutoNum type="arabicPeriod"/>
              <a:defRPr/>
            </a:pPr>
            <a:r>
              <a:rPr lang="zh-CN" altLang="en-US" sz="2400" kern="0" dirty="0"/>
              <a:t>可预测风险</a:t>
            </a:r>
            <a:endParaRPr lang="en-US" altLang="zh-CN" sz="2400" kern="0" dirty="0"/>
          </a:p>
          <a:p>
            <a:pPr marL="457200" indent="-457200" eaLnBrk="1" hangingPunct="1">
              <a:lnSpc>
                <a:spcPct val="150000"/>
              </a:lnSpc>
              <a:buFont typeface="+mj-lt"/>
              <a:buAutoNum type="arabicPeriod"/>
              <a:defRPr/>
            </a:pPr>
            <a:r>
              <a:rPr lang="zh-CN" altLang="en-US" sz="2400" kern="0" dirty="0"/>
              <a:t>不可预测风险</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179077" y="927100"/>
            <a:ext cx="5833846" cy="5277086"/>
          </a:xfrm>
          <a:prstGeom prst="rect">
            <a:avLst/>
          </a:prstGeom>
          <a:noFill/>
        </p:spPr>
        <p:txBody>
          <a:bodyPr wrap="square">
            <a:spAutoFit/>
          </a:bodyPr>
          <a:lstStyle/>
          <a:p>
            <a:pPr eaLnBrk="1" hangingPunct="1">
              <a:lnSpc>
                <a:spcPct val="150000"/>
              </a:lnSpc>
              <a:defRPr/>
            </a:pPr>
            <a:r>
              <a:rPr lang="zh-CN" altLang="en-US" sz="3200" kern="0" dirty="0">
                <a:solidFill>
                  <a:srgbClr val="C00000"/>
                </a:solidFill>
              </a:rPr>
              <a:t>风险条目检查表：常见子类型</a:t>
            </a:r>
            <a:endParaRPr lang="en-US" altLang="zh-CN" sz="3200" kern="0" dirty="0">
              <a:solidFill>
                <a:srgbClr val="C00000"/>
              </a:solidFill>
            </a:endParaRPr>
          </a:p>
          <a:p>
            <a:pPr marL="457200" indent="-457200" eaLnBrk="1" hangingPunct="1">
              <a:lnSpc>
                <a:spcPct val="150000"/>
              </a:lnSpc>
              <a:buFont typeface="+mj-lt"/>
              <a:buAutoNum type="arabicPeriod"/>
              <a:defRPr/>
            </a:pPr>
            <a:r>
              <a:rPr lang="zh-CN" altLang="en-US" sz="2800" kern="0" dirty="0"/>
              <a:t>产品规模</a:t>
            </a:r>
            <a:endParaRPr lang="en-US" altLang="zh-CN" sz="2800" kern="0" dirty="0"/>
          </a:p>
          <a:p>
            <a:pPr marL="457200" indent="-457200" eaLnBrk="1" hangingPunct="1">
              <a:lnSpc>
                <a:spcPct val="150000"/>
              </a:lnSpc>
              <a:buFont typeface="+mj-lt"/>
              <a:buAutoNum type="arabicPeriod"/>
              <a:defRPr/>
            </a:pPr>
            <a:r>
              <a:rPr lang="zh-CN" altLang="en-US" sz="2800" kern="0" dirty="0"/>
              <a:t>商业影响</a:t>
            </a:r>
            <a:endParaRPr lang="en-US" altLang="zh-CN" sz="2800" kern="0" dirty="0"/>
          </a:p>
          <a:p>
            <a:pPr marL="457200" indent="-457200" eaLnBrk="1" hangingPunct="1">
              <a:lnSpc>
                <a:spcPct val="150000"/>
              </a:lnSpc>
              <a:buFont typeface="+mj-lt"/>
              <a:buAutoNum type="arabicPeriod"/>
              <a:defRPr/>
            </a:pPr>
            <a:r>
              <a:rPr lang="zh-CN" altLang="en-US" sz="2800" kern="0" dirty="0"/>
              <a:t>客户特性</a:t>
            </a:r>
            <a:endParaRPr lang="en-US" altLang="zh-CN" sz="2800" kern="0" dirty="0"/>
          </a:p>
          <a:p>
            <a:pPr marL="457200" indent="-457200" eaLnBrk="1" hangingPunct="1">
              <a:lnSpc>
                <a:spcPct val="150000"/>
              </a:lnSpc>
              <a:buFont typeface="+mj-lt"/>
              <a:buAutoNum type="arabicPeriod"/>
              <a:defRPr/>
            </a:pPr>
            <a:r>
              <a:rPr lang="zh-CN" altLang="en-US" sz="2800" kern="0" dirty="0"/>
              <a:t>过程定义</a:t>
            </a:r>
            <a:endParaRPr lang="en-US" altLang="zh-CN" sz="2800" kern="0" dirty="0"/>
          </a:p>
          <a:p>
            <a:pPr marL="457200" indent="-457200" eaLnBrk="1" hangingPunct="1">
              <a:lnSpc>
                <a:spcPct val="150000"/>
              </a:lnSpc>
              <a:buFont typeface="+mj-lt"/>
              <a:buAutoNum type="arabicPeriod"/>
              <a:defRPr/>
            </a:pPr>
            <a:r>
              <a:rPr lang="zh-CN" altLang="en-US" sz="2800" kern="0" dirty="0"/>
              <a:t>开发环境</a:t>
            </a:r>
            <a:endParaRPr lang="en-US" altLang="zh-CN" sz="2800" kern="0" dirty="0"/>
          </a:p>
          <a:p>
            <a:pPr marL="457200" indent="-457200" eaLnBrk="1" hangingPunct="1">
              <a:lnSpc>
                <a:spcPct val="150000"/>
              </a:lnSpc>
              <a:buFont typeface="+mj-lt"/>
              <a:buAutoNum type="arabicPeriod"/>
              <a:defRPr/>
            </a:pPr>
            <a:r>
              <a:rPr lang="zh-CN" altLang="en-US" sz="2800" kern="0" dirty="0"/>
              <a:t>建造的技术</a:t>
            </a:r>
            <a:endParaRPr lang="en-US" altLang="zh-CN" sz="2800" kern="0" dirty="0"/>
          </a:p>
          <a:p>
            <a:pPr marL="457200" indent="-457200" eaLnBrk="1" hangingPunct="1">
              <a:lnSpc>
                <a:spcPct val="150000"/>
              </a:lnSpc>
              <a:buFont typeface="+mj-lt"/>
              <a:buAutoNum type="arabicPeriod"/>
              <a:defRPr/>
            </a:pPr>
            <a:r>
              <a:rPr lang="zh-CN" altLang="en-US" sz="2800" kern="0" dirty="0"/>
              <a:t>人员数目及经验</a:t>
            </a:r>
            <a:endParaRPr lang="en-US" altLang="zh-CN" sz="28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
        <p:nvSpPr>
          <p:cNvPr id="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5195910"/>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一、产品规模风险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是否以</a:t>
            </a:r>
            <a:r>
              <a:rPr lang="en-US" altLang="zh-CN" sz="2400" kern="0" dirty="0">
                <a:latin typeface="+mn-ea"/>
                <a:ea typeface="+mn-ea"/>
              </a:rPr>
              <a:t>LOC</a:t>
            </a:r>
            <a:r>
              <a:rPr lang="zh-CN" altLang="en-US" sz="2400" kern="0" dirty="0">
                <a:latin typeface="+mn-ea"/>
                <a:ea typeface="+mn-ea"/>
              </a:rPr>
              <a:t>或</a:t>
            </a:r>
            <a:r>
              <a:rPr lang="en-US" altLang="zh-CN" sz="2400" kern="0" dirty="0">
                <a:latin typeface="+mn-ea"/>
                <a:ea typeface="+mn-ea"/>
              </a:rPr>
              <a:t>FP</a:t>
            </a:r>
            <a:r>
              <a:rPr lang="zh-CN" altLang="en-US" sz="2400" kern="0" dirty="0">
                <a:latin typeface="+mn-ea"/>
                <a:ea typeface="+mn-ea"/>
              </a:rPr>
              <a:t>估算产品的规模。</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对于估算出的产品规模的信任程度如何。</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是否以程序、文件或事务处理的数目来估算产品规模。</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产品规模与以前产品的规模的平均值的偏差百分比是多少。</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产品创建或使用的数据库大小如何。</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产品的用户数有多少。</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产品的需求改变多少？交付之前有多少？交付之后有多少？</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复用的软件有多少？</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5751703"/>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二、商业影响风险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本产品对公司的收入有何影响。</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本公司是否得到公司高级管理层的重视。</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交付期限的合理性如何。</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将会使用本产品的用户数及本产品是否与用户的需要相符合。</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本产品必须能与之互操作的其它产品</a:t>
            </a:r>
            <a:r>
              <a:rPr lang="en-US" altLang="zh-CN" sz="2400" kern="0" dirty="0">
                <a:latin typeface="+mn-ea"/>
                <a:ea typeface="+mn-ea"/>
              </a:rPr>
              <a:t>/</a:t>
            </a:r>
            <a:r>
              <a:rPr lang="zh-CN" altLang="en-US" sz="2400" kern="0" dirty="0">
                <a:latin typeface="+mn-ea"/>
                <a:ea typeface="+mn-ea"/>
              </a:rPr>
              <a:t>系统的数目。</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最终用户的水平如何。</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政府对本产品开发的约束。</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延迟交付所造成的成本消耗是多少。</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产品缺陷所造成的成本消耗是多少。</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5197705"/>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三、客户相关风险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你以前是否曾与这个客户合作过。</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该客户是否很清楚需要什么，他能否花时间把需求写出来。</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该客户是否同意花时间召开正式的需求收集会议，以确定项目范围。</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该客户是否愿意建立与开发者之间的快速通信渠道。</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该客户是否愿意参加复审工作。</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该客户是否具有该产品领域的技术素养。</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该客户是否愿意你的人来做他们的工作。</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该客户是否了解软件过程。</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6305701"/>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四、过程风险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高级管理层是否有一份已经写好的政策陈述，该陈述中强调了软件开发标准过程的重要性？</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开发组织是否已经拟定了一份已经成文的、用于本项目开发的软件过程的说明？</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开发人员是否同意按照文档所写的软件过程进行开发工作，并自愿使用它？</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该软件过程是否可以用于其它项目？</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管理者和开发人员是否接受过一系列的软件工程培训？</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是否为每一个软件开发者和管理者提供了印好的软件工程标准？</a:t>
            </a:r>
            <a:endParaRPr lang="en-US" altLang="zh-CN"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是否为作为软件过程一部分而定义的所有交付物建立了文档概要及示例？</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是否定期对需求规约、设计和编码进行正式的技术复审？</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6305701"/>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四、过程风险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是否定期对测试过程和测试情况进行复审？</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是否对每一次正式技术复审的结果建立了文档，其中包括发现的错误及使用的资源？</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有什么机制来保证按照软件工程标准来指导工作？</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是否使用配置管理来维护系统</a:t>
            </a:r>
            <a:r>
              <a:rPr lang="en-US" altLang="zh-CN" sz="2400" kern="0" dirty="0">
                <a:latin typeface="+mn-ea"/>
                <a:ea typeface="+mn-ea"/>
              </a:rPr>
              <a:t>/</a:t>
            </a:r>
            <a:r>
              <a:rPr lang="zh-CN" altLang="en-US" sz="2400" kern="0" dirty="0">
                <a:latin typeface="+mn-ea"/>
                <a:ea typeface="+mn-ea"/>
              </a:rPr>
              <a:t>软件需求、设计、编码、测试用例之间的一致性？</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是否使用一个机制来控制用户需求的变化及其对软件的影响？</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对于每一个承包出去的子合同，是否有一份文档化的工作说明、一份软件需求规约和一份软件开发计划？</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是否有一个可遵循的规程，来跟踪及复审子合同承包商的工作？ </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6859698"/>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五、开发环境风险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是否有可用的软件项目管理工具？</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是否有可用的软件过程管理工具？</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是否有可用的分析及设计工具？</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分析和设计工具是否适用于待建造产品？</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是否有可用的编译器或代码生成器？</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是否有可用的测试工具？</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是否有可用的软件配置管理工具？</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环境是否利用了数据库或数据仓库？</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项目组的成员是否接受过每个所使用工具的培训？</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是否有专家能够回答有关工具的问题</a:t>
            </a:r>
            <a:r>
              <a:rPr lang="en-US" altLang="zh-CN" sz="2400" kern="0" dirty="0">
                <a:latin typeface="+mn-ea"/>
                <a:ea typeface="+mn-ea"/>
              </a:rPr>
              <a:t>;</a:t>
            </a:r>
            <a:endParaRPr lang="en-US" altLang="zh-CN"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工具的联机帮助及文档是否适当？</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394494" y="531523"/>
            <a:ext cx="11403012" cy="6545766"/>
          </a:xfrm>
          <a:prstGeom prst="rect">
            <a:avLst/>
          </a:prstGeom>
          <a:noFill/>
        </p:spPr>
        <p:txBody>
          <a:bodyPr wrap="square">
            <a:spAutoFit/>
          </a:bodyPr>
          <a:lstStyle/>
          <a:p>
            <a:pPr algn="ctr" eaLnBrk="1" hangingPunct="1">
              <a:lnSpc>
                <a:spcPct val="150000"/>
              </a:lnSpc>
              <a:defRPr/>
            </a:pPr>
            <a:r>
              <a:rPr lang="zh-CN" altLang="en-US" sz="2800" kern="0" dirty="0">
                <a:solidFill>
                  <a:srgbClr val="C00000"/>
                </a:solidFill>
              </a:rPr>
              <a:t>六、技术风险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该技术对于你的公司而言是新的吗？</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客户的需求是否需要创建新的算法或输入、输出技术？</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待开发的软件是否需要使用新的或未经证实的硬件接口？</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待开发的软件是否需要与开发商提供的未经证实的软件产品接口？</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待开发的软件是否需要与功能和性能均未在本领域得到证实的数据库系统接口？</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产品的需求是否要求采用特定的用户界面？</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产品的需求中是否要求开发某些程序构件，这些构件与你的公司以前开发的构件完全不同？</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需求中是否要求采用新的分析、设计、测试方法？</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需求中是否要求使用非传统的软件开发方法？</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需求中是否有过分的对产品的性能约束？</a:t>
            </a:r>
            <a:endParaRPr lang="zh-CN" altLang="en-US" sz="2400" kern="0" dirty="0">
              <a:latin typeface="+mn-ea"/>
              <a:ea typeface="+mn-ea"/>
            </a:endParaRPr>
          </a:p>
          <a:p>
            <a:pPr marL="342900" indent="-342900" eaLnBrk="1" hangingPunct="1">
              <a:lnSpc>
                <a:spcPct val="130000"/>
              </a:lnSpc>
              <a:buFont typeface="Arial" panose="020B0604020202020204" pitchFamily="34" charset="0"/>
              <a:buChar char="•"/>
              <a:defRPr/>
            </a:pPr>
            <a:r>
              <a:rPr lang="zh-CN" altLang="en-US" sz="2400" kern="0" dirty="0">
                <a:latin typeface="+mn-ea"/>
                <a:ea typeface="+mn-ea"/>
              </a:rPr>
              <a:t>客户能确定所要求的功能是可行的吗？</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531523"/>
            <a:ext cx="10340975" cy="5197705"/>
          </a:xfrm>
          <a:prstGeom prst="rect">
            <a:avLst/>
          </a:prstGeom>
          <a:noFill/>
        </p:spPr>
        <p:txBody>
          <a:bodyPr>
            <a:spAutoFit/>
          </a:bodyPr>
          <a:lstStyle/>
          <a:p>
            <a:pPr algn="ctr" eaLnBrk="1" hangingPunct="1">
              <a:lnSpc>
                <a:spcPct val="150000"/>
              </a:lnSpc>
              <a:defRPr/>
            </a:pPr>
            <a:r>
              <a:rPr lang="zh-CN" altLang="en-US" sz="2800" kern="0" dirty="0">
                <a:solidFill>
                  <a:srgbClr val="C00000"/>
                </a:solidFill>
              </a:rPr>
              <a:t>七、人员数目及经验风险</a:t>
            </a:r>
            <a:endParaRPr lang="en-US" altLang="zh-CN" sz="2800" kern="0" dirty="0">
              <a:solidFill>
                <a:srgbClr val="C00000"/>
              </a:solidFill>
            </a:endParaRPr>
          </a:p>
          <a:p>
            <a:pPr eaLnBrk="1" hangingPunct="1">
              <a:lnSpc>
                <a:spcPct val="150000"/>
              </a:lnSpc>
              <a:defRPr/>
            </a:pPr>
            <a:endParaRPr lang="en-US" altLang="zh-CN" sz="400" kern="0" dirty="0"/>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是否有最优秀的人员可用？</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人员在技术上是否配套？</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是否有足够的人员可用？</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开发人员是否能够自始至终地参加整个项目的工作？</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项目中是否有一些人员只能部分时间工作？</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开发人员对自己的工作是否有正确的期望？</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开发人员是否接受过必要的培训？</a:t>
            </a:r>
            <a:endParaRPr lang="zh-CN" altLang="en-US" sz="2400" kern="0" dirty="0">
              <a:latin typeface="+mn-ea"/>
              <a:ea typeface="+mn-ea"/>
            </a:endParaRPr>
          </a:p>
          <a:p>
            <a:pPr marL="342900" indent="-342900" eaLnBrk="1" hangingPunct="1">
              <a:lnSpc>
                <a:spcPct val="150000"/>
              </a:lnSpc>
              <a:buFont typeface="Arial" panose="020B0604020202020204" pitchFamily="34" charset="0"/>
              <a:buChar char="•"/>
              <a:defRPr/>
            </a:pPr>
            <a:r>
              <a:rPr lang="zh-CN" altLang="en-US" sz="2400" kern="0" dirty="0">
                <a:latin typeface="+mn-ea"/>
                <a:ea typeface="+mn-ea"/>
              </a:rPr>
              <a:t>开发人员的流动是否仍能保证工作的连续性？</a:t>
            </a:r>
            <a:endParaRPr lang="zh-CN" altLang="en-US" sz="2400" kern="0" dirty="0">
              <a:latin typeface="+mn-ea"/>
              <a:ea typeface="+mn-ea"/>
            </a:endParaRPr>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3984424"/>
          </a:xfrm>
          <a:prstGeom prst="rect">
            <a:avLst/>
          </a:prstGeom>
          <a:noFill/>
        </p:spPr>
        <p:txBody>
          <a:bodyPr>
            <a:spAutoFit/>
          </a:bodyPr>
          <a:lstStyle/>
          <a:p>
            <a:pPr algn="ctr" eaLnBrk="1" hangingPunct="1">
              <a:lnSpc>
                <a:spcPct val="150000"/>
              </a:lnSpc>
              <a:defRPr/>
            </a:pPr>
            <a:r>
              <a:rPr lang="zh-CN" altLang="en-US" sz="3200" kern="0" dirty="0">
                <a:solidFill>
                  <a:srgbClr val="C00000"/>
                </a:solidFill>
              </a:rPr>
              <a:t>用于风险识别的方法</a:t>
            </a:r>
            <a:endParaRPr lang="en-US" altLang="zh-CN" sz="3200" kern="0" dirty="0">
              <a:solidFill>
                <a:srgbClr val="C00000"/>
              </a:solidFill>
            </a:endParaRPr>
          </a:p>
          <a:p>
            <a:pPr eaLnBrk="1" hangingPunct="1">
              <a:lnSpc>
                <a:spcPct val="150000"/>
              </a:lnSpc>
              <a:defRPr/>
            </a:pPr>
            <a:r>
              <a:rPr lang="zh-CN" altLang="en-US" sz="2800" kern="0" dirty="0"/>
              <a:t>一、分析识别的步骤</a:t>
            </a:r>
            <a:endParaRPr lang="en-US" altLang="zh-CN" sz="2800" kern="0" dirty="0"/>
          </a:p>
          <a:p>
            <a:pPr eaLnBrk="1" hangingPunct="1">
              <a:lnSpc>
                <a:spcPct val="150000"/>
              </a:lnSpc>
              <a:defRPr/>
            </a:pPr>
            <a:r>
              <a:rPr lang="zh-CN" altLang="en-US" sz="2800" kern="0" dirty="0"/>
              <a:t>风险识别一般可分三步进行：</a:t>
            </a:r>
            <a:endParaRPr lang="en-US" altLang="zh-CN" sz="2800" kern="0" dirty="0"/>
          </a:p>
          <a:p>
            <a:pPr marL="457200" indent="-457200" eaLnBrk="1" hangingPunct="1">
              <a:lnSpc>
                <a:spcPct val="150000"/>
              </a:lnSpc>
              <a:buFont typeface="+mj-lt"/>
              <a:buAutoNum type="arabicPeriod"/>
              <a:defRPr/>
            </a:pPr>
            <a:r>
              <a:rPr lang="zh-CN" altLang="en-US" sz="2800" kern="0" dirty="0"/>
              <a:t>收集资料</a:t>
            </a:r>
            <a:endParaRPr lang="en-US" altLang="zh-CN" sz="2800" kern="0" dirty="0"/>
          </a:p>
          <a:p>
            <a:pPr marL="457200" indent="-457200" eaLnBrk="1" hangingPunct="1">
              <a:lnSpc>
                <a:spcPct val="150000"/>
              </a:lnSpc>
              <a:buFont typeface="+mj-lt"/>
              <a:buAutoNum type="arabicPeriod"/>
              <a:defRPr/>
            </a:pPr>
            <a:r>
              <a:rPr lang="zh-CN" altLang="en-US" sz="2800" kern="0" dirty="0"/>
              <a:t>风险形势估计</a:t>
            </a:r>
            <a:endParaRPr lang="en-US" altLang="zh-CN" sz="2800" kern="0" dirty="0"/>
          </a:p>
          <a:p>
            <a:pPr marL="457200" indent="-457200" eaLnBrk="1" hangingPunct="1">
              <a:lnSpc>
                <a:spcPct val="150000"/>
              </a:lnSpc>
              <a:buFont typeface="+mj-lt"/>
              <a:buAutoNum type="arabicPeriod"/>
              <a:defRPr/>
            </a:pPr>
            <a:r>
              <a:rPr lang="zh-CN" altLang="en-US" sz="2800" kern="0" dirty="0"/>
              <a:t>根据直接或间接的症状将潜在的风险识别出来</a:t>
            </a:r>
            <a:endParaRPr lang="en-US" altLang="zh-CN" sz="28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4630755"/>
          </a:xfrm>
          <a:prstGeom prst="rect">
            <a:avLst/>
          </a:prstGeom>
          <a:noFill/>
        </p:spPr>
        <p:txBody>
          <a:bodyPr>
            <a:spAutoFit/>
          </a:bodyPr>
          <a:lstStyle/>
          <a:p>
            <a:pPr algn="ctr" eaLnBrk="1" hangingPunct="1">
              <a:lnSpc>
                <a:spcPct val="150000"/>
              </a:lnSpc>
              <a:defRPr/>
            </a:pPr>
            <a:r>
              <a:rPr lang="zh-CN" altLang="en-US" sz="3200" kern="0" dirty="0">
                <a:solidFill>
                  <a:srgbClr val="C00000"/>
                </a:solidFill>
              </a:rPr>
              <a:t>用于风险识别的方法</a:t>
            </a:r>
            <a:endParaRPr lang="en-US" altLang="zh-CN" sz="3200" kern="0" dirty="0">
              <a:solidFill>
                <a:srgbClr val="C00000"/>
              </a:solidFill>
            </a:endParaRPr>
          </a:p>
          <a:p>
            <a:pPr eaLnBrk="1" hangingPunct="1">
              <a:lnSpc>
                <a:spcPct val="150000"/>
              </a:lnSpc>
              <a:defRPr/>
            </a:pPr>
            <a:r>
              <a:rPr lang="zh-CN" altLang="en-US" sz="2800" kern="0" dirty="0"/>
              <a:t>二、风险识别的具体方法</a:t>
            </a:r>
            <a:endParaRPr lang="zh-CN" altLang="en-US" sz="2800" kern="0" dirty="0"/>
          </a:p>
          <a:p>
            <a:pPr marL="457200" indent="-457200" eaLnBrk="1" hangingPunct="1">
              <a:lnSpc>
                <a:spcPct val="150000"/>
              </a:lnSpc>
              <a:buFont typeface="+mj-lt"/>
              <a:buAutoNum type="arabicPeriod"/>
              <a:defRPr/>
            </a:pPr>
            <a:r>
              <a:rPr lang="zh-CN" altLang="en-US" sz="2800" kern="0" dirty="0"/>
              <a:t>德尔菲技术</a:t>
            </a:r>
            <a:endParaRPr lang="en-US" altLang="zh-CN" sz="2800" kern="0" dirty="0"/>
          </a:p>
          <a:p>
            <a:pPr marL="457200" indent="-457200" eaLnBrk="1" hangingPunct="1">
              <a:lnSpc>
                <a:spcPct val="150000"/>
              </a:lnSpc>
              <a:buFont typeface="+mj-lt"/>
              <a:buAutoNum type="arabicPeriod"/>
              <a:defRPr/>
            </a:pPr>
            <a:r>
              <a:rPr lang="zh-CN" altLang="en-US" sz="2800" kern="0" dirty="0"/>
              <a:t>头脑风暴法</a:t>
            </a:r>
            <a:endParaRPr lang="en-US" altLang="zh-CN" sz="2800" kern="0" dirty="0"/>
          </a:p>
          <a:p>
            <a:pPr marL="457200" indent="-457200" eaLnBrk="1" hangingPunct="1">
              <a:lnSpc>
                <a:spcPct val="150000"/>
              </a:lnSpc>
              <a:buFont typeface="+mj-lt"/>
              <a:buAutoNum type="arabicPeriod"/>
              <a:defRPr/>
            </a:pPr>
            <a:r>
              <a:rPr lang="en-US" altLang="zh-CN" sz="2800" kern="0" dirty="0"/>
              <a:t>SWOT</a:t>
            </a:r>
            <a:r>
              <a:rPr lang="zh-CN" altLang="en-US" sz="2800" kern="0" dirty="0"/>
              <a:t>分析法</a:t>
            </a:r>
            <a:endParaRPr lang="en-US" altLang="zh-CN" sz="2800" kern="0" dirty="0"/>
          </a:p>
          <a:p>
            <a:pPr marL="457200" indent="-457200" eaLnBrk="1" hangingPunct="1">
              <a:lnSpc>
                <a:spcPct val="150000"/>
              </a:lnSpc>
              <a:buFont typeface="+mj-lt"/>
              <a:buAutoNum type="arabicPeriod"/>
              <a:defRPr/>
            </a:pPr>
            <a:r>
              <a:rPr lang="zh-CN" altLang="en-US" sz="2800" kern="0" dirty="0"/>
              <a:t>检查表</a:t>
            </a:r>
            <a:endParaRPr lang="en-US" altLang="zh-CN" sz="2800" kern="0" dirty="0"/>
          </a:p>
          <a:p>
            <a:pPr marL="457200" indent="-457200" eaLnBrk="1" hangingPunct="1">
              <a:lnSpc>
                <a:spcPct val="150000"/>
              </a:lnSpc>
              <a:buFont typeface="+mj-lt"/>
              <a:buAutoNum type="arabicPeriod"/>
              <a:defRPr/>
            </a:pPr>
            <a:r>
              <a:rPr lang="zh-CN" altLang="en-US" sz="2800" kern="0" dirty="0"/>
              <a:t>图解技术</a:t>
            </a:r>
            <a:endParaRPr lang="en-US" altLang="zh-CN" sz="28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4630755"/>
          </a:xfrm>
          <a:prstGeom prst="rect">
            <a:avLst/>
          </a:prstGeom>
          <a:noFill/>
        </p:spPr>
        <p:txBody>
          <a:bodyPr>
            <a:spAutoFit/>
          </a:bodyPr>
          <a:lstStyle/>
          <a:p>
            <a:pPr algn="ctr" eaLnBrk="1" hangingPunct="1">
              <a:lnSpc>
                <a:spcPct val="150000"/>
              </a:lnSpc>
              <a:defRPr/>
            </a:pPr>
            <a:r>
              <a:rPr lang="zh-CN" altLang="en-US" sz="3200" kern="0" dirty="0">
                <a:solidFill>
                  <a:srgbClr val="C00000"/>
                </a:solidFill>
              </a:rPr>
              <a:t>用于风险识别的方法</a:t>
            </a:r>
            <a:endParaRPr lang="en-US" altLang="zh-CN" sz="3200" kern="0" dirty="0">
              <a:solidFill>
                <a:srgbClr val="C00000"/>
              </a:solidFill>
            </a:endParaRPr>
          </a:p>
          <a:p>
            <a:pPr eaLnBrk="1" hangingPunct="1">
              <a:lnSpc>
                <a:spcPct val="150000"/>
              </a:lnSpc>
              <a:defRPr/>
            </a:pPr>
            <a:r>
              <a:rPr lang="zh-CN" altLang="en-US" sz="2800" kern="0" dirty="0"/>
              <a:t>三、风险识别的输入</a:t>
            </a:r>
            <a:endParaRPr lang="en-US" altLang="zh-CN" sz="2800" kern="0" dirty="0"/>
          </a:p>
          <a:p>
            <a:pPr marL="514350" indent="-514350" eaLnBrk="1" hangingPunct="1">
              <a:lnSpc>
                <a:spcPct val="150000"/>
              </a:lnSpc>
              <a:buFont typeface="+mj-lt"/>
              <a:buAutoNum type="arabicPeriod"/>
              <a:defRPr/>
            </a:pPr>
            <a:r>
              <a:rPr lang="zh-CN" altLang="en-US" sz="2800" kern="0" dirty="0"/>
              <a:t>企业环境因素</a:t>
            </a:r>
            <a:endParaRPr lang="en-US" altLang="zh-CN" sz="2800" kern="0" dirty="0"/>
          </a:p>
          <a:p>
            <a:pPr marL="514350" indent="-514350" eaLnBrk="1" hangingPunct="1">
              <a:lnSpc>
                <a:spcPct val="150000"/>
              </a:lnSpc>
              <a:buFont typeface="+mj-lt"/>
              <a:buAutoNum type="arabicPeriod"/>
              <a:defRPr/>
            </a:pPr>
            <a:r>
              <a:rPr lang="zh-CN" altLang="en-US" sz="2800" kern="0" dirty="0"/>
              <a:t>组织过程资产</a:t>
            </a:r>
            <a:endParaRPr lang="en-US" altLang="zh-CN" sz="2800" kern="0" dirty="0"/>
          </a:p>
          <a:p>
            <a:pPr marL="514350" indent="-514350" eaLnBrk="1" hangingPunct="1">
              <a:lnSpc>
                <a:spcPct val="150000"/>
              </a:lnSpc>
              <a:buFont typeface="+mj-lt"/>
              <a:buAutoNum type="arabicPeriod"/>
              <a:defRPr/>
            </a:pPr>
            <a:r>
              <a:rPr lang="zh-CN" altLang="en-US" sz="2800" kern="0" dirty="0"/>
              <a:t>项目范围说明书</a:t>
            </a:r>
            <a:endParaRPr lang="en-US" altLang="zh-CN" sz="2800" kern="0" dirty="0"/>
          </a:p>
          <a:p>
            <a:pPr marL="514350" indent="-514350" eaLnBrk="1" hangingPunct="1">
              <a:lnSpc>
                <a:spcPct val="150000"/>
              </a:lnSpc>
              <a:buFont typeface="+mj-lt"/>
              <a:buAutoNum type="arabicPeriod"/>
              <a:defRPr/>
            </a:pPr>
            <a:r>
              <a:rPr lang="zh-CN" altLang="en-US" sz="2800" kern="0" dirty="0"/>
              <a:t>风险管理计划</a:t>
            </a:r>
            <a:endParaRPr lang="en-US" altLang="zh-CN" sz="2800" kern="0" dirty="0"/>
          </a:p>
          <a:p>
            <a:pPr marL="514350" indent="-514350" eaLnBrk="1" hangingPunct="1">
              <a:lnSpc>
                <a:spcPct val="150000"/>
              </a:lnSpc>
              <a:buFont typeface="+mj-lt"/>
              <a:buAutoNum type="arabicPeriod"/>
              <a:defRPr/>
            </a:pPr>
            <a:r>
              <a:rPr lang="zh-CN" altLang="en-US" sz="2800" kern="0" dirty="0"/>
              <a:t>项目管理计划</a:t>
            </a:r>
            <a:endParaRPr lang="en-US" altLang="zh-CN" sz="28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10.4</a:t>
            </a:r>
            <a:r>
              <a:rPr lang="zh-CN" altLang="en-US" sz="2400" b="1" dirty="0">
                <a:solidFill>
                  <a:srgbClr val="01395C"/>
                </a:solidFill>
                <a:latin typeface="方正粗宋简体"/>
                <a:ea typeface="方正粗宋简体"/>
                <a:cs typeface="方正粗宋简体"/>
              </a:rPr>
              <a:t> 风险识别</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66775" y="673735"/>
            <a:ext cx="10340975" cy="2207260"/>
          </a:xfrm>
          <a:prstGeom prst="rect">
            <a:avLst/>
          </a:prstGeom>
          <a:noFill/>
        </p:spPr>
        <p:txBody>
          <a:bodyPr>
            <a:noAutofit/>
          </a:bodyPr>
          <a:lstStyle/>
          <a:p>
            <a:pPr algn="ctr" eaLnBrk="1" hangingPunct="1">
              <a:lnSpc>
                <a:spcPct val="150000"/>
              </a:lnSpc>
              <a:defRPr/>
            </a:pPr>
            <a:r>
              <a:rPr lang="zh-CN" altLang="en-US" sz="3200" kern="0" dirty="0">
                <a:solidFill>
                  <a:srgbClr val="C00000"/>
                </a:solidFill>
              </a:rPr>
              <a:t>用于风险识别的方法</a:t>
            </a:r>
            <a:endParaRPr lang="en-US" altLang="zh-CN" sz="3200" kern="0" dirty="0">
              <a:solidFill>
                <a:srgbClr val="C00000"/>
              </a:solidFill>
            </a:endParaRPr>
          </a:p>
          <a:p>
            <a:pPr eaLnBrk="1" hangingPunct="1">
              <a:lnSpc>
                <a:spcPct val="150000"/>
              </a:lnSpc>
              <a:defRPr/>
            </a:pPr>
            <a:r>
              <a:rPr lang="zh-CN" altLang="en-US" sz="2800" kern="0" dirty="0"/>
              <a:t>四、风险识别的输出</a:t>
            </a:r>
            <a:endParaRPr lang="en-US" altLang="zh-CN" sz="2800" kern="0" dirty="0"/>
          </a:p>
          <a:p>
            <a:pPr eaLnBrk="1" hangingPunct="1">
              <a:lnSpc>
                <a:spcPct val="150000"/>
              </a:lnSpc>
              <a:defRPr/>
            </a:pPr>
            <a:r>
              <a:rPr lang="zh-CN" altLang="en-US" sz="2800" kern="0" dirty="0"/>
              <a:t>风险登记单</a:t>
            </a:r>
            <a:endParaRPr lang="en-US" altLang="zh-CN" sz="2800" kern="0" dirty="0"/>
          </a:p>
          <a:p>
            <a:pPr eaLnBrk="1" hangingPunct="1">
              <a:lnSpc>
                <a:spcPct val="150000"/>
              </a:lnSpc>
              <a:defRPr/>
            </a:pPr>
            <a:endParaRPr lang="zh-CN" altLang="en-US" sz="2800" kern="0" dirty="0"/>
          </a:p>
        </p:txBody>
      </p:sp>
      <p:pic>
        <p:nvPicPr>
          <p:cNvPr id="2" name="图片 1"/>
          <p:cNvPicPr>
            <a:picLocks noChangeAspect="1"/>
          </p:cNvPicPr>
          <p:nvPr>
            <p:custDataLst>
              <p:tags r:id="rId1"/>
            </p:custDataLst>
          </p:nvPr>
        </p:nvPicPr>
        <p:blipFill>
          <a:blip r:embed="rId2"/>
          <a:stretch>
            <a:fillRect/>
          </a:stretch>
        </p:blipFill>
        <p:spPr>
          <a:xfrm>
            <a:off x="5441315" y="1593215"/>
            <a:ext cx="5508625" cy="7200265"/>
          </a:xfrm>
          <a:prstGeom prst="rect">
            <a:avLst/>
          </a:prstGeom>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890588" y="1030288"/>
            <a:ext cx="10340975" cy="3322955"/>
          </a:xfrm>
          <a:prstGeom prst="rect">
            <a:avLst/>
          </a:prstGeom>
          <a:noFill/>
        </p:spPr>
        <p:txBody>
          <a:bodyPr>
            <a:spAutoFit/>
          </a:bodyPr>
          <a:lstStyle/>
          <a:p>
            <a:pPr eaLnBrk="1" hangingPunct="1">
              <a:lnSpc>
                <a:spcPct val="150000"/>
              </a:lnSpc>
              <a:defRPr/>
            </a:pPr>
            <a:r>
              <a:rPr lang="en-US" altLang="zh-CN" sz="2800" kern="0" dirty="0"/>
              <a:t>5.5.1 </a:t>
            </a:r>
            <a:r>
              <a:rPr lang="zh-CN" altLang="en-US" sz="2800" kern="0" dirty="0"/>
              <a:t>定性风险分析</a:t>
            </a:r>
            <a:endParaRPr lang="en-US" altLang="zh-CN" sz="2800" kern="0" dirty="0"/>
          </a:p>
          <a:p>
            <a:pPr eaLnBrk="1" hangingPunct="1">
              <a:lnSpc>
                <a:spcPct val="150000"/>
              </a:lnSpc>
              <a:defRPr/>
            </a:pPr>
            <a:r>
              <a:rPr lang="en-US" altLang="zh-CN" sz="2800" kern="0" dirty="0"/>
              <a:t>5.5.2</a:t>
            </a:r>
            <a:r>
              <a:rPr lang="zh-CN" altLang="en-US" sz="2800" kern="0" dirty="0"/>
              <a:t> 定量风险分析：决策树、计划评审技术</a:t>
            </a:r>
            <a:endParaRPr lang="en-US" altLang="zh-CN" sz="2800" kern="0" dirty="0"/>
          </a:p>
          <a:p>
            <a:pPr eaLnBrk="1" hangingPunct="1">
              <a:lnSpc>
                <a:spcPct val="150000"/>
              </a:lnSpc>
              <a:defRPr/>
            </a:pPr>
            <a:r>
              <a:rPr lang="en-US" altLang="zh-CN" sz="2800" kern="0" dirty="0"/>
              <a:t>5.5.3 </a:t>
            </a:r>
            <a:r>
              <a:rPr lang="zh-CN" altLang="en-US" sz="2800" kern="0" dirty="0"/>
              <a:t>定量风险分析的输入输出</a:t>
            </a:r>
            <a:endParaRPr lang="en-US" altLang="zh-CN" sz="2800" kern="0" dirty="0"/>
          </a:p>
          <a:p>
            <a:pPr eaLnBrk="1" hangingPunct="1">
              <a:lnSpc>
                <a:spcPct val="150000"/>
              </a:lnSpc>
              <a:defRPr/>
            </a:pPr>
            <a:r>
              <a:rPr lang="en-US" altLang="zh-CN" sz="2800" kern="0" dirty="0"/>
              <a:t>5.5.4 </a:t>
            </a:r>
            <a:r>
              <a:rPr lang="zh-CN" altLang="en-US" sz="2800" kern="0" dirty="0"/>
              <a:t>应对风险的基本措施</a:t>
            </a:r>
            <a:endParaRPr lang="en-US" altLang="zh-CN" sz="2800" kern="0" dirty="0"/>
          </a:p>
          <a:p>
            <a:pPr eaLnBrk="1" hangingPunct="1">
              <a:lnSpc>
                <a:spcPct val="150000"/>
              </a:lnSpc>
              <a:defRPr/>
            </a:pPr>
            <a:r>
              <a:rPr lang="en-US" altLang="zh-CN" sz="2800" kern="0" dirty="0"/>
              <a:t>5.6 </a:t>
            </a:r>
            <a:r>
              <a:rPr lang="zh-CN" altLang="en-US" sz="2800" kern="0" dirty="0"/>
              <a:t>风险监控</a:t>
            </a:r>
            <a:endParaRPr lang="zh-CN" altLang="en-US" sz="2800" kern="0" dirty="0"/>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10.5</a:t>
            </a:r>
            <a:r>
              <a:rPr lang="zh-CN" altLang="en-US" sz="2400" b="1" dirty="0">
                <a:solidFill>
                  <a:srgbClr val="01395C"/>
                </a:solidFill>
                <a:latin typeface="方正粗宋简体"/>
                <a:ea typeface="方正粗宋简体"/>
                <a:cs typeface="方正粗宋简体"/>
              </a:rPr>
              <a:t> 风险分析</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2233753"/>
          </a:xfrm>
          <a:prstGeom prst="rect">
            <a:avLst/>
          </a:prstGeom>
          <a:noFill/>
        </p:spPr>
        <p:txBody>
          <a:bodyPr>
            <a:spAutoFit/>
          </a:bodyPr>
          <a:lstStyle/>
          <a:p>
            <a:pPr eaLnBrk="1" hangingPunct="1">
              <a:lnSpc>
                <a:spcPct val="150000"/>
              </a:lnSpc>
              <a:defRPr/>
            </a:pPr>
            <a:r>
              <a:rPr lang="zh-CN" altLang="en-US" sz="2400" kern="0" dirty="0"/>
              <a:t>定性风险分析</a:t>
            </a:r>
            <a:endParaRPr lang="en-US" altLang="zh-CN" sz="2400" kern="0" dirty="0"/>
          </a:p>
          <a:p>
            <a:pPr eaLnBrk="1" hangingPunct="1">
              <a:lnSpc>
                <a:spcPct val="150000"/>
              </a:lnSpc>
              <a:defRPr/>
            </a:pPr>
            <a:r>
              <a:rPr lang="zh-CN" altLang="en-US" sz="2400" kern="0" dirty="0"/>
              <a:t>定量风险分析</a:t>
            </a:r>
            <a:endParaRPr lang="en-US" altLang="zh-CN" sz="2400" kern="0" dirty="0"/>
          </a:p>
          <a:p>
            <a:pPr eaLnBrk="1" hangingPunct="1">
              <a:lnSpc>
                <a:spcPct val="150000"/>
              </a:lnSpc>
              <a:defRPr/>
            </a:pPr>
            <a:r>
              <a:rPr lang="zh-CN" altLang="en-US" sz="2400" kern="0" dirty="0"/>
              <a:t>定量风险分析的输入输出</a:t>
            </a:r>
            <a:endParaRPr lang="en-US" altLang="zh-CN" sz="2400" kern="0" dirty="0"/>
          </a:p>
          <a:p>
            <a:pPr eaLnBrk="1" hangingPunct="1">
              <a:lnSpc>
                <a:spcPct val="150000"/>
              </a:lnSpc>
              <a:defRPr/>
            </a:pPr>
            <a:r>
              <a:rPr lang="zh-CN" altLang="en-US" sz="2400" kern="0" dirty="0"/>
              <a:t>应对风险的基本措施</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890587" y="1030288"/>
            <a:ext cx="10340975" cy="645160"/>
          </a:xfrm>
          <a:prstGeom prst="rect">
            <a:avLst/>
          </a:prstGeom>
          <a:noFill/>
        </p:spPr>
        <p:txBody>
          <a:bodyPr>
            <a:spAutoFit/>
          </a:bodyPr>
          <a:lstStyle/>
          <a:p>
            <a:pPr eaLnBrk="1" hangingPunct="1">
              <a:lnSpc>
                <a:spcPct val="150000"/>
              </a:lnSpc>
              <a:defRPr/>
            </a:pPr>
            <a:r>
              <a:rPr lang="zh-CN" altLang="en-US" sz="2400" b="1" kern="0" dirty="0">
                <a:solidFill>
                  <a:srgbClr val="FF0000"/>
                </a:solidFill>
              </a:rPr>
              <a:t>本章最后课后题：决策树（重点）</a:t>
            </a:r>
            <a:endParaRPr lang="en-US" altLang="zh-CN" sz="2400" b="1" kern="0" dirty="0">
              <a:solidFill>
                <a:srgbClr val="FF0000"/>
              </a:solidFill>
            </a:endParaRPr>
          </a:p>
        </p:txBody>
      </p:sp>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10.5</a:t>
            </a:r>
            <a:r>
              <a:rPr lang="zh-CN" altLang="en-US" sz="2400" b="1" dirty="0">
                <a:solidFill>
                  <a:srgbClr val="01395C"/>
                </a:solidFill>
                <a:latin typeface="方正粗宋简体"/>
                <a:ea typeface="方正粗宋简体"/>
                <a:cs typeface="方正粗宋简体"/>
              </a:rPr>
              <a:t> 风险分析</a:t>
            </a:r>
            <a:endParaRPr lang="zh-CN" altLang="en-US" sz="2400" b="1" dirty="0">
              <a:solidFill>
                <a:srgbClr val="01395C"/>
              </a:solidFill>
              <a:latin typeface="方正粗宋简体"/>
              <a:ea typeface="方正粗宋简体"/>
              <a:cs typeface="方正粗宋简体"/>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10.6</a:t>
            </a:r>
            <a:r>
              <a:rPr lang="zh-CN" altLang="en-US" sz="2400" b="1" dirty="0">
                <a:solidFill>
                  <a:srgbClr val="01395C"/>
                </a:solidFill>
                <a:latin typeface="方正粗宋简体"/>
                <a:ea typeface="方正粗宋简体"/>
                <a:cs typeface="方正粗宋简体"/>
              </a:rPr>
              <a:t> 风险监控</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1687257"/>
          </a:xfrm>
          <a:prstGeom prst="rect">
            <a:avLst/>
          </a:prstGeom>
          <a:noFill/>
        </p:spPr>
        <p:txBody>
          <a:bodyPr>
            <a:spAutoFit/>
          </a:bodyPr>
          <a:lstStyle/>
          <a:p>
            <a:pPr indent="647700" eaLnBrk="1" hangingPunct="1">
              <a:lnSpc>
                <a:spcPct val="150000"/>
              </a:lnSpc>
              <a:defRPr/>
            </a:pPr>
            <a:r>
              <a:rPr lang="zh-CN" altLang="en-US" sz="2400" kern="0" dirty="0">
                <a:solidFill>
                  <a:srgbClr val="C00000"/>
                </a:solidFill>
              </a:rPr>
              <a:t>风险监控</a:t>
            </a:r>
            <a:r>
              <a:rPr lang="zh-CN" altLang="en-US" sz="2400" kern="0" dirty="0"/>
              <a:t>就是要跟踪风险，识别剩余风险和新出现的风险，修改风险管理计划，保证风险计划的实施，并评估消减风险的效果，从而保证风险管理能达到预期的目标。</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spTree>
  </p:cSld>
  <p:clrMapOvr>
    <a:masterClrMapping/>
  </p:clrMapOvr>
  <p:transition spd="slow"/>
</p:sld>
</file>

<file path=ppt/tags/tag1.xml><?xml version="1.0" encoding="utf-8"?>
<p:tagLst xmlns:p="http://schemas.openxmlformats.org/presentationml/2006/main">
  <p:tag name="KSO_WM_UNIT_PLACING_PICTURE_USER_VIEWPORT" val="{&quot;height&quot;:5618,&quot;width&quot;:4298}"/>
</p:tagLst>
</file>

<file path=ppt/tags/tag2.xml><?xml version="1.0" encoding="utf-8"?>
<p:tagLst xmlns:p="http://schemas.openxmlformats.org/presentationml/2006/main">
  <p:tag name="KSO_WPP_MARK_KEY" val="8944c1d6-1026-46f0-90ff-9508db341923"/>
  <p:tag name="COMMONDATA" val="eyJoZGlkIjoiZmJmZTY0MmZjYjFiMjgwOTI0Y2I4NTdjZmUxMzMyMGM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4689</Words>
  <Application>WPS 演示</Application>
  <PresentationFormat>自定义</PresentationFormat>
  <Paragraphs>414</Paragraphs>
  <Slides>39</Slides>
  <Notes>38</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1</vt:i4>
      </vt:variant>
      <vt:variant>
        <vt:lpstr>幻灯片标题</vt:lpstr>
      </vt:variant>
      <vt:variant>
        <vt:i4>39</vt:i4>
      </vt:variant>
    </vt:vector>
  </HeadingPairs>
  <TitlesOfParts>
    <vt:vector size="58" baseType="lpstr">
      <vt:lpstr>Arial</vt:lpstr>
      <vt:lpstr>宋体</vt:lpstr>
      <vt:lpstr>Wingdings</vt:lpstr>
      <vt:lpstr>Impact</vt:lpstr>
      <vt:lpstr>微软雅黑</vt:lpstr>
      <vt:lpstr>等线 Light</vt:lpstr>
      <vt:lpstr>方正粗宋简体</vt:lpstr>
      <vt:lpstr>Calibri</vt:lpstr>
      <vt:lpstr>方正舒体</vt:lpstr>
      <vt:lpstr>Arial Narrow</vt:lpstr>
      <vt:lpstr>Monotype Sorts</vt:lpstr>
      <vt:lpstr>Arial Unicode MS</vt:lpstr>
      <vt:lpstr>Times New Roman</vt:lpstr>
      <vt:lpstr>Wingdings</vt:lpstr>
      <vt:lpstr>等线</vt:lpstr>
      <vt:lpstr>自定义设计方案</vt:lpstr>
      <vt:lpstr>1_Office 主题</vt:lpstr>
      <vt:lpstr>2_Office 主题</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蓝数码</cp:lastModifiedBy>
  <cp:revision>767</cp:revision>
  <dcterms:created xsi:type="dcterms:W3CDTF">2014-04-12T07:42:00Z</dcterms:created>
  <dcterms:modified xsi:type="dcterms:W3CDTF">2023-11-05T12:35:17Z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3A9601B2CFB84F42A28EC269977F4BBF</vt:lpwstr>
  </property>
</Properties>
</file>