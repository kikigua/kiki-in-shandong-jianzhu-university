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 firstSlideNum="0">
  <p:sldMasterIdLst>
    <p:sldMasterId id="2147483648" r:id="rId1"/>
    <p:sldMasterId id="2147483660" r:id="rId3"/>
    <p:sldMasterId id="2147483662" r:id="rId4"/>
  </p:sldMasterIdLst>
  <p:notesMasterIdLst>
    <p:notesMasterId r:id="rId7"/>
  </p:notesMasterIdLst>
  <p:handoutMasterIdLst>
    <p:handoutMasterId r:id="rId15"/>
  </p:handoutMasterIdLst>
  <p:sldIdLst>
    <p:sldId id="256" r:id="rId5"/>
    <p:sldId id="610" r:id="rId6"/>
    <p:sldId id="749" r:id="rId8"/>
    <p:sldId id="748" r:id="rId9"/>
    <p:sldId id="765" r:id="rId10"/>
    <p:sldId id="766" r:id="rId11"/>
    <p:sldId id="767" r:id="rId12"/>
    <p:sldId id="768" r:id="rId13"/>
    <p:sldId id="769" r:id="rId14"/>
  </p:sldIdLst>
  <p:sldSz cx="12192000" cy="7560945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Impact" panose="020B080603090205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9" userDrawn="1">
          <p15:clr>
            <a:srgbClr val="A4A3A4"/>
          </p15:clr>
        </p15:guide>
        <p15:guide id="2" pos="382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杨 磊" initials="杨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FF9900"/>
    <a:srgbClr val="0000FF"/>
    <a:srgbClr val="DBD600"/>
    <a:srgbClr val="8BBF20"/>
    <a:srgbClr val="F0F977"/>
    <a:srgbClr val="A50021"/>
    <a:srgbClr val="038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85673" autoAdjust="0"/>
  </p:normalViewPr>
  <p:slideViewPr>
    <p:cSldViewPr snapToGrid="0" snapToObjects="1">
      <p:cViewPr varScale="1">
        <p:scale>
          <a:sx n="89" d="100"/>
          <a:sy n="89" d="100"/>
        </p:scale>
        <p:origin x="1680" y="90"/>
      </p:cViewPr>
      <p:guideLst>
        <p:guide orient="horz" pos="2489"/>
        <p:guide pos="38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-2904" y="-102"/>
      </p:cViewPr>
      <p:guideLst>
        <p:guide orient="horz" pos="2879"/>
        <p:guide pos="215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5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Char char="•"/>
              <a:defRPr sz="1200" noProof="1"/>
            </a:lvl1pPr>
          </a:lstStyle>
          <a:p>
            <a:pPr>
              <a:defRPr/>
            </a:pPr>
            <a:fld id="{3E19670D-C869-4A5D-A780-D41936B3781A}" type="slidenum">
              <a:rPr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941388" y="1143000"/>
            <a:ext cx="497522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Char char="•"/>
              <a:defRPr sz="1200" noProof="1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BF73B3-AB42-43BE-BB63-9452E30E81D8}" type="slidenum">
              <a:rPr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</a:ln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fld id="{54985577-8461-4E40-A0A2-C7E9F9E56771}" type="slidenum">
              <a:rPr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zh-CN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719044-000D-48BB-B5A0-25939D0DF2E4}" type="slidenum">
              <a:rPr kumimoji="1" altLang="zh-CN" smtClean="0">
                <a:latin typeface="Arial Narrow" panose="020B0606020202030204" pitchFamily="34" charset="0"/>
              </a:rPr>
            </a:fld>
            <a:endParaRPr kumimoji="1" lang="zh-CN" altLang="zh-CN">
              <a:latin typeface="Arial Narrow" panose="020B060602020203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Monotype Sorts" charset="0"/>
              <a:buNone/>
            </a:pPr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719044-000D-48BB-B5A0-25939D0DF2E4}" type="slidenum">
              <a:rPr kumimoji="1" altLang="zh-CN" smtClean="0">
                <a:latin typeface="Arial Narrow" panose="020B0606020202030204" pitchFamily="34" charset="0"/>
              </a:rPr>
            </a:fld>
            <a:endParaRPr kumimoji="1" lang="zh-CN" altLang="zh-CN">
              <a:latin typeface="Arial Narrow" panose="020B060602020203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Monotype Sorts" charset="0"/>
              <a:buNone/>
            </a:pPr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719044-000D-48BB-B5A0-25939D0DF2E4}" type="slidenum">
              <a:rPr kumimoji="1" altLang="zh-CN" smtClean="0">
                <a:latin typeface="Arial Narrow" panose="020B0606020202030204" pitchFamily="34" charset="0"/>
              </a:rPr>
            </a:fld>
            <a:endParaRPr kumimoji="1" lang="zh-CN" altLang="zh-CN">
              <a:latin typeface="Arial Narrow" panose="020B060602020203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Monotype Sorts" charset="0"/>
              <a:buNone/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38250"/>
            <a:ext cx="9144000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71925"/>
            <a:ext cx="9144000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88477-48E1-4CF0-8EB9-142E499F754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D1C6A-13D5-4BC6-A7E2-4B62A58330D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1440A-D864-41DC-B390-C88EBD02AB7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D14F6-A94F-4B13-B731-9423223642F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884363"/>
            <a:ext cx="10515600" cy="31464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5059363"/>
            <a:ext cx="10515600" cy="16541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B1509-6FBC-4C48-B835-222CC488B31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9CEB8-CD95-423D-BCDB-CEEDD13B97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012950"/>
            <a:ext cx="5181600" cy="4797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2012950"/>
            <a:ext cx="5181600" cy="4797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5C352-2F5B-4754-9125-2F91B0AA4EC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DC7C9-DB16-4362-B62B-EC67B9D20B3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03225"/>
            <a:ext cx="10515600" cy="14605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854200"/>
            <a:ext cx="5157787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762250"/>
            <a:ext cx="5157787" cy="4062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854200"/>
            <a:ext cx="5183188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762250"/>
            <a:ext cx="5183188" cy="4062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9E5F5-4F3C-4614-A20C-3DF1A6632E2A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0CA61-C042-4080-BBF8-D021CCA408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424AE9-F93C-48C5-87A1-E423B835A9A1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BF27D-831E-4312-BB77-8E0F1FC072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0459-E9BD-452C-9837-2C09CDA8452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8566B-B98C-433A-A05B-3B09FBA20BB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504825"/>
            <a:ext cx="3932237" cy="17637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1089025"/>
            <a:ext cx="6172200" cy="53736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268538"/>
            <a:ext cx="3932237" cy="42021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63C05-7030-494B-86A6-50B10EEB1B7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D7715-F44A-4019-83F4-2F755408C5A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504825"/>
            <a:ext cx="3932237" cy="17637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1089025"/>
            <a:ext cx="6172200" cy="537368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268538"/>
            <a:ext cx="3932237" cy="42021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0C7C4-D140-417F-9901-FDB328CAE89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C33FD-8D31-44BA-84BB-39A9F3B2102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AB5F6-AEBA-4CAF-BAF6-C7FA61E49E9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18F51-F472-44A8-94EB-976086C94C6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403225"/>
            <a:ext cx="2628900" cy="64071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403225"/>
            <a:ext cx="7734300" cy="64071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3F553-164D-4CA1-B5EB-33509E03399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86E0E-3EF3-4F79-BC03-ADB2ACD3099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D41E0-BECD-40E0-9031-124EEDB14C5A}" type="slidenum">
              <a:rPr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03225"/>
            <a:ext cx="105156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012950"/>
            <a:ext cx="10515600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7008813"/>
            <a:ext cx="274320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24FCC2-23DF-4ADE-9E07-C5F5D326246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7008813"/>
            <a:ext cx="411480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7008813"/>
            <a:ext cx="274320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656F0DA-45B5-44A3-9304-266A7B263D4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矩形 8"/>
          <p:cNvSpPr>
            <a:spLocks noChangeArrowheads="1"/>
          </p:cNvSpPr>
          <p:nvPr/>
        </p:nvSpPr>
        <p:spPr bwMode="auto">
          <a:xfrm>
            <a:off x="0" y="7458075"/>
            <a:ext cx="12192000" cy="92075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miter lim="800000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9" name="矩形 9"/>
          <p:cNvSpPr>
            <a:spLocks noChangeArrowheads="1"/>
          </p:cNvSpPr>
          <p:nvPr/>
        </p:nvSpPr>
        <p:spPr bwMode="auto">
          <a:xfrm>
            <a:off x="0" y="515938"/>
            <a:ext cx="12192000" cy="34925"/>
          </a:xfrm>
          <a:prstGeom prst="rect">
            <a:avLst/>
          </a:prstGeom>
          <a:solidFill>
            <a:srgbClr val="01395C"/>
          </a:solidFill>
          <a:ln w="12700">
            <a:solidFill>
              <a:srgbClr val="01395C"/>
            </a:solidFill>
            <a:miter lim="800000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5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91625" y="74613"/>
            <a:ext cx="2743200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Char char="•"/>
              <a:defRPr sz="1200" noProof="1">
                <a:solidFill>
                  <a:srgbClr val="01395C"/>
                </a:solidFill>
              </a:defRPr>
            </a:lvl1pPr>
          </a:lstStyle>
          <a:p>
            <a:pPr>
              <a:defRPr/>
            </a:pPr>
            <a:fld id="{ECA731D4-A08D-45EE-9232-64CC33821BED}" type="slidenum">
              <a:rPr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矩形 8"/>
          <p:cNvSpPr>
            <a:spLocks noChangeArrowheads="1"/>
          </p:cNvSpPr>
          <p:nvPr/>
        </p:nvSpPr>
        <p:spPr bwMode="auto">
          <a:xfrm>
            <a:off x="0" y="7458075"/>
            <a:ext cx="12192000" cy="92075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miter lim="800000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9" name="矩形 9"/>
          <p:cNvSpPr>
            <a:spLocks noChangeArrowheads="1"/>
          </p:cNvSpPr>
          <p:nvPr/>
        </p:nvSpPr>
        <p:spPr bwMode="auto">
          <a:xfrm>
            <a:off x="0" y="515938"/>
            <a:ext cx="12192000" cy="34925"/>
          </a:xfrm>
          <a:prstGeom prst="rect">
            <a:avLst/>
          </a:prstGeom>
          <a:solidFill>
            <a:srgbClr val="01395C"/>
          </a:solidFill>
          <a:ln w="12700">
            <a:solidFill>
              <a:srgbClr val="01395C"/>
            </a:solidFill>
            <a:miter lim="800000"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56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91625" y="74613"/>
            <a:ext cx="2743200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Char char="•"/>
              <a:defRPr sz="1200" noProof="1">
                <a:solidFill>
                  <a:srgbClr val="01395C"/>
                </a:solidFill>
              </a:defRPr>
            </a:lvl1pPr>
          </a:lstStyle>
          <a:p>
            <a:pPr>
              <a:defRPr/>
            </a:pPr>
            <a:fld id="{BE1E0957-E904-4AFC-A12B-0BC2BB8162F8}" type="slidenum">
              <a:rPr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方正粗宋简体"/>
          <a:cs typeface="方正粗宋简体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4.xml"/><Relationship Id="rId2" Type="http://schemas.openxmlformats.org/officeDocument/2006/relationships/image" Target="../media/image9.pn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 hidden="1"/>
          <p:cNvSpPr>
            <a:spLocks noChangeArrowheads="1"/>
          </p:cNvSpPr>
          <p:nvPr/>
        </p:nvSpPr>
        <p:spPr bwMode="auto">
          <a:xfrm>
            <a:off x="-11113" y="4502150"/>
            <a:ext cx="12203113" cy="2192338"/>
          </a:xfrm>
          <a:custGeom>
            <a:avLst/>
            <a:gdLst>
              <a:gd name="T0" fmla="*/ 11430 w 12202851"/>
              <a:gd name="T1" fmla="*/ 0 h 1987781"/>
              <a:gd name="T2" fmla="*/ 12208423 w 12202851"/>
              <a:gd name="T3" fmla="*/ 5991325 h 1987781"/>
              <a:gd name="T4" fmla="*/ 12198031 w 12202851"/>
              <a:gd name="T5" fmla="*/ 18913193 h 1987781"/>
              <a:gd name="T6" fmla="*/ 0 w 12202851"/>
              <a:gd name="T7" fmla="*/ 18913193 h 1987781"/>
              <a:gd name="T8" fmla="*/ 11430 w 12202851"/>
              <a:gd name="T9" fmla="*/ 0 h 19877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202851"/>
              <a:gd name="T16" fmla="*/ 0 h 1987781"/>
              <a:gd name="T17" fmla="*/ 12202851 w 12202851"/>
              <a:gd name="T18" fmla="*/ 1987781 h 198778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202851" h="1987781">
                <a:moveTo>
                  <a:pt x="11430" y="0"/>
                </a:moveTo>
                <a:cubicBezTo>
                  <a:pt x="3514321" y="1818409"/>
                  <a:pt x="8046951" y="1697875"/>
                  <a:pt x="12202391" y="629689"/>
                </a:cubicBezTo>
                <a:cubicBezTo>
                  <a:pt x="12205855" y="1003762"/>
                  <a:pt x="12188536" y="1613708"/>
                  <a:pt x="12192000" y="1987781"/>
                </a:cubicBezTo>
                <a:lnTo>
                  <a:pt x="0" y="1987781"/>
                </a:lnTo>
                <a:lnTo>
                  <a:pt x="11430" y="0"/>
                </a:lnTo>
                <a:close/>
              </a:path>
            </a:pathLst>
          </a:custGeom>
          <a:solidFill>
            <a:srgbClr val="8BB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171" name="组合 9"/>
          <p:cNvGrpSpPr/>
          <p:nvPr/>
        </p:nvGrpSpPr>
        <p:grpSpPr bwMode="auto">
          <a:xfrm>
            <a:off x="-3175" y="4502150"/>
            <a:ext cx="12203113" cy="3173413"/>
            <a:chOff x="0" y="0"/>
            <a:chExt cx="12202851" cy="2878281"/>
          </a:xfrm>
        </p:grpSpPr>
        <p:sp>
          <p:nvSpPr>
            <p:cNvPr id="7175" name="矩形 1"/>
            <p:cNvSpPr>
              <a:spLocks noChangeArrowheads="1"/>
            </p:cNvSpPr>
            <p:nvPr/>
          </p:nvSpPr>
          <p:spPr bwMode="auto">
            <a:xfrm>
              <a:off x="0" y="69113"/>
              <a:ext cx="12202851" cy="2331134"/>
            </a:xfrm>
            <a:custGeom>
              <a:avLst/>
              <a:gdLst>
                <a:gd name="T0" fmla="*/ 0 w 12202851"/>
                <a:gd name="T1" fmla="*/ 0 h 2330681"/>
                <a:gd name="T2" fmla="*/ 12202387 w 12202851"/>
                <a:gd name="T3" fmla="*/ 1034355 h 2330681"/>
                <a:gd name="T4" fmla="*/ 12192003 w 12202851"/>
                <a:gd name="T5" fmla="*/ 2341122 h 2330681"/>
                <a:gd name="T6" fmla="*/ 0 w 12202851"/>
                <a:gd name="T7" fmla="*/ 2341122 h 2330681"/>
                <a:gd name="T8" fmla="*/ 0 w 12202851"/>
                <a:gd name="T9" fmla="*/ 0 h 23306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202851"/>
                <a:gd name="T16" fmla="*/ 0 h 2330681"/>
                <a:gd name="T17" fmla="*/ 12202851 w 12202851"/>
                <a:gd name="T18" fmla="*/ 2330681 h 23306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202851" h="2330681">
                  <a:moveTo>
                    <a:pt x="0" y="0"/>
                  </a:moveTo>
                  <a:cubicBezTo>
                    <a:pt x="3502891" y="1818409"/>
                    <a:pt x="8046951" y="2097925"/>
                    <a:pt x="12202391" y="1029739"/>
                  </a:cubicBezTo>
                  <a:cubicBezTo>
                    <a:pt x="12205855" y="1403812"/>
                    <a:pt x="12188536" y="1956608"/>
                    <a:pt x="12192000" y="2330681"/>
                  </a:cubicBezTo>
                  <a:lnTo>
                    <a:pt x="0" y="2330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B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6" name="矩形 1"/>
            <p:cNvSpPr>
              <a:spLocks noChangeArrowheads="1"/>
            </p:cNvSpPr>
            <p:nvPr/>
          </p:nvSpPr>
          <p:spPr bwMode="auto">
            <a:xfrm>
              <a:off x="0" y="0"/>
              <a:ext cx="12202851" cy="2639264"/>
            </a:xfrm>
            <a:custGeom>
              <a:avLst/>
              <a:gdLst>
                <a:gd name="T0" fmla="*/ 0 w 12202851"/>
                <a:gd name="T1" fmla="*/ 0 h 2639291"/>
                <a:gd name="T2" fmla="*/ 12202387 w 12202851"/>
                <a:gd name="T3" fmla="*/ 1406607 h 2639291"/>
                <a:gd name="T4" fmla="*/ 12192003 w 12202851"/>
                <a:gd name="T5" fmla="*/ 2638673 h 2639291"/>
                <a:gd name="T6" fmla="*/ 0 w 12202851"/>
                <a:gd name="T7" fmla="*/ 2638673 h 2639291"/>
                <a:gd name="T8" fmla="*/ 0 w 12202851"/>
                <a:gd name="T9" fmla="*/ 0 h 26392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202851"/>
                <a:gd name="T16" fmla="*/ 0 h 2639291"/>
                <a:gd name="T17" fmla="*/ 12202851 w 12202851"/>
                <a:gd name="T18" fmla="*/ 2639291 h 26392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202851" h="2639291">
                  <a:moveTo>
                    <a:pt x="0" y="0"/>
                  </a:moveTo>
                  <a:cubicBezTo>
                    <a:pt x="3502891" y="1818409"/>
                    <a:pt x="8024091" y="2726575"/>
                    <a:pt x="12202391" y="1406929"/>
                  </a:cubicBezTo>
                  <a:cubicBezTo>
                    <a:pt x="12205855" y="1781002"/>
                    <a:pt x="12188536" y="2265218"/>
                    <a:pt x="12192000" y="2639291"/>
                  </a:cubicBezTo>
                  <a:lnTo>
                    <a:pt x="0" y="2639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95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" name="矩形 1"/>
            <p:cNvSpPr>
              <a:spLocks noChangeArrowheads="1"/>
            </p:cNvSpPr>
            <p:nvPr/>
          </p:nvSpPr>
          <p:spPr bwMode="auto">
            <a:xfrm>
              <a:off x="0" y="10079"/>
              <a:ext cx="12193326" cy="2868202"/>
            </a:xfrm>
            <a:custGeom>
              <a:avLst/>
              <a:gdLst>
                <a:gd name="T0" fmla="*/ 0 w 12192999"/>
                <a:gd name="T1" fmla="*/ 0 h 2867891"/>
                <a:gd name="T2" fmla="*/ 12199529 w 12192999"/>
                <a:gd name="T3" fmla="*/ 1739616 h 2867891"/>
                <a:gd name="T4" fmla="*/ 12199529 w 12192999"/>
                <a:gd name="T5" fmla="*/ 2875055 h 2867891"/>
                <a:gd name="T6" fmla="*/ 0 w 12192999"/>
                <a:gd name="T7" fmla="*/ 2875055 h 2867891"/>
                <a:gd name="T8" fmla="*/ 0 w 12192999"/>
                <a:gd name="T9" fmla="*/ 0 h 28678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92999"/>
                <a:gd name="T16" fmla="*/ 0 h 2867891"/>
                <a:gd name="T17" fmla="*/ 12192999 w 12192999"/>
                <a:gd name="T18" fmla="*/ 2867891 h 28678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92999" h="2867891">
                  <a:moveTo>
                    <a:pt x="0" y="0"/>
                  </a:moveTo>
                  <a:cubicBezTo>
                    <a:pt x="3502891" y="1818409"/>
                    <a:pt x="8013700" y="3054928"/>
                    <a:pt x="12192000" y="1735282"/>
                  </a:cubicBezTo>
                  <a:cubicBezTo>
                    <a:pt x="12195464" y="2109355"/>
                    <a:pt x="12188536" y="2493818"/>
                    <a:pt x="12192000" y="2867891"/>
                  </a:cubicBezTo>
                  <a:lnTo>
                    <a:pt x="0" y="2867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2" name="矩形 10"/>
          <p:cNvSpPr>
            <a:spLocks noChangeArrowheads="1"/>
          </p:cNvSpPr>
          <p:nvPr/>
        </p:nvSpPr>
        <p:spPr bwMode="auto">
          <a:xfrm>
            <a:off x="2008188" y="3097213"/>
            <a:ext cx="32623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山东建筑大学</a:t>
            </a:r>
            <a:endParaRPr lang="en-US" altLang="zh-CN" sz="2400" b="1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计算机科学与技术学院</a:t>
            </a:r>
            <a:endParaRPr lang="zh-CN" altLang="en-US" sz="2400" b="1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p:sp>
        <p:nvSpPr>
          <p:cNvPr id="12296" name="标题 7"/>
          <p:cNvSpPr>
            <a:spLocks noChangeArrowheads="1"/>
          </p:cNvSpPr>
          <p:nvPr/>
        </p:nvSpPr>
        <p:spPr bwMode="auto">
          <a:xfrm>
            <a:off x="90488" y="900113"/>
            <a:ext cx="7097712" cy="7794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01395C"/>
                </a:solidFill>
                <a:latin typeface="+mj-lt"/>
                <a:ea typeface="+mj-ea"/>
                <a:cs typeface="+mj-cs"/>
                <a:sym typeface="+mn-ea"/>
              </a:rPr>
              <a:t>第</a:t>
            </a:r>
            <a:r>
              <a:rPr lang="en-US" altLang="zh-CN" sz="4400" b="1" dirty="0">
                <a:solidFill>
                  <a:srgbClr val="01395C"/>
                </a:solidFill>
                <a:latin typeface="+mj-lt"/>
                <a:ea typeface="+mj-ea"/>
                <a:cs typeface="+mj-cs"/>
                <a:sym typeface="+mn-ea"/>
              </a:rPr>
              <a:t>8</a:t>
            </a:r>
            <a:r>
              <a:rPr lang="zh-CN" altLang="en-US" sz="4400" b="1" dirty="0">
                <a:solidFill>
                  <a:srgbClr val="01395C"/>
                </a:solidFill>
                <a:latin typeface="+mj-lt"/>
                <a:ea typeface="+mj-ea"/>
                <a:cs typeface="+mj-cs"/>
                <a:sym typeface="+mn-ea"/>
              </a:rPr>
              <a:t>章 沟通管理</a:t>
            </a:r>
            <a:endParaRPr lang="zh-CN" altLang="en-US" sz="4400" b="1" dirty="0">
              <a:solidFill>
                <a:srgbClr val="01395C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graphicFrame>
        <p:nvGraphicFramePr>
          <p:cNvPr id="7174" name="对象 7"/>
          <p:cNvGraphicFramePr/>
          <p:nvPr/>
        </p:nvGraphicFramePr>
        <p:xfrm>
          <a:off x="7267575" y="1328738"/>
          <a:ext cx="4232275" cy="43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BMP 图像" r:id="rId1" imgW="5057775" imgH="4981575" progId="Paint.Picture">
                  <p:embed/>
                </p:oleObj>
              </mc:Choice>
              <mc:Fallback>
                <p:oleObj name="BMP 图像" r:id="rId1" imgW="5057775" imgH="4981575" progId="Paint.Picture">
                  <p:embed/>
                  <p:pic>
                    <p:nvPicPr>
                      <p:cNvPr id="0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5" y="1328738"/>
                        <a:ext cx="4232275" cy="433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 flipV="1">
            <a:off x="3432175" y="-109538"/>
            <a:ext cx="0" cy="7670801"/>
          </a:xfrm>
          <a:prstGeom prst="line">
            <a:avLst/>
          </a:prstGeom>
          <a:ln w="28575">
            <a:solidFill>
              <a:srgbClr val="25A2FF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049713" y="1001713"/>
            <a:ext cx="2945672" cy="693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5EA4"/>
                </a:solidFill>
                <a:latin typeface="微软雅黑" panose="020B0503020204020204" pitchFamily="34" charset="-122"/>
              </a:rPr>
              <a:t>8.1</a:t>
            </a:r>
            <a:r>
              <a:rPr lang="zh-CN" altLang="en-US" sz="2800" b="1" dirty="0">
                <a:solidFill>
                  <a:srgbClr val="005EA4"/>
                </a:solidFill>
                <a:latin typeface="微软雅黑" panose="020B0503020204020204" pitchFamily="34" charset="-122"/>
              </a:rPr>
              <a:t>项目沟通管理</a:t>
            </a:r>
            <a:endParaRPr lang="zh-CN" altLang="zh-CN" sz="2800" b="1" dirty="0">
              <a:solidFill>
                <a:srgbClr val="005EA4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3246438" cy="7561263"/>
          </a:xfrm>
          <a:prstGeom prst="rect">
            <a:avLst/>
          </a:prstGeom>
          <a:solidFill>
            <a:srgbClr val="0070C0"/>
          </a:solidFill>
          <a:ln w="25400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89" tIns="34295" rIns="68589" bIns="34295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400">
              <a:solidFill>
                <a:srgbClr val="FFFFFF"/>
              </a:solidFill>
              <a:latin typeface="Calibri" panose="020F0502020204030204" pitchFamily="34" charset="0"/>
              <a:ea typeface="+mn-ea"/>
            </a:endParaRPr>
          </a:p>
        </p:txBody>
      </p:sp>
      <p:sp>
        <p:nvSpPr>
          <p:cNvPr id="7" name="文本框 52"/>
          <p:cNvSpPr txBox="1">
            <a:spLocks noChangeArrowheads="1"/>
          </p:cNvSpPr>
          <p:nvPr/>
        </p:nvSpPr>
        <p:spPr bwMode="auto">
          <a:xfrm>
            <a:off x="430213" y="2336800"/>
            <a:ext cx="2376487" cy="323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50" tIns="45726" rIns="91450" bIns="45726">
            <a:spAutoFit/>
          </a:bodyPr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讲</a:t>
            </a:r>
            <a:endParaRPr lang="en-US" altLang="zh-CN" sz="5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解</a:t>
            </a:r>
            <a:endParaRPr lang="en-US" altLang="zh-CN" sz="5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提</a:t>
            </a:r>
            <a:endParaRPr lang="en-US" altLang="zh-CN" sz="5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纲</a:t>
            </a:r>
            <a:endParaRPr lang="zh-CN" altLang="en-US" sz="5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8" name="文本框 52"/>
          <p:cNvSpPr txBox="1">
            <a:spLocks noChangeArrowheads="1"/>
          </p:cNvSpPr>
          <p:nvPr/>
        </p:nvSpPr>
        <p:spPr bwMode="auto">
          <a:xfrm>
            <a:off x="-96838" y="608013"/>
            <a:ext cx="3430588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50" tIns="45726" rIns="91450" bIns="45726">
            <a:spAutoFit/>
          </a:bodyPr>
          <a:lstStyle/>
          <a:p>
            <a:pPr algn="ctr" defTabSz="913765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14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</a:rPr>
              <a:t>软件项目管理</a:t>
            </a:r>
            <a:endParaRPr lang="zh-CN" altLang="en-US" b="1" spc="14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</p:txBody>
      </p:sp>
      <p:sp>
        <p:nvSpPr>
          <p:cNvPr id="9" name="文本框 52"/>
          <p:cNvSpPr txBox="1">
            <a:spLocks noChangeArrowheads="1"/>
          </p:cNvSpPr>
          <p:nvPr/>
        </p:nvSpPr>
        <p:spPr bwMode="auto">
          <a:xfrm>
            <a:off x="166688" y="6718300"/>
            <a:ext cx="29527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50" tIns="45726" rIns="91450" bIns="45726">
            <a:spAutoFit/>
          </a:bodyPr>
          <a:lstStyle/>
          <a:p>
            <a:pPr algn="ctr" defTabSz="9137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山东建筑大学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3548063" y="1828800"/>
            <a:ext cx="5851525" cy="20638"/>
          </a:xfrm>
          <a:prstGeom prst="line">
            <a:avLst/>
          </a:prstGeom>
          <a:ln w="38100">
            <a:solidFill>
              <a:srgbClr val="159B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3524250" y="763588"/>
            <a:ext cx="5851525" cy="20637"/>
          </a:xfrm>
          <a:prstGeom prst="line">
            <a:avLst/>
          </a:prstGeom>
          <a:ln w="38100">
            <a:solidFill>
              <a:srgbClr val="159B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5"/>
          <p:cNvSpPr txBox="1">
            <a:spLocks noChangeArrowheads="1"/>
          </p:cNvSpPr>
          <p:nvPr/>
        </p:nvSpPr>
        <p:spPr bwMode="auto">
          <a:xfrm>
            <a:off x="117475" y="1588"/>
            <a:ext cx="3663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8.1</a:t>
            </a: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 项目团队管理</a:t>
            </a:r>
            <a:endParaRPr lang="zh-CN" altLang="en-US" sz="2400" b="1" dirty="0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13" y="1926733"/>
            <a:ext cx="9405364" cy="5040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13" y="809895"/>
            <a:ext cx="9385810" cy="112554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 bwMode="auto">
          <a:xfrm>
            <a:off x="1419497" y="2055223"/>
            <a:ext cx="966652" cy="757646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419497" y="3034861"/>
            <a:ext cx="966652" cy="67063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419497" y="6235261"/>
            <a:ext cx="966652" cy="67063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2930"/>
            <a:ext cx="12151400" cy="28107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242" name="文本框 5"/>
          <p:cNvSpPr txBox="1">
            <a:spLocks noChangeArrowheads="1"/>
          </p:cNvSpPr>
          <p:nvPr/>
        </p:nvSpPr>
        <p:spPr bwMode="auto">
          <a:xfrm>
            <a:off x="117475" y="1588"/>
            <a:ext cx="3663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8.3</a:t>
            </a: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 项目沟通管理</a:t>
            </a:r>
            <a:endParaRPr lang="zh-CN" altLang="en-US" sz="2400" b="1" dirty="0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9910"/>
            <a:ext cx="12151400" cy="28107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矩形 1"/>
          <p:cNvSpPr/>
          <p:nvPr/>
        </p:nvSpPr>
        <p:spPr>
          <a:xfrm>
            <a:off x="1501775" y="1967865"/>
            <a:ext cx="1613535" cy="30988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476115" y="1967865"/>
            <a:ext cx="565150" cy="30988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305425" y="1967865"/>
            <a:ext cx="565150" cy="30988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Impact" panose="020B080603090205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5"/>
          <p:cNvSpPr txBox="1">
            <a:spLocks noChangeArrowheads="1"/>
          </p:cNvSpPr>
          <p:nvPr/>
        </p:nvSpPr>
        <p:spPr bwMode="auto">
          <a:xfrm>
            <a:off x="117475" y="1588"/>
            <a:ext cx="3663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8.3</a:t>
            </a: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 项目沟通管理</a:t>
            </a:r>
            <a:endParaRPr lang="zh-CN" altLang="en-US" sz="2400" b="1" dirty="0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822" y="859950"/>
            <a:ext cx="11600884" cy="4260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67909" y="948934"/>
            <a:ext cx="10456181" cy="2241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575945" eaLnBrk="1" hangingPunct="1">
              <a:lnSpc>
                <a:spcPct val="150000"/>
              </a:lnSpc>
              <a:defRPr/>
            </a:pPr>
            <a:r>
              <a:rPr lang="zh-CN" altLang="en-US" sz="2400" dirty="0"/>
              <a:t>管理大师</a:t>
            </a:r>
            <a:r>
              <a:rPr lang="zh-CN" altLang="en-US" sz="2400" dirty="0">
                <a:solidFill>
                  <a:srgbClr val="C00000"/>
                </a:solidFill>
              </a:rPr>
              <a:t>彼得</a:t>
            </a:r>
            <a:r>
              <a:rPr lang="en-US" altLang="zh-CN" sz="2400" dirty="0">
                <a:solidFill>
                  <a:srgbClr val="C00000"/>
                </a:solidFill>
              </a:rPr>
              <a:t>·</a:t>
            </a:r>
            <a:r>
              <a:rPr lang="zh-CN" altLang="en-US" sz="2400" dirty="0">
                <a:solidFill>
                  <a:srgbClr val="C00000"/>
                </a:solidFill>
              </a:rPr>
              <a:t>克鲁克</a:t>
            </a:r>
            <a:r>
              <a:rPr lang="zh-CN" altLang="en-US" sz="2400" dirty="0"/>
              <a:t>说，“人无法只靠一句话沟通，总是得靠整个人来沟通。”</a:t>
            </a:r>
            <a:endParaRPr lang="en-US" altLang="zh-CN" sz="2400" dirty="0"/>
          </a:p>
          <a:p>
            <a:pPr marL="0" lvl="2" indent="575945" eaLnBrk="1" hangingPunct="1">
              <a:lnSpc>
                <a:spcPct val="150000"/>
              </a:lnSpc>
              <a:defRPr/>
            </a:pPr>
            <a:r>
              <a:rPr lang="zh-CN" altLang="en-US" sz="2400" dirty="0"/>
              <a:t>况且，程序员的工作环境多样、复杂，人和人的关系错综复杂，充满变数，稍不留神就会引起</a:t>
            </a:r>
            <a:r>
              <a:rPr lang="zh-CN" altLang="en-US" sz="2400" dirty="0">
                <a:solidFill>
                  <a:srgbClr val="C00000"/>
                </a:solidFill>
              </a:rPr>
              <a:t>误解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117475" y="1588"/>
            <a:ext cx="3663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8.3</a:t>
            </a: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 项目沟通管理</a:t>
            </a:r>
            <a:endParaRPr lang="zh-CN" altLang="en-US" sz="2400" b="1" dirty="0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p:pic>
        <p:nvPicPr>
          <p:cNvPr id="7" name="Picture 6" descr="1-150205134942-5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340" y="3515347"/>
            <a:ext cx="5518750" cy="334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0" y="3515347"/>
            <a:ext cx="4371706" cy="3344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117475" y="1588"/>
            <a:ext cx="3663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8.3</a:t>
            </a: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 项目沟通管理</a:t>
            </a:r>
            <a:endParaRPr lang="zh-CN" altLang="en-US" sz="2400" b="1" dirty="0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77732" y="833846"/>
            <a:ext cx="4246966" cy="52578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720090" eaLnBrk="1" hangingPunct="1">
              <a:lnSpc>
                <a:spcPct val="150000"/>
              </a:lnSpc>
              <a:buNone/>
              <a:defRPr/>
            </a:pPr>
            <a:r>
              <a:rPr lang="zh-CN" altLang="en-US" kern="0" dirty="0"/>
              <a:t>各个角色对软件实现的功能描述进行信息传递，经过各个阶段，信息传递</a:t>
            </a:r>
            <a:r>
              <a:rPr lang="zh-CN" altLang="en-US" kern="0" dirty="0">
                <a:solidFill>
                  <a:srgbClr val="C00000"/>
                </a:solidFill>
              </a:rPr>
              <a:t>误差</a:t>
            </a:r>
            <a:r>
              <a:rPr lang="zh-CN" altLang="en-US" kern="0" dirty="0"/>
              <a:t>被不断放大，最后导致令人啼笑皆非的结果。 </a:t>
            </a:r>
            <a:endParaRPr lang="zh-CN" altLang="en-US" kern="0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425" y="0"/>
            <a:ext cx="6673327" cy="745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117475" y="1588"/>
            <a:ext cx="3663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8.3</a:t>
            </a: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 项目沟通管理</a:t>
            </a:r>
            <a:endParaRPr lang="zh-CN" altLang="en-US" sz="2400" b="1" dirty="0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709748" y="899183"/>
            <a:ext cx="10663646" cy="5257800"/>
          </a:xfrm>
          <a:prstGeom prst="rect">
            <a:avLst/>
          </a:prstGeom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kern="0" dirty="0"/>
              <a:t>原始的信息传递方式，也需要被考虑进来。</a:t>
            </a:r>
            <a:endParaRPr lang="zh-CN" altLang="en-US" kern="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kern="0" dirty="0"/>
              <a:t>为什么是信息被传递的范围和复杂度？一个</a:t>
            </a:r>
            <a:r>
              <a:rPr lang="zh-CN" altLang="en-US" kern="0" dirty="0">
                <a:solidFill>
                  <a:srgbClr val="C00000"/>
                </a:solidFill>
              </a:rPr>
              <a:t>电话</a:t>
            </a:r>
            <a:r>
              <a:rPr lang="zh-CN" altLang="en-US" kern="0" dirty="0"/>
              <a:t>，也许是简单信息的传递非常快的一种方式，但对于大容量的信息的传递，还是有一些不利之处。</a:t>
            </a:r>
            <a:endParaRPr lang="zh-CN" altLang="en-US" kern="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kern="0" dirty="0">
                <a:solidFill>
                  <a:srgbClr val="C00000"/>
                </a:solidFill>
              </a:rPr>
              <a:t>信息容易被理解</a:t>
            </a:r>
            <a:r>
              <a:rPr lang="zh-CN" altLang="en-US" kern="0" dirty="0"/>
              <a:t>吗？举例来说，信息内容对于发送方、接受方都容易理解吗？假如接受方需要澄清、阐述信息的某些方面，那么，交流的模式使用双向的是最佳的。</a:t>
            </a:r>
            <a:endParaRPr lang="zh-CN" altLang="en-US" kern="0" dirty="0"/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kern="0" dirty="0"/>
              <a:t>当信息比较敏感时，</a:t>
            </a:r>
            <a:r>
              <a:rPr lang="zh-CN" altLang="en-US" kern="0" dirty="0">
                <a:solidFill>
                  <a:srgbClr val="C00000"/>
                </a:solidFill>
              </a:rPr>
              <a:t>面对面地沟通</a:t>
            </a:r>
            <a:r>
              <a:rPr lang="zh-CN" altLang="en-US" kern="0" dirty="0"/>
              <a:t>，是比较有效的沟通模式，即使涉及的内容令人感到不舒服或者不方便。</a:t>
            </a:r>
            <a:endParaRPr lang="zh-CN" altLang="en-US" kern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7475" y="1588"/>
            <a:ext cx="3663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沟通</a:t>
            </a:r>
            <a:r>
              <a:rPr lang="zh-CN" altLang="en-US" sz="2400" b="1" dirty="0">
                <a:solidFill>
                  <a:srgbClr val="01395C"/>
                </a:solidFill>
                <a:latin typeface="方正粗宋简体"/>
                <a:ea typeface="方正粗宋简体"/>
                <a:cs typeface="方正粗宋简体"/>
              </a:rPr>
              <a:t>渠道</a:t>
            </a:r>
            <a:endParaRPr lang="zh-CN" altLang="en-US" sz="2400" b="1" dirty="0">
              <a:solidFill>
                <a:srgbClr val="01395C"/>
              </a:solidFill>
              <a:latin typeface="方正粗宋简体"/>
              <a:ea typeface="方正粗宋简体"/>
              <a:cs typeface="方正粗宋简体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42290" y="890905"/>
                <a:ext cx="5033645" cy="1176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求</a:t>
                </a:r>
                <a:r>
                  <a: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</a:rPr>
                  <a:t>n</a:t>
                </a:r>
                <a:r>
                  <a:rPr lang="zh-CN" altLang="en-US"/>
                  <a:t>名干系人的潜在沟通渠道</a:t>
                </a:r>
                <a:r>
                  <a:rPr lang="zh-CN" altLang="en-US"/>
                  <a:t>数：</a:t>
                </a:r>
                <a:endParaRPr lang="zh-CN" altLang="en-US"/>
              </a:p>
              <a:p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0" y="890905"/>
                <a:ext cx="5033645" cy="11760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42290" y="2695575"/>
            <a:ext cx="109029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cs typeface="微软雅黑" panose="020B0503020204020204" pitchFamily="34" charset="-122"/>
              </a:rPr>
              <a:t>思考题：原来有</a:t>
            </a:r>
            <a:r>
              <a:rPr lang="en-US" altLang="zh-CN">
                <a:latin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>
                <a:latin typeface="微软雅黑" panose="020B0503020204020204" pitchFamily="34" charset="-122"/>
                <a:cs typeface="微软雅黑" panose="020B0503020204020204" pitchFamily="34" charset="-122"/>
              </a:rPr>
              <a:t>名程序员参与某项目的开发工作，由于项目进展有点慢，现在新增加</a:t>
            </a:r>
            <a:r>
              <a:rPr lang="en-US" altLang="zh-CN">
                <a:latin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>
                <a:latin typeface="微软雅黑" panose="020B0503020204020204" pitchFamily="34" charset="-122"/>
                <a:cs typeface="微软雅黑" panose="020B0503020204020204" pitchFamily="34" charset="-122"/>
              </a:rPr>
              <a:t>名程序员，则沟通渠道数增加多少？</a:t>
            </a:r>
            <a:endParaRPr lang="zh-CN" altLang="en-US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PP_MARK_KEY" val="cfa1a471-52ae-4310-b4e9-9ea2d825a90e"/>
  <p:tag name="COMMONDATA" val="eyJoZGlkIjoiZmJmZTY0MmZjYjFiMjgwOTI0Y2I4NTdjZmUxMzMyMG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Impact"/>
        <a:ea typeface="方正粗宋简体"/>
        <a:cs typeface="方正粗宋简体"/>
      </a:majorFont>
      <a:minorFont>
        <a:latin typeface="Impac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anose="020B080603090205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anose="020B080603090205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Impact"/>
        <a:ea typeface="方正粗宋简体"/>
        <a:cs typeface="方正粗宋简体"/>
      </a:majorFont>
      <a:minorFont>
        <a:latin typeface="Impac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anose="020B080603090205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anose="020B080603090205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WPS 演示</Application>
  <PresentationFormat>自定义</PresentationFormat>
  <Paragraphs>46</Paragraphs>
  <Slides>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宋体</vt:lpstr>
      <vt:lpstr>Wingdings</vt:lpstr>
      <vt:lpstr>Impact</vt:lpstr>
      <vt:lpstr>微软雅黑</vt:lpstr>
      <vt:lpstr>等线 Light</vt:lpstr>
      <vt:lpstr>方正粗宋简体</vt:lpstr>
      <vt:lpstr>Calibri</vt:lpstr>
      <vt:lpstr>方正舒体</vt:lpstr>
      <vt:lpstr>Arial Narrow</vt:lpstr>
      <vt:lpstr>Monotype Sorts</vt:lpstr>
      <vt:lpstr>Arial Unicode MS</vt:lpstr>
      <vt:lpstr>等线</vt:lpstr>
      <vt:lpstr>Wingdings</vt:lpstr>
      <vt:lpstr>Cambria Math</vt:lpstr>
      <vt:lpstr>自定义设计方案</vt:lpstr>
      <vt:lpstr>1_Office 主题</vt:lpstr>
      <vt:lpstr>2_Office 主题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邵浩</dc:creator>
  <cp:keywords>邵浩</cp:keywords>
  <cp:lastModifiedBy>蓝数码</cp:lastModifiedBy>
  <cp:revision>815</cp:revision>
  <dcterms:created xsi:type="dcterms:W3CDTF">2014-04-12T07:42:00Z</dcterms:created>
  <dcterms:modified xsi:type="dcterms:W3CDTF">2023-10-31T23:45:55Z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60A421678C36447AA95D4CB590F33C9E</vt:lpwstr>
  </property>
</Properties>
</file>