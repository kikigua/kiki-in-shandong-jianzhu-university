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0" r:id="rId2"/>
  </p:sldMasterIdLst>
  <p:notesMasterIdLst>
    <p:notesMasterId r:id="rId28"/>
  </p:notesMasterIdLst>
  <p:handoutMasterIdLst>
    <p:handoutMasterId r:id="rId29"/>
  </p:handoutMasterIdLst>
  <p:sldIdLst>
    <p:sldId id="256" r:id="rId3"/>
    <p:sldId id="715" r:id="rId4"/>
    <p:sldId id="712" r:id="rId5"/>
    <p:sldId id="713" r:id="rId6"/>
    <p:sldId id="714" r:id="rId7"/>
    <p:sldId id="711" r:id="rId8"/>
    <p:sldId id="610" r:id="rId9"/>
    <p:sldId id="704" r:id="rId10"/>
    <p:sldId id="716" r:id="rId11"/>
    <p:sldId id="717" r:id="rId12"/>
    <p:sldId id="718" r:id="rId13"/>
    <p:sldId id="719" r:id="rId14"/>
    <p:sldId id="720" r:id="rId15"/>
    <p:sldId id="708" r:id="rId16"/>
    <p:sldId id="722" r:id="rId17"/>
    <p:sldId id="705" r:id="rId18"/>
    <p:sldId id="721" r:id="rId19"/>
    <p:sldId id="723" r:id="rId20"/>
    <p:sldId id="724" r:id="rId21"/>
    <p:sldId id="725" r:id="rId22"/>
    <p:sldId id="726" r:id="rId23"/>
    <p:sldId id="709" r:id="rId24"/>
    <p:sldId id="706" r:id="rId25"/>
    <p:sldId id="710" r:id="rId26"/>
    <p:sldId id="707" r:id="rId27"/>
  </p:sldIdLst>
  <p:sldSz cx="12192000" cy="7561263"/>
  <p:notesSz cx="6858000" cy="9144000"/>
  <p:custDataLst>
    <p:tags r:id="rId30"/>
  </p:custDataLst>
  <p:defaultTextStyle>
    <a:defPPr>
      <a:defRPr lang="zh-CN"/>
    </a:defPPr>
    <a:lvl1pPr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489" userDrawn="1">
          <p15:clr>
            <a:srgbClr val="A4A3A4"/>
          </p15:clr>
        </p15:guide>
        <p15:guide id="2" pos="384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386D6"/>
    <a:srgbClr val="FFCC66"/>
    <a:srgbClr val="01395C"/>
    <a:srgbClr val="F2F2F2"/>
    <a:srgbClr val="8BBF20"/>
    <a:srgbClr val="1A5460"/>
    <a:srgbClr val="1C51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08" autoAdjust="0"/>
    <p:restoredTop sz="93769" autoAdjust="0"/>
  </p:normalViewPr>
  <p:slideViewPr>
    <p:cSldViewPr snapToGrid="0" snapToObjects="1" showGuides="1">
      <p:cViewPr varScale="1">
        <p:scale>
          <a:sx n="72" d="100"/>
          <a:sy n="72" d="100"/>
        </p:scale>
        <p:origin x="1248" y="72"/>
      </p:cViewPr>
      <p:guideLst>
        <p:guide orient="horz" pos="2489"/>
        <p:guide pos="38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3" d="100"/>
          <a:sy n="53" d="100"/>
        </p:scale>
        <p:origin x="-290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vl1pPr>
          </a:lstStyle>
          <a:p>
            <a:pPr>
              <a:defRPr/>
            </a:pPr>
            <a:fld id="{E90E57A1-013A-4346-8DC3-35B6905B1D3C}" type="slidenum">
              <a:rPr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0213" cy="458788"/>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5" name="日期占位符 2"/>
          <p:cNvSpPr>
            <a:spLocks noGrp="1" noChangeArrowheads="1"/>
          </p:cNvSpPr>
          <p:nvPr>
            <p:ph type="dt" idx="1"/>
          </p:nvPr>
        </p:nvSpPr>
        <p:spPr bwMode="auto">
          <a:xfrm>
            <a:off x="3883025" y="0"/>
            <a:ext cx="2973388" cy="458788"/>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6" name="幻灯片图像占位符 3"/>
          <p:cNvSpPr>
            <a:spLocks noGrp="1" noRot="1" noChangeAspect="1" noChangeArrowheads="1"/>
          </p:cNvSpPr>
          <p:nvPr>
            <p:ph type="sldImg" idx="4294967295"/>
          </p:nvPr>
        </p:nvSpPr>
        <p:spPr bwMode="auto">
          <a:xfrm>
            <a:off x="941388" y="1143000"/>
            <a:ext cx="497522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400550"/>
            <a:ext cx="5486400" cy="360045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页脚占位符 5"/>
          <p:cNvSpPr>
            <a:spLocks noGrp="1" noChangeArrowheads="1"/>
          </p:cNvSpPr>
          <p:nvPr>
            <p:ph type="ftr" sz="quarter" idx="4"/>
          </p:nvPr>
        </p:nvSpPr>
        <p:spPr bwMode="auto">
          <a:xfrm>
            <a:off x="0" y="8685213"/>
            <a:ext cx="2970213" cy="458787"/>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9" name="灯片编号占位符 6"/>
          <p:cNvSpPr>
            <a:spLocks noGrp="1" noChangeArrowheads="1"/>
          </p:cNvSpPr>
          <p:nvPr>
            <p:ph type="sldNum" sz="quarter" idx="5"/>
          </p:nvPr>
        </p:nvSpPr>
        <p:spPr bwMode="auto">
          <a:xfrm>
            <a:off x="3883025" y="8685213"/>
            <a:ext cx="2973388" cy="458787"/>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atin typeface="Calibri" panose="020F0502020204030204" pitchFamily="34" charset="0"/>
                <a:ea typeface="宋体" panose="02010600030101010101" pitchFamily="2" charset="-122"/>
              </a:defRPr>
            </a:lvl1pPr>
          </a:lstStyle>
          <a:p>
            <a:pPr>
              <a:defRPr/>
            </a:pPr>
            <a:fld id="{7C1C8602-8EDB-4EAB-9FED-2C302D0FC548}" type="slidenum">
              <a:rPr altLang="en-US"/>
              <a:t>‹#›</a:t>
            </a:fld>
            <a:endParaRPr lang="zh-CN"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a:solidFill>
              <a:srgbClr val="000000"/>
            </a:solidFill>
            <a:miter lim="800000"/>
          </a:ln>
        </p:spPr>
      </p:sp>
      <p:sp>
        <p:nvSpPr>
          <p:cNvPr id="71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a:t>1.</a:t>
            </a:r>
            <a:r>
              <a:rPr lang="zh-CN" altLang="en-US"/>
              <a:t>项目是啥：西游记，最成功的项目</a:t>
            </a:r>
            <a:endParaRPr lang="en-US" altLang="zh-CN"/>
          </a:p>
          <a:p>
            <a:pPr eaLnBrk="1" hangingPunct="1"/>
            <a:r>
              <a:rPr lang="en-US" altLang="zh-CN"/>
              <a:t>2.</a:t>
            </a:r>
            <a:r>
              <a:rPr lang="zh-CN" altLang="en-US"/>
              <a:t>干什么：</a:t>
            </a:r>
            <a:r>
              <a:rPr lang="en-US" altLang="zh-CN"/>
              <a:t>【</a:t>
            </a:r>
            <a:r>
              <a:rPr lang="zh-CN" altLang="en-US"/>
              <a:t>你所认为的需求</a:t>
            </a:r>
            <a:r>
              <a:rPr lang="en-US" altLang="zh-CN"/>
              <a:t>】</a:t>
            </a:r>
            <a:endParaRPr lang="zh-CN" altLang="en-US"/>
          </a:p>
          <a:p>
            <a:pPr eaLnBrk="1" hangingPunct="1"/>
            <a:r>
              <a:rPr lang="en-US" altLang="zh-CN"/>
              <a:t>3.</a:t>
            </a:r>
            <a:r>
              <a:rPr lang="zh-CN" altLang="en-US"/>
              <a:t>谁来干：自组织团队的组建（项目需要一个优秀的团队）</a:t>
            </a:r>
            <a:endParaRPr lang="en-US" altLang="zh-CN"/>
          </a:p>
          <a:p>
            <a:pPr eaLnBrk="1" hangingPunct="1"/>
            <a:r>
              <a:rPr lang="en-US" altLang="zh-CN"/>
              <a:t>4.</a:t>
            </a:r>
            <a:r>
              <a:rPr lang="zh-CN" altLang="en-US"/>
              <a:t>怎么干：指路明灯：项目过程标准：</a:t>
            </a:r>
            <a:r>
              <a:rPr lang="en-US" altLang="zh-CN"/>
              <a:t>CMMI</a:t>
            </a:r>
            <a:r>
              <a:rPr lang="zh-CN" altLang="en-US"/>
              <a:t>的讲解，以吃饭为例子，串起</a:t>
            </a:r>
            <a:r>
              <a:rPr lang="en-US" altLang="zh-CN"/>
              <a:t>CMMI</a:t>
            </a:r>
            <a:r>
              <a:rPr lang="zh-CN" altLang="en-US"/>
              <a:t>，</a:t>
            </a:r>
            <a:r>
              <a:rPr lang="en-US" altLang="zh-CN"/>
              <a:t>PMBOK</a:t>
            </a:r>
            <a:r>
              <a:rPr lang="zh-CN" altLang="en-US"/>
              <a:t>，</a:t>
            </a:r>
            <a:r>
              <a:rPr lang="en-US" altLang="zh-CN"/>
              <a:t>ISO9000</a:t>
            </a:r>
            <a:r>
              <a:rPr lang="zh-CN" altLang="en-US"/>
              <a:t>等</a:t>
            </a:r>
          </a:p>
          <a:p>
            <a:pPr eaLnBrk="1" hangingPunct="1"/>
            <a:endParaRPr lang="en-US" altLang="zh-CN"/>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fld id="{5A2C1C32-25B8-411B-A5DD-9AEEE3E1F15F}" type="slidenum">
              <a:rPr altLang="en-US" smtClean="0">
                <a:latin typeface="Calibri" panose="020F0502020204030204" pitchFamily="34" charset="0"/>
                <a:ea typeface="宋体" panose="02010600030101010101" pitchFamily="2" charset="-122"/>
              </a:rPr>
              <a:t>6</a:t>
            </a:fld>
            <a:endParaRPr lang="zh-CN" altLang="zh-CN">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7</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8</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9</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10</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11</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12</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a:solidFill>
              <a:srgbClr val="000000"/>
            </a:solidFill>
            <a:miter lim="800000"/>
          </a:ln>
        </p:spPr>
      </p:sp>
      <p:sp>
        <p:nvSpPr>
          <p:cNvPr id="71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a:t>1.</a:t>
            </a:r>
            <a:r>
              <a:rPr lang="zh-CN" altLang="en-US"/>
              <a:t>项目是啥：西游记，最成功的项目</a:t>
            </a:r>
            <a:endParaRPr lang="en-US" altLang="zh-CN"/>
          </a:p>
          <a:p>
            <a:pPr eaLnBrk="1" hangingPunct="1"/>
            <a:r>
              <a:rPr lang="en-US" altLang="zh-CN"/>
              <a:t>2.</a:t>
            </a:r>
            <a:r>
              <a:rPr lang="zh-CN" altLang="en-US"/>
              <a:t>干什么：</a:t>
            </a:r>
            <a:r>
              <a:rPr lang="en-US" altLang="zh-CN"/>
              <a:t>【</a:t>
            </a:r>
            <a:r>
              <a:rPr lang="zh-CN" altLang="en-US"/>
              <a:t>你所认为的需求</a:t>
            </a:r>
            <a:r>
              <a:rPr lang="en-US" altLang="zh-CN"/>
              <a:t>】</a:t>
            </a:r>
            <a:endParaRPr lang="zh-CN" altLang="en-US"/>
          </a:p>
          <a:p>
            <a:pPr eaLnBrk="1" hangingPunct="1"/>
            <a:r>
              <a:rPr lang="en-US" altLang="zh-CN"/>
              <a:t>3.</a:t>
            </a:r>
            <a:r>
              <a:rPr lang="zh-CN" altLang="en-US"/>
              <a:t>谁来干：自组织团队的组建（项目需要一个优秀的团队）</a:t>
            </a:r>
            <a:endParaRPr lang="en-US" altLang="zh-CN"/>
          </a:p>
          <a:p>
            <a:pPr eaLnBrk="1" hangingPunct="1"/>
            <a:r>
              <a:rPr lang="en-US" altLang="zh-CN"/>
              <a:t>4.</a:t>
            </a:r>
            <a:r>
              <a:rPr lang="zh-CN" altLang="en-US"/>
              <a:t>怎么干：指路明灯：项目过程标准：</a:t>
            </a:r>
            <a:r>
              <a:rPr lang="en-US" altLang="zh-CN"/>
              <a:t>CMMI</a:t>
            </a:r>
            <a:r>
              <a:rPr lang="zh-CN" altLang="en-US"/>
              <a:t>的讲解，以吃饭为例子，串起</a:t>
            </a:r>
            <a:r>
              <a:rPr lang="en-US" altLang="zh-CN"/>
              <a:t>CMMI</a:t>
            </a:r>
            <a:r>
              <a:rPr lang="zh-CN" altLang="en-US"/>
              <a:t>，</a:t>
            </a:r>
            <a:r>
              <a:rPr lang="en-US" altLang="zh-CN"/>
              <a:t>PMBOK</a:t>
            </a:r>
            <a:r>
              <a:rPr lang="zh-CN" altLang="en-US"/>
              <a:t>，</a:t>
            </a:r>
            <a:r>
              <a:rPr lang="en-US" altLang="zh-CN"/>
              <a:t>ISO9000</a:t>
            </a:r>
            <a:r>
              <a:rPr lang="zh-CN" altLang="en-US"/>
              <a:t>等</a:t>
            </a:r>
          </a:p>
          <a:p>
            <a:pPr eaLnBrk="1" hangingPunct="1"/>
            <a:endParaRPr lang="en-US" altLang="zh-CN"/>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fld id="{5A2C1C32-25B8-411B-A5DD-9AEEE3E1F15F}" type="slidenum">
              <a:rPr altLang="en-US" smtClean="0">
                <a:latin typeface="Calibri" panose="020F0502020204030204" pitchFamily="34" charset="0"/>
                <a:ea typeface="宋体" panose="02010600030101010101" pitchFamily="2" charset="-122"/>
              </a:rPr>
              <a:t>13</a:t>
            </a:fld>
            <a:endParaRPr lang="zh-CN" altLang="zh-CN">
              <a:latin typeface="Calibri" panose="020F050202020403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14</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15</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16</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17</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18</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19</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20</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a:solidFill>
              <a:srgbClr val="000000"/>
            </a:solidFill>
            <a:miter lim="800000"/>
          </a:ln>
        </p:spPr>
      </p:sp>
      <p:sp>
        <p:nvSpPr>
          <p:cNvPr id="71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a:t>1.</a:t>
            </a:r>
            <a:r>
              <a:rPr lang="zh-CN" altLang="en-US"/>
              <a:t>项目是啥：西游记，最成功的项目</a:t>
            </a:r>
            <a:endParaRPr lang="en-US" altLang="zh-CN"/>
          </a:p>
          <a:p>
            <a:pPr eaLnBrk="1" hangingPunct="1"/>
            <a:r>
              <a:rPr lang="en-US" altLang="zh-CN"/>
              <a:t>2.</a:t>
            </a:r>
            <a:r>
              <a:rPr lang="zh-CN" altLang="en-US"/>
              <a:t>干什么：</a:t>
            </a:r>
            <a:r>
              <a:rPr lang="en-US" altLang="zh-CN"/>
              <a:t>【</a:t>
            </a:r>
            <a:r>
              <a:rPr lang="zh-CN" altLang="en-US"/>
              <a:t>你所认为的需求</a:t>
            </a:r>
            <a:r>
              <a:rPr lang="en-US" altLang="zh-CN"/>
              <a:t>】</a:t>
            </a:r>
            <a:endParaRPr lang="zh-CN" altLang="en-US"/>
          </a:p>
          <a:p>
            <a:pPr eaLnBrk="1" hangingPunct="1"/>
            <a:r>
              <a:rPr lang="en-US" altLang="zh-CN"/>
              <a:t>3.</a:t>
            </a:r>
            <a:r>
              <a:rPr lang="zh-CN" altLang="en-US"/>
              <a:t>谁来干：自组织团队的组建（项目需要一个优秀的团队）</a:t>
            </a:r>
            <a:endParaRPr lang="en-US" altLang="zh-CN"/>
          </a:p>
          <a:p>
            <a:pPr eaLnBrk="1" hangingPunct="1"/>
            <a:r>
              <a:rPr lang="en-US" altLang="zh-CN"/>
              <a:t>4.</a:t>
            </a:r>
            <a:r>
              <a:rPr lang="zh-CN" altLang="en-US"/>
              <a:t>怎么干：指路明灯：项目过程标准：</a:t>
            </a:r>
            <a:r>
              <a:rPr lang="en-US" altLang="zh-CN"/>
              <a:t>CMMI</a:t>
            </a:r>
            <a:r>
              <a:rPr lang="zh-CN" altLang="en-US"/>
              <a:t>的讲解，以吃饭为例子，串起</a:t>
            </a:r>
            <a:r>
              <a:rPr lang="en-US" altLang="zh-CN"/>
              <a:t>CMMI</a:t>
            </a:r>
            <a:r>
              <a:rPr lang="zh-CN" altLang="en-US"/>
              <a:t>，</a:t>
            </a:r>
            <a:r>
              <a:rPr lang="en-US" altLang="zh-CN"/>
              <a:t>PMBOK</a:t>
            </a:r>
            <a:r>
              <a:rPr lang="zh-CN" altLang="en-US"/>
              <a:t>，</a:t>
            </a:r>
            <a:r>
              <a:rPr lang="en-US" altLang="zh-CN"/>
              <a:t>ISO9000</a:t>
            </a:r>
            <a:r>
              <a:rPr lang="zh-CN" altLang="en-US"/>
              <a:t>等</a:t>
            </a:r>
          </a:p>
          <a:p>
            <a:pPr eaLnBrk="1" hangingPunct="1"/>
            <a:endParaRPr lang="en-US" altLang="zh-CN"/>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fld id="{5A2C1C32-25B8-411B-A5DD-9AEEE3E1F15F}" type="slidenum">
              <a:rPr altLang="en-US" smtClean="0">
                <a:latin typeface="Calibri" panose="020F0502020204030204" pitchFamily="34" charset="0"/>
                <a:ea typeface="宋体" panose="02010600030101010101" pitchFamily="2" charset="-122"/>
              </a:rPr>
              <a:t>21</a:t>
            </a:fld>
            <a:endParaRPr lang="zh-CN" altLang="zh-CN">
              <a:latin typeface="Calibri" panose="020F050202020403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22</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a:solidFill>
              <a:srgbClr val="000000"/>
            </a:solidFill>
            <a:miter lim="800000"/>
          </a:ln>
        </p:spPr>
      </p:sp>
      <p:sp>
        <p:nvSpPr>
          <p:cNvPr id="71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a:t>1.</a:t>
            </a:r>
            <a:r>
              <a:rPr lang="zh-CN" altLang="en-US"/>
              <a:t>项目是啥：西游记，最成功的项目</a:t>
            </a:r>
            <a:endParaRPr lang="en-US" altLang="zh-CN"/>
          </a:p>
          <a:p>
            <a:pPr eaLnBrk="1" hangingPunct="1"/>
            <a:r>
              <a:rPr lang="en-US" altLang="zh-CN"/>
              <a:t>2.</a:t>
            </a:r>
            <a:r>
              <a:rPr lang="zh-CN" altLang="en-US"/>
              <a:t>干什么：</a:t>
            </a:r>
            <a:r>
              <a:rPr lang="en-US" altLang="zh-CN"/>
              <a:t>【</a:t>
            </a:r>
            <a:r>
              <a:rPr lang="zh-CN" altLang="en-US"/>
              <a:t>你所认为的需求</a:t>
            </a:r>
            <a:r>
              <a:rPr lang="en-US" altLang="zh-CN"/>
              <a:t>】</a:t>
            </a:r>
            <a:endParaRPr lang="zh-CN" altLang="en-US"/>
          </a:p>
          <a:p>
            <a:pPr eaLnBrk="1" hangingPunct="1"/>
            <a:r>
              <a:rPr lang="en-US" altLang="zh-CN"/>
              <a:t>3.</a:t>
            </a:r>
            <a:r>
              <a:rPr lang="zh-CN" altLang="en-US"/>
              <a:t>谁来干：自组织团队的组建（项目需要一个优秀的团队）</a:t>
            </a:r>
            <a:endParaRPr lang="en-US" altLang="zh-CN"/>
          </a:p>
          <a:p>
            <a:pPr eaLnBrk="1" hangingPunct="1"/>
            <a:r>
              <a:rPr lang="en-US" altLang="zh-CN"/>
              <a:t>4.</a:t>
            </a:r>
            <a:r>
              <a:rPr lang="zh-CN" altLang="en-US"/>
              <a:t>怎么干：指路明灯：项目过程标准：</a:t>
            </a:r>
            <a:r>
              <a:rPr lang="en-US" altLang="zh-CN"/>
              <a:t>CMMI</a:t>
            </a:r>
            <a:r>
              <a:rPr lang="zh-CN" altLang="en-US"/>
              <a:t>的讲解，以吃饭为例子，串起</a:t>
            </a:r>
            <a:r>
              <a:rPr lang="en-US" altLang="zh-CN"/>
              <a:t>CMMI</a:t>
            </a:r>
            <a:r>
              <a:rPr lang="zh-CN" altLang="en-US"/>
              <a:t>，</a:t>
            </a:r>
            <a:r>
              <a:rPr lang="en-US" altLang="zh-CN"/>
              <a:t>PMBOK</a:t>
            </a:r>
            <a:r>
              <a:rPr lang="zh-CN" altLang="en-US"/>
              <a:t>，</a:t>
            </a:r>
            <a:r>
              <a:rPr lang="en-US" altLang="zh-CN"/>
              <a:t>ISO9000</a:t>
            </a:r>
            <a:r>
              <a:rPr lang="zh-CN" altLang="en-US"/>
              <a:t>等</a:t>
            </a:r>
          </a:p>
          <a:p>
            <a:pPr eaLnBrk="1" hangingPunct="1"/>
            <a:endParaRPr lang="en-US" altLang="zh-CN"/>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fld id="{5A2C1C32-25B8-411B-A5DD-9AEEE3E1F15F}" type="slidenum">
              <a:rPr altLang="en-US" smtClean="0">
                <a:latin typeface="Calibri" panose="020F0502020204030204" pitchFamily="34" charset="0"/>
                <a:ea typeface="宋体" panose="02010600030101010101" pitchFamily="2" charset="-122"/>
              </a:rPr>
              <a:t>23</a:t>
            </a:fld>
            <a:endParaRPr lang="zh-CN" altLang="zh-CN">
              <a:latin typeface="Calibri" panose="020F050202020403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idx="4294967295"/>
          </p:nvPr>
        </p:nvSpPr>
        <p:spPr/>
      </p:sp>
      <p:sp>
        <p:nvSpPr>
          <p:cNvPr id="9219"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buFont typeface="Arial" panose="020B0604020202020204" pitchFamily="34" charset="0"/>
              <a:buNone/>
            </a:pPr>
            <a:fld id="{E78A0243-CE3A-4414-B9B6-E544FF76023A}" type="slidenum">
              <a:rPr altLang="en-US" smtClean="0">
                <a:latin typeface="Calibri" panose="020F0502020204030204" pitchFamily="34" charset="0"/>
                <a:ea typeface="宋体" panose="02010600030101010101" pitchFamily="2" charset="-122"/>
              </a:rPr>
              <a:t>24</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8173F643-6AD5-4867-9A3A-C4F85FE46302}" type="slidenum">
              <a:rPr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56C37E91-F6B7-4A53-9096-E85CACB35CB1}" type="slidenum">
              <a:rPr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3548D432-5895-4CFB-B5AD-285541ACE5E7}" type="slidenum">
              <a:rPr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AB8E39B3-5519-443A-ADE4-F59D3E7BA383}" type="slidenum">
              <a:rPr altLang="en-US"/>
              <a:t>‹#›</a:t>
            </a:fld>
            <a:endParaRPr lang="zh-CN" altLang="en-US"/>
          </a:p>
        </p:txBody>
      </p:sp>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122" name="矩形 1" hidden="1"/>
          <p:cNvSpPr>
            <a:spLocks noChangeArrowheads="1"/>
          </p:cNvSpPr>
          <p:nvPr/>
        </p:nvSpPr>
        <p:spPr bwMode="auto">
          <a:xfrm>
            <a:off x="-11113" y="4502150"/>
            <a:ext cx="12203113" cy="2192338"/>
          </a:xfrm>
          <a:custGeom>
            <a:avLst/>
            <a:gdLst>
              <a:gd name="T0" fmla="*/ 11430 w 12202851"/>
              <a:gd name="T1" fmla="*/ 0 h 1987781"/>
              <a:gd name="T2" fmla="*/ 12207899 w 12202851"/>
              <a:gd name="T3" fmla="*/ 4925439 h 1987781"/>
              <a:gd name="T4" fmla="*/ 12197507 w 12202851"/>
              <a:gd name="T5" fmla="*/ 15548443 h 1987781"/>
              <a:gd name="T6" fmla="*/ 0 w 12202851"/>
              <a:gd name="T7" fmla="*/ 15548443 h 1987781"/>
              <a:gd name="T8" fmla="*/ 11430 w 12202851"/>
              <a:gd name="T9" fmla="*/ 0 h 1987781"/>
              <a:gd name="T10" fmla="*/ 0 60000 65536"/>
              <a:gd name="T11" fmla="*/ 0 60000 65536"/>
              <a:gd name="T12" fmla="*/ 0 60000 65536"/>
              <a:gd name="T13" fmla="*/ 0 60000 65536"/>
              <a:gd name="T14" fmla="*/ 0 60000 65536"/>
              <a:gd name="T15" fmla="*/ 0 w 12202851"/>
              <a:gd name="T16" fmla="*/ 0 h 1987781"/>
              <a:gd name="T17" fmla="*/ 12202851 w 12202851"/>
              <a:gd name="T18" fmla="*/ 1987781 h 1987781"/>
            </a:gdLst>
            <a:ahLst/>
            <a:cxnLst>
              <a:cxn ang="T10">
                <a:pos x="T0" y="T1"/>
              </a:cxn>
              <a:cxn ang="T11">
                <a:pos x="T2" y="T3"/>
              </a:cxn>
              <a:cxn ang="T12">
                <a:pos x="T4" y="T5"/>
              </a:cxn>
              <a:cxn ang="T13">
                <a:pos x="T6" y="T7"/>
              </a:cxn>
              <a:cxn ang="T14">
                <a:pos x="T8" y="T9"/>
              </a:cxn>
            </a:cxnLst>
            <a:rect l="T15" t="T16" r="T17" b="T18"/>
            <a:pathLst>
              <a:path w="12202851" h="1987781">
                <a:moveTo>
                  <a:pt x="11430" y="0"/>
                </a:moveTo>
                <a:cubicBezTo>
                  <a:pt x="3514321" y="1818409"/>
                  <a:pt x="8046951" y="1697875"/>
                  <a:pt x="12202391" y="629689"/>
                </a:cubicBezTo>
                <a:cubicBezTo>
                  <a:pt x="12205855" y="1003762"/>
                  <a:pt x="12188536" y="1613708"/>
                  <a:pt x="12192000" y="1987781"/>
                </a:cubicBezTo>
                <a:lnTo>
                  <a:pt x="0" y="1987781"/>
                </a:lnTo>
                <a:lnTo>
                  <a:pt x="1143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5123" name="组合 9"/>
          <p:cNvGrpSpPr/>
          <p:nvPr/>
        </p:nvGrpSpPr>
        <p:grpSpPr bwMode="auto">
          <a:xfrm>
            <a:off x="1281" y="4502150"/>
            <a:ext cx="12203112" cy="3173413"/>
            <a:chOff x="0" y="0"/>
            <a:chExt cx="12202851" cy="2878281"/>
          </a:xfrm>
        </p:grpSpPr>
        <p:sp>
          <p:nvSpPr>
            <p:cNvPr id="5127" name="矩形 1"/>
            <p:cNvSpPr>
              <a:spLocks noChangeArrowheads="1"/>
            </p:cNvSpPr>
            <p:nvPr/>
          </p:nvSpPr>
          <p:spPr bwMode="auto">
            <a:xfrm>
              <a:off x="0" y="69113"/>
              <a:ext cx="12202851" cy="2331134"/>
            </a:xfrm>
            <a:custGeom>
              <a:avLst/>
              <a:gdLst>
                <a:gd name="T0" fmla="*/ 0 w 12202851"/>
                <a:gd name="T1" fmla="*/ 0 h 2330681"/>
                <a:gd name="T2" fmla="*/ 12202387 w 12202851"/>
                <a:gd name="T3" fmla="*/ 1033953 h 2330681"/>
                <a:gd name="T4" fmla="*/ 12192003 w 12202851"/>
                <a:gd name="T5" fmla="*/ 2340212 h 2330681"/>
                <a:gd name="T6" fmla="*/ 0 w 12202851"/>
                <a:gd name="T7" fmla="*/ 2340212 h 2330681"/>
                <a:gd name="T8" fmla="*/ 0 w 12202851"/>
                <a:gd name="T9" fmla="*/ 0 h 2330681"/>
                <a:gd name="T10" fmla="*/ 0 60000 65536"/>
                <a:gd name="T11" fmla="*/ 0 60000 65536"/>
                <a:gd name="T12" fmla="*/ 0 60000 65536"/>
                <a:gd name="T13" fmla="*/ 0 60000 65536"/>
                <a:gd name="T14" fmla="*/ 0 60000 65536"/>
                <a:gd name="T15" fmla="*/ 0 w 12202851"/>
                <a:gd name="T16" fmla="*/ 0 h 2330681"/>
                <a:gd name="T17" fmla="*/ 12202851 w 12202851"/>
                <a:gd name="T18" fmla="*/ 2330681 h 2330681"/>
              </a:gdLst>
              <a:ahLst/>
              <a:cxnLst>
                <a:cxn ang="T10">
                  <a:pos x="T0" y="T1"/>
                </a:cxn>
                <a:cxn ang="T11">
                  <a:pos x="T2" y="T3"/>
                </a:cxn>
                <a:cxn ang="T12">
                  <a:pos x="T4" y="T5"/>
                </a:cxn>
                <a:cxn ang="T13">
                  <a:pos x="T6" y="T7"/>
                </a:cxn>
                <a:cxn ang="T14">
                  <a:pos x="T8" y="T9"/>
                </a:cxn>
              </a:cxnLst>
              <a:rect l="T15" t="T16" r="T17" b="T18"/>
              <a:pathLst>
                <a:path w="12202851" h="2330681">
                  <a:moveTo>
                    <a:pt x="0" y="0"/>
                  </a:moveTo>
                  <a:cubicBezTo>
                    <a:pt x="3502891" y="1818409"/>
                    <a:pt x="8046951" y="2097925"/>
                    <a:pt x="12202391" y="1029739"/>
                  </a:cubicBezTo>
                  <a:cubicBezTo>
                    <a:pt x="12205855" y="1403812"/>
                    <a:pt x="12188536" y="1956608"/>
                    <a:pt x="12192000" y="2330681"/>
                  </a:cubicBezTo>
                  <a:lnTo>
                    <a:pt x="0" y="2330681"/>
                  </a:lnTo>
                  <a:lnTo>
                    <a:pt x="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28" name="矩形 1"/>
            <p:cNvSpPr>
              <a:spLocks noChangeArrowheads="1"/>
            </p:cNvSpPr>
            <p:nvPr/>
          </p:nvSpPr>
          <p:spPr bwMode="auto">
            <a:xfrm>
              <a:off x="0" y="0"/>
              <a:ext cx="12202851" cy="2639264"/>
            </a:xfrm>
            <a:custGeom>
              <a:avLst/>
              <a:gdLst>
                <a:gd name="T0" fmla="*/ 0 w 12202851"/>
                <a:gd name="T1" fmla="*/ 0 h 2639291"/>
                <a:gd name="T2" fmla="*/ 12202387 w 12202851"/>
                <a:gd name="T3" fmla="*/ 1406635 h 2639291"/>
                <a:gd name="T4" fmla="*/ 12192003 w 12202851"/>
                <a:gd name="T5" fmla="*/ 2638727 h 2639291"/>
                <a:gd name="T6" fmla="*/ 0 w 12202851"/>
                <a:gd name="T7" fmla="*/ 2638727 h 2639291"/>
                <a:gd name="T8" fmla="*/ 0 w 12202851"/>
                <a:gd name="T9" fmla="*/ 0 h 2639291"/>
                <a:gd name="T10" fmla="*/ 0 60000 65536"/>
                <a:gd name="T11" fmla="*/ 0 60000 65536"/>
                <a:gd name="T12" fmla="*/ 0 60000 65536"/>
                <a:gd name="T13" fmla="*/ 0 60000 65536"/>
                <a:gd name="T14" fmla="*/ 0 60000 65536"/>
                <a:gd name="T15" fmla="*/ 0 w 12202851"/>
                <a:gd name="T16" fmla="*/ 0 h 2639291"/>
                <a:gd name="T17" fmla="*/ 12202851 w 12202851"/>
                <a:gd name="T18" fmla="*/ 2639291 h 2639291"/>
              </a:gdLst>
              <a:ahLst/>
              <a:cxnLst>
                <a:cxn ang="T10">
                  <a:pos x="T0" y="T1"/>
                </a:cxn>
                <a:cxn ang="T11">
                  <a:pos x="T2" y="T3"/>
                </a:cxn>
                <a:cxn ang="T12">
                  <a:pos x="T4" y="T5"/>
                </a:cxn>
                <a:cxn ang="T13">
                  <a:pos x="T6" y="T7"/>
                </a:cxn>
                <a:cxn ang="T14">
                  <a:pos x="T8" y="T9"/>
                </a:cxn>
              </a:cxnLst>
              <a:rect l="T15" t="T16" r="T17" b="T18"/>
              <a:pathLst>
                <a:path w="12202851" h="2639291">
                  <a:moveTo>
                    <a:pt x="0" y="0"/>
                  </a:moveTo>
                  <a:cubicBezTo>
                    <a:pt x="3502891" y="1818409"/>
                    <a:pt x="8024091" y="2726575"/>
                    <a:pt x="12202391" y="1406929"/>
                  </a:cubicBezTo>
                  <a:cubicBezTo>
                    <a:pt x="12205855" y="1781002"/>
                    <a:pt x="12188536" y="2265218"/>
                    <a:pt x="12192000" y="2639291"/>
                  </a:cubicBezTo>
                  <a:lnTo>
                    <a:pt x="0" y="2639291"/>
                  </a:lnTo>
                  <a:lnTo>
                    <a:pt x="0" y="0"/>
                  </a:lnTo>
                  <a:close/>
                </a:path>
              </a:pathLst>
            </a:custGeom>
            <a:solidFill>
              <a:srgbClr val="0495D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29" name="矩形 1"/>
            <p:cNvSpPr>
              <a:spLocks noChangeArrowheads="1"/>
            </p:cNvSpPr>
            <p:nvPr/>
          </p:nvSpPr>
          <p:spPr bwMode="auto">
            <a:xfrm>
              <a:off x="0" y="10079"/>
              <a:ext cx="12193326" cy="2868202"/>
            </a:xfrm>
            <a:custGeom>
              <a:avLst/>
              <a:gdLst>
                <a:gd name="T0" fmla="*/ 0 w 12192999"/>
                <a:gd name="T1" fmla="*/ 0 h 2867891"/>
                <a:gd name="T2" fmla="*/ 12198875 w 12192999"/>
                <a:gd name="T3" fmla="*/ 1739238 h 2867891"/>
                <a:gd name="T4" fmla="*/ 12198875 w 12192999"/>
                <a:gd name="T5" fmla="*/ 2874431 h 2867891"/>
                <a:gd name="T6" fmla="*/ 0 w 12192999"/>
                <a:gd name="T7" fmla="*/ 2874431 h 2867891"/>
                <a:gd name="T8" fmla="*/ 0 w 12192999"/>
                <a:gd name="T9" fmla="*/ 0 h 2867891"/>
                <a:gd name="T10" fmla="*/ 0 60000 65536"/>
                <a:gd name="T11" fmla="*/ 0 60000 65536"/>
                <a:gd name="T12" fmla="*/ 0 60000 65536"/>
                <a:gd name="T13" fmla="*/ 0 60000 65536"/>
                <a:gd name="T14" fmla="*/ 0 60000 65536"/>
                <a:gd name="T15" fmla="*/ 0 w 12192999"/>
                <a:gd name="T16" fmla="*/ 0 h 2867891"/>
                <a:gd name="T17" fmla="*/ 12192999 w 12192999"/>
                <a:gd name="T18" fmla="*/ 2867891 h 2867891"/>
              </a:gdLst>
              <a:ahLst/>
              <a:cxnLst>
                <a:cxn ang="T10">
                  <a:pos x="T0" y="T1"/>
                </a:cxn>
                <a:cxn ang="T11">
                  <a:pos x="T2" y="T3"/>
                </a:cxn>
                <a:cxn ang="T12">
                  <a:pos x="T4" y="T5"/>
                </a:cxn>
                <a:cxn ang="T13">
                  <a:pos x="T6" y="T7"/>
                </a:cxn>
                <a:cxn ang="T14">
                  <a:pos x="T8" y="T9"/>
                </a:cxn>
              </a:cxnLst>
              <a:rect l="T15" t="T16" r="T17" b="T18"/>
              <a:pathLst>
                <a:path w="12192999" h="2867891">
                  <a:moveTo>
                    <a:pt x="0" y="0"/>
                  </a:moveTo>
                  <a:cubicBezTo>
                    <a:pt x="3502891" y="1818409"/>
                    <a:pt x="8013700" y="3054928"/>
                    <a:pt x="12192000" y="1735282"/>
                  </a:cubicBezTo>
                  <a:cubicBezTo>
                    <a:pt x="12195464" y="2109355"/>
                    <a:pt x="12188536" y="2493818"/>
                    <a:pt x="12192000" y="2867891"/>
                  </a:cubicBezTo>
                  <a:lnTo>
                    <a:pt x="0" y="2867891"/>
                  </a:lnTo>
                  <a:lnTo>
                    <a:pt x="0" y="0"/>
                  </a:lnTo>
                  <a:close/>
                </a:path>
              </a:pathLst>
            </a:custGeom>
            <a:solidFill>
              <a:srgbClr val="0139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124" name="矩形 10"/>
          <p:cNvSpPr>
            <a:spLocks noChangeArrowheads="1"/>
          </p:cNvSpPr>
          <p:nvPr/>
        </p:nvSpPr>
        <p:spPr bwMode="auto">
          <a:xfrm>
            <a:off x="1182688" y="2828925"/>
            <a:ext cx="32623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山东建筑大学</a:t>
            </a:r>
            <a:endParaRPr lang="en-US" altLang="zh-CN" sz="2400" b="1">
              <a:solidFill>
                <a:srgbClr val="01395C"/>
              </a:solidFill>
              <a:latin typeface="方正粗宋简体"/>
              <a:ea typeface="方正粗宋简体"/>
              <a:cs typeface="方正粗宋简体"/>
            </a:endParaRPr>
          </a:p>
          <a:p>
            <a:pP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计算机科学与技术学院</a:t>
            </a:r>
          </a:p>
        </p:txBody>
      </p:sp>
      <p:sp>
        <p:nvSpPr>
          <p:cNvPr id="12296" name="标题 7"/>
          <p:cNvSpPr>
            <a:spLocks noChangeArrowheads="1"/>
          </p:cNvSpPr>
          <p:nvPr/>
        </p:nvSpPr>
        <p:spPr bwMode="auto">
          <a:xfrm>
            <a:off x="1150374" y="774752"/>
            <a:ext cx="4504301" cy="1373187"/>
          </a:xfrm>
          <a:prstGeom prst="rect">
            <a:avLst/>
          </a:prstGeom>
          <a:noFill/>
          <a:ln w="9525">
            <a:noFill/>
            <a:miter lim="800000"/>
          </a:ln>
        </p:spPr>
        <p:txBody>
          <a:bodyPr anchor="b"/>
          <a:lstStyle/>
          <a:p>
            <a:pPr algn="ctr" eaLnBrk="1" hangingPunct="1">
              <a:lnSpc>
                <a:spcPct val="90000"/>
              </a:lnSpc>
              <a:buClrTx/>
              <a:buSzTx/>
              <a:buFont typeface="Arial" panose="020B0604020202020204" pitchFamily="34" charset="0"/>
              <a:buNone/>
              <a:defRPr/>
            </a:pPr>
            <a:r>
              <a:rPr lang="zh-CN" altLang="en-US" sz="4400" b="1" dirty="0">
                <a:solidFill>
                  <a:srgbClr val="01395C"/>
                </a:solidFill>
                <a:latin typeface="+mj-lt"/>
                <a:ea typeface="+mj-ea"/>
                <a:cs typeface="+mj-cs"/>
                <a:sym typeface="+mn-ea"/>
              </a:rPr>
              <a:t>第4章 软件项目的成本管理</a:t>
            </a:r>
          </a:p>
        </p:txBody>
      </p:sp>
      <p:graphicFrame>
        <p:nvGraphicFramePr>
          <p:cNvPr id="5126" name="对象 7"/>
          <p:cNvGraphicFramePr/>
          <p:nvPr/>
        </p:nvGraphicFramePr>
        <p:xfrm>
          <a:off x="6438900" y="681038"/>
          <a:ext cx="5060950" cy="4984750"/>
        </p:xfrm>
        <a:graphic>
          <a:graphicData uri="http://schemas.openxmlformats.org/presentationml/2006/ole">
            <mc:AlternateContent xmlns:mc="http://schemas.openxmlformats.org/markup-compatibility/2006">
              <mc:Choice xmlns:v="urn:schemas-microsoft-com:vml" Requires="v">
                <p:oleObj name="BMP 图像" r:id="rId2" imgW="5057775" imgH="4981575" progId="Paint.Picture">
                  <p:embed/>
                </p:oleObj>
              </mc:Choice>
              <mc:Fallback>
                <p:oleObj name="BMP 图像" r:id="rId2" imgW="5057775" imgH="4981575" progId="Paint.Picture">
                  <p:embed/>
                  <p:pic>
                    <p:nvPicPr>
                      <p:cNvPr id="0" name="对象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8900" y="681038"/>
                        <a:ext cx="5060950" cy="498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83752" y="925055"/>
            <a:ext cx="10024495" cy="2862322"/>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l"/>
            <a:endParaRPr lang="en-US" altLang="zh-CN" sz="3600" b="1" i="0" dirty="0">
              <a:solidFill>
                <a:srgbClr val="C00000"/>
              </a:solidFill>
              <a:effectLst/>
              <a:latin typeface="Helvetica Neue"/>
            </a:endParaRPr>
          </a:p>
          <a:p>
            <a:pPr algn="l"/>
            <a:r>
              <a:rPr lang="en-US" altLang="zh-CN" sz="3600" b="1" dirty="0">
                <a:solidFill>
                  <a:srgbClr val="C00000"/>
                </a:solidFill>
                <a:latin typeface="Helvetica Neue"/>
              </a:rPr>
              <a:t>   </a:t>
            </a:r>
            <a:r>
              <a:rPr lang="zh-CN" altLang="en-US" sz="3600" b="1" i="0" dirty="0">
                <a:solidFill>
                  <a:srgbClr val="C00000"/>
                </a:solidFill>
                <a:effectLst/>
                <a:latin typeface="Helvetica Neue"/>
              </a:rPr>
              <a:t>无法评估，就无法管理。</a:t>
            </a:r>
            <a:endParaRPr lang="en-US" altLang="zh-CN" sz="3600" b="1" i="0" dirty="0">
              <a:solidFill>
                <a:srgbClr val="C00000"/>
              </a:solidFill>
              <a:effectLst/>
              <a:latin typeface="Helvetica Neue"/>
            </a:endParaRPr>
          </a:p>
          <a:p>
            <a:pPr algn="l"/>
            <a:endParaRPr lang="en-US" altLang="zh-CN" sz="3600" b="1" dirty="0">
              <a:solidFill>
                <a:srgbClr val="000000"/>
              </a:solidFill>
              <a:latin typeface="Helvetica Neue"/>
            </a:endParaRPr>
          </a:p>
          <a:p>
            <a:pPr algn="r"/>
            <a:r>
              <a:rPr lang="en-US" altLang="zh-CN" sz="2400" i="0" dirty="0">
                <a:solidFill>
                  <a:srgbClr val="000000"/>
                </a:solidFill>
                <a:effectLst/>
                <a:latin typeface="Helvetica Neue"/>
              </a:rPr>
              <a:t>--</a:t>
            </a:r>
            <a:r>
              <a:rPr lang="zh-CN" altLang="en-US" sz="2400" i="0" dirty="0">
                <a:solidFill>
                  <a:srgbClr val="000000"/>
                </a:solidFill>
                <a:effectLst/>
                <a:latin typeface="Helvetica Neue"/>
              </a:rPr>
              <a:t>琼</a:t>
            </a:r>
            <a:r>
              <a:rPr lang="en-US" altLang="zh-CN" sz="2400" i="0" dirty="0">
                <a:solidFill>
                  <a:srgbClr val="000000"/>
                </a:solidFill>
                <a:effectLst/>
                <a:latin typeface="Helvetica Neue"/>
              </a:rPr>
              <a:t>·</a:t>
            </a:r>
            <a:r>
              <a:rPr lang="zh-CN" altLang="en-US" sz="2400" i="0" dirty="0">
                <a:solidFill>
                  <a:srgbClr val="000000"/>
                </a:solidFill>
                <a:effectLst/>
                <a:latin typeface="Helvetica Neue"/>
              </a:rPr>
              <a:t>玛格丽塔（</a:t>
            </a:r>
            <a:r>
              <a:rPr lang="en-US" altLang="zh-CN" sz="2400" i="0" dirty="0">
                <a:solidFill>
                  <a:srgbClr val="000000"/>
                </a:solidFill>
                <a:effectLst/>
                <a:latin typeface="Helvetica Neue"/>
              </a:rPr>
              <a:t>Joan </a:t>
            </a:r>
            <a:r>
              <a:rPr lang="en-US" altLang="zh-CN" sz="2400" i="0" dirty="0" err="1">
                <a:solidFill>
                  <a:srgbClr val="000000"/>
                </a:solidFill>
                <a:effectLst/>
                <a:latin typeface="Helvetica Neue"/>
              </a:rPr>
              <a:t>Magretta</a:t>
            </a:r>
            <a:r>
              <a:rPr lang="zh-CN" altLang="en-US" sz="2400" i="0" dirty="0">
                <a:solidFill>
                  <a:srgbClr val="000000"/>
                </a:solidFill>
                <a:effectLst/>
                <a:latin typeface="Helvetica Neue"/>
              </a:rPr>
              <a:t>）</a:t>
            </a:r>
            <a:endParaRPr lang="en-US" altLang="zh-CN" sz="2400" i="0" dirty="0">
              <a:solidFill>
                <a:srgbClr val="000000"/>
              </a:solidFill>
              <a:effectLst/>
              <a:latin typeface="Helvetica Neue"/>
            </a:endParaRPr>
          </a:p>
          <a:p>
            <a:pPr algn="r"/>
            <a:r>
              <a:rPr lang="zh-CN" altLang="en-US" sz="2400" i="0" dirty="0">
                <a:solidFill>
                  <a:srgbClr val="000000"/>
                </a:solidFill>
                <a:effectLst/>
                <a:latin typeface="Helvetica Neue"/>
              </a:rPr>
              <a:t>   </a:t>
            </a:r>
            <a:endParaRPr lang="en-US" altLang="zh-CN" sz="2400" i="0" dirty="0">
              <a:solidFill>
                <a:srgbClr val="000000"/>
              </a:solidFill>
              <a:effectLst/>
              <a:latin typeface="Helvetica Neue"/>
            </a:endParaRPr>
          </a:p>
          <a:p>
            <a:pPr algn="r"/>
            <a:endParaRPr lang="zh-CN" altLang="en-US" sz="2400" i="0" dirty="0">
              <a:solidFill>
                <a:srgbClr val="000000"/>
              </a:solidFill>
              <a:effectLst/>
              <a:latin typeface="Helvetica Neue"/>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2862" y="4177073"/>
            <a:ext cx="4145385" cy="2687609"/>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软件项目的成本管理</a:t>
            </a:r>
            <a:endParaRPr lang="zh-CN" altLang="en-US" sz="2400" b="1" dirty="0">
              <a:solidFill>
                <a:srgbClr val="01395C"/>
              </a:solidFill>
              <a:latin typeface="方正粗宋简体"/>
              <a:ea typeface="方正粗宋简体"/>
              <a:cs typeface="方正粗宋简体"/>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5"/>
          <p:cNvSpPr txBox="1">
            <a:spLocks noChangeArrowheads="1"/>
          </p:cNvSpPr>
          <p:nvPr/>
        </p:nvSpPr>
        <p:spPr bwMode="auto">
          <a:xfrm>
            <a:off x="251699" y="42888"/>
            <a:ext cx="3984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微软雅黑" panose="020B0503020204020204" pitchFamily="34" charset="-122"/>
                <a:ea typeface="方正粗宋简体"/>
                <a:cs typeface="方正粗宋简体"/>
              </a:rPr>
              <a:t>PMBOK</a:t>
            </a:r>
            <a:r>
              <a:rPr lang="zh-CN" altLang="en-US" sz="2400" b="1" dirty="0">
                <a:solidFill>
                  <a:srgbClr val="01395C"/>
                </a:solidFill>
                <a:latin typeface="微软雅黑" panose="020B0503020204020204" pitchFamily="34" charset="-122"/>
                <a:ea typeface="方正粗宋简体"/>
                <a:cs typeface="方正粗宋简体"/>
              </a:rPr>
              <a:t>中的项目成本管理</a:t>
            </a:r>
            <a:endParaRPr lang="zh-CN" altLang="en-US" sz="2400" b="1" dirty="0">
              <a:solidFill>
                <a:srgbClr val="01395C"/>
              </a:solidFill>
              <a:latin typeface="方正粗宋简体"/>
              <a:ea typeface="方正粗宋简体"/>
              <a:cs typeface="方正粗宋简体"/>
            </a:endParaRPr>
          </a:p>
        </p:txBody>
      </p:sp>
      <p:pic>
        <p:nvPicPr>
          <p:cNvPr id="5" name="图片 4"/>
          <p:cNvPicPr>
            <a:picLocks noChangeAspect="1"/>
          </p:cNvPicPr>
          <p:nvPr/>
        </p:nvPicPr>
        <p:blipFill>
          <a:blip r:embed="rId2"/>
          <a:stretch>
            <a:fillRect/>
          </a:stretch>
        </p:blipFill>
        <p:spPr>
          <a:xfrm>
            <a:off x="209015" y="792880"/>
            <a:ext cx="11773969" cy="3351281"/>
          </a:xfrm>
          <a:prstGeom prst="rect">
            <a:avLst/>
          </a:prstGeom>
        </p:spPr>
      </p:pic>
      <p:pic>
        <p:nvPicPr>
          <p:cNvPr id="9" name="图片 8"/>
          <p:cNvPicPr>
            <a:picLocks noChangeAspect="1"/>
          </p:cNvPicPr>
          <p:nvPr/>
        </p:nvPicPr>
        <p:blipFill>
          <a:blip r:embed="rId3"/>
          <a:stretch>
            <a:fillRect/>
          </a:stretch>
        </p:blipFill>
        <p:spPr>
          <a:xfrm>
            <a:off x="190616" y="4608657"/>
            <a:ext cx="11792368" cy="10990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5"/>
          <p:cNvSpPr txBox="1">
            <a:spLocks noChangeArrowheads="1"/>
          </p:cNvSpPr>
          <p:nvPr/>
        </p:nvSpPr>
        <p:spPr bwMode="auto">
          <a:xfrm>
            <a:off x="251699" y="42888"/>
            <a:ext cx="3984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微软雅黑" panose="020B0503020204020204" pitchFamily="34" charset="-122"/>
                <a:ea typeface="方正粗宋简体"/>
                <a:cs typeface="方正粗宋简体"/>
              </a:rPr>
              <a:t>PMBOK</a:t>
            </a:r>
            <a:r>
              <a:rPr lang="zh-CN" altLang="en-US" sz="2400" b="1" dirty="0">
                <a:solidFill>
                  <a:srgbClr val="01395C"/>
                </a:solidFill>
                <a:latin typeface="微软雅黑" panose="020B0503020204020204" pitchFamily="34" charset="-122"/>
                <a:ea typeface="方正粗宋简体"/>
                <a:cs typeface="方正粗宋简体"/>
              </a:rPr>
              <a:t>中的项目成本管理</a:t>
            </a:r>
            <a:endParaRPr lang="zh-CN" altLang="en-US" sz="2400" b="1" dirty="0">
              <a:solidFill>
                <a:srgbClr val="01395C"/>
              </a:solidFill>
              <a:latin typeface="方正粗宋简体"/>
              <a:ea typeface="方正粗宋简体"/>
              <a:cs typeface="方正粗宋简体"/>
            </a:endParaRPr>
          </a:p>
        </p:txBody>
      </p:sp>
      <p:pic>
        <p:nvPicPr>
          <p:cNvPr id="5" name="图片 4"/>
          <p:cNvPicPr>
            <a:picLocks noChangeAspect="1"/>
          </p:cNvPicPr>
          <p:nvPr/>
        </p:nvPicPr>
        <p:blipFill>
          <a:blip r:embed="rId2"/>
          <a:stretch>
            <a:fillRect/>
          </a:stretch>
        </p:blipFill>
        <p:spPr>
          <a:xfrm>
            <a:off x="1138742" y="716674"/>
            <a:ext cx="9914515" cy="6679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5"/>
          <p:cNvSpPr txBox="1">
            <a:spLocks noChangeArrowheads="1"/>
          </p:cNvSpPr>
          <p:nvPr/>
        </p:nvSpPr>
        <p:spPr bwMode="auto">
          <a:xfrm>
            <a:off x="251699" y="42888"/>
            <a:ext cx="3984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微软雅黑" panose="020B0503020204020204" pitchFamily="34" charset="-122"/>
                <a:ea typeface="方正粗宋简体"/>
                <a:cs typeface="方正粗宋简体"/>
              </a:rPr>
              <a:t>PMBOK</a:t>
            </a:r>
            <a:r>
              <a:rPr lang="zh-CN" altLang="en-US" sz="2400" b="1" dirty="0">
                <a:solidFill>
                  <a:srgbClr val="01395C"/>
                </a:solidFill>
                <a:latin typeface="微软雅黑" panose="020B0503020204020204" pitchFamily="34" charset="-122"/>
                <a:ea typeface="方正粗宋简体"/>
                <a:cs typeface="方正粗宋简体"/>
              </a:rPr>
              <a:t>中的项目成本管理</a:t>
            </a:r>
            <a:endParaRPr lang="zh-CN" altLang="en-US" sz="2400" b="1" dirty="0">
              <a:solidFill>
                <a:srgbClr val="01395C"/>
              </a:solidFill>
              <a:latin typeface="方正粗宋简体"/>
              <a:ea typeface="方正粗宋简体"/>
              <a:cs typeface="方正粗宋简体"/>
            </a:endParaRPr>
          </a:p>
        </p:txBody>
      </p:sp>
      <p:pic>
        <p:nvPicPr>
          <p:cNvPr id="7" name="图片 6"/>
          <p:cNvPicPr>
            <a:picLocks noChangeAspect="1"/>
          </p:cNvPicPr>
          <p:nvPr/>
        </p:nvPicPr>
        <p:blipFill>
          <a:blip r:embed="rId2"/>
          <a:stretch>
            <a:fillRect/>
          </a:stretch>
        </p:blipFill>
        <p:spPr>
          <a:xfrm>
            <a:off x="2971020" y="951525"/>
            <a:ext cx="3513670" cy="614620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66617" y="864066"/>
            <a:ext cx="11459455" cy="3540153"/>
          </a:xfrm>
          <a:prstGeom prst="rect">
            <a:avLst/>
          </a:prstGeom>
        </p:spPr>
      </p:pic>
      <p:sp>
        <p:nvSpPr>
          <p:cNvPr id="4" name="文本框 5"/>
          <p:cNvSpPr txBox="1">
            <a:spLocks noChangeArrowheads="1"/>
          </p:cNvSpPr>
          <p:nvPr/>
        </p:nvSpPr>
        <p:spPr bwMode="auto">
          <a:xfrm>
            <a:off x="251699" y="42888"/>
            <a:ext cx="3984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微软雅黑" panose="020B0503020204020204" pitchFamily="34" charset="-122"/>
                <a:ea typeface="方正粗宋简体"/>
                <a:cs typeface="方正粗宋简体"/>
              </a:rPr>
              <a:t>PMBOK</a:t>
            </a:r>
            <a:r>
              <a:rPr lang="zh-CN" altLang="en-US" sz="2400" b="1" dirty="0">
                <a:solidFill>
                  <a:srgbClr val="01395C"/>
                </a:solidFill>
                <a:latin typeface="微软雅黑" panose="020B0503020204020204" pitchFamily="34" charset="-122"/>
                <a:ea typeface="方正粗宋简体"/>
                <a:cs typeface="方正粗宋简体"/>
              </a:rPr>
              <a:t>中的项目成本管理</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2346419" y="5277241"/>
            <a:ext cx="800219"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400" dirty="0"/>
              <a:t>规模</a:t>
            </a:r>
          </a:p>
        </p:txBody>
      </p:sp>
      <p:sp>
        <p:nvSpPr>
          <p:cNvPr id="7" name="文本框 6"/>
          <p:cNvSpPr txBox="1"/>
          <p:nvPr/>
        </p:nvSpPr>
        <p:spPr>
          <a:xfrm>
            <a:off x="3521610" y="5277241"/>
            <a:ext cx="1107996"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400" dirty="0"/>
              <a:t>工作量</a:t>
            </a:r>
          </a:p>
        </p:txBody>
      </p:sp>
      <p:sp>
        <p:nvSpPr>
          <p:cNvPr id="8" name="文本框 7"/>
          <p:cNvSpPr txBox="1"/>
          <p:nvPr/>
        </p:nvSpPr>
        <p:spPr>
          <a:xfrm>
            <a:off x="5004578" y="5277241"/>
            <a:ext cx="1107996"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400" dirty="0"/>
              <a:t>时间表</a:t>
            </a:r>
          </a:p>
        </p:txBody>
      </p:sp>
      <p:sp>
        <p:nvSpPr>
          <p:cNvPr id="9" name="文本框 8"/>
          <p:cNvSpPr txBox="1"/>
          <p:nvPr/>
        </p:nvSpPr>
        <p:spPr>
          <a:xfrm>
            <a:off x="6719952" y="5738905"/>
            <a:ext cx="800219"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400" dirty="0"/>
              <a:t>成本</a:t>
            </a:r>
          </a:p>
        </p:txBody>
      </p:sp>
      <p:sp>
        <p:nvSpPr>
          <p:cNvPr id="10" name="文本框 9"/>
          <p:cNvSpPr txBox="1"/>
          <p:nvPr/>
        </p:nvSpPr>
        <p:spPr>
          <a:xfrm>
            <a:off x="6719952" y="4868683"/>
            <a:ext cx="800219"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400" dirty="0"/>
              <a:t>计划</a:t>
            </a:r>
          </a:p>
        </p:txBody>
      </p:sp>
      <p:sp>
        <p:nvSpPr>
          <p:cNvPr id="11" name="文本框 10"/>
          <p:cNvSpPr txBox="1"/>
          <p:nvPr/>
        </p:nvSpPr>
        <p:spPr>
          <a:xfrm>
            <a:off x="7891614" y="5738905"/>
            <a:ext cx="800219"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400" dirty="0"/>
              <a:t>报价</a:t>
            </a:r>
            <a:endParaRPr lang="en-US" altLang="zh-CN" sz="2400" dirty="0"/>
          </a:p>
        </p:txBody>
      </p:sp>
      <p:sp>
        <p:nvSpPr>
          <p:cNvPr id="12" name="文本框 11"/>
          <p:cNvSpPr txBox="1"/>
          <p:nvPr/>
        </p:nvSpPr>
        <p:spPr>
          <a:xfrm>
            <a:off x="7913750" y="4866022"/>
            <a:ext cx="800219"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400" dirty="0"/>
              <a:t>管理</a:t>
            </a:r>
          </a:p>
        </p:txBody>
      </p:sp>
      <p:sp>
        <p:nvSpPr>
          <p:cNvPr id="13" name="箭头: 右 12"/>
          <p:cNvSpPr/>
          <p:nvPr/>
        </p:nvSpPr>
        <p:spPr bwMode="auto">
          <a:xfrm>
            <a:off x="3179311" y="5445471"/>
            <a:ext cx="309626" cy="153392"/>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
        <p:nvSpPr>
          <p:cNvPr id="14" name="箭头: 右 13"/>
          <p:cNvSpPr/>
          <p:nvPr/>
        </p:nvSpPr>
        <p:spPr bwMode="auto">
          <a:xfrm>
            <a:off x="4684797" y="5478487"/>
            <a:ext cx="309626" cy="153392"/>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
        <p:nvSpPr>
          <p:cNvPr id="15" name="箭头: 右 14"/>
          <p:cNvSpPr/>
          <p:nvPr/>
        </p:nvSpPr>
        <p:spPr bwMode="auto">
          <a:xfrm rot="19966624">
            <a:off x="6183190" y="5252062"/>
            <a:ext cx="453682" cy="161781"/>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
        <p:nvSpPr>
          <p:cNvPr id="16" name="箭头: 右 15"/>
          <p:cNvSpPr/>
          <p:nvPr/>
        </p:nvSpPr>
        <p:spPr bwMode="auto">
          <a:xfrm rot="945106">
            <a:off x="6189422" y="5613725"/>
            <a:ext cx="453682" cy="161781"/>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
        <p:nvSpPr>
          <p:cNvPr id="17" name="箭头: 右 16"/>
          <p:cNvSpPr/>
          <p:nvPr/>
        </p:nvSpPr>
        <p:spPr bwMode="auto">
          <a:xfrm>
            <a:off x="7563030" y="5020158"/>
            <a:ext cx="309626" cy="153392"/>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
        <p:nvSpPr>
          <p:cNvPr id="18" name="箭头: 右 17"/>
          <p:cNvSpPr/>
          <p:nvPr/>
        </p:nvSpPr>
        <p:spPr bwMode="auto">
          <a:xfrm>
            <a:off x="7554861" y="5913518"/>
            <a:ext cx="309626" cy="153392"/>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
        <p:nvSpPr>
          <p:cNvPr id="19" name="文本框 18"/>
          <p:cNvSpPr txBox="1"/>
          <p:nvPr/>
        </p:nvSpPr>
        <p:spPr>
          <a:xfrm>
            <a:off x="1979802" y="6617745"/>
            <a:ext cx="1415772" cy="46166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sz="2400" dirty="0"/>
              <a:t>规模估算</a:t>
            </a:r>
          </a:p>
        </p:txBody>
      </p:sp>
      <p:sp>
        <p:nvSpPr>
          <p:cNvPr id="20" name="文本框 19"/>
          <p:cNvSpPr txBox="1"/>
          <p:nvPr/>
        </p:nvSpPr>
        <p:spPr>
          <a:xfrm>
            <a:off x="3868724" y="6617745"/>
            <a:ext cx="1723549" cy="46166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sz="2400" dirty="0"/>
              <a:t>工作量估算</a:t>
            </a:r>
          </a:p>
        </p:txBody>
      </p:sp>
      <p:sp>
        <p:nvSpPr>
          <p:cNvPr id="21" name="文本框 20"/>
          <p:cNvSpPr txBox="1"/>
          <p:nvPr/>
        </p:nvSpPr>
        <p:spPr>
          <a:xfrm>
            <a:off x="6065423" y="6601696"/>
            <a:ext cx="2031325" cy="46166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sz="2400" dirty="0"/>
              <a:t>开发工期估算</a:t>
            </a:r>
          </a:p>
        </p:txBody>
      </p:sp>
      <p:sp>
        <p:nvSpPr>
          <p:cNvPr id="22" name="文本框 21"/>
          <p:cNvSpPr txBox="1"/>
          <p:nvPr/>
        </p:nvSpPr>
        <p:spPr>
          <a:xfrm>
            <a:off x="8569898" y="6582921"/>
            <a:ext cx="1415772" cy="46166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sz="2400" dirty="0"/>
              <a:t>成本估算</a:t>
            </a:r>
          </a:p>
        </p:txBody>
      </p:sp>
      <p:sp>
        <p:nvSpPr>
          <p:cNvPr id="23" name="箭头: 右 22"/>
          <p:cNvSpPr/>
          <p:nvPr/>
        </p:nvSpPr>
        <p:spPr bwMode="auto">
          <a:xfrm>
            <a:off x="3477336" y="6795387"/>
            <a:ext cx="309626" cy="153392"/>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
        <p:nvSpPr>
          <p:cNvPr id="24" name="箭头: 右 23"/>
          <p:cNvSpPr/>
          <p:nvPr/>
        </p:nvSpPr>
        <p:spPr bwMode="auto">
          <a:xfrm>
            <a:off x="5685951" y="6786100"/>
            <a:ext cx="309626" cy="153392"/>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
        <p:nvSpPr>
          <p:cNvPr id="25" name="箭头: 右 24"/>
          <p:cNvSpPr/>
          <p:nvPr/>
        </p:nvSpPr>
        <p:spPr bwMode="auto">
          <a:xfrm>
            <a:off x="8184348" y="6785108"/>
            <a:ext cx="309626" cy="153392"/>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3432175" y="-109538"/>
            <a:ext cx="0" cy="7670801"/>
          </a:xfrm>
          <a:prstGeom prst="line">
            <a:avLst/>
          </a:prstGeom>
          <a:ln w="28575">
            <a:solidFill>
              <a:srgbClr val="25A2FF"/>
            </a:solidFill>
            <a:prstDash val="sys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p:cNvSpPr txBox="1">
            <a:spLocks noChangeArrowheads="1"/>
          </p:cNvSpPr>
          <p:nvPr/>
        </p:nvSpPr>
        <p:spPr bwMode="auto">
          <a:xfrm>
            <a:off x="4049713" y="1001713"/>
            <a:ext cx="2400651"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800" b="1" dirty="0">
                <a:solidFill>
                  <a:srgbClr val="C00000"/>
                </a:solidFill>
                <a:latin typeface="微软雅黑" panose="020B0503020204020204" pitchFamily="34" charset="-122"/>
              </a:rPr>
              <a:t>一、规模估算</a:t>
            </a:r>
            <a:endParaRPr lang="zh-CN" altLang="zh-CN" sz="2800" b="1" dirty="0">
              <a:solidFill>
                <a:srgbClr val="C00000"/>
              </a:solidFill>
              <a:latin typeface="微软雅黑" panose="020B0503020204020204" pitchFamily="34" charset="-122"/>
            </a:endParaRPr>
          </a:p>
        </p:txBody>
      </p:sp>
      <p:sp>
        <p:nvSpPr>
          <p:cNvPr id="5" name="TextBox 4"/>
          <p:cNvSpPr txBox="1">
            <a:spLocks noChangeArrowheads="1"/>
          </p:cNvSpPr>
          <p:nvPr/>
        </p:nvSpPr>
        <p:spPr bwMode="auto">
          <a:xfrm>
            <a:off x="3925888" y="3273425"/>
            <a:ext cx="2508053"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005EA4"/>
                </a:solidFill>
                <a:latin typeface="微软雅黑" panose="020B0503020204020204" pitchFamily="34" charset="-122"/>
              </a:rPr>
              <a:t>三、工期估算</a:t>
            </a:r>
            <a:endParaRPr lang="zh-CN" altLang="zh-CN" sz="2800" b="1" dirty="0">
              <a:solidFill>
                <a:srgbClr val="005EA4"/>
              </a:solidFill>
              <a:latin typeface="微软雅黑" panose="020B0503020204020204" pitchFamily="34" charset="-122"/>
            </a:endParaRPr>
          </a:p>
        </p:txBody>
      </p:sp>
      <p:sp>
        <p:nvSpPr>
          <p:cNvPr id="6" name="Rectangle 6"/>
          <p:cNvSpPr>
            <a:spLocks noChangeArrowheads="1"/>
          </p:cNvSpPr>
          <p:nvPr/>
        </p:nvSpPr>
        <p:spPr bwMode="auto">
          <a:xfrm>
            <a:off x="0" y="0"/>
            <a:ext cx="3246438" cy="7561263"/>
          </a:xfrm>
          <a:prstGeom prst="rect">
            <a:avLst/>
          </a:prstGeom>
          <a:solidFill>
            <a:srgbClr val="0070C0"/>
          </a:solidFill>
          <a:ln w="25400" algn="ctr">
            <a:noFill/>
            <a:miter lim="800000"/>
          </a:ln>
          <a:effectLst>
            <a:outerShdw blurRad="50800" dist="38100" dir="2700000" algn="tl" rotWithShape="0">
              <a:prstClr val="black">
                <a:alpha val="40000"/>
              </a:prstClr>
            </a:outerShdw>
          </a:effectLst>
        </p:spPr>
        <p:txBody>
          <a:bodyPr lIns="68589" tIns="34295" rIns="68589" bIns="34295" anchor="ctr"/>
          <a:lstStyle/>
          <a:p>
            <a:pPr algn="ctr" defTabSz="685800" fontAlgn="auto">
              <a:spcBef>
                <a:spcPts val="0"/>
              </a:spcBef>
              <a:spcAft>
                <a:spcPts val="0"/>
              </a:spcAft>
              <a:defRPr/>
            </a:pPr>
            <a:endParaRPr lang="en-US" altLang="zh-CN" sz="1400">
              <a:solidFill>
                <a:srgbClr val="FFFFFF"/>
              </a:solidFill>
              <a:latin typeface="Calibri" panose="020F0502020204030204" pitchFamily="34" charset="0"/>
              <a:ea typeface="+mn-ea"/>
            </a:endParaRPr>
          </a:p>
        </p:txBody>
      </p:sp>
      <p:sp>
        <p:nvSpPr>
          <p:cNvPr id="7" name="文本框 52"/>
          <p:cNvSpPr txBox="1">
            <a:spLocks noChangeArrowheads="1"/>
          </p:cNvSpPr>
          <p:nvPr/>
        </p:nvSpPr>
        <p:spPr bwMode="auto">
          <a:xfrm>
            <a:off x="430213" y="2336800"/>
            <a:ext cx="2376487" cy="323215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课</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程</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要</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求</a:t>
            </a:r>
          </a:p>
        </p:txBody>
      </p:sp>
      <p:sp>
        <p:nvSpPr>
          <p:cNvPr id="8" name="文本框 52"/>
          <p:cNvSpPr txBox="1">
            <a:spLocks noChangeArrowheads="1"/>
          </p:cNvSpPr>
          <p:nvPr/>
        </p:nvSpPr>
        <p:spPr bwMode="auto">
          <a:xfrm>
            <a:off x="-96838" y="608013"/>
            <a:ext cx="3430588" cy="498475"/>
          </a:xfrm>
          <a:prstGeom prst="rect">
            <a:avLst/>
          </a:prstGeom>
          <a:noFill/>
          <a:ln w="9525">
            <a:noFill/>
            <a:miter lim="800000"/>
          </a:ln>
        </p:spPr>
        <p:txBody>
          <a:bodyPr lIns="91450" tIns="45726" rIns="91450" bIns="45726">
            <a:spAutoFit/>
          </a:bodyPr>
          <a:lstStyle/>
          <a:p>
            <a:pPr algn="ctr" defTabSz="913765" fontAlgn="auto">
              <a:lnSpc>
                <a:spcPct val="120000"/>
              </a:lnSpc>
              <a:spcBef>
                <a:spcPts val="0"/>
              </a:spcBef>
              <a:spcAft>
                <a:spcPts val="0"/>
              </a:spcAft>
              <a:defRPr/>
            </a:pPr>
            <a:r>
              <a:rPr lang="zh-CN" altLang="en-US" sz="2400" b="1" spc="140" dirty="0">
                <a:solidFill>
                  <a:schemeClr val="bg1"/>
                </a:solidFill>
                <a:effectLst>
                  <a:outerShdw blurRad="38100" dist="38100" dir="2700000" algn="tl">
                    <a:srgbClr val="000000">
                      <a:alpha val="43137"/>
                    </a:srgbClr>
                  </a:outerShdw>
                </a:effectLst>
                <a:latin typeface="微软雅黑" panose="020B0503020204020204" pitchFamily="34" charset="-122"/>
              </a:rPr>
              <a:t>成本管理</a:t>
            </a:r>
          </a:p>
        </p:txBody>
      </p:sp>
      <p:sp>
        <p:nvSpPr>
          <p:cNvPr id="9" name="文本框 52"/>
          <p:cNvSpPr txBox="1">
            <a:spLocks noChangeArrowheads="1"/>
          </p:cNvSpPr>
          <p:nvPr/>
        </p:nvSpPr>
        <p:spPr bwMode="auto">
          <a:xfrm>
            <a:off x="166688" y="6718300"/>
            <a:ext cx="2952750" cy="36830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山东建筑大学</a:t>
            </a:r>
          </a:p>
        </p:txBody>
      </p:sp>
      <p:cxnSp>
        <p:nvCxnSpPr>
          <p:cNvPr id="22" name="直接连接符 21"/>
          <p:cNvCxnSpPr/>
          <p:nvPr/>
        </p:nvCxnSpPr>
        <p:spPr>
          <a:xfrm>
            <a:off x="3476625" y="41560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9" name="TextBox 3"/>
          <p:cNvSpPr txBox="1">
            <a:spLocks noChangeArrowheads="1"/>
          </p:cNvSpPr>
          <p:nvPr/>
        </p:nvSpPr>
        <p:spPr bwMode="auto">
          <a:xfrm>
            <a:off x="4011613" y="2084388"/>
            <a:ext cx="2759724"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800" b="1" dirty="0">
                <a:solidFill>
                  <a:srgbClr val="005EA4"/>
                </a:solidFill>
                <a:latin typeface="微软雅黑" panose="020B0503020204020204" pitchFamily="34" charset="-122"/>
              </a:rPr>
              <a:t>二、工作量估算</a:t>
            </a:r>
            <a:endParaRPr lang="zh-CN" altLang="zh-CN" sz="2800" b="1" dirty="0">
              <a:solidFill>
                <a:srgbClr val="005EA4"/>
              </a:solidFill>
              <a:latin typeface="微软雅黑" panose="020B0503020204020204" pitchFamily="34" charset="-122"/>
            </a:endParaRPr>
          </a:p>
        </p:txBody>
      </p:sp>
      <p:cxnSp>
        <p:nvCxnSpPr>
          <p:cNvPr id="21" name="直接连接符 20"/>
          <p:cNvCxnSpPr/>
          <p:nvPr/>
        </p:nvCxnSpPr>
        <p:spPr>
          <a:xfrm>
            <a:off x="3459163" y="2911475"/>
            <a:ext cx="5853112"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48063" y="1828800"/>
            <a:ext cx="5851525"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524250" y="763588"/>
            <a:ext cx="5851525" cy="20637"/>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432175" y="526732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6" name="TextBox 4"/>
          <p:cNvSpPr txBox="1">
            <a:spLocks noChangeArrowheads="1"/>
          </p:cNvSpPr>
          <p:nvPr/>
        </p:nvSpPr>
        <p:spPr bwMode="auto">
          <a:xfrm>
            <a:off x="3965575" y="4340225"/>
            <a:ext cx="2508053"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005EA4"/>
                </a:solidFill>
                <a:latin typeface="微软雅黑" panose="020B0503020204020204" pitchFamily="34" charset="-122"/>
              </a:rPr>
              <a:t>四、成本估算</a:t>
            </a:r>
            <a:endParaRPr lang="zh-CN" altLang="zh-CN" sz="2800" b="1" dirty="0">
              <a:solidFill>
                <a:srgbClr val="005EA4"/>
              </a:solidFill>
              <a:latin typeface="微软雅黑" panose="020B0503020204020204" pitchFamily="34" charset="-122"/>
            </a:endParaRPr>
          </a:p>
        </p:txBody>
      </p:sp>
      <p:cxnSp>
        <p:nvCxnSpPr>
          <p:cNvPr id="17" name="直接连接符 16"/>
          <p:cNvCxnSpPr/>
          <p:nvPr/>
        </p:nvCxnSpPr>
        <p:spPr>
          <a:xfrm>
            <a:off x="3476625" y="63785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规模估算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706437" y="997112"/>
            <a:ext cx="10779125" cy="556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0">
              <a:lnSpc>
                <a:spcPct val="150000"/>
              </a:lnSpc>
            </a:pPr>
            <a:r>
              <a:rPr lang="zh-CN" altLang="en-US" sz="2400" dirty="0">
                <a:latin typeface="+mn-ea"/>
                <a:ea typeface="+mn-ea"/>
              </a:rPr>
              <a:t>衡量软件规模最常用的单位：</a:t>
            </a:r>
          </a:p>
          <a:p>
            <a:pPr>
              <a:lnSpc>
                <a:spcPct val="150000"/>
              </a:lnSpc>
              <a:buFont typeface="Arial" panose="020B0604020202020204" pitchFamily="34" charset="0"/>
              <a:buChar char="•"/>
            </a:pPr>
            <a:r>
              <a:rPr lang="zh-CN" altLang="en-US" sz="2400" dirty="0">
                <a:solidFill>
                  <a:srgbClr val="C00000"/>
                </a:solidFill>
                <a:latin typeface="+mn-ea"/>
                <a:ea typeface="+mn-ea"/>
              </a:rPr>
              <a:t>源代码行数（</a:t>
            </a:r>
            <a:r>
              <a:rPr lang="en-US" altLang="zh-CN" sz="2400" dirty="0">
                <a:solidFill>
                  <a:srgbClr val="C00000"/>
                </a:solidFill>
                <a:latin typeface="+mn-ea"/>
                <a:ea typeface="+mn-ea"/>
              </a:rPr>
              <a:t>Line of Code</a:t>
            </a:r>
            <a:r>
              <a:rPr lang="zh-CN" altLang="en-US" sz="2400" dirty="0">
                <a:solidFill>
                  <a:srgbClr val="C00000"/>
                </a:solidFill>
                <a:latin typeface="+mn-ea"/>
                <a:ea typeface="+mn-ea"/>
              </a:rPr>
              <a:t>，</a:t>
            </a:r>
            <a:r>
              <a:rPr lang="en-US" altLang="zh-CN" sz="2400" dirty="0">
                <a:solidFill>
                  <a:srgbClr val="C00000"/>
                </a:solidFill>
                <a:latin typeface="+mn-ea"/>
                <a:ea typeface="+mn-ea"/>
              </a:rPr>
              <a:t>LOC</a:t>
            </a:r>
            <a:r>
              <a:rPr lang="zh-CN" altLang="en-US" sz="2400" dirty="0">
                <a:solidFill>
                  <a:srgbClr val="C00000"/>
                </a:solidFill>
                <a:latin typeface="+mn-ea"/>
                <a:ea typeface="+mn-ea"/>
              </a:rPr>
              <a:t>）</a:t>
            </a:r>
            <a:endParaRPr lang="en-US" altLang="zh-CN" sz="2400" dirty="0">
              <a:latin typeface="+mn-ea"/>
              <a:ea typeface="+mn-ea"/>
            </a:endParaRPr>
          </a:p>
          <a:p>
            <a:pPr>
              <a:lnSpc>
                <a:spcPct val="150000"/>
              </a:lnSpc>
              <a:buFont typeface="Arial" panose="020B0604020202020204" pitchFamily="34" charset="0"/>
              <a:buChar char="•"/>
            </a:pPr>
            <a:r>
              <a:rPr lang="zh-CN" altLang="en-US" sz="2400" dirty="0">
                <a:solidFill>
                  <a:srgbClr val="C00000"/>
                </a:solidFill>
                <a:latin typeface="+mn-ea"/>
                <a:ea typeface="+mn-ea"/>
              </a:rPr>
              <a:t>功能点数（</a:t>
            </a:r>
            <a:r>
              <a:rPr lang="en-US" altLang="zh-CN" sz="2400" dirty="0">
                <a:solidFill>
                  <a:srgbClr val="C00000"/>
                </a:solidFill>
                <a:latin typeface="+mn-ea"/>
                <a:ea typeface="+mn-ea"/>
              </a:rPr>
              <a:t>Function Point</a:t>
            </a:r>
            <a:r>
              <a:rPr lang="zh-CN" altLang="en-US" sz="2400" dirty="0">
                <a:solidFill>
                  <a:srgbClr val="C00000"/>
                </a:solidFill>
                <a:latin typeface="+mn-ea"/>
                <a:ea typeface="+mn-ea"/>
              </a:rPr>
              <a:t>，</a:t>
            </a:r>
            <a:r>
              <a:rPr lang="en-US" altLang="zh-CN" sz="2400" dirty="0">
                <a:solidFill>
                  <a:srgbClr val="C00000"/>
                </a:solidFill>
                <a:latin typeface="+mn-ea"/>
                <a:ea typeface="+mn-ea"/>
              </a:rPr>
              <a:t>FP</a:t>
            </a:r>
            <a:r>
              <a:rPr lang="zh-CN" altLang="en-US" sz="2400" dirty="0">
                <a:solidFill>
                  <a:srgbClr val="C00000"/>
                </a:solidFill>
                <a:latin typeface="+mn-ea"/>
                <a:ea typeface="+mn-ea"/>
              </a:rPr>
              <a:t>）</a:t>
            </a:r>
            <a:endParaRPr lang="en-US" altLang="zh-CN" sz="2400" dirty="0">
              <a:solidFill>
                <a:srgbClr val="C00000"/>
              </a:solidFill>
              <a:latin typeface="+mn-ea"/>
              <a:ea typeface="+mn-ea"/>
            </a:endParaRPr>
          </a:p>
          <a:p>
            <a:pPr marL="0" indent="0">
              <a:lnSpc>
                <a:spcPct val="150000"/>
              </a:lnSpc>
            </a:pPr>
            <a:endParaRPr lang="zh-CN" altLang="en-US" sz="2400" dirty="0">
              <a:latin typeface="+mn-ea"/>
              <a:ea typeface="+mn-ea"/>
            </a:endParaRPr>
          </a:p>
          <a:p>
            <a:pPr marL="0" indent="0">
              <a:lnSpc>
                <a:spcPct val="150000"/>
              </a:lnSpc>
            </a:pPr>
            <a:r>
              <a:rPr lang="en-US" altLang="zh-CN" sz="2400" dirty="0">
                <a:solidFill>
                  <a:srgbClr val="C00000"/>
                </a:solidFill>
                <a:latin typeface="+mn-ea"/>
                <a:ea typeface="+mn-ea"/>
              </a:rPr>
              <a:t>LOC</a:t>
            </a:r>
            <a:r>
              <a:rPr lang="zh-CN" altLang="en-US" sz="2400" dirty="0">
                <a:latin typeface="+mn-ea"/>
                <a:ea typeface="+mn-ea"/>
              </a:rPr>
              <a:t>是指所有的可执行的源代码行，包括</a:t>
            </a:r>
            <a:endParaRPr lang="en-US" altLang="zh-CN" sz="2400" dirty="0">
              <a:latin typeface="+mn-ea"/>
              <a:ea typeface="+mn-ea"/>
            </a:endParaRPr>
          </a:p>
          <a:p>
            <a:pPr>
              <a:lnSpc>
                <a:spcPct val="150000"/>
              </a:lnSpc>
              <a:buFont typeface="Arial" panose="020B0604020202020204" pitchFamily="34" charset="0"/>
              <a:buChar char="•"/>
            </a:pPr>
            <a:r>
              <a:rPr lang="zh-CN" altLang="en-US" sz="2400" dirty="0">
                <a:latin typeface="+mn-ea"/>
                <a:ea typeface="+mn-ea"/>
              </a:rPr>
              <a:t>可交付的工作控制语言（</a:t>
            </a:r>
            <a:r>
              <a:rPr lang="en-US" altLang="zh-CN" sz="2400" dirty="0">
                <a:latin typeface="+mn-ea"/>
                <a:ea typeface="+mn-ea"/>
              </a:rPr>
              <a:t>Job Control Language</a:t>
            </a:r>
            <a:r>
              <a:rPr lang="zh-CN" altLang="en-US" sz="2400" dirty="0">
                <a:latin typeface="+mn-ea"/>
                <a:ea typeface="+mn-ea"/>
              </a:rPr>
              <a:t>，</a:t>
            </a:r>
            <a:r>
              <a:rPr lang="en-US" altLang="zh-CN" sz="2400" dirty="0">
                <a:latin typeface="+mn-ea"/>
                <a:ea typeface="+mn-ea"/>
              </a:rPr>
              <a:t>JCL</a:t>
            </a:r>
            <a:r>
              <a:rPr lang="zh-CN" altLang="en-US" sz="2400" dirty="0">
                <a:latin typeface="+mn-ea"/>
                <a:ea typeface="+mn-ea"/>
              </a:rPr>
              <a:t>）语句、</a:t>
            </a:r>
            <a:endParaRPr lang="en-US" altLang="zh-CN" sz="2400" dirty="0">
              <a:latin typeface="+mn-ea"/>
              <a:ea typeface="+mn-ea"/>
            </a:endParaRPr>
          </a:p>
          <a:p>
            <a:pPr>
              <a:lnSpc>
                <a:spcPct val="150000"/>
              </a:lnSpc>
              <a:buFont typeface="Arial" panose="020B0604020202020204" pitchFamily="34" charset="0"/>
              <a:buChar char="•"/>
            </a:pPr>
            <a:r>
              <a:rPr lang="zh-CN" altLang="en-US" sz="2400" dirty="0">
                <a:latin typeface="+mn-ea"/>
                <a:ea typeface="+mn-ea"/>
              </a:rPr>
              <a:t>数据定义、</a:t>
            </a:r>
            <a:endParaRPr lang="en-US" altLang="zh-CN" sz="2400" dirty="0">
              <a:latin typeface="+mn-ea"/>
              <a:ea typeface="+mn-ea"/>
            </a:endParaRPr>
          </a:p>
          <a:p>
            <a:pPr>
              <a:lnSpc>
                <a:spcPct val="150000"/>
              </a:lnSpc>
              <a:buFont typeface="Arial" panose="020B0604020202020204" pitchFamily="34" charset="0"/>
              <a:buChar char="•"/>
            </a:pPr>
            <a:r>
              <a:rPr lang="zh-CN" altLang="en-US" sz="2400" dirty="0">
                <a:latin typeface="+mn-ea"/>
                <a:ea typeface="+mn-ea"/>
              </a:rPr>
              <a:t>数据类型声明、</a:t>
            </a:r>
            <a:endParaRPr lang="en-US" altLang="zh-CN" sz="2400" dirty="0">
              <a:latin typeface="+mn-ea"/>
              <a:ea typeface="+mn-ea"/>
            </a:endParaRPr>
          </a:p>
          <a:p>
            <a:pPr>
              <a:lnSpc>
                <a:spcPct val="150000"/>
              </a:lnSpc>
              <a:buFont typeface="Arial" panose="020B0604020202020204" pitchFamily="34" charset="0"/>
              <a:buChar char="•"/>
            </a:pPr>
            <a:r>
              <a:rPr lang="zh-CN" altLang="en-US" sz="2400" dirty="0">
                <a:latin typeface="+mn-ea"/>
                <a:ea typeface="+mn-ea"/>
              </a:rPr>
              <a:t>等价声明、</a:t>
            </a:r>
            <a:endParaRPr lang="en-US" altLang="zh-CN" sz="2400" dirty="0">
              <a:latin typeface="+mn-ea"/>
              <a:ea typeface="+mn-ea"/>
            </a:endParaRPr>
          </a:p>
          <a:p>
            <a:pPr>
              <a:lnSpc>
                <a:spcPct val="150000"/>
              </a:lnSpc>
              <a:buFont typeface="Arial" panose="020B0604020202020204" pitchFamily="34" charset="0"/>
              <a:buChar char="•"/>
            </a:pPr>
            <a:r>
              <a:rPr lang="zh-CN" altLang="en-US" sz="2400" dirty="0">
                <a:latin typeface="+mn-ea"/>
                <a:ea typeface="+mn-ea"/>
              </a:rPr>
              <a:t>输入</a:t>
            </a:r>
            <a:r>
              <a:rPr lang="en-US" altLang="zh-CN" sz="2400" dirty="0">
                <a:latin typeface="+mn-ea"/>
                <a:ea typeface="+mn-ea"/>
              </a:rPr>
              <a:t>/</a:t>
            </a:r>
            <a:r>
              <a:rPr lang="zh-CN" altLang="en-US" sz="2400" dirty="0">
                <a:latin typeface="+mn-ea"/>
                <a:ea typeface="+mn-ea"/>
              </a:rPr>
              <a:t>输出格式声明等。</a:t>
            </a:r>
            <a:endParaRPr lang="en-US" altLang="zh-CN" sz="2400" dirty="0">
              <a:latin typeface="+mn-ea"/>
              <a:ea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4" y="943"/>
            <a:ext cx="11368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规模估算</a:t>
            </a:r>
            <a:r>
              <a:rPr lang="en-US" altLang="zh-CN" sz="2400" b="1" dirty="0">
                <a:solidFill>
                  <a:srgbClr val="01395C"/>
                </a:solidFill>
                <a:latin typeface="微软雅黑" panose="020B0503020204020204" pitchFamily="34" charset="-122"/>
                <a:cs typeface="方正粗宋简体"/>
              </a:rPr>
              <a:t>–</a:t>
            </a:r>
            <a:r>
              <a:rPr lang="zh-CN" altLang="en-US" sz="2400" b="1" dirty="0">
                <a:solidFill>
                  <a:srgbClr val="01395C"/>
                </a:solidFill>
                <a:latin typeface="微软雅黑" panose="020B0503020204020204" pitchFamily="34" charset="-122"/>
                <a:ea typeface="方正粗宋简体"/>
                <a:cs typeface="方正粗宋简体"/>
              </a:rPr>
              <a:t>德尔菲（</a:t>
            </a:r>
            <a:r>
              <a:rPr lang="en-US" altLang="zh-CN" sz="2400" b="1" dirty="0">
                <a:solidFill>
                  <a:srgbClr val="01395C"/>
                </a:solidFill>
                <a:latin typeface="微软雅黑" panose="020B0503020204020204" pitchFamily="34" charset="-122"/>
                <a:ea typeface="方正粗宋简体"/>
                <a:cs typeface="方正粗宋简体"/>
              </a:rPr>
              <a:t>Delphi</a:t>
            </a:r>
            <a:r>
              <a:rPr lang="zh-CN" altLang="en-US" sz="2400" b="1" dirty="0">
                <a:solidFill>
                  <a:srgbClr val="01395C"/>
                </a:solidFill>
                <a:latin typeface="微软雅黑" panose="020B0503020204020204" pitchFamily="34" charset="-122"/>
                <a:ea typeface="方正粗宋简体"/>
                <a:cs typeface="方正粗宋简体"/>
              </a:rPr>
              <a:t>）方法</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606286" y="737053"/>
            <a:ext cx="10979427" cy="612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575945">
              <a:lnSpc>
                <a:spcPct val="150000"/>
              </a:lnSpc>
            </a:pPr>
            <a:r>
              <a:rPr lang="zh-CN" altLang="en-US" sz="2400" dirty="0">
                <a:latin typeface="+mn-ea"/>
                <a:ea typeface="+mn-ea"/>
              </a:rPr>
              <a:t>兰德公司（</a:t>
            </a:r>
            <a:r>
              <a:rPr lang="en-US" altLang="zh-CN" sz="2400" dirty="0">
                <a:latin typeface="+mn-ea"/>
                <a:ea typeface="+mn-ea"/>
              </a:rPr>
              <a:t>Rand</a:t>
            </a:r>
            <a:r>
              <a:rPr lang="zh-CN" altLang="en-US" sz="2400" dirty="0">
                <a:latin typeface="+mn-ea"/>
                <a:ea typeface="+mn-ea"/>
              </a:rPr>
              <a:t>）于</a:t>
            </a:r>
            <a:r>
              <a:rPr lang="en-US" altLang="zh-CN" sz="2400" dirty="0">
                <a:latin typeface="+mn-ea"/>
                <a:ea typeface="+mn-ea"/>
              </a:rPr>
              <a:t>1948</a:t>
            </a:r>
            <a:r>
              <a:rPr lang="zh-CN" altLang="en-US" sz="2400" dirty="0">
                <a:latin typeface="+mn-ea"/>
                <a:ea typeface="+mn-ea"/>
              </a:rPr>
              <a:t>年提出</a:t>
            </a:r>
            <a:r>
              <a:rPr lang="zh-CN" altLang="en-US" sz="2400" dirty="0">
                <a:solidFill>
                  <a:srgbClr val="C00000"/>
                </a:solidFill>
                <a:latin typeface="+mn-ea"/>
                <a:ea typeface="+mn-ea"/>
              </a:rPr>
              <a:t>德尔菲</a:t>
            </a:r>
            <a:r>
              <a:rPr lang="zh-CN" altLang="en-US" sz="2400" dirty="0">
                <a:latin typeface="+mn-ea"/>
                <a:ea typeface="+mn-ea"/>
              </a:rPr>
              <a:t>（</a:t>
            </a:r>
            <a:r>
              <a:rPr lang="en-US" altLang="zh-CN" sz="2400" dirty="0">
                <a:latin typeface="+mn-ea"/>
                <a:ea typeface="+mn-ea"/>
              </a:rPr>
              <a:t>Wideband </a:t>
            </a:r>
            <a:r>
              <a:rPr lang="en-US" altLang="zh-CN" sz="2400" dirty="0">
                <a:solidFill>
                  <a:srgbClr val="C00000"/>
                </a:solidFill>
                <a:latin typeface="+mn-ea"/>
                <a:ea typeface="+mn-ea"/>
              </a:rPr>
              <a:t>Delphi</a:t>
            </a:r>
            <a:r>
              <a:rPr lang="zh-CN" altLang="en-US" sz="2400" dirty="0">
                <a:latin typeface="+mn-ea"/>
                <a:ea typeface="+mn-ea"/>
              </a:rPr>
              <a:t>）方法，它是一种预测未来的手段，故以古希腊神谕所在的地方（</a:t>
            </a:r>
            <a:r>
              <a:rPr lang="en-US" altLang="zh-CN" sz="2400" dirty="0">
                <a:latin typeface="+mn-ea"/>
                <a:ea typeface="+mn-ea"/>
              </a:rPr>
              <a:t>Delphi</a:t>
            </a:r>
            <a:r>
              <a:rPr lang="zh-CN" altLang="en-US" sz="2400" dirty="0">
                <a:latin typeface="+mn-ea"/>
                <a:ea typeface="+mn-ea"/>
              </a:rPr>
              <a:t>）来命名，该方法最初用于军事目的，很快就被推广到其他的领域，为保证该方法的成功实施，对传统德尔菲步骤进行了扩充和细化。</a:t>
            </a:r>
            <a:endParaRPr lang="en-US" altLang="zh-CN" sz="2400" dirty="0">
              <a:latin typeface="+mn-ea"/>
              <a:ea typeface="+mn-ea"/>
            </a:endParaRPr>
          </a:p>
          <a:p>
            <a:pPr marL="457200" indent="-457200">
              <a:lnSpc>
                <a:spcPct val="150000"/>
              </a:lnSpc>
              <a:buFont typeface="+mj-lt"/>
              <a:buAutoNum type="arabicPeriod"/>
            </a:pPr>
            <a:r>
              <a:rPr lang="zh-CN" altLang="en-US" sz="2400" dirty="0">
                <a:latin typeface="+mn-ea"/>
                <a:ea typeface="+mn-ea"/>
              </a:rPr>
              <a:t>协调员给每位专家一份规格说明书和一张记录估计值的表格。</a:t>
            </a:r>
            <a:endParaRPr lang="en-US" altLang="zh-CN" sz="2400" dirty="0">
              <a:latin typeface="+mn-ea"/>
              <a:ea typeface="+mn-ea"/>
            </a:endParaRPr>
          </a:p>
          <a:p>
            <a:pPr marL="457200" indent="-457200">
              <a:lnSpc>
                <a:spcPct val="150000"/>
              </a:lnSpc>
              <a:buFont typeface="+mj-lt"/>
              <a:buAutoNum type="arabicPeriod"/>
            </a:pPr>
            <a:r>
              <a:rPr lang="zh-CN" altLang="en-US" sz="2400" dirty="0">
                <a:latin typeface="+mn-ea"/>
                <a:ea typeface="+mn-ea"/>
              </a:rPr>
              <a:t>协调员召集小组会议，专家与协调员以及专家之间对估计问题进行讨论。</a:t>
            </a:r>
            <a:endParaRPr lang="en-US" altLang="zh-CN" sz="2400" dirty="0">
              <a:latin typeface="+mn-ea"/>
              <a:ea typeface="+mn-ea"/>
            </a:endParaRPr>
          </a:p>
          <a:p>
            <a:pPr marL="457200" indent="-457200">
              <a:lnSpc>
                <a:spcPct val="150000"/>
              </a:lnSpc>
              <a:buFont typeface="+mj-lt"/>
              <a:buAutoNum type="arabicPeriod"/>
            </a:pPr>
            <a:r>
              <a:rPr lang="zh-CN" altLang="en-US" sz="2400" dirty="0">
                <a:latin typeface="+mn-ea"/>
                <a:ea typeface="+mn-ea"/>
              </a:rPr>
              <a:t>专家无记名地填写表格。</a:t>
            </a:r>
            <a:endParaRPr lang="en-US" altLang="zh-CN" sz="2400" dirty="0">
              <a:latin typeface="+mn-ea"/>
              <a:ea typeface="+mn-ea"/>
            </a:endParaRPr>
          </a:p>
          <a:p>
            <a:pPr marL="457200" indent="-457200">
              <a:lnSpc>
                <a:spcPct val="150000"/>
              </a:lnSpc>
              <a:buFont typeface="+mj-lt"/>
              <a:buAutoNum type="arabicPeriod"/>
            </a:pPr>
            <a:r>
              <a:rPr lang="zh-CN" altLang="en-US" sz="2400" dirty="0">
                <a:latin typeface="+mn-ea"/>
                <a:ea typeface="+mn-ea"/>
              </a:rPr>
              <a:t>协调员对专家填写在表上的估计结果进行小结。</a:t>
            </a:r>
            <a:endParaRPr lang="en-US" altLang="zh-CN" sz="2400" dirty="0">
              <a:latin typeface="+mn-ea"/>
              <a:ea typeface="+mn-ea"/>
            </a:endParaRPr>
          </a:p>
          <a:p>
            <a:pPr marL="457200" indent="-457200">
              <a:lnSpc>
                <a:spcPct val="150000"/>
              </a:lnSpc>
              <a:buFont typeface="+mj-lt"/>
              <a:buAutoNum type="arabicPeriod"/>
            </a:pPr>
            <a:r>
              <a:rPr lang="zh-CN" altLang="en-US" sz="2400" dirty="0">
                <a:latin typeface="+mn-ea"/>
                <a:ea typeface="+mn-ea"/>
              </a:rPr>
              <a:t>协调员召集小组会议，让专家对差异很大的估计项进行讨论。</a:t>
            </a:r>
            <a:endParaRPr lang="en-US" altLang="zh-CN" sz="2400" dirty="0">
              <a:latin typeface="+mn-ea"/>
              <a:ea typeface="+mn-ea"/>
            </a:endParaRPr>
          </a:p>
          <a:p>
            <a:pPr marL="457200" indent="-457200">
              <a:lnSpc>
                <a:spcPct val="150000"/>
              </a:lnSpc>
              <a:buFont typeface="+mj-lt"/>
              <a:buAutoNum type="arabicPeriod"/>
            </a:pPr>
            <a:r>
              <a:rPr lang="zh-CN" altLang="en-US" sz="2400" dirty="0">
                <a:latin typeface="+mn-ea"/>
                <a:ea typeface="+mn-ea"/>
              </a:rPr>
              <a:t>专家重新无记名地填写表格，该过程要适当地重复多轮。</a:t>
            </a:r>
          </a:p>
          <a:p>
            <a:pPr>
              <a:lnSpc>
                <a:spcPct val="150000"/>
              </a:lnSpc>
              <a:buFont typeface="Arial" panose="020B0604020202020204" pitchFamily="34" charset="0"/>
              <a:buChar char="•"/>
            </a:pPr>
            <a:endParaRPr lang="en-US" altLang="zh-CN" sz="2400" dirty="0">
              <a:latin typeface="+mn-ea"/>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4" y="1578"/>
            <a:ext cx="11368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FF0000"/>
                </a:solidFill>
                <a:latin typeface="微软雅黑" panose="020B0503020204020204" pitchFamily="34" charset="-122"/>
                <a:ea typeface="方正粗宋简体"/>
                <a:cs typeface="方正粗宋简体"/>
              </a:rPr>
              <a:t>规模估算</a:t>
            </a:r>
            <a:r>
              <a:rPr lang="en-US" altLang="zh-CN" sz="2400" b="1" dirty="0">
                <a:solidFill>
                  <a:srgbClr val="FF0000"/>
                </a:solidFill>
                <a:latin typeface="微软雅黑" panose="020B0503020204020204" pitchFamily="34" charset="-122"/>
                <a:cs typeface="方正粗宋简体"/>
              </a:rPr>
              <a:t>–</a:t>
            </a:r>
            <a:r>
              <a:rPr lang="zh-CN" altLang="en-US" sz="2400" b="1" dirty="0">
                <a:solidFill>
                  <a:srgbClr val="FF0000"/>
                </a:solidFill>
                <a:latin typeface="微软雅黑" panose="020B0503020204020204" pitchFamily="34" charset="-122"/>
                <a:ea typeface="方正粗宋简体"/>
                <a:cs typeface="方正粗宋简体"/>
              </a:rPr>
              <a:t>德尔菲（</a:t>
            </a:r>
            <a:r>
              <a:rPr lang="en-US" altLang="zh-CN" sz="2400" b="1" dirty="0">
                <a:solidFill>
                  <a:srgbClr val="FF0000"/>
                </a:solidFill>
                <a:latin typeface="微软雅黑" panose="020B0503020204020204" pitchFamily="34" charset="-122"/>
                <a:ea typeface="方正粗宋简体"/>
                <a:cs typeface="方正粗宋简体"/>
              </a:rPr>
              <a:t>Delphi</a:t>
            </a:r>
            <a:r>
              <a:rPr lang="zh-CN" altLang="en-US" sz="2400" b="1" dirty="0">
                <a:solidFill>
                  <a:srgbClr val="FF0000"/>
                </a:solidFill>
                <a:latin typeface="微软雅黑" panose="020B0503020204020204" pitchFamily="34" charset="-122"/>
                <a:ea typeface="方正粗宋简体"/>
                <a:cs typeface="方正粗宋简体"/>
              </a:rPr>
              <a:t>）方法</a:t>
            </a:r>
          </a:p>
        </p:txBody>
      </p:sp>
      <p:sp>
        <p:nvSpPr>
          <p:cNvPr id="8196" name="文本框 1"/>
          <p:cNvSpPr txBox="1">
            <a:spLocks noChangeArrowheads="1"/>
          </p:cNvSpPr>
          <p:nvPr/>
        </p:nvSpPr>
        <p:spPr bwMode="auto">
          <a:xfrm>
            <a:off x="606286" y="737053"/>
            <a:ext cx="10979427"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buFont typeface="Arial" panose="020B0604020202020204" pitchFamily="34" charset="0"/>
              <a:buChar char="•"/>
            </a:pPr>
            <a:endParaRPr lang="en-US" altLang="zh-CN" sz="2400" dirty="0">
              <a:latin typeface="+mn-ea"/>
              <a:ea typeface="+mn-ea"/>
            </a:endParaRPr>
          </a:p>
        </p:txBody>
      </p:sp>
      <p:graphicFrame>
        <p:nvGraphicFramePr>
          <p:cNvPr id="2" name="表格 2"/>
          <p:cNvGraphicFramePr>
            <a:graphicFrameLocks noGrp="1"/>
          </p:cNvGraphicFramePr>
          <p:nvPr/>
        </p:nvGraphicFramePr>
        <p:xfrm>
          <a:off x="671117" y="1071298"/>
          <a:ext cx="11056690" cy="2773680"/>
        </p:xfrm>
        <a:graphic>
          <a:graphicData uri="http://schemas.openxmlformats.org/drawingml/2006/table">
            <a:tbl>
              <a:tblPr firstRow="1" bandRow="1">
                <a:tableStyleId>{5C22544A-7EE6-4342-B048-85BDC9FD1C3A}</a:tableStyleId>
              </a:tblPr>
              <a:tblGrid>
                <a:gridCol w="1105669">
                  <a:extLst>
                    <a:ext uri="{9D8B030D-6E8A-4147-A177-3AD203B41FA5}">
                      <a16:colId xmlns:a16="http://schemas.microsoft.com/office/drawing/2014/main" val="20000"/>
                    </a:ext>
                  </a:extLst>
                </a:gridCol>
                <a:gridCol w="1105669">
                  <a:extLst>
                    <a:ext uri="{9D8B030D-6E8A-4147-A177-3AD203B41FA5}">
                      <a16:colId xmlns:a16="http://schemas.microsoft.com/office/drawing/2014/main" val="20001"/>
                    </a:ext>
                  </a:extLst>
                </a:gridCol>
                <a:gridCol w="1105669">
                  <a:extLst>
                    <a:ext uri="{9D8B030D-6E8A-4147-A177-3AD203B41FA5}">
                      <a16:colId xmlns:a16="http://schemas.microsoft.com/office/drawing/2014/main" val="20002"/>
                    </a:ext>
                  </a:extLst>
                </a:gridCol>
                <a:gridCol w="1105669">
                  <a:extLst>
                    <a:ext uri="{9D8B030D-6E8A-4147-A177-3AD203B41FA5}">
                      <a16:colId xmlns:a16="http://schemas.microsoft.com/office/drawing/2014/main" val="20003"/>
                    </a:ext>
                  </a:extLst>
                </a:gridCol>
                <a:gridCol w="1105669">
                  <a:extLst>
                    <a:ext uri="{9D8B030D-6E8A-4147-A177-3AD203B41FA5}">
                      <a16:colId xmlns:a16="http://schemas.microsoft.com/office/drawing/2014/main" val="20004"/>
                    </a:ext>
                  </a:extLst>
                </a:gridCol>
                <a:gridCol w="1105669">
                  <a:extLst>
                    <a:ext uri="{9D8B030D-6E8A-4147-A177-3AD203B41FA5}">
                      <a16:colId xmlns:a16="http://schemas.microsoft.com/office/drawing/2014/main" val="20005"/>
                    </a:ext>
                  </a:extLst>
                </a:gridCol>
                <a:gridCol w="1105669">
                  <a:extLst>
                    <a:ext uri="{9D8B030D-6E8A-4147-A177-3AD203B41FA5}">
                      <a16:colId xmlns:a16="http://schemas.microsoft.com/office/drawing/2014/main" val="20006"/>
                    </a:ext>
                  </a:extLst>
                </a:gridCol>
                <a:gridCol w="1105669">
                  <a:extLst>
                    <a:ext uri="{9D8B030D-6E8A-4147-A177-3AD203B41FA5}">
                      <a16:colId xmlns:a16="http://schemas.microsoft.com/office/drawing/2014/main" val="20007"/>
                    </a:ext>
                  </a:extLst>
                </a:gridCol>
                <a:gridCol w="1105669">
                  <a:extLst>
                    <a:ext uri="{9D8B030D-6E8A-4147-A177-3AD203B41FA5}">
                      <a16:colId xmlns:a16="http://schemas.microsoft.com/office/drawing/2014/main" val="20008"/>
                    </a:ext>
                  </a:extLst>
                </a:gridCol>
                <a:gridCol w="1105669">
                  <a:extLst>
                    <a:ext uri="{9D8B030D-6E8A-4147-A177-3AD203B41FA5}">
                      <a16:colId xmlns:a16="http://schemas.microsoft.com/office/drawing/2014/main" val="20009"/>
                    </a:ext>
                  </a:extLst>
                </a:gridCol>
              </a:tblGrid>
              <a:tr h="370840">
                <a:tc>
                  <a:txBody>
                    <a:bodyPr/>
                    <a:lstStyle/>
                    <a:p>
                      <a:r>
                        <a:rPr lang="zh-CN" altLang="en-US" sz="2000" b="1" dirty="0">
                          <a:latin typeface="+mn-ea"/>
                          <a:ea typeface="+mn-ea"/>
                        </a:rPr>
                        <a:t>单元</a:t>
                      </a:r>
                    </a:p>
                  </a:txBody>
                  <a:tcPr/>
                </a:tc>
                <a:tc>
                  <a:txBody>
                    <a:bodyPr/>
                    <a:lstStyle/>
                    <a:p>
                      <a:r>
                        <a:rPr lang="zh-CN" altLang="en-US" sz="2000" b="1" dirty="0">
                          <a:latin typeface="+mn-ea"/>
                          <a:ea typeface="+mn-ea"/>
                        </a:rPr>
                        <a:t>专家</a:t>
                      </a:r>
                      <a:r>
                        <a:rPr lang="en-US" altLang="zh-CN" sz="2000" b="1" dirty="0">
                          <a:latin typeface="+mn-ea"/>
                          <a:ea typeface="+mn-ea"/>
                        </a:rPr>
                        <a:t>1</a:t>
                      </a:r>
                      <a:endParaRPr lang="zh-CN" altLang="en-US" sz="2000" b="1" dirty="0">
                        <a:latin typeface="+mn-ea"/>
                        <a:ea typeface="+mn-ea"/>
                      </a:endParaRPr>
                    </a:p>
                  </a:txBody>
                  <a:tcPr/>
                </a:tc>
                <a:tc>
                  <a:txBody>
                    <a:bodyPr/>
                    <a:lstStyle/>
                    <a:p>
                      <a:r>
                        <a:rPr lang="zh-CN" altLang="en-US" sz="2000" b="1" dirty="0">
                          <a:latin typeface="+mn-ea"/>
                          <a:ea typeface="+mn-ea"/>
                        </a:rPr>
                        <a:t>专家</a:t>
                      </a:r>
                      <a:r>
                        <a:rPr lang="en-US" altLang="zh-CN" sz="2000" b="1" dirty="0">
                          <a:latin typeface="+mn-ea"/>
                          <a:ea typeface="+mn-ea"/>
                        </a:rPr>
                        <a:t>2</a:t>
                      </a:r>
                      <a:endParaRPr lang="zh-CN" altLang="en-US" sz="2000" b="1" dirty="0">
                        <a:latin typeface="+mn-ea"/>
                        <a:ea typeface="+mn-ea"/>
                      </a:endParaRPr>
                    </a:p>
                  </a:txBody>
                  <a:tcPr/>
                </a:tc>
                <a:tc>
                  <a:txBody>
                    <a:bodyPr/>
                    <a:lstStyle/>
                    <a:p>
                      <a:r>
                        <a:rPr lang="zh-CN" altLang="en-US" sz="2000" b="1" dirty="0">
                          <a:latin typeface="+mn-ea"/>
                          <a:ea typeface="+mn-ea"/>
                        </a:rPr>
                        <a:t>专家</a:t>
                      </a:r>
                      <a:r>
                        <a:rPr lang="en-US" altLang="zh-CN" sz="2000" b="1" dirty="0">
                          <a:latin typeface="+mn-ea"/>
                          <a:ea typeface="+mn-ea"/>
                        </a:rPr>
                        <a:t>3</a:t>
                      </a:r>
                      <a:endParaRPr lang="zh-CN" altLang="en-US" sz="2000" b="1" dirty="0">
                        <a:latin typeface="+mn-ea"/>
                        <a:ea typeface="+mn-ea"/>
                      </a:endParaRPr>
                    </a:p>
                  </a:txBody>
                  <a:tcPr/>
                </a:tc>
                <a:tc>
                  <a:txBody>
                    <a:bodyPr/>
                    <a:lstStyle/>
                    <a:p>
                      <a:r>
                        <a:rPr lang="zh-CN" altLang="en-US" sz="2000" b="1" dirty="0">
                          <a:latin typeface="+mn-ea"/>
                          <a:ea typeface="+mn-ea"/>
                        </a:rPr>
                        <a:t>最大值 </a:t>
                      </a:r>
                    </a:p>
                  </a:txBody>
                  <a:tcPr/>
                </a:tc>
                <a:tc>
                  <a:txBody>
                    <a:bodyPr/>
                    <a:lstStyle/>
                    <a:p>
                      <a:r>
                        <a:rPr lang="zh-CN" altLang="en-US" sz="2000" b="1" dirty="0">
                          <a:latin typeface="+mn-ea"/>
                          <a:ea typeface="+mn-ea"/>
                        </a:rPr>
                        <a:t>最小值 </a:t>
                      </a:r>
                    </a:p>
                  </a:txBody>
                  <a:tcPr/>
                </a:tc>
                <a:tc>
                  <a:txBody>
                    <a:bodyPr/>
                    <a:lstStyle/>
                    <a:p>
                      <a:r>
                        <a:rPr lang="zh-CN" altLang="en-US" sz="2000" b="1" dirty="0">
                          <a:latin typeface="+mn-ea"/>
                          <a:ea typeface="+mn-ea"/>
                        </a:rPr>
                        <a:t>平均值</a:t>
                      </a:r>
                    </a:p>
                  </a:txBody>
                  <a:tcPr/>
                </a:tc>
                <a:tc>
                  <a:txBody>
                    <a:bodyPr/>
                    <a:lstStyle/>
                    <a:p>
                      <a:r>
                        <a:rPr lang="zh-CN" altLang="en-US" sz="2000" b="1" dirty="0">
                          <a:latin typeface="+mn-ea"/>
                          <a:ea typeface="+mn-ea"/>
                        </a:rPr>
                        <a:t>偏差率</a:t>
                      </a:r>
                    </a:p>
                  </a:txBody>
                  <a:tcPr/>
                </a:tc>
                <a:tc>
                  <a:txBody>
                    <a:bodyPr/>
                    <a:lstStyle/>
                    <a:p>
                      <a:r>
                        <a:rPr lang="zh-CN" altLang="en-US" sz="2000" b="1" dirty="0">
                          <a:latin typeface="+mn-ea"/>
                          <a:ea typeface="+mn-ea"/>
                        </a:rPr>
                        <a:t>接受</a:t>
                      </a:r>
                    </a:p>
                  </a:txBody>
                  <a:tcPr/>
                </a:tc>
                <a:tc>
                  <a:txBody>
                    <a:bodyPr/>
                    <a:lstStyle/>
                    <a:p>
                      <a:r>
                        <a:rPr lang="zh-CN" altLang="en-US" sz="2000" b="1" dirty="0">
                          <a:latin typeface="+mn-ea"/>
                          <a:ea typeface="+mn-ea"/>
                        </a:rPr>
                        <a:t>最终</a:t>
                      </a:r>
                    </a:p>
                  </a:txBody>
                  <a:tcPr/>
                </a:tc>
                <a:extLst>
                  <a:ext uri="{0D108BD9-81ED-4DB2-BD59-A6C34878D82A}">
                    <a16:rowId xmlns:a16="http://schemas.microsoft.com/office/drawing/2014/main" val="10000"/>
                  </a:ext>
                </a:extLst>
              </a:tr>
              <a:tr h="370840">
                <a:tc>
                  <a:txBody>
                    <a:bodyPr/>
                    <a:lstStyle/>
                    <a:p>
                      <a:r>
                        <a:rPr lang="en-US" altLang="zh-CN" sz="2000" b="1" dirty="0">
                          <a:latin typeface="+mn-ea"/>
                          <a:ea typeface="+mn-ea"/>
                        </a:rPr>
                        <a:t>A</a:t>
                      </a: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extLst>
                  <a:ext uri="{0D108BD9-81ED-4DB2-BD59-A6C34878D82A}">
                    <a16:rowId xmlns:a16="http://schemas.microsoft.com/office/drawing/2014/main" val="10001"/>
                  </a:ext>
                </a:extLst>
              </a:tr>
              <a:tr h="370840">
                <a:tc>
                  <a:txBody>
                    <a:bodyPr/>
                    <a:lstStyle/>
                    <a:p>
                      <a:r>
                        <a:rPr lang="en-US" altLang="zh-CN" sz="2000" b="1" dirty="0">
                          <a:latin typeface="+mn-ea"/>
                          <a:ea typeface="+mn-ea"/>
                        </a:rPr>
                        <a:t>B</a:t>
                      </a: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extLst>
                  <a:ext uri="{0D108BD9-81ED-4DB2-BD59-A6C34878D82A}">
                    <a16:rowId xmlns:a16="http://schemas.microsoft.com/office/drawing/2014/main" val="10002"/>
                  </a:ext>
                </a:extLst>
              </a:tr>
              <a:tr h="370840">
                <a:tc>
                  <a:txBody>
                    <a:bodyPr/>
                    <a:lstStyle/>
                    <a:p>
                      <a:r>
                        <a:rPr lang="en-US" altLang="zh-CN" sz="2000" b="1" dirty="0">
                          <a:latin typeface="+mn-ea"/>
                          <a:ea typeface="+mn-ea"/>
                        </a:rPr>
                        <a:t>C</a:t>
                      </a: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extLst>
                  <a:ext uri="{0D108BD9-81ED-4DB2-BD59-A6C34878D82A}">
                    <a16:rowId xmlns:a16="http://schemas.microsoft.com/office/drawing/2014/main" val="10003"/>
                  </a:ext>
                </a:extLst>
              </a:tr>
              <a:tr h="370840">
                <a:tc>
                  <a:txBody>
                    <a:bodyPr/>
                    <a:lstStyle/>
                    <a:p>
                      <a:r>
                        <a:rPr lang="en-US" altLang="zh-CN" sz="2000" b="1" dirty="0">
                          <a:latin typeface="+mn-ea"/>
                          <a:ea typeface="+mn-ea"/>
                        </a:rPr>
                        <a:t>D</a:t>
                      </a: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extLst>
                  <a:ext uri="{0D108BD9-81ED-4DB2-BD59-A6C34878D82A}">
                    <a16:rowId xmlns:a16="http://schemas.microsoft.com/office/drawing/2014/main" val="10004"/>
                  </a:ext>
                </a:extLst>
              </a:tr>
              <a:tr h="370840">
                <a:tc>
                  <a:txBody>
                    <a:bodyPr/>
                    <a:lstStyle/>
                    <a:p>
                      <a:r>
                        <a:rPr lang="en-US" altLang="zh-CN" sz="2000" b="1" dirty="0">
                          <a:latin typeface="+mn-ea"/>
                          <a:ea typeface="+mn-ea"/>
                        </a:rPr>
                        <a:t>E</a:t>
                      </a: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tc>
                  <a:txBody>
                    <a:bodyPr/>
                    <a:lstStyle/>
                    <a:p>
                      <a:endParaRPr lang="zh-CN" altLang="en-US" sz="2000" b="1">
                        <a:latin typeface="+mn-ea"/>
                        <a:ea typeface="+mn-ea"/>
                      </a:endParaRPr>
                    </a:p>
                  </a:txBody>
                  <a:tcPr/>
                </a:tc>
                <a:extLst>
                  <a:ext uri="{0D108BD9-81ED-4DB2-BD59-A6C34878D82A}">
                    <a16:rowId xmlns:a16="http://schemas.microsoft.com/office/drawing/2014/main" val="10005"/>
                  </a:ext>
                </a:extLst>
              </a:tr>
              <a:tr h="370840">
                <a:tc gridSpan="2">
                  <a:txBody>
                    <a:bodyPr/>
                    <a:lstStyle/>
                    <a:p>
                      <a:r>
                        <a:rPr lang="zh-CN" altLang="en-US" sz="2000" b="1" dirty="0">
                          <a:latin typeface="+mn-ea"/>
                          <a:ea typeface="+mn-ea"/>
                        </a:rPr>
                        <a:t>估算日期</a:t>
                      </a:r>
                    </a:p>
                  </a:txBody>
                  <a:tcPr/>
                </a:tc>
                <a:tc hMerge="1">
                  <a:txBody>
                    <a:bodyPr/>
                    <a:lstStyle/>
                    <a:p>
                      <a:endParaRPr lang="zh-CN"/>
                    </a:p>
                  </a:txBody>
                  <a:tcPr/>
                </a:tc>
                <a:tc gridSpan="2">
                  <a:txBody>
                    <a:bodyPr/>
                    <a:lstStyle/>
                    <a:p>
                      <a:r>
                        <a:rPr lang="en-US" altLang="zh-CN" sz="2000" b="1" dirty="0">
                          <a:latin typeface="+mn-ea"/>
                          <a:ea typeface="+mn-ea"/>
                        </a:rPr>
                        <a:t>2021</a:t>
                      </a:r>
                      <a:r>
                        <a:rPr lang="zh-CN" altLang="en-US" sz="2000" b="1" dirty="0">
                          <a:latin typeface="+mn-ea"/>
                          <a:ea typeface="+mn-ea"/>
                        </a:rPr>
                        <a:t>年</a:t>
                      </a:r>
                      <a:r>
                        <a:rPr lang="en-US" altLang="zh-CN" sz="2000" b="1" dirty="0">
                          <a:latin typeface="+mn-ea"/>
                          <a:ea typeface="+mn-ea"/>
                        </a:rPr>
                        <a:t>10</a:t>
                      </a:r>
                      <a:r>
                        <a:rPr lang="zh-CN" altLang="en-US" sz="2000" b="1" dirty="0">
                          <a:latin typeface="+mn-ea"/>
                          <a:ea typeface="+mn-ea"/>
                        </a:rPr>
                        <a:t>月</a:t>
                      </a:r>
                      <a:r>
                        <a:rPr lang="en-US" altLang="zh-CN" sz="2000" b="1" dirty="0">
                          <a:latin typeface="+mn-ea"/>
                          <a:ea typeface="+mn-ea"/>
                        </a:rPr>
                        <a:t>3</a:t>
                      </a:r>
                      <a:r>
                        <a:rPr lang="zh-CN" altLang="en-US" sz="2000" b="1" dirty="0">
                          <a:latin typeface="+mn-ea"/>
                          <a:ea typeface="+mn-ea"/>
                        </a:rPr>
                        <a:t>日</a:t>
                      </a:r>
                    </a:p>
                  </a:txBody>
                  <a:tcPr/>
                </a:tc>
                <a:tc hMerge="1">
                  <a:txBody>
                    <a:bodyPr/>
                    <a:lstStyle/>
                    <a:p>
                      <a:endParaRPr lang="zh-CN"/>
                    </a:p>
                  </a:txBody>
                  <a:tcPr/>
                </a:tc>
                <a:tc gridSpan="2">
                  <a:txBody>
                    <a:bodyPr/>
                    <a:lstStyle/>
                    <a:p>
                      <a:r>
                        <a:rPr lang="zh-CN" altLang="en-US" sz="2000" b="1" dirty="0">
                          <a:latin typeface="+mn-ea"/>
                          <a:ea typeface="+mn-ea"/>
                        </a:rPr>
                        <a:t>第</a:t>
                      </a:r>
                      <a:r>
                        <a:rPr lang="en-US" altLang="zh-CN" sz="2000" b="1" dirty="0">
                          <a:latin typeface="+mn-ea"/>
                          <a:ea typeface="+mn-ea"/>
                        </a:rPr>
                        <a:t>N</a:t>
                      </a:r>
                      <a:r>
                        <a:rPr lang="zh-CN" altLang="en-US" sz="2000" b="1" dirty="0">
                          <a:latin typeface="+mn-ea"/>
                          <a:ea typeface="+mn-ea"/>
                        </a:rPr>
                        <a:t>轮估算结果</a:t>
                      </a:r>
                    </a:p>
                  </a:txBody>
                  <a:tcPr/>
                </a:tc>
                <a:tc hMerge="1">
                  <a:txBody>
                    <a:bodyPr/>
                    <a:lstStyle/>
                    <a:p>
                      <a:endParaRPr lang="zh-CN"/>
                    </a:p>
                  </a:txBody>
                  <a:tcPr/>
                </a:tc>
                <a:tc>
                  <a:txBody>
                    <a:bodyPr/>
                    <a:lstStyle/>
                    <a:p>
                      <a:endParaRPr lang="zh-CN" altLang="en-US" sz="2000" b="1" dirty="0">
                        <a:latin typeface="+mn-ea"/>
                        <a:ea typeface="+mn-ea"/>
                      </a:endParaRPr>
                    </a:p>
                  </a:txBody>
                  <a:tcPr/>
                </a:tc>
                <a:tc gridSpan="2">
                  <a:txBody>
                    <a:bodyPr/>
                    <a:lstStyle/>
                    <a:p>
                      <a:r>
                        <a:rPr lang="zh-CN" altLang="en-US" sz="2000" b="1" dirty="0">
                          <a:latin typeface="+mn-ea"/>
                          <a:ea typeface="+mn-ea"/>
                        </a:rPr>
                        <a:t>可接受总数</a:t>
                      </a:r>
                    </a:p>
                  </a:txBody>
                  <a:tcPr/>
                </a:tc>
                <a:tc hMerge="1">
                  <a:txBody>
                    <a:bodyPr/>
                    <a:lstStyle/>
                    <a:p>
                      <a:endParaRPr lang="zh-CN"/>
                    </a:p>
                  </a:txBody>
                  <a:tcPr/>
                </a:tc>
                <a:tc>
                  <a:txBody>
                    <a:bodyPr/>
                    <a:lstStyle/>
                    <a:p>
                      <a:r>
                        <a:rPr lang="zh-CN" altLang="en-US" sz="2000" b="1" dirty="0">
                          <a:latin typeface="+mn-ea"/>
                          <a:ea typeface="+mn-ea"/>
                        </a:rPr>
                        <a:t>合计</a:t>
                      </a:r>
                    </a:p>
                  </a:txBody>
                  <a:tcPr/>
                </a:tc>
                <a:extLst>
                  <a:ext uri="{0D108BD9-81ED-4DB2-BD59-A6C34878D82A}">
                    <a16:rowId xmlns:a16="http://schemas.microsoft.com/office/drawing/2014/main" val="10006"/>
                  </a:ext>
                </a:extLst>
              </a:tr>
            </a:tbl>
          </a:graphicData>
        </a:graphic>
      </p:graphicFrame>
      <mc:AlternateContent xmlns:mc="http://schemas.openxmlformats.org/markup-compatibility/2006">
        <mc:Choice xmlns:a14="http://schemas.microsoft.com/office/drawing/2010/main" Requires="a14">
          <p:sp>
            <p:nvSpPr>
              <p:cNvPr id="3" name="文本框 2"/>
              <p:cNvSpPr txBox="1"/>
              <p:nvPr/>
            </p:nvSpPr>
            <p:spPr>
              <a:xfrm>
                <a:off x="671117" y="4325094"/>
                <a:ext cx="11056690" cy="1271630"/>
              </a:xfrm>
              <a:prstGeom prst="rect">
                <a:avLst/>
              </a:prstGeom>
              <a:noFill/>
            </p:spPr>
            <p:txBody>
              <a:bodyPr wrap="square" rtlCol="0">
                <a:spAutoFit/>
              </a:bodyPr>
              <a:lstStyle/>
              <a:p>
                <a:pPr>
                  <a:lnSpc>
                    <a:spcPct val="150000"/>
                  </a:lnSpc>
                </a:pPr>
                <a:r>
                  <a:rPr lang="zh-CN" altLang="en-US" sz="2400" dirty="0"/>
                  <a:t>偏差率的计算方法：</a:t>
                </a:r>
                <a:endParaRPr lang="en-US" altLang="zh-CN" sz="2400" dirty="0"/>
              </a:p>
              <a:p>
                <a:pPr>
                  <a:lnSpc>
                    <a:spcPct val="150000"/>
                  </a:lnSpc>
                </a:pPr>
                <a14:m>
                  <m:oMathPara xmlns:m="http://schemas.openxmlformats.org/officeDocument/2006/math">
                    <m:oMathParaPr>
                      <m:jc m:val="centerGroup"/>
                    </m:oMathParaPr>
                    <m:oMath xmlns:m="http://schemas.openxmlformats.org/officeDocument/2006/math">
                      <m:d>
                        <m:dPr>
                          <m:ctrlPr>
                            <a:rPr lang="en-US" altLang="zh-CN" sz="2400" i="1" smtClean="0">
                              <a:solidFill>
                                <a:srgbClr val="C00000"/>
                              </a:solidFill>
                              <a:latin typeface="Cambria Math" panose="02040503050406030204" pitchFamily="18" charset="0"/>
                              <a:ea typeface="+mn-ea"/>
                            </a:rPr>
                          </m:ctrlPr>
                        </m:dPr>
                        <m:e>
                          <m:r>
                            <a:rPr lang="en-US" altLang="zh-CN" sz="2400" b="0" i="1" smtClean="0">
                              <a:solidFill>
                                <a:srgbClr val="C00000"/>
                              </a:solidFill>
                              <a:latin typeface="Cambria Math" panose="02040503050406030204" pitchFamily="18" charset="0"/>
                              <a:ea typeface="+mn-ea"/>
                            </a:rPr>
                            <m:t>𝑀𝐴𝑋</m:t>
                          </m:r>
                          <m:d>
                            <m:dPr>
                              <m:ctrlPr>
                                <a:rPr lang="en-US" altLang="zh-CN" sz="2400" b="0" i="1" smtClean="0">
                                  <a:solidFill>
                                    <a:srgbClr val="C00000"/>
                                  </a:solidFill>
                                  <a:latin typeface="Cambria Math" panose="02040503050406030204" pitchFamily="18" charset="0"/>
                                  <a:ea typeface="+mn-ea"/>
                                </a:rPr>
                              </m:ctrlPr>
                            </m:dPr>
                            <m:e>
                              <m:r>
                                <a:rPr lang="zh-CN" altLang="en-US" sz="2400" i="1">
                                  <a:solidFill>
                                    <a:srgbClr val="C00000"/>
                                  </a:solidFill>
                                  <a:latin typeface="Cambria Math" panose="02040503050406030204" pitchFamily="18" charset="0"/>
                                  <a:ea typeface="+mn-ea"/>
                                </a:rPr>
                                <m:t>最</m:t>
                              </m:r>
                              <m:r>
                                <a:rPr lang="zh-CN" altLang="en-US" sz="2400" i="1" smtClean="0">
                                  <a:solidFill>
                                    <a:srgbClr val="C00000"/>
                                  </a:solidFill>
                                  <a:latin typeface="Cambria Math" panose="02040503050406030204" pitchFamily="18" charset="0"/>
                                  <a:ea typeface="+mn-ea"/>
                                </a:rPr>
                                <m:t>大</m:t>
                              </m:r>
                              <m:r>
                                <a:rPr lang="zh-CN" altLang="en-US" sz="2400" i="1">
                                  <a:solidFill>
                                    <a:srgbClr val="C00000"/>
                                  </a:solidFill>
                                  <a:latin typeface="Cambria Math" panose="02040503050406030204" pitchFamily="18" charset="0"/>
                                  <a:ea typeface="+mn-ea"/>
                                </a:rPr>
                                <m:t>值</m:t>
                              </m:r>
                              <m:r>
                                <a:rPr lang="en-US" altLang="zh-CN" sz="2400" i="1">
                                  <a:solidFill>
                                    <a:srgbClr val="C00000"/>
                                  </a:solidFill>
                                  <a:latin typeface="Cambria Math" panose="02040503050406030204" pitchFamily="18" charset="0"/>
                                  <a:ea typeface="+mn-ea"/>
                                </a:rPr>
                                <m:t>−</m:t>
                              </m:r>
                              <m:r>
                                <a:rPr lang="zh-CN" altLang="en-US" sz="2400" i="1" smtClean="0">
                                  <a:solidFill>
                                    <a:srgbClr val="C00000"/>
                                  </a:solidFill>
                                  <a:latin typeface="Cambria Math" panose="02040503050406030204" pitchFamily="18" charset="0"/>
                                  <a:ea typeface="+mn-ea"/>
                                </a:rPr>
                                <m:t>平</m:t>
                              </m:r>
                              <m:r>
                                <a:rPr lang="zh-CN" altLang="en-US" sz="2400" i="1">
                                  <a:solidFill>
                                    <a:srgbClr val="C00000"/>
                                  </a:solidFill>
                                  <a:latin typeface="Cambria Math" panose="02040503050406030204" pitchFamily="18" charset="0"/>
                                  <a:ea typeface="+mn-ea"/>
                                </a:rPr>
                                <m:t>均</m:t>
                              </m:r>
                              <m:r>
                                <a:rPr lang="zh-CN" altLang="en-US" sz="2400" i="1" smtClean="0">
                                  <a:solidFill>
                                    <a:srgbClr val="C00000"/>
                                  </a:solidFill>
                                  <a:latin typeface="Cambria Math" panose="02040503050406030204" pitchFamily="18" charset="0"/>
                                  <a:ea typeface="+mn-ea"/>
                                </a:rPr>
                                <m:t>值</m:t>
                              </m:r>
                              <m:r>
                                <a:rPr lang="zh-CN" altLang="en-US" sz="2400" i="1">
                                  <a:solidFill>
                                    <a:srgbClr val="C00000"/>
                                  </a:solidFill>
                                  <a:latin typeface="Cambria Math" panose="02040503050406030204" pitchFamily="18" charset="0"/>
                                  <a:ea typeface="+mn-ea"/>
                                </a:rPr>
                                <m:t>，</m:t>
                              </m:r>
                              <m:r>
                                <a:rPr lang="zh-CN" altLang="en-US" sz="2400" i="1" smtClean="0">
                                  <a:solidFill>
                                    <a:srgbClr val="C00000"/>
                                  </a:solidFill>
                                  <a:latin typeface="Cambria Math" panose="02040503050406030204" pitchFamily="18" charset="0"/>
                                  <a:ea typeface="+mn-ea"/>
                                </a:rPr>
                                <m:t>平</m:t>
                              </m:r>
                              <m:r>
                                <a:rPr lang="zh-CN" altLang="en-US" sz="2400" i="1">
                                  <a:solidFill>
                                    <a:srgbClr val="C00000"/>
                                  </a:solidFill>
                                  <a:latin typeface="Cambria Math" panose="02040503050406030204" pitchFamily="18" charset="0"/>
                                  <a:ea typeface="+mn-ea"/>
                                </a:rPr>
                                <m:t>均</m:t>
                              </m:r>
                              <m:r>
                                <a:rPr lang="zh-CN" altLang="en-US" sz="2400" i="1" smtClean="0">
                                  <a:solidFill>
                                    <a:srgbClr val="C00000"/>
                                  </a:solidFill>
                                  <a:latin typeface="Cambria Math" panose="02040503050406030204" pitchFamily="18" charset="0"/>
                                  <a:ea typeface="+mn-ea"/>
                                </a:rPr>
                                <m:t>值</m:t>
                              </m:r>
                              <m:r>
                                <a:rPr lang="en-US" altLang="zh-CN" sz="2400" b="0" i="1" smtClean="0">
                                  <a:solidFill>
                                    <a:srgbClr val="C00000"/>
                                  </a:solidFill>
                                  <a:latin typeface="Cambria Math" panose="02040503050406030204" pitchFamily="18" charset="0"/>
                                  <a:ea typeface="+mn-ea"/>
                                </a:rPr>
                                <m:t>−</m:t>
                              </m:r>
                              <m:r>
                                <a:rPr lang="zh-CN" altLang="en-US" sz="2400" i="1">
                                  <a:solidFill>
                                    <a:srgbClr val="C00000"/>
                                  </a:solidFill>
                                  <a:latin typeface="Cambria Math" panose="02040503050406030204" pitchFamily="18" charset="0"/>
                                  <a:ea typeface="+mn-ea"/>
                                </a:rPr>
                                <m:t>最</m:t>
                              </m:r>
                              <m:r>
                                <a:rPr lang="zh-CN" altLang="en-US" sz="2400" i="1" smtClean="0">
                                  <a:solidFill>
                                    <a:srgbClr val="C00000"/>
                                  </a:solidFill>
                                  <a:latin typeface="Cambria Math" panose="02040503050406030204" pitchFamily="18" charset="0"/>
                                  <a:ea typeface="+mn-ea"/>
                                </a:rPr>
                                <m:t>小</m:t>
                              </m:r>
                              <m:r>
                                <a:rPr lang="zh-CN" altLang="en-US" sz="2400" i="1">
                                  <a:solidFill>
                                    <a:srgbClr val="C00000"/>
                                  </a:solidFill>
                                  <a:latin typeface="Cambria Math" panose="02040503050406030204" pitchFamily="18" charset="0"/>
                                  <a:ea typeface="+mn-ea"/>
                                </a:rPr>
                                <m:t>值</m:t>
                              </m:r>
                            </m:e>
                          </m:d>
                          <m:r>
                            <a:rPr lang="zh-CN" altLang="en-US" sz="2400" i="1" smtClean="0">
                              <a:solidFill>
                                <a:srgbClr val="C00000"/>
                              </a:solidFill>
                              <a:latin typeface="Cambria Math" panose="02040503050406030204" pitchFamily="18" charset="0"/>
                              <a:ea typeface="+mn-ea"/>
                            </a:rPr>
                            <m:t>÷</m:t>
                          </m:r>
                          <m:r>
                            <a:rPr lang="zh-CN" altLang="en-US" sz="2400" i="1">
                              <a:solidFill>
                                <a:srgbClr val="C00000"/>
                              </a:solidFill>
                              <a:latin typeface="Cambria Math" panose="02040503050406030204" pitchFamily="18" charset="0"/>
                              <a:ea typeface="+mn-ea"/>
                            </a:rPr>
                            <m:t>平</m:t>
                          </m:r>
                          <m:r>
                            <a:rPr lang="zh-CN" altLang="en-US" sz="2400" i="1" smtClean="0">
                              <a:solidFill>
                                <a:srgbClr val="C00000"/>
                              </a:solidFill>
                              <a:latin typeface="Cambria Math" panose="02040503050406030204" pitchFamily="18" charset="0"/>
                              <a:ea typeface="+mn-ea"/>
                            </a:rPr>
                            <m:t>均</m:t>
                          </m:r>
                          <m:r>
                            <a:rPr lang="zh-CN" altLang="en-US" sz="2400" i="1">
                              <a:solidFill>
                                <a:srgbClr val="C00000"/>
                              </a:solidFill>
                              <a:latin typeface="Cambria Math" panose="02040503050406030204" pitchFamily="18" charset="0"/>
                              <a:ea typeface="+mn-ea"/>
                            </a:rPr>
                            <m:t>值</m:t>
                          </m:r>
                        </m:e>
                      </m:d>
                      <m:r>
                        <a:rPr lang="en-US" altLang="zh-CN" sz="2400" i="1" smtClean="0">
                          <a:solidFill>
                            <a:srgbClr val="C00000"/>
                          </a:solidFill>
                          <a:latin typeface="Cambria Math" panose="02040503050406030204" pitchFamily="18" charset="0"/>
                          <a:ea typeface="Cambria Math" panose="02040503050406030204" pitchFamily="18" charset="0"/>
                        </a:rPr>
                        <m:t>×</m:t>
                      </m:r>
                      <m:r>
                        <a:rPr lang="en-US" altLang="zh-CN" sz="2400" b="0" i="1" smtClean="0">
                          <a:solidFill>
                            <a:srgbClr val="C00000"/>
                          </a:solidFill>
                          <a:latin typeface="Cambria Math" panose="02040503050406030204" pitchFamily="18" charset="0"/>
                          <a:ea typeface="Cambria Math" panose="02040503050406030204" pitchFamily="18" charset="0"/>
                        </a:rPr>
                        <m:t>100%</m:t>
                      </m:r>
                    </m:oMath>
                  </m:oMathPara>
                </a14:m>
                <a:endParaRPr lang="zh-CN" altLang="en-US" sz="2400" dirty="0">
                  <a:solidFill>
                    <a:srgbClr val="C00000"/>
                  </a:solidFill>
                  <a:latin typeface="+mn-ea"/>
                  <a:ea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671117" y="4325094"/>
                <a:ext cx="11056690" cy="1271630"/>
              </a:xfrm>
              <a:prstGeom prst="rect">
                <a:avLst/>
              </a:prstGeom>
              <a:blipFill>
                <a:blip r:embed="rId3"/>
                <a:stretch>
                  <a:fillRect l="-827"/>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4" y="943"/>
            <a:ext cx="11368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规模估算</a:t>
            </a:r>
            <a:r>
              <a:rPr lang="en-US" altLang="zh-CN" sz="2400" b="1" dirty="0">
                <a:solidFill>
                  <a:srgbClr val="01395C"/>
                </a:solidFill>
                <a:latin typeface="微软雅黑" panose="020B0503020204020204" pitchFamily="34" charset="-122"/>
                <a:cs typeface="方正粗宋简体"/>
              </a:rPr>
              <a:t>–</a:t>
            </a:r>
            <a:r>
              <a:rPr lang="zh-CN" altLang="en-US" sz="2400" b="1" dirty="0">
                <a:solidFill>
                  <a:srgbClr val="01395C"/>
                </a:solidFill>
                <a:latin typeface="微软雅黑" panose="020B0503020204020204" pitchFamily="34" charset="-122"/>
                <a:ea typeface="方正粗宋简体"/>
                <a:cs typeface="方正粗宋简体"/>
              </a:rPr>
              <a:t>类比估算法</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606286" y="737053"/>
            <a:ext cx="10979427"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575945">
              <a:lnSpc>
                <a:spcPct val="150000"/>
              </a:lnSpc>
            </a:pPr>
            <a:r>
              <a:rPr lang="zh-CN" altLang="en-US" sz="2400" dirty="0">
                <a:latin typeface="+mn-ea"/>
                <a:ea typeface="+mn-ea"/>
              </a:rPr>
              <a:t>类比估算法，又称</a:t>
            </a:r>
            <a:r>
              <a:rPr lang="zh-CN" altLang="en-US" sz="2400" dirty="0">
                <a:solidFill>
                  <a:srgbClr val="C00000"/>
                </a:solidFill>
                <a:latin typeface="+mn-ea"/>
                <a:ea typeface="+mn-ea"/>
              </a:rPr>
              <a:t>自顶向下估算法</a:t>
            </a:r>
            <a:r>
              <a:rPr lang="zh-CN" altLang="en-US" sz="2400" dirty="0">
                <a:latin typeface="+mn-ea"/>
                <a:ea typeface="+mn-ea"/>
              </a:rPr>
              <a:t>（</a:t>
            </a:r>
            <a:r>
              <a:rPr lang="en-US" altLang="zh-CN" sz="2400" dirty="0">
                <a:latin typeface="+mn-ea"/>
                <a:ea typeface="+mn-ea"/>
              </a:rPr>
              <a:t>Top Down Estimates</a:t>
            </a:r>
            <a:r>
              <a:rPr lang="zh-CN" altLang="en-US" sz="2400" dirty="0">
                <a:latin typeface="+mn-ea"/>
                <a:ea typeface="+mn-ea"/>
              </a:rPr>
              <a:t>）。</a:t>
            </a:r>
          </a:p>
          <a:p>
            <a:pPr marL="0" indent="575945">
              <a:lnSpc>
                <a:spcPct val="150000"/>
              </a:lnSpc>
            </a:pPr>
            <a:r>
              <a:rPr lang="zh-CN" altLang="en-US" sz="2400" dirty="0">
                <a:solidFill>
                  <a:srgbClr val="C00000"/>
                </a:solidFill>
                <a:latin typeface="+mn-ea"/>
                <a:ea typeface="+mn-ea"/>
              </a:rPr>
              <a:t>适合</a:t>
            </a:r>
            <a:r>
              <a:rPr lang="zh-CN" altLang="en-US" sz="2400" dirty="0">
                <a:latin typeface="+mn-ea"/>
                <a:ea typeface="+mn-ea"/>
              </a:rPr>
              <a:t>评估一些与历史项目在应用领域、环境和复杂度的相似的项目，通过新项目与历史项目的比较得到规模估计。</a:t>
            </a:r>
          </a:p>
          <a:p>
            <a:pPr marL="0" indent="575945">
              <a:lnSpc>
                <a:spcPct val="150000"/>
              </a:lnSpc>
            </a:pPr>
            <a:r>
              <a:rPr lang="zh-CN" altLang="en-US" sz="2400" dirty="0">
                <a:latin typeface="+mn-ea"/>
                <a:ea typeface="+mn-ea"/>
              </a:rPr>
              <a:t>类比法估计结果的</a:t>
            </a:r>
            <a:r>
              <a:rPr lang="zh-CN" altLang="en-US" sz="2400" dirty="0">
                <a:solidFill>
                  <a:srgbClr val="C00000"/>
                </a:solidFill>
                <a:latin typeface="+mn-ea"/>
                <a:ea typeface="+mn-ea"/>
              </a:rPr>
              <a:t>精确度</a:t>
            </a:r>
            <a:r>
              <a:rPr lang="zh-CN" altLang="en-US" sz="2400" dirty="0">
                <a:latin typeface="+mn-ea"/>
                <a:ea typeface="+mn-ea"/>
              </a:rPr>
              <a:t>，取决于历史项目数据的</a:t>
            </a:r>
            <a:r>
              <a:rPr lang="zh-CN" altLang="en-US" sz="2400" dirty="0">
                <a:solidFill>
                  <a:srgbClr val="C00000"/>
                </a:solidFill>
                <a:latin typeface="+mn-ea"/>
                <a:ea typeface="+mn-ea"/>
              </a:rPr>
              <a:t>完整性和准确度</a:t>
            </a:r>
            <a:r>
              <a:rPr lang="zh-CN" altLang="en-US" sz="2400" dirty="0">
                <a:latin typeface="+mn-ea"/>
                <a:ea typeface="+mn-ea"/>
              </a:rPr>
              <a:t>，因此，用好类比法的前提条件之一是组织建立起较好的项目后评价与分析机制，对历史项目的数据分析是可信赖的。</a:t>
            </a:r>
          </a:p>
          <a:p>
            <a:pPr>
              <a:lnSpc>
                <a:spcPct val="150000"/>
              </a:lnSpc>
              <a:buFont typeface="Arial" panose="020B0604020202020204" pitchFamily="34" charset="0"/>
              <a:buChar char="•"/>
            </a:pPr>
            <a:endParaRPr lang="en-US" altLang="zh-CN" sz="2400" dirty="0">
              <a:latin typeface="+mn-ea"/>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4" y="943"/>
            <a:ext cx="11368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规模估算</a:t>
            </a:r>
            <a:r>
              <a:rPr lang="en-US" altLang="zh-CN" sz="2400" b="1" dirty="0">
                <a:solidFill>
                  <a:srgbClr val="01395C"/>
                </a:solidFill>
                <a:latin typeface="微软雅黑" panose="020B0503020204020204" pitchFamily="34" charset="-122"/>
                <a:cs typeface="方正粗宋简体"/>
              </a:rPr>
              <a:t>–</a:t>
            </a:r>
            <a:r>
              <a:rPr lang="zh-CN" altLang="en-US" sz="2400" b="1" dirty="0">
                <a:solidFill>
                  <a:srgbClr val="01395C"/>
                </a:solidFill>
                <a:latin typeface="微软雅黑" panose="020B0503020204020204" pitchFamily="34" charset="-122"/>
                <a:ea typeface="方正粗宋简体"/>
                <a:cs typeface="方正粗宋简体"/>
              </a:rPr>
              <a:t>类比估算法</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606286" y="737053"/>
            <a:ext cx="10979427" cy="390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0">
              <a:lnSpc>
                <a:spcPct val="150000"/>
              </a:lnSpc>
            </a:pPr>
            <a:r>
              <a:rPr lang="zh-CN" altLang="en-US" sz="2400" dirty="0">
                <a:latin typeface="+mn-ea"/>
                <a:ea typeface="+mn-ea"/>
              </a:rPr>
              <a:t>基本步骤：</a:t>
            </a:r>
            <a:endParaRPr lang="en-US" altLang="zh-CN" sz="2400" dirty="0">
              <a:latin typeface="+mn-ea"/>
              <a:ea typeface="+mn-ea"/>
            </a:endParaRPr>
          </a:p>
          <a:p>
            <a:pPr marL="0" indent="0">
              <a:lnSpc>
                <a:spcPct val="150000"/>
              </a:lnSpc>
            </a:pPr>
            <a:r>
              <a:rPr lang="zh-CN" altLang="en-US" sz="2400" dirty="0">
                <a:latin typeface="+mn-ea"/>
                <a:ea typeface="+mn-ea"/>
              </a:rPr>
              <a:t>（</a:t>
            </a:r>
            <a:r>
              <a:rPr lang="en-US" altLang="zh-CN" sz="2400" dirty="0">
                <a:latin typeface="+mn-ea"/>
                <a:ea typeface="+mn-ea"/>
              </a:rPr>
              <a:t>1</a:t>
            </a:r>
            <a:r>
              <a:rPr lang="zh-CN" altLang="en-US" sz="2400" dirty="0">
                <a:latin typeface="+mn-ea"/>
                <a:ea typeface="+mn-ea"/>
              </a:rPr>
              <a:t>）整理出项目功能列表和实现每个功能的代码行。</a:t>
            </a:r>
          </a:p>
          <a:p>
            <a:pPr marL="0" indent="0">
              <a:lnSpc>
                <a:spcPct val="150000"/>
              </a:lnSpc>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）标识出每个功能列表与历史项目的相同点和不同点，特别要注意历史项目做得不够的地方。</a:t>
            </a:r>
          </a:p>
          <a:p>
            <a:pPr marL="0" indent="0">
              <a:lnSpc>
                <a:spcPct val="150000"/>
              </a:lnSpc>
            </a:pPr>
            <a:r>
              <a:rPr lang="zh-CN" altLang="en-US" sz="2400" dirty="0">
                <a:latin typeface="+mn-ea"/>
                <a:ea typeface="+mn-ea"/>
              </a:rPr>
              <a:t>（</a:t>
            </a:r>
            <a:r>
              <a:rPr lang="en-US" altLang="zh-CN" sz="2400" dirty="0">
                <a:latin typeface="+mn-ea"/>
                <a:ea typeface="+mn-ea"/>
              </a:rPr>
              <a:t>3</a:t>
            </a:r>
            <a:r>
              <a:rPr lang="zh-CN" altLang="en-US" sz="2400" dirty="0">
                <a:latin typeface="+mn-ea"/>
                <a:ea typeface="+mn-ea"/>
              </a:rPr>
              <a:t>）通过步骤</a:t>
            </a:r>
            <a:r>
              <a:rPr lang="en-US" altLang="zh-CN" sz="2400" dirty="0">
                <a:latin typeface="+mn-ea"/>
                <a:ea typeface="+mn-ea"/>
              </a:rPr>
              <a:t>1</a:t>
            </a:r>
            <a:r>
              <a:rPr lang="zh-CN" altLang="en-US" sz="2400" dirty="0">
                <a:latin typeface="+mn-ea"/>
                <a:ea typeface="+mn-ea"/>
              </a:rPr>
              <a:t>和</a:t>
            </a:r>
            <a:r>
              <a:rPr lang="en-US" altLang="zh-CN" sz="2400" dirty="0">
                <a:latin typeface="+mn-ea"/>
                <a:ea typeface="+mn-ea"/>
              </a:rPr>
              <a:t>2</a:t>
            </a:r>
            <a:r>
              <a:rPr lang="zh-CN" altLang="en-US" sz="2400" dirty="0">
                <a:latin typeface="+mn-ea"/>
                <a:ea typeface="+mn-ea"/>
              </a:rPr>
              <a:t>得出各个功能的估计值。</a:t>
            </a:r>
          </a:p>
          <a:p>
            <a:pPr marL="0" indent="0">
              <a:lnSpc>
                <a:spcPct val="150000"/>
              </a:lnSpc>
            </a:pPr>
            <a:r>
              <a:rPr lang="zh-CN" altLang="en-US" sz="2400" dirty="0">
                <a:latin typeface="+mn-ea"/>
                <a:ea typeface="+mn-ea"/>
              </a:rPr>
              <a:t>（</a:t>
            </a:r>
            <a:r>
              <a:rPr lang="en-US" altLang="zh-CN" sz="2400" dirty="0">
                <a:latin typeface="+mn-ea"/>
                <a:ea typeface="+mn-ea"/>
              </a:rPr>
              <a:t>4</a:t>
            </a:r>
            <a:r>
              <a:rPr lang="zh-CN" altLang="en-US" sz="2400" dirty="0">
                <a:latin typeface="+mn-ea"/>
                <a:ea typeface="+mn-ea"/>
              </a:rPr>
              <a:t>）产生规模估计。</a:t>
            </a:r>
          </a:p>
          <a:p>
            <a:pPr marL="0" indent="0">
              <a:lnSpc>
                <a:spcPct val="150000"/>
              </a:lnSpc>
            </a:pPr>
            <a:endParaRPr lang="en-US" altLang="zh-CN" sz="2400" dirty="0">
              <a:latin typeface="+mn-ea"/>
              <a:ea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4" y="943"/>
            <a:ext cx="113680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规模估算</a:t>
            </a:r>
            <a:r>
              <a:rPr lang="en-US" altLang="zh-CN" sz="2400" b="1" dirty="0">
                <a:solidFill>
                  <a:srgbClr val="01395C"/>
                </a:solidFill>
                <a:latin typeface="微软雅黑" panose="020B0503020204020204" pitchFamily="34" charset="-122"/>
                <a:cs typeface="方正粗宋简体"/>
              </a:rPr>
              <a:t>–</a:t>
            </a:r>
            <a:r>
              <a:rPr lang="zh-CN" altLang="en-US" sz="2400" b="1" dirty="0">
                <a:solidFill>
                  <a:srgbClr val="01395C"/>
                </a:solidFill>
                <a:latin typeface="微软雅黑" panose="020B0503020204020204" pitchFamily="34" charset="-122"/>
                <a:ea typeface="方正粗宋简体"/>
                <a:cs typeface="方正粗宋简体"/>
              </a:rPr>
              <a:t>类比估算法</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606286" y="737053"/>
            <a:ext cx="10979427" cy="556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575945">
              <a:lnSpc>
                <a:spcPct val="150000"/>
              </a:lnSpc>
            </a:pPr>
            <a:r>
              <a:rPr lang="zh-CN" altLang="en-US" sz="2400" dirty="0">
                <a:latin typeface="+mn-ea"/>
                <a:ea typeface="+mn-ea"/>
              </a:rPr>
              <a:t>软件项目中用类比法，往往还要解决</a:t>
            </a:r>
            <a:r>
              <a:rPr lang="zh-CN" altLang="en-US" sz="2400" dirty="0">
                <a:solidFill>
                  <a:srgbClr val="C00000"/>
                </a:solidFill>
                <a:latin typeface="+mn-ea"/>
                <a:ea typeface="+mn-ea"/>
              </a:rPr>
              <a:t>可重用代码</a:t>
            </a:r>
            <a:r>
              <a:rPr lang="zh-CN" altLang="en-US" sz="2400" dirty="0">
                <a:latin typeface="+mn-ea"/>
                <a:ea typeface="+mn-ea"/>
              </a:rPr>
              <a:t>的估算问题。</a:t>
            </a:r>
          </a:p>
          <a:p>
            <a:pPr marL="0" indent="575945">
              <a:lnSpc>
                <a:spcPct val="150000"/>
              </a:lnSpc>
            </a:pPr>
            <a:r>
              <a:rPr lang="zh-CN" altLang="en-US" sz="2400" dirty="0">
                <a:latin typeface="+mn-ea"/>
                <a:ea typeface="+mn-ea"/>
              </a:rPr>
              <a:t>估算可重用代码量的最好办法就是由程序员或系统分析员详细地考查已存在的代码，估算出新项目可重用的代码中需重新设计的代码百分比、需重新编码或修改的代码百分比以及需重新测试的代码百分比。</a:t>
            </a:r>
          </a:p>
          <a:p>
            <a:pPr marL="0" indent="575945">
              <a:lnSpc>
                <a:spcPct val="150000"/>
              </a:lnSpc>
            </a:pPr>
            <a:r>
              <a:rPr lang="zh-CN" altLang="en-US" sz="2400" dirty="0">
                <a:latin typeface="+mn-ea"/>
                <a:ea typeface="+mn-ea"/>
              </a:rPr>
              <a:t>根据这三个百分比，可用下面的计算公式计算等价新代码行：</a:t>
            </a:r>
          </a:p>
          <a:p>
            <a:pPr marL="0" indent="575945">
              <a:lnSpc>
                <a:spcPct val="150000"/>
              </a:lnSpc>
            </a:pPr>
            <a:r>
              <a:rPr lang="zh-CN" altLang="en-US" sz="2400" dirty="0">
                <a:solidFill>
                  <a:srgbClr val="C00000"/>
                </a:solidFill>
                <a:latin typeface="+mn-ea"/>
                <a:ea typeface="+mn-ea"/>
              </a:rPr>
              <a:t>等价代码行</a:t>
            </a:r>
            <a:r>
              <a:rPr lang="en-US" altLang="zh-CN" sz="2400" dirty="0">
                <a:solidFill>
                  <a:srgbClr val="C00000"/>
                </a:solidFill>
                <a:latin typeface="+mn-ea"/>
                <a:ea typeface="+mn-ea"/>
              </a:rPr>
              <a:t>=[(</a:t>
            </a:r>
            <a:r>
              <a:rPr lang="zh-CN" altLang="en-US" sz="2400" dirty="0">
                <a:solidFill>
                  <a:srgbClr val="C00000"/>
                </a:solidFill>
                <a:latin typeface="+mn-ea"/>
                <a:ea typeface="+mn-ea"/>
              </a:rPr>
              <a:t>重新设计</a:t>
            </a:r>
            <a:r>
              <a:rPr lang="en-US" altLang="zh-CN" sz="2400" dirty="0">
                <a:solidFill>
                  <a:srgbClr val="C00000"/>
                </a:solidFill>
                <a:latin typeface="+mn-ea"/>
                <a:ea typeface="+mn-ea"/>
              </a:rPr>
              <a:t>%+</a:t>
            </a:r>
            <a:r>
              <a:rPr lang="zh-CN" altLang="en-US" sz="2400" dirty="0">
                <a:solidFill>
                  <a:srgbClr val="C00000"/>
                </a:solidFill>
                <a:latin typeface="+mn-ea"/>
                <a:ea typeface="+mn-ea"/>
              </a:rPr>
              <a:t>重新编码</a:t>
            </a:r>
            <a:r>
              <a:rPr lang="en-US" altLang="zh-CN" sz="2400" dirty="0">
                <a:solidFill>
                  <a:srgbClr val="C00000"/>
                </a:solidFill>
                <a:latin typeface="+mn-ea"/>
                <a:ea typeface="+mn-ea"/>
              </a:rPr>
              <a:t>%+</a:t>
            </a:r>
            <a:r>
              <a:rPr lang="zh-CN" altLang="en-US" sz="2400" dirty="0">
                <a:solidFill>
                  <a:srgbClr val="C00000"/>
                </a:solidFill>
                <a:latin typeface="+mn-ea"/>
                <a:ea typeface="+mn-ea"/>
              </a:rPr>
              <a:t>重新测试</a:t>
            </a:r>
            <a:r>
              <a:rPr lang="en-US" altLang="zh-CN" sz="2400" dirty="0">
                <a:solidFill>
                  <a:srgbClr val="C00000"/>
                </a:solidFill>
                <a:latin typeface="+mn-ea"/>
                <a:ea typeface="+mn-ea"/>
              </a:rPr>
              <a:t>%)/3]×</a:t>
            </a:r>
            <a:r>
              <a:rPr lang="zh-CN" altLang="en-US" sz="2400" dirty="0">
                <a:solidFill>
                  <a:srgbClr val="C00000"/>
                </a:solidFill>
                <a:latin typeface="+mn-ea"/>
                <a:ea typeface="+mn-ea"/>
              </a:rPr>
              <a:t>已有代码</a:t>
            </a:r>
          </a:p>
          <a:p>
            <a:pPr marL="0" indent="575945">
              <a:lnSpc>
                <a:spcPct val="150000"/>
              </a:lnSpc>
            </a:pPr>
            <a:r>
              <a:rPr lang="zh-CN" altLang="en-US" sz="2400" dirty="0">
                <a:latin typeface="+mn-ea"/>
                <a:ea typeface="+mn-ea"/>
              </a:rPr>
              <a:t>比如：有</a:t>
            </a:r>
            <a:r>
              <a:rPr lang="en-US" altLang="zh-CN" sz="2400" dirty="0">
                <a:latin typeface="+mn-ea"/>
                <a:ea typeface="+mn-ea"/>
              </a:rPr>
              <a:t>10000</a:t>
            </a:r>
            <a:r>
              <a:rPr lang="zh-CN" altLang="en-US" sz="2400" dirty="0">
                <a:latin typeface="+mn-ea"/>
                <a:ea typeface="+mn-ea"/>
              </a:rPr>
              <a:t>行代码，假定</a:t>
            </a:r>
            <a:r>
              <a:rPr lang="en-US" altLang="zh-CN" sz="2400" dirty="0">
                <a:latin typeface="+mn-ea"/>
                <a:ea typeface="+mn-ea"/>
              </a:rPr>
              <a:t>30%</a:t>
            </a:r>
            <a:r>
              <a:rPr lang="zh-CN" altLang="en-US" sz="2400" dirty="0">
                <a:latin typeface="+mn-ea"/>
                <a:ea typeface="+mn-ea"/>
              </a:rPr>
              <a:t>需要重新设计，</a:t>
            </a:r>
            <a:r>
              <a:rPr lang="en-US" altLang="zh-CN" sz="2400" dirty="0">
                <a:latin typeface="+mn-ea"/>
                <a:ea typeface="+mn-ea"/>
              </a:rPr>
              <a:t>50%</a:t>
            </a:r>
            <a:r>
              <a:rPr lang="zh-CN" altLang="en-US" sz="2400" dirty="0">
                <a:latin typeface="+mn-ea"/>
                <a:ea typeface="+mn-ea"/>
              </a:rPr>
              <a:t>需要重新编码，</a:t>
            </a:r>
            <a:r>
              <a:rPr lang="en-US" altLang="zh-CN" sz="2400" dirty="0">
                <a:latin typeface="+mn-ea"/>
                <a:ea typeface="+mn-ea"/>
              </a:rPr>
              <a:t>70%</a:t>
            </a:r>
            <a:r>
              <a:rPr lang="zh-CN" altLang="en-US" sz="2400" dirty="0">
                <a:latin typeface="+mn-ea"/>
                <a:ea typeface="+mn-ea"/>
              </a:rPr>
              <a:t>需要重新测试，那么其等价的代码行可以计算为：</a:t>
            </a:r>
          </a:p>
          <a:p>
            <a:pPr marL="0" indent="575945">
              <a:lnSpc>
                <a:spcPct val="150000"/>
              </a:lnSpc>
            </a:pPr>
            <a:r>
              <a:rPr lang="zh-CN" altLang="en-US" sz="2400" dirty="0">
                <a:latin typeface="+mn-ea"/>
                <a:ea typeface="+mn-ea"/>
              </a:rPr>
              <a:t>等价代码行</a:t>
            </a:r>
            <a:r>
              <a:rPr lang="en-US" altLang="zh-CN" sz="2400" dirty="0">
                <a:latin typeface="+mn-ea"/>
                <a:ea typeface="+mn-ea"/>
              </a:rPr>
              <a:t>=[(30%+50%+70%)/3]×10000=5000</a:t>
            </a:r>
            <a:r>
              <a:rPr lang="zh-CN" altLang="en-US" sz="2400" dirty="0">
                <a:latin typeface="+mn-ea"/>
                <a:ea typeface="+mn-ea"/>
              </a:rPr>
              <a:t>。</a:t>
            </a:r>
          </a:p>
          <a:p>
            <a:pPr marL="0" indent="575945">
              <a:lnSpc>
                <a:spcPct val="150000"/>
              </a:lnSpc>
            </a:pPr>
            <a:r>
              <a:rPr lang="zh-CN" altLang="en-US" sz="2400" dirty="0">
                <a:latin typeface="+mn-ea"/>
                <a:ea typeface="+mn-ea"/>
              </a:rPr>
              <a:t>即：重用这</a:t>
            </a:r>
            <a:r>
              <a:rPr lang="en-US" altLang="zh-CN" sz="2400" dirty="0">
                <a:latin typeface="+mn-ea"/>
                <a:ea typeface="+mn-ea"/>
              </a:rPr>
              <a:t>10000</a:t>
            </a:r>
            <a:r>
              <a:rPr lang="zh-CN" altLang="en-US" sz="2400" dirty="0">
                <a:latin typeface="+mn-ea"/>
                <a:ea typeface="+mn-ea"/>
              </a:rPr>
              <a:t>代码相当于编写</a:t>
            </a:r>
            <a:r>
              <a:rPr lang="en-US" altLang="zh-CN" sz="2400" dirty="0">
                <a:latin typeface="+mn-ea"/>
                <a:ea typeface="+mn-ea"/>
              </a:rPr>
              <a:t>5000</a:t>
            </a:r>
            <a:r>
              <a:rPr lang="zh-CN" altLang="en-US" sz="2400" dirty="0">
                <a:latin typeface="+mn-ea"/>
                <a:ea typeface="+mn-ea"/>
              </a:rPr>
              <a:t>代码行的规模。</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3432175" y="-109538"/>
            <a:ext cx="0" cy="7670801"/>
          </a:xfrm>
          <a:prstGeom prst="line">
            <a:avLst/>
          </a:prstGeom>
          <a:ln w="28575">
            <a:solidFill>
              <a:srgbClr val="25A2FF"/>
            </a:solidFill>
            <a:prstDash val="sys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p:cNvSpPr txBox="1">
            <a:spLocks noChangeArrowheads="1"/>
          </p:cNvSpPr>
          <p:nvPr/>
        </p:nvSpPr>
        <p:spPr bwMode="auto">
          <a:xfrm>
            <a:off x="4049713" y="1001713"/>
            <a:ext cx="2400651"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800" b="1" dirty="0">
                <a:solidFill>
                  <a:srgbClr val="005EA4"/>
                </a:solidFill>
                <a:latin typeface="微软雅黑" panose="020B0503020204020204" pitchFamily="34" charset="-122"/>
              </a:rPr>
              <a:t>一、规模估算</a:t>
            </a:r>
            <a:endParaRPr lang="zh-CN" altLang="zh-CN" sz="2800" b="1" dirty="0">
              <a:solidFill>
                <a:srgbClr val="005EA4"/>
              </a:solidFill>
              <a:latin typeface="微软雅黑" panose="020B0503020204020204" pitchFamily="34" charset="-122"/>
            </a:endParaRPr>
          </a:p>
        </p:txBody>
      </p:sp>
      <p:sp>
        <p:nvSpPr>
          <p:cNvPr id="5" name="TextBox 4"/>
          <p:cNvSpPr txBox="1">
            <a:spLocks noChangeArrowheads="1"/>
          </p:cNvSpPr>
          <p:nvPr/>
        </p:nvSpPr>
        <p:spPr bwMode="auto">
          <a:xfrm>
            <a:off x="3925888" y="3273425"/>
            <a:ext cx="2508053"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005EA4"/>
                </a:solidFill>
                <a:latin typeface="微软雅黑" panose="020B0503020204020204" pitchFamily="34" charset="-122"/>
              </a:rPr>
              <a:t>三、工期估算</a:t>
            </a:r>
            <a:endParaRPr lang="zh-CN" altLang="zh-CN" sz="2800" b="1" dirty="0">
              <a:solidFill>
                <a:srgbClr val="005EA4"/>
              </a:solidFill>
              <a:latin typeface="微软雅黑" panose="020B0503020204020204" pitchFamily="34" charset="-122"/>
            </a:endParaRPr>
          </a:p>
        </p:txBody>
      </p:sp>
      <p:sp>
        <p:nvSpPr>
          <p:cNvPr id="6" name="Rectangle 6"/>
          <p:cNvSpPr>
            <a:spLocks noChangeArrowheads="1"/>
          </p:cNvSpPr>
          <p:nvPr/>
        </p:nvSpPr>
        <p:spPr bwMode="auto">
          <a:xfrm>
            <a:off x="0" y="0"/>
            <a:ext cx="3246438" cy="7561263"/>
          </a:xfrm>
          <a:prstGeom prst="rect">
            <a:avLst/>
          </a:prstGeom>
          <a:solidFill>
            <a:srgbClr val="0070C0"/>
          </a:solidFill>
          <a:ln w="25400" algn="ctr">
            <a:noFill/>
            <a:miter lim="800000"/>
          </a:ln>
          <a:effectLst>
            <a:outerShdw blurRad="50800" dist="38100" dir="2700000" algn="tl" rotWithShape="0">
              <a:prstClr val="black">
                <a:alpha val="40000"/>
              </a:prstClr>
            </a:outerShdw>
          </a:effectLst>
        </p:spPr>
        <p:txBody>
          <a:bodyPr lIns="68589" tIns="34295" rIns="68589" bIns="34295" anchor="ctr"/>
          <a:lstStyle/>
          <a:p>
            <a:pPr algn="ctr" defTabSz="685800" fontAlgn="auto">
              <a:spcBef>
                <a:spcPts val="0"/>
              </a:spcBef>
              <a:spcAft>
                <a:spcPts val="0"/>
              </a:spcAft>
              <a:defRPr/>
            </a:pPr>
            <a:endParaRPr lang="en-US" altLang="zh-CN" sz="1400">
              <a:solidFill>
                <a:srgbClr val="FFFFFF"/>
              </a:solidFill>
              <a:latin typeface="Calibri" panose="020F0502020204030204" pitchFamily="34" charset="0"/>
              <a:ea typeface="+mn-ea"/>
            </a:endParaRPr>
          </a:p>
        </p:txBody>
      </p:sp>
      <p:sp>
        <p:nvSpPr>
          <p:cNvPr id="7" name="文本框 52"/>
          <p:cNvSpPr txBox="1">
            <a:spLocks noChangeArrowheads="1"/>
          </p:cNvSpPr>
          <p:nvPr/>
        </p:nvSpPr>
        <p:spPr bwMode="auto">
          <a:xfrm>
            <a:off x="430213" y="2336800"/>
            <a:ext cx="2376487" cy="323215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课</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程</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要</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求</a:t>
            </a:r>
          </a:p>
        </p:txBody>
      </p:sp>
      <p:sp>
        <p:nvSpPr>
          <p:cNvPr id="8" name="文本框 52"/>
          <p:cNvSpPr txBox="1">
            <a:spLocks noChangeArrowheads="1"/>
          </p:cNvSpPr>
          <p:nvPr/>
        </p:nvSpPr>
        <p:spPr bwMode="auto">
          <a:xfrm>
            <a:off x="-96838" y="608013"/>
            <a:ext cx="3430588" cy="498475"/>
          </a:xfrm>
          <a:prstGeom prst="rect">
            <a:avLst/>
          </a:prstGeom>
          <a:noFill/>
          <a:ln w="9525">
            <a:noFill/>
            <a:miter lim="800000"/>
          </a:ln>
        </p:spPr>
        <p:txBody>
          <a:bodyPr lIns="91450" tIns="45726" rIns="91450" bIns="45726">
            <a:spAutoFit/>
          </a:bodyPr>
          <a:lstStyle/>
          <a:p>
            <a:pPr algn="ctr" defTabSz="913765" fontAlgn="auto">
              <a:lnSpc>
                <a:spcPct val="120000"/>
              </a:lnSpc>
              <a:spcBef>
                <a:spcPts val="0"/>
              </a:spcBef>
              <a:spcAft>
                <a:spcPts val="0"/>
              </a:spcAft>
              <a:defRPr/>
            </a:pPr>
            <a:r>
              <a:rPr lang="zh-CN" altLang="en-US" sz="2400" b="1" spc="140" dirty="0">
                <a:solidFill>
                  <a:schemeClr val="bg1"/>
                </a:solidFill>
                <a:effectLst>
                  <a:outerShdw blurRad="38100" dist="38100" dir="2700000" algn="tl">
                    <a:srgbClr val="000000">
                      <a:alpha val="43137"/>
                    </a:srgbClr>
                  </a:outerShdw>
                </a:effectLst>
                <a:latin typeface="微软雅黑" panose="020B0503020204020204" pitchFamily="34" charset="-122"/>
              </a:rPr>
              <a:t>成本管理</a:t>
            </a:r>
          </a:p>
        </p:txBody>
      </p:sp>
      <p:sp>
        <p:nvSpPr>
          <p:cNvPr id="9" name="文本框 52"/>
          <p:cNvSpPr txBox="1">
            <a:spLocks noChangeArrowheads="1"/>
          </p:cNvSpPr>
          <p:nvPr/>
        </p:nvSpPr>
        <p:spPr bwMode="auto">
          <a:xfrm>
            <a:off x="166688" y="6718300"/>
            <a:ext cx="2952750" cy="36830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山东建筑大学</a:t>
            </a:r>
          </a:p>
        </p:txBody>
      </p:sp>
      <p:cxnSp>
        <p:nvCxnSpPr>
          <p:cNvPr id="22" name="直接连接符 21"/>
          <p:cNvCxnSpPr/>
          <p:nvPr/>
        </p:nvCxnSpPr>
        <p:spPr>
          <a:xfrm>
            <a:off x="3476625" y="41560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9" name="TextBox 3"/>
          <p:cNvSpPr txBox="1">
            <a:spLocks noChangeArrowheads="1"/>
          </p:cNvSpPr>
          <p:nvPr/>
        </p:nvSpPr>
        <p:spPr bwMode="auto">
          <a:xfrm>
            <a:off x="4011613" y="2084388"/>
            <a:ext cx="2759724"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800" b="1" dirty="0">
                <a:solidFill>
                  <a:srgbClr val="C00000"/>
                </a:solidFill>
                <a:latin typeface="微软雅黑" panose="020B0503020204020204" pitchFamily="34" charset="-122"/>
              </a:rPr>
              <a:t>二、工作量估算</a:t>
            </a:r>
            <a:endParaRPr lang="zh-CN" altLang="zh-CN" sz="2800" b="1" dirty="0">
              <a:solidFill>
                <a:srgbClr val="C00000"/>
              </a:solidFill>
              <a:latin typeface="微软雅黑" panose="020B0503020204020204" pitchFamily="34" charset="-122"/>
            </a:endParaRPr>
          </a:p>
        </p:txBody>
      </p:sp>
      <p:cxnSp>
        <p:nvCxnSpPr>
          <p:cNvPr id="21" name="直接连接符 20"/>
          <p:cNvCxnSpPr/>
          <p:nvPr/>
        </p:nvCxnSpPr>
        <p:spPr>
          <a:xfrm>
            <a:off x="3459163" y="2911475"/>
            <a:ext cx="5853112"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48063" y="1828800"/>
            <a:ext cx="5851525"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524250" y="763588"/>
            <a:ext cx="5851525" cy="20637"/>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432175" y="526732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6" name="TextBox 4"/>
          <p:cNvSpPr txBox="1">
            <a:spLocks noChangeArrowheads="1"/>
          </p:cNvSpPr>
          <p:nvPr/>
        </p:nvSpPr>
        <p:spPr bwMode="auto">
          <a:xfrm>
            <a:off x="3965575" y="4340225"/>
            <a:ext cx="2508053"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005EA4"/>
                </a:solidFill>
                <a:latin typeface="微软雅黑" panose="020B0503020204020204" pitchFamily="34" charset="-122"/>
              </a:rPr>
              <a:t>四、成本估算</a:t>
            </a:r>
            <a:endParaRPr lang="zh-CN" altLang="zh-CN" sz="2800" b="1" dirty="0">
              <a:solidFill>
                <a:srgbClr val="005EA4"/>
              </a:solidFill>
              <a:latin typeface="微软雅黑" panose="020B0503020204020204" pitchFamily="34" charset="-122"/>
            </a:endParaRPr>
          </a:p>
        </p:txBody>
      </p:sp>
      <p:cxnSp>
        <p:nvCxnSpPr>
          <p:cNvPr id="17" name="直接连接符 16"/>
          <p:cNvCxnSpPr/>
          <p:nvPr/>
        </p:nvCxnSpPr>
        <p:spPr>
          <a:xfrm>
            <a:off x="3476625" y="63785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8" name="TextBox 4"/>
          <p:cNvSpPr txBox="1">
            <a:spLocks noChangeArrowheads="1"/>
          </p:cNvSpPr>
          <p:nvPr/>
        </p:nvSpPr>
        <p:spPr bwMode="auto">
          <a:xfrm>
            <a:off x="3965575" y="5448300"/>
            <a:ext cx="1071762"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005EA4"/>
                </a:solidFill>
                <a:latin typeface="微软雅黑" panose="020B0503020204020204" pitchFamily="34" charset="-122"/>
              </a:rPr>
              <a:t>五、</a:t>
            </a:r>
            <a:endParaRPr lang="zh-CN" altLang="zh-CN" sz="2800" b="1" dirty="0">
              <a:solidFill>
                <a:srgbClr val="005EA4"/>
              </a:solidFill>
              <a:latin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500"/>
                            </p:stCondLst>
                            <p:childTnLst>
                              <p:par>
                                <p:cTn id="21" presetID="22" presetClass="entr" presetSubtype="1"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par>
                                <p:cTn id="24" presetID="12" presetClass="entr" presetSubtype="8"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p:tgtEl>
                                          <p:spTgt spid="4"/>
                                        </p:tgtEl>
                                        <p:attrNameLst>
                                          <p:attrName>ppt_x</p:attrName>
                                        </p:attrNameLst>
                                      </p:cBhvr>
                                      <p:tavLst>
                                        <p:tav tm="0">
                                          <p:val>
                                            <p:strVal val="#ppt_x-#ppt_w*1.125000"/>
                                          </p:val>
                                        </p:tav>
                                        <p:tav tm="100000">
                                          <p:val>
                                            <p:strVal val="#ppt_x"/>
                                          </p:val>
                                        </p:tav>
                                      </p:tavLst>
                                    </p:anim>
                                    <p:animEffect transition="in" filter="wipe(right)">
                                      <p:cBhvr>
                                        <p:cTn id="27" dur="500"/>
                                        <p:tgtEl>
                                          <p:spTgt spid="4"/>
                                        </p:tgtEl>
                                      </p:cBhvr>
                                    </p:animEffect>
                                  </p:childTnLst>
                                </p:cTn>
                              </p:par>
                              <p:par>
                                <p:cTn id="28" presetID="1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p:tgtEl>
                                          <p:spTgt spid="19"/>
                                        </p:tgtEl>
                                        <p:attrNameLst>
                                          <p:attrName>ppt_x</p:attrName>
                                        </p:attrNameLst>
                                      </p:cBhvr>
                                      <p:tavLst>
                                        <p:tav tm="0">
                                          <p:val>
                                            <p:strVal val="#ppt_x-#ppt_w*1.125000"/>
                                          </p:val>
                                        </p:tav>
                                        <p:tav tm="100000">
                                          <p:val>
                                            <p:strVal val="#ppt_x"/>
                                          </p:val>
                                        </p:tav>
                                      </p:tavLst>
                                    </p:anim>
                                    <p:animEffect transition="in" filter="wipe(right)">
                                      <p:cBhvr>
                                        <p:cTn id="31" dur="500"/>
                                        <p:tgtEl>
                                          <p:spTgt spid="19"/>
                                        </p:tgtEl>
                                      </p:cBhvr>
                                    </p:animEffect>
                                  </p:childTnLst>
                                </p:cTn>
                              </p:par>
                              <p:par>
                                <p:cTn id="32" presetID="12" presetClass="entr" presetSubtype="8"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p:tgtEl>
                                          <p:spTgt spid="5"/>
                                        </p:tgtEl>
                                        <p:attrNameLst>
                                          <p:attrName>ppt_x</p:attrName>
                                        </p:attrNameLst>
                                      </p:cBhvr>
                                      <p:tavLst>
                                        <p:tav tm="0">
                                          <p:val>
                                            <p:strVal val="#ppt_x-#ppt_w*1.125000"/>
                                          </p:val>
                                        </p:tav>
                                        <p:tav tm="100000">
                                          <p:val>
                                            <p:strVal val="#ppt_x"/>
                                          </p:val>
                                        </p:tav>
                                      </p:tavLst>
                                    </p:anim>
                                    <p:animEffect transition="in" filter="wipe(right)">
                                      <p:cBhvr>
                                        <p:cTn id="35" dur="500"/>
                                        <p:tgtEl>
                                          <p:spTgt spid="5"/>
                                        </p:tgtEl>
                                      </p:cBhvr>
                                    </p:animEffect>
                                  </p:childTnLst>
                                </p:cTn>
                              </p:par>
                            </p:childTnLst>
                          </p:cTn>
                        </p:par>
                        <p:par>
                          <p:cTn id="36" fill="hold">
                            <p:stCondLst>
                              <p:cond delay="2000"/>
                            </p:stCondLst>
                            <p:childTnLst>
                              <p:par>
                                <p:cTn id="37" presetID="22" presetClass="entr" presetSubtype="8"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left)">
                                      <p:cBhvr>
                                        <p:cTn id="43" dur="500"/>
                                        <p:tgtEl>
                                          <p:spTgt spid="23"/>
                                        </p:tgtEl>
                                      </p:cBhvr>
                                    </p:animEffect>
                                  </p:childTnLst>
                                </p:cTn>
                              </p:par>
                            </p:childTnLst>
                          </p:cTn>
                        </p:par>
                        <p:par>
                          <p:cTn id="44" fill="hold">
                            <p:stCondLst>
                              <p:cond delay="3000"/>
                            </p:stCondLst>
                            <p:childTnLst>
                              <p:par>
                                <p:cTn id="45" presetID="22" presetClass="entr" presetSubtype="8" fill="hold"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par>
                          <p:cTn id="48" fill="hold">
                            <p:stCondLst>
                              <p:cond delay="3500"/>
                            </p:stCondLst>
                            <p:childTnLst>
                              <p:par>
                                <p:cTn id="49" presetID="22" presetClass="entr" presetSubtype="8"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par>
                                <p:cTn id="56" presetID="12" presetClass="entr" presetSubtype="8"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p:tgtEl>
                                          <p:spTgt spid="16"/>
                                        </p:tgtEl>
                                        <p:attrNameLst>
                                          <p:attrName>ppt_x</p:attrName>
                                        </p:attrNameLst>
                                      </p:cBhvr>
                                      <p:tavLst>
                                        <p:tav tm="0">
                                          <p:val>
                                            <p:strVal val="#ppt_x-#ppt_w*1.125000"/>
                                          </p:val>
                                        </p:tav>
                                        <p:tav tm="100000">
                                          <p:val>
                                            <p:strVal val="#ppt_x"/>
                                          </p:val>
                                        </p:tav>
                                      </p:tavLst>
                                    </p:anim>
                                    <p:animEffect transition="in" filter="wipe(right)">
                                      <p:cBhvr>
                                        <p:cTn id="59" dur="500"/>
                                        <p:tgtEl>
                                          <p:spTgt spid="16"/>
                                        </p:tgtEl>
                                      </p:cBhvr>
                                    </p:animEffect>
                                  </p:childTnLst>
                                </p:cTn>
                              </p:par>
                            </p:childTnLst>
                          </p:cTn>
                        </p:par>
                        <p:par>
                          <p:cTn id="60" fill="hold">
                            <p:stCondLst>
                              <p:cond delay="4500"/>
                            </p:stCondLst>
                            <p:childTnLst>
                              <p:par>
                                <p:cTn id="61" presetID="22" presetClass="entr" presetSubtype="8" fill="hold"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left)">
                                      <p:cBhvr>
                                        <p:cTn id="63" dur="500"/>
                                        <p:tgtEl>
                                          <p:spTgt spid="17"/>
                                        </p:tgtEl>
                                      </p:cBhvr>
                                    </p:animEffect>
                                  </p:childTnLst>
                                </p:cTn>
                              </p:par>
                              <p:par>
                                <p:cTn id="64" presetID="12" presetClass="entr" presetSubtype="8"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p:tgtEl>
                                          <p:spTgt spid="18"/>
                                        </p:tgtEl>
                                        <p:attrNameLst>
                                          <p:attrName>ppt_x</p:attrName>
                                        </p:attrNameLst>
                                      </p:cBhvr>
                                      <p:tavLst>
                                        <p:tav tm="0">
                                          <p:val>
                                            <p:strVal val="#ppt_x-#ppt_w*1.125000"/>
                                          </p:val>
                                        </p:tav>
                                        <p:tav tm="100000">
                                          <p:val>
                                            <p:strVal val="#ppt_x"/>
                                          </p:val>
                                        </p:tav>
                                      </p:tavLst>
                                    </p:anim>
                                    <p:animEffect transition="in" filter="wipe(right)">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p:bldP spid="19" grpId="0"/>
      <p:bldP spid="16"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工作量估算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1109626" y="897666"/>
            <a:ext cx="9972747" cy="3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575945">
              <a:lnSpc>
                <a:spcPct val="150000"/>
              </a:lnSpc>
            </a:pPr>
            <a:r>
              <a:rPr lang="en-US" altLang="zh-CN" sz="2400" dirty="0">
                <a:solidFill>
                  <a:srgbClr val="C00000"/>
                </a:solidFill>
              </a:rPr>
              <a:t>【</a:t>
            </a:r>
            <a:r>
              <a:rPr lang="zh-CN" altLang="en-US" sz="2400" dirty="0">
                <a:solidFill>
                  <a:srgbClr val="C00000"/>
                </a:solidFill>
              </a:rPr>
              <a:t>工作量</a:t>
            </a:r>
            <a:r>
              <a:rPr lang="en-US" altLang="zh-CN" sz="2400" dirty="0">
                <a:solidFill>
                  <a:srgbClr val="C00000"/>
                </a:solidFill>
              </a:rPr>
              <a:t>】</a:t>
            </a:r>
            <a:r>
              <a:rPr lang="zh-CN" altLang="en-US" sz="2400" dirty="0"/>
              <a:t>指在软件项目建设过程中需要投入的</a:t>
            </a:r>
            <a:r>
              <a:rPr lang="zh-CN" altLang="en-US" sz="2400" dirty="0">
                <a:solidFill>
                  <a:srgbClr val="C00000"/>
                </a:solidFill>
              </a:rPr>
              <a:t>人力</a:t>
            </a:r>
            <a:r>
              <a:rPr lang="zh-CN" altLang="en-US" sz="2400" dirty="0"/>
              <a:t>和</a:t>
            </a:r>
            <a:r>
              <a:rPr lang="zh-CN" altLang="en-US" sz="2400" dirty="0">
                <a:solidFill>
                  <a:srgbClr val="C00000"/>
                </a:solidFill>
              </a:rPr>
              <a:t>时间</a:t>
            </a:r>
            <a:r>
              <a:rPr lang="zh-CN" altLang="en-US" sz="2400" dirty="0"/>
              <a:t>，一般</a:t>
            </a:r>
            <a:r>
              <a:rPr lang="zh-CN" altLang="en-US" sz="2400" dirty="0">
                <a:solidFill>
                  <a:srgbClr val="C00000"/>
                </a:solidFill>
              </a:rPr>
              <a:t>用人月数</a:t>
            </a:r>
            <a:r>
              <a:rPr lang="zh-CN" altLang="en-US" sz="2400" dirty="0"/>
              <a:t>进行度量。</a:t>
            </a:r>
            <a:endParaRPr lang="en-US" altLang="zh-CN" sz="2400" dirty="0"/>
          </a:p>
          <a:p>
            <a:pPr marL="0" indent="575945">
              <a:lnSpc>
                <a:spcPct val="150000"/>
              </a:lnSpc>
            </a:pPr>
            <a:endParaRPr lang="en-US" altLang="zh-CN" sz="2400" dirty="0"/>
          </a:p>
          <a:p>
            <a:pPr marL="0" indent="575945">
              <a:lnSpc>
                <a:spcPct val="150000"/>
              </a:lnSpc>
            </a:pPr>
            <a:r>
              <a:rPr lang="zh-CN" altLang="en-US" sz="2400" dirty="0"/>
              <a:t>由于在软件项目开发过程中，因需求变更导致工作量改变的情形不可避免，故可分别在立项阶段进行</a:t>
            </a:r>
            <a:r>
              <a:rPr lang="zh-CN" altLang="en-US" sz="2400" dirty="0">
                <a:solidFill>
                  <a:srgbClr val="C00000"/>
                </a:solidFill>
              </a:rPr>
              <a:t>工作量预算</a:t>
            </a:r>
            <a:r>
              <a:rPr lang="zh-CN" altLang="en-US" sz="2400" dirty="0"/>
              <a:t>，在项目完成阶段进行</a:t>
            </a:r>
            <a:r>
              <a:rPr lang="zh-CN" altLang="en-US" sz="2400" dirty="0">
                <a:solidFill>
                  <a:srgbClr val="C00000"/>
                </a:solidFill>
              </a:rPr>
              <a:t>工作量核算</a:t>
            </a:r>
            <a:r>
              <a:rPr lang="zh-CN" altLang="en-US" sz="2400" dirty="0"/>
              <a:t>。</a:t>
            </a:r>
            <a:endParaRPr lang="en-US" altLang="zh-CN"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工作量估算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706438" y="1090613"/>
            <a:ext cx="10779125" cy="3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0">
              <a:lnSpc>
                <a:spcPct val="150000"/>
              </a:lnSpc>
            </a:pPr>
            <a:r>
              <a:rPr lang="zh-CN" altLang="en-US" sz="2400" dirty="0"/>
              <a:t>根据规模估计结果，需要项目过程中各阶段的工作量和总工作量。目前，可以参考的历史数据包括：</a:t>
            </a:r>
            <a:endParaRPr lang="en-US" altLang="zh-CN" sz="2400" dirty="0"/>
          </a:p>
          <a:p>
            <a:pPr marL="457200" indent="-457200">
              <a:lnSpc>
                <a:spcPct val="150000"/>
              </a:lnSpc>
              <a:buFont typeface="+mj-lt"/>
              <a:buAutoNum type="arabicPeriod"/>
            </a:pPr>
            <a:r>
              <a:rPr lang="zh-CN" altLang="en-US" sz="2400" dirty="0"/>
              <a:t>有历史项目的准确数据；</a:t>
            </a:r>
            <a:endParaRPr lang="en-US" altLang="zh-CN" sz="2400" dirty="0"/>
          </a:p>
          <a:p>
            <a:pPr marL="457200" indent="-457200">
              <a:lnSpc>
                <a:spcPct val="150000"/>
              </a:lnSpc>
              <a:buFont typeface="+mj-lt"/>
              <a:buAutoNum type="arabicPeriod"/>
            </a:pPr>
            <a:r>
              <a:rPr lang="zh-CN" altLang="en-US" sz="2400" dirty="0"/>
              <a:t>至少有一个历史项目与现有的项目规模类似；</a:t>
            </a:r>
            <a:endParaRPr lang="en-US" altLang="zh-CN" sz="2400" dirty="0"/>
          </a:p>
          <a:p>
            <a:pPr marL="457200" indent="-457200">
              <a:lnSpc>
                <a:spcPct val="150000"/>
              </a:lnSpc>
              <a:buFont typeface="+mj-lt"/>
              <a:buAutoNum type="arabicPeriod"/>
            </a:pPr>
            <a:r>
              <a:rPr lang="zh-CN" altLang="en-US" sz="2400" dirty="0"/>
              <a:t>现有项目将和类似的历史项目采用类似的生命周期、开发过程、开发技术和工具，类似技能和经验的项目成员。同时可以参照业界公布的经验数据。</a:t>
            </a:r>
            <a:endParaRPr lang="en-US" altLang="zh-CN"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工作量估算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706438" y="1090613"/>
            <a:ext cx="10779125" cy="279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0">
              <a:lnSpc>
                <a:spcPct val="150000"/>
              </a:lnSpc>
            </a:pPr>
            <a:r>
              <a:rPr lang="zh-CN" altLang="en-US" sz="2400" dirty="0">
                <a:latin typeface="+mn-ea"/>
                <a:ea typeface="+mn-ea"/>
              </a:rPr>
              <a:t>工作量估计公式：</a:t>
            </a:r>
            <a:endParaRPr lang="en-US" altLang="zh-CN" sz="2400" dirty="0">
              <a:latin typeface="+mn-ea"/>
              <a:ea typeface="+mn-ea"/>
            </a:endParaRPr>
          </a:p>
          <a:p>
            <a:pPr marL="0" indent="0">
              <a:lnSpc>
                <a:spcPct val="150000"/>
              </a:lnSpc>
            </a:pPr>
            <a:r>
              <a:rPr lang="zh-CN" altLang="en-US" sz="2400" dirty="0">
                <a:solidFill>
                  <a:srgbClr val="C00000"/>
                </a:solidFill>
                <a:latin typeface="+mn-ea"/>
                <a:ea typeface="+mn-ea"/>
              </a:rPr>
              <a:t>工作量</a:t>
            </a:r>
            <a:r>
              <a:rPr lang="en-US" altLang="zh-CN" sz="2400" dirty="0">
                <a:solidFill>
                  <a:srgbClr val="C00000"/>
                </a:solidFill>
                <a:latin typeface="+mn-ea"/>
                <a:ea typeface="+mn-ea"/>
              </a:rPr>
              <a:t>(</a:t>
            </a:r>
            <a:r>
              <a:rPr lang="zh-CN" altLang="en-US" sz="2400" dirty="0">
                <a:solidFill>
                  <a:srgbClr val="C00000"/>
                </a:solidFill>
                <a:latin typeface="+mn-ea"/>
                <a:ea typeface="+mn-ea"/>
              </a:rPr>
              <a:t>人月</a:t>
            </a:r>
            <a:r>
              <a:rPr lang="en-US" altLang="zh-CN" sz="2400" dirty="0">
                <a:solidFill>
                  <a:srgbClr val="C00000"/>
                </a:solidFill>
                <a:latin typeface="+mn-ea"/>
                <a:ea typeface="+mn-ea"/>
              </a:rPr>
              <a:t>) = {</a:t>
            </a:r>
            <a:r>
              <a:rPr lang="zh-CN" altLang="en-US" sz="2400" dirty="0">
                <a:solidFill>
                  <a:srgbClr val="C00000"/>
                </a:solidFill>
                <a:latin typeface="+mn-ea"/>
                <a:ea typeface="+mn-ea"/>
              </a:rPr>
              <a:t>规模</a:t>
            </a:r>
            <a:r>
              <a:rPr lang="en-US" altLang="zh-CN" sz="2400" dirty="0">
                <a:solidFill>
                  <a:srgbClr val="C00000"/>
                </a:solidFill>
                <a:latin typeface="+mn-ea"/>
                <a:ea typeface="+mn-ea"/>
              </a:rPr>
              <a:t>(LOC) / </a:t>
            </a:r>
            <a:r>
              <a:rPr lang="zh-CN" altLang="en-US" sz="2400" dirty="0">
                <a:solidFill>
                  <a:srgbClr val="C00000"/>
                </a:solidFill>
                <a:latin typeface="+mn-ea"/>
                <a:ea typeface="+mn-ea"/>
              </a:rPr>
              <a:t>生产率</a:t>
            </a:r>
            <a:r>
              <a:rPr lang="en-US" altLang="zh-CN" sz="2400" dirty="0">
                <a:solidFill>
                  <a:srgbClr val="C00000"/>
                </a:solidFill>
                <a:latin typeface="+mn-ea"/>
                <a:ea typeface="+mn-ea"/>
              </a:rPr>
              <a:t>(LOC/</a:t>
            </a:r>
            <a:r>
              <a:rPr lang="zh-CN" altLang="en-US" sz="2400" dirty="0">
                <a:solidFill>
                  <a:srgbClr val="C00000"/>
                </a:solidFill>
                <a:latin typeface="+mn-ea"/>
                <a:ea typeface="+mn-ea"/>
              </a:rPr>
              <a:t>人天</a:t>
            </a:r>
            <a:r>
              <a:rPr lang="en-US" altLang="zh-CN" sz="2400" dirty="0">
                <a:solidFill>
                  <a:srgbClr val="C00000"/>
                </a:solidFill>
                <a:latin typeface="+mn-ea"/>
                <a:ea typeface="+mn-ea"/>
              </a:rPr>
              <a:t>)} / 22(</a:t>
            </a:r>
            <a:r>
              <a:rPr lang="zh-CN" altLang="en-US" sz="2400" dirty="0">
                <a:solidFill>
                  <a:srgbClr val="C00000"/>
                </a:solidFill>
                <a:latin typeface="+mn-ea"/>
                <a:ea typeface="+mn-ea"/>
              </a:rPr>
              <a:t>天</a:t>
            </a:r>
            <a:r>
              <a:rPr lang="en-US" altLang="zh-CN" sz="2400" dirty="0">
                <a:solidFill>
                  <a:srgbClr val="C00000"/>
                </a:solidFill>
                <a:latin typeface="+mn-ea"/>
                <a:ea typeface="+mn-ea"/>
              </a:rPr>
              <a:t>/</a:t>
            </a:r>
            <a:r>
              <a:rPr lang="zh-CN" altLang="en-US" sz="2400" dirty="0">
                <a:solidFill>
                  <a:srgbClr val="C00000"/>
                </a:solidFill>
                <a:latin typeface="+mn-ea"/>
                <a:ea typeface="+mn-ea"/>
              </a:rPr>
              <a:t>月</a:t>
            </a:r>
            <a:r>
              <a:rPr lang="en-US" altLang="zh-CN" sz="2400" dirty="0">
                <a:solidFill>
                  <a:srgbClr val="C00000"/>
                </a:solidFill>
                <a:latin typeface="+mn-ea"/>
                <a:ea typeface="+mn-ea"/>
              </a:rPr>
              <a:t>)</a:t>
            </a:r>
          </a:p>
          <a:p>
            <a:pPr marL="0" indent="0">
              <a:lnSpc>
                <a:spcPct val="150000"/>
              </a:lnSpc>
            </a:pPr>
            <a:endParaRPr lang="en-US" altLang="zh-CN" sz="2400" dirty="0">
              <a:solidFill>
                <a:srgbClr val="C00000"/>
              </a:solidFill>
              <a:latin typeface="+mn-ea"/>
              <a:ea typeface="+mn-ea"/>
            </a:endParaRPr>
          </a:p>
          <a:p>
            <a:pPr marL="0" indent="0">
              <a:lnSpc>
                <a:spcPct val="150000"/>
              </a:lnSpc>
            </a:pPr>
            <a:r>
              <a:rPr lang="zh-CN" altLang="en-US" sz="2400" dirty="0">
                <a:latin typeface="+mn-ea"/>
                <a:ea typeface="+mn-ea"/>
              </a:rPr>
              <a:t>参考历史项目数据中各阶段工作量所占百分比，可估算出各阶段工作量：</a:t>
            </a:r>
            <a:endParaRPr lang="en-US" altLang="zh-CN" sz="2400" dirty="0">
              <a:latin typeface="+mn-ea"/>
              <a:ea typeface="+mn-ea"/>
            </a:endParaRPr>
          </a:p>
          <a:p>
            <a:pPr marL="0" indent="0">
              <a:lnSpc>
                <a:spcPct val="150000"/>
              </a:lnSpc>
            </a:pPr>
            <a:r>
              <a:rPr lang="zh-CN" altLang="en-US" sz="2400" dirty="0">
                <a:solidFill>
                  <a:srgbClr val="C00000"/>
                </a:solidFill>
                <a:latin typeface="+mn-ea"/>
                <a:ea typeface="+mn-ea"/>
              </a:rPr>
              <a:t>各阶段工作量（人月）</a:t>
            </a:r>
            <a:r>
              <a:rPr lang="en-US" altLang="zh-CN" sz="2400" dirty="0">
                <a:solidFill>
                  <a:srgbClr val="C00000"/>
                </a:solidFill>
                <a:latin typeface="+mn-ea"/>
                <a:ea typeface="+mn-ea"/>
              </a:rPr>
              <a:t>= </a:t>
            </a:r>
            <a:r>
              <a:rPr lang="zh-CN" altLang="en-US" sz="2400" dirty="0">
                <a:solidFill>
                  <a:srgbClr val="C00000"/>
                </a:solidFill>
                <a:latin typeface="+mn-ea"/>
                <a:ea typeface="+mn-ea"/>
              </a:rPr>
              <a:t>总工作量（人月）</a:t>
            </a:r>
            <a:r>
              <a:rPr lang="en-US" altLang="zh-CN" sz="2400" dirty="0">
                <a:solidFill>
                  <a:srgbClr val="C00000"/>
                </a:solidFill>
                <a:latin typeface="+mn-ea"/>
                <a:ea typeface="+mn-ea"/>
              </a:rPr>
              <a:t>× </a:t>
            </a:r>
            <a:r>
              <a:rPr lang="zh-CN" altLang="en-US" sz="2400" dirty="0">
                <a:solidFill>
                  <a:srgbClr val="C00000"/>
                </a:solidFill>
                <a:latin typeface="+mn-ea"/>
                <a:ea typeface="+mn-ea"/>
              </a:rPr>
              <a:t>各阶段工作量的百分比</a:t>
            </a:r>
            <a:endParaRPr lang="en-US" altLang="zh-CN" sz="2400" dirty="0">
              <a:solidFill>
                <a:srgbClr val="C00000"/>
              </a:solidFill>
              <a:latin typeface="+mn-ea"/>
              <a:ea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工作量估算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706438" y="1090613"/>
            <a:ext cx="10779125" cy="335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0">
              <a:lnSpc>
                <a:spcPct val="150000"/>
              </a:lnSpc>
            </a:pPr>
            <a:r>
              <a:rPr lang="zh-CN" altLang="en-US" sz="2400" dirty="0">
                <a:latin typeface="+mn-ea"/>
                <a:ea typeface="+mn-ea"/>
              </a:rPr>
              <a:t>项目建设阶段一般可分为：</a:t>
            </a:r>
            <a:endParaRPr lang="en-US" altLang="zh-CN" sz="2400" dirty="0">
              <a:latin typeface="+mn-ea"/>
              <a:ea typeface="+mn-ea"/>
            </a:endParaRPr>
          </a:p>
          <a:p>
            <a:pPr>
              <a:lnSpc>
                <a:spcPct val="150000"/>
              </a:lnSpc>
              <a:buFont typeface="Wingdings" panose="05000000000000000000" pitchFamily="2" charset="2"/>
              <a:buChar char="Ø"/>
            </a:pPr>
            <a:r>
              <a:rPr lang="zh-CN" altLang="en-US" sz="2400" dirty="0">
                <a:solidFill>
                  <a:srgbClr val="C00000"/>
                </a:solidFill>
                <a:latin typeface="+mn-ea"/>
                <a:ea typeface="+mn-ea"/>
              </a:rPr>
              <a:t>开发阶段</a:t>
            </a:r>
            <a:endParaRPr lang="en-US" altLang="zh-CN" sz="2400" dirty="0">
              <a:solidFill>
                <a:srgbClr val="C00000"/>
              </a:solidFill>
              <a:latin typeface="+mn-ea"/>
              <a:ea typeface="+mn-ea"/>
            </a:endParaRPr>
          </a:p>
          <a:p>
            <a:pPr>
              <a:lnSpc>
                <a:spcPct val="150000"/>
              </a:lnSpc>
              <a:buFont typeface="Wingdings" panose="05000000000000000000" pitchFamily="2" charset="2"/>
              <a:buChar char="Ø"/>
            </a:pPr>
            <a:r>
              <a:rPr lang="zh-CN" altLang="en-US" sz="2400" dirty="0">
                <a:solidFill>
                  <a:srgbClr val="C00000"/>
                </a:solidFill>
                <a:latin typeface="+mn-ea"/>
                <a:ea typeface="+mn-ea"/>
              </a:rPr>
              <a:t>实施阶段</a:t>
            </a:r>
            <a:endParaRPr lang="en-US" altLang="zh-CN" sz="2400" dirty="0">
              <a:solidFill>
                <a:srgbClr val="C00000"/>
              </a:solidFill>
              <a:latin typeface="+mn-ea"/>
              <a:ea typeface="+mn-ea"/>
            </a:endParaRPr>
          </a:p>
          <a:p>
            <a:pPr>
              <a:lnSpc>
                <a:spcPct val="150000"/>
              </a:lnSpc>
              <a:buFont typeface="Wingdings" panose="05000000000000000000" pitchFamily="2" charset="2"/>
              <a:buChar char="Ø"/>
            </a:pPr>
            <a:r>
              <a:rPr lang="zh-CN" altLang="en-US" sz="2400" dirty="0">
                <a:solidFill>
                  <a:srgbClr val="C00000"/>
                </a:solidFill>
                <a:latin typeface="+mn-ea"/>
                <a:ea typeface="+mn-ea"/>
              </a:rPr>
              <a:t>运行维护阶段</a:t>
            </a:r>
            <a:endParaRPr lang="en-US" altLang="zh-CN" sz="2400" dirty="0">
              <a:solidFill>
                <a:srgbClr val="C00000"/>
              </a:solidFill>
              <a:latin typeface="+mn-ea"/>
              <a:ea typeface="+mn-ea"/>
            </a:endParaRPr>
          </a:p>
          <a:p>
            <a:pPr marL="0" indent="0">
              <a:lnSpc>
                <a:spcPct val="150000"/>
              </a:lnSpc>
            </a:pPr>
            <a:r>
              <a:rPr lang="zh-CN" altLang="en-US" sz="2400" dirty="0">
                <a:latin typeface="+mn-ea"/>
                <a:ea typeface="+mn-ea"/>
              </a:rPr>
              <a:t>故工作量需分阶段进行估算：</a:t>
            </a:r>
            <a:endParaRPr lang="en-US" altLang="zh-CN" sz="2400" dirty="0">
              <a:latin typeface="+mn-ea"/>
              <a:ea typeface="+mn-ea"/>
            </a:endParaRPr>
          </a:p>
          <a:p>
            <a:pPr marL="0" indent="0" algn="ctr">
              <a:lnSpc>
                <a:spcPct val="150000"/>
              </a:lnSpc>
            </a:pPr>
            <a:r>
              <a:rPr lang="zh-CN" altLang="en-US" sz="2400" dirty="0">
                <a:solidFill>
                  <a:srgbClr val="C00000"/>
                </a:solidFill>
                <a:latin typeface="+mn-ea"/>
                <a:ea typeface="+mn-ea"/>
              </a:rPr>
              <a:t>工作量 </a:t>
            </a:r>
            <a:r>
              <a:rPr lang="en-US" altLang="zh-CN" sz="2400" dirty="0">
                <a:solidFill>
                  <a:srgbClr val="C00000"/>
                </a:solidFill>
                <a:latin typeface="+mn-ea"/>
                <a:ea typeface="+mn-ea"/>
              </a:rPr>
              <a:t>= </a:t>
            </a:r>
            <a:r>
              <a:rPr lang="zh-CN" altLang="en-US" sz="2400" dirty="0">
                <a:solidFill>
                  <a:srgbClr val="C00000"/>
                </a:solidFill>
                <a:latin typeface="+mn-ea"/>
                <a:ea typeface="+mn-ea"/>
              </a:rPr>
              <a:t>开发工作量 </a:t>
            </a:r>
            <a:r>
              <a:rPr lang="en-US" altLang="zh-CN" sz="2400" dirty="0">
                <a:solidFill>
                  <a:srgbClr val="C00000"/>
                </a:solidFill>
                <a:latin typeface="+mn-ea"/>
                <a:ea typeface="+mn-ea"/>
              </a:rPr>
              <a:t>+ </a:t>
            </a:r>
            <a:r>
              <a:rPr lang="zh-CN" altLang="en-US" sz="2400" dirty="0">
                <a:solidFill>
                  <a:srgbClr val="C00000"/>
                </a:solidFill>
                <a:latin typeface="+mn-ea"/>
                <a:ea typeface="+mn-ea"/>
              </a:rPr>
              <a:t>实施工作量 </a:t>
            </a:r>
            <a:r>
              <a:rPr lang="en-US" altLang="zh-CN" sz="2400" dirty="0">
                <a:solidFill>
                  <a:srgbClr val="C00000"/>
                </a:solidFill>
                <a:latin typeface="+mn-ea"/>
                <a:ea typeface="+mn-ea"/>
              </a:rPr>
              <a:t>+ </a:t>
            </a:r>
            <a:r>
              <a:rPr lang="zh-CN" altLang="en-US" sz="2400" dirty="0">
                <a:solidFill>
                  <a:srgbClr val="C00000"/>
                </a:solidFill>
                <a:latin typeface="+mn-ea"/>
                <a:ea typeface="+mn-ea"/>
              </a:rPr>
              <a:t>维护工作量</a:t>
            </a:r>
            <a:endParaRPr lang="en-US" altLang="zh-CN" sz="2400" dirty="0">
              <a:solidFill>
                <a:srgbClr val="C00000"/>
              </a:solidFill>
              <a:latin typeface="+mn-ea"/>
              <a:ea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943"/>
            <a:ext cx="93033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工作量估算</a:t>
            </a:r>
            <a:r>
              <a:rPr lang="en-US" altLang="zh-CN" sz="2400" b="1" dirty="0">
                <a:solidFill>
                  <a:srgbClr val="01395C"/>
                </a:solidFill>
                <a:latin typeface="微软雅黑" panose="020B0503020204020204" pitchFamily="34" charset="-122"/>
                <a:ea typeface="方正粗宋简体"/>
                <a:cs typeface="方正粗宋简体"/>
              </a:rPr>
              <a:t>-</a:t>
            </a:r>
            <a:r>
              <a:rPr lang="zh-CN" altLang="en-US" sz="2400" b="1" dirty="0">
                <a:solidFill>
                  <a:srgbClr val="01395C"/>
                </a:solidFill>
                <a:latin typeface="微软雅黑" panose="020B0503020204020204" pitchFamily="34" charset="-122"/>
                <a:ea typeface="方正粗宋简体"/>
                <a:cs typeface="方正粗宋简体"/>
              </a:rPr>
              <a:t>开发阶段工作量估算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706438" y="1090613"/>
            <a:ext cx="10779125"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0">
              <a:lnSpc>
                <a:spcPct val="150000"/>
              </a:lnSpc>
            </a:pPr>
            <a:r>
              <a:rPr lang="zh-CN" altLang="en-US" sz="2400" dirty="0">
                <a:latin typeface="+mn-ea"/>
                <a:ea typeface="+mn-ea"/>
              </a:rPr>
              <a:t>项目</a:t>
            </a:r>
            <a:endParaRPr lang="en-US" altLang="zh-CN" sz="2400" dirty="0">
              <a:solidFill>
                <a:srgbClr val="C00000"/>
              </a:solidFill>
              <a:latin typeface="+mn-ea"/>
              <a:ea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943"/>
            <a:ext cx="78185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工作量估算</a:t>
            </a:r>
            <a:r>
              <a:rPr lang="en-US" altLang="zh-CN" sz="2400" b="1" dirty="0">
                <a:solidFill>
                  <a:srgbClr val="01395C"/>
                </a:solidFill>
                <a:latin typeface="微软雅黑" panose="020B0503020204020204" pitchFamily="34" charset="-122"/>
                <a:ea typeface="方正粗宋简体"/>
                <a:cs typeface="方正粗宋简体"/>
              </a:rPr>
              <a:t>-</a:t>
            </a:r>
            <a:r>
              <a:rPr lang="zh-CN" altLang="en-US" sz="2400" b="1" dirty="0">
                <a:solidFill>
                  <a:srgbClr val="01395C"/>
                </a:solidFill>
                <a:latin typeface="微软雅黑" panose="020B0503020204020204" pitchFamily="34" charset="-122"/>
                <a:ea typeface="方正粗宋简体"/>
                <a:cs typeface="方正粗宋简体"/>
              </a:rPr>
              <a:t>实施工作量估算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706438" y="1090613"/>
            <a:ext cx="10779125"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0">
              <a:lnSpc>
                <a:spcPct val="150000"/>
              </a:lnSpc>
            </a:pPr>
            <a:r>
              <a:rPr lang="zh-CN" altLang="en-US" sz="2400" dirty="0">
                <a:latin typeface="+mn-ea"/>
                <a:ea typeface="+mn-ea"/>
              </a:rPr>
              <a:t>项目</a:t>
            </a:r>
            <a:endParaRPr lang="en-US" altLang="zh-CN" sz="2400" dirty="0">
              <a:solidFill>
                <a:srgbClr val="C00000"/>
              </a:solidFill>
              <a:latin typeface="+mn-ea"/>
              <a:ea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1588"/>
            <a:ext cx="942080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工作量估算</a:t>
            </a:r>
            <a:r>
              <a:rPr lang="en-US" altLang="zh-CN" sz="2400" b="1" dirty="0">
                <a:solidFill>
                  <a:srgbClr val="01395C"/>
                </a:solidFill>
                <a:latin typeface="微软雅黑" panose="020B0503020204020204" pitchFamily="34" charset="-122"/>
                <a:ea typeface="方正粗宋简体"/>
                <a:cs typeface="方正粗宋简体"/>
              </a:rPr>
              <a:t>-</a:t>
            </a:r>
            <a:r>
              <a:rPr lang="zh-CN" altLang="en-US" sz="2400" b="1" dirty="0">
                <a:solidFill>
                  <a:srgbClr val="01395C"/>
                </a:solidFill>
                <a:latin typeface="微软雅黑" panose="020B0503020204020204" pitchFamily="34" charset="-122"/>
                <a:ea typeface="方正粗宋简体"/>
                <a:cs typeface="方正粗宋简体"/>
              </a:rPr>
              <a:t>维护工作量估算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706438" y="1090613"/>
            <a:ext cx="10779125"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indent="0">
              <a:lnSpc>
                <a:spcPct val="150000"/>
              </a:lnSpc>
            </a:pPr>
            <a:r>
              <a:rPr lang="zh-CN" altLang="en-US" sz="2400" dirty="0">
                <a:latin typeface="+mn-ea"/>
                <a:ea typeface="+mn-ea"/>
              </a:rPr>
              <a:t>项目</a:t>
            </a:r>
            <a:endParaRPr lang="en-US" altLang="zh-CN" sz="2400" dirty="0">
              <a:solidFill>
                <a:srgbClr val="C00000"/>
              </a:solidFill>
              <a:latin typeface="+mn-ea"/>
              <a:ea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3432175" y="-109538"/>
            <a:ext cx="0" cy="7670801"/>
          </a:xfrm>
          <a:prstGeom prst="line">
            <a:avLst/>
          </a:prstGeom>
          <a:ln w="28575">
            <a:solidFill>
              <a:srgbClr val="25A2FF"/>
            </a:solidFill>
            <a:prstDash val="sys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p:cNvSpPr txBox="1">
            <a:spLocks noChangeArrowheads="1"/>
          </p:cNvSpPr>
          <p:nvPr/>
        </p:nvSpPr>
        <p:spPr bwMode="auto">
          <a:xfrm>
            <a:off x="4049713" y="1001713"/>
            <a:ext cx="2400651"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800" b="1" dirty="0">
                <a:solidFill>
                  <a:srgbClr val="005EA4"/>
                </a:solidFill>
                <a:latin typeface="微软雅黑" panose="020B0503020204020204" pitchFamily="34" charset="-122"/>
              </a:rPr>
              <a:t>一、规模估算</a:t>
            </a:r>
            <a:endParaRPr lang="zh-CN" altLang="zh-CN" sz="2800" b="1" dirty="0">
              <a:solidFill>
                <a:srgbClr val="005EA4"/>
              </a:solidFill>
              <a:latin typeface="微软雅黑" panose="020B0503020204020204" pitchFamily="34" charset="-122"/>
            </a:endParaRPr>
          </a:p>
        </p:txBody>
      </p:sp>
      <p:sp>
        <p:nvSpPr>
          <p:cNvPr id="5" name="TextBox 4"/>
          <p:cNvSpPr txBox="1">
            <a:spLocks noChangeArrowheads="1"/>
          </p:cNvSpPr>
          <p:nvPr/>
        </p:nvSpPr>
        <p:spPr bwMode="auto">
          <a:xfrm>
            <a:off x="3925888" y="3273425"/>
            <a:ext cx="2508053"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C00000"/>
                </a:solidFill>
                <a:latin typeface="微软雅黑" panose="020B0503020204020204" pitchFamily="34" charset="-122"/>
              </a:rPr>
              <a:t>三、工期估算</a:t>
            </a:r>
            <a:endParaRPr lang="zh-CN" altLang="zh-CN" sz="2800" b="1" dirty="0">
              <a:solidFill>
                <a:srgbClr val="C00000"/>
              </a:solidFill>
              <a:latin typeface="微软雅黑" panose="020B0503020204020204" pitchFamily="34" charset="-122"/>
            </a:endParaRPr>
          </a:p>
        </p:txBody>
      </p:sp>
      <p:sp>
        <p:nvSpPr>
          <p:cNvPr id="6" name="Rectangle 6"/>
          <p:cNvSpPr>
            <a:spLocks noChangeArrowheads="1"/>
          </p:cNvSpPr>
          <p:nvPr/>
        </p:nvSpPr>
        <p:spPr bwMode="auto">
          <a:xfrm>
            <a:off x="0" y="0"/>
            <a:ext cx="3246438" cy="7561263"/>
          </a:xfrm>
          <a:prstGeom prst="rect">
            <a:avLst/>
          </a:prstGeom>
          <a:solidFill>
            <a:srgbClr val="0070C0"/>
          </a:solidFill>
          <a:ln w="25400" algn="ctr">
            <a:noFill/>
            <a:miter lim="800000"/>
          </a:ln>
          <a:effectLst>
            <a:outerShdw blurRad="50800" dist="38100" dir="2700000" algn="tl" rotWithShape="0">
              <a:prstClr val="black">
                <a:alpha val="40000"/>
              </a:prstClr>
            </a:outerShdw>
          </a:effectLst>
        </p:spPr>
        <p:txBody>
          <a:bodyPr lIns="68589" tIns="34295" rIns="68589" bIns="34295" anchor="ctr"/>
          <a:lstStyle/>
          <a:p>
            <a:pPr algn="ctr" defTabSz="685800" fontAlgn="auto">
              <a:spcBef>
                <a:spcPts val="0"/>
              </a:spcBef>
              <a:spcAft>
                <a:spcPts val="0"/>
              </a:spcAft>
              <a:defRPr/>
            </a:pPr>
            <a:endParaRPr lang="en-US" altLang="zh-CN" sz="1400">
              <a:solidFill>
                <a:srgbClr val="FFFFFF"/>
              </a:solidFill>
              <a:latin typeface="Calibri" panose="020F0502020204030204" pitchFamily="34" charset="0"/>
              <a:ea typeface="+mn-ea"/>
            </a:endParaRPr>
          </a:p>
        </p:txBody>
      </p:sp>
      <p:sp>
        <p:nvSpPr>
          <p:cNvPr id="7" name="文本框 52"/>
          <p:cNvSpPr txBox="1">
            <a:spLocks noChangeArrowheads="1"/>
          </p:cNvSpPr>
          <p:nvPr/>
        </p:nvSpPr>
        <p:spPr bwMode="auto">
          <a:xfrm>
            <a:off x="430213" y="2336800"/>
            <a:ext cx="2376487" cy="323215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课</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程</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要</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求</a:t>
            </a:r>
          </a:p>
        </p:txBody>
      </p:sp>
      <p:sp>
        <p:nvSpPr>
          <p:cNvPr id="8" name="文本框 52"/>
          <p:cNvSpPr txBox="1">
            <a:spLocks noChangeArrowheads="1"/>
          </p:cNvSpPr>
          <p:nvPr/>
        </p:nvSpPr>
        <p:spPr bwMode="auto">
          <a:xfrm>
            <a:off x="-96838" y="608013"/>
            <a:ext cx="3430588" cy="498475"/>
          </a:xfrm>
          <a:prstGeom prst="rect">
            <a:avLst/>
          </a:prstGeom>
          <a:noFill/>
          <a:ln w="9525">
            <a:noFill/>
            <a:miter lim="800000"/>
          </a:ln>
        </p:spPr>
        <p:txBody>
          <a:bodyPr lIns="91450" tIns="45726" rIns="91450" bIns="45726">
            <a:spAutoFit/>
          </a:bodyPr>
          <a:lstStyle/>
          <a:p>
            <a:pPr algn="ctr" defTabSz="913765" fontAlgn="auto">
              <a:lnSpc>
                <a:spcPct val="120000"/>
              </a:lnSpc>
              <a:spcBef>
                <a:spcPts val="0"/>
              </a:spcBef>
              <a:spcAft>
                <a:spcPts val="0"/>
              </a:spcAft>
              <a:defRPr/>
            </a:pPr>
            <a:r>
              <a:rPr lang="zh-CN" altLang="en-US" sz="2400" b="1" spc="140" dirty="0">
                <a:solidFill>
                  <a:schemeClr val="bg1"/>
                </a:solidFill>
                <a:effectLst>
                  <a:outerShdw blurRad="38100" dist="38100" dir="2700000" algn="tl">
                    <a:srgbClr val="000000">
                      <a:alpha val="43137"/>
                    </a:srgbClr>
                  </a:outerShdw>
                </a:effectLst>
                <a:latin typeface="微软雅黑" panose="020B0503020204020204" pitchFamily="34" charset="-122"/>
              </a:rPr>
              <a:t>成本管理</a:t>
            </a:r>
          </a:p>
        </p:txBody>
      </p:sp>
      <p:sp>
        <p:nvSpPr>
          <p:cNvPr id="9" name="文本框 52"/>
          <p:cNvSpPr txBox="1">
            <a:spLocks noChangeArrowheads="1"/>
          </p:cNvSpPr>
          <p:nvPr/>
        </p:nvSpPr>
        <p:spPr bwMode="auto">
          <a:xfrm>
            <a:off x="166688" y="6718300"/>
            <a:ext cx="2952750" cy="36830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山东建筑大学</a:t>
            </a:r>
          </a:p>
        </p:txBody>
      </p:sp>
      <p:cxnSp>
        <p:nvCxnSpPr>
          <p:cNvPr id="22" name="直接连接符 21"/>
          <p:cNvCxnSpPr/>
          <p:nvPr/>
        </p:nvCxnSpPr>
        <p:spPr>
          <a:xfrm>
            <a:off x="3476625" y="41560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9" name="TextBox 3"/>
          <p:cNvSpPr txBox="1">
            <a:spLocks noChangeArrowheads="1"/>
          </p:cNvSpPr>
          <p:nvPr/>
        </p:nvSpPr>
        <p:spPr bwMode="auto">
          <a:xfrm>
            <a:off x="4011613" y="2084388"/>
            <a:ext cx="2759724"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800" b="1" dirty="0">
                <a:solidFill>
                  <a:srgbClr val="005EA4"/>
                </a:solidFill>
                <a:latin typeface="微软雅黑" panose="020B0503020204020204" pitchFamily="34" charset="-122"/>
              </a:rPr>
              <a:t>二、工作量估算</a:t>
            </a:r>
            <a:endParaRPr lang="zh-CN" altLang="zh-CN" sz="2800" b="1" dirty="0">
              <a:solidFill>
                <a:srgbClr val="005EA4"/>
              </a:solidFill>
              <a:latin typeface="微软雅黑" panose="020B0503020204020204" pitchFamily="34" charset="-122"/>
            </a:endParaRPr>
          </a:p>
        </p:txBody>
      </p:sp>
      <p:cxnSp>
        <p:nvCxnSpPr>
          <p:cNvPr id="21" name="直接连接符 20"/>
          <p:cNvCxnSpPr/>
          <p:nvPr/>
        </p:nvCxnSpPr>
        <p:spPr>
          <a:xfrm>
            <a:off x="3459163" y="2911475"/>
            <a:ext cx="5853112"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48063" y="1828800"/>
            <a:ext cx="5851525"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524250" y="763588"/>
            <a:ext cx="5851525" cy="20637"/>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432175" y="526732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6" name="TextBox 4"/>
          <p:cNvSpPr txBox="1">
            <a:spLocks noChangeArrowheads="1"/>
          </p:cNvSpPr>
          <p:nvPr/>
        </p:nvSpPr>
        <p:spPr bwMode="auto">
          <a:xfrm>
            <a:off x="3965575" y="4340225"/>
            <a:ext cx="2508053"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005EA4"/>
                </a:solidFill>
                <a:latin typeface="微软雅黑" panose="020B0503020204020204" pitchFamily="34" charset="-122"/>
              </a:rPr>
              <a:t>四、成本估算</a:t>
            </a:r>
            <a:endParaRPr lang="zh-CN" altLang="zh-CN" sz="2800" b="1" dirty="0">
              <a:solidFill>
                <a:srgbClr val="005EA4"/>
              </a:solidFill>
              <a:latin typeface="微软雅黑" panose="020B0503020204020204" pitchFamily="34" charset="-122"/>
            </a:endParaRPr>
          </a:p>
        </p:txBody>
      </p:sp>
      <p:cxnSp>
        <p:nvCxnSpPr>
          <p:cNvPr id="17" name="直接连接符 16"/>
          <p:cNvCxnSpPr/>
          <p:nvPr/>
        </p:nvCxnSpPr>
        <p:spPr>
          <a:xfrm>
            <a:off x="3476625" y="63785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8" name="TextBox 4"/>
          <p:cNvSpPr txBox="1">
            <a:spLocks noChangeArrowheads="1"/>
          </p:cNvSpPr>
          <p:nvPr/>
        </p:nvSpPr>
        <p:spPr bwMode="auto">
          <a:xfrm>
            <a:off x="3965575" y="5448300"/>
            <a:ext cx="1071762"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005EA4"/>
                </a:solidFill>
                <a:latin typeface="微软雅黑" panose="020B0503020204020204" pitchFamily="34" charset="-122"/>
              </a:rPr>
              <a:t>五、</a:t>
            </a:r>
            <a:endParaRPr lang="zh-CN" altLang="zh-CN" sz="2800" b="1" dirty="0">
              <a:solidFill>
                <a:srgbClr val="005EA4"/>
              </a:solidFill>
              <a:latin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500"/>
                            </p:stCondLst>
                            <p:childTnLst>
                              <p:par>
                                <p:cTn id="21" presetID="22" presetClass="entr" presetSubtype="1"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par>
                                <p:cTn id="24" presetID="12" presetClass="entr" presetSubtype="8"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p:tgtEl>
                                          <p:spTgt spid="4"/>
                                        </p:tgtEl>
                                        <p:attrNameLst>
                                          <p:attrName>ppt_x</p:attrName>
                                        </p:attrNameLst>
                                      </p:cBhvr>
                                      <p:tavLst>
                                        <p:tav tm="0">
                                          <p:val>
                                            <p:strVal val="#ppt_x-#ppt_w*1.125000"/>
                                          </p:val>
                                        </p:tav>
                                        <p:tav tm="100000">
                                          <p:val>
                                            <p:strVal val="#ppt_x"/>
                                          </p:val>
                                        </p:tav>
                                      </p:tavLst>
                                    </p:anim>
                                    <p:animEffect transition="in" filter="wipe(right)">
                                      <p:cBhvr>
                                        <p:cTn id="27" dur="500"/>
                                        <p:tgtEl>
                                          <p:spTgt spid="4"/>
                                        </p:tgtEl>
                                      </p:cBhvr>
                                    </p:animEffect>
                                  </p:childTnLst>
                                </p:cTn>
                              </p:par>
                              <p:par>
                                <p:cTn id="28" presetID="1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p:tgtEl>
                                          <p:spTgt spid="19"/>
                                        </p:tgtEl>
                                        <p:attrNameLst>
                                          <p:attrName>ppt_x</p:attrName>
                                        </p:attrNameLst>
                                      </p:cBhvr>
                                      <p:tavLst>
                                        <p:tav tm="0">
                                          <p:val>
                                            <p:strVal val="#ppt_x-#ppt_w*1.125000"/>
                                          </p:val>
                                        </p:tav>
                                        <p:tav tm="100000">
                                          <p:val>
                                            <p:strVal val="#ppt_x"/>
                                          </p:val>
                                        </p:tav>
                                      </p:tavLst>
                                    </p:anim>
                                    <p:animEffect transition="in" filter="wipe(right)">
                                      <p:cBhvr>
                                        <p:cTn id="31" dur="500"/>
                                        <p:tgtEl>
                                          <p:spTgt spid="19"/>
                                        </p:tgtEl>
                                      </p:cBhvr>
                                    </p:animEffect>
                                  </p:childTnLst>
                                </p:cTn>
                              </p:par>
                              <p:par>
                                <p:cTn id="32" presetID="12" presetClass="entr" presetSubtype="8"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p:tgtEl>
                                          <p:spTgt spid="5"/>
                                        </p:tgtEl>
                                        <p:attrNameLst>
                                          <p:attrName>ppt_x</p:attrName>
                                        </p:attrNameLst>
                                      </p:cBhvr>
                                      <p:tavLst>
                                        <p:tav tm="0">
                                          <p:val>
                                            <p:strVal val="#ppt_x-#ppt_w*1.125000"/>
                                          </p:val>
                                        </p:tav>
                                        <p:tav tm="100000">
                                          <p:val>
                                            <p:strVal val="#ppt_x"/>
                                          </p:val>
                                        </p:tav>
                                      </p:tavLst>
                                    </p:anim>
                                    <p:animEffect transition="in" filter="wipe(right)">
                                      <p:cBhvr>
                                        <p:cTn id="35" dur="500"/>
                                        <p:tgtEl>
                                          <p:spTgt spid="5"/>
                                        </p:tgtEl>
                                      </p:cBhvr>
                                    </p:animEffect>
                                  </p:childTnLst>
                                </p:cTn>
                              </p:par>
                            </p:childTnLst>
                          </p:cTn>
                        </p:par>
                        <p:par>
                          <p:cTn id="36" fill="hold">
                            <p:stCondLst>
                              <p:cond delay="2000"/>
                            </p:stCondLst>
                            <p:childTnLst>
                              <p:par>
                                <p:cTn id="37" presetID="22" presetClass="entr" presetSubtype="8"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left)">
                                      <p:cBhvr>
                                        <p:cTn id="43" dur="500"/>
                                        <p:tgtEl>
                                          <p:spTgt spid="23"/>
                                        </p:tgtEl>
                                      </p:cBhvr>
                                    </p:animEffect>
                                  </p:childTnLst>
                                </p:cTn>
                              </p:par>
                            </p:childTnLst>
                          </p:cTn>
                        </p:par>
                        <p:par>
                          <p:cTn id="44" fill="hold">
                            <p:stCondLst>
                              <p:cond delay="3000"/>
                            </p:stCondLst>
                            <p:childTnLst>
                              <p:par>
                                <p:cTn id="45" presetID="22" presetClass="entr" presetSubtype="8" fill="hold"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par>
                          <p:cTn id="48" fill="hold">
                            <p:stCondLst>
                              <p:cond delay="3500"/>
                            </p:stCondLst>
                            <p:childTnLst>
                              <p:par>
                                <p:cTn id="49" presetID="22" presetClass="entr" presetSubtype="8"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par>
                                <p:cTn id="56" presetID="12" presetClass="entr" presetSubtype="8"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p:tgtEl>
                                          <p:spTgt spid="16"/>
                                        </p:tgtEl>
                                        <p:attrNameLst>
                                          <p:attrName>ppt_x</p:attrName>
                                        </p:attrNameLst>
                                      </p:cBhvr>
                                      <p:tavLst>
                                        <p:tav tm="0">
                                          <p:val>
                                            <p:strVal val="#ppt_x-#ppt_w*1.125000"/>
                                          </p:val>
                                        </p:tav>
                                        <p:tav tm="100000">
                                          <p:val>
                                            <p:strVal val="#ppt_x"/>
                                          </p:val>
                                        </p:tav>
                                      </p:tavLst>
                                    </p:anim>
                                    <p:animEffect transition="in" filter="wipe(right)">
                                      <p:cBhvr>
                                        <p:cTn id="59" dur="500"/>
                                        <p:tgtEl>
                                          <p:spTgt spid="16"/>
                                        </p:tgtEl>
                                      </p:cBhvr>
                                    </p:animEffect>
                                  </p:childTnLst>
                                </p:cTn>
                              </p:par>
                            </p:childTnLst>
                          </p:cTn>
                        </p:par>
                        <p:par>
                          <p:cTn id="60" fill="hold">
                            <p:stCondLst>
                              <p:cond delay="4500"/>
                            </p:stCondLst>
                            <p:childTnLst>
                              <p:par>
                                <p:cTn id="61" presetID="22" presetClass="entr" presetSubtype="8" fill="hold"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left)">
                                      <p:cBhvr>
                                        <p:cTn id="63" dur="500"/>
                                        <p:tgtEl>
                                          <p:spTgt spid="17"/>
                                        </p:tgtEl>
                                      </p:cBhvr>
                                    </p:animEffect>
                                  </p:childTnLst>
                                </p:cTn>
                              </p:par>
                              <p:par>
                                <p:cTn id="64" presetID="12" presetClass="entr" presetSubtype="8"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p:tgtEl>
                                          <p:spTgt spid="18"/>
                                        </p:tgtEl>
                                        <p:attrNameLst>
                                          <p:attrName>ppt_x</p:attrName>
                                        </p:attrNameLst>
                                      </p:cBhvr>
                                      <p:tavLst>
                                        <p:tav tm="0">
                                          <p:val>
                                            <p:strVal val="#ppt_x-#ppt_w*1.125000"/>
                                          </p:val>
                                        </p:tav>
                                        <p:tav tm="100000">
                                          <p:val>
                                            <p:strVal val="#ppt_x"/>
                                          </p:val>
                                        </p:tav>
                                      </p:tavLst>
                                    </p:anim>
                                    <p:animEffect transition="in" filter="wipe(right)">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p:bldP spid="19" grpId="0"/>
      <p:bldP spid="16" grpId="0"/>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工期估算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706438" y="1090613"/>
            <a:ext cx="10779125" cy="1133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buFont typeface="Arial" panose="020B0604020202020204" pitchFamily="34" charset="0"/>
              <a:buChar char="•"/>
            </a:pPr>
            <a:r>
              <a:rPr lang="zh-CN" altLang="en-US" sz="2400" dirty="0"/>
              <a:t>软件项目管理课程主要介绍</a:t>
            </a:r>
            <a:r>
              <a:rPr lang="zh-CN" altLang="en-US" sz="2400" dirty="0">
                <a:solidFill>
                  <a:srgbClr val="FF0000"/>
                </a:solidFill>
              </a:rPr>
              <a:t>软件项目管理</a:t>
            </a:r>
            <a:r>
              <a:rPr lang="zh-CN" altLang="en-US" sz="2400" dirty="0"/>
              <a:t>的基本知识和方法，是软件工程专业学生的一门</a:t>
            </a:r>
            <a:r>
              <a:rPr lang="zh-CN" altLang="en-US" sz="2400" dirty="0">
                <a:solidFill>
                  <a:srgbClr val="FF0000"/>
                </a:solidFill>
              </a:rPr>
              <a:t>专业必修</a:t>
            </a:r>
            <a:r>
              <a:rPr lang="zh-CN" altLang="en-US" sz="2400" dirty="0"/>
              <a:t>课程。</a:t>
            </a:r>
            <a:endParaRPr lang="en-US" altLang="zh-CN"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3432175" y="-109538"/>
            <a:ext cx="0" cy="7670801"/>
          </a:xfrm>
          <a:prstGeom prst="line">
            <a:avLst/>
          </a:prstGeom>
          <a:ln w="28575">
            <a:solidFill>
              <a:srgbClr val="25A2FF"/>
            </a:solidFill>
            <a:prstDash val="sys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p:cNvSpPr txBox="1">
            <a:spLocks noChangeArrowheads="1"/>
          </p:cNvSpPr>
          <p:nvPr/>
        </p:nvSpPr>
        <p:spPr bwMode="auto">
          <a:xfrm>
            <a:off x="4049713" y="1001713"/>
            <a:ext cx="2400651"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800" b="1" dirty="0">
                <a:solidFill>
                  <a:srgbClr val="005EA4"/>
                </a:solidFill>
                <a:latin typeface="微软雅黑" panose="020B0503020204020204" pitchFamily="34" charset="-122"/>
              </a:rPr>
              <a:t>一、规模估算</a:t>
            </a:r>
            <a:endParaRPr lang="zh-CN" altLang="zh-CN" sz="2800" b="1" dirty="0">
              <a:solidFill>
                <a:srgbClr val="005EA4"/>
              </a:solidFill>
              <a:latin typeface="微软雅黑" panose="020B0503020204020204" pitchFamily="34" charset="-122"/>
            </a:endParaRPr>
          </a:p>
        </p:txBody>
      </p:sp>
      <p:sp>
        <p:nvSpPr>
          <p:cNvPr id="5" name="TextBox 4"/>
          <p:cNvSpPr txBox="1">
            <a:spLocks noChangeArrowheads="1"/>
          </p:cNvSpPr>
          <p:nvPr/>
        </p:nvSpPr>
        <p:spPr bwMode="auto">
          <a:xfrm>
            <a:off x="3925888" y="3273425"/>
            <a:ext cx="2508053"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005EA4"/>
                </a:solidFill>
                <a:latin typeface="微软雅黑" panose="020B0503020204020204" pitchFamily="34" charset="-122"/>
              </a:rPr>
              <a:t>三、工期估算</a:t>
            </a:r>
            <a:endParaRPr lang="zh-CN" altLang="zh-CN" sz="2800" b="1" dirty="0">
              <a:solidFill>
                <a:srgbClr val="005EA4"/>
              </a:solidFill>
              <a:latin typeface="微软雅黑" panose="020B0503020204020204" pitchFamily="34" charset="-122"/>
            </a:endParaRPr>
          </a:p>
        </p:txBody>
      </p:sp>
      <p:sp>
        <p:nvSpPr>
          <p:cNvPr id="6" name="Rectangle 6"/>
          <p:cNvSpPr>
            <a:spLocks noChangeArrowheads="1"/>
          </p:cNvSpPr>
          <p:nvPr/>
        </p:nvSpPr>
        <p:spPr bwMode="auto">
          <a:xfrm>
            <a:off x="0" y="0"/>
            <a:ext cx="3246438" cy="7561263"/>
          </a:xfrm>
          <a:prstGeom prst="rect">
            <a:avLst/>
          </a:prstGeom>
          <a:solidFill>
            <a:srgbClr val="0070C0"/>
          </a:solidFill>
          <a:ln w="25400" algn="ctr">
            <a:noFill/>
            <a:miter lim="800000"/>
          </a:ln>
          <a:effectLst>
            <a:outerShdw blurRad="50800" dist="38100" dir="2700000" algn="tl" rotWithShape="0">
              <a:prstClr val="black">
                <a:alpha val="40000"/>
              </a:prstClr>
            </a:outerShdw>
          </a:effectLst>
        </p:spPr>
        <p:txBody>
          <a:bodyPr lIns="68589" tIns="34295" rIns="68589" bIns="34295" anchor="ctr"/>
          <a:lstStyle/>
          <a:p>
            <a:pPr algn="ctr" defTabSz="685800" fontAlgn="auto">
              <a:spcBef>
                <a:spcPts val="0"/>
              </a:spcBef>
              <a:spcAft>
                <a:spcPts val="0"/>
              </a:spcAft>
              <a:defRPr/>
            </a:pPr>
            <a:endParaRPr lang="en-US" altLang="zh-CN" sz="1400">
              <a:solidFill>
                <a:srgbClr val="FFFFFF"/>
              </a:solidFill>
              <a:latin typeface="Calibri" panose="020F0502020204030204" pitchFamily="34" charset="0"/>
              <a:ea typeface="+mn-ea"/>
            </a:endParaRPr>
          </a:p>
        </p:txBody>
      </p:sp>
      <p:sp>
        <p:nvSpPr>
          <p:cNvPr id="7" name="文本框 52"/>
          <p:cNvSpPr txBox="1">
            <a:spLocks noChangeArrowheads="1"/>
          </p:cNvSpPr>
          <p:nvPr/>
        </p:nvSpPr>
        <p:spPr bwMode="auto">
          <a:xfrm>
            <a:off x="430213" y="2336800"/>
            <a:ext cx="2376487" cy="323215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课</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程</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要</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求</a:t>
            </a:r>
          </a:p>
        </p:txBody>
      </p:sp>
      <p:sp>
        <p:nvSpPr>
          <p:cNvPr id="8" name="文本框 52"/>
          <p:cNvSpPr txBox="1">
            <a:spLocks noChangeArrowheads="1"/>
          </p:cNvSpPr>
          <p:nvPr/>
        </p:nvSpPr>
        <p:spPr bwMode="auto">
          <a:xfrm>
            <a:off x="-96838" y="608013"/>
            <a:ext cx="3430588" cy="498475"/>
          </a:xfrm>
          <a:prstGeom prst="rect">
            <a:avLst/>
          </a:prstGeom>
          <a:noFill/>
          <a:ln w="9525">
            <a:noFill/>
            <a:miter lim="800000"/>
          </a:ln>
        </p:spPr>
        <p:txBody>
          <a:bodyPr lIns="91450" tIns="45726" rIns="91450" bIns="45726">
            <a:spAutoFit/>
          </a:bodyPr>
          <a:lstStyle/>
          <a:p>
            <a:pPr algn="ctr" defTabSz="913765" fontAlgn="auto">
              <a:lnSpc>
                <a:spcPct val="120000"/>
              </a:lnSpc>
              <a:spcBef>
                <a:spcPts val="0"/>
              </a:spcBef>
              <a:spcAft>
                <a:spcPts val="0"/>
              </a:spcAft>
              <a:defRPr/>
            </a:pPr>
            <a:r>
              <a:rPr lang="zh-CN" altLang="en-US" sz="2400" b="1" spc="140" dirty="0">
                <a:solidFill>
                  <a:schemeClr val="bg1"/>
                </a:solidFill>
                <a:effectLst>
                  <a:outerShdw blurRad="38100" dist="38100" dir="2700000" algn="tl">
                    <a:srgbClr val="000000">
                      <a:alpha val="43137"/>
                    </a:srgbClr>
                  </a:outerShdw>
                </a:effectLst>
                <a:latin typeface="微软雅黑" panose="020B0503020204020204" pitchFamily="34" charset="-122"/>
              </a:rPr>
              <a:t>成本管理</a:t>
            </a:r>
          </a:p>
        </p:txBody>
      </p:sp>
      <p:sp>
        <p:nvSpPr>
          <p:cNvPr id="9" name="文本框 52"/>
          <p:cNvSpPr txBox="1">
            <a:spLocks noChangeArrowheads="1"/>
          </p:cNvSpPr>
          <p:nvPr/>
        </p:nvSpPr>
        <p:spPr bwMode="auto">
          <a:xfrm>
            <a:off x="166688" y="6718300"/>
            <a:ext cx="2952750" cy="36830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山东建筑大学</a:t>
            </a:r>
          </a:p>
        </p:txBody>
      </p:sp>
      <p:cxnSp>
        <p:nvCxnSpPr>
          <p:cNvPr id="22" name="直接连接符 21"/>
          <p:cNvCxnSpPr/>
          <p:nvPr/>
        </p:nvCxnSpPr>
        <p:spPr>
          <a:xfrm>
            <a:off x="3476625" y="41560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9" name="TextBox 3"/>
          <p:cNvSpPr txBox="1">
            <a:spLocks noChangeArrowheads="1"/>
          </p:cNvSpPr>
          <p:nvPr/>
        </p:nvSpPr>
        <p:spPr bwMode="auto">
          <a:xfrm>
            <a:off x="4011613" y="2084388"/>
            <a:ext cx="2759724"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800" b="1" dirty="0">
                <a:solidFill>
                  <a:srgbClr val="005EA4"/>
                </a:solidFill>
                <a:latin typeface="微软雅黑" panose="020B0503020204020204" pitchFamily="34" charset="-122"/>
              </a:rPr>
              <a:t>二、工作量估算</a:t>
            </a:r>
            <a:endParaRPr lang="zh-CN" altLang="zh-CN" sz="2800" b="1" dirty="0">
              <a:solidFill>
                <a:srgbClr val="005EA4"/>
              </a:solidFill>
              <a:latin typeface="微软雅黑" panose="020B0503020204020204" pitchFamily="34" charset="-122"/>
            </a:endParaRPr>
          </a:p>
        </p:txBody>
      </p:sp>
      <p:cxnSp>
        <p:nvCxnSpPr>
          <p:cNvPr id="21" name="直接连接符 20"/>
          <p:cNvCxnSpPr/>
          <p:nvPr/>
        </p:nvCxnSpPr>
        <p:spPr>
          <a:xfrm>
            <a:off x="3459163" y="2911475"/>
            <a:ext cx="5853112"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48063" y="1828800"/>
            <a:ext cx="5851525"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524250" y="763588"/>
            <a:ext cx="5851525" cy="20637"/>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432175" y="526732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6" name="TextBox 4"/>
          <p:cNvSpPr txBox="1">
            <a:spLocks noChangeArrowheads="1"/>
          </p:cNvSpPr>
          <p:nvPr/>
        </p:nvSpPr>
        <p:spPr bwMode="auto">
          <a:xfrm>
            <a:off x="3965575" y="4340225"/>
            <a:ext cx="2508053"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C00000"/>
                </a:solidFill>
                <a:latin typeface="微软雅黑" panose="020B0503020204020204" pitchFamily="34" charset="-122"/>
              </a:rPr>
              <a:t>四、成本估算</a:t>
            </a:r>
            <a:endParaRPr lang="zh-CN" altLang="zh-CN" sz="2800" b="1" dirty="0">
              <a:solidFill>
                <a:srgbClr val="C00000"/>
              </a:solidFill>
              <a:latin typeface="微软雅黑" panose="020B0503020204020204" pitchFamily="34" charset="-122"/>
            </a:endParaRPr>
          </a:p>
        </p:txBody>
      </p:sp>
      <p:cxnSp>
        <p:nvCxnSpPr>
          <p:cNvPr id="17" name="直接连接符 16"/>
          <p:cNvCxnSpPr/>
          <p:nvPr/>
        </p:nvCxnSpPr>
        <p:spPr>
          <a:xfrm>
            <a:off x="3476625" y="63785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8" name="TextBox 4"/>
          <p:cNvSpPr txBox="1">
            <a:spLocks noChangeArrowheads="1"/>
          </p:cNvSpPr>
          <p:nvPr/>
        </p:nvSpPr>
        <p:spPr bwMode="auto">
          <a:xfrm>
            <a:off x="3965575" y="5448300"/>
            <a:ext cx="1071762"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zh-CN" altLang="en-US" sz="2800" b="1" dirty="0">
                <a:solidFill>
                  <a:srgbClr val="005EA4"/>
                </a:solidFill>
                <a:latin typeface="微软雅黑" panose="020B0503020204020204" pitchFamily="34" charset="-122"/>
              </a:rPr>
              <a:t>五、</a:t>
            </a:r>
            <a:endParaRPr lang="zh-CN" altLang="zh-CN" sz="2800" b="1" dirty="0">
              <a:solidFill>
                <a:srgbClr val="005EA4"/>
              </a:solidFill>
              <a:latin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500"/>
                            </p:stCondLst>
                            <p:childTnLst>
                              <p:par>
                                <p:cTn id="21" presetID="22" presetClass="entr" presetSubtype="1"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par>
                                <p:cTn id="24" presetID="12" presetClass="entr" presetSubtype="8"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p:tgtEl>
                                          <p:spTgt spid="4"/>
                                        </p:tgtEl>
                                        <p:attrNameLst>
                                          <p:attrName>ppt_x</p:attrName>
                                        </p:attrNameLst>
                                      </p:cBhvr>
                                      <p:tavLst>
                                        <p:tav tm="0">
                                          <p:val>
                                            <p:strVal val="#ppt_x-#ppt_w*1.125000"/>
                                          </p:val>
                                        </p:tav>
                                        <p:tav tm="100000">
                                          <p:val>
                                            <p:strVal val="#ppt_x"/>
                                          </p:val>
                                        </p:tav>
                                      </p:tavLst>
                                    </p:anim>
                                    <p:animEffect transition="in" filter="wipe(right)">
                                      <p:cBhvr>
                                        <p:cTn id="27" dur="500"/>
                                        <p:tgtEl>
                                          <p:spTgt spid="4"/>
                                        </p:tgtEl>
                                      </p:cBhvr>
                                    </p:animEffect>
                                  </p:childTnLst>
                                </p:cTn>
                              </p:par>
                              <p:par>
                                <p:cTn id="28" presetID="1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p:tgtEl>
                                          <p:spTgt spid="19"/>
                                        </p:tgtEl>
                                        <p:attrNameLst>
                                          <p:attrName>ppt_x</p:attrName>
                                        </p:attrNameLst>
                                      </p:cBhvr>
                                      <p:tavLst>
                                        <p:tav tm="0">
                                          <p:val>
                                            <p:strVal val="#ppt_x-#ppt_w*1.125000"/>
                                          </p:val>
                                        </p:tav>
                                        <p:tav tm="100000">
                                          <p:val>
                                            <p:strVal val="#ppt_x"/>
                                          </p:val>
                                        </p:tav>
                                      </p:tavLst>
                                    </p:anim>
                                    <p:animEffect transition="in" filter="wipe(right)">
                                      <p:cBhvr>
                                        <p:cTn id="31" dur="500"/>
                                        <p:tgtEl>
                                          <p:spTgt spid="19"/>
                                        </p:tgtEl>
                                      </p:cBhvr>
                                    </p:animEffect>
                                  </p:childTnLst>
                                </p:cTn>
                              </p:par>
                              <p:par>
                                <p:cTn id="32" presetID="12" presetClass="entr" presetSubtype="8"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p:tgtEl>
                                          <p:spTgt spid="5"/>
                                        </p:tgtEl>
                                        <p:attrNameLst>
                                          <p:attrName>ppt_x</p:attrName>
                                        </p:attrNameLst>
                                      </p:cBhvr>
                                      <p:tavLst>
                                        <p:tav tm="0">
                                          <p:val>
                                            <p:strVal val="#ppt_x-#ppt_w*1.125000"/>
                                          </p:val>
                                        </p:tav>
                                        <p:tav tm="100000">
                                          <p:val>
                                            <p:strVal val="#ppt_x"/>
                                          </p:val>
                                        </p:tav>
                                      </p:tavLst>
                                    </p:anim>
                                    <p:animEffect transition="in" filter="wipe(right)">
                                      <p:cBhvr>
                                        <p:cTn id="35" dur="500"/>
                                        <p:tgtEl>
                                          <p:spTgt spid="5"/>
                                        </p:tgtEl>
                                      </p:cBhvr>
                                    </p:animEffect>
                                  </p:childTnLst>
                                </p:cTn>
                              </p:par>
                            </p:childTnLst>
                          </p:cTn>
                        </p:par>
                        <p:par>
                          <p:cTn id="36" fill="hold">
                            <p:stCondLst>
                              <p:cond delay="2000"/>
                            </p:stCondLst>
                            <p:childTnLst>
                              <p:par>
                                <p:cTn id="37" presetID="22" presetClass="entr" presetSubtype="8"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left)">
                                      <p:cBhvr>
                                        <p:cTn id="43" dur="500"/>
                                        <p:tgtEl>
                                          <p:spTgt spid="23"/>
                                        </p:tgtEl>
                                      </p:cBhvr>
                                    </p:animEffect>
                                  </p:childTnLst>
                                </p:cTn>
                              </p:par>
                            </p:childTnLst>
                          </p:cTn>
                        </p:par>
                        <p:par>
                          <p:cTn id="44" fill="hold">
                            <p:stCondLst>
                              <p:cond delay="3000"/>
                            </p:stCondLst>
                            <p:childTnLst>
                              <p:par>
                                <p:cTn id="45" presetID="22" presetClass="entr" presetSubtype="8" fill="hold"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par>
                          <p:cTn id="48" fill="hold">
                            <p:stCondLst>
                              <p:cond delay="3500"/>
                            </p:stCondLst>
                            <p:childTnLst>
                              <p:par>
                                <p:cTn id="49" presetID="22" presetClass="entr" presetSubtype="8"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par>
                                <p:cTn id="56" presetID="12" presetClass="entr" presetSubtype="8"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p:tgtEl>
                                          <p:spTgt spid="16"/>
                                        </p:tgtEl>
                                        <p:attrNameLst>
                                          <p:attrName>ppt_x</p:attrName>
                                        </p:attrNameLst>
                                      </p:cBhvr>
                                      <p:tavLst>
                                        <p:tav tm="0">
                                          <p:val>
                                            <p:strVal val="#ppt_x-#ppt_w*1.125000"/>
                                          </p:val>
                                        </p:tav>
                                        <p:tav tm="100000">
                                          <p:val>
                                            <p:strVal val="#ppt_x"/>
                                          </p:val>
                                        </p:tav>
                                      </p:tavLst>
                                    </p:anim>
                                    <p:animEffect transition="in" filter="wipe(right)">
                                      <p:cBhvr>
                                        <p:cTn id="59" dur="500"/>
                                        <p:tgtEl>
                                          <p:spTgt spid="16"/>
                                        </p:tgtEl>
                                      </p:cBhvr>
                                    </p:animEffect>
                                  </p:childTnLst>
                                </p:cTn>
                              </p:par>
                            </p:childTnLst>
                          </p:cTn>
                        </p:par>
                        <p:par>
                          <p:cTn id="60" fill="hold">
                            <p:stCondLst>
                              <p:cond delay="4500"/>
                            </p:stCondLst>
                            <p:childTnLst>
                              <p:par>
                                <p:cTn id="61" presetID="22" presetClass="entr" presetSubtype="8" fill="hold"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left)">
                                      <p:cBhvr>
                                        <p:cTn id="63" dur="500"/>
                                        <p:tgtEl>
                                          <p:spTgt spid="17"/>
                                        </p:tgtEl>
                                      </p:cBhvr>
                                    </p:animEffect>
                                  </p:childTnLst>
                                </p:cTn>
                              </p:par>
                              <p:par>
                                <p:cTn id="64" presetID="12" presetClass="entr" presetSubtype="8"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p:tgtEl>
                                          <p:spTgt spid="18"/>
                                        </p:tgtEl>
                                        <p:attrNameLst>
                                          <p:attrName>ppt_x</p:attrName>
                                        </p:attrNameLst>
                                      </p:cBhvr>
                                      <p:tavLst>
                                        <p:tav tm="0">
                                          <p:val>
                                            <p:strVal val="#ppt_x-#ppt_w*1.125000"/>
                                          </p:val>
                                        </p:tav>
                                        <p:tav tm="100000">
                                          <p:val>
                                            <p:strVal val="#ppt_x"/>
                                          </p:val>
                                        </p:tav>
                                      </p:tavLst>
                                    </p:anim>
                                    <p:animEffect transition="in" filter="wipe(right)">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p:bldP spid="19" grpId="0"/>
      <p:bldP spid="16"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dirty="0">
                <a:solidFill>
                  <a:srgbClr val="01395C"/>
                </a:solidFill>
                <a:latin typeface="微软雅黑" panose="020B0503020204020204" pitchFamily="34" charset="-122"/>
                <a:ea typeface="方正粗宋简体"/>
                <a:cs typeface="方正粗宋简体"/>
              </a:rPr>
              <a:t>成本估算</a:t>
            </a:r>
            <a:endParaRPr lang="zh-CN" altLang="en-US" sz="2400" b="1" dirty="0">
              <a:solidFill>
                <a:srgbClr val="01395C"/>
              </a:solidFill>
              <a:latin typeface="方正粗宋简体"/>
              <a:ea typeface="方正粗宋简体"/>
              <a:cs typeface="方正粗宋简体"/>
            </a:endParaRPr>
          </a:p>
        </p:txBody>
      </p:sp>
      <p:sp>
        <p:nvSpPr>
          <p:cNvPr id="8196" name="文本框 1"/>
          <p:cNvSpPr txBox="1">
            <a:spLocks noChangeArrowheads="1"/>
          </p:cNvSpPr>
          <p:nvPr/>
        </p:nvSpPr>
        <p:spPr bwMode="auto">
          <a:xfrm>
            <a:off x="706438" y="1090613"/>
            <a:ext cx="10779125" cy="1133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buFont typeface="Arial" panose="020B0604020202020204" pitchFamily="34" charset="0"/>
              <a:buChar char="•"/>
            </a:pPr>
            <a:r>
              <a:rPr lang="zh-CN" altLang="en-US" sz="2400" dirty="0"/>
              <a:t>软件项目管理课程主要介绍</a:t>
            </a:r>
            <a:r>
              <a:rPr lang="zh-CN" altLang="en-US" sz="2400" dirty="0">
                <a:solidFill>
                  <a:srgbClr val="FF0000"/>
                </a:solidFill>
              </a:rPr>
              <a:t>软件项目管理</a:t>
            </a:r>
            <a:r>
              <a:rPr lang="zh-CN" altLang="en-US" sz="2400" dirty="0"/>
              <a:t>的基本知识和方法，是软件工程专业学生的一门</a:t>
            </a:r>
            <a:r>
              <a:rPr lang="zh-CN" altLang="en-US" sz="2400" dirty="0">
                <a:solidFill>
                  <a:srgbClr val="FF0000"/>
                </a:solidFill>
              </a:rPr>
              <a:t>专业必修</a:t>
            </a:r>
            <a:r>
              <a:rPr lang="zh-CN" altLang="en-US" sz="2400" dirty="0"/>
              <a:t>课程。</a:t>
            </a:r>
            <a:endParaRPr lang="en-US" altLang="zh-CN" sz="24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07586270-de36-46f4-ad57-1d63ee1aafeb"/>
  <p:tag name="COMMONDATA" val="eyJoZGlkIjoiODJiYjg0MzBkZmQ1OGYxZWJkZjc1YWIwMDBiNGIwM2MifQ=="/>
</p:tagLst>
</file>

<file path=ppt/theme/theme1.xml><?xml version="1.0" encoding="utf-8"?>
<a:theme xmlns:a="http://schemas.openxmlformats.org/drawingml/2006/main" name="1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1441</Words>
  <Application>Microsoft Office PowerPoint</Application>
  <PresentationFormat>自定义</PresentationFormat>
  <Paragraphs>194</Paragraphs>
  <Slides>25</Slides>
  <Notes>19</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25</vt:i4>
      </vt:variant>
    </vt:vector>
  </HeadingPairs>
  <TitlesOfParts>
    <vt:vector size="37" baseType="lpstr">
      <vt:lpstr>Helvetica Neue</vt:lpstr>
      <vt:lpstr>方正粗宋简体</vt:lpstr>
      <vt:lpstr>方正舒体</vt:lpstr>
      <vt:lpstr>微软雅黑</vt:lpstr>
      <vt:lpstr>Arial</vt:lpstr>
      <vt:lpstr>Calibri</vt:lpstr>
      <vt:lpstr>Cambria Math</vt:lpstr>
      <vt:lpstr>Impact</vt:lpstr>
      <vt:lpstr>Wingdings</vt:lpstr>
      <vt:lpstr>1_Office 主题</vt:lpstr>
      <vt:lpstr>2_Office 主题</vt:lpstr>
      <vt:lpstr>BMP 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邵浩</dc:creator>
  <cp:keywords>邵浩</cp:keywords>
  <cp:lastModifiedBy>office</cp:lastModifiedBy>
  <cp:revision>665</cp:revision>
  <dcterms:created xsi:type="dcterms:W3CDTF">2014-04-12T07:42:00Z</dcterms:created>
  <dcterms:modified xsi:type="dcterms:W3CDTF">2023-12-07T11:29:17Z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7E5F975F59E54E10BB6DA94DD48AA9E6</vt:lpwstr>
  </property>
</Properties>
</file>