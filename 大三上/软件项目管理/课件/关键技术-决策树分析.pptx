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60" r:id="rId3"/>
  </p:sldMasterIdLst>
  <p:notesMasterIdLst>
    <p:notesMasterId r:id="rId5"/>
  </p:notesMasterIdLst>
  <p:handoutMasterIdLst>
    <p:handoutMasterId r:id="rId17"/>
  </p:handoutMasterIdLst>
  <p:sldIdLst>
    <p:sldId id="728" r:id="rId4"/>
    <p:sldId id="771" r:id="rId6"/>
    <p:sldId id="773" r:id="rId7"/>
    <p:sldId id="775" r:id="rId8"/>
    <p:sldId id="776" r:id="rId9"/>
    <p:sldId id="777" r:id="rId10"/>
    <p:sldId id="778" r:id="rId11"/>
    <p:sldId id="779" r:id="rId12"/>
    <p:sldId id="780" r:id="rId13"/>
    <p:sldId id="781" r:id="rId14"/>
    <p:sldId id="782" r:id="rId15"/>
    <p:sldId id="783" r:id="rId16"/>
  </p:sldIdLst>
  <p:sldSz cx="12192000" cy="7560945"/>
  <p:notesSz cx="6858000" cy="9144000"/>
  <p:defaultTextStyle>
    <a:defPPr>
      <a:defRPr lang="zh-CN"/>
    </a:defPPr>
    <a:lvl1pPr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磊" initials="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0F977"/>
    <a:srgbClr val="FF9900"/>
    <a:srgbClr val="0066CC"/>
    <a:srgbClr val="0000FF"/>
    <a:srgbClr val="DBD600"/>
    <a:srgbClr val="8BBF20"/>
    <a:srgbClr val="A50021"/>
    <a:srgbClr val="0386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98" autoAdjust="0"/>
    <p:restoredTop sz="85673" autoAdjust="0"/>
  </p:normalViewPr>
  <p:slideViewPr>
    <p:cSldViewPr snapToGrid="0" snapToObjects="1">
      <p:cViewPr varScale="1">
        <p:scale>
          <a:sx n="89" d="100"/>
          <a:sy n="89" d="100"/>
        </p:scale>
        <p:origin x="1650" y="84"/>
      </p:cViewPr>
      <p:guideLst>
        <p:guide orient="horz" pos="2493"/>
        <p:guide pos="381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3" d="100"/>
          <a:sy n="53" d="100"/>
        </p:scale>
        <p:origin x="-2904" y="-102"/>
      </p:cViewPr>
      <p:guideLst>
        <p:guide orient="horz" pos="2950"/>
        <p:guide pos="2147"/>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90204" pitchFamily="34" charset="0"/>
              <a:buNone/>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90204" pitchFamily="34" charset="0"/>
              <a:buNone/>
              <a:defRPr sz="1200"/>
            </a:lvl1pPr>
          </a:lstStyle>
          <a:p>
            <a:pPr>
              <a:defRPr/>
            </a:pPr>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90204" pitchFamily="34" charset="0"/>
              <a:buNone/>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90204" pitchFamily="34" charset="0"/>
              <a:buChar char="•"/>
              <a:defRPr sz="1200" noProof="1"/>
            </a:lvl1pPr>
          </a:lstStyle>
          <a:p>
            <a:pPr>
              <a:defRPr/>
            </a:pPr>
            <a:fld id="{3E19670D-C869-4A5D-A780-D41936B3781A}" type="slidenum">
              <a:rPr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p:nvPr>
        </p:nvSpPr>
        <p:spPr bwMode="auto">
          <a:xfrm>
            <a:off x="0" y="0"/>
            <a:ext cx="2970213" cy="458788"/>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9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5" name="日期占位符 2"/>
          <p:cNvSpPr>
            <a:spLocks noGrp="1" noChangeArrowheads="1"/>
          </p:cNvSpPr>
          <p:nvPr>
            <p:ph type="dt" idx="1"/>
          </p:nvPr>
        </p:nvSpPr>
        <p:spPr bwMode="auto">
          <a:xfrm>
            <a:off x="3883025" y="0"/>
            <a:ext cx="2973388" cy="458788"/>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9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941388" y="1143000"/>
            <a:ext cx="4975225"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p:cNvSpPr>
            <a:spLocks noGrp="1" noChangeArrowheads="1"/>
          </p:cNvSpPr>
          <p:nvPr>
            <p:ph type="body" sz="quarter" idx="3"/>
          </p:nvPr>
        </p:nvSpPr>
        <p:spPr bwMode="auto">
          <a:xfrm>
            <a:off x="685800" y="4400550"/>
            <a:ext cx="5486400" cy="360045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3078" name="页脚占位符 5"/>
          <p:cNvSpPr>
            <a:spLocks noGrp="1" noChangeArrowheads="1"/>
          </p:cNvSpPr>
          <p:nvPr>
            <p:ph type="ftr" sz="quarter" idx="4"/>
          </p:nvPr>
        </p:nvSpPr>
        <p:spPr bwMode="auto">
          <a:xfrm>
            <a:off x="0" y="8685213"/>
            <a:ext cx="2970213" cy="458787"/>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9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9" name="灯片编号占位符 6"/>
          <p:cNvSpPr>
            <a:spLocks noGrp="1" noChangeArrowheads="1"/>
          </p:cNvSpPr>
          <p:nvPr>
            <p:ph type="sldNum" sz="quarter" idx="5"/>
          </p:nvPr>
        </p:nvSpPr>
        <p:spPr bwMode="auto">
          <a:xfrm>
            <a:off x="3883025" y="8685213"/>
            <a:ext cx="2973388" cy="458787"/>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90204" pitchFamily="34" charset="0"/>
              <a:buChar char="•"/>
              <a:defRPr sz="1200" noProof="1">
                <a:latin typeface="Calibri" panose="020F0502020204030204" pitchFamily="34" charset="0"/>
                <a:ea typeface="宋体" panose="02010600030101010101" pitchFamily="2" charset="-122"/>
              </a:defRPr>
            </a:lvl1pPr>
          </a:lstStyle>
          <a:p>
            <a:pPr>
              <a:defRPr/>
            </a:pPr>
            <a:fld id="{9ABF73B3-AB42-43BE-BB63-9452E30E81D8}" type="slidenum">
              <a:rPr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238250"/>
            <a:ext cx="9144000" cy="2632075"/>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971925"/>
            <a:ext cx="9144000"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2AF88477-48E1-4CF0-8EB9-142E499F7548}"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EFD1C6A-13D5-4BC6-A7E2-4B62A58330D4}"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6C31440A-D864-41DC-B390-C88EBD02AB7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5FD14F6-A94F-4B13-B731-9423223642F6}"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884363"/>
            <a:ext cx="10515600" cy="3146425"/>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5059363"/>
            <a:ext cx="10515600" cy="16541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FFFB1509-6FBC-4C48-B835-222CC488B31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FA9CEB8-CD95-423D-BCDB-CEEDD13B9761}"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2012950"/>
            <a:ext cx="5181600" cy="479742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2012950"/>
            <a:ext cx="5181600" cy="479742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3"/>
          <p:cNvSpPr>
            <a:spLocks noGrp="1"/>
          </p:cNvSpPr>
          <p:nvPr>
            <p:ph type="dt" sz="half" idx="10"/>
          </p:nvPr>
        </p:nvSpPr>
        <p:spPr/>
        <p:txBody>
          <a:bodyPr/>
          <a:lstStyle>
            <a:lvl1pPr>
              <a:defRPr/>
            </a:lvl1pPr>
          </a:lstStyle>
          <a:p>
            <a:pPr>
              <a:defRPr/>
            </a:pPr>
            <a:fld id="{A355C352-2F5B-4754-9125-2F91B0AA4EC3}"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C4DC7C9-DB16-4362-B62B-EC67B9D20B38}"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403225"/>
            <a:ext cx="10515600" cy="146050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854200"/>
            <a:ext cx="5157787"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762250"/>
            <a:ext cx="5157787" cy="406241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854200"/>
            <a:ext cx="5183188"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762250"/>
            <a:ext cx="5183188" cy="406241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3"/>
          <p:cNvSpPr>
            <a:spLocks noGrp="1"/>
          </p:cNvSpPr>
          <p:nvPr>
            <p:ph type="dt" sz="half" idx="10"/>
          </p:nvPr>
        </p:nvSpPr>
        <p:spPr/>
        <p:txBody>
          <a:bodyPr/>
          <a:lstStyle>
            <a:lvl1pPr>
              <a:defRPr/>
            </a:lvl1pPr>
          </a:lstStyle>
          <a:p>
            <a:pPr>
              <a:defRPr/>
            </a:pPr>
            <a:fld id="{ABF9E5F5-4F3C-4614-A20C-3DF1A6632E2A}"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5890CA61-C042-4080-BBF8-D021CCA4086C}"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08424AE9-F93C-48C5-87A1-E423B835A9A1}"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96BF27D-831E-4312-BB77-8E0F1FC072FF}"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E530459-E9BD-452C-9837-2C09CDA84529}"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5A8566B-B98C-433A-A05B-3B09FBA20BBC}"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1089025"/>
            <a:ext cx="6172200" cy="53736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0A263C05-7030-494B-86A6-50B10EEB1B79}"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AAD7715-F44A-4019-83F4-2F755408C5A8}"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1089025"/>
            <a:ext cx="6172200" cy="537368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A1B0C7C4-D140-417F-9901-FDB328CAE89E}"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70C33FD-8D31-44BA-84BB-39A9F3B21023}"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0FBAB5F6-AEBA-4CAF-BAF6-C7FA61E49E9E}"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2018F51-F472-44A8-94EB-976086C94C6B}"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403225"/>
            <a:ext cx="2628900" cy="64071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403225"/>
            <a:ext cx="7734300" cy="640715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453F553-164D-4CA1-B5EB-33509E033991}"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486E0E-3EF3-4F79-BC03-ADB2ACD30997}"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noChangeArrowheads="1"/>
          </p:cNvSpPr>
          <p:nvPr>
            <p:ph type="sldNum" sz="quarter" idx="10"/>
          </p:nvPr>
        </p:nvSpPr>
        <p:spPr/>
        <p:txBody>
          <a:bodyPr/>
          <a:lstStyle>
            <a:lvl1pPr>
              <a:defRPr/>
            </a:lvl1pPr>
          </a:lstStyle>
          <a:p>
            <a:pPr>
              <a:defRPr/>
            </a:pPr>
            <a:fld id="{48FCA3E5-9AB8-4531-B86F-EBECED5A7283}" type="slidenum">
              <a:rPr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lang="zh-CN" altLang="en-US" dirty="0"/>
              <a:t>单击此处编辑母版标题样式</a:t>
            </a:r>
            <a:endParaRPr lang="en-US" dirty="0"/>
          </a:p>
        </p:txBody>
      </p:sp>
      <p:sp>
        <p:nvSpPr>
          <p:cNvPr id="27" name="内容占位符 26"/>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日期占位符 24"/>
          <p:cNvSpPr>
            <a:spLocks noGrp="1"/>
          </p:cNvSpPr>
          <p:nvPr>
            <p:ph type="dt" sz="half" idx="10"/>
          </p:nvPr>
        </p:nvSpPr>
        <p:spPr>
          <a:xfrm>
            <a:off x="0" y="0"/>
            <a:ext cx="0" cy="0"/>
          </a:xfrm>
        </p:spPr>
        <p:txBody>
          <a:bodyPr/>
          <a:lstStyle>
            <a:lvl1pPr>
              <a:defRPr/>
            </a:lvl1pPr>
          </a:lstStyle>
          <a:p>
            <a:pPr>
              <a:defRPr/>
            </a:pPr>
            <a:fld id="{EFC4D294-EBF5-4C94-B9F9-98355490C3CB}" type="datetimeFigureOut">
              <a:rPr lang="zh-CN" altLang="en-US"/>
            </a:fld>
            <a:endParaRPr lang="zh-CN" altLang="en-US"/>
          </a:p>
        </p:txBody>
      </p:sp>
      <p:sp>
        <p:nvSpPr>
          <p:cNvPr id="5" name="页脚占位符 18"/>
          <p:cNvSpPr>
            <a:spLocks noGrp="1"/>
          </p:cNvSpPr>
          <p:nvPr>
            <p:ph type="ftr" sz="quarter" idx="11"/>
          </p:nvPr>
        </p:nvSpPr>
        <p:spPr>
          <a:xfrm>
            <a:off x="4775200" y="84138"/>
            <a:ext cx="3860800" cy="319087"/>
          </a:xfrm>
        </p:spPr>
        <p:txBody>
          <a:bodyPr/>
          <a:lstStyle>
            <a:lvl1pPr>
              <a:defRPr/>
            </a:lvl1pPr>
          </a:lstStyle>
          <a:p>
            <a:pPr>
              <a:defRPr/>
            </a:pPr>
            <a:endParaRPr lang="zh-CN" altLang="en-US"/>
          </a:p>
        </p:txBody>
      </p:sp>
      <p:sp>
        <p:nvSpPr>
          <p:cNvPr id="6" name="灯片编号占位符 15"/>
          <p:cNvSpPr>
            <a:spLocks noGrp="1"/>
          </p:cNvSpPr>
          <p:nvPr>
            <p:ph type="sldNum" sz="quarter" idx="12"/>
          </p:nvPr>
        </p:nvSpPr>
        <p:spPr>
          <a:xfrm>
            <a:off x="10972800" y="7137400"/>
            <a:ext cx="1011238" cy="273050"/>
          </a:xfrm>
        </p:spPr>
        <p:txBody>
          <a:bodyPr/>
          <a:lstStyle>
            <a:lvl1pPr>
              <a:defRPr/>
            </a:lvl1pPr>
          </a:lstStyle>
          <a:p>
            <a:pPr>
              <a:defRPr/>
            </a:pPr>
            <a:fld id="{E6407E92-E445-4657-B64C-BE059AB20FBD}" type="slidenum">
              <a:rPr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403225"/>
            <a:ext cx="105156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838200" y="2012950"/>
            <a:ext cx="10515600"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7008813"/>
            <a:ext cx="2743200" cy="401637"/>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D24FCC2-23DF-4ADE-9E07-C5F5D3262469}" type="datetimeFigureOut">
              <a:rPr lang="zh-CN" altLang="en-US"/>
            </a:fld>
            <a:endParaRPr lang="zh-CN" altLang="en-US"/>
          </a:p>
        </p:txBody>
      </p:sp>
      <p:sp>
        <p:nvSpPr>
          <p:cNvPr id="5" name="页脚占位符 4"/>
          <p:cNvSpPr>
            <a:spLocks noGrp="1"/>
          </p:cNvSpPr>
          <p:nvPr>
            <p:ph type="ftr" sz="quarter" idx="3"/>
          </p:nvPr>
        </p:nvSpPr>
        <p:spPr>
          <a:xfrm>
            <a:off x="4038600" y="7008813"/>
            <a:ext cx="4114800" cy="401637"/>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610600" y="7008813"/>
            <a:ext cx="2743200" cy="401637"/>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656F0DA-45B5-44A3-9304-266A7B263D45}"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2F2F2"/>
        </a:solidFill>
        <a:effectLst/>
      </p:bgPr>
    </p:bg>
    <p:spTree>
      <p:nvGrpSpPr>
        <p:cNvPr id="1" name=""/>
        <p:cNvGrpSpPr/>
        <p:nvPr/>
      </p:nvGrpSpPr>
      <p:grpSpPr>
        <a:xfrm>
          <a:off x="0" y="0"/>
          <a:ext cx="0" cy="0"/>
          <a:chOff x="0" y="0"/>
          <a:chExt cx="0" cy="0"/>
        </a:xfrm>
      </p:grpSpPr>
      <p:sp>
        <p:nvSpPr>
          <p:cNvPr id="1028" name="矩形 8"/>
          <p:cNvSpPr>
            <a:spLocks noChangeArrowheads="1"/>
          </p:cNvSpPr>
          <p:nvPr/>
        </p:nvSpPr>
        <p:spPr bwMode="auto">
          <a:xfrm>
            <a:off x="0" y="7458075"/>
            <a:ext cx="12192000" cy="92075"/>
          </a:xfrm>
          <a:prstGeom prst="rect">
            <a:avLst/>
          </a:prstGeom>
          <a:solidFill>
            <a:srgbClr val="A6A6A6"/>
          </a:solidFill>
          <a:ln w="12700">
            <a:solidFill>
              <a:srgbClr val="A6A6A6"/>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90204" pitchFamily="34" charset="0"/>
              <a:buNone/>
              <a:defRPr/>
            </a:pPr>
            <a:endParaRPr lang="zh-CN" altLang="en-US">
              <a:solidFill>
                <a:srgbClr val="FFFFFF"/>
              </a:solidFill>
            </a:endParaRPr>
          </a:p>
        </p:txBody>
      </p:sp>
      <p:sp>
        <p:nvSpPr>
          <p:cNvPr id="1029" name="矩形 9"/>
          <p:cNvSpPr>
            <a:spLocks noChangeArrowheads="1"/>
          </p:cNvSpPr>
          <p:nvPr/>
        </p:nvSpPr>
        <p:spPr bwMode="auto">
          <a:xfrm>
            <a:off x="0" y="515938"/>
            <a:ext cx="12192000" cy="34925"/>
          </a:xfrm>
          <a:prstGeom prst="rect">
            <a:avLst/>
          </a:prstGeom>
          <a:solidFill>
            <a:srgbClr val="01395C"/>
          </a:solidFill>
          <a:ln w="12700">
            <a:solidFill>
              <a:srgbClr val="01395C"/>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90204" pitchFamily="34" charset="0"/>
              <a:buNone/>
              <a:defRPr/>
            </a:pPr>
            <a:endParaRPr lang="zh-CN" altLang="en-US">
              <a:solidFill>
                <a:srgbClr val="FFFFFF"/>
              </a:solidFill>
            </a:endParaRPr>
          </a:p>
        </p:txBody>
      </p:sp>
      <p:sp>
        <p:nvSpPr>
          <p:cNvPr id="2056" name="灯片编号占位符 5"/>
          <p:cNvSpPr>
            <a:spLocks noGrp="1" noChangeArrowheads="1"/>
          </p:cNvSpPr>
          <p:nvPr>
            <p:ph type="sldNum" sz="quarter" idx="4"/>
          </p:nvPr>
        </p:nvSpPr>
        <p:spPr bwMode="auto">
          <a:xfrm>
            <a:off x="9191625" y="74613"/>
            <a:ext cx="2743200" cy="401637"/>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90204" pitchFamily="34" charset="0"/>
              <a:buChar char="•"/>
              <a:defRPr sz="1200" noProof="1">
                <a:solidFill>
                  <a:srgbClr val="01395C"/>
                </a:solidFill>
              </a:defRPr>
            </a:lvl1pPr>
          </a:lstStyle>
          <a:p>
            <a:pPr>
              <a:defRPr/>
            </a:pPr>
            <a:fld id="{BE1E0957-E904-4AFC-A12B-0BC2BB8162F8}" type="slidenum">
              <a:rPr altLang="en-US"/>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2pPr>
      <a:lvl3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3pPr>
      <a:lvl4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4pPr>
      <a:lvl5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5pPr>
      <a:lvl6pPr marL="4572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6pPr>
      <a:lvl7pPr marL="9144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7pPr>
      <a:lvl8pPr marL="13716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8pPr>
      <a:lvl9pPr marL="18288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9pPr>
    </p:titleStyle>
    <p:bodyStyle>
      <a:lvl1pPr marL="228600" indent="-228600" algn="l" rtl="0" eaLnBrk="0" fontAlgn="base" hangingPunct="0">
        <a:lnSpc>
          <a:spcPct val="90000"/>
        </a:lnSpc>
        <a:spcBef>
          <a:spcPts val="1000"/>
        </a:spcBef>
        <a:spcAft>
          <a:spcPct val="0"/>
        </a:spcAft>
        <a:buFont typeface="Arial" panose="020B060402020209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endParaRPr lang="zh-CN" altLang="en-US" sz="2400" b="1" dirty="0">
              <a:solidFill>
                <a:srgbClr val="01395C"/>
              </a:solidFill>
              <a:latin typeface="方正粗宋简体"/>
              <a:ea typeface="方正粗宋简体"/>
              <a:cs typeface="方正粗宋简体"/>
            </a:endParaRPr>
          </a:p>
        </p:txBody>
      </p:sp>
      <p:sp>
        <p:nvSpPr>
          <p:cNvPr id="15363" name="文本占位符 15362"/>
          <p:cNvSpPr>
            <a:spLocks noGrp="1"/>
          </p:cNvSpPr>
          <p:nvPr>
            <p:ph type="body" idx="1"/>
          </p:nvPr>
        </p:nvSpPr>
        <p:spPr>
          <a:xfrm>
            <a:off x="440055" y="462280"/>
            <a:ext cx="11312525" cy="5562600"/>
          </a:xfrm>
        </p:spPr>
        <p:txBody>
          <a:bodyPr/>
          <a:p>
            <a:pPr>
              <a:lnSpc>
                <a:spcPct val="110000"/>
              </a:lnSpc>
              <a:buNone/>
            </a:pPr>
            <a:endParaRPr lang="zh-CN" altLang="en-US" sz="2400" dirty="0">
              <a:latin typeface="微软雅黑" charset="0"/>
              <a:ea typeface="微软雅黑" charset="0"/>
              <a:cs typeface="微软雅黑" charset="0"/>
            </a:endParaRPr>
          </a:p>
          <a:p>
            <a:pPr>
              <a:lnSpc>
                <a:spcPct val="110000"/>
              </a:lnSpc>
            </a:pPr>
            <a:r>
              <a:rPr lang="zh-CN" altLang="en-US" sz="2400" dirty="0">
                <a:latin typeface="微软雅黑" charset="0"/>
                <a:ea typeface="微软雅黑" charset="0"/>
                <a:cs typeface="微软雅黑" charset="0"/>
              </a:rPr>
              <a:t>决策树法</a:t>
            </a:r>
            <a:r>
              <a:rPr lang="zh-CN" altLang="en-US" sz="2400" b="0" dirty="0">
                <a:solidFill>
                  <a:schemeClr val="tx1"/>
                </a:solidFill>
                <a:latin typeface="微软雅黑" charset="0"/>
                <a:ea typeface="微软雅黑" charset="0"/>
                <a:cs typeface="微软雅黑" charset="0"/>
              </a:rPr>
              <a:t>：是以损益值为准则的图解风险评价法，由于这种风险评价图类似树枝，因此称为决策树法。</a:t>
            </a:r>
            <a:endParaRPr lang="zh-CN" altLang="en-US" sz="2400" b="0" dirty="0">
              <a:solidFill>
                <a:schemeClr val="tx1"/>
              </a:solidFill>
              <a:latin typeface="微软雅黑" charset="0"/>
              <a:ea typeface="微软雅黑" charset="0"/>
              <a:cs typeface="微软雅黑" charset="0"/>
            </a:endParaRPr>
          </a:p>
          <a:p>
            <a:pPr>
              <a:lnSpc>
                <a:spcPct val="110000"/>
              </a:lnSpc>
            </a:pPr>
            <a:r>
              <a:rPr lang="zh-CN" altLang="en-US" sz="2400" dirty="0">
                <a:latin typeface="微软雅黑" charset="0"/>
                <a:ea typeface="微软雅黑" charset="0"/>
                <a:cs typeface="微软雅黑" charset="0"/>
              </a:rPr>
              <a:t>决策树的结构：</a:t>
            </a:r>
            <a:r>
              <a:rPr lang="zh-CN" altLang="en-US" sz="2400" b="0" dirty="0">
                <a:solidFill>
                  <a:schemeClr val="tx1"/>
                </a:solidFill>
                <a:latin typeface="微软雅黑" charset="0"/>
                <a:ea typeface="微软雅黑" charset="0"/>
                <a:cs typeface="微软雅黑" charset="0"/>
              </a:rPr>
              <a:t>决策树由</a:t>
            </a:r>
            <a:r>
              <a:rPr lang="zh-CN" altLang="en-US" sz="2400" dirty="0">
                <a:solidFill>
                  <a:schemeClr val="accent2"/>
                </a:solidFill>
                <a:latin typeface="微软雅黑" charset="0"/>
                <a:ea typeface="微软雅黑" charset="0"/>
                <a:cs typeface="微软雅黑" charset="0"/>
              </a:rPr>
              <a:t>节点和分枝</a:t>
            </a:r>
            <a:r>
              <a:rPr lang="zh-CN" altLang="en-US" sz="2400" b="0" dirty="0">
                <a:solidFill>
                  <a:schemeClr val="tx1"/>
                </a:solidFill>
                <a:latin typeface="微软雅黑" charset="0"/>
                <a:ea typeface="微软雅黑" charset="0"/>
                <a:cs typeface="微软雅黑" charset="0"/>
              </a:rPr>
              <a:t>组成。节点有三种：</a:t>
            </a:r>
            <a:endParaRPr lang="zh-CN" altLang="en-US" sz="2400" b="0" dirty="0">
              <a:solidFill>
                <a:schemeClr val="tx1"/>
              </a:solidFill>
              <a:latin typeface="微软雅黑" charset="0"/>
              <a:ea typeface="微软雅黑" charset="0"/>
              <a:cs typeface="微软雅黑" charset="0"/>
            </a:endParaRPr>
          </a:p>
          <a:p>
            <a:pPr>
              <a:lnSpc>
                <a:spcPct val="110000"/>
              </a:lnSpc>
              <a:buNone/>
            </a:pPr>
            <a:r>
              <a:rPr lang="zh-CN" altLang="en-US" sz="2400" b="0" dirty="0">
                <a:solidFill>
                  <a:schemeClr val="tx1"/>
                </a:solidFill>
                <a:latin typeface="微软雅黑" charset="0"/>
                <a:ea typeface="微软雅黑" charset="0"/>
                <a:cs typeface="微软雅黑" charset="0"/>
              </a:rPr>
              <a:t>（</a:t>
            </a:r>
            <a:r>
              <a:rPr lang="en-US" altLang="zh-CN" sz="2400" b="0" dirty="0">
                <a:solidFill>
                  <a:schemeClr val="tx1"/>
                </a:solidFill>
                <a:latin typeface="微软雅黑" charset="0"/>
                <a:ea typeface="微软雅黑" charset="0"/>
                <a:cs typeface="微软雅黑" charset="0"/>
              </a:rPr>
              <a:t>1</a:t>
            </a:r>
            <a:r>
              <a:rPr lang="zh-CN" altLang="en-US" sz="2400" b="0" dirty="0">
                <a:solidFill>
                  <a:schemeClr val="tx1"/>
                </a:solidFill>
                <a:latin typeface="微软雅黑" charset="0"/>
                <a:ea typeface="微软雅黑" charset="0"/>
                <a:cs typeface="微软雅黑" charset="0"/>
              </a:rPr>
              <a:t>）决策节点，用符号      表示。</a:t>
            </a:r>
            <a:endParaRPr lang="zh-CN" altLang="en-US" sz="2400" b="0" dirty="0">
              <a:solidFill>
                <a:schemeClr val="tx1"/>
              </a:solidFill>
              <a:latin typeface="微软雅黑" charset="0"/>
              <a:ea typeface="微软雅黑" charset="0"/>
              <a:cs typeface="微软雅黑" charset="0"/>
            </a:endParaRPr>
          </a:p>
          <a:p>
            <a:pPr lvl="1">
              <a:lnSpc>
                <a:spcPct val="110000"/>
              </a:lnSpc>
            </a:pPr>
            <a:r>
              <a:rPr lang="zh-CN" altLang="en-US" sz="2400" b="0" dirty="0">
                <a:latin typeface="微软雅黑" charset="0"/>
                <a:ea typeface="微软雅黑" charset="0"/>
                <a:cs typeface="微软雅黑" charset="0"/>
              </a:rPr>
              <a:t>表示此时的行为是决策者在自己</a:t>
            </a:r>
            <a:r>
              <a:rPr lang="zh-CN" altLang="en-US" sz="2400" dirty="0">
                <a:solidFill>
                  <a:schemeClr val="accent2"/>
                </a:solidFill>
                <a:latin typeface="微软雅黑" charset="0"/>
                <a:ea typeface="微软雅黑" charset="0"/>
                <a:cs typeface="微软雅黑" charset="0"/>
              </a:rPr>
              <a:t>能够控制</a:t>
            </a:r>
            <a:r>
              <a:rPr lang="zh-CN" altLang="en-US" sz="2400" b="0" dirty="0">
                <a:latin typeface="微软雅黑" charset="0"/>
                <a:ea typeface="微软雅黑" charset="0"/>
                <a:cs typeface="微软雅黑" charset="0"/>
              </a:rPr>
              <a:t>的情况下进行分析和选择。从决策节点引出的分枝叫</a:t>
            </a:r>
            <a:r>
              <a:rPr lang="zh-CN" altLang="en-US" sz="2400" u="sng" dirty="0">
                <a:latin typeface="微软雅黑" charset="0"/>
                <a:ea typeface="微软雅黑" charset="0"/>
                <a:cs typeface="微软雅黑" charset="0"/>
              </a:rPr>
              <a:t>方案分枝</a:t>
            </a:r>
            <a:r>
              <a:rPr lang="zh-CN" altLang="en-US" sz="2400" b="0" dirty="0">
                <a:latin typeface="微软雅黑" charset="0"/>
                <a:ea typeface="微软雅黑" charset="0"/>
                <a:cs typeface="微软雅黑" charset="0"/>
              </a:rPr>
              <a:t>，分枝数反映可能的方案数目。</a:t>
            </a:r>
            <a:endParaRPr lang="zh-CN" altLang="en-US" sz="2400" b="0" dirty="0">
              <a:latin typeface="微软雅黑" charset="0"/>
              <a:ea typeface="微软雅黑" charset="0"/>
              <a:cs typeface="微软雅黑" charset="0"/>
            </a:endParaRPr>
          </a:p>
          <a:p>
            <a:pPr>
              <a:lnSpc>
                <a:spcPct val="110000"/>
              </a:lnSpc>
              <a:buNone/>
            </a:pPr>
            <a:r>
              <a:rPr lang="zh-CN" altLang="en-US" sz="2400" b="0" dirty="0">
                <a:solidFill>
                  <a:schemeClr val="tx1"/>
                </a:solidFill>
                <a:latin typeface="微软雅黑" charset="0"/>
                <a:ea typeface="微软雅黑" charset="0"/>
                <a:cs typeface="微软雅黑" charset="0"/>
              </a:rPr>
              <a:t>（</a:t>
            </a:r>
            <a:r>
              <a:rPr lang="en-US" altLang="zh-CN" sz="2400" b="0" dirty="0">
                <a:solidFill>
                  <a:schemeClr val="tx1"/>
                </a:solidFill>
                <a:latin typeface="微软雅黑" charset="0"/>
                <a:ea typeface="微软雅黑" charset="0"/>
                <a:cs typeface="微软雅黑" charset="0"/>
              </a:rPr>
              <a:t>2</a:t>
            </a:r>
            <a:r>
              <a:rPr lang="zh-CN" altLang="en-US" sz="2400" b="0" dirty="0">
                <a:solidFill>
                  <a:schemeClr val="tx1"/>
                </a:solidFill>
                <a:latin typeface="微软雅黑" charset="0"/>
                <a:ea typeface="微软雅黑" charset="0"/>
                <a:cs typeface="微软雅黑" charset="0"/>
              </a:rPr>
              <a:t>）方案（状态）节点，用符号      表示。</a:t>
            </a:r>
            <a:endParaRPr lang="zh-CN" altLang="en-US" sz="2400" b="0" dirty="0">
              <a:solidFill>
                <a:schemeClr val="tx1"/>
              </a:solidFill>
              <a:latin typeface="微软雅黑" charset="0"/>
              <a:ea typeface="微软雅黑" charset="0"/>
              <a:cs typeface="微软雅黑" charset="0"/>
            </a:endParaRPr>
          </a:p>
          <a:p>
            <a:pPr lvl="1">
              <a:lnSpc>
                <a:spcPct val="110000"/>
              </a:lnSpc>
            </a:pPr>
            <a:r>
              <a:rPr lang="zh-CN" altLang="en-US" sz="2400" b="0" dirty="0">
                <a:latin typeface="微软雅黑" charset="0"/>
                <a:ea typeface="微软雅黑" charset="0"/>
                <a:cs typeface="微软雅黑" charset="0"/>
              </a:rPr>
              <a:t>表示此时的行为是决策者在自己</a:t>
            </a:r>
            <a:r>
              <a:rPr lang="zh-CN" altLang="en-US" sz="2400" dirty="0">
                <a:solidFill>
                  <a:schemeClr val="accent2"/>
                </a:solidFill>
                <a:latin typeface="微软雅黑" charset="0"/>
                <a:ea typeface="微软雅黑" charset="0"/>
                <a:cs typeface="微软雅黑" charset="0"/>
              </a:rPr>
              <a:t>无法控制</a:t>
            </a:r>
            <a:r>
              <a:rPr lang="zh-CN" altLang="en-US" sz="2400" b="0" dirty="0">
                <a:latin typeface="微软雅黑" charset="0"/>
                <a:ea typeface="微软雅黑" charset="0"/>
                <a:cs typeface="微软雅黑" charset="0"/>
              </a:rPr>
              <a:t>的一种状态。</a:t>
            </a:r>
            <a:endParaRPr lang="zh-CN" altLang="en-US" sz="2400" b="0" dirty="0">
              <a:latin typeface="微软雅黑" charset="0"/>
              <a:ea typeface="微软雅黑" charset="0"/>
              <a:cs typeface="微软雅黑" charset="0"/>
            </a:endParaRPr>
          </a:p>
          <a:p>
            <a:pPr lvl="1">
              <a:lnSpc>
                <a:spcPct val="110000"/>
              </a:lnSpc>
            </a:pPr>
            <a:r>
              <a:rPr lang="zh-CN" altLang="en-US" sz="2400" b="0" dirty="0">
                <a:latin typeface="微软雅黑" charset="0"/>
                <a:ea typeface="微软雅黑" charset="0"/>
                <a:cs typeface="微软雅黑" charset="0"/>
              </a:rPr>
              <a:t>从方案节点引出的分枝叫</a:t>
            </a:r>
            <a:r>
              <a:rPr lang="zh-CN" altLang="en-US" sz="2400" u="sng" dirty="0">
                <a:latin typeface="微软雅黑" charset="0"/>
                <a:ea typeface="微软雅黑" charset="0"/>
                <a:cs typeface="微软雅黑" charset="0"/>
              </a:rPr>
              <a:t>状态分枝</a:t>
            </a:r>
            <a:r>
              <a:rPr lang="zh-CN" altLang="en-US" sz="2400" b="0" dirty="0">
                <a:latin typeface="微软雅黑" charset="0"/>
                <a:ea typeface="微软雅黑" charset="0"/>
                <a:cs typeface="微软雅黑" charset="0"/>
              </a:rPr>
              <a:t>，每一枝代表一种自然状态。分枝数反映可能的自然状态数目。</a:t>
            </a:r>
            <a:endParaRPr lang="zh-CN" altLang="en-US" sz="2400" b="0" dirty="0">
              <a:latin typeface="微软雅黑" charset="0"/>
              <a:ea typeface="微软雅黑" charset="0"/>
              <a:cs typeface="微软雅黑" charset="0"/>
            </a:endParaRPr>
          </a:p>
          <a:p>
            <a:pPr lvl="1">
              <a:lnSpc>
                <a:spcPct val="110000"/>
              </a:lnSpc>
            </a:pPr>
            <a:r>
              <a:rPr lang="zh-CN" altLang="en-US" sz="2400" b="0" dirty="0">
                <a:latin typeface="微软雅黑" charset="0"/>
                <a:ea typeface="微软雅黑" charset="0"/>
                <a:cs typeface="微软雅黑" charset="0"/>
              </a:rPr>
              <a:t>每条分枝上标明自然状态及其可能出现的概率。</a:t>
            </a:r>
            <a:endParaRPr lang="zh-CN" altLang="en-US" sz="2400" b="0" dirty="0">
              <a:latin typeface="微软雅黑" charset="0"/>
              <a:ea typeface="微软雅黑" charset="0"/>
              <a:cs typeface="微软雅黑" charset="0"/>
            </a:endParaRPr>
          </a:p>
          <a:p>
            <a:pPr>
              <a:lnSpc>
                <a:spcPct val="110000"/>
              </a:lnSpc>
              <a:buNone/>
            </a:pPr>
            <a:r>
              <a:rPr lang="zh-CN" altLang="en-US" sz="2400" b="0" dirty="0">
                <a:solidFill>
                  <a:schemeClr val="tx1"/>
                </a:solidFill>
                <a:latin typeface="微软雅黑" charset="0"/>
                <a:ea typeface="微软雅黑" charset="0"/>
                <a:cs typeface="微软雅黑" charset="0"/>
              </a:rPr>
              <a:t>（</a:t>
            </a:r>
            <a:r>
              <a:rPr lang="en-US" altLang="zh-CN" sz="2400" b="0" dirty="0">
                <a:solidFill>
                  <a:schemeClr val="tx1"/>
                </a:solidFill>
                <a:latin typeface="微软雅黑" charset="0"/>
                <a:ea typeface="微软雅黑" charset="0"/>
                <a:cs typeface="微软雅黑" charset="0"/>
              </a:rPr>
              <a:t>3</a:t>
            </a:r>
            <a:r>
              <a:rPr lang="zh-CN" altLang="en-US" sz="2400" b="0" dirty="0">
                <a:solidFill>
                  <a:schemeClr val="tx1"/>
                </a:solidFill>
                <a:latin typeface="微软雅黑" charset="0"/>
                <a:ea typeface="微软雅黑" charset="0"/>
                <a:cs typeface="微软雅黑" charset="0"/>
              </a:rPr>
              <a:t>）结果节点，用符号      表示。</a:t>
            </a:r>
            <a:r>
              <a:rPr lang="zh-CN" altLang="en-US" sz="2400" b="0" dirty="0">
                <a:latin typeface="微软雅黑" charset="0"/>
                <a:ea typeface="微软雅黑" charset="0"/>
                <a:cs typeface="微软雅黑" charset="0"/>
              </a:rPr>
              <a:t>它是</a:t>
            </a:r>
            <a:r>
              <a:rPr lang="zh-CN" altLang="en-US" sz="2400" dirty="0">
                <a:solidFill>
                  <a:schemeClr val="accent2"/>
                </a:solidFill>
                <a:latin typeface="微软雅黑" charset="0"/>
                <a:ea typeface="微软雅黑" charset="0"/>
                <a:cs typeface="微软雅黑" charset="0"/>
              </a:rPr>
              <a:t>状态分枝的最末端，</a:t>
            </a:r>
            <a:r>
              <a:rPr lang="zh-CN" altLang="en-US" sz="2400" b="0" dirty="0">
                <a:latin typeface="微软雅黑" charset="0"/>
                <a:ea typeface="微软雅黑" charset="0"/>
                <a:cs typeface="微软雅黑" charset="0"/>
              </a:rPr>
              <a:t>节点后面的数字是方案在相应结局下的损益值。</a:t>
            </a:r>
            <a:endParaRPr lang="zh-CN" altLang="en-US" sz="2400" b="0" dirty="0">
              <a:latin typeface="微软雅黑" charset="0"/>
              <a:ea typeface="微软雅黑" charset="0"/>
              <a:cs typeface="微软雅黑" charset="0"/>
            </a:endParaRPr>
          </a:p>
        </p:txBody>
      </p:sp>
      <p:sp>
        <p:nvSpPr>
          <p:cNvPr id="15364" name="矩形 15363"/>
          <p:cNvSpPr/>
          <p:nvPr/>
        </p:nvSpPr>
        <p:spPr>
          <a:xfrm>
            <a:off x="3780155" y="2528570"/>
            <a:ext cx="433388" cy="287338"/>
          </a:xfrm>
          <a:prstGeom prst="rect">
            <a:avLst/>
          </a:prstGeom>
          <a:noFill/>
          <a:ln w="38100" cap="flat" cmpd="sng">
            <a:solidFill>
              <a:schemeClr val="accent2"/>
            </a:solidFill>
            <a:prstDash val="solid"/>
            <a:miter/>
            <a:headEnd type="none" w="sm" len="sm"/>
            <a:tailEnd type="none" w="sm" len="sm"/>
          </a:ln>
        </p:spPr>
        <p:txBody>
          <a:bodyPr wrap="none" anchor="ctr"/>
          <a:p>
            <a:pPr algn="ctr"/>
            <a:endParaRPr sz="1800" dirty="0">
              <a:latin typeface="Arial" panose="020B0604020202090204" pitchFamily="34" charset="0"/>
              <a:ea typeface="宋体" panose="02010600030101010101" pitchFamily="2" charset="-122"/>
            </a:endParaRPr>
          </a:p>
        </p:txBody>
      </p:sp>
      <p:sp>
        <p:nvSpPr>
          <p:cNvPr id="15365" name="椭圆 15364"/>
          <p:cNvSpPr/>
          <p:nvPr/>
        </p:nvSpPr>
        <p:spPr>
          <a:xfrm>
            <a:off x="5083175" y="3913505"/>
            <a:ext cx="360363" cy="288925"/>
          </a:xfrm>
          <a:prstGeom prst="ellipse">
            <a:avLst/>
          </a:prstGeom>
          <a:noFill/>
          <a:ln w="38100" cap="flat" cmpd="sng">
            <a:solidFill>
              <a:schemeClr val="accent2"/>
            </a:solidFill>
            <a:prstDash val="solid"/>
            <a:headEnd type="none" w="sm" len="sm"/>
            <a:tailEnd type="none" w="sm" len="sm"/>
          </a:ln>
        </p:spPr>
        <p:txBody>
          <a:bodyPr/>
          <a:p>
            <a:endParaRPr lang="zh-CN" altLang="en-US"/>
          </a:p>
        </p:txBody>
      </p:sp>
      <p:sp>
        <p:nvSpPr>
          <p:cNvPr id="15367" name="等腰三角形 15366"/>
          <p:cNvSpPr/>
          <p:nvPr/>
        </p:nvSpPr>
        <p:spPr>
          <a:xfrm>
            <a:off x="3781425" y="6273800"/>
            <a:ext cx="431800" cy="360363"/>
          </a:xfrm>
          <a:prstGeom prst="triangle">
            <a:avLst>
              <a:gd name="adj" fmla="val 50000"/>
            </a:avLst>
          </a:prstGeom>
          <a:noFill/>
          <a:ln w="38100" cap="flat" cmpd="sng">
            <a:solidFill>
              <a:schemeClr val="accent2"/>
            </a:solidFill>
            <a:prstDash val="solid"/>
            <a:miter/>
            <a:headEnd type="none" w="sm" len="sm"/>
            <a:tailEnd type="none" w="sm" len="sm"/>
          </a:ln>
        </p:spPr>
        <p:txBody>
          <a:bodyPr/>
          <a:p>
            <a:endParaRPr lang="zh-CN" altLang="en-US"/>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endParaRPr lang="zh-CN" altLang="en-US" sz="2400" b="1" dirty="0">
              <a:solidFill>
                <a:srgbClr val="01395C"/>
              </a:solidFill>
              <a:latin typeface="方正粗宋简体"/>
              <a:ea typeface="方正粗宋简体"/>
              <a:cs typeface="方正粗宋简体"/>
            </a:endParaRPr>
          </a:p>
        </p:txBody>
      </p:sp>
      <p:sp>
        <p:nvSpPr>
          <p:cNvPr id="52227" name="文本占位符 52226"/>
          <p:cNvSpPr>
            <a:spLocks noGrp="1"/>
          </p:cNvSpPr>
          <p:nvPr>
            <p:ph type="body" idx="1"/>
          </p:nvPr>
        </p:nvSpPr>
        <p:spPr>
          <a:xfrm>
            <a:off x="609600" y="6096000"/>
            <a:ext cx="8305800" cy="596900"/>
          </a:xfrm>
        </p:spPr>
        <p:txBody>
          <a:bodyPr/>
          <a:p>
            <a:pPr algn="ctr">
              <a:buNone/>
            </a:pPr>
            <a:r>
              <a:rPr lang="zh-CN" altLang="en-US" sz="2400" dirty="0"/>
              <a:t>决策树结构图例</a:t>
            </a:r>
            <a:endParaRPr lang="zh-CN" altLang="en-US" sz="2400"/>
          </a:p>
        </p:txBody>
      </p:sp>
      <p:sp>
        <p:nvSpPr>
          <p:cNvPr id="52228" name="矩形 52227"/>
          <p:cNvSpPr/>
          <p:nvPr/>
        </p:nvSpPr>
        <p:spPr>
          <a:xfrm>
            <a:off x="1600200" y="2895600"/>
            <a:ext cx="685800" cy="609600"/>
          </a:xfrm>
          <a:prstGeom prst="rect">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52229" name="椭圆 52228"/>
          <p:cNvSpPr/>
          <p:nvPr/>
        </p:nvSpPr>
        <p:spPr>
          <a:xfrm>
            <a:off x="3581400" y="1981200"/>
            <a:ext cx="762000" cy="685800"/>
          </a:xfrm>
          <a:prstGeom prst="ellipse">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52230" name="椭圆 52229"/>
          <p:cNvSpPr/>
          <p:nvPr/>
        </p:nvSpPr>
        <p:spPr>
          <a:xfrm>
            <a:off x="3581400" y="4038600"/>
            <a:ext cx="762000" cy="685800"/>
          </a:xfrm>
          <a:prstGeom prst="ellipse">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52231" name="等腰三角形 52230"/>
          <p:cNvSpPr/>
          <p:nvPr/>
        </p:nvSpPr>
        <p:spPr>
          <a:xfrm>
            <a:off x="6019800" y="1600200"/>
            <a:ext cx="685800" cy="609600"/>
          </a:xfrm>
          <a:prstGeom prst="triangle">
            <a:avLst>
              <a:gd name="adj" fmla="val 50000"/>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52232" name="等腰三角形 52231"/>
          <p:cNvSpPr/>
          <p:nvPr/>
        </p:nvSpPr>
        <p:spPr>
          <a:xfrm>
            <a:off x="6248400" y="2514600"/>
            <a:ext cx="685800" cy="609600"/>
          </a:xfrm>
          <a:prstGeom prst="triangle">
            <a:avLst>
              <a:gd name="adj" fmla="val 50000"/>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52233" name="等腰三角形 52232"/>
          <p:cNvSpPr/>
          <p:nvPr/>
        </p:nvSpPr>
        <p:spPr>
          <a:xfrm>
            <a:off x="6400800" y="3962400"/>
            <a:ext cx="685800" cy="609600"/>
          </a:xfrm>
          <a:prstGeom prst="triangle">
            <a:avLst>
              <a:gd name="adj" fmla="val 50000"/>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52234" name="等腰三角形 52233"/>
          <p:cNvSpPr/>
          <p:nvPr/>
        </p:nvSpPr>
        <p:spPr>
          <a:xfrm>
            <a:off x="6324600" y="4953000"/>
            <a:ext cx="685800" cy="609600"/>
          </a:xfrm>
          <a:prstGeom prst="triangle">
            <a:avLst>
              <a:gd name="adj" fmla="val 50000"/>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52235" name="直接连接符 52234"/>
          <p:cNvSpPr/>
          <p:nvPr/>
        </p:nvSpPr>
        <p:spPr>
          <a:xfrm flipV="1">
            <a:off x="2362200" y="2514600"/>
            <a:ext cx="1295400" cy="685800"/>
          </a:xfrm>
          <a:prstGeom prst="line">
            <a:avLst/>
          </a:prstGeom>
          <a:ln w="28575" cap="flat" cmpd="sng">
            <a:solidFill>
              <a:schemeClr val="tx1"/>
            </a:solidFill>
            <a:prstDash val="solid"/>
            <a:miter/>
            <a:headEnd type="none" w="med" len="med"/>
            <a:tailEnd type="none" w="med" len="med"/>
          </a:ln>
        </p:spPr>
      </p:sp>
      <p:sp>
        <p:nvSpPr>
          <p:cNvPr id="52236" name="直接连接符 52235"/>
          <p:cNvSpPr/>
          <p:nvPr/>
        </p:nvSpPr>
        <p:spPr>
          <a:xfrm flipV="1">
            <a:off x="4343400" y="2057400"/>
            <a:ext cx="1676400" cy="228600"/>
          </a:xfrm>
          <a:prstGeom prst="line">
            <a:avLst/>
          </a:prstGeom>
          <a:ln w="28575" cap="flat" cmpd="sng">
            <a:solidFill>
              <a:schemeClr val="tx1"/>
            </a:solidFill>
            <a:prstDash val="solid"/>
            <a:miter/>
            <a:headEnd type="none" w="med" len="med"/>
            <a:tailEnd type="none" w="med" len="med"/>
          </a:ln>
        </p:spPr>
      </p:sp>
      <p:sp>
        <p:nvSpPr>
          <p:cNvPr id="52237" name="直接连接符 52236"/>
          <p:cNvSpPr/>
          <p:nvPr/>
        </p:nvSpPr>
        <p:spPr>
          <a:xfrm>
            <a:off x="4267200" y="2514600"/>
            <a:ext cx="2057400" cy="457200"/>
          </a:xfrm>
          <a:prstGeom prst="line">
            <a:avLst/>
          </a:prstGeom>
          <a:ln w="28575" cap="flat" cmpd="sng">
            <a:solidFill>
              <a:schemeClr val="tx1"/>
            </a:solidFill>
            <a:prstDash val="solid"/>
            <a:miter/>
            <a:headEnd type="none" w="med" len="med"/>
            <a:tailEnd type="none" w="med" len="med"/>
          </a:ln>
        </p:spPr>
      </p:sp>
      <p:sp>
        <p:nvSpPr>
          <p:cNvPr id="52238" name="直接连接符 52237"/>
          <p:cNvSpPr/>
          <p:nvPr/>
        </p:nvSpPr>
        <p:spPr>
          <a:xfrm>
            <a:off x="2286000" y="3352800"/>
            <a:ext cx="1371600" cy="838200"/>
          </a:xfrm>
          <a:prstGeom prst="line">
            <a:avLst/>
          </a:prstGeom>
          <a:ln w="28575" cap="flat" cmpd="sng">
            <a:solidFill>
              <a:schemeClr val="tx1"/>
            </a:solidFill>
            <a:prstDash val="solid"/>
            <a:miter/>
            <a:headEnd type="none" w="med" len="med"/>
            <a:tailEnd type="none" w="med" len="med"/>
          </a:ln>
        </p:spPr>
      </p:sp>
      <p:sp>
        <p:nvSpPr>
          <p:cNvPr id="52239" name="直接连接符 52238"/>
          <p:cNvSpPr/>
          <p:nvPr/>
        </p:nvSpPr>
        <p:spPr>
          <a:xfrm flipV="1">
            <a:off x="4343400" y="4267200"/>
            <a:ext cx="2209800" cy="152400"/>
          </a:xfrm>
          <a:prstGeom prst="line">
            <a:avLst/>
          </a:prstGeom>
          <a:ln w="28575" cap="flat" cmpd="sng">
            <a:solidFill>
              <a:schemeClr val="tx1"/>
            </a:solidFill>
            <a:prstDash val="solid"/>
            <a:miter/>
            <a:headEnd type="none" w="med" len="med"/>
            <a:tailEnd type="none" w="med" len="med"/>
          </a:ln>
        </p:spPr>
      </p:sp>
      <p:sp>
        <p:nvSpPr>
          <p:cNvPr id="52240" name="直接连接符 52239"/>
          <p:cNvSpPr/>
          <p:nvPr/>
        </p:nvSpPr>
        <p:spPr>
          <a:xfrm>
            <a:off x="4191000" y="4648200"/>
            <a:ext cx="2209800" cy="762000"/>
          </a:xfrm>
          <a:prstGeom prst="line">
            <a:avLst/>
          </a:prstGeom>
          <a:ln w="28575" cap="flat" cmpd="sng">
            <a:solidFill>
              <a:schemeClr val="tx1"/>
            </a:solidFill>
            <a:prstDash val="solid"/>
            <a:miter/>
            <a:headEnd type="none" w="med" len="med"/>
            <a:tailEnd type="none" w="med" len="med"/>
          </a:ln>
        </p:spPr>
      </p:sp>
      <p:sp>
        <p:nvSpPr>
          <p:cNvPr id="52241" name="文本框 52240"/>
          <p:cNvSpPr txBox="1"/>
          <p:nvPr/>
        </p:nvSpPr>
        <p:spPr>
          <a:xfrm>
            <a:off x="1600200" y="3581400"/>
            <a:ext cx="685800" cy="701675"/>
          </a:xfrm>
          <a:prstGeom prst="rect">
            <a:avLst/>
          </a:prstGeom>
          <a:noFill/>
          <a:ln w="9525">
            <a:noFill/>
          </a:ln>
        </p:spPr>
        <p:txBody>
          <a:bodyPr lIns="54000" tIns="10800" rIns="54000" bIns="10800"/>
          <a:p>
            <a:pPr>
              <a:spcBef>
                <a:spcPct val="50000"/>
              </a:spcBef>
              <a:buClr>
                <a:schemeClr val="bg1"/>
              </a:buClr>
            </a:pPr>
            <a:r>
              <a:rPr lang="zh-CN" altLang="en-US" sz="2000" dirty="0">
                <a:latin typeface="Tahoma" panose="020B0604030504040204" pitchFamily="34" charset="0"/>
                <a:ea typeface="幼圆" pitchFamily="49" charset="-122"/>
              </a:rPr>
              <a:t>决策节点</a:t>
            </a:r>
            <a:endParaRPr lang="zh-CN" altLang="en-US" sz="2000">
              <a:latin typeface="Tahoma" panose="020B0604030504040204" pitchFamily="34" charset="0"/>
              <a:ea typeface="幼圆" pitchFamily="49" charset="-122"/>
            </a:endParaRPr>
          </a:p>
        </p:txBody>
      </p:sp>
      <p:sp>
        <p:nvSpPr>
          <p:cNvPr id="52242" name="文本框 52241"/>
          <p:cNvSpPr txBox="1"/>
          <p:nvPr/>
        </p:nvSpPr>
        <p:spPr>
          <a:xfrm>
            <a:off x="3581400" y="4800600"/>
            <a:ext cx="685800" cy="701675"/>
          </a:xfrm>
          <a:prstGeom prst="rect">
            <a:avLst/>
          </a:prstGeom>
          <a:noFill/>
          <a:ln w="9525">
            <a:noFill/>
          </a:ln>
        </p:spPr>
        <p:txBody>
          <a:bodyPr lIns="54000" tIns="10800" rIns="54000" bIns="10800"/>
          <a:p>
            <a:pPr>
              <a:spcBef>
                <a:spcPct val="50000"/>
              </a:spcBef>
              <a:buClr>
                <a:schemeClr val="bg1"/>
              </a:buClr>
            </a:pPr>
            <a:r>
              <a:rPr lang="zh-CN" altLang="en-US" sz="2000" dirty="0">
                <a:latin typeface="Tahoma" panose="020B0604030504040204" pitchFamily="34" charset="0"/>
                <a:ea typeface="幼圆" pitchFamily="49" charset="-122"/>
              </a:rPr>
              <a:t>方案节点</a:t>
            </a:r>
            <a:endParaRPr lang="zh-CN" altLang="en-US" sz="2000">
              <a:latin typeface="Tahoma" panose="020B0604030504040204" pitchFamily="34" charset="0"/>
              <a:ea typeface="幼圆" pitchFamily="49" charset="-122"/>
            </a:endParaRPr>
          </a:p>
        </p:txBody>
      </p:sp>
      <p:sp>
        <p:nvSpPr>
          <p:cNvPr id="52243" name="文本框 52242"/>
          <p:cNvSpPr txBox="1"/>
          <p:nvPr/>
        </p:nvSpPr>
        <p:spPr>
          <a:xfrm>
            <a:off x="6324600" y="5638800"/>
            <a:ext cx="685800" cy="701675"/>
          </a:xfrm>
          <a:prstGeom prst="rect">
            <a:avLst/>
          </a:prstGeom>
          <a:noFill/>
          <a:ln w="9525">
            <a:noFill/>
          </a:ln>
        </p:spPr>
        <p:txBody>
          <a:bodyPr lIns="54000" tIns="10800" rIns="54000" bIns="10800"/>
          <a:p>
            <a:pPr>
              <a:spcBef>
                <a:spcPct val="50000"/>
              </a:spcBef>
              <a:buClr>
                <a:schemeClr val="bg1"/>
              </a:buClr>
            </a:pPr>
            <a:r>
              <a:rPr lang="zh-CN" altLang="en-US" sz="2000" dirty="0">
                <a:latin typeface="Tahoma" panose="020B0604030504040204" pitchFamily="34" charset="0"/>
                <a:ea typeface="幼圆" pitchFamily="49" charset="-122"/>
              </a:rPr>
              <a:t>结果节点</a:t>
            </a:r>
            <a:endParaRPr lang="zh-CN" altLang="en-US" sz="2000">
              <a:latin typeface="Tahoma" panose="020B0604030504040204" pitchFamily="34" charset="0"/>
              <a:ea typeface="幼圆" pitchFamily="49" charset="-122"/>
            </a:endParaRPr>
          </a:p>
        </p:txBody>
      </p:sp>
      <p:sp>
        <p:nvSpPr>
          <p:cNvPr id="52244" name="文本框 52243"/>
          <p:cNvSpPr txBox="1"/>
          <p:nvPr/>
        </p:nvSpPr>
        <p:spPr>
          <a:xfrm>
            <a:off x="2743200" y="2895600"/>
            <a:ext cx="1295400" cy="457200"/>
          </a:xfrm>
          <a:prstGeom prst="rect">
            <a:avLst/>
          </a:prstGeom>
          <a:noFill/>
          <a:ln w="9525">
            <a:noFill/>
          </a:ln>
        </p:spPr>
        <p:txBody>
          <a:bodyPr lIns="54000" tIns="10800" rIns="54000" bIns="10800"/>
          <a:p>
            <a:pPr>
              <a:spcBef>
                <a:spcPct val="50000"/>
              </a:spcBef>
              <a:buClr>
                <a:schemeClr val="bg1"/>
              </a:buClr>
            </a:pPr>
            <a:r>
              <a:rPr lang="zh-CN" altLang="en-US" sz="2000" dirty="0">
                <a:latin typeface="Tahoma" panose="020B0604030504040204" pitchFamily="34" charset="0"/>
                <a:ea typeface="幼圆" pitchFamily="49" charset="-122"/>
              </a:rPr>
              <a:t>方案分枝</a:t>
            </a:r>
            <a:endParaRPr lang="zh-CN" altLang="en-US" sz="2000">
              <a:latin typeface="Tahoma" panose="020B0604030504040204" pitchFamily="34" charset="0"/>
              <a:ea typeface="幼圆" pitchFamily="49" charset="-122"/>
            </a:endParaRPr>
          </a:p>
        </p:txBody>
      </p:sp>
      <p:sp>
        <p:nvSpPr>
          <p:cNvPr id="52245" name="文本框 52244"/>
          <p:cNvSpPr txBox="1"/>
          <p:nvPr/>
        </p:nvSpPr>
        <p:spPr>
          <a:xfrm>
            <a:off x="4572000" y="2743200"/>
            <a:ext cx="1295400" cy="457200"/>
          </a:xfrm>
          <a:prstGeom prst="rect">
            <a:avLst/>
          </a:prstGeom>
          <a:noFill/>
          <a:ln w="9525">
            <a:noFill/>
          </a:ln>
        </p:spPr>
        <p:txBody>
          <a:bodyPr lIns="54000" tIns="10800" rIns="54000" bIns="10800"/>
          <a:p>
            <a:pPr>
              <a:spcBef>
                <a:spcPct val="50000"/>
              </a:spcBef>
              <a:buClr>
                <a:schemeClr val="bg1"/>
              </a:buClr>
            </a:pPr>
            <a:r>
              <a:rPr lang="zh-CN" altLang="en-US" sz="2000" dirty="0">
                <a:latin typeface="Tahoma" panose="020B0604030504040204" pitchFamily="34" charset="0"/>
                <a:ea typeface="幼圆" pitchFamily="49" charset="-122"/>
              </a:rPr>
              <a:t>状态分枝</a:t>
            </a:r>
            <a:endParaRPr lang="zh-CN" altLang="en-US" sz="2000">
              <a:latin typeface="Tahoma" panose="020B0604030504040204" pitchFamily="34" charset="0"/>
              <a:ea typeface="幼圆" pitchFamily="49" charset="-122"/>
            </a:endParaRPr>
          </a:p>
        </p:txBody>
      </p:sp>
      <p:sp>
        <p:nvSpPr>
          <p:cNvPr id="52246" name="文本框 52245"/>
          <p:cNvSpPr txBox="1"/>
          <p:nvPr/>
        </p:nvSpPr>
        <p:spPr>
          <a:xfrm>
            <a:off x="4876800" y="1752600"/>
            <a:ext cx="838200" cy="457200"/>
          </a:xfrm>
          <a:prstGeom prst="rect">
            <a:avLst/>
          </a:prstGeom>
          <a:noFill/>
          <a:ln w="9525">
            <a:noFill/>
          </a:ln>
        </p:spPr>
        <p:txBody>
          <a:bodyPr lIns="54000" tIns="10800" rIns="54000" bIns="10800"/>
          <a:p>
            <a:pPr>
              <a:spcBef>
                <a:spcPct val="50000"/>
              </a:spcBef>
              <a:buClr>
                <a:schemeClr val="bg1"/>
              </a:buClr>
            </a:pPr>
            <a:r>
              <a:rPr lang="zh-CN" altLang="en-US" sz="2000" dirty="0">
                <a:latin typeface="Tahoma" panose="020B0604030504040204" pitchFamily="34" charset="0"/>
                <a:ea typeface="幼圆" pitchFamily="49" charset="-122"/>
              </a:rPr>
              <a:t>概率</a:t>
            </a:r>
            <a:endParaRPr lang="zh-CN" altLang="en-US" sz="2000">
              <a:latin typeface="Tahoma" panose="020B0604030504040204" pitchFamily="34" charset="0"/>
              <a:ea typeface="幼圆" pitchFamily="49" charset="-122"/>
            </a:endParaRPr>
          </a:p>
        </p:txBody>
      </p:sp>
      <p:sp>
        <p:nvSpPr>
          <p:cNvPr id="52247" name="文本框 52246"/>
          <p:cNvSpPr txBox="1"/>
          <p:nvPr/>
        </p:nvSpPr>
        <p:spPr>
          <a:xfrm>
            <a:off x="6781800" y="1752600"/>
            <a:ext cx="1295400" cy="457200"/>
          </a:xfrm>
          <a:prstGeom prst="rect">
            <a:avLst/>
          </a:prstGeom>
          <a:noFill/>
          <a:ln w="9525">
            <a:noFill/>
          </a:ln>
        </p:spPr>
        <p:txBody>
          <a:bodyPr lIns="54000" tIns="10800" rIns="54000" bIns="10800"/>
          <a:p>
            <a:pPr>
              <a:spcBef>
                <a:spcPct val="50000"/>
              </a:spcBef>
              <a:buClr>
                <a:schemeClr val="bg1"/>
              </a:buClr>
            </a:pPr>
            <a:r>
              <a:rPr lang="zh-CN" altLang="en-US" sz="2000" dirty="0">
                <a:latin typeface="Tahoma" panose="020B0604030504040204" pitchFamily="34" charset="0"/>
                <a:ea typeface="幼圆" pitchFamily="49" charset="-122"/>
              </a:rPr>
              <a:t>损益值</a:t>
            </a:r>
            <a:endParaRPr lang="zh-CN" altLang="en-US" sz="2000">
              <a:latin typeface="Tahoma" panose="020B0604030504040204" pitchFamily="34" charset="0"/>
              <a:ea typeface="幼圆" pitchFamily="49" charset="-122"/>
            </a:endParaRPr>
          </a:p>
        </p:txBody>
      </p:sp>
      <p:sp>
        <p:nvSpPr>
          <p:cNvPr id="52248" name="文本框 52247"/>
          <p:cNvSpPr txBox="1"/>
          <p:nvPr/>
        </p:nvSpPr>
        <p:spPr>
          <a:xfrm>
            <a:off x="6934200" y="2667000"/>
            <a:ext cx="1295400" cy="457200"/>
          </a:xfrm>
          <a:prstGeom prst="rect">
            <a:avLst/>
          </a:prstGeom>
          <a:noFill/>
          <a:ln w="9525">
            <a:noFill/>
          </a:ln>
        </p:spPr>
        <p:txBody>
          <a:bodyPr lIns="54000" tIns="10800" rIns="54000" bIns="10800"/>
          <a:p>
            <a:pPr>
              <a:spcBef>
                <a:spcPct val="50000"/>
              </a:spcBef>
              <a:buClr>
                <a:schemeClr val="bg1"/>
              </a:buClr>
            </a:pPr>
            <a:r>
              <a:rPr lang="zh-CN" altLang="en-US" sz="2000" dirty="0">
                <a:latin typeface="Tahoma" panose="020B0604030504040204" pitchFamily="34" charset="0"/>
                <a:ea typeface="幼圆" pitchFamily="49" charset="-122"/>
              </a:rPr>
              <a:t>损益值</a:t>
            </a:r>
            <a:endParaRPr lang="zh-CN" altLang="en-US" sz="2000">
              <a:latin typeface="Tahoma" panose="020B0604030504040204" pitchFamily="34" charset="0"/>
              <a:ea typeface="幼圆" pitchFamily="49" charset="-122"/>
            </a:endParaRPr>
          </a:p>
        </p:txBody>
      </p:sp>
      <p:sp>
        <p:nvSpPr>
          <p:cNvPr id="52249" name="文本框 52248"/>
          <p:cNvSpPr txBox="1"/>
          <p:nvPr/>
        </p:nvSpPr>
        <p:spPr>
          <a:xfrm>
            <a:off x="7086600" y="4038600"/>
            <a:ext cx="1295400" cy="457200"/>
          </a:xfrm>
          <a:prstGeom prst="rect">
            <a:avLst/>
          </a:prstGeom>
          <a:noFill/>
          <a:ln w="9525">
            <a:noFill/>
          </a:ln>
        </p:spPr>
        <p:txBody>
          <a:bodyPr lIns="54000" tIns="10800" rIns="54000" bIns="10800"/>
          <a:p>
            <a:pPr>
              <a:spcBef>
                <a:spcPct val="50000"/>
              </a:spcBef>
              <a:buClr>
                <a:schemeClr val="bg1"/>
              </a:buClr>
            </a:pPr>
            <a:r>
              <a:rPr lang="zh-CN" altLang="en-US" sz="2000" dirty="0">
                <a:latin typeface="Tahoma" panose="020B0604030504040204" pitchFamily="34" charset="0"/>
                <a:ea typeface="幼圆" pitchFamily="49" charset="-122"/>
              </a:rPr>
              <a:t>损益值</a:t>
            </a:r>
            <a:endParaRPr lang="zh-CN" altLang="en-US" sz="2000">
              <a:latin typeface="Tahoma" panose="020B0604030504040204" pitchFamily="34" charset="0"/>
              <a:ea typeface="幼圆" pitchFamily="49" charset="-122"/>
            </a:endParaRPr>
          </a:p>
        </p:txBody>
      </p:sp>
      <p:sp>
        <p:nvSpPr>
          <p:cNvPr id="52250" name="文本框 52249"/>
          <p:cNvSpPr txBox="1"/>
          <p:nvPr/>
        </p:nvSpPr>
        <p:spPr>
          <a:xfrm>
            <a:off x="7086600" y="5029200"/>
            <a:ext cx="1295400" cy="457200"/>
          </a:xfrm>
          <a:prstGeom prst="rect">
            <a:avLst/>
          </a:prstGeom>
          <a:noFill/>
          <a:ln w="9525">
            <a:noFill/>
          </a:ln>
        </p:spPr>
        <p:txBody>
          <a:bodyPr lIns="54000" tIns="10800" rIns="54000" bIns="10800"/>
          <a:p>
            <a:pPr>
              <a:spcBef>
                <a:spcPct val="50000"/>
              </a:spcBef>
              <a:buClr>
                <a:schemeClr val="bg1"/>
              </a:buClr>
            </a:pPr>
            <a:r>
              <a:rPr lang="zh-CN" altLang="en-US" sz="2000" dirty="0">
                <a:latin typeface="Tahoma" panose="020B0604030504040204" pitchFamily="34" charset="0"/>
                <a:ea typeface="幼圆" pitchFamily="49" charset="-122"/>
              </a:rPr>
              <a:t>损益值</a:t>
            </a:r>
            <a:endParaRPr lang="zh-CN" altLang="en-US" sz="2000">
              <a:latin typeface="Tahoma" panose="020B0604030504040204" pitchFamily="34" charset="0"/>
              <a:ea typeface="幼圆" pitchFamily="49" charset="-122"/>
            </a:endParaRPr>
          </a:p>
        </p:txBody>
      </p:sp>
      <p:pic>
        <p:nvPicPr>
          <p:cNvPr id="2" name="图片 1"/>
          <p:cNvPicPr>
            <a:picLocks noChangeAspect="1"/>
          </p:cNvPicPr>
          <p:nvPr/>
        </p:nvPicPr>
        <p:blipFill>
          <a:blip r:embed="rId1"/>
          <a:stretch>
            <a:fillRect/>
          </a:stretch>
        </p:blipFill>
        <p:spPr>
          <a:xfrm>
            <a:off x="1330325" y="906780"/>
            <a:ext cx="9055735" cy="6274435"/>
          </a:xfrm>
          <a:prstGeom prst="rect">
            <a:avLst/>
          </a:prstGeom>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7605713" y="406368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9pPr>
          </a:lstStyle>
          <a:p>
            <a:pPr eaLnBrk="1" hangingPunct="1">
              <a:defRPr/>
            </a:pPr>
            <a:endParaRPr lang="zh-CN" altLang="en-US" kern="0" dirty="0"/>
          </a:p>
        </p:txBody>
      </p:sp>
      <p:sp>
        <p:nvSpPr>
          <p:cNvPr id="7"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endParaRPr lang="zh-CN" altLang="en-US" sz="2400" b="1" dirty="0">
              <a:solidFill>
                <a:srgbClr val="01395C"/>
              </a:solidFill>
              <a:latin typeface="方正粗宋简体"/>
              <a:ea typeface="方正粗宋简体"/>
              <a:cs typeface="方正粗宋简体"/>
            </a:endParaRPr>
          </a:p>
        </p:txBody>
      </p:sp>
      <p:sp>
        <p:nvSpPr>
          <p:cNvPr id="3" name="文本占位符 2"/>
          <p:cNvSpPr>
            <a:spLocks noGrp="1"/>
          </p:cNvSpPr>
          <p:nvPr>
            <p:ph type="body" idx="1"/>
          </p:nvPr>
        </p:nvSpPr>
        <p:spPr>
          <a:xfrm>
            <a:off x="1594485" y="1151255"/>
            <a:ext cx="9388475" cy="5257800"/>
          </a:xfrm>
        </p:spPr>
        <p:txBody>
          <a:bodyPr/>
          <a:p>
            <a:pPr>
              <a:lnSpc>
                <a:spcPct val="120000"/>
              </a:lnSpc>
              <a:buNone/>
            </a:pPr>
            <a:r>
              <a:rPr lang="en-US" altLang="zh-CN" sz="2400" dirty="0">
                <a:latin typeface="幼圆" pitchFamily="49" charset="-122"/>
              </a:rPr>
              <a:t>2. </a:t>
            </a:r>
            <a:r>
              <a:rPr lang="zh-CN" altLang="en-US" sz="2400" dirty="0">
                <a:latin typeface="幼圆" pitchFamily="49" charset="-122"/>
              </a:rPr>
              <a:t>决策树的画法与求解</a:t>
            </a:r>
            <a:endParaRPr lang="zh-CN" altLang="en-US" sz="2400" dirty="0">
              <a:latin typeface="幼圆" pitchFamily="49" charset="-122"/>
            </a:endParaRPr>
          </a:p>
          <a:p>
            <a:pPr>
              <a:lnSpc>
                <a:spcPct val="120000"/>
              </a:lnSpc>
              <a:buNone/>
            </a:pPr>
            <a:r>
              <a:rPr lang="zh-CN" altLang="en-US" sz="2400" b="0" dirty="0">
                <a:solidFill>
                  <a:schemeClr val="tx1"/>
                </a:solidFill>
                <a:latin typeface="幼圆" pitchFamily="49" charset="-122"/>
              </a:rPr>
              <a:t>（</a:t>
            </a:r>
            <a:r>
              <a:rPr lang="en-US" altLang="zh-CN" sz="2400" b="0" dirty="0">
                <a:solidFill>
                  <a:schemeClr val="tx1"/>
                </a:solidFill>
                <a:latin typeface="幼圆" pitchFamily="49" charset="-122"/>
              </a:rPr>
              <a:t>1</a:t>
            </a:r>
            <a:r>
              <a:rPr lang="zh-CN" altLang="en-US" sz="2400" b="0" dirty="0">
                <a:solidFill>
                  <a:schemeClr val="tx1"/>
                </a:solidFill>
                <a:latin typeface="幼圆" pitchFamily="49" charset="-122"/>
              </a:rPr>
              <a:t>）</a:t>
            </a:r>
            <a:r>
              <a:rPr lang="zh-CN" altLang="en-US" sz="2400" dirty="0">
                <a:solidFill>
                  <a:schemeClr val="accent2"/>
                </a:solidFill>
                <a:latin typeface="幼圆" pitchFamily="49" charset="-122"/>
              </a:rPr>
              <a:t>从左到右</a:t>
            </a:r>
            <a:r>
              <a:rPr lang="zh-CN" altLang="en-US" sz="2400" b="0" dirty="0">
                <a:solidFill>
                  <a:schemeClr val="tx1"/>
                </a:solidFill>
                <a:latin typeface="幼圆" pitchFamily="49" charset="-122"/>
              </a:rPr>
              <a:t>，从决策节点开始，依次列出各方案；</a:t>
            </a:r>
            <a:endParaRPr lang="zh-CN" altLang="en-US" sz="2400" b="0" dirty="0">
              <a:solidFill>
                <a:schemeClr val="tx1"/>
              </a:solidFill>
              <a:latin typeface="幼圆" pitchFamily="49" charset="-122"/>
            </a:endParaRPr>
          </a:p>
          <a:p>
            <a:pPr>
              <a:lnSpc>
                <a:spcPct val="120000"/>
              </a:lnSpc>
              <a:buNone/>
            </a:pPr>
            <a:r>
              <a:rPr lang="zh-CN" altLang="en-US" sz="2400" b="0" dirty="0">
                <a:solidFill>
                  <a:schemeClr val="tx1"/>
                </a:solidFill>
                <a:latin typeface="幼圆" pitchFamily="49" charset="-122"/>
              </a:rPr>
              <a:t>（</a:t>
            </a:r>
            <a:r>
              <a:rPr lang="en-US" altLang="zh-CN" sz="2400" b="0" dirty="0">
                <a:solidFill>
                  <a:schemeClr val="tx1"/>
                </a:solidFill>
                <a:latin typeface="幼圆" pitchFamily="49" charset="-122"/>
              </a:rPr>
              <a:t>2</a:t>
            </a:r>
            <a:r>
              <a:rPr lang="zh-CN" altLang="en-US" sz="2400" b="0" dirty="0">
                <a:solidFill>
                  <a:schemeClr val="tx1"/>
                </a:solidFill>
                <a:latin typeface="幼圆" pitchFamily="49" charset="-122"/>
              </a:rPr>
              <a:t>）列出方案节点下可能的自然状态（概率、费用、结果节点）</a:t>
            </a:r>
            <a:endParaRPr lang="zh-CN" altLang="en-US" sz="2400" b="0" dirty="0">
              <a:solidFill>
                <a:schemeClr val="tx1"/>
              </a:solidFill>
              <a:latin typeface="幼圆" pitchFamily="49" charset="-122"/>
            </a:endParaRPr>
          </a:p>
          <a:p>
            <a:pPr>
              <a:lnSpc>
                <a:spcPct val="120000"/>
              </a:lnSpc>
              <a:buNone/>
            </a:pPr>
            <a:r>
              <a:rPr lang="zh-CN" altLang="en-US" sz="2400" b="0" dirty="0">
                <a:solidFill>
                  <a:schemeClr val="tx1"/>
                </a:solidFill>
                <a:latin typeface="幼圆" pitchFamily="49" charset="-122"/>
              </a:rPr>
              <a:t>（</a:t>
            </a:r>
            <a:r>
              <a:rPr lang="en-US" altLang="zh-CN" sz="2400" b="0" dirty="0">
                <a:solidFill>
                  <a:schemeClr val="tx1"/>
                </a:solidFill>
                <a:latin typeface="幼圆" pitchFamily="49" charset="-122"/>
              </a:rPr>
              <a:t>3</a:t>
            </a:r>
            <a:r>
              <a:rPr lang="zh-CN" altLang="en-US" sz="2400" b="0" dirty="0">
                <a:solidFill>
                  <a:schemeClr val="tx1"/>
                </a:solidFill>
                <a:latin typeface="幼圆" pitchFamily="49" charset="-122"/>
              </a:rPr>
              <a:t>）</a:t>
            </a:r>
            <a:r>
              <a:rPr lang="zh-CN" altLang="en-US" sz="2400" dirty="0">
                <a:solidFill>
                  <a:schemeClr val="accent2"/>
                </a:solidFill>
                <a:latin typeface="幼圆" pitchFamily="49" charset="-122"/>
              </a:rPr>
              <a:t>从右到左</a:t>
            </a:r>
            <a:r>
              <a:rPr lang="zh-CN" altLang="en-US" sz="2400" b="0" dirty="0">
                <a:solidFill>
                  <a:schemeClr val="tx1"/>
                </a:solidFill>
                <a:latin typeface="幼圆" pitchFamily="49" charset="-122"/>
              </a:rPr>
              <a:t>求解决策树。</a:t>
            </a:r>
            <a:endParaRPr lang="zh-CN" altLang="en-US" sz="2400" b="0">
              <a:solidFill>
                <a:schemeClr val="tx1"/>
              </a:solidFill>
              <a:latin typeface="幼圆" pitchFamily="49" charset="-122"/>
            </a:endParaRPr>
          </a:p>
          <a:p>
            <a:pPr lvl="1">
              <a:lnSpc>
                <a:spcPct val="120000"/>
              </a:lnSpc>
            </a:pPr>
            <a:r>
              <a:rPr lang="zh-CN" altLang="en-US" sz="2000" b="0" dirty="0">
                <a:latin typeface="幼圆" pitchFamily="49" charset="-122"/>
              </a:rPr>
              <a:t>用概率枝上的概率乘以结果节点上的损益值，然后将每一方案求和（方案的期望值）</a:t>
            </a:r>
            <a:endParaRPr lang="zh-CN" altLang="en-US" sz="2000" b="0" dirty="0">
              <a:latin typeface="幼圆" pitchFamily="49" charset="-122"/>
            </a:endParaRPr>
          </a:p>
          <a:p>
            <a:pPr lvl="1">
              <a:lnSpc>
                <a:spcPct val="120000"/>
              </a:lnSpc>
            </a:pPr>
            <a:r>
              <a:rPr lang="zh-CN" altLang="en-US" sz="2000" b="0" dirty="0">
                <a:latin typeface="幼圆" pitchFamily="49" charset="-122"/>
              </a:rPr>
              <a:t>将方案的期望值填入方案节点旁边，决策树便可以向左推一级。</a:t>
            </a:r>
            <a:endParaRPr lang="zh-CN" altLang="en-US" sz="2000" b="0" dirty="0">
              <a:latin typeface="幼圆" pitchFamily="49" charset="-122"/>
            </a:endParaRPr>
          </a:p>
          <a:p>
            <a:pPr lvl="1">
              <a:lnSpc>
                <a:spcPct val="120000"/>
              </a:lnSpc>
            </a:pPr>
            <a:r>
              <a:rPr lang="zh-CN" altLang="en-US" sz="2000" b="0" dirty="0">
                <a:latin typeface="幼圆" pitchFamily="49" charset="-122"/>
              </a:rPr>
              <a:t>凡遇到决策节点，保留具有最大期望值的树枝，去除相对小的树枝，依次类推，利用这种反推决策树的方法，从右到左，求出最优方案。</a:t>
            </a:r>
            <a:r>
              <a:rPr lang="en-US" altLang="zh-CN" sz="2000" b="0" dirty="0">
                <a:latin typeface="幼圆" pitchFamily="49" charset="-122"/>
              </a:rPr>
              <a:t>--</a:t>
            </a:r>
            <a:r>
              <a:rPr lang="zh-CN" altLang="en-US" sz="2000" b="0" dirty="0">
                <a:latin typeface="幼圆" pitchFamily="49" charset="-122"/>
              </a:rPr>
              <a:t>序列决策的有力工具</a:t>
            </a:r>
            <a:endParaRPr lang="zh-CN" altLang="en-US" sz="2000" b="0">
              <a:latin typeface="幼圆" pitchFamily="49"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7605713" y="406368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9pPr>
          </a:lstStyle>
          <a:p>
            <a:pPr eaLnBrk="1" hangingPunct="1">
              <a:defRPr/>
            </a:pPr>
            <a:endParaRPr lang="zh-CN" altLang="en-US" kern="0" dirty="0"/>
          </a:p>
        </p:txBody>
      </p:sp>
      <p:sp>
        <p:nvSpPr>
          <p:cNvPr id="7"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835025" y="1423035"/>
            <a:ext cx="7057390" cy="2501900"/>
          </a:xfrm>
          <a:prstGeom prst="rect">
            <a:avLst/>
          </a:prstGeom>
          <a:noFill/>
        </p:spPr>
        <p:txBody>
          <a:bodyPr wrap="square" rtlCol="0" anchor="t">
            <a:spAutoFit/>
          </a:bodyPr>
          <a:p>
            <a:pPr>
              <a:lnSpc>
                <a:spcPct val="140000"/>
              </a:lnSpc>
              <a:buNone/>
            </a:pPr>
            <a:r>
              <a:rPr lang="en-US" altLang="zh-CN" sz="2800" dirty="0">
                <a:sym typeface="+mn-ea"/>
              </a:rPr>
              <a:t>3. </a:t>
            </a:r>
            <a:r>
              <a:rPr lang="zh-CN" altLang="en-US" sz="2800" dirty="0">
                <a:sym typeface="+mn-ea"/>
              </a:rPr>
              <a:t>决策树法的决策步骤</a:t>
            </a:r>
            <a:endParaRPr lang="zh-CN" altLang="en-US" sz="2800" dirty="0"/>
          </a:p>
          <a:p>
            <a:pPr lvl="1">
              <a:lnSpc>
                <a:spcPct val="140000"/>
              </a:lnSpc>
              <a:buNone/>
            </a:pPr>
            <a:r>
              <a:rPr lang="zh-CN" altLang="en-US" sz="2800" dirty="0">
                <a:sym typeface="+mn-ea"/>
              </a:rPr>
              <a:t>（</a:t>
            </a:r>
            <a:r>
              <a:rPr lang="en-US" altLang="zh-CN" sz="2800" dirty="0">
                <a:sym typeface="+mn-ea"/>
              </a:rPr>
              <a:t>1</a:t>
            </a:r>
            <a:r>
              <a:rPr lang="zh-CN" altLang="en-US" sz="2800" dirty="0">
                <a:sym typeface="+mn-ea"/>
              </a:rPr>
              <a:t>）画决策树</a:t>
            </a:r>
            <a:endParaRPr lang="zh-CN" altLang="en-US" sz="2800" b="0" dirty="0"/>
          </a:p>
          <a:p>
            <a:pPr lvl="1">
              <a:lnSpc>
                <a:spcPct val="140000"/>
              </a:lnSpc>
              <a:buNone/>
            </a:pPr>
            <a:r>
              <a:rPr lang="zh-CN" altLang="en-US" sz="2800" dirty="0">
                <a:sym typeface="+mn-ea"/>
              </a:rPr>
              <a:t>（</a:t>
            </a:r>
            <a:r>
              <a:rPr lang="en-US" altLang="zh-CN" sz="2800" dirty="0">
                <a:sym typeface="+mn-ea"/>
              </a:rPr>
              <a:t>2</a:t>
            </a:r>
            <a:r>
              <a:rPr lang="zh-CN" altLang="en-US" sz="2800" dirty="0">
                <a:sym typeface="+mn-ea"/>
              </a:rPr>
              <a:t>）计算各方案的期望值</a:t>
            </a:r>
            <a:endParaRPr lang="zh-CN" altLang="en-US" sz="2800" b="0" dirty="0"/>
          </a:p>
          <a:p>
            <a:pPr lvl="1">
              <a:lnSpc>
                <a:spcPct val="140000"/>
              </a:lnSpc>
              <a:buNone/>
            </a:pPr>
            <a:r>
              <a:rPr lang="zh-CN" altLang="en-US" sz="2800" dirty="0">
                <a:sym typeface="+mn-ea"/>
              </a:rPr>
              <a:t>（</a:t>
            </a:r>
            <a:r>
              <a:rPr lang="en-US" altLang="zh-CN" sz="2800" dirty="0">
                <a:sym typeface="+mn-ea"/>
              </a:rPr>
              <a:t>3</a:t>
            </a:r>
            <a:r>
              <a:rPr lang="zh-CN" altLang="en-US" sz="2800" dirty="0">
                <a:sym typeface="+mn-ea"/>
              </a:rPr>
              <a:t>）选择方案</a:t>
            </a:r>
            <a:endParaRPr lang="zh-CN" altLang="en-US" sz="280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endParaRPr lang="zh-CN" altLang="en-US" sz="2400" b="1" dirty="0">
              <a:solidFill>
                <a:srgbClr val="01395C"/>
              </a:solidFill>
              <a:latin typeface="方正粗宋简体"/>
              <a:ea typeface="方正粗宋简体"/>
              <a:cs typeface="方正粗宋简体"/>
            </a:endParaRPr>
          </a:p>
        </p:txBody>
      </p:sp>
      <p:sp>
        <p:nvSpPr>
          <p:cNvPr id="17410" name="标题 17409"/>
          <p:cNvSpPr>
            <a:spLocks noGrp="1"/>
          </p:cNvSpPr>
          <p:nvPr>
            <p:ph type="title"/>
          </p:nvPr>
        </p:nvSpPr>
        <p:spPr>
          <a:xfrm>
            <a:off x="640080" y="988695"/>
            <a:ext cx="10911840" cy="936625"/>
          </a:xfrm>
        </p:spPr>
        <p:txBody>
          <a:bodyPr anchor="b"/>
          <a:p>
            <a:pPr algn="l"/>
            <a:r>
              <a:rPr lang="zh-CN" altLang="en-US" sz="2400" b="0" dirty="0">
                <a:solidFill>
                  <a:schemeClr val="hlink"/>
                </a:solidFill>
                <a:latin typeface="微软雅黑" charset="0"/>
                <a:ea typeface="微软雅黑" charset="0"/>
                <a:cs typeface="微软雅黑" charset="0"/>
              </a:rPr>
              <a:t>某仪器厂生产的仪器中需要装配一种电子元器件，由一家协作厂供应，每批次供应</a:t>
            </a:r>
            <a:r>
              <a:rPr lang="en-US" altLang="zh-CN" sz="2400" b="0" dirty="0">
                <a:solidFill>
                  <a:schemeClr val="hlink"/>
                </a:solidFill>
                <a:latin typeface="微软雅黑" charset="0"/>
                <a:ea typeface="微软雅黑" charset="0"/>
                <a:cs typeface="微软雅黑" charset="0"/>
              </a:rPr>
              <a:t>800</a:t>
            </a:r>
            <a:r>
              <a:rPr lang="zh-CN" altLang="en-US" sz="2400" b="0" dirty="0">
                <a:solidFill>
                  <a:schemeClr val="hlink"/>
                </a:solidFill>
                <a:latin typeface="微软雅黑" charset="0"/>
                <a:ea typeface="微软雅黑" charset="0"/>
                <a:cs typeface="微软雅黑" charset="0"/>
              </a:rPr>
              <a:t>件。在长期生产中已统计出每批元件装配在仪器上再行老化出现不同次品率的概率如下表</a:t>
            </a:r>
            <a:r>
              <a:rPr lang="en-US" altLang="zh-CN" sz="2400" b="0" dirty="0">
                <a:solidFill>
                  <a:schemeClr val="hlink"/>
                </a:solidFill>
                <a:latin typeface="微软雅黑" charset="0"/>
                <a:ea typeface="微软雅黑" charset="0"/>
                <a:cs typeface="微软雅黑" charset="0"/>
              </a:rPr>
              <a:t>4</a:t>
            </a:r>
            <a:r>
              <a:rPr lang="zh-CN" altLang="en-US" sz="2400" b="0" dirty="0">
                <a:solidFill>
                  <a:schemeClr val="hlink"/>
                </a:solidFill>
                <a:latin typeface="微软雅黑" charset="0"/>
                <a:ea typeface="微软雅黑" charset="0"/>
                <a:cs typeface="微软雅黑" charset="0"/>
              </a:rPr>
              <a:t>所示：</a:t>
            </a:r>
            <a:endParaRPr lang="zh-CN" altLang="en-US" sz="2400" b="0" dirty="0">
              <a:solidFill>
                <a:schemeClr val="hlink"/>
              </a:solidFill>
              <a:latin typeface="微软雅黑" charset="0"/>
              <a:ea typeface="微软雅黑" charset="0"/>
              <a:cs typeface="微软雅黑" charset="0"/>
            </a:endParaRPr>
          </a:p>
        </p:txBody>
      </p:sp>
      <p:graphicFrame>
        <p:nvGraphicFramePr>
          <p:cNvPr id="17498" name="内容占位符 17497"/>
          <p:cNvGraphicFramePr/>
          <p:nvPr>
            <p:ph sz="half" idx="1"/>
          </p:nvPr>
        </p:nvGraphicFramePr>
        <p:xfrm>
          <a:off x="993775" y="2510790"/>
          <a:ext cx="7597775" cy="1143000"/>
        </p:xfrm>
        <a:graphic>
          <a:graphicData uri="http://schemas.openxmlformats.org/drawingml/2006/table">
            <a:tbl>
              <a:tblPr/>
              <a:tblGrid>
                <a:gridCol w="3313113"/>
                <a:gridCol w="908050"/>
                <a:gridCol w="909637"/>
                <a:gridCol w="779463"/>
                <a:gridCol w="844550"/>
                <a:gridCol w="842962"/>
              </a:tblGrid>
              <a:tr h="636588">
                <a:tc>
                  <a:txBody>
                    <a:bodyPr/>
                    <a:p>
                      <a:pPr marL="0" lvl="0" indent="0" algn="ctr">
                        <a:buNone/>
                      </a:pPr>
                      <a:r>
                        <a:rPr lang="zh-CN" altLang="en-US" sz="1800" dirty="0">
                          <a:solidFill>
                            <a:schemeClr val="tx1"/>
                          </a:solidFill>
                          <a:latin typeface="幼圆" pitchFamily="49" charset="-122"/>
                        </a:rPr>
                        <a:t>每批元件出现次品率的百分比</a:t>
                      </a:r>
                      <a:endParaRPr lang="zh-CN" altLang="en-US" sz="1800" dirty="0">
                        <a:solidFill>
                          <a:schemeClr val="tx1"/>
                        </a:solidFill>
                        <a:latin typeface="幼圆" pitchFamily="49" charset="-122"/>
                      </a:endParaRPr>
                    </a:p>
                  </a:txBody>
                  <a:tcPr>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2%</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5 %</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10 %</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15 %</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20 %</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solidFill>
                      <a:srgbClr val="FFCC99"/>
                    </a:solidFill>
                  </a:tcPr>
                </a:tc>
              </a:tr>
              <a:tr h="506412">
                <a:tc>
                  <a:txBody>
                    <a:bodyPr/>
                    <a:p>
                      <a:pPr marL="0" lvl="0" indent="0" algn="ctr">
                        <a:buNone/>
                      </a:pPr>
                      <a:r>
                        <a:rPr lang="zh-CN" altLang="en-US" sz="1800" dirty="0">
                          <a:solidFill>
                            <a:schemeClr val="tx1"/>
                          </a:solidFill>
                          <a:latin typeface="幼圆" pitchFamily="49" charset="-122"/>
                        </a:rPr>
                        <a:t>概率（</a:t>
                      </a:r>
                      <a:r>
                        <a:rPr lang="en-US" altLang="zh-CN" sz="1800">
                          <a:solidFill>
                            <a:schemeClr val="tx1"/>
                          </a:solidFill>
                          <a:latin typeface="幼圆" pitchFamily="49" charset="-122"/>
                        </a:rPr>
                        <a:t>P</a:t>
                      </a:r>
                      <a:r>
                        <a:rPr lang="zh-CN" altLang="en-US" sz="1800">
                          <a:solidFill>
                            <a:schemeClr val="tx1"/>
                          </a:solidFill>
                          <a:latin typeface="幼圆" pitchFamily="49" charset="-122"/>
                        </a:rPr>
                        <a:t>）</a:t>
                      </a:r>
                      <a:endParaRPr lang="zh-CN" altLang="en-US" sz="1800">
                        <a:solidFill>
                          <a:schemeClr val="tx1"/>
                        </a:solidFill>
                        <a:latin typeface="幼圆" pitchFamily="49" charset="-122"/>
                      </a:endParaRPr>
                    </a:p>
                  </a:txBody>
                  <a:tcPr>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0.4</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0.3</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0.15</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0.1</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0.05</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solidFill>
                      <a:srgbClr val="FFCC99"/>
                    </a:solidFill>
                  </a:tcPr>
                </a:tc>
              </a:tr>
            </a:tbl>
          </a:graphicData>
        </a:graphic>
      </p:graphicFrame>
      <p:sp>
        <p:nvSpPr>
          <p:cNvPr id="17453" name="文本框 17452"/>
          <p:cNvSpPr txBox="1"/>
          <p:nvPr/>
        </p:nvSpPr>
        <p:spPr>
          <a:xfrm>
            <a:off x="3211830" y="2018665"/>
            <a:ext cx="3797935" cy="398780"/>
          </a:xfrm>
          <a:prstGeom prst="rect">
            <a:avLst/>
          </a:prstGeom>
          <a:noFill/>
          <a:ln w="12700">
            <a:noFill/>
          </a:ln>
        </p:spPr>
        <p:txBody>
          <a:bodyPr wrap="square">
            <a:spAutoFit/>
          </a:bodyPr>
          <a:p>
            <a:pPr>
              <a:spcBef>
                <a:spcPct val="50000"/>
              </a:spcBef>
            </a:pPr>
            <a:r>
              <a:rPr lang="zh-CN" altLang="en-US" sz="2000" b="1" dirty="0">
                <a:solidFill>
                  <a:schemeClr val="hlink"/>
                </a:solidFill>
                <a:latin typeface="幼圆" pitchFamily="49" charset="-122"/>
                <a:ea typeface="幼圆" pitchFamily="49" charset="-122"/>
              </a:rPr>
              <a:t>表</a:t>
            </a:r>
            <a:r>
              <a:rPr lang="en-US" altLang="zh-CN" sz="2000" b="1" dirty="0">
                <a:solidFill>
                  <a:schemeClr val="hlink"/>
                </a:solidFill>
                <a:latin typeface="幼圆" pitchFamily="49" charset="-122"/>
                <a:ea typeface="幼圆" pitchFamily="49" charset="-122"/>
              </a:rPr>
              <a:t>1  </a:t>
            </a:r>
            <a:r>
              <a:rPr lang="zh-CN" altLang="en-US" sz="2000" b="1" dirty="0">
                <a:solidFill>
                  <a:schemeClr val="hlink"/>
                </a:solidFill>
                <a:latin typeface="幼圆" pitchFamily="49" charset="-122"/>
                <a:ea typeface="幼圆" pitchFamily="49" charset="-122"/>
              </a:rPr>
              <a:t>不同次品率出现的概率</a:t>
            </a:r>
            <a:endParaRPr lang="zh-CN" altLang="en-US" sz="2000" b="1" dirty="0">
              <a:solidFill>
                <a:schemeClr val="hlink"/>
              </a:solidFill>
              <a:latin typeface="幼圆" pitchFamily="49" charset="-122"/>
              <a:ea typeface="幼圆" pitchFamily="49" charset="-122"/>
            </a:endParaRPr>
          </a:p>
        </p:txBody>
      </p:sp>
      <p:sp>
        <p:nvSpPr>
          <p:cNvPr id="17454" name="矩形 17453"/>
          <p:cNvSpPr/>
          <p:nvPr/>
        </p:nvSpPr>
        <p:spPr>
          <a:xfrm>
            <a:off x="612775" y="3882390"/>
            <a:ext cx="11341735" cy="1657350"/>
          </a:xfrm>
          <a:prstGeom prst="rect">
            <a:avLst/>
          </a:prstGeom>
          <a:noFill/>
          <a:ln w="9525">
            <a:noFill/>
          </a:ln>
        </p:spPr>
        <p:txBody>
          <a:bodyPr anchor="ctr"/>
          <a:p>
            <a:r>
              <a:rPr lang="zh-CN" altLang="en-US" sz="2400" dirty="0">
                <a:solidFill>
                  <a:schemeClr val="hlink"/>
                </a:solidFill>
                <a:latin typeface="微软雅黑" charset="0"/>
                <a:ea typeface="微软雅黑" charset="0"/>
                <a:cs typeface="微软雅黑" charset="0"/>
              </a:rPr>
              <a:t>按原工艺生产，发现次品后，每更换一件的费用为</a:t>
            </a:r>
            <a:r>
              <a:rPr lang="en-US" altLang="zh-CN" sz="2400" dirty="0">
                <a:solidFill>
                  <a:schemeClr val="hlink"/>
                </a:solidFill>
                <a:latin typeface="微软雅黑" charset="0"/>
                <a:ea typeface="微软雅黑" charset="0"/>
                <a:cs typeface="微软雅黑" charset="0"/>
              </a:rPr>
              <a:t>1.5</a:t>
            </a:r>
            <a:r>
              <a:rPr lang="zh-CN" altLang="en-US" sz="2400" dirty="0">
                <a:solidFill>
                  <a:schemeClr val="hlink"/>
                </a:solidFill>
                <a:latin typeface="微软雅黑" charset="0"/>
                <a:ea typeface="微软雅黑" charset="0"/>
                <a:cs typeface="微软雅黑" charset="0"/>
              </a:rPr>
              <a:t>元。现拟改进生产工艺，即每批元件进厂后，先进行老化处理，并加以筛选，然后再装配。这样出现的次品率如表</a:t>
            </a:r>
            <a:r>
              <a:rPr lang="en-US" altLang="zh-CN" sz="2400" dirty="0">
                <a:solidFill>
                  <a:schemeClr val="hlink"/>
                </a:solidFill>
                <a:latin typeface="微软雅黑" charset="0"/>
                <a:ea typeface="微软雅黑" charset="0"/>
                <a:cs typeface="微软雅黑" charset="0"/>
              </a:rPr>
              <a:t>5</a:t>
            </a:r>
            <a:r>
              <a:rPr lang="zh-CN" altLang="en-US" sz="2400" dirty="0">
                <a:solidFill>
                  <a:schemeClr val="hlink"/>
                </a:solidFill>
                <a:latin typeface="微软雅黑" charset="0"/>
                <a:ea typeface="微软雅黑" charset="0"/>
                <a:cs typeface="微软雅黑" charset="0"/>
              </a:rPr>
              <a:t>所示，更换一件次品同样要支付</a:t>
            </a:r>
            <a:r>
              <a:rPr lang="en-US" altLang="zh-CN" sz="2400" dirty="0">
                <a:solidFill>
                  <a:schemeClr val="hlink"/>
                </a:solidFill>
                <a:latin typeface="微软雅黑" charset="0"/>
                <a:ea typeface="微软雅黑" charset="0"/>
                <a:cs typeface="微软雅黑" charset="0"/>
              </a:rPr>
              <a:t>1.5</a:t>
            </a:r>
            <a:r>
              <a:rPr lang="zh-CN" altLang="en-US" sz="2400" dirty="0">
                <a:solidFill>
                  <a:schemeClr val="hlink"/>
                </a:solidFill>
                <a:latin typeface="微软雅黑" charset="0"/>
                <a:ea typeface="微软雅黑" charset="0"/>
                <a:cs typeface="微软雅黑" charset="0"/>
              </a:rPr>
              <a:t>元，此外这种新工艺要为每批元件多支付</a:t>
            </a:r>
            <a:r>
              <a:rPr lang="en-US" altLang="zh-CN" sz="2400" dirty="0">
                <a:solidFill>
                  <a:schemeClr val="hlink"/>
                </a:solidFill>
                <a:latin typeface="微软雅黑" charset="0"/>
                <a:ea typeface="微软雅黑" charset="0"/>
                <a:cs typeface="微软雅黑" charset="0"/>
              </a:rPr>
              <a:t>40</a:t>
            </a:r>
            <a:r>
              <a:rPr lang="zh-CN" altLang="en-US" sz="2400" dirty="0">
                <a:solidFill>
                  <a:schemeClr val="hlink"/>
                </a:solidFill>
                <a:latin typeface="微软雅黑" charset="0"/>
                <a:ea typeface="微软雅黑" charset="0"/>
                <a:cs typeface="微软雅黑" charset="0"/>
              </a:rPr>
              <a:t>元的处理费用。决策问题：是否应该采用新工艺？</a:t>
            </a:r>
            <a:endParaRPr lang="zh-CN" altLang="en-US" sz="2400" dirty="0">
              <a:solidFill>
                <a:schemeClr val="hlink"/>
              </a:solidFill>
              <a:latin typeface="微软雅黑" charset="0"/>
              <a:ea typeface="微软雅黑" charset="0"/>
              <a:cs typeface="微软雅黑" charset="0"/>
            </a:endParaRPr>
          </a:p>
        </p:txBody>
      </p:sp>
      <p:sp>
        <p:nvSpPr>
          <p:cNvPr id="17456" name="文本框 17455"/>
          <p:cNvSpPr txBox="1"/>
          <p:nvPr/>
        </p:nvSpPr>
        <p:spPr>
          <a:xfrm>
            <a:off x="2517775" y="5634990"/>
            <a:ext cx="4953000" cy="398780"/>
          </a:xfrm>
          <a:prstGeom prst="rect">
            <a:avLst/>
          </a:prstGeom>
          <a:noFill/>
          <a:ln w="12700">
            <a:noFill/>
          </a:ln>
        </p:spPr>
        <p:txBody>
          <a:bodyPr>
            <a:spAutoFit/>
          </a:bodyPr>
          <a:p>
            <a:pPr>
              <a:spcBef>
                <a:spcPct val="50000"/>
              </a:spcBef>
            </a:pPr>
            <a:r>
              <a:rPr lang="zh-CN" altLang="en-US" sz="2000" b="1" dirty="0">
                <a:solidFill>
                  <a:schemeClr val="hlink"/>
                </a:solidFill>
                <a:latin typeface="幼圆" pitchFamily="49" charset="-122"/>
                <a:ea typeface="幼圆" pitchFamily="49" charset="-122"/>
              </a:rPr>
              <a:t>表</a:t>
            </a:r>
            <a:r>
              <a:rPr lang="en-US" altLang="zh-CN" sz="2000" b="1" dirty="0">
                <a:solidFill>
                  <a:schemeClr val="hlink"/>
                </a:solidFill>
                <a:latin typeface="幼圆" pitchFamily="49" charset="-122"/>
                <a:ea typeface="幼圆" pitchFamily="49" charset="-122"/>
              </a:rPr>
              <a:t>2  </a:t>
            </a:r>
            <a:r>
              <a:rPr lang="zh-CN" altLang="en-US" sz="2000" b="1" dirty="0">
                <a:solidFill>
                  <a:schemeClr val="hlink"/>
                </a:solidFill>
                <a:latin typeface="幼圆" pitchFamily="49" charset="-122"/>
                <a:ea typeface="幼圆" pitchFamily="49" charset="-122"/>
              </a:rPr>
              <a:t>新工艺中不同次品率出现的概率</a:t>
            </a:r>
            <a:endParaRPr lang="zh-CN" altLang="en-US" sz="2000" b="1" dirty="0">
              <a:solidFill>
                <a:schemeClr val="hlink"/>
              </a:solidFill>
              <a:latin typeface="幼圆" pitchFamily="49" charset="-122"/>
              <a:ea typeface="幼圆" pitchFamily="49" charset="-122"/>
            </a:endParaRPr>
          </a:p>
        </p:txBody>
      </p:sp>
      <p:graphicFrame>
        <p:nvGraphicFramePr>
          <p:cNvPr id="17497" name="表格 17496"/>
          <p:cNvGraphicFramePr/>
          <p:nvPr>
            <p:custDataLst>
              <p:tags r:id="rId1"/>
            </p:custDataLst>
          </p:nvPr>
        </p:nvGraphicFramePr>
        <p:xfrm>
          <a:off x="1374775" y="6092190"/>
          <a:ext cx="6945313" cy="998538"/>
        </p:xfrm>
        <a:graphic>
          <a:graphicData uri="http://schemas.openxmlformats.org/drawingml/2006/table">
            <a:tbl>
              <a:tblPr/>
              <a:tblGrid>
                <a:gridCol w="3810000"/>
                <a:gridCol w="1020763"/>
                <a:gridCol w="1019175"/>
                <a:gridCol w="1095375"/>
              </a:tblGrid>
              <a:tr h="514350">
                <a:tc>
                  <a:txBody>
                    <a:bodyPr/>
                    <a:p>
                      <a:pPr marL="0" lvl="0" indent="0" algn="ctr">
                        <a:buNone/>
                      </a:pPr>
                      <a:r>
                        <a:rPr lang="zh-CN" altLang="en-US" sz="1800" dirty="0">
                          <a:solidFill>
                            <a:schemeClr val="tx1"/>
                          </a:solidFill>
                          <a:latin typeface="幼圆" pitchFamily="49" charset="-122"/>
                        </a:rPr>
                        <a:t>每批元件出现次品率的百分比</a:t>
                      </a:r>
                      <a:endParaRPr lang="zh-CN" altLang="en-US" sz="1800" dirty="0">
                        <a:solidFill>
                          <a:schemeClr val="tx1"/>
                        </a:solidFill>
                        <a:latin typeface="幼圆" pitchFamily="49" charset="-122"/>
                      </a:endParaRPr>
                    </a:p>
                  </a:txBody>
                  <a:tcPr>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2%</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8 %</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12 %</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solidFill>
                      <a:srgbClr val="FFCC99"/>
                    </a:solidFill>
                  </a:tcPr>
                </a:tc>
              </a:tr>
              <a:tr h="484188">
                <a:tc>
                  <a:txBody>
                    <a:bodyPr/>
                    <a:p>
                      <a:pPr marL="0" lvl="0" indent="0" algn="ctr">
                        <a:buNone/>
                      </a:pPr>
                      <a:r>
                        <a:rPr lang="zh-CN" altLang="en-US" sz="1800" dirty="0">
                          <a:solidFill>
                            <a:schemeClr val="tx1"/>
                          </a:solidFill>
                          <a:latin typeface="幼圆" pitchFamily="49" charset="-122"/>
                        </a:rPr>
                        <a:t>概率（</a:t>
                      </a:r>
                      <a:r>
                        <a:rPr lang="en-US" altLang="zh-CN" sz="1800">
                          <a:solidFill>
                            <a:schemeClr val="tx1"/>
                          </a:solidFill>
                          <a:latin typeface="幼圆" pitchFamily="49" charset="-122"/>
                        </a:rPr>
                        <a:t>P</a:t>
                      </a:r>
                      <a:r>
                        <a:rPr lang="zh-CN" altLang="en-US" sz="1800">
                          <a:solidFill>
                            <a:schemeClr val="tx1"/>
                          </a:solidFill>
                          <a:latin typeface="幼圆" pitchFamily="49" charset="-122"/>
                        </a:rPr>
                        <a:t>）</a:t>
                      </a:r>
                      <a:endParaRPr lang="zh-CN" altLang="en-US" sz="1800">
                        <a:solidFill>
                          <a:schemeClr val="tx1"/>
                        </a:solidFill>
                        <a:latin typeface="幼圆" pitchFamily="49" charset="-122"/>
                      </a:endParaRPr>
                    </a:p>
                  </a:txBody>
                  <a:tcPr>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0.7</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0.2</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solidFill>
                      <a:srgbClr val="FFCC99"/>
                    </a:solidFill>
                  </a:tcPr>
                </a:tc>
                <a:tc>
                  <a:txBody>
                    <a:bodyPr/>
                    <a:p>
                      <a:pPr marL="0" lvl="0" indent="0" algn="ctr">
                        <a:buNone/>
                      </a:pPr>
                      <a:r>
                        <a:rPr lang="en-US" altLang="zh-CN" sz="1800">
                          <a:solidFill>
                            <a:schemeClr val="tx1"/>
                          </a:solidFill>
                          <a:latin typeface="幼圆" pitchFamily="49" charset="-122"/>
                        </a:rPr>
                        <a:t>0.1</a:t>
                      </a:r>
                      <a:endParaRPr lang="zh-CN" altLang="en-US" sz="1800">
                        <a:solidFill>
                          <a:schemeClr val="tx1"/>
                        </a:solidFill>
                        <a:latin typeface="幼圆" pitchFamily="49" charset="-122"/>
                      </a:endParaRPr>
                    </a:p>
                  </a:txBody>
                  <a:tcPr>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solidFill>
                      <a:srgbClr val="FFCC99"/>
                    </a:solidFill>
                  </a:tcPr>
                </a:tc>
              </a:tr>
            </a:tbl>
          </a:graphicData>
        </a:graphic>
      </p:graphicFrame>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endParaRPr lang="zh-CN" altLang="en-US" sz="2400" b="1" dirty="0">
              <a:solidFill>
                <a:srgbClr val="01395C"/>
              </a:solidFill>
              <a:latin typeface="方正粗宋简体"/>
              <a:ea typeface="方正粗宋简体"/>
              <a:cs typeface="方正粗宋简体"/>
            </a:endParaRPr>
          </a:p>
        </p:txBody>
      </p:sp>
      <p:sp>
        <p:nvSpPr>
          <p:cNvPr id="36" name="文本框 35"/>
          <p:cNvSpPr txBox="1"/>
          <p:nvPr/>
        </p:nvSpPr>
        <p:spPr>
          <a:xfrm>
            <a:off x="147320" y="709295"/>
            <a:ext cx="8324215" cy="3046095"/>
          </a:xfrm>
          <a:prstGeom prst="rect">
            <a:avLst/>
          </a:prstGeom>
          <a:solidFill>
            <a:schemeClr val="bg1"/>
          </a:solidFill>
          <a:ln w="12700">
            <a:noFill/>
          </a:ln>
        </p:spPr>
        <p:txBody>
          <a:bodyPr wrap="square">
            <a:spAutoFit/>
          </a:bodyPr>
          <a:p>
            <a:pPr>
              <a:lnSpc>
                <a:spcPct val="90000"/>
              </a:lnSpc>
              <a:spcBef>
                <a:spcPct val="50000"/>
              </a:spcBef>
            </a:pPr>
            <a:r>
              <a:rPr lang="zh-CN" altLang="en-US" sz="2000" dirty="0">
                <a:latin typeface="微软雅黑" charset="0"/>
                <a:ea typeface="微软雅黑" charset="0"/>
                <a:cs typeface="微软雅黑" charset="0"/>
              </a:rPr>
              <a:t>解：</a:t>
            </a:r>
            <a:endParaRPr lang="zh-CN" altLang="en-US" sz="2000" dirty="0">
              <a:latin typeface="微软雅黑" charset="0"/>
              <a:ea typeface="微软雅黑" charset="0"/>
              <a:cs typeface="微软雅黑" charset="0"/>
            </a:endParaRPr>
          </a:p>
          <a:p>
            <a:pPr>
              <a:lnSpc>
                <a:spcPct val="90000"/>
              </a:lnSpc>
              <a:spcBef>
                <a:spcPct val="50000"/>
              </a:spcBef>
            </a:pPr>
            <a:r>
              <a:rPr lang="en-US" altLang="zh-CN" sz="2000" dirty="0">
                <a:latin typeface="微软雅黑" charset="0"/>
                <a:ea typeface="微软雅黑" charset="0"/>
                <a:cs typeface="微软雅黑" charset="0"/>
              </a:rPr>
              <a:t>1.</a:t>
            </a:r>
            <a:r>
              <a:rPr lang="zh-CN" altLang="en-US" sz="2000" dirty="0">
                <a:latin typeface="微软雅黑" charset="0"/>
                <a:ea typeface="微软雅黑" charset="0"/>
                <a:cs typeface="微软雅黑" charset="0"/>
              </a:rPr>
              <a:t>决策目标：工艺要不要进行改革。该决策只有一个目标。</a:t>
            </a:r>
            <a:endParaRPr lang="zh-CN" altLang="en-US" sz="2000" dirty="0">
              <a:latin typeface="微软雅黑" charset="0"/>
              <a:ea typeface="微软雅黑" charset="0"/>
              <a:cs typeface="微软雅黑" charset="0"/>
            </a:endParaRPr>
          </a:p>
          <a:p>
            <a:pPr>
              <a:lnSpc>
                <a:spcPct val="50000"/>
              </a:lnSpc>
              <a:spcBef>
                <a:spcPct val="50000"/>
              </a:spcBef>
            </a:pPr>
            <a:r>
              <a:rPr lang="en-US" altLang="zh-CN" sz="2000" dirty="0">
                <a:latin typeface="微软雅黑" charset="0"/>
                <a:ea typeface="微软雅黑" charset="0"/>
                <a:cs typeface="微软雅黑" charset="0"/>
              </a:rPr>
              <a:t>2.</a:t>
            </a:r>
            <a:r>
              <a:rPr lang="zh-CN" altLang="en-US" sz="2000" dirty="0">
                <a:latin typeface="微软雅黑" charset="0"/>
                <a:ea typeface="微软雅黑" charset="0"/>
                <a:cs typeface="微软雅黑" charset="0"/>
              </a:rPr>
              <a:t>绘制决策树。</a:t>
            </a:r>
            <a:endParaRPr lang="zh-CN" altLang="en-US" sz="2000" dirty="0">
              <a:latin typeface="微软雅黑" charset="0"/>
              <a:ea typeface="微软雅黑" charset="0"/>
              <a:cs typeface="微软雅黑" charset="0"/>
            </a:endParaRPr>
          </a:p>
          <a:p>
            <a:pPr>
              <a:lnSpc>
                <a:spcPct val="80000"/>
              </a:lnSpc>
              <a:spcBef>
                <a:spcPct val="50000"/>
              </a:spcBef>
            </a:pPr>
            <a:r>
              <a:rPr lang="zh-CN" altLang="en-US" sz="2000" dirty="0">
                <a:latin typeface="微软雅黑" charset="0"/>
                <a:ea typeface="微软雅黑" charset="0"/>
                <a:cs typeface="微软雅黑" charset="0"/>
              </a:rPr>
              <a:t>（</a:t>
            </a:r>
            <a:r>
              <a:rPr lang="en-US" altLang="zh-CN" sz="2000" dirty="0">
                <a:latin typeface="微软雅黑" charset="0"/>
                <a:ea typeface="微软雅黑" charset="0"/>
                <a:cs typeface="微软雅黑" charset="0"/>
              </a:rPr>
              <a:t>1</a:t>
            </a:r>
            <a:r>
              <a:rPr lang="zh-CN" altLang="en-US" sz="2000" dirty="0">
                <a:latin typeface="微软雅黑" charset="0"/>
                <a:ea typeface="微软雅黑" charset="0"/>
                <a:cs typeface="微软雅黑" charset="0"/>
              </a:rPr>
              <a:t>）该决策只有一个决策点，即点</a:t>
            </a:r>
            <a:r>
              <a:rPr lang="en-US" altLang="zh-CN" sz="2000" dirty="0">
                <a:latin typeface="微软雅黑" charset="0"/>
                <a:ea typeface="微软雅黑" charset="0"/>
                <a:cs typeface="微软雅黑" charset="0"/>
              </a:rPr>
              <a:t>1</a:t>
            </a:r>
            <a:r>
              <a:rPr lang="zh-CN" altLang="en-US" sz="2000" dirty="0">
                <a:latin typeface="微软雅黑" charset="0"/>
                <a:ea typeface="微软雅黑" charset="0"/>
                <a:cs typeface="微软雅黑" charset="0"/>
              </a:rPr>
              <a:t>；</a:t>
            </a:r>
            <a:endParaRPr lang="zh-CN" altLang="en-US" sz="2000" dirty="0">
              <a:latin typeface="微软雅黑" charset="0"/>
              <a:ea typeface="微软雅黑" charset="0"/>
              <a:cs typeface="微软雅黑" charset="0"/>
            </a:endParaRPr>
          </a:p>
          <a:p>
            <a:pPr>
              <a:spcBef>
                <a:spcPct val="50000"/>
              </a:spcBef>
            </a:pPr>
            <a:r>
              <a:rPr lang="zh-CN" altLang="en-US" sz="2000" dirty="0">
                <a:latin typeface="微软雅黑" charset="0"/>
                <a:ea typeface="微软雅黑" charset="0"/>
                <a:cs typeface="微软雅黑" charset="0"/>
              </a:rPr>
              <a:t>（</a:t>
            </a:r>
            <a:r>
              <a:rPr lang="en-US" altLang="zh-CN" sz="2000" dirty="0">
                <a:latin typeface="微软雅黑" charset="0"/>
                <a:ea typeface="微软雅黑" charset="0"/>
                <a:cs typeface="微软雅黑" charset="0"/>
              </a:rPr>
              <a:t>2</a:t>
            </a:r>
            <a:r>
              <a:rPr lang="zh-CN" altLang="en-US" sz="2000" dirty="0">
                <a:latin typeface="微软雅黑" charset="0"/>
                <a:ea typeface="微软雅黑" charset="0"/>
                <a:cs typeface="微软雅黑" charset="0"/>
              </a:rPr>
              <a:t>）有改与不改两个方案，故从决策节点引出两个方案分枝，并在右端画出两个状态节点，即点</a:t>
            </a:r>
            <a:r>
              <a:rPr lang="en-US" altLang="zh-CN" sz="2000" dirty="0">
                <a:latin typeface="微软雅黑" charset="0"/>
                <a:ea typeface="微软雅黑" charset="0"/>
                <a:cs typeface="微软雅黑" charset="0"/>
              </a:rPr>
              <a:t>2</a:t>
            </a:r>
            <a:r>
              <a:rPr lang="zh-CN" altLang="en-US" sz="2000" dirty="0">
                <a:latin typeface="微软雅黑" charset="0"/>
                <a:ea typeface="微软雅黑" charset="0"/>
                <a:cs typeface="微软雅黑" charset="0"/>
              </a:rPr>
              <a:t>和点</a:t>
            </a:r>
            <a:r>
              <a:rPr lang="en-US" altLang="zh-CN" sz="2000" dirty="0">
                <a:latin typeface="微软雅黑" charset="0"/>
                <a:ea typeface="微软雅黑" charset="0"/>
                <a:cs typeface="微软雅黑" charset="0"/>
              </a:rPr>
              <a:t>3</a:t>
            </a:r>
            <a:r>
              <a:rPr lang="zh-CN" altLang="en-US" sz="2000" dirty="0">
                <a:latin typeface="微软雅黑" charset="0"/>
                <a:ea typeface="微软雅黑" charset="0"/>
                <a:cs typeface="微软雅黑" charset="0"/>
              </a:rPr>
              <a:t>；</a:t>
            </a:r>
            <a:endParaRPr lang="zh-CN" altLang="en-US" sz="2000" dirty="0">
              <a:latin typeface="微软雅黑" charset="0"/>
              <a:ea typeface="微软雅黑" charset="0"/>
              <a:cs typeface="微软雅黑" charset="0"/>
            </a:endParaRPr>
          </a:p>
          <a:p>
            <a:pPr>
              <a:spcBef>
                <a:spcPct val="50000"/>
              </a:spcBef>
            </a:pPr>
            <a:r>
              <a:rPr lang="zh-CN" altLang="en-US" sz="2000" dirty="0">
                <a:latin typeface="微软雅黑" charset="0"/>
                <a:ea typeface="微软雅黑" charset="0"/>
                <a:cs typeface="微软雅黑" charset="0"/>
                <a:sym typeface="+mn-ea"/>
              </a:rPr>
              <a:t>（</a:t>
            </a:r>
            <a:r>
              <a:rPr lang="en-US" altLang="zh-CN" sz="2000" dirty="0">
                <a:latin typeface="微软雅黑" charset="0"/>
                <a:ea typeface="微软雅黑" charset="0"/>
                <a:cs typeface="微软雅黑" charset="0"/>
                <a:sym typeface="+mn-ea"/>
              </a:rPr>
              <a:t>3</a:t>
            </a:r>
            <a:r>
              <a:rPr lang="zh-CN" altLang="en-US" sz="2000" dirty="0">
                <a:latin typeface="微软雅黑" charset="0"/>
                <a:ea typeface="微软雅黑" charset="0"/>
                <a:cs typeface="微软雅黑" charset="0"/>
                <a:sym typeface="+mn-ea"/>
              </a:rPr>
              <a:t>）根据不同工艺出现不同比例次品的概率，分别从节点</a:t>
            </a:r>
            <a:r>
              <a:rPr lang="en-US" altLang="zh-CN" sz="2000" dirty="0">
                <a:latin typeface="微软雅黑" charset="0"/>
                <a:ea typeface="微软雅黑" charset="0"/>
                <a:cs typeface="微软雅黑" charset="0"/>
                <a:sym typeface="+mn-ea"/>
              </a:rPr>
              <a:t>2</a:t>
            </a:r>
            <a:r>
              <a:rPr lang="zh-CN" altLang="en-US" sz="2000" dirty="0">
                <a:latin typeface="微软雅黑" charset="0"/>
                <a:ea typeface="微软雅黑" charset="0"/>
                <a:cs typeface="微软雅黑" charset="0"/>
                <a:sym typeface="+mn-ea"/>
              </a:rPr>
              <a:t>和节点</a:t>
            </a:r>
            <a:r>
              <a:rPr lang="en-US" altLang="zh-CN" sz="2000" dirty="0">
                <a:latin typeface="微软雅黑" charset="0"/>
                <a:ea typeface="微软雅黑" charset="0"/>
                <a:cs typeface="微软雅黑" charset="0"/>
                <a:sym typeface="+mn-ea"/>
              </a:rPr>
              <a:t>3</a:t>
            </a:r>
            <a:r>
              <a:rPr lang="zh-CN" altLang="en-US" sz="2000" dirty="0">
                <a:latin typeface="微软雅黑" charset="0"/>
                <a:ea typeface="微软雅黑" charset="0"/>
                <a:cs typeface="微软雅黑" charset="0"/>
                <a:sym typeface="+mn-ea"/>
              </a:rPr>
              <a:t>画出相应的状态分枝，并标出相应的概率</a:t>
            </a:r>
            <a:endParaRPr lang="zh-CN" altLang="en-US" sz="2000" dirty="0">
              <a:latin typeface="微软雅黑" charset="0"/>
              <a:ea typeface="微软雅黑" charset="0"/>
              <a:cs typeface="微软雅黑" charset="0"/>
            </a:endParaRPr>
          </a:p>
        </p:txBody>
      </p:sp>
      <p:sp>
        <p:nvSpPr>
          <p:cNvPr id="37" name="文本框 36"/>
          <p:cNvSpPr txBox="1"/>
          <p:nvPr/>
        </p:nvSpPr>
        <p:spPr>
          <a:xfrm>
            <a:off x="3416300" y="5664200"/>
            <a:ext cx="503238" cy="434975"/>
          </a:xfrm>
          <a:prstGeom prst="rect">
            <a:avLst/>
          </a:prstGeom>
          <a:noFill/>
          <a:ln w="38100" cap="flat" cmpd="sng">
            <a:solidFill>
              <a:schemeClr val="tx1"/>
            </a:solidFill>
            <a:prstDash val="solid"/>
            <a:miter/>
            <a:headEnd type="none" w="sm" len="sm"/>
            <a:tailEnd type="none" w="sm" len="sm"/>
          </a:ln>
        </p:spPr>
        <p:txBody>
          <a:bodyPr>
            <a:spAutoFit/>
          </a:bodyPr>
          <a:p>
            <a:pPr algn="ctr">
              <a:spcBef>
                <a:spcPct val="50000"/>
              </a:spcBef>
            </a:pPr>
            <a:r>
              <a:rPr lang="en-US" altLang="zh-CN" sz="2000" b="1">
                <a:latin typeface="Arial" panose="020B0604020202090204" pitchFamily="34" charset="0"/>
                <a:ea typeface="宋体" panose="02010600030101010101" pitchFamily="2" charset="-122"/>
              </a:rPr>
              <a:t>1</a:t>
            </a:r>
            <a:endParaRPr lang="en-US" altLang="zh-CN" sz="2000" b="1">
              <a:latin typeface="Arial" panose="020B0604020202090204" pitchFamily="34" charset="0"/>
              <a:ea typeface="宋体" panose="02010600030101010101" pitchFamily="2" charset="-122"/>
            </a:endParaRPr>
          </a:p>
        </p:txBody>
      </p:sp>
      <p:sp>
        <p:nvSpPr>
          <p:cNvPr id="38" name="椭圆 37"/>
          <p:cNvSpPr/>
          <p:nvPr/>
        </p:nvSpPr>
        <p:spPr>
          <a:xfrm>
            <a:off x="5864225" y="4943475"/>
            <a:ext cx="620713" cy="561975"/>
          </a:xfrm>
          <a:prstGeom prst="ellipse">
            <a:avLst/>
          </a:prstGeom>
          <a:noFill/>
          <a:ln w="38100" cap="flat" cmpd="sng">
            <a:solidFill>
              <a:schemeClr val="tx1"/>
            </a:solidFill>
            <a:prstDash val="solid"/>
            <a:headEnd type="none" w="sm" len="sm"/>
            <a:tailEnd type="none" w="sm" len="sm"/>
          </a:ln>
        </p:spPr>
        <p:txBody>
          <a:bodyPr>
            <a:spAutoFit/>
          </a:bodyPr>
          <a:p>
            <a:pPr algn="ctr">
              <a:spcBef>
                <a:spcPct val="50000"/>
              </a:spcBef>
            </a:pPr>
            <a:r>
              <a:rPr lang="en-US" altLang="zh-CN" sz="2000" b="1">
                <a:latin typeface="Arial" panose="020B0604020202090204" pitchFamily="34" charset="0"/>
                <a:ea typeface="宋体" panose="02010600030101010101" pitchFamily="2" charset="-122"/>
              </a:rPr>
              <a:t>2</a:t>
            </a:r>
            <a:endParaRPr lang="en-US" altLang="zh-CN" sz="2000" b="1">
              <a:latin typeface="Arial" panose="020B0604020202090204" pitchFamily="34" charset="0"/>
              <a:ea typeface="宋体" panose="02010600030101010101" pitchFamily="2" charset="-122"/>
            </a:endParaRPr>
          </a:p>
        </p:txBody>
      </p:sp>
      <p:sp>
        <p:nvSpPr>
          <p:cNvPr id="39" name="椭圆 38"/>
          <p:cNvSpPr/>
          <p:nvPr/>
        </p:nvSpPr>
        <p:spPr>
          <a:xfrm>
            <a:off x="5864225" y="6096000"/>
            <a:ext cx="620713" cy="561975"/>
          </a:xfrm>
          <a:prstGeom prst="ellipse">
            <a:avLst/>
          </a:prstGeom>
          <a:noFill/>
          <a:ln w="38100" cap="flat" cmpd="sng">
            <a:solidFill>
              <a:schemeClr val="tx1"/>
            </a:solidFill>
            <a:prstDash val="solid"/>
            <a:headEnd type="none" w="sm" len="sm"/>
            <a:tailEnd type="none" w="sm" len="sm"/>
          </a:ln>
        </p:spPr>
        <p:txBody>
          <a:bodyPr>
            <a:spAutoFit/>
          </a:bodyPr>
          <a:p>
            <a:pPr algn="ctr">
              <a:spcBef>
                <a:spcPct val="50000"/>
              </a:spcBef>
            </a:pPr>
            <a:r>
              <a:rPr lang="en-US" altLang="zh-CN" sz="2000" b="1">
                <a:latin typeface="Arial" panose="020B0604020202090204" pitchFamily="34" charset="0"/>
                <a:ea typeface="宋体" panose="02010600030101010101" pitchFamily="2" charset="-122"/>
              </a:rPr>
              <a:t>3</a:t>
            </a:r>
            <a:endParaRPr lang="en-US" altLang="zh-CN" sz="2000" b="1">
              <a:latin typeface="Arial" panose="020B0604020202090204" pitchFamily="34" charset="0"/>
              <a:ea typeface="宋体" panose="02010600030101010101" pitchFamily="2" charset="-122"/>
            </a:endParaRPr>
          </a:p>
        </p:txBody>
      </p:sp>
      <p:sp>
        <p:nvSpPr>
          <p:cNvPr id="40" name="直接连接符 39"/>
          <p:cNvSpPr/>
          <p:nvPr/>
        </p:nvSpPr>
        <p:spPr>
          <a:xfrm flipV="1">
            <a:off x="3919538" y="5303838"/>
            <a:ext cx="1944687" cy="504825"/>
          </a:xfrm>
          <a:prstGeom prst="line">
            <a:avLst/>
          </a:prstGeom>
          <a:ln w="38100" cap="flat" cmpd="sng">
            <a:solidFill>
              <a:schemeClr val="tx1"/>
            </a:solidFill>
            <a:prstDash val="solid"/>
            <a:headEnd type="none" w="sm" len="sm"/>
            <a:tailEnd type="none" w="sm" len="sm"/>
          </a:ln>
        </p:spPr>
      </p:sp>
      <p:sp>
        <p:nvSpPr>
          <p:cNvPr id="41" name="直接连接符 40"/>
          <p:cNvSpPr/>
          <p:nvPr/>
        </p:nvSpPr>
        <p:spPr>
          <a:xfrm>
            <a:off x="3919538" y="5951538"/>
            <a:ext cx="1944687" cy="433387"/>
          </a:xfrm>
          <a:prstGeom prst="line">
            <a:avLst/>
          </a:prstGeom>
          <a:ln w="38100" cap="flat" cmpd="sng">
            <a:solidFill>
              <a:schemeClr val="tx1"/>
            </a:solidFill>
            <a:prstDash val="solid"/>
            <a:headEnd type="none" w="sm" len="sm"/>
            <a:tailEnd type="none" w="sm" len="sm"/>
          </a:ln>
        </p:spPr>
      </p:sp>
      <p:sp>
        <p:nvSpPr>
          <p:cNvPr id="42" name="直接连接符 41"/>
          <p:cNvSpPr/>
          <p:nvPr/>
        </p:nvSpPr>
        <p:spPr>
          <a:xfrm>
            <a:off x="6511925" y="6384925"/>
            <a:ext cx="2520950" cy="142875"/>
          </a:xfrm>
          <a:prstGeom prst="line">
            <a:avLst/>
          </a:prstGeom>
          <a:ln w="38100" cap="flat" cmpd="sng">
            <a:solidFill>
              <a:schemeClr val="tx1"/>
            </a:solidFill>
            <a:prstDash val="solid"/>
            <a:headEnd type="none" w="sm" len="sm"/>
            <a:tailEnd type="none" w="sm" len="sm"/>
          </a:ln>
        </p:spPr>
      </p:sp>
      <p:sp>
        <p:nvSpPr>
          <p:cNvPr id="43" name="等腰三角形 42"/>
          <p:cNvSpPr/>
          <p:nvPr/>
        </p:nvSpPr>
        <p:spPr>
          <a:xfrm>
            <a:off x="9032875" y="3071813"/>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44" name="等腰三角形 43"/>
          <p:cNvSpPr/>
          <p:nvPr/>
        </p:nvSpPr>
        <p:spPr>
          <a:xfrm>
            <a:off x="9032875" y="3503613"/>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45" name="等腰三角形 44"/>
          <p:cNvSpPr/>
          <p:nvPr/>
        </p:nvSpPr>
        <p:spPr>
          <a:xfrm>
            <a:off x="9032875" y="4006850"/>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46" name="等腰三角形 45"/>
          <p:cNvSpPr/>
          <p:nvPr/>
        </p:nvSpPr>
        <p:spPr>
          <a:xfrm>
            <a:off x="9032875" y="4440238"/>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47" name="等腰三角形 46"/>
          <p:cNvSpPr/>
          <p:nvPr/>
        </p:nvSpPr>
        <p:spPr>
          <a:xfrm>
            <a:off x="9032875" y="4943475"/>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48" name="等腰三角形 47"/>
          <p:cNvSpPr/>
          <p:nvPr/>
        </p:nvSpPr>
        <p:spPr>
          <a:xfrm>
            <a:off x="9032875" y="5735638"/>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49" name="等腰三角形 48"/>
          <p:cNvSpPr/>
          <p:nvPr/>
        </p:nvSpPr>
        <p:spPr>
          <a:xfrm>
            <a:off x="9032875" y="6311900"/>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50" name="等腰三角形 49"/>
          <p:cNvSpPr/>
          <p:nvPr/>
        </p:nvSpPr>
        <p:spPr>
          <a:xfrm>
            <a:off x="9032875" y="6816725"/>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51" name="直接连接符 50"/>
          <p:cNvSpPr/>
          <p:nvPr/>
        </p:nvSpPr>
        <p:spPr>
          <a:xfrm flipV="1">
            <a:off x="6440488" y="3648075"/>
            <a:ext cx="2663825" cy="1439863"/>
          </a:xfrm>
          <a:prstGeom prst="line">
            <a:avLst/>
          </a:prstGeom>
          <a:ln w="38100" cap="flat" cmpd="sng">
            <a:solidFill>
              <a:schemeClr val="tx1"/>
            </a:solidFill>
            <a:prstDash val="solid"/>
            <a:headEnd type="none" w="sm" len="sm"/>
            <a:tailEnd type="none" w="sm" len="sm"/>
          </a:ln>
        </p:spPr>
      </p:sp>
      <p:sp>
        <p:nvSpPr>
          <p:cNvPr id="52" name="直接连接符 51"/>
          <p:cNvSpPr/>
          <p:nvPr/>
        </p:nvSpPr>
        <p:spPr>
          <a:xfrm flipV="1">
            <a:off x="6511925" y="4152900"/>
            <a:ext cx="2592388" cy="1006475"/>
          </a:xfrm>
          <a:prstGeom prst="line">
            <a:avLst/>
          </a:prstGeom>
          <a:ln w="38100" cap="flat" cmpd="sng">
            <a:solidFill>
              <a:schemeClr val="tx1"/>
            </a:solidFill>
            <a:prstDash val="solid"/>
            <a:headEnd type="none" w="sm" len="sm"/>
            <a:tailEnd type="none" w="sm" len="sm"/>
          </a:ln>
        </p:spPr>
      </p:sp>
      <p:sp>
        <p:nvSpPr>
          <p:cNvPr id="53" name="直接连接符 52"/>
          <p:cNvSpPr/>
          <p:nvPr/>
        </p:nvSpPr>
        <p:spPr>
          <a:xfrm flipV="1">
            <a:off x="6511925" y="4584700"/>
            <a:ext cx="2592388" cy="647700"/>
          </a:xfrm>
          <a:prstGeom prst="line">
            <a:avLst/>
          </a:prstGeom>
          <a:ln w="38100" cap="flat" cmpd="sng">
            <a:solidFill>
              <a:schemeClr val="tx1"/>
            </a:solidFill>
            <a:prstDash val="solid"/>
            <a:headEnd type="none" w="sm" len="sm"/>
            <a:tailEnd type="none" w="sm" len="sm"/>
          </a:ln>
        </p:spPr>
      </p:sp>
      <p:sp>
        <p:nvSpPr>
          <p:cNvPr id="54" name="直接连接符 53"/>
          <p:cNvSpPr/>
          <p:nvPr/>
        </p:nvSpPr>
        <p:spPr>
          <a:xfrm flipV="1">
            <a:off x="6440488" y="5087938"/>
            <a:ext cx="2663825" cy="288925"/>
          </a:xfrm>
          <a:prstGeom prst="line">
            <a:avLst/>
          </a:prstGeom>
          <a:ln w="38100" cap="flat" cmpd="sng">
            <a:solidFill>
              <a:schemeClr val="tx1"/>
            </a:solidFill>
            <a:prstDash val="solid"/>
            <a:headEnd type="none" w="sm" len="sm"/>
            <a:tailEnd type="none" w="sm" len="sm"/>
          </a:ln>
        </p:spPr>
      </p:sp>
      <p:sp>
        <p:nvSpPr>
          <p:cNvPr id="55" name="直接连接符 54"/>
          <p:cNvSpPr/>
          <p:nvPr/>
        </p:nvSpPr>
        <p:spPr>
          <a:xfrm flipV="1">
            <a:off x="6440488" y="5880100"/>
            <a:ext cx="2663825" cy="361950"/>
          </a:xfrm>
          <a:prstGeom prst="line">
            <a:avLst/>
          </a:prstGeom>
          <a:ln w="38100" cap="flat" cmpd="sng">
            <a:solidFill>
              <a:schemeClr val="tx1"/>
            </a:solidFill>
            <a:prstDash val="solid"/>
            <a:headEnd type="none" w="sm" len="sm"/>
            <a:tailEnd type="none" w="sm" len="sm"/>
          </a:ln>
        </p:spPr>
      </p:sp>
      <p:sp>
        <p:nvSpPr>
          <p:cNvPr id="56" name="直接连接符 55"/>
          <p:cNvSpPr/>
          <p:nvPr/>
        </p:nvSpPr>
        <p:spPr>
          <a:xfrm flipV="1">
            <a:off x="6440488" y="3216275"/>
            <a:ext cx="2663825" cy="1873250"/>
          </a:xfrm>
          <a:prstGeom prst="line">
            <a:avLst/>
          </a:prstGeom>
          <a:ln w="38100" cap="flat" cmpd="sng">
            <a:solidFill>
              <a:schemeClr val="tx1"/>
            </a:solidFill>
            <a:prstDash val="solid"/>
            <a:headEnd type="none" w="sm" len="sm"/>
            <a:tailEnd type="none" w="sm" len="sm"/>
          </a:ln>
        </p:spPr>
      </p:sp>
      <p:sp>
        <p:nvSpPr>
          <p:cNvPr id="57" name="直接连接符 56"/>
          <p:cNvSpPr/>
          <p:nvPr/>
        </p:nvSpPr>
        <p:spPr>
          <a:xfrm>
            <a:off x="6440488" y="6529388"/>
            <a:ext cx="2663825" cy="430212"/>
          </a:xfrm>
          <a:prstGeom prst="line">
            <a:avLst/>
          </a:prstGeom>
          <a:ln w="38100" cap="flat" cmpd="sng">
            <a:solidFill>
              <a:schemeClr val="tx1"/>
            </a:solidFill>
            <a:prstDash val="solid"/>
            <a:headEnd type="none" w="sm" len="sm"/>
            <a:tailEnd type="none" w="sm" len="sm"/>
          </a:ln>
        </p:spPr>
      </p:sp>
      <p:sp>
        <p:nvSpPr>
          <p:cNvPr id="58" name="文本框 57"/>
          <p:cNvSpPr txBox="1"/>
          <p:nvPr/>
        </p:nvSpPr>
        <p:spPr>
          <a:xfrm>
            <a:off x="8313738" y="3216275"/>
            <a:ext cx="503237"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0.4</a:t>
            </a:r>
            <a:endParaRPr lang="en-US" altLang="zh-CN" sz="1800" b="1">
              <a:solidFill>
                <a:srgbClr val="FF00FF"/>
              </a:solidFill>
              <a:latin typeface="Arial" panose="020B0604020202090204" pitchFamily="34" charset="0"/>
              <a:ea typeface="宋体" panose="02010600030101010101" pitchFamily="2" charset="-122"/>
            </a:endParaRPr>
          </a:p>
        </p:txBody>
      </p:sp>
      <p:sp>
        <p:nvSpPr>
          <p:cNvPr id="59" name="文本框 58"/>
          <p:cNvSpPr txBox="1"/>
          <p:nvPr/>
        </p:nvSpPr>
        <p:spPr>
          <a:xfrm>
            <a:off x="8313738" y="3576638"/>
            <a:ext cx="503237" cy="366712"/>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0.3</a:t>
            </a:r>
            <a:endParaRPr lang="en-US" altLang="zh-CN" sz="1800" b="1">
              <a:solidFill>
                <a:srgbClr val="FF00FF"/>
              </a:solidFill>
              <a:latin typeface="Arial" panose="020B0604020202090204" pitchFamily="34" charset="0"/>
              <a:ea typeface="宋体" panose="02010600030101010101" pitchFamily="2" charset="-122"/>
            </a:endParaRPr>
          </a:p>
        </p:txBody>
      </p:sp>
      <p:sp>
        <p:nvSpPr>
          <p:cNvPr id="60" name="文本框 59"/>
          <p:cNvSpPr txBox="1"/>
          <p:nvPr/>
        </p:nvSpPr>
        <p:spPr>
          <a:xfrm>
            <a:off x="8240713" y="4002088"/>
            <a:ext cx="720725" cy="366712"/>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0.15</a:t>
            </a:r>
            <a:endParaRPr lang="en-US" altLang="zh-CN" sz="1800" b="1">
              <a:solidFill>
                <a:srgbClr val="FF00FF"/>
              </a:solidFill>
              <a:latin typeface="Arial" panose="020B0604020202090204" pitchFamily="34" charset="0"/>
              <a:ea typeface="宋体" panose="02010600030101010101" pitchFamily="2" charset="-122"/>
            </a:endParaRPr>
          </a:p>
        </p:txBody>
      </p:sp>
      <p:sp>
        <p:nvSpPr>
          <p:cNvPr id="61" name="文本框 60"/>
          <p:cNvSpPr txBox="1"/>
          <p:nvPr/>
        </p:nvSpPr>
        <p:spPr>
          <a:xfrm>
            <a:off x="8240713" y="4368800"/>
            <a:ext cx="720725"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0.10</a:t>
            </a:r>
            <a:endParaRPr lang="en-US" altLang="zh-CN" sz="1800" b="1">
              <a:solidFill>
                <a:srgbClr val="FF00FF"/>
              </a:solidFill>
              <a:latin typeface="Arial" panose="020B0604020202090204" pitchFamily="34" charset="0"/>
              <a:ea typeface="宋体" panose="02010600030101010101" pitchFamily="2" charset="-122"/>
            </a:endParaRPr>
          </a:p>
        </p:txBody>
      </p:sp>
      <p:sp>
        <p:nvSpPr>
          <p:cNvPr id="62" name="文本框 61"/>
          <p:cNvSpPr txBox="1"/>
          <p:nvPr/>
        </p:nvSpPr>
        <p:spPr>
          <a:xfrm>
            <a:off x="8240713" y="4800600"/>
            <a:ext cx="720725"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0.05</a:t>
            </a:r>
            <a:endParaRPr lang="en-US" altLang="zh-CN" sz="1800" b="1">
              <a:solidFill>
                <a:srgbClr val="FF00FF"/>
              </a:solidFill>
              <a:latin typeface="Arial" panose="020B0604020202090204" pitchFamily="34" charset="0"/>
              <a:ea typeface="宋体" panose="02010600030101010101" pitchFamily="2" charset="-122"/>
            </a:endParaRPr>
          </a:p>
        </p:txBody>
      </p:sp>
      <p:sp>
        <p:nvSpPr>
          <p:cNvPr id="63" name="文本框 62"/>
          <p:cNvSpPr txBox="1"/>
          <p:nvPr/>
        </p:nvSpPr>
        <p:spPr>
          <a:xfrm>
            <a:off x="8096250" y="5664200"/>
            <a:ext cx="720725"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0.70</a:t>
            </a:r>
            <a:endParaRPr lang="en-US" altLang="zh-CN" sz="1800" b="1">
              <a:solidFill>
                <a:srgbClr val="FF00FF"/>
              </a:solidFill>
              <a:latin typeface="Arial" panose="020B0604020202090204" pitchFamily="34" charset="0"/>
              <a:ea typeface="宋体" panose="02010600030101010101" pitchFamily="2" charset="-122"/>
            </a:endParaRPr>
          </a:p>
        </p:txBody>
      </p:sp>
      <p:sp>
        <p:nvSpPr>
          <p:cNvPr id="64" name="文本框 63"/>
          <p:cNvSpPr txBox="1"/>
          <p:nvPr/>
        </p:nvSpPr>
        <p:spPr>
          <a:xfrm>
            <a:off x="8096250" y="6169025"/>
            <a:ext cx="720725"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0.20</a:t>
            </a:r>
            <a:endParaRPr lang="en-US" altLang="zh-CN" sz="1800" b="1">
              <a:solidFill>
                <a:srgbClr val="FF00FF"/>
              </a:solidFill>
              <a:latin typeface="Arial" panose="020B0604020202090204" pitchFamily="34" charset="0"/>
              <a:ea typeface="宋体" panose="02010600030101010101" pitchFamily="2" charset="-122"/>
            </a:endParaRPr>
          </a:p>
        </p:txBody>
      </p:sp>
      <p:sp>
        <p:nvSpPr>
          <p:cNvPr id="65" name="文本框 64"/>
          <p:cNvSpPr txBox="1"/>
          <p:nvPr/>
        </p:nvSpPr>
        <p:spPr>
          <a:xfrm>
            <a:off x="8096250" y="6527800"/>
            <a:ext cx="720725"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0.10</a:t>
            </a:r>
            <a:endParaRPr lang="en-US" altLang="zh-CN" sz="1800" b="1">
              <a:solidFill>
                <a:srgbClr val="FF00FF"/>
              </a:solidFill>
              <a:latin typeface="Arial" panose="020B0604020202090204" pitchFamily="34" charset="0"/>
              <a:ea typeface="宋体" panose="02010600030101010101" pitchFamily="2" charset="-122"/>
            </a:endParaRPr>
          </a:p>
        </p:txBody>
      </p:sp>
      <p:sp>
        <p:nvSpPr>
          <p:cNvPr id="66" name="文本框 65"/>
          <p:cNvSpPr txBox="1"/>
          <p:nvPr/>
        </p:nvSpPr>
        <p:spPr>
          <a:xfrm>
            <a:off x="5099050" y="6759575"/>
            <a:ext cx="3024188" cy="366713"/>
          </a:xfrm>
          <a:prstGeom prst="rect">
            <a:avLst/>
          </a:prstGeom>
          <a:noFill/>
          <a:ln w="12700">
            <a:noFill/>
          </a:ln>
        </p:spPr>
        <p:txBody>
          <a:bodyPr>
            <a:spAutoFit/>
          </a:bodyPr>
          <a:p>
            <a:pPr>
              <a:spcBef>
                <a:spcPct val="50000"/>
              </a:spcBef>
            </a:pPr>
            <a:r>
              <a:rPr lang="zh-CN" altLang="en-US" sz="1800" dirty="0">
                <a:latin typeface="Arial" panose="020B0604020202090204" pitchFamily="34" charset="0"/>
                <a:ea typeface="幼圆" pitchFamily="49" charset="-122"/>
              </a:rPr>
              <a:t>改革方案决策树</a:t>
            </a:r>
            <a:endParaRPr lang="zh-CN" altLang="en-US" sz="1800">
              <a:latin typeface="Arial" panose="020B0604020202090204" pitchFamily="34" charset="0"/>
              <a:ea typeface="幼圆" pitchFamily="49"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endParaRPr lang="zh-CN" altLang="en-US" sz="2400" b="1" dirty="0">
              <a:solidFill>
                <a:srgbClr val="01395C"/>
              </a:solidFill>
              <a:latin typeface="方正粗宋简体"/>
              <a:ea typeface="方正粗宋简体"/>
              <a:cs typeface="方正粗宋简体"/>
            </a:endParaRPr>
          </a:p>
        </p:txBody>
      </p:sp>
      <p:sp>
        <p:nvSpPr>
          <p:cNvPr id="21508" name="文本框 21507"/>
          <p:cNvSpPr txBox="1"/>
          <p:nvPr/>
        </p:nvSpPr>
        <p:spPr>
          <a:xfrm>
            <a:off x="5081270" y="4243070"/>
            <a:ext cx="503238" cy="434975"/>
          </a:xfrm>
          <a:prstGeom prst="rect">
            <a:avLst/>
          </a:prstGeom>
          <a:noFill/>
          <a:ln w="38100" cap="flat" cmpd="sng">
            <a:solidFill>
              <a:schemeClr val="tx1"/>
            </a:solidFill>
            <a:prstDash val="solid"/>
            <a:miter/>
            <a:headEnd type="none" w="sm" len="sm"/>
            <a:tailEnd type="none" w="sm" len="sm"/>
          </a:ln>
        </p:spPr>
        <p:txBody>
          <a:bodyPr>
            <a:spAutoFit/>
          </a:bodyPr>
          <a:p>
            <a:pPr algn="ctr">
              <a:spcBef>
                <a:spcPct val="50000"/>
              </a:spcBef>
            </a:pPr>
            <a:r>
              <a:rPr lang="en-US" altLang="zh-CN" sz="2000" b="1">
                <a:latin typeface="Arial" panose="020B0604020202090204" pitchFamily="34" charset="0"/>
                <a:ea typeface="宋体" panose="02010600030101010101" pitchFamily="2" charset="-122"/>
              </a:rPr>
              <a:t>1</a:t>
            </a:r>
            <a:endParaRPr lang="en-US" altLang="zh-CN" sz="2000" b="1">
              <a:latin typeface="Arial" panose="020B0604020202090204" pitchFamily="34" charset="0"/>
              <a:ea typeface="宋体" panose="02010600030101010101" pitchFamily="2" charset="-122"/>
            </a:endParaRPr>
          </a:p>
        </p:txBody>
      </p:sp>
      <p:sp>
        <p:nvSpPr>
          <p:cNvPr id="21509" name="椭圆 21508"/>
          <p:cNvSpPr/>
          <p:nvPr/>
        </p:nvSpPr>
        <p:spPr>
          <a:xfrm>
            <a:off x="7529195" y="3522345"/>
            <a:ext cx="620713" cy="561975"/>
          </a:xfrm>
          <a:prstGeom prst="ellipse">
            <a:avLst/>
          </a:prstGeom>
          <a:noFill/>
          <a:ln w="38100" cap="flat" cmpd="sng">
            <a:solidFill>
              <a:schemeClr val="tx1"/>
            </a:solidFill>
            <a:prstDash val="solid"/>
            <a:headEnd type="none" w="sm" len="sm"/>
            <a:tailEnd type="none" w="sm" len="sm"/>
          </a:ln>
        </p:spPr>
        <p:txBody>
          <a:bodyPr>
            <a:spAutoFit/>
          </a:bodyPr>
          <a:p>
            <a:pPr algn="ctr">
              <a:spcBef>
                <a:spcPct val="50000"/>
              </a:spcBef>
            </a:pPr>
            <a:r>
              <a:rPr lang="en-US" altLang="zh-CN" sz="2000" b="1">
                <a:latin typeface="Arial" panose="020B0604020202090204" pitchFamily="34" charset="0"/>
                <a:ea typeface="宋体" panose="02010600030101010101" pitchFamily="2" charset="-122"/>
              </a:rPr>
              <a:t>2</a:t>
            </a:r>
            <a:endParaRPr lang="en-US" altLang="zh-CN" sz="2000" b="1">
              <a:latin typeface="Arial" panose="020B0604020202090204" pitchFamily="34" charset="0"/>
              <a:ea typeface="宋体" panose="02010600030101010101" pitchFamily="2" charset="-122"/>
            </a:endParaRPr>
          </a:p>
        </p:txBody>
      </p:sp>
      <p:sp>
        <p:nvSpPr>
          <p:cNvPr id="21510" name="椭圆 21509"/>
          <p:cNvSpPr/>
          <p:nvPr/>
        </p:nvSpPr>
        <p:spPr>
          <a:xfrm>
            <a:off x="7529195" y="4674870"/>
            <a:ext cx="620713" cy="561975"/>
          </a:xfrm>
          <a:prstGeom prst="ellipse">
            <a:avLst/>
          </a:prstGeom>
          <a:noFill/>
          <a:ln w="38100" cap="flat" cmpd="sng">
            <a:solidFill>
              <a:schemeClr val="tx1"/>
            </a:solidFill>
            <a:prstDash val="solid"/>
            <a:headEnd type="none" w="sm" len="sm"/>
            <a:tailEnd type="none" w="sm" len="sm"/>
          </a:ln>
        </p:spPr>
        <p:txBody>
          <a:bodyPr>
            <a:spAutoFit/>
          </a:bodyPr>
          <a:p>
            <a:pPr algn="ctr">
              <a:spcBef>
                <a:spcPct val="50000"/>
              </a:spcBef>
            </a:pPr>
            <a:r>
              <a:rPr lang="en-US" altLang="zh-CN" sz="2000" b="1">
                <a:latin typeface="Arial" panose="020B0604020202090204" pitchFamily="34" charset="0"/>
                <a:ea typeface="宋体" panose="02010600030101010101" pitchFamily="2" charset="-122"/>
              </a:rPr>
              <a:t>3</a:t>
            </a:r>
            <a:endParaRPr lang="en-US" altLang="zh-CN" sz="2000" b="1">
              <a:latin typeface="Arial" panose="020B0604020202090204" pitchFamily="34" charset="0"/>
              <a:ea typeface="宋体" panose="02010600030101010101" pitchFamily="2" charset="-122"/>
            </a:endParaRPr>
          </a:p>
        </p:txBody>
      </p:sp>
      <p:sp>
        <p:nvSpPr>
          <p:cNvPr id="21511" name="直接连接符 21510"/>
          <p:cNvSpPr/>
          <p:nvPr/>
        </p:nvSpPr>
        <p:spPr>
          <a:xfrm flipV="1">
            <a:off x="5584508" y="3882708"/>
            <a:ext cx="1944687" cy="504825"/>
          </a:xfrm>
          <a:prstGeom prst="line">
            <a:avLst/>
          </a:prstGeom>
          <a:ln w="38100" cap="flat" cmpd="sng">
            <a:solidFill>
              <a:schemeClr val="tx1"/>
            </a:solidFill>
            <a:prstDash val="solid"/>
            <a:headEnd type="none" w="sm" len="sm"/>
            <a:tailEnd type="none" w="sm" len="sm"/>
          </a:ln>
        </p:spPr>
      </p:sp>
      <p:sp>
        <p:nvSpPr>
          <p:cNvPr id="21512" name="直接连接符 21511"/>
          <p:cNvSpPr/>
          <p:nvPr/>
        </p:nvSpPr>
        <p:spPr>
          <a:xfrm>
            <a:off x="5584508" y="4530408"/>
            <a:ext cx="1944687" cy="433387"/>
          </a:xfrm>
          <a:prstGeom prst="line">
            <a:avLst/>
          </a:prstGeom>
          <a:ln w="38100" cap="flat" cmpd="sng">
            <a:solidFill>
              <a:schemeClr val="tx1"/>
            </a:solidFill>
            <a:prstDash val="solid"/>
            <a:headEnd type="none" w="sm" len="sm"/>
            <a:tailEnd type="none" w="sm" len="sm"/>
          </a:ln>
        </p:spPr>
      </p:sp>
      <p:sp>
        <p:nvSpPr>
          <p:cNvPr id="21513" name="直接连接符 21512"/>
          <p:cNvSpPr/>
          <p:nvPr/>
        </p:nvSpPr>
        <p:spPr>
          <a:xfrm>
            <a:off x="8176895" y="4963795"/>
            <a:ext cx="2520950" cy="142875"/>
          </a:xfrm>
          <a:prstGeom prst="line">
            <a:avLst/>
          </a:prstGeom>
          <a:ln w="38100" cap="flat" cmpd="sng">
            <a:solidFill>
              <a:schemeClr val="tx1"/>
            </a:solidFill>
            <a:prstDash val="solid"/>
            <a:headEnd type="none" w="sm" len="sm"/>
            <a:tailEnd type="none" w="sm" len="sm"/>
          </a:ln>
        </p:spPr>
      </p:sp>
      <p:sp>
        <p:nvSpPr>
          <p:cNvPr id="21514" name="等腰三角形 21513"/>
          <p:cNvSpPr/>
          <p:nvPr/>
        </p:nvSpPr>
        <p:spPr>
          <a:xfrm>
            <a:off x="10697845" y="1650683"/>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21515" name="等腰三角形 21514"/>
          <p:cNvSpPr/>
          <p:nvPr/>
        </p:nvSpPr>
        <p:spPr>
          <a:xfrm>
            <a:off x="10697845" y="2082483"/>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21516" name="等腰三角形 21515"/>
          <p:cNvSpPr/>
          <p:nvPr/>
        </p:nvSpPr>
        <p:spPr>
          <a:xfrm>
            <a:off x="10697845" y="2585720"/>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21517" name="等腰三角形 21516"/>
          <p:cNvSpPr/>
          <p:nvPr/>
        </p:nvSpPr>
        <p:spPr>
          <a:xfrm>
            <a:off x="10697845" y="3019108"/>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21518" name="等腰三角形 21517"/>
          <p:cNvSpPr/>
          <p:nvPr/>
        </p:nvSpPr>
        <p:spPr>
          <a:xfrm>
            <a:off x="10697845" y="3522345"/>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21519" name="等腰三角形 21518"/>
          <p:cNvSpPr/>
          <p:nvPr/>
        </p:nvSpPr>
        <p:spPr>
          <a:xfrm>
            <a:off x="10697845" y="4314508"/>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21520" name="等腰三角形 21519"/>
          <p:cNvSpPr/>
          <p:nvPr/>
        </p:nvSpPr>
        <p:spPr>
          <a:xfrm>
            <a:off x="10697845" y="4890770"/>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21521" name="等腰三角形 21520"/>
          <p:cNvSpPr/>
          <p:nvPr/>
        </p:nvSpPr>
        <p:spPr>
          <a:xfrm>
            <a:off x="10697845" y="5573395"/>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21522" name="直接连接符 21521"/>
          <p:cNvSpPr/>
          <p:nvPr/>
        </p:nvSpPr>
        <p:spPr>
          <a:xfrm flipV="1">
            <a:off x="8105458" y="2226945"/>
            <a:ext cx="2663825" cy="1439863"/>
          </a:xfrm>
          <a:prstGeom prst="line">
            <a:avLst/>
          </a:prstGeom>
          <a:ln w="38100" cap="flat" cmpd="sng">
            <a:solidFill>
              <a:schemeClr val="tx1"/>
            </a:solidFill>
            <a:prstDash val="solid"/>
            <a:headEnd type="none" w="sm" len="sm"/>
            <a:tailEnd type="none" w="sm" len="sm"/>
          </a:ln>
        </p:spPr>
      </p:sp>
      <p:sp>
        <p:nvSpPr>
          <p:cNvPr id="21523" name="直接连接符 21522"/>
          <p:cNvSpPr/>
          <p:nvPr/>
        </p:nvSpPr>
        <p:spPr>
          <a:xfrm flipV="1">
            <a:off x="8176895" y="2731770"/>
            <a:ext cx="2592388" cy="1006475"/>
          </a:xfrm>
          <a:prstGeom prst="line">
            <a:avLst/>
          </a:prstGeom>
          <a:ln w="38100" cap="flat" cmpd="sng">
            <a:solidFill>
              <a:schemeClr val="tx1"/>
            </a:solidFill>
            <a:prstDash val="solid"/>
            <a:headEnd type="none" w="sm" len="sm"/>
            <a:tailEnd type="none" w="sm" len="sm"/>
          </a:ln>
        </p:spPr>
      </p:sp>
      <p:sp>
        <p:nvSpPr>
          <p:cNvPr id="21524" name="直接连接符 21523"/>
          <p:cNvSpPr/>
          <p:nvPr/>
        </p:nvSpPr>
        <p:spPr>
          <a:xfrm flipV="1">
            <a:off x="8176895" y="3163570"/>
            <a:ext cx="2592388" cy="647700"/>
          </a:xfrm>
          <a:prstGeom prst="line">
            <a:avLst/>
          </a:prstGeom>
          <a:ln w="38100" cap="flat" cmpd="sng">
            <a:solidFill>
              <a:schemeClr val="tx1"/>
            </a:solidFill>
            <a:prstDash val="solid"/>
            <a:headEnd type="none" w="sm" len="sm"/>
            <a:tailEnd type="none" w="sm" len="sm"/>
          </a:ln>
        </p:spPr>
      </p:sp>
      <p:sp>
        <p:nvSpPr>
          <p:cNvPr id="21525" name="直接连接符 21524"/>
          <p:cNvSpPr/>
          <p:nvPr/>
        </p:nvSpPr>
        <p:spPr>
          <a:xfrm flipV="1">
            <a:off x="8105458" y="3666808"/>
            <a:ext cx="2663825" cy="288925"/>
          </a:xfrm>
          <a:prstGeom prst="line">
            <a:avLst/>
          </a:prstGeom>
          <a:ln w="38100" cap="flat" cmpd="sng">
            <a:solidFill>
              <a:schemeClr val="tx1"/>
            </a:solidFill>
            <a:prstDash val="solid"/>
            <a:headEnd type="none" w="sm" len="sm"/>
            <a:tailEnd type="none" w="sm" len="sm"/>
          </a:ln>
        </p:spPr>
      </p:sp>
      <p:sp>
        <p:nvSpPr>
          <p:cNvPr id="21526" name="直接连接符 21525"/>
          <p:cNvSpPr/>
          <p:nvPr/>
        </p:nvSpPr>
        <p:spPr>
          <a:xfrm flipV="1">
            <a:off x="8105458" y="4458970"/>
            <a:ext cx="2663825" cy="361950"/>
          </a:xfrm>
          <a:prstGeom prst="line">
            <a:avLst/>
          </a:prstGeom>
          <a:ln w="38100" cap="flat" cmpd="sng">
            <a:solidFill>
              <a:schemeClr val="tx1"/>
            </a:solidFill>
            <a:prstDash val="solid"/>
            <a:headEnd type="none" w="sm" len="sm"/>
            <a:tailEnd type="none" w="sm" len="sm"/>
          </a:ln>
        </p:spPr>
      </p:sp>
      <p:sp>
        <p:nvSpPr>
          <p:cNvPr id="21527" name="直接连接符 21526"/>
          <p:cNvSpPr/>
          <p:nvPr/>
        </p:nvSpPr>
        <p:spPr>
          <a:xfrm flipV="1">
            <a:off x="8105458" y="1795145"/>
            <a:ext cx="2689225" cy="1873250"/>
          </a:xfrm>
          <a:prstGeom prst="line">
            <a:avLst/>
          </a:prstGeom>
          <a:ln w="38100" cap="flat" cmpd="sng">
            <a:solidFill>
              <a:schemeClr val="tx1"/>
            </a:solidFill>
            <a:prstDash val="solid"/>
            <a:headEnd type="none" w="sm" len="sm"/>
            <a:tailEnd type="none" w="sm" len="sm"/>
          </a:ln>
        </p:spPr>
      </p:sp>
      <p:sp>
        <p:nvSpPr>
          <p:cNvPr id="21528" name="直接连接符 21527"/>
          <p:cNvSpPr/>
          <p:nvPr/>
        </p:nvSpPr>
        <p:spPr>
          <a:xfrm>
            <a:off x="8105775" y="4963795"/>
            <a:ext cx="2663825" cy="752475"/>
          </a:xfrm>
          <a:prstGeom prst="line">
            <a:avLst/>
          </a:prstGeom>
          <a:ln w="38100" cap="flat" cmpd="sng">
            <a:solidFill>
              <a:schemeClr val="tx1"/>
            </a:solidFill>
            <a:prstDash val="solid"/>
            <a:headEnd type="none" w="sm" len="sm"/>
            <a:tailEnd type="none" w="sm" len="sm"/>
          </a:ln>
        </p:spPr>
      </p:sp>
      <p:sp>
        <p:nvSpPr>
          <p:cNvPr id="21529" name="文本框 21528"/>
          <p:cNvSpPr txBox="1"/>
          <p:nvPr/>
        </p:nvSpPr>
        <p:spPr>
          <a:xfrm>
            <a:off x="9978708" y="1795145"/>
            <a:ext cx="503237"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0.4</a:t>
            </a:r>
            <a:endParaRPr lang="en-US" altLang="zh-CN" sz="1800" b="1">
              <a:solidFill>
                <a:srgbClr val="FF00FF"/>
              </a:solidFill>
              <a:latin typeface="Arial" panose="020B0604020202090204" pitchFamily="34" charset="0"/>
              <a:ea typeface="宋体" panose="02010600030101010101" pitchFamily="2" charset="-122"/>
            </a:endParaRPr>
          </a:p>
        </p:txBody>
      </p:sp>
      <p:sp>
        <p:nvSpPr>
          <p:cNvPr id="21530" name="文本框 21529"/>
          <p:cNvSpPr txBox="1"/>
          <p:nvPr/>
        </p:nvSpPr>
        <p:spPr>
          <a:xfrm>
            <a:off x="9978708" y="2155508"/>
            <a:ext cx="503237" cy="366712"/>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0.3</a:t>
            </a:r>
            <a:endParaRPr lang="en-US" altLang="zh-CN" sz="1800" b="1">
              <a:solidFill>
                <a:srgbClr val="FF00FF"/>
              </a:solidFill>
              <a:latin typeface="Arial" panose="020B0604020202090204" pitchFamily="34" charset="0"/>
              <a:ea typeface="宋体" panose="02010600030101010101" pitchFamily="2" charset="-122"/>
            </a:endParaRPr>
          </a:p>
        </p:txBody>
      </p:sp>
      <p:sp>
        <p:nvSpPr>
          <p:cNvPr id="21531" name="文本框 21530"/>
          <p:cNvSpPr txBox="1"/>
          <p:nvPr/>
        </p:nvSpPr>
        <p:spPr>
          <a:xfrm>
            <a:off x="9905683" y="2580958"/>
            <a:ext cx="720725" cy="366712"/>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0.15</a:t>
            </a:r>
            <a:endParaRPr lang="en-US" altLang="zh-CN" sz="1800" b="1">
              <a:solidFill>
                <a:srgbClr val="FF00FF"/>
              </a:solidFill>
              <a:latin typeface="Arial" panose="020B0604020202090204" pitchFamily="34" charset="0"/>
              <a:ea typeface="宋体" panose="02010600030101010101" pitchFamily="2" charset="-122"/>
            </a:endParaRPr>
          </a:p>
        </p:txBody>
      </p:sp>
      <p:sp>
        <p:nvSpPr>
          <p:cNvPr id="21532" name="文本框 21531"/>
          <p:cNvSpPr txBox="1"/>
          <p:nvPr/>
        </p:nvSpPr>
        <p:spPr>
          <a:xfrm>
            <a:off x="9905683" y="2947670"/>
            <a:ext cx="720725"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0.10</a:t>
            </a:r>
            <a:endParaRPr lang="en-US" altLang="zh-CN" sz="1800" b="1">
              <a:solidFill>
                <a:srgbClr val="FF00FF"/>
              </a:solidFill>
              <a:latin typeface="Arial" panose="020B0604020202090204" pitchFamily="34" charset="0"/>
              <a:ea typeface="宋体" panose="02010600030101010101" pitchFamily="2" charset="-122"/>
            </a:endParaRPr>
          </a:p>
        </p:txBody>
      </p:sp>
      <p:sp>
        <p:nvSpPr>
          <p:cNvPr id="21533" name="文本框 21532"/>
          <p:cNvSpPr txBox="1"/>
          <p:nvPr/>
        </p:nvSpPr>
        <p:spPr>
          <a:xfrm>
            <a:off x="9905683" y="3379470"/>
            <a:ext cx="720725"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0.05</a:t>
            </a:r>
            <a:endParaRPr lang="en-US" altLang="zh-CN" sz="1800" b="1">
              <a:solidFill>
                <a:srgbClr val="FF00FF"/>
              </a:solidFill>
              <a:latin typeface="Arial" panose="020B0604020202090204" pitchFamily="34" charset="0"/>
              <a:ea typeface="宋体" panose="02010600030101010101" pitchFamily="2" charset="-122"/>
            </a:endParaRPr>
          </a:p>
        </p:txBody>
      </p:sp>
      <p:sp>
        <p:nvSpPr>
          <p:cNvPr id="21534" name="文本框 21533"/>
          <p:cNvSpPr txBox="1"/>
          <p:nvPr/>
        </p:nvSpPr>
        <p:spPr>
          <a:xfrm>
            <a:off x="9761220" y="4243070"/>
            <a:ext cx="720725"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0.70</a:t>
            </a:r>
            <a:endParaRPr lang="en-US" altLang="zh-CN" sz="1800" b="1">
              <a:solidFill>
                <a:srgbClr val="FF00FF"/>
              </a:solidFill>
              <a:latin typeface="Arial" panose="020B0604020202090204" pitchFamily="34" charset="0"/>
              <a:ea typeface="宋体" panose="02010600030101010101" pitchFamily="2" charset="-122"/>
            </a:endParaRPr>
          </a:p>
        </p:txBody>
      </p:sp>
      <p:sp>
        <p:nvSpPr>
          <p:cNvPr id="21535" name="文本框 21534"/>
          <p:cNvSpPr txBox="1"/>
          <p:nvPr/>
        </p:nvSpPr>
        <p:spPr>
          <a:xfrm>
            <a:off x="9761220" y="4747895"/>
            <a:ext cx="720725"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0.20</a:t>
            </a:r>
            <a:endParaRPr lang="en-US" altLang="zh-CN" sz="1800" b="1">
              <a:solidFill>
                <a:srgbClr val="FF00FF"/>
              </a:solidFill>
              <a:latin typeface="Arial" panose="020B0604020202090204" pitchFamily="34" charset="0"/>
              <a:ea typeface="宋体" panose="02010600030101010101" pitchFamily="2" charset="-122"/>
            </a:endParaRPr>
          </a:p>
        </p:txBody>
      </p:sp>
      <p:sp>
        <p:nvSpPr>
          <p:cNvPr id="21536" name="文本框 21535"/>
          <p:cNvSpPr txBox="1"/>
          <p:nvPr/>
        </p:nvSpPr>
        <p:spPr>
          <a:xfrm>
            <a:off x="9761220" y="5106670"/>
            <a:ext cx="720725" cy="366713"/>
          </a:xfrm>
          <a:prstGeom prst="rect">
            <a:avLst/>
          </a:prstGeom>
          <a:noFill/>
          <a:ln w="12700">
            <a:noFill/>
          </a:ln>
        </p:spPr>
        <p:txBody>
          <a:bodyPr>
            <a:spAutoFit/>
          </a:bodyPr>
          <a:p>
            <a:pPr>
              <a:spcBef>
                <a:spcPct val="50000"/>
              </a:spcBef>
            </a:pPr>
            <a:r>
              <a:rPr lang="en-US" altLang="zh-CN" sz="1800" b="1">
                <a:solidFill>
                  <a:srgbClr val="FF00FF"/>
                </a:solidFill>
                <a:latin typeface="Arial" panose="020B0604020202090204" pitchFamily="34" charset="0"/>
                <a:ea typeface="宋体" panose="02010600030101010101" pitchFamily="2" charset="-122"/>
              </a:rPr>
              <a:t>0.10</a:t>
            </a:r>
            <a:endParaRPr lang="en-US" altLang="zh-CN" sz="1800" b="1">
              <a:solidFill>
                <a:srgbClr val="FF00FF"/>
              </a:solidFill>
              <a:latin typeface="Arial" panose="020B0604020202090204" pitchFamily="34" charset="0"/>
              <a:ea typeface="宋体" panose="02010600030101010101" pitchFamily="2" charset="-122"/>
            </a:endParaRPr>
          </a:p>
        </p:txBody>
      </p:sp>
      <p:sp>
        <p:nvSpPr>
          <p:cNvPr id="21537" name="文本框 21536"/>
          <p:cNvSpPr txBox="1"/>
          <p:nvPr/>
        </p:nvSpPr>
        <p:spPr>
          <a:xfrm>
            <a:off x="11058208" y="1579245"/>
            <a:ext cx="1284287" cy="549275"/>
          </a:xfrm>
          <a:prstGeom prst="rect">
            <a:avLst/>
          </a:prstGeom>
          <a:noFill/>
          <a:ln w="12700">
            <a:noFill/>
          </a:ln>
        </p:spPr>
        <p:txBody>
          <a:bodyPr>
            <a:spAutoFit/>
          </a:bodyPr>
          <a:p>
            <a:pPr>
              <a:spcBef>
                <a:spcPct val="50000"/>
              </a:spcBef>
            </a:pPr>
            <a:r>
              <a:rPr lang="en-US" altLang="zh-CN" sz="1800" b="1">
                <a:solidFill>
                  <a:srgbClr val="FF0066"/>
                </a:solidFill>
                <a:latin typeface="Arial" panose="020B0604020202090204" pitchFamily="34" charset="0"/>
                <a:ea typeface="宋体" panose="02010600030101010101" pitchFamily="2" charset="-122"/>
              </a:rPr>
              <a:t>24 </a:t>
            </a:r>
            <a:r>
              <a:rPr lang="en-US" altLang="zh-CN" sz="1200" b="1">
                <a:solidFill>
                  <a:srgbClr val="FF0066"/>
                </a:solidFill>
                <a:latin typeface="Arial" panose="020B0604020202090204" pitchFamily="34" charset="0"/>
                <a:ea typeface="宋体" panose="02010600030101010101" pitchFamily="2" charset="-122"/>
              </a:rPr>
              <a:t>(=800*2%*1.5)</a:t>
            </a:r>
            <a:endParaRPr lang="en-US" altLang="zh-CN" sz="1200" b="1">
              <a:solidFill>
                <a:srgbClr val="FF0066"/>
              </a:solidFill>
              <a:latin typeface="Arial" panose="020B0604020202090204" pitchFamily="34" charset="0"/>
              <a:ea typeface="宋体" panose="02010600030101010101" pitchFamily="2" charset="-122"/>
            </a:endParaRPr>
          </a:p>
        </p:txBody>
      </p:sp>
      <p:sp>
        <p:nvSpPr>
          <p:cNvPr id="21538" name="文本框 21537"/>
          <p:cNvSpPr txBox="1"/>
          <p:nvPr/>
        </p:nvSpPr>
        <p:spPr>
          <a:xfrm>
            <a:off x="11058208" y="2082483"/>
            <a:ext cx="503237" cy="366712"/>
          </a:xfrm>
          <a:prstGeom prst="rect">
            <a:avLst/>
          </a:prstGeom>
          <a:noFill/>
          <a:ln w="12700">
            <a:noFill/>
          </a:ln>
        </p:spPr>
        <p:txBody>
          <a:bodyPr>
            <a:spAutoFit/>
          </a:bodyPr>
          <a:p>
            <a:pPr>
              <a:spcBef>
                <a:spcPct val="50000"/>
              </a:spcBef>
            </a:pPr>
            <a:r>
              <a:rPr lang="en-US" altLang="zh-CN" sz="1800" b="1">
                <a:solidFill>
                  <a:srgbClr val="FF0066"/>
                </a:solidFill>
                <a:latin typeface="Arial" panose="020B0604020202090204" pitchFamily="34" charset="0"/>
                <a:ea typeface="宋体" panose="02010600030101010101" pitchFamily="2" charset="-122"/>
              </a:rPr>
              <a:t>60</a:t>
            </a:r>
            <a:endParaRPr lang="en-US" altLang="zh-CN" sz="1800" b="1">
              <a:solidFill>
                <a:srgbClr val="FF0066"/>
              </a:solidFill>
              <a:latin typeface="Arial" panose="020B0604020202090204" pitchFamily="34" charset="0"/>
              <a:ea typeface="宋体" panose="02010600030101010101" pitchFamily="2" charset="-122"/>
            </a:endParaRPr>
          </a:p>
        </p:txBody>
      </p:sp>
      <p:sp>
        <p:nvSpPr>
          <p:cNvPr id="21539" name="文本框 21538"/>
          <p:cNvSpPr txBox="1"/>
          <p:nvPr/>
        </p:nvSpPr>
        <p:spPr>
          <a:xfrm>
            <a:off x="11058208" y="2587308"/>
            <a:ext cx="647700" cy="366712"/>
          </a:xfrm>
          <a:prstGeom prst="rect">
            <a:avLst/>
          </a:prstGeom>
          <a:noFill/>
          <a:ln w="12700">
            <a:noFill/>
          </a:ln>
        </p:spPr>
        <p:txBody>
          <a:bodyPr>
            <a:spAutoFit/>
          </a:bodyPr>
          <a:p>
            <a:pPr>
              <a:spcBef>
                <a:spcPct val="50000"/>
              </a:spcBef>
            </a:pPr>
            <a:r>
              <a:rPr lang="en-US" altLang="zh-CN" sz="1800" b="1">
                <a:solidFill>
                  <a:srgbClr val="FF0066"/>
                </a:solidFill>
                <a:latin typeface="Arial" panose="020B0604020202090204" pitchFamily="34" charset="0"/>
                <a:ea typeface="宋体" panose="02010600030101010101" pitchFamily="2" charset="-122"/>
              </a:rPr>
              <a:t>120</a:t>
            </a:r>
            <a:endParaRPr lang="en-US" altLang="zh-CN" sz="1800" b="1">
              <a:solidFill>
                <a:srgbClr val="FF0066"/>
              </a:solidFill>
              <a:latin typeface="Arial" panose="020B0604020202090204" pitchFamily="34" charset="0"/>
              <a:ea typeface="宋体" panose="02010600030101010101" pitchFamily="2" charset="-122"/>
            </a:endParaRPr>
          </a:p>
        </p:txBody>
      </p:sp>
      <p:sp>
        <p:nvSpPr>
          <p:cNvPr id="21540" name="文本框 21539"/>
          <p:cNvSpPr txBox="1"/>
          <p:nvPr/>
        </p:nvSpPr>
        <p:spPr>
          <a:xfrm>
            <a:off x="11058208" y="3019108"/>
            <a:ext cx="719137" cy="366712"/>
          </a:xfrm>
          <a:prstGeom prst="rect">
            <a:avLst/>
          </a:prstGeom>
          <a:noFill/>
          <a:ln w="12700">
            <a:noFill/>
          </a:ln>
        </p:spPr>
        <p:txBody>
          <a:bodyPr>
            <a:spAutoFit/>
          </a:bodyPr>
          <a:p>
            <a:pPr>
              <a:spcBef>
                <a:spcPct val="50000"/>
              </a:spcBef>
            </a:pPr>
            <a:r>
              <a:rPr lang="en-US" altLang="zh-CN" sz="1800" b="1">
                <a:solidFill>
                  <a:srgbClr val="FF0066"/>
                </a:solidFill>
                <a:latin typeface="Arial" panose="020B0604020202090204" pitchFamily="34" charset="0"/>
                <a:ea typeface="宋体" panose="02010600030101010101" pitchFamily="2" charset="-122"/>
              </a:rPr>
              <a:t>180</a:t>
            </a:r>
            <a:endParaRPr lang="en-US" altLang="zh-CN" sz="1800" b="1">
              <a:solidFill>
                <a:srgbClr val="FF0066"/>
              </a:solidFill>
              <a:latin typeface="Arial" panose="020B0604020202090204" pitchFamily="34" charset="0"/>
              <a:ea typeface="宋体" panose="02010600030101010101" pitchFamily="2" charset="-122"/>
            </a:endParaRPr>
          </a:p>
        </p:txBody>
      </p:sp>
      <p:sp>
        <p:nvSpPr>
          <p:cNvPr id="21541" name="文本框 21540"/>
          <p:cNvSpPr txBox="1"/>
          <p:nvPr/>
        </p:nvSpPr>
        <p:spPr>
          <a:xfrm>
            <a:off x="11058208" y="3450908"/>
            <a:ext cx="792162" cy="366712"/>
          </a:xfrm>
          <a:prstGeom prst="rect">
            <a:avLst/>
          </a:prstGeom>
          <a:noFill/>
          <a:ln w="12700">
            <a:noFill/>
          </a:ln>
        </p:spPr>
        <p:txBody>
          <a:bodyPr>
            <a:spAutoFit/>
          </a:bodyPr>
          <a:p>
            <a:pPr>
              <a:spcBef>
                <a:spcPct val="50000"/>
              </a:spcBef>
            </a:pPr>
            <a:r>
              <a:rPr lang="en-US" altLang="zh-CN" sz="1800" b="1">
                <a:solidFill>
                  <a:srgbClr val="FF0066"/>
                </a:solidFill>
                <a:latin typeface="Arial" panose="020B0604020202090204" pitchFamily="34" charset="0"/>
                <a:ea typeface="宋体" panose="02010600030101010101" pitchFamily="2" charset="-122"/>
              </a:rPr>
              <a:t>240</a:t>
            </a:r>
            <a:endParaRPr lang="en-US" altLang="zh-CN" sz="1800" b="1">
              <a:solidFill>
                <a:srgbClr val="FF0066"/>
              </a:solidFill>
              <a:latin typeface="Arial" panose="020B0604020202090204" pitchFamily="34" charset="0"/>
              <a:ea typeface="宋体" panose="02010600030101010101" pitchFamily="2" charset="-122"/>
            </a:endParaRPr>
          </a:p>
        </p:txBody>
      </p:sp>
      <p:sp>
        <p:nvSpPr>
          <p:cNvPr id="21542" name="文本框 21541"/>
          <p:cNvSpPr txBox="1"/>
          <p:nvPr/>
        </p:nvSpPr>
        <p:spPr>
          <a:xfrm>
            <a:off x="11058208" y="4314508"/>
            <a:ext cx="503237" cy="366712"/>
          </a:xfrm>
          <a:prstGeom prst="rect">
            <a:avLst/>
          </a:prstGeom>
          <a:noFill/>
          <a:ln w="12700">
            <a:noFill/>
          </a:ln>
        </p:spPr>
        <p:txBody>
          <a:bodyPr>
            <a:spAutoFit/>
          </a:bodyPr>
          <a:p>
            <a:pPr>
              <a:spcBef>
                <a:spcPct val="50000"/>
              </a:spcBef>
            </a:pPr>
            <a:r>
              <a:rPr lang="en-US" altLang="zh-CN" sz="1800" b="1">
                <a:solidFill>
                  <a:srgbClr val="FF0066"/>
                </a:solidFill>
                <a:latin typeface="Arial" panose="020B0604020202090204" pitchFamily="34" charset="0"/>
                <a:ea typeface="宋体" panose="02010600030101010101" pitchFamily="2" charset="-122"/>
              </a:rPr>
              <a:t>24</a:t>
            </a:r>
            <a:endParaRPr lang="en-US" altLang="zh-CN" sz="1800" b="1">
              <a:solidFill>
                <a:srgbClr val="FF0066"/>
              </a:solidFill>
              <a:latin typeface="Arial" panose="020B0604020202090204" pitchFamily="34" charset="0"/>
              <a:ea typeface="宋体" panose="02010600030101010101" pitchFamily="2" charset="-122"/>
            </a:endParaRPr>
          </a:p>
        </p:txBody>
      </p:sp>
      <p:sp>
        <p:nvSpPr>
          <p:cNvPr id="21543" name="文本框 21542"/>
          <p:cNvSpPr txBox="1"/>
          <p:nvPr/>
        </p:nvSpPr>
        <p:spPr>
          <a:xfrm>
            <a:off x="11058208" y="4890770"/>
            <a:ext cx="503237" cy="366713"/>
          </a:xfrm>
          <a:prstGeom prst="rect">
            <a:avLst/>
          </a:prstGeom>
          <a:noFill/>
          <a:ln w="12700">
            <a:noFill/>
          </a:ln>
        </p:spPr>
        <p:txBody>
          <a:bodyPr>
            <a:spAutoFit/>
          </a:bodyPr>
          <a:p>
            <a:pPr>
              <a:spcBef>
                <a:spcPct val="50000"/>
              </a:spcBef>
            </a:pPr>
            <a:r>
              <a:rPr lang="en-US" altLang="zh-CN" sz="1800" b="1">
                <a:solidFill>
                  <a:srgbClr val="FF0066"/>
                </a:solidFill>
                <a:latin typeface="Arial" panose="020B0604020202090204" pitchFamily="34" charset="0"/>
                <a:ea typeface="宋体" panose="02010600030101010101" pitchFamily="2" charset="-122"/>
              </a:rPr>
              <a:t>96</a:t>
            </a:r>
            <a:endParaRPr lang="en-US" altLang="zh-CN" sz="1800" b="1">
              <a:solidFill>
                <a:srgbClr val="FF0066"/>
              </a:solidFill>
              <a:latin typeface="Arial" panose="020B0604020202090204" pitchFamily="34" charset="0"/>
              <a:ea typeface="宋体" panose="02010600030101010101" pitchFamily="2" charset="-122"/>
            </a:endParaRPr>
          </a:p>
        </p:txBody>
      </p:sp>
      <p:sp>
        <p:nvSpPr>
          <p:cNvPr id="21544" name="文本框 21543"/>
          <p:cNvSpPr txBox="1"/>
          <p:nvPr/>
        </p:nvSpPr>
        <p:spPr>
          <a:xfrm>
            <a:off x="11058208" y="5395595"/>
            <a:ext cx="792162" cy="366713"/>
          </a:xfrm>
          <a:prstGeom prst="rect">
            <a:avLst/>
          </a:prstGeom>
          <a:noFill/>
          <a:ln w="12700">
            <a:noFill/>
          </a:ln>
        </p:spPr>
        <p:txBody>
          <a:bodyPr>
            <a:spAutoFit/>
          </a:bodyPr>
          <a:p>
            <a:pPr>
              <a:spcBef>
                <a:spcPct val="50000"/>
              </a:spcBef>
            </a:pPr>
            <a:r>
              <a:rPr lang="en-US" altLang="zh-CN" sz="1800" b="1">
                <a:solidFill>
                  <a:srgbClr val="FF0066"/>
                </a:solidFill>
                <a:latin typeface="Arial" panose="020B0604020202090204" pitchFamily="34" charset="0"/>
                <a:ea typeface="宋体" panose="02010600030101010101" pitchFamily="2" charset="-122"/>
              </a:rPr>
              <a:t>110</a:t>
            </a:r>
            <a:endParaRPr lang="en-US" altLang="zh-CN" sz="1800" b="1">
              <a:solidFill>
                <a:srgbClr val="FF0066"/>
              </a:solidFill>
              <a:latin typeface="Arial" panose="020B0604020202090204" pitchFamily="34" charset="0"/>
              <a:ea typeface="宋体" panose="02010600030101010101" pitchFamily="2" charset="-122"/>
            </a:endParaRPr>
          </a:p>
        </p:txBody>
      </p:sp>
      <p:sp>
        <p:nvSpPr>
          <p:cNvPr id="21545" name="文本框 21544"/>
          <p:cNvSpPr txBox="1"/>
          <p:nvPr/>
        </p:nvSpPr>
        <p:spPr>
          <a:xfrm>
            <a:off x="117475" y="780415"/>
            <a:ext cx="6422390" cy="798830"/>
          </a:xfrm>
          <a:prstGeom prst="rect">
            <a:avLst/>
          </a:prstGeom>
          <a:solidFill>
            <a:schemeClr val="bg1"/>
          </a:solidFill>
          <a:ln w="12700">
            <a:noFill/>
          </a:ln>
        </p:spPr>
        <p:txBody>
          <a:bodyPr wrap="square">
            <a:spAutoFit/>
          </a:bodyPr>
          <a:p>
            <a:pPr lvl="0" algn="l">
              <a:lnSpc>
                <a:spcPct val="90000"/>
              </a:lnSpc>
              <a:spcBef>
                <a:spcPct val="50000"/>
              </a:spcBef>
            </a:pPr>
            <a:r>
              <a:rPr lang="zh-CN" altLang="en-US" sz="2000" dirty="0">
                <a:latin typeface="微软雅黑" charset="0"/>
                <a:ea typeface="微软雅黑" charset="0"/>
                <a:cs typeface="微软雅黑" charset="0"/>
                <a:sym typeface="+mn-ea"/>
              </a:rPr>
              <a:t>3. 计算结果节点的损益值，并标注在概率枝的右端。</a:t>
            </a:r>
            <a:endParaRPr lang="zh-CN" altLang="en-US" sz="2000" dirty="0">
              <a:latin typeface="微软雅黑" charset="0"/>
              <a:ea typeface="微软雅黑" charset="0"/>
              <a:cs typeface="微软雅黑" charset="0"/>
              <a:sym typeface="+mn-ea"/>
            </a:endParaRPr>
          </a:p>
          <a:p>
            <a:pPr lvl="0" algn="l">
              <a:lnSpc>
                <a:spcPct val="90000"/>
              </a:lnSpc>
              <a:spcBef>
                <a:spcPct val="50000"/>
              </a:spcBef>
            </a:pPr>
            <a:r>
              <a:rPr lang="zh-CN" altLang="en-US" sz="2000" dirty="0">
                <a:latin typeface="微软雅黑" charset="0"/>
                <a:ea typeface="微软雅黑" charset="0"/>
                <a:cs typeface="微软雅黑" charset="0"/>
                <a:sym typeface="+mn-ea"/>
              </a:rPr>
              <a:t>计算方法：费用=批量 * 次品率 * 单件费用</a:t>
            </a:r>
            <a:endParaRPr lang="zh-CN" altLang="en-US" sz="2000" dirty="0">
              <a:latin typeface="微软雅黑" charset="0"/>
              <a:ea typeface="微软雅黑" charset="0"/>
              <a:cs typeface="微软雅黑" charset="0"/>
              <a:sym typeface="+mn-ea"/>
            </a:endParaRPr>
          </a:p>
        </p:txBody>
      </p:sp>
      <p:graphicFrame>
        <p:nvGraphicFramePr>
          <p:cNvPr id="21549" name="对象 21548"/>
          <p:cNvGraphicFramePr/>
          <p:nvPr/>
        </p:nvGraphicFramePr>
        <p:xfrm>
          <a:off x="1883410" y="6956743"/>
          <a:ext cx="6002338" cy="439737"/>
        </p:xfrm>
        <a:graphic>
          <a:graphicData uri="http://schemas.openxmlformats.org/presentationml/2006/ole">
            <mc:AlternateContent xmlns:mc="http://schemas.openxmlformats.org/markup-compatibility/2006">
              <mc:Choice xmlns:v="urn:schemas-microsoft-com:vml" Requires="v">
                <p:oleObj spid="_x0000_s3076" name="" r:id="rId1" imgW="3463925" imgH="254000" progId="Equation.3">
                  <p:embed/>
                </p:oleObj>
              </mc:Choice>
              <mc:Fallback>
                <p:oleObj name="" r:id="rId1" imgW="3463925" imgH="254000" progId="Equation.3">
                  <p:embed/>
                  <p:pic>
                    <p:nvPicPr>
                      <p:cNvPr id="0" name="图片 3075"/>
                      <p:cNvPicPr/>
                      <p:nvPr/>
                    </p:nvPicPr>
                    <p:blipFill>
                      <a:blip r:embed="rId2">
                        <a:clrChange>
                          <a:clrFrom>
                            <a:srgbClr val="000000"/>
                          </a:clrFrom>
                          <a:clrTo>
                            <a:srgbClr val="000000"/>
                          </a:clrTo>
                        </a:clrChange>
                      </a:blip>
                      <a:stretch>
                        <a:fillRect/>
                      </a:stretch>
                    </p:blipFill>
                    <p:spPr>
                      <a:xfrm>
                        <a:off x="1883410" y="6956743"/>
                        <a:ext cx="6002338" cy="439737"/>
                      </a:xfrm>
                      <a:prstGeom prst="rect">
                        <a:avLst/>
                      </a:prstGeom>
                      <a:noFill/>
                      <a:ln w="38100">
                        <a:miter/>
                      </a:ln>
                    </p:spPr>
                  </p:pic>
                </p:oleObj>
              </mc:Fallback>
            </mc:AlternateContent>
          </a:graphicData>
        </a:graphic>
      </p:graphicFrame>
      <p:sp>
        <p:nvSpPr>
          <p:cNvPr id="21552" name="文本框 21551"/>
          <p:cNvSpPr txBox="1"/>
          <p:nvPr/>
        </p:nvSpPr>
        <p:spPr>
          <a:xfrm>
            <a:off x="7602220" y="3163570"/>
            <a:ext cx="792163" cy="368300"/>
          </a:xfrm>
          <a:prstGeom prst="rect">
            <a:avLst/>
          </a:prstGeom>
          <a:noFill/>
          <a:ln w="12700">
            <a:noFill/>
          </a:ln>
        </p:spPr>
        <p:txBody>
          <a:bodyPr>
            <a:spAutoFit/>
          </a:bodyPr>
          <a:p>
            <a:pPr>
              <a:spcBef>
                <a:spcPct val="50000"/>
              </a:spcBef>
            </a:pPr>
            <a:r>
              <a:rPr lang="en-US" altLang="zh-CN" sz="1800" b="1">
                <a:solidFill>
                  <a:schemeClr val="accent2"/>
                </a:solidFill>
                <a:latin typeface="Arial" panose="020B0604020202090204" pitchFamily="34" charset="0"/>
                <a:ea typeface="宋体" panose="02010600030101010101" pitchFamily="2" charset="-122"/>
              </a:rPr>
              <a:t>46.8</a:t>
            </a:r>
            <a:endParaRPr lang="en-US" altLang="zh-CN" sz="1800" b="1">
              <a:solidFill>
                <a:schemeClr val="accent2"/>
              </a:solidFill>
              <a:latin typeface="Arial" panose="020B0604020202090204" pitchFamily="34" charset="0"/>
              <a:ea typeface="宋体" panose="02010600030101010101" pitchFamily="2" charset="-122"/>
            </a:endParaRPr>
          </a:p>
        </p:txBody>
      </p:sp>
      <p:sp>
        <p:nvSpPr>
          <p:cNvPr id="21553" name="文本框 21552"/>
          <p:cNvSpPr txBox="1"/>
          <p:nvPr/>
        </p:nvSpPr>
        <p:spPr>
          <a:xfrm>
            <a:off x="7602220" y="4316095"/>
            <a:ext cx="792163" cy="368300"/>
          </a:xfrm>
          <a:prstGeom prst="rect">
            <a:avLst/>
          </a:prstGeom>
          <a:noFill/>
          <a:ln w="12700">
            <a:noFill/>
          </a:ln>
        </p:spPr>
        <p:txBody>
          <a:bodyPr>
            <a:spAutoFit/>
          </a:bodyPr>
          <a:p>
            <a:pPr>
              <a:spcBef>
                <a:spcPct val="50000"/>
              </a:spcBef>
            </a:pPr>
            <a:r>
              <a:rPr lang="en-US" altLang="zh-CN" sz="1800" b="1">
                <a:solidFill>
                  <a:schemeClr val="accent2"/>
                </a:solidFill>
                <a:latin typeface="Arial" panose="020B0604020202090204" pitchFamily="34" charset="0"/>
                <a:ea typeface="宋体" panose="02010600030101010101" pitchFamily="2" charset="-122"/>
              </a:rPr>
              <a:t>60</a:t>
            </a:r>
            <a:endParaRPr lang="en-US" altLang="zh-CN" sz="1800" b="1">
              <a:solidFill>
                <a:schemeClr val="accent2"/>
              </a:solidFill>
              <a:latin typeface="Arial" panose="020B0604020202090204" pitchFamily="34" charset="0"/>
              <a:ea typeface="宋体" panose="02010600030101010101" pitchFamily="2" charset="-122"/>
            </a:endParaRPr>
          </a:p>
        </p:txBody>
      </p:sp>
      <p:sp>
        <p:nvSpPr>
          <p:cNvPr id="3" name="文本框 2"/>
          <p:cNvSpPr txBox="1"/>
          <p:nvPr/>
        </p:nvSpPr>
        <p:spPr>
          <a:xfrm>
            <a:off x="117475" y="1684655"/>
            <a:ext cx="7044690" cy="1999615"/>
          </a:xfrm>
          <a:prstGeom prst="rect">
            <a:avLst/>
          </a:prstGeom>
          <a:noFill/>
        </p:spPr>
        <p:txBody>
          <a:bodyPr wrap="square" rtlCol="0" anchor="t">
            <a:spAutoFit/>
          </a:bodyPr>
          <a:p>
            <a:pPr>
              <a:lnSpc>
                <a:spcPct val="130000"/>
              </a:lnSpc>
              <a:spcBef>
                <a:spcPct val="50000"/>
              </a:spcBef>
            </a:pPr>
            <a:r>
              <a:rPr lang="en-US" altLang="zh-CN" sz="2000" dirty="0">
                <a:latin typeface="微软雅黑" charset="0"/>
                <a:ea typeface="微软雅黑" charset="0"/>
                <a:cs typeface="微软雅黑" charset="0"/>
                <a:sym typeface="+mn-ea"/>
              </a:rPr>
              <a:t>5. </a:t>
            </a:r>
            <a:r>
              <a:rPr lang="zh-CN" altLang="en-US" sz="2000" dirty="0">
                <a:latin typeface="微软雅黑" charset="0"/>
                <a:ea typeface="微软雅黑" charset="0"/>
                <a:cs typeface="微软雅黑" charset="0"/>
                <a:sym typeface="+mn-ea"/>
              </a:rPr>
              <a:t>计算各</a:t>
            </a:r>
            <a:r>
              <a:rPr lang="zh-CN" altLang="en-US" sz="2000" b="1" u="sng" dirty="0">
                <a:solidFill>
                  <a:schemeClr val="tx2"/>
                </a:solidFill>
                <a:latin typeface="微软雅黑" charset="0"/>
                <a:ea typeface="微软雅黑" charset="0"/>
                <a:cs typeface="微软雅黑" charset="0"/>
                <a:sym typeface="+mn-ea"/>
              </a:rPr>
              <a:t>方案的期望费用</a:t>
            </a:r>
            <a:endParaRPr lang="zh-CN" altLang="en-US" sz="2000" b="1" u="sng" dirty="0">
              <a:solidFill>
                <a:schemeClr val="tx2"/>
              </a:solidFill>
              <a:latin typeface="微软雅黑" charset="0"/>
              <a:ea typeface="微软雅黑" charset="0"/>
              <a:cs typeface="微软雅黑" charset="0"/>
            </a:endParaRPr>
          </a:p>
          <a:p>
            <a:pPr>
              <a:lnSpc>
                <a:spcPct val="130000"/>
              </a:lnSpc>
              <a:spcBef>
                <a:spcPct val="50000"/>
              </a:spcBef>
            </a:pPr>
            <a:r>
              <a:rPr lang="zh-CN" altLang="en-US" sz="2000" dirty="0">
                <a:latin typeface="微软雅黑" charset="0"/>
                <a:ea typeface="微软雅黑" charset="0"/>
                <a:cs typeface="微软雅黑" charset="0"/>
                <a:sym typeface="+mn-ea"/>
              </a:rPr>
              <a:t>原方案的期望费用与代表该方案的状态节点的期望费用</a:t>
            </a:r>
            <a:r>
              <a:rPr lang="en-US" altLang="zh-CN" sz="2000">
                <a:latin typeface="微软雅黑" charset="0"/>
                <a:ea typeface="微软雅黑" charset="0"/>
                <a:cs typeface="微软雅黑" charset="0"/>
                <a:sym typeface="+mn-ea"/>
              </a:rPr>
              <a:t>EMV</a:t>
            </a:r>
            <a:r>
              <a:rPr lang="en-US" altLang="zh-CN" sz="2000" baseline="-25000">
                <a:latin typeface="微软雅黑" charset="0"/>
                <a:ea typeface="微软雅黑" charset="0"/>
                <a:cs typeface="微软雅黑" charset="0"/>
                <a:sym typeface="+mn-ea"/>
              </a:rPr>
              <a:t>1</a:t>
            </a:r>
            <a:r>
              <a:rPr lang="zh-CN" altLang="en-US" sz="2000" dirty="0">
                <a:latin typeface="微软雅黑" charset="0"/>
                <a:ea typeface="微软雅黑" charset="0"/>
                <a:cs typeface="微软雅黑" charset="0"/>
                <a:sym typeface="+mn-ea"/>
              </a:rPr>
              <a:t>相等。即：</a:t>
            </a:r>
            <a:r>
              <a:rPr lang="en-US" altLang="zh-CN" sz="2000" dirty="0">
                <a:latin typeface="微软雅黑" charset="0"/>
                <a:ea typeface="微软雅黑" charset="0"/>
                <a:cs typeface="微软雅黑" charset="0"/>
                <a:sym typeface="+mn-ea"/>
              </a:rPr>
              <a:t>75.6</a:t>
            </a:r>
            <a:r>
              <a:rPr lang="zh-CN" altLang="en-US" sz="2000" dirty="0">
                <a:latin typeface="微软雅黑" charset="0"/>
                <a:ea typeface="微软雅黑" charset="0"/>
                <a:cs typeface="微软雅黑" charset="0"/>
                <a:sym typeface="+mn-ea"/>
              </a:rPr>
              <a:t>元。</a:t>
            </a:r>
            <a:endParaRPr lang="zh-CN" altLang="en-US" sz="2000" dirty="0">
              <a:latin typeface="微软雅黑" charset="0"/>
              <a:ea typeface="微软雅黑" charset="0"/>
              <a:cs typeface="微软雅黑" charset="0"/>
              <a:sym typeface="+mn-ea"/>
            </a:endParaRPr>
          </a:p>
          <a:p>
            <a:pPr>
              <a:lnSpc>
                <a:spcPct val="130000"/>
              </a:lnSpc>
              <a:spcBef>
                <a:spcPct val="50000"/>
              </a:spcBef>
            </a:pPr>
            <a:r>
              <a:rPr lang="en-US" altLang="zh-CN" sz="2000" dirty="0">
                <a:latin typeface="微软雅黑" charset="0"/>
                <a:ea typeface="微软雅黑" charset="0"/>
                <a:cs typeface="微软雅黑" charset="0"/>
                <a:sym typeface="+mn-ea"/>
              </a:rPr>
              <a:t>24*0.4+60*0.3+120*0.15+180*0.10+240*0.05=46.8</a:t>
            </a:r>
            <a:endParaRPr lang="zh-CN" altLang="en-US" sz="2000"/>
          </a:p>
        </p:txBody>
      </p:sp>
      <p:sp>
        <p:nvSpPr>
          <p:cNvPr id="4" name="文本框 3"/>
          <p:cNvSpPr txBox="1"/>
          <p:nvPr/>
        </p:nvSpPr>
        <p:spPr>
          <a:xfrm>
            <a:off x="117475" y="5684520"/>
            <a:ext cx="6951980" cy="1445260"/>
          </a:xfrm>
          <a:prstGeom prst="rect">
            <a:avLst/>
          </a:prstGeom>
          <a:noFill/>
        </p:spPr>
        <p:txBody>
          <a:bodyPr wrap="square" rtlCol="0" anchor="t">
            <a:spAutoFit/>
          </a:bodyPr>
          <a:p>
            <a:pPr>
              <a:lnSpc>
                <a:spcPct val="130000"/>
              </a:lnSpc>
              <a:spcBef>
                <a:spcPct val="50000"/>
              </a:spcBef>
            </a:pPr>
            <a:r>
              <a:rPr lang="zh-CN" altLang="en-US" sz="2000" dirty="0">
                <a:latin typeface="微软雅黑" charset="0"/>
                <a:ea typeface="微软雅黑" charset="0"/>
                <a:cs typeface="微软雅黑" charset="0"/>
                <a:sym typeface="+mn-ea"/>
              </a:rPr>
              <a:t>新方案的期望费用为：该方案状态节点的期望费用 </a:t>
            </a:r>
            <a:r>
              <a:rPr lang="en-US" altLang="zh-CN" sz="2000">
                <a:latin typeface="微软雅黑" charset="0"/>
                <a:ea typeface="微软雅黑" charset="0"/>
                <a:cs typeface="微软雅黑" charset="0"/>
                <a:sym typeface="+mn-ea"/>
              </a:rPr>
              <a:t>EMV</a:t>
            </a:r>
            <a:r>
              <a:rPr lang="en-US" altLang="zh-CN" sz="2000" baseline="-25000">
                <a:latin typeface="微软雅黑" charset="0"/>
                <a:ea typeface="微软雅黑" charset="0"/>
                <a:cs typeface="微软雅黑" charset="0"/>
                <a:sym typeface="+mn-ea"/>
              </a:rPr>
              <a:t>2</a:t>
            </a:r>
            <a:r>
              <a:rPr lang="en-US" altLang="zh-CN" sz="2000" dirty="0">
                <a:latin typeface="微软雅黑" charset="0"/>
                <a:ea typeface="微软雅黑" charset="0"/>
                <a:cs typeface="微软雅黑" charset="0"/>
                <a:sym typeface="+mn-ea"/>
              </a:rPr>
              <a:t> + </a:t>
            </a:r>
            <a:r>
              <a:rPr lang="zh-CN" altLang="en-US" sz="2000" dirty="0">
                <a:latin typeface="微软雅黑" charset="0"/>
                <a:ea typeface="微软雅黑" charset="0"/>
                <a:cs typeface="微软雅黑" charset="0"/>
                <a:sym typeface="+mn-ea"/>
              </a:rPr>
              <a:t>每批元件的处理费用</a:t>
            </a:r>
            <a:r>
              <a:rPr lang="en-US" altLang="zh-CN" sz="2000" dirty="0">
                <a:latin typeface="微软雅黑" charset="0"/>
                <a:ea typeface="微软雅黑" charset="0"/>
                <a:cs typeface="微软雅黑" charset="0"/>
                <a:sym typeface="+mn-ea"/>
              </a:rPr>
              <a:t>40</a:t>
            </a:r>
            <a:r>
              <a:rPr lang="zh-CN" altLang="en-US" sz="2000" dirty="0">
                <a:latin typeface="微软雅黑" charset="0"/>
                <a:ea typeface="微软雅黑" charset="0"/>
                <a:cs typeface="微软雅黑" charset="0"/>
                <a:sym typeface="+mn-ea"/>
              </a:rPr>
              <a:t>元。即：</a:t>
            </a:r>
            <a:r>
              <a:rPr lang="en-US" altLang="zh-CN" sz="2000" dirty="0">
                <a:latin typeface="微软雅黑" charset="0"/>
                <a:ea typeface="微软雅黑" charset="0"/>
                <a:cs typeface="微软雅黑" charset="0"/>
                <a:sym typeface="+mn-ea"/>
              </a:rPr>
              <a:t>60+40=100</a:t>
            </a:r>
            <a:r>
              <a:rPr lang="zh-CN" altLang="en-US" sz="2000" dirty="0">
                <a:latin typeface="微软雅黑" charset="0"/>
                <a:ea typeface="微软雅黑" charset="0"/>
                <a:cs typeface="微软雅黑" charset="0"/>
                <a:sym typeface="+mn-ea"/>
              </a:rPr>
              <a:t>元</a:t>
            </a:r>
            <a:endParaRPr lang="zh-CN" altLang="en-US" sz="2000" dirty="0">
              <a:latin typeface="微软雅黑" charset="0"/>
              <a:ea typeface="微软雅黑" charset="0"/>
              <a:cs typeface="微软雅黑" charset="0"/>
              <a:sym typeface="+mn-ea"/>
            </a:endParaRPr>
          </a:p>
          <a:p>
            <a:pPr>
              <a:lnSpc>
                <a:spcPct val="130000"/>
              </a:lnSpc>
              <a:spcBef>
                <a:spcPct val="50000"/>
              </a:spcBef>
            </a:pPr>
            <a:r>
              <a:rPr lang="en-US" altLang="zh-CN" sz="2000">
                <a:latin typeface="微软雅黑" charset="0"/>
                <a:ea typeface="微软雅黑" charset="0"/>
              </a:rPr>
              <a:t>EMV2=24*0.70+96*0.20+110*0.10=60</a:t>
            </a:r>
            <a:endParaRPr lang="en-US" altLang="zh-CN" sz="2000">
              <a:latin typeface="微软雅黑" charset="0"/>
              <a:ea typeface="微软雅黑" charset="0"/>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7605713" y="406368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9pPr>
          </a:lstStyle>
          <a:p>
            <a:pPr eaLnBrk="1" hangingPunct="1">
              <a:defRPr/>
            </a:pPr>
            <a:endParaRPr lang="zh-CN" altLang="en-US" kern="0" dirty="0"/>
          </a:p>
        </p:txBody>
      </p:sp>
      <p:sp>
        <p:nvSpPr>
          <p:cNvPr id="7"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610870" y="1178560"/>
            <a:ext cx="11048365" cy="3043555"/>
          </a:xfrm>
          <a:prstGeom prst="rect">
            <a:avLst/>
          </a:prstGeom>
          <a:noFill/>
        </p:spPr>
        <p:txBody>
          <a:bodyPr wrap="square" rtlCol="0" anchor="t">
            <a:spAutoFit/>
          </a:bodyPr>
          <a:p>
            <a:pPr>
              <a:lnSpc>
                <a:spcPct val="130000"/>
              </a:lnSpc>
              <a:spcBef>
                <a:spcPct val="50000"/>
              </a:spcBef>
            </a:pPr>
            <a:endParaRPr lang="zh-CN" altLang="en-US" sz="2400" dirty="0">
              <a:latin typeface="微软雅黑" charset="0"/>
              <a:ea typeface="微软雅黑" charset="0"/>
              <a:cs typeface="微软雅黑" charset="0"/>
            </a:endParaRPr>
          </a:p>
          <a:p>
            <a:pPr>
              <a:lnSpc>
                <a:spcPct val="130000"/>
              </a:lnSpc>
              <a:spcBef>
                <a:spcPct val="50000"/>
              </a:spcBef>
            </a:pPr>
            <a:endParaRPr lang="zh-CN" altLang="en-US" sz="2400" dirty="0">
              <a:latin typeface="微软雅黑" charset="0"/>
              <a:ea typeface="微软雅黑" charset="0"/>
              <a:cs typeface="微软雅黑" charset="0"/>
            </a:endParaRPr>
          </a:p>
          <a:p>
            <a:pPr>
              <a:lnSpc>
                <a:spcPct val="130000"/>
              </a:lnSpc>
              <a:spcBef>
                <a:spcPct val="50000"/>
              </a:spcBef>
            </a:pPr>
            <a:r>
              <a:rPr lang="en-US" altLang="zh-CN" sz="2400" dirty="0">
                <a:latin typeface="微软雅黑" charset="0"/>
                <a:ea typeface="微软雅黑" charset="0"/>
                <a:cs typeface="微软雅黑" charset="0"/>
                <a:sym typeface="+mn-ea"/>
              </a:rPr>
              <a:t>6. </a:t>
            </a:r>
            <a:r>
              <a:rPr lang="zh-CN" altLang="en-US" sz="2400" dirty="0">
                <a:latin typeface="微软雅黑" charset="0"/>
                <a:ea typeface="微软雅黑" charset="0"/>
                <a:cs typeface="微软雅黑" charset="0"/>
                <a:sym typeface="+mn-ea"/>
              </a:rPr>
              <a:t>决策。通过比较两个方案的费用，可以看出，采用原方案比改革工艺节省的期望费用为</a:t>
            </a:r>
            <a:r>
              <a:rPr lang="en-US" altLang="zh-CN" sz="2400" dirty="0">
                <a:latin typeface="微软雅黑" charset="0"/>
                <a:ea typeface="微软雅黑" charset="0"/>
                <a:cs typeface="微软雅黑" charset="0"/>
                <a:sym typeface="+mn-ea"/>
              </a:rPr>
              <a:t>100-46.8=153.2</a:t>
            </a:r>
            <a:r>
              <a:rPr lang="zh-CN" altLang="en-US" sz="2400" dirty="0">
                <a:latin typeface="微软雅黑" charset="0"/>
                <a:ea typeface="微软雅黑" charset="0"/>
                <a:cs typeface="微软雅黑" charset="0"/>
                <a:sym typeface="+mn-ea"/>
              </a:rPr>
              <a:t>元。</a:t>
            </a:r>
            <a:endParaRPr lang="zh-CN" altLang="en-US" sz="2400" dirty="0">
              <a:latin typeface="微软雅黑" charset="0"/>
              <a:ea typeface="微软雅黑" charset="0"/>
              <a:cs typeface="微软雅黑" charset="0"/>
            </a:endParaRPr>
          </a:p>
          <a:p>
            <a:pPr>
              <a:lnSpc>
                <a:spcPct val="130000"/>
              </a:lnSpc>
              <a:spcBef>
                <a:spcPct val="50000"/>
              </a:spcBef>
            </a:pPr>
            <a:r>
              <a:rPr lang="zh-CN" altLang="en-US" sz="2400" dirty="0">
                <a:latin typeface="微软雅黑" charset="0"/>
                <a:ea typeface="微软雅黑" charset="0"/>
                <a:cs typeface="微软雅黑" charset="0"/>
                <a:sym typeface="+mn-ea"/>
              </a:rPr>
              <a:t>    </a:t>
            </a:r>
            <a:r>
              <a:rPr lang="zh-CN" altLang="en-US" sz="2400" b="1" dirty="0">
                <a:solidFill>
                  <a:schemeClr val="tx2"/>
                </a:solidFill>
                <a:latin typeface="微软雅黑" charset="0"/>
                <a:ea typeface="微软雅黑" charset="0"/>
                <a:cs typeface="微软雅黑" charset="0"/>
                <a:sym typeface="+mn-ea"/>
              </a:rPr>
              <a:t>决策结果：采用原来的方案。</a:t>
            </a:r>
            <a:endParaRPr lang="zh-CN" altLang="en-US" sz="2400">
              <a:latin typeface="微软雅黑" charset="0"/>
              <a:ea typeface="微软雅黑" charset="0"/>
              <a:cs typeface="微软雅黑" charset="0"/>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7605713" y="406368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90204" pitchFamily="34" charset="0"/>
              <a:buChar char="•"/>
              <a:defRPr>
                <a:solidFill>
                  <a:schemeClr val="tx1"/>
                </a:solidFill>
                <a:latin typeface="+mn-lt"/>
                <a:ea typeface="+mn-ea"/>
              </a:defRPr>
            </a:lvl9pPr>
          </a:lstStyle>
          <a:p>
            <a:pPr eaLnBrk="1" hangingPunct="1">
              <a:defRPr/>
            </a:pPr>
            <a:endParaRPr lang="zh-CN" altLang="en-US" kern="0" dirty="0"/>
          </a:p>
        </p:txBody>
      </p:sp>
      <p:sp>
        <p:nvSpPr>
          <p:cNvPr id="7"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endParaRPr lang="zh-CN" altLang="en-US" sz="2400" b="1" dirty="0">
              <a:solidFill>
                <a:srgbClr val="01395C"/>
              </a:solidFill>
              <a:latin typeface="方正粗宋简体"/>
              <a:ea typeface="方正粗宋简体"/>
              <a:cs typeface="方正粗宋简体"/>
            </a:endParaRPr>
          </a:p>
        </p:txBody>
      </p:sp>
      <p:sp>
        <p:nvSpPr>
          <p:cNvPr id="2" name="文本框 1"/>
          <p:cNvSpPr txBox="1"/>
          <p:nvPr/>
        </p:nvSpPr>
        <p:spPr>
          <a:xfrm>
            <a:off x="360680" y="680720"/>
            <a:ext cx="11573510" cy="5262245"/>
          </a:xfrm>
          <a:prstGeom prst="rect">
            <a:avLst/>
          </a:prstGeom>
          <a:noFill/>
        </p:spPr>
        <p:txBody>
          <a:bodyPr wrap="square" rtlCol="0" anchor="t">
            <a:spAutoFit/>
          </a:bodyPr>
          <a:p>
            <a:pPr>
              <a:buNone/>
            </a:pPr>
            <a:r>
              <a:rPr lang="zh-CN" altLang="en-US" sz="2800" dirty="0">
                <a:latin typeface="微软雅黑" charset="0"/>
                <a:ea typeface="微软雅黑" charset="0"/>
                <a:cs typeface="微软雅黑" charset="0"/>
                <a:sym typeface="+mn-ea"/>
              </a:rPr>
              <a:t>例题</a:t>
            </a:r>
            <a:endParaRPr lang="zh-CN" altLang="en-US" sz="2800" dirty="0">
              <a:latin typeface="微软雅黑" charset="0"/>
              <a:ea typeface="微软雅黑" charset="0"/>
              <a:cs typeface="微软雅黑" charset="0"/>
              <a:sym typeface="+mn-ea"/>
            </a:endParaRPr>
          </a:p>
          <a:p>
            <a:pPr>
              <a:buNone/>
            </a:pPr>
            <a:endParaRPr lang="zh-CN" altLang="en-US" sz="2800" dirty="0">
              <a:latin typeface="微软雅黑" charset="0"/>
              <a:ea typeface="微软雅黑" charset="0"/>
              <a:cs typeface="微软雅黑" charset="0"/>
            </a:endParaRPr>
          </a:p>
          <a:p>
            <a:pPr>
              <a:buNone/>
            </a:pPr>
            <a:r>
              <a:rPr lang="zh-CN" altLang="en-US" sz="2800" dirty="0">
                <a:latin typeface="微软雅黑" charset="0"/>
                <a:ea typeface="微软雅黑" charset="0"/>
                <a:cs typeface="微软雅黑" charset="0"/>
                <a:sym typeface="+mn-ea"/>
              </a:rPr>
              <a:t>   有一块海上油田进行勘探和开采的招标。根据地震试验资料的分析：</a:t>
            </a:r>
            <a:endParaRPr lang="zh-CN" altLang="en-US" sz="2800" dirty="0">
              <a:latin typeface="微软雅黑" charset="0"/>
              <a:ea typeface="微软雅黑" charset="0"/>
              <a:cs typeface="微软雅黑" charset="0"/>
              <a:sym typeface="+mn-ea"/>
            </a:endParaRPr>
          </a:p>
          <a:p>
            <a:pPr>
              <a:buNone/>
            </a:pPr>
            <a:endParaRPr lang="zh-CN" altLang="en-US" sz="2800" dirty="0">
              <a:latin typeface="微软雅黑" charset="0"/>
              <a:ea typeface="微软雅黑" charset="0"/>
              <a:cs typeface="微软雅黑" charset="0"/>
              <a:sym typeface="+mn-ea"/>
            </a:endParaRPr>
          </a:p>
          <a:p>
            <a:pPr>
              <a:buNone/>
            </a:pPr>
            <a:r>
              <a:rPr lang="zh-CN" altLang="en-US" sz="2800" dirty="0">
                <a:latin typeface="微软雅黑" charset="0"/>
                <a:ea typeface="微软雅黑" charset="0"/>
                <a:cs typeface="微软雅黑" charset="0"/>
                <a:sym typeface="+mn-ea"/>
              </a:rPr>
              <a:t>找到大油田的概率为</a:t>
            </a:r>
            <a:r>
              <a:rPr lang="en-US" altLang="zh-CN" sz="2800" dirty="0">
                <a:latin typeface="微软雅黑" charset="0"/>
                <a:ea typeface="微软雅黑" charset="0"/>
                <a:cs typeface="微软雅黑" charset="0"/>
                <a:sym typeface="+mn-ea"/>
              </a:rPr>
              <a:t>0.3</a:t>
            </a:r>
            <a:r>
              <a:rPr lang="zh-CN" altLang="en-US" sz="2800" dirty="0">
                <a:latin typeface="微软雅黑" charset="0"/>
                <a:ea typeface="微软雅黑" charset="0"/>
                <a:cs typeface="微软雅黑" charset="0"/>
                <a:sym typeface="+mn-ea"/>
              </a:rPr>
              <a:t>，开采期内可赚取</a:t>
            </a:r>
            <a:r>
              <a:rPr lang="en-US" altLang="zh-CN" sz="2800" dirty="0">
                <a:latin typeface="微软雅黑" charset="0"/>
                <a:ea typeface="微软雅黑" charset="0"/>
                <a:cs typeface="微软雅黑" charset="0"/>
                <a:sym typeface="+mn-ea"/>
              </a:rPr>
              <a:t>20</a:t>
            </a:r>
            <a:r>
              <a:rPr lang="zh-CN" altLang="en-US" sz="2800" dirty="0">
                <a:latin typeface="微软雅黑" charset="0"/>
                <a:ea typeface="微软雅黑" charset="0"/>
                <a:cs typeface="微软雅黑" charset="0"/>
                <a:sym typeface="+mn-ea"/>
              </a:rPr>
              <a:t>亿元；</a:t>
            </a:r>
            <a:endParaRPr lang="zh-CN" altLang="en-US" sz="2800" dirty="0">
              <a:latin typeface="微软雅黑" charset="0"/>
              <a:ea typeface="微软雅黑" charset="0"/>
              <a:cs typeface="微软雅黑" charset="0"/>
              <a:sym typeface="+mn-ea"/>
            </a:endParaRPr>
          </a:p>
          <a:p>
            <a:pPr>
              <a:buNone/>
            </a:pPr>
            <a:r>
              <a:rPr lang="zh-CN" altLang="en-US" sz="2800" dirty="0">
                <a:latin typeface="微软雅黑" charset="0"/>
                <a:ea typeface="微软雅黑" charset="0"/>
                <a:cs typeface="微软雅黑" charset="0"/>
                <a:sym typeface="+mn-ea"/>
              </a:rPr>
              <a:t>找到中油田的概率为</a:t>
            </a:r>
            <a:r>
              <a:rPr lang="en-US" altLang="zh-CN" sz="2800" dirty="0">
                <a:latin typeface="微软雅黑" charset="0"/>
                <a:ea typeface="微软雅黑" charset="0"/>
                <a:cs typeface="微软雅黑" charset="0"/>
                <a:sym typeface="+mn-ea"/>
              </a:rPr>
              <a:t>0.4</a:t>
            </a:r>
            <a:r>
              <a:rPr lang="zh-CN" altLang="en-US" sz="2800" dirty="0">
                <a:latin typeface="微软雅黑" charset="0"/>
                <a:ea typeface="微软雅黑" charset="0"/>
                <a:cs typeface="微软雅黑" charset="0"/>
                <a:sym typeface="+mn-ea"/>
              </a:rPr>
              <a:t>，开采期内可赚取</a:t>
            </a:r>
            <a:r>
              <a:rPr lang="en-US" altLang="zh-CN" sz="2800" dirty="0">
                <a:latin typeface="微软雅黑" charset="0"/>
                <a:ea typeface="微软雅黑" charset="0"/>
                <a:cs typeface="微软雅黑" charset="0"/>
                <a:sym typeface="+mn-ea"/>
              </a:rPr>
              <a:t>10</a:t>
            </a:r>
            <a:r>
              <a:rPr lang="zh-CN" altLang="en-US" sz="2800" dirty="0">
                <a:latin typeface="微软雅黑" charset="0"/>
                <a:ea typeface="微软雅黑" charset="0"/>
                <a:cs typeface="微软雅黑" charset="0"/>
                <a:sym typeface="+mn-ea"/>
              </a:rPr>
              <a:t>亿元；</a:t>
            </a:r>
            <a:endParaRPr lang="zh-CN" altLang="en-US" sz="2800" dirty="0">
              <a:latin typeface="微软雅黑" charset="0"/>
              <a:ea typeface="微软雅黑" charset="0"/>
              <a:cs typeface="微软雅黑" charset="0"/>
              <a:sym typeface="+mn-ea"/>
            </a:endParaRPr>
          </a:p>
          <a:p>
            <a:pPr>
              <a:buNone/>
            </a:pPr>
            <a:r>
              <a:rPr lang="zh-CN" altLang="en-US" sz="2800" dirty="0">
                <a:latin typeface="微软雅黑" charset="0"/>
                <a:ea typeface="微软雅黑" charset="0"/>
                <a:cs typeface="微软雅黑" charset="0"/>
                <a:sym typeface="+mn-ea"/>
              </a:rPr>
              <a:t>找到小油田的概率为</a:t>
            </a:r>
            <a:r>
              <a:rPr lang="en-US" altLang="zh-CN" sz="2800" dirty="0">
                <a:latin typeface="微软雅黑" charset="0"/>
                <a:ea typeface="微软雅黑" charset="0"/>
                <a:cs typeface="微软雅黑" charset="0"/>
                <a:sym typeface="+mn-ea"/>
              </a:rPr>
              <a:t>0.2</a:t>
            </a:r>
            <a:r>
              <a:rPr lang="zh-CN" altLang="en-US" sz="2800" dirty="0">
                <a:latin typeface="微软雅黑" charset="0"/>
                <a:ea typeface="微软雅黑" charset="0"/>
                <a:cs typeface="微软雅黑" charset="0"/>
                <a:sym typeface="+mn-ea"/>
              </a:rPr>
              <a:t>，开采期内可赚取</a:t>
            </a:r>
            <a:r>
              <a:rPr lang="en-US" altLang="zh-CN" sz="2800" dirty="0">
                <a:latin typeface="微软雅黑" charset="0"/>
                <a:ea typeface="微软雅黑" charset="0"/>
                <a:cs typeface="微软雅黑" charset="0"/>
                <a:sym typeface="+mn-ea"/>
              </a:rPr>
              <a:t>3</a:t>
            </a:r>
            <a:r>
              <a:rPr lang="zh-CN" altLang="en-US" sz="2800" dirty="0">
                <a:latin typeface="微软雅黑" charset="0"/>
                <a:ea typeface="微软雅黑" charset="0"/>
                <a:cs typeface="微软雅黑" charset="0"/>
                <a:sym typeface="+mn-ea"/>
              </a:rPr>
              <a:t>亿元；</a:t>
            </a:r>
            <a:endParaRPr lang="zh-CN" altLang="en-US" sz="2800" dirty="0">
              <a:latin typeface="微软雅黑" charset="0"/>
              <a:ea typeface="微软雅黑" charset="0"/>
              <a:cs typeface="微软雅黑" charset="0"/>
              <a:sym typeface="+mn-ea"/>
            </a:endParaRPr>
          </a:p>
          <a:p>
            <a:pPr>
              <a:buNone/>
            </a:pPr>
            <a:r>
              <a:rPr lang="zh-CN" altLang="en-US" sz="2800" dirty="0">
                <a:latin typeface="微软雅黑" charset="0"/>
                <a:ea typeface="微软雅黑" charset="0"/>
                <a:cs typeface="微软雅黑" charset="0"/>
                <a:sym typeface="+mn-ea"/>
              </a:rPr>
              <a:t>油田无工业开采价值的概率为</a:t>
            </a:r>
            <a:r>
              <a:rPr lang="en-US" altLang="zh-CN" sz="2800" dirty="0">
                <a:latin typeface="微软雅黑" charset="0"/>
                <a:ea typeface="微软雅黑" charset="0"/>
                <a:cs typeface="微软雅黑" charset="0"/>
                <a:sym typeface="+mn-ea"/>
              </a:rPr>
              <a:t>0.1</a:t>
            </a:r>
            <a:r>
              <a:rPr lang="zh-CN" altLang="en-US" sz="2800" dirty="0">
                <a:latin typeface="微软雅黑" charset="0"/>
                <a:ea typeface="微软雅黑" charset="0"/>
                <a:cs typeface="微软雅黑" charset="0"/>
                <a:sym typeface="+mn-ea"/>
              </a:rPr>
              <a:t>。</a:t>
            </a:r>
            <a:endParaRPr lang="zh-CN" altLang="en-US" sz="2800" dirty="0">
              <a:latin typeface="微软雅黑" charset="0"/>
              <a:ea typeface="微软雅黑" charset="0"/>
              <a:cs typeface="微软雅黑" charset="0"/>
              <a:sym typeface="+mn-ea"/>
            </a:endParaRPr>
          </a:p>
          <a:p>
            <a:pPr>
              <a:buNone/>
            </a:pPr>
            <a:endParaRPr lang="zh-CN" altLang="en-US" sz="2800" dirty="0">
              <a:latin typeface="微软雅黑" charset="0"/>
              <a:ea typeface="微软雅黑" charset="0"/>
              <a:cs typeface="微软雅黑" charset="0"/>
              <a:sym typeface="+mn-ea"/>
            </a:endParaRPr>
          </a:p>
          <a:p>
            <a:pPr>
              <a:buNone/>
            </a:pPr>
            <a:r>
              <a:rPr lang="zh-CN" altLang="en-US" sz="2800" dirty="0">
                <a:latin typeface="微软雅黑" charset="0"/>
                <a:ea typeface="微软雅黑" charset="0"/>
                <a:cs typeface="微软雅黑" charset="0"/>
                <a:sym typeface="+mn-ea"/>
              </a:rPr>
              <a:t>按招标规定，开采前的勘探等费用均由中标者负担，预期约</a:t>
            </a:r>
            <a:r>
              <a:rPr lang="en-US" altLang="zh-CN" sz="2800" dirty="0">
                <a:latin typeface="微软雅黑" charset="0"/>
                <a:ea typeface="微软雅黑" charset="0"/>
                <a:cs typeface="微软雅黑" charset="0"/>
                <a:sym typeface="+mn-ea"/>
              </a:rPr>
              <a:t>1.2</a:t>
            </a:r>
            <a:r>
              <a:rPr lang="zh-CN" altLang="en-US" sz="2800" dirty="0">
                <a:latin typeface="微软雅黑" charset="0"/>
                <a:ea typeface="微软雅黑" charset="0"/>
                <a:cs typeface="微软雅黑" charset="0"/>
                <a:sym typeface="+mn-ea"/>
              </a:rPr>
              <a:t>亿元，以后不论油田规模多大，开采期内赚取的利润中标者分成</a:t>
            </a:r>
            <a:r>
              <a:rPr lang="en-US" altLang="zh-CN" sz="2800" dirty="0">
                <a:latin typeface="微软雅黑" charset="0"/>
                <a:ea typeface="微软雅黑" charset="0"/>
                <a:cs typeface="微软雅黑" charset="0"/>
                <a:sym typeface="+mn-ea"/>
              </a:rPr>
              <a:t>30%</a:t>
            </a:r>
            <a:r>
              <a:rPr lang="zh-CN" altLang="en-US" sz="2800" dirty="0">
                <a:latin typeface="微软雅黑" charset="0"/>
                <a:ea typeface="微软雅黑" charset="0"/>
                <a:cs typeface="微软雅黑" charset="0"/>
                <a:sym typeface="+mn-ea"/>
              </a:rPr>
              <a:t>。试按期望值法确定最优决策（是否参加投标）。</a:t>
            </a:r>
            <a:endParaRPr lang="zh-CN" altLang="en-US" sz="2800">
              <a:latin typeface="微软雅黑" charset="0"/>
              <a:ea typeface="微软雅黑" charset="0"/>
              <a:cs typeface="微软雅黑"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endParaRPr lang="zh-CN" altLang="en-US" sz="2400" b="1" dirty="0">
              <a:solidFill>
                <a:srgbClr val="01395C"/>
              </a:solidFill>
              <a:latin typeface="方正粗宋简体"/>
              <a:ea typeface="方正粗宋简体"/>
              <a:cs typeface="方正粗宋简体"/>
            </a:endParaRPr>
          </a:p>
        </p:txBody>
      </p:sp>
      <p:sp>
        <p:nvSpPr>
          <p:cNvPr id="129029" name="文本框 129028"/>
          <p:cNvSpPr txBox="1"/>
          <p:nvPr/>
        </p:nvSpPr>
        <p:spPr>
          <a:xfrm>
            <a:off x="1619250" y="2781300"/>
            <a:ext cx="503238" cy="434975"/>
          </a:xfrm>
          <a:prstGeom prst="rect">
            <a:avLst/>
          </a:prstGeom>
          <a:noFill/>
          <a:ln w="38100" cap="flat" cmpd="sng">
            <a:solidFill>
              <a:schemeClr val="tx1"/>
            </a:solidFill>
            <a:prstDash val="solid"/>
            <a:miter/>
            <a:headEnd type="none" w="sm" len="sm"/>
            <a:tailEnd type="none" w="sm" len="sm"/>
          </a:ln>
        </p:spPr>
        <p:txBody>
          <a:bodyPr>
            <a:spAutoFit/>
          </a:bodyPr>
          <a:p>
            <a:pPr algn="ctr">
              <a:spcBef>
                <a:spcPct val="50000"/>
              </a:spcBef>
            </a:pPr>
            <a:endParaRPr sz="2000" b="1" dirty="0">
              <a:latin typeface="Arial" panose="020B0604020202090204" pitchFamily="34" charset="0"/>
              <a:ea typeface="宋体" panose="02010600030101010101" pitchFamily="2" charset="-122"/>
            </a:endParaRPr>
          </a:p>
        </p:txBody>
      </p:sp>
      <p:sp>
        <p:nvSpPr>
          <p:cNvPr id="129030" name="椭圆 129029"/>
          <p:cNvSpPr/>
          <p:nvPr/>
        </p:nvSpPr>
        <p:spPr>
          <a:xfrm>
            <a:off x="3590925" y="1930400"/>
            <a:ext cx="620713" cy="561975"/>
          </a:xfrm>
          <a:prstGeom prst="ellipse">
            <a:avLst/>
          </a:prstGeom>
          <a:noFill/>
          <a:ln w="38100" cap="flat" cmpd="sng">
            <a:solidFill>
              <a:schemeClr val="tx1"/>
            </a:solidFill>
            <a:prstDash val="solid"/>
            <a:headEnd type="none" w="sm" len="sm"/>
            <a:tailEnd type="none" w="sm" len="sm"/>
          </a:ln>
        </p:spPr>
        <p:txBody>
          <a:bodyPr>
            <a:spAutoFit/>
          </a:bodyPr>
          <a:p>
            <a:pPr algn="ctr">
              <a:spcBef>
                <a:spcPct val="50000"/>
              </a:spcBef>
            </a:pPr>
            <a:endParaRPr sz="2000" b="1" dirty="0">
              <a:latin typeface="Arial" panose="020B0604020202090204" pitchFamily="34" charset="0"/>
              <a:ea typeface="宋体" panose="02010600030101010101" pitchFamily="2" charset="-122"/>
            </a:endParaRPr>
          </a:p>
        </p:txBody>
      </p:sp>
      <p:sp>
        <p:nvSpPr>
          <p:cNvPr id="129032" name="等腰三角形 129031"/>
          <p:cNvSpPr/>
          <p:nvPr/>
        </p:nvSpPr>
        <p:spPr>
          <a:xfrm>
            <a:off x="7307263" y="1339850"/>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129033" name="等腰三角形 129032"/>
          <p:cNvSpPr/>
          <p:nvPr/>
        </p:nvSpPr>
        <p:spPr>
          <a:xfrm>
            <a:off x="7307263" y="2058988"/>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129034" name="等腰三角形 129033"/>
          <p:cNvSpPr/>
          <p:nvPr/>
        </p:nvSpPr>
        <p:spPr>
          <a:xfrm>
            <a:off x="7307263" y="2852738"/>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wrap="none" anchor="ctr"/>
          <a:p>
            <a:pPr algn="ctr">
              <a:buClr>
                <a:schemeClr val="bg1"/>
              </a:buClr>
            </a:pPr>
            <a:endParaRPr dirty="0">
              <a:latin typeface="Tahoma" panose="020B0604030504040204" pitchFamily="34" charset="0"/>
              <a:ea typeface="华文彩云" pitchFamily="2" charset="-122"/>
            </a:endParaRPr>
          </a:p>
        </p:txBody>
      </p:sp>
      <p:sp>
        <p:nvSpPr>
          <p:cNvPr id="129035" name="等腰三角形 129034"/>
          <p:cNvSpPr/>
          <p:nvPr/>
        </p:nvSpPr>
        <p:spPr>
          <a:xfrm>
            <a:off x="7307263" y="3500438"/>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sp>
        <p:nvSpPr>
          <p:cNvPr id="129036" name="等腰三角形 129035"/>
          <p:cNvSpPr/>
          <p:nvPr/>
        </p:nvSpPr>
        <p:spPr>
          <a:xfrm>
            <a:off x="7307263" y="4221163"/>
            <a:ext cx="288925" cy="288925"/>
          </a:xfrm>
          <a:prstGeom prst="triangle">
            <a:avLst>
              <a:gd name="adj" fmla="val 50000"/>
            </a:avLst>
          </a:prstGeom>
          <a:noFill/>
          <a:ln w="38100" cap="flat" cmpd="sng">
            <a:solidFill>
              <a:schemeClr val="tx1"/>
            </a:solidFill>
            <a:prstDash val="solid"/>
            <a:miter/>
            <a:headEnd type="none" w="sm" len="sm"/>
            <a:tailEnd type="none" w="sm" len="sm"/>
          </a:ln>
        </p:spPr>
        <p:txBody>
          <a:bodyPr/>
          <a:p>
            <a:endParaRPr lang="zh-CN" altLang="en-US"/>
          </a:p>
        </p:txBody>
      </p:sp>
      <p:cxnSp>
        <p:nvCxnSpPr>
          <p:cNvPr id="129037" name="直接箭头连接符 129036"/>
          <p:cNvCxnSpPr>
            <a:stCxn id="129029" idx="3"/>
            <a:endCxn id="129030" idx="2"/>
          </p:cNvCxnSpPr>
          <p:nvPr/>
        </p:nvCxnSpPr>
        <p:spPr>
          <a:xfrm flipV="1">
            <a:off x="2141538" y="2211388"/>
            <a:ext cx="1430337" cy="787400"/>
          </a:xfrm>
          <a:prstGeom prst="straightConnector1">
            <a:avLst/>
          </a:prstGeom>
          <a:ln w="9525" cap="flat" cmpd="sng">
            <a:solidFill>
              <a:schemeClr val="tx1"/>
            </a:solidFill>
            <a:prstDash val="solid"/>
            <a:miter/>
            <a:headEnd type="none" w="med" len="med"/>
            <a:tailEnd type="none" w="med" len="med"/>
          </a:ln>
        </p:spPr>
      </p:cxnSp>
      <p:cxnSp>
        <p:nvCxnSpPr>
          <p:cNvPr id="129039" name="直接箭头连接符 129038"/>
          <p:cNvCxnSpPr>
            <a:stCxn id="129030" idx="6"/>
            <a:endCxn id="129033" idx="1"/>
          </p:cNvCxnSpPr>
          <p:nvPr/>
        </p:nvCxnSpPr>
        <p:spPr>
          <a:xfrm flipV="1">
            <a:off x="4230688" y="2203450"/>
            <a:ext cx="3130550" cy="7938"/>
          </a:xfrm>
          <a:prstGeom prst="straightConnector1">
            <a:avLst/>
          </a:prstGeom>
          <a:ln w="9525" cap="flat" cmpd="sng">
            <a:solidFill>
              <a:schemeClr val="tx1"/>
            </a:solidFill>
            <a:prstDash val="solid"/>
            <a:miter/>
            <a:headEnd type="none" w="med" len="med"/>
            <a:tailEnd type="none" w="med" len="med"/>
          </a:ln>
        </p:spPr>
      </p:cxnSp>
      <p:sp>
        <p:nvSpPr>
          <p:cNvPr id="129046" name="任意多边形 129045"/>
          <p:cNvSpPr/>
          <p:nvPr/>
        </p:nvSpPr>
        <p:spPr>
          <a:xfrm>
            <a:off x="2124075" y="2997200"/>
            <a:ext cx="5184775" cy="1368425"/>
          </a:xfrm>
          <a:custGeom>
            <a:avLst/>
            <a:gdLst/>
            <a:ahLst/>
            <a:cxnLst/>
            <a:pathLst>
              <a:path w="2540" h="862">
                <a:moveTo>
                  <a:pt x="0" y="0"/>
                </a:moveTo>
                <a:lnTo>
                  <a:pt x="886" y="837"/>
                </a:lnTo>
                <a:lnTo>
                  <a:pt x="2540" y="862"/>
                </a:lnTo>
              </a:path>
            </a:pathLst>
          </a:custGeom>
          <a:no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9049" name="任意多边形 129048"/>
          <p:cNvSpPr/>
          <p:nvPr/>
        </p:nvSpPr>
        <p:spPr>
          <a:xfrm>
            <a:off x="4211638" y="2205038"/>
            <a:ext cx="3168650" cy="1439862"/>
          </a:xfrm>
          <a:custGeom>
            <a:avLst/>
            <a:gdLst/>
            <a:ahLst/>
            <a:cxnLst/>
            <a:pathLst>
              <a:path w="1406" h="907">
                <a:moveTo>
                  <a:pt x="0" y="0"/>
                </a:moveTo>
                <a:lnTo>
                  <a:pt x="501" y="888"/>
                </a:lnTo>
                <a:lnTo>
                  <a:pt x="1406" y="907"/>
                </a:lnTo>
              </a:path>
            </a:pathLst>
          </a:custGeom>
          <a:no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9050" name="任意多边形 129049"/>
          <p:cNvSpPr/>
          <p:nvPr/>
        </p:nvSpPr>
        <p:spPr>
          <a:xfrm>
            <a:off x="4211638" y="1481138"/>
            <a:ext cx="3168650" cy="723900"/>
          </a:xfrm>
          <a:custGeom>
            <a:avLst/>
            <a:gdLst/>
            <a:ahLst/>
            <a:cxnLst/>
            <a:pathLst>
              <a:path w="1406" h="456">
                <a:moveTo>
                  <a:pt x="0" y="456"/>
                </a:moveTo>
                <a:lnTo>
                  <a:pt x="456" y="0"/>
                </a:lnTo>
                <a:lnTo>
                  <a:pt x="1406" y="2"/>
                </a:lnTo>
              </a:path>
            </a:pathLst>
          </a:custGeom>
          <a:no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9052" name="任意多边形 129051"/>
          <p:cNvSpPr/>
          <p:nvPr/>
        </p:nvSpPr>
        <p:spPr>
          <a:xfrm>
            <a:off x="4211638" y="2205038"/>
            <a:ext cx="3168650" cy="792162"/>
          </a:xfrm>
          <a:custGeom>
            <a:avLst/>
            <a:gdLst/>
            <a:ahLst/>
            <a:cxnLst/>
            <a:pathLst>
              <a:path w="1406" h="499">
                <a:moveTo>
                  <a:pt x="0" y="0"/>
                </a:moveTo>
                <a:lnTo>
                  <a:pt x="492" y="494"/>
                </a:lnTo>
                <a:lnTo>
                  <a:pt x="1406" y="499"/>
                </a:lnTo>
              </a:path>
            </a:pathLst>
          </a:custGeom>
          <a:no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9053" name="文本框 129052"/>
          <p:cNvSpPr txBox="1"/>
          <p:nvPr/>
        </p:nvSpPr>
        <p:spPr>
          <a:xfrm>
            <a:off x="5259388" y="1114425"/>
            <a:ext cx="2012950" cy="396875"/>
          </a:xfrm>
          <a:prstGeom prst="rect">
            <a:avLst/>
          </a:prstGeom>
          <a:noFill/>
          <a:ln w="9525">
            <a:noFill/>
          </a:ln>
        </p:spPr>
        <p:txBody>
          <a:bodyPr wrap="none" anchor="t">
            <a:spAutoFit/>
          </a:bodyPr>
          <a:p>
            <a:pPr>
              <a:buClr>
                <a:schemeClr val="bg1"/>
              </a:buClr>
            </a:pPr>
            <a:r>
              <a:rPr lang="zh-CN" altLang="en-US" sz="2000" dirty="0">
                <a:latin typeface="Tahoma" panose="020B0604030504040204" pitchFamily="34" charset="0"/>
                <a:ea typeface="华文彩云" pitchFamily="2" charset="-122"/>
              </a:rPr>
              <a:t>大油田         </a:t>
            </a:r>
            <a:r>
              <a:rPr lang="en-US" altLang="zh-CN" sz="2000">
                <a:latin typeface="Tahoma" panose="020B0604030504040204" pitchFamily="34" charset="0"/>
                <a:ea typeface="华文彩云" pitchFamily="2" charset="-122"/>
              </a:rPr>
              <a:t>0.3</a:t>
            </a:r>
            <a:endParaRPr lang="en-US" altLang="zh-CN" sz="2000">
              <a:latin typeface="Tahoma" panose="020B0604030504040204" pitchFamily="34" charset="0"/>
              <a:ea typeface="华文彩云" pitchFamily="2" charset="-122"/>
            </a:endParaRPr>
          </a:p>
        </p:txBody>
      </p:sp>
      <p:sp>
        <p:nvSpPr>
          <p:cNvPr id="129054" name="文本框 129053"/>
          <p:cNvSpPr txBox="1"/>
          <p:nvPr/>
        </p:nvSpPr>
        <p:spPr>
          <a:xfrm>
            <a:off x="5278438" y="1833563"/>
            <a:ext cx="2012950" cy="396875"/>
          </a:xfrm>
          <a:prstGeom prst="rect">
            <a:avLst/>
          </a:prstGeom>
          <a:noFill/>
          <a:ln w="9525">
            <a:noFill/>
          </a:ln>
        </p:spPr>
        <p:txBody>
          <a:bodyPr wrap="none" anchor="t">
            <a:spAutoFit/>
          </a:bodyPr>
          <a:p>
            <a:pPr>
              <a:buClr>
                <a:schemeClr val="bg1"/>
              </a:buClr>
            </a:pPr>
            <a:r>
              <a:rPr lang="zh-CN" altLang="en-US" sz="2000" dirty="0">
                <a:latin typeface="Tahoma" panose="020B0604030504040204" pitchFamily="34" charset="0"/>
                <a:ea typeface="华文彩云" pitchFamily="2" charset="-122"/>
              </a:rPr>
              <a:t>中油田         </a:t>
            </a:r>
            <a:r>
              <a:rPr lang="en-US" altLang="zh-CN" sz="2000">
                <a:latin typeface="Tahoma" panose="020B0604030504040204" pitchFamily="34" charset="0"/>
                <a:ea typeface="华文彩云" pitchFamily="2" charset="-122"/>
              </a:rPr>
              <a:t>0.4</a:t>
            </a:r>
            <a:endParaRPr lang="en-US" altLang="zh-CN" sz="2000">
              <a:latin typeface="Tahoma" panose="020B0604030504040204" pitchFamily="34" charset="0"/>
              <a:ea typeface="华文彩云" pitchFamily="2" charset="-122"/>
            </a:endParaRPr>
          </a:p>
        </p:txBody>
      </p:sp>
      <p:sp>
        <p:nvSpPr>
          <p:cNvPr id="129055" name="文本框 129054"/>
          <p:cNvSpPr txBox="1"/>
          <p:nvPr/>
        </p:nvSpPr>
        <p:spPr>
          <a:xfrm>
            <a:off x="5278438" y="2625725"/>
            <a:ext cx="2012950" cy="396875"/>
          </a:xfrm>
          <a:prstGeom prst="rect">
            <a:avLst/>
          </a:prstGeom>
          <a:noFill/>
          <a:ln w="9525">
            <a:noFill/>
          </a:ln>
        </p:spPr>
        <p:txBody>
          <a:bodyPr wrap="none" anchor="t">
            <a:spAutoFit/>
          </a:bodyPr>
          <a:p>
            <a:pPr>
              <a:buClr>
                <a:schemeClr val="bg1"/>
              </a:buClr>
            </a:pPr>
            <a:r>
              <a:rPr lang="zh-CN" altLang="en-US" sz="2000" dirty="0">
                <a:latin typeface="Tahoma" panose="020B0604030504040204" pitchFamily="34" charset="0"/>
                <a:ea typeface="华文彩云" pitchFamily="2" charset="-122"/>
              </a:rPr>
              <a:t>小油田         </a:t>
            </a:r>
            <a:r>
              <a:rPr lang="en-US" altLang="zh-CN" sz="2000">
                <a:latin typeface="Tahoma" panose="020B0604030504040204" pitchFamily="34" charset="0"/>
                <a:ea typeface="华文彩云" pitchFamily="2" charset="-122"/>
              </a:rPr>
              <a:t>0.2</a:t>
            </a:r>
            <a:endParaRPr lang="en-US" altLang="zh-CN" sz="2000">
              <a:latin typeface="Tahoma" panose="020B0604030504040204" pitchFamily="34" charset="0"/>
              <a:ea typeface="华文彩云" pitchFamily="2" charset="-122"/>
            </a:endParaRPr>
          </a:p>
        </p:txBody>
      </p:sp>
      <p:sp>
        <p:nvSpPr>
          <p:cNvPr id="129057" name="文本框 129056"/>
          <p:cNvSpPr txBox="1"/>
          <p:nvPr/>
        </p:nvSpPr>
        <p:spPr>
          <a:xfrm>
            <a:off x="5278438" y="3278188"/>
            <a:ext cx="2044700" cy="396875"/>
          </a:xfrm>
          <a:prstGeom prst="rect">
            <a:avLst/>
          </a:prstGeom>
          <a:noFill/>
          <a:ln w="9525">
            <a:noFill/>
          </a:ln>
        </p:spPr>
        <p:txBody>
          <a:bodyPr wrap="none" anchor="t">
            <a:spAutoFit/>
          </a:bodyPr>
          <a:p>
            <a:pPr>
              <a:buClr>
                <a:schemeClr val="bg1"/>
              </a:buClr>
            </a:pPr>
            <a:r>
              <a:rPr lang="zh-CN" altLang="en-US" sz="2000" dirty="0">
                <a:latin typeface="Tahoma" panose="020B0604030504040204" pitchFamily="34" charset="0"/>
                <a:ea typeface="华文彩云" pitchFamily="2" charset="-122"/>
              </a:rPr>
              <a:t>无开采价值   </a:t>
            </a:r>
            <a:r>
              <a:rPr lang="en-US" altLang="zh-CN" sz="2000">
                <a:latin typeface="Tahoma" panose="020B0604030504040204" pitchFamily="34" charset="0"/>
                <a:ea typeface="华文彩云" pitchFamily="2" charset="-122"/>
              </a:rPr>
              <a:t>0.1</a:t>
            </a:r>
            <a:endParaRPr lang="en-US" altLang="zh-CN" sz="2000">
              <a:latin typeface="Tahoma" panose="020B0604030504040204" pitchFamily="34" charset="0"/>
              <a:ea typeface="华文彩云" pitchFamily="2" charset="-122"/>
            </a:endParaRPr>
          </a:p>
        </p:txBody>
      </p:sp>
      <p:sp>
        <p:nvSpPr>
          <p:cNvPr id="129058" name="文本框 129057"/>
          <p:cNvSpPr txBox="1"/>
          <p:nvPr/>
        </p:nvSpPr>
        <p:spPr>
          <a:xfrm>
            <a:off x="7575550" y="1226185"/>
            <a:ext cx="609600" cy="457200"/>
          </a:xfrm>
          <a:prstGeom prst="rect">
            <a:avLst/>
          </a:prstGeom>
          <a:noFill/>
          <a:ln w="9525">
            <a:noFill/>
          </a:ln>
        </p:spPr>
        <p:txBody>
          <a:bodyPr wrap="none" anchor="t">
            <a:spAutoFit/>
          </a:bodyPr>
          <a:p>
            <a:pPr>
              <a:buClr>
                <a:schemeClr val="bg1"/>
              </a:buClr>
            </a:pPr>
            <a:r>
              <a:rPr lang="en-US" altLang="zh-CN">
                <a:latin typeface="Tahoma" panose="020B0604030504040204" pitchFamily="34" charset="0"/>
                <a:ea typeface="华文彩云" pitchFamily="2" charset="-122"/>
              </a:rPr>
              <a:t>4.8</a:t>
            </a:r>
            <a:endParaRPr lang="en-US" altLang="zh-CN">
              <a:latin typeface="Tahoma" panose="020B0604030504040204" pitchFamily="34" charset="0"/>
              <a:ea typeface="华文彩云" pitchFamily="2" charset="-122"/>
            </a:endParaRPr>
          </a:p>
        </p:txBody>
      </p:sp>
      <p:sp>
        <p:nvSpPr>
          <p:cNvPr id="129059" name="文本框 129058"/>
          <p:cNvSpPr txBox="1"/>
          <p:nvPr/>
        </p:nvSpPr>
        <p:spPr>
          <a:xfrm>
            <a:off x="7575550" y="1931988"/>
            <a:ext cx="609600" cy="457200"/>
          </a:xfrm>
          <a:prstGeom prst="rect">
            <a:avLst/>
          </a:prstGeom>
          <a:noFill/>
          <a:ln w="9525">
            <a:noFill/>
          </a:ln>
        </p:spPr>
        <p:txBody>
          <a:bodyPr wrap="none" anchor="t">
            <a:spAutoFit/>
          </a:bodyPr>
          <a:p>
            <a:pPr>
              <a:buClr>
                <a:schemeClr val="bg1"/>
              </a:buClr>
            </a:pPr>
            <a:r>
              <a:rPr lang="en-US" altLang="zh-CN">
                <a:latin typeface="Tahoma" panose="020B0604030504040204" pitchFamily="34" charset="0"/>
                <a:ea typeface="华文彩云" pitchFamily="2" charset="-122"/>
              </a:rPr>
              <a:t>1.8</a:t>
            </a:r>
            <a:endParaRPr lang="en-US" altLang="zh-CN">
              <a:latin typeface="Tahoma" panose="020B0604030504040204" pitchFamily="34" charset="0"/>
              <a:ea typeface="华文彩云" pitchFamily="2" charset="-122"/>
            </a:endParaRPr>
          </a:p>
        </p:txBody>
      </p:sp>
      <p:sp>
        <p:nvSpPr>
          <p:cNvPr id="129062" name="文本框 129061"/>
          <p:cNvSpPr txBox="1"/>
          <p:nvPr/>
        </p:nvSpPr>
        <p:spPr>
          <a:xfrm>
            <a:off x="7596188" y="2724150"/>
            <a:ext cx="720725" cy="457200"/>
          </a:xfrm>
          <a:prstGeom prst="rect">
            <a:avLst/>
          </a:prstGeom>
          <a:noFill/>
          <a:ln w="9525">
            <a:noFill/>
          </a:ln>
        </p:spPr>
        <p:txBody>
          <a:bodyPr wrap="none" anchor="t">
            <a:spAutoFit/>
          </a:bodyPr>
          <a:p>
            <a:pPr>
              <a:buClr>
                <a:schemeClr val="bg1"/>
              </a:buClr>
            </a:pPr>
            <a:r>
              <a:rPr lang="en-US" altLang="zh-CN">
                <a:latin typeface="Tahoma" panose="020B0604030504040204" pitchFamily="34" charset="0"/>
                <a:ea typeface="华文彩云" pitchFamily="2" charset="-122"/>
              </a:rPr>
              <a:t>-0.3</a:t>
            </a:r>
            <a:endParaRPr lang="en-US" altLang="zh-CN">
              <a:latin typeface="Tahoma" panose="020B0604030504040204" pitchFamily="34" charset="0"/>
              <a:ea typeface="华文彩云" pitchFamily="2" charset="-122"/>
            </a:endParaRPr>
          </a:p>
        </p:txBody>
      </p:sp>
      <p:sp>
        <p:nvSpPr>
          <p:cNvPr id="129063" name="文本框 129062"/>
          <p:cNvSpPr txBox="1"/>
          <p:nvPr/>
        </p:nvSpPr>
        <p:spPr>
          <a:xfrm>
            <a:off x="7596188" y="3371850"/>
            <a:ext cx="720725" cy="457200"/>
          </a:xfrm>
          <a:prstGeom prst="rect">
            <a:avLst/>
          </a:prstGeom>
          <a:noFill/>
          <a:ln w="9525">
            <a:noFill/>
          </a:ln>
        </p:spPr>
        <p:txBody>
          <a:bodyPr wrap="none" anchor="t">
            <a:spAutoFit/>
          </a:bodyPr>
          <a:p>
            <a:pPr>
              <a:buClr>
                <a:schemeClr val="bg1"/>
              </a:buClr>
            </a:pPr>
            <a:r>
              <a:rPr lang="en-US" altLang="zh-CN">
                <a:latin typeface="Tahoma" panose="020B0604030504040204" pitchFamily="34" charset="0"/>
                <a:ea typeface="华文彩云" pitchFamily="2" charset="-122"/>
              </a:rPr>
              <a:t>-1.2</a:t>
            </a:r>
            <a:endParaRPr lang="en-US" altLang="zh-CN">
              <a:latin typeface="Tahoma" panose="020B0604030504040204" pitchFamily="34" charset="0"/>
              <a:ea typeface="华文彩云" pitchFamily="2" charset="-122"/>
            </a:endParaRPr>
          </a:p>
        </p:txBody>
      </p:sp>
      <p:sp>
        <p:nvSpPr>
          <p:cNvPr id="129064" name="文本框 129063"/>
          <p:cNvSpPr txBox="1"/>
          <p:nvPr/>
        </p:nvSpPr>
        <p:spPr>
          <a:xfrm>
            <a:off x="7648575" y="4092575"/>
            <a:ext cx="350838" cy="457200"/>
          </a:xfrm>
          <a:prstGeom prst="rect">
            <a:avLst/>
          </a:prstGeom>
          <a:noFill/>
          <a:ln w="9525">
            <a:noFill/>
          </a:ln>
        </p:spPr>
        <p:txBody>
          <a:bodyPr wrap="none" anchor="t">
            <a:spAutoFit/>
          </a:bodyPr>
          <a:p>
            <a:pPr>
              <a:buClr>
                <a:schemeClr val="bg1"/>
              </a:buClr>
            </a:pPr>
            <a:r>
              <a:rPr lang="en-US" altLang="zh-CN">
                <a:latin typeface="Tahoma" panose="020B0604030504040204" pitchFamily="34" charset="0"/>
                <a:ea typeface="华文彩云" pitchFamily="2" charset="-122"/>
              </a:rPr>
              <a:t>0</a:t>
            </a:r>
            <a:endParaRPr lang="en-US" altLang="zh-CN">
              <a:latin typeface="Tahoma" panose="020B0604030504040204" pitchFamily="34" charset="0"/>
              <a:ea typeface="华文彩云" pitchFamily="2" charset="-122"/>
            </a:endParaRPr>
          </a:p>
        </p:txBody>
      </p:sp>
      <p:sp>
        <p:nvSpPr>
          <p:cNvPr id="129065" name="文本框 129064"/>
          <p:cNvSpPr txBox="1"/>
          <p:nvPr/>
        </p:nvSpPr>
        <p:spPr>
          <a:xfrm rot="-1788889">
            <a:off x="1979613" y="2205038"/>
            <a:ext cx="1708150" cy="457200"/>
          </a:xfrm>
          <a:prstGeom prst="rect">
            <a:avLst/>
          </a:prstGeom>
          <a:noFill/>
          <a:ln w="9525">
            <a:noFill/>
          </a:ln>
        </p:spPr>
        <p:txBody>
          <a:bodyPr wrap="none" anchor="t">
            <a:spAutoFit/>
          </a:bodyPr>
          <a:p>
            <a:pPr>
              <a:buClr>
                <a:schemeClr val="bg1"/>
              </a:buClr>
            </a:pPr>
            <a:r>
              <a:rPr lang="zh-CN" altLang="en-US" dirty="0">
                <a:latin typeface="Tahoma" panose="020B0604030504040204" pitchFamily="34" charset="0"/>
                <a:ea typeface="华文彩云" pitchFamily="2" charset="-122"/>
              </a:rPr>
              <a:t>投标并中标</a:t>
            </a:r>
            <a:endParaRPr lang="zh-CN" altLang="en-US" dirty="0">
              <a:latin typeface="Tahoma" panose="020B0604030504040204" pitchFamily="34" charset="0"/>
              <a:ea typeface="华文彩云" pitchFamily="2" charset="-122"/>
            </a:endParaRPr>
          </a:p>
        </p:txBody>
      </p:sp>
      <p:sp>
        <p:nvSpPr>
          <p:cNvPr id="129066" name="文本框 129065"/>
          <p:cNvSpPr txBox="1"/>
          <p:nvPr/>
        </p:nvSpPr>
        <p:spPr>
          <a:xfrm rot="2201317">
            <a:off x="1835150" y="3644900"/>
            <a:ext cx="2317750" cy="457200"/>
          </a:xfrm>
          <a:prstGeom prst="rect">
            <a:avLst/>
          </a:prstGeom>
          <a:noFill/>
          <a:ln w="9525">
            <a:noFill/>
          </a:ln>
        </p:spPr>
        <p:txBody>
          <a:bodyPr wrap="none" anchor="t">
            <a:spAutoFit/>
          </a:bodyPr>
          <a:p>
            <a:pPr>
              <a:buClr>
                <a:schemeClr val="bg1"/>
              </a:buClr>
            </a:pPr>
            <a:r>
              <a:rPr lang="zh-CN" altLang="en-US" dirty="0">
                <a:latin typeface="Tahoma" panose="020B0604030504040204" pitchFamily="34" charset="0"/>
                <a:ea typeface="华文彩云" pitchFamily="2" charset="-122"/>
              </a:rPr>
              <a:t>不投标或未中标</a:t>
            </a:r>
            <a:endParaRPr lang="zh-CN" altLang="en-US" dirty="0">
              <a:latin typeface="Tahoma" panose="020B0604030504040204" pitchFamily="34" charset="0"/>
              <a:ea typeface="华文彩云" pitchFamily="2" charset="-122"/>
            </a:endParaRPr>
          </a:p>
        </p:txBody>
      </p:sp>
      <p:sp>
        <p:nvSpPr>
          <p:cNvPr id="129067" name="文本框 129066"/>
          <p:cNvSpPr txBox="1"/>
          <p:nvPr/>
        </p:nvSpPr>
        <p:spPr>
          <a:xfrm>
            <a:off x="2557145" y="5014595"/>
            <a:ext cx="8298815" cy="1938020"/>
          </a:xfrm>
          <a:prstGeom prst="rect">
            <a:avLst/>
          </a:prstGeom>
          <a:noFill/>
          <a:ln w="9525">
            <a:noFill/>
          </a:ln>
        </p:spPr>
        <p:txBody>
          <a:bodyPr wrap="square" anchor="t">
            <a:spAutoFit/>
          </a:bodyPr>
          <a:p>
            <a:pPr>
              <a:buClr>
                <a:schemeClr val="bg1"/>
              </a:buClr>
            </a:pPr>
            <a:endParaRPr lang="en-US" altLang="zh-CN" sz="2400">
              <a:latin typeface="Tahoma" panose="020B0604030504040204" pitchFamily="34" charset="0"/>
              <a:ea typeface="华文彩云" pitchFamily="2" charset="-122"/>
            </a:endParaRPr>
          </a:p>
          <a:p>
            <a:pPr>
              <a:buClr>
                <a:schemeClr val="bg1"/>
              </a:buClr>
            </a:pPr>
            <a:endParaRPr lang="en-US" altLang="zh-CN" sz="2400">
              <a:latin typeface="Tahoma" panose="020B0604030504040204" pitchFamily="34" charset="0"/>
              <a:ea typeface="华文彩云" pitchFamily="2" charset="-122"/>
            </a:endParaRPr>
          </a:p>
          <a:p>
            <a:pPr>
              <a:buClr>
                <a:schemeClr val="bg1"/>
              </a:buClr>
            </a:pPr>
            <a:r>
              <a:rPr lang="en-US" altLang="zh-CN" sz="2400">
                <a:latin typeface="Tahoma" panose="020B0604030504040204" pitchFamily="34" charset="0"/>
                <a:ea typeface="华文彩云" pitchFamily="2" charset="-122"/>
              </a:rPr>
              <a:t>4.8*0.3+1.8*0.4+(-0.3)*0.2+(-1.2)*0.1=1.98&gt;0</a:t>
            </a:r>
            <a:endParaRPr lang="en-US" altLang="zh-CN" sz="2400">
              <a:latin typeface="Tahoma" panose="020B0604030504040204" pitchFamily="34" charset="0"/>
              <a:ea typeface="华文彩云" pitchFamily="2" charset="-122"/>
            </a:endParaRPr>
          </a:p>
          <a:p>
            <a:pPr>
              <a:buClr>
                <a:schemeClr val="bg1"/>
              </a:buClr>
            </a:pPr>
            <a:endParaRPr lang="en-US" altLang="zh-CN" sz="2400">
              <a:latin typeface="Tahoma" panose="020B0604030504040204" pitchFamily="34" charset="0"/>
              <a:ea typeface="华文彩云" pitchFamily="2" charset="-122"/>
            </a:endParaRPr>
          </a:p>
          <a:p>
            <a:pPr>
              <a:buClr>
                <a:schemeClr val="bg1"/>
              </a:buClr>
            </a:pPr>
            <a:r>
              <a:rPr lang="zh-CN" altLang="en-US" sz="2400" dirty="0">
                <a:latin typeface="Tahoma" panose="020B0604030504040204" pitchFamily="34" charset="0"/>
                <a:ea typeface="华文彩云" pitchFamily="2" charset="-122"/>
              </a:rPr>
              <a:t>决策结果：参加投标</a:t>
            </a:r>
            <a:endParaRPr lang="zh-CN" altLang="en-US" sz="2400" dirty="0">
              <a:latin typeface="Tahoma" panose="020B0604030504040204" pitchFamily="34" charset="0"/>
              <a:ea typeface="华文彩云" pitchFamily="2" charset="-122"/>
            </a:endParaRPr>
          </a:p>
        </p:txBody>
      </p:sp>
      <p:sp>
        <p:nvSpPr>
          <p:cNvPr id="2" name="文本框 1"/>
          <p:cNvSpPr txBox="1"/>
          <p:nvPr/>
        </p:nvSpPr>
        <p:spPr>
          <a:xfrm>
            <a:off x="8488045" y="1226185"/>
            <a:ext cx="2742565" cy="368300"/>
          </a:xfrm>
          <a:prstGeom prst="rect">
            <a:avLst/>
          </a:prstGeom>
          <a:noFill/>
          <a:ln w="9525">
            <a:noFill/>
          </a:ln>
        </p:spPr>
        <p:txBody>
          <a:bodyPr wrap="square" anchor="t">
            <a:spAutoFit/>
          </a:bodyPr>
          <a:p>
            <a:pPr>
              <a:buClr>
                <a:schemeClr val="bg1"/>
              </a:buClr>
            </a:pPr>
            <a:r>
              <a:rPr lang="en-US" altLang="zh-CN">
                <a:latin typeface="Tahoma" panose="020B0604030504040204" pitchFamily="34" charset="0"/>
                <a:ea typeface="华文彩云" pitchFamily="2" charset="-122"/>
              </a:rPr>
              <a:t>20*30%-1.2=4.8</a:t>
            </a:r>
            <a:endParaRPr lang="en-US" altLang="zh-CN">
              <a:latin typeface="Tahoma" panose="020B0604030504040204" pitchFamily="34" charset="0"/>
              <a:ea typeface="华文彩云" pitchFamily="2" charset="-122"/>
            </a:endParaRPr>
          </a:p>
        </p:txBody>
      </p:sp>
      <p:sp>
        <p:nvSpPr>
          <p:cNvPr id="4" name="文本框 3"/>
          <p:cNvSpPr txBox="1"/>
          <p:nvPr/>
        </p:nvSpPr>
        <p:spPr>
          <a:xfrm>
            <a:off x="8482965" y="1932305"/>
            <a:ext cx="2742565" cy="368300"/>
          </a:xfrm>
          <a:prstGeom prst="rect">
            <a:avLst/>
          </a:prstGeom>
          <a:noFill/>
          <a:ln w="9525">
            <a:noFill/>
          </a:ln>
        </p:spPr>
        <p:txBody>
          <a:bodyPr wrap="square" anchor="t">
            <a:spAutoFit/>
          </a:bodyPr>
          <a:p>
            <a:pPr>
              <a:buClr>
                <a:schemeClr val="bg1"/>
              </a:buClr>
            </a:pPr>
            <a:r>
              <a:rPr lang="en-US" altLang="zh-CN">
                <a:latin typeface="Tahoma" panose="020B0604030504040204" pitchFamily="34" charset="0"/>
                <a:ea typeface="华文彩云" pitchFamily="2" charset="-122"/>
              </a:rPr>
              <a:t>10*30%-1.2=1.8</a:t>
            </a:r>
            <a:endParaRPr lang="en-US" altLang="zh-CN">
              <a:latin typeface="Tahoma" panose="020B0604030504040204" pitchFamily="34" charset="0"/>
              <a:ea typeface="华文彩云" pitchFamily="2" charset="-122"/>
            </a:endParaRPr>
          </a:p>
        </p:txBody>
      </p:sp>
      <p:sp>
        <p:nvSpPr>
          <p:cNvPr id="6" name="文本框 5"/>
          <p:cNvSpPr txBox="1"/>
          <p:nvPr/>
        </p:nvSpPr>
        <p:spPr>
          <a:xfrm>
            <a:off x="8533130" y="2696845"/>
            <a:ext cx="2742565" cy="368300"/>
          </a:xfrm>
          <a:prstGeom prst="rect">
            <a:avLst/>
          </a:prstGeom>
          <a:noFill/>
          <a:ln w="9525">
            <a:noFill/>
          </a:ln>
        </p:spPr>
        <p:txBody>
          <a:bodyPr wrap="square" anchor="t">
            <a:spAutoFit/>
          </a:bodyPr>
          <a:p>
            <a:pPr>
              <a:buClr>
                <a:schemeClr val="bg1"/>
              </a:buClr>
            </a:pPr>
            <a:r>
              <a:rPr lang="en-US" altLang="zh-CN">
                <a:latin typeface="Tahoma" panose="020B0604030504040204" pitchFamily="34" charset="0"/>
                <a:ea typeface="华文彩云" pitchFamily="2" charset="-122"/>
              </a:rPr>
              <a:t>3*30%-1.2=-0.3</a:t>
            </a:r>
            <a:endParaRPr lang="en-US" altLang="zh-CN">
              <a:latin typeface="Tahoma" panose="020B0604030504040204" pitchFamily="34" charset="0"/>
              <a:ea typeface="华文彩云" pitchFamily="2" charset="-122"/>
            </a:endParaRPr>
          </a:p>
        </p:txBody>
      </p:sp>
      <p:sp>
        <p:nvSpPr>
          <p:cNvPr id="8" name="文本框 7"/>
          <p:cNvSpPr txBox="1"/>
          <p:nvPr/>
        </p:nvSpPr>
        <p:spPr>
          <a:xfrm>
            <a:off x="8604885" y="3276600"/>
            <a:ext cx="2742565" cy="368300"/>
          </a:xfrm>
          <a:prstGeom prst="rect">
            <a:avLst/>
          </a:prstGeom>
          <a:noFill/>
          <a:ln w="9525">
            <a:noFill/>
          </a:ln>
        </p:spPr>
        <p:txBody>
          <a:bodyPr wrap="square" anchor="t">
            <a:spAutoFit/>
          </a:bodyPr>
          <a:p>
            <a:pPr>
              <a:buClr>
                <a:schemeClr val="bg1"/>
              </a:buClr>
            </a:pPr>
            <a:r>
              <a:rPr lang="en-US" altLang="zh-CN">
                <a:latin typeface="Tahoma" panose="020B0604030504040204" pitchFamily="34" charset="0"/>
                <a:ea typeface="华文彩云" pitchFamily="2" charset="-122"/>
              </a:rPr>
              <a:t>0-1.2=-1.2</a:t>
            </a:r>
            <a:endParaRPr lang="en-US" altLang="zh-CN">
              <a:latin typeface="Tahoma" panose="020B0604030504040204" pitchFamily="34" charset="0"/>
              <a:ea typeface="华文彩云" pitchFamily="2"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5"/>
          <p:cNvSpPr txBox="1">
            <a:spLocks noChangeArrowheads="1"/>
          </p:cNvSpPr>
          <p:nvPr/>
        </p:nvSpPr>
        <p:spPr bwMode="auto">
          <a:xfrm>
            <a:off x="117475" y="1905"/>
            <a:ext cx="41186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r>
              <a:rPr lang="en-US" altLang="zh-CN" sz="2400" b="1" dirty="0">
                <a:solidFill>
                  <a:srgbClr val="01395C"/>
                </a:solidFill>
                <a:latin typeface="方正粗宋简体"/>
                <a:ea typeface="方正粗宋简体"/>
                <a:cs typeface="方正粗宋简体"/>
              </a:rPr>
              <a:t>-</a:t>
            </a:r>
            <a:r>
              <a:rPr lang="zh-CN" altLang="en-US" sz="2400" b="1" dirty="0">
                <a:solidFill>
                  <a:srgbClr val="01395C"/>
                </a:solidFill>
                <a:latin typeface="方正粗宋简体"/>
                <a:ea typeface="方正粗宋简体"/>
                <a:cs typeface="方正粗宋简体"/>
              </a:rPr>
              <a:t>课后题</a:t>
            </a:r>
            <a:r>
              <a:rPr lang="en-US" altLang="zh-CN" sz="2400" b="1" dirty="0">
                <a:solidFill>
                  <a:srgbClr val="01395C"/>
                </a:solidFill>
                <a:latin typeface="方正粗宋简体"/>
                <a:ea typeface="方正粗宋简体"/>
                <a:cs typeface="方正粗宋简体"/>
              </a:rPr>
              <a:t>6</a:t>
            </a:r>
            <a:r>
              <a:rPr lang="zh-CN" altLang="en-US" sz="2400" b="1" dirty="0">
                <a:solidFill>
                  <a:srgbClr val="01395C"/>
                </a:solidFill>
                <a:latin typeface="方正粗宋简体"/>
                <a:ea typeface="宋体" charset="0"/>
                <a:cs typeface="方正粗宋简体"/>
              </a:rPr>
              <a:t>（</a:t>
            </a:r>
            <a:r>
              <a:rPr lang="en-US" altLang="zh-CN" sz="2400" b="1" dirty="0">
                <a:solidFill>
                  <a:srgbClr val="01395C"/>
                </a:solidFill>
                <a:latin typeface="方正粗宋简体"/>
                <a:ea typeface="宋体" charset="0"/>
                <a:cs typeface="方正粗宋简体"/>
              </a:rPr>
              <a:t>1</a:t>
            </a:r>
            <a:r>
              <a:rPr lang="zh-CN" altLang="en-US" sz="2400" b="1" dirty="0">
                <a:solidFill>
                  <a:srgbClr val="01395C"/>
                </a:solidFill>
                <a:latin typeface="方正粗宋简体"/>
                <a:ea typeface="宋体" charset="0"/>
                <a:cs typeface="方正粗宋简体"/>
              </a:rPr>
              <a:t>）</a:t>
            </a:r>
            <a:endParaRPr lang="zh-CN" altLang="en-US" sz="2400" b="1" dirty="0">
              <a:solidFill>
                <a:srgbClr val="01395C"/>
              </a:solidFill>
              <a:latin typeface="方正粗宋简体"/>
              <a:ea typeface="宋体" charset="0"/>
              <a:cs typeface="方正粗宋简体"/>
            </a:endParaRPr>
          </a:p>
        </p:txBody>
      </p:sp>
      <p:pic>
        <p:nvPicPr>
          <p:cNvPr id="3" name="图片 2"/>
          <p:cNvPicPr>
            <a:picLocks noChangeAspect="1"/>
          </p:cNvPicPr>
          <p:nvPr/>
        </p:nvPicPr>
        <p:blipFill>
          <a:blip r:embed="rId1"/>
          <a:stretch>
            <a:fillRect/>
          </a:stretch>
        </p:blipFill>
        <p:spPr>
          <a:xfrm>
            <a:off x="2088515" y="871855"/>
            <a:ext cx="8306435" cy="6358255"/>
          </a:xfrm>
          <a:prstGeom prst="rect">
            <a:avLst/>
          </a:prstGeom>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5"/>
          <p:cNvSpPr txBox="1">
            <a:spLocks noChangeArrowheads="1"/>
          </p:cNvSpPr>
          <p:nvPr/>
        </p:nvSpPr>
        <p:spPr bwMode="auto">
          <a:xfrm>
            <a:off x="117475" y="1905"/>
            <a:ext cx="42710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90204" pitchFamily="34" charset="0"/>
              <a:buNone/>
            </a:pPr>
            <a:r>
              <a:rPr lang="en-US" altLang="zh-CN" sz="2400" b="1" dirty="0">
                <a:solidFill>
                  <a:srgbClr val="01395C"/>
                </a:solidFill>
                <a:latin typeface="方正粗宋简体"/>
                <a:ea typeface="方正粗宋简体"/>
                <a:cs typeface="方正粗宋简体"/>
              </a:rPr>
              <a:t>10.7</a:t>
            </a:r>
            <a:r>
              <a:rPr lang="zh-CN" altLang="en-US" sz="2400" b="1" dirty="0">
                <a:solidFill>
                  <a:srgbClr val="01395C"/>
                </a:solidFill>
                <a:latin typeface="方正粗宋简体"/>
                <a:ea typeface="方正粗宋简体"/>
                <a:cs typeface="方正粗宋简体"/>
              </a:rPr>
              <a:t> 决策树法</a:t>
            </a:r>
            <a:r>
              <a:rPr lang="en-US" altLang="zh-CN" sz="2400" b="1" dirty="0">
                <a:solidFill>
                  <a:srgbClr val="01395C"/>
                </a:solidFill>
                <a:latin typeface="方正粗宋简体"/>
                <a:ea typeface="方正粗宋简体"/>
                <a:cs typeface="方正粗宋简体"/>
              </a:rPr>
              <a:t>-</a:t>
            </a:r>
            <a:r>
              <a:rPr lang="zh-CN" altLang="en-US" sz="2400" b="1" dirty="0">
                <a:solidFill>
                  <a:srgbClr val="01395C"/>
                </a:solidFill>
                <a:latin typeface="方正粗宋简体"/>
                <a:ea typeface="方正粗宋简体"/>
                <a:cs typeface="方正粗宋简体"/>
              </a:rPr>
              <a:t>课后题</a:t>
            </a:r>
            <a:r>
              <a:rPr lang="en-US" altLang="zh-CN" sz="2400" b="1" dirty="0">
                <a:solidFill>
                  <a:srgbClr val="01395C"/>
                </a:solidFill>
                <a:latin typeface="方正粗宋简体"/>
                <a:ea typeface="方正粗宋简体"/>
                <a:cs typeface="方正粗宋简体"/>
              </a:rPr>
              <a:t>6</a:t>
            </a:r>
            <a:r>
              <a:rPr lang="zh-CN" altLang="en-US" sz="2400" b="1" dirty="0">
                <a:solidFill>
                  <a:srgbClr val="01395C"/>
                </a:solidFill>
                <a:latin typeface="方正粗宋简体"/>
                <a:ea typeface="宋体" charset="0"/>
                <a:cs typeface="方正粗宋简体"/>
              </a:rPr>
              <a:t>（</a:t>
            </a:r>
            <a:r>
              <a:rPr lang="en-US" altLang="zh-CN" sz="2400" b="1" dirty="0">
                <a:solidFill>
                  <a:srgbClr val="01395C"/>
                </a:solidFill>
                <a:latin typeface="方正粗宋简体"/>
                <a:ea typeface="宋体" charset="0"/>
                <a:cs typeface="方正粗宋简体"/>
              </a:rPr>
              <a:t>2</a:t>
            </a:r>
            <a:r>
              <a:rPr lang="zh-CN" altLang="en-US" sz="2400" b="1" dirty="0">
                <a:solidFill>
                  <a:srgbClr val="01395C"/>
                </a:solidFill>
                <a:latin typeface="方正粗宋简体"/>
                <a:ea typeface="宋体" charset="0"/>
                <a:cs typeface="方正粗宋简体"/>
              </a:rPr>
              <a:t>）</a:t>
            </a:r>
            <a:endParaRPr lang="zh-CN" altLang="en-US" sz="2400" b="1" dirty="0">
              <a:solidFill>
                <a:srgbClr val="01395C"/>
              </a:solidFill>
              <a:latin typeface="方正粗宋简体"/>
              <a:ea typeface="宋体" charset="0"/>
              <a:cs typeface="方正粗宋简体"/>
            </a:endParaRPr>
          </a:p>
        </p:txBody>
      </p:sp>
      <p:pic>
        <p:nvPicPr>
          <p:cNvPr id="2" name="图片 1"/>
          <p:cNvPicPr>
            <a:picLocks noChangeAspect="1"/>
          </p:cNvPicPr>
          <p:nvPr/>
        </p:nvPicPr>
        <p:blipFill>
          <a:blip r:embed="rId1"/>
          <a:stretch>
            <a:fillRect/>
          </a:stretch>
        </p:blipFill>
        <p:spPr>
          <a:xfrm>
            <a:off x="1155065" y="611505"/>
            <a:ext cx="9881235" cy="6337935"/>
          </a:xfrm>
          <a:prstGeom prst="rect">
            <a:avLst/>
          </a:prstGeom>
        </p:spPr>
      </p:pic>
    </p:spTree>
  </p:cSld>
  <p:clrMapOvr>
    <a:masterClrMapping/>
  </p:clrMapOvr>
  <p:transition spd="slow"/>
</p:sld>
</file>

<file path=ppt/tags/tag1.xml><?xml version="1.0" encoding="utf-8"?>
<p:tagLst xmlns:p="http://schemas.openxmlformats.org/presentationml/2006/main">
  <p:tag name="KSO_WM_UNIT_TABLE_BEAUTIFY" val="smartTable{cb8157be-615c-4ce0-b97b-6c3eaa6707e2}"/>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Impact"/>
        <a:ea typeface="方正粗宋简体"/>
        <a:cs typeface="方正粗宋简体"/>
      </a:majorFont>
      <a:minorFont>
        <a:latin typeface="Impac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9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9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2037</Words>
  <Application>WPS 文字</Application>
  <PresentationFormat>自定义</PresentationFormat>
  <Paragraphs>250</Paragraphs>
  <Slides>12</Slides>
  <Notes>38</Notes>
  <HiddenSlides>0</HiddenSlides>
  <MMClips>0</MMClips>
  <ScaleCrop>false</ScaleCrop>
  <HeadingPairs>
    <vt:vector size="8" baseType="variant">
      <vt:variant>
        <vt:lpstr>已用的字体</vt:lpstr>
      </vt:variant>
      <vt:variant>
        <vt:i4>27</vt:i4>
      </vt:variant>
      <vt:variant>
        <vt:lpstr>主题</vt:lpstr>
      </vt:variant>
      <vt:variant>
        <vt:i4>2</vt:i4>
      </vt:variant>
      <vt:variant>
        <vt:lpstr>嵌入 OLE 服务器</vt:lpstr>
      </vt:variant>
      <vt:variant>
        <vt:i4>1</vt:i4>
      </vt:variant>
      <vt:variant>
        <vt:lpstr>幻灯片标题</vt:lpstr>
      </vt:variant>
      <vt:variant>
        <vt:i4>12</vt:i4>
      </vt:variant>
    </vt:vector>
  </HeadingPairs>
  <TitlesOfParts>
    <vt:vector size="42" baseType="lpstr">
      <vt:lpstr>Arial</vt:lpstr>
      <vt:lpstr>方正书宋_GBK</vt:lpstr>
      <vt:lpstr>Wingdings</vt:lpstr>
      <vt:lpstr>Impact</vt:lpstr>
      <vt:lpstr>微软雅黑</vt:lpstr>
      <vt:lpstr>汉仪旗黑</vt:lpstr>
      <vt:lpstr>等线 Light</vt:lpstr>
      <vt:lpstr>汉仪中等线KW</vt:lpstr>
      <vt:lpstr>宋体</vt:lpstr>
      <vt:lpstr>汉仪书宋二KW</vt:lpstr>
      <vt:lpstr>方正粗宋简体</vt:lpstr>
      <vt:lpstr>Thonburi</vt:lpstr>
      <vt:lpstr>Calibri</vt:lpstr>
      <vt:lpstr>Helvetica Neue</vt:lpstr>
      <vt:lpstr>方正舒体</vt:lpstr>
      <vt:lpstr>微软雅黑</vt:lpstr>
      <vt:lpstr>Arial Narrow</vt:lpstr>
      <vt:lpstr>Monotype Sorts</vt:lpstr>
      <vt:lpstr>Times New Roman</vt:lpstr>
      <vt:lpstr>苹方-简</vt:lpstr>
      <vt:lpstr>Tahoma</vt:lpstr>
      <vt:lpstr>幼圆</vt:lpstr>
      <vt:lpstr>华文彩云</vt:lpstr>
      <vt:lpstr>宋体</vt:lpstr>
      <vt:lpstr>Arial Unicode MS</vt:lpstr>
      <vt:lpstr>华文宋体</vt:lpstr>
      <vt:lpstr>等线</vt:lpstr>
      <vt:lpstr>自定义设计方案</vt:lpstr>
      <vt:lpstr>2_Office 主题</vt:lpstr>
      <vt:lpstr>Equation.3</vt:lpstr>
      <vt:lpstr>PowerPoint 演示文稿</vt:lpstr>
      <vt:lpstr>PowerPoint 演示文稿</vt:lpstr>
      <vt:lpstr>PowerPoint 演示文稿</vt:lpstr>
      <vt:lpstr>PowerPoint 演示文稿</vt:lpstr>
      <vt:lpstr>某仪器厂生产的仪器中需要装配一种电子元器件，由一家协作厂供应，每批次供应800件。在长期生产中已统计出每批元件装配在仪器上再行老化出现不同次品率的概率如下表4所示：</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邵浩</dc:creator>
  <cp:keywords>邵浩</cp:keywords>
  <cp:lastModifiedBy>cherry</cp:lastModifiedBy>
  <cp:revision>777</cp:revision>
  <dcterms:created xsi:type="dcterms:W3CDTF">2021-12-14T13:14:54Z</dcterms:created>
  <dcterms:modified xsi:type="dcterms:W3CDTF">2021-12-14T13:14:54Z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2052-3.7.0.5929</vt:lpwstr>
  </property>
</Properties>
</file>