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p:sldMasterIdLst>
    <p:sldMasterId id="2147483648" r:id="rId1"/>
    <p:sldMasterId id="2147483663" r:id="rId2"/>
  </p:sldMasterIdLst>
  <p:notesMasterIdLst>
    <p:notesMasterId r:id="rId33"/>
  </p:notesMasterIdLst>
  <p:handoutMasterIdLst>
    <p:handoutMasterId r:id="rId34"/>
  </p:handoutMasterIdLst>
  <p:sldIdLst>
    <p:sldId id="1057" r:id="rId3"/>
    <p:sldId id="1060" r:id="rId4"/>
    <p:sldId id="1018" r:id="rId5"/>
    <p:sldId id="1061" r:id="rId6"/>
    <p:sldId id="1058" r:id="rId7"/>
    <p:sldId id="1020" r:id="rId8"/>
    <p:sldId id="1019" r:id="rId9"/>
    <p:sldId id="1023" r:id="rId10"/>
    <p:sldId id="1059" r:id="rId11"/>
    <p:sldId id="1062" r:id="rId12"/>
    <p:sldId id="1045" r:id="rId13"/>
    <p:sldId id="1043" r:id="rId14"/>
    <p:sldId id="1041" r:id="rId15"/>
    <p:sldId id="1024" r:id="rId16"/>
    <p:sldId id="1063" r:id="rId17"/>
    <p:sldId id="1064" r:id="rId18"/>
    <p:sldId id="1065" r:id="rId19"/>
    <p:sldId id="1025" r:id="rId20"/>
    <p:sldId id="1067" r:id="rId21"/>
    <p:sldId id="1069" r:id="rId22"/>
    <p:sldId id="1068" r:id="rId23"/>
    <p:sldId id="1066" r:id="rId24"/>
    <p:sldId id="1026" r:id="rId25"/>
    <p:sldId id="1027" r:id="rId26"/>
    <p:sldId id="1049" r:id="rId27"/>
    <p:sldId id="1050" r:id="rId28"/>
    <p:sldId id="1051" r:id="rId29"/>
    <p:sldId id="1053" r:id="rId30"/>
    <p:sldId id="1054" r:id="rId31"/>
    <p:sldId id="1030" r:id="rId32"/>
  </p:sldIdLst>
  <p:sldSz cx="12192000" cy="7561263"/>
  <p:notesSz cx="6858000" cy="9144000"/>
  <p:defaultTextStyle>
    <a:defPPr>
      <a:defRPr lang="zh-CN"/>
    </a:defPPr>
    <a:lvl1pPr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1pPr>
    <a:lvl2pPr marL="4572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2pPr>
    <a:lvl3pPr marL="9144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3pPr>
    <a:lvl4pPr marL="13716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4pPr>
    <a:lvl5pPr marL="1828800" algn="l" rtl="0" eaLnBrk="0" fontAlgn="base" hangingPunct="0">
      <a:spcBef>
        <a:spcPct val="0"/>
      </a:spcBef>
      <a:spcAft>
        <a:spcPct val="0"/>
      </a:spcAft>
      <a:defRPr kern="1200">
        <a:solidFill>
          <a:schemeClr val="tx1"/>
        </a:solidFill>
        <a:latin typeface="Impact" panose="020B0806030902050204" pitchFamily="34" charset="0"/>
        <a:ea typeface="微软雅黑" panose="020B0503020204020204" pitchFamily="34" charset="-122"/>
        <a:cs typeface="+mn-cs"/>
      </a:defRPr>
    </a:lvl5pPr>
    <a:lvl6pPr marL="22860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6pPr>
    <a:lvl7pPr marL="27432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7pPr>
    <a:lvl8pPr marL="32004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8pPr>
    <a:lvl9pPr marL="3657600" algn="l" defTabSz="914400" rtl="0" eaLnBrk="1" latinLnBrk="0" hangingPunct="1">
      <a:defRPr kern="1200">
        <a:solidFill>
          <a:schemeClr val="tx1"/>
        </a:solidFill>
        <a:latin typeface="Impact" panose="020B0806030902050204" pitchFamily="34" charset="0"/>
        <a:ea typeface="微软雅黑" panose="020B0503020204020204" pitchFamily="34" charset="-122"/>
        <a:cs typeface="+mn-cs"/>
      </a:defRPr>
    </a:lvl9pPr>
  </p:defaultTextStyle>
  <p:extLst>
    <p:ext uri="{EFAFB233-063F-42B5-8137-9DF3F51BA10A}">
      <p15:sldGuideLst xmlns:p15="http://schemas.microsoft.com/office/powerpoint/2012/main">
        <p15:guide id="1" orient="horz" pos="2614">
          <p15:clr>
            <a:srgbClr val="A4A3A4"/>
          </p15:clr>
        </p15:guide>
        <p15:guide id="2" pos="3870">
          <p15:clr>
            <a:srgbClr val="A4A3A4"/>
          </p15:clr>
        </p15:guide>
      </p15:sldGuideLst>
    </p:ext>
    <p:ext uri="{2D200454-40CA-4A62-9FC3-DE9A4176ACB9}">
      <p15:notesGuideLst xmlns:p15="http://schemas.microsoft.com/office/powerpoint/2012/main">
        <p15:guide id="1" orient="horz" pos="2847">
          <p15:clr>
            <a:srgbClr val="A4A3A4"/>
          </p15:clr>
        </p15:guide>
        <p15:guide id="2" pos="2177">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杨 磊" initials="杨"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215C6C"/>
    <a:srgbClr val="484849"/>
    <a:srgbClr val="226375"/>
    <a:srgbClr val="0000FF"/>
    <a:srgbClr val="FF9900"/>
    <a:srgbClr val="0066CC"/>
    <a:srgbClr val="DBD600"/>
    <a:srgbClr val="8BBF20"/>
    <a:srgbClr val="F0F977"/>
    <a:srgbClr val="A5002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897" autoAdjust="0"/>
    <p:restoredTop sz="80000" autoAdjust="0"/>
  </p:normalViewPr>
  <p:slideViewPr>
    <p:cSldViewPr snapToGrid="0" snapToObjects="1">
      <p:cViewPr varScale="1">
        <p:scale>
          <a:sx n="58" d="100"/>
          <a:sy n="58" d="100"/>
        </p:scale>
        <p:origin x="956" y="44"/>
      </p:cViewPr>
      <p:guideLst>
        <p:guide orient="horz" pos="2614"/>
        <p:guide pos="387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notesViewPr>
    <p:cSldViewPr snapToGrid="0" snapToObjects="1">
      <p:cViewPr varScale="1">
        <p:scale>
          <a:sx n="53" d="100"/>
          <a:sy n="53" d="100"/>
        </p:scale>
        <p:origin x="-2904" y="-102"/>
      </p:cViewPr>
      <p:guideLst>
        <p:guide orient="horz" pos="2847"/>
        <p:guide pos="2177"/>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tableStyles" Target="tableStyles.xml"/><Relationship Id="rId21" Type="http://schemas.openxmlformats.org/officeDocument/2006/relationships/slide" Target="slides/slide19.xml"/><Relationship Id="rId34"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notesMaster" Target="notesMasters/notesMaster1.xml"/><Relationship Id="rId38" Type="http://schemas.openxmlformats.org/officeDocument/2006/relationships/theme" Target="theme/theme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viewProps" Target="view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presProps" Target="presProp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commentAuthors" Target="commentAuthors.xml"/><Relationship Id="rId8" Type="http://schemas.openxmlformats.org/officeDocument/2006/relationships/slide" Target="slides/slide6.xml"/><Relationship Id="rId3" Type="http://schemas.openxmlformats.org/officeDocument/2006/relationships/slide" Target="slides/slid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buFont typeface="Arial" panose="020B0604020202020204" pitchFamily="34" charset="0"/>
              <a:buNone/>
              <a:defRPr sz="1200"/>
            </a:lvl1pPr>
          </a:lstStyle>
          <a:p>
            <a:pPr>
              <a:defRPr/>
            </a:pPr>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eaLnBrk="1" hangingPunct="1">
              <a:buFont typeface="Arial" panose="020B0604020202020204" pitchFamily="34" charset="0"/>
              <a:buNone/>
              <a:defRPr sz="1200"/>
            </a:lvl1pPr>
          </a:lstStyle>
          <a:p>
            <a:pPr>
              <a:defRPr/>
            </a:pPr>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buFont typeface="Arial" panose="020B0604020202020204" pitchFamily="34" charset="0"/>
              <a:buNone/>
              <a:defRPr sz="1200"/>
            </a:lvl1pPr>
          </a:lstStyle>
          <a:p>
            <a:pPr>
              <a:defRPr/>
            </a:pPr>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lstStyle>
            <a:lvl1pPr algn="r" eaLnBrk="1" hangingPunct="1">
              <a:buFont typeface="Arial" panose="020B0604020202020204" pitchFamily="34" charset="0"/>
              <a:buChar char="•"/>
              <a:defRPr sz="1200" noProof="1"/>
            </a:lvl1pPr>
          </a:lstStyle>
          <a:p>
            <a:pPr>
              <a:defRPr/>
            </a:pPr>
            <a:fld id="{3E19670D-C869-4A5D-A780-D41936B3781A}" type="slidenum">
              <a:rPr altLang="en-US"/>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页眉占位符 1"/>
          <p:cNvSpPr>
            <a:spLocks noGrp="1" noChangeArrowheads="1"/>
          </p:cNvSpPr>
          <p:nvPr>
            <p:ph type="hdr" sz="quarter"/>
          </p:nvPr>
        </p:nvSpPr>
        <p:spPr bwMode="auto">
          <a:xfrm>
            <a:off x="0" y="0"/>
            <a:ext cx="2970213" cy="458788"/>
          </a:xfrm>
          <a:prstGeom prst="rect">
            <a:avLst/>
          </a:prstGeom>
          <a:noFill/>
          <a:ln w="9525">
            <a:noFill/>
            <a:miter lim="800000"/>
          </a:ln>
        </p:spPr>
        <p:txBody>
          <a:bodyPr vert="horz" wrap="square" lIns="91440" tIns="45720" rIns="91440" bIns="45720" numCol="1" anchor="t"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3075" name="日期占位符 2"/>
          <p:cNvSpPr>
            <a:spLocks noGrp="1" noChangeArrowheads="1"/>
          </p:cNvSpPr>
          <p:nvPr>
            <p:ph type="dt" idx="1"/>
          </p:nvPr>
        </p:nvSpPr>
        <p:spPr bwMode="auto">
          <a:xfrm>
            <a:off x="3883025" y="0"/>
            <a:ext cx="2973388" cy="458788"/>
          </a:xfrm>
          <a:prstGeom prst="rect">
            <a:avLst/>
          </a:prstGeom>
          <a:noFill/>
          <a:ln w="9525">
            <a:noFill/>
            <a:miter lim="800000"/>
          </a:ln>
        </p:spPr>
        <p:txBody>
          <a:bodyPr vert="horz" wrap="square" lIns="91440" tIns="45720" rIns="91440" bIns="45720" numCol="1" anchor="t" anchorCtr="0" compatLnSpc="1"/>
          <a:lstStyle>
            <a:lvl1pPr algn="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5124" name="幻灯片图像占位符 3"/>
          <p:cNvSpPr>
            <a:spLocks noGrp="1" noRot="1" noChangeAspect="1" noChangeArrowheads="1"/>
          </p:cNvSpPr>
          <p:nvPr>
            <p:ph type="sldImg" idx="4294967295"/>
          </p:nvPr>
        </p:nvSpPr>
        <p:spPr bwMode="auto">
          <a:xfrm>
            <a:off x="941388" y="1143000"/>
            <a:ext cx="4975225" cy="308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备注占位符 4"/>
          <p:cNvSpPr>
            <a:spLocks noGrp="1" noChangeArrowheads="1"/>
          </p:cNvSpPr>
          <p:nvPr>
            <p:ph type="body" sz="quarter" idx="3"/>
          </p:nvPr>
        </p:nvSpPr>
        <p:spPr bwMode="auto">
          <a:xfrm>
            <a:off x="685800" y="4400550"/>
            <a:ext cx="5486400" cy="3600450"/>
          </a:xfrm>
          <a:prstGeom prst="rect">
            <a:avLst/>
          </a:prstGeom>
          <a:noFill/>
          <a:ln w="9525">
            <a:noFill/>
            <a:miter lim="800000"/>
          </a:ln>
        </p:spPr>
        <p:txBody>
          <a:bodyPr vert="horz" wrap="square" lIns="91440" tIns="45720" rIns="91440" bIns="45720" numCol="1" anchor="ctr" anchorCtr="0" compatLnSpc="1"/>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3078" name="页脚占位符 5"/>
          <p:cNvSpPr>
            <a:spLocks noGrp="1" noChangeArrowheads="1"/>
          </p:cNvSpPr>
          <p:nvPr>
            <p:ph type="ftr" sz="quarter" idx="4"/>
          </p:nvPr>
        </p:nvSpPr>
        <p:spPr bwMode="auto">
          <a:xfrm>
            <a:off x="0" y="8685213"/>
            <a:ext cx="2970213" cy="458787"/>
          </a:xfrm>
          <a:prstGeom prst="rect">
            <a:avLst/>
          </a:prstGeom>
          <a:noFill/>
          <a:ln w="9525">
            <a:noFill/>
            <a:miter lim="800000"/>
          </a:ln>
        </p:spPr>
        <p:txBody>
          <a:bodyPr vert="horz" wrap="square" lIns="91440" tIns="45720" rIns="91440" bIns="45720" numCol="1" anchor="b" anchorCtr="0" compatLnSpc="1"/>
          <a:lstStyle>
            <a:lvl1pPr eaLnBrk="1" hangingPunct="1">
              <a:buFont typeface="Arial" panose="020B0604020202020204" pitchFamily="34" charset="0"/>
              <a:buNone/>
              <a:defRPr sz="1200">
                <a:latin typeface="Calibri" panose="020F0502020204030204" pitchFamily="34" charset="0"/>
                <a:ea typeface="宋体" panose="02010600030101010101" pitchFamily="2" charset="-122"/>
              </a:defRPr>
            </a:lvl1pPr>
          </a:lstStyle>
          <a:p>
            <a:pPr>
              <a:defRPr/>
            </a:pPr>
            <a:endParaRPr lang="zh-CN" altLang="en-US"/>
          </a:p>
        </p:txBody>
      </p:sp>
      <p:sp>
        <p:nvSpPr>
          <p:cNvPr id="3079" name="灯片编号占位符 6"/>
          <p:cNvSpPr>
            <a:spLocks noGrp="1" noChangeArrowheads="1"/>
          </p:cNvSpPr>
          <p:nvPr>
            <p:ph type="sldNum" sz="quarter" idx="5"/>
          </p:nvPr>
        </p:nvSpPr>
        <p:spPr bwMode="auto">
          <a:xfrm>
            <a:off x="3883025" y="8685213"/>
            <a:ext cx="2973388" cy="458787"/>
          </a:xfrm>
          <a:prstGeom prst="rect">
            <a:avLst/>
          </a:prstGeom>
          <a:noFill/>
          <a:ln w="9525">
            <a:noFill/>
            <a:miter lim="800000"/>
          </a:ln>
        </p:spPr>
        <p:txBody>
          <a:bodyPr vert="horz" wrap="square" lIns="91440" tIns="45720" rIns="91440" bIns="45720" numCol="1" anchor="b" anchorCtr="0" compatLnSpc="1"/>
          <a:lstStyle>
            <a:lvl1pPr algn="r" eaLnBrk="1" hangingPunct="1">
              <a:buFont typeface="Arial" panose="020B0604020202020204" pitchFamily="34" charset="0"/>
              <a:buChar char="•"/>
              <a:defRPr sz="1200" noProof="1">
                <a:latin typeface="Calibri" panose="020F0502020204030204" pitchFamily="34" charset="0"/>
                <a:ea typeface="宋体" panose="02010600030101010101" pitchFamily="2" charset="-122"/>
              </a:defRPr>
            </a:lvl1pPr>
          </a:lstStyle>
          <a:p>
            <a:pPr>
              <a:defRPr/>
            </a:pPr>
            <a:fld id="{9ABF73B3-AB42-43BE-BB63-9452E30E81D8}" type="slidenum">
              <a:rPr altLang="en-US"/>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665163" y="685800"/>
            <a:ext cx="5527675" cy="3429000"/>
          </a:xfrm>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CE1689F0-D8FB-450F-A36F-553F26501FEE}" type="slidenum">
              <a:rPr lang="zh-CN" altLang="en-US" smtClean="0">
                <a:solidFill>
                  <a:prstClr val="black"/>
                </a:solidFill>
              </a:rPr>
              <a:t>0</a:t>
            </a:fld>
            <a:endParaRPr lang="en-US">
              <a:solidFill>
                <a:prstClr val="black"/>
              </a:solidFill>
            </a:endParaRPr>
          </a:p>
        </p:txBody>
      </p:sp>
    </p:spTree>
    <p:extLst>
      <p:ext uri="{BB962C8B-B14F-4D97-AF65-F5344CB8AC3E}">
        <p14:creationId xmlns:p14="http://schemas.microsoft.com/office/powerpoint/2010/main" val="13210192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ABF73B3-AB42-43BE-BB63-9452E30E81D8}" type="slidenum">
              <a:rPr lang="en-US" altLang="zh-CN" smtClean="0"/>
              <a:t>1</a:t>
            </a:fld>
            <a:endParaRPr lang="zh-CN" altLang="en-US"/>
          </a:p>
        </p:txBody>
      </p:sp>
    </p:spTree>
    <p:extLst>
      <p:ext uri="{BB962C8B-B14F-4D97-AF65-F5344CB8AC3E}">
        <p14:creationId xmlns:p14="http://schemas.microsoft.com/office/powerpoint/2010/main" val="32060590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ABF73B3-AB42-43BE-BB63-9452E30E81D8}" type="slidenum">
              <a:rPr lang="en-US" altLang="zh-CN" smtClean="0"/>
              <a:t>3</a:t>
            </a:fld>
            <a:endParaRPr lang="zh-CN" altLang="en-US"/>
          </a:p>
        </p:txBody>
      </p:sp>
    </p:spTree>
    <p:extLst>
      <p:ext uri="{BB962C8B-B14F-4D97-AF65-F5344CB8AC3E}">
        <p14:creationId xmlns:p14="http://schemas.microsoft.com/office/powerpoint/2010/main" val="6058091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ABF73B3-AB42-43BE-BB63-9452E30E81D8}" type="slidenum">
              <a:rPr lang="en-US" altLang="zh-CN" smtClean="0"/>
              <a:t>8</a:t>
            </a:fld>
            <a:endParaRPr lang="zh-CN" altLang="en-US"/>
          </a:p>
        </p:txBody>
      </p:sp>
    </p:spTree>
    <p:extLst>
      <p:ext uri="{BB962C8B-B14F-4D97-AF65-F5344CB8AC3E}">
        <p14:creationId xmlns:p14="http://schemas.microsoft.com/office/powerpoint/2010/main" val="411658653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zh-CN" altLang="en-US" b="0" i="0" dirty="0">
                <a:solidFill>
                  <a:srgbClr val="4D4D4D"/>
                </a:solidFill>
                <a:effectLst/>
                <a:latin typeface="宋体" panose="02010600030101010101" pitchFamily="2" charset="-122"/>
                <a:ea typeface="宋体" panose="02010600030101010101" pitchFamily="2" charset="-122"/>
              </a:rPr>
              <a:t>   </a:t>
            </a:r>
            <a:r>
              <a:rPr lang="en-US" altLang="zh-CN" b="0" i="0" dirty="0">
                <a:solidFill>
                  <a:srgbClr val="4D4D4D"/>
                </a:solidFill>
                <a:effectLst/>
                <a:latin typeface="宋体" panose="02010600030101010101" pitchFamily="2" charset="-122"/>
                <a:ea typeface="宋体" panose="02010600030101010101" pitchFamily="2" charset="-122"/>
              </a:rPr>
              <a:t>EIF</a:t>
            </a:r>
            <a:r>
              <a:rPr lang="zh-CN" altLang="en-US" b="0" i="0" dirty="0">
                <a:solidFill>
                  <a:srgbClr val="4D4D4D"/>
                </a:solidFill>
                <a:effectLst/>
                <a:latin typeface="宋体" panose="02010600030101010101" pitchFamily="2" charset="-122"/>
                <a:ea typeface="宋体" panose="02010600030101010101" pitchFamily="2" charset="-122"/>
              </a:rPr>
              <a:t>外部接口文件</a:t>
            </a:r>
            <a:br>
              <a:rPr lang="zh-CN" altLang="en-US" b="0" i="0" dirty="0">
                <a:solidFill>
                  <a:srgbClr val="4D4D4D"/>
                </a:solidFill>
                <a:effectLst/>
                <a:latin typeface="宋体" panose="02010600030101010101" pitchFamily="2" charset="-122"/>
                <a:ea typeface="宋体" panose="02010600030101010101" pitchFamily="2" charset="-122"/>
              </a:rPr>
            </a:br>
            <a:r>
              <a:rPr lang="zh-CN" altLang="en-US" b="0" i="0" dirty="0">
                <a:solidFill>
                  <a:srgbClr val="4D4D4D"/>
                </a:solidFill>
                <a:effectLst/>
                <a:latin typeface="宋体" panose="02010600030101010101" pitchFamily="2" charset="-122"/>
                <a:ea typeface="宋体" panose="02010600030101010101" pitchFamily="2" charset="-122"/>
              </a:rPr>
              <a:t>    外部接口文件是指一组在应用程序边界内被查询，但在其他应用程序中被维护的、以用户角度来识别的、逻辑上相关的数据。因此，一个应用程序中的</a:t>
            </a:r>
            <a:r>
              <a:rPr lang="en-US" altLang="zh-CN" b="0" i="0" dirty="0">
                <a:solidFill>
                  <a:srgbClr val="4D4D4D"/>
                </a:solidFill>
                <a:effectLst/>
                <a:latin typeface="宋体" panose="02010600030101010101" pitchFamily="2" charset="-122"/>
                <a:ea typeface="宋体" panose="02010600030101010101" pitchFamily="2" charset="-122"/>
              </a:rPr>
              <a:t>EIF</a:t>
            </a:r>
            <a:r>
              <a:rPr lang="zh-CN" altLang="en-US" b="0" i="0" dirty="0">
                <a:solidFill>
                  <a:srgbClr val="4D4D4D"/>
                </a:solidFill>
                <a:effectLst/>
                <a:latin typeface="宋体" panose="02010600030101010101" pitchFamily="2" charset="-122"/>
                <a:ea typeface="宋体" panose="02010600030101010101" pitchFamily="2" charset="-122"/>
              </a:rPr>
              <a:t>必然是其他应用程序中的</a:t>
            </a:r>
            <a:r>
              <a:rPr lang="en-US" altLang="zh-CN" b="0" i="0" dirty="0">
                <a:solidFill>
                  <a:srgbClr val="4D4D4D"/>
                </a:solidFill>
                <a:effectLst/>
                <a:latin typeface="宋体" panose="02010600030101010101" pitchFamily="2" charset="-122"/>
                <a:ea typeface="宋体" panose="02010600030101010101" pitchFamily="2" charset="-122"/>
              </a:rPr>
              <a:t>ILF</a:t>
            </a:r>
            <a:r>
              <a:rPr lang="zh-CN" altLang="en-US" b="0" i="0" dirty="0">
                <a:solidFill>
                  <a:srgbClr val="4D4D4D"/>
                </a:solidFill>
                <a:effectLst/>
                <a:latin typeface="宋体" panose="02010600030101010101" pitchFamily="2" charset="-122"/>
                <a:ea typeface="宋体" panose="02010600030101010101" pitchFamily="2" charset="-122"/>
              </a:rPr>
              <a:t>。</a:t>
            </a:r>
            <a:r>
              <a:rPr lang="en-US" altLang="zh-CN" b="0" i="0" dirty="0">
                <a:solidFill>
                  <a:srgbClr val="4D4D4D"/>
                </a:solidFill>
                <a:effectLst/>
                <a:latin typeface="宋体" panose="02010600030101010101" pitchFamily="2" charset="-122"/>
                <a:ea typeface="宋体" panose="02010600030101010101" pitchFamily="2" charset="-122"/>
              </a:rPr>
              <a:t>EIF</a:t>
            </a:r>
            <a:r>
              <a:rPr lang="zh-CN" altLang="en-US" b="0" i="0" dirty="0">
                <a:solidFill>
                  <a:srgbClr val="4D4D4D"/>
                </a:solidFill>
                <a:effectLst/>
                <a:latin typeface="宋体" panose="02010600030101010101" pitchFamily="2" charset="-122"/>
                <a:ea typeface="宋体" panose="02010600030101010101" pitchFamily="2" charset="-122"/>
              </a:rPr>
              <a:t>的主要目的是为边界内的应用程序提供一个或多个通过基础操作过程来引用的一组数据或信息。</a:t>
            </a:r>
            <a:br>
              <a:rPr lang="zh-CN" altLang="en-US" b="0" i="0" dirty="0">
                <a:solidFill>
                  <a:srgbClr val="4D4D4D"/>
                </a:solidFill>
                <a:effectLst/>
                <a:latin typeface="宋体" panose="02010600030101010101" pitchFamily="2" charset="-122"/>
                <a:ea typeface="宋体" panose="02010600030101010101" pitchFamily="2" charset="-122"/>
              </a:rPr>
            </a:br>
            <a:r>
              <a:rPr lang="zh-CN" altLang="en-US" b="0" i="0" dirty="0">
                <a:solidFill>
                  <a:srgbClr val="4D4D4D"/>
                </a:solidFill>
                <a:effectLst/>
                <a:latin typeface="宋体" panose="02010600030101010101" pitchFamily="2" charset="-122"/>
                <a:ea typeface="宋体" panose="02010600030101010101" pitchFamily="2" charset="-122"/>
              </a:rPr>
              <a:t>    </a:t>
            </a:r>
            <a:r>
              <a:rPr lang="en-US" altLang="zh-CN" b="0" i="0" dirty="0">
                <a:solidFill>
                  <a:srgbClr val="4D4D4D"/>
                </a:solidFill>
                <a:effectLst/>
                <a:latin typeface="宋体" panose="02010600030101010101" pitchFamily="2" charset="-122"/>
                <a:ea typeface="宋体" panose="02010600030101010101" pitchFamily="2" charset="-122"/>
              </a:rPr>
              <a:t>EIF</a:t>
            </a:r>
            <a:r>
              <a:rPr lang="zh-CN" altLang="en-US" b="0" i="0" dirty="0">
                <a:solidFill>
                  <a:srgbClr val="4D4D4D"/>
                </a:solidFill>
                <a:effectLst/>
                <a:latin typeface="宋体" panose="02010600030101010101" pitchFamily="2" charset="-122"/>
                <a:ea typeface="宋体" panose="02010600030101010101" pitchFamily="2" charset="-122"/>
              </a:rPr>
              <a:t>所遵循的规则：</a:t>
            </a:r>
          </a:p>
          <a:p>
            <a:pPr algn="l">
              <a:buFont typeface="Arial" panose="020B0604020202020204" pitchFamily="34" charset="0"/>
              <a:buChar char="•"/>
            </a:pPr>
            <a:r>
              <a:rPr lang="zh-CN" altLang="en-US" b="0" i="0" dirty="0">
                <a:solidFill>
                  <a:srgbClr val="666666"/>
                </a:solidFill>
                <a:effectLst/>
                <a:latin typeface="宋体" panose="02010600030101010101" pitchFamily="2" charset="-122"/>
                <a:ea typeface="宋体" panose="02010600030101010101" pitchFamily="2" charset="-122"/>
              </a:rPr>
              <a:t>从用户角度出发识别的一组逻辑数据。</a:t>
            </a:r>
          </a:p>
          <a:p>
            <a:pPr algn="l">
              <a:buFont typeface="Arial" panose="020B0604020202020204" pitchFamily="34" charset="0"/>
              <a:buChar char="•"/>
            </a:pPr>
            <a:r>
              <a:rPr lang="zh-CN" altLang="en-US" b="0" i="0" dirty="0">
                <a:solidFill>
                  <a:srgbClr val="666666"/>
                </a:solidFill>
                <a:effectLst/>
                <a:latin typeface="宋体" panose="02010600030101010101" pitchFamily="2" charset="-122"/>
                <a:ea typeface="宋体" panose="02010600030101010101" pitchFamily="2" charset="-122"/>
              </a:rPr>
              <a:t>这组数据是在应用程序外部，并被应用程序引用的。</a:t>
            </a:r>
          </a:p>
          <a:p>
            <a:pPr algn="l">
              <a:buFont typeface="Arial" panose="020B0604020202020204" pitchFamily="34" charset="0"/>
              <a:buChar char="•"/>
            </a:pPr>
            <a:r>
              <a:rPr lang="zh-CN" altLang="en-US" b="0" i="0" dirty="0">
                <a:solidFill>
                  <a:srgbClr val="666666"/>
                </a:solidFill>
                <a:effectLst/>
                <a:latin typeface="宋体" panose="02010600030101010101" pitchFamily="2" charset="-122"/>
                <a:ea typeface="宋体" panose="02010600030101010101" pitchFamily="2" charset="-122"/>
              </a:rPr>
              <a:t>计算功能点的这个应用程序并不维护该</a:t>
            </a:r>
            <a:r>
              <a:rPr lang="en-US" altLang="zh-CN" b="0" i="0" dirty="0">
                <a:solidFill>
                  <a:srgbClr val="666666"/>
                </a:solidFill>
                <a:effectLst/>
                <a:latin typeface="宋体" panose="02010600030101010101" pitchFamily="2" charset="-122"/>
                <a:ea typeface="宋体" panose="02010600030101010101" pitchFamily="2" charset="-122"/>
              </a:rPr>
              <a:t>EIF</a:t>
            </a:r>
            <a:r>
              <a:rPr lang="zh-CN" altLang="en-US" b="0" i="0" dirty="0">
                <a:solidFill>
                  <a:srgbClr val="666666"/>
                </a:solidFill>
                <a:effectLst/>
                <a:latin typeface="宋体" panose="02010600030101010101" pitchFamily="2" charset="-122"/>
                <a:ea typeface="宋体" panose="02010600030101010101" pitchFamily="2" charset="-122"/>
              </a:rPr>
              <a:t>。</a:t>
            </a:r>
          </a:p>
          <a:p>
            <a:pPr algn="l">
              <a:buFont typeface="Arial" panose="020B0604020202020204" pitchFamily="34" charset="0"/>
              <a:buChar char="•"/>
            </a:pPr>
            <a:r>
              <a:rPr lang="zh-CN" altLang="en-US" b="0" i="0" dirty="0">
                <a:solidFill>
                  <a:srgbClr val="666666"/>
                </a:solidFill>
                <a:effectLst/>
                <a:latin typeface="宋体" panose="02010600030101010101" pitchFamily="2" charset="-122"/>
                <a:ea typeface="宋体" panose="02010600030101010101" pitchFamily="2" charset="-122"/>
              </a:rPr>
              <a:t>这组数据是作为另一个应用程序中的</a:t>
            </a:r>
            <a:r>
              <a:rPr lang="en-US" altLang="zh-CN" b="0" i="0" dirty="0">
                <a:solidFill>
                  <a:srgbClr val="666666"/>
                </a:solidFill>
                <a:effectLst/>
                <a:latin typeface="宋体" panose="02010600030101010101" pitchFamily="2" charset="-122"/>
                <a:ea typeface="宋体" panose="02010600030101010101" pitchFamily="2" charset="-122"/>
              </a:rPr>
              <a:t>ILF</a:t>
            </a:r>
            <a:r>
              <a:rPr lang="zh-CN" altLang="en-US" b="0" i="0" dirty="0">
                <a:solidFill>
                  <a:srgbClr val="666666"/>
                </a:solidFill>
                <a:effectLst/>
                <a:latin typeface="宋体" panose="02010600030101010101" pitchFamily="2" charset="-122"/>
                <a:ea typeface="宋体" panose="02010600030101010101" pitchFamily="2" charset="-122"/>
              </a:rPr>
              <a:t>被维护的</a:t>
            </a:r>
          </a:p>
          <a:p>
            <a:endParaRPr lang="zh-CN" altLang="en-US" dirty="0"/>
          </a:p>
        </p:txBody>
      </p:sp>
      <p:sp>
        <p:nvSpPr>
          <p:cNvPr id="4" name="灯片编号占位符 3"/>
          <p:cNvSpPr>
            <a:spLocks noGrp="1"/>
          </p:cNvSpPr>
          <p:nvPr>
            <p:ph type="sldNum" sz="quarter" idx="5"/>
          </p:nvPr>
        </p:nvSpPr>
        <p:spPr/>
        <p:txBody>
          <a:bodyPr/>
          <a:lstStyle/>
          <a:p>
            <a:pPr>
              <a:defRPr/>
            </a:pPr>
            <a:fld id="{9ABF73B3-AB42-43BE-BB63-9452E30E81D8}" type="slidenum">
              <a:rPr lang="en-US" altLang="zh-CN" smtClean="0"/>
              <a:t>10</a:t>
            </a:fld>
            <a:endParaRPr lang="zh-CN" altLang="en-US"/>
          </a:p>
        </p:txBody>
      </p:sp>
    </p:spTree>
    <p:extLst>
      <p:ext uri="{BB962C8B-B14F-4D97-AF65-F5344CB8AC3E}">
        <p14:creationId xmlns:p14="http://schemas.microsoft.com/office/powerpoint/2010/main" val="5006383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9ABF73B3-AB42-43BE-BB63-9452E30E81D8}" type="slidenum">
              <a:rPr lang="en-US" altLang="zh-CN" smtClean="0"/>
              <a:t>22</a:t>
            </a:fld>
            <a:endParaRPr lang="zh-CN" altLang="en-US"/>
          </a:p>
        </p:txBody>
      </p:sp>
    </p:spTree>
    <p:extLst>
      <p:ext uri="{BB962C8B-B14F-4D97-AF65-F5344CB8AC3E}">
        <p14:creationId xmlns:p14="http://schemas.microsoft.com/office/powerpoint/2010/main" val="349636750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0">
              <a:lnSpc>
                <a:spcPct val="100000"/>
              </a:lnSpc>
              <a:spcAft>
                <a:spcPts val="0"/>
              </a:spcAft>
              <a:defRPr/>
            </a:pPr>
            <a:r>
              <a:rPr lang="zh-CN" altLang="zh-CN" sz="1200" kern="0" dirty="0">
                <a:latin typeface="等线" panose="02010600030101010101" charset="-122"/>
                <a:cs typeface="Arial" panose="020B0604020202020204" pitchFamily="34" charset="0"/>
                <a:sym typeface="+mn-ea"/>
              </a:rPr>
              <a:t>功能点：</a:t>
            </a:r>
            <a:endParaRPr lang="en-US" altLang="zh-CN" sz="1200" kern="0" dirty="0">
              <a:latin typeface="等线" panose="02010600030101010101" charset="-122"/>
              <a:cs typeface="Arial" panose="020B0604020202020204" pitchFamily="34" charset="0"/>
              <a:sym typeface="+mn-ea"/>
            </a:endParaRPr>
          </a:p>
          <a:p>
            <a:pPr latinLnBrk="0">
              <a:lnSpc>
                <a:spcPct val="100000"/>
              </a:lnSpc>
              <a:spcAft>
                <a:spcPts val="0"/>
              </a:spcAft>
              <a:defRPr/>
            </a:pPr>
            <a:r>
              <a:rPr lang="en-US" altLang="zh-CN" sz="1200" kern="0" dirty="0">
                <a:latin typeface="等线" panose="02010600030101010101" charset="-122"/>
                <a:cs typeface="Arial" panose="020B0604020202020204" pitchFamily="34" charset="0"/>
                <a:sym typeface="+mn-ea"/>
              </a:rPr>
              <a:t>    </a:t>
            </a:r>
            <a:r>
              <a:rPr lang="zh-CN" altLang="en-US" sz="1200" kern="0" dirty="0">
                <a:latin typeface="等线" panose="02010600030101010101" charset="-122"/>
                <a:cs typeface="Arial" panose="020B0604020202020204" pitchFamily="34" charset="0"/>
                <a:sym typeface="+mn-ea"/>
              </a:rPr>
              <a:t>计算信息的种类（逻辑文件数量）</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1. ILF</a:t>
            </a:r>
            <a:r>
              <a:rPr lang="zh-CN" altLang="zh-CN" sz="1200" kern="0" dirty="0">
                <a:latin typeface="等线" panose="02010600030101010101" charset="-122"/>
                <a:cs typeface="Arial" panose="020B0604020202020204" pitchFamily="34" charset="0"/>
                <a:sym typeface="+mn-ea"/>
              </a:rPr>
              <a:t>：</a:t>
            </a:r>
            <a:r>
              <a:rPr lang="en-US" altLang="zh-CN" sz="1200" kern="0" dirty="0">
                <a:latin typeface="等线" panose="02010600030101010101" charset="-122"/>
                <a:cs typeface="Arial" panose="020B0604020202020204" pitchFamily="34" charset="0"/>
                <a:sym typeface="+mn-ea"/>
              </a:rPr>
              <a:t>Internal Logical File</a:t>
            </a:r>
            <a:r>
              <a:rPr lang="zh-CN" altLang="zh-CN" sz="1200" kern="0" dirty="0">
                <a:latin typeface="等线" panose="02010600030101010101" charset="-122"/>
                <a:cs typeface="Arial" panose="020B0604020202020204" pitchFamily="34" charset="0"/>
                <a:sym typeface="+mn-ea"/>
              </a:rPr>
              <a:t>内部逻辑文件</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2. EIF: External Interface File</a:t>
            </a:r>
            <a:r>
              <a:rPr lang="zh-CN" altLang="zh-CN" sz="1200" kern="0" dirty="0">
                <a:latin typeface="等线" panose="02010600030101010101" charset="-122"/>
                <a:cs typeface="Arial" panose="020B0604020202020204" pitchFamily="34" charset="0"/>
                <a:sym typeface="+mn-ea"/>
              </a:rPr>
              <a:t>外部接口文件</a:t>
            </a:r>
            <a:endParaRPr lang="en-US" altLang="zh-CN" sz="1200" kern="0" dirty="0">
              <a:latin typeface="等线" panose="02010600030101010101" charset="-122"/>
              <a:cs typeface="Arial" panose="020B0604020202020204" pitchFamily="34" charset="0"/>
              <a:sym typeface="+mn-ea"/>
            </a:endParaRPr>
          </a:p>
          <a:p>
            <a:pPr latinLnBrk="0">
              <a:lnSpc>
                <a:spcPct val="100000"/>
              </a:lnSpc>
              <a:spcAft>
                <a:spcPts val="0"/>
              </a:spcAft>
              <a:defRPr/>
            </a:pPr>
            <a:r>
              <a:rPr lang="en-US" altLang="zh-CN" sz="1200" kern="0" dirty="0">
                <a:latin typeface="等线" panose="02010600030101010101" charset="-122"/>
                <a:cs typeface="Arial" panose="020B0604020202020204" pitchFamily="34" charset="0"/>
                <a:sym typeface="+mn-ea"/>
              </a:rPr>
              <a:t>    </a:t>
            </a:r>
            <a:r>
              <a:rPr lang="zh-CN" altLang="en-US" sz="1200" kern="0" dirty="0">
                <a:latin typeface="等线" panose="02010600030101010101" charset="-122"/>
                <a:cs typeface="Arial" panose="020B0604020202020204" pitchFamily="34" charset="0"/>
                <a:sym typeface="+mn-ea"/>
              </a:rPr>
              <a:t>针对信息的操作：</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3. EI: External Input</a:t>
            </a:r>
            <a:r>
              <a:rPr lang="zh-CN" altLang="zh-CN" sz="1200" kern="0" dirty="0">
                <a:latin typeface="等线" panose="02010600030101010101" charset="-122"/>
                <a:cs typeface="Arial" panose="020B0604020202020204" pitchFamily="34" charset="0"/>
                <a:sym typeface="+mn-ea"/>
              </a:rPr>
              <a:t>外部输入</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4. EO: External Output</a:t>
            </a:r>
            <a:r>
              <a:rPr lang="zh-CN" altLang="zh-CN" sz="1200" kern="0" dirty="0">
                <a:latin typeface="等线" panose="02010600030101010101" charset="-122"/>
                <a:cs typeface="Arial" panose="020B0604020202020204" pitchFamily="34" charset="0"/>
                <a:sym typeface="+mn-ea"/>
              </a:rPr>
              <a:t>外部输出</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5. EQ: External Inquiry</a:t>
            </a:r>
            <a:r>
              <a:rPr lang="zh-CN" altLang="zh-CN" sz="1200" kern="0" dirty="0">
                <a:latin typeface="等线" panose="02010600030101010101" charset="-122"/>
                <a:cs typeface="Arial" panose="020B0604020202020204" pitchFamily="34" charset="0"/>
                <a:sym typeface="+mn-ea"/>
              </a:rPr>
              <a:t>外部查询</a:t>
            </a:r>
            <a:endParaRPr lang="en-US" altLang="zh-CN" sz="1200" dirty="0">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pPr>
              <a:defRPr/>
            </a:pPr>
            <a:fld id="{9ABF73B3-AB42-43BE-BB63-9452E30E81D8}" type="slidenum">
              <a:rPr lang="en-US" altLang="zh-CN" smtClean="0"/>
              <a:t>24</a:t>
            </a:fld>
            <a:endParaRPr lang="zh-CN" altLang="en-US"/>
          </a:p>
        </p:txBody>
      </p:sp>
    </p:spTree>
    <p:extLst>
      <p:ext uri="{BB962C8B-B14F-4D97-AF65-F5344CB8AC3E}">
        <p14:creationId xmlns:p14="http://schemas.microsoft.com/office/powerpoint/2010/main" val="37404422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0">
              <a:lnSpc>
                <a:spcPct val="100000"/>
              </a:lnSpc>
              <a:spcAft>
                <a:spcPts val="0"/>
              </a:spcAft>
              <a:defRPr/>
            </a:pPr>
            <a:r>
              <a:rPr lang="zh-CN" altLang="zh-CN" sz="1200" kern="0" dirty="0">
                <a:latin typeface="等线" panose="02010600030101010101" charset="-122"/>
                <a:cs typeface="Arial" panose="020B0604020202020204" pitchFamily="34" charset="0"/>
                <a:sym typeface="+mn-ea"/>
              </a:rPr>
              <a:t>功能点：</a:t>
            </a:r>
            <a:endParaRPr lang="en-US" altLang="zh-CN" sz="1200" kern="0" dirty="0">
              <a:latin typeface="等线" panose="02010600030101010101" charset="-122"/>
              <a:cs typeface="Arial" panose="020B0604020202020204" pitchFamily="34" charset="0"/>
              <a:sym typeface="+mn-ea"/>
            </a:endParaRPr>
          </a:p>
          <a:p>
            <a:pPr latinLnBrk="0">
              <a:lnSpc>
                <a:spcPct val="100000"/>
              </a:lnSpc>
              <a:spcAft>
                <a:spcPts val="0"/>
              </a:spcAft>
              <a:defRPr/>
            </a:pPr>
            <a:r>
              <a:rPr lang="en-US" altLang="zh-CN" sz="1200" kern="0" dirty="0">
                <a:latin typeface="等线" panose="02010600030101010101" charset="-122"/>
                <a:cs typeface="Arial" panose="020B0604020202020204" pitchFamily="34" charset="0"/>
                <a:sym typeface="+mn-ea"/>
              </a:rPr>
              <a:t>    </a:t>
            </a:r>
            <a:r>
              <a:rPr lang="zh-CN" altLang="en-US" sz="1200" kern="0" dirty="0">
                <a:latin typeface="等线" panose="02010600030101010101" charset="-122"/>
                <a:cs typeface="Arial" panose="020B0604020202020204" pitchFamily="34" charset="0"/>
                <a:sym typeface="+mn-ea"/>
              </a:rPr>
              <a:t>计算信息的种类（逻辑文件数量）</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1. ILF</a:t>
            </a:r>
            <a:r>
              <a:rPr lang="zh-CN" altLang="zh-CN" sz="1200" kern="0" dirty="0">
                <a:latin typeface="等线" panose="02010600030101010101" charset="-122"/>
                <a:cs typeface="Arial" panose="020B0604020202020204" pitchFamily="34" charset="0"/>
                <a:sym typeface="+mn-ea"/>
              </a:rPr>
              <a:t>：</a:t>
            </a:r>
            <a:r>
              <a:rPr lang="en-US" altLang="zh-CN" sz="1200" kern="0" dirty="0">
                <a:latin typeface="等线" panose="02010600030101010101" charset="-122"/>
                <a:cs typeface="Arial" panose="020B0604020202020204" pitchFamily="34" charset="0"/>
                <a:sym typeface="+mn-ea"/>
              </a:rPr>
              <a:t>Internal Logical File</a:t>
            </a:r>
            <a:r>
              <a:rPr lang="zh-CN" altLang="zh-CN" sz="1200" kern="0" dirty="0">
                <a:latin typeface="等线" panose="02010600030101010101" charset="-122"/>
                <a:cs typeface="Arial" panose="020B0604020202020204" pitchFamily="34" charset="0"/>
                <a:sym typeface="+mn-ea"/>
              </a:rPr>
              <a:t>内部逻辑文件</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2. EIF: External Interface File</a:t>
            </a:r>
            <a:r>
              <a:rPr lang="zh-CN" altLang="zh-CN" sz="1200" kern="0" dirty="0">
                <a:latin typeface="等线" panose="02010600030101010101" charset="-122"/>
                <a:cs typeface="Arial" panose="020B0604020202020204" pitchFamily="34" charset="0"/>
                <a:sym typeface="+mn-ea"/>
              </a:rPr>
              <a:t>外部接口文件</a:t>
            </a:r>
            <a:endParaRPr lang="en-US" altLang="zh-CN" sz="1200" kern="0" dirty="0">
              <a:latin typeface="等线" panose="02010600030101010101" charset="-122"/>
              <a:cs typeface="Arial" panose="020B0604020202020204" pitchFamily="34" charset="0"/>
              <a:sym typeface="+mn-ea"/>
            </a:endParaRPr>
          </a:p>
          <a:p>
            <a:pPr latinLnBrk="0">
              <a:lnSpc>
                <a:spcPct val="100000"/>
              </a:lnSpc>
              <a:spcAft>
                <a:spcPts val="0"/>
              </a:spcAft>
              <a:defRPr/>
            </a:pPr>
            <a:r>
              <a:rPr lang="en-US" altLang="zh-CN" sz="1200" kern="0" dirty="0">
                <a:latin typeface="等线" panose="02010600030101010101" charset="-122"/>
                <a:cs typeface="Arial" panose="020B0604020202020204" pitchFamily="34" charset="0"/>
                <a:sym typeface="+mn-ea"/>
              </a:rPr>
              <a:t>    </a:t>
            </a:r>
            <a:r>
              <a:rPr lang="zh-CN" altLang="en-US" sz="1200" kern="0" dirty="0">
                <a:latin typeface="等线" panose="02010600030101010101" charset="-122"/>
                <a:cs typeface="Arial" panose="020B0604020202020204" pitchFamily="34" charset="0"/>
                <a:sym typeface="+mn-ea"/>
              </a:rPr>
              <a:t>针对信息的操作：</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3. EI: External Input</a:t>
            </a:r>
            <a:r>
              <a:rPr lang="zh-CN" altLang="zh-CN" sz="1200" kern="0" dirty="0">
                <a:latin typeface="等线" panose="02010600030101010101" charset="-122"/>
                <a:cs typeface="Arial" panose="020B0604020202020204" pitchFamily="34" charset="0"/>
                <a:sym typeface="+mn-ea"/>
              </a:rPr>
              <a:t>外部输入</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4. EO: External Output</a:t>
            </a:r>
            <a:r>
              <a:rPr lang="zh-CN" altLang="zh-CN" sz="1200" kern="0" dirty="0">
                <a:latin typeface="等线" panose="02010600030101010101" charset="-122"/>
                <a:cs typeface="Arial" panose="020B0604020202020204" pitchFamily="34" charset="0"/>
                <a:sym typeface="+mn-ea"/>
              </a:rPr>
              <a:t>外部输出</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5. EQ: External Inquiry</a:t>
            </a:r>
            <a:r>
              <a:rPr lang="zh-CN" altLang="zh-CN" sz="1200" kern="0" dirty="0">
                <a:latin typeface="等线" panose="02010600030101010101" charset="-122"/>
                <a:cs typeface="Arial" panose="020B0604020202020204" pitchFamily="34" charset="0"/>
                <a:sym typeface="+mn-ea"/>
              </a:rPr>
              <a:t>外部查询</a:t>
            </a:r>
            <a:endParaRPr lang="en-US" altLang="zh-CN" sz="1200" dirty="0">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pPr>
              <a:defRPr/>
            </a:pPr>
            <a:fld id="{9ABF73B3-AB42-43BE-BB63-9452E30E81D8}" type="slidenum">
              <a:rPr lang="en-US" altLang="zh-CN" smtClean="0"/>
              <a:t>25</a:t>
            </a:fld>
            <a:endParaRPr lang="zh-CN" altLang="en-US"/>
          </a:p>
        </p:txBody>
      </p:sp>
    </p:spTree>
    <p:extLst>
      <p:ext uri="{BB962C8B-B14F-4D97-AF65-F5344CB8AC3E}">
        <p14:creationId xmlns:p14="http://schemas.microsoft.com/office/powerpoint/2010/main" val="282059206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0">
              <a:lnSpc>
                <a:spcPct val="100000"/>
              </a:lnSpc>
              <a:spcAft>
                <a:spcPts val="0"/>
              </a:spcAft>
              <a:defRPr/>
            </a:pPr>
            <a:r>
              <a:rPr lang="zh-CN" altLang="zh-CN" sz="1200" kern="0" dirty="0">
                <a:latin typeface="等线" panose="02010600030101010101" charset="-122"/>
                <a:cs typeface="Arial" panose="020B0604020202020204" pitchFamily="34" charset="0"/>
                <a:sym typeface="+mn-ea"/>
              </a:rPr>
              <a:t>功能点：</a:t>
            </a:r>
            <a:endParaRPr lang="en-US" altLang="zh-CN" sz="1200" kern="0" dirty="0">
              <a:latin typeface="等线" panose="02010600030101010101" charset="-122"/>
              <a:cs typeface="Arial" panose="020B0604020202020204" pitchFamily="34" charset="0"/>
              <a:sym typeface="+mn-ea"/>
            </a:endParaRPr>
          </a:p>
          <a:p>
            <a:pPr latinLnBrk="0">
              <a:lnSpc>
                <a:spcPct val="100000"/>
              </a:lnSpc>
              <a:spcAft>
                <a:spcPts val="0"/>
              </a:spcAft>
              <a:defRPr/>
            </a:pPr>
            <a:r>
              <a:rPr lang="en-US" altLang="zh-CN" sz="1200" kern="0" dirty="0">
                <a:latin typeface="等线" panose="02010600030101010101" charset="-122"/>
                <a:cs typeface="Arial" panose="020B0604020202020204" pitchFamily="34" charset="0"/>
                <a:sym typeface="+mn-ea"/>
              </a:rPr>
              <a:t>    </a:t>
            </a:r>
            <a:r>
              <a:rPr lang="zh-CN" altLang="en-US" sz="1200" kern="0" dirty="0">
                <a:latin typeface="等线" panose="02010600030101010101" charset="-122"/>
                <a:cs typeface="Arial" panose="020B0604020202020204" pitchFamily="34" charset="0"/>
                <a:sym typeface="+mn-ea"/>
              </a:rPr>
              <a:t>计算信息的种类（逻辑文件数量）</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1. ILF</a:t>
            </a:r>
            <a:r>
              <a:rPr lang="zh-CN" altLang="zh-CN" sz="1200" kern="0" dirty="0">
                <a:latin typeface="等线" panose="02010600030101010101" charset="-122"/>
                <a:cs typeface="Arial" panose="020B0604020202020204" pitchFamily="34" charset="0"/>
                <a:sym typeface="+mn-ea"/>
              </a:rPr>
              <a:t>：</a:t>
            </a:r>
            <a:r>
              <a:rPr lang="en-US" altLang="zh-CN" sz="1200" kern="0" dirty="0">
                <a:latin typeface="等线" panose="02010600030101010101" charset="-122"/>
                <a:cs typeface="Arial" panose="020B0604020202020204" pitchFamily="34" charset="0"/>
                <a:sym typeface="+mn-ea"/>
              </a:rPr>
              <a:t>Internal Logical File</a:t>
            </a:r>
            <a:r>
              <a:rPr lang="zh-CN" altLang="zh-CN" sz="1200" kern="0" dirty="0">
                <a:latin typeface="等线" panose="02010600030101010101" charset="-122"/>
                <a:cs typeface="Arial" panose="020B0604020202020204" pitchFamily="34" charset="0"/>
                <a:sym typeface="+mn-ea"/>
              </a:rPr>
              <a:t>内部逻辑文件</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2. EIF: External Interface File</a:t>
            </a:r>
            <a:r>
              <a:rPr lang="zh-CN" altLang="zh-CN" sz="1200" kern="0" dirty="0">
                <a:latin typeface="等线" panose="02010600030101010101" charset="-122"/>
                <a:cs typeface="Arial" panose="020B0604020202020204" pitchFamily="34" charset="0"/>
                <a:sym typeface="+mn-ea"/>
              </a:rPr>
              <a:t>外部接口文件</a:t>
            </a:r>
            <a:endParaRPr lang="en-US" altLang="zh-CN" sz="1200" kern="0" dirty="0">
              <a:latin typeface="等线" panose="02010600030101010101" charset="-122"/>
              <a:cs typeface="Arial" panose="020B0604020202020204" pitchFamily="34" charset="0"/>
              <a:sym typeface="+mn-ea"/>
            </a:endParaRPr>
          </a:p>
          <a:p>
            <a:pPr latinLnBrk="0">
              <a:lnSpc>
                <a:spcPct val="100000"/>
              </a:lnSpc>
              <a:spcAft>
                <a:spcPts val="0"/>
              </a:spcAft>
              <a:defRPr/>
            </a:pPr>
            <a:r>
              <a:rPr lang="en-US" altLang="zh-CN" sz="1200" kern="0" dirty="0">
                <a:latin typeface="等线" panose="02010600030101010101" charset="-122"/>
                <a:cs typeface="Arial" panose="020B0604020202020204" pitchFamily="34" charset="0"/>
                <a:sym typeface="+mn-ea"/>
              </a:rPr>
              <a:t>    </a:t>
            </a:r>
            <a:r>
              <a:rPr lang="zh-CN" altLang="en-US" sz="1200" kern="0" dirty="0">
                <a:latin typeface="等线" panose="02010600030101010101" charset="-122"/>
                <a:cs typeface="Arial" panose="020B0604020202020204" pitchFamily="34" charset="0"/>
                <a:sym typeface="+mn-ea"/>
              </a:rPr>
              <a:t>针对信息的操作：</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3. EI: External Input</a:t>
            </a:r>
            <a:r>
              <a:rPr lang="zh-CN" altLang="zh-CN" sz="1200" kern="0" dirty="0">
                <a:latin typeface="等线" panose="02010600030101010101" charset="-122"/>
                <a:cs typeface="Arial" panose="020B0604020202020204" pitchFamily="34" charset="0"/>
                <a:sym typeface="+mn-ea"/>
              </a:rPr>
              <a:t>外部输入</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4. EO: External Output</a:t>
            </a:r>
            <a:r>
              <a:rPr lang="zh-CN" altLang="zh-CN" sz="1200" kern="0" dirty="0">
                <a:latin typeface="等线" panose="02010600030101010101" charset="-122"/>
                <a:cs typeface="Arial" panose="020B0604020202020204" pitchFamily="34" charset="0"/>
                <a:sym typeface="+mn-ea"/>
              </a:rPr>
              <a:t>外部输出</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5. EQ: External Inquiry</a:t>
            </a:r>
            <a:r>
              <a:rPr lang="zh-CN" altLang="zh-CN" sz="1200" kern="0" dirty="0">
                <a:latin typeface="等线" panose="02010600030101010101" charset="-122"/>
                <a:cs typeface="Arial" panose="020B0604020202020204" pitchFamily="34" charset="0"/>
                <a:sym typeface="+mn-ea"/>
              </a:rPr>
              <a:t>外部查询</a:t>
            </a:r>
            <a:endParaRPr lang="en-US" altLang="zh-CN" sz="1200" dirty="0">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pPr>
              <a:defRPr/>
            </a:pPr>
            <a:fld id="{9ABF73B3-AB42-43BE-BB63-9452E30E81D8}" type="slidenum">
              <a:rPr lang="en-US" altLang="zh-CN" smtClean="0"/>
              <a:t>26</a:t>
            </a:fld>
            <a:endParaRPr lang="zh-CN" altLang="en-US"/>
          </a:p>
        </p:txBody>
      </p:sp>
    </p:spTree>
    <p:extLst>
      <p:ext uri="{BB962C8B-B14F-4D97-AF65-F5344CB8AC3E}">
        <p14:creationId xmlns:p14="http://schemas.microsoft.com/office/powerpoint/2010/main" val="9902578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latinLnBrk="0">
              <a:lnSpc>
                <a:spcPct val="100000"/>
              </a:lnSpc>
              <a:spcAft>
                <a:spcPts val="0"/>
              </a:spcAft>
              <a:defRPr/>
            </a:pPr>
            <a:r>
              <a:rPr lang="zh-CN" altLang="zh-CN" sz="1200" kern="0" dirty="0">
                <a:latin typeface="等线" panose="02010600030101010101" charset="-122"/>
                <a:cs typeface="Arial" panose="020B0604020202020204" pitchFamily="34" charset="0"/>
                <a:sym typeface="+mn-ea"/>
              </a:rPr>
              <a:t>功能点：</a:t>
            </a:r>
            <a:endParaRPr lang="en-US" altLang="zh-CN" sz="1200" kern="0" dirty="0">
              <a:latin typeface="等线" panose="02010600030101010101" charset="-122"/>
              <a:cs typeface="Arial" panose="020B0604020202020204" pitchFamily="34" charset="0"/>
              <a:sym typeface="+mn-ea"/>
            </a:endParaRPr>
          </a:p>
          <a:p>
            <a:pPr latinLnBrk="0">
              <a:lnSpc>
                <a:spcPct val="100000"/>
              </a:lnSpc>
              <a:spcAft>
                <a:spcPts val="0"/>
              </a:spcAft>
              <a:defRPr/>
            </a:pPr>
            <a:r>
              <a:rPr lang="en-US" altLang="zh-CN" sz="1200" kern="0" dirty="0">
                <a:latin typeface="等线" panose="02010600030101010101" charset="-122"/>
                <a:cs typeface="Arial" panose="020B0604020202020204" pitchFamily="34" charset="0"/>
                <a:sym typeface="+mn-ea"/>
              </a:rPr>
              <a:t>    </a:t>
            </a:r>
            <a:r>
              <a:rPr lang="zh-CN" altLang="en-US" sz="1200" kern="0" dirty="0">
                <a:latin typeface="等线" panose="02010600030101010101" charset="-122"/>
                <a:cs typeface="Arial" panose="020B0604020202020204" pitchFamily="34" charset="0"/>
                <a:sym typeface="+mn-ea"/>
              </a:rPr>
              <a:t>计算信息的种类（逻辑文件数量）</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1. ILF</a:t>
            </a:r>
            <a:r>
              <a:rPr lang="zh-CN" altLang="zh-CN" sz="1200" kern="0" dirty="0">
                <a:latin typeface="等线" panose="02010600030101010101" charset="-122"/>
                <a:cs typeface="Arial" panose="020B0604020202020204" pitchFamily="34" charset="0"/>
                <a:sym typeface="+mn-ea"/>
              </a:rPr>
              <a:t>：</a:t>
            </a:r>
            <a:r>
              <a:rPr lang="en-US" altLang="zh-CN" sz="1200" kern="0" dirty="0">
                <a:latin typeface="等线" panose="02010600030101010101" charset="-122"/>
                <a:cs typeface="Arial" panose="020B0604020202020204" pitchFamily="34" charset="0"/>
                <a:sym typeface="+mn-ea"/>
              </a:rPr>
              <a:t>Internal Logical File</a:t>
            </a:r>
            <a:r>
              <a:rPr lang="zh-CN" altLang="zh-CN" sz="1200" kern="0" dirty="0">
                <a:latin typeface="等线" panose="02010600030101010101" charset="-122"/>
                <a:cs typeface="Arial" panose="020B0604020202020204" pitchFamily="34" charset="0"/>
                <a:sym typeface="+mn-ea"/>
              </a:rPr>
              <a:t>内部逻辑文件</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2. EIF: External Interface File</a:t>
            </a:r>
            <a:r>
              <a:rPr lang="zh-CN" altLang="zh-CN" sz="1200" kern="0" dirty="0">
                <a:latin typeface="等线" panose="02010600030101010101" charset="-122"/>
                <a:cs typeface="Arial" panose="020B0604020202020204" pitchFamily="34" charset="0"/>
                <a:sym typeface="+mn-ea"/>
              </a:rPr>
              <a:t>外部接口文件</a:t>
            </a:r>
            <a:endParaRPr lang="en-US" altLang="zh-CN" sz="1200" kern="0" dirty="0">
              <a:latin typeface="等线" panose="02010600030101010101" charset="-122"/>
              <a:cs typeface="Arial" panose="020B0604020202020204" pitchFamily="34" charset="0"/>
              <a:sym typeface="+mn-ea"/>
            </a:endParaRPr>
          </a:p>
          <a:p>
            <a:pPr latinLnBrk="0">
              <a:lnSpc>
                <a:spcPct val="100000"/>
              </a:lnSpc>
              <a:spcAft>
                <a:spcPts val="0"/>
              </a:spcAft>
              <a:defRPr/>
            </a:pPr>
            <a:r>
              <a:rPr lang="en-US" altLang="zh-CN" sz="1200" kern="0" dirty="0">
                <a:latin typeface="等线" panose="02010600030101010101" charset="-122"/>
                <a:cs typeface="Arial" panose="020B0604020202020204" pitchFamily="34" charset="0"/>
                <a:sym typeface="+mn-ea"/>
              </a:rPr>
              <a:t>    </a:t>
            </a:r>
            <a:r>
              <a:rPr lang="zh-CN" altLang="en-US" sz="1200" kern="0" dirty="0">
                <a:latin typeface="等线" panose="02010600030101010101" charset="-122"/>
                <a:cs typeface="Arial" panose="020B0604020202020204" pitchFamily="34" charset="0"/>
                <a:sym typeface="+mn-ea"/>
              </a:rPr>
              <a:t>针对信息的操作：</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3. EI: External Input</a:t>
            </a:r>
            <a:r>
              <a:rPr lang="zh-CN" altLang="zh-CN" sz="1200" kern="0" dirty="0">
                <a:latin typeface="等线" panose="02010600030101010101" charset="-122"/>
                <a:cs typeface="Arial" panose="020B0604020202020204" pitchFamily="34" charset="0"/>
                <a:sym typeface="+mn-ea"/>
              </a:rPr>
              <a:t>外部输入</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4. EO: External Output</a:t>
            </a:r>
            <a:r>
              <a:rPr lang="zh-CN" altLang="zh-CN" sz="1200" kern="0" dirty="0">
                <a:latin typeface="等线" panose="02010600030101010101" charset="-122"/>
                <a:cs typeface="Arial" panose="020B0604020202020204" pitchFamily="34" charset="0"/>
                <a:sym typeface="+mn-ea"/>
              </a:rPr>
              <a:t>外部输出</a:t>
            </a:r>
            <a:br>
              <a:rPr lang="en-US" altLang="zh-CN" sz="1200" kern="0" dirty="0">
                <a:latin typeface="等线" panose="02010600030101010101" charset="-122"/>
                <a:cs typeface="Arial" panose="020B0604020202020204" pitchFamily="34" charset="0"/>
                <a:sym typeface="+mn-ea"/>
              </a:rPr>
            </a:br>
            <a:r>
              <a:rPr lang="en-US" altLang="zh-CN" sz="1200" kern="0" dirty="0">
                <a:latin typeface="等线" panose="02010600030101010101" charset="-122"/>
                <a:cs typeface="Arial" panose="020B0604020202020204" pitchFamily="34" charset="0"/>
                <a:sym typeface="+mn-ea"/>
              </a:rPr>
              <a:t>    5. EQ: External Inquiry</a:t>
            </a:r>
            <a:r>
              <a:rPr lang="zh-CN" altLang="zh-CN" sz="1200" kern="0" dirty="0">
                <a:latin typeface="等线" panose="02010600030101010101" charset="-122"/>
                <a:cs typeface="Arial" panose="020B0604020202020204" pitchFamily="34" charset="0"/>
                <a:sym typeface="+mn-ea"/>
              </a:rPr>
              <a:t>外部查询</a:t>
            </a:r>
            <a:endParaRPr lang="en-US" altLang="zh-CN" sz="1200" dirty="0">
              <a:latin typeface="Arial" panose="020B0604020202020204" pitchFamily="34" charset="0"/>
            </a:endParaRPr>
          </a:p>
          <a:p>
            <a:endParaRPr lang="zh-CN" altLang="en-US" dirty="0"/>
          </a:p>
        </p:txBody>
      </p:sp>
      <p:sp>
        <p:nvSpPr>
          <p:cNvPr id="4" name="灯片编号占位符 3"/>
          <p:cNvSpPr>
            <a:spLocks noGrp="1"/>
          </p:cNvSpPr>
          <p:nvPr>
            <p:ph type="sldNum" sz="quarter" idx="5"/>
          </p:nvPr>
        </p:nvSpPr>
        <p:spPr/>
        <p:txBody>
          <a:bodyPr/>
          <a:lstStyle/>
          <a:p>
            <a:pPr>
              <a:defRPr/>
            </a:pPr>
            <a:fld id="{9ABF73B3-AB42-43BE-BB63-9452E30E81D8}" type="slidenum">
              <a:rPr lang="en-US" altLang="zh-CN" smtClean="0"/>
              <a:t>27</a:t>
            </a:fld>
            <a:endParaRPr lang="zh-CN" altLang="en-US"/>
          </a:p>
        </p:txBody>
      </p:sp>
    </p:spTree>
    <p:extLst>
      <p:ext uri="{BB962C8B-B14F-4D97-AF65-F5344CB8AC3E}">
        <p14:creationId xmlns:p14="http://schemas.microsoft.com/office/powerpoint/2010/main" val="5985555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ts val="1950"/>
              </a:lnSpc>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最终调整后的功能点数量为：</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algn="ctr">
              <a:lnSpc>
                <a:spcPts val="1950"/>
              </a:lnSpc>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19 + 25 + 9 + 5</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 0.84 = 48.72</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个</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endParaRPr lang="zh-CN" altLang="en-US" dirty="0"/>
          </a:p>
        </p:txBody>
      </p:sp>
      <p:sp>
        <p:nvSpPr>
          <p:cNvPr id="4" name="灯片编号占位符 3"/>
          <p:cNvSpPr>
            <a:spLocks noGrp="1"/>
          </p:cNvSpPr>
          <p:nvPr>
            <p:ph type="sldNum" sz="quarter" idx="5"/>
          </p:nvPr>
        </p:nvSpPr>
        <p:spPr/>
        <p:txBody>
          <a:bodyPr/>
          <a:lstStyle/>
          <a:p>
            <a:pPr>
              <a:defRPr/>
            </a:pPr>
            <a:fld id="{9ABF73B3-AB42-43BE-BB63-9452E30E81D8}" type="slidenum">
              <a:rPr lang="en-US" altLang="zh-CN" smtClean="0"/>
              <a:t>28</a:t>
            </a:fld>
            <a:endParaRPr lang="zh-CN" altLang="en-US"/>
          </a:p>
        </p:txBody>
      </p:sp>
    </p:spTree>
    <p:extLst>
      <p:ext uri="{BB962C8B-B14F-4D97-AF65-F5344CB8AC3E}">
        <p14:creationId xmlns:p14="http://schemas.microsoft.com/office/powerpoint/2010/main" val="6404175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image" Target="../media/image14.png"/><Relationship Id="rId3" Type="http://schemas.openxmlformats.org/officeDocument/2006/relationships/image" Target="../media/image4.png"/><Relationship Id="rId7" Type="http://schemas.openxmlformats.org/officeDocument/2006/relationships/image" Target="../media/image8.png"/><Relationship Id="rId12" Type="http://schemas.openxmlformats.org/officeDocument/2006/relationships/image" Target="../media/image13.png"/><Relationship Id="rId2" Type="http://schemas.openxmlformats.org/officeDocument/2006/relationships/image" Target="../media/image3.png"/><Relationship Id="rId1" Type="http://schemas.openxmlformats.org/officeDocument/2006/relationships/slideMaster" Target="../slideMasters/slideMaster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 Id="rId14" Type="http://schemas.openxmlformats.org/officeDocument/2006/relationships/image" Target="../media/image15.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238250"/>
            <a:ext cx="9144000" cy="2632075"/>
          </a:xfrm>
        </p:spPr>
        <p:txBody>
          <a:bodyPr anchor="b"/>
          <a:lstStyle>
            <a:lvl1pPr algn="ctr">
              <a:defRPr sz="6000"/>
            </a:lvl1pPr>
          </a:lstStyle>
          <a:p>
            <a:r>
              <a:rPr lang="zh-CN" altLang="en-US" dirty="0"/>
              <a:t>单击此处编辑母版标题样式</a:t>
            </a:r>
          </a:p>
        </p:txBody>
      </p:sp>
      <p:sp>
        <p:nvSpPr>
          <p:cNvPr id="3" name="副标题 2"/>
          <p:cNvSpPr>
            <a:spLocks noGrp="1"/>
          </p:cNvSpPr>
          <p:nvPr>
            <p:ph type="subTitle" idx="1"/>
          </p:nvPr>
        </p:nvSpPr>
        <p:spPr>
          <a:xfrm>
            <a:off x="1524000" y="3971925"/>
            <a:ext cx="9144000" cy="1825625"/>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pPr>
              <a:defRPr/>
            </a:pPr>
            <a:fld id="{2AF88477-48E1-4CF0-8EB9-142E499F7548}" type="datetimeFigureOut">
              <a:rPr lang="zh-CN" altLang="en-US"/>
              <a:t>2020/11/2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DEFD1C6A-13D5-4BC6-A7E2-4B62A58330D4}" type="slidenum">
              <a:rPr lang="zh-CN" altLang="en-US"/>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a:defRPr/>
            </a:pPr>
            <a:fld id="{6C31440A-D864-41DC-B390-C88EBD02AB7F}" type="datetimeFigureOut">
              <a:rPr lang="zh-CN" altLang="en-US"/>
              <a:t>2020/11/2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C5FD14F6-A94F-4B13-B731-9423223642F6}" type="slidenum">
              <a:rPr lang="zh-CN" altLang="en-US"/>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884363"/>
            <a:ext cx="10515600" cy="3146425"/>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5059363"/>
            <a:ext cx="10515600" cy="1654175"/>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pPr>
              <a:defRPr/>
            </a:pPr>
            <a:fld id="{FFFB1509-6FBC-4C48-B835-222CC488B31B}" type="datetimeFigureOut">
              <a:rPr lang="zh-CN" altLang="en-US"/>
              <a:t>2020/11/2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8FA9CEB8-CD95-423D-BCDB-CEEDD13B9761}" type="slidenum">
              <a:rPr lang="zh-CN" altLang="en-US"/>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403225"/>
            <a:ext cx="10515600" cy="1460500"/>
          </a:xfrm>
        </p:spPr>
        <p:txBody>
          <a:bodyPr/>
          <a:lstStyle/>
          <a:p>
            <a:r>
              <a:rPr lang="zh-CN" altLang="en-US"/>
              <a:t>单击此处编辑母版标题样式</a:t>
            </a:r>
          </a:p>
        </p:txBody>
      </p:sp>
      <p:sp>
        <p:nvSpPr>
          <p:cNvPr id="3" name="文本占位符 2"/>
          <p:cNvSpPr>
            <a:spLocks noGrp="1"/>
          </p:cNvSpPr>
          <p:nvPr>
            <p:ph type="body" idx="1"/>
          </p:nvPr>
        </p:nvSpPr>
        <p:spPr>
          <a:xfrm>
            <a:off x="839788" y="1854200"/>
            <a:ext cx="5157787"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762250"/>
            <a:ext cx="5157787" cy="406241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854200"/>
            <a:ext cx="5183188" cy="908050"/>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762250"/>
            <a:ext cx="5183188" cy="4062413"/>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3"/>
          <p:cNvSpPr>
            <a:spLocks noGrp="1"/>
          </p:cNvSpPr>
          <p:nvPr>
            <p:ph type="dt" sz="half" idx="10"/>
          </p:nvPr>
        </p:nvSpPr>
        <p:spPr/>
        <p:txBody>
          <a:bodyPr/>
          <a:lstStyle>
            <a:lvl1pPr>
              <a:defRPr/>
            </a:lvl1pPr>
          </a:lstStyle>
          <a:p>
            <a:pPr>
              <a:defRPr/>
            </a:pPr>
            <a:fld id="{ABF9E5F5-4F3C-4614-A20C-3DF1A6632E2A}" type="datetimeFigureOut">
              <a:rPr lang="zh-CN" altLang="en-US"/>
              <a:t>2020/11/2</a:t>
            </a:fld>
            <a:endParaRPr lang="zh-CN" altLang="en-US"/>
          </a:p>
        </p:txBody>
      </p:sp>
      <p:sp>
        <p:nvSpPr>
          <p:cNvPr id="8" name="页脚占位符 4"/>
          <p:cNvSpPr>
            <a:spLocks noGrp="1"/>
          </p:cNvSpPr>
          <p:nvPr>
            <p:ph type="ftr" sz="quarter" idx="11"/>
          </p:nvPr>
        </p:nvSpPr>
        <p:spPr/>
        <p:txBody>
          <a:bodyPr/>
          <a:lstStyle>
            <a:lvl1pPr>
              <a:defRPr/>
            </a:lvl1pPr>
          </a:lstStyle>
          <a:p>
            <a:pPr>
              <a:defRPr/>
            </a:pPr>
            <a:endParaRPr lang="zh-CN" altLang="en-US"/>
          </a:p>
        </p:txBody>
      </p:sp>
      <p:sp>
        <p:nvSpPr>
          <p:cNvPr id="9" name="灯片编号占位符 5"/>
          <p:cNvSpPr>
            <a:spLocks noGrp="1"/>
          </p:cNvSpPr>
          <p:nvPr>
            <p:ph type="sldNum" sz="quarter" idx="12"/>
          </p:nvPr>
        </p:nvSpPr>
        <p:spPr/>
        <p:txBody>
          <a:bodyPr/>
          <a:lstStyle>
            <a:lvl1pPr>
              <a:defRPr/>
            </a:lvl1pPr>
          </a:lstStyle>
          <a:p>
            <a:pPr>
              <a:defRPr/>
            </a:pPr>
            <a:fld id="{5890CA61-C042-4080-BBF8-D021CCA4086C}" type="slidenum">
              <a:rPr lang="zh-CN" altLang="en-US"/>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3"/>
          <p:cNvSpPr>
            <a:spLocks noGrp="1"/>
          </p:cNvSpPr>
          <p:nvPr>
            <p:ph type="dt" sz="half" idx="10"/>
          </p:nvPr>
        </p:nvSpPr>
        <p:spPr/>
        <p:txBody>
          <a:bodyPr/>
          <a:lstStyle>
            <a:lvl1pPr>
              <a:defRPr/>
            </a:lvl1pPr>
          </a:lstStyle>
          <a:p>
            <a:pPr>
              <a:defRPr/>
            </a:pPr>
            <a:fld id="{08424AE9-F93C-48C5-87A1-E423B835A9A1}" type="datetimeFigureOut">
              <a:rPr lang="zh-CN" altLang="en-US"/>
              <a:t>2020/11/2</a:t>
            </a:fld>
            <a:endParaRPr lang="zh-CN" altLang="en-US"/>
          </a:p>
        </p:txBody>
      </p:sp>
      <p:sp>
        <p:nvSpPr>
          <p:cNvPr id="4" name="页脚占位符 4"/>
          <p:cNvSpPr>
            <a:spLocks noGrp="1"/>
          </p:cNvSpPr>
          <p:nvPr>
            <p:ph type="ftr" sz="quarter" idx="11"/>
          </p:nvPr>
        </p:nvSpPr>
        <p:spPr/>
        <p:txBody>
          <a:bodyPr/>
          <a:lstStyle>
            <a:lvl1pPr>
              <a:defRPr/>
            </a:lvl1pPr>
          </a:lstStyle>
          <a:p>
            <a:pPr>
              <a:defRPr/>
            </a:pPr>
            <a:endParaRPr lang="zh-CN" altLang="en-US"/>
          </a:p>
        </p:txBody>
      </p:sp>
      <p:sp>
        <p:nvSpPr>
          <p:cNvPr id="5" name="灯片编号占位符 5"/>
          <p:cNvSpPr>
            <a:spLocks noGrp="1"/>
          </p:cNvSpPr>
          <p:nvPr>
            <p:ph type="sldNum" sz="quarter" idx="12"/>
          </p:nvPr>
        </p:nvSpPr>
        <p:spPr/>
        <p:txBody>
          <a:bodyPr/>
          <a:lstStyle>
            <a:lvl1pPr>
              <a:defRPr/>
            </a:lvl1pPr>
          </a:lstStyle>
          <a:p>
            <a:pPr>
              <a:defRPr/>
            </a:pPr>
            <a:fld id="{196BF27D-831E-4312-BB77-8E0F1FC072FF}" type="slidenum">
              <a:rPr lang="zh-CN" altLang="en-US"/>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504825"/>
            <a:ext cx="3932237" cy="1763713"/>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1089025"/>
            <a:ext cx="6172200" cy="5373688"/>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268538"/>
            <a:ext cx="3932237" cy="42021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0A263C05-7030-494B-86A6-50B10EEB1B79}" type="datetimeFigureOut">
              <a:rPr lang="zh-CN" altLang="en-US"/>
              <a:t>2020/11/2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0AAD7715-F44A-4019-83F4-2F755408C5A8}" type="slidenum">
              <a:rPr lang="zh-CN" altLang="en-US"/>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504825"/>
            <a:ext cx="3932237" cy="1763713"/>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1089025"/>
            <a:ext cx="6172200" cy="5373688"/>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839788" y="2268538"/>
            <a:ext cx="3932237" cy="4202112"/>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3"/>
          <p:cNvSpPr>
            <a:spLocks noGrp="1"/>
          </p:cNvSpPr>
          <p:nvPr>
            <p:ph type="dt" sz="half" idx="10"/>
          </p:nvPr>
        </p:nvSpPr>
        <p:spPr/>
        <p:txBody>
          <a:bodyPr/>
          <a:lstStyle>
            <a:lvl1pPr>
              <a:defRPr/>
            </a:lvl1pPr>
          </a:lstStyle>
          <a:p>
            <a:pPr>
              <a:defRPr/>
            </a:pPr>
            <a:fld id="{A1B0C7C4-D140-417F-9901-FDB328CAE89E}" type="datetimeFigureOut">
              <a:rPr lang="zh-CN" altLang="en-US"/>
              <a:t>2020/11/2</a:t>
            </a:fld>
            <a:endParaRPr lang="zh-CN" altLang="en-US"/>
          </a:p>
        </p:txBody>
      </p:sp>
      <p:sp>
        <p:nvSpPr>
          <p:cNvPr id="6" name="页脚占位符 4"/>
          <p:cNvSpPr>
            <a:spLocks noGrp="1"/>
          </p:cNvSpPr>
          <p:nvPr>
            <p:ph type="ftr" sz="quarter" idx="11"/>
          </p:nvPr>
        </p:nvSpPr>
        <p:spPr/>
        <p:txBody>
          <a:bodyPr/>
          <a:lstStyle>
            <a:lvl1pPr>
              <a:defRPr/>
            </a:lvl1pPr>
          </a:lstStyle>
          <a:p>
            <a:pPr>
              <a:defRPr/>
            </a:pPr>
            <a:endParaRPr lang="zh-CN" altLang="en-US"/>
          </a:p>
        </p:txBody>
      </p:sp>
      <p:sp>
        <p:nvSpPr>
          <p:cNvPr id="7" name="灯片编号占位符 5"/>
          <p:cNvSpPr>
            <a:spLocks noGrp="1"/>
          </p:cNvSpPr>
          <p:nvPr>
            <p:ph type="sldNum" sz="quarter" idx="12"/>
          </p:nvPr>
        </p:nvSpPr>
        <p:spPr/>
        <p:txBody>
          <a:bodyPr/>
          <a:lstStyle>
            <a:lvl1pPr>
              <a:defRPr/>
            </a:lvl1pPr>
          </a:lstStyle>
          <a:p>
            <a:pPr>
              <a:defRPr/>
            </a:pPr>
            <a:fld id="{770C33FD-8D31-44BA-84BB-39A9F3B21023}" type="slidenum">
              <a:rPr lang="zh-CN" altLang="en-US"/>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a:defRPr/>
            </a:pPr>
            <a:fld id="{0FBAB5F6-AEBA-4CAF-BAF6-C7FA61E49E9E}" type="datetimeFigureOut">
              <a:rPr lang="zh-CN" altLang="en-US"/>
              <a:t>2020/11/2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22018F51-F472-44A8-94EB-976086C94C6B}" type="slidenum">
              <a:rPr lang="zh-CN" altLang="en-US"/>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403225"/>
            <a:ext cx="2628900" cy="640715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403225"/>
            <a:ext cx="7734300" cy="640715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lvl1pPr>
              <a:defRPr/>
            </a:lvl1pPr>
          </a:lstStyle>
          <a:p>
            <a:pPr>
              <a:defRPr/>
            </a:pPr>
            <a:fld id="{E453F553-164D-4CA1-B5EB-33509E033991}" type="datetimeFigureOut">
              <a:rPr lang="zh-CN" altLang="en-US"/>
              <a:t>2020/11/2</a:t>
            </a:fld>
            <a:endParaRPr lang="zh-CN" altLang="en-US"/>
          </a:p>
        </p:txBody>
      </p:sp>
      <p:sp>
        <p:nvSpPr>
          <p:cNvPr id="5" name="页脚占位符 4"/>
          <p:cNvSpPr>
            <a:spLocks noGrp="1"/>
          </p:cNvSpPr>
          <p:nvPr>
            <p:ph type="ftr" sz="quarter" idx="11"/>
          </p:nvPr>
        </p:nvSpPr>
        <p:spPr/>
        <p:txBody>
          <a:bodyPr/>
          <a:lstStyle>
            <a:lvl1pPr>
              <a:defRPr/>
            </a:lvl1pPr>
          </a:lstStyle>
          <a:p>
            <a:pPr>
              <a:defRPr/>
            </a:pPr>
            <a:endParaRPr lang="zh-CN" altLang="en-US"/>
          </a:p>
        </p:txBody>
      </p:sp>
      <p:sp>
        <p:nvSpPr>
          <p:cNvPr id="6" name="灯片编号占位符 5"/>
          <p:cNvSpPr>
            <a:spLocks noGrp="1"/>
          </p:cNvSpPr>
          <p:nvPr>
            <p:ph type="sldNum" sz="quarter" idx="12"/>
          </p:nvPr>
        </p:nvSpPr>
        <p:spPr/>
        <p:txBody>
          <a:bodyPr/>
          <a:lstStyle>
            <a:lvl1pPr>
              <a:defRPr/>
            </a:lvl1pPr>
          </a:lstStyle>
          <a:p>
            <a:pPr>
              <a:defRPr/>
            </a:pPr>
            <a:fld id="{EF486E0E-3EF3-4F79-BC03-ADB2ACD30997}" type="slidenum">
              <a:rPr lang="zh-CN" altLang="en-US"/>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825323" y="1001125"/>
            <a:ext cx="10597485" cy="700088"/>
          </a:xfrm>
        </p:spPr>
        <p:txBody>
          <a:bodyPr/>
          <a:lstStyle>
            <a:lvl1pPr>
              <a:defRPr>
                <a:solidFill>
                  <a:schemeClr val="accent1"/>
                </a:solidFill>
              </a:defRPr>
            </a:lvl1pPr>
          </a:lstStyle>
          <a:p>
            <a:r>
              <a:rPr lang="zh-CN" altLang="en-US"/>
              <a:t>单击此处编辑母版标题样式</a:t>
            </a:r>
          </a:p>
        </p:txBody>
      </p:sp>
      <p:sp>
        <p:nvSpPr>
          <p:cNvPr id="3" name="内容占位符 2"/>
          <p:cNvSpPr>
            <a:spLocks noGrp="1"/>
          </p:cNvSpPr>
          <p:nvPr>
            <p:ph idx="1"/>
          </p:nvPr>
        </p:nvSpPr>
        <p:spPr>
          <a:xfrm>
            <a:off x="825323" y="1764221"/>
            <a:ext cx="10597485" cy="4989874"/>
          </a:xfrm>
        </p:spPr>
        <p:txBody>
          <a:bodyPr/>
          <a:lstStyle>
            <a:lvl1pPr>
              <a:defRPr>
                <a:solidFill>
                  <a:schemeClr val="accent1"/>
                </a:solidFill>
              </a:defRPr>
            </a:lvl1pPr>
            <a:lvl2pPr>
              <a:defRPr>
                <a:solidFill>
                  <a:schemeClr val="accent1"/>
                </a:solidFill>
              </a:defRPr>
            </a:lvl2pPr>
            <a:lvl3pPr>
              <a:defRPr>
                <a:solidFill>
                  <a:schemeClr val="accent1"/>
                </a:solidFill>
              </a:defRPr>
            </a:lvl3pPr>
            <a:lvl4pPr>
              <a:defRPr>
                <a:solidFill>
                  <a:schemeClr val="accent1"/>
                </a:solidFill>
              </a:defRPr>
            </a:lvl4pPr>
            <a:lvl5pPr>
              <a:defRPr>
                <a:solidFill>
                  <a:schemeClr val="accent1"/>
                </a:solidFill>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8" name="Freeform 5"/>
          <p:cNvSpPr/>
          <p:nvPr userDrawn="1"/>
        </p:nvSpPr>
        <p:spPr bwMode="auto">
          <a:xfrm>
            <a:off x="63813" y="80674"/>
            <a:ext cx="1226705" cy="536329"/>
          </a:xfrm>
          <a:custGeom>
            <a:avLst/>
            <a:gdLst>
              <a:gd name="T0" fmla="*/ 0 w 1600"/>
              <a:gd name="T1" fmla="*/ 0 h 617"/>
              <a:gd name="T2" fmla="*/ 1429 w 1600"/>
              <a:gd name="T3" fmla="*/ 0 h 617"/>
              <a:gd name="T4" fmla="*/ 1600 w 1600"/>
              <a:gd name="T5" fmla="*/ 308 h 617"/>
              <a:gd name="T6" fmla="*/ 1429 w 1600"/>
              <a:gd name="T7" fmla="*/ 617 h 617"/>
              <a:gd name="T8" fmla="*/ 0 w 1600"/>
              <a:gd name="T9" fmla="*/ 617 h 617"/>
              <a:gd name="T10" fmla="*/ 0 w 1600"/>
              <a:gd name="T11" fmla="*/ 0 h 617"/>
            </a:gdLst>
            <a:ahLst/>
            <a:cxnLst>
              <a:cxn ang="0">
                <a:pos x="T0" y="T1"/>
              </a:cxn>
              <a:cxn ang="0">
                <a:pos x="T2" y="T3"/>
              </a:cxn>
              <a:cxn ang="0">
                <a:pos x="T4" y="T5"/>
              </a:cxn>
              <a:cxn ang="0">
                <a:pos x="T6" y="T7"/>
              </a:cxn>
              <a:cxn ang="0">
                <a:pos x="T8" y="T9"/>
              </a:cxn>
              <a:cxn ang="0">
                <a:pos x="T10" y="T11"/>
              </a:cxn>
            </a:cxnLst>
            <a:rect l="0" t="0" r="r" b="b"/>
            <a:pathLst>
              <a:path w="1600" h="617">
                <a:moveTo>
                  <a:pt x="0" y="0"/>
                </a:moveTo>
                <a:lnTo>
                  <a:pt x="1429" y="0"/>
                </a:lnTo>
                <a:lnTo>
                  <a:pt x="1600" y="308"/>
                </a:lnTo>
                <a:lnTo>
                  <a:pt x="1429" y="617"/>
                </a:lnTo>
                <a:lnTo>
                  <a:pt x="0" y="617"/>
                </a:lnTo>
                <a:lnTo>
                  <a:pt x="0" y="0"/>
                </a:lnTo>
                <a:close/>
              </a:path>
            </a:pathLst>
          </a:custGeom>
          <a:solidFill>
            <a:schemeClr val="tx1"/>
          </a:solidFill>
          <a:ln>
            <a:noFill/>
          </a:ln>
        </p:spPr>
        <p:txBody>
          <a:bodyPr vert="horz" wrap="square" lIns="91406" tIns="45703" rIns="91406" bIns="45703" numCol="1" anchor="t" anchorCtr="0" compatLnSpc="1"/>
          <a:lstStyle/>
          <a:p>
            <a:endParaRPr lang="zh-CN" altLang="en-US" sz="100"/>
          </a:p>
        </p:txBody>
      </p:sp>
      <p:sp>
        <p:nvSpPr>
          <p:cNvPr id="9" name="Freeform 6"/>
          <p:cNvSpPr/>
          <p:nvPr userDrawn="1"/>
        </p:nvSpPr>
        <p:spPr bwMode="auto">
          <a:xfrm>
            <a:off x="1196398" y="80674"/>
            <a:ext cx="10212086" cy="536329"/>
          </a:xfrm>
          <a:custGeom>
            <a:avLst/>
            <a:gdLst>
              <a:gd name="T0" fmla="*/ 0 w 13327"/>
              <a:gd name="T1" fmla="*/ 0 h 617"/>
              <a:gd name="T2" fmla="*/ 13155 w 13327"/>
              <a:gd name="T3" fmla="*/ 0 h 617"/>
              <a:gd name="T4" fmla="*/ 13327 w 13327"/>
              <a:gd name="T5" fmla="*/ 308 h 617"/>
              <a:gd name="T6" fmla="*/ 13155 w 13327"/>
              <a:gd name="T7" fmla="*/ 617 h 617"/>
              <a:gd name="T8" fmla="*/ 0 w 13327"/>
              <a:gd name="T9" fmla="*/ 617 h 617"/>
              <a:gd name="T10" fmla="*/ 171 w 13327"/>
              <a:gd name="T11" fmla="*/ 308 h 617"/>
              <a:gd name="T12" fmla="*/ 0 w 13327"/>
              <a:gd name="T13" fmla="*/ 0 h 617"/>
            </a:gdLst>
            <a:ahLst/>
            <a:cxnLst>
              <a:cxn ang="0">
                <a:pos x="T0" y="T1"/>
              </a:cxn>
              <a:cxn ang="0">
                <a:pos x="T2" y="T3"/>
              </a:cxn>
              <a:cxn ang="0">
                <a:pos x="T4" y="T5"/>
              </a:cxn>
              <a:cxn ang="0">
                <a:pos x="T6" y="T7"/>
              </a:cxn>
              <a:cxn ang="0">
                <a:pos x="T8" y="T9"/>
              </a:cxn>
              <a:cxn ang="0">
                <a:pos x="T10" y="T11"/>
              </a:cxn>
              <a:cxn ang="0">
                <a:pos x="T12" y="T13"/>
              </a:cxn>
            </a:cxnLst>
            <a:rect l="0" t="0" r="r" b="b"/>
            <a:pathLst>
              <a:path w="13327" h="617">
                <a:moveTo>
                  <a:pt x="0" y="0"/>
                </a:moveTo>
                <a:lnTo>
                  <a:pt x="13155" y="0"/>
                </a:lnTo>
                <a:lnTo>
                  <a:pt x="13327" y="308"/>
                </a:lnTo>
                <a:lnTo>
                  <a:pt x="13155" y="617"/>
                </a:lnTo>
                <a:lnTo>
                  <a:pt x="0" y="617"/>
                </a:lnTo>
                <a:lnTo>
                  <a:pt x="171" y="308"/>
                </a:lnTo>
                <a:lnTo>
                  <a:pt x="0" y="0"/>
                </a:lnTo>
                <a:close/>
              </a:path>
            </a:pathLst>
          </a:custGeom>
          <a:solidFill>
            <a:schemeClr val="accent1"/>
          </a:solidFill>
          <a:ln>
            <a:noFill/>
          </a:ln>
        </p:spPr>
        <p:txBody>
          <a:bodyPr vert="horz" wrap="square" lIns="91406" tIns="45703" rIns="91406" bIns="45703" numCol="1" anchor="t" anchorCtr="0" compatLnSpc="1"/>
          <a:lstStyle/>
          <a:p>
            <a:endParaRPr lang="zh-CN" altLang="en-US" sz="100"/>
          </a:p>
        </p:txBody>
      </p:sp>
      <p:sp>
        <p:nvSpPr>
          <p:cNvPr id="10" name="Freeform 7"/>
          <p:cNvSpPr/>
          <p:nvPr userDrawn="1"/>
        </p:nvSpPr>
        <p:spPr bwMode="auto">
          <a:xfrm>
            <a:off x="11315930" y="80674"/>
            <a:ext cx="812575" cy="536329"/>
          </a:xfrm>
          <a:custGeom>
            <a:avLst/>
            <a:gdLst>
              <a:gd name="T0" fmla="*/ 0 w 1060"/>
              <a:gd name="T1" fmla="*/ 0 h 617"/>
              <a:gd name="T2" fmla="*/ 1060 w 1060"/>
              <a:gd name="T3" fmla="*/ 0 h 617"/>
              <a:gd name="T4" fmla="*/ 1060 w 1060"/>
              <a:gd name="T5" fmla="*/ 617 h 617"/>
              <a:gd name="T6" fmla="*/ 0 w 1060"/>
              <a:gd name="T7" fmla="*/ 617 h 617"/>
              <a:gd name="T8" fmla="*/ 172 w 1060"/>
              <a:gd name="T9" fmla="*/ 308 h 617"/>
              <a:gd name="T10" fmla="*/ 0 w 1060"/>
              <a:gd name="T11" fmla="*/ 0 h 617"/>
            </a:gdLst>
            <a:ahLst/>
            <a:cxnLst>
              <a:cxn ang="0">
                <a:pos x="T0" y="T1"/>
              </a:cxn>
              <a:cxn ang="0">
                <a:pos x="T2" y="T3"/>
              </a:cxn>
              <a:cxn ang="0">
                <a:pos x="T4" y="T5"/>
              </a:cxn>
              <a:cxn ang="0">
                <a:pos x="T6" y="T7"/>
              </a:cxn>
              <a:cxn ang="0">
                <a:pos x="T8" y="T9"/>
              </a:cxn>
              <a:cxn ang="0">
                <a:pos x="T10" y="T11"/>
              </a:cxn>
            </a:cxnLst>
            <a:rect l="0" t="0" r="r" b="b"/>
            <a:pathLst>
              <a:path w="1060" h="617">
                <a:moveTo>
                  <a:pt x="0" y="0"/>
                </a:moveTo>
                <a:lnTo>
                  <a:pt x="1060" y="0"/>
                </a:lnTo>
                <a:lnTo>
                  <a:pt x="1060" y="617"/>
                </a:lnTo>
                <a:lnTo>
                  <a:pt x="0" y="617"/>
                </a:lnTo>
                <a:lnTo>
                  <a:pt x="172" y="308"/>
                </a:lnTo>
                <a:lnTo>
                  <a:pt x="0" y="0"/>
                </a:lnTo>
                <a:close/>
              </a:path>
            </a:pathLst>
          </a:custGeom>
          <a:solidFill>
            <a:schemeClr val="accent1"/>
          </a:solidFill>
          <a:ln>
            <a:noFill/>
          </a:ln>
        </p:spPr>
        <p:txBody>
          <a:bodyPr vert="horz" wrap="square" lIns="91406" tIns="45703" rIns="91406" bIns="45703" numCol="1" anchor="t" anchorCtr="0" compatLnSpc="1"/>
          <a:lstStyle/>
          <a:p>
            <a:endParaRPr lang="zh-CN" altLang="en-US" sz="100"/>
          </a:p>
        </p:txBody>
      </p:sp>
      <p:sp>
        <p:nvSpPr>
          <p:cNvPr id="15" name="TextBox 14"/>
          <p:cNvSpPr txBox="1"/>
          <p:nvPr userDrawn="1"/>
        </p:nvSpPr>
        <p:spPr>
          <a:xfrm>
            <a:off x="11611726" y="128587"/>
            <a:ext cx="316865" cy="368300"/>
          </a:xfrm>
          <a:prstGeom prst="rect">
            <a:avLst/>
          </a:prstGeom>
          <a:noFill/>
        </p:spPr>
        <p:txBody>
          <a:bodyPr wrap="none" rtlCol="0">
            <a:spAutoFit/>
          </a:bodyPr>
          <a:lstStyle/>
          <a:p>
            <a:pPr algn="ctr"/>
            <a:fld id="{B879B013-EF15-44F9-9A4C-93BE492C244C}" type="slidenum">
              <a:rPr lang="zh-CN" altLang="en-US" sz="1800" smtClean="0">
                <a:solidFill>
                  <a:schemeClr val="accent2"/>
                </a:solidFill>
                <a:latin typeface="+mn-ea"/>
                <a:ea typeface="+mn-ea"/>
              </a:rPr>
              <a:t>‹#›</a:t>
            </a:fld>
            <a:endParaRPr lang="zh-CN" altLang="en-US" sz="1800" dirty="0">
              <a:solidFill>
                <a:schemeClr val="accent2"/>
              </a:solidFill>
              <a:latin typeface="+mn-ea"/>
              <a:ea typeface="+mn-ea"/>
            </a:endParaRPr>
          </a:p>
        </p:txBody>
      </p:sp>
    </p:spTree>
  </p:cSld>
  <p:clrMapOvr>
    <a:masterClrMapping/>
  </p:clrMapOvr>
  <mc:AlternateContent xmlns:mc="http://schemas.openxmlformats.org/markup-compatibility/2006" xmlns:p14="http://schemas.microsoft.com/office/powerpoint/2010/main">
    <mc:Choice Requires="p14">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14:presetBounceEnd="33000">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14:bounceEnd="33000">
                                          <p:cBhvr additive="base">
                                            <p:cTn id="7" dur="300" fill="hold"/>
                                            <p:tgtEl>
                                              <p:spTgt spid="8"/>
                                            </p:tgtEl>
                                            <p:attrNameLst>
                                              <p:attrName>ppt_x</p:attrName>
                                            </p:attrNameLst>
                                          </p:cBhvr>
                                          <p:tavLst>
                                            <p:tav tm="0">
                                              <p:val>
                                                <p:strVal val="0-#ppt_w/2"/>
                                              </p:val>
                                            </p:tav>
                                            <p:tav tm="100000">
                                              <p:val>
                                                <p:strVal val="#ppt_x"/>
                                              </p:val>
                                            </p:tav>
                                          </p:tavLst>
                                        </p:anim>
                                        <p:anim calcmode="lin" valueType="num" p14:bounceEnd="33000">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14:presetBounceEnd="33000">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14:bounceEnd="33000">
                                          <p:cBhvr additive="base">
                                            <p:cTn id="16" dur="300" fill="hold"/>
                                            <p:tgtEl>
                                              <p:spTgt spid="10"/>
                                            </p:tgtEl>
                                            <p:attrNameLst>
                                              <p:attrName>ppt_x</p:attrName>
                                            </p:attrNameLst>
                                          </p:cBhvr>
                                          <p:tavLst>
                                            <p:tav tm="0">
                                              <p:val>
                                                <p:strVal val="1+#ppt_w/2"/>
                                              </p:val>
                                            </p:tav>
                                            <p:tav tm="100000">
                                              <p:val>
                                                <p:strVal val="#ppt_x"/>
                                              </p:val>
                                            </p:tav>
                                          </p:tavLst>
                                        </p:anim>
                                        <p:anim calcmode="lin" valueType="num" p14:bounceEnd="33000">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bldLvl="0" animBg="1"/>
        </p:bldLst>
      </p:timing>
    </mc:Choice>
    <mc:Fallback xmlns="">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8" fill="hold" grpId="0" nodeType="after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300" fill="hold"/>
                                            <p:tgtEl>
                                              <p:spTgt spid="8"/>
                                            </p:tgtEl>
                                            <p:attrNameLst>
                                              <p:attrName>ppt_x</p:attrName>
                                            </p:attrNameLst>
                                          </p:cBhvr>
                                          <p:tavLst>
                                            <p:tav tm="0">
                                              <p:val>
                                                <p:strVal val="0-#ppt_w/2"/>
                                              </p:val>
                                            </p:tav>
                                            <p:tav tm="100000">
                                              <p:val>
                                                <p:strVal val="#ppt_x"/>
                                              </p:val>
                                            </p:tav>
                                          </p:tavLst>
                                        </p:anim>
                                        <p:anim calcmode="lin" valueType="num">
                                          <p:cBhvr additive="base">
                                            <p:cTn id="8" dur="300" fill="hold"/>
                                            <p:tgtEl>
                                              <p:spTgt spid="8"/>
                                            </p:tgtEl>
                                            <p:attrNameLst>
                                              <p:attrName>ppt_y</p:attrName>
                                            </p:attrNameLst>
                                          </p:cBhvr>
                                          <p:tavLst>
                                            <p:tav tm="0">
                                              <p:val>
                                                <p:strVal val="#ppt_y"/>
                                              </p:val>
                                            </p:tav>
                                            <p:tav tm="100000">
                                              <p:val>
                                                <p:strVal val="#ppt_y"/>
                                              </p:val>
                                            </p:tav>
                                          </p:tavLst>
                                        </p:anim>
                                      </p:childTnLst>
                                    </p:cTn>
                                  </p:par>
                                </p:childTnLst>
                              </p:cTn>
                            </p:par>
                            <p:par>
                              <p:cTn id="9" fill="hold">
                                <p:stCondLst>
                                  <p:cond delay="500"/>
                                </p:stCondLst>
                                <p:childTnLst>
                                  <p:par>
                                    <p:cTn id="10" presetID="22" presetClass="entr" presetSubtype="8" fill="hold" grpId="0" nodeType="after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left)">
                                          <p:cBhvr>
                                            <p:cTn id="12" dur="300"/>
                                            <p:tgtEl>
                                              <p:spTgt spid="9"/>
                                            </p:tgtEl>
                                          </p:cBhvr>
                                        </p:animEffect>
                                      </p:childTnLst>
                                    </p:cTn>
                                  </p:par>
                                </p:childTnLst>
                              </p:cTn>
                            </p:par>
                            <p:par>
                              <p:cTn id="13" fill="hold">
                                <p:stCondLst>
                                  <p:cond delay="1000"/>
                                </p:stCondLst>
                                <p:childTnLst>
                                  <p:par>
                                    <p:cTn id="14" presetID="2" presetClass="entr" presetSubtype="2" fill="hold" grpId="0" nodeType="afterEffect">
                                      <p:stCondLst>
                                        <p:cond delay="0"/>
                                      </p:stCondLst>
                                      <p:childTnLst>
                                        <p:set>
                                          <p:cBhvr>
                                            <p:cTn id="15" dur="1" fill="hold">
                                              <p:stCondLst>
                                                <p:cond delay="0"/>
                                              </p:stCondLst>
                                            </p:cTn>
                                            <p:tgtEl>
                                              <p:spTgt spid="10"/>
                                            </p:tgtEl>
                                            <p:attrNameLst>
                                              <p:attrName>style.visibility</p:attrName>
                                            </p:attrNameLst>
                                          </p:cBhvr>
                                          <p:to>
                                            <p:strVal val="visible"/>
                                          </p:to>
                                        </p:set>
                                        <p:anim calcmode="lin" valueType="num">
                                          <p:cBhvr additive="base">
                                            <p:cTn id="16" dur="300" fill="hold"/>
                                            <p:tgtEl>
                                              <p:spTgt spid="10"/>
                                            </p:tgtEl>
                                            <p:attrNameLst>
                                              <p:attrName>ppt_x</p:attrName>
                                            </p:attrNameLst>
                                          </p:cBhvr>
                                          <p:tavLst>
                                            <p:tav tm="0">
                                              <p:val>
                                                <p:strVal val="1+#ppt_w/2"/>
                                              </p:val>
                                            </p:tav>
                                            <p:tav tm="100000">
                                              <p:val>
                                                <p:strVal val="#ppt_x"/>
                                              </p:val>
                                            </p:tav>
                                          </p:tavLst>
                                        </p:anim>
                                        <p:anim calcmode="lin" valueType="num">
                                          <p:cBhvr additive="base">
                                            <p:cTn id="17" dur="300" fill="hold"/>
                                            <p:tgtEl>
                                              <p:spTgt spid="10"/>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ldLvl="0" animBg="1"/>
          <p:bldP spid="9" grpId="0" bldLvl="0" animBg="1"/>
          <p:bldP spid="10" grpId="0" bldLvl="0" animBg="1"/>
        </p:bldLst>
      </p:timing>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cstate="print">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title"/>
          </p:nvPr>
        </p:nvSpPr>
        <p:spPr>
          <a:xfrm>
            <a:off x="963262" y="4858607"/>
            <a:ext cx="10362597" cy="1501688"/>
          </a:xfrm>
        </p:spPr>
        <p:txBody>
          <a:bodyPr anchor="t"/>
          <a:lstStyle>
            <a:lvl1pPr algn="l">
              <a:defRPr sz="4000" b="1" cap="all">
                <a:solidFill>
                  <a:srgbClr val="F8F8F8"/>
                </a:solidFill>
              </a:defRPr>
            </a:lvl1pPr>
          </a:lstStyle>
          <a:p>
            <a:r>
              <a:rPr lang="zh-CN" altLang="en-US"/>
              <a:t>单击此处编辑母版标题样式</a:t>
            </a:r>
          </a:p>
        </p:txBody>
      </p:sp>
      <p:sp>
        <p:nvSpPr>
          <p:cNvPr id="3" name="文本占位符 2"/>
          <p:cNvSpPr>
            <a:spLocks noGrp="1"/>
          </p:cNvSpPr>
          <p:nvPr>
            <p:ph type="body" idx="1"/>
          </p:nvPr>
        </p:nvSpPr>
        <p:spPr>
          <a:xfrm>
            <a:off x="963262" y="3204651"/>
            <a:ext cx="10362597" cy="1653956"/>
          </a:xfrm>
        </p:spPr>
        <p:txBody>
          <a:bodyPr anchor="b"/>
          <a:lstStyle>
            <a:lvl1pPr marL="0" indent="0">
              <a:buNone/>
              <a:defRPr sz="2000">
                <a:solidFill>
                  <a:srgbClr val="F8F8F8"/>
                </a:solidFill>
              </a:defRPr>
            </a:lvl1pPr>
            <a:lvl2pPr marL="457200" indent="0">
              <a:buNone/>
              <a:defRPr sz="1800"/>
            </a:lvl2pPr>
            <a:lvl3pPr marL="913765" indent="0">
              <a:buNone/>
              <a:defRPr sz="1600"/>
            </a:lvl3pPr>
            <a:lvl4pPr marL="1370965" indent="0">
              <a:buNone/>
              <a:defRPr sz="1400"/>
            </a:lvl4pPr>
            <a:lvl5pPr marL="1828165" indent="0">
              <a:buNone/>
              <a:defRPr sz="1400"/>
            </a:lvl5pPr>
            <a:lvl6pPr marL="2285365" indent="0">
              <a:buNone/>
              <a:defRPr sz="1400"/>
            </a:lvl6pPr>
            <a:lvl7pPr marL="2741930" indent="0">
              <a:buNone/>
              <a:defRPr sz="1400"/>
            </a:lvl7pPr>
            <a:lvl8pPr marL="3199130" indent="0">
              <a:buNone/>
              <a:defRPr sz="1400"/>
            </a:lvl8pPr>
            <a:lvl9pPr marL="3656330" indent="0">
              <a:buNone/>
              <a:defRPr sz="1400"/>
            </a:lvl9pPr>
          </a:lstStyle>
          <a:p>
            <a:pPr lvl="0"/>
            <a:r>
              <a:rPr lang="zh-CN" altLang="en-US"/>
              <a:t>单击此处编辑母版文本样式</a:t>
            </a: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09378" y="1764221"/>
            <a:ext cx="5409816" cy="498987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71538" y="1764221"/>
            <a:ext cx="5411402" cy="4989874"/>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378" y="302788"/>
            <a:ext cx="10973562" cy="1260158"/>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378" y="1692462"/>
            <a:ext cx="5387599" cy="705338"/>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378" y="2397800"/>
            <a:ext cx="5387599" cy="435629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755" y="1692462"/>
            <a:ext cx="5389185" cy="705338"/>
          </a:xfrm>
        </p:spPr>
        <p:txBody>
          <a:bodyPr anchor="b"/>
          <a:lstStyle>
            <a:lvl1pPr marL="0" indent="0">
              <a:buNone/>
              <a:defRPr sz="2400" b="1"/>
            </a:lvl1pPr>
            <a:lvl2pPr marL="457200" indent="0">
              <a:buNone/>
              <a:defRPr sz="2000" b="1"/>
            </a:lvl2pPr>
            <a:lvl3pPr marL="913765" indent="0">
              <a:buNone/>
              <a:defRPr sz="1800" b="1"/>
            </a:lvl3pPr>
            <a:lvl4pPr marL="1370965" indent="0">
              <a:buNone/>
              <a:defRPr sz="1600" b="1"/>
            </a:lvl4pPr>
            <a:lvl5pPr marL="1828165" indent="0">
              <a:buNone/>
              <a:defRPr sz="1600" b="1"/>
            </a:lvl5pPr>
            <a:lvl6pPr marL="2285365" indent="0">
              <a:buNone/>
              <a:defRPr sz="1600" b="1"/>
            </a:lvl6pPr>
            <a:lvl7pPr marL="2741930" indent="0">
              <a:buNone/>
              <a:defRPr sz="1600" b="1"/>
            </a:lvl7pPr>
            <a:lvl8pPr marL="3199130" indent="0">
              <a:buNone/>
              <a:defRPr sz="1600" b="1"/>
            </a:lvl8pPr>
            <a:lvl9pPr marL="365633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755" y="2397800"/>
            <a:ext cx="5389185" cy="4356295"/>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378" y="301038"/>
            <a:ext cx="4011737" cy="128116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7112" y="301038"/>
            <a:ext cx="6815828" cy="645305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378" y="1582198"/>
            <a:ext cx="4011737" cy="5171897"/>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a:r>
              <a:rPr lang="zh-CN" altLang="en-US"/>
              <a:t>单击此处编辑母版文本样式</a:t>
            </a: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904" y="5292662"/>
            <a:ext cx="7315708" cy="624829"/>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904" y="675584"/>
            <a:ext cx="7315708" cy="4536567"/>
          </a:xfrm>
        </p:spPr>
        <p:txBody>
          <a:bodyPr/>
          <a:lstStyle>
            <a:lvl1pPr marL="0" indent="0">
              <a:buNone/>
              <a:defRPr sz="3200"/>
            </a:lvl1pPr>
            <a:lvl2pPr marL="457200" indent="0">
              <a:buNone/>
              <a:defRPr sz="2800"/>
            </a:lvl2pPr>
            <a:lvl3pPr marL="913765" indent="0">
              <a:buNone/>
              <a:defRPr sz="2400"/>
            </a:lvl3pPr>
            <a:lvl4pPr marL="1370965" indent="0">
              <a:buNone/>
              <a:defRPr sz="2000"/>
            </a:lvl4pPr>
            <a:lvl5pPr marL="1828165" indent="0">
              <a:buNone/>
              <a:defRPr sz="2000"/>
            </a:lvl5pPr>
            <a:lvl6pPr marL="2285365" indent="0">
              <a:buNone/>
              <a:defRPr sz="2000"/>
            </a:lvl6pPr>
            <a:lvl7pPr marL="2741930" indent="0">
              <a:buNone/>
              <a:defRPr sz="2000"/>
            </a:lvl7pPr>
            <a:lvl8pPr marL="3199130" indent="0">
              <a:buNone/>
              <a:defRPr sz="2000"/>
            </a:lvl8pPr>
            <a:lvl9pPr marL="3656330" indent="0">
              <a:buNone/>
              <a:defRPr sz="2000"/>
            </a:lvl9pPr>
          </a:lstStyle>
          <a:p>
            <a:endParaRPr lang="zh-CN" altLang="en-US"/>
          </a:p>
        </p:txBody>
      </p:sp>
      <p:sp>
        <p:nvSpPr>
          <p:cNvPr id="4" name="文本占位符 3"/>
          <p:cNvSpPr>
            <a:spLocks noGrp="1"/>
          </p:cNvSpPr>
          <p:nvPr>
            <p:ph type="body" sz="half" idx="2"/>
          </p:nvPr>
        </p:nvSpPr>
        <p:spPr>
          <a:xfrm>
            <a:off x="2389904" y="5917490"/>
            <a:ext cx="7315708" cy="887360"/>
          </a:xfrm>
        </p:spPr>
        <p:txBody>
          <a:bodyPr/>
          <a:lstStyle>
            <a:lvl1pPr marL="0" indent="0">
              <a:buNone/>
              <a:defRPr sz="1400"/>
            </a:lvl1pPr>
            <a:lvl2pPr marL="457200" indent="0">
              <a:buNone/>
              <a:defRPr sz="1200"/>
            </a:lvl2pPr>
            <a:lvl3pPr marL="913765" indent="0">
              <a:buNone/>
              <a:defRPr sz="1000"/>
            </a:lvl3pPr>
            <a:lvl4pPr marL="1370965" indent="0">
              <a:buNone/>
              <a:defRPr sz="900"/>
            </a:lvl4pPr>
            <a:lvl5pPr marL="1828165" indent="0">
              <a:buNone/>
              <a:defRPr sz="900"/>
            </a:lvl5pPr>
            <a:lvl6pPr marL="2285365" indent="0">
              <a:buNone/>
              <a:defRPr sz="900"/>
            </a:lvl6pPr>
            <a:lvl7pPr marL="2741930" indent="0">
              <a:buNone/>
              <a:defRPr sz="900"/>
            </a:lvl7pPr>
            <a:lvl8pPr marL="3199130" indent="0">
              <a:buNone/>
              <a:defRPr sz="900"/>
            </a:lvl8pPr>
            <a:lvl9pPr marL="3656330" indent="0">
              <a:buNone/>
              <a:defRPr sz="900"/>
            </a:lvl9pPr>
          </a:lstStyle>
          <a:p>
            <a:pPr lvl="0"/>
            <a:r>
              <a:rPr lang="zh-CN" altLang="en-US"/>
              <a:t>单击此处编辑母版文本样式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40740" y="1001125"/>
            <a:ext cx="2742200" cy="575297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378" y="1001125"/>
            <a:ext cx="8079018" cy="575297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1_标题幻灯片">
    <p:spTree>
      <p:nvGrpSpPr>
        <p:cNvPr id="1" name=""/>
        <p:cNvGrpSpPr/>
        <p:nvPr/>
      </p:nvGrpSpPr>
      <p:grpSpPr>
        <a:xfrm>
          <a:off x="0" y="0"/>
          <a:ext cx="0" cy="0"/>
          <a:chOff x="0" y="0"/>
          <a:chExt cx="0" cy="0"/>
        </a:xfrm>
      </p:grpSpPr>
      <p:pic>
        <p:nvPicPr>
          <p:cNvPr id="4" name="Picture 2" descr="PPECLOGO-eff-0-1"/>
          <p:cNvPicPr>
            <a:picLocks noChangeAspect="1" noChangeArrowheads="1"/>
          </p:cNvPicPr>
          <p:nvPr userDrawn="1"/>
        </p:nvPicPr>
        <p:blipFill>
          <a:blip r:embed="rId2" cstate="screen"/>
          <a:srcRect/>
          <a:stretch>
            <a:fillRect/>
          </a:stretch>
        </p:blipFill>
        <p:spPr bwMode="auto">
          <a:xfrm>
            <a:off x="4145402" y="3182486"/>
            <a:ext cx="1059963" cy="880665"/>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3" descr="PPECLOGO-eff-0-2"/>
          <p:cNvPicPr>
            <a:picLocks noChangeAspect="1" noChangeArrowheads="1"/>
          </p:cNvPicPr>
          <p:nvPr userDrawn="1"/>
        </p:nvPicPr>
        <p:blipFill>
          <a:blip r:embed="rId3" cstate="screen"/>
          <a:srcRect/>
          <a:stretch>
            <a:fillRect/>
          </a:stretch>
        </p:blipFill>
        <p:spPr bwMode="auto">
          <a:xfrm>
            <a:off x="8427390" y="3040987"/>
            <a:ext cx="1096414" cy="92493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descr="PPECLOGO-eff-0-3"/>
          <p:cNvPicPr>
            <a:picLocks noChangeAspect="1" noChangeArrowheads="1"/>
          </p:cNvPicPr>
          <p:nvPr userDrawn="1"/>
        </p:nvPicPr>
        <p:blipFill>
          <a:blip r:embed="rId4" cstate="print"/>
          <a:srcRect/>
          <a:stretch>
            <a:fillRect/>
          </a:stretch>
        </p:blipFill>
        <p:spPr bwMode="auto">
          <a:xfrm>
            <a:off x="1040072" y="1596176"/>
            <a:ext cx="3012633" cy="2619773"/>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5" descr="PPECLOGO-eff-0-1"/>
          <p:cNvPicPr>
            <a:picLocks noChangeAspect="1" noChangeArrowheads="1"/>
          </p:cNvPicPr>
          <p:nvPr userDrawn="1"/>
        </p:nvPicPr>
        <p:blipFill>
          <a:blip r:embed="rId5" cstate="screen"/>
          <a:srcRect/>
          <a:stretch>
            <a:fillRect/>
          </a:stretch>
        </p:blipFill>
        <p:spPr bwMode="auto">
          <a:xfrm>
            <a:off x="4465808" y="4157606"/>
            <a:ext cx="523936" cy="436167"/>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6" descr="PPECLOGO-eff-0-1"/>
          <p:cNvPicPr>
            <a:picLocks noChangeAspect="1" noChangeArrowheads="1"/>
          </p:cNvPicPr>
          <p:nvPr userDrawn="1"/>
        </p:nvPicPr>
        <p:blipFill>
          <a:blip r:embed="rId6" cstate="screen"/>
          <a:srcRect/>
          <a:stretch>
            <a:fillRect/>
          </a:stretch>
        </p:blipFill>
        <p:spPr bwMode="auto">
          <a:xfrm>
            <a:off x="7373652" y="3201931"/>
            <a:ext cx="401012" cy="333375"/>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8" descr="PPECLOGO-eff-0-2"/>
          <p:cNvPicPr>
            <a:picLocks noChangeAspect="1" noChangeArrowheads="1"/>
          </p:cNvPicPr>
          <p:nvPr userDrawn="1"/>
        </p:nvPicPr>
        <p:blipFill>
          <a:blip r:embed="rId7" cstate="screen"/>
          <a:srcRect/>
          <a:stretch>
            <a:fillRect/>
          </a:stretch>
        </p:blipFill>
        <p:spPr bwMode="auto">
          <a:xfrm>
            <a:off x="5275893" y="2837999"/>
            <a:ext cx="981373" cy="827882"/>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9" descr="PPECLOGO-eff-5-4"/>
          <p:cNvPicPr>
            <a:picLocks noChangeAspect="1" noChangeArrowheads="1"/>
          </p:cNvPicPr>
          <p:nvPr userDrawn="1"/>
        </p:nvPicPr>
        <p:blipFill>
          <a:blip r:embed="rId8" cstate="print"/>
          <a:srcRect/>
          <a:stretch>
            <a:fillRect/>
          </a:stretch>
        </p:blipFill>
        <p:spPr bwMode="auto">
          <a:xfrm>
            <a:off x="3260753" y="3535307"/>
            <a:ext cx="1477097" cy="123904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10" descr="PPECLOGO-eff-5-2"/>
          <p:cNvPicPr>
            <a:picLocks noChangeAspect="1" noChangeArrowheads="1"/>
          </p:cNvPicPr>
          <p:nvPr userDrawn="1"/>
        </p:nvPicPr>
        <p:blipFill>
          <a:blip r:embed="rId9" cstate="print"/>
          <a:srcRect/>
          <a:stretch>
            <a:fillRect/>
          </a:stretch>
        </p:blipFill>
        <p:spPr bwMode="auto">
          <a:xfrm>
            <a:off x="5350453" y="3799230"/>
            <a:ext cx="1833775" cy="1583531"/>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11" descr="PPECLOGO-eff-5-4"/>
          <p:cNvPicPr>
            <a:picLocks noChangeAspect="1" noChangeArrowheads="1"/>
          </p:cNvPicPr>
          <p:nvPr userDrawn="1"/>
        </p:nvPicPr>
        <p:blipFill>
          <a:blip r:embed="rId10" cstate="screen"/>
          <a:srcRect/>
          <a:stretch>
            <a:fillRect/>
          </a:stretch>
        </p:blipFill>
        <p:spPr bwMode="auto">
          <a:xfrm>
            <a:off x="9882499" y="3004685"/>
            <a:ext cx="1116387" cy="93900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descr="PPECLOGO-eff-0-1"/>
          <p:cNvPicPr>
            <a:picLocks noChangeAspect="1" noChangeArrowheads="1"/>
          </p:cNvPicPr>
          <p:nvPr userDrawn="1"/>
        </p:nvPicPr>
        <p:blipFill>
          <a:blip r:embed="rId11" cstate="screen"/>
          <a:srcRect/>
          <a:stretch>
            <a:fillRect/>
          </a:stretch>
        </p:blipFill>
        <p:spPr bwMode="auto">
          <a:xfrm>
            <a:off x="7939905" y="3996474"/>
            <a:ext cx="521922" cy="433387"/>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13" descr="PPECLOGO-eff-0-1"/>
          <p:cNvPicPr>
            <a:picLocks noChangeAspect="1" noChangeArrowheads="1"/>
          </p:cNvPicPr>
          <p:nvPr userDrawn="1"/>
        </p:nvPicPr>
        <p:blipFill>
          <a:blip r:embed="rId11" cstate="screen"/>
          <a:srcRect/>
          <a:stretch>
            <a:fillRect/>
          </a:stretch>
        </p:blipFill>
        <p:spPr bwMode="auto">
          <a:xfrm>
            <a:off x="11250778" y="2607413"/>
            <a:ext cx="521920" cy="433387"/>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14" descr="PPECLOGO-eff2-1-2"/>
          <p:cNvPicPr>
            <a:picLocks noChangeAspect="1" noChangeArrowheads="1"/>
          </p:cNvPicPr>
          <p:nvPr userDrawn="1"/>
        </p:nvPicPr>
        <p:blipFill>
          <a:blip r:embed="rId12" cstate="print"/>
          <a:srcRect/>
          <a:stretch>
            <a:fillRect/>
          </a:stretch>
        </p:blipFill>
        <p:spPr bwMode="auto">
          <a:xfrm>
            <a:off x="2053688" y="3082473"/>
            <a:ext cx="1696746" cy="1575196"/>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descr="PPECLOGO-eff2-1-3"/>
          <p:cNvPicPr>
            <a:picLocks noChangeAspect="1" noChangeArrowheads="1"/>
          </p:cNvPicPr>
          <p:nvPr userDrawn="1"/>
        </p:nvPicPr>
        <p:blipFill>
          <a:blip r:embed="rId13" cstate="print"/>
          <a:srcRect/>
          <a:stretch>
            <a:fillRect/>
          </a:stretch>
        </p:blipFill>
        <p:spPr bwMode="auto">
          <a:xfrm>
            <a:off x="3982174" y="3071361"/>
            <a:ext cx="437286" cy="402827"/>
          </a:xfrm>
          <a:prstGeom prst="rect">
            <a:avLst/>
          </a:prstGeom>
          <a:noFill/>
          <a:extLst>
            <a:ext uri="{909E8E84-426E-40DD-AFC4-6F175D3DCCD1}">
              <a14:hiddenFill xmlns:a14="http://schemas.microsoft.com/office/drawing/2010/main">
                <a:solidFill>
                  <a:srgbClr val="FFFFFF"/>
                </a:solidFill>
              </a14:hiddenFill>
            </a:ext>
          </a:extLst>
        </p:spPr>
      </p:pic>
      <p:pic>
        <p:nvPicPr>
          <p:cNvPr id="17" name="Picture 16" descr="PPECLOGO-eff2-1-4"/>
          <p:cNvPicPr>
            <a:picLocks noChangeAspect="1" noChangeArrowheads="1"/>
          </p:cNvPicPr>
          <p:nvPr userDrawn="1"/>
        </p:nvPicPr>
        <p:blipFill>
          <a:blip r:embed="rId14" cstate="print"/>
          <a:srcRect/>
          <a:stretch>
            <a:fillRect/>
          </a:stretch>
        </p:blipFill>
        <p:spPr bwMode="auto">
          <a:xfrm>
            <a:off x="8516235" y="3665880"/>
            <a:ext cx="703284" cy="64730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descr="PPECLOGO-eff2-1-3"/>
          <p:cNvPicPr>
            <a:picLocks noChangeAspect="1" noChangeArrowheads="1"/>
          </p:cNvPicPr>
          <p:nvPr userDrawn="1"/>
        </p:nvPicPr>
        <p:blipFill>
          <a:blip r:embed="rId13" cstate="print"/>
          <a:srcRect/>
          <a:stretch>
            <a:fillRect/>
          </a:stretch>
        </p:blipFill>
        <p:spPr bwMode="auto">
          <a:xfrm>
            <a:off x="9235641" y="3207487"/>
            <a:ext cx="360709" cy="333375"/>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8" descr="PPECLOGO-eff2-1-3"/>
          <p:cNvPicPr>
            <a:picLocks noChangeAspect="1" noChangeArrowheads="1"/>
          </p:cNvPicPr>
          <p:nvPr userDrawn="1"/>
        </p:nvPicPr>
        <p:blipFill>
          <a:blip r:embed="rId13" cstate="print"/>
          <a:srcRect/>
          <a:stretch>
            <a:fillRect/>
          </a:stretch>
        </p:blipFill>
        <p:spPr bwMode="auto">
          <a:xfrm>
            <a:off x="9741438" y="3799229"/>
            <a:ext cx="282119" cy="26114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5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4"/>
                                        </p:tgtEl>
                                        <p:attrNameLst>
                                          <p:attrName>style.visibility</p:attrName>
                                        </p:attrNameLst>
                                      </p:cBhvr>
                                      <p:to>
                                        <p:strVal val="visible"/>
                                      </p:to>
                                    </p:set>
                                    <p:animEffect transition="in" filter="fade">
                                      <p:cBhvr>
                                        <p:cTn id="16" dur="500"/>
                                        <p:tgtEl>
                                          <p:spTgt spid="4"/>
                                        </p:tgtEl>
                                      </p:cBhvr>
                                    </p:animEffect>
                                  </p:childTnLst>
                                </p:cTn>
                              </p:par>
                              <p:par>
                                <p:cTn id="17" presetID="10" presetClass="entr" presetSubtype="0" fill="hold"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500"/>
                                        <p:tgtEl>
                                          <p:spTgt spid="9"/>
                                        </p:tgtEl>
                                      </p:cBhvr>
                                    </p:animEffect>
                                  </p:childTnLst>
                                </p:cTn>
                              </p:par>
                              <p:par>
                                <p:cTn id="20" presetID="10" presetClass="entr" presetSubtype="0" fill="hold" nodeType="with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fade">
                                      <p:cBhvr>
                                        <p:cTn id="22" dur="500"/>
                                        <p:tgtEl>
                                          <p:spTgt spid="11"/>
                                        </p:tgtEl>
                                      </p:cBhvr>
                                    </p:animEffect>
                                  </p:childTnLst>
                                </p:cTn>
                              </p:par>
                              <p:par>
                                <p:cTn id="23" presetID="10" presetClass="entr" presetSubtype="0" fill="hold" nodeType="withEffect">
                                  <p:stCondLst>
                                    <p:cond delay="0"/>
                                  </p:stCondLst>
                                  <p:childTnLst>
                                    <p:set>
                                      <p:cBhvr>
                                        <p:cTn id="24" dur="1" fill="hold">
                                          <p:stCondLst>
                                            <p:cond delay="0"/>
                                          </p:stCondLst>
                                        </p:cTn>
                                        <p:tgtEl>
                                          <p:spTgt spid="13"/>
                                        </p:tgtEl>
                                        <p:attrNameLst>
                                          <p:attrName>style.visibility</p:attrName>
                                        </p:attrNameLst>
                                      </p:cBhvr>
                                      <p:to>
                                        <p:strVal val="visible"/>
                                      </p:to>
                                    </p:set>
                                    <p:animEffect transition="in" filter="fade">
                                      <p:cBhvr>
                                        <p:cTn id="25" dur="500"/>
                                        <p:tgtEl>
                                          <p:spTgt spid="13"/>
                                        </p:tgtEl>
                                      </p:cBhvr>
                                    </p:animEffect>
                                  </p:childTnLst>
                                </p:cTn>
                              </p:par>
                              <p:par>
                                <p:cTn id="26" presetID="10" presetClass="entr" presetSubtype="0" fill="hold" nodeType="withEffect">
                                  <p:stCondLst>
                                    <p:cond delay="0"/>
                                  </p:stCondLst>
                                  <p:childTnLst>
                                    <p:set>
                                      <p:cBhvr>
                                        <p:cTn id="27" dur="1" fill="hold">
                                          <p:stCondLst>
                                            <p:cond delay="0"/>
                                          </p:stCondLst>
                                        </p:cTn>
                                        <p:tgtEl>
                                          <p:spTgt spid="5"/>
                                        </p:tgtEl>
                                        <p:attrNameLst>
                                          <p:attrName>style.visibility</p:attrName>
                                        </p:attrNameLst>
                                      </p:cBhvr>
                                      <p:to>
                                        <p:strVal val="visible"/>
                                      </p:to>
                                    </p:set>
                                    <p:animEffect transition="in" filter="fade">
                                      <p:cBhvr>
                                        <p:cTn id="28" dur="500"/>
                                        <p:tgtEl>
                                          <p:spTgt spid="5"/>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5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fade">
                                      <p:cBhvr>
                                        <p:cTn id="34" dur="500"/>
                                        <p:tgtEl>
                                          <p:spTgt spid="8"/>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par>
                                <p:cTn id="38" presetID="35" presetClass="path" presetSubtype="0" fill="hold" nodeType="withEffect">
                                  <p:stCondLst>
                                    <p:cond delay="0"/>
                                  </p:stCondLst>
                                  <p:childTnLst>
                                    <p:animMotion origin="layout" path="M 0 0  L -0.25 0  E" pathEditMode="relative" rAng="0" ptsTypes="">
                                      <p:cBhvr>
                                        <p:cTn id="39" dur="3000" fill="hold"/>
                                        <p:tgtEl>
                                          <p:spTgt spid="12"/>
                                        </p:tgtEl>
                                        <p:attrNameLst>
                                          <p:attrName>ppt_x</p:attrName>
                                          <p:attrName>ppt_y</p:attrName>
                                        </p:attrNameLst>
                                      </p:cBhvr>
                                      <p:rCtr x="0" y="0"/>
                                    </p:animMotion>
                                  </p:childTnLst>
                                </p:cTn>
                              </p:par>
                              <p:par>
                                <p:cTn id="40" presetID="35" presetClass="path" presetSubtype="0" fill="hold" nodeType="withEffect">
                                  <p:stCondLst>
                                    <p:cond delay="0"/>
                                  </p:stCondLst>
                                  <p:childTnLst>
                                    <p:animMotion origin="layout" path="M 4.16667E-6 3.33333E-6 L -0.31632 3.33333E-6 " pathEditMode="relative" rAng="0" ptsTypes="AA">
                                      <p:cBhvr>
                                        <p:cTn id="41" dur="3000" fill="hold"/>
                                        <p:tgtEl>
                                          <p:spTgt spid="5"/>
                                        </p:tgtEl>
                                        <p:attrNameLst>
                                          <p:attrName>ppt_x</p:attrName>
                                          <p:attrName>ppt_y</p:attrName>
                                        </p:attrNameLst>
                                      </p:cBhvr>
                                      <p:rCtr x="-15816" y="0"/>
                                    </p:animMotion>
                                  </p:childTnLst>
                                </p:cTn>
                              </p:par>
                              <p:par>
                                <p:cTn id="42" presetID="35" presetClass="path" presetSubtype="0" fill="hold" nodeType="withEffect">
                                  <p:stCondLst>
                                    <p:cond delay="0"/>
                                  </p:stCondLst>
                                  <p:childTnLst>
                                    <p:animMotion origin="layout" path="M 0.00504 -1.85185E-6 L -0.46684 -1.85185E-6 " pathEditMode="relative" rAng="0" ptsTypes="AA">
                                      <p:cBhvr>
                                        <p:cTn id="43" dur="3000" fill="hold"/>
                                        <p:tgtEl>
                                          <p:spTgt spid="8"/>
                                        </p:tgtEl>
                                        <p:attrNameLst>
                                          <p:attrName>ppt_x</p:attrName>
                                          <p:attrName>ppt_y</p:attrName>
                                        </p:attrNameLst>
                                      </p:cBhvr>
                                      <p:rCtr x="-23594" y="0"/>
                                    </p:animMotion>
                                  </p:childTnLst>
                                </p:cTn>
                              </p:par>
                              <p:par>
                                <p:cTn id="44" presetID="35" presetClass="path" presetSubtype="0" fill="hold" nodeType="withEffect">
                                  <p:stCondLst>
                                    <p:cond delay="0"/>
                                  </p:stCondLst>
                                  <p:childTnLst>
                                    <p:animMotion origin="layout" path="M -3.05556E-6 1.11111E-6 L -0.19531 1.11111E-6 " pathEditMode="relative" rAng="0" ptsTypes="AA">
                                      <p:cBhvr>
                                        <p:cTn id="45" dur="3000" fill="hold"/>
                                        <p:tgtEl>
                                          <p:spTgt spid="9"/>
                                        </p:tgtEl>
                                        <p:attrNameLst>
                                          <p:attrName>ppt_x</p:attrName>
                                          <p:attrName>ppt_y</p:attrName>
                                        </p:attrNameLst>
                                      </p:cBhvr>
                                      <p:rCtr x="-9774" y="0"/>
                                    </p:animMotion>
                                  </p:childTnLst>
                                </p:cTn>
                              </p:par>
                              <p:par>
                                <p:cTn id="46" presetID="35" presetClass="path" presetSubtype="0" fill="hold" nodeType="withEffect">
                                  <p:stCondLst>
                                    <p:cond delay="0"/>
                                  </p:stCondLst>
                                  <p:childTnLst>
                                    <p:animMotion origin="layout" path="M 5.55556E-7 2.59259E-6 L -0.43594 2.59259E-6 " pathEditMode="relative" rAng="0" ptsTypes="AA">
                                      <p:cBhvr>
                                        <p:cTn id="47" dur="3000" fill="hold"/>
                                        <p:tgtEl>
                                          <p:spTgt spid="7"/>
                                        </p:tgtEl>
                                        <p:attrNameLst>
                                          <p:attrName>ppt_x</p:attrName>
                                          <p:attrName>ppt_y</p:attrName>
                                        </p:attrNameLst>
                                      </p:cBhvr>
                                      <p:rCtr x="-21806" y="0"/>
                                    </p:animMotion>
                                  </p:childTnLst>
                                </p:cTn>
                              </p:par>
                              <p:par>
                                <p:cTn id="48" presetID="35" presetClass="path" presetSubtype="0" fill="hold" nodeType="withEffect">
                                  <p:stCondLst>
                                    <p:cond delay="0"/>
                                  </p:stCondLst>
                                  <p:childTnLst>
                                    <p:animMotion origin="layout" path="M 3.05556E-6 -1.85185E-6 L -0.33577 -1.85185E-6 " pathEditMode="relative" rAng="0" ptsTypes="AA">
                                      <p:cBhvr>
                                        <p:cTn id="49" dur="3000" fill="hold"/>
                                        <p:tgtEl>
                                          <p:spTgt spid="4"/>
                                        </p:tgtEl>
                                        <p:attrNameLst>
                                          <p:attrName>ppt_x</p:attrName>
                                          <p:attrName>ppt_y</p:attrName>
                                        </p:attrNameLst>
                                      </p:cBhvr>
                                      <p:rCtr x="-16788" y="0"/>
                                    </p:animMotion>
                                  </p:childTnLst>
                                </p:cTn>
                              </p:par>
                              <p:par>
                                <p:cTn id="50" presetID="35" presetClass="path" presetSubtype="0" fill="hold" nodeType="withEffect">
                                  <p:stCondLst>
                                    <p:cond delay="0"/>
                                  </p:stCondLst>
                                  <p:childTnLst>
                                    <p:animMotion origin="layout" path="M 1.66667E-6 -1.85185E-6 L -0.57188 -1.85185E-6 " pathEditMode="relative" rAng="0" ptsTypes="AA">
                                      <p:cBhvr>
                                        <p:cTn id="51" dur="3000" fill="hold"/>
                                        <p:tgtEl>
                                          <p:spTgt spid="13"/>
                                        </p:tgtEl>
                                        <p:attrNameLst>
                                          <p:attrName>ppt_x</p:attrName>
                                          <p:attrName>ppt_y</p:attrName>
                                        </p:attrNameLst>
                                      </p:cBhvr>
                                      <p:rCtr x="-28594" y="0"/>
                                    </p:animMotion>
                                  </p:childTnLst>
                                </p:cTn>
                              </p:par>
                              <p:par>
                                <p:cTn id="52" presetID="35" presetClass="path" presetSubtype="0" fill="hold" nodeType="withEffect">
                                  <p:stCondLst>
                                    <p:cond delay="0"/>
                                  </p:stCondLst>
                                  <p:childTnLst>
                                    <p:animMotion origin="layout" path="M 1.66667E-6 -1.85185E-6 L -0.57188 -1.85185E-6 " pathEditMode="relative" rAng="0" ptsTypes="AA">
                                      <p:cBhvr>
                                        <p:cTn id="53" dur="3000" fill="hold"/>
                                        <p:tgtEl>
                                          <p:spTgt spid="14"/>
                                        </p:tgtEl>
                                        <p:attrNameLst>
                                          <p:attrName>ppt_x</p:attrName>
                                          <p:attrName>ppt_y</p:attrName>
                                        </p:attrNameLst>
                                      </p:cBhvr>
                                      <p:rCtr x="-28594" y="0"/>
                                    </p:animMotion>
                                  </p:childTnLst>
                                </p:cTn>
                              </p:par>
                              <p:par>
                                <p:cTn id="54" presetID="63" presetClass="path" presetSubtype="0" fill="hold" nodeType="withEffect">
                                  <p:stCondLst>
                                    <p:cond delay="0"/>
                                  </p:stCondLst>
                                  <p:childTnLst>
                                    <p:animMotion origin="layout" path="M 5.55556E-7 2.59259E-6 L 0.43906 2.59259E-6 " pathEditMode="relative" rAng="0" ptsTypes="AA">
                                      <p:cBhvr>
                                        <p:cTn id="55" dur="3000" fill="hold"/>
                                        <p:tgtEl>
                                          <p:spTgt spid="11"/>
                                        </p:tgtEl>
                                        <p:attrNameLst>
                                          <p:attrName>ppt_x</p:attrName>
                                          <p:attrName>ppt_y</p:attrName>
                                        </p:attrNameLst>
                                      </p:cBhvr>
                                      <p:rCtr x="21944" y="0"/>
                                    </p:animMotion>
                                  </p:childTnLst>
                                </p:cTn>
                              </p:par>
                              <p:par>
                                <p:cTn id="56" presetID="63" presetClass="path" presetSubtype="0" fill="hold" nodeType="withEffect">
                                  <p:stCondLst>
                                    <p:cond delay="0"/>
                                  </p:stCondLst>
                                  <p:childTnLst>
                                    <p:animMotion origin="layout" path="M -1.38889E-6 2.96296E-6 L 0.62813 2.96296E-6 " pathEditMode="relative" rAng="0" ptsTypes="AA">
                                      <p:cBhvr>
                                        <p:cTn id="57" dur="3000" fill="hold"/>
                                        <p:tgtEl>
                                          <p:spTgt spid="10"/>
                                        </p:tgtEl>
                                        <p:attrNameLst>
                                          <p:attrName>ppt_x</p:attrName>
                                          <p:attrName>ppt_y</p:attrName>
                                        </p:attrNameLst>
                                      </p:cBhvr>
                                      <p:rCtr x="31406" y="0"/>
                                    </p:animMotion>
                                  </p:childTnLst>
                                </p:cTn>
                              </p:par>
                              <p:par>
                                <p:cTn id="58" presetID="63" presetClass="path" presetSubtype="0" fill="hold" nodeType="withEffect">
                                  <p:stCondLst>
                                    <p:cond delay="0"/>
                                  </p:stCondLst>
                                  <p:childTnLst>
                                    <p:animMotion origin="layout" path="M 2.77778E-6 -2.96296E-6 L 0.42465 -2.96296E-6 " pathEditMode="relative" rAng="0" ptsTypes="AA">
                                      <p:cBhvr>
                                        <p:cTn id="59" dur="3000" fill="hold"/>
                                        <p:tgtEl>
                                          <p:spTgt spid="6"/>
                                        </p:tgtEl>
                                        <p:attrNameLst>
                                          <p:attrName>ppt_x</p:attrName>
                                          <p:attrName>ppt_y</p:attrName>
                                        </p:attrNameLst>
                                      </p:cBhvr>
                                      <p:rCtr x="21233" y="0"/>
                                    </p:animMotion>
                                  </p:childTnLst>
                                </p:cTn>
                              </p:par>
                              <p:par>
                                <p:cTn id="60" presetID="10" presetClass="exit" presetSubtype="0" fill="hold" nodeType="withEffect">
                                  <p:stCondLst>
                                    <p:cond delay="2500"/>
                                  </p:stCondLst>
                                  <p:childTnLst>
                                    <p:animEffect transition="out" filter="fade">
                                      <p:cBhvr>
                                        <p:cTn id="61" dur="500"/>
                                        <p:tgtEl>
                                          <p:spTgt spid="10"/>
                                        </p:tgtEl>
                                      </p:cBhvr>
                                    </p:animEffect>
                                    <p:set>
                                      <p:cBhvr>
                                        <p:cTn id="62" dur="1" fill="hold">
                                          <p:stCondLst>
                                            <p:cond delay="499"/>
                                          </p:stCondLst>
                                        </p:cTn>
                                        <p:tgtEl>
                                          <p:spTgt spid="10"/>
                                        </p:tgtEl>
                                        <p:attrNameLst>
                                          <p:attrName>style.visibility</p:attrName>
                                        </p:attrNameLst>
                                      </p:cBhvr>
                                      <p:to>
                                        <p:strVal val="hidden"/>
                                      </p:to>
                                    </p:set>
                                  </p:childTnLst>
                                </p:cTn>
                              </p:par>
                              <p:par>
                                <p:cTn id="63" presetID="10" presetClass="exit" presetSubtype="0" fill="hold" nodeType="withEffect">
                                  <p:stCondLst>
                                    <p:cond delay="2500"/>
                                  </p:stCondLst>
                                  <p:childTnLst>
                                    <p:animEffect transition="out" filter="fade">
                                      <p:cBhvr>
                                        <p:cTn id="64" dur="500"/>
                                        <p:tgtEl>
                                          <p:spTgt spid="11"/>
                                        </p:tgtEl>
                                      </p:cBhvr>
                                    </p:animEffect>
                                    <p:set>
                                      <p:cBhvr>
                                        <p:cTn id="65" dur="1" fill="hold">
                                          <p:stCondLst>
                                            <p:cond delay="499"/>
                                          </p:stCondLst>
                                        </p:cTn>
                                        <p:tgtEl>
                                          <p:spTgt spid="11"/>
                                        </p:tgtEl>
                                        <p:attrNameLst>
                                          <p:attrName>style.visibility</p:attrName>
                                        </p:attrNameLst>
                                      </p:cBhvr>
                                      <p:to>
                                        <p:strVal val="hidden"/>
                                      </p:to>
                                    </p:set>
                                  </p:childTnLst>
                                </p:cTn>
                              </p:par>
                              <p:par>
                                <p:cTn id="66" presetID="10" presetClass="exit" presetSubtype="0" fill="hold" nodeType="withEffect">
                                  <p:stCondLst>
                                    <p:cond delay="2500"/>
                                  </p:stCondLst>
                                  <p:childTnLst>
                                    <p:animEffect transition="out" filter="fade">
                                      <p:cBhvr>
                                        <p:cTn id="67" dur="500"/>
                                        <p:tgtEl>
                                          <p:spTgt spid="13"/>
                                        </p:tgtEl>
                                      </p:cBhvr>
                                    </p:animEffect>
                                    <p:set>
                                      <p:cBhvr>
                                        <p:cTn id="68" dur="1" fill="hold">
                                          <p:stCondLst>
                                            <p:cond delay="499"/>
                                          </p:stCondLst>
                                        </p:cTn>
                                        <p:tgtEl>
                                          <p:spTgt spid="13"/>
                                        </p:tgtEl>
                                        <p:attrNameLst>
                                          <p:attrName>style.visibility</p:attrName>
                                        </p:attrNameLst>
                                      </p:cBhvr>
                                      <p:to>
                                        <p:strVal val="hidden"/>
                                      </p:to>
                                    </p:set>
                                  </p:childTnLst>
                                </p:cTn>
                              </p:par>
                              <p:par>
                                <p:cTn id="69" presetID="10" presetClass="exit" presetSubtype="0" fill="hold" nodeType="withEffect">
                                  <p:stCondLst>
                                    <p:cond delay="2500"/>
                                  </p:stCondLst>
                                  <p:childTnLst>
                                    <p:animEffect transition="out" filter="fade">
                                      <p:cBhvr>
                                        <p:cTn id="70" dur="500"/>
                                        <p:tgtEl>
                                          <p:spTgt spid="7"/>
                                        </p:tgtEl>
                                      </p:cBhvr>
                                    </p:animEffect>
                                    <p:set>
                                      <p:cBhvr>
                                        <p:cTn id="71" dur="1" fill="hold">
                                          <p:stCondLst>
                                            <p:cond delay="499"/>
                                          </p:stCondLst>
                                        </p:cTn>
                                        <p:tgtEl>
                                          <p:spTgt spid="7"/>
                                        </p:tgtEl>
                                        <p:attrNameLst>
                                          <p:attrName>style.visibility</p:attrName>
                                        </p:attrNameLst>
                                      </p:cBhvr>
                                      <p:to>
                                        <p:strVal val="hidden"/>
                                      </p:to>
                                    </p:set>
                                  </p:childTnLst>
                                </p:cTn>
                              </p:par>
                              <p:par>
                                <p:cTn id="72" presetID="10" presetClass="exit" presetSubtype="0" fill="hold" nodeType="withEffect">
                                  <p:stCondLst>
                                    <p:cond delay="2500"/>
                                  </p:stCondLst>
                                  <p:childTnLst>
                                    <p:animEffect transition="out" filter="fade">
                                      <p:cBhvr>
                                        <p:cTn id="73" dur="500"/>
                                        <p:tgtEl>
                                          <p:spTgt spid="9"/>
                                        </p:tgtEl>
                                      </p:cBhvr>
                                    </p:animEffect>
                                    <p:set>
                                      <p:cBhvr>
                                        <p:cTn id="74" dur="1" fill="hold">
                                          <p:stCondLst>
                                            <p:cond delay="499"/>
                                          </p:stCondLst>
                                        </p:cTn>
                                        <p:tgtEl>
                                          <p:spTgt spid="9"/>
                                        </p:tgtEl>
                                        <p:attrNameLst>
                                          <p:attrName>style.visibility</p:attrName>
                                        </p:attrNameLst>
                                      </p:cBhvr>
                                      <p:to>
                                        <p:strVal val="hidden"/>
                                      </p:to>
                                    </p:set>
                                  </p:childTnLst>
                                </p:cTn>
                              </p:par>
                              <p:par>
                                <p:cTn id="75" presetID="10" presetClass="exit" presetSubtype="0" fill="hold" nodeType="withEffect">
                                  <p:stCondLst>
                                    <p:cond delay="2500"/>
                                  </p:stCondLst>
                                  <p:childTnLst>
                                    <p:animEffect transition="out" filter="fade">
                                      <p:cBhvr>
                                        <p:cTn id="76" dur="500"/>
                                        <p:tgtEl>
                                          <p:spTgt spid="5"/>
                                        </p:tgtEl>
                                      </p:cBhvr>
                                    </p:animEffect>
                                    <p:set>
                                      <p:cBhvr>
                                        <p:cTn id="77" dur="1" fill="hold">
                                          <p:stCondLst>
                                            <p:cond delay="499"/>
                                          </p:stCondLst>
                                        </p:cTn>
                                        <p:tgtEl>
                                          <p:spTgt spid="5"/>
                                        </p:tgtEl>
                                        <p:attrNameLst>
                                          <p:attrName>style.visibility</p:attrName>
                                        </p:attrNameLst>
                                      </p:cBhvr>
                                      <p:to>
                                        <p:strVal val="hidden"/>
                                      </p:to>
                                    </p:set>
                                  </p:childTnLst>
                                </p:cTn>
                              </p:par>
                              <p:par>
                                <p:cTn id="78" presetID="10" presetClass="exit" presetSubtype="0" fill="hold" nodeType="withEffect">
                                  <p:stCondLst>
                                    <p:cond delay="2500"/>
                                  </p:stCondLst>
                                  <p:childTnLst>
                                    <p:animEffect transition="out" filter="fade">
                                      <p:cBhvr>
                                        <p:cTn id="79" dur="500"/>
                                        <p:tgtEl>
                                          <p:spTgt spid="12"/>
                                        </p:tgtEl>
                                      </p:cBhvr>
                                    </p:animEffect>
                                    <p:set>
                                      <p:cBhvr>
                                        <p:cTn id="80" dur="1" fill="hold">
                                          <p:stCondLst>
                                            <p:cond delay="499"/>
                                          </p:stCondLst>
                                        </p:cTn>
                                        <p:tgtEl>
                                          <p:spTgt spid="12"/>
                                        </p:tgtEl>
                                        <p:attrNameLst>
                                          <p:attrName>style.visibility</p:attrName>
                                        </p:attrNameLst>
                                      </p:cBhvr>
                                      <p:to>
                                        <p:strVal val="hidden"/>
                                      </p:to>
                                    </p:set>
                                  </p:childTnLst>
                                </p:cTn>
                              </p:par>
                              <p:par>
                                <p:cTn id="81" presetID="10" presetClass="exit" presetSubtype="0" fill="hold" nodeType="withEffect">
                                  <p:stCondLst>
                                    <p:cond delay="2500"/>
                                  </p:stCondLst>
                                  <p:childTnLst>
                                    <p:animEffect transition="out" filter="fade">
                                      <p:cBhvr>
                                        <p:cTn id="82" dur="500"/>
                                        <p:tgtEl>
                                          <p:spTgt spid="14"/>
                                        </p:tgtEl>
                                      </p:cBhvr>
                                    </p:animEffect>
                                    <p:set>
                                      <p:cBhvr>
                                        <p:cTn id="83" dur="1" fill="hold">
                                          <p:stCondLst>
                                            <p:cond delay="499"/>
                                          </p:stCondLst>
                                        </p:cTn>
                                        <p:tgtEl>
                                          <p:spTgt spid="14"/>
                                        </p:tgtEl>
                                        <p:attrNameLst>
                                          <p:attrName>style.visibility</p:attrName>
                                        </p:attrNameLst>
                                      </p:cBhvr>
                                      <p:to>
                                        <p:strVal val="hidden"/>
                                      </p:to>
                                    </p:set>
                                  </p:childTnLst>
                                </p:cTn>
                              </p:par>
                              <p:par>
                                <p:cTn id="84" presetID="10" presetClass="exit" presetSubtype="0" fill="hold" nodeType="withEffect">
                                  <p:stCondLst>
                                    <p:cond delay="2500"/>
                                  </p:stCondLst>
                                  <p:childTnLst>
                                    <p:animEffect transition="out" filter="fade">
                                      <p:cBhvr>
                                        <p:cTn id="85" dur="500"/>
                                        <p:tgtEl>
                                          <p:spTgt spid="6"/>
                                        </p:tgtEl>
                                      </p:cBhvr>
                                    </p:animEffect>
                                    <p:set>
                                      <p:cBhvr>
                                        <p:cTn id="86" dur="1" fill="hold">
                                          <p:stCondLst>
                                            <p:cond delay="499"/>
                                          </p:stCondLst>
                                        </p:cTn>
                                        <p:tgtEl>
                                          <p:spTgt spid="6"/>
                                        </p:tgtEl>
                                        <p:attrNameLst>
                                          <p:attrName>style.visibility</p:attrName>
                                        </p:attrNameLst>
                                      </p:cBhvr>
                                      <p:to>
                                        <p:strVal val="hidden"/>
                                      </p:to>
                                    </p:set>
                                  </p:childTnLst>
                                </p:cTn>
                              </p:par>
                              <p:par>
                                <p:cTn id="87" presetID="10" presetClass="exit" presetSubtype="0" fill="hold" nodeType="withEffect">
                                  <p:stCondLst>
                                    <p:cond delay="2500"/>
                                  </p:stCondLst>
                                  <p:childTnLst>
                                    <p:animEffect transition="out" filter="fade">
                                      <p:cBhvr>
                                        <p:cTn id="88" dur="500"/>
                                        <p:tgtEl>
                                          <p:spTgt spid="4"/>
                                        </p:tgtEl>
                                      </p:cBhvr>
                                    </p:animEffect>
                                    <p:set>
                                      <p:cBhvr>
                                        <p:cTn id="89" dur="1" fill="hold">
                                          <p:stCondLst>
                                            <p:cond delay="499"/>
                                          </p:stCondLst>
                                        </p:cTn>
                                        <p:tgtEl>
                                          <p:spTgt spid="4"/>
                                        </p:tgtEl>
                                        <p:attrNameLst>
                                          <p:attrName>style.visibility</p:attrName>
                                        </p:attrNameLst>
                                      </p:cBhvr>
                                      <p:to>
                                        <p:strVal val="hidden"/>
                                      </p:to>
                                    </p:set>
                                  </p:childTnLst>
                                </p:cTn>
                              </p:par>
                              <p:par>
                                <p:cTn id="90" presetID="10" presetClass="exit" presetSubtype="0" fill="hold" nodeType="withEffect">
                                  <p:stCondLst>
                                    <p:cond delay="2500"/>
                                  </p:stCondLst>
                                  <p:childTnLst>
                                    <p:animEffect transition="out" filter="fade">
                                      <p:cBhvr>
                                        <p:cTn id="91" dur="500"/>
                                        <p:tgtEl>
                                          <p:spTgt spid="8"/>
                                        </p:tgtEl>
                                      </p:cBhvr>
                                    </p:animEffect>
                                    <p:set>
                                      <p:cBhvr>
                                        <p:cTn id="92" dur="1" fill="hold">
                                          <p:stCondLst>
                                            <p:cond delay="499"/>
                                          </p:stCondLst>
                                        </p:cTn>
                                        <p:tgtEl>
                                          <p:spTgt spid="8"/>
                                        </p:tgtEl>
                                        <p:attrNameLst>
                                          <p:attrName>style.visibility</p:attrName>
                                        </p:attrNameLst>
                                      </p:cBhvr>
                                      <p:to>
                                        <p:strVal val="hidden"/>
                                      </p:to>
                                    </p:set>
                                  </p:childTnLst>
                                </p:cTn>
                              </p:par>
                              <p:par>
                                <p:cTn id="93" presetID="10" presetClass="entr" presetSubtype="0" fill="hold" nodeType="withEffect">
                                  <p:stCondLst>
                                    <p:cond delay="0"/>
                                  </p:stCondLst>
                                  <p:childTnLst>
                                    <p:set>
                                      <p:cBhvr>
                                        <p:cTn id="94" dur="1" fill="hold">
                                          <p:stCondLst>
                                            <p:cond delay="0"/>
                                          </p:stCondLst>
                                        </p:cTn>
                                        <p:tgtEl>
                                          <p:spTgt spid="15"/>
                                        </p:tgtEl>
                                        <p:attrNameLst>
                                          <p:attrName>style.visibility</p:attrName>
                                        </p:attrNameLst>
                                      </p:cBhvr>
                                      <p:to>
                                        <p:strVal val="visible"/>
                                      </p:to>
                                    </p:set>
                                    <p:animEffect transition="in" filter="fade">
                                      <p:cBhvr>
                                        <p:cTn id="95" dur="100"/>
                                        <p:tgtEl>
                                          <p:spTgt spid="15"/>
                                        </p:tgtEl>
                                      </p:cBhvr>
                                    </p:animEffect>
                                  </p:childTnLst>
                                </p:cTn>
                              </p:par>
                              <p:par>
                                <p:cTn id="96" presetID="10" presetClass="entr" presetSubtype="0" fill="hold" nodeType="withEffect">
                                  <p:stCondLst>
                                    <p:cond delay="600"/>
                                  </p:stCondLst>
                                  <p:childTnLst>
                                    <p:set>
                                      <p:cBhvr>
                                        <p:cTn id="97" dur="1" fill="hold">
                                          <p:stCondLst>
                                            <p:cond delay="0"/>
                                          </p:stCondLst>
                                        </p:cTn>
                                        <p:tgtEl>
                                          <p:spTgt spid="16"/>
                                        </p:tgtEl>
                                        <p:attrNameLst>
                                          <p:attrName>style.visibility</p:attrName>
                                        </p:attrNameLst>
                                      </p:cBhvr>
                                      <p:to>
                                        <p:strVal val="visible"/>
                                      </p:to>
                                    </p:set>
                                    <p:animEffect transition="in" filter="fade">
                                      <p:cBhvr>
                                        <p:cTn id="98" dur="100"/>
                                        <p:tgtEl>
                                          <p:spTgt spid="16"/>
                                        </p:tgtEl>
                                      </p:cBhvr>
                                    </p:animEffect>
                                  </p:childTnLst>
                                </p:cTn>
                              </p:par>
                              <p:par>
                                <p:cTn id="99" presetID="10" presetClass="entr" presetSubtype="0" fill="hold" nodeType="withEffect">
                                  <p:stCondLst>
                                    <p:cond delay="200"/>
                                  </p:stCondLst>
                                  <p:childTnLst>
                                    <p:set>
                                      <p:cBhvr>
                                        <p:cTn id="100" dur="1" fill="hold">
                                          <p:stCondLst>
                                            <p:cond delay="0"/>
                                          </p:stCondLst>
                                        </p:cTn>
                                        <p:tgtEl>
                                          <p:spTgt spid="17"/>
                                        </p:tgtEl>
                                        <p:attrNameLst>
                                          <p:attrName>style.visibility</p:attrName>
                                        </p:attrNameLst>
                                      </p:cBhvr>
                                      <p:to>
                                        <p:strVal val="visible"/>
                                      </p:to>
                                    </p:set>
                                    <p:animEffect transition="in" filter="fade">
                                      <p:cBhvr>
                                        <p:cTn id="101" dur="100"/>
                                        <p:tgtEl>
                                          <p:spTgt spid="17"/>
                                        </p:tgtEl>
                                      </p:cBhvr>
                                    </p:animEffect>
                                  </p:childTnLst>
                                </p:cTn>
                              </p:par>
                              <p:par>
                                <p:cTn id="102" presetID="10" presetClass="entr" presetSubtype="0" fill="hold" nodeType="withEffect">
                                  <p:stCondLst>
                                    <p:cond delay="1800"/>
                                  </p:stCondLst>
                                  <p:childTnLst>
                                    <p:set>
                                      <p:cBhvr>
                                        <p:cTn id="103" dur="1" fill="hold">
                                          <p:stCondLst>
                                            <p:cond delay="0"/>
                                          </p:stCondLst>
                                        </p:cTn>
                                        <p:tgtEl>
                                          <p:spTgt spid="18"/>
                                        </p:tgtEl>
                                        <p:attrNameLst>
                                          <p:attrName>style.visibility</p:attrName>
                                        </p:attrNameLst>
                                      </p:cBhvr>
                                      <p:to>
                                        <p:strVal val="visible"/>
                                      </p:to>
                                    </p:set>
                                    <p:animEffect transition="in" filter="fade">
                                      <p:cBhvr>
                                        <p:cTn id="104" dur="100"/>
                                        <p:tgtEl>
                                          <p:spTgt spid="18"/>
                                        </p:tgtEl>
                                      </p:cBhvr>
                                    </p:animEffect>
                                  </p:childTnLst>
                                </p:cTn>
                              </p:par>
                              <p:par>
                                <p:cTn id="105" presetID="10" presetClass="entr" presetSubtype="0" fill="hold" nodeType="withEffect">
                                  <p:stCondLst>
                                    <p:cond delay="2200"/>
                                  </p:stCondLst>
                                  <p:childTnLst>
                                    <p:set>
                                      <p:cBhvr>
                                        <p:cTn id="106" dur="1" fill="hold">
                                          <p:stCondLst>
                                            <p:cond delay="0"/>
                                          </p:stCondLst>
                                        </p:cTn>
                                        <p:tgtEl>
                                          <p:spTgt spid="19"/>
                                        </p:tgtEl>
                                        <p:attrNameLst>
                                          <p:attrName>style.visibility</p:attrName>
                                        </p:attrNameLst>
                                      </p:cBhvr>
                                      <p:to>
                                        <p:strVal val="visible"/>
                                      </p:to>
                                    </p:set>
                                    <p:animEffect transition="in" filter="fade">
                                      <p:cBhvr>
                                        <p:cTn id="107" dur="100"/>
                                        <p:tgtEl>
                                          <p:spTgt spid="19"/>
                                        </p:tgtEl>
                                      </p:cBhvr>
                                    </p:animEffect>
                                  </p:childTnLst>
                                </p:cTn>
                              </p:par>
                              <p:par>
                                <p:cTn id="108" presetID="53" presetClass="exit" presetSubtype="16" fill="hold" nodeType="withEffect">
                                  <p:stCondLst>
                                    <p:cond delay="100"/>
                                  </p:stCondLst>
                                  <p:childTnLst>
                                    <p:anim calcmode="lin" valueType="num">
                                      <p:cBhvr>
                                        <p:cTn id="109" dur="1000"/>
                                        <p:tgtEl>
                                          <p:spTgt spid="15"/>
                                        </p:tgtEl>
                                        <p:attrNameLst>
                                          <p:attrName>ppt_w</p:attrName>
                                        </p:attrNameLst>
                                      </p:cBhvr>
                                      <p:tavLst>
                                        <p:tav tm="0">
                                          <p:val>
                                            <p:strVal val="ppt_w"/>
                                          </p:val>
                                        </p:tav>
                                        <p:tav tm="100000">
                                          <p:val>
                                            <p:fltVal val="0"/>
                                          </p:val>
                                        </p:tav>
                                      </p:tavLst>
                                    </p:anim>
                                    <p:anim calcmode="lin" valueType="num">
                                      <p:cBhvr>
                                        <p:cTn id="110" dur="1000"/>
                                        <p:tgtEl>
                                          <p:spTgt spid="15"/>
                                        </p:tgtEl>
                                        <p:attrNameLst>
                                          <p:attrName>ppt_h</p:attrName>
                                        </p:attrNameLst>
                                      </p:cBhvr>
                                      <p:tavLst>
                                        <p:tav tm="0">
                                          <p:val>
                                            <p:strVal val="ppt_h"/>
                                          </p:val>
                                        </p:tav>
                                        <p:tav tm="100000">
                                          <p:val>
                                            <p:fltVal val="0"/>
                                          </p:val>
                                        </p:tav>
                                      </p:tavLst>
                                    </p:anim>
                                    <p:animEffect transition="out" filter="fade">
                                      <p:cBhvr>
                                        <p:cTn id="111" dur="1000"/>
                                        <p:tgtEl>
                                          <p:spTgt spid="15"/>
                                        </p:tgtEl>
                                      </p:cBhvr>
                                    </p:animEffect>
                                    <p:set>
                                      <p:cBhvr>
                                        <p:cTn id="112" dur="1" fill="hold">
                                          <p:stCondLst>
                                            <p:cond delay="999"/>
                                          </p:stCondLst>
                                        </p:cTn>
                                        <p:tgtEl>
                                          <p:spTgt spid="15"/>
                                        </p:tgtEl>
                                        <p:attrNameLst>
                                          <p:attrName>style.visibility</p:attrName>
                                        </p:attrNameLst>
                                      </p:cBhvr>
                                      <p:to>
                                        <p:strVal val="hidden"/>
                                      </p:to>
                                    </p:set>
                                  </p:childTnLst>
                                </p:cTn>
                              </p:par>
                              <p:par>
                                <p:cTn id="113" presetID="53" presetClass="exit" presetSubtype="16" fill="hold" nodeType="withEffect">
                                  <p:stCondLst>
                                    <p:cond delay="700"/>
                                  </p:stCondLst>
                                  <p:childTnLst>
                                    <p:anim calcmode="lin" valueType="num">
                                      <p:cBhvr>
                                        <p:cTn id="114" dur="500"/>
                                        <p:tgtEl>
                                          <p:spTgt spid="16"/>
                                        </p:tgtEl>
                                        <p:attrNameLst>
                                          <p:attrName>ppt_w</p:attrName>
                                        </p:attrNameLst>
                                      </p:cBhvr>
                                      <p:tavLst>
                                        <p:tav tm="0">
                                          <p:val>
                                            <p:strVal val="ppt_w"/>
                                          </p:val>
                                        </p:tav>
                                        <p:tav tm="100000">
                                          <p:val>
                                            <p:fltVal val="0"/>
                                          </p:val>
                                        </p:tav>
                                      </p:tavLst>
                                    </p:anim>
                                    <p:anim calcmode="lin" valueType="num">
                                      <p:cBhvr>
                                        <p:cTn id="115" dur="500"/>
                                        <p:tgtEl>
                                          <p:spTgt spid="16"/>
                                        </p:tgtEl>
                                        <p:attrNameLst>
                                          <p:attrName>ppt_h</p:attrName>
                                        </p:attrNameLst>
                                      </p:cBhvr>
                                      <p:tavLst>
                                        <p:tav tm="0">
                                          <p:val>
                                            <p:strVal val="ppt_h"/>
                                          </p:val>
                                        </p:tav>
                                        <p:tav tm="100000">
                                          <p:val>
                                            <p:fltVal val="0"/>
                                          </p:val>
                                        </p:tav>
                                      </p:tavLst>
                                    </p:anim>
                                    <p:animEffect transition="out" filter="fade">
                                      <p:cBhvr>
                                        <p:cTn id="116" dur="500"/>
                                        <p:tgtEl>
                                          <p:spTgt spid="16"/>
                                        </p:tgtEl>
                                      </p:cBhvr>
                                    </p:animEffect>
                                    <p:set>
                                      <p:cBhvr>
                                        <p:cTn id="117" dur="1" fill="hold">
                                          <p:stCondLst>
                                            <p:cond delay="499"/>
                                          </p:stCondLst>
                                        </p:cTn>
                                        <p:tgtEl>
                                          <p:spTgt spid="16"/>
                                        </p:tgtEl>
                                        <p:attrNameLst>
                                          <p:attrName>style.visibility</p:attrName>
                                        </p:attrNameLst>
                                      </p:cBhvr>
                                      <p:to>
                                        <p:strVal val="hidden"/>
                                      </p:to>
                                    </p:set>
                                  </p:childTnLst>
                                </p:cTn>
                              </p:par>
                              <p:par>
                                <p:cTn id="118" presetID="53" presetClass="exit" presetSubtype="16" fill="hold" nodeType="withEffect">
                                  <p:stCondLst>
                                    <p:cond delay="300"/>
                                  </p:stCondLst>
                                  <p:childTnLst>
                                    <p:anim calcmode="lin" valueType="num">
                                      <p:cBhvr>
                                        <p:cTn id="119" dur="500"/>
                                        <p:tgtEl>
                                          <p:spTgt spid="17"/>
                                        </p:tgtEl>
                                        <p:attrNameLst>
                                          <p:attrName>ppt_w</p:attrName>
                                        </p:attrNameLst>
                                      </p:cBhvr>
                                      <p:tavLst>
                                        <p:tav tm="0">
                                          <p:val>
                                            <p:strVal val="ppt_w"/>
                                          </p:val>
                                        </p:tav>
                                        <p:tav tm="100000">
                                          <p:val>
                                            <p:fltVal val="0"/>
                                          </p:val>
                                        </p:tav>
                                      </p:tavLst>
                                    </p:anim>
                                    <p:anim calcmode="lin" valueType="num">
                                      <p:cBhvr>
                                        <p:cTn id="120" dur="500"/>
                                        <p:tgtEl>
                                          <p:spTgt spid="17"/>
                                        </p:tgtEl>
                                        <p:attrNameLst>
                                          <p:attrName>ppt_h</p:attrName>
                                        </p:attrNameLst>
                                      </p:cBhvr>
                                      <p:tavLst>
                                        <p:tav tm="0">
                                          <p:val>
                                            <p:strVal val="ppt_h"/>
                                          </p:val>
                                        </p:tav>
                                        <p:tav tm="100000">
                                          <p:val>
                                            <p:fltVal val="0"/>
                                          </p:val>
                                        </p:tav>
                                      </p:tavLst>
                                    </p:anim>
                                    <p:animEffect transition="out" filter="fade">
                                      <p:cBhvr>
                                        <p:cTn id="121" dur="500"/>
                                        <p:tgtEl>
                                          <p:spTgt spid="17"/>
                                        </p:tgtEl>
                                      </p:cBhvr>
                                    </p:animEffect>
                                    <p:set>
                                      <p:cBhvr>
                                        <p:cTn id="122" dur="1" fill="hold">
                                          <p:stCondLst>
                                            <p:cond delay="499"/>
                                          </p:stCondLst>
                                        </p:cTn>
                                        <p:tgtEl>
                                          <p:spTgt spid="17"/>
                                        </p:tgtEl>
                                        <p:attrNameLst>
                                          <p:attrName>style.visibility</p:attrName>
                                        </p:attrNameLst>
                                      </p:cBhvr>
                                      <p:to>
                                        <p:strVal val="hidden"/>
                                      </p:to>
                                    </p:set>
                                  </p:childTnLst>
                                </p:cTn>
                              </p:par>
                              <p:par>
                                <p:cTn id="123" presetID="53" presetClass="exit" presetSubtype="16" fill="hold" nodeType="withEffect">
                                  <p:stCondLst>
                                    <p:cond delay="1900"/>
                                  </p:stCondLst>
                                  <p:childTnLst>
                                    <p:anim calcmode="lin" valueType="num">
                                      <p:cBhvr>
                                        <p:cTn id="124" dur="500"/>
                                        <p:tgtEl>
                                          <p:spTgt spid="18"/>
                                        </p:tgtEl>
                                        <p:attrNameLst>
                                          <p:attrName>ppt_w</p:attrName>
                                        </p:attrNameLst>
                                      </p:cBhvr>
                                      <p:tavLst>
                                        <p:tav tm="0">
                                          <p:val>
                                            <p:strVal val="ppt_w"/>
                                          </p:val>
                                        </p:tav>
                                        <p:tav tm="100000">
                                          <p:val>
                                            <p:fltVal val="0"/>
                                          </p:val>
                                        </p:tav>
                                      </p:tavLst>
                                    </p:anim>
                                    <p:anim calcmode="lin" valueType="num">
                                      <p:cBhvr>
                                        <p:cTn id="125" dur="500"/>
                                        <p:tgtEl>
                                          <p:spTgt spid="18"/>
                                        </p:tgtEl>
                                        <p:attrNameLst>
                                          <p:attrName>ppt_h</p:attrName>
                                        </p:attrNameLst>
                                      </p:cBhvr>
                                      <p:tavLst>
                                        <p:tav tm="0">
                                          <p:val>
                                            <p:strVal val="ppt_h"/>
                                          </p:val>
                                        </p:tav>
                                        <p:tav tm="100000">
                                          <p:val>
                                            <p:fltVal val="0"/>
                                          </p:val>
                                        </p:tav>
                                      </p:tavLst>
                                    </p:anim>
                                    <p:animEffect transition="out" filter="fade">
                                      <p:cBhvr>
                                        <p:cTn id="126" dur="500"/>
                                        <p:tgtEl>
                                          <p:spTgt spid="18"/>
                                        </p:tgtEl>
                                      </p:cBhvr>
                                    </p:animEffect>
                                    <p:set>
                                      <p:cBhvr>
                                        <p:cTn id="127" dur="1" fill="hold">
                                          <p:stCondLst>
                                            <p:cond delay="499"/>
                                          </p:stCondLst>
                                        </p:cTn>
                                        <p:tgtEl>
                                          <p:spTgt spid="18"/>
                                        </p:tgtEl>
                                        <p:attrNameLst>
                                          <p:attrName>style.visibility</p:attrName>
                                        </p:attrNameLst>
                                      </p:cBhvr>
                                      <p:to>
                                        <p:strVal val="hidden"/>
                                      </p:to>
                                    </p:set>
                                  </p:childTnLst>
                                </p:cTn>
                              </p:par>
                              <p:par>
                                <p:cTn id="128" presetID="53" presetClass="exit" presetSubtype="16" fill="hold" nodeType="withEffect">
                                  <p:stCondLst>
                                    <p:cond delay="2300"/>
                                  </p:stCondLst>
                                  <p:childTnLst>
                                    <p:anim calcmode="lin" valueType="num">
                                      <p:cBhvr>
                                        <p:cTn id="129" dur="500"/>
                                        <p:tgtEl>
                                          <p:spTgt spid="19"/>
                                        </p:tgtEl>
                                        <p:attrNameLst>
                                          <p:attrName>ppt_w</p:attrName>
                                        </p:attrNameLst>
                                      </p:cBhvr>
                                      <p:tavLst>
                                        <p:tav tm="0">
                                          <p:val>
                                            <p:strVal val="ppt_w"/>
                                          </p:val>
                                        </p:tav>
                                        <p:tav tm="100000">
                                          <p:val>
                                            <p:fltVal val="0"/>
                                          </p:val>
                                        </p:tav>
                                      </p:tavLst>
                                    </p:anim>
                                    <p:anim calcmode="lin" valueType="num">
                                      <p:cBhvr>
                                        <p:cTn id="130" dur="500"/>
                                        <p:tgtEl>
                                          <p:spTgt spid="19"/>
                                        </p:tgtEl>
                                        <p:attrNameLst>
                                          <p:attrName>ppt_h</p:attrName>
                                        </p:attrNameLst>
                                      </p:cBhvr>
                                      <p:tavLst>
                                        <p:tav tm="0">
                                          <p:val>
                                            <p:strVal val="ppt_h"/>
                                          </p:val>
                                        </p:tav>
                                        <p:tav tm="100000">
                                          <p:val>
                                            <p:fltVal val="0"/>
                                          </p:val>
                                        </p:tav>
                                      </p:tavLst>
                                    </p:anim>
                                    <p:animEffect transition="out" filter="fade">
                                      <p:cBhvr>
                                        <p:cTn id="131" dur="500"/>
                                        <p:tgtEl>
                                          <p:spTgt spid="19"/>
                                        </p:tgtEl>
                                      </p:cBhvr>
                                    </p:animEffect>
                                    <p:set>
                                      <p:cBhvr>
                                        <p:cTn id="132" dur="1" fill="hold">
                                          <p:stCondLst>
                                            <p:cond delay="499"/>
                                          </p:stCondLst>
                                        </p:cTn>
                                        <p:tgtEl>
                                          <p:spTgt spid="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theme" Target="../theme/theme2.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2" Type="http://schemas.openxmlformats.org/officeDocument/2006/relationships/slideLayout" Target="../slideLayouts/slideLayout11.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0" Type="http://schemas.openxmlformats.org/officeDocument/2006/relationships/slideLayout" Target="../slideLayouts/slideLayout19.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标题占位符 1"/>
          <p:cNvSpPr>
            <a:spLocks noGrp="1" noChangeArrowheads="1"/>
          </p:cNvSpPr>
          <p:nvPr>
            <p:ph type="title"/>
          </p:nvPr>
        </p:nvSpPr>
        <p:spPr bwMode="auto">
          <a:xfrm>
            <a:off x="838200" y="403225"/>
            <a:ext cx="10515600" cy="146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altLang="en-US" dirty="0"/>
              <a:t>单击此处编辑母版标题样式</a:t>
            </a:r>
          </a:p>
        </p:txBody>
      </p:sp>
      <p:sp>
        <p:nvSpPr>
          <p:cNvPr id="1027" name="文本占位符 2"/>
          <p:cNvSpPr>
            <a:spLocks noGrp="1" noChangeArrowheads="1"/>
          </p:cNvSpPr>
          <p:nvPr>
            <p:ph type="body" idx="1"/>
          </p:nvPr>
        </p:nvSpPr>
        <p:spPr bwMode="auto">
          <a:xfrm>
            <a:off x="838200" y="2012950"/>
            <a:ext cx="10515600" cy="4797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altLang="en-US" dirty="0"/>
              <a:t>单击此处编辑母版文本样式</a:t>
            </a:r>
          </a:p>
          <a:p>
            <a:pPr lvl="1"/>
            <a:r>
              <a:rPr lang="zh-CN" altLang="en-US" dirty="0"/>
              <a:t>二级</a:t>
            </a:r>
          </a:p>
          <a:p>
            <a:pPr lvl="2"/>
            <a:r>
              <a:rPr lang="zh-CN" altLang="en-US" dirty="0"/>
              <a:t>三级</a:t>
            </a:r>
          </a:p>
          <a:p>
            <a:pPr lvl="3"/>
            <a:r>
              <a:rPr lang="zh-CN" altLang="en-US" dirty="0"/>
              <a:t>四级</a:t>
            </a:r>
          </a:p>
          <a:p>
            <a:pPr lvl="4"/>
            <a:r>
              <a:rPr lang="zh-CN" altLang="en-US" dirty="0"/>
              <a:t>五级</a:t>
            </a:r>
          </a:p>
        </p:txBody>
      </p:sp>
      <p:sp>
        <p:nvSpPr>
          <p:cNvPr id="4" name="日期占位符 3"/>
          <p:cNvSpPr>
            <a:spLocks noGrp="1"/>
          </p:cNvSpPr>
          <p:nvPr>
            <p:ph type="dt" sz="half" idx="2"/>
          </p:nvPr>
        </p:nvSpPr>
        <p:spPr>
          <a:xfrm>
            <a:off x="838200" y="7008813"/>
            <a:ext cx="2743200" cy="401637"/>
          </a:xfrm>
          <a:prstGeom prst="rect">
            <a:avLst/>
          </a:prstGeom>
        </p:spPr>
        <p:txBody>
          <a:bodyPr vert="horz" lIns="91440" tIns="45720" rIns="91440" bIns="45720" rtlCol="0" anchor="ctr"/>
          <a:lstStyle>
            <a:lvl1pPr algn="l">
              <a:defRPr sz="1200">
                <a:solidFill>
                  <a:schemeClr val="tx1">
                    <a:tint val="75000"/>
                  </a:schemeClr>
                </a:solidFill>
              </a:defRPr>
            </a:lvl1pPr>
          </a:lstStyle>
          <a:p>
            <a:pPr>
              <a:defRPr/>
            </a:pPr>
            <a:fld id="{4D24FCC2-23DF-4ADE-9E07-C5F5D3262469}" type="datetimeFigureOut">
              <a:rPr lang="zh-CN" altLang="en-US"/>
              <a:t>2020/11/2</a:t>
            </a:fld>
            <a:endParaRPr lang="zh-CN" altLang="en-US"/>
          </a:p>
        </p:txBody>
      </p:sp>
      <p:sp>
        <p:nvSpPr>
          <p:cNvPr id="5" name="页脚占位符 4"/>
          <p:cNvSpPr>
            <a:spLocks noGrp="1"/>
          </p:cNvSpPr>
          <p:nvPr>
            <p:ph type="ftr" sz="quarter" idx="3"/>
          </p:nvPr>
        </p:nvSpPr>
        <p:spPr>
          <a:xfrm>
            <a:off x="4038600" y="7008813"/>
            <a:ext cx="4114800" cy="401637"/>
          </a:xfrm>
          <a:prstGeom prst="rect">
            <a:avLst/>
          </a:prstGeom>
        </p:spPr>
        <p:txBody>
          <a:bodyPr vert="horz" lIns="91440" tIns="45720" rIns="91440" bIns="45720" rtlCol="0" anchor="ctr"/>
          <a:lstStyle>
            <a:lvl1pPr algn="ctr">
              <a:defRPr sz="1200">
                <a:solidFill>
                  <a:schemeClr val="tx1">
                    <a:tint val="75000"/>
                  </a:schemeClr>
                </a:solidFill>
              </a:defRPr>
            </a:lvl1pPr>
          </a:lstStyle>
          <a:p>
            <a:pPr>
              <a:defRPr/>
            </a:pPr>
            <a:endParaRPr lang="zh-CN" altLang="en-US"/>
          </a:p>
        </p:txBody>
      </p:sp>
      <p:sp>
        <p:nvSpPr>
          <p:cNvPr id="6" name="灯片编号占位符 5"/>
          <p:cNvSpPr>
            <a:spLocks noGrp="1"/>
          </p:cNvSpPr>
          <p:nvPr>
            <p:ph type="sldNum" sz="quarter" idx="4"/>
          </p:nvPr>
        </p:nvSpPr>
        <p:spPr>
          <a:xfrm>
            <a:off x="8610600" y="7008813"/>
            <a:ext cx="2743200" cy="401637"/>
          </a:xfrm>
          <a:prstGeom prst="rect">
            <a:avLst/>
          </a:prstGeom>
        </p:spPr>
        <p:txBody>
          <a:bodyPr vert="horz" lIns="91440" tIns="45720" rIns="91440" bIns="45720" rtlCol="0" anchor="ctr"/>
          <a:lstStyle>
            <a:lvl1pPr algn="r">
              <a:defRPr sz="1200">
                <a:solidFill>
                  <a:schemeClr val="tx1">
                    <a:tint val="75000"/>
                  </a:schemeClr>
                </a:solidFill>
              </a:defRPr>
            </a:lvl1pPr>
          </a:lstStyle>
          <a:p>
            <a:pPr>
              <a:defRPr/>
            </a:pPr>
            <a:fld id="{F656F0DA-45B5-44A3-9304-266A7B263D45}" type="slidenum">
              <a:rPr lang="zh-CN" altLang="en-US"/>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2pPr>
      <a:lvl3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3pPr>
      <a:lvl4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4pPr>
      <a:lvl5pPr algn="l" rtl="0" eaLnBrk="0" fontAlgn="base" hangingPunct="0">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5pPr>
      <a:lvl6pPr marL="4572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6pPr>
      <a:lvl7pPr marL="9144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7pPr>
      <a:lvl8pPr marL="13716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8pPr>
      <a:lvl9pPr marL="1828800" algn="l" rtl="0" fontAlgn="base">
        <a:lnSpc>
          <a:spcPct val="90000"/>
        </a:lnSpc>
        <a:spcBef>
          <a:spcPct val="0"/>
        </a:spcBef>
        <a:spcAft>
          <a:spcPct val="0"/>
        </a:spcAft>
        <a:defRPr sz="4400">
          <a:solidFill>
            <a:schemeClr val="tx1"/>
          </a:solidFill>
          <a:latin typeface="等线 Light" panose="02010600030101010101" pitchFamily="2" charset="-122"/>
          <a:ea typeface="等线 Light" panose="02010600030101010101" pitchFamily="2"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4" cstate="print">
            <a:lum/>
          </a:blip>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609378" y="1001125"/>
            <a:ext cx="10973562" cy="70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lstStyle/>
          <a:p>
            <a:pPr lvl="0"/>
            <a:r>
              <a:rPr lang="zh-CN" dirty="0"/>
              <a:t>单击此处编辑母版标题样式</a:t>
            </a:r>
          </a:p>
        </p:txBody>
      </p:sp>
      <p:sp>
        <p:nvSpPr>
          <p:cNvPr id="1027" name="Rectangle 3"/>
          <p:cNvSpPr>
            <a:spLocks noGrp="1" noChangeArrowheads="1"/>
          </p:cNvSpPr>
          <p:nvPr>
            <p:ph type="body" idx="1"/>
          </p:nvPr>
        </p:nvSpPr>
        <p:spPr bwMode="auto">
          <a:xfrm>
            <a:off x="609378" y="1764221"/>
            <a:ext cx="10973562" cy="49898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lstStyle/>
          <a:p>
            <a:pPr lvl="0"/>
            <a:r>
              <a:rPr lang="zh-CN" dirty="0"/>
              <a:t>单击此处编辑母版文本样式</a:t>
            </a:r>
          </a:p>
          <a:p>
            <a:pPr lvl="1"/>
            <a:r>
              <a:rPr lang="zh-CN" dirty="0"/>
              <a:t>第二级</a:t>
            </a:r>
          </a:p>
        </p:txBody>
      </p:sp>
    </p:spTree>
  </p:cSld>
  <p:clrMap bg1="lt1" tx1="dk1" bg2="lt2" tx2="dk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 id="2147483675" r:id="rId12"/>
  </p:sldLayoutIdLst>
  <p:txStyles>
    <p:titleStyle>
      <a:lvl1pPr algn="l" rtl="0" fontAlgn="base">
        <a:spcBef>
          <a:spcPct val="0"/>
        </a:spcBef>
        <a:spcAft>
          <a:spcPct val="0"/>
        </a:spcAft>
        <a:defRPr sz="2400">
          <a:solidFill>
            <a:schemeClr val="accent1"/>
          </a:solidFill>
          <a:latin typeface="+mj-lt"/>
          <a:ea typeface="+mj-ea"/>
          <a:cs typeface="+mj-cs"/>
        </a:defRPr>
      </a:lvl1pPr>
      <a:lvl2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2pPr>
      <a:lvl3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3pPr>
      <a:lvl4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4pPr>
      <a:lvl5pPr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5pPr>
      <a:lvl6pPr marL="4572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6pPr>
      <a:lvl7pPr marL="9144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7pPr>
      <a:lvl8pPr marL="13716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8pPr>
      <a:lvl9pPr marL="1828800" algn="l" rtl="0" fontAlgn="base">
        <a:spcBef>
          <a:spcPct val="0"/>
        </a:spcBef>
        <a:spcAft>
          <a:spcPct val="0"/>
        </a:spcAft>
        <a:defRPr sz="2400">
          <a:solidFill>
            <a:schemeClr val="tx2"/>
          </a:solidFill>
          <a:latin typeface="Arial" panose="020B0604020202020204" pitchFamily="34" charset="0"/>
          <a:ea typeface="微软雅黑" panose="020B0503020204020204" pitchFamily="34" charset="-122"/>
        </a:defRPr>
      </a:lvl9pPr>
    </p:titleStyle>
    <p:bodyStyle>
      <a:lvl1pPr marL="342900" indent="-342900" algn="l" rtl="0" fontAlgn="base">
        <a:spcBef>
          <a:spcPct val="20000"/>
        </a:spcBef>
        <a:spcAft>
          <a:spcPct val="0"/>
        </a:spcAft>
        <a:buChar char="•"/>
        <a:defRPr sz="2000">
          <a:solidFill>
            <a:schemeClr val="accent1"/>
          </a:solidFill>
          <a:latin typeface="+mn-lt"/>
          <a:ea typeface="+mn-ea"/>
          <a:cs typeface="+mn-cs"/>
        </a:defRPr>
      </a:lvl1pPr>
      <a:lvl2pPr marL="742950" indent="-285750" algn="l" rtl="0" eaLnBrk="0" fontAlgn="base" hangingPunct="0">
        <a:spcBef>
          <a:spcPct val="20000"/>
        </a:spcBef>
        <a:spcAft>
          <a:spcPct val="0"/>
        </a:spcAft>
        <a:buChar char="–"/>
        <a:defRPr sz="2000">
          <a:solidFill>
            <a:schemeClr val="accent1"/>
          </a:solidFill>
          <a:latin typeface="+mn-lt"/>
          <a:ea typeface="仿宋_GB2312" pitchFamily="49" charset="-122"/>
        </a:defRPr>
      </a:lvl2pPr>
      <a:lvl3pPr marL="1142365" indent="-228600" algn="l" rtl="0" eaLnBrk="0" fontAlgn="base" hangingPunct="0">
        <a:spcBef>
          <a:spcPct val="20000"/>
        </a:spcBef>
        <a:spcAft>
          <a:spcPct val="0"/>
        </a:spcAft>
        <a:buChar char="•"/>
        <a:defRPr sz="2400">
          <a:solidFill>
            <a:schemeClr val="tx1"/>
          </a:solidFill>
          <a:latin typeface="+mn-lt"/>
          <a:ea typeface="宋体" panose="02010600030101010101" pitchFamily="2" charset="-122"/>
        </a:defRPr>
      </a:lvl3pPr>
      <a:lvl4pPr marL="159956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4pPr>
      <a:lvl5pPr marL="205676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5pPr>
      <a:lvl6pPr marL="2513965"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6pPr>
      <a:lvl7pPr marL="297053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7pPr>
      <a:lvl8pPr marL="342773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8pPr>
      <a:lvl9pPr marL="3884930" indent="-228600" algn="l" rtl="0" eaLnBrk="0" fontAlgn="base" hangingPunct="0">
        <a:spcBef>
          <a:spcPct val="20000"/>
        </a:spcBef>
        <a:spcAft>
          <a:spcPct val="0"/>
        </a:spcAft>
        <a:buChar char="»"/>
        <a:defRPr sz="2000">
          <a:solidFill>
            <a:schemeClr val="tx1"/>
          </a:solidFill>
          <a:latin typeface="+mn-lt"/>
          <a:ea typeface="宋体" panose="02010600030101010101" pitchFamily="2" charset="-122"/>
        </a:defRPr>
      </a:lvl9pPr>
    </p:bodyStyle>
    <p:otherStyle>
      <a:defPPr>
        <a:defRPr lang="zh-CN"/>
      </a:defPPr>
      <a:lvl1pPr marL="0" algn="l" defTabSz="913765" rtl="0" eaLnBrk="1" latinLnBrk="0" hangingPunct="1">
        <a:defRPr sz="1800" kern="1200">
          <a:solidFill>
            <a:schemeClr val="tx1"/>
          </a:solidFill>
          <a:latin typeface="+mn-lt"/>
          <a:ea typeface="+mn-ea"/>
          <a:cs typeface="+mn-cs"/>
        </a:defRPr>
      </a:lvl1pPr>
      <a:lvl2pPr marL="457200" algn="l" defTabSz="913765" rtl="0" eaLnBrk="1" latinLnBrk="0" hangingPunct="1">
        <a:defRPr sz="1800" kern="1200">
          <a:solidFill>
            <a:schemeClr val="tx1"/>
          </a:solidFill>
          <a:latin typeface="+mn-lt"/>
          <a:ea typeface="+mn-ea"/>
          <a:cs typeface="+mn-cs"/>
        </a:defRPr>
      </a:lvl2pPr>
      <a:lvl3pPr marL="913765" algn="l" defTabSz="913765" rtl="0" eaLnBrk="1" latinLnBrk="0" hangingPunct="1">
        <a:defRPr sz="1800" kern="1200">
          <a:solidFill>
            <a:schemeClr val="tx1"/>
          </a:solidFill>
          <a:latin typeface="+mn-lt"/>
          <a:ea typeface="+mn-ea"/>
          <a:cs typeface="+mn-cs"/>
        </a:defRPr>
      </a:lvl3pPr>
      <a:lvl4pPr marL="1370965" algn="l" defTabSz="913765" rtl="0" eaLnBrk="1" latinLnBrk="0" hangingPunct="1">
        <a:defRPr sz="1800" kern="1200">
          <a:solidFill>
            <a:schemeClr val="tx1"/>
          </a:solidFill>
          <a:latin typeface="+mn-lt"/>
          <a:ea typeface="+mn-ea"/>
          <a:cs typeface="+mn-cs"/>
        </a:defRPr>
      </a:lvl4pPr>
      <a:lvl5pPr marL="1828165" algn="l" defTabSz="913765" rtl="0" eaLnBrk="1" latinLnBrk="0" hangingPunct="1">
        <a:defRPr sz="1800" kern="1200">
          <a:solidFill>
            <a:schemeClr val="tx1"/>
          </a:solidFill>
          <a:latin typeface="+mn-lt"/>
          <a:ea typeface="+mn-ea"/>
          <a:cs typeface="+mn-cs"/>
        </a:defRPr>
      </a:lvl5pPr>
      <a:lvl6pPr marL="2285365" algn="l" defTabSz="913765" rtl="0" eaLnBrk="1" latinLnBrk="0" hangingPunct="1">
        <a:defRPr sz="1800" kern="1200">
          <a:solidFill>
            <a:schemeClr val="tx1"/>
          </a:solidFill>
          <a:latin typeface="+mn-lt"/>
          <a:ea typeface="+mn-ea"/>
          <a:cs typeface="+mn-cs"/>
        </a:defRPr>
      </a:lvl6pPr>
      <a:lvl7pPr marL="2741930" algn="l" defTabSz="913765" rtl="0" eaLnBrk="1" latinLnBrk="0" hangingPunct="1">
        <a:defRPr sz="1800" kern="1200">
          <a:solidFill>
            <a:schemeClr val="tx1"/>
          </a:solidFill>
          <a:latin typeface="+mn-lt"/>
          <a:ea typeface="+mn-ea"/>
          <a:cs typeface="+mn-cs"/>
        </a:defRPr>
      </a:lvl7pPr>
      <a:lvl8pPr marL="3199130" algn="l" defTabSz="913765" rtl="0" eaLnBrk="1" latinLnBrk="0" hangingPunct="1">
        <a:defRPr sz="1800" kern="1200">
          <a:solidFill>
            <a:schemeClr val="tx1"/>
          </a:solidFill>
          <a:latin typeface="+mn-lt"/>
          <a:ea typeface="+mn-ea"/>
          <a:cs typeface="+mn-cs"/>
        </a:defRPr>
      </a:lvl8pPr>
      <a:lvl9pPr marL="3656330" algn="l" defTabSz="913765"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17.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7.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1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11.xml"/><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1.xml"/></Relationships>
</file>

<file path=ppt/slides/_rels/slide1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1.xml"/></Relationships>
</file>

<file path=ppt/slides/_rels/slide1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1.xml"/></Relationships>
</file>

<file path=ppt/slides/_rels/slide1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1.xml"/></Relationships>
</file>

<file path=ppt/slides/_rels/slide1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0.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1.xml"/></Relationships>
</file>

<file path=ppt/slides/_rels/slide21.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3.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6.xml"/><Relationship Id="rId1" Type="http://schemas.openxmlformats.org/officeDocument/2006/relationships/slideLayout" Target="../slideLayouts/slideLayout1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2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7.xml"/><Relationship Id="rId1" Type="http://schemas.openxmlformats.org/officeDocument/2006/relationships/slideLayout" Target="../slideLayouts/slideLayout11.xml"/></Relationships>
</file>

<file path=ppt/slides/_rels/slide2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8.xml"/><Relationship Id="rId1" Type="http://schemas.openxmlformats.org/officeDocument/2006/relationships/slideLayout" Target="../slideLayouts/slideLayout11.xml"/></Relationships>
</file>

<file path=ppt/slides/_rels/slide2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28.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9" name="图片 2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2806325"/>
            <a:ext cx="12192355" cy="4401898"/>
          </a:xfrm>
          <a:prstGeom prst="rect">
            <a:avLst/>
          </a:prstGeom>
        </p:spPr>
      </p:pic>
      <p:grpSp>
        <p:nvGrpSpPr>
          <p:cNvPr id="8" name="组合 7"/>
          <p:cNvGrpSpPr/>
          <p:nvPr/>
        </p:nvGrpSpPr>
        <p:grpSpPr>
          <a:xfrm>
            <a:off x="4945641" y="1680947"/>
            <a:ext cx="2301036" cy="2307385"/>
            <a:chOff x="6609209" y="790981"/>
            <a:chExt cx="2301875" cy="2308226"/>
          </a:xfrm>
        </p:grpSpPr>
        <p:sp>
          <p:nvSpPr>
            <p:cNvPr id="9" name="Oval 5"/>
            <p:cNvSpPr>
              <a:spLocks noChangeArrowheads="1"/>
            </p:cNvSpPr>
            <p:nvPr/>
          </p:nvSpPr>
          <p:spPr bwMode="auto">
            <a:xfrm>
              <a:off x="6609209" y="790981"/>
              <a:ext cx="2301875" cy="2308226"/>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06" tIns="45703" rIns="91406" bIns="45703" numCol="1" anchor="t" anchorCtr="0" compatLnSpc="1"/>
            <a:lstStyle/>
            <a:p>
              <a:endParaRPr lang="zh-CN" altLang="en-US" sz="100"/>
            </a:p>
          </p:txBody>
        </p:sp>
        <p:sp>
          <p:nvSpPr>
            <p:cNvPr id="10" name="Freeform 6"/>
            <p:cNvSpPr>
              <a:spLocks noEditPoints="1"/>
            </p:cNvSpPr>
            <p:nvPr/>
          </p:nvSpPr>
          <p:spPr bwMode="auto">
            <a:xfrm>
              <a:off x="6733034" y="914806"/>
              <a:ext cx="2054225" cy="2058988"/>
            </a:xfrm>
            <a:custGeom>
              <a:avLst/>
              <a:gdLst>
                <a:gd name="T0" fmla="*/ 1653 w 3306"/>
                <a:gd name="T1" fmla="*/ 0 h 3306"/>
                <a:gd name="T2" fmla="*/ 3306 w 3306"/>
                <a:gd name="T3" fmla="*/ 1653 h 3306"/>
                <a:gd name="T4" fmla="*/ 1653 w 3306"/>
                <a:gd name="T5" fmla="*/ 3306 h 3306"/>
                <a:gd name="T6" fmla="*/ 0 w 3306"/>
                <a:gd name="T7" fmla="*/ 1653 h 3306"/>
                <a:gd name="T8" fmla="*/ 1653 w 3306"/>
                <a:gd name="T9" fmla="*/ 0 h 3306"/>
                <a:gd name="T10" fmla="*/ 1653 w 3306"/>
                <a:gd name="T11" fmla="*/ 112 h 3306"/>
                <a:gd name="T12" fmla="*/ 3193 w 3306"/>
                <a:gd name="T13" fmla="*/ 1653 h 3306"/>
                <a:gd name="T14" fmla="*/ 1653 w 3306"/>
                <a:gd name="T15" fmla="*/ 3193 h 3306"/>
                <a:gd name="T16" fmla="*/ 112 w 3306"/>
                <a:gd name="T17" fmla="*/ 1653 h 3306"/>
                <a:gd name="T18" fmla="*/ 1653 w 3306"/>
                <a:gd name="T19" fmla="*/ 112 h 33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306" h="3306">
                  <a:moveTo>
                    <a:pt x="1653" y="0"/>
                  </a:moveTo>
                  <a:cubicBezTo>
                    <a:pt x="2565" y="0"/>
                    <a:pt x="3306" y="740"/>
                    <a:pt x="3306" y="1653"/>
                  </a:cubicBezTo>
                  <a:cubicBezTo>
                    <a:pt x="3306" y="2565"/>
                    <a:pt x="2565" y="3306"/>
                    <a:pt x="1653" y="3306"/>
                  </a:cubicBezTo>
                  <a:cubicBezTo>
                    <a:pt x="740" y="3306"/>
                    <a:pt x="0" y="2565"/>
                    <a:pt x="0" y="1653"/>
                  </a:cubicBezTo>
                  <a:cubicBezTo>
                    <a:pt x="0" y="740"/>
                    <a:pt x="740" y="0"/>
                    <a:pt x="1653" y="0"/>
                  </a:cubicBezTo>
                  <a:close/>
                  <a:moveTo>
                    <a:pt x="1653" y="112"/>
                  </a:moveTo>
                  <a:cubicBezTo>
                    <a:pt x="2503" y="112"/>
                    <a:pt x="3193" y="802"/>
                    <a:pt x="3193" y="1653"/>
                  </a:cubicBezTo>
                  <a:cubicBezTo>
                    <a:pt x="3193" y="2503"/>
                    <a:pt x="2503" y="3193"/>
                    <a:pt x="1653" y="3193"/>
                  </a:cubicBezTo>
                  <a:cubicBezTo>
                    <a:pt x="802" y="3193"/>
                    <a:pt x="112" y="2503"/>
                    <a:pt x="112" y="1653"/>
                  </a:cubicBezTo>
                  <a:cubicBezTo>
                    <a:pt x="112" y="802"/>
                    <a:pt x="802" y="112"/>
                    <a:pt x="1653" y="112"/>
                  </a:cubicBezTo>
                  <a:close/>
                </a:path>
              </a:pathLst>
            </a:custGeom>
            <a:solidFill>
              <a:schemeClr val="tx1"/>
            </a:solidFill>
            <a:ln>
              <a:noFill/>
            </a:ln>
          </p:spPr>
          <p:txBody>
            <a:bodyPr vert="horz" wrap="square" lIns="91406" tIns="45703" rIns="91406" bIns="45703" numCol="1" anchor="t" anchorCtr="0" compatLnSpc="1"/>
            <a:lstStyle/>
            <a:p>
              <a:endParaRPr lang="zh-CN" altLang="en-US" sz="100"/>
            </a:p>
          </p:txBody>
        </p:sp>
      </p:grpSp>
      <p:sp>
        <p:nvSpPr>
          <p:cNvPr id="13" name="TextBox 12"/>
          <p:cNvSpPr txBox="1"/>
          <p:nvPr/>
        </p:nvSpPr>
        <p:spPr>
          <a:xfrm>
            <a:off x="2259330" y="4106545"/>
            <a:ext cx="7981315" cy="830997"/>
          </a:xfrm>
          <a:prstGeom prst="rect">
            <a:avLst/>
          </a:prstGeom>
          <a:noFill/>
        </p:spPr>
        <p:txBody>
          <a:bodyPr wrap="square" rtlCol="0">
            <a:spAutoFit/>
          </a:bodyPr>
          <a:lstStyle/>
          <a:p>
            <a:pPr algn="ctr"/>
            <a:r>
              <a:rPr lang="zh-CN" altLang="en-US" sz="4800" b="1" dirty="0">
                <a:solidFill>
                  <a:schemeClr val="accent2"/>
                </a:solidFill>
                <a:latin typeface="微软雅黑" panose="020B0503020204020204" pitchFamily="34" charset="-122"/>
              </a:rPr>
              <a:t>功能点估算</a:t>
            </a:r>
            <a:endParaRPr lang="zh-CN" altLang="en-US" sz="4800" b="1" dirty="0">
              <a:solidFill>
                <a:schemeClr val="accent2"/>
              </a:solidFill>
              <a:latin typeface="微软雅黑" panose="020B0503020204020204" pitchFamily="34" charset="-122"/>
              <a:ea typeface="微软雅黑" panose="020B0503020204020204" pitchFamily="34" charset="-122"/>
            </a:endParaRPr>
          </a:p>
        </p:txBody>
      </p:sp>
      <p:cxnSp>
        <p:nvCxnSpPr>
          <p:cNvPr id="14" name="直接连接符 13"/>
          <p:cNvCxnSpPr/>
          <p:nvPr/>
        </p:nvCxnSpPr>
        <p:spPr bwMode="auto">
          <a:xfrm>
            <a:off x="2640965" y="4921885"/>
            <a:ext cx="7155815" cy="0"/>
          </a:xfrm>
          <a:prstGeom prst="line">
            <a:avLst/>
          </a:prstGeom>
          <a:solidFill>
            <a:schemeClr val="accent1"/>
          </a:solidFill>
          <a:ln w="9525" cap="flat" cmpd="sng" algn="ctr">
            <a:solidFill>
              <a:schemeClr val="accent2"/>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12" name="Oval 39"/>
          <p:cNvSpPr>
            <a:spLocks noChangeAspect="1" noChangeArrowheads="1"/>
          </p:cNvSpPr>
          <p:nvPr/>
        </p:nvSpPr>
        <p:spPr bwMode="auto">
          <a:xfrm>
            <a:off x="2925273" y="5206141"/>
            <a:ext cx="215921" cy="217148"/>
          </a:xfrm>
          <a:prstGeom prst="ellipse">
            <a:avLst/>
          </a:prstGeom>
          <a:solidFill>
            <a:schemeClr val="tx1"/>
          </a:solidFill>
          <a:ln w="28575" cap="flat">
            <a:solidFill>
              <a:schemeClr val="accent2"/>
            </a:solidFill>
            <a:prstDash val="solid"/>
            <a:miter lim="800000"/>
          </a:ln>
        </p:spPr>
        <p:txBody>
          <a:bodyPr vert="horz" wrap="square" lIns="91406" tIns="45703" rIns="91406" bIns="45703" numCol="1" anchor="t" anchorCtr="0" compatLnSpc="1"/>
          <a:lstStyle/>
          <a:p>
            <a:endParaRPr lang="zh-CN" altLang="en-US" sz="2000">
              <a:solidFill>
                <a:schemeClr val="accent1"/>
              </a:solidFill>
            </a:endParaRPr>
          </a:p>
        </p:txBody>
      </p:sp>
      <p:sp>
        <p:nvSpPr>
          <p:cNvPr id="16" name="Oval 40"/>
          <p:cNvSpPr>
            <a:spLocks noChangeAspect="1" noChangeArrowheads="1"/>
          </p:cNvSpPr>
          <p:nvPr/>
        </p:nvSpPr>
        <p:spPr bwMode="auto">
          <a:xfrm>
            <a:off x="2925273" y="5611966"/>
            <a:ext cx="215921" cy="217148"/>
          </a:xfrm>
          <a:prstGeom prst="ellipse">
            <a:avLst/>
          </a:prstGeom>
          <a:solidFill>
            <a:schemeClr val="tx1"/>
          </a:solidFill>
          <a:ln w="28575" cap="flat">
            <a:solidFill>
              <a:schemeClr val="accent2"/>
            </a:solidFill>
            <a:prstDash val="solid"/>
            <a:miter lim="800000"/>
          </a:ln>
        </p:spPr>
        <p:txBody>
          <a:bodyPr vert="horz" wrap="square" lIns="91406" tIns="45703" rIns="91406" bIns="45703" numCol="1" anchor="t" anchorCtr="0" compatLnSpc="1"/>
          <a:lstStyle/>
          <a:p>
            <a:endParaRPr lang="zh-CN" altLang="en-US" sz="2000">
              <a:solidFill>
                <a:schemeClr val="accent1"/>
              </a:solidFill>
            </a:endParaRPr>
          </a:p>
        </p:txBody>
      </p:sp>
      <p:sp>
        <p:nvSpPr>
          <p:cNvPr id="17" name="Oval 41"/>
          <p:cNvSpPr>
            <a:spLocks noChangeAspect="1" noChangeArrowheads="1"/>
          </p:cNvSpPr>
          <p:nvPr/>
        </p:nvSpPr>
        <p:spPr bwMode="auto">
          <a:xfrm>
            <a:off x="2925273" y="6063873"/>
            <a:ext cx="215921" cy="215921"/>
          </a:xfrm>
          <a:prstGeom prst="ellipse">
            <a:avLst/>
          </a:prstGeom>
          <a:solidFill>
            <a:schemeClr val="tx1"/>
          </a:solidFill>
          <a:ln w="28575" cap="flat">
            <a:solidFill>
              <a:schemeClr val="accent2"/>
            </a:solidFill>
            <a:prstDash val="solid"/>
            <a:miter lim="800000"/>
          </a:ln>
        </p:spPr>
        <p:txBody>
          <a:bodyPr vert="horz" wrap="square" lIns="91406" tIns="45703" rIns="91406" bIns="45703" numCol="1" anchor="t" anchorCtr="0" compatLnSpc="1"/>
          <a:lstStyle/>
          <a:p>
            <a:endParaRPr lang="zh-CN" altLang="en-US" sz="2000">
              <a:solidFill>
                <a:schemeClr val="accent1"/>
              </a:solidFill>
            </a:endParaRPr>
          </a:p>
        </p:txBody>
      </p:sp>
      <p:sp>
        <p:nvSpPr>
          <p:cNvPr id="20" name="TextBox 19"/>
          <p:cNvSpPr txBox="1"/>
          <p:nvPr/>
        </p:nvSpPr>
        <p:spPr>
          <a:xfrm>
            <a:off x="3360420" y="5114925"/>
            <a:ext cx="2787650" cy="398780"/>
          </a:xfrm>
          <a:prstGeom prst="rect">
            <a:avLst/>
          </a:prstGeom>
          <a:noFill/>
        </p:spPr>
        <p:txBody>
          <a:bodyPr wrap="square" rtlCol="0">
            <a:spAutoFit/>
          </a:bodyPr>
          <a:lstStyle/>
          <a:p>
            <a:r>
              <a:rPr lang="en-US" altLang="zh-CN" sz="2000" dirty="0">
                <a:solidFill>
                  <a:schemeClr val="accent2"/>
                </a:solidFill>
                <a:latin typeface="+mn-ea"/>
                <a:ea typeface="+mn-ea"/>
              </a:rPr>
              <a:t>1.</a:t>
            </a:r>
            <a:r>
              <a:rPr lang="zh-CN" altLang="en-US" sz="2000" dirty="0">
                <a:solidFill>
                  <a:schemeClr val="accent2"/>
                </a:solidFill>
                <a:latin typeface="+mn-ea"/>
                <a:ea typeface="+mn-ea"/>
              </a:rPr>
              <a:t>概念</a:t>
            </a:r>
          </a:p>
        </p:txBody>
      </p:sp>
      <p:sp>
        <p:nvSpPr>
          <p:cNvPr id="21" name="TextBox 20"/>
          <p:cNvSpPr txBox="1"/>
          <p:nvPr/>
        </p:nvSpPr>
        <p:spPr>
          <a:xfrm>
            <a:off x="3360420" y="5513705"/>
            <a:ext cx="3146425" cy="398780"/>
          </a:xfrm>
          <a:prstGeom prst="rect">
            <a:avLst/>
          </a:prstGeom>
          <a:noFill/>
        </p:spPr>
        <p:txBody>
          <a:bodyPr wrap="square" rtlCol="0">
            <a:spAutoFit/>
          </a:bodyPr>
          <a:lstStyle/>
          <a:p>
            <a:r>
              <a:rPr lang="en-US" altLang="zh-CN" sz="2000" dirty="0">
                <a:solidFill>
                  <a:schemeClr val="accent2"/>
                </a:solidFill>
                <a:latin typeface="+mn-ea"/>
                <a:ea typeface="+mn-ea"/>
              </a:rPr>
              <a:t>2.</a:t>
            </a:r>
            <a:r>
              <a:rPr lang="zh-CN" altLang="en-US" sz="2000" dirty="0">
                <a:solidFill>
                  <a:schemeClr val="accent2"/>
                </a:solidFill>
                <a:latin typeface="+mn-ea"/>
                <a:ea typeface="+mn-ea"/>
              </a:rPr>
              <a:t>估算步骤</a:t>
            </a:r>
          </a:p>
        </p:txBody>
      </p:sp>
      <p:sp>
        <p:nvSpPr>
          <p:cNvPr id="22" name="TextBox 21"/>
          <p:cNvSpPr txBox="1"/>
          <p:nvPr/>
        </p:nvSpPr>
        <p:spPr>
          <a:xfrm>
            <a:off x="3360113" y="5950262"/>
            <a:ext cx="2264064" cy="398780"/>
          </a:xfrm>
          <a:prstGeom prst="rect">
            <a:avLst/>
          </a:prstGeom>
          <a:noFill/>
        </p:spPr>
        <p:txBody>
          <a:bodyPr wrap="square" rtlCol="0">
            <a:spAutoFit/>
          </a:bodyPr>
          <a:lstStyle>
            <a:defPPr>
              <a:defRPr lang="zh-CN"/>
            </a:defPPr>
            <a:lvl1pPr>
              <a:lnSpc>
                <a:spcPct val="150000"/>
              </a:lnSpc>
              <a:defRPr>
                <a:solidFill>
                  <a:schemeClr val="accent1"/>
                </a:solidFill>
                <a:latin typeface="+mn-ea"/>
                <a:ea typeface="+mn-ea"/>
              </a:defRPr>
            </a:lvl1pPr>
          </a:lstStyle>
          <a:p>
            <a:pPr>
              <a:lnSpc>
                <a:spcPct val="100000"/>
              </a:lnSpc>
            </a:pPr>
            <a:r>
              <a:rPr lang="en-US" altLang="zh-CN" sz="2000" dirty="0">
                <a:solidFill>
                  <a:schemeClr val="accent2"/>
                </a:solidFill>
              </a:rPr>
              <a:t>3. </a:t>
            </a:r>
            <a:r>
              <a:rPr lang="zh-CN" altLang="en-US" sz="2000" dirty="0">
                <a:solidFill>
                  <a:schemeClr val="accent2"/>
                </a:solidFill>
              </a:rPr>
              <a:t>案例分析</a:t>
            </a:r>
          </a:p>
        </p:txBody>
      </p:sp>
      <p:pic>
        <p:nvPicPr>
          <p:cNvPr id="2" name="图片 1" descr="图片1"/>
          <p:cNvPicPr>
            <a:picLocks noChangeAspect="1"/>
          </p:cNvPicPr>
          <p:nvPr/>
        </p:nvPicPr>
        <p:blipFill>
          <a:blip r:embed="rId4"/>
          <a:stretch>
            <a:fillRect/>
          </a:stretch>
        </p:blipFill>
        <p:spPr>
          <a:xfrm>
            <a:off x="4605655" y="1009650"/>
            <a:ext cx="3157220" cy="3096895"/>
          </a:xfrm>
          <a:prstGeom prst="rect">
            <a:avLst/>
          </a:prstGeom>
        </p:spPr>
      </p:pic>
      <p:sp>
        <p:nvSpPr>
          <p:cNvPr id="4" name="矩形 3"/>
          <p:cNvSpPr/>
          <p:nvPr/>
        </p:nvSpPr>
        <p:spPr>
          <a:xfrm>
            <a:off x="0" y="0"/>
            <a:ext cx="12192000" cy="512445"/>
          </a:xfrm>
          <a:prstGeom prst="rect">
            <a:avLst/>
          </a:prstGeom>
          <a:solidFill>
            <a:srgbClr val="226375"/>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marL="0" marR="0" indent="0" algn="l" defTabSz="914400" rtl="0" eaLnBrk="1" fontAlgn="base" latinLnBrk="0" hangingPunct="1">
              <a:spcBef>
                <a:spcPct val="0"/>
              </a:spcBef>
              <a:spcAft>
                <a:spcPct val="0"/>
              </a:spcAft>
              <a:buClrTx/>
              <a:buSzTx/>
              <a:buFont typeface="Arial" panose="020B0604020202020204" pitchFamily="34" charset="0"/>
              <a:buNone/>
            </a:pPr>
            <a:endParaRPr kumimoji="0" lang="zh-CN" altLang="en-US" sz="1800" b="0" i="0" u="none" strike="noStrike" cap="none" normalizeH="0" baseline="0">
              <a:ln>
                <a:noFill/>
              </a:ln>
              <a:solidFill>
                <a:schemeClr val="tx1"/>
              </a:solidFill>
              <a:effectLst/>
              <a:latin typeface="Impact" panose="020B0806030902050204" pitchFamily="34" charset="0"/>
              <a:ea typeface="宋体" panose="02010600030101010101" pitchFamily="2" charset="-122"/>
            </a:endParaRPr>
          </a:p>
        </p:txBody>
      </p:sp>
      <p:sp>
        <p:nvSpPr>
          <p:cNvPr id="5" name="文本框 4"/>
          <p:cNvSpPr txBox="1"/>
          <p:nvPr/>
        </p:nvSpPr>
        <p:spPr>
          <a:xfrm>
            <a:off x="71755" y="52070"/>
            <a:ext cx="6203315" cy="460375"/>
          </a:xfrm>
          <a:prstGeom prst="rect">
            <a:avLst/>
          </a:prstGeom>
          <a:noFill/>
        </p:spPr>
        <p:txBody>
          <a:bodyPr wrap="square" rtlCol="0">
            <a:spAutoFit/>
          </a:bodyPr>
          <a:lstStyle/>
          <a:p>
            <a:pPr algn="l" eaLnBrk="1" hangingPunct="1">
              <a:buFont typeface="Arial" panose="020B0604020202020204" pitchFamily="34" charset="0"/>
              <a:buNone/>
            </a:pPr>
            <a:r>
              <a:rPr lang="zh-CN" altLang="en-US" sz="2400" b="1">
                <a:solidFill>
                  <a:schemeClr val="bg1"/>
                </a:solidFill>
                <a:latin typeface="华文行楷" panose="02010800040101010101" charset="-122"/>
                <a:ea typeface="华文行楷" panose="02010800040101010101" charset="-122"/>
                <a:cs typeface="方正粗宋简体"/>
                <a:sym typeface="+mn-ea"/>
              </a:rPr>
              <a:t>山东建筑大学计算机科学与技术学院</a:t>
            </a:r>
            <a:endParaRPr lang="zh-CN" altLang="en-US" sz="2400" b="1">
              <a:solidFill>
                <a:schemeClr val="bg1"/>
              </a:solidFill>
              <a:latin typeface="华文行楷" panose="02010800040101010101" charset="-122"/>
              <a:ea typeface="华文行楷" panose="02010800040101010101" charset="-122"/>
              <a:cs typeface="方正粗宋简体"/>
            </a:endParaRPr>
          </a:p>
        </p:txBody>
      </p:sp>
    </p:spTree>
    <p:extLst>
      <p:ext uri="{BB962C8B-B14F-4D97-AF65-F5344CB8AC3E}">
        <p14:creationId xmlns:p14="http://schemas.microsoft.com/office/powerpoint/2010/main" val="25331261"/>
      </p:ext>
    </p:extLst>
  </p:cSld>
  <p:clrMapOvr>
    <a:masterClrMapping/>
  </p:clrMapOvr>
  <p:transition spd="slow" advTm="5435">
    <p:push dir="d"/>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29"/>
                                        </p:tgtEl>
                                        <p:attrNameLst>
                                          <p:attrName>style.visibility</p:attrName>
                                        </p:attrNameLst>
                                      </p:cBhvr>
                                      <p:to>
                                        <p:strVal val="visible"/>
                                      </p:to>
                                    </p:set>
                                    <p:animEffect transition="in" filter="wipe(down)">
                                      <p:cBhvr>
                                        <p:cTn id="7" dur="500"/>
                                        <p:tgtEl>
                                          <p:spTgt spid="29"/>
                                        </p:tgtEl>
                                      </p:cBhvr>
                                    </p:animEffect>
                                  </p:childTnLst>
                                </p:cTn>
                              </p:par>
                            </p:childTnLst>
                          </p:cTn>
                        </p:par>
                        <p:par>
                          <p:cTn id="8" fill="hold">
                            <p:stCondLst>
                              <p:cond delay="500"/>
                            </p:stCondLst>
                            <p:childTnLst>
                              <p:par>
                                <p:cTn id="9" presetID="21" presetClass="entr" presetSubtype="1"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heel(1)">
                                      <p:cBhvr>
                                        <p:cTn id="11" dur="1000"/>
                                        <p:tgtEl>
                                          <p:spTgt spid="8"/>
                                        </p:tgtEl>
                                      </p:cBhvr>
                                    </p:animEffect>
                                  </p:childTnLst>
                                </p:cTn>
                              </p:par>
                            </p:childTnLst>
                          </p:cTn>
                        </p:par>
                        <p:par>
                          <p:cTn id="12" fill="hold">
                            <p:stCondLst>
                              <p:cond delay="1500"/>
                            </p:stCondLst>
                            <p:childTnLst>
                              <p:par>
                                <p:cTn id="13" presetID="41" presetClass="entr" presetSubtype="0" fill="hold" grpId="0" nodeType="afterEffect">
                                  <p:stCondLst>
                                    <p:cond delay="0"/>
                                  </p:stCondLst>
                                  <p:iterate type="lt">
                                    <p:tmPct val="10000"/>
                                  </p:iterate>
                                  <p:childTnLst>
                                    <p:set>
                                      <p:cBhvr>
                                        <p:cTn id="14" dur="1" fill="hold">
                                          <p:stCondLst>
                                            <p:cond delay="0"/>
                                          </p:stCondLst>
                                        </p:cTn>
                                        <p:tgtEl>
                                          <p:spTgt spid="13"/>
                                        </p:tgtEl>
                                        <p:attrNameLst>
                                          <p:attrName>style.visibility</p:attrName>
                                        </p:attrNameLst>
                                      </p:cBhvr>
                                      <p:to>
                                        <p:strVal val="visible"/>
                                      </p:to>
                                    </p:set>
                                    <p:anim calcmode="lin" valueType="num">
                                      <p:cBhvr>
                                        <p:cTn id="15" dur="500" fill="hold"/>
                                        <p:tgtEl>
                                          <p:spTgt spid="13"/>
                                        </p:tgtEl>
                                        <p:attrNameLst>
                                          <p:attrName>ppt_x</p:attrName>
                                        </p:attrNameLst>
                                      </p:cBhvr>
                                      <p:tavLst>
                                        <p:tav tm="0">
                                          <p:val>
                                            <p:strVal val="#ppt_x"/>
                                          </p:val>
                                        </p:tav>
                                        <p:tav tm="50000">
                                          <p:val>
                                            <p:strVal val="#ppt_x+.1"/>
                                          </p:val>
                                        </p:tav>
                                        <p:tav tm="100000">
                                          <p:val>
                                            <p:strVal val="#ppt_x"/>
                                          </p:val>
                                        </p:tav>
                                      </p:tavLst>
                                    </p:anim>
                                    <p:anim calcmode="lin" valueType="num">
                                      <p:cBhvr>
                                        <p:cTn id="16" dur="500" fill="hold"/>
                                        <p:tgtEl>
                                          <p:spTgt spid="13"/>
                                        </p:tgtEl>
                                        <p:attrNameLst>
                                          <p:attrName>ppt_y</p:attrName>
                                        </p:attrNameLst>
                                      </p:cBhvr>
                                      <p:tavLst>
                                        <p:tav tm="0">
                                          <p:val>
                                            <p:strVal val="#ppt_y"/>
                                          </p:val>
                                        </p:tav>
                                        <p:tav tm="100000">
                                          <p:val>
                                            <p:strVal val="#ppt_y"/>
                                          </p:val>
                                        </p:tav>
                                      </p:tavLst>
                                    </p:anim>
                                    <p:anim calcmode="lin" valueType="num">
                                      <p:cBhvr>
                                        <p:cTn id="17" dur="500" fill="hold"/>
                                        <p:tgtEl>
                                          <p:spTgt spid="13"/>
                                        </p:tgtEl>
                                        <p:attrNameLst>
                                          <p:attrName>ppt_h</p:attrName>
                                        </p:attrNameLst>
                                      </p:cBhvr>
                                      <p:tavLst>
                                        <p:tav tm="0">
                                          <p:val>
                                            <p:strVal val="#ppt_h/10"/>
                                          </p:val>
                                        </p:tav>
                                        <p:tav tm="50000">
                                          <p:val>
                                            <p:strVal val="#ppt_h+.01"/>
                                          </p:val>
                                        </p:tav>
                                        <p:tav tm="100000">
                                          <p:val>
                                            <p:strVal val="#ppt_h"/>
                                          </p:val>
                                        </p:tav>
                                      </p:tavLst>
                                    </p:anim>
                                    <p:anim calcmode="lin" valueType="num">
                                      <p:cBhvr>
                                        <p:cTn id="18" dur="500" fill="hold"/>
                                        <p:tgtEl>
                                          <p:spTgt spid="13"/>
                                        </p:tgtEl>
                                        <p:attrNameLst>
                                          <p:attrName>ppt_w</p:attrName>
                                        </p:attrNameLst>
                                      </p:cBhvr>
                                      <p:tavLst>
                                        <p:tav tm="0">
                                          <p:val>
                                            <p:strVal val="#ppt_w/10"/>
                                          </p:val>
                                        </p:tav>
                                        <p:tav tm="50000">
                                          <p:val>
                                            <p:strVal val="#ppt_w+.01"/>
                                          </p:val>
                                        </p:tav>
                                        <p:tav tm="100000">
                                          <p:val>
                                            <p:strVal val="#ppt_w"/>
                                          </p:val>
                                        </p:tav>
                                      </p:tavLst>
                                    </p:anim>
                                    <p:animEffect transition="in" filter="fade">
                                      <p:cBhvr>
                                        <p:cTn id="19" dur="500" tmFilter="0,0; .5, 1; 1, 1"/>
                                        <p:tgtEl>
                                          <p:spTgt spid="13"/>
                                        </p:tgtEl>
                                      </p:cBhvr>
                                    </p:animEffect>
                                  </p:childTnLst>
                                </p:cTn>
                              </p:par>
                            </p:childTnLst>
                          </p:cTn>
                        </p:par>
                        <p:par>
                          <p:cTn id="20" fill="hold">
                            <p:stCondLst>
                              <p:cond delay="2200"/>
                            </p:stCondLst>
                            <p:childTnLst>
                              <p:par>
                                <p:cTn id="21" presetID="16" presetClass="entr" presetSubtype="21" fill="hold" nodeType="after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barn(inVertical)">
                                      <p:cBhvr>
                                        <p:cTn id="23" dur="500"/>
                                        <p:tgtEl>
                                          <p:spTgt spid="14"/>
                                        </p:tgtEl>
                                      </p:cBhvr>
                                    </p:animEffect>
                                  </p:childTnLst>
                                </p:cTn>
                              </p:par>
                            </p:childTnLst>
                          </p:cTn>
                        </p:par>
                        <p:par>
                          <p:cTn id="24" fill="hold">
                            <p:stCondLst>
                              <p:cond delay="2700"/>
                            </p:stCondLst>
                            <p:childTnLst>
                              <p:par>
                                <p:cTn id="25" presetID="2" presetClass="entr" presetSubtype="12" fill="hold" grpId="0" nodeType="after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additive="base">
                                        <p:cTn id="27" dur="500" fill="hold"/>
                                        <p:tgtEl>
                                          <p:spTgt spid="12"/>
                                        </p:tgtEl>
                                        <p:attrNameLst>
                                          <p:attrName>ppt_x</p:attrName>
                                        </p:attrNameLst>
                                      </p:cBhvr>
                                      <p:tavLst>
                                        <p:tav tm="0">
                                          <p:val>
                                            <p:strVal val="0-#ppt_w/2"/>
                                          </p:val>
                                        </p:tav>
                                        <p:tav tm="100000">
                                          <p:val>
                                            <p:strVal val="#ppt_x"/>
                                          </p:val>
                                        </p:tav>
                                      </p:tavLst>
                                    </p:anim>
                                    <p:anim calcmode="lin" valueType="num">
                                      <p:cBhvr additive="base">
                                        <p:cTn id="28" dur="500" fill="hold"/>
                                        <p:tgtEl>
                                          <p:spTgt spid="12"/>
                                        </p:tgtEl>
                                        <p:attrNameLst>
                                          <p:attrName>ppt_y</p:attrName>
                                        </p:attrNameLst>
                                      </p:cBhvr>
                                      <p:tavLst>
                                        <p:tav tm="0">
                                          <p:val>
                                            <p:strVal val="1+#ppt_h/2"/>
                                          </p:val>
                                        </p:tav>
                                        <p:tav tm="100000">
                                          <p:val>
                                            <p:strVal val="#ppt_y"/>
                                          </p:val>
                                        </p:tav>
                                      </p:tavLst>
                                    </p:anim>
                                  </p:childTnLst>
                                </p:cTn>
                              </p:par>
                              <p:par>
                                <p:cTn id="29" presetID="2" presetClass="entr" presetSubtype="12" fill="hold" grpId="0" nodeType="withEffect">
                                  <p:stCondLst>
                                    <p:cond delay="100"/>
                                  </p:stCondLst>
                                  <p:childTnLst>
                                    <p:set>
                                      <p:cBhvr>
                                        <p:cTn id="30" dur="1" fill="hold">
                                          <p:stCondLst>
                                            <p:cond delay="0"/>
                                          </p:stCondLst>
                                        </p:cTn>
                                        <p:tgtEl>
                                          <p:spTgt spid="16"/>
                                        </p:tgtEl>
                                        <p:attrNameLst>
                                          <p:attrName>style.visibility</p:attrName>
                                        </p:attrNameLst>
                                      </p:cBhvr>
                                      <p:to>
                                        <p:strVal val="visible"/>
                                      </p:to>
                                    </p:set>
                                    <p:anim calcmode="lin" valueType="num">
                                      <p:cBhvr additive="base">
                                        <p:cTn id="31" dur="500" fill="hold"/>
                                        <p:tgtEl>
                                          <p:spTgt spid="16"/>
                                        </p:tgtEl>
                                        <p:attrNameLst>
                                          <p:attrName>ppt_x</p:attrName>
                                        </p:attrNameLst>
                                      </p:cBhvr>
                                      <p:tavLst>
                                        <p:tav tm="0">
                                          <p:val>
                                            <p:strVal val="0-#ppt_w/2"/>
                                          </p:val>
                                        </p:tav>
                                        <p:tav tm="100000">
                                          <p:val>
                                            <p:strVal val="#ppt_x"/>
                                          </p:val>
                                        </p:tav>
                                      </p:tavLst>
                                    </p:anim>
                                    <p:anim calcmode="lin" valueType="num">
                                      <p:cBhvr additive="base">
                                        <p:cTn id="32" dur="500" fill="hold"/>
                                        <p:tgtEl>
                                          <p:spTgt spid="16"/>
                                        </p:tgtEl>
                                        <p:attrNameLst>
                                          <p:attrName>ppt_y</p:attrName>
                                        </p:attrNameLst>
                                      </p:cBhvr>
                                      <p:tavLst>
                                        <p:tav tm="0">
                                          <p:val>
                                            <p:strVal val="1+#ppt_h/2"/>
                                          </p:val>
                                        </p:tav>
                                        <p:tav tm="100000">
                                          <p:val>
                                            <p:strVal val="#ppt_y"/>
                                          </p:val>
                                        </p:tav>
                                      </p:tavLst>
                                    </p:anim>
                                  </p:childTnLst>
                                </p:cTn>
                              </p:par>
                              <p:par>
                                <p:cTn id="33" presetID="2" presetClass="entr" presetSubtype="12" fill="hold" grpId="0" nodeType="withEffect">
                                  <p:stCondLst>
                                    <p:cond delay="200"/>
                                  </p:stCondLst>
                                  <p:childTnLst>
                                    <p:set>
                                      <p:cBhvr>
                                        <p:cTn id="34" dur="1" fill="hold">
                                          <p:stCondLst>
                                            <p:cond delay="0"/>
                                          </p:stCondLst>
                                        </p:cTn>
                                        <p:tgtEl>
                                          <p:spTgt spid="17"/>
                                        </p:tgtEl>
                                        <p:attrNameLst>
                                          <p:attrName>style.visibility</p:attrName>
                                        </p:attrNameLst>
                                      </p:cBhvr>
                                      <p:to>
                                        <p:strVal val="visible"/>
                                      </p:to>
                                    </p:set>
                                    <p:anim calcmode="lin" valueType="num">
                                      <p:cBhvr additive="base">
                                        <p:cTn id="35" dur="500" fill="hold"/>
                                        <p:tgtEl>
                                          <p:spTgt spid="17"/>
                                        </p:tgtEl>
                                        <p:attrNameLst>
                                          <p:attrName>ppt_x</p:attrName>
                                        </p:attrNameLst>
                                      </p:cBhvr>
                                      <p:tavLst>
                                        <p:tav tm="0">
                                          <p:val>
                                            <p:strVal val="0-#ppt_w/2"/>
                                          </p:val>
                                        </p:tav>
                                        <p:tav tm="100000">
                                          <p:val>
                                            <p:strVal val="#ppt_x"/>
                                          </p:val>
                                        </p:tav>
                                      </p:tavLst>
                                    </p:anim>
                                    <p:anim calcmode="lin" valueType="num">
                                      <p:cBhvr additive="base">
                                        <p:cTn id="36" dur="500" fill="hold"/>
                                        <p:tgtEl>
                                          <p:spTgt spid="17"/>
                                        </p:tgtEl>
                                        <p:attrNameLst>
                                          <p:attrName>ppt_y</p:attrName>
                                        </p:attrNameLst>
                                      </p:cBhvr>
                                      <p:tavLst>
                                        <p:tav tm="0">
                                          <p:val>
                                            <p:strVal val="1+#ppt_h/2"/>
                                          </p:val>
                                        </p:tav>
                                        <p:tav tm="100000">
                                          <p:val>
                                            <p:strVal val="#ppt_y"/>
                                          </p:val>
                                        </p:tav>
                                      </p:tavLst>
                                    </p:anim>
                                  </p:childTnLst>
                                </p:cTn>
                              </p:par>
                            </p:childTnLst>
                          </p:cTn>
                        </p:par>
                        <p:par>
                          <p:cTn id="37" fill="hold">
                            <p:stCondLst>
                              <p:cond delay="3400"/>
                            </p:stCondLst>
                            <p:childTnLst>
                              <p:par>
                                <p:cTn id="38" presetID="22" presetClass="entr" presetSubtype="8" fill="hold" grpId="0" nodeType="afterEffect">
                                  <p:stCondLst>
                                    <p:cond delay="0"/>
                                  </p:stCondLst>
                                  <p:childTnLst>
                                    <p:set>
                                      <p:cBhvr>
                                        <p:cTn id="39" dur="1" fill="hold">
                                          <p:stCondLst>
                                            <p:cond delay="0"/>
                                          </p:stCondLst>
                                        </p:cTn>
                                        <p:tgtEl>
                                          <p:spTgt spid="20"/>
                                        </p:tgtEl>
                                        <p:attrNameLst>
                                          <p:attrName>style.visibility</p:attrName>
                                        </p:attrNameLst>
                                      </p:cBhvr>
                                      <p:to>
                                        <p:strVal val="visible"/>
                                      </p:to>
                                    </p:set>
                                    <p:animEffect transition="in" filter="wipe(left)">
                                      <p:cBhvr>
                                        <p:cTn id="40" dur="500"/>
                                        <p:tgtEl>
                                          <p:spTgt spid="20"/>
                                        </p:tgtEl>
                                      </p:cBhvr>
                                    </p:animEffect>
                                  </p:childTnLst>
                                </p:cTn>
                              </p:par>
                              <p:par>
                                <p:cTn id="41" presetID="22" presetClass="entr" presetSubtype="8" fill="hold" grpId="0" nodeType="withEffect">
                                  <p:stCondLst>
                                    <p:cond delay="100"/>
                                  </p:stCondLst>
                                  <p:childTnLst>
                                    <p:set>
                                      <p:cBhvr>
                                        <p:cTn id="42" dur="1" fill="hold">
                                          <p:stCondLst>
                                            <p:cond delay="0"/>
                                          </p:stCondLst>
                                        </p:cTn>
                                        <p:tgtEl>
                                          <p:spTgt spid="21"/>
                                        </p:tgtEl>
                                        <p:attrNameLst>
                                          <p:attrName>style.visibility</p:attrName>
                                        </p:attrNameLst>
                                      </p:cBhvr>
                                      <p:to>
                                        <p:strVal val="visible"/>
                                      </p:to>
                                    </p:set>
                                    <p:animEffect transition="in" filter="wipe(left)">
                                      <p:cBhvr>
                                        <p:cTn id="43" dur="500"/>
                                        <p:tgtEl>
                                          <p:spTgt spid="21"/>
                                        </p:tgtEl>
                                      </p:cBhvr>
                                    </p:animEffect>
                                  </p:childTnLst>
                                </p:cTn>
                              </p:par>
                              <p:par>
                                <p:cTn id="44" presetID="22" presetClass="entr" presetSubtype="8" fill="hold" grpId="0" nodeType="withEffect">
                                  <p:stCondLst>
                                    <p:cond delay="200"/>
                                  </p:stCondLst>
                                  <p:childTnLst>
                                    <p:set>
                                      <p:cBhvr>
                                        <p:cTn id="45" dur="1" fill="hold">
                                          <p:stCondLst>
                                            <p:cond delay="0"/>
                                          </p:stCondLst>
                                        </p:cTn>
                                        <p:tgtEl>
                                          <p:spTgt spid="22"/>
                                        </p:tgtEl>
                                        <p:attrNameLst>
                                          <p:attrName>style.visibility</p:attrName>
                                        </p:attrNameLst>
                                      </p:cBhvr>
                                      <p:to>
                                        <p:strVal val="visible"/>
                                      </p:to>
                                    </p:set>
                                    <p:animEffect transition="in" filter="wipe(left)">
                                      <p:cBhvr>
                                        <p:cTn id="46"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2" grpId="0" bldLvl="0" animBg="1"/>
      <p:bldP spid="16" grpId="0" bldLvl="0" animBg="1"/>
      <p:bldP spid="17" grpId="0" bldLvl="0" animBg="1"/>
      <p:bldP spid="20" grpId="0"/>
      <p:bldP spid="21" grpId="0"/>
      <p:bldP spid="22"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1.</a:t>
            </a:r>
          </a:p>
        </p:txBody>
      </p:sp>
      <p:sp>
        <p:nvSpPr>
          <p:cNvPr id="5" name="文本框 4"/>
          <p:cNvSpPr txBox="1"/>
          <p:nvPr/>
        </p:nvSpPr>
        <p:spPr>
          <a:xfrm>
            <a:off x="1548765" y="83820"/>
            <a:ext cx="2020105"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a:t>
            </a:r>
          </a:p>
        </p:txBody>
      </p:sp>
      <p:sp>
        <p:nvSpPr>
          <p:cNvPr id="30" name="圆角矩形 29"/>
          <p:cNvSpPr/>
          <p:nvPr/>
        </p:nvSpPr>
        <p:spPr>
          <a:xfrm>
            <a:off x="568960" y="112204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198120" y="504190"/>
            <a:ext cx="1810385" cy="1649730"/>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2433320" y="1457960"/>
            <a:ext cx="8537575" cy="3450924"/>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38" name="文本框 37"/>
          <p:cNvSpPr txBox="1"/>
          <p:nvPr/>
        </p:nvSpPr>
        <p:spPr>
          <a:xfrm>
            <a:off x="2764155" y="1811655"/>
            <a:ext cx="8010525" cy="2882264"/>
          </a:xfrm>
          <a:prstGeom prst="rect">
            <a:avLst/>
          </a:prstGeom>
          <a:noFill/>
        </p:spPr>
        <p:txBody>
          <a:bodyPr wrap="square" rtlCol="0">
            <a:spAutoFit/>
          </a:bodyPr>
          <a:lstStyle/>
          <a:p>
            <a:pPr latinLnBrk="0">
              <a:lnSpc>
                <a:spcPts val="2750"/>
              </a:lnSpc>
              <a:spcAft>
                <a:spcPts val="1200"/>
              </a:spcAft>
              <a:defRPr/>
            </a:pPr>
            <a:endParaRPr lang="en-US" altLang="zh-CN" sz="2000" kern="0" dirty="0">
              <a:solidFill>
                <a:srgbClr val="4D4D4D"/>
              </a:solidFill>
              <a:latin typeface="等线" panose="02010600030101010101" charset="-122"/>
              <a:cs typeface="Arial" panose="020B0604020202020204" pitchFamily="34" charset="0"/>
              <a:sym typeface="+mn-ea"/>
            </a:endParaRPr>
          </a:p>
          <a:p>
            <a:pPr>
              <a:lnSpc>
                <a:spcPts val="2750"/>
              </a:lnSpc>
              <a:spcAft>
                <a:spcPts val="1200"/>
              </a:spcAft>
              <a:defRPr/>
            </a:pPr>
            <a:r>
              <a:rPr lang="zh-CN" altLang="zh-CN" sz="2000" kern="0" dirty="0">
                <a:solidFill>
                  <a:srgbClr val="4D4D4D"/>
                </a:solidFill>
                <a:latin typeface="等线" panose="02010600030101010101" charset="-122"/>
                <a:cs typeface="Arial" panose="020B0604020202020204" pitchFamily="34" charset="0"/>
              </a:rPr>
              <a:t>功能点估算法是软件项目管理众多知识中比较有技术含量的一个。在软件项目管理中项目计划制定的优劣直接关系到项目的成败，项目计划中对项目范围的估算又尤为重要，如果项目负责人对项目的规模没有一个比较客观的认识，没有对工作量、所需资源、完工时间等因素进行估算，那么项目计划也就没有存在的意义。 </a:t>
            </a:r>
          </a:p>
          <a:p>
            <a:pPr latinLnBrk="0">
              <a:lnSpc>
                <a:spcPts val="2750"/>
              </a:lnSpc>
              <a:spcAft>
                <a:spcPts val="1200"/>
              </a:spcAft>
              <a:defRPr/>
            </a:pPr>
            <a:endParaRPr lang="en-US" altLang="zh-CN" sz="2000" dirty="0">
              <a:latin typeface="Arial" panose="020B0604020202020204" pitchFamily="34" charset="0"/>
            </a:endParaRPr>
          </a:p>
        </p:txBody>
      </p:sp>
      <p:sp>
        <p:nvSpPr>
          <p:cNvPr id="23" name="Freeform 12"/>
          <p:cNvSpPr/>
          <p:nvPr/>
        </p:nvSpPr>
        <p:spPr bwMode="auto">
          <a:xfrm>
            <a:off x="2065655" y="1267460"/>
            <a:ext cx="3843655" cy="544195"/>
          </a:xfrm>
          <a:custGeom>
            <a:avLst/>
            <a:gdLst>
              <a:gd name="T0" fmla="*/ 3591 w 3591"/>
              <a:gd name="T1" fmla="*/ 0 h 696"/>
              <a:gd name="T2" fmla="*/ 0 w 3591"/>
              <a:gd name="T3" fmla="*/ 0 h 696"/>
              <a:gd name="T4" fmla="*/ 0 w 3591"/>
              <a:gd name="T5" fmla="*/ 696 h 696"/>
              <a:gd name="T6" fmla="*/ 3591 w 3591"/>
              <a:gd name="T7" fmla="*/ 696 h 696"/>
              <a:gd name="T8" fmla="*/ 3383 w 3591"/>
              <a:gd name="T9" fmla="*/ 353 h 696"/>
              <a:gd name="T10" fmla="*/ 3591 w 3591"/>
              <a:gd name="T11" fmla="*/ 0 h 696"/>
            </a:gdLst>
            <a:ahLst/>
            <a:cxnLst>
              <a:cxn ang="0">
                <a:pos x="T0" y="T1"/>
              </a:cxn>
              <a:cxn ang="0">
                <a:pos x="T2" y="T3"/>
              </a:cxn>
              <a:cxn ang="0">
                <a:pos x="T4" y="T5"/>
              </a:cxn>
              <a:cxn ang="0">
                <a:pos x="T6" y="T7"/>
              </a:cxn>
              <a:cxn ang="0">
                <a:pos x="T8" y="T9"/>
              </a:cxn>
              <a:cxn ang="0">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bg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8" name="TextBox 23"/>
          <p:cNvSpPr txBox="1"/>
          <p:nvPr/>
        </p:nvSpPr>
        <p:spPr>
          <a:xfrm>
            <a:off x="2205355" y="1294130"/>
            <a:ext cx="4047490" cy="491490"/>
          </a:xfrm>
          <a:prstGeom prst="rect">
            <a:avLst/>
          </a:prstGeom>
          <a:noFill/>
        </p:spPr>
        <p:txBody>
          <a:bodyPr wrap="square" rtlCol="0">
            <a:spAutoFit/>
          </a:bodyPr>
          <a:lstStyle/>
          <a:p>
            <a:r>
              <a:rPr lang="zh-CN" altLang="zh-CN" sz="2600" kern="0" dirty="0">
                <a:solidFill>
                  <a:schemeClr val="accent2"/>
                </a:solidFill>
                <a:latin typeface="等线" panose="02010600030101010101" charset="-122"/>
                <a:cs typeface="Arial" panose="020B0604020202020204" pitchFamily="34" charset="0"/>
                <a:sym typeface="+mn-ea"/>
              </a:rPr>
              <a:t>识别功能点的重要</a:t>
            </a:r>
            <a:endParaRPr lang="zh-CN" altLang="zh-CN" sz="2600" kern="0" dirty="0">
              <a:solidFill>
                <a:schemeClr val="accent2"/>
              </a:solidFill>
              <a:latin typeface="等线" panose="02010600030101010101" charset="-122"/>
              <a:ea typeface="+mn-ea"/>
              <a:cs typeface="Arial" panose="020B0604020202020204" pitchFamily="34" charset="0"/>
              <a:sym typeface="+mn-ea"/>
            </a:endParaRPr>
          </a:p>
        </p:txBody>
      </p:sp>
    </p:spTree>
    <p:extLst>
      <p:ext uri="{BB962C8B-B14F-4D97-AF65-F5344CB8AC3E}">
        <p14:creationId xmlns:p14="http://schemas.microsoft.com/office/powerpoint/2010/main" val="2273367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8"/>
                                        </p:tgtEl>
                                        <p:attrNameLst>
                                          <p:attrName>style.visibility</p:attrName>
                                        </p:attrNameLst>
                                      </p:cBhvr>
                                      <p:to>
                                        <p:strVal val="visible"/>
                                      </p:to>
                                    </p:set>
                                    <p:anim by="(-#ppt_w*2)" calcmode="lin" valueType="num">
                                      <p:cBhvr rctx="PPT">
                                        <p:cTn id="11" dur="250" autoRev="1" fill="hold">
                                          <p:stCondLst>
                                            <p:cond delay="0"/>
                                          </p:stCondLst>
                                        </p:cTn>
                                        <p:tgtEl>
                                          <p:spTgt spid="8"/>
                                        </p:tgtEl>
                                        <p:attrNameLst>
                                          <p:attrName>ppt_w</p:attrName>
                                        </p:attrNameLst>
                                      </p:cBhvr>
                                    </p:anim>
                                    <p:anim by="(#ppt_w*0.50)" calcmode="lin" valueType="num">
                                      <p:cBhvr>
                                        <p:cTn id="12" dur="250" decel="50000" autoRev="1" fill="hold">
                                          <p:stCondLst>
                                            <p:cond delay="0"/>
                                          </p:stCondLst>
                                        </p:cTn>
                                        <p:tgtEl>
                                          <p:spTgt spid="8"/>
                                        </p:tgtEl>
                                        <p:attrNameLst>
                                          <p:attrName>ppt_x</p:attrName>
                                        </p:attrNameLst>
                                      </p:cBhvr>
                                    </p:anim>
                                    <p:anim from="(-#ppt_h/2)" to="(#ppt_y)" calcmode="lin" valueType="num">
                                      <p:cBhvr>
                                        <p:cTn id="13" dur="500" fill="hold">
                                          <p:stCondLst>
                                            <p:cond delay="0"/>
                                          </p:stCondLst>
                                        </p:cTn>
                                        <p:tgtEl>
                                          <p:spTgt spid="8"/>
                                        </p:tgtEl>
                                        <p:attrNameLst>
                                          <p:attrName>ppt_y</p:attrName>
                                        </p:attrNameLst>
                                      </p:cBhvr>
                                    </p:anim>
                                    <p:animRot by="21600000">
                                      <p:cBhvr>
                                        <p:cTn id="14" dur="500" fill="hold">
                                          <p:stCondLst>
                                            <p:cond delay="0"/>
                                          </p:stCondLst>
                                        </p:cTn>
                                        <p:tgtEl>
                                          <p:spTgt spid="8"/>
                                        </p:tgtEl>
                                        <p:attrNameLst>
                                          <p:attrName>r</p:attrName>
                                        </p:attrNameLst>
                                      </p:cBhvr>
                                    </p:animRot>
                                  </p:childTnLst>
                                </p:cTn>
                              </p:par>
                            </p:childTnLst>
                          </p:cTn>
                        </p:par>
                        <p:par>
                          <p:cTn id="15" fill="hold">
                            <p:stCondLst>
                              <p:cond delay="1350"/>
                            </p:stCondLst>
                            <p:childTnLst>
                              <p:par>
                                <p:cTn id="16" presetID="22" presetClass="entr" presetSubtype="8"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left)">
                                      <p:cBhvr>
                                        <p:cTn id="1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23" grpId="0" bldLvl="0" animBg="1"/>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1.</a:t>
            </a:r>
          </a:p>
        </p:txBody>
      </p:sp>
      <p:sp>
        <p:nvSpPr>
          <p:cNvPr id="5" name="文本框 4"/>
          <p:cNvSpPr txBox="1"/>
          <p:nvPr/>
        </p:nvSpPr>
        <p:spPr>
          <a:xfrm>
            <a:off x="1548765" y="83820"/>
            <a:ext cx="2356485" cy="52197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功能点估算法</a:t>
            </a:r>
            <a:endParaRPr lang="en-US" sz="2800" dirty="0">
              <a:solidFill>
                <a:schemeClr val="accent2"/>
              </a:solidFill>
              <a:sym typeface="+mn-ea"/>
            </a:endParaRPr>
          </a:p>
        </p:txBody>
      </p:sp>
      <p:sp>
        <p:nvSpPr>
          <p:cNvPr id="30" name="圆角矩形 29"/>
          <p:cNvSpPr/>
          <p:nvPr/>
        </p:nvSpPr>
        <p:spPr>
          <a:xfrm>
            <a:off x="579120" y="927100"/>
            <a:ext cx="10890250" cy="206057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71628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03695" y="7112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7455" y="7112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71628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71628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2" name="Freeform 12"/>
          <p:cNvSpPr>
            <a:spLocks noEditPoints="1"/>
          </p:cNvSpPr>
          <p:nvPr/>
        </p:nvSpPr>
        <p:spPr bwMode="auto">
          <a:xfrm rot="2400000">
            <a:off x="273685" y="695960"/>
            <a:ext cx="670560" cy="670560"/>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rot="2400000">
            <a:off x="339725" y="759460"/>
            <a:ext cx="539750" cy="542925"/>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rot="2400000">
            <a:off x="863600" y="566420"/>
            <a:ext cx="780415" cy="777240"/>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2" name="文本框 1"/>
          <p:cNvSpPr txBox="1"/>
          <p:nvPr/>
        </p:nvSpPr>
        <p:spPr>
          <a:xfrm>
            <a:off x="732155" y="1276350"/>
            <a:ext cx="10584180" cy="1946174"/>
          </a:xfrm>
          <a:prstGeom prst="rect">
            <a:avLst/>
          </a:prstGeom>
          <a:noFill/>
        </p:spPr>
        <p:txBody>
          <a:bodyPr wrap="square" rtlCol="0">
            <a:spAutoFit/>
          </a:bodyPr>
          <a:lstStyle/>
          <a:p>
            <a:pPr marL="342900" indent="-342900" eaLnBrk="1" hangingPunct="1">
              <a:buFont typeface="Wingdings" panose="05000000000000000000" charset="0"/>
              <a:buChar char="l"/>
              <a:defRPr/>
            </a:pPr>
            <a:r>
              <a:rPr lang="zh-CN" altLang="en-US" sz="2000" dirty="0">
                <a:sym typeface="+mn-ea"/>
              </a:rPr>
              <a:t>该方法主要是依据软件项目的功能需求来评估开发工作量。</a:t>
            </a:r>
            <a:endParaRPr lang="en-US" altLang="zh-CN" sz="2000" dirty="0">
              <a:sym typeface="+mn-ea"/>
            </a:endParaRPr>
          </a:p>
          <a:p>
            <a:pPr marL="342900" indent="-342900" eaLnBrk="1" hangingPunct="1">
              <a:buFont typeface="Wingdings" panose="05000000000000000000" charset="0"/>
              <a:buChar char="l"/>
              <a:defRPr/>
            </a:pPr>
            <a:endParaRPr lang="zh-CN" altLang="en-US" sz="2000" noProof="1"/>
          </a:p>
          <a:p>
            <a:pPr eaLnBrk="1" hangingPunct="1">
              <a:defRPr/>
            </a:pPr>
            <a:r>
              <a:rPr lang="zh-CN" altLang="en-US" sz="2000" dirty="0">
                <a:sym typeface="+mn-ea"/>
              </a:rPr>
              <a:t>通过分析系统需求计算项目规模（功能点数），再乘以各阶段完成每个功能点所需要投入的人工时（开发成本系数），就可计算出完成项目所需要的人月数。适用于立项阶段需求分析比较详细的项目或者用于项目完成阶段的最终工作量估算。</a:t>
            </a:r>
            <a:endParaRPr lang="zh-CN" altLang="en-US" sz="2000" noProof="1"/>
          </a:p>
          <a:p>
            <a:pPr eaLnBrk="1" hangingPunct="1">
              <a:lnSpc>
                <a:spcPct val="110000"/>
              </a:lnSpc>
              <a:defRPr/>
            </a:pPr>
            <a:endParaRPr lang="zh-CN" altLang="en-US" sz="2000" dirty="0">
              <a:latin typeface="微软雅黑" panose="020B0503020204020204" pitchFamily="34" charset="-122"/>
              <a:sym typeface="+mn-ea"/>
            </a:endParaRPr>
          </a:p>
        </p:txBody>
      </p:sp>
      <p:sp>
        <p:nvSpPr>
          <p:cNvPr id="3" name="圆角矩形 2"/>
          <p:cNvSpPr/>
          <p:nvPr/>
        </p:nvSpPr>
        <p:spPr>
          <a:xfrm>
            <a:off x="627380" y="4336944"/>
            <a:ext cx="10688955" cy="1946174"/>
          </a:xfrm>
          <a:prstGeom prst="roundRect">
            <a:avLst/>
          </a:prstGeom>
          <a:solidFill>
            <a:schemeClr val="accent6">
              <a:lumMod val="20000"/>
              <a:lumOff val="80000"/>
              <a:alpha val="51000"/>
            </a:schemeClr>
          </a:solidFill>
          <a:ln w="9525" cap="flat" cmpd="sng" algn="ctr">
            <a:solidFill>
              <a:schemeClr val="tx1"/>
            </a:solidFill>
            <a:prstDash val="solid"/>
            <a:round/>
            <a:headEnd type="none" w="med" len="med"/>
            <a:tailEnd type="none" w="med" len="med"/>
          </a:ln>
        </p:spPr>
        <p:txBody>
          <a:bodyPr vert="horz" wrap="square" lIns="91440" tIns="45720" rIns="91440" bIns="45720" numCol="1" anchor="t" anchorCtr="0" compatLnSpc="1"/>
          <a:lstStyle/>
          <a:p>
            <a:pPr eaLnBrk="1" hangingPunct="1">
              <a:lnSpc>
                <a:spcPct val="110000"/>
              </a:lnSpc>
              <a:defRPr/>
            </a:pPr>
            <a:endParaRPr lang="en-US" altLang="zh-CN" sz="1800" kern="0" dirty="0">
              <a:solidFill>
                <a:srgbClr val="333333"/>
              </a:solidFill>
              <a:effectLst/>
              <a:latin typeface="Times New Roman" panose="02020603050405020304" pitchFamily="18" charset="0"/>
              <a:ea typeface="宋体" panose="02010600030101010101" pitchFamily="2" charset="-122"/>
              <a:cs typeface="Arial" panose="020B0604020202020204" pitchFamily="34" charset="0"/>
            </a:endParaRPr>
          </a:p>
          <a:p>
            <a:pPr eaLnBrk="1" hangingPunct="1">
              <a:lnSpc>
                <a:spcPct val="110000"/>
              </a:lnSpc>
              <a:defRPr/>
            </a:pPr>
            <a:r>
              <a:rPr lang="zh-CN" altLang="zh-CN" sz="1800" kern="0" dirty="0">
                <a:solidFill>
                  <a:srgbClr val="333333"/>
                </a:solidFill>
                <a:effectLst/>
                <a:latin typeface="Times New Roman" panose="02020603050405020304" pitchFamily="18" charset="0"/>
                <a:ea typeface="宋体" panose="02010600030101010101" pitchFamily="2" charset="-122"/>
                <a:cs typeface="Arial" panose="020B0604020202020204" pitchFamily="34" charset="0"/>
              </a:rPr>
              <a:t>功能点估算法是软件项目管理众多知识中比较有技术含量的一个。在软件项目管理中项目计划制定的优劣直接关系到项目的成败，项目计划中对项目范围的估算又尤为重要，如果项目负责人对项目的规模没有一个比较客观的认识，没有对工作量、所需资源、完工时间等因素进行估算，那么项目计划也就没有存在的意义。 </a:t>
            </a:r>
            <a:endParaRPr lang="zh-CN" altLang="zh-CN" sz="1800" kern="100" dirty="0">
              <a:effectLst/>
              <a:latin typeface="Times New Roman" panose="02020603050405020304" pitchFamily="18" charset="0"/>
              <a:ea typeface="宋体" panose="02010600030101010101" pitchFamily="2" charset="-122"/>
            </a:endParaRPr>
          </a:p>
          <a:p>
            <a:pPr eaLnBrk="1" hangingPunct="1">
              <a:lnSpc>
                <a:spcPct val="110000"/>
              </a:lnSpc>
              <a:defRPr/>
            </a:pPr>
            <a:endParaRPr lang="en-US" altLang="zh-CN" sz="1800" dirty="0">
              <a:sym typeface="+mn-ea"/>
            </a:endParaRPr>
          </a:p>
          <a:p>
            <a:pPr eaLnBrk="1" hangingPunct="1">
              <a:lnSpc>
                <a:spcPct val="110000"/>
              </a:lnSpc>
              <a:defRPr/>
            </a:pPr>
            <a:endParaRPr lang="en-US" altLang="zh-CN" sz="1800" dirty="0">
              <a:latin typeface="Arial" panose="020B0604020202020204" pitchFamily="34" charset="0"/>
              <a:ea typeface="宋体" panose="02010600030101010101" pitchFamily="2" charset="-122"/>
              <a:sym typeface="+mn-ea"/>
            </a:endParaRPr>
          </a:p>
          <a:p>
            <a:pPr eaLnBrk="1" hangingPunct="1">
              <a:lnSpc>
                <a:spcPct val="110000"/>
              </a:lnSpc>
              <a:defRPr/>
            </a:pPr>
            <a:endParaRPr kumimoji="0" lang="en-US" altLang="zh-CN"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mn-ea"/>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1.</a:t>
            </a:r>
          </a:p>
        </p:txBody>
      </p:sp>
      <p:sp>
        <p:nvSpPr>
          <p:cNvPr id="5" name="文本框 4"/>
          <p:cNvSpPr txBox="1"/>
          <p:nvPr/>
        </p:nvSpPr>
        <p:spPr>
          <a:xfrm>
            <a:off x="1548765" y="83820"/>
            <a:ext cx="2020105"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a:t>
            </a:r>
          </a:p>
        </p:txBody>
      </p:sp>
      <p:sp>
        <p:nvSpPr>
          <p:cNvPr id="30" name="圆角矩形 29"/>
          <p:cNvSpPr/>
          <p:nvPr/>
        </p:nvSpPr>
        <p:spPr>
          <a:xfrm>
            <a:off x="568960" y="112204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198120" y="504190"/>
            <a:ext cx="1810385" cy="1649730"/>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1548766" y="1457960"/>
            <a:ext cx="9422130" cy="5467726"/>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38" name="文本框 37"/>
          <p:cNvSpPr txBox="1"/>
          <p:nvPr/>
        </p:nvSpPr>
        <p:spPr>
          <a:xfrm>
            <a:off x="1913117" y="1811655"/>
            <a:ext cx="8861564" cy="4857164"/>
          </a:xfrm>
          <a:prstGeom prst="rect">
            <a:avLst/>
          </a:prstGeom>
          <a:noFill/>
        </p:spPr>
        <p:txBody>
          <a:bodyPr wrap="square" rtlCol="0">
            <a:spAutoFit/>
          </a:bodyPr>
          <a:lstStyle/>
          <a:p>
            <a:pPr latinLnBrk="0">
              <a:lnSpc>
                <a:spcPts val="2750"/>
              </a:lnSpc>
              <a:spcAft>
                <a:spcPts val="1200"/>
              </a:spcAft>
              <a:defRPr/>
            </a:pPr>
            <a:endParaRPr lang="en-US" altLang="zh-CN" sz="2000" kern="0" dirty="0">
              <a:solidFill>
                <a:srgbClr val="4D4D4D"/>
              </a:solidFill>
              <a:latin typeface="等线" panose="02010600030101010101" charset="-122"/>
              <a:cs typeface="Arial" panose="020B0604020202020204" pitchFamily="34" charset="0"/>
              <a:sym typeface="+mn-ea"/>
            </a:endParaRPr>
          </a:p>
          <a:p>
            <a:pPr indent="171450" algn="l">
              <a:lnSpc>
                <a:spcPts val="1765"/>
              </a:lnSpc>
            </a:pP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项目范围的估算在</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CMMI</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的“</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MA</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”度量分析管理和“</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PP</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”项目计划中均有涉及，对软件项目范围的估算有很多种方法，常见的就是</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LOC</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代码行和</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FP</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功能点法，它们之间的区别和关系如下：</a:t>
            </a:r>
            <a:endPar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endParaRPr>
          </a:p>
          <a:p>
            <a:pPr indent="171450" algn="l">
              <a:lnSpc>
                <a:spcPts val="1765"/>
              </a:lnSpc>
            </a:pPr>
            <a:endParaRPr lang="zh-CN" altLang="zh-CN" sz="1800" kern="100" dirty="0">
              <a:effectLst/>
              <a:latin typeface="Times New Roman" panose="02020603050405020304" pitchFamily="18" charset="0"/>
              <a:ea typeface="宋体" panose="02010600030101010101" pitchFamily="2" charset="-122"/>
            </a:endParaRPr>
          </a:p>
          <a:p>
            <a:pPr algn="l">
              <a:lnSpc>
                <a:spcPts val="1765"/>
              </a:lnSpc>
            </a:pPr>
            <a:r>
              <a:rPr lang="en-US" altLang="zh-CN" sz="1800" kern="0" dirty="0">
                <a:solidFill>
                  <a:srgbClr val="000000"/>
                </a:solidFill>
                <a:effectLst/>
                <a:latin typeface="宋体" panose="02010600030101010101" pitchFamily="2" charset="-122"/>
                <a:ea typeface="宋体" panose="02010600030101010101" pitchFamily="2" charset="-122"/>
                <a:cs typeface="Arial" panose="020B0604020202020204" pitchFamily="34" charset="0"/>
              </a:rPr>
              <a:t>1</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a:t>
            </a:r>
            <a:r>
              <a:rPr lang="en-US" altLang="zh-CN" sz="1800" kern="0" dirty="0">
                <a:solidFill>
                  <a:srgbClr val="000000"/>
                </a:solidFill>
                <a:effectLst/>
                <a:latin typeface="Times New Roman" panose="02020603050405020304" pitchFamily="18" charset="0"/>
                <a:ea typeface="宋体" panose="02010600030101010101" pitchFamily="2" charset="-122"/>
              </a:rPr>
              <a:t>  </a:t>
            </a:r>
            <a:r>
              <a:rPr lang="en-US" altLang="zh-CN" sz="1800" kern="0" dirty="0">
                <a:solidFill>
                  <a:srgbClr val="000000"/>
                </a:solidFill>
                <a:effectLst/>
                <a:latin typeface="宋体" panose="02010600030101010101" pitchFamily="2" charset="-122"/>
                <a:ea typeface="宋体" panose="02010600030101010101" pitchFamily="2" charset="-122"/>
                <a:cs typeface="Arial" panose="020B0604020202020204" pitchFamily="34" charset="0"/>
              </a:rPr>
              <a:t>FP</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功能点估算法常用在项目开始或项目需求基本明确时使用，这时进行估算其结果的准确性比较高，假如这个时候使用</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LOC</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代码行估算法，则误差会比较大。</a:t>
            </a:r>
            <a:endParaRPr lang="zh-CN" altLang="zh-CN" sz="1800" kern="100" dirty="0">
              <a:effectLst/>
              <a:latin typeface="Times New Roman" panose="02020603050405020304" pitchFamily="18" charset="0"/>
              <a:ea typeface="宋体" panose="02010600030101010101" pitchFamily="2" charset="-122"/>
            </a:endParaRPr>
          </a:p>
          <a:p>
            <a:pPr algn="l">
              <a:lnSpc>
                <a:spcPts val="1765"/>
              </a:lnSpc>
            </a:pPr>
            <a:r>
              <a:rPr lang="en-US" altLang="zh-CN" sz="1800" kern="0" dirty="0">
                <a:solidFill>
                  <a:srgbClr val="000000"/>
                </a:solidFill>
                <a:effectLst/>
                <a:latin typeface="宋体" panose="02010600030101010101" pitchFamily="2" charset="-122"/>
                <a:ea typeface="宋体" panose="02010600030101010101" pitchFamily="2" charset="-122"/>
                <a:cs typeface="Arial" panose="020B0604020202020204" pitchFamily="34" charset="0"/>
              </a:rPr>
              <a:t>2</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a:t>
            </a:r>
            <a:r>
              <a:rPr lang="en-US" altLang="zh-CN" sz="1800" kern="0" dirty="0">
                <a:solidFill>
                  <a:srgbClr val="000000"/>
                </a:solidFill>
                <a:effectLst/>
                <a:latin typeface="Times New Roman" panose="02020603050405020304" pitchFamily="18" charset="0"/>
                <a:ea typeface="宋体" panose="02010600030101010101" pitchFamily="2" charset="-122"/>
              </a:rPr>
              <a:t>  </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使用</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FP</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功能点估算法无需懂得软件使用何种开发技术。</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LOC</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代码行估算法与软件开发技术密切相关。</a:t>
            </a:r>
            <a:endPar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endParaRPr>
          </a:p>
          <a:p>
            <a:pPr algn="l">
              <a:lnSpc>
                <a:spcPts val="1765"/>
              </a:lnSpc>
            </a:pPr>
            <a:endParaRPr lang="zh-CN" altLang="zh-CN" sz="1800" kern="100" dirty="0">
              <a:effectLst/>
              <a:latin typeface="Times New Roman" panose="02020603050405020304" pitchFamily="18" charset="0"/>
              <a:ea typeface="宋体" panose="02010600030101010101" pitchFamily="2" charset="-122"/>
            </a:endParaRPr>
          </a:p>
          <a:p>
            <a:pPr algn="l">
              <a:lnSpc>
                <a:spcPts val="1765"/>
              </a:lnSpc>
            </a:pPr>
            <a:r>
              <a:rPr lang="en-US" altLang="zh-CN" sz="1800" kern="0" dirty="0">
                <a:solidFill>
                  <a:srgbClr val="000000"/>
                </a:solidFill>
                <a:effectLst/>
                <a:latin typeface="宋体" panose="02010600030101010101" pitchFamily="2" charset="-122"/>
                <a:ea typeface="宋体" panose="02010600030101010101" pitchFamily="2" charset="-122"/>
                <a:cs typeface="Arial" panose="020B0604020202020204" pitchFamily="34" charset="0"/>
              </a:rPr>
              <a:t>3</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a:t>
            </a:r>
            <a:r>
              <a:rPr lang="en-US" altLang="zh-CN" sz="1800" kern="0" dirty="0">
                <a:solidFill>
                  <a:srgbClr val="000000"/>
                </a:solidFill>
                <a:effectLst/>
                <a:latin typeface="Times New Roman" panose="02020603050405020304" pitchFamily="18" charset="0"/>
                <a:ea typeface="宋体" panose="02010600030101010101" pitchFamily="2" charset="-122"/>
              </a:rPr>
              <a:t>  </a:t>
            </a:r>
            <a:r>
              <a:rPr lang="en-US" altLang="zh-CN" sz="1800" kern="0" dirty="0">
                <a:solidFill>
                  <a:srgbClr val="000000"/>
                </a:solidFill>
                <a:effectLst/>
                <a:latin typeface="宋体" panose="02010600030101010101" pitchFamily="2" charset="-122"/>
                <a:ea typeface="宋体" panose="02010600030101010101" pitchFamily="2" charset="-122"/>
                <a:cs typeface="Arial" panose="020B0604020202020204" pitchFamily="34" charset="0"/>
              </a:rPr>
              <a:t>FP</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功能点法是以用户为角度进行估算，</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LOC</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代码行估算法则是以技术为角度进行估算的。</a:t>
            </a:r>
            <a:endPar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endParaRPr>
          </a:p>
          <a:p>
            <a:pPr algn="l">
              <a:lnSpc>
                <a:spcPts val="1765"/>
              </a:lnSpc>
            </a:pPr>
            <a:endParaRPr lang="zh-CN" altLang="zh-CN" sz="1800" kern="100" dirty="0">
              <a:effectLst/>
              <a:latin typeface="Times New Roman" panose="02020603050405020304" pitchFamily="18" charset="0"/>
              <a:ea typeface="宋体" panose="02010600030101010101" pitchFamily="2" charset="-122"/>
            </a:endParaRPr>
          </a:p>
          <a:p>
            <a:pPr algn="l">
              <a:lnSpc>
                <a:spcPts val="1765"/>
              </a:lnSpc>
            </a:pPr>
            <a:r>
              <a:rPr lang="en-US" altLang="zh-CN" sz="1800" kern="0" dirty="0">
                <a:solidFill>
                  <a:srgbClr val="000000"/>
                </a:solidFill>
                <a:effectLst/>
                <a:latin typeface="宋体" panose="02010600030101010101" pitchFamily="2" charset="-122"/>
                <a:ea typeface="宋体" panose="02010600030101010101" pitchFamily="2" charset="-122"/>
                <a:cs typeface="Arial" panose="020B0604020202020204" pitchFamily="34" charset="0"/>
              </a:rPr>
              <a:t>4</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a:t>
            </a:r>
            <a:r>
              <a:rPr lang="en-US" altLang="zh-CN" sz="1800" kern="0" dirty="0">
                <a:solidFill>
                  <a:srgbClr val="000000"/>
                </a:solidFill>
                <a:effectLst/>
                <a:latin typeface="Times New Roman" panose="02020603050405020304" pitchFamily="18" charset="0"/>
                <a:ea typeface="宋体" panose="02010600030101010101" pitchFamily="2" charset="-122"/>
              </a:rPr>
              <a:t>  </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通过一些行业标准或企业自身度量的分析，</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FP</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功能点估算法是可以转换为</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LOC</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代码行的。在项目刚开始的时候进行功能点估算可以对项目的范围进行预测，在项目开发的过程中由于需求的变更和细化可能会导致项目范围的蔓延，计算出来的结果会与当初估计的不同，因此在项目结束时还需要对项目的范围情况进行估算，这个时候估算的结果才能最准确反映项目的规模。</a:t>
            </a:r>
            <a:endParaRPr lang="zh-CN" altLang="zh-CN" sz="1800" kern="100" dirty="0">
              <a:effectLst/>
              <a:latin typeface="Times New Roman" panose="02020603050405020304" pitchFamily="18" charset="0"/>
              <a:ea typeface="宋体" panose="02010600030101010101" pitchFamily="2" charset="-122"/>
            </a:endParaRPr>
          </a:p>
          <a:p>
            <a:pPr latinLnBrk="0">
              <a:lnSpc>
                <a:spcPts val="2750"/>
              </a:lnSpc>
              <a:spcAft>
                <a:spcPts val="1200"/>
              </a:spcAft>
              <a:defRPr/>
            </a:pPr>
            <a:endParaRPr lang="en-US" altLang="zh-CN" sz="2000" dirty="0">
              <a:latin typeface="Arial" panose="020B0604020202020204" pitchFamily="34" charset="0"/>
            </a:endParaRPr>
          </a:p>
        </p:txBody>
      </p:sp>
      <p:sp>
        <p:nvSpPr>
          <p:cNvPr id="23" name="Freeform 12"/>
          <p:cNvSpPr/>
          <p:nvPr/>
        </p:nvSpPr>
        <p:spPr bwMode="auto">
          <a:xfrm>
            <a:off x="2065655" y="1267460"/>
            <a:ext cx="3843655" cy="544195"/>
          </a:xfrm>
          <a:custGeom>
            <a:avLst/>
            <a:gdLst>
              <a:gd name="T0" fmla="*/ 3591 w 3591"/>
              <a:gd name="T1" fmla="*/ 0 h 696"/>
              <a:gd name="T2" fmla="*/ 0 w 3591"/>
              <a:gd name="T3" fmla="*/ 0 h 696"/>
              <a:gd name="T4" fmla="*/ 0 w 3591"/>
              <a:gd name="T5" fmla="*/ 696 h 696"/>
              <a:gd name="T6" fmla="*/ 3591 w 3591"/>
              <a:gd name="T7" fmla="*/ 696 h 696"/>
              <a:gd name="T8" fmla="*/ 3383 w 3591"/>
              <a:gd name="T9" fmla="*/ 353 h 696"/>
              <a:gd name="T10" fmla="*/ 3591 w 3591"/>
              <a:gd name="T11" fmla="*/ 0 h 696"/>
            </a:gdLst>
            <a:ahLst/>
            <a:cxnLst>
              <a:cxn ang="0">
                <a:pos x="T0" y="T1"/>
              </a:cxn>
              <a:cxn ang="0">
                <a:pos x="T2" y="T3"/>
              </a:cxn>
              <a:cxn ang="0">
                <a:pos x="T4" y="T5"/>
              </a:cxn>
              <a:cxn ang="0">
                <a:pos x="T6" y="T7"/>
              </a:cxn>
              <a:cxn ang="0">
                <a:pos x="T8" y="T9"/>
              </a:cxn>
              <a:cxn ang="0">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bg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8" name="TextBox 23"/>
          <p:cNvSpPr txBox="1"/>
          <p:nvPr/>
        </p:nvSpPr>
        <p:spPr>
          <a:xfrm>
            <a:off x="2205355" y="1294130"/>
            <a:ext cx="4047490" cy="491490"/>
          </a:xfrm>
          <a:prstGeom prst="rect">
            <a:avLst/>
          </a:prstGeom>
          <a:noFill/>
        </p:spPr>
        <p:txBody>
          <a:bodyPr wrap="square" rtlCol="0">
            <a:spAutoFit/>
          </a:bodyPr>
          <a:lstStyle/>
          <a:p>
            <a:r>
              <a:rPr lang="zh-CN" altLang="zh-CN" sz="2600" kern="0" dirty="0">
                <a:solidFill>
                  <a:schemeClr val="accent2"/>
                </a:solidFill>
                <a:latin typeface="等线" panose="02010600030101010101" charset="-122"/>
                <a:cs typeface="Arial" panose="020B0604020202020204" pitchFamily="34" charset="0"/>
                <a:sym typeface="+mn-ea"/>
              </a:rPr>
              <a:t>识别功能点的重要</a:t>
            </a:r>
            <a:endParaRPr lang="zh-CN" altLang="zh-CN" sz="2600" kern="0" dirty="0">
              <a:solidFill>
                <a:schemeClr val="accent2"/>
              </a:solidFill>
              <a:latin typeface="等线" panose="02010600030101010101" charset="-122"/>
              <a:ea typeface="+mn-ea"/>
              <a:cs typeface="Arial" panose="020B0604020202020204" pitchFamily="34" charset="0"/>
              <a:sym typeface="+mn-ea"/>
            </a:endParaRPr>
          </a:p>
        </p:txBody>
      </p:sp>
    </p:spTree>
    <p:extLst>
      <p:ext uri="{BB962C8B-B14F-4D97-AF65-F5344CB8AC3E}">
        <p14:creationId xmlns:p14="http://schemas.microsoft.com/office/powerpoint/2010/main" val="20323851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8"/>
                                        </p:tgtEl>
                                        <p:attrNameLst>
                                          <p:attrName>style.visibility</p:attrName>
                                        </p:attrNameLst>
                                      </p:cBhvr>
                                      <p:to>
                                        <p:strVal val="visible"/>
                                      </p:to>
                                    </p:set>
                                    <p:anim by="(-#ppt_w*2)" calcmode="lin" valueType="num">
                                      <p:cBhvr rctx="PPT">
                                        <p:cTn id="11" dur="250" autoRev="1" fill="hold">
                                          <p:stCondLst>
                                            <p:cond delay="0"/>
                                          </p:stCondLst>
                                        </p:cTn>
                                        <p:tgtEl>
                                          <p:spTgt spid="8"/>
                                        </p:tgtEl>
                                        <p:attrNameLst>
                                          <p:attrName>ppt_w</p:attrName>
                                        </p:attrNameLst>
                                      </p:cBhvr>
                                    </p:anim>
                                    <p:anim by="(#ppt_w*0.50)" calcmode="lin" valueType="num">
                                      <p:cBhvr>
                                        <p:cTn id="12" dur="250" decel="50000" autoRev="1" fill="hold">
                                          <p:stCondLst>
                                            <p:cond delay="0"/>
                                          </p:stCondLst>
                                        </p:cTn>
                                        <p:tgtEl>
                                          <p:spTgt spid="8"/>
                                        </p:tgtEl>
                                        <p:attrNameLst>
                                          <p:attrName>ppt_x</p:attrName>
                                        </p:attrNameLst>
                                      </p:cBhvr>
                                    </p:anim>
                                    <p:anim from="(-#ppt_h/2)" to="(#ppt_y)" calcmode="lin" valueType="num">
                                      <p:cBhvr>
                                        <p:cTn id="13" dur="500" fill="hold">
                                          <p:stCondLst>
                                            <p:cond delay="0"/>
                                          </p:stCondLst>
                                        </p:cTn>
                                        <p:tgtEl>
                                          <p:spTgt spid="8"/>
                                        </p:tgtEl>
                                        <p:attrNameLst>
                                          <p:attrName>ppt_y</p:attrName>
                                        </p:attrNameLst>
                                      </p:cBhvr>
                                    </p:anim>
                                    <p:animRot by="21600000">
                                      <p:cBhvr>
                                        <p:cTn id="14" dur="500" fill="hold">
                                          <p:stCondLst>
                                            <p:cond delay="0"/>
                                          </p:stCondLst>
                                        </p:cTn>
                                        <p:tgtEl>
                                          <p:spTgt spid="8"/>
                                        </p:tgtEl>
                                        <p:attrNameLst>
                                          <p:attrName>r</p:attrName>
                                        </p:attrNameLst>
                                      </p:cBhvr>
                                    </p:animRot>
                                  </p:childTnLst>
                                </p:cTn>
                              </p:par>
                            </p:childTnLst>
                          </p:cTn>
                        </p:par>
                        <p:par>
                          <p:cTn id="15" fill="hold">
                            <p:stCondLst>
                              <p:cond delay="1350"/>
                            </p:stCondLst>
                            <p:childTnLst>
                              <p:par>
                                <p:cTn id="16" presetID="22" presetClass="entr" presetSubtype="8"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left)">
                                      <p:cBhvr>
                                        <p:cTn id="1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23" grpId="0" bldLvl="0" animBg="1"/>
      <p:bldP spid="8"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1.</a:t>
            </a:r>
          </a:p>
        </p:txBody>
      </p:sp>
      <p:sp>
        <p:nvSpPr>
          <p:cNvPr id="5" name="文本框 4"/>
          <p:cNvSpPr txBox="1"/>
          <p:nvPr/>
        </p:nvSpPr>
        <p:spPr>
          <a:xfrm>
            <a:off x="1548765" y="83820"/>
            <a:ext cx="3562194"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a:t>
            </a:r>
            <a:r>
              <a:rPr lang="en-US" altLang="zh-CN" sz="2800" dirty="0">
                <a:solidFill>
                  <a:schemeClr val="accent2"/>
                </a:solidFill>
                <a:sym typeface="+mn-ea"/>
              </a:rPr>
              <a:t>-</a:t>
            </a:r>
            <a:r>
              <a:rPr lang="zh-CN" altLang="en-US" sz="2800" dirty="0">
                <a:solidFill>
                  <a:schemeClr val="accent2"/>
                </a:solidFill>
                <a:sym typeface="+mn-ea"/>
              </a:rPr>
              <a:t>适用范围</a:t>
            </a:r>
          </a:p>
        </p:txBody>
      </p:sp>
      <p:sp>
        <p:nvSpPr>
          <p:cNvPr id="30" name="圆角矩形 29"/>
          <p:cNvSpPr/>
          <p:nvPr/>
        </p:nvSpPr>
        <p:spPr>
          <a:xfrm>
            <a:off x="579120" y="113220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59055" y="568325"/>
            <a:ext cx="2124075" cy="1967230"/>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869315" y="2467610"/>
            <a:ext cx="10406380" cy="4308575"/>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23" name="Freeform 12"/>
          <p:cNvSpPr/>
          <p:nvPr/>
        </p:nvSpPr>
        <p:spPr bwMode="auto">
          <a:xfrm>
            <a:off x="812165" y="2313305"/>
            <a:ext cx="3002280" cy="544195"/>
          </a:xfrm>
          <a:custGeom>
            <a:avLst/>
            <a:gdLst>
              <a:gd name="T0" fmla="*/ 3591 w 3591"/>
              <a:gd name="T1" fmla="*/ 0 h 696"/>
              <a:gd name="T2" fmla="*/ 0 w 3591"/>
              <a:gd name="T3" fmla="*/ 0 h 696"/>
              <a:gd name="T4" fmla="*/ 0 w 3591"/>
              <a:gd name="T5" fmla="*/ 696 h 696"/>
              <a:gd name="T6" fmla="*/ 3591 w 3591"/>
              <a:gd name="T7" fmla="*/ 696 h 696"/>
              <a:gd name="T8" fmla="*/ 3383 w 3591"/>
              <a:gd name="T9" fmla="*/ 353 h 696"/>
              <a:gd name="T10" fmla="*/ 3591 w 3591"/>
              <a:gd name="T11" fmla="*/ 0 h 696"/>
            </a:gdLst>
            <a:ahLst/>
            <a:cxnLst>
              <a:cxn ang="0">
                <a:pos x="T0" y="T1"/>
              </a:cxn>
              <a:cxn ang="0">
                <a:pos x="T2" y="T3"/>
              </a:cxn>
              <a:cxn ang="0">
                <a:pos x="T4" y="T5"/>
              </a:cxn>
              <a:cxn ang="0">
                <a:pos x="T6" y="T7"/>
              </a:cxn>
              <a:cxn ang="0">
                <a:pos x="T8" y="T9"/>
              </a:cxn>
              <a:cxn ang="0">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bg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15" name="TextBox 23"/>
          <p:cNvSpPr txBox="1"/>
          <p:nvPr/>
        </p:nvSpPr>
        <p:spPr>
          <a:xfrm>
            <a:off x="1009015" y="2322830"/>
            <a:ext cx="4448175" cy="491490"/>
          </a:xfrm>
          <a:prstGeom prst="rect">
            <a:avLst/>
          </a:prstGeom>
          <a:noFill/>
        </p:spPr>
        <p:txBody>
          <a:bodyPr wrap="square" rtlCol="0">
            <a:spAutoFit/>
          </a:bodyPr>
          <a:lstStyle/>
          <a:p>
            <a:r>
              <a:rPr lang="zh-CN" altLang="en-US" sz="2600" kern="0" dirty="0">
                <a:solidFill>
                  <a:schemeClr val="accent2"/>
                </a:solidFill>
                <a:latin typeface="等线" panose="02010600030101010101" charset="-122"/>
                <a:cs typeface="Arial" panose="020B0604020202020204" pitchFamily="34" charset="0"/>
                <a:sym typeface="+mn-ea"/>
              </a:rPr>
              <a:t>适用范围</a:t>
            </a:r>
            <a:endParaRPr lang="zh-CN" altLang="zh-CN" sz="2600" kern="0" dirty="0">
              <a:solidFill>
                <a:schemeClr val="accent2"/>
              </a:solidFill>
              <a:latin typeface="等线" panose="02010600030101010101" charset="-122"/>
              <a:ea typeface="+mn-ea"/>
              <a:cs typeface="Arial" panose="020B0604020202020204" pitchFamily="34" charset="0"/>
              <a:sym typeface="+mn-ea"/>
            </a:endParaRPr>
          </a:p>
        </p:txBody>
      </p:sp>
      <p:sp>
        <p:nvSpPr>
          <p:cNvPr id="38" name="文本框 37"/>
          <p:cNvSpPr txBox="1"/>
          <p:nvPr/>
        </p:nvSpPr>
        <p:spPr>
          <a:xfrm>
            <a:off x="1239520" y="2873375"/>
            <a:ext cx="9357995" cy="3139321"/>
          </a:xfrm>
          <a:prstGeom prst="rect">
            <a:avLst/>
          </a:prstGeom>
          <a:noFill/>
        </p:spPr>
        <p:txBody>
          <a:bodyPr wrap="square" rtlCol="0">
            <a:spAutoFit/>
          </a:bodyPr>
          <a:lstStyle/>
          <a:p>
            <a:pPr eaLnBrk="1" hangingPunct="1">
              <a:defRPr/>
            </a:pPr>
            <a:endParaRPr lang="en-US" altLang="zh-CN" sz="1800" dirty="0">
              <a:latin typeface="微软雅黑" panose="020B0503020204020204" pitchFamily="34" charset="-122"/>
              <a:sym typeface="+mn-ea"/>
            </a:endParaRPr>
          </a:p>
          <a:p>
            <a:pPr eaLnBrk="1" hangingPunct="1">
              <a:defRPr/>
            </a:pPr>
            <a:r>
              <a:rPr lang="zh-CN" altLang="en-US" sz="1800" dirty="0">
                <a:latin typeface="微软雅黑" panose="020B0503020204020204" pitchFamily="34" charset="-122"/>
                <a:sym typeface="+mn-ea"/>
              </a:rPr>
              <a:t>适合：</a:t>
            </a:r>
            <a:endParaRPr lang="en-US" altLang="zh-CN" sz="1800" dirty="0">
              <a:latin typeface="微软雅黑" panose="020B0503020204020204" pitchFamily="34" charset="-122"/>
              <a:sym typeface="+mn-ea"/>
            </a:endParaRPr>
          </a:p>
          <a:p>
            <a:pPr eaLnBrk="1" hangingPunct="1">
              <a:defRPr/>
            </a:pPr>
            <a:r>
              <a:rPr lang="en-US" altLang="zh-CN" sz="1800" dirty="0">
                <a:latin typeface="微软雅黑" panose="020B0503020204020204" pitchFamily="34" charset="-122"/>
                <a:sym typeface="+mn-ea"/>
              </a:rPr>
              <a:t>	-</a:t>
            </a:r>
            <a:r>
              <a:rPr lang="zh-CN" altLang="en-US" sz="1800" dirty="0">
                <a:latin typeface="微软雅黑" panose="020B0503020204020204" pitchFamily="34" charset="-122"/>
                <a:sym typeface="+mn-ea"/>
              </a:rPr>
              <a:t>以数据和交互处理为中心</a:t>
            </a:r>
            <a:endParaRPr lang="en-US" altLang="zh-CN" sz="1800" dirty="0">
              <a:latin typeface="微软雅黑" panose="020B0503020204020204" pitchFamily="34" charset="-122"/>
              <a:sym typeface="+mn-ea"/>
            </a:endParaRPr>
          </a:p>
          <a:p>
            <a:pPr eaLnBrk="1" hangingPunct="1">
              <a:defRPr/>
            </a:pPr>
            <a:r>
              <a:rPr lang="en-US" altLang="zh-CN" sz="1800" dirty="0">
                <a:latin typeface="微软雅黑" panose="020B0503020204020204" pitchFamily="34" charset="-122"/>
                <a:sym typeface="+mn-ea"/>
              </a:rPr>
              <a:t>	-</a:t>
            </a:r>
            <a:r>
              <a:rPr lang="zh-CN" altLang="en-US" sz="1800" dirty="0">
                <a:latin typeface="微软雅黑" panose="020B0503020204020204" pitchFamily="34" charset="-122"/>
                <a:sym typeface="+mn-ea"/>
              </a:rPr>
              <a:t>以功能多少为主要造价格制约因素</a:t>
            </a:r>
            <a:endParaRPr lang="en-US" altLang="zh-CN" sz="1800" dirty="0">
              <a:latin typeface="微软雅黑" panose="020B0503020204020204" pitchFamily="34" charset="-122"/>
              <a:sym typeface="+mn-ea"/>
            </a:endParaRPr>
          </a:p>
          <a:p>
            <a:pPr eaLnBrk="1" hangingPunct="1">
              <a:defRPr/>
            </a:pPr>
            <a:r>
              <a:rPr lang="en-US" altLang="zh-CN" sz="1800" dirty="0">
                <a:latin typeface="微软雅黑" panose="020B0503020204020204" pitchFamily="34" charset="-122"/>
                <a:sym typeface="+mn-ea"/>
              </a:rPr>
              <a:t>	-</a:t>
            </a:r>
            <a:r>
              <a:rPr lang="zh-CN" altLang="en-US" sz="1800" dirty="0">
                <a:latin typeface="微软雅黑" panose="020B0503020204020204" pitchFamily="34" charset="-122"/>
                <a:sym typeface="+mn-ea"/>
              </a:rPr>
              <a:t>如：电子政务、银行电信的用户和业务管理系统</a:t>
            </a:r>
            <a:endParaRPr lang="en-US" altLang="zh-CN" sz="1800" dirty="0">
              <a:latin typeface="微软雅黑" panose="020B0503020204020204" pitchFamily="34" charset="-122"/>
              <a:sym typeface="+mn-ea"/>
            </a:endParaRPr>
          </a:p>
          <a:p>
            <a:pPr eaLnBrk="1" hangingPunct="1">
              <a:defRPr/>
            </a:pPr>
            <a:r>
              <a:rPr lang="zh-CN" altLang="en-US" sz="1800" dirty="0">
                <a:latin typeface="微软雅黑" panose="020B0503020204020204" pitchFamily="34" charset="-122"/>
                <a:sym typeface="+mn-ea"/>
              </a:rPr>
              <a:t>不适合：</a:t>
            </a:r>
            <a:endParaRPr lang="en-US" altLang="zh-CN" sz="1800" dirty="0">
              <a:latin typeface="微软雅黑" panose="020B0503020204020204" pitchFamily="34" charset="-122"/>
              <a:sym typeface="+mn-ea"/>
            </a:endParaRPr>
          </a:p>
          <a:p>
            <a:pPr eaLnBrk="1" hangingPunct="1">
              <a:defRPr/>
            </a:pPr>
            <a:r>
              <a:rPr lang="en-US" altLang="zh-CN" sz="1800" dirty="0">
                <a:latin typeface="微软雅黑" panose="020B0503020204020204" pitchFamily="34" charset="-122"/>
                <a:sym typeface="+mn-ea"/>
              </a:rPr>
              <a:t>	-</a:t>
            </a:r>
            <a:r>
              <a:rPr lang="zh-CN" altLang="en-US" sz="1800" dirty="0">
                <a:latin typeface="微软雅黑" panose="020B0503020204020204" pitchFamily="34" charset="-122"/>
                <a:sym typeface="+mn-ea"/>
              </a:rPr>
              <a:t>数据处理过程复杂</a:t>
            </a:r>
            <a:endParaRPr lang="en-US" altLang="zh-CN" sz="1800" dirty="0">
              <a:latin typeface="微软雅黑" panose="020B0503020204020204" pitchFamily="34" charset="-122"/>
              <a:sym typeface="+mn-ea"/>
            </a:endParaRPr>
          </a:p>
          <a:p>
            <a:pPr eaLnBrk="1" hangingPunct="1">
              <a:defRPr/>
            </a:pPr>
            <a:r>
              <a:rPr lang="en-US" altLang="zh-CN" sz="1800" dirty="0">
                <a:latin typeface="微软雅黑" panose="020B0503020204020204" pitchFamily="34" charset="-122"/>
                <a:sym typeface="+mn-ea"/>
              </a:rPr>
              <a:t>	-</a:t>
            </a:r>
            <a:r>
              <a:rPr lang="zh-CN" altLang="en-US" sz="1800" dirty="0">
                <a:latin typeface="微软雅黑" panose="020B0503020204020204" pitchFamily="34" charset="-122"/>
                <a:sym typeface="+mn-ea"/>
              </a:rPr>
              <a:t>创意型软件</a:t>
            </a:r>
            <a:endParaRPr lang="en-US" altLang="zh-CN" sz="1800" dirty="0">
              <a:latin typeface="微软雅黑" panose="020B0503020204020204" pitchFamily="34" charset="-122"/>
              <a:sym typeface="+mn-ea"/>
            </a:endParaRPr>
          </a:p>
          <a:p>
            <a:pPr eaLnBrk="1" hangingPunct="1">
              <a:defRPr/>
            </a:pPr>
            <a:r>
              <a:rPr lang="en-US" altLang="zh-CN" sz="1800" dirty="0">
                <a:latin typeface="微软雅黑" panose="020B0503020204020204" pitchFamily="34" charset="-122"/>
                <a:sym typeface="+mn-ea"/>
              </a:rPr>
              <a:t>	-</a:t>
            </a:r>
            <a:r>
              <a:rPr lang="zh-CN" altLang="en-US" sz="1800" dirty="0">
                <a:latin typeface="微软雅黑" panose="020B0503020204020204" pitchFamily="34" charset="-122"/>
                <a:sym typeface="+mn-ea"/>
              </a:rPr>
              <a:t>对性能和质量有特殊要求的</a:t>
            </a:r>
            <a:endParaRPr lang="en-US" altLang="zh-CN" sz="1800" dirty="0">
              <a:latin typeface="微软雅黑" panose="020B0503020204020204" pitchFamily="34" charset="-122"/>
              <a:sym typeface="+mn-ea"/>
            </a:endParaRPr>
          </a:p>
          <a:p>
            <a:pPr eaLnBrk="1" hangingPunct="1">
              <a:defRPr/>
            </a:pPr>
            <a:r>
              <a:rPr lang="en-US" altLang="zh-CN" sz="1800" dirty="0">
                <a:latin typeface="微软雅黑" panose="020B0503020204020204" pitchFamily="34" charset="-122"/>
                <a:sym typeface="+mn-ea"/>
              </a:rPr>
              <a:t>	-</a:t>
            </a:r>
            <a:r>
              <a:rPr lang="zh-CN" altLang="en-US" sz="1800" dirty="0">
                <a:latin typeface="微软雅黑" panose="020B0503020204020204" pitchFamily="34" charset="-122"/>
                <a:sym typeface="+mn-ea"/>
              </a:rPr>
              <a:t>如：视频和图像处理软件，杀毒软件、网络游戏</a:t>
            </a:r>
            <a:endParaRPr lang="en-US" altLang="zh-CN" sz="1800" dirty="0">
              <a:latin typeface="微软雅黑" panose="020B0503020204020204" pitchFamily="34" charset="-122"/>
              <a:sym typeface="+mn-ea"/>
            </a:endParaRPr>
          </a:p>
          <a:p>
            <a:endParaRPr lang="zh-CN" altLang="en-US" dirty="0"/>
          </a:p>
        </p:txBody>
      </p:sp>
    </p:spTree>
    <p:extLst>
      <p:ext uri="{BB962C8B-B14F-4D97-AF65-F5344CB8AC3E}">
        <p14:creationId xmlns:p14="http://schemas.microsoft.com/office/powerpoint/2010/main" val="39456970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79120" y="113220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59055" y="568325"/>
            <a:ext cx="2124075" cy="1967230"/>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869315" y="2467610"/>
            <a:ext cx="10406380" cy="4327826"/>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23" name="Freeform 12"/>
          <p:cNvSpPr/>
          <p:nvPr/>
        </p:nvSpPr>
        <p:spPr bwMode="auto">
          <a:xfrm>
            <a:off x="812165" y="2313305"/>
            <a:ext cx="3002280" cy="544195"/>
          </a:xfrm>
          <a:custGeom>
            <a:avLst/>
            <a:gdLst>
              <a:gd name="T0" fmla="*/ 3591 w 3591"/>
              <a:gd name="T1" fmla="*/ 0 h 696"/>
              <a:gd name="T2" fmla="*/ 0 w 3591"/>
              <a:gd name="T3" fmla="*/ 0 h 696"/>
              <a:gd name="T4" fmla="*/ 0 w 3591"/>
              <a:gd name="T5" fmla="*/ 696 h 696"/>
              <a:gd name="T6" fmla="*/ 3591 w 3591"/>
              <a:gd name="T7" fmla="*/ 696 h 696"/>
              <a:gd name="T8" fmla="*/ 3383 w 3591"/>
              <a:gd name="T9" fmla="*/ 353 h 696"/>
              <a:gd name="T10" fmla="*/ 3591 w 3591"/>
              <a:gd name="T11" fmla="*/ 0 h 696"/>
            </a:gdLst>
            <a:ahLst/>
            <a:cxnLst>
              <a:cxn ang="0">
                <a:pos x="T0" y="T1"/>
              </a:cxn>
              <a:cxn ang="0">
                <a:pos x="T2" y="T3"/>
              </a:cxn>
              <a:cxn ang="0">
                <a:pos x="T4" y="T5"/>
              </a:cxn>
              <a:cxn ang="0">
                <a:pos x="T6" y="T7"/>
              </a:cxn>
              <a:cxn ang="0">
                <a:pos x="T8" y="T9"/>
              </a:cxn>
              <a:cxn ang="0">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bg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15" name="TextBox 23"/>
          <p:cNvSpPr txBox="1"/>
          <p:nvPr/>
        </p:nvSpPr>
        <p:spPr>
          <a:xfrm>
            <a:off x="1009015" y="2322830"/>
            <a:ext cx="4448175" cy="491490"/>
          </a:xfrm>
          <a:prstGeom prst="rect">
            <a:avLst/>
          </a:prstGeom>
          <a:noFill/>
        </p:spPr>
        <p:txBody>
          <a:bodyPr wrap="square" rtlCol="0">
            <a:spAutoFit/>
          </a:bodyPr>
          <a:lstStyle/>
          <a:p>
            <a:r>
              <a:rPr lang="zh-CN" altLang="zh-CN" sz="2600" kern="0" dirty="0">
                <a:solidFill>
                  <a:schemeClr val="accent2"/>
                </a:solidFill>
                <a:latin typeface="等线" panose="02010600030101010101" charset="-122"/>
                <a:cs typeface="Arial" panose="020B0604020202020204" pitchFamily="34" charset="0"/>
                <a:sym typeface="+mn-ea"/>
              </a:rPr>
              <a:t>识别项目的类型</a:t>
            </a:r>
            <a:endParaRPr lang="zh-CN" altLang="zh-CN" sz="2600" kern="0" dirty="0">
              <a:solidFill>
                <a:schemeClr val="accent2"/>
              </a:solidFill>
              <a:latin typeface="等线" panose="02010600030101010101" charset="-122"/>
              <a:ea typeface="+mn-ea"/>
              <a:cs typeface="Arial" panose="020B0604020202020204" pitchFamily="34" charset="0"/>
              <a:sym typeface="+mn-ea"/>
            </a:endParaRPr>
          </a:p>
        </p:txBody>
      </p:sp>
      <p:sp>
        <p:nvSpPr>
          <p:cNvPr id="38" name="文本框 37"/>
          <p:cNvSpPr txBox="1"/>
          <p:nvPr/>
        </p:nvSpPr>
        <p:spPr>
          <a:xfrm>
            <a:off x="1239520" y="2873375"/>
            <a:ext cx="9357995" cy="3804118"/>
          </a:xfrm>
          <a:prstGeom prst="rect">
            <a:avLst/>
          </a:prstGeom>
          <a:noFill/>
        </p:spPr>
        <p:txBody>
          <a:bodyPr wrap="square" rtlCol="0">
            <a:spAutoFit/>
          </a:bodyPr>
          <a:lstStyle/>
          <a:p>
            <a:r>
              <a:rPr lang="en-US" altLang="zh-CN" kern="0" dirty="0">
                <a:solidFill>
                  <a:srgbClr val="4D4D4D"/>
                </a:solidFill>
                <a:latin typeface="微软雅黑" panose="020B0503020204020204" pitchFamily="34" charset="-122"/>
                <a:ea typeface="等线" panose="02010600030101010101" charset="-122"/>
                <a:cs typeface="Arial" panose="020B0604020202020204" pitchFamily="34" charset="0"/>
                <a:sym typeface="+mn-ea"/>
              </a:rPr>
              <a:t>   </a:t>
            </a:r>
            <a:r>
              <a:rPr lang="zh-CN" altLang="zh-CN" kern="0" dirty="0">
                <a:solidFill>
                  <a:srgbClr val="4D4D4D"/>
                </a:solidFill>
                <a:latin typeface="等线" panose="02010600030101010101" charset="-122"/>
                <a:cs typeface="Arial" panose="020B0604020202020204" pitchFamily="34" charset="0"/>
                <a:sym typeface="+mn-ea"/>
              </a:rPr>
              <a:t>国际</a:t>
            </a:r>
            <a:r>
              <a:rPr lang="en-US" altLang="zh-CN" kern="0" dirty="0">
                <a:solidFill>
                  <a:srgbClr val="4D4D4D"/>
                </a:solidFill>
                <a:latin typeface="等线" panose="02010600030101010101" charset="-122"/>
                <a:cs typeface="Arial" panose="020B0604020202020204" pitchFamily="34" charset="0"/>
                <a:sym typeface="+mn-ea"/>
              </a:rPr>
              <a:t>IFPUG</a:t>
            </a:r>
            <a:r>
              <a:rPr lang="zh-CN" altLang="zh-CN" kern="0" dirty="0">
                <a:solidFill>
                  <a:srgbClr val="4D4D4D"/>
                </a:solidFill>
                <a:latin typeface="等线" panose="02010600030101010101" charset="-122"/>
                <a:cs typeface="Arial" panose="020B0604020202020204" pitchFamily="34" charset="0"/>
                <a:sym typeface="+mn-ea"/>
              </a:rPr>
              <a:t>组织将软件项目分为三类，功能点估算法适用于任何一类项目：</a:t>
            </a:r>
            <a:endParaRPr lang="en-US" altLang="zh-CN" kern="0" dirty="0">
              <a:solidFill>
                <a:srgbClr val="4D4D4D"/>
              </a:solidFill>
              <a:latin typeface="等线" panose="02010600030101010101" charset="-122"/>
              <a:cs typeface="Arial" panose="020B0604020202020204" pitchFamily="34" charset="0"/>
              <a:sym typeface="+mn-ea"/>
            </a:endParaRPr>
          </a:p>
          <a:p>
            <a:endParaRPr lang="zh-CN" altLang="zh-CN" kern="0" dirty="0">
              <a:solidFill>
                <a:srgbClr val="4D4D4D"/>
              </a:solidFill>
              <a:latin typeface="等线" panose="02010600030101010101" charset="-122"/>
              <a:cs typeface="Arial" panose="020B0604020202020204" pitchFamily="34" charset="0"/>
              <a:sym typeface="+mn-ea"/>
            </a:endParaRPr>
          </a:p>
          <a:p>
            <a:pPr marL="285750" indent="-285750">
              <a:buFont typeface="Arial" panose="020B0604020202020204" pitchFamily="34" charset="0"/>
              <a:buChar char="•"/>
            </a:pPr>
            <a:r>
              <a:rPr lang="zh-CN" altLang="zh-CN" kern="0" dirty="0">
                <a:solidFill>
                  <a:srgbClr val="666666"/>
                </a:solidFill>
                <a:latin typeface="等线" panose="02010600030101010101" charset="-122"/>
                <a:cs typeface="Arial" panose="020B0604020202020204" pitchFamily="34" charset="0"/>
                <a:sym typeface="+mn-ea"/>
              </a:rPr>
              <a:t>新开发项目</a:t>
            </a:r>
          </a:p>
          <a:p>
            <a:pPr marL="285750" indent="-285750">
              <a:buFont typeface="Arial" panose="020B0604020202020204" pitchFamily="34" charset="0"/>
              <a:buChar char="•"/>
            </a:pPr>
            <a:r>
              <a:rPr lang="zh-CN" altLang="zh-CN" kern="0" dirty="0">
                <a:solidFill>
                  <a:srgbClr val="666666"/>
                </a:solidFill>
                <a:latin typeface="等线" panose="02010600030101010101" charset="-122"/>
                <a:cs typeface="Arial" panose="020B0604020202020204" pitchFamily="34" charset="0"/>
                <a:sym typeface="+mn-ea"/>
              </a:rPr>
              <a:t>二次开发的项目</a:t>
            </a:r>
          </a:p>
          <a:p>
            <a:pPr marL="285750" indent="-285750">
              <a:buFont typeface="Arial" panose="020B0604020202020204" pitchFamily="34" charset="0"/>
              <a:buChar char="•"/>
            </a:pPr>
            <a:r>
              <a:rPr lang="zh-CN" altLang="zh-CN" kern="0" dirty="0">
                <a:solidFill>
                  <a:srgbClr val="666666"/>
                </a:solidFill>
                <a:latin typeface="等线" panose="02010600030101010101" charset="-122"/>
                <a:cs typeface="Arial" panose="020B0604020202020204" pitchFamily="34" charset="0"/>
                <a:sym typeface="+mn-ea"/>
              </a:rPr>
              <a:t>功能增强的项目</a:t>
            </a:r>
            <a:endParaRPr lang="en-US" altLang="zh-CN" kern="0" dirty="0">
              <a:solidFill>
                <a:srgbClr val="666666"/>
              </a:solidFill>
              <a:latin typeface="等线" panose="02010600030101010101" charset="-122"/>
              <a:cs typeface="Arial" panose="020B0604020202020204" pitchFamily="34" charset="0"/>
              <a:sym typeface="+mn-ea"/>
            </a:endParaRPr>
          </a:p>
          <a:p>
            <a:pPr marL="285750" indent="-285750">
              <a:buFont typeface="Arial" panose="020B0604020202020204" pitchFamily="34" charset="0"/>
              <a:buChar char="•"/>
            </a:pPr>
            <a:endParaRPr lang="en-US" altLang="zh-CN" kern="0" dirty="0">
              <a:solidFill>
                <a:srgbClr val="666666"/>
              </a:solidFill>
              <a:latin typeface="等线" panose="02010600030101010101" charset="-122"/>
              <a:ea typeface="等线" panose="02010600030101010101" charset="-122"/>
              <a:cs typeface="Arial" panose="020B0604020202020204" pitchFamily="34" charset="0"/>
              <a:sym typeface="+mn-ea"/>
            </a:endParaRPr>
          </a:p>
          <a:p>
            <a:pPr marL="285750" indent="-285750">
              <a:buFont typeface="Arial" panose="020B0604020202020204" pitchFamily="34" charset="0"/>
              <a:buChar char="•"/>
            </a:pPr>
            <a:endParaRPr lang="en-US" altLang="zh-CN" kern="0" dirty="0">
              <a:solidFill>
                <a:srgbClr val="666666"/>
              </a:solidFill>
              <a:latin typeface="等线" panose="02010600030101010101" charset="-122"/>
              <a:ea typeface="等线" panose="02010600030101010101" charset="-122"/>
              <a:cs typeface="Arial" panose="020B0604020202020204" pitchFamily="34" charset="0"/>
              <a:sym typeface="+mn-ea"/>
            </a:endParaRPr>
          </a:p>
          <a:p>
            <a:pPr eaLnBrk="1" hangingPunct="1">
              <a:lnSpc>
                <a:spcPct val="110000"/>
              </a:lnSpc>
              <a:defRPr/>
            </a:pPr>
            <a:r>
              <a:rPr lang="zh-CN" altLang="en-US" sz="1800" dirty="0">
                <a:latin typeface="Arial" panose="020B0604020202020204" pitchFamily="34" charset="0"/>
                <a:ea typeface="宋体" panose="02010600030101010101" pitchFamily="2" charset="-122"/>
                <a:sym typeface="+mn-ea"/>
              </a:rPr>
              <a:t>从使用者的角度，而非制造者的角度</a:t>
            </a:r>
            <a:endParaRPr lang="en-US" altLang="zh-CN" sz="1800" dirty="0">
              <a:latin typeface="Arial" panose="020B0604020202020204" pitchFamily="34" charset="0"/>
              <a:ea typeface="宋体" panose="02010600030101010101" pitchFamily="2" charset="-122"/>
              <a:sym typeface="+mn-ea"/>
            </a:endParaRPr>
          </a:p>
          <a:p>
            <a:pPr eaLnBrk="1" hangingPunct="1">
              <a:lnSpc>
                <a:spcPct val="110000"/>
              </a:lnSpc>
              <a:defRPr/>
            </a:pPr>
            <a:endParaRPr kumimoji="0" lang="en-US" altLang="zh-CN"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mn-ea"/>
            </a:endParaRPr>
          </a:p>
          <a:p>
            <a:pPr eaLnBrk="1" hangingPunct="1">
              <a:lnSpc>
                <a:spcPct val="110000"/>
              </a:lnSpc>
              <a:defRPr/>
            </a:pPr>
            <a:r>
              <a:rPr lang="en-US" altLang="zh-CN" sz="1800" dirty="0">
                <a:latin typeface="Arial" panose="020B0604020202020204" pitchFamily="34" charset="0"/>
                <a:ea typeface="宋体" panose="02010600030101010101" pitchFamily="2" charset="-122"/>
                <a:sym typeface="+mn-ea"/>
              </a:rPr>
              <a:t>--</a:t>
            </a:r>
            <a:r>
              <a:rPr lang="zh-CN" altLang="en-US" sz="1800" dirty="0">
                <a:latin typeface="Arial" panose="020B0604020202020204" pitchFamily="34" charset="0"/>
                <a:ea typeface="宋体" panose="02010600030101010101" pitchFamily="2" charset="-122"/>
                <a:sym typeface="+mn-ea"/>
              </a:rPr>
              <a:t>存储哪些数据信息</a:t>
            </a:r>
            <a:endParaRPr lang="en-US" altLang="zh-CN" sz="1800" dirty="0">
              <a:latin typeface="Arial" panose="020B0604020202020204" pitchFamily="34" charset="0"/>
              <a:ea typeface="宋体" panose="02010600030101010101" pitchFamily="2" charset="-122"/>
              <a:sym typeface="+mn-ea"/>
            </a:endParaRPr>
          </a:p>
          <a:p>
            <a:pPr eaLnBrk="1" hangingPunct="1">
              <a:lnSpc>
                <a:spcPct val="110000"/>
              </a:lnSpc>
              <a:defRPr/>
            </a:pPr>
            <a:r>
              <a:rPr kumimoji="0" lang="en-US" altLang="zh-CN"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mn-ea"/>
              </a:rPr>
              <a:t>--</a:t>
            </a:r>
            <a:r>
              <a:rPr kumimoji="0" lang="zh-CN" altLang="en-US" b="0" i="0" u="none" strike="noStrike" cap="none" normalizeH="0" baseline="0" dirty="0">
                <a:ln>
                  <a:noFill/>
                </a:ln>
                <a:solidFill>
                  <a:schemeClr val="tx1"/>
                </a:solidFill>
                <a:effectLst/>
                <a:latin typeface="Arial" panose="020B0604020202020204" pitchFamily="34" charset="0"/>
                <a:ea typeface="宋体" panose="02010600030101010101" pitchFamily="2" charset="-122"/>
                <a:sym typeface="+mn-ea"/>
              </a:rPr>
              <a:t>如何来处理这些数据</a:t>
            </a:r>
            <a:endParaRPr kumimoji="0" lang="zh-CN" altLang="en-US" sz="1800" b="0" i="0" u="none" strike="noStrike" cap="none" normalizeH="0" baseline="0" dirty="0">
              <a:ln>
                <a:noFill/>
              </a:ln>
              <a:solidFill>
                <a:schemeClr val="tx1"/>
              </a:solidFill>
              <a:effectLst/>
              <a:latin typeface="Arial" panose="020B0604020202020204" pitchFamily="34" charset="0"/>
              <a:ea typeface="宋体" panose="02010600030101010101" pitchFamily="2" charset="-122"/>
            </a:endParaRPr>
          </a:p>
          <a:p>
            <a:pPr marL="285750" indent="-285750">
              <a:buFont typeface="Arial" panose="020B0604020202020204" pitchFamily="34" charset="0"/>
              <a:buChar char="•"/>
            </a:pPr>
            <a:endParaRPr lang="zh-CN" altLang="zh-CN" kern="100" dirty="0">
              <a:latin typeface="等线" panose="02010600030101010101" charset="-122"/>
              <a:ea typeface="等线" panose="02010600030101010101" charset="-122"/>
              <a:cs typeface="Times New Roman" panose="02020603050405020304" pitchFamily="18" charset="0"/>
            </a:endParaRPr>
          </a:p>
          <a:p>
            <a:endParaRPr lang="zh-CN" altLang="en-US" dirty="0"/>
          </a:p>
        </p:txBody>
      </p:sp>
      <p:sp>
        <p:nvSpPr>
          <p:cNvPr id="2" name="文本框 1">
            <a:extLst>
              <a:ext uri="{FF2B5EF4-FFF2-40B4-BE49-F238E27FC236}">
                <a16:creationId xmlns:a16="http://schemas.microsoft.com/office/drawing/2014/main" id="{856F731B-5504-458A-855C-5587F1935E6F}"/>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1.</a:t>
            </a:r>
          </a:p>
        </p:txBody>
      </p:sp>
      <p:sp>
        <p:nvSpPr>
          <p:cNvPr id="8" name="文本框 7">
            <a:extLst>
              <a:ext uri="{FF2B5EF4-FFF2-40B4-BE49-F238E27FC236}">
                <a16:creationId xmlns:a16="http://schemas.microsoft.com/office/drawing/2014/main" id="{17BE3E75-C229-4D1E-9758-29C40092E9B2}"/>
              </a:ext>
            </a:extLst>
          </p:cNvPr>
          <p:cNvSpPr txBox="1"/>
          <p:nvPr/>
        </p:nvSpPr>
        <p:spPr>
          <a:xfrm>
            <a:off x="1548765" y="83820"/>
            <a:ext cx="2020105"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79120" y="1132840"/>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59055" y="568325"/>
            <a:ext cx="2124075" cy="1967230"/>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8" name="文本框 7"/>
          <p:cNvSpPr txBox="1"/>
          <p:nvPr/>
        </p:nvSpPr>
        <p:spPr>
          <a:xfrm>
            <a:off x="2371725" y="1481455"/>
            <a:ext cx="8731250" cy="1149350"/>
          </a:xfrm>
          <a:prstGeom prst="rect">
            <a:avLst/>
          </a:prstGeom>
          <a:noFill/>
        </p:spPr>
        <p:txBody>
          <a:bodyPr wrap="square" rtlCol="0">
            <a:spAutoFit/>
          </a:bodyPr>
          <a:lstStyle/>
          <a:p>
            <a:pPr>
              <a:lnSpc>
                <a:spcPts val="1950"/>
              </a:lnSpc>
              <a:spcAft>
                <a:spcPts val="1200"/>
              </a:spcAft>
              <a:defRPr/>
            </a:pPr>
            <a:r>
              <a:rPr lang="zh-CN" altLang="zh-CN" b="1" kern="0" dirty="0">
                <a:solidFill>
                  <a:schemeClr val="accent1"/>
                </a:solidFill>
                <a:latin typeface="等线" panose="02010600030101010101" charset="-122"/>
                <a:cs typeface="Arial" panose="020B0604020202020204" pitchFamily="34" charset="0"/>
                <a:sym typeface="+mn-ea"/>
              </a:rPr>
              <a:t> </a:t>
            </a:r>
            <a:r>
              <a:rPr lang="zh-CN" altLang="en-US" sz="2000" dirty="0">
                <a:solidFill>
                  <a:schemeClr val="accent1"/>
                </a:solidFill>
                <a:sym typeface="+mn-ea"/>
              </a:rPr>
              <a:t>以国际标准IFPUG（International Function Point Users Group）组织提供的功</a:t>
            </a:r>
          </a:p>
          <a:p>
            <a:pPr>
              <a:lnSpc>
                <a:spcPts val="1950"/>
              </a:lnSpc>
              <a:spcAft>
                <a:spcPts val="1200"/>
              </a:spcAft>
              <a:defRPr/>
            </a:pPr>
            <a:r>
              <a:rPr lang="zh-CN" altLang="en-US" sz="2000" dirty="0">
                <a:solidFill>
                  <a:schemeClr val="accent1"/>
                </a:solidFill>
                <a:sym typeface="+mn-ea"/>
              </a:rPr>
              <a:t>能点估算法V4.1.1为基础进行讲解。如下图所示，首先大家应该了解功能点</a:t>
            </a:r>
          </a:p>
          <a:p>
            <a:pPr>
              <a:lnSpc>
                <a:spcPts val="1950"/>
              </a:lnSpc>
              <a:spcAft>
                <a:spcPts val="1200"/>
              </a:spcAft>
              <a:defRPr/>
            </a:pPr>
            <a:r>
              <a:rPr lang="zh-CN" altLang="en-US" sz="2000" dirty="0">
                <a:solidFill>
                  <a:schemeClr val="accent1"/>
                </a:solidFill>
                <a:sym typeface="+mn-ea"/>
              </a:rPr>
              <a:t>估算法的使用步骤</a:t>
            </a:r>
            <a:r>
              <a:rPr lang="zh-CN" altLang="zh-CN" b="1" kern="0" dirty="0">
                <a:solidFill>
                  <a:schemeClr val="accent1"/>
                </a:solidFill>
                <a:latin typeface="等线" panose="02010600030101010101" charset="-122"/>
                <a:cs typeface="Arial" panose="020B0604020202020204" pitchFamily="34" charset="0"/>
                <a:sym typeface="+mn-ea"/>
              </a:rPr>
              <a:t>。</a:t>
            </a:r>
          </a:p>
        </p:txBody>
      </p:sp>
      <p:pic>
        <p:nvPicPr>
          <p:cNvPr id="9" name="Picture 2" descr="http://image.it168.com/cms/2008-1-18/Image/20081181051.JP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97393" y="2560968"/>
            <a:ext cx="9653252" cy="220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 name="矩形 12"/>
          <p:cNvSpPr/>
          <p:nvPr/>
        </p:nvSpPr>
        <p:spPr>
          <a:xfrm>
            <a:off x="1480185" y="4899660"/>
            <a:ext cx="9269730" cy="2091690"/>
          </a:xfrm>
          <a:prstGeom prst="rect">
            <a:avLst/>
          </a:prstGeom>
          <a:solidFill>
            <a:schemeClr val="tx2">
              <a:lumMod val="40000"/>
              <a:lumOff val="60000"/>
              <a:alpha val="56000"/>
            </a:schemeClr>
          </a:solidFill>
          <a:ln>
            <a:noFill/>
          </a:ln>
        </p:spPr>
        <p:txBody>
          <a:bodyPr wrap="square">
            <a:spAutoFit/>
          </a:bodyPr>
          <a:lstStyle/>
          <a:p>
            <a:pPr>
              <a:lnSpc>
                <a:spcPts val="1950"/>
              </a:lnSpc>
              <a:spcAft>
                <a:spcPts val="0"/>
              </a:spcAft>
              <a:defRPr/>
            </a:pPr>
            <a:r>
              <a:rPr lang="zh-CN"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t>具体步骤包括：</a:t>
            </a:r>
            <a:br>
              <a:rPr lang="en-US"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br>
            <a:r>
              <a:rPr lang="en-US"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t>    1. </a:t>
            </a:r>
            <a:r>
              <a:rPr lang="zh-CN"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t>识别功能点的类型。</a:t>
            </a:r>
            <a:br>
              <a:rPr lang="en-US"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br>
            <a:r>
              <a:rPr lang="en-US"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t>    2. </a:t>
            </a:r>
            <a:r>
              <a:rPr lang="zh-CN"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t>识别待估算应用程序的边界和范围。</a:t>
            </a:r>
            <a:br>
              <a:rPr lang="en-US"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br>
            <a:r>
              <a:rPr lang="en-US"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t>    3. </a:t>
            </a:r>
            <a:r>
              <a:rPr lang="zh-CN"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t>计算数据类型功能点所提供的未调整的功能点数量。</a:t>
            </a:r>
            <a:br>
              <a:rPr lang="en-US"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br>
            <a:r>
              <a:rPr lang="en-US"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t>    4. </a:t>
            </a:r>
            <a:r>
              <a:rPr lang="zh-CN"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t>计算人机交互功能所提供的未调整的功能点数量。</a:t>
            </a:r>
            <a:br>
              <a:rPr lang="en-US"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br>
            <a:r>
              <a:rPr lang="en-US"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t>    5. </a:t>
            </a:r>
            <a:r>
              <a:rPr lang="zh-CN"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t>确定调整因子。</a:t>
            </a:r>
            <a:br>
              <a:rPr lang="en-US"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br>
            <a:r>
              <a:rPr lang="en-US"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t>    6. </a:t>
            </a:r>
            <a:r>
              <a:rPr lang="zh-CN" altLang="zh-CN" b="1" kern="0" dirty="0">
                <a:solidFill>
                  <a:srgbClr val="4D4D4D"/>
                </a:solidFill>
                <a:latin typeface="等线" panose="02010600030101010101" charset="-122"/>
                <a:ea typeface="微软雅黑" panose="020B0503020204020204" pitchFamily="34" charset="-122"/>
                <a:cs typeface="Arial" panose="020B0604020202020204" pitchFamily="34" charset="0"/>
              </a:rPr>
              <a:t>计算调整后的功能点数量。</a:t>
            </a:r>
            <a:endParaRPr lang="zh-CN" altLang="zh-CN" sz="1400" b="1" kern="100" dirty="0">
              <a:latin typeface="等线" panose="02010600030101010101" charset="-122"/>
              <a:ea typeface="等线" panose="02010600030101010101" charset="-122"/>
              <a:cs typeface="Times New Roman" panose="02020603050405020304" pitchFamily="18" charset="0"/>
            </a:endParaRPr>
          </a:p>
          <a:p>
            <a:pPr>
              <a:lnSpc>
                <a:spcPts val="1950"/>
              </a:lnSpc>
              <a:spcAft>
                <a:spcPts val="0"/>
              </a:spcAft>
              <a:defRPr/>
            </a:pPr>
            <a:r>
              <a:rPr lang="en-US" altLang="zh-CN" kern="0" dirty="0">
                <a:solidFill>
                  <a:srgbClr val="4D4D4D"/>
                </a:solidFill>
                <a:latin typeface="微软雅黑" panose="020B0503020204020204" pitchFamily="34" charset="-122"/>
                <a:ea typeface="等线" panose="02010600030101010101" charset="-122"/>
                <a:cs typeface="Arial" panose="020B0604020202020204" pitchFamily="34" charset="0"/>
              </a:rPr>
              <a:t> </a:t>
            </a:r>
            <a:endParaRPr lang="zh-CN" altLang="zh-CN" sz="1400" kern="100" dirty="0">
              <a:latin typeface="等线" panose="02010600030101010101" charset="-122"/>
              <a:ea typeface="等线" panose="02010600030101010101" charset="-122"/>
              <a:cs typeface="Times New Roman" panose="02020603050405020304" pitchFamily="18" charset="0"/>
            </a:endParaRPr>
          </a:p>
        </p:txBody>
      </p:sp>
      <p:sp>
        <p:nvSpPr>
          <p:cNvPr id="2" name="文本框 1">
            <a:extLst>
              <a:ext uri="{FF2B5EF4-FFF2-40B4-BE49-F238E27FC236}">
                <a16:creationId xmlns:a16="http://schemas.microsoft.com/office/drawing/2014/main" id="{382F331A-C058-4FF9-BB9A-A9C020A42DC7}"/>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2.</a:t>
            </a:r>
          </a:p>
        </p:txBody>
      </p:sp>
      <p:sp>
        <p:nvSpPr>
          <p:cNvPr id="3" name="文本框 2">
            <a:extLst>
              <a:ext uri="{FF2B5EF4-FFF2-40B4-BE49-F238E27FC236}">
                <a16:creationId xmlns:a16="http://schemas.microsoft.com/office/drawing/2014/main" id="{8E5AA4B6-1D1B-4BFF-9730-929747772A1E}"/>
              </a:ext>
            </a:extLst>
          </p:cNvPr>
          <p:cNvSpPr txBox="1"/>
          <p:nvPr/>
        </p:nvSpPr>
        <p:spPr>
          <a:xfrm>
            <a:off x="1548765" y="83820"/>
            <a:ext cx="2844048"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功能点估算步骤</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11375" y="1138656"/>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10093632" y="6016808"/>
            <a:ext cx="1991995" cy="1810385"/>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884584" y="1685777"/>
            <a:ext cx="9869556" cy="1630521"/>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38" name="文本框 37"/>
          <p:cNvSpPr txBox="1"/>
          <p:nvPr/>
        </p:nvSpPr>
        <p:spPr>
          <a:xfrm>
            <a:off x="1084580" y="1750163"/>
            <a:ext cx="9743841" cy="1631216"/>
          </a:xfrm>
          <a:prstGeom prst="rect">
            <a:avLst/>
          </a:prstGeom>
          <a:noFill/>
        </p:spPr>
        <p:txBody>
          <a:bodyPr wrap="square" rtlCol="0">
            <a:spAutoFit/>
          </a:bodyPr>
          <a:lstStyle/>
          <a:p>
            <a:r>
              <a:rPr lang="en-US" altLang="zh-CN" sz="2000" kern="0" dirty="0">
                <a:solidFill>
                  <a:srgbClr val="4D4D4D"/>
                </a:solidFill>
                <a:latin typeface="微软雅黑" panose="020B0503020204020204" pitchFamily="34" charset="-122"/>
                <a:ea typeface="等线" panose="02010600030101010101" charset="-122"/>
                <a:cs typeface="Arial" panose="020B0604020202020204" pitchFamily="34" charset="0"/>
                <a:sym typeface="+mn-ea"/>
              </a:rPr>
              <a:t>  </a:t>
            </a:r>
            <a:r>
              <a:rPr lang="en-US" altLang="zh-CN" sz="2000" dirty="0">
                <a:latin typeface="Arial" panose="020B0604020202020204" pitchFamily="34" charset="0"/>
                <a:sym typeface="+mn-ea"/>
              </a:rPr>
              <a:t>1.</a:t>
            </a:r>
            <a:r>
              <a:rPr lang="zh-CN" altLang="en-US" sz="2000" dirty="0">
                <a:latin typeface="Arial" panose="020B0604020202020204" pitchFamily="34" charset="0"/>
                <a:sym typeface="+mn-ea"/>
              </a:rPr>
              <a:t>未调整功能数</a:t>
            </a:r>
            <a:endParaRPr lang="en-US" altLang="zh-CN" sz="2000" dirty="0">
              <a:latin typeface="Arial" panose="020B0604020202020204" pitchFamily="34" charset="0"/>
              <a:sym typeface="+mn-ea"/>
            </a:endParaRPr>
          </a:p>
          <a:p>
            <a:endParaRPr lang="en-US" altLang="zh-CN" sz="2000" dirty="0">
              <a:latin typeface="Arial" panose="020B0604020202020204" pitchFamily="34" charset="0"/>
              <a:sym typeface="+mn-ea"/>
            </a:endParaRPr>
          </a:p>
          <a:p>
            <a:r>
              <a:rPr lang="zh-CN" altLang="en-US" sz="2000" dirty="0">
                <a:latin typeface="Arial" panose="020B0604020202020204" pitchFamily="34" charset="0"/>
                <a:sym typeface="+mn-ea"/>
              </a:rPr>
              <a:t>由技术人员依据软件需求与设计文档的信息，根据五种用户功能类型分别来统计。</a:t>
            </a:r>
            <a:r>
              <a:rPr lang="zh-CN" altLang="zh-CN" sz="2000" kern="0" dirty="0">
                <a:solidFill>
                  <a:srgbClr val="C00000"/>
                </a:solidFill>
                <a:cs typeface="Arial" panose="020B0604020202020204" pitchFamily="34" charset="0"/>
                <a:sym typeface="+mn-ea"/>
              </a:rPr>
              <a:t>其中，</a:t>
            </a:r>
            <a:r>
              <a:rPr lang="en-US" altLang="zh-CN" sz="2000" kern="0" dirty="0">
                <a:solidFill>
                  <a:srgbClr val="C00000"/>
                </a:solidFill>
                <a:cs typeface="Arial" panose="020B0604020202020204" pitchFamily="34" charset="0"/>
                <a:sym typeface="+mn-ea"/>
              </a:rPr>
              <a:t>ILF</a:t>
            </a:r>
            <a:r>
              <a:rPr lang="zh-CN" altLang="zh-CN" sz="2000" kern="0" dirty="0">
                <a:solidFill>
                  <a:srgbClr val="C00000"/>
                </a:solidFill>
                <a:cs typeface="Arial" panose="020B0604020202020204" pitchFamily="34" charset="0"/>
                <a:sym typeface="+mn-ea"/>
              </a:rPr>
              <a:t>和</a:t>
            </a:r>
            <a:r>
              <a:rPr lang="en-US" altLang="zh-CN" sz="2000" kern="0" dirty="0">
                <a:solidFill>
                  <a:srgbClr val="C00000"/>
                </a:solidFill>
                <a:cs typeface="Arial" panose="020B0604020202020204" pitchFamily="34" charset="0"/>
                <a:sym typeface="+mn-ea"/>
              </a:rPr>
              <a:t>EIF</a:t>
            </a:r>
            <a:r>
              <a:rPr lang="zh-CN" altLang="zh-CN" sz="2000" kern="0" dirty="0">
                <a:solidFill>
                  <a:srgbClr val="C00000"/>
                </a:solidFill>
                <a:cs typeface="Arial" panose="020B0604020202020204" pitchFamily="34" charset="0"/>
                <a:sym typeface="+mn-ea"/>
              </a:rPr>
              <a:t>属于数据类型的功能点，</a:t>
            </a:r>
            <a:r>
              <a:rPr lang="en-US" altLang="zh-CN" sz="2000" kern="0" dirty="0">
                <a:solidFill>
                  <a:srgbClr val="C00000"/>
                </a:solidFill>
                <a:cs typeface="Arial" panose="020B0604020202020204" pitchFamily="34" charset="0"/>
                <a:sym typeface="+mn-ea"/>
              </a:rPr>
              <a:t>EI</a:t>
            </a:r>
            <a:r>
              <a:rPr lang="zh-CN" altLang="zh-CN" sz="2000" kern="0" dirty="0">
                <a:solidFill>
                  <a:srgbClr val="C00000"/>
                </a:solidFill>
                <a:cs typeface="Arial" panose="020B0604020202020204" pitchFamily="34" charset="0"/>
                <a:sym typeface="+mn-ea"/>
              </a:rPr>
              <a:t>、</a:t>
            </a:r>
            <a:r>
              <a:rPr lang="en-US" altLang="zh-CN" sz="2000" kern="0" dirty="0">
                <a:solidFill>
                  <a:srgbClr val="C00000"/>
                </a:solidFill>
                <a:cs typeface="Arial" panose="020B0604020202020204" pitchFamily="34" charset="0"/>
                <a:sym typeface="+mn-ea"/>
              </a:rPr>
              <a:t>EO</a:t>
            </a:r>
            <a:r>
              <a:rPr lang="zh-CN" altLang="zh-CN" sz="2000" kern="0" dirty="0">
                <a:solidFill>
                  <a:srgbClr val="C00000"/>
                </a:solidFill>
                <a:cs typeface="Arial" panose="020B0604020202020204" pitchFamily="34" charset="0"/>
                <a:sym typeface="+mn-ea"/>
              </a:rPr>
              <a:t>、</a:t>
            </a:r>
            <a:r>
              <a:rPr lang="en-US" altLang="zh-CN" sz="2000" kern="0" dirty="0">
                <a:solidFill>
                  <a:srgbClr val="C00000"/>
                </a:solidFill>
                <a:cs typeface="Arial" panose="020B0604020202020204" pitchFamily="34" charset="0"/>
                <a:sym typeface="+mn-ea"/>
              </a:rPr>
              <a:t>EQ</a:t>
            </a:r>
            <a:r>
              <a:rPr lang="zh-CN" altLang="zh-CN" sz="2000" kern="0" dirty="0">
                <a:solidFill>
                  <a:srgbClr val="C00000"/>
                </a:solidFill>
                <a:cs typeface="Arial" panose="020B0604020202020204" pitchFamily="34" charset="0"/>
                <a:sym typeface="+mn-ea"/>
              </a:rPr>
              <a:t>属于人机交互事务类型的功能点。</a:t>
            </a:r>
            <a:endParaRPr lang="zh-CN" altLang="en-US" sz="2000" dirty="0">
              <a:solidFill>
                <a:srgbClr val="C00000"/>
              </a:solidFill>
              <a:latin typeface="Arial" panose="020B0604020202020204" pitchFamily="34" charset="0"/>
            </a:endParaRPr>
          </a:p>
          <a:p>
            <a:endParaRPr lang="zh-CN" altLang="en-US" sz="2000" dirty="0">
              <a:solidFill>
                <a:srgbClr val="C00000"/>
              </a:solidFill>
              <a:latin typeface="Arial" panose="020B0604020202020204" pitchFamily="34" charset="0"/>
            </a:endParaRPr>
          </a:p>
        </p:txBody>
      </p:sp>
      <p:graphicFrame>
        <p:nvGraphicFramePr>
          <p:cNvPr id="2" name="表格 8">
            <a:extLst>
              <a:ext uri="{FF2B5EF4-FFF2-40B4-BE49-F238E27FC236}">
                <a16:creationId xmlns:a16="http://schemas.microsoft.com/office/drawing/2014/main" id="{A9CF4190-38B6-4640-B05E-81072D91A317}"/>
              </a:ext>
            </a:extLst>
          </p:cNvPr>
          <p:cNvGraphicFramePr>
            <a:graphicFrameLocks noGrp="1"/>
          </p:cNvGraphicFramePr>
          <p:nvPr>
            <p:extLst>
              <p:ext uri="{D42A27DB-BD31-4B8C-83A1-F6EECF244321}">
                <p14:modId xmlns:p14="http://schemas.microsoft.com/office/powerpoint/2010/main" val="1280126022"/>
              </p:ext>
            </p:extLst>
          </p:nvPr>
        </p:nvGraphicFramePr>
        <p:xfrm>
          <a:off x="1548765" y="3532461"/>
          <a:ext cx="8976439" cy="2965661"/>
        </p:xfrm>
        <a:graphic>
          <a:graphicData uri="http://schemas.openxmlformats.org/drawingml/2006/table">
            <a:tbl>
              <a:tblPr firstRow="1" bandRow="1">
                <a:tableStyleId>{5C22544A-7EE6-4342-B048-85BDC9FD1C3A}</a:tableStyleId>
              </a:tblPr>
              <a:tblGrid>
                <a:gridCol w="2099210">
                  <a:extLst>
                    <a:ext uri="{9D8B030D-6E8A-4147-A177-3AD203B41FA5}">
                      <a16:colId xmlns:a16="http://schemas.microsoft.com/office/drawing/2014/main" val="3262244638"/>
                    </a:ext>
                  </a:extLst>
                </a:gridCol>
                <a:gridCol w="3532471">
                  <a:extLst>
                    <a:ext uri="{9D8B030D-6E8A-4147-A177-3AD203B41FA5}">
                      <a16:colId xmlns:a16="http://schemas.microsoft.com/office/drawing/2014/main" val="3669306278"/>
                    </a:ext>
                  </a:extLst>
                </a:gridCol>
                <a:gridCol w="3344758">
                  <a:extLst>
                    <a:ext uri="{9D8B030D-6E8A-4147-A177-3AD203B41FA5}">
                      <a16:colId xmlns:a16="http://schemas.microsoft.com/office/drawing/2014/main" val="2476948714"/>
                    </a:ext>
                  </a:extLst>
                </a:gridCol>
              </a:tblGrid>
              <a:tr h="370840">
                <a:tc>
                  <a:txBody>
                    <a:bodyPr/>
                    <a:lstStyle/>
                    <a:p>
                      <a:r>
                        <a:rPr lang="zh-CN" altLang="en-US" dirty="0"/>
                        <a:t>功能点</a:t>
                      </a:r>
                    </a:p>
                  </a:txBody>
                  <a:tcPr/>
                </a:tc>
                <a:tc>
                  <a:txBody>
                    <a:bodyPr/>
                    <a:lstStyle/>
                    <a:p>
                      <a:r>
                        <a:rPr lang="zh-CN" altLang="en-US" dirty="0"/>
                        <a:t>英文名字</a:t>
                      </a:r>
                    </a:p>
                  </a:txBody>
                  <a:tcPr/>
                </a:tc>
                <a:tc>
                  <a:txBody>
                    <a:bodyPr/>
                    <a:lstStyle/>
                    <a:p>
                      <a:r>
                        <a:rPr lang="zh-CN" altLang="en-US" dirty="0"/>
                        <a:t>描述</a:t>
                      </a:r>
                    </a:p>
                  </a:txBody>
                  <a:tcPr/>
                </a:tc>
                <a:extLst>
                  <a:ext uri="{0D108BD9-81ED-4DB2-BD59-A6C34878D82A}">
                    <a16:rowId xmlns:a16="http://schemas.microsoft.com/office/drawing/2014/main" val="2475832013"/>
                  </a:ext>
                </a:extLst>
              </a:tr>
              <a:tr h="370840">
                <a:tc gridSpan="3">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zh-CN" sz="1800" kern="1200" dirty="0">
                          <a:solidFill>
                            <a:schemeClr val="dk1"/>
                          </a:solidFill>
                          <a:effectLst/>
                          <a:latin typeface="+mn-lt"/>
                          <a:ea typeface="+mn-ea"/>
                          <a:cs typeface="+mn-cs"/>
                        </a:rPr>
                        <a:t>人机交互（程序复杂度）</a:t>
                      </a:r>
                      <a:endParaRPr lang="zh-CN" altLang="en-US" dirty="0"/>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792334347"/>
                  </a:ext>
                </a:extLst>
              </a:tr>
              <a:tr h="370840">
                <a:tc>
                  <a:txBody>
                    <a:bodyPr/>
                    <a:lstStyle/>
                    <a:p>
                      <a:r>
                        <a:rPr lang="zh-CN" altLang="en-US" dirty="0"/>
                        <a:t>外部输入</a:t>
                      </a:r>
                      <a:r>
                        <a:rPr lang="en-US" altLang="zh-CN" dirty="0"/>
                        <a:t>(EI)</a:t>
                      </a:r>
                      <a:endParaRPr lang="zh-CN" altLang="en-US" dirty="0"/>
                    </a:p>
                  </a:txBody>
                  <a:tcPr/>
                </a:tc>
                <a:tc>
                  <a:txBody>
                    <a:bodyPr/>
                    <a:lstStyle/>
                    <a:p>
                      <a:r>
                        <a:rPr lang="en-US" altLang="zh-CN"/>
                        <a:t>External Input</a:t>
                      </a:r>
                      <a:endParaRPr lang="zh-CN" altLang="en-US" dirty="0"/>
                    </a:p>
                  </a:txBody>
                  <a:tcPr/>
                </a:tc>
                <a:tc>
                  <a:txBody>
                    <a:bodyPr/>
                    <a:lstStyle/>
                    <a:p>
                      <a:r>
                        <a:rPr lang="zh-CN" altLang="en-US"/>
                        <a:t>数据输入界面</a:t>
                      </a:r>
                      <a:endParaRPr lang="zh-CN" altLang="en-US" dirty="0"/>
                    </a:p>
                  </a:txBody>
                  <a:tcPr/>
                </a:tc>
                <a:extLst>
                  <a:ext uri="{0D108BD9-81ED-4DB2-BD59-A6C34878D82A}">
                    <a16:rowId xmlns:a16="http://schemas.microsoft.com/office/drawing/2014/main" val="1064335112"/>
                  </a:ext>
                </a:extLst>
              </a:tr>
              <a:tr h="369781">
                <a:tc>
                  <a:txBody>
                    <a:bodyPr/>
                    <a:lstStyle/>
                    <a:p>
                      <a:r>
                        <a:rPr lang="zh-CN" altLang="en-US" dirty="0"/>
                        <a:t>外部输出</a:t>
                      </a:r>
                      <a:r>
                        <a:rPr lang="en-US" altLang="zh-CN" dirty="0"/>
                        <a:t>(EO)</a:t>
                      </a:r>
                      <a:endParaRPr lang="zh-CN" altLang="en-US" dirty="0"/>
                    </a:p>
                  </a:txBody>
                  <a:tcPr/>
                </a:tc>
                <a:tc>
                  <a:txBody>
                    <a:bodyPr/>
                    <a:lstStyle/>
                    <a:p>
                      <a:r>
                        <a:rPr lang="en-US" altLang="zh-CN"/>
                        <a:t>External Output</a:t>
                      </a:r>
                      <a:endParaRPr lang="zh-CN" altLang="en-US" dirty="0"/>
                    </a:p>
                  </a:txBody>
                  <a:tcPr/>
                </a:tc>
                <a:tc>
                  <a:txBody>
                    <a:bodyPr/>
                    <a:lstStyle/>
                    <a:p>
                      <a:r>
                        <a:rPr lang="zh-CN" altLang="en-US"/>
                        <a:t>主要指报表</a:t>
                      </a:r>
                      <a:endParaRPr lang="zh-CN" altLang="en-US" dirty="0"/>
                    </a:p>
                  </a:txBody>
                  <a:tcPr/>
                </a:tc>
                <a:extLst>
                  <a:ext uri="{0D108BD9-81ED-4DB2-BD59-A6C34878D82A}">
                    <a16:rowId xmlns:a16="http://schemas.microsoft.com/office/drawing/2014/main" val="1718098355"/>
                  </a:ext>
                </a:extLst>
              </a:tr>
              <a:tr h="370840">
                <a:tc>
                  <a:txBody>
                    <a:bodyPr/>
                    <a:lstStyle/>
                    <a:p>
                      <a:r>
                        <a:rPr lang="zh-CN" altLang="en-US" dirty="0"/>
                        <a:t>外部查询</a:t>
                      </a:r>
                      <a:r>
                        <a:rPr lang="en-US" altLang="zh-CN" dirty="0"/>
                        <a:t>(EQ)</a:t>
                      </a:r>
                      <a:endParaRPr lang="zh-CN" altLang="en-US" dirty="0"/>
                    </a:p>
                  </a:txBody>
                  <a:tcPr/>
                </a:tc>
                <a:tc>
                  <a:txBody>
                    <a:bodyPr/>
                    <a:lstStyle/>
                    <a:p>
                      <a:r>
                        <a:rPr lang="en-US" altLang="zh-CN" dirty="0"/>
                        <a:t>External Inquiry</a:t>
                      </a:r>
                      <a:endParaRPr lang="zh-CN" altLang="en-US" dirty="0"/>
                    </a:p>
                  </a:txBody>
                  <a:tcPr/>
                </a:tc>
                <a:tc>
                  <a:txBody>
                    <a:bodyPr/>
                    <a:lstStyle/>
                    <a:p>
                      <a:r>
                        <a:rPr lang="zh-CN" altLang="en-US" dirty="0"/>
                        <a:t>应用系统与外部之间的通信</a:t>
                      </a:r>
                    </a:p>
                  </a:txBody>
                  <a:tcPr/>
                </a:tc>
                <a:extLst>
                  <a:ext uri="{0D108BD9-81ED-4DB2-BD59-A6C34878D82A}">
                    <a16:rowId xmlns:a16="http://schemas.microsoft.com/office/drawing/2014/main" val="648576572"/>
                  </a:ext>
                </a:extLst>
              </a:tr>
              <a:tr h="370840">
                <a:tc gridSpan="3">
                  <a:txBody>
                    <a:bodyPr/>
                    <a:lstStyle/>
                    <a:p>
                      <a:pPr marL="0" marR="0" lvl="0" indent="0" algn="ctr" defTabSz="913765" rtl="0" eaLnBrk="1" fontAlgn="auto" latinLnBrk="0" hangingPunct="1">
                        <a:lnSpc>
                          <a:spcPct val="100000"/>
                        </a:lnSpc>
                        <a:spcBef>
                          <a:spcPts val="0"/>
                        </a:spcBef>
                        <a:spcAft>
                          <a:spcPts val="0"/>
                        </a:spcAft>
                        <a:buClrTx/>
                        <a:buSzTx/>
                        <a:buFontTx/>
                        <a:buNone/>
                        <a:tabLst/>
                        <a:defRPr/>
                      </a:pPr>
                      <a:r>
                        <a:rPr lang="zh-CN" altLang="zh-CN" sz="1800" kern="1200" dirty="0">
                          <a:solidFill>
                            <a:schemeClr val="dk1"/>
                          </a:solidFill>
                          <a:effectLst/>
                          <a:latin typeface="+mn-lt"/>
                          <a:ea typeface="+mn-ea"/>
                          <a:cs typeface="+mn-cs"/>
                        </a:rPr>
                        <a:t>数据存储（数据库复杂度）</a:t>
                      </a:r>
                      <a:endParaRPr lang="zh-CN" altLang="en-US" dirty="0"/>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3566179679"/>
                  </a:ext>
                </a:extLst>
              </a:tr>
              <a:tr h="370840">
                <a:tc>
                  <a:txBody>
                    <a:bodyPr/>
                    <a:lstStyle/>
                    <a:p>
                      <a:r>
                        <a:rPr lang="zh-CN" altLang="zh-CN" sz="1800" kern="1200" dirty="0">
                          <a:solidFill>
                            <a:schemeClr val="dk1"/>
                          </a:solidFill>
                          <a:effectLst/>
                          <a:latin typeface="+mn-lt"/>
                          <a:ea typeface="+mn-ea"/>
                          <a:cs typeface="+mn-cs"/>
                        </a:rPr>
                        <a:t>内部逻辑文件</a:t>
                      </a:r>
                      <a:r>
                        <a:rPr lang="en-US" altLang="zh-CN" sz="1800" kern="1200" dirty="0">
                          <a:solidFill>
                            <a:schemeClr val="dk1"/>
                          </a:solidFill>
                          <a:effectLst/>
                          <a:latin typeface="+mn-lt"/>
                          <a:ea typeface="+mn-ea"/>
                          <a:cs typeface="+mn-cs"/>
                        </a:rPr>
                        <a:t>(ILF)</a:t>
                      </a:r>
                      <a:endParaRPr lang="zh-CN" altLang="en-US" dirty="0"/>
                    </a:p>
                  </a:txBody>
                  <a:tcPr/>
                </a:tc>
                <a:tc>
                  <a:txBody>
                    <a:bodyPr/>
                    <a:lstStyle/>
                    <a:p>
                      <a:r>
                        <a:rPr lang="en-US" altLang="zh-CN" sz="1800" kern="1200">
                          <a:solidFill>
                            <a:schemeClr val="dk1"/>
                          </a:solidFill>
                          <a:effectLst/>
                          <a:latin typeface="+mn-lt"/>
                          <a:ea typeface="+mn-ea"/>
                          <a:cs typeface="+mn-cs"/>
                        </a:rPr>
                        <a:t>Internal Logical File</a:t>
                      </a:r>
                      <a:endParaRPr lang="zh-CN" altLang="en-US" dirty="0"/>
                    </a:p>
                  </a:txBody>
                  <a:tcPr/>
                </a:tc>
                <a:tc>
                  <a:txBody>
                    <a:bodyPr/>
                    <a:lstStyle/>
                    <a:p>
                      <a:r>
                        <a:rPr lang="zh-CN" altLang="en-US"/>
                        <a:t>数据库的数据表数目</a:t>
                      </a:r>
                    </a:p>
                  </a:txBody>
                  <a:tcPr/>
                </a:tc>
                <a:extLst>
                  <a:ext uri="{0D108BD9-81ED-4DB2-BD59-A6C34878D82A}">
                    <a16:rowId xmlns:a16="http://schemas.microsoft.com/office/drawing/2014/main" val="2045615574"/>
                  </a:ext>
                </a:extLst>
              </a:tr>
              <a:tr h="370840">
                <a:tc>
                  <a:txBody>
                    <a:bodyPr/>
                    <a:lstStyle/>
                    <a:p>
                      <a:r>
                        <a:rPr lang="zh-CN" altLang="zh-CN" sz="1800" kern="1200" dirty="0">
                          <a:solidFill>
                            <a:schemeClr val="dk1"/>
                          </a:solidFill>
                          <a:effectLst/>
                          <a:latin typeface="+mn-lt"/>
                          <a:ea typeface="+mn-ea"/>
                          <a:cs typeface="+mn-cs"/>
                        </a:rPr>
                        <a:t>外部接口文件</a:t>
                      </a:r>
                      <a:r>
                        <a:rPr lang="en-US" altLang="zh-CN" sz="1800" kern="1200" dirty="0">
                          <a:solidFill>
                            <a:schemeClr val="dk1"/>
                          </a:solidFill>
                          <a:effectLst/>
                          <a:latin typeface="+mn-lt"/>
                          <a:ea typeface="+mn-ea"/>
                          <a:cs typeface="+mn-cs"/>
                        </a:rPr>
                        <a:t>(EIF)</a:t>
                      </a:r>
                      <a:endParaRPr lang="zh-CN" altLang="en-US" dirty="0"/>
                    </a:p>
                  </a:txBody>
                  <a:tcPr/>
                </a:tc>
                <a:tc>
                  <a:txBody>
                    <a:bodyPr/>
                    <a:lstStyle/>
                    <a:p>
                      <a:r>
                        <a:rPr lang="en-US" altLang="zh-CN" sz="1800" kern="1200" dirty="0">
                          <a:solidFill>
                            <a:schemeClr val="dk1"/>
                          </a:solidFill>
                          <a:effectLst/>
                          <a:latin typeface="+mn-lt"/>
                          <a:ea typeface="+mn-ea"/>
                          <a:cs typeface="+mn-cs"/>
                        </a:rPr>
                        <a:t>External Interface File</a:t>
                      </a:r>
                      <a:endParaRPr lang="zh-CN" altLang="en-US" dirty="0"/>
                    </a:p>
                  </a:txBody>
                  <a:tcPr/>
                </a:tc>
                <a:tc>
                  <a:txBody>
                    <a:bodyPr/>
                    <a:lstStyle/>
                    <a:p>
                      <a:r>
                        <a:rPr lang="zh-CN" altLang="en-US" dirty="0"/>
                        <a:t>输入和输出之间的接口文件</a:t>
                      </a:r>
                    </a:p>
                  </a:txBody>
                  <a:tcPr/>
                </a:tc>
                <a:extLst>
                  <a:ext uri="{0D108BD9-81ED-4DB2-BD59-A6C34878D82A}">
                    <a16:rowId xmlns:a16="http://schemas.microsoft.com/office/drawing/2014/main" val="3552641744"/>
                  </a:ext>
                </a:extLst>
              </a:tr>
            </a:tbl>
          </a:graphicData>
        </a:graphic>
      </p:graphicFrame>
      <p:sp>
        <p:nvSpPr>
          <p:cNvPr id="9" name="文本框 8">
            <a:extLst>
              <a:ext uri="{FF2B5EF4-FFF2-40B4-BE49-F238E27FC236}">
                <a16:creationId xmlns:a16="http://schemas.microsoft.com/office/drawing/2014/main" id="{5AA785EC-2558-4722-A466-28C57E33A617}"/>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2.</a:t>
            </a:r>
          </a:p>
        </p:txBody>
      </p:sp>
      <p:sp>
        <p:nvSpPr>
          <p:cNvPr id="13" name="文本框 12">
            <a:extLst>
              <a:ext uri="{FF2B5EF4-FFF2-40B4-BE49-F238E27FC236}">
                <a16:creationId xmlns:a16="http://schemas.microsoft.com/office/drawing/2014/main" id="{EB934B30-1727-42E1-9845-48E4DBA798D2}"/>
              </a:ext>
            </a:extLst>
          </p:cNvPr>
          <p:cNvSpPr txBox="1"/>
          <p:nvPr/>
        </p:nvSpPr>
        <p:spPr>
          <a:xfrm>
            <a:off x="1548765" y="83820"/>
            <a:ext cx="2844048"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功能点估算步骤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68960" y="112204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198120" y="504190"/>
            <a:ext cx="1810385" cy="1649730"/>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2433320" y="1457960"/>
            <a:ext cx="8537575" cy="1988820"/>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38" name="文本框 37"/>
          <p:cNvSpPr txBox="1"/>
          <p:nvPr/>
        </p:nvSpPr>
        <p:spPr>
          <a:xfrm>
            <a:off x="2764155" y="1811655"/>
            <a:ext cx="8010525" cy="1501775"/>
          </a:xfrm>
          <a:prstGeom prst="rect">
            <a:avLst/>
          </a:prstGeom>
          <a:noFill/>
        </p:spPr>
        <p:txBody>
          <a:bodyPr wrap="square" rtlCol="0">
            <a:spAutoFit/>
          </a:bodyPr>
          <a:lstStyle/>
          <a:p>
            <a:pPr latinLnBrk="0">
              <a:lnSpc>
                <a:spcPts val="2750"/>
              </a:lnSpc>
              <a:spcAft>
                <a:spcPts val="1200"/>
              </a:spcAft>
              <a:defRPr/>
            </a:pPr>
            <a:r>
              <a:rPr lang="en-US" altLang="zh-CN" sz="2000" kern="0" dirty="0">
                <a:solidFill>
                  <a:srgbClr val="4D4D4D"/>
                </a:solidFill>
                <a:latin typeface="微软雅黑" panose="020B0503020204020204" pitchFamily="34" charset="-122"/>
                <a:ea typeface="等线" panose="02010600030101010101" charset="-122"/>
                <a:cs typeface="Arial" panose="020B0604020202020204" pitchFamily="34" charset="0"/>
                <a:sym typeface="+mn-ea"/>
              </a:rPr>
              <a:t>    ILF</a:t>
            </a:r>
            <a:r>
              <a:rPr lang="zh-CN" altLang="zh-CN" sz="2000" kern="0" dirty="0">
                <a:solidFill>
                  <a:srgbClr val="4D4D4D"/>
                </a:solidFill>
                <a:latin typeface="等线" panose="02010600030101010101" charset="-122"/>
                <a:cs typeface="Arial" panose="020B0604020202020204" pitchFamily="34" charset="0"/>
                <a:sym typeface="+mn-ea"/>
              </a:rPr>
              <a:t>、</a:t>
            </a:r>
            <a:r>
              <a:rPr lang="en-US" altLang="zh-CN" sz="2000" kern="0" dirty="0">
                <a:solidFill>
                  <a:srgbClr val="4D4D4D"/>
                </a:solidFill>
                <a:latin typeface="等线" panose="02010600030101010101" charset="-122"/>
                <a:cs typeface="Arial" panose="020B0604020202020204" pitchFamily="34" charset="0"/>
                <a:sym typeface="+mn-ea"/>
              </a:rPr>
              <a:t>EIF</a:t>
            </a:r>
            <a:r>
              <a:rPr lang="zh-CN" altLang="zh-CN" sz="2000" kern="0" dirty="0">
                <a:solidFill>
                  <a:srgbClr val="4D4D4D"/>
                </a:solidFill>
                <a:latin typeface="等线" panose="02010600030101010101" charset="-122"/>
                <a:cs typeface="Arial" panose="020B0604020202020204" pitchFamily="34" charset="0"/>
                <a:sym typeface="+mn-ea"/>
              </a:rPr>
              <a:t>要与</a:t>
            </a:r>
            <a:r>
              <a:rPr lang="en-US" altLang="zh-CN" sz="2000" kern="0" dirty="0">
                <a:solidFill>
                  <a:srgbClr val="4D4D4D"/>
                </a:solidFill>
                <a:latin typeface="等线" panose="02010600030101010101" charset="-122"/>
                <a:cs typeface="Arial" panose="020B0604020202020204" pitchFamily="34" charset="0"/>
                <a:sym typeface="+mn-ea"/>
              </a:rPr>
              <a:t>EI</a:t>
            </a:r>
            <a:r>
              <a:rPr lang="zh-CN" altLang="zh-CN" sz="2000" kern="0" dirty="0">
                <a:solidFill>
                  <a:srgbClr val="4D4D4D"/>
                </a:solidFill>
                <a:latin typeface="等线" panose="02010600030101010101" charset="-122"/>
                <a:cs typeface="Arial" panose="020B0604020202020204" pitchFamily="34" charset="0"/>
                <a:sym typeface="+mn-ea"/>
              </a:rPr>
              <a:t>、</a:t>
            </a:r>
            <a:r>
              <a:rPr lang="en-US" altLang="zh-CN" sz="2000" kern="0" dirty="0">
                <a:solidFill>
                  <a:srgbClr val="4D4D4D"/>
                </a:solidFill>
                <a:latin typeface="等线" panose="02010600030101010101" charset="-122"/>
                <a:cs typeface="Arial" panose="020B0604020202020204" pitchFamily="34" charset="0"/>
                <a:sym typeface="+mn-ea"/>
              </a:rPr>
              <a:t>EO</a:t>
            </a:r>
            <a:r>
              <a:rPr lang="zh-CN" altLang="zh-CN" sz="2000" kern="0" dirty="0">
                <a:solidFill>
                  <a:srgbClr val="4D4D4D"/>
                </a:solidFill>
                <a:latin typeface="等线" panose="02010600030101010101" charset="-122"/>
                <a:cs typeface="Arial" panose="020B0604020202020204" pitchFamily="34" charset="0"/>
                <a:sym typeface="+mn-ea"/>
              </a:rPr>
              <a:t>、</a:t>
            </a:r>
            <a:r>
              <a:rPr lang="en-US" altLang="zh-CN" sz="2000" kern="0" dirty="0">
                <a:solidFill>
                  <a:srgbClr val="4D4D4D"/>
                </a:solidFill>
                <a:latin typeface="等线" panose="02010600030101010101" charset="-122"/>
                <a:cs typeface="Arial" panose="020B0604020202020204" pitchFamily="34" charset="0"/>
                <a:sym typeface="+mn-ea"/>
              </a:rPr>
              <a:t>EQ</a:t>
            </a:r>
            <a:r>
              <a:rPr lang="zh-CN" altLang="zh-CN" sz="2000" kern="0" dirty="0">
                <a:solidFill>
                  <a:srgbClr val="4D4D4D"/>
                </a:solidFill>
                <a:latin typeface="等线" panose="02010600030101010101" charset="-122"/>
                <a:cs typeface="Arial" panose="020B0604020202020204" pitchFamily="34" charset="0"/>
                <a:sym typeface="+mn-ea"/>
              </a:rPr>
              <a:t>分开计算。对</a:t>
            </a:r>
            <a:r>
              <a:rPr lang="en-US" altLang="zh-CN" sz="2000" kern="0" dirty="0">
                <a:solidFill>
                  <a:srgbClr val="4D4D4D"/>
                </a:solidFill>
                <a:latin typeface="等线" panose="02010600030101010101" charset="-122"/>
                <a:cs typeface="Arial" panose="020B0604020202020204" pitchFamily="34" charset="0"/>
                <a:sym typeface="+mn-ea"/>
              </a:rPr>
              <a:t>ILF</a:t>
            </a:r>
            <a:r>
              <a:rPr lang="zh-CN" altLang="zh-CN" sz="2000" kern="0" dirty="0">
                <a:solidFill>
                  <a:srgbClr val="4D4D4D"/>
                </a:solidFill>
                <a:latin typeface="等线" panose="02010600030101010101" charset="-122"/>
                <a:cs typeface="Arial" panose="020B0604020202020204" pitchFamily="34" charset="0"/>
                <a:sym typeface="+mn-ea"/>
              </a:rPr>
              <a:t>和</a:t>
            </a:r>
            <a:r>
              <a:rPr lang="en-US" altLang="zh-CN" sz="2000" kern="0" dirty="0">
                <a:solidFill>
                  <a:srgbClr val="4D4D4D"/>
                </a:solidFill>
                <a:latin typeface="等线" panose="02010600030101010101" charset="-122"/>
                <a:cs typeface="Arial" panose="020B0604020202020204" pitchFamily="34" charset="0"/>
                <a:sym typeface="+mn-ea"/>
              </a:rPr>
              <a:t>EIF</a:t>
            </a:r>
            <a:r>
              <a:rPr lang="zh-CN" altLang="zh-CN" sz="2000" kern="0" dirty="0">
                <a:solidFill>
                  <a:srgbClr val="4D4D4D"/>
                </a:solidFill>
                <a:latin typeface="等线" panose="02010600030101010101" charset="-122"/>
                <a:cs typeface="Arial" panose="020B0604020202020204" pitchFamily="34" charset="0"/>
                <a:sym typeface="+mn-ea"/>
              </a:rPr>
              <a:t>复杂度的计算可以简单理解为对数据库复杂度的计算。对</a:t>
            </a:r>
            <a:r>
              <a:rPr lang="en-US" altLang="zh-CN" sz="2000" kern="0" dirty="0">
                <a:solidFill>
                  <a:srgbClr val="4D4D4D"/>
                </a:solidFill>
                <a:latin typeface="等线" panose="02010600030101010101" charset="-122"/>
                <a:cs typeface="Arial" panose="020B0604020202020204" pitchFamily="34" charset="0"/>
                <a:sym typeface="+mn-ea"/>
              </a:rPr>
              <a:t>EI</a:t>
            </a:r>
            <a:r>
              <a:rPr lang="zh-CN" altLang="zh-CN" sz="2000" kern="0" dirty="0">
                <a:solidFill>
                  <a:srgbClr val="4D4D4D"/>
                </a:solidFill>
                <a:latin typeface="等线" panose="02010600030101010101" charset="-122"/>
                <a:cs typeface="Arial" panose="020B0604020202020204" pitchFamily="34" charset="0"/>
                <a:sym typeface="+mn-ea"/>
              </a:rPr>
              <a:t>、</a:t>
            </a:r>
            <a:r>
              <a:rPr lang="en-US" altLang="zh-CN" sz="2000" kern="0" dirty="0">
                <a:solidFill>
                  <a:srgbClr val="4D4D4D"/>
                </a:solidFill>
                <a:latin typeface="等线" panose="02010600030101010101" charset="-122"/>
                <a:cs typeface="Arial" panose="020B0604020202020204" pitchFamily="34" charset="0"/>
                <a:sym typeface="+mn-ea"/>
              </a:rPr>
              <a:t>EO</a:t>
            </a:r>
            <a:r>
              <a:rPr lang="zh-CN" altLang="zh-CN" sz="2000" kern="0" dirty="0">
                <a:solidFill>
                  <a:srgbClr val="4D4D4D"/>
                </a:solidFill>
                <a:latin typeface="等线" panose="02010600030101010101" charset="-122"/>
                <a:cs typeface="Arial" panose="020B0604020202020204" pitchFamily="34" charset="0"/>
                <a:sym typeface="+mn-ea"/>
              </a:rPr>
              <a:t>、</a:t>
            </a:r>
            <a:r>
              <a:rPr lang="en-US" altLang="zh-CN" sz="2000" kern="0" dirty="0">
                <a:solidFill>
                  <a:srgbClr val="4D4D4D"/>
                </a:solidFill>
                <a:latin typeface="等线" panose="02010600030101010101" charset="-122"/>
                <a:cs typeface="Arial" panose="020B0604020202020204" pitchFamily="34" charset="0"/>
                <a:sym typeface="+mn-ea"/>
              </a:rPr>
              <a:t>EQ</a:t>
            </a:r>
            <a:r>
              <a:rPr lang="zh-CN" altLang="zh-CN" sz="2000" kern="0" dirty="0">
                <a:solidFill>
                  <a:srgbClr val="4D4D4D"/>
                </a:solidFill>
                <a:latin typeface="等线" panose="02010600030101010101" charset="-122"/>
                <a:cs typeface="Arial" panose="020B0604020202020204" pitchFamily="34" charset="0"/>
                <a:sym typeface="+mn-ea"/>
              </a:rPr>
              <a:t>复杂度的计算可以理解为对程序开发复杂度的计算。一般软件项目都是由数据和程序构成的，因此计算</a:t>
            </a:r>
            <a:r>
              <a:rPr lang="en-US" altLang="zh-CN" sz="2000" kern="0" dirty="0">
                <a:solidFill>
                  <a:srgbClr val="4D4D4D"/>
                </a:solidFill>
                <a:latin typeface="等线" panose="02010600030101010101" charset="-122"/>
                <a:cs typeface="Arial" panose="020B0604020202020204" pitchFamily="34" charset="0"/>
                <a:sym typeface="+mn-ea"/>
              </a:rPr>
              <a:t>ILF</a:t>
            </a:r>
            <a:r>
              <a:rPr lang="zh-CN" altLang="zh-CN" sz="2000" kern="0" dirty="0">
                <a:solidFill>
                  <a:srgbClr val="4D4D4D"/>
                </a:solidFill>
                <a:latin typeface="等线" panose="02010600030101010101" charset="-122"/>
                <a:cs typeface="Arial" panose="020B0604020202020204" pitchFamily="34" charset="0"/>
                <a:sym typeface="+mn-ea"/>
              </a:rPr>
              <a:t>、</a:t>
            </a:r>
            <a:r>
              <a:rPr lang="en-US" altLang="zh-CN" sz="2000" kern="0" dirty="0">
                <a:solidFill>
                  <a:srgbClr val="4D4D4D"/>
                </a:solidFill>
                <a:latin typeface="等线" panose="02010600030101010101" charset="-122"/>
                <a:cs typeface="Arial" panose="020B0604020202020204" pitchFamily="34" charset="0"/>
                <a:sym typeface="+mn-ea"/>
              </a:rPr>
              <a:t>EIF</a:t>
            </a:r>
            <a:r>
              <a:rPr lang="zh-CN" altLang="zh-CN" sz="2000" kern="0" dirty="0">
                <a:solidFill>
                  <a:srgbClr val="4D4D4D"/>
                </a:solidFill>
                <a:latin typeface="等线" panose="02010600030101010101" charset="-122"/>
                <a:cs typeface="Arial" panose="020B0604020202020204" pitchFamily="34" charset="0"/>
                <a:sym typeface="+mn-ea"/>
              </a:rPr>
              <a:t>和计算</a:t>
            </a:r>
            <a:r>
              <a:rPr lang="en-US" altLang="zh-CN" sz="2000" kern="0" dirty="0">
                <a:solidFill>
                  <a:srgbClr val="4D4D4D"/>
                </a:solidFill>
                <a:latin typeface="等线" panose="02010600030101010101" charset="-122"/>
                <a:cs typeface="Arial" panose="020B0604020202020204" pitchFamily="34" charset="0"/>
                <a:sym typeface="+mn-ea"/>
              </a:rPr>
              <a:t>EI</a:t>
            </a:r>
            <a:r>
              <a:rPr lang="zh-CN" altLang="zh-CN" sz="2000" kern="0" dirty="0">
                <a:solidFill>
                  <a:srgbClr val="4D4D4D"/>
                </a:solidFill>
                <a:latin typeface="等线" panose="02010600030101010101" charset="-122"/>
                <a:cs typeface="Arial" panose="020B0604020202020204" pitchFamily="34" charset="0"/>
                <a:sym typeface="+mn-ea"/>
              </a:rPr>
              <a:t>、</a:t>
            </a:r>
            <a:r>
              <a:rPr lang="en-US" altLang="zh-CN" sz="2000" kern="0" dirty="0">
                <a:solidFill>
                  <a:srgbClr val="4D4D4D"/>
                </a:solidFill>
                <a:latin typeface="等线" panose="02010600030101010101" charset="-122"/>
                <a:cs typeface="Arial" panose="020B0604020202020204" pitchFamily="34" charset="0"/>
                <a:sym typeface="+mn-ea"/>
              </a:rPr>
              <a:t>EO</a:t>
            </a:r>
            <a:r>
              <a:rPr lang="zh-CN" altLang="zh-CN" sz="2000" kern="0" dirty="0">
                <a:solidFill>
                  <a:srgbClr val="4D4D4D"/>
                </a:solidFill>
                <a:latin typeface="等线" panose="02010600030101010101" charset="-122"/>
                <a:cs typeface="Arial" panose="020B0604020202020204" pitchFamily="34" charset="0"/>
                <a:sym typeface="+mn-ea"/>
              </a:rPr>
              <a:t>、</a:t>
            </a:r>
            <a:r>
              <a:rPr lang="en-US" altLang="zh-CN" sz="2000" kern="0" dirty="0">
                <a:solidFill>
                  <a:srgbClr val="4D4D4D"/>
                </a:solidFill>
                <a:latin typeface="等线" panose="02010600030101010101" charset="-122"/>
                <a:cs typeface="Arial" panose="020B0604020202020204" pitchFamily="34" charset="0"/>
                <a:sym typeface="+mn-ea"/>
              </a:rPr>
              <a:t>EQ</a:t>
            </a:r>
            <a:r>
              <a:rPr lang="zh-CN" altLang="zh-CN" sz="2000" kern="0" dirty="0">
                <a:solidFill>
                  <a:srgbClr val="4D4D4D"/>
                </a:solidFill>
                <a:latin typeface="等线" panose="02010600030101010101" charset="-122"/>
                <a:cs typeface="Arial" panose="020B0604020202020204" pitchFamily="34" charset="0"/>
                <a:sym typeface="+mn-ea"/>
              </a:rPr>
              <a:t>之间没有任何关系。</a:t>
            </a:r>
            <a:endParaRPr lang="en-US" altLang="zh-CN" sz="2000" dirty="0">
              <a:latin typeface="Arial" panose="020B0604020202020204" pitchFamily="34" charset="0"/>
            </a:endParaRPr>
          </a:p>
        </p:txBody>
      </p:sp>
      <p:sp>
        <p:nvSpPr>
          <p:cNvPr id="23" name="Freeform 12"/>
          <p:cNvSpPr/>
          <p:nvPr/>
        </p:nvSpPr>
        <p:spPr bwMode="auto">
          <a:xfrm>
            <a:off x="2065655" y="1267460"/>
            <a:ext cx="3843655" cy="544195"/>
          </a:xfrm>
          <a:custGeom>
            <a:avLst/>
            <a:gdLst>
              <a:gd name="T0" fmla="*/ 3591 w 3591"/>
              <a:gd name="T1" fmla="*/ 0 h 696"/>
              <a:gd name="T2" fmla="*/ 0 w 3591"/>
              <a:gd name="T3" fmla="*/ 0 h 696"/>
              <a:gd name="T4" fmla="*/ 0 w 3591"/>
              <a:gd name="T5" fmla="*/ 696 h 696"/>
              <a:gd name="T6" fmla="*/ 3591 w 3591"/>
              <a:gd name="T7" fmla="*/ 696 h 696"/>
              <a:gd name="T8" fmla="*/ 3383 w 3591"/>
              <a:gd name="T9" fmla="*/ 353 h 696"/>
              <a:gd name="T10" fmla="*/ 3591 w 3591"/>
              <a:gd name="T11" fmla="*/ 0 h 696"/>
            </a:gdLst>
            <a:ahLst/>
            <a:cxnLst>
              <a:cxn ang="0">
                <a:pos x="T0" y="T1"/>
              </a:cxn>
              <a:cxn ang="0">
                <a:pos x="T2" y="T3"/>
              </a:cxn>
              <a:cxn ang="0">
                <a:pos x="T4" y="T5"/>
              </a:cxn>
              <a:cxn ang="0">
                <a:pos x="T6" y="T7"/>
              </a:cxn>
              <a:cxn ang="0">
                <a:pos x="T8" y="T9"/>
              </a:cxn>
              <a:cxn ang="0">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bg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8" name="TextBox 23"/>
          <p:cNvSpPr txBox="1"/>
          <p:nvPr/>
        </p:nvSpPr>
        <p:spPr>
          <a:xfrm>
            <a:off x="2205355" y="1294130"/>
            <a:ext cx="4047490" cy="491490"/>
          </a:xfrm>
          <a:prstGeom prst="rect">
            <a:avLst/>
          </a:prstGeom>
          <a:noFill/>
        </p:spPr>
        <p:txBody>
          <a:bodyPr wrap="square" rtlCol="0">
            <a:spAutoFit/>
          </a:bodyPr>
          <a:lstStyle/>
          <a:p>
            <a:r>
              <a:rPr lang="zh-CN" altLang="zh-CN" sz="2600" kern="0" dirty="0">
                <a:solidFill>
                  <a:schemeClr val="accent2"/>
                </a:solidFill>
                <a:latin typeface="等线" panose="02010600030101010101" charset="-122"/>
                <a:cs typeface="Arial" panose="020B0604020202020204" pitchFamily="34" charset="0"/>
                <a:sym typeface="+mn-ea"/>
              </a:rPr>
              <a:t>识别功能点的重要原则</a:t>
            </a:r>
            <a:endParaRPr lang="zh-CN" altLang="zh-CN" sz="2600" kern="0" dirty="0">
              <a:solidFill>
                <a:schemeClr val="accent2"/>
              </a:solidFill>
              <a:latin typeface="等线" panose="02010600030101010101" charset="-122"/>
              <a:ea typeface="+mn-ea"/>
              <a:cs typeface="Arial" panose="020B0604020202020204" pitchFamily="34" charset="0"/>
              <a:sym typeface="+mn-ea"/>
            </a:endParaRPr>
          </a:p>
        </p:txBody>
      </p:sp>
      <p:sp>
        <p:nvSpPr>
          <p:cNvPr id="2" name="文本框 1">
            <a:extLst>
              <a:ext uri="{FF2B5EF4-FFF2-40B4-BE49-F238E27FC236}">
                <a16:creationId xmlns:a16="http://schemas.microsoft.com/office/drawing/2014/main" id="{807DCEFF-8333-4B46-AC81-6FE291CC9741}"/>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2.</a:t>
            </a:r>
          </a:p>
        </p:txBody>
      </p:sp>
      <p:sp>
        <p:nvSpPr>
          <p:cNvPr id="9" name="文本框 8">
            <a:extLst>
              <a:ext uri="{FF2B5EF4-FFF2-40B4-BE49-F238E27FC236}">
                <a16:creationId xmlns:a16="http://schemas.microsoft.com/office/drawing/2014/main" id="{718521CC-A856-4022-804E-C43C64473F97}"/>
              </a:ext>
            </a:extLst>
          </p:cNvPr>
          <p:cNvSpPr txBox="1"/>
          <p:nvPr/>
        </p:nvSpPr>
        <p:spPr>
          <a:xfrm>
            <a:off x="1548765" y="83820"/>
            <a:ext cx="2844048"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功能点估算步骤</a:t>
            </a:r>
          </a:p>
        </p:txBody>
      </p:sp>
      <p:graphicFrame>
        <p:nvGraphicFramePr>
          <p:cNvPr id="13" name="表格 12">
            <a:extLst>
              <a:ext uri="{FF2B5EF4-FFF2-40B4-BE49-F238E27FC236}">
                <a16:creationId xmlns:a16="http://schemas.microsoft.com/office/drawing/2014/main" id="{F719218A-7C01-4F3E-9C1F-9308E9E9B337}"/>
              </a:ext>
            </a:extLst>
          </p:cNvPr>
          <p:cNvGraphicFramePr>
            <a:graphicFrameLocks noGrp="1"/>
          </p:cNvGraphicFramePr>
          <p:nvPr>
            <p:extLst>
              <p:ext uri="{D42A27DB-BD31-4B8C-83A1-F6EECF244321}">
                <p14:modId xmlns:p14="http://schemas.microsoft.com/office/powerpoint/2010/main" val="3534404075"/>
              </p:ext>
            </p:extLst>
          </p:nvPr>
        </p:nvGraphicFramePr>
        <p:xfrm>
          <a:off x="778162" y="4794705"/>
          <a:ext cx="10635676" cy="2166952"/>
        </p:xfrm>
        <a:graphic>
          <a:graphicData uri="http://schemas.openxmlformats.org/drawingml/2006/table">
            <a:tbl>
              <a:tblPr>
                <a:tableStyleId>{5C22544A-7EE6-4342-B048-85BDC9FD1C3A}</a:tableStyleId>
              </a:tblPr>
              <a:tblGrid>
                <a:gridCol w="934658">
                  <a:extLst>
                    <a:ext uri="{9D8B030D-6E8A-4147-A177-3AD203B41FA5}">
                      <a16:colId xmlns:a16="http://schemas.microsoft.com/office/drawing/2014/main" val="1394357070"/>
                    </a:ext>
                  </a:extLst>
                </a:gridCol>
                <a:gridCol w="5392663">
                  <a:extLst>
                    <a:ext uri="{9D8B030D-6E8A-4147-A177-3AD203B41FA5}">
                      <a16:colId xmlns:a16="http://schemas.microsoft.com/office/drawing/2014/main" val="385747963"/>
                    </a:ext>
                  </a:extLst>
                </a:gridCol>
                <a:gridCol w="4308355">
                  <a:extLst>
                    <a:ext uri="{9D8B030D-6E8A-4147-A177-3AD203B41FA5}">
                      <a16:colId xmlns:a16="http://schemas.microsoft.com/office/drawing/2014/main" val="3571740226"/>
                    </a:ext>
                  </a:extLst>
                </a:gridCol>
              </a:tblGrid>
              <a:tr h="580087">
                <a:tc>
                  <a:txBody>
                    <a:bodyPr/>
                    <a:lstStyle/>
                    <a:p>
                      <a:pPr algn="l">
                        <a:lnSpc>
                          <a:spcPct val="150000"/>
                        </a:lnSpc>
                      </a:pPr>
                      <a:r>
                        <a:rPr lang="en-US" sz="2400" kern="0">
                          <a:effectLst/>
                        </a:rPr>
                        <a:t>UFP</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l">
                        <a:lnSpc>
                          <a:spcPct val="150000"/>
                        </a:lnSpc>
                      </a:pPr>
                      <a:r>
                        <a:rPr lang="en-US" sz="2400" kern="0">
                          <a:effectLst/>
                        </a:rPr>
                        <a:t>Unadjusted functional point count</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l">
                        <a:lnSpc>
                          <a:spcPct val="150000"/>
                        </a:lnSpc>
                      </a:pPr>
                      <a:r>
                        <a:rPr lang="zh-CN" sz="2400" kern="0">
                          <a:effectLst/>
                        </a:rPr>
                        <a:t>未调整的功能点个数</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150791481"/>
                  </a:ext>
                </a:extLst>
              </a:tr>
              <a:tr h="1228501">
                <a:tc>
                  <a:txBody>
                    <a:bodyPr/>
                    <a:lstStyle/>
                    <a:p>
                      <a:pPr algn="l">
                        <a:lnSpc>
                          <a:spcPct val="150000"/>
                        </a:lnSpc>
                      </a:pPr>
                      <a:r>
                        <a:rPr lang="en-US" sz="2400" kern="0">
                          <a:effectLst/>
                        </a:rPr>
                        <a:t>VAF</a:t>
                      </a:r>
                      <a:endParaRPr lang="zh-CN" sz="2400" kern="10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l">
                        <a:lnSpc>
                          <a:spcPct val="150000"/>
                        </a:lnSpc>
                      </a:pPr>
                      <a:r>
                        <a:rPr lang="en-US" sz="2400" kern="0" dirty="0">
                          <a:effectLst/>
                        </a:rPr>
                        <a:t>Value adjustment factor</a:t>
                      </a:r>
                      <a:endParaRPr lang="zh-CN" sz="2400" kern="100" dirty="0">
                        <a:effectLst/>
                      </a:endParaRPr>
                    </a:p>
                    <a:p>
                      <a:pPr algn="l">
                        <a:lnSpc>
                          <a:spcPct val="150000"/>
                        </a:lnSpc>
                      </a:pPr>
                      <a:r>
                        <a:rPr lang="en-US" sz="2400" kern="0" dirty="0">
                          <a:effectLst/>
                        </a:rPr>
                        <a:t>VAF=</a:t>
                      </a:r>
                      <a:r>
                        <a:rPr lang="zh-CN" sz="2400" kern="0" dirty="0">
                          <a:effectLst/>
                        </a:rPr>
                        <a:t>（</a:t>
                      </a:r>
                      <a:r>
                        <a:rPr lang="en-US" sz="2400" kern="0" dirty="0">
                          <a:effectLst/>
                        </a:rPr>
                        <a:t>sum of</a:t>
                      </a:r>
                      <a:r>
                        <a:rPr lang="zh-CN" sz="2400" kern="0" dirty="0">
                          <a:effectLst/>
                        </a:rPr>
                        <a:t>（</a:t>
                      </a:r>
                      <a:r>
                        <a:rPr lang="en-US" sz="2400" kern="0" dirty="0">
                          <a:effectLst/>
                        </a:rPr>
                        <a:t>DI</a:t>
                      </a:r>
                      <a:r>
                        <a:rPr lang="zh-CN" sz="2400" kern="0" dirty="0">
                          <a:effectLst/>
                        </a:rPr>
                        <a:t>）</a:t>
                      </a:r>
                      <a:r>
                        <a:rPr lang="en-US" sz="2400" kern="0" dirty="0">
                          <a:effectLst/>
                        </a:rPr>
                        <a:t>* 0.01</a:t>
                      </a:r>
                      <a:r>
                        <a:rPr lang="zh-CN" sz="2400" kern="0" dirty="0">
                          <a:effectLst/>
                        </a:rPr>
                        <a:t>）</a:t>
                      </a:r>
                      <a:r>
                        <a:rPr lang="en-US" sz="2400" kern="0" dirty="0">
                          <a:effectLst/>
                        </a:rPr>
                        <a:t>+ 0.65</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tc>
                  <a:txBody>
                    <a:bodyPr/>
                    <a:lstStyle/>
                    <a:p>
                      <a:pPr algn="l">
                        <a:lnSpc>
                          <a:spcPct val="150000"/>
                        </a:lnSpc>
                      </a:pPr>
                      <a:r>
                        <a:rPr lang="zh-CN" sz="2400" kern="0" dirty="0">
                          <a:effectLst/>
                        </a:rPr>
                        <a:t>功能点的调整因子的计算公式</a:t>
                      </a:r>
                      <a:endParaRPr lang="zh-CN" sz="2400" kern="100" dirty="0">
                        <a:effectLst/>
                      </a:endParaRPr>
                    </a:p>
                    <a:p>
                      <a:pPr algn="l">
                        <a:lnSpc>
                          <a:spcPct val="150000"/>
                        </a:lnSpc>
                      </a:pPr>
                      <a:r>
                        <a:rPr lang="en-US" sz="2400" kern="0" dirty="0">
                          <a:effectLst/>
                        </a:rPr>
                        <a:t>VAF=</a:t>
                      </a:r>
                      <a:r>
                        <a:rPr lang="zh-CN" sz="2400" kern="0" dirty="0">
                          <a:effectLst/>
                        </a:rPr>
                        <a:t>（</a:t>
                      </a:r>
                      <a:r>
                        <a:rPr lang="en-US" sz="2400" kern="0" dirty="0">
                          <a:effectLst/>
                        </a:rPr>
                        <a:t>sum of</a:t>
                      </a:r>
                      <a:r>
                        <a:rPr lang="zh-CN" sz="2400" kern="0" dirty="0">
                          <a:effectLst/>
                        </a:rPr>
                        <a:t>（</a:t>
                      </a:r>
                      <a:r>
                        <a:rPr lang="en-US" sz="2400" kern="0" dirty="0">
                          <a:effectLst/>
                        </a:rPr>
                        <a:t>DI</a:t>
                      </a:r>
                      <a:r>
                        <a:rPr lang="zh-CN" sz="2400" kern="0" dirty="0">
                          <a:effectLst/>
                        </a:rPr>
                        <a:t>）</a:t>
                      </a:r>
                      <a:r>
                        <a:rPr lang="en-US" sz="2400" kern="0" dirty="0">
                          <a:effectLst/>
                        </a:rPr>
                        <a:t>* 0.01</a:t>
                      </a:r>
                      <a:r>
                        <a:rPr lang="zh-CN" sz="2400" kern="0" dirty="0">
                          <a:effectLst/>
                        </a:rPr>
                        <a:t>）</a:t>
                      </a:r>
                      <a:r>
                        <a:rPr lang="en-US" sz="2400" kern="0" dirty="0">
                          <a:effectLst/>
                        </a:rPr>
                        <a:t>+ 0.65</a:t>
                      </a:r>
                      <a:endParaRPr lang="zh-CN" sz="2400" kern="100" dirty="0">
                        <a:effectLst/>
                        <a:latin typeface="Calibri" panose="020F0502020204030204" pitchFamily="34" charset="0"/>
                        <a:ea typeface="宋体" panose="02010600030101010101" pitchFamily="2" charset="-122"/>
                        <a:cs typeface="Times New Roman" panose="02020603050405020304" pitchFamily="18" charset="0"/>
                      </a:endParaRPr>
                    </a:p>
                  </a:txBody>
                  <a:tcPr marL="68580" marR="68580" marT="0" marB="0"/>
                </a:tc>
                <a:extLst>
                  <a:ext uri="{0D108BD9-81ED-4DB2-BD59-A6C34878D82A}">
                    <a16:rowId xmlns:a16="http://schemas.microsoft.com/office/drawing/2014/main" val="3501712198"/>
                  </a:ext>
                </a:extLst>
              </a:tr>
            </a:tbl>
          </a:graphicData>
        </a:graphic>
      </p:graphicFrame>
      <p:sp>
        <p:nvSpPr>
          <p:cNvPr id="15" name="Rectangle 2">
            <a:extLst>
              <a:ext uri="{FF2B5EF4-FFF2-40B4-BE49-F238E27FC236}">
                <a16:creationId xmlns:a16="http://schemas.microsoft.com/office/drawing/2014/main" id="{3DB14329-55DF-49B3-ABB9-362FD3026F6F}"/>
              </a:ext>
            </a:extLst>
          </p:cNvPr>
          <p:cNvSpPr>
            <a:spLocks noChangeArrowheads="1"/>
          </p:cNvSpPr>
          <p:nvPr/>
        </p:nvSpPr>
        <p:spPr bwMode="auto">
          <a:xfrm>
            <a:off x="741045" y="4046347"/>
            <a:ext cx="655532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304800" algn="l" defTabSz="914400" rtl="0" eaLnBrk="0" fontAlgn="base" latinLnBrk="0" hangingPunct="0">
              <a:lnSpc>
                <a:spcPct val="100000"/>
              </a:lnSpc>
              <a:spcBef>
                <a:spcPct val="0"/>
              </a:spcBef>
              <a:spcAft>
                <a:spcPct val="0"/>
              </a:spcAft>
              <a:buClrTx/>
              <a:buSzTx/>
              <a:buFontTx/>
              <a:buNone/>
              <a:tabLst/>
            </a:pPr>
            <a:r>
              <a:rPr kumimoji="0" lang="zh-CN" altLang="zh-CN" sz="2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Arial" panose="020B0604020202020204" pitchFamily="34" charset="0"/>
              </a:rPr>
              <a:t>功能点的原始计算公式：</a:t>
            </a:r>
            <a:r>
              <a:rPr kumimoji="0" lang="en-US" altLang="zh-CN" sz="2400" b="0" i="0" u="none" strike="noStrike" cap="none" normalizeH="0" baseline="0" dirty="0">
                <a:ln>
                  <a:noFill/>
                </a:ln>
                <a:solidFill>
                  <a:srgbClr val="000000"/>
                </a:solidFill>
                <a:effectLst/>
                <a:latin typeface="Calibri" panose="020F0502020204030204" pitchFamily="34" charset="0"/>
                <a:ea typeface="宋体" panose="02010600030101010101" pitchFamily="2" charset="-122"/>
                <a:cs typeface="Arial" panose="020B0604020202020204" pitchFamily="34" charset="0"/>
              </a:rPr>
              <a:t>FP Count =UFP * VAF </a:t>
            </a:r>
            <a:endParaRPr kumimoji="0" lang="en-US" altLang="zh-CN" sz="24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727465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8"/>
                                        </p:tgtEl>
                                        <p:attrNameLst>
                                          <p:attrName>style.visibility</p:attrName>
                                        </p:attrNameLst>
                                      </p:cBhvr>
                                      <p:to>
                                        <p:strVal val="visible"/>
                                      </p:to>
                                    </p:set>
                                    <p:anim by="(-#ppt_w*2)" calcmode="lin" valueType="num">
                                      <p:cBhvr rctx="PPT">
                                        <p:cTn id="11" dur="250" autoRev="1" fill="hold">
                                          <p:stCondLst>
                                            <p:cond delay="0"/>
                                          </p:stCondLst>
                                        </p:cTn>
                                        <p:tgtEl>
                                          <p:spTgt spid="8"/>
                                        </p:tgtEl>
                                        <p:attrNameLst>
                                          <p:attrName>ppt_w</p:attrName>
                                        </p:attrNameLst>
                                      </p:cBhvr>
                                    </p:anim>
                                    <p:anim by="(#ppt_w*0.50)" calcmode="lin" valueType="num">
                                      <p:cBhvr>
                                        <p:cTn id="12" dur="250" decel="50000" autoRev="1" fill="hold">
                                          <p:stCondLst>
                                            <p:cond delay="0"/>
                                          </p:stCondLst>
                                        </p:cTn>
                                        <p:tgtEl>
                                          <p:spTgt spid="8"/>
                                        </p:tgtEl>
                                        <p:attrNameLst>
                                          <p:attrName>ppt_x</p:attrName>
                                        </p:attrNameLst>
                                      </p:cBhvr>
                                    </p:anim>
                                    <p:anim from="(-#ppt_h/2)" to="(#ppt_y)" calcmode="lin" valueType="num">
                                      <p:cBhvr>
                                        <p:cTn id="13" dur="500" fill="hold">
                                          <p:stCondLst>
                                            <p:cond delay="0"/>
                                          </p:stCondLst>
                                        </p:cTn>
                                        <p:tgtEl>
                                          <p:spTgt spid="8"/>
                                        </p:tgtEl>
                                        <p:attrNameLst>
                                          <p:attrName>ppt_y</p:attrName>
                                        </p:attrNameLst>
                                      </p:cBhvr>
                                    </p:anim>
                                    <p:animRot by="21600000">
                                      <p:cBhvr>
                                        <p:cTn id="14" dur="500" fill="hold">
                                          <p:stCondLst>
                                            <p:cond delay="0"/>
                                          </p:stCondLst>
                                        </p:cTn>
                                        <p:tgtEl>
                                          <p:spTgt spid="8"/>
                                        </p:tgtEl>
                                        <p:attrNameLst>
                                          <p:attrName>r</p:attrName>
                                        </p:attrNameLst>
                                      </p:cBhvr>
                                    </p:animRot>
                                  </p:childTnLst>
                                </p:cTn>
                              </p:par>
                            </p:childTnLst>
                          </p:cTn>
                        </p:par>
                        <p:par>
                          <p:cTn id="15" fill="hold">
                            <p:stCondLst>
                              <p:cond delay="1450"/>
                            </p:stCondLst>
                            <p:childTnLst>
                              <p:par>
                                <p:cTn id="16" presetID="22" presetClass="entr" presetSubtype="8"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left)">
                                      <p:cBhvr>
                                        <p:cTn id="1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23" grpId="0" bldLvl="0" animBg="1"/>
      <p:bldP spid="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79120" y="1138656"/>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10093632" y="6016808"/>
            <a:ext cx="1991995" cy="1810385"/>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892810" y="1685777"/>
            <a:ext cx="10406380" cy="4540036"/>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38" name="文本框 37"/>
          <p:cNvSpPr txBox="1"/>
          <p:nvPr/>
        </p:nvSpPr>
        <p:spPr>
          <a:xfrm>
            <a:off x="1084580" y="1750163"/>
            <a:ext cx="9743841" cy="4401205"/>
          </a:xfrm>
          <a:prstGeom prst="rect">
            <a:avLst/>
          </a:prstGeom>
          <a:noFill/>
        </p:spPr>
        <p:txBody>
          <a:bodyPr wrap="square" rtlCol="0">
            <a:spAutoFit/>
          </a:bodyPr>
          <a:lstStyle/>
          <a:p>
            <a:r>
              <a:rPr lang="zh-CN" altLang="en-US" sz="2000" kern="0" dirty="0">
                <a:solidFill>
                  <a:srgbClr val="4D4D4D"/>
                </a:solidFill>
                <a:latin typeface="微软雅黑" panose="020B0503020204020204" pitchFamily="34" charset="-122"/>
                <a:ea typeface="等线" panose="02010600030101010101" charset="-122"/>
                <a:cs typeface="Arial" panose="020B0604020202020204" pitchFamily="34" charset="0"/>
                <a:sym typeface="+mn-ea"/>
              </a:rPr>
              <a:t>参数介绍：</a:t>
            </a:r>
            <a:endParaRPr lang="en-US" altLang="zh-CN" sz="2000" kern="0" dirty="0">
              <a:solidFill>
                <a:srgbClr val="4D4D4D"/>
              </a:solidFill>
              <a:latin typeface="微软雅黑" panose="020B0503020204020204" pitchFamily="34" charset="-122"/>
              <a:ea typeface="等线" panose="02010600030101010101" charset="-122"/>
              <a:cs typeface="Arial" panose="020B0604020202020204" pitchFamily="34" charset="0"/>
              <a:sym typeface="+mn-ea"/>
            </a:endParaRPr>
          </a:p>
          <a:p>
            <a:endParaRPr lang="en-US" altLang="zh-CN" sz="2000" dirty="0">
              <a:latin typeface="Arial" panose="020B0604020202020204" pitchFamily="34" charset="0"/>
              <a:sym typeface="+mn-ea"/>
            </a:endParaRPr>
          </a:p>
          <a:p>
            <a:endParaRPr lang="en-US" altLang="zh-CN" sz="2000" dirty="0">
              <a:latin typeface="Arial" panose="020B0604020202020204" pitchFamily="34" charset="0"/>
              <a:sym typeface="+mn-ea"/>
            </a:endParaRPr>
          </a:p>
          <a:p>
            <a:r>
              <a:rPr lang="zh-CN" altLang="en-US" sz="2000" dirty="0">
                <a:latin typeface="Arial" panose="020B0604020202020204" pitchFamily="34" charset="0"/>
                <a:sym typeface="+mn-ea"/>
              </a:rPr>
              <a:t>数据单元类型（</a:t>
            </a:r>
            <a:r>
              <a:rPr lang="en-US" altLang="zh-CN" sz="2000" dirty="0">
                <a:latin typeface="Arial" panose="020B0604020202020204" pitchFamily="34" charset="0"/>
                <a:sym typeface="+mn-ea"/>
              </a:rPr>
              <a:t>Data Element Type, DET </a:t>
            </a:r>
            <a:r>
              <a:rPr lang="zh-CN" altLang="en-US" sz="2000" dirty="0">
                <a:latin typeface="Arial" panose="020B0604020202020204" pitchFamily="34" charset="0"/>
                <a:sym typeface="+mn-ea"/>
              </a:rPr>
              <a:t>）：</a:t>
            </a:r>
            <a:endParaRPr lang="en-US" altLang="zh-CN" sz="2000" dirty="0">
              <a:latin typeface="Arial" panose="020B0604020202020204" pitchFamily="34" charset="0"/>
              <a:sym typeface="+mn-ea"/>
            </a:endParaRPr>
          </a:p>
          <a:p>
            <a:r>
              <a:rPr lang="en-US" altLang="zh-CN" sz="2000" dirty="0">
                <a:latin typeface="Arial" panose="020B0604020202020204" pitchFamily="34" charset="0"/>
                <a:sym typeface="+mn-ea"/>
              </a:rPr>
              <a:t>	</a:t>
            </a:r>
            <a:r>
              <a:rPr lang="zh-CN" altLang="en-US" sz="2000" dirty="0">
                <a:latin typeface="Arial" panose="020B0604020202020204" pitchFamily="34" charset="0"/>
                <a:sym typeface="+mn-ea"/>
              </a:rPr>
              <a:t>用户可识别的无递归、不重复的信息单元。</a:t>
            </a:r>
            <a:endParaRPr lang="en-US" altLang="zh-CN" sz="2000" dirty="0">
              <a:latin typeface="Arial" panose="020B0604020202020204" pitchFamily="34" charset="0"/>
              <a:sym typeface="+mn-ea"/>
            </a:endParaRPr>
          </a:p>
          <a:p>
            <a:endParaRPr lang="zh-CN" altLang="en-US" sz="2000" dirty="0">
              <a:latin typeface="Arial" panose="020B0604020202020204" pitchFamily="34" charset="0"/>
              <a:sym typeface="+mn-ea"/>
            </a:endParaRPr>
          </a:p>
          <a:p>
            <a:r>
              <a:rPr lang="zh-CN" altLang="en-US" sz="2000" dirty="0">
                <a:latin typeface="Arial" panose="020B0604020202020204" pitchFamily="34" charset="0"/>
                <a:sym typeface="+mn-ea"/>
              </a:rPr>
              <a:t>记录单元类型（</a:t>
            </a:r>
            <a:r>
              <a:rPr lang="en-US" altLang="zh-CN" sz="2000" dirty="0">
                <a:latin typeface="Arial" panose="020B0604020202020204" pitchFamily="34" charset="0"/>
                <a:sym typeface="+mn-ea"/>
              </a:rPr>
              <a:t>Record Element Type, RET </a:t>
            </a:r>
            <a:r>
              <a:rPr lang="zh-CN" altLang="en-US" sz="2000" dirty="0">
                <a:latin typeface="Arial" panose="020B0604020202020204" pitchFamily="34" charset="0"/>
                <a:sym typeface="+mn-ea"/>
              </a:rPr>
              <a:t>）</a:t>
            </a:r>
          </a:p>
          <a:p>
            <a:r>
              <a:rPr lang="en-US" altLang="zh-CN" sz="2000" dirty="0">
                <a:latin typeface="Arial" panose="020B0604020202020204" pitchFamily="34" charset="0"/>
                <a:sym typeface="+mn-ea"/>
              </a:rPr>
              <a:t>	</a:t>
            </a:r>
            <a:r>
              <a:rPr lang="zh-CN" altLang="en-US" sz="2000" dirty="0">
                <a:latin typeface="Arial" panose="020B0604020202020204" pitchFamily="34" charset="0"/>
                <a:sym typeface="+mn-ea"/>
              </a:rPr>
              <a:t>在</a:t>
            </a:r>
            <a:r>
              <a:rPr lang="en-US" altLang="zh-CN" sz="2000" dirty="0">
                <a:latin typeface="Arial" panose="020B0604020202020204" pitchFamily="34" charset="0"/>
                <a:sym typeface="+mn-ea"/>
              </a:rPr>
              <a:t>ILF</a:t>
            </a:r>
            <a:r>
              <a:rPr lang="zh-CN" altLang="en-US" sz="2000" dirty="0">
                <a:latin typeface="Arial" panose="020B0604020202020204" pitchFamily="34" charset="0"/>
                <a:sym typeface="+mn-ea"/>
              </a:rPr>
              <a:t>或</a:t>
            </a:r>
            <a:r>
              <a:rPr lang="en-US" altLang="zh-CN" sz="2000" dirty="0">
                <a:latin typeface="Arial" panose="020B0604020202020204" pitchFamily="34" charset="0"/>
                <a:sym typeface="+mn-ea"/>
              </a:rPr>
              <a:t>EIF</a:t>
            </a:r>
            <a:r>
              <a:rPr lang="zh-CN" altLang="en-US" sz="2000" dirty="0">
                <a:latin typeface="Arial" panose="020B0604020202020204" pitchFamily="34" charset="0"/>
                <a:sym typeface="+mn-ea"/>
              </a:rPr>
              <a:t>中，用户可识别的数据域的子集，可以通过检查数据中的各种逻辑分组来识别它</a:t>
            </a:r>
            <a:endParaRPr lang="en-US" altLang="zh-CN" sz="2000" dirty="0">
              <a:latin typeface="Arial" panose="020B0604020202020204" pitchFamily="34" charset="0"/>
              <a:sym typeface="+mn-ea"/>
            </a:endParaRPr>
          </a:p>
          <a:p>
            <a:endParaRPr lang="en-US" altLang="zh-CN" sz="2000" dirty="0">
              <a:latin typeface="Arial" panose="020B0604020202020204" pitchFamily="34" charset="0"/>
              <a:sym typeface="+mn-ea"/>
            </a:endParaRPr>
          </a:p>
          <a:p>
            <a:r>
              <a:rPr lang="zh-CN" altLang="en-US" sz="2000" dirty="0">
                <a:latin typeface="Arial" panose="020B0604020202020204" pitchFamily="34" charset="0"/>
                <a:sym typeface="+mn-ea"/>
              </a:rPr>
              <a:t>引用文件类型（ </a:t>
            </a:r>
            <a:r>
              <a:rPr lang="en-US" altLang="zh-CN" sz="2000" dirty="0">
                <a:latin typeface="Arial" panose="020B0604020202020204" pitchFamily="34" charset="0"/>
                <a:sym typeface="+mn-ea"/>
              </a:rPr>
              <a:t>File Type Referenced,  FTR </a:t>
            </a:r>
            <a:r>
              <a:rPr lang="zh-CN" altLang="en-US" sz="2000" dirty="0">
                <a:latin typeface="Arial" panose="020B0604020202020204" pitchFamily="34" charset="0"/>
                <a:sym typeface="+mn-ea"/>
              </a:rPr>
              <a:t>）</a:t>
            </a:r>
          </a:p>
          <a:p>
            <a:r>
              <a:rPr lang="zh-CN" altLang="en-US" sz="2000" dirty="0">
                <a:latin typeface="Arial" panose="020B0604020202020204" pitchFamily="34" charset="0"/>
                <a:sym typeface="+mn-ea"/>
              </a:rPr>
              <a:t>           被事务功能读取或维护的内部逻辑文件</a:t>
            </a:r>
            <a:r>
              <a:rPr lang="en-US" altLang="zh-CN" sz="2000" dirty="0">
                <a:latin typeface="Arial" panose="020B0604020202020204" pitchFamily="34" charset="0"/>
                <a:sym typeface="+mn-ea"/>
              </a:rPr>
              <a:t>(ILF)</a:t>
            </a:r>
            <a:r>
              <a:rPr lang="zh-CN" altLang="en-US" sz="2000" dirty="0">
                <a:latin typeface="Arial" panose="020B0604020202020204" pitchFamily="34" charset="0"/>
                <a:sym typeface="+mn-ea"/>
              </a:rPr>
              <a:t>，或者是被事务功能读取的外部接口文件</a:t>
            </a:r>
            <a:r>
              <a:rPr lang="en-US" altLang="zh-CN" sz="2000" dirty="0">
                <a:latin typeface="Arial" panose="020B0604020202020204" pitchFamily="34" charset="0"/>
                <a:sym typeface="+mn-ea"/>
              </a:rPr>
              <a:t>(EIF)</a:t>
            </a:r>
            <a:r>
              <a:rPr lang="zh-CN" altLang="en-US" sz="2000" dirty="0">
                <a:latin typeface="Arial" panose="020B0604020202020204" pitchFamily="34" charset="0"/>
                <a:sym typeface="+mn-ea"/>
              </a:rPr>
              <a:t>。</a:t>
            </a:r>
          </a:p>
          <a:p>
            <a:endParaRPr lang="zh-CN" altLang="en-US" sz="2000" dirty="0">
              <a:solidFill>
                <a:srgbClr val="C00000"/>
              </a:solidFill>
              <a:latin typeface="Arial" panose="020B0604020202020204" pitchFamily="34" charset="0"/>
            </a:endParaRPr>
          </a:p>
        </p:txBody>
      </p:sp>
      <p:sp>
        <p:nvSpPr>
          <p:cNvPr id="2" name="文本框 1">
            <a:extLst>
              <a:ext uri="{FF2B5EF4-FFF2-40B4-BE49-F238E27FC236}">
                <a16:creationId xmlns:a16="http://schemas.microsoft.com/office/drawing/2014/main" id="{22949D9A-3B26-4B38-BE61-BDDB8AC06BD0}"/>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2.</a:t>
            </a:r>
          </a:p>
        </p:txBody>
      </p:sp>
      <p:sp>
        <p:nvSpPr>
          <p:cNvPr id="9" name="文本框 8">
            <a:extLst>
              <a:ext uri="{FF2B5EF4-FFF2-40B4-BE49-F238E27FC236}">
                <a16:creationId xmlns:a16="http://schemas.microsoft.com/office/drawing/2014/main" id="{8E554A8D-AA6D-4F87-BA8E-15F4C4C2EC49}"/>
              </a:ext>
            </a:extLst>
          </p:cNvPr>
          <p:cNvSpPr txBox="1"/>
          <p:nvPr/>
        </p:nvSpPr>
        <p:spPr>
          <a:xfrm>
            <a:off x="1548765" y="83820"/>
            <a:ext cx="2844048"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功能点估算步骤</a:t>
            </a:r>
          </a:p>
        </p:txBody>
      </p:sp>
    </p:spTree>
    <p:extLst>
      <p:ext uri="{BB962C8B-B14F-4D97-AF65-F5344CB8AC3E}">
        <p14:creationId xmlns:p14="http://schemas.microsoft.com/office/powerpoint/2010/main" val="1374865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68960" y="112204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369733" y="437229"/>
            <a:ext cx="1454797" cy="1245190"/>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23" name="Freeform 12"/>
          <p:cNvSpPr/>
          <p:nvPr/>
        </p:nvSpPr>
        <p:spPr bwMode="auto">
          <a:xfrm>
            <a:off x="2065655" y="1267460"/>
            <a:ext cx="3843655" cy="544195"/>
          </a:xfrm>
          <a:custGeom>
            <a:avLst/>
            <a:gdLst>
              <a:gd name="T0" fmla="*/ 3591 w 3591"/>
              <a:gd name="T1" fmla="*/ 0 h 696"/>
              <a:gd name="T2" fmla="*/ 0 w 3591"/>
              <a:gd name="T3" fmla="*/ 0 h 696"/>
              <a:gd name="T4" fmla="*/ 0 w 3591"/>
              <a:gd name="T5" fmla="*/ 696 h 696"/>
              <a:gd name="T6" fmla="*/ 3591 w 3591"/>
              <a:gd name="T7" fmla="*/ 696 h 696"/>
              <a:gd name="T8" fmla="*/ 3383 w 3591"/>
              <a:gd name="T9" fmla="*/ 353 h 696"/>
              <a:gd name="T10" fmla="*/ 3591 w 3591"/>
              <a:gd name="T11" fmla="*/ 0 h 696"/>
            </a:gdLst>
            <a:ahLst/>
            <a:cxnLst>
              <a:cxn ang="0">
                <a:pos x="T0" y="T1"/>
              </a:cxn>
              <a:cxn ang="0">
                <a:pos x="T2" y="T3"/>
              </a:cxn>
              <a:cxn ang="0">
                <a:pos x="T4" y="T5"/>
              </a:cxn>
              <a:cxn ang="0">
                <a:pos x="T6" y="T7"/>
              </a:cxn>
              <a:cxn ang="0">
                <a:pos x="T8" y="T9"/>
              </a:cxn>
              <a:cxn ang="0">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bg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8" name="TextBox 23"/>
          <p:cNvSpPr txBox="1"/>
          <p:nvPr/>
        </p:nvSpPr>
        <p:spPr>
          <a:xfrm>
            <a:off x="2205355" y="1294130"/>
            <a:ext cx="4047490" cy="491490"/>
          </a:xfrm>
          <a:prstGeom prst="rect">
            <a:avLst/>
          </a:prstGeom>
          <a:noFill/>
        </p:spPr>
        <p:txBody>
          <a:bodyPr wrap="square" rtlCol="0">
            <a:spAutoFit/>
          </a:bodyPr>
          <a:lstStyle/>
          <a:p>
            <a:r>
              <a:rPr lang="zh-CN" altLang="zh-CN" sz="2600" kern="0" dirty="0">
                <a:solidFill>
                  <a:schemeClr val="accent2"/>
                </a:solidFill>
                <a:latin typeface="等线" panose="02010600030101010101" charset="-122"/>
                <a:cs typeface="Arial" panose="020B0604020202020204" pitchFamily="34" charset="0"/>
                <a:sym typeface="+mn-ea"/>
              </a:rPr>
              <a:t>识别功能点的重要原则</a:t>
            </a:r>
            <a:endParaRPr lang="zh-CN" altLang="zh-CN" sz="2600" kern="0" dirty="0">
              <a:solidFill>
                <a:schemeClr val="accent2"/>
              </a:solidFill>
              <a:latin typeface="等线" panose="02010600030101010101" charset="-122"/>
              <a:ea typeface="+mn-ea"/>
              <a:cs typeface="Arial" panose="020B0604020202020204" pitchFamily="34" charset="0"/>
              <a:sym typeface="+mn-ea"/>
            </a:endParaRPr>
          </a:p>
        </p:txBody>
      </p:sp>
      <p:pic>
        <p:nvPicPr>
          <p:cNvPr id="16" name="图片 15">
            <a:extLst>
              <a:ext uri="{FF2B5EF4-FFF2-40B4-BE49-F238E27FC236}">
                <a16:creationId xmlns:a16="http://schemas.microsoft.com/office/drawing/2014/main" id="{287A0E4B-F976-47FD-9174-08600473C141}"/>
              </a:ext>
            </a:extLst>
          </p:cNvPr>
          <p:cNvPicPr>
            <a:picLocks noChangeAspect="1"/>
          </p:cNvPicPr>
          <p:nvPr/>
        </p:nvPicPr>
        <p:blipFill>
          <a:blip r:embed="rId3"/>
          <a:stretch>
            <a:fillRect/>
          </a:stretch>
        </p:blipFill>
        <p:spPr>
          <a:xfrm>
            <a:off x="781416" y="3252732"/>
            <a:ext cx="5232669" cy="3759393"/>
          </a:xfrm>
          <a:prstGeom prst="rect">
            <a:avLst/>
          </a:prstGeom>
        </p:spPr>
      </p:pic>
      <p:pic>
        <p:nvPicPr>
          <p:cNvPr id="41" name="图片 40">
            <a:extLst>
              <a:ext uri="{FF2B5EF4-FFF2-40B4-BE49-F238E27FC236}">
                <a16:creationId xmlns:a16="http://schemas.microsoft.com/office/drawing/2014/main" id="{70B7FCAD-553F-47EA-9327-686C1FE2F9FE}"/>
              </a:ext>
            </a:extLst>
          </p:cNvPr>
          <p:cNvPicPr>
            <a:picLocks noChangeAspect="1"/>
          </p:cNvPicPr>
          <p:nvPr/>
        </p:nvPicPr>
        <p:blipFill>
          <a:blip r:embed="rId4"/>
          <a:stretch>
            <a:fillRect/>
          </a:stretch>
        </p:blipFill>
        <p:spPr>
          <a:xfrm>
            <a:off x="6177917" y="3268607"/>
            <a:ext cx="4959605" cy="3727642"/>
          </a:xfrm>
          <a:prstGeom prst="rect">
            <a:avLst/>
          </a:prstGeom>
        </p:spPr>
      </p:pic>
      <p:sp>
        <p:nvSpPr>
          <p:cNvPr id="42" name="Freeform 10">
            <a:extLst>
              <a:ext uri="{FF2B5EF4-FFF2-40B4-BE49-F238E27FC236}">
                <a16:creationId xmlns:a16="http://schemas.microsoft.com/office/drawing/2014/main" id="{A2AF4E6D-8F78-4A54-B25C-0E44881ACACB}"/>
              </a:ext>
            </a:extLst>
          </p:cNvPr>
          <p:cNvSpPr/>
          <p:nvPr/>
        </p:nvSpPr>
        <p:spPr bwMode="auto">
          <a:xfrm>
            <a:off x="1084580" y="1736447"/>
            <a:ext cx="9468672" cy="1284964"/>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43" name="文本框 42">
            <a:extLst>
              <a:ext uri="{FF2B5EF4-FFF2-40B4-BE49-F238E27FC236}">
                <a16:creationId xmlns:a16="http://schemas.microsoft.com/office/drawing/2014/main" id="{02905E3C-C716-440F-AD45-BD19097D2F83}"/>
              </a:ext>
            </a:extLst>
          </p:cNvPr>
          <p:cNvSpPr txBox="1"/>
          <p:nvPr/>
        </p:nvSpPr>
        <p:spPr>
          <a:xfrm>
            <a:off x="978947" y="1811655"/>
            <a:ext cx="9795734" cy="1445973"/>
          </a:xfrm>
          <a:prstGeom prst="rect">
            <a:avLst/>
          </a:prstGeom>
          <a:noFill/>
        </p:spPr>
        <p:txBody>
          <a:bodyPr wrap="square" rtlCol="0">
            <a:spAutoFit/>
          </a:bodyPr>
          <a:lstStyle/>
          <a:p>
            <a:pPr indent="254000" algn="l">
              <a:lnSpc>
                <a:spcPts val="1950"/>
              </a:lnSpc>
            </a:pPr>
            <a:endParaRPr lang="en-US" altLang="zh-CN" sz="2000" kern="0" dirty="0">
              <a:solidFill>
                <a:srgbClr val="000000"/>
              </a:solidFill>
              <a:latin typeface="Arial" panose="020B0604020202020204" pitchFamily="34" charset="0"/>
              <a:ea typeface="宋体" panose="02010600030101010101" pitchFamily="2" charset="-122"/>
              <a:cs typeface="Arial" panose="020B0604020202020204" pitchFamily="34" charset="0"/>
            </a:endParaRPr>
          </a:p>
          <a:p>
            <a:pPr indent="254000" algn="l">
              <a:lnSpc>
                <a:spcPts val="1950"/>
              </a:lnSpc>
            </a:pPr>
            <a:r>
              <a:rPr lang="zh-CN" altLang="zh-CN" sz="20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由于计算机软件就是为了实现无纸办公，那么在估算功能点时应该多以用户的纸质表单为依据，每个表单就是一个</a:t>
            </a:r>
            <a:r>
              <a:rPr lang="en-US" altLang="zh-CN" sz="20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ILF</a:t>
            </a:r>
            <a:r>
              <a:rPr lang="zh-CN" altLang="zh-CN" sz="20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或</a:t>
            </a:r>
            <a:r>
              <a:rPr lang="en-US" altLang="zh-CN" sz="20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EIF</a:t>
            </a:r>
            <a:r>
              <a:rPr lang="zh-CN" altLang="zh-CN" sz="20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lang="zh-CN" altLang="zh-CN" sz="2000" b="1" kern="0" dirty="0">
                <a:solidFill>
                  <a:srgbClr val="FF0000"/>
                </a:solidFill>
                <a:effectLst/>
                <a:latin typeface="Arial" panose="020B0604020202020204" pitchFamily="34" charset="0"/>
                <a:ea typeface="宋体" panose="02010600030101010101" pitchFamily="2" charset="-122"/>
                <a:cs typeface="Arial" panose="020B0604020202020204" pitchFamily="34" charset="0"/>
              </a:rPr>
              <a:t>表单上显示的字段都是</a:t>
            </a:r>
            <a:r>
              <a:rPr lang="en-US" altLang="zh-CN" sz="2000" b="1" kern="0" dirty="0">
                <a:solidFill>
                  <a:srgbClr val="FF0000"/>
                </a:solidFill>
                <a:effectLst/>
                <a:latin typeface="Arial" panose="020B0604020202020204" pitchFamily="34" charset="0"/>
                <a:ea typeface="宋体" panose="02010600030101010101" pitchFamily="2" charset="-122"/>
                <a:cs typeface="Times New Roman" panose="02020603050405020304" pitchFamily="18" charset="0"/>
              </a:rPr>
              <a:t>DET</a:t>
            </a:r>
            <a:r>
              <a:rPr lang="zh-CN" altLang="en-US" sz="2000" b="1"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lang="en-US" altLang="zh-CN" sz="2000" kern="0" dirty="0">
                <a:solidFill>
                  <a:srgbClr val="000000"/>
                </a:solidFill>
                <a:effectLst/>
                <a:latin typeface="Arial" panose="020B0604020202020204" pitchFamily="34" charset="0"/>
                <a:ea typeface="宋体" panose="02010600030101010101" pitchFamily="2" charset="-122"/>
              </a:rPr>
              <a:t>ILF</a:t>
            </a:r>
            <a:r>
              <a:rPr lang="zh-CN" altLang="zh-CN" sz="20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和</a:t>
            </a:r>
            <a:r>
              <a:rPr lang="en-US" altLang="zh-CN" sz="2000" kern="0" dirty="0">
                <a:solidFill>
                  <a:srgbClr val="000000"/>
                </a:solidFill>
                <a:effectLst/>
                <a:latin typeface="Arial" panose="020B0604020202020204" pitchFamily="34" charset="0"/>
                <a:ea typeface="宋体" panose="02010600030101010101" pitchFamily="2" charset="-122"/>
              </a:rPr>
              <a:t>EIF</a:t>
            </a:r>
            <a:r>
              <a:rPr lang="zh-CN" altLang="zh-CN" sz="20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可以被看作数据库中的数据表，</a:t>
            </a:r>
            <a:endParaRPr lang="en-US" altLang="zh-CN" sz="2000" kern="0" dirty="0">
              <a:solidFill>
                <a:srgbClr val="000000"/>
              </a:solidFill>
              <a:latin typeface="Arial" panose="020B0604020202020204" pitchFamily="34" charset="0"/>
              <a:ea typeface="宋体" panose="02010600030101010101" pitchFamily="2" charset="-122"/>
              <a:cs typeface="Arial" panose="020B0604020202020204" pitchFamily="34" charset="0"/>
            </a:endParaRPr>
          </a:p>
          <a:p>
            <a:pPr latinLnBrk="0">
              <a:lnSpc>
                <a:spcPts val="2750"/>
              </a:lnSpc>
              <a:spcAft>
                <a:spcPts val="1200"/>
              </a:spcAft>
              <a:defRPr/>
            </a:pPr>
            <a:endParaRPr lang="en-US" altLang="zh-CN" sz="2000" dirty="0">
              <a:latin typeface="Arial" panose="020B0604020202020204" pitchFamily="34" charset="0"/>
            </a:endParaRPr>
          </a:p>
        </p:txBody>
      </p:sp>
      <p:sp>
        <p:nvSpPr>
          <p:cNvPr id="2" name="文本框 1">
            <a:extLst>
              <a:ext uri="{FF2B5EF4-FFF2-40B4-BE49-F238E27FC236}">
                <a16:creationId xmlns:a16="http://schemas.microsoft.com/office/drawing/2014/main" id="{C5B8FE29-12C7-42A8-A292-5D2CE3B61173}"/>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2.</a:t>
            </a:r>
          </a:p>
        </p:txBody>
      </p:sp>
      <p:sp>
        <p:nvSpPr>
          <p:cNvPr id="9" name="文本框 8">
            <a:extLst>
              <a:ext uri="{FF2B5EF4-FFF2-40B4-BE49-F238E27FC236}">
                <a16:creationId xmlns:a16="http://schemas.microsoft.com/office/drawing/2014/main" id="{E2B0CD72-6E3D-4B3C-B048-CAD12CB287D3}"/>
              </a:ext>
            </a:extLst>
          </p:cNvPr>
          <p:cNvSpPr txBox="1"/>
          <p:nvPr/>
        </p:nvSpPr>
        <p:spPr>
          <a:xfrm>
            <a:off x="1548765" y="83820"/>
            <a:ext cx="2844048"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功能点估算步骤</a:t>
            </a:r>
          </a:p>
        </p:txBody>
      </p:sp>
    </p:spTree>
    <p:extLst>
      <p:ext uri="{BB962C8B-B14F-4D97-AF65-F5344CB8AC3E}">
        <p14:creationId xmlns:p14="http://schemas.microsoft.com/office/powerpoint/2010/main" val="22573955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8"/>
                                        </p:tgtEl>
                                        <p:attrNameLst>
                                          <p:attrName>style.visibility</p:attrName>
                                        </p:attrNameLst>
                                      </p:cBhvr>
                                      <p:to>
                                        <p:strVal val="visible"/>
                                      </p:to>
                                    </p:set>
                                    <p:anim by="(-#ppt_w*2)" calcmode="lin" valueType="num">
                                      <p:cBhvr rctx="PPT">
                                        <p:cTn id="7" dur="250" autoRev="1" fill="hold">
                                          <p:stCondLst>
                                            <p:cond delay="0"/>
                                          </p:stCondLst>
                                        </p:cTn>
                                        <p:tgtEl>
                                          <p:spTgt spid="8"/>
                                        </p:tgtEl>
                                        <p:attrNameLst>
                                          <p:attrName>ppt_w</p:attrName>
                                        </p:attrNameLst>
                                      </p:cBhvr>
                                    </p:anim>
                                    <p:anim by="(#ppt_w*0.50)" calcmode="lin" valueType="num">
                                      <p:cBhvr>
                                        <p:cTn id="8" dur="250" decel="50000" autoRev="1" fill="hold">
                                          <p:stCondLst>
                                            <p:cond delay="0"/>
                                          </p:stCondLst>
                                        </p:cTn>
                                        <p:tgtEl>
                                          <p:spTgt spid="8"/>
                                        </p:tgtEl>
                                        <p:attrNameLst>
                                          <p:attrName>ppt_x</p:attrName>
                                        </p:attrNameLst>
                                      </p:cBhvr>
                                    </p:anim>
                                    <p:anim from="(-#ppt_h/2)" to="(#ppt_y)" calcmode="lin" valueType="num">
                                      <p:cBhvr>
                                        <p:cTn id="9" dur="500" fill="hold">
                                          <p:stCondLst>
                                            <p:cond delay="0"/>
                                          </p:stCondLst>
                                        </p:cTn>
                                        <p:tgtEl>
                                          <p:spTgt spid="8"/>
                                        </p:tgtEl>
                                        <p:attrNameLst>
                                          <p:attrName>ppt_y</p:attrName>
                                        </p:attrNameLst>
                                      </p:cBhvr>
                                    </p:anim>
                                    <p:animRot by="21600000">
                                      <p:cBhvr>
                                        <p:cTn id="10" dur="500" fill="hold">
                                          <p:stCondLst>
                                            <p:cond delay="0"/>
                                          </p:stCondLst>
                                        </p:cTn>
                                        <p:tgtEl>
                                          <p:spTgt spid="8"/>
                                        </p:tgtEl>
                                        <p:attrNameLst>
                                          <p:attrName>r</p:attrName>
                                        </p:attrNameLst>
                                      </p:cBhvr>
                                    </p:animRot>
                                  </p:childTnLst>
                                </p:cTn>
                              </p:par>
                            </p:childTnLst>
                          </p:cTn>
                        </p:par>
                        <p:par>
                          <p:cTn id="11" fill="hold">
                            <p:stCondLst>
                              <p:cond delay="950"/>
                            </p:stCondLst>
                            <p:childTnLst>
                              <p:par>
                                <p:cTn id="12" presetID="22" presetClass="entr" presetSubtype="8" fill="hold" grpId="0" nodeType="after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left)">
                                      <p:cBhvr>
                                        <p:cTn id="14" dur="500"/>
                                        <p:tgtEl>
                                          <p:spTgt spid="23"/>
                                        </p:tgtEl>
                                      </p:cBhvr>
                                    </p:animEffect>
                                  </p:childTnLst>
                                </p:cTn>
                              </p:par>
                            </p:childTnLst>
                          </p:cTn>
                        </p:par>
                        <p:par>
                          <p:cTn id="15" fill="hold">
                            <p:stCondLst>
                              <p:cond delay="1450"/>
                            </p:stCondLst>
                            <p:childTnLst>
                              <p:par>
                                <p:cTn id="16" presetID="22" presetClass="entr" presetSubtype="4" fill="hold" grpId="0" nodeType="afterEffect">
                                  <p:stCondLst>
                                    <p:cond delay="0"/>
                                  </p:stCondLst>
                                  <p:childTnLst>
                                    <p:set>
                                      <p:cBhvr>
                                        <p:cTn id="17" dur="1" fill="hold">
                                          <p:stCondLst>
                                            <p:cond delay="0"/>
                                          </p:stCondLst>
                                        </p:cTn>
                                        <p:tgtEl>
                                          <p:spTgt spid="42"/>
                                        </p:tgtEl>
                                        <p:attrNameLst>
                                          <p:attrName>style.visibility</p:attrName>
                                        </p:attrNameLst>
                                      </p:cBhvr>
                                      <p:to>
                                        <p:strVal val="visible"/>
                                      </p:to>
                                    </p:set>
                                    <p:animEffect transition="in" filter="wipe(down)">
                                      <p:cBhvr>
                                        <p:cTn id="18"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bldLvl="0" animBg="1"/>
      <p:bldP spid="8" grpId="0"/>
      <p:bldP spid="42" grpId="0" bldLvl="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68960" y="112204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198120" y="504190"/>
            <a:ext cx="1810385" cy="1649730"/>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2433320" y="1457960"/>
            <a:ext cx="8537575" cy="970351"/>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38" name="文本框 37"/>
          <p:cNvSpPr txBox="1"/>
          <p:nvPr/>
        </p:nvSpPr>
        <p:spPr>
          <a:xfrm>
            <a:off x="2764155" y="1811655"/>
            <a:ext cx="8010525" cy="428002"/>
          </a:xfrm>
          <a:prstGeom prst="rect">
            <a:avLst/>
          </a:prstGeom>
          <a:noFill/>
        </p:spPr>
        <p:txBody>
          <a:bodyPr wrap="square" rtlCol="0">
            <a:spAutoFit/>
          </a:bodyPr>
          <a:lstStyle/>
          <a:p>
            <a:pPr latinLnBrk="0">
              <a:lnSpc>
                <a:spcPts val="2750"/>
              </a:lnSpc>
              <a:spcAft>
                <a:spcPts val="1200"/>
              </a:spcAft>
              <a:defRPr/>
            </a:pPr>
            <a:r>
              <a:rPr lang="en-US" altLang="zh-CN" sz="2000" kern="0" dirty="0">
                <a:solidFill>
                  <a:srgbClr val="4D4D4D"/>
                </a:solidFill>
                <a:latin typeface="等线" panose="02010600030101010101" charset="-122"/>
                <a:cs typeface="Arial" panose="020B0604020202020204" pitchFamily="34" charset="0"/>
                <a:sym typeface="+mn-ea"/>
              </a:rPr>
              <a:t>EI</a:t>
            </a:r>
            <a:r>
              <a:rPr lang="zh-CN" altLang="zh-CN" sz="2000" kern="0" dirty="0">
                <a:solidFill>
                  <a:srgbClr val="4D4D4D"/>
                </a:solidFill>
                <a:latin typeface="等线" panose="02010600030101010101" charset="-122"/>
                <a:cs typeface="Arial" panose="020B0604020202020204" pitchFamily="34" charset="0"/>
                <a:sym typeface="+mn-ea"/>
              </a:rPr>
              <a:t>、</a:t>
            </a:r>
            <a:r>
              <a:rPr lang="en-US" altLang="zh-CN" sz="2000" kern="0" dirty="0">
                <a:solidFill>
                  <a:srgbClr val="4D4D4D"/>
                </a:solidFill>
                <a:latin typeface="等线" panose="02010600030101010101" charset="-122"/>
                <a:cs typeface="Arial" panose="020B0604020202020204" pitchFamily="34" charset="0"/>
                <a:sym typeface="+mn-ea"/>
              </a:rPr>
              <a:t>EO</a:t>
            </a:r>
            <a:r>
              <a:rPr lang="zh-CN" altLang="zh-CN" sz="2000" kern="0" dirty="0">
                <a:solidFill>
                  <a:srgbClr val="4D4D4D"/>
                </a:solidFill>
                <a:latin typeface="等线" panose="02010600030101010101" charset="-122"/>
                <a:cs typeface="Arial" panose="020B0604020202020204" pitchFamily="34" charset="0"/>
                <a:sym typeface="+mn-ea"/>
              </a:rPr>
              <a:t>、</a:t>
            </a:r>
            <a:r>
              <a:rPr lang="en-US" altLang="zh-CN" sz="2000" kern="0" dirty="0">
                <a:solidFill>
                  <a:srgbClr val="4D4D4D"/>
                </a:solidFill>
                <a:latin typeface="等线" panose="02010600030101010101" charset="-122"/>
                <a:cs typeface="Arial" panose="020B0604020202020204" pitchFamily="34" charset="0"/>
                <a:sym typeface="+mn-ea"/>
              </a:rPr>
              <a:t>EQ</a:t>
            </a:r>
            <a:endParaRPr lang="en-US" altLang="zh-CN" sz="2000" dirty="0">
              <a:latin typeface="Arial" panose="020B0604020202020204" pitchFamily="34" charset="0"/>
            </a:endParaRPr>
          </a:p>
        </p:txBody>
      </p:sp>
      <p:sp>
        <p:nvSpPr>
          <p:cNvPr id="23" name="Freeform 12"/>
          <p:cNvSpPr/>
          <p:nvPr/>
        </p:nvSpPr>
        <p:spPr bwMode="auto">
          <a:xfrm>
            <a:off x="2065655" y="1267460"/>
            <a:ext cx="3843655" cy="544195"/>
          </a:xfrm>
          <a:custGeom>
            <a:avLst/>
            <a:gdLst>
              <a:gd name="T0" fmla="*/ 3591 w 3591"/>
              <a:gd name="T1" fmla="*/ 0 h 696"/>
              <a:gd name="T2" fmla="*/ 0 w 3591"/>
              <a:gd name="T3" fmla="*/ 0 h 696"/>
              <a:gd name="T4" fmla="*/ 0 w 3591"/>
              <a:gd name="T5" fmla="*/ 696 h 696"/>
              <a:gd name="T6" fmla="*/ 3591 w 3591"/>
              <a:gd name="T7" fmla="*/ 696 h 696"/>
              <a:gd name="T8" fmla="*/ 3383 w 3591"/>
              <a:gd name="T9" fmla="*/ 353 h 696"/>
              <a:gd name="T10" fmla="*/ 3591 w 3591"/>
              <a:gd name="T11" fmla="*/ 0 h 696"/>
            </a:gdLst>
            <a:ahLst/>
            <a:cxnLst>
              <a:cxn ang="0">
                <a:pos x="T0" y="T1"/>
              </a:cxn>
              <a:cxn ang="0">
                <a:pos x="T2" y="T3"/>
              </a:cxn>
              <a:cxn ang="0">
                <a:pos x="T4" y="T5"/>
              </a:cxn>
              <a:cxn ang="0">
                <a:pos x="T6" y="T7"/>
              </a:cxn>
              <a:cxn ang="0">
                <a:pos x="T8" y="T9"/>
              </a:cxn>
              <a:cxn ang="0">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bg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8" name="TextBox 23"/>
          <p:cNvSpPr txBox="1"/>
          <p:nvPr/>
        </p:nvSpPr>
        <p:spPr>
          <a:xfrm>
            <a:off x="2205355" y="1294130"/>
            <a:ext cx="4047490" cy="491490"/>
          </a:xfrm>
          <a:prstGeom prst="rect">
            <a:avLst/>
          </a:prstGeom>
          <a:noFill/>
        </p:spPr>
        <p:txBody>
          <a:bodyPr wrap="square" rtlCol="0">
            <a:spAutoFit/>
          </a:bodyPr>
          <a:lstStyle/>
          <a:p>
            <a:r>
              <a:rPr lang="zh-CN" altLang="zh-CN" sz="2600" kern="0" dirty="0">
                <a:solidFill>
                  <a:schemeClr val="accent2"/>
                </a:solidFill>
                <a:latin typeface="等线" panose="02010600030101010101" charset="-122"/>
                <a:cs typeface="Arial" panose="020B0604020202020204" pitchFamily="34" charset="0"/>
                <a:sym typeface="+mn-ea"/>
              </a:rPr>
              <a:t>识别功能点的重要原则</a:t>
            </a:r>
            <a:endParaRPr lang="zh-CN" altLang="zh-CN" sz="2600" kern="0" dirty="0">
              <a:solidFill>
                <a:schemeClr val="accent2"/>
              </a:solidFill>
              <a:latin typeface="等线" panose="02010600030101010101" charset="-122"/>
              <a:ea typeface="+mn-ea"/>
              <a:cs typeface="Arial" panose="020B0604020202020204" pitchFamily="34" charset="0"/>
              <a:sym typeface="+mn-ea"/>
            </a:endParaRPr>
          </a:p>
        </p:txBody>
      </p:sp>
      <p:pic>
        <p:nvPicPr>
          <p:cNvPr id="13" name="图片 12">
            <a:extLst>
              <a:ext uri="{FF2B5EF4-FFF2-40B4-BE49-F238E27FC236}">
                <a16:creationId xmlns:a16="http://schemas.microsoft.com/office/drawing/2014/main" id="{7FA0767E-7C1D-460E-A25A-40EAFBC6FD18}"/>
              </a:ext>
            </a:extLst>
          </p:cNvPr>
          <p:cNvPicPr>
            <a:picLocks noChangeAspect="1"/>
          </p:cNvPicPr>
          <p:nvPr/>
        </p:nvPicPr>
        <p:blipFill>
          <a:blip r:embed="rId2"/>
          <a:stretch>
            <a:fillRect/>
          </a:stretch>
        </p:blipFill>
        <p:spPr>
          <a:xfrm>
            <a:off x="3419976" y="2703311"/>
            <a:ext cx="5188217" cy="3930852"/>
          </a:xfrm>
          <a:prstGeom prst="rect">
            <a:avLst/>
          </a:prstGeom>
        </p:spPr>
      </p:pic>
      <p:sp>
        <p:nvSpPr>
          <p:cNvPr id="2" name="文本框 1">
            <a:extLst>
              <a:ext uri="{FF2B5EF4-FFF2-40B4-BE49-F238E27FC236}">
                <a16:creationId xmlns:a16="http://schemas.microsoft.com/office/drawing/2014/main" id="{1B7FE67C-DF21-487E-B631-2D105FA481DF}"/>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2.</a:t>
            </a:r>
          </a:p>
        </p:txBody>
      </p:sp>
      <p:sp>
        <p:nvSpPr>
          <p:cNvPr id="9" name="文本框 8">
            <a:extLst>
              <a:ext uri="{FF2B5EF4-FFF2-40B4-BE49-F238E27FC236}">
                <a16:creationId xmlns:a16="http://schemas.microsoft.com/office/drawing/2014/main" id="{C2977E75-8E57-49C4-AC40-DA3BC385ADDE}"/>
              </a:ext>
            </a:extLst>
          </p:cNvPr>
          <p:cNvSpPr txBox="1"/>
          <p:nvPr/>
        </p:nvSpPr>
        <p:spPr>
          <a:xfrm>
            <a:off x="1548765" y="83820"/>
            <a:ext cx="2844048"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功能点估算步骤</a:t>
            </a:r>
          </a:p>
        </p:txBody>
      </p:sp>
    </p:spTree>
    <p:extLst>
      <p:ext uri="{BB962C8B-B14F-4D97-AF65-F5344CB8AC3E}">
        <p14:creationId xmlns:p14="http://schemas.microsoft.com/office/powerpoint/2010/main" val="3366950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8"/>
                                        </p:tgtEl>
                                        <p:attrNameLst>
                                          <p:attrName>style.visibility</p:attrName>
                                        </p:attrNameLst>
                                      </p:cBhvr>
                                      <p:to>
                                        <p:strVal val="visible"/>
                                      </p:to>
                                    </p:set>
                                    <p:anim by="(-#ppt_w*2)" calcmode="lin" valueType="num">
                                      <p:cBhvr rctx="PPT">
                                        <p:cTn id="11" dur="250" autoRev="1" fill="hold">
                                          <p:stCondLst>
                                            <p:cond delay="0"/>
                                          </p:stCondLst>
                                        </p:cTn>
                                        <p:tgtEl>
                                          <p:spTgt spid="8"/>
                                        </p:tgtEl>
                                        <p:attrNameLst>
                                          <p:attrName>ppt_w</p:attrName>
                                        </p:attrNameLst>
                                      </p:cBhvr>
                                    </p:anim>
                                    <p:anim by="(#ppt_w*0.50)" calcmode="lin" valueType="num">
                                      <p:cBhvr>
                                        <p:cTn id="12" dur="250" decel="50000" autoRev="1" fill="hold">
                                          <p:stCondLst>
                                            <p:cond delay="0"/>
                                          </p:stCondLst>
                                        </p:cTn>
                                        <p:tgtEl>
                                          <p:spTgt spid="8"/>
                                        </p:tgtEl>
                                        <p:attrNameLst>
                                          <p:attrName>ppt_x</p:attrName>
                                        </p:attrNameLst>
                                      </p:cBhvr>
                                    </p:anim>
                                    <p:anim from="(-#ppt_h/2)" to="(#ppt_y)" calcmode="lin" valueType="num">
                                      <p:cBhvr>
                                        <p:cTn id="13" dur="500" fill="hold">
                                          <p:stCondLst>
                                            <p:cond delay="0"/>
                                          </p:stCondLst>
                                        </p:cTn>
                                        <p:tgtEl>
                                          <p:spTgt spid="8"/>
                                        </p:tgtEl>
                                        <p:attrNameLst>
                                          <p:attrName>ppt_y</p:attrName>
                                        </p:attrNameLst>
                                      </p:cBhvr>
                                    </p:anim>
                                    <p:animRot by="21600000">
                                      <p:cBhvr>
                                        <p:cTn id="14" dur="500" fill="hold">
                                          <p:stCondLst>
                                            <p:cond delay="0"/>
                                          </p:stCondLst>
                                        </p:cTn>
                                        <p:tgtEl>
                                          <p:spTgt spid="8"/>
                                        </p:tgtEl>
                                        <p:attrNameLst>
                                          <p:attrName>r</p:attrName>
                                        </p:attrNameLst>
                                      </p:cBhvr>
                                    </p:animRot>
                                  </p:childTnLst>
                                </p:cTn>
                              </p:par>
                            </p:childTnLst>
                          </p:cTn>
                        </p:par>
                        <p:par>
                          <p:cTn id="15" fill="hold">
                            <p:stCondLst>
                              <p:cond delay="1450"/>
                            </p:stCondLst>
                            <p:childTnLst>
                              <p:par>
                                <p:cTn id="16" presetID="22" presetClass="entr" presetSubtype="8"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left)">
                                      <p:cBhvr>
                                        <p:cTn id="1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23" grpId="0" bldLvl="0" animBg="1"/>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68960" y="112204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198120" y="504190"/>
            <a:ext cx="1810385" cy="1649730"/>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2433320" y="1457960"/>
            <a:ext cx="8537575" cy="1135702"/>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38" name="文本框 37"/>
          <p:cNvSpPr txBox="1"/>
          <p:nvPr/>
        </p:nvSpPr>
        <p:spPr>
          <a:xfrm>
            <a:off x="2819717" y="1822874"/>
            <a:ext cx="8010525" cy="770788"/>
          </a:xfrm>
          <a:prstGeom prst="rect">
            <a:avLst/>
          </a:prstGeom>
          <a:noFill/>
        </p:spPr>
        <p:txBody>
          <a:bodyPr wrap="square" rtlCol="0">
            <a:spAutoFit/>
          </a:bodyPr>
          <a:lstStyle/>
          <a:p>
            <a:pPr latinLnBrk="0">
              <a:lnSpc>
                <a:spcPts val="2750"/>
              </a:lnSpc>
              <a:spcAft>
                <a:spcPts val="1200"/>
              </a:spcAft>
              <a:defRPr/>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就是对应用户增加、修改、删除的操作，</a:t>
            </a:r>
            <a:r>
              <a:rPr lang="en-US" altLang="zh-CN" sz="1800" kern="0" dirty="0">
                <a:solidFill>
                  <a:srgbClr val="000000"/>
                </a:solidFill>
                <a:effectLst/>
                <a:latin typeface="Arial" panose="020B0604020202020204" pitchFamily="34" charset="0"/>
                <a:ea typeface="宋体" panose="02010600030101010101" pitchFamily="2" charset="-122"/>
              </a:rPr>
              <a:t>EO</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和</a:t>
            </a:r>
            <a:r>
              <a:rPr lang="en-US" altLang="zh-CN" sz="1800" kern="0" dirty="0">
                <a:solidFill>
                  <a:srgbClr val="000000"/>
                </a:solidFill>
                <a:effectLst/>
                <a:latin typeface="Arial" panose="020B0604020202020204" pitchFamily="34" charset="0"/>
                <a:ea typeface="宋体" panose="02010600030101010101" pitchFamily="2" charset="-122"/>
              </a:rPr>
              <a:t>EQ</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都是用于用户查询的操作。</a:t>
            </a:r>
            <a:r>
              <a:rPr lang="en-US" altLang="zh-CN" sz="1800" kern="0" dirty="0">
                <a:solidFill>
                  <a:srgbClr val="000000"/>
                </a:solidFill>
                <a:effectLst/>
                <a:latin typeface="Arial" panose="020B0604020202020204" pitchFamily="34" charset="0"/>
                <a:ea typeface="宋体" panose="02010600030101010101" pitchFamily="2" charset="-122"/>
              </a:rPr>
              <a:t>EO</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和</a:t>
            </a:r>
            <a:r>
              <a:rPr lang="en-US" altLang="zh-CN" sz="1800" kern="0" dirty="0">
                <a:solidFill>
                  <a:srgbClr val="000000"/>
                </a:solidFill>
                <a:effectLst/>
                <a:latin typeface="Arial" panose="020B0604020202020204" pitchFamily="34" charset="0"/>
                <a:ea typeface="宋体" panose="02010600030101010101" pitchFamily="2" charset="-122"/>
              </a:rPr>
              <a:t>EQ</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的区别是，</a:t>
            </a:r>
            <a:r>
              <a:rPr lang="en-US" altLang="zh-CN" sz="1800" kern="0" dirty="0">
                <a:solidFill>
                  <a:srgbClr val="000000"/>
                </a:solidFill>
                <a:effectLst/>
                <a:latin typeface="Arial" panose="020B0604020202020204" pitchFamily="34" charset="0"/>
                <a:ea typeface="宋体" panose="02010600030101010101" pitchFamily="2" charset="-122"/>
              </a:rPr>
              <a:t>EO</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查询时使用了数学公式或计算方法。</a:t>
            </a:r>
            <a:endParaRPr lang="en-US" altLang="zh-CN" sz="2000" dirty="0">
              <a:latin typeface="Arial" panose="020B0604020202020204" pitchFamily="34" charset="0"/>
            </a:endParaRPr>
          </a:p>
        </p:txBody>
      </p:sp>
      <p:sp>
        <p:nvSpPr>
          <p:cNvPr id="23" name="Freeform 12"/>
          <p:cNvSpPr/>
          <p:nvPr/>
        </p:nvSpPr>
        <p:spPr bwMode="auto">
          <a:xfrm>
            <a:off x="2065655" y="1267460"/>
            <a:ext cx="3843655" cy="544195"/>
          </a:xfrm>
          <a:custGeom>
            <a:avLst/>
            <a:gdLst>
              <a:gd name="T0" fmla="*/ 3591 w 3591"/>
              <a:gd name="T1" fmla="*/ 0 h 696"/>
              <a:gd name="T2" fmla="*/ 0 w 3591"/>
              <a:gd name="T3" fmla="*/ 0 h 696"/>
              <a:gd name="T4" fmla="*/ 0 w 3591"/>
              <a:gd name="T5" fmla="*/ 696 h 696"/>
              <a:gd name="T6" fmla="*/ 3591 w 3591"/>
              <a:gd name="T7" fmla="*/ 696 h 696"/>
              <a:gd name="T8" fmla="*/ 3383 w 3591"/>
              <a:gd name="T9" fmla="*/ 353 h 696"/>
              <a:gd name="T10" fmla="*/ 3591 w 3591"/>
              <a:gd name="T11" fmla="*/ 0 h 696"/>
            </a:gdLst>
            <a:ahLst/>
            <a:cxnLst>
              <a:cxn ang="0">
                <a:pos x="T0" y="T1"/>
              </a:cxn>
              <a:cxn ang="0">
                <a:pos x="T2" y="T3"/>
              </a:cxn>
              <a:cxn ang="0">
                <a:pos x="T4" y="T5"/>
              </a:cxn>
              <a:cxn ang="0">
                <a:pos x="T6" y="T7"/>
              </a:cxn>
              <a:cxn ang="0">
                <a:pos x="T8" y="T9"/>
              </a:cxn>
              <a:cxn ang="0">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bg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8" name="TextBox 23"/>
          <p:cNvSpPr txBox="1"/>
          <p:nvPr/>
        </p:nvSpPr>
        <p:spPr>
          <a:xfrm>
            <a:off x="2205355" y="1294130"/>
            <a:ext cx="4047490" cy="491490"/>
          </a:xfrm>
          <a:prstGeom prst="rect">
            <a:avLst/>
          </a:prstGeom>
          <a:noFill/>
        </p:spPr>
        <p:txBody>
          <a:bodyPr wrap="square" rtlCol="0">
            <a:spAutoFit/>
          </a:bodyPr>
          <a:lstStyle/>
          <a:p>
            <a:r>
              <a:rPr lang="zh-CN" altLang="zh-CN" sz="2600" kern="0" dirty="0">
                <a:solidFill>
                  <a:schemeClr val="accent2"/>
                </a:solidFill>
                <a:latin typeface="等线" panose="02010600030101010101" charset="-122"/>
                <a:cs typeface="Arial" panose="020B0604020202020204" pitchFamily="34" charset="0"/>
                <a:sym typeface="+mn-ea"/>
              </a:rPr>
              <a:t>识别功能点的重要原则</a:t>
            </a:r>
            <a:endParaRPr lang="zh-CN" altLang="zh-CN" sz="2600" kern="0" dirty="0">
              <a:solidFill>
                <a:schemeClr val="accent2"/>
              </a:solidFill>
              <a:latin typeface="等线" panose="02010600030101010101" charset="-122"/>
              <a:ea typeface="+mn-ea"/>
              <a:cs typeface="Arial" panose="020B0604020202020204" pitchFamily="34" charset="0"/>
              <a:sym typeface="+mn-ea"/>
            </a:endParaRPr>
          </a:p>
        </p:txBody>
      </p:sp>
      <p:pic>
        <p:nvPicPr>
          <p:cNvPr id="9" name="图片 8">
            <a:extLst>
              <a:ext uri="{FF2B5EF4-FFF2-40B4-BE49-F238E27FC236}">
                <a16:creationId xmlns:a16="http://schemas.microsoft.com/office/drawing/2014/main" id="{93C15B6F-FC7B-4128-8B95-AAF4BE3352FD}"/>
              </a:ext>
            </a:extLst>
          </p:cNvPr>
          <p:cNvPicPr>
            <a:picLocks noChangeAspect="1"/>
          </p:cNvPicPr>
          <p:nvPr/>
        </p:nvPicPr>
        <p:blipFill>
          <a:blip r:embed="rId2"/>
          <a:stretch>
            <a:fillRect/>
          </a:stretch>
        </p:blipFill>
        <p:spPr>
          <a:xfrm>
            <a:off x="6501924" y="2856313"/>
            <a:ext cx="4775445" cy="3911801"/>
          </a:xfrm>
          <a:prstGeom prst="rect">
            <a:avLst/>
          </a:prstGeom>
        </p:spPr>
      </p:pic>
      <p:pic>
        <p:nvPicPr>
          <p:cNvPr id="39" name="图片 38">
            <a:extLst>
              <a:ext uri="{FF2B5EF4-FFF2-40B4-BE49-F238E27FC236}">
                <a16:creationId xmlns:a16="http://schemas.microsoft.com/office/drawing/2014/main" id="{6A7329A7-A21B-48DC-8024-08B93AE16112}"/>
              </a:ext>
            </a:extLst>
          </p:cNvPr>
          <p:cNvPicPr>
            <a:picLocks noChangeAspect="1"/>
          </p:cNvPicPr>
          <p:nvPr/>
        </p:nvPicPr>
        <p:blipFill>
          <a:blip r:embed="rId3"/>
          <a:stretch>
            <a:fillRect/>
          </a:stretch>
        </p:blipFill>
        <p:spPr>
          <a:xfrm>
            <a:off x="705212" y="2895812"/>
            <a:ext cx="5308873" cy="3829247"/>
          </a:xfrm>
          <a:prstGeom prst="rect">
            <a:avLst/>
          </a:prstGeom>
        </p:spPr>
      </p:pic>
      <p:sp>
        <p:nvSpPr>
          <p:cNvPr id="2" name="文本框 1">
            <a:extLst>
              <a:ext uri="{FF2B5EF4-FFF2-40B4-BE49-F238E27FC236}">
                <a16:creationId xmlns:a16="http://schemas.microsoft.com/office/drawing/2014/main" id="{36764D06-7896-4BA0-8D7A-E16CB60971FB}"/>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2.</a:t>
            </a:r>
          </a:p>
        </p:txBody>
      </p:sp>
      <p:sp>
        <p:nvSpPr>
          <p:cNvPr id="13" name="文本框 12">
            <a:extLst>
              <a:ext uri="{FF2B5EF4-FFF2-40B4-BE49-F238E27FC236}">
                <a16:creationId xmlns:a16="http://schemas.microsoft.com/office/drawing/2014/main" id="{306D99F4-9262-4DED-93EB-25FCE495081A}"/>
              </a:ext>
            </a:extLst>
          </p:cNvPr>
          <p:cNvSpPr txBox="1"/>
          <p:nvPr/>
        </p:nvSpPr>
        <p:spPr>
          <a:xfrm>
            <a:off x="1548765" y="83820"/>
            <a:ext cx="2844048"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功能点估算步骤</a:t>
            </a:r>
          </a:p>
        </p:txBody>
      </p:sp>
    </p:spTree>
    <p:extLst>
      <p:ext uri="{BB962C8B-B14F-4D97-AF65-F5344CB8AC3E}">
        <p14:creationId xmlns:p14="http://schemas.microsoft.com/office/powerpoint/2010/main" val="494321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8"/>
                                        </p:tgtEl>
                                        <p:attrNameLst>
                                          <p:attrName>style.visibility</p:attrName>
                                        </p:attrNameLst>
                                      </p:cBhvr>
                                      <p:to>
                                        <p:strVal val="visible"/>
                                      </p:to>
                                    </p:set>
                                    <p:anim by="(-#ppt_w*2)" calcmode="lin" valueType="num">
                                      <p:cBhvr rctx="PPT">
                                        <p:cTn id="11" dur="250" autoRev="1" fill="hold">
                                          <p:stCondLst>
                                            <p:cond delay="0"/>
                                          </p:stCondLst>
                                        </p:cTn>
                                        <p:tgtEl>
                                          <p:spTgt spid="8"/>
                                        </p:tgtEl>
                                        <p:attrNameLst>
                                          <p:attrName>ppt_w</p:attrName>
                                        </p:attrNameLst>
                                      </p:cBhvr>
                                    </p:anim>
                                    <p:anim by="(#ppt_w*0.50)" calcmode="lin" valueType="num">
                                      <p:cBhvr>
                                        <p:cTn id="12" dur="250" decel="50000" autoRev="1" fill="hold">
                                          <p:stCondLst>
                                            <p:cond delay="0"/>
                                          </p:stCondLst>
                                        </p:cTn>
                                        <p:tgtEl>
                                          <p:spTgt spid="8"/>
                                        </p:tgtEl>
                                        <p:attrNameLst>
                                          <p:attrName>ppt_x</p:attrName>
                                        </p:attrNameLst>
                                      </p:cBhvr>
                                    </p:anim>
                                    <p:anim from="(-#ppt_h/2)" to="(#ppt_y)" calcmode="lin" valueType="num">
                                      <p:cBhvr>
                                        <p:cTn id="13" dur="500" fill="hold">
                                          <p:stCondLst>
                                            <p:cond delay="0"/>
                                          </p:stCondLst>
                                        </p:cTn>
                                        <p:tgtEl>
                                          <p:spTgt spid="8"/>
                                        </p:tgtEl>
                                        <p:attrNameLst>
                                          <p:attrName>ppt_y</p:attrName>
                                        </p:attrNameLst>
                                      </p:cBhvr>
                                    </p:anim>
                                    <p:animRot by="21600000">
                                      <p:cBhvr>
                                        <p:cTn id="14" dur="500" fill="hold">
                                          <p:stCondLst>
                                            <p:cond delay="0"/>
                                          </p:stCondLst>
                                        </p:cTn>
                                        <p:tgtEl>
                                          <p:spTgt spid="8"/>
                                        </p:tgtEl>
                                        <p:attrNameLst>
                                          <p:attrName>r</p:attrName>
                                        </p:attrNameLst>
                                      </p:cBhvr>
                                    </p:animRot>
                                  </p:childTnLst>
                                </p:cTn>
                              </p:par>
                            </p:childTnLst>
                          </p:cTn>
                        </p:par>
                        <p:par>
                          <p:cTn id="15" fill="hold">
                            <p:stCondLst>
                              <p:cond delay="1450"/>
                            </p:stCondLst>
                            <p:childTnLst>
                              <p:par>
                                <p:cTn id="16" presetID="22" presetClass="entr" presetSubtype="8"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left)">
                                      <p:cBhvr>
                                        <p:cTn id="1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23" grpId="0" bldLvl="0" animBg="1"/>
      <p:bldP spid="8"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79120" y="113220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79527" y="682826"/>
            <a:ext cx="1020535" cy="966814"/>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1009015" y="1457325"/>
            <a:ext cx="10406380" cy="500380"/>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38" name="文本框 37"/>
          <p:cNvSpPr txBox="1"/>
          <p:nvPr/>
        </p:nvSpPr>
        <p:spPr>
          <a:xfrm>
            <a:off x="1291410" y="1464663"/>
            <a:ext cx="9357995" cy="398780"/>
          </a:xfrm>
          <a:prstGeom prst="rect">
            <a:avLst/>
          </a:prstGeom>
          <a:noFill/>
        </p:spPr>
        <p:txBody>
          <a:bodyPr wrap="square" rtlCol="0">
            <a:spAutoFit/>
          </a:bodyPr>
          <a:lstStyle/>
          <a:p>
            <a:r>
              <a:rPr lang="en-US" altLang="zh-CN" sz="2000" kern="0" dirty="0">
                <a:solidFill>
                  <a:srgbClr val="4D4D4D"/>
                </a:solidFill>
                <a:latin typeface="微软雅黑" panose="020B0503020204020204" pitchFamily="34" charset="-122"/>
                <a:ea typeface="等线" panose="02010600030101010101" charset="-122"/>
                <a:cs typeface="Arial" panose="020B0604020202020204" pitchFamily="34" charset="0"/>
                <a:sym typeface="+mn-ea"/>
              </a:rPr>
              <a:t>  2</a:t>
            </a:r>
            <a:r>
              <a:rPr lang="en-US" altLang="zh-CN" sz="2000" dirty="0">
                <a:latin typeface="Arial" panose="020B0604020202020204" pitchFamily="34" charset="0"/>
                <a:sym typeface="+mn-ea"/>
              </a:rPr>
              <a:t>.  </a:t>
            </a:r>
            <a:r>
              <a:rPr lang="zh-CN" altLang="en-US" sz="2000" dirty="0">
                <a:latin typeface="Arial" panose="020B0604020202020204" pitchFamily="34" charset="0"/>
                <a:sym typeface="+mn-ea"/>
              </a:rPr>
              <a:t>确定功能点复杂性等级</a:t>
            </a:r>
            <a:endParaRPr lang="zh-CN" altLang="en-US" sz="2000" dirty="0">
              <a:latin typeface="Arial" panose="020B0604020202020204" pitchFamily="34" charset="0"/>
            </a:endParaRPr>
          </a:p>
        </p:txBody>
      </p:sp>
      <p:pic>
        <p:nvPicPr>
          <p:cNvPr id="2" name="图片 6"/>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531962" y="2106613"/>
            <a:ext cx="6440245" cy="49396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7D81B0DA-99E0-4484-A82D-5F9EE2282038}"/>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2.</a:t>
            </a:r>
          </a:p>
        </p:txBody>
      </p:sp>
      <p:sp>
        <p:nvSpPr>
          <p:cNvPr id="9" name="文本框 8">
            <a:extLst>
              <a:ext uri="{FF2B5EF4-FFF2-40B4-BE49-F238E27FC236}">
                <a16:creationId xmlns:a16="http://schemas.microsoft.com/office/drawing/2014/main" id="{414F876C-CC09-4B40-A9E1-F1B74EEBBCA3}"/>
              </a:ext>
            </a:extLst>
          </p:cNvPr>
          <p:cNvSpPr txBox="1"/>
          <p:nvPr/>
        </p:nvSpPr>
        <p:spPr>
          <a:xfrm>
            <a:off x="1548765" y="83820"/>
            <a:ext cx="2844048"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功能点估算步骤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79120" y="113220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79527" y="682826"/>
            <a:ext cx="1020535" cy="966814"/>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1009015" y="1457325"/>
            <a:ext cx="10406380" cy="500380"/>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38" name="文本框 37"/>
          <p:cNvSpPr txBox="1"/>
          <p:nvPr/>
        </p:nvSpPr>
        <p:spPr>
          <a:xfrm>
            <a:off x="1291410" y="1464663"/>
            <a:ext cx="9357995" cy="398780"/>
          </a:xfrm>
          <a:prstGeom prst="rect">
            <a:avLst/>
          </a:prstGeom>
          <a:noFill/>
        </p:spPr>
        <p:txBody>
          <a:bodyPr wrap="square" rtlCol="0">
            <a:spAutoFit/>
          </a:bodyPr>
          <a:lstStyle/>
          <a:p>
            <a:r>
              <a:rPr lang="en-US" altLang="zh-CN" sz="2000" kern="0" dirty="0">
                <a:solidFill>
                  <a:srgbClr val="4D4D4D"/>
                </a:solidFill>
                <a:latin typeface="微软雅黑" panose="020B0503020204020204" pitchFamily="34" charset="-122"/>
                <a:ea typeface="等线" panose="02010600030101010101" charset="-122"/>
                <a:cs typeface="Arial" panose="020B0604020202020204" pitchFamily="34" charset="0"/>
                <a:sym typeface="+mn-ea"/>
              </a:rPr>
              <a:t>  2</a:t>
            </a:r>
            <a:r>
              <a:rPr lang="en-US" altLang="zh-CN" sz="2000" dirty="0">
                <a:latin typeface="Arial" panose="020B0604020202020204" pitchFamily="34" charset="0"/>
                <a:sym typeface="+mn-ea"/>
              </a:rPr>
              <a:t>.  </a:t>
            </a:r>
            <a:r>
              <a:rPr lang="zh-CN" altLang="en-US" sz="2000" dirty="0">
                <a:latin typeface="Arial" panose="020B0604020202020204" pitchFamily="34" charset="0"/>
                <a:sym typeface="+mn-ea"/>
              </a:rPr>
              <a:t>确定功能点复杂性等级：</a:t>
            </a:r>
            <a:r>
              <a:rPr lang="en-US" altLang="zh-CN" sz="2000" dirty="0">
                <a:latin typeface="Arial" panose="020B0604020202020204" pitchFamily="34" charset="0"/>
                <a:sym typeface="+mn-ea"/>
              </a:rPr>
              <a:t>ILF/EIF</a:t>
            </a:r>
            <a:endParaRPr lang="zh-CN" altLang="en-US" sz="2000" dirty="0">
              <a:latin typeface="Arial" panose="020B0604020202020204" pitchFamily="34" charset="0"/>
            </a:endParaRPr>
          </a:p>
        </p:txBody>
      </p:sp>
      <p:pic>
        <p:nvPicPr>
          <p:cNvPr id="16" name="图片 15">
            <a:extLst>
              <a:ext uri="{FF2B5EF4-FFF2-40B4-BE49-F238E27FC236}">
                <a16:creationId xmlns:a16="http://schemas.microsoft.com/office/drawing/2014/main" id="{F8AF614A-2C64-4B82-8505-2FDCC20BE69D}"/>
              </a:ext>
            </a:extLst>
          </p:cNvPr>
          <p:cNvPicPr>
            <a:picLocks noChangeAspect="1"/>
          </p:cNvPicPr>
          <p:nvPr/>
        </p:nvPicPr>
        <p:blipFill>
          <a:blip r:embed="rId2"/>
          <a:stretch>
            <a:fillRect/>
          </a:stretch>
        </p:blipFill>
        <p:spPr>
          <a:xfrm>
            <a:off x="1064642" y="2009187"/>
            <a:ext cx="9834504" cy="1869646"/>
          </a:xfrm>
          <a:prstGeom prst="rect">
            <a:avLst/>
          </a:prstGeom>
        </p:spPr>
      </p:pic>
      <p:sp>
        <p:nvSpPr>
          <p:cNvPr id="45" name="Freeform 10">
            <a:extLst>
              <a:ext uri="{FF2B5EF4-FFF2-40B4-BE49-F238E27FC236}">
                <a16:creationId xmlns:a16="http://schemas.microsoft.com/office/drawing/2014/main" id="{17B72F82-E985-4227-BC3D-F69C0F1101F4}"/>
              </a:ext>
            </a:extLst>
          </p:cNvPr>
          <p:cNvSpPr/>
          <p:nvPr/>
        </p:nvSpPr>
        <p:spPr bwMode="auto">
          <a:xfrm>
            <a:off x="764922" y="4233938"/>
            <a:ext cx="10326370" cy="3099435"/>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accent6">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46" name="文本框 45">
            <a:extLst>
              <a:ext uri="{FF2B5EF4-FFF2-40B4-BE49-F238E27FC236}">
                <a16:creationId xmlns:a16="http://schemas.microsoft.com/office/drawing/2014/main" id="{0F857EBC-C3C6-4EAF-828A-805A00E6641E}"/>
              </a:ext>
            </a:extLst>
          </p:cNvPr>
          <p:cNvSpPr txBox="1"/>
          <p:nvPr/>
        </p:nvSpPr>
        <p:spPr>
          <a:xfrm>
            <a:off x="1064642" y="4316488"/>
            <a:ext cx="9829800" cy="2911118"/>
          </a:xfrm>
          <a:prstGeom prst="rect">
            <a:avLst/>
          </a:prstGeom>
          <a:noFill/>
        </p:spPr>
        <p:txBody>
          <a:bodyPr wrap="square" rtlCol="0">
            <a:spAutoFit/>
          </a:bodyPr>
          <a:lstStyle/>
          <a:p>
            <a:pPr indent="0" latinLnBrk="0">
              <a:lnSpc>
                <a:spcPts val="2700"/>
              </a:lnSpc>
              <a:spcAft>
                <a:spcPts val="0"/>
              </a:spcAft>
              <a:buNone/>
              <a:defRPr/>
            </a:pPr>
            <a:r>
              <a:rPr lang="en-US" altLang="zh-CN" kern="0" dirty="0">
                <a:solidFill>
                  <a:srgbClr val="4D4D4D"/>
                </a:solidFill>
                <a:latin typeface="微软雅黑" panose="020B0503020204020204" pitchFamily="34" charset="-122"/>
                <a:ea typeface="等线" panose="02010600030101010101" charset="-122"/>
                <a:cs typeface="Arial" panose="020B0604020202020204" pitchFamily="34" charset="0"/>
                <a:sym typeface="+mn-ea"/>
              </a:rPr>
              <a:t>    ILF</a:t>
            </a:r>
            <a:r>
              <a:rPr lang="zh-CN" altLang="zh-CN" kern="0" dirty="0">
                <a:solidFill>
                  <a:srgbClr val="4D4D4D"/>
                </a:solidFill>
                <a:latin typeface="等线" panose="02010600030101010101" charset="-122"/>
                <a:cs typeface="Arial" panose="020B0604020202020204" pitchFamily="34" charset="0"/>
                <a:sym typeface="+mn-ea"/>
              </a:rPr>
              <a:t>和</a:t>
            </a:r>
            <a:r>
              <a:rPr lang="en-US" altLang="zh-CN" kern="0" dirty="0">
                <a:solidFill>
                  <a:srgbClr val="4D4D4D"/>
                </a:solidFill>
                <a:latin typeface="等线" panose="02010600030101010101" charset="-122"/>
                <a:cs typeface="Arial" panose="020B0604020202020204" pitchFamily="34" charset="0"/>
                <a:sym typeface="+mn-ea"/>
              </a:rPr>
              <a:t>EIF</a:t>
            </a:r>
            <a:r>
              <a:rPr lang="zh-CN" altLang="zh-CN" kern="0" dirty="0">
                <a:solidFill>
                  <a:srgbClr val="4D4D4D"/>
                </a:solidFill>
                <a:latin typeface="等线" panose="02010600030101010101" charset="-122"/>
                <a:cs typeface="Arial" panose="020B0604020202020204" pitchFamily="34" charset="0"/>
                <a:sym typeface="+mn-ea"/>
              </a:rPr>
              <a:t>的复杂性是取决于</a:t>
            </a:r>
            <a:r>
              <a:rPr lang="zh-CN" altLang="en-US" kern="0" dirty="0">
                <a:solidFill>
                  <a:srgbClr val="4D4D4D"/>
                </a:solidFill>
                <a:latin typeface="等线" panose="02010600030101010101" charset="-122"/>
                <a:cs typeface="Arial" panose="020B0604020202020204" pitchFamily="34" charset="0"/>
                <a:sym typeface="+mn-ea"/>
              </a:rPr>
              <a:t>记录类型</a:t>
            </a:r>
            <a:r>
              <a:rPr lang="en-US" altLang="zh-CN" kern="0" dirty="0">
                <a:solidFill>
                  <a:srgbClr val="4D4D4D"/>
                </a:solidFill>
                <a:latin typeface="等线" panose="02010600030101010101" charset="-122"/>
                <a:cs typeface="Arial" panose="020B0604020202020204" pitchFamily="34" charset="0"/>
                <a:sym typeface="+mn-ea"/>
              </a:rPr>
              <a:t>RET</a:t>
            </a:r>
            <a:r>
              <a:rPr lang="zh-CN" altLang="zh-CN" kern="0" dirty="0">
                <a:solidFill>
                  <a:srgbClr val="4D4D4D"/>
                </a:solidFill>
                <a:latin typeface="等线" panose="02010600030101010101" charset="-122"/>
                <a:cs typeface="Arial" panose="020B0604020202020204" pitchFamily="34" charset="0"/>
                <a:sym typeface="+mn-ea"/>
              </a:rPr>
              <a:t>（</a:t>
            </a:r>
            <a:r>
              <a:rPr lang="en-US" altLang="zh-CN" kern="0" dirty="0">
                <a:solidFill>
                  <a:srgbClr val="4D4D4D"/>
                </a:solidFill>
                <a:latin typeface="等线" panose="02010600030101010101" charset="-122"/>
                <a:cs typeface="Arial" panose="020B0604020202020204" pitchFamily="34" charset="0"/>
                <a:sym typeface="+mn-ea"/>
              </a:rPr>
              <a:t>Record element type</a:t>
            </a:r>
            <a:r>
              <a:rPr lang="zh-CN" altLang="zh-CN" kern="0" dirty="0">
                <a:solidFill>
                  <a:srgbClr val="4D4D4D"/>
                </a:solidFill>
                <a:latin typeface="等线" panose="02010600030101010101" charset="-122"/>
                <a:cs typeface="Arial" panose="020B0604020202020204" pitchFamily="34" charset="0"/>
                <a:sym typeface="+mn-ea"/>
              </a:rPr>
              <a:t>）和</a:t>
            </a:r>
            <a:r>
              <a:rPr lang="zh-CN" altLang="en-US" kern="0" dirty="0">
                <a:solidFill>
                  <a:srgbClr val="4D4D4D"/>
                </a:solidFill>
                <a:latin typeface="等线" panose="02010600030101010101" charset="-122"/>
                <a:cs typeface="Arial" panose="020B0604020202020204" pitchFamily="34" charset="0"/>
                <a:sym typeface="+mn-ea"/>
              </a:rPr>
              <a:t>数据类型</a:t>
            </a:r>
            <a:r>
              <a:rPr lang="en-US" altLang="zh-CN" kern="0" dirty="0">
                <a:solidFill>
                  <a:srgbClr val="4D4D4D"/>
                </a:solidFill>
                <a:latin typeface="等线" panose="02010600030101010101" charset="-122"/>
                <a:cs typeface="Arial" panose="020B0604020202020204" pitchFamily="34" charset="0"/>
                <a:sym typeface="+mn-ea"/>
              </a:rPr>
              <a:t>DET</a:t>
            </a:r>
            <a:r>
              <a:rPr lang="zh-CN" altLang="zh-CN" kern="0" dirty="0">
                <a:solidFill>
                  <a:srgbClr val="4D4D4D"/>
                </a:solidFill>
                <a:latin typeface="等线" panose="02010600030101010101" charset="-122"/>
                <a:cs typeface="Arial" panose="020B0604020202020204" pitchFamily="34" charset="0"/>
                <a:sym typeface="+mn-ea"/>
              </a:rPr>
              <a:t>（</a:t>
            </a:r>
            <a:r>
              <a:rPr lang="en-US" altLang="zh-CN" kern="0" dirty="0">
                <a:solidFill>
                  <a:srgbClr val="4D4D4D"/>
                </a:solidFill>
                <a:latin typeface="等线" panose="02010600030101010101" charset="-122"/>
                <a:cs typeface="Arial" panose="020B0604020202020204" pitchFamily="34" charset="0"/>
                <a:sym typeface="+mn-ea"/>
              </a:rPr>
              <a:t>Data element type</a:t>
            </a:r>
            <a:r>
              <a:rPr lang="zh-CN" altLang="zh-CN" kern="0" dirty="0">
                <a:solidFill>
                  <a:srgbClr val="4D4D4D"/>
                </a:solidFill>
                <a:latin typeface="等线" panose="02010600030101010101" charset="-122"/>
                <a:cs typeface="Arial" panose="020B0604020202020204" pitchFamily="34" charset="0"/>
                <a:sym typeface="+mn-ea"/>
              </a:rPr>
              <a:t>）的数量。</a:t>
            </a:r>
            <a:r>
              <a:rPr lang="en-US" altLang="zh-CN" kern="0" dirty="0">
                <a:solidFill>
                  <a:srgbClr val="4D4D4D"/>
                </a:solidFill>
                <a:latin typeface="等线" panose="02010600030101010101" charset="-122"/>
                <a:cs typeface="Arial" panose="020B0604020202020204" pitchFamily="34" charset="0"/>
                <a:sym typeface="+mn-ea"/>
              </a:rPr>
              <a:t>DET</a:t>
            </a:r>
            <a:r>
              <a:rPr lang="zh-CN" altLang="zh-CN" kern="0" dirty="0">
                <a:solidFill>
                  <a:srgbClr val="4D4D4D"/>
                </a:solidFill>
                <a:latin typeface="等线" panose="02010600030101010101" charset="-122"/>
                <a:cs typeface="Arial" panose="020B0604020202020204" pitchFamily="34" charset="0"/>
                <a:sym typeface="+mn-ea"/>
              </a:rPr>
              <a:t>是一个以用户角度识别的、非重复的、有业务逻辑意义的字段。</a:t>
            </a:r>
            <a:br>
              <a:rPr lang="en-US" altLang="zh-CN" kern="0" dirty="0">
                <a:solidFill>
                  <a:srgbClr val="4D4D4D"/>
                </a:solidFill>
                <a:latin typeface="等线" panose="02010600030101010101" charset="-122"/>
                <a:cs typeface="Arial" panose="020B0604020202020204" pitchFamily="34" charset="0"/>
                <a:sym typeface="+mn-ea"/>
              </a:rPr>
            </a:br>
            <a:r>
              <a:rPr lang="en-US" altLang="zh-CN" kern="0" dirty="0">
                <a:solidFill>
                  <a:srgbClr val="4D4D4D"/>
                </a:solidFill>
                <a:latin typeface="等线" panose="02010600030101010101" charset="-122"/>
                <a:cs typeface="Arial" panose="020B0604020202020204" pitchFamily="34" charset="0"/>
                <a:sym typeface="+mn-ea"/>
              </a:rPr>
              <a:t>    DET</a:t>
            </a:r>
            <a:r>
              <a:rPr lang="zh-CN" altLang="zh-CN" kern="0" dirty="0">
                <a:solidFill>
                  <a:srgbClr val="4D4D4D"/>
                </a:solidFill>
                <a:latin typeface="等线" panose="02010600030101010101" charset="-122"/>
                <a:cs typeface="Arial" panose="020B0604020202020204" pitchFamily="34" charset="0"/>
                <a:sym typeface="+mn-ea"/>
              </a:rPr>
              <a:t>计算的规则如下：</a:t>
            </a:r>
            <a:endParaRPr lang="zh-CN" altLang="zh-CN" kern="100" dirty="0">
              <a:latin typeface="等线" panose="02010600030101010101" charset="-122"/>
              <a:ea typeface="等线" panose="02010600030101010101" charset="-122"/>
              <a:cs typeface="Times New Roman" panose="02020603050405020304" pitchFamily="18" charset="0"/>
            </a:endParaRPr>
          </a:p>
          <a:p>
            <a:pPr marL="342900" indent="0" latinLnBrk="0">
              <a:lnSpc>
                <a:spcPts val="2700"/>
              </a:lnSpc>
              <a:spcBef>
                <a:spcPts val="600"/>
              </a:spcBef>
              <a:spcAft>
                <a:spcPts val="0"/>
              </a:spcAft>
              <a:buSzPts val="1000"/>
              <a:buFont typeface="Symbol" panose="05050102010706020507" pitchFamily="18" charset="2"/>
              <a:buNone/>
              <a:tabLst>
                <a:tab pos="457200" algn="l"/>
              </a:tabLst>
              <a:defRPr/>
            </a:pPr>
            <a:r>
              <a:rPr lang="zh-CN" altLang="zh-CN" kern="0" dirty="0">
                <a:solidFill>
                  <a:srgbClr val="666666"/>
                </a:solidFill>
                <a:latin typeface="等线" panose="02010600030101010101" charset="-122"/>
                <a:cs typeface="Arial" panose="020B0604020202020204" pitchFamily="34" charset="0"/>
                <a:sym typeface="+mn-ea"/>
              </a:rPr>
              <a:t>通过一个基本处理过程的执行，对</a:t>
            </a:r>
            <a:r>
              <a:rPr lang="en-US" altLang="zh-CN" kern="0" dirty="0">
                <a:solidFill>
                  <a:srgbClr val="666666"/>
                </a:solidFill>
                <a:latin typeface="等线" panose="02010600030101010101" charset="-122"/>
                <a:cs typeface="Arial" panose="020B0604020202020204" pitchFamily="34" charset="0"/>
                <a:sym typeface="+mn-ea"/>
              </a:rPr>
              <a:t>ILF</a:t>
            </a:r>
            <a:r>
              <a:rPr lang="zh-CN" altLang="zh-CN" kern="0" dirty="0">
                <a:solidFill>
                  <a:srgbClr val="666666"/>
                </a:solidFill>
                <a:latin typeface="等线" panose="02010600030101010101" charset="-122"/>
                <a:cs typeface="Arial" panose="020B0604020202020204" pitchFamily="34" charset="0"/>
                <a:sym typeface="+mn-ea"/>
              </a:rPr>
              <a:t>进行维护，或从</a:t>
            </a:r>
            <a:r>
              <a:rPr lang="en-US" altLang="zh-CN" kern="0" dirty="0">
                <a:solidFill>
                  <a:srgbClr val="666666"/>
                </a:solidFill>
                <a:latin typeface="等线" panose="02010600030101010101" charset="-122"/>
                <a:cs typeface="Arial" panose="020B0604020202020204" pitchFamily="34" charset="0"/>
                <a:sym typeface="+mn-ea"/>
              </a:rPr>
              <a:t>ILF/EIF</a:t>
            </a:r>
            <a:r>
              <a:rPr lang="zh-CN" altLang="zh-CN" kern="0" dirty="0">
                <a:solidFill>
                  <a:srgbClr val="666666"/>
                </a:solidFill>
                <a:latin typeface="等线" panose="02010600030101010101" charset="-122"/>
                <a:cs typeface="Arial" panose="020B0604020202020204" pitchFamily="34" charset="0"/>
                <a:sym typeface="+mn-ea"/>
              </a:rPr>
              <a:t>中返回一个特定的、用户可识别的、非重复的字段，那么每个这样的字段算一个</a:t>
            </a:r>
            <a:r>
              <a:rPr lang="en-US" altLang="zh-CN" kern="0" dirty="0">
                <a:solidFill>
                  <a:srgbClr val="666666"/>
                </a:solidFill>
                <a:latin typeface="等线" panose="02010600030101010101" charset="-122"/>
                <a:cs typeface="Arial" panose="020B0604020202020204" pitchFamily="34" charset="0"/>
                <a:sym typeface="+mn-ea"/>
              </a:rPr>
              <a:t>DET</a:t>
            </a:r>
            <a:r>
              <a:rPr lang="zh-CN" altLang="zh-CN" kern="0" dirty="0">
                <a:solidFill>
                  <a:srgbClr val="666666"/>
                </a:solidFill>
                <a:latin typeface="等线" panose="02010600030101010101" charset="-122"/>
                <a:cs typeface="Arial" panose="020B0604020202020204" pitchFamily="34" charset="0"/>
                <a:sym typeface="+mn-ea"/>
              </a:rPr>
              <a:t>。</a:t>
            </a:r>
            <a:endParaRPr lang="zh-CN" altLang="zh-CN" kern="100" dirty="0">
              <a:latin typeface="等线" panose="02010600030101010101" charset="-122"/>
              <a:ea typeface="等线" panose="02010600030101010101" charset="-122"/>
              <a:cs typeface="Times New Roman" panose="02020603050405020304" pitchFamily="18" charset="0"/>
            </a:endParaRPr>
          </a:p>
          <a:p>
            <a:pPr indent="0" latinLnBrk="0">
              <a:lnSpc>
                <a:spcPts val="2700"/>
              </a:lnSpc>
              <a:defRPr/>
            </a:pPr>
            <a:r>
              <a:rPr lang="en-US" altLang="zh-CN" kern="0" dirty="0">
                <a:solidFill>
                  <a:srgbClr val="4D4D4D"/>
                </a:solidFill>
                <a:latin typeface="微软雅黑" panose="020B0503020204020204" pitchFamily="34" charset="-122"/>
                <a:cs typeface="Arial" panose="020B0604020202020204" pitchFamily="34" charset="0"/>
                <a:sym typeface="+mn-ea"/>
              </a:rPr>
              <a:t>    </a:t>
            </a:r>
            <a:r>
              <a:rPr lang="zh-CN" altLang="zh-CN" kern="0" dirty="0">
                <a:solidFill>
                  <a:srgbClr val="4D4D4D"/>
                </a:solidFill>
                <a:cs typeface="Arial" panose="020B0604020202020204" pitchFamily="34" charset="0"/>
                <a:sym typeface="+mn-ea"/>
              </a:rPr>
              <a:t>例如：添加一个外贸订单时需要保存“订单号码、订单日期、地址、邮编”，那么  对于</a:t>
            </a:r>
            <a:r>
              <a:rPr lang="en-US" altLang="zh-CN" kern="0" dirty="0">
                <a:solidFill>
                  <a:srgbClr val="4D4D4D"/>
                </a:solidFill>
                <a:cs typeface="Arial" panose="020B0604020202020204" pitchFamily="34" charset="0"/>
                <a:sym typeface="+mn-ea"/>
              </a:rPr>
              <a:t>ILF</a:t>
            </a:r>
            <a:r>
              <a:rPr lang="zh-CN" altLang="zh-CN" kern="0" dirty="0">
                <a:solidFill>
                  <a:srgbClr val="4D4D4D"/>
                </a:solidFill>
                <a:cs typeface="Arial" panose="020B0604020202020204" pitchFamily="34" charset="0"/>
                <a:sym typeface="+mn-ea"/>
              </a:rPr>
              <a:t>订单来说它的</a:t>
            </a:r>
            <a:r>
              <a:rPr lang="en-US" altLang="zh-CN" kern="0" dirty="0">
                <a:solidFill>
                  <a:srgbClr val="4D4D4D"/>
                </a:solidFill>
                <a:cs typeface="Arial" panose="020B0604020202020204" pitchFamily="34" charset="0"/>
                <a:sym typeface="+mn-ea"/>
              </a:rPr>
              <a:t>DET</a:t>
            </a:r>
            <a:r>
              <a:rPr lang="zh-CN" altLang="zh-CN" kern="0" dirty="0">
                <a:solidFill>
                  <a:srgbClr val="4D4D4D"/>
                </a:solidFill>
                <a:cs typeface="Arial" panose="020B0604020202020204" pitchFamily="34" charset="0"/>
                <a:sym typeface="+mn-ea"/>
              </a:rPr>
              <a:t>就是</a:t>
            </a:r>
            <a:r>
              <a:rPr lang="en-US" altLang="zh-CN" kern="0" dirty="0">
                <a:solidFill>
                  <a:srgbClr val="4D4D4D"/>
                </a:solidFill>
                <a:cs typeface="Arial" panose="020B0604020202020204" pitchFamily="34" charset="0"/>
                <a:sym typeface="+mn-ea"/>
              </a:rPr>
              <a:t>4</a:t>
            </a:r>
            <a:r>
              <a:rPr lang="zh-CN" altLang="zh-CN" kern="0" dirty="0">
                <a:solidFill>
                  <a:srgbClr val="4D4D4D"/>
                </a:solidFill>
                <a:cs typeface="Arial" panose="020B0604020202020204" pitchFamily="34" charset="0"/>
                <a:sym typeface="+mn-ea"/>
              </a:rPr>
              <a:t>个。</a:t>
            </a:r>
            <a:br>
              <a:rPr lang="en-US" altLang="zh-CN" sz="2000" kern="0" dirty="0">
                <a:solidFill>
                  <a:srgbClr val="4D4D4D"/>
                </a:solidFill>
                <a:cs typeface="Arial" panose="020B0604020202020204" pitchFamily="34" charset="0"/>
                <a:sym typeface="+mn-ea"/>
              </a:rPr>
            </a:br>
            <a:endParaRPr lang="en-US" altLang="zh-CN" sz="2000" dirty="0">
              <a:latin typeface="Arial" panose="020B0604020202020204" pitchFamily="34" charset="0"/>
            </a:endParaRPr>
          </a:p>
        </p:txBody>
      </p:sp>
      <p:sp>
        <p:nvSpPr>
          <p:cNvPr id="47" name="Freeform 12">
            <a:extLst>
              <a:ext uri="{FF2B5EF4-FFF2-40B4-BE49-F238E27FC236}">
                <a16:creationId xmlns:a16="http://schemas.microsoft.com/office/drawing/2014/main" id="{966B4F1E-E219-414C-B0A8-B121EBEC45D6}"/>
              </a:ext>
            </a:extLst>
          </p:cNvPr>
          <p:cNvSpPr/>
          <p:nvPr/>
        </p:nvSpPr>
        <p:spPr bwMode="auto">
          <a:xfrm>
            <a:off x="688722" y="3840873"/>
            <a:ext cx="3843655" cy="544195"/>
          </a:xfrm>
          <a:custGeom>
            <a:avLst/>
            <a:gdLst>
              <a:gd name="T0" fmla="*/ 3591 w 3591"/>
              <a:gd name="T1" fmla="*/ 0 h 696"/>
              <a:gd name="T2" fmla="*/ 0 w 3591"/>
              <a:gd name="T3" fmla="*/ 0 h 696"/>
              <a:gd name="T4" fmla="*/ 0 w 3591"/>
              <a:gd name="T5" fmla="*/ 696 h 696"/>
              <a:gd name="T6" fmla="*/ 3591 w 3591"/>
              <a:gd name="T7" fmla="*/ 696 h 696"/>
              <a:gd name="T8" fmla="*/ 3383 w 3591"/>
              <a:gd name="T9" fmla="*/ 353 h 696"/>
              <a:gd name="T10" fmla="*/ 3591 w 3591"/>
              <a:gd name="T11" fmla="*/ 0 h 696"/>
            </a:gdLst>
            <a:ahLst/>
            <a:cxnLst>
              <a:cxn ang="0">
                <a:pos x="T0" y="T1"/>
              </a:cxn>
              <a:cxn ang="0">
                <a:pos x="T2" y="T3"/>
              </a:cxn>
              <a:cxn ang="0">
                <a:pos x="T4" y="T5"/>
              </a:cxn>
              <a:cxn ang="0">
                <a:pos x="T6" y="T7"/>
              </a:cxn>
              <a:cxn ang="0">
                <a:pos x="T8" y="T9"/>
              </a:cxn>
              <a:cxn ang="0">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bg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48" name="TextBox 23">
            <a:extLst>
              <a:ext uri="{FF2B5EF4-FFF2-40B4-BE49-F238E27FC236}">
                <a16:creationId xmlns:a16="http://schemas.microsoft.com/office/drawing/2014/main" id="{2D0DA54A-64CF-48CF-BDC6-2428C385AFB7}"/>
              </a:ext>
            </a:extLst>
          </p:cNvPr>
          <p:cNvSpPr txBox="1"/>
          <p:nvPr/>
        </p:nvSpPr>
        <p:spPr>
          <a:xfrm>
            <a:off x="688722" y="3893578"/>
            <a:ext cx="4047490" cy="491490"/>
          </a:xfrm>
          <a:prstGeom prst="rect">
            <a:avLst/>
          </a:prstGeom>
          <a:noFill/>
        </p:spPr>
        <p:txBody>
          <a:bodyPr wrap="square" rtlCol="0">
            <a:spAutoFit/>
          </a:bodyPr>
          <a:lstStyle/>
          <a:p>
            <a:r>
              <a:rPr lang="en-US" altLang="zh-CN" sz="2600" kern="0" dirty="0">
                <a:solidFill>
                  <a:schemeClr val="accent2"/>
                </a:solidFill>
                <a:latin typeface="微软雅黑" panose="020B0503020204020204" pitchFamily="34" charset="-122"/>
                <a:ea typeface="等线" panose="02010600030101010101" charset="-122"/>
                <a:cs typeface="Arial" panose="020B0604020202020204" pitchFamily="34" charset="0"/>
                <a:sym typeface="+mn-ea"/>
              </a:rPr>
              <a:t>ILF</a:t>
            </a:r>
            <a:r>
              <a:rPr lang="zh-CN" altLang="zh-CN" sz="2600" kern="0" dirty="0">
                <a:solidFill>
                  <a:schemeClr val="accent2"/>
                </a:solidFill>
                <a:latin typeface="等线" panose="02010600030101010101" charset="-122"/>
                <a:cs typeface="Arial" panose="020B0604020202020204" pitchFamily="34" charset="0"/>
                <a:sym typeface="+mn-ea"/>
              </a:rPr>
              <a:t>和</a:t>
            </a:r>
            <a:r>
              <a:rPr lang="en-US" altLang="zh-CN" sz="2600" kern="0" dirty="0">
                <a:solidFill>
                  <a:schemeClr val="accent2"/>
                </a:solidFill>
                <a:latin typeface="等线" panose="02010600030101010101" charset="-122"/>
                <a:cs typeface="Arial" panose="020B0604020202020204" pitchFamily="34" charset="0"/>
                <a:sym typeface="+mn-ea"/>
              </a:rPr>
              <a:t>EIF</a:t>
            </a:r>
            <a:r>
              <a:rPr lang="zh-CN" altLang="zh-CN" sz="2600" kern="0" dirty="0">
                <a:solidFill>
                  <a:schemeClr val="accent2"/>
                </a:solidFill>
                <a:latin typeface="等线" panose="02010600030101010101" charset="-122"/>
                <a:cs typeface="Arial" panose="020B0604020202020204" pitchFamily="34" charset="0"/>
                <a:sym typeface="+mn-ea"/>
              </a:rPr>
              <a:t>的复杂性计算</a:t>
            </a:r>
            <a:endParaRPr lang="zh-CN" altLang="zh-CN" sz="2600" kern="0" dirty="0">
              <a:solidFill>
                <a:schemeClr val="accent2"/>
              </a:solidFill>
              <a:latin typeface="等线" panose="02010600030101010101" charset="-122"/>
              <a:ea typeface="+mn-ea"/>
              <a:cs typeface="Arial" panose="020B0604020202020204" pitchFamily="34" charset="0"/>
              <a:sym typeface="+mn-ea"/>
            </a:endParaRPr>
          </a:p>
        </p:txBody>
      </p:sp>
      <p:sp>
        <p:nvSpPr>
          <p:cNvPr id="40" name="文本框 39">
            <a:extLst>
              <a:ext uri="{FF2B5EF4-FFF2-40B4-BE49-F238E27FC236}">
                <a16:creationId xmlns:a16="http://schemas.microsoft.com/office/drawing/2014/main" id="{DBB8E018-9A4B-4F05-BF6F-988176C79362}"/>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2.</a:t>
            </a:r>
          </a:p>
        </p:txBody>
      </p:sp>
      <p:sp>
        <p:nvSpPr>
          <p:cNvPr id="41" name="文本框 40">
            <a:extLst>
              <a:ext uri="{FF2B5EF4-FFF2-40B4-BE49-F238E27FC236}">
                <a16:creationId xmlns:a16="http://schemas.microsoft.com/office/drawing/2014/main" id="{1D84BCF2-8BD7-4278-B8A7-DC9F6F6B5797}"/>
              </a:ext>
            </a:extLst>
          </p:cNvPr>
          <p:cNvSpPr txBox="1"/>
          <p:nvPr/>
        </p:nvSpPr>
        <p:spPr>
          <a:xfrm>
            <a:off x="1548765" y="83820"/>
            <a:ext cx="2844048"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功能点估算步骤</a:t>
            </a:r>
          </a:p>
        </p:txBody>
      </p:sp>
    </p:spTree>
    <p:extLst>
      <p:ext uri="{BB962C8B-B14F-4D97-AF65-F5344CB8AC3E}">
        <p14:creationId xmlns:p14="http://schemas.microsoft.com/office/powerpoint/2010/main" val="40417370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45"/>
                                        </p:tgtEl>
                                        <p:attrNameLst>
                                          <p:attrName>style.visibility</p:attrName>
                                        </p:attrNameLst>
                                      </p:cBhvr>
                                      <p:to>
                                        <p:strVal val="visible"/>
                                      </p:to>
                                    </p:set>
                                    <p:animEffect transition="in" filter="wipe(down)">
                                      <p:cBhvr>
                                        <p:cTn id="11" dur="500"/>
                                        <p:tgtEl>
                                          <p:spTgt spid="45"/>
                                        </p:tgtEl>
                                      </p:cBhvr>
                                    </p:animEffect>
                                  </p:childTnLst>
                                </p:cTn>
                              </p:par>
                            </p:childTnLst>
                          </p:cTn>
                        </p:par>
                        <p:par>
                          <p:cTn id="12" fill="hold">
                            <p:stCondLst>
                              <p:cond delay="1000"/>
                            </p:stCondLst>
                            <p:childTnLst>
                              <p:par>
                                <p:cTn id="13" presetID="56" presetClass="entr" presetSubtype="0" fill="hold" grpId="0" nodeType="afterEffect">
                                  <p:stCondLst>
                                    <p:cond delay="0"/>
                                  </p:stCondLst>
                                  <p:iterate type="lt">
                                    <p:tmPct val="10000"/>
                                  </p:iterate>
                                  <p:childTnLst>
                                    <p:set>
                                      <p:cBhvr>
                                        <p:cTn id="14" dur="1" fill="hold">
                                          <p:stCondLst>
                                            <p:cond delay="0"/>
                                          </p:stCondLst>
                                        </p:cTn>
                                        <p:tgtEl>
                                          <p:spTgt spid="48"/>
                                        </p:tgtEl>
                                        <p:attrNameLst>
                                          <p:attrName>style.visibility</p:attrName>
                                        </p:attrNameLst>
                                      </p:cBhvr>
                                      <p:to>
                                        <p:strVal val="visible"/>
                                      </p:to>
                                    </p:set>
                                    <p:anim by="(-#ppt_w*2)" calcmode="lin" valueType="num">
                                      <p:cBhvr rctx="PPT">
                                        <p:cTn id="15" dur="250" autoRev="1" fill="hold">
                                          <p:stCondLst>
                                            <p:cond delay="0"/>
                                          </p:stCondLst>
                                        </p:cTn>
                                        <p:tgtEl>
                                          <p:spTgt spid="48"/>
                                        </p:tgtEl>
                                        <p:attrNameLst>
                                          <p:attrName>ppt_w</p:attrName>
                                        </p:attrNameLst>
                                      </p:cBhvr>
                                    </p:anim>
                                    <p:anim by="(#ppt_w*0.50)" calcmode="lin" valueType="num">
                                      <p:cBhvr>
                                        <p:cTn id="16" dur="250" decel="50000" autoRev="1" fill="hold">
                                          <p:stCondLst>
                                            <p:cond delay="0"/>
                                          </p:stCondLst>
                                        </p:cTn>
                                        <p:tgtEl>
                                          <p:spTgt spid="48"/>
                                        </p:tgtEl>
                                        <p:attrNameLst>
                                          <p:attrName>ppt_x</p:attrName>
                                        </p:attrNameLst>
                                      </p:cBhvr>
                                    </p:anim>
                                    <p:anim from="(-#ppt_h/2)" to="(#ppt_y)" calcmode="lin" valueType="num">
                                      <p:cBhvr>
                                        <p:cTn id="17" dur="500" fill="hold">
                                          <p:stCondLst>
                                            <p:cond delay="0"/>
                                          </p:stCondLst>
                                        </p:cTn>
                                        <p:tgtEl>
                                          <p:spTgt spid="48"/>
                                        </p:tgtEl>
                                        <p:attrNameLst>
                                          <p:attrName>ppt_y</p:attrName>
                                        </p:attrNameLst>
                                      </p:cBhvr>
                                    </p:anim>
                                    <p:animRot by="21600000">
                                      <p:cBhvr>
                                        <p:cTn id="18" dur="500" fill="hold">
                                          <p:stCondLst>
                                            <p:cond delay="0"/>
                                          </p:stCondLst>
                                        </p:cTn>
                                        <p:tgtEl>
                                          <p:spTgt spid="48"/>
                                        </p:tgtEl>
                                        <p:attrNameLst>
                                          <p:attrName>r</p:attrName>
                                        </p:attrNameLst>
                                      </p:cBhvr>
                                    </p:animRot>
                                  </p:childTnLst>
                                </p:cTn>
                              </p:par>
                            </p:childTnLst>
                          </p:cTn>
                        </p:par>
                        <p:par>
                          <p:cTn id="19" fill="hold">
                            <p:stCondLst>
                              <p:cond delay="2100"/>
                            </p:stCondLst>
                            <p:childTnLst>
                              <p:par>
                                <p:cTn id="20" presetID="22" presetClass="entr" presetSubtype="8" fill="hold" grpId="0" nodeType="afterEffect">
                                  <p:stCondLst>
                                    <p:cond delay="0"/>
                                  </p:stCondLst>
                                  <p:childTnLst>
                                    <p:set>
                                      <p:cBhvr>
                                        <p:cTn id="21" dur="1" fill="hold">
                                          <p:stCondLst>
                                            <p:cond delay="0"/>
                                          </p:stCondLst>
                                        </p:cTn>
                                        <p:tgtEl>
                                          <p:spTgt spid="47"/>
                                        </p:tgtEl>
                                        <p:attrNameLst>
                                          <p:attrName>style.visibility</p:attrName>
                                        </p:attrNameLst>
                                      </p:cBhvr>
                                      <p:to>
                                        <p:strVal val="visible"/>
                                      </p:to>
                                    </p:set>
                                    <p:animEffect transition="in" filter="wipe(left)">
                                      <p:cBhvr>
                                        <p:cTn id="22" dur="500"/>
                                        <p:tgtEl>
                                          <p:spTgt spid="4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5" grpId="0" bldLvl="0" animBg="1"/>
      <p:bldP spid="47" grpId="0" bldLvl="0" animBg="1"/>
      <p:bldP spid="48"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79120" y="113220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79527" y="682826"/>
            <a:ext cx="1020535" cy="966814"/>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1009015" y="1457325"/>
            <a:ext cx="10406380" cy="500380"/>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38" name="文本框 37"/>
          <p:cNvSpPr txBox="1"/>
          <p:nvPr/>
        </p:nvSpPr>
        <p:spPr>
          <a:xfrm>
            <a:off x="1291410" y="1464663"/>
            <a:ext cx="9357995" cy="398780"/>
          </a:xfrm>
          <a:prstGeom prst="rect">
            <a:avLst/>
          </a:prstGeom>
          <a:noFill/>
        </p:spPr>
        <p:txBody>
          <a:bodyPr wrap="square" rtlCol="0">
            <a:spAutoFit/>
          </a:bodyPr>
          <a:lstStyle/>
          <a:p>
            <a:r>
              <a:rPr lang="en-US" altLang="zh-CN" sz="2000" kern="0" dirty="0">
                <a:solidFill>
                  <a:srgbClr val="4D4D4D"/>
                </a:solidFill>
                <a:latin typeface="微软雅黑" panose="020B0503020204020204" pitchFamily="34" charset="-122"/>
                <a:ea typeface="等线" panose="02010600030101010101" charset="-122"/>
                <a:cs typeface="Arial" panose="020B0604020202020204" pitchFamily="34" charset="0"/>
                <a:sym typeface="+mn-ea"/>
              </a:rPr>
              <a:t>  2</a:t>
            </a:r>
            <a:r>
              <a:rPr lang="en-US" altLang="zh-CN" sz="2000" dirty="0">
                <a:latin typeface="Arial" panose="020B0604020202020204" pitchFamily="34" charset="0"/>
                <a:sym typeface="+mn-ea"/>
              </a:rPr>
              <a:t>.  </a:t>
            </a:r>
            <a:r>
              <a:rPr lang="zh-CN" altLang="en-US" sz="2000" dirty="0">
                <a:latin typeface="Arial" panose="020B0604020202020204" pitchFamily="34" charset="0"/>
                <a:sym typeface="+mn-ea"/>
              </a:rPr>
              <a:t>确定功能点复杂性等级：</a:t>
            </a:r>
            <a:r>
              <a:rPr lang="en-US" altLang="zh-CN" sz="2000" dirty="0">
                <a:latin typeface="Arial" panose="020B0604020202020204" pitchFamily="34" charset="0"/>
                <a:sym typeface="+mn-ea"/>
              </a:rPr>
              <a:t>EI</a:t>
            </a:r>
            <a:r>
              <a:rPr lang="zh-CN" altLang="en-US" sz="2000" dirty="0">
                <a:latin typeface="Arial" panose="020B0604020202020204" pitchFamily="34" charset="0"/>
                <a:sym typeface="+mn-ea"/>
              </a:rPr>
              <a:t>复杂度计算矩阵</a:t>
            </a:r>
            <a:endParaRPr lang="zh-CN" altLang="en-US" sz="2000" dirty="0">
              <a:latin typeface="Arial" panose="020B0604020202020204" pitchFamily="34" charset="0"/>
            </a:endParaRPr>
          </a:p>
        </p:txBody>
      </p:sp>
      <p:pic>
        <p:nvPicPr>
          <p:cNvPr id="39" name="图片 38">
            <a:extLst>
              <a:ext uri="{FF2B5EF4-FFF2-40B4-BE49-F238E27FC236}">
                <a16:creationId xmlns:a16="http://schemas.microsoft.com/office/drawing/2014/main" id="{A699F9C4-C97B-4353-AE36-D86E4EF37C93}"/>
              </a:ext>
            </a:extLst>
          </p:cNvPr>
          <p:cNvPicPr>
            <a:picLocks noChangeAspect="1"/>
          </p:cNvPicPr>
          <p:nvPr/>
        </p:nvPicPr>
        <p:blipFill>
          <a:blip r:embed="rId2"/>
          <a:stretch>
            <a:fillRect/>
          </a:stretch>
        </p:blipFill>
        <p:spPr>
          <a:xfrm>
            <a:off x="1103487" y="1965043"/>
            <a:ext cx="9733839" cy="2172803"/>
          </a:xfrm>
          <a:prstGeom prst="rect">
            <a:avLst/>
          </a:prstGeom>
        </p:spPr>
      </p:pic>
      <p:sp>
        <p:nvSpPr>
          <p:cNvPr id="40" name="Freeform 10">
            <a:extLst>
              <a:ext uri="{FF2B5EF4-FFF2-40B4-BE49-F238E27FC236}">
                <a16:creationId xmlns:a16="http://schemas.microsoft.com/office/drawing/2014/main" id="{FE7937B7-0D70-4683-90EA-96C1C119BD53}"/>
              </a:ext>
            </a:extLst>
          </p:cNvPr>
          <p:cNvSpPr/>
          <p:nvPr/>
        </p:nvSpPr>
        <p:spPr bwMode="auto">
          <a:xfrm>
            <a:off x="808928" y="4733553"/>
            <a:ext cx="10326370" cy="1983795"/>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accent6">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41" name="文本框 40">
            <a:extLst>
              <a:ext uri="{FF2B5EF4-FFF2-40B4-BE49-F238E27FC236}">
                <a16:creationId xmlns:a16="http://schemas.microsoft.com/office/drawing/2014/main" id="{09F0E3FB-DA4C-4B96-97CF-75C4CCF83A74}"/>
              </a:ext>
            </a:extLst>
          </p:cNvPr>
          <p:cNvSpPr txBox="1"/>
          <p:nvPr/>
        </p:nvSpPr>
        <p:spPr>
          <a:xfrm>
            <a:off x="1098550" y="4933359"/>
            <a:ext cx="9829800" cy="1118255"/>
          </a:xfrm>
          <a:prstGeom prst="rect">
            <a:avLst/>
          </a:prstGeom>
          <a:noFill/>
        </p:spPr>
        <p:txBody>
          <a:bodyPr wrap="square" rtlCol="0">
            <a:spAutoFit/>
          </a:bodyPr>
          <a:lstStyle/>
          <a:p>
            <a:pPr indent="254000" algn="l">
              <a:lnSpc>
                <a:spcPts val="1950"/>
              </a:lnSpc>
            </a:pPr>
            <a:r>
              <a:rPr lang="en-US" altLang="zh-CN" kern="0" dirty="0">
                <a:solidFill>
                  <a:srgbClr val="4D4D4D"/>
                </a:solidFill>
                <a:latin typeface="微软雅黑" panose="020B0503020204020204" pitchFamily="34" charset="-122"/>
                <a:ea typeface="等线" panose="02010600030101010101" charset="-122"/>
                <a:cs typeface="Arial" panose="020B0604020202020204" pitchFamily="34" charset="0"/>
                <a:sym typeface="+mn-ea"/>
              </a:rPr>
              <a:t>    </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EI</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EQ</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和</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EO</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的复杂度是由</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FTR</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和</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DET</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决定的。</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FTR</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的个数由</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ILF</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和</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EIF</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的个数决定，可以由主表中主、外键的个数来计算。在计算</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EI</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的</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DET</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时，只有用户在界面上直接输入的信息才算作</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DET</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，通过页面自动计算或转换的数据不能算作</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EI</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的</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DET</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。在</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EO</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和</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EQ</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计算</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DET</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时，报表的标题、页码等信息不能被计算为一个</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DET</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a:t>
            </a:r>
            <a:endParaRPr lang="zh-CN" altLang="en-US" sz="2000" dirty="0">
              <a:solidFill>
                <a:srgbClr val="C00000"/>
              </a:solidFill>
              <a:latin typeface="Arial" panose="020B0604020202020204" pitchFamily="34" charset="0"/>
            </a:endParaRPr>
          </a:p>
        </p:txBody>
      </p:sp>
      <p:sp>
        <p:nvSpPr>
          <p:cNvPr id="42" name="Freeform 12">
            <a:extLst>
              <a:ext uri="{FF2B5EF4-FFF2-40B4-BE49-F238E27FC236}">
                <a16:creationId xmlns:a16="http://schemas.microsoft.com/office/drawing/2014/main" id="{6D57586A-AD24-45A9-999F-32FEC63CA743}"/>
              </a:ext>
            </a:extLst>
          </p:cNvPr>
          <p:cNvSpPr/>
          <p:nvPr/>
        </p:nvSpPr>
        <p:spPr bwMode="auto">
          <a:xfrm>
            <a:off x="722630" y="4131926"/>
            <a:ext cx="3843655" cy="544195"/>
          </a:xfrm>
          <a:custGeom>
            <a:avLst/>
            <a:gdLst>
              <a:gd name="T0" fmla="*/ 3591 w 3591"/>
              <a:gd name="T1" fmla="*/ 0 h 696"/>
              <a:gd name="T2" fmla="*/ 0 w 3591"/>
              <a:gd name="T3" fmla="*/ 0 h 696"/>
              <a:gd name="T4" fmla="*/ 0 w 3591"/>
              <a:gd name="T5" fmla="*/ 696 h 696"/>
              <a:gd name="T6" fmla="*/ 3591 w 3591"/>
              <a:gd name="T7" fmla="*/ 696 h 696"/>
              <a:gd name="T8" fmla="*/ 3383 w 3591"/>
              <a:gd name="T9" fmla="*/ 353 h 696"/>
              <a:gd name="T10" fmla="*/ 3591 w 3591"/>
              <a:gd name="T11" fmla="*/ 0 h 696"/>
            </a:gdLst>
            <a:ahLst/>
            <a:cxnLst>
              <a:cxn ang="0">
                <a:pos x="T0" y="T1"/>
              </a:cxn>
              <a:cxn ang="0">
                <a:pos x="T2" y="T3"/>
              </a:cxn>
              <a:cxn ang="0">
                <a:pos x="T4" y="T5"/>
              </a:cxn>
              <a:cxn ang="0">
                <a:pos x="T6" y="T7"/>
              </a:cxn>
              <a:cxn ang="0">
                <a:pos x="T8" y="T9"/>
              </a:cxn>
              <a:cxn ang="0">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bg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43" name="TextBox 23">
            <a:extLst>
              <a:ext uri="{FF2B5EF4-FFF2-40B4-BE49-F238E27FC236}">
                <a16:creationId xmlns:a16="http://schemas.microsoft.com/office/drawing/2014/main" id="{A24C464C-7F01-4469-8C83-C7320066B749}"/>
              </a:ext>
            </a:extLst>
          </p:cNvPr>
          <p:cNvSpPr txBox="1"/>
          <p:nvPr/>
        </p:nvSpPr>
        <p:spPr>
          <a:xfrm>
            <a:off x="722630" y="4184631"/>
            <a:ext cx="4047490" cy="491490"/>
          </a:xfrm>
          <a:prstGeom prst="rect">
            <a:avLst/>
          </a:prstGeom>
          <a:noFill/>
        </p:spPr>
        <p:txBody>
          <a:bodyPr wrap="square" rtlCol="0">
            <a:spAutoFit/>
          </a:bodyPr>
          <a:lstStyle/>
          <a:p>
            <a:r>
              <a:rPr lang="en-US" altLang="zh-CN" sz="2600" kern="0" dirty="0">
                <a:solidFill>
                  <a:schemeClr val="accent2"/>
                </a:solidFill>
                <a:latin typeface="等线" panose="02010600030101010101" charset="-122"/>
                <a:cs typeface="Arial" panose="020B0604020202020204" pitchFamily="34" charset="0"/>
                <a:sym typeface="+mn-ea"/>
              </a:rPr>
              <a:t>EI/EO/EQ</a:t>
            </a:r>
            <a:r>
              <a:rPr lang="zh-CN" altLang="zh-CN" sz="2600" kern="0" dirty="0">
                <a:solidFill>
                  <a:schemeClr val="accent2"/>
                </a:solidFill>
                <a:latin typeface="等线" panose="02010600030101010101" charset="-122"/>
                <a:cs typeface="Arial" panose="020B0604020202020204" pitchFamily="34" charset="0"/>
                <a:sym typeface="+mn-ea"/>
              </a:rPr>
              <a:t>的复杂性计算</a:t>
            </a:r>
            <a:endParaRPr lang="zh-CN" altLang="zh-CN" sz="2600" kern="0" dirty="0">
              <a:solidFill>
                <a:schemeClr val="accent2"/>
              </a:solidFill>
              <a:latin typeface="等线" panose="02010600030101010101" charset="-122"/>
              <a:ea typeface="+mn-ea"/>
              <a:cs typeface="Arial" panose="020B0604020202020204" pitchFamily="34" charset="0"/>
              <a:sym typeface="+mn-ea"/>
            </a:endParaRPr>
          </a:p>
        </p:txBody>
      </p:sp>
      <p:sp>
        <p:nvSpPr>
          <p:cNvPr id="2" name="文本框 1">
            <a:extLst>
              <a:ext uri="{FF2B5EF4-FFF2-40B4-BE49-F238E27FC236}">
                <a16:creationId xmlns:a16="http://schemas.microsoft.com/office/drawing/2014/main" id="{4DB8B9DB-5E77-4866-B027-ABA094710193}"/>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2.</a:t>
            </a:r>
          </a:p>
        </p:txBody>
      </p:sp>
      <p:sp>
        <p:nvSpPr>
          <p:cNvPr id="8" name="文本框 7">
            <a:extLst>
              <a:ext uri="{FF2B5EF4-FFF2-40B4-BE49-F238E27FC236}">
                <a16:creationId xmlns:a16="http://schemas.microsoft.com/office/drawing/2014/main" id="{F54438D4-3E08-47C7-A37D-7BE9F651F1E7}"/>
              </a:ext>
            </a:extLst>
          </p:cNvPr>
          <p:cNvSpPr txBox="1"/>
          <p:nvPr/>
        </p:nvSpPr>
        <p:spPr>
          <a:xfrm>
            <a:off x="1548765" y="83820"/>
            <a:ext cx="2844048"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功能点估算步骤</a:t>
            </a:r>
          </a:p>
        </p:txBody>
      </p:sp>
    </p:spTree>
    <p:extLst>
      <p:ext uri="{BB962C8B-B14F-4D97-AF65-F5344CB8AC3E}">
        <p14:creationId xmlns:p14="http://schemas.microsoft.com/office/powerpoint/2010/main" val="832491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wipe(down)">
                                      <p:cBhvr>
                                        <p:cTn id="11" dur="500"/>
                                        <p:tgtEl>
                                          <p:spTgt spid="40"/>
                                        </p:tgtEl>
                                      </p:cBhvr>
                                    </p:animEffect>
                                  </p:childTnLst>
                                </p:cTn>
                              </p:par>
                            </p:childTnLst>
                          </p:cTn>
                        </p:par>
                        <p:par>
                          <p:cTn id="12" fill="hold">
                            <p:stCondLst>
                              <p:cond delay="1000"/>
                            </p:stCondLst>
                            <p:childTnLst>
                              <p:par>
                                <p:cTn id="13" presetID="56" presetClass="entr" presetSubtype="0" fill="hold" grpId="0" nodeType="afterEffect">
                                  <p:stCondLst>
                                    <p:cond delay="0"/>
                                  </p:stCondLst>
                                  <p:iterate type="lt">
                                    <p:tmPct val="10000"/>
                                  </p:iterate>
                                  <p:childTnLst>
                                    <p:set>
                                      <p:cBhvr>
                                        <p:cTn id="14" dur="1" fill="hold">
                                          <p:stCondLst>
                                            <p:cond delay="0"/>
                                          </p:stCondLst>
                                        </p:cTn>
                                        <p:tgtEl>
                                          <p:spTgt spid="43"/>
                                        </p:tgtEl>
                                        <p:attrNameLst>
                                          <p:attrName>style.visibility</p:attrName>
                                        </p:attrNameLst>
                                      </p:cBhvr>
                                      <p:to>
                                        <p:strVal val="visible"/>
                                      </p:to>
                                    </p:set>
                                    <p:anim by="(-#ppt_w*2)" calcmode="lin" valueType="num">
                                      <p:cBhvr rctx="PPT">
                                        <p:cTn id="15" dur="250" autoRev="1" fill="hold">
                                          <p:stCondLst>
                                            <p:cond delay="0"/>
                                          </p:stCondLst>
                                        </p:cTn>
                                        <p:tgtEl>
                                          <p:spTgt spid="43"/>
                                        </p:tgtEl>
                                        <p:attrNameLst>
                                          <p:attrName>ppt_w</p:attrName>
                                        </p:attrNameLst>
                                      </p:cBhvr>
                                    </p:anim>
                                    <p:anim by="(#ppt_w*0.50)" calcmode="lin" valueType="num">
                                      <p:cBhvr>
                                        <p:cTn id="16" dur="250" decel="50000" autoRev="1" fill="hold">
                                          <p:stCondLst>
                                            <p:cond delay="0"/>
                                          </p:stCondLst>
                                        </p:cTn>
                                        <p:tgtEl>
                                          <p:spTgt spid="43"/>
                                        </p:tgtEl>
                                        <p:attrNameLst>
                                          <p:attrName>ppt_x</p:attrName>
                                        </p:attrNameLst>
                                      </p:cBhvr>
                                    </p:anim>
                                    <p:anim from="(-#ppt_h/2)" to="(#ppt_y)" calcmode="lin" valueType="num">
                                      <p:cBhvr>
                                        <p:cTn id="17" dur="500" fill="hold">
                                          <p:stCondLst>
                                            <p:cond delay="0"/>
                                          </p:stCondLst>
                                        </p:cTn>
                                        <p:tgtEl>
                                          <p:spTgt spid="43"/>
                                        </p:tgtEl>
                                        <p:attrNameLst>
                                          <p:attrName>ppt_y</p:attrName>
                                        </p:attrNameLst>
                                      </p:cBhvr>
                                    </p:anim>
                                    <p:animRot by="21600000">
                                      <p:cBhvr>
                                        <p:cTn id="18" dur="500" fill="hold">
                                          <p:stCondLst>
                                            <p:cond delay="0"/>
                                          </p:stCondLst>
                                        </p:cTn>
                                        <p:tgtEl>
                                          <p:spTgt spid="43"/>
                                        </p:tgtEl>
                                        <p:attrNameLst>
                                          <p:attrName>r</p:attrName>
                                        </p:attrNameLst>
                                      </p:cBhvr>
                                    </p:animRot>
                                  </p:childTnLst>
                                </p:cTn>
                              </p:par>
                            </p:childTnLst>
                          </p:cTn>
                        </p:par>
                        <p:par>
                          <p:cTn id="19" fill="hold">
                            <p:stCondLst>
                              <p:cond delay="2150"/>
                            </p:stCondLst>
                            <p:childTnLst>
                              <p:par>
                                <p:cTn id="20" presetID="22" presetClass="entr" presetSubtype="8" fill="hold" grpId="0" nodeType="after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wipe(left)">
                                      <p:cBhvr>
                                        <p:cTn id="2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0" grpId="0" bldLvl="0" animBg="1"/>
      <p:bldP spid="42" grpId="0" bldLvl="0" animBg="1"/>
      <p:bldP spid="4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79120" y="113220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79527" y="682826"/>
            <a:ext cx="1020535" cy="966814"/>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1009015" y="1457325"/>
            <a:ext cx="10406380" cy="500380"/>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38" name="文本框 37"/>
          <p:cNvSpPr txBox="1"/>
          <p:nvPr/>
        </p:nvSpPr>
        <p:spPr>
          <a:xfrm>
            <a:off x="1291410" y="1464663"/>
            <a:ext cx="9357995" cy="398780"/>
          </a:xfrm>
          <a:prstGeom prst="rect">
            <a:avLst/>
          </a:prstGeom>
          <a:noFill/>
        </p:spPr>
        <p:txBody>
          <a:bodyPr wrap="square" rtlCol="0">
            <a:spAutoFit/>
          </a:bodyPr>
          <a:lstStyle/>
          <a:p>
            <a:r>
              <a:rPr lang="en-US" altLang="zh-CN" sz="2000" kern="0" dirty="0">
                <a:solidFill>
                  <a:srgbClr val="4D4D4D"/>
                </a:solidFill>
                <a:latin typeface="微软雅黑" panose="020B0503020204020204" pitchFamily="34" charset="-122"/>
                <a:ea typeface="等线" panose="02010600030101010101" charset="-122"/>
                <a:cs typeface="Arial" panose="020B0604020202020204" pitchFamily="34" charset="0"/>
                <a:sym typeface="+mn-ea"/>
              </a:rPr>
              <a:t>  2</a:t>
            </a:r>
            <a:r>
              <a:rPr lang="en-US" altLang="zh-CN" sz="2000" dirty="0">
                <a:latin typeface="Arial" panose="020B0604020202020204" pitchFamily="34" charset="0"/>
                <a:sym typeface="+mn-ea"/>
              </a:rPr>
              <a:t>.  </a:t>
            </a:r>
            <a:r>
              <a:rPr lang="zh-CN" altLang="en-US" sz="2000" dirty="0">
                <a:latin typeface="Arial" panose="020B0604020202020204" pitchFamily="34" charset="0"/>
                <a:sym typeface="+mn-ea"/>
              </a:rPr>
              <a:t>确定功能点复杂性等级：</a:t>
            </a:r>
            <a:r>
              <a:rPr lang="en-US" altLang="zh-CN" sz="2000" dirty="0">
                <a:latin typeface="Arial" panose="020B0604020202020204" pitchFamily="34" charset="0"/>
                <a:sym typeface="+mn-ea"/>
              </a:rPr>
              <a:t>EO</a:t>
            </a:r>
            <a:r>
              <a:rPr lang="zh-CN" altLang="en-US" sz="2000" dirty="0">
                <a:latin typeface="Arial" panose="020B0604020202020204" pitchFamily="34" charset="0"/>
                <a:sym typeface="+mn-ea"/>
              </a:rPr>
              <a:t>和</a:t>
            </a:r>
            <a:r>
              <a:rPr lang="en-US" altLang="zh-CN" sz="2000" dirty="0">
                <a:latin typeface="Arial" panose="020B0604020202020204" pitchFamily="34" charset="0"/>
                <a:sym typeface="+mn-ea"/>
              </a:rPr>
              <a:t>EQ</a:t>
            </a:r>
            <a:r>
              <a:rPr lang="zh-CN" altLang="en-US" sz="2000" dirty="0">
                <a:latin typeface="Arial" panose="020B0604020202020204" pitchFamily="34" charset="0"/>
                <a:sym typeface="+mn-ea"/>
              </a:rPr>
              <a:t>复杂度计算矩阵</a:t>
            </a:r>
            <a:endParaRPr lang="zh-CN" altLang="en-US" sz="2000" dirty="0">
              <a:latin typeface="Arial" panose="020B0604020202020204" pitchFamily="34" charset="0"/>
            </a:endParaRPr>
          </a:p>
        </p:txBody>
      </p:sp>
      <p:pic>
        <p:nvPicPr>
          <p:cNvPr id="8" name="图片 7">
            <a:extLst>
              <a:ext uri="{FF2B5EF4-FFF2-40B4-BE49-F238E27FC236}">
                <a16:creationId xmlns:a16="http://schemas.microsoft.com/office/drawing/2014/main" id="{0DA9758B-64B1-42E4-A24B-485391101FA1}"/>
              </a:ext>
            </a:extLst>
          </p:cNvPr>
          <p:cNvPicPr>
            <a:picLocks noChangeAspect="1"/>
          </p:cNvPicPr>
          <p:nvPr/>
        </p:nvPicPr>
        <p:blipFill>
          <a:blip r:embed="rId2"/>
          <a:stretch>
            <a:fillRect/>
          </a:stretch>
        </p:blipFill>
        <p:spPr>
          <a:xfrm>
            <a:off x="1214284" y="3550298"/>
            <a:ext cx="9995841" cy="2094838"/>
          </a:xfrm>
          <a:prstGeom prst="rect">
            <a:avLst/>
          </a:prstGeom>
        </p:spPr>
      </p:pic>
      <p:sp>
        <p:nvSpPr>
          <p:cNvPr id="9" name="文本框 8">
            <a:extLst>
              <a:ext uri="{FF2B5EF4-FFF2-40B4-BE49-F238E27FC236}">
                <a16:creationId xmlns:a16="http://schemas.microsoft.com/office/drawing/2014/main" id="{6A2D8FCE-EAB2-4163-9EA1-593C8A3F0A18}"/>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2.</a:t>
            </a:r>
          </a:p>
        </p:txBody>
      </p:sp>
      <p:sp>
        <p:nvSpPr>
          <p:cNvPr id="13" name="文本框 12">
            <a:extLst>
              <a:ext uri="{FF2B5EF4-FFF2-40B4-BE49-F238E27FC236}">
                <a16:creationId xmlns:a16="http://schemas.microsoft.com/office/drawing/2014/main" id="{FF0FDD40-3DB1-4693-A483-B96E47183C06}"/>
              </a:ext>
            </a:extLst>
          </p:cNvPr>
          <p:cNvSpPr txBox="1"/>
          <p:nvPr/>
        </p:nvSpPr>
        <p:spPr>
          <a:xfrm>
            <a:off x="1548765" y="83820"/>
            <a:ext cx="2844048"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功能点估算步骤</a:t>
            </a:r>
          </a:p>
        </p:txBody>
      </p:sp>
    </p:spTree>
    <p:extLst>
      <p:ext uri="{BB962C8B-B14F-4D97-AF65-F5344CB8AC3E}">
        <p14:creationId xmlns:p14="http://schemas.microsoft.com/office/powerpoint/2010/main" val="7388519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79120" y="113220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198120" y="504190"/>
            <a:ext cx="1810385" cy="1649730"/>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1009015" y="2038350"/>
            <a:ext cx="10406380" cy="500380"/>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38" name="文本框 37"/>
          <p:cNvSpPr txBox="1"/>
          <p:nvPr/>
        </p:nvSpPr>
        <p:spPr>
          <a:xfrm>
            <a:off x="1344930" y="2089785"/>
            <a:ext cx="9357995" cy="398780"/>
          </a:xfrm>
          <a:prstGeom prst="rect">
            <a:avLst/>
          </a:prstGeom>
          <a:noFill/>
        </p:spPr>
        <p:txBody>
          <a:bodyPr wrap="square" rtlCol="0">
            <a:spAutoFit/>
          </a:bodyPr>
          <a:lstStyle/>
          <a:p>
            <a:r>
              <a:rPr lang="en-US" altLang="zh-CN" sz="2000" kern="0" dirty="0">
                <a:solidFill>
                  <a:srgbClr val="4D4D4D"/>
                </a:solidFill>
                <a:latin typeface="微软雅黑" panose="020B0503020204020204" pitchFamily="34" charset="-122"/>
                <a:ea typeface="等线" panose="02010600030101010101" charset="-122"/>
                <a:cs typeface="Arial" panose="020B0604020202020204" pitchFamily="34" charset="0"/>
                <a:sym typeface="+mn-ea"/>
              </a:rPr>
              <a:t>  3</a:t>
            </a:r>
            <a:r>
              <a:rPr lang="en-US" altLang="zh-CN" sz="2000" dirty="0">
                <a:latin typeface="Arial" panose="020B0604020202020204" pitchFamily="34" charset="0"/>
                <a:sym typeface="+mn-ea"/>
              </a:rPr>
              <a:t>.</a:t>
            </a:r>
            <a:r>
              <a:rPr lang="zh-CN" altLang="en-US" sz="2000" dirty="0">
                <a:latin typeface="Arial" panose="020B0604020202020204" pitchFamily="34" charset="0"/>
                <a:sym typeface="+mn-ea"/>
              </a:rPr>
              <a:t>确定功能点等级权重</a:t>
            </a:r>
            <a:endParaRPr lang="en-US" altLang="zh-CN" sz="2000" dirty="0">
              <a:latin typeface="Arial" panose="020B0604020202020204" pitchFamily="34" charset="0"/>
            </a:endParaRPr>
          </a:p>
        </p:txBody>
      </p:sp>
      <p:pic>
        <p:nvPicPr>
          <p:cNvPr id="8" name="图片 1"/>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084580" y="2753394"/>
            <a:ext cx="9541958" cy="2595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Freeform 10"/>
          <p:cNvSpPr/>
          <p:nvPr/>
        </p:nvSpPr>
        <p:spPr bwMode="auto">
          <a:xfrm>
            <a:off x="1009015" y="5883910"/>
            <a:ext cx="10406380" cy="500380"/>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13" name="文本框 12"/>
          <p:cNvSpPr txBox="1"/>
          <p:nvPr/>
        </p:nvSpPr>
        <p:spPr>
          <a:xfrm>
            <a:off x="1344930" y="5935345"/>
            <a:ext cx="9357995" cy="398780"/>
          </a:xfrm>
          <a:prstGeom prst="rect">
            <a:avLst/>
          </a:prstGeom>
          <a:noFill/>
        </p:spPr>
        <p:txBody>
          <a:bodyPr wrap="square" rtlCol="0">
            <a:spAutoFit/>
          </a:bodyPr>
          <a:lstStyle/>
          <a:p>
            <a:r>
              <a:rPr lang="en-US" altLang="zh-CN" sz="2000" kern="0" dirty="0">
                <a:solidFill>
                  <a:srgbClr val="4D4D4D"/>
                </a:solidFill>
                <a:latin typeface="微软雅黑" panose="020B0503020204020204" pitchFamily="34" charset="-122"/>
                <a:ea typeface="等线" panose="02010600030101010101" charset="-122"/>
                <a:cs typeface="Arial" panose="020B0604020202020204" pitchFamily="34" charset="0"/>
                <a:sym typeface="+mn-ea"/>
              </a:rPr>
              <a:t>  4</a:t>
            </a:r>
            <a:r>
              <a:rPr lang="en-US" altLang="zh-CN" sz="2000" dirty="0">
                <a:latin typeface="Arial" panose="020B0604020202020204" pitchFamily="34" charset="0"/>
                <a:sym typeface="+mn-ea"/>
              </a:rPr>
              <a:t>.</a:t>
            </a:r>
            <a:r>
              <a:rPr lang="zh-CN" altLang="en-US" sz="2000" dirty="0">
                <a:latin typeface="Arial" panose="020B0604020202020204" pitchFamily="34" charset="0"/>
                <a:sym typeface="+mn-ea"/>
              </a:rPr>
              <a:t>对所有的带权重功能计数相加（功能点*权忠），得到未调整功能点。</a:t>
            </a:r>
            <a:endParaRPr lang="en-US" altLang="zh-CN" sz="2000" dirty="0">
              <a:latin typeface="Arial" panose="020B0604020202020204" pitchFamily="34" charset="0"/>
            </a:endParaRPr>
          </a:p>
        </p:txBody>
      </p:sp>
      <p:sp>
        <p:nvSpPr>
          <p:cNvPr id="2" name="文本框 1">
            <a:extLst>
              <a:ext uri="{FF2B5EF4-FFF2-40B4-BE49-F238E27FC236}">
                <a16:creationId xmlns:a16="http://schemas.microsoft.com/office/drawing/2014/main" id="{97DBBBAD-CC80-4C64-96B8-40F9A46F3FD0}"/>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2.</a:t>
            </a:r>
          </a:p>
        </p:txBody>
      </p:sp>
      <p:sp>
        <p:nvSpPr>
          <p:cNvPr id="15" name="文本框 14">
            <a:extLst>
              <a:ext uri="{FF2B5EF4-FFF2-40B4-BE49-F238E27FC236}">
                <a16:creationId xmlns:a16="http://schemas.microsoft.com/office/drawing/2014/main" id="{98C874F6-4D2E-4BE8-9691-AA2F2BB84FA2}"/>
              </a:ext>
            </a:extLst>
          </p:cNvPr>
          <p:cNvSpPr txBox="1"/>
          <p:nvPr/>
        </p:nvSpPr>
        <p:spPr>
          <a:xfrm>
            <a:off x="1548765" y="83820"/>
            <a:ext cx="2844048"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功能点估算步骤</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wipe(down)">
                                      <p:cBhvr>
                                        <p:cTn id="1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9"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79120" y="113220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79527" y="682826"/>
            <a:ext cx="1020535" cy="966814"/>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1009015" y="1457325"/>
            <a:ext cx="10406380" cy="500380"/>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38" name="文本框 37"/>
          <p:cNvSpPr txBox="1"/>
          <p:nvPr/>
        </p:nvSpPr>
        <p:spPr>
          <a:xfrm>
            <a:off x="1291410" y="1464663"/>
            <a:ext cx="9357995" cy="398780"/>
          </a:xfrm>
          <a:prstGeom prst="rect">
            <a:avLst/>
          </a:prstGeom>
          <a:noFill/>
        </p:spPr>
        <p:txBody>
          <a:bodyPr wrap="square" rtlCol="0">
            <a:spAutoFit/>
          </a:bodyPr>
          <a:lstStyle/>
          <a:p>
            <a:r>
              <a:rPr lang="en-US" altLang="zh-CN" sz="2000" kern="0" dirty="0">
                <a:solidFill>
                  <a:srgbClr val="4D4D4D"/>
                </a:solidFill>
                <a:latin typeface="微软雅黑" panose="020B0503020204020204" pitchFamily="34" charset="-122"/>
                <a:ea typeface="等线" panose="02010600030101010101" charset="-122"/>
                <a:cs typeface="Arial" panose="020B0604020202020204" pitchFamily="34" charset="0"/>
                <a:sym typeface="+mn-ea"/>
              </a:rPr>
              <a:t>  5</a:t>
            </a:r>
            <a:r>
              <a:rPr lang="en-US" altLang="zh-CN" sz="2000" dirty="0">
                <a:latin typeface="Arial" panose="020B0604020202020204" pitchFamily="34" charset="0"/>
                <a:sym typeface="+mn-ea"/>
              </a:rPr>
              <a:t>.  </a:t>
            </a:r>
            <a:r>
              <a:rPr lang="zh-CN" altLang="en-US" sz="2000" dirty="0">
                <a:latin typeface="Arial" panose="020B0604020202020204" pitchFamily="34" charset="0"/>
                <a:sym typeface="+mn-ea"/>
              </a:rPr>
              <a:t>计算调整因子</a:t>
            </a:r>
            <a:endParaRPr lang="zh-CN" altLang="en-US" sz="2000" dirty="0">
              <a:latin typeface="Arial" panose="020B0604020202020204" pitchFamily="34" charset="0"/>
            </a:endParaRPr>
          </a:p>
        </p:txBody>
      </p:sp>
      <p:sp>
        <p:nvSpPr>
          <p:cNvPr id="40" name="Freeform 10">
            <a:extLst>
              <a:ext uri="{FF2B5EF4-FFF2-40B4-BE49-F238E27FC236}">
                <a16:creationId xmlns:a16="http://schemas.microsoft.com/office/drawing/2014/main" id="{FE7937B7-0D70-4683-90EA-96C1C119BD53}"/>
              </a:ext>
            </a:extLst>
          </p:cNvPr>
          <p:cNvSpPr/>
          <p:nvPr/>
        </p:nvSpPr>
        <p:spPr bwMode="auto">
          <a:xfrm>
            <a:off x="808928" y="3097986"/>
            <a:ext cx="10326370" cy="1983795"/>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accent6">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41" name="文本框 40">
            <a:extLst>
              <a:ext uri="{FF2B5EF4-FFF2-40B4-BE49-F238E27FC236}">
                <a16:creationId xmlns:a16="http://schemas.microsoft.com/office/drawing/2014/main" id="{09F0E3FB-DA4C-4B96-97CF-75C4CCF83A74}"/>
              </a:ext>
            </a:extLst>
          </p:cNvPr>
          <p:cNvSpPr txBox="1"/>
          <p:nvPr/>
        </p:nvSpPr>
        <p:spPr>
          <a:xfrm>
            <a:off x="1098550" y="3297792"/>
            <a:ext cx="9829800" cy="1631216"/>
          </a:xfrm>
          <a:prstGeom prst="rect">
            <a:avLst/>
          </a:prstGeom>
          <a:noFill/>
        </p:spPr>
        <p:txBody>
          <a:bodyPr wrap="square" rtlCol="0">
            <a:spAutoFit/>
          </a:bodyPr>
          <a:lstStyle/>
          <a:p>
            <a:pPr algn="l">
              <a:lnSpc>
                <a:spcPts val="1950"/>
              </a:lnSpc>
            </a:pPr>
            <a:r>
              <a:rPr lang="en-US" altLang="zh-CN" kern="0" dirty="0">
                <a:solidFill>
                  <a:srgbClr val="4D4D4D"/>
                </a:solidFill>
                <a:latin typeface="微软雅黑" panose="020B0503020204020204" pitchFamily="34" charset="-122"/>
                <a:ea typeface="等线" panose="02010600030101010101" charset="-122"/>
                <a:cs typeface="Arial" panose="020B0604020202020204" pitchFamily="34" charset="0"/>
                <a:sym typeface="+mn-ea"/>
              </a:rPr>
              <a:t>   </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功能点的调整因子系数是通过通用系统特性及其影响程度来评定的，对每个常规系统特性的评估由其影响程度（</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DI</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）而定，分为</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0</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5</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级：</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0</a:t>
            </a:r>
            <a:r>
              <a:rPr lang="en-US" altLang="zh-CN" sz="1800" kern="0" dirty="0">
                <a:solidFill>
                  <a:srgbClr val="000000"/>
                </a:solidFill>
                <a:effectLst/>
                <a:latin typeface="宋体" panose="02010600030101010101" pitchFamily="2" charset="-122"/>
                <a:ea typeface="宋体" panose="02010600030101010101" pitchFamily="2" charset="-122"/>
                <a:cs typeface="Arial" panose="020B0604020202020204" pitchFamily="34" charset="0"/>
              </a:rPr>
              <a:t> </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毫无影响</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1</a:t>
            </a:r>
            <a:r>
              <a:rPr lang="en-US" altLang="zh-CN" sz="1800" kern="0" dirty="0">
                <a:solidFill>
                  <a:srgbClr val="000000"/>
                </a:solidFill>
                <a:effectLst/>
                <a:latin typeface="宋体" panose="02010600030101010101" pitchFamily="2" charset="-122"/>
                <a:ea typeface="宋体" panose="02010600030101010101" pitchFamily="2" charset="-122"/>
                <a:cs typeface="Arial" panose="020B0604020202020204" pitchFamily="34" charset="0"/>
              </a:rPr>
              <a:t> </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偶然影响</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2</a:t>
            </a:r>
            <a:r>
              <a:rPr lang="en-US" altLang="zh-CN" sz="1800" kern="0" dirty="0">
                <a:solidFill>
                  <a:srgbClr val="000000"/>
                </a:solidFill>
                <a:effectLst/>
                <a:latin typeface="宋体" panose="02010600030101010101" pitchFamily="2" charset="-122"/>
                <a:ea typeface="宋体" panose="02010600030101010101" pitchFamily="2" charset="-122"/>
                <a:cs typeface="Arial" panose="020B0604020202020204" pitchFamily="34" charset="0"/>
              </a:rPr>
              <a:t> </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适度影响</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3</a:t>
            </a:r>
            <a:r>
              <a:rPr lang="en-US" altLang="zh-CN" sz="1800" kern="0" dirty="0">
                <a:solidFill>
                  <a:srgbClr val="000000"/>
                </a:solidFill>
                <a:effectLst/>
                <a:latin typeface="宋体" panose="02010600030101010101" pitchFamily="2" charset="-122"/>
                <a:ea typeface="宋体" panose="02010600030101010101" pitchFamily="2" charset="-122"/>
                <a:cs typeface="Arial" panose="020B0604020202020204" pitchFamily="34" charset="0"/>
              </a:rPr>
              <a:t> </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一般影响</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4</a:t>
            </a:r>
            <a:r>
              <a:rPr lang="en-US" altLang="zh-CN" sz="1800" kern="0" dirty="0">
                <a:solidFill>
                  <a:srgbClr val="000000"/>
                </a:solidFill>
                <a:effectLst/>
                <a:latin typeface="宋体" panose="02010600030101010101" pitchFamily="2" charset="-122"/>
                <a:ea typeface="宋体" panose="02010600030101010101" pitchFamily="2" charset="-122"/>
                <a:cs typeface="Arial" panose="020B0604020202020204" pitchFamily="34" charset="0"/>
              </a:rPr>
              <a:t> </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重要影响</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5</a:t>
            </a:r>
            <a:r>
              <a:rPr lang="en-US" altLang="zh-CN" sz="1800" kern="0" dirty="0">
                <a:solidFill>
                  <a:srgbClr val="000000"/>
                </a:solidFill>
                <a:effectLst/>
                <a:latin typeface="宋体" panose="02010600030101010101" pitchFamily="2" charset="-122"/>
                <a:ea typeface="宋体" panose="02010600030101010101" pitchFamily="2" charset="-122"/>
                <a:cs typeface="Arial" panose="020B0604020202020204" pitchFamily="34" charset="0"/>
              </a:rPr>
              <a:t> </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强烈影响</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 </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然后依次对以下</a:t>
            </a:r>
            <a:r>
              <a:rPr lang="en-US"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14</a:t>
            </a:r>
            <a:r>
              <a:rPr lang="zh-CN" altLang="zh-CN" sz="1800" kern="0" dirty="0">
                <a:solidFill>
                  <a:srgbClr val="000000"/>
                </a:solidFill>
                <a:effectLst/>
                <a:latin typeface="Times New Roman" panose="02020603050405020304" pitchFamily="18" charset="0"/>
                <a:ea typeface="宋体" panose="02010600030101010101" pitchFamily="2" charset="-122"/>
                <a:cs typeface="Arial" panose="020B0604020202020204" pitchFamily="34" charset="0"/>
              </a:rPr>
              <a:t>个系统常规特性进行打分，并带入以下计算公式算出功能点的调整因子。</a:t>
            </a:r>
            <a:endParaRPr lang="zh-CN" altLang="zh-CN" sz="1800" kern="100" dirty="0">
              <a:effectLst/>
              <a:latin typeface="Times New Roman" panose="02020603050405020304" pitchFamily="18" charset="0"/>
              <a:ea typeface="宋体" panose="02010600030101010101" pitchFamily="2" charset="-122"/>
            </a:endParaRPr>
          </a:p>
          <a:p>
            <a:pPr algn="l">
              <a:lnSpc>
                <a:spcPts val="1950"/>
              </a:lnSpc>
            </a:pPr>
            <a:r>
              <a:rPr lang="en-US" altLang="zh-CN" sz="1800" kern="0" dirty="0">
                <a:solidFill>
                  <a:srgbClr val="000000"/>
                </a:solidFill>
                <a:effectLst/>
                <a:latin typeface="宋体" panose="02010600030101010101" pitchFamily="2" charset="-122"/>
                <a:ea typeface="宋体" panose="02010600030101010101" pitchFamily="2" charset="-122"/>
                <a:cs typeface="Arial" panose="020B0604020202020204" pitchFamily="34" charset="0"/>
              </a:rPr>
              <a:t>Value Adjustment Factor</a:t>
            </a:r>
            <a:r>
              <a:rPr lang="en-US" altLang="zh-CN" sz="1800" kern="0" dirty="0">
                <a:solidFill>
                  <a:srgbClr val="0000FF"/>
                </a:solidFill>
                <a:effectLst/>
                <a:latin typeface="宋体" panose="02010600030101010101" pitchFamily="2" charset="-122"/>
                <a:ea typeface="宋体" panose="02010600030101010101" pitchFamily="2" charset="-122"/>
                <a:cs typeface="Arial" panose="020B0604020202020204" pitchFamily="34" charset="0"/>
              </a:rPr>
              <a:t>=( sum of (DI) * 0.01 ) + 0.65 </a:t>
            </a:r>
            <a:endParaRPr lang="zh-CN" altLang="zh-CN" sz="1800" kern="100" dirty="0">
              <a:effectLst/>
              <a:latin typeface="Times New Roman" panose="02020603050405020304" pitchFamily="18" charset="0"/>
              <a:ea typeface="宋体" panose="02010600030101010101" pitchFamily="2" charset="-122"/>
            </a:endParaRPr>
          </a:p>
          <a:p>
            <a:pPr indent="254000" algn="l">
              <a:lnSpc>
                <a:spcPts val="1950"/>
              </a:lnSpc>
            </a:pPr>
            <a:endParaRPr lang="zh-CN" altLang="en-US" sz="2000" dirty="0">
              <a:solidFill>
                <a:srgbClr val="C00000"/>
              </a:solidFill>
              <a:latin typeface="Arial" panose="020B0604020202020204" pitchFamily="34" charset="0"/>
            </a:endParaRPr>
          </a:p>
        </p:txBody>
      </p:sp>
      <p:sp>
        <p:nvSpPr>
          <p:cNvPr id="2" name="文本框 1">
            <a:extLst>
              <a:ext uri="{FF2B5EF4-FFF2-40B4-BE49-F238E27FC236}">
                <a16:creationId xmlns:a16="http://schemas.microsoft.com/office/drawing/2014/main" id="{4DB8B9DB-5E77-4866-B027-ABA094710193}"/>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2.</a:t>
            </a:r>
          </a:p>
        </p:txBody>
      </p:sp>
      <p:sp>
        <p:nvSpPr>
          <p:cNvPr id="8" name="文本框 7">
            <a:extLst>
              <a:ext uri="{FF2B5EF4-FFF2-40B4-BE49-F238E27FC236}">
                <a16:creationId xmlns:a16="http://schemas.microsoft.com/office/drawing/2014/main" id="{F54438D4-3E08-47C7-A37D-7BE9F651F1E7}"/>
              </a:ext>
            </a:extLst>
          </p:cNvPr>
          <p:cNvSpPr txBox="1"/>
          <p:nvPr/>
        </p:nvSpPr>
        <p:spPr>
          <a:xfrm>
            <a:off x="1548765" y="83820"/>
            <a:ext cx="2844048"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功能点估算步骤</a:t>
            </a:r>
          </a:p>
        </p:txBody>
      </p:sp>
    </p:spTree>
    <p:extLst>
      <p:ext uri="{BB962C8B-B14F-4D97-AF65-F5344CB8AC3E}">
        <p14:creationId xmlns:p14="http://schemas.microsoft.com/office/powerpoint/2010/main" val="28272418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40"/>
                                        </p:tgtEl>
                                        <p:attrNameLst>
                                          <p:attrName>style.visibility</p:attrName>
                                        </p:attrNameLst>
                                      </p:cBhvr>
                                      <p:to>
                                        <p:strVal val="visible"/>
                                      </p:to>
                                    </p:set>
                                    <p:animEffect transition="in" filter="wipe(down)">
                                      <p:cBhvr>
                                        <p:cTn id="11"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40" grpId="0" bldLvl="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79120" y="113220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79527" y="682826"/>
            <a:ext cx="1020535" cy="966814"/>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1009015" y="1457325"/>
            <a:ext cx="10406380" cy="500380"/>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38" name="文本框 37"/>
          <p:cNvSpPr txBox="1"/>
          <p:nvPr/>
        </p:nvSpPr>
        <p:spPr>
          <a:xfrm>
            <a:off x="1291410" y="1464663"/>
            <a:ext cx="9357995" cy="398780"/>
          </a:xfrm>
          <a:prstGeom prst="rect">
            <a:avLst/>
          </a:prstGeom>
          <a:noFill/>
        </p:spPr>
        <p:txBody>
          <a:bodyPr wrap="square" rtlCol="0">
            <a:spAutoFit/>
          </a:bodyPr>
          <a:lstStyle/>
          <a:p>
            <a:r>
              <a:rPr lang="en-US" altLang="zh-CN" sz="2000" kern="0" dirty="0">
                <a:solidFill>
                  <a:srgbClr val="4D4D4D"/>
                </a:solidFill>
                <a:latin typeface="微软雅黑" panose="020B0503020204020204" pitchFamily="34" charset="-122"/>
                <a:ea typeface="等线" panose="02010600030101010101" charset="-122"/>
                <a:cs typeface="Arial" panose="020B0604020202020204" pitchFamily="34" charset="0"/>
                <a:sym typeface="+mn-ea"/>
              </a:rPr>
              <a:t>  5</a:t>
            </a:r>
            <a:r>
              <a:rPr lang="en-US" altLang="zh-CN" sz="2000" dirty="0">
                <a:latin typeface="Arial" panose="020B0604020202020204" pitchFamily="34" charset="0"/>
                <a:sym typeface="+mn-ea"/>
              </a:rPr>
              <a:t>.  </a:t>
            </a:r>
            <a:r>
              <a:rPr lang="zh-CN" altLang="en-US" sz="2000" dirty="0">
                <a:latin typeface="Arial" panose="020B0604020202020204" pitchFamily="34" charset="0"/>
                <a:sym typeface="+mn-ea"/>
              </a:rPr>
              <a:t>计算调整因子</a:t>
            </a:r>
            <a:endParaRPr lang="zh-CN" altLang="en-US" sz="2000" dirty="0">
              <a:latin typeface="Arial" panose="020B0604020202020204" pitchFamily="34" charset="0"/>
            </a:endParaRPr>
          </a:p>
        </p:txBody>
      </p:sp>
      <p:sp>
        <p:nvSpPr>
          <p:cNvPr id="2" name="文本框 1">
            <a:extLst>
              <a:ext uri="{FF2B5EF4-FFF2-40B4-BE49-F238E27FC236}">
                <a16:creationId xmlns:a16="http://schemas.microsoft.com/office/drawing/2014/main" id="{4DB8B9DB-5E77-4866-B027-ABA094710193}"/>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2.</a:t>
            </a:r>
          </a:p>
        </p:txBody>
      </p:sp>
      <p:sp>
        <p:nvSpPr>
          <p:cNvPr id="8" name="文本框 7">
            <a:extLst>
              <a:ext uri="{FF2B5EF4-FFF2-40B4-BE49-F238E27FC236}">
                <a16:creationId xmlns:a16="http://schemas.microsoft.com/office/drawing/2014/main" id="{F54438D4-3E08-47C7-A37D-7BE9F651F1E7}"/>
              </a:ext>
            </a:extLst>
          </p:cNvPr>
          <p:cNvSpPr txBox="1"/>
          <p:nvPr/>
        </p:nvSpPr>
        <p:spPr>
          <a:xfrm>
            <a:off x="1548765" y="83820"/>
            <a:ext cx="2844048"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功能点估算步骤</a:t>
            </a:r>
          </a:p>
        </p:txBody>
      </p:sp>
      <p:sp>
        <p:nvSpPr>
          <p:cNvPr id="39" name="Freeform 10">
            <a:extLst>
              <a:ext uri="{FF2B5EF4-FFF2-40B4-BE49-F238E27FC236}">
                <a16:creationId xmlns:a16="http://schemas.microsoft.com/office/drawing/2014/main" id="{BADBBAF8-4A27-4E79-AF3A-1418E4235411}"/>
              </a:ext>
            </a:extLst>
          </p:cNvPr>
          <p:cNvSpPr/>
          <p:nvPr/>
        </p:nvSpPr>
        <p:spPr bwMode="auto">
          <a:xfrm>
            <a:off x="1064642" y="2548290"/>
            <a:ext cx="10326370" cy="1705658"/>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accent6">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42" name="文本框 41">
            <a:extLst>
              <a:ext uri="{FF2B5EF4-FFF2-40B4-BE49-F238E27FC236}">
                <a16:creationId xmlns:a16="http://schemas.microsoft.com/office/drawing/2014/main" id="{1561D81B-B458-4CD8-88FD-EF11A43CD2A9}"/>
              </a:ext>
            </a:extLst>
          </p:cNvPr>
          <p:cNvSpPr txBox="1"/>
          <p:nvPr/>
        </p:nvSpPr>
        <p:spPr>
          <a:xfrm>
            <a:off x="1364362" y="2630840"/>
            <a:ext cx="9829800" cy="1374735"/>
          </a:xfrm>
          <a:prstGeom prst="rect">
            <a:avLst/>
          </a:prstGeom>
          <a:noFill/>
        </p:spPr>
        <p:txBody>
          <a:bodyPr wrap="square" rtlCol="0">
            <a:spAutoFit/>
          </a:bodyPr>
          <a:lstStyle/>
          <a:p>
            <a:pPr algn="l">
              <a:lnSpc>
                <a:spcPts val="1950"/>
              </a:lnSpc>
            </a:pPr>
            <a:r>
              <a:rPr lang="en-US" altLang="zh-CN" sz="2000" kern="0" dirty="0">
                <a:solidFill>
                  <a:srgbClr val="4D4D4D"/>
                </a:solidFill>
                <a:latin typeface="微软雅黑" panose="020B0503020204020204" pitchFamily="34" charset="-122"/>
                <a:ea typeface="等线" panose="02010600030101010101" charset="-122"/>
                <a:cs typeface="Arial" panose="020B0604020202020204" pitchFamily="34" charset="0"/>
                <a:sym typeface="+mn-ea"/>
              </a:rPr>
              <a:t>   </a:t>
            </a:r>
          </a:p>
          <a:p>
            <a:pPr algn="l">
              <a:lnSpc>
                <a:spcPts val="1950"/>
              </a:lnSpc>
            </a:pPr>
            <a:r>
              <a:rPr lang="zh-CN" altLang="zh-CN" kern="0" dirty="0">
                <a:solidFill>
                  <a:srgbClr val="4D4D4D"/>
                </a:solidFill>
                <a:latin typeface="等线" panose="02010600030101010101" charset="-122"/>
                <a:cs typeface="Arial" panose="020B0604020202020204" pitchFamily="34" charset="0"/>
              </a:rPr>
              <a:t>数据通讯指的是应用程序直接与处理器通讯的程度。通常我们都是通过某种通讯手段来实现在一个应用中所使用的数据或者控制信息的。连接到本地控制器上的终端被认为是使用通讯设施，而协议指的是两个系统或者两个设备之间进行通讯时所使用的一种约定。所有的数据通讯链接都需要某种协议。</a:t>
            </a:r>
          </a:p>
        </p:txBody>
      </p:sp>
      <p:sp>
        <p:nvSpPr>
          <p:cNvPr id="43" name="Freeform 12">
            <a:extLst>
              <a:ext uri="{FF2B5EF4-FFF2-40B4-BE49-F238E27FC236}">
                <a16:creationId xmlns:a16="http://schemas.microsoft.com/office/drawing/2014/main" id="{59C0B765-2CAC-495A-870D-1F5EBEEAEB98}"/>
              </a:ext>
            </a:extLst>
          </p:cNvPr>
          <p:cNvSpPr/>
          <p:nvPr/>
        </p:nvSpPr>
        <p:spPr bwMode="auto">
          <a:xfrm>
            <a:off x="988442" y="2155225"/>
            <a:ext cx="3843655" cy="544195"/>
          </a:xfrm>
          <a:custGeom>
            <a:avLst/>
            <a:gdLst>
              <a:gd name="T0" fmla="*/ 3591 w 3591"/>
              <a:gd name="T1" fmla="*/ 0 h 696"/>
              <a:gd name="T2" fmla="*/ 0 w 3591"/>
              <a:gd name="T3" fmla="*/ 0 h 696"/>
              <a:gd name="T4" fmla="*/ 0 w 3591"/>
              <a:gd name="T5" fmla="*/ 696 h 696"/>
              <a:gd name="T6" fmla="*/ 3591 w 3591"/>
              <a:gd name="T7" fmla="*/ 696 h 696"/>
              <a:gd name="T8" fmla="*/ 3383 w 3591"/>
              <a:gd name="T9" fmla="*/ 353 h 696"/>
              <a:gd name="T10" fmla="*/ 3591 w 3591"/>
              <a:gd name="T11" fmla="*/ 0 h 696"/>
            </a:gdLst>
            <a:ahLst/>
            <a:cxnLst>
              <a:cxn ang="0">
                <a:pos x="T0" y="T1"/>
              </a:cxn>
              <a:cxn ang="0">
                <a:pos x="T2" y="T3"/>
              </a:cxn>
              <a:cxn ang="0">
                <a:pos x="T4" y="T5"/>
              </a:cxn>
              <a:cxn ang="0">
                <a:pos x="T6" y="T7"/>
              </a:cxn>
              <a:cxn ang="0">
                <a:pos x="T8" y="T9"/>
              </a:cxn>
              <a:cxn ang="0">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bg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44" name="TextBox 23">
            <a:extLst>
              <a:ext uri="{FF2B5EF4-FFF2-40B4-BE49-F238E27FC236}">
                <a16:creationId xmlns:a16="http://schemas.microsoft.com/office/drawing/2014/main" id="{EF5237FE-4967-4FF5-BBFD-EC7EBFE5C3CD}"/>
              </a:ext>
            </a:extLst>
          </p:cNvPr>
          <p:cNvSpPr txBox="1"/>
          <p:nvPr/>
        </p:nvSpPr>
        <p:spPr>
          <a:xfrm>
            <a:off x="988442" y="2207930"/>
            <a:ext cx="4047490" cy="491490"/>
          </a:xfrm>
          <a:prstGeom prst="rect">
            <a:avLst/>
          </a:prstGeom>
          <a:noFill/>
        </p:spPr>
        <p:txBody>
          <a:bodyPr wrap="square" rtlCol="0">
            <a:spAutoFit/>
          </a:bodyPr>
          <a:lstStyle/>
          <a:p>
            <a:r>
              <a:rPr lang="zh-CN" altLang="en-US" sz="2600" kern="0" dirty="0">
                <a:solidFill>
                  <a:schemeClr val="accent2"/>
                </a:solidFill>
                <a:latin typeface="微软雅黑" panose="020B0503020204020204" pitchFamily="34" charset="-122"/>
                <a:ea typeface="等线" panose="02010600030101010101" charset="-122"/>
                <a:cs typeface="Arial" panose="020B0604020202020204" pitchFamily="34" charset="0"/>
                <a:sym typeface="+mn-ea"/>
              </a:rPr>
              <a:t>数据通讯</a:t>
            </a:r>
            <a:endParaRPr lang="zh-CN" altLang="zh-CN" sz="2600" kern="0" dirty="0">
              <a:solidFill>
                <a:schemeClr val="accent2"/>
              </a:solidFill>
              <a:latin typeface="等线" panose="02010600030101010101" charset="-122"/>
              <a:ea typeface="+mn-ea"/>
              <a:cs typeface="Arial" panose="020B0604020202020204" pitchFamily="34" charset="0"/>
              <a:sym typeface="+mn-ea"/>
            </a:endParaRPr>
          </a:p>
        </p:txBody>
      </p:sp>
      <p:pic>
        <p:nvPicPr>
          <p:cNvPr id="5" name="图片 4">
            <a:extLst>
              <a:ext uri="{FF2B5EF4-FFF2-40B4-BE49-F238E27FC236}">
                <a16:creationId xmlns:a16="http://schemas.microsoft.com/office/drawing/2014/main" id="{5B3FD42F-FB0B-4D6B-B1B9-9D85D6F5EE24}"/>
              </a:ext>
            </a:extLst>
          </p:cNvPr>
          <p:cNvPicPr>
            <a:picLocks noChangeAspect="1"/>
          </p:cNvPicPr>
          <p:nvPr/>
        </p:nvPicPr>
        <p:blipFill>
          <a:blip r:embed="rId2"/>
          <a:stretch>
            <a:fillRect/>
          </a:stretch>
        </p:blipFill>
        <p:spPr>
          <a:xfrm>
            <a:off x="2093393" y="4361683"/>
            <a:ext cx="7861704" cy="2387723"/>
          </a:xfrm>
          <a:prstGeom prst="rect">
            <a:avLst/>
          </a:prstGeom>
        </p:spPr>
      </p:pic>
    </p:spTree>
    <p:extLst>
      <p:ext uri="{BB962C8B-B14F-4D97-AF65-F5344CB8AC3E}">
        <p14:creationId xmlns:p14="http://schemas.microsoft.com/office/powerpoint/2010/main" val="3058875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9"/>
                                        </p:tgtEl>
                                        <p:attrNameLst>
                                          <p:attrName>style.visibility</p:attrName>
                                        </p:attrNameLst>
                                      </p:cBhvr>
                                      <p:to>
                                        <p:strVal val="visible"/>
                                      </p:to>
                                    </p:set>
                                    <p:animEffect transition="in" filter="wipe(down)">
                                      <p:cBhvr>
                                        <p:cTn id="11" dur="500"/>
                                        <p:tgtEl>
                                          <p:spTgt spid="39"/>
                                        </p:tgtEl>
                                      </p:cBhvr>
                                    </p:animEffect>
                                  </p:childTnLst>
                                </p:cTn>
                              </p:par>
                            </p:childTnLst>
                          </p:cTn>
                        </p:par>
                        <p:par>
                          <p:cTn id="12" fill="hold">
                            <p:stCondLst>
                              <p:cond delay="1000"/>
                            </p:stCondLst>
                            <p:childTnLst>
                              <p:par>
                                <p:cTn id="13" presetID="56" presetClass="entr" presetSubtype="0" fill="hold" grpId="0" nodeType="afterEffect">
                                  <p:stCondLst>
                                    <p:cond delay="0"/>
                                  </p:stCondLst>
                                  <p:iterate type="lt">
                                    <p:tmPct val="10000"/>
                                  </p:iterate>
                                  <p:childTnLst>
                                    <p:set>
                                      <p:cBhvr>
                                        <p:cTn id="14" dur="1" fill="hold">
                                          <p:stCondLst>
                                            <p:cond delay="0"/>
                                          </p:stCondLst>
                                        </p:cTn>
                                        <p:tgtEl>
                                          <p:spTgt spid="44"/>
                                        </p:tgtEl>
                                        <p:attrNameLst>
                                          <p:attrName>style.visibility</p:attrName>
                                        </p:attrNameLst>
                                      </p:cBhvr>
                                      <p:to>
                                        <p:strVal val="visible"/>
                                      </p:to>
                                    </p:set>
                                    <p:anim by="(-#ppt_w*2)" calcmode="lin" valueType="num">
                                      <p:cBhvr rctx="PPT">
                                        <p:cTn id="15" dur="250" autoRev="1" fill="hold">
                                          <p:stCondLst>
                                            <p:cond delay="0"/>
                                          </p:stCondLst>
                                        </p:cTn>
                                        <p:tgtEl>
                                          <p:spTgt spid="44"/>
                                        </p:tgtEl>
                                        <p:attrNameLst>
                                          <p:attrName>ppt_w</p:attrName>
                                        </p:attrNameLst>
                                      </p:cBhvr>
                                    </p:anim>
                                    <p:anim by="(#ppt_w*0.50)" calcmode="lin" valueType="num">
                                      <p:cBhvr>
                                        <p:cTn id="16" dur="250" decel="50000" autoRev="1" fill="hold">
                                          <p:stCondLst>
                                            <p:cond delay="0"/>
                                          </p:stCondLst>
                                        </p:cTn>
                                        <p:tgtEl>
                                          <p:spTgt spid="44"/>
                                        </p:tgtEl>
                                        <p:attrNameLst>
                                          <p:attrName>ppt_x</p:attrName>
                                        </p:attrNameLst>
                                      </p:cBhvr>
                                    </p:anim>
                                    <p:anim from="(-#ppt_h/2)" to="(#ppt_y)" calcmode="lin" valueType="num">
                                      <p:cBhvr>
                                        <p:cTn id="17" dur="500" fill="hold">
                                          <p:stCondLst>
                                            <p:cond delay="0"/>
                                          </p:stCondLst>
                                        </p:cTn>
                                        <p:tgtEl>
                                          <p:spTgt spid="44"/>
                                        </p:tgtEl>
                                        <p:attrNameLst>
                                          <p:attrName>ppt_y</p:attrName>
                                        </p:attrNameLst>
                                      </p:cBhvr>
                                    </p:anim>
                                    <p:animRot by="21600000">
                                      <p:cBhvr>
                                        <p:cTn id="18" dur="500" fill="hold">
                                          <p:stCondLst>
                                            <p:cond delay="0"/>
                                          </p:stCondLst>
                                        </p:cTn>
                                        <p:tgtEl>
                                          <p:spTgt spid="44"/>
                                        </p:tgtEl>
                                        <p:attrNameLst>
                                          <p:attrName>r</p:attrName>
                                        </p:attrNameLst>
                                      </p:cBhvr>
                                    </p:animRot>
                                  </p:childTnLst>
                                </p:cTn>
                              </p:par>
                            </p:childTnLst>
                          </p:cTn>
                        </p:par>
                        <p:par>
                          <p:cTn id="19" fill="hold">
                            <p:stCondLst>
                              <p:cond delay="1650"/>
                            </p:stCondLst>
                            <p:childTnLst>
                              <p:par>
                                <p:cTn id="20" presetID="22" presetClass="entr" presetSubtype="8" fill="hold" grpId="0" nodeType="afterEffect">
                                  <p:stCondLst>
                                    <p:cond delay="0"/>
                                  </p:stCondLst>
                                  <p:childTnLst>
                                    <p:set>
                                      <p:cBhvr>
                                        <p:cTn id="21" dur="1" fill="hold">
                                          <p:stCondLst>
                                            <p:cond delay="0"/>
                                          </p:stCondLst>
                                        </p:cTn>
                                        <p:tgtEl>
                                          <p:spTgt spid="43"/>
                                        </p:tgtEl>
                                        <p:attrNameLst>
                                          <p:attrName>style.visibility</p:attrName>
                                        </p:attrNameLst>
                                      </p:cBhvr>
                                      <p:to>
                                        <p:strVal val="visible"/>
                                      </p:to>
                                    </p:set>
                                    <p:animEffect transition="in" filter="wipe(left)">
                                      <p:cBhvr>
                                        <p:cTn id="22" dur="500"/>
                                        <p:tgtEl>
                                          <p:spTgt spid="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39" grpId="0" bldLvl="0" animBg="1"/>
      <p:bldP spid="43" grpId="0" bldLvl="0" animBg="1"/>
      <p:bldP spid="4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79120" y="113220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79527" y="682826"/>
            <a:ext cx="1020535" cy="966814"/>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1009015" y="1457325"/>
            <a:ext cx="10406380" cy="500380"/>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38" name="文本框 37"/>
          <p:cNvSpPr txBox="1"/>
          <p:nvPr/>
        </p:nvSpPr>
        <p:spPr>
          <a:xfrm>
            <a:off x="1291410" y="1464663"/>
            <a:ext cx="9357995" cy="398780"/>
          </a:xfrm>
          <a:prstGeom prst="rect">
            <a:avLst/>
          </a:prstGeom>
          <a:noFill/>
        </p:spPr>
        <p:txBody>
          <a:bodyPr wrap="square" rtlCol="0">
            <a:spAutoFit/>
          </a:bodyPr>
          <a:lstStyle/>
          <a:p>
            <a:r>
              <a:rPr lang="en-US" altLang="zh-CN" sz="2000" kern="0" dirty="0">
                <a:solidFill>
                  <a:srgbClr val="4D4D4D"/>
                </a:solidFill>
                <a:latin typeface="微软雅黑" panose="020B0503020204020204" pitchFamily="34" charset="-122"/>
                <a:ea typeface="等线" panose="02010600030101010101" charset="-122"/>
                <a:cs typeface="Arial" panose="020B0604020202020204" pitchFamily="34" charset="0"/>
                <a:sym typeface="+mn-ea"/>
              </a:rPr>
              <a:t>  2</a:t>
            </a:r>
            <a:r>
              <a:rPr lang="en-US" altLang="zh-CN" sz="2000" dirty="0">
                <a:latin typeface="Arial" panose="020B0604020202020204" pitchFamily="34" charset="0"/>
                <a:sym typeface="+mn-ea"/>
              </a:rPr>
              <a:t>.  </a:t>
            </a:r>
            <a:r>
              <a:rPr lang="zh-CN" altLang="en-US" sz="2000" dirty="0">
                <a:latin typeface="Arial" panose="020B0604020202020204" pitchFamily="34" charset="0"/>
                <a:sym typeface="+mn-ea"/>
              </a:rPr>
              <a:t>确定功能点复杂性等级：</a:t>
            </a:r>
            <a:r>
              <a:rPr lang="en-US" altLang="zh-CN" sz="2000" dirty="0">
                <a:latin typeface="Arial" panose="020B0604020202020204" pitchFamily="34" charset="0"/>
                <a:sym typeface="+mn-ea"/>
              </a:rPr>
              <a:t>ILF/EIF</a:t>
            </a:r>
            <a:endParaRPr lang="zh-CN" altLang="en-US" sz="2000" dirty="0">
              <a:latin typeface="Arial" panose="020B0604020202020204" pitchFamily="34" charset="0"/>
            </a:endParaRPr>
          </a:p>
        </p:txBody>
      </p:sp>
      <p:pic>
        <p:nvPicPr>
          <p:cNvPr id="16" name="图片 15">
            <a:extLst>
              <a:ext uri="{FF2B5EF4-FFF2-40B4-BE49-F238E27FC236}">
                <a16:creationId xmlns:a16="http://schemas.microsoft.com/office/drawing/2014/main" id="{F8AF614A-2C64-4B82-8505-2FDCC20BE69D}"/>
              </a:ext>
            </a:extLst>
          </p:cNvPr>
          <p:cNvPicPr>
            <a:picLocks noChangeAspect="1"/>
          </p:cNvPicPr>
          <p:nvPr/>
        </p:nvPicPr>
        <p:blipFill>
          <a:blip r:embed="rId2"/>
          <a:stretch>
            <a:fillRect/>
          </a:stretch>
        </p:blipFill>
        <p:spPr>
          <a:xfrm>
            <a:off x="1064642" y="2009187"/>
            <a:ext cx="9834504" cy="1869646"/>
          </a:xfrm>
          <a:prstGeom prst="rect">
            <a:avLst/>
          </a:prstGeom>
        </p:spPr>
      </p:pic>
      <p:sp>
        <p:nvSpPr>
          <p:cNvPr id="40" name="文本框 39">
            <a:extLst>
              <a:ext uri="{FF2B5EF4-FFF2-40B4-BE49-F238E27FC236}">
                <a16:creationId xmlns:a16="http://schemas.microsoft.com/office/drawing/2014/main" id="{DBB8E018-9A4B-4F05-BF6F-988176C79362}"/>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2.</a:t>
            </a:r>
          </a:p>
        </p:txBody>
      </p:sp>
      <p:sp>
        <p:nvSpPr>
          <p:cNvPr id="41" name="文本框 40">
            <a:extLst>
              <a:ext uri="{FF2B5EF4-FFF2-40B4-BE49-F238E27FC236}">
                <a16:creationId xmlns:a16="http://schemas.microsoft.com/office/drawing/2014/main" id="{1D84BCF2-8BD7-4278-B8A7-DC9F6F6B5797}"/>
              </a:ext>
            </a:extLst>
          </p:cNvPr>
          <p:cNvSpPr txBox="1"/>
          <p:nvPr/>
        </p:nvSpPr>
        <p:spPr>
          <a:xfrm>
            <a:off x="1548765" y="83820"/>
            <a:ext cx="2844048"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功能点估算步骤</a:t>
            </a:r>
          </a:p>
        </p:txBody>
      </p:sp>
    </p:spTree>
    <p:extLst>
      <p:ext uri="{BB962C8B-B14F-4D97-AF65-F5344CB8AC3E}">
        <p14:creationId xmlns:p14="http://schemas.microsoft.com/office/powerpoint/2010/main" val="37425587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BB20CFD-B425-4846-9D8C-70FFAEA5E02F}"/>
              </a:ext>
            </a:extLst>
          </p:cNvPr>
          <p:cNvSpPr>
            <a:spLocks noGrp="1"/>
          </p:cNvSpPr>
          <p:nvPr>
            <p:ph type="title"/>
          </p:nvPr>
        </p:nvSpPr>
        <p:spPr/>
        <p:txBody>
          <a:bodyPr/>
          <a:lstStyle/>
          <a:p>
            <a:r>
              <a:rPr lang="zh-CN" altLang="en-US" dirty="0"/>
              <a:t>案例分析</a:t>
            </a:r>
          </a:p>
        </p:txBody>
      </p:sp>
      <p:sp>
        <p:nvSpPr>
          <p:cNvPr id="3" name="内容占位符 2">
            <a:extLst>
              <a:ext uri="{FF2B5EF4-FFF2-40B4-BE49-F238E27FC236}">
                <a16:creationId xmlns:a16="http://schemas.microsoft.com/office/drawing/2014/main" id="{6993E4A2-7F0F-49CB-B996-56FC370ECD75}"/>
              </a:ext>
            </a:extLst>
          </p:cNvPr>
          <p:cNvSpPr>
            <a:spLocks noGrp="1"/>
          </p:cNvSpPr>
          <p:nvPr>
            <p:ph idx="1"/>
          </p:nvPr>
        </p:nvSpPr>
        <p:spPr/>
        <p:txBody>
          <a:bodyPr/>
          <a:lstStyle/>
          <a:p>
            <a:endParaRPr lang="zh-CN" altLang="en-US"/>
          </a:p>
        </p:txBody>
      </p:sp>
    </p:spTree>
    <p:extLst>
      <p:ext uri="{BB962C8B-B14F-4D97-AF65-F5344CB8AC3E}">
        <p14:creationId xmlns:p14="http://schemas.microsoft.com/office/powerpoint/2010/main" val="315656230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426720" y="1049020"/>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sp>
        <p:nvSpPr>
          <p:cNvPr id="12" name="Freeform 12"/>
          <p:cNvSpPr>
            <a:spLocks noEditPoints="1"/>
          </p:cNvSpPr>
          <p:nvPr/>
        </p:nvSpPr>
        <p:spPr bwMode="auto">
          <a:xfrm rot="2400000">
            <a:off x="380365" y="605155"/>
            <a:ext cx="571500" cy="562610"/>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rot="2400000">
            <a:off x="640080" y="921385"/>
            <a:ext cx="460375" cy="455295"/>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rot="2400000">
            <a:off x="212725" y="1186180"/>
            <a:ext cx="664845" cy="65214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6" name="Freeform 10"/>
          <p:cNvSpPr/>
          <p:nvPr/>
        </p:nvSpPr>
        <p:spPr bwMode="auto">
          <a:xfrm>
            <a:off x="822960" y="1303655"/>
            <a:ext cx="10406380" cy="2042160"/>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23" name="Freeform 12"/>
          <p:cNvSpPr/>
          <p:nvPr/>
        </p:nvSpPr>
        <p:spPr bwMode="auto">
          <a:xfrm>
            <a:off x="822960" y="1132205"/>
            <a:ext cx="3843655" cy="544195"/>
          </a:xfrm>
          <a:custGeom>
            <a:avLst/>
            <a:gdLst>
              <a:gd name="T0" fmla="*/ 3591 w 3591"/>
              <a:gd name="T1" fmla="*/ 0 h 696"/>
              <a:gd name="T2" fmla="*/ 0 w 3591"/>
              <a:gd name="T3" fmla="*/ 0 h 696"/>
              <a:gd name="T4" fmla="*/ 0 w 3591"/>
              <a:gd name="T5" fmla="*/ 696 h 696"/>
              <a:gd name="T6" fmla="*/ 3591 w 3591"/>
              <a:gd name="T7" fmla="*/ 696 h 696"/>
              <a:gd name="T8" fmla="*/ 3383 w 3591"/>
              <a:gd name="T9" fmla="*/ 353 h 696"/>
              <a:gd name="T10" fmla="*/ 3591 w 3591"/>
              <a:gd name="T11" fmla="*/ 0 h 696"/>
            </a:gdLst>
            <a:ahLst/>
            <a:cxnLst>
              <a:cxn ang="0">
                <a:pos x="T0" y="T1"/>
              </a:cxn>
              <a:cxn ang="0">
                <a:pos x="T2" y="T3"/>
              </a:cxn>
              <a:cxn ang="0">
                <a:pos x="T4" y="T5"/>
              </a:cxn>
              <a:cxn ang="0">
                <a:pos x="T6" y="T7"/>
              </a:cxn>
              <a:cxn ang="0">
                <a:pos x="T8" y="T9"/>
              </a:cxn>
              <a:cxn ang="0">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bg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15" name="TextBox 23"/>
          <p:cNvSpPr txBox="1"/>
          <p:nvPr/>
        </p:nvSpPr>
        <p:spPr>
          <a:xfrm>
            <a:off x="962660" y="1158875"/>
            <a:ext cx="4448175" cy="491490"/>
          </a:xfrm>
          <a:prstGeom prst="rect">
            <a:avLst/>
          </a:prstGeom>
          <a:noFill/>
        </p:spPr>
        <p:txBody>
          <a:bodyPr wrap="square" rtlCol="0">
            <a:spAutoFit/>
          </a:bodyPr>
          <a:lstStyle/>
          <a:p>
            <a:r>
              <a:rPr lang="zh-CN" altLang="zh-CN" sz="2600" kern="0" dirty="0">
                <a:solidFill>
                  <a:schemeClr val="accent2"/>
                </a:solidFill>
                <a:latin typeface="等线" panose="02010600030101010101" charset="-122"/>
                <a:cs typeface="Arial" panose="020B0604020202020204" pitchFamily="34" charset="0"/>
                <a:sym typeface="+mn-ea"/>
              </a:rPr>
              <a:t>识别项目的范围和边界</a:t>
            </a:r>
            <a:endParaRPr lang="zh-CN" altLang="zh-CN" sz="2600" kern="0" dirty="0">
              <a:solidFill>
                <a:schemeClr val="accent2"/>
              </a:solidFill>
              <a:latin typeface="等线" panose="02010600030101010101" charset="-122"/>
              <a:ea typeface="+mn-ea"/>
              <a:cs typeface="Arial" panose="020B0604020202020204" pitchFamily="34" charset="0"/>
              <a:sym typeface="+mn-ea"/>
            </a:endParaRPr>
          </a:p>
        </p:txBody>
      </p:sp>
      <p:sp>
        <p:nvSpPr>
          <p:cNvPr id="2" name="文本框 1"/>
          <p:cNvSpPr txBox="1"/>
          <p:nvPr/>
        </p:nvSpPr>
        <p:spPr>
          <a:xfrm>
            <a:off x="1009015" y="1709420"/>
            <a:ext cx="10100310" cy="1568450"/>
          </a:xfrm>
          <a:prstGeom prst="rect">
            <a:avLst/>
          </a:prstGeom>
          <a:noFill/>
        </p:spPr>
        <p:txBody>
          <a:bodyPr wrap="square" rtlCol="0">
            <a:spAutoFit/>
          </a:bodyPr>
          <a:lstStyle/>
          <a:p>
            <a:pPr>
              <a:lnSpc>
                <a:spcPct val="120000"/>
              </a:lnSpc>
            </a:pPr>
            <a:r>
              <a:rPr lang="en-US" altLang="zh-CN" sz="2000" kern="0" dirty="0">
                <a:solidFill>
                  <a:srgbClr val="4D4D4D"/>
                </a:solidFill>
                <a:latin typeface="+mn-ea"/>
                <a:ea typeface="+mn-ea"/>
                <a:cs typeface="+mn-ea"/>
                <a:sym typeface="+mn-ea"/>
              </a:rPr>
              <a:t>   </a:t>
            </a:r>
            <a:r>
              <a:rPr lang="zh-CN" altLang="zh-CN" sz="2000" kern="0" dirty="0">
                <a:solidFill>
                  <a:srgbClr val="4D4D4D"/>
                </a:solidFill>
                <a:latin typeface="+mn-ea"/>
                <a:ea typeface="+mn-ea"/>
                <a:cs typeface="+mn-ea"/>
                <a:sym typeface="+mn-ea"/>
              </a:rPr>
              <a:t>使用</a:t>
            </a:r>
            <a:r>
              <a:rPr lang="en-US" altLang="zh-CN" sz="2000" kern="0" dirty="0">
                <a:solidFill>
                  <a:srgbClr val="4D4D4D"/>
                </a:solidFill>
                <a:latin typeface="+mn-ea"/>
                <a:ea typeface="+mn-ea"/>
                <a:cs typeface="+mn-ea"/>
                <a:sym typeface="+mn-ea"/>
              </a:rPr>
              <a:t>UML</a:t>
            </a:r>
            <a:r>
              <a:rPr lang="zh-CN" altLang="zh-CN" sz="2000" kern="0" dirty="0">
                <a:solidFill>
                  <a:srgbClr val="4D4D4D"/>
                </a:solidFill>
                <a:latin typeface="+mn-ea"/>
                <a:ea typeface="+mn-ea"/>
                <a:cs typeface="+mn-ea"/>
                <a:sym typeface="+mn-ea"/>
              </a:rPr>
              <a:t>的“</a:t>
            </a:r>
            <a:r>
              <a:rPr lang="en-US" altLang="zh-CN" sz="2000" kern="0" dirty="0" err="1">
                <a:solidFill>
                  <a:srgbClr val="4D4D4D"/>
                </a:solidFill>
                <a:latin typeface="+mn-ea"/>
                <a:ea typeface="+mn-ea"/>
                <a:cs typeface="+mn-ea"/>
                <a:sym typeface="+mn-ea"/>
              </a:rPr>
              <a:t>UseCase</a:t>
            </a:r>
            <a:r>
              <a:rPr lang="zh-CN" altLang="zh-CN" sz="2000" kern="0" dirty="0">
                <a:solidFill>
                  <a:srgbClr val="4D4D4D"/>
                </a:solidFill>
                <a:latin typeface="+mn-ea"/>
                <a:ea typeface="+mn-ea"/>
                <a:cs typeface="+mn-ea"/>
                <a:sym typeface="+mn-ea"/>
              </a:rPr>
              <a:t>”用例图是以用户角度进行识别项目范围和边界的最好方法，在画用例图时就必须明确系统的边界。通过系统的边界，我们可以知道哪些功能要计算功能点，哪些功能点是外部系统负责计算的。以图</a:t>
            </a:r>
            <a:r>
              <a:rPr lang="en-US" altLang="zh-CN" sz="2000" kern="0" dirty="0">
                <a:solidFill>
                  <a:srgbClr val="4D4D4D"/>
                </a:solidFill>
                <a:latin typeface="+mn-ea"/>
                <a:ea typeface="+mn-ea"/>
                <a:cs typeface="+mn-ea"/>
                <a:sym typeface="+mn-ea"/>
              </a:rPr>
              <a:t>2</a:t>
            </a:r>
            <a:r>
              <a:rPr lang="zh-CN" altLang="zh-CN" sz="2000" kern="0" dirty="0">
                <a:solidFill>
                  <a:srgbClr val="4D4D4D"/>
                </a:solidFill>
                <a:latin typeface="+mn-ea"/>
                <a:ea typeface="+mn-ea"/>
                <a:cs typeface="+mn-ea"/>
                <a:sym typeface="+mn-ea"/>
              </a:rPr>
              <a:t>为例：一个外贸订单系统只包含录入、修改、删除、查询和统计订单的功能，而汇率查询转换服务是不属于该系统的。</a:t>
            </a:r>
          </a:p>
        </p:txBody>
      </p:sp>
      <p:sp>
        <p:nvSpPr>
          <p:cNvPr id="39" name="矩形 38"/>
          <p:cNvSpPr/>
          <p:nvPr/>
        </p:nvSpPr>
        <p:spPr>
          <a:xfrm>
            <a:off x="870267" y="3420896"/>
            <a:ext cx="4679474" cy="1399037"/>
          </a:xfrm>
          <a:prstGeom prst="rect">
            <a:avLst/>
          </a:prstGeom>
          <a:solidFill>
            <a:schemeClr val="tx2">
              <a:lumMod val="20000"/>
              <a:lumOff val="80000"/>
            </a:schemeClr>
          </a:solidFill>
          <a:ln>
            <a:noFill/>
          </a:ln>
        </p:spPr>
        <p:style>
          <a:lnRef idx="2">
            <a:schemeClr val="accent3">
              <a:shade val="50000"/>
            </a:schemeClr>
          </a:lnRef>
          <a:fillRef idx="1">
            <a:schemeClr val="accent3"/>
          </a:fillRef>
          <a:effectRef idx="0">
            <a:schemeClr val="accent3"/>
          </a:effectRef>
          <a:fontRef idx="minor">
            <a:schemeClr val="lt1"/>
          </a:fontRef>
        </p:style>
        <p:txBody>
          <a:bodyPr wrap="square">
            <a:spAutoFit/>
          </a:bodyPr>
          <a:lstStyle/>
          <a:p>
            <a:pPr>
              <a:lnSpc>
                <a:spcPct val="120000"/>
              </a:lnSpc>
              <a:spcAft>
                <a:spcPts val="0"/>
              </a:spcAft>
              <a:defRPr/>
            </a:pPr>
            <a:r>
              <a:rPr lang="zh-CN" altLang="zh-CN" kern="0" dirty="0">
                <a:solidFill>
                  <a:srgbClr val="4D4D4D"/>
                </a:solidFill>
                <a:latin typeface="等线" panose="02010600030101010101" charset="-122"/>
                <a:ea typeface="微软雅黑" panose="020B0503020204020204" pitchFamily="34" charset="-122"/>
                <a:cs typeface="Arial" panose="020B0604020202020204" pitchFamily="34" charset="0"/>
              </a:rPr>
              <a:t>应用程序边界的识别规则</a:t>
            </a:r>
            <a:r>
              <a:rPr lang="zh-CN" altLang="en-US" kern="0" dirty="0">
                <a:solidFill>
                  <a:srgbClr val="4D4D4D"/>
                </a:solidFill>
                <a:latin typeface="等线" panose="02010600030101010101" charset="-122"/>
                <a:ea typeface="微软雅黑" panose="020B0503020204020204" pitchFamily="34" charset="-122"/>
                <a:cs typeface="Arial" panose="020B0604020202020204" pitchFamily="34" charset="0"/>
              </a:rPr>
              <a:t>：</a:t>
            </a:r>
            <a:r>
              <a:rPr lang="zh-CN" altLang="zh-CN" kern="0" dirty="0">
                <a:solidFill>
                  <a:srgbClr val="4D4D4D"/>
                </a:solidFill>
                <a:latin typeface="等线" panose="02010600030101010101" charset="-122"/>
                <a:ea typeface="微软雅黑" panose="020B0503020204020204" pitchFamily="34" charset="-122"/>
                <a:cs typeface="Arial" panose="020B0604020202020204" pitchFamily="34" charset="0"/>
              </a:rPr>
              <a:t>不能从技术角度去思考，必须从用户角度来定义；如果项目牵扯到多个系统，那么必须将这多个系统的边界全部描述清楚。</a:t>
            </a:r>
          </a:p>
        </p:txBody>
      </p:sp>
      <p:pic>
        <p:nvPicPr>
          <p:cNvPr id="40" name="Picture 2" descr="http://image.it168.com/cms/2008-1-18/Image/200811810545.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81333" y="3345498"/>
            <a:ext cx="5118100" cy="3405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1" name="文本框 40"/>
          <p:cNvSpPr txBox="1"/>
          <p:nvPr/>
        </p:nvSpPr>
        <p:spPr>
          <a:xfrm>
            <a:off x="6735445" y="6750685"/>
            <a:ext cx="2303145" cy="340995"/>
          </a:xfrm>
          <a:prstGeom prst="rect">
            <a:avLst/>
          </a:prstGeom>
          <a:noFill/>
        </p:spPr>
        <p:txBody>
          <a:bodyPr wrap="none" rtlCol="0" anchor="t">
            <a:spAutoFit/>
          </a:bodyPr>
          <a:lstStyle/>
          <a:p>
            <a:pPr algn="ctr">
              <a:lnSpc>
                <a:spcPts val="1950"/>
              </a:lnSpc>
              <a:spcAft>
                <a:spcPts val="0"/>
              </a:spcAft>
              <a:defRPr/>
            </a:pPr>
            <a:r>
              <a:rPr lang="zh-CN" altLang="zh-CN" kern="0" dirty="0">
                <a:solidFill>
                  <a:srgbClr val="4D4D4D"/>
                </a:solidFill>
                <a:latin typeface="等线" panose="02010600030101010101" charset="-122"/>
                <a:cs typeface="Arial" panose="020B0604020202020204" pitchFamily="34" charset="0"/>
                <a:sym typeface="+mn-ea"/>
              </a:rPr>
              <a:t> 外贸订单系统用例图</a:t>
            </a:r>
            <a:endParaRPr lang="zh-CN" altLang="en-US"/>
          </a:p>
        </p:txBody>
      </p:sp>
      <p:sp>
        <p:nvSpPr>
          <p:cNvPr id="42" name="Freeform 10">
            <a:extLst>
              <a:ext uri="{FF2B5EF4-FFF2-40B4-BE49-F238E27FC236}">
                <a16:creationId xmlns:a16="http://schemas.microsoft.com/office/drawing/2014/main" id="{10577AA1-1D05-4406-B020-55C9099B2F83}"/>
              </a:ext>
            </a:extLst>
          </p:cNvPr>
          <p:cNvSpPr/>
          <p:nvPr/>
        </p:nvSpPr>
        <p:spPr bwMode="auto">
          <a:xfrm>
            <a:off x="807560" y="4941853"/>
            <a:ext cx="4758373" cy="1871360"/>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43" name="文本框 42">
            <a:extLst>
              <a:ext uri="{FF2B5EF4-FFF2-40B4-BE49-F238E27FC236}">
                <a16:creationId xmlns:a16="http://schemas.microsoft.com/office/drawing/2014/main" id="{581D0118-082A-4D38-84E2-7387396B8CEC}"/>
              </a:ext>
            </a:extLst>
          </p:cNvPr>
          <p:cNvSpPr txBox="1"/>
          <p:nvPr/>
        </p:nvSpPr>
        <p:spPr>
          <a:xfrm>
            <a:off x="922441" y="5009464"/>
            <a:ext cx="4575125" cy="1684757"/>
          </a:xfrm>
          <a:prstGeom prst="rect">
            <a:avLst/>
          </a:prstGeom>
          <a:noFill/>
        </p:spPr>
        <p:txBody>
          <a:bodyPr wrap="square" rtlCol="0">
            <a:spAutoFit/>
          </a:bodyPr>
          <a:lstStyle/>
          <a:p>
            <a:pPr marL="342900" indent="-342900">
              <a:lnSpc>
                <a:spcPts val="1950"/>
              </a:lnSpc>
              <a:spcBef>
                <a:spcPts val="600"/>
              </a:spcBef>
              <a:spcAft>
                <a:spcPts val="0"/>
              </a:spcAft>
              <a:buSzPts val="1000"/>
              <a:buFont typeface="Symbol" panose="05050102010706020507" pitchFamily="18" charset="2"/>
              <a:buChar char=""/>
              <a:tabLst>
                <a:tab pos="457200" algn="l"/>
              </a:tabLst>
              <a:defRPr/>
            </a:pPr>
            <a:r>
              <a:rPr lang="zh-CN" altLang="zh-CN" sz="1400" kern="0" dirty="0">
                <a:solidFill>
                  <a:srgbClr val="666666"/>
                </a:solidFill>
                <a:latin typeface="等线" panose="02010600030101010101" charset="-122"/>
                <a:cs typeface="Arial" panose="020B0604020202020204" pitchFamily="34" charset="0"/>
                <a:sym typeface="+mn-ea"/>
              </a:rPr>
              <a:t>录入订单、修改订单、删除订单是</a:t>
            </a:r>
            <a:r>
              <a:rPr lang="en-US" altLang="zh-CN" sz="1400" kern="0" dirty="0">
                <a:solidFill>
                  <a:srgbClr val="666666"/>
                </a:solidFill>
                <a:latin typeface="等线" panose="02010600030101010101" charset="-122"/>
                <a:cs typeface="Arial" panose="020B0604020202020204" pitchFamily="34" charset="0"/>
                <a:sym typeface="+mn-ea"/>
              </a:rPr>
              <a:t>EI</a:t>
            </a:r>
            <a:r>
              <a:rPr lang="zh-CN" altLang="en-US" sz="1400" kern="0" dirty="0">
                <a:solidFill>
                  <a:srgbClr val="666666"/>
                </a:solidFill>
                <a:latin typeface="等线" panose="02010600030101010101" charset="-122"/>
                <a:cs typeface="Arial" panose="020B0604020202020204" pitchFamily="34" charset="0"/>
                <a:sym typeface="+mn-ea"/>
              </a:rPr>
              <a:t>（外部输入）</a:t>
            </a:r>
            <a:r>
              <a:rPr lang="zh-CN" altLang="zh-CN" sz="1400" kern="0" dirty="0">
                <a:solidFill>
                  <a:srgbClr val="666666"/>
                </a:solidFill>
                <a:latin typeface="等线" panose="02010600030101010101" charset="-122"/>
                <a:cs typeface="Arial" panose="020B0604020202020204" pitchFamily="34" charset="0"/>
                <a:sym typeface="+mn-ea"/>
              </a:rPr>
              <a:t>；</a:t>
            </a:r>
            <a:endParaRPr lang="zh-CN" altLang="zh-CN" sz="1400" kern="100" dirty="0">
              <a:latin typeface="等线" panose="02010600030101010101" charset="-122"/>
              <a:ea typeface="等线" panose="02010600030101010101" charset="-122"/>
              <a:cs typeface="Times New Roman" panose="02020603050405020304" pitchFamily="18" charset="0"/>
            </a:endParaRPr>
          </a:p>
          <a:p>
            <a:pPr marL="342900" indent="-342900">
              <a:lnSpc>
                <a:spcPts val="1950"/>
              </a:lnSpc>
              <a:spcBef>
                <a:spcPts val="600"/>
              </a:spcBef>
              <a:spcAft>
                <a:spcPts val="0"/>
              </a:spcAft>
              <a:buSzPts val="1000"/>
              <a:buFont typeface="Symbol" panose="05050102010706020507" pitchFamily="18" charset="2"/>
              <a:buChar char=""/>
              <a:tabLst>
                <a:tab pos="457200" algn="l"/>
              </a:tabLst>
              <a:defRPr/>
            </a:pPr>
            <a:r>
              <a:rPr lang="zh-CN" altLang="zh-CN" sz="1400" kern="0" dirty="0">
                <a:solidFill>
                  <a:srgbClr val="666666"/>
                </a:solidFill>
                <a:latin typeface="等线" panose="02010600030101010101" charset="-122"/>
                <a:cs typeface="Arial" panose="020B0604020202020204" pitchFamily="34" charset="0"/>
                <a:sym typeface="+mn-ea"/>
              </a:rPr>
              <a:t>查询订单是</a:t>
            </a:r>
            <a:r>
              <a:rPr lang="en-US" altLang="zh-CN" sz="1400" kern="0" dirty="0">
                <a:solidFill>
                  <a:srgbClr val="666666"/>
                </a:solidFill>
                <a:latin typeface="等线" panose="02010600030101010101" charset="-122"/>
                <a:cs typeface="Arial" panose="020B0604020202020204" pitchFamily="34" charset="0"/>
                <a:sym typeface="+mn-ea"/>
              </a:rPr>
              <a:t>EO</a:t>
            </a:r>
            <a:r>
              <a:rPr lang="zh-CN" altLang="en-US" sz="1400" kern="0" dirty="0">
                <a:solidFill>
                  <a:srgbClr val="666666"/>
                </a:solidFill>
                <a:latin typeface="等线" panose="02010600030101010101" charset="-122"/>
                <a:cs typeface="Arial" panose="020B0604020202020204" pitchFamily="34" charset="0"/>
                <a:sym typeface="+mn-ea"/>
              </a:rPr>
              <a:t>（外部输出）</a:t>
            </a:r>
            <a:endParaRPr lang="zh-CN" altLang="zh-CN" sz="1400" kern="100" dirty="0">
              <a:latin typeface="等线" panose="02010600030101010101" charset="-122"/>
              <a:ea typeface="等线" panose="02010600030101010101" charset="-122"/>
              <a:cs typeface="Times New Roman" panose="02020603050405020304" pitchFamily="18" charset="0"/>
            </a:endParaRPr>
          </a:p>
          <a:p>
            <a:pPr marL="342900" indent="-342900">
              <a:lnSpc>
                <a:spcPts val="1950"/>
              </a:lnSpc>
              <a:spcBef>
                <a:spcPts val="600"/>
              </a:spcBef>
              <a:spcAft>
                <a:spcPts val="0"/>
              </a:spcAft>
              <a:buSzPts val="1000"/>
              <a:buFont typeface="Symbol" panose="05050102010706020507" pitchFamily="18" charset="2"/>
              <a:buChar char=""/>
              <a:tabLst>
                <a:tab pos="457200" algn="l"/>
              </a:tabLst>
              <a:defRPr/>
            </a:pPr>
            <a:r>
              <a:rPr lang="zh-CN" altLang="zh-CN" sz="1400" kern="0" dirty="0">
                <a:solidFill>
                  <a:srgbClr val="666666"/>
                </a:solidFill>
                <a:latin typeface="等线" panose="02010600030101010101" charset="-122"/>
                <a:cs typeface="Arial" panose="020B0604020202020204" pitchFamily="34" charset="0"/>
                <a:sym typeface="+mn-ea"/>
              </a:rPr>
              <a:t>统计订单是</a:t>
            </a:r>
            <a:r>
              <a:rPr lang="en-US" altLang="zh-CN" sz="1400" kern="0" dirty="0">
                <a:solidFill>
                  <a:srgbClr val="666666"/>
                </a:solidFill>
                <a:latin typeface="等线" panose="02010600030101010101" charset="-122"/>
                <a:cs typeface="Arial" panose="020B0604020202020204" pitchFamily="34" charset="0"/>
                <a:sym typeface="+mn-ea"/>
              </a:rPr>
              <a:t>EQ</a:t>
            </a:r>
            <a:r>
              <a:rPr lang="zh-CN" altLang="en-US" sz="1400" kern="0" dirty="0">
                <a:solidFill>
                  <a:srgbClr val="666666"/>
                </a:solidFill>
                <a:latin typeface="等线" panose="02010600030101010101" charset="-122"/>
                <a:cs typeface="Arial" panose="020B0604020202020204" pitchFamily="34" charset="0"/>
                <a:sym typeface="+mn-ea"/>
              </a:rPr>
              <a:t>（外部查询）</a:t>
            </a:r>
            <a:endParaRPr lang="zh-CN" altLang="zh-CN" sz="1400" kern="100" dirty="0">
              <a:latin typeface="等线" panose="02010600030101010101" charset="-122"/>
              <a:ea typeface="等线" panose="02010600030101010101" charset="-122"/>
              <a:cs typeface="Times New Roman" panose="02020603050405020304" pitchFamily="18" charset="0"/>
            </a:endParaRPr>
          </a:p>
          <a:p>
            <a:pPr marL="342900" indent="-342900">
              <a:lnSpc>
                <a:spcPts val="1950"/>
              </a:lnSpc>
              <a:spcBef>
                <a:spcPts val="600"/>
              </a:spcBef>
              <a:spcAft>
                <a:spcPts val="0"/>
              </a:spcAft>
              <a:buSzPts val="1000"/>
              <a:buFont typeface="Symbol" panose="05050102010706020507" pitchFamily="18" charset="2"/>
              <a:buChar char=""/>
              <a:tabLst>
                <a:tab pos="457200" algn="l"/>
              </a:tabLst>
              <a:defRPr/>
            </a:pPr>
            <a:r>
              <a:rPr lang="zh-CN" altLang="zh-CN" sz="1400" kern="0" dirty="0">
                <a:solidFill>
                  <a:srgbClr val="666666"/>
                </a:solidFill>
                <a:latin typeface="等线" panose="02010600030101010101" charset="-122"/>
                <a:cs typeface="Arial" panose="020B0604020202020204" pitchFamily="34" charset="0"/>
                <a:sym typeface="+mn-ea"/>
              </a:rPr>
              <a:t>汇率查询转换系统为</a:t>
            </a:r>
            <a:r>
              <a:rPr lang="en-US" altLang="zh-CN" sz="1400" kern="0" dirty="0">
                <a:solidFill>
                  <a:srgbClr val="666666"/>
                </a:solidFill>
                <a:latin typeface="等线" panose="02010600030101010101" charset="-122"/>
                <a:cs typeface="Arial" panose="020B0604020202020204" pitchFamily="34" charset="0"/>
                <a:sym typeface="+mn-ea"/>
              </a:rPr>
              <a:t>EIF</a:t>
            </a:r>
            <a:r>
              <a:rPr lang="zh-CN" altLang="en-US" sz="1400" kern="0" dirty="0">
                <a:solidFill>
                  <a:srgbClr val="666666"/>
                </a:solidFill>
                <a:latin typeface="等线" panose="02010600030101010101" charset="-122"/>
                <a:cs typeface="Arial" panose="020B0604020202020204" pitchFamily="34" charset="0"/>
                <a:sym typeface="+mn-ea"/>
              </a:rPr>
              <a:t>（外部逻辑）</a:t>
            </a:r>
            <a:endParaRPr lang="zh-CN" altLang="zh-CN" sz="1400" kern="100" dirty="0">
              <a:latin typeface="等线" panose="02010600030101010101" charset="-122"/>
              <a:ea typeface="等线" panose="02010600030101010101" charset="-122"/>
              <a:cs typeface="Times New Roman" panose="02020603050405020304" pitchFamily="18" charset="0"/>
            </a:endParaRPr>
          </a:p>
          <a:p>
            <a:pPr marL="342900" indent="-342900">
              <a:lnSpc>
                <a:spcPts val="1950"/>
              </a:lnSpc>
              <a:spcBef>
                <a:spcPts val="600"/>
              </a:spcBef>
              <a:spcAft>
                <a:spcPts val="0"/>
              </a:spcAft>
              <a:buSzPts val="1000"/>
              <a:buFont typeface="Symbol" panose="05050102010706020507" pitchFamily="18" charset="2"/>
              <a:buChar char=""/>
              <a:tabLst>
                <a:tab pos="457200" algn="l"/>
              </a:tabLst>
              <a:defRPr/>
            </a:pPr>
            <a:r>
              <a:rPr lang="zh-CN" altLang="zh-CN" sz="1400" kern="0" dirty="0">
                <a:solidFill>
                  <a:srgbClr val="666666"/>
                </a:solidFill>
                <a:latin typeface="等线" panose="02010600030101010101" charset="-122"/>
                <a:cs typeface="Arial" panose="020B0604020202020204" pitchFamily="34" charset="0"/>
                <a:sym typeface="+mn-ea"/>
              </a:rPr>
              <a:t>订单和客户是</a:t>
            </a:r>
            <a:r>
              <a:rPr lang="en-US" altLang="zh-CN" sz="1400" kern="0" dirty="0">
                <a:solidFill>
                  <a:srgbClr val="666666"/>
                </a:solidFill>
                <a:latin typeface="等线" panose="02010600030101010101" charset="-122"/>
                <a:cs typeface="Arial" panose="020B0604020202020204" pitchFamily="34" charset="0"/>
                <a:sym typeface="+mn-ea"/>
              </a:rPr>
              <a:t>ILF</a:t>
            </a:r>
            <a:r>
              <a:rPr lang="zh-CN" altLang="en-US" sz="1400" kern="0" dirty="0">
                <a:solidFill>
                  <a:srgbClr val="666666"/>
                </a:solidFill>
                <a:latin typeface="等线" panose="02010600030101010101" charset="-122"/>
                <a:cs typeface="Arial" panose="020B0604020202020204" pitchFamily="34" charset="0"/>
                <a:sym typeface="+mn-ea"/>
              </a:rPr>
              <a:t>（内部逻辑文件）</a:t>
            </a:r>
            <a:endParaRPr lang="en-US" altLang="zh-CN" sz="1400" dirty="0">
              <a:latin typeface="Arial" panose="020B0604020202020204" pitchFamily="34" charset="0"/>
            </a:endParaRPr>
          </a:p>
        </p:txBody>
      </p:sp>
      <p:sp>
        <p:nvSpPr>
          <p:cNvPr id="3" name="文本框 2">
            <a:extLst>
              <a:ext uri="{FF2B5EF4-FFF2-40B4-BE49-F238E27FC236}">
                <a16:creationId xmlns:a16="http://schemas.microsoft.com/office/drawing/2014/main" id="{2237055D-972B-44DE-9821-E8F9208CC7A8}"/>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3.</a:t>
            </a:r>
          </a:p>
        </p:txBody>
      </p:sp>
      <p:sp>
        <p:nvSpPr>
          <p:cNvPr id="8" name="文本框 7">
            <a:extLst>
              <a:ext uri="{FF2B5EF4-FFF2-40B4-BE49-F238E27FC236}">
                <a16:creationId xmlns:a16="http://schemas.microsoft.com/office/drawing/2014/main" id="{5C71C24A-FB54-4765-8878-E20798FF6304}"/>
              </a:ext>
            </a:extLst>
          </p:cNvPr>
          <p:cNvSpPr txBox="1"/>
          <p:nvPr/>
        </p:nvSpPr>
        <p:spPr>
          <a:xfrm>
            <a:off x="1548765" y="83820"/>
            <a:ext cx="2738250"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功能点估算案例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15"/>
                                        </p:tgtEl>
                                        <p:attrNameLst>
                                          <p:attrName>style.visibility</p:attrName>
                                        </p:attrNameLst>
                                      </p:cBhvr>
                                      <p:to>
                                        <p:strVal val="visible"/>
                                      </p:to>
                                    </p:set>
                                    <p:anim by="(-#ppt_w*2)" calcmode="lin" valueType="num">
                                      <p:cBhvr rctx="PPT">
                                        <p:cTn id="7" dur="250" autoRev="1" fill="hold">
                                          <p:stCondLst>
                                            <p:cond delay="0"/>
                                          </p:stCondLst>
                                        </p:cTn>
                                        <p:tgtEl>
                                          <p:spTgt spid="15"/>
                                        </p:tgtEl>
                                        <p:attrNameLst>
                                          <p:attrName>ppt_w</p:attrName>
                                        </p:attrNameLst>
                                      </p:cBhvr>
                                    </p:anim>
                                    <p:anim by="(#ppt_w*0.50)" calcmode="lin" valueType="num">
                                      <p:cBhvr>
                                        <p:cTn id="8" dur="250" decel="50000" autoRev="1" fill="hold">
                                          <p:stCondLst>
                                            <p:cond delay="0"/>
                                          </p:stCondLst>
                                        </p:cTn>
                                        <p:tgtEl>
                                          <p:spTgt spid="15"/>
                                        </p:tgtEl>
                                        <p:attrNameLst>
                                          <p:attrName>ppt_x</p:attrName>
                                        </p:attrNameLst>
                                      </p:cBhvr>
                                    </p:anim>
                                    <p:anim from="(-#ppt_h/2)" to="(#ppt_y)" calcmode="lin" valueType="num">
                                      <p:cBhvr>
                                        <p:cTn id="9" dur="500" fill="hold">
                                          <p:stCondLst>
                                            <p:cond delay="0"/>
                                          </p:stCondLst>
                                        </p:cTn>
                                        <p:tgtEl>
                                          <p:spTgt spid="15"/>
                                        </p:tgtEl>
                                        <p:attrNameLst>
                                          <p:attrName>ppt_y</p:attrName>
                                        </p:attrNameLst>
                                      </p:cBhvr>
                                    </p:anim>
                                    <p:animRot by="21600000">
                                      <p:cBhvr>
                                        <p:cTn id="10" dur="500" fill="hold">
                                          <p:stCondLst>
                                            <p:cond delay="0"/>
                                          </p:stCondLst>
                                        </p:cTn>
                                        <p:tgtEl>
                                          <p:spTgt spid="15"/>
                                        </p:tgtEl>
                                        <p:attrNameLst>
                                          <p:attrName>r</p:attrName>
                                        </p:attrNameLst>
                                      </p:cBhvr>
                                    </p:animRot>
                                  </p:childTnLst>
                                </p:cTn>
                              </p:par>
                            </p:childTnLst>
                          </p:cTn>
                        </p:par>
                        <p:par>
                          <p:cTn id="11" fill="hold">
                            <p:stCondLst>
                              <p:cond delay="949"/>
                            </p:stCondLst>
                            <p:childTnLst>
                              <p:par>
                                <p:cTn id="12" presetID="22" presetClass="entr" presetSubtype="8" fill="hold" grpId="0" nodeType="after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wipe(left)">
                                      <p:cBhvr>
                                        <p:cTn id="14" dur="500"/>
                                        <p:tgtEl>
                                          <p:spTgt spid="23"/>
                                        </p:tgtEl>
                                      </p:cBhvr>
                                    </p:animEffect>
                                  </p:childTnLst>
                                </p:cTn>
                              </p:par>
                            </p:childTnLst>
                          </p:cTn>
                        </p:par>
                        <p:par>
                          <p:cTn id="15" fill="hold">
                            <p:stCondLst>
                              <p:cond delay="1449"/>
                            </p:stCondLst>
                            <p:childTnLst>
                              <p:par>
                                <p:cTn id="16" presetID="22" presetClass="entr" presetSubtype="4" fill="hold" grpId="0" nodeType="after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wipe(down)">
                                      <p:cBhvr>
                                        <p:cTn id="18" dur="500"/>
                                        <p:tgtEl>
                                          <p:spTgt spid="16"/>
                                        </p:tgtEl>
                                      </p:cBhvr>
                                    </p:animEffect>
                                  </p:childTnLst>
                                </p:cTn>
                              </p:par>
                            </p:childTnLst>
                          </p:cTn>
                        </p:par>
                        <p:par>
                          <p:cTn id="19" fill="hold">
                            <p:stCondLst>
                              <p:cond delay="1949"/>
                            </p:stCondLst>
                            <p:childTnLst>
                              <p:par>
                                <p:cTn id="20" presetID="22" presetClass="entr" presetSubtype="4" fill="hold" grpId="0" nodeType="after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wipe(down)">
                                      <p:cBhvr>
                                        <p:cTn id="22"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0" animBg="1"/>
      <p:bldP spid="23" grpId="0" bldLvl="0" animBg="1"/>
      <p:bldP spid="15" grpId="0"/>
      <p:bldP spid="42" grpId="0" bldLvl="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79120" y="113220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198120" y="504190"/>
            <a:ext cx="1810385" cy="1649730"/>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1009015" y="2038350"/>
            <a:ext cx="9820910" cy="2914015"/>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38" name="文本框 37"/>
          <p:cNvSpPr txBox="1"/>
          <p:nvPr/>
        </p:nvSpPr>
        <p:spPr>
          <a:xfrm>
            <a:off x="1344930" y="2184400"/>
            <a:ext cx="9357995" cy="2491740"/>
          </a:xfrm>
          <a:prstGeom prst="rect">
            <a:avLst/>
          </a:prstGeom>
          <a:noFill/>
        </p:spPr>
        <p:txBody>
          <a:bodyPr wrap="square" rtlCol="0">
            <a:spAutoFit/>
          </a:bodyPr>
          <a:lstStyle/>
          <a:p>
            <a:pPr>
              <a:lnSpc>
                <a:spcPct val="130000"/>
              </a:lnSpc>
            </a:pPr>
            <a:r>
              <a:rPr lang="zh-CN" altLang="zh-CN" sz="2000" kern="0" dirty="0">
                <a:solidFill>
                  <a:srgbClr val="4D4D4D"/>
                </a:solidFill>
                <a:cs typeface="Arial" panose="020B0604020202020204" pitchFamily="34" charset="0"/>
                <a:sym typeface="+mn-ea"/>
              </a:rPr>
              <a:t>在外贸订单系统中添加一个订单时会保存“订单信息、客户的</a:t>
            </a:r>
            <a:r>
              <a:rPr lang="en-US" altLang="zh-CN" sz="2000" kern="0" dirty="0">
                <a:solidFill>
                  <a:srgbClr val="4D4D4D"/>
                </a:solidFill>
                <a:cs typeface="Arial" panose="020B0604020202020204" pitchFamily="34" charset="0"/>
                <a:sym typeface="+mn-ea"/>
              </a:rPr>
              <a:t>ID</a:t>
            </a:r>
            <a:r>
              <a:rPr lang="zh-CN" altLang="zh-CN" sz="2000" kern="0" dirty="0">
                <a:solidFill>
                  <a:srgbClr val="4D4D4D"/>
                </a:solidFill>
                <a:cs typeface="Arial" panose="020B0604020202020204" pitchFamily="34" charset="0"/>
                <a:sym typeface="+mn-ea"/>
              </a:rPr>
              <a:t>、部门的</a:t>
            </a:r>
            <a:r>
              <a:rPr lang="en-US" altLang="zh-CN" sz="2000" kern="0" dirty="0">
                <a:solidFill>
                  <a:srgbClr val="4D4D4D"/>
                </a:solidFill>
                <a:cs typeface="Arial" panose="020B0604020202020204" pitchFamily="34" charset="0"/>
                <a:sym typeface="+mn-ea"/>
              </a:rPr>
              <a:t>ID</a:t>
            </a:r>
            <a:r>
              <a:rPr lang="zh-CN" altLang="zh-CN" sz="2000" kern="0" dirty="0">
                <a:solidFill>
                  <a:srgbClr val="4D4D4D"/>
                </a:solidFill>
                <a:cs typeface="Arial" panose="020B0604020202020204" pitchFamily="34" charset="0"/>
                <a:sym typeface="+mn-ea"/>
              </a:rPr>
              <a:t>”。那么订单系统</a:t>
            </a:r>
            <a:r>
              <a:rPr lang="en-US" altLang="zh-CN" sz="2000" kern="0" dirty="0">
                <a:solidFill>
                  <a:srgbClr val="4D4D4D"/>
                </a:solidFill>
                <a:cs typeface="Arial" panose="020B0604020202020204" pitchFamily="34" charset="0"/>
                <a:sym typeface="+mn-ea"/>
              </a:rPr>
              <a:t>ILF</a:t>
            </a:r>
            <a:r>
              <a:rPr lang="zh-CN" altLang="zh-CN" sz="2000" kern="0" dirty="0">
                <a:solidFill>
                  <a:srgbClr val="4D4D4D"/>
                </a:solidFill>
                <a:cs typeface="Arial" panose="020B0604020202020204" pitchFamily="34" charset="0"/>
                <a:sym typeface="+mn-ea"/>
              </a:rPr>
              <a:t>中的</a:t>
            </a:r>
            <a:r>
              <a:rPr lang="en-US" altLang="zh-CN" sz="2000" kern="0" dirty="0">
                <a:solidFill>
                  <a:srgbClr val="4D4D4D"/>
                </a:solidFill>
                <a:cs typeface="Arial" panose="020B0604020202020204" pitchFamily="34" charset="0"/>
                <a:sym typeface="+mn-ea"/>
              </a:rPr>
              <a:t>RET</a:t>
            </a:r>
            <a:r>
              <a:rPr lang="zh-CN" altLang="zh-CN" sz="2000" kern="0" dirty="0">
                <a:solidFill>
                  <a:srgbClr val="4D4D4D"/>
                </a:solidFill>
                <a:cs typeface="Arial" panose="020B0604020202020204" pitchFamily="34" charset="0"/>
                <a:sym typeface="+mn-ea"/>
              </a:rPr>
              <a:t>为：</a:t>
            </a:r>
            <a:br>
              <a:rPr lang="en-US" altLang="zh-CN" sz="2000" kern="0" dirty="0">
                <a:solidFill>
                  <a:srgbClr val="4D4D4D"/>
                </a:solidFill>
                <a:cs typeface="Arial" panose="020B0604020202020204" pitchFamily="34" charset="0"/>
                <a:sym typeface="+mn-ea"/>
              </a:rPr>
            </a:br>
            <a:r>
              <a:rPr lang="en-US" altLang="zh-CN" sz="2000" kern="0" dirty="0">
                <a:solidFill>
                  <a:srgbClr val="4D4D4D"/>
                </a:solidFill>
                <a:cs typeface="Arial" panose="020B0604020202020204" pitchFamily="34" charset="0"/>
                <a:sym typeface="+mn-ea"/>
              </a:rPr>
              <a:t>    1. </a:t>
            </a:r>
            <a:r>
              <a:rPr lang="zh-CN" altLang="zh-CN" sz="2000" kern="0" dirty="0">
                <a:solidFill>
                  <a:srgbClr val="4D4D4D"/>
                </a:solidFill>
                <a:cs typeface="Arial" panose="020B0604020202020204" pitchFamily="34" charset="0"/>
                <a:sym typeface="+mn-ea"/>
              </a:rPr>
              <a:t>订单信息（必选的）</a:t>
            </a:r>
            <a:br>
              <a:rPr lang="en-US" altLang="zh-CN" sz="2000" kern="0" dirty="0">
                <a:solidFill>
                  <a:srgbClr val="4D4D4D"/>
                </a:solidFill>
                <a:cs typeface="Arial" panose="020B0604020202020204" pitchFamily="34" charset="0"/>
                <a:sym typeface="+mn-ea"/>
              </a:rPr>
            </a:br>
            <a:r>
              <a:rPr lang="en-US" altLang="zh-CN" sz="2000" kern="0" dirty="0">
                <a:solidFill>
                  <a:srgbClr val="4D4D4D"/>
                </a:solidFill>
                <a:cs typeface="Arial" panose="020B0604020202020204" pitchFamily="34" charset="0"/>
                <a:sym typeface="+mn-ea"/>
              </a:rPr>
              <a:t>    2. </a:t>
            </a:r>
            <a:r>
              <a:rPr lang="zh-CN" altLang="zh-CN" sz="2000" kern="0" dirty="0">
                <a:solidFill>
                  <a:srgbClr val="4D4D4D"/>
                </a:solidFill>
                <a:cs typeface="Arial" panose="020B0604020202020204" pitchFamily="34" charset="0"/>
                <a:sym typeface="+mn-ea"/>
              </a:rPr>
              <a:t>客户信息（必选的）</a:t>
            </a:r>
            <a:br>
              <a:rPr lang="en-US" altLang="zh-CN" sz="2000" kern="0" dirty="0">
                <a:solidFill>
                  <a:srgbClr val="4D4D4D"/>
                </a:solidFill>
                <a:cs typeface="Arial" panose="020B0604020202020204" pitchFamily="34" charset="0"/>
                <a:sym typeface="+mn-ea"/>
              </a:rPr>
            </a:br>
            <a:r>
              <a:rPr lang="en-US" altLang="zh-CN" sz="2000" kern="0" dirty="0">
                <a:solidFill>
                  <a:srgbClr val="4D4D4D"/>
                </a:solidFill>
                <a:cs typeface="Arial" panose="020B0604020202020204" pitchFamily="34" charset="0"/>
                <a:sym typeface="+mn-ea"/>
              </a:rPr>
              <a:t>    3. </a:t>
            </a:r>
            <a:r>
              <a:rPr lang="zh-CN" altLang="zh-CN" sz="2000" kern="0" dirty="0">
                <a:solidFill>
                  <a:srgbClr val="4D4D4D"/>
                </a:solidFill>
                <a:cs typeface="Arial" panose="020B0604020202020204" pitchFamily="34" charset="0"/>
                <a:sym typeface="+mn-ea"/>
              </a:rPr>
              <a:t>部门信息（可选的）</a:t>
            </a:r>
            <a:br>
              <a:rPr lang="en-US" altLang="zh-CN" sz="2000" kern="0" dirty="0">
                <a:solidFill>
                  <a:srgbClr val="4D4D4D"/>
                </a:solidFill>
                <a:cs typeface="Arial" panose="020B0604020202020204" pitchFamily="34" charset="0"/>
                <a:sym typeface="+mn-ea"/>
              </a:rPr>
            </a:br>
            <a:endParaRPr lang="en-US" altLang="zh-CN" sz="2000" dirty="0">
              <a:latin typeface="Arial" panose="020B0604020202020204" pitchFamily="34" charset="0"/>
            </a:endParaRPr>
          </a:p>
        </p:txBody>
      </p:sp>
      <p:sp>
        <p:nvSpPr>
          <p:cNvPr id="2" name="文本框 1">
            <a:extLst>
              <a:ext uri="{FF2B5EF4-FFF2-40B4-BE49-F238E27FC236}">
                <a16:creationId xmlns:a16="http://schemas.microsoft.com/office/drawing/2014/main" id="{76CBEEC7-A0FA-49E4-AB05-DF3C35D0575C}"/>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3.</a:t>
            </a:r>
          </a:p>
        </p:txBody>
      </p:sp>
      <p:sp>
        <p:nvSpPr>
          <p:cNvPr id="8" name="文本框 7">
            <a:extLst>
              <a:ext uri="{FF2B5EF4-FFF2-40B4-BE49-F238E27FC236}">
                <a16:creationId xmlns:a16="http://schemas.microsoft.com/office/drawing/2014/main" id="{C1FEFD87-3A58-4E0F-88C4-050976BDBA5E}"/>
              </a:ext>
            </a:extLst>
          </p:cNvPr>
          <p:cNvSpPr txBox="1"/>
          <p:nvPr/>
        </p:nvSpPr>
        <p:spPr>
          <a:xfrm>
            <a:off x="1548765" y="83820"/>
            <a:ext cx="2738250"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功能点估算案例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79120" y="1132205"/>
            <a:ext cx="10890250" cy="6429058"/>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8774767" y="1073112"/>
            <a:ext cx="108326"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5301317" y="1073112"/>
            <a:ext cx="108326"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6147772" y="1073112"/>
            <a:ext cx="108326"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7000577" y="1073112"/>
            <a:ext cx="108326"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7892752" y="1073112"/>
            <a:ext cx="108326"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35471" y="576151"/>
            <a:ext cx="1083140" cy="1003555"/>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15" name="Freeform 10"/>
          <p:cNvSpPr/>
          <p:nvPr/>
        </p:nvSpPr>
        <p:spPr bwMode="auto">
          <a:xfrm>
            <a:off x="666354" y="2234199"/>
            <a:ext cx="2158590" cy="5262164"/>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accent6">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16" name="文本框 15"/>
          <p:cNvSpPr txBox="1"/>
          <p:nvPr/>
        </p:nvSpPr>
        <p:spPr>
          <a:xfrm>
            <a:off x="638630" y="2512375"/>
            <a:ext cx="2158590" cy="5293757"/>
          </a:xfrm>
          <a:prstGeom prst="rect">
            <a:avLst/>
          </a:prstGeom>
          <a:noFill/>
        </p:spPr>
        <p:txBody>
          <a:bodyPr wrap="square" rtlCol="0">
            <a:spAutoFit/>
          </a:bodyPr>
          <a:lstStyle/>
          <a:p>
            <a:pPr algn="just"/>
            <a:r>
              <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rPr>
              <a:t>员工基本信息：</a:t>
            </a: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员工</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ID</a:t>
            </a: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（标签）</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员工名称</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性别</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生日</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婚否</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所属部门</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ID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所属部门名称</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受教育的时间</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学校名称</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所学专业</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工作时间</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工作单位</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工作部门</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工作职务</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家属的姓名</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之间关系</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家属年龄</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工作单位</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latinLnBrk="0">
              <a:lnSpc>
                <a:spcPct val="100000"/>
              </a:lnSpc>
              <a:spcAft>
                <a:spcPts val="0"/>
              </a:spcAft>
              <a:defRPr/>
            </a:pPr>
            <a:endParaRPr lang="en-US" altLang="zh-CN" sz="2000" dirty="0">
              <a:latin typeface="Arial" panose="020B0604020202020204" pitchFamily="34" charset="0"/>
            </a:endParaRPr>
          </a:p>
        </p:txBody>
      </p:sp>
      <p:pic>
        <p:nvPicPr>
          <p:cNvPr id="40" name="图片 39">
            <a:extLst>
              <a:ext uri="{FF2B5EF4-FFF2-40B4-BE49-F238E27FC236}">
                <a16:creationId xmlns:a16="http://schemas.microsoft.com/office/drawing/2014/main" id="{1F7E9987-1BF2-4762-A608-34A2907114AE}"/>
              </a:ext>
            </a:extLst>
          </p:cNvPr>
          <p:cNvPicPr/>
          <p:nvPr/>
        </p:nvPicPr>
        <p:blipFill>
          <a:blip r:embed="rId3"/>
          <a:srcRect/>
          <a:stretch>
            <a:fillRect/>
          </a:stretch>
        </p:blipFill>
        <p:spPr bwMode="auto">
          <a:xfrm>
            <a:off x="5211832" y="2869275"/>
            <a:ext cx="5711272" cy="3559783"/>
          </a:xfrm>
          <a:prstGeom prst="rect">
            <a:avLst/>
          </a:prstGeom>
          <a:noFill/>
          <a:ln w="9525">
            <a:noFill/>
            <a:miter lim="800000"/>
            <a:headEnd/>
            <a:tailEnd/>
          </a:ln>
        </p:spPr>
      </p:pic>
      <p:sp>
        <p:nvSpPr>
          <p:cNvPr id="38" name="Freeform 10">
            <a:extLst>
              <a:ext uri="{FF2B5EF4-FFF2-40B4-BE49-F238E27FC236}">
                <a16:creationId xmlns:a16="http://schemas.microsoft.com/office/drawing/2014/main" id="{BCF00700-08AB-4145-A30C-B899BED72E9E}"/>
              </a:ext>
            </a:extLst>
          </p:cNvPr>
          <p:cNvSpPr/>
          <p:nvPr/>
        </p:nvSpPr>
        <p:spPr bwMode="auto">
          <a:xfrm>
            <a:off x="2966817" y="2214656"/>
            <a:ext cx="2158590" cy="5262164"/>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accent6">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39" name="文本框 38">
            <a:extLst>
              <a:ext uri="{FF2B5EF4-FFF2-40B4-BE49-F238E27FC236}">
                <a16:creationId xmlns:a16="http://schemas.microsoft.com/office/drawing/2014/main" id="{0C675962-DCC8-4FBF-B621-294AAB8D51ED}"/>
              </a:ext>
            </a:extLst>
          </p:cNvPr>
          <p:cNvSpPr txBox="1"/>
          <p:nvPr/>
        </p:nvSpPr>
        <p:spPr>
          <a:xfrm>
            <a:off x="2939093" y="2492832"/>
            <a:ext cx="2158590" cy="3221395"/>
          </a:xfrm>
          <a:prstGeom prst="rect">
            <a:avLst/>
          </a:prstGeom>
          <a:noFill/>
        </p:spPr>
        <p:txBody>
          <a:bodyPr wrap="square" rtlCol="0">
            <a:spAutoFit/>
          </a:bodyPr>
          <a:lstStyle/>
          <a:p>
            <a:pPr algn="l">
              <a:lnSpc>
                <a:spcPts val="1950"/>
              </a:lnSpc>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部门信息：</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部门</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ID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部门名称</a:t>
            </a:r>
            <a:endParaRPr lang="en-US"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endParaRPr>
          </a:p>
          <a:p>
            <a:pPr marL="342900" lvl="0" indent="-342900" algn="l">
              <a:lnSpc>
                <a:spcPts val="1950"/>
              </a:lnSpc>
              <a:buSzPts val="1000"/>
              <a:buFont typeface="Symbol" panose="05050102010706020507" pitchFamily="18" charset="2"/>
              <a:buChar char=""/>
              <a:tabLst>
                <a:tab pos="457200" algn="l"/>
              </a:tabLst>
            </a:pPr>
            <a:endParaRPr lang="en-US" altLang="zh-CN" kern="0" dirty="0">
              <a:solidFill>
                <a:srgbClr val="000000"/>
              </a:solidFill>
              <a:latin typeface="Arial" panose="020B0604020202020204" pitchFamily="34" charset="0"/>
              <a:ea typeface="宋体" panose="02010600030101010101" pitchFamily="2" charset="-122"/>
              <a:cs typeface="Arial" panose="020B0604020202020204" pitchFamily="34" charset="0"/>
            </a:endParaRPr>
          </a:p>
          <a:p>
            <a:pPr lvl="0" algn="l">
              <a:lnSpc>
                <a:spcPts val="1950"/>
              </a:lnSpc>
              <a:buSzPts val="1000"/>
              <a:tabLst>
                <a:tab pos="457200" algn="l"/>
              </a:tabLst>
            </a:pPr>
            <a:endParaRPr lang="en-US" altLang="zh-CN" kern="0" dirty="0">
              <a:solidFill>
                <a:srgbClr val="000000"/>
              </a:solidFill>
              <a:latin typeface="Arial" panose="020B0604020202020204" pitchFamily="34" charset="0"/>
              <a:ea typeface="宋体" panose="02010600030101010101" pitchFamily="2" charset="-122"/>
              <a:cs typeface="Arial" panose="020B0604020202020204" pitchFamily="34" charset="0"/>
            </a:endParaRPr>
          </a:p>
          <a:p>
            <a:pPr algn="l">
              <a:lnSpc>
                <a:spcPts val="1950"/>
              </a:lnSpc>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工资表信息：</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员工</a:t>
            </a:r>
            <a:r>
              <a:rPr lang="en-US" altLang="zh-CN" sz="1800" kern="0" dirty="0">
                <a:solidFill>
                  <a:srgbClr val="000000"/>
                </a:solidFill>
                <a:effectLst/>
                <a:latin typeface="Arial" panose="020B0604020202020204" pitchFamily="34" charset="0"/>
                <a:ea typeface="宋体" panose="02010600030101010101" pitchFamily="2" charset="-122"/>
                <a:cs typeface="Times New Roman" panose="02020603050405020304" pitchFamily="18" charset="0"/>
              </a:rPr>
              <a:t>ID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员工姓名</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金额</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marL="342900" lvl="0" indent="-342900" algn="l">
              <a:lnSpc>
                <a:spcPts val="1950"/>
              </a:lnSpc>
              <a:buSzPts val="1000"/>
              <a:buFont typeface="Symbol" panose="05050102010706020507" pitchFamily="18" charset="2"/>
              <a:buChar char=""/>
              <a:tabLst>
                <a:tab pos="457200" algn="l"/>
              </a:tabLst>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单位</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lvl="0" algn="l">
              <a:lnSpc>
                <a:spcPts val="1950"/>
              </a:lnSpc>
              <a:buSzPts val="1000"/>
              <a:tabLst>
                <a:tab pos="457200" algn="l"/>
              </a:tabLst>
            </a:pP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zh-CN" altLang="zh-CN" sz="1800" kern="100" dirty="0">
              <a:effectLst/>
              <a:latin typeface="Calibri" panose="020F0502020204030204" pitchFamily="34" charset="0"/>
              <a:ea typeface="宋体" panose="02010600030101010101" pitchFamily="2" charset="-122"/>
              <a:cs typeface="Times New Roman" panose="02020603050405020304" pitchFamily="18" charset="0"/>
            </a:endParaRPr>
          </a:p>
          <a:p>
            <a:pPr latinLnBrk="0">
              <a:lnSpc>
                <a:spcPct val="100000"/>
              </a:lnSpc>
              <a:spcAft>
                <a:spcPts val="0"/>
              </a:spcAft>
              <a:defRPr/>
            </a:pPr>
            <a:endParaRPr lang="en-US" altLang="zh-CN" sz="2000" dirty="0">
              <a:latin typeface="Arial" panose="020B0604020202020204" pitchFamily="34" charset="0"/>
            </a:endParaRPr>
          </a:p>
        </p:txBody>
      </p:sp>
      <p:sp>
        <p:nvSpPr>
          <p:cNvPr id="2" name="文本框 1">
            <a:extLst>
              <a:ext uri="{FF2B5EF4-FFF2-40B4-BE49-F238E27FC236}">
                <a16:creationId xmlns:a16="http://schemas.microsoft.com/office/drawing/2014/main" id="{F7D2E387-EFD7-427C-A3B6-C7F9D532F638}"/>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3.</a:t>
            </a:r>
          </a:p>
        </p:txBody>
      </p:sp>
      <p:sp>
        <p:nvSpPr>
          <p:cNvPr id="3" name="文本框 2">
            <a:extLst>
              <a:ext uri="{FF2B5EF4-FFF2-40B4-BE49-F238E27FC236}">
                <a16:creationId xmlns:a16="http://schemas.microsoft.com/office/drawing/2014/main" id="{F178AE2F-A3FA-4124-8973-B41F4C31B28A}"/>
              </a:ext>
            </a:extLst>
          </p:cNvPr>
          <p:cNvSpPr txBox="1"/>
          <p:nvPr/>
        </p:nvSpPr>
        <p:spPr>
          <a:xfrm>
            <a:off x="1548765" y="83820"/>
            <a:ext cx="2738250"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功能点估算案例</a:t>
            </a:r>
          </a:p>
        </p:txBody>
      </p:sp>
      <p:sp>
        <p:nvSpPr>
          <p:cNvPr id="44" name="Freeform 10">
            <a:extLst>
              <a:ext uri="{FF2B5EF4-FFF2-40B4-BE49-F238E27FC236}">
                <a16:creationId xmlns:a16="http://schemas.microsoft.com/office/drawing/2014/main" id="{FAE2C843-43F4-40B6-9AE6-36B1D1D30DFC}"/>
              </a:ext>
            </a:extLst>
          </p:cNvPr>
          <p:cNvSpPr/>
          <p:nvPr/>
        </p:nvSpPr>
        <p:spPr bwMode="auto">
          <a:xfrm>
            <a:off x="659150" y="880153"/>
            <a:ext cx="10810220" cy="1209832"/>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accent6">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45" name="文本框 44">
            <a:extLst>
              <a:ext uri="{FF2B5EF4-FFF2-40B4-BE49-F238E27FC236}">
                <a16:creationId xmlns:a16="http://schemas.microsoft.com/office/drawing/2014/main" id="{ECD9B356-5B31-4F9B-93E3-35234A7C57FE}"/>
              </a:ext>
            </a:extLst>
          </p:cNvPr>
          <p:cNvSpPr txBox="1"/>
          <p:nvPr/>
        </p:nvSpPr>
        <p:spPr>
          <a:xfrm>
            <a:off x="676085" y="1037756"/>
            <a:ext cx="10582646" cy="923330"/>
          </a:xfrm>
          <a:prstGeom prst="rect">
            <a:avLst/>
          </a:prstGeom>
          <a:noFill/>
        </p:spPr>
        <p:txBody>
          <a:bodyPr wrap="square" rtlCol="0">
            <a:spAutoFit/>
          </a:bodyPr>
          <a:lstStyle/>
          <a:p>
            <a:pPr>
              <a:spcAft>
                <a:spcPts val="0"/>
              </a:spcAft>
              <a:defRPr/>
            </a:pPr>
            <a:r>
              <a:rPr lang="zh-CN" altLang="zh-CN" sz="1800" kern="0" dirty="0">
                <a:solidFill>
                  <a:srgbClr val="000000"/>
                </a:solidFill>
                <a:effectLst/>
                <a:latin typeface="Arial" panose="020B0604020202020204" pitchFamily="34" charset="0"/>
                <a:ea typeface="宋体" panose="02010600030101010101" pitchFamily="2" charset="-122"/>
                <a:cs typeface="Arial" panose="020B0604020202020204" pitchFamily="34" charset="0"/>
              </a:rPr>
              <a:t>在员工管理系统中添加一个员工的资料，会使用到员工的一般信息、教育情况、工作经历和家属信息。员工隶属于某个部门，在本系统中会有一个对部门进行维护的功能。员工的工资则由另外一个财务系统提供。</a:t>
            </a:r>
            <a:r>
              <a:rPr lang="zh-CN" altLang="zh-CN" sz="1800" kern="0" dirty="0">
                <a:solidFill>
                  <a:srgbClr val="000000"/>
                </a:solidFill>
                <a:effectLst/>
                <a:latin typeface="Calibri" panose="020F0502020204030204" pitchFamily="34" charset="0"/>
                <a:ea typeface="Arial" panose="020B0604020202020204" pitchFamily="34" charset="0"/>
                <a:cs typeface="Times New Roman" panose="02020603050405020304" pitchFamily="18" charset="0"/>
              </a:rPr>
              <a:t> </a:t>
            </a:r>
            <a:endParaRPr lang="en-US" altLang="zh-CN" sz="2000" dirty="0">
              <a:latin typeface="Arial" panose="020B0604020202020204" pitchFamily="34" charset="0"/>
            </a:endParaRPr>
          </a:p>
        </p:txBody>
      </p:sp>
    </p:spTree>
    <p:extLst>
      <p:ext uri="{BB962C8B-B14F-4D97-AF65-F5344CB8AC3E}">
        <p14:creationId xmlns:p14="http://schemas.microsoft.com/office/powerpoint/2010/main" val="31490881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down)">
                                      <p:cBhvr>
                                        <p:cTn id="7" dur="500"/>
                                        <p:tgtEl>
                                          <p:spTgt spid="15"/>
                                        </p:tgtEl>
                                      </p:cBhvr>
                                    </p:animEffect>
                                  </p:childTnLst>
                                </p:cTn>
                              </p:par>
                            </p:childTnLst>
                          </p:cTn>
                        </p:par>
                        <p:par>
                          <p:cTn id="8" fill="hold">
                            <p:stCondLst>
                              <p:cond delay="500"/>
                            </p:stCondLst>
                            <p:childTnLst>
                              <p:par>
                                <p:cTn id="9" presetID="22" presetClass="entr" presetSubtype="4" fill="hold" grpId="0" nodeType="afterEffect">
                                  <p:stCondLst>
                                    <p:cond delay="0"/>
                                  </p:stCondLst>
                                  <p:childTnLst>
                                    <p:set>
                                      <p:cBhvr>
                                        <p:cTn id="10" dur="1" fill="hold">
                                          <p:stCondLst>
                                            <p:cond delay="0"/>
                                          </p:stCondLst>
                                        </p:cTn>
                                        <p:tgtEl>
                                          <p:spTgt spid="38"/>
                                        </p:tgtEl>
                                        <p:attrNameLst>
                                          <p:attrName>style.visibility</p:attrName>
                                        </p:attrNameLst>
                                      </p:cBhvr>
                                      <p:to>
                                        <p:strVal val="visible"/>
                                      </p:to>
                                    </p:set>
                                    <p:animEffect transition="in" filter="wipe(down)">
                                      <p:cBhvr>
                                        <p:cTn id="11" dur="500"/>
                                        <p:tgtEl>
                                          <p:spTgt spid="38"/>
                                        </p:tgtEl>
                                      </p:cBhvr>
                                    </p:animEffect>
                                  </p:childTnLst>
                                </p:cTn>
                              </p:par>
                            </p:childTnLst>
                          </p:cTn>
                        </p:par>
                        <p:par>
                          <p:cTn id="12" fill="hold">
                            <p:stCondLst>
                              <p:cond delay="1000"/>
                            </p:stCondLst>
                            <p:childTnLst>
                              <p:par>
                                <p:cTn id="13" presetID="22" presetClass="entr" presetSubtype="4" fill="hold" grpId="0" nodeType="afterEffect">
                                  <p:stCondLst>
                                    <p:cond delay="0"/>
                                  </p:stCondLst>
                                  <p:childTnLst>
                                    <p:set>
                                      <p:cBhvr>
                                        <p:cTn id="14" dur="1" fill="hold">
                                          <p:stCondLst>
                                            <p:cond delay="0"/>
                                          </p:stCondLst>
                                        </p:cTn>
                                        <p:tgtEl>
                                          <p:spTgt spid="44"/>
                                        </p:tgtEl>
                                        <p:attrNameLst>
                                          <p:attrName>style.visibility</p:attrName>
                                        </p:attrNameLst>
                                      </p:cBhvr>
                                      <p:to>
                                        <p:strVal val="visible"/>
                                      </p:to>
                                    </p:set>
                                    <p:animEffect transition="in" filter="wipe(down)">
                                      <p:cBhvr>
                                        <p:cTn id="15" dur="500"/>
                                        <p:tgtEl>
                                          <p:spTgt spid="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bldLvl="0" animBg="1"/>
      <p:bldP spid="38" grpId="0" bldLvl="0" animBg="1"/>
      <p:bldP spid="44" grpId="0" bldLvl="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3.</a:t>
            </a:r>
          </a:p>
        </p:txBody>
      </p:sp>
      <p:sp>
        <p:nvSpPr>
          <p:cNvPr id="5" name="文本框 4"/>
          <p:cNvSpPr txBox="1"/>
          <p:nvPr/>
        </p:nvSpPr>
        <p:spPr>
          <a:xfrm>
            <a:off x="1548765" y="83820"/>
            <a:ext cx="2738250"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功能点估算案例</a:t>
            </a:r>
          </a:p>
        </p:txBody>
      </p:sp>
      <p:sp>
        <p:nvSpPr>
          <p:cNvPr id="30" name="圆角矩形 29"/>
          <p:cNvSpPr/>
          <p:nvPr/>
        </p:nvSpPr>
        <p:spPr>
          <a:xfrm>
            <a:off x="579120" y="113220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198120" y="504190"/>
            <a:ext cx="1810385" cy="1649730"/>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pic>
        <p:nvPicPr>
          <p:cNvPr id="23" name="图片 22">
            <a:extLst>
              <a:ext uri="{FF2B5EF4-FFF2-40B4-BE49-F238E27FC236}">
                <a16:creationId xmlns:a16="http://schemas.microsoft.com/office/drawing/2014/main" id="{5079BEC7-7039-4E7A-82BC-81BA4271918D}"/>
              </a:ext>
            </a:extLst>
          </p:cNvPr>
          <p:cNvPicPr>
            <a:picLocks noChangeAspect="1"/>
          </p:cNvPicPr>
          <p:nvPr/>
        </p:nvPicPr>
        <p:blipFill>
          <a:blip r:embed="rId3"/>
          <a:stretch>
            <a:fillRect/>
          </a:stretch>
        </p:blipFill>
        <p:spPr>
          <a:xfrm>
            <a:off x="1221230" y="2336820"/>
            <a:ext cx="9376159" cy="4217954"/>
          </a:xfrm>
          <a:prstGeom prst="rect">
            <a:avLst/>
          </a:prstGeom>
        </p:spPr>
      </p:pic>
      <p:sp>
        <p:nvSpPr>
          <p:cNvPr id="46" name="Freeform 12">
            <a:extLst>
              <a:ext uri="{FF2B5EF4-FFF2-40B4-BE49-F238E27FC236}">
                <a16:creationId xmlns:a16="http://schemas.microsoft.com/office/drawing/2014/main" id="{B4791C4C-D2BE-4D7E-8D8F-A22FA0426344}"/>
              </a:ext>
            </a:extLst>
          </p:cNvPr>
          <p:cNvSpPr/>
          <p:nvPr/>
        </p:nvSpPr>
        <p:spPr bwMode="auto">
          <a:xfrm>
            <a:off x="2065655" y="1267460"/>
            <a:ext cx="3843655" cy="544195"/>
          </a:xfrm>
          <a:custGeom>
            <a:avLst/>
            <a:gdLst>
              <a:gd name="T0" fmla="*/ 3591 w 3591"/>
              <a:gd name="T1" fmla="*/ 0 h 696"/>
              <a:gd name="T2" fmla="*/ 0 w 3591"/>
              <a:gd name="T3" fmla="*/ 0 h 696"/>
              <a:gd name="T4" fmla="*/ 0 w 3591"/>
              <a:gd name="T5" fmla="*/ 696 h 696"/>
              <a:gd name="T6" fmla="*/ 3591 w 3591"/>
              <a:gd name="T7" fmla="*/ 696 h 696"/>
              <a:gd name="T8" fmla="*/ 3383 w 3591"/>
              <a:gd name="T9" fmla="*/ 353 h 696"/>
              <a:gd name="T10" fmla="*/ 3591 w 3591"/>
              <a:gd name="T11" fmla="*/ 0 h 696"/>
            </a:gdLst>
            <a:ahLst/>
            <a:cxnLst>
              <a:cxn ang="0">
                <a:pos x="T0" y="T1"/>
              </a:cxn>
              <a:cxn ang="0">
                <a:pos x="T2" y="T3"/>
              </a:cxn>
              <a:cxn ang="0">
                <a:pos x="T4" y="T5"/>
              </a:cxn>
              <a:cxn ang="0">
                <a:pos x="T6" y="T7"/>
              </a:cxn>
              <a:cxn ang="0">
                <a:pos x="T8" y="T9"/>
              </a:cxn>
              <a:cxn ang="0">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bg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47" name="TextBox 23">
            <a:extLst>
              <a:ext uri="{FF2B5EF4-FFF2-40B4-BE49-F238E27FC236}">
                <a16:creationId xmlns:a16="http://schemas.microsoft.com/office/drawing/2014/main" id="{406DEDCE-3DD7-4064-AEBA-9C139610D095}"/>
              </a:ext>
            </a:extLst>
          </p:cNvPr>
          <p:cNvSpPr txBox="1"/>
          <p:nvPr/>
        </p:nvSpPr>
        <p:spPr>
          <a:xfrm>
            <a:off x="2205355" y="1294130"/>
            <a:ext cx="4047490" cy="491490"/>
          </a:xfrm>
          <a:prstGeom prst="rect">
            <a:avLst/>
          </a:prstGeom>
          <a:noFill/>
        </p:spPr>
        <p:txBody>
          <a:bodyPr wrap="square" rtlCol="0">
            <a:spAutoFit/>
          </a:bodyPr>
          <a:lstStyle/>
          <a:p>
            <a:r>
              <a:rPr lang="en-US" altLang="zh-CN" sz="2600" kern="0" dirty="0">
                <a:solidFill>
                  <a:schemeClr val="accent2"/>
                </a:solidFill>
                <a:latin typeface="等线" panose="02010600030101010101" charset="-122"/>
                <a:cs typeface="Arial" panose="020B0604020202020204" pitchFamily="34" charset="0"/>
                <a:sym typeface="+mn-ea"/>
              </a:rPr>
              <a:t>ILF</a:t>
            </a:r>
            <a:r>
              <a:rPr lang="zh-CN" altLang="en-US" sz="2600" kern="0" dirty="0">
                <a:solidFill>
                  <a:schemeClr val="accent2"/>
                </a:solidFill>
                <a:latin typeface="等线" panose="02010600030101010101" charset="-122"/>
                <a:cs typeface="Arial" panose="020B0604020202020204" pitchFamily="34" charset="0"/>
                <a:sym typeface="+mn-ea"/>
              </a:rPr>
              <a:t>与</a:t>
            </a:r>
            <a:r>
              <a:rPr lang="en-US" altLang="zh-CN" sz="2600" kern="0" dirty="0">
                <a:solidFill>
                  <a:schemeClr val="accent2"/>
                </a:solidFill>
                <a:latin typeface="等线" panose="02010600030101010101" charset="-122"/>
                <a:cs typeface="Arial" panose="020B0604020202020204" pitchFamily="34" charset="0"/>
                <a:sym typeface="+mn-ea"/>
              </a:rPr>
              <a:t>EIF</a:t>
            </a:r>
            <a:r>
              <a:rPr lang="zh-CN" altLang="en-US" sz="2600" kern="0" dirty="0">
                <a:solidFill>
                  <a:schemeClr val="accent2"/>
                </a:solidFill>
                <a:latin typeface="等线" panose="02010600030101010101" charset="-122"/>
                <a:cs typeface="Arial" panose="020B0604020202020204" pitchFamily="34" charset="0"/>
                <a:sym typeface="+mn-ea"/>
              </a:rPr>
              <a:t>计算</a:t>
            </a:r>
            <a:endParaRPr lang="zh-CN" altLang="zh-CN" sz="2600" kern="0" dirty="0">
              <a:solidFill>
                <a:schemeClr val="accent2"/>
              </a:solidFill>
              <a:latin typeface="等线" panose="02010600030101010101" charset="-122"/>
              <a:ea typeface="+mn-ea"/>
              <a:cs typeface="Arial" panose="020B0604020202020204" pitchFamily="34" charset="0"/>
              <a:sym typeface="+mn-ea"/>
            </a:endParaRPr>
          </a:p>
        </p:txBody>
      </p:sp>
    </p:spTree>
    <p:extLst>
      <p:ext uri="{BB962C8B-B14F-4D97-AF65-F5344CB8AC3E}">
        <p14:creationId xmlns:p14="http://schemas.microsoft.com/office/powerpoint/2010/main" val="1673765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47"/>
                                        </p:tgtEl>
                                        <p:attrNameLst>
                                          <p:attrName>style.visibility</p:attrName>
                                        </p:attrNameLst>
                                      </p:cBhvr>
                                      <p:to>
                                        <p:strVal val="visible"/>
                                      </p:to>
                                    </p:set>
                                    <p:anim by="(-#ppt_w*2)" calcmode="lin" valueType="num">
                                      <p:cBhvr rctx="PPT">
                                        <p:cTn id="7" dur="250" autoRev="1" fill="hold">
                                          <p:stCondLst>
                                            <p:cond delay="0"/>
                                          </p:stCondLst>
                                        </p:cTn>
                                        <p:tgtEl>
                                          <p:spTgt spid="47"/>
                                        </p:tgtEl>
                                        <p:attrNameLst>
                                          <p:attrName>ppt_w</p:attrName>
                                        </p:attrNameLst>
                                      </p:cBhvr>
                                    </p:anim>
                                    <p:anim by="(#ppt_w*0.50)" calcmode="lin" valueType="num">
                                      <p:cBhvr>
                                        <p:cTn id="8" dur="250" decel="50000" autoRev="1" fill="hold">
                                          <p:stCondLst>
                                            <p:cond delay="0"/>
                                          </p:stCondLst>
                                        </p:cTn>
                                        <p:tgtEl>
                                          <p:spTgt spid="47"/>
                                        </p:tgtEl>
                                        <p:attrNameLst>
                                          <p:attrName>ppt_x</p:attrName>
                                        </p:attrNameLst>
                                      </p:cBhvr>
                                    </p:anim>
                                    <p:anim from="(-#ppt_h/2)" to="(#ppt_y)" calcmode="lin" valueType="num">
                                      <p:cBhvr>
                                        <p:cTn id="9" dur="500" fill="hold">
                                          <p:stCondLst>
                                            <p:cond delay="0"/>
                                          </p:stCondLst>
                                        </p:cTn>
                                        <p:tgtEl>
                                          <p:spTgt spid="47"/>
                                        </p:tgtEl>
                                        <p:attrNameLst>
                                          <p:attrName>ppt_y</p:attrName>
                                        </p:attrNameLst>
                                      </p:cBhvr>
                                    </p:anim>
                                    <p:animRot by="21600000">
                                      <p:cBhvr>
                                        <p:cTn id="10" dur="500" fill="hold">
                                          <p:stCondLst>
                                            <p:cond delay="0"/>
                                          </p:stCondLst>
                                        </p:cTn>
                                        <p:tgtEl>
                                          <p:spTgt spid="47"/>
                                        </p:tgtEl>
                                        <p:attrNameLst>
                                          <p:attrName>r</p:attrName>
                                        </p:attrNameLst>
                                      </p:cBhvr>
                                    </p:animRot>
                                  </p:childTnLst>
                                </p:cTn>
                              </p:par>
                            </p:childTnLst>
                          </p:cTn>
                        </p:par>
                        <p:par>
                          <p:cTn id="11" fill="hold">
                            <p:stCondLst>
                              <p:cond delay="900"/>
                            </p:stCondLst>
                            <p:childTnLst>
                              <p:par>
                                <p:cTn id="12" presetID="22" presetClass="entr" presetSubtype="8" fill="hold" grpId="0" nodeType="afterEffect">
                                  <p:stCondLst>
                                    <p:cond delay="0"/>
                                  </p:stCondLst>
                                  <p:childTnLst>
                                    <p:set>
                                      <p:cBhvr>
                                        <p:cTn id="13" dur="1" fill="hold">
                                          <p:stCondLst>
                                            <p:cond delay="0"/>
                                          </p:stCondLst>
                                        </p:cTn>
                                        <p:tgtEl>
                                          <p:spTgt spid="46"/>
                                        </p:tgtEl>
                                        <p:attrNameLst>
                                          <p:attrName>style.visibility</p:attrName>
                                        </p:attrNameLst>
                                      </p:cBhvr>
                                      <p:to>
                                        <p:strVal val="visible"/>
                                      </p:to>
                                    </p:set>
                                    <p:animEffect transition="in" filter="wipe(left)">
                                      <p:cBhvr>
                                        <p:cTn id="14"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ldLvl="0" animBg="1"/>
      <p:bldP spid="47"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79120" y="113220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198120" y="504190"/>
            <a:ext cx="1810385" cy="1649730"/>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46" name="Freeform 12">
            <a:extLst>
              <a:ext uri="{FF2B5EF4-FFF2-40B4-BE49-F238E27FC236}">
                <a16:creationId xmlns:a16="http://schemas.microsoft.com/office/drawing/2014/main" id="{B4791C4C-D2BE-4D7E-8D8F-A22FA0426344}"/>
              </a:ext>
            </a:extLst>
          </p:cNvPr>
          <p:cNvSpPr/>
          <p:nvPr/>
        </p:nvSpPr>
        <p:spPr bwMode="auto">
          <a:xfrm>
            <a:off x="2065655" y="1267460"/>
            <a:ext cx="3843655" cy="544195"/>
          </a:xfrm>
          <a:custGeom>
            <a:avLst/>
            <a:gdLst>
              <a:gd name="T0" fmla="*/ 3591 w 3591"/>
              <a:gd name="T1" fmla="*/ 0 h 696"/>
              <a:gd name="T2" fmla="*/ 0 w 3591"/>
              <a:gd name="T3" fmla="*/ 0 h 696"/>
              <a:gd name="T4" fmla="*/ 0 w 3591"/>
              <a:gd name="T5" fmla="*/ 696 h 696"/>
              <a:gd name="T6" fmla="*/ 3591 w 3591"/>
              <a:gd name="T7" fmla="*/ 696 h 696"/>
              <a:gd name="T8" fmla="*/ 3383 w 3591"/>
              <a:gd name="T9" fmla="*/ 353 h 696"/>
              <a:gd name="T10" fmla="*/ 3591 w 3591"/>
              <a:gd name="T11" fmla="*/ 0 h 696"/>
            </a:gdLst>
            <a:ahLst/>
            <a:cxnLst>
              <a:cxn ang="0">
                <a:pos x="T0" y="T1"/>
              </a:cxn>
              <a:cxn ang="0">
                <a:pos x="T2" y="T3"/>
              </a:cxn>
              <a:cxn ang="0">
                <a:pos x="T4" y="T5"/>
              </a:cxn>
              <a:cxn ang="0">
                <a:pos x="T6" y="T7"/>
              </a:cxn>
              <a:cxn ang="0">
                <a:pos x="T8" y="T9"/>
              </a:cxn>
              <a:cxn ang="0">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bg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47" name="TextBox 23">
            <a:extLst>
              <a:ext uri="{FF2B5EF4-FFF2-40B4-BE49-F238E27FC236}">
                <a16:creationId xmlns:a16="http://schemas.microsoft.com/office/drawing/2014/main" id="{406DEDCE-3DD7-4064-AEBA-9C139610D095}"/>
              </a:ext>
            </a:extLst>
          </p:cNvPr>
          <p:cNvSpPr txBox="1"/>
          <p:nvPr/>
        </p:nvSpPr>
        <p:spPr>
          <a:xfrm>
            <a:off x="2205355" y="1294130"/>
            <a:ext cx="4047490" cy="491490"/>
          </a:xfrm>
          <a:prstGeom prst="rect">
            <a:avLst/>
          </a:prstGeom>
          <a:noFill/>
        </p:spPr>
        <p:txBody>
          <a:bodyPr wrap="square" rtlCol="0">
            <a:spAutoFit/>
          </a:bodyPr>
          <a:lstStyle/>
          <a:p>
            <a:r>
              <a:rPr lang="en-US" altLang="zh-CN" sz="2600" kern="0" dirty="0">
                <a:solidFill>
                  <a:schemeClr val="accent2"/>
                </a:solidFill>
                <a:latin typeface="等线" panose="02010600030101010101" charset="-122"/>
                <a:cs typeface="Arial" panose="020B0604020202020204" pitchFamily="34" charset="0"/>
                <a:sym typeface="+mn-ea"/>
              </a:rPr>
              <a:t>EI </a:t>
            </a:r>
            <a:r>
              <a:rPr lang="zh-CN" altLang="en-US" sz="2600" kern="0" dirty="0">
                <a:solidFill>
                  <a:schemeClr val="accent2"/>
                </a:solidFill>
                <a:latin typeface="等线" panose="02010600030101010101" charset="-122"/>
                <a:cs typeface="Arial" panose="020B0604020202020204" pitchFamily="34" charset="0"/>
                <a:sym typeface="+mn-ea"/>
              </a:rPr>
              <a:t>计算</a:t>
            </a:r>
            <a:endParaRPr lang="zh-CN" altLang="zh-CN" sz="2600" kern="0" dirty="0">
              <a:solidFill>
                <a:schemeClr val="accent2"/>
              </a:solidFill>
              <a:latin typeface="等线" panose="02010600030101010101" charset="-122"/>
              <a:ea typeface="+mn-ea"/>
              <a:cs typeface="Arial" panose="020B0604020202020204" pitchFamily="34" charset="0"/>
              <a:sym typeface="+mn-ea"/>
            </a:endParaRPr>
          </a:p>
        </p:txBody>
      </p:sp>
      <p:pic>
        <p:nvPicPr>
          <p:cNvPr id="3" name="图片 2">
            <a:extLst>
              <a:ext uri="{FF2B5EF4-FFF2-40B4-BE49-F238E27FC236}">
                <a16:creationId xmlns:a16="http://schemas.microsoft.com/office/drawing/2014/main" id="{77417B77-A6D5-4DCC-A599-4E740FDDF217}"/>
              </a:ext>
            </a:extLst>
          </p:cNvPr>
          <p:cNvPicPr>
            <a:picLocks noChangeAspect="1"/>
          </p:cNvPicPr>
          <p:nvPr/>
        </p:nvPicPr>
        <p:blipFill>
          <a:blip r:embed="rId3"/>
          <a:stretch>
            <a:fillRect/>
          </a:stretch>
        </p:blipFill>
        <p:spPr>
          <a:xfrm>
            <a:off x="3667644" y="1920946"/>
            <a:ext cx="4614847" cy="5222752"/>
          </a:xfrm>
          <a:prstGeom prst="rect">
            <a:avLst/>
          </a:prstGeom>
        </p:spPr>
      </p:pic>
      <p:sp>
        <p:nvSpPr>
          <p:cNvPr id="8" name="文本框 7">
            <a:extLst>
              <a:ext uri="{FF2B5EF4-FFF2-40B4-BE49-F238E27FC236}">
                <a16:creationId xmlns:a16="http://schemas.microsoft.com/office/drawing/2014/main" id="{BAE56AD7-0042-428F-A544-0A553C927B41}"/>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3.</a:t>
            </a:r>
          </a:p>
        </p:txBody>
      </p:sp>
      <p:sp>
        <p:nvSpPr>
          <p:cNvPr id="9" name="文本框 8">
            <a:extLst>
              <a:ext uri="{FF2B5EF4-FFF2-40B4-BE49-F238E27FC236}">
                <a16:creationId xmlns:a16="http://schemas.microsoft.com/office/drawing/2014/main" id="{9ACC8145-6CDE-438F-BDC9-7C8D7F5BCBA0}"/>
              </a:ext>
            </a:extLst>
          </p:cNvPr>
          <p:cNvSpPr txBox="1"/>
          <p:nvPr/>
        </p:nvSpPr>
        <p:spPr>
          <a:xfrm>
            <a:off x="1548765" y="83820"/>
            <a:ext cx="2738250"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功能点估算案例</a:t>
            </a:r>
          </a:p>
        </p:txBody>
      </p:sp>
    </p:spTree>
    <p:extLst>
      <p:ext uri="{BB962C8B-B14F-4D97-AF65-F5344CB8AC3E}">
        <p14:creationId xmlns:p14="http://schemas.microsoft.com/office/powerpoint/2010/main" val="43981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47"/>
                                        </p:tgtEl>
                                        <p:attrNameLst>
                                          <p:attrName>style.visibility</p:attrName>
                                        </p:attrNameLst>
                                      </p:cBhvr>
                                      <p:to>
                                        <p:strVal val="visible"/>
                                      </p:to>
                                    </p:set>
                                    <p:anim by="(-#ppt_w*2)" calcmode="lin" valueType="num">
                                      <p:cBhvr rctx="PPT">
                                        <p:cTn id="7" dur="250" autoRev="1" fill="hold">
                                          <p:stCondLst>
                                            <p:cond delay="0"/>
                                          </p:stCondLst>
                                        </p:cTn>
                                        <p:tgtEl>
                                          <p:spTgt spid="47"/>
                                        </p:tgtEl>
                                        <p:attrNameLst>
                                          <p:attrName>ppt_w</p:attrName>
                                        </p:attrNameLst>
                                      </p:cBhvr>
                                    </p:anim>
                                    <p:anim by="(#ppt_w*0.50)" calcmode="lin" valueType="num">
                                      <p:cBhvr>
                                        <p:cTn id="8" dur="250" decel="50000" autoRev="1" fill="hold">
                                          <p:stCondLst>
                                            <p:cond delay="0"/>
                                          </p:stCondLst>
                                        </p:cTn>
                                        <p:tgtEl>
                                          <p:spTgt spid="47"/>
                                        </p:tgtEl>
                                        <p:attrNameLst>
                                          <p:attrName>ppt_x</p:attrName>
                                        </p:attrNameLst>
                                      </p:cBhvr>
                                    </p:anim>
                                    <p:anim from="(-#ppt_h/2)" to="(#ppt_y)" calcmode="lin" valueType="num">
                                      <p:cBhvr>
                                        <p:cTn id="9" dur="500" fill="hold">
                                          <p:stCondLst>
                                            <p:cond delay="0"/>
                                          </p:stCondLst>
                                        </p:cTn>
                                        <p:tgtEl>
                                          <p:spTgt spid="47"/>
                                        </p:tgtEl>
                                        <p:attrNameLst>
                                          <p:attrName>ppt_y</p:attrName>
                                        </p:attrNameLst>
                                      </p:cBhvr>
                                    </p:anim>
                                    <p:animRot by="21600000">
                                      <p:cBhvr>
                                        <p:cTn id="10" dur="500" fill="hold">
                                          <p:stCondLst>
                                            <p:cond delay="0"/>
                                          </p:stCondLst>
                                        </p:cTn>
                                        <p:tgtEl>
                                          <p:spTgt spid="47"/>
                                        </p:tgtEl>
                                        <p:attrNameLst>
                                          <p:attrName>r</p:attrName>
                                        </p:attrNameLst>
                                      </p:cBhvr>
                                    </p:animRot>
                                  </p:childTnLst>
                                </p:cTn>
                              </p:par>
                            </p:childTnLst>
                          </p:cTn>
                        </p:par>
                        <p:par>
                          <p:cTn id="11" fill="hold">
                            <p:stCondLst>
                              <p:cond delay="650"/>
                            </p:stCondLst>
                            <p:childTnLst>
                              <p:par>
                                <p:cTn id="12" presetID="22" presetClass="entr" presetSubtype="8" fill="hold" grpId="0" nodeType="afterEffect">
                                  <p:stCondLst>
                                    <p:cond delay="0"/>
                                  </p:stCondLst>
                                  <p:childTnLst>
                                    <p:set>
                                      <p:cBhvr>
                                        <p:cTn id="13" dur="1" fill="hold">
                                          <p:stCondLst>
                                            <p:cond delay="0"/>
                                          </p:stCondLst>
                                        </p:cTn>
                                        <p:tgtEl>
                                          <p:spTgt spid="46"/>
                                        </p:tgtEl>
                                        <p:attrNameLst>
                                          <p:attrName>style.visibility</p:attrName>
                                        </p:attrNameLst>
                                      </p:cBhvr>
                                      <p:to>
                                        <p:strVal val="visible"/>
                                      </p:to>
                                    </p:set>
                                    <p:animEffect transition="in" filter="wipe(left)">
                                      <p:cBhvr>
                                        <p:cTn id="14"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ldLvl="0" animBg="1"/>
      <p:bldP spid="4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79120" y="113220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198120" y="504190"/>
            <a:ext cx="1810385" cy="1649730"/>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46" name="Freeform 12">
            <a:extLst>
              <a:ext uri="{FF2B5EF4-FFF2-40B4-BE49-F238E27FC236}">
                <a16:creationId xmlns:a16="http://schemas.microsoft.com/office/drawing/2014/main" id="{B4791C4C-D2BE-4D7E-8D8F-A22FA0426344}"/>
              </a:ext>
            </a:extLst>
          </p:cNvPr>
          <p:cNvSpPr/>
          <p:nvPr/>
        </p:nvSpPr>
        <p:spPr bwMode="auto">
          <a:xfrm>
            <a:off x="2065655" y="1267460"/>
            <a:ext cx="3843655" cy="544195"/>
          </a:xfrm>
          <a:custGeom>
            <a:avLst/>
            <a:gdLst>
              <a:gd name="T0" fmla="*/ 3591 w 3591"/>
              <a:gd name="T1" fmla="*/ 0 h 696"/>
              <a:gd name="T2" fmla="*/ 0 w 3591"/>
              <a:gd name="T3" fmla="*/ 0 h 696"/>
              <a:gd name="T4" fmla="*/ 0 w 3591"/>
              <a:gd name="T5" fmla="*/ 696 h 696"/>
              <a:gd name="T6" fmla="*/ 3591 w 3591"/>
              <a:gd name="T7" fmla="*/ 696 h 696"/>
              <a:gd name="T8" fmla="*/ 3383 w 3591"/>
              <a:gd name="T9" fmla="*/ 353 h 696"/>
              <a:gd name="T10" fmla="*/ 3591 w 3591"/>
              <a:gd name="T11" fmla="*/ 0 h 696"/>
            </a:gdLst>
            <a:ahLst/>
            <a:cxnLst>
              <a:cxn ang="0">
                <a:pos x="T0" y="T1"/>
              </a:cxn>
              <a:cxn ang="0">
                <a:pos x="T2" y="T3"/>
              </a:cxn>
              <a:cxn ang="0">
                <a:pos x="T4" y="T5"/>
              </a:cxn>
              <a:cxn ang="0">
                <a:pos x="T6" y="T7"/>
              </a:cxn>
              <a:cxn ang="0">
                <a:pos x="T8" y="T9"/>
              </a:cxn>
              <a:cxn ang="0">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bg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47" name="TextBox 23">
            <a:extLst>
              <a:ext uri="{FF2B5EF4-FFF2-40B4-BE49-F238E27FC236}">
                <a16:creationId xmlns:a16="http://schemas.microsoft.com/office/drawing/2014/main" id="{406DEDCE-3DD7-4064-AEBA-9C139610D095}"/>
              </a:ext>
            </a:extLst>
          </p:cNvPr>
          <p:cNvSpPr txBox="1"/>
          <p:nvPr/>
        </p:nvSpPr>
        <p:spPr>
          <a:xfrm>
            <a:off x="2205355" y="1294130"/>
            <a:ext cx="4047490" cy="491490"/>
          </a:xfrm>
          <a:prstGeom prst="rect">
            <a:avLst/>
          </a:prstGeom>
          <a:noFill/>
        </p:spPr>
        <p:txBody>
          <a:bodyPr wrap="square" rtlCol="0">
            <a:spAutoFit/>
          </a:bodyPr>
          <a:lstStyle/>
          <a:p>
            <a:r>
              <a:rPr lang="en-US" altLang="zh-CN" sz="2600" kern="0" dirty="0">
                <a:solidFill>
                  <a:schemeClr val="accent2"/>
                </a:solidFill>
                <a:latin typeface="等线" panose="02010600030101010101" charset="-122"/>
                <a:cs typeface="Arial" panose="020B0604020202020204" pitchFamily="34" charset="0"/>
                <a:sym typeface="+mn-ea"/>
              </a:rPr>
              <a:t>EQ</a:t>
            </a:r>
            <a:r>
              <a:rPr lang="zh-CN" altLang="en-US" sz="2600" kern="0" dirty="0">
                <a:solidFill>
                  <a:schemeClr val="accent2"/>
                </a:solidFill>
                <a:latin typeface="等线" panose="02010600030101010101" charset="-122"/>
                <a:cs typeface="Arial" panose="020B0604020202020204" pitchFamily="34" charset="0"/>
                <a:sym typeface="+mn-ea"/>
              </a:rPr>
              <a:t>与</a:t>
            </a:r>
            <a:r>
              <a:rPr lang="en-US" altLang="zh-CN" sz="2600" kern="0" dirty="0">
                <a:solidFill>
                  <a:schemeClr val="accent2"/>
                </a:solidFill>
                <a:latin typeface="等线" panose="02010600030101010101" charset="-122"/>
                <a:cs typeface="Arial" panose="020B0604020202020204" pitchFamily="34" charset="0"/>
                <a:sym typeface="+mn-ea"/>
              </a:rPr>
              <a:t>EO </a:t>
            </a:r>
            <a:r>
              <a:rPr lang="zh-CN" altLang="en-US" sz="2600" kern="0" dirty="0">
                <a:solidFill>
                  <a:schemeClr val="accent2"/>
                </a:solidFill>
                <a:latin typeface="等线" panose="02010600030101010101" charset="-122"/>
                <a:cs typeface="Arial" panose="020B0604020202020204" pitchFamily="34" charset="0"/>
                <a:sym typeface="+mn-ea"/>
              </a:rPr>
              <a:t>计算</a:t>
            </a:r>
            <a:endParaRPr lang="zh-CN" altLang="zh-CN" sz="2600" kern="0" dirty="0">
              <a:solidFill>
                <a:schemeClr val="accent2"/>
              </a:solidFill>
              <a:latin typeface="等线" panose="02010600030101010101" charset="-122"/>
              <a:ea typeface="+mn-ea"/>
              <a:cs typeface="Arial" panose="020B0604020202020204" pitchFamily="34" charset="0"/>
              <a:sym typeface="+mn-ea"/>
            </a:endParaRPr>
          </a:p>
        </p:txBody>
      </p:sp>
      <p:pic>
        <p:nvPicPr>
          <p:cNvPr id="8" name="图片 7">
            <a:extLst>
              <a:ext uri="{FF2B5EF4-FFF2-40B4-BE49-F238E27FC236}">
                <a16:creationId xmlns:a16="http://schemas.microsoft.com/office/drawing/2014/main" id="{86CDE54A-EDE8-4566-A709-F2E258F69DA3}"/>
              </a:ext>
            </a:extLst>
          </p:cNvPr>
          <p:cNvPicPr>
            <a:picLocks noChangeAspect="1"/>
          </p:cNvPicPr>
          <p:nvPr/>
        </p:nvPicPr>
        <p:blipFill>
          <a:blip r:embed="rId3"/>
          <a:stretch>
            <a:fillRect/>
          </a:stretch>
        </p:blipFill>
        <p:spPr>
          <a:xfrm>
            <a:off x="1779347" y="2202802"/>
            <a:ext cx="8946996" cy="4366235"/>
          </a:xfrm>
          <a:prstGeom prst="rect">
            <a:avLst/>
          </a:prstGeom>
        </p:spPr>
      </p:pic>
      <p:sp>
        <p:nvSpPr>
          <p:cNvPr id="9" name="文本框 8">
            <a:extLst>
              <a:ext uri="{FF2B5EF4-FFF2-40B4-BE49-F238E27FC236}">
                <a16:creationId xmlns:a16="http://schemas.microsoft.com/office/drawing/2014/main" id="{322FE6CB-1B6E-415D-A8CF-15E57B06CF53}"/>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3.</a:t>
            </a:r>
          </a:p>
        </p:txBody>
      </p:sp>
      <p:sp>
        <p:nvSpPr>
          <p:cNvPr id="13" name="文本框 12">
            <a:extLst>
              <a:ext uri="{FF2B5EF4-FFF2-40B4-BE49-F238E27FC236}">
                <a16:creationId xmlns:a16="http://schemas.microsoft.com/office/drawing/2014/main" id="{25132476-BFE1-47DF-92FC-BBCD227BD03A}"/>
              </a:ext>
            </a:extLst>
          </p:cNvPr>
          <p:cNvSpPr txBox="1"/>
          <p:nvPr/>
        </p:nvSpPr>
        <p:spPr>
          <a:xfrm>
            <a:off x="1548765" y="83820"/>
            <a:ext cx="2738250"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功能点估算案例</a:t>
            </a:r>
          </a:p>
        </p:txBody>
      </p:sp>
    </p:spTree>
    <p:extLst>
      <p:ext uri="{BB962C8B-B14F-4D97-AF65-F5344CB8AC3E}">
        <p14:creationId xmlns:p14="http://schemas.microsoft.com/office/powerpoint/2010/main" val="31639604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47"/>
                                        </p:tgtEl>
                                        <p:attrNameLst>
                                          <p:attrName>style.visibility</p:attrName>
                                        </p:attrNameLst>
                                      </p:cBhvr>
                                      <p:to>
                                        <p:strVal val="visible"/>
                                      </p:to>
                                    </p:set>
                                    <p:anim by="(-#ppt_w*2)" calcmode="lin" valueType="num">
                                      <p:cBhvr rctx="PPT">
                                        <p:cTn id="7" dur="250" autoRev="1" fill="hold">
                                          <p:stCondLst>
                                            <p:cond delay="0"/>
                                          </p:stCondLst>
                                        </p:cTn>
                                        <p:tgtEl>
                                          <p:spTgt spid="47"/>
                                        </p:tgtEl>
                                        <p:attrNameLst>
                                          <p:attrName>ppt_w</p:attrName>
                                        </p:attrNameLst>
                                      </p:cBhvr>
                                    </p:anim>
                                    <p:anim by="(#ppt_w*0.50)" calcmode="lin" valueType="num">
                                      <p:cBhvr>
                                        <p:cTn id="8" dur="250" decel="50000" autoRev="1" fill="hold">
                                          <p:stCondLst>
                                            <p:cond delay="0"/>
                                          </p:stCondLst>
                                        </p:cTn>
                                        <p:tgtEl>
                                          <p:spTgt spid="47"/>
                                        </p:tgtEl>
                                        <p:attrNameLst>
                                          <p:attrName>ppt_x</p:attrName>
                                        </p:attrNameLst>
                                      </p:cBhvr>
                                    </p:anim>
                                    <p:anim from="(-#ppt_h/2)" to="(#ppt_y)" calcmode="lin" valueType="num">
                                      <p:cBhvr>
                                        <p:cTn id="9" dur="500" fill="hold">
                                          <p:stCondLst>
                                            <p:cond delay="0"/>
                                          </p:stCondLst>
                                        </p:cTn>
                                        <p:tgtEl>
                                          <p:spTgt spid="47"/>
                                        </p:tgtEl>
                                        <p:attrNameLst>
                                          <p:attrName>ppt_y</p:attrName>
                                        </p:attrNameLst>
                                      </p:cBhvr>
                                    </p:anim>
                                    <p:animRot by="21600000">
                                      <p:cBhvr>
                                        <p:cTn id="10" dur="500" fill="hold">
                                          <p:stCondLst>
                                            <p:cond delay="0"/>
                                          </p:stCondLst>
                                        </p:cTn>
                                        <p:tgtEl>
                                          <p:spTgt spid="47"/>
                                        </p:tgtEl>
                                        <p:attrNameLst>
                                          <p:attrName>r</p:attrName>
                                        </p:attrNameLst>
                                      </p:cBhvr>
                                    </p:animRot>
                                  </p:childTnLst>
                                </p:cTn>
                              </p:par>
                            </p:childTnLst>
                          </p:cTn>
                        </p:par>
                        <p:par>
                          <p:cTn id="11" fill="hold">
                            <p:stCondLst>
                              <p:cond delay="800"/>
                            </p:stCondLst>
                            <p:childTnLst>
                              <p:par>
                                <p:cTn id="12" presetID="22" presetClass="entr" presetSubtype="8" fill="hold" grpId="0" nodeType="afterEffect">
                                  <p:stCondLst>
                                    <p:cond delay="0"/>
                                  </p:stCondLst>
                                  <p:childTnLst>
                                    <p:set>
                                      <p:cBhvr>
                                        <p:cTn id="13" dur="1" fill="hold">
                                          <p:stCondLst>
                                            <p:cond delay="0"/>
                                          </p:stCondLst>
                                        </p:cTn>
                                        <p:tgtEl>
                                          <p:spTgt spid="46"/>
                                        </p:tgtEl>
                                        <p:attrNameLst>
                                          <p:attrName>style.visibility</p:attrName>
                                        </p:attrNameLst>
                                      </p:cBhvr>
                                      <p:to>
                                        <p:strVal val="visible"/>
                                      </p:to>
                                    </p:set>
                                    <p:animEffect transition="in" filter="wipe(left)">
                                      <p:cBhvr>
                                        <p:cTn id="14"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ldLvl="0" animBg="1"/>
      <p:bldP spid="47"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79120" y="113220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198120" y="504190"/>
            <a:ext cx="1810385" cy="1649730"/>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46" name="Freeform 12">
            <a:extLst>
              <a:ext uri="{FF2B5EF4-FFF2-40B4-BE49-F238E27FC236}">
                <a16:creationId xmlns:a16="http://schemas.microsoft.com/office/drawing/2014/main" id="{B4791C4C-D2BE-4D7E-8D8F-A22FA0426344}"/>
              </a:ext>
            </a:extLst>
          </p:cNvPr>
          <p:cNvSpPr/>
          <p:nvPr/>
        </p:nvSpPr>
        <p:spPr bwMode="auto">
          <a:xfrm>
            <a:off x="2065655" y="1267460"/>
            <a:ext cx="4655602" cy="544195"/>
          </a:xfrm>
          <a:custGeom>
            <a:avLst/>
            <a:gdLst>
              <a:gd name="T0" fmla="*/ 3591 w 3591"/>
              <a:gd name="T1" fmla="*/ 0 h 696"/>
              <a:gd name="T2" fmla="*/ 0 w 3591"/>
              <a:gd name="T3" fmla="*/ 0 h 696"/>
              <a:gd name="T4" fmla="*/ 0 w 3591"/>
              <a:gd name="T5" fmla="*/ 696 h 696"/>
              <a:gd name="T6" fmla="*/ 3591 w 3591"/>
              <a:gd name="T7" fmla="*/ 696 h 696"/>
              <a:gd name="T8" fmla="*/ 3383 w 3591"/>
              <a:gd name="T9" fmla="*/ 353 h 696"/>
              <a:gd name="T10" fmla="*/ 3591 w 3591"/>
              <a:gd name="T11" fmla="*/ 0 h 696"/>
            </a:gdLst>
            <a:ahLst/>
            <a:cxnLst>
              <a:cxn ang="0">
                <a:pos x="T0" y="T1"/>
              </a:cxn>
              <a:cxn ang="0">
                <a:pos x="T2" y="T3"/>
              </a:cxn>
              <a:cxn ang="0">
                <a:pos x="T4" y="T5"/>
              </a:cxn>
              <a:cxn ang="0">
                <a:pos x="T6" y="T7"/>
              </a:cxn>
              <a:cxn ang="0">
                <a:pos x="T8" y="T9"/>
              </a:cxn>
              <a:cxn ang="0">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bg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47" name="TextBox 23">
            <a:extLst>
              <a:ext uri="{FF2B5EF4-FFF2-40B4-BE49-F238E27FC236}">
                <a16:creationId xmlns:a16="http://schemas.microsoft.com/office/drawing/2014/main" id="{406DEDCE-3DD7-4064-AEBA-9C139610D095}"/>
              </a:ext>
            </a:extLst>
          </p:cNvPr>
          <p:cNvSpPr txBox="1"/>
          <p:nvPr/>
        </p:nvSpPr>
        <p:spPr>
          <a:xfrm>
            <a:off x="2205354" y="1294130"/>
            <a:ext cx="4828277" cy="892552"/>
          </a:xfrm>
          <a:prstGeom prst="rect">
            <a:avLst/>
          </a:prstGeom>
          <a:noFill/>
        </p:spPr>
        <p:txBody>
          <a:bodyPr wrap="square" rtlCol="0">
            <a:spAutoFit/>
          </a:bodyPr>
          <a:lstStyle/>
          <a:p>
            <a:r>
              <a:rPr lang="zh-CN" altLang="zh-CN" sz="2600" kern="0" dirty="0">
                <a:solidFill>
                  <a:schemeClr val="accent2"/>
                </a:solidFill>
                <a:latin typeface="等线" panose="02010600030101010101" charset="-122"/>
                <a:cs typeface="Arial" panose="020B0604020202020204" pitchFamily="34" charset="0"/>
              </a:rPr>
              <a:t>通用系统特性及其影响程度</a:t>
            </a:r>
          </a:p>
          <a:p>
            <a:endParaRPr lang="zh-CN" altLang="zh-CN" sz="2600" kern="0" dirty="0">
              <a:solidFill>
                <a:schemeClr val="accent2"/>
              </a:solidFill>
              <a:latin typeface="等线" panose="02010600030101010101" charset="-122"/>
              <a:ea typeface="+mn-ea"/>
              <a:cs typeface="Arial" panose="020B0604020202020204" pitchFamily="34" charset="0"/>
              <a:sym typeface="+mn-ea"/>
            </a:endParaRPr>
          </a:p>
        </p:txBody>
      </p:sp>
      <p:pic>
        <p:nvPicPr>
          <p:cNvPr id="3" name="图片 2">
            <a:extLst>
              <a:ext uri="{FF2B5EF4-FFF2-40B4-BE49-F238E27FC236}">
                <a16:creationId xmlns:a16="http://schemas.microsoft.com/office/drawing/2014/main" id="{873D3A6E-5989-4E78-9D06-8D0ADF94A143}"/>
              </a:ext>
            </a:extLst>
          </p:cNvPr>
          <p:cNvPicPr>
            <a:picLocks noChangeAspect="1"/>
          </p:cNvPicPr>
          <p:nvPr/>
        </p:nvPicPr>
        <p:blipFill>
          <a:blip r:embed="rId3"/>
          <a:stretch>
            <a:fillRect/>
          </a:stretch>
        </p:blipFill>
        <p:spPr>
          <a:xfrm>
            <a:off x="2694000" y="1905634"/>
            <a:ext cx="6641792" cy="4913619"/>
          </a:xfrm>
          <a:prstGeom prst="rect">
            <a:avLst/>
          </a:prstGeom>
        </p:spPr>
      </p:pic>
      <p:sp>
        <p:nvSpPr>
          <p:cNvPr id="9" name="文本框 8">
            <a:extLst>
              <a:ext uri="{FF2B5EF4-FFF2-40B4-BE49-F238E27FC236}">
                <a16:creationId xmlns:a16="http://schemas.microsoft.com/office/drawing/2014/main" id="{5D902D0F-A39B-41D8-B0D8-AF92CAB92120}"/>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3.</a:t>
            </a:r>
          </a:p>
        </p:txBody>
      </p:sp>
      <p:sp>
        <p:nvSpPr>
          <p:cNvPr id="13" name="文本框 12">
            <a:extLst>
              <a:ext uri="{FF2B5EF4-FFF2-40B4-BE49-F238E27FC236}">
                <a16:creationId xmlns:a16="http://schemas.microsoft.com/office/drawing/2014/main" id="{2B21B21A-3442-4B95-9BF7-5C60A639F80B}"/>
              </a:ext>
            </a:extLst>
          </p:cNvPr>
          <p:cNvSpPr txBox="1"/>
          <p:nvPr/>
        </p:nvSpPr>
        <p:spPr>
          <a:xfrm>
            <a:off x="1548765" y="83820"/>
            <a:ext cx="2738250"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功能点估算案例</a:t>
            </a:r>
          </a:p>
        </p:txBody>
      </p:sp>
    </p:spTree>
    <p:extLst>
      <p:ext uri="{BB962C8B-B14F-4D97-AF65-F5344CB8AC3E}">
        <p14:creationId xmlns:p14="http://schemas.microsoft.com/office/powerpoint/2010/main" val="29193967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6" presetClass="entr" presetSubtype="0" fill="hold" grpId="0" nodeType="afterEffect">
                                  <p:stCondLst>
                                    <p:cond delay="0"/>
                                  </p:stCondLst>
                                  <p:iterate type="lt">
                                    <p:tmPct val="10000"/>
                                  </p:iterate>
                                  <p:childTnLst>
                                    <p:set>
                                      <p:cBhvr>
                                        <p:cTn id="6" dur="1" fill="hold">
                                          <p:stCondLst>
                                            <p:cond delay="0"/>
                                          </p:stCondLst>
                                        </p:cTn>
                                        <p:tgtEl>
                                          <p:spTgt spid="47"/>
                                        </p:tgtEl>
                                        <p:attrNameLst>
                                          <p:attrName>style.visibility</p:attrName>
                                        </p:attrNameLst>
                                      </p:cBhvr>
                                      <p:to>
                                        <p:strVal val="visible"/>
                                      </p:to>
                                    </p:set>
                                    <p:anim by="(-#ppt_w*2)" calcmode="lin" valueType="num">
                                      <p:cBhvr rctx="PPT">
                                        <p:cTn id="7" dur="250" autoRev="1" fill="hold">
                                          <p:stCondLst>
                                            <p:cond delay="0"/>
                                          </p:stCondLst>
                                        </p:cTn>
                                        <p:tgtEl>
                                          <p:spTgt spid="47"/>
                                        </p:tgtEl>
                                        <p:attrNameLst>
                                          <p:attrName>ppt_w</p:attrName>
                                        </p:attrNameLst>
                                      </p:cBhvr>
                                    </p:anim>
                                    <p:anim by="(#ppt_w*0.50)" calcmode="lin" valueType="num">
                                      <p:cBhvr>
                                        <p:cTn id="8" dur="250" decel="50000" autoRev="1" fill="hold">
                                          <p:stCondLst>
                                            <p:cond delay="0"/>
                                          </p:stCondLst>
                                        </p:cTn>
                                        <p:tgtEl>
                                          <p:spTgt spid="47"/>
                                        </p:tgtEl>
                                        <p:attrNameLst>
                                          <p:attrName>ppt_x</p:attrName>
                                        </p:attrNameLst>
                                      </p:cBhvr>
                                    </p:anim>
                                    <p:anim from="(-#ppt_h/2)" to="(#ppt_y)" calcmode="lin" valueType="num">
                                      <p:cBhvr>
                                        <p:cTn id="9" dur="500" fill="hold">
                                          <p:stCondLst>
                                            <p:cond delay="0"/>
                                          </p:stCondLst>
                                        </p:cTn>
                                        <p:tgtEl>
                                          <p:spTgt spid="47"/>
                                        </p:tgtEl>
                                        <p:attrNameLst>
                                          <p:attrName>ppt_y</p:attrName>
                                        </p:attrNameLst>
                                      </p:cBhvr>
                                    </p:anim>
                                    <p:animRot by="21600000">
                                      <p:cBhvr>
                                        <p:cTn id="10" dur="500" fill="hold">
                                          <p:stCondLst>
                                            <p:cond delay="0"/>
                                          </p:stCondLst>
                                        </p:cTn>
                                        <p:tgtEl>
                                          <p:spTgt spid="47"/>
                                        </p:tgtEl>
                                        <p:attrNameLst>
                                          <p:attrName>r</p:attrName>
                                        </p:attrNameLst>
                                      </p:cBhvr>
                                    </p:animRot>
                                  </p:childTnLst>
                                </p:cTn>
                              </p:par>
                            </p:childTnLst>
                          </p:cTn>
                        </p:par>
                        <p:par>
                          <p:cTn id="11" fill="hold">
                            <p:stCondLst>
                              <p:cond delay="1050"/>
                            </p:stCondLst>
                            <p:childTnLst>
                              <p:par>
                                <p:cTn id="12" presetID="22" presetClass="entr" presetSubtype="8" fill="hold" grpId="0" nodeType="afterEffect">
                                  <p:stCondLst>
                                    <p:cond delay="0"/>
                                  </p:stCondLst>
                                  <p:childTnLst>
                                    <p:set>
                                      <p:cBhvr>
                                        <p:cTn id="13" dur="1" fill="hold">
                                          <p:stCondLst>
                                            <p:cond delay="0"/>
                                          </p:stCondLst>
                                        </p:cTn>
                                        <p:tgtEl>
                                          <p:spTgt spid="46"/>
                                        </p:tgtEl>
                                        <p:attrNameLst>
                                          <p:attrName>style.visibility</p:attrName>
                                        </p:attrNameLst>
                                      </p:cBhvr>
                                      <p:to>
                                        <p:strVal val="visible"/>
                                      </p:to>
                                    </p:set>
                                    <p:animEffect transition="in" filter="wipe(left)">
                                      <p:cBhvr>
                                        <p:cTn id="14"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 grpId="0" bldLvl="0" animBg="1"/>
      <p:bldP spid="4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圆角矩形 29"/>
          <p:cNvSpPr/>
          <p:nvPr/>
        </p:nvSpPr>
        <p:spPr>
          <a:xfrm>
            <a:off x="579120" y="1132205"/>
            <a:ext cx="10890250" cy="6105525"/>
          </a:xfrm>
          <a:prstGeom prst="roundRect">
            <a:avLst>
              <a:gd name="adj" fmla="val 4379"/>
            </a:avLst>
          </a:prstGeom>
          <a:solidFill>
            <a:schemeClr val="accent2"/>
          </a:solidFill>
          <a:ln w="38100">
            <a:noFill/>
          </a:ln>
          <a:effectLst>
            <a:innerShdw blurRad="63500" dist="50800">
              <a:prstClr val="black">
                <a:alpha val="50000"/>
              </a:prst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18" name="组合 117"/>
          <p:cNvGrpSpPr/>
          <p:nvPr/>
        </p:nvGrpSpPr>
        <p:grpSpPr>
          <a:xfrm>
            <a:off x="10201910" y="927100"/>
            <a:ext cx="96520" cy="367030"/>
            <a:chOff x="3248" y="-256"/>
            <a:chExt cx="536" cy="1936"/>
          </a:xfrm>
        </p:grpSpPr>
        <p:sp>
          <p:nvSpPr>
            <p:cNvPr id="119" name="矩形 118"/>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20" name="组合 119"/>
            <p:cNvGrpSpPr/>
            <p:nvPr/>
          </p:nvGrpSpPr>
          <p:grpSpPr>
            <a:xfrm>
              <a:off x="3248" y="1184"/>
              <a:ext cx="536" cy="496"/>
              <a:chOff x="6848" y="1616"/>
              <a:chExt cx="536" cy="496"/>
            </a:xfrm>
          </p:grpSpPr>
          <p:sp>
            <p:nvSpPr>
              <p:cNvPr id="121" name="椭圆 12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122" name="椭圆 12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6" name="组合 5"/>
          <p:cNvGrpSpPr/>
          <p:nvPr/>
        </p:nvGrpSpPr>
        <p:grpSpPr>
          <a:xfrm>
            <a:off x="6728460" y="927100"/>
            <a:ext cx="96520" cy="367030"/>
            <a:chOff x="10580" y="1460"/>
            <a:chExt cx="152" cy="578"/>
          </a:xfrm>
        </p:grpSpPr>
        <p:sp>
          <p:nvSpPr>
            <p:cNvPr id="17" name="矩形 16"/>
            <p:cNvSpPr/>
            <p:nvPr/>
          </p:nvSpPr>
          <p:spPr>
            <a:xfrm>
              <a:off x="10585" y="1460"/>
              <a:ext cx="120" cy="50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18" name="组合 17"/>
            <p:cNvGrpSpPr/>
            <p:nvPr/>
          </p:nvGrpSpPr>
          <p:grpSpPr>
            <a:xfrm>
              <a:off x="10580" y="1890"/>
              <a:ext cx="152" cy="148"/>
              <a:chOff x="6848" y="1616"/>
              <a:chExt cx="536" cy="496"/>
            </a:xfrm>
          </p:grpSpPr>
          <p:sp>
            <p:nvSpPr>
              <p:cNvPr id="19" name="椭圆 18"/>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0" name="椭圆 19"/>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1" name="组合 20"/>
          <p:cNvGrpSpPr/>
          <p:nvPr/>
        </p:nvGrpSpPr>
        <p:grpSpPr>
          <a:xfrm>
            <a:off x="7574915" y="927100"/>
            <a:ext cx="96520" cy="367030"/>
            <a:chOff x="3248" y="-256"/>
            <a:chExt cx="536" cy="1936"/>
          </a:xfrm>
        </p:grpSpPr>
        <p:sp>
          <p:nvSpPr>
            <p:cNvPr id="22" name="矩形 21"/>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4" name="组合 23"/>
            <p:cNvGrpSpPr/>
            <p:nvPr/>
          </p:nvGrpSpPr>
          <p:grpSpPr>
            <a:xfrm>
              <a:off x="3248" y="1184"/>
              <a:ext cx="536" cy="496"/>
              <a:chOff x="6848" y="1616"/>
              <a:chExt cx="536" cy="496"/>
            </a:xfrm>
          </p:grpSpPr>
          <p:sp>
            <p:nvSpPr>
              <p:cNvPr id="25" name="椭圆 24"/>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26" name="椭圆 25"/>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27" name="组合 26"/>
          <p:cNvGrpSpPr/>
          <p:nvPr/>
        </p:nvGrpSpPr>
        <p:grpSpPr>
          <a:xfrm>
            <a:off x="8427720" y="927100"/>
            <a:ext cx="96520" cy="367030"/>
            <a:chOff x="3248" y="-256"/>
            <a:chExt cx="536" cy="1936"/>
          </a:xfrm>
        </p:grpSpPr>
        <p:sp>
          <p:nvSpPr>
            <p:cNvPr id="28" name="矩形 27"/>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29" name="组合 28"/>
            <p:cNvGrpSpPr/>
            <p:nvPr/>
          </p:nvGrpSpPr>
          <p:grpSpPr>
            <a:xfrm>
              <a:off x="3248" y="1184"/>
              <a:ext cx="536" cy="496"/>
              <a:chOff x="6848" y="1616"/>
              <a:chExt cx="536" cy="496"/>
            </a:xfrm>
          </p:grpSpPr>
          <p:sp>
            <p:nvSpPr>
              <p:cNvPr id="31" name="椭圆 30"/>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2" name="椭圆 31"/>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33" name="组合 32"/>
          <p:cNvGrpSpPr/>
          <p:nvPr/>
        </p:nvGrpSpPr>
        <p:grpSpPr>
          <a:xfrm>
            <a:off x="9319895" y="927100"/>
            <a:ext cx="96520" cy="367030"/>
            <a:chOff x="3248" y="-256"/>
            <a:chExt cx="536" cy="1936"/>
          </a:xfrm>
        </p:grpSpPr>
        <p:sp>
          <p:nvSpPr>
            <p:cNvPr id="34" name="矩形 33"/>
            <p:cNvSpPr/>
            <p:nvPr/>
          </p:nvSpPr>
          <p:spPr>
            <a:xfrm>
              <a:off x="3336" y="-256"/>
              <a:ext cx="360" cy="1696"/>
            </a:xfrm>
            <a:prstGeom prst="rect">
              <a:avLst/>
            </a:prstGeom>
            <a:solidFill>
              <a:schemeClr val="accent2"/>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nvGrpSpPr>
            <p:cNvPr id="35" name="组合 34"/>
            <p:cNvGrpSpPr/>
            <p:nvPr/>
          </p:nvGrpSpPr>
          <p:grpSpPr>
            <a:xfrm>
              <a:off x="3248" y="1184"/>
              <a:ext cx="536" cy="496"/>
              <a:chOff x="6848" y="1616"/>
              <a:chExt cx="536" cy="496"/>
            </a:xfrm>
          </p:grpSpPr>
          <p:sp>
            <p:nvSpPr>
              <p:cNvPr id="36" name="椭圆 35"/>
              <p:cNvSpPr/>
              <p:nvPr/>
            </p:nvSpPr>
            <p:spPr>
              <a:xfrm>
                <a:off x="6888" y="1616"/>
                <a:ext cx="496" cy="496"/>
              </a:xfrm>
              <a:prstGeom prst="ellipse">
                <a:avLst/>
              </a:prstGeom>
              <a:solidFill>
                <a:srgbClr val="6B0204"/>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sp>
            <p:nvSpPr>
              <p:cNvPr id="37" name="椭圆 36"/>
              <p:cNvSpPr/>
              <p:nvPr/>
            </p:nvSpPr>
            <p:spPr>
              <a:xfrm>
                <a:off x="6848" y="1616"/>
                <a:ext cx="496" cy="496"/>
              </a:xfrm>
              <a:prstGeom prst="ellipse">
                <a:avLst/>
              </a:prstGeom>
              <a:solidFill>
                <a:srgbClr val="FFDE83"/>
              </a:solidFill>
              <a:ln w="25400">
                <a:solidFill>
                  <a:srgbClr val="131A3B"/>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mn-ea"/>
                  <a:sym typeface="+mn-lt"/>
                </a:endParaRPr>
              </a:p>
            </p:txBody>
          </p:sp>
        </p:grpSp>
      </p:grpSp>
      <p:grpSp>
        <p:nvGrpSpPr>
          <p:cNvPr id="10" name="组合 9"/>
          <p:cNvGrpSpPr/>
          <p:nvPr/>
        </p:nvGrpSpPr>
        <p:grpSpPr>
          <a:xfrm rot="2400000">
            <a:off x="198120" y="504190"/>
            <a:ext cx="1810385" cy="1649730"/>
            <a:chOff x="8782050" y="1166813"/>
            <a:chExt cx="1136650" cy="1052512"/>
          </a:xfrm>
          <a:solidFill>
            <a:schemeClr val="tx1"/>
          </a:solidFill>
        </p:grpSpPr>
        <p:sp>
          <p:nvSpPr>
            <p:cNvPr id="11" name="Freeform 11"/>
            <p:cNvSpPr>
              <a:spLocks noEditPoints="1"/>
            </p:cNvSpPr>
            <p:nvPr/>
          </p:nvSpPr>
          <p:spPr bwMode="auto">
            <a:xfrm>
              <a:off x="9163050" y="1166813"/>
              <a:ext cx="755650" cy="754063"/>
            </a:xfrm>
            <a:custGeom>
              <a:avLst/>
              <a:gdLst>
                <a:gd name="T0" fmla="*/ 392 w 420"/>
                <a:gd name="T1" fmla="*/ 182 h 419"/>
                <a:gd name="T2" fmla="*/ 384 w 420"/>
                <a:gd name="T3" fmla="*/ 150 h 419"/>
                <a:gd name="T4" fmla="*/ 371 w 420"/>
                <a:gd name="T5" fmla="*/ 120 h 419"/>
                <a:gd name="T6" fmla="*/ 352 w 420"/>
                <a:gd name="T7" fmla="*/ 93 h 419"/>
                <a:gd name="T8" fmla="*/ 329 w 420"/>
                <a:gd name="T9" fmla="*/ 69 h 419"/>
                <a:gd name="T10" fmla="*/ 302 w 420"/>
                <a:gd name="T11" fmla="*/ 50 h 419"/>
                <a:gd name="T12" fmla="*/ 272 w 420"/>
                <a:gd name="T13" fmla="*/ 36 h 419"/>
                <a:gd name="T14" fmla="*/ 240 w 420"/>
                <a:gd name="T15" fmla="*/ 28 h 419"/>
                <a:gd name="T16" fmla="*/ 207 w 420"/>
                <a:gd name="T17" fmla="*/ 26 h 419"/>
                <a:gd name="T18" fmla="*/ 175 w 420"/>
                <a:gd name="T19" fmla="*/ 29 h 419"/>
                <a:gd name="T20" fmla="*/ 143 w 420"/>
                <a:gd name="T21" fmla="*/ 38 h 419"/>
                <a:gd name="T22" fmla="*/ 103 w 420"/>
                <a:gd name="T23" fmla="*/ 29 h 419"/>
                <a:gd name="T24" fmla="*/ 73 w 420"/>
                <a:gd name="T25" fmla="*/ 51 h 419"/>
                <a:gd name="T26" fmla="*/ 47 w 420"/>
                <a:gd name="T27" fmla="*/ 78 h 419"/>
                <a:gd name="T28" fmla="*/ 26 w 420"/>
                <a:gd name="T29" fmla="*/ 109 h 419"/>
                <a:gd name="T30" fmla="*/ 11 w 420"/>
                <a:gd name="T31" fmla="*/ 144 h 419"/>
                <a:gd name="T32" fmla="*/ 3 w 420"/>
                <a:gd name="T33" fmla="*/ 180 h 419"/>
                <a:gd name="T34" fmla="*/ 1 w 420"/>
                <a:gd name="T35" fmla="*/ 218 h 419"/>
                <a:gd name="T36" fmla="*/ 5 w 420"/>
                <a:gd name="T37" fmla="*/ 255 h 419"/>
                <a:gd name="T38" fmla="*/ 17 w 420"/>
                <a:gd name="T39" fmla="*/ 291 h 419"/>
                <a:gd name="T40" fmla="*/ 34 w 420"/>
                <a:gd name="T41" fmla="*/ 324 h 419"/>
                <a:gd name="T42" fmla="*/ 58 w 420"/>
                <a:gd name="T43" fmla="*/ 353 h 419"/>
                <a:gd name="T44" fmla="*/ 86 w 420"/>
                <a:gd name="T45" fmla="*/ 378 h 419"/>
                <a:gd name="T46" fmla="*/ 118 w 420"/>
                <a:gd name="T47" fmla="*/ 398 h 419"/>
                <a:gd name="T48" fmla="*/ 153 w 420"/>
                <a:gd name="T49" fmla="*/ 411 h 419"/>
                <a:gd name="T50" fmla="*/ 190 w 420"/>
                <a:gd name="T51" fmla="*/ 418 h 419"/>
                <a:gd name="T52" fmla="*/ 228 w 420"/>
                <a:gd name="T53" fmla="*/ 419 h 419"/>
                <a:gd name="T54" fmla="*/ 265 w 420"/>
                <a:gd name="T55" fmla="*/ 412 h 419"/>
                <a:gd name="T56" fmla="*/ 294 w 420"/>
                <a:gd name="T57" fmla="*/ 402 h 419"/>
                <a:gd name="T58" fmla="*/ 319 w 420"/>
                <a:gd name="T59" fmla="*/ 389 h 419"/>
                <a:gd name="T60" fmla="*/ 349 w 420"/>
                <a:gd name="T61" fmla="*/ 366 h 419"/>
                <a:gd name="T62" fmla="*/ 375 w 420"/>
                <a:gd name="T63" fmla="*/ 339 h 419"/>
                <a:gd name="T64" fmla="*/ 396 w 420"/>
                <a:gd name="T65" fmla="*/ 307 h 419"/>
                <a:gd name="T66" fmla="*/ 410 w 420"/>
                <a:gd name="T67" fmla="*/ 273 h 419"/>
                <a:gd name="T68" fmla="*/ 418 w 420"/>
                <a:gd name="T69" fmla="*/ 236 h 419"/>
                <a:gd name="T70" fmla="*/ 363 w 420"/>
                <a:gd name="T71" fmla="*/ 140 h 419"/>
                <a:gd name="T72" fmla="*/ 363 w 420"/>
                <a:gd name="T73" fmla="*/ 140 h 419"/>
                <a:gd name="T74" fmla="*/ 216 w 420"/>
                <a:gd name="T75" fmla="*/ 178 h 419"/>
                <a:gd name="T76" fmla="*/ 204 w 420"/>
                <a:gd name="T77" fmla="*/ 195 h 419"/>
                <a:gd name="T78" fmla="*/ 211 w 420"/>
                <a:gd name="T79" fmla="*/ 178 h 419"/>
                <a:gd name="T80" fmla="*/ 141 w 420"/>
                <a:gd name="T81" fmla="*/ 57 h 419"/>
                <a:gd name="T82" fmla="*/ 141 w 420"/>
                <a:gd name="T83" fmla="*/ 57 h 419"/>
                <a:gd name="T84" fmla="*/ 44 w 420"/>
                <a:gd name="T85" fmla="*/ 189 h 419"/>
                <a:gd name="T86" fmla="*/ 180 w 420"/>
                <a:gd name="T87" fmla="*/ 220 h 419"/>
                <a:gd name="T88" fmla="*/ 182 w 420"/>
                <a:gd name="T89" fmla="*/ 225 h 419"/>
                <a:gd name="T90" fmla="*/ 189 w 420"/>
                <a:gd name="T91" fmla="*/ 376 h 419"/>
                <a:gd name="T92" fmla="*/ 189 w 420"/>
                <a:gd name="T93" fmla="*/ 376 h 419"/>
                <a:gd name="T94" fmla="*/ 275 w 420"/>
                <a:gd name="T95" fmla="*/ 364 h 419"/>
                <a:gd name="T96" fmla="*/ 235 w 420"/>
                <a:gd name="T97" fmla="*/ 230 h 419"/>
                <a:gd name="T98" fmla="*/ 237 w 420"/>
                <a:gd name="T99" fmla="*/ 227 h 419"/>
                <a:gd name="T100" fmla="*/ 377 w 420"/>
                <a:gd name="T101" fmla="*/ 226 h 419"/>
                <a:gd name="T102" fmla="*/ 377 w 420"/>
                <a:gd name="T103" fmla="*/ 226 h 4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420" h="419">
                  <a:moveTo>
                    <a:pt x="394" y="203"/>
                  </a:moveTo>
                  <a:cubicBezTo>
                    <a:pt x="420" y="198"/>
                    <a:pt x="420" y="198"/>
                    <a:pt x="420" y="198"/>
                  </a:cubicBezTo>
                  <a:cubicBezTo>
                    <a:pt x="419" y="193"/>
                    <a:pt x="419" y="187"/>
                    <a:pt x="418" y="182"/>
                  </a:cubicBezTo>
                  <a:cubicBezTo>
                    <a:pt x="392" y="182"/>
                    <a:pt x="392" y="182"/>
                    <a:pt x="392" y="182"/>
                  </a:cubicBezTo>
                  <a:cubicBezTo>
                    <a:pt x="392" y="178"/>
                    <a:pt x="391" y="174"/>
                    <a:pt x="390" y="170"/>
                  </a:cubicBezTo>
                  <a:cubicBezTo>
                    <a:pt x="414" y="161"/>
                    <a:pt x="414" y="161"/>
                    <a:pt x="414" y="161"/>
                  </a:cubicBezTo>
                  <a:cubicBezTo>
                    <a:pt x="413" y="156"/>
                    <a:pt x="412" y="150"/>
                    <a:pt x="410" y="145"/>
                  </a:cubicBezTo>
                  <a:cubicBezTo>
                    <a:pt x="384" y="150"/>
                    <a:pt x="384" y="150"/>
                    <a:pt x="384" y="150"/>
                  </a:cubicBezTo>
                  <a:cubicBezTo>
                    <a:pt x="383" y="146"/>
                    <a:pt x="381" y="142"/>
                    <a:pt x="380" y="139"/>
                  </a:cubicBezTo>
                  <a:cubicBezTo>
                    <a:pt x="402" y="125"/>
                    <a:pt x="402" y="125"/>
                    <a:pt x="402" y="125"/>
                  </a:cubicBezTo>
                  <a:cubicBezTo>
                    <a:pt x="400" y="120"/>
                    <a:pt x="398" y="115"/>
                    <a:pt x="395" y="111"/>
                  </a:cubicBezTo>
                  <a:cubicBezTo>
                    <a:pt x="371" y="120"/>
                    <a:pt x="371" y="120"/>
                    <a:pt x="371" y="120"/>
                  </a:cubicBezTo>
                  <a:cubicBezTo>
                    <a:pt x="369" y="116"/>
                    <a:pt x="367" y="113"/>
                    <a:pt x="365" y="109"/>
                  </a:cubicBezTo>
                  <a:cubicBezTo>
                    <a:pt x="384" y="92"/>
                    <a:pt x="384" y="92"/>
                    <a:pt x="384" y="92"/>
                  </a:cubicBezTo>
                  <a:cubicBezTo>
                    <a:pt x="381" y="88"/>
                    <a:pt x="378" y="83"/>
                    <a:pt x="374" y="79"/>
                  </a:cubicBezTo>
                  <a:cubicBezTo>
                    <a:pt x="352" y="93"/>
                    <a:pt x="352" y="93"/>
                    <a:pt x="352" y="93"/>
                  </a:cubicBezTo>
                  <a:cubicBezTo>
                    <a:pt x="350" y="89"/>
                    <a:pt x="347" y="86"/>
                    <a:pt x="344" y="83"/>
                  </a:cubicBezTo>
                  <a:cubicBezTo>
                    <a:pt x="360" y="63"/>
                    <a:pt x="360" y="63"/>
                    <a:pt x="360" y="63"/>
                  </a:cubicBezTo>
                  <a:cubicBezTo>
                    <a:pt x="357" y="59"/>
                    <a:pt x="353" y="55"/>
                    <a:pt x="349" y="52"/>
                  </a:cubicBezTo>
                  <a:cubicBezTo>
                    <a:pt x="329" y="69"/>
                    <a:pt x="329" y="69"/>
                    <a:pt x="329" y="69"/>
                  </a:cubicBezTo>
                  <a:cubicBezTo>
                    <a:pt x="326" y="66"/>
                    <a:pt x="323" y="64"/>
                    <a:pt x="320" y="62"/>
                  </a:cubicBezTo>
                  <a:cubicBezTo>
                    <a:pt x="332" y="39"/>
                    <a:pt x="332" y="39"/>
                    <a:pt x="332" y="39"/>
                  </a:cubicBezTo>
                  <a:cubicBezTo>
                    <a:pt x="327" y="36"/>
                    <a:pt x="323" y="33"/>
                    <a:pt x="318" y="30"/>
                  </a:cubicBezTo>
                  <a:cubicBezTo>
                    <a:pt x="302" y="50"/>
                    <a:pt x="302" y="50"/>
                    <a:pt x="302" y="50"/>
                  </a:cubicBezTo>
                  <a:cubicBezTo>
                    <a:pt x="299" y="48"/>
                    <a:pt x="295" y="46"/>
                    <a:pt x="291" y="44"/>
                  </a:cubicBezTo>
                  <a:cubicBezTo>
                    <a:pt x="299" y="20"/>
                    <a:pt x="299" y="20"/>
                    <a:pt x="299" y="20"/>
                  </a:cubicBezTo>
                  <a:cubicBezTo>
                    <a:pt x="294" y="17"/>
                    <a:pt x="289" y="15"/>
                    <a:pt x="284" y="13"/>
                  </a:cubicBezTo>
                  <a:cubicBezTo>
                    <a:pt x="272" y="36"/>
                    <a:pt x="272" y="36"/>
                    <a:pt x="272" y="36"/>
                  </a:cubicBezTo>
                  <a:cubicBezTo>
                    <a:pt x="268" y="35"/>
                    <a:pt x="265" y="34"/>
                    <a:pt x="261" y="33"/>
                  </a:cubicBezTo>
                  <a:cubicBezTo>
                    <a:pt x="264" y="7"/>
                    <a:pt x="264" y="7"/>
                    <a:pt x="264" y="7"/>
                  </a:cubicBezTo>
                  <a:cubicBezTo>
                    <a:pt x="259" y="5"/>
                    <a:pt x="254" y="4"/>
                    <a:pt x="248" y="3"/>
                  </a:cubicBezTo>
                  <a:cubicBezTo>
                    <a:pt x="240" y="28"/>
                    <a:pt x="240" y="28"/>
                    <a:pt x="240" y="28"/>
                  </a:cubicBezTo>
                  <a:cubicBezTo>
                    <a:pt x="236" y="27"/>
                    <a:pt x="232" y="27"/>
                    <a:pt x="228" y="26"/>
                  </a:cubicBezTo>
                  <a:cubicBezTo>
                    <a:pt x="227" y="0"/>
                    <a:pt x="227" y="0"/>
                    <a:pt x="227" y="0"/>
                  </a:cubicBezTo>
                  <a:cubicBezTo>
                    <a:pt x="222" y="0"/>
                    <a:pt x="216" y="0"/>
                    <a:pt x="211" y="0"/>
                  </a:cubicBezTo>
                  <a:cubicBezTo>
                    <a:pt x="207" y="26"/>
                    <a:pt x="207" y="26"/>
                    <a:pt x="207" y="26"/>
                  </a:cubicBezTo>
                  <a:cubicBezTo>
                    <a:pt x="203" y="26"/>
                    <a:pt x="199" y="26"/>
                    <a:pt x="195" y="26"/>
                  </a:cubicBezTo>
                  <a:cubicBezTo>
                    <a:pt x="190" y="1"/>
                    <a:pt x="190" y="1"/>
                    <a:pt x="190" y="1"/>
                  </a:cubicBezTo>
                  <a:cubicBezTo>
                    <a:pt x="184" y="1"/>
                    <a:pt x="179" y="2"/>
                    <a:pt x="173" y="3"/>
                  </a:cubicBezTo>
                  <a:cubicBezTo>
                    <a:pt x="175" y="29"/>
                    <a:pt x="175" y="29"/>
                    <a:pt x="175" y="29"/>
                  </a:cubicBezTo>
                  <a:cubicBezTo>
                    <a:pt x="171" y="30"/>
                    <a:pt x="167" y="31"/>
                    <a:pt x="163" y="32"/>
                  </a:cubicBezTo>
                  <a:cubicBezTo>
                    <a:pt x="153" y="8"/>
                    <a:pt x="153" y="8"/>
                    <a:pt x="153" y="8"/>
                  </a:cubicBezTo>
                  <a:cubicBezTo>
                    <a:pt x="148" y="9"/>
                    <a:pt x="142" y="11"/>
                    <a:pt x="137" y="13"/>
                  </a:cubicBezTo>
                  <a:cubicBezTo>
                    <a:pt x="143" y="38"/>
                    <a:pt x="143" y="38"/>
                    <a:pt x="143" y="38"/>
                  </a:cubicBezTo>
                  <a:cubicBezTo>
                    <a:pt x="141" y="39"/>
                    <a:pt x="139" y="40"/>
                    <a:pt x="136" y="41"/>
                  </a:cubicBezTo>
                  <a:cubicBezTo>
                    <a:pt x="135" y="42"/>
                    <a:pt x="134" y="42"/>
                    <a:pt x="132" y="43"/>
                  </a:cubicBezTo>
                  <a:cubicBezTo>
                    <a:pt x="118" y="21"/>
                    <a:pt x="118" y="21"/>
                    <a:pt x="118" y="21"/>
                  </a:cubicBezTo>
                  <a:cubicBezTo>
                    <a:pt x="113" y="24"/>
                    <a:pt x="108" y="26"/>
                    <a:pt x="103" y="29"/>
                  </a:cubicBezTo>
                  <a:cubicBezTo>
                    <a:pt x="114" y="53"/>
                    <a:pt x="114" y="53"/>
                    <a:pt x="114" y="53"/>
                  </a:cubicBezTo>
                  <a:cubicBezTo>
                    <a:pt x="110" y="55"/>
                    <a:pt x="107" y="57"/>
                    <a:pt x="104" y="60"/>
                  </a:cubicBezTo>
                  <a:cubicBezTo>
                    <a:pt x="86" y="41"/>
                    <a:pt x="86" y="41"/>
                    <a:pt x="86" y="41"/>
                  </a:cubicBezTo>
                  <a:cubicBezTo>
                    <a:pt x="81" y="44"/>
                    <a:pt x="77" y="47"/>
                    <a:pt x="73" y="51"/>
                  </a:cubicBezTo>
                  <a:cubicBezTo>
                    <a:pt x="87" y="73"/>
                    <a:pt x="87" y="73"/>
                    <a:pt x="87" y="73"/>
                  </a:cubicBezTo>
                  <a:cubicBezTo>
                    <a:pt x="84" y="75"/>
                    <a:pt x="81" y="78"/>
                    <a:pt x="79" y="81"/>
                  </a:cubicBezTo>
                  <a:cubicBezTo>
                    <a:pt x="58" y="66"/>
                    <a:pt x="58" y="66"/>
                    <a:pt x="58" y="66"/>
                  </a:cubicBezTo>
                  <a:cubicBezTo>
                    <a:pt x="54" y="70"/>
                    <a:pt x="50" y="74"/>
                    <a:pt x="47" y="78"/>
                  </a:cubicBezTo>
                  <a:cubicBezTo>
                    <a:pt x="65" y="97"/>
                    <a:pt x="65" y="97"/>
                    <a:pt x="65" y="97"/>
                  </a:cubicBezTo>
                  <a:cubicBezTo>
                    <a:pt x="62" y="100"/>
                    <a:pt x="60" y="103"/>
                    <a:pt x="58" y="106"/>
                  </a:cubicBezTo>
                  <a:cubicBezTo>
                    <a:pt x="34" y="95"/>
                    <a:pt x="34" y="95"/>
                    <a:pt x="34" y="95"/>
                  </a:cubicBezTo>
                  <a:cubicBezTo>
                    <a:pt x="31" y="100"/>
                    <a:pt x="29" y="104"/>
                    <a:pt x="26" y="109"/>
                  </a:cubicBezTo>
                  <a:cubicBezTo>
                    <a:pt x="47" y="124"/>
                    <a:pt x="47" y="124"/>
                    <a:pt x="47" y="124"/>
                  </a:cubicBezTo>
                  <a:cubicBezTo>
                    <a:pt x="45" y="128"/>
                    <a:pt x="44" y="132"/>
                    <a:pt x="42" y="135"/>
                  </a:cubicBezTo>
                  <a:cubicBezTo>
                    <a:pt x="17" y="128"/>
                    <a:pt x="17" y="128"/>
                    <a:pt x="17" y="128"/>
                  </a:cubicBezTo>
                  <a:cubicBezTo>
                    <a:pt x="15" y="133"/>
                    <a:pt x="13" y="138"/>
                    <a:pt x="11" y="144"/>
                  </a:cubicBezTo>
                  <a:cubicBezTo>
                    <a:pt x="35" y="155"/>
                    <a:pt x="35" y="155"/>
                    <a:pt x="35" y="155"/>
                  </a:cubicBezTo>
                  <a:cubicBezTo>
                    <a:pt x="33" y="159"/>
                    <a:pt x="32" y="162"/>
                    <a:pt x="31" y="166"/>
                  </a:cubicBezTo>
                  <a:cubicBezTo>
                    <a:pt x="5" y="164"/>
                    <a:pt x="5" y="164"/>
                    <a:pt x="5" y="164"/>
                  </a:cubicBezTo>
                  <a:cubicBezTo>
                    <a:pt x="4" y="169"/>
                    <a:pt x="3" y="175"/>
                    <a:pt x="3" y="180"/>
                  </a:cubicBezTo>
                  <a:cubicBezTo>
                    <a:pt x="28" y="187"/>
                    <a:pt x="28" y="187"/>
                    <a:pt x="28" y="187"/>
                  </a:cubicBezTo>
                  <a:cubicBezTo>
                    <a:pt x="27" y="191"/>
                    <a:pt x="27" y="195"/>
                    <a:pt x="26" y="199"/>
                  </a:cubicBezTo>
                  <a:cubicBezTo>
                    <a:pt x="1" y="201"/>
                    <a:pt x="1" y="201"/>
                    <a:pt x="1" y="201"/>
                  </a:cubicBezTo>
                  <a:cubicBezTo>
                    <a:pt x="0" y="207"/>
                    <a:pt x="0" y="212"/>
                    <a:pt x="1" y="218"/>
                  </a:cubicBezTo>
                  <a:cubicBezTo>
                    <a:pt x="26" y="220"/>
                    <a:pt x="26" y="220"/>
                    <a:pt x="26" y="220"/>
                  </a:cubicBezTo>
                  <a:cubicBezTo>
                    <a:pt x="27" y="224"/>
                    <a:pt x="27" y="228"/>
                    <a:pt x="28" y="232"/>
                  </a:cubicBezTo>
                  <a:cubicBezTo>
                    <a:pt x="2" y="239"/>
                    <a:pt x="2" y="239"/>
                    <a:pt x="2" y="239"/>
                  </a:cubicBezTo>
                  <a:cubicBezTo>
                    <a:pt x="3" y="244"/>
                    <a:pt x="4" y="249"/>
                    <a:pt x="5" y="255"/>
                  </a:cubicBezTo>
                  <a:cubicBezTo>
                    <a:pt x="31" y="252"/>
                    <a:pt x="31" y="252"/>
                    <a:pt x="31" y="252"/>
                  </a:cubicBezTo>
                  <a:cubicBezTo>
                    <a:pt x="32" y="256"/>
                    <a:pt x="33" y="260"/>
                    <a:pt x="34" y="264"/>
                  </a:cubicBezTo>
                  <a:cubicBezTo>
                    <a:pt x="11" y="275"/>
                    <a:pt x="11" y="275"/>
                    <a:pt x="11" y="275"/>
                  </a:cubicBezTo>
                  <a:cubicBezTo>
                    <a:pt x="13" y="280"/>
                    <a:pt x="15" y="286"/>
                    <a:pt x="17" y="291"/>
                  </a:cubicBezTo>
                  <a:cubicBezTo>
                    <a:pt x="42" y="284"/>
                    <a:pt x="42" y="284"/>
                    <a:pt x="42" y="284"/>
                  </a:cubicBezTo>
                  <a:cubicBezTo>
                    <a:pt x="43" y="287"/>
                    <a:pt x="45" y="291"/>
                    <a:pt x="47" y="295"/>
                  </a:cubicBezTo>
                  <a:cubicBezTo>
                    <a:pt x="26" y="310"/>
                    <a:pt x="26" y="310"/>
                    <a:pt x="26" y="310"/>
                  </a:cubicBezTo>
                  <a:cubicBezTo>
                    <a:pt x="29" y="315"/>
                    <a:pt x="31" y="319"/>
                    <a:pt x="34" y="324"/>
                  </a:cubicBezTo>
                  <a:cubicBezTo>
                    <a:pt x="58" y="313"/>
                    <a:pt x="58" y="313"/>
                    <a:pt x="58" y="313"/>
                  </a:cubicBezTo>
                  <a:cubicBezTo>
                    <a:pt x="60" y="316"/>
                    <a:pt x="62" y="319"/>
                    <a:pt x="65" y="322"/>
                  </a:cubicBezTo>
                  <a:cubicBezTo>
                    <a:pt x="47" y="341"/>
                    <a:pt x="47" y="341"/>
                    <a:pt x="47" y="341"/>
                  </a:cubicBezTo>
                  <a:cubicBezTo>
                    <a:pt x="50" y="345"/>
                    <a:pt x="54" y="349"/>
                    <a:pt x="58" y="353"/>
                  </a:cubicBezTo>
                  <a:cubicBezTo>
                    <a:pt x="79" y="338"/>
                    <a:pt x="79" y="338"/>
                    <a:pt x="79" y="338"/>
                  </a:cubicBezTo>
                  <a:cubicBezTo>
                    <a:pt x="81" y="341"/>
                    <a:pt x="84" y="344"/>
                    <a:pt x="87" y="347"/>
                  </a:cubicBezTo>
                  <a:cubicBezTo>
                    <a:pt x="73" y="368"/>
                    <a:pt x="73" y="368"/>
                    <a:pt x="73" y="368"/>
                  </a:cubicBezTo>
                  <a:cubicBezTo>
                    <a:pt x="77" y="372"/>
                    <a:pt x="81" y="375"/>
                    <a:pt x="86" y="378"/>
                  </a:cubicBezTo>
                  <a:cubicBezTo>
                    <a:pt x="104" y="360"/>
                    <a:pt x="104" y="360"/>
                    <a:pt x="104" y="360"/>
                  </a:cubicBezTo>
                  <a:cubicBezTo>
                    <a:pt x="107" y="362"/>
                    <a:pt x="110" y="364"/>
                    <a:pt x="114" y="366"/>
                  </a:cubicBezTo>
                  <a:cubicBezTo>
                    <a:pt x="104" y="390"/>
                    <a:pt x="104" y="390"/>
                    <a:pt x="104" y="390"/>
                  </a:cubicBezTo>
                  <a:cubicBezTo>
                    <a:pt x="108" y="393"/>
                    <a:pt x="113" y="395"/>
                    <a:pt x="118" y="398"/>
                  </a:cubicBezTo>
                  <a:cubicBezTo>
                    <a:pt x="132" y="376"/>
                    <a:pt x="132" y="376"/>
                    <a:pt x="132" y="376"/>
                  </a:cubicBezTo>
                  <a:cubicBezTo>
                    <a:pt x="136" y="378"/>
                    <a:pt x="140" y="379"/>
                    <a:pt x="143" y="381"/>
                  </a:cubicBezTo>
                  <a:cubicBezTo>
                    <a:pt x="138" y="406"/>
                    <a:pt x="138" y="406"/>
                    <a:pt x="138" y="406"/>
                  </a:cubicBezTo>
                  <a:cubicBezTo>
                    <a:pt x="143" y="408"/>
                    <a:pt x="148" y="410"/>
                    <a:pt x="153" y="411"/>
                  </a:cubicBezTo>
                  <a:cubicBezTo>
                    <a:pt x="163" y="387"/>
                    <a:pt x="163" y="387"/>
                    <a:pt x="163" y="387"/>
                  </a:cubicBezTo>
                  <a:cubicBezTo>
                    <a:pt x="167" y="388"/>
                    <a:pt x="171" y="389"/>
                    <a:pt x="175" y="390"/>
                  </a:cubicBezTo>
                  <a:cubicBezTo>
                    <a:pt x="174" y="416"/>
                    <a:pt x="174" y="416"/>
                    <a:pt x="174" y="416"/>
                  </a:cubicBezTo>
                  <a:cubicBezTo>
                    <a:pt x="179" y="417"/>
                    <a:pt x="185" y="418"/>
                    <a:pt x="190" y="418"/>
                  </a:cubicBezTo>
                  <a:cubicBezTo>
                    <a:pt x="196" y="393"/>
                    <a:pt x="196" y="393"/>
                    <a:pt x="196" y="393"/>
                  </a:cubicBezTo>
                  <a:cubicBezTo>
                    <a:pt x="200" y="393"/>
                    <a:pt x="204" y="394"/>
                    <a:pt x="208" y="394"/>
                  </a:cubicBezTo>
                  <a:cubicBezTo>
                    <a:pt x="212" y="419"/>
                    <a:pt x="212" y="419"/>
                    <a:pt x="212" y="419"/>
                  </a:cubicBezTo>
                  <a:cubicBezTo>
                    <a:pt x="217" y="419"/>
                    <a:pt x="222" y="419"/>
                    <a:pt x="228" y="419"/>
                  </a:cubicBezTo>
                  <a:cubicBezTo>
                    <a:pt x="229" y="393"/>
                    <a:pt x="229" y="393"/>
                    <a:pt x="229" y="393"/>
                  </a:cubicBezTo>
                  <a:cubicBezTo>
                    <a:pt x="233" y="392"/>
                    <a:pt x="237" y="392"/>
                    <a:pt x="241" y="391"/>
                  </a:cubicBezTo>
                  <a:cubicBezTo>
                    <a:pt x="249" y="416"/>
                    <a:pt x="249" y="416"/>
                    <a:pt x="249" y="416"/>
                  </a:cubicBezTo>
                  <a:cubicBezTo>
                    <a:pt x="254" y="415"/>
                    <a:pt x="260" y="413"/>
                    <a:pt x="265" y="412"/>
                  </a:cubicBezTo>
                  <a:cubicBezTo>
                    <a:pt x="261" y="386"/>
                    <a:pt x="261" y="386"/>
                    <a:pt x="261" y="386"/>
                  </a:cubicBezTo>
                  <a:cubicBezTo>
                    <a:pt x="265" y="385"/>
                    <a:pt x="269" y="384"/>
                    <a:pt x="273" y="382"/>
                  </a:cubicBezTo>
                  <a:cubicBezTo>
                    <a:pt x="285" y="405"/>
                    <a:pt x="285" y="405"/>
                    <a:pt x="285" y="405"/>
                  </a:cubicBezTo>
                  <a:cubicBezTo>
                    <a:pt x="288" y="404"/>
                    <a:pt x="291" y="403"/>
                    <a:pt x="294" y="402"/>
                  </a:cubicBezTo>
                  <a:cubicBezTo>
                    <a:pt x="296" y="401"/>
                    <a:pt x="298" y="400"/>
                    <a:pt x="300" y="399"/>
                  </a:cubicBezTo>
                  <a:cubicBezTo>
                    <a:pt x="292" y="374"/>
                    <a:pt x="292" y="374"/>
                    <a:pt x="292" y="374"/>
                  </a:cubicBezTo>
                  <a:cubicBezTo>
                    <a:pt x="296" y="372"/>
                    <a:pt x="299" y="371"/>
                    <a:pt x="303" y="368"/>
                  </a:cubicBezTo>
                  <a:cubicBezTo>
                    <a:pt x="319" y="389"/>
                    <a:pt x="319" y="389"/>
                    <a:pt x="319" y="389"/>
                  </a:cubicBezTo>
                  <a:cubicBezTo>
                    <a:pt x="324" y="386"/>
                    <a:pt x="328" y="383"/>
                    <a:pt x="333" y="380"/>
                  </a:cubicBezTo>
                  <a:cubicBezTo>
                    <a:pt x="320" y="357"/>
                    <a:pt x="320" y="357"/>
                    <a:pt x="320" y="357"/>
                  </a:cubicBezTo>
                  <a:cubicBezTo>
                    <a:pt x="324" y="355"/>
                    <a:pt x="327" y="352"/>
                    <a:pt x="330" y="349"/>
                  </a:cubicBezTo>
                  <a:cubicBezTo>
                    <a:pt x="349" y="366"/>
                    <a:pt x="349" y="366"/>
                    <a:pt x="349" y="366"/>
                  </a:cubicBezTo>
                  <a:cubicBezTo>
                    <a:pt x="354" y="363"/>
                    <a:pt x="357" y="359"/>
                    <a:pt x="361" y="355"/>
                  </a:cubicBezTo>
                  <a:cubicBezTo>
                    <a:pt x="345" y="335"/>
                    <a:pt x="345" y="335"/>
                    <a:pt x="345" y="335"/>
                  </a:cubicBezTo>
                  <a:cubicBezTo>
                    <a:pt x="348" y="332"/>
                    <a:pt x="350" y="329"/>
                    <a:pt x="353" y="326"/>
                  </a:cubicBezTo>
                  <a:cubicBezTo>
                    <a:pt x="375" y="339"/>
                    <a:pt x="375" y="339"/>
                    <a:pt x="375" y="339"/>
                  </a:cubicBezTo>
                  <a:cubicBezTo>
                    <a:pt x="379" y="335"/>
                    <a:pt x="382" y="330"/>
                    <a:pt x="385" y="326"/>
                  </a:cubicBezTo>
                  <a:cubicBezTo>
                    <a:pt x="365" y="309"/>
                    <a:pt x="365" y="309"/>
                    <a:pt x="365" y="309"/>
                  </a:cubicBezTo>
                  <a:cubicBezTo>
                    <a:pt x="367" y="305"/>
                    <a:pt x="369" y="302"/>
                    <a:pt x="371" y="298"/>
                  </a:cubicBezTo>
                  <a:cubicBezTo>
                    <a:pt x="396" y="307"/>
                    <a:pt x="396" y="307"/>
                    <a:pt x="396" y="307"/>
                  </a:cubicBezTo>
                  <a:cubicBezTo>
                    <a:pt x="398" y="303"/>
                    <a:pt x="401" y="298"/>
                    <a:pt x="403" y="293"/>
                  </a:cubicBezTo>
                  <a:cubicBezTo>
                    <a:pt x="380" y="279"/>
                    <a:pt x="380" y="279"/>
                    <a:pt x="380" y="279"/>
                  </a:cubicBezTo>
                  <a:cubicBezTo>
                    <a:pt x="382" y="276"/>
                    <a:pt x="383" y="272"/>
                    <a:pt x="385" y="268"/>
                  </a:cubicBezTo>
                  <a:cubicBezTo>
                    <a:pt x="410" y="273"/>
                    <a:pt x="410" y="273"/>
                    <a:pt x="410" y="273"/>
                  </a:cubicBezTo>
                  <a:cubicBezTo>
                    <a:pt x="412" y="267"/>
                    <a:pt x="413" y="262"/>
                    <a:pt x="415" y="257"/>
                  </a:cubicBezTo>
                  <a:cubicBezTo>
                    <a:pt x="390" y="248"/>
                    <a:pt x="390" y="248"/>
                    <a:pt x="390" y="248"/>
                  </a:cubicBezTo>
                  <a:cubicBezTo>
                    <a:pt x="391" y="244"/>
                    <a:pt x="392" y="240"/>
                    <a:pt x="392" y="236"/>
                  </a:cubicBezTo>
                  <a:cubicBezTo>
                    <a:pt x="418" y="236"/>
                    <a:pt x="418" y="236"/>
                    <a:pt x="418" y="236"/>
                  </a:cubicBezTo>
                  <a:cubicBezTo>
                    <a:pt x="419" y="230"/>
                    <a:pt x="419" y="225"/>
                    <a:pt x="420" y="220"/>
                  </a:cubicBezTo>
                  <a:cubicBezTo>
                    <a:pt x="394" y="215"/>
                    <a:pt x="394" y="215"/>
                    <a:pt x="394" y="215"/>
                  </a:cubicBezTo>
                  <a:cubicBezTo>
                    <a:pt x="394" y="211"/>
                    <a:pt x="394" y="207"/>
                    <a:pt x="394" y="203"/>
                  </a:cubicBezTo>
                  <a:close/>
                  <a:moveTo>
                    <a:pt x="363" y="140"/>
                  </a:moveTo>
                  <a:cubicBezTo>
                    <a:pt x="238" y="195"/>
                    <a:pt x="238" y="195"/>
                    <a:pt x="238" y="195"/>
                  </a:cubicBezTo>
                  <a:cubicBezTo>
                    <a:pt x="237" y="191"/>
                    <a:pt x="234" y="188"/>
                    <a:pt x="231" y="185"/>
                  </a:cubicBezTo>
                  <a:cubicBezTo>
                    <a:pt x="312" y="76"/>
                    <a:pt x="312" y="76"/>
                    <a:pt x="312" y="76"/>
                  </a:cubicBezTo>
                  <a:cubicBezTo>
                    <a:pt x="333" y="92"/>
                    <a:pt x="351" y="114"/>
                    <a:pt x="363" y="140"/>
                  </a:cubicBezTo>
                  <a:close/>
                  <a:moveTo>
                    <a:pt x="231" y="43"/>
                  </a:moveTo>
                  <a:cubicBezTo>
                    <a:pt x="259" y="47"/>
                    <a:pt x="285" y="57"/>
                    <a:pt x="308" y="73"/>
                  </a:cubicBezTo>
                  <a:cubicBezTo>
                    <a:pt x="227" y="183"/>
                    <a:pt x="227" y="183"/>
                    <a:pt x="227" y="183"/>
                  </a:cubicBezTo>
                  <a:cubicBezTo>
                    <a:pt x="224" y="181"/>
                    <a:pt x="220" y="179"/>
                    <a:pt x="216" y="178"/>
                  </a:cubicBezTo>
                  <a:lnTo>
                    <a:pt x="231" y="43"/>
                  </a:lnTo>
                  <a:close/>
                  <a:moveTo>
                    <a:pt x="217" y="224"/>
                  </a:moveTo>
                  <a:cubicBezTo>
                    <a:pt x="209" y="228"/>
                    <a:pt x="199" y="224"/>
                    <a:pt x="196" y="216"/>
                  </a:cubicBezTo>
                  <a:cubicBezTo>
                    <a:pt x="192" y="208"/>
                    <a:pt x="196" y="199"/>
                    <a:pt x="204" y="195"/>
                  </a:cubicBezTo>
                  <a:cubicBezTo>
                    <a:pt x="212" y="192"/>
                    <a:pt x="221" y="195"/>
                    <a:pt x="225" y="203"/>
                  </a:cubicBezTo>
                  <a:cubicBezTo>
                    <a:pt x="228" y="211"/>
                    <a:pt x="225" y="221"/>
                    <a:pt x="217" y="224"/>
                  </a:cubicBezTo>
                  <a:close/>
                  <a:moveTo>
                    <a:pt x="227" y="43"/>
                  </a:moveTo>
                  <a:cubicBezTo>
                    <a:pt x="211" y="178"/>
                    <a:pt x="211" y="178"/>
                    <a:pt x="211" y="178"/>
                  </a:cubicBezTo>
                  <a:cubicBezTo>
                    <a:pt x="208" y="178"/>
                    <a:pt x="204" y="178"/>
                    <a:pt x="200" y="180"/>
                  </a:cubicBezTo>
                  <a:cubicBezTo>
                    <a:pt x="145" y="55"/>
                    <a:pt x="145" y="55"/>
                    <a:pt x="145" y="55"/>
                  </a:cubicBezTo>
                  <a:cubicBezTo>
                    <a:pt x="172" y="44"/>
                    <a:pt x="200" y="40"/>
                    <a:pt x="227" y="43"/>
                  </a:cubicBezTo>
                  <a:close/>
                  <a:moveTo>
                    <a:pt x="141" y="57"/>
                  </a:moveTo>
                  <a:cubicBezTo>
                    <a:pt x="195" y="181"/>
                    <a:pt x="195" y="181"/>
                    <a:pt x="195" y="181"/>
                  </a:cubicBezTo>
                  <a:cubicBezTo>
                    <a:pt x="192" y="183"/>
                    <a:pt x="189" y="186"/>
                    <a:pt x="186" y="189"/>
                  </a:cubicBezTo>
                  <a:cubicBezTo>
                    <a:pt x="76" y="108"/>
                    <a:pt x="76" y="108"/>
                    <a:pt x="76" y="108"/>
                  </a:cubicBezTo>
                  <a:cubicBezTo>
                    <a:pt x="93" y="87"/>
                    <a:pt x="114" y="69"/>
                    <a:pt x="141" y="57"/>
                  </a:cubicBezTo>
                  <a:close/>
                  <a:moveTo>
                    <a:pt x="74" y="112"/>
                  </a:moveTo>
                  <a:cubicBezTo>
                    <a:pt x="183" y="193"/>
                    <a:pt x="183" y="193"/>
                    <a:pt x="183" y="193"/>
                  </a:cubicBezTo>
                  <a:cubicBezTo>
                    <a:pt x="181" y="196"/>
                    <a:pt x="180" y="200"/>
                    <a:pt x="179" y="204"/>
                  </a:cubicBezTo>
                  <a:cubicBezTo>
                    <a:pt x="44" y="189"/>
                    <a:pt x="44" y="189"/>
                    <a:pt x="44" y="189"/>
                  </a:cubicBezTo>
                  <a:cubicBezTo>
                    <a:pt x="47" y="161"/>
                    <a:pt x="58" y="135"/>
                    <a:pt x="74" y="112"/>
                  </a:cubicBezTo>
                  <a:close/>
                  <a:moveTo>
                    <a:pt x="43" y="193"/>
                  </a:moveTo>
                  <a:cubicBezTo>
                    <a:pt x="178" y="208"/>
                    <a:pt x="178" y="208"/>
                    <a:pt x="178" y="208"/>
                  </a:cubicBezTo>
                  <a:cubicBezTo>
                    <a:pt x="178" y="212"/>
                    <a:pt x="179" y="216"/>
                    <a:pt x="180" y="220"/>
                  </a:cubicBezTo>
                  <a:cubicBezTo>
                    <a:pt x="56" y="275"/>
                    <a:pt x="56" y="275"/>
                    <a:pt x="56" y="275"/>
                  </a:cubicBezTo>
                  <a:cubicBezTo>
                    <a:pt x="44" y="248"/>
                    <a:pt x="41" y="220"/>
                    <a:pt x="43" y="193"/>
                  </a:cubicBezTo>
                  <a:close/>
                  <a:moveTo>
                    <a:pt x="57" y="279"/>
                  </a:moveTo>
                  <a:cubicBezTo>
                    <a:pt x="182" y="225"/>
                    <a:pt x="182" y="225"/>
                    <a:pt x="182" y="225"/>
                  </a:cubicBezTo>
                  <a:cubicBezTo>
                    <a:pt x="184" y="228"/>
                    <a:pt x="187" y="231"/>
                    <a:pt x="190" y="234"/>
                  </a:cubicBezTo>
                  <a:cubicBezTo>
                    <a:pt x="109" y="343"/>
                    <a:pt x="109" y="343"/>
                    <a:pt x="109" y="343"/>
                  </a:cubicBezTo>
                  <a:cubicBezTo>
                    <a:pt x="87" y="327"/>
                    <a:pt x="69" y="305"/>
                    <a:pt x="57" y="279"/>
                  </a:cubicBezTo>
                  <a:close/>
                  <a:moveTo>
                    <a:pt x="189" y="376"/>
                  </a:moveTo>
                  <a:cubicBezTo>
                    <a:pt x="162" y="373"/>
                    <a:pt x="135" y="362"/>
                    <a:pt x="113" y="346"/>
                  </a:cubicBezTo>
                  <a:cubicBezTo>
                    <a:pt x="193" y="237"/>
                    <a:pt x="193" y="237"/>
                    <a:pt x="193" y="237"/>
                  </a:cubicBezTo>
                  <a:cubicBezTo>
                    <a:pt x="197" y="239"/>
                    <a:pt x="200" y="240"/>
                    <a:pt x="204" y="241"/>
                  </a:cubicBezTo>
                  <a:lnTo>
                    <a:pt x="189" y="376"/>
                  </a:lnTo>
                  <a:close/>
                  <a:moveTo>
                    <a:pt x="194" y="377"/>
                  </a:moveTo>
                  <a:cubicBezTo>
                    <a:pt x="209" y="242"/>
                    <a:pt x="209" y="242"/>
                    <a:pt x="209" y="242"/>
                  </a:cubicBezTo>
                  <a:cubicBezTo>
                    <a:pt x="213" y="242"/>
                    <a:pt x="217" y="241"/>
                    <a:pt x="221" y="240"/>
                  </a:cubicBezTo>
                  <a:cubicBezTo>
                    <a:pt x="275" y="364"/>
                    <a:pt x="275" y="364"/>
                    <a:pt x="275" y="364"/>
                  </a:cubicBezTo>
                  <a:cubicBezTo>
                    <a:pt x="249" y="376"/>
                    <a:pt x="221" y="379"/>
                    <a:pt x="194" y="377"/>
                  </a:cubicBezTo>
                  <a:close/>
                  <a:moveTo>
                    <a:pt x="280" y="362"/>
                  </a:moveTo>
                  <a:cubicBezTo>
                    <a:pt x="225" y="238"/>
                    <a:pt x="225" y="238"/>
                    <a:pt x="225" y="238"/>
                  </a:cubicBezTo>
                  <a:cubicBezTo>
                    <a:pt x="229" y="236"/>
                    <a:pt x="232" y="233"/>
                    <a:pt x="235" y="230"/>
                  </a:cubicBezTo>
                  <a:cubicBezTo>
                    <a:pt x="344" y="311"/>
                    <a:pt x="344" y="311"/>
                    <a:pt x="344" y="311"/>
                  </a:cubicBezTo>
                  <a:cubicBezTo>
                    <a:pt x="328" y="333"/>
                    <a:pt x="306" y="350"/>
                    <a:pt x="280" y="362"/>
                  </a:cubicBezTo>
                  <a:close/>
                  <a:moveTo>
                    <a:pt x="347" y="307"/>
                  </a:moveTo>
                  <a:cubicBezTo>
                    <a:pt x="237" y="227"/>
                    <a:pt x="237" y="227"/>
                    <a:pt x="237" y="227"/>
                  </a:cubicBezTo>
                  <a:cubicBezTo>
                    <a:pt x="239" y="223"/>
                    <a:pt x="241" y="219"/>
                    <a:pt x="242" y="215"/>
                  </a:cubicBezTo>
                  <a:cubicBezTo>
                    <a:pt x="377" y="230"/>
                    <a:pt x="377" y="230"/>
                    <a:pt x="377" y="230"/>
                  </a:cubicBezTo>
                  <a:cubicBezTo>
                    <a:pt x="373" y="258"/>
                    <a:pt x="363" y="285"/>
                    <a:pt x="347" y="307"/>
                  </a:cubicBezTo>
                  <a:close/>
                  <a:moveTo>
                    <a:pt x="377" y="226"/>
                  </a:moveTo>
                  <a:cubicBezTo>
                    <a:pt x="242" y="211"/>
                    <a:pt x="242" y="211"/>
                    <a:pt x="242" y="211"/>
                  </a:cubicBezTo>
                  <a:cubicBezTo>
                    <a:pt x="242" y="207"/>
                    <a:pt x="242" y="203"/>
                    <a:pt x="240" y="199"/>
                  </a:cubicBezTo>
                  <a:cubicBezTo>
                    <a:pt x="365" y="144"/>
                    <a:pt x="365" y="144"/>
                    <a:pt x="365" y="144"/>
                  </a:cubicBezTo>
                  <a:cubicBezTo>
                    <a:pt x="376" y="171"/>
                    <a:pt x="380" y="199"/>
                    <a:pt x="377" y="226"/>
                  </a:cubicBezTo>
                  <a:close/>
                </a:path>
              </a:pathLst>
            </a:custGeom>
            <a:grp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2" name="Freeform 12"/>
            <p:cNvSpPr>
              <a:spLocks noEditPoints="1"/>
            </p:cNvSpPr>
            <p:nvPr/>
          </p:nvSpPr>
          <p:spPr bwMode="auto">
            <a:xfrm>
              <a:off x="8782050" y="1476375"/>
              <a:ext cx="358775" cy="358775"/>
            </a:xfrm>
            <a:custGeom>
              <a:avLst/>
              <a:gdLst>
                <a:gd name="T0" fmla="*/ 111 w 199"/>
                <a:gd name="T1" fmla="*/ 198 h 199"/>
                <a:gd name="T2" fmla="*/ 119 w 199"/>
                <a:gd name="T3" fmla="*/ 182 h 199"/>
                <a:gd name="T4" fmla="*/ 139 w 199"/>
                <a:gd name="T5" fmla="*/ 191 h 199"/>
                <a:gd name="T6" fmla="*/ 142 w 199"/>
                <a:gd name="T7" fmla="*/ 173 h 199"/>
                <a:gd name="T8" fmla="*/ 163 w 199"/>
                <a:gd name="T9" fmla="*/ 176 h 199"/>
                <a:gd name="T10" fmla="*/ 161 w 199"/>
                <a:gd name="T11" fmla="*/ 159 h 199"/>
                <a:gd name="T12" fmla="*/ 182 w 199"/>
                <a:gd name="T13" fmla="*/ 155 h 199"/>
                <a:gd name="T14" fmla="*/ 175 w 199"/>
                <a:gd name="T15" fmla="*/ 139 h 199"/>
                <a:gd name="T16" fmla="*/ 194 w 199"/>
                <a:gd name="T17" fmla="*/ 130 h 199"/>
                <a:gd name="T18" fmla="*/ 183 w 199"/>
                <a:gd name="T19" fmla="*/ 116 h 199"/>
                <a:gd name="T20" fmla="*/ 199 w 199"/>
                <a:gd name="T21" fmla="*/ 102 h 199"/>
                <a:gd name="T22" fmla="*/ 184 w 199"/>
                <a:gd name="T23" fmla="*/ 92 h 199"/>
                <a:gd name="T24" fmla="*/ 196 w 199"/>
                <a:gd name="T25" fmla="*/ 73 h 199"/>
                <a:gd name="T26" fmla="*/ 179 w 199"/>
                <a:gd name="T27" fmla="*/ 68 h 199"/>
                <a:gd name="T28" fmla="*/ 191 w 199"/>
                <a:gd name="T29" fmla="*/ 59 h 199"/>
                <a:gd name="T30" fmla="*/ 171 w 199"/>
                <a:gd name="T31" fmla="*/ 53 h 199"/>
                <a:gd name="T32" fmla="*/ 176 w 199"/>
                <a:gd name="T33" fmla="*/ 36 h 199"/>
                <a:gd name="T34" fmla="*/ 155 w 199"/>
                <a:gd name="T35" fmla="*/ 34 h 199"/>
                <a:gd name="T36" fmla="*/ 155 w 199"/>
                <a:gd name="T37" fmla="*/ 17 h 199"/>
                <a:gd name="T38" fmla="*/ 134 w 199"/>
                <a:gd name="T39" fmla="*/ 22 h 199"/>
                <a:gd name="T40" fmla="*/ 130 w 199"/>
                <a:gd name="T41" fmla="*/ 4 h 199"/>
                <a:gd name="T42" fmla="*/ 111 w 199"/>
                <a:gd name="T43" fmla="*/ 15 h 199"/>
                <a:gd name="T44" fmla="*/ 102 w 199"/>
                <a:gd name="T45" fmla="*/ 0 h 199"/>
                <a:gd name="T46" fmla="*/ 86 w 199"/>
                <a:gd name="T47" fmla="*/ 15 h 199"/>
                <a:gd name="T48" fmla="*/ 73 w 199"/>
                <a:gd name="T49" fmla="*/ 3 h 199"/>
                <a:gd name="T50" fmla="*/ 63 w 199"/>
                <a:gd name="T51" fmla="*/ 22 h 199"/>
                <a:gd name="T52" fmla="*/ 47 w 199"/>
                <a:gd name="T53" fmla="*/ 14 h 199"/>
                <a:gd name="T54" fmla="*/ 43 w 199"/>
                <a:gd name="T55" fmla="*/ 36 h 199"/>
                <a:gd name="T56" fmla="*/ 25 w 199"/>
                <a:gd name="T57" fmla="*/ 32 h 199"/>
                <a:gd name="T58" fmla="*/ 27 w 199"/>
                <a:gd name="T59" fmla="*/ 54 h 199"/>
                <a:gd name="T60" fmla="*/ 10 w 199"/>
                <a:gd name="T61" fmla="*/ 56 h 199"/>
                <a:gd name="T62" fmla="*/ 17 w 199"/>
                <a:gd name="T63" fmla="*/ 76 h 199"/>
                <a:gd name="T64" fmla="*/ 1 w 199"/>
                <a:gd name="T65" fmla="*/ 83 h 199"/>
                <a:gd name="T66" fmla="*/ 14 w 199"/>
                <a:gd name="T67" fmla="*/ 100 h 199"/>
                <a:gd name="T68" fmla="*/ 0 w 199"/>
                <a:gd name="T69" fmla="*/ 111 h 199"/>
                <a:gd name="T70" fmla="*/ 18 w 199"/>
                <a:gd name="T71" fmla="*/ 124 h 199"/>
                <a:gd name="T72" fmla="*/ 8 w 199"/>
                <a:gd name="T73" fmla="*/ 139 h 199"/>
                <a:gd name="T74" fmla="*/ 14 w 199"/>
                <a:gd name="T75" fmla="*/ 151 h 199"/>
                <a:gd name="T76" fmla="*/ 32 w 199"/>
                <a:gd name="T77" fmla="*/ 152 h 199"/>
                <a:gd name="T78" fmla="*/ 32 w 199"/>
                <a:gd name="T79" fmla="*/ 173 h 199"/>
                <a:gd name="T80" fmla="*/ 50 w 199"/>
                <a:gd name="T81" fmla="*/ 168 h 199"/>
                <a:gd name="T82" fmla="*/ 56 w 199"/>
                <a:gd name="T83" fmla="*/ 189 h 199"/>
                <a:gd name="T84" fmla="*/ 71 w 199"/>
                <a:gd name="T85" fmla="*/ 180 h 199"/>
                <a:gd name="T86" fmla="*/ 83 w 199"/>
                <a:gd name="T87" fmla="*/ 198 h 199"/>
                <a:gd name="T88" fmla="*/ 95 w 199"/>
                <a:gd name="T89" fmla="*/ 184 h 199"/>
                <a:gd name="T90" fmla="*/ 32 w 199"/>
                <a:gd name="T91" fmla="*/ 129 h 199"/>
                <a:gd name="T92" fmla="*/ 167 w 199"/>
                <a:gd name="T93" fmla="*/ 70 h 199"/>
                <a:gd name="T94" fmla="*/ 32 w 199"/>
                <a:gd name="T95" fmla="*/ 129 h 1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99" h="199">
                  <a:moveTo>
                    <a:pt x="97" y="199"/>
                  </a:moveTo>
                  <a:cubicBezTo>
                    <a:pt x="102" y="199"/>
                    <a:pt x="107" y="199"/>
                    <a:pt x="111" y="198"/>
                  </a:cubicBezTo>
                  <a:cubicBezTo>
                    <a:pt x="112" y="184"/>
                    <a:pt x="112" y="184"/>
                    <a:pt x="112" y="184"/>
                  </a:cubicBezTo>
                  <a:cubicBezTo>
                    <a:pt x="115" y="183"/>
                    <a:pt x="117" y="183"/>
                    <a:pt x="119" y="182"/>
                  </a:cubicBezTo>
                  <a:cubicBezTo>
                    <a:pt x="125" y="196"/>
                    <a:pt x="125" y="196"/>
                    <a:pt x="125" y="196"/>
                  </a:cubicBezTo>
                  <a:cubicBezTo>
                    <a:pt x="130" y="194"/>
                    <a:pt x="134" y="193"/>
                    <a:pt x="139" y="191"/>
                  </a:cubicBezTo>
                  <a:cubicBezTo>
                    <a:pt x="136" y="176"/>
                    <a:pt x="136" y="176"/>
                    <a:pt x="136" y="176"/>
                  </a:cubicBezTo>
                  <a:cubicBezTo>
                    <a:pt x="138" y="176"/>
                    <a:pt x="140" y="174"/>
                    <a:pt x="142" y="173"/>
                  </a:cubicBezTo>
                  <a:cubicBezTo>
                    <a:pt x="152" y="184"/>
                    <a:pt x="152" y="184"/>
                    <a:pt x="152" y="184"/>
                  </a:cubicBezTo>
                  <a:cubicBezTo>
                    <a:pt x="156" y="182"/>
                    <a:pt x="159" y="179"/>
                    <a:pt x="163" y="176"/>
                  </a:cubicBezTo>
                  <a:cubicBezTo>
                    <a:pt x="156" y="163"/>
                    <a:pt x="156" y="163"/>
                    <a:pt x="156" y="163"/>
                  </a:cubicBezTo>
                  <a:cubicBezTo>
                    <a:pt x="158" y="162"/>
                    <a:pt x="159" y="160"/>
                    <a:pt x="161" y="159"/>
                  </a:cubicBezTo>
                  <a:cubicBezTo>
                    <a:pt x="173" y="166"/>
                    <a:pt x="173" y="166"/>
                    <a:pt x="173" y="166"/>
                  </a:cubicBezTo>
                  <a:cubicBezTo>
                    <a:pt x="177" y="163"/>
                    <a:pt x="179" y="159"/>
                    <a:pt x="182" y="155"/>
                  </a:cubicBezTo>
                  <a:cubicBezTo>
                    <a:pt x="172" y="145"/>
                    <a:pt x="172" y="145"/>
                    <a:pt x="172" y="145"/>
                  </a:cubicBezTo>
                  <a:cubicBezTo>
                    <a:pt x="173" y="143"/>
                    <a:pt x="174" y="141"/>
                    <a:pt x="175" y="139"/>
                  </a:cubicBezTo>
                  <a:cubicBezTo>
                    <a:pt x="189" y="143"/>
                    <a:pt x="189" y="143"/>
                    <a:pt x="189" y="143"/>
                  </a:cubicBezTo>
                  <a:cubicBezTo>
                    <a:pt x="191" y="138"/>
                    <a:pt x="193" y="134"/>
                    <a:pt x="194" y="130"/>
                  </a:cubicBezTo>
                  <a:cubicBezTo>
                    <a:pt x="181" y="123"/>
                    <a:pt x="181" y="123"/>
                    <a:pt x="181" y="123"/>
                  </a:cubicBezTo>
                  <a:cubicBezTo>
                    <a:pt x="182" y="120"/>
                    <a:pt x="183" y="118"/>
                    <a:pt x="183" y="116"/>
                  </a:cubicBezTo>
                  <a:cubicBezTo>
                    <a:pt x="198" y="116"/>
                    <a:pt x="198" y="116"/>
                    <a:pt x="198" y="116"/>
                  </a:cubicBezTo>
                  <a:cubicBezTo>
                    <a:pt x="199" y="111"/>
                    <a:pt x="199" y="106"/>
                    <a:pt x="199" y="102"/>
                  </a:cubicBezTo>
                  <a:cubicBezTo>
                    <a:pt x="185" y="98"/>
                    <a:pt x="185" y="98"/>
                    <a:pt x="185" y="98"/>
                  </a:cubicBezTo>
                  <a:cubicBezTo>
                    <a:pt x="185" y="96"/>
                    <a:pt x="184" y="94"/>
                    <a:pt x="184" y="92"/>
                  </a:cubicBezTo>
                  <a:cubicBezTo>
                    <a:pt x="198" y="87"/>
                    <a:pt x="198" y="87"/>
                    <a:pt x="198" y="87"/>
                  </a:cubicBezTo>
                  <a:cubicBezTo>
                    <a:pt x="198" y="83"/>
                    <a:pt x="197" y="78"/>
                    <a:pt x="196" y="73"/>
                  </a:cubicBezTo>
                  <a:cubicBezTo>
                    <a:pt x="181" y="75"/>
                    <a:pt x="181" y="75"/>
                    <a:pt x="181" y="75"/>
                  </a:cubicBezTo>
                  <a:cubicBezTo>
                    <a:pt x="180" y="72"/>
                    <a:pt x="180" y="70"/>
                    <a:pt x="179" y="68"/>
                  </a:cubicBezTo>
                  <a:cubicBezTo>
                    <a:pt x="191" y="60"/>
                    <a:pt x="191" y="60"/>
                    <a:pt x="191" y="60"/>
                  </a:cubicBezTo>
                  <a:cubicBezTo>
                    <a:pt x="191" y="60"/>
                    <a:pt x="191" y="60"/>
                    <a:pt x="191" y="59"/>
                  </a:cubicBezTo>
                  <a:cubicBezTo>
                    <a:pt x="189" y="55"/>
                    <a:pt x="187" y="51"/>
                    <a:pt x="185" y="47"/>
                  </a:cubicBezTo>
                  <a:cubicBezTo>
                    <a:pt x="171" y="53"/>
                    <a:pt x="171" y="53"/>
                    <a:pt x="171" y="53"/>
                  </a:cubicBezTo>
                  <a:cubicBezTo>
                    <a:pt x="169" y="51"/>
                    <a:pt x="168" y="49"/>
                    <a:pt x="167" y="47"/>
                  </a:cubicBezTo>
                  <a:cubicBezTo>
                    <a:pt x="176" y="36"/>
                    <a:pt x="176" y="36"/>
                    <a:pt x="176" y="36"/>
                  </a:cubicBezTo>
                  <a:cubicBezTo>
                    <a:pt x="173" y="32"/>
                    <a:pt x="170" y="29"/>
                    <a:pt x="166" y="25"/>
                  </a:cubicBezTo>
                  <a:cubicBezTo>
                    <a:pt x="155" y="34"/>
                    <a:pt x="155" y="34"/>
                    <a:pt x="155" y="34"/>
                  </a:cubicBezTo>
                  <a:cubicBezTo>
                    <a:pt x="153" y="33"/>
                    <a:pt x="151" y="32"/>
                    <a:pt x="149" y="30"/>
                  </a:cubicBezTo>
                  <a:cubicBezTo>
                    <a:pt x="155" y="17"/>
                    <a:pt x="155" y="17"/>
                    <a:pt x="155" y="17"/>
                  </a:cubicBezTo>
                  <a:cubicBezTo>
                    <a:pt x="151" y="14"/>
                    <a:pt x="147" y="12"/>
                    <a:pt x="143" y="10"/>
                  </a:cubicBezTo>
                  <a:cubicBezTo>
                    <a:pt x="134" y="22"/>
                    <a:pt x="134" y="22"/>
                    <a:pt x="134" y="22"/>
                  </a:cubicBezTo>
                  <a:cubicBezTo>
                    <a:pt x="132" y="21"/>
                    <a:pt x="130" y="20"/>
                    <a:pt x="128" y="19"/>
                  </a:cubicBezTo>
                  <a:cubicBezTo>
                    <a:pt x="130" y="4"/>
                    <a:pt x="130" y="4"/>
                    <a:pt x="130" y="4"/>
                  </a:cubicBezTo>
                  <a:cubicBezTo>
                    <a:pt x="125" y="3"/>
                    <a:pt x="120" y="2"/>
                    <a:pt x="116" y="1"/>
                  </a:cubicBezTo>
                  <a:cubicBezTo>
                    <a:pt x="111" y="15"/>
                    <a:pt x="111" y="15"/>
                    <a:pt x="111" y="15"/>
                  </a:cubicBezTo>
                  <a:cubicBezTo>
                    <a:pt x="108" y="15"/>
                    <a:pt x="106" y="14"/>
                    <a:pt x="104" y="14"/>
                  </a:cubicBezTo>
                  <a:cubicBezTo>
                    <a:pt x="102" y="0"/>
                    <a:pt x="102" y="0"/>
                    <a:pt x="102" y="0"/>
                  </a:cubicBezTo>
                  <a:cubicBezTo>
                    <a:pt x="97" y="0"/>
                    <a:pt x="92" y="0"/>
                    <a:pt x="87" y="0"/>
                  </a:cubicBezTo>
                  <a:cubicBezTo>
                    <a:pt x="86" y="15"/>
                    <a:pt x="86" y="15"/>
                    <a:pt x="86" y="15"/>
                  </a:cubicBezTo>
                  <a:cubicBezTo>
                    <a:pt x="84" y="15"/>
                    <a:pt x="82" y="16"/>
                    <a:pt x="80" y="16"/>
                  </a:cubicBezTo>
                  <a:cubicBezTo>
                    <a:pt x="73" y="3"/>
                    <a:pt x="73" y="3"/>
                    <a:pt x="73" y="3"/>
                  </a:cubicBezTo>
                  <a:cubicBezTo>
                    <a:pt x="69" y="4"/>
                    <a:pt x="64" y="6"/>
                    <a:pt x="60" y="8"/>
                  </a:cubicBezTo>
                  <a:cubicBezTo>
                    <a:pt x="63" y="22"/>
                    <a:pt x="63" y="22"/>
                    <a:pt x="63" y="22"/>
                  </a:cubicBezTo>
                  <a:cubicBezTo>
                    <a:pt x="61" y="23"/>
                    <a:pt x="59" y="24"/>
                    <a:pt x="57" y="25"/>
                  </a:cubicBezTo>
                  <a:cubicBezTo>
                    <a:pt x="47" y="14"/>
                    <a:pt x="47" y="14"/>
                    <a:pt x="47" y="14"/>
                  </a:cubicBezTo>
                  <a:cubicBezTo>
                    <a:pt x="43" y="17"/>
                    <a:pt x="39" y="20"/>
                    <a:pt x="36" y="23"/>
                  </a:cubicBezTo>
                  <a:cubicBezTo>
                    <a:pt x="43" y="36"/>
                    <a:pt x="43" y="36"/>
                    <a:pt x="43" y="36"/>
                  </a:cubicBezTo>
                  <a:cubicBezTo>
                    <a:pt x="41" y="37"/>
                    <a:pt x="40" y="39"/>
                    <a:pt x="38" y="40"/>
                  </a:cubicBezTo>
                  <a:cubicBezTo>
                    <a:pt x="25" y="32"/>
                    <a:pt x="25" y="32"/>
                    <a:pt x="25" y="32"/>
                  </a:cubicBezTo>
                  <a:cubicBezTo>
                    <a:pt x="22" y="36"/>
                    <a:pt x="19" y="40"/>
                    <a:pt x="17" y="44"/>
                  </a:cubicBezTo>
                  <a:cubicBezTo>
                    <a:pt x="27" y="54"/>
                    <a:pt x="27" y="54"/>
                    <a:pt x="27" y="54"/>
                  </a:cubicBezTo>
                  <a:cubicBezTo>
                    <a:pt x="26" y="56"/>
                    <a:pt x="25" y="58"/>
                    <a:pt x="24" y="60"/>
                  </a:cubicBezTo>
                  <a:cubicBezTo>
                    <a:pt x="10" y="56"/>
                    <a:pt x="10" y="56"/>
                    <a:pt x="10" y="56"/>
                  </a:cubicBezTo>
                  <a:cubicBezTo>
                    <a:pt x="8" y="60"/>
                    <a:pt x="6" y="65"/>
                    <a:pt x="4" y="69"/>
                  </a:cubicBezTo>
                  <a:cubicBezTo>
                    <a:pt x="17" y="76"/>
                    <a:pt x="17" y="76"/>
                    <a:pt x="17" y="76"/>
                  </a:cubicBezTo>
                  <a:cubicBezTo>
                    <a:pt x="17" y="78"/>
                    <a:pt x="16" y="80"/>
                    <a:pt x="16" y="83"/>
                  </a:cubicBezTo>
                  <a:cubicBezTo>
                    <a:pt x="1" y="83"/>
                    <a:pt x="1" y="83"/>
                    <a:pt x="1" y="83"/>
                  </a:cubicBezTo>
                  <a:cubicBezTo>
                    <a:pt x="0" y="88"/>
                    <a:pt x="0" y="92"/>
                    <a:pt x="0" y="97"/>
                  </a:cubicBezTo>
                  <a:cubicBezTo>
                    <a:pt x="14" y="100"/>
                    <a:pt x="14" y="100"/>
                    <a:pt x="14" y="100"/>
                  </a:cubicBezTo>
                  <a:cubicBezTo>
                    <a:pt x="14" y="102"/>
                    <a:pt x="14" y="105"/>
                    <a:pt x="15" y="107"/>
                  </a:cubicBezTo>
                  <a:cubicBezTo>
                    <a:pt x="0" y="111"/>
                    <a:pt x="0" y="111"/>
                    <a:pt x="0" y="111"/>
                  </a:cubicBezTo>
                  <a:cubicBezTo>
                    <a:pt x="1" y="116"/>
                    <a:pt x="2" y="121"/>
                    <a:pt x="3" y="125"/>
                  </a:cubicBezTo>
                  <a:cubicBezTo>
                    <a:pt x="18" y="124"/>
                    <a:pt x="18" y="124"/>
                    <a:pt x="18" y="124"/>
                  </a:cubicBezTo>
                  <a:cubicBezTo>
                    <a:pt x="19" y="126"/>
                    <a:pt x="19" y="128"/>
                    <a:pt x="20" y="130"/>
                  </a:cubicBezTo>
                  <a:cubicBezTo>
                    <a:pt x="8" y="139"/>
                    <a:pt x="8" y="139"/>
                    <a:pt x="8" y="139"/>
                  </a:cubicBezTo>
                  <a:cubicBezTo>
                    <a:pt x="8" y="139"/>
                    <a:pt x="8" y="139"/>
                    <a:pt x="8" y="139"/>
                  </a:cubicBezTo>
                  <a:cubicBezTo>
                    <a:pt x="10" y="144"/>
                    <a:pt x="12" y="148"/>
                    <a:pt x="14" y="151"/>
                  </a:cubicBezTo>
                  <a:cubicBezTo>
                    <a:pt x="28" y="146"/>
                    <a:pt x="28" y="146"/>
                    <a:pt x="28" y="146"/>
                  </a:cubicBezTo>
                  <a:cubicBezTo>
                    <a:pt x="29" y="148"/>
                    <a:pt x="31" y="150"/>
                    <a:pt x="32" y="152"/>
                  </a:cubicBezTo>
                  <a:cubicBezTo>
                    <a:pt x="23" y="163"/>
                    <a:pt x="23" y="163"/>
                    <a:pt x="23" y="163"/>
                  </a:cubicBezTo>
                  <a:cubicBezTo>
                    <a:pt x="26" y="167"/>
                    <a:pt x="29" y="170"/>
                    <a:pt x="32" y="173"/>
                  </a:cubicBezTo>
                  <a:cubicBezTo>
                    <a:pt x="44" y="164"/>
                    <a:pt x="44" y="164"/>
                    <a:pt x="44" y="164"/>
                  </a:cubicBezTo>
                  <a:cubicBezTo>
                    <a:pt x="46" y="166"/>
                    <a:pt x="48" y="167"/>
                    <a:pt x="50" y="168"/>
                  </a:cubicBezTo>
                  <a:cubicBezTo>
                    <a:pt x="44" y="182"/>
                    <a:pt x="44" y="182"/>
                    <a:pt x="44" y="182"/>
                  </a:cubicBezTo>
                  <a:cubicBezTo>
                    <a:pt x="48" y="185"/>
                    <a:pt x="52" y="187"/>
                    <a:pt x="56" y="189"/>
                  </a:cubicBezTo>
                  <a:cubicBezTo>
                    <a:pt x="65" y="177"/>
                    <a:pt x="65" y="177"/>
                    <a:pt x="65" y="177"/>
                  </a:cubicBezTo>
                  <a:cubicBezTo>
                    <a:pt x="67" y="178"/>
                    <a:pt x="69" y="179"/>
                    <a:pt x="71" y="180"/>
                  </a:cubicBezTo>
                  <a:cubicBezTo>
                    <a:pt x="69" y="194"/>
                    <a:pt x="69" y="194"/>
                    <a:pt x="69" y="194"/>
                  </a:cubicBezTo>
                  <a:cubicBezTo>
                    <a:pt x="74" y="196"/>
                    <a:pt x="78" y="197"/>
                    <a:pt x="83" y="198"/>
                  </a:cubicBezTo>
                  <a:cubicBezTo>
                    <a:pt x="88" y="184"/>
                    <a:pt x="88" y="184"/>
                    <a:pt x="88" y="184"/>
                  </a:cubicBezTo>
                  <a:cubicBezTo>
                    <a:pt x="90" y="184"/>
                    <a:pt x="93" y="184"/>
                    <a:pt x="95" y="184"/>
                  </a:cubicBezTo>
                  <a:lnTo>
                    <a:pt x="97" y="199"/>
                  </a:lnTo>
                  <a:close/>
                  <a:moveTo>
                    <a:pt x="32" y="129"/>
                  </a:moveTo>
                  <a:cubicBezTo>
                    <a:pt x="16" y="92"/>
                    <a:pt x="33" y="48"/>
                    <a:pt x="70" y="32"/>
                  </a:cubicBezTo>
                  <a:cubicBezTo>
                    <a:pt x="107" y="16"/>
                    <a:pt x="151" y="33"/>
                    <a:pt x="167" y="70"/>
                  </a:cubicBezTo>
                  <a:cubicBezTo>
                    <a:pt x="183" y="107"/>
                    <a:pt x="166" y="150"/>
                    <a:pt x="129" y="167"/>
                  </a:cubicBezTo>
                  <a:cubicBezTo>
                    <a:pt x="92" y="183"/>
                    <a:pt x="48" y="166"/>
                    <a:pt x="32" y="129"/>
                  </a:cubicBezTo>
                  <a:close/>
                </a:path>
              </a:pathLst>
            </a:custGeom>
            <a:solidFill>
              <a:schemeClr val="accent1">
                <a:lumMod val="75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7" name="Freeform 13"/>
            <p:cNvSpPr>
              <a:spLocks noEditPoints="1"/>
            </p:cNvSpPr>
            <p:nvPr/>
          </p:nvSpPr>
          <p:spPr bwMode="auto">
            <a:xfrm>
              <a:off x="8816975" y="1510282"/>
              <a:ext cx="288925" cy="290513"/>
            </a:xfrm>
            <a:custGeom>
              <a:avLst/>
              <a:gdLst>
                <a:gd name="T0" fmla="*/ 145 w 161"/>
                <a:gd name="T1" fmla="*/ 52 h 161"/>
                <a:gd name="T2" fmla="*/ 52 w 161"/>
                <a:gd name="T3" fmla="*/ 15 h 161"/>
                <a:gd name="T4" fmla="*/ 16 w 161"/>
                <a:gd name="T5" fmla="*/ 109 h 161"/>
                <a:gd name="T6" fmla="*/ 109 w 161"/>
                <a:gd name="T7" fmla="*/ 145 h 161"/>
                <a:gd name="T8" fmla="*/ 145 w 161"/>
                <a:gd name="T9" fmla="*/ 52 h 161"/>
                <a:gd name="T10" fmla="*/ 25 w 161"/>
                <a:gd name="T11" fmla="*/ 104 h 161"/>
                <a:gd name="T12" fmla="*/ 56 w 161"/>
                <a:gd name="T13" fmla="*/ 25 h 161"/>
                <a:gd name="T14" fmla="*/ 135 w 161"/>
                <a:gd name="T15" fmla="*/ 56 h 161"/>
                <a:gd name="T16" fmla="*/ 105 w 161"/>
                <a:gd name="T17" fmla="*/ 135 h 161"/>
                <a:gd name="T18" fmla="*/ 25 w 161"/>
                <a:gd name="T19" fmla="*/ 104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61" h="161">
                  <a:moveTo>
                    <a:pt x="145" y="52"/>
                  </a:moveTo>
                  <a:cubicBezTo>
                    <a:pt x="130" y="16"/>
                    <a:pt x="88" y="0"/>
                    <a:pt x="52" y="15"/>
                  </a:cubicBezTo>
                  <a:cubicBezTo>
                    <a:pt x="16" y="31"/>
                    <a:pt x="0" y="73"/>
                    <a:pt x="16" y="109"/>
                  </a:cubicBezTo>
                  <a:cubicBezTo>
                    <a:pt x="31" y="145"/>
                    <a:pt x="73" y="161"/>
                    <a:pt x="109" y="145"/>
                  </a:cubicBezTo>
                  <a:cubicBezTo>
                    <a:pt x="145" y="130"/>
                    <a:pt x="161" y="88"/>
                    <a:pt x="145" y="52"/>
                  </a:cubicBezTo>
                  <a:close/>
                  <a:moveTo>
                    <a:pt x="25" y="104"/>
                  </a:moveTo>
                  <a:cubicBezTo>
                    <a:pt x="12" y="74"/>
                    <a:pt x="26" y="39"/>
                    <a:pt x="56" y="25"/>
                  </a:cubicBezTo>
                  <a:cubicBezTo>
                    <a:pt x="87" y="12"/>
                    <a:pt x="122" y="26"/>
                    <a:pt x="135" y="56"/>
                  </a:cubicBezTo>
                  <a:cubicBezTo>
                    <a:pt x="149" y="87"/>
                    <a:pt x="135" y="122"/>
                    <a:pt x="105" y="135"/>
                  </a:cubicBezTo>
                  <a:cubicBezTo>
                    <a:pt x="74" y="149"/>
                    <a:pt x="39" y="135"/>
                    <a:pt x="25" y="104"/>
                  </a:cubicBezTo>
                  <a:close/>
                </a:path>
              </a:pathLst>
            </a:custGeom>
            <a:solidFill>
              <a:schemeClr val="accent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sp>
          <p:nvSpPr>
            <p:cNvPr id="14" name="Freeform 14"/>
            <p:cNvSpPr>
              <a:spLocks noEditPoints="1"/>
            </p:cNvSpPr>
            <p:nvPr/>
          </p:nvSpPr>
          <p:spPr bwMode="auto">
            <a:xfrm>
              <a:off x="8947150" y="1803400"/>
              <a:ext cx="417513" cy="415925"/>
            </a:xfrm>
            <a:custGeom>
              <a:avLst/>
              <a:gdLst>
                <a:gd name="T0" fmla="*/ 91 w 231"/>
                <a:gd name="T1" fmla="*/ 214 h 231"/>
                <a:gd name="T2" fmla="*/ 102 w 231"/>
                <a:gd name="T3" fmla="*/ 216 h 231"/>
                <a:gd name="T4" fmla="*/ 116 w 231"/>
                <a:gd name="T5" fmla="*/ 231 h 231"/>
                <a:gd name="T6" fmla="*/ 127 w 231"/>
                <a:gd name="T7" fmla="*/ 217 h 231"/>
                <a:gd name="T8" fmla="*/ 139 w 231"/>
                <a:gd name="T9" fmla="*/ 215 h 231"/>
                <a:gd name="T10" fmla="*/ 160 w 231"/>
                <a:gd name="T11" fmla="*/ 223 h 231"/>
                <a:gd name="T12" fmla="*/ 170 w 231"/>
                <a:gd name="T13" fmla="*/ 218 h 231"/>
                <a:gd name="T14" fmla="*/ 177 w 231"/>
                <a:gd name="T15" fmla="*/ 196 h 231"/>
                <a:gd name="T16" fmla="*/ 186 w 231"/>
                <a:gd name="T17" fmla="*/ 189 h 231"/>
                <a:gd name="T18" fmla="*/ 208 w 231"/>
                <a:gd name="T19" fmla="*/ 185 h 231"/>
                <a:gd name="T20" fmla="*/ 215 w 231"/>
                <a:gd name="T21" fmla="*/ 175 h 231"/>
                <a:gd name="T22" fmla="*/ 210 w 231"/>
                <a:gd name="T23" fmla="*/ 153 h 231"/>
                <a:gd name="T24" fmla="*/ 214 w 231"/>
                <a:gd name="T25" fmla="*/ 142 h 231"/>
                <a:gd name="T26" fmla="*/ 231 w 231"/>
                <a:gd name="T27" fmla="*/ 127 h 231"/>
                <a:gd name="T28" fmla="*/ 231 w 231"/>
                <a:gd name="T29" fmla="*/ 116 h 231"/>
                <a:gd name="T30" fmla="*/ 216 w 231"/>
                <a:gd name="T31" fmla="*/ 99 h 231"/>
                <a:gd name="T32" fmla="*/ 213 w 231"/>
                <a:gd name="T33" fmla="*/ 88 h 231"/>
                <a:gd name="T34" fmla="*/ 220 w 231"/>
                <a:gd name="T35" fmla="*/ 67 h 231"/>
                <a:gd name="T36" fmla="*/ 215 w 231"/>
                <a:gd name="T37" fmla="*/ 56 h 231"/>
                <a:gd name="T38" fmla="*/ 193 w 231"/>
                <a:gd name="T39" fmla="*/ 50 h 231"/>
                <a:gd name="T40" fmla="*/ 185 w 231"/>
                <a:gd name="T41" fmla="*/ 42 h 231"/>
                <a:gd name="T42" fmla="*/ 180 w 231"/>
                <a:gd name="T43" fmla="*/ 20 h 231"/>
                <a:gd name="T44" fmla="*/ 170 w 231"/>
                <a:gd name="T45" fmla="*/ 14 h 231"/>
                <a:gd name="T46" fmla="*/ 149 w 231"/>
                <a:gd name="T47" fmla="*/ 20 h 231"/>
                <a:gd name="T48" fmla="*/ 138 w 231"/>
                <a:gd name="T49" fmla="*/ 17 h 231"/>
                <a:gd name="T50" fmla="*/ 122 w 231"/>
                <a:gd name="T51" fmla="*/ 0 h 231"/>
                <a:gd name="T52" fmla="*/ 113 w 231"/>
                <a:gd name="T53" fmla="*/ 14 h 231"/>
                <a:gd name="T54" fmla="*/ 101 w 231"/>
                <a:gd name="T55" fmla="*/ 15 h 231"/>
                <a:gd name="T56" fmla="*/ 81 w 231"/>
                <a:gd name="T57" fmla="*/ 5 h 231"/>
                <a:gd name="T58" fmla="*/ 70 w 231"/>
                <a:gd name="T59" fmla="*/ 9 h 231"/>
                <a:gd name="T60" fmla="*/ 61 w 231"/>
                <a:gd name="T61" fmla="*/ 30 h 231"/>
                <a:gd name="T62" fmla="*/ 52 w 231"/>
                <a:gd name="T63" fmla="*/ 37 h 231"/>
                <a:gd name="T64" fmla="*/ 30 w 231"/>
                <a:gd name="T65" fmla="*/ 38 h 231"/>
                <a:gd name="T66" fmla="*/ 22 w 231"/>
                <a:gd name="T67" fmla="*/ 47 h 231"/>
                <a:gd name="T68" fmla="*/ 25 w 231"/>
                <a:gd name="T69" fmla="*/ 70 h 231"/>
                <a:gd name="T70" fmla="*/ 20 w 231"/>
                <a:gd name="T71" fmla="*/ 80 h 231"/>
                <a:gd name="T72" fmla="*/ 2 w 231"/>
                <a:gd name="T73" fmla="*/ 93 h 231"/>
                <a:gd name="T74" fmla="*/ 0 w 231"/>
                <a:gd name="T75" fmla="*/ 105 h 231"/>
                <a:gd name="T76" fmla="*/ 14 w 231"/>
                <a:gd name="T77" fmla="*/ 123 h 231"/>
                <a:gd name="T78" fmla="*/ 16 w 231"/>
                <a:gd name="T79" fmla="*/ 134 h 231"/>
                <a:gd name="T80" fmla="*/ 7 w 231"/>
                <a:gd name="T81" fmla="*/ 155 h 231"/>
                <a:gd name="T82" fmla="*/ 11 w 231"/>
                <a:gd name="T83" fmla="*/ 166 h 231"/>
                <a:gd name="T84" fmla="*/ 32 w 231"/>
                <a:gd name="T85" fmla="*/ 174 h 231"/>
                <a:gd name="T86" fmla="*/ 39 w 231"/>
                <a:gd name="T87" fmla="*/ 183 h 231"/>
                <a:gd name="T88" fmla="*/ 42 w 231"/>
                <a:gd name="T89" fmla="*/ 205 h 231"/>
                <a:gd name="T90" fmla="*/ 52 w 231"/>
                <a:gd name="T91" fmla="*/ 212 h 231"/>
                <a:gd name="T92" fmla="*/ 74 w 231"/>
                <a:gd name="T93" fmla="*/ 208 h 231"/>
                <a:gd name="T94" fmla="*/ 176 w 231"/>
                <a:gd name="T95" fmla="*/ 87 h 231"/>
                <a:gd name="T96" fmla="*/ 147 w 231"/>
                <a:gd name="T97" fmla="*/ 116 h 231"/>
                <a:gd name="T98" fmla="*/ 144 w 231"/>
                <a:gd name="T99" fmla="*/ 55 h 231"/>
                <a:gd name="T100" fmla="*/ 116 w 231"/>
                <a:gd name="T101" fmla="*/ 26 h 231"/>
                <a:gd name="T102" fmla="*/ 103 w 231"/>
                <a:gd name="T103" fmla="*/ 116 h 231"/>
                <a:gd name="T104" fmla="*/ 116 w 231"/>
                <a:gd name="T105" fmla="*/ 148 h 231"/>
                <a:gd name="T106" fmla="*/ 87 w 231"/>
                <a:gd name="T107" fmla="*/ 176 h 231"/>
                <a:gd name="T108" fmla="*/ 26 w 231"/>
                <a:gd name="T109" fmla="*/ 116 h 231"/>
                <a:gd name="T110" fmla="*/ 55 w 231"/>
                <a:gd name="T111" fmla="*/ 145 h 2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231" h="231">
                  <a:moveTo>
                    <a:pt x="78" y="225"/>
                  </a:moveTo>
                  <a:cubicBezTo>
                    <a:pt x="84" y="212"/>
                    <a:pt x="84" y="212"/>
                    <a:pt x="84" y="212"/>
                  </a:cubicBezTo>
                  <a:cubicBezTo>
                    <a:pt x="87" y="213"/>
                    <a:pt x="89" y="214"/>
                    <a:pt x="91" y="214"/>
                  </a:cubicBezTo>
                  <a:cubicBezTo>
                    <a:pt x="90" y="229"/>
                    <a:pt x="90" y="229"/>
                    <a:pt x="90" y="229"/>
                  </a:cubicBezTo>
                  <a:cubicBezTo>
                    <a:pt x="92" y="229"/>
                    <a:pt x="95" y="230"/>
                    <a:pt x="98" y="230"/>
                  </a:cubicBezTo>
                  <a:cubicBezTo>
                    <a:pt x="102" y="216"/>
                    <a:pt x="102" y="216"/>
                    <a:pt x="102" y="216"/>
                  </a:cubicBezTo>
                  <a:cubicBezTo>
                    <a:pt x="104" y="217"/>
                    <a:pt x="107" y="217"/>
                    <a:pt x="109" y="217"/>
                  </a:cubicBezTo>
                  <a:cubicBezTo>
                    <a:pt x="110" y="231"/>
                    <a:pt x="110" y="231"/>
                    <a:pt x="110" y="231"/>
                  </a:cubicBezTo>
                  <a:cubicBezTo>
                    <a:pt x="112" y="231"/>
                    <a:pt x="114" y="231"/>
                    <a:pt x="116" y="231"/>
                  </a:cubicBezTo>
                  <a:cubicBezTo>
                    <a:pt x="117" y="231"/>
                    <a:pt x="118" y="231"/>
                    <a:pt x="119" y="231"/>
                  </a:cubicBezTo>
                  <a:cubicBezTo>
                    <a:pt x="120" y="217"/>
                    <a:pt x="120" y="217"/>
                    <a:pt x="120" y="217"/>
                  </a:cubicBezTo>
                  <a:cubicBezTo>
                    <a:pt x="123" y="217"/>
                    <a:pt x="125" y="217"/>
                    <a:pt x="127" y="217"/>
                  </a:cubicBezTo>
                  <a:cubicBezTo>
                    <a:pt x="131" y="230"/>
                    <a:pt x="131" y="230"/>
                    <a:pt x="131" y="230"/>
                  </a:cubicBezTo>
                  <a:cubicBezTo>
                    <a:pt x="134" y="230"/>
                    <a:pt x="137" y="230"/>
                    <a:pt x="140" y="229"/>
                  </a:cubicBezTo>
                  <a:cubicBezTo>
                    <a:pt x="139" y="215"/>
                    <a:pt x="139" y="215"/>
                    <a:pt x="139" y="215"/>
                  </a:cubicBezTo>
                  <a:cubicBezTo>
                    <a:pt x="141" y="214"/>
                    <a:pt x="143" y="214"/>
                    <a:pt x="145" y="213"/>
                  </a:cubicBezTo>
                  <a:cubicBezTo>
                    <a:pt x="151" y="226"/>
                    <a:pt x="151" y="226"/>
                    <a:pt x="151" y="226"/>
                  </a:cubicBezTo>
                  <a:cubicBezTo>
                    <a:pt x="154" y="225"/>
                    <a:pt x="157" y="224"/>
                    <a:pt x="160" y="223"/>
                  </a:cubicBezTo>
                  <a:cubicBezTo>
                    <a:pt x="156" y="209"/>
                    <a:pt x="156" y="209"/>
                    <a:pt x="156" y="209"/>
                  </a:cubicBezTo>
                  <a:cubicBezTo>
                    <a:pt x="158" y="208"/>
                    <a:pt x="160" y="207"/>
                    <a:pt x="162" y="206"/>
                  </a:cubicBezTo>
                  <a:cubicBezTo>
                    <a:pt x="170" y="218"/>
                    <a:pt x="170" y="218"/>
                    <a:pt x="170" y="218"/>
                  </a:cubicBezTo>
                  <a:cubicBezTo>
                    <a:pt x="173" y="216"/>
                    <a:pt x="176" y="215"/>
                    <a:pt x="178" y="213"/>
                  </a:cubicBezTo>
                  <a:cubicBezTo>
                    <a:pt x="172" y="200"/>
                    <a:pt x="172" y="200"/>
                    <a:pt x="172" y="200"/>
                  </a:cubicBezTo>
                  <a:cubicBezTo>
                    <a:pt x="174" y="199"/>
                    <a:pt x="176" y="198"/>
                    <a:pt x="177" y="196"/>
                  </a:cubicBezTo>
                  <a:cubicBezTo>
                    <a:pt x="188" y="206"/>
                    <a:pt x="188" y="206"/>
                    <a:pt x="188" y="206"/>
                  </a:cubicBezTo>
                  <a:cubicBezTo>
                    <a:pt x="190" y="204"/>
                    <a:pt x="192" y="202"/>
                    <a:pt x="194" y="200"/>
                  </a:cubicBezTo>
                  <a:cubicBezTo>
                    <a:pt x="186" y="189"/>
                    <a:pt x="186" y="189"/>
                    <a:pt x="186" y="189"/>
                  </a:cubicBezTo>
                  <a:cubicBezTo>
                    <a:pt x="188" y="187"/>
                    <a:pt x="189" y="186"/>
                    <a:pt x="191" y="184"/>
                  </a:cubicBezTo>
                  <a:cubicBezTo>
                    <a:pt x="203" y="192"/>
                    <a:pt x="203" y="192"/>
                    <a:pt x="203" y="192"/>
                  </a:cubicBezTo>
                  <a:cubicBezTo>
                    <a:pt x="205" y="190"/>
                    <a:pt x="207" y="187"/>
                    <a:pt x="208" y="185"/>
                  </a:cubicBezTo>
                  <a:cubicBezTo>
                    <a:pt x="198" y="175"/>
                    <a:pt x="198" y="175"/>
                    <a:pt x="198" y="175"/>
                  </a:cubicBezTo>
                  <a:cubicBezTo>
                    <a:pt x="199" y="173"/>
                    <a:pt x="201" y="171"/>
                    <a:pt x="202" y="169"/>
                  </a:cubicBezTo>
                  <a:cubicBezTo>
                    <a:pt x="215" y="175"/>
                    <a:pt x="215" y="175"/>
                    <a:pt x="215" y="175"/>
                  </a:cubicBezTo>
                  <a:cubicBezTo>
                    <a:pt x="216" y="173"/>
                    <a:pt x="218" y="170"/>
                    <a:pt x="219" y="167"/>
                  </a:cubicBezTo>
                  <a:cubicBezTo>
                    <a:pt x="207" y="159"/>
                    <a:pt x="207" y="159"/>
                    <a:pt x="207" y="159"/>
                  </a:cubicBezTo>
                  <a:cubicBezTo>
                    <a:pt x="208" y="157"/>
                    <a:pt x="209" y="155"/>
                    <a:pt x="210" y="153"/>
                  </a:cubicBezTo>
                  <a:cubicBezTo>
                    <a:pt x="224" y="156"/>
                    <a:pt x="224" y="156"/>
                    <a:pt x="224" y="156"/>
                  </a:cubicBezTo>
                  <a:cubicBezTo>
                    <a:pt x="225" y="154"/>
                    <a:pt x="226" y="151"/>
                    <a:pt x="227" y="148"/>
                  </a:cubicBezTo>
                  <a:cubicBezTo>
                    <a:pt x="214" y="142"/>
                    <a:pt x="214" y="142"/>
                    <a:pt x="214" y="142"/>
                  </a:cubicBezTo>
                  <a:cubicBezTo>
                    <a:pt x="214" y="140"/>
                    <a:pt x="215" y="138"/>
                    <a:pt x="215" y="136"/>
                  </a:cubicBezTo>
                  <a:cubicBezTo>
                    <a:pt x="229" y="136"/>
                    <a:pt x="229" y="136"/>
                    <a:pt x="229" y="136"/>
                  </a:cubicBezTo>
                  <a:cubicBezTo>
                    <a:pt x="230" y="133"/>
                    <a:pt x="230" y="130"/>
                    <a:pt x="231" y="127"/>
                  </a:cubicBezTo>
                  <a:cubicBezTo>
                    <a:pt x="217" y="124"/>
                    <a:pt x="217" y="124"/>
                    <a:pt x="217" y="124"/>
                  </a:cubicBezTo>
                  <a:cubicBezTo>
                    <a:pt x="217" y="122"/>
                    <a:pt x="217" y="120"/>
                    <a:pt x="217" y="117"/>
                  </a:cubicBezTo>
                  <a:cubicBezTo>
                    <a:pt x="231" y="116"/>
                    <a:pt x="231" y="116"/>
                    <a:pt x="231" y="116"/>
                  </a:cubicBezTo>
                  <a:cubicBezTo>
                    <a:pt x="231" y="113"/>
                    <a:pt x="231" y="110"/>
                    <a:pt x="231" y="107"/>
                  </a:cubicBezTo>
                  <a:cubicBezTo>
                    <a:pt x="217" y="106"/>
                    <a:pt x="217" y="106"/>
                    <a:pt x="217" y="106"/>
                  </a:cubicBezTo>
                  <a:cubicBezTo>
                    <a:pt x="216" y="104"/>
                    <a:pt x="216" y="102"/>
                    <a:pt x="216" y="99"/>
                  </a:cubicBezTo>
                  <a:cubicBezTo>
                    <a:pt x="229" y="95"/>
                    <a:pt x="229" y="95"/>
                    <a:pt x="229" y="95"/>
                  </a:cubicBezTo>
                  <a:cubicBezTo>
                    <a:pt x="229" y="92"/>
                    <a:pt x="228" y="89"/>
                    <a:pt x="227" y="86"/>
                  </a:cubicBezTo>
                  <a:cubicBezTo>
                    <a:pt x="213" y="88"/>
                    <a:pt x="213" y="88"/>
                    <a:pt x="213" y="88"/>
                  </a:cubicBezTo>
                  <a:cubicBezTo>
                    <a:pt x="213" y="86"/>
                    <a:pt x="212" y="84"/>
                    <a:pt x="211" y="82"/>
                  </a:cubicBezTo>
                  <a:cubicBezTo>
                    <a:pt x="224" y="75"/>
                    <a:pt x="224" y="75"/>
                    <a:pt x="224" y="75"/>
                  </a:cubicBezTo>
                  <a:cubicBezTo>
                    <a:pt x="223" y="72"/>
                    <a:pt x="222" y="69"/>
                    <a:pt x="220" y="67"/>
                  </a:cubicBezTo>
                  <a:cubicBezTo>
                    <a:pt x="207" y="71"/>
                    <a:pt x="207" y="71"/>
                    <a:pt x="207" y="71"/>
                  </a:cubicBezTo>
                  <a:cubicBezTo>
                    <a:pt x="206" y="69"/>
                    <a:pt x="205" y="67"/>
                    <a:pt x="204" y="65"/>
                  </a:cubicBezTo>
                  <a:cubicBezTo>
                    <a:pt x="215" y="56"/>
                    <a:pt x="215" y="56"/>
                    <a:pt x="215" y="56"/>
                  </a:cubicBezTo>
                  <a:cubicBezTo>
                    <a:pt x="213" y="54"/>
                    <a:pt x="212" y="51"/>
                    <a:pt x="210" y="49"/>
                  </a:cubicBezTo>
                  <a:cubicBezTo>
                    <a:pt x="197" y="56"/>
                    <a:pt x="197" y="56"/>
                    <a:pt x="197" y="56"/>
                  </a:cubicBezTo>
                  <a:cubicBezTo>
                    <a:pt x="196" y="54"/>
                    <a:pt x="195" y="52"/>
                    <a:pt x="193" y="50"/>
                  </a:cubicBezTo>
                  <a:cubicBezTo>
                    <a:pt x="203" y="40"/>
                    <a:pt x="203" y="40"/>
                    <a:pt x="203" y="40"/>
                  </a:cubicBezTo>
                  <a:cubicBezTo>
                    <a:pt x="201" y="37"/>
                    <a:pt x="199" y="35"/>
                    <a:pt x="196" y="33"/>
                  </a:cubicBezTo>
                  <a:cubicBezTo>
                    <a:pt x="185" y="42"/>
                    <a:pt x="185" y="42"/>
                    <a:pt x="185" y="42"/>
                  </a:cubicBezTo>
                  <a:cubicBezTo>
                    <a:pt x="184" y="40"/>
                    <a:pt x="182" y="39"/>
                    <a:pt x="180" y="38"/>
                  </a:cubicBezTo>
                  <a:cubicBezTo>
                    <a:pt x="188" y="25"/>
                    <a:pt x="188" y="25"/>
                    <a:pt x="188" y="25"/>
                  </a:cubicBezTo>
                  <a:cubicBezTo>
                    <a:pt x="185" y="23"/>
                    <a:pt x="183" y="22"/>
                    <a:pt x="180" y="20"/>
                  </a:cubicBezTo>
                  <a:cubicBezTo>
                    <a:pt x="171" y="31"/>
                    <a:pt x="171" y="31"/>
                    <a:pt x="171" y="31"/>
                  </a:cubicBezTo>
                  <a:cubicBezTo>
                    <a:pt x="169" y="30"/>
                    <a:pt x="167" y="28"/>
                    <a:pt x="165" y="27"/>
                  </a:cubicBezTo>
                  <a:cubicBezTo>
                    <a:pt x="170" y="14"/>
                    <a:pt x="170" y="14"/>
                    <a:pt x="170" y="14"/>
                  </a:cubicBezTo>
                  <a:cubicBezTo>
                    <a:pt x="168" y="12"/>
                    <a:pt x="165" y="11"/>
                    <a:pt x="162" y="10"/>
                  </a:cubicBezTo>
                  <a:cubicBezTo>
                    <a:pt x="155" y="22"/>
                    <a:pt x="155" y="22"/>
                    <a:pt x="155" y="22"/>
                  </a:cubicBezTo>
                  <a:cubicBezTo>
                    <a:pt x="153" y="21"/>
                    <a:pt x="151" y="21"/>
                    <a:pt x="149" y="20"/>
                  </a:cubicBezTo>
                  <a:cubicBezTo>
                    <a:pt x="151" y="6"/>
                    <a:pt x="151" y="6"/>
                    <a:pt x="151" y="6"/>
                  </a:cubicBezTo>
                  <a:cubicBezTo>
                    <a:pt x="149" y="5"/>
                    <a:pt x="146" y="4"/>
                    <a:pt x="143" y="3"/>
                  </a:cubicBezTo>
                  <a:cubicBezTo>
                    <a:pt x="138" y="17"/>
                    <a:pt x="138" y="17"/>
                    <a:pt x="138" y="17"/>
                  </a:cubicBezTo>
                  <a:cubicBezTo>
                    <a:pt x="135" y="16"/>
                    <a:pt x="133" y="16"/>
                    <a:pt x="131" y="15"/>
                  </a:cubicBezTo>
                  <a:cubicBezTo>
                    <a:pt x="131" y="1"/>
                    <a:pt x="131" y="1"/>
                    <a:pt x="131" y="1"/>
                  </a:cubicBezTo>
                  <a:cubicBezTo>
                    <a:pt x="128" y="1"/>
                    <a:pt x="125" y="0"/>
                    <a:pt x="122" y="0"/>
                  </a:cubicBezTo>
                  <a:cubicBezTo>
                    <a:pt x="120" y="14"/>
                    <a:pt x="120" y="14"/>
                    <a:pt x="120" y="14"/>
                  </a:cubicBezTo>
                  <a:cubicBezTo>
                    <a:pt x="118" y="14"/>
                    <a:pt x="117" y="14"/>
                    <a:pt x="116" y="14"/>
                  </a:cubicBezTo>
                  <a:cubicBezTo>
                    <a:pt x="115" y="14"/>
                    <a:pt x="114" y="14"/>
                    <a:pt x="113" y="14"/>
                  </a:cubicBezTo>
                  <a:cubicBezTo>
                    <a:pt x="111" y="0"/>
                    <a:pt x="111" y="0"/>
                    <a:pt x="111" y="0"/>
                  </a:cubicBezTo>
                  <a:cubicBezTo>
                    <a:pt x="108" y="0"/>
                    <a:pt x="105" y="1"/>
                    <a:pt x="102" y="1"/>
                  </a:cubicBezTo>
                  <a:cubicBezTo>
                    <a:pt x="101" y="15"/>
                    <a:pt x="101" y="15"/>
                    <a:pt x="101" y="15"/>
                  </a:cubicBezTo>
                  <a:cubicBezTo>
                    <a:pt x="99" y="16"/>
                    <a:pt x="97" y="16"/>
                    <a:pt x="95" y="16"/>
                  </a:cubicBezTo>
                  <a:cubicBezTo>
                    <a:pt x="90" y="3"/>
                    <a:pt x="90" y="3"/>
                    <a:pt x="90" y="3"/>
                  </a:cubicBezTo>
                  <a:cubicBezTo>
                    <a:pt x="87" y="4"/>
                    <a:pt x="84" y="4"/>
                    <a:pt x="81" y="5"/>
                  </a:cubicBezTo>
                  <a:cubicBezTo>
                    <a:pt x="84" y="19"/>
                    <a:pt x="84" y="19"/>
                    <a:pt x="84" y="19"/>
                  </a:cubicBezTo>
                  <a:cubicBezTo>
                    <a:pt x="82" y="20"/>
                    <a:pt x="80" y="21"/>
                    <a:pt x="78" y="22"/>
                  </a:cubicBezTo>
                  <a:cubicBezTo>
                    <a:pt x="70" y="9"/>
                    <a:pt x="70" y="9"/>
                    <a:pt x="70" y="9"/>
                  </a:cubicBezTo>
                  <a:cubicBezTo>
                    <a:pt x="68" y="10"/>
                    <a:pt x="65" y="12"/>
                    <a:pt x="62" y="13"/>
                  </a:cubicBezTo>
                  <a:cubicBezTo>
                    <a:pt x="67" y="27"/>
                    <a:pt x="67" y="27"/>
                    <a:pt x="67" y="27"/>
                  </a:cubicBezTo>
                  <a:cubicBezTo>
                    <a:pt x="65" y="28"/>
                    <a:pt x="63" y="29"/>
                    <a:pt x="61" y="30"/>
                  </a:cubicBezTo>
                  <a:cubicBezTo>
                    <a:pt x="52" y="19"/>
                    <a:pt x="52" y="19"/>
                    <a:pt x="52" y="19"/>
                  </a:cubicBezTo>
                  <a:cubicBezTo>
                    <a:pt x="50" y="21"/>
                    <a:pt x="47" y="22"/>
                    <a:pt x="45" y="24"/>
                  </a:cubicBezTo>
                  <a:cubicBezTo>
                    <a:pt x="52" y="37"/>
                    <a:pt x="52" y="37"/>
                    <a:pt x="52" y="37"/>
                  </a:cubicBezTo>
                  <a:cubicBezTo>
                    <a:pt x="50" y="38"/>
                    <a:pt x="49" y="39"/>
                    <a:pt x="47" y="41"/>
                  </a:cubicBezTo>
                  <a:cubicBezTo>
                    <a:pt x="36" y="32"/>
                    <a:pt x="36" y="32"/>
                    <a:pt x="36" y="32"/>
                  </a:cubicBezTo>
                  <a:cubicBezTo>
                    <a:pt x="34" y="34"/>
                    <a:pt x="32" y="36"/>
                    <a:pt x="30" y="38"/>
                  </a:cubicBezTo>
                  <a:cubicBezTo>
                    <a:pt x="39" y="49"/>
                    <a:pt x="39" y="49"/>
                    <a:pt x="39" y="49"/>
                  </a:cubicBezTo>
                  <a:cubicBezTo>
                    <a:pt x="38" y="51"/>
                    <a:pt x="36" y="53"/>
                    <a:pt x="35" y="54"/>
                  </a:cubicBezTo>
                  <a:cubicBezTo>
                    <a:pt x="22" y="47"/>
                    <a:pt x="22" y="47"/>
                    <a:pt x="22" y="47"/>
                  </a:cubicBezTo>
                  <a:cubicBezTo>
                    <a:pt x="20" y="50"/>
                    <a:pt x="19" y="52"/>
                    <a:pt x="17" y="55"/>
                  </a:cubicBezTo>
                  <a:cubicBezTo>
                    <a:pt x="28" y="64"/>
                    <a:pt x="28" y="64"/>
                    <a:pt x="28" y="64"/>
                  </a:cubicBezTo>
                  <a:cubicBezTo>
                    <a:pt x="27" y="66"/>
                    <a:pt x="26" y="68"/>
                    <a:pt x="25" y="70"/>
                  </a:cubicBezTo>
                  <a:cubicBezTo>
                    <a:pt x="12" y="65"/>
                    <a:pt x="12" y="65"/>
                    <a:pt x="12" y="65"/>
                  </a:cubicBezTo>
                  <a:cubicBezTo>
                    <a:pt x="10" y="68"/>
                    <a:pt x="9" y="71"/>
                    <a:pt x="8" y="73"/>
                  </a:cubicBezTo>
                  <a:cubicBezTo>
                    <a:pt x="20" y="80"/>
                    <a:pt x="20" y="80"/>
                    <a:pt x="20" y="80"/>
                  </a:cubicBezTo>
                  <a:cubicBezTo>
                    <a:pt x="20" y="82"/>
                    <a:pt x="19" y="84"/>
                    <a:pt x="18" y="87"/>
                  </a:cubicBezTo>
                  <a:cubicBezTo>
                    <a:pt x="4" y="85"/>
                    <a:pt x="4" y="85"/>
                    <a:pt x="4" y="85"/>
                  </a:cubicBezTo>
                  <a:cubicBezTo>
                    <a:pt x="3" y="87"/>
                    <a:pt x="3" y="90"/>
                    <a:pt x="2" y="93"/>
                  </a:cubicBezTo>
                  <a:cubicBezTo>
                    <a:pt x="16" y="98"/>
                    <a:pt x="16" y="98"/>
                    <a:pt x="16" y="98"/>
                  </a:cubicBezTo>
                  <a:cubicBezTo>
                    <a:pt x="15" y="100"/>
                    <a:pt x="15" y="102"/>
                    <a:pt x="15" y="104"/>
                  </a:cubicBezTo>
                  <a:cubicBezTo>
                    <a:pt x="0" y="105"/>
                    <a:pt x="0" y="105"/>
                    <a:pt x="0" y="105"/>
                  </a:cubicBezTo>
                  <a:cubicBezTo>
                    <a:pt x="0" y="108"/>
                    <a:pt x="0" y="111"/>
                    <a:pt x="0" y="114"/>
                  </a:cubicBezTo>
                  <a:cubicBezTo>
                    <a:pt x="14" y="116"/>
                    <a:pt x="14" y="116"/>
                    <a:pt x="14" y="116"/>
                  </a:cubicBezTo>
                  <a:cubicBezTo>
                    <a:pt x="14" y="118"/>
                    <a:pt x="14" y="120"/>
                    <a:pt x="14" y="123"/>
                  </a:cubicBezTo>
                  <a:cubicBezTo>
                    <a:pt x="0" y="126"/>
                    <a:pt x="0" y="126"/>
                    <a:pt x="0" y="126"/>
                  </a:cubicBezTo>
                  <a:cubicBezTo>
                    <a:pt x="1" y="129"/>
                    <a:pt x="1" y="132"/>
                    <a:pt x="1" y="135"/>
                  </a:cubicBezTo>
                  <a:cubicBezTo>
                    <a:pt x="16" y="134"/>
                    <a:pt x="16" y="134"/>
                    <a:pt x="16" y="134"/>
                  </a:cubicBezTo>
                  <a:cubicBezTo>
                    <a:pt x="16" y="136"/>
                    <a:pt x="17" y="138"/>
                    <a:pt x="17" y="141"/>
                  </a:cubicBezTo>
                  <a:cubicBezTo>
                    <a:pt x="4" y="146"/>
                    <a:pt x="4" y="146"/>
                    <a:pt x="4" y="146"/>
                  </a:cubicBezTo>
                  <a:cubicBezTo>
                    <a:pt x="5" y="149"/>
                    <a:pt x="6" y="152"/>
                    <a:pt x="7" y="155"/>
                  </a:cubicBezTo>
                  <a:cubicBezTo>
                    <a:pt x="21" y="152"/>
                    <a:pt x="21" y="152"/>
                    <a:pt x="21" y="152"/>
                  </a:cubicBezTo>
                  <a:cubicBezTo>
                    <a:pt x="21" y="154"/>
                    <a:pt x="22" y="156"/>
                    <a:pt x="23" y="158"/>
                  </a:cubicBezTo>
                  <a:cubicBezTo>
                    <a:pt x="11" y="166"/>
                    <a:pt x="11" y="166"/>
                    <a:pt x="11" y="166"/>
                  </a:cubicBezTo>
                  <a:cubicBezTo>
                    <a:pt x="12" y="168"/>
                    <a:pt x="14" y="171"/>
                    <a:pt x="15" y="173"/>
                  </a:cubicBezTo>
                  <a:cubicBezTo>
                    <a:pt x="29" y="168"/>
                    <a:pt x="29" y="168"/>
                    <a:pt x="29" y="168"/>
                  </a:cubicBezTo>
                  <a:cubicBezTo>
                    <a:pt x="30" y="170"/>
                    <a:pt x="31" y="172"/>
                    <a:pt x="32" y="174"/>
                  </a:cubicBezTo>
                  <a:cubicBezTo>
                    <a:pt x="22" y="183"/>
                    <a:pt x="22" y="183"/>
                    <a:pt x="22" y="183"/>
                  </a:cubicBezTo>
                  <a:cubicBezTo>
                    <a:pt x="23" y="186"/>
                    <a:pt x="25" y="188"/>
                    <a:pt x="27" y="190"/>
                  </a:cubicBezTo>
                  <a:cubicBezTo>
                    <a:pt x="39" y="183"/>
                    <a:pt x="39" y="183"/>
                    <a:pt x="39" y="183"/>
                  </a:cubicBezTo>
                  <a:cubicBezTo>
                    <a:pt x="41" y="184"/>
                    <a:pt x="42" y="186"/>
                    <a:pt x="44" y="188"/>
                  </a:cubicBezTo>
                  <a:cubicBezTo>
                    <a:pt x="35" y="199"/>
                    <a:pt x="35" y="199"/>
                    <a:pt x="35" y="199"/>
                  </a:cubicBezTo>
                  <a:cubicBezTo>
                    <a:pt x="37" y="201"/>
                    <a:pt x="40" y="203"/>
                    <a:pt x="42" y="205"/>
                  </a:cubicBezTo>
                  <a:cubicBezTo>
                    <a:pt x="52" y="195"/>
                    <a:pt x="52" y="195"/>
                    <a:pt x="52" y="195"/>
                  </a:cubicBezTo>
                  <a:cubicBezTo>
                    <a:pt x="54" y="197"/>
                    <a:pt x="56" y="198"/>
                    <a:pt x="58" y="199"/>
                  </a:cubicBezTo>
                  <a:cubicBezTo>
                    <a:pt x="52" y="212"/>
                    <a:pt x="52" y="212"/>
                    <a:pt x="52" y="212"/>
                  </a:cubicBezTo>
                  <a:cubicBezTo>
                    <a:pt x="54" y="214"/>
                    <a:pt x="57" y="215"/>
                    <a:pt x="59" y="217"/>
                  </a:cubicBezTo>
                  <a:cubicBezTo>
                    <a:pt x="68" y="205"/>
                    <a:pt x="68" y="205"/>
                    <a:pt x="68" y="205"/>
                  </a:cubicBezTo>
                  <a:cubicBezTo>
                    <a:pt x="70" y="206"/>
                    <a:pt x="72" y="207"/>
                    <a:pt x="74" y="208"/>
                  </a:cubicBezTo>
                  <a:cubicBezTo>
                    <a:pt x="70" y="222"/>
                    <a:pt x="70" y="222"/>
                    <a:pt x="70" y="222"/>
                  </a:cubicBezTo>
                  <a:cubicBezTo>
                    <a:pt x="73" y="223"/>
                    <a:pt x="75" y="224"/>
                    <a:pt x="78" y="225"/>
                  </a:cubicBezTo>
                  <a:close/>
                  <a:moveTo>
                    <a:pt x="176" y="87"/>
                  </a:moveTo>
                  <a:cubicBezTo>
                    <a:pt x="192" y="87"/>
                    <a:pt x="205" y="100"/>
                    <a:pt x="205" y="116"/>
                  </a:cubicBezTo>
                  <a:cubicBezTo>
                    <a:pt x="205" y="132"/>
                    <a:pt x="192" y="145"/>
                    <a:pt x="176" y="145"/>
                  </a:cubicBezTo>
                  <a:cubicBezTo>
                    <a:pt x="160" y="145"/>
                    <a:pt x="147" y="132"/>
                    <a:pt x="147" y="116"/>
                  </a:cubicBezTo>
                  <a:cubicBezTo>
                    <a:pt x="147" y="100"/>
                    <a:pt x="160" y="87"/>
                    <a:pt x="176" y="87"/>
                  </a:cubicBezTo>
                  <a:close/>
                  <a:moveTo>
                    <a:pt x="116" y="26"/>
                  </a:moveTo>
                  <a:cubicBezTo>
                    <a:pt x="131" y="26"/>
                    <a:pt x="144" y="39"/>
                    <a:pt x="144" y="55"/>
                  </a:cubicBezTo>
                  <a:cubicBezTo>
                    <a:pt x="144" y="71"/>
                    <a:pt x="131" y="84"/>
                    <a:pt x="116" y="84"/>
                  </a:cubicBezTo>
                  <a:cubicBezTo>
                    <a:pt x="100" y="84"/>
                    <a:pt x="87" y="71"/>
                    <a:pt x="87" y="55"/>
                  </a:cubicBezTo>
                  <a:cubicBezTo>
                    <a:pt x="87" y="39"/>
                    <a:pt x="100" y="26"/>
                    <a:pt x="116" y="26"/>
                  </a:cubicBezTo>
                  <a:close/>
                  <a:moveTo>
                    <a:pt x="128" y="116"/>
                  </a:moveTo>
                  <a:cubicBezTo>
                    <a:pt x="128" y="123"/>
                    <a:pt x="123" y="128"/>
                    <a:pt x="116" y="128"/>
                  </a:cubicBezTo>
                  <a:cubicBezTo>
                    <a:pt x="109" y="128"/>
                    <a:pt x="103" y="123"/>
                    <a:pt x="103" y="116"/>
                  </a:cubicBezTo>
                  <a:cubicBezTo>
                    <a:pt x="103" y="109"/>
                    <a:pt x="109" y="103"/>
                    <a:pt x="116" y="103"/>
                  </a:cubicBezTo>
                  <a:cubicBezTo>
                    <a:pt x="123" y="103"/>
                    <a:pt x="128" y="109"/>
                    <a:pt x="128" y="116"/>
                  </a:cubicBezTo>
                  <a:close/>
                  <a:moveTo>
                    <a:pt x="116" y="148"/>
                  </a:moveTo>
                  <a:cubicBezTo>
                    <a:pt x="131" y="148"/>
                    <a:pt x="144" y="161"/>
                    <a:pt x="144" y="176"/>
                  </a:cubicBezTo>
                  <a:cubicBezTo>
                    <a:pt x="144" y="192"/>
                    <a:pt x="131" y="205"/>
                    <a:pt x="116" y="205"/>
                  </a:cubicBezTo>
                  <a:cubicBezTo>
                    <a:pt x="100" y="205"/>
                    <a:pt x="87" y="192"/>
                    <a:pt x="87" y="176"/>
                  </a:cubicBezTo>
                  <a:cubicBezTo>
                    <a:pt x="87" y="161"/>
                    <a:pt x="100" y="148"/>
                    <a:pt x="116" y="148"/>
                  </a:cubicBezTo>
                  <a:close/>
                  <a:moveTo>
                    <a:pt x="55" y="145"/>
                  </a:moveTo>
                  <a:cubicBezTo>
                    <a:pt x="39" y="145"/>
                    <a:pt x="26" y="132"/>
                    <a:pt x="26" y="116"/>
                  </a:cubicBezTo>
                  <a:cubicBezTo>
                    <a:pt x="26" y="100"/>
                    <a:pt x="39" y="87"/>
                    <a:pt x="55" y="87"/>
                  </a:cubicBezTo>
                  <a:cubicBezTo>
                    <a:pt x="71" y="87"/>
                    <a:pt x="84" y="100"/>
                    <a:pt x="84" y="116"/>
                  </a:cubicBezTo>
                  <a:cubicBezTo>
                    <a:pt x="84" y="132"/>
                    <a:pt x="71" y="145"/>
                    <a:pt x="55" y="145"/>
                  </a:cubicBezTo>
                  <a:close/>
                </a:path>
              </a:pathLst>
            </a:custGeom>
            <a:solidFill>
              <a:schemeClr val="tx1">
                <a:lumMod val="60000"/>
                <a:lumOff val="40000"/>
              </a:schemeClr>
            </a:solidFill>
            <a:ln>
              <a:noFill/>
            </a:ln>
          </p:spPr>
          <p:txBody>
            <a:bodyPr vert="horz" wrap="square" lIns="91440" tIns="45720" rIns="91440" bIns="45720" numCol="1" anchor="t" anchorCtr="0" compatLnSpc="1"/>
            <a:lstStyle/>
            <a:p>
              <a:pPr marL="0" marR="0" lvl="0" indent="0"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endParaRPr>
            </a:p>
          </p:txBody>
        </p:sp>
      </p:grpSp>
      <p:sp>
        <p:nvSpPr>
          <p:cNvPr id="3" name="Freeform 10"/>
          <p:cNvSpPr/>
          <p:nvPr/>
        </p:nvSpPr>
        <p:spPr bwMode="auto">
          <a:xfrm>
            <a:off x="1009015" y="2038350"/>
            <a:ext cx="9820910" cy="2914015"/>
          </a:xfrm>
          <a:custGeom>
            <a:avLst/>
            <a:gdLst>
              <a:gd name="T0" fmla="*/ 185 w 5228"/>
              <a:gd name="T1" fmla="*/ 0 h 6450"/>
              <a:gd name="T2" fmla="*/ 5044 w 5228"/>
              <a:gd name="T3" fmla="*/ 0 h 6450"/>
              <a:gd name="T4" fmla="*/ 5228 w 5228"/>
              <a:gd name="T5" fmla="*/ 184 h 6450"/>
              <a:gd name="T6" fmla="*/ 5228 w 5228"/>
              <a:gd name="T7" fmla="*/ 6266 h 6450"/>
              <a:gd name="T8" fmla="*/ 5044 w 5228"/>
              <a:gd name="T9" fmla="*/ 6450 h 6450"/>
              <a:gd name="T10" fmla="*/ 185 w 5228"/>
              <a:gd name="T11" fmla="*/ 6450 h 6450"/>
              <a:gd name="T12" fmla="*/ 0 w 5228"/>
              <a:gd name="T13" fmla="*/ 6266 h 6450"/>
              <a:gd name="T14" fmla="*/ 0 w 5228"/>
              <a:gd name="T15" fmla="*/ 184 h 6450"/>
              <a:gd name="T16" fmla="*/ 185 w 5228"/>
              <a:gd name="T17" fmla="*/ 0 h 645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228" h="6450">
                <a:moveTo>
                  <a:pt x="185" y="0"/>
                </a:moveTo>
                <a:lnTo>
                  <a:pt x="5044" y="0"/>
                </a:lnTo>
                <a:cubicBezTo>
                  <a:pt x="5146" y="0"/>
                  <a:pt x="5228" y="83"/>
                  <a:pt x="5228" y="184"/>
                </a:cubicBezTo>
                <a:lnTo>
                  <a:pt x="5228" y="6266"/>
                </a:lnTo>
                <a:cubicBezTo>
                  <a:pt x="5228" y="6367"/>
                  <a:pt x="5146" y="6450"/>
                  <a:pt x="5044" y="6450"/>
                </a:cubicBezTo>
                <a:lnTo>
                  <a:pt x="185" y="6450"/>
                </a:lnTo>
                <a:cubicBezTo>
                  <a:pt x="83" y="6450"/>
                  <a:pt x="0" y="6367"/>
                  <a:pt x="0" y="6266"/>
                </a:cubicBezTo>
                <a:lnTo>
                  <a:pt x="0" y="184"/>
                </a:lnTo>
                <a:cubicBezTo>
                  <a:pt x="0" y="83"/>
                  <a:pt x="83" y="0"/>
                  <a:pt x="185" y="0"/>
                </a:cubicBezTo>
                <a:close/>
              </a:path>
            </a:pathLst>
          </a:custGeom>
          <a:solidFill>
            <a:schemeClr val="bg2">
              <a:lumMod val="20000"/>
              <a:lumOff val="80000"/>
            </a:schemeClr>
          </a:solidFill>
          <a:ln w="10" cap="flat">
            <a:solidFill>
              <a:schemeClr val="accent1">
                <a:lumMod val="40000"/>
                <a:lumOff val="60000"/>
              </a:schemeClr>
            </a:solidFill>
            <a:prstDash val="solid"/>
            <a:miter lim="800000"/>
          </a:ln>
        </p:spPr>
        <p:txBody>
          <a:bodyPr vert="horz" wrap="square" lIns="91440" tIns="45720" rIns="91440" bIns="45720" numCol="1" anchor="t" anchorCtr="0" compatLnSpc="1"/>
          <a:lstStyle/>
          <a:p>
            <a:endParaRPr lang="zh-CN" altLang="en-US">
              <a:solidFill>
                <a:schemeClr val="accent1"/>
              </a:solidFill>
            </a:endParaRPr>
          </a:p>
        </p:txBody>
      </p:sp>
      <p:sp>
        <p:nvSpPr>
          <p:cNvPr id="38" name="文本框 37"/>
          <p:cNvSpPr txBox="1"/>
          <p:nvPr/>
        </p:nvSpPr>
        <p:spPr>
          <a:xfrm>
            <a:off x="1129030" y="2451735"/>
            <a:ext cx="9357995" cy="3441391"/>
          </a:xfrm>
          <a:prstGeom prst="rect">
            <a:avLst/>
          </a:prstGeom>
          <a:noFill/>
        </p:spPr>
        <p:txBody>
          <a:bodyPr wrap="square" rtlCol="0">
            <a:spAutoFit/>
          </a:bodyPr>
          <a:lstStyle/>
          <a:p>
            <a:pPr algn="l">
              <a:lnSpc>
                <a:spcPts val="1950"/>
              </a:lnSpc>
            </a:pPr>
            <a:endParaRPr lang="en-US" altLang="zh-CN" sz="2400" kern="0" dirty="0">
              <a:solidFill>
                <a:srgbClr val="000000"/>
              </a:solidFill>
              <a:effectLst/>
              <a:latin typeface="+mn-ea"/>
              <a:ea typeface="+mn-ea"/>
              <a:cs typeface="Arial" panose="020B0604020202020204" pitchFamily="34" charset="0"/>
            </a:endParaRPr>
          </a:p>
          <a:p>
            <a:pPr algn="l">
              <a:lnSpc>
                <a:spcPct val="150000"/>
              </a:lnSpc>
            </a:pPr>
            <a:r>
              <a:rPr lang="zh-CN" altLang="en-US" sz="2400" dirty="0">
                <a:latin typeface="+mn-ea"/>
                <a:ea typeface="+mn-ea"/>
                <a:sym typeface="+mn-ea"/>
              </a:rPr>
              <a:t>软件功能计算中一旦估算出应用程序中每个功能要素的数量后，就可以将每个计数与一个复杂度值（加权因子）相乘，最后进行合计，算出一个初步的总的功能点数（</a:t>
            </a:r>
            <a:r>
              <a:rPr lang="en-US" altLang="zh-CN" sz="2400" dirty="0">
                <a:latin typeface="+mn-ea"/>
                <a:ea typeface="+mn-ea"/>
                <a:sym typeface="+mn-ea"/>
              </a:rPr>
              <a:t>Function Points Count</a:t>
            </a:r>
            <a:r>
              <a:rPr lang="zh-CN" altLang="en-US" sz="2400" dirty="0">
                <a:latin typeface="+mn-ea"/>
                <a:ea typeface="+mn-ea"/>
                <a:sym typeface="+mn-ea"/>
              </a:rPr>
              <a:t>，</a:t>
            </a:r>
            <a:r>
              <a:rPr lang="en-US" altLang="zh-CN" sz="2400" dirty="0">
                <a:latin typeface="+mn-ea"/>
                <a:ea typeface="+mn-ea"/>
                <a:sym typeface="+mn-ea"/>
              </a:rPr>
              <a:t>UFC</a:t>
            </a:r>
            <a:r>
              <a:rPr lang="zh-CN" altLang="en-US" sz="2400" dirty="0">
                <a:latin typeface="+mn-ea"/>
                <a:ea typeface="+mn-ea"/>
                <a:sym typeface="+mn-ea"/>
              </a:rPr>
              <a:t>）</a:t>
            </a:r>
            <a:endParaRPr lang="en-US" altLang="zh-CN" sz="2400" dirty="0">
              <a:latin typeface="+mn-ea"/>
              <a:ea typeface="+mn-ea"/>
              <a:sym typeface="+mn-ea"/>
            </a:endParaRPr>
          </a:p>
          <a:p>
            <a:pPr algn="l">
              <a:lnSpc>
                <a:spcPts val="1950"/>
              </a:lnSpc>
            </a:pPr>
            <a:endParaRPr lang="en-US" altLang="zh-CN" sz="2400" kern="0" dirty="0">
              <a:solidFill>
                <a:srgbClr val="000000"/>
              </a:solidFill>
              <a:latin typeface="+mn-ea"/>
              <a:ea typeface="+mn-ea"/>
              <a:cs typeface="Arial" panose="020B0604020202020204" pitchFamily="34" charset="0"/>
            </a:endParaRPr>
          </a:p>
          <a:p>
            <a:pPr algn="l">
              <a:lnSpc>
                <a:spcPts val="1950"/>
              </a:lnSpc>
            </a:pPr>
            <a:r>
              <a:rPr lang="zh-CN" altLang="zh-CN" sz="2400" kern="0" dirty="0">
                <a:solidFill>
                  <a:srgbClr val="000000"/>
                </a:solidFill>
                <a:effectLst/>
                <a:latin typeface="+mn-ea"/>
                <a:ea typeface="+mn-ea"/>
                <a:cs typeface="Arial" panose="020B0604020202020204" pitchFamily="34" charset="0"/>
              </a:rPr>
              <a:t>最终调整后的功能点数量为：</a:t>
            </a:r>
            <a:endParaRPr lang="en-US" altLang="zh-CN" sz="2400" kern="0" dirty="0">
              <a:solidFill>
                <a:srgbClr val="000000"/>
              </a:solidFill>
              <a:effectLst/>
              <a:latin typeface="+mn-ea"/>
              <a:ea typeface="+mn-ea"/>
              <a:cs typeface="Arial" panose="020B0604020202020204" pitchFamily="34" charset="0"/>
            </a:endParaRPr>
          </a:p>
          <a:p>
            <a:pPr algn="l">
              <a:lnSpc>
                <a:spcPts val="1950"/>
              </a:lnSpc>
            </a:pPr>
            <a:endParaRPr lang="zh-CN" altLang="zh-CN" sz="2400" kern="100" dirty="0">
              <a:effectLst/>
              <a:latin typeface="+mn-ea"/>
              <a:ea typeface="+mn-ea"/>
              <a:cs typeface="Times New Roman" panose="02020603050405020304" pitchFamily="18" charset="0"/>
            </a:endParaRPr>
          </a:p>
          <a:p>
            <a:pPr algn="ctr">
              <a:lnSpc>
                <a:spcPts val="1950"/>
              </a:lnSpc>
            </a:pPr>
            <a:r>
              <a:rPr lang="zh-CN" altLang="zh-CN" sz="2400" kern="0" dirty="0">
                <a:solidFill>
                  <a:srgbClr val="000000"/>
                </a:solidFill>
                <a:effectLst/>
                <a:latin typeface="+mn-ea"/>
                <a:ea typeface="+mn-ea"/>
                <a:cs typeface="Arial" panose="020B0604020202020204" pitchFamily="34" charset="0"/>
              </a:rPr>
              <a:t>（</a:t>
            </a:r>
            <a:r>
              <a:rPr lang="en-US" altLang="zh-CN" sz="2400" kern="0" dirty="0">
                <a:solidFill>
                  <a:srgbClr val="000000"/>
                </a:solidFill>
                <a:effectLst/>
                <a:latin typeface="+mn-ea"/>
                <a:ea typeface="+mn-ea"/>
                <a:cs typeface="Times New Roman" panose="02020603050405020304" pitchFamily="18" charset="0"/>
              </a:rPr>
              <a:t>19 + 25 + 9 + 5</a:t>
            </a:r>
            <a:r>
              <a:rPr lang="zh-CN" altLang="zh-CN" sz="2400" kern="0" dirty="0">
                <a:solidFill>
                  <a:srgbClr val="000000"/>
                </a:solidFill>
                <a:effectLst/>
                <a:latin typeface="+mn-ea"/>
                <a:ea typeface="+mn-ea"/>
                <a:cs typeface="Arial" panose="020B0604020202020204" pitchFamily="34" charset="0"/>
              </a:rPr>
              <a:t>）</a:t>
            </a:r>
            <a:r>
              <a:rPr lang="en-US" altLang="zh-CN" sz="2400" kern="0" dirty="0">
                <a:solidFill>
                  <a:srgbClr val="000000"/>
                </a:solidFill>
                <a:effectLst/>
                <a:latin typeface="+mn-ea"/>
                <a:ea typeface="+mn-ea"/>
                <a:cs typeface="Times New Roman" panose="02020603050405020304" pitchFamily="18" charset="0"/>
              </a:rPr>
              <a:t>* 0.84 = 48.72</a:t>
            </a:r>
            <a:r>
              <a:rPr lang="zh-CN" altLang="zh-CN" sz="2400" kern="0" dirty="0">
                <a:solidFill>
                  <a:srgbClr val="000000"/>
                </a:solidFill>
                <a:effectLst/>
                <a:latin typeface="+mn-ea"/>
                <a:ea typeface="+mn-ea"/>
                <a:cs typeface="Arial" panose="020B0604020202020204" pitchFamily="34" charset="0"/>
              </a:rPr>
              <a:t>个</a:t>
            </a:r>
            <a:endParaRPr lang="zh-CN" altLang="zh-CN" sz="2400" kern="100" dirty="0">
              <a:effectLst/>
              <a:latin typeface="+mn-ea"/>
              <a:ea typeface="+mn-ea"/>
              <a:cs typeface="Times New Roman" panose="02020603050405020304" pitchFamily="18" charset="0"/>
            </a:endParaRPr>
          </a:p>
          <a:p>
            <a:pPr lvl="1" eaLnBrk="1" hangingPunct="1">
              <a:lnSpc>
                <a:spcPct val="150000"/>
              </a:lnSpc>
              <a:defRPr/>
            </a:pPr>
            <a:endParaRPr lang="en-US" altLang="zh-CN" sz="2000" dirty="0">
              <a:latin typeface="Arial" panose="020B0604020202020204" pitchFamily="34" charset="0"/>
            </a:endParaRPr>
          </a:p>
        </p:txBody>
      </p:sp>
      <p:sp>
        <p:nvSpPr>
          <p:cNvPr id="23" name="Freeform 12"/>
          <p:cNvSpPr/>
          <p:nvPr/>
        </p:nvSpPr>
        <p:spPr bwMode="auto">
          <a:xfrm>
            <a:off x="989330" y="1832610"/>
            <a:ext cx="2827020" cy="544195"/>
          </a:xfrm>
          <a:custGeom>
            <a:avLst/>
            <a:gdLst>
              <a:gd name="T0" fmla="*/ 3591 w 3591"/>
              <a:gd name="T1" fmla="*/ 0 h 696"/>
              <a:gd name="T2" fmla="*/ 0 w 3591"/>
              <a:gd name="T3" fmla="*/ 0 h 696"/>
              <a:gd name="T4" fmla="*/ 0 w 3591"/>
              <a:gd name="T5" fmla="*/ 696 h 696"/>
              <a:gd name="T6" fmla="*/ 3591 w 3591"/>
              <a:gd name="T7" fmla="*/ 696 h 696"/>
              <a:gd name="T8" fmla="*/ 3383 w 3591"/>
              <a:gd name="T9" fmla="*/ 353 h 696"/>
              <a:gd name="T10" fmla="*/ 3591 w 3591"/>
              <a:gd name="T11" fmla="*/ 0 h 696"/>
            </a:gdLst>
            <a:ahLst/>
            <a:cxnLst>
              <a:cxn ang="0">
                <a:pos x="T0" y="T1"/>
              </a:cxn>
              <a:cxn ang="0">
                <a:pos x="T2" y="T3"/>
              </a:cxn>
              <a:cxn ang="0">
                <a:pos x="T4" y="T5"/>
              </a:cxn>
              <a:cxn ang="0">
                <a:pos x="T6" y="T7"/>
              </a:cxn>
              <a:cxn ang="0">
                <a:pos x="T8" y="T9"/>
              </a:cxn>
              <a:cxn ang="0">
                <a:pos x="T10" y="T11"/>
              </a:cxn>
            </a:cxnLst>
            <a:rect l="0" t="0" r="r" b="b"/>
            <a:pathLst>
              <a:path w="3591" h="696">
                <a:moveTo>
                  <a:pt x="3591" y="0"/>
                </a:moveTo>
                <a:lnTo>
                  <a:pt x="0" y="0"/>
                </a:lnTo>
                <a:lnTo>
                  <a:pt x="0" y="696"/>
                </a:lnTo>
                <a:lnTo>
                  <a:pt x="3591" y="696"/>
                </a:lnTo>
                <a:lnTo>
                  <a:pt x="3383" y="353"/>
                </a:lnTo>
                <a:lnTo>
                  <a:pt x="3591" y="0"/>
                </a:lnTo>
                <a:close/>
              </a:path>
            </a:pathLst>
          </a:custGeom>
          <a:solidFill>
            <a:schemeClr val="bg2"/>
          </a:solidFill>
          <a:ln>
            <a:noFill/>
          </a:ln>
        </p:spPr>
        <p:txBody>
          <a:bodyPr vert="horz" wrap="square" lIns="91440" tIns="45720" rIns="91440" bIns="45720" numCol="1" anchor="t" anchorCtr="0" compatLnSpc="1"/>
          <a:lstStyle/>
          <a:p>
            <a:endParaRPr lang="zh-CN" altLang="en-US">
              <a:solidFill>
                <a:schemeClr val="accent1"/>
              </a:solidFill>
            </a:endParaRPr>
          </a:p>
        </p:txBody>
      </p:sp>
      <p:sp>
        <p:nvSpPr>
          <p:cNvPr id="8" name="TextBox 23"/>
          <p:cNvSpPr txBox="1"/>
          <p:nvPr/>
        </p:nvSpPr>
        <p:spPr>
          <a:xfrm>
            <a:off x="1129030" y="1859280"/>
            <a:ext cx="3102610" cy="491490"/>
          </a:xfrm>
          <a:prstGeom prst="rect">
            <a:avLst/>
          </a:prstGeom>
          <a:noFill/>
        </p:spPr>
        <p:txBody>
          <a:bodyPr wrap="square" rtlCol="0">
            <a:spAutoFit/>
          </a:bodyPr>
          <a:lstStyle/>
          <a:p>
            <a:r>
              <a:rPr lang="zh-CN" altLang="en-US" sz="2600" kern="0" dirty="0">
                <a:solidFill>
                  <a:schemeClr val="accent2"/>
                </a:solidFill>
                <a:latin typeface="等线" panose="02010600030101010101" charset="-122"/>
                <a:ea typeface="+mn-ea"/>
                <a:cs typeface="Arial" panose="020B0604020202020204" pitchFamily="34" charset="0"/>
                <a:sym typeface="+mn-ea"/>
              </a:rPr>
              <a:t>功能点数</a:t>
            </a:r>
          </a:p>
        </p:txBody>
      </p:sp>
      <p:sp>
        <p:nvSpPr>
          <p:cNvPr id="9" name="文本框 8">
            <a:extLst>
              <a:ext uri="{FF2B5EF4-FFF2-40B4-BE49-F238E27FC236}">
                <a16:creationId xmlns:a16="http://schemas.microsoft.com/office/drawing/2014/main" id="{159FEB3B-6B35-4E6B-9AFD-7C344D367A18}"/>
              </a:ext>
            </a:extLst>
          </p:cNvPr>
          <p:cNvSpPr txBox="1"/>
          <p:nvPr/>
        </p:nvSpPr>
        <p:spPr>
          <a:xfrm>
            <a:off x="252730" y="102870"/>
            <a:ext cx="831850" cy="460375"/>
          </a:xfrm>
          <a:prstGeom prst="rect">
            <a:avLst/>
          </a:prstGeom>
          <a:noFill/>
        </p:spPr>
        <p:txBody>
          <a:bodyPr wrap="square" rtlCol="0">
            <a:spAutoFit/>
          </a:bodyPr>
          <a:lstStyle/>
          <a:p>
            <a:r>
              <a:rPr lang="en-US" altLang="zh-CN" sz="2400" dirty="0">
                <a:solidFill>
                  <a:schemeClr val="accent2"/>
                </a:solidFill>
                <a:sym typeface="+mn-ea"/>
              </a:rPr>
              <a:t>3.</a:t>
            </a:r>
          </a:p>
        </p:txBody>
      </p:sp>
      <p:sp>
        <p:nvSpPr>
          <p:cNvPr id="13" name="文本框 12">
            <a:extLst>
              <a:ext uri="{FF2B5EF4-FFF2-40B4-BE49-F238E27FC236}">
                <a16:creationId xmlns:a16="http://schemas.microsoft.com/office/drawing/2014/main" id="{A84CB6E0-9E9C-4C6E-8CD1-FE406CABE7FB}"/>
              </a:ext>
            </a:extLst>
          </p:cNvPr>
          <p:cNvSpPr txBox="1"/>
          <p:nvPr/>
        </p:nvSpPr>
        <p:spPr>
          <a:xfrm>
            <a:off x="1548765" y="83820"/>
            <a:ext cx="2738250" cy="523220"/>
          </a:xfrm>
          <a:prstGeom prst="rect">
            <a:avLst/>
          </a:prstGeom>
          <a:noFill/>
        </p:spPr>
        <p:txBody>
          <a:bodyPr wrap="none" rtlCol="0" anchor="t">
            <a:spAutoFit/>
          </a:bodyPr>
          <a:lstStyle/>
          <a:p>
            <a:pPr marL="0" indent="0" algn="l">
              <a:buNone/>
            </a:pPr>
            <a:r>
              <a:rPr lang="en-US" altLang="zh-CN" dirty="0">
                <a:solidFill>
                  <a:schemeClr val="accent2"/>
                </a:solidFill>
                <a:sym typeface="+mn-ea"/>
              </a:rPr>
              <a:t> </a:t>
            </a:r>
            <a:r>
              <a:rPr lang="zh-CN" altLang="en-US" sz="2800" dirty="0">
                <a:solidFill>
                  <a:schemeClr val="accent2"/>
                </a:solidFill>
                <a:sym typeface="+mn-ea"/>
              </a:rPr>
              <a:t>功能点估算案例</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par>
                          <p:cTn id="8" fill="hold">
                            <p:stCondLst>
                              <p:cond delay="500"/>
                            </p:stCondLst>
                            <p:childTnLst>
                              <p:par>
                                <p:cTn id="9" presetID="56" presetClass="entr" presetSubtype="0" fill="hold" grpId="0" nodeType="afterEffect">
                                  <p:stCondLst>
                                    <p:cond delay="0"/>
                                  </p:stCondLst>
                                  <p:iterate type="lt">
                                    <p:tmPct val="10000"/>
                                  </p:iterate>
                                  <p:childTnLst>
                                    <p:set>
                                      <p:cBhvr>
                                        <p:cTn id="10" dur="1" fill="hold">
                                          <p:stCondLst>
                                            <p:cond delay="0"/>
                                          </p:stCondLst>
                                        </p:cTn>
                                        <p:tgtEl>
                                          <p:spTgt spid="8"/>
                                        </p:tgtEl>
                                        <p:attrNameLst>
                                          <p:attrName>style.visibility</p:attrName>
                                        </p:attrNameLst>
                                      </p:cBhvr>
                                      <p:to>
                                        <p:strVal val="visible"/>
                                      </p:to>
                                    </p:set>
                                    <p:anim by="(-#ppt_w*2)" calcmode="lin" valueType="num">
                                      <p:cBhvr rctx="PPT">
                                        <p:cTn id="11" dur="250" autoRev="1" fill="hold">
                                          <p:stCondLst>
                                            <p:cond delay="0"/>
                                          </p:stCondLst>
                                        </p:cTn>
                                        <p:tgtEl>
                                          <p:spTgt spid="8"/>
                                        </p:tgtEl>
                                        <p:attrNameLst>
                                          <p:attrName>ppt_w</p:attrName>
                                        </p:attrNameLst>
                                      </p:cBhvr>
                                    </p:anim>
                                    <p:anim by="(#ppt_w*0.50)" calcmode="lin" valueType="num">
                                      <p:cBhvr>
                                        <p:cTn id="12" dur="250" decel="50000" autoRev="1" fill="hold">
                                          <p:stCondLst>
                                            <p:cond delay="0"/>
                                          </p:stCondLst>
                                        </p:cTn>
                                        <p:tgtEl>
                                          <p:spTgt spid="8"/>
                                        </p:tgtEl>
                                        <p:attrNameLst>
                                          <p:attrName>ppt_x</p:attrName>
                                        </p:attrNameLst>
                                      </p:cBhvr>
                                    </p:anim>
                                    <p:anim from="(-#ppt_h/2)" to="(#ppt_y)" calcmode="lin" valueType="num">
                                      <p:cBhvr>
                                        <p:cTn id="13" dur="500" fill="hold">
                                          <p:stCondLst>
                                            <p:cond delay="0"/>
                                          </p:stCondLst>
                                        </p:cTn>
                                        <p:tgtEl>
                                          <p:spTgt spid="8"/>
                                        </p:tgtEl>
                                        <p:attrNameLst>
                                          <p:attrName>ppt_y</p:attrName>
                                        </p:attrNameLst>
                                      </p:cBhvr>
                                    </p:anim>
                                    <p:animRot by="21600000">
                                      <p:cBhvr>
                                        <p:cTn id="14" dur="500" fill="hold">
                                          <p:stCondLst>
                                            <p:cond delay="0"/>
                                          </p:stCondLst>
                                        </p:cTn>
                                        <p:tgtEl>
                                          <p:spTgt spid="8"/>
                                        </p:tgtEl>
                                        <p:attrNameLst>
                                          <p:attrName>r</p:attrName>
                                        </p:attrNameLst>
                                      </p:cBhvr>
                                    </p:animRot>
                                  </p:childTnLst>
                                </p:cTn>
                              </p:par>
                            </p:childTnLst>
                          </p:cTn>
                        </p:par>
                        <p:par>
                          <p:cTn id="15" fill="hold">
                            <p:stCondLst>
                              <p:cond delay="1150"/>
                            </p:stCondLst>
                            <p:childTnLst>
                              <p:par>
                                <p:cTn id="16" presetID="22" presetClass="entr" presetSubtype="8" fill="hold" grpId="0" nodeType="afterEffect">
                                  <p:stCondLst>
                                    <p:cond delay="0"/>
                                  </p:stCondLst>
                                  <p:childTnLst>
                                    <p:set>
                                      <p:cBhvr>
                                        <p:cTn id="17" dur="1" fill="hold">
                                          <p:stCondLst>
                                            <p:cond delay="0"/>
                                          </p:stCondLst>
                                        </p:cTn>
                                        <p:tgtEl>
                                          <p:spTgt spid="23"/>
                                        </p:tgtEl>
                                        <p:attrNameLst>
                                          <p:attrName>style.visibility</p:attrName>
                                        </p:attrNameLst>
                                      </p:cBhvr>
                                      <p:to>
                                        <p:strVal val="visible"/>
                                      </p:to>
                                    </p:set>
                                    <p:animEffect transition="in" filter="wipe(left)">
                                      <p:cBhvr>
                                        <p:cTn id="18"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P spid="23" grpId="0" bldLvl="0" animBg="1"/>
      <p:bldP spid="8" grpId="0"/>
    </p:bldLst>
  </p:timing>
</p:sld>
</file>

<file path=ppt/theme/theme1.xml><?xml version="1.0" encoding="utf-8"?>
<a:theme xmlns:a="http://schemas.openxmlformats.org/drawingml/2006/main" name="自定义设计方案">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默认设计模板">
  <a:themeElements>
    <a:clrScheme name="155">
      <a:dk1>
        <a:srgbClr val="294A5A"/>
      </a:dk1>
      <a:lt1>
        <a:srgbClr val="99CC39"/>
      </a:lt1>
      <a:dk2>
        <a:srgbClr val="F9C900"/>
      </a:dk2>
      <a:lt2>
        <a:srgbClr val="ED5A00"/>
      </a:lt2>
      <a:accent1>
        <a:srgbClr val="484849"/>
      </a:accent1>
      <a:accent2>
        <a:srgbClr val="FFFFFF"/>
      </a:accent2>
      <a:accent3>
        <a:srgbClr val="969696"/>
      </a:accent3>
      <a:accent4>
        <a:srgbClr val="00AAA2"/>
      </a:accent4>
      <a:accent5>
        <a:srgbClr val="99CC39"/>
      </a:accent5>
      <a:accent6>
        <a:srgbClr val="F9C900"/>
      </a:accent6>
      <a:hlink>
        <a:srgbClr val="ED5A00"/>
      </a:hlink>
      <a:folHlink>
        <a:srgbClr val="484849"/>
      </a:folHlink>
    </a:clrScheme>
    <a:fontScheme name="默认设计模板">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 typeface="Arial" panose="020B0604020202020204" pitchFamily="34" charset="0"/>
          <a:buNone/>
          <a:defRPr kumimoji="0" lang="zh-CN" sz="1800" b="0" i="0" u="none" strike="noStrike" cap="none" normalizeH="0" baseline="0" smtClean="0">
            <a:ln>
              <a:noFill/>
            </a:ln>
            <a:solidFill>
              <a:schemeClr val="tx1"/>
            </a:solidFill>
            <a:effectLst/>
            <a:latin typeface="Arial" panose="020B0604020202020204" pitchFamily="34" charset="0"/>
            <a:ea typeface="宋体" panose="02010600030101010101" pitchFamily="2"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 13">
        <a:dk1>
          <a:srgbClr val="000000"/>
        </a:dk1>
        <a:lt1>
          <a:srgbClr val="FFFFD9"/>
        </a:lt1>
        <a:dk2>
          <a:srgbClr val="2B2E30"/>
        </a:dk2>
        <a:lt2>
          <a:srgbClr val="777777"/>
        </a:lt2>
        <a:accent1>
          <a:srgbClr val="7FBA00"/>
        </a:accent1>
        <a:accent2>
          <a:srgbClr val="FCDB00"/>
        </a:accent2>
        <a:accent3>
          <a:srgbClr val="FFFFE9"/>
        </a:accent3>
        <a:accent4>
          <a:srgbClr val="000000"/>
        </a:accent4>
        <a:accent5>
          <a:srgbClr val="C0D9AA"/>
        </a:accent5>
        <a:accent6>
          <a:srgbClr val="E4C600"/>
        </a:accent6>
        <a:hlink>
          <a:srgbClr val="21A3D0"/>
        </a:hlink>
        <a:folHlink>
          <a:srgbClr val="DA251D"/>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44546A"/>
      </a:dk2>
      <a:lt2>
        <a:srgbClr val="E7E6E6"/>
      </a:lt2>
      <a:accent1>
        <a:srgbClr val="5B9BD5"/>
      </a:accent1>
      <a:accent2>
        <a:srgbClr val="ED7D31"/>
      </a:accent2>
      <a:accent3>
        <a:srgbClr val="FFFFFF"/>
      </a:accent3>
      <a:accent4>
        <a:srgbClr val="000000"/>
      </a:accent4>
      <a:accent5>
        <a:srgbClr val="B5CBE7"/>
      </a:accent5>
      <a:accent6>
        <a:srgbClr val="D7712B"/>
      </a:accent6>
      <a:hlink>
        <a:srgbClr val="0563C1"/>
      </a:hlink>
      <a:folHlink>
        <a:srgbClr val="954F7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283</TotalTime>
  <Words>3102</Words>
  <Application>Microsoft Office PowerPoint</Application>
  <PresentationFormat>自定义</PresentationFormat>
  <Paragraphs>263</Paragraphs>
  <Slides>30</Slides>
  <Notes>11</Notes>
  <HiddenSlides>0</HiddenSlides>
  <MMClips>0</MMClips>
  <ScaleCrop>false</ScaleCrop>
  <HeadingPairs>
    <vt:vector size="6" baseType="variant">
      <vt:variant>
        <vt:lpstr>已用的字体</vt:lpstr>
      </vt:variant>
      <vt:variant>
        <vt:i4>11</vt:i4>
      </vt:variant>
      <vt:variant>
        <vt:lpstr>主题</vt:lpstr>
      </vt:variant>
      <vt:variant>
        <vt:i4>2</vt:i4>
      </vt:variant>
      <vt:variant>
        <vt:lpstr>幻灯片标题</vt:lpstr>
      </vt:variant>
      <vt:variant>
        <vt:i4>30</vt:i4>
      </vt:variant>
    </vt:vector>
  </HeadingPairs>
  <TitlesOfParts>
    <vt:vector size="43" baseType="lpstr">
      <vt:lpstr>等线</vt:lpstr>
      <vt:lpstr>等线 Light</vt:lpstr>
      <vt:lpstr>华文行楷</vt:lpstr>
      <vt:lpstr>宋体</vt:lpstr>
      <vt:lpstr>微软雅黑</vt:lpstr>
      <vt:lpstr>Arial</vt:lpstr>
      <vt:lpstr>Calibri</vt:lpstr>
      <vt:lpstr>Impact</vt:lpstr>
      <vt:lpstr>Symbol</vt:lpstr>
      <vt:lpstr>Times New Roman</vt:lpstr>
      <vt:lpstr>Wingdings</vt:lpstr>
      <vt:lpstr>自定义设计方案</vt:lpstr>
      <vt:lpstr>1_默认设计模板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案例分析</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邵浩</dc:creator>
  <cp:keywords>邵浩</cp:keywords>
  <cp:lastModifiedBy>cherry</cp:lastModifiedBy>
  <cp:revision>858</cp:revision>
  <dcterms:created xsi:type="dcterms:W3CDTF">2014-04-12T07:42:00Z</dcterms:created>
  <dcterms:modified xsi:type="dcterms:W3CDTF">2020-11-02T07:04:40Z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2052-11.1.0.10072</vt:lpwstr>
  </property>
</Properties>
</file>