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60" r:id="rId3"/>
    <p:sldMasterId id="2147483662" r:id="rId4"/>
  </p:sldMasterIdLst>
  <p:notesMasterIdLst>
    <p:notesMasterId r:id="rId7"/>
  </p:notesMasterIdLst>
  <p:handoutMasterIdLst>
    <p:handoutMasterId r:id="rId47"/>
  </p:handoutMasterIdLst>
  <p:sldIdLst>
    <p:sldId id="256" r:id="rId5"/>
    <p:sldId id="610" r:id="rId6"/>
    <p:sldId id="743" r:id="rId8"/>
    <p:sldId id="721" r:id="rId9"/>
    <p:sldId id="722" r:id="rId10"/>
    <p:sldId id="705" r:id="rId11"/>
    <p:sldId id="723" r:id="rId12"/>
    <p:sldId id="724" r:id="rId13"/>
    <p:sldId id="726" r:id="rId14"/>
    <p:sldId id="727" r:id="rId15"/>
    <p:sldId id="728" r:id="rId16"/>
    <p:sldId id="744" r:id="rId17"/>
    <p:sldId id="706" r:id="rId18"/>
    <p:sldId id="733" r:id="rId19"/>
    <p:sldId id="739" r:id="rId20"/>
    <p:sldId id="729" r:id="rId21"/>
    <p:sldId id="734" r:id="rId22"/>
    <p:sldId id="735" r:id="rId23"/>
    <p:sldId id="736" r:id="rId24"/>
    <p:sldId id="737" r:id="rId25"/>
    <p:sldId id="738" r:id="rId26"/>
    <p:sldId id="709" r:id="rId27"/>
    <p:sldId id="710" r:id="rId28"/>
    <p:sldId id="707" r:id="rId29"/>
    <p:sldId id="730" r:id="rId30"/>
    <p:sldId id="731" r:id="rId31"/>
    <p:sldId id="732" r:id="rId32"/>
    <p:sldId id="742" r:id="rId33"/>
    <p:sldId id="740" r:id="rId34"/>
    <p:sldId id="747" r:id="rId35"/>
    <p:sldId id="748" r:id="rId36"/>
    <p:sldId id="749" r:id="rId37"/>
    <p:sldId id="754" r:id="rId38"/>
    <p:sldId id="755" r:id="rId39"/>
    <p:sldId id="708" r:id="rId40"/>
    <p:sldId id="752" r:id="rId41"/>
    <p:sldId id="753" r:id="rId42"/>
    <p:sldId id="751" r:id="rId43"/>
    <p:sldId id="750" r:id="rId44"/>
    <p:sldId id="745" r:id="rId45"/>
    <p:sldId id="746" r:id="rId46"/>
  </p:sldIdLst>
  <p:sldSz cx="12192000" cy="7560945"/>
  <p:notesSz cx="6858000" cy="9144000"/>
  <p:custDataLst>
    <p:tags r:id="rId52"/>
  </p:custDataLst>
  <p:defaultTextStyle>
    <a:defPPr>
      <a:defRPr lang="zh-CN"/>
    </a:defPPr>
    <a:lvl1pPr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磊" initials="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0066CC"/>
    <a:srgbClr val="0000FF"/>
    <a:srgbClr val="DBD600"/>
    <a:srgbClr val="8BBF20"/>
    <a:srgbClr val="F0F977"/>
    <a:srgbClr val="A50021"/>
    <a:srgbClr val="0386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81" autoAdjust="0"/>
    <p:restoredTop sz="85673" autoAdjust="0"/>
  </p:normalViewPr>
  <p:slideViewPr>
    <p:cSldViewPr snapToGrid="0" snapToObjects="1">
      <p:cViewPr varScale="1">
        <p:scale>
          <a:sx n="52" d="100"/>
          <a:sy n="52" d="100"/>
        </p:scale>
        <p:origin x="1341" y="51"/>
      </p:cViewPr>
      <p:guideLst>
        <p:guide orient="horz" pos="2489"/>
        <p:guide pos="38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3" d="100"/>
          <a:sy n="53" d="100"/>
        </p:scale>
        <p:origin x="-2904"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 Type="http://schemas.openxmlformats.org/officeDocument/2006/relationships/slide" Target="slides/slide2.xml"/><Relationship Id="rId52" Type="http://schemas.openxmlformats.org/officeDocument/2006/relationships/tags" Target="tags/tag1.xml"/><Relationship Id="rId51" Type="http://schemas.openxmlformats.org/officeDocument/2006/relationships/commentAuthors" Target="commentAuthors.xml"/><Relationship Id="rId50" Type="http://schemas.openxmlformats.org/officeDocument/2006/relationships/tableStyles" Target="tableStyles.xml"/><Relationship Id="rId5" Type="http://schemas.openxmlformats.org/officeDocument/2006/relationships/slide" Target="slides/slide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a:defRPr/>
            </a:pPr>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Char char="•"/>
              <a:defRPr sz="1200" noProof="1"/>
            </a:lvl1pPr>
          </a:lstStyle>
          <a:p>
            <a:pPr>
              <a:defRPr/>
            </a:pPr>
            <a:fld id="{3E19670D-C869-4A5D-A780-D41936B3781A}" type="slidenum">
              <a:rPr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p:cNvSpPr>
            <a:spLocks noGrp="1" noChangeArrowheads="1"/>
          </p:cNvSpPr>
          <p:nvPr>
            <p:ph type="hdr" sz="quarter"/>
          </p:nvPr>
        </p:nvSpPr>
        <p:spPr bwMode="auto">
          <a:xfrm>
            <a:off x="0" y="0"/>
            <a:ext cx="2970213" cy="458788"/>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5" name="日期占位符 2"/>
          <p:cNvSpPr>
            <a:spLocks noGrp="1" noChangeArrowheads="1"/>
          </p:cNvSpPr>
          <p:nvPr>
            <p:ph type="dt" idx="1"/>
          </p:nvPr>
        </p:nvSpPr>
        <p:spPr bwMode="auto">
          <a:xfrm>
            <a:off x="3883025" y="0"/>
            <a:ext cx="2973388" cy="458788"/>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941388" y="1143000"/>
            <a:ext cx="4975225"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备注占位符 4"/>
          <p:cNvSpPr>
            <a:spLocks noGrp="1" noChangeArrowheads="1"/>
          </p:cNvSpPr>
          <p:nvPr>
            <p:ph type="body" sz="quarter" idx="3"/>
          </p:nvPr>
        </p:nvSpPr>
        <p:spPr bwMode="auto">
          <a:xfrm>
            <a:off x="685800" y="4400550"/>
            <a:ext cx="5486400" cy="3600450"/>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3078" name="页脚占位符 5"/>
          <p:cNvSpPr>
            <a:spLocks noGrp="1" noChangeArrowheads="1"/>
          </p:cNvSpPr>
          <p:nvPr>
            <p:ph type="ftr" sz="quarter" idx="4"/>
          </p:nvPr>
        </p:nvSpPr>
        <p:spPr bwMode="auto">
          <a:xfrm>
            <a:off x="0" y="8685213"/>
            <a:ext cx="2970213" cy="458787"/>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9" name="灯片编号占位符 6"/>
          <p:cNvSpPr>
            <a:spLocks noGrp="1" noChangeArrowheads="1"/>
          </p:cNvSpPr>
          <p:nvPr>
            <p:ph type="sldNum" sz="quarter" idx="5"/>
          </p:nvPr>
        </p:nvSpPr>
        <p:spPr bwMode="auto">
          <a:xfrm>
            <a:off x="3883025" y="8685213"/>
            <a:ext cx="2973388" cy="458787"/>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Char char="•"/>
              <a:defRPr sz="1200" noProof="1">
                <a:latin typeface="Calibri" panose="020F0502020204030204" pitchFamily="34" charset="0"/>
                <a:ea typeface="宋体" panose="02010600030101010101" pitchFamily="2" charset="-122"/>
              </a:defRPr>
            </a:lvl1pPr>
          </a:lstStyle>
          <a:p>
            <a:pPr>
              <a:defRPr/>
            </a:pPr>
            <a:fld id="{9ABF73B3-AB42-43BE-BB63-9452E30E81D8}" type="slidenum">
              <a:rPr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ln>
            <a:solidFill>
              <a:srgbClr val="000000"/>
            </a:solidFill>
            <a:miter lim="800000"/>
          </a:ln>
        </p:spPr>
      </p:sp>
      <p:sp>
        <p:nvSpPr>
          <p:cNvPr id="92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r>
              <a:rPr lang="en-US" altLang="zh-CN"/>
              <a:t>1.</a:t>
            </a:r>
            <a:r>
              <a:rPr lang="zh-CN" altLang="en-US"/>
              <a:t>项目是啥：西游记，最成功的项目</a:t>
            </a:r>
            <a:endParaRPr lang="en-US" altLang="zh-CN"/>
          </a:p>
          <a:p>
            <a:pPr eaLnBrk="1" hangingPunct="1"/>
            <a:r>
              <a:rPr lang="en-US" altLang="zh-CN"/>
              <a:t>2.</a:t>
            </a:r>
            <a:r>
              <a:rPr lang="zh-CN" altLang="en-US"/>
              <a:t>干什么：</a:t>
            </a:r>
            <a:r>
              <a:rPr lang="en-US" altLang="zh-CN"/>
              <a:t>【</a:t>
            </a:r>
            <a:r>
              <a:rPr lang="zh-CN" altLang="en-US"/>
              <a:t>你所认为的需求</a:t>
            </a:r>
            <a:r>
              <a:rPr lang="en-US" altLang="zh-CN"/>
              <a:t>】</a:t>
            </a:r>
            <a:endParaRPr lang="zh-CN" altLang="en-US"/>
          </a:p>
          <a:p>
            <a:pPr eaLnBrk="1" hangingPunct="1"/>
            <a:r>
              <a:rPr lang="en-US" altLang="zh-CN"/>
              <a:t>3.</a:t>
            </a:r>
            <a:r>
              <a:rPr lang="zh-CN" altLang="en-US"/>
              <a:t>谁来干：自组织团队的组建（项目需要一个优秀的团队）</a:t>
            </a:r>
            <a:endParaRPr lang="en-US" altLang="zh-CN"/>
          </a:p>
          <a:p>
            <a:pPr eaLnBrk="1" hangingPunct="1"/>
            <a:r>
              <a:rPr lang="en-US" altLang="zh-CN"/>
              <a:t>4.</a:t>
            </a:r>
            <a:r>
              <a:rPr lang="zh-CN" altLang="en-US"/>
              <a:t>怎么干：指路明灯：项目过程标准：</a:t>
            </a:r>
            <a:r>
              <a:rPr lang="en-US" altLang="zh-CN"/>
              <a:t>CMMI</a:t>
            </a:r>
            <a:r>
              <a:rPr lang="zh-CN" altLang="en-US"/>
              <a:t>的讲解，以吃饭为例子，串起</a:t>
            </a:r>
            <a:r>
              <a:rPr lang="en-US" altLang="zh-CN"/>
              <a:t>CMMI</a:t>
            </a:r>
            <a:r>
              <a:rPr lang="zh-CN" altLang="en-US"/>
              <a:t>，</a:t>
            </a:r>
            <a:r>
              <a:rPr lang="en-US" altLang="zh-CN"/>
              <a:t>PMBOK</a:t>
            </a:r>
            <a:r>
              <a:rPr lang="zh-CN" altLang="en-US"/>
              <a:t>，</a:t>
            </a:r>
            <a:r>
              <a:rPr lang="en-US" altLang="zh-CN"/>
              <a:t>ISO9000</a:t>
            </a:r>
            <a:r>
              <a:rPr lang="zh-CN" altLang="en-US"/>
              <a:t>等</a:t>
            </a:r>
            <a:endParaRPr lang="zh-CN" altLang="en-US"/>
          </a:p>
          <a:p>
            <a:pPr eaLnBrk="1" hangingPunct="1"/>
            <a:endParaRPr lang="en-US" altLang="zh-CN"/>
          </a:p>
        </p:txBody>
      </p:sp>
      <p:sp>
        <p:nvSpPr>
          <p:cNvPr id="92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fld id="{54985577-8461-4E40-A0A2-C7E9F9E56771}" type="slidenum">
              <a:rPr altLang="en-US" smtClean="0">
                <a:latin typeface="Calibri" panose="020F0502020204030204" pitchFamily="34" charset="0"/>
                <a:ea typeface="宋体" panose="02010600030101010101" pitchFamily="2" charset="-122"/>
              </a:rPr>
            </a:fld>
            <a:endParaRPr lang="zh-CN" altLang="zh-CN">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E719044-000D-48BB-B5A0-25939D0DF2E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6712B5D-EC9C-45DE-A36C-C148ED99116C}"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3315" name="Rectangle 2"/>
          <p:cNvSpPr>
            <a:spLocks noGrp="1" noRot="1" noChangeAspect="1" noChangeArrowheads="1" noTextEdit="1"/>
          </p:cNvSpPr>
          <p:nvPr>
            <p:ph type="sldImg"/>
          </p:nvPr>
        </p:nvSpPr>
        <p:spPr/>
      </p:sp>
      <p:sp>
        <p:nvSpPr>
          <p:cNvPr id="133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281076E-F6DF-4F39-AA48-1554BC6E5D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6265CEF-3AF9-4C23-8845-A28ACBA131D2}"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7411" name="Rectangle 2"/>
          <p:cNvSpPr>
            <a:spLocks noGrp="1" noRot="1" noChangeAspect="1" noChangeArrowheads="1" noTextEdit="1"/>
          </p:cNvSpPr>
          <p:nvPr>
            <p:ph type="sldImg"/>
          </p:nvPr>
        </p:nvSpPr>
        <p:spPr/>
      </p:sp>
      <p:sp>
        <p:nvSpPr>
          <p:cNvPr id="174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F493128-D138-47D1-A1C2-7D76E23D47BF}"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9F64B6F1-0709-4900-AA3E-AAC512C2858D}"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21507" name="Rectangle 2"/>
          <p:cNvSpPr>
            <a:spLocks noGrp="1" noRot="1" noChangeAspect="1" noChangeArrowheads="1" noTextEdit="1"/>
          </p:cNvSpPr>
          <p:nvPr>
            <p:ph type="sldImg"/>
          </p:nvPr>
        </p:nvSpPr>
        <p:spPr/>
      </p:sp>
      <p:sp>
        <p:nvSpPr>
          <p:cNvPr id="21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62637BA6-92E5-416A-80CD-11EBA3B49DF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23555" name="Rectangle 2"/>
          <p:cNvSpPr>
            <a:spLocks noGrp="1" noRot="1" noChangeAspect="1" noChangeArrowheads="1" noTextEdit="1"/>
          </p:cNvSpPr>
          <p:nvPr>
            <p:ph type="sldImg"/>
          </p:nvPr>
        </p:nvSpPr>
        <p:spPr/>
      </p:sp>
      <p:sp>
        <p:nvSpPr>
          <p:cNvPr id="235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A27FC97-A426-4FAF-8B8B-9A985A01099A}"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25603" name="Rectangle 2"/>
          <p:cNvSpPr>
            <a:spLocks noGrp="1" noRot="1" noChangeAspect="1" noChangeArrowheads="1" noTextEdit="1"/>
          </p:cNvSpPr>
          <p:nvPr>
            <p:ph type="sldImg"/>
          </p:nvPr>
        </p:nvSpPr>
        <p:spPr/>
      </p:sp>
      <p:sp>
        <p:nvSpPr>
          <p:cNvPr id="25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D418C24F-3085-4A9B-99FC-7E52339F6EEB}"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27651" name="Rectangle 2"/>
          <p:cNvSpPr>
            <a:spLocks noGrp="1" noRot="1" noChangeAspect="1" noChangeArrowheads="1" noTextEdit="1"/>
          </p:cNvSpPr>
          <p:nvPr>
            <p:ph type="sldImg"/>
          </p:nvPr>
        </p:nvSpPr>
        <p:spPr/>
      </p:sp>
      <p:sp>
        <p:nvSpPr>
          <p:cNvPr id="276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E77EB6ED-73F3-4579-9520-A38705EB3937}"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29699" name="Rectangle 2"/>
          <p:cNvSpPr>
            <a:spLocks noGrp="1" noRot="1" noChangeAspect="1" noChangeArrowheads="1" noTextEdit="1"/>
          </p:cNvSpPr>
          <p:nvPr>
            <p:ph type="sldImg"/>
          </p:nvPr>
        </p:nvSpPr>
        <p:spPr/>
      </p:sp>
      <p:sp>
        <p:nvSpPr>
          <p:cNvPr id="297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1D9CBAC4-DA03-444B-B743-B5FAAFF8F087}"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31747" name="Rectangle 2"/>
          <p:cNvSpPr>
            <a:spLocks noGrp="1" noRot="1" noChangeAspect="1" noChangeArrowheads="1" noTextEdit="1"/>
          </p:cNvSpPr>
          <p:nvPr>
            <p:ph type="sldImg"/>
          </p:nvPr>
        </p:nvSpPr>
        <p:spPr/>
      </p:sp>
      <p:sp>
        <p:nvSpPr>
          <p:cNvPr id="31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9ABC729-CA33-4C0D-8207-169757F5B1E9}"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33795" name="Rectangle 2"/>
          <p:cNvSpPr>
            <a:spLocks noGrp="1" noRot="1" noChangeAspect="1" noChangeArrowheads="1" noTextEdit="1"/>
          </p:cNvSpPr>
          <p:nvPr>
            <p:ph type="sldImg"/>
          </p:nvPr>
        </p:nvSpPr>
        <p:spPr/>
      </p:sp>
      <p:sp>
        <p:nvSpPr>
          <p:cNvPr id="337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A3913932-7913-4532-93A9-4D022F284C17}"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35843" name="Rectangle 2"/>
          <p:cNvSpPr>
            <a:spLocks noGrp="1" noRot="1" noChangeAspect="1" noChangeArrowheads="1" noTextEdit="1"/>
          </p:cNvSpPr>
          <p:nvPr>
            <p:ph type="sldImg"/>
          </p:nvPr>
        </p:nvSpPr>
        <p:spPr/>
      </p:sp>
      <p:sp>
        <p:nvSpPr>
          <p:cNvPr id="358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r>
              <a:rPr lang="en-US" altLang="zh-CN"/>
              <a:t>https://www.jianshu.com/p/26645058db08</a:t>
            </a:r>
            <a:endParaRPr lang="en-US" altLang="zh-CN"/>
          </a:p>
          <a:p>
            <a:pPr eaLnBrk="1" hangingPunct="1">
              <a:buFont typeface="Monotype Sorts" charset="0"/>
              <a:buNone/>
            </a:pPr>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D89A1044-6F32-415A-9064-75741173A56A}"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37891" name="Rectangle 2"/>
          <p:cNvSpPr>
            <a:spLocks noGrp="1" noRot="1" noChangeAspect="1" noChangeArrowheads="1" noTextEdit="1"/>
          </p:cNvSpPr>
          <p:nvPr>
            <p:ph type="sldImg"/>
          </p:nvPr>
        </p:nvSpPr>
        <p:spPr/>
      </p:sp>
      <p:sp>
        <p:nvSpPr>
          <p:cNvPr id="378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A61DDC87-2D26-42FD-83B5-5EB62806A85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39939" name="Rectangle 2"/>
          <p:cNvSpPr>
            <a:spLocks noGrp="1" noRot="1" noChangeAspect="1" noChangeArrowheads="1" noTextEdit="1"/>
          </p:cNvSpPr>
          <p:nvPr>
            <p:ph type="sldImg"/>
          </p:nvPr>
        </p:nvSpPr>
        <p:spPr/>
      </p:sp>
      <p:sp>
        <p:nvSpPr>
          <p:cNvPr id="399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16FE9D2-F2BC-49A9-8D99-40E9F67F3548}"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77F83C7E-932C-4842-8126-0486EED22955}"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44035" name="Rectangle 2"/>
          <p:cNvSpPr>
            <a:spLocks noGrp="1" noRot="1" noChangeAspect="1" noChangeArrowheads="1" noTextEdit="1"/>
          </p:cNvSpPr>
          <p:nvPr>
            <p:ph type="sldImg"/>
          </p:nvPr>
        </p:nvSpPr>
        <p:spPr/>
      </p:sp>
      <p:sp>
        <p:nvSpPr>
          <p:cNvPr id="440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6AD33B7-5988-4B07-9C09-03028716A249}"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46083" name="Rectangle 2"/>
          <p:cNvSpPr>
            <a:spLocks noGrp="1" noRot="1" noChangeAspect="1" noChangeArrowheads="1" noTextEdit="1"/>
          </p:cNvSpPr>
          <p:nvPr>
            <p:ph type="sldImg"/>
          </p:nvPr>
        </p:nvSpPr>
        <p:spPr/>
      </p:sp>
      <p:sp>
        <p:nvSpPr>
          <p:cNvPr id="460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29498D2-137A-4BFC-AF54-EA6B6FC55A0C}"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48131" name="Rectangle 2"/>
          <p:cNvSpPr>
            <a:spLocks noGrp="1" noRot="1" noChangeAspect="1" noChangeArrowheads="1" noTextEdit="1"/>
          </p:cNvSpPr>
          <p:nvPr>
            <p:ph type="sldImg"/>
          </p:nvPr>
        </p:nvSpPr>
        <p:spPr/>
      </p:sp>
      <p:sp>
        <p:nvSpPr>
          <p:cNvPr id="481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498DBB3-93EB-4584-949E-74C396A1BF4F}"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50179" name="Rectangle 2"/>
          <p:cNvSpPr>
            <a:spLocks noGrp="1" noRot="1" noChangeAspect="1" noChangeArrowheads="1" noTextEdit="1"/>
          </p:cNvSpPr>
          <p:nvPr>
            <p:ph type="sldImg"/>
          </p:nvPr>
        </p:nvSpPr>
        <p:spPr/>
      </p:sp>
      <p:sp>
        <p:nvSpPr>
          <p:cNvPr id="501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E3F8D1A-097F-4CF7-ADAE-585BAF2A3FA7}"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52227" name="Rectangle 2"/>
          <p:cNvSpPr>
            <a:spLocks noGrp="1" noRot="1" noChangeAspect="1" noChangeArrowheads="1" noTextEdit="1"/>
          </p:cNvSpPr>
          <p:nvPr>
            <p:ph type="sldImg"/>
          </p:nvPr>
        </p:nvSpPr>
        <p:spPr/>
      </p:sp>
      <p:sp>
        <p:nvSpPr>
          <p:cNvPr id="522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60234FB-425E-4583-84FA-47D434D022BD}"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54275" name="Rectangle 2"/>
          <p:cNvSpPr>
            <a:spLocks noGrp="1" noRot="1" noChangeAspect="1" noChangeArrowheads="1" noTextEdit="1"/>
          </p:cNvSpPr>
          <p:nvPr>
            <p:ph type="sldImg"/>
          </p:nvPr>
        </p:nvSpPr>
        <p:spPr/>
      </p:sp>
      <p:sp>
        <p:nvSpPr>
          <p:cNvPr id="542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5335475-6C69-43C3-B9F9-AB1EFD1F10A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56323" name="Rectangle 2"/>
          <p:cNvSpPr>
            <a:spLocks noGrp="1" noRot="1" noChangeAspect="1" noChangeArrowheads="1" noTextEdit="1"/>
          </p:cNvSpPr>
          <p:nvPr>
            <p:ph type="sldImg"/>
          </p:nvPr>
        </p:nvSpPr>
        <p:spPr/>
      </p:sp>
      <p:sp>
        <p:nvSpPr>
          <p:cNvPr id="563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4264338-5E8E-4657-8275-748CE5AD6557}"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58371" name="Rectangle 2"/>
          <p:cNvSpPr>
            <a:spLocks noGrp="1" noRot="1" noChangeAspect="1" noChangeArrowheads="1" noTextEdit="1"/>
          </p:cNvSpPr>
          <p:nvPr>
            <p:ph type="sldImg"/>
          </p:nvPr>
        </p:nvSpPr>
        <p:spPr/>
      </p:sp>
      <p:sp>
        <p:nvSpPr>
          <p:cNvPr id="583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F4DB226-9635-48C7-8B6A-D16B6ECDA01D}"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60419" name="Rectangle 2"/>
          <p:cNvSpPr>
            <a:spLocks noGrp="1" noRot="1" noChangeAspect="1" noChangeArrowheads="1" noTextEdit="1"/>
          </p:cNvSpPr>
          <p:nvPr>
            <p:ph type="sldImg"/>
          </p:nvPr>
        </p:nvSpPr>
        <p:spPr/>
      </p:sp>
      <p:sp>
        <p:nvSpPr>
          <p:cNvPr id="604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B8EE1FD-BC42-4BD4-8534-42EDF25C42C6}"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62467" name="Rectangle 2"/>
          <p:cNvSpPr>
            <a:spLocks noGrp="1" noRot="1" noChangeAspect="1" noChangeArrowheads="1" noTextEdit="1"/>
          </p:cNvSpPr>
          <p:nvPr>
            <p:ph type="sldImg"/>
          </p:nvPr>
        </p:nvSpPr>
        <p:spPr/>
      </p:sp>
      <p:sp>
        <p:nvSpPr>
          <p:cNvPr id="624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FEB05DC-10F9-46C5-8E27-DC281F0F8559}"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4655ED4B-25F9-4D1F-8832-8091622399C7}"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66563" name="Rectangle 2"/>
          <p:cNvSpPr>
            <a:spLocks noGrp="1" noRot="1" noChangeAspect="1" noChangeArrowheads="1" noTextEdit="1"/>
          </p:cNvSpPr>
          <p:nvPr>
            <p:ph type="sldImg"/>
          </p:nvPr>
        </p:nvSpPr>
        <p:spPr/>
      </p:sp>
      <p:sp>
        <p:nvSpPr>
          <p:cNvPr id="66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D2AF706D-FFA6-43B6-A279-5E106C646125}"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AA050A0-948F-4B69-B867-50FD3A785279}"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3DF0F75-CBBA-45B9-99E3-0E9B30E2F894}"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862F0458-D24E-49BD-B3C7-22BCB5AC2452}"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762B4C8B-8CE8-40B3-86AA-812CC7D83DF8}"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76803" name="Rectangle 2"/>
          <p:cNvSpPr>
            <a:spLocks noGrp="1" noRot="1" noChangeAspect="1" noChangeArrowheads="1" noTextEdit="1"/>
          </p:cNvSpPr>
          <p:nvPr>
            <p:ph type="sldImg"/>
          </p:nvPr>
        </p:nvSpPr>
        <p:spPr/>
      </p:sp>
      <p:sp>
        <p:nvSpPr>
          <p:cNvPr id="768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9434E64-4FC8-49D1-9E55-FAE384AF88F1}"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r>
              <a:rPr lang="zh-CN" altLang="en-US">
                <a:latin typeface="Arial" panose="020B0604020202020204" pitchFamily="34" charset="0"/>
              </a:rPr>
              <a:t>参观教材第</a:t>
            </a:r>
            <a:r>
              <a:rPr lang="en-US" altLang="zh-CN">
                <a:latin typeface="Arial" panose="020B0604020202020204" pitchFamily="34" charset="0"/>
              </a:rPr>
              <a:t>77</a:t>
            </a:r>
            <a:r>
              <a:rPr lang="zh-CN" altLang="en-US">
                <a:latin typeface="Arial" panose="020B0604020202020204" pitchFamily="34" charset="0"/>
              </a:rPr>
              <a:t>页</a:t>
            </a:r>
            <a:endParaRPr lang="en-US" altLang="zh-CN">
              <a:latin typeface="Arial" panose="020B0604020202020204" pitchFamily="34" charset="0"/>
            </a:endParaRPr>
          </a:p>
          <a:p>
            <a:pPr eaLnBrk="1" hangingPunct="1">
              <a:buFont typeface="Monotype Sorts" charset="0"/>
              <a:buNone/>
            </a:pPr>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A309700-AC8C-4F1A-8859-7E4A326874D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r>
              <a:rPr lang="zh-CN" altLang="en-US">
                <a:latin typeface="Arial" panose="020B0604020202020204" pitchFamily="34" charset="0"/>
              </a:rPr>
              <a:t>百度百科</a:t>
            </a:r>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5902E0EC-7C85-4AAB-91C6-76491260853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0ADE909C-F9E0-4246-A70E-ADF9E1DCBE3D}"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F79BC8C2-7842-48C1-882C-1C84691EFB03}"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BD359D20-0A6F-458D-A965-C4F8E940A38A}" type="slidenum">
              <a:rPr kumimoji="1" altLang="zh-CN" smtClean="0">
                <a:latin typeface="Arial Narrow" panose="020B0606020202030204" pitchFamily="34" charset="0"/>
              </a:rPr>
            </a:fld>
            <a:endParaRPr kumimoji="1" lang="zh-CN" altLang="zh-CN">
              <a:latin typeface="Arial Narrow" panose="020B0606020202030204" pitchFamily="34" charset="0"/>
            </a:endParaRPr>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Monotype Sorts" charset="0"/>
              <a:buNone/>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238250"/>
            <a:ext cx="9144000" cy="2632075"/>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971925"/>
            <a:ext cx="9144000"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2AF88477-48E1-4CF0-8EB9-142E499F7548}"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EFD1C6A-13D5-4BC6-A7E2-4B62A58330D4}" type="slidenum">
              <a:rPr lang="zh-CN" altLang="en-US"/>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6C31440A-D864-41DC-B390-C88EBD02AB7F}"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5FD14F6-A94F-4B13-B731-9423223642F6}" type="slidenum">
              <a:rPr lang="zh-CN" altLang="en-US"/>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884363"/>
            <a:ext cx="10515600" cy="3146425"/>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5059363"/>
            <a:ext cx="10515600" cy="16541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FFFB1509-6FBC-4C48-B835-222CC488B31B}"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FA9CEB8-CD95-423D-BCDB-CEEDD13B9761}" type="slidenum">
              <a:rPr lang="zh-CN" altLang="en-US"/>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2012950"/>
            <a:ext cx="5181600" cy="479742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2012950"/>
            <a:ext cx="5181600" cy="479742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3"/>
          <p:cNvSpPr>
            <a:spLocks noGrp="1"/>
          </p:cNvSpPr>
          <p:nvPr>
            <p:ph type="dt" sz="half" idx="10"/>
          </p:nvPr>
        </p:nvSpPr>
        <p:spPr/>
        <p:txBody>
          <a:bodyPr/>
          <a:lstStyle>
            <a:lvl1pPr>
              <a:defRPr/>
            </a:lvl1pPr>
          </a:lstStyle>
          <a:p>
            <a:pPr>
              <a:defRPr/>
            </a:pPr>
            <a:fld id="{A355C352-2F5B-4754-9125-2F91B0AA4EC3}"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AC4DC7C9-DB16-4362-B62B-EC67B9D20B38}" type="slidenum">
              <a:rPr lang="zh-CN" altLang="en-US"/>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403225"/>
            <a:ext cx="10515600" cy="1460500"/>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854200"/>
            <a:ext cx="5157787"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762250"/>
            <a:ext cx="5157787" cy="406241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854200"/>
            <a:ext cx="5183188"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762250"/>
            <a:ext cx="5183188" cy="406241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3"/>
          <p:cNvSpPr>
            <a:spLocks noGrp="1"/>
          </p:cNvSpPr>
          <p:nvPr>
            <p:ph type="dt" sz="half" idx="10"/>
          </p:nvPr>
        </p:nvSpPr>
        <p:spPr/>
        <p:txBody>
          <a:bodyPr/>
          <a:lstStyle>
            <a:lvl1pPr>
              <a:defRPr/>
            </a:lvl1pPr>
          </a:lstStyle>
          <a:p>
            <a:pPr>
              <a:defRPr/>
            </a:pPr>
            <a:fld id="{ABF9E5F5-4F3C-4614-A20C-3DF1A6632E2A}"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5890CA61-C042-4080-BBF8-D021CCA4086C}" type="slidenum">
              <a:rPr lang="zh-CN" altLang="en-US"/>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08424AE9-F93C-48C5-87A1-E423B835A9A1}"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196BF27D-831E-4312-BB77-8E0F1FC072FF}" type="slidenum">
              <a:rPr lang="zh-CN" altLang="en-US"/>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E530459-E9BD-452C-9837-2C09CDA84529}"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45A8566B-B98C-433A-A05B-3B09FBA20BBC}" type="slidenum">
              <a:rPr lang="zh-CN" altLang="en-US"/>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504825"/>
            <a:ext cx="3932237" cy="1763713"/>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1089025"/>
            <a:ext cx="6172200" cy="53736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268538"/>
            <a:ext cx="3932237" cy="42021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0A263C05-7030-494B-86A6-50B10EEB1B79}"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AAD7715-F44A-4019-83F4-2F755408C5A8}" type="slidenum">
              <a:rPr lang="zh-CN" altLang="en-US"/>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504825"/>
            <a:ext cx="3932237" cy="1763713"/>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1089025"/>
            <a:ext cx="6172200" cy="537368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268538"/>
            <a:ext cx="3932237" cy="42021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A1B0C7C4-D140-417F-9901-FDB328CAE89E}"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70C33FD-8D31-44BA-84BB-39A9F3B21023}" type="slidenum">
              <a:rPr lang="zh-CN" altLang="en-US"/>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0FBAB5F6-AEBA-4CAF-BAF6-C7FA61E49E9E}"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2018F51-F472-44A8-94EB-976086C94C6B}" type="slidenum">
              <a:rPr lang="zh-CN" altLang="en-US"/>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403225"/>
            <a:ext cx="2628900" cy="64071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403225"/>
            <a:ext cx="7734300" cy="640715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pPr>
              <a:defRPr/>
            </a:pPr>
            <a:fld id="{E453F553-164D-4CA1-B5EB-33509E033991}"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486E0E-3EF3-4F79-BC03-ADB2ACD30997}" type="slidenum">
              <a:rPr lang="zh-CN" altLang="en-US"/>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p:cNvSpPr>
            <a:spLocks noGrp="1" noChangeArrowheads="1"/>
          </p:cNvSpPr>
          <p:nvPr>
            <p:ph type="sldNum" sz="quarter" idx="10"/>
          </p:nvPr>
        </p:nvSpPr>
        <p:spPr/>
        <p:txBody>
          <a:bodyPr/>
          <a:lstStyle>
            <a:lvl1pPr>
              <a:defRPr/>
            </a:lvl1pPr>
          </a:lstStyle>
          <a:p>
            <a:pPr>
              <a:defRPr/>
            </a:pPr>
            <a:fld id="{A8AD41E0-BECD-40E0-9031-124EEDB14C5A}" type="slidenum">
              <a:rPr altLang="en-US"/>
            </a:fld>
            <a:endParaRPr lang="zh-CN" alt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p:cNvSpPr>
            <a:spLocks noGrp="1" noChangeArrowheads="1"/>
          </p:cNvSpPr>
          <p:nvPr>
            <p:ph type="sldNum" sz="quarter" idx="10"/>
          </p:nvPr>
        </p:nvSpPr>
        <p:spPr/>
        <p:txBody>
          <a:bodyPr/>
          <a:lstStyle>
            <a:lvl1pPr>
              <a:defRPr/>
            </a:lvl1pPr>
          </a:lstStyle>
          <a:p>
            <a:pPr>
              <a:defRPr/>
            </a:pPr>
            <a:fld id="{48FCA3E5-9AB8-4531-B86F-EBECED5A7283}" type="slidenum">
              <a:rPr altLang="en-US"/>
            </a:fld>
            <a:endParaRPr lang="zh-CN" altLang="en-US"/>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lang="zh-CN" altLang="en-US" dirty="0"/>
              <a:t>单击此处编辑母版标题样式</a:t>
            </a:r>
            <a:endParaRPr lang="en-US" dirty="0"/>
          </a:p>
        </p:txBody>
      </p:sp>
      <p:sp>
        <p:nvSpPr>
          <p:cNvPr id="27" name="内容占位符 26"/>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日期占位符 24"/>
          <p:cNvSpPr>
            <a:spLocks noGrp="1"/>
          </p:cNvSpPr>
          <p:nvPr>
            <p:ph type="dt" sz="half" idx="10"/>
          </p:nvPr>
        </p:nvSpPr>
        <p:spPr>
          <a:xfrm>
            <a:off x="0" y="0"/>
            <a:ext cx="0" cy="0"/>
          </a:xfrm>
        </p:spPr>
        <p:txBody>
          <a:bodyPr/>
          <a:lstStyle>
            <a:lvl1pPr>
              <a:defRPr/>
            </a:lvl1pPr>
          </a:lstStyle>
          <a:p>
            <a:pPr>
              <a:defRPr/>
            </a:pPr>
            <a:fld id="{EFC4D294-EBF5-4C94-B9F9-98355490C3CB}" type="datetimeFigureOut">
              <a:rPr lang="zh-CN" altLang="en-US"/>
            </a:fld>
            <a:endParaRPr lang="zh-CN" altLang="en-US"/>
          </a:p>
        </p:txBody>
      </p:sp>
      <p:sp>
        <p:nvSpPr>
          <p:cNvPr id="5" name="页脚占位符 18"/>
          <p:cNvSpPr>
            <a:spLocks noGrp="1"/>
          </p:cNvSpPr>
          <p:nvPr>
            <p:ph type="ftr" sz="quarter" idx="11"/>
          </p:nvPr>
        </p:nvSpPr>
        <p:spPr>
          <a:xfrm>
            <a:off x="4775200" y="84138"/>
            <a:ext cx="3860800" cy="319087"/>
          </a:xfrm>
        </p:spPr>
        <p:txBody>
          <a:bodyPr/>
          <a:lstStyle>
            <a:lvl1pPr>
              <a:defRPr/>
            </a:lvl1pPr>
          </a:lstStyle>
          <a:p>
            <a:pPr>
              <a:defRPr/>
            </a:pPr>
            <a:endParaRPr lang="zh-CN" altLang="en-US"/>
          </a:p>
        </p:txBody>
      </p:sp>
      <p:sp>
        <p:nvSpPr>
          <p:cNvPr id="6" name="灯片编号占位符 15"/>
          <p:cNvSpPr>
            <a:spLocks noGrp="1"/>
          </p:cNvSpPr>
          <p:nvPr>
            <p:ph type="sldNum" sz="quarter" idx="12"/>
          </p:nvPr>
        </p:nvSpPr>
        <p:spPr>
          <a:xfrm>
            <a:off x="10972800" y="7137400"/>
            <a:ext cx="1011238" cy="273050"/>
          </a:xfrm>
        </p:spPr>
        <p:txBody>
          <a:bodyPr/>
          <a:lstStyle>
            <a:lvl1pPr>
              <a:defRPr/>
            </a:lvl1pPr>
          </a:lstStyle>
          <a:p>
            <a:pPr>
              <a:defRPr/>
            </a:pPr>
            <a:fld id="{E6407E92-E445-4657-B64C-BE059AB20FBD}" type="slidenum">
              <a:rPr altLang="en-US"/>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403225"/>
            <a:ext cx="105156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1"/>
          </p:nvPr>
        </p:nvSpPr>
        <p:spPr bwMode="auto">
          <a:xfrm>
            <a:off x="838200" y="2012950"/>
            <a:ext cx="10515600"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7008813"/>
            <a:ext cx="2743200" cy="401637"/>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D24FCC2-23DF-4ADE-9E07-C5F5D3262469}" type="datetimeFigureOut">
              <a:rPr lang="zh-CN" altLang="en-US"/>
            </a:fld>
            <a:endParaRPr lang="zh-CN" altLang="en-US"/>
          </a:p>
        </p:txBody>
      </p:sp>
      <p:sp>
        <p:nvSpPr>
          <p:cNvPr id="5" name="页脚占位符 4"/>
          <p:cNvSpPr>
            <a:spLocks noGrp="1"/>
          </p:cNvSpPr>
          <p:nvPr>
            <p:ph type="ftr" sz="quarter" idx="3"/>
          </p:nvPr>
        </p:nvSpPr>
        <p:spPr>
          <a:xfrm>
            <a:off x="4038600" y="7008813"/>
            <a:ext cx="4114800" cy="401637"/>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610600" y="7008813"/>
            <a:ext cx="2743200" cy="401637"/>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656F0DA-45B5-44A3-9304-266A7B263D45}"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F2F2F2"/>
        </a:solidFill>
        <a:effectLst/>
      </p:bgPr>
    </p:bg>
    <p:spTree>
      <p:nvGrpSpPr>
        <p:cNvPr id="1" name=""/>
        <p:cNvGrpSpPr/>
        <p:nvPr/>
      </p:nvGrpSpPr>
      <p:grpSpPr>
        <a:xfrm>
          <a:off x="0" y="0"/>
          <a:ext cx="0" cy="0"/>
          <a:chOff x="0" y="0"/>
          <a:chExt cx="0" cy="0"/>
        </a:xfrm>
      </p:grpSpPr>
      <p:sp>
        <p:nvSpPr>
          <p:cNvPr id="1028" name="矩形 8"/>
          <p:cNvSpPr>
            <a:spLocks noChangeArrowheads="1"/>
          </p:cNvSpPr>
          <p:nvPr/>
        </p:nvSpPr>
        <p:spPr bwMode="auto">
          <a:xfrm>
            <a:off x="0" y="7458075"/>
            <a:ext cx="12192000" cy="92075"/>
          </a:xfrm>
          <a:prstGeom prst="rect">
            <a:avLst/>
          </a:prstGeom>
          <a:solidFill>
            <a:srgbClr val="A6A6A6"/>
          </a:solidFill>
          <a:ln w="12700">
            <a:solidFill>
              <a:srgbClr val="A6A6A6"/>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1029" name="矩形 9"/>
          <p:cNvSpPr>
            <a:spLocks noChangeArrowheads="1"/>
          </p:cNvSpPr>
          <p:nvPr/>
        </p:nvSpPr>
        <p:spPr bwMode="auto">
          <a:xfrm>
            <a:off x="0" y="515938"/>
            <a:ext cx="12192000" cy="34925"/>
          </a:xfrm>
          <a:prstGeom prst="rect">
            <a:avLst/>
          </a:prstGeom>
          <a:solidFill>
            <a:srgbClr val="01395C"/>
          </a:solidFill>
          <a:ln w="12700">
            <a:solidFill>
              <a:srgbClr val="01395C"/>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2056" name="灯片编号占位符 5"/>
          <p:cNvSpPr>
            <a:spLocks noGrp="1" noChangeArrowheads="1"/>
          </p:cNvSpPr>
          <p:nvPr>
            <p:ph type="sldNum" sz="quarter" idx="4"/>
          </p:nvPr>
        </p:nvSpPr>
        <p:spPr bwMode="auto">
          <a:xfrm>
            <a:off x="9191625" y="74613"/>
            <a:ext cx="2743200" cy="401637"/>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Char char="•"/>
              <a:defRPr sz="1200" noProof="1">
                <a:solidFill>
                  <a:srgbClr val="01395C"/>
                </a:solidFill>
              </a:defRPr>
            </a:lvl1pPr>
          </a:lstStyle>
          <a:p>
            <a:pPr>
              <a:defRPr/>
            </a:pPr>
            <a:fld id="{ECA731D4-A08D-45EE-9232-64CC33821BED}" type="slidenum">
              <a:rPr altLang="en-US"/>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2pPr>
      <a:lvl3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3pPr>
      <a:lvl4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4pPr>
      <a:lvl5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5pPr>
      <a:lvl6pPr marL="4572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6pPr>
      <a:lvl7pPr marL="9144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7pPr>
      <a:lvl8pPr marL="13716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8pPr>
      <a:lvl9pPr marL="18288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rgbClr val="F2F2F2"/>
        </a:solidFill>
        <a:effectLst/>
      </p:bgPr>
    </p:bg>
    <p:spTree>
      <p:nvGrpSpPr>
        <p:cNvPr id="1" name=""/>
        <p:cNvGrpSpPr/>
        <p:nvPr/>
      </p:nvGrpSpPr>
      <p:grpSpPr>
        <a:xfrm>
          <a:off x="0" y="0"/>
          <a:ext cx="0" cy="0"/>
          <a:chOff x="0" y="0"/>
          <a:chExt cx="0" cy="0"/>
        </a:xfrm>
      </p:grpSpPr>
      <p:sp>
        <p:nvSpPr>
          <p:cNvPr id="1028" name="矩形 8"/>
          <p:cNvSpPr>
            <a:spLocks noChangeArrowheads="1"/>
          </p:cNvSpPr>
          <p:nvPr/>
        </p:nvSpPr>
        <p:spPr bwMode="auto">
          <a:xfrm>
            <a:off x="0" y="7458075"/>
            <a:ext cx="12192000" cy="92075"/>
          </a:xfrm>
          <a:prstGeom prst="rect">
            <a:avLst/>
          </a:prstGeom>
          <a:solidFill>
            <a:srgbClr val="A6A6A6"/>
          </a:solidFill>
          <a:ln w="12700">
            <a:solidFill>
              <a:srgbClr val="A6A6A6"/>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1029" name="矩形 9"/>
          <p:cNvSpPr>
            <a:spLocks noChangeArrowheads="1"/>
          </p:cNvSpPr>
          <p:nvPr/>
        </p:nvSpPr>
        <p:spPr bwMode="auto">
          <a:xfrm>
            <a:off x="0" y="515938"/>
            <a:ext cx="12192000" cy="34925"/>
          </a:xfrm>
          <a:prstGeom prst="rect">
            <a:avLst/>
          </a:prstGeom>
          <a:solidFill>
            <a:srgbClr val="01395C"/>
          </a:solidFill>
          <a:ln w="12700">
            <a:solidFill>
              <a:srgbClr val="01395C"/>
            </a:solidFill>
            <a:miter lim="800000"/>
          </a:ln>
        </p:spPr>
        <p:txBody>
          <a:bodyPr anchor="ctr"/>
          <a:lstStyle>
            <a:lvl1pPr eaLnBrk="0" hangingPunct="0">
              <a:defRPr>
                <a:solidFill>
                  <a:schemeClr val="tx1"/>
                </a:solidFill>
                <a:latin typeface="Impact" panose="020B0806030902050204" pitchFamily="34" charset="0"/>
                <a:ea typeface="微软雅黑" panose="020B0503020204020204" pitchFamily="34" charset="-122"/>
              </a:defRPr>
            </a:lvl1pPr>
            <a:lvl2pPr marL="742950" indent="-285750" eaLnBrk="0" hangingPunct="0">
              <a:defRPr>
                <a:solidFill>
                  <a:schemeClr val="tx1"/>
                </a:solidFill>
                <a:latin typeface="Impact" panose="020B0806030902050204" pitchFamily="34" charset="0"/>
                <a:ea typeface="微软雅黑" panose="020B0503020204020204" pitchFamily="34" charset="-122"/>
              </a:defRPr>
            </a:lvl2pPr>
            <a:lvl3pPr marL="1143000" indent="-228600" eaLnBrk="0" hangingPunct="0">
              <a:defRPr>
                <a:solidFill>
                  <a:schemeClr val="tx1"/>
                </a:solidFill>
                <a:latin typeface="Impact" panose="020B0806030902050204" pitchFamily="34" charset="0"/>
                <a:ea typeface="微软雅黑" panose="020B0503020204020204" pitchFamily="34" charset="-122"/>
              </a:defRPr>
            </a:lvl3pPr>
            <a:lvl4pPr marL="1600200" indent="-228600" eaLnBrk="0" hangingPunct="0">
              <a:defRPr>
                <a:solidFill>
                  <a:schemeClr val="tx1"/>
                </a:solidFill>
                <a:latin typeface="Impact" panose="020B0806030902050204" pitchFamily="34" charset="0"/>
                <a:ea typeface="微软雅黑" panose="020B0503020204020204" pitchFamily="34" charset="-122"/>
              </a:defRPr>
            </a:lvl4pPr>
            <a:lvl5pPr marL="2057400" indent="-228600" eaLnBrk="0" hangingPunct="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defRPr/>
            </a:pPr>
            <a:endParaRPr lang="zh-CN" altLang="en-US">
              <a:solidFill>
                <a:srgbClr val="FFFFFF"/>
              </a:solidFill>
            </a:endParaRPr>
          </a:p>
        </p:txBody>
      </p:sp>
      <p:sp>
        <p:nvSpPr>
          <p:cNvPr id="2056" name="灯片编号占位符 5"/>
          <p:cNvSpPr>
            <a:spLocks noGrp="1" noChangeArrowheads="1"/>
          </p:cNvSpPr>
          <p:nvPr>
            <p:ph type="sldNum" sz="quarter" idx="4"/>
          </p:nvPr>
        </p:nvSpPr>
        <p:spPr bwMode="auto">
          <a:xfrm>
            <a:off x="9191625" y="74613"/>
            <a:ext cx="2743200" cy="401637"/>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Char char="•"/>
              <a:defRPr sz="1200" noProof="1">
                <a:solidFill>
                  <a:srgbClr val="01395C"/>
                </a:solidFill>
              </a:defRPr>
            </a:lvl1pPr>
          </a:lstStyle>
          <a:p>
            <a:pPr>
              <a:defRPr/>
            </a:pPr>
            <a:fld id="{BE1E0957-E904-4AFC-A12B-0BC2BB8162F8}" type="slidenum">
              <a:rPr altLang="en-US"/>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Lst>
  <p:hf hdr="0" ftr="0" dt="0"/>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2pPr>
      <a:lvl3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3pPr>
      <a:lvl4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4pPr>
      <a:lvl5pPr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5pPr>
      <a:lvl6pPr marL="4572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6pPr>
      <a:lvl7pPr marL="9144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7pPr>
      <a:lvl8pPr marL="13716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8pPr>
      <a:lvl9pPr marL="1828800" algn="l" rtl="0" eaLnBrk="0" fontAlgn="base" hangingPunct="0">
        <a:lnSpc>
          <a:spcPct val="90000"/>
        </a:lnSpc>
        <a:spcBef>
          <a:spcPct val="0"/>
        </a:spcBef>
        <a:spcAft>
          <a:spcPct val="0"/>
        </a:spcAft>
        <a:defRPr sz="4400">
          <a:solidFill>
            <a:schemeClr val="tx1"/>
          </a:solidFill>
          <a:latin typeface="Impact" panose="020B0806030902050204" pitchFamily="34" charset="0"/>
          <a:ea typeface="方正粗宋简体"/>
          <a:cs typeface="方正粗宋简体"/>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1.png"/><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14.xml"/><Relationship Id="rId5" Type="http://schemas.openxmlformats.org/officeDocument/2006/relationships/image" Target="../media/image11.jpeg"/><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4.xml"/><Relationship Id="rId2" Type="http://schemas.openxmlformats.org/officeDocument/2006/relationships/image" Target="../media/image13.jpeg"/><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4.xml"/><Relationship Id="rId1" Type="http://schemas.openxmlformats.org/officeDocument/2006/relationships/image" Target="../media/image14.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4.xml"/><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4.xml"/><Relationship Id="rId1" Type="http://schemas.openxmlformats.org/officeDocument/2006/relationships/image" Target="../media/image16.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4.xml"/><Relationship Id="rId1" Type="http://schemas.openxmlformats.org/officeDocument/2006/relationships/image" Target="../media/image17.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4.xml"/><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4.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4.xml"/><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4.xml"/><Relationship Id="rId1"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4.xml"/><Relationship Id="rId1" Type="http://schemas.openxmlformats.org/officeDocument/2006/relationships/image" Target="../media/image22.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4.xml"/><Relationship Id="rId1"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4.xml"/><Relationship Id="rId1" Type="http://schemas.openxmlformats.org/officeDocument/2006/relationships/image" Target="../media/image24.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4.xml"/><Relationship Id="rId1" Type="http://schemas.openxmlformats.org/officeDocument/2006/relationships/image" Target="../media/image2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4.xml"/><Relationship Id="rId2" Type="http://schemas.openxmlformats.org/officeDocument/2006/relationships/image" Target="../media/image27.jpeg"/><Relationship Id="rId1" Type="http://schemas.openxmlformats.org/officeDocument/2006/relationships/image" Target="../media/image26.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4.xml"/><Relationship Id="rId1"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7170" name="矩形 1" hidden="1"/>
          <p:cNvSpPr>
            <a:spLocks noChangeArrowheads="1"/>
          </p:cNvSpPr>
          <p:nvPr/>
        </p:nvSpPr>
        <p:spPr bwMode="auto">
          <a:xfrm>
            <a:off x="-11113" y="4502150"/>
            <a:ext cx="12203113" cy="2192338"/>
          </a:xfrm>
          <a:custGeom>
            <a:avLst/>
            <a:gdLst>
              <a:gd name="T0" fmla="*/ 11430 w 12202851"/>
              <a:gd name="T1" fmla="*/ 0 h 1987781"/>
              <a:gd name="T2" fmla="*/ 12208423 w 12202851"/>
              <a:gd name="T3" fmla="*/ 5991325 h 1987781"/>
              <a:gd name="T4" fmla="*/ 12198031 w 12202851"/>
              <a:gd name="T5" fmla="*/ 18913193 h 1987781"/>
              <a:gd name="T6" fmla="*/ 0 w 12202851"/>
              <a:gd name="T7" fmla="*/ 18913193 h 1987781"/>
              <a:gd name="T8" fmla="*/ 11430 w 12202851"/>
              <a:gd name="T9" fmla="*/ 0 h 1987781"/>
              <a:gd name="T10" fmla="*/ 0 60000 65536"/>
              <a:gd name="T11" fmla="*/ 0 60000 65536"/>
              <a:gd name="T12" fmla="*/ 0 60000 65536"/>
              <a:gd name="T13" fmla="*/ 0 60000 65536"/>
              <a:gd name="T14" fmla="*/ 0 60000 65536"/>
              <a:gd name="T15" fmla="*/ 0 w 12202851"/>
              <a:gd name="T16" fmla="*/ 0 h 1987781"/>
              <a:gd name="T17" fmla="*/ 12202851 w 12202851"/>
              <a:gd name="T18" fmla="*/ 1987781 h 1987781"/>
            </a:gdLst>
            <a:ahLst/>
            <a:cxnLst>
              <a:cxn ang="T10">
                <a:pos x="T0" y="T1"/>
              </a:cxn>
              <a:cxn ang="T11">
                <a:pos x="T2" y="T3"/>
              </a:cxn>
              <a:cxn ang="T12">
                <a:pos x="T4" y="T5"/>
              </a:cxn>
              <a:cxn ang="T13">
                <a:pos x="T6" y="T7"/>
              </a:cxn>
              <a:cxn ang="T14">
                <a:pos x="T8" y="T9"/>
              </a:cxn>
            </a:cxnLst>
            <a:rect l="T15" t="T16" r="T17" b="T18"/>
            <a:pathLst>
              <a:path w="12202851" h="1987781">
                <a:moveTo>
                  <a:pt x="11430" y="0"/>
                </a:moveTo>
                <a:cubicBezTo>
                  <a:pt x="3514321" y="1818409"/>
                  <a:pt x="8046951" y="1697875"/>
                  <a:pt x="12202391" y="629689"/>
                </a:cubicBezTo>
                <a:cubicBezTo>
                  <a:pt x="12205855" y="1003762"/>
                  <a:pt x="12188536" y="1613708"/>
                  <a:pt x="12192000" y="1987781"/>
                </a:cubicBezTo>
                <a:lnTo>
                  <a:pt x="0" y="1987781"/>
                </a:lnTo>
                <a:lnTo>
                  <a:pt x="11430" y="0"/>
                </a:lnTo>
                <a:close/>
              </a:path>
            </a:pathLst>
          </a:custGeom>
          <a:solidFill>
            <a:srgbClr val="8BBF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7171" name="组合 9"/>
          <p:cNvGrpSpPr/>
          <p:nvPr/>
        </p:nvGrpSpPr>
        <p:grpSpPr bwMode="auto">
          <a:xfrm>
            <a:off x="-3175" y="4502150"/>
            <a:ext cx="12203113" cy="3173413"/>
            <a:chOff x="0" y="0"/>
            <a:chExt cx="12202851" cy="2878281"/>
          </a:xfrm>
        </p:grpSpPr>
        <p:sp>
          <p:nvSpPr>
            <p:cNvPr id="7175" name="矩形 1"/>
            <p:cNvSpPr>
              <a:spLocks noChangeArrowheads="1"/>
            </p:cNvSpPr>
            <p:nvPr/>
          </p:nvSpPr>
          <p:spPr bwMode="auto">
            <a:xfrm>
              <a:off x="0" y="69113"/>
              <a:ext cx="12202851" cy="2331134"/>
            </a:xfrm>
            <a:custGeom>
              <a:avLst/>
              <a:gdLst>
                <a:gd name="T0" fmla="*/ 0 w 12202851"/>
                <a:gd name="T1" fmla="*/ 0 h 2330681"/>
                <a:gd name="T2" fmla="*/ 12202387 w 12202851"/>
                <a:gd name="T3" fmla="*/ 1034355 h 2330681"/>
                <a:gd name="T4" fmla="*/ 12192003 w 12202851"/>
                <a:gd name="T5" fmla="*/ 2341122 h 2330681"/>
                <a:gd name="T6" fmla="*/ 0 w 12202851"/>
                <a:gd name="T7" fmla="*/ 2341122 h 2330681"/>
                <a:gd name="T8" fmla="*/ 0 w 12202851"/>
                <a:gd name="T9" fmla="*/ 0 h 2330681"/>
                <a:gd name="T10" fmla="*/ 0 60000 65536"/>
                <a:gd name="T11" fmla="*/ 0 60000 65536"/>
                <a:gd name="T12" fmla="*/ 0 60000 65536"/>
                <a:gd name="T13" fmla="*/ 0 60000 65536"/>
                <a:gd name="T14" fmla="*/ 0 60000 65536"/>
                <a:gd name="T15" fmla="*/ 0 w 12202851"/>
                <a:gd name="T16" fmla="*/ 0 h 2330681"/>
                <a:gd name="T17" fmla="*/ 12202851 w 12202851"/>
                <a:gd name="T18" fmla="*/ 2330681 h 2330681"/>
              </a:gdLst>
              <a:ahLst/>
              <a:cxnLst>
                <a:cxn ang="T10">
                  <a:pos x="T0" y="T1"/>
                </a:cxn>
                <a:cxn ang="T11">
                  <a:pos x="T2" y="T3"/>
                </a:cxn>
                <a:cxn ang="T12">
                  <a:pos x="T4" y="T5"/>
                </a:cxn>
                <a:cxn ang="T13">
                  <a:pos x="T6" y="T7"/>
                </a:cxn>
                <a:cxn ang="T14">
                  <a:pos x="T8" y="T9"/>
                </a:cxn>
              </a:cxnLst>
              <a:rect l="T15" t="T16" r="T17" b="T18"/>
              <a:pathLst>
                <a:path w="12202851" h="2330681">
                  <a:moveTo>
                    <a:pt x="0" y="0"/>
                  </a:moveTo>
                  <a:cubicBezTo>
                    <a:pt x="3502891" y="1818409"/>
                    <a:pt x="8046951" y="2097925"/>
                    <a:pt x="12202391" y="1029739"/>
                  </a:cubicBezTo>
                  <a:cubicBezTo>
                    <a:pt x="12205855" y="1403812"/>
                    <a:pt x="12188536" y="1956608"/>
                    <a:pt x="12192000" y="2330681"/>
                  </a:cubicBezTo>
                  <a:lnTo>
                    <a:pt x="0" y="2330681"/>
                  </a:lnTo>
                  <a:lnTo>
                    <a:pt x="0" y="0"/>
                  </a:lnTo>
                  <a:close/>
                </a:path>
              </a:pathLst>
            </a:custGeom>
            <a:solidFill>
              <a:srgbClr val="8BBF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176" name="矩形 1"/>
            <p:cNvSpPr>
              <a:spLocks noChangeArrowheads="1"/>
            </p:cNvSpPr>
            <p:nvPr/>
          </p:nvSpPr>
          <p:spPr bwMode="auto">
            <a:xfrm>
              <a:off x="0" y="0"/>
              <a:ext cx="12202851" cy="2639264"/>
            </a:xfrm>
            <a:custGeom>
              <a:avLst/>
              <a:gdLst>
                <a:gd name="T0" fmla="*/ 0 w 12202851"/>
                <a:gd name="T1" fmla="*/ 0 h 2639291"/>
                <a:gd name="T2" fmla="*/ 12202387 w 12202851"/>
                <a:gd name="T3" fmla="*/ 1406607 h 2639291"/>
                <a:gd name="T4" fmla="*/ 12192003 w 12202851"/>
                <a:gd name="T5" fmla="*/ 2638673 h 2639291"/>
                <a:gd name="T6" fmla="*/ 0 w 12202851"/>
                <a:gd name="T7" fmla="*/ 2638673 h 2639291"/>
                <a:gd name="T8" fmla="*/ 0 w 12202851"/>
                <a:gd name="T9" fmla="*/ 0 h 2639291"/>
                <a:gd name="T10" fmla="*/ 0 60000 65536"/>
                <a:gd name="T11" fmla="*/ 0 60000 65536"/>
                <a:gd name="T12" fmla="*/ 0 60000 65536"/>
                <a:gd name="T13" fmla="*/ 0 60000 65536"/>
                <a:gd name="T14" fmla="*/ 0 60000 65536"/>
                <a:gd name="T15" fmla="*/ 0 w 12202851"/>
                <a:gd name="T16" fmla="*/ 0 h 2639291"/>
                <a:gd name="T17" fmla="*/ 12202851 w 12202851"/>
                <a:gd name="T18" fmla="*/ 2639291 h 2639291"/>
              </a:gdLst>
              <a:ahLst/>
              <a:cxnLst>
                <a:cxn ang="T10">
                  <a:pos x="T0" y="T1"/>
                </a:cxn>
                <a:cxn ang="T11">
                  <a:pos x="T2" y="T3"/>
                </a:cxn>
                <a:cxn ang="T12">
                  <a:pos x="T4" y="T5"/>
                </a:cxn>
                <a:cxn ang="T13">
                  <a:pos x="T6" y="T7"/>
                </a:cxn>
                <a:cxn ang="T14">
                  <a:pos x="T8" y="T9"/>
                </a:cxn>
              </a:cxnLst>
              <a:rect l="T15" t="T16" r="T17" b="T18"/>
              <a:pathLst>
                <a:path w="12202851" h="2639291">
                  <a:moveTo>
                    <a:pt x="0" y="0"/>
                  </a:moveTo>
                  <a:cubicBezTo>
                    <a:pt x="3502891" y="1818409"/>
                    <a:pt x="8024091" y="2726575"/>
                    <a:pt x="12202391" y="1406929"/>
                  </a:cubicBezTo>
                  <a:cubicBezTo>
                    <a:pt x="12205855" y="1781002"/>
                    <a:pt x="12188536" y="2265218"/>
                    <a:pt x="12192000" y="2639291"/>
                  </a:cubicBezTo>
                  <a:lnTo>
                    <a:pt x="0" y="2639291"/>
                  </a:lnTo>
                  <a:lnTo>
                    <a:pt x="0" y="0"/>
                  </a:lnTo>
                  <a:close/>
                </a:path>
              </a:pathLst>
            </a:custGeom>
            <a:solidFill>
              <a:srgbClr val="0495D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177" name="矩形 1"/>
            <p:cNvSpPr>
              <a:spLocks noChangeArrowheads="1"/>
            </p:cNvSpPr>
            <p:nvPr/>
          </p:nvSpPr>
          <p:spPr bwMode="auto">
            <a:xfrm>
              <a:off x="0" y="10079"/>
              <a:ext cx="12193326" cy="2868202"/>
            </a:xfrm>
            <a:custGeom>
              <a:avLst/>
              <a:gdLst>
                <a:gd name="T0" fmla="*/ 0 w 12192999"/>
                <a:gd name="T1" fmla="*/ 0 h 2867891"/>
                <a:gd name="T2" fmla="*/ 12199529 w 12192999"/>
                <a:gd name="T3" fmla="*/ 1739616 h 2867891"/>
                <a:gd name="T4" fmla="*/ 12199529 w 12192999"/>
                <a:gd name="T5" fmla="*/ 2875055 h 2867891"/>
                <a:gd name="T6" fmla="*/ 0 w 12192999"/>
                <a:gd name="T7" fmla="*/ 2875055 h 2867891"/>
                <a:gd name="T8" fmla="*/ 0 w 12192999"/>
                <a:gd name="T9" fmla="*/ 0 h 2867891"/>
                <a:gd name="T10" fmla="*/ 0 60000 65536"/>
                <a:gd name="T11" fmla="*/ 0 60000 65536"/>
                <a:gd name="T12" fmla="*/ 0 60000 65536"/>
                <a:gd name="T13" fmla="*/ 0 60000 65536"/>
                <a:gd name="T14" fmla="*/ 0 60000 65536"/>
                <a:gd name="T15" fmla="*/ 0 w 12192999"/>
                <a:gd name="T16" fmla="*/ 0 h 2867891"/>
                <a:gd name="T17" fmla="*/ 12192999 w 12192999"/>
                <a:gd name="T18" fmla="*/ 2867891 h 2867891"/>
              </a:gdLst>
              <a:ahLst/>
              <a:cxnLst>
                <a:cxn ang="T10">
                  <a:pos x="T0" y="T1"/>
                </a:cxn>
                <a:cxn ang="T11">
                  <a:pos x="T2" y="T3"/>
                </a:cxn>
                <a:cxn ang="T12">
                  <a:pos x="T4" y="T5"/>
                </a:cxn>
                <a:cxn ang="T13">
                  <a:pos x="T6" y="T7"/>
                </a:cxn>
                <a:cxn ang="T14">
                  <a:pos x="T8" y="T9"/>
                </a:cxn>
              </a:cxnLst>
              <a:rect l="T15" t="T16" r="T17" b="T18"/>
              <a:pathLst>
                <a:path w="12192999" h="2867891">
                  <a:moveTo>
                    <a:pt x="0" y="0"/>
                  </a:moveTo>
                  <a:cubicBezTo>
                    <a:pt x="3502891" y="1818409"/>
                    <a:pt x="8013700" y="3054928"/>
                    <a:pt x="12192000" y="1735282"/>
                  </a:cubicBezTo>
                  <a:cubicBezTo>
                    <a:pt x="12195464" y="2109355"/>
                    <a:pt x="12188536" y="2493818"/>
                    <a:pt x="12192000" y="2867891"/>
                  </a:cubicBezTo>
                  <a:lnTo>
                    <a:pt x="0" y="2867891"/>
                  </a:lnTo>
                  <a:lnTo>
                    <a:pt x="0" y="0"/>
                  </a:lnTo>
                  <a:close/>
                </a:path>
              </a:pathLst>
            </a:custGeom>
            <a:solidFill>
              <a:srgbClr val="01395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7172" name="矩形 10"/>
          <p:cNvSpPr>
            <a:spLocks noChangeArrowheads="1"/>
          </p:cNvSpPr>
          <p:nvPr/>
        </p:nvSpPr>
        <p:spPr bwMode="auto">
          <a:xfrm>
            <a:off x="2008188" y="3097213"/>
            <a:ext cx="326231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gn="ctr" eaLnBrk="1" hangingPunct="1">
              <a:buFont typeface="Arial" panose="020B0604020202020204" pitchFamily="34" charset="0"/>
              <a:buNone/>
            </a:pPr>
            <a:r>
              <a:rPr lang="zh-CN" altLang="en-US" sz="2400" b="1">
                <a:solidFill>
                  <a:srgbClr val="01395C"/>
                </a:solidFill>
                <a:latin typeface="方正粗宋简体"/>
                <a:ea typeface="方正粗宋简体"/>
                <a:cs typeface="方正粗宋简体"/>
              </a:rPr>
              <a:t>山东建筑大学</a:t>
            </a:r>
            <a:endParaRPr lang="en-US" altLang="zh-CN" sz="2400" b="1">
              <a:solidFill>
                <a:srgbClr val="01395C"/>
              </a:solidFill>
              <a:latin typeface="方正粗宋简体"/>
              <a:ea typeface="方正粗宋简体"/>
              <a:cs typeface="方正粗宋简体"/>
            </a:endParaRPr>
          </a:p>
          <a:p>
            <a:pPr algn="ctr" eaLnBrk="1" hangingPunct="1">
              <a:buFont typeface="Arial" panose="020B0604020202020204" pitchFamily="34" charset="0"/>
              <a:buNone/>
            </a:pPr>
            <a:r>
              <a:rPr lang="zh-CN" altLang="en-US" sz="2400" b="1">
                <a:solidFill>
                  <a:srgbClr val="01395C"/>
                </a:solidFill>
                <a:latin typeface="方正粗宋简体"/>
                <a:ea typeface="方正粗宋简体"/>
                <a:cs typeface="方正粗宋简体"/>
              </a:rPr>
              <a:t>计算机科学与技术学院</a:t>
            </a:r>
            <a:endParaRPr lang="zh-CN" altLang="en-US" sz="2400" b="1">
              <a:solidFill>
                <a:srgbClr val="01395C"/>
              </a:solidFill>
              <a:latin typeface="方正粗宋简体"/>
              <a:ea typeface="方正粗宋简体"/>
              <a:cs typeface="方正粗宋简体"/>
            </a:endParaRPr>
          </a:p>
        </p:txBody>
      </p:sp>
      <p:sp>
        <p:nvSpPr>
          <p:cNvPr id="12296" name="标题 7"/>
          <p:cNvSpPr>
            <a:spLocks noChangeArrowheads="1"/>
          </p:cNvSpPr>
          <p:nvPr/>
        </p:nvSpPr>
        <p:spPr bwMode="auto">
          <a:xfrm>
            <a:off x="90488" y="900113"/>
            <a:ext cx="7097712" cy="779462"/>
          </a:xfrm>
          <a:prstGeom prst="rect">
            <a:avLst/>
          </a:prstGeom>
          <a:noFill/>
          <a:ln w="9525">
            <a:noFill/>
            <a:miter lim="800000"/>
          </a:ln>
        </p:spPr>
        <p:txBody>
          <a:bodyPr anchor="b"/>
          <a:lstStyle/>
          <a:p>
            <a:pPr algn="ctr" eaLnBrk="1" hangingPunct="1">
              <a:lnSpc>
                <a:spcPct val="90000"/>
              </a:lnSpc>
              <a:buFont typeface="Arial" panose="020B0604020202020204" pitchFamily="34" charset="0"/>
              <a:buNone/>
              <a:defRPr/>
            </a:pPr>
            <a:r>
              <a:rPr lang="zh-CN" altLang="en-US" sz="4400" b="1" dirty="0">
                <a:solidFill>
                  <a:srgbClr val="01395C"/>
                </a:solidFill>
                <a:latin typeface="+mj-lt"/>
                <a:ea typeface="+mj-ea"/>
                <a:cs typeface="+mj-cs"/>
                <a:sym typeface="+mn-ea"/>
              </a:rPr>
              <a:t>第</a:t>
            </a:r>
            <a:r>
              <a:rPr lang="en-US" altLang="zh-CN" sz="4400" b="1" dirty="0">
                <a:solidFill>
                  <a:srgbClr val="01395C"/>
                </a:solidFill>
                <a:latin typeface="+mj-lt"/>
                <a:ea typeface="+mj-ea"/>
                <a:cs typeface="+mj-cs"/>
                <a:sym typeface="+mn-ea"/>
              </a:rPr>
              <a:t>3</a:t>
            </a:r>
            <a:r>
              <a:rPr lang="zh-CN" altLang="en-US" sz="4400" b="1" dirty="0">
                <a:solidFill>
                  <a:srgbClr val="01395C"/>
                </a:solidFill>
                <a:latin typeface="+mj-lt"/>
                <a:ea typeface="+mj-ea"/>
                <a:cs typeface="+mj-cs"/>
                <a:sym typeface="+mn-ea"/>
              </a:rPr>
              <a:t>章 软件项目的范围管理</a:t>
            </a:r>
            <a:endParaRPr lang="zh-CN" altLang="en-US" sz="4400" b="1" dirty="0">
              <a:solidFill>
                <a:srgbClr val="01395C"/>
              </a:solidFill>
              <a:latin typeface="+mj-lt"/>
              <a:ea typeface="+mj-ea"/>
              <a:cs typeface="+mj-cs"/>
              <a:sym typeface="+mn-ea"/>
            </a:endParaRPr>
          </a:p>
        </p:txBody>
      </p:sp>
      <p:graphicFrame>
        <p:nvGraphicFramePr>
          <p:cNvPr id="7174" name="对象 7"/>
          <p:cNvGraphicFramePr/>
          <p:nvPr/>
        </p:nvGraphicFramePr>
        <p:xfrm>
          <a:off x="7267575" y="1328738"/>
          <a:ext cx="4232275" cy="4337050"/>
        </p:xfrm>
        <a:graphic>
          <a:graphicData uri="http://schemas.openxmlformats.org/presentationml/2006/ole">
            <mc:AlternateContent xmlns:mc="http://schemas.openxmlformats.org/markup-compatibility/2006">
              <mc:Choice xmlns:v="urn:schemas-microsoft-com:vml" Requires="v">
                <p:oleObj spid="_x0000_s2" name="BMP 图像" r:id="rId1" imgW="5057775" imgH="4981575" progId="Paint.Picture">
                  <p:embed/>
                </p:oleObj>
              </mc:Choice>
              <mc:Fallback>
                <p:oleObj name="BMP 图像" r:id="rId1" imgW="5057775" imgH="4981575" progId="Paint.Picture">
                  <p:embed/>
                  <p:pic>
                    <p:nvPicPr>
                      <p:cNvPr id="0" name="对象 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7575" y="1328738"/>
                        <a:ext cx="4232275" cy="433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灯片编号占位符 2"/>
          <p:cNvSpPr>
            <a:spLocks noGrp="1"/>
          </p:cNvSpPr>
          <p:nvPr>
            <p:ph type="sldNum" sz="quarter" idx="10"/>
          </p:nvPr>
        </p:nvSpPr>
        <p:spPr/>
        <p:txBody>
          <a:bodyPr/>
          <a:p>
            <a:pPr>
              <a:defRPr/>
            </a:pPr>
            <a:fld id="{A8AD41E0-BECD-40E0-9031-124EEDB14C5A}" type="slidenum">
              <a:rPr altLang="en-US"/>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V="1">
            <a:off x="3432175" y="-109538"/>
            <a:ext cx="0" cy="7670801"/>
          </a:xfrm>
          <a:prstGeom prst="line">
            <a:avLst/>
          </a:prstGeom>
          <a:ln w="28575">
            <a:solidFill>
              <a:srgbClr val="25A2FF"/>
            </a:solidFill>
            <a:prstDash val="sysDot"/>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p:cNvSpPr txBox="1">
            <a:spLocks noChangeArrowheads="1"/>
          </p:cNvSpPr>
          <p:nvPr/>
        </p:nvSpPr>
        <p:spPr bwMode="auto">
          <a:xfrm>
            <a:off x="4049713" y="1001713"/>
            <a:ext cx="3411537"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en-US" altLang="zh-CN" sz="2800" b="1" dirty="0">
                <a:solidFill>
                  <a:srgbClr val="005EA4"/>
                </a:solidFill>
                <a:latin typeface="微软雅黑" panose="020B0503020204020204" pitchFamily="34" charset="-122"/>
              </a:rPr>
              <a:t>3.1 </a:t>
            </a:r>
            <a:r>
              <a:rPr lang="zh-CN" altLang="en-US" sz="2800" b="1" dirty="0">
                <a:solidFill>
                  <a:srgbClr val="005EA4"/>
                </a:solidFill>
                <a:latin typeface="微软雅黑" panose="020B0503020204020204" pitchFamily="34" charset="-122"/>
              </a:rPr>
              <a:t>软件需求的定义</a:t>
            </a:r>
            <a:endParaRPr lang="zh-CN" altLang="zh-CN" sz="2800" b="1" dirty="0">
              <a:solidFill>
                <a:srgbClr val="005EA4"/>
              </a:solidFill>
              <a:latin typeface="微软雅黑" panose="020B0503020204020204" pitchFamily="34" charset="-122"/>
            </a:endParaRPr>
          </a:p>
        </p:txBody>
      </p:sp>
      <p:sp>
        <p:nvSpPr>
          <p:cNvPr id="5" name="TextBox 4"/>
          <p:cNvSpPr txBox="1">
            <a:spLocks noChangeArrowheads="1"/>
          </p:cNvSpPr>
          <p:nvPr/>
        </p:nvSpPr>
        <p:spPr bwMode="auto">
          <a:xfrm>
            <a:off x="3925888" y="3273425"/>
            <a:ext cx="3160475" cy="693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en-US" altLang="zh-CN" sz="2800" b="1" dirty="0">
                <a:solidFill>
                  <a:srgbClr val="005EA4"/>
                </a:solidFill>
                <a:latin typeface="微软雅黑" panose="020B0503020204020204" pitchFamily="34" charset="-122"/>
              </a:rPr>
              <a:t>3.3 </a:t>
            </a:r>
            <a:r>
              <a:rPr lang="zh-CN" altLang="en-US" sz="2800" b="1" dirty="0">
                <a:solidFill>
                  <a:srgbClr val="005EA4"/>
                </a:solidFill>
                <a:latin typeface="微软雅黑" panose="020B0503020204020204" pitchFamily="34" charset="-122"/>
              </a:rPr>
              <a:t>需求变更管理</a:t>
            </a:r>
            <a:endParaRPr lang="zh-CN" altLang="zh-CN" sz="2800" b="1" dirty="0">
              <a:solidFill>
                <a:srgbClr val="005EA4"/>
              </a:solidFill>
              <a:latin typeface="微软雅黑" panose="020B0503020204020204" pitchFamily="34" charset="-122"/>
            </a:endParaRPr>
          </a:p>
        </p:txBody>
      </p:sp>
      <p:sp>
        <p:nvSpPr>
          <p:cNvPr id="6" name="Rectangle 6"/>
          <p:cNvSpPr>
            <a:spLocks noChangeArrowheads="1"/>
          </p:cNvSpPr>
          <p:nvPr/>
        </p:nvSpPr>
        <p:spPr bwMode="auto">
          <a:xfrm>
            <a:off x="0" y="0"/>
            <a:ext cx="3246438" cy="7561263"/>
          </a:xfrm>
          <a:prstGeom prst="rect">
            <a:avLst/>
          </a:prstGeom>
          <a:solidFill>
            <a:srgbClr val="0070C0"/>
          </a:solidFill>
          <a:ln w="25400" algn="ctr">
            <a:noFill/>
            <a:miter lim="800000"/>
          </a:ln>
          <a:effectLst>
            <a:outerShdw blurRad="50800" dist="38100" dir="2700000" algn="tl" rotWithShape="0">
              <a:prstClr val="black">
                <a:alpha val="40000"/>
              </a:prstClr>
            </a:outerShdw>
          </a:effectLst>
        </p:spPr>
        <p:txBody>
          <a:bodyPr lIns="68589" tIns="34295" rIns="68589" bIns="34295" anchor="ctr"/>
          <a:lstStyle/>
          <a:p>
            <a:pPr algn="ctr" defTabSz="685800" fontAlgn="auto">
              <a:spcBef>
                <a:spcPts val="0"/>
              </a:spcBef>
              <a:spcAft>
                <a:spcPts val="0"/>
              </a:spcAft>
              <a:defRPr/>
            </a:pPr>
            <a:endParaRPr lang="en-US" altLang="zh-CN" sz="1400">
              <a:solidFill>
                <a:srgbClr val="FFFFFF"/>
              </a:solidFill>
              <a:latin typeface="Calibri" panose="020F0502020204030204" pitchFamily="34" charset="0"/>
              <a:ea typeface="+mn-ea"/>
            </a:endParaRPr>
          </a:p>
        </p:txBody>
      </p:sp>
      <p:sp>
        <p:nvSpPr>
          <p:cNvPr id="7" name="文本框 52"/>
          <p:cNvSpPr txBox="1">
            <a:spLocks noChangeArrowheads="1"/>
          </p:cNvSpPr>
          <p:nvPr/>
        </p:nvSpPr>
        <p:spPr bwMode="auto">
          <a:xfrm>
            <a:off x="430213" y="2336800"/>
            <a:ext cx="2376487" cy="3232150"/>
          </a:xfrm>
          <a:prstGeom prst="rect">
            <a:avLst/>
          </a:prstGeom>
          <a:noFill/>
          <a:ln w="9525">
            <a:noFill/>
            <a:miter lim="800000"/>
          </a:ln>
        </p:spPr>
        <p:txBody>
          <a:bodyPr lIns="91450" tIns="45726" rIns="91450" bIns="45726">
            <a:spAutoFit/>
          </a:bodyPr>
          <a:lstStyle/>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讲</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解</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提</a:t>
            </a:r>
            <a:endParaRPr lang="en-US" altLang="zh-CN" sz="5100" b="1" dirty="0">
              <a:solidFill>
                <a:schemeClr val="bg1"/>
              </a:solidFill>
              <a:effectLst>
                <a:outerShdw blurRad="38100" dist="38100" dir="2700000" algn="tl">
                  <a:srgbClr val="000000">
                    <a:alpha val="43137"/>
                  </a:srgbClr>
                </a:outerShdw>
              </a:effectLst>
              <a:latin typeface="Calibri" panose="020F0502020204030204" pitchFamily="34" charset="0"/>
            </a:endParaRPr>
          </a:p>
          <a:p>
            <a:pPr algn="ctr" defTabSz="913765" fontAlgn="auto">
              <a:spcBef>
                <a:spcPts val="0"/>
              </a:spcBef>
              <a:spcAft>
                <a:spcPts val="0"/>
              </a:spcAft>
              <a:defRPr/>
            </a:pPr>
            <a:r>
              <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rPr>
              <a:t>纲</a:t>
            </a:r>
            <a:endParaRPr lang="zh-CN" altLang="en-US" sz="5100" b="1" dirty="0">
              <a:solidFill>
                <a:schemeClr val="bg1"/>
              </a:solidFill>
              <a:effectLst>
                <a:outerShdw blurRad="38100" dist="38100" dir="2700000" algn="tl">
                  <a:srgbClr val="000000">
                    <a:alpha val="43137"/>
                  </a:srgbClr>
                </a:outerShdw>
              </a:effectLst>
              <a:latin typeface="Calibri" panose="020F0502020204030204" pitchFamily="34" charset="0"/>
            </a:endParaRPr>
          </a:p>
        </p:txBody>
      </p:sp>
      <p:sp>
        <p:nvSpPr>
          <p:cNvPr id="8" name="文本框 52"/>
          <p:cNvSpPr txBox="1">
            <a:spLocks noChangeArrowheads="1"/>
          </p:cNvSpPr>
          <p:nvPr/>
        </p:nvSpPr>
        <p:spPr bwMode="auto">
          <a:xfrm>
            <a:off x="-96838" y="608013"/>
            <a:ext cx="3430588" cy="396875"/>
          </a:xfrm>
          <a:prstGeom prst="rect">
            <a:avLst/>
          </a:prstGeom>
          <a:noFill/>
          <a:ln w="9525">
            <a:noFill/>
            <a:miter lim="800000"/>
          </a:ln>
        </p:spPr>
        <p:txBody>
          <a:bodyPr lIns="91450" tIns="45726" rIns="91450" bIns="45726">
            <a:spAutoFit/>
          </a:bodyPr>
          <a:lstStyle/>
          <a:p>
            <a:pPr algn="ctr" defTabSz="913765" fontAlgn="auto">
              <a:lnSpc>
                <a:spcPct val="120000"/>
              </a:lnSpc>
              <a:spcBef>
                <a:spcPts val="0"/>
              </a:spcBef>
              <a:spcAft>
                <a:spcPts val="0"/>
              </a:spcAft>
              <a:defRPr/>
            </a:pPr>
            <a:r>
              <a:rPr lang="zh-CN" altLang="en-US" b="1" spc="140" dirty="0">
                <a:solidFill>
                  <a:schemeClr val="bg1"/>
                </a:solidFill>
                <a:effectLst>
                  <a:outerShdw blurRad="38100" dist="38100" dir="2700000" algn="tl">
                    <a:srgbClr val="000000">
                      <a:alpha val="43137"/>
                    </a:srgbClr>
                  </a:outerShdw>
                </a:effectLst>
                <a:latin typeface="微软雅黑" panose="020B0503020204020204" pitchFamily="34" charset="-122"/>
              </a:rPr>
              <a:t>软件项目管理</a:t>
            </a:r>
            <a:endParaRPr lang="zh-CN" altLang="en-US" b="1" spc="140" dirty="0">
              <a:solidFill>
                <a:schemeClr val="bg1"/>
              </a:solidFill>
              <a:effectLst>
                <a:outerShdw blurRad="38100" dist="38100" dir="2700000" algn="tl">
                  <a:srgbClr val="000000">
                    <a:alpha val="43137"/>
                  </a:srgbClr>
                </a:outerShdw>
              </a:effectLst>
              <a:latin typeface="微软雅黑" panose="020B0503020204020204" pitchFamily="34" charset="-122"/>
            </a:endParaRPr>
          </a:p>
        </p:txBody>
      </p:sp>
      <p:sp>
        <p:nvSpPr>
          <p:cNvPr id="9" name="文本框 52"/>
          <p:cNvSpPr txBox="1">
            <a:spLocks noChangeArrowheads="1"/>
          </p:cNvSpPr>
          <p:nvPr/>
        </p:nvSpPr>
        <p:spPr bwMode="auto">
          <a:xfrm>
            <a:off x="166688" y="6718300"/>
            <a:ext cx="2952750" cy="368300"/>
          </a:xfrm>
          <a:prstGeom prst="rect">
            <a:avLst/>
          </a:prstGeom>
          <a:noFill/>
          <a:ln w="9525">
            <a:noFill/>
            <a:miter lim="800000"/>
          </a:ln>
        </p:spPr>
        <p:txBody>
          <a:bodyPr lIns="91450" tIns="45726" rIns="91450" bIns="45726">
            <a:spAutoFit/>
          </a:bodyPr>
          <a:lstStyle/>
          <a:p>
            <a:pPr algn="ctr" defTabSz="913765" fontAlgn="auto">
              <a:spcBef>
                <a:spcPts val="0"/>
              </a:spcBef>
              <a:spcAft>
                <a:spcPts val="0"/>
              </a:spcAft>
              <a:defRPr/>
            </a:pPr>
            <a:r>
              <a:rPr lang="zh-CN" altLang="en-US" b="1" dirty="0">
                <a:solidFill>
                  <a:schemeClr val="bg1"/>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rPr>
              <a:t>山东建筑大学</a:t>
            </a:r>
            <a:endParaRPr lang="zh-CN" altLang="en-US" b="1" dirty="0">
              <a:solidFill>
                <a:schemeClr val="bg1"/>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endParaRPr>
          </a:p>
        </p:txBody>
      </p:sp>
      <p:cxnSp>
        <p:nvCxnSpPr>
          <p:cNvPr id="22" name="直接连接符 21"/>
          <p:cNvCxnSpPr/>
          <p:nvPr/>
        </p:nvCxnSpPr>
        <p:spPr>
          <a:xfrm>
            <a:off x="3476625" y="415607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9" name="TextBox 3"/>
          <p:cNvSpPr txBox="1">
            <a:spLocks noChangeArrowheads="1"/>
          </p:cNvSpPr>
          <p:nvPr/>
        </p:nvSpPr>
        <p:spPr bwMode="auto">
          <a:xfrm>
            <a:off x="4011613" y="2084388"/>
            <a:ext cx="3052762"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en-US" altLang="zh-CN" sz="2800" b="1" dirty="0">
                <a:solidFill>
                  <a:srgbClr val="005EA4"/>
                </a:solidFill>
                <a:latin typeface="微软雅黑" panose="020B0503020204020204" pitchFamily="34" charset="-122"/>
              </a:rPr>
              <a:t>3.2 </a:t>
            </a:r>
            <a:r>
              <a:rPr lang="zh-CN" altLang="en-US" sz="2800" b="1" dirty="0">
                <a:solidFill>
                  <a:srgbClr val="005EA4"/>
                </a:solidFill>
                <a:latin typeface="微软雅黑" panose="020B0503020204020204" pitchFamily="34" charset="-122"/>
              </a:rPr>
              <a:t>软件需求管理</a:t>
            </a:r>
            <a:endParaRPr lang="zh-CN" altLang="zh-CN" sz="2800" b="1" dirty="0">
              <a:solidFill>
                <a:srgbClr val="005EA4"/>
              </a:solidFill>
              <a:latin typeface="微软雅黑" panose="020B0503020204020204" pitchFamily="34" charset="-122"/>
            </a:endParaRPr>
          </a:p>
        </p:txBody>
      </p:sp>
      <p:cxnSp>
        <p:nvCxnSpPr>
          <p:cNvPr id="21" name="直接连接符 20"/>
          <p:cNvCxnSpPr/>
          <p:nvPr/>
        </p:nvCxnSpPr>
        <p:spPr>
          <a:xfrm>
            <a:off x="3459163" y="2911475"/>
            <a:ext cx="5853112" cy="20638"/>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548063" y="1828800"/>
            <a:ext cx="5851525" cy="20638"/>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524250" y="763588"/>
            <a:ext cx="5851525" cy="20637"/>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432175" y="5267325"/>
            <a:ext cx="5851525" cy="22225"/>
          </a:xfrm>
          <a:prstGeom prst="line">
            <a:avLst/>
          </a:prstGeom>
          <a:ln w="38100">
            <a:solidFill>
              <a:srgbClr val="159BFF"/>
            </a:solidFill>
            <a:prstDash val="sysDot"/>
          </a:ln>
        </p:spPr>
        <p:style>
          <a:lnRef idx="1">
            <a:schemeClr val="accent1"/>
          </a:lnRef>
          <a:fillRef idx="0">
            <a:schemeClr val="accent1"/>
          </a:fillRef>
          <a:effectRef idx="0">
            <a:schemeClr val="accent1"/>
          </a:effectRef>
          <a:fontRef idx="minor">
            <a:schemeClr val="tx1"/>
          </a:fontRef>
        </p:style>
      </p:cxnSp>
      <p:sp>
        <p:nvSpPr>
          <p:cNvPr id="16" name="TextBox 4"/>
          <p:cNvSpPr txBox="1">
            <a:spLocks noChangeArrowheads="1"/>
          </p:cNvSpPr>
          <p:nvPr/>
        </p:nvSpPr>
        <p:spPr bwMode="auto">
          <a:xfrm>
            <a:off x="3965575" y="4340225"/>
            <a:ext cx="2441575"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marL="342900" indent="-342900">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0" lvl="1">
              <a:lnSpc>
                <a:spcPct val="150000"/>
              </a:lnSpc>
            </a:pPr>
            <a:r>
              <a:rPr lang="zh-CN" altLang="en-US" sz="2800" b="1" dirty="0">
                <a:solidFill>
                  <a:srgbClr val="FF6600"/>
                </a:solidFill>
                <a:latin typeface="微软雅黑" panose="020B0503020204020204" pitchFamily="34" charset="-122"/>
              </a:rPr>
              <a:t> </a:t>
            </a:r>
            <a:r>
              <a:rPr lang="en-US" altLang="zh-CN" sz="2800" b="1" dirty="0">
                <a:solidFill>
                  <a:srgbClr val="005EA4"/>
                </a:solidFill>
                <a:latin typeface="微软雅黑" panose="020B0503020204020204" pitchFamily="34" charset="-122"/>
              </a:rPr>
              <a:t>3.4 </a:t>
            </a:r>
            <a:r>
              <a:rPr lang="zh-CN" altLang="en-US" sz="2800" b="1" dirty="0">
                <a:solidFill>
                  <a:srgbClr val="005EA4"/>
                </a:solidFill>
                <a:latin typeface="微软雅黑" panose="020B0503020204020204" pitchFamily="34" charset="-122"/>
              </a:rPr>
              <a:t>任务分解</a:t>
            </a:r>
            <a:endParaRPr lang="zh-CN" altLang="zh-CN" sz="2800" b="1" dirty="0">
              <a:solidFill>
                <a:srgbClr val="005EA4"/>
              </a:solidFill>
              <a:latin typeface="微软雅黑" panose="020B0503020204020204" pitchFamily="34" charset="-122"/>
            </a:endParaRPr>
          </a:p>
        </p:txBody>
      </p:sp>
      <p:sp>
        <p:nvSpPr>
          <p:cNvPr id="2" name="灯片编号占位符 1"/>
          <p:cNvSpPr>
            <a:spLocks noGrp="1"/>
          </p:cNvSpPr>
          <p:nvPr>
            <p:ph type="sldNum" sz="quarter" idx="10"/>
          </p:nvPr>
        </p:nvSpPr>
        <p:spPr/>
        <p:txBody>
          <a:bodyPr/>
          <a:p>
            <a:pPr>
              <a:defRPr/>
            </a:pPr>
            <a:fld id="{48FCA3E5-9AB8-4531-B86F-EBECED5A7283}" type="slidenum">
              <a:rPr altLang="en-US"/>
            </a:fld>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1500"/>
                            </p:stCondLst>
                            <p:childTnLst>
                              <p:par>
                                <p:cTn id="21" presetID="22" presetClass="entr" presetSubtype="1"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up)">
                                      <p:cBhvr>
                                        <p:cTn id="23" dur="500"/>
                                        <p:tgtEl>
                                          <p:spTgt spid="3"/>
                                        </p:tgtEl>
                                      </p:cBhvr>
                                    </p:animEffect>
                                  </p:childTnLst>
                                </p:cTn>
                              </p:par>
                              <p:par>
                                <p:cTn id="24" presetID="12" presetClass="entr" presetSubtype="8"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p:tgtEl>
                                          <p:spTgt spid="4"/>
                                        </p:tgtEl>
                                        <p:attrNameLst>
                                          <p:attrName>ppt_x</p:attrName>
                                        </p:attrNameLst>
                                      </p:cBhvr>
                                      <p:tavLst>
                                        <p:tav tm="0">
                                          <p:val>
                                            <p:strVal val="#ppt_x-#ppt_w*1.125000"/>
                                          </p:val>
                                        </p:tav>
                                        <p:tav tm="100000">
                                          <p:val>
                                            <p:strVal val="#ppt_x"/>
                                          </p:val>
                                        </p:tav>
                                      </p:tavLst>
                                    </p:anim>
                                    <p:animEffect transition="in" filter="wipe(right)">
                                      <p:cBhvr>
                                        <p:cTn id="27" dur="500"/>
                                        <p:tgtEl>
                                          <p:spTgt spid="4"/>
                                        </p:tgtEl>
                                      </p:cBhvr>
                                    </p:animEffect>
                                  </p:childTnLst>
                                </p:cTn>
                              </p:par>
                              <p:par>
                                <p:cTn id="28" presetID="12" presetClass="entr" presetSubtype="8"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additive="base">
                                        <p:cTn id="30" dur="500"/>
                                        <p:tgtEl>
                                          <p:spTgt spid="19"/>
                                        </p:tgtEl>
                                        <p:attrNameLst>
                                          <p:attrName>ppt_x</p:attrName>
                                        </p:attrNameLst>
                                      </p:cBhvr>
                                      <p:tavLst>
                                        <p:tav tm="0">
                                          <p:val>
                                            <p:strVal val="#ppt_x-#ppt_w*1.125000"/>
                                          </p:val>
                                        </p:tav>
                                        <p:tav tm="100000">
                                          <p:val>
                                            <p:strVal val="#ppt_x"/>
                                          </p:val>
                                        </p:tav>
                                      </p:tavLst>
                                    </p:anim>
                                    <p:animEffect transition="in" filter="wipe(right)">
                                      <p:cBhvr>
                                        <p:cTn id="31" dur="500"/>
                                        <p:tgtEl>
                                          <p:spTgt spid="19"/>
                                        </p:tgtEl>
                                      </p:cBhvr>
                                    </p:animEffect>
                                  </p:childTnLst>
                                </p:cTn>
                              </p:par>
                              <p:par>
                                <p:cTn id="32" presetID="12" presetClass="entr" presetSubtype="8"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p:tgtEl>
                                          <p:spTgt spid="5"/>
                                        </p:tgtEl>
                                        <p:attrNameLst>
                                          <p:attrName>ppt_x</p:attrName>
                                        </p:attrNameLst>
                                      </p:cBhvr>
                                      <p:tavLst>
                                        <p:tav tm="0">
                                          <p:val>
                                            <p:strVal val="#ppt_x-#ppt_w*1.125000"/>
                                          </p:val>
                                        </p:tav>
                                        <p:tav tm="100000">
                                          <p:val>
                                            <p:strVal val="#ppt_x"/>
                                          </p:val>
                                        </p:tav>
                                      </p:tavLst>
                                    </p:anim>
                                    <p:animEffect transition="in" filter="wipe(right)">
                                      <p:cBhvr>
                                        <p:cTn id="35" dur="500"/>
                                        <p:tgtEl>
                                          <p:spTgt spid="5"/>
                                        </p:tgtEl>
                                      </p:cBhvr>
                                    </p:animEffect>
                                  </p:childTnLst>
                                </p:cTn>
                              </p:par>
                            </p:childTnLst>
                          </p:cTn>
                        </p:par>
                        <p:par>
                          <p:cTn id="36" fill="hold">
                            <p:stCondLst>
                              <p:cond delay="2000"/>
                            </p:stCondLst>
                            <p:childTnLst>
                              <p:par>
                                <p:cTn id="37" presetID="22" presetClass="entr" presetSubtype="8" fill="hold" nodeType="after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left)">
                                      <p:cBhvr>
                                        <p:cTn id="39" dur="500"/>
                                        <p:tgtEl>
                                          <p:spTgt spid="24"/>
                                        </p:tgtEl>
                                      </p:cBhvr>
                                    </p:animEffect>
                                  </p:childTnLst>
                                </p:cTn>
                              </p:par>
                            </p:childTnLst>
                          </p:cTn>
                        </p:par>
                        <p:par>
                          <p:cTn id="40" fill="hold">
                            <p:stCondLst>
                              <p:cond delay="2500"/>
                            </p:stCondLst>
                            <p:childTnLst>
                              <p:par>
                                <p:cTn id="41" presetID="22" presetClass="entr" presetSubtype="8" fill="hold" nodeType="after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left)">
                                      <p:cBhvr>
                                        <p:cTn id="43" dur="500"/>
                                        <p:tgtEl>
                                          <p:spTgt spid="23"/>
                                        </p:tgtEl>
                                      </p:cBhvr>
                                    </p:animEffect>
                                  </p:childTnLst>
                                </p:cTn>
                              </p:par>
                            </p:childTnLst>
                          </p:cTn>
                        </p:par>
                        <p:par>
                          <p:cTn id="44" fill="hold">
                            <p:stCondLst>
                              <p:cond delay="3000"/>
                            </p:stCondLst>
                            <p:childTnLst>
                              <p:par>
                                <p:cTn id="45" presetID="22" presetClass="entr" presetSubtype="8" fill="hold"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par>
                          <p:cTn id="48" fill="hold">
                            <p:stCondLst>
                              <p:cond delay="3500"/>
                            </p:stCondLst>
                            <p:childTnLst>
                              <p:par>
                                <p:cTn id="49" presetID="22" presetClass="entr" presetSubtype="8" fill="hold"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left)">
                                      <p:cBhvr>
                                        <p:cTn id="51" dur="500"/>
                                        <p:tgtEl>
                                          <p:spTgt spid="22"/>
                                        </p:tgtEl>
                                      </p:cBhvr>
                                    </p:animEffect>
                                  </p:childTnLst>
                                </p:cTn>
                              </p:par>
                            </p:childTnLst>
                          </p:cTn>
                        </p:par>
                        <p:par>
                          <p:cTn id="52" fill="hold">
                            <p:stCondLst>
                              <p:cond delay="4000"/>
                            </p:stCondLst>
                            <p:childTnLst>
                              <p:par>
                                <p:cTn id="53" presetID="22" presetClass="entr" presetSubtype="8" fill="hold"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ipe(left)">
                                      <p:cBhvr>
                                        <p:cTn id="55" dur="500"/>
                                        <p:tgtEl>
                                          <p:spTgt spid="15"/>
                                        </p:tgtEl>
                                      </p:cBhvr>
                                    </p:animEffect>
                                  </p:childTnLst>
                                </p:cTn>
                              </p:par>
                              <p:par>
                                <p:cTn id="56" presetID="12" presetClass="entr" presetSubtype="8"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p:tgtEl>
                                          <p:spTgt spid="16"/>
                                        </p:tgtEl>
                                        <p:attrNameLst>
                                          <p:attrName>ppt_x</p:attrName>
                                        </p:attrNameLst>
                                      </p:cBhvr>
                                      <p:tavLst>
                                        <p:tav tm="0">
                                          <p:val>
                                            <p:strVal val="#ppt_x-#ppt_w*1.125000"/>
                                          </p:val>
                                        </p:tav>
                                        <p:tav tm="100000">
                                          <p:val>
                                            <p:strVal val="#ppt_x"/>
                                          </p:val>
                                        </p:tav>
                                      </p:tavLst>
                                    </p:anim>
                                    <p:animEffect transition="in" filter="wipe(right)">
                                      <p:cBhvr>
                                        <p:cTn id="5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p:bldP spid="9" grpId="0"/>
      <p:bldP spid="19"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sz="2400" b="1">
                <a:solidFill>
                  <a:srgbClr val="01395C"/>
                </a:solidFill>
                <a:latin typeface="方正粗宋简体"/>
                <a:ea typeface="方正粗宋简体"/>
                <a:cs typeface="方正粗宋简体"/>
              </a:rPr>
              <a:t>项目范围管理</a:t>
            </a:r>
            <a:endParaRPr lang="zh-CN" altLang="en-US" sz="2400" b="1">
              <a:solidFill>
                <a:srgbClr val="01395C"/>
              </a:solidFill>
              <a:latin typeface="方正粗宋简体"/>
              <a:ea typeface="方正粗宋简体"/>
              <a:cs typeface="方正粗宋简体"/>
            </a:endParaRPr>
          </a:p>
        </p:txBody>
      </p:sp>
      <p:sp>
        <p:nvSpPr>
          <p:cNvPr id="10243" name="文本框 4"/>
          <p:cNvSpPr txBox="1">
            <a:spLocks noChangeArrowheads="1"/>
          </p:cNvSpPr>
          <p:nvPr/>
        </p:nvSpPr>
        <p:spPr bwMode="auto">
          <a:xfrm>
            <a:off x="397164" y="727438"/>
            <a:ext cx="11333018" cy="5011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marL="342900" indent="-342900">
              <a:lnSpc>
                <a:spcPct val="150000"/>
              </a:lnSpc>
              <a:buFont typeface="Arial" panose="020B0604020202020204" pitchFamily="34" charset="0"/>
              <a:buChar char="•"/>
            </a:pPr>
            <a:r>
              <a:rPr lang="zh-CN" altLang="en-US" sz="2400" dirty="0">
                <a:solidFill>
                  <a:srgbClr val="C00000"/>
                </a:solidFill>
              </a:rPr>
              <a:t>项目范围管理</a:t>
            </a:r>
            <a:r>
              <a:rPr lang="zh-CN" altLang="en-US" sz="2400" dirty="0"/>
              <a:t>包含一系列子过程，用以确保项目</a:t>
            </a:r>
            <a:r>
              <a:rPr lang="zh-CN" altLang="en-US" sz="2400" dirty="0">
                <a:solidFill>
                  <a:srgbClr val="C00000"/>
                </a:solidFill>
              </a:rPr>
              <a:t>包含且只包含</a:t>
            </a:r>
            <a:r>
              <a:rPr lang="zh-CN" altLang="en-US" sz="2400" dirty="0"/>
              <a:t>达到项目成功所必需完成的工作。</a:t>
            </a:r>
            <a:endParaRPr lang="en-US" altLang="zh-CN" sz="2400" dirty="0"/>
          </a:p>
          <a:p>
            <a:pPr marL="342900" indent="-342900">
              <a:lnSpc>
                <a:spcPct val="150000"/>
              </a:lnSpc>
              <a:buFont typeface="Arial" panose="020B0604020202020204" pitchFamily="34" charset="0"/>
              <a:buChar char="•"/>
            </a:pPr>
            <a:r>
              <a:rPr lang="zh-CN" altLang="en-US" sz="2400" dirty="0"/>
              <a:t>范围管理主要关注项目内容的定义和控制，即包括什么、不包括什么。</a:t>
            </a:r>
            <a:endParaRPr lang="en-US" altLang="zh-CN" sz="2400" dirty="0"/>
          </a:p>
          <a:p>
            <a:pPr marL="342900" indent="-342900">
              <a:lnSpc>
                <a:spcPct val="150000"/>
              </a:lnSpc>
              <a:buFont typeface="Arial" panose="020B0604020202020204" pitchFamily="34" charset="0"/>
              <a:buChar char="•"/>
            </a:pPr>
            <a:r>
              <a:rPr lang="zh-CN" altLang="en-US" sz="2400" dirty="0">
                <a:solidFill>
                  <a:srgbClr val="C00000"/>
                </a:solidFill>
              </a:rPr>
              <a:t>需求管理</a:t>
            </a:r>
            <a:r>
              <a:rPr lang="zh-CN" altLang="en-US" sz="2400" dirty="0"/>
              <a:t>的目的是确保各方对需求的一致理解；管理和控制需求的变更；从需求到最终产品的双向跟踪。</a:t>
            </a:r>
            <a:endParaRPr lang="en-US" altLang="zh-CN" sz="2400" dirty="0"/>
          </a:p>
          <a:p>
            <a:pPr marL="342900" indent="-342900">
              <a:lnSpc>
                <a:spcPct val="150000"/>
              </a:lnSpc>
              <a:buFont typeface="Arial" panose="020B0604020202020204" pitchFamily="34" charset="0"/>
              <a:buChar char="•"/>
            </a:pPr>
            <a:r>
              <a:rPr lang="zh-CN" altLang="en-US" sz="2400" dirty="0"/>
              <a:t>在项目范围管理过程中，最常用，也是必须要熟悉的工作分解方法是</a:t>
            </a:r>
            <a:r>
              <a:rPr lang="zh-CN" altLang="en-US" sz="2400" dirty="0">
                <a:solidFill>
                  <a:srgbClr val="C00000"/>
                </a:solidFill>
              </a:rPr>
              <a:t>工作分解结构</a:t>
            </a:r>
            <a:r>
              <a:rPr lang="zh-CN" altLang="en-US" sz="2400" dirty="0"/>
              <a:t>（</a:t>
            </a:r>
            <a:r>
              <a:rPr lang="en-US" altLang="zh-CN" sz="2400" dirty="0"/>
              <a:t>WBS</a:t>
            </a:r>
            <a:r>
              <a:rPr lang="zh-CN" altLang="en-US" sz="2400" dirty="0"/>
              <a:t>）。</a:t>
            </a:r>
            <a:endParaRPr lang="en-US" altLang="zh-CN" sz="2400" dirty="0"/>
          </a:p>
          <a:p>
            <a:pPr marL="342900" indent="-342900">
              <a:lnSpc>
                <a:spcPct val="150000"/>
              </a:lnSpc>
              <a:buFont typeface="Arial" panose="020B0604020202020204" pitchFamily="34" charset="0"/>
              <a:buChar char="•"/>
            </a:pPr>
            <a:r>
              <a:rPr lang="zh-CN" altLang="en-US" sz="2400" dirty="0"/>
              <a:t>在</a:t>
            </a:r>
            <a:r>
              <a:rPr lang="en-US" altLang="zh-CN" sz="2400" dirty="0"/>
              <a:t>《</a:t>
            </a:r>
            <a:r>
              <a:rPr lang="zh-CN" altLang="en-US" sz="2400" dirty="0"/>
              <a:t>信息系统项目管理师教程</a:t>
            </a:r>
            <a:r>
              <a:rPr lang="en-US" altLang="zh-CN" sz="2400" dirty="0"/>
              <a:t>》</a:t>
            </a:r>
            <a:r>
              <a:rPr lang="zh-CN" altLang="en-US" sz="2400" dirty="0"/>
              <a:t>（第</a:t>
            </a:r>
            <a:r>
              <a:rPr lang="en-US" altLang="zh-CN" sz="2400" dirty="0"/>
              <a:t>2</a:t>
            </a:r>
            <a:r>
              <a:rPr lang="zh-CN" altLang="en-US" sz="2400" dirty="0"/>
              <a:t>版）中，</a:t>
            </a:r>
            <a:r>
              <a:rPr lang="zh-CN" altLang="en-US" sz="2400" dirty="0">
                <a:solidFill>
                  <a:srgbClr val="C00000"/>
                </a:solidFill>
              </a:rPr>
              <a:t>范围管理</a:t>
            </a:r>
            <a:r>
              <a:rPr lang="zh-CN" altLang="en-US" sz="2400" dirty="0"/>
              <a:t>和</a:t>
            </a:r>
            <a:r>
              <a:rPr lang="zh-CN" altLang="en-US" sz="2400" dirty="0">
                <a:solidFill>
                  <a:srgbClr val="C00000"/>
                </a:solidFill>
              </a:rPr>
              <a:t>需求管理</a:t>
            </a:r>
            <a:r>
              <a:rPr lang="zh-CN" altLang="en-US" sz="2400" dirty="0"/>
              <a:t>是两章不同的内容。</a:t>
            </a:r>
            <a:endParaRPr lang="zh-CN" altLang="en-US" sz="2400" dirty="0"/>
          </a:p>
        </p:txBody>
      </p:sp>
      <p:sp>
        <p:nvSpPr>
          <p:cNvPr id="2" name="文本框 1"/>
          <p:cNvSpPr txBox="1"/>
          <p:nvPr/>
        </p:nvSpPr>
        <p:spPr>
          <a:xfrm>
            <a:off x="3473450" y="5738495"/>
            <a:ext cx="5245735" cy="583565"/>
          </a:xfrm>
          <a:prstGeom prst="rect">
            <a:avLst/>
          </a:prstGeom>
          <a:noFill/>
        </p:spPr>
        <p:txBody>
          <a:bodyPr wrap="square" rtlCol="0" anchor="t">
            <a:spAutoFit/>
          </a:bodyPr>
          <a:p>
            <a:r>
              <a:rPr lang="zh-CN" altLang="en-US" sz="3200" b="1">
                <a:solidFill>
                  <a:srgbClr val="C00000"/>
                </a:solidFill>
                <a:effectLst>
                  <a:outerShdw blurRad="38100" dist="38100" dir="2700000" algn="tl">
                    <a:srgbClr val="000000">
                      <a:alpha val="43137"/>
                    </a:srgbClr>
                  </a:outerShdw>
                </a:effectLst>
              </a:rPr>
              <a:t>需求分析：范围管理的一步</a:t>
            </a:r>
            <a:endParaRPr lang="zh-CN" altLang="en-US" sz="3200" b="1">
              <a:solidFill>
                <a:srgbClr val="C00000"/>
              </a:solidFill>
              <a:effectLst>
                <a:outerShdw blurRad="38100" dist="38100" dir="2700000" algn="tl">
                  <a:srgbClr val="000000">
                    <a:alpha val="43137"/>
                  </a:srgbClr>
                </a:outerShdw>
              </a:effectLst>
            </a:endParaRPr>
          </a:p>
        </p:txBody>
      </p:sp>
      <p:sp>
        <p:nvSpPr>
          <p:cNvPr id="3" name="灯片编号占位符 2"/>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3.1</a:t>
            </a:r>
            <a:r>
              <a:rPr lang="zh-CN" altLang="en-US" sz="2400" b="1" dirty="0">
                <a:solidFill>
                  <a:srgbClr val="01395C"/>
                </a:solidFill>
                <a:latin typeface="方正粗宋简体"/>
                <a:ea typeface="方正粗宋简体"/>
                <a:cs typeface="方正粗宋简体"/>
              </a:rPr>
              <a:t> 软件需求的定义</a:t>
            </a:r>
            <a:endParaRPr lang="zh-CN" altLang="en-US" sz="2400" b="1" dirty="0">
              <a:solidFill>
                <a:srgbClr val="01395C"/>
              </a:solidFill>
              <a:latin typeface="方正粗宋简体"/>
              <a:ea typeface="方正粗宋简体"/>
              <a:cs typeface="方正粗宋简体"/>
            </a:endParaRPr>
          </a:p>
        </p:txBody>
      </p:sp>
      <p:pic>
        <p:nvPicPr>
          <p:cNvPr id="12291" name="Picture 5"/>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47663" y="2124075"/>
            <a:ext cx="11496675"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2" name="文本框 2"/>
          <p:cNvSpPr txBox="1">
            <a:spLocks noChangeArrowheads="1"/>
          </p:cNvSpPr>
          <p:nvPr/>
        </p:nvSpPr>
        <p:spPr bwMode="auto">
          <a:xfrm>
            <a:off x="431800" y="692150"/>
            <a:ext cx="11412538"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r>
              <a:rPr lang="zh-CN" altLang="en-US" sz="2400" b="1"/>
              <a:t>需求工程（</a:t>
            </a:r>
            <a:r>
              <a:rPr lang="en-US" altLang="zh-CN" sz="2400"/>
              <a:t>Requirement Engineering</a:t>
            </a:r>
            <a:r>
              <a:rPr lang="zh-CN" altLang="en-US" sz="2400" b="1"/>
              <a:t>）</a:t>
            </a:r>
            <a:endParaRPr lang="zh-CN" altLang="en-US" sz="2400" b="1"/>
          </a:p>
          <a:p>
            <a:pPr lvl="1" eaLnBrk="1" hangingPunct="1"/>
            <a:r>
              <a:rPr lang="zh-CN" altLang="en-US" sz="2400"/>
              <a:t>是指应用已证实有效的</a:t>
            </a:r>
            <a:r>
              <a:rPr lang="zh-CN" altLang="en-US" sz="2400">
                <a:solidFill>
                  <a:srgbClr val="C00000"/>
                </a:solidFill>
              </a:rPr>
              <a:t>技术、方法</a:t>
            </a:r>
            <a:r>
              <a:rPr lang="zh-CN" altLang="en-US" sz="2400"/>
              <a:t>进行需求分析，确定</a:t>
            </a:r>
            <a:r>
              <a:rPr lang="zh-CN" altLang="en-US" sz="2400">
                <a:solidFill>
                  <a:srgbClr val="C00000"/>
                </a:solidFill>
              </a:rPr>
              <a:t>客户需求</a:t>
            </a:r>
            <a:r>
              <a:rPr lang="zh-CN" altLang="en-US" sz="2400"/>
              <a:t>，帮助分析人员</a:t>
            </a:r>
            <a:r>
              <a:rPr lang="zh-CN" altLang="en-US" sz="2400">
                <a:solidFill>
                  <a:srgbClr val="C00000"/>
                </a:solidFill>
              </a:rPr>
              <a:t>理解问题</a:t>
            </a:r>
            <a:r>
              <a:rPr lang="zh-CN" altLang="en-US" sz="2400"/>
              <a:t>并定义目标系统的所有外部特征的一门学科。 </a:t>
            </a:r>
            <a:endParaRPr lang="zh-CN" altLang="en-US" sz="2400"/>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3.1</a:t>
            </a:r>
            <a:r>
              <a:rPr lang="zh-CN" altLang="en-US" sz="2400" b="1" dirty="0">
                <a:solidFill>
                  <a:srgbClr val="01395C"/>
                </a:solidFill>
                <a:latin typeface="方正粗宋简体"/>
                <a:ea typeface="方正粗宋简体"/>
                <a:cs typeface="方正粗宋简体"/>
              </a:rPr>
              <a:t> 软件需求的定义</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890588" y="1030288"/>
            <a:ext cx="10340975" cy="4457700"/>
          </a:xfrm>
          <a:prstGeom prst="rect">
            <a:avLst/>
          </a:prstGeom>
          <a:noFill/>
        </p:spPr>
        <p:txBody>
          <a:bodyPr>
            <a:spAutoFit/>
          </a:bodyPr>
          <a:lstStyle/>
          <a:p>
            <a:pPr eaLnBrk="1" hangingPunct="1">
              <a:lnSpc>
                <a:spcPct val="150000"/>
              </a:lnSpc>
              <a:defRPr/>
            </a:pPr>
            <a:r>
              <a:rPr lang="zh-CN" altLang="en-US" sz="2400" kern="0" dirty="0">
                <a:solidFill>
                  <a:srgbClr val="C00000"/>
                </a:solidFill>
              </a:rPr>
              <a:t>需求</a:t>
            </a:r>
            <a:r>
              <a:rPr lang="zh-CN" altLang="en-US" sz="2400" kern="0" dirty="0"/>
              <a:t>，并不是软件系统特有的概念。</a:t>
            </a:r>
            <a:endParaRPr lang="zh-CN" altLang="en-US" sz="2400" kern="0" dirty="0"/>
          </a:p>
          <a:p>
            <a:pPr lvl="1" eaLnBrk="1" hangingPunct="1">
              <a:lnSpc>
                <a:spcPct val="150000"/>
              </a:lnSpc>
              <a:defRPr/>
            </a:pPr>
            <a:r>
              <a:rPr lang="zh-CN" altLang="en-US" sz="2400" kern="0" dirty="0"/>
              <a:t>任何一件产品、服务在生产之前，都需要首先弄清人们为什么需要它，用于何处，其次，是设计的产品通过什么形式和功能来满足这些需求。</a:t>
            </a:r>
            <a:endParaRPr lang="zh-CN" altLang="en-US" sz="2400" kern="0" dirty="0"/>
          </a:p>
          <a:p>
            <a:pPr eaLnBrk="1" hangingPunct="1">
              <a:lnSpc>
                <a:spcPct val="150000"/>
              </a:lnSpc>
              <a:defRPr/>
            </a:pPr>
            <a:r>
              <a:rPr lang="zh-CN" altLang="en-US" sz="2400" kern="0" dirty="0">
                <a:solidFill>
                  <a:srgbClr val="C00000"/>
                </a:solidFill>
              </a:rPr>
              <a:t>需求</a:t>
            </a:r>
            <a:r>
              <a:rPr lang="zh-CN" altLang="en-US" sz="2400" kern="0" dirty="0"/>
              <a:t>（</a:t>
            </a:r>
            <a:r>
              <a:rPr lang="en-US" altLang="zh-CN" sz="2400" kern="0" dirty="0"/>
              <a:t>Requirement</a:t>
            </a:r>
            <a:r>
              <a:rPr lang="zh-CN" altLang="en-US" sz="2400" kern="0" dirty="0"/>
              <a:t>）在</a:t>
            </a:r>
            <a:r>
              <a:rPr lang="en-US" altLang="zh-CN" sz="2400" kern="0" dirty="0">
                <a:solidFill>
                  <a:srgbClr val="C00000"/>
                </a:solidFill>
              </a:rPr>
              <a:t>IEEE</a:t>
            </a:r>
            <a:r>
              <a:rPr lang="zh-CN" altLang="en-US" sz="2400" kern="0" dirty="0">
                <a:solidFill>
                  <a:srgbClr val="C00000"/>
                </a:solidFill>
              </a:rPr>
              <a:t>软件工程标准词汇表</a:t>
            </a:r>
            <a:r>
              <a:rPr lang="zh-CN" altLang="en-US" sz="2400" kern="0" dirty="0"/>
              <a:t>（</a:t>
            </a:r>
            <a:r>
              <a:rPr lang="en-US" altLang="zh-CN" sz="2400" kern="0" dirty="0"/>
              <a:t>1997</a:t>
            </a:r>
            <a:r>
              <a:rPr lang="zh-CN" altLang="en-US" sz="2400" kern="0" dirty="0"/>
              <a:t>）中定义为：</a:t>
            </a:r>
            <a:endParaRPr lang="zh-CN" altLang="en-US" sz="2400" kern="0" dirty="0"/>
          </a:p>
          <a:p>
            <a:pPr marL="800100" lvl="1" indent="-342900" eaLnBrk="1" hangingPunct="1">
              <a:lnSpc>
                <a:spcPct val="150000"/>
              </a:lnSpc>
              <a:buFont typeface="Arial" panose="020B0604020202020204" pitchFamily="34" charset="0"/>
              <a:buChar char="•"/>
              <a:defRPr/>
            </a:pPr>
            <a:r>
              <a:rPr lang="zh-CN" altLang="en-US" sz="2400" kern="0" dirty="0"/>
              <a:t>用户解决问题或达到目标所需的</a:t>
            </a:r>
            <a:r>
              <a:rPr lang="zh-CN" altLang="en-US" sz="2400" kern="0" dirty="0">
                <a:solidFill>
                  <a:srgbClr val="C00000"/>
                </a:solidFill>
              </a:rPr>
              <a:t>条件或能力</a:t>
            </a:r>
            <a:r>
              <a:rPr lang="zh-CN" altLang="en-US" sz="2400" kern="0" dirty="0"/>
              <a:t>；</a:t>
            </a:r>
            <a:endParaRPr lang="zh-CN" altLang="en-US" sz="2400" kern="0" dirty="0"/>
          </a:p>
          <a:p>
            <a:pPr marL="800100" lvl="1" indent="-342900" eaLnBrk="1" hangingPunct="1">
              <a:lnSpc>
                <a:spcPct val="150000"/>
              </a:lnSpc>
              <a:buFont typeface="Arial" panose="020B0604020202020204" pitchFamily="34" charset="0"/>
              <a:buChar char="•"/>
              <a:defRPr/>
            </a:pPr>
            <a:r>
              <a:rPr lang="zh-CN" altLang="en-US" sz="2400" kern="0" dirty="0"/>
              <a:t>系统或系统部件要满足合同、标准、规范或其它正式规定文档所需具有的</a:t>
            </a:r>
            <a:r>
              <a:rPr lang="zh-CN" altLang="en-US" sz="2400" kern="0" dirty="0">
                <a:solidFill>
                  <a:srgbClr val="C00000"/>
                </a:solidFill>
              </a:rPr>
              <a:t>条件或能力</a:t>
            </a:r>
            <a:r>
              <a:rPr lang="zh-CN" altLang="en-US" sz="2400" kern="0" dirty="0"/>
              <a:t>；</a:t>
            </a:r>
            <a:endParaRPr lang="zh-CN" altLang="en-US" sz="2400" kern="0" dirty="0"/>
          </a:p>
          <a:p>
            <a:pPr marL="800100" lvl="1" indent="-342900" eaLnBrk="1" hangingPunct="1">
              <a:lnSpc>
                <a:spcPct val="150000"/>
              </a:lnSpc>
              <a:buFont typeface="Arial" panose="020B0604020202020204" pitchFamily="34" charset="0"/>
              <a:buChar char="•"/>
              <a:defRPr/>
            </a:pPr>
            <a:r>
              <a:rPr lang="zh-CN" altLang="en-US" sz="2400" kern="0" dirty="0"/>
              <a:t>一种反应上面二点所描述的条件或能力的</a:t>
            </a:r>
            <a:r>
              <a:rPr lang="zh-CN" altLang="en-US" sz="2400" kern="0" dirty="0">
                <a:solidFill>
                  <a:srgbClr val="C00000"/>
                </a:solidFill>
              </a:rPr>
              <a:t>文档说明</a:t>
            </a:r>
            <a:r>
              <a:rPr lang="zh-CN" altLang="en-US" sz="2400" kern="0" dirty="0"/>
              <a:t>。</a:t>
            </a:r>
            <a:endParaRPr lang="en-US" altLang="zh-CN" sz="2400" kern="0" dirty="0"/>
          </a:p>
        </p:txBody>
      </p:sp>
      <p:sp>
        <p:nvSpPr>
          <p:cNvPr id="5" name="Rectangle 3"/>
          <p:cNvSpPr txBox="1">
            <a:spLocks noChangeArrowheads="1"/>
          </p:cNvSpPr>
          <p:nvPr/>
        </p:nvSpPr>
        <p:spPr>
          <a:xfrm>
            <a:off x="2995613" y="1376363"/>
            <a:ext cx="830580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eaLnBrk="1" hangingPunct="1">
              <a:defRPr/>
            </a:pPr>
            <a:endParaRPr lang="zh-CN" altLang="en-US" kern="0" dirty="0"/>
          </a:p>
        </p:txBody>
      </p:sp>
      <p:pic>
        <p:nvPicPr>
          <p:cNvPr id="14341" name="Picture 6" descr="smllie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88450" y="4887913"/>
            <a:ext cx="187166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890899" y="5769862"/>
            <a:ext cx="10340218" cy="1133259"/>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a:lnSpc>
                <a:spcPct val="150000"/>
              </a:lnSpc>
              <a:defRPr/>
            </a:pPr>
            <a:r>
              <a:rPr lang="zh-CN" altLang="en-US" sz="2400" kern="0" dirty="0">
                <a:solidFill>
                  <a:srgbClr val="C00000"/>
                </a:solidFill>
              </a:rPr>
              <a:t>简言之，软件需求并不是要解决软件系统“</a:t>
            </a:r>
            <a:r>
              <a:rPr lang="zh-CN" altLang="en-US" sz="2400" b="1" kern="0" dirty="0">
                <a:ln w="22225">
                  <a:solidFill>
                    <a:schemeClr val="accent2"/>
                  </a:solidFill>
                  <a:prstDash val="solid"/>
                </a:ln>
                <a:solidFill>
                  <a:schemeClr val="accent2">
                    <a:lumMod val="40000"/>
                    <a:lumOff val="60000"/>
                  </a:schemeClr>
                </a:solidFill>
                <a:effectLst>
                  <a:outerShdw blurRad="50800" dist="38100" dir="5400000" algn="t" rotWithShape="0">
                    <a:prstClr val="black">
                      <a:alpha val="40000"/>
                    </a:prstClr>
                  </a:outerShdw>
                </a:effectLst>
              </a:rPr>
              <a:t>如何做</a:t>
            </a:r>
            <a:r>
              <a:rPr lang="zh-CN" altLang="en-US" sz="2400" kern="0" dirty="0">
                <a:solidFill>
                  <a:srgbClr val="C00000"/>
                </a:solidFill>
              </a:rPr>
              <a:t>”的问题，它的根本任务在于解决目标系统“</a:t>
            </a:r>
            <a:r>
              <a:rPr lang="zh-CN" altLang="en-US" sz="2400" b="1" kern="0" dirty="0">
                <a:ln w="22225">
                  <a:solidFill>
                    <a:schemeClr val="accent2"/>
                  </a:solidFill>
                  <a:prstDash val="solid"/>
                </a:ln>
                <a:solidFill>
                  <a:schemeClr val="accent2">
                    <a:lumMod val="40000"/>
                    <a:lumOff val="60000"/>
                  </a:schemeClr>
                </a:solidFill>
                <a:effectLst>
                  <a:outerShdw blurRad="50800" dist="38100" dir="5400000" algn="t" rotWithShape="0">
                    <a:prstClr val="black">
                      <a:alpha val="40000"/>
                    </a:prstClr>
                  </a:outerShdw>
                </a:effectLst>
              </a:rPr>
              <a:t>做什么</a:t>
            </a:r>
            <a:r>
              <a:rPr lang="zh-CN" altLang="en-US" sz="2400" kern="0" dirty="0">
                <a:solidFill>
                  <a:srgbClr val="C00000"/>
                </a:solidFill>
              </a:rPr>
              <a:t>”的问题。</a:t>
            </a:r>
            <a:endParaRPr lang="zh-CN" altLang="en-US" sz="2400" kern="0" dirty="0">
              <a:solidFill>
                <a:srgbClr val="C00000"/>
              </a:solidFill>
            </a:endParaRPr>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3.1</a:t>
            </a:r>
            <a:r>
              <a:rPr lang="zh-CN" altLang="en-US" sz="2400" b="1" dirty="0">
                <a:solidFill>
                  <a:srgbClr val="01395C"/>
                </a:solidFill>
                <a:latin typeface="方正粗宋简体"/>
                <a:ea typeface="方正粗宋简体"/>
                <a:cs typeface="方正粗宋简体"/>
              </a:rPr>
              <a:t> 软件需求的定义</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466725" y="787400"/>
            <a:ext cx="11317288" cy="3911600"/>
          </a:xfrm>
          <a:prstGeom prst="rect">
            <a:avLst/>
          </a:prstGeom>
          <a:noFill/>
        </p:spPr>
        <p:txBody>
          <a:bodyPr>
            <a:spAutoFit/>
          </a:bodyPr>
          <a:lstStyle/>
          <a:p>
            <a:pPr>
              <a:lnSpc>
                <a:spcPct val="150000"/>
              </a:lnSpc>
              <a:defRPr/>
            </a:pPr>
            <a:r>
              <a:rPr lang="zh-CN" altLang="en-US" sz="2400" b="1" u="sng" dirty="0">
                <a:solidFill>
                  <a:srgbClr val="FF0000"/>
                </a:solidFill>
                <a:latin typeface="SSJ-PK74820000b45-Identity-H"/>
              </a:rPr>
              <a:t>需求</a:t>
            </a:r>
            <a:r>
              <a:rPr lang="zh-CN" altLang="en-US" sz="2400" dirty="0">
                <a:solidFill>
                  <a:schemeClr val="accent6">
                    <a:lumMod val="75000"/>
                  </a:schemeClr>
                </a:solidFill>
                <a:latin typeface="SSJ-PK74820000b45-Identity-H"/>
              </a:rPr>
              <a:t>是指用户对软件的</a:t>
            </a:r>
            <a:r>
              <a:rPr lang="zh-CN" altLang="en-US" sz="2400" dirty="0">
                <a:solidFill>
                  <a:srgbClr val="FF0000"/>
                </a:solidFill>
                <a:latin typeface="SSJ-PK74820000b45-Identity-H"/>
              </a:rPr>
              <a:t>功能</a:t>
            </a:r>
            <a:r>
              <a:rPr lang="zh-CN" altLang="en-US" sz="2400" dirty="0">
                <a:solidFill>
                  <a:schemeClr val="accent6">
                    <a:lumMod val="75000"/>
                  </a:schemeClr>
                </a:solidFill>
                <a:latin typeface="SSJ-PK74820000b45-Identity-H"/>
              </a:rPr>
              <a:t>和</a:t>
            </a:r>
            <a:r>
              <a:rPr lang="zh-CN" altLang="en-US" sz="2400" dirty="0">
                <a:solidFill>
                  <a:srgbClr val="FF0000"/>
                </a:solidFill>
                <a:latin typeface="SSJ-PK74820000b45-Identity-H"/>
              </a:rPr>
              <a:t>性能</a:t>
            </a:r>
            <a:r>
              <a:rPr lang="zh-CN" altLang="en-US" sz="2400" dirty="0">
                <a:solidFill>
                  <a:schemeClr val="accent6">
                    <a:lumMod val="75000"/>
                  </a:schemeClr>
                </a:solidFill>
                <a:latin typeface="SSJ-PK74820000b45-Identity-H"/>
              </a:rPr>
              <a:t>的要求。</a:t>
            </a:r>
            <a:endParaRPr lang="en-US" altLang="zh-CN" sz="2400" dirty="0">
              <a:solidFill>
                <a:schemeClr val="accent6">
                  <a:lumMod val="75000"/>
                </a:schemeClr>
              </a:solidFill>
              <a:latin typeface="SSJ-PK74820000b45-Identity-H"/>
            </a:endParaRPr>
          </a:p>
          <a:p>
            <a:pPr>
              <a:lnSpc>
                <a:spcPct val="150000"/>
              </a:lnSpc>
              <a:defRPr/>
            </a:pPr>
            <a:endParaRPr lang="en-US" altLang="zh-CN" sz="2400" dirty="0">
              <a:solidFill>
                <a:schemeClr val="accent6">
                  <a:lumMod val="75000"/>
                </a:schemeClr>
              </a:solidFill>
              <a:latin typeface="SSJ-PK74820000b45-Identity-H"/>
            </a:endParaRPr>
          </a:p>
          <a:p>
            <a:pPr>
              <a:lnSpc>
                <a:spcPct val="150000"/>
              </a:lnSpc>
              <a:defRPr/>
            </a:pPr>
            <a:r>
              <a:rPr lang="zh-CN" altLang="en-US" sz="2400" b="1" u="sng" dirty="0">
                <a:solidFill>
                  <a:srgbClr val="FF0000"/>
                </a:solidFill>
                <a:latin typeface="SSJ-PK74820000b45-Identity-H"/>
              </a:rPr>
              <a:t>功能需求</a:t>
            </a:r>
            <a:r>
              <a:rPr lang="zh-CN" altLang="en-US" sz="2400" dirty="0">
                <a:solidFill>
                  <a:schemeClr val="accent6">
                    <a:lumMod val="75000"/>
                  </a:schemeClr>
                </a:solidFill>
                <a:latin typeface="SSJ-PK74820000b45-Identity-H"/>
              </a:rPr>
              <a:t>是指将用户需求归类分解为计算机可以实现的子系统和功能模块，用设计语言描述和解释用户的需求，以达到可以指导程序设计的目的。</a:t>
            </a:r>
            <a:endParaRPr lang="en-US" altLang="zh-CN" sz="2400" dirty="0">
              <a:solidFill>
                <a:schemeClr val="accent6">
                  <a:lumMod val="75000"/>
                </a:schemeClr>
              </a:solidFill>
              <a:latin typeface="SSJ-PK74820000b45-Identity-H"/>
            </a:endParaRPr>
          </a:p>
          <a:p>
            <a:pPr>
              <a:lnSpc>
                <a:spcPct val="150000"/>
              </a:lnSpc>
              <a:defRPr/>
            </a:pPr>
            <a:endParaRPr lang="en-US" altLang="zh-CN" sz="2400" dirty="0">
              <a:solidFill>
                <a:schemeClr val="accent6">
                  <a:lumMod val="75000"/>
                </a:schemeClr>
              </a:solidFill>
              <a:latin typeface="SSJ-PK74820000b45-Identity-H"/>
            </a:endParaRPr>
          </a:p>
          <a:p>
            <a:pPr>
              <a:lnSpc>
                <a:spcPct val="150000"/>
              </a:lnSpc>
              <a:defRPr/>
            </a:pPr>
            <a:r>
              <a:rPr lang="zh-CN" altLang="en-US" sz="2400" b="1" u="sng" dirty="0">
                <a:solidFill>
                  <a:srgbClr val="FF0000"/>
                </a:solidFill>
                <a:latin typeface="SSJ-PK74820000b45-Identity-H"/>
              </a:rPr>
              <a:t>性能需求</a:t>
            </a:r>
            <a:r>
              <a:rPr lang="zh-CN" altLang="en-US" sz="2400" dirty="0">
                <a:solidFill>
                  <a:schemeClr val="accent6">
                    <a:lumMod val="75000"/>
                  </a:schemeClr>
                </a:solidFill>
                <a:latin typeface="SSJ-PK74820000b45-Identity-H"/>
              </a:rPr>
              <a:t>是指从多角度对产品的特点进行描述，如系统响应时间，系统能够同时容纳的人数等。</a:t>
            </a:r>
            <a:endParaRPr lang="zh-CN" altLang="en-US" sz="2400" dirty="0">
              <a:solidFill>
                <a:schemeClr val="accent6">
                  <a:lumMod val="75000"/>
                </a:schemeClr>
              </a:solidFill>
              <a:latin typeface="SSJ-PK74820000b45-Identity-H"/>
            </a:endParaRPr>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3.1</a:t>
            </a:r>
            <a:r>
              <a:rPr lang="zh-CN" altLang="en-US" sz="2400" b="1" dirty="0">
                <a:solidFill>
                  <a:srgbClr val="01395C"/>
                </a:solidFill>
                <a:latin typeface="方正粗宋简体"/>
                <a:ea typeface="方正粗宋简体"/>
                <a:cs typeface="方正粗宋简体"/>
              </a:rPr>
              <a:t> 软件需求的定义</a:t>
            </a:r>
            <a:endParaRPr lang="zh-CN" altLang="en-US" sz="2400" b="1" dirty="0">
              <a:solidFill>
                <a:srgbClr val="01395C"/>
              </a:solidFill>
              <a:latin typeface="方正粗宋简体"/>
              <a:ea typeface="方正粗宋简体"/>
              <a:cs typeface="方正粗宋简体"/>
            </a:endParaRPr>
          </a:p>
        </p:txBody>
      </p:sp>
      <p:sp>
        <p:nvSpPr>
          <p:cNvPr id="18435" name="文本框 4"/>
          <p:cNvSpPr txBox="1">
            <a:spLocks noChangeArrowheads="1"/>
          </p:cNvSpPr>
          <p:nvPr/>
        </p:nvSpPr>
        <p:spPr bwMode="auto">
          <a:xfrm>
            <a:off x="539750" y="912813"/>
            <a:ext cx="4186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r>
              <a:rPr lang="zh-CN" altLang="en-US" sz="2400"/>
              <a:t>开发者对待需求工程的态度：</a:t>
            </a:r>
            <a:endParaRPr lang="zh-CN" altLang="en-US" sz="2400"/>
          </a:p>
        </p:txBody>
      </p:sp>
      <p:sp>
        <p:nvSpPr>
          <p:cNvPr id="6" name="文本框 5"/>
          <p:cNvSpPr txBox="1"/>
          <p:nvPr/>
        </p:nvSpPr>
        <p:spPr>
          <a:xfrm>
            <a:off x="1712913" y="1687513"/>
            <a:ext cx="4657725" cy="2219325"/>
          </a:xfrm>
          <a:prstGeom prst="rect">
            <a:avLst/>
          </a:prstGeom>
          <a:noFill/>
        </p:spPr>
        <p:txBody>
          <a:bodyPr>
            <a:spAutoFit/>
          </a:bodyPr>
          <a:lstStyle/>
          <a:p>
            <a:pPr marL="342900" indent="-342900">
              <a:lnSpc>
                <a:spcPct val="150000"/>
              </a:lnSpc>
              <a:buFont typeface="Wingdings" panose="05000000000000000000" pitchFamily="2" charset="2"/>
              <a:buChar char="Ø"/>
              <a:defRPr/>
            </a:pPr>
            <a:r>
              <a:rPr lang="zh-CN" altLang="en-US" sz="3200" dirty="0">
                <a:solidFill>
                  <a:schemeClr val="accent6">
                    <a:lumMod val="75000"/>
                  </a:schemeClr>
                </a:solidFill>
              </a:rPr>
              <a:t>被动型</a:t>
            </a:r>
            <a:endParaRPr lang="en-US" altLang="zh-CN" sz="3200" dirty="0">
              <a:solidFill>
                <a:schemeClr val="accent6">
                  <a:lumMod val="75000"/>
                </a:schemeClr>
              </a:solidFill>
            </a:endParaRPr>
          </a:p>
          <a:p>
            <a:pPr marL="342900" indent="-342900">
              <a:lnSpc>
                <a:spcPct val="150000"/>
              </a:lnSpc>
              <a:buFont typeface="Wingdings" panose="05000000000000000000" pitchFamily="2" charset="2"/>
              <a:buChar char="Ø"/>
              <a:defRPr/>
            </a:pPr>
            <a:r>
              <a:rPr lang="zh-CN" altLang="en-US" sz="3200" dirty="0">
                <a:solidFill>
                  <a:schemeClr val="accent6">
                    <a:lumMod val="75000"/>
                  </a:schemeClr>
                </a:solidFill>
              </a:rPr>
              <a:t>主动型</a:t>
            </a:r>
            <a:endParaRPr lang="en-US" altLang="zh-CN" sz="3200" dirty="0">
              <a:solidFill>
                <a:schemeClr val="accent6">
                  <a:lumMod val="75000"/>
                </a:schemeClr>
              </a:solidFill>
            </a:endParaRPr>
          </a:p>
          <a:p>
            <a:pPr marL="342900" indent="-342900">
              <a:lnSpc>
                <a:spcPct val="150000"/>
              </a:lnSpc>
              <a:buFont typeface="Wingdings" panose="05000000000000000000" pitchFamily="2" charset="2"/>
              <a:buChar char="Ø"/>
              <a:defRPr/>
            </a:pPr>
            <a:r>
              <a:rPr lang="zh-CN" altLang="en-US" sz="3200" dirty="0">
                <a:solidFill>
                  <a:schemeClr val="accent6">
                    <a:lumMod val="75000"/>
                  </a:schemeClr>
                </a:solidFill>
              </a:rPr>
              <a:t>领先型</a:t>
            </a:r>
            <a:endParaRPr lang="zh-CN" altLang="en-US" sz="3200" dirty="0">
              <a:solidFill>
                <a:schemeClr val="accent6">
                  <a:lumMod val="75000"/>
                </a:schemeClr>
              </a:solidFill>
            </a:endParaRPr>
          </a:p>
        </p:txBody>
      </p:sp>
      <p:sp>
        <p:nvSpPr>
          <p:cNvPr id="18437" name="文本框 1"/>
          <p:cNvSpPr txBox="1">
            <a:spLocks noChangeArrowheads="1"/>
          </p:cNvSpPr>
          <p:nvPr/>
        </p:nvSpPr>
        <p:spPr bwMode="auto">
          <a:xfrm>
            <a:off x="539750" y="4189413"/>
            <a:ext cx="11236325"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zh-CN" altLang="en-US" sz="2400"/>
              <a:t>领先型，是需求工程的</a:t>
            </a:r>
            <a:r>
              <a:rPr lang="zh-CN" altLang="en-US" sz="2400">
                <a:solidFill>
                  <a:srgbClr val="C00000"/>
                </a:solidFill>
              </a:rPr>
              <a:t>最高境界</a:t>
            </a:r>
            <a:r>
              <a:rPr lang="zh-CN" altLang="en-US" sz="2400"/>
              <a:t>。开发者发掘了连用户自己都没有意识到的需求，导致用户跟着新产品跑而不是新产品围着用户转，这叫</a:t>
            </a:r>
            <a:r>
              <a:rPr lang="zh-CN" altLang="en-US" sz="2400">
                <a:solidFill>
                  <a:srgbClr val="C00000"/>
                </a:solidFill>
              </a:rPr>
              <a:t>引导消费</a:t>
            </a:r>
            <a:r>
              <a:rPr lang="zh-CN" altLang="en-US" sz="2400"/>
              <a:t>。</a:t>
            </a:r>
            <a:endParaRPr lang="en-US" altLang="zh-CN" sz="2400"/>
          </a:p>
          <a:p>
            <a:pPr>
              <a:lnSpc>
                <a:spcPct val="150000"/>
              </a:lnSpc>
            </a:pPr>
            <a:r>
              <a:rPr lang="zh-CN" altLang="en-US" sz="2400"/>
              <a:t>需求工程做到这个程度上，才能使产品立于不败之地，长盛不衰。</a:t>
            </a:r>
            <a:endParaRPr lang="zh-CN" altLang="en-US" sz="2400"/>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3.1</a:t>
            </a:r>
            <a:r>
              <a:rPr lang="zh-CN" altLang="en-US" sz="2400" b="1" dirty="0">
                <a:solidFill>
                  <a:srgbClr val="01395C"/>
                </a:solidFill>
                <a:latin typeface="方正粗宋简体"/>
                <a:ea typeface="方正粗宋简体"/>
                <a:cs typeface="方正粗宋简体"/>
              </a:rPr>
              <a:t> 软件需求的定义</a:t>
            </a:r>
            <a:endParaRPr lang="zh-CN" altLang="en-US" sz="2400" b="1" dirty="0">
              <a:solidFill>
                <a:srgbClr val="01395C"/>
              </a:solidFill>
              <a:latin typeface="方正粗宋简体"/>
              <a:ea typeface="方正粗宋简体"/>
              <a:cs typeface="方正粗宋简体"/>
            </a:endParaRPr>
          </a:p>
        </p:txBody>
      </p:sp>
      <p:sp>
        <p:nvSpPr>
          <p:cNvPr id="7" name="Rectangle 3"/>
          <p:cNvSpPr txBox="1">
            <a:spLocks noChangeArrowheads="1"/>
          </p:cNvSpPr>
          <p:nvPr/>
        </p:nvSpPr>
        <p:spPr>
          <a:xfrm>
            <a:off x="739775" y="1743075"/>
            <a:ext cx="1071245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marL="0" indent="0" eaLnBrk="1" hangingPunct="1">
              <a:lnSpc>
                <a:spcPct val="150000"/>
              </a:lnSpc>
              <a:buFont typeface="Arial" panose="020B0604020202020204" pitchFamily="34" charset="0"/>
              <a:buNone/>
              <a:defRPr/>
            </a:pPr>
            <a:r>
              <a:rPr lang="zh-CN" altLang="en-US" sz="2400" kern="0" dirty="0"/>
              <a:t>软件需求包括</a:t>
            </a:r>
            <a:r>
              <a:rPr lang="en-US" altLang="zh-CN" sz="2400" kern="0" dirty="0"/>
              <a:t>3</a:t>
            </a:r>
            <a:r>
              <a:rPr lang="zh-CN" altLang="en-US" sz="2400" kern="0" dirty="0"/>
              <a:t>个不同的层次：</a:t>
            </a:r>
            <a:r>
              <a:rPr lang="zh-CN" altLang="en-US" sz="2400" kern="0" dirty="0">
                <a:solidFill>
                  <a:srgbClr val="C00000"/>
                </a:solidFill>
              </a:rPr>
              <a:t>业务需求</a:t>
            </a:r>
            <a:r>
              <a:rPr lang="zh-CN" altLang="en-US" sz="2400" kern="0" dirty="0"/>
              <a:t>、</a:t>
            </a:r>
            <a:r>
              <a:rPr lang="zh-CN" altLang="en-US" sz="2400" kern="0" dirty="0">
                <a:solidFill>
                  <a:srgbClr val="C00000"/>
                </a:solidFill>
              </a:rPr>
              <a:t>用户需求</a:t>
            </a:r>
            <a:r>
              <a:rPr lang="zh-CN" altLang="en-US" sz="2400" kern="0" dirty="0"/>
              <a:t>和</a:t>
            </a:r>
            <a:r>
              <a:rPr lang="zh-CN" altLang="en-US" sz="2400" kern="0" dirty="0">
                <a:solidFill>
                  <a:srgbClr val="C00000"/>
                </a:solidFill>
              </a:rPr>
              <a:t>功能需求</a:t>
            </a:r>
            <a:r>
              <a:rPr lang="zh-CN" altLang="en-US" sz="2400" kern="0" dirty="0"/>
              <a:t>。</a:t>
            </a:r>
            <a:endParaRPr lang="en-US" altLang="zh-CN" sz="2400" kern="0" dirty="0"/>
          </a:p>
          <a:p>
            <a:pPr marL="0" indent="0" eaLnBrk="1" hangingPunct="1">
              <a:lnSpc>
                <a:spcPct val="150000"/>
              </a:lnSpc>
              <a:buFont typeface="Arial" panose="020B0604020202020204" pitchFamily="34" charset="0"/>
              <a:buNone/>
              <a:defRPr/>
            </a:pPr>
            <a:r>
              <a:rPr lang="en-US" altLang="zh-CN" sz="2400" kern="0" dirty="0"/>
              <a:t>1</a:t>
            </a:r>
            <a:r>
              <a:rPr lang="zh-CN" altLang="en-US" sz="2400" kern="0" dirty="0"/>
              <a:t>、业务需求</a:t>
            </a:r>
            <a:r>
              <a:rPr lang="zh-CN" altLang="en-US" sz="2400" kern="0" dirty="0">
                <a:latin typeface="Arial" panose="020B0604020202020204" pitchFamily="34" charset="0"/>
                <a:cs typeface="Arial" panose="020B0604020202020204" pitchFamily="34" charset="0"/>
              </a:rPr>
              <a:t>（</a:t>
            </a:r>
            <a:r>
              <a:rPr lang="en-US" altLang="zh-CN" sz="2400" kern="0" dirty="0">
                <a:latin typeface="Arial" panose="020B0604020202020204" pitchFamily="34" charset="0"/>
                <a:cs typeface="Arial" panose="020B0604020202020204" pitchFamily="34" charset="0"/>
              </a:rPr>
              <a:t>Business Requirement</a:t>
            </a:r>
            <a:r>
              <a:rPr lang="zh-CN" altLang="en-US" sz="2400" kern="0" dirty="0">
                <a:latin typeface="Arial" panose="020B0604020202020204" pitchFamily="34" charset="0"/>
                <a:cs typeface="Arial" panose="020B0604020202020204" pitchFamily="34" charset="0"/>
              </a:rPr>
              <a:t>）</a:t>
            </a:r>
            <a:endParaRPr lang="zh-CN" altLang="en-US" sz="2400" kern="0" dirty="0">
              <a:latin typeface="Arial" panose="020B0604020202020204" pitchFamily="34" charset="0"/>
              <a:cs typeface="Arial" panose="020B0604020202020204" pitchFamily="34" charset="0"/>
            </a:endParaRPr>
          </a:p>
          <a:p>
            <a:pPr eaLnBrk="1" hangingPunct="1">
              <a:lnSpc>
                <a:spcPct val="150000"/>
              </a:lnSpc>
              <a:defRPr/>
            </a:pPr>
            <a:r>
              <a:rPr lang="zh-CN" altLang="en-US" sz="2000" kern="0" dirty="0"/>
              <a:t>业务需求表示组织或客户高层次的目标。</a:t>
            </a:r>
            <a:endParaRPr lang="zh-CN" altLang="en-US" sz="2000" kern="0" dirty="0"/>
          </a:p>
          <a:p>
            <a:pPr eaLnBrk="1" hangingPunct="1">
              <a:lnSpc>
                <a:spcPct val="150000"/>
              </a:lnSpc>
              <a:defRPr/>
            </a:pPr>
            <a:r>
              <a:rPr lang="zh-CN" altLang="en-US" sz="2000" kern="0" dirty="0"/>
              <a:t>业务需求通常来自项目投资人、购买产品的客户、实际用户的管理者、市场营销部门或产品策划部门。</a:t>
            </a:r>
            <a:endParaRPr lang="en-US" altLang="zh-CN" sz="2000" kern="0" dirty="0"/>
          </a:p>
          <a:p>
            <a:pPr eaLnBrk="1" hangingPunct="1">
              <a:lnSpc>
                <a:spcPct val="150000"/>
              </a:lnSpc>
              <a:defRPr/>
            </a:pPr>
            <a:r>
              <a:rPr lang="zh-CN" altLang="en-US" sz="2000" kern="0" dirty="0"/>
              <a:t>业务需求描述了组织为什么要开发一个软件系统，即</a:t>
            </a:r>
            <a:r>
              <a:rPr lang="zh-CN" altLang="en-US" sz="2000" kern="0" dirty="0">
                <a:solidFill>
                  <a:srgbClr val="C00000"/>
                </a:solidFill>
              </a:rPr>
              <a:t>组织希望达到的目标</a:t>
            </a:r>
            <a:r>
              <a:rPr lang="zh-CN" altLang="en-US" sz="2000" kern="0" dirty="0"/>
              <a:t>。</a:t>
            </a:r>
            <a:endParaRPr lang="zh-CN" altLang="en-US" sz="2000" kern="0" dirty="0"/>
          </a:p>
          <a:p>
            <a:pPr eaLnBrk="1" hangingPunct="1">
              <a:lnSpc>
                <a:spcPct val="150000"/>
              </a:lnSpc>
              <a:defRPr/>
            </a:pPr>
            <a:r>
              <a:rPr lang="zh-CN" altLang="en-US" sz="2000" kern="0" dirty="0"/>
              <a:t>使用愿景（</a:t>
            </a:r>
            <a:r>
              <a:rPr lang="en-US" altLang="zh-CN" sz="2400" kern="0" dirty="0">
                <a:latin typeface="Arial" panose="020B0604020202020204" pitchFamily="34" charset="0"/>
                <a:cs typeface="Arial" panose="020B0604020202020204" pitchFamily="34" charset="0"/>
              </a:rPr>
              <a:t>Vision</a:t>
            </a:r>
            <a:r>
              <a:rPr lang="zh-CN" altLang="en-US" sz="2400" kern="0" dirty="0">
                <a:latin typeface="Arial" panose="020B0604020202020204" pitchFamily="34" charset="0"/>
                <a:cs typeface="Arial" panose="020B0604020202020204" pitchFamily="34" charset="0"/>
              </a:rPr>
              <a:t>）</a:t>
            </a:r>
            <a:r>
              <a:rPr lang="zh-CN" altLang="en-US" sz="2000" kern="0" dirty="0"/>
              <a:t>和范围（</a:t>
            </a:r>
            <a:r>
              <a:rPr lang="en-US" altLang="zh-CN" sz="2400" kern="0" dirty="0">
                <a:latin typeface="Arial" panose="020B0604020202020204" pitchFamily="34" charset="0"/>
                <a:cs typeface="Arial" panose="020B0604020202020204" pitchFamily="34" charset="0"/>
              </a:rPr>
              <a:t>Scope</a:t>
            </a:r>
            <a:r>
              <a:rPr lang="zh-CN" altLang="en-US" sz="2000" kern="0" dirty="0"/>
              <a:t>）文档来记录业务需求，这份文档有时也被称作</a:t>
            </a:r>
            <a:r>
              <a:rPr lang="zh-CN" altLang="en-US" sz="2000" kern="0" dirty="0">
                <a:solidFill>
                  <a:srgbClr val="C00000"/>
                </a:solidFill>
              </a:rPr>
              <a:t>项目轮廓图</a:t>
            </a:r>
            <a:r>
              <a:rPr lang="zh-CN" altLang="en-US" sz="2000" kern="0" dirty="0"/>
              <a:t>（</a:t>
            </a:r>
            <a:r>
              <a:rPr lang="en-US" altLang="zh-CN" sz="2400" kern="0" dirty="0">
                <a:latin typeface="Arial" panose="020B0604020202020204" pitchFamily="34" charset="0"/>
                <a:cs typeface="Arial" panose="020B0604020202020204" pitchFamily="34" charset="0"/>
              </a:rPr>
              <a:t>Project Charter</a:t>
            </a:r>
            <a:r>
              <a:rPr lang="zh-CN" altLang="en-US" sz="2000" kern="0" dirty="0"/>
              <a:t>）或</a:t>
            </a:r>
            <a:r>
              <a:rPr lang="zh-CN" altLang="en-US" sz="2000" kern="0" dirty="0">
                <a:solidFill>
                  <a:srgbClr val="C00000"/>
                </a:solidFill>
              </a:rPr>
              <a:t>市场需求（</a:t>
            </a:r>
            <a:r>
              <a:rPr lang="en-US" altLang="zh-CN" sz="2400" kern="0" dirty="0">
                <a:solidFill>
                  <a:srgbClr val="C00000"/>
                </a:solidFill>
                <a:latin typeface="Arial" panose="020B0604020202020204" pitchFamily="34" charset="0"/>
                <a:cs typeface="Arial" panose="020B0604020202020204" pitchFamily="34" charset="0"/>
              </a:rPr>
              <a:t>Market Requirement</a:t>
            </a:r>
            <a:r>
              <a:rPr lang="zh-CN" altLang="en-US" sz="2000" kern="0" dirty="0">
                <a:solidFill>
                  <a:srgbClr val="C00000"/>
                </a:solidFill>
              </a:rPr>
              <a:t>）文档</a:t>
            </a:r>
            <a:r>
              <a:rPr lang="zh-CN" altLang="en-US" sz="2000" kern="0" dirty="0"/>
              <a:t>。 </a:t>
            </a:r>
            <a:endParaRPr lang="zh-CN" altLang="en-US" sz="2000" kern="0" dirty="0"/>
          </a:p>
        </p:txBody>
      </p:sp>
      <p:sp>
        <p:nvSpPr>
          <p:cNvPr id="3" name="文本框 4"/>
          <p:cNvSpPr txBox="1">
            <a:spLocks noChangeArrowheads="1"/>
          </p:cNvSpPr>
          <p:nvPr/>
        </p:nvSpPr>
        <p:spPr bwMode="auto">
          <a:xfrm>
            <a:off x="5387975" y="836613"/>
            <a:ext cx="1416050" cy="461962"/>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defRPr/>
            </a:pPr>
            <a:r>
              <a:rPr lang="zh-CN" altLang="en-US" sz="2400" dirty="0"/>
              <a:t>需求类型</a:t>
            </a:r>
            <a:endParaRPr lang="zh-CN" altLang="en-US" sz="2400" dirty="0"/>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3.1</a:t>
            </a:r>
            <a:r>
              <a:rPr lang="zh-CN" altLang="en-US" sz="2400" b="1" dirty="0">
                <a:solidFill>
                  <a:srgbClr val="01395C"/>
                </a:solidFill>
                <a:latin typeface="方正粗宋简体"/>
                <a:ea typeface="方正粗宋简体"/>
                <a:cs typeface="方正粗宋简体"/>
              </a:rPr>
              <a:t> 软件需求的定义</a:t>
            </a:r>
            <a:endParaRPr lang="zh-CN" altLang="en-US" sz="2400" b="1" dirty="0">
              <a:solidFill>
                <a:srgbClr val="01395C"/>
              </a:solidFill>
              <a:latin typeface="方正粗宋简体"/>
              <a:ea typeface="方正粗宋简体"/>
              <a:cs typeface="方正粗宋简体"/>
            </a:endParaRPr>
          </a:p>
        </p:txBody>
      </p:sp>
      <p:sp>
        <p:nvSpPr>
          <p:cNvPr id="7" name="Rectangle 3"/>
          <p:cNvSpPr txBox="1">
            <a:spLocks noChangeArrowheads="1"/>
          </p:cNvSpPr>
          <p:nvPr/>
        </p:nvSpPr>
        <p:spPr>
          <a:xfrm>
            <a:off x="739775" y="1743075"/>
            <a:ext cx="1071245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marL="0" indent="0" eaLnBrk="1" hangingPunct="1">
              <a:lnSpc>
                <a:spcPct val="150000"/>
              </a:lnSpc>
              <a:buFont typeface="Arial" panose="020B0604020202020204" pitchFamily="34" charset="0"/>
              <a:buNone/>
              <a:defRPr/>
            </a:pPr>
            <a:r>
              <a:rPr lang="en-US" altLang="zh-CN" sz="2400" kern="0" dirty="0"/>
              <a:t>2</a:t>
            </a:r>
            <a:r>
              <a:rPr lang="zh-CN" altLang="en-US" sz="2400" kern="0" dirty="0"/>
              <a:t>、用户需求（</a:t>
            </a:r>
            <a:r>
              <a:rPr lang="en-US" altLang="zh-CN" sz="2400" kern="0" dirty="0">
                <a:latin typeface="Arial" panose="020B0604020202020204" pitchFamily="34" charset="0"/>
                <a:cs typeface="Arial" panose="020B0604020202020204" pitchFamily="34" charset="0"/>
              </a:rPr>
              <a:t>User Requirement</a:t>
            </a:r>
            <a:r>
              <a:rPr lang="zh-CN" altLang="en-US" sz="2400" kern="0" dirty="0"/>
              <a:t>）</a:t>
            </a:r>
            <a:endParaRPr lang="zh-CN" altLang="en-US" sz="2400" kern="0" dirty="0"/>
          </a:p>
          <a:p>
            <a:pPr eaLnBrk="1" hangingPunct="1">
              <a:lnSpc>
                <a:spcPct val="150000"/>
              </a:lnSpc>
              <a:defRPr/>
            </a:pPr>
            <a:r>
              <a:rPr lang="zh-CN" altLang="en-US" sz="2000" kern="0" dirty="0"/>
              <a:t>用户需求描述的是用户的目标，或用户要求系统必须能完成的任务。</a:t>
            </a:r>
            <a:endParaRPr lang="zh-CN" altLang="en-US" sz="2000" kern="0" dirty="0"/>
          </a:p>
          <a:p>
            <a:pPr eaLnBrk="1" hangingPunct="1">
              <a:lnSpc>
                <a:spcPct val="150000"/>
              </a:lnSpc>
              <a:defRPr/>
            </a:pPr>
            <a:r>
              <a:rPr lang="zh-CN" altLang="en-US" sz="2000" kern="0" dirty="0">
                <a:solidFill>
                  <a:srgbClr val="C00000"/>
                </a:solidFill>
              </a:rPr>
              <a:t>用例</a:t>
            </a:r>
            <a:r>
              <a:rPr lang="zh-CN" altLang="en-US" sz="2000" kern="0" dirty="0"/>
              <a:t>、</a:t>
            </a:r>
            <a:r>
              <a:rPr lang="zh-CN" altLang="en-US" sz="2000" kern="0" dirty="0">
                <a:solidFill>
                  <a:srgbClr val="C00000"/>
                </a:solidFill>
              </a:rPr>
              <a:t>场景描述</a:t>
            </a:r>
            <a:r>
              <a:rPr lang="zh-CN" altLang="en-US" sz="2000" kern="0" dirty="0"/>
              <a:t>和</a:t>
            </a:r>
            <a:r>
              <a:rPr lang="zh-CN" altLang="en-US" sz="2000" kern="0" dirty="0">
                <a:solidFill>
                  <a:srgbClr val="C00000"/>
                </a:solidFill>
              </a:rPr>
              <a:t>事件</a:t>
            </a:r>
            <a:r>
              <a:rPr lang="en-US" altLang="zh-CN" sz="2000" kern="0" dirty="0">
                <a:solidFill>
                  <a:srgbClr val="C00000"/>
                </a:solidFill>
              </a:rPr>
              <a:t>-</a:t>
            </a:r>
            <a:r>
              <a:rPr lang="zh-CN" altLang="en-US" sz="2000" kern="0" dirty="0">
                <a:solidFill>
                  <a:srgbClr val="C00000"/>
                </a:solidFill>
              </a:rPr>
              <a:t>响应表</a:t>
            </a:r>
            <a:r>
              <a:rPr lang="zh-CN" altLang="en-US" sz="2000" kern="0" dirty="0"/>
              <a:t>都是表达用户需求的有效途径。</a:t>
            </a:r>
            <a:endParaRPr lang="en-US" altLang="zh-CN" sz="2000" kern="0" dirty="0"/>
          </a:p>
          <a:p>
            <a:pPr eaLnBrk="1" hangingPunct="1">
              <a:lnSpc>
                <a:spcPct val="150000"/>
              </a:lnSpc>
              <a:defRPr/>
            </a:pPr>
            <a:r>
              <a:rPr lang="zh-CN" altLang="en-US" sz="2000" kern="0" dirty="0"/>
              <a:t>用户需求描述了用户能使用系统来做些什么。 </a:t>
            </a:r>
            <a:endParaRPr lang="zh-CN" altLang="en-US" sz="2000" kern="0" dirty="0"/>
          </a:p>
          <a:p>
            <a:pPr eaLnBrk="1" hangingPunct="1">
              <a:lnSpc>
                <a:spcPct val="150000"/>
              </a:lnSpc>
              <a:defRPr/>
            </a:pPr>
            <a:endParaRPr lang="zh-CN" altLang="en-US" sz="2000" kern="0" dirty="0"/>
          </a:p>
        </p:txBody>
      </p:sp>
      <p:sp>
        <p:nvSpPr>
          <p:cNvPr id="3" name="文本框 4"/>
          <p:cNvSpPr txBox="1">
            <a:spLocks noChangeArrowheads="1"/>
          </p:cNvSpPr>
          <p:nvPr/>
        </p:nvSpPr>
        <p:spPr bwMode="auto">
          <a:xfrm>
            <a:off x="5387975" y="836613"/>
            <a:ext cx="1416050" cy="461962"/>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defRPr/>
            </a:pPr>
            <a:r>
              <a:rPr lang="zh-CN" altLang="en-US" sz="2400" dirty="0"/>
              <a:t>需求类型</a:t>
            </a:r>
            <a:endParaRPr lang="zh-CN" altLang="en-US" sz="2400" dirty="0"/>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3.1</a:t>
            </a:r>
            <a:r>
              <a:rPr lang="zh-CN" altLang="en-US" sz="2400" b="1" dirty="0">
                <a:solidFill>
                  <a:srgbClr val="01395C"/>
                </a:solidFill>
                <a:latin typeface="方正粗宋简体"/>
                <a:ea typeface="方正粗宋简体"/>
                <a:cs typeface="方正粗宋简体"/>
              </a:rPr>
              <a:t> 软件需求的定义</a:t>
            </a:r>
            <a:endParaRPr lang="zh-CN" altLang="en-US" sz="2400" b="1" dirty="0">
              <a:solidFill>
                <a:srgbClr val="01395C"/>
              </a:solidFill>
              <a:latin typeface="方正粗宋简体"/>
              <a:ea typeface="方正粗宋简体"/>
              <a:cs typeface="方正粗宋简体"/>
            </a:endParaRPr>
          </a:p>
        </p:txBody>
      </p:sp>
      <p:sp>
        <p:nvSpPr>
          <p:cNvPr id="7" name="Rectangle 3"/>
          <p:cNvSpPr txBox="1">
            <a:spLocks noChangeArrowheads="1"/>
          </p:cNvSpPr>
          <p:nvPr/>
        </p:nvSpPr>
        <p:spPr>
          <a:xfrm>
            <a:off x="739775" y="1743075"/>
            <a:ext cx="1071245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marL="0" indent="0" eaLnBrk="1" hangingPunct="1">
              <a:buFont typeface="Arial" panose="020B0604020202020204" pitchFamily="34" charset="0"/>
              <a:buNone/>
              <a:defRPr/>
            </a:pPr>
            <a:r>
              <a:rPr lang="en-US" altLang="zh-CN" sz="2400" kern="0" dirty="0"/>
              <a:t>3</a:t>
            </a:r>
            <a:r>
              <a:rPr lang="zh-CN" altLang="en-US" sz="2400" kern="0" dirty="0"/>
              <a:t>、功能需求（</a:t>
            </a:r>
            <a:r>
              <a:rPr lang="en-US" altLang="zh-CN" sz="2400" kern="0" dirty="0">
                <a:latin typeface="Arial" panose="020B0604020202020204" pitchFamily="34" charset="0"/>
                <a:cs typeface="Arial" panose="020B0604020202020204" pitchFamily="34" charset="0"/>
              </a:rPr>
              <a:t>Functional Requirement</a:t>
            </a:r>
            <a:r>
              <a:rPr lang="zh-CN" altLang="en-US" sz="2400" kern="0" dirty="0"/>
              <a:t>）</a:t>
            </a:r>
            <a:endParaRPr lang="zh-CN" altLang="en-US" sz="2400" kern="0" dirty="0"/>
          </a:p>
          <a:p>
            <a:pPr eaLnBrk="1" hangingPunct="1">
              <a:lnSpc>
                <a:spcPct val="150000"/>
              </a:lnSpc>
              <a:defRPr/>
            </a:pPr>
            <a:r>
              <a:rPr lang="zh-CN" altLang="en-US" sz="2000" kern="0" dirty="0"/>
              <a:t>功能需求规定</a:t>
            </a:r>
            <a:r>
              <a:rPr lang="zh-CN" altLang="en-US" sz="2000" kern="0" dirty="0">
                <a:solidFill>
                  <a:srgbClr val="C00000"/>
                </a:solidFill>
              </a:rPr>
              <a:t>开发人员</a:t>
            </a:r>
            <a:r>
              <a:rPr lang="zh-CN" altLang="en-US" sz="2000" kern="0" dirty="0"/>
              <a:t>必须在产品中实现的软件功能，用户利用这些功能来完成任务，满足业务需求。</a:t>
            </a:r>
            <a:endParaRPr lang="zh-CN" altLang="en-US" sz="2000" kern="0" dirty="0"/>
          </a:p>
          <a:p>
            <a:pPr eaLnBrk="1" hangingPunct="1">
              <a:lnSpc>
                <a:spcPct val="150000"/>
              </a:lnSpc>
              <a:defRPr/>
            </a:pPr>
            <a:r>
              <a:rPr lang="zh-CN" altLang="en-US" sz="2000" kern="0" dirty="0"/>
              <a:t>功能需求有时也被称作</a:t>
            </a:r>
            <a:r>
              <a:rPr lang="zh-CN" altLang="en-US" sz="2000" kern="0" dirty="0">
                <a:solidFill>
                  <a:srgbClr val="C00000"/>
                </a:solidFill>
              </a:rPr>
              <a:t>行为需求</a:t>
            </a:r>
            <a:r>
              <a:rPr lang="zh-CN" altLang="en-US" sz="2000" kern="0" dirty="0"/>
              <a:t>（</a:t>
            </a:r>
            <a:r>
              <a:rPr lang="en-US" altLang="zh-CN" sz="2000" kern="0" dirty="0">
                <a:latin typeface="Arial" panose="020B0604020202020204" pitchFamily="34" charset="0"/>
                <a:cs typeface="Arial" panose="020B0604020202020204" pitchFamily="34" charset="0"/>
              </a:rPr>
              <a:t>Behavioral Requirement</a:t>
            </a:r>
            <a:r>
              <a:rPr lang="zh-CN" altLang="en-US" sz="2000" kern="0" dirty="0"/>
              <a:t>），因为习惯上总是用“</a:t>
            </a:r>
            <a:r>
              <a:rPr lang="zh-CN" altLang="en-US" sz="2000" kern="0" dirty="0">
                <a:solidFill>
                  <a:srgbClr val="C00000"/>
                </a:solidFill>
              </a:rPr>
              <a:t>应该</a:t>
            </a:r>
            <a:r>
              <a:rPr lang="zh-CN" altLang="en-US" sz="2000" kern="0" dirty="0"/>
              <a:t>”对其进行描述，“系统应该发送电子邮件来通知用户已接受其预定”。</a:t>
            </a:r>
            <a:endParaRPr lang="zh-CN" altLang="en-US" sz="2000" kern="0" dirty="0"/>
          </a:p>
          <a:p>
            <a:pPr eaLnBrk="1" hangingPunct="1">
              <a:lnSpc>
                <a:spcPct val="150000"/>
              </a:lnSpc>
              <a:defRPr/>
            </a:pPr>
            <a:r>
              <a:rPr lang="zh-CN" altLang="en-US" sz="2000" kern="0" dirty="0"/>
              <a:t>功能需求描述是</a:t>
            </a:r>
            <a:r>
              <a:rPr lang="zh-CN" altLang="en-US" sz="2000" kern="0" dirty="0">
                <a:solidFill>
                  <a:srgbClr val="C00000"/>
                </a:solidFill>
              </a:rPr>
              <a:t>开发人员需要实现什么</a:t>
            </a:r>
            <a:r>
              <a:rPr lang="zh-CN" altLang="en-US" sz="2000" kern="0" dirty="0"/>
              <a:t>。</a:t>
            </a:r>
            <a:endParaRPr lang="zh-CN" altLang="en-US" sz="2000" kern="0" dirty="0"/>
          </a:p>
        </p:txBody>
      </p:sp>
      <p:sp>
        <p:nvSpPr>
          <p:cNvPr id="3" name="文本框 4"/>
          <p:cNvSpPr txBox="1">
            <a:spLocks noChangeArrowheads="1"/>
          </p:cNvSpPr>
          <p:nvPr/>
        </p:nvSpPr>
        <p:spPr bwMode="auto">
          <a:xfrm>
            <a:off x="5387975" y="836613"/>
            <a:ext cx="1416050" cy="461962"/>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defRPr/>
            </a:pPr>
            <a:r>
              <a:rPr lang="zh-CN" altLang="en-US" sz="2400" dirty="0"/>
              <a:t>需求类型</a:t>
            </a:r>
            <a:endParaRPr lang="zh-CN" altLang="en-US" sz="2400" dirty="0"/>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3.1</a:t>
            </a:r>
            <a:r>
              <a:rPr lang="zh-CN" altLang="en-US" sz="2400" b="1" dirty="0">
                <a:solidFill>
                  <a:srgbClr val="01395C"/>
                </a:solidFill>
                <a:latin typeface="方正粗宋简体"/>
                <a:ea typeface="方正粗宋简体"/>
                <a:cs typeface="方正粗宋简体"/>
              </a:rPr>
              <a:t> 软件需求的定义</a:t>
            </a:r>
            <a:endParaRPr lang="zh-CN" altLang="en-US" sz="2400" b="1" dirty="0">
              <a:solidFill>
                <a:srgbClr val="01395C"/>
              </a:solidFill>
              <a:latin typeface="方正粗宋简体"/>
              <a:ea typeface="方正粗宋简体"/>
              <a:cs typeface="方正粗宋简体"/>
            </a:endParaRPr>
          </a:p>
        </p:txBody>
      </p:sp>
      <p:sp>
        <p:nvSpPr>
          <p:cNvPr id="7" name="Rectangle 3"/>
          <p:cNvSpPr txBox="1">
            <a:spLocks noChangeArrowheads="1"/>
          </p:cNvSpPr>
          <p:nvPr/>
        </p:nvSpPr>
        <p:spPr>
          <a:xfrm>
            <a:off x="739775" y="1743075"/>
            <a:ext cx="10712450" cy="5257800"/>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9pPr>
          </a:lstStyle>
          <a:p>
            <a:pPr marL="0" indent="0" algn="ctr" eaLnBrk="1" hangingPunct="1">
              <a:buFont typeface="Arial" panose="020B0604020202020204" pitchFamily="34" charset="0"/>
              <a:buNone/>
              <a:defRPr/>
            </a:pPr>
            <a:r>
              <a:rPr lang="zh-CN" altLang="en-US" sz="2400" kern="0" dirty="0"/>
              <a:t>非功能性需求（</a:t>
            </a:r>
            <a:r>
              <a:rPr lang="en-US" altLang="zh-CN" sz="2400" kern="0" dirty="0">
                <a:latin typeface="Arial" panose="020B0604020202020204" pitchFamily="34" charset="0"/>
                <a:cs typeface="Arial" panose="020B0604020202020204" pitchFamily="34" charset="0"/>
              </a:rPr>
              <a:t>Non-Functional Requirement</a:t>
            </a:r>
            <a:r>
              <a:rPr lang="zh-CN" altLang="en-US" sz="2400" kern="0" dirty="0"/>
              <a:t>） </a:t>
            </a:r>
            <a:endParaRPr lang="zh-CN" altLang="en-US" sz="2400" kern="0" dirty="0"/>
          </a:p>
          <a:p>
            <a:pPr eaLnBrk="1" hangingPunct="1">
              <a:lnSpc>
                <a:spcPct val="150000"/>
              </a:lnSpc>
              <a:defRPr/>
            </a:pPr>
            <a:r>
              <a:rPr lang="zh-CN" altLang="en-US" sz="2000" kern="0" dirty="0"/>
              <a:t>系统需求 </a:t>
            </a:r>
            <a:endParaRPr lang="zh-CN" altLang="en-US" sz="2000" kern="0" dirty="0"/>
          </a:p>
          <a:p>
            <a:pPr eaLnBrk="1" hangingPunct="1">
              <a:lnSpc>
                <a:spcPct val="150000"/>
              </a:lnSpc>
              <a:defRPr/>
            </a:pPr>
            <a:r>
              <a:rPr lang="zh-CN" altLang="en-US" sz="2000" kern="0" dirty="0"/>
              <a:t>业务规则 ：企业方针、政府条例、工业标准、会计准则和计算方法等</a:t>
            </a:r>
            <a:endParaRPr lang="zh-CN" altLang="en-US" sz="2000" kern="0" dirty="0"/>
          </a:p>
          <a:p>
            <a:pPr eaLnBrk="1" hangingPunct="1">
              <a:lnSpc>
                <a:spcPct val="150000"/>
              </a:lnSpc>
              <a:defRPr/>
            </a:pPr>
            <a:r>
              <a:rPr lang="zh-CN" altLang="en-US" sz="2000" kern="0" dirty="0"/>
              <a:t>软件需求规格说明 ：</a:t>
            </a:r>
            <a:r>
              <a:rPr lang="en-US" altLang="zh-CN" sz="2000" kern="0" dirty="0">
                <a:latin typeface="Arial" panose="020B0604020202020204" pitchFamily="34" charset="0"/>
                <a:cs typeface="Arial" panose="020B0604020202020204" pitchFamily="34" charset="0"/>
              </a:rPr>
              <a:t>Software Requirement specification, SRS</a:t>
            </a:r>
            <a:endParaRPr lang="zh-CN" altLang="en-US" sz="2000" kern="0" dirty="0">
              <a:latin typeface="Arial" panose="020B0604020202020204" pitchFamily="34" charset="0"/>
              <a:cs typeface="Arial" panose="020B0604020202020204" pitchFamily="34" charset="0"/>
            </a:endParaRPr>
          </a:p>
          <a:p>
            <a:pPr eaLnBrk="1" hangingPunct="1">
              <a:lnSpc>
                <a:spcPct val="150000"/>
              </a:lnSpc>
              <a:defRPr/>
            </a:pPr>
            <a:r>
              <a:rPr lang="zh-CN" altLang="en-US" sz="2000" kern="0" dirty="0"/>
              <a:t>质量属性：</a:t>
            </a:r>
            <a:r>
              <a:rPr lang="zh-CN" altLang="en-US" sz="2000" kern="0"/>
              <a:t>可用性、可移植性</a:t>
            </a:r>
            <a:r>
              <a:rPr lang="zh-CN" altLang="en-US" sz="2000" kern="0" dirty="0"/>
              <a:t>、完整性、效率和健壮性</a:t>
            </a:r>
            <a:endParaRPr lang="zh-CN" altLang="en-US" sz="2000" kern="0" dirty="0"/>
          </a:p>
          <a:p>
            <a:pPr eaLnBrk="1" hangingPunct="1">
              <a:lnSpc>
                <a:spcPct val="150000"/>
              </a:lnSpc>
              <a:defRPr/>
            </a:pPr>
            <a:r>
              <a:rPr lang="zh-CN" altLang="en-US" sz="2000" kern="0" dirty="0"/>
              <a:t>约束</a:t>
            </a:r>
            <a:endParaRPr lang="zh-CN" altLang="en-US" sz="2000" kern="0" dirty="0"/>
          </a:p>
        </p:txBody>
      </p:sp>
      <p:sp>
        <p:nvSpPr>
          <p:cNvPr id="3" name="文本框 4"/>
          <p:cNvSpPr txBox="1">
            <a:spLocks noChangeArrowheads="1"/>
          </p:cNvSpPr>
          <p:nvPr/>
        </p:nvSpPr>
        <p:spPr bwMode="auto">
          <a:xfrm>
            <a:off x="5387975" y="836613"/>
            <a:ext cx="1416050" cy="461962"/>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defRPr/>
            </a:pPr>
            <a:r>
              <a:rPr lang="zh-CN" altLang="en-US" sz="2400" dirty="0"/>
              <a:t>需求类型</a:t>
            </a:r>
            <a:endParaRPr lang="zh-CN" altLang="en-US" sz="2400" dirty="0"/>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3.2</a:t>
            </a:r>
            <a:r>
              <a:rPr lang="zh-CN" altLang="en-US" sz="2400" b="1" dirty="0">
                <a:solidFill>
                  <a:srgbClr val="01395C"/>
                </a:solidFill>
                <a:latin typeface="方正粗宋简体"/>
                <a:ea typeface="方正粗宋简体"/>
                <a:cs typeface="方正粗宋简体"/>
              </a:rPr>
              <a:t> 软件需求管理</a:t>
            </a:r>
            <a:endParaRPr lang="zh-CN" altLang="en-US" sz="2400" b="1" dirty="0">
              <a:solidFill>
                <a:srgbClr val="01395C"/>
              </a:solidFill>
              <a:latin typeface="方正粗宋简体"/>
              <a:ea typeface="方正粗宋简体"/>
              <a:cs typeface="方正粗宋简体"/>
            </a:endParaRPr>
          </a:p>
        </p:txBody>
      </p:sp>
      <p:sp>
        <p:nvSpPr>
          <p:cNvPr id="27" name="文本框 26"/>
          <p:cNvSpPr txBox="1"/>
          <p:nvPr/>
        </p:nvSpPr>
        <p:spPr>
          <a:xfrm>
            <a:off x="3159125" y="877888"/>
            <a:ext cx="5929313" cy="584200"/>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p>
            <a:pPr>
              <a:defRPr/>
            </a:pPr>
            <a:r>
              <a:rPr lang="zh-CN" altLang="en-US" sz="3200" dirty="0"/>
              <a:t>需求开发的过程有四个主要活动</a:t>
            </a:r>
            <a:endParaRPr lang="zh-CN" altLang="en-US" sz="3200" dirty="0"/>
          </a:p>
        </p:txBody>
      </p:sp>
      <p:sp>
        <p:nvSpPr>
          <p:cNvPr id="5" name="文本框 4"/>
          <p:cNvSpPr txBox="1"/>
          <p:nvPr/>
        </p:nvSpPr>
        <p:spPr>
          <a:xfrm>
            <a:off x="5284788" y="2009775"/>
            <a:ext cx="2141537" cy="522288"/>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514350" indent="-514350">
              <a:buFont typeface="Wingdings" panose="05000000000000000000" pitchFamily="2" charset="2"/>
              <a:buChar char="Ø"/>
              <a:defRPr/>
            </a:pPr>
            <a:r>
              <a:rPr lang="zh-CN" altLang="en-US" sz="2800" dirty="0"/>
              <a:t>需求获取</a:t>
            </a:r>
            <a:endParaRPr lang="en-US" altLang="zh-CN" sz="2800" dirty="0"/>
          </a:p>
        </p:txBody>
      </p:sp>
      <p:sp>
        <p:nvSpPr>
          <p:cNvPr id="6" name="文本框 5"/>
          <p:cNvSpPr txBox="1"/>
          <p:nvPr/>
        </p:nvSpPr>
        <p:spPr>
          <a:xfrm>
            <a:off x="5284788" y="2947988"/>
            <a:ext cx="2141537" cy="523875"/>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514350" indent="-514350">
              <a:buFont typeface="Wingdings" panose="05000000000000000000" pitchFamily="2" charset="2"/>
              <a:buChar char="Ø"/>
              <a:defRPr/>
            </a:pPr>
            <a:r>
              <a:rPr lang="zh-CN" altLang="en-US" sz="2800" dirty="0"/>
              <a:t>需求分析</a:t>
            </a:r>
            <a:endParaRPr lang="en-US" altLang="zh-CN" sz="2800" dirty="0"/>
          </a:p>
        </p:txBody>
      </p:sp>
      <p:sp>
        <p:nvSpPr>
          <p:cNvPr id="7" name="文本框 6"/>
          <p:cNvSpPr txBox="1"/>
          <p:nvPr/>
        </p:nvSpPr>
        <p:spPr>
          <a:xfrm>
            <a:off x="5284788" y="3887788"/>
            <a:ext cx="2141537" cy="523875"/>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514350" indent="-514350">
              <a:buFont typeface="Wingdings" panose="05000000000000000000" pitchFamily="2" charset="2"/>
              <a:buChar char="Ø"/>
              <a:defRPr/>
            </a:pPr>
            <a:r>
              <a:rPr lang="zh-CN" altLang="en-US" sz="2800" dirty="0"/>
              <a:t>需求定义</a:t>
            </a:r>
            <a:endParaRPr lang="en-US" altLang="zh-CN" sz="2800" dirty="0"/>
          </a:p>
        </p:txBody>
      </p:sp>
      <p:sp>
        <p:nvSpPr>
          <p:cNvPr id="8" name="文本框 7"/>
          <p:cNvSpPr txBox="1"/>
          <p:nvPr/>
        </p:nvSpPr>
        <p:spPr>
          <a:xfrm>
            <a:off x="5284788" y="4827588"/>
            <a:ext cx="2141537" cy="522287"/>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514350" indent="-514350">
              <a:buFont typeface="Wingdings" panose="05000000000000000000" pitchFamily="2" charset="2"/>
              <a:buChar char="Ø"/>
              <a:defRPr/>
            </a:pPr>
            <a:r>
              <a:rPr lang="zh-CN" altLang="en-US" sz="2800" dirty="0"/>
              <a:t>需求验证</a:t>
            </a:r>
            <a:endParaRPr lang="en-US" altLang="zh-CN" sz="2800" dirty="0"/>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3.2</a:t>
            </a:r>
            <a:r>
              <a:rPr lang="zh-CN" altLang="en-US" sz="2400" b="1" dirty="0">
                <a:solidFill>
                  <a:srgbClr val="01395C"/>
                </a:solidFill>
                <a:latin typeface="方正粗宋简体"/>
                <a:ea typeface="方正粗宋简体"/>
                <a:cs typeface="方正粗宋简体"/>
              </a:rPr>
              <a:t> 软件需求管理</a:t>
            </a:r>
            <a:endParaRPr lang="zh-CN" altLang="en-US" sz="2400" b="1" dirty="0">
              <a:solidFill>
                <a:srgbClr val="01395C"/>
              </a:solidFill>
              <a:latin typeface="方正粗宋简体"/>
              <a:ea typeface="方正粗宋简体"/>
              <a:cs typeface="方正粗宋简体"/>
            </a:endParaRPr>
          </a:p>
        </p:txBody>
      </p:sp>
      <p:grpSp>
        <p:nvGrpSpPr>
          <p:cNvPr id="30723" name="组合 30"/>
          <p:cNvGrpSpPr/>
          <p:nvPr/>
        </p:nvGrpSpPr>
        <p:grpSpPr bwMode="auto">
          <a:xfrm>
            <a:off x="2933700" y="1766888"/>
            <a:ext cx="6324600" cy="4491037"/>
            <a:chOff x="2705724" y="1771116"/>
            <a:chExt cx="6629400" cy="4341976"/>
          </a:xfrm>
        </p:grpSpPr>
        <p:sp>
          <p:nvSpPr>
            <p:cNvPr id="30725" name="Text Box 12"/>
            <p:cNvSpPr txBox="1">
              <a:spLocks noChangeArrowheads="1"/>
            </p:cNvSpPr>
            <p:nvPr/>
          </p:nvSpPr>
          <p:spPr bwMode="auto">
            <a:xfrm>
              <a:off x="6744324" y="2380717"/>
              <a:ext cx="2012372" cy="400109"/>
            </a:xfrm>
            <a:prstGeom prst="rect">
              <a:avLst/>
            </a:prstGeom>
            <a:noFill/>
            <a:ln w="25400">
              <a:solidFill>
                <a:srgbClr val="00B050"/>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gn="ctr" eaLnBrk="1" hangingPunct="1">
                <a:spcBef>
                  <a:spcPct val="50000"/>
                </a:spcBef>
              </a:pPr>
              <a:r>
                <a:rPr kumimoji="1" lang="zh-CN" altLang="en-US" sz="2000">
                  <a:latin typeface="Arial Narrow" panose="020B0606020202030204" pitchFamily="34" charset="0"/>
                  <a:ea typeface="宋体" panose="02010600030101010101" pitchFamily="2" charset="-122"/>
                </a:rPr>
                <a:t>需求分析</a:t>
              </a:r>
              <a:endParaRPr kumimoji="1" lang="zh-CN" altLang="en-US" sz="2000">
                <a:latin typeface="Arial Narrow" panose="020B0606020202030204" pitchFamily="34" charset="0"/>
                <a:ea typeface="宋体" panose="02010600030101010101" pitchFamily="2" charset="-122"/>
              </a:endParaRPr>
            </a:p>
          </p:txBody>
        </p:sp>
        <p:sp>
          <p:nvSpPr>
            <p:cNvPr id="30726" name="Text Box 13"/>
            <p:cNvSpPr txBox="1">
              <a:spLocks noChangeArrowheads="1"/>
            </p:cNvSpPr>
            <p:nvPr/>
          </p:nvSpPr>
          <p:spPr bwMode="auto">
            <a:xfrm>
              <a:off x="6744323" y="3752316"/>
              <a:ext cx="2012373" cy="400110"/>
            </a:xfrm>
            <a:prstGeom prst="rect">
              <a:avLst/>
            </a:prstGeom>
            <a:noFill/>
            <a:ln w="25400">
              <a:solidFill>
                <a:srgbClr val="00B050"/>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gn="ctr" eaLnBrk="1" hangingPunct="1">
                <a:spcBef>
                  <a:spcPct val="50000"/>
                </a:spcBef>
              </a:pPr>
              <a:r>
                <a:rPr kumimoji="1" lang="zh-CN" altLang="en-US" sz="2000">
                  <a:latin typeface="Arial Narrow" panose="020B0606020202030204" pitchFamily="34" charset="0"/>
                  <a:ea typeface="宋体" panose="02010600030101010101" pitchFamily="2" charset="-122"/>
                </a:rPr>
                <a:t>需求规格编写</a:t>
              </a:r>
              <a:endParaRPr kumimoji="1" lang="zh-CN" altLang="en-US" sz="2000">
                <a:latin typeface="Arial Narrow" panose="020B0606020202030204" pitchFamily="34" charset="0"/>
                <a:ea typeface="宋体" panose="02010600030101010101" pitchFamily="2" charset="-122"/>
              </a:endParaRPr>
            </a:p>
          </p:txBody>
        </p:sp>
        <p:sp>
          <p:nvSpPr>
            <p:cNvPr id="30727" name="Text Box 14"/>
            <p:cNvSpPr txBox="1">
              <a:spLocks noChangeArrowheads="1"/>
            </p:cNvSpPr>
            <p:nvPr/>
          </p:nvSpPr>
          <p:spPr bwMode="auto">
            <a:xfrm>
              <a:off x="4077324" y="3752316"/>
              <a:ext cx="1600200" cy="400110"/>
            </a:xfrm>
            <a:prstGeom prst="rect">
              <a:avLst/>
            </a:prstGeom>
            <a:noFill/>
            <a:ln w="25400">
              <a:solidFill>
                <a:srgbClr val="00B050"/>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gn="ctr" eaLnBrk="1" hangingPunct="1">
                <a:spcBef>
                  <a:spcPct val="50000"/>
                </a:spcBef>
              </a:pPr>
              <a:r>
                <a:rPr kumimoji="1" lang="zh-CN" altLang="en-US" sz="2000">
                  <a:latin typeface="Arial Narrow" panose="020B0606020202030204" pitchFamily="34" charset="0"/>
                  <a:ea typeface="宋体" panose="02010600030101010101" pitchFamily="2" charset="-122"/>
                </a:rPr>
                <a:t>需求验证</a:t>
              </a:r>
              <a:endParaRPr kumimoji="1" lang="zh-CN" altLang="en-US" sz="2000">
                <a:latin typeface="Arial Narrow" panose="020B0606020202030204" pitchFamily="34" charset="0"/>
                <a:ea typeface="宋体" panose="02010600030101010101" pitchFamily="2" charset="-122"/>
              </a:endParaRPr>
            </a:p>
          </p:txBody>
        </p:sp>
        <p:sp>
          <p:nvSpPr>
            <p:cNvPr id="30728" name="Text Box 18"/>
            <p:cNvSpPr txBox="1">
              <a:spLocks noChangeArrowheads="1"/>
            </p:cNvSpPr>
            <p:nvPr/>
          </p:nvSpPr>
          <p:spPr bwMode="auto">
            <a:xfrm>
              <a:off x="4077324" y="2380716"/>
              <a:ext cx="1600200" cy="400110"/>
            </a:xfrm>
            <a:prstGeom prst="rect">
              <a:avLst/>
            </a:prstGeom>
            <a:noFill/>
            <a:ln w="25400">
              <a:solidFill>
                <a:srgbClr val="00B050"/>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gn="ctr" eaLnBrk="1" hangingPunct="1">
                <a:spcBef>
                  <a:spcPct val="50000"/>
                </a:spcBef>
              </a:pPr>
              <a:r>
                <a:rPr kumimoji="1" lang="zh-CN" altLang="en-US" sz="2000">
                  <a:latin typeface="Arial Narrow" panose="020B0606020202030204" pitchFamily="34" charset="0"/>
                  <a:ea typeface="宋体" panose="02010600030101010101" pitchFamily="2" charset="-122"/>
                </a:rPr>
                <a:t>需求获取</a:t>
              </a:r>
              <a:endParaRPr kumimoji="1" lang="zh-CN" altLang="en-US" sz="2000">
                <a:latin typeface="Arial Narrow" panose="020B0606020202030204" pitchFamily="34" charset="0"/>
                <a:ea typeface="宋体" panose="02010600030101010101" pitchFamily="2" charset="-122"/>
              </a:endParaRPr>
            </a:p>
          </p:txBody>
        </p:sp>
        <p:sp>
          <p:nvSpPr>
            <p:cNvPr id="30729" name="Text Box 20"/>
            <p:cNvSpPr txBox="1">
              <a:spLocks noChangeArrowheads="1"/>
            </p:cNvSpPr>
            <p:nvPr/>
          </p:nvSpPr>
          <p:spPr bwMode="auto">
            <a:xfrm>
              <a:off x="5678841" y="5361951"/>
              <a:ext cx="1524000" cy="400110"/>
            </a:xfrm>
            <a:prstGeom prst="rect">
              <a:avLst/>
            </a:prstGeom>
            <a:noFill/>
            <a:ln w="25400">
              <a:solidFill>
                <a:srgbClr val="00B050"/>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gn="ctr" eaLnBrk="1" hangingPunct="1">
                <a:spcBef>
                  <a:spcPct val="50000"/>
                </a:spcBef>
              </a:pPr>
              <a:r>
                <a:rPr kumimoji="1" lang="zh-CN" altLang="en-US" sz="2000">
                  <a:latin typeface="Arial Narrow" panose="020B0606020202030204" pitchFamily="34" charset="0"/>
                  <a:ea typeface="宋体" panose="02010600030101010101" pitchFamily="2" charset="-122"/>
                </a:rPr>
                <a:t>需求变更</a:t>
              </a:r>
              <a:endParaRPr kumimoji="1" lang="zh-CN" altLang="en-US" sz="2000">
                <a:latin typeface="Arial Narrow" panose="020B0606020202030204" pitchFamily="34" charset="0"/>
                <a:ea typeface="宋体" panose="02010600030101010101" pitchFamily="2" charset="-122"/>
              </a:endParaRPr>
            </a:p>
          </p:txBody>
        </p:sp>
        <p:sp>
          <p:nvSpPr>
            <p:cNvPr id="30730" name="Line 29"/>
            <p:cNvSpPr>
              <a:spLocks noChangeShapeType="1"/>
            </p:cNvSpPr>
            <p:nvPr/>
          </p:nvSpPr>
          <p:spPr bwMode="auto">
            <a:xfrm>
              <a:off x="5677524" y="2609316"/>
              <a:ext cx="1066800" cy="0"/>
            </a:xfrm>
            <a:prstGeom prst="line">
              <a:avLst/>
            </a:prstGeom>
            <a:noFill/>
            <a:ln w="25400">
              <a:solidFill>
                <a:srgbClr val="00B05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31" name="Line 30"/>
            <p:cNvSpPr>
              <a:spLocks noChangeShapeType="1"/>
            </p:cNvSpPr>
            <p:nvPr/>
          </p:nvSpPr>
          <p:spPr bwMode="auto">
            <a:xfrm>
              <a:off x="7459322" y="2837916"/>
              <a:ext cx="0" cy="914400"/>
            </a:xfrm>
            <a:prstGeom prst="line">
              <a:avLst/>
            </a:prstGeom>
            <a:noFill/>
            <a:ln w="25400">
              <a:solidFill>
                <a:srgbClr val="00B05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32" name="Line 32"/>
            <p:cNvSpPr>
              <a:spLocks noChangeShapeType="1"/>
            </p:cNvSpPr>
            <p:nvPr/>
          </p:nvSpPr>
          <p:spPr bwMode="auto">
            <a:xfrm flipH="1" flipV="1">
              <a:off x="5708858" y="3979492"/>
              <a:ext cx="1035465" cy="1424"/>
            </a:xfrm>
            <a:prstGeom prst="line">
              <a:avLst/>
            </a:prstGeom>
            <a:noFill/>
            <a:ln w="25400">
              <a:solidFill>
                <a:srgbClr val="00B05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733" name="Rectangle 33"/>
            <p:cNvSpPr>
              <a:spLocks noChangeArrowheads="1"/>
            </p:cNvSpPr>
            <p:nvPr/>
          </p:nvSpPr>
          <p:spPr bwMode="auto">
            <a:xfrm>
              <a:off x="2705724" y="1771116"/>
              <a:ext cx="6629400" cy="2819400"/>
            </a:xfrm>
            <a:prstGeom prst="rect">
              <a:avLst/>
            </a:prstGeom>
            <a:noFill/>
            <a:ln w="25400">
              <a:solidFill>
                <a:srgbClr val="00B050"/>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endParaRPr kumimoji="1" lang="zh-CN" altLang="en-US" sz="4400">
                <a:latin typeface="Arial Narrow" panose="020B0606020202030204" pitchFamily="34" charset="0"/>
                <a:ea typeface="宋体" panose="02010600030101010101" pitchFamily="2" charset="-122"/>
              </a:endParaRPr>
            </a:p>
          </p:txBody>
        </p:sp>
        <p:sp>
          <p:nvSpPr>
            <p:cNvPr id="30734" name="Rectangle 34"/>
            <p:cNvSpPr>
              <a:spLocks noChangeArrowheads="1"/>
            </p:cNvSpPr>
            <p:nvPr/>
          </p:nvSpPr>
          <p:spPr bwMode="auto">
            <a:xfrm>
              <a:off x="2705724" y="5046292"/>
              <a:ext cx="6629400" cy="1066800"/>
            </a:xfrm>
            <a:prstGeom prst="rect">
              <a:avLst/>
            </a:prstGeom>
            <a:noFill/>
            <a:ln w="25400">
              <a:solidFill>
                <a:srgbClr val="00B050"/>
              </a:solidFill>
              <a:miter lim="800000"/>
              <a:headEnd type="none" w="sm" len="sm"/>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endParaRPr kumimoji="1" lang="zh-CN" altLang="en-US" sz="4400">
                <a:latin typeface="Arial Narrow" panose="020B0606020202030204" pitchFamily="34" charset="0"/>
                <a:ea typeface="宋体" panose="02010600030101010101" pitchFamily="2" charset="-122"/>
              </a:endParaRPr>
            </a:p>
          </p:txBody>
        </p:sp>
        <p:sp>
          <p:nvSpPr>
            <p:cNvPr id="23" name="Text Box 35"/>
            <p:cNvSpPr txBox="1">
              <a:spLocks noChangeArrowheads="1"/>
            </p:cNvSpPr>
            <p:nvPr/>
          </p:nvSpPr>
          <p:spPr bwMode="auto">
            <a:xfrm>
              <a:off x="3294782" y="2380435"/>
              <a:ext cx="554115" cy="1772706"/>
            </a:xfrm>
            <a:prstGeom prst="rect">
              <a:avLst/>
            </a:prstGeom>
            <a:solidFill>
              <a:srgbClr val="00B050"/>
            </a:solidFill>
            <a:ln>
              <a:headEnd type="none" w="sm" len="sm"/>
              <a:tailEnd type="none" w="med" len="lg"/>
            </a:ln>
          </p:spPr>
          <p:style>
            <a:lnRef idx="1">
              <a:schemeClr val="accent6"/>
            </a:lnRef>
            <a:fillRef idx="2">
              <a:schemeClr val="accent6"/>
            </a:fillRef>
            <a:effectRef idx="1">
              <a:schemeClr val="accent6"/>
            </a:effectRef>
            <a:fontRef idx="minor">
              <a:schemeClr val="dk1"/>
            </a:fontRef>
          </p:style>
          <p:txBody>
            <a:bodyPr vert="eaVert">
              <a:spAutoFit/>
            </a:bodyPr>
            <a:lstStyle>
              <a:lvl1pPr eaLnBrk="0" hangingPunct="0">
                <a:defRPr kumimoji="1" sz="4800">
                  <a:solidFill>
                    <a:schemeClr val="tx1"/>
                  </a:solidFill>
                  <a:latin typeface="Arial Narrow" panose="020B0606020202030204" pitchFamily="34" charset="0"/>
                  <a:ea typeface="宋体" panose="02010600030101010101" pitchFamily="2" charset="-122"/>
                </a:defRPr>
              </a:lvl1pPr>
              <a:lvl2pPr marL="742950" indent="-285750" eaLnBrk="0" hangingPunct="0">
                <a:defRPr kumimoji="1" sz="4800">
                  <a:solidFill>
                    <a:schemeClr val="tx1"/>
                  </a:solidFill>
                  <a:latin typeface="Arial Narrow" panose="020B0606020202030204" pitchFamily="34" charset="0"/>
                  <a:ea typeface="宋体" panose="02010600030101010101" pitchFamily="2" charset="-122"/>
                </a:defRPr>
              </a:lvl2pPr>
              <a:lvl3pPr marL="1143000" indent="-228600" eaLnBrk="0" hangingPunct="0">
                <a:defRPr kumimoji="1" sz="4800">
                  <a:solidFill>
                    <a:schemeClr val="tx1"/>
                  </a:solidFill>
                  <a:latin typeface="Arial Narrow" panose="020B0606020202030204" pitchFamily="34" charset="0"/>
                  <a:ea typeface="宋体" panose="02010600030101010101" pitchFamily="2" charset="-122"/>
                </a:defRPr>
              </a:lvl3pPr>
              <a:lvl4pPr marL="1600200" indent="-228600" eaLnBrk="0" hangingPunct="0">
                <a:defRPr kumimoji="1" sz="4800">
                  <a:solidFill>
                    <a:schemeClr val="tx1"/>
                  </a:solidFill>
                  <a:latin typeface="Arial Narrow" panose="020B0606020202030204" pitchFamily="34" charset="0"/>
                  <a:ea typeface="宋体" panose="02010600030101010101" pitchFamily="2" charset="-122"/>
                </a:defRPr>
              </a:lvl4pPr>
              <a:lvl5pPr marL="2057400" indent="-228600" eaLnBrk="0" hangingPunct="0">
                <a:defRPr kumimoji="1" sz="4800">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kumimoji="1" sz="4800">
                  <a:solidFill>
                    <a:schemeClr val="tx1"/>
                  </a:solidFill>
                  <a:latin typeface="Arial Narrow" panose="020B0606020202030204" pitchFamily="34" charset="0"/>
                  <a:ea typeface="宋体" panose="02010600030101010101" pitchFamily="2" charset="-122"/>
                </a:defRPr>
              </a:lvl9pPr>
            </a:lstStyle>
            <a:p>
              <a:pPr algn="ctr" eaLnBrk="1" hangingPunct="1">
                <a:spcBef>
                  <a:spcPct val="50000"/>
                </a:spcBef>
                <a:defRPr/>
              </a:pPr>
              <a:r>
                <a:rPr lang="zh-CN" altLang="en-US" sz="2400" dirty="0">
                  <a:solidFill>
                    <a:srgbClr val="C00000"/>
                  </a:solidFill>
                </a:rPr>
                <a:t>需求确认</a:t>
              </a:r>
              <a:endParaRPr lang="zh-CN" altLang="en-US" sz="2400" dirty="0">
                <a:solidFill>
                  <a:srgbClr val="C00000"/>
                </a:solidFill>
              </a:endParaRPr>
            </a:p>
          </p:txBody>
        </p:sp>
      </p:grpSp>
      <p:sp>
        <p:nvSpPr>
          <p:cNvPr id="27" name="文本框 26"/>
          <p:cNvSpPr txBox="1"/>
          <p:nvPr/>
        </p:nvSpPr>
        <p:spPr>
          <a:xfrm>
            <a:off x="4237038" y="831850"/>
            <a:ext cx="2955925" cy="461963"/>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p>
            <a:pPr>
              <a:defRPr/>
            </a:pPr>
            <a:r>
              <a:rPr lang="zh-CN" altLang="en-US" sz="2400" dirty="0"/>
              <a:t>软件需求管理的过程</a:t>
            </a:r>
            <a:endParaRPr lang="zh-CN" altLang="en-US" sz="2400" dirty="0"/>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3.2</a:t>
            </a:r>
            <a:r>
              <a:rPr lang="zh-CN" altLang="en-US" sz="2400" b="1" dirty="0">
                <a:solidFill>
                  <a:srgbClr val="01395C"/>
                </a:solidFill>
                <a:latin typeface="方正粗宋简体"/>
                <a:ea typeface="方正粗宋简体"/>
                <a:cs typeface="方正粗宋简体"/>
              </a:rPr>
              <a:t> 软件需求管理</a:t>
            </a:r>
            <a:endParaRPr lang="zh-CN" altLang="en-US" sz="2400" b="1" dirty="0">
              <a:solidFill>
                <a:srgbClr val="01395C"/>
              </a:solidFill>
              <a:latin typeface="方正粗宋简体"/>
              <a:ea typeface="方正粗宋简体"/>
              <a:cs typeface="方正粗宋简体"/>
            </a:endParaRPr>
          </a:p>
        </p:txBody>
      </p:sp>
      <p:sp>
        <p:nvSpPr>
          <p:cNvPr id="27" name="文本框 26"/>
          <p:cNvSpPr txBox="1"/>
          <p:nvPr/>
        </p:nvSpPr>
        <p:spPr>
          <a:xfrm>
            <a:off x="4618037" y="785723"/>
            <a:ext cx="2955925" cy="461963"/>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p>
            <a:pPr>
              <a:defRPr/>
            </a:pPr>
            <a:r>
              <a:rPr lang="zh-CN" altLang="en-US" sz="2400" dirty="0"/>
              <a:t>软件需求管理的过程</a:t>
            </a:r>
            <a:endParaRPr lang="zh-CN" altLang="en-US" sz="2400" dirty="0"/>
          </a:p>
        </p:txBody>
      </p:sp>
      <p:pic>
        <p:nvPicPr>
          <p:cNvPr id="32772"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3425" y="1473336"/>
            <a:ext cx="8185150" cy="581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3.2</a:t>
            </a:r>
            <a:r>
              <a:rPr lang="zh-CN" altLang="en-US" sz="2400" b="1" dirty="0">
                <a:solidFill>
                  <a:srgbClr val="01395C"/>
                </a:solidFill>
                <a:latin typeface="方正粗宋简体"/>
                <a:ea typeface="方正粗宋简体"/>
                <a:cs typeface="方正粗宋简体"/>
              </a:rPr>
              <a:t> 软件需求管理</a:t>
            </a:r>
            <a:endParaRPr lang="zh-CN" altLang="en-US" sz="2400" b="1" dirty="0">
              <a:solidFill>
                <a:srgbClr val="01395C"/>
              </a:solidFill>
              <a:latin typeface="方正粗宋简体"/>
              <a:ea typeface="方正粗宋简体"/>
              <a:cs typeface="方正粗宋简体"/>
            </a:endParaRPr>
          </a:p>
        </p:txBody>
      </p:sp>
      <p:pic>
        <p:nvPicPr>
          <p:cNvPr id="34819" name="图片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95438" y="661988"/>
            <a:ext cx="9001125" cy="666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3.2</a:t>
            </a:r>
            <a:r>
              <a:rPr lang="zh-CN" altLang="en-US" sz="2400" b="1" dirty="0">
                <a:solidFill>
                  <a:srgbClr val="01395C"/>
                </a:solidFill>
                <a:latin typeface="方正粗宋简体"/>
                <a:ea typeface="方正粗宋简体"/>
                <a:cs typeface="方正粗宋简体"/>
              </a:rPr>
              <a:t> 软件需求管理</a:t>
            </a:r>
            <a:endParaRPr lang="zh-CN" altLang="en-US" sz="2400" b="1" dirty="0">
              <a:solidFill>
                <a:srgbClr val="01395C"/>
              </a:solidFill>
              <a:latin typeface="方正粗宋简体"/>
              <a:ea typeface="方正粗宋简体"/>
              <a:cs typeface="方正粗宋简体"/>
            </a:endParaRPr>
          </a:p>
        </p:txBody>
      </p:sp>
      <p:sp>
        <p:nvSpPr>
          <p:cNvPr id="36867" name="文本框 4"/>
          <p:cNvSpPr txBox="1">
            <a:spLocks noChangeArrowheads="1"/>
          </p:cNvSpPr>
          <p:nvPr/>
        </p:nvSpPr>
        <p:spPr bwMode="auto">
          <a:xfrm>
            <a:off x="539750" y="91281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r>
              <a:rPr lang="zh-CN" altLang="en-US" sz="2400"/>
              <a:t>需求获取</a:t>
            </a:r>
            <a:endParaRPr lang="zh-CN" altLang="en-US" sz="2400"/>
          </a:p>
        </p:txBody>
      </p:sp>
      <p:sp>
        <p:nvSpPr>
          <p:cNvPr id="5" name="文本框 4"/>
          <p:cNvSpPr txBox="1"/>
          <p:nvPr/>
        </p:nvSpPr>
        <p:spPr>
          <a:xfrm>
            <a:off x="539750" y="1657350"/>
            <a:ext cx="10783888" cy="4284663"/>
          </a:xfrm>
          <a:prstGeom prst="rect">
            <a:avLst/>
          </a:prstGeom>
          <a:noFill/>
        </p:spPr>
        <p:txBody>
          <a:bodyPr>
            <a:spAutoFit/>
          </a:bodyPr>
          <a:lstStyle/>
          <a:p>
            <a:pPr eaLnBrk="1" hangingPunct="1">
              <a:lnSpc>
                <a:spcPct val="150000"/>
              </a:lnSpc>
              <a:defRPr/>
            </a:pPr>
            <a:r>
              <a:rPr lang="zh-CN" altLang="en-US" sz="2000" dirty="0"/>
              <a:t>对于所建议的软件产品，获取需求是一个从</a:t>
            </a:r>
            <a:r>
              <a:rPr lang="zh-CN" altLang="en-US" sz="2000" dirty="0">
                <a:solidFill>
                  <a:srgbClr val="C00000"/>
                </a:solidFill>
              </a:rPr>
              <a:t>了解</a:t>
            </a:r>
            <a:r>
              <a:rPr lang="zh-CN" altLang="en-US" sz="2000" dirty="0"/>
              <a:t>、</a:t>
            </a:r>
            <a:r>
              <a:rPr lang="zh-CN" altLang="en-US" sz="2000" dirty="0">
                <a:solidFill>
                  <a:srgbClr val="C00000"/>
                </a:solidFill>
              </a:rPr>
              <a:t>理解</a:t>
            </a:r>
            <a:r>
              <a:rPr lang="zh-CN" altLang="en-US" sz="2000" dirty="0"/>
              <a:t>到</a:t>
            </a:r>
            <a:r>
              <a:rPr lang="zh-CN" altLang="en-US" sz="2000" dirty="0">
                <a:solidFill>
                  <a:srgbClr val="C00000"/>
                </a:solidFill>
              </a:rPr>
              <a:t>确定</a:t>
            </a:r>
            <a:r>
              <a:rPr lang="zh-CN" altLang="en-US" sz="2000" dirty="0"/>
              <a:t>不同用户需要和限制的过程，即要了解用户需要系统完成的任务有哪些。</a:t>
            </a:r>
            <a:endParaRPr lang="en-US" altLang="zh-CN" sz="2000" dirty="0"/>
          </a:p>
          <a:p>
            <a:pPr eaLnBrk="1" hangingPunct="1">
              <a:lnSpc>
                <a:spcPct val="150000"/>
              </a:lnSpc>
              <a:defRPr/>
            </a:pPr>
            <a:r>
              <a:rPr lang="zh-CN" altLang="en-US" sz="2400" b="1" u="sng" dirty="0">
                <a:solidFill>
                  <a:srgbClr val="C00000"/>
                </a:solidFill>
                <a:effectLst>
                  <a:outerShdw blurRad="38100" dist="38100" dir="2700000" algn="tl">
                    <a:srgbClr val="000000">
                      <a:alpha val="43137"/>
                    </a:srgbClr>
                  </a:outerShdw>
                </a:effectLst>
              </a:rPr>
              <a:t>困难</a:t>
            </a:r>
            <a:endParaRPr lang="en-US" altLang="zh-CN" sz="2400" b="1" u="sng" dirty="0">
              <a:solidFill>
                <a:srgbClr val="C00000"/>
              </a:solidFill>
              <a:effectLst>
                <a:outerShdw blurRad="38100" dist="38100" dir="2700000" algn="tl">
                  <a:srgbClr val="000000">
                    <a:alpha val="43137"/>
                  </a:srgbClr>
                </a:outerShdw>
              </a:effectLst>
            </a:endParaRPr>
          </a:p>
          <a:p>
            <a:pPr eaLnBrk="1" hangingPunct="1">
              <a:lnSpc>
                <a:spcPct val="150000"/>
              </a:lnSpc>
              <a:defRPr/>
            </a:pPr>
            <a:r>
              <a:rPr lang="en-US" altLang="zh-CN" sz="2000" dirty="0"/>
              <a:t>1</a:t>
            </a:r>
            <a:r>
              <a:rPr lang="zh-CN" altLang="en-US" sz="2000" dirty="0"/>
              <a:t>、分析人员专门业务知识的缺乏</a:t>
            </a:r>
            <a:endParaRPr lang="en-US" altLang="zh-CN" sz="2000" dirty="0"/>
          </a:p>
          <a:p>
            <a:pPr eaLnBrk="1" hangingPunct="1">
              <a:lnSpc>
                <a:spcPct val="150000"/>
              </a:lnSpc>
              <a:defRPr/>
            </a:pPr>
            <a:r>
              <a:rPr lang="en-US" altLang="zh-CN" sz="2000" dirty="0"/>
              <a:t>2</a:t>
            </a:r>
            <a:r>
              <a:rPr lang="zh-CN" altLang="en-US" sz="2000" dirty="0"/>
              <a:t>、用户对需求描述不清</a:t>
            </a:r>
            <a:endParaRPr lang="en-US" altLang="zh-CN" sz="2000" dirty="0"/>
          </a:p>
          <a:p>
            <a:pPr eaLnBrk="1" hangingPunct="1">
              <a:lnSpc>
                <a:spcPct val="150000"/>
              </a:lnSpc>
              <a:defRPr/>
            </a:pPr>
            <a:r>
              <a:rPr lang="en-US" altLang="zh-CN" sz="2000" dirty="0"/>
              <a:t>3</a:t>
            </a:r>
            <a:r>
              <a:rPr lang="zh-CN" altLang="en-US" sz="2000" dirty="0"/>
              <a:t>、客户的时间表不合理</a:t>
            </a:r>
            <a:endParaRPr lang="en-US" altLang="zh-CN" sz="2000" dirty="0"/>
          </a:p>
          <a:p>
            <a:pPr eaLnBrk="1" hangingPunct="1">
              <a:lnSpc>
                <a:spcPct val="150000"/>
              </a:lnSpc>
              <a:defRPr/>
            </a:pPr>
            <a:r>
              <a:rPr lang="en-US" altLang="zh-CN" sz="2000" dirty="0"/>
              <a:t>4</a:t>
            </a:r>
            <a:r>
              <a:rPr lang="zh-CN" altLang="en-US" sz="2000" dirty="0"/>
              <a:t>、沟通客户、工程师和项目经理间存在隔阂</a:t>
            </a:r>
            <a:endParaRPr lang="en-US" altLang="zh-CN" sz="2000" dirty="0"/>
          </a:p>
          <a:p>
            <a:pPr eaLnBrk="1" hangingPunct="1">
              <a:lnSpc>
                <a:spcPct val="150000"/>
              </a:lnSpc>
              <a:defRPr/>
            </a:pPr>
            <a:r>
              <a:rPr lang="en-US" altLang="zh-CN" sz="2000" dirty="0"/>
              <a:t>5</a:t>
            </a:r>
            <a:r>
              <a:rPr lang="zh-CN" altLang="en-US" sz="2000" dirty="0"/>
              <a:t>、开发团队并不理解客户组织的政治策略</a:t>
            </a:r>
            <a:endParaRPr lang="en-US" altLang="zh-CN" sz="2000" dirty="0"/>
          </a:p>
          <a:p>
            <a:pPr eaLnBrk="1" hangingPunct="1">
              <a:lnSpc>
                <a:spcPct val="150000"/>
              </a:lnSpc>
              <a:defRPr/>
            </a:pPr>
            <a:r>
              <a:rPr lang="en-US" altLang="zh-CN" sz="2000" dirty="0"/>
              <a:t>6</a:t>
            </a:r>
            <a:r>
              <a:rPr lang="zh-CN" altLang="en-US" sz="2000" dirty="0"/>
              <a:t>、对需求理解上的偏差</a:t>
            </a:r>
            <a:endParaRPr lang="zh-CN" altLang="en-US" sz="2000" dirty="0"/>
          </a:p>
        </p:txBody>
      </p:sp>
      <p:pic>
        <p:nvPicPr>
          <p:cNvPr id="36869"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26138" y="2552700"/>
            <a:ext cx="5726112" cy="393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3.2</a:t>
            </a:r>
            <a:r>
              <a:rPr lang="zh-CN" altLang="en-US" sz="2400" b="1" dirty="0">
                <a:solidFill>
                  <a:srgbClr val="01395C"/>
                </a:solidFill>
                <a:latin typeface="方正粗宋简体"/>
                <a:ea typeface="方正粗宋简体"/>
                <a:cs typeface="方正粗宋简体"/>
              </a:rPr>
              <a:t> 软件需求管理</a:t>
            </a:r>
            <a:endParaRPr lang="zh-CN" altLang="en-US" sz="2400" b="1" dirty="0">
              <a:solidFill>
                <a:srgbClr val="01395C"/>
              </a:solidFill>
              <a:latin typeface="方正粗宋简体"/>
              <a:ea typeface="方正粗宋简体"/>
              <a:cs typeface="方正粗宋简体"/>
            </a:endParaRPr>
          </a:p>
        </p:txBody>
      </p:sp>
      <p:sp>
        <p:nvSpPr>
          <p:cNvPr id="12291" name="文本框 4"/>
          <p:cNvSpPr txBox="1">
            <a:spLocks noChangeArrowheads="1"/>
          </p:cNvSpPr>
          <p:nvPr/>
        </p:nvSpPr>
        <p:spPr bwMode="auto">
          <a:xfrm>
            <a:off x="539750" y="912813"/>
            <a:ext cx="2452688" cy="523875"/>
          </a:xfrm>
          <a:prstGeom prst="rect">
            <a:avLst/>
          </a:prstGeom>
        </p:spPr>
        <p:style>
          <a:lnRef idx="3">
            <a:schemeClr val="lt1"/>
          </a:lnRef>
          <a:fillRef idx="1">
            <a:schemeClr val="accent2"/>
          </a:fillRef>
          <a:effectRef idx="1">
            <a:schemeClr val="accent2"/>
          </a:effectRef>
          <a:fontRef idx="minor">
            <a:schemeClr val="lt1"/>
          </a:fontRef>
        </p:style>
        <p:txBody>
          <a:bodyP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defRPr/>
            </a:pPr>
            <a:r>
              <a:rPr lang="zh-CN" altLang="en-US" sz="2800" dirty="0">
                <a:solidFill>
                  <a:schemeClr val="bg1"/>
                </a:solidFill>
              </a:rPr>
              <a:t>需求获取方法</a:t>
            </a:r>
            <a:endParaRPr lang="zh-CN" altLang="en-US" sz="2800" dirty="0">
              <a:solidFill>
                <a:schemeClr val="bg1"/>
              </a:solidFill>
            </a:endParaRPr>
          </a:p>
        </p:txBody>
      </p:sp>
      <p:sp>
        <p:nvSpPr>
          <p:cNvPr id="38916" name="文本框 1"/>
          <p:cNvSpPr txBox="1">
            <a:spLocks noChangeArrowheads="1"/>
          </p:cNvSpPr>
          <p:nvPr/>
        </p:nvSpPr>
        <p:spPr bwMode="auto">
          <a:xfrm>
            <a:off x="539750" y="1743075"/>
            <a:ext cx="2452688"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buFont typeface="Impact" panose="020B0806030902050204" pitchFamily="34" charset="0"/>
              <a:buAutoNum type="arabicPeriod"/>
            </a:pPr>
            <a:r>
              <a:rPr lang="zh-CN" altLang="en-US" sz="2800"/>
              <a:t>访谈和调研</a:t>
            </a:r>
            <a:endParaRPr lang="en-US" altLang="zh-CN" sz="2800"/>
          </a:p>
          <a:p>
            <a:pPr>
              <a:lnSpc>
                <a:spcPct val="150000"/>
              </a:lnSpc>
              <a:buFont typeface="Impact" panose="020B0806030902050204" pitchFamily="34" charset="0"/>
              <a:buAutoNum type="arabicPeriod"/>
            </a:pPr>
            <a:r>
              <a:rPr lang="zh-CN" altLang="en-US" sz="2800"/>
              <a:t>专题讨论会</a:t>
            </a:r>
            <a:endParaRPr lang="en-US" altLang="zh-CN" sz="2800"/>
          </a:p>
          <a:p>
            <a:pPr>
              <a:lnSpc>
                <a:spcPct val="150000"/>
              </a:lnSpc>
              <a:buFont typeface="Impact" panose="020B0806030902050204" pitchFamily="34" charset="0"/>
              <a:buAutoNum type="arabicPeriod"/>
            </a:pPr>
            <a:r>
              <a:rPr lang="zh-CN" altLang="en-US" sz="2800"/>
              <a:t>头脑风暴</a:t>
            </a:r>
            <a:endParaRPr lang="en-US" altLang="zh-CN" sz="2800"/>
          </a:p>
          <a:p>
            <a:pPr>
              <a:lnSpc>
                <a:spcPct val="150000"/>
              </a:lnSpc>
              <a:buFont typeface="Impact" panose="020B0806030902050204" pitchFamily="34" charset="0"/>
              <a:buAutoNum type="arabicPeriod"/>
            </a:pPr>
            <a:r>
              <a:rPr lang="zh-CN" altLang="en-US" sz="2800"/>
              <a:t>场景串联</a:t>
            </a:r>
            <a:endParaRPr lang="zh-CN" altLang="en-US" sz="2800"/>
          </a:p>
        </p:txBody>
      </p:sp>
      <p:pic>
        <p:nvPicPr>
          <p:cNvPr id="3891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41713" y="912813"/>
            <a:ext cx="3684587" cy="276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8"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350" y="4446588"/>
            <a:ext cx="3663950" cy="276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9" name="图片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7300" y="912813"/>
            <a:ext cx="4141788" cy="193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0" name="图片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7300" y="2933700"/>
            <a:ext cx="4081463" cy="177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1" name="图片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07300" y="4818063"/>
            <a:ext cx="4081463"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3.2</a:t>
            </a:r>
            <a:r>
              <a:rPr lang="zh-CN" altLang="en-US" sz="2400" b="1" dirty="0">
                <a:solidFill>
                  <a:srgbClr val="01395C"/>
                </a:solidFill>
                <a:latin typeface="方正粗宋简体"/>
                <a:ea typeface="方正粗宋简体"/>
                <a:cs typeface="方正粗宋简体"/>
              </a:rPr>
              <a:t> 软件需求管理</a:t>
            </a:r>
            <a:endParaRPr lang="zh-CN" altLang="en-US" sz="2400" b="1" dirty="0">
              <a:solidFill>
                <a:srgbClr val="01395C"/>
              </a:solidFill>
              <a:latin typeface="方正粗宋简体"/>
              <a:ea typeface="方正粗宋简体"/>
              <a:cs typeface="方正粗宋简体"/>
            </a:endParaRPr>
          </a:p>
        </p:txBody>
      </p:sp>
      <p:sp>
        <p:nvSpPr>
          <p:cNvPr id="12291" name="文本框 4"/>
          <p:cNvSpPr txBox="1">
            <a:spLocks noChangeArrowheads="1"/>
          </p:cNvSpPr>
          <p:nvPr/>
        </p:nvSpPr>
        <p:spPr bwMode="auto">
          <a:xfrm>
            <a:off x="5233988" y="647700"/>
            <a:ext cx="1724025" cy="579438"/>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defRPr/>
            </a:pPr>
            <a:r>
              <a:rPr lang="zh-CN" altLang="en-US" sz="2400" dirty="0">
                <a:solidFill>
                  <a:schemeClr val="bg1"/>
                </a:solidFill>
              </a:rPr>
              <a:t>访谈和调研</a:t>
            </a:r>
            <a:endParaRPr lang="en-US" altLang="zh-CN" sz="2400" dirty="0">
              <a:solidFill>
                <a:schemeClr val="bg1"/>
              </a:solidFill>
            </a:endParaRPr>
          </a:p>
        </p:txBody>
      </p:sp>
      <p:sp>
        <p:nvSpPr>
          <p:cNvPr id="40964" name="文本框 1"/>
          <p:cNvSpPr txBox="1">
            <a:spLocks noChangeArrowheads="1"/>
          </p:cNvSpPr>
          <p:nvPr/>
        </p:nvSpPr>
        <p:spPr bwMode="auto">
          <a:xfrm>
            <a:off x="539750" y="1308100"/>
            <a:ext cx="11285538" cy="648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Impact" panose="020B0806030902050204" pitchFamily="34" charset="0"/>
                <a:ea typeface="微软雅黑" panose="020B0503020204020204" pitchFamily="34" charset="-122"/>
              </a:defRPr>
            </a:lvl1pPr>
            <a:lvl2pPr>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en-US" altLang="zh-CN" sz="2400">
                <a:solidFill>
                  <a:srgbClr val="C00000"/>
                </a:solidFill>
              </a:rPr>
              <a:t>1</a:t>
            </a:r>
            <a:r>
              <a:rPr lang="zh-CN" altLang="en-US" sz="2400">
                <a:solidFill>
                  <a:srgbClr val="C00000"/>
                </a:solidFill>
              </a:rPr>
              <a:t>、了解系统的需求</a:t>
            </a:r>
            <a:endParaRPr lang="zh-CN" altLang="en-US" sz="2400">
              <a:solidFill>
                <a:srgbClr val="C00000"/>
              </a:solidFill>
            </a:endParaRPr>
          </a:p>
          <a:p>
            <a:pPr lvl="1" eaLnBrk="1" hangingPunct="1">
              <a:lnSpc>
                <a:spcPct val="150000"/>
              </a:lnSpc>
            </a:pPr>
            <a:r>
              <a:rPr lang="zh-CN" altLang="en-US" sz="2000"/>
              <a:t>软件开发常常是系统开发的一部分。仔细分析研究系统的需求规格说明，对软件的需求获取很有必要。</a:t>
            </a:r>
            <a:endParaRPr lang="zh-CN" altLang="en-US" sz="2000"/>
          </a:p>
          <a:p>
            <a:pPr eaLnBrk="1" hangingPunct="1">
              <a:lnSpc>
                <a:spcPct val="150000"/>
              </a:lnSpc>
            </a:pPr>
            <a:r>
              <a:rPr lang="en-US" altLang="zh-CN" sz="2400">
                <a:solidFill>
                  <a:srgbClr val="C00000"/>
                </a:solidFill>
              </a:rPr>
              <a:t>2</a:t>
            </a:r>
            <a:r>
              <a:rPr lang="zh-CN" altLang="en-US" sz="2400">
                <a:solidFill>
                  <a:srgbClr val="C00000"/>
                </a:solidFill>
              </a:rPr>
              <a:t>、市场调查</a:t>
            </a:r>
            <a:endParaRPr lang="zh-CN" altLang="en-US" sz="2400">
              <a:solidFill>
                <a:srgbClr val="C00000"/>
              </a:solidFill>
            </a:endParaRPr>
          </a:p>
          <a:p>
            <a:pPr lvl="1" eaLnBrk="1" hangingPunct="1">
              <a:lnSpc>
                <a:spcPct val="150000"/>
              </a:lnSpc>
            </a:pPr>
            <a:r>
              <a:rPr lang="zh-CN" altLang="en-US" sz="2000"/>
              <a:t>了解市场对待开发软件有什么样的要求，了解市场上有无与待开发软件类似的系统。如果有，在功能上、性能上、价格上情况如何。</a:t>
            </a:r>
            <a:endParaRPr lang="zh-CN" altLang="en-US" sz="2000"/>
          </a:p>
          <a:p>
            <a:pPr eaLnBrk="1" hangingPunct="1">
              <a:lnSpc>
                <a:spcPct val="150000"/>
              </a:lnSpc>
            </a:pPr>
            <a:r>
              <a:rPr lang="en-US" altLang="zh-CN" sz="2400">
                <a:solidFill>
                  <a:srgbClr val="C00000"/>
                </a:solidFill>
              </a:rPr>
              <a:t>3</a:t>
            </a:r>
            <a:r>
              <a:rPr lang="zh-CN" altLang="en-US" sz="2400">
                <a:solidFill>
                  <a:srgbClr val="C00000"/>
                </a:solidFill>
              </a:rPr>
              <a:t>、访问用户和用户领域的专家</a:t>
            </a:r>
            <a:endParaRPr lang="zh-CN" altLang="en-US" sz="2400">
              <a:solidFill>
                <a:srgbClr val="C00000"/>
              </a:solidFill>
            </a:endParaRPr>
          </a:p>
          <a:p>
            <a:pPr lvl="1" eaLnBrk="1" hangingPunct="1">
              <a:lnSpc>
                <a:spcPct val="150000"/>
              </a:lnSpc>
            </a:pPr>
            <a:r>
              <a:rPr lang="zh-CN" altLang="en-US" sz="2000"/>
              <a:t>把从用户那里得到的信息作为重要的原始资料进行分析，访问用户领域的专家所得到的信息将有助于对用户需求的理解。</a:t>
            </a:r>
            <a:endParaRPr lang="zh-CN" altLang="en-US" sz="2000"/>
          </a:p>
          <a:p>
            <a:pPr eaLnBrk="1" hangingPunct="1">
              <a:lnSpc>
                <a:spcPct val="150000"/>
              </a:lnSpc>
            </a:pPr>
            <a:r>
              <a:rPr lang="en-US" altLang="zh-CN" sz="2400">
                <a:solidFill>
                  <a:srgbClr val="C00000"/>
                </a:solidFill>
              </a:rPr>
              <a:t>4</a:t>
            </a:r>
            <a:r>
              <a:rPr lang="zh-CN" altLang="en-US" sz="2400">
                <a:solidFill>
                  <a:srgbClr val="C00000"/>
                </a:solidFill>
              </a:rPr>
              <a:t>、考察现场</a:t>
            </a:r>
            <a:endParaRPr lang="zh-CN" altLang="en-US" sz="2400">
              <a:solidFill>
                <a:srgbClr val="C00000"/>
              </a:solidFill>
            </a:endParaRPr>
          </a:p>
          <a:p>
            <a:pPr lvl="1" eaLnBrk="1" hangingPunct="1">
              <a:lnSpc>
                <a:spcPct val="150000"/>
              </a:lnSpc>
            </a:pPr>
            <a:r>
              <a:rPr lang="zh-CN" altLang="en-US" sz="2000"/>
              <a:t>了解用户实际的操作环境、操作过程和操作要求。对照用户提交的问题陈述，对用户需求可以有更全面、更细致的认识。</a:t>
            </a:r>
            <a:endParaRPr lang="zh-CN" altLang="en-US" sz="2000"/>
          </a:p>
          <a:p>
            <a:pPr>
              <a:lnSpc>
                <a:spcPct val="150000"/>
              </a:lnSpc>
            </a:pPr>
            <a:endParaRPr lang="en-US" altLang="zh-CN" sz="2400"/>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3.2</a:t>
            </a:r>
            <a:r>
              <a:rPr lang="zh-CN" altLang="en-US" sz="2400" b="1" dirty="0">
                <a:solidFill>
                  <a:srgbClr val="01395C"/>
                </a:solidFill>
                <a:latin typeface="方正粗宋简体"/>
                <a:ea typeface="方正粗宋简体"/>
                <a:cs typeface="方正粗宋简体"/>
              </a:rPr>
              <a:t> 软件需求管理</a:t>
            </a:r>
            <a:endParaRPr lang="zh-CN" altLang="en-US" sz="2400" b="1" dirty="0">
              <a:solidFill>
                <a:srgbClr val="01395C"/>
              </a:solidFill>
              <a:latin typeface="方正粗宋简体"/>
              <a:ea typeface="方正粗宋简体"/>
              <a:cs typeface="方正粗宋简体"/>
            </a:endParaRPr>
          </a:p>
        </p:txBody>
      </p:sp>
      <p:sp>
        <p:nvSpPr>
          <p:cNvPr id="43011" name="文本框 1"/>
          <p:cNvSpPr txBox="1">
            <a:spLocks noChangeArrowheads="1"/>
          </p:cNvSpPr>
          <p:nvPr/>
        </p:nvSpPr>
        <p:spPr bwMode="auto">
          <a:xfrm>
            <a:off x="539750" y="1743075"/>
            <a:ext cx="10948988"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lnSpc>
                <a:spcPct val="150000"/>
              </a:lnSpc>
            </a:pPr>
            <a:r>
              <a:rPr lang="zh-CN" altLang="en-US" sz="2400"/>
              <a:t>专题讨论会准备包括：</a:t>
            </a:r>
            <a:endParaRPr lang="en-US" altLang="zh-CN" sz="2400"/>
          </a:p>
          <a:p>
            <a:pPr eaLnBrk="1" hangingPunct="1">
              <a:lnSpc>
                <a:spcPct val="150000"/>
              </a:lnSpc>
            </a:pPr>
            <a:r>
              <a:rPr lang="en-US" altLang="zh-CN" sz="2400"/>
              <a:t>1</a:t>
            </a:r>
            <a:r>
              <a:rPr lang="zh-CN" altLang="en-US" sz="2400"/>
              <a:t>、参加会议人员：主持人、用户、技术人员、项目组人员</a:t>
            </a:r>
            <a:endParaRPr lang="en-US" altLang="zh-CN" sz="2400"/>
          </a:p>
          <a:p>
            <a:pPr eaLnBrk="1" hangingPunct="1">
              <a:lnSpc>
                <a:spcPct val="150000"/>
              </a:lnSpc>
            </a:pPr>
            <a:r>
              <a:rPr lang="en-US" altLang="zh-CN" sz="2400"/>
              <a:t>2</a:t>
            </a:r>
            <a:r>
              <a:rPr lang="zh-CN" altLang="en-US" sz="2400"/>
              <a:t>、安排日程</a:t>
            </a:r>
            <a:endParaRPr lang="en-US" altLang="zh-CN" sz="2400"/>
          </a:p>
          <a:p>
            <a:pPr eaLnBrk="1" hangingPunct="1">
              <a:lnSpc>
                <a:spcPct val="150000"/>
              </a:lnSpc>
            </a:pPr>
            <a:r>
              <a:rPr lang="en-US" altLang="zh-CN" sz="2400"/>
              <a:t>3</a:t>
            </a:r>
            <a:r>
              <a:rPr lang="zh-CN" altLang="en-US" sz="2400"/>
              <a:t>、通常在具有相应支持设备的专用房间进行</a:t>
            </a:r>
            <a:endParaRPr lang="en-US" altLang="zh-CN" sz="2400"/>
          </a:p>
          <a:p>
            <a:pPr eaLnBrk="1" hangingPunct="1">
              <a:lnSpc>
                <a:spcPct val="150000"/>
              </a:lnSpc>
            </a:pPr>
            <a:r>
              <a:rPr lang="zh-CN" altLang="en-US" sz="2400"/>
              <a:t>举行讨论会议包括：</a:t>
            </a:r>
            <a:endParaRPr lang="en-US" altLang="zh-CN" sz="2400"/>
          </a:p>
          <a:p>
            <a:pPr eaLnBrk="1" hangingPunct="1">
              <a:lnSpc>
                <a:spcPct val="150000"/>
              </a:lnSpc>
            </a:pPr>
            <a:r>
              <a:rPr lang="en-US" altLang="zh-CN" sz="2400"/>
              <a:t>1</a:t>
            </a:r>
            <a:r>
              <a:rPr lang="zh-CN" altLang="en-US" sz="2400"/>
              <a:t>、可能出现人员之间的责备或冲突，主持人应掌握讨论气氛并控制会场</a:t>
            </a:r>
            <a:endParaRPr lang="en-US" altLang="zh-CN" sz="2400"/>
          </a:p>
          <a:p>
            <a:pPr eaLnBrk="1" hangingPunct="1">
              <a:lnSpc>
                <a:spcPct val="150000"/>
              </a:lnSpc>
            </a:pPr>
            <a:r>
              <a:rPr lang="en-US" altLang="zh-CN" sz="2400"/>
              <a:t>2</a:t>
            </a:r>
            <a:r>
              <a:rPr lang="zh-CN" altLang="en-US" sz="2400"/>
              <a:t>、最重要的部分是自由讨论阶段，这种技术非常符合专题讨论会的气氛，并且营造一种创造性的和积极的氛围，同时可以获得所有相关者的意见</a:t>
            </a:r>
            <a:endParaRPr lang="en-US" altLang="zh-CN" sz="2400"/>
          </a:p>
          <a:p>
            <a:pPr eaLnBrk="1" hangingPunct="1">
              <a:lnSpc>
                <a:spcPct val="150000"/>
              </a:lnSpc>
            </a:pPr>
            <a:r>
              <a:rPr lang="en-US" altLang="zh-CN" sz="2400"/>
              <a:t>3</a:t>
            </a:r>
            <a:r>
              <a:rPr lang="zh-CN" altLang="en-US" sz="2400"/>
              <a:t>、分配会议时间，记录所有言论</a:t>
            </a:r>
            <a:endParaRPr lang="zh-CN" altLang="en-US" sz="2400"/>
          </a:p>
        </p:txBody>
      </p:sp>
      <p:sp>
        <p:nvSpPr>
          <p:cNvPr id="3" name="文本框 4"/>
          <p:cNvSpPr txBox="1">
            <a:spLocks noChangeArrowheads="1"/>
          </p:cNvSpPr>
          <p:nvPr/>
        </p:nvSpPr>
        <p:spPr bwMode="auto">
          <a:xfrm>
            <a:off x="5233988" y="854075"/>
            <a:ext cx="1724025" cy="579438"/>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defRPr/>
            </a:pPr>
            <a:r>
              <a:rPr lang="zh-CN" altLang="en-US" sz="2400" dirty="0">
                <a:solidFill>
                  <a:schemeClr val="bg1"/>
                </a:solidFill>
              </a:rPr>
              <a:t>专题讨论会</a:t>
            </a:r>
            <a:endParaRPr lang="en-US" altLang="zh-CN" sz="2400" dirty="0">
              <a:solidFill>
                <a:schemeClr val="bg1"/>
              </a:solidFill>
            </a:endParaRPr>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3.2</a:t>
            </a:r>
            <a:r>
              <a:rPr lang="zh-CN" altLang="en-US" sz="2400" b="1" dirty="0">
                <a:solidFill>
                  <a:srgbClr val="01395C"/>
                </a:solidFill>
                <a:latin typeface="方正粗宋简体"/>
                <a:ea typeface="方正粗宋简体"/>
                <a:cs typeface="方正粗宋简体"/>
              </a:rPr>
              <a:t> 软件需求管理</a:t>
            </a:r>
            <a:endParaRPr lang="zh-CN" altLang="en-US" sz="2400" b="1" dirty="0">
              <a:solidFill>
                <a:srgbClr val="01395C"/>
              </a:solidFill>
              <a:latin typeface="方正粗宋简体"/>
              <a:ea typeface="方正粗宋简体"/>
              <a:cs typeface="方正粗宋简体"/>
            </a:endParaRPr>
          </a:p>
        </p:txBody>
      </p:sp>
      <p:sp>
        <p:nvSpPr>
          <p:cNvPr id="45059" name="文本框 1"/>
          <p:cNvSpPr txBox="1">
            <a:spLocks noChangeArrowheads="1"/>
          </p:cNvSpPr>
          <p:nvPr/>
        </p:nvSpPr>
        <p:spPr bwMode="auto">
          <a:xfrm>
            <a:off x="539750" y="1454150"/>
            <a:ext cx="11310938"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zh-CN" altLang="en-US" sz="2400">
                <a:solidFill>
                  <a:srgbClr val="C00000"/>
                </a:solidFill>
              </a:rPr>
              <a:t>                            头脑风暴法</a:t>
            </a:r>
            <a:r>
              <a:rPr lang="zh-CN" altLang="en-US" sz="2400"/>
              <a:t>又称智力激励法、</a:t>
            </a:r>
            <a:r>
              <a:rPr lang="en-US" altLang="zh-CN" sz="2400"/>
              <a:t>BS</a:t>
            </a:r>
            <a:r>
              <a:rPr lang="zh-CN" altLang="en-US" sz="2400"/>
              <a:t>法、自由思考法，是由美国创造学家 </a:t>
            </a:r>
            <a:endParaRPr lang="en-US" altLang="zh-CN" sz="2400"/>
          </a:p>
          <a:p>
            <a:pPr>
              <a:lnSpc>
                <a:spcPct val="150000"/>
              </a:lnSpc>
            </a:pPr>
            <a:r>
              <a:rPr lang="en-US" altLang="zh-CN" sz="2400"/>
              <a:t>                            A·F·</a:t>
            </a:r>
            <a:r>
              <a:rPr lang="zh-CN" altLang="en-US" sz="2400"/>
              <a:t>奥斯本于</a:t>
            </a:r>
            <a:r>
              <a:rPr lang="en-US" altLang="zh-CN" sz="2400"/>
              <a:t>1939</a:t>
            </a:r>
            <a:r>
              <a:rPr lang="zh-CN" altLang="en-US" sz="2400"/>
              <a:t>年首次提出，</a:t>
            </a:r>
            <a:r>
              <a:rPr lang="en-US" altLang="zh-CN" sz="2400"/>
              <a:t>1953</a:t>
            </a:r>
            <a:r>
              <a:rPr lang="zh-CN" altLang="en-US" sz="2400"/>
              <a:t>年正式发表的一种激发性思维的方</a:t>
            </a:r>
            <a:endParaRPr lang="en-US" altLang="zh-CN" sz="2400"/>
          </a:p>
          <a:p>
            <a:pPr>
              <a:lnSpc>
                <a:spcPct val="150000"/>
              </a:lnSpc>
            </a:pPr>
            <a:r>
              <a:rPr lang="en-US" altLang="zh-CN" sz="2400"/>
              <a:t>                            </a:t>
            </a:r>
            <a:r>
              <a:rPr lang="zh-CN" altLang="en-US" sz="2400"/>
              <a:t>法。</a:t>
            </a:r>
            <a:endParaRPr lang="en-US" altLang="zh-CN" sz="2400"/>
          </a:p>
          <a:p>
            <a:pPr>
              <a:lnSpc>
                <a:spcPct val="150000"/>
              </a:lnSpc>
            </a:pPr>
            <a:endParaRPr lang="en-US" altLang="zh-CN" sz="2400"/>
          </a:p>
          <a:p>
            <a:pPr>
              <a:lnSpc>
                <a:spcPct val="150000"/>
              </a:lnSpc>
            </a:pPr>
            <a:r>
              <a:rPr lang="zh-CN" altLang="en-US" sz="2400"/>
              <a:t>当一群人围绕一个特定的兴趣领域产生新观点的时候，这种情境就叫做</a:t>
            </a:r>
            <a:r>
              <a:rPr lang="zh-CN" altLang="en-US" sz="2400">
                <a:solidFill>
                  <a:srgbClr val="C00000"/>
                </a:solidFill>
              </a:rPr>
              <a:t>头脑风暴</a:t>
            </a:r>
            <a:r>
              <a:rPr lang="zh-CN" altLang="en-US" sz="2400"/>
              <a:t>。</a:t>
            </a:r>
            <a:endParaRPr lang="en-US" altLang="zh-CN" sz="2400"/>
          </a:p>
          <a:p>
            <a:pPr>
              <a:lnSpc>
                <a:spcPct val="150000"/>
              </a:lnSpc>
            </a:pPr>
            <a:r>
              <a:rPr lang="zh-CN" altLang="en-US" sz="2400"/>
              <a:t>头脑风暴的</a:t>
            </a:r>
            <a:r>
              <a:rPr lang="zh-CN" altLang="en-US" sz="2400">
                <a:solidFill>
                  <a:srgbClr val="C00000"/>
                </a:solidFill>
              </a:rPr>
              <a:t>特点</a:t>
            </a:r>
            <a:r>
              <a:rPr lang="zh-CN" altLang="en-US" sz="2400"/>
              <a:t>，是让参会者敞开思想使各种设想在相互碰撞中激起脑海的创造性风暴。</a:t>
            </a:r>
            <a:endParaRPr lang="en-US" altLang="zh-CN" sz="2400"/>
          </a:p>
          <a:p>
            <a:pPr>
              <a:lnSpc>
                <a:spcPct val="150000"/>
              </a:lnSpc>
            </a:pPr>
            <a:r>
              <a:rPr lang="zh-CN" altLang="en-US" sz="2400"/>
              <a:t>头脑风暴包括两个阶段：</a:t>
            </a:r>
            <a:r>
              <a:rPr lang="zh-CN" altLang="en-US" sz="2400">
                <a:solidFill>
                  <a:srgbClr val="C00000"/>
                </a:solidFill>
              </a:rPr>
              <a:t>想法产生阶段</a:t>
            </a:r>
            <a:r>
              <a:rPr lang="zh-CN" altLang="en-US" sz="2400"/>
              <a:t>、</a:t>
            </a:r>
            <a:r>
              <a:rPr lang="zh-CN" altLang="en-US" sz="2400">
                <a:solidFill>
                  <a:srgbClr val="C00000"/>
                </a:solidFill>
              </a:rPr>
              <a:t>想法精化阶段</a:t>
            </a:r>
            <a:endParaRPr lang="en-US" altLang="zh-CN" sz="2400">
              <a:solidFill>
                <a:srgbClr val="C00000"/>
              </a:solidFill>
            </a:endParaRPr>
          </a:p>
          <a:p>
            <a:pPr>
              <a:lnSpc>
                <a:spcPct val="150000"/>
              </a:lnSpc>
            </a:pPr>
            <a:endParaRPr lang="zh-CN" altLang="en-US" sz="2400"/>
          </a:p>
        </p:txBody>
      </p:sp>
      <p:sp>
        <p:nvSpPr>
          <p:cNvPr id="3" name="文本框 4"/>
          <p:cNvSpPr txBox="1">
            <a:spLocks noChangeArrowheads="1"/>
          </p:cNvSpPr>
          <p:nvPr/>
        </p:nvSpPr>
        <p:spPr bwMode="auto">
          <a:xfrm>
            <a:off x="5387975" y="623888"/>
            <a:ext cx="1416050" cy="577850"/>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defRPr/>
            </a:pPr>
            <a:r>
              <a:rPr lang="zh-CN" altLang="en-US" sz="2400" dirty="0">
                <a:solidFill>
                  <a:schemeClr val="bg1"/>
                </a:solidFill>
              </a:rPr>
              <a:t>头脑风暴</a:t>
            </a:r>
            <a:endParaRPr lang="en-US" altLang="zh-CN" sz="2400" dirty="0">
              <a:solidFill>
                <a:schemeClr val="bg1"/>
              </a:solidFill>
            </a:endParaRPr>
          </a:p>
        </p:txBody>
      </p:sp>
      <p:pic>
        <p:nvPicPr>
          <p:cNvPr id="4506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802688" y="5187950"/>
            <a:ext cx="2849562" cy="175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062" name="Picture 7" descr="%E4%BA%9A%E5%8E%86%E5%85%8B%E6%96%AF%C2%B7%E5%A5%A5%E6%96%AF%E6%9C%A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888" y="1639888"/>
            <a:ext cx="1325562" cy="167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3.2</a:t>
            </a:r>
            <a:r>
              <a:rPr lang="zh-CN" altLang="en-US" sz="2400" b="1" dirty="0">
                <a:solidFill>
                  <a:srgbClr val="01395C"/>
                </a:solidFill>
                <a:latin typeface="方正粗宋简体"/>
                <a:ea typeface="方正粗宋简体"/>
                <a:cs typeface="方正粗宋简体"/>
              </a:rPr>
              <a:t> 软件需求管理</a:t>
            </a:r>
            <a:endParaRPr lang="zh-CN" altLang="en-US" sz="2400" b="1" dirty="0">
              <a:solidFill>
                <a:srgbClr val="01395C"/>
              </a:solidFill>
              <a:latin typeface="方正粗宋简体"/>
              <a:ea typeface="方正粗宋简体"/>
              <a:cs typeface="方正粗宋简体"/>
            </a:endParaRPr>
          </a:p>
        </p:txBody>
      </p:sp>
      <p:sp>
        <p:nvSpPr>
          <p:cNvPr id="47107" name="文本框 1"/>
          <p:cNvSpPr txBox="1">
            <a:spLocks noChangeArrowheads="1"/>
          </p:cNvSpPr>
          <p:nvPr/>
        </p:nvSpPr>
        <p:spPr bwMode="auto">
          <a:xfrm>
            <a:off x="330200" y="1644650"/>
            <a:ext cx="11531600" cy="334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lnSpc>
                <a:spcPct val="150000"/>
              </a:lnSpc>
            </a:pPr>
            <a:r>
              <a:rPr lang="zh-CN" altLang="en-US" sz="2400"/>
              <a:t>现在的软件，几乎都是用事件触发来控制流程的，事件触发时的情景便形成了场景，而同一事件不同的触发顺序和处理结果就形成事件流。</a:t>
            </a:r>
            <a:endParaRPr lang="en-US" altLang="zh-CN" sz="2400"/>
          </a:p>
          <a:p>
            <a:pPr eaLnBrk="1" hangingPunct="1">
              <a:lnSpc>
                <a:spcPct val="150000"/>
              </a:lnSpc>
            </a:pPr>
            <a:r>
              <a:rPr lang="zh-CN" altLang="en-US" sz="2400"/>
              <a:t>根据与用户交互的方式，场景串联被分成以下三种模式：</a:t>
            </a:r>
            <a:endParaRPr lang="en-US" altLang="zh-CN" sz="2400"/>
          </a:p>
          <a:p>
            <a:pPr eaLnBrk="1" hangingPunct="1">
              <a:lnSpc>
                <a:spcPct val="150000"/>
              </a:lnSpc>
            </a:pPr>
            <a:r>
              <a:rPr lang="en-US" altLang="zh-CN" sz="2400"/>
              <a:t>1</a:t>
            </a:r>
            <a:r>
              <a:rPr lang="zh-CN" altLang="en-US" sz="2400"/>
              <a:t>、</a:t>
            </a:r>
            <a:r>
              <a:rPr lang="zh-CN" altLang="en-US" sz="2400">
                <a:solidFill>
                  <a:srgbClr val="C00000"/>
                </a:solidFill>
              </a:rPr>
              <a:t>静态场景串联</a:t>
            </a:r>
            <a:r>
              <a:rPr lang="zh-CN" altLang="en-US" sz="2400"/>
              <a:t>：草图、图片、屏幕快照、</a:t>
            </a:r>
            <a:r>
              <a:rPr lang="en-US" altLang="zh-CN" sz="2400"/>
              <a:t>PPT</a:t>
            </a:r>
            <a:r>
              <a:rPr lang="zh-CN" altLang="en-US" sz="2400"/>
              <a:t>演示等</a:t>
            </a:r>
            <a:endParaRPr lang="en-US" altLang="zh-CN" sz="2400"/>
          </a:p>
          <a:p>
            <a:pPr eaLnBrk="1" hangingPunct="1">
              <a:lnSpc>
                <a:spcPct val="150000"/>
              </a:lnSpc>
            </a:pPr>
            <a:r>
              <a:rPr lang="en-US" altLang="zh-CN" sz="2400"/>
              <a:t>2</a:t>
            </a:r>
            <a:r>
              <a:rPr lang="zh-CN" altLang="en-US" sz="2400"/>
              <a:t>、</a:t>
            </a:r>
            <a:r>
              <a:rPr lang="zh-CN" altLang="en-US" sz="2400">
                <a:solidFill>
                  <a:srgbClr val="C00000"/>
                </a:solidFill>
              </a:rPr>
              <a:t>动态场景串联</a:t>
            </a:r>
            <a:r>
              <a:rPr lang="zh-CN" altLang="en-US" sz="2400"/>
              <a:t>：自动的场景</a:t>
            </a:r>
            <a:r>
              <a:rPr lang="en-US" altLang="zh-CN" sz="2400"/>
              <a:t>PPT</a:t>
            </a:r>
            <a:r>
              <a:rPr lang="zh-CN" altLang="en-US" sz="2400"/>
              <a:t>演示、动画、</a:t>
            </a:r>
            <a:r>
              <a:rPr lang="en-US" altLang="zh-CN" sz="2400"/>
              <a:t>GUI</a:t>
            </a:r>
            <a:r>
              <a:rPr lang="zh-CN" altLang="en-US" sz="2400"/>
              <a:t>记录脚本</a:t>
            </a:r>
            <a:endParaRPr lang="en-US" altLang="zh-CN" sz="2400"/>
          </a:p>
          <a:p>
            <a:pPr eaLnBrk="1" hangingPunct="1">
              <a:lnSpc>
                <a:spcPct val="150000"/>
              </a:lnSpc>
            </a:pPr>
            <a:r>
              <a:rPr lang="en-US" altLang="zh-CN" sz="2400"/>
              <a:t>3</a:t>
            </a:r>
            <a:r>
              <a:rPr lang="zh-CN" altLang="en-US" sz="2400"/>
              <a:t>、</a:t>
            </a:r>
            <a:r>
              <a:rPr lang="zh-CN" altLang="en-US" sz="2400">
                <a:solidFill>
                  <a:srgbClr val="C00000"/>
                </a:solidFill>
              </a:rPr>
              <a:t>交互场景串联</a:t>
            </a:r>
            <a:r>
              <a:rPr lang="zh-CN" altLang="en-US" sz="2400"/>
              <a:t>：模拟完成的系统、系统原型</a:t>
            </a:r>
            <a:endParaRPr lang="zh-CN" altLang="en-US" sz="2400"/>
          </a:p>
        </p:txBody>
      </p:sp>
      <p:sp>
        <p:nvSpPr>
          <p:cNvPr id="3" name="文本框 4"/>
          <p:cNvSpPr txBox="1">
            <a:spLocks noChangeArrowheads="1"/>
          </p:cNvSpPr>
          <p:nvPr/>
        </p:nvSpPr>
        <p:spPr bwMode="auto">
          <a:xfrm>
            <a:off x="5387975" y="854075"/>
            <a:ext cx="1416050" cy="579438"/>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defRPr/>
            </a:pPr>
            <a:r>
              <a:rPr lang="zh-CN" altLang="en-US" sz="2400" dirty="0">
                <a:solidFill>
                  <a:schemeClr val="bg1"/>
                </a:solidFill>
              </a:rPr>
              <a:t>场景串联</a:t>
            </a:r>
            <a:endParaRPr lang="zh-CN" altLang="en-US" sz="2400" dirty="0">
              <a:solidFill>
                <a:schemeClr val="bg1"/>
              </a:solidFill>
            </a:endParaRPr>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3.2</a:t>
            </a:r>
            <a:r>
              <a:rPr lang="zh-CN" altLang="en-US" sz="2400" b="1" dirty="0">
                <a:solidFill>
                  <a:srgbClr val="01395C"/>
                </a:solidFill>
                <a:latin typeface="方正粗宋简体"/>
                <a:ea typeface="方正粗宋简体"/>
                <a:cs typeface="方正粗宋简体"/>
              </a:rPr>
              <a:t> 软件需求管理</a:t>
            </a:r>
            <a:endParaRPr lang="zh-CN" altLang="en-US" sz="2400" b="1" dirty="0">
              <a:solidFill>
                <a:srgbClr val="01395C"/>
              </a:solidFill>
              <a:latin typeface="方正粗宋简体"/>
              <a:ea typeface="方正粗宋简体"/>
              <a:cs typeface="方正粗宋简体"/>
            </a:endParaRPr>
          </a:p>
        </p:txBody>
      </p:sp>
      <p:sp>
        <p:nvSpPr>
          <p:cNvPr id="49155" name="文本框 4"/>
          <p:cNvSpPr txBox="1">
            <a:spLocks noChangeArrowheads="1"/>
          </p:cNvSpPr>
          <p:nvPr/>
        </p:nvSpPr>
        <p:spPr bwMode="auto">
          <a:xfrm>
            <a:off x="539750" y="912813"/>
            <a:ext cx="23383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r>
              <a:rPr lang="zh-CN" altLang="en-US" sz="2400"/>
              <a:t>需求分析与验证</a:t>
            </a:r>
            <a:endParaRPr lang="zh-CN" altLang="en-US" sz="2400"/>
          </a:p>
        </p:txBody>
      </p:sp>
      <p:sp>
        <p:nvSpPr>
          <p:cNvPr id="5" name="Rectangle 1027"/>
          <p:cNvSpPr>
            <a:spLocks noGrp="1" noChangeArrowheads="1"/>
          </p:cNvSpPr>
          <p:nvPr>
            <p:ph sz="quarter" idx="1"/>
          </p:nvPr>
        </p:nvSpPr>
        <p:spPr>
          <a:xfrm>
            <a:off x="539750" y="1482725"/>
            <a:ext cx="11185525" cy="4799013"/>
          </a:xfrm>
          <a:ln w="28575">
            <a:solidFill>
              <a:schemeClr val="accent1">
                <a:lumMod val="75000"/>
              </a:schemeClr>
            </a:solidFill>
          </a:ln>
        </p:spPr>
        <p:txBody>
          <a:bodyPr>
            <a:normAutofit/>
          </a:bodyPr>
          <a:lstStyle/>
          <a:p>
            <a:pPr eaLnBrk="1" hangingPunct="1">
              <a:lnSpc>
                <a:spcPct val="150000"/>
              </a:lnSpc>
              <a:defRPr/>
            </a:pPr>
            <a:r>
              <a:rPr lang="zh-CN" altLang="en-US" sz="2000" kern="1200" dirty="0">
                <a:solidFill>
                  <a:srgbClr val="C00000"/>
                </a:solidFill>
              </a:rPr>
              <a:t>需求分析</a:t>
            </a:r>
            <a:endParaRPr lang="zh-CN" altLang="en-US" sz="2000" kern="1200" dirty="0">
              <a:solidFill>
                <a:srgbClr val="C00000"/>
              </a:solidFill>
            </a:endParaRPr>
          </a:p>
          <a:p>
            <a:pPr marL="457200" lvl="1" indent="0" eaLnBrk="1" hangingPunct="1">
              <a:lnSpc>
                <a:spcPct val="150000"/>
              </a:lnSpc>
              <a:buFont typeface="Arial" panose="020B0604020202020204" pitchFamily="34" charset="0"/>
              <a:buNone/>
              <a:defRPr/>
            </a:pPr>
            <a:r>
              <a:rPr lang="zh-CN" altLang="en-US" sz="2000" kern="1200" dirty="0">
                <a:cs typeface="+mn-cs"/>
              </a:rPr>
              <a:t>是指对要解决的问题进行详细的分析，弄清楚问题的要求，包括需要输入什么数据，要得到什么结果，最后应输出什么。</a:t>
            </a:r>
            <a:endParaRPr lang="zh-CN" altLang="en-US" sz="2000" kern="1200" dirty="0">
              <a:cs typeface="+mn-cs"/>
            </a:endParaRPr>
          </a:p>
          <a:p>
            <a:pPr eaLnBrk="1" hangingPunct="1">
              <a:lnSpc>
                <a:spcPct val="150000"/>
              </a:lnSpc>
              <a:defRPr/>
            </a:pPr>
            <a:r>
              <a:rPr lang="zh-CN" altLang="en-US" sz="2000" kern="1200" dirty="0">
                <a:solidFill>
                  <a:srgbClr val="C00000"/>
                </a:solidFill>
              </a:rPr>
              <a:t>软件工程当中的需求分析</a:t>
            </a:r>
            <a:r>
              <a:rPr lang="zh-CN" altLang="en-US" sz="2000" kern="1200" dirty="0"/>
              <a:t>，是确定要计算机做什么，要达到什么样的效果。</a:t>
            </a:r>
            <a:endParaRPr lang="zh-CN" altLang="en-US" sz="2000" kern="1200" dirty="0"/>
          </a:p>
          <a:p>
            <a:pPr eaLnBrk="1" hangingPunct="1">
              <a:lnSpc>
                <a:spcPct val="150000"/>
              </a:lnSpc>
              <a:defRPr/>
            </a:pPr>
            <a:r>
              <a:rPr lang="zh-CN" altLang="en-US" sz="2000" kern="1200" dirty="0"/>
              <a:t>需求分析是做系统之前必做的。</a:t>
            </a:r>
            <a:endParaRPr lang="en-US" altLang="zh-CN" sz="2000" kern="1200" dirty="0"/>
          </a:p>
          <a:p>
            <a:pPr eaLnBrk="1" hangingPunct="1">
              <a:lnSpc>
                <a:spcPct val="150000"/>
              </a:lnSpc>
              <a:defRPr/>
            </a:pPr>
            <a:r>
              <a:rPr lang="zh-CN" altLang="en-US" sz="2000" kern="1200" dirty="0"/>
              <a:t>不论是复杂的项目还是简单的项目，需求分析员和用户都有可能误解需求。所以，</a:t>
            </a:r>
            <a:r>
              <a:rPr lang="zh-CN" altLang="en-US" sz="2000" kern="1200" dirty="0">
                <a:solidFill>
                  <a:srgbClr val="C00000"/>
                </a:solidFill>
              </a:rPr>
              <a:t>需求验证（需求评审）</a:t>
            </a:r>
            <a:r>
              <a:rPr lang="zh-CN" altLang="en-US" sz="2000" kern="1200" dirty="0"/>
              <a:t>工作必不可少。</a:t>
            </a:r>
            <a:endParaRPr lang="en-US" altLang="zh-CN" sz="2000" kern="1200" dirty="0"/>
          </a:p>
          <a:p>
            <a:pPr eaLnBrk="1" hangingPunct="1">
              <a:lnSpc>
                <a:spcPct val="150000"/>
              </a:lnSpc>
              <a:defRPr/>
            </a:pPr>
            <a:r>
              <a:rPr lang="zh-CN" altLang="en-US" sz="2000" kern="1200" dirty="0"/>
              <a:t>通过需求分析、用户交流、需求验证等手段可使项目所有人员对目标系统的认识达成共识。</a:t>
            </a:r>
            <a:endParaRPr lang="zh-CN" altLang="en-US" sz="2000" kern="1200" dirty="0"/>
          </a:p>
          <a:p>
            <a:pPr marL="365760" lvl="1" indent="0" eaLnBrk="1" fontAlgn="auto" hangingPunct="1">
              <a:spcAft>
                <a:spcPts val="0"/>
              </a:spcAft>
              <a:buFont typeface="Arial" panose="020B0604020202020204" pitchFamily="34" charset="0"/>
              <a:buNone/>
              <a:defRPr/>
            </a:pPr>
            <a:endParaRPr lang="en-US" altLang="zh-CN" sz="2000" dirty="0"/>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3.2</a:t>
            </a:r>
            <a:r>
              <a:rPr lang="zh-CN" altLang="en-US" sz="2400" b="1" dirty="0">
                <a:solidFill>
                  <a:srgbClr val="01395C"/>
                </a:solidFill>
                <a:latin typeface="方正粗宋简体"/>
                <a:ea typeface="方正粗宋简体"/>
                <a:cs typeface="方正粗宋简体"/>
              </a:rPr>
              <a:t> 软件需求管理</a:t>
            </a:r>
            <a:endParaRPr lang="zh-CN" altLang="en-US" sz="2400" b="1" dirty="0">
              <a:solidFill>
                <a:srgbClr val="01395C"/>
              </a:solidFill>
              <a:latin typeface="方正粗宋简体"/>
              <a:ea typeface="方正粗宋简体"/>
              <a:cs typeface="方正粗宋简体"/>
            </a:endParaRPr>
          </a:p>
        </p:txBody>
      </p:sp>
      <p:sp>
        <p:nvSpPr>
          <p:cNvPr id="12291" name="文本框 4"/>
          <p:cNvSpPr txBox="1">
            <a:spLocks noChangeArrowheads="1"/>
          </p:cNvSpPr>
          <p:nvPr/>
        </p:nvSpPr>
        <p:spPr bwMode="auto">
          <a:xfrm>
            <a:off x="5387975" y="836613"/>
            <a:ext cx="1416050" cy="461962"/>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defRPr/>
            </a:pPr>
            <a:r>
              <a:rPr lang="zh-CN" altLang="en-US" sz="2400" dirty="0"/>
              <a:t>需求验证</a:t>
            </a:r>
            <a:endParaRPr lang="zh-CN" altLang="en-US" sz="2400" dirty="0"/>
          </a:p>
        </p:txBody>
      </p:sp>
      <p:sp>
        <p:nvSpPr>
          <p:cNvPr id="5" name="Rectangle 1027"/>
          <p:cNvSpPr>
            <a:spLocks noGrp="1" noChangeArrowheads="1"/>
          </p:cNvSpPr>
          <p:nvPr>
            <p:ph sz="quarter" idx="1"/>
          </p:nvPr>
        </p:nvSpPr>
        <p:spPr>
          <a:xfrm>
            <a:off x="6351588" y="1825625"/>
            <a:ext cx="4459287" cy="4427538"/>
          </a:xfrm>
          <a:ln w="28575">
            <a:solidFill>
              <a:schemeClr val="accent1">
                <a:lumMod val="75000"/>
              </a:schemeClr>
            </a:solidFill>
          </a:ln>
        </p:spPr>
        <p:txBody>
          <a:bodyPr>
            <a:noAutofit/>
          </a:bodyPr>
          <a:lstStyle/>
          <a:p>
            <a:pPr marL="320040" indent="-320040" eaLnBrk="1" fontAlgn="auto" hangingPunct="1">
              <a:lnSpc>
                <a:spcPct val="120000"/>
              </a:lnSpc>
              <a:spcAft>
                <a:spcPts val="0"/>
              </a:spcAft>
              <a:buFont typeface="Wingdings" panose="05000000000000000000" pitchFamily="2" charset="2"/>
              <a:buChar char="Ø"/>
              <a:defRPr/>
            </a:pPr>
            <a:r>
              <a:rPr lang="zh-CN" altLang="en-US" sz="2400" dirty="0">
                <a:latin typeface="等线" panose="02010600030101010101" pitchFamily="2" charset="-122"/>
                <a:ea typeface="等线" panose="02010600030101010101" pitchFamily="2" charset="-122"/>
              </a:rPr>
              <a:t>需求是正确的吗？</a:t>
            </a:r>
            <a:endParaRPr lang="zh-CN" altLang="en-US" sz="2400" dirty="0">
              <a:latin typeface="等线" panose="02010600030101010101" pitchFamily="2" charset="-122"/>
              <a:ea typeface="等线" panose="02010600030101010101" pitchFamily="2" charset="-122"/>
            </a:endParaRPr>
          </a:p>
          <a:p>
            <a:pPr marL="320040" indent="-320040" eaLnBrk="1" fontAlgn="auto" hangingPunct="1">
              <a:lnSpc>
                <a:spcPct val="120000"/>
              </a:lnSpc>
              <a:spcAft>
                <a:spcPts val="0"/>
              </a:spcAft>
              <a:buFont typeface="Wingdings" panose="05000000000000000000" pitchFamily="2" charset="2"/>
              <a:buChar char="Ø"/>
              <a:defRPr/>
            </a:pPr>
            <a:r>
              <a:rPr lang="zh-CN" altLang="en-US" sz="2400" dirty="0">
                <a:latin typeface="等线" panose="02010600030101010101" pitchFamily="2" charset="-122"/>
                <a:ea typeface="等线" panose="02010600030101010101" pitchFamily="2" charset="-122"/>
              </a:rPr>
              <a:t>需求是一致的吗？</a:t>
            </a:r>
            <a:endParaRPr lang="zh-CN" altLang="en-US" sz="2400" dirty="0">
              <a:latin typeface="等线" panose="02010600030101010101" pitchFamily="2" charset="-122"/>
              <a:ea typeface="等线" panose="02010600030101010101" pitchFamily="2" charset="-122"/>
            </a:endParaRPr>
          </a:p>
          <a:p>
            <a:pPr marL="320040" indent="-320040" eaLnBrk="1" fontAlgn="auto" hangingPunct="1">
              <a:lnSpc>
                <a:spcPct val="120000"/>
              </a:lnSpc>
              <a:spcAft>
                <a:spcPts val="0"/>
              </a:spcAft>
              <a:buFont typeface="Wingdings" panose="05000000000000000000" pitchFamily="2" charset="2"/>
              <a:buChar char="Ø"/>
              <a:defRPr/>
            </a:pPr>
            <a:r>
              <a:rPr lang="zh-CN" altLang="en-US" sz="2400" dirty="0">
                <a:latin typeface="等线" panose="02010600030101010101" pitchFamily="2" charset="-122"/>
                <a:ea typeface="等线" panose="02010600030101010101" pitchFamily="2" charset="-122"/>
              </a:rPr>
              <a:t>需求是完全的吗？</a:t>
            </a:r>
            <a:endParaRPr lang="zh-CN" altLang="en-US" sz="2400" dirty="0">
              <a:latin typeface="等线" panose="02010600030101010101" pitchFamily="2" charset="-122"/>
              <a:ea typeface="等线" panose="02010600030101010101" pitchFamily="2" charset="-122"/>
            </a:endParaRPr>
          </a:p>
          <a:p>
            <a:pPr marL="320040" indent="-320040" eaLnBrk="1" fontAlgn="auto" hangingPunct="1">
              <a:lnSpc>
                <a:spcPct val="120000"/>
              </a:lnSpc>
              <a:spcAft>
                <a:spcPts val="0"/>
              </a:spcAft>
              <a:buFont typeface="Wingdings" panose="05000000000000000000" pitchFamily="2" charset="2"/>
              <a:buChar char="Ø"/>
              <a:defRPr/>
            </a:pPr>
            <a:r>
              <a:rPr lang="zh-CN" altLang="en-US" sz="2400" dirty="0">
                <a:latin typeface="等线" panose="02010600030101010101" pitchFamily="2" charset="-122"/>
                <a:ea typeface="等线" panose="02010600030101010101" pitchFamily="2" charset="-122"/>
              </a:rPr>
              <a:t>需求是实际可行的吗？</a:t>
            </a:r>
            <a:endParaRPr lang="zh-CN" altLang="en-US" sz="2400" dirty="0">
              <a:latin typeface="等线" panose="02010600030101010101" pitchFamily="2" charset="-122"/>
              <a:ea typeface="等线" panose="02010600030101010101" pitchFamily="2" charset="-122"/>
            </a:endParaRPr>
          </a:p>
          <a:p>
            <a:pPr marL="320040" indent="-320040" eaLnBrk="1" fontAlgn="auto" hangingPunct="1">
              <a:lnSpc>
                <a:spcPct val="120000"/>
              </a:lnSpc>
              <a:spcAft>
                <a:spcPts val="0"/>
              </a:spcAft>
              <a:buFont typeface="Wingdings" panose="05000000000000000000" pitchFamily="2" charset="2"/>
              <a:buChar char="Ø"/>
              <a:defRPr/>
            </a:pPr>
            <a:r>
              <a:rPr lang="zh-CN" altLang="en-US" sz="2400" dirty="0">
                <a:latin typeface="等线" panose="02010600030101010101" pitchFamily="2" charset="-122"/>
                <a:ea typeface="等线" panose="02010600030101010101" pitchFamily="2" charset="-122"/>
              </a:rPr>
              <a:t>需求是必要的吗？</a:t>
            </a:r>
            <a:endParaRPr lang="zh-CN" altLang="en-US" sz="2400" dirty="0">
              <a:latin typeface="等线" panose="02010600030101010101" pitchFamily="2" charset="-122"/>
              <a:ea typeface="等线" panose="02010600030101010101" pitchFamily="2" charset="-122"/>
            </a:endParaRPr>
          </a:p>
          <a:p>
            <a:pPr marL="320040" indent="-320040" eaLnBrk="1" fontAlgn="auto" hangingPunct="1">
              <a:lnSpc>
                <a:spcPct val="120000"/>
              </a:lnSpc>
              <a:spcAft>
                <a:spcPts val="0"/>
              </a:spcAft>
              <a:buFont typeface="Wingdings" panose="05000000000000000000" pitchFamily="2" charset="2"/>
              <a:buChar char="Ø"/>
              <a:defRPr/>
            </a:pPr>
            <a:r>
              <a:rPr lang="zh-CN" altLang="en-US" sz="2400" dirty="0">
                <a:latin typeface="等线" panose="02010600030101010101" pitchFamily="2" charset="-122"/>
                <a:ea typeface="等线" panose="02010600030101010101" pitchFamily="2" charset="-122"/>
              </a:rPr>
              <a:t>需求是可检验的吗？</a:t>
            </a:r>
            <a:endParaRPr lang="zh-CN" altLang="en-US" sz="2400" dirty="0">
              <a:latin typeface="等线" panose="02010600030101010101" pitchFamily="2" charset="-122"/>
              <a:ea typeface="等线" panose="02010600030101010101" pitchFamily="2" charset="-122"/>
            </a:endParaRPr>
          </a:p>
          <a:p>
            <a:pPr marL="320040" indent="-320040" eaLnBrk="1" fontAlgn="auto" hangingPunct="1">
              <a:lnSpc>
                <a:spcPct val="120000"/>
              </a:lnSpc>
              <a:spcAft>
                <a:spcPts val="0"/>
              </a:spcAft>
              <a:buFont typeface="Wingdings" panose="05000000000000000000" pitchFamily="2" charset="2"/>
              <a:buChar char="Ø"/>
              <a:defRPr/>
            </a:pPr>
            <a:r>
              <a:rPr lang="zh-CN" altLang="en-US" sz="2400" dirty="0">
                <a:latin typeface="等线" panose="02010600030101010101" pitchFamily="2" charset="-122"/>
                <a:ea typeface="等线" panose="02010600030101010101" pitchFamily="2" charset="-122"/>
              </a:rPr>
              <a:t>需求是可跟踪的吗？</a:t>
            </a:r>
            <a:endParaRPr lang="zh-CN" altLang="en-US" sz="2400" dirty="0">
              <a:latin typeface="等线" panose="02010600030101010101" pitchFamily="2" charset="-122"/>
              <a:ea typeface="等线" panose="02010600030101010101" pitchFamily="2" charset="-122"/>
            </a:endParaRPr>
          </a:p>
          <a:p>
            <a:pPr marL="320040" indent="-320040" eaLnBrk="1" fontAlgn="auto" hangingPunct="1">
              <a:lnSpc>
                <a:spcPct val="120000"/>
              </a:lnSpc>
              <a:spcAft>
                <a:spcPts val="0"/>
              </a:spcAft>
              <a:buFont typeface="Wingdings" panose="05000000000000000000" pitchFamily="2" charset="2"/>
              <a:buChar char="Ø"/>
              <a:defRPr/>
            </a:pPr>
            <a:r>
              <a:rPr lang="zh-CN" altLang="en-US" sz="2400" dirty="0">
                <a:latin typeface="等线" panose="02010600030101010101" pitchFamily="2" charset="-122"/>
                <a:ea typeface="等线" panose="02010600030101010101" pitchFamily="2" charset="-122"/>
              </a:rPr>
              <a:t>最后的签字</a:t>
            </a:r>
            <a:endParaRPr lang="zh-CN" altLang="en-US" sz="2400" dirty="0">
              <a:latin typeface="等线" panose="02010600030101010101" pitchFamily="2" charset="-122"/>
              <a:ea typeface="等线" panose="02010600030101010101" pitchFamily="2" charset="-122"/>
            </a:endParaRPr>
          </a:p>
          <a:p>
            <a:pPr marL="640080" lvl="1" indent="-274320" eaLnBrk="1" fontAlgn="auto" hangingPunct="1">
              <a:spcAft>
                <a:spcPts val="0"/>
              </a:spcAft>
              <a:buFont typeface="Wingdings 2" panose="05020102010507070707"/>
              <a:buChar char=""/>
              <a:defRPr/>
            </a:pPr>
            <a:endParaRPr lang="en-US" altLang="zh-CN" sz="2800" dirty="0"/>
          </a:p>
        </p:txBody>
      </p:sp>
      <p:pic>
        <p:nvPicPr>
          <p:cNvPr id="51205" name="Picture 1028" descr="需求评审"/>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81125" y="1798638"/>
            <a:ext cx="4608513"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3.3</a:t>
            </a:r>
            <a:r>
              <a:rPr lang="zh-CN" altLang="en-US" sz="2400" b="1" dirty="0">
                <a:solidFill>
                  <a:srgbClr val="01395C"/>
                </a:solidFill>
                <a:latin typeface="方正粗宋简体"/>
                <a:ea typeface="方正粗宋简体"/>
                <a:cs typeface="方正粗宋简体"/>
              </a:rPr>
              <a:t> 需求变更管理</a:t>
            </a:r>
            <a:endParaRPr lang="zh-CN" altLang="en-US" sz="2400" b="1" dirty="0">
              <a:solidFill>
                <a:srgbClr val="01395C"/>
              </a:solidFill>
              <a:latin typeface="方正粗宋简体"/>
              <a:ea typeface="方正粗宋简体"/>
              <a:cs typeface="方正粗宋简体"/>
            </a:endParaRPr>
          </a:p>
        </p:txBody>
      </p:sp>
      <p:sp>
        <p:nvSpPr>
          <p:cNvPr id="53251" name="文本框 4"/>
          <p:cNvSpPr txBox="1">
            <a:spLocks noChangeArrowheads="1"/>
          </p:cNvSpPr>
          <p:nvPr/>
        </p:nvSpPr>
        <p:spPr bwMode="auto">
          <a:xfrm>
            <a:off x="539750" y="912813"/>
            <a:ext cx="29543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r>
              <a:rPr lang="zh-CN" altLang="en-US" sz="2400"/>
              <a:t>需求变更管理的原因</a:t>
            </a:r>
            <a:endParaRPr lang="zh-CN" altLang="en-US" sz="2400"/>
          </a:p>
        </p:txBody>
      </p:sp>
      <p:sp>
        <p:nvSpPr>
          <p:cNvPr id="6" name="文本框 5"/>
          <p:cNvSpPr txBox="1"/>
          <p:nvPr/>
        </p:nvSpPr>
        <p:spPr>
          <a:xfrm>
            <a:off x="692150" y="1500188"/>
            <a:ext cx="11264718" cy="5416226"/>
          </a:xfrm>
          <a:prstGeom prst="rect">
            <a:avLst/>
          </a:prstGeom>
          <a:noFill/>
        </p:spPr>
        <p:txBody>
          <a:bodyPr wrap="square">
            <a:spAutoFit/>
          </a:bodyPr>
          <a:lstStyle/>
          <a:p>
            <a:pPr marL="914400" lvl="1" indent="-457200" eaLnBrk="1" hangingPunct="1">
              <a:lnSpc>
                <a:spcPct val="200000"/>
              </a:lnSpc>
              <a:buFont typeface="+mj-lt"/>
              <a:buAutoNum type="arabicPeriod"/>
              <a:defRPr/>
            </a:pPr>
            <a:r>
              <a:rPr lang="zh-CN" altLang="en-US" sz="2000" dirty="0"/>
              <a:t>单纯的</a:t>
            </a:r>
            <a:r>
              <a:rPr lang="zh-CN" altLang="en-US" sz="2000" dirty="0">
                <a:solidFill>
                  <a:srgbClr val="FF0000"/>
                </a:solidFill>
              </a:rPr>
              <a:t>用户因素</a:t>
            </a:r>
            <a:r>
              <a:rPr lang="zh-CN" altLang="en-US" sz="2000" dirty="0"/>
              <a:t>：用户不断加深对系统的了解</a:t>
            </a:r>
            <a:endParaRPr lang="zh-CN" altLang="en-US" sz="2000" dirty="0"/>
          </a:p>
          <a:p>
            <a:pPr marL="914400" lvl="1" indent="-457200" eaLnBrk="1" hangingPunct="1">
              <a:lnSpc>
                <a:spcPct val="200000"/>
              </a:lnSpc>
              <a:buFont typeface="+mj-lt"/>
              <a:buAutoNum type="arabicPeriod"/>
              <a:defRPr/>
            </a:pPr>
            <a:r>
              <a:rPr lang="zh-CN" altLang="en-US" sz="2000" dirty="0">
                <a:solidFill>
                  <a:srgbClr val="FF0000"/>
                </a:solidFill>
              </a:rPr>
              <a:t>系统因素</a:t>
            </a:r>
            <a:r>
              <a:rPr lang="zh-CN" altLang="en-US" sz="2000" dirty="0"/>
              <a:t>：如操作系统升级</a:t>
            </a:r>
            <a:endParaRPr lang="zh-CN" altLang="en-US" sz="2000" dirty="0"/>
          </a:p>
          <a:p>
            <a:pPr marL="914400" lvl="1" indent="-457200" eaLnBrk="1" hangingPunct="1">
              <a:lnSpc>
                <a:spcPct val="200000"/>
              </a:lnSpc>
              <a:buFont typeface="+mj-lt"/>
              <a:buAutoNum type="arabicPeriod"/>
              <a:defRPr/>
            </a:pPr>
            <a:r>
              <a:rPr lang="zh-CN" altLang="en-US" sz="2000" dirty="0">
                <a:solidFill>
                  <a:srgbClr val="FF0000"/>
                </a:solidFill>
              </a:rPr>
              <a:t>工作环境</a:t>
            </a:r>
            <a:r>
              <a:rPr lang="zh-CN" altLang="en-US" sz="2000" dirty="0"/>
              <a:t>因素：如工作制</a:t>
            </a:r>
            <a:endParaRPr lang="en-US" altLang="zh-CN" sz="2000" dirty="0"/>
          </a:p>
          <a:p>
            <a:pPr lvl="1" eaLnBrk="1" hangingPunct="1">
              <a:lnSpc>
                <a:spcPct val="200000"/>
              </a:lnSpc>
              <a:defRPr/>
            </a:pPr>
            <a:r>
              <a:rPr lang="zh-CN" altLang="en-US" sz="2000" dirty="0"/>
              <a:t>度或法规、政策的变更、业务</a:t>
            </a:r>
            <a:endParaRPr lang="en-US" altLang="zh-CN" sz="2000" dirty="0"/>
          </a:p>
          <a:p>
            <a:pPr lvl="1" eaLnBrk="1" hangingPunct="1">
              <a:lnSpc>
                <a:spcPct val="200000"/>
              </a:lnSpc>
              <a:defRPr/>
            </a:pPr>
            <a:r>
              <a:rPr lang="zh-CN" altLang="en-US" sz="2000" dirty="0"/>
              <a:t>要求变更等</a:t>
            </a:r>
            <a:endParaRPr lang="zh-CN" altLang="en-US" sz="2000" dirty="0"/>
          </a:p>
          <a:p>
            <a:pPr marL="914400" lvl="1" indent="-457200" eaLnBrk="1" hangingPunct="1">
              <a:lnSpc>
                <a:spcPct val="200000"/>
              </a:lnSpc>
              <a:buFont typeface="+mj-lt"/>
              <a:buAutoNum type="arabicPeriod" startAt="4"/>
              <a:defRPr/>
            </a:pPr>
            <a:r>
              <a:rPr lang="zh-CN" altLang="en-US" sz="2000" dirty="0"/>
              <a:t>需求开发</a:t>
            </a:r>
            <a:r>
              <a:rPr lang="zh-CN" altLang="en-US" sz="2000" dirty="0">
                <a:solidFill>
                  <a:srgbClr val="FF0000"/>
                </a:solidFill>
              </a:rPr>
              <a:t>工作缺陷</a:t>
            </a:r>
            <a:r>
              <a:rPr lang="zh-CN" altLang="en-US" sz="2000" dirty="0"/>
              <a:t>：需求</a:t>
            </a:r>
            <a:endParaRPr lang="en-US" altLang="zh-CN" sz="2000" dirty="0"/>
          </a:p>
          <a:p>
            <a:pPr lvl="1" eaLnBrk="1" hangingPunct="1">
              <a:lnSpc>
                <a:spcPct val="200000"/>
              </a:lnSpc>
              <a:defRPr/>
            </a:pPr>
            <a:r>
              <a:rPr lang="zh-CN" altLang="en-US" sz="2000" dirty="0"/>
              <a:t>调研、分析、定义、评审工作</a:t>
            </a:r>
            <a:endParaRPr lang="en-US" altLang="zh-CN" sz="2000" dirty="0"/>
          </a:p>
          <a:p>
            <a:pPr lvl="1" eaLnBrk="1" hangingPunct="1">
              <a:lnSpc>
                <a:spcPct val="200000"/>
              </a:lnSpc>
              <a:defRPr/>
            </a:pPr>
            <a:r>
              <a:rPr lang="zh-CN" altLang="en-US" sz="2000" dirty="0"/>
              <a:t>不够充分</a:t>
            </a:r>
            <a:endParaRPr lang="zh-CN" altLang="en-US" sz="2000" dirty="0"/>
          </a:p>
          <a:p>
            <a:pPr>
              <a:lnSpc>
                <a:spcPct val="150000"/>
              </a:lnSpc>
              <a:defRPr/>
            </a:pPr>
            <a:endParaRPr lang="zh-CN" altLang="en-US" sz="2000" dirty="0">
              <a:solidFill>
                <a:schemeClr val="accent6">
                  <a:lumMod val="75000"/>
                </a:schemeClr>
              </a:solidFill>
            </a:endParaRPr>
          </a:p>
        </p:txBody>
      </p:sp>
      <p:pic>
        <p:nvPicPr>
          <p:cNvPr id="53253"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29313" y="2969623"/>
            <a:ext cx="7209884" cy="3946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3.3</a:t>
            </a:r>
            <a:r>
              <a:rPr lang="zh-CN" altLang="en-US" sz="2400" b="1" dirty="0">
                <a:solidFill>
                  <a:srgbClr val="01395C"/>
                </a:solidFill>
                <a:latin typeface="方正粗宋简体"/>
                <a:ea typeface="方正粗宋简体"/>
                <a:cs typeface="方正粗宋简体"/>
              </a:rPr>
              <a:t> 需求变更管理</a:t>
            </a:r>
            <a:endParaRPr lang="zh-CN" altLang="en-US" sz="2400" b="1" dirty="0">
              <a:solidFill>
                <a:srgbClr val="01395C"/>
              </a:solidFill>
              <a:latin typeface="方正粗宋简体"/>
              <a:ea typeface="方正粗宋简体"/>
              <a:cs typeface="方正粗宋简体"/>
            </a:endParaRPr>
          </a:p>
        </p:txBody>
      </p:sp>
      <p:sp>
        <p:nvSpPr>
          <p:cNvPr id="55299" name="文本框 4"/>
          <p:cNvSpPr txBox="1">
            <a:spLocks noChangeArrowheads="1"/>
          </p:cNvSpPr>
          <p:nvPr/>
        </p:nvSpPr>
        <p:spPr bwMode="auto">
          <a:xfrm>
            <a:off x="1640681" y="1047391"/>
            <a:ext cx="2338388" cy="461962"/>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r>
              <a:rPr lang="zh-CN" altLang="en-US" sz="2400" dirty="0">
                <a:solidFill>
                  <a:schemeClr val="bg1"/>
                </a:solidFill>
              </a:rPr>
              <a:t>需求变更的影响</a:t>
            </a:r>
            <a:endParaRPr lang="zh-CN" altLang="en-US" sz="2400" dirty="0">
              <a:solidFill>
                <a:schemeClr val="bg1"/>
              </a:solidFill>
            </a:endParaRPr>
          </a:p>
        </p:txBody>
      </p:sp>
      <p:sp>
        <p:nvSpPr>
          <p:cNvPr id="6" name="文本框 5"/>
          <p:cNvSpPr txBox="1"/>
          <p:nvPr/>
        </p:nvSpPr>
        <p:spPr>
          <a:xfrm>
            <a:off x="539750" y="1816100"/>
            <a:ext cx="4540250" cy="2795588"/>
          </a:xfrm>
          <a:prstGeom prst="rect">
            <a:avLst/>
          </a:prstGeom>
          <a:noFill/>
        </p:spPr>
        <p:txBody>
          <a:bodyPr>
            <a:spAutoFit/>
          </a:bodyPr>
          <a:lstStyle/>
          <a:p>
            <a:pPr marL="342900" indent="-342900">
              <a:lnSpc>
                <a:spcPct val="150000"/>
              </a:lnSpc>
              <a:buFont typeface="Arial" panose="020B0604020202020204" pitchFamily="34" charset="0"/>
              <a:buChar char="•"/>
              <a:defRPr/>
            </a:pPr>
            <a:r>
              <a:rPr lang="zh-CN" altLang="en-US" sz="2400" dirty="0">
                <a:solidFill>
                  <a:schemeClr val="accent6">
                    <a:lumMod val="75000"/>
                  </a:schemeClr>
                </a:solidFill>
                <a:latin typeface="H-SS9-PK74820000b4d-Identity-H"/>
              </a:rPr>
              <a:t>增加项目的人员、费用开支，影响开发进度</a:t>
            </a:r>
            <a:endParaRPr lang="en-US" altLang="zh-CN" sz="2400" dirty="0">
              <a:solidFill>
                <a:schemeClr val="accent6">
                  <a:lumMod val="75000"/>
                </a:schemeClr>
              </a:solidFill>
              <a:latin typeface="H-SS9-PK74820000b4d-Identity-H"/>
            </a:endParaRPr>
          </a:p>
          <a:p>
            <a:pPr marL="342900" indent="-342900">
              <a:lnSpc>
                <a:spcPct val="150000"/>
              </a:lnSpc>
              <a:buFont typeface="Arial" panose="020B0604020202020204" pitchFamily="34" charset="0"/>
              <a:buChar char="•"/>
              <a:defRPr/>
            </a:pPr>
            <a:r>
              <a:rPr lang="zh-CN" altLang="en-US" sz="2400" dirty="0">
                <a:solidFill>
                  <a:schemeClr val="accent6">
                    <a:lumMod val="75000"/>
                  </a:schemeClr>
                </a:solidFill>
                <a:latin typeface="H-SS9-PK74820000b4d-Identity-H"/>
              </a:rPr>
              <a:t>影响软件质量</a:t>
            </a:r>
            <a:endParaRPr lang="en-US" altLang="zh-CN" sz="2400" dirty="0">
              <a:solidFill>
                <a:schemeClr val="accent6">
                  <a:lumMod val="75000"/>
                </a:schemeClr>
              </a:solidFill>
              <a:latin typeface="H-SS9-PK74820000b4d-Identity-H"/>
            </a:endParaRPr>
          </a:p>
          <a:p>
            <a:pPr marL="342900" indent="-342900">
              <a:lnSpc>
                <a:spcPct val="150000"/>
              </a:lnSpc>
              <a:buFont typeface="Arial" panose="020B0604020202020204" pitchFamily="34" charset="0"/>
              <a:buChar char="•"/>
              <a:defRPr/>
            </a:pPr>
            <a:r>
              <a:rPr lang="zh-CN" altLang="en-US" sz="2400" dirty="0">
                <a:solidFill>
                  <a:schemeClr val="accent6">
                    <a:lumMod val="75000"/>
                  </a:schemeClr>
                </a:solidFill>
                <a:latin typeface="H-SS9-PK74820000b4d-Identity-H"/>
              </a:rPr>
              <a:t>影响开发者与用户之间的合作关系</a:t>
            </a:r>
            <a:endParaRPr lang="zh-CN" altLang="en-US" sz="2400" dirty="0">
              <a:solidFill>
                <a:schemeClr val="accent6">
                  <a:lumMod val="75000"/>
                </a:schemeClr>
              </a:solidFill>
            </a:endParaRPr>
          </a:p>
        </p:txBody>
      </p:sp>
      <p:pic>
        <p:nvPicPr>
          <p:cNvPr id="55301"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83200" y="1816100"/>
            <a:ext cx="6542088" cy="490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3.3</a:t>
            </a:r>
            <a:r>
              <a:rPr lang="zh-CN" altLang="en-US" sz="2400" b="1" dirty="0">
                <a:solidFill>
                  <a:srgbClr val="01395C"/>
                </a:solidFill>
                <a:latin typeface="方正粗宋简体"/>
                <a:ea typeface="方正粗宋简体"/>
                <a:cs typeface="方正粗宋简体"/>
              </a:rPr>
              <a:t> 需求变更管理</a:t>
            </a:r>
            <a:endParaRPr lang="zh-CN" altLang="en-US" sz="2400" b="1" dirty="0">
              <a:solidFill>
                <a:srgbClr val="01395C"/>
              </a:solidFill>
              <a:latin typeface="方正粗宋简体"/>
              <a:ea typeface="方正粗宋简体"/>
              <a:cs typeface="方正粗宋简体"/>
            </a:endParaRPr>
          </a:p>
        </p:txBody>
      </p:sp>
      <p:sp>
        <p:nvSpPr>
          <p:cNvPr id="57347" name="文本框 4"/>
          <p:cNvSpPr txBox="1">
            <a:spLocks noChangeArrowheads="1"/>
          </p:cNvSpPr>
          <p:nvPr/>
        </p:nvSpPr>
        <p:spPr bwMode="auto">
          <a:xfrm>
            <a:off x="539750" y="912813"/>
            <a:ext cx="35702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r>
              <a:rPr lang="zh-CN" altLang="en-US" sz="2400"/>
              <a:t>需求变更管理的处理原则</a:t>
            </a:r>
            <a:endParaRPr lang="zh-CN" altLang="en-US" sz="2400"/>
          </a:p>
        </p:txBody>
      </p:sp>
      <p:sp>
        <p:nvSpPr>
          <p:cNvPr id="6" name="文本框 5"/>
          <p:cNvSpPr txBox="1"/>
          <p:nvPr/>
        </p:nvSpPr>
        <p:spPr>
          <a:xfrm>
            <a:off x="539750" y="1500188"/>
            <a:ext cx="11091863" cy="3895725"/>
          </a:xfrm>
          <a:prstGeom prst="rect">
            <a:avLst/>
          </a:prstGeom>
          <a:noFill/>
        </p:spPr>
        <p:txBody>
          <a:bodyPr>
            <a:spAutoFit/>
          </a:bodyPr>
          <a:lstStyle/>
          <a:p>
            <a:pPr>
              <a:lnSpc>
                <a:spcPct val="150000"/>
              </a:lnSpc>
              <a:defRPr/>
            </a:pPr>
            <a:r>
              <a:rPr lang="en-US" altLang="zh-CN" sz="2400" dirty="0">
                <a:solidFill>
                  <a:schemeClr val="accent6">
                    <a:lumMod val="75000"/>
                  </a:schemeClr>
                </a:solidFill>
                <a:latin typeface="H-SS9-PK74820000b4d-Identity-H"/>
              </a:rPr>
              <a:t>1</a:t>
            </a:r>
            <a:r>
              <a:rPr lang="zh-CN" altLang="en-US" sz="2400" dirty="0">
                <a:solidFill>
                  <a:schemeClr val="accent6">
                    <a:lumMod val="75000"/>
                  </a:schemeClr>
                </a:solidFill>
                <a:latin typeface="H-SS9-PK74820000b4d-Identity-H"/>
              </a:rPr>
              <a:t>、完整性原则</a:t>
            </a:r>
            <a:endParaRPr lang="en-US" altLang="zh-CN" sz="2400" dirty="0">
              <a:solidFill>
                <a:schemeClr val="accent6">
                  <a:lumMod val="75000"/>
                </a:schemeClr>
              </a:solidFill>
              <a:latin typeface="H-SS9-PK74820000b4d-Identity-H"/>
            </a:endParaRPr>
          </a:p>
          <a:p>
            <a:pPr>
              <a:lnSpc>
                <a:spcPct val="150000"/>
              </a:lnSpc>
              <a:defRPr/>
            </a:pPr>
            <a:r>
              <a:rPr lang="zh-CN" altLang="en-US" sz="2400" dirty="0">
                <a:latin typeface="H-SS9-PK74820000b4d-Identity-H"/>
              </a:rPr>
              <a:t>完整的需求变理机制包括需求变更的</a:t>
            </a:r>
            <a:r>
              <a:rPr lang="zh-CN" altLang="en-US" sz="2400" dirty="0">
                <a:solidFill>
                  <a:srgbClr val="C00000"/>
                </a:solidFill>
                <a:latin typeface="H-SS9-PK74820000b4d-Identity-H"/>
              </a:rPr>
              <a:t>收集、整理、评审、实施、跟踪、测试</a:t>
            </a:r>
            <a:r>
              <a:rPr lang="zh-CN" altLang="en-US" sz="2400" dirty="0">
                <a:latin typeface="H-SS9-PK74820000b4d-Identity-H"/>
              </a:rPr>
              <a:t>等。</a:t>
            </a:r>
            <a:endParaRPr lang="en-US" altLang="zh-CN" sz="2400" dirty="0">
              <a:latin typeface="H-SS9-PK74820000b4d-Identity-H"/>
            </a:endParaRPr>
          </a:p>
          <a:p>
            <a:pPr>
              <a:lnSpc>
                <a:spcPct val="150000"/>
              </a:lnSpc>
              <a:defRPr/>
            </a:pPr>
            <a:r>
              <a:rPr lang="zh-CN" altLang="en-US" sz="2400" dirty="0">
                <a:latin typeface="H-SS9-PK74820000b4d-Identity-H"/>
              </a:rPr>
              <a:t>在每一环节上，都必须形成规范的</a:t>
            </a:r>
            <a:r>
              <a:rPr lang="zh-CN" altLang="en-US" sz="2400" dirty="0">
                <a:solidFill>
                  <a:srgbClr val="C00000"/>
                </a:solidFill>
                <a:latin typeface="H-SS9-PK74820000b4d-Identity-H"/>
              </a:rPr>
              <a:t>流程</a:t>
            </a:r>
            <a:r>
              <a:rPr lang="zh-CN" altLang="en-US" sz="2400" dirty="0">
                <a:latin typeface="H-SS9-PK74820000b4d-Identity-H"/>
              </a:rPr>
              <a:t>、文档和完整的</a:t>
            </a:r>
            <a:r>
              <a:rPr lang="zh-CN" altLang="en-US" sz="2400" dirty="0">
                <a:solidFill>
                  <a:srgbClr val="C00000"/>
                </a:solidFill>
                <a:latin typeface="H-SS9-PK74820000b4d-Identity-H"/>
              </a:rPr>
              <a:t>记录</a:t>
            </a:r>
            <a:r>
              <a:rPr lang="zh-CN" altLang="en-US" sz="2400" dirty="0">
                <a:latin typeface="H-SS9-PK74820000b4d-Identity-H"/>
              </a:rPr>
              <a:t>。</a:t>
            </a:r>
            <a:endParaRPr lang="en-US" altLang="zh-CN" sz="2400" dirty="0">
              <a:latin typeface="H-SS9-PK74820000b4d-Identity-H"/>
            </a:endParaRPr>
          </a:p>
          <a:p>
            <a:pPr>
              <a:lnSpc>
                <a:spcPct val="150000"/>
              </a:lnSpc>
              <a:defRPr/>
            </a:pPr>
            <a:r>
              <a:rPr lang="en-US" altLang="zh-CN" sz="2400" dirty="0">
                <a:solidFill>
                  <a:schemeClr val="accent6">
                    <a:lumMod val="75000"/>
                  </a:schemeClr>
                </a:solidFill>
                <a:latin typeface="H-SS9-PK74820000b4d-Identity-H"/>
              </a:rPr>
              <a:t>2</a:t>
            </a:r>
            <a:r>
              <a:rPr lang="zh-CN" altLang="en-US" sz="2400" dirty="0">
                <a:solidFill>
                  <a:schemeClr val="accent6">
                    <a:lumMod val="75000"/>
                  </a:schemeClr>
                </a:solidFill>
                <a:latin typeface="H-SS9-PK74820000b4d-Identity-H"/>
              </a:rPr>
              <a:t>、合理性原则</a:t>
            </a:r>
            <a:endParaRPr lang="en-US" altLang="zh-CN" sz="2400" dirty="0">
              <a:solidFill>
                <a:schemeClr val="accent6">
                  <a:lumMod val="75000"/>
                </a:schemeClr>
              </a:solidFill>
              <a:latin typeface="H-SS9-PK74820000b4d-Identity-H"/>
            </a:endParaRPr>
          </a:p>
          <a:p>
            <a:pPr>
              <a:lnSpc>
                <a:spcPct val="150000"/>
              </a:lnSpc>
              <a:defRPr/>
            </a:pPr>
            <a:r>
              <a:rPr lang="zh-CN" altLang="en-US" sz="2400" dirty="0">
                <a:latin typeface="H-SS9-PK74820000b4d-Identity-H"/>
              </a:rPr>
              <a:t>不能片面地追求先进性、灵活性、用户体验，必须建立在</a:t>
            </a:r>
            <a:r>
              <a:rPr lang="en-US" altLang="zh-CN" sz="2400" dirty="0">
                <a:latin typeface="H-SS9-PK74820000b4d-Identity-H"/>
              </a:rPr>
              <a:t>IT</a:t>
            </a:r>
            <a:r>
              <a:rPr lang="zh-CN" altLang="en-US" sz="2400" dirty="0">
                <a:latin typeface="H-SS9-PK74820000b4d-Identity-H"/>
              </a:rPr>
              <a:t>技术和项目实施队伍实际能力的基础上，提出合理的需求变更。</a:t>
            </a:r>
            <a:endParaRPr lang="en-US" altLang="zh-CN" sz="2400" dirty="0">
              <a:latin typeface="H-SS9-PK74820000b4d-Identity-H"/>
            </a:endParaRPr>
          </a:p>
          <a:p>
            <a:pPr>
              <a:lnSpc>
                <a:spcPct val="150000"/>
              </a:lnSpc>
              <a:defRPr/>
            </a:pPr>
            <a:r>
              <a:rPr lang="zh-CN" altLang="en-US" sz="2400" dirty="0">
                <a:latin typeface="H-SS9-PK74820000b4d-Identity-H"/>
              </a:rPr>
              <a:t>避免抵触情绪，多从用户角度出发，想用户所想</a:t>
            </a:r>
            <a:endParaRPr lang="zh-CN" altLang="en-US" sz="2400" dirty="0"/>
          </a:p>
        </p:txBody>
      </p:sp>
      <p:pic>
        <p:nvPicPr>
          <p:cNvPr id="5734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73950" y="5395913"/>
            <a:ext cx="4178300" cy="164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3.3</a:t>
            </a:r>
            <a:r>
              <a:rPr lang="zh-CN" altLang="en-US" sz="2400" b="1" dirty="0">
                <a:solidFill>
                  <a:srgbClr val="01395C"/>
                </a:solidFill>
                <a:latin typeface="方正粗宋简体"/>
                <a:ea typeface="方正粗宋简体"/>
                <a:cs typeface="方正粗宋简体"/>
              </a:rPr>
              <a:t> 需求变更管理</a:t>
            </a:r>
            <a:endParaRPr lang="zh-CN" altLang="en-US" sz="2400" b="1" dirty="0">
              <a:solidFill>
                <a:srgbClr val="01395C"/>
              </a:solidFill>
              <a:latin typeface="方正粗宋简体"/>
              <a:ea typeface="方正粗宋简体"/>
              <a:cs typeface="方正粗宋简体"/>
            </a:endParaRPr>
          </a:p>
        </p:txBody>
      </p:sp>
      <p:sp>
        <p:nvSpPr>
          <p:cNvPr id="59395" name="文本框 4"/>
          <p:cNvSpPr txBox="1">
            <a:spLocks noChangeArrowheads="1"/>
          </p:cNvSpPr>
          <p:nvPr/>
        </p:nvSpPr>
        <p:spPr bwMode="auto">
          <a:xfrm>
            <a:off x="539750" y="912813"/>
            <a:ext cx="2646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r>
              <a:rPr lang="zh-CN" altLang="en-US" sz="2400"/>
              <a:t>需求变更管理流程</a:t>
            </a:r>
            <a:endParaRPr lang="zh-CN" altLang="en-US" sz="2400"/>
          </a:p>
        </p:txBody>
      </p:sp>
      <p:sp>
        <p:nvSpPr>
          <p:cNvPr id="6" name="文本框 5"/>
          <p:cNvSpPr txBox="1"/>
          <p:nvPr/>
        </p:nvSpPr>
        <p:spPr>
          <a:xfrm>
            <a:off x="539750" y="1500188"/>
            <a:ext cx="3663950" cy="2795587"/>
          </a:xfrm>
          <a:prstGeom prst="rect">
            <a:avLst/>
          </a:prstGeom>
          <a:noFill/>
        </p:spPr>
        <p:txBody>
          <a:bodyPr>
            <a:spAutoFit/>
          </a:bodyPr>
          <a:lstStyle/>
          <a:p>
            <a:pPr>
              <a:lnSpc>
                <a:spcPct val="150000"/>
              </a:lnSpc>
              <a:defRPr/>
            </a:pPr>
            <a:r>
              <a:rPr lang="en-US" altLang="zh-CN" sz="2400" dirty="0">
                <a:solidFill>
                  <a:schemeClr val="accent6">
                    <a:lumMod val="75000"/>
                  </a:schemeClr>
                </a:solidFill>
              </a:rPr>
              <a:t>1</a:t>
            </a:r>
            <a:r>
              <a:rPr lang="zh-CN" altLang="en-US" sz="2400" dirty="0">
                <a:solidFill>
                  <a:schemeClr val="accent6">
                    <a:lumMod val="75000"/>
                  </a:schemeClr>
                </a:solidFill>
              </a:rPr>
              <a:t>、提出变更申请</a:t>
            </a:r>
            <a:endParaRPr lang="en-US" altLang="zh-CN" sz="2400" dirty="0">
              <a:solidFill>
                <a:schemeClr val="accent6">
                  <a:lumMod val="75000"/>
                </a:schemeClr>
              </a:solidFill>
            </a:endParaRPr>
          </a:p>
          <a:p>
            <a:pPr>
              <a:lnSpc>
                <a:spcPct val="150000"/>
              </a:lnSpc>
              <a:defRPr/>
            </a:pPr>
            <a:r>
              <a:rPr lang="en-US" altLang="zh-CN" sz="2400" dirty="0">
                <a:solidFill>
                  <a:schemeClr val="accent6">
                    <a:lumMod val="75000"/>
                  </a:schemeClr>
                </a:solidFill>
              </a:rPr>
              <a:t>2</a:t>
            </a:r>
            <a:r>
              <a:rPr lang="zh-CN" altLang="en-US" sz="2400" dirty="0">
                <a:solidFill>
                  <a:schemeClr val="accent6">
                    <a:lumMod val="75000"/>
                  </a:schemeClr>
                </a:solidFill>
              </a:rPr>
              <a:t>、审批</a:t>
            </a:r>
            <a:endParaRPr lang="en-US" altLang="zh-CN" sz="2400" dirty="0">
              <a:solidFill>
                <a:schemeClr val="accent6">
                  <a:lumMod val="75000"/>
                </a:schemeClr>
              </a:solidFill>
            </a:endParaRPr>
          </a:p>
          <a:p>
            <a:pPr>
              <a:lnSpc>
                <a:spcPct val="150000"/>
              </a:lnSpc>
              <a:defRPr/>
            </a:pPr>
            <a:r>
              <a:rPr lang="en-US" altLang="zh-CN" sz="2400" dirty="0">
                <a:solidFill>
                  <a:schemeClr val="accent6">
                    <a:lumMod val="75000"/>
                  </a:schemeClr>
                </a:solidFill>
              </a:rPr>
              <a:t>3</a:t>
            </a:r>
            <a:r>
              <a:rPr lang="zh-CN" altLang="en-US" sz="2400" dirty="0">
                <a:solidFill>
                  <a:schemeClr val="accent6">
                    <a:lumMod val="75000"/>
                  </a:schemeClr>
                </a:solidFill>
              </a:rPr>
              <a:t>、修改需求文档</a:t>
            </a:r>
            <a:endParaRPr lang="en-US" altLang="zh-CN" sz="2400" dirty="0">
              <a:solidFill>
                <a:schemeClr val="accent6">
                  <a:lumMod val="75000"/>
                </a:schemeClr>
              </a:solidFill>
            </a:endParaRPr>
          </a:p>
          <a:p>
            <a:pPr>
              <a:lnSpc>
                <a:spcPct val="150000"/>
              </a:lnSpc>
              <a:defRPr/>
            </a:pPr>
            <a:r>
              <a:rPr lang="en-US" altLang="zh-CN" sz="2400" dirty="0">
                <a:solidFill>
                  <a:schemeClr val="accent6">
                    <a:lumMod val="75000"/>
                  </a:schemeClr>
                </a:solidFill>
              </a:rPr>
              <a:t>4</a:t>
            </a:r>
            <a:r>
              <a:rPr lang="zh-CN" altLang="en-US" sz="2400" dirty="0">
                <a:solidFill>
                  <a:schemeClr val="accent6">
                    <a:lumMod val="75000"/>
                  </a:schemeClr>
                </a:solidFill>
              </a:rPr>
              <a:t>、重新进行需求确认</a:t>
            </a:r>
            <a:endParaRPr lang="en-US" altLang="zh-CN" sz="2400" dirty="0">
              <a:solidFill>
                <a:schemeClr val="accent6">
                  <a:lumMod val="75000"/>
                </a:schemeClr>
              </a:solidFill>
            </a:endParaRPr>
          </a:p>
          <a:p>
            <a:pPr>
              <a:lnSpc>
                <a:spcPct val="150000"/>
              </a:lnSpc>
              <a:defRPr/>
            </a:pPr>
            <a:r>
              <a:rPr lang="en-US" altLang="zh-CN" sz="2400" dirty="0">
                <a:solidFill>
                  <a:schemeClr val="accent6">
                    <a:lumMod val="75000"/>
                  </a:schemeClr>
                </a:solidFill>
              </a:rPr>
              <a:t>5</a:t>
            </a:r>
            <a:r>
              <a:rPr lang="zh-CN" altLang="en-US" sz="2400" dirty="0">
                <a:solidFill>
                  <a:schemeClr val="accent6">
                    <a:lumMod val="75000"/>
                  </a:schemeClr>
                </a:solidFill>
              </a:rPr>
              <a:t>、变更结束</a:t>
            </a:r>
            <a:endParaRPr lang="zh-CN" altLang="en-US" sz="2400" dirty="0">
              <a:solidFill>
                <a:schemeClr val="accent6">
                  <a:lumMod val="75000"/>
                </a:schemeClr>
              </a:solidFill>
            </a:endParaRPr>
          </a:p>
        </p:txBody>
      </p:sp>
      <p:pic>
        <p:nvPicPr>
          <p:cNvPr id="59397"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62688" y="120015"/>
            <a:ext cx="5832475" cy="712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8" name="对话气泡: 椭圆形 7"/>
          <p:cNvSpPr>
            <a:spLocks noChangeArrowheads="1"/>
          </p:cNvSpPr>
          <p:nvPr/>
        </p:nvSpPr>
        <p:spPr bwMode="auto">
          <a:xfrm>
            <a:off x="3403283" y="4371340"/>
            <a:ext cx="2997200" cy="1360488"/>
          </a:xfrm>
          <a:prstGeom prst="wedgeEllipseCallout">
            <a:avLst>
              <a:gd name="adj1" fmla="val 57778"/>
              <a:gd name="adj2" fmla="val -72690"/>
            </a:avLst>
          </a:prstGeom>
          <a:solidFill>
            <a:schemeClr val="accent1"/>
          </a:solidFill>
          <a:ln w="9525" algn="ctr">
            <a:solidFill>
              <a:schemeClr val="tx1"/>
            </a:solidFill>
            <a:round/>
          </a:ln>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zh-CN" altLang="en-US">
                <a:ea typeface="宋体" panose="02010600030101010101" pitchFamily="2" charset="-122"/>
              </a:rPr>
              <a:t>该图见教材第</a:t>
            </a:r>
            <a:r>
              <a:rPr lang="en-US" altLang="zh-CN">
                <a:ea typeface="宋体" panose="02010600030101010101" pitchFamily="2" charset="-122"/>
              </a:rPr>
              <a:t>76</a:t>
            </a:r>
            <a:r>
              <a:rPr lang="zh-CN" altLang="en-US">
                <a:ea typeface="宋体" panose="02010600030101010101" pitchFamily="2" charset="-122"/>
              </a:rPr>
              <a:t>页</a:t>
            </a:r>
            <a:endParaRPr lang="en-US" altLang="zh-CN">
              <a:ea typeface="宋体" panose="02010600030101010101" pitchFamily="2" charset="-122"/>
            </a:endParaRPr>
          </a:p>
          <a:p>
            <a:pPr eaLnBrk="1" hangingPunct="1">
              <a:buFont typeface="Arial" panose="020B0604020202020204" pitchFamily="34" charset="0"/>
              <a:buNone/>
            </a:pPr>
            <a:r>
              <a:rPr lang="zh-CN" altLang="en-US">
                <a:ea typeface="宋体" panose="02010600030101010101" pitchFamily="2" charset="-122"/>
              </a:rPr>
              <a:t>图</a:t>
            </a:r>
            <a:r>
              <a:rPr lang="en-US" altLang="zh-CN">
                <a:ea typeface="宋体" panose="02010600030101010101" pitchFamily="2" charset="-122"/>
              </a:rPr>
              <a:t>4-3</a:t>
            </a:r>
            <a:endParaRPr lang="zh-CN" altLang="en-US">
              <a:ea typeface="宋体" panose="02010600030101010101" pitchFamily="2" charset="-122"/>
            </a:endParaRPr>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
        <p:nvSpPr>
          <p:cNvPr id="3" name="文本框 2"/>
          <p:cNvSpPr txBox="1"/>
          <p:nvPr/>
        </p:nvSpPr>
        <p:spPr>
          <a:xfrm>
            <a:off x="539750" y="6417945"/>
            <a:ext cx="5673725" cy="829945"/>
          </a:xfrm>
          <a:prstGeom prst="rect">
            <a:avLst/>
          </a:prstGeom>
          <a:noFill/>
        </p:spPr>
        <p:txBody>
          <a:bodyPr wrap="square" rtlCol="0" anchor="t">
            <a:spAutoFit/>
          </a:bodyPr>
          <a:p>
            <a:r>
              <a:rPr lang="zh-CN" altLang="en-US" sz="2400">
                <a:latin typeface="微软雅黑" panose="020B0503020204020204" pitchFamily="34" charset="-122"/>
                <a:cs typeface="微软雅黑" panose="020B0503020204020204" pitchFamily="34" charset="-122"/>
              </a:rPr>
              <a:t>配置管理SCCB</a:t>
            </a:r>
            <a:endParaRPr lang="zh-CN" altLang="en-US" sz="2400">
              <a:latin typeface="微软雅黑" panose="020B0503020204020204" pitchFamily="34" charset="-122"/>
              <a:cs typeface="微软雅黑" panose="020B0503020204020204" pitchFamily="34" charset="-122"/>
            </a:endParaRPr>
          </a:p>
          <a:p>
            <a:r>
              <a:rPr lang="zh-CN" altLang="en-US" sz="2400">
                <a:latin typeface="微软雅黑" panose="020B0503020204020204" pitchFamily="34" charset="-122"/>
                <a:cs typeface="微软雅黑" panose="020B0503020204020204" pitchFamily="34" charset="-122"/>
              </a:rPr>
              <a:t>SoftwareConfigurationControlBoard</a:t>
            </a:r>
            <a:endParaRPr lang="zh-CN" altLang="en-US" sz="2400">
              <a:latin typeface="微软雅黑" panose="020B0503020204020204" pitchFamily="34" charset="-122"/>
              <a:cs typeface="微软雅黑" panose="020B0503020204020204" pitchFamily="34" charset="-122"/>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3.3</a:t>
            </a:r>
            <a:r>
              <a:rPr lang="zh-CN" altLang="en-US" sz="2400" b="1" dirty="0">
                <a:solidFill>
                  <a:srgbClr val="01395C"/>
                </a:solidFill>
                <a:latin typeface="方正粗宋简体"/>
                <a:ea typeface="方正粗宋简体"/>
                <a:cs typeface="方正粗宋简体"/>
              </a:rPr>
              <a:t> 需求变更管理</a:t>
            </a:r>
            <a:endParaRPr lang="zh-CN" altLang="en-US" sz="2400" b="1" dirty="0">
              <a:solidFill>
                <a:srgbClr val="01395C"/>
              </a:solidFill>
              <a:latin typeface="方正粗宋简体"/>
              <a:ea typeface="方正粗宋简体"/>
              <a:cs typeface="方正粗宋简体"/>
            </a:endParaRPr>
          </a:p>
        </p:txBody>
      </p:sp>
      <p:pic>
        <p:nvPicPr>
          <p:cNvPr id="61443" name="图片 1"/>
          <p:cNvPicPr>
            <a:picLocks noChangeAspect="1" noChangeArrowheads="1"/>
          </p:cNvPicPr>
          <p:nvPr/>
        </p:nvPicPr>
        <p:blipFill>
          <a:blip r:embed="rId1">
            <a:extLst>
              <a:ext uri="{28A0092B-C50C-407E-A947-70E740481C1C}">
                <a14:useLocalDpi xmlns:a14="http://schemas.microsoft.com/office/drawing/2010/main" val="0"/>
              </a:ext>
            </a:extLst>
          </a:blip>
          <a:srcRect b="5704"/>
          <a:stretch>
            <a:fillRect/>
          </a:stretch>
        </p:blipFill>
        <p:spPr bwMode="auto">
          <a:xfrm>
            <a:off x="1563688" y="704850"/>
            <a:ext cx="9064625" cy="665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3.3</a:t>
            </a:r>
            <a:r>
              <a:rPr lang="zh-CN" altLang="en-US" sz="2400" b="1" dirty="0">
                <a:solidFill>
                  <a:srgbClr val="01395C"/>
                </a:solidFill>
                <a:latin typeface="方正粗宋简体"/>
                <a:ea typeface="方正粗宋简体"/>
                <a:cs typeface="方正粗宋简体"/>
              </a:rPr>
              <a:t> 需求变更管理</a:t>
            </a:r>
            <a:endParaRPr lang="zh-CN" altLang="en-US" sz="2400" b="1" dirty="0">
              <a:solidFill>
                <a:srgbClr val="01395C"/>
              </a:solidFill>
              <a:latin typeface="方正粗宋简体"/>
              <a:ea typeface="方正粗宋简体"/>
              <a:cs typeface="方正粗宋简体"/>
            </a:endParaRPr>
          </a:p>
        </p:txBody>
      </p:sp>
      <p:pic>
        <p:nvPicPr>
          <p:cNvPr id="63491"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96000" y="128588"/>
            <a:ext cx="5424488" cy="725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671513" y="809625"/>
            <a:ext cx="5129212" cy="3165475"/>
          </a:xfrm>
          <a:prstGeom prst="rect">
            <a:avLst/>
          </a:prstGeom>
          <a:noFill/>
        </p:spPr>
        <p:txBody>
          <a:bodyPr>
            <a:spAutoFit/>
          </a:bodyPr>
          <a:lstStyle/>
          <a:p>
            <a:pPr>
              <a:defRPr/>
            </a:pPr>
            <a:r>
              <a:rPr lang="zh-CN" altLang="en-US" sz="2400" dirty="0">
                <a:solidFill>
                  <a:srgbClr val="C00000"/>
                </a:solidFill>
              </a:rPr>
              <a:t>需求变更申请</a:t>
            </a:r>
            <a:r>
              <a:rPr lang="zh-CN" altLang="en-US" sz="2400" dirty="0"/>
              <a:t>应包括：</a:t>
            </a:r>
            <a:endParaRPr lang="en-US" altLang="zh-CN" sz="2400" dirty="0"/>
          </a:p>
          <a:p>
            <a:pPr marL="457200" indent="-457200">
              <a:lnSpc>
                <a:spcPct val="150000"/>
              </a:lnSpc>
              <a:buFont typeface="Wingdings" panose="05000000000000000000" pitchFamily="2" charset="2"/>
              <a:buChar char="ü"/>
              <a:defRPr/>
            </a:pPr>
            <a:r>
              <a:rPr lang="zh-CN" altLang="en-US" sz="2400" dirty="0"/>
              <a:t>申请变更的需求文档</a:t>
            </a:r>
            <a:endParaRPr lang="en-US" altLang="zh-CN" sz="2400" dirty="0"/>
          </a:p>
          <a:p>
            <a:pPr marL="457200" indent="-457200">
              <a:lnSpc>
                <a:spcPct val="150000"/>
              </a:lnSpc>
              <a:buFont typeface="Wingdings" panose="05000000000000000000" pitchFamily="2" charset="2"/>
              <a:buChar char="ü"/>
              <a:defRPr/>
            </a:pPr>
            <a:r>
              <a:rPr lang="zh-CN" altLang="en-US" sz="2400" dirty="0"/>
              <a:t>变更的内容及其理由</a:t>
            </a:r>
            <a:endParaRPr lang="en-US" altLang="zh-CN" sz="2400" dirty="0"/>
          </a:p>
          <a:p>
            <a:pPr marL="457200" indent="-457200">
              <a:lnSpc>
                <a:spcPct val="150000"/>
              </a:lnSpc>
              <a:buFont typeface="Wingdings" panose="05000000000000000000" pitchFamily="2" charset="2"/>
              <a:buChar char="ü"/>
              <a:defRPr/>
            </a:pPr>
            <a:r>
              <a:rPr lang="zh-CN" altLang="en-US" sz="2400" dirty="0"/>
              <a:t>评估需求变更对项目造成的影响</a:t>
            </a:r>
            <a:endParaRPr lang="en-US" altLang="zh-CN" sz="2400" dirty="0"/>
          </a:p>
          <a:p>
            <a:pPr marL="457200" indent="-457200">
              <a:lnSpc>
                <a:spcPct val="150000"/>
              </a:lnSpc>
              <a:buFont typeface="Wingdings" panose="05000000000000000000" pitchFamily="2" charset="2"/>
              <a:buChar char="ü"/>
              <a:defRPr/>
            </a:pPr>
            <a:r>
              <a:rPr lang="zh-CN" altLang="en-US" sz="2400" dirty="0"/>
              <a:t>申请人签字</a:t>
            </a:r>
            <a:endParaRPr lang="en-US" altLang="zh-CN" sz="2400" dirty="0"/>
          </a:p>
          <a:p>
            <a:pPr marL="457200" indent="-457200">
              <a:lnSpc>
                <a:spcPct val="150000"/>
              </a:lnSpc>
              <a:buFont typeface="Wingdings" panose="05000000000000000000" pitchFamily="2" charset="2"/>
              <a:buChar char="ü"/>
              <a:defRPr/>
            </a:pPr>
            <a:r>
              <a:rPr lang="zh-CN" altLang="en-US" sz="2400" dirty="0"/>
              <a:t>申请递交日期</a:t>
            </a:r>
            <a:endParaRPr lang="zh-CN" altLang="en-US" sz="2400" dirty="0"/>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3.4</a:t>
            </a:r>
            <a:r>
              <a:rPr lang="zh-CN" altLang="en-US" sz="2400" b="1" dirty="0">
                <a:solidFill>
                  <a:srgbClr val="01395C"/>
                </a:solidFill>
                <a:latin typeface="方正粗宋简体"/>
                <a:ea typeface="方正粗宋简体"/>
                <a:cs typeface="方正粗宋简体"/>
              </a:rPr>
              <a:t> 任务分解</a:t>
            </a:r>
            <a:endParaRPr lang="zh-CN" altLang="en-US" sz="2400" b="1" dirty="0">
              <a:solidFill>
                <a:srgbClr val="01395C"/>
              </a:solidFill>
              <a:latin typeface="方正粗宋简体"/>
              <a:ea typeface="方正粗宋简体"/>
              <a:cs typeface="方正粗宋简体"/>
            </a:endParaRPr>
          </a:p>
        </p:txBody>
      </p:sp>
      <p:sp>
        <p:nvSpPr>
          <p:cNvPr id="65539" name="文本框 4"/>
          <p:cNvSpPr txBox="1">
            <a:spLocks noChangeArrowheads="1"/>
          </p:cNvSpPr>
          <p:nvPr/>
        </p:nvSpPr>
        <p:spPr bwMode="auto">
          <a:xfrm>
            <a:off x="539750" y="912813"/>
            <a:ext cx="7327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r>
              <a:rPr lang="en-US" altLang="zh-CN" sz="2400">
                <a:solidFill>
                  <a:srgbClr val="333333"/>
                </a:solidFill>
                <a:latin typeface="Arial" panose="020B0604020202020204" pitchFamily="34" charset="0"/>
              </a:rPr>
              <a:t>WBS</a:t>
            </a:r>
            <a:r>
              <a:rPr lang="zh-CN" altLang="en-US" sz="2400">
                <a:solidFill>
                  <a:srgbClr val="333333"/>
                </a:solidFill>
                <a:latin typeface="Arial" panose="020B0604020202020204" pitchFamily="34" charset="0"/>
              </a:rPr>
              <a:t>：</a:t>
            </a:r>
            <a:r>
              <a:rPr lang="zh-CN" altLang="en-US" sz="2400">
                <a:solidFill>
                  <a:srgbClr val="136EC2"/>
                </a:solidFill>
                <a:latin typeface="Arial" panose="020B0604020202020204" pitchFamily="34" charset="0"/>
              </a:rPr>
              <a:t>工作分解结构</a:t>
            </a:r>
            <a:r>
              <a:rPr lang="zh-CN" altLang="en-US" sz="2400">
                <a:solidFill>
                  <a:srgbClr val="333333"/>
                </a:solidFill>
                <a:latin typeface="Arial" panose="020B0604020202020204" pitchFamily="34" charset="0"/>
              </a:rPr>
              <a:t>（</a:t>
            </a:r>
            <a:r>
              <a:rPr lang="en-US" altLang="zh-CN" sz="2400">
                <a:solidFill>
                  <a:srgbClr val="333333"/>
                </a:solidFill>
                <a:latin typeface="Arial" panose="020B0604020202020204" pitchFamily="34" charset="0"/>
              </a:rPr>
              <a:t>Work Breakdown Structure</a:t>
            </a:r>
            <a:r>
              <a:rPr lang="zh-CN" altLang="en-US" sz="2400">
                <a:solidFill>
                  <a:srgbClr val="333333"/>
                </a:solidFill>
                <a:latin typeface="Arial" panose="020B0604020202020204" pitchFamily="34" charset="0"/>
              </a:rPr>
              <a:t>）</a:t>
            </a:r>
            <a:endParaRPr lang="zh-CN" altLang="en-US" sz="2400"/>
          </a:p>
        </p:txBody>
      </p:sp>
      <p:sp>
        <p:nvSpPr>
          <p:cNvPr id="6" name="文本框 5"/>
          <p:cNvSpPr txBox="1"/>
          <p:nvPr/>
        </p:nvSpPr>
        <p:spPr>
          <a:xfrm>
            <a:off x="586105" y="1442085"/>
            <a:ext cx="11020425" cy="4523105"/>
          </a:xfrm>
          <a:prstGeom prst="rect">
            <a:avLst/>
          </a:prstGeom>
          <a:noFill/>
        </p:spPr>
        <p:txBody>
          <a:bodyPr>
            <a:spAutoFit/>
          </a:bodyPr>
          <a:lstStyle/>
          <a:p>
            <a:pPr indent="673100" latinLnBrk="0">
              <a:lnSpc>
                <a:spcPct val="150000"/>
              </a:lnSpc>
              <a:defRPr/>
            </a:pPr>
            <a:r>
              <a:rPr lang="zh-CN" altLang="en-US" sz="2400" dirty="0">
                <a:solidFill>
                  <a:srgbClr val="333333"/>
                </a:solidFill>
                <a:latin typeface="Arial" panose="020B0604020202020204" pitchFamily="34" charset="0"/>
              </a:rPr>
              <a:t>创建</a:t>
            </a:r>
            <a:r>
              <a:rPr lang="en-US" altLang="zh-CN" sz="2400" dirty="0">
                <a:solidFill>
                  <a:srgbClr val="333333"/>
                </a:solidFill>
                <a:latin typeface="Arial" panose="020B0604020202020204" pitchFamily="34" charset="0"/>
              </a:rPr>
              <a:t>WBS</a:t>
            </a:r>
            <a:r>
              <a:rPr lang="zh-CN" altLang="en-US" sz="2400" dirty="0">
                <a:solidFill>
                  <a:srgbClr val="333333"/>
                </a:solidFill>
                <a:latin typeface="Arial" panose="020B0604020202020204" pitchFamily="34" charset="0"/>
              </a:rPr>
              <a:t>是把项目工作按阶段可交付成果分解成较小的，更易于管理的组成部分的过程。</a:t>
            </a:r>
            <a:endParaRPr lang="zh-CN" altLang="en-US" sz="2400" dirty="0">
              <a:solidFill>
                <a:srgbClr val="333333"/>
              </a:solidFill>
              <a:latin typeface="Arial" panose="020B0604020202020204" pitchFamily="34" charset="0"/>
            </a:endParaRPr>
          </a:p>
          <a:p>
            <a:pPr indent="673100" latinLnBrk="0">
              <a:lnSpc>
                <a:spcPct val="150000"/>
              </a:lnSpc>
              <a:defRPr/>
            </a:pPr>
            <a:r>
              <a:rPr lang="en-US" altLang="zh-CN" sz="2400" dirty="0">
                <a:solidFill>
                  <a:srgbClr val="333333"/>
                </a:solidFill>
                <a:latin typeface="Arial" panose="020B0604020202020204" pitchFamily="34" charset="0"/>
              </a:rPr>
              <a:t>WBS</a:t>
            </a:r>
            <a:r>
              <a:rPr lang="zh-CN" altLang="en-US" sz="2400" dirty="0">
                <a:solidFill>
                  <a:srgbClr val="333333"/>
                </a:solidFill>
                <a:latin typeface="Arial" panose="020B0604020202020204" pitchFamily="34" charset="0"/>
              </a:rPr>
              <a:t>是项目管理重要的专业术语之一。</a:t>
            </a:r>
            <a:endParaRPr lang="en-US" altLang="zh-CN" sz="2400" dirty="0">
              <a:solidFill>
                <a:srgbClr val="333333"/>
              </a:solidFill>
              <a:latin typeface="Arial" panose="020B0604020202020204" pitchFamily="34" charset="0"/>
            </a:endParaRPr>
          </a:p>
          <a:p>
            <a:pPr indent="673100" latinLnBrk="0">
              <a:lnSpc>
                <a:spcPct val="150000"/>
              </a:lnSpc>
              <a:defRPr/>
            </a:pPr>
            <a:r>
              <a:rPr lang="en-US" altLang="zh-CN" sz="2400" dirty="0">
                <a:solidFill>
                  <a:srgbClr val="333333"/>
                </a:solidFill>
                <a:latin typeface="Arial" panose="020B0604020202020204" pitchFamily="34" charset="0"/>
              </a:rPr>
              <a:t>WBS</a:t>
            </a:r>
            <a:r>
              <a:rPr lang="zh-CN" altLang="en-US" sz="2400" dirty="0">
                <a:solidFill>
                  <a:srgbClr val="333333"/>
                </a:solidFill>
                <a:latin typeface="Arial" panose="020B0604020202020204" pitchFamily="34" charset="0"/>
              </a:rPr>
              <a:t>的基本定义 ：以</a:t>
            </a:r>
            <a:r>
              <a:rPr lang="zh-CN" altLang="en-US" sz="2400" dirty="0">
                <a:solidFill>
                  <a:srgbClr val="C00000"/>
                </a:solidFill>
                <a:latin typeface="Arial" panose="020B0604020202020204" pitchFamily="34" charset="0"/>
              </a:rPr>
              <a:t>可交付成果</a:t>
            </a:r>
            <a:r>
              <a:rPr lang="zh-CN" altLang="en-US" sz="2400" dirty="0">
                <a:solidFill>
                  <a:srgbClr val="333333"/>
                </a:solidFill>
                <a:latin typeface="Arial" panose="020B0604020202020204" pitchFamily="34" charset="0"/>
              </a:rPr>
              <a:t>为导向对项目要素进行的分组，它归纳和定义了项目的整个工作范围每下降一层代表对项目工作的更详细定义。</a:t>
            </a:r>
            <a:endParaRPr lang="en-US" altLang="zh-CN" sz="2400" dirty="0">
              <a:solidFill>
                <a:srgbClr val="333333"/>
              </a:solidFill>
              <a:latin typeface="Arial" panose="020B0604020202020204" pitchFamily="34" charset="0"/>
            </a:endParaRPr>
          </a:p>
          <a:p>
            <a:pPr marL="342900" indent="-342900">
              <a:lnSpc>
                <a:spcPct val="150000"/>
              </a:lnSpc>
              <a:buFont typeface="Arial" panose="020B0604020202020204" pitchFamily="34" charset="0"/>
              <a:buChar char="•"/>
              <a:defRPr/>
            </a:pPr>
            <a:r>
              <a:rPr lang="zh-CN" altLang="en-US" sz="2400" dirty="0">
                <a:solidFill>
                  <a:schemeClr val="accent6">
                    <a:lumMod val="75000"/>
                  </a:schemeClr>
                </a:solidFill>
              </a:rPr>
              <a:t>范围管理 wbs分解是基础。</a:t>
            </a:r>
            <a:endParaRPr lang="zh-CN" altLang="en-US" sz="2400" dirty="0">
              <a:solidFill>
                <a:schemeClr val="accent6">
                  <a:lumMod val="75000"/>
                </a:schemeClr>
              </a:solidFill>
            </a:endParaRPr>
          </a:p>
          <a:p>
            <a:pPr marL="342900" indent="-342900">
              <a:lnSpc>
                <a:spcPct val="150000"/>
              </a:lnSpc>
              <a:buFont typeface="Arial" panose="020B0604020202020204" pitchFamily="34" charset="0"/>
              <a:buChar char="•"/>
              <a:defRPr/>
            </a:pPr>
            <a:r>
              <a:rPr lang="zh-CN" altLang="en-US" sz="2400" dirty="0">
                <a:solidFill>
                  <a:schemeClr val="accent6">
                    <a:lumMod val="75000"/>
                  </a:schemeClr>
                </a:solidFill>
              </a:rPr>
              <a:t>有了范围（工作量）后才能去估算进度，计算成本</a:t>
            </a:r>
            <a:endParaRPr lang="zh-CN" altLang="en-US" sz="2400" dirty="0">
              <a:solidFill>
                <a:schemeClr val="accent6">
                  <a:lumMod val="75000"/>
                </a:schemeClr>
              </a:solidFill>
            </a:endParaRPr>
          </a:p>
          <a:p>
            <a:pPr marL="342900" indent="-342900">
              <a:lnSpc>
                <a:spcPct val="150000"/>
              </a:lnSpc>
              <a:buFont typeface="Arial" panose="020B0604020202020204" pitchFamily="34" charset="0"/>
              <a:buChar char="•"/>
              <a:defRPr/>
            </a:pPr>
            <a:r>
              <a:rPr lang="zh-CN" altLang="en-US" sz="2400" dirty="0">
                <a:solidFill>
                  <a:schemeClr val="accent6">
                    <a:lumMod val="75000"/>
                  </a:schemeClr>
                </a:solidFill>
              </a:rPr>
              <a:t>甘特图是</a:t>
            </a:r>
            <a:r>
              <a:rPr lang="en-US" altLang="zh-CN" sz="2400" dirty="0">
                <a:solidFill>
                  <a:schemeClr val="accent6">
                    <a:lumMod val="75000"/>
                  </a:schemeClr>
                </a:solidFill>
              </a:rPr>
              <a:t>WBS</a:t>
            </a:r>
            <a:r>
              <a:rPr lang="zh-CN" altLang="en-US" sz="2400" dirty="0">
                <a:solidFill>
                  <a:schemeClr val="accent6">
                    <a:lumMod val="75000"/>
                  </a:schemeClr>
                </a:solidFill>
              </a:rPr>
              <a:t>的图示</a:t>
            </a:r>
            <a:endParaRPr lang="zh-CN" altLang="en-US" sz="2400" dirty="0">
              <a:solidFill>
                <a:schemeClr val="accent6">
                  <a:lumMod val="75000"/>
                </a:schemeClr>
              </a:solidFill>
            </a:endParaRPr>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3.4</a:t>
            </a:r>
            <a:r>
              <a:rPr lang="zh-CN" altLang="en-US" sz="2400" b="1" dirty="0">
                <a:solidFill>
                  <a:srgbClr val="01395C"/>
                </a:solidFill>
                <a:latin typeface="方正粗宋简体"/>
                <a:ea typeface="方正粗宋简体"/>
                <a:cs typeface="方正粗宋简体"/>
              </a:rPr>
              <a:t> 任务分解</a:t>
            </a:r>
            <a:endParaRPr lang="zh-CN" altLang="en-US" sz="2400" b="1" dirty="0">
              <a:solidFill>
                <a:srgbClr val="01395C"/>
              </a:solidFill>
              <a:latin typeface="方正粗宋简体"/>
              <a:ea typeface="方正粗宋简体"/>
              <a:cs typeface="方正粗宋简体"/>
            </a:endParaRPr>
          </a:p>
        </p:txBody>
      </p:sp>
      <p:sp>
        <p:nvSpPr>
          <p:cNvPr id="67587" name="文本框 4"/>
          <p:cNvSpPr txBox="1">
            <a:spLocks noChangeArrowheads="1"/>
          </p:cNvSpPr>
          <p:nvPr/>
        </p:nvSpPr>
        <p:spPr bwMode="auto">
          <a:xfrm>
            <a:off x="539750" y="912813"/>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r>
              <a:rPr lang="zh-CN" altLang="en-US" sz="2400">
                <a:solidFill>
                  <a:srgbClr val="C00000"/>
                </a:solidFill>
                <a:latin typeface="Arial" panose="020B0604020202020204" pitchFamily="34" charset="0"/>
              </a:rPr>
              <a:t>结构化编码</a:t>
            </a:r>
            <a:endParaRPr lang="zh-CN" altLang="en-US" sz="2400">
              <a:solidFill>
                <a:srgbClr val="C00000"/>
              </a:solidFill>
              <a:latin typeface="Arial" panose="020B0604020202020204" pitchFamily="34" charset="0"/>
            </a:endParaRPr>
          </a:p>
        </p:txBody>
      </p:sp>
      <p:sp>
        <p:nvSpPr>
          <p:cNvPr id="6" name="文本框 5"/>
          <p:cNvSpPr txBox="1"/>
          <p:nvPr/>
        </p:nvSpPr>
        <p:spPr>
          <a:xfrm>
            <a:off x="539750" y="1590675"/>
            <a:ext cx="11020425" cy="2233613"/>
          </a:xfrm>
          <a:prstGeom prst="rect">
            <a:avLst/>
          </a:prstGeom>
          <a:noFill/>
        </p:spPr>
        <p:txBody>
          <a:bodyPr>
            <a:spAutoFit/>
          </a:bodyPr>
          <a:lstStyle/>
          <a:p>
            <a:pPr>
              <a:lnSpc>
                <a:spcPct val="150000"/>
              </a:lnSpc>
              <a:defRPr/>
            </a:pPr>
            <a:r>
              <a:rPr lang="zh-CN" altLang="en-US" sz="2400" dirty="0">
                <a:solidFill>
                  <a:srgbClr val="333333"/>
                </a:solidFill>
                <a:latin typeface="Arial" panose="020B0604020202020204" pitchFamily="34" charset="0"/>
              </a:rPr>
              <a:t>编码是最显著和最关键的</a:t>
            </a:r>
            <a:r>
              <a:rPr lang="en-US" altLang="zh-CN" sz="2400" dirty="0">
                <a:solidFill>
                  <a:srgbClr val="333333"/>
                </a:solidFill>
                <a:latin typeface="Arial" panose="020B0604020202020204" pitchFamily="34" charset="0"/>
              </a:rPr>
              <a:t>WBS</a:t>
            </a:r>
            <a:r>
              <a:rPr lang="zh-CN" altLang="en-US" sz="2400" dirty="0">
                <a:solidFill>
                  <a:srgbClr val="333333"/>
                </a:solidFill>
                <a:latin typeface="Arial" panose="020B0604020202020204" pitchFamily="34" charset="0"/>
              </a:rPr>
              <a:t>构成因子，首先编码用于将</a:t>
            </a:r>
            <a:r>
              <a:rPr lang="en-US" altLang="zh-CN" sz="2400" dirty="0">
                <a:solidFill>
                  <a:srgbClr val="333333"/>
                </a:solidFill>
                <a:latin typeface="Arial" panose="020B0604020202020204" pitchFamily="34" charset="0"/>
              </a:rPr>
              <a:t>WBS</a:t>
            </a:r>
            <a:r>
              <a:rPr lang="zh-CN" altLang="en-US" sz="2400" dirty="0">
                <a:solidFill>
                  <a:srgbClr val="333333"/>
                </a:solidFill>
                <a:latin typeface="Arial" panose="020B0604020202020204" pitchFamily="34" charset="0"/>
              </a:rPr>
              <a:t>彻底的结构化。</a:t>
            </a:r>
            <a:endParaRPr lang="en-US" altLang="zh-CN" sz="2400" dirty="0">
              <a:solidFill>
                <a:srgbClr val="333333"/>
              </a:solidFill>
              <a:latin typeface="Arial" panose="020B0604020202020204" pitchFamily="34" charset="0"/>
            </a:endParaRPr>
          </a:p>
          <a:p>
            <a:pPr>
              <a:lnSpc>
                <a:spcPct val="150000"/>
              </a:lnSpc>
              <a:defRPr/>
            </a:pPr>
            <a:r>
              <a:rPr lang="zh-CN" altLang="en-US" sz="2400" dirty="0">
                <a:solidFill>
                  <a:srgbClr val="333333"/>
                </a:solidFill>
                <a:latin typeface="Arial" panose="020B0604020202020204" pitchFamily="34" charset="0"/>
              </a:rPr>
              <a:t>通过编码体系，我们可以很容易识别</a:t>
            </a:r>
            <a:r>
              <a:rPr lang="en-US" altLang="zh-CN" sz="2400" dirty="0">
                <a:solidFill>
                  <a:srgbClr val="333333"/>
                </a:solidFill>
                <a:latin typeface="Arial" panose="020B0604020202020204" pitchFamily="34" charset="0"/>
              </a:rPr>
              <a:t>WBS</a:t>
            </a:r>
            <a:r>
              <a:rPr lang="zh-CN" altLang="en-US" sz="2400" dirty="0">
                <a:solidFill>
                  <a:srgbClr val="333333"/>
                </a:solidFill>
                <a:latin typeface="Arial" panose="020B0604020202020204" pitchFamily="34" charset="0"/>
              </a:rPr>
              <a:t>元素的层级关系、分组类别和特性。</a:t>
            </a:r>
            <a:endParaRPr lang="zh-CN" altLang="en-US" sz="2400" dirty="0">
              <a:solidFill>
                <a:srgbClr val="333333"/>
              </a:solidFill>
              <a:latin typeface="Arial" panose="020B0604020202020204" pitchFamily="34" charset="0"/>
            </a:endParaRPr>
          </a:p>
          <a:p>
            <a:pPr>
              <a:lnSpc>
                <a:spcPct val="150000"/>
              </a:lnSpc>
              <a:defRPr/>
            </a:pPr>
            <a:endParaRPr lang="zh-CN" altLang="en-US" sz="2400" dirty="0">
              <a:solidFill>
                <a:srgbClr val="333333"/>
              </a:solidFill>
              <a:latin typeface="Arial" panose="020B0604020202020204" pitchFamily="34" charset="0"/>
            </a:endParaRPr>
          </a:p>
          <a:p>
            <a:pPr>
              <a:lnSpc>
                <a:spcPct val="150000"/>
              </a:lnSpc>
              <a:defRPr/>
            </a:pPr>
            <a:endParaRPr lang="zh-CN" altLang="en-US" sz="2400" dirty="0">
              <a:solidFill>
                <a:schemeClr val="accent6">
                  <a:lumMod val="75000"/>
                </a:schemeClr>
              </a:solidFill>
            </a:endParaRPr>
          </a:p>
        </p:txBody>
      </p:sp>
      <p:pic>
        <p:nvPicPr>
          <p:cNvPr id="67589"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20863" y="2838450"/>
            <a:ext cx="8550275" cy="461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3.4</a:t>
            </a:r>
            <a:r>
              <a:rPr lang="zh-CN" altLang="en-US" sz="2400" b="1" dirty="0">
                <a:solidFill>
                  <a:srgbClr val="01395C"/>
                </a:solidFill>
                <a:latin typeface="方正粗宋简体"/>
                <a:ea typeface="方正粗宋简体"/>
                <a:cs typeface="方正粗宋简体"/>
              </a:rPr>
              <a:t> 任务分解</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539750" y="912813"/>
            <a:ext cx="11277600" cy="1679575"/>
          </a:xfrm>
          <a:prstGeom prst="rect">
            <a:avLst/>
          </a:prstGeom>
          <a:noFill/>
        </p:spPr>
        <p:txBody>
          <a:bodyPr>
            <a:spAutoFit/>
          </a:bodyPr>
          <a:lstStyle/>
          <a:p>
            <a:pPr>
              <a:lnSpc>
                <a:spcPct val="150000"/>
              </a:lnSpc>
              <a:defRPr/>
            </a:pPr>
            <a:r>
              <a:rPr lang="zh-CN" altLang="en-US" sz="2400" dirty="0">
                <a:solidFill>
                  <a:srgbClr val="C00000"/>
                </a:solidFill>
                <a:latin typeface="Arial" panose="020B0604020202020204" pitchFamily="34" charset="0"/>
              </a:rPr>
              <a:t>工作包（</a:t>
            </a:r>
            <a:r>
              <a:rPr lang="en-US" altLang="zh-CN" sz="2400" dirty="0">
                <a:solidFill>
                  <a:srgbClr val="C00000"/>
                </a:solidFill>
                <a:latin typeface="Arial" panose="020B0604020202020204" pitchFamily="34" charset="0"/>
              </a:rPr>
              <a:t>work package</a:t>
            </a:r>
            <a:r>
              <a:rPr lang="zh-CN" altLang="en-US" sz="2400" dirty="0">
                <a:solidFill>
                  <a:srgbClr val="C00000"/>
                </a:solidFill>
                <a:latin typeface="Arial" panose="020B0604020202020204" pitchFamily="34" charset="0"/>
              </a:rPr>
              <a:t>）</a:t>
            </a:r>
            <a:r>
              <a:rPr lang="zh-CN" altLang="en-US" sz="2400" dirty="0">
                <a:solidFill>
                  <a:srgbClr val="333333"/>
                </a:solidFill>
                <a:latin typeface="Arial" panose="020B0604020202020204" pitchFamily="34" charset="0"/>
              </a:rPr>
              <a:t>是</a:t>
            </a:r>
            <a:r>
              <a:rPr lang="en-US" altLang="zh-CN" sz="2400" dirty="0">
                <a:solidFill>
                  <a:srgbClr val="333333"/>
                </a:solidFill>
                <a:latin typeface="Arial" panose="020B0604020202020204" pitchFamily="34" charset="0"/>
              </a:rPr>
              <a:t>WBS</a:t>
            </a:r>
            <a:r>
              <a:rPr lang="zh-CN" altLang="en-US" sz="2400" dirty="0">
                <a:solidFill>
                  <a:srgbClr val="333333"/>
                </a:solidFill>
                <a:latin typeface="Arial" panose="020B0604020202020204" pitchFamily="34" charset="0"/>
              </a:rPr>
              <a:t>的最底层元素，一般的工作包是最小的“可交付成果”，这些可交付成果很容易识别出完成它的</a:t>
            </a:r>
            <a:r>
              <a:rPr lang="zh-CN" altLang="en-US" sz="2400" dirty="0">
                <a:solidFill>
                  <a:srgbClr val="136EC2"/>
                </a:solidFill>
                <a:latin typeface="Arial" panose="020B0604020202020204" pitchFamily="34" charset="0"/>
              </a:rPr>
              <a:t>活动、成本和组织</a:t>
            </a:r>
            <a:r>
              <a:rPr lang="zh-CN" altLang="en-US" sz="2400" dirty="0">
                <a:solidFill>
                  <a:srgbClr val="333333"/>
                </a:solidFill>
                <a:latin typeface="Arial" panose="020B0604020202020204" pitchFamily="34" charset="0"/>
              </a:rPr>
              <a:t>以及</a:t>
            </a:r>
            <a:r>
              <a:rPr lang="zh-CN" altLang="en-US" sz="2400" dirty="0">
                <a:solidFill>
                  <a:srgbClr val="136EC2"/>
                </a:solidFill>
                <a:latin typeface="Arial" panose="020B0604020202020204" pitchFamily="34" charset="0"/>
              </a:rPr>
              <a:t>资源信息</a:t>
            </a:r>
            <a:r>
              <a:rPr lang="zh-CN" altLang="en-US" sz="2400" dirty="0">
                <a:solidFill>
                  <a:srgbClr val="333333"/>
                </a:solidFill>
                <a:latin typeface="Arial" panose="020B0604020202020204" pitchFamily="34" charset="0"/>
              </a:rPr>
              <a:t>。</a:t>
            </a:r>
            <a:endParaRPr lang="zh-CN" altLang="en-US" sz="2400" dirty="0">
              <a:solidFill>
                <a:srgbClr val="333333"/>
              </a:solidFill>
              <a:latin typeface="Arial" panose="020B0604020202020204" pitchFamily="34" charset="0"/>
            </a:endParaRPr>
          </a:p>
          <a:p>
            <a:pPr>
              <a:lnSpc>
                <a:spcPct val="150000"/>
              </a:lnSpc>
              <a:defRPr/>
            </a:pPr>
            <a:endParaRPr lang="zh-CN" altLang="en-US" sz="2400" dirty="0">
              <a:solidFill>
                <a:schemeClr val="accent6">
                  <a:lumMod val="75000"/>
                </a:schemeClr>
              </a:solidFill>
            </a:endParaRPr>
          </a:p>
        </p:txBody>
      </p:sp>
      <p:pic>
        <p:nvPicPr>
          <p:cNvPr id="69636"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28900" y="2339975"/>
            <a:ext cx="6934200" cy="455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3.4</a:t>
            </a:r>
            <a:r>
              <a:rPr lang="zh-CN" altLang="en-US" sz="2400" b="1" dirty="0">
                <a:solidFill>
                  <a:srgbClr val="01395C"/>
                </a:solidFill>
                <a:latin typeface="方正粗宋简体"/>
                <a:ea typeface="方正粗宋简体"/>
                <a:cs typeface="方正粗宋简体"/>
              </a:rPr>
              <a:t> 任务分解</a:t>
            </a:r>
            <a:endParaRPr lang="zh-CN" altLang="en-US" sz="2400" b="1" dirty="0">
              <a:solidFill>
                <a:srgbClr val="01395C"/>
              </a:solidFill>
              <a:latin typeface="方正粗宋简体"/>
              <a:ea typeface="方正粗宋简体"/>
              <a:cs typeface="方正粗宋简体"/>
            </a:endParaRPr>
          </a:p>
        </p:txBody>
      </p:sp>
      <p:sp>
        <p:nvSpPr>
          <p:cNvPr id="71683" name="文本框 5"/>
          <p:cNvSpPr txBox="1">
            <a:spLocks noChangeArrowheads="1"/>
          </p:cNvSpPr>
          <p:nvPr/>
        </p:nvSpPr>
        <p:spPr bwMode="auto">
          <a:xfrm>
            <a:off x="312738" y="912813"/>
            <a:ext cx="11566525"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a:lnSpc>
                <a:spcPct val="150000"/>
              </a:lnSpc>
            </a:pPr>
            <a:r>
              <a:rPr lang="en-US" altLang="zh-CN" sz="2400">
                <a:solidFill>
                  <a:srgbClr val="C00000"/>
                </a:solidFill>
                <a:latin typeface="Arial" panose="020B0604020202020204" pitchFamily="34" charset="0"/>
              </a:rPr>
              <a:t>WBS</a:t>
            </a:r>
            <a:r>
              <a:rPr lang="zh-CN" altLang="en-US" sz="2400">
                <a:solidFill>
                  <a:srgbClr val="C00000"/>
                </a:solidFill>
                <a:latin typeface="Arial" panose="020B0604020202020204" pitchFamily="34" charset="0"/>
              </a:rPr>
              <a:t>词典</a:t>
            </a:r>
            <a:r>
              <a:rPr lang="zh-CN" altLang="en-US" sz="2400">
                <a:solidFill>
                  <a:srgbClr val="333333"/>
                </a:solidFill>
                <a:latin typeface="Arial" panose="020B0604020202020204" pitchFamily="34" charset="0"/>
              </a:rPr>
              <a:t>是在创建</a:t>
            </a:r>
            <a:r>
              <a:rPr lang="zh-CN" altLang="en-US" sz="2400">
                <a:solidFill>
                  <a:srgbClr val="136EC2"/>
                </a:solidFill>
                <a:latin typeface="Arial" panose="020B0604020202020204" pitchFamily="34" charset="0"/>
              </a:rPr>
              <a:t>工作分解结构</a:t>
            </a:r>
            <a:r>
              <a:rPr lang="zh-CN" altLang="en-US" sz="2400">
                <a:solidFill>
                  <a:srgbClr val="333333"/>
                </a:solidFill>
                <a:latin typeface="Arial" panose="020B0604020202020204" pitchFamily="34" charset="0"/>
              </a:rPr>
              <a:t>的过程中编制的，是工作分解结构的支持性文件，用来对工作分解结构中的</a:t>
            </a:r>
            <a:r>
              <a:rPr lang="zh-CN" altLang="en-US" sz="2400">
                <a:solidFill>
                  <a:srgbClr val="136EC2"/>
                </a:solidFill>
                <a:latin typeface="Arial" panose="020B0604020202020204" pitchFamily="34" charset="0"/>
              </a:rPr>
              <a:t>控制账户</a:t>
            </a:r>
            <a:r>
              <a:rPr lang="zh-CN" altLang="en-US" sz="2400">
                <a:solidFill>
                  <a:srgbClr val="333333"/>
                </a:solidFill>
                <a:latin typeface="Arial" panose="020B0604020202020204" pitchFamily="34" charset="0"/>
              </a:rPr>
              <a:t>和工作包做详细解释。</a:t>
            </a:r>
            <a:endParaRPr lang="en-US" altLang="zh-CN" sz="2400">
              <a:solidFill>
                <a:srgbClr val="333333"/>
              </a:solidFill>
              <a:latin typeface="Arial" panose="020B0604020202020204" pitchFamily="34" charset="0"/>
            </a:endParaRPr>
          </a:p>
          <a:p>
            <a:pPr>
              <a:lnSpc>
                <a:spcPct val="150000"/>
              </a:lnSpc>
            </a:pPr>
            <a:r>
              <a:rPr lang="zh-CN" altLang="en-US" sz="2400">
                <a:solidFill>
                  <a:srgbClr val="136EC2"/>
                </a:solidFill>
                <a:latin typeface="Arial" panose="020B0604020202020204" pitchFamily="34" charset="0"/>
              </a:rPr>
              <a:t>解释的详细程度</a:t>
            </a:r>
            <a:r>
              <a:rPr lang="zh-CN" altLang="en-US" sz="2400">
                <a:solidFill>
                  <a:srgbClr val="333333"/>
                </a:solidFill>
                <a:latin typeface="Arial" panose="020B0604020202020204" pitchFamily="34" charset="0"/>
              </a:rPr>
              <a:t>可以根据具体需要加以确定。</a:t>
            </a:r>
            <a:endParaRPr lang="en-US" altLang="zh-CN" sz="2400">
              <a:solidFill>
                <a:srgbClr val="333333"/>
              </a:solidFill>
              <a:latin typeface="Arial" panose="020B0604020202020204" pitchFamily="34" charset="0"/>
            </a:endParaRPr>
          </a:p>
          <a:p>
            <a:pPr>
              <a:lnSpc>
                <a:spcPct val="150000"/>
              </a:lnSpc>
            </a:pPr>
            <a:endParaRPr lang="en-US" altLang="zh-CN" sz="2000">
              <a:solidFill>
                <a:srgbClr val="333333"/>
              </a:solidFill>
              <a:latin typeface="Arial" panose="020B0604020202020204" pitchFamily="34" charset="0"/>
            </a:endParaRPr>
          </a:p>
          <a:p>
            <a:pPr>
              <a:lnSpc>
                <a:spcPct val="150000"/>
              </a:lnSpc>
            </a:pPr>
            <a:r>
              <a:rPr lang="zh-CN" altLang="en-US" sz="2400">
                <a:solidFill>
                  <a:srgbClr val="136EC2"/>
                </a:solidFill>
                <a:latin typeface="Arial" panose="020B0604020202020204" pitchFamily="34" charset="0"/>
              </a:rPr>
              <a:t>控制账户</a:t>
            </a:r>
            <a:r>
              <a:rPr lang="zh-CN" altLang="en-US" sz="2400">
                <a:solidFill>
                  <a:srgbClr val="333333"/>
                </a:solidFill>
                <a:latin typeface="Arial" panose="020B0604020202020204" pitchFamily="34" charset="0"/>
              </a:rPr>
              <a:t>是工作分解结构中的要素，是</a:t>
            </a:r>
            <a:r>
              <a:rPr lang="zh-CN" altLang="en-US" sz="2400">
                <a:solidFill>
                  <a:srgbClr val="136EC2"/>
                </a:solidFill>
                <a:latin typeface="Arial" panose="020B0604020202020204" pitchFamily="34" charset="0"/>
              </a:rPr>
              <a:t>项目经理</a:t>
            </a:r>
            <a:r>
              <a:rPr lang="zh-CN" altLang="en-US" sz="2400">
                <a:solidFill>
                  <a:srgbClr val="333333"/>
                </a:solidFill>
                <a:latin typeface="Arial" panose="020B0604020202020204" pitchFamily="34" charset="0"/>
              </a:rPr>
              <a:t>对项目的</a:t>
            </a:r>
            <a:r>
              <a:rPr lang="zh-CN" altLang="en-US" sz="2400">
                <a:solidFill>
                  <a:srgbClr val="136EC2"/>
                </a:solidFill>
                <a:latin typeface="Arial" panose="020B0604020202020204" pitchFamily="34" charset="0"/>
              </a:rPr>
              <a:t>管理控制点</a:t>
            </a:r>
            <a:r>
              <a:rPr lang="zh-CN" altLang="en-US" sz="2400">
                <a:solidFill>
                  <a:srgbClr val="333333"/>
                </a:solidFill>
                <a:latin typeface="Arial" panose="020B0604020202020204" pitchFamily="34" charset="0"/>
              </a:rPr>
              <a:t>，即针对控制账户的要素对项目的执行情况进行检查与考核。可以把工作包作为控制账户，也可以把更高层的</a:t>
            </a:r>
            <a:r>
              <a:rPr lang="zh-CN" altLang="en-US" sz="2400">
                <a:solidFill>
                  <a:srgbClr val="136EC2"/>
                </a:solidFill>
                <a:latin typeface="Arial" panose="020B0604020202020204" pitchFamily="34" charset="0"/>
              </a:rPr>
              <a:t>要素</a:t>
            </a:r>
            <a:r>
              <a:rPr lang="zh-CN" altLang="en-US" sz="2400">
                <a:solidFill>
                  <a:srgbClr val="333333"/>
                </a:solidFill>
                <a:latin typeface="Arial" panose="020B0604020202020204" pitchFamily="34" charset="0"/>
              </a:rPr>
              <a:t>作为</a:t>
            </a:r>
            <a:r>
              <a:rPr lang="zh-CN" altLang="en-US" sz="2400">
                <a:solidFill>
                  <a:srgbClr val="136EC2"/>
                </a:solidFill>
                <a:latin typeface="Arial" panose="020B0604020202020204" pitchFamily="34" charset="0"/>
              </a:rPr>
              <a:t>控制账户</a:t>
            </a:r>
            <a:r>
              <a:rPr lang="zh-CN" altLang="en-US" sz="2400">
                <a:solidFill>
                  <a:srgbClr val="333333"/>
                </a:solidFill>
                <a:latin typeface="Arial" panose="020B0604020202020204" pitchFamily="34" charset="0"/>
              </a:rPr>
              <a:t>。</a:t>
            </a:r>
            <a:endParaRPr lang="en-US" altLang="zh-CN" sz="2400">
              <a:solidFill>
                <a:srgbClr val="333333"/>
              </a:solidFill>
              <a:latin typeface="Arial" panose="020B0604020202020204" pitchFamily="34" charset="0"/>
            </a:endParaRPr>
          </a:p>
          <a:p>
            <a:pPr>
              <a:lnSpc>
                <a:spcPct val="150000"/>
              </a:lnSpc>
            </a:pPr>
            <a:endParaRPr lang="en-US" altLang="zh-CN" sz="2400">
              <a:solidFill>
                <a:srgbClr val="C00000"/>
              </a:solidFill>
              <a:latin typeface="Arial" panose="020B0604020202020204" pitchFamily="34" charset="0"/>
            </a:endParaRPr>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3.4</a:t>
            </a:r>
            <a:r>
              <a:rPr lang="zh-CN" altLang="en-US" sz="2400" b="1" dirty="0">
                <a:solidFill>
                  <a:srgbClr val="01395C"/>
                </a:solidFill>
                <a:latin typeface="方正粗宋简体"/>
                <a:ea typeface="方正粗宋简体"/>
                <a:cs typeface="方正粗宋简体"/>
              </a:rPr>
              <a:t> 任务分解</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312738" y="912813"/>
            <a:ext cx="11566525" cy="2233612"/>
          </a:xfrm>
          <a:prstGeom prst="rect">
            <a:avLst/>
          </a:prstGeom>
          <a:noFill/>
        </p:spPr>
        <p:txBody>
          <a:bodyPr>
            <a:spAutoFit/>
          </a:bodyPr>
          <a:lstStyle/>
          <a:p>
            <a:pPr>
              <a:lnSpc>
                <a:spcPct val="150000"/>
              </a:lnSpc>
              <a:defRPr/>
            </a:pPr>
            <a:r>
              <a:rPr lang="en-US" altLang="zh-CN" sz="2400" dirty="0">
                <a:solidFill>
                  <a:srgbClr val="C00000"/>
                </a:solidFill>
                <a:latin typeface="Arial" panose="020B0604020202020204" pitchFamily="34" charset="0"/>
              </a:rPr>
              <a:t>WBS</a:t>
            </a:r>
            <a:r>
              <a:rPr lang="zh-CN" altLang="en-US" sz="2400" dirty="0">
                <a:solidFill>
                  <a:srgbClr val="C00000"/>
                </a:solidFill>
                <a:latin typeface="Arial" panose="020B0604020202020204" pitchFamily="34" charset="0"/>
              </a:rPr>
              <a:t>词典的属性</a:t>
            </a:r>
            <a:endParaRPr lang="zh-CN" altLang="en-US" sz="2400" dirty="0">
              <a:solidFill>
                <a:srgbClr val="C00000"/>
              </a:solidFill>
              <a:latin typeface="Arial" panose="020B0604020202020204" pitchFamily="34" charset="0"/>
            </a:endParaRPr>
          </a:p>
          <a:p>
            <a:pPr>
              <a:lnSpc>
                <a:spcPct val="150000"/>
              </a:lnSpc>
              <a:defRPr/>
            </a:pPr>
            <a:r>
              <a:rPr lang="en-US" altLang="zh-CN" sz="2400" dirty="0">
                <a:solidFill>
                  <a:srgbClr val="333333"/>
                </a:solidFill>
                <a:latin typeface="Arial" panose="020B0604020202020204" pitchFamily="34" charset="0"/>
              </a:rPr>
              <a:t>WBS</a:t>
            </a:r>
            <a:r>
              <a:rPr lang="zh-CN" altLang="en-US" sz="2400" dirty="0">
                <a:solidFill>
                  <a:srgbClr val="333333"/>
                </a:solidFill>
                <a:latin typeface="Arial" panose="020B0604020202020204" pitchFamily="34" charset="0"/>
              </a:rPr>
              <a:t>词典：包括编码、工作包描述</a:t>
            </a:r>
            <a:r>
              <a:rPr lang="en-US" altLang="zh-CN" sz="2400" dirty="0">
                <a:solidFill>
                  <a:srgbClr val="333333"/>
                </a:solidFill>
                <a:latin typeface="Arial" panose="020B0604020202020204" pitchFamily="34" charset="0"/>
              </a:rPr>
              <a:t>(</a:t>
            </a:r>
            <a:r>
              <a:rPr lang="zh-CN" altLang="en-US" sz="2400" dirty="0">
                <a:solidFill>
                  <a:srgbClr val="333333"/>
                </a:solidFill>
                <a:latin typeface="Arial" panose="020B0604020202020204" pitchFamily="34" charset="0"/>
              </a:rPr>
              <a:t>内容</a:t>
            </a:r>
            <a:r>
              <a:rPr lang="en-US" altLang="zh-CN" sz="2400" dirty="0">
                <a:solidFill>
                  <a:srgbClr val="333333"/>
                </a:solidFill>
                <a:latin typeface="Arial" panose="020B0604020202020204" pitchFamily="34" charset="0"/>
              </a:rPr>
              <a:t>)</a:t>
            </a:r>
            <a:r>
              <a:rPr lang="zh-CN" altLang="en-US" sz="2400" dirty="0">
                <a:solidFill>
                  <a:srgbClr val="333333"/>
                </a:solidFill>
                <a:latin typeface="Arial" panose="020B0604020202020204" pitchFamily="34" charset="0"/>
              </a:rPr>
              <a:t>、</a:t>
            </a:r>
            <a:r>
              <a:rPr lang="zh-CN" altLang="en-US" sz="2400" dirty="0">
                <a:solidFill>
                  <a:srgbClr val="136EC2"/>
                </a:solidFill>
                <a:latin typeface="Arial" panose="020B0604020202020204" pitchFamily="34" charset="0"/>
              </a:rPr>
              <a:t>成本预算</a:t>
            </a:r>
            <a:r>
              <a:rPr lang="zh-CN" altLang="en-US" sz="2400" dirty="0">
                <a:solidFill>
                  <a:srgbClr val="333333"/>
                </a:solidFill>
                <a:latin typeface="Arial" panose="020B0604020202020204" pitchFamily="34" charset="0"/>
              </a:rPr>
              <a:t>、</a:t>
            </a:r>
            <a:r>
              <a:rPr lang="zh-CN" altLang="en-US" sz="2400" dirty="0">
                <a:solidFill>
                  <a:srgbClr val="136EC2"/>
                </a:solidFill>
                <a:latin typeface="Arial" panose="020B0604020202020204" pitchFamily="34" charset="0"/>
              </a:rPr>
              <a:t>时间安排</a:t>
            </a:r>
            <a:r>
              <a:rPr lang="zh-CN" altLang="en-US" sz="2400" dirty="0">
                <a:solidFill>
                  <a:srgbClr val="333333"/>
                </a:solidFill>
                <a:latin typeface="Arial" panose="020B0604020202020204" pitchFamily="34" charset="0"/>
              </a:rPr>
              <a:t>、</a:t>
            </a:r>
            <a:r>
              <a:rPr lang="zh-CN" altLang="en-US" sz="2400" dirty="0">
                <a:solidFill>
                  <a:srgbClr val="136EC2"/>
                </a:solidFill>
                <a:latin typeface="Arial" panose="020B0604020202020204" pitchFamily="34" charset="0"/>
              </a:rPr>
              <a:t>质量标准</a:t>
            </a:r>
            <a:r>
              <a:rPr lang="zh-CN" altLang="en-US" sz="2400" dirty="0">
                <a:solidFill>
                  <a:srgbClr val="333333"/>
                </a:solidFill>
                <a:latin typeface="Arial" panose="020B0604020202020204" pitchFamily="34" charset="0"/>
              </a:rPr>
              <a:t>或要求、责任人或部门或外部单位</a:t>
            </a:r>
            <a:r>
              <a:rPr lang="en-US" altLang="zh-CN" sz="2400" dirty="0">
                <a:solidFill>
                  <a:srgbClr val="333333"/>
                </a:solidFill>
                <a:latin typeface="Arial" panose="020B0604020202020204" pitchFamily="34" charset="0"/>
              </a:rPr>
              <a:t>(</a:t>
            </a:r>
            <a:r>
              <a:rPr lang="zh-CN" altLang="en-US" sz="2400" dirty="0">
                <a:solidFill>
                  <a:srgbClr val="333333"/>
                </a:solidFill>
                <a:latin typeface="Arial" panose="020B0604020202020204" pitchFamily="34" charset="0"/>
              </a:rPr>
              <a:t>委托项目</a:t>
            </a:r>
            <a:r>
              <a:rPr lang="en-US" altLang="zh-CN" sz="2400" dirty="0">
                <a:solidFill>
                  <a:srgbClr val="333333"/>
                </a:solidFill>
                <a:latin typeface="Arial" panose="020B0604020202020204" pitchFamily="34" charset="0"/>
              </a:rPr>
              <a:t>)</a:t>
            </a:r>
            <a:r>
              <a:rPr lang="zh-CN" altLang="en-US" sz="2400" dirty="0">
                <a:solidFill>
                  <a:srgbClr val="333333"/>
                </a:solidFill>
                <a:latin typeface="Arial" panose="020B0604020202020204" pitchFamily="34" charset="0"/>
              </a:rPr>
              <a:t>、</a:t>
            </a:r>
            <a:r>
              <a:rPr lang="zh-CN" altLang="en-US" sz="2400" dirty="0">
                <a:solidFill>
                  <a:srgbClr val="136EC2"/>
                </a:solidFill>
                <a:latin typeface="Arial" panose="020B0604020202020204" pitchFamily="34" charset="0"/>
              </a:rPr>
              <a:t>资源配置</a:t>
            </a:r>
            <a:r>
              <a:rPr lang="zh-CN" altLang="en-US" sz="2400" dirty="0">
                <a:solidFill>
                  <a:srgbClr val="333333"/>
                </a:solidFill>
                <a:latin typeface="Arial" panose="020B0604020202020204" pitchFamily="34" charset="0"/>
              </a:rPr>
              <a:t>情况、其他属性等。</a:t>
            </a:r>
            <a:endParaRPr lang="zh-CN" altLang="en-US" sz="2400" dirty="0">
              <a:solidFill>
                <a:srgbClr val="333333"/>
              </a:solidFill>
              <a:latin typeface="Arial" panose="020B0604020202020204" pitchFamily="34" charset="0"/>
            </a:endParaRPr>
          </a:p>
          <a:p>
            <a:pPr>
              <a:lnSpc>
                <a:spcPct val="150000"/>
              </a:lnSpc>
              <a:defRPr/>
            </a:pPr>
            <a:endParaRPr lang="zh-CN" altLang="en-US" sz="2400" dirty="0">
              <a:solidFill>
                <a:schemeClr val="accent6">
                  <a:lumMod val="75000"/>
                </a:schemeClr>
              </a:solidFill>
            </a:endParaRPr>
          </a:p>
        </p:txBody>
      </p:sp>
      <p:pic>
        <p:nvPicPr>
          <p:cNvPr id="73732"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97163" y="2686050"/>
            <a:ext cx="6797675" cy="459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3.4</a:t>
            </a:r>
            <a:r>
              <a:rPr lang="zh-CN" altLang="en-US" sz="2400" b="1" dirty="0">
                <a:solidFill>
                  <a:srgbClr val="01395C"/>
                </a:solidFill>
                <a:latin typeface="方正粗宋简体"/>
                <a:ea typeface="方正粗宋简体"/>
                <a:cs typeface="方正粗宋简体"/>
              </a:rPr>
              <a:t> 任务分解</a:t>
            </a:r>
            <a:endParaRPr lang="zh-CN" altLang="en-US" sz="2400" b="1" dirty="0">
              <a:solidFill>
                <a:srgbClr val="01395C"/>
              </a:solidFill>
              <a:latin typeface="方正粗宋简体"/>
              <a:ea typeface="方正粗宋简体"/>
              <a:cs typeface="方正粗宋简体"/>
            </a:endParaRPr>
          </a:p>
        </p:txBody>
      </p:sp>
      <p:pic>
        <p:nvPicPr>
          <p:cNvPr id="75779"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77938" y="665163"/>
            <a:ext cx="9636125" cy="675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3.4</a:t>
            </a:r>
            <a:r>
              <a:rPr lang="zh-CN" altLang="en-US" sz="2400" b="1" dirty="0">
                <a:solidFill>
                  <a:srgbClr val="01395C"/>
                </a:solidFill>
                <a:latin typeface="方正粗宋简体"/>
                <a:ea typeface="方正粗宋简体"/>
                <a:cs typeface="方正粗宋简体"/>
              </a:rPr>
              <a:t> 任务分解</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539750" y="912813"/>
            <a:ext cx="11323638" cy="3903662"/>
          </a:xfrm>
          <a:prstGeom prst="rect">
            <a:avLst/>
          </a:prstGeom>
          <a:noFill/>
        </p:spPr>
        <p:txBody>
          <a:bodyPr>
            <a:spAutoFit/>
          </a:bodyPr>
          <a:lstStyle/>
          <a:p>
            <a:pPr>
              <a:lnSpc>
                <a:spcPct val="150000"/>
              </a:lnSpc>
              <a:defRPr/>
            </a:pPr>
            <a:r>
              <a:rPr lang="zh-CN" altLang="en-US" sz="2400" dirty="0">
                <a:solidFill>
                  <a:srgbClr val="C00000"/>
                </a:solidFill>
                <a:latin typeface="Arial" panose="020B0604020202020204" pitchFamily="34" charset="0"/>
              </a:rPr>
              <a:t>项目</a:t>
            </a:r>
            <a:r>
              <a:rPr lang="en-US" altLang="zh-CN" sz="2400" dirty="0">
                <a:solidFill>
                  <a:srgbClr val="C00000"/>
                </a:solidFill>
                <a:latin typeface="Arial" panose="020B0604020202020204" pitchFamily="34" charset="0"/>
              </a:rPr>
              <a:t>WBS</a:t>
            </a:r>
            <a:r>
              <a:rPr lang="zh-CN" altLang="en-US" sz="2400" dirty="0">
                <a:solidFill>
                  <a:srgbClr val="C00000"/>
                </a:solidFill>
                <a:latin typeface="Arial" panose="020B0604020202020204" pitchFamily="34" charset="0"/>
              </a:rPr>
              <a:t>的主要用途：</a:t>
            </a:r>
            <a:endParaRPr lang="en-US" altLang="zh-CN" sz="2400" dirty="0">
              <a:solidFill>
                <a:srgbClr val="C00000"/>
              </a:solidFill>
              <a:latin typeface="Arial" panose="020B0604020202020204" pitchFamily="34" charset="0"/>
            </a:endParaRPr>
          </a:p>
          <a:p>
            <a:pPr marL="457200" indent="-457200">
              <a:lnSpc>
                <a:spcPct val="150000"/>
              </a:lnSpc>
              <a:buFont typeface="+mj-lt"/>
              <a:buAutoNum type="arabicPeriod"/>
              <a:defRPr/>
            </a:pPr>
            <a:r>
              <a:rPr lang="zh-CN" altLang="en-US" sz="2400" dirty="0">
                <a:latin typeface="Arial" panose="020B0604020202020204" pitchFamily="34" charset="0"/>
              </a:rPr>
              <a:t>明确并准确说明项目的范围</a:t>
            </a:r>
            <a:endParaRPr lang="en-US" altLang="zh-CN" sz="2400" dirty="0">
              <a:latin typeface="Arial" panose="020B0604020202020204" pitchFamily="34" charset="0"/>
            </a:endParaRPr>
          </a:p>
          <a:p>
            <a:pPr marL="457200" indent="-457200">
              <a:lnSpc>
                <a:spcPct val="150000"/>
              </a:lnSpc>
              <a:buFont typeface="+mj-lt"/>
              <a:buAutoNum type="arabicPeriod"/>
              <a:defRPr/>
            </a:pPr>
            <a:r>
              <a:rPr lang="zh-CN" altLang="en-US" sz="2400" dirty="0">
                <a:latin typeface="Arial" panose="020B0604020202020204" pitchFamily="34" charset="0"/>
              </a:rPr>
              <a:t>为各独立单元分配人员，进行责任的划分和指派</a:t>
            </a:r>
            <a:endParaRPr lang="en-US" altLang="zh-CN" sz="2400" dirty="0">
              <a:latin typeface="Arial" panose="020B0604020202020204" pitchFamily="34" charset="0"/>
            </a:endParaRPr>
          </a:p>
          <a:p>
            <a:pPr marL="457200" indent="-457200">
              <a:lnSpc>
                <a:spcPct val="150000"/>
              </a:lnSpc>
              <a:buFont typeface="+mj-lt"/>
              <a:buAutoNum type="arabicPeriod"/>
              <a:defRPr/>
            </a:pPr>
            <a:r>
              <a:rPr lang="zh-CN" altLang="en-US" sz="2400" dirty="0">
                <a:latin typeface="Arial" panose="020B0604020202020204" pitchFamily="34" charset="0"/>
              </a:rPr>
              <a:t>对各单元进行时间、费用和资源需要量的估算</a:t>
            </a:r>
            <a:endParaRPr lang="en-US" altLang="zh-CN" sz="2400" dirty="0">
              <a:latin typeface="Arial" panose="020B0604020202020204" pitchFamily="34" charset="0"/>
            </a:endParaRPr>
          </a:p>
          <a:p>
            <a:pPr marL="457200" indent="-457200">
              <a:lnSpc>
                <a:spcPct val="150000"/>
              </a:lnSpc>
              <a:buFont typeface="+mj-lt"/>
              <a:buAutoNum type="arabicPeriod"/>
              <a:defRPr/>
            </a:pPr>
            <a:r>
              <a:rPr lang="zh-CN" altLang="en-US" sz="2400" dirty="0">
                <a:latin typeface="Arial" panose="020B0604020202020204" pitchFamily="34" charset="0"/>
              </a:rPr>
              <a:t>为计划、预算、进度安排和费用控制奠定基础</a:t>
            </a:r>
            <a:endParaRPr lang="en-US" altLang="zh-CN" sz="2400" dirty="0">
              <a:latin typeface="Arial" panose="020B0604020202020204" pitchFamily="34" charset="0"/>
            </a:endParaRPr>
          </a:p>
          <a:p>
            <a:pPr marL="457200" indent="-457200">
              <a:lnSpc>
                <a:spcPct val="150000"/>
              </a:lnSpc>
              <a:buFont typeface="+mj-lt"/>
              <a:buAutoNum type="arabicPeriod"/>
              <a:defRPr/>
            </a:pPr>
            <a:r>
              <a:rPr lang="zh-CN" altLang="en-US" sz="2400" dirty="0">
                <a:latin typeface="Arial" panose="020B0604020202020204" pitchFamily="34" charset="0"/>
              </a:rPr>
              <a:t>将项目工作与项目的财务和会计账目建立联系</a:t>
            </a:r>
            <a:endParaRPr lang="en-US" altLang="zh-CN" sz="2400" dirty="0">
              <a:latin typeface="Arial" panose="020B0604020202020204" pitchFamily="34" charset="0"/>
            </a:endParaRPr>
          </a:p>
          <a:p>
            <a:pPr marL="457200" indent="-457200">
              <a:lnSpc>
                <a:spcPct val="150000"/>
              </a:lnSpc>
              <a:buFont typeface="+mj-lt"/>
              <a:buAutoNum type="arabicPeriod"/>
              <a:defRPr/>
            </a:pPr>
            <a:r>
              <a:rPr lang="zh-CN" altLang="en-US" sz="2400" dirty="0">
                <a:latin typeface="Arial" panose="020B0604020202020204" pitchFamily="34" charset="0"/>
              </a:rPr>
              <a:t>确定工作内容和工作顺序</a:t>
            </a:r>
            <a:endParaRPr lang="en-US" altLang="zh-CN" sz="2400" dirty="0">
              <a:latin typeface="Arial" panose="020B0604020202020204" pitchFamily="34" charset="0"/>
            </a:endParaRPr>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3.4</a:t>
            </a:r>
            <a:r>
              <a:rPr lang="zh-CN" altLang="en-US" sz="2400" b="1" dirty="0">
                <a:solidFill>
                  <a:srgbClr val="01395C"/>
                </a:solidFill>
                <a:latin typeface="方正粗宋简体"/>
                <a:ea typeface="方正粗宋简体"/>
                <a:cs typeface="方正粗宋简体"/>
              </a:rPr>
              <a:t> 任务分解</a:t>
            </a:r>
            <a:endParaRPr lang="zh-CN" altLang="en-US" sz="2400" b="1" dirty="0">
              <a:solidFill>
                <a:srgbClr val="01395C"/>
              </a:solidFill>
              <a:latin typeface="方正粗宋简体"/>
              <a:ea typeface="方正粗宋简体"/>
              <a:cs typeface="方正粗宋简体"/>
            </a:endParaRPr>
          </a:p>
        </p:txBody>
      </p:sp>
      <p:pic>
        <p:nvPicPr>
          <p:cNvPr id="79875"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98663" y="603250"/>
            <a:ext cx="8194675" cy="673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3.4</a:t>
            </a:r>
            <a:r>
              <a:rPr lang="zh-CN" altLang="en-US" sz="2400" b="1" dirty="0">
                <a:solidFill>
                  <a:srgbClr val="01395C"/>
                </a:solidFill>
                <a:latin typeface="方正粗宋简体"/>
                <a:ea typeface="方正粗宋简体"/>
                <a:cs typeface="方正粗宋简体"/>
              </a:rPr>
              <a:t> 任务分解</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539750" y="912813"/>
            <a:ext cx="6688138" cy="3348037"/>
          </a:xfrm>
          <a:prstGeom prst="rect">
            <a:avLst/>
          </a:prstGeom>
          <a:noFill/>
        </p:spPr>
        <p:txBody>
          <a:bodyPr>
            <a:spAutoFit/>
          </a:bodyPr>
          <a:lstStyle/>
          <a:p>
            <a:pPr>
              <a:lnSpc>
                <a:spcPct val="150000"/>
              </a:lnSpc>
              <a:defRPr/>
            </a:pPr>
            <a:r>
              <a:rPr lang="zh-CN" altLang="en-US" sz="2400" dirty="0">
                <a:solidFill>
                  <a:srgbClr val="C00000"/>
                </a:solidFill>
                <a:latin typeface="Arial" panose="020B0604020202020204" pitchFamily="34" charset="0"/>
              </a:rPr>
              <a:t>任务分解的基本步骤：</a:t>
            </a:r>
            <a:endParaRPr lang="en-US" altLang="zh-CN" sz="2400" dirty="0">
              <a:solidFill>
                <a:srgbClr val="C00000"/>
              </a:solidFill>
              <a:latin typeface="Arial" panose="020B0604020202020204" pitchFamily="34" charset="0"/>
            </a:endParaRPr>
          </a:p>
          <a:p>
            <a:pPr marL="457200" indent="-457200">
              <a:lnSpc>
                <a:spcPct val="150000"/>
              </a:lnSpc>
              <a:buFont typeface="+mj-lt"/>
              <a:buAutoNum type="arabicPeriod"/>
              <a:defRPr/>
            </a:pPr>
            <a:r>
              <a:rPr lang="zh-CN" altLang="en-US" sz="2400" dirty="0">
                <a:latin typeface="Arial" panose="020B0604020202020204" pitchFamily="34" charset="0"/>
              </a:rPr>
              <a:t>确认并分解项目的组成要素（</a:t>
            </a:r>
            <a:r>
              <a:rPr lang="en-US" altLang="zh-CN" sz="2400" dirty="0">
                <a:latin typeface="Arial" panose="020B0604020202020204" pitchFamily="34" charset="0"/>
              </a:rPr>
              <a:t>WBS</a:t>
            </a:r>
            <a:r>
              <a:rPr lang="zh-CN" altLang="en-US" sz="2400" dirty="0">
                <a:latin typeface="Arial" panose="020B0604020202020204" pitchFamily="34" charset="0"/>
              </a:rPr>
              <a:t>编号）</a:t>
            </a:r>
            <a:endParaRPr lang="en-US" altLang="zh-CN" sz="2400" dirty="0">
              <a:latin typeface="Arial" panose="020B0604020202020204" pitchFamily="34" charset="0"/>
            </a:endParaRPr>
          </a:p>
          <a:p>
            <a:pPr marL="457200" indent="-457200">
              <a:lnSpc>
                <a:spcPct val="150000"/>
              </a:lnSpc>
              <a:buFont typeface="+mj-lt"/>
              <a:buAutoNum type="arabicPeriod"/>
              <a:defRPr/>
            </a:pPr>
            <a:r>
              <a:rPr lang="zh-CN" altLang="en-US" sz="2400" dirty="0">
                <a:latin typeface="Arial" panose="020B0604020202020204" pitchFamily="34" charset="0"/>
              </a:rPr>
              <a:t>确定分解标准</a:t>
            </a:r>
            <a:endParaRPr lang="en-US" altLang="zh-CN" sz="2400" dirty="0">
              <a:latin typeface="Arial" panose="020B0604020202020204" pitchFamily="34" charset="0"/>
            </a:endParaRPr>
          </a:p>
          <a:p>
            <a:pPr marL="457200" indent="-457200">
              <a:lnSpc>
                <a:spcPct val="150000"/>
              </a:lnSpc>
              <a:buFont typeface="+mj-lt"/>
              <a:buAutoNum type="arabicPeriod"/>
              <a:defRPr/>
            </a:pPr>
            <a:r>
              <a:rPr lang="zh-CN" altLang="en-US" sz="2400" dirty="0">
                <a:latin typeface="Arial" panose="020B0604020202020204" pitchFamily="34" charset="0"/>
              </a:rPr>
              <a:t>确定分解是否详细</a:t>
            </a:r>
            <a:endParaRPr lang="en-US" altLang="zh-CN" sz="2400" dirty="0">
              <a:latin typeface="Arial" panose="020B0604020202020204" pitchFamily="34" charset="0"/>
            </a:endParaRPr>
          </a:p>
          <a:p>
            <a:pPr marL="457200" indent="-457200">
              <a:lnSpc>
                <a:spcPct val="150000"/>
              </a:lnSpc>
              <a:buFont typeface="+mj-lt"/>
              <a:buAutoNum type="arabicPeriod"/>
              <a:defRPr/>
            </a:pPr>
            <a:r>
              <a:rPr lang="zh-CN" altLang="en-US" sz="2400" dirty="0">
                <a:latin typeface="Arial" panose="020B0604020202020204" pitchFamily="34" charset="0"/>
              </a:rPr>
              <a:t>确定项目交付成果（可以编制</a:t>
            </a:r>
            <a:r>
              <a:rPr lang="en-US" altLang="zh-CN" sz="2400" dirty="0">
                <a:latin typeface="Arial" panose="020B0604020202020204" pitchFamily="34" charset="0"/>
              </a:rPr>
              <a:t>WBS</a:t>
            </a:r>
            <a:r>
              <a:rPr lang="zh-CN" altLang="en-US" sz="2400" dirty="0">
                <a:latin typeface="Arial" panose="020B0604020202020204" pitchFamily="34" charset="0"/>
              </a:rPr>
              <a:t>字典）</a:t>
            </a:r>
            <a:endParaRPr lang="en-US" altLang="zh-CN" sz="2400" dirty="0">
              <a:latin typeface="Arial" panose="020B0604020202020204" pitchFamily="34" charset="0"/>
            </a:endParaRPr>
          </a:p>
          <a:p>
            <a:pPr marL="457200" indent="-457200">
              <a:lnSpc>
                <a:spcPct val="150000"/>
              </a:lnSpc>
              <a:buFont typeface="+mj-lt"/>
              <a:buAutoNum type="arabicPeriod"/>
              <a:defRPr/>
            </a:pPr>
            <a:r>
              <a:rPr lang="zh-CN" altLang="en-US" sz="2400" dirty="0">
                <a:latin typeface="Arial" panose="020B0604020202020204" pitchFamily="34" charset="0"/>
              </a:rPr>
              <a:t>验证分解的正确性</a:t>
            </a:r>
            <a:endParaRPr lang="en-US" altLang="zh-CN" sz="2400" dirty="0">
              <a:latin typeface="Arial" panose="020B0604020202020204" pitchFamily="34" charset="0"/>
            </a:endParaRPr>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3.4</a:t>
            </a:r>
            <a:r>
              <a:rPr lang="zh-CN" altLang="en-US" sz="2400" b="1" dirty="0">
                <a:solidFill>
                  <a:srgbClr val="01395C"/>
                </a:solidFill>
                <a:latin typeface="方正粗宋简体"/>
                <a:ea typeface="方正粗宋简体"/>
                <a:cs typeface="方正粗宋简体"/>
              </a:rPr>
              <a:t> 任务分解</a:t>
            </a:r>
            <a:endParaRPr lang="zh-CN" altLang="en-US" sz="2400" b="1" dirty="0">
              <a:solidFill>
                <a:srgbClr val="01395C"/>
              </a:solidFill>
              <a:latin typeface="方正粗宋简体"/>
              <a:ea typeface="方正粗宋简体"/>
              <a:cs typeface="方正粗宋简体"/>
            </a:endParaRPr>
          </a:p>
        </p:txBody>
      </p:sp>
      <p:sp>
        <p:nvSpPr>
          <p:cNvPr id="6" name="文本框 5"/>
          <p:cNvSpPr txBox="1"/>
          <p:nvPr/>
        </p:nvSpPr>
        <p:spPr>
          <a:xfrm>
            <a:off x="539750" y="912813"/>
            <a:ext cx="11323638" cy="4456112"/>
          </a:xfrm>
          <a:prstGeom prst="rect">
            <a:avLst/>
          </a:prstGeom>
          <a:noFill/>
        </p:spPr>
        <p:txBody>
          <a:bodyPr>
            <a:spAutoFit/>
          </a:bodyPr>
          <a:lstStyle/>
          <a:p>
            <a:pPr>
              <a:lnSpc>
                <a:spcPct val="150000"/>
              </a:lnSpc>
              <a:defRPr/>
            </a:pPr>
            <a:r>
              <a:rPr lang="zh-CN" altLang="en-US" sz="2400" dirty="0">
                <a:solidFill>
                  <a:srgbClr val="C00000"/>
                </a:solidFill>
                <a:latin typeface="Arial" panose="020B0604020202020204" pitchFamily="34" charset="0"/>
              </a:rPr>
              <a:t>工作结构分解应把握的原则：</a:t>
            </a:r>
            <a:endParaRPr lang="en-US" altLang="zh-CN" sz="2400" dirty="0">
              <a:solidFill>
                <a:srgbClr val="C00000"/>
              </a:solidFill>
              <a:latin typeface="Arial" panose="020B0604020202020204" pitchFamily="34" charset="0"/>
            </a:endParaRPr>
          </a:p>
          <a:p>
            <a:pPr marL="342900" indent="-342900">
              <a:lnSpc>
                <a:spcPct val="150000"/>
              </a:lnSpc>
              <a:buFont typeface="Arial" panose="020B0604020202020204" pitchFamily="34" charset="0"/>
              <a:buChar char="•"/>
              <a:defRPr/>
            </a:pPr>
            <a:r>
              <a:rPr lang="zh-CN" altLang="en-US" sz="2400" dirty="0">
                <a:latin typeface="Arial" panose="020B0604020202020204" pitchFamily="34" charset="0"/>
              </a:rPr>
              <a:t>在各层次上保持项目的</a:t>
            </a:r>
            <a:r>
              <a:rPr lang="zh-CN" altLang="en-US" sz="2400" dirty="0">
                <a:solidFill>
                  <a:srgbClr val="C00000"/>
                </a:solidFill>
                <a:latin typeface="Arial" panose="020B0604020202020204" pitchFamily="34" charset="0"/>
              </a:rPr>
              <a:t>完整性</a:t>
            </a:r>
            <a:r>
              <a:rPr lang="zh-CN" altLang="en-US" sz="2400" dirty="0">
                <a:latin typeface="Arial" panose="020B0604020202020204" pitchFamily="34" charset="0"/>
              </a:rPr>
              <a:t>，避免遗漏必要的组成部分。</a:t>
            </a:r>
            <a:endParaRPr lang="en-US" altLang="zh-CN" sz="2400" dirty="0">
              <a:latin typeface="Arial" panose="020B0604020202020204" pitchFamily="34" charset="0"/>
            </a:endParaRPr>
          </a:p>
          <a:p>
            <a:pPr marL="342900" indent="-342900">
              <a:lnSpc>
                <a:spcPct val="150000"/>
              </a:lnSpc>
              <a:buFont typeface="Arial" panose="020B0604020202020204" pitchFamily="34" charset="0"/>
              <a:buChar char="•"/>
              <a:defRPr/>
            </a:pPr>
            <a:r>
              <a:rPr lang="zh-CN" altLang="en-US" sz="2400" dirty="0">
                <a:latin typeface="Arial" panose="020B0604020202020204" pitchFamily="34" charset="0"/>
              </a:rPr>
              <a:t>一个工作单元只能从属于某个上层单元，</a:t>
            </a:r>
            <a:r>
              <a:rPr lang="zh-CN" altLang="en-US" sz="2400" dirty="0">
                <a:solidFill>
                  <a:srgbClr val="C00000"/>
                </a:solidFill>
                <a:latin typeface="Arial" panose="020B0604020202020204" pitchFamily="34" charset="0"/>
              </a:rPr>
              <a:t>避免交叉从属</a:t>
            </a:r>
            <a:r>
              <a:rPr lang="zh-CN" altLang="en-US" sz="2400" dirty="0">
                <a:latin typeface="Arial" panose="020B0604020202020204" pitchFamily="34" charset="0"/>
              </a:rPr>
              <a:t>。</a:t>
            </a:r>
            <a:endParaRPr lang="en-US" altLang="zh-CN" sz="2400" dirty="0">
              <a:latin typeface="Arial" panose="020B0604020202020204" pitchFamily="34" charset="0"/>
            </a:endParaRPr>
          </a:p>
          <a:p>
            <a:pPr marL="342900" indent="-342900">
              <a:lnSpc>
                <a:spcPct val="150000"/>
              </a:lnSpc>
              <a:buFont typeface="Arial" panose="020B0604020202020204" pitchFamily="34" charset="0"/>
              <a:buChar char="•"/>
              <a:defRPr/>
            </a:pPr>
            <a:r>
              <a:rPr lang="zh-CN" altLang="en-US" sz="2400" dirty="0">
                <a:latin typeface="Arial" panose="020B0604020202020204" pitchFamily="34" charset="0"/>
              </a:rPr>
              <a:t>相同层次的工作单元应用</a:t>
            </a:r>
            <a:r>
              <a:rPr lang="zh-CN" altLang="en-US" sz="2400" dirty="0">
                <a:solidFill>
                  <a:srgbClr val="C00000"/>
                </a:solidFill>
                <a:latin typeface="Arial" panose="020B0604020202020204" pitchFamily="34" charset="0"/>
              </a:rPr>
              <a:t>相同性质</a:t>
            </a:r>
            <a:r>
              <a:rPr lang="zh-CN" altLang="en-US" sz="2400" dirty="0">
                <a:latin typeface="Arial" panose="020B0604020202020204" pitchFamily="34" charset="0"/>
              </a:rPr>
              <a:t>。</a:t>
            </a:r>
            <a:endParaRPr lang="en-US" altLang="zh-CN" sz="2400" dirty="0">
              <a:latin typeface="Arial" panose="020B0604020202020204" pitchFamily="34" charset="0"/>
            </a:endParaRPr>
          </a:p>
          <a:p>
            <a:pPr marL="342900" indent="-342900">
              <a:lnSpc>
                <a:spcPct val="150000"/>
              </a:lnSpc>
              <a:buFont typeface="Arial" panose="020B0604020202020204" pitchFamily="34" charset="0"/>
              <a:buChar char="•"/>
              <a:defRPr/>
            </a:pPr>
            <a:r>
              <a:rPr lang="zh-CN" altLang="en-US" sz="2400" dirty="0">
                <a:latin typeface="Arial" panose="020B0604020202020204" pitchFamily="34" charset="0"/>
              </a:rPr>
              <a:t>工作单元应能分开</a:t>
            </a:r>
            <a:r>
              <a:rPr lang="zh-CN" altLang="en-US" sz="2400" dirty="0">
                <a:solidFill>
                  <a:srgbClr val="C00000"/>
                </a:solidFill>
                <a:latin typeface="Arial" panose="020B0604020202020204" pitchFamily="34" charset="0"/>
              </a:rPr>
              <a:t>不同的责任者</a:t>
            </a:r>
            <a:r>
              <a:rPr lang="zh-CN" altLang="en-US" sz="2400" dirty="0">
                <a:latin typeface="Arial" panose="020B0604020202020204" pitchFamily="34" charset="0"/>
              </a:rPr>
              <a:t>和</a:t>
            </a:r>
            <a:r>
              <a:rPr lang="zh-CN" altLang="en-US" sz="2400" dirty="0">
                <a:solidFill>
                  <a:srgbClr val="C00000"/>
                </a:solidFill>
                <a:latin typeface="Arial" panose="020B0604020202020204" pitchFamily="34" charset="0"/>
              </a:rPr>
              <a:t>不同工作内容</a:t>
            </a:r>
            <a:r>
              <a:rPr lang="zh-CN" altLang="en-US" sz="2400" dirty="0">
                <a:latin typeface="Arial" panose="020B0604020202020204" pitchFamily="34" charset="0"/>
              </a:rPr>
              <a:t>。</a:t>
            </a:r>
            <a:endParaRPr lang="en-US" altLang="zh-CN" sz="2400" dirty="0">
              <a:latin typeface="Arial" panose="020B0604020202020204" pitchFamily="34" charset="0"/>
            </a:endParaRPr>
          </a:p>
          <a:p>
            <a:pPr marL="342900" indent="-342900">
              <a:lnSpc>
                <a:spcPct val="150000"/>
              </a:lnSpc>
              <a:buFont typeface="Arial" panose="020B0604020202020204" pitchFamily="34" charset="0"/>
              <a:buChar char="•"/>
              <a:defRPr/>
            </a:pPr>
            <a:r>
              <a:rPr lang="zh-CN" altLang="en-US" sz="2400" dirty="0">
                <a:latin typeface="Arial" panose="020B0604020202020204" pitchFamily="34" charset="0"/>
              </a:rPr>
              <a:t>便于项目管理</a:t>
            </a:r>
            <a:r>
              <a:rPr lang="zh-CN" altLang="en-US" sz="2400" dirty="0">
                <a:solidFill>
                  <a:srgbClr val="C00000"/>
                </a:solidFill>
                <a:latin typeface="Arial" panose="020B0604020202020204" pitchFamily="34" charset="0"/>
              </a:rPr>
              <a:t>计划、控制</a:t>
            </a:r>
            <a:r>
              <a:rPr lang="zh-CN" altLang="en-US" sz="2400" dirty="0">
                <a:latin typeface="Arial" panose="020B0604020202020204" pitchFamily="34" charset="0"/>
              </a:rPr>
              <a:t>的管理需要。</a:t>
            </a:r>
            <a:endParaRPr lang="en-US" altLang="zh-CN" sz="2400" dirty="0">
              <a:latin typeface="Arial" panose="020B0604020202020204" pitchFamily="34" charset="0"/>
            </a:endParaRPr>
          </a:p>
          <a:p>
            <a:pPr marL="342900" indent="-342900">
              <a:lnSpc>
                <a:spcPct val="150000"/>
              </a:lnSpc>
              <a:buFont typeface="Arial" panose="020B0604020202020204" pitchFamily="34" charset="0"/>
              <a:buChar char="•"/>
              <a:defRPr/>
            </a:pPr>
            <a:r>
              <a:rPr lang="zh-CN" altLang="en-US" sz="2400" dirty="0">
                <a:latin typeface="Arial" panose="020B0604020202020204" pitchFamily="34" charset="0"/>
              </a:rPr>
              <a:t>最底层工作应该具有可比性，是</a:t>
            </a:r>
            <a:r>
              <a:rPr lang="zh-CN" altLang="en-US" sz="2400" dirty="0">
                <a:solidFill>
                  <a:srgbClr val="C00000"/>
                </a:solidFill>
                <a:latin typeface="Arial" panose="020B0604020202020204" pitchFamily="34" charset="0"/>
              </a:rPr>
              <a:t>可管理</a:t>
            </a:r>
            <a:r>
              <a:rPr lang="zh-CN" altLang="en-US" sz="2400" dirty="0">
                <a:latin typeface="Arial" panose="020B0604020202020204" pitchFamily="34" charset="0"/>
              </a:rPr>
              <a:t>的，</a:t>
            </a:r>
            <a:r>
              <a:rPr lang="zh-CN" altLang="en-US" sz="2400" dirty="0">
                <a:solidFill>
                  <a:srgbClr val="C00000"/>
                </a:solidFill>
                <a:latin typeface="Arial" panose="020B0604020202020204" pitchFamily="34" charset="0"/>
              </a:rPr>
              <a:t>可定量检查</a:t>
            </a:r>
            <a:r>
              <a:rPr lang="zh-CN" altLang="en-US" sz="2400" dirty="0">
                <a:latin typeface="Arial" panose="020B0604020202020204" pitchFamily="34" charset="0"/>
              </a:rPr>
              <a:t>的。</a:t>
            </a:r>
            <a:endParaRPr lang="en-US" altLang="zh-CN" sz="2400" dirty="0">
              <a:latin typeface="Arial" panose="020B0604020202020204" pitchFamily="34" charset="0"/>
            </a:endParaRPr>
          </a:p>
          <a:p>
            <a:pPr marL="342900" indent="-342900">
              <a:lnSpc>
                <a:spcPct val="150000"/>
              </a:lnSpc>
              <a:buFont typeface="Arial" panose="020B0604020202020204" pitchFamily="34" charset="0"/>
              <a:buChar char="•"/>
              <a:defRPr/>
            </a:pPr>
            <a:r>
              <a:rPr lang="zh-CN" altLang="en-US" sz="2400" dirty="0">
                <a:latin typeface="Arial" panose="020B0604020202020204" pitchFamily="34" charset="0"/>
              </a:rPr>
              <a:t>应包括</a:t>
            </a:r>
            <a:r>
              <a:rPr lang="zh-CN" altLang="en-US" sz="2400" dirty="0">
                <a:solidFill>
                  <a:srgbClr val="C00000"/>
                </a:solidFill>
                <a:latin typeface="Arial" panose="020B0604020202020204" pitchFamily="34" charset="0"/>
              </a:rPr>
              <a:t>项目管理工作</a:t>
            </a:r>
            <a:r>
              <a:rPr lang="zh-CN" altLang="en-US" sz="2400" dirty="0">
                <a:latin typeface="Arial" panose="020B0604020202020204" pitchFamily="34" charset="0"/>
              </a:rPr>
              <a:t>（因为是项目具体工作的一部分），包括</a:t>
            </a:r>
            <a:r>
              <a:rPr lang="zh-CN" altLang="en-US" sz="2400" dirty="0">
                <a:solidFill>
                  <a:srgbClr val="C00000"/>
                </a:solidFill>
                <a:latin typeface="Arial" panose="020B0604020202020204" pitchFamily="34" charset="0"/>
              </a:rPr>
              <a:t>分包</a:t>
            </a:r>
            <a:r>
              <a:rPr lang="zh-CN" altLang="en-US" sz="2400" dirty="0">
                <a:latin typeface="Arial" panose="020B0604020202020204" pitchFamily="34" charset="0"/>
              </a:rPr>
              <a:t>出去的工作。</a:t>
            </a:r>
            <a:endParaRPr lang="zh-CN" altLang="en-US" sz="2400" dirty="0"/>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3.4</a:t>
            </a:r>
            <a:r>
              <a:rPr lang="zh-CN" altLang="en-US" sz="2400" b="1" dirty="0">
                <a:solidFill>
                  <a:srgbClr val="01395C"/>
                </a:solidFill>
                <a:latin typeface="方正粗宋简体"/>
                <a:ea typeface="方正粗宋简体"/>
                <a:cs typeface="方正粗宋简体"/>
              </a:rPr>
              <a:t> 任务分解</a:t>
            </a:r>
            <a:endParaRPr lang="zh-CN" altLang="en-US" sz="2400" b="1" dirty="0">
              <a:solidFill>
                <a:srgbClr val="01395C"/>
              </a:solidFill>
              <a:latin typeface="方正粗宋简体"/>
              <a:ea typeface="方正粗宋简体"/>
              <a:cs typeface="方正粗宋简体"/>
            </a:endParaRPr>
          </a:p>
        </p:txBody>
      </p:sp>
      <p:sp>
        <p:nvSpPr>
          <p:cNvPr id="86019" name="文本框 4"/>
          <p:cNvSpPr txBox="1">
            <a:spLocks noChangeArrowheads="1"/>
          </p:cNvSpPr>
          <p:nvPr/>
        </p:nvSpPr>
        <p:spPr bwMode="auto">
          <a:xfrm>
            <a:off x="539750" y="912813"/>
            <a:ext cx="3273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r>
              <a:rPr lang="zh-CN" altLang="en-US" sz="2400"/>
              <a:t>工作分解结构表示形式</a:t>
            </a:r>
            <a:endParaRPr lang="zh-CN" altLang="en-US" sz="2400"/>
          </a:p>
        </p:txBody>
      </p:sp>
      <p:sp>
        <p:nvSpPr>
          <p:cNvPr id="6" name="文本框 5"/>
          <p:cNvSpPr txBox="1"/>
          <p:nvPr/>
        </p:nvSpPr>
        <p:spPr>
          <a:xfrm>
            <a:off x="1141413" y="1385888"/>
            <a:ext cx="2736850" cy="1138237"/>
          </a:xfrm>
          <a:prstGeom prst="rect">
            <a:avLst/>
          </a:prstGeom>
          <a:noFill/>
        </p:spPr>
        <p:txBody>
          <a:bodyPr>
            <a:spAutoFit/>
          </a:bodyPr>
          <a:lstStyle/>
          <a:p>
            <a:pPr>
              <a:lnSpc>
                <a:spcPct val="150000"/>
              </a:lnSpc>
              <a:defRPr/>
            </a:pPr>
            <a:r>
              <a:rPr lang="zh-CN" altLang="en-US" sz="2400" dirty="0">
                <a:solidFill>
                  <a:schemeClr val="accent6">
                    <a:lumMod val="75000"/>
                  </a:schemeClr>
                </a:solidFill>
                <a:latin typeface="H-SS9-PK74820000b4d-Identity-H"/>
              </a:rPr>
              <a:t>分级的树型结构</a:t>
            </a:r>
            <a:endParaRPr lang="en-US" altLang="zh-CN" sz="2400" dirty="0">
              <a:solidFill>
                <a:schemeClr val="accent6">
                  <a:lumMod val="75000"/>
                </a:schemeClr>
              </a:solidFill>
              <a:latin typeface="H-SS9-PK74820000b4d-Identity-H"/>
            </a:endParaRPr>
          </a:p>
          <a:p>
            <a:pPr>
              <a:lnSpc>
                <a:spcPct val="150000"/>
              </a:lnSpc>
              <a:defRPr/>
            </a:pPr>
            <a:r>
              <a:rPr lang="zh-CN" altLang="en-US" sz="2400" dirty="0">
                <a:solidFill>
                  <a:schemeClr val="accent2">
                    <a:lumMod val="40000"/>
                    <a:lumOff val="60000"/>
                  </a:schemeClr>
                </a:solidFill>
                <a:latin typeface="H-SS9-PK74820000b4d-Identity-H"/>
              </a:rPr>
              <a:t>表格形式</a:t>
            </a:r>
            <a:endParaRPr lang="zh-CN" altLang="en-US" sz="2400" dirty="0">
              <a:solidFill>
                <a:schemeClr val="accent2">
                  <a:lumMod val="40000"/>
                  <a:lumOff val="60000"/>
                </a:schemeClr>
              </a:solidFill>
              <a:latin typeface="H-SS9-PK74820000b4d-Identity-H"/>
            </a:endParaRPr>
          </a:p>
        </p:txBody>
      </p:sp>
      <p:pic>
        <p:nvPicPr>
          <p:cNvPr id="86021" name="图片 2"/>
          <p:cNvPicPr>
            <a:picLocks noChangeAspect="1" noChangeArrowheads="1"/>
          </p:cNvPicPr>
          <p:nvPr/>
        </p:nvPicPr>
        <p:blipFill>
          <a:blip r:embed="rId1">
            <a:extLst>
              <a:ext uri="{28A0092B-C50C-407E-A947-70E740481C1C}">
                <a14:useLocalDpi xmlns:a14="http://schemas.microsoft.com/office/drawing/2010/main" val="0"/>
              </a:ext>
            </a:extLst>
          </a:blip>
          <a:srcRect b="410"/>
          <a:stretch>
            <a:fillRect/>
          </a:stretch>
        </p:blipFill>
        <p:spPr bwMode="auto">
          <a:xfrm>
            <a:off x="414338" y="2938463"/>
            <a:ext cx="5722937" cy="3960812"/>
          </a:xfrm>
          <a:prstGeom prst="rect">
            <a:avLst/>
          </a:prstGeom>
        </p:spPr>
        <p:style>
          <a:lnRef idx="2">
            <a:schemeClr val="accent1">
              <a:shade val="50000"/>
            </a:schemeClr>
          </a:lnRef>
          <a:fillRef idx="1">
            <a:schemeClr val="accent1"/>
          </a:fillRef>
          <a:effectRef idx="0">
            <a:schemeClr val="accent1"/>
          </a:effectRef>
          <a:fontRef idx="minor">
            <a:schemeClr val="lt1"/>
          </a:fontRef>
        </p:style>
      </p:pic>
      <p:pic>
        <p:nvPicPr>
          <p:cNvPr id="86022"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9625" y="1358900"/>
            <a:ext cx="7388225" cy="5540375"/>
          </a:xfrm>
          <a:prstGeom prst="rect">
            <a:avLst/>
          </a:prstGeom>
        </p:spPr>
        <p:style>
          <a:lnRef idx="2">
            <a:schemeClr val="accent2"/>
          </a:lnRef>
          <a:fillRef idx="1">
            <a:schemeClr val="lt1"/>
          </a:fillRef>
          <a:effectRef idx="0">
            <a:schemeClr val="accent2"/>
          </a:effectRef>
          <a:fontRef idx="minor">
            <a:schemeClr val="dk1"/>
          </a:fontRef>
        </p:style>
      </p:pic>
      <p:sp>
        <p:nvSpPr>
          <p:cNvPr id="86023" name="箭头: 右 6"/>
          <p:cNvSpPr>
            <a:spLocks noChangeArrowheads="1"/>
          </p:cNvSpPr>
          <p:nvPr/>
        </p:nvSpPr>
        <p:spPr bwMode="auto">
          <a:xfrm>
            <a:off x="3584575" y="1558925"/>
            <a:ext cx="792163" cy="350838"/>
          </a:xfrm>
          <a:prstGeom prst="rightArrow">
            <a:avLst>
              <a:gd name="adj1" fmla="val 50000"/>
              <a:gd name="adj2" fmla="val 50040"/>
            </a:avLst>
          </a:prstGeom>
          <a:solidFill>
            <a:schemeClr val="accent1"/>
          </a:solidFill>
          <a:ln w="9525" algn="ctr">
            <a:solidFill>
              <a:schemeClr val="tx1"/>
            </a:solidFill>
            <a:round/>
          </a:ln>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endParaRPr lang="zh-CN" altLang="en-US">
              <a:ea typeface="宋体" panose="02010600030101010101" pitchFamily="2" charset="-122"/>
            </a:endParaRPr>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文本框 5"/>
          <p:cNvSpPr txBox="1">
            <a:spLocks noChangeArrowheads="1"/>
          </p:cNvSpPr>
          <p:nvPr/>
        </p:nvSpPr>
        <p:spPr bwMode="auto">
          <a:xfrm>
            <a:off x="117475" y="1588"/>
            <a:ext cx="3663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r>
              <a:rPr lang="en-US" altLang="zh-CN" sz="2400" b="1" dirty="0">
                <a:solidFill>
                  <a:srgbClr val="01395C"/>
                </a:solidFill>
                <a:latin typeface="方正粗宋简体"/>
                <a:ea typeface="方正粗宋简体"/>
                <a:cs typeface="方正粗宋简体"/>
              </a:rPr>
              <a:t>3.4</a:t>
            </a:r>
            <a:r>
              <a:rPr lang="zh-CN" altLang="en-US" sz="2400" b="1" dirty="0">
                <a:solidFill>
                  <a:srgbClr val="01395C"/>
                </a:solidFill>
                <a:latin typeface="方正粗宋简体"/>
                <a:ea typeface="方正粗宋简体"/>
                <a:cs typeface="方正粗宋简体"/>
              </a:rPr>
              <a:t> 任务分解</a:t>
            </a:r>
            <a:endParaRPr lang="zh-CN" altLang="en-US" sz="2400" b="1" dirty="0">
              <a:solidFill>
                <a:srgbClr val="01395C"/>
              </a:solidFill>
              <a:latin typeface="方正粗宋简体"/>
              <a:ea typeface="方正粗宋简体"/>
              <a:cs typeface="方正粗宋简体"/>
            </a:endParaRPr>
          </a:p>
        </p:txBody>
      </p:sp>
      <p:pic>
        <p:nvPicPr>
          <p:cNvPr id="88067"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3175" y="912813"/>
            <a:ext cx="8050213" cy="603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8" name="文本框 4"/>
          <p:cNvSpPr txBox="1">
            <a:spLocks noChangeArrowheads="1"/>
          </p:cNvSpPr>
          <p:nvPr/>
        </p:nvSpPr>
        <p:spPr bwMode="auto">
          <a:xfrm>
            <a:off x="539750" y="912813"/>
            <a:ext cx="3273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r>
              <a:rPr lang="zh-CN" altLang="en-US" sz="2400"/>
              <a:t>工作分解结构表示形式</a:t>
            </a:r>
            <a:endParaRPr lang="zh-CN" altLang="en-US" sz="2400"/>
          </a:p>
        </p:txBody>
      </p:sp>
      <p:sp>
        <p:nvSpPr>
          <p:cNvPr id="5" name="文本框 4"/>
          <p:cNvSpPr txBox="1"/>
          <p:nvPr/>
        </p:nvSpPr>
        <p:spPr>
          <a:xfrm>
            <a:off x="1141413" y="1385888"/>
            <a:ext cx="2736850" cy="1138237"/>
          </a:xfrm>
          <a:prstGeom prst="rect">
            <a:avLst/>
          </a:prstGeom>
          <a:noFill/>
        </p:spPr>
        <p:txBody>
          <a:bodyPr>
            <a:spAutoFit/>
          </a:bodyPr>
          <a:lstStyle/>
          <a:p>
            <a:pPr>
              <a:lnSpc>
                <a:spcPct val="150000"/>
              </a:lnSpc>
              <a:defRPr/>
            </a:pPr>
            <a:r>
              <a:rPr lang="zh-CN" altLang="en-US" sz="2400" dirty="0">
                <a:solidFill>
                  <a:schemeClr val="accent2">
                    <a:lumMod val="40000"/>
                    <a:lumOff val="60000"/>
                  </a:schemeClr>
                </a:solidFill>
                <a:latin typeface="H-SS9-PK74820000b4d-Identity-H"/>
              </a:rPr>
              <a:t>分级的树型结构</a:t>
            </a:r>
            <a:endParaRPr lang="en-US" altLang="zh-CN" sz="2400" dirty="0">
              <a:solidFill>
                <a:schemeClr val="accent2">
                  <a:lumMod val="40000"/>
                  <a:lumOff val="60000"/>
                </a:schemeClr>
              </a:solidFill>
              <a:latin typeface="H-SS9-PK74820000b4d-Identity-H"/>
            </a:endParaRPr>
          </a:p>
          <a:p>
            <a:pPr>
              <a:lnSpc>
                <a:spcPct val="150000"/>
              </a:lnSpc>
              <a:defRPr/>
            </a:pPr>
            <a:r>
              <a:rPr lang="zh-CN" altLang="en-US" sz="2400" dirty="0">
                <a:solidFill>
                  <a:schemeClr val="accent6">
                    <a:lumMod val="75000"/>
                  </a:schemeClr>
                </a:solidFill>
                <a:latin typeface="H-SS9-PK74820000b4d-Identity-H"/>
              </a:rPr>
              <a:t>表格形式</a:t>
            </a:r>
            <a:endParaRPr lang="zh-CN" altLang="en-US" sz="2400" dirty="0">
              <a:solidFill>
                <a:schemeClr val="accent6">
                  <a:lumMod val="75000"/>
                </a:schemeClr>
              </a:solidFill>
            </a:endParaRPr>
          </a:p>
        </p:txBody>
      </p:sp>
      <p:sp>
        <p:nvSpPr>
          <p:cNvPr id="88070" name="箭头: 右 7"/>
          <p:cNvSpPr>
            <a:spLocks noChangeArrowheads="1"/>
          </p:cNvSpPr>
          <p:nvPr/>
        </p:nvSpPr>
        <p:spPr bwMode="auto">
          <a:xfrm>
            <a:off x="2735263" y="2112963"/>
            <a:ext cx="849312" cy="280987"/>
          </a:xfrm>
          <a:prstGeom prst="rightArrow">
            <a:avLst>
              <a:gd name="adj1" fmla="val 50000"/>
              <a:gd name="adj2" fmla="val 50181"/>
            </a:avLst>
          </a:prstGeom>
          <a:solidFill>
            <a:schemeClr val="accent1"/>
          </a:solidFill>
          <a:ln w="9525" algn="ctr">
            <a:solidFill>
              <a:schemeClr val="tx1"/>
            </a:solidFill>
            <a:round/>
          </a:ln>
        </p:spPr>
        <p:txBody>
          <a:bodyPr/>
          <a:lstStyle>
            <a:lvl1pPr>
              <a:defRPr>
                <a:solidFill>
                  <a:schemeClr val="tx1"/>
                </a:solidFill>
                <a:latin typeface="Impact" panose="020B0806030902050204" pitchFamily="34" charset="0"/>
                <a:ea typeface="微软雅黑" panose="020B0503020204020204" pitchFamily="34" charset="-122"/>
              </a:defRPr>
            </a:lvl1pPr>
            <a:lvl2pPr marL="742950" indent="-285750">
              <a:defRPr>
                <a:solidFill>
                  <a:schemeClr val="tx1"/>
                </a:solidFill>
                <a:latin typeface="Impact" panose="020B0806030902050204" pitchFamily="34" charset="0"/>
                <a:ea typeface="微软雅黑" panose="020B0503020204020204" pitchFamily="34" charset="-122"/>
              </a:defRPr>
            </a:lvl2pPr>
            <a:lvl3pPr marL="1143000" indent="-228600">
              <a:defRPr>
                <a:solidFill>
                  <a:schemeClr val="tx1"/>
                </a:solidFill>
                <a:latin typeface="Impact" panose="020B0806030902050204" pitchFamily="34" charset="0"/>
                <a:ea typeface="微软雅黑" panose="020B0503020204020204" pitchFamily="34" charset="-122"/>
              </a:defRPr>
            </a:lvl3pPr>
            <a:lvl4pPr marL="1600200" indent="-228600">
              <a:defRPr>
                <a:solidFill>
                  <a:schemeClr val="tx1"/>
                </a:solidFill>
                <a:latin typeface="Impact" panose="020B0806030902050204" pitchFamily="34" charset="0"/>
                <a:ea typeface="微软雅黑" panose="020B0503020204020204" pitchFamily="34" charset="-122"/>
              </a:defRPr>
            </a:lvl4pPr>
            <a:lvl5pPr marL="2057400" indent="-228600">
              <a:defRPr>
                <a:solidFill>
                  <a:schemeClr val="tx1"/>
                </a:solidFill>
                <a:latin typeface="Impact" panose="020B080603090205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Impact" panose="020B0806030902050204" pitchFamily="34" charset="0"/>
                <a:ea typeface="微软雅黑" panose="020B0503020204020204" pitchFamily="34" charset="-122"/>
              </a:defRPr>
            </a:lvl9pPr>
          </a:lstStyle>
          <a:p>
            <a:pPr eaLnBrk="1" hangingPunct="1">
              <a:buFont typeface="Arial" panose="020B0604020202020204" pitchFamily="34" charset="0"/>
              <a:buNone/>
            </a:pPr>
            <a:endParaRPr lang="zh-CN" altLang="en-US">
              <a:ea typeface="宋体" panose="02010600030101010101" pitchFamily="2" charset="-122"/>
            </a:endParaRPr>
          </a:p>
        </p:txBody>
      </p:sp>
      <p:sp>
        <p:nvSpPr>
          <p:cNvPr id="2" name="灯片编号占位符 1"/>
          <p:cNvSpPr>
            <a:spLocks noGrp="1"/>
          </p:cNvSpPr>
          <p:nvPr>
            <p:ph type="sldNum" sz="quarter" idx="12"/>
          </p:nvPr>
        </p:nvSpPr>
        <p:spPr/>
        <p:txBody>
          <a:bodyPr/>
          <a:p>
            <a:pPr>
              <a:defRPr/>
            </a:pPr>
            <a:fld id="{E6407E92-E445-4657-B64C-BE059AB20FBD}" type="slidenum">
              <a:rPr altLang="en-US"/>
            </a:fld>
            <a:endParaRPr lang="zh-CN" altLang="en-US"/>
          </a:p>
        </p:txBody>
      </p:sp>
    </p:spTree>
  </p:cSld>
  <p:clrMapOvr>
    <a:masterClrMapping/>
  </p:clrMapOvr>
  <p:transition spd="slow"/>
</p:sld>
</file>

<file path=ppt/tags/tag1.xml><?xml version="1.0" encoding="utf-8"?>
<p:tagLst xmlns:p="http://schemas.openxmlformats.org/presentationml/2006/main">
  <p:tag name="COMMONDATA" val="eyJoZGlkIjoiZmJmZTY0MmZjYjFiMjgwOTI0Y2I4NTdjZmUxMzMyMGM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Office 主题">
      <a:majorFont>
        <a:latin typeface="Impact"/>
        <a:ea typeface="方正粗宋简体"/>
        <a:cs typeface="方正粗宋简体"/>
      </a:majorFont>
      <a:minorFont>
        <a:latin typeface="Impac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Office 主题">
      <a:majorFont>
        <a:latin typeface="Impact"/>
        <a:ea typeface="方正粗宋简体"/>
        <a:cs typeface="方正粗宋简体"/>
      </a:majorFont>
      <a:minorFont>
        <a:latin typeface="Impact"/>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Impact" panose="020B080603090205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4830</Words>
  <Application>WPS 演示</Application>
  <PresentationFormat>自定义</PresentationFormat>
  <Paragraphs>469</Paragraphs>
  <Slides>41</Slides>
  <Notes>40</Notes>
  <HiddenSlides>0</HiddenSlides>
  <MMClips>0</MMClips>
  <ScaleCrop>false</ScaleCrop>
  <HeadingPairs>
    <vt:vector size="8" baseType="variant">
      <vt:variant>
        <vt:lpstr>已用的字体</vt:lpstr>
      </vt:variant>
      <vt:variant>
        <vt:i4>18</vt:i4>
      </vt:variant>
      <vt:variant>
        <vt:lpstr>主题</vt:lpstr>
      </vt:variant>
      <vt:variant>
        <vt:i4>3</vt:i4>
      </vt:variant>
      <vt:variant>
        <vt:lpstr>嵌入 OLE 服务器</vt:lpstr>
      </vt:variant>
      <vt:variant>
        <vt:i4>1</vt:i4>
      </vt:variant>
      <vt:variant>
        <vt:lpstr>幻灯片标题</vt:lpstr>
      </vt:variant>
      <vt:variant>
        <vt:i4>41</vt:i4>
      </vt:variant>
    </vt:vector>
  </HeadingPairs>
  <TitlesOfParts>
    <vt:vector size="63" baseType="lpstr">
      <vt:lpstr>Arial</vt:lpstr>
      <vt:lpstr>宋体</vt:lpstr>
      <vt:lpstr>Wingdings</vt:lpstr>
      <vt:lpstr>Impact</vt:lpstr>
      <vt:lpstr>微软雅黑</vt:lpstr>
      <vt:lpstr>等线 Light</vt:lpstr>
      <vt:lpstr>方正粗宋简体</vt:lpstr>
      <vt:lpstr>Calibri</vt:lpstr>
      <vt:lpstr>方正舒体</vt:lpstr>
      <vt:lpstr>Arial Narrow</vt:lpstr>
      <vt:lpstr>Monotype Sorts</vt:lpstr>
      <vt:lpstr>SSJ-PK74820000b45-Identity-H</vt:lpstr>
      <vt:lpstr>Arial Unicode MS</vt:lpstr>
      <vt:lpstr>Wingdings</vt:lpstr>
      <vt:lpstr>等线</vt:lpstr>
      <vt:lpstr>Wingdings 2</vt:lpstr>
      <vt:lpstr>H-SS9-PK74820000b4d-Identity-H</vt:lpstr>
      <vt:lpstr>Segoe Print</vt:lpstr>
      <vt:lpstr>自定义设计方案</vt:lpstr>
      <vt:lpstr>1_Office 主题</vt:lpstr>
      <vt:lpstr>2_Office 主题</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邵浩</dc:creator>
  <cp:keywords>邵浩</cp:keywords>
  <cp:lastModifiedBy>蓝数码</cp:lastModifiedBy>
  <cp:revision>754</cp:revision>
  <dcterms:created xsi:type="dcterms:W3CDTF">2014-04-12T07:42:00Z</dcterms:created>
  <dcterms:modified xsi:type="dcterms:W3CDTF">2022-09-25T01:25:07Z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2052-11.1.0.12358</vt:lpwstr>
  </property>
  <property fmtid="{D5CDD505-2E9C-101B-9397-08002B2CF9AE}" pid="3" name="ICV">
    <vt:lpwstr>C2085C11B4284F77BDD25F9269845CD3</vt:lpwstr>
  </property>
</Properties>
</file>