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firstSlideNum="0">
  <p:sldMasterIdLst>
    <p:sldMasterId id="2147483648" r:id="rId1"/>
    <p:sldMasterId id="2147483660" r:id="rId3"/>
    <p:sldMasterId id="2147483663" r:id="rId4"/>
  </p:sldMasterIdLst>
  <p:notesMasterIdLst>
    <p:notesMasterId r:id="rId7"/>
  </p:notesMasterIdLst>
  <p:handoutMasterIdLst>
    <p:handoutMasterId r:id="rId38"/>
  </p:handoutMasterIdLst>
  <p:sldIdLst>
    <p:sldId id="256" r:id="rId5"/>
    <p:sldId id="762" r:id="rId6"/>
    <p:sldId id="610" r:id="rId8"/>
    <p:sldId id="746" r:id="rId9"/>
    <p:sldId id="761" r:id="rId10"/>
    <p:sldId id="769" r:id="rId11"/>
    <p:sldId id="767" r:id="rId12"/>
    <p:sldId id="768" r:id="rId13"/>
    <p:sldId id="759" r:id="rId14"/>
    <p:sldId id="764" r:id="rId15"/>
    <p:sldId id="765" r:id="rId16"/>
    <p:sldId id="763" r:id="rId17"/>
    <p:sldId id="775" r:id="rId18"/>
    <p:sldId id="770" r:id="rId19"/>
    <p:sldId id="698" r:id="rId20"/>
    <p:sldId id="734" r:id="rId21"/>
    <p:sldId id="700" r:id="rId22"/>
    <p:sldId id="696" r:id="rId23"/>
    <p:sldId id="774" r:id="rId24"/>
    <p:sldId id="658" r:id="rId25"/>
    <p:sldId id="614" r:id="rId26"/>
    <p:sldId id="673" r:id="rId27"/>
    <p:sldId id="771" r:id="rId28"/>
    <p:sldId id="683" r:id="rId29"/>
    <p:sldId id="772" r:id="rId30"/>
    <p:sldId id="674" r:id="rId31"/>
    <p:sldId id="686" r:id="rId32"/>
    <p:sldId id="685" r:id="rId33"/>
    <p:sldId id="773" r:id="rId34"/>
    <p:sldId id="681" r:id="rId35"/>
    <p:sldId id="680" r:id="rId36"/>
    <p:sldId id="758" r:id="rId37"/>
  </p:sldIdLst>
  <p:sldSz cx="12192000" cy="7560945"/>
  <p:notesSz cx="6858000" cy="9144000"/>
  <p:custDataLst>
    <p:tags r:id="rId43"/>
  </p:custDataLst>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489" userDrawn="1">
          <p15:clr>
            <a:srgbClr val="A4A3A4"/>
          </p15:clr>
        </p15:guide>
        <p15:guide id="2" pos="384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磊" initials="杨"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FF9900"/>
    <a:srgbClr val="0000FF"/>
    <a:srgbClr val="DBD600"/>
    <a:srgbClr val="8BBF20"/>
    <a:srgbClr val="F0F977"/>
    <a:srgbClr val="A50021"/>
    <a:srgbClr val="038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2" autoAdjust="0"/>
    <p:restoredTop sz="85673" autoAdjust="0"/>
  </p:normalViewPr>
  <p:slideViewPr>
    <p:cSldViewPr snapToGrid="0" snapToObjects="1" showGuides="1">
      <p:cViewPr varScale="1">
        <p:scale>
          <a:sx n="52" d="100"/>
          <a:sy n="52" d="100"/>
        </p:scale>
        <p:origin x="1398" y="51"/>
      </p:cViewPr>
      <p:guideLst>
        <p:guide orient="horz" pos="2489"/>
        <p:guide pos="38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3" Type="http://schemas.openxmlformats.org/officeDocument/2006/relationships/tags" Target="tags/tag1.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vl1pPr>
          </a:lstStyle>
          <a:p>
            <a:pPr>
              <a:defRPr/>
            </a:pPr>
            <a:fld id="{3E19670D-C869-4A5D-A780-D41936B3781A}" type="slidenum">
              <a:rPr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atin typeface="Calibri" panose="020F0502020204030204" pitchFamily="34" charset="0"/>
                <a:ea typeface="宋体" panose="02010600030101010101" pitchFamily="2" charset="-122"/>
              </a:defRPr>
            </a:lvl1pPr>
          </a:lstStyle>
          <a:p>
            <a:pPr>
              <a:defRPr/>
            </a:pPr>
            <a:fld id="{9ABF73B3-AB42-43BE-BB63-9452E30E81D8}" type="slidenum">
              <a:rPr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a:solidFill>
              <a:srgbClr val="000000"/>
            </a:solidFill>
            <a:miter lim="800000"/>
          </a:ln>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endParaRPr lang="en-US" altLang="zh-CN" dirty="0"/>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4985577-8461-4E40-A0A2-C7E9F9E56771}" type="slidenum">
              <a:rPr altLang="en-US" smtClean="0">
                <a:latin typeface="Calibri" panose="020F0502020204030204" pitchFamily="34" charset="0"/>
                <a:ea typeface="宋体" panose="02010600030101010101" pitchFamily="2" charset="-122"/>
              </a:rPr>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a:noFill/>
        </p:spPr>
        <p:txBody>
          <a:bodyPr/>
          <a:lstStyle/>
          <a:p>
            <a:endParaRPr lang="zh-CN" altLang="en-US"/>
          </a:p>
        </p:txBody>
      </p:sp>
      <p:sp>
        <p:nvSpPr>
          <p:cNvPr id="81924" name="灯片编号占位符 3"/>
          <p:cNvSpPr>
            <a:spLocks noGrp="1"/>
          </p:cNvSpPr>
          <p:nvPr>
            <p:ph type="sldNum" sz="quarter" idx="5"/>
          </p:nvPr>
        </p:nvSpPr>
        <p:spPr>
          <a:noFill/>
        </p:spPr>
        <p:txBody>
          <a:bodyPr/>
          <a:lstStyle>
            <a:lvl1pPr eaLnBrk="0" hangingPunct="0">
              <a:spcBef>
                <a:spcPct val="30000"/>
              </a:spcBef>
              <a:buSzPct val="55000"/>
              <a:buFont typeface="Monotype Sorts" charset="0"/>
              <a:buChar char="n"/>
              <a:defRPr kumimoji="1" sz="1200">
                <a:solidFill>
                  <a:schemeClr val="tx1"/>
                </a:solidFill>
                <a:latin typeface="Arial Narrow" panose="020B0606020202030204" pitchFamily="34" charset="0"/>
                <a:ea typeface="宋体" panose="02010600030101010101" pitchFamily="2" charset="-122"/>
              </a:defRPr>
            </a:lvl1pPr>
            <a:lvl2pPr marL="742950" indent="-285750" eaLnBrk="0" hangingPunct="0">
              <a:spcBef>
                <a:spcPct val="30000"/>
              </a:spcBef>
              <a:buSzPct val="55000"/>
              <a:buFont typeface="Monotype Sorts" charset="0"/>
              <a:buChar char="l"/>
              <a:defRPr kumimoji="1" sz="1200">
                <a:solidFill>
                  <a:schemeClr val="tx1"/>
                </a:solidFill>
                <a:latin typeface="Arial Narrow" panose="020B0606020202030204" pitchFamily="34" charset="0"/>
                <a:ea typeface="宋体" panose="02010600030101010101" pitchFamily="2" charset="-122"/>
              </a:defRPr>
            </a:lvl2pPr>
            <a:lvl3pPr marL="1143000" indent="-228600" eaLnBrk="0" hangingPunct="0">
              <a:spcBef>
                <a:spcPct val="30000"/>
              </a:spcBef>
              <a:buSzPct val="59000"/>
              <a:buFont typeface="Monotype Sorts" charset="0"/>
              <a:buChar char="s"/>
              <a:defRPr kumimoji="1" sz="12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30000"/>
              </a:spcBef>
              <a:buSzPct val="59000"/>
              <a:buFont typeface="Monotype Sorts" charset="0"/>
              <a:buChar char="u"/>
              <a:defRPr kumimoji="1" sz="1200">
                <a:solidFill>
                  <a:schemeClr val="tx1"/>
                </a:solidFill>
                <a:latin typeface="Arial Narrow" panose="020B0606020202030204" pitchFamily="34" charset="0"/>
                <a:ea typeface="宋体" panose="02010600030101010101" pitchFamily="2" charset="-122"/>
              </a:defRPr>
            </a:lvl4pPr>
            <a:lvl5pPr marL="2057400" indent="-228600" eaLnBrk="0" hangingPunct="0">
              <a:spcBef>
                <a:spcPct val="30000"/>
              </a:spcBef>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buSzPct val="59000"/>
              <a:buFont typeface="Monotype Sorts" charset="0"/>
              <a:buChar char="w"/>
              <a:defRPr kumimoji="1" sz="1200">
                <a:solidFill>
                  <a:schemeClr val="tx1"/>
                </a:solidFill>
                <a:latin typeface="Arial Narrow" panose="020B0606020202030204" pitchFamily="34" charset="0"/>
                <a:ea typeface="宋体" panose="02010600030101010101" pitchFamily="2" charset="-122"/>
              </a:defRPr>
            </a:lvl9pPr>
          </a:lstStyle>
          <a:p>
            <a:pPr eaLnBrk="1" hangingPunct="1">
              <a:spcBef>
                <a:spcPct val="0"/>
              </a:spcBef>
              <a:buSzTx/>
              <a:buFontTx/>
              <a:buNone/>
            </a:pPr>
            <a:fld id="{8D0C8EBD-9F62-47BE-95A3-A7CC3EA7F157}" type="slidenum">
              <a:rPr lang="en-US" altLang="zh-CN"/>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38250"/>
            <a:ext cx="9144000" cy="2632075"/>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971925"/>
            <a:ext cx="914400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AF88477-48E1-4CF0-8EB9-142E499F754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FD1C6A-13D5-4BC6-A7E2-4B62A58330D4}"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C31440A-D864-41DC-B390-C88EBD02AB7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FD14F6-A94F-4B13-B731-9423223642F6}"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884363"/>
            <a:ext cx="10515600" cy="3146425"/>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5059363"/>
            <a:ext cx="105156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FFFB1509-6FBC-4C48-B835-222CC488B31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FA9CEB8-CD95-423D-BCDB-CEEDD13B9761}"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355C352-2F5B-4754-9125-2F91B0AA4EC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C4DC7C9-DB16-4362-B62B-EC67B9D20B38}"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403225"/>
            <a:ext cx="10515600" cy="146050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854200"/>
            <a:ext cx="5157787"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762250"/>
            <a:ext cx="5157787"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854200"/>
            <a:ext cx="5183188"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762250"/>
            <a:ext cx="5183188"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fld id="{ABF9E5F5-4F3C-4614-A20C-3DF1A6632E2A}"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890CA61-C042-4080-BBF8-D021CCA4086C}"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8424AE9-F93C-48C5-87A1-E423B835A9A1}"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96BF27D-831E-4312-BB77-8E0F1FC072FF}"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E530459-E9BD-452C-9837-2C09CDA8452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5A8566B-B98C-433A-A05B-3B09FBA20BBC}"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1089025"/>
            <a:ext cx="6172200"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A263C05-7030-494B-86A6-50B10EEB1B7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AD7715-F44A-4019-83F4-2F755408C5A8}"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1089025"/>
            <a:ext cx="6172200" cy="537368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A1B0C7C4-D140-417F-9901-FDB328CAE89E}"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70C33FD-8D31-44BA-84BB-39A9F3B21023}"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FBAB5F6-AEBA-4CAF-BAF6-C7FA61E49E9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018F51-F472-44A8-94EB-976086C94C6B}"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403225"/>
            <a:ext cx="2628900" cy="6407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403225"/>
            <a:ext cx="7734300" cy="640715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453F553-164D-4CA1-B5EB-33509E03399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486E0E-3EF3-4F79-BC03-ADB2ACD30997}"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A8AD41E0-BECD-40E0-9031-124EEDB14C5A}" type="slidenum">
              <a:rPr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lvl1pPr>
              <a:defRPr sz="2400"/>
            </a:lvl1pPr>
          </a:lstStyle>
          <a:p>
            <a:endParaRPr lang="en-US" dirty="0"/>
          </a:p>
        </p:txBody>
      </p:sp>
      <p:sp>
        <p:nvSpPr>
          <p:cNvPr id="27" name="内容占位符 26"/>
          <p:cNvSpPr>
            <a:spLocks noGrp="1"/>
          </p:cNvSpPr>
          <p:nvPr>
            <p:ph idx="1"/>
          </p:nvPr>
        </p:nvSpPr>
        <p:spPr/>
        <p:txBody>
          <a:bodyPr/>
          <a:lstStyle>
            <a:lvl1pPr marL="0" indent="0">
              <a:buNone/>
              <a:defRPr/>
            </a:lvl1pPr>
          </a:lstStyle>
          <a:p>
            <a:pPr lvl="0"/>
            <a:endParaRPr lang="en-US" dirty="0"/>
          </a:p>
        </p:txBody>
      </p:sp>
      <p:sp>
        <p:nvSpPr>
          <p:cNvPr id="4" name="日期占位符 24"/>
          <p:cNvSpPr>
            <a:spLocks noGrp="1"/>
          </p:cNvSpPr>
          <p:nvPr>
            <p:ph type="dt" sz="half" idx="10"/>
          </p:nvPr>
        </p:nvSpPr>
        <p:spPr>
          <a:xfrm>
            <a:off x="0" y="0"/>
            <a:ext cx="0" cy="0"/>
          </a:xfrm>
        </p:spPr>
        <p:txBody>
          <a:bodyPr/>
          <a:lstStyle>
            <a:lvl1pPr>
              <a:defRPr/>
            </a:lvl1pPr>
          </a:lstStyle>
          <a:p>
            <a:pPr>
              <a:defRPr/>
            </a:pPr>
            <a:endParaRPr lang="zh-CN" altLang="en-US" dirty="0"/>
          </a:p>
        </p:txBody>
      </p:sp>
      <p:sp>
        <p:nvSpPr>
          <p:cNvPr id="6" name="灯片编号占位符 15"/>
          <p:cNvSpPr>
            <a:spLocks noGrp="1"/>
          </p:cNvSpPr>
          <p:nvPr>
            <p:ph type="sldNum" sz="quarter" idx="12"/>
          </p:nvPr>
        </p:nvSpPr>
        <p:spPr>
          <a:xfrm>
            <a:off x="10972800" y="7137400"/>
            <a:ext cx="1011238" cy="273050"/>
          </a:xfrm>
        </p:spPr>
        <p:txBody>
          <a:bodyPr/>
          <a:lstStyle>
            <a:lvl1pPr>
              <a:defRPr/>
            </a:lvl1pPr>
          </a:lstStyle>
          <a:p>
            <a:pPr>
              <a:defRPr/>
            </a:pPr>
            <a:fld id="{E6407E92-E445-4657-B64C-BE059AB20FBD}" type="slidenum">
              <a:rPr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48FCA3E5-9AB8-4531-B86F-EBECED5A7283}" type="slidenum">
              <a:rPr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lvl1pPr>
              <a:defRPr sz="2400"/>
            </a:lvl1pPr>
          </a:lstStyle>
          <a:p>
            <a:endParaRPr lang="en-US" dirty="0"/>
          </a:p>
        </p:txBody>
      </p:sp>
      <p:sp>
        <p:nvSpPr>
          <p:cNvPr id="27" name="内容占位符 26"/>
          <p:cNvSpPr>
            <a:spLocks noGrp="1"/>
          </p:cNvSpPr>
          <p:nvPr>
            <p:ph idx="1"/>
          </p:nvPr>
        </p:nvSpPr>
        <p:spPr/>
        <p:txBody>
          <a:bodyPr/>
          <a:lstStyle>
            <a:lvl1pPr marL="0" indent="0">
              <a:buNone/>
              <a:defRPr/>
            </a:lvl1pPr>
          </a:lstStyle>
          <a:p>
            <a:pPr lvl="0"/>
            <a:endParaRPr lang="en-US" dirty="0"/>
          </a:p>
        </p:txBody>
      </p:sp>
      <p:sp>
        <p:nvSpPr>
          <p:cNvPr id="4" name="日期占位符 24"/>
          <p:cNvSpPr>
            <a:spLocks noGrp="1"/>
          </p:cNvSpPr>
          <p:nvPr>
            <p:ph type="dt" sz="half" idx="10"/>
          </p:nvPr>
        </p:nvSpPr>
        <p:spPr>
          <a:xfrm>
            <a:off x="0" y="0"/>
            <a:ext cx="0" cy="0"/>
          </a:xfrm>
        </p:spPr>
        <p:txBody>
          <a:bodyPr/>
          <a:lstStyle>
            <a:lvl1pPr>
              <a:defRPr/>
            </a:lvl1pPr>
          </a:lstStyle>
          <a:p>
            <a:pPr>
              <a:defRPr/>
            </a:pPr>
            <a:endParaRPr lang="zh-CN" altLang="en-US" dirty="0"/>
          </a:p>
        </p:txBody>
      </p:sp>
      <p:sp>
        <p:nvSpPr>
          <p:cNvPr id="6" name="灯片编号占位符 15"/>
          <p:cNvSpPr>
            <a:spLocks noGrp="1"/>
          </p:cNvSpPr>
          <p:nvPr>
            <p:ph type="sldNum" sz="quarter" idx="12"/>
          </p:nvPr>
        </p:nvSpPr>
        <p:spPr>
          <a:xfrm>
            <a:off x="10972800" y="7137400"/>
            <a:ext cx="1011238" cy="273050"/>
          </a:xfrm>
        </p:spPr>
        <p:txBody>
          <a:bodyPr/>
          <a:lstStyle>
            <a:lvl1pPr>
              <a:defRPr/>
            </a:lvl1pPr>
          </a:lstStyle>
          <a:p>
            <a:pPr>
              <a:defRPr/>
            </a:pPr>
            <a:fld id="{E6407E92-E445-4657-B64C-BE059AB20FBD}" type="slidenum">
              <a:rPr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403225"/>
            <a:ext cx="105156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2012950"/>
            <a:ext cx="105156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7008813"/>
            <a:ext cx="2743200" cy="40163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D24FCC2-23DF-4ADE-9E07-C5F5D3262469}" type="datetimeFigureOut">
              <a:rPr lang="zh-CN" altLang="en-US"/>
            </a:fld>
            <a:endParaRPr lang="zh-CN" altLang="en-US"/>
          </a:p>
        </p:txBody>
      </p:sp>
      <p:sp>
        <p:nvSpPr>
          <p:cNvPr id="5" name="页脚占位符 4"/>
          <p:cNvSpPr>
            <a:spLocks noGrp="1"/>
          </p:cNvSpPr>
          <p:nvPr>
            <p:ph type="ftr" sz="quarter" idx="3"/>
          </p:nvPr>
        </p:nvSpPr>
        <p:spPr>
          <a:xfrm>
            <a:off x="4038600" y="7008813"/>
            <a:ext cx="4114800"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7008813"/>
            <a:ext cx="2743200" cy="40163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56F0DA-45B5-44A3-9304-266A7B263D4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ECA731D4-A08D-45EE-9232-64CC33821BED}"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BE1E0957-E904-4AFC-A12B-0BC2BB8162F8}"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5.xml"/><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5.xml"/><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5.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hyperlink" Target="http://www.seatone.cn/pxtz.asp"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image" Target="../media/image1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image" Target="../media/image18.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70" name="矩形 1" hidden="1"/>
          <p:cNvSpPr>
            <a:spLocks noChangeArrowheads="1"/>
          </p:cNvSpPr>
          <p:nvPr/>
        </p:nvSpPr>
        <p:spPr bwMode="auto">
          <a:xfrm>
            <a:off x="-11113" y="4502150"/>
            <a:ext cx="12203113" cy="2192338"/>
          </a:xfrm>
          <a:custGeom>
            <a:avLst/>
            <a:gdLst>
              <a:gd name="T0" fmla="*/ 11430 w 12202851"/>
              <a:gd name="T1" fmla="*/ 0 h 1987781"/>
              <a:gd name="T2" fmla="*/ 12208423 w 12202851"/>
              <a:gd name="T3" fmla="*/ 5991325 h 1987781"/>
              <a:gd name="T4" fmla="*/ 12198031 w 12202851"/>
              <a:gd name="T5" fmla="*/ 18913193 h 1987781"/>
              <a:gd name="T6" fmla="*/ 0 w 12202851"/>
              <a:gd name="T7" fmla="*/ 18913193 h 1987781"/>
              <a:gd name="T8" fmla="*/ 11430 w 12202851"/>
              <a:gd name="T9" fmla="*/ 0 h 1987781"/>
              <a:gd name="T10" fmla="*/ 0 60000 65536"/>
              <a:gd name="T11" fmla="*/ 0 60000 65536"/>
              <a:gd name="T12" fmla="*/ 0 60000 65536"/>
              <a:gd name="T13" fmla="*/ 0 60000 65536"/>
              <a:gd name="T14" fmla="*/ 0 60000 65536"/>
              <a:gd name="T15" fmla="*/ 0 w 12202851"/>
              <a:gd name="T16" fmla="*/ 0 h 1987781"/>
              <a:gd name="T17" fmla="*/ 12202851 w 12202851"/>
              <a:gd name="T18" fmla="*/ 1987781 h 1987781"/>
            </a:gdLst>
            <a:ahLst/>
            <a:cxnLst>
              <a:cxn ang="T10">
                <a:pos x="T0" y="T1"/>
              </a:cxn>
              <a:cxn ang="T11">
                <a:pos x="T2" y="T3"/>
              </a:cxn>
              <a:cxn ang="T12">
                <a:pos x="T4" y="T5"/>
              </a:cxn>
              <a:cxn ang="T13">
                <a:pos x="T6" y="T7"/>
              </a:cxn>
              <a:cxn ang="T14">
                <a:pos x="T8" y="T9"/>
              </a:cxn>
            </a:cxnLst>
            <a:rect l="T15" t="T16" r="T17" b="T18"/>
            <a:pathLst>
              <a:path w="12202851" h="1987781">
                <a:moveTo>
                  <a:pt x="11430" y="0"/>
                </a:moveTo>
                <a:cubicBezTo>
                  <a:pt x="3514321" y="1818409"/>
                  <a:pt x="8046951" y="1697875"/>
                  <a:pt x="12202391" y="629689"/>
                </a:cubicBezTo>
                <a:cubicBezTo>
                  <a:pt x="12205855" y="1003762"/>
                  <a:pt x="12188536" y="1613708"/>
                  <a:pt x="12192000" y="1987781"/>
                </a:cubicBezTo>
                <a:lnTo>
                  <a:pt x="0" y="1987781"/>
                </a:lnTo>
                <a:lnTo>
                  <a:pt x="1143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171" name="组合 9"/>
          <p:cNvGrpSpPr/>
          <p:nvPr/>
        </p:nvGrpSpPr>
        <p:grpSpPr bwMode="auto">
          <a:xfrm>
            <a:off x="-3175" y="4502150"/>
            <a:ext cx="12203113" cy="3173413"/>
            <a:chOff x="0" y="0"/>
            <a:chExt cx="12202851" cy="2878281"/>
          </a:xfrm>
        </p:grpSpPr>
        <p:sp>
          <p:nvSpPr>
            <p:cNvPr id="7175" name="矩形 1"/>
            <p:cNvSpPr>
              <a:spLocks noChangeArrowheads="1"/>
            </p:cNvSpPr>
            <p:nvPr/>
          </p:nvSpPr>
          <p:spPr bwMode="auto">
            <a:xfrm>
              <a:off x="0" y="69113"/>
              <a:ext cx="12202851" cy="2331134"/>
            </a:xfrm>
            <a:custGeom>
              <a:avLst/>
              <a:gdLst>
                <a:gd name="T0" fmla="*/ 0 w 12202851"/>
                <a:gd name="T1" fmla="*/ 0 h 2330681"/>
                <a:gd name="T2" fmla="*/ 12202387 w 12202851"/>
                <a:gd name="T3" fmla="*/ 1034355 h 2330681"/>
                <a:gd name="T4" fmla="*/ 12192003 w 12202851"/>
                <a:gd name="T5" fmla="*/ 2341122 h 2330681"/>
                <a:gd name="T6" fmla="*/ 0 w 12202851"/>
                <a:gd name="T7" fmla="*/ 2341122 h 2330681"/>
                <a:gd name="T8" fmla="*/ 0 w 12202851"/>
                <a:gd name="T9" fmla="*/ 0 h 2330681"/>
                <a:gd name="T10" fmla="*/ 0 60000 65536"/>
                <a:gd name="T11" fmla="*/ 0 60000 65536"/>
                <a:gd name="T12" fmla="*/ 0 60000 65536"/>
                <a:gd name="T13" fmla="*/ 0 60000 65536"/>
                <a:gd name="T14" fmla="*/ 0 60000 65536"/>
                <a:gd name="T15" fmla="*/ 0 w 12202851"/>
                <a:gd name="T16" fmla="*/ 0 h 2330681"/>
                <a:gd name="T17" fmla="*/ 12202851 w 12202851"/>
                <a:gd name="T18" fmla="*/ 2330681 h 2330681"/>
              </a:gdLst>
              <a:ahLst/>
              <a:cxnLst>
                <a:cxn ang="T10">
                  <a:pos x="T0" y="T1"/>
                </a:cxn>
                <a:cxn ang="T11">
                  <a:pos x="T2" y="T3"/>
                </a:cxn>
                <a:cxn ang="T12">
                  <a:pos x="T4" y="T5"/>
                </a:cxn>
                <a:cxn ang="T13">
                  <a:pos x="T6" y="T7"/>
                </a:cxn>
                <a:cxn ang="T14">
                  <a:pos x="T8" y="T9"/>
                </a:cxn>
              </a:cxnLst>
              <a:rect l="T15" t="T16" r="T17" b="T18"/>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6" name="矩形 1"/>
            <p:cNvSpPr>
              <a:spLocks noChangeArrowheads="1"/>
            </p:cNvSpPr>
            <p:nvPr/>
          </p:nvSpPr>
          <p:spPr bwMode="auto">
            <a:xfrm>
              <a:off x="0" y="0"/>
              <a:ext cx="12202851" cy="2639264"/>
            </a:xfrm>
            <a:custGeom>
              <a:avLst/>
              <a:gdLst>
                <a:gd name="T0" fmla="*/ 0 w 12202851"/>
                <a:gd name="T1" fmla="*/ 0 h 2639291"/>
                <a:gd name="T2" fmla="*/ 12202387 w 12202851"/>
                <a:gd name="T3" fmla="*/ 1406607 h 2639291"/>
                <a:gd name="T4" fmla="*/ 12192003 w 12202851"/>
                <a:gd name="T5" fmla="*/ 2638673 h 2639291"/>
                <a:gd name="T6" fmla="*/ 0 w 12202851"/>
                <a:gd name="T7" fmla="*/ 2638673 h 2639291"/>
                <a:gd name="T8" fmla="*/ 0 w 12202851"/>
                <a:gd name="T9" fmla="*/ 0 h 2639291"/>
                <a:gd name="T10" fmla="*/ 0 60000 65536"/>
                <a:gd name="T11" fmla="*/ 0 60000 65536"/>
                <a:gd name="T12" fmla="*/ 0 60000 65536"/>
                <a:gd name="T13" fmla="*/ 0 60000 65536"/>
                <a:gd name="T14" fmla="*/ 0 60000 65536"/>
                <a:gd name="T15" fmla="*/ 0 w 12202851"/>
                <a:gd name="T16" fmla="*/ 0 h 2639291"/>
                <a:gd name="T17" fmla="*/ 12202851 w 12202851"/>
                <a:gd name="T18" fmla="*/ 2639291 h 2639291"/>
              </a:gdLst>
              <a:ahLst/>
              <a:cxnLst>
                <a:cxn ang="T10">
                  <a:pos x="T0" y="T1"/>
                </a:cxn>
                <a:cxn ang="T11">
                  <a:pos x="T2" y="T3"/>
                </a:cxn>
                <a:cxn ang="T12">
                  <a:pos x="T4" y="T5"/>
                </a:cxn>
                <a:cxn ang="T13">
                  <a:pos x="T6" y="T7"/>
                </a:cxn>
                <a:cxn ang="T14">
                  <a:pos x="T8" y="T9"/>
                </a:cxn>
              </a:cxnLst>
              <a:rect l="T15" t="T16" r="T17" b="T18"/>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7" name="矩形 1"/>
            <p:cNvSpPr>
              <a:spLocks noChangeArrowheads="1"/>
            </p:cNvSpPr>
            <p:nvPr/>
          </p:nvSpPr>
          <p:spPr bwMode="auto">
            <a:xfrm>
              <a:off x="0" y="10079"/>
              <a:ext cx="12193326" cy="2868202"/>
            </a:xfrm>
            <a:custGeom>
              <a:avLst/>
              <a:gdLst>
                <a:gd name="T0" fmla="*/ 0 w 12192999"/>
                <a:gd name="T1" fmla="*/ 0 h 2867891"/>
                <a:gd name="T2" fmla="*/ 12199529 w 12192999"/>
                <a:gd name="T3" fmla="*/ 1739616 h 2867891"/>
                <a:gd name="T4" fmla="*/ 12199529 w 12192999"/>
                <a:gd name="T5" fmla="*/ 2875055 h 2867891"/>
                <a:gd name="T6" fmla="*/ 0 w 12192999"/>
                <a:gd name="T7" fmla="*/ 2875055 h 2867891"/>
                <a:gd name="T8" fmla="*/ 0 w 12192999"/>
                <a:gd name="T9" fmla="*/ 0 h 2867891"/>
                <a:gd name="T10" fmla="*/ 0 60000 65536"/>
                <a:gd name="T11" fmla="*/ 0 60000 65536"/>
                <a:gd name="T12" fmla="*/ 0 60000 65536"/>
                <a:gd name="T13" fmla="*/ 0 60000 65536"/>
                <a:gd name="T14" fmla="*/ 0 60000 65536"/>
                <a:gd name="T15" fmla="*/ 0 w 12192999"/>
                <a:gd name="T16" fmla="*/ 0 h 2867891"/>
                <a:gd name="T17" fmla="*/ 12192999 w 12192999"/>
                <a:gd name="T18" fmla="*/ 2867891 h 2867891"/>
              </a:gdLst>
              <a:ahLst/>
              <a:cxnLst>
                <a:cxn ang="T10">
                  <a:pos x="T0" y="T1"/>
                </a:cxn>
                <a:cxn ang="T11">
                  <a:pos x="T2" y="T3"/>
                </a:cxn>
                <a:cxn ang="T12">
                  <a:pos x="T4" y="T5"/>
                </a:cxn>
                <a:cxn ang="T13">
                  <a:pos x="T6" y="T7"/>
                </a:cxn>
                <a:cxn ang="T14">
                  <a:pos x="T8" y="T9"/>
                </a:cxn>
              </a:cxnLst>
              <a:rect l="T15" t="T16" r="T17" b="T18"/>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139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7172" name="矩形 10"/>
          <p:cNvSpPr>
            <a:spLocks noChangeArrowheads="1"/>
          </p:cNvSpPr>
          <p:nvPr/>
        </p:nvSpPr>
        <p:spPr bwMode="auto">
          <a:xfrm>
            <a:off x="2008188" y="3097213"/>
            <a:ext cx="32623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山东建筑大学</a:t>
            </a:r>
            <a:endParaRPr lang="en-US" altLang="zh-CN" sz="2400" b="1">
              <a:solidFill>
                <a:srgbClr val="01395C"/>
              </a:solidFill>
              <a:latin typeface="方正粗宋简体"/>
              <a:ea typeface="方正粗宋简体"/>
              <a:cs typeface="方正粗宋简体"/>
            </a:endParaRPr>
          </a:p>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计算机科学与技术学院</a:t>
            </a:r>
            <a:endParaRPr lang="zh-CN" altLang="en-US" sz="2400" b="1">
              <a:solidFill>
                <a:srgbClr val="01395C"/>
              </a:solidFill>
              <a:latin typeface="方正粗宋简体"/>
              <a:ea typeface="方正粗宋简体"/>
              <a:cs typeface="方正粗宋简体"/>
            </a:endParaRPr>
          </a:p>
        </p:txBody>
      </p:sp>
      <p:sp>
        <p:nvSpPr>
          <p:cNvPr id="12296" name="标题 7"/>
          <p:cNvSpPr>
            <a:spLocks noChangeArrowheads="1"/>
          </p:cNvSpPr>
          <p:nvPr/>
        </p:nvSpPr>
        <p:spPr bwMode="auto">
          <a:xfrm>
            <a:off x="515360" y="900113"/>
            <a:ext cx="7097712" cy="779462"/>
          </a:xfrm>
          <a:prstGeom prst="rect">
            <a:avLst/>
          </a:prstGeom>
          <a:noFill/>
          <a:ln w="9525">
            <a:noFill/>
            <a:miter lim="800000"/>
          </a:ln>
        </p:spPr>
        <p:txBody>
          <a:bodyPr anchor="b"/>
          <a:lstStyle/>
          <a:p>
            <a:pPr algn="ctr" eaLnBrk="1" hangingPunct="1">
              <a:lnSpc>
                <a:spcPct val="90000"/>
              </a:lnSpc>
              <a:buFont typeface="Arial" panose="020B0604020202020204" pitchFamily="34" charset="0"/>
              <a:buNone/>
              <a:defRPr/>
            </a:pPr>
            <a:r>
              <a:rPr lang="zh-CN" altLang="en-US" sz="4400" b="1" dirty="0">
                <a:solidFill>
                  <a:srgbClr val="01395C"/>
                </a:solidFill>
                <a:latin typeface="+mj-lt"/>
                <a:ea typeface="+mj-ea"/>
                <a:cs typeface="+mj-cs"/>
                <a:sym typeface="+mn-ea"/>
              </a:rPr>
              <a:t>第</a:t>
            </a:r>
            <a:r>
              <a:rPr lang="en-US" altLang="zh-CN" sz="4400" b="1" dirty="0">
                <a:solidFill>
                  <a:srgbClr val="01395C"/>
                </a:solidFill>
                <a:latin typeface="+mj-lt"/>
                <a:ea typeface="+mj-ea"/>
                <a:cs typeface="+mj-cs"/>
                <a:sym typeface="+mn-ea"/>
              </a:rPr>
              <a:t>6</a:t>
            </a:r>
            <a:r>
              <a:rPr lang="zh-CN" altLang="en-US" sz="4400" b="1" dirty="0">
                <a:solidFill>
                  <a:srgbClr val="01395C"/>
                </a:solidFill>
                <a:latin typeface="+mj-lt"/>
                <a:ea typeface="+mj-ea"/>
                <a:cs typeface="+mj-cs"/>
                <a:sym typeface="+mn-ea"/>
              </a:rPr>
              <a:t>章 质量管理与配置管理</a:t>
            </a:r>
            <a:endParaRPr lang="zh-CN" altLang="en-US" sz="4400" b="1" dirty="0">
              <a:solidFill>
                <a:srgbClr val="01395C"/>
              </a:solidFill>
              <a:latin typeface="+mj-lt"/>
              <a:ea typeface="+mj-ea"/>
              <a:cs typeface="+mj-cs"/>
              <a:sym typeface="+mn-ea"/>
            </a:endParaRPr>
          </a:p>
        </p:txBody>
      </p:sp>
      <p:graphicFrame>
        <p:nvGraphicFramePr>
          <p:cNvPr id="7174" name="对象 7"/>
          <p:cNvGraphicFramePr/>
          <p:nvPr/>
        </p:nvGraphicFramePr>
        <p:xfrm>
          <a:off x="7267575" y="1328738"/>
          <a:ext cx="4232275" cy="4337050"/>
        </p:xfrm>
        <a:graphic>
          <a:graphicData uri="http://schemas.openxmlformats.org/presentationml/2006/ole">
            <mc:AlternateContent xmlns:mc="http://schemas.openxmlformats.org/markup-compatibility/2006">
              <mc:Choice xmlns:v="urn:schemas-microsoft-com:vml" Requires="v">
                <p:oleObj spid="_x0000_s7212" name="BMP 图像" r:id="rId1" imgW="5057775" imgH="4981575" progId="Paint.Picture">
                  <p:embed/>
                </p:oleObj>
              </mc:Choice>
              <mc:Fallback>
                <p:oleObj name="BMP 图像" r:id="rId1" imgW="5057775" imgH="4981575" progId="Paint.Picture">
                  <p:embed/>
                  <p:pic>
                    <p:nvPicPr>
                      <p:cNvPr id="0" name="对象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7575" y="1328738"/>
                        <a:ext cx="4232275"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67376" y="95122"/>
            <a:ext cx="3057247"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从项目验收谈起</a:t>
            </a:r>
            <a:endParaRPr lang="zh-CN" altLang="en-US" sz="3200" dirty="0"/>
          </a:p>
        </p:txBody>
      </p:sp>
      <p:sp>
        <p:nvSpPr>
          <p:cNvPr id="4" name="文本框 3"/>
          <p:cNvSpPr txBox="1"/>
          <p:nvPr/>
        </p:nvSpPr>
        <p:spPr>
          <a:xfrm>
            <a:off x="902287" y="1036667"/>
            <a:ext cx="4391893" cy="3329309"/>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zh-CN" altLang="en-US" sz="2800" dirty="0">
                <a:latin typeface="+mn-ea"/>
                <a:ea typeface="+mn-ea"/>
              </a:rPr>
              <a:t>什么是项目验收</a:t>
            </a:r>
            <a:endParaRPr lang="en-US" altLang="zh-CN" sz="2800" dirty="0">
              <a:latin typeface="+mn-ea"/>
              <a:ea typeface="+mn-ea"/>
            </a:endParaRPr>
          </a:p>
          <a:p>
            <a:pPr marL="457200" indent="-457200">
              <a:lnSpc>
                <a:spcPct val="150000"/>
              </a:lnSpc>
              <a:buFont typeface="Wingdings" panose="05000000000000000000" pitchFamily="2" charset="2"/>
              <a:buChar char="Ø"/>
            </a:pPr>
            <a:r>
              <a:rPr lang="zh-CN" altLang="en-US" sz="2800" dirty="0">
                <a:latin typeface="+mn-ea"/>
                <a:ea typeface="+mn-ea"/>
              </a:rPr>
              <a:t>项目验收流程</a:t>
            </a:r>
            <a:endParaRPr lang="en-US" altLang="zh-CN" sz="2800" dirty="0">
              <a:latin typeface="+mn-ea"/>
              <a:ea typeface="+mn-ea"/>
            </a:endParaRPr>
          </a:p>
          <a:p>
            <a:pPr marL="457200" indent="-457200">
              <a:lnSpc>
                <a:spcPct val="150000"/>
              </a:lnSpc>
              <a:buFont typeface="Wingdings" panose="05000000000000000000" pitchFamily="2" charset="2"/>
              <a:buChar char="Ø"/>
            </a:pPr>
            <a:r>
              <a:rPr lang="zh-CN" altLang="en-US" sz="2800" dirty="0">
                <a:latin typeface="+mn-ea"/>
                <a:ea typeface="+mn-ea"/>
              </a:rPr>
              <a:t>项目验收应做的准备</a:t>
            </a:r>
            <a:endParaRPr lang="en-US" altLang="zh-CN" sz="2800" dirty="0">
              <a:latin typeface="+mn-ea"/>
              <a:ea typeface="+mn-ea"/>
            </a:endParaRPr>
          </a:p>
          <a:p>
            <a:pPr marL="457200" indent="-457200">
              <a:lnSpc>
                <a:spcPct val="150000"/>
              </a:lnSpc>
              <a:buFont typeface="Wingdings" panose="05000000000000000000" pitchFamily="2" charset="2"/>
              <a:buChar char="Ø"/>
            </a:pPr>
            <a:r>
              <a:rPr lang="zh-CN" altLang="en-US" sz="2800" dirty="0">
                <a:latin typeface="+mn-ea"/>
                <a:ea typeface="+mn-ea"/>
              </a:rPr>
              <a:t>项目验收存在的问题</a:t>
            </a:r>
            <a:endParaRPr lang="en-US" altLang="zh-CN" sz="2800" dirty="0">
              <a:latin typeface="+mn-ea"/>
              <a:ea typeface="+mn-ea"/>
            </a:endParaRPr>
          </a:p>
          <a:p>
            <a:pPr>
              <a:lnSpc>
                <a:spcPct val="150000"/>
              </a:lnSpc>
            </a:pPr>
            <a:endParaRPr lang="zh-CN" altLang="en-US" sz="3200" dirty="0">
              <a:latin typeface="+mn-ea"/>
              <a:ea typeface="+mn-ea"/>
            </a:endParaRPr>
          </a:p>
        </p:txBody>
      </p:sp>
      <p:sp>
        <p:nvSpPr>
          <p:cNvPr id="5" name="AutoShape 2"/>
          <p:cNvSpPr>
            <a:spLocks noChangeAspect="1" noChangeArrowheads="1"/>
          </p:cNvSpPr>
          <p:nvPr/>
        </p:nvSpPr>
        <p:spPr bwMode="auto">
          <a:xfrm>
            <a:off x="5943600" y="36274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024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08073" y="818145"/>
            <a:ext cx="6063672" cy="6571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4049713" y="1001713"/>
            <a:ext cx="3412146"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800" b="1" dirty="0">
                <a:solidFill>
                  <a:srgbClr val="005EA4"/>
                </a:solidFill>
                <a:latin typeface="微软雅黑" panose="020B0503020204020204" pitchFamily="34" charset="-122"/>
              </a:rPr>
              <a:t>6.1 </a:t>
            </a:r>
            <a:r>
              <a:rPr lang="zh-CN" altLang="en-US" sz="2800" b="1" dirty="0">
                <a:solidFill>
                  <a:srgbClr val="005EA4"/>
                </a:solidFill>
                <a:latin typeface="微软雅黑" panose="020B0503020204020204" pitchFamily="34" charset="-122"/>
              </a:rPr>
              <a:t>项目质量的定义</a:t>
            </a:r>
            <a:endParaRPr lang="zh-CN" altLang="zh-CN" sz="2800" b="1" dirty="0">
              <a:solidFill>
                <a:srgbClr val="005EA4"/>
              </a:solidFill>
              <a:latin typeface="微软雅黑" panose="020B0503020204020204" pitchFamily="34" charset="-122"/>
            </a:endParaRPr>
          </a:p>
        </p:txBody>
      </p:sp>
      <p:sp>
        <p:nvSpPr>
          <p:cNvPr id="5" name="TextBox 4"/>
          <p:cNvSpPr txBox="1">
            <a:spLocks noChangeArrowheads="1"/>
          </p:cNvSpPr>
          <p:nvPr/>
        </p:nvSpPr>
        <p:spPr bwMode="auto">
          <a:xfrm>
            <a:off x="3925888" y="3273425"/>
            <a:ext cx="2442329"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en-US" altLang="zh-CN" sz="2800" b="1" dirty="0">
                <a:solidFill>
                  <a:srgbClr val="005EA4"/>
                </a:solidFill>
                <a:latin typeface="微软雅黑" panose="020B0503020204020204" pitchFamily="34" charset="-122"/>
              </a:rPr>
              <a:t>6.3 </a:t>
            </a:r>
            <a:r>
              <a:rPr lang="zh-CN" altLang="en-US" sz="2800" b="1" dirty="0">
                <a:solidFill>
                  <a:srgbClr val="005EA4"/>
                </a:solidFill>
                <a:latin typeface="微软雅黑" panose="020B0503020204020204" pitchFamily="34" charset="-122"/>
              </a:rPr>
              <a:t>质量保证</a:t>
            </a:r>
            <a:endParaRPr lang="zh-CN" altLang="zh-CN" sz="2800" b="1" dirty="0">
              <a:solidFill>
                <a:srgbClr val="005EA4"/>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讲</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解</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提</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纲</a:t>
            </a:r>
            <a:endPar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endParaRPr>
          </a:p>
        </p:txBody>
      </p:sp>
      <p:sp>
        <p:nvSpPr>
          <p:cNvPr id="8" name="文本框 52"/>
          <p:cNvSpPr txBox="1">
            <a:spLocks noChangeArrowheads="1"/>
          </p:cNvSpPr>
          <p:nvPr/>
        </p:nvSpPr>
        <p:spPr bwMode="auto">
          <a:xfrm>
            <a:off x="-96838" y="608013"/>
            <a:ext cx="3430588" cy="3968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b="1" spc="140" dirty="0">
                <a:solidFill>
                  <a:schemeClr val="bg1"/>
                </a:solidFill>
                <a:effectLst>
                  <a:outerShdw blurRad="38100" dist="38100" dir="2700000" algn="tl">
                    <a:srgbClr val="000000">
                      <a:alpha val="43137"/>
                    </a:srgbClr>
                  </a:outerShdw>
                </a:effectLst>
                <a:latin typeface="微软雅黑" panose="020B0503020204020204" pitchFamily="34" charset="-122"/>
              </a:rPr>
              <a:t>软件项目管理</a:t>
            </a:r>
            <a:endParaRPr lang="zh-CN" altLang="en-US" b="1" spc="140" dirty="0">
              <a:solidFill>
                <a:schemeClr val="bg1"/>
              </a:solidFill>
              <a:effectLst>
                <a:outerShdw blurRad="38100" dist="38100" dir="2700000" algn="tl">
                  <a:srgbClr val="000000">
                    <a:alpha val="43137"/>
                  </a:srgbClr>
                </a:outerShdw>
              </a:effectLst>
              <a:latin typeface="微软雅黑" panose="020B0503020204020204" pitchFamily="34" charset="-122"/>
            </a:endParaRP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endPar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endParaRPr>
          </a:p>
        </p:txBody>
      </p:sp>
      <p:cxnSp>
        <p:nvCxnSpPr>
          <p:cNvPr id="22" name="直接连接符 21"/>
          <p:cNvCxnSpPr/>
          <p:nvPr/>
        </p:nvCxnSpPr>
        <p:spPr>
          <a:xfrm>
            <a:off x="3476625" y="41560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4011613" y="2084388"/>
            <a:ext cx="2392187"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800" b="1" dirty="0">
                <a:solidFill>
                  <a:srgbClr val="005EA4"/>
                </a:solidFill>
                <a:latin typeface="微软雅黑" panose="020B0503020204020204" pitchFamily="34" charset="-122"/>
              </a:rPr>
              <a:t>6.2 </a:t>
            </a:r>
            <a:r>
              <a:rPr lang="zh-CN" altLang="en-US" sz="2800" b="1" dirty="0">
                <a:solidFill>
                  <a:srgbClr val="005EA4"/>
                </a:solidFill>
                <a:latin typeface="微软雅黑" panose="020B0503020204020204" pitchFamily="34" charset="-122"/>
              </a:rPr>
              <a:t>质量规划</a:t>
            </a:r>
            <a:endParaRPr lang="zh-CN" altLang="zh-CN" sz="2800" b="1" dirty="0">
              <a:solidFill>
                <a:srgbClr val="005EA4"/>
              </a:solidFill>
              <a:latin typeface="微软雅黑" panose="020B0503020204020204" pitchFamily="34" charset="-122"/>
            </a:endParaRPr>
          </a:p>
        </p:txBody>
      </p:sp>
      <p:cxnSp>
        <p:nvCxnSpPr>
          <p:cNvPr id="21" name="直接连接符 20"/>
          <p:cNvCxnSpPr/>
          <p:nvPr/>
        </p:nvCxnSpPr>
        <p:spPr>
          <a:xfrm>
            <a:off x="3459163" y="2911475"/>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48063" y="1828800"/>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24250"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2175" y="526732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965575" y="4340225"/>
            <a:ext cx="2442329"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en-US" altLang="zh-CN" sz="2800" b="1" dirty="0">
                <a:solidFill>
                  <a:srgbClr val="005EA4"/>
                </a:solidFill>
                <a:latin typeface="微软雅黑" panose="020B0503020204020204" pitchFamily="34" charset="-122"/>
              </a:rPr>
              <a:t>6.4 </a:t>
            </a:r>
            <a:r>
              <a:rPr lang="zh-CN" altLang="en-US" sz="2800" b="1" dirty="0">
                <a:solidFill>
                  <a:srgbClr val="005EA4"/>
                </a:solidFill>
                <a:latin typeface="微软雅黑" panose="020B0503020204020204" pitchFamily="34" charset="-122"/>
              </a:rPr>
              <a:t>质量控制</a:t>
            </a:r>
            <a:endParaRPr lang="zh-CN" altLang="zh-CN" sz="2800" b="1" dirty="0">
              <a:solidFill>
                <a:srgbClr val="005EA4"/>
              </a:solidFill>
              <a:latin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p:tgtEl>
                                          <p:spTgt spid="4"/>
                                        </p:tgtEl>
                                        <p:attrNameLst>
                                          <p:attrName>ppt_x</p:attrName>
                                        </p:attrNameLst>
                                      </p:cBhvr>
                                      <p:tavLst>
                                        <p:tav tm="0">
                                          <p:val>
                                            <p:strVal val="#ppt_x-#ppt_w*1.125000"/>
                                          </p:val>
                                        </p:tav>
                                        <p:tav tm="100000">
                                          <p:val>
                                            <p:strVal val="#ppt_x"/>
                                          </p:val>
                                        </p:tav>
                                      </p:tavLst>
                                    </p:anim>
                                    <p:animEffect transition="in" filter="wipe(right)">
                                      <p:cBhvr>
                                        <p:cTn id="27" dur="500"/>
                                        <p:tgtEl>
                                          <p:spTgt spid="4"/>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p:tgtEl>
                                          <p:spTgt spid="19"/>
                                        </p:tgtEl>
                                        <p:attrNameLst>
                                          <p:attrName>ppt_x</p:attrName>
                                        </p:attrNameLst>
                                      </p:cBhvr>
                                      <p:tavLst>
                                        <p:tav tm="0">
                                          <p:val>
                                            <p:strVal val="#ppt_x-#ppt_w*1.125000"/>
                                          </p:val>
                                        </p:tav>
                                        <p:tav tm="100000">
                                          <p:val>
                                            <p:strVal val="#ppt_x"/>
                                          </p:val>
                                        </p:tav>
                                      </p:tavLst>
                                    </p:anim>
                                    <p:animEffect transition="in" filter="wipe(right)">
                                      <p:cBhvr>
                                        <p:cTn id="31" dur="500"/>
                                        <p:tgtEl>
                                          <p:spTgt spid="19"/>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p:tgtEl>
                                          <p:spTgt spid="5"/>
                                        </p:tgtEl>
                                        <p:attrNameLst>
                                          <p:attrName>ppt_x</p:attrName>
                                        </p:attrNameLst>
                                      </p:cBhvr>
                                      <p:tavLst>
                                        <p:tav tm="0">
                                          <p:val>
                                            <p:strVal val="#ppt_x-#ppt_w*1.125000"/>
                                          </p:val>
                                        </p:tav>
                                        <p:tav tm="100000">
                                          <p:val>
                                            <p:strVal val="#ppt_x"/>
                                          </p:val>
                                        </p:tav>
                                      </p:tavLst>
                                    </p:anim>
                                    <p:animEffect transition="in" filter="wipe(right)">
                                      <p:cBhvr>
                                        <p:cTn id="35" dur="500"/>
                                        <p:tgtEl>
                                          <p:spTgt spid="5"/>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p:tgtEl>
                                          <p:spTgt spid="16"/>
                                        </p:tgtEl>
                                        <p:attrNameLst>
                                          <p:attrName>ppt_x</p:attrName>
                                        </p:attrNameLst>
                                      </p:cBhvr>
                                      <p:tavLst>
                                        <p:tav tm="0">
                                          <p:val>
                                            <p:strVal val="#ppt_x-#ppt_w*1.125000"/>
                                          </p:val>
                                        </p:tav>
                                        <p:tav tm="100000">
                                          <p:val>
                                            <p:strVal val="#ppt_x"/>
                                          </p:val>
                                        </p:tav>
                                      </p:tavLst>
                                    </p:anim>
                                    <p:animEffect transition="in" filter="wipe(right)">
                                      <p:cBhvr>
                                        <p:cTn id="5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9"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ea typeface="方正粗宋简体"/>
                <a:cs typeface="方正粗宋简体"/>
              </a:rPr>
              <a:t>项目质量管理</a:t>
            </a:r>
            <a:endParaRPr lang="zh-CN" altLang="en-US" sz="2400" b="1" dirty="0">
              <a:solidFill>
                <a:srgbClr val="01395C"/>
              </a:solidFill>
              <a:latin typeface="方正粗宋简体"/>
              <a:ea typeface="方正粗宋简体"/>
              <a:cs typeface="方正粗宋简体"/>
            </a:endParaRPr>
          </a:p>
        </p:txBody>
      </p:sp>
      <p:pic>
        <p:nvPicPr>
          <p:cNvPr id="3" name="图片 2"/>
          <p:cNvPicPr>
            <a:picLocks noChangeAspect="1"/>
          </p:cNvPicPr>
          <p:nvPr/>
        </p:nvPicPr>
        <p:blipFill>
          <a:blip r:embed="rId1"/>
          <a:stretch>
            <a:fillRect/>
          </a:stretch>
        </p:blipFill>
        <p:spPr>
          <a:xfrm>
            <a:off x="218247" y="1016000"/>
            <a:ext cx="11732583" cy="1770644"/>
          </a:xfrm>
          <a:prstGeom prst="rect">
            <a:avLst/>
          </a:prstGeom>
        </p:spPr>
      </p:pic>
      <p:pic>
        <p:nvPicPr>
          <p:cNvPr id="5" name="图片 4"/>
          <p:cNvPicPr>
            <a:picLocks noChangeAspect="1"/>
          </p:cNvPicPr>
          <p:nvPr/>
        </p:nvPicPr>
        <p:blipFill>
          <a:blip r:embed="rId2"/>
          <a:stretch>
            <a:fillRect/>
          </a:stretch>
        </p:blipFill>
        <p:spPr>
          <a:xfrm>
            <a:off x="218248" y="2747528"/>
            <a:ext cx="11751807" cy="817709"/>
          </a:xfrm>
          <a:prstGeom prst="rect">
            <a:avLst/>
          </a:prstGeom>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575" y="3819747"/>
            <a:ext cx="8675255" cy="349420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4"/>
          <a:stretch>
            <a:fillRect/>
          </a:stretch>
        </p:blipFill>
        <p:spPr>
          <a:xfrm>
            <a:off x="224000" y="4359564"/>
            <a:ext cx="2971783" cy="2954384"/>
          </a:xfrm>
          <a:prstGeom prst="rect">
            <a:avLst/>
          </a:prstGeom>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ea typeface="方正粗宋简体"/>
                <a:cs typeface="方正粗宋简体"/>
              </a:rPr>
              <a:t>三体系认证</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625172" y="838886"/>
            <a:ext cx="1723549" cy="46166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400" dirty="0"/>
              <a:t>三体系认证</a:t>
            </a:r>
            <a:endParaRPr lang="zh-CN" altLang="en-US" sz="2400" dirty="0"/>
          </a:p>
        </p:txBody>
      </p:sp>
      <p:sp>
        <p:nvSpPr>
          <p:cNvPr id="3" name="文本框 2"/>
          <p:cNvSpPr txBox="1"/>
          <p:nvPr/>
        </p:nvSpPr>
        <p:spPr>
          <a:xfrm>
            <a:off x="683491" y="1676830"/>
            <a:ext cx="10738947" cy="1480213"/>
          </a:xfrm>
          <a:prstGeom prst="rect">
            <a:avLst/>
          </a:prstGeom>
          <a:noFill/>
        </p:spPr>
        <p:txBody>
          <a:bodyPr wrap="square">
            <a:spAutoFit/>
          </a:bodyPr>
          <a:lstStyle/>
          <a:p>
            <a:pPr>
              <a:lnSpc>
                <a:spcPct val="150000"/>
              </a:lnSpc>
            </a:pPr>
            <a:r>
              <a:rPr lang="zh-CN" altLang="en-US" sz="3200" dirty="0"/>
              <a:t>三体系认证：</a:t>
            </a:r>
            <a:r>
              <a:rPr lang="zh-CN" altLang="en-US" sz="3200" dirty="0">
                <a:latin typeface="+mn-ea"/>
                <a:ea typeface="+mn-ea"/>
              </a:rPr>
              <a:t>即</a:t>
            </a:r>
            <a:r>
              <a:rPr lang="zh-CN" altLang="en-US" sz="3200" dirty="0">
                <a:solidFill>
                  <a:srgbClr val="C00000"/>
                </a:solidFill>
                <a:latin typeface="+mn-ea"/>
                <a:ea typeface="+mn-ea"/>
              </a:rPr>
              <a:t>ISO9001认证</a:t>
            </a:r>
            <a:r>
              <a:rPr lang="zh-CN" altLang="en-US" sz="3200" dirty="0">
                <a:latin typeface="+mn-ea"/>
                <a:ea typeface="+mn-ea"/>
              </a:rPr>
              <a:t>、</a:t>
            </a:r>
            <a:r>
              <a:rPr lang="zh-CN" altLang="en-US" sz="3200" dirty="0">
                <a:solidFill>
                  <a:srgbClr val="C00000"/>
                </a:solidFill>
                <a:latin typeface="+mn-ea"/>
                <a:ea typeface="+mn-ea"/>
              </a:rPr>
              <a:t>ISO14001认证</a:t>
            </a:r>
            <a:r>
              <a:rPr lang="zh-CN" altLang="en-US" sz="3200" dirty="0">
                <a:latin typeface="+mn-ea"/>
                <a:ea typeface="+mn-ea"/>
              </a:rPr>
              <a:t>和</a:t>
            </a:r>
            <a:r>
              <a:rPr lang="zh-CN" altLang="en-US" sz="3200" dirty="0">
                <a:solidFill>
                  <a:srgbClr val="C00000"/>
                </a:solidFill>
                <a:latin typeface="+mn-ea"/>
                <a:ea typeface="+mn-ea"/>
              </a:rPr>
              <a:t>OHSAS18001认证</a:t>
            </a:r>
            <a:r>
              <a:rPr lang="zh-CN" altLang="en-US" sz="3200" dirty="0">
                <a:latin typeface="+mn-ea"/>
                <a:ea typeface="+mn-ea"/>
              </a:rPr>
              <a:t>的统称。</a:t>
            </a:r>
            <a:endParaRPr lang="zh-CN" altLang="en-US" sz="3200" dirty="0">
              <a:latin typeface="+mn-ea"/>
              <a:ea typeface="+mn-ea"/>
            </a:endParaRPr>
          </a:p>
        </p:txBody>
      </p:sp>
      <p:pic>
        <p:nvPicPr>
          <p:cNvPr id="5" name="图片 4"/>
          <p:cNvPicPr>
            <a:picLocks noChangeAspect="1"/>
          </p:cNvPicPr>
          <p:nvPr/>
        </p:nvPicPr>
        <p:blipFill>
          <a:blip r:embed="rId1"/>
          <a:stretch>
            <a:fillRect/>
          </a:stretch>
        </p:blipFill>
        <p:spPr>
          <a:xfrm>
            <a:off x="683491" y="3724264"/>
            <a:ext cx="3339340" cy="2809107"/>
          </a:xfrm>
          <a:prstGeom prst="rect">
            <a:avLst/>
          </a:prstGeom>
        </p:spPr>
      </p:pic>
      <p:pic>
        <p:nvPicPr>
          <p:cNvPr id="7" name="图片 6"/>
          <p:cNvPicPr>
            <a:picLocks noChangeAspect="1"/>
          </p:cNvPicPr>
          <p:nvPr/>
        </p:nvPicPr>
        <p:blipFill>
          <a:blip r:embed="rId2"/>
          <a:stretch>
            <a:fillRect/>
          </a:stretch>
        </p:blipFill>
        <p:spPr>
          <a:xfrm>
            <a:off x="4317932" y="3724265"/>
            <a:ext cx="3364267" cy="2809107"/>
          </a:xfrm>
          <a:prstGeom prst="rect">
            <a:avLst/>
          </a:prstGeom>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7300" y="3724264"/>
            <a:ext cx="3718333" cy="28091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ISO9000</a:t>
            </a:r>
            <a:endParaRPr lang="zh-CN" altLang="en-US" sz="2400" b="1" dirty="0">
              <a:solidFill>
                <a:srgbClr val="01395C"/>
              </a:solidFill>
              <a:latin typeface="方正粗宋简体"/>
              <a:ea typeface="方正粗宋简体"/>
              <a:cs typeface="方正粗宋简体"/>
            </a:endParaRPr>
          </a:p>
        </p:txBody>
      </p:sp>
      <p:sp>
        <p:nvSpPr>
          <p:cNvPr id="3" name="文本框 2"/>
          <p:cNvSpPr txBox="1"/>
          <p:nvPr/>
        </p:nvSpPr>
        <p:spPr>
          <a:xfrm>
            <a:off x="726526" y="780902"/>
            <a:ext cx="10738947" cy="3698641"/>
          </a:xfrm>
          <a:prstGeom prst="rect">
            <a:avLst/>
          </a:prstGeom>
          <a:noFill/>
        </p:spPr>
        <p:txBody>
          <a:bodyPr wrap="square">
            <a:spAutoFit/>
          </a:bodyPr>
          <a:lstStyle/>
          <a:p>
            <a:pPr>
              <a:lnSpc>
                <a:spcPct val="150000"/>
              </a:lnSpc>
            </a:pPr>
            <a:r>
              <a:rPr lang="zh-CN" altLang="en-US" sz="3200" dirty="0">
                <a:solidFill>
                  <a:srgbClr val="C00000"/>
                </a:solidFill>
                <a:latin typeface="+mn-ea"/>
                <a:ea typeface="+mn-ea"/>
              </a:rPr>
              <a:t>ISO900</a:t>
            </a:r>
            <a:r>
              <a:rPr lang="en-US" altLang="zh-CN" sz="3200" dirty="0">
                <a:solidFill>
                  <a:srgbClr val="C00000"/>
                </a:solidFill>
                <a:latin typeface="+mn-ea"/>
                <a:ea typeface="+mn-ea"/>
              </a:rPr>
              <a:t>0</a:t>
            </a:r>
            <a:r>
              <a:rPr lang="zh-CN" altLang="en-US" sz="3200" dirty="0">
                <a:latin typeface="+mn-ea"/>
                <a:ea typeface="+mn-ea"/>
              </a:rPr>
              <a:t>由</a:t>
            </a:r>
            <a:r>
              <a:rPr lang="en-US" altLang="zh-CN" sz="3200" dirty="0">
                <a:latin typeface="+mn-ea"/>
                <a:ea typeface="+mn-ea"/>
              </a:rPr>
              <a:t>4</a:t>
            </a:r>
            <a:r>
              <a:rPr lang="zh-CN" altLang="en-US" sz="3200" dirty="0">
                <a:latin typeface="+mn-ea"/>
                <a:ea typeface="+mn-ea"/>
              </a:rPr>
              <a:t>个项目标准组成：</a:t>
            </a:r>
            <a:endParaRPr lang="en-US" altLang="zh-CN" sz="3200" dirty="0">
              <a:latin typeface="+mn-ea"/>
              <a:ea typeface="+mn-ea"/>
            </a:endParaRPr>
          </a:p>
          <a:p>
            <a:pPr marL="514350" indent="-514350">
              <a:lnSpc>
                <a:spcPct val="150000"/>
              </a:lnSpc>
              <a:buFont typeface="+mj-lt"/>
              <a:buAutoNum type="arabicPeriod"/>
            </a:pPr>
            <a:r>
              <a:rPr lang="zh-CN" altLang="en-US" sz="3200" dirty="0">
                <a:solidFill>
                  <a:srgbClr val="C00000"/>
                </a:solidFill>
                <a:latin typeface="+mn-ea"/>
                <a:ea typeface="+mn-ea"/>
              </a:rPr>
              <a:t>ISO900</a:t>
            </a:r>
            <a:r>
              <a:rPr lang="en-US" altLang="zh-CN" sz="3200" dirty="0">
                <a:solidFill>
                  <a:srgbClr val="C00000"/>
                </a:solidFill>
                <a:latin typeface="+mn-ea"/>
                <a:ea typeface="+mn-ea"/>
              </a:rPr>
              <a:t>0:2000 </a:t>
            </a:r>
            <a:r>
              <a:rPr lang="zh-CN" altLang="en-US" sz="3200" dirty="0">
                <a:latin typeface="+mn-ea"/>
                <a:ea typeface="+mn-ea"/>
              </a:rPr>
              <a:t>质量管理体系</a:t>
            </a:r>
            <a:r>
              <a:rPr lang="en-US" altLang="zh-CN" sz="3200" dirty="0">
                <a:latin typeface="+mn-ea"/>
                <a:ea typeface="+mn-ea"/>
              </a:rPr>
              <a:t>-</a:t>
            </a:r>
            <a:r>
              <a:rPr lang="zh-CN" altLang="en-US" sz="3200" dirty="0">
                <a:latin typeface="+mn-ea"/>
                <a:ea typeface="+mn-ea"/>
              </a:rPr>
              <a:t>基础和术语</a:t>
            </a:r>
            <a:endParaRPr lang="en-US" altLang="zh-CN" sz="3200" dirty="0">
              <a:latin typeface="+mn-ea"/>
              <a:ea typeface="+mn-ea"/>
            </a:endParaRPr>
          </a:p>
          <a:p>
            <a:pPr marL="514350" indent="-514350">
              <a:lnSpc>
                <a:spcPct val="150000"/>
              </a:lnSpc>
              <a:buFont typeface="+mj-lt"/>
              <a:buAutoNum type="arabicPeriod"/>
            </a:pPr>
            <a:r>
              <a:rPr lang="zh-CN" altLang="en-US" sz="3200" dirty="0">
                <a:solidFill>
                  <a:srgbClr val="C00000"/>
                </a:solidFill>
                <a:latin typeface="+mn-ea"/>
                <a:ea typeface="+mn-ea"/>
              </a:rPr>
              <a:t>ISO900</a:t>
            </a:r>
            <a:r>
              <a:rPr lang="en-US" altLang="zh-CN" sz="3200" dirty="0">
                <a:solidFill>
                  <a:srgbClr val="C00000"/>
                </a:solidFill>
                <a:latin typeface="+mn-ea"/>
                <a:ea typeface="+mn-ea"/>
              </a:rPr>
              <a:t>1:2000 </a:t>
            </a:r>
            <a:r>
              <a:rPr lang="zh-CN" altLang="en-US" sz="3200" dirty="0">
                <a:latin typeface="+mn-ea"/>
                <a:ea typeface="+mn-ea"/>
              </a:rPr>
              <a:t>质量管理体系</a:t>
            </a:r>
            <a:r>
              <a:rPr lang="en-US" altLang="zh-CN" sz="3200" dirty="0">
                <a:latin typeface="+mn-ea"/>
                <a:ea typeface="+mn-ea"/>
              </a:rPr>
              <a:t>-</a:t>
            </a:r>
            <a:r>
              <a:rPr lang="zh-CN" altLang="en-US" sz="3200" dirty="0">
                <a:latin typeface="+mn-ea"/>
                <a:ea typeface="+mn-ea"/>
              </a:rPr>
              <a:t>要求</a:t>
            </a:r>
            <a:endParaRPr lang="en-US" altLang="zh-CN" sz="3200" dirty="0">
              <a:latin typeface="+mn-ea"/>
              <a:ea typeface="+mn-ea"/>
            </a:endParaRPr>
          </a:p>
          <a:p>
            <a:pPr marL="514350" indent="-514350">
              <a:lnSpc>
                <a:spcPct val="150000"/>
              </a:lnSpc>
              <a:buFont typeface="+mj-lt"/>
              <a:buAutoNum type="arabicPeriod"/>
            </a:pPr>
            <a:r>
              <a:rPr lang="zh-CN" altLang="en-US" sz="3200" dirty="0">
                <a:solidFill>
                  <a:srgbClr val="C00000"/>
                </a:solidFill>
                <a:latin typeface="+mn-ea"/>
                <a:ea typeface="+mn-ea"/>
              </a:rPr>
              <a:t>ISO900</a:t>
            </a:r>
            <a:r>
              <a:rPr lang="en-US" altLang="zh-CN" sz="3200" dirty="0">
                <a:solidFill>
                  <a:srgbClr val="C00000"/>
                </a:solidFill>
                <a:latin typeface="+mn-ea"/>
                <a:ea typeface="+mn-ea"/>
              </a:rPr>
              <a:t>4:2000 </a:t>
            </a:r>
            <a:r>
              <a:rPr lang="zh-CN" altLang="en-US" sz="3200" dirty="0">
                <a:latin typeface="+mn-ea"/>
                <a:ea typeface="+mn-ea"/>
              </a:rPr>
              <a:t>质量管理体系</a:t>
            </a:r>
            <a:r>
              <a:rPr lang="en-US" altLang="zh-CN" sz="3200" dirty="0">
                <a:latin typeface="+mn-ea"/>
                <a:ea typeface="+mn-ea"/>
              </a:rPr>
              <a:t>-</a:t>
            </a:r>
            <a:r>
              <a:rPr lang="zh-CN" altLang="en-US" sz="3200" dirty="0">
                <a:latin typeface="+mn-ea"/>
                <a:ea typeface="+mn-ea"/>
              </a:rPr>
              <a:t>业绩改进指南</a:t>
            </a:r>
            <a:endParaRPr lang="en-US" altLang="zh-CN" sz="3200" dirty="0">
              <a:latin typeface="+mn-ea"/>
              <a:ea typeface="+mn-ea"/>
            </a:endParaRPr>
          </a:p>
          <a:p>
            <a:pPr marL="514350" indent="-514350">
              <a:lnSpc>
                <a:spcPct val="150000"/>
              </a:lnSpc>
              <a:buFont typeface="+mj-lt"/>
              <a:buAutoNum type="arabicPeriod"/>
            </a:pPr>
            <a:r>
              <a:rPr lang="zh-CN" altLang="en-US" sz="3200" dirty="0">
                <a:solidFill>
                  <a:srgbClr val="C00000"/>
                </a:solidFill>
                <a:latin typeface="+mn-ea"/>
                <a:ea typeface="+mn-ea"/>
              </a:rPr>
              <a:t>ISO90</a:t>
            </a:r>
            <a:r>
              <a:rPr lang="en-US" altLang="zh-CN" sz="3200" dirty="0">
                <a:solidFill>
                  <a:srgbClr val="C00000"/>
                </a:solidFill>
                <a:latin typeface="+mn-ea"/>
                <a:ea typeface="+mn-ea"/>
              </a:rPr>
              <a:t>11:2000 </a:t>
            </a:r>
            <a:r>
              <a:rPr lang="zh-CN" altLang="en-US" sz="3200" dirty="0">
                <a:latin typeface="+mn-ea"/>
                <a:ea typeface="+mn-ea"/>
              </a:rPr>
              <a:t>质量和环境审核指南</a:t>
            </a:r>
            <a:endParaRPr lang="zh-CN" altLang="en-US" sz="3200" dirty="0">
              <a:latin typeface="+mn-ea"/>
              <a:ea typeface="+mn-ea"/>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524353" y="882921"/>
            <a:ext cx="9143293" cy="6201369"/>
          </a:xfrm>
          <a:prstGeom prst="rect">
            <a:avLst/>
          </a:prstGeom>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27460" y="770718"/>
            <a:ext cx="9253029" cy="5788916"/>
          </a:xfrm>
          <a:prstGeom prst="rect">
            <a:avLst/>
          </a:prstGeom>
        </p:spPr>
      </p:pic>
      <p:pic>
        <p:nvPicPr>
          <p:cNvPr id="6" name="图片 5"/>
          <p:cNvPicPr>
            <a:picLocks noChangeAspect="1"/>
          </p:cNvPicPr>
          <p:nvPr/>
        </p:nvPicPr>
        <p:blipFill>
          <a:blip r:embed="rId2"/>
          <a:stretch>
            <a:fillRect/>
          </a:stretch>
        </p:blipFill>
        <p:spPr>
          <a:xfrm>
            <a:off x="3748588" y="2514890"/>
            <a:ext cx="9195825" cy="4698710"/>
          </a:xfrm>
          <a:prstGeom prst="rect">
            <a:avLst/>
          </a:prstGeom>
        </p:spPr>
      </p:pic>
      <p:pic>
        <p:nvPicPr>
          <p:cNvPr id="8" name="图片 7"/>
          <p:cNvPicPr>
            <a:picLocks noChangeAspect="1"/>
          </p:cNvPicPr>
          <p:nvPr/>
        </p:nvPicPr>
        <p:blipFill>
          <a:blip r:embed="rId3"/>
          <a:stretch>
            <a:fillRect/>
          </a:stretch>
        </p:blipFill>
        <p:spPr>
          <a:xfrm>
            <a:off x="7190776" y="4621075"/>
            <a:ext cx="10296419" cy="2786489"/>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ea typeface="方正粗宋简体"/>
                <a:cs typeface="方正粗宋简体"/>
              </a:rPr>
              <a:t>质量管理体系认证证书 </a:t>
            </a:r>
            <a:r>
              <a:rPr lang="en-US" altLang="zh-CN" sz="2400" b="1" dirty="0">
                <a:solidFill>
                  <a:srgbClr val="01395C"/>
                </a:solidFill>
                <a:latin typeface="方正粗宋简体"/>
                <a:ea typeface="方正粗宋简体"/>
                <a:cs typeface="方正粗宋简体"/>
              </a:rPr>
              <a:t>ISO 9001</a:t>
            </a:r>
            <a:endParaRPr lang="zh-CN" altLang="en-US" sz="2400" b="1" dirty="0">
              <a:solidFill>
                <a:srgbClr val="01395C"/>
              </a:solidFill>
              <a:latin typeface="方正粗宋简体"/>
              <a:ea typeface="方正粗宋简体"/>
              <a:cs typeface="方正粗宋简体"/>
            </a:endParaRPr>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725" y="1920751"/>
            <a:ext cx="4003820" cy="536433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683" y="1920751"/>
            <a:ext cx="3668814" cy="5341793"/>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9635" y="1920750"/>
            <a:ext cx="3767132" cy="534179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202509" y="730167"/>
            <a:ext cx="11744258" cy="954107"/>
          </a:xfrm>
          <a:prstGeom prst="rect">
            <a:avLst/>
          </a:prstGeom>
          <a:noFill/>
        </p:spPr>
        <p:txBody>
          <a:bodyPr wrap="square">
            <a:spAutoFit/>
          </a:bodyPr>
          <a:lstStyle/>
          <a:p>
            <a:r>
              <a:rPr lang="en-US" altLang="zh-CN" sz="2800" i="0" dirty="0">
                <a:solidFill>
                  <a:srgbClr val="333333"/>
                </a:solidFill>
                <a:effectLst/>
                <a:latin typeface="+mn-ea"/>
                <a:ea typeface="+mn-ea"/>
              </a:rPr>
              <a:t>ISO 9000:2008</a:t>
            </a:r>
            <a:r>
              <a:rPr lang="zh-CN" altLang="en-US" sz="2800" i="0" dirty="0">
                <a:solidFill>
                  <a:srgbClr val="333333"/>
                </a:solidFill>
                <a:effectLst/>
                <a:latin typeface="+mn-ea"/>
                <a:ea typeface="+mn-ea"/>
              </a:rPr>
              <a:t>体系里有</a:t>
            </a:r>
            <a:r>
              <a:rPr lang="en-US" altLang="zh-CN" sz="2800" i="0" dirty="0">
                <a:solidFill>
                  <a:srgbClr val="333333"/>
                </a:solidFill>
                <a:effectLst/>
                <a:latin typeface="+mn-ea"/>
                <a:ea typeface="+mn-ea"/>
              </a:rPr>
              <a:t>22</a:t>
            </a:r>
            <a:r>
              <a:rPr lang="zh-CN" altLang="en-US" sz="2800" i="0" dirty="0">
                <a:solidFill>
                  <a:srgbClr val="333333"/>
                </a:solidFill>
                <a:effectLst/>
                <a:latin typeface="+mn-ea"/>
                <a:ea typeface="+mn-ea"/>
              </a:rPr>
              <a:t>个标准和</a:t>
            </a:r>
            <a:r>
              <a:rPr lang="en-US" altLang="zh-CN" sz="2800" i="0" dirty="0">
                <a:solidFill>
                  <a:srgbClr val="333333"/>
                </a:solidFill>
                <a:effectLst/>
                <a:latin typeface="+mn-ea"/>
                <a:ea typeface="+mn-ea"/>
              </a:rPr>
              <a:t>3</a:t>
            </a:r>
            <a:r>
              <a:rPr lang="zh-CN" altLang="en-US" sz="2800" i="0" dirty="0">
                <a:solidFill>
                  <a:srgbClr val="333333"/>
                </a:solidFill>
                <a:effectLst/>
                <a:latin typeface="+mn-ea"/>
                <a:ea typeface="+mn-ea"/>
              </a:rPr>
              <a:t>个指导性文件，从</a:t>
            </a:r>
            <a:r>
              <a:rPr lang="en-US" altLang="zh-CN" sz="2800" i="0" dirty="0">
                <a:solidFill>
                  <a:srgbClr val="333333"/>
                </a:solidFill>
                <a:effectLst/>
                <a:latin typeface="+mn-ea"/>
                <a:ea typeface="+mn-ea"/>
              </a:rPr>
              <a:t>87</a:t>
            </a:r>
            <a:r>
              <a:rPr lang="zh-CN" altLang="en-US" sz="2800" i="0" dirty="0">
                <a:solidFill>
                  <a:srgbClr val="333333"/>
                </a:solidFill>
                <a:effectLst/>
                <a:latin typeface="+mn-ea"/>
                <a:ea typeface="+mn-ea"/>
              </a:rPr>
              <a:t>年</a:t>
            </a:r>
            <a:r>
              <a:rPr lang="en-US" altLang="zh-CN" sz="2800" i="0" dirty="0">
                <a:solidFill>
                  <a:srgbClr val="333333"/>
                </a:solidFill>
                <a:effectLst/>
                <a:latin typeface="+mn-ea"/>
                <a:ea typeface="+mn-ea"/>
              </a:rPr>
              <a:t>ISO9000</a:t>
            </a:r>
            <a:r>
              <a:rPr lang="zh-CN" altLang="en-US" sz="2800" i="0" dirty="0">
                <a:solidFill>
                  <a:srgbClr val="333333"/>
                </a:solidFill>
                <a:effectLst/>
                <a:latin typeface="+mn-ea"/>
                <a:ea typeface="+mn-ea"/>
              </a:rPr>
              <a:t>体系一直都在增加标准，最新的标准是</a:t>
            </a:r>
            <a:r>
              <a:rPr lang="en-US" altLang="zh-CN" sz="2800" i="0" dirty="0">
                <a:solidFill>
                  <a:srgbClr val="333333"/>
                </a:solidFill>
                <a:effectLst/>
                <a:latin typeface="+mn-ea"/>
                <a:ea typeface="+mn-ea"/>
              </a:rPr>
              <a:t>2008</a:t>
            </a:r>
            <a:r>
              <a:rPr lang="zh-CN" altLang="en-US" sz="2800" i="0" dirty="0">
                <a:solidFill>
                  <a:srgbClr val="333333"/>
                </a:solidFill>
                <a:effectLst/>
                <a:latin typeface="+mn-ea"/>
                <a:ea typeface="+mn-ea"/>
              </a:rPr>
              <a:t>年版本。</a:t>
            </a:r>
            <a:endParaRPr lang="zh-CN" altLang="en-US" sz="2800" dirty="0">
              <a:latin typeface="+mn-ea"/>
              <a:ea typeface="+mn-ea"/>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0" i="0" dirty="0">
                <a:solidFill>
                  <a:srgbClr val="333333"/>
                </a:solidFill>
                <a:effectLst/>
                <a:latin typeface="微软雅黑" panose="020B0503020204020204" pitchFamily="34" charset="-122"/>
                <a:ea typeface="微软雅黑" panose="020B0503020204020204" pitchFamily="34" charset="-122"/>
              </a:rPr>
              <a:t>质量管理八大原则</a:t>
            </a:r>
            <a:endParaRPr lang="zh-CN" altLang="en-US" sz="2400" b="1" dirty="0">
              <a:solidFill>
                <a:srgbClr val="01395C"/>
              </a:solidFill>
              <a:latin typeface="方正粗宋简体"/>
              <a:ea typeface="方正粗宋简体"/>
              <a:cs typeface="方正粗宋简体"/>
            </a:endParaRPr>
          </a:p>
        </p:txBody>
      </p:sp>
      <p:sp>
        <p:nvSpPr>
          <p:cNvPr id="12" name="文本框 11"/>
          <p:cNvSpPr txBox="1"/>
          <p:nvPr/>
        </p:nvSpPr>
        <p:spPr>
          <a:xfrm>
            <a:off x="591127" y="906376"/>
            <a:ext cx="11028218" cy="6121035"/>
          </a:xfrm>
          <a:prstGeom prst="rect">
            <a:avLst/>
          </a:prstGeom>
          <a:noFill/>
        </p:spPr>
        <p:txBody>
          <a:bodyPr wrap="square">
            <a:spAutoFit/>
          </a:bodyPr>
          <a:lstStyle/>
          <a:p>
            <a:pPr algn="l">
              <a:lnSpc>
                <a:spcPct val="150000"/>
              </a:lnSpc>
            </a:pP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1.</a:t>
            </a:r>
            <a:r>
              <a:rPr lang="zh-CN" altLang="en-US" sz="2400" dirty="0">
                <a:solidFill>
                  <a:srgbClr val="C00000"/>
                </a:solidFill>
                <a:latin typeface="微软雅黑" panose="020B0503020204020204" pitchFamily="34" charset="-122"/>
                <a:ea typeface="微软雅黑" panose="020B0503020204020204" pitchFamily="34" charset="-122"/>
              </a:rPr>
              <a:t>以顾客为关注焦点</a:t>
            </a:r>
            <a:r>
              <a:rPr lang="zh-CN" altLang="en-US" sz="2400" dirty="0">
                <a:solidFill>
                  <a:srgbClr val="333333"/>
                </a:solidFill>
                <a:latin typeface="微软雅黑" panose="020B0503020204020204" pitchFamily="34" charset="-122"/>
                <a:ea typeface="微软雅黑" panose="020B0503020204020204" pitchFamily="34" charset="-122"/>
              </a:rPr>
              <a:t>：组织依存于其顾客。因此组织应理解顾客当前和未来的需求，满足顾客并争取超越顾客期望。</a:t>
            </a:r>
            <a:br>
              <a:rPr lang="zh-CN" altLang="en-US" sz="2400" dirty="0">
                <a:solidFill>
                  <a:srgbClr val="333333"/>
                </a:solidFill>
                <a:latin typeface="微软雅黑" panose="020B0503020204020204" pitchFamily="34" charset="-122"/>
                <a:ea typeface="微软雅黑" panose="020B0503020204020204" pitchFamily="34" charset="-122"/>
              </a:rPr>
            </a:br>
            <a:endParaRPr lang="en-US" altLang="zh-CN" sz="2400" dirty="0">
              <a:solidFill>
                <a:srgbClr val="333333"/>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2.</a:t>
            </a:r>
            <a:r>
              <a:rPr lang="zh-CN" altLang="en-US" sz="2400" dirty="0">
                <a:solidFill>
                  <a:srgbClr val="C00000"/>
                </a:solidFill>
                <a:latin typeface="微软雅黑" panose="020B0503020204020204" pitchFamily="34" charset="-122"/>
                <a:ea typeface="微软雅黑" panose="020B0503020204020204" pitchFamily="34" charset="-122"/>
              </a:rPr>
              <a:t>领导作用</a:t>
            </a:r>
            <a:r>
              <a:rPr lang="zh-CN" altLang="en-US" sz="2400" dirty="0">
                <a:solidFill>
                  <a:srgbClr val="333333"/>
                </a:solidFill>
                <a:latin typeface="微软雅黑" panose="020B0503020204020204" pitchFamily="34" charset="-122"/>
                <a:ea typeface="微软雅黑" panose="020B0503020204020204" pitchFamily="34" charset="-122"/>
              </a:rPr>
              <a:t>：领导者确立本组织统一的宗旨和方向。他们应该创造并保持使员工能充分参与实现组织目标的内部环境。</a:t>
            </a:r>
            <a:br>
              <a:rPr lang="zh-CN" altLang="en-US" sz="2400" dirty="0">
                <a:solidFill>
                  <a:srgbClr val="333333"/>
                </a:solidFill>
                <a:latin typeface="微软雅黑" panose="020B0503020204020204" pitchFamily="34" charset="-122"/>
                <a:ea typeface="微软雅黑" panose="020B0503020204020204" pitchFamily="34" charset="-122"/>
              </a:rPr>
            </a:br>
            <a:br>
              <a:rPr lang="zh-CN" altLang="en-US" sz="2400" dirty="0">
                <a:solidFill>
                  <a:srgbClr val="333333"/>
                </a:solidFill>
                <a:latin typeface="微软雅黑" panose="020B0503020204020204" pitchFamily="34" charset="-122"/>
                <a:ea typeface="微软雅黑" panose="020B0503020204020204" pitchFamily="34" charset="-122"/>
              </a:rPr>
            </a:b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3.</a:t>
            </a:r>
            <a:r>
              <a:rPr lang="zh-CN" altLang="en-US" sz="2400" dirty="0">
                <a:solidFill>
                  <a:srgbClr val="C00000"/>
                </a:solidFill>
                <a:latin typeface="微软雅黑" panose="020B0503020204020204" pitchFamily="34" charset="-122"/>
                <a:ea typeface="微软雅黑" panose="020B0503020204020204" pitchFamily="34" charset="-122"/>
              </a:rPr>
              <a:t>全员参与</a:t>
            </a:r>
            <a:r>
              <a:rPr lang="zh-CN" altLang="en-US" sz="2400" dirty="0">
                <a:solidFill>
                  <a:srgbClr val="333333"/>
                </a:solidFill>
                <a:latin typeface="微软雅黑" panose="020B0503020204020204" pitchFamily="34" charset="-122"/>
                <a:ea typeface="微软雅黑" panose="020B0503020204020204" pitchFamily="34" charset="-122"/>
              </a:rPr>
              <a:t>：各级人员是组织之本，只有他们的充分参与，才能使他们的才干为组织获益。</a:t>
            </a:r>
            <a:br>
              <a:rPr lang="zh-CN" altLang="en-US" sz="2400" dirty="0">
                <a:solidFill>
                  <a:srgbClr val="333333"/>
                </a:solidFill>
                <a:latin typeface="微软雅黑" panose="020B0503020204020204" pitchFamily="34" charset="-122"/>
                <a:ea typeface="微软雅黑" panose="020B0503020204020204" pitchFamily="34" charset="-122"/>
              </a:rPr>
            </a:br>
            <a:br>
              <a:rPr lang="zh-CN" altLang="en-US" sz="2400" dirty="0">
                <a:solidFill>
                  <a:srgbClr val="333333"/>
                </a:solidFill>
                <a:latin typeface="微软雅黑" panose="020B0503020204020204" pitchFamily="34" charset="-122"/>
                <a:ea typeface="微软雅黑" panose="020B0503020204020204" pitchFamily="34" charset="-122"/>
              </a:rPr>
            </a:b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4.</a:t>
            </a:r>
            <a:r>
              <a:rPr lang="zh-CN" altLang="en-US" sz="2400" dirty="0">
                <a:solidFill>
                  <a:srgbClr val="C00000"/>
                </a:solidFill>
                <a:latin typeface="微软雅黑" panose="020B0503020204020204" pitchFamily="34" charset="-122"/>
                <a:ea typeface="微软雅黑" panose="020B0503020204020204" pitchFamily="34" charset="-122"/>
              </a:rPr>
              <a:t>过程方法</a:t>
            </a:r>
            <a:r>
              <a:rPr lang="zh-CN" altLang="en-US" sz="2400" dirty="0">
                <a:solidFill>
                  <a:srgbClr val="333333"/>
                </a:solidFill>
                <a:latin typeface="微软雅黑" panose="020B0503020204020204" pitchFamily="34" charset="-122"/>
                <a:ea typeface="微软雅黑" panose="020B0503020204020204" pitchFamily="34" charset="-122"/>
              </a:rPr>
              <a:t>：将相关的活动和资源作为过程进行管理，可以更高效地得到期望的结果。</a:t>
            </a:r>
            <a:endParaRPr lang="zh-CN" altLang="en-US" sz="240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0" i="0" dirty="0">
                <a:solidFill>
                  <a:srgbClr val="333333"/>
                </a:solidFill>
                <a:effectLst/>
                <a:latin typeface="微软雅黑" panose="020B0503020204020204" pitchFamily="34" charset="-122"/>
                <a:ea typeface="微软雅黑" panose="020B0503020204020204" pitchFamily="34" charset="-122"/>
              </a:rPr>
              <a:t>质量管理八大原则</a:t>
            </a:r>
            <a:endParaRPr lang="zh-CN" altLang="en-US" sz="2400" b="1" dirty="0">
              <a:solidFill>
                <a:srgbClr val="01395C"/>
              </a:solidFill>
              <a:latin typeface="方正粗宋简体"/>
              <a:ea typeface="方正粗宋简体"/>
              <a:cs typeface="方正粗宋简体"/>
            </a:endParaRPr>
          </a:p>
        </p:txBody>
      </p:sp>
      <p:sp>
        <p:nvSpPr>
          <p:cNvPr id="12" name="文本框 11"/>
          <p:cNvSpPr txBox="1"/>
          <p:nvPr/>
        </p:nvSpPr>
        <p:spPr>
          <a:xfrm>
            <a:off x="572655" y="908597"/>
            <a:ext cx="11185236" cy="5013039"/>
          </a:xfrm>
          <a:prstGeom prst="rect">
            <a:avLst/>
          </a:prstGeom>
          <a:noFill/>
        </p:spPr>
        <p:txBody>
          <a:bodyPr wrap="square">
            <a:spAutoFit/>
          </a:bodyPr>
          <a:lstStyle/>
          <a:p>
            <a:pPr algn="l">
              <a:lnSpc>
                <a:spcPct val="150000"/>
              </a:lnSpc>
            </a:pP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5.</a:t>
            </a:r>
            <a:r>
              <a:rPr lang="zh-CN" altLang="en-US" sz="2400" dirty="0">
                <a:solidFill>
                  <a:srgbClr val="C00000"/>
                </a:solidFill>
                <a:latin typeface="微软雅黑" panose="020B0503020204020204" pitchFamily="34" charset="-122"/>
                <a:ea typeface="微软雅黑" panose="020B0503020204020204" pitchFamily="34" charset="-122"/>
              </a:rPr>
              <a:t>管理的系统方法</a:t>
            </a:r>
            <a:r>
              <a:rPr lang="zh-CN" altLang="en-US" sz="2400" dirty="0">
                <a:solidFill>
                  <a:srgbClr val="333333"/>
                </a:solidFill>
                <a:latin typeface="微软雅黑" panose="020B0503020204020204" pitchFamily="34" charset="-122"/>
                <a:ea typeface="微软雅黑" panose="020B0503020204020204" pitchFamily="34" charset="-122"/>
              </a:rPr>
              <a:t>：识别、理解和管理作为体系的相互关联的过程，有助于组织实现其目标的效率和有效性。</a:t>
            </a:r>
            <a:br>
              <a:rPr lang="zh-CN" altLang="en-US" sz="2400" dirty="0">
                <a:solidFill>
                  <a:srgbClr val="333333"/>
                </a:solidFill>
                <a:latin typeface="微软雅黑" panose="020B0503020204020204" pitchFamily="34" charset="-122"/>
                <a:ea typeface="微软雅黑" panose="020B0503020204020204" pitchFamily="34" charset="-122"/>
              </a:rPr>
            </a:br>
            <a:endParaRPr lang="en-US" altLang="zh-CN" sz="2400" dirty="0">
              <a:solidFill>
                <a:srgbClr val="333333"/>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6.</a:t>
            </a:r>
            <a:r>
              <a:rPr lang="zh-CN" altLang="en-US" sz="2400" dirty="0">
                <a:solidFill>
                  <a:srgbClr val="C00000"/>
                </a:solidFill>
                <a:latin typeface="微软雅黑" panose="020B0503020204020204" pitchFamily="34" charset="-122"/>
                <a:ea typeface="微软雅黑" panose="020B0503020204020204" pitchFamily="34" charset="-122"/>
              </a:rPr>
              <a:t>持续改进</a:t>
            </a:r>
            <a:r>
              <a:rPr lang="zh-CN" altLang="en-US" sz="2400" dirty="0">
                <a:solidFill>
                  <a:srgbClr val="333333"/>
                </a:solidFill>
                <a:latin typeface="微软雅黑" panose="020B0503020204020204" pitchFamily="34" charset="-122"/>
                <a:ea typeface="微软雅黑" panose="020B0503020204020204" pitchFamily="34" charset="-122"/>
              </a:rPr>
              <a:t>：组织总体业绩的持续改进应是组织的一个永恒的目标。</a:t>
            </a:r>
            <a:br>
              <a:rPr lang="zh-CN" altLang="en-US" sz="2400" dirty="0">
                <a:solidFill>
                  <a:srgbClr val="333333"/>
                </a:solidFill>
                <a:latin typeface="微软雅黑" panose="020B0503020204020204" pitchFamily="34" charset="-122"/>
                <a:ea typeface="微软雅黑" panose="020B0503020204020204" pitchFamily="34" charset="-122"/>
              </a:rPr>
            </a:br>
            <a:endParaRPr lang="en-US" altLang="zh-CN" sz="2400" dirty="0">
              <a:solidFill>
                <a:srgbClr val="333333"/>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7.</a:t>
            </a:r>
            <a:r>
              <a:rPr lang="zh-CN" altLang="en-US" sz="2400" dirty="0">
                <a:solidFill>
                  <a:srgbClr val="C00000"/>
                </a:solidFill>
                <a:latin typeface="微软雅黑" panose="020B0503020204020204" pitchFamily="34" charset="-122"/>
                <a:ea typeface="微软雅黑" panose="020B0503020204020204" pitchFamily="34" charset="-122"/>
              </a:rPr>
              <a:t>基于事实的决策方法</a:t>
            </a:r>
            <a:r>
              <a:rPr lang="zh-CN" altLang="en-US" sz="2400" dirty="0">
                <a:solidFill>
                  <a:srgbClr val="333333"/>
                </a:solidFill>
                <a:latin typeface="微软雅黑" panose="020B0503020204020204" pitchFamily="34" charset="-122"/>
                <a:ea typeface="微软雅黑" panose="020B0503020204020204" pitchFamily="34" charset="-122"/>
              </a:rPr>
              <a:t>：有效决策是建立在数据和信息分析基础上。</a:t>
            </a:r>
            <a:br>
              <a:rPr lang="zh-CN" altLang="en-US" sz="2400" dirty="0">
                <a:solidFill>
                  <a:srgbClr val="333333"/>
                </a:solidFill>
                <a:latin typeface="微软雅黑" panose="020B0503020204020204" pitchFamily="34" charset="-122"/>
                <a:ea typeface="微软雅黑" panose="020B0503020204020204" pitchFamily="34" charset="-122"/>
              </a:rPr>
            </a:br>
            <a:br>
              <a:rPr lang="zh-CN" altLang="en-US" sz="2400" dirty="0">
                <a:solidFill>
                  <a:srgbClr val="333333"/>
                </a:solidFill>
                <a:latin typeface="微软雅黑" panose="020B0503020204020204" pitchFamily="34" charset="-122"/>
                <a:ea typeface="微软雅黑" panose="020B0503020204020204" pitchFamily="34" charset="-122"/>
              </a:rPr>
            </a:br>
            <a:r>
              <a:rPr lang="zh-CN" altLang="en-US" sz="2400" dirty="0">
                <a:solidFill>
                  <a:srgbClr val="333333"/>
                </a:solidFill>
                <a:latin typeface="微软雅黑" panose="020B0503020204020204" pitchFamily="34" charset="-122"/>
                <a:ea typeface="微软雅黑" panose="020B0503020204020204" pitchFamily="34" charset="-122"/>
              </a:rPr>
              <a:t>原则</a:t>
            </a:r>
            <a:r>
              <a:rPr lang="en-US" altLang="zh-CN" sz="2400" dirty="0">
                <a:solidFill>
                  <a:srgbClr val="333333"/>
                </a:solidFill>
                <a:latin typeface="微软雅黑" panose="020B0503020204020204" pitchFamily="34" charset="-122"/>
                <a:ea typeface="微软雅黑" panose="020B0503020204020204" pitchFamily="34" charset="-122"/>
              </a:rPr>
              <a:t>8.</a:t>
            </a:r>
            <a:r>
              <a:rPr lang="zh-CN" altLang="en-US" sz="2400" dirty="0">
                <a:solidFill>
                  <a:srgbClr val="C00000"/>
                </a:solidFill>
                <a:latin typeface="微软雅黑" panose="020B0503020204020204" pitchFamily="34" charset="-122"/>
                <a:ea typeface="微软雅黑" panose="020B0503020204020204" pitchFamily="34" charset="-122"/>
              </a:rPr>
              <a:t>互利的供方关系</a:t>
            </a:r>
            <a:r>
              <a:rPr lang="zh-CN" altLang="en-US" sz="2400" dirty="0">
                <a:solidFill>
                  <a:srgbClr val="333333"/>
                </a:solidFill>
                <a:latin typeface="微软雅黑" panose="020B0503020204020204" pitchFamily="34" charset="-122"/>
                <a:ea typeface="微软雅黑" panose="020B0503020204020204" pitchFamily="34" charset="-122"/>
              </a:rPr>
              <a:t>：组织与其供方是相互依存的，互利的关系可增强双方创造价值的能力。</a:t>
            </a:r>
            <a:endParaRPr lang="zh-CN" altLang="en-US" sz="240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ea typeface="方正粗宋简体"/>
                <a:cs typeface="方正粗宋简体"/>
              </a:rPr>
              <a:t>质量管理体系认证证书 </a:t>
            </a:r>
            <a:r>
              <a:rPr lang="en-US" altLang="zh-CN" sz="2400" b="1" dirty="0">
                <a:solidFill>
                  <a:srgbClr val="01395C"/>
                </a:solidFill>
                <a:latin typeface="方正粗宋简体"/>
                <a:ea typeface="方正粗宋简体"/>
                <a:cs typeface="方正粗宋简体"/>
              </a:rPr>
              <a:t>ISO 9001</a:t>
            </a:r>
            <a:endParaRPr lang="zh-CN" altLang="en-US" sz="2400" b="1" dirty="0">
              <a:solidFill>
                <a:srgbClr val="01395C"/>
              </a:solidFill>
              <a:latin typeface="方正粗宋简体"/>
              <a:ea typeface="方正粗宋简体"/>
              <a:cs typeface="方正粗宋简体"/>
            </a:endParaRPr>
          </a:p>
        </p:txBody>
      </p:sp>
      <p:sp>
        <p:nvSpPr>
          <p:cNvPr id="11" name="文本框 10"/>
          <p:cNvSpPr txBox="1"/>
          <p:nvPr/>
        </p:nvSpPr>
        <p:spPr>
          <a:xfrm>
            <a:off x="513773" y="487745"/>
            <a:ext cx="11164454" cy="1135054"/>
          </a:xfrm>
          <a:prstGeom prst="rect">
            <a:avLst/>
          </a:prstGeom>
          <a:noFill/>
        </p:spPr>
        <p:txBody>
          <a:bodyPr wrap="square">
            <a:spAutoFit/>
          </a:bodyPr>
          <a:lstStyle/>
          <a:p>
            <a:pPr algn="l">
              <a:lnSpc>
                <a:spcPct val="150000"/>
              </a:lnSpc>
            </a:pPr>
            <a:r>
              <a:rPr lang="zh-CN" altLang="en-US" sz="2400" b="0" i="0" dirty="0">
                <a:solidFill>
                  <a:srgbClr val="333333"/>
                </a:solidFill>
                <a:effectLst/>
                <a:latin typeface="微软雅黑" panose="020B0503020204020204" pitchFamily="34" charset="-122"/>
                <a:ea typeface="微软雅黑" panose="020B0503020204020204" pitchFamily="34" charset="-122"/>
              </a:rPr>
              <a:t>推行</a:t>
            </a:r>
            <a:r>
              <a:rPr lang="en-US" altLang="zh-CN" sz="2400" b="1" i="0" u="none" strike="noStrike" dirty="0">
                <a:solidFill>
                  <a:srgbClr val="0068B7"/>
                </a:solidFill>
                <a:effectLst/>
                <a:latin typeface="微软雅黑" panose="020B0503020204020204" pitchFamily="34" charset="-122"/>
                <a:ea typeface="微软雅黑" panose="020B0503020204020204" pitchFamily="34" charset="-122"/>
              </a:rPr>
              <a:t>ISO9001</a:t>
            </a:r>
            <a:r>
              <a:rPr lang="zh-CN" altLang="en-US" sz="2400" b="0" i="0" dirty="0">
                <a:solidFill>
                  <a:srgbClr val="333333"/>
                </a:solidFill>
                <a:effectLst/>
                <a:latin typeface="微软雅黑" panose="020B0503020204020204" pitchFamily="34" charset="-122"/>
                <a:ea typeface="微软雅黑" panose="020B0503020204020204" pitchFamily="34" charset="-122"/>
              </a:rPr>
              <a:t>有如下五个必不可少的过程：</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lnSpc>
                <a:spcPct val="150000"/>
              </a:lnSpc>
            </a:pPr>
            <a:r>
              <a:rPr lang="zh-CN" altLang="en-US" sz="2400" b="0" i="0" dirty="0">
                <a:solidFill>
                  <a:srgbClr val="333333"/>
                </a:solidFill>
                <a:effectLst/>
                <a:latin typeface="微软雅黑" panose="020B0503020204020204" pitchFamily="34" charset="-122"/>
                <a:ea typeface="微软雅黑" panose="020B0503020204020204" pitchFamily="34" charset="-122"/>
              </a:rPr>
              <a:t>知识准备－立法－宣贯－执行－监督、改进。</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p:txBody>
      </p:sp>
      <p:sp>
        <p:nvSpPr>
          <p:cNvPr id="10" name="文本框 9"/>
          <p:cNvSpPr txBox="1"/>
          <p:nvPr/>
        </p:nvSpPr>
        <p:spPr>
          <a:xfrm>
            <a:off x="513773" y="1801962"/>
            <a:ext cx="10970491" cy="5262979"/>
          </a:xfrm>
          <a:prstGeom prst="rect">
            <a:avLst/>
          </a:prstGeom>
          <a:noFill/>
        </p:spPr>
        <p:txBody>
          <a:bodyPr wrap="square">
            <a:spAutoFit/>
          </a:bodyPr>
          <a:lstStyle/>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以下是企业推行</a:t>
            </a:r>
            <a:r>
              <a:rPr lang="en-US" altLang="zh-CN" sz="2400" b="1" i="0" dirty="0">
                <a:solidFill>
                  <a:srgbClr val="333333"/>
                </a:solidFill>
                <a:effectLst/>
                <a:latin typeface="微软雅黑" panose="020B0503020204020204" pitchFamily="34" charset="-122"/>
                <a:ea typeface="微软雅黑" panose="020B0503020204020204" pitchFamily="34" charset="-122"/>
              </a:rPr>
              <a:t>ISO9000</a:t>
            </a:r>
            <a:r>
              <a:rPr lang="zh-CN" altLang="en-US" sz="2400" b="1" i="0" dirty="0">
                <a:solidFill>
                  <a:srgbClr val="333333"/>
                </a:solidFill>
                <a:effectLst/>
                <a:latin typeface="微软雅黑" panose="020B0503020204020204" pitchFamily="34" charset="-122"/>
                <a:ea typeface="微软雅黑" panose="020B0503020204020204" pitchFamily="34" charset="-122"/>
              </a:rPr>
              <a:t>的</a:t>
            </a:r>
            <a:r>
              <a:rPr lang="zh-CN" altLang="en-US" sz="2400" b="1" i="0" dirty="0">
                <a:solidFill>
                  <a:srgbClr val="C00000"/>
                </a:solidFill>
                <a:effectLst/>
                <a:latin typeface="微软雅黑" panose="020B0503020204020204" pitchFamily="34" charset="-122"/>
                <a:ea typeface="微软雅黑" panose="020B0503020204020204" pitchFamily="34" charset="-122"/>
              </a:rPr>
              <a:t>典型步骤</a:t>
            </a:r>
            <a:r>
              <a:rPr lang="zh-CN" altLang="en-US" sz="2400" b="0" i="0" dirty="0">
                <a:solidFill>
                  <a:srgbClr val="333333"/>
                </a:solidFill>
                <a:effectLst/>
                <a:latin typeface="微软雅黑" panose="020B0503020204020204" pitchFamily="34" charset="-122"/>
                <a:ea typeface="微软雅黑" panose="020B0503020204020204" pitchFamily="34" charset="-122"/>
              </a:rPr>
              <a:t>，可以看出，这些步骤中完整地包含了上述五个过程：</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企业原有质量体系识别、诊断；</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任命管理者代表、组建</a:t>
            </a:r>
            <a:r>
              <a:rPr lang="en-US" altLang="zh-CN" sz="2400" b="0" i="0" dirty="0">
                <a:solidFill>
                  <a:srgbClr val="333333"/>
                </a:solidFill>
                <a:effectLst/>
                <a:latin typeface="微软雅黑" panose="020B0503020204020204" pitchFamily="34" charset="-122"/>
                <a:ea typeface="微软雅黑" panose="020B0503020204020204" pitchFamily="34" charset="-122"/>
              </a:rPr>
              <a:t>ISO9000</a:t>
            </a:r>
            <a:r>
              <a:rPr lang="zh-CN" altLang="en-US" sz="2400" b="0" i="0" dirty="0">
                <a:solidFill>
                  <a:srgbClr val="333333"/>
                </a:solidFill>
                <a:effectLst/>
                <a:latin typeface="微软雅黑" panose="020B0503020204020204" pitchFamily="34" charset="-122"/>
                <a:ea typeface="微软雅黑" panose="020B0503020204020204" pitchFamily="34" charset="-122"/>
              </a:rPr>
              <a:t>推行组织；</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制订目标及激励措施；</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各级人员接受必要的管理意识和质量意识训练；</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a:t>
            </a:r>
            <a:r>
              <a:rPr lang="en-US" altLang="zh-CN" sz="2400" b="1" i="0" u="none" strike="noStrike" dirty="0">
                <a:solidFill>
                  <a:srgbClr val="0068B7"/>
                </a:solidFill>
                <a:effectLst/>
                <a:latin typeface="微软雅黑" panose="020B0503020204020204" pitchFamily="34" charset="-122"/>
                <a:ea typeface="微软雅黑" panose="020B0503020204020204" pitchFamily="34" charset="-122"/>
                <a:hlinkClick r:id="rId1"/>
              </a:rPr>
              <a:t>ISO9001</a:t>
            </a:r>
            <a:r>
              <a:rPr lang="zh-CN" altLang="en-US" sz="2400" b="1" i="0" u="none" strike="noStrike" dirty="0">
                <a:solidFill>
                  <a:srgbClr val="0068B7"/>
                </a:solidFill>
                <a:effectLst/>
                <a:latin typeface="微软雅黑" panose="020B0503020204020204" pitchFamily="34" charset="-122"/>
                <a:ea typeface="微软雅黑" panose="020B0503020204020204" pitchFamily="34" charset="-122"/>
                <a:hlinkClick r:id="rId1"/>
              </a:rPr>
              <a:t>标准知识培训</a:t>
            </a:r>
            <a:r>
              <a:rPr lang="zh-CN" altLang="en-US" sz="2400" b="0" i="0" dirty="0">
                <a:solidFill>
                  <a:srgbClr val="333333"/>
                </a:solidFill>
                <a:effectLst/>
                <a:latin typeface="微软雅黑" panose="020B0503020204020204" pitchFamily="34" charset="-122"/>
                <a:ea typeface="微软雅黑" panose="020B0503020204020204" pitchFamily="34" charset="-122"/>
              </a:rPr>
              <a:t>；</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质量体系文件编写（立法）；</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质量体系文件大面积宣传、培训、发布、试运行；</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内审员接受训练；</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若干次内部质量体系审核；</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在内审基础上的管理者评审；</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质量管理体系完善和改进；</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a:p>
            <a:pPr algn="l"/>
            <a:r>
              <a:rPr lang="zh-CN" altLang="en-US" sz="2400" b="0" i="0" dirty="0">
                <a:solidFill>
                  <a:srgbClr val="333333"/>
                </a:solidFill>
                <a:effectLst/>
                <a:latin typeface="微软雅黑" panose="020B0503020204020204" pitchFamily="34" charset="-122"/>
                <a:ea typeface="微软雅黑" panose="020B0503020204020204" pitchFamily="34" charset="-122"/>
              </a:rPr>
              <a:t>○　申请认证。</a:t>
            </a:r>
            <a:endParaRPr lang="zh-CN" altLang="en-US" sz="2400" b="0" i="0" dirty="0">
              <a:solidFill>
                <a:srgbClr val="333333"/>
              </a:solidFill>
              <a:effectLst/>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9213" y="0"/>
            <a:ext cx="9553575" cy="75612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6.1 </a:t>
            </a:r>
            <a:r>
              <a:rPr lang="zh-CN" altLang="en-US" sz="2400" b="1" dirty="0">
                <a:solidFill>
                  <a:srgbClr val="01395C"/>
                </a:solidFill>
                <a:latin typeface="方正粗宋简体"/>
                <a:ea typeface="方正粗宋简体"/>
                <a:cs typeface="方正粗宋简体"/>
              </a:rPr>
              <a:t>项目质量的定义</a:t>
            </a:r>
            <a:r>
              <a:rPr lang="en-US" altLang="zh-CN" sz="2400" b="1" dirty="0">
                <a:solidFill>
                  <a:srgbClr val="01395C"/>
                </a:solidFill>
                <a:latin typeface="方正粗宋简体"/>
                <a:ea typeface="方正粗宋简体"/>
                <a:cs typeface="方正粗宋简体"/>
              </a:rPr>
              <a:t> </a:t>
            </a:r>
            <a:endParaRPr lang="zh-CN" altLang="en-US" sz="2400" b="1" dirty="0">
              <a:solidFill>
                <a:srgbClr val="01395C"/>
              </a:solidFill>
              <a:latin typeface="方正粗宋简体"/>
              <a:ea typeface="方正粗宋简体"/>
              <a:cs typeface="方正粗宋简体"/>
            </a:endParaRPr>
          </a:p>
        </p:txBody>
      </p:sp>
      <p:sp>
        <p:nvSpPr>
          <p:cNvPr id="3" name="文本框 2"/>
          <p:cNvSpPr txBox="1"/>
          <p:nvPr/>
        </p:nvSpPr>
        <p:spPr>
          <a:xfrm>
            <a:off x="489527" y="1923333"/>
            <a:ext cx="11462327" cy="4538422"/>
          </a:xfrm>
          <a:prstGeom prst="rect">
            <a:avLst/>
          </a:prstGeom>
          <a:noFill/>
        </p:spPr>
        <p:txBody>
          <a:bodyPr wrap="square" rtlCol="0">
            <a:spAutoFit/>
          </a:bodyPr>
          <a:lstStyle/>
          <a:p>
            <a:pPr>
              <a:lnSpc>
                <a:spcPct val="150000"/>
              </a:lnSpc>
            </a:pPr>
            <a:r>
              <a:rPr lang="en-US" altLang="zh-CN" sz="2800" dirty="0"/>
              <a:t>ISO9000</a:t>
            </a:r>
            <a:r>
              <a:rPr lang="zh-CN" altLang="en-US" sz="2800" dirty="0"/>
              <a:t>的定义是：一组固有</a:t>
            </a:r>
            <a:r>
              <a:rPr lang="zh-CN" altLang="en-US" sz="2800" dirty="0">
                <a:solidFill>
                  <a:srgbClr val="C00000"/>
                </a:solidFill>
              </a:rPr>
              <a:t>特性</a:t>
            </a:r>
            <a:r>
              <a:rPr lang="zh-CN" altLang="en-US" sz="2800" dirty="0"/>
              <a:t>满足</a:t>
            </a:r>
            <a:r>
              <a:rPr lang="zh-CN" altLang="en-US" sz="2800" dirty="0">
                <a:solidFill>
                  <a:srgbClr val="C00000"/>
                </a:solidFill>
              </a:rPr>
              <a:t>需求</a:t>
            </a:r>
            <a:r>
              <a:rPr lang="zh-CN" altLang="en-US" sz="2800" dirty="0"/>
              <a:t>的程度。</a:t>
            </a:r>
            <a:endParaRPr lang="en-US" altLang="zh-CN" sz="2800" dirty="0"/>
          </a:p>
          <a:p>
            <a:pPr>
              <a:lnSpc>
                <a:spcPct val="150000"/>
              </a:lnSpc>
            </a:pPr>
            <a:r>
              <a:rPr lang="zh-CN" altLang="en-US" sz="2800" dirty="0">
                <a:solidFill>
                  <a:srgbClr val="C00000"/>
                </a:solidFill>
              </a:rPr>
              <a:t>需求</a:t>
            </a:r>
            <a:r>
              <a:rPr lang="zh-CN" altLang="en-US" sz="2800" dirty="0"/>
              <a:t>指明示的、通常隐含的或必须履行的需求或期望</a:t>
            </a:r>
            <a:endParaRPr lang="en-US" altLang="zh-CN" sz="2800" dirty="0"/>
          </a:p>
          <a:p>
            <a:pPr>
              <a:lnSpc>
                <a:spcPct val="150000"/>
              </a:lnSpc>
            </a:pPr>
            <a:r>
              <a:rPr lang="zh-CN" altLang="en-US" sz="2800" dirty="0">
                <a:solidFill>
                  <a:srgbClr val="C00000"/>
                </a:solidFill>
              </a:rPr>
              <a:t>特性</a:t>
            </a:r>
            <a:r>
              <a:rPr lang="zh-CN" altLang="en-US" sz="2800" dirty="0"/>
              <a:t>是指可区分的特征，可以是固有的或赋予的、定性的或定量的、有各种类别的（物理的、感官的、行为的、时间的、功能的等）</a:t>
            </a:r>
            <a:endParaRPr lang="en-US" altLang="zh-CN" sz="2800" dirty="0"/>
          </a:p>
          <a:p>
            <a:pPr>
              <a:lnSpc>
                <a:spcPct val="150000"/>
              </a:lnSpc>
            </a:pPr>
            <a:endParaRPr lang="en-US" altLang="zh-CN" sz="2800" dirty="0"/>
          </a:p>
          <a:p>
            <a:pPr>
              <a:lnSpc>
                <a:spcPct val="150000"/>
              </a:lnSpc>
            </a:pPr>
            <a:r>
              <a:rPr lang="zh-CN" altLang="en-US" sz="2800" dirty="0"/>
              <a:t>一般说来，质量的内涵包括功能、美学性、特殊性、一致性、安全性、可靠性、寿命、售后服务等多方面。</a:t>
            </a:r>
            <a:endParaRPr lang="zh-CN" altLang="en-US" sz="2800" dirty="0"/>
          </a:p>
        </p:txBody>
      </p:sp>
      <p:sp>
        <p:nvSpPr>
          <p:cNvPr id="2" name="文本框 1"/>
          <p:cNvSpPr txBox="1"/>
          <p:nvPr/>
        </p:nvSpPr>
        <p:spPr>
          <a:xfrm>
            <a:off x="4368692" y="939632"/>
            <a:ext cx="2236510"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质量的定义</a:t>
            </a:r>
            <a:endParaRPr lang="zh-CN" altLang="en-US" sz="3200"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p:cNvSpPr>
            <a:spLocks noGrp="1"/>
          </p:cNvSpPr>
          <p:nvPr>
            <p:ph type="sldNum" sz="quarter" idx="12"/>
          </p:nvPr>
        </p:nvSpPr>
        <p:spPr/>
        <p:txBody>
          <a:bodyPr/>
          <a:lstStyle>
            <a:lvl1pPr eaLnBrk="0" hangingPunct="0">
              <a:spcBef>
                <a:spcPts val="935"/>
              </a:spcBef>
              <a:buClr>
                <a:schemeClr val="accent2"/>
              </a:buClr>
              <a:buSzPct val="60000"/>
              <a:buFont typeface="Wingdings" panose="05000000000000000000" pitchFamily="2" charset="2"/>
              <a:buChar char=""/>
              <a:defRPr sz="3865">
                <a:solidFill>
                  <a:schemeClr val="tx1"/>
                </a:solidFill>
                <a:latin typeface="Tw Cen MT" panose="020B0602020104020603" pitchFamily="34" charset="0"/>
                <a:ea typeface="华文仿宋" panose="02010600040101010101" pitchFamily="2" charset="-122"/>
              </a:defRPr>
            </a:lvl1pPr>
            <a:lvl2pPr marL="990600" indent="-381000" eaLnBrk="0" hangingPunct="0">
              <a:spcBef>
                <a:spcPts val="735"/>
              </a:spcBef>
              <a:buClr>
                <a:schemeClr val="accent1"/>
              </a:buClr>
              <a:buSzPct val="70000"/>
              <a:buFont typeface="Wingdings 2" panose="05020102010507070707" pitchFamily="18" charset="2"/>
              <a:buChar char=""/>
              <a:defRPr sz="3465">
                <a:solidFill>
                  <a:schemeClr val="tx1"/>
                </a:solidFill>
                <a:latin typeface="Tw Cen MT" panose="020B0602020104020603" pitchFamily="34" charset="0"/>
                <a:ea typeface="华文仿宋" panose="02010600040101010101" pitchFamily="2" charset="-122"/>
              </a:defRPr>
            </a:lvl2pPr>
            <a:lvl3pPr marL="1524000" indent="-304800" eaLnBrk="0" hangingPunct="0">
              <a:spcBef>
                <a:spcPts val="665"/>
              </a:spcBef>
              <a:buClr>
                <a:schemeClr val="accent2"/>
              </a:buClr>
              <a:buSzPct val="75000"/>
              <a:buFont typeface="Wingdings" panose="05000000000000000000" pitchFamily="2" charset="2"/>
              <a:buChar char=""/>
              <a:defRPr sz="3065">
                <a:solidFill>
                  <a:schemeClr val="tx1"/>
                </a:solidFill>
                <a:latin typeface="Tw Cen MT" panose="020B0602020104020603" pitchFamily="34" charset="0"/>
                <a:ea typeface="华文仿宋" panose="02010600040101010101" pitchFamily="2" charset="-122"/>
              </a:defRPr>
            </a:lvl3pPr>
            <a:lvl4pPr marL="2133600" indent="-304800" eaLnBrk="0" hangingPunct="0">
              <a:spcBef>
                <a:spcPts val="535"/>
              </a:spcBef>
              <a:buClr>
                <a:srgbClr val="A5AB81"/>
              </a:buClr>
              <a:buSzPct val="7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4pPr>
            <a:lvl5pPr marL="2743200" indent="-304800" eaLnBrk="0" hangingPunct="0">
              <a:spcBef>
                <a:spcPts val="535"/>
              </a:spcBef>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5pPr>
            <a:lvl6pPr marL="33528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6pPr>
            <a:lvl7pPr marL="39624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7pPr>
            <a:lvl8pPr marL="45720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8pPr>
            <a:lvl9pPr marL="51816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9pPr>
          </a:lstStyle>
          <a:p>
            <a:pPr eaLnBrk="1" hangingPunct="1">
              <a:lnSpc>
                <a:spcPct val="80000"/>
              </a:lnSpc>
              <a:spcBef>
                <a:spcPct val="0"/>
              </a:spcBef>
              <a:buClrTx/>
              <a:buSzTx/>
              <a:buFontTx/>
              <a:buNone/>
            </a:pPr>
            <a:fld id="{1718C2C4-86B3-4691-A36C-A2AA2BCDB8A8}" type="slidenum">
              <a:rPr kumimoji="1" lang="en-US" altLang="zh-CN" sz="935">
                <a:latin typeface="Arial Narrow" panose="020B0606020202030204" pitchFamily="34" charset="0"/>
                <a:ea typeface="宋体" panose="02010600030101010101" pitchFamily="2" charset="-122"/>
              </a:rPr>
            </a:fld>
            <a:endParaRPr kumimoji="1" lang="en-US" altLang="zh-CN" sz="935">
              <a:latin typeface="Arial Narrow" panose="020B0606020202030204" pitchFamily="34" charset="0"/>
              <a:ea typeface="宋体" panose="02010600030101010101" pitchFamily="2" charset="-122"/>
            </a:endParaRPr>
          </a:p>
        </p:txBody>
      </p:sp>
      <p:sp>
        <p:nvSpPr>
          <p:cNvPr id="516099" name="Rectangle 3"/>
          <p:cNvSpPr>
            <a:spLocks noGrp="1" noChangeArrowheads="1"/>
          </p:cNvSpPr>
          <p:nvPr>
            <p:ph sz="quarter" idx="1"/>
          </p:nvPr>
        </p:nvSpPr>
        <p:spPr>
          <a:xfrm>
            <a:off x="431801" y="949302"/>
            <a:ext cx="10640484" cy="759425"/>
          </a:xfrm>
          <a:ln>
            <a:solidFill>
              <a:schemeClr val="accent1">
                <a:lumMod val="75000"/>
              </a:schemeClr>
            </a:solidFill>
          </a:ln>
        </p:spPr>
        <p:txBody>
          <a:bodyPr>
            <a:noAutofit/>
          </a:bodyPr>
          <a:lstStyle/>
          <a:p>
            <a:pPr marL="426720" indent="-426720" eaLnBrk="1" fontAlgn="auto" hangingPunct="1">
              <a:lnSpc>
                <a:spcPct val="110000"/>
              </a:lnSpc>
              <a:spcAft>
                <a:spcPts val="0"/>
              </a:spcAft>
              <a:defRPr/>
            </a:pPr>
            <a:r>
              <a:rPr lang="zh-CN" altLang="en-US" kern="1200" dirty="0">
                <a:latin typeface="Impact" panose="020B0806030902050204" pitchFamily="34" charset="0"/>
                <a:ea typeface="微软雅黑" panose="020B0503020204020204" pitchFamily="34" charset="-122"/>
              </a:rPr>
              <a:t>人们通常把影响软件质量的特性用</a:t>
            </a:r>
            <a:r>
              <a:rPr lang="zh-CN" altLang="en-US" kern="1200" dirty="0">
                <a:solidFill>
                  <a:srgbClr val="C00000"/>
                </a:solidFill>
                <a:latin typeface="Impact" panose="020B0806030902050204" pitchFamily="34" charset="0"/>
                <a:ea typeface="微软雅黑" panose="020B0503020204020204" pitchFamily="34" charset="-122"/>
              </a:rPr>
              <a:t>软件质量模型</a:t>
            </a:r>
            <a:r>
              <a:rPr lang="zh-CN" altLang="en-US" kern="1200" dirty="0">
                <a:latin typeface="Impact" panose="020B0806030902050204" pitchFamily="34" charset="0"/>
                <a:ea typeface="微软雅黑" panose="020B0503020204020204" pitchFamily="34" charset="-122"/>
              </a:rPr>
              <a:t>来描述。</a:t>
            </a:r>
            <a:endParaRPr lang="zh-CN" altLang="en-US" kern="1200" dirty="0">
              <a:latin typeface="Impact" panose="020B0806030902050204" pitchFamily="34" charset="0"/>
              <a:ea typeface="微软雅黑" panose="020B0503020204020204" pitchFamily="34" charset="-122"/>
            </a:endParaRPr>
          </a:p>
        </p:txBody>
      </p:sp>
      <p:sp>
        <p:nvSpPr>
          <p:cNvPr id="6" name="Rectangle 3"/>
          <p:cNvSpPr txBox="1">
            <a:spLocks noChangeArrowheads="1"/>
          </p:cNvSpPr>
          <p:nvPr/>
        </p:nvSpPr>
        <p:spPr bwMode="auto">
          <a:xfrm>
            <a:off x="431801" y="1804022"/>
            <a:ext cx="10640484" cy="1788924"/>
          </a:xfrm>
          <a:prstGeom prst="rect">
            <a:avLst/>
          </a:prstGeom>
          <a:noFill/>
          <a:ln>
            <a:solidFill>
              <a:schemeClr val="accent1">
                <a:lumMod val="75000"/>
              </a:schemeClr>
            </a:solidFill>
          </a:ln>
          <a:extLst>
            <a:ext uri="{909E8E84-426E-40DD-AFC4-6F175D3DCCD1}">
              <a14:hiddenFill xmlns:a14="http://schemas.microsoft.com/office/drawing/2010/main">
                <a:solidFill>
                  <a:srgbClr val="FFFFFF"/>
                </a:solidFill>
              </a14:hiddenFill>
            </a:ext>
          </a:extLst>
        </p:spPr>
        <p:txBody>
          <a:bodyPr>
            <a:normAutofit/>
          </a:bodyPr>
          <a:lstStyle>
            <a:lvl1pPr marL="319405" indent="-319405" algn="l" rtl="0" fontAlgn="base">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40080" indent="-273050" algn="l" rtl="0" fontAlgn="base">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a:lstStyle>
          <a:p>
            <a:pPr marL="426720" indent="-426720" fontAlgn="auto">
              <a:lnSpc>
                <a:spcPct val="95000"/>
              </a:lnSpc>
              <a:spcAft>
                <a:spcPts val="0"/>
              </a:spcAft>
              <a:buFont typeface="Wingdings" panose="05000000000000000000" pitchFamily="2" charset="2"/>
              <a:buChar char="n"/>
              <a:defRPr/>
            </a:pPr>
            <a:r>
              <a:rPr lang="en-US" altLang="zh-CN" sz="2800" dirty="0">
                <a:latin typeface="Impact" panose="020B0806030902050204" pitchFamily="34" charset="0"/>
                <a:ea typeface="微软雅黑" panose="020B0503020204020204" pitchFamily="34" charset="-122"/>
              </a:rPr>
              <a:t>1976</a:t>
            </a:r>
            <a:r>
              <a:rPr lang="zh-CN" altLang="en-US" sz="2800" dirty="0">
                <a:latin typeface="Impact" panose="020B0806030902050204" pitchFamily="34" charset="0"/>
                <a:ea typeface="微软雅黑" panose="020B0503020204020204" pitchFamily="34" charset="-122"/>
              </a:rPr>
              <a:t>年  </a:t>
            </a:r>
            <a:r>
              <a:rPr lang="en-US" altLang="zh-CN" sz="2800" dirty="0">
                <a:latin typeface="Impact" panose="020B0806030902050204" pitchFamily="34" charset="0"/>
                <a:ea typeface="微软雅黑" panose="020B0503020204020204" pitchFamily="34" charset="-122"/>
              </a:rPr>
              <a:t>Boehm</a:t>
            </a:r>
            <a:r>
              <a:rPr lang="zh-CN" altLang="en-US" sz="2800" dirty="0">
                <a:latin typeface="Impact" panose="020B0806030902050204" pitchFamily="34" charset="0"/>
                <a:ea typeface="微软雅黑" panose="020B0503020204020204" pitchFamily="34" charset="-122"/>
              </a:rPr>
              <a:t>质量模型</a:t>
            </a:r>
            <a:endParaRPr lang="zh-CN" altLang="en-US" sz="2800" dirty="0">
              <a:latin typeface="Impact" panose="020B0806030902050204" pitchFamily="34" charset="0"/>
              <a:ea typeface="微软雅黑" panose="020B0503020204020204" pitchFamily="34" charset="-122"/>
            </a:endParaRPr>
          </a:p>
          <a:p>
            <a:pPr marL="426720" indent="-426720" fontAlgn="auto">
              <a:lnSpc>
                <a:spcPct val="95000"/>
              </a:lnSpc>
              <a:spcAft>
                <a:spcPts val="0"/>
              </a:spcAft>
              <a:buFont typeface="Wingdings" panose="05000000000000000000" pitchFamily="2" charset="2"/>
              <a:buChar char="n"/>
              <a:defRPr/>
            </a:pPr>
            <a:r>
              <a:rPr lang="en-US" altLang="zh-CN" sz="2800" dirty="0">
                <a:latin typeface="Impact" panose="020B0806030902050204" pitchFamily="34" charset="0"/>
                <a:ea typeface="微软雅黑" panose="020B0503020204020204" pitchFamily="34" charset="-122"/>
              </a:rPr>
              <a:t>1979</a:t>
            </a:r>
            <a:r>
              <a:rPr lang="zh-CN" altLang="en-US" sz="2800" dirty="0">
                <a:latin typeface="Impact" panose="020B0806030902050204" pitchFamily="34" charset="0"/>
                <a:ea typeface="微软雅黑" panose="020B0503020204020204" pitchFamily="34" charset="-122"/>
              </a:rPr>
              <a:t>年  </a:t>
            </a:r>
            <a:r>
              <a:rPr lang="en-US" altLang="zh-CN" sz="2800" dirty="0">
                <a:latin typeface="Impact" panose="020B0806030902050204" pitchFamily="34" charset="0"/>
                <a:ea typeface="微软雅黑" panose="020B0503020204020204" pitchFamily="34" charset="-122"/>
              </a:rPr>
              <a:t>McCall</a:t>
            </a:r>
            <a:r>
              <a:rPr lang="zh-CN" altLang="en-US" sz="2800" dirty="0">
                <a:latin typeface="Impact" panose="020B0806030902050204" pitchFamily="34" charset="0"/>
                <a:ea typeface="微软雅黑" panose="020B0503020204020204" pitchFamily="34" charset="-122"/>
              </a:rPr>
              <a:t>质量模型</a:t>
            </a:r>
            <a:endParaRPr lang="zh-CN" altLang="en-US" sz="2800" dirty="0">
              <a:latin typeface="Impact" panose="020B0806030902050204" pitchFamily="34" charset="0"/>
              <a:ea typeface="微软雅黑" panose="020B0503020204020204" pitchFamily="34" charset="-122"/>
            </a:endParaRPr>
          </a:p>
          <a:p>
            <a:pPr marL="426720" indent="-426720" fontAlgn="auto">
              <a:lnSpc>
                <a:spcPct val="95000"/>
              </a:lnSpc>
              <a:spcAft>
                <a:spcPts val="0"/>
              </a:spcAft>
              <a:buFont typeface="Wingdings" panose="05000000000000000000" pitchFamily="2" charset="2"/>
              <a:buChar char="n"/>
              <a:defRPr/>
            </a:pPr>
            <a:r>
              <a:rPr lang="en-US" altLang="zh-CN" sz="2800" dirty="0">
                <a:latin typeface="Impact" panose="020B0806030902050204" pitchFamily="34" charset="0"/>
                <a:ea typeface="微软雅黑" panose="020B0503020204020204" pitchFamily="34" charset="-122"/>
              </a:rPr>
              <a:t>1985</a:t>
            </a:r>
            <a:r>
              <a:rPr lang="zh-CN" altLang="en-US" sz="2800" dirty="0">
                <a:latin typeface="Impact" panose="020B0806030902050204" pitchFamily="34" charset="0"/>
                <a:ea typeface="微软雅黑" panose="020B0503020204020204" pitchFamily="34" charset="-122"/>
              </a:rPr>
              <a:t>年  </a:t>
            </a:r>
            <a:r>
              <a:rPr lang="en-US" altLang="zh-CN" sz="2800" dirty="0">
                <a:latin typeface="Impact" panose="020B0806030902050204" pitchFamily="34" charset="0"/>
                <a:ea typeface="微软雅黑" panose="020B0503020204020204" pitchFamily="34" charset="-122"/>
              </a:rPr>
              <a:t>ISO</a:t>
            </a:r>
            <a:r>
              <a:rPr lang="zh-CN" altLang="en-US" sz="2800" dirty="0">
                <a:latin typeface="Impact" panose="020B0806030902050204" pitchFamily="34" charset="0"/>
                <a:ea typeface="微软雅黑" panose="020B0503020204020204" pitchFamily="34" charset="-122"/>
              </a:rPr>
              <a:t>质量模型</a:t>
            </a:r>
            <a:endParaRPr lang="zh-CN" altLang="en-US" sz="2800" dirty="0">
              <a:latin typeface="Impact" panose="020B0806030902050204" pitchFamily="34" charset="0"/>
              <a:ea typeface="微软雅黑" panose="020B0503020204020204" pitchFamily="34" charset="-122"/>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软件质量模型</a:t>
            </a:r>
            <a:endParaRPr lang="zh-CN" altLang="en-US" sz="2400" b="1" dirty="0">
              <a:solidFill>
                <a:srgbClr val="01395C"/>
              </a:solidFill>
              <a:latin typeface="方正粗宋简体"/>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lvl1pPr eaLnBrk="0" hangingPunct="0">
              <a:defRPr kumimoji="1" sz="6400">
                <a:solidFill>
                  <a:schemeClr val="tx1"/>
                </a:solidFill>
                <a:latin typeface="Arial Narrow" panose="020B0606020202030204" pitchFamily="34" charset="0"/>
                <a:ea typeface="宋体" panose="02010600030101010101" pitchFamily="2" charset="-122"/>
              </a:defRPr>
            </a:lvl1pPr>
            <a:lvl2pPr marL="990600" indent="-381000" eaLnBrk="0" hangingPunct="0">
              <a:defRPr kumimoji="1" sz="6400">
                <a:solidFill>
                  <a:schemeClr val="tx1"/>
                </a:solidFill>
                <a:latin typeface="Arial Narrow" panose="020B0606020202030204" pitchFamily="34" charset="0"/>
                <a:ea typeface="宋体" panose="02010600030101010101" pitchFamily="2" charset="-122"/>
              </a:defRPr>
            </a:lvl2pPr>
            <a:lvl3pPr marL="1524000" indent="-304800" eaLnBrk="0" hangingPunct="0">
              <a:defRPr kumimoji="1" sz="6400">
                <a:solidFill>
                  <a:schemeClr val="tx1"/>
                </a:solidFill>
                <a:latin typeface="Arial Narrow" panose="020B0606020202030204" pitchFamily="34" charset="0"/>
                <a:ea typeface="宋体" panose="02010600030101010101" pitchFamily="2" charset="-122"/>
              </a:defRPr>
            </a:lvl3pPr>
            <a:lvl4pPr marL="2133600" indent="-304800" eaLnBrk="0" hangingPunct="0">
              <a:defRPr kumimoji="1" sz="6400">
                <a:solidFill>
                  <a:schemeClr val="tx1"/>
                </a:solidFill>
                <a:latin typeface="Arial Narrow" panose="020B0606020202030204" pitchFamily="34" charset="0"/>
                <a:ea typeface="宋体" panose="02010600030101010101" pitchFamily="2" charset="-122"/>
              </a:defRPr>
            </a:lvl4pPr>
            <a:lvl5pPr marL="2743200" indent="-304800" eaLnBrk="0" hangingPunct="0">
              <a:defRPr kumimoji="1" sz="6400">
                <a:solidFill>
                  <a:schemeClr val="tx1"/>
                </a:solidFill>
                <a:latin typeface="Arial Narrow" panose="020B0606020202030204" pitchFamily="34" charset="0"/>
                <a:ea typeface="宋体" panose="02010600030101010101" pitchFamily="2" charset="-122"/>
              </a:defRPr>
            </a:lvl5pPr>
            <a:lvl6pPr marL="3352800" indent="-304800" eaLnBrk="0" fontAlgn="base" hangingPunct="0">
              <a:spcBef>
                <a:spcPct val="0"/>
              </a:spcBef>
              <a:spcAft>
                <a:spcPct val="0"/>
              </a:spcAft>
              <a:defRPr kumimoji="1" sz="6400">
                <a:solidFill>
                  <a:schemeClr val="tx1"/>
                </a:solidFill>
                <a:latin typeface="Arial Narrow" panose="020B0606020202030204" pitchFamily="34" charset="0"/>
                <a:ea typeface="宋体" panose="02010600030101010101" pitchFamily="2" charset="-122"/>
              </a:defRPr>
            </a:lvl6pPr>
            <a:lvl7pPr marL="3962400" indent="-304800" eaLnBrk="0" fontAlgn="base" hangingPunct="0">
              <a:spcBef>
                <a:spcPct val="0"/>
              </a:spcBef>
              <a:spcAft>
                <a:spcPct val="0"/>
              </a:spcAft>
              <a:defRPr kumimoji="1" sz="6400">
                <a:solidFill>
                  <a:schemeClr val="tx1"/>
                </a:solidFill>
                <a:latin typeface="Arial Narrow" panose="020B0606020202030204" pitchFamily="34" charset="0"/>
                <a:ea typeface="宋体" panose="02010600030101010101" pitchFamily="2" charset="-122"/>
              </a:defRPr>
            </a:lvl7pPr>
            <a:lvl8pPr marL="4572000" indent="-304800" eaLnBrk="0" fontAlgn="base" hangingPunct="0">
              <a:spcBef>
                <a:spcPct val="0"/>
              </a:spcBef>
              <a:spcAft>
                <a:spcPct val="0"/>
              </a:spcAft>
              <a:defRPr kumimoji="1" sz="6400">
                <a:solidFill>
                  <a:schemeClr val="tx1"/>
                </a:solidFill>
                <a:latin typeface="Arial Narrow" panose="020B0606020202030204" pitchFamily="34" charset="0"/>
                <a:ea typeface="宋体" panose="02010600030101010101" pitchFamily="2" charset="-122"/>
              </a:defRPr>
            </a:lvl8pPr>
            <a:lvl9pPr marL="5181600" indent="-304800" eaLnBrk="0" fontAlgn="base" hangingPunct="0">
              <a:spcBef>
                <a:spcPct val="0"/>
              </a:spcBef>
              <a:spcAft>
                <a:spcPct val="0"/>
              </a:spcAft>
              <a:defRPr kumimoji="1" sz="6400">
                <a:solidFill>
                  <a:schemeClr val="tx1"/>
                </a:solidFill>
                <a:latin typeface="Arial Narrow" panose="020B0606020202030204" pitchFamily="34" charset="0"/>
                <a:ea typeface="宋体" panose="02010600030101010101" pitchFamily="2" charset="-122"/>
              </a:defRPr>
            </a:lvl9pPr>
          </a:lstStyle>
          <a:p>
            <a:pPr eaLnBrk="1" hangingPunct="1">
              <a:lnSpc>
                <a:spcPct val="80000"/>
              </a:lnSpc>
            </a:pPr>
            <a:fld id="{B879EB13-E8B0-4A5C-B129-A7EB3D097D1D}" type="slidenum">
              <a:rPr kumimoji="0" lang="en-US" altLang="zh-CN" sz="935">
                <a:solidFill>
                  <a:srgbClr val="FFFFFF"/>
                </a:solidFill>
              </a:rPr>
            </a:fld>
            <a:endParaRPr kumimoji="0" lang="en-US" altLang="zh-CN" sz="935">
              <a:solidFill>
                <a:srgbClr val="FFFFFF"/>
              </a:solidFill>
            </a:endParaRPr>
          </a:p>
        </p:txBody>
      </p:sp>
      <p:sp>
        <p:nvSpPr>
          <p:cNvPr id="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软件质量模型</a:t>
            </a:r>
            <a:r>
              <a:rPr lang="en-US" altLang="zh-CN" sz="2400" b="1" dirty="0">
                <a:solidFill>
                  <a:srgbClr val="01395C"/>
                </a:solidFill>
                <a:latin typeface="方正粗宋简体"/>
              </a:rPr>
              <a:t>-Boehm</a:t>
            </a:r>
            <a:r>
              <a:rPr lang="zh-CN" altLang="zh-CN" sz="2400" b="1" dirty="0">
                <a:solidFill>
                  <a:srgbClr val="01395C"/>
                </a:solidFill>
                <a:latin typeface="方正粗宋简体"/>
              </a:rPr>
              <a:t>模型</a:t>
            </a:r>
            <a:endParaRPr lang="zh-CN" altLang="en-US" sz="2400" b="1" dirty="0">
              <a:solidFill>
                <a:srgbClr val="01395C"/>
              </a:solidFill>
              <a:latin typeface="方正粗宋简体"/>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62996" y="1017369"/>
            <a:ext cx="6266007" cy="5990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443855" y="1080447"/>
            <a:ext cx="748145" cy="18493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endParaRPr lang="zh-CN" altLang="en-US" dirty="0">
              <a:latin typeface="华文隶书" panose="02010800040101010101" pitchFamily="2" charset="-122"/>
              <a:ea typeface="华文隶书" panose="02010800040101010101" pitchFamily="2" charset="-122"/>
            </a:endParaRPr>
          </a:p>
        </p:txBody>
      </p:sp>
      <p:sp>
        <p:nvSpPr>
          <p:cNvPr id="27651" name="页脚占位符 3"/>
          <p:cNvSpPr>
            <a:spLocks noGrp="1"/>
          </p:cNvSpPr>
          <p:nvPr>
            <p:ph type="ftr" sz="quarter" idx="11"/>
          </p:nvPr>
        </p:nvSpPr>
        <p:spPr bwMode="auto">
          <a:xfrm>
            <a:off x="609600" y="4686300"/>
            <a:ext cx="5421313" cy="2730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lstStyle>
            <a:defPPr>
              <a:defRPr lang="zh-CN"/>
            </a:defPPr>
            <a:lvl1pPr algn="r" rtl="0" eaLnBrk="1" fontAlgn="base" latinLnBrk="0" hangingPunct="1">
              <a:spcBef>
                <a:spcPct val="0"/>
              </a:spcBef>
              <a:spcAft>
                <a:spcPct val="0"/>
              </a:spcAft>
              <a:defRPr kumimoji="0" sz="1400" kern="1200">
                <a:solidFill>
                  <a:schemeClr val="tx2"/>
                </a:solidFill>
                <a:latin typeface="Arial Narrow" panose="020B0606020202030204" pitchFamily="34" charset="0"/>
                <a:ea typeface="宋体" panose="02010600030101010101" pitchFamily="2" charset="-122"/>
                <a:cs typeface="+mn-cs"/>
              </a:defRPr>
            </a:lvl1pPr>
            <a:lvl2pPr marL="457200" algn="l" rtl="0" fontAlgn="base">
              <a:spcBef>
                <a:spcPct val="0"/>
              </a:spcBef>
              <a:spcAft>
                <a:spcPct val="0"/>
              </a:spcAft>
              <a:defRPr kumimoji="1" sz="4800" kern="1200">
                <a:solidFill>
                  <a:schemeClr val="tx1"/>
                </a:solidFill>
                <a:latin typeface="Arial Narrow" panose="020B0606020202030204" pitchFamily="34" charset="0"/>
                <a:ea typeface="宋体" panose="02010600030101010101" pitchFamily="2" charset="-122"/>
                <a:cs typeface="+mn-cs"/>
              </a:defRPr>
            </a:lvl2pPr>
            <a:lvl3pPr marL="914400" algn="l" rtl="0" fontAlgn="base">
              <a:spcBef>
                <a:spcPct val="0"/>
              </a:spcBef>
              <a:spcAft>
                <a:spcPct val="0"/>
              </a:spcAft>
              <a:defRPr kumimoji="1" sz="4800" kern="1200">
                <a:solidFill>
                  <a:schemeClr val="tx1"/>
                </a:solidFill>
                <a:latin typeface="Arial Narrow" panose="020B0606020202030204" pitchFamily="34" charset="0"/>
                <a:ea typeface="宋体" panose="02010600030101010101" pitchFamily="2" charset="-122"/>
                <a:cs typeface="+mn-cs"/>
              </a:defRPr>
            </a:lvl3pPr>
            <a:lvl4pPr marL="1371600" algn="l" rtl="0" fontAlgn="base">
              <a:spcBef>
                <a:spcPct val="0"/>
              </a:spcBef>
              <a:spcAft>
                <a:spcPct val="0"/>
              </a:spcAft>
              <a:defRPr kumimoji="1" sz="4800" kern="1200">
                <a:solidFill>
                  <a:schemeClr val="tx1"/>
                </a:solidFill>
                <a:latin typeface="Arial Narrow" panose="020B0606020202030204" pitchFamily="34" charset="0"/>
                <a:ea typeface="宋体" panose="02010600030101010101" pitchFamily="2" charset="-122"/>
                <a:cs typeface="+mn-cs"/>
              </a:defRPr>
            </a:lvl4pPr>
            <a:lvl5pPr marL="1828800" algn="l" rtl="0" fontAlgn="base">
              <a:spcBef>
                <a:spcPct val="0"/>
              </a:spcBef>
              <a:spcAft>
                <a:spcPct val="0"/>
              </a:spcAft>
              <a:defRPr kumimoji="1" sz="4800" kern="1200">
                <a:solidFill>
                  <a:schemeClr val="tx1"/>
                </a:solidFill>
                <a:latin typeface="Arial Narrow" panose="020B0606020202030204" pitchFamily="34" charset="0"/>
                <a:ea typeface="宋体" panose="02010600030101010101" pitchFamily="2" charset="-122"/>
                <a:cs typeface="+mn-cs"/>
              </a:defRPr>
            </a:lvl5pPr>
            <a:lvl6pPr marL="2286000" algn="l" defTabSz="914400" rtl="0" eaLnBrk="1" latinLnBrk="0" hangingPunct="1">
              <a:defRPr kumimoji="1" sz="4800" kern="1200">
                <a:solidFill>
                  <a:schemeClr val="tx1"/>
                </a:solidFill>
                <a:latin typeface="Arial Narrow" panose="020B0606020202030204" pitchFamily="34" charset="0"/>
                <a:ea typeface="宋体" panose="02010600030101010101" pitchFamily="2" charset="-122"/>
                <a:cs typeface="+mn-cs"/>
              </a:defRPr>
            </a:lvl6pPr>
            <a:lvl7pPr marL="2743200" algn="l" defTabSz="914400" rtl="0" eaLnBrk="1" latinLnBrk="0" hangingPunct="1">
              <a:defRPr kumimoji="1" sz="4800" kern="1200">
                <a:solidFill>
                  <a:schemeClr val="tx1"/>
                </a:solidFill>
                <a:latin typeface="Arial Narrow" panose="020B0606020202030204" pitchFamily="34" charset="0"/>
                <a:ea typeface="宋体" panose="02010600030101010101" pitchFamily="2" charset="-122"/>
                <a:cs typeface="+mn-cs"/>
              </a:defRPr>
            </a:lvl7pPr>
            <a:lvl8pPr marL="3200400" algn="l" defTabSz="914400" rtl="0" eaLnBrk="1" latinLnBrk="0" hangingPunct="1">
              <a:defRPr kumimoji="1" sz="4800" kern="1200">
                <a:solidFill>
                  <a:schemeClr val="tx1"/>
                </a:solidFill>
                <a:latin typeface="Arial Narrow" panose="020B0606020202030204" pitchFamily="34" charset="0"/>
                <a:ea typeface="宋体" panose="02010600030101010101" pitchFamily="2" charset="-122"/>
                <a:cs typeface="+mn-cs"/>
              </a:defRPr>
            </a:lvl8pPr>
            <a:lvl9pPr marL="3657600" algn="l" defTabSz="914400" rtl="0" eaLnBrk="1" latinLnBrk="0" hangingPunct="1">
              <a:defRPr kumimoji="1" sz="4800" kern="1200">
                <a:solidFill>
                  <a:schemeClr val="tx1"/>
                </a:solidFill>
                <a:latin typeface="Arial Narrow" panose="020B0606020202030204" pitchFamily="34" charset="0"/>
                <a:ea typeface="宋体" panose="02010600030101010101" pitchFamily="2" charset="-122"/>
                <a:cs typeface="+mn-cs"/>
              </a:defRPr>
            </a:lvl9pPr>
          </a:lstStyle>
          <a:p>
            <a:pPr eaLnBrk="1" hangingPunct="1">
              <a:spcBef>
                <a:spcPct val="0"/>
              </a:spcBef>
              <a:buClrTx/>
              <a:buSzTx/>
              <a:buFontTx/>
              <a:buNone/>
            </a:pPr>
            <a:r>
              <a:rPr lang="en-US" altLang="zh-CN"/>
              <a:t> chapter__5</a:t>
            </a:r>
            <a:endParaRPr kumimoji="1" lang="en-US" altLang="zh-CN" sz="1865">
              <a:latin typeface="Arial Narrow" panose="020B0606020202030204" pitchFamily="34" charset="0"/>
              <a:ea typeface="宋体" panose="02010600030101010101" pitchFamily="2" charset="-122"/>
            </a:endParaRPr>
          </a:p>
        </p:txBody>
      </p:sp>
      <p:sp>
        <p:nvSpPr>
          <p:cNvPr id="2" name="灯片编号占位符 4"/>
          <p:cNvSpPr>
            <a:spLocks noGrp="1"/>
          </p:cNvSpPr>
          <p:nvPr>
            <p:ph type="sldNum" sz="quarter" idx="12"/>
          </p:nvPr>
        </p:nvSpPr>
        <p:spPr/>
        <p:txBody>
          <a:bodyPr/>
          <a:lstStyle>
            <a:lvl1pPr eaLnBrk="0" hangingPunct="0">
              <a:spcBef>
                <a:spcPts val="935"/>
              </a:spcBef>
              <a:buClr>
                <a:schemeClr val="accent2"/>
              </a:buClr>
              <a:buSzPct val="60000"/>
              <a:buFont typeface="Wingdings" panose="05000000000000000000" pitchFamily="2" charset="2"/>
              <a:buChar char=""/>
              <a:defRPr sz="3865">
                <a:solidFill>
                  <a:schemeClr val="tx1"/>
                </a:solidFill>
                <a:latin typeface="Tw Cen MT" panose="020B0602020104020603" pitchFamily="34" charset="0"/>
                <a:ea typeface="华文仿宋" panose="02010600040101010101" pitchFamily="2" charset="-122"/>
              </a:defRPr>
            </a:lvl1pPr>
            <a:lvl2pPr marL="990600" indent="-381000" eaLnBrk="0" hangingPunct="0">
              <a:spcBef>
                <a:spcPts val="735"/>
              </a:spcBef>
              <a:buClr>
                <a:schemeClr val="accent1"/>
              </a:buClr>
              <a:buSzPct val="70000"/>
              <a:buFont typeface="Wingdings 2" panose="05020102010507070707" pitchFamily="18" charset="2"/>
              <a:buChar char=""/>
              <a:defRPr sz="3465">
                <a:solidFill>
                  <a:schemeClr val="tx1"/>
                </a:solidFill>
                <a:latin typeface="Tw Cen MT" panose="020B0602020104020603" pitchFamily="34" charset="0"/>
                <a:ea typeface="华文仿宋" panose="02010600040101010101" pitchFamily="2" charset="-122"/>
              </a:defRPr>
            </a:lvl2pPr>
            <a:lvl3pPr marL="1524000" indent="-304800" eaLnBrk="0" hangingPunct="0">
              <a:spcBef>
                <a:spcPts val="665"/>
              </a:spcBef>
              <a:buClr>
                <a:schemeClr val="accent2"/>
              </a:buClr>
              <a:buSzPct val="75000"/>
              <a:buFont typeface="Wingdings" panose="05000000000000000000" pitchFamily="2" charset="2"/>
              <a:buChar char=""/>
              <a:defRPr sz="3065">
                <a:solidFill>
                  <a:schemeClr val="tx1"/>
                </a:solidFill>
                <a:latin typeface="Tw Cen MT" panose="020B0602020104020603" pitchFamily="34" charset="0"/>
                <a:ea typeface="华文仿宋" panose="02010600040101010101" pitchFamily="2" charset="-122"/>
              </a:defRPr>
            </a:lvl3pPr>
            <a:lvl4pPr marL="2133600" indent="-304800" eaLnBrk="0" hangingPunct="0">
              <a:spcBef>
                <a:spcPts val="535"/>
              </a:spcBef>
              <a:buClr>
                <a:srgbClr val="A5AB81"/>
              </a:buClr>
              <a:buSzPct val="7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4pPr>
            <a:lvl5pPr marL="2743200" indent="-304800" eaLnBrk="0" hangingPunct="0">
              <a:spcBef>
                <a:spcPts val="535"/>
              </a:spcBef>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5pPr>
            <a:lvl6pPr marL="33528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6pPr>
            <a:lvl7pPr marL="39624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7pPr>
            <a:lvl8pPr marL="45720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8pPr>
            <a:lvl9pPr marL="5181600" indent="-304800" eaLnBrk="0" fontAlgn="base" hangingPunct="0">
              <a:spcBef>
                <a:spcPts val="535"/>
              </a:spcBef>
              <a:spcAft>
                <a:spcPct val="0"/>
              </a:spcAft>
              <a:buClr>
                <a:srgbClr val="D8B25C"/>
              </a:buClr>
              <a:buSzPct val="65000"/>
              <a:buFont typeface="Wingdings" panose="05000000000000000000" pitchFamily="2" charset="2"/>
              <a:buChar char=""/>
              <a:defRPr sz="2665">
                <a:solidFill>
                  <a:schemeClr val="tx1"/>
                </a:solidFill>
                <a:latin typeface="Tw Cen MT" panose="020B0602020104020603" pitchFamily="34" charset="0"/>
                <a:ea typeface="华文仿宋" panose="02010600040101010101" pitchFamily="2" charset="-122"/>
              </a:defRPr>
            </a:lvl9pPr>
          </a:lstStyle>
          <a:p>
            <a:pPr eaLnBrk="1" hangingPunct="1">
              <a:lnSpc>
                <a:spcPct val="80000"/>
              </a:lnSpc>
              <a:spcBef>
                <a:spcPct val="0"/>
              </a:spcBef>
              <a:buClrTx/>
              <a:buSzTx/>
              <a:buFontTx/>
              <a:buNone/>
            </a:pPr>
            <a:fld id="{9815524C-D6FF-401C-95F9-AD7137308587}" type="slidenum">
              <a:rPr kumimoji="1" lang="en-US" altLang="zh-CN" sz="935">
                <a:latin typeface="Arial Narrow" panose="020B0606020202030204" pitchFamily="34" charset="0"/>
                <a:ea typeface="宋体" panose="02010600030101010101" pitchFamily="2" charset="-122"/>
              </a:rPr>
            </a:fld>
            <a:endParaRPr kumimoji="1" lang="en-US" altLang="zh-CN" sz="935">
              <a:latin typeface="Arial Narrow" panose="020B0606020202030204" pitchFamily="34" charset="0"/>
              <a:ea typeface="宋体" panose="02010600030101010101" pitchFamily="2" charset="-122"/>
            </a:endParaRPr>
          </a:p>
        </p:txBody>
      </p:sp>
      <p:sp>
        <p:nvSpPr>
          <p:cNvPr id="27653" name="Rectangle 3"/>
          <p:cNvSpPr>
            <a:spLocks noChangeArrowheads="1"/>
          </p:cNvSpPr>
          <p:nvPr/>
        </p:nvSpPr>
        <p:spPr bwMode="auto">
          <a:xfrm>
            <a:off x="2895600" y="2070364"/>
            <a:ext cx="121920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endParaRPr lang="zh-CN" altLang="en-US" sz="6400">
              <a:latin typeface="Arial Narrow" panose="020B0606020202030204" pitchFamily="34" charset="0"/>
              <a:ea typeface="宋体" panose="02010600030101010101" pitchFamily="2" charset="-122"/>
            </a:endParaRPr>
          </a:p>
        </p:txBody>
      </p:sp>
      <p:pic>
        <p:nvPicPr>
          <p:cNvPr id="27654" name="Picture 4" descr="rj14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0145" y="812800"/>
            <a:ext cx="11712673" cy="6324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软件质量模型</a:t>
            </a:r>
            <a:r>
              <a:rPr lang="en-US" altLang="zh-CN" sz="2400" b="1" dirty="0">
                <a:solidFill>
                  <a:srgbClr val="01395C"/>
                </a:solidFill>
                <a:latin typeface="方正粗宋简体"/>
              </a:rPr>
              <a:t>-McCall</a:t>
            </a:r>
            <a:r>
              <a:rPr lang="zh-CN" altLang="en-US" sz="2400" b="1" dirty="0">
                <a:solidFill>
                  <a:srgbClr val="01395C"/>
                </a:solidFill>
                <a:latin typeface="方正粗宋简体"/>
              </a:rPr>
              <a:t>质量模型</a:t>
            </a:r>
            <a:endParaRPr lang="zh-CN" altLang="en-US" sz="2400" b="1" dirty="0">
              <a:solidFill>
                <a:srgbClr val="01395C"/>
              </a:solidFill>
              <a:latin typeface="方正粗宋简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1185235" y="516731"/>
            <a:ext cx="88131" cy="990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normAutofit/>
          </a:bodyPr>
          <a:lstStyle/>
          <a:p>
            <a:pPr eaLnBrk="1" fontAlgn="auto" hangingPunct="1">
              <a:spcAft>
                <a:spcPts val="0"/>
              </a:spcAft>
              <a:defRPr/>
            </a:pPr>
            <a:endParaRPr lang="zh-CN" altLang="en-US" dirty="0">
              <a:latin typeface="华文隶书" panose="02010800040101010101" pitchFamily="2" charset="-122"/>
              <a:ea typeface="华文隶书" panose="02010800040101010101" pitchFamily="2" charset="-122"/>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软件质量模型</a:t>
            </a:r>
            <a:r>
              <a:rPr lang="en-US" altLang="zh-CN" sz="2400" b="1" dirty="0">
                <a:solidFill>
                  <a:srgbClr val="01395C"/>
                </a:solidFill>
                <a:latin typeface="方正粗宋简体"/>
              </a:rPr>
              <a:t>-ISO/IEC9126</a:t>
            </a:r>
            <a:r>
              <a:rPr lang="zh-CN" altLang="en-US" sz="2400" b="1" dirty="0">
                <a:solidFill>
                  <a:srgbClr val="01395C"/>
                </a:solidFill>
                <a:latin typeface="方正粗宋简体"/>
              </a:rPr>
              <a:t>模型</a:t>
            </a:r>
            <a:endParaRPr lang="zh-CN" altLang="en-US" sz="2400" b="1" dirty="0">
              <a:solidFill>
                <a:srgbClr val="01395C"/>
              </a:solidFill>
              <a:latin typeface="方正粗宋简体"/>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479" y="588014"/>
            <a:ext cx="12230647" cy="654938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4836" y="1637006"/>
            <a:ext cx="11462327" cy="4529573"/>
          </a:xfrm>
          <a:prstGeom prst="rect">
            <a:avLst/>
          </a:prstGeom>
          <a:noFill/>
        </p:spPr>
        <p:txBody>
          <a:bodyPr wrap="square" rtlCol="0">
            <a:spAutoFit/>
          </a:bodyPr>
          <a:lstStyle/>
          <a:p>
            <a:pPr>
              <a:lnSpc>
                <a:spcPct val="150000"/>
              </a:lnSpc>
            </a:pPr>
            <a:r>
              <a:rPr lang="zh-CN" altLang="en-US" sz="2800" dirty="0"/>
              <a:t>项目质量管理主要包括</a:t>
            </a:r>
            <a:r>
              <a:rPr lang="zh-CN" altLang="en-US" sz="2800" dirty="0">
                <a:solidFill>
                  <a:srgbClr val="C00000"/>
                </a:solidFill>
              </a:rPr>
              <a:t>质量规划</a:t>
            </a:r>
            <a:r>
              <a:rPr lang="zh-CN" altLang="en-US" sz="2800" dirty="0"/>
              <a:t>、</a:t>
            </a:r>
            <a:r>
              <a:rPr lang="zh-CN" altLang="en-US" sz="2800" dirty="0">
                <a:solidFill>
                  <a:srgbClr val="C00000"/>
                </a:solidFill>
              </a:rPr>
              <a:t>质量保证</a:t>
            </a:r>
            <a:r>
              <a:rPr lang="zh-CN" altLang="en-US" sz="2800" dirty="0"/>
              <a:t>及</a:t>
            </a:r>
            <a:r>
              <a:rPr lang="zh-CN" altLang="en-US" sz="2800" dirty="0">
                <a:solidFill>
                  <a:srgbClr val="C00000"/>
                </a:solidFill>
              </a:rPr>
              <a:t>质量控制</a:t>
            </a:r>
            <a:r>
              <a:rPr lang="zh-CN" altLang="en-US" sz="2800" dirty="0"/>
              <a:t>等三个过程。</a:t>
            </a:r>
            <a:endParaRPr lang="en-US" altLang="zh-CN" sz="2800" dirty="0"/>
          </a:p>
          <a:p>
            <a:pPr marL="457200" indent="-457200">
              <a:lnSpc>
                <a:spcPct val="150000"/>
              </a:lnSpc>
              <a:buFont typeface="Arial" panose="020B0604020202020204" pitchFamily="34" charset="0"/>
              <a:buChar char="•"/>
            </a:pPr>
            <a:r>
              <a:rPr lang="zh-CN" altLang="en-US" sz="2800" dirty="0"/>
              <a:t>质量计划：确定适合于项目的质量标准并决定如何满足这些标准。</a:t>
            </a:r>
            <a:endParaRPr lang="en-US" altLang="zh-CN" sz="2800" dirty="0"/>
          </a:p>
          <a:p>
            <a:pPr marL="457200" indent="-457200">
              <a:lnSpc>
                <a:spcPct val="150000"/>
              </a:lnSpc>
              <a:buFont typeface="Arial" panose="020B0604020202020204" pitchFamily="34" charset="0"/>
              <a:buChar char="•"/>
            </a:pPr>
            <a:r>
              <a:rPr lang="zh-CN" altLang="en-US" sz="2800" dirty="0"/>
              <a:t>质量保证：用于有计划、系统的质量活动（例如审计或同行审查），确保项目中的所有必须过程满足项目干系人的期望。</a:t>
            </a:r>
            <a:endParaRPr lang="en-US" altLang="zh-CN" sz="2800" dirty="0"/>
          </a:p>
          <a:p>
            <a:pPr marL="457200" indent="-457200">
              <a:lnSpc>
                <a:spcPct val="150000"/>
              </a:lnSpc>
              <a:buFont typeface="Arial" panose="020B0604020202020204" pitchFamily="34" charset="0"/>
              <a:buChar char="•"/>
            </a:pPr>
            <a:r>
              <a:rPr lang="zh-CN" altLang="en-US" sz="2800" dirty="0"/>
              <a:t>质量控制：监控具体项目结果以确定其是否符合相关质量标准，制定有效方案，以消除产生质量问题的原因。</a:t>
            </a:r>
            <a:endParaRPr lang="en-US" altLang="zh-CN" sz="2800" dirty="0"/>
          </a:p>
          <a:p>
            <a:pPr>
              <a:lnSpc>
                <a:spcPct val="150000"/>
              </a:lnSpc>
            </a:pPr>
            <a:endParaRPr lang="zh-CN" altLang="en-US" sz="2800" dirty="0"/>
          </a:p>
        </p:txBody>
      </p:sp>
      <p:sp>
        <p:nvSpPr>
          <p:cNvPr id="2" name="文本框 1"/>
          <p:cNvSpPr txBox="1"/>
          <p:nvPr/>
        </p:nvSpPr>
        <p:spPr>
          <a:xfrm>
            <a:off x="4772561" y="807120"/>
            <a:ext cx="2646878"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项目质量管理</a:t>
            </a:r>
            <a:endParaRPr lang="zh-CN" altLang="en-US" sz="3200" dirty="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5" name="Rectangle 1027"/>
          <p:cNvSpPr>
            <a:spLocks noGrp="1" noChangeArrowheads="1"/>
          </p:cNvSpPr>
          <p:nvPr>
            <p:ph sz="quarter" idx="1"/>
          </p:nvPr>
        </p:nvSpPr>
        <p:spPr>
          <a:xfrm>
            <a:off x="571355" y="714844"/>
            <a:ext cx="11049290" cy="1623484"/>
          </a:xfrm>
          <a:ln w="28575">
            <a:solidFill>
              <a:schemeClr val="accent1">
                <a:lumMod val="75000"/>
              </a:schemeClr>
            </a:solidFill>
          </a:ln>
        </p:spPr>
        <p:txBody>
          <a:bodyPr/>
          <a:lstStyle/>
          <a:p>
            <a:pPr eaLnBrk="1" hangingPunct="1">
              <a:lnSpc>
                <a:spcPct val="150000"/>
              </a:lnSpc>
              <a:defRPr/>
            </a:pPr>
            <a:r>
              <a:rPr lang="zh-CN" altLang="en-US" sz="3200" dirty="0">
                <a:latin typeface="+mn-ea"/>
              </a:rPr>
              <a:t>质量形成于产品或者服务的</a:t>
            </a:r>
            <a:r>
              <a:rPr lang="zh-CN" altLang="en-US" sz="3200" dirty="0">
                <a:solidFill>
                  <a:srgbClr val="C00000"/>
                </a:solidFill>
                <a:latin typeface="+mn-ea"/>
              </a:rPr>
              <a:t>开发过程</a:t>
            </a:r>
            <a:r>
              <a:rPr lang="zh-CN" altLang="en-US" sz="3200" dirty="0">
                <a:latin typeface="+mn-ea"/>
              </a:rPr>
              <a:t>中，而不是事后的检查（测试）把关等。</a:t>
            </a:r>
            <a:endParaRPr lang="zh-CN" altLang="en-US" sz="3200" dirty="0">
              <a:latin typeface="+mn-ea"/>
            </a:endParaRPr>
          </a:p>
        </p:txBody>
      </p:sp>
      <p:pic>
        <p:nvPicPr>
          <p:cNvPr id="463876" name="Picture 1028" descr="瀑布模型-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500" y="2707640"/>
            <a:ext cx="5548630" cy="3195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8" name="Oval 1030"/>
          <p:cNvSpPr>
            <a:spLocks noChangeArrowheads="1"/>
          </p:cNvSpPr>
          <p:nvPr/>
        </p:nvSpPr>
        <p:spPr bwMode="auto">
          <a:xfrm>
            <a:off x="4472940" y="2707640"/>
            <a:ext cx="3246120" cy="1422400"/>
          </a:xfrm>
          <a:prstGeom prst="ellipse">
            <a:avLst/>
          </a:prstGeom>
          <a:noFill/>
          <a:ln w="25400">
            <a:solidFill>
              <a:srgbClr val="FF0000"/>
            </a:solidFill>
            <a:round/>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r" eaLnBrk="1" hangingPunct="1">
              <a:spcBef>
                <a:spcPct val="0"/>
              </a:spcBef>
              <a:buClrTx/>
              <a:buSzTx/>
              <a:buFontTx/>
              <a:buNone/>
            </a:pPr>
            <a:r>
              <a:rPr lang="zh-CN" altLang="en-US" sz="6400" dirty="0">
                <a:latin typeface="Arial Narrow" panose="020B0606020202030204" pitchFamily="34" charset="0"/>
                <a:ea typeface="宋体" panose="02010600030101010101" pitchFamily="2" charset="-122"/>
              </a:rPr>
              <a:t>质量</a:t>
            </a:r>
            <a:endParaRPr lang="zh-CN" altLang="en-US" sz="6400" dirty="0">
              <a:latin typeface="Arial Narrow" panose="020B0606020202030204" pitchFamily="34" charset="0"/>
              <a:ea typeface="宋体" panose="02010600030101010101" pitchFamily="2" charset="-122"/>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质量的形成</a:t>
            </a:r>
            <a:endParaRPr lang="zh-CN" altLang="en-US" sz="2400" b="1" dirty="0">
              <a:solidFill>
                <a:srgbClr val="01395C"/>
              </a:solidFill>
              <a:latin typeface="方正粗宋简体"/>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3"/>
          <p:cNvSpPr>
            <a:spLocks noGrp="1" noChangeArrowheads="1"/>
          </p:cNvSpPr>
          <p:nvPr>
            <p:ph sz="quarter" idx="1"/>
          </p:nvPr>
        </p:nvSpPr>
        <p:spPr>
          <a:xfrm>
            <a:off x="295805" y="751104"/>
            <a:ext cx="11688233" cy="4107223"/>
          </a:xfrm>
        </p:spPr>
        <p:txBody>
          <a:bodyPr/>
          <a:lstStyle/>
          <a:p>
            <a:pPr eaLnBrk="1" hangingPunct="1">
              <a:lnSpc>
                <a:spcPct val="150000"/>
              </a:lnSpc>
              <a:defRPr/>
            </a:pPr>
            <a:r>
              <a:rPr lang="zh-CN" altLang="en-US" sz="3200" dirty="0">
                <a:solidFill>
                  <a:srgbClr val="C00000"/>
                </a:solidFill>
                <a:latin typeface="+mn-ea"/>
              </a:rPr>
              <a:t>质量成本</a:t>
            </a:r>
            <a:r>
              <a:rPr lang="zh-CN" altLang="en-US" sz="3200" dirty="0">
                <a:latin typeface="+mn-ea"/>
              </a:rPr>
              <a:t>是由于产品的第一次工作不正常而衍生的附加花费，包括两部分</a:t>
            </a:r>
            <a:endParaRPr lang="zh-CN" altLang="en-US" sz="3200" dirty="0">
              <a:latin typeface="+mn-ea"/>
            </a:endParaRPr>
          </a:p>
          <a:p>
            <a:pPr lvl="1" eaLnBrk="1" hangingPunct="1">
              <a:lnSpc>
                <a:spcPct val="150000"/>
              </a:lnSpc>
              <a:buFont typeface="Wingdings" panose="05000000000000000000" pitchFamily="2" charset="2"/>
              <a:buChar char="q"/>
              <a:defRPr/>
            </a:pPr>
            <a:r>
              <a:rPr lang="zh-CN" altLang="en-US" sz="3200" dirty="0">
                <a:latin typeface="+mn-ea"/>
              </a:rPr>
              <a:t>预防成本</a:t>
            </a:r>
            <a:endParaRPr lang="zh-CN" altLang="en-US" sz="3200" dirty="0">
              <a:latin typeface="+mn-ea"/>
            </a:endParaRPr>
          </a:p>
          <a:p>
            <a:pPr lvl="1" eaLnBrk="1" hangingPunct="1">
              <a:lnSpc>
                <a:spcPct val="150000"/>
              </a:lnSpc>
              <a:buFont typeface="Wingdings" panose="05000000000000000000" pitchFamily="2" charset="2"/>
              <a:buChar char="q"/>
              <a:defRPr/>
            </a:pPr>
            <a:r>
              <a:rPr lang="zh-CN" altLang="en-US" sz="3200" dirty="0">
                <a:latin typeface="+mn-ea"/>
              </a:rPr>
              <a:t>缺陷成本</a:t>
            </a:r>
            <a:endParaRPr lang="zh-CN" altLang="en-US" sz="3200" dirty="0">
              <a:latin typeface="+mn-ea"/>
            </a:endParaRPr>
          </a:p>
          <a:p>
            <a:pPr lvl="1" eaLnBrk="1" hangingPunct="1">
              <a:defRPr/>
            </a:pPr>
            <a:endParaRPr lang="zh-CN" altLang="en-US" dirty="0"/>
          </a:p>
          <a:p>
            <a:pPr eaLnBrk="1" hangingPunct="1">
              <a:defRPr/>
            </a:pPr>
            <a:endParaRPr lang="en-US" altLang="zh-CN" dirty="0"/>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质量成本（</a:t>
            </a:r>
            <a:r>
              <a:rPr lang="en-US" altLang="zh-CN" sz="2400" b="1" dirty="0" err="1">
                <a:solidFill>
                  <a:srgbClr val="01395C"/>
                </a:solidFill>
                <a:latin typeface="方正粗宋简体"/>
              </a:rPr>
              <a:t>CoQ</a:t>
            </a:r>
            <a:r>
              <a:rPr lang="zh-CN" altLang="en-US" sz="2400" b="1" dirty="0">
                <a:solidFill>
                  <a:srgbClr val="01395C"/>
                </a:solidFill>
                <a:latin typeface="方正粗宋简体"/>
              </a:rPr>
              <a:t>）</a:t>
            </a:r>
            <a:endParaRPr lang="zh-CN" altLang="en-US" sz="2400" b="1" dirty="0">
              <a:solidFill>
                <a:srgbClr val="01395C"/>
              </a:solidFill>
              <a:latin typeface="方正粗宋简体"/>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1027"/>
          <p:cNvSpPr>
            <a:spLocks noGrp="1" noChangeArrowheads="1"/>
          </p:cNvSpPr>
          <p:nvPr>
            <p:ph sz="quarter" idx="1"/>
          </p:nvPr>
        </p:nvSpPr>
        <p:spPr>
          <a:xfrm>
            <a:off x="628073" y="1759286"/>
            <a:ext cx="10611620" cy="2015067"/>
          </a:xfrm>
          <a:ln w="28575">
            <a:solidFill>
              <a:schemeClr val="accent1">
                <a:lumMod val="75000"/>
              </a:schemeClr>
            </a:solidFill>
          </a:ln>
        </p:spPr>
        <p:txBody>
          <a:bodyPr/>
          <a:lstStyle/>
          <a:p>
            <a:pPr indent="-457200" eaLnBrk="1" hangingPunct="1">
              <a:lnSpc>
                <a:spcPct val="150000"/>
              </a:lnSpc>
              <a:buFont typeface="Wingdings" panose="05000000000000000000" pitchFamily="2" charset="2"/>
              <a:buChar char="q"/>
              <a:defRPr/>
            </a:pPr>
            <a:r>
              <a:rPr lang="zh-CN" altLang="en-US" sz="3200" dirty="0">
                <a:latin typeface="+mn-ea"/>
              </a:rPr>
              <a:t>过程的质量</a:t>
            </a:r>
            <a:endParaRPr lang="zh-CN" altLang="en-US" sz="3200" dirty="0">
              <a:latin typeface="+mn-ea"/>
            </a:endParaRPr>
          </a:p>
          <a:p>
            <a:pPr indent="-457200" eaLnBrk="1" hangingPunct="1">
              <a:lnSpc>
                <a:spcPct val="150000"/>
              </a:lnSpc>
              <a:buFont typeface="Wingdings" panose="05000000000000000000" pitchFamily="2" charset="2"/>
              <a:buChar char="q"/>
              <a:defRPr/>
            </a:pPr>
            <a:r>
              <a:rPr lang="zh-CN" altLang="en-US" sz="3200" dirty="0">
                <a:latin typeface="+mn-ea"/>
              </a:rPr>
              <a:t>产品的质量</a:t>
            </a:r>
            <a:endParaRPr lang="zh-CN" altLang="en-US" sz="3200" dirty="0">
              <a:latin typeface="+mn-ea"/>
            </a:endParaRPr>
          </a:p>
          <a:p>
            <a:pPr eaLnBrk="1" hangingPunct="1">
              <a:defRPr/>
            </a:pPr>
            <a:endParaRPr lang="zh-CN" altLang="en-US" dirty="0">
              <a:latin typeface="黑体" panose="02010609060101010101" pitchFamily="49" charset="-122"/>
              <a:ea typeface="黑体" panose="02010609060101010101" pitchFamily="49" charset="-122"/>
            </a:endParaRPr>
          </a:p>
          <a:p>
            <a:pPr lvl="1" eaLnBrk="1" hangingPunct="1">
              <a:defRPr/>
            </a:pPr>
            <a:endParaRPr lang="en-US" altLang="zh-CN" dirty="0">
              <a:latin typeface="黑体" panose="02010609060101010101" pitchFamily="49" charset="-122"/>
              <a:ea typeface="黑体" panose="02010609060101010101" pitchFamily="49" charset="-122"/>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rPr>
              <a:t>质量管理的对象</a:t>
            </a:r>
            <a:endParaRPr lang="zh-CN" altLang="en-US" sz="2400" b="1" dirty="0">
              <a:solidFill>
                <a:srgbClr val="01395C"/>
              </a:solidFill>
              <a:latin typeface="方正粗宋简体"/>
            </a:endParaRPr>
          </a:p>
        </p:txBody>
      </p:sp>
      <p:sp>
        <p:nvSpPr>
          <p:cNvPr id="5" name="文本框 4"/>
          <p:cNvSpPr txBox="1"/>
          <p:nvPr/>
        </p:nvSpPr>
        <p:spPr>
          <a:xfrm>
            <a:off x="4405259" y="807120"/>
            <a:ext cx="3057247"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质量管理的对象</a:t>
            </a:r>
            <a:endParaRPr lang="zh-CN" alt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6.2 </a:t>
            </a:r>
            <a:r>
              <a:rPr lang="zh-CN" altLang="en-US" sz="2400" b="1" dirty="0">
                <a:solidFill>
                  <a:srgbClr val="01395C"/>
                </a:solidFill>
                <a:latin typeface="方正粗宋简体"/>
                <a:ea typeface="方正粗宋简体"/>
                <a:cs typeface="方正粗宋简体"/>
              </a:rPr>
              <a:t>质量规划</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5182929" y="908937"/>
            <a:ext cx="1826141"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质量规划</a:t>
            </a:r>
            <a:endParaRPr lang="zh-CN" altLang="en-US" sz="3200" dirty="0"/>
          </a:p>
        </p:txBody>
      </p:sp>
      <p:sp>
        <p:nvSpPr>
          <p:cNvPr id="4" name="Rectangle 3"/>
          <p:cNvSpPr>
            <a:spLocks noGrp="1" noChangeArrowheads="1"/>
          </p:cNvSpPr>
          <p:nvPr>
            <p:ph sz="quarter" idx="1"/>
          </p:nvPr>
        </p:nvSpPr>
        <p:spPr>
          <a:xfrm>
            <a:off x="537152" y="1940040"/>
            <a:ext cx="8515350" cy="1976177"/>
          </a:xfrm>
          <a:ln w="28575">
            <a:solidFill>
              <a:schemeClr val="accent1">
                <a:lumMod val="60000"/>
                <a:lumOff val="40000"/>
              </a:schemeClr>
            </a:solidFill>
          </a:ln>
        </p:spPr>
        <p:txBody>
          <a:bodyPr/>
          <a:lstStyle/>
          <a:p>
            <a:pPr indent="-457200" eaLnBrk="1" hangingPunct="1">
              <a:lnSpc>
                <a:spcPct val="150000"/>
              </a:lnSpc>
              <a:buFont typeface="Wingdings" panose="05000000000000000000" pitchFamily="2" charset="2"/>
              <a:buChar char="q"/>
              <a:defRPr/>
            </a:pPr>
            <a:r>
              <a:rPr lang="zh-CN" altLang="en-US" sz="3200" dirty="0">
                <a:latin typeface="+mn-ea"/>
              </a:rPr>
              <a:t>确定项目应达到的质量标准</a:t>
            </a:r>
            <a:r>
              <a:rPr lang="en-US" altLang="zh-CN" sz="3200" dirty="0">
                <a:latin typeface="+mn-ea"/>
              </a:rPr>
              <a:t>(</a:t>
            </a:r>
            <a:r>
              <a:rPr lang="zh-CN" altLang="en-US" sz="3200" dirty="0">
                <a:latin typeface="+mn-ea"/>
              </a:rPr>
              <a:t>目标</a:t>
            </a:r>
            <a:r>
              <a:rPr lang="en-US" altLang="zh-CN" sz="3200" dirty="0">
                <a:latin typeface="+mn-ea"/>
              </a:rPr>
              <a:t>)</a:t>
            </a:r>
            <a:endParaRPr lang="zh-CN" altLang="en-US" sz="3200" dirty="0">
              <a:latin typeface="+mn-ea"/>
            </a:endParaRPr>
          </a:p>
          <a:p>
            <a:pPr indent="-457200" eaLnBrk="1" hangingPunct="1">
              <a:lnSpc>
                <a:spcPct val="150000"/>
              </a:lnSpc>
              <a:buFont typeface="Wingdings" panose="05000000000000000000" pitchFamily="2" charset="2"/>
              <a:buChar char="q"/>
              <a:defRPr/>
            </a:pPr>
            <a:r>
              <a:rPr lang="zh-CN" altLang="en-US" sz="3200" dirty="0">
                <a:latin typeface="+mn-ea"/>
              </a:rPr>
              <a:t>决定如何满足质量标准的计划安排和方法</a:t>
            </a:r>
            <a:endParaRPr lang="zh-CN" altLang="en-US" sz="3200" dirty="0">
              <a:latin typeface="+mn-ea"/>
            </a:endParaRPr>
          </a:p>
          <a:p>
            <a:pPr eaLnBrk="1" hangingPunct="1">
              <a:defRPr/>
            </a:pPr>
            <a:endParaRPr lang="en-US" altLang="zh-CN"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3"/>
          <p:cNvSpPr>
            <a:spLocks noGrp="1" noChangeArrowheads="1"/>
          </p:cNvSpPr>
          <p:nvPr>
            <p:ph sz="quarter" idx="1"/>
          </p:nvPr>
        </p:nvSpPr>
        <p:spPr>
          <a:xfrm>
            <a:off x="249383" y="1294037"/>
            <a:ext cx="11757890" cy="6316731"/>
          </a:xfrm>
        </p:spPr>
        <p:txBody>
          <a:bodyPr/>
          <a:lstStyle/>
          <a:p>
            <a:pPr eaLnBrk="1" hangingPunct="1">
              <a:lnSpc>
                <a:spcPct val="150000"/>
              </a:lnSpc>
            </a:pPr>
            <a:r>
              <a:rPr lang="zh-CN" altLang="en-US" sz="2400" b="0" i="0" dirty="0">
                <a:solidFill>
                  <a:srgbClr val="333333"/>
                </a:solidFill>
                <a:effectLst/>
                <a:latin typeface="微软雅黑" panose="020B0503020204020204" pitchFamily="34" charset="-122"/>
                <a:ea typeface="微软雅黑" panose="020B0503020204020204" pitchFamily="34" charset="-122"/>
              </a:rPr>
              <a:t>在进行质量计划编制时，可以使用的主要方法有：</a:t>
            </a:r>
            <a:br>
              <a:rPr lang="zh-CN" altLang="en-US" sz="2400" dirty="0"/>
            </a:br>
            <a:r>
              <a:rPr lang="en-US" altLang="zh-CN" sz="2400" b="0" i="0" dirty="0">
                <a:solidFill>
                  <a:srgbClr val="333333"/>
                </a:solidFill>
                <a:effectLst/>
                <a:latin typeface="微软雅黑" panose="020B0503020204020204" pitchFamily="34" charset="-122"/>
                <a:ea typeface="微软雅黑" panose="020B0503020204020204" pitchFamily="34" charset="-122"/>
              </a:rPr>
              <a:t>1</a:t>
            </a:r>
            <a:r>
              <a:rPr lang="zh-CN" altLang="en-US" sz="2400" b="0" i="0" dirty="0">
                <a:solidFill>
                  <a:srgbClr val="333333"/>
                </a:solidFill>
                <a:effectLst/>
                <a:latin typeface="微软雅黑" panose="020B0503020204020204" pitchFamily="34" charset="-122"/>
                <a:ea typeface="微软雅黑" panose="020B0503020204020204" pitchFamily="34" charset="-122"/>
              </a:rPr>
              <a:t>、</a:t>
            </a:r>
            <a:r>
              <a:rPr lang="zh-CN" altLang="en-US" sz="2400" b="0" i="0" dirty="0">
                <a:solidFill>
                  <a:srgbClr val="C00000"/>
                </a:solidFill>
                <a:effectLst/>
                <a:latin typeface="微软雅黑" panose="020B0503020204020204" pitchFamily="34" charset="-122"/>
                <a:ea typeface="微软雅黑" panose="020B0503020204020204" pitchFamily="34" charset="-122"/>
              </a:rPr>
              <a:t>成本</a:t>
            </a:r>
            <a:r>
              <a:rPr lang="en-US" altLang="zh-CN" sz="2400" b="0" i="0" dirty="0">
                <a:solidFill>
                  <a:srgbClr val="C00000"/>
                </a:solidFill>
                <a:effectLst/>
                <a:latin typeface="微软雅黑" panose="020B0503020204020204" pitchFamily="34" charset="-122"/>
                <a:ea typeface="微软雅黑" panose="020B0503020204020204" pitchFamily="34" charset="-122"/>
              </a:rPr>
              <a:t>/</a:t>
            </a:r>
            <a:r>
              <a:rPr lang="zh-CN" altLang="en-US" sz="2400" b="0" i="0" dirty="0">
                <a:solidFill>
                  <a:srgbClr val="C00000"/>
                </a:solidFill>
                <a:effectLst/>
                <a:latin typeface="微软雅黑" panose="020B0503020204020204" pitchFamily="34" charset="-122"/>
                <a:ea typeface="微软雅黑" panose="020B0503020204020204" pitchFamily="34" charset="-122"/>
              </a:rPr>
              <a:t>效益分析</a:t>
            </a:r>
            <a:r>
              <a:rPr lang="zh-CN" altLang="en-US" sz="2400" b="0" i="0" dirty="0">
                <a:solidFill>
                  <a:srgbClr val="333333"/>
                </a:solidFill>
                <a:effectLst/>
                <a:latin typeface="微软雅黑" panose="020B0503020204020204" pitchFamily="34" charset="-122"/>
                <a:ea typeface="微软雅黑" panose="020B0503020204020204" pitchFamily="34" charset="-122"/>
              </a:rPr>
              <a:t>。在质量计划编制的过程中，必须权衡成本与效益之间的关系。质量计划编制的目标是努力使获得的收益远远超过实施过程中所消耗的成本。</a:t>
            </a:r>
            <a:br>
              <a:rPr lang="zh-CN" altLang="en-US" sz="2400" dirty="0"/>
            </a:br>
            <a:r>
              <a:rPr lang="en-US" altLang="zh-CN" sz="2400" b="0" i="0" dirty="0">
                <a:solidFill>
                  <a:srgbClr val="333333"/>
                </a:solidFill>
                <a:effectLst/>
                <a:latin typeface="微软雅黑" panose="020B0503020204020204" pitchFamily="34" charset="-122"/>
                <a:ea typeface="微软雅黑" panose="020B0503020204020204" pitchFamily="34" charset="-122"/>
              </a:rPr>
              <a:t>2</a:t>
            </a:r>
            <a:r>
              <a:rPr lang="zh-CN" altLang="en-US" sz="2400" b="0" i="0" dirty="0">
                <a:solidFill>
                  <a:srgbClr val="333333"/>
                </a:solidFill>
                <a:effectLst/>
                <a:latin typeface="微软雅黑" panose="020B0503020204020204" pitchFamily="34" charset="-122"/>
                <a:ea typeface="微软雅黑" panose="020B0503020204020204" pitchFamily="34" charset="-122"/>
              </a:rPr>
              <a:t>、</a:t>
            </a:r>
            <a:r>
              <a:rPr lang="zh-CN" altLang="en-US" sz="2400" b="0" i="0" dirty="0">
                <a:solidFill>
                  <a:srgbClr val="C00000"/>
                </a:solidFill>
                <a:effectLst/>
                <a:latin typeface="微软雅黑" panose="020B0503020204020204" pitchFamily="34" charset="-122"/>
                <a:ea typeface="微软雅黑" panose="020B0503020204020204" pitchFamily="34" charset="-122"/>
              </a:rPr>
              <a:t>基准分析</a:t>
            </a:r>
            <a:r>
              <a:rPr lang="zh-CN" altLang="en-US" sz="2400" b="0" i="0" dirty="0">
                <a:solidFill>
                  <a:srgbClr val="333333"/>
                </a:solidFill>
                <a:effectLst/>
                <a:latin typeface="微软雅黑" panose="020B0503020204020204" pitchFamily="34" charset="-122"/>
                <a:ea typeface="微软雅黑" panose="020B0503020204020204" pitchFamily="34" charset="-122"/>
              </a:rPr>
              <a:t>。基准分析就是将实际实施过程中或计划之中的项目做法同其他类似项目的实际做法进行比较，通过比较来改善与提高目前项目的质量管理，以达到项目预期的质量或其他目标。</a:t>
            </a:r>
            <a:br>
              <a:rPr lang="zh-CN" altLang="en-US" sz="2400" dirty="0"/>
            </a:br>
            <a:r>
              <a:rPr lang="en-US" altLang="zh-CN" sz="2400" b="0" i="0" dirty="0">
                <a:solidFill>
                  <a:srgbClr val="333333"/>
                </a:solidFill>
                <a:effectLst/>
                <a:latin typeface="微软雅黑" panose="020B0503020204020204" pitchFamily="34" charset="-122"/>
                <a:ea typeface="微软雅黑" panose="020B0503020204020204" pitchFamily="34" charset="-122"/>
              </a:rPr>
              <a:t>3</a:t>
            </a:r>
            <a:r>
              <a:rPr lang="zh-CN" altLang="en-US" sz="2400" b="0" i="0" dirty="0">
                <a:solidFill>
                  <a:srgbClr val="333333"/>
                </a:solidFill>
                <a:effectLst/>
                <a:latin typeface="微软雅黑" panose="020B0503020204020204" pitchFamily="34" charset="-122"/>
                <a:ea typeface="微软雅黑" panose="020B0503020204020204" pitchFamily="34" charset="-122"/>
              </a:rPr>
              <a:t>、</a:t>
            </a:r>
            <a:r>
              <a:rPr lang="zh-CN" altLang="en-US" sz="2400" b="0" i="0" dirty="0">
                <a:solidFill>
                  <a:srgbClr val="C00000"/>
                </a:solidFill>
                <a:effectLst/>
                <a:latin typeface="微软雅黑" panose="020B0503020204020204" pitchFamily="34" charset="-122"/>
                <a:ea typeface="微软雅黑" panose="020B0503020204020204" pitchFamily="34" charset="-122"/>
              </a:rPr>
              <a:t>实验设计</a:t>
            </a:r>
            <a:r>
              <a:rPr lang="zh-CN" altLang="en-US" sz="2400" b="0" i="0" dirty="0">
                <a:solidFill>
                  <a:srgbClr val="333333"/>
                </a:solidFill>
                <a:effectLst/>
                <a:latin typeface="微软雅黑" panose="020B0503020204020204" pitchFamily="34" charset="-122"/>
                <a:ea typeface="微软雅黑" panose="020B0503020204020204" pitchFamily="34" charset="-122"/>
              </a:rPr>
              <a:t>。实验设计是一种</a:t>
            </a:r>
            <a:r>
              <a:rPr lang="zh-CN" altLang="en-US" sz="2400" b="0" i="0" dirty="0">
                <a:solidFill>
                  <a:srgbClr val="C00000"/>
                </a:solidFill>
                <a:effectLst/>
                <a:latin typeface="微软雅黑" panose="020B0503020204020204" pitchFamily="34" charset="-122"/>
                <a:ea typeface="微软雅黑" panose="020B0503020204020204" pitchFamily="34" charset="-122"/>
              </a:rPr>
              <a:t>统计分析技术</a:t>
            </a:r>
            <a:r>
              <a:rPr lang="zh-CN" altLang="en-US" sz="2400" b="0" i="0" dirty="0">
                <a:solidFill>
                  <a:srgbClr val="333333"/>
                </a:solidFill>
                <a:effectLst/>
                <a:latin typeface="微软雅黑" panose="020B0503020204020204" pitchFamily="34" charset="-122"/>
                <a:ea typeface="微软雅黑" panose="020B0503020204020204" pitchFamily="34" charset="-122"/>
              </a:rPr>
              <a:t>，可用来帮助人们识别并找出</a:t>
            </a:r>
            <a:r>
              <a:rPr lang="zh-CN" altLang="en-US" sz="2400" b="0" i="0" dirty="0">
                <a:solidFill>
                  <a:srgbClr val="C00000"/>
                </a:solidFill>
                <a:effectLst/>
                <a:latin typeface="微软雅黑" panose="020B0503020204020204" pitchFamily="34" charset="-122"/>
                <a:ea typeface="微软雅黑" panose="020B0503020204020204" pitchFamily="34" charset="-122"/>
              </a:rPr>
              <a:t>哪些变量</a:t>
            </a:r>
            <a:r>
              <a:rPr lang="zh-CN" altLang="en-US" sz="2400" b="0" i="0" dirty="0">
                <a:solidFill>
                  <a:srgbClr val="333333"/>
                </a:solidFill>
                <a:effectLst/>
                <a:latin typeface="微软雅黑" panose="020B0503020204020204" pitchFamily="34" charset="-122"/>
                <a:ea typeface="微软雅黑" panose="020B0503020204020204" pitchFamily="34" charset="-122"/>
              </a:rPr>
              <a:t>对项目结果的影响最大。</a:t>
            </a:r>
            <a:br>
              <a:rPr lang="zh-CN" altLang="en-US" sz="2400" dirty="0"/>
            </a:br>
            <a:r>
              <a:rPr lang="en-US" altLang="zh-CN" sz="2400" b="0" i="0" dirty="0">
                <a:solidFill>
                  <a:srgbClr val="333333"/>
                </a:solidFill>
                <a:effectLst/>
                <a:latin typeface="微软雅黑" panose="020B0503020204020204" pitchFamily="34" charset="-122"/>
                <a:ea typeface="微软雅黑" panose="020B0503020204020204" pitchFamily="34" charset="-122"/>
              </a:rPr>
              <a:t>4</a:t>
            </a:r>
            <a:r>
              <a:rPr lang="zh-CN" altLang="en-US" sz="2400" b="0" i="0" dirty="0">
                <a:solidFill>
                  <a:srgbClr val="333333"/>
                </a:solidFill>
                <a:effectLst/>
                <a:latin typeface="微软雅黑" panose="020B0503020204020204" pitchFamily="34" charset="-122"/>
                <a:ea typeface="微软雅黑" panose="020B0503020204020204" pitchFamily="34" charset="-122"/>
              </a:rPr>
              <a:t>、</a:t>
            </a:r>
            <a:r>
              <a:rPr lang="zh-CN" altLang="en-US" sz="2400" b="0" i="0" dirty="0">
                <a:solidFill>
                  <a:srgbClr val="C00000"/>
                </a:solidFill>
                <a:effectLst/>
                <a:latin typeface="微软雅黑" panose="020B0503020204020204" pitchFamily="34" charset="-122"/>
                <a:ea typeface="微软雅黑" panose="020B0503020204020204" pitchFamily="34" charset="-122"/>
              </a:rPr>
              <a:t>质量成本</a:t>
            </a:r>
            <a:r>
              <a:rPr lang="zh-CN" altLang="en-US" sz="2400" b="0" i="0" dirty="0">
                <a:solidFill>
                  <a:srgbClr val="333333"/>
                </a:solidFill>
                <a:effectLst/>
                <a:latin typeface="微软雅黑" panose="020B0503020204020204" pitchFamily="34" charset="-122"/>
                <a:ea typeface="微软雅黑" panose="020B0503020204020204" pitchFamily="34" charset="-122"/>
              </a:rPr>
              <a:t>。质量成本是指为了达到产品或服务质量而进行的全部工作所发生的所有成本。包括为确保与要求一致而做的所有工作叫做</a:t>
            </a:r>
            <a:r>
              <a:rPr lang="zh-CN" altLang="en-US" sz="2400" b="0" i="0" dirty="0">
                <a:solidFill>
                  <a:srgbClr val="C00000"/>
                </a:solidFill>
                <a:effectLst/>
                <a:latin typeface="微软雅黑" panose="020B0503020204020204" pitchFamily="34" charset="-122"/>
                <a:ea typeface="微软雅黑" panose="020B0503020204020204" pitchFamily="34" charset="-122"/>
              </a:rPr>
              <a:t>一致成本</a:t>
            </a:r>
            <a:r>
              <a:rPr lang="zh-CN" altLang="en-US" sz="2400" b="0" i="0" dirty="0">
                <a:solidFill>
                  <a:srgbClr val="333333"/>
                </a:solidFill>
                <a:effectLst/>
                <a:latin typeface="微软雅黑" panose="020B0503020204020204" pitchFamily="34" charset="-122"/>
                <a:ea typeface="微软雅黑" panose="020B0503020204020204" pitchFamily="34" charset="-122"/>
              </a:rPr>
              <a:t>，以及由于符合要求所引起的全部工作叫做</a:t>
            </a:r>
            <a:r>
              <a:rPr lang="zh-CN" altLang="en-US" sz="2400" b="0" i="0" dirty="0">
                <a:solidFill>
                  <a:srgbClr val="C00000"/>
                </a:solidFill>
                <a:effectLst/>
                <a:latin typeface="微软雅黑" panose="020B0503020204020204" pitchFamily="34" charset="-122"/>
                <a:ea typeface="微软雅黑" panose="020B0503020204020204" pitchFamily="34" charset="-122"/>
              </a:rPr>
              <a:t>不一致成本</a:t>
            </a:r>
            <a:r>
              <a:rPr lang="zh-CN" altLang="en-US" sz="2400" b="0" i="0" dirty="0">
                <a:solidFill>
                  <a:srgbClr val="333333"/>
                </a:solidFill>
                <a:effectLst/>
                <a:latin typeface="微软雅黑" panose="020B0503020204020204" pitchFamily="34" charset="-122"/>
                <a:ea typeface="微软雅黑" panose="020B0503020204020204" pitchFamily="34" charset="-122"/>
              </a:rPr>
              <a:t>。</a:t>
            </a:r>
            <a:endParaRPr lang="zh-CN" altLang="en-US" sz="3600" dirty="0">
              <a:latin typeface="+mn-ea"/>
            </a:endParaRPr>
          </a:p>
        </p:txBody>
      </p:sp>
      <p:sp>
        <p:nvSpPr>
          <p:cNvPr id="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方正粗宋简体"/>
                <a:ea typeface="方正粗宋简体"/>
                <a:cs typeface="方正粗宋简体"/>
              </a:rPr>
              <a:t>质量计划方法</a:t>
            </a:r>
            <a:endParaRPr lang="zh-CN" altLang="en-US" sz="2400" b="1" dirty="0">
              <a:solidFill>
                <a:srgbClr val="01395C"/>
              </a:solidFill>
              <a:latin typeface="方正粗宋简体"/>
              <a:ea typeface="方正粗宋简体"/>
              <a:cs typeface="方正粗宋简体"/>
            </a:endParaRPr>
          </a:p>
        </p:txBody>
      </p:sp>
      <p:sp>
        <p:nvSpPr>
          <p:cNvPr id="4" name="文本框 3"/>
          <p:cNvSpPr txBox="1"/>
          <p:nvPr/>
        </p:nvSpPr>
        <p:spPr>
          <a:xfrm>
            <a:off x="4772561" y="696769"/>
            <a:ext cx="2646878"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质量计划方法</a:t>
            </a:r>
            <a:endParaRPr lang="zh-CN" alt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 </a:t>
            </a:r>
            <a:r>
              <a:rPr lang="zh-CN" altLang="en-US" sz="2400" b="1" dirty="0">
                <a:solidFill>
                  <a:srgbClr val="01395C"/>
                </a:solidFill>
                <a:latin typeface="方正粗宋简体"/>
                <a:ea typeface="方正粗宋简体"/>
                <a:cs typeface="方正粗宋简体"/>
              </a:rPr>
              <a:t>质量保证</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573876" y="919463"/>
            <a:ext cx="1826141"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质量保证</a:t>
            </a:r>
            <a:endParaRPr lang="zh-CN" altLang="en-US" sz="3200" dirty="0"/>
          </a:p>
        </p:txBody>
      </p:sp>
      <p:sp>
        <p:nvSpPr>
          <p:cNvPr id="5" name="Rectangle 3"/>
          <p:cNvSpPr>
            <a:spLocks noGrp="1" noChangeArrowheads="1"/>
          </p:cNvSpPr>
          <p:nvPr>
            <p:ph sz="quarter" idx="1"/>
          </p:nvPr>
        </p:nvSpPr>
        <p:spPr>
          <a:xfrm>
            <a:off x="501618" y="1789442"/>
            <a:ext cx="8660854" cy="4241903"/>
          </a:xfrm>
        </p:spPr>
        <p:txBody>
          <a:bodyPr>
            <a:normAutofit fontScale="85000" lnSpcReduction="20000"/>
          </a:bodyPr>
          <a:lstStyle/>
          <a:p>
            <a:pPr marL="320040" indent="-457200" eaLnBrk="1" fontAlgn="auto" hangingPunct="1">
              <a:lnSpc>
                <a:spcPct val="150000"/>
              </a:lnSpc>
              <a:spcAft>
                <a:spcPts val="0"/>
              </a:spcAft>
              <a:buFont typeface="Wingdings" panose="05000000000000000000" pitchFamily="2" charset="2"/>
              <a:buChar char="q"/>
              <a:defRPr/>
            </a:pPr>
            <a:r>
              <a:rPr lang="zh-CN" altLang="en-US" sz="3300" kern="1200" dirty="0">
                <a:latin typeface="Impact" panose="020B0806030902050204" pitchFamily="34" charset="0"/>
                <a:ea typeface="微软雅黑" panose="020B0503020204020204" pitchFamily="34" charset="-122"/>
              </a:rPr>
              <a:t>通过评价项目整体绩效，建立对质量要求的信任</a:t>
            </a:r>
            <a:endParaRPr lang="zh-CN" altLang="en-US" sz="3300" kern="1200" dirty="0">
              <a:latin typeface="Impact" panose="020B0806030902050204" pitchFamily="34" charset="0"/>
              <a:ea typeface="微软雅黑" panose="020B0503020204020204" pitchFamily="34" charset="-122"/>
            </a:endParaRPr>
          </a:p>
          <a:p>
            <a:pPr marL="320040" indent="-457200" eaLnBrk="1" fontAlgn="auto" hangingPunct="1">
              <a:lnSpc>
                <a:spcPct val="150000"/>
              </a:lnSpc>
              <a:spcAft>
                <a:spcPts val="0"/>
              </a:spcAft>
              <a:buFont typeface="Wingdings" panose="05000000000000000000" pitchFamily="2" charset="2"/>
              <a:buChar char="q"/>
              <a:defRPr/>
            </a:pPr>
            <a:r>
              <a:rPr lang="zh-CN" altLang="en-US" sz="3300" kern="1200" dirty="0">
                <a:latin typeface="Impact" panose="020B0806030902050204" pitchFamily="34" charset="0"/>
                <a:ea typeface="微软雅黑" panose="020B0503020204020204" pitchFamily="34" charset="-122"/>
              </a:rPr>
              <a:t>提供项目和产品可视化的管理报告</a:t>
            </a:r>
            <a:endParaRPr lang="zh-CN" altLang="en-US" sz="3300" kern="1200" dirty="0">
              <a:latin typeface="Impact" panose="020B0806030902050204" pitchFamily="34" charset="0"/>
              <a:ea typeface="微软雅黑" panose="020B0503020204020204" pitchFamily="34" charset="-122"/>
            </a:endParaRPr>
          </a:p>
          <a:p>
            <a:pPr marL="320040" indent="-457200" eaLnBrk="1" fontAlgn="auto" hangingPunct="1">
              <a:lnSpc>
                <a:spcPct val="150000"/>
              </a:lnSpc>
              <a:spcAft>
                <a:spcPts val="0"/>
              </a:spcAft>
              <a:defRPr/>
            </a:pPr>
            <a:r>
              <a:rPr lang="zh-CN" altLang="en-US" sz="3300" kern="1200" dirty="0">
                <a:latin typeface="Impact" panose="020B0806030902050204" pitchFamily="34" charset="0"/>
                <a:ea typeface="微软雅黑" panose="020B0503020204020204" pitchFamily="34" charset="-122"/>
              </a:rPr>
              <a:t>例如：</a:t>
            </a:r>
            <a:r>
              <a:rPr lang="en-US" altLang="zh-CN" sz="3300" kern="1200" dirty="0">
                <a:latin typeface="Impact" panose="020B0806030902050204" pitchFamily="34" charset="0"/>
                <a:ea typeface="微软雅黑" panose="020B0503020204020204" pitchFamily="34" charset="-122"/>
              </a:rPr>
              <a:t>《</a:t>
            </a:r>
            <a:r>
              <a:rPr lang="zh-CN" altLang="en-US" sz="3300" kern="1200" dirty="0">
                <a:latin typeface="Impact" panose="020B0806030902050204" pitchFamily="34" charset="0"/>
                <a:ea typeface="微软雅黑" panose="020B0503020204020204" pitchFamily="34" charset="-122"/>
              </a:rPr>
              <a:t>软件设计说明书</a:t>
            </a:r>
            <a:r>
              <a:rPr lang="en-US" altLang="zh-CN" sz="3300" kern="1200" dirty="0">
                <a:latin typeface="Impact" panose="020B0806030902050204" pitchFamily="34" charset="0"/>
                <a:ea typeface="微软雅黑" panose="020B0503020204020204" pitchFamily="34" charset="-122"/>
              </a:rPr>
              <a:t>》</a:t>
            </a:r>
            <a:r>
              <a:rPr lang="zh-CN" altLang="en-US" sz="3300" kern="1200" dirty="0">
                <a:latin typeface="Impact" panose="020B0806030902050204" pitchFamily="34" charset="0"/>
                <a:ea typeface="微软雅黑" panose="020B0503020204020204" pitchFamily="34" charset="-122"/>
              </a:rPr>
              <a:t>质量审计</a:t>
            </a:r>
            <a:endParaRPr lang="zh-CN" altLang="en-US" sz="3300" kern="1200" dirty="0">
              <a:latin typeface="Impact" panose="020B0806030902050204" pitchFamily="34" charset="0"/>
              <a:ea typeface="微软雅黑" panose="020B0503020204020204" pitchFamily="34" charset="-122"/>
            </a:endParaRPr>
          </a:p>
          <a:p>
            <a:pPr marL="320040" indent="-457200" eaLnBrk="1" fontAlgn="auto" hangingPunct="1">
              <a:lnSpc>
                <a:spcPct val="150000"/>
              </a:lnSpc>
              <a:spcAft>
                <a:spcPts val="0"/>
              </a:spcAft>
              <a:buFont typeface="Wingdings" panose="05000000000000000000" pitchFamily="2" charset="2"/>
              <a:buChar char="q"/>
              <a:defRPr/>
            </a:pPr>
            <a:r>
              <a:rPr lang="en-US" altLang="zh-CN" sz="3300" kern="1200" dirty="0">
                <a:latin typeface="+mn-ea"/>
              </a:rPr>
              <a:t>Is it done right?</a:t>
            </a:r>
            <a:endParaRPr lang="en-US" altLang="zh-CN" sz="3300" kern="1200" dirty="0">
              <a:latin typeface="+mn-ea"/>
            </a:endParaRPr>
          </a:p>
          <a:p>
            <a:pPr marL="320040" indent="-457200" eaLnBrk="1" fontAlgn="auto" hangingPunct="1">
              <a:lnSpc>
                <a:spcPct val="150000"/>
              </a:lnSpc>
              <a:spcAft>
                <a:spcPts val="0"/>
              </a:spcAft>
              <a:buFont typeface="Wingdings" panose="05000000000000000000" pitchFamily="2" charset="2"/>
              <a:buChar char="q"/>
              <a:defRPr/>
            </a:pPr>
            <a:r>
              <a:rPr lang="zh-CN" altLang="en-US" sz="3300" kern="1200" dirty="0">
                <a:latin typeface="Impact" panose="020B0806030902050204" pitchFamily="34" charset="0"/>
                <a:ea typeface="微软雅黑" panose="020B0503020204020204" pitchFamily="34" charset="-122"/>
              </a:rPr>
              <a:t>这个任务本身并不能提高产品的质量</a:t>
            </a:r>
            <a:endParaRPr lang="zh-CN" altLang="en-US" sz="3300" kern="1200" dirty="0">
              <a:latin typeface="Impact" panose="020B0806030902050204" pitchFamily="34" charset="0"/>
              <a:ea typeface="微软雅黑" panose="020B0503020204020204" pitchFamily="34" charset="-122"/>
            </a:endParaRPr>
          </a:p>
          <a:p>
            <a:pPr marL="320040" indent="-457200" eaLnBrk="1" fontAlgn="auto" hangingPunct="1">
              <a:lnSpc>
                <a:spcPct val="150000"/>
              </a:lnSpc>
              <a:spcAft>
                <a:spcPts val="0"/>
              </a:spcAft>
              <a:buFont typeface="Wingdings" panose="05000000000000000000" pitchFamily="2" charset="2"/>
              <a:buChar char="q"/>
              <a:defRPr/>
            </a:pPr>
            <a:r>
              <a:rPr lang="zh-CN" altLang="en-US" sz="3300" kern="1200" dirty="0">
                <a:latin typeface="Impact" panose="020B0806030902050204" pitchFamily="34" charset="0"/>
                <a:ea typeface="微软雅黑" panose="020B0503020204020204" pitchFamily="34" charset="-122"/>
              </a:rPr>
              <a:t>一般由质量保证部门人员实施</a:t>
            </a:r>
            <a:endParaRPr lang="zh-CN" altLang="en-US" sz="3300" kern="1200" dirty="0">
              <a:latin typeface="Impact" panose="020B0806030902050204" pitchFamily="34" charset="0"/>
              <a:ea typeface="微软雅黑" panose="020B0503020204020204" pitchFamily="34" charset="-122"/>
            </a:endParaRPr>
          </a:p>
          <a:p>
            <a:pPr marL="320040" indent="-320040" eaLnBrk="1" fontAlgn="auto" hangingPunct="1">
              <a:spcAft>
                <a:spcPts val="0"/>
              </a:spcAft>
              <a:buFont typeface="Wingdings" panose="05000000000000000000"/>
              <a:buChar char=""/>
              <a:defRPr/>
            </a:pPr>
            <a:endParaRPr lang="en-US" altLang="zh-CN" dirty="0"/>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6403" name="Rectangle 4099"/>
          <p:cNvSpPr>
            <a:spLocks noGrp="1" noChangeArrowheads="1"/>
          </p:cNvSpPr>
          <p:nvPr>
            <p:ph sz="quarter" idx="1"/>
          </p:nvPr>
        </p:nvSpPr>
        <p:spPr>
          <a:xfrm>
            <a:off x="431800" y="1956065"/>
            <a:ext cx="10871200" cy="2400300"/>
          </a:xfrm>
          <a:ln w="28575">
            <a:solidFill>
              <a:schemeClr val="accent1">
                <a:lumMod val="75000"/>
              </a:schemeClr>
            </a:solidFill>
          </a:ln>
        </p:spPr>
        <p:txBody>
          <a:bodyPr/>
          <a:lstStyle/>
          <a:p>
            <a:pPr marL="711200" indent="-711200" eaLnBrk="1" hangingPunct="1">
              <a:lnSpc>
                <a:spcPct val="150000"/>
              </a:lnSpc>
              <a:buFont typeface="Monotype Sorts" charset="0"/>
              <a:buAutoNum type="arabicPeriod"/>
              <a:defRPr/>
            </a:pPr>
            <a:r>
              <a:rPr lang="zh-CN" altLang="en-US" dirty="0">
                <a:latin typeface="+mn-ea"/>
              </a:rPr>
              <a:t>对项目进行评价</a:t>
            </a:r>
            <a:endParaRPr lang="zh-CN" altLang="en-US" dirty="0">
              <a:latin typeface="+mn-ea"/>
            </a:endParaRPr>
          </a:p>
          <a:p>
            <a:pPr marL="711200" indent="-711200" eaLnBrk="1" hangingPunct="1">
              <a:lnSpc>
                <a:spcPct val="150000"/>
              </a:lnSpc>
              <a:buFont typeface="Monotype Sorts" charset="0"/>
              <a:buAutoNum type="arabicPeriod"/>
              <a:defRPr/>
            </a:pPr>
            <a:r>
              <a:rPr lang="zh-CN" altLang="en-US" dirty="0">
                <a:latin typeface="+mn-ea"/>
              </a:rPr>
              <a:t>推测能否达到质量指标</a:t>
            </a:r>
            <a:endParaRPr lang="zh-CN" altLang="en-US" dirty="0">
              <a:latin typeface="+mn-ea"/>
            </a:endParaRPr>
          </a:p>
          <a:p>
            <a:pPr marL="711200" indent="-711200" eaLnBrk="1" hangingPunct="1">
              <a:lnSpc>
                <a:spcPct val="150000"/>
              </a:lnSpc>
              <a:buFont typeface="Monotype Sorts" charset="0"/>
              <a:buAutoNum type="arabicPeriod"/>
              <a:defRPr/>
            </a:pPr>
            <a:r>
              <a:rPr lang="zh-CN" altLang="en-US" dirty="0">
                <a:latin typeface="+mn-ea"/>
              </a:rPr>
              <a:t>建立对项目的信心</a:t>
            </a:r>
            <a:endParaRPr lang="zh-CN" altLang="en-US" dirty="0">
              <a:latin typeface="+mn-ea"/>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 </a:t>
            </a:r>
            <a:r>
              <a:rPr lang="zh-CN" altLang="en-US" sz="2400" b="1" dirty="0">
                <a:solidFill>
                  <a:srgbClr val="01395C"/>
                </a:solidFill>
                <a:latin typeface="方正粗宋简体"/>
                <a:ea typeface="方正粗宋简体"/>
                <a:cs typeface="方正粗宋简体"/>
              </a:rPr>
              <a:t>质量保证</a:t>
            </a:r>
            <a:endParaRPr lang="zh-CN" altLang="en-US" sz="2400" b="1" dirty="0">
              <a:solidFill>
                <a:srgbClr val="01395C"/>
              </a:solidFill>
              <a:latin typeface="方正粗宋简体"/>
              <a:ea typeface="方正粗宋简体"/>
              <a:cs typeface="方正粗宋简体"/>
            </a:endParaRPr>
          </a:p>
        </p:txBody>
      </p:sp>
      <p:sp>
        <p:nvSpPr>
          <p:cNvPr id="4" name="文本框 3"/>
          <p:cNvSpPr txBox="1"/>
          <p:nvPr/>
        </p:nvSpPr>
        <p:spPr>
          <a:xfrm>
            <a:off x="4573876" y="919463"/>
            <a:ext cx="3057247"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质量保证的要点</a:t>
            </a:r>
            <a:endParaRPr lang="zh-CN" altLang="en-US" sz="32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63" name="Rectangle 3"/>
          <p:cNvSpPr>
            <a:spLocks noGrp="1" noChangeArrowheads="1"/>
          </p:cNvSpPr>
          <p:nvPr>
            <p:ph sz="quarter" idx="1"/>
          </p:nvPr>
        </p:nvSpPr>
        <p:spPr>
          <a:xfrm>
            <a:off x="334433" y="1951831"/>
            <a:ext cx="11353800" cy="3977914"/>
          </a:xfrm>
        </p:spPr>
        <p:txBody>
          <a:bodyPr/>
          <a:lstStyle/>
          <a:p>
            <a:pPr indent="-457200" eaLnBrk="1" hangingPunct="1">
              <a:lnSpc>
                <a:spcPct val="150000"/>
              </a:lnSpc>
              <a:buFont typeface="Wingdings" panose="05000000000000000000" pitchFamily="2" charset="2"/>
              <a:buChar char="q"/>
            </a:pPr>
            <a:r>
              <a:rPr lang="zh-CN" altLang="en-US" dirty="0">
                <a:solidFill>
                  <a:srgbClr val="C00000"/>
                </a:solidFill>
                <a:latin typeface="+mn-ea"/>
              </a:rPr>
              <a:t>审计</a:t>
            </a:r>
            <a:r>
              <a:rPr lang="en-US" altLang="zh-CN" dirty="0">
                <a:solidFill>
                  <a:srgbClr val="C00000"/>
                </a:solidFill>
                <a:latin typeface="+mn-ea"/>
              </a:rPr>
              <a:t>(Audit) </a:t>
            </a:r>
            <a:r>
              <a:rPr lang="zh-CN" altLang="en-US" dirty="0">
                <a:solidFill>
                  <a:srgbClr val="C00000"/>
                </a:solidFill>
                <a:latin typeface="+mn-ea"/>
              </a:rPr>
              <a:t>是对过程或者产品的一次独立评估</a:t>
            </a:r>
            <a:r>
              <a:rPr lang="zh-CN" altLang="en-US" dirty="0">
                <a:solidFill>
                  <a:srgbClr val="080808"/>
                </a:solidFill>
                <a:latin typeface="+mn-ea"/>
              </a:rPr>
              <a:t>。将审核的主体与为该主体以前建立的一组规程和标准进行比较。</a:t>
            </a:r>
            <a:endParaRPr lang="zh-CN" altLang="en-US" dirty="0">
              <a:solidFill>
                <a:srgbClr val="080808"/>
              </a:solidFill>
              <a:latin typeface="+mn-ea"/>
            </a:endParaRPr>
          </a:p>
          <a:p>
            <a:pPr indent="-457200" eaLnBrk="1" hangingPunct="1">
              <a:lnSpc>
                <a:spcPct val="150000"/>
              </a:lnSpc>
              <a:buFont typeface="Wingdings" panose="05000000000000000000" pitchFamily="2" charset="2"/>
              <a:buChar char="q"/>
            </a:pPr>
            <a:r>
              <a:rPr lang="zh-CN" altLang="en-US" dirty="0">
                <a:solidFill>
                  <a:srgbClr val="080808"/>
                </a:solidFill>
                <a:latin typeface="+mn-ea"/>
              </a:rPr>
              <a:t>目的是确保真正的遵循了这一个过程，产生了合适的文档和精确反映实际项目的报告。</a:t>
            </a:r>
            <a:endParaRPr lang="zh-CN" altLang="en-US" dirty="0">
              <a:solidFill>
                <a:srgbClr val="080808"/>
              </a:solidFill>
              <a:latin typeface="+mn-ea"/>
            </a:endParaRPr>
          </a:p>
          <a:p>
            <a:pPr indent="-457200" eaLnBrk="1" hangingPunct="1">
              <a:lnSpc>
                <a:spcPct val="150000"/>
              </a:lnSpc>
              <a:buFont typeface="Wingdings" panose="05000000000000000000" pitchFamily="2" charset="2"/>
              <a:buChar char="q"/>
            </a:pPr>
            <a:r>
              <a:rPr lang="zh-CN" altLang="en-US" dirty="0">
                <a:solidFill>
                  <a:srgbClr val="080808"/>
                </a:solidFill>
                <a:latin typeface="+mn-ea"/>
              </a:rPr>
              <a:t>可以预先规划的，也可以是临时决定的。</a:t>
            </a:r>
            <a:r>
              <a:rPr lang="zh-CN" altLang="en-US" dirty="0">
                <a:latin typeface="+mn-ea"/>
              </a:rPr>
              <a:t> </a:t>
            </a:r>
            <a:endParaRPr lang="zh-CN" altLang="en-US" dirty="0">
              <a:latin typeface="+mn-ea"/>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 </a:t>
            </a:r>
            <a:r>
              <a:rPr lang="zh-CN" altLang="en-US" sz="2400" b="1" dirty="0">
                <a:solidFill>
                  <a:srgbClr val="01395C"/>
                </a:solidFill>
                <a:latin typeface="方正粗宋简体"/>
                <a:ea typeface="方正粗宋简体"/>
                <a:cs typeface="方正粗宋简体"/>
              </a:rPr>
              <a:t>质量保证</a:t>
            </a:r>
            <a:endParaRPr lang="zh-CN" altLang="en-US" sz="2400" b="1" dirty="0">
              <a:solidFill>
                <a:srgbClr val="01395C"/>
              </a:solidFill>
              <a:latin typeface="方正粗宋简体"/>
              <a:ea typeface="方正粗宋简体"/>
              <a:cs typeface="方正粗宋简体"/>
            </a:endParaRPr>
          </a:p>
        </p:txBody>
      </p:sp>
      <p:sp>
        <p:nvSpPr>
          <p:cNvPr id="4" name="文本框 3"/>
          <p:cNvSpPr txBox="1"/>
          <p:nvPr/>
        </p:nvSpPr>
        <p:spPr>
          <a:xfrm>
            <a:off x="4236992" y="821244"/>
            <a:ext cx="3587842"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质量保证活动</a:t>
            </a:r>
            <a:r>
              <a:rPr lang="en-US" altLang="zh-CN" sz="3200" dirty="0"/>
              <a:t>-</a:t>
            </a:r>
            <a:r>
              <a:rPr lang="zh-CN" altLang="en-US" sz="3200" dirty="0"/>
              <a:t>审计</a:t>
            </a:r>
            <a:endParaRPr lang="zh-CN" altLang="en-US" sz="32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3"/>
          <p:cNvSpPr>
            <a:spLocks noGrp="1" noChangeArrowheads="1"/>
          </p:cNvSpPr>
          <p:nvPr>
            <p:ph sz="quarter" idx="1"/>
          </p:nvPr>
        </p:nvSpPr>
        <p:spPr>
          <a:xfrm>
            <a:off x="817033" y="1748633"/>
            <a:ext cx="10871200" cy="1733478"/>
          </a:xfrm>
        </p:spPr>
        <p:txBody>
          <a:bodyPr/>
          <a:lstStyle/>
          <a:p>
            <a:pPr indent="-457200" eaLnBrk="1" hangingPunct="1">
              <a:lnSpc>
                <a:spcPct val="150000"/>
              </a:lnSpc>
              <a:buFont typeface="Wingdings" panose="05000000000000000000" pitchFamily="2" charset="2"/>
              <a:buChar char="Ø"/>
            </a:pPr>
            <a:r>
              <a:rPr lang="zh-CN" altLang="en-US" sz="3200" dirty="0">
                <a:latin typeface="+mn-ea"/>
              </a:rPr>
              <a:t>项目执行过程审计</a:t>
            </a:r>
            <a:endParaRPr lang="zh-CN" altLang="en-US" sz="3200" dirty="0">
              <a:latin typeface="+mn-ea"/>
            </a:endParaRPr>
          </a:p>
          <a:p>
            <a:pPr indent="-457200" eaLnBrk="1" hangingPunct="1">
              <a:lnSpc>
                <a:spcPct val="150000"/>
              </a:lnSpc>
              <a:buFont typeface="Wingdings" panose="05000000000000000000" pitchFamily="2" charset="2"/>
              <a:buChar char="Ø"/>
            </a:pPr>
            <a:r>
              <a:rPr lang="zh-CN" altLang="en-US" sz="3200" dirty="0">
                <a:latin typeface="+mn-ea"/>
              </a:rPr>
              <a:t>项目产品审计</a:t>
            </a:r>
            <a:endParaRPr lang="zh-CN" altLang="en-US" sz="3200" dirty="0">
              <a:latin typeface="+mn-ea"/>
            </a:endParaRPr>
          </a:p>
          <a:p>
            <a:pPr lvl="1" eaLnBrk="1" hangingPunct="1"/>
            <a:endParaRPr lang="en-US" altLang="zh-CN" sz="4000" dirty="0">
              <a:latin typeface="黑体" panose="02010609060101010101" pitchFamily="49" charset="-122"/>
              <a:ea typeface="黑体" panose="02010609060101010101" pitchFamily="49" charset="-122"/>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6.3 </a:t>
            </a:r>
            <a:r>
              <a:rPr lang="zh-CN" altLang="en-US" sz="2400" b="1" dirty="0">
                <a:solidFill>
                  <a:srgbClr val="01395C"/>
                </a:solidFill>
                <a:latin typeface="方正粗宋简体"/>
                <a:ea typeface="方正粗宋简体"/>
                <a:cs typeface="方正粗宋简体"/>
              </a:rPr>
              <a:t>质量保证</a:t>
            </a:r>
            <a:endParaRPr lang="zh-CN" altLang="en-US" sz="2400" b="1" dirty="0">
              <a:solidFill>
                <a:srgbClr val="01395C"/>
              </a:solidFill>
              <a:latin typeface="方正粗宋简体"/>
              <a:ea typeface="方正粗宋简体"/>
              <a:cs typeface="方正粗宋简体"/>
            </a:endParaRPr>
          </a:p>
        </p:txBody>
      </p:sp>
      <p:sp>
        <p:nvSpPr>
          <p:cNvPr id="4" name="文本框 3"/>
          <p:cNvSpPr txBox="1"/>
          <p:nvPr/>
        </p:nvSpPr>
        <p:spPr>
          <a:xfrm>
            <a:off x="3065999" y="795627"/>
            <a:ext cx="5929828"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软件项目中常用的质量保证活动</a:t>
            </a:r>
            <a:endParaRPr lang="zh-CN" altLang="en-US" sz="3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 </a:t>
            </a:r>
            <a:r>
              <a:rPr lang="zh-CN" altLang="en-US" sz="2400" b="1" dirty="0">
                <a:solidFill>
                  <a:srgbClr val="01395C"/>
                </a:solidFill>
                <a:latin typeface="方正粗宋简体"/>
                <a:ea typeface="方正粗宋简体"/>
                <a:cs typeface="方正粗宋简体"/>
              </a:rPr>
              <a:t>质量控制</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4573876" y="919463"/>
            <a:ext cx="1826141"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质量控制</a:t>
            </a:r>
            <a:endParaRPr lang="zh-CN" altLang="en-US" sz="3200" dirty="0"/>
          </a:p>
        </p:txBody>
      </p:sp>
      <p:sp>
        <p:nvSpPr>
          <p:cNvPr id="6" name="文本框 5"/>
          <p:cNvSpPr txBox="1"/>
          <p:nvPr/>
        </p:nvSpPr>
        <p:spPr>
          <a:xfrm>
            <a:off x="369456" y="1670258"/>
            <a:ext cx="11480800" cy="3892091"/>
          </a:xfrm>
          <a:prstGeom prst="rect">
            <a:avLst/>
          </a:prstGeom>
          <a:noFill/>
        </p:spPr>
        <p:txBody>
          <a:bodyPr wrap="square">
            <a:spAutoFit/>
          </a:bodyPr>
          <a:lstStyle/>
          <a:p>
            <a:pPr indent="-457200" eaLnBrk="1" hangingPunct="1">
              <a:lnSpc>
                <a:spcPct val="150000"/>
              </a:lnSpc>
              <a:buFont typeface="Wingdings" panose="05000000000000000000" pitchFamily="2" charset="2"/>
              <a:buChar char="q"/>
            </a:pPr>
            <a:r>
              <a:rPr lang="zh-CN" altLang="en-US" sz="2800" dirty="0"/>
              <a:t>确定项目结果与质量标准是否相符</a:t>
            </a:r>
            <a:r>
              <a:rPr lang="en-US" altLang="zh-CN" sz="2800" dirty="0"/>
              <a:t>,</a:t>
            </a:r>
            <a:r>
              <a:rPr lang="zh-CN" altLang="en-US" sz="2800" dirty="0"/>
              <a:t>同时</a:t>
            </a:r>
            <a:r>
              <a:rPr lang="en-US" altLang="zh-CN" sz="2800" dirty="0"/>
              <a:t>,</a:t>
            </a:r>
            <a:r>
              <a:rPr lang="zh-CN" altLang="en-US" sz="2800" dirty="0"/>
              <a:t>确定消除不符的原因和方法</a:t>
            </a:r>
            <a:endParaRPr lang="zh-CN" altLang="en-US" sz="2800" dirty="0"/>
          </a:p>
          <a:p>
            <a:pPr indent="-457200" eaLnBrk="1" hangingPunct="1">
              <a:lnSpc>
                <a:spcPct val="150000"/>
              </a:lnSpc>
              <a:buFont typeface="Wingdings" panose="05000000000000000000" pitchFamily="2" charset="2"/>
              <a:buChar char="q"/>
            </a:pPr>
            <a:r>
              <a:rPr lang="zh-CN" altLang="en-US" sz="2800" dirty="0"/>
              <a:t>控制产品的质量，及时纠正缺陷</a:t>
            </a:r>
            <a:endParaRPr lang="zh-CN" altLang="en-US" sz="2800" dirty="0"/>
          </a:p>
          <a:p>
            <a:pPr eaLnBrk="1" hangingPunct="1">
              <a:lnSpc>
                <a:spcPct val="150000"/>
              </a:lnSpc>
            </a:pPr>
            <a:r>
              <a:rPr lang="zh-CN" altLang="en-US" sz="2800" dirty="0"/>
              <a:t>例如：评审、单元测试</a:t>
            </a:r>
            <a:endParaRPr lang="zh-CN" altLang="en-US" sz="2800" dirty="0"/>
          </a:p>
          <a:p>
            <a:pPr indent="-457200" eaLnBrk="1" hangingPunct="1">
              <a:lnSpc>
                <a:spcPct val="150000"/>
              </a:lnSpc>
              <a:buFont typeface="Wingdings" panose="05000000000000000000" pitchFamily="2" charset="2"/>
              <a:buChar char="q"/>
            </a:pPr>
            <a:r>
              <a:rPr lang="en-US" altLang="zh-CN" sz="2800" dirty="0">
                <a:latin typeface="+mn-ea"/>
                <a:ea typeface="+mn-ea"/>
              </a:rPr>
              <a:t>Is it right done?</a:t>
            </a:r>
            <a:endParaRPr lang="en-US" altLang="zh-CN" sz="2800" dirty="0">
              <a:latin typeface="+mn-ea"/>
              <a:ea typeface="+mn-ea"/>
            </a:endParaRPr>
          </a:p>
          <a:p>
            <a:pPr indent="-457200" eaLnBrk="1" hangingPunct="1">
              <a:lnSpc>
                <a:spcPct val="150000"/>
              </a:lnSpc>
              <a:buFont typeface="Wingdings" panose="05000000000000000000" pitchFamily="2" charset="2"/>
              <a:buChar char="q"/>
            </a:pPr>
            <a:r>
              <a:rPr lang="zh-CN" altLang="en-US" sz="2800" dirty="0"/>
              <a:t>这个任务本身提高产品的质量</a:t>
            </a:r>
            <a:endParaRPr lang="zh-CN" altLang="en-US" sz="2800" dirty="0"/>
          </a:p>
          <a:p>
            <a:pPr indent="-457200" eaLnBrk="1" hangingPunct="1">
              <a:lnSpc>
                <a:spcPct val="150000"/>
              </a:lnSpc>
              <a:buFont typeface="Wingdings" panose="05000000000000000000" pitchFamily="2" charset="2"/>
              <a:buChar char="q"/>
            </a:pPr>
            <a:r>
              <a:rPr lang="zh-CN" altLang="en-US" sz="2800" dirty="0"/>
              <a:t>一般由开发人员实施</a:t>
            </a:r>
            <a:endParaRPr lang="zh-CN" altLang="en-US" sz="2800" dirty="0"/>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5619" name="Rectangle 3"/>
          <p:cNvSpPr>
            <a:spLocks noGrp="1" noChangeArrowheads="1"/>
          </p:cNvSpPr>
          <p:nvPr>
            <p:ph sz="quarter" idx="1"/>
          </p:nvPr>
        </p:nvSpPr>
        <p:spPr>
          <a:xfrm>
            <a:off x="660399" y="1663485"/>
            <a:ext cx="10871200" cy="2880784"/>
          </a:xfrm>
          <a:ln w="28575">
            <a:solidFill>
              <a:schemeClr val="accent1">
                <a:lumMod val="75000"/>
              </a:schemeClr>
            </a:solidFill>
          </a:ln>
        </p:spPr>
        <p:txBody>
          <a:bodyPr/>
          <a:lstStyle/>
          <a:p>
            <a:pPr marL="711200" indent="-711200" eaLnBrk="1" hangingPunct="1">
              <a:lnSpc>
                <a:spcPct val="150000"/>
              </a:lnSpc>
              <a:buFont typeface="Monotype Sorts" charset="0"/>
              <a:buAutoNum type="arabicPeriod"/>
              <a:defRPr/>
            </a:pPr>
            <a:r>
              <a:rPr lang="zh-CN" altLang="en-US" sz="3200" dirty="0">
                <a:latin typeface="+mn-ea"/>
              </a:rPr>
              <a:t>检查工作结果</a:t>
            </a:r>
            <a:endParaRPr lang="zh-CN" altLang="en-US" sz="3200" dirty="0">
              <a:latin typeface="+mn-ea"/>
            </a:endParaRPr>
          </a:p>
          <a:p>
            <a:pPr marL="711200" indent="-711200" eaLnBrk="1" hangingPunct="1">
              <a:lnSpc>
                <a:spcPct val="150000"/>
              </a:lnSpc>
              <a:buFont typeface="Monotype Sorts" charset="0"/>
              <a:buAutoNum type="arabicPeriod"/>
              <a:defRPr/>
            </a:pPr>
            <a:r>
              <a:rPr lang="zh-CN" altLang="en-US" sz="3200" dirty="0">
                <a:latin typeface="+mn-ea"/>
              </a:rPr>
              <a:t>按照标准跟踪检查</a:t>
            </a:r>
            <a:endParaRPr lang="zh-CN" altLang="en-US" sz="3200" dirty="0">
              <a:latin typeface="+mn-ea"/>
            </a:endParaRPr>
          </a:p>
          <a:p>
            <a:pPr marL="711200" indent="-711200" eaLnBrk="1" hangingPunct="1">
              <a:lnSpc>
                <a:spcPct val="150000"/>
              </a:lnSpc>
              <a:buFont typeface="Monotype Sorts" charset="0"/>
              <a:buAutoNum type="arabicPeriod"/>
              <a:defRPr/>
            </a:pPr>
            <a:r>
              <a:rPr lang="zh-CN" altLang="en-US" sz="3200" dirty="0">
                <a:latin typeface="+mn-ea"/>
              </a:rPr>
              <a:t>确定措施消灭质量问题</a:t>
            </a:r>
            <a:endParaRPr lang="zh-CN" altLang="en-US" sz="3200" dirty="0">
              <a:latin typeface="+mn-ea"/>
            </a:endParaRPr>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 </a:t>
            </a:r>
            <a:r>
              <a:rPr lang="zh-CN" altLang="en-US" sz="2400" b="1" dirty="0">
                <a:solidFill>
                  <a:srgbClr val="01395C"/>
                </a:solidFill>
                <a:latin typeface="方正粗宋简体"/>
                <a:ea typeface="方正粗宋简体"/>
                <a:cs typeface="方正粗宋简体"/>
              </a:rPr>
              <a:t>质量控制</a:t>
            </a:r>
            <a:endParaRPr lang="zh-CN" altLang="en-US" sz="2400" b="1" dirty="0">
              <a:solidFill>
                <a:srgbClr val="01395C"/>
              </a:solidFill>
              <a:latin typeface="方正粗宋简体"/>
              <a:ea typeface="方正粗宋简体"/>
              <a:cs typeface="方正粗宋简体"/>
            </a:endParaRPr>
          </a:p>
        </p:txBody>
      </p:sp>
      <p:sp>
        <p:nvSpPr>
          <p:cNvPr id="4" name="文本框 3"/>
          <p:cNvSpPr txBox="1"/>
          <p:nvPr/>
        </p:nvSpPr>
        <p:spPr>
          <a:xfrm>
            <a:off x="4567376" y="753209"/>
            <a:ext cx="3057247"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质量控制的要点</a:t>
            </a:r>
            <a:endParaRPr lang="zh-CN" altLang="en-US" sz="32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3"/>
          <p:cNvSpPr>
            <a:spLocks noGrp="1" noChangeArrowheads="1"/>
          </p:cNvSpPr>
          <p:nvPr>
            <p:ph sz="quarter" idx="1"/>
          </p:nvPr>
        </p:nvSpPr>
        <p:spPr>
          <a:xfrm>
            <a:off x="1557289" y="1705914"/>
            <a:ext cx="5471583" cy="4114800"/>
          </a:xfrm>
        </p:spPr>
        <p:txBody>
          <a:bodyPr/>
          <a:lstStyle/>
          <a:p>
            <a:pPr indent="-457200" eaLnBrk="1" hangingPunct="1">
              <a:lnSpc>
                <a:spcPct val="150000"/>
              </a:lnSpc>
              <a:buFont typeface="Wingdings" panose="05000000000000000000" pitchFamily="2" charset="2"/>
              <a:buChar char="Ø"/>
            </a:pPr>
            <a:r>
              <a:rPr lang="zh-CN" altLang="en-US" sz="3200" dirty="0">
                <a:latin typeface="+mn-ea"/>
              </a:rPr>
              <a:t>技术评审</a:t>
            </a:r>
            <a:endParaRPr lang="zh-CN" altLang="en-US" sz="3200" dirty="0">
              <a:latin typeface="+mn-ea"/>
            </a:endParaRPr>
          </a:p>
          <a:p>
            <a:pPr indent="-457200" eaLnBrk="1" hangingPunct="1">
              <a:lnSpc>
                <a:spcPct val="150000"/>
              </a:lnSpc>
              <a:buFont typeface="Wingdings" panose="05000000000000000000" pitchFamily="2" charset="2"/>
              <a:buChar char="Ø"/>
            </a:pPr>
            <a:r>
              <a:rPr lang="zh-CN" altLang="en-US" sz="3200" dirty="0">
                <a:latin typeface="+mn-ea"/>
              </a:rPr>
              <a:t>代码审查</a:t>
            </a:r>
            <a:endParaRPr lang="zh-CN" altLang="en-US" sz="3200" dirty="0">
              <a:latin typeface="+mn-ea"/>
            </a:endParaRPr>
          </a:p>
          <a:p>
            <a:pPr indent="-457200" eaLnBrk="1" hangingPunct="1">
              <a:lnSpc>
                <a:spcPct val="150000"/>
              </a:lnSpc>
              <a:buFont typeface="Wingdings" panose="05000000000000000000" pitchFamily="2" charset="2"/>
              <a:buChar char="Ø"/>
            </a:pPr>
            <a:r>
              <a:rPr lang="zh-CN" altLang="en-US" sz="3200" dirty="0">
                <a:latin typeface="+mn-ea"/>
              </a:rPr>
              <a:t>测试</a:t>
            </a:r>
            <a:endParaRPr lang="zh-CN" altLang="en-US" sz="3200" dirty="0">
              <a:latin typeface="+mn-ea"/>
            </a:endParaRPr>
          </a:p>
          <a:p>
            <a:pPr indent="-457200" eaLnBrk="1" hangingPunct="1">
              <a:lnSpc>
                <a:spcPct val="150000"/>
              </a:lnSpc>
              <a:buFont typeface="Wingdings" panose="05000000000000000000" pitchFamily="2" charset="2"/>
              <a:buChar char="Ø"/>
            </a:pPr>
            <a:r>
              <a:rPr lang="zh-CN" altLang="en-US" sz="3200" dirty="0">
                <a:latin typeface="+mn-ea"/>
              </a:rPr>
              <a:t>返工</a:t>
            </a:r>
            <a:endParaRPr lang="zh-CN" altLang="en-US" sz="3200" dirty="0">
              <a:latin typeface="+mn-ea"/>
            </a:endParaRPr>
          </a:p>
          <a:p>
            <a:pPr indent="-457200" eaLnBrk="1" hangingPunct="1">
              <a:lnSpc>
                <a:spcPct val="150000"/>
              </a:lnSpc>
              <a:buFont typeface="Monotype Sorts" charset="0"/>
              <a:buNone/>
            </a:pPr>
            <a:r>
              <a:rPr lang="zh-CN" altLang="en-US" sz="3200" dirty="0">
                <a:latin typeface="+mn-ea"/>
              </a:rPr>
              <a:t>等等</a:t>
            </a:r>
            <a:endParaRPr lang="zh-CN" altLang="en-US" sz="3200" dirty="0">
              <a:latin typeface="+mn-ea"/>
            </a:endParaRPr>
          </a:p>
        </p:txBody>
      </p:sp>
      <p:sp>
        <p:nvSpPr>
          <p:cNvPr id="6" name="矩形 5"/>
          <p:cNvSpPr/>
          <p:nvPr/>
        </p:nvSpPr>
        <p:spPr>
          <a:xfrm>
            <a:off x="2013527" y="3602181"/>
            <a:ext cx="1080653" cy="5190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6.4 </a:t>
            </a:r>
            <a:r>
              <a:rPr lang="zh-CN" altLang="en-US" sz="2400" b="1" dirty="0">
                <a:solidFill>
                  <a:srgbClr val="01395C"/>
                </a:solidFill>
                <a:latin typeface="方正粗宋简体"/>
                <a:ea typeface="方正粗宋简体"/>
                <a:cs typeface="方正粗宋简体"/>
              </a:rPr>
              <a:t>质量控制</a:t>
            </a:r>
            <a:endParaRPr lang="zh-CN" altLang="en-US" sz="2400" b="1" dirty="0">
              <a:solidFill>
                <a:srgbClr val="01395C"/>
              </a:solidFill>
              <a:latin typeface="方正粗宋简体"/>
              <a:ea typeface="方正粗宋简体"/>
              <a:cs typeface="方正粗宋简体"/>
            </a:endParaRPr>
          </a:p>
        </p:txBody>
      </p:sp>
      <p:sp>
        <p:nvSpPr>
          <p:cNvPr id="4" name="文本框 3"/>
          <p:cNvSpPr txBox="1"/>
          <p:nvPr/>
        </p:nvSpPr>
        <p:spPr>
          <a:xfrm>
            <a:off x="4482578" y="844550"/>
            <a:ext cx="2646878" cy="584775"/>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3200" dirty="0"/>
              <a:t>质量控制活动</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4" y="943"/>
            <a:ext cx="107389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案例：某</a:t>
            </a:r>
            <a:r>
              <a:rPr lang="zh-CN" altLang="en-US" sz="2400" b="1" dirty="0">
                <a:solidFill>
                  <a:srgbClr val="01395C"/>
                </a:solidFill>
                <a:latin typeface="方正粗宋简体"/>
                <a:ea typeface="方正粗宋简体"/>
                <a:cs typeface="方正粗宋简体"/>
              </a:rPr>
              <a:t>企业投标文件关于质量管理的内容</a:t>
            </a:r>
            <a:endParaRPr lang="zh-CN" altLang="en-US" sz="2400" b="1" dirty="0">
              <a:solidFill>
                <a:srgbClr val="01395C"/>
              </a:solidFill>
              <a:latin typeface="方正粗宋简体"/>
              <a:ea typeface="方正粗宋简体"/>
              <a:cs typeface="方正粗宋简体"/>
            </a:endParaRPr>
          </a:p>
        </p:txBody>
      </p:sp>
      <p:sp>
        <p:nvSpPr>
          <p:cNvPr id="3" name="文本框 2"/>
          <p:cNvSpPr txBox="1"/>
          <p:nvPr/>
        </p:nvSpPr>
        <p:spPr>
          <a:xfrm>
            <a:off x="489527" y="716228"/>
            <a:ext cx="11462327" cy="3883243"/>
          </a:xfrm>
          <a:prstGeom prst="rect">
            <a:avLst/>
          </a:prstGeom>
          <a:noFill/>
        </p:spPr>
        <p:txBody>
          <a:bodyPr wrap="square" rtlCol="0">
            <a:spAutoFit/>
          </a:bodyPr>
          <a:lstStyle/>
          <a:p>
            <a:pPr>
              <a:lnSpc>
                <a:spcPct val="150000"/>
              </a:lnSpc>
            </a:pPr>
            <a:r>
              <a:rPr lang="en-US" altLang="zh-CN" sz="2800" dirty="0"/>
              <a:t>6.4</a:t>
            </a:r>
            <a:r>
              <a:rPr lang="zh-CN" altLang="en-US" sz="2800" dirty="0"/>
              <a:t> 确保项目质量的技术、组织保障措施</a:t>
            </a:r>
            <a:endParaRPr lang="en-US" altLang="zh-CN" sz="2800" dirty="0"/>
          </a:p>
          <a:p>
            <a:pPr>
              <a:lnSpc>
                <a:spcPct val="150000"/>
              </a:lnSpc>
            </a:pPr>
            <a:r>
              <a:rPr lang="en-US" altLang="zh-CN" sz="2800" dirty="0"/>
              <a:t>6.4.1 </a:t>
            </a:r>
            <a:r>
              <a:rPr lang="zh-CN" altLang="en-US" sz="2800" dirty="0"/>
              <a:t>项目质量保证承诺</a:t>
            </a:r>
            <a:endParaRPr lang="en-US" altLang="zh-CN" sz="2800" dirty="0"/>
          </a:p>
          <a:p>
            <a:pPr>
              <a:lnSpc>
                <a:spcPct val="150000"/>
              </a:lnSpc>
            </a:pPr>
            <a:r>
              <a:rPr lang="en-US" altLang="zh-CN" sz="2800" dirty="0"/>
              <a:t>6.4.2 </a:t>
            </a:r>
            <a:r>
              <a:rPr lang="zh-CN" altLang="en-US" sz="2800" dirty="0"/>
              <a:t>质量目标</a:t>
            </a:r>
            <a:endParaRPr lang="en-US" altLang="zh-CN" sz="2800" dirty="0"/>
          </a:p>
          <a:p>
            <a:pPr>
              <a:lnSpc>
                <a:spcPct val="150000"/>
              </a:lnSpc>
            </a:pPr>
            <a:r>
              <a:rPr lang="en-US" altLang="zh-CN" sz="2800" dirty="0"/>
              <a:t>6.4.3 </a:t>
            </a:r>
            <a:r>
              <a:rPr lang="zh-CN" altLang="en-US" sz="2800" dirty="0"/>
              <a:t>质量管理</a:t>
            </a:r>
            <a:endParaRPr lang="en-US" altLang="zh-CN" sz="2800" dirty="0"/>
          </a:p>
          <a:p>
            <a:pPr>
              <a:lnSpc>
                <a:spcPct val="150000"/>
              </a:lnSpc>
            </a:pPr>
            <a:r>
              <a:rPr lang="en-US" altLang="zh-CN" sz="2800" dirty="0"/>
              <a:t>6.4.4 </a:t>
            </a:r>
            <a:r>
              <a:rPr lang="zh-CN" altLang="en-US" sz="2800" dirty="0"/>
              <a:t>质量计划</a:t>
            </a:r>
            <a:endParaRPr lang="en-US" altLang="zh-CN" sz="2800" dirty="0"/>
          </a:p>
          <a:p>
            <a:pPr>
              <a:lnSpc>
                <a:spcPct val="150000"/>
              </a:lnSpc>
            </a:pPr>
            <a:r>
              <a:rPr lang="en-US" altLang="zh-CN" sz="2800" dirty="0"/>
              <a:t>6.4.5 </a:t>
            </a:r>
            <a:r>
              <a:rPr lang="zh-CN" altLang="en-US" sz="2800" dirty="0"/>
              <a:t>质量保证措施</a:t>
            </a:r>
            <a:endParaRPr lang="zh-CN" altLang="en-US" sz="2800" dirty="0"/>
          </a:p>
        </p:txBody>
      </p:sp>
    </p:spTree>
  </p:cSld>
  <p:clrMapOvr>
    <a:masterClrMapping/>
  </p:clrMapOvr>
  <p:transition spd="slow"/>
</p:sld>
</file>

<file path=ppt/tags/tag1.xml><?xml version="1.0" encoding="utf-8"?>
<p:tagLst xmlns:p="http://schemas.openxmlformats.org/presentationml/2006/main">
  <p:tag name="KSO_WPP_MARK_KEY" val="d842cf24-573a-4cff-aacf-a094842411c3"/>
  <p:tag name="COMMONDATA" val="eyJoZGlkIjoiZmJmZTY0MmZjYjFiMjgwOTI0Y2I4NTdjZmUxMzMyMGM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2609</Words>
  <Application>WPS 演示</Application>
  <PresentationFormat>自定义</PresentationFormat>
  <Paragraphs>231</Paragraphs>
  <Slides>32</Slides>
  <Notes>20</Notes>
  <HiddenSlides>0</HiddenSlides>
  <MMClips>0</MMClips>
  <ScaleCrop>false</ScaleCrop>
  <HeadingPairs>
    <vt:vector size="8" baseType="variant">
      <vt:variant>
        <vt:lpstr>已用的字体</vt:lpstr>
      </vt:variant>
      <vt:variant>
        <vt:i4>20</vt:i4>
      </vt:variant>
      <vt:variant>
        <vt:lpstr>主题</vt:lpstr>
      </vt:variant>
      <vt:variant>
        <vt:i4>3</vt:i4>
      </vt:variant>
      <vt:variant>
        <vt:lpstr>嵌入 OLE 服务器</vt:lpstr>
      </vt:variant>
      <vt:variant>
        <vt:i4>1</vt:i4>
      </vt:variant>
      <vt:variant>
        <vt:lpstr>幻灯片标题</vt:lpstr>
      </vt:variant>
      <vt:variant>
        <vt:i4>32</vt:i4>
      </vt:variant>
    </vt:vector>
  </HeadingPairs>
  <TitlesOfParts>
    <vt:vector size="56" baseType="lpstr">
      <vt:lpstr>Arial</vt:lpstr>
      <vt:lpstr>宋体</vt:lpstr>
      <vt:lpstr>Wingdings</vt:lpstr>
      <vt:lpstr>Impact</vt:lpstr>
      <vt:lpstr>微软雅黑</vt:lpstr>
      <vt:lpstr>等线 Light</vt:lpstr>
      <vt:lpstr>方正粗宋简体</vt:lpstr>
      <vt:lpstr>Calibri</vt:lpstr>
      <vt:lpstr>Arial Narrow</vt:lpstr>
      <vt:lpstr>Monotype Sorts</vt:lpstr>
      <vt:lpstr>方正舒体</vt:lpstr>
      <vt:lpstr>Arial Unicode MS</vt:lpstr>
      <vt:lpstr>Tw Cen MT</vt:lpstr>
      <vt:lpstr>华文仿宋</vt:lpstr>
      <vt:lpstr>Wingdings 2</vt:lpstr>
      <vt:lpstr>Wingdings</vt:lpstr>
      <vt:lpstr>华文隶书</vt:lpstr>
      <vt:lpstr>黑体</vt:lpstr>
      <vt:lpstr>Wingdings</vt:lpstr>
      <vt:lpstr>等线</vt:lpstr>
      <vt:lpstr>自定义设计方案</vt:lpstr>
      <vt:lpstr>1_Office 主题</vt:lpstr>
      <vt:lpstr>2_Office 主题</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蓝数码</cp:lastModifiedBy>
  <cp:revision>833</cp:revision>
  <dcterms:created xsi:type="dcterms:W3CDTF">2014-04-12T07:42:00Z</dcterms:created>
  <dcterms:modified xsi:type="dcterms:W3CDTF">2023-10-15T10:20:01Z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8C53CB06AA0D4D5E989FA7E05280181F_12</vt:lpwstr>
  </property>
</Properties>
</file>