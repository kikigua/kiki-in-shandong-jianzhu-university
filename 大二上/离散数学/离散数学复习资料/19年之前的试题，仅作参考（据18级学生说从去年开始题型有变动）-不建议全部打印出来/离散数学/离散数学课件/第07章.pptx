
<file path=[Content_Types].xml><?xml version="1.0" encoding="utf-8"?>
<Types xmlns="http://schemas.openxmlformats.org/package/2006/content-types">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02"/>
  </p:notesMasterIdLst>
  <p:sldIdLst>
    <p:sldId id="256" r:id="rId2"/>
    <p:sldId id="346" r:id="rId3"/>
    <p:sldId id="347" r:id="rId4"/>
    <p:sldId id="348" r:id="rId5"/>
    <p:sldId id="259" r:id="rId6"/>
    <p:sldId id="349" r:id="rId7"/>
    <p:sldId id="260" r:id="rId8"/>
    <p:sldId id="261" r:id="rId9"/>
    <p:sldId id="262" r:id="rId10"/>
    <p:sldId id="350" r:id="rId11"/>
    <p:sldId id="263" r:id="rId12"/>
    <p:sldId id="351" r:id="rId13"/>
    <p:sldId id="264" r:id="rId14"/>
    <p:sldId id="265" r:id="rId15"/>
    <p:sldId id="352" r:id="rId16"/>
    <p:sldId id="266" r:id="rId17"/>
    <p:sldId id="267" r:id="rId18"/>
    <p:sldId id="353" r:id="rId19"/>
    <p:sldId id="269" r:id="rId20"/>
    <p:sldId id="354" r:id="rId21"/>
    <p:sldId id="396" r:id="rId22"/>
    <p:sldId id="463" r:id="rId23"/>
    <p:sldId id="464" r:id="rId24"/>
    <p:sldId id="469" r:id="rId25"/>
    <p:sldId id="470" r:id="rId26"/>
    <p:sldId id="471" r:id="rId27"/>
    <p:sldId id="472" r:id="rId28"/>
    <p:sldId id="473" r:id="rId29"/>
    <p:sldId id="474" r:id="rId30"/>
    <p:sldId id="475" r:id="rId31"/>
    <p:sldId id="476" r:id="rId32"/>
    <p:sldId id="485" r:id="rId33"/>
    <p:sldId id="486" r:id="rId34"/>
    <p:sldId id="477" r:id="rId35"/>
    <p:sldId id="478" r:id="rId36"/>
    <p:sldId id="479" r:id="rId37"/>
    <p:sldId id="480" r:id="rId38"/>
    <p:sldId id="281" r:id="rId39"/>
    <p:sldId id="362" r:id="rId40"/>
    <p:sldId id="283" r:id="rId41"/>
    <p:sldId id="363" r:id="rId42"/>
    <p:sldId id="284" r:id="rId43"/>
    <p:sldId id="285" r:id="rId44"/>
    <p:sldId id="364" r:id="rId45"/>
    <p:sldId id="286" r:id="rId46"/>
    <p:sldId id="365" r:id="rId47"/>
    <p:sldId id="287" r:id="rId48"/>
    <p:sldId id="366" r:id="rId49"/>
    <p:sldId id="289" r:id="rId50"/>
    <p:sldId id="290" r:id="rId51"/>
    <p:sldId id="291" r:id="rId52"/>
    <p:sldId id="371" r:id="rId53"/>
    <p:sldId id="487" r:id="rId54"/>
    <p:sldId id="488" r:id="rId55"/>
    <p:sldId id="489" r:id="rId56"/>
    <p:sldId id="296" r:id="rId57"/>
    <p:sldId id="368" r:id="rId58"/>
    <p:sldId id="297" r:id="rId59"/>
    <p:sldId id="457" r:id="rId60"/>
    <p:sldId id="298" r:id="rId61"/>
    <p:sldId id="299" r:id="rId62"/>
    <p:sldId id="300" r:id="rId63"/>
    <p:sldId id="451" r:id="rId64"/>
    <p:sldId id="301" r:id="rId65"/>
    <p:sldId id="416" r:id="rId66"/>
    <p:sldId id="417" r:id="rId67"/>
    <p:sldId id="418" r:id="rId68"/>
    <p:sldId id="458" r:id="rId69"/>
    <p:sldId id="419" r:id="rId70"/>
    <p:sldId id="420" r:id="rId71"/>
    <p:sldId id="421" r:id="rId72"/>
    <p:sldId id="422" r:id="rId73"/>
    <p:sldId id="423" r:id="rId74"/>
    <p:sldId id="424" r:id="rId75"/>
    <p:sldId id="425" r:id="rId76"/>
    <p:sldId id="426" r:id="rId77"/>
    <p:sldId id="427" r:id="rId78"/>
    <p:sldId id="428" r:id="rId79"/>
    <p:sldId id="429" r:id="rId80"/>
    <p:sldId id="430" r:id="rId81"/>
    <p:sldId id="431" r:id="rId82"/>
    <p:sldId id="490" r:id="rId83"/>
    <p:sldId id="432" r:id="rId84"/>
    <p:sldId id="433" r:id="rId85"/>
    <p:sldId id="434" r:id="rId86"/>
    <p:sldId id="435" r:id="rId87"/>
    <p:sldId id="436" r:id="rId88"/>
    <p:sldId id="437" r:id="rId89"/>
    <p:sldId id="440" r:id="rId90"/>
    <p:sldId id="441" r:id="rId91"/>
    <p:sldId id="442" r:id="rId92"/>
    <p:sldId id="443" r:id="rId93"/>
    <p:sldId id="444" r:id="rId94"/>
    <p:sldId id="445" r:id="rId95"/>
    <p:sldId id="446" r:id="rId96"/>
    <p:sldId id="447" r:id="rId97"/>
    <p:sldId id="448" r:id="rId98"/>
    <p:sldId id="449" r:id="rId99"/>
    <p:sldId id="450" r:id="rId100"/>
    <p:sldId id="467" r:id="rId101"/>
  </p:sldIdLst>
  <p:sldSz cx="9144000" cy="6858000" type="screen4x3"/>
  <p:notesSz cx="6858000" cy="9144000"/>
  <p:defaultTextStyle>
    <a:defPPr>
      <a:defRPr lang="zh-CN"/>
    </a:defPPr>
    <a:lvl1pPr algn="l" rtl="0" fontAlgn="base">
      <a:spcBef>
        <a:spcPct val="0"/>
      </a:spcBef>
      <a:spcAft>
        <a:spcPct val="0"/>
      </a:spcAft>
      <a:defRPr sz="2400" kern="1200">
        <a:solidFill>
          <a:schemeClr val="tx1"/>
        </a:solidFill>
        <a:latin typeface="Arial" charset="0"/>
        <a:ea typeface="宋体" pitchFamily="2" charset="-122"/>
        <a:cs typeface="+mn-cs"/>
      </a:defRPr>
    </a:lvl1pPr>
    <a:lvl2pPr marL="457200" algn="l" rtl="0" fontAlgn="base">
      <a:spcBef>
        <a:spcPct val="0"/>
      </a:spcBef>
      <a:spcAft>
        <a:spcPct val="0"/>
      </a:spcAft>
      <a:defRPr sz="2400" kern="1200">
        <a:solidFill>
          <a:schemeClr val="tx1"/>
        </a:solidFill>
        <a:latin typeface="Arial" charset="0"/>
        <a:ea typeface="宋体" pitchFamily="2" charset="-122"/>
        <a:cs typeface="+mn-cs"/>
      </a:defRPr>
    </a:lvl2pPr>
    <a:lvl3pPr marL="914400" algn="l" rtl="0" fontAlgn="base">
      <a:spcBef>
        <a:spcPct val="0"/>
      </a:spcBef>
      <a:spcAft>
        <a:spcPct val="0"/>
      </a:spcAft>
      <a:defRPr sz="2400" kern="1200">
        <a:solidFill>
          <a:schemeClr val="tx1"/>
        </a:solidFill>
        <a:latin typeface="Arial" charset="0"/>
        <a:ea typeface="宋体" pitchFamily="2" charset="-122"/>
        <a:cs typeface="+mn-cs"/>
      </a:defRPr>
    </a:lvl3pPr>
    <a:lvl4pPr marL="1371600" algn="l" rtl="0" fontAlgn="base">
      <a:spcBef>
        <a:spcPct val="0"/>
      </a:spcBef>
      <a:spcAft>
        <a:spcPct val="0"/>
      </a:spcAft>
      <a:defRPr sz="2400" kern="1200">
        <a:solidFill>
          <a:schemeClr val="tx1"/>
        </a:solidFill>
        <a:latin typeface="Arial" charset="0"/>
        <a:ea typeface="宋体" pitchFamily="2" charset="-122"/>
        <a:cs typeface="+mn-cs"/>
      </a:defRPr>
    </a:lvl4pPr>
    <a:lvl5pPr marL="1828800" algn="l" rtl="0" fontAlgn="base">
      <a:spcBef>
        <a:spcPct val="0"/>
      </a:spcBef>
      <a:spcAft>
        <a:spcPct val="0"/>
      </a:spcAft>
      <a:defRPr sz="2400" kern="1200">
        <a:solidFill>
          <a:schemeClr val="tx1"/>
        </a:solidFill>
        <a:latin typeface="Arial" charset="0"/>
        <a:ea typeface="宋体" pitchFamily="2" charset="-122"/>
        <a:cs typeface="+mn-cs"/>
      </a:defRPr>
    </a:lvl5pPr>
    <a:lvl6pPr marL="2286000" algn="l" defTabSz="914400" rtl="0" eaLnBrk="1" latinLnBrk="0" hangingPunct="1">
      <a:defRPr sz="2400" kern="1200">
        <a:solidFill>
          <a:schemeClr val="tx1"/>
        </a:solidFill>
        <a:latin typeface="Arial" charset="0"/>
        <a:ea typeface="宋体" pitchFamily="2" charset="-122"/>
        <a:cs typeface="+mn-cs"/>
      </a:defRPr>
    </a:lvl6pPr>
    <a:lvl7pPr marL="2743200" algn="l" defTabSz="914400" rtl="0" eaLnBrk="1" latinLnBrk="0" hangingPunct="1">
      <a:defRPr sz="2400" kern="1200">
        <a:solidFill>
          <a:schemeClr val="tx1"/>
        </a:solidFill>
        <a:latin typeface="Arial" charset="0"/>
        <a:ea typeface="宋体" pitchFamily="2" charset="-122"/>
        <a:cs typeface="+mn-cs"/>
      </a:defRPr>
    </a:lvl7pPr>
    <a:lvl8pPr marL="3200400" algn="l" defTabSz="914400" rtl="0" eaLnBrk="1" latinLnBrk="0" hangingPunct="1">
      <a:defRPr sz="2400" kern="1200">
        <a:solidFill>
          <a:schemeClr val="tx1"/>
        </a:solidFill>
        <a:latin typeface="Arial" charset="0"/>
        <a:ea typeface="宋体" pitchFamily="2" charset="-122"/>
        <a:cs typeface="+mn-cs"/>
      </a:defRPr>
    </a:lvl8pPr>
    <a:lvl9pPr marL="3657600" algn="l" defTabSz="914400" rtl="0" eaLnBrk="1" latinLnBrk="0" hangingPunct="1">
      <a:defRPr sz="2400"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12" autoAdjust="0"/>
    <p:restoredTop sz="94719" autoAdjust="0"/>
  </p:normalViewPr>
  <p:slideViewPr>
    <p:cSldViewPr>
      <p:cViewPr>
        <p:scale>
          <a:sx n="60" d="100"/>
          <a:sy n="60" d="100"/>
        </p:scale>
        <p:origin x="-1518" y="-1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1.wmf"/><Relationship Id="rId5" Type="http://schemas.openxmlformats.org/officeDocument/2006/relationships/image" Target="../media/image15.wmf"/><Relationship Id="rId4" Type="http://schemas.openxmlformats.org/officeDocument/2006/relationships/image" Target="../media/image1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9.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998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en-US" altLang="zh-CN"/>
          </a:p>
        </p:txBody>
      </p:sp>
      <p:sp>
        <p:nvSpPr>
          <p:cNvPr id="169987"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zh-CN"/>
          </a:p>
        </p:txBody>
      </p:sp>
      <p:sp>
        <p:nvSpPr>
          <p:cNvPr id="10240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69989"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69990"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en-US" altLang="zh-CN"/>
          </a:p>
        </p:txBody>
      </p:sp>
      <p:sp>
        <p:nvSpPr>
          <p:cNvPr id="169991"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0FF72BB7-7195-45DF-973B-7FD0DD73391D}" type="slidenum">
              <a:rPr lang="en-US" altLang="zh-CN"/>
              <a:pPr>
                <a:defRPr/>
              </a:pPr>
              <a:t>‹#›</a:t>
            </a:fld>
            <a:endParaRPr lang="en-US" altLang="zh-CN"/>
          </a:p>
        </p:txBody>
      </p:sp>
    </p:spTree>
    <p:extLst>
      <p:ext uri="{BB962C8B-B14F-4D97-AF65-F5344CB8AC3E}">
        <p14:creationId xmlns:p14="http://schemas.microsoft.com/office/powerpoint/2010/main" val="33621499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979488"/>
            <a:ext cx="9009063" cy="1052512"/>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4108" name="Rectangle 12"/>
          <p:cNvSpPr>
            <a:spLocks noGrp="1" noChangeArrowheads="1"/>
          </p:cNvSpPr>
          <p:nvPr>
            <p:ph type="ctrTitle"/>
          </p:nvPr>
        </p:nvSpPr>
        <p:spPr>
          <a:xfrm>
            <a:off x="1062038" y="476250"/>
            <a:ext cx="7397750" cy="1223963"/>
          </a:xfrm>
        </p:spPr>
        <p:txBody>
          <a:bodyPr/>
          <a:lstStyle>
            <a:lvl1pPr>
              <a:defRPr>
                <a:ea typeface="华文行楷" pitchFamily="2" charset="-122"/>
              </a:defRPr>
            </a:lvl1pPr>
          </a:lstStyle>
          <a:p>
            <a:pPr lvl="0"/>
            <a:r>
              <a:rPr lang="zh-CN" altLang="en-US" noProof="0" smtClean="0"/>
              <a:t>单击此处编辑母版标题样式</a:t>
            </a:r>
          </a:p>
        </p:txBody>
      </p:sp>
      <p:sp>
        <p:nvSpPr>
          <p:cNvPr id="4109" name="Rectangle 13"/>
          <p:cNvSpPr>
            <a:spLocks noGrp="1" noChangeArrowheads="1"/>
          </p:cNvSpPr>
          <p:nvPr>
            <p:ph type="subTitle" idx="1"/>
          </p:nvPr>
        </p:nvSpPr>
        <p:spPr>
          <a:xfrm>
            <a:off x="466725" y="2203450"/>
            <a:ext cx="8277225" cy="1752600"/>
          </a:xfrm>
        </p:spPr>
        <p:txBody>
          <a:bodyPr/>
          <a:lstStyle>
            <a:lvl1pPr algn="ctr">
              <a:defRPr/>
            </a:lvl1pPr>
          </a:lstStyle>
          <a:p>
            <a:pPr lvl="0"/>
            <a:r>
              <a:rPr lang="zh-CN" altLang="en-US" noProof="0" smtClean="0"/>
              <a:t>单击此处编辑母版副标题样式</a:t>
            </a:r>
          </a:p>
        </p:txBody>
      </p:sp>
      <p:sp>
        <p:nvSpPr>
          <p:cNvPr id="14" name="Rectangle 14"/>
          <p:cNvSpPr>
            <a:spLocks noGrp="1" noChangeArrowheads="1"/>
          </p:cNvSpPr>
          <p:nvPr>
            <p:ph type="ftr" sz="quarter" idx="10"/>
          </p:nvPr>
        </p:nvSpPr>
        <p:spPr>
          <a:xfrm>
            <a:off x="3429000" y="6248400"/>
            <a:ext cx="2895600" cy="457200"/>
          </a:xfrm>
        </p:spPr>
        <p:txBody>
          <a:bodyPr/>
          <a:lstStyle>
            <a:lvl1pPr>
              <a:defRPr smtClean="0">
                <a:solidFill>
                  <a:schemeClr val="bg2"/>
                </a:solidFill>
              </a:defRPr>
            </a:lvl1pPr>
          </a:lstStyle>
          <a:p>
            <a:pPr>
              <a:defRPr/>
            </a:pPr>
            <a:endParaRPr lang="en-US" altLang="zh-CN"/>
          </a:p>
        </p:txBody>
      </p:sp>
    </p:spTree>
    <p:extLst>
      <p:ext uri="{BB962C8B-B14F-4D97-AF65-F5344CB8AC3E}">
        <p14:creationId xmlns:p14="http://schemas.microsoft.com/office/powerpoint/2010/main" val="3284162686"/>
      </p:ext>
    </p:extLst>
  </p:cSld>
  <p:clrMapOvr>
    <a:masterClrMapping/>
  </p:clrMapOvr>
  <p:transition spd="slow">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F23BDE7D-13CF-42FC-8772-837C949B5587}" type="slidenum">
              <a:rPr lang="en-US" altLang="zh-CN"/>
              <a:pPr>
                <a:defRPr/>
              </a:pPr>
              <a:t>‹#›</a:t>
            </a:fld>
            <a:endParaRPr lang="en-US" altLang="zh-CN"/>
          </a:p>
        </p:txBody>
      </p:sp>
    </p:spTree>
    <p:extLst>
      <p:ext uri="{BB962C8B-B14F-4D97-AF65-F5344CB8AC3E}">
        <p14:creationId xmlns:p14="http://schemas.microsoft.com/office/powerpoint/2010/main" val="3679584821"/>
      </p:ext>
    </p:extLst>
  </p:cSld>
  <p:clrMapOvr>
    <a:masterClrMapping/>
  </p:clrMapOvr>
  <p:transition spd="slow">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7DC3F8C4-B8CD-482D-AC10-137D3DE40797}" type="slidenum">
              <a:rPr lang="en-US" altLang="zh-CN"/>
              <a:pPr>
                <a:defRPr/>
              </a:pPr>
              <a:t>‹#›</a:t>
            </a:fld>
            <a:endParaRPr lang="en-US" altLang="zh-CN"/>
          </a:p>
        </p:txBody>
      </p:sp>
    </p:spTree>
    <p:extLst>
      <p:ext uri="{BB962C8B-B14F-4D97-AF65-F5344CB8AC3E}">
        <p14:creationId xmlns:p14="http://schemas.microsoft.com/office/powerpoint/2010/main" val="3379059177"/>
      </p:ext>
    </p:extLst>
  </p:cSld>
  <p:clrMapOvr>
    <a:masterClrMapping/>
  </p:clrMapOvr>
  <p:transition spd="slow">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66725" y="1371600"/>
            <a:ext cx="4062413" cy="566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81538" y="1371600"/>
            <a:ext cx="4062412" cy="5667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1"/>
          </p:nvPr>
        </p:nvSpPr>
        <p:spPr>
          <a:ln/>
        </p:spPr>
        <p:txBody>
          <a:bodyPr/>
          <a:lstStyle>
            <a:lvl1pPr>
              <a:defRPr/>
            </a:lvl1pPr>
          </a:lstStyle>
          <a:p>
            <a:pPr>
              <a:defRPr/>
            </a:pPr>
            <a:fld id="{4B20DCE4-017B-4112-B1B9-CFB5225842EE}" type="slidenum">
              <a:rPr lang="en-US" altLang="zh-CN"/>
              <a:pPr>
                <a:defRPr/>
              </a:pPr>
              <a:t>‹#›</a:t>
            </a:fld>
            <a:endParaRPr lang="en-US" altLang="zh-CN"/>
          </a:p>
        </p:txBody>
      </p:sp>
    </p:spTree>
    <p:extLst>
      <p:ext uri="{BB962C8B-B14F-4D97-AF65-F5344CB8AC3E}">
        <p14:creationId xmlns:p14="http://schemas.microsoft.com/office/powerpoint/2010/main" val="2126024803"/>
      </p:ext>
    </p:extLst>
  </p:cSld>
  <p:clrMapOvr>
    <a:masterClrMapping/>
  </p:clrMapOvr>
  <p:transition spd="slow">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2"/>
          <p:cNvSpPr>
            <a:spLocks noGrp="1" noChangeArrowheads="1"/>
          </p:cNvSpPr>
          <p:nvPr>
            <p:ph type="ftr" sz="quarter" idx="10"/>
          </p:nvPr>
        </p:nvSpPr>
        <p:spPr>
          <a:ln/>
        </p:spPr>
        <p:txBody>
          <a:bodyPr/>
          <a:lstStyle>
            <a:lvl1pPr>
              <a:defRPr/>
            </a:lvl1pPr>
          </a:lstStyle>
          <a:p>
            <a:pPr>
              <a:defRPr/>
            </a:pPr>
            <a:endParaRPr lang="en-US" altLang="zh-CN"/>
          </a:p>
        </p:txBody>
      </p:sp>
      <p:sp>
        <p:nvSpPr>
          <p:cNvPr id="8" name="Rectangle 13"/>
          <p:cNvSpPr>
            <a:spLocks noGrp="1" noChangeArrowheads="1"/>
          </p:cNvSpPr>
          <p:nvPr>
            <p:ph type="sldNum" sz="quarter" idx="11"/>
          </p:nvPr>
        </p:nvSpPr>
        <p:spPr>
          <a:ln/>
        </p:spPr>
        <p:txBody>
          <a:bodyPr/>
          <a:lstStyle>
            <a:lvl1pPr>
              <a:defRPr/>
            </a:lvl1pPr>
          </a:lstStyle>
          <a:p>
            <a:pPr>
              <a:defRPr/>
            </a:pPr>
            <a:fld id="{9AE73EE6-7DF3-43B5-8DE3-A9C642E1440E}" type="slidenum">
              <a:rPr lang="en-US" altLang="zh-CN"/>
              <a:pPr>
                <a:defRPr/>
              </a:pPr>
              <a:t>‹#›</a:t>
            </a:fld>
            <a:endParaRPr lang="en-US" altLang="zh-CN"/>
          </a:p>
        </p:txBody>
      </p:sp>
    </p:spTree>
    <p:extLst>
      <p:ext uri="{BB962C8B-B14F-4D97-AF65-F5344CB8AC3E}">
        <p14:creationId xmlns:p14="http://schemas.microsoft.com/office/powerpoint/2010/main" val="3014079431"/>
      </p:ext>
    </p:extLst>
  </p:cSld>
  <p:clrMapOvr>
    <a:masterClrMapping/>
  </p:clrMapOvr>
  <p:transition spd="slow">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2"/>
          <p:cNvSpPr>
            <a:spLocks noGrp="1" noChangeArrowheads="1"/>
          </p:cNvSpPr>
          <p:nvPr>
            <p:ph type="ftr" sz="quarter" idx="10"/>
          </p:nvPr>
        </p:nvSpPr>
        <p:spPr>
          <a:ln/>
        </p:spPr>
        <p:txBody>
          <a:bodyPr/>
          <a:lstStyle>
            <a:lvl1pPr>
              <a:defRPr/>
            </a:lvl1pPr>
          </a:lstStyle>
          <a:p>
            <a:pPr>
              <a:defRPr/>
            </a:pPr>
            <a:endParaRPr lang="en-US" altLang="zh-CN"/>
          </a:p>
        </p:txBody>
      </p:sp>
      <p:sp>
        <p:nvSpPr>
          <p:cNvPr id="4" name="Rectangle 13"/>
          <p:cNvSpPr>
            <a:spLocks noGrp="1" noChangeArrowheads="1"/>
          </p:cNvSpPr>
          <p:nvPr>
            <p:ph type="sldNum" sz="quarter" idx="11"/>
          </p:nvPr>
        </p:nvSpPr>
        <p:spPr>
          <a:ln/>
        </p:spPr>
        <p:txBody>
          <a:bodyPr/>
          <a:lstStyle>
            <a:lvl1pPr>
              <a:defRPr/>
            </a:lvl1pPr>
          </a:lstStyle>
          <a:p>
            <a:pPr>
              <a:defRPr/>
            </a:pPr>
            <a:fld id="{D8D37F5A-6743-4CE0-A2F7-C2F4B4F57187}" type="slidenum">
              <a:rPr lang="en-US" altLang="zh-CN"/>
              <a:pPr>
                <a:defRPr/>
              </a:pPr>
              <a:t>‹#›</a:t>
            </a:fld>
            <a:endParaRPr lang="en-US" altLang="zh-CN"/>
          </a:p>
        </p:txBody>
      </p:sp>
    </p:spTree>
    <p:extLst>
      <p:ext uri="{BB962C8B-B14F-4D97-AF65-F5344CB8AC3E}">
        <p14:creationId xmlns:p14="http://schemas.microsoft.com/office/powerpoint/2010/main" val="2119969650"/>
      </p:ext>
    </p:extLst>
  </p:cSld>
  <p:clrMapOvr>
    <a:masterClrMapping/>
  </p:clrMapOvr>
  <p:transition spd="slow">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endParaRPr lang="en-US" altLang="zh-CN"/>
          </a:p>
        </p:txBody>
      </p:sp>
      <p:sp>
        <p:nvSpPr>
          <p:cNvPr id="3" name="Rectangle 13"/>
          <p:cNvSpPr>
            <a:spLocks noGrp="1" noChangeArrowheads="1"/>
          </p:cNvSpPr>
          <p:nvPr>
            <p:ph type="sldNum" sz="quarter" idx="11"/>
          </p:nvPr>
        </p:nvSpPr>
        <p:spPr>
          <a:ln/>
        </p:spPr>
        <p:txBody>
          <a:bodyPr/>
          <a:lstStyle>
            <a:lvl1pPr>
              <a:defRPr/>
            </a:lvl1pPr>
          </a:lstStyle>
          <a:p>
            <a:pPr>
              <a:defRPr/>
            </a:pPr>
            <a:fld id="{9EBAB458-6D31-4EF9-9831-75D92864639F}" type="slidenum">
              <a:rPr lang="en-US" altLang="zh-CN"/>
              <a:pPr>
                <a:defRPr/>
              </a:pPr>
              <a:t>‹#›</a:t>
            </a:fld>
            <a:endParaRPr lang="en-US" altLang="zh-CN"/>
          </a:p>
        </p:txBody>
      </p:sp>
    </p:spTree>
    <p:extLst>
      <p:ext uri="{BB962C8B-B14F-4D97-AF65-F5344CB8AC3E}">
        <p14:creationId xmlns:p14="http://schemas.microsoft.com/office/powerpoint/2010/main" val="623750059"/>
      </p:ext>
    </p:extLst>
  </p:cSld>
  <p:clrMapOvr>
    <a:masterClrMapping/>
  </p:clrMapOvr>
  <p:transition spd="slow">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1"/>
          </p:nvPr>
        </p:nvSpPr>
        <p:spPr>
          <a:ln/>
        </p:spPr>
        <p:txBody>
          <a:bodyPr/>
          <a:lstStyle>
            <a:lvl1pPr>
              <a:defRPr/>
            </a:lvl1pPr>
          </a:lstStyle>
          <a:p>
            <a:pPr>
              <a:defRPr/>
            </a:pPr>
            <a:fld id="{FA62B9FC-CDC5-4978-B20E-8F4B3CC77829}" type="slidenum">
              <a:rPr lang="en-US" altLang="zh-CN"/>
              <a:pPr>
                <a:defRPr/>
              </a:pPr>
              <a:t>‹#›</a:t>
            </a:fld>
            <a:endParaRPr lang="en-US" altLang="zh-CN"/>
          </a:p>
        </p:txBody>
      </p:sp>
    </p:spTree>
    <p:extLst>
      <p:ext uri="{BB962C8B-B14F-4D97-AF65-F5344CB8AC3E}">
        <p14:creationId xmlns:p14="http://schemas.microsoft.com/office/powerpoint/2010/main" val="2999158512"/>
      </p:ext>
    </p:extLst>
  </p:cSld>
  <p:clrMapOvr>
    <a:masterClrMapping/>
  </p:clrMapOvr>
  <p:transition spd="slow">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2"/>
          <p:cNvSpPr>
            <a:spLocks noGrp="1" noChangeArrowheads="1"/>
          </p:cNvSpPr>
          <p:nvPr>
            <p:ph type="ftr" sz="quarter" idx="10"/>
          </p:nvPr>
        </p:nvSpPr>
        <p:spPr>
          <a:ln/>
        </p:spPr>
        <p:txBody>
          <a:bodyPr/>
          <a:lstStyle>
            <a:lvl1pPr>
              <a:defRPr/>
            </a:lvl1pPr>
          </a:lstStyle>
          <a:p>
            <a:pPr>
              <a:defRPr/>
            </a:pPr>
            <a:endParaRPr lang="en-US" altLang="zh-CN"/>
          </a:p>
        </p:txBody>
      </p:sp>
      <p:sp>
        <p:nvSpPr>
          <p:cNvPr id="6" name="Rectangle 13"/>
          <p:cNvSpPr>
            <a:spLocks noGrp="1" noChangeArrowheads="1"/>
          </p:cNvSpPr>
          <p:nvPr>
            <p:ph type="sldNum" sz="quarter" idx="11"/>
          </p:nvPr>
        </p:nvSpPr>
        <p:spPr>
          <a:ln/>
        </p:spPr>
        <p:txBody>
          <a:bodyPr/>
          <a:lstStyle>
            <a:lvl1pPr>
              <a:defRPr/>
            </a:lvl1pPr>
          </a:lstStyle>
          <a:p>
            <a:pPr>
              <a:defRPr/>
            </a:pPr>
            <a:fld id="{F232105C-524D-412E-A7F1-470728186E42}" type="slidenum">
              <a:rPr lang="en-US" altLang="zh-CN"/>
              <a:pPr>
                <a:defRPr/>
              </a:pPr>
              <a:t>‹#›</a:t>
            </a:fld>
            <a:endParaRPr lang="en-US" altLang="zh-CN"/>
          </a:p>
        </p:txBody>
      </p:sp>
    </p:spTree>
    <p:extLst>
      <p:ext uri="{BB962C8B-B14F-4D97-AF65-F5344CB8AC3E}">
        <p14:creationId xmlns:p14="http://schemas.microsoft.com/office/powerpoint/2010/main" val="311693892"/>
      </p:ext>
    </p:extLst>
  </p:cSld>
  <p:clrMapOvr>
    <a:masterClrMapping/>
  </p:clrMapOvr>
  <p:transition spd="slow">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5E534F58-0980-4205-910C-5C044D5817A0}" type="slidenum">
              <a:rPr lang="en-US" altLang="zh-CN"/>
              <a:pPr>
                <a:defRPr/>
              </a:pPr>
              <a:t>‹#›</a:t>
            </a:fld>
            <a:endParaRPr lang="en-US" altLang="zh-CN"/>
          </a:p>
        </p:txBody>
      </p:sp>
    </p:spTree>
    <p:extLst>
      <p:ext uri="{BB962C8B-B14F-4D97-AF65-F5344CB8AC3E}">
        <p14:creationId xmlns:p14="http://schemas.microsoft.com/office/powerpoint/2010/main" val="3990362671"/>
      </p:ext>
    </p:extLst>
  </p:cSld>
  <p:clrMapOvr>
    <a:masterClrMapping/>
  </p:clrMapOvr>
  <p:transition spd="slow">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75438" y="212725"/>
            <a:ext cx="2068512" cy="1725613"/>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66725" y="212725"/>
            <a:ext cx="6056313" cy="1725613"/>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2"/>
          <p:cNvSpPr>
            <a:spLocks noGrp="1" noChangeArrowheads="1"/>
          </p:cNvSpPr>
          <p:nvPr>
            <p:ph type="ftr" sz="quarter" idx="10"/>
          </p:nvPr>
        </p:nvSpPr>
        <p:spPr>
          <a:ln/>
        </p:spPr>
        <p:txBody>
          <a:bodyPr/>
          <a:lstStyle>
            <a:lvl1pPr>
              <a:defRPr/>
            </a:lvl1pPr>
          </a:lstStyle>
          <a:p>
            <a:pPr>
              <a:defRPr/>
            </a:pPr>
            <a:endParaRPr lang="en-US" altLang="zh-CN"/>
          </a:p>
        </p:txBody>
      </p:sp>
      <p:sp>
        <p:nvSpPr>
          <p:cNvPr id="5" name="Rectangle 13"/>
          <p:cNvSpPr>
            <a:spLocks noGrp="1" noChangeArrowheads="1"/>
          </p:cNvSpPr>
          <p:nvPr>
            <p:ph type="sldNum" sz="quarter" idx="11"/>
          </p:nvPr>
        </p:nvSpPr>
        <p:spPr>
          <a:ln/>
        </p:spPr>
        <p:txBody>
          <a:bodyPr/>
          <a:lstStyle>
            <a:lvl1pPr>
              <a:defRPr/>
            </a:lvl1pPr>
          </a:lstStyle>
          <a:p>
            <a:pPr>
              <a:defRPr/>
            </a:pPr>
            <a:fld id="{E483AA45-9053-4707-BE60-E0A6B67548EF}" type="slidenum">
              <a:rPr lang="en-US" altLang="zh-CN"/>
              <a:pPr>
                <a:defRPr/>
              </a:pPr>
              <a:t>‹#›</a:t>
            </a:fld>
            <a:endParaRPr lang="en-US" altLang="zh-CN"/>
          </a:p>
        </p:txBody>
      </p:sp>
    </p:spTree>
    <p:extLst>
      <p:ext uri="{BB962C8B-B14F-4D97-AF65-F5344CB8AC3E}">
        <p14:creationId xmlns:p14="http://schemas.microsoft.com/office/powerpoint/2010/main" val="1271153665"/>
      </p:ext>
    </p:extLst>
  </p:cSld>
  <p:clrMapOvr>
    <a:masterClrMapping/>
  </p:clrMapOvr>
  <p:transition spd="slow">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2"/>
          <p:cNvGrpSpPr>
            <a:grpSpLocks/>
          </p:cNvGrpSpPr>
          <p:nvPr userDrawn="1"/>
        </p:nvGrpSpPr>
        <p:grpSpPr bwMode="auto">
          <a:xfrm>
            <a:off x="0" y="157163"/>
            <a:ext cx="8542338" cy="1052512"/>
            <a:chOff x="80" y="624"/>
            <a:chExt cx="5381" cy="663"/>
          </a:xfrm>
        </p:grpSpPr>
        <p:sp>
          <p:nvSpPr>
            <p:cNvPr id="1031" name="Rectangle 3"/>
            <p:cNvSpPr>
              <a:spLocks noChangeArrowheads="1"/>
            </p:cNvSpPr>
            <p:nvPr/>
          </p:nvSpPr>
          <p:spPr bwMode="ltGray">
            <a:xfrm>
              <a:off x="504" y="692"/>
              <a:ext cx="207" cy="299"/>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a:latin typeface="Tahoma" pitchFamily="34" charset="0"/>
              </a:endParaRPr>
            </a:p>
          </p:txBody>
        </p:sp>
        <p:sp>
          <p:nvSpPr>
            <p:cNvPr id="1032" name="Rectangle 4"/>
            <p:cNvSpPr>
              <a:spLocks noChangeArrowheads="1"/>
            </p:cNvSpPr>
            <p:nvPr/>
          </p:nvSpPr>
          <p:spPr bwMode="ltGray">
            <a:xfrm>
              <a:off x="574" y="958"/>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a:latin typeface="Tahoma" pitchFamily="34" charset="0"/>
              </a:endParaRPr>
            </a:p>
          </p:txBody>
        </p:sp>
        <p:sp>
          <p:nvSpPr>
            <p:cNvPr id="1033" name="Rectangle 5"/>
            <p:cNvSpPr>
              <a:spLocks noChangeArrowheads="1"/>
            </p:cNvSpPr>
            <p:nvPr/>
          </p:nvSpPr>
          <p:spPr bwMode="gray">
            <a:xfrm>
              <a:off x="480" y="624"/>
              <a:ext cx="20" cy="66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a:latin typeface="Tahoma" pitchFamily="34" charset="0"/>
              </a:endParaRPr>
            </a:p>
          </p:txBody>
        </p:sp>
        <p:sp>
          <p:nvSpPr>
            <p:cNvPr id="1034" name="Rectangle 6"/>
            <p:cNvSpPr>
              <a:spLocks noChangeArrowheads="1"/>
            </p:cNvSpPr>
            <p:nvPr userDrawn="1"/>
          </p:nvSpPr>
          <p:spPr bwMode="ltGray">
            <a:xfrm>
              <a:off x="263" y="692"/>
              <a:ext cx="276" cy="29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a:latin typeface="Tahoma" pitchFamily="34" charset="0"/>
              </a:endParaRPr>
            </a:p>
          </p:txBody>
        </p:sp>
        <p:sp>
          <p:nvSpPr>
            <p:cNvPr id="1035" name="Rectangle 7"/>
            <p:cNvSpPr>
              <a:spLocks noChangeArrowheads="1"/>
            </p:cNvSpPr>
            <p:nvPr userDrawn="1"/>
          </p:nvSpPr>
          <p:spPr bwMode="ltGray">
            <a:xfrm>
              <a:off x="341" y="958"/>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a:latin typeface="Tahoma" pitchFamily="34" charset="0"/>
              </a:endParaRPr>
            </a:p>
          </p:txBody>
        </p:sp>
        <p:sp>
          <p:nvSpPr>
            <p:cNvPr id="1036" name="Rectangle 8"/>
            <p:cNvSpPr>
              <a:spLocks noChangeArrowheads="1"/>
            </p:cNvSpPr>
            <p:nvPr userDrawn="1"/>
          </p:nvSpPr>
          <p:spPr bwMode="ltGray">
            <a:xfrm>
              <a:off x="80" y="912"/>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a:latin typeface="Tahoma" pitchFamily="34" charset="0"/>
              </a:endParaRPr>
            </a:p>
          </p:txBody>
        </p:sp>
        <p:sp>
          <p:nvSpPr>
            <p:cNvPr id="1037" name="Rectangle 9"/>
            <p:cNvSpPr>
              <a:spLocks noChangeArrowheads="1"/>
            </p:cNvSpPr>
            <p:nvPr userDrawn="1"/>
          </p:nvSpPr>
          <p:spPr bwMode="gray">
            <a:xfrm>
              <a:off x="279" y="1122"/>
              <a:ext cx="5182" cy="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kumimoji="1" lang="zh-CN" altLang="zh-CN">
                <a:latin typeface="Tahoma" pitchFamily="34" charset="0"/>
              </a:endParaRPr>
            </a:p>
          </p:txBody>
        </p:sp>
      </p:grpSp>
      <p:sp>
        <p:nvSpPr>
          <p:cNvPr id="1027" name="Rectangle 10"/>
          <p:cNvSpPr>
            <a:spLocks noGrp="1" noChangeArrowheads="1"/>
          </p:cNvSpPr>
          <p:nvPr>
            <p:ph type="title"/>
          </p:nvPr>
        </p:nvSpPr>
        <p:spPr bwMode="auto">
          <a:xfrm>
            <a:off x="990600" y="212725"/>
            <a:ext cx="723741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p>
            <a:pPr lvl="0"/>
            <a:r>
              <a:rPr lang="zh-CN" altLang="en-US" smtClean="0"/>
              <a:t>单击此处编辑母版标题样式</a:t>
            </a:r>
          </a:p>
        </p:txBody>
      </p:sp>
      <p:sp>
        <p:nvSpPr>
          <p:cNvPr id="1028" name="Rectangle 11"/>
          <p:cNvSpPr>
            <a:spLocks noGrp="1" noChangeArrowheads="1"/>
          </p:cNvSpPr>
          <p:nvPr>
            <p:ph type="body" idx="1"/>
          </p:nvPr>
        </p:nvSpPr>
        <p:spPr bwMode="auto">
          <a:xfrm>
            <a:off x="466725" y="1371600"/>
            <a:ext cx="8277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a:r>
              <a:rPr lang="zh-CN" altLang="en-US" smtClean="0"/>
              <a:t>单击此处编辑母版文本样式</a:t>
            </a:r>
          </a:p>
        </p:txBody>
      </p:sp>
      <p:sp>
        <p:nvSpPr>
          <p:cNvPr id="3084"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smtClean="0">
                <a:latin typeface="+mj-lt"/>
              </a:defRPr>
            </a:lvl1pPr>
          </a:lstStyle>
          <a:p>
            <a:pPr>
              <a:defRPr/>
            </a:pPr>
            <a:endParaRPr lang="en-US" altLang="zh-CN"/>
          </a:p>
        </p:txBody>
      </p:sp>
      <p:sp>
        <p:nvSpPr>
          <p:cNvPr id="3085" name="Rectangle 13"/>
          <p:cNvSpPr>
            <a:spLocks noGrp="1" noChangeArrowheads="1"/>
          </p:cNvSpPr>
          <p:nvPr>
            <p:ph type="sldNum" sz="quarter" idx="4"/>
          </p:nvPr>
        </p:nvSpPr>
        <p:spPr bwMode="auto">
          <a:xfrm>
            <a:off x="7042150" y="624363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smtClean="0">
                <a:latin typeface="+mj-lt"/>
              </a:defRPr>
            </a:lvl1pPr>
          </a:lstStyle>
          <a:p>
            <a:pPr>
              <a:defRPr/>
            </a:pPr>
            <a:fld id="{0394C71B-1E94-418C-A32D-504A9155EA63}"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72"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random/>
  </p:transition>
  <p:timing>
    <p:tnLst>
      <p:par>
        <p:cTn id="1" dur="indefinite" restart="never" nodeType="tmRoot"/>
      </p:par>
    </p:tnLst>
  </p:timing>
  <p:hf hdr="0" ftr="0" dt="0"/>
  <p:txStyles>
    <p:titleStyle>
      <a:lvl1pPr algn="ctr" rtl="0" eaLnBrk="0" fontAlgn="base" hangingPunct="0">
        <a:spcBef>
          <a:spcPct val="0"/>
        </a:spcBef>
        <a:spcAft>
          <a:spcPct val="0"/>
        </a:spcAft>
        <a:defRPr sz="4000" b="1">
          <a:solidFill>
            <a:schemeClr val="tx2"/>
          </a:solidFill>
          <a:latin typeface="+mj-lt"/>
          <a:ea typeface="+mj-ea"/>
          <a:cs typeface="+mj-cs"/>
        </a:defRPr>
      </a:lvl1pPr>
      <a:lvl2pPr algn="ctr" rtl="0" eaLnBrk="0" fontAlgn="base" hangingPunct="0">
        <a:spcBef>
          <a:spcPct val="0"/>
        </a:spcBef>
        <a:spcAft>
          <a:spcPct val="0"/>
        </a:spcAft>
        <a:defRPr sz="4000" b="1">
          <a:solidFill>
            <a:schemeClr val="tx2"/>
          </a:solidFill>
          <a:latin typeface="Tahoma" pitchFamily="34" charset="0"/>
          <a:ea typeface="楷体_GB2312" pitchFamily="49" charset="-122"/>
        </a:defRPr>
      </a:lvl2pPr>
      <a:lvl3pPr algn="ctr" rtl="0" eaLnBrk="0" fontAlgn="base" hangingPunct="0">
        <a:spcBef>
          <a:spcPct val="0"/>
        </a:spcBef>
        <a:spcAft>
          <a:spcPct val="0"/>
        </a:spcAft>
        <a:defRPr sz="4000" b="1">
          <a:solidFill>
            <a:schemeClr val="tx2"/>
          </a:solidFill>
          <a:latin typeface="Tahoma" pitchFamily="34" charset="0"/>
          <a:ea typeface="楷体_GB2312" pitchFamily="49" charset="-122"/>
        </a:defRPr>
      </a:lvl3pPr>
      <a:lvl4pPr algn="ctr" rtl="0" eaLnBrk="0" fontAlgn="base" hangingPunct="0">
        <a:spcBef>
          <a:spcPct val="0"/>
        </a:spcBef>
        <a:spcAft>
          <a:spcPct val="0"/>
        </a:spcAft>
        <a:defRPr sz="4000" b="1">
          <a:solidFill>
            <a:schemeClr val="tx2"/>
          </a:solidFill>
          <a:latin typeface="Tahoma" pitchFamily="34" charset="0"/>
          <a:ea typeface="楷体_GB2312" pitchFamily="49" charset="-122"/>
        </a:defRPr>
      </a:lvl4pPr>
      <a:lvl5pPr algn="ctr" rtl="0" eaLnBrk="0" fontAlgn="base" hangingPunct="0">
        <a:spcBef>
          <a:spcPct val="0"/>
        </a:spcBef>
        <a:spcAft>
          <a:spcPct val="0"/>
        </a:spcAft>
        <a:defRPr sz="4000" b="1">
          <a:solidFill>
            <a:schemeClr val="tx2"/>
          </a:solidFill>
          <a:latin typeface="Tahoma" pitchFamily="34" charset="0"/>
          <a:ea typeface="楷体_GB2312" pitchFamily="49" charset="-122"/>
        </a:defRPr>
      </a:lvl5pPr>
      <a:lvl6pPr marL="457200" algn="ctr" rtl="0" fontAlgn="base">
        <a:spcBef>
          <a:spcPct val="0"/>
        </a:spcBef>
        <a:spcAft>
          <a:spcPct val="0"/>
        </a:spcAft>
        <a:defRPr sz="4000" b="1">
          <a:solidFill>
            <a:schemeClr val="tx2"/>
          </a:solidFill>
          <a:latin typeface="Tahoma" pitchFamily="34" charset="0"/>
          <a:ea typeface="楷体_GB2312" pitchFamily="49" charset="-122"/>
        </a:defRPr>
      </a:lvl6pPr>
      <a:lvl7pPr marL="914400" algn="ctr" rtl="0" fontAlgn="base">
        <a:spcBef>
          <a:spcPct val="0"/>
        </a:spcBef>
        <a:spcAft>
          <a:spcPct val="0"/>
        </a:spcAft>
        <a:defRPr sz="4000" b="1">
          <a:solidFill>
            <a:schemeClr val="tx2"/>
          </a:solidFill>
          <a:latin typeface="Tahoma" pitchFamily="34" charset="0"/>
          <a:ea typeface="楷体_GB2312" pitchFamily="49" charset="-122"/>
        </a:defRPr>
      </a:lvl7pPr>
      <a:lvl8pPr marL="1371600" algn="ctr" rtl="0" fontAlgn="base">
        <a:spcBef>
          <a:spcPct val="0"/>
        </a:spcBef>
        <a:spcAft>
          <a:spcPct val="0"/>
        </a:spcAft>
        <a:defRPr sz="4000" b="1">
          <a:solidFill>
            <a:schemeClr val="tx2"/>
          </a:solidFill>
          <a:latin typeface="Tahoma" pitchFamily="34" charset="0"/>
          <a:ea typeface="楷体_GB2312" pitchFamily="49" charset="-122"/>
        </a:defRPr>
      </a:lvl8pPr>
      <a:lvl9pPr marL="1828800" algn="ctr" rtl="0" fontAlgn="base">
        <a:spcBef>
          <a:spcPct val="0"/>
        </a:spcBef>
        <a:spcAft>
          <a:spcPct val="0"/>
        </a:spcAft>
        <a:defRPr sz="4000" b="1">
          <a:solidFill>
            <a:schemeClr val="tx2"/>
          </a:solidFill>
          <a:latin typeface="Tahoma" pitchFamily="34" charset="0"/>
          <a:ea typeface="楷体_GB2312" pitchFamily="49" charset="-122"/>
        </a:defRPr>
      </a:lvl9pPr>
    </p:titleStyle>
    <p:bodyStyle>
      <a:lvl1pPr algn="l" rtl="0" eaLnBrk="0" fontAlgn="base" hangingPunct="0">
        <a:lnSpc>
          <a:spcPct val="130000"/>
        </a:lnSpc>
        <a:spcBef>
          <a:spcPct val="0"/>
        </a:spcBef>
        <a:spcAft>
          <a:spcPct val="0"/>
        </a:spcAft>
        <a:buClr>
          <a:schemeClr val="folHlink"/>
        </a:buClr>
        <a:buSzPct val="60000"/>
        <a:buFont typeface="Wingdings" pitchFamily="2" charset="2"/>
        <a:defRPr sz="2400" b="1">
          <a:solidFill>
            <a:schemeClr val="tx1"/>
          </a:solidFill>
          <a:latin typeface="+mn-lt"/>
          <a:ea typeface="+mn-ea"/>
          <a:cs typeface="+mn-cs"/>
        </a:defRPr>
      </a:lvl1pPr>
      <a:lvl2pPr marL="439738" indent="4763" algn="l" rtl="0" eaLnBrk="0" fontAlgn="base" hangingPunct="0">
        <a:lnSpc>
          <a:spcPct val="130000"/>
        </a:lnSpc>
        <a:spcBef>
          <a:spcPct val="0"/>
        </a:spcBef>
        <a:spcAft>
          <a:spcPct val="0"/>
        </a:spcAft>
        <a:buClr>
          <a:schemeClr val="hlink"/>
        </a:buClr>
        <a:buSzPct val="55000"/>
        <a:buFont typeface="Wingdings" pitchFamily="2" charset="2"/>
        <a:defRPr sz="2800" b="1">
          <a:solidFill>
            <a:schemeClr val="tx1"/>
          </a:solidFill>
          <a:latin typeface="+mn-lt"/>
          <a:ea typeface="+mn-ea"/>
        </a:defRPr>
      </a:lvl2pPr>
      <a:lvl3pPr marL="901700" algn="l" rtl="0" eaLnBrk="0" fontAlgn="base" hangingPunct="0">
        <a:lnSpc>
          <a:spcPct val="130000"/>
        </a:lnSpc>
        <a:spcBef>
          <a:spcPct val="0"/>
        </a:spcBef>
        <a:spcAft>
          <a:spcPct val="0"/>
        </a:spcAft>
        <a:buClr>
          <a:schemeClr val="folHlink"/>
        </a:buClr>
        <a:buSzPct val="50000"/>
        <a:buFont typeface="Wingdings" pitchFamily="2" charset="2"/>
        <a:defRPr sz="2800" b="1">
          <a:solidFill>
            <a:schemeClr val="tx1"/>
          </a:solidFill>
          <a:latin typeface="+mn-lt"/>
          <a:ea typeface="+mn-ea"/>
        </a:defRPr>
      </a:lvl3pPr>
      <a:lvl4pPr marL="1346200" algn="l" rtl="0" eaLnBrk="0" fontAlgn="base" hangingPunct="0">
        <a:lnSpc>
          <a:spcPct val="130000"/>
        </a:lnSpc>
        <a:spcBef>
          <a:spcPct val="0"/>
        </a:spcBef>
        <a:spcAft>
          <a:spcPct val="0"/>
        </a:spcAft>
        <a:buClr>
          <a:schemeClr val="accent2"/>
        </a:buClr>
        <a:buSzPct val="55000"/>
        <a:buFont typeface="Wingdings" pitchFamily="2" charset="2"/>
        <a:defRPr sz="2800" b="1">
          <a:solidFill>
            <a:schemeClr val="tx1"/>
          </a:solidFill>
          <a:latin typeface="+mn-lt"/>
          <a:ea typeface="+mn-ea"/>
        </a:defRPr>
      </a:lvl4pPr>
      <a:lvl5pPr marL="1789113" algn="l" rtl="0" eaLnBrk="0" fontAlgn="base" hangingPunct="0">
        <a:lnSpc>
          <a:spcPct val="130000"/>
        </a:lnSpc>
        <a:spcBef>
          <a:spcPct val="0"/>
        </a:spcBef>
        <a:spcAft>
          <a:spcPct val="0"/>
        </a:spcAft>
        <a:buClr>
          <a:schemeClr val="accent1"/>
        </a:buClr>
        <a:buSzPct val="50000"/>
        <a:buFont typeface="Wingdings" pitchFamily="2" charset="2"/>
        <a:defRPr sz="2800" b="1">
          <a:solidFill>
            <a:schemeClr val="tx1"/>
          </a:solidFill>
          <a:latin typeface="+mn-lt"/>
          <a:ea typeface="+mn-ea"/>
        </a:defRPr>
      </a:lvl5pPr>
      <a:lvl6pPr marL="2246313" algn="l" rtl="0" fontAlgn="base">
        <a:lnSpc>
          <a:spcPct val="130000"/>
        </a:lnSpc>
        <a:spcBef>
          <a:spcPct val="0"/>
        </a:spcBef>
        <a:spcAft>
          <a:spcPct val="0"/>
        </a:spcAft>
        <a:buClr>
          <a:schemeClr val="accent1"/>
        </a:buClr>
        <a:buSzPct val="50000"/>
        <a:buFont typeface="Wingdings" pitchFamily="2" charset="2"/>
        <a:defRPr sz="2800" b="1">
          <a:solidFill>
            <a:schemeClr val="tx1"/>
          </a:solidFill>
          <a:latin typeface="+mn-lt"/>
          <a:ea typeface="+mn-ea"/>
        </a:defRPr>
      </a:lvl6pPr>
      <a:lvl7pPr marL="2703513" algn="l" rtl="0" fontAlgn="base">
        <a:lnSpc>
          <a:spcPct val="130000"/>
        </a:lnSpc>
        <a:spcBef>
          <a:spcPct val="0"/>
        </a:spcBef>
        <a:spcAft>
          <a:spcPct val="0"/>
        </a:spcAft>
        <a:buClr>
          <a:schemeClr val="accent1"/>
        </a:buClr>
        <a:buSzPct val="50000"/>
        <a:buFont typeface="Wingdings" pitchFamily="2" charset="2"/>
        <a:defRPr sz="2800" b="1">
          <a:solidFill>
            <a:schemeClr val="tx1"/>
          </a:solidFill>
          <a:latin typeface="+mn-lt"/>
          <a:ea typeface="+mn-ea"/>
        </a:defRPr>
      </a:lvl7pPr>
      <a:lvl8pPr marL="3160713" algn="l" rtl="0" fontAlgn="base">
        <a:lnSpc>
          <a:spcPct val="130000"/>
        </a:lnSpc>
        <a:spcBef>
          <a:spcPct val="0"/>
        </a:spcBef>
        <a:spcAft>
          <a:spcPct val="0"/>
        </a:spcAft>
        <a:buClr>
          <a:schemeClr val="accent1"/>
        </a:buClr>
        <a:buSzPct val="50000"/>
        <a:buFont typeface="Wingdings" pitchFamily="2" charset="2"/>
        <a:defRPr sz="2800" b="1">
          <a:solidFill>
            <a:schemeClr val="tx1"/>
          </a:solidFill>
          <a:latin typeface="+mn-lt"/>
          <a:ea typeface="+mn-ea"/>
        </a:defRPr>
      </a:lvl8pPr>
      <a:lvl9pPr marL="3617913" algn="l" rtl="0" fontAlgn="base">
        <a:lnSpc>
          <a:spcPct val="130000"/>
        </a:lnSpc>
        <a:spcBef>
          <a:spcPct val="0"/>
        </a:spcBef>
        <a:spcAft>
          <a:spcPct val="0"/>
        </a:spcAft>
        <a:buClr>
          <a:schemeClr val="accent1"/>
        </a:buClr>
        <a:buSzPct val="50000"/>
        <a:buFont typeface="Wingdings" pitchFamily="2" charset="2"/>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87.xml"/><Relationship Id="rId3" Type="http://schemas.openxmlformats.org/officeDocument/2006/relationships/slide" Target="slide19.xml"/><Relationship Id="rId7" Type="http://schemas.openxmlformats.org/officeDocument/2006/relationships/slide" Target="slide81.xml"/><Relationship Id="rId2" Type="http://schemas.openxmlformats.org/officeDocument/2006/relationships/slide" Target="slide3.xml"/><Relationship Id="rId1" Type="http://schemas.openxmlformats.org/officeDocument/2006/relationships/slideLayout" Target="../slideLayouts/slideLayout2.xml"/><Relationship Id="rId6" Type="http://schemas.openxmlformats.org/officeDocument/2006/relationships/slide" Target="slide73.xml"/><Relationship Id="rId5" Type="http://schemas.openxmlformats.org/officeDocument/2006/relationships/slide" Target="slide56.xml"/><Relationship Id="rId4" Type="http://schemas.openxmlformats.org/officeDocument/2006/relationships/slide" Target="slide3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1.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image" Target="../media/image2.w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w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3.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5.wmf"/><Relationship Id="rId5" Type="http://schemas.openxmlformats.org/officeDocument/2006/relationships/oleObject" Target="../embeddings/oleObject6.bin"/><Relationship Id="rId4" Type="http://schemas.openxmlformats.org/officeDocument/2006/relationships/image" Target="../media/image4.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image" Target="../media/image5.wmf"/><Relationship Id="rId5" Type="http://schemas.openxmlformats.org/officeDocument/2006/relationships/oleObject" Target="../embeddings/oleObject8.bin"/><Relationship Id="rId4" Type="http://schemas.openxmlformats.org/officeDocument/2006/relationships/image" Target="../media/image4.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slideLayout" Target="../slideLayouts/slideLayout7.xml"/><Relationship Id="rId1" Type="http://schemas.openxmlformats.org/officeDocument/2006/relationships/vmlDrawing" Target="../drawings/vmlDrawing7.vml"/><Relationship Id="rId6" Type="http://schemas.openxmlformats.org/officeDocument/2006/relationships/image" Target="../media/image7.wmf"/><Relationship Id="rId5" Type="http://schemas.openxmlformats.org/officeDocument/2006/relationships/oleObject" Target="../embeddings/oleObject10.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12.bin"/></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10.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15.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image" Target="../media/image12.wmf"/><Relationship Id="rId11" Type="http://schemas.openxmlformats.org/officeDocument/2006/relationships/oleObject" Target="../embeddings/oleObject18.bin"/><Relationship Id="rId5" Type="http://schemas.openxmlformats.org/officeDocument/2006/relationships/oleObject" Target="../embeddings/oleObject15.bin"/><Relationship Id="rId10" Type="http://schemas.openxmlformats.org/officeDocument/2006/relationships/image" Target="../media/image14.wmf"/><Relationship Id="rId4" Type="http://schemas.openxmlformats.org/officeDocument/2006/relationships/image" Target="../media/image11.wmf"/><Relationship Id="rId9" Type="http://schemas.openxmlformats.org/officeDocument/2006/relationships/oleObject" Target="../embeddings/oleObject17.bin"/></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7.xml"/><Relationship Id="rId1" Type="http://schemas.openxmlformats.org/officeDocument/2006/relationships/vmlDrawing" Target="../drawings/vmlDrawing10.vml"/><Relationship Id="rId4" Type="http://schemas.openxmlformats.org/officeDocument/2006/relationships/image" Target="../media/image16.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18.wmf"/><Relationship Id="rId5" Type="http://schemas.openxmlformats.org/officeDocument/2006/relationships/oleObject" Target="../embeddings/oleObject21.bin"/><Relationship Id="rId4" Type="http://schemas.openxmlformats.org/officeDocument/2006/relationships/image" Target="../media/image17.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2.vml"/><Relationship Id="rId4" Type="http://schemas.openxmlformats.org/officeDocument/2006/relationships/image" Target="../media/image19.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7.xml"/><Relationship Id="rId1" Type="http://schemas.openxmlformats.org/officeDocument/2006/relationships/vmlDrawing" Target="../drawings/vmlDrawing13.vml"/><Relationship Id="rId4" Type="http://schemas.openxmlformats.org/officeDocument/2006/relationships/image" Target="../media/image20.wm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zh-CN" altLang="en-US" smtClean="0"/>
              <a:t>第四篇  图论</a:t>
            </a:r>
          </a:p>
        </p:txBody>
      </p:sp>
      <p:sp>
        <p:nvSpPr>
          <p:cNvPr id="3075" name="Rectangle 3"/>
          <p:cNvSpPr>
            <a:spLocks noGrp="1" noChangeArrowheads="1"/>
          </p:cNvSpPr>
          <p:nvPr>
            <p:ph type="subTitle" idx="1"/>
          </p:nvPr>
        </p:nvSpPr>
        <p:spPr>
          <a:xfrm>
            <a:off x="466725" y="1844675"/>
            <a:ext cx="8277225" cy="4081117"/>
          </a:xfrm>
          <a:noFill/>
        </p:spPr>
        <p:txBody>
          <a:bodyPr/>
          <a:lstStyle/>
          <a:p>
            <a:pPr algn="l" eaLnBrk="1" hangingPunct="1">
              <a:lnSpc>
                <a:spcPct val="120000"/>
              </a:lnSpc>
            </a:pPr>
            <a:r>
              <a:rPr lang="en-US" altLang="zh-CN" dirty="0" smtClean="0">
                <a:latin typeface="楷体_GB2312" pitchFamily="49" charset="-122"/>
                <a:ea typeface="楷体_GB2312" pitchFamily="49" charset="-122"/>
              </a:rPr>
              <a:t>    </a:t>
            </a:r>
            <a:r>
              <a:rPr lang="zh-CN" altLang="en-US" dirty="0" smtClean="0">
                <a:latin typeface="楷体_GB2312" pitchFamily="49" charset="-122"/>
                <a:ea typeface="楷体_GB2312" pitchFamily="49" charset="-122"/>
              </a:rPr>
              <a:t>图论起源于</a:t>
            </a:r>
            <a:r>
              <a:rPr lang="en-US" altLang="zh-CN" dirty="0" smtClean="0">
                <a:latin typeface="楷体_GB2312" pitchFamily="49" charset="-122"/>
                <a:ea typeface="楷体_GB2312" pitchFamily="49" charset="-122"/>
              </a:rPr>
              <a:t>1736</a:t>
            </a:r>
            <a:r>
              <a:rPr lang="zh-CN" altLang="en-US" dirty="0" smtClean="0">
                <a:latin typeface="楷体_GB2312" pitchFamily="49" charset="-122"/>
                <a:ea typeface="楷体_GB2312" pitchFamily="49" charset="-122"/>
              </a:rPr>
              <a:t>年</a:t>
            </a:r>
            <a:r>
              <a:rPr lang="en-US" altLang="zh-CN" dirty="0" smtClean="0">
                <a:latin typeface="楷体_GB2312" pitchFamily="49" charset="-122"/>
                <a:ea typeface="楷体_GB2312" pitchFamily="49" charset="-122"/>
              </a:rPr>
              <a:t>Euler</a:t>
            </a:r>
            <a:r>
              <a:rPr lang="zh-CN" altLang="en-US" dirty="0" smtClean="0">
                <a:latin typeface="楷体_GB2312" pitchFamily="49" charset="-122"/>
                <a:ea typeface="楷体_GB2312" pitchFamily="49" charset="-122"/>
              </a:rPr>
              <a:t>的一篇文章</a:t>
            </a:r>
            <a:r>
              <a:rPr lang="en-US" altLang="zh-CN" dirty="0" smtClean="0">
                <a:latin typeface="楷体_GB2312" pitchFamily="49" charset="-122"/>
                <a:ea typeface="楷体_GB2312" pitchFamily="49" charset="-122"/>
              </a:rPr>
              <a:t>,</a:t>
            </a:r>
            <a:r>
              <a:rPr lang="zh-CN" altLang="en-US" dirty="0" smtClean="0">
                <a:latin typeface="楷体_GB2312" pitchFamily="49" charset="-122"/>
                <a:ea typeface="楷体_GB2312" pitchFamily="49" charset="-122"/>
              </a:rPr>
              <a:t>这篇文章解决了</a:t>
            </a:r>
            <a:r>
              <a:rPr lang="zh-CN" altLang="en-US" dirty="0" smtClean="0">
                <a:solidFill>
                  <a:srgbClr val="FF0000"/>
                </a:solidFill>
                <a:latin typeface="楷体_GB2312" pitchFamily="49" charset="-122"/>
                <a:ea typeface="楷体_GB2312" pitchFamily="49" charset="-122"/>
              </a:rPr>
              <a:t>哥尼</a:t>
            </a:r>
            <a:r>
              <a:rPr lang="zh-CN" altLang="en-US" dirty="0">
                <a:solidFill>
                  <a:srgbClr val="FF0000"/>
                </a:solidFill>
                <a:latin typeface="楷体_GB2312" pitchFamily="49" charset="-122"/>
                <a:ea typeface="楷体_GB2312" pitchFamily="49" charset="-122"/>
              </a:rPr>
              <a:t>斯堡</a:t>
            </a:r>
            <a:r>
              <a:rPr lang="zh-CN" altLang="en-US" dirty="0" smtClean="0">
                <a:solidFill>
                  <a:srgbClr val="FF0000"/>
                </a:solidFill>
                <a:latin typeface="楷体_GB2312" pitchFamily="49" charset="-122"/>
                <a:ea typeface="楷体_GB2312" pitchFamily="49" charset="-122"/>
              </a:rPr>
              <a:t>七桥问题</a:t>
            </a:r>
            <a:r>
              <a:rPr lang="en-US" altLang="zh-CN" dirty="0" smtClean="0">
                <a:latin typeface="楷体_GB2312" pitchFamily="49" charset="-122"/>
                <a:ea typeface="楷体_GB2312" pitchFamily="49" charset="-122"/>
              </a:rPr>
              <a:t>,</a:t>
            </a:r>
            <a:r>
              <a:rPr lang="zh-CN" altLang="en-US" dirty="0" smtClean="0">
                <a:latin typeface="楷体_GB2312" pitchFamily="49" charset="-122"/>
                <a:ea typeface="楷体_GB2312" pitchFamily="49" charset="-122"/>
              </a:rPr>
              <a:t>标志着图论的产生。</a:t>
            </a:r>
            <a:endParaRPr lang="en-US" altLang="zh-CN" dirty="0" smtClean="0">
              <a:latin typeface="楷体_GB2312" pitchFamily="49" charset="-122"/>
              <a:ea typeface="楷体_GB2312" pitchFamily="49" charset="-122"/>
            </a:endParaRPr>
          </a:p>
          <a:p>
            <a:pPr algn="l" eaLnBrk="1" hangingPunct="1">
              <a:lnSpc>
                <a:spcPct val="120000"/>
              </a:lnSpc>
            </a:pPr>
            <a:r>
              <a:rPr lang="en-US" altLang="zh-CN" dirty="0">
                <a:latin typeface="楷体_GB2312" pitchFamily="49" charset="-122"/>
                <a:ea typeface="楷体_GB2312" pitchFamily="49" charset="-122"/>
              </a:rPr>
              <a:t> </a:t>
            </a:r>
            <a:r>
              <a:rPr lang="en-US" altLang="zh-CN" dirty="0" smtClean="0">
                <a:latin typeface="楷体_GB2312" pitchFamily="49" charset="-122"/>
                <a:ea typeface="楷体_GB2312" pitchFamily="49" charset="-122"/>
              </a:rPr>
              <a:t>   </a:t>
            </a:r>
            <a:r>
              <a:rPr lang="zh-CN" altLang="en-US" dirty="0" smtClean="0">
                <a:latin typeface="楷体_GB2312" pitchFamily="49" charset="-122"/>
                <a:ea typeface="楷体_GB2312" pitchFamily="49" charset="-122"/>
              </a:rPr>
              <a:t>数学与游戏的难题研究，如迷宫问题、跳马（走 </a:t>
            </a:r>
            <a:r>
              <a:rPr lang="zh-CN" altLang="en-US" dirty="0" smtClean="0">
                <a:latin typeface="Arial" charset="0"/>
                <a:ea typeface="楷体_GB2312" pitchFamily="49" charset="-122"/>
              </a:rPr>
              <a:t>“</a:t>
            </a:r>
            <a:r>
              <a:rPr lang="zh-CN" altLang="en-US" dirty="0" smtClean="0">
                <a:latin typeface="楷体_GB2312" pitchFamily="49" charset="-122"/>
                <a:ea typeface="楷体_GB2312" pitchFamily="49" charset="-122"/>
              </a:rPr>
              <a:t>日</a:t>
            </a:r>
            <a:r>
              <a:rPr lang="zh-CN" altLang="en-US" dirty="0" smtClean="0">
                <a:latin typeface="Arial" charset="0"/>
                <a:ea typeface="楷体_GB2312" pitchFamily="49" charset="-122"/>
              </a:rPr>
              <a:t>”</a:t>
            </a:r>
            <a:r>
              <a:rPr lang="zh-CN" altLang="en-US" dirty="0" smtClean="0">
                <a:latin typeface="楷体_GB2312" pitchFamily="49" charset="-122"/>
                <a:ea typeface="楷体_GB2312" pitchFamily="49" charset="-122"/>
              </a:rPr>
              <a:t>字每一个都走过且只走过一次）、八皇后（任意两个皇后不在同一行、同一列、同一对角线上）、包裹投递问题等。</a:t>
            </a:r>
          </a:p>
          <a:p>
            <a:pPr algn="l" eaLnBrk="1" hangingPunct="1">
              <a:lnSpc>
                <a:spcPct val="120000"/>
              </a:lnSpc>
            </a:pPr>
            <a:r>
              <a:rPr lang="zh-CN" altLang="en-US" dirty="0" smtClean="0">
                <a:latin typeface="楷体_GB2312" pitchFamily="49" charset="-122"/>
                <a:ea typeface="楷体_GB2312" pitchFamily="49" charset="-122"/>
              </a:rPr>
              <a:t>    近</a:t>
            </a:r>
            <a:r>
              <a:rPr lang="en-US" altLang="zh-CN" dirty="0" smtClean="0">
                <a:latin typeface="楷体_GB2312" pitchFamily="49" charset="-122"/>
                <a:ea typeface="楷体_GB2312" pitchFamily="49" charset="-122"/>
              </a:rPr>
              <a:t>30</a:t>
            </a:r>
            <a:r>
              <a:rPr lang="zh-CN" altLang="en-US" dirty="0" smtClean="0">
                <a:latin typeface="楷体_GB2312" pitchFamily="49" charset="-122"/>
                <a:ea typeface="楷体_GB2312" pitchFamily="49" charset="-122"/>
              </a:rPr>
              <a:t>年来</a:t>
            </a:r>
            <a:r>
              <a:rPr lang="en-US" altLang="zh-CN" dirty="0" smtClean="0">
                <a:latin typeface="楷体_GB2312" pitchFamily="49" charset="-122"/>
                <a:ea typeface="楷体_GB2312" pitchFamily="49" charset="-122"/>
              </a:rPr>
              <a:t>,</a:t>
            </a:r>
            <a:r>
              <a:rPr lang="zh-CN" altLang="en-US" dirty="0" smtClean="0">
                <a:latin typeface="楷体_GB2312" pitchFamily="49" charset="-122"/>
                <a:ea typeface="楷体_GB2312" pitchFamily="49" charset="-122"/>
              </a:rPr>
              <a:t>图论在计算机科学、运筹学、电网络分析、化学及物理等领域占据了越来越重要的地位。在计算机领域，图论在算法、语言、数据库、网络理论、数据结构、操作系统、人工智能等方面都有重大贡献。</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075">
                                            <p:txEl>
                                              <p:pRg st="1" end="1"/>
                                            </p:txEl>
                                          </p:spTgt>
                                        </p:tgtEl>
                                        <p:attrNameLst>
                                          <p:attrName>style.visibility</p:attrName>
                                        </p:attrNameLst>
                                      </p:cBhvr>
                                      <p:to>
                                        <p:strVal val="visible"/>
                                      </p:to>
                                    </p:set>
                                    <p:anim calcmode="lin" valueType="num">
                                      <p:cBhvr additive="base">
                                        <p:cTn id="7" dur="500" fill="hold"/>
                                        <p:tgtEl>
                                          <p:spTgt spid="307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5">
                                            <p:txEl>
                                              <p:pRg st="2" end="2"/>
                                            </p:txEl>
                                          </p:spTgt>
                                        </p:tgtEl>
                                        <p:attrNameLst>
                                          <p:attrName>style.visibility</p:attrName>
                                        </p:attrNameLst>
                                      </p:cBhvr>
                                      <p:to>
                                        <p:strVal val="visible"/>
                                      </p:to>
                                    </p:set>
                                    <p:anim calcmode="lin" valueType="num">
                                      <p:cBhvr additive="base">
                                        <p:cTn id="13" dur="500" fill="hold"/>
                                        <p:tgtEl>
                                          <p:spTgt spid="307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a:defRPr/>
            </a:pPr>
            <a:fld id="{EFC2382E-7F0E-402A-8599-EE9797B392F2}" type="slidenum">
              <a:rPr lang="en-US" altLang="zh-CN"/>
              <a:pPr>
                <a:defRPr/>
              </a:pPr>
              <a:t>2</a:t>
            </a:fld>
            <a:endParaRPr lang="en-US" altLang="zh-CN"/>
          </a:p>
        </p:txBody>
      </p:sp>
      <p:sp>
        <p:nvSpPr>
          <p:cNvPr id="4099" name="Rectangle 2"/>
          <p:cNvSpPr>
            <a:spLocks noGrp="1" noChangeArrowheads="1"/>
          </p:cNvSpPr>
          <p:nvPr>
            <p:ph type="title"/>
          </p:nvPr>
        </p:nvSpPr>
        <p:spPr/>
        <p:txBody>
          <a:bodyPr/>
          <a:lstStyle/>
          <a:p>
            <a:pPr eaLnBrk="1" hangingPunct="1"/>
            <a:r>
              <a:rPr lang="zh-CN" altLang="en-US" smtClean="0">
                <a:solidFill>
                  <a:schemeClr val="folHlink"/>
                </a:solidFill>
                <a:latin typeface="华文行楷" pitchFamily="2" charset="-122"/>
                <a:ea typeface="华文行楷" pitchFamily="2" charset="-122"/>
              </a:rPr>
              <a:t>第七章      图论</a:t>
            </a:r>
          </a:p>
        </p:txBody>
      </p:sp>
      <p:sp>
        <p:nvSpPr>
          <p:cNvPr id="4100" name="Rectangle 3"/>
          <p:cNvSpPr>
            <a:spLocks noGrp="1" noChangeArrowheads="1"/>
          </p:cNvSpPr>
          <p:nvPr>
            <p:ph type="body" idx="1"/>
          </p:nvPr>
        </p:nvSpPr>
        <p:spPr>
          <a:xfrm>
            <a:off x="2697163" y="1125538"/>
            <a:ext cx="4538662" cy="3981450"/>
          </a:xfrm>
          <a:noFill/>
        </p:spPr>
        <p:txBody>
          <a:bodyPr/>
          <a:lstStyle/>
          <a:p>
            <a:pPr eaLnBrk="1" hangingPunct="1"/>
            <a:r>
              <a:rPr lang="en-US" altLang="zh-CN" sz="2800" smtClean="0">
                <a:ea typeface="楷体_GB2312" pitchFamily="49" charset="-122"/>
              </a:rPr>
              <a:t>7-1  </a:t>
            </a:r>
            <a:r>
              <a:rPr lang="zh-CN" altLang="en-US" sz="2800" smtClean="0">
                <a:ea typeface="楷体_GB2312" pitchFamily="49" charset="-122"/>
                <a:hlinkClick r:id="rId2" action="ppaction://hlinksldjump"/>
              </a:rPr>
              <a:t>图的基本概念 </a:t>
            </a:r>
            <a:endParaRPr lang="zh-CN" altLang="en-US" sz="2800" smtClean="0">
              <a:ea typeface="楷体_GB2312" pitchFamily="49" charset="-122"/>
            </a:endParaRPr>
          </a:p>
          <a:p>
            <a:pPr eaLnBrk="1" hangingPunct="1"/>
            <a:r>
              <a:rPr lang="en-US" altLang="zh-CN" sz="2800" smtClean="0">
                <a:ea typeface="楷体_GB2312" pitchFamily="49" charset="-122"/>
              </a:rPr>
              <a:t>7-2  </a:t>
            </a:r>
            <a:r>
              <a:rPr lang="zh-CN" altLang="en-US" sz="2800" smtClean="0">
                <a:ea typeface="楷体_GB2312" pitchFamily="49" charset="-122"/>
                <a:hlinkClick r:id="rId3" action="ppaction://hlinksldjump"/>
              </a:rPr>
              <a:t>路与回路</a:t>
            </a:r>
            <a:endParaRPr lang="zh-CN" altLang="en-US" sz="2800" smtClean="0">
              <a:ea typeface="楷体_GB2312" pitchFamily="49" charset="-122"/>
            </a:endParaRPr>
          </a:p>
          <a:p>
            <a:pPr eaLnBrk="1" hangingPunct="1"/>
            <a:r>
              <a:rPr lang="en-US" altLang="zh-CN" sz="2800" smtClean="0">
                <a:ea typeface="楷体_GB2312" pitchFamily="49" charset="-122"/>
              </a:rPr>
              <a:t>7-3  </a:t>
            </a:r>
            <a:r>
              <a:rPr lang="zh-CN" altLang="en-US" sz="2800" smtClean="0">
                <a:ea typeface="楷体_GB2312" pitchFamily="49" charset="-122"/>
                <a:hlinkClick r:id="rId4" action="ppaction://hlinksldjump"/>
              </a:rPr>
              <a:t>图的矩阵表示</a:t>
            </a:r>
            <a:endParaRPr lang="zh-CN" altLang="en-US" sz="2800" smtClean="0">
              <a:ea typeface="楷体_GB2312" pitchFamily="49" charset="-122"/>
            </a:endParaRPr>
          </a:p>
          <a:p>
            <a:pPr eaLnBrk="1" hangingPunct="1"/>
            <a:r>
              <a:rPr lang="en-US" altLang="zh-CN" sz="2800" smtClean="0">
                <a:ea typeface="楷体_GB2312" pitchFamily="49" charset="-122"/>
              </a:rPr>
              <a:t>7-4 </a:t>
            </a:r>
            <a:r>
              <a:rPr lang="en-US" altLang="zh-CN" sz="2800" smtClean="0">
                <a:ea typeface="楷体_GB2312" pitchFamily="49" charset="-122"/>
                <a:hlinkClick r:id="rId5" action="ppaction://hlinksldjump"/>
              </a:rPr>
              <a:t> </a:t>
            </a:r>
            <a:r>
              <a:rPr lang="zh-CN" altLang="en-US" sz="2800" smtClean="0">
                <a:ea typeface="楷体_GB2312" pitchFamily="49" charset="-122"/>
                <a:hlinkClick r:id="rId5" action="ppaction://hlinksldjump"/>
              </a:rPr>
              <a:t>欧拉图与汉密尔顿图</a:t>
            </a:r>
            <a:endParaRPr lang="zh-CN" altLang="en-US" sz="2800" smtClean="0">
              <a:ea typeface="楷体_GB2312" pitchFamily="49" charset="-122"/>
            </a:endParaRPr>
          </a:p>
          <a:p>
            <a:pPr eaLnBrk="1" hangingPunct="1"/>
            <a:r>
              <a:rPr lang="en-US" altLang="zh-CN" sz="2800" smtClean="0">
                <a:ea typeface="楷体_GB2312" pitchFamily="49" charset="-122"/>
              </a:rPr>
              <a:t>7-5  </a:t>
            </a:r>
            <a:r>
              <a:rPr lang="zh-CN" altLang="en-US" sz="2800" smtClean="0">
                <a:ea typeface="楷体_GB2312" pitchFamily="49" charset="-122"/>
                <a:hlinkClick r:id="rId6" action="ppaction://hlinksldjump"/>
              </a:rPr>
              <a:t>平面图</a:t>
            </a:r>
            <a:endParaRPr lang="zh-CN" altLang="en-US" sz="2800" smtClean="0">
              <a:ea typeface="楷体_GB2312" pitchFamily="49" charset="-122"/>
            </a:endParaRPr>
          </a:p>
          <a:p>
            <a:pPr eaLnBrk="1" hangingPunct="1"/>
            <a:r>
              <a:rPr lang="en-US" altLang="zh-CN" sz="2800" smtClean="0">
                <a:ea typeface="楷体_GB2312" pitchFamily="49" charset="-122"/>
              </a:rPr>
              <a:t>7-6  </a:t>
            </a:r>
            <a:r>
              <a:rPr lang="zh-CN" altLang="en-US" sz="2800" smtClean="0">
                <a:ea typeface="楷体_GB2312" pitchFamily="49" charset="-122"/>
                <a:hlinkClick r:id="rId7" action="ppaction://hlinksldjump"/>
              </a:rPr>
              <a:t>对偶图与着色</a:t>
            </a:r>
            <a:endParaRPr lang="zh-CN" altLang="en-US" sz="2800" smtClean="0">
              <a:ea typeface="楷体_GB2312" pitchFamily="49" charset="-122"/>
            </a:endParaRPr>
          </a:p>
          <a:p>
            <a:pPr eaLnBrk="1" hangingPunct="1"/>
            <a:r>
              <a:rPr lang="en-US" altLang="zh-CN" sz="2800" smtClean="0">
                <a:ea typeface="楷体_GB2312" pitchFamily="49" charset="-122"/>
              </a:rPr>
              <a:t>7-7  </a:t>
            </a:r>
            <a:r>
              <a:rPr lang="zh-CN" altLang="en-US" sz="2800" smtClean="0">
                <a:ea typeface="楷体_GB2312" pitchFamily="49" charset="-122"/>
                <a:hlinkClick r:id="rId8" action="ppaction://hlinksldjump"/>
              </a:rPr>
              <a:t>树与生成树</a:t>
            </a:r>
            <a:endParaRPr lang="zh-CN" altLang="en-US" sz="2800" smtClean="0">
              <a:ea typeface="楷体_GB2312" pitchFamily="49" charset="-122"/>
            </a:endParaRPr>
          </a:p>
        </p:txBody>
      </p:sp>
    </p:spTree>
  </p:cSld>
  <p:clrMapOvr>
    <a:masterClrMapping/>
  </p:clrMapOvr>
  <p:transition spd="slow">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a:defRPr/>
            </a:pPr>
            <a:fld id="{FFDF0277-9AD5-46D3-87B3-FFCB6B4F3529}" type="slidenum">
              <a:rPr lang="en-US" altLang="zh-CN"/>
              <a:pPr>
                <a:defRPr/>
              </a:pPr>
              <a:t>3</a:t>
            </a:fld>
            <a:endParaRPr lang="en-US" altLang="zh-CN"/>
          </a:p>
        </p:txBody>
      </p:sp>
      <p:sp>
        <p:nvSpPr>
          <p:cNvPr id="5123" name="Rectangle 2"/>
          <p:cNvSpPr>
            <a:spLocks noGrp="1" noChangeArrowheads="1"/>
          </p:cNvSpPr>
          <p:nvPr>
            <p:ph type="title"/>
          </p:nvPr>
        </p:nvSpPr>
        <p:spPr>
          <a:xfrm>
            <a:off x="990600" y="279400"/>
            <a:ext cx="7237413" cy="701675"/>
          </a:xfrm>
        </p:spPr>
        <p:txBody>
          <a:bodyPr/>
          <a:lstStyle/>
          <a:p>
            <a:pPr eaLnBrk="1" hangingPunct="1"/>
            <a:r>
              <a:rPr lang="en-US" altLang="zh-CN" smtClean="0">
                <a:solidFill>
                  <a:schemeClr val="tx1"/>
                </a:solidFill>
                <a:latin typeface="华文行楷" pitchFamily="2" charset="-122"/>
                <a:ea typeface="华文行楷" pitchFamily="2" charset="-122"/>
              </a:rPr>
              <a:t>7-1</a:t>
            </a:r>
            <a:r>
              <a:rPr lang="en-US" altLang="zh-CN" smtClean="0">
                <a:solidFill>
                  <a:schemeClr val="tx1"/>
                </a:solidFill>
                <a:latin typeface="Arial" charset="0"/>
                <a:ea typeface="华文行楷" pitchFamily="2" charset="-122"/>
              </a:rPr>
              <a:t>   </a:t>
            </a:r>
            <a:r>
              <a:rPr lang="en-US" altLang="zh-CN" smtClean="0">
                <a:solidFill>
                  <a:schemeClr val="tx1"/>
                </a:solidFill>
                <a:latin typeface="华文行楷" pitchFamily="2" charset="-122"/>
                <a:ea typeface="华文行楷" pitchFamily="2" charset="-122"/>
              </a:rPr>
              <a:t> </a:t>
            </a:r>
            <a:r>
              <a:rPr lang="zh-CN" altLang="en-US" smtClean="0">
                <a:solidFill>
                  <a:schemeClr val="tx1"/>
                </a:solidFill>
                <a:latin typeface="华文行楷" pitchFamily="2" charset="-122"/>
                <a:ea typeface="华文行楷" pitchFamily="2" charset="-122"/>
              </a:rPr>
              <a:t>图的基本概念</a:t>
            </a:r>
          </a:p>
        </p:txBody>
      </p:sp>
      <p:sp>
        <p:nvSpPr>
          <p:cNvPr id="97283" name="Rectangle 3"/>
          <p:cNvSpPr>
            <a:spLocks noGrp="1" noChangeArrowheads="1"/>
          </p:cNvSpPr>
          <p:nvPr>
            <p:ph type="body" idx="1"/>
          </p:nvPr>
        </p:nvSpPr>
        <p:spPr>
          <a:xfrm>
            <a:off x="466725" y="1123950"/>
            <a:ext cx="8277225" cy="3379788"/>
          </a:xfrm>
          <a:noFill/>
        </p:spPr>
        <p:txBody>
          <a:bodyPr/>
          <a:lstStyle/>
          <a:p>
            <a:pPr defTabSz="296863" eaLnBrk="1" hangingPunct="1">
              <a:lnSpc>
                <a:spcPct val="120000"/>
              </a:lnSpc>
              <a:tabLst>
                <a:tab pos="0" algn="l"/>
                <a:tab pos="8069263" algn="l"/>
              </a:tabLst>
            </a:pPr>
            <a:r>
              <a:rPr kumimoji="1" lang="zh-CN" altLang="en-US" smtClean="0">
                <a:solidFill>
                  <a:schemeClr val="folHlink"/>
                </a:solidFill>
              </a:rPr>
              <a:t>图：</a:t>
            </a:r>
            <a:r>
              <a:rPr kumimoji="1" lang="zh-CN" altLang="en-US" smtClean="0">
                <a:solidFill>
                  <a:schemeClr val="bg2"/>
                </a:solidFill>
              </a:rPr>
              <a:t>是由一些</a:t>
            </a:r>
            <a:r>
              <a:rPr kumimoji="1" lang="zh-CN" altLang="en-US" smtClean="0">
                <a:solidFill>
                  <a:schemeClr val="folHlink"/>
                </a:solidFill>
              </a:rPr>
              <a:t>结点</a:t>
            </a:r>
            <a:r>
              <a:rPr kumimoji="1" lang="zh-CN" altLang="en-US" smtClean="0">
                <a:solidFill>
                  <a:schemeClr val="bg2"/>
                </a:solidFill>
              </a:rPr>
              <a:t>和连接两个结点之间的</a:t>
            </a:r>
            <a:r>
              <a:rPr kumimoji="1" lang="zh-CN" altLang="en-US" smtClean="0">
                <a:solidFill>
                  <a:schemeClr val="folHlink"/>
                </a:solidFill>
              </a:rPr>
              <a:t>连线</a:t>
            </a:r>
            <a:r>
              <a:rPr kumimoji="1" lang="zh-CN" altLang="en-US" smtClean="0">
                <a:solidFill>
                  <a:schemeClr val="bg2"/>
                </a:solidFill>
              </a:rPr>
              <a:t>所组成。</a:t>
            </a:r>
          </a:p>
          <a:p>
            <a:pPr algn="just" defTabSz="296863" eaLnBrk="1" hangingPunct="1">
              <a:lnSpc>
                <a:spcPct val="120000"/>
              </a:lnSpc>
              <a:buClr>
                <a:srgbClr val="FF3300"/>
              </a:buClr>
              <a:buSzTx/>
              <a:buFont typeface="Wingdings" pitchFamily="2" charset="2"/>
              <a:buChar char="Ø"/>
              <a:tabLst>
                <a:tab pos="0" algn="l"/>
                <a:tab pos="8069263" algn="l"/>
              </a:tabLst>
            </a:pPr>
            <a:r>
              <a:rPr kumimoji="1" lang="zh-CN" altLang="en-US" smtClean="0">
                <a:solidFill>
                  <a:schemeClr val="bg2"/>
                </a:solidFill>
              </a:rPr>
              <a:t>与连线的长度及节点的位置无关。</a:t>
            </a:r>
          </a:p>
          <a:p>
            <a:pPr algn="just" defTabSz="296863" eaLnBrk="1" hangingPunct="1">
              <a:lnSpc>
                <a:spcPct val="120000"/>
              </a:lnSpc>
              <a:buClr>
                <a:srgbClr val="FF3300"/>
              </a:buClr>
              <a:buSzTx/>
              <a:tabLst>
                <a:tab pos="0" algn="l"/>
                <a:tab pos="8069263" algn="l"/>
              </a:tabLst>
            </a:pPr>
            <a:r>
              <a:rPr kumimoji="1" lang="zh-CN" altLang="en-US" sz="3200" smtClean="0">
                <a:solidFill>
                  <a:schemeClr val="folHlink"/>
                </a:solidFill>
                <a:ea typeface="楷体_GB2312" pitchFamily="49" charset="-122"/>
              </a:rPr>
              <a:t>一、图的基本概念</a:t>
            </a:r>
          </a:p>
          <a:p>
            <a:pPr algn="just" defTabSz="296863" eaLnBrk="1" hangingPunct="1">
              <a:lnSpc>
                <a:spcPct val="120000"/>
              </a:lnSpc>
              <a:buClr>
                <a:srgbClr val="FF3300"/>
              </a:buClr>
              <a:buSzTx/>
              <a:tabLst>
                <a:tab pos="0" algn="l"/>
                <a:tab pos="8069263" algn="l"/>
              </a:tabLst>
            </a:pPr>
            <a:r>
              <a:rPr kumimoji="1" lang="en-US" altLang="zh-CN" sz="2800" smtClean="0">
                <a:solidFill>
                  <a:srgbClr val="993300"/>
                </a:solidFill>
              </a:rPr>
              <a:t>1</a:t>
            </a:r>
            <a:r>
              <a:rPr kumimoji="1" lang="zh-CN" altLang="en-US" sz="2800" smtClean="0">
                <a:solidFill>
                  <a:srgbClr val="993300"/>
                </a:solidFill>
              </a:rPr>
              <a:t>、</a:t>
            </a:r>
            <a:r>
              <a:rPr kumimoji="1" lang="zh-CN" altLang="en-US" sz="2800" smtClean="0">
                <a:solidFill>
                  <a:srgbClr val="993300"/>
                </a:solidFill>
                <a:ea typeface="楷体_GB2312" pitchFamily="49" charset="-122"/>
              </a:rPr>
              <a:t>图的数学定义</a:t>
            </a:r>
          </a:p>
          <a:p>
            <a:pPr algn="just" defTabSz="296863" eaLnBrk="1" hangingPunct="1">
              <a:lnSpc>
                <a:spcPct val="120000"/>
              </a:lnSpc>
              <a:buClr>
                <a:srgbClr val="FF3300"/>
              </a:buClr>
              <a:buSzTx/>
              <a:tabLst>
                <a:tab pos="0" algn="l"/>
                <a:tab pos="8069263" algn="l"/>
              </a:tabLst>
            </a:pPr>
            <a:r>
              <a:rPr kumimoji="1" lang="zh-CN" altLang="en-US" smtClean="0">
                <a:solidFill>
                  <a:schemeClr val="folHlink"/>
                </a:solidFill>
              </a:rPr>
              <a:t>定义</a:t>
            </a:r>
            <a:r>
              <a:rPr kumimoji="1" lang="en-US" altLang="zh-CN" smtClean="0">
                <a:solidFill>
                  <a:schemeClr val="folHlink"/>
                </a:solidFill>
              </a:rPr>
              <a:t>7-1.1</a:t>
            </a:r>
            <a:r>
              <a:rPr kumimoji="1" lang="zh-CN" altLang="en-US" smtClean="0">
                <a:solidFill>
                  <a:schemeClr val="folHlink"/>
                </a:solidFill>
              </a:rPr>
              <a:t>：</a:t>
            </a:r>
            <a:r>
              <a:rPr kumimoji="1" lang="zh-CN" altLang="en-US" smtClean="0"/>
              <a:t>一个图</a:t>
            </a:r>
            <a:r>
              <a:rPr kumimoji="1" lang="en-US" altLang="zh-CN" smtClean="0"/>
              <a:t>G</a:t>
            </a:r>
            <a:r>
              <a:rPr kumimoji="1" lang="zh-CN" altLang="en-US" smtClean="0"/>
              <a:t>定义为一个三元组</a:t>
            </a:r>
            <a:r>
              <a:rPr kumimoji="1" lang="en-US" altLang="zh-CN" smtClean="0"/>
              <a:t>&lt;V(G), E(G), </a:t>
            </a:r>
            <a:r>
              <a:rPr kumimoji="1" lang="en-US" altLang="zh-CN" smtClean="0">
                <a:solidFill>
                  <a:srgbClr val="000000"/>
                </a:solidFill>
                <a:sym typeface="Symbol" pitchFamily="18" charset="2"/>
              </a:rPr>
              <a:t></a:t>
            </a:r>
            <a:r>
              <a:rPr kumimoji="1" lang="en-US" altLang="zh-CN" baseline="-25000" smtClean="0">
                <a:solidFill>
                  <a:srgbClr val="000000"/>
                </a:solidFill>
                <a:sym typeface="Symbol" pitchFamily="18" charset="2"/>
              </a:rPr>
              <a:t>G</a:t>
            </a:r>
            <a:r>
              <a:rPr kumimoji="1" lang="en-US" altLang="zh-CN" smtClean="0"/>
              <a:t>&gt;</a:t>
            </a:r>
            <a:r>
              <a:rPr kumimoji="1" lang="zh-CN" altLang="en-US" smtClean="0"/>
              <a:t>，</a:t>
            </a:r>
          </a:p>
          <a:p>
            <a:pPr algn="just" defTabSz="296863" eaLnBrk="1" hangingPunct="1">
              <a:lnSpc>
                <a:spcPct val="120000"/>
              </a:lnSpc>
              <a:buClr>
                <a:srgbClr val="FF3300"/>
              </a:buClr>
              <a:buSzTx/>
              <a:tabLst>
                <a:tab pos="0" algn="l"/>
                <a:tab pos="8069263" algn="l"/>
              </a:tabLst>
            </a:pPr>
            <a:r>
              <a:rPr kumimoji="1" lang="zh-CN" altLang="en-US" smtClean="0"/>
              <a:t>其中，</a:t>
            </a:r>
            <a:r>
              <a:rPr kumimoji="1" lang="en-US" altLang="zh-CN" smtClean="0">
                <a:solidFill>
                  <a:srgbClr val="000000"/>
                </a:solidFill>
              </a:rPr>
              <a:t>V(G)</a:t>
            </a:r>
            <a:r>
              <a:rPr kumimoji="1" lang="zh-CN" altLang="en-US" smtClean="0">
                <a:solidFill>
                  <a:srgbClr val="000000"/>
                </a:solidFill>
              </a:rPr>
              <a:t>：非空的结点集合，</a:t>
            </a:r>
            <a:r>
              <a:rPr kumimoji="1" lang="en-US" altLang="zh-CN" smtClean="0">
                <a:solidFill>
                  <a:srgbClr val="000000"/>
                </a:solidFill>
              </a:rPr>
              <a:t>E(G)</a:t>
            </a:r>
            <a:r>
              <a:rPr kumimoji="1" lang="zh-CN" altLang="en-US" smtClean="0">
                <a:solidFill>
                  <a:srgbClr val="000000"/>
                </a:solidFill>
              </a:rPr>
              <a:t>：连接结点的边集合，</a:t>
            </a:r>
          </a:p>
          <a:p>
            <a:pPr algn="just" defTabSz="296863" eaLnBrk="1" hangingPunct="1">
              <a:lnSpc>
                <a:spcPct val="120000"/>
              </a:lnSpc>
              <a:buClr>
                <a:srgbClr val="FF3300"/>
              </a:buClr>
              <a:buSzTx/>
              <a:tabLst>
                <a:tab pos="0" algn="l"/>
                <a:tab pos="8069263" algn="l"/>
              </a:tabLst>
            </a:pPr>
            <a:r>
              <a:rPr kumimoji="1" lang="zh-CN" altLang="en-US" smtClean="0">
                <a:solidFill>
                  <a:srgbClr val="000000"/>
                </a:solidFill>
                <a:sym typeface="Symbol" pitchFamily="18" charset="2"/>
              </a:rPr>
              <a:t></a:t>
            </a:r>
            <a:r>
              <a:rPr kumimoji="1" lang="en-US" altLang="zh-CN" baseline="-25000" smtClean="0">
                <a:solidFill>
                  <a:srgbClr val="000000"/>
                </a:solidFill>
                <a:sym typeface="Symbol" pitchFamily="18" charset="2"/>
              </a:rPr>
              <a:t>G</a:t>
            </a:r>
            <a:r>
              <a:rPr kumimoji="1" lang="zh-CN" altLang="en-US" smtClean="0">
                <a:solidFill>
                  <a:srgbClr val="000000"/>
                </a:solidFill>
              </a:rPr>
              <a:t>：是从边集合</a:t>
            </a:r>
            <a:r>
              <a:rPr kumimoji="1" lang="en-US" altLang="zh-CN" smtClean="0">
                <a:solidFill>
                  <a:srgbClr val="000000"/>
                </a:solidFill>
              </a:rPr>
              <a:t>E</a:t>
            </a:r>
            <a:r>
              <a:rPr kumimoji="1" lang="zh-CN" altLang="en-US" smtClean="0">
                <a:solidFill>
                  <a:srgbClr val="000000"/>
                </a:solidFill>
              </a:rPr>
              <a:t>到结点有序（无序）序偶集合上的函数。</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7283">
                                            <p:txEl>
                                              <p:pRg st="1" end="1"/>
                                            </p:txEl>
                                          </p:spTgt>
                                        </p:tgtEl>
                                        <p:attrNameLst>
                                          <p:attrName>style.visibility</p:attrName>
                                        </p:attrNameLst>
                                      </p:cBhvr>
                                      <p:to>
                                        <p:strVal val="visible"/>
                                      </p:to>
                                    </p:set>
                                    <p:anim calcmode="lin" valueType="num">
                                      <p:cBhvr additive="base">
                                        <p:cTn id="7" dur="500" fill="hold"/>
                                        <p:tgtEl>
                                          <p:spTgt spid="972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72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7283">
                                            <p:txEl>
                                              <p:pRg st="2" end="2"/>
                                            </p:txEl>
                                          </p:spTgt>
                                        </p:tgtEl>
                                        <p:attrNameLst>
                                          <p:attrName>style.visibility</p:attrName>
                                        </p:attrNameLst>
                                      </p:cBhvr>
                                      <p:to>
                                        <p:strVal val="visible"/>
                                      </p:to>
                                    </p:set>
                                    <p:anim calcmode="lin" valueType="num">
                                      <p:cBhvr additive="base">
                                        <p:cTn id="13" dur="500" fill="hold"/>
                                        <p:tgtEl>
                                          <p:spTgt spid="9728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728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97283">
                                            <p:txEl>
                                              <p:pRg st="3" end="3"/>
                                            </p:txEl>
                                          </p:spTgt>
                                        </p:tgtEl>
                                        <p:attrNameLst>
                                          <p:attrName>style.visibility</p:attrName>
                                        </p:attrNameLst>
                                      </p:cBhvr>
                                      <p:to>
                                        <p:strVal val="visible"/>
                                      </p:to>
                                    </p:set>
                                    <p:anim calcmode="lin" valueType="num">
                                      <p:cBhvr additive="base">
                                        <p:cTn id="17" dur="500" fill="hold"/>
                                        <p:tgtEl>
                                          <p:spTgt spid="9728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972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97283">
                                            <p:txEl>
                                              <p:pRg st="4" end="4"/>
                                            </p:txEl>
                                          </p:spTgt>
                                        </p:tgtEl>
                                        <p:attrNameLst>
                                          <p:attrName>style.visibility</p:attrName>
                                        </p:attrNameLst>
                                      </p:cBhvr>
                                      <p:to>
                                        <p:strVal val="visible"/>
                                      </p:to>
                                    </p:set>
                                    <p:anim calcmode="lin" valueType="num">
                                      <p:cBhvr additive="base">
                                        <p:cTn id="23" dur="500" fill="hold"/>
                                        <p:tgtEl>
                                          <p:spTgt spid="9728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9728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97283">
                                            <p:txEl>
                                              <p:pRg st="5" end="5"/>
                                            </p:txEl>
                                          </p:spTgt>
                                        </p:tgtEl>
                                        <p:attrNameLst>
                                          <p:attrName>style.visibility</p:attrName>
                                        </p:attrNameLst>
                                      </p:cBhvr>
                                      <p:to>
                                        <p:strVal val="visible"/>
                                      </p:to>
                                    </p:set>
                                    <p:anim calcmode="lin" valueType="num">
                                      <p:cBhvr additive="base">
                                        <p:cTn id="29" dur="500" fill="hold"/>
                                        <p:tgtEl>
                                          <p:spTgt spid="9728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7283">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97283">
                                            <p:txEl>
                                              <p:pRg st="6" end="6"/>
                                            </p:txEl>
                                          </p:spTgt>
                                        </p:tgtEl>
                                        <p:attrNameLst>
                                          <p:attrName>style.visibility</p:attrName>
                                        </p:attrNameLst>
                                      </p:cBhvr>
                                      <p:to>
                                        <p:strVal val="visible"/>
                                      </p:to>
                                    </p:set>
                                    <p:anim calcmode="lin" valueType="num">
                                      <p:cBhvr additive="base">
                                        <p:cTn id="33" dur="500" fill="hold"/>
                                        <p:tgtEl>
                                          <p:spTgt spid="97283">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9728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2987675" y="3669878"/>
            <a:ext cx="420688" cy="1296000"/>
            <a:chOff x="2987675" y="3644900"/>
            <a:chExt cx="420688" cy="1296000"/>
          </a:xfrm>
        </p:grpSpPr>
        <p:sp>
          <p:nvSpPr>
            <p:cNvPr id="6154" name="Line 9"/>
            <p:cNvSpPr>
              <a:spLocks noChangeShapeType="1"/>
            </p:cNvSpPr>
            <p:nvPr/>
          </p:nvSpPr>
          <p:spPr bwMode="auto">
            <a:xfrm>
              <a:off x="3408363" y="3644900"/>
              <a:ext cx="0" cy="1296000"/>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4" name="Rectangle 31"/>
            <p:cNvSpPr>
              <a:spLocks noChangeArrowheads="1"/>
            </p:cNvSpPr>
            <p:nvPr/>
          </p:nvSpPr>
          <p:spPr bwMode="auto">
            <a:xfrm>
              <a:off x="2987675" y="4076700"/>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a:solidFill>
                    <a:schemeClr val="bg2"/>
                  </a:solidFill>
                  <a:latin typeface="Times New Roman" pitchFamily="18" charset="0"/>
                </a:rPr>
                <a:t>e</a:t>
              </a:r>
              <a:r>
                <a:rPr kumimoji="1" lang="en-US" altLang="zh-CN" b="1" baseline="-25000">
                  <a:solidFill>
                    <a:schemeClr val="bg2"/>
                  </a:solidFill>
                  <a:latin typeface="Times New Roman" pitchFamily="18" charset="0"/>
                </a:rPr>
                <a:t>6</a:t>
              </a:r>
            </a:p>
          </p:txBody>
        </p:sp>
      </p:grpSp>
      <p:sp>
        <p:nvSpPr>
          <p:cNvPr id="21" name="灯片编号占位符 4"/>
          <p:cNvSpPr>
            <a:spLocks noGrp="1"/>
          </p:cNvSpPr>
          <p:nvPr>
            <p:ph type="sldNum" sz="quarter" idx="11"/>
          </p:nvPr>
        </p:nvSpPr>
        <p:spPr/>
        <p:txBody>
          <a:bodyPr/>
          <a:lstStyle/>
          <a:p>
            <a:pPr>
              <a:defRPr/>
            </a:pPr>
            <a:fld id="{8D31E99D-0D96-4C08-BE05-05F8B856AC11}" type="slidenum">
              <a:rPr lang="en-US" altLang="zh-CN"/>
              <a:pPr>
                <a:defRPr/>
              </a:pPr>
              <a:t>4</a:t>
            </a:fld>
            <a:endParaRPr lang="en-US" altLang="zh-CN"/>
          </a:p>
        </p:txBody>
      </p:sp>
      <p:sp>
        <p:nvSpPr>
          <p:cNvPr id="6147" name="Rectangle 3"/>
          <p:cNvSpPr>
            <a:spLocks noGrp="1" noChangeArrowheads="1"/>
          </p:cNvSpPr>
          <p:nvPr>
            <p:ph type="body" idx="1"/>
          </p:nvPr>
        </p:nvSpPr>
        <p:spPr>
          <a:xfrm>
            <a:off x="466725" y="1125538"/>
            <a:ext cx="8277225" cy="1990725"/>
          </a:xfrm>
          <a:noFill/>
        </p:spPr>
        <p:txBody>
          <a:bodyPr/>
          <a:lstStyle/>
          <a:p>
            <a:pPr algn="just" eaLnBrk="1" hangingPunct="1">
              <a:buClrTx/>
              <a:buSzTx/>
              <a:buFontTx/>
              <a:buNone/>
            </a:pPr>
            <a:r>
              <a:rPr kumimoji="1" lang="zh-CN" altLang="en-US" smtClean="0">
                <a:solidFill>
                  <a:schemeClr val="hlink"/>
                </a:solidFill>
              </a:rPr>
              <a:t>例</a:t>
            </a:r>
            <a:r>
              <a:rPr kumimoji="1" lang="en-US" altLang="zh-CN" smtClean="0">
                <a:solidFill>
                  <a:schemeClr val="hlink"/>
                </a:solidFill>
              </a:rPr>
              <a:t>1</a:t>
            </a:r>
            <a:r>
              <a:rPr kumimoji="1" lang="zh-CN" altLang="en-US" smtClean="0">
                <a:solidFill>
                  <a:schemeClr val="hlink"/>
                </a:solidFill>
              </a:rPr>
              <a:t>：</a:t>
            </a:r>
            <a:r>
              <a:rPr kumimoji="1" lang="zh-CN" altLang="en-US" smtClean="0">
                <a:solidFill>
                  <a:schemeClr val="bg2"/>
                </a:solidFill>
              </a:rPr>
              <a:t>图</a:t>
            </a:r>
            <a:r>
              <a:rPr kumimoji="1" lang="en-US" altLang="zh-CN" smtClean="0">
                <a:solidFill>
                  <a:schemeClr val="bg2"/>
                </a:solidFill>
              </a:rPr>
              <a:t>G={V, E, </a:t>
            </a:r>
            <a:r>
              <a:rPr kumimoji="1" lang="en-US" altLang="zh-CN" smtClean="0">
                <a:solidFill>
                  <a:srgbClr val="000000"/>
                </a:solidFill>
                <a:sym typeface="Symbol" pitchFamily="18" charset="2"/>
              </a:rPr>
              <a:t></a:t>
            </a:r>
            <a:r>
              <a:rPr kumimoji="1" lang="en-US" altLang="zh-CN" baseline="-25000" smtClean="0">
                <a:solidFill>
                  <a:srgbClr val="000000"/>
                </a:solidFill>
                <a:sym typeface="Symbol" pitchFamily="18" charset="2"/>
              </a:rPr>
              <a:t>G</a:t>
            </a:r>
            <a:r>
              <a:rPr kumimoji="1" lang="en-US" altLang="zh-CN" smtClean="0">
                <a:solidFill>
                  <a:schemeClr val="bg2"/>
                </a:solidFill>
              </a:rPr>
              <a:t>}</a:t>
            </a:r>
            <a:r>
              <a:rPr kumimoji="1" lang="zh-CN" altLang="en-US" smtClean="0">
                <a:solidFill>
                  <a:schemeClr val="bg2"/>
                </a:solidFill>
              </a:rPr>
              <a:t>，其中</a:t>
            </a:r>
          </a:p>
          <a:p>
            <a:pPr algn="just" eaLnBrk="1" hangingPunct="1">
              <a:buClrTx/>
              <a:buSzTx/>
              <a:buFontTx/>
              <a:buNone/>
            </a:pPr>
            <a:r>
              <a:rPr kumimoji="1" lang="en-US" altLang="zh-CN" smtClean="0">
                <a:solidFill>
                  <a:schemeClr val="bg2"/>
                </a:solidFill>
              </a:rPr>
              <a:t>V={a, b, c, d}</a:t>
            </a:r>
            <a:r>
              <a:rPr kumimoji="1" lang="zh-CN" altLang="en-US" smtClean="0">
                <a:solidFill>
                  <a:schemeClr val="bg2"/>
                </a:solidFill>
              </a:rPr>
              <a:t>，</a:t>
            </a:r>
            <a:r>
              <a:rPr kumimoji="1" lang="en-US" altLang="zh-CN" smtClean="0">
                <a:solidFill>
                  <a:schemeClr val="bg2"/>
                </a:solidFill>
              </a:rPr>
              <a:t>E={e</a:t>
            </a:r>
            <a:r>
              <a:rPr kumimoji="1" lang="en-US" altLang="zh-CN" baseline="-25000" smtClean="0">
                <a:solidFill>
                  <a:schemeClr val="bg2"/>
                </a:solidFill>
              </a:rPr>
              <a:t>1</a:t>
            </a:r>
            <a:r>
              <a:rPr kumimoji="1" lang="en-US" altLang="zh-CN" smtClean="0">
                <a:solidFill>
                  <a:schemeClr val="bg2"/>
                </a:solidFill>
              </a:rPr>
              <a:t>,e</a:t>
            </a:r>
            <a:r>
              <a:rPr kumimoji="1" lang="en-US" altLang="zh-CN" baseline="-25000" smtClean="0">
                <a:solidFill>
                  <a:schemeClr val="bg2"/>
                </a:solidFill>
              </a:rPr>
              <a:t>2</a:t>
            </a:r>
            <a:r>
              <a:rPr kumimoji="1" lang="en-US" altLang="zh-CN" smtClean="0">
                <a:solidFill>
                  <a:schemeClr val="bg2"/>
                </a:solidFill>
              </a:rPr>
              <a:t>,e</a:t>
            </a:r>
            <a:r>
              <a:rPr kumimoji="1" lang="en-US" altLang="zh-CN" baseline="-25000" smtClean="0">
                <a:solidFill>
                  <a:schemeClr val="bg2"/>
                </a:solidFill>
              </a:rPr>
              <a:t>3</a:t>
            </a:r>
            <a:r>
              <a:rPr kumimoji="1" lang="en-US" altLang="zh-CN" smtClean="0">
                <a:solidFill>
                  <a:schemeClr val="bg2"/>
                </a:solidFill>
              </a:rPr>
              <a:t>,e</a:t>
            </a:r>
            <a:r>
              <a:rPr kumimoji="1" lang="en-US" altLang="zh-CN" baseline="-25000" smtClean="0">
                <a:solidFill>
                  <a:schemeClr val="bg2"/>
                </a:solidFill>
              </a:rPr>
              <a:t>4</a:t>
            </a:r>
            <a:r>
              <a:rPr kumimoji="1" lang="en-US" altLang="zh-CN" smtClean="0">
                <a:solidFill>
                  <a:schemeClr val="bg2"/>
                </a:solidFill>
              </a:rPr>
              <a:t>,e</a:t>
            </a:r>
            <a:r>
              <a:rPr kumimoji="1" lang="en-US" altLang="zh-CN" baseline="-25000" smtClean="0">
                <a:solidFill>
                  <a:schemeClr val="bg2"/>
                </a:solidFill>
              </a:rPr>
              <a:t>5</a:t>
            </a:r>
            <a:r>
              <a:rPr kumimoji="1" lang="en-US" altLang="zh-CN" smtClean="0">
                <a:solidFill>
                  <a:schemeClr val="bg2"/>
                </a:solidFill>
              </a:rPr>
              <a:t>,e</a:t>
            </a:r>
            <a:r>
              <a:rPr kumimoji="1" lang="en-US" altLang="zh-CN" baseline="-25000" smtClean="0">
                <a:solidFill>
                  <a:schemeClr val="bg2"/>
                </a:solidFill>
              </a:rPr>
              <a:t>6</a:t>
            </a:r>
            <a:r>
              <a:rPr kumimoji="1" lang="en-US" altLang="zh-CN" smtClean="0">
                <a:solidFill>
                  <a:schemeClr val="bg2"/>
                </a:solidFill>
              </a:rPr>
              <a:t>} </a:t>
            </a:r>
          </a:p>
          <a:p>
            <a:pPr algn="just" eaLnBrk="1" hangingPunct="1">
              <a:buClrTx/>
              <a:buSzTx/>
              <a:buFontTx/>
              <a:buNone/>
            </a:pPr>
            <a:r>
              <a:rPr kumimoji="1" lang="en-US" altLang="zh-CN" smtClean="0">
                <a:solidFill>
                  <a:srgbClr val="000000"/>
                </a:solidFill>
                <a:sym typeface="Symbol" pitchFamily="18" charset="2"/>
              </a:rPr>
              <a:t></a:t>
            </a:r>
            <a:r>
              <a:rPr kumimoji="1" lang="en-US" altLang="zh-CN" baseline="-25000" smtClean="0">
                <a:solidFill>
                  <a:srgbClr val="000000"/>
                </a:solidFill>
                <a:sym typeface="Symbol" pitchFamily="18" charset="2"/>
              </a:rPr>
              <a:t>G</a:t>
            </a:r>
            <a:r>
              <a:rPr kumimoji="1" lang="en-US" altLang="zh-CN" smtClean="0">
                <a:solidFill>
                  <a:schemeClr val="bg2"/>
                </a:solidFill>
              </a:rPr>
              <a:t>(e</a:t>
            </a:r>
            <a:r>
              <a:rPr kumimoji="1" lang="en-US" altLang="zh-CN" baseline="-25000" smtClean="0">
                <a:solidFill>
                  <a:schemeClr val="bg2"/>
                </a:solidFill>
              </a:rPr>
              <a:t>1</a:t>
            </a:r>
            <a:r>
              <a:rPr kumimoji="1" lang="en-US" altLang="zh-CN" smtClean="0">
                <a:solidFill>
                  <a:schemeClr val="bg2"/>
                </a:solidFill>
              </a:rPr>
              <a:t>)=(a, b)</a:t>
            </a:r>
            <a:r>
              <a:rPr kumimoji="1" lang="zh-CN" altLang="en-US" smtClean="0">
                <a:solidFill>
                  <a:schemeClr val="bg2"/>
                </a:solidFill>
              </a:rPr>
              <a:t>，</a:t>
            </a:r>
            <a:r>
              <a:rPr kumimoji="1" lang="zh-CN" altLang="en-US" smtClean="0">
                <a:solidFill>
                  <a:srgbClr val="000000"/>
                </a:solidFill>
                <a:sym typeface="Symbol" pitchFamily="18" charset="2"/>
              </a:rPr>
              <a:t></a:t>
            </a:r>
            <a:r>
              <a:rPr kumimoji="1" lang="en-US" altLang="zh-CN" baseline="-25000" smtClean="0">
                <a:solidFill>
                  <a:srgbClr val="000000"/>
                </a:solidFill>
                <a:sym typeface="Symbol" pitchFamily="18" charset="2"/>
              </a:rPr>
              <a:t>G</a:t>
            </a:r>
            <a:r>
              <a:rPr kumimoji="1" lang="en-US" altLang="zh-CN" smtClean="0">
                <a:solidFill>
                  <a:schemeClr val="bg2"/>
                </a:solidFill>
              </a:rPr>
              <a:t>(e</a:t>
            </a:r>
            <a:r>
              <a:rPr kumimoji="1" lang="en-US" altLang="zh-CN" baseline="-25000" smtClean="0">
                <a:solidFill>
                  <a:schemeClr val="bg2"/>
                </a:solidFill>
              </a:rPr>
              <a:t>2</a:t>
            </a:r>
            <a:r>
              <a:rPr kumimoji="1" lang="en-US" altLang="zh-CN" smtClean="0">
                <a:solidFill>
                  <a:schemeClr val="bg2"/>
                </a:solidFill>
              </a:rPr>
              <a:t>)=(a, c)</a:t>
            </a:r>
            <a:r>
              <a:rPr kumimoji="1" lang="zh-CN" altLang="en-US" smtClean="0">
                <a:solidFill>
                  <a:schemeClr val="bg2"/>
                </a:solidFill>
              </a:rPr>
              <a:t>，</a:t>
            </a:r>
            <a:r>
              <a:rPr kumimoji="1" lang="zh-CN" altLang="en-US" smtClean="0">
                <a:solidFill>
                  <a:srgbClr val="000000"/>
                </a:solidFill>
                <a:sym typeface="Symbol" pitchFamily="18" charset="2"/>
              </a:rPr>
              <a:t></a:t>
            </a:r>
            <a:r>
              <a:rPr kumimoji="1" lang="en-US" altLang="zh-CN" baseline="-25000" smtClean="0">
                <a:solidFill>
                  <a:srgbClr val="000000"/>
                </a:solidFill>
                <a:sym typeface="Symbol" pitchFamily="18" charset="2"/>
              </a:rPr>
              <a:t>G</a:t>
            </a:r>
            <a:r>
              <a:rPr kumimoji="1" lang="en-US" altLang="zh-CN" smtClean="0">
                <a:solidFill>
                  <a:schemeClr val="bg2"/>
                </a:solidFill>
              </a:rPr>
              <a:t>(e</a:t>
            </a:r>
            <a:r>
              <a:rPr kumimoji="1" lang="en-US" altLang="zh-CN" baseline="-25000" smtClean="0">
                <a:solidFill>
                  <a:schemeClr val="bg2"/>
                </a:solidFill>
              </a:rPr>
              <a:t>3</a:t>
            </a:r>
            <a:r>
              <a:rPr kumimoji="1" lang="en-US" altLang="zh-CN" smtClean="0">
                <a:solidFill>
                  <a:schemeClr val="bg2"/>
                </a:solidFill>
              </a:rPr>
              <a:t>)=(b, d),</a:t>
            </a:r>
          </a:p>
          <a:p>
            <a:pPr algn="just" eaLnBrk="1" hangingPunct="1">
              <a:buClrTx/>
              <a:buSzTx/>
              <a:buFontTx/>
              <a:buNone/>
            </a:pPr>
            <a:r>
              <a:rPr kumimoji="1" lang="en-US" altLang="zh-CN" smtClean="0">
                <a:solidFill>
                  <a:srgbClr val="000000"/>
                </a:solidFill>
                <a:sym typeface="Symbol" pitchFamily="18" charset="2"/>
              </a:rPr>
              <a:t></a:t>
            </a:r>
            <a:r>
              <a:rPr kumimoji="1" lang="en-US" altLang="zh-CN" baseline="-25000" smtClean="0">
                <a:solidFill>
                  <a:srgbClr val="000000"/>
                </a:solidFill>
                <a:sym typeface="Symbol" pitchFamily="18" charset="2"/>
              </a:rPr>
              <a:t>G</a:t>
            </a:r>
            <a:r>
              <a:rPr kumimoji="1" lang="en-US" altLang="zh-CN" smtClean="0">
                <a:solidFill>
                  <a:schemeClr val="bg2"/>
                </a:solidFill>
              </a:rPr>
              <a:t>(e</a:t>
            </a:r>
            <a:r>
              <a:rPr kumimoji="1" lang="en-US" altLang="zh-CN" baseline="-25000" smtClean="0">
                <a:solidFill>
                  <a:schemeClr val="bg2"/>
                </a:solidFill>
              </a:rPr>
              <a:t>4</a:t>
            </a:r>
            <a:r>
              <a:rPr kumimoji="1" lang="en-US" altLang="zh-CN" smtClean="0">
                <a:solidFill>
                  <a:schemeClr val="bg2"/>
                </a:solidFill>
              </a:rPr>
              <a:t>)=(b, c)</a:t>
            </a:r>
            <a:r>
              <a:rPr kumimoji="1" lang="zh-CN" altLang="en-US" smtClean="0">
                <a:solidFill>
                  <a:schemeClr val="bg2"/>
                </a:solidFill>
              </a:rPr>
              <a:t>，</a:t>
            </a:r>
            <a:r>
              <a:rPr kumimoji="1" lang="zh-CN" altLang="en-US" smtClean="0">
                <a:solidFill>
                  <a:srgbClr val="000000"/>
                </a:solidFill>
                <a:sym typeface="Symbol" pitchFamily="18" charset="2"/>
              </a:rPr>
              <a:t></a:t>
            </a:r>
            <a:r>
              <a:rPr kumimoji="1" lang="en-US" altLang="zh-CN" baseline="-25000" smtClean="0">
                <a:solidFill>
                  <a:srgbClr val="000000"/>
                </a:solidFill>
                <a:sym typeface="Symbol" pitchFamily="18" charset="2"/>
              </a:rPr>
              <a:t>G</a:t>
            </a:r>
            <a:r>
              <a:rPr kumimoji="1" lang="en-US" altLang="zh-CN" smtClean="0">
                <a:solidFill>
                  <a:schemeClr val="bg2"/>
                </a:solidFill>
              </a:rPr>
              <a:t>(e</a:t>
            </a:r>
            <a:r>
              <a:rPr kumimoji="1" lang="en-US" altLang="zh-CN" baseline="-25000" smtClean="0">
                <a:solidFill>
                  <a:schemeClr val="bg2"/>
                </a:solidFill>
              </a:rPr>
              <a:t>5</a:t>
            </a:r>
            <a:r>
              <a:rPr kumimoji="1" lang="en-US" altLang="zh-CN" smtClean="0">
                <a:solidFill>
                  <a:schemeClr val="bg2"/>
                </a:solidFill>
              </a:rPr>
              <a:t>)=(d, c)</a:t>
            </a:r>
            <a:r>
              <a:rPr kumimoji="1" lang="zh-CN" altLang="en-US" smtClean="0">
                <a:solidFill>
                  <a:schemeClr val="bg2"/>
                </a:solidFill>
              </a:rPr>
              <a:t>，</a:t>
            </a:r>
            <a:r>
              <a:rPr kumimoji="1" lang="zh-CN" altLang="en-US" smtClean="0">
                <a:solidFill>
                  <a:srgbClr val="000000"/>
                </a:solidFill>
                <a:sym typeface="Symbol" pitchFamily="18" charset="2"/>
              </a:rPr>
              <a:t></a:t>
            </a:r>
            <a:r>
              <a:rPr kumimoji="1" lang="en-US" altLang="zh-CN" baseline="-25000" smtClean="0">
                <a:solidFill>
                  <a:srgbClr val="000000"/>
                </a:solidFill>
                <a:sym typeface="Symbol" pitchFamily="18" charset="2"/>
              </a:rPr>
              <a:t>G</a:t>
            </a:r>
            <a:r>
              <a:rPr kumimoji="1" lang="en-US" altLang="zh-CN" smtClean="0">
                <a:solidFill>
                  <a:schemeClr val="bg2"/>
                </a:solidFill>
              </a:rPr>
              <a:t>(e</a:t>
            </a:r>
            <a:r>
              <a:rPr kumimoji="1" lang="en-US" altLang="zh-CN" baseline="-25000" smtClean="0">
                <a:solidFill>
                  <a:schemeClr val="bg2"/>
                </a:solidFill>
              </a:rPr>
              <a:t>6</a:t>
            </a:r>
            <a:r>
              <a:rPr kumimoji="1" lang="en-US" altLang="zh-CN" smtClean="0">
                <a:solidFill>
                  <a:schemeClr val="bg2"/>
                </a:solidFill>
              </a:rPr>
              <a:t>)=(a, d)</a:t>
            </a:r>
            <a:endParaRPr lang="en-US" altLang="zh-CN" smtClean="0"/>
          </a:p>
        </p:txBody>
      </p:sp>
      <p:sp>
        <p:nvSpPr>
          <p:cNvPr id="6155" name="Text Box 10"/>
          <p:cNvSpPr txBox="1">
            <a:spLocks noChangeArrowheads="1"/>
          </p:cNvSpPr>
          <p:nvPr/>
        </p:nvSpPr>
        <p:spPr bwMode="auto">
          <a:xfrm>
            <a:off x="3030538" y="3429000"/>
            <a:ext cx="319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r>
              <a:rPr lang="en-US" altLang="zh-CN">
                <a:latin typeface="Times New Roman" pitchFamily="18" charset="0"/>
              </a:rPr>
              <a:t>a</a:t>
            </a:r>
          </a:p>
        </p:txBody>
      </p:sp>
      <p:sp>
        <p:nvSpPr>
          <p:cNvPr id="6156" name="Text Box 11"/>
          <p:cNvSpPr txBox="1">
            <a:spLocks noChangeArrowheads="1"/>
          </p:cNvSpPr>
          <p:nvPr/>
        </p:nvSpPr>
        <p:spPr bwMode="auto">
          <a:xfrm>
            <a:off x="3033713" y="4729163"/>
            <a:ext cx="319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r>
              <a:rPr lang="en-US" altLang="zh-CN">
                <a:latin typeface="Times New Roman" pitchFamily="18" charset="0"/>
              </a:rPr>
              <a:t>d</a:t>
            </a:r>
          </a:p>
        </p:txBody>
      </p:sp>
      <p:sp>
        <p:nvSpPr>
          <p:cNvPr id="6157" name="Text Box 12"/>
          <p:cNvSpPr txBox="1">
            <a:spLocks noChangeArrowheads="1"/>
          </p:cNvSpPr>
          <p:nvPr/>
        </p:nvSpPr>
        <p:spPr bwMode="auto">
          <a:xfrm>
            <a:off x="5264150" y="3414713"/>
            <a:ext cx="319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r>
              <a:rPr lang="en-US" altLang="zh-CN">
                <a:latin typeface="Times New Roman" pitchFamily="18" charset="0"/>
              </a:rPr>
              <a:t>b</a:t>
            </a:r>
          </a:p>
        </p:txBody>
      </p:sp>
      <p:sp>
        <p:nvSpPr>
          <p:cNvPr id="6158" name="Text Box 13"/>
          <p:cNvSpPr txBox="1">
            <a:spLocks noChangeArrowheads="1"/>
          </p:cNvSpPr>
          <p:nvPr/>
        </p:nvSpPr>
        <p:spPr bwMode="auto">
          <a:xfrm>
            <a:off x="5264150" y="4695825"/>
            <a:ext cx="319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r>
              <a:rPr lang="en-US" altLang="zh-CN">
                <a:latin typeface="Times New Roman" pitchFamily="18" charset="0"/>
              </a:rPr>
              <a:t>c</a:t>
            </a:r>
          </a:p>
        </p:txBody>
      </p:sp>
      <p:grpSp>
        <p:nvGrpSpPr>
          <p:cNvPr id="2" name="组合 1"/>
          <p:cNvGrpSpPr/>
          <p:nvPr/>
        </p:nvGrpSpPr>
        <p:grpSpPr>
          <a:xfrm>
            <a:off x="3408363" y="3213100"/>
            <a:ext cx="1800225" cy="457200"/>
            <a:chOff x="3408363" y="3213100"/>
            <a:chExt cx="1800225" cy="457200"/>
          </a:xfrm>
        </p:grpSpPr>
        <p:sp>
          <p:nvSpPr>
            <p:cNvPr id="6149" name="Line 4"/>
            <p:cNvSpPr>
              <a:spLocks noChangeShapeType="1"/>
            </p:cNvSpPr>
            <p:nvPr/>
          </p:nvSpPr>
          <p:spPr bwMode="auto">
            <a:xfrm>
              <a:off x="3408363" y="3644900"/>
              <a:ext cx="1800225" cy="0"/>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59" name="Rectangle 26"/>
            <p:cNvSpPr>
              <a:spLocks noChangeArrowheads="1"/>
            </p:cNvSpPr>
            <p:nvPr/>
          </p:nvSpPr>
          <p:spPr bwMode="auto">
            <a:xfrm>
              <a:off x="4111625" y="3213100"/>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dirty="0">
                  <a:solidFill>
                    <a:schemeClr val="bg2"/>
                  </a:solidFill>
                  <a:latin typeface="Times New Roman" pitchFamily="18" charset="0"/>
                </a:rPr>
                <a:t>e</a:t>
              </a:r>
              <a:r>
                <a:rPr kumimoji="1" lang="en-US" altLang="zh-CN" b="1" baseline="-25000" dirty="0">
                  <a:solidFill>
                    <a:schemeClr val="bg2"/>
                  </a:solidFill>
                  <a:latin typeface="Times New Roman" pitchFamily="18" charset="0"/>
                </a:rPr>
                <a:t>1</a:t>
              </a:r>
            </a:p>
          </p:txBody>
        </p:sp>
      </p:grpSp>
      <p:grpSp>
        <p:nvGrpSpPr>
          <p:cNvPr id="3" name="组合 2"/>
          <p:cNvGrpSpPr/>
          <p:nvPr/>
        </p:nvGrpSpPr>
        <p:grpSpPr>
          <a:xfrm>
            <a:off x="3408363" y="3644900"/>
            <a:ext cx="1800225" cy="1296000"/>
            <a:chOff x="3408363" y="3613368"/>
            <a:chExt cx="1800225" cy="1296000"/>
          </a:xfrm>
        </p:grpSpPr>
        <p:sp>
          <p:nvSpPr>
            <p:cNvPr id="6150" name="Line 5"/>
            <p:cNvSpPr>
              <a:spLocks noChangeShapeType="1"/>
            </p:cNvSpPr>
            <p:nvPr/>
          </p:nvSpPr>
          <p:spPr bwMode="auto">
            <a:xfrm>
              <a:off x="3408363" y="3613368"/>
              <a:ext cx="1800225" cy="1296000"/>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0" name="Rectangle 27"/>
            <p:cNvSpPr>
              <a:spLocks noChangeArrowheads="1"/>
            </p:cNvSpPr>
            <p:nvPr/>
          </p:nvSpPr>
          <p:spPr bwMode="auto">
            <a:xfrm>
              <a:off x="3606800" y="3860800"/>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dirty="0">
                  <a:solidFill>
                    <a:schemeClr val="bg2"/>
                  </a:solidFill>
                  <a:latin typeface="Times New Roman" pitchFamily="18" charset="0"/>
                </a:rPr>
                <a:t>e</a:t>
              </a:r>
              <a:r>
                <a:rPr kumimoji="1" lang="en-US" altLang="zh-CN" b="1" baseline="-25000" dirty="0">
                  <a:solidFill>
                    <a:schemeClr val="bg2"/>
                  </a:solidFill>
                  <a:latin typeface="Times New Roman" pitchFamily="18" charset="0"/>
                </a:rPr>
                <a:t>2</a:t>
              </a:r>
            </a:p>
          </p:txBody>
        </p:sp>
      </p:grpSp>
      <p:grpSp>
        <p:nvGrpSpPr>
          <p:cNvPr id="4" name="组合 3"/>
          <p:cNvGrpSpPr/>
          <p:nvPr/>
        </p:nvGrpSpPr>
        <p:grpSpPr>
          <a:xfrm>
            <a:off x="3408363" y="3644900"/>
            <a:ext cx="1800225" cy="1296000"/>
            <a:chOff x="3408363" y="3644900"/>
            <a:chExt cx="1800225" cy="1296000"/>
          </a:xfrm>
        </p:grpSpPr>
        <p:sp>
          <p:nvSpPr>
            <p:cNvPr id="6151" name="Line 6"/>
            <p:cNvSpPr>
              <a:spLocks noChangeShapeType="1"/>
            </p:cNvSpPr>
            <p:nvPr/>
          </p:nvSpPr>
          <p:spPr bwMode="auto">
            <a:xfrm flipH="1">
              <a:off x="3408363" y="3644900"/>
              <a:ext cx="1800225" cy="1296000"/>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1" name="Rectangle 28"/>
            <p:cNvSpPr>
              <a:spLocks noChangeArrowheads="1"/>
            </p:cNvSpPr>
            <p:nvPr/>
          </p:nvSpPr>
          <p:spPr bwMode="auto">
            <a:xfrm>
              <a:off x="4614863" y="3860800"/>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dirty="0">
                  <a:solidFill>
                    <a:schemeClr val="bg2"/>
                  </a:solidFill>
                  <a:latin typeface="Times New Roman" pitchFamily="18" charset="0"/>
                </a:rPr>
                <a:t>e</a:t>
              </a:r>
              <a:r>
                <a:rPr kumimoji="1" lang="en-US" altLang="zh-CN" b="1" baseline="-25000" dirty="0">
                  <a:solidFill>
                    <a:schemeClr val="bg2"/>
                  </a:solidFill>
                  <a:latin typeface="Times New Roman" pitchFamily="18" charset="0"/>
                </a:rPr>
                <a:t>3</a:t>
              </a:r>
            </a:p>
          </p:txBody>
        </p:sp>
      </p:grpSp>
      <p:grpSp>
        <p:nvGrpSpPr>
          <p:cNvPr id="5" name="组合 4"/>
          <p:cNvGrpSpPr/>
          <p:nvPr/>
        </p:nvGrpSpPr>
        <p:grpSpPr>
          <a:xfrm>
            <a:off x="5148263" y="3644900"/>
            <a:ext cx="420688" cy="1296988"/>
            <a:chOff x="5148263" y="3644900"/>
            <a:chExt cx="420688" cy="1296988"/>
          </a:xfrm>
        </p:grpSpPr>
        <p:sp>
          <p:nvSpPr>
            <p:cNvPr id="6152" name="Line 7"/>
            <p:cNvSpPr>
              <a:spLocks noChangeShapeType="1"/>
            </p:cNvSpPr>
            <p:nvPr/>
          </p:nvSpPr>
          <p:spPr bwMode="auto">
            <a:xfrm>
              <a:off x="5208588" y="3644900"/>
              <a:ext cx="0" cy="1296988"/>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2" name="Rectangle 29"/>
            <p:cNvSpPr>
              <a:spLocks noChangeArrowheads="1"/>
            </p:cNvSpPr>
            <p:nvPr/>
          </p:nvSpPr>
          <p:spPr bwMode="auto">
            <a:xfrm>
              <a:off x="5148263" y="3933825"/>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dirty="0" smtClean="0">
                  <a:solidFill>
                    <a:schemeClr val="bg2"/>
                  </a:solidFill>
                  <a:latin typeface="Times New Roman" pitchFamily="18" charset="0"/>
                </a:rPr>
                <a:t>e</a:t>
              </a:r>
              <a:r>
                <a:rPr kumimoji="1" lang="en-US" altLang="zh-CN" b="1" baseline="-25000" dirty="0">
                  <a:solidFill>
                    <a:schemeClr val="bg2"/>
                  </a:solidFill>
                  <a:latin typeface="Times New Roman" pitchFamily="18" charset="0"/>
                </a:rPr>
                <a:t>4</a:t>
              </a:r>
            </a:p>
          </p:txBody>
        </p:sp>
      </p:grpSp>
      <p:grpSp>
        <p:nvGrpSpPr>
          <p:cNvPr id="6" name="组合 5"/>
          <p:cNvGrpSpPr/>
          <p:nvPr/>
        </p:nvGrpSpPr>
        <p:grpSpPr>
          <a:xfrm>
            <a:off x="3408363" y="4868863"/>
            <a:ext cx="1800225" cy="457200"/>
            <a:chOff x="3408363" y="4868863"/>
            <a:chExt cx="1800225" cy="457200"/>
          </a:xfrm>
        </p:grpSpPr>
        <p:sp>
          <p:nvSpPr>
            <p:cNvPr id="6153" name="Line 8"/>
            <p:cNvSpPr>
              <a:spLocks noChangeShapeType="1"/>
            </p:cNvSpPr>
            <p:nvPr/>
          </p:nvSpPr>
          <p:spPr bwMode="auto">
            <a:xfrm flipV="1">
              <a:off x="3408363" y="4941888"/>
              <a:ext cx="1800225" cy="0"/>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63" name="Rectangle 30"/>
            <p:cNvSpPr>
              <a:spLocks noChangeArrowheads="1"/>
            </p:cNvSpPr>
            <p:nvPr/>
          </p:nvSpPr>
          <p:spPr bwMode="auto">
            <a:xfrm>
              <a:off x="4111625" y="4868863"/>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b="1" dirty="0">
                  <a:solidFill>
                    <a:schemeClr val="bg2"/>
                  </a:solidFill>
                  <a:latin typeface="Times New Roman" pitchFamily="18" charset="0"/>
                </a:rPr>
                <a:t>e</a:t>
              </a:r>
              <a:r>
                <a:rPr kumimoji="1" lang="en-US" altLang="zh-CN" b="1" baseline="-25000" dirty="0">
                  <a:solidFill>
                    <a:schemeClr val="bg2"/>
                  </a:solidFill>
                  <a:latin typeface="Times New Roman" pitchFamily="18" charset="0"/>
                </a:rPr>
                <a:t>5</a:t>
              </a:r>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155"/>
                                        </p:tgtEl>
                                        <p:attrNameLst>
                                          <p:attrName>style.visibility</p:attrName>
                                        </p:attrNameLst>
                                      </p:cBhvr>
                                      <p:to>
                                        <p:strVal val="visible"/>
                                      </p:to>
                                    </p:set>
                                    <p:anim calcmode="lin" valueType="num">
                                      <p:cBhvr additive="base">
                                        <p:cTn id="7" dur="500" fill="hold"/>
                                        <p:tgtEl>
                                          <p:spTgt spid="6155"/>
                                        </p:tgtEl>
                                        <p:attrNameLst>
                                          <p:attrName>ppt_x</p:attrName>
                                        </p:attrNameLst>
                                      </p:cBhvr>
                                      <p:tavLst>
                                        <p:tav tm="0">
                                          <p:val>
                                            <p:strVal val="#ppt_x"/>
                                          </p:val>
                                        </p:tav>
                                        <p:tav tm="100000">
                                          <p:val>
                                            <p:strVal val="#ppt_x"/>
                                          </p:val>
                                        </p:tav>
                                      </p:tavLst>
                                    </p:anim>
                                    <p:anim calcmode="lin" valueType="num">
                                      <p:cBhvr additive="base">
                                        <p:cTn id="8" dur="500" fill="hold"/>
                                        <p:tgtEl>
                                          <p:spTgt spid="615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156"/>
                                        </p:tgtEl>
                                        <p:attrNameLst>
                                          <p:attrName>style.visibility</p:attrName>
                                        </p:attrNameLst>
                                      </p:cBhvr>
                                      <p:to>
                                        <p:strVal val="visible"/>
                                      </p:to>
                                    </p:set>
                                    <p:anim calcmode="lin" valueType="num">
                                      <p:cBhvr additive="base">
                                        <p:cTn id="11" dur="500" fill="hold"/>
                                        <p:tgtEl>
                                          <p:spTgt spid="6156"/>
                                        </p:tgtEl>
                                        <p:attrNameLst>
                                          <p:attrName>ppt_x</p:attrName>
                                        </p:attrNameLst>
                                      </p:cBhvr>
                                      <p:tavLst>
                                        <p:tav tm="0">
                                          <p:val>
                                            <p:strVal val="#ppt_x"/>
                                          </p:val>
                                        </p:tav>
                                        <p:tav tm="100000">
                                          <p:val>
                                            <p:strVal val="#ppt_x"/>
                                          </p:val>
                                        </p:tav>
                                      </p:tavLst>
                                    </p:anim>
                                    <p:anim calcmode="lin" valueType="num">
                                      <p:cBhvr additive="base">
                                        <p:cTn id="12" dur="500" fill="hold"/>
                                        <p:tgtEl>
                                          <p:spTgt spid="615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157"/>
                                        </p:tgtEl>
                                        <p:attrNameLst>
                                          <p:attrName>style.visibility</p:attrName>
                                        </p:attrNameLst>
                                      </p:cBhvr>
                                      <p:to>
                                        <p:strVal val="visible"/>
                                      </p:to>
                                    </p:set>
                                    <p:anim calcmode="lin" valueType="num">
                                      <p:cBhvr additive="base">
                                        <p:cTn id="15" dur="500" fill="hold"/>
                                        <p:tgtEl>
                                          <p:spTgt spid="6157"/>
                                        </p:tgtEl>
                                        <p:attrNameLst>
                                          <p:attrName>ppt_x</p:attrName>
                                        </p:attrNameLst>
                                      </p:cBhvr>
                                      <p:tavLst>
                                        <p:tav tm="0">
                                          <p:val>
                                            <p:strVal val="#ppt_x"/>
                                          </p:val>
                                        </p:tav>
                                        <p:tav tm="100000">
                                          <p:val>
                                            <p:strVal val="#ppt_x"/>
                                          </p:val>
                                        </p:tav>
                                      </p:tavLst>
                                    </p:anim>
                                    <p:anim calcmode="lin" valueType="num">
                                      <p:cBhvr additive="base">
                                        <p:cTn id="16" dur="500" fill="hold"/>
                                        <p:tgtEl>
                                          <p:spTgt spid="615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158"/>
                                        </p:tgtEl>
                                        <p:attrNameLst>
                                          <p:attrName>style.visibility</p:attrName>
                                        </p:attrNameLst>
                                      </p:cBhvr>
                                      <p:to>
                                        <p:strVal val="visible"/>
                                      </p:to>
                                    </p:set>
                                    <p:anim calcmode="lin" valueType="num">
                                      <p:cBhvr additive="base">
                                        <p:cTn id="19" dur="500" fill="hold"/>
                                        <p:tgtEl>
                                          <p:spTgt spid="6158"/>
                                        </p:tgtEl>
                                        <p:attrNameLst>
                                          <p:attrName>ppt_x</p:attrName>
                                        </p:attrNameLst>
                                      </p:cBhvr>
                                      <p:tavLst>
                                        <p:tav tm="0">
                                          <p:val>
                                            <p:strVal val="#ppt_x"/>
                                          </p:val>
                                        </p:tav>
                                        <p:tav tm="100000">
                                          <p:val>
                                            <p:strVal val="#ppt_x"/>
                                          </p:val>
                                        </p:tav>
                                      </p:tavLst>
                                    </p:anim>
                                    <p:anim calcmode="lin" valueType="num">
                                      <p:cBhvr additive="base">
                                        <p:cTn id="20" dur="500" fill="hold"/>
                                        <p:tgtEl>
                                          <p:spTgt spid="6158"/>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additive="base">
                                        <p:cTn id="25" dur="500" fill="hold"/>
                                        <p:tgtEl>
                                          <p:spTgt spid="2"/>
                                        </p:tgtEl>
                                        <p:attrNameLst>
                                          <p:attrName>ppt_x</p:attrName>
                                        </p:attrNameLst>
                                      </p:cBhvr>
                                      <p:tavLst>
                                        <p:tav tm="0">
                                          <p:val>
                                            <p:strVal val="#ppt_x"/>
                                          </p:val>
                                        </p:tav>
                                        <p:tav tm="100000">
                                          <p:val>
                                            <p:strVal val="#ppt_x"/>
                                          </p:val>
                                        </p:tav>
                                      </p:tavLst>
                                    </p:anim>
                                    <p:anim calcmode="lin" valueType="num">
                                      <p:cBhvr additive="base">
                                        <p:cTn id="2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 calcmode="lin" valueType="num">
                                      <p:cBhvr additive="base">
                                        <p:cTn id="31" dur="500" fill="hold"/>
                                        <p:tgtEl>
                                          <p:spTgt spid="3"/>
                                        </p:tgtEl>
                                        <p:attrNameLst>
                                          <p:attrName>ppt_x</p:attrName>
                                        </p:attrNameLst>
                                      </p:cBhvr>
                                      <p:tavLst>
                                        <p:tav tm="0">
                                          <p:val>
                                            <p:strVal val="#ppt_x"/>
                                          </p:val>
                                        </p:tav>
                                        <p:tav tm="100000">
                                          <p:val>
                                            <p:strVal val="#ppt_x"/>
                                          </p:val>
                                        </p:tav>
                                      </p:tavLst>
                                    </p:anim>
                                    <p:anim calcmode="lin" valueType="num">
                                      <p:cBhvr additive="base">
                                        <p:cTn id="3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 calcmode="lin" valueType="num">
                                      <p:cBhvr additive="base">
                                        <p:cTn id="43" dur="500" fill="hold"/>
                                        <p:tgtEl>
                                          <p:spTgt spid="5"/>
                                        </p:tgtEl>
                                        <p:attrNameLst>
                                          <p:attrName>ppt_x</p:attrName>
                                        </p:attrNameLst>
                                      </p:cBhvr>
                                      <p:tavLst>
                                        <p:tav tm="0">
                                          <p:val>
                                            <p:strVal val="#ppt_x"/>
                                          </p:val>
                                        </p:tav>
                                        <p:tav tm="100000">
                                          <p:val>
                                            <p:strVal val="#ppt_x"/>
                                          </p:val>
                                        </p:tav>
                                      </p:tavLst>
                                    </p:anim>
                                    <p:anim calcmode="lin" valueType="num">
                                      <p:cBhvr additive="base">
                                        <p:cTn id="4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6"/>
                                        </p:tgtEl>
                                        <p:attrNameLst>
                                          <p:attrName>style.visibility</p:attrName>
                                        </p:attrNameLst>
                                      </p:cBhvr>
                                      <p:to>
                                        <p:strVal val="visible"/>
                                      </p:to>
                                    </p:set>
                                    <p:anim calcmode="lin" valueType="num">
                                      <p:cBhvr additive="base">
                                        <p:cTn id="49" dur="500" fill="hold"/>
                                        <p:tgtEl>
                                          <p:spTgt spid="6"/>
                                        </p:tgtEl>
                                        <p:attrNameLst>
                                          <p:attrName>ppt_x</p:attrName>
                                        </p:attrNameLst>
                                      </p:cBhvr>
                                      <p:tavLst>
                                        <p:tav tm="0">
                                          <p:val>
                                            <p:strVal val="#ppt_x"/>
                                          </p:val>
                                        </p:tav>
                                        <p:tav tm="100000">
                                          <p:val>
                                            <p:strVal val="#ppt_x"/>
                                          </p:val>
                                        </p:tav>
                                      </p:tavLst>
                                    </p:anim>
                                    <p:anim calcmode="lin" valueType="num">
                                      <p:cBhvr additive="base">
                                        <p:cTn id="5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7"/>
                                        </p:tgtEl>
                                        <p:attrNameLst>
                                          <p:attrName>style.visibility</p:attrName>
                                        </p:attrNameLst>
                                      </p:cBhvr>
                                      <p:to>
                                        <p:strVal val="visible"/>
                                      </p:to>
                                    </p:set>
                                    <p:anim calcmode="lin" valueType="num">
                                      <p:cBhvr additive="base">
                                        <p:cTn id="55" dur="500" fill="hold"/>
                                        <p:tgtEl>
                                          <p:spTgt spid="7"/>
                                        </p:tgtEl>
                                        <p:attrNameLst>
                                          <p:attrName>ppt_x</p:attrName>
                                        </p:attrNameLst>
                                      </p:cBhvr>
                                      <p:tavLst>
                                        <p:tav tm="0">
                                          <p:val>
                                            <p:strVal val="#ppt_x"/>
                                          </p:val>
                                        </p:tav>
                                        <p:tav tm="100000">
                                          <p:val>
                                            <p:strVal val="#ppt_x"/>
                                          </p:val>
                                        </p:tav>
                                      </p:tavLst>
                                    </p:anim>
                                    <p:anim calcmode="lin" valueType="num">
                                      <p:cBhvr additive="base">
                                        <p:cTn id="5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5" grpId="0"/>
      <p:bldP spid="6156" grpId="0"/>
      <p:bldP spid="6157" grpId="0"/>
      <p:bldP spid="615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pPr>
              <a:defRPr/>
            </a:pPr>
            <a:fld id="{8D00ED53-63AD-40BD-A5C0-16A3B0281577}" type="slidenum">
              <a:rPr lang="en-US" altLang="zh-CN"/>
              <a:pPr>
                <a:defRPr/>
              </a:pPr>
              <a:t>5</a:t>
            </a:fld>
            <a:endParaRPr lang="en-US" altLang="zh-CN"/>
          </a:p>
        </p:txBody>
      </p:sp>
      <p:sp>
        <p:nvSpPr>
          <p:cNvPr id="7171" name="Text Box 3"/>
          <p:cNvSpPr txBox="1">
            <a:spLocks noChangeArrowheads="1"/>
          </p:cNvSpPr>
          <p:nvPr/>
        </p:nvSpPr>
        <p:spPr bwMode="auto">
          <a:xfrm>
            <a:off x="466725" y="1166813"/>
            <a:ext cx="8277225" cy="3414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dirty="0" smtClean="0">
                <a:solidFill>
                  <a:schemeClr val="bg2"/>
                </a:solidFill>
                <a:latin typeface="Times New Roman" pitchFamily="18" charset="0"/>
              </a:rPr>
              <a:t>一</a:t>
            </a:r>
            <a:r>
              <a:rPr kumimoji="1" lang="zh-CN" altLang="en-US" b="1" dirty="0">
                <a:solidFill>
                  <a:schemeClr val="bg2"/>
                </a:solidFill>
                <a:latin typeface="Times New Roman" pitchFamily="18" charset="0"/>
              </a:rPr>
              <a:t>个图简记为</a:t>
            </a:r>
            <a:r>
              <a:rPr kumimoji="1" lang="en-US" altLang="zh-CN" b="1" dirty="0">
                <a:solidFill>
                  <a:schemeClr val="bg2"/>
                </a:solidFill>
                <a:latin typeface="Times New Roman" pitchFamily="18" charset="0"/>
              </a:rPr>
              <a:t>G=&lt;V, E&gt;</a:t>
            </a:r>
            <a:r>
              <a:rPr kumimoji="1" lang="zh-CN" altLang="en-US" b="1" dirty="0">
                <a:solidFill>
                  <a:schemeClr val="bg2"/>
                </a:solidFill>
                <a:latin typeface="Times New Roman" pitchFamily="18" charset="0"/>
              </a:rPr>
              <a:t>，其中</a:t>
            </a:r>
            <a:r>
              <a:rPr kumimoji="1" lang="en-US" altLang="zh-CN" b="1" dirty="0">
                <a:solidFill>
                  <a:schemeClr val="bg2"/>
                </a:solidFill>
                <a:latin typeface="Times New Roman" pitchFamily="18" charset="0"/>
              </a:rPr>
              <a:t>V</a:t>
            </a:r>
            <a:r>
              <a:rPr kumimoji="1" lang="zh-CN" altLang="en-US" b="1" dirty="0">
                <a:solidFill>
                  <a:schemeClr val="bg2"/>
                </a:solidFill>
                <a:latin typeface="Times New Roman" pitchFamily="18" charset="0"/>
              </a:rPr>
              <a:t>是非空结点集，</a:t>
            </a:r>
            <a:r>
              <a:rPr kumimoji="1" lang="en-US" altLang="zh-CN" b="1" dirty="0">
                <a:solidFill>
                  <a:schemeClr val="bg2"/>
                </a:solidFill>
                <a:latin typeface="Times New Roman" pitchFamily="18" charset="0"/>
              </a:rPr>
              <a:t>E</a:t>
            </a:r>
            <a:r>
              <a:rPr kumimoji="1" lang="zh-CN" altLang="en-US" b="1" dirty="0">
                <a:solidFill>
                  <a:schemeClr val="bg2"/>
                </a:solidFill>
                <a:latin typeface="Times New Roman" pitchFamily="18" charset="0"/>
              </a:rPr>
              <a:t>是连接结点的边集。</a:t>
            </a:r>
          </a:p>
          <a:p>
            <a:pPr eaLnBrk="1" hangingPunct="1">
              <a:lnSpc>
                <a:spcPct val="130000"/>
              </a:lnSpc>
            </a:pPr>
            <a:r>
              <a:rPr kumimoji="1" lang="en-US" altLang="zh-CN" b="1" dirty="0">
                <a:solidFill>
                  <a:srgbClr val="008000"/>
                </a:solidFill>
                <a:latin typeface="Times New Roman" pitchFamily="18" charset="0"/>
              </a:rPr>
              <a:t>1)</a:t>
            </a:r>
            <a:r>
              <a:rPr kumimoji="1" lang="zh-CN" altLang="en-US" b="1" dirty="0">
                <a:solidFill>
                  <a:srgbClr val="008000"/>
                </a:solidFill>
                <a:latin typeface="Times New Roman" pitchFamily="18" charset="0"/>
              </a:rPr>
              <a:t>边的概念</a:t>
            </a:r>
          </a:p>
          <a:p>
            <a:pPr eaLnBrk="1" hangingPunct="1">
              <a:lnSpc>
                <a:spcPct val="130000"/>
              </a:lnSpc>
            </a:pPr>
            <a:r>
              <a:rPr kumimoji="1" lang="en-US" altLang="zh-CN" b="1" dirty="0">
                <a:solidFill>
                  <a:schemeClr val="bg2"/>
                </a:solidFill>
                <a:latin typeface="Times New Roman" pitchFamily="18" charset="0"/>
              </a:rPr>
              <a:t>(1)</a:t>
            </a:r>
            <a:r>
              <a:rPr kumimoji="1" lang="zh-CN" altLang="en-US" b="1" dirty="0">
                <a:solidFill>
                  <a:schemeClr val="bg2"/>
                </a:solidFill>
                <a:latin typeface="Times New Roman" pitchFamily="18" charset="0"/>
              </a:rPr>
              <a:t>若</a:t>
            </a:r>
            <a:r>
              <a:rPr kumimoji="1" lang="en-US" altLang="zh-CN" b="1" dirty="0" err="1">
                <a:solidFill>
                  <a:schemeClr val="bg2"/>
                </a:solidFill>
                <a:latin typeface="Times New Roman" pitchFamily="18" charset="0"/>
              </a:rPr>
              <a:t>e</a:t>
            </a:r>
            <a:r>
              <a:rPr kumimoji="1" lang="en-US" altLang="zh-CN" b="1" baseline="-25000" dirty="0" err="1">
                <a:solidFill>
                  <a:schemeClr val="bg2"/>
                </a:solidFill>
                <a:latin typeface="Times New Roman" pitchFamily="18" charset="0"/>
              </a:rPr>
              <a:t>i</a:t>
            </a:r>
            <a:r>
              <a:rPr kumimoji="1" lang="en-US" altLang="zh-CN" b="1" dirty="0" err="1">
                <a:solidFill>
                  <a:schemeClr val="bg2"/>
                </a:solidFill>
                <a:latin typeface="Times New Roman" pitchFamily="18" charset="0"/>
              </a:rPr>
              <a:t>∈E</a:t>
            </a:r>
            <a:r>
              <a:rPr kumimoji="1" lang="zh-CN" altLang="en-US" b="1" dirty="0">
                <a:solidFill>
                  <a:schemeClr val="bg2"/>
                </a:solidFill>
                <a:latin typeface="Times New Roman" pitchFamily="18" charset="0"/>
              </a:rPr>
              <a:t>，且</a:t>
            </a:r>
            <a:r>
              <a:rPr kumimoji="1" lang="en-US" altLang="zh-CN" b="1" dirty="0" err="1">
                <a:solidFill>
                  <a:schemeClr val="bg2"/>
                </a:solidFill>
                <a:latin typeface="Times New Roman" pitchFamily="18" charset="0"/>
              </a:rPr>
              <a:t>e</a:t>
            </a:r>
            <a:r>
              <a:rPr kumimoji="1" lang="en-US" altLang="zh-CN" b="1" baseline="-25000" dirty="0" err="1">
                <a:solidFill>
                  <a:schemeClr val="bg2"/>
                </a:solidFill>
                <a:latin typeface="Times New Roman" pitchFamily="18" charset="0"/>
              </a:rPr>
              <a:t>i</a:t>
            </a:r>
            <a:r>
              <a:rPr kumimoji="1" lang="zh-CN" altLang="en-US" b="1" dirty="0">
                <a:solidFill>
                  <a:schemeClr val="bg2"/>
                </a:solidFill>
                <a:latin typeface="Times New Roman" pitchFamily="18" charset="0"/>
              </a:rPr>
              <a:t>与结点无序偶</a:t>
            </a:r>
            <a:r>
              <a:rPr kumimoji="1" lang="en-US" altLang="zh-CN" b="1" dirty="0">
                <a:solidFill>
                  <a:schemeClr val="bg2"/>
                </a:solidFill>
                <a:latin typeface="Times New Roman" pitchFamily="18" charset="0"/>
              </a:rPr>
              <a:t>(</a:t>
            </a:r>
            <a:r>
              <a:rPr kumimoji="1" lang="en-US" altLang="zh-CN" b="1" dirty="0" err="1">
                <a:solidFill>
                  <a:schemeClr val="bg2"/>
                </a:solidFill>
                <a:latin typeface="Times New Roman" pitchFamily="18" charset="0"/>
              </a:rPr>
              <a:t>v</a:t>
            </a:r>
            <a:r>
              <a:rPr kumimoji="1" lang="en-US" altLang="zh-CN" b="1" baseline="-25000" dirty="0" err="1">
                <a:solidFill>
                  <a:schemeClr val="bg2"/>
                </a:solidFill>
                <a:latin typeface="Times New Roman" pitchFamily="18" charset="0"/>
              </a:rPr>
              <a:t>j</a:t>
            </a:r>
            <a:r>
              <a:rPr kumimoji="1" lang="en-US" altLang="zh-CN" b="1" dirty="0">
                <a:solidFill>
                  <a:schemeClr val="bg2"/>
                </a:solidFill>
                <a:latin typeface="Times New Roman" pitchFamily="18" charset="0"/>
              </a:rPr>
              <a:t>, </a:t>
            </a:r>
            <a:r>
              <a:rPr kumimoji="1" lang="en-US" altLang="zh-CN" b="1" dirty="0" err="1">
                <a:solidFill>
                  <a:schemeClr val="bg2"/>
                </a:solidFill>
                <a:latin typeface="Times New Roman" pitchFamily="18" charset="0"/>
              </a:rPr>
              <a:t>v</a:t>
            </a:r>
            <a:r>
              <a:rPr kumimoji="1" lang="en-US" altLang="zh-CN" b="1" baseline="-25000" dirty="0" err="1">
                <a:solidFill>
                  <a:schemeClr val="bg2"/>
                </a:solidFill>
                <a:latin typeface="Times New Roman" pitchFamily="18" charset="0"/>
              </a:rPr>
              <a:t>k</a:t>
            </a:r>
            <a:r>
              <a:rPr kumimoji="1" lang="en-US" altLang="zh-CN" b="1" dirty="0">
                <a:solidFill>
                  <a:schemeClr val="bg2"/>
                </a:solidFill>
                <a:latin typeface="Times New Roman" pitchFamily="18" charset="0"/>
              </a:rPr>
              <a:t>)</a:t>
            </a:r>
            <a:r>
              <a:rPr kumimoji="1" lang="zh-CN" altLang="en-US" b="1" dirty="0">
                <a:solidFill>
                  <a:schemeClr val="bg2"/>
                </a:solidFill>
                <a:latin typeface="Times New Roman" pitchFamily="18" charset="0"/>
              </a:rPr>
              <a:t>相关联，则称该边为</a:t>
            </a:r>
            <a:r>
              <a:rPr kumimoji="1" lang="zh-CN" altLang="en-US" b="1" i="1" dirty="0">
                <a:solidFill>
                  <a:schemeClr val="folHlink"/>
                </a:solidFill>
                <a:latin typeface="Times New Roman" pitchFamily="18" charset="0"/>
              </a:rPr>
              <a:t>无向边</a:t>
            </a:r>
            <a:r>
              <a:rPr kumimoji="1" lang="zh-CN" altLang="en-US" b="1" dirty="0">
                <a:latin typeface="Times New Roman" pitchFamily="18" charset="0"/>
              </a:rPr>
              <a:t>。</a:t>
            </a:r>
          </a:p>
          <a:p>
            <a:pPr eaLnBrk="1" hangingPunct="1">
              <a:lnSpc>
                <a:spcPct val="130000"/>
              </a:lnSpc>
            </a:pPr>
            <a:r>
              <a:rPr kumimoji="1" lang="en-US" altLang="zh-CN" b="1" dirty="0">
                <a:solidFill>
                  <a:schemeClr val="bg2"/>
                </a:solidFill>
                <a:latin typeface="Times New Roman" pitchFamily="18" charset="0"/>
              </a:rPr>
              <a:t>(2)</a:t>
            </a:r>
            <a:r>
              <a:rPr kumimoji="1" lang="zh-CN" altLang="en-US" b="1" dirty="0">
                <a:solidFill>
                  <a:schemeClr val="bg2"/>
                </a:solidFill>
                <a:latin typeface="Times New Roman" pitchFamily="18" charset="0"/>
              </a:rPr>
              <a:t>若</a:t>
            </a:r>
            <a:r>
              <a:rPr kumimoji="1" lang="en-US" altLang="zh-CN" b="1" dirty="0" err="1">
                <a:solidFill>
                  <a:schemeClr val="bg2"/>
                </a:solidFill>
                <a:latin typeface="Times New Roman" pitchFamily="18" charset="0"/>
              </a:rPr>
              <a:t>e</a:t>
            </a:r>
            <a:r>
              <a:rPr kumimoji="1" lang="en-US" altLang="zh-CN" b="1" baseline="-25000" dirty="0" err="1">
                <a:solidFill>
                  <a:schemeClr val="bg2"/>
                </a:solidFill>
                <a:latin typeface="Times New Roman" pitchFamily="18" charset="0"/>
              </a:rPr>
              <a:t>i</a:t>
            </a:r>
            <a:r>
              <a:rPr kumimoji="1" lang="zh-CN" altLang="en-US" b="1" dirty="0">
                <a:solidFill>
                  <a:schemeClr val="bg2"/>
                </a:solidFill>
                <a:latin typeface="Times New Roman" pitchFamily="18" charset="0"/>
              </a:rPr>
              <a:t>与结点有序偶</a:t>
            </a:r>
            <a:r>
              <a:rPr kumimoji="1" lang="en-US" altLang="zh-CN" b="1" dirty="0">
                <a:solidFill>
                  <a:schemeClr val="bg2"/>
                </a:solidFill>
                <a:latin typeface="Times New Roman" pitchFamily="18" charset="0"/>
              </a:rPr>
              <a:t>&lt;</a:t>
            </a:r>
            <a:r>
              <a:rPr kumimoji="1" lang="en-US" altLang="zh-CN" b="1" dirty="0" err="1">
                <a:solidFill>
                  <a:schemeClr val="bg2"/>
                </a:solidFill>
                <a:latin typeface="Times New Roman" pitchFamily="18" charset="0"/>
              </a:rPr>
              <a:t>v</a:t>
            </a:r>
            <a:r>
              <a:rPr kumimoji="1" lang="en-US" altLang="zh-CN" b="1" baseline="-25000" dirty="0" err="1">
                <a:solidFill>
                  <a:schemeClr val="bg2"/>
                </a:solidFill>
                <a:latin typeface="Times New Roman" pitchFamily="18" charset="0"/>
              </a:rPr>
              <a:t>j</a:t>
            </a:r>
            <a:r>
              <a:rPr kumimoji="1" lang="en-US" altLang="zh-CN" b="1" dirty="0">
                <a:solidFill>
                  <a:schemeClr val="bg2"/>
                </a:solidFill>
                <a:latin typeface="Times New Roman" pitchFamily="18" charset="0"/>
              </a:rPr>
              <a:t>, </a:t>
            </a:r>
            <a:r>
              <a:rPr kumimoji="1" lang="en-US" altLang="zh-CN" b="1" dirty="0" err="1">
                <a:solidFill>
                  <a:schemeClr val="bg2"/>
                </a:solidFill>
                <a:latin typeface="Times New Roman" pitchFamily="18" charset="0"/>
              </a:rPr>
              <a:t>v</a:t>
            </a:r>
            <a:r>
              <a:rPr kumimoji="1" lang="en-US" altLang="zh-CN" b="1" baseline="-25000" dirty="0" err="1">
                <a:solidFill>
                  <a:schemeClr val="bg2"/>
                </a:solidFill>
                <a:latin typeface="Times New Roman" pitchFamily="18" charset="0"/>
              </a:rPr>
              <a:t>k</a:t>
            </a:r>
            <a:r>
              <a:rPr kumimoji="1" lang="en-US" altLang="zh-CN" b="1" dirty="0">
                <a:solidFill>
                  <a:schemeClr val="bg2"/>
                </a:solidFill>
                <a:latin typeface="Times New Roman" pitchFamily="18" charset="0"/>
              </a:rPr>
              <a:t>&gt;</a:t>
            </a:r>
            <a:r>
              <a:rPr kumimoji="1" lang="zh-CN" altLang="en-US" b="1" dirty="0">
                <a:solidFill>
                  <a:schemeClr val="bg2"/>
                </a:solidFill>
                <a:latin typeface="Times New Roman" pitchFamily="18" charset="0"/>
              </a:rPr>
              <a:t>相关联，则称该边为</a:t>
            </a:r>
            <a:r>
              <a:rPr kumimoji="1" lang="zh-CN" altLang="en-US" b="1" i="1" dirty="0">
                <a:solidFill>
                  <a:schemeClr val="folHlink"/>
                </a:solidFill>
                <a:latin typeface="Times New Roman" pitchFamily="18" charset="0"/>
              </a:rPr>
              <a:t>有向边</a:t>
            </a:r>
            <a:r>
              <a:rPr kumimoji="1" lang="zh-CN" altLang="en-US" b="1" dirty="0">
                <a:solidFill>
                  <a:schemeClr val="bg2"/>
                </a:solidFill>
                <a:latin typeface="Times New Roman" pitchFamily="18" charset="0"/>
              </a:rPr>
              <a:t>。其中</a:t>
            </a:r>
            <a:r>
              <a:rPr kumimoji="1" lang="en-US" altLang="zh-CN" b="1" dirty="0" err="1">
                <a:solidFill>
                  <a:schemeClr val="bg2"/>
                </a:solidFill>
                <a:latin typeface="Times New Roman" pitchFamily="18" charset="0"/>
              </a:rPr>
              <a:t>v</a:t>
            </a:r>
            <a:r>
              <a:rPr kumimoji="1" lang="en-US" altLang="zh-CN" b="1" baseline="-25000" dirty="0" err="1">
                <a:solidFill>
                  <a:schemeClr val="bg2"/>
                </a:solidFill>
                <a:latin typeface="Times New Roman" pitchFamily="18" charset="0"/>
              </a:rPr>
              <a:t>j</a:t>
            </a:r>
            <a:r>
              <a:rPr kumimoji="1" lang="zh-CN" altLang="en-US" b="1" dirty="0">
                <a:solidFill>
                  <a:schemeClr val="bg2"/>
                </a:solidFill>
                <a:latin typeface="Times New Roman" pitchFamily="18" charset="0"/>
              </a:rPr>
              <a:t>称为</a:t>
            </a:r>
            <a:r>
              <a:rPr kumimoji="1" lang="en-US" altLang="zh-CN" b="1" dirty="0" err="1">
                <a:solidFill>
                  <a:schemeClr val="bg2"/>
                </a:solidFill>
                <a:latin typeface="Times New Roman" pitchFamily="18" charset="0"/>
              </a:rPr>
              <a:t>e</a:t>
            </a:r>
            <a:r>
              <a:rPr kumimoji="1" lang="en-US" altLang="zh-CN" b="1" baseline="-25000" dirty="0" err="1">
                <a:solidFill>
                  <a:schemeClr val="bg2"/>
                </a:solidFill>
                <a:latin typeface="Times New Roman" pitchFamily="18" charset="0"/>
              </a:rPr>
              <a:t>i</a:t>
            </a:r>
            <a:r>
              <a:rPr kumimoji="1" lang="zh-CN" altLang="en-US" b="1" dirty="0">
                <a:solidFill>
                  <a:schemeClr val="bg2"/>
                </a:solidFill>
                <a:latin typeface="Times New Roman" pitchFamily="18" charset="0"/>
              </a:rPr>
              <a:t>的起始结点，</a:t>
            </a:r>
            <a:r>
              <a:rPr kumimoji="1" lang="en-US" altLang="zh-CN" b="1" dirty="0" err="1">
                <a:solidFill>
                  <a:schemeClr val="bg2"/>
                </a:solidFill>
                <a:latin typeface="Times New Roman" pitchFamily="18" charset="0"/>
              </a:rPr>
              <a:t>v</a:t>
            </a:r>
            <a:r>
              <a:rPr kumimoji="1" lang="en-US" altLang="zh-CN" b="1" baseline="-25000" dirty="0" err="1">
                <a:solidFill>
                  <a:schemeClr val="bg2"/>
                </a:solidFill>
                <a:latin typeface="Times New Roman" pitchFamily="18" charset="0"/>
              </a:rPr>
              <a:t>k</a:t>
            </a:r>
            <a:r>
              <a:rPr kumimoji="1" lang="zh-CN" altLang="en-US" b="1" dirty="0">
                <a:solidFill>
                  <a:schemeClr val="bg2"/>
                </a:solidFill>
                <a:latin typeface="Times New Roman" pitchFamily="18" charset="0"/>
              </a:rPr>
              <a:t>称为</a:t>
            </a:r>
            <a:r>
              <a:rPr kumimoji="1" lang="en-US" altLang="zh-CN" b="1" dirty="0" err="1">
                <a:solidFill>
                  <a:schemeClr val="bg2"/>
                </a:solidFill>
                <a:latin typeface="Times New Roman" pitchFamily="18" charset="0"/>
              </a:rPr>
              <a:t>e</a:t>
            </a:r>
            <a:r>
              <a:rPr kumimoji="1" lang="en-US" altLang="zh-CN" b="1" baseline="-25000" dirty="0" err="1">
                <a:solidFill>
                  <a:schemeClr val="bg2"/>
                </a:solidFill>
                <a:latin typeface="Times New Roman" pitchFamily="18" charset="0"/>
              </a:rPr>
              <a:t>i</a:t>
            </a:r>
            <a:r>
              <a:rPr kumimoji="1" lang="zh-CN" altLang="en-US" b="1" dirty="0">
                <a:solidFill>
                  <a:schemeClr val="bg2"/>
                </a:solidFill>
                <a:latin typeface="Times New Roman" pitchFamily="18" charset="0"/>
              </a:rPr>
              <a:t>的终止结点。</a:t>
            </a:r>
          </a:p>
        </p:txBody>
      </p:sp>
      <p:sp>
        <p:nvSpPr>
          <p:cNvPr id="7172" name="Rectangle 19"/>
          <p:cNvSpPr>
            <a:spLocks noChangeArrowheads="1"/>
          </p:cNvSpPr>
          <p:nvPr/>
        </p:nvSpPr>
        <p:spPr bwMode="auto">
          <a:xfrm>
            <a:off x="1071563" y="461963"/>
            <a:ext cx="69564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a:solidFill>
                  <a:srgbClr val="993300"/>
                </a:solidFill>
                <a:latin typeface="Times New Roman" pitchFamily="18" charset="0"/>
                <a:ea typeface="楷体_GB2312" pitchFamily="49" charset="-122"/>
              </a:rPr>
              <a:t>2</a:t>
            </a:r>
            <a:r>
              <a:rPr kumimoji="1" lang="zh-CN" altLang="en-US" sz="2800" b="1">
                <a:solidFill>
                  <a:srgbClr val="993300"/>
                </a:solidFill>
                <a:latin typeface="Times New Roman" pitchFamily="18" charset="0"/>
                <a:ea typeface="楷体_GB2312" pitchFamily="49" charset="-122"/>
              </a:rPr>
              <a:t>、无向图、有向图及其相关概念</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anim calcmode="lin" valueType="num">
                                      <p:cBhvr additive="base">
                                        <p:cTn id="7" dur="500" fill="hold"/>
                                        <p:tgtEl>
                                          <p:spTgt spid="717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7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anim calcmode="lin" valueType="num">
                                      <p:cBhvr additive="base">
                                        <p:cTn id="11" dur="500" fill="hold"/>
                                        <p:tgtEl>
                                          <p:spTgt spid="717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7171">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anim calcmode="lin" valueType="num">
                                      <p:cBhvr additive="base">
                                        <p:cTn id="15" dur="500" fill="hold"/>
                                        <p:tgtEl>
                                          <p:spTgt spid="7171">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717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2"/>
          <p:cNvSpPr>
            <a:spLocks noGrp="1"/>
          </p:cNvSpPr>
          <p:nvPr>
            <p:ph type="sldNum" sz="quarter" idx="11"/>
          </p:nvPr>
        </p:nvSpPr>
        <p:spPr/>
        <p:txBody>
          <a:bodyPr/>
          <a:lstStyle/>
          <a:p>
            <a:pPr>
              <a:defRPr/>
            </a:pPr>
            <a:fld id="{AE8A9F97-4CC1-48B2-9777-34D55B880D80}" type="slidenum">
              <a:rPr lang="en-US" altLang="zh-CN"/>
              <a:pPr>
                <a:defRPr/>
              </a:pPr>
              <a:t>6</a:t>
            </a:fld>
            <a:endParaRPr lang="en-US" altLang="zh-CN"/>
          </a:p>
        </p:txBody>
      </p:sp>
      <p:sp>
        <p:nvSpPr>
          <p:cNvPr id="8195" name="Text Box 4"/>
          <p:cNvSpPr txBox="1">
            <a:spLocks noChangeArrowheads="1"/>
          </p:cNvSpPr>
          <p:nvPr/>
        </p:nvSpPr>
        <p:spPr bwMode="auto">
          <a:xfrm>
            <a:off x="466725" y="3860800"/>
            <a:ext cx="1081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20000"/>
              </a:spcBef>
              <a:buClr>
                <a:schemeClr val="bg1"/>
              </a:buClr>
            </a:pPr>
            <a:r>
              <a:rPr kumimoji="1" lang="zh-CN" altLang="en-US" b="1" dirty="0">
                <a:solidFill>
                  <a:schemeClr val="hlink"/>
                </a:solidFill>
                <a:latin typeface="Times New Roman" pitchFamily="18" charset="0"/>
              </a:rPr>
              <a:t>例：</a:t>
            </a:r>
          </a:p>
        </p:txBody>
      </p:sp>
      <p:grpSp>
        <p:nvGrpSpPr>
          <p:cNvPr id="8196" name="Group 18"/>
          <p:cNvGrpSpPr>
            <a:grpSpLocks/>
          </p:cNvGrpSpPr>
          <p:nvPr/>
        </p:nvGrpSpPr>
        <p:grpSpPr bwMode="auto">
          <a:xfrm>
            <a:off x="2051050" y="3789363"/>
            <a:ext cx="4968875" cy="1144587"/>
            <a:chOff x="1292" y="845"/>
            <a:chExt cx="3130" cy="721"/>
          </a:xfrm>
        </p:grpSpPr>
        <p:grpSp>
          <p:nvGrpSpPr>
            <p:cNvPr id="8198" name="Group 6"/>
            <p:cNvGrpSpPr>
              <a:grpSpLocks/>
            </p:cNvGrpSpPr>
            <p:nvPr/>
          </p:nvGrpSpPr>
          <p:grpSpPr bwMode="auto">
            <a:xfrm>
              <a:off x="1292" y="845"/>
              <a:ext cx="782" cy="720"/>
              <a:chOff x="3960" y="13608"/>
              <a:chExt cx="1080" cy="1092"/>
            </a:xfrm>
          </p:grpSpPr>
          <p:sp>
            <p:nvSpPr>
              <p:cNvPr id="8207" name="Line 7"/>
              <p:cNvSpPr>
                <a:spLocks noChangeShapeType="1"/>
              </p:cNvSpPr>
              <p:nvPr/>
            </p:nvSpPr>
            <p:spPr bwMode="auto">
              <a:xfrm>
                <a:off x="3960" y="13608"/>
                <a:ext cx="1080" cy="312"/>
              </a:xfrm>
              <a:prstGeom prst="line">
                <a:avLst/>
              </a:prstGeom>
              <a:noFill/>
              <a:ln w="25400">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208" name="Line 8"/>
              <p:cNvSpPr>
                <a:spLocks noChangeShapeType="1"/>
              </p:cNvSpPr>
              <p:nvPr/>
            </p:nvSpPr>
            <p:spPr bwMode="auto">
              <a:xfrm>
                <a:off x="3960" y="13608"/>
                <a:ext cx="0" cy="1092"/>
              </a:xfrm>
              <a:prstGeom prst="line">
                <a:avLst/>
              </a:prstGeom>
              <a:noFill/>
              <a:ln w="25400">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209" name="Line 9"/>
              <p:cNvSpPr>
                <a:spLocks noChangeShapeType="1"/>
              </p:cNvSpPr>
              <p:nvPr/>
            </p:nvSpPr>
            <p:spPr bwMode="auto">
              <a:xfrm flipV="1">
                <a:off x="3960" y="13920"/>
                <a:ext cx="1080" cy="780"/>
              </a:xfrm>
              <a:prstGeom prst="line">
                <a:avLst/>
              </a:prstGeom>
              <a:noFill/>
              <a:ln w="25400">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199" name="Group 10"/>
            <p:cNvGrpSpPr>
              <a:grpSpLocks/>
            </p:cNvGrpSpPr>
            <p:nvPr/>
          </p:nvGrpSpPr>
          <p:grpSpPr bwMode="auto">
            <a:xfrm>
              <a:off x="3771" y="845"/>
              <a:ext cx="651" cy="721"/>
              <a:chOff x="6660" y="13608"/>
              <a:chExt cx="900" cy="936"/>
            </a:xfrm>
          </p:grpSpPr>
          <p:sp>
            <p:nvSpPr>
              <p:cNvPr id="8204" name="Line 11"/>
              <p:cNvSpPr>
                <a:spLocks noChangeShapeType="1"/>
              </p:cNvSpPr>
              <p:nvPr/>
            </p:nvSpPr>
            <p:spPr bwMode="auto">
              <a:xfrm>
                <a:off x="6660" y="13608"/>
                <a:ext cx="0" cy="936"/>
              </a:xfrm>
              <a:prstGeom prst="line">
                <a:avLst/>
              </a:prstGeom>
              <a:noFill/>
              <a:ln w="25400">
                <a:solidFill>
                  <a:srgbClr val="000000"/>
                </a:solidFill>
                <a:round/>
                <a:headEnd type="oval" w="lg" len="lg"/>
                <a:tailEnd type="arrow" w="lg" len="lg"/>
              </a:ln>
              <a:extLst>
                <a:ext uri="{909E8E84-426E-40DD-AFC4-6F175D3DCCD1}">
                  <a14:hiddenFill xmlns:a14="http://schemas.microsoft.com/office/drawing/2010/main">
                    <a:noFill/>
                  </a14:hiddenFill>
                </a:ext>
              </a:extLst>
            </p:spPr>
            <p:txBody>
              <a:bodyPr/>
              <a:lstStyle/>
              <a:p>
                <a:endParaRPr lang="zh-CN" altLang="en-US"/>
              </a:p>
            </p:txBody>
          </p:sp>
          <p:sp>
            <p:nvSpPr>
              <p:cNvPr id="8205" name="Line 12"/>
              <p:cNvSpPr>
                <a:spLocks noChangeShapeType="1"/>
              </p:cNvSpPr>
              <p:nvPr/>
            </p:nvSpPr>
            <p:spPr bwMode="auto">
              <a:xfrm flipV="1">
                <a:off x="6660" y="13920"/>
                <a:ext cx="900" cy="624"/>
              </a:xfrm>
              <a:prstGeom prst="line">
                <a:avLst/>
              </a:prstGeom>
              <a:noFill/>
              <a:ln w="25400">
                <a:solidFill>
                  <a:srgbClr val="000000"/>
                </a:solidFill>
                <a:round/>
                <a:headEnd type="oval" w="lg" len="lg"/>
                <a:tailEnd type="arrow" w="lg" len="lg"/>
              </a:ln>
              <a:extLst>
                <a:ext uri="{909E8E84-426E-40DD-AFC4-6F175D3DCCD1}">
                  <a14:hiddenFill xmlns:a14="http://schemas.microsoft.com/office/drawing/2010/main">
                    <a:noFill/>
                  </a14:hiddenFill>
                </a:ext>
              </a:extLst>
            </p:spPr>
            <p:txBody>
              <a:bodyPr/>
              <a:lstStyle/>
              <a:p>
                <a:endParaRPr lang="zh-CN" altLang="en-US"/>
              </a:p>
            </p:txBody>
          </p:sp>
          <p:sp>
            <p:nvSpPr>
              <p:cNvPr id="8206" name="Line 13"/>
              <p:cNvSpPr>
                <a:spLocks noChangeShapeType="1"/>
              </p:cNvSpPr>
              <p:nvPr/>
            </p:nvSpPr>
            <p:spPr bwMode="auto">
              <a:xfrm>
                <a:off x="6660" y="13608"/>
                <a:ext cx="900" cy="312"/>
              </a:xfrm>
              <a:prstGeom prst="line">
                <a:avLst/>
              </a:prstGeom>
              <a:noFill/>
              <a:ln w="25400">
                <a:solidFill>
                  <a:srgbClr val="000000"/>
                </a:solidFill>
                <a:round/>
                <a:headEnd type="arrow" w="lg" len="lg"/>
                <a:tailEnd type="oval" w="lg" len="lg"/>
              </a:ln>
              <a:extLst>
                <a:ext uri="{909E8E84-426E-40DD-AFC4-6F175D3DCCD1}">
                  <a14:hiddenFill xmlns:a14="http://schemas.microsoft.com/office/drawing/2010/main">
                    <a:noFill/>
                  </a14:hiddenFill>
                </a:ext>
              </a:extLst>
            </p:spPr>
            <p:txBody>
              <a:bodyPr/>
              <a:lstStyle/>
              <a:p>
                <a:endParaRPr lang="zh-CN" altLang="en-US"/>
              </a:p>
            </p:txBody>
          </p:sp>
        </p:grpSp>
        <p:grpSp>
          <p:nvGrpSpPr>
            <p:cNvPr id="8200" name="Group 14"/>
            <p:cNvGrpSpPr>
              <a:grpSpLocks/>
            </p:cNvGrpSpPr>
            <p:nvPr/>
          </p:nvGrpSpPr>
          <p:grpSpPr bwMode="auto">
            <a:xfrm>
              <a:off x="2653" y="845"/>
              <a:ext cx="782" cy="720"/>
              <a:chOff x="3960" y="13608"/>
              <a:chExt cx="1080" cy="1092"/>
            </a:xfrm>
          </p:grpSpPr>
          <p:sp>
            <p:nvSpPr>
              <p:cNvPr id="8201" name="Line 15"/>
              <p:cNvSpPr>
                <a:spLocks noChangeShapeType="1"/>
              </p:cNvSpPr>
              <p:nvPr/>
            </p:nvSpPr>
            <p:spPr bwMode="auto">
              <a:xfrm>
                <a:off x="3960" y="13608"/>
                <a:ext cx="1080" cy="312"/>
              </a:xfrm>
              <a:prstGeom prst="line">
                <a:avLst/>
              </a:prstGeom>
              <a:noFill/>
              <a:ln w="25400">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202" name="Line 16"/>
              <p:cNvSpPr>
                <a:spLocks noChangeShapeType="1"/>
              </p:cNvSpPr>
              <p:nvPr/>
            </p:nvSpPr>
            <p:spPr bwMode="auto">
              <a:xfrm>
                <a:off x="3960" y="13608"/>
                <a:ext cx="0" cy="1092"/>
              </a:xfrm>
              <a:prstGeom prst="line">
                <a:avLst/>
              </a:prstGeom>
              <a:noFill/>
              <a:ln w="25400">
                <a:solidFill>
                  <a:srgbClr val="000000"/>
                </a:solidFill>
                <a:round/>
                <a:headEnd type="oval" w="lg" len="lg"/>
                <a:tailEnd type="oval" w="lg" len="lg"/>
              </a:ln>
              <a:extLst>
                <a:ext uri="{909E8E84-426E-40DD-AFC4-6F175D3DCCD1}">
                  <a14:hiddenFill xmlns:a14="http://schemas.microsoft.com/office/drawing/2010/main">
                    <a:noFill/>
                  </a14:hiddenFill>
                </a:ext>
              </a:extLst>
            </p:spPr>
            <p:txBody>
              <a:bodyPr/>
              <a:lstStyle/>
              <a:p>
                <a:endParaRPr lang="zh-CN" altLang="en-US"/>
              </a:p>
            </p:txBody>
          </p:sp>
          <p:sp>
            <p:nvSpPr>
              <p:cNvPr id="8203" name="Line 17"/>
              <p:cNvSpPr>
                <a:spLocks noChangeShapeType="1"/>
              </p:cNvSpPr>
              <p:nvPr/>
            </p:nvSpPr>
            <p:spPr bwMode="auto">
              <a:xfrm flipV="1">
                <a:off x="3960" y="13920"/>
                <a:ext cx="1080" cy="780"/>
              </a:xfrm>
              <a:prstGeom prst="line">
                <a:avLst/>
              </a:prstGeom>
              <a:noFill/>
              <a:ln w="25400">
                <a:solidFill>
                  <a:srgbClr val="000000"/>
                </a:solidFill>
                <a:round/>
                <a:headEnd type="arrow" w="lg" len="lg"/>
                <a:tailEnd type="oval" w="lg" len="lg"/>
              </a:ln>
              <a:extLst>
                <a:ext uri="{909E8E84-426E-40DD-AFC4-6F175D3DCCD1}">
                  <a14:hiddenFill xmlns:a14="http://schemas.microsoft.com/office/drawing/2010/main">
                    <a:noFill/>
                  </a14:hiddenFill>
                </a:ext>
              </a:extLst>
            </p:spPr>
            <p:txBody>
              <a:bodyPr/>
              <a:lstStyle/>
              <a:p>
                <a:endParaRPr lang="zh-CN" altLang="en-US"/>
              </a:p>
            </p:txBody>
          </p:sp>
        </p:grpSp>
      </p:grpSp>
      <p:sp>
        <p:nvSpPr>
          <p:cNvPr id="8197" name="Rectangle 20"/>
          <p:cNvSpPr>
            <a:spLocks noChangeArrowheads="1"/>
          </p:cNvSpPr>
          <p:nvPr/>
        </p:nvSpPr>
        <p:spPr bwMode="auto">
          <a:xfrm>
            <a:off x="395288" y="1196975"/>
            <a:ext cx="8277225"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en-US" altLang="zh-CN" b="1">
                <a:solidFill>
                  <a:srgbClr val="008000"/>
                </a:solidFill>
                <a:latin typeface="Times New Roman" pitchFamily="18" charset="0"/>
              </a:rPr>
              <a:t>2)</a:t>
            </a:r>
            <a:r>
              <a:rPr kumimoji="1" lang="zh-CN" altLang="en-US" b="1">
                <a:solidFill>
                  <a:srgbClr val="008000"/>
                </a:solidFill>
                <a:latin typeface="Times New Roman" pitchFamily="18" charset="0"/>
              </a:rPr>
              <a:t>图的概念</a:t>
            </a:r>
          </a:p>
          <a:p>
            <a:pPr>
              <a:lnSpc>
                <a:spcPct val="130000"/>
              </a:lnSpc>
            </a:pPr>
            <a:r>
              <a:rPr kumimoji="1" lang="en-US" altLang="zh-CN" b="1">
                <a:solidFill>
                  <a:schemeClr val="bg2"/>
                </a:solidFill>
                <a:latin typeface="Times New Roman" pitchFamily="18" charset="0"/>
              </a:rPr>
              <a:t>(1)</a:t>
            </a:r>
            <a:r>
              <a:rPr kumimoji="1" lang="zh-CN" altLang="en-US" b="1">
                <a:solidFill>
                  <a:schemeClr val="bg2"/>
                </a:solidFill>
                <a:latin typeface="Times New Roman" pitchFamily="18" charset="0"/>
              </a:rPr>
              <a:t>每一条边都是无向边的图称</a:t>
            </a:r>
            <a:r>
              <a:rPr kumimoji="1" lang="zh-CN" altLang="en-US" b="1" i="1">
                <a:solidFill>
                  <a:schemeClr val="folHlink"/>
                </a:solidFill>
                <a:latin typeface="Times New Roman" pitchFamily="18" charset="0"/>
              </a:rPr>
              <a:t>无向图</a:t>
            </a:r>
            <a:r>
              <a:rPr kumimoji="1" lang="zh-CN" altLang="en-US" b="1">
                <a:solidFill>
                  <a:schemeClr val="bg2"/>
                </a:solidFill>
                <a:latin typeface="Times New Roman" pitchFamily="18" charset="0"/>
              </a:rPr>
              <a:t>。</a:t>
            </a:r>
          </a:p>
          <a:p>
            <a:pPr>
              <a:lnSpc>
                <a:spcPct val="130000"/>
              </a:lnSpc>
            </a:pPr>
            <a:r>
              <a:rPr kumimoji="1" lang="en-US" altLang="zh-CN" b="1">
                <a:solidFill>
                  <a:schemeClr val="bg2"/>
                </a:solidFill>
                <a:latin typeface="Times New Roman" pitchFamily="18" charset="0"/>
              </a:rPr>
              <a:t>(2)</a:t>
            </a:r>
            <a:r>
              <a:rPr kumimoji="1" lang="zh-CN" altLang="en-US" b="1">
                <a:solidFill>
                  <a:schemeClr val="bg2"/>
                </a:solidFill>
                <a:latin typeface="Times New Roman" pitchFamily="18" charset="0"/>
              </a:rPr>
              <a:t>每一条边都是有向边的图称</a:t>
            </a:r>
            <a:r>
              <a:rPr kumimoji="1" lang="zh-CN" altLang="en-US" b="1" i="1">
                <a:solidFill>
                  <a:schemeClr val="folHlink"/>
                </a:solidFill>
                <a:latin typeface="Times New Roman" pitchFamily="18" charset="0"/>
              </a:rPr>
              <a:t>有向图</a:t>
            </a:r>
            <a:r>
              <a:rPr kumimoji="1" lang="zh-CN" altLang="en-US" b="1">
                <a:solidFill>
                  <a:schemeClr val="bg2"/>
                </a:solidFill>
                <a:latin typeface="Times New Roman" pitchFamily="18" charset="0"/>
              </a:rPr>
              <a:t>。</a:t>
            </a:r>
          </a:p>
          <a:p>
            <a:pPr>
              <a:lnSpc>
                <a:spcPct val="130000"/>
              </a:lnSpc>
            </a:pPr>
            <a:r>
              <a:rPr lang="en-US" altLang="zh-CN" b="1">
                <a:solidFill>
                  <a:schemeClr val="bg2"/>
                </a:solidFill>
                <a:latin typeface="Times New Roman" pitchFamily="18" charset="0"/>
              </a:rPr>
              <a:t>(3)</a:t>
            </a:r>
            <a:r>
              <a:rPr lang="zh-CN" altLang="en-US" b="1">
                <a:solidFill>
                  <a:schemeClr val="bg2"/>
                </a:solidFill>
                <a:latin typeface="Times New Roman" pitchFamily="18" charset="0"/>
              </a:rPr>
              <a:t>若</a:t>
            </a:r>
            <a:r>
              <a:rPr kumimoji="1" lang="zh-CN" altLang="en-US" b="1">
                <a:solidFill>
                  <a:schemeClr val="bg2"/>
                </a:solidFill>
                <a:latin typeface="Times New Roman" pitchFamily="18" charset="0"/>
              </a:rPr>
              <a:t>图中一些边是有向边，另一些边是无向边，则称这个图是</a:t>
            </a:r>
            <a:r>
              <a:rPr kumimoji="1" lang="zh-CN" altLang="en-US" b="1" i="1">
                <a:solidFill>
                  <a:schemeClr val="folHlink"/>
                </a:solidFill>
                <a:latin typeface="Times New Roman" pitchFamily="18" charset="0"/>
              </a:rPr>
              <a:t>混合图</a:t>
            </a:r>
            <a:r>
              <a:rPr kumimoji="1" lang="zh-CN" altLang="en-US" b="1">
                <a:solidFill>
                  <a:schemeClr val="bg2"/>
                </a:solidFill>
                <a:latin typeface="Times New Roman" pitchFamily="18" charset="0"/>
              </a:rPr>
              <a:t>。</a:t>
            </a:r>
          </a:p>
        </p:txBody>
      </p:sp>
    </p:spTree>
  </p:cSld>
  <p:clrMapOvr>
    <a:masterClrMapping/>
  </p:clrMapOvr>
  <p:transition spd="slow">
    <p:random/>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2"/>
          <p:cNvSpPr>
            <a:spLocks noGrp="1"/>
          </p:cNvSpPr>
          <p:nvPr>
            <p:ph type="sldNum" sz="quarter" idx="11"/>
          </p:nvPr>
        </p:nvSpPr>
        <p:spPr/>
        <p:txBody>
          <a:bodyPr/>
          <a:lstStyle/>
          <a:p>
            <a:pPr>
              <a:defRPr/>
            </a:pPr>
            <a:fld id="{F26E22EA-3450-4F0C-9401-35C6E593671E}" type="slidenum">
              <a:rPr lang="en-US" altLang="zh-CN"/>
              <a:pPr>
                <a:defRPr/>
              </a:pPr>
              <a:t>7</a:t>
            </a:fld>
            <a:endParaRPr lang="en-US" altLang="zh-CN"/>
          </a:p>
        </p:txBody>
      </p:sp>
      <p:sp>
        <p:nvSpPr>
          <p:cNvPr id="9219" name="Text Box 2"/>
          <p:cNvSpPr txBox="1">
            <a:spLocks noChangeArrowheads="1"/>
          </p:cNvSpPr>
          <p:nvPr/>
        </p:nvSpPr>
        <p:spPr bwMode="auto">
          <a:xfrm>
            <a:off x="466725" y="1049338"/>
            <a:ext cx="8277225"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25000"/>
              </a:lnSpc>
            </a:pPr>
            <a:r>
              <a:rPr kumimoji="1" lang="en-US" altLang="zh-CN" b="1" dirty="0" smtClean="0">
                <a:solidFill>
                  <a:srgbClr val="008000"/>
                </a:solidFill>
                <a:latin typeface="Times New Roman" pitchFamily="18" charset="0"/>
              </a:rPr>
              <a:t>3)</a:t>
            </a:r>
            <a:r>
              <a:rPr kumimoji="1" lang="zh-CN" altLang="en-US" b="1" dirty="0">
                <a:solidFill>
                  <a:srgbClr val="008000"/>
                </a:solidFill>
                <a:latin typeface="Times New Roman" pitchFamily="18" charset="0"/>
              </a:rPr>
              <a:t>特殊的点</a:t>
            </a:r>
          </a:p>
          <a:p>
            <a:pPr eaLnBrk="1" hangingPunct="1">
              <a:lnSpc>
                <a:spcPct val="125000"/>
              </a:lnSpc>
            </a:pPr>
            <a:r>
              <a:rPr kumimoji="1" lang="en-US" altLang="zh-CN" b="1" dirty="0">
                <a:solidFill>
                  <a:schemeClr val="bg2"/>
                </a:solidFill>
                <a:latin typeface="Times New Roman" pitchFamily="18" charset="0"/>
              </a:rPr>
              <a:t>(1)</a:t>
            </a:r>
            <a:r>
              <a:rPr kumimoji="1" lang="zh-CN" altLang="en-US" b="1" dirty="0">
                <a:solidFill>
                  <a:schemeClr val="bg2"/>
                </a:solidFill>
                <a:latin typeface="Times New Roman" pitchFamily="18" charset="0"/>
              </a:rPr>
              <a:t>若两个结点由一条有向边或一条无向边关联，则这两个结点称为是</a:t>
            </a:r>
            <a:r>
              <a:rPr kumimoji="1" lang="zh-CN" altLang="en-US" b="1" i="1" dirty="0">
                <a:solidFill>
                  <a:schemeClr val="folHlink"/>
                </a:solidFill>
                <a:latin typeface="Times New Roman" pitchFamily="18" charset="0"/>
              </a:rPr>
              <a:t>邻接点</a:t>
            </a:r>
            <a:r>
              <a:rPr kumimoji="1" lang="zh-CN" altLang="en-US" b="1" dirty="0">
                <a:solidFill>
                  <a:schemeClr val="bg2"/>
                </a:solidFill>
                <a:latin typeface="Times New Roman" pitchFamily="18" charset="0"/>
              </a:rPr>
              <a:t>。</a:t>
            </a:r>
          </a:p>
          <a:p>
            <a:pPr eaLnBrk="1" hangingPunct="1">
              <a:lnSpc>
                <a:spcPct val="125000"/>
              </a:lnSpc>
            </a:pPr>
            <a:r>
              <a:rPr kumimoji="1" lang="en-US" altLang="zh-CN" b="1" dirty="0">
                <a:solidFill>
                  <a:schemeClr val="bg2"/>
                </a:solidFill>
                <a:latin typeface="Times New Roman" pitchFamily="18" charset="0"/>
              </a:rPr>
              <a:t>(2)</a:t>
            </a:r>
            <a:r>
              <a:rPr kumimoji="1" lang="zh-CN" altLang="en-US" b="1" dirty="0">
                <a:solidFill>
                  <a:schemeClr val="bg2"/>
                </a:solidFill>
                <a:latin typeface="Times New Roman" pitchFamily="18" charset="0"/>
              </a:rPr>
              <a:t>不与任何结点相邻接的结点，称为</a:t>
            </a:r>
            <a:r>
              <a:rPr kumimoji="1" lang="zh-CN" altLang="en-US" b="1" i="1" dirty="0">
                <a:solidFill>
                  <a:schemeClr val="folHlink"/>
                </a:solidFill>
                <a:latin typeface="Times New Roman" pitchFamily="18" charset="0"/>
              </a:rPr>
              <a:t>孤立结点</a:t>
            </a:r>
            <a:r>
              <a:rPr kumimoji="1" lang="zh-CN" altLang="en-US" b="1" dirty="0">
                <a:solidFill>
                  <a:schemeClr val="bg2"/>
                </a:solidFill>
                <a:latin typeface="Times New Roman" pitchFamily="18" charset="0"/>
              </a:rPr>
              <a:t>。</a:t>
            </a:r>
          </a:p>
        </p:txBody>
      </p:sp>
      <p:grpSp>
        <p:nvGrpSpPr>
          <p:cNvPr id="8197" name="Group 5"/>
          <p:cNvGrpSpPr>
            <a:grpSpLocks/>
          </p:cNvGrpSpPr>
          <p:nvPr/>
        </p:nvGrpSpPr>
        <p:grpSpPr bwMode="auto">
          <a:xfrm>
            <a:off x="6516688" y="2636912"/>
            <a:ext cx="2374900" cy="3265487"/>
            <a:chOff x="3697" y="2024"/>
            <a:chExt cx="1496" cy="2057"/>
          </a:xfrm>
        </p:grpSpPr>
        <p:grpSp>
          <p:nvGrpSpPr>
            <p:cNvPr id="9223" name="Group 6"/>
            <p:cNvGrpSpPr>
              <a:grpSpLocks/>
            </p:cNvGrpSpPr>
            <p:nvPr/>
          </p:nvGrpSpPr>
          <p:grpSpPr bwMode="auto">
            <a:xfrm>
              <a:off x="3878" y="2340"/>
              <a:ext cx="998" cy="1498"/>
              <a:chOff x="4241" y="2250"/>
              <a:chExt cx="998" cy="1498"/>
            </a:xfrm>
          </p:grpSpPr>
          <p:sp>
            <p:nvSpPr>
              <p:cNvPr id="9231" name="Oval 7"/>
              <p:cNvSpPr>
                <a:spLocks noChangeArrowheads="1"/>
              </p:cNvSpPr>
              <p:nvPr/>
            </p:nvSpPr>
            <p:spPr bwMode="auto">
              <a:xfrm>
                <a:off x="4468" y="3339"/>
                <a:ext cx="590" cy="409"/>
              </a:xfrm>
              <a:prstGeom prst="ellipse">
                <a:avLst/>
              </a:prstGeom>
              <a:noFill/>
              <a:ln w="38100" algn="ctr">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2" name="Oval 8"/>
              <p:cNvSpPr>
                <a:spLocks noChangeArrowheads="1"/>
              </p:cNvSpPr>
              <p:nvPr/>
            </p:nvSpPr>
            <p:spPr bwMode="auto">
              <a:xfrm>
                <a:off x="4649" y="2250"/>
                <a:ext cx="136" cy="137"/>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3" name="Oval 9"/>
              <p:cNvSpPr>
                <a:spLocks noChangeArrowheads="1"/>
              </p:cNvSpPr>
              <p:nvPr/>
            </p:nvSpPr>
            <p:spPr bwMode="auto">
              <a:xfrm>
                <a:off x="4241" y="2795"/>
                <a:ext cx="136" cy="137"/>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4" name="Oval 10"/>
              <p:cNvSpPr>
                <a:spLocks noChangeArrowheads="1"/>
              </p:cNvSpPr>
              <p:nvPr/>
            </p:nvSpPr>
            <p:spPr bwMode="auto">
              <a:xfrm>
                <a:off x="4694" y="3249"/>
                <a:ext cx="136" cy="137"/>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5" name="Oval 11"/>
              <p:cNvSpPr>
                <a:spLocks noChangeArrowheads="1"/>
              </p:cNvSpPr>
              <p:nvPr/>
            </p:nvSpPr>
            <p:spPr bwMode="auto">
              <a:xfrm>
                <a:off x="5103" y="2795"/>
                <a:ext cx="136" cy="137"/>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236" name="Line 12"/>
              <p:cNvSpPr>
                <a:spLocks noChangeShapeType="1"/>
              </p:cNvSpPr>
              <p:nvPr/>
            </p:nvSpPr>
            <p:spPr bwMode="auto">
              <a:xfrm flipH="1">
                <a:off x="4332" y="2341"/>
                <a:ext cx="317" cy="454"/>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237" name="Line 13"/>
              <p:cNvSpPr>
                <a:spLocks noChangeShapeType="1"/>
              </p:cNvSpPr>
              <p:nvPr/>
            </p:nvSpPr>
            <p:spPr bwMode="auto">
              <a:xfrm>
                <a:off x="4286" y="2931"/>
                <a:ext cx="408" cy="363"/>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224" name="Text Box 14"/>
            <p:cNvSpPr txBox="1">
              <a:spLocks noChangeArrowheads="1"/>
            </p:cNvSpPr>
            <p:nvPr/>
          </p:nvSpPr>
          <p:spPr bwMode="auto">
            <a:xfrm>
              <a:off x="3697" y="2931"/>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a</a:t>
              </a:r>
            </a:p>
          </p:txBody>
        </p:sp>
        <p:sp>
          <p:nvSpPr>
            <p:cNvPr id="9225" name="Text Box 15"/>
            <p:cNvSpPr txBox="1">
              <a:spLocks noChangeArrowheads="1"/>
            </p:cNvSpPr>
            <p:nvPr/>
          </p:nvSpPr>
          <p:spPr bwMode="auto">
            <a:xfrm>
              <a:off x="4286" y="3430"/>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b</a:t>
              </a:r>
            </a:p>
          </p:txBody>
        </p:sp>
        <p:sp>
          <p:nvSpPr>
            <p:cNvPr id="9226" name="Text Box 16"/>
            <p:cNvSpPr txBox="1">
              <a:spLocks noChangeArrowheads="1"/>
            </p:cNvSpPr>
            <p:nvPr/>
          </p:nvSpPr>
          <p:spPr bwMode="auto">
            <a:xfrm>
              <a:off x="4876" y="2795"/>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c</a:t>
              </a:r>
            </a:p>
          </p:txBody>
        </p:sp>
        <p:sp>
          <p:nvSpPr>
            <p:cNvPr id="9227" name="Text Box 17"/>
            <p:cNvSpPr txBox="1">
              <a:spLocks noChangeArrowheads="1"/>
            </p:cNvSpPr>
            <p:nvPr/>
          </p:nvSpPr>
          <p:spPr bwMode="auto">
            <a:xfrm>
              <a:off x="4241" y="2024"/>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d</a:t>
              </a:r>
            </a:p>
          </p:txBody>
        </p:sp>
        <p:sp>
          <p:nvSpPr>
            <p:cNvPr id="9228" name="Text Box 18"/>
            <p:cNvSpPr txBox="1">
              <a:spLocks noChangeArrowheads="1"/>
            </p:cNvSpPr>
            <p:nvPr/>
          </p:nvSpPr>
          <p:spPr bwMode="auto">
            <a:xfrm>
              <a:off x="3878" y="2432"/>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rgbClr val="0000CC"/>
                  </a:solidFill>
                  <a:latin typeface="Times New Roman" pitchFamily="18" charset="0"/>
                </a:rPr>
                <a:t>e</a:t>
              </a:r>
              <a:r>
                <a:rPr kumimoji="1" lang="en-US" altLang="zh-CN" b="1" baseline="-25000">
                  <a:solidFill>
                    <a:srgbClr val="0000CC"/>
                  </a:solidFill>
                  <a:latin typeface="Times New Roman" pitchFamily="18" charset="0"/>
                </a:rPr>
                <a:t>1</a:t>
              </a:r>
            </a:p>
          </p:txBody>
        </p:sp>
        <p:sp>
          <p:nvSpPr>
            <p:cNvPr id="9229" name="Text Box 19"/>
            <p:cNvSpPr txBox="1">
              <a:spLocks noChangeArrowheads="1"/>
            </p:cNvSpPr>
            <p:nvPr/>
          </p:nvSpPr>
          <p:spPr bwMode="auto">
            <a:xfrm>
              <a:off x="4059" y="2976"/>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rgbClr val="0000CC"/>
                  </a:solidFill>
                  <a:latin typeface="Times New Roman" pitchFamily="18" charset="0"/>
                </a:rPr>
                <a:t>e</a:t>
              </a:r>
              <a:r>
                <a:rPr kumimoji="1" lang="en-US" altLang="zh-CN" b="1" baseline="-25000">
                  <a:solidFill>
                    <a:srgbClr val="0000CC"/>
                  </a:solidFill>
                  <a:latin typeface="Times New Roman" pitchFamily="18" charset="0"/>
                </a:rPr>
                <a:t>2</a:t>
              </a:r>
            </a:p>
          </p:txBody>
        </p:sp>
        <p:sp>
          <p:nvSpPr>
            <p:cNvPr id="9230" name="Text Box 20"/>
            <p:cNvSpPr txBox="1">
              <a:spLocks noChangeArrowheads="1"/>
            </p:cNvSpPr>
            <p:nvPr/>
          </p:nvSpPr>
          <p:spPr bwMode="auto">
            <a:xfrm>
              <a:off x="4287" y="3793"/>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rgbClr val="0000CC"/>
                  </a:solidFill>
                  <a:latin typeface="Times New Roman" pitchFamily="18" charset="0"/>
                </a:rPr>
                <a:t>e</a:t>
              </a:r>
              <a:r>
                <a:rPr kumimoji="1" lang="en-US" altLang="zh-CN" b="1" baseline="-25000">
                  <a:solidFill>
                    <a:srgbClr val="0000CC"/>
                  </a:solidFill>
                  <a:latin typeface="Times New Roman" pitchFamily="18" charset="0"/>
                </a:rPr>
                <a:t>3</a:t>
              </a:r>
            </a:p>
          </p:txBody>
        </p:sp>
      </p:grpSp>
      <p:sp>
        <p:nvSpPr>
          <p:cNvPr id="8213" name="Text Box 21"/>
          <p:cNvSpPr txBox="1">
            <a:spLocks noChangeArrowheads="1"/>
          </p:cNvSpPr>
          <p:nvPr/>
        </p:nvSpPr>
        <p:spPr bwMode="auto">
          <a:xfrm>
            <a:off x="466725" y="4321249"/>
            <a:ext cx="6335713"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25000"/>
              </a:lnSpc>
            </a:pPr>
            <a:r>
              <a:rPr kumimoji="1" lang="en-US" altLang="zh-CN" b="1" dirty="0" smtClean="0">
                <a:solidFill>
                  <a:srgbClr val="008000"/>
                </a:solidFill>
                <a:latin typeface="Times New Roman" pitchFamily="18" charset="0"/>
              </a:rPr>
              <a:t>5)</a:t>
            </a:r>
            <a:r>
              <a:rPr kumimoji="1" lang="zh-CN" altLang="en-US" b="1" dirty="0">
                <a:solidFill>
                  <a:srgbClr val="008000"/>
                </a:solidFill>
                <a:latin typeface="Times New Roman" pitchFamily="18" charset="0"/>
              </a:rPr>
              <a:t>特殊的图</a:t>
            </a:r>
          </a:p>
          <a:p>
            <a:pPr eaLnBrk="1" hangingPunct="1">
              <a:lnSpc>
                <a:spcPct val="125000"/>
              </a:lnSpc>
            </a:pPr>
            <a:r>
              <a:rPr kumimoji="1" lang="en-US" altLang="zh-CN" b="1" dirty="0">
                <a:solidFill>
                  <a:schemeClr val="bg2"/>
                </a:solidFill>
                <a:latin typeface="Times New Roman" pitchFamily="18" charset="0"/>
              </a:rPr>
              <a:t>(1)</a:t>
            </a:r>
            <a:r>
              <a:rPr kumimoji="1" lang="zh-CN" altLang="en-US" b="1" dirty="0">
                <a:solidFill>
                  <a:schemeClr val="bg2"/>
                </a:solidFill>
                <a:latin typeface="Times New Roman" pitchFamily="18" charset="0"/>
              </a:rPr>
              <a:t>仅由孤立结点组成的图称为</a:t>
            </a:r>
            <a:r>
              <a:rPr kumimoji="1" lang="zh-CN" altLang="en-US" b="1" i="1" dirty="0">
                <a:solidFill>
                  <a:schemeClr val="folHlink"/>
                </a:solidFill>
                <a:latin typeface="Times New Roman" pitchFamily="18" charset="0"/>
              </a:rPr>
              <a:t>零图</a:t>
            </a:r>
            <a:r>
              <a:rPr kumimoji="1" lang="zh-CN" altLang="en-US" b="1" dirty="0">
                <a:solidFill>
                  <a:schemeClr val="bg2"/>
                </a:solidFill>
                <a:latin typeface="Times New Roman" pitchFamily="18" charset="0"/>
              </a:rPr>
              <a:t>。</a:t>
            </a:r>
          </a:p>
          <a:p>
            <a:pPr eaLnBrk="1" hangingPunct="1">
              <a:lnSpc>
                <a:spcPct val="125000"/>
              </a:lnSpc>
            </a:pPr>
            <a:r>
              <a:rPr kumimoji="1" lang="en-US" altLang="zh-CN" b="1" dirty="0">
                <a:solidFill>
                  <a:schemeClr val="bg2"/>
                </a:solidFill>
                <a:latin typeface="Times New Roman" pitchFamily="18" charset="0"/>
              </a:rPr>
              <a:t>(2)</a:t>
            </a:r>
            <a:r>
              <a:rPr kumimoji="1" lang="zh-CN" altLang="en-US" b="1" dirty="0">
                <a:solidFill>
                  <a:schemeClr val="bg2"/>
                </a:solidFill>
                <a:latin typeface="Times New Roman" pitchFamily="18" charset="0"/>
              </a:rPr>
              <a:t>仅由一个孤立结点构成的图称为</a:t>
            </a:r>
            <a:r>
              <a:rPr kumimoji="1" lang="zh-CN" altLang="en-US" b="1" i="1" dirty="0">
                <a:solidFill>
                  <a:schemeClr val="folHlink"/>
                </a:solidFill>
                <a:latin typeface="Times New Roman" pitchFamily="18" charset="0"/>
              </a:rPr>
              <a:t>平凡图</a:t>
            </a:r>
            <a:r>
              <a:rPr kumimoji="1" lang="zh-CN" altLang="en-US" b="1" dirty="0">
                <a:solidFill>
                  <a:schemeClr val="bg2"/>
                </a:solidFill>
                <a:latin typeface="Times New Roman" pitchFamily="18" charset="0"/>
              </a:rPr>
              <a:t>。</a:t>
            </a:r>
          </a:p>
        </p:txBody>
      </p:sp>
      <p:sp>
        <p:nvSpPr>
          <p:cNvPr id="8214" name="Text Box 22"/>
          <p:cNvSpPr txBox="1">
            <a:spLocks noChangeArrowheads="1"/>
          </p:cNvSpPr>
          <p:nvPr/>
        </p:nvSpPr>
        <p:spPr bwMode="auto">
          <a:xfrm>
            <a:off x="466725" y="2925837"/>
            <a:ext cx="6624638" cy="1463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25000"/>
              </a:lnSpc>
            </a:pPr>
            <a:r>
              <a:rPr lang="en-US" altLang="zh-CN" b="1" dirty="0" smtClean="0">
                <a:solidFill>
                  <a:srgbClr val="008000"/>
                </a:solidFill>
                <a:latin typeface="Times New Roman" pitchFamily="18" charset="0"/>
              </a:rPr>
              <a:t>4)</a:t>
            </a:r>
            <a:r>
              <a:rPr lang="zh-CN" altLang="en-US" b="1" dirty="0">
                <a:solidFill>
                  <a:srgbClr val="008000"/>
                </a:solidFill>
                <a:latin typeface="Times New Roman" pitchFamily="18" charset="0"/>
              </a:rPr>
              <a:t>特殊的边</a:t>
            </a:r>
          </a:p>
          <a:p>
            <a:pPr eaLnBrk="1" hangingPunct="1">
              <a:lnSpc>
                <a:spcPct val="125000"/>
              </a:lnSpc>
            </a:pPr>
            <a:r>
              <a:rPr lang="en-US" altLang="zh-CN" b="1" dirty="0">
                <a:solidFill>
                  <a:schemeClr val="bg2"/>
                </a:solidFill>
                <a:latin typeface="Times New Roman" pitchFamily="18" charset="0"/>
              </a:rPr>
              <a:t>(1)</a:t>
            </a:r>
            <a:r>
              <a:rPr lang="zh-CN" altLang="en-US" b="1" dirty="0">
                <a:solidFill>
                  <a:schemeClr val="bg2"/>
                </a:solidFill>
                <a:latin typeface="Times New Roman" pitchFamily="18" charset="0"/>
              </a:rPr>
              <a:t>关联于同一结点的两条边称为</a:t>
            </a:r>
            <a:r>
              <a:rPr lang="zh-CN" altLang="en-US" b="1" i="1" dirty="0">
                <a:solidFill>
                  <a:schemeClr val="folHlink"/>
                </a:solidFill>
                <a:latin typeface="Times New Roman" pitchFamily="18" charset="0"/>
              </a:rPr>
              <a:t>邻接边</a:t>
            </a:r>
            <a:r>
              <a:rPr lang="zh-CN" altLang="en-US" b="1" dirty="0">
                <a:solidFill>
                  <a:schemeClr val="bg2"/>
                </a:solidFill>
                <a:latin typeface="Times New Roman" pitchFamily="18" charset="0"/>
              </a:rPr>
              <a:t>。</a:t>
            </a:r>
          </a:p>
          <a:p>
            <a:pPr eaLnBrk="1" hangingPunct="1">
              <a:lnSpc>
                <a:spcPct val="125000"/>
              </a:lnSpc>
            </a:pPr>
            <a:r>
              <a:rPr lang="en-US" altLang="zh-CN" b="1" dirty="0">
                <a:solidFill>
                  <a:schemeClr val="bg2"/>
                </a:solidFill>
                <a:latin typeface="Times New Roman" pitchFamily="18" charset="0"/>
              </a:rPr>
              <a:t>(2)</a:t>
            </a:r>
            <a:r>
              <a:rPr lang="zh-CN" altLang="en-US" b="1" dirty="0">
                <a:solidFill>
                  <a:schemeClr val="bg2"/>
                </a:solidFill>
                <a:latin typeface="Times New Roman" pitchFamily="18" charset="0"/>
              </a:rPr>
              <a:t>关联于同一结点的一条边称为</a:t>
            </a:r>
            <a:r>
              <a:rPr lang="zh-CN" altLang="en-US" b="1" i="1" dirty="0">
                <a:solidFill>
                  <a:schemeClr val="folHlink"/>
                </a:solidFill>
                <a:latin typeface="Times New Roman" pitchFamily="18" charset="0"/>
              </a:rPr>
              <a:t>自回路或环</a:t>
            </a:r>
            <a:r>
              <a:rPr lang="zh-CN" altLang="en-US" b="1" dirty="0">
                <a:solidFill>
                  <a:schemeClr val="bg2"/>
                </a:solidFill>
                <a:latin typeface="Times New Roman" pitchFamily="18" charset="0"/>
              </a:rPr>
              <a:t>。</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214"/>
                                        </p:tgtEl>
                                        <p:attrNameLst>
                                          <p:attrName>style.visibility</p:attrName>
                                        </p:attrNameLst>
                                      </p:cBhvr>
                                      <p:to>
                                        <p:strVal val="visible"/>
                                      </p:to>
                                    </p:set>
                                    <p:anim calcmode="lin" valueType="num">
                                      <p:cBhvr additive="base">
                                        <p:cTn id="7" dur="500" fill="hold"/>
                                        <p:tgtEl>
                                          <p:spTgt spid="8214"/>
                                        </p:tgtEl>
                                        <p:attrNameLst>
                                          <p:attrName>ppt_x</p:attrName>
                                        </p:attrNameLst>
                                      </p:cBhvr>
                                      <p:tavLst>
                                        <p:tav tm="0">
                                          <p:val>
                                            <p:strVal val="#ppt_x"/>
                                          </p:val>
                                        </p:tav>
                                        <p:tav tm="100000">
                                          <p:val>
                                            <p:strVal val="#ppt_x"/>
                                          </p:val>
                                        </p:tav>
                                      </p:tavLst>
                                    </p:anim>
                                    <p:anim calcmode="lin" valueType="num">
                                      <p:cBhvr additive="base">
                                        <p:cTn id="8" dur="500" fill="hold"/>
                                        <p:tgtEl>
                                          <p:spTgt spid="821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213"/>
                                        </p:tgtEl>
                                        <p:attrNameLst>
                                          <p:attrName>style.visibility</p:attrName>
                                        </p:attrNameLst>
                                      </p:cBhvr>
                                      <p:to>
                                        <p:strVal val="visible"/>
                                      </p:to>
                                    </p:set>
                                    <p:anim calcmode="lin" valueType="num">
                                      <p:cBhvr additive="base">
                                        <p:cTn id="13" dur="500" fill="hold"/>
                                        <p:tgtEl>
                                          <p:spTgt spid="8213"/>
                                        </p:tgtEl>
                                        <p:attrNameLst>
                                          <p:attrName>ppt_x</p:attrName>
                                        </p:attrNameLst>
                                      </p:cBhvr>
                                      <p:tavLst>
                                        <p:tav tm="0">
                                          <p:val>
                                            <p:strVal val="#ppt_x"/>
                                          </p:val>
                                        </p:tav>
                                        <p:tav tm="100000">
                                          <p:val>
                                            <p:strVal val="#ppt_x"/>
                                          </p:val>
                                        </p:tav>
                                      </p:tavLst>
                                    </p:anim>
                                    <p:anim calcmode="lin" valueType="num">
                                      <p:cBhvr additive="base">
                                        <p:cTn id="14" dur="500" fill="hold"/>
                                        <p:tgtEl>
                                          <p:spTgt spid="8213"/>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197"/>
                                        </p:tgtEl>
                                        <p:attrNameLst>
                                          <p:attrName>style.visibility</p:attrName>
                                        </p:attrNameLst>
                                      </p:cBhvr>
                                      <p:to>
                                        <p:strVal val="visible"/>
                                      </p:to>
                                    </p:set>
                                    <p:anim calcmode="lin" valueType="num">
                                      <p:cBhvr additive="base">
                                        <p:cTn id="19" dur="500" fill="hold"/>
                                        <p:tgtEl>
                                          <p:spTgt spid="8197"/>
                                        </p:tgtEl>
                                        <p:attrNameLst>
                                          <p:attrName>ppt_x</p:attrName>
                                        </p:attrNameLst>
                                      </p:cBhvr>
                                      <p:tavLst>
                                        <p:tav tm="0">
                                          <p:val>
                                            <p:strVal val="#ppt_x"/>
                                          </p:val>
                                        </p:tav>
                                        <p:tav tm="100000">
                                          <p:val>
                                            <p:strVal val="#ppt_x"/>
                                          </p:val>
                                        </p:tav>
                                      </p:tavLst>
                                    </p:anim>
                                    <p:anim calcmode="lin" valueType="num">
                                      <p:cBhvr additive="base">
                                        <p:cTn id="20" dur="500" fill="hold"/>
                                        <p:tgtEl>
                                          <p:spTgt spid="819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3" grpId="0"/>
      <p:bldP spid="821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2"/>
          <p:cNvSpPr>
            <a:spLocks noGrp="1"/>
          </p:cNvSpPr>
          <p:nvPr>
            <p:ph type="sldNum" sz="quarter" idx="11"/>
          </p:nvPr>
        </p:nvSpPr>
        <p:spPr/>
        <p:txBody>
          <a:bodyPr/>
          <a:lstStyle/>
          <a:p>
            <a:pPr>
              <a:defRPr/>
            </a:pPr>
            <a:fld id="{1F83A118-6229-482C-BE37-06EC11DF96B7}" type="slidenum">
              <a:rPr lang="en-US" altLang="zh-CN"/>
              <a:pPr>
                <a:defRPr/>
              </a:pPr>
              <a:t>8</a:t>
            </a:fld>
            <a:endParaRPr lang="en-US" altLang="zh-CN"/>
          </a:p>
        </p:txBody>
      </p:sp>
      <p:sp>
        <p:nvSpPr>
          <p:cNvPr id="10243" name="Text Box 3"/>
          <p:cNvSpPr txBox="1">
            <a:spLocks noChangeArrowheads="1"/>
          </p:cNvSpPr>
          <p:nvPr/>
        </p:nvSpPr>
        <p:spPr bwMode="auto">
          <a:xfrm>
            <a:off x="466725" y="1096963"/>
            <a:ext cx="8277225" cy="254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en-US" altLang="zh-CN" sz="2800" b="1">
                <a:solidFill>
                  <a:srgbClr val="993300"/>
                </a:solidFill>
                <a:latin typeface="Times New Roman" pitchFamily="18" charset="0"/>
              </a:rPr>
              <a:t>1</a:t>
            </a:r>
            <a:r>
              <a:rPr kumimoji="1" lang="zh-CN" altLang="en-US" sz="2800" b="1">
                <a:solidFill>
                  <a:srgbClr val="993300"/>
                </a:solidFill>
                <a:latin typeface="Times New Roman" pitchFamily="18" charset="0"/>
              </a:rPr>
              <a:t>、</a:t>
            </a:r>
            <a:r>
              <a:rPr kumimoji="1" lang="zh-CN" altLang="en-US" sz="2800" b="1">
                <a:solidFill>
                  <a:srgbClr val="993300"/>
                </a:solidFill>
                <a:latin typeface="Times New Roman" pitchFamily="18" charset="0"/>
                <a:ea typeface="楷体_GB2312" pitchFamily="49" charset="-122"/>
              </a:rPr>
              <a:t>结点的度、出度、入度</a:t>
            </a:r>
          </a:p>
          <a:p>
            <a:pPr algn="just" eaLnBrk="1" hangingPunct="1">
              <a:lnSpc>
                <a:spcPct val="130000"/>
              </a:lnSpc>
            </a:pPr>
            <a:r>
              <a:rPr kumimoji="1" lang="zh-CN" altLang="en-US" b="1">
                <a:solidFill>
                  <a:srgbClr val="0000CC"/>
                </a:solidFill>
                <a:latin typeface="Times New Roman" pitchFamily="18" charset="0"/>
              </a:rPr>
              <a:t>定义</a:t>
            </a:r>
            <a:r>
              <a:rPr kumimoji="1" lang="en-US" altLang="zh-CN" b="1">
                <a:solidFill>
                  <a:srgbClr val="0000CC"/>
                </a:solidFill>
                <a:latin typeface="Times New Roman" pitchFamily="18" charset="0"/>
              </a:rPr>
              <a:t>7-1.2</a:t>
            </a:r>
            <a:r>
              <a:rPr kumimoji="1" lang="zh-CN" altLang="en-US" b="1">
                <a:solidFill>
                  <a:srgbClr val="0000CC"/>
                </a:solidFill>
                <a:latin typeface="Times New Roman" pitchFamily="18" charset="0"/>
              </a:rPr>
              <a:t>：</a:t>
            </a:r>
            <a:r>
              <a:rPr kumimoji="1" lang="zh-CN" altLang="en-US" b="1">
                <a:latin typeface="Times New Roman" pitchFamily="18" charset="0"/>
              </a:rPr>
              <a:t>在图</a:t>
            </a:r>
            <a:r>
              <a:rPr kumimoji="1" lang="en-US" altLang="zh-CN" b="1">
                <a:latin typeface="Times New Roman" pitchFamily="18" charset="0"/>
              </a:rPr>
              <a:t>G=&lt;V, E&gt;</a:t>
            </a:r>
            <a:r>
              <a:rPr kumimoji="1" lang="zh-CN" altLang="en-US" b="1">
                <a:latin typeface="Times New Roman" pitchFamily="18" charset="0"/>
              </a:rPr>
              <a:t>中，与结点</a:t>
            </a:r>
            <a:r>
              <a:rPr kumimoji="1" lang="en-US" altLang="zh-CN" b="1">
                <a:latin typeface="Times New Roman" pitchFamily="18" charset="0"/>
              </a:rPr>
              <a:t>v(v</a:t>
            </a:r>
            <a:r>
              <a:rPr kumimoji="1" lang="en-US" altLang="zh-CN" b="1">
                <a:solidFill>
                  <a:schemeClr val="bg2"/>
                </a:solidFill>
                <a:latin typeface="Times New Roman" pitchFamily="18" charset="0"/>
              </a:rPr>
              <a:t>∈V</a:t>
            </a:r>
            <a:r>
              <a:rPr kumimoji="1" lang="en-US" altLang="zh-CN" b="1">
                <a:latin typeface="Times New Roman" pitchFamily="18" charset="0"/>
              </a:rPr>
              <a:t>)</a:t>
            </a:r>
            <a:r>
              <a:rPr kumimoji="1" lang="zh-CN" altLang="en-US" b="1">
                <a:latin typeface="Times New Roman" pitchFamily="18" charset="0"/>
              </a:rPr>
              <a:t>关联的边数，称作是该</a:t>
            </a:r>
            <a:r>
              <a:rPr kumimoji="1" lang="zh-CN" altLang="en-US" b="1" i="1">
                <a:solidFill>
                  <a:srgbClr val="0000CC"/>
                </a:solidFill>
                <a:latin typeface="Times New Roman" pitchFamily="18" charset="0"/>
              </a:rPr>
              <a:t>结点的度数</a:t>
            </a:r>
            <a:r>
              <a:rPr kumimoji="1" lang="zh-CN" altLang="en-US" b="1">
                <a:latin typeface="Times New Roman" pitchFamily="18" charset="0"/>
              </a:rPr>
              <a:t>，记为</a:t>
            </a:r>
            <a:r>
              <a:rPr kumimoji="1" lang="en-US" altLang="zh-CN" b="1">
                <a:latin typeface="Times New Roman" pitchFamily="18" charset="0"/>
              </a:rPr>
              <a:t>deg(v)</a:t>
            </a:r>
            <a:r>
              <a:rPr kumimoji="1" lang="zh-CN" altLang="en-US" b="1">
                <a:latin typeface="Times New Roman" pitchFamily="18" charset="0"/>
              </a:rPr>
              <a:t>。</a:t>
            </a:r>
          </a:p>
          <a:p>
            <a:pPr algn="just" eaLnBrk="1" hangingPunct="1">
              <a:lnSpc>
                <a:spcPct val="130000"/>
              </a:lnSpc>
            </a:pPr>
            <a:r>
              <a:rPr kumimoji="1" lang="zh-CN" altLang="en-US" b="1">
                <a:latin typeface="Times New Roman" pitchFamily="18" charset="0"/>
              </a:rPr>
              <a:t>记：</a:t>
            </a:r>
            <a:r>
              <a:rPr kumimoji="1" lang="en-US" altLang="zh-CN" b="1">
                <a:latin typeface="Times New Roman" pitchFamily="18" charset="0"/>
              </a:rPr>
              <a:t>(1)Δ(G)=max{deg v|v∈V(G)}</a:t>
            </a:r>
            <a:r>
              <a:rPr kumimoji="1" lang="zh-CN" altLang="en-US" b="1">
                <a:latin typeface="Times New Roman" pitchFamily="18" charset="0"/>
              </a:rPr>
              <a:t>，称为</a:t>
            </a:r>
            <a:r>
              <a:rPr kumimoji="1" lang="zh-CN" altLang="en-US" b="1" i="1">
                <a:solidFill>
                  <a:srgbClr val="0000CC"/>
                </a:solidFill>
                <a:latin typeface="Times New Roman" pitchFamily="18" charset="0"/>
              </a:rPr>
              <a:t>图</a:t>
            </a:r>
            <a:r>
              <a:rPr kumimoji="1" lang="en-US" altLang="zh-CN" b="1" i="1">
                <a:solidFill>
                  <a:srgbClr val="0000CC"/>
                </a:solidFill>
                <a:latin typeface="Times New Roman" pitchFamily="18" charset="0"/>
              </a:rPr>
              <a:t>G</a:t>
            </a:r>
            <a:r>
              <a:rPr kumimoji="1" lang="zh-CN" altLang="en-US" b="1" i="1">
                <a:solidFill>
                  <a:srgbClr val="0000CC"/>
                </a:solidFill>
                <a:latin typeface="Times New Roman" pitchFamily="18" charset="0"/>
              </a:rPr>
              <a:t>的最大度</a:t>
            </a:r>
          </a:p>
          <a:p>
            <a:pPr eaLnBrk="1" hangingPunct="1">
              <a:lnSpc>
                <a:spcPct val="130000"/>
              </a:lnSpc>
              <a:buClr>
                <a:schemeClr val="bg1"/>
              </a:buClr>
              <a:buFontTx/>
              <a:buChar char="•"/>
            </a:pPr>
            <a:r>
              <a:rPr kumimoji="1" lang="zh-CN" altLang="en-US" b="1">
                <a:latin typeface="Times New Roman" pitchFamily="18" charset="0"/>
              </a:rPr>
              <a:t>       </a:t>
            </a:r>
            <a:r>
              <a:rPr kumimoji="1" lang="en-US" altLang="zh-CN" b="1">
                <a:latin typeface="Times New Roman" pitchFamily="18" charset="0"/>
              </a:rPr>
              <a:t>(2)δ(G)=min{deg v|v∈V(G)}</a:t>
            </a:r>
            <a:r>
              <a:rPr kumimoji="1" lang="zh-CN" altLang="en-US" b="1">
                <a:latin typeface="Times New Roman" pitchFamily="18" charset="0"/>
              </a:rPr>
              <a:t>，称为</a:t>
            </a:r>
            <a:r>
              <a:rPr kumimoji="1" lang="zh-CN" altLang="en-US" b="1" i="1">
                <a:solidFill>
                  <a:srgbClr val="0000CC"/>
                </a:solidFill>
                <a:latin typeface="Times New Roman" pitchFamily="18" charset="0"/>
              </a:rPr>
              <a:t>图</a:t>
            </a:r>
            <a:r>
              <a:rPr kumimoji="1" lang="en-US" altLang="zh-CN" b="1" i="1">
                <a:solidFill>
                  <a:srgbClr val="0000CC"/>
                </a:solidFill>
                <a:latin typeface="Times New Roman" pitchFamily="18" charset="0"/>
              </a:rPr>
              <a:t>G</a:t>
            </a:r>
            <a:r>
              <a:rPr kumimoji="1" lang="zh-CN" altLang="en-US" b="1" i="1">
                <a:solidFill>
                  <a:srgbClr val="0000CC"/>
                </a:solidFill>
                <a:latin typeface="Times New Roman" pitchFamily="18" charset="0"/>
              </a:rPr>
              <a:t>的最小度</a:t>
            </a:r>
          </a:p>
        </p:txBody>
      </p:sp>
      <p:grpSp>
        <p:nvGrpSpPr>
          <p:cNvPr id="9221" name="Group 5"/>
          <p:cNvGrpSpPr>
            <a:grpSpLocks/>
          </p:cNvGrpSpPr>
          <p:nvPr/>
        </p:nvGrpSpPr>
        <p:grpSpPr bwMode="auto">
          <a:xfrm>
            <a:off x="4932363" y="3789363"/>
            <a:ext cx="2667000" cy="1295400"/>
            <a:chOff x="432" y="192"/>
            <a:chExt cx="1680" cy="816"/>
          </a:xfrm>
        </p:grpSpPr>
        <p:sp>
          <p:nvSpPr>
            <p:cNvPr id="10248" name="Text Box 6"/>
            <p:cNvSpPr txBox="1">
              <a:spLocks noChangeArrowheads="1"/>
            </p:cNvSpPr>
            <p:nvPr/>
          </p:nvSpPr>
          <p:spPr bwMode="auto">
            <a:xfrm>
              <a:off x="1152" y="52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c</a:t>
              </a:r>
            </a:p>
          </p:txBody>
        </p:sp>
        <p:grpSp>
          <p:nvGrpSpPr>
            <p:cNvPr id="10249" name="Group 7"/>
            <p:cNvGrpSpPr>
              <a:grpSpLocks/>
            </p:cNvGrpSpPr>
            <p:nvPr/>
          </p:nvGrpSpPr>
          <p:grpSpPr bwMode="auto">
            <a:xfrm>
              <a:off x="432" y="192"/>
              <a:ext cx="1680" cy="816"/>
              <a:chOff x="432" y="192"/>
              <a:chExt cx="1680" cy="816"/>
            </a:xfrm>
          </p:grpSpPr>
          <p:grpSp>
            <p:nvGrpSpPr>
              <p:cNvPr id="10250" name="Group 8"/>
              <p:cNvGrpSpPr>
                <a:grpSpLocks/>
              </p:cNvGrpSpPr>
              <p:nvPr/>
            </p:nvGrpSpPr>
            <p:grpSpPr bwMode="auto">
              <a:xfrm>
                <a:off x="672" y="192"/>
                <a:ext cx="1200" cy="816"/>
                <a:chOff x="2340" y="5340"/>
                <a:chExt cx="1830" cy="1560"/>
              </a:xfrm>
            </p:grpSpPr>
            <p:sp>
              <p:nvSpPr>
                <p:cNvPr id="10253" name="Oval 9"/>
                <p:cNvSpPr>
                  <a:spLocks noChangeArrowheads="1"/>
                </p:cNvSpPr>
                <p:nvPr/>
              </p:nvSpPr>
              <p:spPr bwMode="auto">
                <a:xfrm>
                  <a:off x="2340" y="5340"/>
                  <a:ext cx="1800" cy="468"/>
                </a:xfrm>
                <a:prstGeom prst="ellipse">
                  <a:avLst/>
                </a:prstGeom>
                <a:solidFill>
                  <a:srgbClr val="FFFFFF"/>
                </a:solidFill>
                <a:ln w="25400">
                  <a:solidFill>
                    <a:srgbClr val="000000"/>
                  </a:solidFill>
                  <a:round/>
                  <a:headEnd/>
                  <a:tailEnd/>
                </a:ln>
              </p:spPr>
              <p:txBody>
                <a:bodyPr/>
                <a:lstStyle/>
                <a:p>
                  <a:endParaRPr lang="zh-CN" altLang="en-US"/>
                </a:p>
              </p:txBody>
            </p:sp>
            <p:sp>
              <p:nvSpPr>
                <p:cNvPr id="10254" name="Freeform 10"/>
                <p:cNvSpPr>
                  <a:spLocks/>
                </p:cNvSpPr>
                <p:nvPr/>
              </p:nvSpPr>
              <p:spPr bwMode="auto">
                <a:xfrm>
                  <a:off x="2340" y="5496"/>
                  <a:ext cx="1830" cy="936"/>
                </a:xfrm>
                <a:custGeom>
                  <a:avLst/>
                  <a:gdLst>
                    <a:gd name="T0" fmla="*/ 0 w 1830"/>
                    <a:gd name="T1" fmla="*/ 0 h 936"/>
                    <a:gd name="T2" fmla="*/ 180 w 1830"/>
                    <a:gd name="T3" fmla="*/ 468 h 936"/>
                    <a:gd name="T4" fmla="*/ 900 w 1830"/>
                    <a:gd name="T5" fmla="*/ 936 h 936"/>
                    <a:gd name="T6" fmla="*/ 1620 w 1830"/>
                    <a:gd name="T7" fmla="*/ 468 h 936"/>
                    <a:gd name="T8" fmla="*/ 1800 w 1830"/>
                    <a:gd name="T9" fmla="*/ 156 h 936"/>
                    <a:gd name="T10" fmla="*/ 1800 w 1830"/>
                    <a:gd name="T11" fmla="*/ 135 h 9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30" h="936">
                      <a:moveTo>
                        <a:pt x="0" y="0"/>
                      </a:moveTo>
                      <a:cubicBezTo>
                        <a:pt x="15" y="156"/>
                        <a:pt x="30" y="312"/>
                        <a:pt x="180" y="468"/>
                      </a:cubicBezTo>
                      <a:cubicBezTo>
                        <a:pt x="330" y="624"/>
                        <a:pt x="660" y="936"/>
                        <a:pt x="900" y="936"/>
                      </a:cubicBezTo>
                      <a:cubicBezTo>
                        <a:pt x="1140" y="936"/>
                        <a:pt x="1470" y="598"/>
                        <a:pt x="1620" y="468"/>
                      </a:cubicBezTo>
                      <a:cubicBezTo>
                        <a:pt x="1770" y="338"/>
                        <a:pt x="1770" y="212"/>
                        <a:pt x="1800" y="156"/>
                      </a:cubicBezTo>
                      <a:cubicBezTo>
                        <a:pt x="1830" y="100"/>
                        <a:pt x="1800" y="139"/>
                        <a:pt x="1800" y="135"/>
                      </a:cubicBez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255" name="Oval 11"/>
                <p:cNvSpPr>
                  <a:spLocks noChangeArrowheads="1"/>
                </p:cNvSpPr>
                <p:nvPr/>
              </p:nvSpPr>
              <p:spPr bwMode="auto">
                <a:xfrm>
                  <a:off x="2970" y="6432"/>
                  <a:ext cx="540" cy="468"/>
                </a:xfrm>
                <a:prstGeom prst="ellipse">
                  <a:avLst/>
                </a:prstGeom>
                <a:solidFill>
                  <a:srgbClr val="FFFFFF"/>
                </a:solidFill>
                <a:ln w="25400">
                  <a:solidFill>
                    <a:srgbClr val="000000"/>
                  </a:solidFill>
                  <a:round/>
                  <a:headEnd/>
                  <a:tailEnd/>
                </a:ln>
              </p:spPr>
              <p:txBody>
                <a:bodyPr/>
                <a:lstStyle/>
                <a:p>
                  <a:endParaRPr lang="zh-CN" altLang="en-US"/>
                </a:p>
              </p:txBody>
            </p:sp>
          </p:grpSp>
          <p:sp>
            <p:nvSpPr>
              <p:cNvPr id="10251" name="Text Box 12"/>
              <p:cNvSpPr txBox="1">
                <a:spLocks noChangeArrowheads="1"/>
              </p:cNvSpPr>
              <p:nvPr/>
            </p:nvSpPr>
            <p:spPr bwMode="auto">
              <a:xfrm>
                <a:off x="1872" y="19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b</a:t>
                </a:r>
              </a:p>
            </p:txBody>
          </p:sp>
          <p:sp>
            <p:nvSpPr>
              <p:cNvPr id="10252" name="Text Box 13"/>
              <p:cNvSpPr txBox="1">
                <a:spLocks noChangeArrowheads="1"/>
              </p:cNvSpPr>
              <p:nvPr/>
            </p:nvSpPr>
            <p:spPr bwMode="auto">
              <a:xfrm>
                <a:off x="432" y="19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a</a:t>
                </a:r>
              </a:p>
            </p:txBody>
          </p:sp>
        </p:grpSp>
      </p:grpSp>
      <p:sp>
        <p:nvSpPr>
          <p:cNvPr id="9230" name="Text Box 14"/>
          <p:cNvSpPr txBox="1">
            <a:spLocks noChangeArrowheads="1"/>
          </p:cNvSpPr>
          <p:nvPr/>
        </p:nvSpPr>
        <p:spPr bwMode="auto">
          <a:xfrm>
            <a:off x="466725" y="3683000"/>
            <a:ext cx="410527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bg1"/>
              </a:buClr>
            </a:pPr>
            <a:r>
              <a:rPr kumimoji="1" lang="zh-CN" altLang="en-US" b="1">
                <a:solidFill>
                  <a:schemeClr val="hlink"/>
                </a:solidFill>
                <a:latin typeface="Times New Roman" pitchFamily="18" charset="0"/>
              </a:rPr>
              <a:t>例：</a:t>
            </a:r>
            <a:r>
              <a:rPr kumimoji="1" lang="zh-CN" altLang="en-US" b="1">
                <a:solidFill>
                  <a:schemeClr val="bg2"/>
                </a:solidFill>
                <a:latin typeface="Times New Roman" pitchFamily="18" charset="0"/>
              </a:rPr>
              <a:t>求下图各结点的度数，以及图的最大度、最小度。</a:t>
            </a:r>
          </a:p>
        </p:txBody>
      </p:sp>
      <p:sp>
        <p:nvSpPr>
          <p:cNvPr id="10246" name="Rectangle 18"/>
          <p:cNvSpPr>
            <a:spLocks noChangeArrowheads="1"/>
          </p:cNvSpPr>
          <p:nvPr/>
        </p:nvSpPr>
        <p:spPr bwMode="auto">
          <a:xfrm>
            <a:off x="971550" y="398463"/>
            <a:ext cx="56165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3200" b="1">
                <a:solidFill>
                  <a:schemeClr val="folHlink"/>
                </a:solidFill>
                <a:latin typeface="Times New Roman" pitchFamily="18" charset="0"/>
                <a:ea typeface="楷体_GB2312" pitchFamily="49" charset="-122"/>
              </a:rPr>
              <a:t>二、图的基本性质</a:t>
            </a:r>
          </a:p>
        </p:txBody>
      </p:sp>
      <p:sp>
        <p:nvSpPr>
          <p:cNvPr id="9235" name="AutoShape 19"/>
          <p:cNvSpPr>
            <a:spLocks noChangeArrowheads="1"/>
          </p:cNvSpPr>
          <p:nvPr/>
        </p:nvSpPr>
        <p:spPr bwMode="auto">
          <a:xfrm>
            <a:off x="1116013" y="5157788"/>
            <a:ext cx="7416800" cy="1150937"/>
          </a:xfrm>
          <a:prstGeom prst="wedgeRoundRectCallout">
            <a:avLst>
              <a:gd name="adj1" fmla="val -26199"/>
              <a:gd name="adj2" fmla="val -90000"/>
              <a:gd name="adj3" fmla="val 16667"/>
            </a:avLst>
          </a:prstGeom>
          <a:solidFill>
            <a:schemeClr val="accent1"/>
          </a:solidFill>
          <a:ln w="9525">
            <a:solidFill>
              <a:schemeClr val="hlink"/>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hlink"/>
              </a:buClr>
              <a:buFont typeface="Wingdings" pitchFamily="2" charset="2"/>
              <a:buChar char="Ø"/>
            </a:pPr>
            <a:r>
              <a:rPr kumimoji="1" lang="zh-CN" altLang="en-US" b="1">
                <a:solidFill>
                  <a:schemeClr val="bg2"/>
                </a:solidFill>
                <a:latin typeface="Times New Roman" pitchFamily="18" charset="0"/>
              </a:rPr>
              <a:t>每个环在其对应结点上度数增加</a:t>
            </a:r>
            <a:r>
              <a:rPr kumimoji="1" lang="en-US" altLang="zh-CN" b="1">
                <a:solidFill>
                  <a:schemeClr val="bg2"/>
                </a:solidFill>
                <a:latin typeface="Times New Roman" pitchFamily="18" charset="0"/>
              </a:rPr>
              <a:t>2</a:t>
            </a:r>
            <a:r>
              <a:rPr kumimoji="1" lang="zh-CN" altLang="en-US" b="1">
                <a:solidFill>
                  <a:schemeClr val="bg2"/>
                </a:solidFill>
                <a:latin typeface="Times New Roman" pitchFamily="18" charset="0"/>
              </a:rPr>
              <a:t>。</a:t>
            </a:r>
          </a:p>
          <a:p>
            <a:pPr>
              <a:spcBef>
                <a:spcPct val="20000"/>
              </a:spcBef>
              <a:buClr>
                <a:schemeClr val="hlink"/>
              </a:buClr>
              <a:buFont typeface="Wingdings" pitchFamily="2" charset="2"/>
              <a:buChar char="Ø"/>
            </a:pPr>
            <a:r>
              <a:rPr kumimoji="1" lang="zh-CN" altLang="en-US" b="1">
                <a:solidFill>
                  <a:schemeClr val="bg2"/>
                </a:solidFill>
                <a:latin typeface="Times New Roman" pitchFamily="18" charset="0"/>
              </a:rPr>
              <a:t>考虑一个图中结点度数的总和与边数的关系？</a:t>
            </a:r>
            <a:endParaRPr lang="zh-CN" altLang="en-US" sz="1800"/>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230"/>
                                        </p:tgtEl>
                                        <p:attrNameLst>
                                          <p:attrName>style.visibility</p:attrName>
                                        </p:attrNameLst>
                                      </p:cBhvr>
                                      <p:to>
                                        <p:strVal val="visible"/>
                                      </p:to>
                                    </p:set>
                                    <p:anim calcmode="lin" valueType="num">
                                      <p:cBhvr additive="base">
                                        <p:cTn id="7" dur="500" fill="hold"/>
                                        <p:tgtEl>
                                          <p:spTgt spid="9230"/>
                                        </p:tgtEl>
                                        <p:attrNameLst>
                                          <p:attrName>ppt_x</p:attrName>
                                        </p:attrNameLst>
                                      </p:cBhvr>
                                      <p:tavLst>
                                        <p:tav tm="0">
                                          <p:val>
                                            <p:strVal val="#ppt_x"/>
                                          </p:val>
                                        </p:tav>
                                        <p:tav tm="100000">
                                          <p:val>
                                            <p:strVal val="#ppt_x"/>
                                          </p:val>
                                        </p:tav>
                                      </p:tavLst>
                                    </p:anim>
                                    <p:anim calcmode="lin" valueType="num">
                                      <p:cBhvr additive="base">
                                        <p:cTn id="8" dur="500" fill="hold"/>
                                        <p:tgtEl>
                                          <p:spTgt spid="9230"/>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221"/>
                                        </p:tgtEl>
                                        <p:attrNameLst>
                                          <p:attrName>style.visibility</p:attrName>
                                        </p:attrNameLst>
                                      </p:cBhvr>
                                      <p:to>
                                        <p:strVal val="visible"/>
                                      </p:to>
                                    </p:set>
                                    <p:anim calcmode="lin" valueType="num">
                                      <p:cBhvr additive="base">
                                        <p:cTn id="11" dur="500" fill="hold"/>
                                        <p:tgtEl>
                                          <p:spTgt spid="9221"/>
                                        </p:tgtEl>
                                        <p:attrNameLst>
                                          <p:attrName>ppt_x</p:attrName>
                                        </p:attrNameLst>
                                      </p:cBhvr>
                                      <p:tavLst>
                                        <p:tav tm="0">
                                          <p:val>
                                            <p:strVal val="#ppt_x"/>
                                          </p:val>
                                        </p:tav>
                                        <p:tav tm="100000">
                                          <p:val>
                                            <p:strVal val="#ppt_x"/>
                                          </p:val>
                                        </p:tav>
                                      </p:tavLst>
                                    </p:anim>
                                    <p:anim calcmode="lin" valueType="num">
                                      <p:cBhvr additive="base">
                                        <p:cTn id="12" dur="500" fill="hold"/>
                                        <p:tgtEl>
                                          <p:spTgt spid="9221"/>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9235"/>
                                        </p:tgtEl>
                                        <p:attrNameLst>
                                          <p:attrName>style.visibility</p:attrName>
                                        </p:attrNameLst>
                                      </p:cBhvr>
                                      <p:to>
                                        <p:strVal val="visible"/>
                                      </p:to>
                                    </p:set>
                                    <p:anim calcmode="lin" valueType="num">
                                      <p:cBhvr additive="base">
                                        <p:cTn id="17" dur="500" fill="hold"/>
                                        <p:tgtEl>
                                          <p:spTgt spid="9235"/>
                                        </p:tgtEl>
                                        <p:attrNameLst>
                                          <p:attrName>ppt_x</p:attrName>
                                        </p:attrNameLst>
                                      </p:cBhvr>
                                      <p:tavLst>
                                        <p:tav tm="0">
                                          <p:val>
                                            <p:strVal val="#ppt_x"/>
                                          </p:val>
                                        </p:tav>
                                        <p:tav tm="100000">
                                          <p:val>
                                            <p:strVal val="#ppt_x"/>
                                          </p:val>
                                        </p:tav>
                                      </p:tavLst>
                                    </p:anim>
                                    <p:anim calcmode="lin" valueType="num">
                                      <p:cBhvr additive="base">
                                        <p:cTn id="18" dur="500" fill="hold"/>
                                        <p:tgtEl>
                                          <p:spTgt spid="92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30" grpId="0"/>
      <p:bldP spid="923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1"/>
          </p:nvPr>
        </p:nvSpPr>
        <p:spPr/>
        <p:txBody>
          <a:bodyPr/>
          <a:lstStyle/>
          <a:p>
            <a:pPr>
              <a:defRPr/>
            </a:pPr>
            <a:fld id="{D3CD8F12-28C3-4E9C-9490-EA241CEFE205}" type="slidenum">
              <a:rPr lang="en-US" altLang="zh-CN"/>
              <a:pPr>
                <a:defRPr/>
              </a:pPr>
              <a:t>9</a:t>
            </a:fld>
            <a:endParaRPr lang="en-US" altLang="zh-CN"/>
          </a:p>
        </p:txBody>
      </p:sp>
      <p:sp>
        <p:nvSpPr>
          <p:cNvPr id="12291" name="Text Box 2"/>
          <p:cNvSpPr txBox="1">
            <a:spLocks noChangeArrowheads="1"/>
          </p:cNvSpPr>
          <p:nvPr/>
        </p:nvSpPr>
        <p:spPr bwMode="auto">
          <a:xfrm>
            <a:off x="466725" y="1052513"/>
            <a:ext cx="8277225"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7-1.1</a:t>
            </a:r>
            <a:r>
              <a:rPr kumimoji="1" lang="zh-CN" altLang="en-US" b="1">
                <a:solidFill>
                  <a:srgbClr val="0000CC"/>
                </a:solidFill>
                <a:latin typeface="Times New Roman" pitchFamily="18" charset="0"/>
              </a:rPr>
              <a:t>：</a:t>
            </a:r>
            <a:r>
              <a:rPr kumimoji="1" lang="zh-CN" altLang="en-US" b="1">
                <a:latin typeface="Times New Roman" pitchFamily="18" charset="0"/>
              </a:rPr>
              <a:t>每个图中，结点度数的总和等于边数的两倍。即</a:t>
            </a:r>
            <a:endParaRPr kumimoji="1" lang="zh-CN" altLang="en-US">
              <a:latin typeface="Times New Roman" pitchFamily="18" charset="0"/>
            </a:endParaRPr>
          </a:p>
        </p:txBody>
      </p:sp>
      <p:graphicFrame>
        <p:nvGraphicFramePr>
          <p:cNvPr id="12292" name="Object 4"/>
          <p:cNvGraphicFramePr>
            <a:graphicFrameLocks noChangeAspect="1"/>
          </p:cNvGraphicFramePr>
          <p:nvPr/>
        </p:nvGraphicFramePr>
        <p:xfrm>
          <a:off x="3492500" y="1614488"/>
          <a:ext cx="2016125" cy="571500"/>
        </p:xfrm>
        <a:graphic>
          <a:graphicData uri="http://schemas.openxmlformats.org/presentationml/2006/ole">
            <mc:AlternateContent xmlns:mc="http://schemas.openxmlformats.org/markup-compatibility/2006">
              <mc:Choice xmlns:v="urn:schemas-microsoft-com:vml" Requires="v">
                <p:oleObj spid="_x0000_s12368" name="Equation" r:id="rId3" imgW="2019300" imgH="571500" progId="Equation.DSMT4">
                  <p:embed/>
                </p:oleObj>
              </mc:Choice>
              <mc:Fallback>
                <p:oleObj name="Equation" r:id="rId3" imgW="2019300" imgH="57150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92500" y="1614488"/>
                        <a:ext cx="20161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5" name="Text Box 5"/>
          <p:cNvSpPr txBox="1">
            <a:spLocks noChangeArrowheads="1"/>
          </p:cNvSpPr>
          <p:nvPr/>
        </p:nvSpPr>
        <p:spPr bwMode="auto">
          <a:xfrm>
            <a:off x="466725" y="2128838"/>
            <a:ext cx="8277225"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chemeClr val="hlink"/>
                </a:solidFill>
                <a:latin typeface="Times New Roman" pitchFamily="18" charset="0"/>
              </a:rPr>
              <a:t>证明：</a:t>
            </a:r>
            <a:r>
              <a:rPr kumimoji="1" lang="zh-CN" altLang="en-US" b="1">
                <a:latin typeface="Times New Roman" pitchFamily="18" charset="0"/>
              </a:rPr>
              <a:t>因为每一条边关联两个结点，所以在一个图中，结点度数的总和等于边数的两倍。</a:t>
            </a:r>
          </a:p>
          <a:p>
            <a:pPr algn="just"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7-1.2</a:t>
            </a:r>
            <a:r>
              <a:rPr kumimoji="1" lang="zh-CN" altLang="en-US" b="1">
                <a:solidFill>
                  <a:srgbClr val="0000CC"/>
                </a:solidFill>
                <a:latin typeface="Times New Roman" pitchFamily="18" charset="0"/>
              </a:rPr>
              <a:t>：</a:t>
            </a:r>
            <a:r>
              <a:rPr kumimoji="1" lang="zh-CN" altLang="en-US" b="1">
                <a:latin typeface="Times New Roman" pitchFamily="18" charset="0"/>
              </a:rPr>
              <a:t>在任何图中，度数为奇数的结点必定为偶数个。</a:t>
            </a:r>
          </a:p>
        </p:txBody>
      </p:sp>
      <p:sp>
        <p:nvSpPr>
          <p:cNvPr id="10270" name="Text Box 30"/>
          <p:cNvSpPr txBox="1">
            <a:spLocks noChangeArrowheads="1"/>
          </p:cNvSpPr>
          <p:nvPr/>
        </p:nvSpPr>
        <p:spPr bwMode="auto">
          <a:xfrm>
            <a:off x="466725" y="3860800"/>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chemeClr val="hlink"/>
                </a:solidFill>
                <a:latin typeface="Times New Roman" pitchFamily="18" charset="0"/>
              </a:rPr>
              <a:t>练习：</a:t>
            </a:r>
            <a:r>
              <a:rPr kumimoji="1" lang="zh-CN" altLang="en-US" b="1">
                <a:latin typeface="Times New Roman" pitchFamily="18" charset="0"/>
              </a:rPr>
              <a:t>已知无向图</a:t>
            </a:r>
            <a:r>
              <a:rPr kumimoji="1" lang="en-US" altLang="zh-CN" b="1">
                <a:latin typeface="Times New Roman" pitchFamily="18" charset="0"/>
              </a:rPr>
              <a:t>G</a:t>
            </a:r>
            <a:r>
              <a:rPr kumimoji="1" lang="zh-CN" altLang="en-US" b="1">
                <a:latin typeface="Times New Roman" pitchFamily="18" charset="0"/>
              </a:rPr>
              <a:t>中有</a:t>
            </a:r>
            <a:r>
              <a:rPr kumimoji="1" lang="en-US" altLang="zh-CN" b="1">
                <a:latin typeface="Times New Roman" pitchFamily="18" charset="0"/>
              </a:rPr>
              <a:t>10</a:t>
            </a:r>
            <a:r>
              <a:rPr kumimoji="1" lang="zh-CN" altLang="en-US" b="1">
                <a:latin typeface="Times New Roman" pitchFamily="18" charset="0"/>
              </a:rPr>
              <a:t>条边</a:t>
            </a:r>
            <a:r>
              <a:rPr kumimoji="1" lang="en-US" altLang="zh-CN" b="1">
                <a:latin typeface="Times New Roman" pitchFamily="18" charset="0"/>
              </a:rPr>
              <a:t>, 3</a:t>
            </a:r>
            <a:r>
              <a:rPr kumimoji="1" lang="zh-CN" altLang="en-US" b="1">
                <a:latin typeface="Times New Roman" pitchFamily="18" charset="0"/>
              </a:rPr>
              <a:t>度与</a:t>
            </a:r>
            <a:r>
              <a:rPr kumimoji="1" lang="en-US" altLang="zh-CN" b="1">
                <a:latin typeface="Times New Roman" pitchFamily="18" charset="0"/>
              </a:rPr>
              <a:t>4</a:t>
            </a:r>
            <a:r>
              <a:rPr kumimoji="1" lang="zh-CN" altLang="en-US" b="1">
                <a:latin typeface="Times New Roman" pitchFamily="18" charset="0"/>
              </a:rPr>
              <a:t>度结点各</a:t>
            </a:r>
            <a:r>
              <a:rPr kumimoji="1" lang="en-US" altLang="zh-CN" b="1">
                <a:latin typeface="Times New Roman" pitchFamily="18" charset="0"/>
              </a:rPr>
              <a:t>2</a:t>
            </a:r>
            <a:r>
              <a:rPr kumimoji="1" lang="zh-CN" altLang="en-US" b="1">
                <a:latin typeface="Times New Roman" pitchFamily="18" charset="0"/>
              </a:rPr>
              <a:t>个</a:t>
            </a:r>
            <a:r>
              <a:rPr kumimoji="1" lang="en-US" altLang="zh-CN" b="1">
                <a:latin typeface="Times New Roman" pitchFamily="18" charset="0"/>
              </a:rPr>
              <a:t>, </a:t>
            </a:r>
            <a:r>
              <a:rPr kumimoji="1" lang="zh-CN" altLang="en-US" b="1">
                <a:latin typeface="Times New Roman" pitchFamily="18" charset="0"/>
              </a:rPr>
              <a:t>其余结点的度数均小于</a:t>
            </a:r>
            <a:r>
              <a:rPr kumimoji="1" lang="en-US" altLang="zh-CN" b="1">
                <a:latin typeface="Times New Roman" pitchFamily="18" charset="0"/>
              </a:rPr>
              <a:t>3, </a:t>
            </a:r>
            <a:r>
              <a:rPr kumimoji="1" lang="zh-CN" altLang="en-US" b="1">
                <a:latin typeface="Times New Roman" pitchFamily="18" charset="0"/>
              </a:rPr>
              <a:t>问</a:t>
            </a:r>
            <a:r>
              <a:rPr kumimoji="1" lang="en-US" altLang="zh-CN" b="1">
                <a:latin typeface="Times New Roman" pitchFamily="18" charset="0"/>
              </a:rPr>
              <a:t>G</a:t>
            </a:r>
            <a:r>
              <a:rPr kumimoji="1" lang="zh-CN" altLang="en-US" b="1">
                <a:latin typeface="Times New Roman" pitchFamily="18" charset="0"/>
              </a:rPr>
              <a:t>中至少有多少个结点</a:t>
            </a:r>
            <a:r>
              <a:rPr kumimoji="1" lang="en-US" altLang="zh-CN" b="1">
                <a:latin typeface="Times New Roman" pitchFamily="18" charset="0"/>
              </a:rPr>
              <a:t>?</a:t>
            </a:r>
            <a:r>
              <a:rPr kumimoji="1" lang="zh-CN" altLang="en-US" b="1">
                <a:latin typeface="Times New Roman" pitchFamily="18" charset="0"/>
              </a:rPr>
              <a:t>最多有多少个结点</a:t>
            </a:r>
            <a:r>
              <a:rPr kumimoji="1" lang="en-US" altLang="zh-CN" b="1">
                <a:latin typeface="Times New Roman" pitchFamily="18" charset="0"/>
              </a:rPr>
              <a:t>?</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245">
                                            <p:txEl>
                                              <p:pRg st="0" end="0"/>
                                            </p:txEl>
                                          </p:spTgt>
                                        </p:tgtEl>
                                        <p:attrNameLst>
                                          <p:attrName>style.visibility</p:attrName>
                                        </p:attrNameLst>
                                      </p:cBhvr>
                                      <p:to>
                                        <p:strVal val="visible"/>
                                      </p:to>
                                    </p:set>
                                    <p:anim calcmode="lin" valueType="num">
                                      <p:cBhvr additive="base">
                                        <p:cTn id="7" dur="500" fill="hold"/>
                                        <p:tgtEl>
                                          <p:spTgt spid="1024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24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245">
                                            <p:txEl>
                                              <p:pRg st="1" end="1"/>
                                            </p:txEl>
                                          </p:spTgt>
                                        </p:tgtEl>
                                        <p:attrNameLst>
                                          <p:attrName>style.visibility</p:attrName>
                                        </p:attrNameLst>
                                      </p:cBhvr>
                                      <p:to>
                                        <p:strVal val="visible"/>
                                      </p:to>
                                    </p:set>
                                    <p:anim calcmode="lin" valueType="num">
                                      <p:cBhvr additive="base">
                                        <p:cTn id="13" dur="500" fill="hold"/>
                                        <p:tgtEl>
                                          <p:spTgt spid="10245">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24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4" presetClass="entr" presetSubtype="0" fill="hold" grpId="0" nodeType="clickEffect">
                                  <p:stCondLst>
                                    <p:cond delay="0"/>
                                  </p:stCondLst>
                                  <p:childTnLst>
                                    <p:set>
                                      <p:cBhvr>
                                        <p:cTn id="18" dur="1" fill="hold">
                                          <p:stCondLst>
                                            <p:cond delay="499"/>
                                          </p:stCondLst>
                                        </p:cTn>
                                        <p:tgtEl>
                                          <p:spTgt spid="10270">
                                            <p:txEl>
                                              <p:pRg st="0" end="0"/>
                                            </p:txEl>
                                          </p:spTgt>
                                        </p:tgtEl>
                                        <p:attrNameLst>
                                          <p:attrName>style.visibility</p:attrName>
                                        </p:attrNameLst>
                                      </p:cBhvr>
                                      <p:to>
                                        <p:strVal val="visible"/>
                                      </p:to>
                                    </p:set>
                                    <p:anim to="" calcmode="lin" valueType="num">
                                      <p:cBhvr>
                                        <p:cTn id="19" dur="1" fill="hold"/>
                                        <p:tgtEl>
                                          <p:spTgt spid="10270">
                                            <p:txEl>
                                              <p:pRg st="0" end="0"/>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0"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2"/>
          <p:cNvSpPr>
            <a:spLocks noGrp="1"/>
          </p:cNvSpPr>
          <p:nvPr>
            <p:ph type="sldNum" sz="quarter" idx="11"/>
          </p:nvPr>
        </p:nvSpPr>
        <p:spPr/>
        <p:txBody>
          <a:bodyPr/>
          <a:lstStyle/>
          <a:p>
            <a:pPr>
              <a:defRPr/>
            </a:pPr>
            <a:fld id="{77F4983D-2999-40B4-ADEB-504FA8921E7E}" type="slidenum">
              <a:rPr lang="en-US" altLang="zh-CN"/>
              <a:pPr>
                <a:defRPr/>
              </a:pPr>
              <a:t>10</a:t>
            </a:fld>
            <a:endParaRPr lang="en-US" altLang="zh-CN"/>
          </a:p>
        </p:txBody>
      </p:sp>
      <p:grpSp>
        <p:nvGrpSpPr>
          <p:cNvPr id="102404" name="Group 4"/>
          <p:cNvGrpSpPr>
            <a:grpSpLocks/>
          </p:cNvGrpSpPr>
          <p:nvPr/>
        </p:nvGrpSpPr>
        <p:grpSpPr bwMode="auto">
          <a:xfrm>
            <a:off x="6516688" y="2781300"/>
            <a:ext cx="2374900" cy="3265488"/>
            <a:chOff x="4060" y="2251"/>
            <a:chExt cx="1496" cy="2057"/>
          </a:xfrm>
        </p:grpSpPr>
        <p:grpSp>
          <p:nvGrpSpPr>
            <p:cNvPr id="13318" name="Group 5"/>
            <p:cNvGrpSpPr>
              <a:grpSpLocks/>
            </p:cNvGrpSpPr>
            <p:nvPr/>
          </p:nvGrpSpPr>
          <p:grpSpPr bwMode="auto">
            <a:xfrm>
              <a:off x="4060" y="2251"/>
              <a:ext cx="1496" cy="2057"/>
              <a:chOff x="3697" y="2024"/>
              <a:chExt cx="1496" cy="2057"/>
            </a:xfrm>
          </p:grpSpPr>
          <p:grpSp>
            <p:nvGrpSpPr>
              <p:cNvPr id="13321" name="Group 6"/>
              <p:cNvGrpSpPr>
                <a:grpSpLocks/>
              </p:cNvGrpSpPr>
              <p:nvPr/>
            </p:nvGrpSpPr>
            <p:grpSpPr bwMode="auto">
              <a:xfrm>
                <a:off x="3878" y="2340"/>
                <a:ext cx="998" cy="1498"/>
                <a:chOff x="4241" y="2250"/>
                <a:chExt cx="998" cy="1498"/>
              </a:xfrm>
            </p:grpSpPr>
            <p:sp>
              <p:nvSpPr>
                <p:cNvPr id="13329" name="Oval 7"/>
                <p:cNvSpPr>
                  <a:spLocks noChangeArrowheads="1"/>
                </p:cNvSpPr>
                <p:nvPr/>
              </p:nvSpPr>
              <p:spPr bwMode="auto">
                <a:xfrm>
                  <a:off x="4468" y="3339"/>
                  <a:ext cx="590" cy="409"/>
                </a:xfrm>
                <a:prstGeom prst="ellipse">
                  <a:avLst/>
                </a:prstGeom>
                <a:noFill/>
                <a:ln w="38100" algn="ctr">
                  <a:solidFill>
                    <a:srgbClr val="008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0" name="Oval 8"/>
                <p:cNvSpPr>
                  <a:spLocks noChangeArrowheads="1"/>
                </p:cNvSpPr>
                <p:nvPr/>
              </p:nvSpPr>
              <p:spPr bwMode="auto">
                <a:xfrm>
                  <a:off x="4649" y="2250"/>
                  <a:ext cx="136" cy="137"/>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1" name="Oval 9"/>
                <p:cNvSpPr>
                  <a:spLocks noChangeArrowheads="1"/>
                </p:cNvSpPr>
                <p:nvPr/>
              </p:nvSpPr>
              <p:spPr bwMode="auto">
                <a:xfrm>
                  <a:off x="4241" y="2795"/>
                  <a:ext cx="136" cy="137"/>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2" name="Oval 10"/>
                <p:cNvSpPr>
                  <a:spLocks noChangeArrowheads="1"/>
                </p:cNvSpPr>
                <p:nvPr/>
              </p:nvSpPr>
              <p:spPr bwMode="auto">
                <a:xfrm>
                  <a:off x="4694" y="3249"/>
                  <a:ext cx="136" cy="137"/>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3" name="Oval 11"/>
                <p:cNvSpPr>
                  <a:spLocks noChangeArrowheads="1"/>
                </p:cNvSpPr>
                <p:nvPr/>
              </p:nvSpPr>
              <p:spPr bwMode="auto">
                <a:xfrm>
                  <a:off x="5103" y="2795"/>
                  <a:ext cx="136" cy="137"/>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334" name="Line 12"/>
                <p:cNvSpPr>
                  <a:spLocks noChangeShapeType="1"/>
                </p:cNvSpPr>
                <p:nvPr/>
              </p:nvSpPr>
              <p:spPr bwMode="auto">
                <a:xfrm flipH="1">
                  <a:off x="4332" y="2341"/>
                  <a:ext cx="317" cy="454"/>
                </a:xfrm>
                <a:prstGeom prst="line">
                  <a:avLst/>
                </a:prstGeom>
                <a:noFill/>
                <a:ln w="38100">
                  <a:solidFill>
                    <a:srgbClr val="008000"/>
                  </a:solidFill>
                  <a:round/>
                  <a:headEnd type="arrow"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35" name="Line 13"/>
                <p:cNvSpPr>
                  <a:spLocks noChangeShapeType="1"/>
                </p:cNvSpPr>
                <p:nvPr/>
              </p:nvSpPr>
              <p:spPr bwMode="auto">
                <a:xfrm>
                  <a:off x="4286" y="2931"/>
                  <a:ext cx="408" cy="363"/>
                </a:xfrm>
                <a:prstGeom prst="line">
                  <a:avLst/>
                </a:prstGeom>
                <a:noFill/>
                <a:ln w="38100">
                  <a:solidFill>
                    <a:srgbClr val="008000"/>
                  </a:solidFill>
                  <a:round/>
                  <a:headEnd type="arrow"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3322" name="Text Box 14"/>
              <p:cNvSpPr txBox="1">
                <a:spLocks noChangeArrowheads="1"/>
              </p:cNvSpPr>
              <p:nvPr/>
            </p:nvSpPr>
            <p:spPr bwMode="auto">
              <a:xfrm>
                <a:off x="3697" y="2931"/>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a</a:t>
                </a:r>
              </a:p>
            </p:txBody>
          </p:sp>
          <p:sp>
            <p:nvSpPr>
              <p:cNvPr id="13323" name="Text Box 15"/>
              <p:cNvSpPr txBox="1">
                <a:spLocks noChangeArrowheads="1"/>
              </p:cNvSpPr>
              <p:nvPr/>
            </p:nvSpPr>
            <p:spPr bwMode="auto">
              <a:xfrm>
                <a:off x="4286" y="3430"/>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b</a:t>
                </a:r>
              </a:p>
            </p:txBody>
          </p:sp>
          <p:sp>
            <p:nvSpPr>
              <p:cNvPr id="13324" name="Text Box 16"/>
              <p:cNvSpPr txBox="1">
                <a:spLocks noChangeArrowheads="1"/>
              </p:cNvSpPr>
              <p:nvPr/>
            </p:nvSpPr>
            <p:spPr bwMode="auto">
              <a:xfrm>
                <a:off x="4876" y="2795"/>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c</a:t>
                </a:r>
              </a:p>
            </p:txBody>
          </p:sp>
          <p:sp>
            <p:nvSpPr>
              <p:cNvPr id="13325" name="Text Box 17"/>
              <p:cNvSpPr txBox="1">
                <a:spLocks noChangeArrowheads="1"/>
              </p:cNvSpPr>
              <p:nvPr/>
            </p:nvSpPr>
            <p:spPr bwMode="auto">
              <a:xfrm>
                <a:off x="4241" y="2024"/>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d</a:t>
                </a:r>
              </a:p>
            </p:txBody>
          </p:sp>
          <p:sp>
            <p:nvSpPr>
              <p:cNvPr id="13326" name="Text Box 18"/>
              <p:cNvSpPr txBox="1">
                <a:spLocks noChangeArrowheads="1"/>
              </p:cNvSpPr>
              <p:nvPr/>
            </p:nvSpPr>
            <p:spPr bwMode="auto">
              <a:xfrm>
                <a:off x="3878" y="2432"/>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rgbClr val="0000CC"/>
                    </a:solidFill>
                    <a:latin typeface="Times New Roman" pitchFamily="18" charset="0"/>
                  </a:rPr>
                  <a:t>e</a:t>
                </a:r>
                <a:r>
                  <a:rPr kumimoji="1" lang="en-US" altLang="zh-CN" b="1" baseline="-25000">
                    <a:solidFill>
                      <a:srgbClr val="0000CC"/>
                    </a:solidFill>
                    <a:latin typeface="Times New Roman" pitchFamily="18" charset="0"/>
                  </a:rPr>
                  <a:t>1</a:t>
                </a:r>
              </a:p>
            </p:txBody>
          </p:sp>
          <p:sp>
            <p:nvSpPr>
              <p:cNvPr id="13327" name="Text Box 19"/>
              <p:cNvSpPr txBox="1">
                <a:spLocks noChangeArrowheads="1"/>
              </p:cNvSpPr>
              <p:nvPr/>
            </p:nvSpPr>
            <p:spPr bwMode="auto">
              <a:xfrm>
                <a:off x="4059" y="2976"/>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rgbClr val="0000CC"/>
                    </a:solidFill>
                    <a:latin typeface="Times New Roman" pitchFamily="18" charset="0"/>
                  </a:rPr>
                  <a:t>e</a:t>
                </a:r>
                <a:r>
                  <a:rPr kumimoji="1" lang="en-US" altLang="zh-CN" b="1" baseline="-25000">
                    <a:solidFill>
                      <a:srgbClr val="0000CC"/>
                    </a:solidFill>
                    <a:latin typeface="Times New Roman" pitchFamily="18" charset="0"/>
                  </a:rPr>
                  <a:t>2</a:t>
                </a:r>
              </a:p>
            </p:txBody>
          </p:sp>
          <p:sp>
            <p:nvSpPr>
              <p:cNvPr id="13328" name="Text Box 20"/>
              <p:cNvSpPr txBox="1">
                <a:spLocks noChangeArrowheads="1"/>
              </p:cNvSpPr>
              <p:nvPr/>
            </p:nvSpPr>
            <p:spPr bwMode="auto">
              <a:xfrm>
                <a:off x="4287" y="3793"/>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rgbClr val="0000CC"/>
                    </a:solidFill>
                    <a:latin typeface="Times New Roman" pitchFamily="18" charset="0"/>
                  </a:rPr>
                  <a:t>e</a:t>
                </a:r>
                <a:r>
                  <a:rPr kumimoji="1" lang="en-US" altLang="zh-CN" b="1" baseline="-25000">
                    <a:solidFill>
                      <a:srgbClr val="0000CC"/>
                    </a:solidFill>
                    <a:latin typeface="Times New Roman" pitchFamily="18" charset="0"/>
                  </a:rPr>
                  <a:t>3</a:t>
                </a:r>
              </a:p>
            </p:txBody>
          </p:sp>
        </p:grpSp>
        <p:sp>
          <p:nvSpPr>
            <p:cNvPr id="13319" name="Line 21"/>
            <p:cNvSpPr>
              <a:spLocks noChangeShapeType="1"/>
            </p:cNvSpPr>
            <p:nvPr/>
          </p:nvSpPr>
          <p:spPr bwMode="auto">
            <a:xfrm flipH="1">
              <a:off x="4377" y="3838"/>
              <a:ext cx="91" cy="91"/>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320" name="Line 22"/>
            <p:cNvSpPr>
              <a:spLocks noChangeShapeType="1"/>
            </p:cNvSpPr>
            <p:nvPr/>
          </p:nvSpPr>
          <p:spPr bwMode="auto">
            <a:xfrm>
              <a:off x="4468" y="3838"/>
              <a:ext cx="91" cy="91"/>
            </a:xfrm>
            <a:prstGeom prst="line">
              <a:avLst/>
            </a:prstGeom>
            <a:noFill/>
            <a:ln w="381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02423" name="Text Box 23"/>
          <p:cNvSpPr txBox="1">
            <a:spLocks noChangeArrowheads="1"/>
          </p:cNvSpPr>
          <p:nvPr/>
        </p:nvSpPr>
        <p:spPr bwMode="auto">
          <a:xfrm>
            <a:off x="466725" y="3116263"/>
            <a:ext cx="8277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bg1"/>
              </a:buClr>
            </a:pPr>
            <a:r>
              <a:rPr kumimoji="1" lang="zh-CN" altLang="en-US" b="1">
                <a:solidFill>
                  <a:schemeClr val="hlink"/>
                </a:solidFill>
                <a:latin typeface="Times New Roman" pitchFamily="18" charset="0"/>
              </a:rPr>
              <a:t>例：</a:t>
            </a:r>
            <a:r>
              <a:rPr kumimoji="1" lang="zh-CN" altLang="en-US" b="1">
                <a:solidFill>
                  <a:schemeClr val="bg2"/>
                </a:solidFill>
                <a:latin typeface="Times New Roman" pitchFamily="18" charset="0"/>
              </a:rPr>
              <a:t>找出下图中各结点的入度、出度和度数。</a:t>
            </a:r>
          </a:p>
        </p:txBody>
      </p:sp>
      <p:sp>
        <p:nvSpPr>
          <p:cNvPr id="13317" name="Rectangle 24"/>
          <p:cNvSpPr>
            <a:spLocks noChangeArrowheads="1"/>
          </p:cNvSpPr>
          <p:nvPr/>
        </p:nvSpPr>
        <p:spPr bwMode="auto">
          <a:xfrm>
            <a:off x="466725" y="1125538"/>
            <a:ext cx="6624638"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zh-CN" altLang="en-US" b="1">
                <a:solidFill>
                  <a:srgbClr val="0000CC"/>
                </a:solidFill>
                <a:latin typeface="Times New Roman" pitchFamily="18" charset="0"/>
              </a:rPr>
              <a:t>定义</a:t>
            </a:r>
            <a:r>
              <a:rPr kumimoji="1" lang="en-US" altLang="zh-CN" b="1">
                <a:solidFill>
                  <a:srgbClr val="0000CC"/>
                </a:solidFill>
                <a:latin typeface="Times New Roman" pitchFamily="18" charset="0"/>
              </a:rPr>
              <a:t>7-1.3</a:t>
            </a:r>
            <a:r>
              <a:rPr kumimoji="1" lang="zh-CN" altLang="en-US" b="1">
                <a:solidFill>
                  <a:srgbClr val="0000CC"/>
                </a:solidFill>
                <a:latin typeface="Times New Roman" pitchFamily="18" charset="0"/>
              </a:rPr>
              <a:t>：</a:t>
            </a:r>
            <a:r>
              <a:rPr kumimoji="1" lang="zh-CN" altLang="en-US" b="1">
                <a:latin typeface="Times New Roman" pitchFamily="18" charset="0"/>
              </a:rPr>
              <a:t>在有向图中，</a:t>
            </a:r>
          </a:p>
          <a:p>
            <a:pPr>
              <a:lnSpc>
                <a:spcPct val="130000"/>
              </a:lnSpc>
            </a:pPr>
            <a:r>
              <a:rPr lang="en-US" altLang="zh-CN" b="1">
                <a:latin typeface="Times New Roman" pitchFamily="18" charset="0"/>
              </a:rPr>
              <a:t>(1)</a:t>
            </a:r>
            <a:r>
              <a:rPr lang="zh-CN" altLang="en-US" b="1">
                <a:latin typeface="Times New Roman" pitchFamily="18" charset="0"/>
              </a:rPr>
              <a:t>射</a:t>
            </a:r>
            <a:r>
              <a:rPr kumimoji="1" lang="zh-CN" altLang="en-US" b="1">
                <a:latin typeface="Times New Roman" pitchFamily="18" charset="0"/>
              </a:rPr>
              <a:t>入一个结点的边数，称为该结点的</a:t>
            </a:r>
            <a:r>
              <a:rPr kumimoji="1" lang="zh-CN" altLang="en-US" b="1" i="1">
                <a:solidFill>
                  <a:srgbClr val="0000CC"/>
                </a:solidFill>
                <a:latin typeface="Times New Roman" pitchFamily="18" charset="0"/>
              </a:rPr>
              <a:t>入度</a:t>
            </a:r>
            <a:r>
              <a:rPr kumimoji="1" lang="zh-CN" altLang="en-US" b="1">
                <a:latin typeface="Times New Roman" pitchFamily="18" charset="0"/>
              </a:rPr>
              <a:t>，</a:t>
            </a:r>
          </a:p>
          <a:p>
            <a:pPr>
              <a:lnSpc>
                <a:spcPct val="130000"/>
              </a:lnSpc>
            </a:pPr>
            <a:r>
              <a:rPr kumimoji="1" lang="en-US" altLang="zh-CN" b="1">
                <a:latin typeface="Times New Roman" pitchFamily="18" charset="0"/>
              </a:rPr>
              <a:t>(2)</a:t>
            </a:r>
            <a:r>
              <a:rPr kumimoji="1" lang="zh-CN" altLang="en-US" b="1">
                <a:latin typeface="Times New Roman" pitchFamily="18" charset="0"/>
              </a:rPr>
              <a:t>由一个结点射出的边数称为该结点的</a:t>
            </a:r>
            <a:r>
              <a:rPr kumimoji="1" lang="zh-CN" altLang="en-US" b="1" i="1">
                <a:solidFill>
                  <a:srgbClr val="0000CC"/>
                </a:solidFill>
                <a:latin typeface="Times New Roman" pitchFamily="18" charset="0"/>
              </a:rPr>
              <a:t>出度</a:t>
            </a:r>
            <a:r>
              <a:rPr kumimoji="1" lang="zh-CN" altLang="en-US" b="1">
                <a:latin typeface="Times New Roman" pitchFamily="18" charset="0"/>
              </a:rPr>
              <a:t>。</a:t>
            </a:r>
          </a:p>
          <a:p>
            <a:pPr>
              <a:lnSpc>
                <a:spcPct val="130000"/>
              </a:lnSpc>
            </a:pPr>
            <a:r>
              <a:rPr kumimoji="1" lang="en-US" altLang="zh-CN" b="1">
                <a:latin typeface="Times New Roman" pitchFamily="18" charset="0"/>
              </a:rPr>
              <a:t>(3)</a:t>
            </a:r>
            <a:r>
              <a:rPr kumimoji="1" lang="zh-CN" altLang="en-US" b="1">
                <a:latin typeface="Times New Roman" pitchFamily="18" charset="0"/>
              </a:rPr>
              <a:t>结点的出度与入度之和就是该结点的</a:t>
            </a:r>
            <a:r>
              <a:rPr kumimoji="1" lang="zh-CN" altLang="en-US" b="1" i="1">
                <a:solidFill>
                  <a:srgbClr val="0000CC"/>
                </a:solidFill>
                <a:latin typeface="Times New Roman" pitchFamily="18" charset="0"/>
              </a:rPr>
              <a:t>度数</a:t>
            </a:r>
            <a:r>
              <a:rPr kumimoji="1" lang="zh-CN" altLang="en-US" b="1">
                <a:latin typeface="Times New Roman" pitchFamily="18" charset="0"/>
              </a:rPr>
              <a:t>。</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23"/>
                                        </p:tgtEl>
                                        <p:attrNameLst>
                                          <p:attrName>style.visibility</p:attrName>
                                        </p:attrNameLst>
                                      </p:cBhvr>
                                      <p:to>
                                        <p:strVal val="visible"/>
                                      </p:to>
                                    </p:set>
                                    <p:anim calcmode="lin" valueType="num">
                                      <p:cBhvr additive="base">
                                        <p:cTn id="7" dur="500" fill="hold"/>
                                        <p:tgtEl>
                                          <p:spTgt spid="102423"/>
                                        </p:tgtEl>
                                        <p:attrNameLst>
                                          <p:attrName>ppt_x</p:attrName>
                                        </p:attrNameLst>
                                      </p:cBhvr>
                                      <p:tavLst>
                                        <p:tav tm="0">
                                          <p:val>
                                            <p:strVal val="#ppt_x"/>
                                          </p:val>
                                        </p:tav>
                                        <p:tav tm="100000">
                                          <p:val>
                                            <p:strVal val="#ppt_x"/>
                                          </p:val>
                                        </p:tav>
                                      </p:tavLst>
                                    </p:anim>
                                    <p:anim calcmode="lin" valueType="num">
                                      <p:cBhvr additive="base">
                                        <p:cTn id="8" dur="500" fill="hold"/>
                                        <p:tgtEl>
                                          <p:spTgt spid="102423"/>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2404"/>
                                        </p:tgtEl>
                                        <p:attrNameLst>
                                          <p:attrName>style.visibility</p:attrName>
                                        </p:attrNameLst>
                                      </p:cBhvr>
                                      <p:to>
                                        <p:strVal val="visible"/>
                                      </p:to>
                                    </p:set>
                                    <p:anim calcmode="lin" valueType="num">
                                      <p:cBhvr additive="base">
                                        <p:cTn id="11" dur="500" fill="hold"/>
                                        <p:tgtEl>
                                          <p:spTgt spid="102404"/>
                                        </p:tgtEl>
                                        <p:attrNameLst>
                                          <p:attrName>ppt_x</p:attrName>
                                        </p:attrNameLst>
                                      </p:cBhvr>
                                      <p:tavLst>
                                        <p:tav tm="0">
                                          <p:val>
                                            <p:strVal val="#ppt_x"/>
                                          </p:val>
                                        </p:tav>
                                        <p:tav tm="100000">
                                          <p:val>
                                            <p:strVal val="#ppt_x"/>
                                          </p:val>
                                        </p:tav>
                                      </p:tavLst>
                                    </p:anim>
                                    <p:anim calcmode="lin" valueType="num">
                                      <p:cBhvr additive="base">
                                        <p:cTn id="12" dur="500" fill="hold"/>
                                        <p:tgtEl>
                                          <p:spTgt spid="1024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2"/>
          <p:cNvSpPr>
            <a:spLocks noGrp="1"/>
          </p:cNvSpPr>
          <p:nvPr>
            <p:ph type="sldNum" sz="quarter" idx="11"/>
          </p:nvPr>
        </p:nvSpPr>
        <p:spPr/>
        <p:txBody>
          <a:bodyPr/>
          <a:lstStyle/>
          <a:p>
            <a:pPr>
              <a:defRPr/>
            </a:pPr>
            <a:fld id="{D24E5742-2AC4-49C1-9B61-F90E44D72119}" type="slidenum">
              <a:rPr lang="en-US" altLang="zh-CN"/>
              <a:pPr>
                <a:defRPr/>
              </a:pPr>
              <a:t>11</a:t>
            </a:fld>
            <a:endParaRPr lang="en-US" altLang="zh-CN"/>
          </a:p>
        </p:txBody>
      </p:sp>
      <p:sp>
        <p:nvSpPr>
          <p:cNvPr id="11267" name="Text Box 3"/>
          <p:cNvSpPr txBox="1">
            <a:spLocks noChangeArrowheads="1"/>
          </p:cNvSpPr>
          <p:nvPr/>
        </p:nvSpPr>
        <p:spPr bwMode="auto">
          <a:xfrm>
            <a:off x="466725" y="1108075"/>
            <a:ext cx="8277225"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7-1.3</a:t>
            </a:r>
            <a:r>
              <a:rPr kumimoji="1" lang="zh-CN" altLang="en-US" b="1">
                <a:solidFill>
                  <a:srgbClr val="0000CC"/>
                </a:solidFill>
                <a:latin typeface="Times New Roman" pitchFamily="18" charset="0"/>
              </a:rPr>
              <a:t>：</a:t>
            </a:r>
            <a:r>
              <a:rPr kumimoji="1" lang="zh-CN" altLang="en-US" b="1">
                <a:latin typeface="Times New Roman" pitchFamily="18" charset="0"/>
              </a:rPr>
              <a:t>在任何有向图中，所有结点的入度之和等于所有结点的出度之和。</a:t>
            </a:r>
          </a:p>
          <a:p>
            <a:pPr algn="just" eaLnBrk="1" hangingPunct="1">
              <a:lnSpc>
                <a:spcPct val="130000"/>
              </a:lnSpc>
            </a:pPr>
            <a:r>
              <a:rPr kumimoji="1" lang="zh-CN" altLang="en-US" b="1">
                <a:solidFill>
                  <a:schemeClr val="hlink"/>
                </a:solidFill>
                <a:latin typeface="Times New Roman" pitchFamily="18" charset="0"/>
              </a:rPr>
              <a:t>证明：</a:t>
            </a:r>
            <a:r>
              <a:rPr kumimoji="1" lang="zh-CN" altLang="en-US" b="1">
                <a:latin typeface="Times New Roman" pitchFamily="18" charset="0"/>
              </a:rPr>
              <a:t>每一条有向边必对应一个出度和一个入度，有向图中各结点入度之和等于边数，各结点出度之和也等于边数，因此，任何有向图中，入度之和等于出度之和。</a:t>
            </a:r>
          </a:p>
        </p:txBody>
      </p:sp>
      <p:grpSp>
        <p:nvGrpSpPr>
          <p:cNvPr id="11293" name="Group 29"/>
          <p:cNvGrpSpPr>
            <a:grpSpLocks/>
          </p:cNvGrpSpPr>
          <p:nvPr/>
        </p:nvGrpSpPr>
        <p:grpSpPr bwMode="auto">
          <a:xfrm>
            <a:off x="4211638" y="3860800"/>
            <a:ext cx="2209800" cy="2066925"/>
            <a:chOff x="4150" y="2432"/>
            <a:chExt cx="1392" cy="1302"/>
          </a:xfrm>
        </p:grpSpPr>
        <p:sp>
          <p:nvSpPr>
            <p:cNvPr id="14341" name="Line 30"/>
            <p:cNvSpPr>
              <a:spLocks noChangeShapeType="1"/>
            </p:cNvSpPr>
            <p:nvPr/>
          </p:nvSpPr>
          <p:spPr bwMode="auto">
            <a:xfrm>
              <a:off x="4246" y="3680"/>
              <a:ext cx="1200" cy="0"/>
            </a:xfrm>
            <a:prstGeom prst="line">
              <a:avLst/>
            </a:prstGeom>
            <a:noFill/>
            <a:ln w="28575">
              <a:solidFill>
                <a:schemeClr val="tx1"/>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2" name="Line 31"/>
            <p:cNvSpPr>
              <a:spLocks noChangeShapeType="1"/>
            </p:cNvSpPr>
            <p:nvPr/>
          </p:nvSpPr>
          <p:spPr bwMode="auto">
            <a:xfrm flipV="1">
              <a:off x="4195" y="3158"/>
              <a:ext cx="0" cy="576"/>
            </a:xfrm>
            <a:prstGeom prst="line">
              <a:avLst/>
            </a:prstGeom>
            <a:noFill/>
            <a:ln w="28575">
              <a:solidFill>
                <a:schemeClr val="tx1"/>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3" name="Line 32"/>
            <p:cNvSpPr>
              <a:spLocks noChangeShapeType="1"/>
            </p:cNvSpPr>
            <p:nvPr/>
          </p:nvSpPr>
          <p:spPr bwMode="auto">
            <a:xfrm flipV="1">
              <a:off x="5511" y="3158"/>
              <a:ext cx="0" cy="576"/>
            </a:xfrm>
            <a:prstGeom prst="line">
              <a:avLst/>
            </a:prstGeom>
            <a:noFill/>
            <a:ln w="28575">
              <a:solidFill>
                <a:schemeClr val="tx1"/>
              </a:solidFill>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4" name="Line 33"/>
            <p:cNvSpPr>
              <a:spLocks noChangeShapeType="1"/>
            </p:cNvSpPr>
            <p:nvPr/>
          </p:nvSpPr>
          <p:spPr bwMode="auto">
            <a:xfrm>
              <a:off x="4246" y="3104"/>
              <a:ext cx="1200" cy="0"/>
            </a:xfrm>
            <a:prstGeom prst="line">
              <a:avLst/>
            </a:prstGeom>
            <a:noFill/>
            <a:ln w="28575">
              <a:solidFill>
                <a:schemeClr val="tx1"/>
              </a:solidFill>
              <a:round/>
              <a:headEnd w="lg" len="me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5" name="Line 34"/>
            <p:cNvSpPr>
              <a:spLocks noChangeShapeType="1"/>
            </p:cNvSpPr>
            <p:nvPr/>
          </p:nvSpPr>
          <p:spPr bwMode="auto">
            <a:xfrm flipV="1">
              <a:off x="4241" y="2523"/>
              <a:ext cx="544" cy="544"/>
            </a:xfrm>
            <a:prstGeom prst="line">
              <a:avLst/>
            </a:prstGeom>
            <a:noFill/>
            <a:ln w="28575">
              <a:solidFill>
                <a:schemeClr val="tx1"/>
              </a:solidFill>
              <a:round/>
              <a:headEnd type="arrow" w="lg" len="med"/>
              <a:tailEnd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6" name="Line 35"/>
            <p:cNvSpPr>
              <a:spLocks noChangeShapeType="1"/>
            </p:cNvSpPr>
            <p:nvPr/>
          </p:nvSpPr>
          <p:spPr bwMode="auto">
            <a:xfrm flipH="1" flipV="1">
              <a:off x="4854" y="2507"/>
              <a:ext cx="611" cy="560"/>
            </a:xfrm>
            <a:prstGeom prst="line">
              <a:avLst/>
            </a:prstGeom>
            <a:noFill/>
            <a:ln w="28575">
              <a:solidFill>
                <a:schemeClr val="tx1"/>
              </a:solidFill>
              <a:round/>
              <a:headEnd w="med" len="me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347" name="Oval 36"/>
            <p:cNvSpPr>
              <a:spLocks noChangeArrowheads="1"/>
            </p:cNvSpPr>
            <p:nvPr/>
          </p:nvSpPr>
          <p:spPr bwMode="auto">
            <a:xfrm>
              <a:off x="4150" y="3632"/>
              <a:ext cx="96" cy="96"/>
            </a:xfrm>
            <a:prstGeom prst="ellipse">
              <a:avLst/>
            </a:prstGeom>
            <a:solidFill>
              <a:srgbClr val="66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8" name="Oval 37"/>
            <p:cNvSpPr>
              <a:spLocks noChangeArrowheads="1"/>
            </p:cNvSpPr>
            <p:nvPr/>
          </p:nvSpPr>
          <p:spPr bwMode="auto">
            <a:xfrm>
              <a:off x="5446" y="3632"/>
              <a:ext cx="96" cy="96"/>
            </a:xfrm>
            <a:prstGeom prst="ellipse">
              <a:avLst/>
            </a:prstGeom>
            <a:solidFill>
              <a:srgbClr val="66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49" name="Oval 38"/>
            <p:cNvSpPr>
              <a:spLocks noChangeArrowheads="1"/>
            </p:cNvSpPr>
            <p:nvPr/>
          </p:nvSpPr>
          <p:spPr bwMode="auto">
            <a:xfrm>
              <a:off x="5446" y="3056"/>
              <a:ext cx="96" cy="96"/>
            </a:xfrm>
            <a:prstGeom prst="ellipse">
              <a:avLst/>
            </a:prstGeom>
            <a:solidFill>
              <a:srgbClr val="66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0" name="Oval 39"/>
            <p:cNvSpPr>
              <a:spLocks noChangeArrowheads="1"/>
            </p:cNvSpPr>
            <p:nvPr/>
          </p:nvSpPr>
          <p:spPr bwMode="auto">
            <a:xfrm>
              <a:off x="4774" y="2432"/>
              <a:ext cx="96" cy="96"/>
            </a:xfrm>
            <a:prstGeom prst="ellipse">
              <a:avLst/>
            </a:prstGeom>
            <a:solidFill>
              <a:srgbClr val="66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351" name="Oval 40"/>
            <p:cNvSpPr>
              <a:spLocks noChangeArrowheads="1"/>
            </p:cNvSpPr>
            <p:nvPr/>
          </p:nvSpPr>
          <p:spPr bwMode="auto">
            <a:xfrm>
              <a:off x="4150" y="3056"/>
              <a:ext cx="96" cy="96"/>
            </a:xfrm>
            <a:prstGeom prst="ellipse">
              <a:avLst/>
            </a:prstGeom>
            <a:solidFill>
              <a:srgbClr val="66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67">
                                            <p:txEl>
                                              <p:pRg st="1" end="1"/>
                                            </p:txEl>
                                          </p:spTgt>
                                        </p:tgtEl>
                                        <p:attrNameLst>
                                          <p:attrName>style.visibility</p:attrName>
                                        </p:attrNameLst>
                                      </p:cBhvr>
                                      <p:to>
                                        <p:strVal val="visible"/>
                                      </p:to>
                                    </p:set>
                                    <p:anim calcmode="lin" valueType="num">
                                      <p:cBhvr additive="base">
                                        <p:cTn id="7"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1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4"/>
          <p:cNvSpPr>
            <a:spLocks noGrp="1"/>
          </p:cNvSpPr>
          <p:nvPr>
            <p:ph type="sldNum" sz="quarter" idx="11"/>
          </p:nvPr>
        </p:nvSpPr>
        <p:spPr/>
        <p:txBody>
          <a:bodyPr/>
          <a:lstStyle/>
          <a:p>
            <a:pPr>
              <a:defRPr/>
            </a:pPr>
            <a:fld id="{7A18833F-4E2B-458A-AFCC-4B404ED1A017}" type="slidenum">
              <a:rPr lang="en-US" altLang="zh-CN"/>
              <a:pPr>
                <a:defRPr/>
              </a:pPr>
              <a:t>12</a:t>
            </a:fld>
            <a:endParaRPr lang="en-US" altLang="zh-CN"/>
          </a:p>
        </p:txBody>
      </p:sp>
      <p:sp>
        <p:nvSpPr>
          <p:cNvPr id="15363" name="Rectangle 3"/>
          <p:cNvSpPr>
            <a:spLocks noGrp="1" noChangeArrowheads="1"/>
          </p:cNvSpPr>
          <p:nvPr>
            <p:ph type="body" idx="1"/>
          </p:nvPr>
        </p:nvSpPr>
        <p:spPr>
          <a:xfrm>
            <a:off x="466725" y="1125538"/>
            <a:ext cx="8277225" cy="1532727"/>
          </a:xfrm>
          <a:noFill/>
        </p:spPr>
        <p:txBody>
          <a:bodyPr/>
          <a:lstStyle/>
          <a:p>
            <a:pPr eaLnBrk="1" hangingPunct="1">
              <a:buClr>
                <a:schemeClr val="bg1"/>
              </a:buClr>
              <a:buSzTx/>
              <a:buFontTx/>
              <a:buNone/>
            </a:pPr>
            <a:r>
              <a:rPr kumimoji="1" lang="zh-CN" altLang="en-US" dirty="0" smtClean="0"/>
              <a:t>连接于同一对结点间的多条边称为</a:t>
            </a:r>
            <a:r>
              <a:rPr kumimoji="1" lang="zh-CN" altLang="en-US" i="1" dirty="0" smtClean="0">
                <a:solidFill>
                  <a:srgbClr val="0000CC"/>
                </a:solidFill>
              </a:rPr>
              <a:t>平行边</a:t>
            </a:r>
          </a:p>
          <a:p>
            <a:pPr eaLnBrk="1" hangingPunct="1">
              <a:buClr>
                <a:schemeClr val="bg1"/>
              </a:buClr>
              <a:buSzTx/>
              <a:buFontTx/>
              <a:buNone/>
            </a:pPr>
            <a:r>
              <a:rPr kumimoji="1" lang="zh-CN" altLang="en-US" dirty="0" smtClean="0">
                <a:solidFill>
                  <a:srgbClr val="0000CC"/>
                </a:solidFill>
              </a:rPr>
              <a:t>定义</a:t>
            </a:r>
            <a:r>
              <a:rPr kumimoji="1" lang="en-US" altLang="zh-CN" dirty="0" smtClean="0">
                <a:solidFill>
                  <a:srgbClr val="0000CC"/>
                </a:solidFill>
              </a:rPr>
              <a:t>7-1.4</a:t>
            </a:r>
            <a:r>
              <a:rPr kumimoji="1" lang="zh-CN" altLang="en-US" dirty="0" smtClean="0">
                <a:solidFill>
                  <a:srgbClr val="0000CC"/>
                </a:solidFill>
              </a:rPr>
              <a:t>：</a:t>
            </a:r>
            <a:r>
              <a:rPr kumimoji="1" lang="zh-CN" altLang="en-US" dirty="0" smtClean="0"/>
              <a:t>含有平行边的任何一个图称为</a:t>
            </a:r>
            <a:r>
              <a:rPr kumimoji="1" lang="zh-CN" altLang="en-US" i="1" dirty="0" smtClean="0">
                <a:solidFill>
                  <a:srgbClr val="0000CC"/>
                </a:solidFill>
              </a:rPr>
              <a:t>多重图</a:t>
            </a:r>
            <a:r>
              <a:rPr kumimoji="1" lang="zh-CN" altLang="en-US" dirty="0" smtClean="0">
                <a:solidFill>
                  <a:srgbClr val="FF0000"/>
                </a:solidFill>
              </a:rPr>
              <a:t> </a:t>
            </a:r>
            <a:r>
              <a:rPr kumimoji="1" lang="en-US" altLang="zh-CN" dirty="0" smtClean="0"/>
              <a:t>,</a:t>
            </a:r>
          </a:p>
          <a:p>
            <a:pPr eaLnBrk="1" hangingPunct="1">
              <a:buClr>
                <a:schemeClr val="bg1"/>
              </a:buClr>
              <a:buSzTx/>
              <a:buFontTx/>
              <a:buNone/>
            </a:pPr>
            <a:r>
              <a:rPr kumimoji="1" lang="en-US" altLang="zh-CN" dirty="0" smtClean="0"/>
              <a:t>                     </a:t>
            </a:r>
            <a:r>
              <a:rPr kumimoji="1" lang="zh-CN" altLang="en-US" dirty="0" smtClean="0"/>
              <a:t>不含平行边和环的图称为</a:t>
            </a:r>
            <a:r>
              <a:rPr kumimoji="1" lang="zh-CN" altLang="en-US" i="1" dirty="0" smtClean="0">
                <a:solidFill>
                  <a:srgbClr val="0000CC"/>
                </a:solidFill>
              </a:rPr>
              <a:t>简单图</a:t>
            </a:r>
            <a:r>
              <a:rPr kumimoji="1" lang="zh-CN" altLang="en-US" dirty="0" smtClean="0"/>
              <a:t>。</a:t>
            </a:r>
            <a:endParaRPr lang="zh-CN" altLang="en-US" dirty="0" smtClean="0"/>
          </a:p>
        </p:txBody>
      </p:sp>
      <p:sp>
        <p:nvSpPr>
          <p:cNvPr id="103452" name="Text Box 28"/>
          <p:cNvSpPr txBox="1">
            <a:spLocks noChangeArrowheads="1"/>
          </p:cNvSpPr>
          <p:nvPr/>
        </p:nvSpPr>
        <p:spPr bwMode="auto">
          <a:xfrm>
            <a:off x="466725" y="2781300"/>
            <a:ext cx="1225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20000"/>
              </a:spcBef>
              <a:buClr>
                <a:schemeClr val="bg1"/>
              </a:buClr>
            </a:pPr>
            <a:r>
              <a:rPr kumimoji="1" lang="zh-CN" altLang="en-US" b="1">
                <a:solidFill>
                  <a:schemeClr val="hlink"/>
                </a:solidFill>
                <a:latin typeface="Times New Roman" pitchFamily="18" charset="0"/>
              </a:rPr>
              <a:t>例：</a:t>
            </a:r>
          </a:p>
        </p:txBody>
      </p:sp>
      <p:grpSp>
        <p:nvGrpSpPr>
          <p:cNvPr id="103453" name="Group 29"/>
          <p:cNvGrpSpPr>
            <a:grpSpLocks/>
          </p:cNvGrpSpPr>
          <p:nvPr/>
        </p:nvGrpSpPr>
        <p:grpSpPr bwMode="auto">
          <a:xfrm>
            <a:off x="2411413" y="3068638"/>
            <a:ext cx="1622425" cy="1511300"/>
            <a:chOff x="1292" y="3158"/>
            <a:chExt cx="1022" cy="952"/>
          </a:xfrm>
        </p:grpSpPr>
        <p:grpSp>
          <p:nvGrpSpPr>
            <p:cNvPr id="15382" name="Group 30"/>
            <p:cNvGrpSpPr>
              <a:grpSpLocks/>
            </p:cNvGrpSpPr>
            <p:nvPr/>
          </p:nvGrpSpPr>
          <p:grpSpPr bwMode="auto">
            <a:xfrm>
              <a:off x="1292" y="3158"/>
              <a:ext cx="1022" cy="672"/>
              <a:chOff x="1292" y="3348"/>
              <a:chExt cx="1022" cy="672"/>
            </a:xfrm>
          </p:grpSpPr>
          <p:sp>
            <p:nvSpPr>
              <p:cNvPr id="15384" name="Oval 31"/>
              <p:cNvSpPr>
                <a:spLocks noChangeArrowheads="1"/>
              </p:cNvSpPr>
              <p:nvPr/>
            </p:nvSpPr>
            <p:spPr bwMode="auto">
              <a:xfrm>
                <a:off x="1292" y="3348"/>
                <a:ext cx="1022" cy="199"/>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85" name="Freeform 32"/>
              <p:cNvSpPr>
                <a:spLocks/>
              </p:cNvSpPr>
              <p:nvPr/>
            </p:nvSpPr>
            <p:spPr bwMode="auto">
              <a:xfrm>
                <a:off x="1292" y="3448"/>
                <a:ext cx="545" cy="572"/>
              </a:xfrm>
              <a:custGeom>
                <a:avLst/>
                <a:gdLst>
                  <a:gd name="T0" fmla="*/ 0 w 930"/>
                  <a:gd name="T1" fmla="*/ 0 h 897"/>
                  <a:gd name="T2" fmla="*/ 545 w 930"/>
                  <a:gd name="T3" fmla="*/ 572 h 897"/>
                  <a:gd name="T4" fmla="*/ 0 60000 65536"/>
                  <a:gd name="T5" fmla="*/ 0 60000 65536"/>
                </a:gdLst>
                <a:ahLst/>
                <a:cxnLst>
                  <a:cxn ang="T4">
                    <a:pos x="T0" y="T1"/>
                  </a:cxn>
                  <a:cxn ang="T5">
                    <a:pos x="T2" y="T3"/>
                  </a:cxn>
                </a:cxnLst>
                <a:rect l="0" t="0" r="r" b="b"/>
                <a:pathLst>
                  <a:path w="930" h="897">
                    <a:moveTo>
                      <a:pt x="0" y="0"/>
                    </a:moveTo>
                    <a:lnTo>
                      <a:pt x="930" y="897"/>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86" name="Line 33"/>
              <p:cNvSpPr>
                <a:spLocks noChangeShapeType="1"/>
              </p:cNvSpPr>
              <p:nvPr/>
            </p:nvSpPr>
            <p:spPr bwMode="auto">
              <a:xfrm flipH="1">
                <a:off x="1837" y="3475"/>
                <a:ext cx="453" cy="54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83" name="Oval 34"/>
            <p:cNvSpPr>
              <a:spLocks noChangeArrowheads="1"/>
            </p:cNvSpPr>
            <p:nvPr/>
          </p:nvSpPr>
          <p:spPr bwMode="auto">
            <a:xfrm>
              <a:off x="1656" y="3838"/>
              <a:ext cx="408" cy="272"/>
            </a:xfrm>
            <a:prstGeom prst="ellipse">
              <a:avLst/>
            </a:prstGeom>
            <a:noFill/>
            <a:ln w="254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3459" name="Group 35"/>
          <p:cNvGrpSpPr>
            <a:grpSpLocks/>
          </p:cNvGrpSpPr>
          <p:nvPr/>
        </p:nvGrpSpPr>
        <p:grpSpPr bwMode="auto">
          <a:xfrm>
            <a:off x="5508625" y="3068638"/>
            <a:ext cx="1871663" cy="1582737"/>
            <a:chOff x="3107" y="3158"/>
            <a:chExt cx="1179" cy="997"/>
          </a:xfrm>
        </p:grpSpPr>
        <p:grpSp>
          <p:nvGrpSpPr>
            <p:cNvPr id="15368" name="Group 36"/>
            <p:cNvGrpSpPr>
              <a:grpSpLocks/>
            </p:cNvGrpSpPr>
            <p:nvPr/>
          </p:nvGrpSpPr>
          <p:grpSpPr bwMode="auto">
            <a:xfrm>
              <a:off x="3107" y="3203"/>
              <a:ext cx="1022" cy="672"/>
              <a:chOff x="1292" y="3348"/>
              <a:chExt cx="1022" cy="672"/>
            </a:xfrm>
          </p:grpSpPr>
          <p:sp>
            <p:nvSpPr>
              <p:cNvPr id="15379" name="Oval 37"/>
              <p:cNvSpPr>
                <a:spLocks noChangeArrowheads="1"/>
              </p:cNvSpPr>
              <p:nvPr/>
            </p:nvSpPr>
            <p:spPr bwMode="auto">
              <a:xfrm>
                <a:off x="1292" y="3348"/>
                <a:ext cx="1022" cy="199"/>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80" name="Freeform 38"/>
              <p:cNvSpPr>
                <a:spLocks/>
              </p:cNvSpPr>
              <p:nvPr/>
            </p:nvSpPr>
            <p:spPr bwMode="auto">
              <a:xfrm>
                <a:off x="1292" y="3448"/>
                <a:ext cx="545" cy="572"/>
              </a:xfrm>
              <a:custGeom>
                <a:avLst/>
                <a:gdLst>
                  <a:gd name="T0" fmla="*/ 0 w 930"/>
                  <a:gd name="T1" fmla="*/ 0 h 897"/>
                  <a:gd name="T2" fmla="*/ 545 w 930"/>
                  <a:gd name="T3" fmla="*/ 572 h 897"/>
                  <a:gd name="T4" fmla="*/ 0 60000 65536"/>
                  <a:gd name="T5" fmla="*/ 0 60000 65536"/>
                </a:gdLst>
                <a:ahLst/>
                <a:cxnLst>
                  <a:cxn ang="T4">
                    <a:pos x="T0" y="T1"/>
                  </a:cxn>
                  <a:cxn ang="T5">
                    <a:pos x="T2" y="T3"/>
                  </a:cxn>
                </a:cxnLst>
                <a:rect l="0" t="0" r="r" b="b"/>
                <a:pathLst>
                  <a:path w="930" h="897">
                    <a:moveTo>
                      <a:pt x="0" y="0"/>
                    </a:moveTo>
                    <a:lnTo>
                      <a:pt x="930" y="897"/>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5381" name="Line 39"/>
              <p:cNvSpPr>
                <a:spLocks noChangeShapeType="1"/>
              </p:cNvSpPr>
              <p:nvPr/>
            </p:nvSpPr>
            <p:spPr bwMode="auto">
              <a:xfrm flipH="1">
                <a:off x="1837" y="3475"/>
                <a:ext cx="453" cy="54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69" name="Oval 40"/>
            <p:cNvSpPr>
              <a:spLocks noChangeArrowheads="1"/>
            </p:cNvSpPr>
            <p:nvPr/>
          </p:nvSpPr>
          <p:spPr bwMode="auto">
            <a:xfrm>
              <a:off x="3471" y="3883"/>
              <a:ext cx="408" cy="272"/>
            </a:xfrm>
            <a:prstGeom prst="ellipse">
              <a:avLst/>
            </a:prstGeom>
            <a:noFill/>
            <a:ln w="254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5370" name="Line 41"/>
            <p:cNvSpPr>
              <a:spLocks noChangeShapeType="1"/>
            </p:cNvSpPr>
            <p:nvPr/>
          </p:nvSpPr>
          <p:spPr bwMode="auto">
            <a:xfrm flipV="1">
              <a:off x="3560" y="3158"/>
              <a:ext cx="182" cy="4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1" name="Line 42"/>
            <p:cNvSpPr>
              <a:spLocks noChangeShapeType="1"/>
            </p:cNvSpPr>
            <p:nvPr/>
          </p:nvSpPr>
          <p:spPr bwMode="auto">
            <a:xfrm flipH="1" flipV="1">
              <a:off x="3560" y="3203"/>
              <a:ext cx="136" cy="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2" name="Line 43"/>
            <p:cNvSpPr>
              <a:spLocks noChangeShapeType="1"/>
            </p:cNvSpPr>
            <p:nvPr/>
          </p:nvSpPr>
          <p:spPr bwMode="auto">
            <a:xfrm flipV="1">
              <a:off x="3470" y="3339"/>
              <a:ext cx="182" cy="4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3" name="Line 44"/>
            <p:cNvSpPr>
              <a:spLocks noChangeShapeType="1"/>
            </p:cNvSpPr>
            <p:nvPr/>
          </p:nvSpPr>
          <p:spPr bwMode="auto">
            <a:xfrm flipH="1" flipV="1">
              <a:off x="3470" y="3384"/>
              <a:ext cx="136" cy="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cxnSp>
          <p:nvCxnSpPr>
            <p:cNvPr id="15374" name="AutoShape 45"/>
            <p:cNvCxnSpPr>
              <a:cxnSpLocks noChangeShapeType="1"/>
              <a:stCxn id="15379" idx="6"/>
              <a:endCxn id="15369" idx="0"/>
            </p:cNvCxnSpPr>
            <p:nvPr/>
          </p:nvCxnSpPr>
          <p:spPr bwMode="auto">
            <a:xfrm flipH="1">
              <a:off x="3675" y="3303"/>
              <a:ext cx="454" cy="580"/>
            </a:xfrm>
            <a:prstGeom prst="curvedConnector4">
              <a:avLst>
                <a:gd name="adj1" fmla="val -31718"/>
                <a:gd name="adj2" fmla="val 97065"/>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375" name="Line 46"/>
            <p:cNvSpPr>
              <a:spLocks noChangeShapeType="1"/>
            </p:cNvSpPr>
            <p:nvPr/>
          </p:nvSpPr>
          <p:spPr bwMode="auto">
            <a:xfrm flipV="1">
              <a:off x="4150" y="3612"/>
              <a:ext cx="136" cy="9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6" name="Line 47"/>
            <p:cNvSpPr>
              <a:spLocks noChangeShapeType="1"/>
            </p:cNvSpPr>
            <p:nvPr/>
          </p:nvSpPr>
          <p:spPr bwMode="auto">
            <a:xfrm flipH="1" flipV="1">
              <a:off x="4286" y="3612"/>
              <a:ext cx="0" cy="1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7" name="Line 48"/>
            <p:cNvSpPr>
              <a:spLocks noChangeShapeType="1"/>
            </p:cNvSpPr>
            <p:nvPr/>
          </p:nvSpPr>
          <p:spPr bwMode="auto">
            <a:xfrm flipH="1" flipV="1">
              <a:off x="3787" y="3566"/>
              <a:ext cx="0" cy="1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378" name="Line 49"/>
            <p:cNvSpPr>
              <a:spLocks noChangeShapeType="1"/>
            </p:cNvSpPr>
            <p:nvPr/>
          </p:nvSpPr>
          <p:spPr bwMode="auto">
            <a:xfrm flipV="1">
              <a:off x="3787" y="3658"/>
              <a:ext cx="136" cy="4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5367" name="Rectangle 51"/>
          <p:cNvSpPr>
            <a:spLocks noChangeArrowheads="1"/>
          </p:cNvSpPr>
          <p:nvPr/>
        </p:nvSpPr>
        <p:spPr bwMode="auto">
          <a:xfrm>
            <a:off x="1187450" y="333375"/>
            <a:ext cx="446405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bg1"/>
              </a:buClr>
            </a:pPr>
            <a:r>
              <a:rPr kumimoji="1" lang="en-US" altLang="zh-CN" sz="2800" b="1">
                <a:solidFill>
                  <a:srgbClr val="993300"/>
                </a:solidFill>
                <a:latin typeface="Times New Roman" pitchFamily="18" charset="0"/>
              </a:rPr>
              <a:t>2</a:t>
            </a:r>
            <a:r>
              <a:rPr kumimoji="1" lang="zh-CN" altLang="en-US" sz="2800" b="1">
                <a:solidFill>
                  <a:srgbClr val="993300"/>
                </a:solidFill>
                <a:latin typeface="Times New Roman" pitchFamily="18" charset="0"/>
              </a:rPr>
              <a:t>、</a:t>
            </a:r>
            <a:r>
              <a:rPr kumimoji="1" lang="zh-CN" altLang="en-US" sz="2800" b="1">
                <a:solidFill>
                  <a:srgbClr val="993300"/>
                </a:solidFill>
                <a:latin typeface="Times New Roman" pitchFamily="18" charset="0"/>
                <a:ea typeface="楷体_GB2312" pitchFamily="49" charset="-122"/>
              </a:rPr>
              <a:t>多重图、简单图</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452"/>
                                        </p:tgtEl>
                                        <p:attrNameLst>
                                          <p:attrName>style.visibility</p:attrName>
                                        </p:attrNameLst>
                                      </p:cBhvr>
                                      <p:to>
                                        <p:strVal val="visible"/>
                                      </p:to>
                                    </p:set>
                                    <p:anim calcmode="lin" valueType="num">
                                      <p:cBhvr additive="base">
                                        <p:cTn id="7" dur="500" fill="hold"/>
                                        <p:tgtEl>
                                          <p:spTgt spid="103452"/>
                                        </p:tgtEl>
                                        <p:attrNameLst>
                                          <p:attrName>ppt_x</p:attrName>
                                        </p:attrNameLst>
                                      </p:cBhvr>
                                      <p:tavLst>
                                        <p:tav tm="0">
                                          <p:val>
                                            <p:strVal val="#ppt_x"/>
                                          </p:val>
                                        </p:tav>
                                        <p:tav tm="100000">
                                          <p:val>
                                            <p:strVal val="#ppt_x"/>
                                          </p:val>
                                        </p:tav>
                                      </p:tavLst>
                                    </p:anim>
                                    <p:anim calcmode="lin" valueType="num">
                                      <p:cBhvr additive="base">
                                        <p:cTn id="8" dur="500" fill="hold"/>
                                        <p:tgtEl>
                                          <p:spTgt spid="10345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3453"/>
                                        </p:tgtEl>
                                        <p:attrNameLst>
                                          <p:attrName>style.visibility</p:attrName>
                                        </p:attrNameLst>
                                      </p:cBhvr>
                                      <p:to>
                                        <p:strVal val="visible"/>
                                      </p:to>
                                    </p:set>
                                    <p:anim calcmode="lin" valueType="num">
                                      <p:cBhvr additive="base">
                                        <p:cTn id="11" dur="500" fill="hold"/>
                                        <p:tgtEl>
                                          <p:spTgt spid="103453"/>
                                        </p:tgtEl>
                                        <p:attrNameLst>
                                          <p:attrName>ppt_x</p:attrName>
                                        </p:attrNameLst>
                                      </p:cBhvr>
                                      <p:tavLst>
                                        <p:tav tm="0">
                                          <p:val>
                                            <p:strVal val="#ppt_x"/>
                                          </p:val>
                                        </p:tav>
                                        <p:tav tm="100000">
                                          <p:val>
                                            <p:strVal val="#ppt_x"/>
                                          </p:val>
                                        </p:tav>
                                      </p:tavLst>
                                    </p:anim>
                                    <p:anim calcmode="lin" valueType="num">
                                      <p:cBhvr additive="base">
                                        <p:cTn id="12" dur="500" fill="hold"/>
                                        <p:tgtEl>
                                          <p:spTgt spid="103453"/>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03459"/>
                                        </p:tgtEl>
                                        <p:attrNameLst>
                                          <p:attrName>style.visibility</p:attrName>
                                        </p:attrNameLst>
                                      </p:cBhvr>
                                      <p:to>
                                        <p:strVal val="visible"/>
                                      </p:to>
                                    </p:set>
                                    <p:anim calcmode="lin" valueType="num">
                                      <p:cBhvr additive="base">
                                        <p:cTn id="15" dur="500" fill="hold"/>
                                        <p:tgtEl>
                                          <p:spTgt spid="103459"/>
                                        </p:tgtEl>
                                        <p:attrNameLst>
                                          <p:attrName>ppt_x</p:attrName>
                                        </p:attrNameLst>
                                      </p:cBhvr>
                                      <p:tavLst>
                                        <p:tav tm="0">
                                          <p:val>
                                            <p:strVal val="#ppt_x"/>
                                          </p:val>
                                        </p:tav>
                                        <p:tav tm="100000">
                                          <p:val>
                                            <p:strVal val="#ppt_x"/>
                                          </p:val>
                                        </p:tav>
                                      </p:tavLst>
                                    </p:anim>
                                    <p:anim calcmode="lin" valueType="num">
                                      <p:cBhvr additive="base">
                                        <p:cTn id="16" dur="500" fill="hold"/>
                                        <p:tgtEl>
                                          <p:spTgt spid="1034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45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2"/>
          <p:cNvSpPr>
            <a:spLocks noGrp="1"/>
          </p:cNvSpPr>
          <p:nvPr>
            <p:ph type="sldNum" sz="quarter" idx="11"/>
          </p:nvPr>
        </p:nvSpPr>
        <p:spPr/>
        <p:txBody>
          <a:bodyPr/>
          <a:lstStyle/>
          <a:p>
            <a:pPr>
              <a:defRPr/>
            </a:pPr>
            <a:fld id="{013CB02E-C30A-48EA-B0F8-0874AC9267E5}" type="slidenum">
              <a:rPr lang="en-US" altLang="zh-CN"/>
              <a:pPr>
                <a:defRPr/>
              </a:pPr>
              <a:t>13</a:t>
            </a:fld>
            <a:endParaRPr lang="en-US" altLang="zh-CN"/>
          </a:p>
        </p:txBody>
      </p:sp>
      <p:sp>
        <p:nvSpPr>
          <p:cNvPr id="16387" name="Text Box 2"/>
          <p:cNvSpPr txBox="1">
            <a:spLocks noChangeArrowheads="1"/>
          </p:cNvSpPr>
          <p:nvPr/>
        </p:nvSpPr>
        <p:spPr bwMode="auto">
          <a:xfrm>
            <a:off x="466725" y="1052513"/>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rgbClr val="0000CC"/>
                </a:solidFill>
                <a:latin typeface="Times New Roman" pitchFamily="18" charset="0"/>
              </a:rPr>
              <a:t>定义</a:t>
            </a:r>
            <a:r>
              <a:rPr kumimoji="1" lang="en-US" altLang="zh-CN" b="1">
                <a:solidFill>
                  <a:srgbClr val="0000CC"/>
                </a:solidFill>
                <a:latin typeface="Times New Roman" pitchFamily="18" charset="0"/>
              </a:rPr>
              <a:t>7-1.5</a:t>
            </a:r>
            <a:r>
              <a:rPr kumimoji="1" lang="zh-CN" altLang="en-US" b="1">
                <a:solidFill>
                  <a:srgbClr val="0000CC"/>
                </a:solidFill>
                <a:latin typeface="Times New Roman" pitchFamily="18" charset="0"/>
              </a:rPr>
              <a:t>：</a:t>
            </a:r>
            <a:r>
              <a:rPr kumimoji="1" lang="zh-CN" altLang="en-US" b="1">
                <a:latin typeface="Times New Roman" pitchFamily="18" charset="0"/>
              </a:rPr>
              <a:t>简单图</a:t>
            </a:r>
            <a:r>
              <a:rPr kumimoji="1" lang="en-US" altLang="zh-CN" b="1">
                <a:latin typeface="Times New Roman" pitchFamily="18" charset="0"/>
              </a:rPr>
              <a:t>G=&lt;V, E&gt;</a:t>
            </a:r>
            <a:r>
              <a:rPr kumimoji="1" lang="zh-CN" altLang="en-US" b="1">
                <a:latin typeface="Times New Roman" pitchFamily="18" charset="0"/>
              </a:rPr>
              <a:t>中，若每一对结点间都有边相连，则称该图为</a:t>
            </a:r>
            <a:r>
              <a:rPr kumimoji="1" lang="zh-CN" altLang="en-US" b="1" i="1">
                <a:solidFill>
                  <a:srgbClr val="0000CC"/>
                </a:solidFill>
                <a:latin typeface="Times New Roman" pitchFamily="18" charset="0"/>
              </a:rPr>
              <a:t>完全图</a:t>
            </a:r>
            <a:r>
              <a:rPr kumimoji="1" lang="zh-CN" altLang="en-US" b="1">
                <a:latin typeface="Times New Roman" pitchFamily="18" charset="0"/>
              </a:rPr>
              <a:t>。有</a:t>
            </a:r>
            <a:r>
              <a:rPr kumimoji="1" lang="en-US" altLang="zh-CN" b="1">
                <a:latin typeface="Times New Roman" pitchFamily="18" charset="0"/>
              </a:rPr>
              <a:t>n</a:t>
            </a:r>
            <a:r>
              <a:rPr kumimoji="1" lang="zh-CN" altLang="en-US" b="1">
                <a:latin typeface="Times New Roman" pitchFamily="18" charset="0"/>
              </a:rPr>
              <a:t>个结点的</a:t>
            </a:r>
            <a:r>
              <a:rPr kumimoji="1" lang="zh-CN" altLang="en-US" b="1" i="1">
                <a:solidFill>
                  <a:srgbClr val="0000CC"/>
                </a:solidFill>
                <a:latin typeface="Times New Roman" pitchFamily="18" charset="0"/>
              </a:rPr>
              <a:t>无向完全图</a:t>
            </a:r>
            <a:r>
              <a:rPr kumimoji="1" lang="zh-CN" altLang="en-US" b="1">
                <a:latin typeface="Times New Roman" pitchFamily="18" charset="0"/>
              </a:rPr>
              <a:t>记为</a:t>
            </a:r>
            <a:r>
              <a:rPr kumimoji="1" lang="en-US" altLang="zh-CN" b="1" i="1">
                <a:solidFill>
                  <a:srgbClr val="0000CC"/>
                </a:solidFill>
                <a:latin typeface="Times New Roman" pitchFamily="18" charset="0"/>
              </a:rPr>
              <a:t>K</a:t>
            </a:r>
            <a:r>
              <a:rPr kumimoji="1" lang="en-US" altLang="zh-CN" b="1" i="1" baseline="-25000">
                <a:solidFill>
                  <a:srgbClr val="0000CC"/>
                </a:solidFill>
                <a:latin typeface="Times New Roman" pitchFamily="18" charset="0"/>
              </a:rPr>
              <a:t>n</a:t>
            </a:r>
            <a:r>
              <a:rPr kumimoji="1" lang="zh-CN" altLang="en-US" b="1">
                <a:latin typeface="Times New Roman" pitchFamily="18" charset="0"/>
              </a:rPr>
              <a:t>。</a:t>
            </a:r>
          </a:p>
        </p:txBody>
      </p:sp>
      <p:sp>
        <p:nvSpPr>
          <p:cNvPr id="16391" name="Text Box 8"/>
          <p:cNvSpPr txBox="1">
            <a:spLocks noChangeArrowheads="1"/>
          </p:cNvSpPr>
          <p:nvPr/>
        </p:nvSpPr>
        <p:spPr bwMode="auto">
          <a:xfrm>
            <a:off x="1116013" y="404813"/>
            <a:ext cx="58531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20000"/>
              </a:spcBef>
              <a:buClr>
                <a:schemeClr val="bg1"/>
              </a:buClr>
            </a:pPr>
            <a:r>
              <a:rPr kumimoji="1" lang="en-US" altLang="zh-CN" sz="2800" b="1">
                <a:solidFill>
                  <a:srgbClr val="993300"/>
                </a:solidFill>
                <a:latin typeface="Times New Roman" pitchFamily="18" charset="0"/>
              </a:rPr>
              <a:t>3</a:t>
            </a:r>
            <a:r>
              <a:rPr kumimoji="1" lang="zh-CN" altLang="en-US" sz="2800" b="1">
                <a:solidFill>
                  <a:srgbClr val="993300"/>
                </a:solidFill>
                <a:latin typeface="Times New Roman" pitchFamily="18" charset="0"/>
              </a:rPr>
              <a:t>、</a:t>
            </a:r>
            <a:r>
              <a:rPr kumimoji="1" lang="zh-CN" altLang="en-US" sz="2800" b="1">
                <a:solidFill>
                  <a:srgbClr val="993300"/>
                </a:solidFill>
                <a:latin typeface="Times New Roman" pitchFamily="18" charset="0"/>
                <a:ea typeface="楷体_GB2312" pitchFamily="49" charset="-122"/>
              </a:rPr>
              <a:t>完全图、补图、图同构</a:t>
            </a:r>
          </a:p>
        </p:txBody>
      </p:sp>
      <p:grpSp>
        <p:nvGrpSpPr>
          <p:cNvPr id="12304" name="Group 16"/>
          <p:cNvGrpSpPr>
            <a:grpSpLocks/>
          </p:cNvGrpSpPr>
          <p:nvPr/>
        </p:nvGrpSpPr>
        <p:grpSpPr bwMode="auto">
          <a:xfrm>
            <a:off x="466725" y="2492375"/>
            <a:ext cx="8277225" cy="673100"/>
            <a:chOff x="294" y="1570"/>
            <a:chExt cx="5214" cy="424"/>
          </a:xfrm>
        </p:grpSpPr>
        <p:graphicFrame>
          <p:nvGraphicFramePr>
            <p:cNvPr id="16394" name="Object 10"/>
            <p:cNvGraphicFramePr>
              <a:graphicFrameLocks noChangeAspect="1"/>
            </p:cNvGraphicFramePr>
            <p:nvPr/>
          </p:nvGraphicFramePr>
          <p:xfrm>
            <a:off x="4255" y="1570"/>
            <a:ext cx="712" cy="424"/>
          </p:xfrm>
          <a:graphic>
            <a:graphicData uri="http://schemas.openxmlformats.org/presentationml/2006/ole">
              <mc:AlternateContent xmlns:mc="http://schemas.openxmlformats.org/markup-compatibility/2006">
                <mc:Choice xmlns:v="urn:schemas-microsoft-com:vml" Requires="v">
                  <p:oleObj spid="_x0000_s16542" name="Equation" r:id="rId3" imgW="1129810" imgH="672808" progId="Equation.DSMT4">
                    <p:embed/>
                  </p:oleObj>
                </mc:Choice>
                <mc:Fallback>
                  <p:oleObj name="Equation" r:id="rId3" imgW="1129810" imgH="672808"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5" y="1570"/>
                          <a:ext cx="712" cy="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5" name="Text Box 11"/>
            <p:cNvSpPr txBox="1">
              <a:spLocks noChangeArrowheads="1"/>
            </p:cNvSpPr>
            <p:nvPr/>
          </p:nvSpPr>
          <p:spPr bwMode="auto">
            <a:xfrm>
              <a:off x="294" y="1640"/>
              <a:ext cx="521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spcBef>
                  <a:spcPct val="50000"/>
                </a:spcBef>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7-1.4</a:t>
              </a:r>
              <a:r>
                <a:rPr kumimoji="1" lang="zh-CN" altLang="en-US" b="1">
                  <a:solidFill>
                    <a:srgbClr val="0000CC"/>
                  </a:solidFill>
                  <a:latin typeface="Times New Roman" pitchFamily="18" charset="0"/>
                </a:rPr>
                <a:t>：</a:t>
              </a:r>
              <a:r>
                <a:rPr kumimoji="1" lang="zh-CN" altLang="en-US" b="1">
                  <a:latin typeface="Times New Roman" pitchFamily="18" charset="0"/>
                </a:rPr>
                <a:t> </a:t>
              </a:r>
              <a:r>
                <a:rPr kumimoji="1" lang="en-US" altLang="zh-CN" b="1">
                  <a:latin typeface="Times New Roman" pitchFamily="18" charset="0"/>
                </a:rPr>
                <a:t>n</a:t>
              </a:r>
              <a:r>
                <a:rPr kumimoji="1" lang="zh-CN" altLang="en-US" b="1">
                  <a:latin typeface="Times New Roman" pitchFamily="18" charset="0"/>
                </a:rPr>
                <a:t>个结点的无向完全图</a:t>
              </a:r>
              <a:r>
                <a:rPr kumimoji="1" lang="en-US" altLang="zh-CN" b="1">
                  <a:latin typeface="Times New Roman" pitchFamily="18" charset="0"/>
                </a:rPr>
                <a:t>K</a:t>
              </a:r>
              <a:r>
                <a:rPr kumimoji="1" lang="en-US" altLang="zh-CN" b="1" baseline="-25000">
                  <a:latin typeface="Times New Roman" pitchFamily="18" charset="0"/>
                </a:rPr>
                <a:t>n</a:t>
              </a:r>
              <a:r>
                <a:rPr kumimoji="1" lang="zh-CN" altLang="en-US" b="1">
                  <a:latin typeface="Times New Roman" pitchFamily="18" charset="0"/>
                </a:rPr>
                <a:t>的边数为</a:t>
              </a:r>
            </a:p>
          </p:txBody>
        </p:sp>
      </p:grpSp>
      <p:sp>
        <p:nvSpPr>
          <p:cNvPr id="12300" name="Text Box 12"/>
          <p:cNvSpPr txBox="1">
            <a:spLocks noChangeArrowheads="1"/>
          </p:cNvSpPr>
          <p:nvPr/>
        </p:nvSpPr>
        <p:spPr bwMode="auto">
          <a:xfrm>
            <a:off x="466725" y="1989138"/>
            <a:ext cx="8277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a:solidFill>
                  <a:schemeClr val="bg2"/>
                </a:solidFill>
                <a:latin typeface="Times New Roman" pitchFamily="18" charset="0"/>
              </a:rPr>
              <a:t>考虑</a:t>
            </a:r>
            <a:r>
              <a:rPr kumimoji="1" lang="en-US" altLang="zh-CN" b="1">
                <a:solidFill>
                  <a:schemeClr val="bg2"/>
                </a:solidFill>
                <a:latin typeface="Times New Roman" pitchFamily="18" charset="0"/>
              </a:rPr>
              <a:t>n=2</a:t>
            </a:r>
            <a:r>
              <a:rPr kumimoji="1" lang="zh-CN" altLang="en-US" b="1">
                <a:solidFill>
                  <a:schemeClr val="bg2"/>
                </a:solidFill>
                <a:latin typeface="Times New Roman" pitchFamily="18" charset="0"/>
              </a:rPr>
              <a:t>，</a:t>
            </a:r>
            <a:r>
              <a:rPr kumimoji="1" lang="en-US" altLang="zh-CN" b="1">
                <a:solidFill>
                  <a:schemeClr val="bg2"/>
                </a:solidFill>
                <a:latin typeface="Times New Roman" pitchFamily="18" charset="0"/>
              </a:rPr>
              <a:t>3</a:t>
            </a:r>
            <a:r>
              <a:rPr kumimoji="1" lang="zh-CN" altLang="en-US" b="1">
                <a:solidFill>
                  <a:schemeClr val="bg2"/>
                </a:solidFill>
                <a:latin typeface="Times New Roman" pitchFamily="18" charset="0"/>
              </a:rPr>
              <a:t>，</a:t>
            </a:r>
            <a:r>
              <a:rPr kumimoji="1" lang="en-US" altLang="zh-CN" b="1">
                <a:solidFill>
                  <a:schemeClr val="bg2"/>
                </a:solidFill>
                <a:latin typeface="Times New Roman" pitchFamily="18" charset="0"/>
              </a:rPr>
              <a:t>4</a:t>
            </a:r>
            <a:r>
              <a:rPr kumimoji="1" lang="zh-CN" altLang="en-US" b="1">
                <a:solidFill>
                  <a:schemeClr val="bg2"/>
                </a:solidFill>
                <a:latin typeface="Times New Roman" pitchFamily="18" charset="0"/>
              </a:rPr>
              <a:t>时，</a:t>
            </a:r>
            <a:r>
              <a:rPr kumimoji="1" lang="en-US" altLang="zh-CN" b="1">
                <a:solidFill>
                  <a:schemeClr val="bg2"/>
                </a:solidFill>
                <a:latin typeface="Times New Roman" pitchFamily="18" charset="0"/>
              </a:rPr>
              <a:t>K</a:t>
            </a:r>
            <a:r>
              <a:rPr kumimoji="1" lang="en-US" altLang="zh-CN" b="1" baseline="-25000">
                <a:solidFill>
                  <a:schemeClr val="bg2"/>
                </a:solidFill>
                <a:latin typeface="Times New Roman" pitchFamily="18" charset="0"/>
              </a:rPr>
              <a:t>n</a:t>
            </a:r>
            <a:r>
              <a:rPr kumimoji="1" lang="zh-CN" altLang="en-US" b="1">
                <a:solidFill>
                  <a:schemeClr val="bg2"/>
                </a:solidFill>
                <a:latin typeface="Times New Roman" pitchFamily="18" charset="0"/>
              </a:rPr>
              <a:t>的形状。</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300"/>
                                        </p:tgtEl>
                                        <p:attrNameLst>
                                          <p:attrName>style.visibility</p:attrName>
                                        </p:attrNameLst>
                                      </p:cBhvr>
                                      <p:to>
                                        <p:strVal val="visible"/>
                                      </p:to>
                                    </p:set>
                                    <p:anim calcmode="lin" valueType="num">
                                      <p:cBhvr additive="base">
                                        <p:cTn id="7" dur="500" fill="hold"/>
                                        <p:tgtEl>
                                          <p:spTgt spid="12300"/>
                                        </p:tgtEl>
                                        <p:attrNameLst>
                                          <p:attrName>ppt_x</p:attrName>
                                        </p:attrNameLst>
                                      </p:cBhvr>
                                      <p:tavLst>
                                        <p:tav tm="0">
                                          <p:val>
                                            <p:strVal val="#ppt_x"/>
                                          </p:val>
                                        </p:tav>
                                        <p:tav tm="100000">
                                          <p:val>
                                            <p:strVal val="#ppt_x"/>
                                          </p:val>
                                        </p:tav>
                                      </p:tavLst>
                                    </p:anim>
                                    <p:anim calcmode="lin" valueType="num">
                                      <p:cBhvr additive="base">
                                        <p:cTn id="8" dur="500" fill="hold"/>
                                        <p:tgtEl>
                                          <p:spTgt spid="1230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23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0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2"/>
          <p:cNvSpPr>
            <a:spLocks noGrp="1"/>
          </p:cNvSpPr>
          <p:nvPr>
            <p:ph type="sldNum" sz="quarter" idx="11"/>
          </p:nvPr>
        </p:nvSpPr>
        <p:spPr/>
        <p:txBody>
          <a:bodyPr/>
          <a:lstStyle/>
          <a:p>
            <a:pPr>
              <a:defRPr/>
            </a:pPr>
            <a:fld id="{C276684F-4CEF-4C3E-B9BC-6036E958C868}" type="slidenum">
              <a:rPr lang="en-US" altLang="zh-CN"/>
              <a:pPr>
                <a:defRPr/>
              </a:pPr>
              <a:t>14</a:t>
            </a:fld>
            <a:endParaRPr lang="en-US" altLang="zh-CN"/>
          </a:p>
        </p:txBody>
      </p:sp>
      <p:grpSp>
        <p:nvGrpSpPr>
          <p:cNvPr id="17411" name="Group 4"/>
          <p:cNvGrpSpPr>
            <a:grpSpLocks/>
          </p:cNvGrpSpPr>
          <p:nvPr/>
        </p:nvGrpSpPr>
        <p:grpSpPr bwMode="auto">
          <a:xfrm>
            <a:off x="527050" y="2849563"/>
            <a:ext cx="1524000" cy="1371600"/>
            <a:chOff x="385" y="1298"/>
            <a:chExt cx="960" cy="864"/>
          </a:xfrm>
        </p:grpSpPr>
        <p:sp>
          <p:nvSpPr>
            <p:cNvPr id="17426" name="Line 5"/>
            <p:cNvSpPr>
              <a:spLocks noChangeShapeType="1"/>
            </p:cNvSpPr>
            <p:nvPr/>
          </p:nvSpPr>
          <p:spPr bwMode="auto">
            <a:xfrm>
              <a:off x="385" y="1730"/>
              <a:ext cx="96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7427" name="Group 6"/>
            <p:cNvGrpSpPr>
              <a:grpSpLocks/>
            </p:cNvGrpSpPr>
            <p:nvPr/>
          </p:nvGrpSpPr>
          <p:grpSpPr bwMode="auto">
            <a:xfrm>
              <a:off x="385" y="1298"/>
              <a:ext cx="960" cy="864"/>
              <a:chOff x="385" y="1298"/>
              <a:chExt cx="960" cy="864"/>
            </a:xfrm>
          </p:grpSpPr>
          <p:sp>
            <p:nvSpPr>
              <p:cNvPr id="17428" name="Line 7"/>
              <p:cNvSpPr>
                <a:spLocks noChangeShapeType="1"/>
              </p:cNvSpPr>
              <p:nvPr/>
            </p:nvSpPr>
            <p:spPr bwMode="auto">
              <a:xfrm flipH="1">
                <a:off x="492" y="1730"/>
                <a:ext cx="853" cy="432"/>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9" name="Line 8"/>
              <p:cNvSpPr>
                <a:spLocks noChangeShapeType="1"/>
              </p:cNvSpPr>
              <p:nvPr/>
            </p:nvSpPr>
            <p:spPr bwMode="auto">
              <a:xfrm>
                <a:off x="385" y="1730"/>
                <a:ext cx="747" cy="432"/>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0" name="Line 9"/>
              <p:cNvSpPr>
                <a:spLocks noChangeShapeType="1"/>
              </p:cNvSpPr>
              <p:nvPr/>
            </p:nvSpPr>
            <p:spPr bwMode="auto">
              <a:xfrm flipH="1">
                <a:off x="385" y="1298"/>
                <a:ext cx="427" cy="432"/>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1" name="Line 10"/>
              <p:cNvSpPr>
                <a:spLocks noChangeShapeType="1"/>
              </p:cNvSpPr>
              <p:nvPr/>
            </p:nvSpPr>
            <p:spPr bwMode="auto">
              <a:xfrm>
                <a:off x="492" y="2162"/>
                <a:ext cx="64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32" name="Line 11"/>
              <p:cNvSpPr>
                <a:spLocks noChangeShapeType="1"/>
              </p:cNvSpPr>
              <p:nvPr/>
            </p:nvSpPr>
            <p:spPr bwMode="auto">
              <a:xfrm flipV="1">
                <a:off x="1132" y="1730"/>
                <a:ext cx="213" cy="432"/>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13324" name="Group 12"/>
          <p:cNvGrpSpPr>
            <a:grpSpLocks/>
          </p:cNvGrpSpPr>
          <p:nvPr/>
        </p:nvGrpSpPr>
        <p:grpSpPr bwMode="auto">
          <a:xfrm>
            <a:off x="2411413" y="2849563"/>
            <a:ext cx="1524000" cy="1371600"/>
            <a:chOff x="385" y="1298"/>
            <a:chExt cx="960" cy="864"/>
          </a:xfrm>
        </p:grpSpPr>
        <p:sp>
          <p:nvSpPr>
            <p:cNvPr id="17422" name="Line 13"/>
            <p:cNvSpPr>
              <a:spLocks noChangeShapeType="1"/>
            </p:cNvSpPr>
            <p:nvPr/>
          </p:nvSpPr>
          <p:spPr bwMode="auto">
            <a:xfrm flipH="1">
              <a:off x="492" y="1298"/>
              <a:ext cx="320" cy="864"/>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3" name="Line 14"/>
            <p:cNvSpPr>
              <a:spLocks noChangeShapeType="1"/>
            </p:cNvSpPr>
            <p:nvPr/>
          </p:nvSpPr>
          <p:spPr bwMode="auto">
            <a:xfrm>
              <a:off x="812" y="1298"/>
              <a:ext cx="320" cy="864"/>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4" name="Line 15"/>
            <p:cNvSpPr>
              <a:spLocks noChangeShapeType="1"/>
            </p:cNvSpPr>
            <p:nvPr/>
          </p:nvSpPr>
          <p:spPr bwMode="auto">
            <a:xfrm>
              <a:off x="385" y="1730"/>
              <a:ext cx="107" cy="432"/>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5" name="Line 16"/>
            <p:cNvSpPr>
              <a:spLocks noChangeShapeType="1"/>
            </p:cNvSpPr>
            <p:nvPr/>
          </p:nvSpPr>
          <p:spPr bwMode="auto">
            <a:xfrm flipH="1" flipV="1">
              <a:off x="812" y="1298"/>
              <a:ext cx="533" cy="432"/>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29" name="Group 17"/>
          <p:cNvGrpSpPr>
            <a:grpSpLocks/>
          </p:cNvGrpSpPr>
          <p:nvPr/>
        </p:nvGrpSpPr>
        <p:grpSpPr bwMode="auto">
          <a:xfrm>
            <a:off x="4279900" y="2925763"/>
            <a:ext cx="1731963" cy="1219200"/>
            <a:chOff x="2113" y="1346"/>
            <a:chExt cx="1091" cy="768"/>
          </a:xfrm>
        </p:grpSpPr>
        <p:sp>
          <p:nvSpPr>
            <p:cNvPr id="17419" name="Line 18"/>
            <p:cNvSpPr>
              <a:spLocks noChangeShapeType="1"/>
            </p:cNvSpPr>
            <p:nvPr/>
          </p:nvSpPr>
          <p:spPr bwMode="auto">
            <a:xfrm>
              <a:off x="2113" y="1730"/>
              <a:ext cx="1091"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0" name="Line 19"/>
            <p:cNvSpPr>
              <a:spLocks noChangeShapeType="1"/>
            </p:cNvSpPr>
            <p:nvPr/>
          </p:nvSpPr>
          <p:spPr bwMode="auto">
            <a:xfrm flipH="1">
              <a:off x="2234" y="1730"/>
              <a:ext cx="970" cy="3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21" name="Line 20"/>
            <p:cNvSpPr>
              <a:spLocks noChangeShapeType="1"/>
            </p:cNvSpPr>
            <p:nvPr/>
          </p:nvSpPr>
          <p:spPr bwMode="auto">
            <a:xfrm flipH="1">
              <a:off x="2113" y="1346"/>
              <a:ext cx="485" cy="38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3333" name="Group 21"/>
          <p:cNvGrpSpPr>
            <a:grpSpLocks/>
          </p:cNvGrpSpPr>
          <p:nvPr/>
        </p:nvGrpSpPr>
        <p:grpSpPr bwMode="auto">
          <a:xfrm>
            <a:off x="6561138" y="2922588"/>
            <a:ext cx="1539875" cy="1219200"/>
            <a:chOff x="3447" y="1346"/>
            <a:chExt cx="970" cy="768"/>
          </a:xfrm>
        </p:grpSpPr>
        <p:sp>
          <p:nvSpPr>
            <p:cNvPr id="17416" name="Line 22"/>
            <p:cNvSpPr>
              <a:spLocks noChangeShapeType="1"/>
            </p:cNvSpPr>
            <p:nvPr/>
          </p:nvSpPr>
          <p:spPr bwMode="auto">
            <a:xfrm flipH="1">
              <a:off x="3447" y="1346"/>
              <a:ext cx="364" cy="768"/>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7" name="Line 23"/>
            <p:cNvSpPr>
              <a:spLocks noChangeShapeType="1"/>
            </p:cNvSpPr>
            <p:nvPr/>
          </p:nvSpPr>
          <p:spPr bwMode="auto">
            <a:xfrm>
              <a:off x="3811" y="1346"/>
              <a:ext cx="363" cy="768"/>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418" name="Line 24"/>
            <p:cNvSpPr>
              <a:spLocks noChangeShapeType="1"/>
            </p:cNvSpPr>
            <p:nvPr/>
          </p:nvSpPr>
          <p:spPr bwMode="auto">
            <a:xfrm flipH="1" flipV="1">
              <a:off x="3811" y="1346"/>
              <a:ext cx="606" cy="384"/>
            </a:xfrm>
            <a:prstGeom prst="line">
              <a:avLst/>
            </a:prstGeom>
            <a:noFill/>
            <a:ln w="254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7415" name="Text Box 3"/>
          <p:cNvSpPr txBox="1">
            <a:spLocks noChangeArrowheads="1"/>
          </p:cNvSpPr>
          <p:nvPr/>
        </p:nvSpPr>
        <p:spPr bwMode="auto">
          <a:xfrm>
            <a:off x="466725" y="1085850"/>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dirty="0">
                <a:solidFill>
                  <a:srgbClr val="0000CC"/>
                </a:solidFill>
                <a:latin typeface="Times New Roman" pitchFamily="18" charset="0"/>
              </a:rPr>
              <a:t>定义</a:t>
            </a:r>
            <a:r>
              <a:rPr kumimoji="1" lang="en-US" altLang="zh-CN" b="1" dirty="0">
                <a:solidFill>
                  <a:srgbClr val="0000CC"/>
                </a:solidFill>
                <a:latin typeface="Times New Roman" pitchFamily="18" charset="0"/>
              </a:rPr>
              <a:t>7-1.6</a:t>
            </a:r>
            <a:r>
              <a:rPr kumimoji="1" lang="zh-CN" altLang="en-US" b="1" dirty="0">
                <a:solidFill>
                  <a:srgbClr val="0000CC"/>
                </a:solidFill>
                <a:latin typeface="Times New Roman" pitchFamily="18" charset="0"/>
              </a:rPr>
              <a:t>：</a:t>
            </a:r>
            <a:r>
              <a:rPr kumimoji="1" lang="zh-CN" altLang="en-US" b="1" dirty="0">
                <a:latin typeface="Times New Roman" pitchFamily="18" charset="0"/>
              </a:rPr>
              <a:t>给定一个图</a:t>
            </a:r>
            <a:r>
              <a:rPr kumimoji="1" lang="en-US" altLang="zh-CN" b="1" dirty="0">
                <a:latin typeface="Times New Roman" pitchFamily="18" charset="0"/>
              </a:rPr>
              <a:t>G</a:t>
            </a:r>
            <a:r>
              <a:rPr kumimoji="1" lang="zh-CN" altLang="en-US" b="1" dirty="0">
                <a:latin typeface="Times New Roman" pitchFamily="18" charset="0"/>
              </a:rPr>
              <a:t>，由</a:t>
            </a:r>
            <a:r>
              <a:rPr kumimoji="1" lang="en-US" altLang="zh-CN" b="1" dirty="0">
                <a:latin typeface="Times New Roman" pitchFamily="18" charset="0"/>
              </a:rPr>
              <a:t>G</a:t>
            </a:r>
            <a:r>
              <a:rPr kumimoji="1" lang="zh-CN" altLang="en-US" b="1" dirty="0">
                <a:latin typeface="Times New Roman" pitchFamily="18" charset="0"/>
              </a:rPr>
              <a:t>中所有结点和所有能使</a:t>
            </a:r>
            <a:r>
              <a:rPr kumimoji="1" lang="en-US" altLang="zh-CN" b="1" dirty="0">
                <a:latin typeface="Times New Roman" pitchFamily="18" charset="0"/>
              </a:rPr>
              <a:t>G</a:t>
            </a:r>
            <a:r>
              <a:rPr kumimoji="1" lang="zh-CN" altLang="en-US" b="1" dirty="0">
                <a:latin typeface="Times New Roman" pitchFamily="18" charset="0"/>
              </a:rPr>
              <a:t>成为完全图的添加边组成的图，称为</a:t>
            </a:r>
            <a:r>
              <a:rPr kumimoji="1" lang="en-US" altLang="zh-CN" b="1" i="1" dirty="0">
                <a:solidFill>
                  <a:srgbClr val="0000CC"/>
                </a:solidFill>
                <a:latin typeface="Times New Roman" pitchFamily="18" charset="0"/>
              </a:rPr>
              <a:t>G</a:t>
            </a:r>
            <a:r>
              <a:rPr kumimoji="1" lang="zh-CN" altLang="en-US" b="1" i="1" dirty="0">
                <a:solidFill>
                  <a:srgbClr val="0000CC"/>
                </a:solidFill>
                <a:latin typeface="Times New Roman" pitchFamily="18" charset="0"/>
              </a:rPr>
              <a:t>的相对于完全图的补图</a:t>
            </a:r>
            <a:r>
              <a:rPr kumimoji="1" lang="zh-CN" altLang="en-US" b="1" dirty="0">
                <a:latin typeface="Times New Roman" pitchFamily="18" charset="0"/>
              </a:rPr>
              <a:t>。 </a:t>
            </a:r>
          </a:p>
          <a:p>
            <a:pPr eaLnBrk="1" hangingPunct="1">
              <a:lnSpc>
                <a:spcPct val="130000"/>
              </a:lnSpc>
            </a:pPr>
            <a:r>
              <a:rPr kumimoji="1" lang="zh-CN" altLang="en-US" b="1" dirty="0">
                <a:latin typeface="Times New Roman" pitchFamily="18" charset="0"/>
              </a:rPr>
              <a:t>简称为</a:t>
            </a:r>
            <a:r>
              <a:rPr kumimoji="1" lang="en-US" altLang="zh-CN" b="1" i="1" dirty="0">
                <a:solidFill>
                  <a:srgbClr val="0000CC"/>
                </a:solidFill>
                <a:latin typeface="Times New Roman" pitchFamily="18" charset="0"/>
              </a:rPr>
              <a:t>G</a:t>
            </a:r>
            <a:r>
              <a:rPr kumimoji="1" lang="zh-CN" altLang="en-US" b="1" i="1" dirty="0">
                <a:solidFill>
                  <a:srgbClr val="0000CC"/>
                </a:solidFill>
                <a:latin typeface="Times New Roman" pitchFamily="18" charset="0"/>
              </a:rPr>
              <a:t>的补图</a:t>
            </a:r>
            <a:r>
              <a:rPr kumimoji="1" lang="zh-CN" altLang="en-US" b="1" dirty="0">
                <a:latin typeface="Times New Roman" pitchFamily="18" charset="0"/>
              </a:rPr>
              <a:t>，记作</a:t>
            </a:r>
            <a:r>
              <a:rPr kumimoji="1" lang="zh-CN" altLang="en-US" b="1" dirty="0">
                <a:latin typeface="Times New Roman" pitchFamily="18" charset="0"/>
                <a:sym typeface="Symbol" pitchFamily="18" charset="2"/>
              </a:rPr>
              <a:t></a:t>
            </a:r>
            <a:r>
              <a:rPr kumimoji="1" lang="en-US" altLang="zh-CN" b="1" dirty="0">
                <a:latin typeface="Times New Roman" pitchFamily="18" charset="0"/>
              </a:rPr>
              <a:t>G</a:t>
            </a:r>
            <a:r>
              <a:rPr kumimoji="1" lang="zh-CN" altLang="en-US" b="1" dirty="0">
                <a:latin typeface="Times New Roman" pitchFamily="18" charset="0"/>
              </a:rPr>
              <a:t>。</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5" presetClass="path" presetSubtype="0" accel="50000" decel="50000" fill="hold" nodeType="clickEffect">
                                  <p:stCondLst>
                                    <p:cond delay="0"/>
                                  </p:stCondLst>
                                  <p:childTnLst>
                                    <p:animMotion origin="layout" path="M 0.0033 5.55112E-17 L -0.20608 0.00509 " pathEditMode="relative" rAng="0" ptsTypes="AA">
                                      <p:cBhvr>
                                        <p:cTn id="6" dur="2000" fill="hold"/>
                                        <p:tgtEl>
                                          <p:spTgt spid="13324"/>
                                        </p:tgtEl>
                                        <p:attrNameLst>
                                          <p:attrName>ppt_x</p:attrName>
                                          <p:attrName>ppt_y</p:attrName>
                                        </p:attrNameLst>
                                      </p:cBhvr>
                                      <p:rCtr x="-10469" y="254"/>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13329"/>
                                        </p:tgtEl>
                                        <p:attrNameLst>
                                          <p:attrName>style.visibility</p:attrName>
                                        </p:attrNameLst>
                                      </p:cBhvr>
                                      <p:to>
                                        <p:strVal val="visible"/>
                                      </p:to>
                                    </p:set>
                                    <p:anim calcmode="lin" valueType="num">
                                      <p:cBhvr additive="base">
                                        <p:cTn id="11" dur="500" fill="hold"/>
                                        <p:tgtEl>
                                          <p:spTgt spid="13329"/>
                                        </p:tgtEl>
                                        <p:attrNameLst>
                                          <p:attrName>ppt_x</p:attrName>
                                        </p:attrNameLst>
                                      </p:cBhvr>
                                      <p:tavLst>
                                        <p:tav tm="0">
                                          <p:val>
                                            <p:strVal val="#ppt_x"/>
                                          </p:val>
                                        </p:tav>
                                        <p:tav tm="100000">
                                          <p:val>
                                            <p:strVal val="#ppt_x"/>
                                          </p:val>
                                        </p:tav>
                                      </p:tavLst>
                                    </p:anim>
                                    <p:anim calcmode="lin" valueType="num">
                                      <p:cBhvr additive="base">
                                        <p:cTn id="12" dur="500" fill="hold"/>
                                        <p:tgtEl>
                                          <p:spTgt spid="13329"/>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3333"/>
                                        </p:tgtEl>
                                        <p:attrNameLst>
                                          <p:attrName>style.visibility</p:attrName>
                                        </p:attrNameLst>
                                      </p:cBhvr>
                                      <p:to>
                                        <p:strVal val="visible"/>
                                      </p:to>
                                    </p:set>
                                    <p:anim calcmode="lin" valueType="num">
                                      <p:cBhvr additive="base">
                                        <p:cTn id="15" dur="500" fill="hold"/>
                                        <p:tgtEl>
                                          <p:spTgt spid="13333"/>
                                        </p:tgtEl>
                                        <p:attrNameLst>
                                          <p:attrName>ppt_x</p:attrName>
                                        </p:attrNameLst>
                                      </p:cBhvr>
                                      <p:tavLst>
                                        <p:tav tm="0">
                                          <p:val>
                                            <p:strVal val="#ppt_x"/>
                                          </p:val>
                                        </p:tav>
                                        <p:tav tm="100000">
                                          <p:val>
                                            <p:strVal val="#ppt_x"/>
                                          </p:val>
                                        </p:tav>
                                      </p:tavLst>
                                    </p:anim>
                                    <p:anim calcmode="lin" valueType="num">
                                      <p:cBhvr additive="base">
                                        <p:cTn id="16" dur="500" fill="hold"/>
                                        <p:tgtEl>
                                          <p:spTgt spid="13333"/>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35" presetClass="path" presetSubtype="0" accel="50000" decel="50000" fill="hold" nodeType="clickEffect">
                                  <p:stCondLst>
                                    <p:cond delay="0"/>
                                  </p:stCondLst>
                                  <p:childTnLst>
                                    <p:animMotion origin="layout" path="M 3.88889E-6 -8.67052E-7 L -0.23091 0.00601 " pathEditMode="relative" rAng="0" ptsTypes="AA">
                                      <p:cBhvr>
                                        <p:cTn id="20" dur="2000" fill="hold"/>
                                        <p:tgtEl>
                                          <p:spTgt spid="13333"/>
                                        </p:tgtEl>
                                        <p:attrNameLst>
                                          <p:attrName>ppt_x</p:attrName>
                                          <p:attrName>ppt_y</p:attrName>
                                        </p:attrNameLst>
                                      </p:cBhvr>
                                      <p:rCtr x="-11545" y="30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4"/>
          <p:cNvSpPr>
            <a:spLocks noGrp="1"/>
          </p:cNvSpPr>
          <p:nvPr>
            <p:ph type="sldNum" sz="quarter" idx="11"/>
          </p:nvPr>
        </p:nvSpPr>
        <p:spPr/>
        <p:txBody>
          <a:bodyPr/>
          <a:lstStyle/>
          <a:p>
            <a:pPr>
              <a:defRPr/>
            </a:pPr>
            <a:fld id="{800DF663-4EB6-4D5E-9653-FE9485F7F349}" type="slidenum">
              <a:rPr lang="en-US" altLang="zh-CN"/>
              <a:pPr>
                <a:defRPr/>
              </a:pPr>
              <a:t>15</a:t>
            </a:fld>
            <a:endParaRPr lang="en-US" altLang="zh-CN"/>
          </a:p>
        </p:txBody>
      </p:sp>
      <p:sp>
        <p:nvSpPr>
          <p:cNvPr id="18435" name="Rectangle 3"/>
          <p:cNvSpPr>
            <a:spLocks noGrp="1" noChangeArrowheads="1"/>
          </p:cNvSpPr>
          <p:nvPr>
            <p:ph type="body" idx="1"/>
          </p:nvPr>
        </p:nvSpPr>
        <p:spPr>
          <a:xfrm>
            <a:off x="466725" y="1125538"/>
            <a:ext cx="8277225" cy="1516062"/>
          </a:xfrm>
          <a:noFill/>
        </p:spPr>
        <p:txBody>
          <a:bodyPr/>
          <a:lstStyle/>
          <a:p>
            <a:pPr eaLnBrk="1" hangingPunct="1"/>
            <a:r>
              <a:rPr kumimoji="1" lang="zh-CN" altLang="en-US" smtClean="0">
                <a:solidFill>
                  <a:srgbClr val="0000CC"/>
                </a:solidFill>
              </a:rPr>
              <a:t>定义</a:t>
            </a:r>
            <a:r>
              <a:rPr kumimoji="1" lang="en-US" altLang="zh-CN" smtClean="0">
                <a:solidFill>
                  <a:srgbClr val="0000CC"/>
                </a:solidFill>
              </a:rPr>
              <a:t>7-1.7</a:t>
            </a:r>
            <a:r>
              <a:rPr kumimoji="1" lang="zh-CN" altLang="en-US" smtClean="0">
                <a:solidFill>
                  <a:srgbClr val="0000CC"/>
                </a:solidFill>
              </a:rPr>
              <a:t>：</a:t>
            </a:r>
            <a:r>
              <a:rPr kumimoji="1" lang="zh-CN" altLang="en-US" smtClean="0"/>
              <a:t>设图</a:t>
            </a:r>
            <a:r>
              <a:rPr kumimoji="1" lang="en-US" altLang="zh-CN" smtClean="0"/>
              <a:t>G=&lt;V, E&gt;</a:t>
            </a:r>
            <a:r>
              <a:rPr kumimoji="1" lang="zh-CN" altLang="en-US" smtClean="0"/>
              <a:t>，如果有图</a:t>
            </a:r>
            <a:r>
              <a:rPr kumimoji="1" lang="en-US" altLang="zh-CN" smtClean="0"/>
              <a:t>G’=&lt;V’, E’&gt;</a:t>
            </a:r>
            <a:r>
              <a:rPr kumimoji="1" lang="zh-CN" altLang="en-US" smtClean="0"/>
              <a:t>，且</a:t>
            </a:r>
            <a:r>
              <a:rPr kumimoji="1" lang="en-US" altLang="zh-CN" smtClean="0"/>
              <a:t>E’</a:t>
            </a:r>
            <a:r>
              <a:rPr kumimoji="1" lang="en-US" altLang="zh-CN" smtClean="0">
                <a:sym typeface="Symbol" pitchFamily="18" charset="2"/>
              </a:rPr>
              <a:t></a:t>
            </a:r>
            <a:r>
              <a:rPr kumimoji="1" lang="en-US" altLang="zh-CN" smtClean="0"/>
              <a:t>E</a:t>
            </a:r>
            <a:r>
              <a:rPr kumimoji="1" lang="zh-CN" altLang="en-US" smtClean="0"/>
              <a:t>，</a:t>
            </a:r>
            <a:r>
              <a:rPr kumimoji="1" lang="en-US" altLang="zh-CN" smtClean="0"/>
              <a:t>V’</a:t>
            </a:r>
            <a:r>
              <a:rPr kumimoji="1" lang="en-US" altLang="zh-CN" smtClean="0">
                <a:sym typeface="Symbol" pitchFamily="18" charset="2"/>
              </a:rPr>
              <a:t></a:t>
            </a:r>
            <a:r>
              <a:rPr kumimoji="1" lang="en-US" altLang="zh-CN" smtClean="0"/>
              <a:t>V</a:t>
            </a:r>
            <a:r>
              <a:rPr kumimoji="1" lang="zh-CN" altLang="en-US" smtClean="0"/>
              <a:t>，则称</a:t>
            </a:r>
            <a:r>
              <a:rPr kumimoji="1" lang="en-US" altLang="zh-CN" i="1" smtClean="0">
                <a:solidFill>
                  <a:srgbClr val="0000CC"/>
                </a:solidFill>
              </a:rPr>
              <a:t>G’</a:t>
            </a:r>
            <a:r>
              <a:rPr kumimoji="1" lang="zh-CN" altLang="en-US" i="1" smtClean="0">
                <a:solidFill>
                  <a:srgbClr val="0000CC"/>
                </a:solidFill>
              </a:rPr>
              <a:t>为</a:t>
            </a:r>
            <a:r>
              <a:rPr kumimoji="1" lang="en-US" altLang="zh-CN" i="1" smtClean="0">
                <a:solidFill>
                  <a:srgbClr val="0000CC"/>
                </a:solidFill>
              </a:rPr>
              <a:t>G</a:t>
            </a:r>
            <a:r>
              <a:rPr kumimoji="1" lang="zh-CN" altLang="en-US" i="1" smtClean="0">
                <a:solidFill>
                  <a:srgbClr val="0000CC"/>
                </a:solidFill>
              </a:rPr>
              <a:t>的子图</a:t>
            </a:r>
            <a:r>
              <a:rPr kumimoji="1" lang="zh-CN" altLang="en-US" smtClean="0"/>
              <a:t>。</a:t>
            </a:r>
          </a:p>
          <a:p>
            <a:pPr eaLnBrk="1" hangingPunct="1"/>
            <a:r>
              <a:rPr kumimoji="1" lang="zh-CN" altLang="en-US" smtClean="0"/>
              <a:t>如果</a:t>
            </a:r>
            <a:r>
              <a:rPr kumimoji="1" lang="en-US" altLang="zh-CN" smtClean="0"/>
              <a:t>G</a:t>
            </a:r>
            <a:r>
              <a:rPr kumimoji="1" lang="zh-CN" altLang="en-US" smtClean="0"/>
              <a:t>的子图包含</a:t>
            </a:r>
            <a:r>
              <a:rPr kumimoji="1" lang="en-US" altLang="zh-CN" smtClean="0"/>
              <a:t>G</a:t>
            </a:r>
            <a:r>
              <a:rPr kumimoji="1" lang="zh-CN" altLang="en-US" smtClean="0"/>
              <a:t>的</a:t>
            </a:r>
            <a:r>
              <a:rPr kumimoji="1" lang="zh-CN" altLang="en-US" smtClean="0">
                <a:solidFill>
                  <a:srgbClr val="0033CC"/>
                </a:solidFill>
              </a:rPr>
              <a:t>所有结点</a:t>
            </a:r>
            <a:r>
              <a:rPr kumimoji="1" lang="zh-CN" altLang="en-US" smtClean="0"/>
              <a:t>，则称该子图为</a:t>
            </a:r>
            <a:r>
              <a:rPr kumimoji="1" lang="en-US" altLang="zh-CN" smtClean="0"/>
              <a:t>G</a:t>
            </a:r>
            <a:r>
              <a:rPr kumimoji="1" lang="zh-CN" altLang="en-US" smtClean="0"/>
              <a:t>的</a:t>
            </a:r>
            <a:r>
              <a:rPr kumimoji="1" lang="zh-CN" altLang="en-US" i="1" smtClean="0">
                <a:solidFill>
                  <a:srgbClr val="0000CC"/>
                </a:solidFill>
              </a:rPr>
              <a:t>生成子图</a:t>
            </a:r>
            <a:r>
              <a:rPr kumimoji="1" lang="zh-CN" altLang="en-US" smtClean="0"/>
              <a:t>。</a:t>
            </a:r>
          </a:p>
        </p:txBody>
      </p:sp>
      <p:grpSp>
        <p:nvGrpSpPr>
          <p:cNvPr id="104468" name="Group 20"/>
          <p:cNvGrpSpPr>
            <a:grpSpLocks/>
          </p:cNvGrpSpPr>
          <p:nvPr/>
        </p:nvGrpSpPr>
        <p:grpSpPr bwMode="auto">
          <a:xfrm>
            <a:off x="1292225" y="3357563"/>
            <a:ext cx="6718300" cy="1706562"/>
            <a:chOff x="814" y="2115"/>
            <a:chExt cx="4232" cy="1075"/>
          </a:xfrm>
        </p:grpSpPr>
        <p:sp>
          <p:nvSpPr>
            <p:cNvPr id="18437" name="Rectangle 6"/>
            <p:cNvSpPr>
              <a:spLocks noChangeArrowheads="1"/>
            </p:cNvSpPr>
            <p:nvPr/>
          </p:nvSpPr>
          <p:spPr bwMode="auto">
            <a:xfrm>
              <a:off x="814" y="2115"/>
              <a:ext cx="1247" cy="725"/>
            </a:xfrm>
            <a:prstGeom prst="rect">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438" name="Line 7"/>
            <p:cNvSpPr>
              <a:spLocks noChangeShapeType="1"/>
            </p:cNvSpPr>
            <p:nvPr/>
          </p:nvSpPr>
          <p:spPr bwMode="auto">
            <a:xfrm flipV="1">
              <a:off x="814" y="2115"/>
              <a:ext cx="1247" cy="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39" name="Line 8"/>
            <p:cNvSpPr>
              <a:spLocks noChangeShapeType="1"/>
            </p:cNvSpPr>
            <p:nvPr/>
          </p:nvSpPr>
          <p:spPr bwMode="auto">
            <a:xfrm flipH="1" flipV="1">
              <a:off x="814" y="2115"/>
              <a:ext cx="1247" cy="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40" name="Line 10"/>
            <p:cNvSpPr>
              <a:spLocks noChangeShapeType="1"/>
            </p:cNvSpPr>
            <p:nvPr/>
          </p:nvSpPr>
          <p:spPr bwMode="auto">
            <a:xfrm>
              <a:off x="2362" y="2118"/>
              <a:ext cx="124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41" name="Line 11"/>
            <p:cNvSpPr>
              <a:spLocks noChangeShapeType="1"/>
            </p:cNvSpPr>
            <p:nvPr/>
          </p:nvSpPr>
          <p:spPr bwMode="auto">
            <a:xfrm>
              <a:off x="2362" y="2118"/>
              <a:ext cx="0" cy="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42" name="Line 13"/>
            <p:cNvSpPr>
              <a:spLocks noChangeShapeType="1"/>
            </p:cNvSpPr>
            <p:nvPr/>
          </p:nvSpPr>
          <p:spPr bwMode="auto">
            <a:xfrm>
              <a:off x="3781" y="2858"/>
              <a:ext cx="124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43" name="Line 14"/>
            <p:cNvSpPr>
              <a:spLocks noChangeShapeType="1"/>
            </p:cNvSpPr>
            <p:nvPr/>
          </p:nvSpPr>
          <p:spPr bwMode="auto">
            <a:xfrm>
              <a:off x="3790" y="2133"/>
              <a:ext cx="0" cy="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44" name="Line 15"/>
            <p:cNvSpPr>
              <a:spLocks noChangeShapeType="1"/>
            </p:cNvSpPr>
            <p:nvPr/>
          </p:nvSpPr>
          <p:spPr bwMode="auto">
            <a:xfrm>
              <a:off x="5039" y="2139"/>
              <a:ext cx="0" cy="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45" name="Line 16"/>
            <p:cNvSpPr>
              <a:spLocks noChangeShapeType="1"/>
            </p:cNvSpPr>
            <p:nvPr/>
          </p:nvSpPr>
          <p:spPr bwMode="auto">
            <a:xfrm flipV="1">
              <a:off x="3799" y="2133"/>
              <a:ext cx="1247" cy="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46" name="Line 17"/>
            <p:cNvSpPr>
              <a:spLocks noChangeShapeType="1"/>
            </p:cNvSpPr>
            <p:nvPr/>
          </p:nvSpPr>
          <p:spPr bwMode="auto">
            <a:xfrm flipH="1" flipV="1">
              <a:off x="3790" y="2136"/>
              <a:ext cx="1247" cy="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8447" name="Text Box 18"/>
            <p:cNvSpPr txBox="1">
              <a:spLocks noChangeArrowheads="1"/>
            </p:cNvSpPr>
            <p:nvPr/>
          </p:nvSpPr>
          <p:spPr bwMode="auto">
            <a:xfrm>
              <a:off x="855" y="2902"/>
              <a:ext cx="39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a:solidFill>
                    <a:schemeClr val="bg2"/>
                  </a:solidFill>
                  <a:latin typeface="Times New Roman" pitchFamily="18" charset="0"/>
                </a:rPr>
                <a:t>        G		                 G’		          G’’</a:t>
              </a:r>
            </a:p>
          </p:txBody>
        </p:sp>
        <p:sp>
          <p:nvSpPr>
            <p:cNvPr id="18448" name="Line 19"/>
            <p:cNvSpPr>
              <a:spLocks noChangeShapeType="1"/>
            </p:cNvSpPr>
            <p:nvPr/>
          </p:nvSpPr>
          <p:spPr bwMode="auto">
            <a:xfrm flipV="1">
              <a:off x="2372" y="2115"/>
              <a:ext cx="1247" cy="72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4468"/>
                                        </p:tgtEl>
                                        <p:attrNameLst>
                                          <p:attrName>style.visibility</p:attrName>
                                        </p:attrNameLst>
                                      </p:cBhvr>
                                      <p:to>
                                        <p:strVal val="visible"/>
                                      </p:to>
                                    </p:set>
                                    <p:anim calcmode="lin" valueType="num">
                                      <p:cBhvr additive="base">
                                        <p:cTn id="7" dur="500" fill="hold"/>
                                        <p:tgtEl>
                                          <p:spTgt spid="104468"/>
                                        </p:tgtEl>
                                        <p:attrNameLst>
                                          <p:attrName>ppt_x</p:attrName>
                                        </p:attrNameLst>
                                      </p:cBhvr>
                                      <p:tavLst>
                                        <p:tav tm="0">
                                          <p:val>
                                            <p:strVal val="#ppt_x"/>
                                          </p:val>
                                        </p:tav>
                                        <p:tav tm="100000">
                                          <p:val>
                                            <p:strVal val="#ppt_x"/>
                                          </p:val>
                                        </p:tav>
                                      </p:tavLst>
                                    </p:anim>
                                    <p:anim calcmode="lin" valueType="num">
                                      <p:cBhvr additive="base">
                                        <p:cTn id="8" dur="500" fill="hold"/>
                                        <p:tgtEl>
                                          <p:spTgt spid="1044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灯片编号占位符 2"/>
          <p:cNvSpPr>
            <a:spLocks noGrp="1"/>
          </p:cNvSpPr>
          <p:nvPr>
            <p:ph type="sldNum" sz="quarter" idx="11"/>
          </p:nvPr>
        </p:nvSpPr>
        <p:spPr/>
        <p:txBody>
          <a:bodyPr/>
          <a:lstStyle/>
          <a:p>
            <a:pPr>
              <a:defRPr/>
            </a:pPr>
            <a:fld id="{5A862730-64F5-4F0E-9513-4DB036F1110F}" type="slidenum">
              <a:rPr lang="en-US" altLang="zh-CN"/>
              <a:pPr>
                <a:defRPr/>
              </a:pPr>
              <a:t>16</a:t>
            </a:fld>
            <a:endParaRPr lang="en-US" altLang="zh-CN"/>
          </a:p>
        </p:txBody>
      </p:sp>
      <p:sp>
        <p:nvSpPr>
          <p:cNvPr id="19459" name="Text Box 3"/>
          <p:cNvSpPr txBox="1">
            <a:spLocks noChangeArrowheads="1"/>
          </p:cNvSpPr>
          <p:nvPr/>
        </p:nvSpPr>
        <p:spPr bwMode="auto">
          <a:xfrm>
            <a:off x="468313" y="1063625"/>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rgbClr val="0000CC"/>
                </a:solidFill>
                <a:latin typeface="Times New Roman" pitchFamily="18" charset="0"/>
              </a:rPr>
              <a:t>定义</a:t>
            </a:r>
            <a:r>
              <a:rPr kumimoji="1" lang="en-US" altLang="zh-CN" b="1">
                <a:solidFill>
                  <a:srgbClr val="0000CC"/>
                </a:solidFill>
                <a:latin typeface="Times New Roman" pitchFamily="18" charset="0"/>
              </a:rPr>
              <a:t>7-1.8</a:t>
            </a:r>
            <a:r>
              <a:rPr kumimoji="1" lang="zh-CN" altLang="en-US" b="1">
                <a:solidFill>
                  <a:srgbClr val="0000CC"/>
                </a:solidFill>
                <a:latin typeface="Times New Roman" pitchFamily="18" charset="0"/>
              </a:rPr>
              <a:t>：</a:t>
            </a:r>
            <a:r>
              <a:rPr kumimoji="1" lang="zh-CN" altLang="en-US" b="1">
                <a:latin typeface="Times New Roman" pitchFamily="18" charset="0"/>
              </a:rPr>
              <a:t>设</a:t>
            </a:r>
            <a:r>
              <a:rPr kumimoji="1" lang="en-US" altLang="zh-CN" b="1">
                <a:latin typeface="Times New Roman" pitchFamily="18" charset="0"/>
              </a:rPr>
              <a:t>G’=&lt;V’, E’&gt;</a:t>
            </a:r>
            <a:r>
              <a:rPr kumimoji="1" lang="zh-CN" altLang="en-US" b="1">
                <a:latin typeface="Times New Roman" pitchFamily="18" charset="0"/>
              </a:rPr>
              <a:t>是图</a:t>
            </a:r>
            <a:r>
              <a:rPr kumimoji="1" lang="en-US" altLang="zh-CN" b="1">
                <a:latin typeface="Times New Roman" pitchFamily="18" charset="0"/>
              </a:rPr>
              <a:t>G=&lt;V, E&gt;</a:t>
            </a:r>
            <a:r>
              <a:rPr kumimoji="1" lang="zh-CN" altLang="en-US" b="1">
                <a:latin typeface="Times New Roman" pitchFamily="18" charset="0"/>
              </a:rPr>
              <a:t>的子图，若给定另外一个图</a:t>
            </a:r>
            <a:r>
              <a:rPr kumimoji="1" lang="en-US" altLang="zh-CN" b="1">
                <a:latin typeface="Times New Roman" pitchFamily="18" charset="0"/>
              </a:rPr>
              <a:t>G”=&lt;V”, E”&gt; </a:t>
            </a:r>
            <a:r>
              <a:rPr kumimoji="1" lang="zh-CN" altLang="en-US" b="1">
                <a:latin typeface="Times New Roman" pitchFamily="18" charset="0"/>
              </a:rPr>
              <a:t>使得</a:t>
            </a:r>
            <a:r>
              <a:rPr kumimoji="1" lang="en-US" altLang="zh-CN" b="1">
                <a:latin typeface="Times New Roman" pitchFamily="18" charset="0"/>
              </a:rPr>
              <a:t>E”=E-E’</a:t>
            </a:r>
            <a:r>
              <a:rPr kumimoji="1" lang="zh-CN" altLang="en-US" b="1">
                <a:latin typeface="Times New Roman" pitchFamily="18" charset="0"/>
              </a:rPr>
              <a:t>，且</a:t>
            </a:r>
            <a:r>
              <a:rPr kumimoji="1" lang="en-US" altLang="zh-CN" b="1">
                <a:latin typeface="Times New Roman" pitchFamily="18" charset="0"/>
              </a:rPr>
              <a:t>V”</a:t>
            </a:r>
            <a:r>
              <a:rPr kumimoji="1" lang="zh-CN" altLang="en-US" b="1">
                <a:latin typeface="Times New Roman" pitchFamily="18" charset="0"/>
              </a:rPr>
              <a:t>中仅包含</a:t>
            </a:r>
            <a:r>
              <a:rPr kumimoji="1" lang="en-US" altLang="zh-CN" b="1">
                <a:latin typeface="Times New Roman" pitchFamily="18" charset="0"/>
              </a:rPr>
              <a:t>E”</a:t>
            </a:r>
            <a:r>
              <a:rPr kumimoji="1" lang="zh-CN" altLang="en-US" b="1">
                <a:latin typeface="Times New Roman" pitchFamily="18" charset="0"/>
              </a:rPr>
              <a:t>的边所关联的结点。则称</a:t>
            </a:r>
            <a:r>
              <a:rPr kumimoji="1" lang="en-US" altLang="zh-CN" b="1" i="1">
                <a:solidFill>
                  <a:srgbClr val="0000CC"/>
                </a:solidFill>
                <a:latin typeface="Times New Roman" pitchFamily="18" charset="0"/>
              </a:rPr>
              <a:t>G”</a:t>
            </a:r>
            <a:r>
              <a:rPr kumimoji="1" lang="zh-CN" altLang="en-US" b="1" i="1">
                <a:solidFill>
                  <a:srgbClr val="0000CC"/>
                </a:solidFill>
                <a:latin typeface="Times New Roman" pitchFamily="18" charset="0"/>
              </a:rPr>
              <a:t>是子图</a:t>
            </a:r>
            <a:r>
              <a:rPr kumimoji="1" lang="en-US" altLang="zh-CN" b="1" i="1">
                <a:solidFill>
                  <a:srgbClr val="0000CC"/>
                </a:solidFill>
                <a:latin typeface="Times New Roman" pitchFamily="18" charset="0"/>
              </a:rPr>
              <a:t>G’</a:t>
            </a:r>
            <a:r>
              <a:rPr kumimoji="1" lang="zh-CN" altLang="en-US" b="1" i="1">
                <a:solidFill>
                  <a:srgbClr val="0000CC"/>
                </a:solidFill>
                <a:latin typeface="Times New Roman" pitchFamily="18" charset="0"/>
              </a:rPr>
              <a:t>的相对于图</a:t>
            </a:r>
            <a:r>
              <a:rPr kumimoji="1" lang="en-US" altLang="zh-CN" b="1" i="1">
                <a:solidFill>
                  <a:srgbClr val="0000CC"/>
                </a:solidFill>
                <a:latin typeface="Times New Roman" pitchFamily="18" charset="0"/>
              </a:rPr>
              <a:t>G</a:t>
            </a:r>
            <a:r>
              <a:rPr kumimoji="1" lang="zh-CN" altLang="en-US" b="1" i="1">
                <a:solidFill>
                  <a:srgbClr val="0000CC"/>
                </a:solidFill>
                <a:latin typeface="Times New Roman" pitchFamily="18" charset="0"/>
              </a:rPr>
              <a:t>的补图</a:t>
            </a:r>
            <a:r>
              <a:rPr kumimoji="1" lang="zh-CN" altLang="en-US" b="1">
                <a:latin typeface="Times New Roman" pitchFamily="18" charset="0"/>
              </a:rPr>
              <a:t>。</a:t>
            </a:r>
          </a:p>
        </p:txBody>
      </p:sp>
      <p:grpSp>
        <p:nvGrpSpPr>
          <p:cNvPr id="14342" name="Group 6"/>
          <p:cNvGrpSpPr>
            <a:grpSpLocks/>
          </p:cNvGrpSpPr>
          <p:nvPr/>
        </p:nvGrpSpPr>
        <p:grpSpPr bwMode="auto">
          <a:xfrm>
            <a:off x="973138" y="2708275"/>
            <a:ext cx="1511300" cy="1296988"/>
            <a:chOff x="295" y="1616"/>
            <a:chExt cx="1270" cy="1043"/>
          </a:xfrm>
        </p:grpSpPr>
        <p:sp>
          <p:nvSpPr>
            <p:cNvPr id="19473" name="Line 7"/>
            <p:cNvSpPr>
              <a:spLocks noChangeShapeType="1"/>
            </p:cNvSpPr>
            <p:nvPr/>
          </p:nvSpPr>
          <p:spPr bwMode="auto">
            <a:xfrm flipH="1">
              <a:off x="295" y="1661"/>
              <a:ext cx="408" cy="54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4" name="Line 8"/>
            <p:cNvSpPr>
              <a:spLocks noChangeShapeType="1"/>
            </p:cNvSpPr>
            <p:nvPr/>
          </p:nvSpPr>
          <p:spPr bwMode="auto">
            <a:xfrm flipV="1">
              <a:off x="703" y="1616"/>
              <a:ext cx="726" cy="4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5" name="Line 9"/>
            <p:cNvSpPr>
              <a:spLocks noChangeShapeType="1"/>
            </p:cNvSpPr>
            <p:nvPr/>
          </p:nvSpPr>
          <p:spPr bwMode="auto">
            <a:xfrm flipH="1" flipV="1">
              <a:off x="295" y="2205"/>
              <a:ext cx="453" cy="45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6" name="Line 10"/>
            <p:cNvSpPr>
              <a:spLocks noChangeShapeType="1"/>
            </p:cNvSpPr>
            <p:nvPr/>
          </p:nvSpPr>
          <p:spPr bwMode="auto">
            <a:xfrm flipH="1" flipV="1">
              <a:off x="748" y="2659"/>
              <a:ext cx="817"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7" name="Line 11"/>
            <p:cNvSpPr>
              <a:spLocks noChangeShapeType="1"/>
            </p:cNvSpPr>
            <p:nvPr/>
          </p:nvSpPr>
          <p:spPr bwMode="auto">
            <a:xfrm flipH="1" flipV="1">
              <a:off x="703" y="1661"/>
              <a:ext cx="862" cy="99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8" name="Line 12"/>
            <p:cNvSpPr>
              <a:spLocks noChangeShapeType="1"/>
            </p:cNvSpPr>
            <p:nvPr/>
          </p:nvSpPr>
          <p:spPr bwMode="auto">
            <a:xfrm flipV="1">
              <a:off x="295" y="1616"/>
              <a:ext cx="1133" cy="5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9" name="Line 13"/>
            <p:cNvSpPr>
              <a:spLocks noChangeShapeType="1"/>
            </p:cNvSpPr>
            <p:nvPr/>
          </p:nvSpPr>
          <p:spPr bwMode="auto">
            <a:xfrm flipH="1" flipV="1">
              <a:off x="1429" y="1616"/>
              <a:ext cx="136" cy="104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80" name="Line 14"/>
            <p:cNvSpPr>
              <a:spLocks noChangeShapeType="1"/>
            </p:cNvSpPr>
            <p:nvPr/>
          </p:nvSpPr>
          <p:spPr bwMode="auto">
            <a:xfrm flipV="1">
              <a:off x="748" y="1616"/>
              <a:ext cx="680" cy="104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351" name="Group 15"/>
          <p:cNvGrpSpPr>
            <a:grpSpLocks/>
          </p:cNvGrpSpPr>
          <p:nvPr/>
        </p:nvGrpSpPr>
        <p:grpSpPr bwMode="auto">
          <a:xfrm>
            <a:off x="3565525" y="2708275"/>
            <a:ext cx="1511300" cy="1296988"/>
            <a:chOff x="1746" y="1525"/>
            <a:chExt cx="1270" cy="1043"/>
          </a:xfrm>
        </p:grpSpPr>
        <p:sp>
          <p:nvSpPr>
            <p:cNvPr id="19469" name="Line 16"/>
            <p:cNvSpPr>
              <a:spLocks noChangeShapeType="1"/>
            </p:cNvSpPr>
            <p:nvPr/>
          </p:nvSpPr>
          <p:spPr bwMode="auto">
            <a:xfrm flipH="1">
              <a:off x="1746" y="1570"/>
              <a:ext cx="408" cy="54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0" name="Line 17"/>
            <p:cNvSpPr>
              <a:spLocks noChangeShapeType="1"/>
            </p:cNvSpPr>
            <p:nvPr/>
          </p:nvSpPr>
          <p:spPr bwMode="auto">
            <a:xfrm flipH="1" flipV="1">
              <a:off x="2154" y="1570"/>
              <a:ext cx="862" cy="99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1" name="Line 18"/>
            <p:cNvSpPr>
              <a:spLocks noChangeShapeType="1"/>
            </p:cNvSpPr>
            <p:nvPr/>
          </p:nvSpPr>
          <p:spPr bwMode="auto">
            <a:xfrm flipV="1">
              <a:off x="1746" y="1525"/>
              <a:ext cx="1133" cy="5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72" name="Line 19"/>
            <p:cNvSpPr>
              <a:spLocks noChangeShapeType="1"/>
            </p:cNvSpPr>
            <p:nvPr/>
          </p:nvSpPr>
          <p:spPr bwMode="auto">
            <a:xfrm flipH="1" flipV="1">
              <a:off x="2880" y="1525"/>
              <a:ext cx="136" cy="104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4356" name="Group 20"/>
          <p:cNvGrpSpPr>
            <a:grpSpLocks/>
          </p:cNvGrpSpPr>
          <p:nvPr/>
        </p:nvGrpSpPr>
        <p:grpSpPr bwMode="auto">
          <a:xfrm>
            <a:off x="6229350" y="2708275"/>
            <a:ext cx="1511300" cy="1296988"/>
            <a:chOff x="3696" y="1434"/>
            <a:chExt cx="1270" cy="1043"/>
          </a:xfrm>
        </p:grpSpPr>
        <p:sp>
          <p:nvSpPr>
            <p:cNvPr id="19465" name="Line 21"/>
            <p:cNvSpPr>
              <a:spLocks noChangeShapeType="1"/>
            </p:cNvSpPr>
            <p:nvPr/>
          </p:nvSpPr>
          <p:spPr bwMode="auto">
            <a:xfrm flipV="1">
              <a:off x="4104" y="1434"/>
              <a:ext cx="726" cy="45"/>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6" name="Line 22"/>
            <p:cNvSpPr>
              <a:spLocks noChangeShapeType="1"/>
            </p:cNvSpPr>
            <p:nvPr/>
          </p:nvSpPr>
          <p:spPr bwMode="auto">
            <a:xfrm flipH="1" flipV="1">
              <a:off x="3696" y="2023"/>
              <a:ext cx="453" cy="454"/>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7" name="Line 23"/>
            <p:cNvSpPr>
              <a:spLocks noChangeShapeType="1"/>
            </p:cNvSpPr>
            <p:nvPr/>
          </p:nvSpPr>
          <p:spPr bwMode="auto">
            <a:xfrm flipH="1" flipV="1">
              <a:off x="4149" y="2477"/>
              <a:ext cx="817" cy="0"/>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468" name="Line 24"/>
            <p:cNvSpPr>
              <a:spLocks noChangeShapeType="1"/>
            </p:cNvSpPr>
            <p:nvPr/>
          </p:nvSpPr>
          <p:spPr bwMode="auto">
            <a:xfrm flipV="1">
              <a:off x="4149" y="1434"/>
              <a:ext cx="680" cy="1043"/>
            </a:xfrm>
            <a:prstGeom prst="line">
              <a:avLst/>
            </a:prstGeom>
            <a:noFill/>
            <a:ln w="254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4361" name="Text Box 25"/>
          <p:cNvSpPr txBox="1">
            <a:spLocks noChangeArrowheads="1"/>
          </p:cNvSpPr>
          <p:nvPr/>
        </p:nvSpPr>
        <p:spPr bwMode="auto">
          <a:xfrm>
            <a:off x="1403350" y="3979863"/>
            <a:ext cx="655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  G                                G’                            G”</a:t>
            </a:r>
            <a:endParaRPr kumimoji="1" lang="en-US" altLang="zh-CN" b="1" baseline="-25000">
              <a:solidFill>
                <a:schemeClr val="bg2"/>
              </a:solidFill>
              <a:latin typeface="Times New Roman" pitchFamily="18" charset="0"/>
            </a:endParaRPr>
          </a:p>
        </p:txBody>
      </p:sp>
      <p:sp>
        <p:nvSpPr>
          <p:cNvPr id="14362" name="Text Box 26"/>
          <p:cNvSpPr txBox="1">
            <a:spLocks noChangeArrowheads="1"/>
          </p:cNvSpPr>
          <p:nvPr/>
        </p:nvSpPr>
        <p:spPr bwMode="auto">
          <a:xfrm>
            <a:off x="466725" y="4365625"/>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dirty="0">
                <a:solidFill>
                  <a:schemeClr val="bg2"/>
                </a:solidFill>
                <a:latin typeface="Times New Roman" pitchFamily="18" charset="0"/>
              </a:rPr>
              <a:t>图</a:t>
            </a:r>
            <a:r>
              <a:rPr kumimoji="1" lang="en-US" altLang="zh-CN" b="1" dirty="0">
                <a:solidFill>
                  <a:schemeClr val="bg2"/>
                </a:solidFill>
                <a:latin typeface="Times New Roman" pitchFamily="18" charset="0"/>
              </a:rPr>
              <a:t>G=&lt;V, E&gt;</a:t>
            </a:r>
            <a:r>
              <a:rPr kumimoji="1" lang="zh-CN" altLang="en-US" b="1" dirty="0">
                <a:solidFill>
                  <a:schemeClr val="bg2"/>
                </a:solidFill>
                <a:latin typeface="Times New Roman" pitchFamily="18" charset="0"/>
              </a:rPr>
              <a:t>，</a:t>
            </a:r>
            <a:r>
              <a:rPr kumimoji="1" lang="en-US" altLang="zh-CN" b="1" dirty="0">
                <a:solidFill>
                  <a:schemeClr val="bg2"/>
                </a:solidFill>
                <a:latin typeface="Times New Roman" pitchFamily="18" charset="0"/>
              </a:rPr>
              <a:t>G’</a:t>
            </a:r>
            <a:r>
              <a:rPr kumimoji="1" lang="zh-CN" altLang="en-US" b="1" dirty="0">
                <a:solidFill>
                  <a:schemeClr val="bg2"/>
                </a:solidFill>
                <a:latin typeface="Times New Roman" pitchFamily="18" charset="0"/>
              </a:rPr>
              <a:t>是</a:t>
            </a:r>
            <a:r>
              <a:rPr kumimoji="1" lang="en-US" altLang="zh-CN" b="1" dirty="0">
                <a:solidFill>
                  <a:schemeClr val="bg2"/>
                </a:solidFill>
                <a:latin typeface="Times New Roman" pitchFamily="18" charset="0"/>
              </a:rPr>
              <a:t>G</a:t>
            </a:r>
            <a:r>
              <a:rPr kumimoji="1" lang="zh-CN" altLang="en-US" b="1" dirty="0">
                <a:solidFill>
                  <a:schemeClr val="bg2"/>
                </a:solidFill>
                <a:latin typeface="Times New Roman" pitchFamily="18" charset="0"/>
              </a:rPr>
              <a:t>的子图，</a:t>
            </a:r>
            <a:r>
              <a:rPr kumimoji="1" lang="en-US" altLang="zh-CN" b="1" dirty="0">
                <a:solidFill>
                  <a:schemeClr val="bg2"/>
                </a:solidFill>
                <a:latin typeface="Times New Roman" pitchFamily="18" charset="0"/>
              </a:rPr>
              <a:t>G”</a:t>
            </a:r>
            <a:r>
              <a:rPr kumimoji="1" lang="zh-CN" altLang="en-US" b="1" dirty="0">
                <a:solidFill>
                  <a:schemeClr val="bg2"/>
                </a:solidFill>
                <a:latin typeface="Times New Roman" pitchFamily="18" charset="0"/>
              </a:rPr>
              <a:t>是</a:t>
            </a:r>
            <a:r>
              <a:rPr kumimoji="1" lang="en-US" altLang="zh-CN" b="1" dirty="0">
                <a:solidFill>
                  <a:schemeClr val="bg2"/>
                </a:solidFill>
                <a:latin typeface="Times New Roman" pitchFamily="18" charset="0"/>
              </a:rPr>
              <a:t>G’</a:t>
            </a:r>
            <a:r>
              <a:rPr kumimoji="1" lang="zh-CN" altLang="en-US" b="1" dirty="0">
                <a:solidFill>
                  <a:schemeClr val="bg2"/>
                </a:solidFill>
                <a:latin typeface="Times New Roman" pitchFamily="18" charset="0"/>
              </a:rPr>
              <a:t>相对于</a:t>
            </a:r>
            <a:r>
              <a:rPr kumimoji="1" lang="en-US" altLang="zh-CN" b="1" dirty="0">
                <a:solidFill>
                  <a:schemeClr val="bg2"/>
                </a:solidFill>
                <a:latin typeface="Times New Roman" pitchFamily="18" charset="0"/>
              </a:rPr>
              <a:t>G</a:t>
            </a:r>
            <a:r>
              <a:rPr kumimoji="1" lang="zh-CN" altLang="en-US" b="1" dirty="0">
                <a:solidFill>
                  <a:schemeClr val="bg2"/>
                </a:solidFill>
                <a:latin typeface="Times New Roman" pitchFamily="18" charset="0"/>
              </a:rPr>
              <a:t>的补图，则</a:t>
            </a:r>
          </a:p>
          <a:p>
            <a:pPr eaLnBrk="1" hangingPunct="1">
              <a:lnSpc>
                <a:spcPct val="130000"/>
              </a:lnSpc>
              <a:buClr>
                <a:schemeClr val="bg1"/>
              </a:buClr>
            </a:pPr>
            <a:r>
              <a:rPr kumimoji="1" lang="en-US" altLang="zh-CN" b="1" dirty="0">
                <a:latin typeface="Times New Roman" pitchFamily="18" charset="0"/>
                <a:sym typeface="Symbol" pitchFamily="18" charset="2"/>
              </a:rPr>
              <a:t>(1)G</a:t>
            </a:r>
            <a:r>
              <a:rPr kumimoji="1" lang="zh-CN" altLang="en-US" b="1" dirty="0">
                <a:latin typeface="Times New Roman" pitchFamily="18" charset="0"/>
                <a:sym typeface="Symbol" pitchFamily="18" charset="2"/>
              </a:rPr>
              <a:t>中结点数等于</a:t>
            </a:r>
            <a:r>
              <a:rPr kumimoji="1" lang="en-US" altLang="zh-CN" b="1" dirty="0">
                <a:latin typeface="Times New Roman" pitchFamily="18" charset="0"/>
                <a:sym typeface="Symbol" pitchFamily="18" charset="2"/>
              </a:rPr>
              <a:t>G</a:t>
            </a:r>
            <a:r>
              <a:rPr kumimoji="1" lang="zh-CN" altLang="en-US" b="1" dirty="0">
                <a:latin typeface="Times New Roman" pitchFamily="18" charset="0"/>
                <a:sym typeface="Symbol" pitchFamily="18" charset="2"/>
              </a:rPr>
              <a:t>中结点数</a:t>
            </a:r>
            <a:r>
              <a:rPr kumimoji="1" lang="en-US" altLang="zh-CN" b="1" dirty="0">
                <a:latin typeface="Times New Roman" pitchFamily="18" charset="0"/>
                <a:sym typeface="Symbol" pitchFamily="18" charset="2"/>
              </a:rPr>
              <a:t>|V|</a:t>
            </a:r>
          </a:p>
          <a:p>
            <a:pPr eaLnBrk="1" hangingPunct="1">
              <a:lnSpc>
                <a:spcPct val="130000"/>
              </a:lnSpc>
              <a:buClr>
                <a:schemeClr val="bg1"/>
              </a:buClr>
            </a:pPr>
            <a:r>
              <a:rPr kumimoji="1" lang="en-US" altLang="zh-CN" b="1" dirty="0">
                <a:latin typeface="Times New Roman" pitchFamily="18" charset="0"/>
                <a:sym typeface="Symbol" pitchFamily="18" charset="2"/>
              </a:rPr>
              <a:t>(2)  G’</a:t>
            </a:r>
            <a:r>
              <a:rPr kumimoji="1" lang="zh-CN" altLang="en-US" b="1" dirty="0">
                <a:latin typeface="Times New Roman" pitchFamily="18" charset="0"/>
                <a:sym typeface="Symbol" pitchFamily="18" charset="2"/>
              </a:rPr>
              <a:t>和</a:t>
            </a:r>
            <a:r>
              <a:rPr kumimoji="1" lang="en-US" altLang="zh-CN" b="1" dirty="0">
                <a:latin typeface="Times New Roman" pitchFamily="18" charset="0"/>
                <a:sym typeface="Symbol" pitchFamily="18" charset="2"/>
              </a:rPr>
              <a:t>G’’</a:t>
            </a:r>
            <a:r>
              <a:rPr kumimoji="1" lang="zh-CN" altLang="en-US" b="1" dirty="0">
                <a:latin typeface="Times New Roman" pitchFamily="18" charset="0"/>
                <a:sym typeface="Symbol" pitchFamily="18" charset="2"/>
              </a:rPr>
              <a:t>的结点数小于等于</a:t>
            </a:r>
            <a:r>
              <a:rPr kumimoji="1" lang="en-US" altLang="zh-CN" b="1" dirty="0">
                <a:latin typeface="Times New Roman" pitchFamily="18" charset="0"/>
                <a:sym typeface="Symbol" pitchFamily="18" charset="2"/>
              </a:rPr>
              <a:t>|V|</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4361"/>
                                        </p:tgtEl>
                                        <p:attrNameLst>
                                          <p:attrName>style.visibility</p:attrName>
                                        </p:attrNameLst>
                                      </p:cBhvr>
                                      <p:to>
                                        <p:strVal val="visible"/>
                                      </p:to>
                                    </p:set>
                                    <p:anim calcmode="lin" valueType="num">
                                      <p:cBhvr additive="base">
                                        <p:cTn id="7" dur="500" fill="hold"/>
                                        <p:tgtEl>
                                          <p:spTgt spid="14361"/>
                                        </p:tgtEl>
                                        <p:attrNameLst>
                                          <p:attrName>ppt_x</p:attrName>
                                        </p:attrNameLst>
                                      </p:cBhvr>
                                      <p:tavLst>
                                        <p:tav tm="0">
                                          <p:val>
                                            <p:strVal val="#ppt_x"/>
                                          </p:val>
                                        </p:tav>
                                        <p:tav tm="100000">
                                          <p:val>
                                            <p:strVal val="#ppt_x"/>
                                          </p:val>
                                        </p:tav>
                                      </p:tavLst>
                                    </p:anim>
                                    <p:anim calcmode="lin" valueType="num">
                                      <p:cBhvr additive="base">
                                        <p:cTn id="8" dur="500" fill="hold"/>
                                        <p:tgtEl>
                                          <p:spTgt spid="1436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342"/>
                                        </p:tgtEl>
                                        <p:attrNameLst>
                                          <p:attrName>style.visibility</p:attrName>
                                        </p:attrNameLst>
                                      </p:cBhvr>
                                      <p:to>
                                        <p:strVal val="visible"/>
                                      </p:to>
                                    </p:set>
                                    <p:anim calcmode="lin" valueType="num">
                                      <p:cBhvr additive="base">
                                        <p:cTn id="11" dur="500" fill="hold"/>
                                        <p:tgtEl>
                                          <p:spTgt spid="14342"/>
                                        </p:tgtEl>
                                        <p:attrNameLst>
                                          <p:attrName>ppt_x</p:attrName>
                                        </p:attrNameLst>
                                      </p:cBhvr>
                                      <p:tavLst>
                                        <p:tav tm="0">
                                          <p:val>
                                            <p:strVal val="#ppt_x"/>
                                          </p:val>
                                        </p:tav>
                                        <p:tav tm="100000">
                                          <p:val>
                                            <p:strVal val="#ppt_x"/>
                                          </p:val>
                                        </p:tav>
                                      </p:tavLst>
                                    </p:anim>
                                    <p:anim calcmode="lin" valueType="num">
                                      <p:cBhvr additive="base">
                                        <p:cTn id="12" dur="500" fill="hold"/>
                                        <p:tgtEl>
                                          <p:spTgt spid="14342"/>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351"/>
                                        </p:tgtEl>
                                        <p:attrNameLst>
                                          <p:attrName>style.visibility</p:attrName>
                                        </p:attrNameLst>
                                      </p:cBhvr>
                                      <p:to>
                                        <p:strVal val="visible"/>
                                      </p:to>
                                    </p:set>
                                    <p:anim calcmode="lin" valueType="num">
                                      <p:cBhvr additive="base">
                                        <p:cTn id="15" dur="500" fill="hold"/>
                                        <p:tgtEl>
                                          <p:spTgt spid="14351"/>
                                        </p:tgtEl>
                                        <p:attrNameLst>
                                          <p:attrName>ppt_x</p:attrName>
                                        </p:attrNameLst>
                                      </p:cBhvr>
                                      <p:tavLst>
                                        <p:tav tm="0">
                                          <p:val>
                                            <p:strVal val="#ppt_x"/>
                                          </p:val>
                                        </p:tav>
                                        <p:tav tm="100000">
                                          <p:val>
                                            <p:strVal val="#ppt_x"/>
                                          </p:val>
                                        </p:tav>
                                      </p:tavLst>
                                    </p:anim>
                                    <p:anim calcmode="lin" valueType="num">
                                      <p:cBhvr additive="base">
                                        <p:cTn id="16" dur="500" fill="hold"/>
                                        <p:tgtEl>
                                          <p:spTgt spid="14351"/>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356"/>
                                        </p:tgtEl>
                                        <p:attrNameLst>
                                          <p:attrName>style.visibility</p:attrName>
                                        </p:attrNameLst>
                                      </p:cBhvr>
                                      <p:to>
                                        <p:strVal val="visible"/>
                                      </p:to>
                                    </p:set>
                                    <p:anim calcmode="lin" valueType="num">
                                      <p:cBhvr additive="base">
                                        <p:cTn id="19" dur="500" fill="hold"/>
                                        <p:tgtEl>
                                          <p:spTgt spid="14356"/>
                                        </p:tgtEl>
                                        <p:attrNameLst>
                                          <p:attrName>ppt_x</p:attrName>
                                        </p:attrNameLst>
                                      </p:cBhvr>
                                      <p:tavLst>
                                        <p:tav tm="0">
                                          <p:val>
                                            <p:strVal val="#ppt_x"/>
                                          </p:val>
                                        </p:tav>
                                        <p:tav tm="100000">
                                          <p:val>
                                            <p:strVal val="#ppt_x"/>
                                          </p:val>
                                        </p:tav>
                                      </p:tavLst>
                                    </p:anim>
                                    <p:anim calcmode="lin" valueType="num">
                                      <p:cBhvr additive="base">
                                        <p:cTn id="20" dur="500" fill="hold"/>
                                        <p:tgtEl>
                                          <p:spTgt spid="1435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0" presetClass="path" presetSubtype="0" accel="50000" decel="50000" fill="hold" nodeType="clickEffect">
                                  <p:stCondLst>
                                    <p:cond delay="0"/>
                                  </p:stCondLst>
                                  <p:childTnLst>
                                    <p:animMotion origin="layout" path="M -4.72222E-6 -3.58382E-6 L -0.29149 0.00532 " pathEditMode="relative" rAng="0" ptsTypes="AA">
                                      <p:cBhvr>
                                        <p:cTn id="24" dur="2000" fill="hold"/>
                                        <p:tgtEl>
                                          <p:spTgt spid="14356"/>
                                        </p:tgtEl>
                                        <p:attrNameLst>
                                          <p:attrName>ppt_x</p:attrName>
                                          <p:attrName>ppt_y</p:attrName>
                                        </p:attrNameLst>
                                      </p:cBhvr>
                                      <p:rCtr x="-14583" y="254"/>
                                    </p:animMotion>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14362"/>
                                        </p:tgtEl>
                                        <p:attrNameLst>
                                          <p:attrName>style.visibility</p:attrName>
                                        </p:attrNameLst>
                                      </p:cBhvr>
                                      <p:to>
                                        <p:strVal val="visible"/>
                                      </p:to>
                                    </p:set>
                                    <p:anim calcmode="lin" valueType="num">
                                      <p:cBhvr additive="base">
                                        <p:cTn id="29" dur="500" fill="hold"/>
                                        <p:tgtEl>
                                          <p:spTgt spid="14362"/>
                                        </p:tgtEl>
                                        <p:attrNameLst>
                                          <p:attrName>ppt_x</p:attrName>
                                        </p:attrNameLst>
                                      </p:cBhvr>
                                      <p:tavLst>
                                        <p:tav tm="0">
                                          <p:val>
                                            <p:strVal val="#ppt_x"/>
                                          </p:val>
                                        </p:tav>
                                        <p:tav tm="100000">
                                          <p:val>
                                            <p:strVal val="#ppt_x"/>
                                          </p:val>
                                        </p:tav>
                                      </p:tavLst>
                                    </p:anim>
                                    <p:anim calcmode="lin" valueType="num">
                                      <p:cBhvr additive="base">
                                        <p:cTn id="30" dur="500" fill="hold"/>
                                        <p:tgtEl>
                                          <p:spTgt spid="1436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61" grpId="0"/>
      <p:bldP spid="1436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pPr>
              <a:defRPr/>
            </a:pPr>
            <a:fld id="{0A36DA82-DC72-4F94-9040-4E619C2C7D97}" type="slidenum">
              <a:rPr lang="en-US" altLang="zh-CN"/>
              <a:pPr>
                <a:defRPr/>
              </a:pPr>
              <a:t>17</a:t>
            </a:fld>
            <a:endParaRPr lang="en-US" altLang="zh-CN"/>
          </a:p>
        </p:txBody>
      </p:sp>
      <p:sp>
        <p:nvSpPr>
          <p:cNvPr id="15363" name="Text Box 3"/>
          <p:cNvSpPr txBox="1">
            <a:spLocks noChangeArrowheads="1"/>
          </p:cNvSpPr>
          <p:nvPr/>
        </p:nvSpPr>
        <p:spPr bwMode="auto">
          <a:xfrm>
            <a:off x="466725" y="2014538"/>
            <a:ext cx="82772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dirty="0">
                <a:solidFill>
                  <a:srgbClr val="0000CC"/>
                </a:solidFill>
                <a:latin typeface="Times New Roman" pitchFamily="18" charset="0"/>
              </a:rPr>
              <a:t>定义</a:t>
            </a:r>
            <a:r>
              <a:rPr kumimoji="1" lang="en-US" altLang="zh-CN" b="1" dirty="0">
                <a:solidFill>
                  <a:srgbClr val="0000CC"/>
                </a:solidFill>
                <a:latin typeface="Times New Roman" pitchFamily="18" charset="0"/>
              </a:rPr>
              <a:t>7-1.9</a:t>
            </a:r>
            <a:r>
              <a:rPr kumimoji="1" lang="zh-CN" altLang="en-US" b="1" dirty="0">
                <a:solidFill>
                  <a:srgbClr val="0000CC"/>
                </a:solidFill>
                <a:latin typeface="Times New Roman" pitchFamily="18" charset="0"/>
              </a:rPr>
              <a:t>：</a:t>
            </a:r>
            <a:r>
              <a:rPr kumimoji="1" lang="zh-CN" altLang="en-US" b="1" dirty="0">
                <a:latin typeface="Times New Roman" pitchFamily="18" charset="0"/>
              </a:rPr>
              <a:t>设图</a:t>
            </a:r>
            <a:r>
              <a:rPr kumimoji="1" lang="en-US" altLang="zh-CN" b="1" dirty="0">
                <a:latin typeface="Times New Roman" pitchFamily="18" charset="0"/>
              </a:rPr>
              <a:t>G=&lt;V, E&gt;</a:t>
            </a:r>
            <a:r>
              <a:rPr kumimoji="1" lang="zh-CN" altLang="en-US" b="1" dirty="0">
                <a:latin typeface="Times New Roman" pitchFamily="18" charset="0"/>
              </a:rPr>
              <a:t>及图</a:t>
            </a:r>
            <a:r>
              <a:rPr kumimoji="1" lang="en-US" altLang="zh-CN" b="1" dirty="0">
                <a:latin typeface="Times New Roman" pitchFamily="18" charset="0"/>
              </a:rPr>
              <a:t>G’=&lt;V’, E’&gt;</a:t>
            </a:r>
            <a:r>
              <a:rPr kumimoji="1" lang="zh-CN" altLang="en-US" b="1" dirty="0">
                <a:latin typeface="Times New Roman" pitchFamily="18" charset="0"/>
              </a:rPr>
              <a:t>，如果存在一一对应的映射</a:t>
            </a:r>
            <a:r>
              <a:rPr kumimoji="1" lang="en-US" altLang="zh-CN" b="1" dirty="0">
                <a:latin typeface="Times New Roman" pitchFamily="18" charset="0"/>
              </a:rPr>
              <a:t>g: </a:t>
            </a:r>
            <a:r>
              <a:rPr kumimoji="1" lang="en-US" altLang="zh-CN" b="1" dirty="0" err="1">
                <a:latin typeface="Times New Roman" pitchFamily="18" charset="0"/>
              </a:rPr>
              <a:t>v</a:t>
            </a:r>
            <a:r>
              <a:rPr kumimoji="1" lang="en-US" altLang="zh-CN" b="1" baseline="-25000" dirty="0" err="1">
                <a:latin typeface="Times New Roman" pitchFamily="18" charset="0"/>
              </a:rPr>
              <a:t>i</a:t>
            </a:r>
            <a:r>
              <a:rPr kumimoji="1" lang="en-US" altLang="zh-CN" b="1" dirty="0" err="1">
                <a:latin typeface="Times New Roman" pitchFamily="18" charset="0"/>
              </a:rPr>
              <a:t>→v</a:t>
            </a:r>
            <a:r>
              <a:rPr kumimoji="1" lang="en-US" altLang="zh-CN" b="1" baseline="-25000" dirty="0" err="1">
                <a:latin typeface="Times New Roman" pitchFamily="18" charset="0"/>
              </a:rPr>
              <a:t>i</a:t>
            </a:r>
            <a:r>
              <a:rPr kumimoji="1" lang="en-US" altLang="zh-CN" b="1" dirty="0">
                <a:latin typeface="Times New Roman" pitchFamily="18" charset="0"/>
              </a:rPr>
              <a:t>’</a:t>
            </a:r>
            <a:r>
              <a:rPr kumimoji="1" lang="zh-CN" altLang="en-US" b="1" dirty="0">
                <a:latin typeface="Times New Roman" pitchFamily="18" charset="0"/>
              </a:rPr>
              <a:t>且</a:t>
            </a:r>
            <a:r>
              <a:rPr kumimoji="1" lang="en-US" altLang="zh-CN" b="1" dirty="0">
                <a:latin typeface="Times New Roman" pitchFamily="18" charset="0"/>
              </a:rPr>
              <a:t>e=(v</a:t>
            </a:r>
            <a:r>
              <a:rPr kumimoji="1" lang="en-US" altLang="zh-CN" b="1" baseline="-25000" dirty="0">
                <a:latin typeface="Times New Roman" pitchFamily="18" charset="0"/>
              </a:rPr>
              <a:t>i</a:t>
            </a:r>
            <a:r>
              <a:rPr kumimoji="1" lang="en-US" altLang="zh-CN" b="1" dirty="0">
                <a:latin typeface="Times New Roman" pitchFamily="18" charset="0"/>
              </a:rPr>
              <a:t>, </a:t>
            </a:r>
            <a:r>
              <a:rPr kumimoji="1" lang="en-US" altLang="zh-CN" b="1" dirty="0" err="1">
                <a:latin typeface="Times New Roman" pitchFamily="18" charset="0"/>
              </a:rPr>
              <a:t>v</a:t>
            </a:r>
            <a:r>
              <a:rPr kumimoji="1" lang="en-US" altLang="zh-CN" b="1" baseline="-25000" dirty="0" err="1">
                <a:latin typeface="Times New Roman" pitchFamily="18" charset="0"/>
              </a:rPr>
              <a:t>j</a:t>
            </a:r>
            <a:r>
              <a:rPr kumimoji="1" lang="en-US" altLang="zh-CN" b="1" dirty="0">
                <a:latin typeface="Times New Roman" pitchFamily="18" charset="0"/>
              </a:rPr>
              <a:t>) </a:t>
            </a:r>
            <a:r>
              <a:rPr kumimoji="1" lang="en-US" altLang="zh-CN" b="1" dirty="0">
                <a:solidFill>
                  <a:schemeClr val="hlink"/>
                </a:solidFill>
                <a:latin typeface="Times New Roman" pitchFamily="18" charset="0"/>
              </a:rPr>
              <a:t>(</a:t>
            </a:r>
            <a:r>
              <a:rPr kumimoji="1" lang="zh-CN" altLang="en-US" b="1" dirty="0">
                <a:solidFill>
                  <a:schemeClr val="hlink"/>
                </a:solidFill>
                <a:latin typeface="Times New Roman" pitchFamily="18" charset="0"/>
              </a:rPr>
              <a:t>或</a:t>
            </a:r>
            <a:r>
              <a:rPr kumimoji="1" lang="en-US" altLang="zh-CN" b="1" dirty="0">
                <a:solidFill>
                  <a:schemeClr val="hlink"/>
                </a:solidFill>
                <a:latin typeface="Times New Roman" pitchFamily="18" charset="0"/>
              </a:rPr>
              <a:t>&lt;v</a:t>
            </a:r>
            <a:r>
              <a:rPr kumimoji="1" lang="en-US" altLang="zh-CN" b="1" baseline="-25000" dirty="0">
                <a:solidFill>
                  <a:schemeClr val="hlink"/>
                </a:solidFill>
                <a:latin typeface="Times New Roman" pitchFamily="18" charset="0"/>
              </a:rPr>
              <a:t>i</a:t>
            </a:r>
            <a:r>
              <a:rPr kumimoji="1" lang="en-US" altLang="zh-CN" b="1" dirty="0">
                <a:solidFill>
                  <a:schemeClr val="hlink"/>
                </a:solidFill>
                <a:latin typeface="Times New Roman" pitchFamily="18" charset="0"/>
              </a:rPr>
              <a:t>, </a:t>
            </a:r>
            <a:r>
              <a:rPr kumimoji="1" lang="en-US" altLang="zh-CN" b="1" dirty="0" err="1">
                <a:solidFill>
                  <a:schemeClr val="hlink"/>
                </a:solidFill>
                <a:latin typeface="Times New Roman" pitchFamily="18" charset="0"/>
              </a:rPr>
              <a:t>v</a:t>
            </a:r>
            <a:r>
              <a:rPr kumimoji="1" lang="en-US" altLang="zh-CN" b="1" baseline="-25000" dirty="0" err="1">
                <a:solidFill>
                  <a:schemeClr val="hlink"/>
                </a:solidFill>
                <a:latin typeface="Times New Roman" pitchFamily="18" charset="0"/>
              </a:rPr>
              <a:t>j</a:t>
            </a:r>
            <a:r>
              <a:rPr kumimoji="1" lang="en-US" altLang="zh-CN" b="1" dirty="0">
                <a:solidFill>
                  <a:schemeClr val="hlink"/>
                </a:solidFill>
                <a:latin typeface="Times New Roman" pitchFamily="18" charset="0"/>
              </a:rPr>
              <a:t>&gt;)</a:t>
            </a:r>
            <a:r>
              <a:rPr kumimoji="1" lang="zh-CN" altLang="en-US" b="1" dirty="0">
                <a:latin typeface="Times New Roman" pitchFamily="18" charset="0"/>
              </a:rPr>
              <a:t>是</a:t>
            </a:r>
            <a:r>
              <a:rPr kumimoji="1" lang="en-US" altLang="zh-CN" b="1" dirty="0">
                <a:latin typeface="Times New Roman" pitchFamily="18" charset="0"/>
              </a:rPr>
              <a:t>G</a:t>
            </a:r>
            <a:r>
              <a:rPr kumimoji="1" lang="zh-CN" altLang="en-US" b="1" dirty="0">
                <a:latin typeface="Times New Roman" pitchFamily="18" charset="0"/>
              </a:rPr>
              <a:t>的一条边，当且仅当</a:t>
            </a:r>
            <a:r>
              <a:rPr kumimoji="1" lang="en-US" altLang="zh-CN" b="1" dirty="0">
                <a:latin typeface="Times New Roman" pitchFamily="18" charset="0"/>
              </a:rPr>
              <a:t>e’=(g(v</a:t>
            </a:r>
            <a:r>
              <a:rPr kumimoji="1" lang="en-US" altLang="zh-CN" b="1" baseline="-25000" dirty="0">
                <a:latin typeface="Times New Roman" pitchFamily="18" charset="0"/>
              </a:rPr>
              <a:t>i</a:t>
            </a:r>
            <a:r>
              <a:rPr kumimoji="1" lang="en-US" altLang="zh-CN" b="1" dirty="0">
                <a:latin typeface="Times New Roman" pitchFamily="18" charset="0"/>
              </a:rPr>
              <a:t>), g(</a:t>
            </a:r>
            <a:r>
              <a:rPr kumimoji="1" lang="en-US" altLang="zh-CN" b="1" dirty="0" err="1">
                <a:latin typeface="Times New Roman" pitchFamily="18" charset="0"/>
              </a:rPr>
              <a:t>v</a:t>
            </a:r>
            <a:r>
              <a:rPr kumimoji="1" lang="en-US" altLang="zh-CN" b="1" baseline="-25000" dirty="0" err="1">
                <a:latin typeface="Times New Roman" pitchFamily="18" charset="0"/>
              </a:rPr>
              <a:t>j</a:t>
            </a:r>
            <a:r>
              <a:rPr kumimoji="1" lang="en-US" altLang="zh-CN" b="1" dirty="0">
                <a:latin typeface="Times New Roman" pitchFamily="18" charset="0"/>
              </a:rPr>
              <a:t>)) </a:t>
            </a:r>
            <a:r>
              <a:rPr kumimoji="1" lang="en-US" altLang="zh-CN" b="1" dirty="0">
                <a:solidFill>
                  <a:schemeClr val="hlink"/>
                </a:solidFill>
                <a:latin typeface="Times New Roman" pitchFamily="18" charset="0"/>
              </a:rPr>
              <a:t>(</a:t>
            </a:r>
            <a:r>
              <a:rPr kumimoji="1" lang="zh-CN" altLang="en-US" b="1" dirty="0">
                <a:solidFill>
                  <a:schemeClr val="hlink"/>
                </a:solidFill>
                <a:latin typeface="Times New Roman" pitchFamily="18" charset="0"/>
              </a:rPr>
              <a:t>或</a:t>
            </a:r>
            <a:r>
              <a:rPr kumimoji="1" lang="en-US" altLang="zh-CN" b="1" dirty="0">
                <a:solidFill>
                  <a:schemeClr val="hlink"/>
                </a:solidFill>
                <a:latin typeface="Times New Roman" pitchFamily="18" charset="0"/>
              </a:rPr>
              <a:t>&lt;g(v</a:t>
            </a:r>
            <a:r>
              <a:rPr kumimoji="1" lang="en-US" altLang="zh-CN" b="1" baseline="-25000" dirty="0">
                <a:solidFill>
                  <a:schemeClr val="hlink"/>
                </a:solidFill>
                <a:latin typeface="Times New Roman" pitchFamily="18" charset="0"/>
              </a:rPr>
              <a:t>i</a:t>
            </a:r>
            <a:r>
              <a:rPr kumimoji="1" lang="en-US" altLang="zh-CN" b="1" dirty="0">
                <a:solidFill>
                  <a:schemeClr val="hlink"/>
                </a:solidFill>
                <a:latin typeface="Times New Roman" pitchFamily="18" charset="0"/>
              </a:rPr>
              <a:t>), g(</a:t>
            </a:r>
            <a:r>
              <a:rPr kumimoji="1" lang="en-US" altLang="zh-CN" b="1" dirty="0" err="1">
                <a:solidFill>
                  <a:schemeClr val="hlink"/>
                </a:solidFill>
                <a:latin typeface="Times New Roman" pitchFamily="18" charset="0"/>
              </a:rPr>
              <a:t>v</a:t>
            </a:r>
            <a:r>
              <a:rPr kumimoji="1" lang="en-US" altLang="zh-CN" b="1" baseline="-25000" dirty="0" err="1">
                <a:solidFill>
                  <a:schemeClr val="hlink"/>
                </a:solidFill>
                <a:latin typeface="Times New Roman" pitchFamily="18" charset="0"/>
              </a:rPr>
              <a:t>j</a:t>
            </a:r>
            <a:r>
              <a:rPr kumimoji="1" lang="en-US" altLang="zh-CN" b="1" dirty="0">
                <a:solidFill>
                  <a:schemeClr val="hlink"/>
                </a:solidFill>
                <a:latin typeface="Times New Roman" pitchFamily="18" charset="0"/>
              </a:rPr>
              <a:t>)&gt;)</a:t>
            </a:r>
            <a:r>
              <a:rPr kumimoji="1" lang="zh-CN" altLang="en-US" b="1" dirty="0">
                <a:latin typeface="Times New Roman" pitchFamily="18" charset="0"/>
              </a:rPr>
              <a:t>是</a:t>
            </a:r>
            <a:r>
              <a:rPr kumimoji="1" lang="en-US" altLang="zh-CN" b="1" dirty="0">
                <a:latin typeface="Times New Roman" pitchFamily="18" charset="0"/>
              </a:rPr>
              <a:t>G’</a:t>
            </a:r>
            <a:r>
              <a:rPr kumimoji="1" lang="zh-CN" altLang="en-US" b="1" dirty="0">
                <a:latin typeface="Times New Roman" pitchFamily="18" charset="0"/>
              </a:rPr>
              <a:t>的一条边，则</a:t>
            </a:r>
            <a:r>
              <a:rPr kumimoji="1" lang="zh-CN" altLang="en-US" b="1" i="1" dirty="0">
                <a:solidFill>
                  <a:srgbClr val="0000CC"/>
                </a:solidFill>
                <a:latin typeface="Times New Roman" pitchFamily="18" charset="0"/>
              </a:rPr>
              <a:t>称</a:t>
            </a:r>
            <a:r>
              <a:rPr kumimoji="1" lang="en-US" altLang="zh-CN" b="1" i="1" dirty="0">
                <a:solidFill>
                  <a:srgbClr val="0000CC"/>
                </a:solidFill>
                <a:latin typeface="Times New Roman" pitchFamily="18" charset="0"/>
              </a:rPr>
              <a:t>G</a:t>
            </a:r>
            <a:r>
              <a:rPr kumimoji="1" lang="zh-CN" altLang="en-US" b="1" i="1" dirty="0">
                <a:solidFill>
                  <a:srgbClr val="0000CC"/>
                </a:solidFill>
                <a:latin typeface="Times New Roman" pitchFamily="18" charset="0"/>
              </a:rPr>
              <a:t>与</a:t>
            </a:r>
            <a:r>
              <a:rPr kumimoji="1" lang="en-US" altLang="zh-CN" b="1" i="1" dirty="0">
                <a:solidFill>
                  <a:srgbClr val="0000CC"/>
                </a:solidFill>
                <a:latin typeface="Times New Roman" pitchFamily="18" charset="0"/>
              </a:rPr>
              <a:t>G’</a:t>
            </a:r>
            <a:r>
              <a:rPr kumimoji="1" lang="zh-CN" altLang="en-US" b="1" i="1" dirty="0">
                <a:solidFill>
                  <a:srgbClr val="0000CC"/>
                </a:solidFill>
                <a:latin typeface="Times New Roman" pitchFamily="18" charset="0"/>
              </a:rPr>
              <a:t>同构</a:t>
            </a:r>
            <a:r>
              <a:rPr kumimoji="1" lang="zh-CN" altLang="en-US" b="1" dirty="0">
                <a:latin typeface="Times New Roman" pitchFamily="18" charset="0"/>
              </a:rPr>
              <a:t>，记为</a:t>
            </a:r>
            <a:r>
              <a:rPr kumimoji="1" lang="en-US" altLang="zh-CN" b="1" dirty="0">
                <a:solidFill>
                  <a:srgbClr val="0000CC"/>
                </a:solidFill>
                <a:latin typeface="Times New Roman" pitchFamily="18" charset="0"/>
              </a:rPr>
              <a:t>G≌G’</a:t>
            </a:r>
            <a:r>
              <a:rPr kumimoji="1" lang="zh-CN" altLang="en-US" b="1" dirty="0">
                <a:latin typeface="Times New Roman" pitchFamily="18" charset="0"/>
              </a:rPr>
              <a:t>。 </a:t>
            </a:r>
          </a:p>
        </p:txBody>
      </p:sp>
      <p:sp>
        <p:nvSpPr>
          <p:cNvPr id="20484" name="Text Box 5"/>
          <p:cNvSpPr txBox="1">
            <a:spLocks noChangeArrowheads="1"/>
          </p:cNvSpPr>
          <p:nvPr/>
        </p:nvSpPr>
        <p:spPr bwMode="auto">
          <a:xfrm>
            <a:off x="466725" y="1019175"/>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a:solidFill>
                  <a:schemeClr val="bg2"/>
                </a:solidFill>
                <a:latin typeface="Times New Roman" pitchFamily="18" charset="0"/>
              </a:rPr>
              <a:t>由于图的图形表示与</a:t>
            </a:r>
            <a:r>
              <a:rPr kumimoji="1" lang="zh-CN" altLang="en-US" b="1">
                <a:solidFill>
                  <a:srgbClr val="0000CC"/>
                </a:solidFill>
                <a:latin typeface="Times New Roman" pitchFamily="18" charset="0"/>
              </a:rPr>
              <a:t>结点的位置</a:t>
            </a:r>
            <a:r>
              <a:rPr kumimoji="1" lang="zh-CN" altLang="en-US" b="1">
                <a:solidFill>
                  <a:schemeClr val="bg2"/>
                </a:solidFill>
                <a:latin typeface="Times New Roman" pitchFamily="18" charset="0"/>
              </a:rPr>
              <a:t>以及</a:t>
            </a:r>
            <a:r>
              <a:rPr kumimoji="1" lang="zh-CN" altLang="en-US" b="1">
                <a:solidFill>
                  <a:srgbClr val="0000CC"/>
                </a:solidFill>
                <a:latin typeface="Times New Roman" pitchFamily="18" charset="0"/>
              </a:rPr>
              <a:t>边的长度形状</a:t>
            </a:r>
            <a:r>
              <a:rPr kumimoji="1" lang="zh-CN" altLang="en-US" b="1">
                <a:solidFill>
                  <a:schemeClr val="bg2"/>
                </a:solidFill>
                <a:latin typeface="Times New Roman" pitchFamily="18" charset="0"/>
              </a:rPr>
              <a:t>无关，所以对于同一图，有多种不同的图形表示形式。</a:t>
            </a:r>
          </a:p>
        </p:txBody>
      </p:sp>
      <p:sp>
        <p:nvSpPr>
          <p:cNvPr id="6" name="Rectangle 4"/>
          <p:cNvSpPr>
            <a:spLocks noChangeArrowheads="1"/>
          </p:cNvSpPr>
          <p:nvPr/>
        </p:nvSpPr>
        <p:spPr bwMode="auto">
          <a:xfrm>
            <a:off x="467544" y="3929162"/>
            <a:ext cx="7777162"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hlink"/>
              </a:buClr>
              <a:buFont typeface="Wingdings" pitchFamily="2" charset="2"/>
              <a:buChar char="Ø"/>
            </a:pPr>
            <a:r>
              <a:rPr kumimoji="1" lang="zh-CN" altLang="en-US" b="1" dirty="0">
                <a:latin typeface="Times New Roman" pitchFamily="18" charset="0"/>
              </a:rPr>
              <a:t>两个图同构的充要条件是：</a:t>
            </a:r>
          </a:p>
          <a:p>
            <a:pPr>
              <a:lnSpc>
                <a:spcPct val="130000"/>
              </a:lnSpc>
              <a:buClr>
                <a:schemeClr val="hlink"/>
              </a:buClr>
              <a:buFont typeface="Wingdings" pitchFamily="2" charset="2"/>
              <a:buNone/>
            </a:pPr>
            <a:r>
              <a:rPr lang="en-US" altLang="zh-CN" b="1" dirty="0">
                <a:latin typeface="Times New Roman" pitchFamily="18" charset="0"/>
              </a:rPr>
              <a:t>(1)</a:t>
            </a:r>
            <a:r>
              <a:rPr lang="zh-CN" altLang="en-US" b="1" dirty="0">
                <a:latin typeface="Times New Roman" pitchFamily="18" charset="0"/>
              </a:rPr>
              <a:t>两图的结点存在着一一对应。</a:t>
            </a:r>
          </a:p>
          <a:p>
            <a:pPr>
              <a:lnSpc>
                <a:spcPct val="130000"/>
              </a:lnSpc>
              <a:buClr>
                <a:schemeClr val="hlink"/>
              </a:buClr>
              <a:buFont typeface="Wingdings" pitchFamily="2" charset="2"/>
              <a:buNone/>
            </a:pPr>
            <a:r>
              <a:rPr lang="en-US" altLang="zh-CN" b="1" dirty="0">
                <a:latin typeface="Times New Roman" pitchFamily="18" charset="0"/>
              </a:rPr>
              <a:t>(2)</a:t>
            </a:r>
            <a:r>
              <a:rPr lang="zh-CN" altLang="en-US" b="1" dirty="0">
                <a:latin typeface="Times New Roman" pitchFamily="18" charset="0"/>
              </a:rPr>
              <a:t>与结点相关联的边也存在着一一对应。</a:t>
            </a:r>
          </a:p>
        </p:txBody>
      </p:sp>
      <p:grpSp>
        <p:nvGrpSpPr>
          <p:cNvPr id="7" name="Group 5"/>
          <p:cNvGrpSpPr>
            <a:grpSpLocks/>
          </p:cNvGrpSpPr>
          <p:nvPr/>
        </p:nvGrpSpPr>
        <p:grpSpPr bwMode="auto">
          <a:xfrm>
            <a:off x="7278142" y="3518310"/>
            <a:ext cx="1706563" cy="2057400"/>
            <a:chOff x="461" y="2304"/>
            <a:chExt cx="1075" cy="1296"/>
          </a:xfrm>
        </p:grpSpPr>
        <p:sp>
          <p:nvSpPr>
            <p:cNvPr id="8" name="Line 6"/>
            <p:cNvSpPr>
              <a:spLocks noChangeShapeType="1"/>
            </p:cNvSpPr>
            <p:nvPr/>
          </p:nvSpPr>
          <p:spPr bwMode="auto">
            <a:xfrm>
              <a:off x="768" y="3264"/>
              <a:ext cx="48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 name="Group 7"/>
            <p:cNvGrpSpPr>
              <a:grpSpLocks/>
            </p:cNvGrpSpPr>
            <p:nvPr/>
          </p:nvGrpSpPr>
          <p:grpSpPr bwMode="auto">
            <a:xfrm>
              <a:off x="461" y="2304"/>
              <a:ext cx="1075" cy="1296"/>
              <a:chOff x="461" y="2304"/>
              <a:chExt cx="1075" cy="1296"/>
            </a:xfrm>
          </p:grpSpPr>
          <p:sp>
            <p:nvSpPr>
              <p:cNvPr id="10" name="Oval 8"/>
              <p:cNvSpPr>
                <a:spLocks noChangeArrowheads="1"/>
              </p:cNvSpPr>
              <p:nvPr/>
            </p:nvSpPr>
            <p:spPr bwMode="auto">
              <a:xfrm>
                <a:off x="672" y="2592"/>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Oval 9"/>
              <p:cNvSpPr>
                <a:spLocks noChangeArrowheads="1"/>
              </p:cNvSpPr>
              <p:nvPr/>
            </p:nvSpPr>
            <p:spPr bwMode="auto">
              <a:xfrm>
                <a:off x="1248" y="2592"/>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2" name="Oval 10"/>
              <p:cNvSpPr>
                <a:spLocks noChangeArrowheads="1"/>
              </p:cNvSpPr>
              <p:nvPr/>
            </p:nvSpPr>
            <p:spPr bwMode="auto">
              <a:xfrm>
                <a:off x="1248" y="3216"/>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Oval 11"/>
              <p:cNvSpPr>
                <a:spLocks noChangeArrowheads="1"/>
              </p:cNvSpPr>
              <p:nvPr/>
            </p:nvSpPr>
            <p:spPr bwMode="auto">
              <a:xfrm>
                <a:off x="672" y="3216"/>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2"/>
              <p:cNvSpPr>
                <a:spLocks noChangeShapeType="1"/>
              </p:cNvSpPr>
              <p:nvPr/>
            </p:nvSpPr>
            <p:spPr bwMode="auto">
              <a:xfrm>
                <a:off x="768" y="2640"/>
                <a:ext cx="480"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13"/>
              <p:cNvSpPr>
                <a:spLocks noChangeShapeType="1"/>
              </p:cNvSpPr>
              <p:nvPr/>
            </p:nvSpPr>
            <p:spPr bwMode="auto">
              <a:xfrm>
                <a:off x="720" y="2688"/>
                <a:ext cx="0" cy="5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14"/>
              <p:cNvSpPr>
                <a:spLocks noChangeShapeType="1"/>
              </p:cNvSpPr>
              <p:nvPr/>
            </p:nvSpPr>
            <p:spPr bwMode="auto">
              <a:xfrm>
                <a:off x="1296" y="2688"/>
                <a:ext cx="0" cy="52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15"/>
              <p:cNvSpPr>
                <a:spLocks noChangeShapeType="1"/>
              </p:cNvSpPr>
              <p:nvPr/>
            </p:nvSpPr>
            <p:spPr bwMode="auto">
              <a:xfrm flipH="1">
                <a:off x="720" y="2688"/>
                <a:ext cx="528" cy="5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Freeform 16"/>
              <p:cNvSpPr>
                <a:spLocks/>
              </p:cNvSpPr>
              <p:nvPr/>
            </p:nvSpPr>
            <p:spPr bwMode="auto">
              <a:xfrm>
                <a:off x="480" y="2640"/>
                <a:ext cx="806" cy="940"/>
              </a:xfrm>
              <a:custGeom>
                <a:avLst/>
                <a:gdLst>
                  <a:gd name="T0" fmla="*/ 228 w 806"/>
                  <a:gd name="T1" fmla="*/ 0 h 940"/>
                  <a:gd name="T2" fmla="*/ 160 w 806"/>
                  <a:gd name="T3" fmla="*/ 51 h 940"/>
                  <a:gd name="T4" fmla="*/ 100 w 806"/>
                  <a:gd name="T5" fmla="*/ 118 h 940"/>
                  <a:gd name="T6" fmla="*/ 58 w 806"/>
                  <a:gd name="T7" fmla="*/ 195 h 940"/>
                  <a:gd name="T8" fmla="*/ 41 w 806"/>
                  <a:gd name="T9" fmla="*/ 220 h 940"/>
                  <a:gd name="T10" fmla="*/ 24 w 806"/>
                  <a:gd name="T11" fmla="*/ 271 h 940"/>
                  <a:gd name="T12" fmla="*/ 16 w 806"/>
                  <a:gd name="T13" fmla="*/ 296 h 940"/>
                  <a:gd name="T14" fmla="*/ 92 w 806"/>
                  <a:gd name="T15" fmla="*/ 677 h 940"/>
                  <a:gd name="T16" fmla="*/ 287 w 806"/>
                  <a:gd name="T17" fmla="*/ 898 h 940"/>
                  <a:gd name="T18" fmla="*/ 397 w 806"/>
                  <a:gd name="T19" fmla="*/ 940 h 940"/>
                  <a:gd name="T20" fmla="*/ 626 w 806"/>
                  <a:gd name="T21" fmla="*/ 898 h 940"/>
                  <a:gd name="T22" fmla="*/ 787 w 806"/>
                  <a:gd name="T23" fmla="*/ 711 h 940"/>
                  <a:gd name="T24" fmla="*/ 804 w 806"/>
                  <a:gd name="T25" fmla="*/ 677 h 94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06" h="940">
                    <a:moveTo>
                      <a:pt x="228" y="0"/>
                    </a:moveTo>
                    <a:cubicBezTo>
                      <a:pt x="208" y="29"/>
                      <a:pt x="193" y="39"/>
                      <a:pt x="160" y="51"/>
                    </a:cubicBezTo>
                    <a:cubicBezTo>
                      <a:pt x="120" y="110"/>
                      <a:pt x="143" y="90"/>
                      <a:pt x="100" y="118"/>
                    </a:cubicBezTo>
                    <a:cubicBezTo>
                      <a:pt x="86" y="163"/>
                      <a:pt x="97" y="137"/>
                      <a:pt x="58" y="195"/>
                    </a:cubicBezTo>
                    <a:cubicBezTo>
                      <a:pt x="52" y="203"/>
                      <a:pt x="41" y="220"/>
                      <a:pt x="41" y="220"/>
                    </a:cubicBezTo>
                    <a:cubicBezTo>
                      <a:pt x="35" y="237"/>
                      <a:pt x="30" y="254"/>
                      <a:pt x="24" y="271"/>
                    </a:cubicBezTo>
                    <a:cubicBezTo>
                      <a:pt x="21" y="279"/>
                      <a:pt x="16" y="296"/>
                      <a:pt x="16" y="296"/>
                    </a:cubicBezTo>
                    <a:cubicBezTo>
                      <a:pt x="0" y="415"/>
                      <a:pt x="21" y="573"/>
                      <a:pt x="92" y="677"/>
                    </a:cubicBezTo>
                    <a:cubicBezTo>
                      <a:pt x="118" y="787"/>
                      <a:pt x="190" y="849"/>
                      <a:pt x="287" y="898"/>
                    </a:cubicBezTo>
                    <a:cubicBezTo>
                      <a:pt x="329" y="920"/>
                      <a:pt x="347" y="932"/>
                      <a:pt x="397" y="940"/>
                    </a:cubicBezTo>
                    <a:cubicBezTo>
                      <a:pt x="489" y="934"/>
                      <a:pt x="544" y="923"/>
                      <a:pt x="626" y="898"/>
                    </a:cubicBezTo>
                    <a:cubicBezTo>
                      <a:pt x="695" y="851"/>
                      <a:pt x="749" y="785"/>
                      <a:pt x="787" y="711"/>
                    </a:cubicBezTo>
                    <a:cubicBezTo>
                      <a:pt x="806" y="674"/>
                      <a:pt x="804" y="699"/>
                      <a:pt x="804" y="677"/>
                    </a:cubicBezTo>
                  </a:path>
                </a:pathLst>
              </a:cu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Rectangle 17"/>
              <p:cNvSpPr>
                <a:spLocks noChangeArrowheads="1"/>
              </p:cNvSpPr>
              <p:nvPr/>
            </p:nvSpPr>
            <p:spPr bwMode="auto">
              <a:xfrm>
                <a:off x="720" y="2304"/>
                <a:ext cx="192" cy="288"/>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a:latin typeface="Times New Roman" pitchFamily="18" charset="0"/>
                  </a:rPr>
                  <a:t>a</a:t>
                </a:r>
              </a:p>
            </p:txBody>
          </p:sp>
          <p:sp>
            <p:nvSpPr>
              <p:cNvPr id="20" name="Rectangle 18"/>
              <p:cNvSpPr>
                <a:spLocks noChangeArrowheads="1"/>
              </p:cNvSpPr>
              <p:nvPr/>
            </p:nvSpPr>
            <p:spPr bwMode="auto">
              <a:xfrm>
                <a:off x="1248" y="2304"/>
                <a:ext cx="192" cy="288"/>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dirty="0">
                    <a:latin typeface="Times New Roman" pitchFamily="18" charset="0"/>
                  </a:rPr>
                  <a:t>b</a:t>
                </a:r>
              </a:p>
            </p:txBody>
          </p:sp>
          <p:sp>
            <p:nvSpPr>
              <p:cNvPr id="21" name="Rectangle 19"/>
              <p:cNvSpPr>
                <a:spLocks noChangeArrowheads="1"/>
              </p:cNvSpPr>
              <p:nvPr/>
            </p:nvSpPr>
            <p:spPr bwMode="auto">
              <a:xfrm>
                <a:off x="1296" y="3312"/>
                <a:ext cx="240" cy="288"/>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a:latin typeface="Times New Roman" pitchFamily="18" charset="0"/>
                  </a:rPr>
                  <a:t>d</a:t>
                </a:r>
              </a:p>
            </p:txBody>
          </p:sp>
          <p:sp>
            <p:nvSpPr>
              <p:cNvPr id="22" name="Rectangle 20"/>
              <p:cNvSpPr>
                <a:spLocks noChangeArrowheads="1"/>
              </p:cNvSpPr>
              <p:nvPr/>
            </p:nvSpPr>
            <p:spPr bwMode="auto">
              <a:xfrm>
                <a:off x="461" y="3312"/>
                <a:ext cx="355" cy="288"/>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kumimoji="1" lang="en-US" altLang="zh-CN" dirty="0">
                    <a:latin typeface="Times New Roman" pitchFamily="18" charset="0"/>
                  </a:rPr>
                  <a:t>c</a:t>
                </a:r>
              </a:p>
            </p:txBody>
          </p:sp>
        </p:grpSp>
      </p:grpSp>
      <p:grpSp>
        <p:nvGrpSpPr>
          <p:cNvPr id="23" name="Group 21"/>
          <p:cNvGrpSpPr>
            <a:grpSpLocks/>
          </p:cNvGrpSpPr>
          <p:nvPr/>
        </p:nvGrpSpPr>
        <p:grpSpPr bwMode="auto">
          <a:xfrm>
            <a:off x="5220072" y="4365104"/>
            <a:ext cx="3581400" cy="2286000"/>
            <a:chOff x="2448" y="2208"/>
            <a:chExt cx="2256" cy="1440"/>
          </a:xfrm>
        </p:grpSpPr>
        <p:sp>
          <p:nvSpPr>
            <p:cNvPr id="24" name="Line 22"/>
            <p:cNvSpPr>
              <a:spLocks noChangeShapeType="1"/>
            </p:cNvSpPr>
            <p:nvPr/>
          </p:nvSpPr>
          <p:spPr bwMode="auto">
            <a:xfrm>
              <a:off x="3168" y="2544"/>
              <a:ext cx="192" cy="48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5" name="Group 23"/>
            <p:cNvGrpSpPr>
              <a:grpSpLocks/>
            </p:cNvGrpSpPr>
            <p:nvPr/>
          </p:nvGrpSpPr>
          <p:grpSpPr bwMode="auto">
            <a:xfrm>
              <a:off x="2448" y="2208"/>
              <a:ext cx="2256" cy="1440"/>
              <a:chOff x="2448" y="2208"/>
              <a:chExt cx="2256" cy="1440"/>
            </a:xfrm>
          </p:grpSpPr>
          <p:sp>
            <p:nvSpPr>
              <p:cNvPr id="26" name="Line 24"/>
              <p:cNvSpPr>
                <a:spLocks noChangeShapeType="1"/>
              </p:cNvSpPr>
              <p:nvPr/>
            </p:nvSpPr>
            <p:spPr bwMode="auto">
              <a:xfrm flipH="1">
                <a:off x="2688" y="2592"/>
                <a:ext cx="480" cy="62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 name="Line 25"/>
              <p:cNvSpPr>
                <a:spLocks noChangeShapeType="1"/>
              </p:cNvSpPr>
              <p:nvPr/>
            </p:nvSpPr>
            <p:spPr bwMode="auto">
              <a:xfrm>
                <a:off x="3216" y="2544"/>
                <a:ext cx="1056" cy="7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 name="Line 26"/>
              <p:cNvSpPr>
                <a:spLocks noChangeShapeType="1"/>
              </p:cNvSpPr>
              <p:nvPr/>
            </p:nvSpPr>
            <p:spPr bwMode="auto">
              <a:xfrm>
                <a:off x="2688" y="3264"/>
                <a:ext cx="158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 name="Line 27"/>
              <p:cNvSpPr>
                <a:spLocks noChangeShapeType="1"/>
              </p:cNvSpPr>
              <p:nvPr/>
            </p:nvSpPr>
            <p:spPr bwMode="auto">
              <a:xfrm flipV="1">
                <a:off x="2688" y="3072"/>
                <a:ext cx="672" cy="19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0" name="Line 28"/>
              <p:cNvSpPr>
                <a:spLocks noChangeShapeType="1"/>
              </p:cNvSpPr>
              <p:nvPr/>
            </p:nvSpPr>
            <p:spPr bwMode="auto">
              <a:xfrm>
                <a:off x="3408" y="3072"/>
                <a:ext cx="816" cy="192"/>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1" name="Group 29"/>
              <p:cNvGrpSpPr>
                <a:grpSpLocks/>
              </p:cNvGrpSpPr>
              <p:nvPr/>
            </p:nvGrpSpPr>
            <p:grpSpPr bwMode="auto">
              <a:xfrm>
                <a:off x="2448" y="2208"/>
                <a:ext cx="2256" cy="1440"/>
                <a:chOff x="2448" y="2208"/>
                <a:chExt cx="2256" cy="1440"/>
              </a:xfrm>
            </p:grpSpPr>
            <p:sp>
              <p:nvSpPr>
                <p:cNvPr id="32" name="Oval 30"/>
                <p:cNvSpPr>
                  <a:spLocks noChangeArrowheads="1"/>
                </p:cNvSpPr>
                <p:nvPr/>
              </p:nvSpPr>
              <p:spPr bwMode="auto">
                <a:xfrm>
                  <a:off x="3120" y="2496"/>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3" name="Oval 31"/>
                <p:cNvSpPr>
                  <a:spLocks noChangeArrowheads="1"/>
                </p:cNvSpPr>
                <p:nvPr/>
              </p:nvSpPr>
              <p:spPr bwMode="auto">
                <a:xfrm>
                  <a:off x="2592" y="3216"/>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4" name="Oval 32"/>
                <p:cNvSpPr>
                  <a:spLocks noChangeArrowheads="1"/>
                </p:cNvSpPr>
                <p:nvPr/>
              </p:nvSpPr>
              <p:spPr bwMode="auto">
                <a:xfrm>
                  <a:off x="4272" y="3216"/>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5" name="Oval 33"/>
                <p:cNvSpPr>
                  <a:spLocks noChangeArrowheads="1"/>
                </p:cNvSpPr>
                <p:nvPr/>
              </p:nvSpPr>
              <p:spPr bwMode="auto">
                <a:xfrm>
                  <a:off x="3312" y="3024"/>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6" name="Rectangle 34"/>
                <p:cNvSpPr>
                  <a:spLocks noChangeArrowheads="1"/>
                </p:cNvSpPr>
                <p:nvPr/>
              </p:nvSpPr>
              <p:spPr bwMode="auto">
                <a:xfrm>
                  <a:off x="2928" y="2208"/>
                  <a:ext cx="288" cy="288"/>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a:latin typeface="Times New Roman" pitchFamily="18" charset="0"/>
                    </a:rPr>
                    <a:t>a’</a:t>
                  </a:r>
                </a:p>
              </p:txBody>
            </p:sp>
            <p:sp>
              <p:nvSpPr>
                <p:cNvPr id="37" name="Rectangle 35"/>
                <p:cNvSpPr>
                  <a:spLocks noChangeArrowheads="1"/>
                </p:cNvSpPr>
                <p:nvPr/>
              </p:nvSpPr>
              <p:spPr bwMode="auto">
                <a:xfrm>
                  <a:off x="4416" y="3120"/>
                  <a:ext cx="288" cy="288"/>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a:latin typeface="Times New Roman" pitchFamily="18" charset="0"/>
                    </a:rPr>
                    <a:t>b’</a:t>
                  </a:r>
                </a:p>
              </p:txBody>
            </p:sp>
            <p:sp>
              <p:nvSpPr>
                <p:cNvPr id="38" name="Rectangle 36"/>
                <p:cNvSpPr>
                  <a:spLocks noChangeArrowheads="1"/>
                </p:cNvSpPr>
                <p:nvPr/>
              </p:nvSpPr>
              <p:spPr bwMode="auto">
                <a:xfrm>
                  <a:off x="3456" y="2832"/>
                  <a:ext cx="288" cy="288"/>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a:latin typeface="Times New Roman" pitchFamily="18" charset="0"/>
                    </a:rPr>
                    <a:t>d’</a:t>
                  </a:r>
                </a:p>
              </p:txBody>
            </p:sp>
            <p:sp>
              <p:nvSpPr>
                <p:cNvPr id="39" name="Rectangle 37"/>
                <p:cNvSpPr>
                  <a:spLocks noChangeArrowheads="1"/>
                </p:cNvSpPr>
                <p:nvPr/>
              </p:nvSpPr>
              <p:spPr bwMode="auto">
                <a:xfrm>
                  <a:off x="2448" y="3360"/>
                  <a:ext cx="336" cy="288"/>
                </a:xfrm>
                <a:prstGeom prst="rect">
                  <a:avLst/>
                </a:prstGeom>
                <a:noFill/>
                <a:ln w="25400">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a:latin typeface="Times New Roman" pitchFamily="18" charset="0"/>
                    </a:rPr>
                    <a:t>c’</a:t>
                  </a:r>
                </a:p>
              </p:txBody>
            </p:sp>
          </p:grpSp>
        </p:gr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363"/>
                                        </p:tgtEl>
                                        <p:attrNameLst>
                                          <p:attrName>style.visibility</p:attrName>
                                        </p:attrNameLst>
                                      </p:cBhvr>
                                      <p:to>
                                        <p:strVal val="visible"/>
                                      </p:to>
                                    </p:set>
                                    <p:anim calcmode="lin" valueType="num">
                                      <p:cBhvr additive="base">
                                        <p:cTn id="7" dur="500" fill="hold"/>
                                        <p:tgtEl>
                                          <p:spTgt spid="15363"/>
                                        </p:tgtEl>
                                        <p:attrNameLst>
                                          <p:attrName>ppt_x</p:attrName>
                                        </p:attrNameLst>
                                      </p:cBhvr>
                                      <p:tavLst>
                                        <p:tav tm="0">
                                          <p:val>
                                            <p:strVal val="#ppt_x"/>
                                          </p:val>
                                        </p:tav>
                                        <p:tav tm="100000">
                                          <p:val>
                                            <p:strVal val="#ppt_x"/>
                                          </p:val>
                                        </p:tav>
                                      </p:tavLst>
                                    </p:anim>
                                    <p:anim calcmode="lin" valueType="num">
                                      <p:cBhvr additive="base">
                                        <p:cTn id="8" dur="500" fill="hold"/>
                                        <p:tgtEl>
                                          <p:spTgt spid="153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3" grpId="0"/>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灯片编号占位符 4"/>
          <p:cNvSpPr>
            <a:spLocks noGrp="1"/>
          </p:cNvSpPr>
          <p:nvPr>
            <p:ph type="sldNum" sz="quarter" idx="11"/>
          </p:nvPr>
        </p:nvSpPr>
        <p:spPr/>
        <p:txBody>
          <a:bodyPr/>
          <a:lstStyle/>
          <a:p>
            <a:pPr>
              <a:defRPr/>
            </a:pPr>
            <a:fld id="{EFDCBAF6-12C5-4839-A48F-A3DDD80C6A99}" type="slidenum">
              <a:rPr lang="en-US" altLang="zh-CN"/>
              <a:pPr>
                <a:defRPr/>
              </a:pPr>
              <a:t>18</a:t>
            </a:fld>
            <a:endParaRPr lang="en-US" altLang="zh-CN"/>
          </a:p>
        </p:txBody>
      </p:sp>
      <p:grpSp>
        <p:nvGrpSpPr>
          <p:cNvPr id="22531" name="Group 45"/>
          <p:cNvGrpSpPr>
            <a:grpSpLocks/>
          </p:cNvGrpSpPr>
          <p:nvPr/>
        </p:nvGrpSpPr>
        <p:grpSpPr bwMode="auto">
          <a:xfrm>
            <a:off x="1546225" y="1196975"/>
            <a:ext cx="2089150" cy="2185988"/>
            <a:chOff x="974" y="1344"/>
            <a:chExt cx="1316" cy="1377"/>
          </a:xfrm>
        </p:grpSpPr>
        <p:sp>
          <p:nvSpPr>
            <p:cNvPr id="22580" name="Line 14"/>
            <p:cNvSpPr>
              <a:spLocks noChangeShapeType="1"/>
            </p:cNvSpPr>
            <p:nvPr/>
          </p:nvSpPr>
          <p:spPr bwMode="auto">
            <a:xfrm flipH="1" flipV="1">
              <a:off x="1428" y="1617"/>
              <a:ext cx="635" cy="54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81" name="Line 16"/>
            <p:cNvSpPr>
              <a:spLocks noChangeShapeType="1"/>
            </p:cNvSpPr>
            <p:nvPr/>
          </p:nvSpPr>
          <p:spPr bwMode="auto">
            <a:xfrm flipH="1">
              <a:off x="1156" y="1617"/>
              <a:ext cx="272" cy="589"/>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82" name="Line 17"/>
            <p:cNvSpPr>
              <a:spLocks noChangeShapeType="1"/>
            </p:cNvSpPr>
            <p:nvPr/>
          </p:nvSpPr>
          <p:spPr bwMode="auto">
            <a:xfrm flipV="1">
              <a:off x="1564" y="2161"/>
              <a:ext cx="499" cy="4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83" name="Text Box 18"/>
            <p:cNvSpPr txBox="1">
              <a:spLocks noChangeArrowheads="1"/>
            </p:cNvSpPr>
            <p:nvPr/>
          </p:nvSpPr>
          <p:spPr bwMode="auto">
            <a:xfrm>
              <a:off x="1337" y="1344"/>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a</a:t>
              </a:r>
            </a:p>
          </p:txBody>
        </p:sp>
        <p:sp>
          <p:nvSpPr>
            <p:cNvPr id="22584" name="Text Box 19"/>
            <p:cNvSpPr txBox="1">
              <a:spLocks noChangeArrowheads="1"/>
            </p:cNvSpPr>
            <p:nvPr/>
          </p:nvSpPr>
          <p:spPr bwMode="auto">
            <a:xfrm>
              <a:off x="2018" y="2025"/>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b</a:t>
              </a:r>
            </a:p>
          </p:txBody>
        </p:sp>
        <p:sp>
          <p:nvSpPr>
            <p:cNvPr id="22585" name="Text Box 20"/>
            <p:cNvSpPr txBox="1">
              <a:spLocks noChangeArrowheads="1"/>
            </p:cNvSpPr>
            <p:nvPr/>
          </p:nvSpPr>
          <p:spPr bwMode="auto">
            <a:xfrm>
              <a:off x="974" y="2070"/>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c</a:t>
              </a:r>
            </a:p>
          </p:txBody>
        </p:sp>
        <p:sp>
          <p:nvSpPr>
            <p:cNvPr id="22586" name="Text Box 21"/>
            <p:cNvSpPr txBox="1">
              <a:spLocks noChangeArrowheads="1"/>
            </p:cNvSpPr>
            <p:nvPr/>
          </p:nvSpPr>
          <p:spPr bwMode="auto">
            <a:xfrm>
              <a:off x="1609" y="2433"/>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d</a:t>
              </a:r>
            </a:p>
          </p:txBody>
        </p:sp>
        <p:sp>
          <p:nvSpPr>
            <p:cNvPr id="22587" name="Line 22"/>
            <p:cNvSpPr>
              <a:spLocks noChangeShapeType="1"/>
            </p:cNvSpPr>
            <p:nvPr/>
          </p:nvSpPr>
          <p:spPr bwMode="auto">
            <a:xfrm flipH="1" flipV="1">
              <a:off x="1156" y="2206"/>
              <a:ext cx="408" cy="3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22588" name="Group 24"/>
            <p:cNvGrpSpPr>
              <a:grpSpLocks/>
            </p:cNvGrpSpPr>
            <p:nvPr/>
          </p:nvGrpSpPr>
          <p:grpSpPr bwMode="auto">
            <a:xfrm>
              <a:off x="1292" y="2342"/>
              <a:ext cx="136" cy="91"/>
              <a:chOff x="703" y="3838"/>
              <a:chExt cx="136" cy="91"/>
            </a:xfrm>
          </p:grpSpPr>
          <p:sp>
            <p:nvSpPr>
              <p:cNvPr id="22595" name="Line 25"/>
              <p:cNvSpPr>
                <a:spLocks noChangeShapeType="1"/>
              </p:cNvSpPr>
              <p:nvPr/>
            </p:nvSpPr>
            <p:spPr bwMode="auto">
              <a:xfrm>
                <a:off x="703" y="3838"/>
                <a:ext cx="45" cy="91"/>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96" name="Line 26"/>
              <p:cNvSpPr>
                <a:spLocks noChangeShapeType="1"/>
              </p:cNvSpPr>
              <p:nvPr/>
            </p:nvSpPr>
            <p:spPr bwMode="auto">
              <a:xfrm>
                <a:off x="703" y="3838"/>
                <a:ext cx="136"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2589" name="Line 27"/>
            <p:cNvSpPr>
              <a:spLocks noChangeShapeType="1"/>
            </p:cNvSpPr>
            <p:nvPr/>
          </p:nvSpPr>
          <p:spPr bwMode="auto">
            <a:xfrm>
              <a:off x="1609" y="1798"/>
              <a:ext cx="45" cy="91"/>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90" name="Line 28"/>
            <p:cNvSpPr>
              <a:spLocks noChangeShapeType="1"/>
            </p:cNvSpPr>
            <p:nvPr/>
          </p:nvSpPr>
          <p:spPr bwMode="auto">
            <a:xfrm>
              <a:off x="1609" y="1798"/>
              <a:ext cx="136" cy="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91" name="Line 29"/>
            <p:cNvSpPr>
              <a:spLocks noChangeShapeType="1"/>
            </p:cNvSpPr>
            <p:nvPr/>
          </p:nvSpPr>
          <p:spPr bwMode="auto">
            <a:xfrm>
              <a:off x="1337" y="1843"/>
              <a:ext cx="0" cy="136"/>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92" name="Line 30"/>
            <p:cNvSpPr>
              <a:spLocks noChangeShapeType="1"/>
            </p:cNvSpPr>
            <p:nvPr/>
          </p:nvSpPr>
          <p:spPr bwMode="auto">
            <a:xfrm flipV="1">
              <a:off x="1201" y="1843"/>
              <a:ext cx="136" cy="91"/>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93" name="Line 31"/>
            <p:cNvSpPr>
              <a:spLocks noChangeShapeType="1"/>
            </p:cNvSpPr>
            <p:nvPr/>
          </p:nvSpPr>
          <p:spPr bwMode="auto">
            <a:xfrm flipH="1">
              <a:off x="1836" y="2297"/>
              <a:ext cx="45" cy="136"/>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94" name="Line 32"/>
            <p:cNvSpPr>
              <a:spLocks noChangeShapeType="1"/>
            </p:cNvSpPr>
            <p:nvPr/>
          </p:nvSpPr>
          <p:spPr bwMode="auto">
            <a:xfrm flipV="1">
              <a:off x="1700" y="2297"/>
              <a:ext cx="181" cy="45"/>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22532" name="Group 43"/>
          <p:cNvGrpSpPr>
            <a:grpSpLocks/>
          </p:cNvGrpSpPr>
          <p:nvPr/>
        </p:nvGrpSpPr>
        <p:grpSpPr bwMode="auto">
          <a:xfrm>
            <a:off x="4284663" y="1412875"/>
            <a:ext cx="2735262" cy="1728788"/>
            <a:chOff x="2177" y="1480"/>
            <a:chExt cx="1723" cy="1089"/>
          </a:xfrm>
        </p:grpSpPr>
        <p:sp>
          <p:nvSpPr>
            <p:cNvPr id="22564" name="Line 5"/>
            <p:cNvSpPr>
              <a:spLocks noChangeShapeType="1"/>
            </p:cNvSpPr>
            <p:nvPr/>
          </p:nvSpPr>
          <p:spPr bwMode="auto">
            <a:xfrm flipH="1" flipV="1">
              <a:off x="2676" y="1707"/>
              <a:ext cx="998" cy="77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5" name="Line 6"/>
            <p:cNvSpPr>
              <a:spLocks noChangeShapeType="1"/>
            </p:cNvSpPr>
            <p:nvPr/>
          </p:nvSpPr>
          <p:spPr bwMode="auto">
            <a:xfrm flipH="1" flipV="1">
              <a:off x="2676" y="1707"/>
              <a:ext cx="86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6" name="Line 7"/>
            <p:cNvSpPr>
              <a:spLocks noChangeShapeType="1"/>
            </p:cNvSpPr>
            <p:nvPr/>
          </p:nvSpPr>
          <p:spPr bwMode="auto">
            <a:xfrm flipV="1">
              <a:off x="2358" y="1707"/>
              <a:ext cx="1179" cy="81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7" name="Line 8"/>
            <p:cNvSpPr>
              <a:spLocks noChangeShapeType="1"/>
            </p:cNvSpPr>
            <p:nvPr/>
          </p:nvSpPr>
          <p:spPr bwMode="auto">
            <a:xfrm flipH="1">
              <a:off x="2358" y="2478"/>
              <a:ext cx="1316" cy="4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8" name="Text Box 9"/>
            <p:cNvSpPr txBox="1">
              <a:spLocks noChangeArrowheads="1"/>
            </p:cNvSpPr>
            <p:nvPr/>
          </p:nvSpPr>
          <p:spPr bwMode="auto">
            <a:xfrm>
              <a:off x="2494" y="1480"/>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u</a:t>
              </a:r>
              <a:r>
                <a:rPr kumimoji="1" lang="en-US" altLang="zh-CN" b="1" baseline="-25000">
                  <a:solidFill>
                    <a:schemeClr val="bg2"/>
                  </a:solidFill>
                  <a:latin typeface="Times New Roman" pitchFamily="18" charset="0"/>
                </a:rPr>
                <a:t>1</a:t>
              </a:r>
            </a:p>
          </p:txBody>
        </p:sp>
        <p:sp>
          <p:nvSpPr>
            <p:cNvPr id="22569" name="Text Box 10"/>
            <p:cNvSpPr txBox="1">
              <a:spLocks noChangeArrowheads="1"/>
            </p:cNvSpPr>
            <p:nvPr/>
          </p:nvSpPr>
          <p:spPr bwMode="auto">
            <a:xfrm>
              <a:off x="3447" y="1480"/>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u</a:t>
              </a:r>
              <a:r>
                <a:rPr kumimoji="1" lang="en-US" altLang="zh-CN" b="1" baseline="-25000">
                  <a:solidFill>
                    <a:schemeClr val="bg2"/>
                  </a:solidFill>
                  <a:latin typeface="Times New Roman" pitchFamily="18" charset="0"/>
                </a:rPr>
                <a:t>2</a:t>
              </a:r>
            </a:p>
          </p:txBody>
        </p:sp>
        <p:sp>
          <p:nvSpPr>
            <p:cNvPr id="22570" name="Text Box 11"/>
            <p:cNvSpPr txBox="1">
              <a:spLocks noChangeArrowheads="1"/>
            </p:cNvSpPr>
            <p:nvPr/>
          </p:nvSpPr>
          <p:spPr bwMode="auto">
            <a:xfrm>
              <a:off x="2177" y="2252"/>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u</a:t>
              </a:r>
              <a:r>
                <a:rPr kumimoji="1" lang="en-US" altLang="zh-CN" b="1" baseline="-25000">
                  <a:solidFill>
                    <a:schemeClr val="bg2"/>
                  </a:solidFill>
                  <a:latin typeface="Times New Roman" pitchFamily="18" charset="0"/>
                </a:rPr>
                <a:t>3</a:t>
              </a:r>
            </a:p>
          </p:txBody>
        </p:sp>
        <p:sp>
          <p:nvSpPr>
            <p:cNvPr id="22571" name="Text Box 12"/>
            <p:cNvSpPr txBox="1">
              <a:spLocks noChangeArrowheads="1"/>
            </p:cNvSpPr>
            <p:nvPr/>
          </p:nvSpPr>
          <p:spPr bwMode="auto">
            <a:xfrm>
              <a:off x="3537" y="2206"/>
              <a:ext cx="36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u</a:t>
              </a:r>
              <a:r>
                <a:rPr kumimoji="1" lang="en-US" altLang="zh-CN" b="1" baseline="-25000">
                  <a:solidFill>
                    <a:schemeClr val="bg2"/>
                  </a:solidFill>
                  <a:latin typeface="Times New Roman" pitchFamily="18" charset="0"/>
                </a:rPr>
                <a:t>4</a:t>
              </a:r>
            </a:p>
          </p:txBody>
        </p:sp>
        <p:sp>
          <p:nvSpPr>
            <p:cNvPr id="22572" name="Line 33"/>
            <p:cNvSpPr>
              <a:spLocks noChangeShapeType="1"/>
            </p:cNvSpPr>
            <p:nvPr/>
          </p:nvSpPr>
          <p:spPr bwMode="auto">
            <a:xfrm flipH="1">
              <a:off x="3039" y="1707"/>
              <a:ext cx="90" cy="91"/>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73" name="Line 34"/>
            <p:cNvSpPr>
              <a:spLocks noChangeShapeType="1"/>
            </p:cNvSpPr>
            <p:nvPr/>
          </p:nvSpPr>
          <p:spPr bwMode="auto">
            <a:xfrm>
              <a:off x="3039" y="1617"/>
              <a:ext cx="90" cy="9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74" name="Line 35"/>
            <p:cNvSpPr>
              <a:spLocks noChangeShapeType="1"/>
            </p:cNvSpPr>
            <p:nvPr/>
          </p:nvSpPr>
          <p:spPr bwMode="auto">
            <a:xfrm>
              <a:off x="3129" y="2478"/>
              <a:ext cx="136" cy="91"/>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75" name="Line 36"/>
            <p:cNvSpPr>
              <a:spLocks noChangeShapeType="1"/>
            </p:cNvSpPr>
            <p:nvPr/>
          </p:nvSpPr>
          <p:spPr bwMode="auto">
            <a:xfrm flipH="1">
              <a:off x="3129" y="2388"/>
              <a:ext cx="136" cy="90"/>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76" name="Line 37"/>
            <p:cNvSpPr>
              <a:spLocks noChangeShapeType="1"/>
            </p:cNvSpPr>
            <p:nvPr/>
          </p:nvSpPr>
          <p:spPr bwMode="auto">
            <a:xfrm flipV="1">
              <a:off x="2902" y="2116"/>
              <a:ext cx="137" cy="44"/>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77" name="Line 38"/>
            <p:cNvSpPr>
              <a:spLocks noChangeShapeType="1"/>
            </p:cNvSpPr>
            <p:nvPr/>
          </p:nvSpPr>
          <p:spPr bwMode="auto">
            <a:xfrm flipH="1">
              <a:off x="2902" y="2025"/>
              <a:ext cx="46" cy="135"/>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78" name="Line 39"/>
            <p:cNvSpPr>
              <a:spLocks noChangeShapeType="1"/>
            </p:cNvSpPr>
            <p:nvPr/>
          </p:nvSpPr>
          <p:spPr bwMode="auto">
            <a:xfrm flipH="1" flipV="1">
              <a:off x="3175" y="2161"/>
              <a:ext cx="136" cy="45"/>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79" name="Line 40"/>
            <p:cNvSpPr>
              <a:spLocks noChangeShapeType="1"/>
            </p:cNvSpPr>
            <p:nvPr/>
          </p:nvSpPr>
          <p:spPr bwMode="auto">
            <a:xfrm>
              <a:off x="3265" y="2070"/>
              <a:ext cx="46" cy="136"/>
            </a:xfrm>
            <a:prstGeom prst="line">
              <a:avLst/>
            </a:prstGeom>
            <a:noFill/>
            <a:ln w="254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2533" name="Text Box 41"/>
          <p:cNvSpPr txBox="1">
            <a:spLocks noChangeArrowheads="1"/>
          </p:cNvSpPr>
          <p:nvPr/>
        </p:nvSpPr>
        <p:spPr bwMode="auto">
          <a:xfrm>
            <a:off x="466725" y="1485900"/>
            <a:ext cx="8270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zh-CN" altLang="en-US" b="1">
                <a:solidFill>
                  <a:schemeClr val="hlink"/>
                </a:solidFill>
                <a:latin typeface="Times New Roman" pitchFamily="18" charset="0"/>
              </a:rPr>
              <a:t>例：</a:t>
            </a:r>
          </a:p>
        </p:txBody>
      </p:sp>
      <p:sp>
        <p:nvSpPr>
          <p:cNvPr id="105518" name="Rectangle 46"/>
          <p:cNvSpPr>
            <a:spLocks noChangeArrowheads="1"/>
          </p:cNvSpPr>
          <p:nvPr/>
        </p:nvSpPr>
        <p:spPr bwMode="auto">
          <a:xfrm>
            <a:off x="466725" y="3429000"/>
            <a:ext cx="8277225" cy="2209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ct val="20000"/>
              </a:spcBef>
              <a:buClr>
                <a:schemeClr val="hlink"/>
              </a:buClr>
              <a:buFont typeface="Wingdings" pitchFamily="2" charset="2"/>
              <a:buChar char="Ø"/>
            </a:pPr>
            <a:r>
              <a:rPr kumimoji="1" lang="zh-CN" altLang="en-US" b="1">
                <a:latin typeface="Times New Roman" pitchFamily="18" charset="0"/>
              </a:rPr>
              <a:t>判断两图同构的必要条件：</a:t>
            </a:r>
          </a:p>
          <a:p>
            <a:pPr>
              <a:spcBef>
                <a:spcPct val="20000"/>
              </a:spcBef>
              <a:buClr>
                <a:schemeClr val="bg1"/>
              </a:buClr>
            </a:pPr>
            <a:r>
              <a:rPr lang="en-US" altLang="zh-CN" b="1">
                <a:latin typeface="Times New Roman" pitchFamily="18" charset="0"/>
              </a:rPr>
              <a:t>(1)</a:t>
            </a:r>
            <a:r>
              <a:rPr lang="zh-CN" altLang="en-US" b="1">
                <a:latin typeface="Times New Roman" pitchFamily="18" charset="0"/>
              </a:rPr>
              <a:t>结点数目相同</a:t>
            </a:r>
          </a:p>
          <a:p>
            <a:pPr>
              <a:spcBef>
                <a:spcPct val="20000"/>
              </a:spcBef>
              <a:buClr>
                <a:schemeClr val="bg1"/>
              </a:buClr>
            </a:pPr>
            <a:r>
              <a:rPr lang="en-US" altLang="zh-CN" b="1">
                <a:latin typeface="Times New Roman" pitchFamily="18" charset="0"/>
              </a:rPr>
              <a:t>(2)</a:t>
            </a:r>
            <a:r>
              <a:rPr lang="zh-CN" altLang="en-US" b="1">
                <a:latin typeface="Times New Roman" pitchFamily="18" charset="0"/>
              </a:rPr>
              <a:t>边数相等</a:t>
            </a:r>
          </a:p>
          <a:p>
            <a:pPr>
              <a:spcBef>
                <a:spcPct val="20000"/>
              </a:spcBef>
              <a:buClr>
                <a:schemeClr val="bg1"/>
              </a:buClr>
            </a:pPr>
            <a:r>
              <a:rPr lang="en-US" altLang="zh-CN" b="1">
                <a:latin typeface="Times New Roman" pitchFamily="18" charset="0"/>
              </a:rPr>
              <a:t>(3)</a:t>
            </a:r>
            <a:r>
              <a:rPr lang="zh-CN" altLang="en-US" b="1">
                <a:latin typeface="Times New Roman" pitchFamily="18" charset="0"/>
              </a:rPr>
              <a:t>度数相同的结点数目相等</a:t>
            </a:r>
          </a:p>
          <a:p>
            <a:pPr>
              <a:spcBef>
                <a:spcPct val="20000"/>
              </a:spcBef>
              <a:buClr>
                <a:schemeClr val="bg1"/>
              </a:buClr>
            </a:pPr>
            <a:r>
              <a:rPr lang="en-US" altLang="zh-CN" b="1">
                <a:latin typeface="Times New Roman" pitchFamily="18" charset="0"/>
              </a:rPr>
              <a:t>(4)</a:t>
            </a:r>
            <a:r>
              <a:rPr lang="zh-CN" altLang="en-US" b="1">
                <a:latin typeface="Times New Roman" pitchFamily="18" charset="0"/>
              </a:rPr>
              <a:t>对应结点的度数相同。</a:t>
            </a:r>
            <a:endParaRPr kumimoji="1" lang="zh-CN" altLang="en-US" b="1">
              <a:latin typeface="Times New Roman" pitchFamily="18" charset="0"/>
            </a:endParaRPr>
          </a:p>
        </p:txBody>
      </p:sp>
      <p:grpSp>
        <p:nvGrpSpPr>
          <p:cNvPr id="105519" name="Group 47"/>
          <p:cNvGrpSpPr>
            <a:grpSpLocks/>
          </p:cNvGrpSpPr>
          <p:nvPr/>
        </p:nvGrpSpPr>
        <p:grpSpPr bwMode="auto">
          <a:xfrm>
            <a:off x="4427538" y="4076700"/>
            <a:ext cx="2057400" cy="2133600"/>
            <a:chOff x="1056" y="2064"/>
            <a:chExt cx="1296" cy="1344"/>
          </a:xfrm>
        </p:grpSpPr>
        <p:grpSp>
          <p:nvGrpSpPr>
            <p:cNvPr id="22550" name="Group 48"/>
            <p:cNvGrpSpPr>
              <a:grpSpLocks/>
            </p:cNvGrpSpPr>
            <p:nvPr/>
          </p:nvGrpSpPr>
          <p:grpSpPr bwMode="auto">
            <a:xfrm>
              <a:off x="1056" y="2064"/>
              <a:ext cx="1296" cy="1344"/>
              <a:chOff x="1056" y="2064"/>
              <a:chExt cx="1296" cy="1344"/>
            </a:xfrm>
          </p:grpSpPr>
          <p:sp>
            <p:nvSpPr>
              <p:cNvPr id="22552" name="Line 49"/>
              <p:cNvSpPr>
                <a:spLocks noChangeShapeType="1"/>
              </p:cNvSpPr>
              <p:nvPr/>
            </p:nvSpPr>
            <p:spPr bwMode="auto">
              <a:xfrm>
                <a:off x="1104" y="3093"/>
                <a:ext cx="95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3" name="Line 50"/>
              <p:cNvSpPr>
                <a:spLocks noChangeShapeType="1"/>
              </p:cNvSpPr>
              <p:nvPr/>
            </p:nvSpPr>
            <p:spPr bwMode="auto">
              <a:xfrm flipV="1">
                <a:off x="1104" y="2602"/>
                <a:ext cx="0" cy="4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4" name="Line 51"/>
              <p:cNvSpPr>
                <a:spLocks noChangeShapeType="1"/>
              </p:cNvSpPr>
              <p:nvPr/>
            </p:nvSpPr>
            <p:spPr bwMode="auto">
              <a:xfrm flipV="1">
                <a:off x="2056" y="2602"/>
                <a:ext cx="0" cy="4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5" name="Line 52"/>
              <p:cNvSpPr>
                <a:spLocks noChangeShapeType="1"/>
              </p:cNvSpPr>
              <p:nvPr/>
            </p:nvSpPr>
            <p:spPr bwMode="auto">
              <a:xfrm>
                <a:off x="1104" y="2602"/>
                <a:ext cx="95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6" name="Line 53"/>
              <p:cNvSpPr>
                <a:spLocks noChangeShapeType="1"/>
              </p:cNvSpPr>
              <p:nvPr/>
            </p:nvSpPr>
            <p:spPr bwMode="auto">
              <a:xfrm flipV="1">
                <a:off x="1104" y="2112"/>
                <a:ext cx="457" cy="490"/>
              </a:xfrm>
              <a:prstGeom prst="line">
                <a:avLst/>
              </a:prstGeom>
              <a:noFill/>
              <a:ln w="25400">
                <a:solidFill>
                  <a:schemeClr val="tx1"/>
                </a:solidFill>
                <a:round/>
                <a:headEnd type="none" w="sm"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57" name="Oval 54"/>
              <p:cNvSpPr>
                <a:spLocks noChangeArrowheads="1"/>
              </p:cNvSpPr>
              <p:nvPr/>
            </p:nvSpPr>
            <p:spPr bwMode="auto">
              <a:xfrm>
                <a:off x="1056" y="3072"/>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8" name="Oval 55"/>
              <p:cNvSpPr>
                <a:spLocks noChangeArrowheads="1"/>
              </p:cNvSpPr>
              <p:nvPr/>
            </p:nvSpPr>
            <p:spPr bwMode="auto">
              <a:xfrm>
                <a:off x="2016" y="3072"/>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59" name="Oval 56"/>
              <p:cNvSpPr>
                <a:spLocks noChangeArrowheads="1"/>
              </p:cNvSpPr>
              <p:nvPr/>
            </p:nvSpPr>
            <p:spPr bwMode="auto">
              <a:xfrm>
                <a:off x="1056" y="2544"/>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0" name="Oval 57"/>
              <p:cNvSpPr>
                <a:spLocks noChangeArrowheads="1"/>
              </p:cNvSpPr>
              <p:nvPr/>
            </p:nvSpPr>
            <p:spPr bwMode="auto">
              <a:xfrm>
                <a:off x="1536" y="2064"/>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61" name="Freeform 58"/>
              <p:cNvSpPr>
                <a:spLocks/>
              </p:cNvSpPr>
              <p:nvPr/>
            </p:nvSpPr>
            <p:spPr bwMode="auto">
              <a:xfrm>
                <a:off x="1609" y="2160"/>
                <a:ext cx="432" cy="418"/>
              </a:xfrm>
              <a:custGeom>
                <a:avLst/>
                <a:gdLst>
                  <a:gd name="T0" fmla="*/ 0 w 432"/>
                  <a:gd name="T1" fmla="*/ 0 h 418"/>
                  <a:gd name="T2" fmla="*/ 17 w 432"/>
                  <a:gd name="T3" fmla="*/ 25 h 418"/>
                  <a:gd name="T4" fmla="*/ 26 w 432"/>
                  <a:gd name="T5" fmla="*/ 51 h 418"/>
                  <a:gd name="T6" fmla="*/ 60 w 432"/>
                  <a:gd name="T7" fmla="*/ 102 h 418"/>
                  <a:gd name="T8" fmla="*/ 127 w 432"/>
                  <a:gd name="T9" fmla="*/ 195 h 418"/>
                  <a:gd name="T10" fmla="*/ 187 w 432"/>
                  <a:gd name="T11" fmla="*/ 263 h 418"/>
                  <a:gd name="T12" fmla="*/ 271 w 432"/>
                  <a:gd name="T13" fmla="*/ 339 h 418"/>
                  <a:gd name="T14" fmla="*/ 339 w 432"/>
                  <a:gd name="T15" fmla="*/ 381 h 418"/>
                  <a:gd name="T16" fmla="*/ 365 w 432"/>
                  <a:gd name="T17" fmla="*/ 390 h 418"/>
                  <a:gd name="T18" fmla="*/ 390 w 432"/>
                  <a:gd name="T19" fmla="*/ 398 h 418"/>
                  <a:gd name="T20" fmla="*/ 432 w 432"/>
                  <a:gd name="T21" fmla="*/ 415 h 41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32" h="418">
                    <a:moveTo>
                      <a:pt x="0" y="0"/>
                    </a:moveTo>
                    <a:cubicBezTo>
                      <a:pt x="6" y="8"/>
                      <a:pt x="12" y="16"/>
                      <a:pt x="17" y="25"/>
                    </a:cubicBezTo>
                    <a:cubicBezTo>
                      <a:pt x="21" y="33"/>
                      <a:pt x="22" y="43"/>
                      <a:pt x="26" y="51"/>
                    </a:cubicBezTo>
                    <a:cubicBezTo>
                      <a:pt x="36" y="69"/>
                      <a:pt x="60" y="102"/>
                      <a:pt x="60" y="102"/>
                    </a:cubicBezTo>
                    <a:cubicBezTo>
                      <a:pt x="73" y="143"/>
                      <a:pt x="92" y="171"/>
                      <a:pt x="127" y="195"/>
                    </a:cubicBezTo>
                    <a:cubicBezTo>
                      <a:pt x="167" y="255"/>
                      <a:pt x="144" y="235"/>
                      <a:pt x="187" y="263"/>
                    </a:cubicBezTo>
                    <a:cubicBezTo>
                      <a:pt x="206" y="291"/>
                      <a:pt x="240" y="328"/>
                      <a:pt x="271" y="339"/>
                    </a:cubicBezTo>
                    <a:cubicBezTo>
                      <a:pt x="298" y="379"/>
                      <a:pt x="278" y="360"/>
                      <a:pt x="339" y="381"/>
                    </a:cubicBezTo>
                    <a:cubicBezTo>
                      <a:pt x="348" y="384"/>
                      <a:pt x="356" y="387"/>
                      <a:pt x="365" y="390"/>
                    </a:cubicBezTo>
                    <a:cubicBezTo>
                      <a:pt x="373" y="393"/>
                      <a:pt x="390" y="398"/>
                      <a:pt x="390" y="398"/>
                    </a:cubicBezTo>
                    <a:cubicBezTo>
                      <a:pt x="420" y="418"/>
                      <a:pt x="405" y="415"/>
                      <a:pt x="432" y="415"/>
                    </a:cubicBezTo>
                  </a:path>
                </a:pathLst>
              </a:cu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2" name="Freeform 59"/>
              <p:cNvSpPr>
                <a:spLocks/>
              </p:cNvSpPr>
              <p:nvPr/>
            </p:nvSpPr>
            <p:spPr bwMode="auto">
              <a:xfrm>
                <a:off x="1635" y="2152"/>
                <a:ext cx="415" cy="423"/>
              </a:xfrm>
              <a:custGeom>
                <a:avLst/>
                <a:gdLst>
                  <a:gd name="T0" fmla="*/ 0 w 415"/>
                  <a:gd name="T1" fmla="*/ 0 h 423"/>
                  <a:gd name="T2" fmla="*/ 85 w 415"/>
                  <a:gd name="T3" fmla="*/ 33 h 423"/>
                  <a:gd name="T4" fmla="*/ 135 w 415"/>
                  <a:gd name="T5" fmla="*/ 67 h 423"/>
                  <a:gd name="T6" fmla="*/ 161 w 415"/>
                  <a:gd name="T7" fmla="*/ 84 h 423"/>
                  <a:gd name="T8" fmla="*/ 186 w 415"/>
                  <a:gd name="T9" fmla="*/ 101 h 423"/>
                  <a:gd name="T10" fmla="*/ 203 w 415"/>
                  <a:gd name="T11" fmla="*/ 127 h 423"/>
                  <a:gd name="T12" fmla="*/ 254 w 415"/>
                  <a:gd name="T13" fmla="*/ 160 h 423"/>
                  <a:gd name="T14" fmla="*/ 288 w 415"/>
                  <a:gd name="T15" fmla="*/ 194 h 423"/>
                  <a:gd name="T16" fmla="*/ 305 w 415"/>
                  <a:gd name="T17" fmla="*/ 220 h 423"/>
                  <a:gd name="T18" fmla="*/ 330 w 415"/>
                  <a:gd name="T19" fmla="*/ 237 h 423"/>
                  <a:gd name="T20" fmla="*/ 381 w 415"/>
                  <a:gd name="T21" fmla="*/ 313 h 423"/>
                  <a:gd name="T22" fmla="*/ 415 w 415"/>
                  <a:gd name="T23" fmla="*/ 423 h 42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415" h="423">
                    <a:moveTo>
                      <a:pt x="0" y="0"/>
                    </a:moveTo>
                    <a:cubicBezTo>
                      <a:pt x="29" y="9"/>
                      <a:pt x="55" y="24"/>
                      <a:pt x="85" y="33"/>
                    </a:cubicBezTo>
                    <a:cubicBezTo>
                      <a:pt x="102" y="44"/>
                      <a:pt x="118" y="56"/>
                      <a:pt x="135" y="67"/>
                    </a:cubicBezTo>
                    <a:cubicBezTo>
                      <a:pt x="144" y="73"/>
                      <a:pt x="152" y="78"/>
                      <a:pt x="161" y="84"/>
                    </a:cubicBezTo>
                    <a:cubicBezTo>
                      <a:pt x="169" y="90"/>
                      <a:pt x="186" y="101"/>
                      <a:pt x="186" y="101"/>
                    </a:cubicBezTo>
                    <a:cubicBezTo>
                      <a:pt x="192" y="110"/>
                      <a:pt x="195" y="120"/>
                      <a:pt x="203" y="127"/>
                    </a:cubicBezTo>
                    <a:cubicBezTo>
                      <a:pt x="218" y="140"/>
                      <a:pt x="254" y="160"/>
                      <a:pt x="254" y="160"/>
                    </a:cubicBezTo>
                    <a:cubicBezTo>
                      <a:pt x="271" y="217"/>
                      <a:pt x="247" y="161"/>
                      <a:pt x="288" y="194"/>
                    </a:cubicBezTo>
                    <a:cubicBezTo>
                      <a:pt x="296" y="200"/>
                      <a:pt x="298" y="213"/>
                      <a:pt x="305" y="220"/>
                    </a:cubicBezTo>
                    <a:cubicBezTo>
                      <a:pt x="312" y="227"/>
                      <a:pt x="322" y="231"/>
                      <a:pt x="330" y="237"/>
                    </a:cubicBezTo>
                    <a:cubicBezTo>
                      <a:pt x="341" y="268"/>
                      <a:pt x="363" y="286"/>
                      <a:pt x="381" y="313"/>
                    </a:cubicBezTo>
                    <a:cubicBezTo>
                      <a:pt x="394" y="353"/>
                      <a:pt x="415" y="379"/>
                      <a:pt x="415" y="423"/>
                    </a:cubicBezTo>
                  </a:path>
                </a:pathLst>
              </a:cu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63" name="Oval 60"/>
              <p:cNvSpPr>
                <a:spLocks noChangeArrowheads="1"/>
              </p:cNvSpPr>
              <p:nvPr/>
            </p:nvSpPr>
            <p:spPr bwMode="auto">
              <a:xfrm>
                <a:off x="2016" y="3072"/>
                <a:ext cx="336" cy="336"/>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2551" name="Oval 61"/>
            <p:cNvSpPr>
              <a:spLocks noChangeArrowheads="1"/>
            </p:cNvSpPr>
            <p:nvPr/>
          </p:nvSpPr>
          <p:spPr bwMode="auto">
            <a:xfrm>
              <a:off x="2016" y="2544"/>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05534" name="Group 62"/>
          <p:cNvGrpSpPr>
            <a:grpSpLocks/>
          </p:cNvGrpSpPr>
          <p:nvPr/>
        </p:nvGrpSpPr>
        <p:grpSpPr bwMode="auto">
          <a:xfrm>
            <a:off x="6877050" y="4076700"/>
            <a:ext cx="2057400" cy="2057400"/>
            <a:chOff x="3360" y="2016"/>
            <a:chExt cx="1296" cy="1296"/>
          </a:xfrm>
        </p:grpSpPr>
        <p:sp>
          <p:nvSpPr>
            <p:cNvPr id="22537" name="Line 63"/>
            <p:cNvSpPr>
              <a:spLocks noChangeShapeType="1"/>
            </p:cNvSpPr>
            <p:nvPr/>
          </p:nvSpPr>
          <p:spPr bwMode="auto">
            <a:xfrm>
              <a:off x="3408" y="3045"/>
              <a:ext cx="95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8" name="Line 64"/>
            <p:cNvSpPr>
              <a:spLocks noChangeShapeType="1"/>
            </p:cNvSpPr>
            <p:nvPr/>
          </p:nvSpPr>
          <p:spPr bwMode="auto">
            <a:xfrm flipV="1">
              <a:off x="3408" y="2554"/>
              <a:ext cx="0" cy="4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39" name="Line 65"/>
            <p:cNvSpPr>
              <a:spLocks noChangeShapeType="1"/>
            </p:cNvSpPr>
            <p:nvPr/>
          </p:nvSpPr>
          <p:spPr bwMode="auto">
            <a:xfrm flipV="1">
              <a:off x="4360" y="2554"/>
              <a:ext cx="0" cy="491"/>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0" name="Line 66"/>
            <p:cNvSpPr>
              <a:spLocks noChangeShapeType="1"/>
            </p:cNvSpPr>
            <p:nvPr/>
          </p:nvSpPr>
          <p:spPr bwMode="auto">
            <a:xfrm>
              <a:off x="3408" y="2554"/>
              <a:ext cx="952"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1" name="Line 67"/>
            <p:cNvSpPr>
              <a:spLocks noChangeShapeType="1"/>
            </p:cNvSpPr>
            <p:nvPr/>
          </p:nvSpPr>
          <p:spPr bwMode="auto">
            <a:xfrm flipH="1" flipV="1">
              <a:off x="3865" y="2064"/>
              <a:ext cx="503" cy="48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2" name="Oval 68"/>
            <p:cNvSpPr>
              <a:spLocks noChangeArrowheads="1"/>
            </p:cNvSpPr>
            <p:nvPr/>
          </p:nvSpPr>
          <p:spPr bwMode="auto">
            <a:xfrm>
              <a:off x="3792" y="2016"/>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3" name="Oval 69"/>
            <p:cNvSpPr>
              <a:spLocks noChangeArrowheads="1"/>
            </p:cNvSpPr>
            <p:nvPr/>
          </p:nvSpPr>
          <p:spPr bwMode="auto">
            <a:xfrm>
              <a:off x="3360" y="2496"/>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4" name="Oval 70"/>
            <p:cNvSpPr>
              <a:spLocks noChangeArrowheads="1"/>
            </p:cNvSpPr>
            <p:nvPr/>
          </p:nvSpPr>
          <p:spPr bwMode="auto">
            <a:xfrm>
              <a:off x="4320" y="2496"/>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5" name="Oval 71"/>
            <p:cNvSpPr>
              <a:spLocks noChangeArrowheads="1"/>
            </p:cNvSpPr>
            <p:nvPr/>
          </p:nvSpPr>
          <p:spPr bwMode="auto">
            <a:xfrm>
              <a:off x="3360" y="2976"/>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6" name="Oval 72"/>
            <p:cNvSpPr>
              <a:spLocks noChangeArrowheads="1"/>
            </p:cNvSpPr>
            <p:nvPr/>
          </p:nvSpPr>
          <p:spPr bwMode="auto">
            <a:xfrm>
              <a:off x="4320" y="2976"/>
              <a:ext cx="336" cy="336"/>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2547" name="Freeform 73"/>
            <p:cNvSpPr>
              <a:spLocks/>
            </p:cNvSpPr>
            <p:nvPr/>
          </p:nvSpPr>
          <p:spPr bwMode="auto">
            <a:xfrm>
              <a:off x="3439" y="2101"/>
              <a:ext cx="373" cy="449"/>
            </a:xfrm>
            <a:custGeom>
              <a:avLst/>
              <a:gdLst>
                <a:gd name="T0" fmla="*/ 373 w 373"/>
                <a:gd name="T1" fmla="*/ 0 h 449"/>
                <a:gd name="T2" fmla="*/ 254 w 373"/>
                <a:gd name="T3" fmla="*/ 288 h 449"/>
                <a:gd name="T4" fmla="*/ 212 w 373"/>
                <a:gd name="T5" fmla="*/ 322 h 449"/>
                <a:gd name="T6" fmla="*/ 169 w 373"/>
                <a:gd name="T7" fmla="*/ 355 h 449"/>
                <a:gd name="T8" fmla="*/ 0 w 373"/>
                <a:gd name="T9" fmla="*/ 449 h 4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3" h="449">
                  <a:moveTo>
                    <a:pt x="373" y="0"/>
                  </a:moveTo>
                  <a:cubicBezTo>
                    <a:pt x="347" y="120"/>
                    <a:pt x="333" y="195"/>
                    <a:pt x="254" y="288"/>
                  </a:cubicBezTo>
                  <a:cubicBezTo>
                    <a:pt x="224" y="323"/>
                    <a:pt x="253" y="307"/>
                    <a:pt x="212" y="322"/>
                  </a:cubicBezTo>
                  <a:cubicBezTo>
                    <a:pt x="179" y="370"/>
                    <a:pt x="214" y="330"/>
                    <a:pt x="169" y="355"/>
                  </a:cubicBezTo>
                  <a:cubicBezTo>
                    <a:pt x="117" y="384"/>
                    <a:pt x="64" y="449"/>
                    <a:pt x="0" y="449"/>
                  </a:cubicBezTo>
                </a:path>
              </a:pathLst>
            </a:cu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8" name="Freeform 74"/>
            <p:cNvSpPr>
              <a:spLocks/>
            </p:cNvSpPr>
            <p:nvPr/>
          </p:nvSpPr>
          <p:spPr bwMode="auto">
            <a:xfrm>
              <a:off x="3404" y="2084"/>
              <a:ext cx="408" cy="440"/>
            </a:xfrm>
            <a:custGeom>
              <a:avLst/>
              <a:gdLst>
                <a:gd name="T0" fmla="*/ 408 w 408"/>
                <a:gd name="T1" fmla="*/ 0 h 440"/>
                <a:gd name="T2" fmla="*/ 374 w 408"/>
                <a:gd name="T3" fmla="*/ 17 h 440"/>
                <a:gd name="T4" fmla="*/ 332 w 408"/>
                <a:gd name="T5" fmla="*/ 25 h 440"/>
                <a:gd name="T6" fmla="*/ 154 w 408"/>
                <a:gd name="T7" fmla="*/ 161 h 440"/>
                <a:gd name="T8" fmla="*/ 111 w 408"/>
                <a:gd name="T9" fmla="*/ 212 h 440"/>
                <a:gd name="T10" fmla="*/ 77 w 408"/>
                <a:gd name="T11" fmla="*/ 262 h 440"/>
                <a:gd name="T12" fmla="*/ 10 w 408"/>
                <a:gd name="T13" fmla="*/ 389 h 440"/>
                <a:gd name="T14" fmla="*/ 10 w 408"/>
                <a:gd name="T15" fmla="*/ 440 h 440"/>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08" h="440">
                  <a:moveTo>
                    <a:pt x="408" y="0"/>
                  </a:moveTo>
                  <a:cubicBezTo>
                    <a:pt x="397" y="6"/>
                    <a:pt x="386" y="13"/>
                    <a:pt x="374" y="17"/>
                  </a:cubicBezTo>
                  <a:cubicBezTo>
                    <a:pt x="360" y="21"/>
                    <a:pt x="345" y="19"/>
                    <a:pt x="332" y="25"/>
                  </a:cubicBezTo>
                  <a:cubicBezTo>
                    <a:pt x="263" y="56"/>
                    <a:pt x="215" y="120"/>
                    <a:pt x="154" y="161"/>
                  </a:cubicBezTo>
                  <a:cubicBezTo>
                    <a:pt x="94" y="249"/>
                    <a:pt x="187" y="115"/>
                    <a:pt x="111" y="212"/>
                  </a:cubicBezTo>
                  <a:cubicBezTo>
                    <a:pt x="99" y="228"/>
                    <a:pt x="77" y="262"/>
                    <a:pt x="77" y="262"/>
                  </a:cubicBezTo>
                  <a:cubicBezTo>
                    <a:pt x="63" y="307"/>
                    <a:pt x="37" y="350"/>
                    <a:pt x="10" y="389"/>
                  </a:cubicBezTo>
                  <a:cubicBezTo>
                    <a:pt x="0" y="403"/>
                    <a:pt x="10" y="423"/>
                    <a:pt x="10" y="440"/>
                  </a:cubicBezTo>
                </a:path>
              </a:pathLst>
            </a:cu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549" name="Oval 75"/>
            <p:cNvSpPr>
              <a:spLocks noChangeArrowheads="1"/>
            </p:cNvSpPr>
            <p:nvPr/>
          </p:nvSpPr>
          <p:spPr bwMode="auto">
            <a:xfrm>
              <a:off x="4320" y="2976"/>
              <a:ext cx="96" cy="96"/>
            </a:xfrm>
            <a:prstGeom prst="ellipse">
              <a:avLst/>
            </a:prstGeom>
            <a:solidFill>
              <a:schemeClr val="accent1"/>
            </a:solidFill>
            <a:ln w="254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5518"/>
                                        </p:tgtEl>
                                        <p:attrNameLst>
                                          <p:attrName>style.visibility</p:attrName>
                                        </p:attrNameLst>
                                      </p:cBhvr>
                                      <p:to>
                                        <p:strVal val="visible"/>
                                      </p:to>
                                    </p:set>
                                    <p:anim calcmode="lin" valueType="num">
                                      <p:cBhvr additive="base">
                                        <p:cTn id="7" dur="500" fill="hold"/>
                                        <p:tgtEl>
                                          <p:spTgt spid="105518"/>
                                        </p:tgtEl>
                                        <p:attrNameLst>
                                          <p:attrName>ppt_x</p:attrName>
                                        </p:attrNameLst>
                                      </p:cBhvr>
                                      <p:tavLst>
                                        <p:tav tm="0">
                                          <p:val>
                                            <p:strVal val="#ppt_x"/>
                                          </p:val>
                                        </p:tav>
                                        <p:tav tm="100000">
                                          <p:val>
                                            <p:strVal val="#ppt_x"/>
                                          </p:val>
                                        </p:tav>
                                      </p:tavLst>
                                    </p:anim>
                                    <p:anim calcmode="lin" valueType="num">
                                      <p:cBhvr additive="base">
                                        <p:cTn id="8" dur="500" fill="hold"/>
                                        <p:tgtEl>
                                          <p:spTgt spid="10551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0551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553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a:defRPr/>
            </a:pPr>
            <a:fld id="{EDDA3C4E-5FBA-4B8E-97BF-DAC2F3CC5DAE}" type="slidenum">
              <a:rPr lang="en-US" altLang="zh-CN"/>
              <a:pPr>
                <a:defRPr/>
              </a:pPr>
              <a:t>19</a:t>
            </a:fld>
            <a:endParaRPr lang="en-US" altLang="zh-CN"/>
          </a:p>
        </p:txBody>
      </p:sp>
      <p:sp>
        <p:nvSpPr>
          <p:cNvPr id="17411" name="Text Box 3"/>
          <p:cNvSpPr txBox="1">
            <a:spLocks noChangeArrowheads="1"/>
          </p:cNvSpPr>
          <p:nvPr/>
        </p:nvSpPr>
        <p:spPr bwMode="auto">
          <a:xfrm>
            <a:off x="466725" y="1217613"/>
            <a:ext cx="8277225"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20000"/>
              </a:lnSpc>
            </a:pPr>
            <a:r>
              <a:rPr kumimoji="1" lang="en-US" altLang="zh-CN" sz="3200" b="1">
                <a:solidFill>
                  <a:srgbClr val="993300"/>
                </a:solidFill>
                <a:latin typeface="楷体_GB2312" pitchFamily="49" charset="-122"/>
                <a:ea typeface="楷体_GB2312" pitchFamily="49" charset="-122"/>
              </a:rPr>
              <a:t>1</a:t>
            </a:r>
            <a:r>
              <a:rPr kumimoji="1" lang="zh-CN" altLang="en-US" sz="3200" b="1">
                <a:solidFill>
                  <a:srgbClr val="993300"/>
                </a:solidFill>
                <a:latin typeface="楷体_GB2312" pitchFamily="49" charset="-122"/>
                <a:ea typeface="楷体_GB2312" pitchFamily="49" charset="-122"/>
              </a:rPr>
              <a:t>、路的概念及其性质</a:t>
            </a:r>
          </a:p>
          <a:p>
            <a:pPr algn="just" eaLnBrk="1" hangingPunct="1">
              <a:lnSpc>
                <a:spcPct val="120000"/>
              </a:lnSpc>
            </a:pPr>
            <a:r>
              <a:rPr kumimoji="1" lang="zh-CN" altLang="en-US" b="1">
                <a:solidFill>
                  <a:srgbClr val="0000CC"/>
                </a:solidFill>
                <a:latin typeface="Times New Roman" pitchFamily="18" charset="0"/>
              </a:rPr>
              <a:t>定义</a:t>
            </a:r>
            <a:r>
              <a:rPr kumimoji="1" lang="en-US" altLang="zh-CN" b="1">
                <a:solidFill>
                  <a:srgbClr val="0000CC"/>
                </a:solidFill>
                <a:latin typeface="Times New Roman" pitchFamily="18" charset="0"/>
              </a:rPr>
              <a:t>7-2.1</a:t>
            </a:r>
            <a:r>
              <a:rPr kumimoji="1" lang="zh-CN" altLang="en-US" b="1">
                <a:solidFill>
                  <a:srgbClr val="0000CC"/>
                </a:solidFill>
                <a:latin typeface="Times New Roman" pitchFamily="18" charset="0"/>
              </a:rPr>
              <a:t>：</a:t>
            </a:r>
            <a:r>
              <a:rPr kumimoji="1" lang="zh-CN" altLang="en-US" b="1">
                <a:latin typeface="Times New Roman" pitchFamily="18" charset="0"/>
              </a:rPr>
              <a:t>给定图</a:t>
            </a:r>
            <a:r>
              <a:rPr kumimoji="1" lang="en-US" altLang="zh-CN" b="1">
                <a:latin typeface="Times New Roman" pitchFamily="18" charset="0"/>
              </a:rPr>
              <a:t>G=&lt;V, E&gt;</a:t>
            </a:r>
            <a:r>
              <a:rPr kumimoji="1" lang="zh-CN" altLang="en-US" b="1">
                <a:latin typeface="Times New Roman" pitchFamily="18" charset="0"/>
              </a:rPr>
              <a:t>，</a:t>
            </a:r>
            <a:r>
              <a:rPr kumimoji="1" lang="en-US" altLang="zh-CN" b="1">
                <a:latin typeface="Times New Roman" pitchFamily="18" charset="0"/>
              </a:rPr>
              <a:t>v</a:t>
            </a:r>
            <a:r>
              <a:rPr kumimoji="1" lang="en-US" altLang="zh-CN" b="1" baseline="-25000">
                <a:latin typeface="Times New Roman" pitchFamily="18" charset="0"/>
              </a:rPr>
              <a:t>0</a:t>
            </a:r>
            <a:r>
              <a:rPr kumimoji="1" lang="en-US" altLang="zh-CN" b="1">
                <a:latin typeface="Times New Roman" pitchFamily="18" charset="0"/>
              </a:rPr>
              <a:t>, v</a:t>
            </a:r>
            <a:r>
              <a:rPr kumimoji="1" lang="en-US" altLang="zh-CN" b="1" baseline="-25000">
                <a:latin typeface="Times New Roman" pitchFamily="18" charset="0"/>
              </a:rPr>
              <a:t>1</a:t>
            </a:r>
            <a:r>
              <a:rPr kumimoji="1" lang="en-US" altLang="zh-CN" b="1">
                <a:latin typeface="Times New Roman" pitchFamily="18" charset="0"/>
              </a:rPr>
              <a:t>, …, v</a:t>
            </a:r>
            <a:r>
              <a:rPr kumimoji="1" lang="en-US" altLang="zh-CN" b="1" baseline="-25000">
                <a:latin typeface="Times New Roman" pitchFamily="18" charset="0"/>
              </a:rPr>
              <a:t>n</a:t>
            </a:r>
            <a:r>
              <a:rPr kumimoji="1" lang="en-US" altLang="zh-CN" b="1">
                <a:latin typeface="Times New Roman" pitchFamily="18" charset="0"/>
              </a:rPr>
              <a:t>∈V</a:t>
            </a:r>
            <a:r>
              <a:rPr kumimoji="1" lang="zh-CN" altLang="en-US" b="1">
                <a:latin typeface="Times New Roman" pitchFamily="18" charset="0"/>
              </a:rPr>
              <a:t>，</a:t>
            </a:r>
            <a:r>
              <a:rPr kumimoji="1" lang="en-US" altLang="zh-CN" b="1">
                <a:latin typeface="Times New Roman" pitchFamily="18" charset="0"/>
              </a:rPr>
              <a:t>e</a:t>
            </a:r>
            <a:r>
              <a:rPr kumimoji="1" lang="en-US" altLang="zh-CN" b="1" baseline="-25000">
                <a:latin typeface="Times New Roman" pitchFamily="18" charset="0"/>
              </a:rPr>
              <a:t>1</a:t>
            </a:r>
            <a:r>
              <a:rPr kumimoji="1" lang="en-US" altLang="zh-CN" b="1">
                <a:latin typeface="Times New Roman" pitchFamily="18" charset="0"/>
              </a:rPr>
              <a:t>, e</a:t>
            </a:r>
            <a:r>
              <a:rPr kumimoji="1" lang="en-US" altLang="zh-CN" b="1" baseline="-25000">
                <a:latin typeface="Times New Roman" pitchFamily="18" charset="0"/>
              </a:rPr>
              <a:t>2</a:t>
            </a:r>
            <a:r>
              <a:rPr kumimoji="1" lang="en-US" altLang="zh-CN" b="1">
                <a:latin typeface="Times New Roman" pitchFamily="18" charset="0"/>
              </a:rPr>
              <a:t>, …, e</a:t>
            </a:r>
            <a:r>
              <a:rPr kumimoji="1" lang="en-US" altLang="zh-CN" b="1" baseline="-25000">
                <a:latin typeface="Times New Roman" pitchFamily="18" charset="0"/>
              </a:rPr>
              <a:t>n</a:t>
            </a:r>
            <a:r>
              <a:rPr kumimoji="1" lang="en-US" altLang="zh-CN" b="1">
                <a:latin typeface="Times New Roman" pitchFamily="18" charset="0"/>
              </a:rPr>
              <a:t>∈E</a:t>
            </a:r>
            <a:r>
              <a:rPr kumimoji="1" lang="zh-CN" altLang="en-US" b="1">
                <a:latin typeface="Times New Roman" pitchFamily="18" charset="0"/>
              </a:rPr>
              <a:t>，其中</a:t>
            </a:r>
            <a:r>
              <a:rPr kumimoji="1" lang="en-US" altLang="zh-CN" b="1">
                <a:latin typeface="Times New Roman" pitchFamily="18" charset="0"/>
              </a:rPr>
              <a:t>e</a:t>
            </a:r>
            <a:r>
              <a:rPr kumimoji="1" lang="en-US" altLang="zh-CN" b="1" baseline="-25000">
                <a:latin typeface="Times New Roman" pitchFamily="18" charset="0"/>
              </a:rPr>
              <a:t>i</a:t>
            </a:r>
            <a:r>
              <a:rPr kumimoji="1" lang="zh-CN" altLang="en-US" b="1">
                <a:latin typeface="Times New Roman" pitchFamily="18" charset="0"/>
              </a:rPr>
              <a:t>是关联于结点</a:t>
            </a:r>
            <a:r>
              <a:rPr kumimoji="1" lang="en-US" altLang="zh-CN" b="1">
                <a:latin typeface="Times New Roman" pitchFamily="18" charset="0"/>
              </a:rPr>
              <a:t>v</a:t>
            </a:r>
            <a:r>
              <a:rPr kumimoji="1" lang="en-US" altLang="zh-CN" b="1" baseline="-25000">
                <a:latin typeface="Times New Roman" pitchFamily="18" charset="0"/>
              </a:rPr>
              <a:t>i-1</a:t>
            </a:r>
            <a:r>
              <a:rPr kumimoji="1" lang="zh-CN" altLang="en-US" b="1">
                <a:latin typeface="Times New Roman" pitchFamily="18" charset="0"/>
              </a:rPr>
              <a:t>，</a:t>
            </a:r>
            <a:r>
              <a:rPr kumimoji="1" lang="en-US" altLang="zh-CN" b="1">
                <a:latin typeface="Times New Roman" pitchFamily="18" charset="0"/>
              </a:rPr>
              <a:t>v</a:t>
            </a:r>
            <a:r>
              <a:rPr kumimoji="1" lang="en-US" altLang="zh-CN" b="1" baseline="-25000">
                <a:latin typeface="Times New Roman" pitchFamily="18" charset="0"/>
              </a:rPr>
              <a:t>i</a:t>
            </a:r>
            <a:r>
              <a:rPr kumimoji="1" lang="zh-CN" altLang="en-US" b="1">
                <a:latin typeface="Times New Roman" pitchFamily="18" charset="0"/>
              </a:rPr>
              <a:t>的边，交替序列</a:t>
            </a:r>
            <a:r>
              <a:rPr kumimoji="1" lang="en-US" altLang="zh-CN" b="1">
                <a:latin typeface="Times New Roman" pitchFamily="18" charset="0"/>
              </a:rPr>
              <a:t>v</a:t>
            </a:r>
            <a:r>
              <a:rPr kumimoji="1" lang="en-US" altLang="zh-CN" b="1" baseline="-25000">
                <a:latin typeface="Times New Roman" pitchFamily="18" charset="0"/>
              </a:rPr>
              <a:t>0</a:t>
            </a:r>
            <a:r>
              <a:rPr kumimoji="1" lang="en-US" altLang="zh-CN" b="1">
                <a:latin typeface="Times New Roman" pitchFamily="18" charset="0"/>
              </a:rPr>
              <a:t> e</a:t>
            </a:r>
            <a:r>
              <a:rPr kumimoji="1" lang="en-US" altLang="zh-CN" b="1" baseline="-25000">
                <a:latin typeface="Times New Roman" pitchFamily="18" charset="0"/>
              </a:rPr>
              <a:t>1</a:t>
            </a:r>
            <a:r>
              <a:rPr kumimoji="1" lang="en-US" altLang="zh-CN" b="1">
                <a:latin typeface="Times New Roman" pitchFamily="18" charset="0"/>
              </a:rPr>
              <a:t> v</a:t>
            </a:r>
            <a:r>
              <a:rPr kumimoji="1" lang="en-US" altLang="zh-CN" b="1" baseline="-25000">
                <a:latin typeface="Times New Roman" pitchFamily="18" charset="0"/>
              </a:rPr>
              <a:t>1</a:t>
            </a:r>
            <a:r>
              <a:rPr kumimoji="1" lang="en-US" altLang="zh-CN" b="1">
                <a:latin typeface="Times New Roman" pitchFamily="18" charset="0"/>
              </a:rPr>
              <a:t> e</a:t>
            </a:r>
            <a:r>
              <a:rPr kumimoji="1" lang="en-US" altLang="zh-CN" b="1" baseline="-25000">
                <a:latin typeface="Times New Roman" pitchFamily="18" charset="0"/>
              </a:rPr>
              <a:t>2 </a:t>
            </a:r>
            <a:r>
              <a:rPr kumimoji="1" lang="en-US" altLang="zh-CN" b="1">
                <a:latin typeface="Times New Roman" pitchFamily="18" charset="0"/>
              </a:rPr>
              <a:t>v</a:t>
            </a:r>
            <a:r>
              <a:rPr kumimoji="1" lang="en-US" altLang="zh-CN" b="1" baseline="-25000">
                <a:latin typeface="Times New Roman" pitchFamily="18" charset="0"/>
              </a:rPr>
              <a:t>2</a:t>
            </a:r>
            <a:r>
              <a:rPr kumimoji="1" lang="en-US" altLang="zh-CN" b="1">
                <a:latin typeface="Times New Roman" pitchFamily="18" charset="0"/>
              </a:rPr>
              <a:t>… e</a:t>
            </a:r>
            <a:r>
              <a:rPr kumimoji="1" lang="en-US" altLang="zh-CN" b="1" baseline="-25000">
                <a:latin typeface="Times New Roman" pitchFamily="18" charset="0"/>
              </a:rPr>
              <a:t>n</a:t>
            </a:r>
            <a:r>
              <a:rPr kumimoji="1" lang="en-US" altLang="zh-CN" b="1">
                <a:latin typeface="Times New Roman" pitchFamily="18" charset="0"/>
              </a:rPr>
              <a:t> v</a:t>
            </a:r>
            <a:r>
              <a:rPr kumimoji="1" lang="en-US" altLang="zh-CN" b="1" baseline="-25000">
                <a:latin typeface="Times New Roman" pitchFamily="18" charset="0"/>
              </a:rPr>
              <a:t>n</a:t>
            </a:r>
            <a:r>
              <a:rPr kumimoji="1" lang="zh-CN" altLang="en-US" b="1">
                <a:latin typeface="Times New Roman" pitchFamily="18" charset="0"/>
              </a:rPr>
              <a:t>称为连接</a:t>
            </a:r>
            <a:r>
              <a:rPr kumimoji="1" lang="en-US" altLang="zh-CN" b="1">
                <a:latin typeface="Times New Roman" pitchFamily="18" charset="0"/>
              </a:rPr>
              <a:t>v</a:t>
            </a:r>
            <a:r>
              <a:rPr kumimoji="1" lang="en-US" altLang="zh-CN" b="1" baseline="-25000">
                <a:latin typeface="Times New Roman" pitchFamily="18" charset="0"/>
              </a:rPr>
              <a:t>0</a:t>
            </a:r>
            <a:r>
              <a:rPr kumimoji="1" lang="zh-CN" altLang="en-US" b="1">
                <a:latin typeface="Times New Roman" pitchFamily="18" charset="0"/>
              </a:rPr>
              <a:t>到</a:t>
            </a:r>
            <a:r>
              <a:rPr kumimoji="1" lang="en-US" altLang="zh-CN" b="1">
                <a:latin typeface="Times New Roman" pitchFamily="18" charset="0"/>
              </a:rPr>
              <a:t>v</a:t>
            </a:r>
            <a:r>
              <a:rPr kumimoji="1" lang="en-US" altLang="zh-CN" b="1" baseline="-25000">
                <a:latin typeface="Times New Roman" pitchFamily="18" charset="0"/>
              </a:rPr>
              <a:t>n</a:t>
            </a:r>
            <a:r>
              <a:rPr kumimoji="1" lang="zh-CN" altLang="en-US" b="1">
                <a:latin typeface="Times New Roman" pitchFamily="18" charset="0"/>
              </a:rPr>
              <a:t>的</a:t>
            </a:r>
            <a:r>
              <a:rPr kumimoji="1" lang="zh-CN" altLang="en-US" b="1" i="1">
                <a:solidFill>
                  <a:srgbClr val="0000CC"/>
                </a:solidFill>
                <a:latin typeface="Times New Roman" pitchFamily="18" charset="0"/>
              </a:rPr>
              <a:t>路</a:t>
            </a:r>
            <a:r>
              <a:rPr kumimoji="1" lang="zh-CN" altLang="en-US" b="1">
                <a:latin typeface="Times New Roman" pitchFamily="18" charset="0"/>
              </a:rPr>
              <a:t>。 </a:t>
            </a:r>
          </a:p>
          <a:p>
            <a:pPr algn="just" eaLnBrk="1" hangingPunct="1">
              <a:lnSpc>
                <a:spcPct val="120000"/>
              </a:lnSpc>
            </a:pPr>
            <a:r>
              <a:rPr kumimoji="1" lang="en-US" altLang="zh-CN" b="1">
                <a:latin typeface="Times New Roman" pitchFamily="18" charset="0"/>
              </a:rPr>
              <a:t>v</a:t>
            </a:r>
            <a:r>
              <a:rPr kumimoji="1" lang="en-US" altLang="zh-CN" b="1" baseline="-25000">
                <a:latin typeface="Times New Roman" pitchFamily="18" charset="0"/>
              </a:rPr>
              <a:t>0</a:t>
            </a:r>
            <a:r>
              <a:rPr kumimoji="1" lang="zh-CN" altLang="en-US" b="1">
                <a:latin typeface="Times New Roman" pitchFamily="18" charset="0"/>
              </a:rPr>
              <a:t>和</a:t>
            </a:r>
            <a:r>
              <a:rPr kumimoji="1" lang="en-US" altLang="zh-CN" b="1">
                <a:latin typeface="Times New Roman" pitchFamily="18" charset="0"/>
              </a:rPr>
              <a:t>v</a:t>
            </a:r>
            <a:r>
              <a:rPr kumimoji="1" lang="en-US" altLang="zh-CN" b="1" baseline="-25000">
                <a:latin typeface="Times New Roman" pitchFamily="18" charset="0"/>
              </a:rPr>
              <a:t>n</a:t>
            </a:r>
            <a:r>
              <a:rPr kumimoji="1" lang="zh-CN" altLang="en-US" b="1">
                <a:latin typeface="Times New Roman" pitchFamily="18" charset="0"/>
              </a:rPr>
              <a:t>分别称作路的</a:t>
            </a:r>
            <a:r>
              <a:rPr kumimoji="1" lang="zh-CN" altLang="en-US" b="1" i="1">
                <a:solidFill>
                  <a:srgbClr val="0000CC"/>
                </a:solidFill>
                <a:latin typeface="Times New Roman" pitchFamily="18" charset="0"/>
              </a:rPr>
              <a:t>起点</a:t>
            </a:r>
            <a:r>
              <a:rPr kumimoji="1" lang="zh-CN" altLang="en-US" b="1">
                <a:latin typeface="Times New Roman" pitchFamily="18" charset="0"/>
              </a:rPr>
              <a:t>和</a:t>
            </a:r>
            <a:r>
              <a:rPr kumimoji="1" lang="zh-CN" altLang="en-US" b="1" i="1">
                <a:solidFill>
                  <a:srgbClr val="0000CC"/>
                </a:solidFill>
                <a:latin typeface="Times New Roman" pitchFamily="18" charset="0"/>
              </a:rPr>
              <a:t>终点</a:t>
            </a:r>
            <a:r>
              <a:rPr kumimoji="1" lang="zh-CN" altLang="en-US" b="1">
                <a:latin typeface="Times New Roman" pitchFamily="18" charset="0"/>
              </a:rPr>
              <a:t>，边的数目</a:t>
            </a:r>
            <a:r>
              <a:rPr kumimoji="1" lang="en-US" altLang="zh-CN" b="1">
                <a:latin typeface="Times New Roman" pitchFamily="18" charset="0"/>
              </a:rPr>
              <a:t>n</a:t>
            </a:r>
            <a:r>
              <a:rPr kumimoji="1" lang="zh-CN" altLang="en-US" b="1">
                <a:latin typeface="Times New Roman" pitchFamily="18" charset="0"/>
              </a:rPr>
              <a:t>称作</a:t>
            </a:r>
            <a:r>
              <a:rPr kumimoji="1" lang="zh-CN" altLang="en-US" b="1" i="1">
                <a:solidFill>
                  <a:srgbClr val="0000CC"/>
                </a:solidFill>
                <a:latin typeface="Times New Roman" pitchFamily="18" charset="0"/>
              </a:rPr>
              <a:t>路的长度</a:t>
            </a:r>
            <a:r>
              <a:rPr kumimoji="1" lang="zh-CN" altLang="en-US" b="1">
                <a:latin typeface="Times New Roman" pitchFamily="18" charset="0"/>
              </a:rPr>
              <a:t>。</a:t>
            </a:r>
          </a:p>
        </p:txBody>
      </p:sp>
      <p:sp>
        <p:nvSpPr>
          <p:cNvPr id="23556" name="Rectangle 6"/>
          <p:cNvSpPr>
            <a:spLocks noGrp="1" noChangeArrowheads="1"/>
          </p:cNvSpPr>
          <p:nvPr>
            <p:ph type="title"/>
          </p:nvPr>
        </p:nvSpPr>
        <p:spPr>
          <a:xfrm>
            <a:off x="900113" y="333375"/>
            <a:ext cx="7237412" cy="701675"/>
          </a:xfrm>
        </p:spPr>
        <p:txBody>
          <a:bodyPr/>
          <a:lstStyle/>
          <a:p>
            <a:pPr eaLnBrk="1" hangingPunct="1"/>
            <a:r>
              <a:rPr kumimoji="1" lang="en-US" altLang="zh-CN" smtClean="0">
                <a:solidFill>
                  <a:schemeClr val="tx1"/>
                </a:solidFill>
                <a:latin typeface="华文行楷" pitchFamily="2" charset="-122"/>
                <a:ea typeface="华文行楷" pitchFamily="2" charset="-122"/>
              </a:rPr>
              <a:t>7-2</a:t>
            </a:r>
            <a:r>
              <a:rPr kumimoji="1" lang="en-US" altLang="zh-CN" smtClean="0">
                <a:solidFill>
                  <a:schemeClr val="tx1"/>
                </a:solidFill>
                <a:latin typeface="Times New Roman" pitchFamily="18" charset="0"/>
                <a:ea typeface="华文行楷" pitchFamily="2" charset="-122"/>
              </a:rPr>
              <a:t>   </a:t>
            </a:r>
            <a:r>
              <a:rPr kumimoji="1" lang="en-US" altLang="zh-CN" smtClean="0">
                <a:solidFill>
                  <a:schemeClr val="tx1"/>
                </a:solidFill>
                <a:latin typeface="华文行楷" pitchFamily="2" charset="-122"/>
                <a:ea typeface="华文行楷" pitchFamily="2" charset="-122"/>
              </a:rPr>
              <a:t> </a:t>
            </a:r>
            <a:r>
              <a:rPr kumimoji="1" lang="zh-CN" altLang="en-US" smtClean="0">
                <a:solidFill>
                  <a:schemeClr val="tx1"/>
                </a:solidFill>
                <a:latin typeface="华文行楷" pitchFamily="2" charset="-122"/>
                <a:ea typeface="华文行楷" pitchFamily="2" charset="-122"/>
              </a:rPr>
              <a:t>路与回路</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7411">
                                            <p:txEl>
                                              <p:pRg st="2" end="2"/>
                                            </p:txEl>
                                          </p:spTgt>
                                        </p:tgtEl>
                                        <p:attrNameLst>
                                          <p:attrName>style.visibility</p:attrName>
                                        </p:attrNameLst>
                                      </p:cBhvr>
                                      <p:to>
                                        <p:strVal val="visible"/>
                                      </p:to>
                                    </p:set>
                                    <p:anim calcmode="lin" valueType="num">
                                      <p:cBhvr additive="base">
                                        <p:cTn id="7" dur="500" fill="hold"/>
                                        <p:tgtEl>
                                          <p:spTgt spid="17411">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7411">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4"/>
          <p:cNvSpPr>
            <a:spLocks noGrp="1"/>
          </p:cNvSpPr>
          <p:nvPr>
            <p:ph type="sldNum" sz="quarter" idx="11"/>
          </p:nvPr>
        </p:nvSpPr>
        <p:spPr/>
        <p:txBody>
          <a:bodyPr/>
          <a:lstStyle/>
          <a:p>
            <a:pPr>
              <a:defRPr/>
            </a:pPr>
            <a:fld id="{DDCBA79B-5D84-431A-81F8-611AF8220BFF}" type="slidenum">
              <a:rPr lang="en-US" altLang="zh-CN"/>
              <a:pPr>
                <a:defRPr/>
              </a:pPr>
              <a:t>20</a:t>
            </a:fld>
            <a:endParaRPr lang="en-US" altLang="zh-CN"/>
          </a:p>
        </p:txBody>
      </p:sp>
      <p:sp>
        <p:nvSpPr>
          <p:cNvPr id="24579" name="Rectangle 3"/>
          <p:cNvSpPr>
            <a:spLocks noGrp="1" noChangeArrowheads="1"/>
          </p:cNvSpPr>
          <p:nvPr>
            <p:ph type="body" idx="1"/>
          </p:nvPr>
        </p:nvSpPr>
        <p:spPr>
          <a:xfrm>
            <a:off x="466725" y="1009650"/>
            <a:ext cx="8426450" cy="2940050"/>
          </a:xfrm>
          <a:noFill/>
        </p:spPr>
        <p:txBody>
          <a:bodyPr/>
          <a:lstStyle/>
          <a:p>
            <a:pPr eaLnBrk="1" hangingPunct="1">
              <a:buClr>
                <a:schemeClr val="hlink"/>
              </a:buClr>
              <a:buSzTx/>
              <a:buFont typeface="Wingdings" pitchFamily="2" charset="2"/>
              <a:buChar char="u"/>
            </a:pPr>
            <a:r>
              <a:rPr kumimoji="1" lang="zh-CN" altLang="en-US" smtClean="0">
                <a:solidFill>
                  <a:srgbClr val="993300"/>
                </a:solidFill>
              </a:rPr>
              <a:t>各种特殊的路</a:t>
            </a:r>
          </a:p>
          <a:p>
            <a:pPr eaLnBrk="1" hangingPunct="1">
              <a:buClr>
                <a:schemeClr val="bg1"/>
              </a:buClr>
              <a:buSzTx/>
              <a:buFontTx/>
              <a:buChar char="•"/>
            </a:pPr>
            <a:r>
              <a:rPr kumimoji="1" lang="en-US" altLang="zh-CN" smtClean="0"/>
              <a:t>(1)</a:t>
            </a:r>
            <a:r>
              <a:rPr kumimoji="1" lang="zh-CN" altLang="en-US" smtClean="0"/>
              <a:t>当</a:t>
            </a:r>
            <a:r>
              <a:rPr kumimoji="1" lang="en-US" altLang="zh-CN" smtClean="0"/>
              <a:t>v</a:t>
            </a:r>
            <a:r>
              <a:rPr kumimoji="1" lang="en-US" altLang="zh-CN" baseline="-25000" smtClean="0"/>
              <a:t>0</a:t>
            </a:r>
            <a:r>
              <a:rPr kumimoji="1" lang="en-US" altLang="zh-CN" smtClean="0"/>
              <a:t>=v</a:t>
            </a:r>
            <a:r>
              <a:rPr kumimoji="1" lang="en-US" altLang="zh-CN" baseline="-25000" smtClean="0"/>
              <a:t>n</a:t>
            </a:r>
            <a:r>
              <a:rPr kumimoji="1" lang="zh-CN" altLang="en-US" smtClean="0"/>
              <a:t>时，这条路称作</a:t>
            </a:r>
            <a:r>
              <a:rPr kumimoji="1" lang="zh-CN" altLang="en-US" i="1" smtClean="0">
                <a:solidFill>
                  <a:srgbClr val="0000CC"/>
                </a:solidFill>
              </a:rPr>
              <a:t>回路</a:t>
            </a:r>
            <a:r>
              <a:rPr kumimoji="1" lang="zh-CN" altLang="en-US" smtClean="0"/>
              <a:t>。</a:t>
            </a:r>
          </a:p>
          <a:p>
            <a:pPr eaLnBrk="1" hangingPunct="1">
              <a:buClr>
                <a:schemeClr val="bg1"/>
              </a:buClr>
              <a:buSzTx/>
              <a:buFontTx/>
              <a:buChar char="•"/>
            </a:pPr>
            <a:r>
              <a:rPr kumimoji="1" lang="en-US" altLang="zh-CN" smtClean="0"/>
              <a:t>(2)</a:t>
            </a:r>
            <a:r>
              <a:rPr kumimoji="1" lang="zh-CN" altLang="en-US" smtClean="0"/>
              <a:t>若一条路中所有的边</a:t>
            </a:r>
            <a:r>
              <a:rPr kumimoji="1" lang="en-US" altLang="zh-CN" smtClean="0"/>
              <a:t>e</a:t>
            </a:r>
            <a:r>
              <a:rPr kumimoji="1" lang="en-US" altLang="zh-CN" baseline="-25000" smtClean="0"/>
              <a:t>1</a:t>
            </a:r>
            <a:r>
              <a:rPr kumimoji="1" lang="en-US" altLang="zh-CN" smtClean="0"/>
              <a:t>, e</a:t>
            </a:r>
            <a:r>
              <a:rPr kumimoji="1" lang="en-US" altLang="zh-CN" baseline="-25000" smtClean="0"/>
              <a:t>2</a:t>
            </a:r>
            <a:r>
              <a:rPr kumimoji="1" lang="en-US" altLang="zh-CN" smtClean="0"/>
              <a:t>, …, e</a:t>
            </a:r>
            <a:r>
              <a:rPr kumimoji="1" lang="en-US" altLang="zh-CN" baseline="-25000" smtClean="0"/>
              <a:t>n</a:t>
            </a:r>
            <a:r>
              <a:rPr kumimoji="1" lang="zh-CN" altLang="en-US" smtClean="0"/>
              <a:t>均不相同，称作</a:t>
            </a:r>
            <a:r>
              <a:rPr kumimoji="1" lang="zh-CN" altLang="en-US" i="1" smtClean="0">
                <a:solidFill>
                  <a:srgbClr val="0000CC"/>
                </a:solidFill>
              </a:rPr>
              <a:t>迹</a:t>
            </a:r>
            <a:r>
              <a:rPr kumimoji="1" lang="zh-CN" altLang="en-US" smtClean="0"/>
              <a:t>。</a:t>
            </a:r>
          </a:p>
          <a:p>
            <a:pPr eaLnBrk="1" hangingPunct="1">
              <a:buClr>
                <a:schemeClr val="bg1"/>
              </a:buClr>
              <a:buSzTx/>
              <a:buFontTx/>
              <a:buChar char="•"/>
            </a:pPr>
            <a:r>
              <a:rPr kumimoji="1" lang="en-US" altLang="zh-CN" smtClean="0"/>
              <a:t>(3)</a:t>
            </a:r>
            <a:r>
              <a:rPr kumimoji="1" lang="zh-CN" altLang="en-US" smtClean="0"/>
              <a:t>若一条路中所有的结点</a:t>
            </a:r>
            <a:r>
              <a:rPr kumimoji="1" lang="en-US" altLang="zh-CN" smtClean="0"/>
              <a:t>v</a:t>
            </a:r>
            <a:r>
              <a:rPr kumimoji="1" lang="en-US" altLang="zh-CN" baseline="-25000" smtClean="0"/>
              <a:t>0</a:t>
            </a:r>
            <a:r>
              <a:rPr kumimoji="1" lang="en-US" altLang="zh-CN" smtClean="0"/>
              <a:t>, v</a:t>
            </a:r>
            <a:r>
              <a:rPr kumimoji="1" lang="en-US" altLang="zh-CN" baseline="-25000" smtClean="0"/>
              <a:t>1</a:t>
            </a:r>
            <a:r>
              <a:rPr kumimoji="1" lang="en-US" altLang="zh-CN" smtClean="0"/>
              <a:t>, …, v</a:t>
            </a:r>
            <a:r>
              <a:rPr kumimoji="1" lang="en-US" altLang="zh-CN" baseline="-25000" smtClean="0"/>
              <a:t>n</a:t>
            </a:r>
            <a:r>
              <a:rPr kumimoji="1" lang="en-US" altLang="zh-CN" smtClean="0"/>
              <a:t> </a:t>
            </a:r>
            <a:r>
              <a:rPr kumimoji="1" lang="zh-CN" altLang="en-US" smtClean="0"/>
              <a:t>均不相同，称作</a:t>
            </a:r>
            <a:r>
              <a:rPr kumimoji="1" lang="zh-CN" altLang="en-US" i="1" smtClean="0">
                <a:solidFill>
                  <a:srgbClr val="0000CC"/>
                </a:solidFill>
              </a:rPr>
              <a:t>通路</a:t>
            </a:r>
            <a:r>
              <a:rPr kumimoji="1" lang="zh-CN" altLang="en-US" smtClean="0"/>
              <a:t>。</a:t>
            </a:r>
          </a:p>
          <a:p>
            <a:pPr eaLnBrk="1" hangingPunct="1">
              <a:buClr>
                <a:schemeClr val="bg1"/>
              </a:buClr>
              <a:buSzTx/>
              <a:buFontTx/>
              <a:buChar char="•"/>
            </a:pPr>
            <a:r>
              <a:rPr kumimoji="1" lang="en-US" altLang="zh-CN" smtClean="0"/>
              <a:t>(4)</a:t>
            </a:r>
            <a:r>
              <a:rPr kumimoji="1" lang="zh-CN" altLang="en-US" smtClean="0"/>
              <a:t>闭合的通路，即除</a:t>
            </a:r>
            <a:r>
              <a:rPr kumimoji="1" lang="en-US" altLang="zh-CN" smtClean="0"/>
              <a:t>v</a:t>
            </a:r>
            <a:r>
              <a:rPr kumimoji="1" lang="en-US" altLang="zh-CN" baseline="-25000" smtClean="0"/>
              <a:t>0</a:t>
            </a:r>
            <a:r>
              <a:rPr kumimoji="1" lang="en-US" altLang="zh-CN" smtClean="0"/>
              <a:t>=v</a:t>
            </a:r>
            <a:r>
              <a:rPr kumimoji="1" lang="en-US" altLang="zh-CN" baseline="-25000" smtClean="0"/>
              <a:t>n</a:t>
            </a:r>
            <a:r>
              <a:rPr kumimoji="1" lang="zh-CN" altLang="en-US" smtClean="0"/>
              <a:t>外，其余结点均不相同的路，称作</a:t>
            </a:r>
            <a:r>
              <a:rPr kumimoji="1" lang="zh-CN" altLang="en-US" i="1" smtClean="0">
                <a:solidFill>
                  <a:srgbClr val="0000CC"/>
                </a:solidFill>
              </a:rPr>
              <a:t>圈</a:t>
            </a:r>
            <a:r>
              <a:rPr kumimoji="1" lang="zh-CN" altLang="en-US" smtClean="0"/>
              <a:t>。</a:t>
            </a:r>
            <a:r>
              <a:rPr kumimoji="1" lang="zh-CN" altLang="en-US" b="0" smtClean="0">
                <a:solidFill>
                  <a:schemeClr val="bg2"/>
                </a:solidFill>
              </a:rPr>
              <a:t> </a:t>
            </a:r>
            <a:endParaRPr lang="zh-CN" altLang="en-US" smtClean="0"/>
          </a:p>
        </p:txBody>
      </p:sp>
      <p:grpSp>
        <p:nvGrpSpPr>
          <p:cNvPr id="106501" name="Group 5"/>
          <p:cNvGrpSpPr>
            <a:grpSpLocks/>
          </p:cNvGrpSpPr>
          <p:nvPr/>
        </p:nvGrpSpPr>
        <p:grpSpPr bwMode="auto">
          <a:xfrm>
            <a:off x="1111250" y="4210050"/>
            <a:ext cx="2381250" cy="2387600"/>
            <a:chOff x="340" y="1071"/>
            <a:chExt cx="1500" cy="1504"/>
          </a:xfrm>
        </p:grpSpPr>
        <p:grpSp>
          <p:nvGrpSpPr>
            <p:cNvPr id="24583" name="Group 6"/>
            <p:cNvGrpSpPr>
              <a:grpSpLocks/>
            </p:cNvGrpSpPr>
            <p:nvPr/>
          </p:nvGrpSpPr>
          <p:grpSpPr bwMode="auto">
            <a:xfrm>
              <a:off x="592" y="1282"/>
              <a:ext cx="1008" cy="1191"/>
              <a:chOff x="3060" y="11112"/>
              <a:chExt cx="1620" cy="2184"/>
            </a:xfrm>
          </p:grpSpPr>
          <p:sp>
            <p:nvSpPr>
              <p:cNvPr id="24598" name="Line 7"/>
              <p:cNvSpPr>
                <a:spLocks noChangeShapeType="1"/>
              </p:cNvSpPr>
              <p:nvPr/>
            </p:nvSpPr>
            <p:spPr bwMode="auto">
              <a:xfrm flipH="1">
                <a:off x="3060" y="11112"/>
                <a:ext cx="694" cy="79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599" name="Freeform 8"/>
              <p:cNvSpPr>
                <a:spLocks/>
              </p:cNvSpPr>
              <p:nvPr/>
            </p:nvSpPr>
            <p:spPr bwMode="auto">
              <a:xfrm>
                <a:off x="3754" y="11112"/>
                <a:ext cx="830" cy="717"/>
              </a:xfrm>
              <a:custGeom>
                <a:avLst/>
                <a:gdLst>
                  <a:gd name="T0" fmla="*/ 0 w 645"/>
                  <a:gd name="T1" fmla="*/ 0 h 564"/>
                  <a:gd name="T2" fmla="*/ 830 w 645"/>
                  <a:gd name="T3" fmla="*/ 717 h 564"/>
                  <a:gd name="T4" fmla="*/ 0 60000 65536"/>
                  <a:gd name="T5" fmla="*/ 0 60000 65536"/>
                </a:gdLst>
                <a:ahLst/>
                <a:cxnLst>
                  <a:cxn ang="T4">
                    <a:pos x="T0" y="T1"/>
                  </a:cxn>
                  <a:cxn ang="T5">
                    <a:pos x="T2" y="T3"/>
                  </a:cxn>
                </a:cxnLst>
                <a:rect l="0" t="0" r="r" b="b"/>
                <a:pathLst>
                  <a:path w="645" h="564">
                    <a:moveTo>
                      <a:pt x="0" y="0"/>
                    </a:moveTo>
                    <a:lnTo>
                      <a:pt x="645" y="564"/>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4600" name="Line 9"/>
              <p:cNvSpPr>
                <a:spLocks noChangeShapeType="1"/>
              </p:cNvSpPr>
              <p:nvPr/>
            </p:nvSpPr>
            <p:spPr bwMode="auto">
              <a:xfrm>
                <a:off x="3060" y="11909"/>
                <a:ext cx="0" cy="13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1" name="Line 10"/>
              <p:cNvSpPr>
                <a:spLocks noChangeShapeType="1"/>
              </p:cNvSpPr>
              <p:nvPr/>
            </p:nvSpPr>
            <p:spPr bwMode="auto">
              <a:xfrm>
                <a:off x="4584" y="11890"/>
                <a:ext cx="0" cy="13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2" name="Line 11"/>
              <p:cNvSpPr>
                <a:spLocks noChangeShapeType="1"/>
              </p:cNvSpPr>
              <p:nvPr/>
            </p:nvSpPr>
            <p:spPr bwMode="auto">
              <a:xfrm>
                <a:off x="3060" y="11909"/>
                <a:ext cx="1620" cy="138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603" name="Line 12"/>
              <p:cNvSpPr>
                <a:spLocks noChangeShapeType="1"/>
              </p:cNvSpPr>
              <p:nvPr/>
            </p:nvSpPr>
            <p:spPr bwMode="auto">
              <a:xfrm>
                <a:off x="3060" y="13296"/>
                <a:ext cx="16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24584" name="Text Box 13"/>
            <p:cNvSpPr txBox="1">
              <a:spLocks noChangeArrowheads="1"/>
            </p:cNvSpPr>
            <p:nvPr/>
          </p:nvSpPr>
          <p:spPr bwMode="auto">
            <a:xfrm>
              <a:off x="1004" y="107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1</a:t>
              </a:r>
            </a:p>
          </p:txBody>
        </p:sp>
        <p:sp>
          <p:nvSpPr>
            <p:cNvPr id="24585" name="Text Box 14"/>
            <p:cNvSpPr txBox="1">
              <a:spLocks noChangeArrowheads="1"/>
            </p:cNvSpPr>
            <p:nvPr/>
          </p:nvSpPr>
          <p:spPr bwMode="auto">
            <a:xfrm>
              <a:off x="352" y="228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4</a:t>
              </a:r>
            </a:p>
          </p:txBody>
        </p:sp>
        <p:sp>
          <p:nvSpPr>
            <p:cNvPr id="24586" name="Text Box 15"/>
            <p:cNvSpPr txBox="1">
              <a:spLocks noChangeArrowheads="1"/>
            </p:cNvSpPr>
            <p:nvPr/>
          </p:nvSpPr>
          <p:spPr bwMode="auto">
            <a:xfrm>
              <a:off x="1552" y="2269"/>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5</a:t>
              </a:r>
            </a:p>
          </p:txBody>
        </p:sp>
        <p:sp>
          <p:nvSpPr>
            <p:cNvPr id="24587" name="Text Box 16"/>
            <p:cNvSpPr txBox="1">
              <a:spLocks noChangeArrowheads="1"/>
            </p:cNvSpPr>
            <p:nvPr/>
          </p:nvSpPr>
          <p:spPr bwMode="auto">
            <a:xfrm>
              <a:off x="340" y="156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2</a:t>
              </a:r>
            </a:p>
          </p:txBody>
        </p:sp>
        <p:sp>
          <p:nvSpPr>
            <p:cNvPr id="24588" name="Text Box 17"/>
            <p:cNvSpPr txBox="1">
              <a:spLocks noChangeArrowheads="1"/>
            </p:cNvSpPr>
            <p:nvPr/>
          </p:nvSpPr>
          <p:spPr bwMode="auto">
            <a:xfrm>
              <a:off x="1519" y="152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3</a:t>
              </a:r>
            </a:p>
          </p:txBody>
        </p:sp>
        <p:sp>
          <p:nvSpPr>
            <p:cNvPr id="24589" name="Oval 18"/>
            <p:cNvSpPr>
              <a:spLocks noChangeArrowheads="1"/>
            </p:cNvSpPr>
            <p:nvPr/>
          </p:nvSpPr>
          <p:spPr bwMode="auto">
            <a:xfrm>
              <a:off x="592" y="1591"/>
              <a:ext cx="960" cy="240"/>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590" name="Text Box 19"/>
            <p:cNvSpPr txBox="1">
              <a:spLocks noChangeArrowheads="1"/>
            </p:cNvSpPr>
            <p:nvPr/>
          </p:nvSpPr>
          <p:spPr bwMode="auto">
            <a:xfrm>
              <a:off x="631" y="120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1</a:t>
              </a:r>
            </a:p>
          </p:txBody>
        </p:sp>
        <p:sp>
          <p:nvSpPr>
            <p:cNvPr id="24591" name="Text Box 20"/>
            <p:cNvSpPr txBox="1">
              <a:spLocks noChangeArrowheads="1"/>
            </p:cNvSpPr>
            <p:nvPr/>
          </p:nvSpPr>
          <p:spPr bwMode="auto">
            <a:xfrm>
              <a:off x="1206" y="125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2</a:t>
              </a:r>
            </a:p>
          </p:txBody>
        </p:sp>
        <p:sp>
          <p:nvSpPr>
            <p:cNvPr id="24592" name="Text Box 21"/>
            <p:cNvSpPr txBox="1">
              <a:spLocks noChangeArrowheads="1"/>
            </p:cNvSpPr>
            <p:nvPr/>
          </p:nvSpPr>
          <p:spPr bwMode="auto">
            <a:xfrm>
              <a:off x="898" y="131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3</a:t>
              </a:r>
            </a:p>
          </p:txBody>
        </p:sp>
        <p:sp>
          <p:nvSpPr>
            <p:cNvPr id="24593" name="Text Box 22"/>
            <p:cNvSpPr txBox="1">
              <a:spLocks noChangeArrowheads="1"/>
            </p:cNvSpPr>
            <p:nvPr/>
          </p:nvSpPr>
          <p:spPr bwMode="auto">
            <a:xfrm>
              <a:off x="946" y="173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4</a:t>
              </a:r>
            </a:p>
          </p:txBody>
        </p:sp>
        <p:sp>
          <p:nvSpPr>
            <p:cNvPr id="24594" name="Text Box 23"/>
            <p:cNvSpPr txBox="1">
              <a:spLocks noChangeArrowheads="1"/>
            </p:cNvSpPr>
            <p:nvPr/>
          </p:nvSpPr>
          <p:spPr bwMode="auto">
            <a:xfrm>
              <a:off x="883" y="197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6</a:t>
              </a:r>
            </a:p>
          </p:txBody>
        </p:sp>
        <p:sp>
          <p:nvSpPr>
            <p:cNvPr id="24595" name="Text Box 24"/>
            <p:cNvSpPr txBox="1">
              <a:spLocks noChangeArrowheads="1"/>
            </p:cNvSpPr>
            <p:nvPr/>
          </p:nvSpPr>
          <p:spPr bwMode="auto">
            <a:xfrm>
              <a:off x="352" y="1888"/>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5</a:t>
              </a:r>
            </a:p>
          </p:txBody>
        </p:sp>
        <p:sp>
          <p:nvSpPr>
            <p:cNvPr id="24596" name="Text Box 25"/>
            <p:cNvSpPr txBox="1">
              <a:spLocks noChangeArrowheads="1"/>
            </p:cNvSpPr>
            <p:nvPr/>
          </p:nvSpPr>
          <p:spPr bwMode="auto">
            <a:xfrm>
              <a:off x="928" y="2160"/>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8</a:t>
              </a:r>
            </a:p>
          </p:txBody>
        </p:sp>
        <p:sp>
          <p:nvSpPr>
            <p:cNvPr id="24597" name="Text Box 26"/>
            <p:cNvSpPr txBox="1">
              <a:spLocks noChangeArrowheads="1"/>
            </p:cNvSpPr>
            <p:nvPr/>
          </p:nvSpPr>
          <p:spPr bwMode="auto">
            <a:xfrm>
              <a:off x="1501" y="1954"/>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7</a:t>
              </a:r>
            </a:p>
          </p:txBody>
        </p:sp>
      </p:grpSp>
      <p:sp>
        <p:nvSpPr>
          <p:cNvPr id="106523" name="Text Box 27"/>
          <p:cNvSpPr txBox="1">
            <a:spLocks noChangeArrowheads="1"/>
          </p:cNvSpPr>
          <p:nvPr/>
        </p:nvSpPr>
        <p:spPr bwMode="auto">
          <a:xfrm>
            <a:off x="466725" y="3933825"/>
            <a:ext cx="827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20000"/>
              </a:spcBef>
              <a:buClr>
                <a:schemeClr val="bg1"/>
              </a:buClr>
            </a:pPr>
            <a:r>
              <a:rPr kumimoji="1" lang="zh-CN" altLang="en-US" b="1">
                <a:solidFill>
                  <a:schemeClr val="hlink"/>
                </a:solidFill>
                <a:latin typeface="Times New Roman" pitchFamily="18" charset="0"/>
              </a:rPr>
              <a:t>例：</a:t>
            </a:r>
            <a:r>
              <a:rPr kumimoji="1" lang="zh-CN" altLang="en-US" b="1">
                <a:solidFill>
                  <a:schemeClr val="bg2"/>
                </a:solidFill>
                <a:latin typeface="Times New Roman" pitchFamily="18" charset="0"/>
              </a:rPr>
              <a:t>在下图中寻找一条从</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1</a:t>
            </a:r>
            <a:r>
              <a:rPr kumimoji="1" lang="zh-CN" altLang="en-US" b="1">
                <a:solidFill>
                  <a:schemeClr val="bg2"/>
                </a:solidFill>
                <a:latin typeface="Times New Roman" pitchFamily="18" charset="0"/>
              </a:rPr>
              <a:t>到</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3</a:t>
            </a:r>
            <a:r>
              <a:rPr kumimoji="1" lang="zh-CN" altLang="en-US" b="1">
                <a:solidFill>
                  <a:schemeClr val="bg2"/>
                </a:solidFill>
                <a:latin typeface="Times New Roman" pitchFamily="18" charset="0"/>
              </a:rPr>
              <a:t>的路。</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6501"/>
                                        </p:tgtEl>
                                        <p:attrNameLst>
                                          <p:attrName>style.visibility</p:attrName>
                                        </p:attrNameLst>
                                      </p:cBhvr>
                                      <p:to>
                                        <p:strVal val="visible"/>
                                      </p:to>
                                    </p:set>
                                    <p:anim calcmode="lin" valueType="num">
                                      <p:cBhvr additive="base">
                                        <p:cTn id="7" dur="500" fill="hold"/>
                                        <p:tgtEl>
                                          <p:spTgt spid="106501"/>
                                        </p:tgtEl>
                                        <p:attrNameLst>
                                          <p:attrName>ppt_x</p:attrName>
                                        </p:attrNameLst>
                                      </p:cBhvr>
                                      <p:tavLst>
                                        <p:tav tm="0">
                                          <p:val>
                                            <p:strVal val="#ppt_x"/>
                                          </p:val>
                                        </p:tav>
                                        <p:tav tm="100000">
                                          <p:val>
                                            <p:strVal val="#ppt_x"/>
                                          </p:val>
                                        </p:tav>
                                      </p:tavLst>
                                    </p:anim>
                                    <p:anim calcmode="lin" valueType="num">
                                      <p:cBhvr additive="base">
                                        <p:cTn id="8" dur="500" fill="hold"/>
                                        <p:tgtEl>
                                          <p:spTgt spid="106501"/>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06523"/>
                                        </p:tgtEl>
                                        <p:attrNameLst>
                                          <p:attrName>style.visibility</p:attrName>
                                        </p:attrNameLst>
                                      </p:cBhvr>
                                      <p:to>
                                        <p:strVal val="visible"/>
                                      </p:to>
                                    </p:set>
                                    <p:anim calcmode="lin" valueType="num">
                                      <p:cBhvr additive="base">
                                        <p:cTn id="11" dur="500" fill="hold"/>
                                        <p:tgtEl>
                                          <p:spTgt spid="106523"/>
                                        </p:tgtEl>
                                        <p:attrNameLst>
                                          <p:attrName>ppt_x</p:attrName>
                                        </p:attrNameLst>
                                      </p:cBhvr>
                                      <p:tavLst>
                                        <p:tav tm="0">
                                          <p:val>
                                            <p:strVal val="#ppt_x"/>
                                          </p:val>
                                        </p:tav>
                                        <p:tav tm="100000">
                                          <p:val>
                                            <p:strVal val="#ppt_x"/>
                                          </p:val>
                                        </p:tav>
                                      </p:tavLst>
                                    </p:anim>
                                    <p:anim calcmode="lin" valueType="num">
                                      <p:cBhvr additive="base">
                                        <p:cTn id="12" dur="500" fill="hold"/>
                                        <p:tgtEl>
                                          <p:spTgt spid="1065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2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2"/>
          <p:cNvSpPr>
            <a:spLocks noGrp="1"/>
          </p:cNvSpPr>
          <p:nvPr>
            <p:ph type="sldNum" sz="quarter" idx="11"/>
          </p:nvPr>
        </p:nvSpPr>
        <p:spPr/>
        <p:txBody>
          <a:bodyPr/>
          <a:lstStyle/>
          <a:p>
            <a:pPr>
              <a:defRPr/>
            </a:pPr>
            <a:fld id="{623969FF-FF47-4C07-9F59-D1F6A4C4421F}" type="slidenum">
              <a:rPr lang="en-US" altLang="zh-CN"/>
              <a:pPr>
                <a:defRPr/>
              </a:pPr>
              <a:t>21</a:t>
            </a:fld>
            <a:endParaRPr lang="en-US" altLang="zh-CN"/>
          </a:p>
        </p:txBody>
      </p:sp>
      <p:sp>
        <p:nvSpPr>
          <p:cNvPr id="25603" name="Text Box 2"/>
          <p:cNvSpPr txBox="1">
            <a:spLocks noChangeArrowheads="1"/>
          </p:cNvSpPr>
          <p:nvPr/>
        </p:nvSpPr>
        <p:spPr bwMode="auto">
          <a:xfrm>
            <a:off x="395288" y="908050"/>
            <a:ext cx="83534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5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7-2.1</a:t>
            </a:r>
            <a:r>
              <a:rPr kumimoji="1" lang="zh-CN" altLang="en-US" b="1">
                <a:solidFill>
                  <a:srgbClr val="0000CC"/>
                </a:solidFill>
                <a:latin typeface="Times New Roman" pitchFamily="18" charset="0"/>
              </a:rPr>
              <a:t>：</a:t>
            </a:r>
            <a:r>
              <a:rPr kumimoji="1" lang="zh-CN" altLang="en-US" b="1">
                <a:latin typeface="Times New Roman" pitchFamily="18" charset="0"/>
              </a:rPr>
              <a:t>在一个具有</a:t>
            </a:r>
            <a:r>
              <a:rPr kumimoji="1" lang="en-US" altLang="zh-CN" b="1">
                <a:latin typeface="Times New Roman" pitchFamily="18" charset="0"/>
              </a:rPr>
              <a:t>n</a:t>
            </a:r>
            <a:r>
              <a:rPr kumimoji="1" lang="zh-CN" altLang="en-US" b="1">
                <a:latin typeface="Times New Roman" pitchFamily="18" charset="0"/>
              </a:rPr>
              <a:t>个结点的图中，如果从结点</a:t>
            </a:r>
            <a:r>
              <a:rPr kumimoji="1" lang="en-US" altLang="zh-CN" b="1">
                <a:latin typeface="Times New Roman" pitchFamily="18" charset="0"/>
              </a:rPr>
              <a:t>v</a:t>
            </a:r>
            <a:r>
              <a:rPr kumimoji="1" lang="en-US" altLang="zh-CN" b="1" baseline="-25000">
                <a:latin typeface="Times New Roman" pitchFamily="18" charset="0"/>
              </a:rPr>
              <a:t>j</a:t>
            </a:r>
            <a:r>
              <a:rPr kumimoji="1" lang="zh-CN" altLang="en-US" b="1">
                <a:latin typeface="Times New Roman" pitchFamily="18" charset="0"/>
              </a:rPr>
              <a:t>到</a:t>
            </a:r>
            <a:r>
              <a:rPr kumimoji="1" lang="en-US" altLang="zh-CN" b="1">
                <a:latin typeface="Times New Roman" pitchFamily="18" charset="0"/>
              </a:rPr>
              <a:t>v</a:t>
            </a:r>
            <a:r>
              <a:rPr kumimoji="1" lang="en-US" altLang="zh-CN" b="1" baseline="-25000">
                <a:latin typeface="Times New Roman" pitchFamily="18" charset="0"/>
              </a:rPr>
              <a:t>k</a:t>
            </a:r>
            <a:r>
              <a:rPr kumimoji="1" lang="zh-CN" altLang="en-US" b="1">
                <a:latin typeface="Times New Roman" pitchFamily="18" charset="0"/>
              </a:rPr>
              <a:t>存在一条路，则从结点</a:t>
            </a:r>
            <a:r>
              <a:rPr kumimoji="1" lang="en-US" altLang="zh-CN" b="1">
                <a:latin typeface="Times New Roman" pitchFamily="18" charset="0"/>
              </a:rPr>
              <a:t>v</a:t>
            </a:r>
            <a:r>
              <a:rPr kumimoji="1" lang="en-US" altLang="zh-CN" b="1" baseline="-25000">
                <a:latin typeface="Times New Roman" pitchFamily="18" charset="0"/>
              </a:rPr>
              <a:t>j</a:t>
            </a:r>
            <a:r>
              <a:rPr kumimoji="1" lang="zh-CN" altLang="en-US" b="1">
                <a:latin typeface="Times New Roman" pitchFamily="18" charset="0"/>
              </a:rPr>
              <a:t>到</a:t>
            </a:r>
            <a:r>
              <a:rPr kumimoji="1" lang="en-US" altLang="zh-CN" b="1">
                <a:latin typeface="Times New Roman" pitchFamily="18" charset="0"/>
              </a:rPr>
              <a:t>v</a:t>
            </a:r>
            <a:r>
              <a:rPr kumimoji="1" lang="en-US" altLang="zh-CN" b="1" baseline="-25000">
                <a:latin typeface="Times New Roman" pitchFamily="18" charset="0"/>
              </a:rPr>
              <a:t>k</a:t>
            </a:r>
            <a:r>
              <a:rPr kumimoji="1" lang="zh-CN" altLang="en-US" b="1">
                <a:latin typeface="Times New Roman" pitchFamily="18" charset="0"/>
              </a:rPr>
              <a:t>必存在一条不多于</a:t>
            </a:r>
            <a:r>
              <a:rPr kumimoji="1" lang="en-US" altLang="zh-CN" b="1">
                <a:latin typeface="Times New Roman" pitchFamily="18" charset="0"/>
              </a:rPr>
              <a:t>n-1</a:t>
            </a:r>
            <a:r>
              <a:rPr kumimoji="1" lang="zh-CN" altLang="en-US" b="1">
                <a:latin typeface="Times New Roman" pitchFamily="18" charset="0"/>
              </a:rPr>
              <a:t>条边的路。</a:t>
            </a:r>
          </a:p>
        </p:txBody>
      </p:sp>
      <p:grpSp>
        <p:nvGrpSpPr>
          <p:cNvPr id="173059" name="Group 3"/>
          <p:cNvGrpSpPr>
            <a:grpSpLocks/>
          </p:cNvGrpSpPr>
          <p:nvPr/>
        </p:nvGrpSpPr>
        <p:grpSpPr bwMode="auto">
          <a:xfrm>
            <a:off x="2971800" y="3911600"/>
            <a:ext cx="5921375" cy="1676400"/>
            <a:chOff x="528" y="2928"/>
            <a:chExt cx="3888" cy="1056"/>
          </a:xfrm>
        </p:grpSpPr>
        <p:sp>
          <p:nvSpPr>
            <p:cNvPr id="25608" name="Line 4"/>
            <p:cNvSpPr>
              <a:spLocks noChangeShapeType="1"/>
            </p:cNvSpPr>
            <p:nvPr/>
          </p:nvSpPr>
          <p:spPr bwMode="auto">
            <a:xfrm>
              <a:off x="720" y="3600"/>
              <a:ext cx="4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609" name="Line 5"/>
            <p:cNvSpPr>
              <a:spLocks noChangeShapeType="1"/>
            </p:cNvSpPr>
            <p:nvPr/>
          </p:nvSpPr>
          <p:spPr bwMode="auto">
            <a:xfrm flipV="1">
              <a:off x="2400" y="3360"/>
              <a:ext cx="384" cy="24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610" name="Line 6"/>
            <p:cNvSpPr>
              <a:spLocks noChangeShapeType="1"/>
            </p:cNvSpPr>
            <p:nvPr/>
          </p:nvSpPr>
          <p:spPr bwMode="auto">
            <a:xfrm flipV="1">
              <a:off x="2784" y="2928"/>
              <a:ext cx="0"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611" name="Line 7"/>
            <p:cNvSpPr>
              <a:spLocks noChangeShapeType="1"/>
            </p:cNvSpPr>
            <p:nvPr/>
          </p:nvSpPr>
          <p:spPr bwMode="auto">
            <a:xfrm flipH="1" flipV="1">
              <a:off x="2016" y="3312"/>
              <a:ext cx="384" cy="28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612" name="Line 8"/>
            <p:cNvSpPr>
              <a:spLocks noChangeShapeType="1"/>
            </p:cNvSpPr>
            <p:nvPr/>
          </p:nvSpPr>
          <p:spPr bwMode="auto">
            <a:xfrm flipV="1">
              <a:off x="2016" y="2928"/>
              <a:ext cx="0" cy="38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613" name="Line 9"/>
            <p:cNvSpPr>
              <a:spLocks noChangeShapeType="1"/>
            </p:cNvSpPr>
            <p:nvPr/>
          </p:nvSpPr>
          <p:spPr bwMode="auto">
            <a:xfrm>
              <a:off x="2016" y="2928"/>
              <a:ext cx="768"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614" name="Oval 10"/>
            <p:cNvSpPr>
              <a:spLocks noChangeArrowheads="1"/>
            </p:cNvSpPr>
            <p:nvPr/>
          </p:nvSpPr>
          <p:spPr bwMode="auto">
            <a:xfrm>
              <a:off x="1200" y="3552"/>
              <a:ext cx="48" cy="48"/>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5" name="Oval 11"/>
            <p:cNvSpPr>
              <a:spLocks noChangeArrowheads="1"/>
            </p:cNvSpPr>
            <p:nvPr/>
          </p:nvSpPr>
          <p:spPr bwMode="auto">
            <a:xfrm>
              <a:off x="720" y="3552"/>
              <a:ext cx="48" cy="48"/>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6" name="Line 12"/>
            <p:cNvSpPr>
              <a:spLocks noChangeShapeType="1"/>
            </p:cNvSpPr>
            <p:nvPr/>
          </p:nvSpPr>
          <p:spPr bwMode="auto">
            <a:xfrm>
              <a:off x="1248" y="3600"/>
              <a:ext cx="576"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617" name="Oval 13"/>
            <p:cNvSpPr>
              <a:spLocks noChangeArrowheads="1"/>
            </p:cNvSpPr>
            <p:nvPr/>
          </p:nvSpPr>
          <p:spPr bwMode="auto">
            <a:xfrm>
              <a:off x="1776" y="3552"/>
              <a:ext cx="48" cy="48"/>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18" name="Line 14"/>
            <p:cNvSpPr>
              <a:spLocks noChangeShapeType="1"/>
            </p:cNvSpPr>
            <p:nvPr/>
          </p:nvSpPr>
          <p:spPr bwMode="auto">
            <a:xfrm>
              <a:off x="1824" y="3600"/>
              <a:ext cx="11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619" name="Oval 15"/>
            <p:cNvSpPr>
              <a:spLocks noChangeArrowheads="1"/>
            </p:cNvSpPr>
            <p:nvPr/>
          </p:nvSpPr>
          <p:spPr bwMode="auto">
            <a:xfrm>
              <a:off x="2976" y="3552"/>
              <a:ext cx="48" cy="48"/>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0" name="Line 16"/>
            <p:cNvSpPr>
              <a:spLocks noChangeShapeType="1"/>
            </p:cNvSpPr>
            <p:nvPr/>
          </p:nvSpPr>
          <p:spPr bwMode="auto">
            <a:xfrm>
              <a:off x="3024" y="3600"/>
              <a:ext cx="576"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621" name="Line 17"/>
            <p:cNvSpPr>
              <a:spLocks noChangeShapeType="1"/>
            </p:cNvSpPr>
            <p:nvPr/>
          </p:nvSpPr>
          <p:spPr bwMode="auto">
            <a:xfrm>
              <a:off x="3600" y="3600"/>
              <a:ext cx="48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622" name="Oval 18"/>
            <p:cNvSpPr>
              <a:spLocks noChangeArrowheads="1"/>
            </p:cNvSpPr>
            <p:nvPr/>
          </p:nvSpPr>
          <p:spPr bwMode="auto">
            <a:xfrm>
              <a:off x="4080" y="3552"/>
              <a:ext cx="48" cy="48"/>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3" name="Oval 19"/>
            <p:cNvSpPr>
              <a:spLocks noChangeArrowheads="1"/>
            </p:cNvSpPr>
            <p:nvPr/>
          </p:nvSpPr>
          <p:spPr bwMode="auto">
            <a:xfrm>
              <a:off x="3600" y="3552"/>
              <a:ext cx="48" cy="48"/>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4" name="Oval 20"/>
            <p:cNvSpPr>
              <a:spLocks noChangeArrowheads="1"/>
            </p:cNvSpPr>
            <p:nvPr/>
          </p:nvSpPr>
          <p:spPr bwMode="auto">
            <a:xfrm>
              <a:off x="2400" y="3600"/>
              <a:ext cx="48" cy="48"/>
            </a:xfrm>
            <a:prstGeom prst="ellipse">
              <a:avLst/>
            </a:prstGeom>
            <a:solidFill>
              <a:srgbClr val="FF33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5625" name="Text Box 21"/>
            <p:cNvSpPr txBox="1">
              <a:spLocks noChangeArrowheads="1"/>
            </p:cNvSpPr>
            <p:nvPr/>
          </p:nvSpPr>
          <p:spPr bwMode="auto">
            <a:xfrm>
              <a:off x="528" y="3696"/>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dirty="0" err="1">
                  <a:latin typeface="Times New Roman" pitchFamily="18" charset="0"/>
                </a:rPr>
                <a:t>V</a:t>
              </a:r>
              <a:r>
                <a:rPr kumimoji="1" lang="en-US" altLang="zh-CN" b="1" baseline="-25000" dirty="0" err="1">
                  <a:latin typeface="Times New Roman" pitchFamily="18" charset="0"/>
                </a:rPr>
                <a:t>j</a:t>
              </a:r>
              <a:endParaRPr kumimoji="1" lang="en-US" altLang="zh-CN" b="1" baseline="-25000" dirty="0">
                <a:latin typeface="Times New Roman" pitchFamily="18" charset="0"/>
              </a:endParaRPr>
            </a:p>
          </p:txBody>
        </p:sp>
        <p:sp>
          <p:nvSpPr>
            <p:cNvPr id="25626" name="Text Box 22"/>
            <p:cNvSpPr txBox="1">
              <a:spLocks noChangeArrowheads="1"/>
            </p:cNvSpPr>
            <p:nvPr/>
          </p:nvSpPr>
          <p:spPr bwMode="auto">
            <a:xfrm>
              <a:off x="3936" y="3696"/>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dirty="0" err="1">
                  <a:latin typeface="Times New Roman" pitchFamily="18" charset="0"/>
                </a:rPr>
                <a:t>V</a:t>
              </a:r>
              <a:r>
                <a:rPr kumimoji="1" lang="en-US" altLang="zh-CN" b="1" baseline="-25000" dirty="0" err="1">
                  <a:latin typeface="Times New Roman" pitchFamily="18" charset="0"/>
                </a:rPr>
                <a:t>k</a:t>
              </a:r>
              <a:endParaRPr kumimoji="1" lang="en-US" altLang="zh-CN" b="1" baseline="-25000" dirty="0">
                <a:latin typeface="Times New Roman" pitchFamily="18" charset="0"/>
              </a:endParaRPr>
            </a:p>
          </p:txBody>
        </p:sp>
        <p:sp>
          <p:nvSpPr>
            <p:cNvPr id="25627" name="Text Box 23"/>
            <p:cNvSpPr txBox="1">
              <a:spLocks noChangeArrowheads="1"/>
            </p:cNvSpPr>
            <p:nvPr/>
          </p:nvSpPr>
          <p:spPr bwMode="auto">
            <a:xfrm>
              <a:off x="2208" y="3696"/>
              <a:ext cx="48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dirty="0" err="1">
                  <a:latin typeface="Times New Roman" pitchFamily="18" charset="0"/>
                </a:rPr>
                <a:t>V</a:t>
              </a:r>
              <a:r>
                <a:rPr kumimoji="1" lang="en-US" altLang="zh-CN" b="1" baseline="-25000" dirty="0" err="1">
                  <a:latin typeface="Times New Roman" pitchFamily="18" charset="0"/>
                </a:rPr>
                <a:t>s</a:t>
              </a:r>
              <a:endParaRPr kumimoji="1" lang="en-US" altLang="zh-CN" b="1" baseline="-25000" dirty="0">
                <a:latin typeface="Times New Roman" pitchFamily="18" charset="0"/>
              </a:endParaRPr>
            </a:p>
          </p:txBody>
        </p:sp>
      </p:grpSp>
      <p:sp>
        <p:nvSpPr>
          <p:cNvPr id="173080" name="Rectangle 24"/>
          <p:cNvSpPr>
            <a:spLocks noChangeArrowheads="1"/>
          </p:cNvSpPr>
          <p:nvPr/>
        </p:nvSpPr>
        <p:spPr bwMode="auto">
          <a:xfrm>
            <a:off x="900113" y="2060575"/>
            <a:ext cx="8104187" cy="2830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kumimoji="1" lang="zh-CN" altLang="en-US" b="1" dirty="0">
                <a:latin typeface="Times New Roman" pitchFamily="18" charset="0"/>
              </a:rPr>
              <a:t>从结点</a:t>
            </a:r>
            <a:r>
              <a:rPr kumimoji="1" lang="en-US" altLang="zh-CN" b="1" dirty="0" err="1">
                <a:latin typeface="Times New Roman" pitchFamily="18" charset="0"/>
              </a:rPr>
              <a:t>v</a:t>
            </a:r>
            <a:r>
              <a:rPr kumimoji="1" lang="en-US" altLang="zh-CN" b="1" baseline="-25000" dirty="0" err="1">
                <a:latin typeface="Times New Roman" pitchFamily="18" charset="0"/>
              </a:rPr>
              <a:t>j</a:t>
            </a:r>
            <a:r>
              <a:rPr kumimoji="1" lang="zh-CN" altLang="en-US" b="1" dirty="0">
                <a:latin typeface="Times New Roman" pitchFamily="18" charset="0"/>
              </a:rPr>
              <a:t>到</a:t>
            </a:r>
            <a:r>
              <a:rPr kumimoji="1" lang="en-US" altLang="zh-CN" b="1" dirty="0" err="1">
                <a:latin typeface="Times New Roman" pitchFamily="18" charset="0"/>
              </a:rPr>
              <a:t>v</a:t>
            </a:r>
            <a:r>
              <a:rPr kumimoji="1" lang="en-US" altLang="zh-CN" b="1" baseline="-25000" dirty="0" err="1">
                <a:latin typeface="Times New Roman" pitchFamily="18" charset="0"/>
              </a:rPr>
              <a:t>k</a:t>
            </a:r>
            <a:r>
              <a:rPr kumimoji="1" lang="zh-CN" altLang="en-US" b="1" dirty="0">
                <a:latin typeface="Times New Roman" pitchFamily="18" charset="0"/>
              </a:rPr>
              <a:t>存在一条路的边数为</a:t>
            </a:r>
            <a:r>
              <a:rPr kumimoji="1" lang="en-US" altLang="zh-CN" b="1" i="1" dirty="0">
                <a:latin typeface="Times New Roman" pitchFamily="18" charset="0"/>
              </a:rPr>
              <a:t>l</a:t>
            </a:r>
            <a:r>
              <a:rPr kumimoji="1" lang="en-US" altLang="zh-CN" b="1" dirty="0">
                <a:latin typeface="Times New Roman" pitchFamily="18" charset="0"/>
              </a:rPr>
              <a:t>, </a:t>
            </a:r>
            <a:r>
              <a:rPr kumimoji="1" lang="zh-CN" altLang="en-US" b="1" dirty="0">
                <a:latin typeface="Times New Roman" pitchFamily="18" charset="0"/>
              </a:rPr>
              <a:t>路含有结点数</a:t>
            </a:r>
            <a:r>
              <a:rPr kumimoji="1" lang="en-US" altLang="zh-CN" b="1" dirty="0">
                <a:latin typeface="Times New Roman" pitchFamily="18" charset="0"/>
              </a:rPr>
              <a:t>p=</a:t>
            </a:r>
            <a:r>
              <a:rPr kumimoji="1" lang="en-US" altLang="zh-CN" b="1" i="1" dirty="0">
                <a:latin typeface="Times New Roman" pitchFamily="18" charset="0"/>
              </a:rPr>
              <a:t>l</a:t>
            </a:r>
            <a:r>
              <a:rPr kumimoji="1" lang="en-US" altLang="zh-CN" b="1" dirty="0">
                <a:latin typeface="Times New Roman" pitchFamily="18" charset="0"/>
              </a:rPr>
              <a:t>+1</a:t>
            </a:r>
            <a:r>
              <a:rPr kumimoji="1" lang="zh-CN" altLang="en-US" b="1" dirty="0">
                <a:latin typeface="Times New Roman" pitchFamily="18" charset="0"/>
              </a:rPr>
              <a:t>，</a:t>
            </a:r>
          </a:p>
          <a:p>
            <a:pPr>
              <a:lnSpc>
                <a:spcPct val="150000"/>
              </a:lnSpc>
            </a:pPr>
            <a:r>
              <a:rPr kumimoji="1" lang="zh-CN" altLang="en-US" b="1" dirty="0">
                <a:latin typeface="Times New Roman" pitchFamily="18" charset="0"/>
              </a:rPr>
              <a:t>当</a:t>
            </a:r>
            <a:r>
              <a:rPr kumimoji="1" lang="en-US" altLang="zh-CN" b="1" i="1" dirty="0">
                <a:latin typeface="Times New Roman" pitchFamily="18" charset="0"/>
              </a:rPr>
              <a:t>l </a:t>
            </a:r>
            <a:r>
              <a:rPr kumimoji="1" lang="en-US" altLang="zh-CN" b="1" dirty="0">
                <a:latin typeface="Times New Roman" pitchFamily="18" charset="0"/>
              </a:rPr>
              <a:t>&gt;n-1</a:t>
            </a:r>
            <a:r>
              <a:rPr kumimoji="1" lang="zh-CN" altLang="en-US" b="1" dirty="0">
                <a:latin typeface="Times New Roman" pitchFamily="18" charset="0"/>
              </a:rPr>
              <a:t>时</a:t>
            </a:r>
            <a:r>
              <a:rPr kumimoji="1" lang="en-US" altLang="zh-CN" b="1" dirty="0">
                <a:latin typeface="Times New Roman" pitchFamily="18" charset="0"/>
              </a:rPr>
              <a:t>, p&gt;n</a:t>
            </a:r>
          </a:p>
          <a:p>
            <a:pPr>
              <a:lnSpc>
                <a:spcPct val="150000"/>
              </a:lnSpc>
            </a:pPr>
            <a:r>
              <a:rPr kumimoji="1" lang="zh-CN" altLang="en-US" b="1" dirty="0">
                <a:latin typeface="Times New Roman" pitchFamily="18" charset="0"/>
              </a:rPr>
              <a:t>存在重复结点</a:t>
            </a:r>
            <a:r>
              <a:rPr kumimoji="1" lang="en-US" altLang="zh-CN" b="1" dirty="0" err="1">
                <a:latin typeface="Times New Roman" pitchFamily="18" charset="0"/>
              </a:rPr>
              <a:t>V</a:t>
            </a:r>
            <a:r>
              <a:rPr kumimoji="1" lang="en-US" altLang="zh-CN" b="1" baseline="-25000" dirty="0" err="1">
                <a:latin typeface="Times New Roman" pitchFamily="18" charset="0"/>
              </a:rPr>
              <a:t>s</a:t>
            </a:r>
            <a:r>
              <a:rPr kumimoji="1" lang="en-US" altLang="zh-CN" b="1" dirty="0">
                <a:latin typeface="Times New Roman" pitchFamily="18" charset="0"/>
              </a:rPr>
              <a:t>,     </a:t>
            </a:r>
            <a:r>
              <a:rPr kumimoji="1" lang="en-US" altLang="zh-CN" b="1" dirty="0" err="1">
                <a:latin typeface="Times New Roman" pitchFamily="18" charset="0"/>
              </a:rPr>
              <a:t>V</a:t>
            </a:r>
            <a:r>
              <a:rPr kumimoji="1" lang="en-US" altLang="zh-CN" b="1" baseline="-25000" dirty="0" err="1">
                <a:latin typeface="Times New Roman" pitchFamily="18" charset="0"/>
              </a:rPr>
              <a:t>j</a:t>
            </a:r>
            <a:r>
              <a:rPr kumimoji="1" lang="en-US" altLang="zh-CN" b="1" dirty="0">
                <a:solidFill>
                  <a:srgbClr val="0033CC"/>
                </a:solidFill>
                <a:latin typeface="Times New Roman" pitchFamily="18" charset="0"/>
              </a:rPr>
              <a:t>…</a:t>
            </a:r>
            <a:r>
              <a:rPr kumimoji="1" lang="en-US" altLang="zh-CN" b="1" dirty="0" err="1">
                <a:latin typeface="Times New Roman" pitchFamily="18" charset="0"/>
              </a:rPr>
              <a:t>V</a:t>
            </a:r>
            <a:r>
              <a:rPr kumimoji="1" lang="en-US" altLang="zh-CN" b="1" baseline="-25000" dirty="0" err="1">
                <a:latin typeface="Times New Roman" pitchFamily="18" charset="0"/>
              </a:rPr>
              <a:t>s</a:t>
            </a:r>
            <a:r>
              <a:rPr kumimoji="1" lang="en-US" altLang="zh-CN" b="1" dirty="0">
                <a:solidFill>
                  <a:srgbClr val="FF3300"/>
                </a:solidFill>
                <a:latin typeface="Times New Roman" pitchFamily="18" charset="0"/>
              </a:rPr>
              <a:t>…</a:t>
            </a:r>
            <a:r>
              <a:rPr kumimoji="1" lang="en-US" altLang="zh-CN" b="1" dirty="0" err="1">
                <a:latin typeface="Times New Roman" pitchFamily="18" charset="0"/>
              </a:rPr>
              <a:t>V</a:t>
            </a:r>
            <a:r>
              <a:rPr kumimoji="1" lang="en-US" altLang="zh-CN" b="1" baseline="-25000" dirty="0" err="1">
                <a:latin typeface="Times New Roman" pitchFamily="18" charset="0"/>
              </a:rPr>
              <a:t>s</a:t>
            </a:r>
            <a:r>
              <a:rPr kumimoji="1" lang="en-US" altLang="zh-CN" b="1" dirty="0">
                <a:solidFill>
                  <a:srgbClr val="339933"/>
                </a:solidFill>
                <a:latin typeface="Times New Roman" pitchFamily="18" charset="0"/>
              </a:rPr>
              <a:t>…</a:t>
            </a:r>
            <a:r>
              <a:rPr kumimoji="1" lang="en-US" altLang="zh-CN" b="1" dirty="0" err="1">
                <a:latin typeface="Times New Roman" pitchFamily="18" charset="0"/>
              </a:rPr>
              <a:t>V</a:t>
            </a:r>
            <a:r>
              <a:rPr kumimoji="1" lang="en-US" altLang="zh-CN" b="1" baseline="-25000" dirty="0" err="1">
                <a:latin typeface="Times New Roman" pitchFamily="18" charset="0"/>
              </a:rPr>
              <a:t>k</a:t>
            </a:r>
            <a:endParaRPr kumimoji="1" lang="en-US" altLang="zh-CN" b="1" baseline="-25000" dirty="0">
              <a:latin typeface="Times New Roman" pitchFamily="18" charset="0"/>
            </a:endParaRPr>
          </a:p>
          <a:p>
            <a:pPr>
              <a:lnSpc>
                <a:spcPct val="150000"/>
              </a:lnSpc>
            </a:pPr>
            <a:r>
              <a:rPr kumimoji="1" lang="zh-CN" altLang="en-US" b="1" dirty="0">
                <a:latin typeface="Times New Roman" pitchFamily="18" charset="0"/>
              </a:rPr>
              <a:t>构造新的路</a:t>
            </a:r>
            <a:r>
              <a:rPr kumimoji="1" lang="en-US" altLang="zh-CN" b="1" dirty="0" err="1">
                <a:latin typeface="Times New Roman" pitchFamily="18" charset="0"/>
              </a:rPr>
              <a:t>V</a:t>
            </a:r>
            <a:r>
              <a:rPr kumimoji="1" lang="en-US" altLang="zh-CN" b="1" baseline="-25000" dirty="0" err="1">
                <a:latin typeface="Times New Roman" pitchFamily="18" charset="0"/>
              </a:rPr>
              <a:t>j</a:t>
            </a:r>
            <a:r>
              <a:rPr kumimoji="1" lang="en-US" altLang="zh-CN" b="1" dirty="0">
                <a:solidFill>
                  <a:srgbClr val="0033CC"/>
                </a:solidFill>
                <a:latin typeface="Times New Roman" pitchFamily="18" charset="0"/>
              </a:rPr>
              <a:t>…</a:t>
            </a:r>
            <a:r>
              <a:rPr kumimoji="1" lang="en-US" altLang="zh-CN" b="1" dirty="0" err="1">
                <a:latin typeface="Times New Roman" pitchFamily="18" charset="0"/>
              </a:rPr>
              <a:t>V</a:t>
            </a:r>
            <a:r>
              <a:rPr kumimoji="1" lang="en-US" altLang="zh-CN" b="1" baseline="-25000" dirty="0" err="1">
                <a:latin typeface="Times New Roman" pitchFamily="18" charset="0"/>
              </a:rPr>
              <a:t>s</a:t>
            </a:r>
            <a:r>
              <a:rPr kumimoji="1" lang="en-US" altLang="zh-CN" b="1" dirty="0">
                <a:solidFill>
                  <a:srgbClr val="339933"/>
                </a:solidFill>
                <a:latin typeface="Times New Roman" pitchFamily="18" charset="0"/>
              </a:rPr>
              <a:t>…</a:t>
            </a:r>
            <a:r>
              <a:rPr kumimoji="1" lang="en-US" altLang="zh-CN" b="1" dirty="0" err="1">
                <a:latin typeface="Times New Roman" pitchFamily="18" charset="0"/>
              </a:rPr>
              <a:t>V</a:t>
            </a:r>
            <a:r>
              <a:rPr kumimoji="1" lang="en-US" altLang="zh-CN" b="1" baseline="-25000" dirty="0" err="1">
                <a:latin typeface="Times New Roman" pitchFamily="18" charset="0"/>
              </a:rPr>
              <a:t>k</a:t>
            </a:r>
            <a:endParaRPr kumimoji="1" lang="en-US" altLang="zh-CN" b="1" baseline="-25000" dirty="0">
              <a:latin typeface="Times New Roman" pitchFamily="18" charset="0"/>
            </a:endParaRPr>
          </a:p>
          <a:p>
            <a:pPr>
              <a:lnSpc>
                <a:spcPct val="150000"/>
              </a:lnSpc>
            </a:pPr>
            <a:r>
              <a:rPr kumimoji="1" lang="zh-CN" altLang="en-US" b="1" dirty="0">
                <a:latin typeface="Times New Roman" pitchFamily="18" charset="0"/>
              </a:rPr>
              <a:t>如果新路的边数</a:t>
            </a:r>
            <a:r>
              <a:rPr kumimoji="1" lang="en-US" altLang="zh-CN" b="1" dirty="0">
                <a:latin typeface="Times New Roman" pitchFamily="18" charset="0"/>
              </a:rPr>
              <a:t>l&gt;n-1</a:t>
            </a:r>
          </a:p>
        </p:txBody>
      </p:sp>
      <p:sp>
        <p:nvSpPr>
          <p:cNvPr id="173081" name="Freeform 25"/>
          <p:cNvSpPr>
            <a:spLocks/>
          </p:cNvSpPr>
          <p:nvPr/>
        </p:nvSpPr>
        <p:spPr bwMode="auto">
          <a:xfrm>
            <a:off x="250825" y="3571875"/>
            <a:ext cx="469900" cy="1054100"/>
          </a:xfrm>
          <a:custGeom>
            <a:avLst/>
            <a:gdLst>
              <a:gd name="T0" fmla="*/ 393700 w 296"/>
              <a:gd name="T1" fmla="*/ 1054100 h 528"/>
              <a:gd name="T2" fmla="*/ 12700 w 296"/>
              <a:gd name="T3" fmla="*/ 287482 h 528"/>
              <a:gd name="T4" fmla="*/ 469900 w 296"/>
              <a:gd name="T5" fmla="*/ 0 h 528"/>
              <a:gd name="T6" fmla="*/ 0 60000 65536"/>
              <a:gd name="T7" fmla="*/ 0 60000 65536"/>
              <a:gd name="T8" fmla="*/ 0 60000 65536"/>
            </a:gdLst>
            <a:ahLst/>
            <a:cxnLst>
              <a:cxn ang="T6">
                <a:pos x="T0" y="T1"/>
              </a:cxn>
              <a:cxn ang="T7">
                <a:pos x="T2" y="T3"/>
              </a:cxn>
              <a:cxn ang="T8">
                <a:pos x="T4" y="T5"/>
              </a:cxn>
            </a:cxnLst>
            <a:rect l="0" t="0" r="r" b="b"/>
            <a:pathLst>
              <a:path w="296" h="528">
                <a:moveTo>
                  <a:pt x="248" y="528"/>
                </a:moveTo>
                <a:cubicBezTo>
                  <a:pt x="124" y="380"/>
                  <a:pt x="0" y="232"/>
                  <a:pt x="8" y="144"/>
                </a:cubicBezTo>
                <a:cubicBezTo>
                  <a:pt x="16" y="56"/>
                  <a:pt x="156" y="28"/>
                  <a:pt x="296" y="0"/>
                </a:cubicBezTo>
              </a:path>
            </a:pathLst>
          </a:custGeom>
          <a:noFill/>
          <a:ln w="38100" cmpd="sng">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173082" name="Text Box 26"/>
          <p:cNvSpPr txBox="1">
            <a:spLocks noChangeArrowheads="1"/>
          </p:cNvSpPr>
          <p:nvPr/>
        </p:nvSpPr>
        <p:spPr bwMode="auto">
          <a:xfrm>
            <a:off x="323850" y="5373688"/>
            <a:ext cx="85693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50000"/>
              </a:lnSpc>
              <a:buClr>
                <a:schemeClr val="bg1"/>
              </a:buClr>
            </a:pPr>
            <a:r>
              <a:rPr kumimoji="1" lang="zh-CN" altLang="en-US" b="1">
                <a:solidFill>
                  <a:srgbClr val="0000CC"/>
                </a:solidFill>
                <a:latin typeface="Times New Roman" pitchFamily="18" charset="0"/>
              </a:rPr>
              <a:t>推论：</a:t>
            </a:r>
            <a:r>
              <a:rPr kumimoji="1" lang="zh-CN" altLang="en-US" b="1">
                <a:latin typeface="Times New Roman" pitchFamily="18" charset="0"/>
              </a:rPr>
              <a:t>在一个具有</a:t>
            </a:r>
            <a:r>
              <a:rPr kumimoji="1" lang="en-US" altLang="zh-CN" b="1">
                <a:latin typeface="Times New Roman" pitchFamily="18" charset="0"/>
              </a:rPr>
              <a:t>n</a:t>
            </a:r>
            <a:r>
              <a:rPr kumimoji="1" lang="zh-CN" altLang="en-US" b="1">
                <a:latin typeface="Times New Roman" pitchFamily="18" charset="0"/>
              </a:rPr>
              <a:t>个结点的图中，若从结点</a:t>
            </a:r>
            <a:r>
              <a:rPr kumimoji="1" lang="en-US" altLang="zh-CN" b="1">
                <a:latin typeface="Times New Roman" pitchFamily="18" charset="0"/>
              </a:rPr>
              <a:t>v</a:t>
            </a:r>
            <a:r>
              <a:rPr kumimoji="1" lang="en-US" altLang="zh-CN" b="1" baseline="-25000">
                <a:latin typeface="Times New Roman" pitchFamily="18" charset="0"/>
              </a:rPr>
              <a:t>j</a:t>
            </a:r>
            <a:r>
              <a:rPr kumimoji="1" lang="zh-CN" altLang="en-US" b="1">
                <a:latin typeface="Times New Roman" pitchFamily="18" charset="0"/>
              </a:rPr>
              <a:t>到</a:t>
            </a:r>
            <a:r>
              <a:rPr kumimoji="1" lang="en-US" altLang="zh-CN" b="1">
                <a:latin typeface="Times New Roman" pitchFamily="18" charset="0"/>
              </a:rPr>
              <a:t>v</a:t>
            </a:r>
            <a:r>
              <a:rPr kumimoji="1" lang="en-US" altLang="zh-CN" b="1" baseline="-25000">
                <a:latin typeface="Times New Roman" pitchFamily="18" charset="0"/>
              </a:rPr>
              <a:t>k</a:t>
            </a:r>
            <a:r>
              <a:rPr kumimoji="1" lang="zh-CN" altLang="en-US" b="1">
                <a:latin typeface="Times New Roman" pitchFamily="18" charset="0"/>
              </a:rPr>
              <a:t>存在一条路，则必存在一条从</a:t>
            </a:r>
            <a:r>
              <a:rPr kumimoji="1" lang="en-US" altLang="zh-CN" b="1">
                <a:latin typeface="Times New Roman" pitchFamily="18" charset="0"/>
              </a:rPr>
              <a:t>v</a:t>
            </a:r>
            <a:r>
              <a:rPr kumimoji="1" lang="en-US" altLang="zh-CN" b="1" baseline="-25000">
                <a:latin typeface="Times New Roman" pitchFamily="18" charset="0"/>
              </a:rPr>
              <a:t>j</a:t>
            </a:r>
            <a:r>
              <a:rPr kumimoji="1" lang="zh-CN" altLang="en-US" b="1">
                <a:latin typeface="Times New Roman" pitchFamily="18" charset="0"/>
              </a:rPr>
              <a:t>到</a:t>
            </a:r>
            <a:r>
              <a:rPr kumimoji="1" lang="en-US" altLang="zh-CN" b="1">
                <a:latin typeface="Times New Roman" pitchFamily="18" charset="0"/>
              </a:rPr>
              <a:t>v</a:t>
            </a:r>
            <a:r>
              <a:rPr kumimoji="1" lang="en-US" altLang="zh-CN" b="1" baseline="-25000">
                <a:latin typeface="Times New Roman" pitchFamily="18" charset="0"/>
              </a:rPr>
              <a:t>k</a:t>
            </a:r>
            <a:r>
              <a:rPr kumimoji="1" lang="zh-CN" altLang="en-US" b="1">
                <a:latin typeface="Times New Roman" pitchFamily="18" charset="0"/>
              </a:rPr>
              <a:t>而边数小于</a:t>
            </a:r>
            <a:r>
              <a:rPr kumimoji="1" lang="en-US" altLang="zh-CN" b="1">
                <a:latin typeface="Times New Roman" pitchFamily="18" charset="0"/>
              </a:rPr>
              <a:t>n</a:t>
            </a:r>
            <a:r>
              <a:rPr kumimoji="1" lang="zh-CN" altLang="en-US" b="1">
                <a:latin typeface="Times New Roman" pitchFamily="18" charset="0"/>
              </a:rPr>
              <a:t>的通路。</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173080">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173080">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173080">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173059"/>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499"/>
                                          </p:stCondLst>
                                        </p:cTn>
                                        <p:tgtEl>
                                          <p:spTgt spid="173080">
                                            <p:txEl>
                                              <p:pRg st="3" end="3"/>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499"/>
                                          </p:stCondLst>
                                        </p:cTn>
                                        <p:tgtEl>
                                          <p:spTgt spid="173080">
                                            <p:txEl>
                                              <p:pRg st="4" end="4"/>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499"/>
                                          </p:stCondLst>
                                        </p:cTn>
                                        <p:tgtEl>
                                          <p:spTgt spid="17308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30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3080" grpId="0" build="p" autoUpdateAnimBg="0"/>
      <p:bldP spid="173081" grpId="0" animBg="1"/>
      <p:bldP spid="173082"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1"/>
          </p:nvPr>
        </p:nvSpPr>
        <p:spPr/>
        <p:txBody>
          <a:bodyPr/>
          <a:lstStyle/>
          <a:p>
            <a:pPr>
              <a:defRPr/>
            </a:pPr>
            <a:fld id="{4DD49C48-D7D7-4F64-A0DB-17B9E20ECB93}" type="slidenum">
              <a:rPr lang="en-US" altLang="zh-CN"/>
              <a:pPr>
                <a:defRPr/>
              </a:pPr>
              <a:t>22</a:t>
            </a:fld>
            <a:endParaRPr lang="en-US" altLang="zh-CN"/>
          </a:p>
        </p:txBody>
      </p:sp>
      <p:sp>
        <p:nvSpPr>
          <p:cNvPr id="26627" name="Rectangle 4"/>
          <p:cNvSpPr>
            <a:spLocks noChangeArrowheads="1"/>
          </p:cNvSpPr>
          <p:nvPr/>
        </p:nvSpPr>
        <p:spPr bwMode="auto">
          <a:xfrm>
            <a:off x="466725" y="1163638"/>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bg1"/>
              </a:buClr>
            </a:pPr>
            <a:r>
              <a:rPr kumimoji="1" lang="zh-CN" altLang="en-US" b="1">
                <a:solidFill>
                  <a:srgbClr val="0000CC"/>
                </a:solidFill>
                <a:latin typeface="Times New Roman" pitchFamily="18" charset="0"/>
              </a:rPr>
              <a:t>定义</a:t>
            </a:r>
            <a:r>
              <a:rPr kumimoji="1" lang="en-US" altLang="zh-CN" b="1">
                <a:solidFill>
                  <a:srgbClr val="0000CC"/>
                </a:solidFill>
                <a:latin typeface="Times New Roman" pitchFamily="18" charset="0"/>
              </a:rPr>
              <a:t>7-2.2</a:t>
            </a:r>
            <a:r>
              <a:rPr kumimoji="1" lang="zh-CN" altLang="en-US" b="1">
                <a:solidFill>
                  <a:srgbClr val="0000CC"/>
                </a:solidFill>
                <a:latin typeface="Times New Roman" pitchFamily="18" charset="0"/>
              </a:rPr>
              <a:t>：</a:t>
            </a:r>
            <a:r>
              <a:rPr kumimoji="1" lang="zh-CN" altLang="en-US" b="1">
                <a:latin typeface="Times New Roman" pitchFamily="18" charset="0"/>
              </a:rPr>
              <a:t>在无向图</a:t>
            </a:r>
            <a:r>
              <a:rPr kumimoji="1" lang="en-US" altLang="zh-CN" b="1">
                <a:latin typeface="Times New Roman" pitchFamily="18" charset="0"/>
              </a:rPr>
              <a:t>G</a:t>
            </a:r>
            <a:r>
              <a:rPr kumimoji="1" lang="zh-CN" altLang="en-US" b="1">
                <a:latin typeface="Times New Roman" pitchFamily="18" charset="0"/>
              </a:rPr>
              <a:t>中，结点</a:t>
            </a:r>
            <a:r>
              <a:rPr kumimoji="1" lang="en-US" altLang="zh-CN" b="1">
                <a:latin typeface="Times New Roman" pitchFamily="18" charset="0"/>
              </a:rPr>
              <a:t>u</a:t>
            </a:r>
            <a:r>
              <a:rPr kumimoji="1" lang="zh-CN" altLang="en-US" b="1">
                <a:latin typeface="Times New Roman" pitchFamily="18" charset="0"/>
              </a:rPr>
              <a:t>和</a:t>
            </a:r>
            <a:r>
              <a:rPr kumimoji="1" lang="en-US" altLang="zh-CN" b="1">
                <a:latin typeface="Times New Roman" pitchFamily="18" charset="0"/>
              </a:rPr>
              <a:t>v</a:t>
            </a:r>
            <a:r>
              <a:rPr kumimoji="1" lang="zh-CN" altLang="en-US" b="1">
                <a:latin typeface="Times New Roman" pitchFamily="18" charset="0"/>
              </a:rPr>
              <a:t>之间若存在一条路，则称结点</a:t>
            </a:r>
            <a:r>
              <a:rPr kumimoji="1" lang="en-US" altLang="zh-CN" b="1">
                <a:latin typeface="Times New Roman" pitchFamily="18" charset="0"/>
              </a:rPr>
              <a:t>u</a:t>
            </a:r>
            <a:r>
              <a:rPr kumimoji="1" lang="zh-CN" altLang="en-US" b="1">
                <a:latin typeface="Times New Roman" pitchFamily="18" charset="0"/>
              </a:rPr>
              <a:t>和结点</a:t>
            </a:r>
            <a:r>
              <a:rPr kumimoji="1" lang="en-US" altLang="zh-CN" b="1">
                <a:latin typeface="Times New Roman" pitchFamily="18" charset="0"/>
              </a:rPr>
              <a:t>v</a:t>
            </a:r>
            <a:r>
              <a:rPr kumimoji="1" lang="zh-CN" altLang="en-US" b="1">
                <a:latin typeface="Times New Roman" pitchFamily="18" charset="0"/>
              </a:rPr>
              <a:t>是连通的。</a:t>
            </a:r>
          </a:p>
        </p:txBody>
      </p:sp>
      <p:sp>
        <p:nvSpPr>
          <p:cNvPr id="19462" name="Text Box 6"/>
          <p:cNvSpPr txBox="1">
            <a:spLocks noChangeArrowheads="1"/>
          </p:cNvSpPr>
          <p:nvPr/>
        </p:nvSpPr>
        <p:spPr bwMode="auto">
          <a:xfrm>
            <a:off x="466725" y="2133600"/>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a:solidFill>
                  <a:schemeClr val="bg2"/>
                </a:solidFill>
                <a:latin typeface="Times New Roman" pitchFamily="18" charset="0"/>
              </a:rPr>
              <a:t>对于图</a:t>
            </a:r>
            <a:r>
              <a:rPr kumimoji="1" lang="en-US" altLang="zh-CN" b="1">
                <a:solidFill>
                  <a:schemeClr val="bg2"/>
                </a:solidFill>
                <a:latin typeface="Times New Roman" pitchFamily="18" charset="0"/>
              </a:rPr>
              <a:t>G = &lt;V,E&gt;V</a:t>
            </a:r>
            <a:r>
              <a:rPr kumimoji="1" lang="zh-CN" altLang="en-US" b="1">
                <a:solidFill>
                  <a:schemeClr val="bg2"/>
                </a:solidFill>
                <a:latin typeface="Times New Roman" pitchFamily="18" charset="0"/>
              </a:rPr>
              <a:t>中结点间的连通关系是</a:t>
            </a:r>
            <a:r>
              <a:rPr kumimoji="1" lang="zh-CN" altLang="en-US" b="1">
                <a:solidFill>
                  <a:srgbClr val="0000CC"/>
                </a:solidFill>
                <a:latin typeface="Times New Roman" pitchFamily="18" charset="0"/>
              </a:rPr>
              <a:t>等价关系</a:t>
            </a:r>
            <a:r>
              <a:rPr kumimoji="1" lang="zh-CN" altLang="en-US" b="1">
                <a:solidFill>
                  <a:schemeClr val="bg2"/>
                </a:solidFill>
                <a:latin typeface="Times New Roman" pitchFamily="18" charset="0"/>
              </a:rPr>
              <a:t>，并将</a:t>
            </a:r>
            <a:r>
              <a:rPr kumimoji="1" lang="en-US" altLang="zh-CN" b="1">
                <a:solidFill>
                  <a:schemeClr val="bg2"/>
                </a:solidFill>
                <a:latin typeface="Times New Roman" pitchFamily="18" charset="0"/>
              </a:rPr>
              <a:t>V</a:t>
            </a:r>
            <a:r>
              <a:rPr kumimoji="1" lang="zh-CN" altLang="en-US" b="1">
                <a:solidFill>
                  <a:schemeClr val="bg2"/>
                </a:solidFill>
                <a:latin typeface="Times New Roman" pitchFamily="18" charset="0"/>
              </a:rPr>
              <a:t>划分称若干等价类</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1</a:t>
            </a:r>
            <a:r>
              <a:rPr kumimoji="1" lang="zh-CN" altLang="en-US" b="1">
                <a:solidFill>
                  <a:schemeClr val="bg2"/>
                </a:solidFill>
                <a:latin typeface="Times New Roman" pitchFamily="18" charset="0"/>
              </a:rPr>
              <a:t>，</a:t>
            </a:r>
            <a:r>
              <a:rPr kumimoji="1" lang="en-US" altLang="zh-CN" b="1">
                <a:solidFill>
                  <a:schemeClr val="bg2"/>
                </a:solidFill>
                <a:latin typeface="Times New Roman" pitchFamily="18" charset="0"/>
              </a:rPr>
              <a:t>…</a:t>
            </a:r>
            <a:r>
              <a:rPr kumimoji="1" lang="zh-CN" altLang="en-US" b="1">
                <a:solidFill>
                  <a:schemeClr val="bg2"/>
                </a:solidFill>
                <a:latin typeface="Times New Roman" pitchFamily="18" charset="0"/>
              </a:rPr>
              <a:t>，</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m</a:t>
            </a:r>
            <a:r>
              <a:rPr kumimoji="1" lang="zh-CN" altLang="en-US" b="1">
                <a:solidFill>
                  <a:schemeClr val="bg2"/>
                </a:solidFill>
                <a:latin typeface="Times New Roman" pitchFamily="18" charset="0"/>
              </a:rPr>
              <a:t>。若</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j</a:t>
            </a:r>
            <a:r>
              <a:rPr kumimoji="1" lang="zh-CN" altLang="en-US" b="1">
                <a:solidFill>
                  <a:schemeClr val="bg2"/>
                </a:solidFill>
                <a:latin typeface="Times New Roman" pitchFamily="18" charset="0"/>
              </a:rPr>
              <a:t>和</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k</a:t>
            </a:r>
            <a:r>
              <a:rPr kumimoji="1" lang="zh-CN" altLang="en-US" b="1">
                <a:solidFill>
                  <a:schemeClr val="bg2"/>
                </a:solidFill>
                <a:latin typeface="Times New Roman" pitchFamily="18" charset="0"/>
              </a:rPr>
              <a:t>是连通的，当且仅当</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j</a:t>
            </a:r>
            <a:r>
              <a:rPr kumimoji="1" lang="zh-CN" altLang="en-US" b="1">
                <a:solidFill>
                  <a:schemeClr val="bg2"/>
                </a:solidFill>
                <a:latin typeface="Times New Roman" pitchFamily="18" charset="0"/>
              </a:rPr>
              <a:t>和</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k</a:t>
            </a:r>
            <a:r>
              <a:rPr kumimoji="1" lang="zh-CN" altLang="en-US" b="1">
                <a:solidFill>
                  <a:schemeClr val="bg2"/>
                </a:solidFill>
                <a:latin typeface="Times New Roman" pitchFamily="18" charset="0"/>
              </a:rPr>
              <a:t>位于同一块</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i</a:t>
            </a:r>
            <a:r>
              <a:rPr kumimoji="1" lang="zh-CN" altLang="en-US" b="1">
                <a:solidFill>
                  <a:schemeClr val="bg2"/>
                </a:solidFill>
                <a:latin typeface="Times New Roman" pitchFamily="18" charset="0"/>
              </a:rPr>
              <a:t>中。</a:t>
            </a:r>
            <a:endParaRPr kumimoji="1" lang="zh-CN" altLang="en-US" b="1">
              <a:solidFill>
                <a:srgbClr val="0000CC"/>
              </a:solidFill>
              <a:latin typeface="Times New Roman" pitchFamily="18" charset="0"/>
            </a:endParaRPr>
          </a:p>
        </p:txBody>
      </p:sp>
      <p:sp>
        <p:nvSpPr>
          <p:cNvPr id="19463" name="Rectangle 7"/>
          <p:cNvSpPr>
            <a:spLocks noChangeArrowheads="1"/>
          </p:cNvSpPr>
          <p:nvPr/>
        </p:nvSpPr>
        <p:spPr bwMode="auto">
          <a:xfrm>
            <a:off x="466725" y="3573463"/>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bg1"/>
              </a:buClr>
            </a:pPr>
            <a:r>
              <a:rPr kumimoji="1" lang="zh-CN" altLang="en-US" b="1">
                <a:solidFill>
                  <a:srgbClr val="0000CC"/>
                </a:solidFill>
                <a:latin typeface="Times New Roman" pitchFamily="18" charset="0"/>
              </a:rPr>
              <a:t>定义：</a:t>
            </a:r>
            <a:r>
              <a:rPr kumimoji="1" lang="en-US" altLang="zh-CN" b="1">
                <a:solidFill>
                  <a:schemeClr val="bg2"/>
                </a:solidFill>
                <a:latin typeface="Times New Roman" pitchFamily="18" charset="0"/>
              </a:rPr>
              <a:t>G</a:t>
            </a:r>
            <a:r>
              <a:rPr kumimoji="1" lang="zh-CN" altLang="en-US" b="1">
                <a:solidFill>
                  <a:schemeClr val="bg2"/>
                </a:solidFill>
                <a:latin typeface="Times New Roman" pitchFamily="18" charset="0"/>
              </a:rPr>
              <a:t>的子图</a:t>
            </a:r>
            <a:r>
              <a:rPr kumimoji="1" lang="en-US" altLang="zh-CN" b="1">
                <a:solidFill>
                  <a:schemeClr val="bg2"/>
                </a:solidFill>
                <a:latin typeface="Times New Roman" pitchFamily="18" charset="0"/>
              </a:rPr>
              <a:t>G(V</a:t>
            </a:r>
            <a:r>
              <a:rPr kumimoji="1" lang="en-US" altLang="zh-CN" b="1" baseline="-25000">
                <a:solidFill>
                  <a:schemeClr val="bg2"/>
                </a:solidFill>
                <a:latin typeface="Times New Roman" pitchFamily="18" charset="0"/>
              </a:rPr>
              <a:t>1</a:t>
            </a:r>
            <a:r>
              <a:rPr kumimoji="1" lang="en-US" altLang="zh-CN" b="1">
                <a:solidFill>
                  <a:schemeClr val="bg2"/>
                </a:solidFill>
                <a:latin typeface="Times New Roman" pitchFamily="18" charset="0"/>
              </a:rPr>
              <a:t>)</a:t>
            </a:r>
            <a:r>
              <a:rPr kumimoji="1" lang="zh-CN" altLang="en-US" b="1">
                <a:solidFill>
                  <a:schemeClr val="bg2"/>
                </a:solidFill>
                <a:latin typeface="Times New Roman" pitchFamily="18" charset="0"/>
              </a:rPr>
              <a:t>，</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2</a:t>
            </a:r>
            <a:r>
              <a:rPr kumimoji="1" lang="en-US" altLang="zh-CN" b="1">
                <a:solidFill>
                  <a:schemeClr val="bg2"/>
                </a:solidFill>
                <a:latin typeface="Times New Roman" pitchFamily="18" charset="0"/>
              </a:rPr>
              <a:t>)</a:t>
            </a:r>
            <a:r>
              <a:rPr kumimoji="1" lang="zh-CN" altLang="en-US" b="1">
                <a:solidFill>
                  <a:schemeClr val="bg2"/>
                </a:solidFill>
                <a:latin typeface="Times New Roman" pitchFamily="18" charset="0"/>
              </a:rPr>
              <a:t>，</a:t>
            </a:r>
            <a:r>
              <a:rPr kumimoji="1" lang="en-US" altLang="zh-CN" b="1">
                <a:solidFill>
                  <a:schemeClr val="bg2"/>
                </a:solidFill>
                <a:latin typeface="Times New Roman" pitchFamily="18" charset="0"/>
              </a:rPr>
              <a:t>…</a:t>
            </a:r>
            <a:r>
              <a:rPr kumimoji="1" lang="zh-CN" altLang="en-US" b="1">
                <a:solidFill>
                  <a:schemeClr val="bg2"/>
                </a:solidFill>
                <a:latin typeface="Times New Roman" pitchFamily="18" charset="0"/>
              </a:rPr>
              <a:t>，</a:t>
            </a:r>
            <a:r>
              <a:rPr kumimoji="1" lang="en-US" altLang="zh-CN" b="1">
                <a:solidFill>
                  <a:schemeClr val="bg2"/>
                </a:solidFill>
                <a:latin typeface="Times New Roman" pitchFamily="18" charset="0"/>
              </a:rPr>
              <a:t>G(V</a:t>
            </a:r>
            <a:r>
              <a:rPr kumimoji="1" lang="en-US" altLang="zh-CN" b="1" baseline="-25000">
                <a:solidFill>
                  <a:schemeClr val="bg2"/>
                </a:solidFill>
                <a:latin typeface="Times New Roman" pitchFamily="18" charset="0"/>
              </a:rPr>
              <a:t>m</a:t>
            </a:r>
            <a:r>
              <a:rPr kumimoji="1" lang="en-US" altLang="zh-CN" b="1">
                <a:solidFill>
                  <a:schemeClr val="bg2"/>
                </a:solidFill>
                <a:latin typeface="Times New Roman" pitchFamily="18" charset="0"/>
              </a:rPr>
              <a:t>)</a:t>
            </a:r>
            <a:r>
              <a:rPr kumimoji="1" lang="zh-CN" altLang="en-US" b="1">
                <a:solidFill>
                  <a:schemeClr val="bg2"/>
                </a:solidFill>
                <a:latin typeface="Times New Roman" pitchFamily="18" charset="0"/>
              </a:rPr>
              <a:t>称为</a:t>
            </a:r>
            <a:r>
              <a:rPr kumimoji="1" lang="zh-CN" altLang="en-US" b="1" i="1">
                <a:solidFill>
                  <a:srgbClr val="0000CC"/>
                </a:solidFill>
                <a:latin typeface="Times New Roman" pitchFamily="18" charset="0"/>
              </a:rPr>
              <a:t>图</a:t>
            </a:r>
            <a:r>
              <a:rPr kumimoji="1" lang="en-US" altLang="zh-CN" b="1" i="1">
                <a:solidFill>
                  <a:srgbClr val="0000CC"/>
                </a:solidFill>
                <a:latin typeface="Times New Roman" pitchFamily="18" charset="0"/>
              </a:rPr>
              <a:t>G</a:t>
            </a:r>
            <a:r>
              <a:rPr kumimoji="1" lang="zh-CN" altLang="en-US" b="1" i="1">
                <a:solidFill>
                  <a:srgbClr val="0000CC"/>
                </a:solidFill>
                <a:latin typeface="Times New Roman" pitchFamily="18" charset="0"/>
              </a:rPr>
              <a:t>的连通分支</a:t>
            </a:r>
            <a:r>
              <a:rPr kumimoji="1" lang="zh-CN" altLang="en-US" b="1">
                <a:solidFill>
                  <a:schemeClr val="bg2"/>
                </a:solidFill>
                <a:latin typeface="Times New Roman" pitchFamily="18" charset="0"/>
              </a:rPr>
              <a:t>。图</a:t>
            </a:r>
            <a:r>
              <a:rPr kumimoji="1" lang="en-US" altLang="zh-CN" b="1">
                <a:solidFill>
                  <a:schemeClr val="bg2"/>
                </a:solidFill>
                <a:latin typeface="Times New Roman" pitchFamily="18" charset="0"/>
              </a:rPr>
              <a:t>G</a:t>
            </a:r>
            <a:r>
              <a:rPr kumimoji="1" lang="zh-CN" altLang="en-US" b="1">
                <a:solidFill>
                  <a:schemeClr val="bg2"/>
                </a:solidFill>
                <a:latin typeface="Times New Roman" pitchFamily="18" charset="0"/>
              </a:rPr>
              <a:t>的连通分支数记为</a:t>
            </a:r>
            <a:r>
              <a:rPr kumimoji="1" lang="en-US" altLang="zh-CN" b="1">
                <a:solidFill>
                  <a:srgbClr val="0000CC"/>
                </a:solidFill>
                <a:latin typeface="Times New Roman" pitchFamily="18" charset="0"/>
              </a:rPr>
              <a:t>W(G)(=m)</a:t>
            </a:r>
            <a:r>
              <a:rPr kumimoji="1" lang="zh-CN" altLang="en-US" b="1">
                <a:solidFill>
                  <a:schemeClr val="bg2"/>
                </a:solidFill>
                <a:latin typeface="Times New Roman" pitchFamily="18" charset="0"/>
              </a:rPr>
              <a:t>。</a:t>
            </a:r>
          </a:p>
        </p:txBody>
      </p:sp>
      <p:sp>
        <p:nvSpPr>
          <p:cNvPr id="26630" name="Rectangle 9"/>
          <p:cNvSpPr>
            <a:spLocks noChangeArrowheads="1"/>
          </p:cNvSpPr>
          <p:nvPr/>
        </p:nvSpPr>
        <p:spPr bwMode="auto">
          <a:xfrm>
            <a:off x="1116013" y="361950"/>
            <a:ext cx="6985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200" b="1">
                <a:solidFill>
                  <a:srgbClr val="993300"/>
                </a:solidFill>
                <a:latin typeface="楷体_GB2312" pitchFamily="49" charset="-122"/>
                <a:ea typeface="楷体_GB2312" pitchFamily="49" charset="-122"/>
              </a:rPr>
              <a:t>2. </a:t>
            </a:r>
            <a:r>
              <a:rPr kumimoji="1" lang="zh-CN" altLang="en-US" sz="3200" b="1">
                <a:solidFill>
                  <a:srgbClr val="993300"/>
                </a:solidFill>
                <a:latin typeface="楷体_GB2312" pitchFamily="49" charset="-122"/>
                <a:ea typeface="楷体_GB2312" pitchFamily="49" charset="-122"/>
              </a:rPr>
              <a:t>连通分支、连通图、连通度</a:t>
            </a:r>
          </a:p>
        </p:txBody>
      </p:sp>
    </p:spTree>
    <p:extLst>
      <p:ext uri="{BB962C8B-B14F-4D97-AF65-F5344CB8AC3E}">
        <p14:creationId xmlns:p14="http://schemas.microsoft.com/office/powerpoint/2010/main" val="1293424475"/>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462"/>
                                        </p:tgtEl>
                                        <p:attrNameLst>
                                          <p:attrName>style.visibility</p:attrName>
                                        </p:attrNameLst>
                                      </p:cBhvr>
                                      <p:to>
                                        <p:strVal val="visible"/>
                                      </p:to>
                                    </p:set>
                                    <p:anim calcmode="lin" valueType="num">
                                      <p:cBhvr additive="base">
                                        <p:cTn id="7" dur="500" fill="hold"/>
                                        <p:tgtEl>
                                          <p:spTgt spid="19462"/>
                                        </p:tgtEl>
                                        <p:attrNameLst>
                                          <p:attrName>ppt_x</p:attrName>
                                        </p:attrNameLst>
                                      </p:cBhvr>
                                      <p:tavLst>
                                        <p:tav tm="0">
                                          <p:val>
                                            <p:strVal val="#ppt_x"/>
                                          </p:val>
                                        </p:tav>
                                        <p:tav tm="100000">
                                          <p:val>
                                            <p:strVal val="#ppt_x"/>
                                          </p:val>
                                        </p:tav>
                                      </p:tavLst>
                                    </p:anim>
                                    <p:anim calcmode="lin" valueType="num">
                                      <p:cBhvr additive="base">
                                        <p:cTn id="8" dur="500" fill="hold"/>
                                        <p:tgtEl>
                                          <p:spTgt spid="1946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9463"/>
                                        </p:tgtEl>
                                        <p:attrNameLst>
                                          <p:attrName>style.visibility</p:attrName>
                                        </p:attrNameLst>
                                      </p:cBhvr>
                                      <p:to>
                                        <p:strVal val="visible"/>
                                      </p:to>
                                    </p:set>
                                    <p:anim calcmode="lin" valueType="num">
                                      <p:cBhvr additive="base">
                                        <p:cTn id="13" dur="500" fill="hold"/>
                                        <p:tgtEl>
                                          <p:spTgt spid="19463"/>
                                        </p:tgtEl>
                                        <p:attrNameLst>
                                          <p:attrName>ppt_x</p:attrName>
                                        </p:attrNameLst>
                                      </p:cBhvr>
                                      <p:tavLst>
                                        <p:tav tm="0">
                                          <p:val>
                                            <p:strVal val="#ppt_x"/>
                                          </p:val>
                                        </p:tav>
                                        <p:tav tm="100000">
                                          <p:val>
                                            <p:strVal val="#ppt_x"/>
                                          </p:val>
                                        </p:tav>
                                      </p:tavLst>
                                    </p:anim>
                                    <p:anim calcmode="lin" valueType="num">
                                      <p:cBhvr additive="base">
                                        <p:cTn id="14" dur="500" fill="hold"/>
                                        <p:tgtEl>
                                          <p:spTgt spid="1946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2" grpId="0"/>
      <p:bldP spid="1946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2"/>
          <p:cNvSpPr>
            <a:spLocks noGrp="1"/>
          </p:cNvSpPr>
          <p:nvPr>
            <p:ph type="sldNum" sz="quarter" idx="11"/>
          </p:nvPr>
        </p:nvSpPr>
        <p:spPr/>
        <p:txBody>
          <a:bodyPr/>
          <a:lstStyle/>
          <a:p>
            <a:pPr>
              <a:defRPr/>
            </a:pPr>
            <a:fld id="{CE444DD1-CCFE-41AD-A618-A77164BE7A3F}" type="slidenum">
              <a:rPr lang="en-US" altLang="zh-CN"/>
              <a:pPr>
                <a:defRPr/>
              </a:pPr>
              <a:t>23</a:t>
            </a:fld>
            <a:endParaRPr lang="en-US" altLang="zh-CN"/>
          </a:p>
        </p:txBody>
      </p:sp>
      <p:sp>
        <p:nvSpPr>
          <p:cNvPr id="20482" name="Text Box 2"/>
          <p:cNvSpPr txBox="1">
            <a:spLocks noChangeArrowheads="1"/>
          </p:cNvSpPr>
          <p:nvPr/>
        </p:nvSpPr>
        <p:spPr bwMode="auto">
          <a:xfrm>
            <a:off x="466725" y="3286125"/>
            <a:ext cx="8277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rgbClr val="0000CC"/>
                </a:solidFill>
                <a:latin typeface="Times New Roman" pitchFamily="18" charset="0"/>
              </a:rPr>
              <a:t>定义</a:t>
            </a:r>
            <a:r>
              <a:rPr kumimoji="1" lang="en-US" altLang="zh-CN" b="1">
                <a:solidFill>
                  <a:srgbClr val="0000CC"/>
                </a:solidFill>
                <a:latin typeface="Times New Roman" pitchFamily="18" charset="0"/>
              </a:rPr>
              <a:t>7-2.3</a:t>
            </a:r>
            <a:r>
              <a:rPr kumimoji="1" lang="zh-CN" altLang="en-US" b="1">
                <a:solidFill>
                  <a:srgbClr val="0000CC"/>
                </a:solidFill>
                <a:latin typeface="Times New Roman" pitchFamily="18" charset="0"/>
              </a:rPr>
              <a:t>：</a:t>
            </a:r>
            <a:r>
              <a:rPr kumimoji="1" lang="zh-CN" altLang="en-US" b="1">
                <a:latin typeface="Times New Roman" pitchFamily="18" charset="0"/>
              </a:rPr>
              <a:t>若图</a:t>
            </a:r>
            <a:r>
              <a:rPr kumimoji="1" lang="en-US" altLang="zh-CN" b="1">
                <a:latin typeface="Times New Roman" pitchFamily="18" charset="0"/>
              </a:rPr>
              <a:t>G</a:t>
            </a:r>
            <a:r>
              <a:rPr kumimoji="1" lang="zh-CN" altLang="en-US" b="1">
                <a:latin typeface="Times New Roman" pitchFamily="18" charset="0"/>
              </a:rPr>
              <a:t>只有一个连通分支，则称</a:t>
            </a:r>
            <a:r>
              <a:rPr kumimoji="1" lang="en-US" altLang="zh-CN" b="1" i="1">
                <a:solidFill>
                  <a:srgbClr val="0000CC"/>
                </a:solidFill>
                <a:latin typeface="Times New Roman" pitchFamily="18" charset="0"/>
              </a:rPr>
              <a:t>G</a:t>
            </a:r>
            <a:r>
              <a:rPr kumimoji="1" lang="zh-CN" altLang="en-US" b="1" i="1">
                <a:solidFill>
                  <a:srgbClr val="0000CC"/>
                </a:solidFill>
                <a:latin typeface="Times New Roman" pitchFamily="18" charset="0"/>
              </a:rPr>
              <a:t>是连通图</a:t>
            </a:r>
            <a:r>
              <a:rPr kumimoji="1" lang="zh-CN" altLang="en-US" b="1">
                <a:latin typeface="Times New Roman" pitchFamily="18" charset="0"/>
              </a:rPr>
              <a:t>。</a:t>
            </a:r>
          </a:p>
        </p:txBody>
      </p:sp>
      <p:sp>
        <p:nvSpPr>
          <p:cNvPr id="27652" name="Text Box 5"/>
          <p:cNvSpPr txBox="1">
            <a:spLocks noChangeArrowheads="1"/>
          </p:cNvSpPr>
          <p:nvPr/>
        </p:nvSpPr>
        <p:spPr bwMode="auto">
          <a:xfrm>
            <a:off x="466725" y="1125538"/>
            <a:ext cx="8277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bg1"/>
              </a:buClr>
            </a:pPr>
            <a:r>
              <a:rPr kumimoji="1" lang="zh-CN" altLang="en-US" b="1">
                <a:solidFill>
                  <a:schemeClr val="hlink"/>
                </a:solidFill>
                <a:latin typeface="Times New Roman" pitchFamily="18" charset="0"/>
              </a:rPr>
              <a:t>例：</a:t>
            </a:r>
            <a:r>
              <a:rPr kumimoji="1" lang="zh-CN" altLang="en-US" b="1">
                <a:solidFill>
                  <a:schemeClr val="bg2"/>
                </a:solidFill>
                <a:latin typeface="Times New Roman" pitchFamily="18" charset="0"/>
              </a:rPr>
              <a:t>图</a:t>
            </a:r>
            <a:r>
              <a:rPr kumimoji="1" lang="en-US" altLang="zh-CN" b="1">
                <a:solidFill>
                  <a:schemeClr val="bg2"/>
                </a:solidFill>
                <a:latin typeface="Times New Roman" pitchFamily="18" charset="0"/>
              </a:rPr>
              <a:t>G</a:t>
            </a:r>
            <a:r>
              <a:rPr kumimoji="1" lang="zh-CN" altLang="en-US" b="1">
                <a:solidFill>
                  <a:schemeClr val="bg2"/>
                </a:solidFill>
                <a:latin typeface="Times New Roman" pitchFamily="18" charset="0"/>
              </a:rPr>
              <a:t>如下图所示，指出其连通分支，并求</a:t>
            </a:r>
            <a:r>
              <a:rPr kumimoji="1" lang="en-US" altLang="zh-CN" b="1">
                <a:solidFill>
                  <a:schemeClr val="bg2"/>
                </a:solidFill>
                <a:latin typeface="Times New Roman" pitchFamily="18" charset="0"/>
              </a:rPr>
              <a:t>W(G)</a:t>
            </a:r>
            <a:r>
              <a:rPr kumimoji="1" lang="zh-CN" altLang="en-US" b="1">
                <a:solidFill>
                  <a:schemeClr val="bg2"/>
                </a:solidFill>
                <a:latin typeface="Times New Roman" pitchFamily="18" charset="0"/>
              </a:rPr>
              <a:t>。</a:t>
            </a:r>
          </a:p>
        </p:txBody>
      </p:sp>
      <p:grpSp>
        <p:nvGrpSpPr>
          <p:cNvPr id="27653" name="Group 6"/>
          <p:cNvGrpSpPr>
            <a:grpSpLocks/>
          </p:cNvGrpSpPr>
          <p:nvPr/>
        </p:nvGrpSpPr>
        <p:grpSpPr bwMode="auto">
          <a:xfrm>
            <a:off x="971550" y="1773238"/>
            <a:ext cx="5473700" cy="1511300"/>
            <a:chOff x="612" y="709"/>
            <a:chExt cx="3448" cy="952"/>
          </a:xfrm>
        </p:grpSpPr>
        <p:sp>
          <p:nvSpPr>
            <p:cNvPr id="27655" name="Line 7"/>
            <p:cNvSpPr>
              <a:spLocks noChangeShapeType="1"/>
            </p:cNvSpPr>
            <p:nvPr/>
          </p:nvSpPr>
          <p:spPr bwMode="auto">
            <a:xfrm>
              <a:off x="657" y="935"/>
              <a:ext cx="409" cy="6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6" name="Line 8"/>
            <p:cNvSpPr>
              <a:spLocks noChangeShapeType="1"/>
            </p:cNvSpPr>
            <p:nvPr/>
          </p:nvSpPr>
          <p:spPr bwMode="auto">
            <a:xfrm flipH="1">
              <a:off x="1066" y="935"/>
              <a:ext cx="589" cy="6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7" name="Oval 9"/>
            <p:cNvSpPr>
              <a:spLocks noChangeArrowheads="1"/>
            </p:cNvSpPr>
            <p:nvPr/>
          </p:nvSpPr>
          <p:spPr bwMode="auto">
            <a:xfrm>
              <a:off x="657" y="754"/>
              <a:ext cx="998" cy="317"/>
            </a:xfrm>
            <a:prstGeom prst="ellipse">
              <a:avLst/>
            </a:prstGeom>
            <a:noFill/>
            <a:ln w="9525"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58" name="Line 10"/>
            <p:cNvSpPr>
              <a:spLocks noChangeShapeType="1"/>
            </p:cNvSpPr>
            <p:nvPr/>
          </p:nvSpPr>
          <p:spPr bwMode="auto">
            <a:xfrm flipH="1">
              <a:off x="3061" y="1071"/>
              <a:ext cx="953"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59" name="Line 11"/>
            <p:cNvSpPr>
              <a:spLocks noChangeShapeType="1"/>
            </p:cNvSpPr>
            <p:nvPr/>
          </p:nvSpPr>
          <p:spPr bwMode="auto">
            <a:xfrm flipH="1" flipV="1">
              <a:off x="3061" y="1071"/>
              <a:ext cx="409"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60" name="Line 12"/>
            <p:cNvSpPr>
              <a:spLocks noChangeShapeType="1"/>
            </p:cNvSpPr>
            <p:nvPr/>
          </p:nvSpPr>
          <p:spPr bwMode="auto">
            <a:xfrm flipH="1">
              <a:off x="3062" y="799"/>
              <a:ext cx="68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61" name="Oval 13"/>
            <p:cNvSpPr>
              <a:spLocks noChangeArrowheads="1"/>
            </p:cNvSpPr>
            <p:nvPr/>
          </p:nvSpPr>
          <p:spPr bwMode="auto">
            <a:xfrm>
              <a:off x="612" y="890"/>
              <a:ext cx="91" cy="91"/>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2" name="Oval 14"/>
            <p:cNvSpPr>
              <a:spLocks noChangeArrowheads="1"/>
            </p:cNvSpPr>
            <p:nvPr/>
          </p:nvSpPr>
          <p:spPr bwMode="auto">
            <a:xfrm>
              <a:off x="1610" y="890"/>
              <a:ext cx="91" cy="91"/>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3" name="Oval 15"/>
            <p:cNvSpPr>
              <a:spLocks noChangeArrowheads="1"/>
            </p:cNvSpPr>
            <p:nvPr/>
          </p:nvSpPr>
          <p:spPr bwMode="auto">
            <a:xfrm>
              <a:off x="1020" y="1570"/>
              <a:ext cx="91" cy="91"/>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4" name="Oval 16"/>
            <p:cNvSpPr>
              <a:spLocks noChangeArrowheads="1"/>
            </p:cNvSpPr>
            <p:nvPr/>
          </p:nvSpPr>
          <p:spPr bwMode="auto">
            <a:xfrm>
              <a:off x="3016" y="1026"/>
              <a:ext cx="91" cy="91"/>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5" name="Oval 17"/>
            <p:cNvSpPr>
              <a:spLocks noChangeArrowheads="1"/>
            </p:cNvSpPr>
            <p:nvPr/>
          </p:nvSpPr>
          <p:spPr bwMode="auto">
            <a:xfrm>
              <a:off x="2245" y="1207"/>
              <a:ext cx="91" cy="91"/>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6" name="Oval 18"/>
            <p:cNvSpPr>
              <a:spLocks noChangeArrowheads="1"/>
            </p:cNvSpPr>
            <p:nvPr/>
          </p:nvSpPr>
          <p:spPr bwMode="auto">
            <a:xfrm>
              <a:off x="3969" y="1026"/>
              <a:ext cx="91" cy="91"/>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7" name="Oval 19"/>
            <p:cNvSpPr>
              <a:spLocks noChangeArrowheads="1"/>
            </p:cNvSpPr>
            <p:nvPr/>
          </p:nvSpPr>
          <p:spPr bwMode="auto">
            <a:xfrm>
              <a:off x="3424" y="1389"/>
              <a:ext cx="91" cy="91"/>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668" name="Oval 20"/>
            <p:cNvSpPr>
              <a:spLocks noChangeArrowheads="1"/>
            </p:cNvSpPr>
            <p:nvPr/>
          </p:nvSpPr>
          <p:spPr bwMode="auto">
            <a:xfrm>
              <a:off x="3742" y="709"/>
              <a:ext cx="91" cy="91"/>
            </a:xfrm>
            <a:prstGeom prst="ellipse">
              <a:avLst/>
            </a:prstGeom>
            <a:solidFill>
              <a:schemeClr val="hlink"/>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0504" name="AutoShape 24"/>
          <p:cNvSpPr>
            <a:spLocks noChangeArrowheads="1"/>
          </p:cNvSpPr>
          <p:nvPr/>
        </p:nvSpPr>
        <p:spPr bwMode="auto">
          <a:xfrm>
            <a:off x="2700338" y="4508500"/>
            <a:ext cx="2376487" cy="1152525"/>
          </a:xfrm>
          <a:prstGeom prst="wedgeEllipseCallout">
            <a:avLst>
              <a:gd name="adj1" fmla="val 57815"/>
              <a:gd name="adj2" fmla="val -115565"/>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kumimoji="1" lang="zh-CN" altLang="en-US" b="1">
                <a:solidFill>
                  <a:schemeClr val="bg2"/>
                </a:solidFill>
                <a:latin typeface="Times New Roman" pitchFamily="18" charset="0"/>
              </a:rPr>
              <a:t>连通图的</a:t>
            </a:r>
            <a:r>
              <a:rPr kumimoji="1" lang="en-US" altLang="zh-CN" b="1">
                <a:solidFill>
                  <a:schemeClr val="bg2"/>
                </a:solidFill>
                <a:latin typeface="Times New Roman" pitchFamily="18" charset="0"/>
              </a:rPr>
              <a:t>W(G)=1</a:t>
            </a:r>
          </a:p>
        </p:txBody>
      </p:sp>
    </p:spTree>
    <p:extLst>
      <p:ext uri="{BB962C8B-B14F-4D97-AF65-F5344CB8AC3E}">
        <p14:creationId xmlns:p14="http://schemas.microsoft.com/office/powerpoint/2010/main" val="3073545125"/>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482"/>
                                        </p:tgtEl>
                                        <p:attrNameLst>
                                          <p:attrName>style.visibility</p:attrName>
                                        </p:attrNameLst>
                                      </p:cBhvr>
                                      <p:to>
                                        <p:strVal val="visible"/>
                                      </p:to>
                                    </p:set>
                                    <p:anim calcmode="lin" valueType="num">
                                      <p:cBhvr additive="base">
                                        <p:cTn id="7" dur="500" fill="hold"/>
                                        <p:tgtEl>
                                          <p:spTgt spid="20482"/>
                                        </p:tgtEl>
                                        <p:attrNameLst>
                                          <p:attrName>ppt_x</p:attrName>
                                        </p:attrNameLst>
                                      </p:cBhvr>
                                      <p:tavLst>
                                        <p:tav tm="0">
                                          <p:val>
                                            <p:strVal val="#ppt_x"/>
                                          </p:val>
                                        </p:tav>
                                        <p:tav tm="100000">
                                          <p:val>
                                            <p:strVal val="#ppt_x"/>
                                          </p:val>
                                        </p:tav>
                                      </p:tavLst>
                                    </p:anim>
                                    <p:anim calcmode="lin" valueType="num">
                                      <p:cBhvr additive="base">
                                        <p:cTn id="8" dur="500" fill="hold"/>
                                        <p:tgtEl>
                                          <p:spTgt spid="2048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0504"/>
                                        </p:tgtEl>
                                        <p:attrNameLst>
                                          <p:attrName>style.visibility</p:attrName>
                                        </p:attrNameLst>
                                      </p:cBhvr>
                                      <p:to>
                                        <p:strVal val="visible"/>
                                      </p:to>
                                    </p:set>
                                    <p:anim calcmode="lin" valueType="num">
                                      <p:cBhvr additive="base">
                                        <p:cTn id="13" dur="500" fill="hold"/>
                                        <p:tgtEl>
                                          <p:spTgt spid="20504"/>
                                        </p:tgtEl>
                                        <p:attrNameLst>
                                          <p:attrName>ppt_x</p:attrName>
                                        </p:attrNameLst>
                                      </p:cBhvr>
                                      <p:tavLst>
                                        <p:tav tm="0">
                                          <p:val>
                                            <p:strVal val="#ppt_x"/>
                                          </p:val>
                                        </p:tav>
                                        <p:tav tm="100000">
                                          <p:val>
                                            <p:strVal val="#ppt_x"/>
                                          </p:val>
                                        </p:tav>
                                      </p:tavLst>
                                    </p:anim>
                                    <p:anim calcmode="lin" valueType="num">
                                      <p:cBhvr additive="base">
                                        <p:cTn id="14" dur="500" fill="hold"/>
                                        <p:tgtEl>
                                          <p:spTgt spid="2050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2" grpId="0"/>
      <p:bldP spid="2050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2"/>
          <p:cNvSpPr>
            <a:spLocks noGrp="1"/>
          </p:cNvSpPr>
          <p:nvPr>
            <p:ph type="sldNum" sz="quarter" idx="11"/>
          </p:nvPr>
        </p:nvSpPr>
        <p:spPr/>
        <p:txBody>
          <a:bodyPr/>
          <a:lstStyle/>
          <a:p>
            <a:pPr>
              <a:defRPr/>
            </a:pPr>
            <a:fld id="{1CF3DFEF-F318-4AFD-AFD0-4D8851E481F0}" type="slidenum">
              <a:rPr lang="en-US" altLang="zh-CN"/>
              <a:pPr>
                <a:defRPr/>
              </a:pPr>
              <a:t>24</a:t>
            </a:fld>
            <a:endParaRPr lang="en-US" altLang="zh-CN"/>
          </a:p>
        </p:txBody>
      </p:sp>
      <p:sp>
        <p:nvSpPr>
          <p:cNvPr id="28675" name="Rectangle 2"/>
          <p:cNvSpPr>
            <a:spLocks noChangeArrowheads="1"/>
          </p:cNvSpPr>
          <p:nvPr/>
        </p:nvSpPr>
        <p:spPr bwMode="auto">
          <a:xfrm>
            <a:off x="900113" y="973138"/>
            <a:ext cx="7524750" cy="1735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pPr>
            <a:r>
              <a:rPr kumimoji="1" lang="zh-CN" altLang="en-US" b="1">
                <a:solidFill>
                  <a:schemeClr val="bg2"/>
                </a:solidFill>
                <a:latin typeface="Times New Roman" pitchFamily="18" charset="0"/>
              </a:rPr>
              <a:t>对图的操作：</a:t>
            </a:r>
          </a:p>
          <a:p>
            <a:pPr>
              <a:lnSpc>
                <a:spcPct val="150000"/>
              </a:lnSpc>
            </a:pPr>
            <a:r>
              <a:rPr kumimoji="1" lang="zh-CN" altLang="en-US" b="1">
                <a:solidFill>
                  <a:schemeClr val="bg2"/>
                </a:solidFill>
                <a:latin typeface="Times New Roman" pitchFamily="18" charset="0"/>
              </a:rPr>
              <a:t>删除结点：即把</a:t>
            </a:r>
            <a:r>
              <a:rPr kumimoji="1" lang="en-US" altLang="zh-CN" b="1">
                <a:solidFill>
                  <a:schemeClr val="bg2"/>
                </a:solidFill>
                <a:latin typeface="Times New Roman" pitchFamily="18" charset="0"/>
              </a:rPr>
              <a:t>v</a:t>
            </a:r>
            <a:r>
              <a:rPr kumimoji="1" lang="zh-CN" altLang="en-US" b="1">
                <a:solidFill>
                  <a:schemeClr val="bg2"/>
                </a:solidFill>
                <a:latin typeface="Times New Roman" pitchFamily="18" charset="0"/>
              </a:rPr>
              <a:t>以及与</a:t>
            </a:r>
            <a:r>
              <a:rPr kumimoji="1" lang="en-US" altLang="zh-CN" b="1">
                <a:solidFill>
                  <a:schemeClr val="bg2"/>
                </a:solidFill>
                <a:latin typeface="Times New Roman" pitchFamily="18" charset="0"/>
              </a:rPr>
              <a:t>v</a:t>
            </a:r>
            <a:r>
              <a:rPr kumimoji="1" lang="zh-CN" altLang="en-US" b="1">
                <a:solidFill>
                  <a:schemeClr val="bg2"/>
                </a:solidFill>
                <a:latin typeface="Times New Roman" pitchFamily="18" charset="0"/>
              </a:rPr>
              <a:t>关联的边都删除。</a:t>
            </a:r>
          </a:p>
          <a:p>
            <a:pPr>
              <a:lnSpc>
                <a:spcPct val="150000"/>
              </a:lnSpc>
            </a:pPr>
            <a:r>
              <a:rPr kumimoji="1" lang="zh-CN" altLang="en-US" b="1">
                <a:solidFill>
                  <a:schemeClr val="bg2"/>
                </a:solidFill>
                <a:latin typeface="Times New Roman" pitchFamily="18" charset="0"/>
              </a:rPr>
              <a:t>删除边：仅把该边删除。</a:t>
            </a:r>
          </a:p>
        </p:txBody>
      </p:sp>
      <p:sp>
        <p:nvSpPr>
          <p:cNvPr id="28676" name="Line 3"/>
          <p:cNvSpPr>
            <a:spLocks noChangeShapeType="1"/>
          </p:cNvSpPr>
          <p:nvPr/>
        </p:nvSpPr>
        <p:spPr bwMode="auto">
          <a:xfrm flipH="1">
            <a:off x="539750" y="3141663"/>
            <a:ext cx="935038" cy="8636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77" name="Line 4"/>
          <p:cNvSpPr>
            <a:spLocks noChangeShapeType="1"/>
          </p:cNvSpPr>
          <p:nvPr/>
        </p:nvSpPr>
        <p:spPr bwMode="auto">
          <a:xfrm flipH="1">
            <a:off x="1187450" y="3141663"/>
            <a:ext cx="287338" cy="15113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78" name="Line 5"/>
          <p:cNvSpPr>
            <a:spLocks noChangeShapeType="1"/>
          </p:cNvSpPr>
          <p:nvPr/>
        </p:nvSpPr>
        <p:spPr bwMode="auto">
          <a:xfrm>
            <a:off x="1474788" y="3141663"/>
            <a:ext cx="576262" cy="15113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79" name="Line 6"/>
          <p:cNvSpPr>
            <a:spLocks noChangeShapeType="1"/>
          </p:cNvSpPr>
          <p:nvPr/>
        </p:nvSpPr>
        <p:spPr bwMode="auto">
          <a:xfrm>
            <a:off x="1474788" y="3141663"/>
            <a:ext cx="936625" cy="6477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0" name="Line 7"/>
          <p:cNvSpPr>
            <a:spLocks noChangeShapeType="1"/>
          </p:cNvSpPr>
          <p:nvPr/>
        </p:nvSpPr>
        <p:spPr bwMode="auto">
          <a:xfrm>
            <a:off x="539750" y="4005263"/>
            <a:ext cx="647700" cy="6477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088" name="Line 8"/>
          <p:cNvSpPr>
            <a:spLocks noChangeShapeType="1"/>
          </p:cNvSpPr>
          <p:nvPr/>
        </p:nvSpPr>
        <p:spPr bwMode="auto">
          <a:xfrm>
            <a:off x="6732588" y="4652963"/>
            <a:ext cx="863600" cy="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2" name="Line 9"/>
          <p:cNvSpPr>
            <a:spLocks noChangeShapeType="1"/>
          </p:cNvSpPr>
          <p:nvPr/>
        </p:nvSpPr>
        <p:spPr bwMode="auto">
          <a:xfrm flipV="1">
            <a:off x="2051050" y="3789363"/>
            <a:ext cx="360363" cy="8636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3" name="Line 10"/>
          <p:cNvSpPr>
            <a:spLocks noChangeShapeType="1"/>
          </p:cNvSpPr>
          <p:nvPr/>
        </p:nvSpPr>
        <p:spPr bwMode="auto">
          <a:xfrm flipV="1">
            <a:off x="2411413" y="3141663"/>
            <a:ext cx="431800" cy="6477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4" name="Line 11"/>
          <p:cNvSpPr>
            <a:spLocks noChangeShapeType="1"/>
          </p:cNvSpPr>
          <p:nvPr/>
        </p:nvSpPr>
        <p:spPr bwMode="auto">
          <a:xfrm flipH="1">
            <a:off x="3276600" y="3141663"/>
            <a:ext cx="935038" cy="8636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5" name="Line 12"/>
          <p:cNvSpPr>
            <a:spLocks noChangeShapeType="1"/>
          </p:cNvSpPr>
          <p:nvPr/>
        </p:nvSpPr>
        <p:spPr bwMode="auto">
          <a:xfrm>
            <a:off x="4211638" y="3141663"/>
            <a:ext cx="576262" cy="15113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6" name="Line 13"/>
          <p:cNvSpPr>
            <a:spLocks noChangeShapeType="1"/>
          </p:cNvSpPr>
          <p:nvPr/>
        </p:nvSpPr>
        <p:spPr bwMode="auto">
          <a:xfrm>
            <a:off x="4211638" y="3141663"/>
            <a:ext cx="936625" cy="6477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74094" name="Group 14"/>
          <p:cNvGrpSpPr>
            <a:grpSpLocks/>
          </p:cNvGrpSpPr>
          <p:nvPr/>
        </p:nvGrpSpPr>
        <p:grpSpPr bwMode="auto">
          <a:xfrm>
            <a:off x="3276600" y="3141663"/>
            <a:ext cx="1511300" cy="1511300"/>
            <a:chOff x="2064" y="1752"/>
            <a:chExt cx="952" cy="952"/>
          </a:xfrm>
        </p:grpSpPr>
        <p:sp>
          <p:nvSpPr>
            <p:cNvPr id="28700" name="Line 15"/>
            <p:cNvSpPr>
              <a:spLocks noChangeShapeType="1"/>
            </p:cNvSpPr>
            <p:nvPr/>
          </p:nvSpPr>
          <p:spPr bwMode="auto">
            <a:xfrm flipH="1">
              <a:off x="2472" y="1752"/>
              <a:ext cx="181" cy="952"/>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1" name="Line 16"/>
            <p:cNvSpPr>
              <a:spLocks noChangeShapeType="1"/>
            </p:cNvSpPr>
            <p:nvPr/>
          </p:nvSpPr>
          <p:spPr bwMode="auto">
            <a:xfrm>
              <a:off x="2064" y="2296"/>
              <a:ext cx="408" cy="408"/>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2" name="Line 17"/>
            <p:cNvSpPr>
              <a:spLocks noChangeShapeType="1"/>
            </p:cNvSpPr>
            <p:nvPr/>
          </p:nvSpPr>
          <p:spPr bwMode="auto">
            <a:xfrm>
              <a:off x="2472" y="2704"/>
              <a:ext cx="544" cy="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8688" name="Line 18"/>
          <p:cNvSpPr>
            <a:spLocks noChangeShapeType="1"/>
          </p:cNvSpPr>
          <p:nvPr/>
        </p:nvSpPr>
        <p:spPr bwMode="auto">
          <a:xfrm flipV="1">
            <a:off x="4787900" y="3789363"/>
            <a:ext cx="360363" cy="8636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89" name="Line 19"/>
          <p:cNvSpPr>
            <a:spLocks noChangeShapeType="1"/>
          </p:cNvSpPr>
          <p:nvPr/>
        </p:nvSpPr>
        <p:spPr bwMode="auto">
          <a:xfrm flipV="1">
            <a:off x="5148263" y="3141663"/>
            <a:ext cx="431800" cy="6477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0" name="Line 20"/>
          <p:cNvSpPr>
            <a:spLocks noChangeShapeType="1"/>
          </p:cNvSpPr>
          <p:nvPr/>
        </p:nvSpPr>
        <p:spPr bwMode="auto">
          <a:xfrm flipH="1">
            <a:off x="6084888" y="3141663"/>
            <a:ext cx="935037" cy="8636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1" name="Line 21"/>
          <p:cNvSpPr>
            <a:spLocks noChangeShapeType="1"/>
          </p:cNvSpPr>
          <p:nvPr/>
        </p:nvSpPr>
        <p:spPr bwMode="auto">
          <a:xfrm>
            <a:off x="7019925" y="3141663"/>
            <a:ext cx="936625" cy="6477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2" name="Line 22"/>
          <p:cNvSpPr>
            <a:spLocks noChangeShapeType="1"/>
          </p:cNvSpPr>
          <p:nvPr/>
        </p:nvSpPr>
        <p:spPr bwMode="auto">
          <a:xfrm>
            <a:off x="6084888" y="4005263"/>
            <a:ext cx="647700" cy="6477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3" name="Line 23"/>
          <p:cNvSpPr>
            <a:spLocks noChangeShapeType="1"/>
          </p:cNvSpPr>
          <p:nvPr/>
        </p:nvSpPr>
        <p:spPr bwMode="auto">
          <a:xfrm flipV="1">
            <a:off x="7596188" y="3789363"/>
            <a:ext cx="360362" cy="8636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4" name="Line 24"/>
          <p:cNvSpPr>
            <a:spLocks noChangeShapeType="1"/>
          </p:cNvSpPr>
          <p:nvPr/>
        </p:nvSpPr>
        <p:spPr bwMode="auto">
          <a:xfrm flipV="1">
            <a:off x="7956550" y="3141663"/>
            <a:ext cx="431800" cy="6477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105" name="Oval 25"/>
          <p:cNvSpPr>
            <a:spLocks noChangeArrowheads="1"/>
          </p:cNvSpPr>
          <p:nvPr/>
        </p:nvSpPr>
        <p:spPr bwMode="auto">
          <a:xfrm>
            <a:off x="3779838" y="4510088"/>
            <a:ext cx="287337" cy="287337"/>
          </a:xfrm>
          <a:prstGeom prst="ellipse">
            <a:avLst/>
          </a:prstGeom>
          <a:solidFill>
            <a:schemeClr val="bg1"/>
          </a:solidFill>
          <a:ln>
            <a:noFill/>
          </a:ln>
          <a:effectLst/>
          <a:extLst>
            <a:ext uri="{91240B29-F687-4F45-9708-019B960494DF}">
              <a14:hiddenLine xmlns:a14="http://schemas.microsoft.com/office/drawing/2010/main" w="12700" cap="sq">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4106" name="Line 26"/>
          <p:cNvSpPr>
            <a:spLocks noChangeShapeType="1"/>
          </p:cNvSpPr>
          <p:nvPr/>
        </p:nvSpPr>
        <p:spPr bwMode="auto">
          <a:xfrm>
            <a:off x="6732588" y="4652963"/>
            <a:ext cx="863600" cy="0"/>
          </a:xfrm>
          <a:prstGeom prst="line">
            <a:avLst/>
          </a:prstGeom>
          <a:noFill/>
          <a:ln w="28575" cap="sq">
            <a:solidFill>
              <a:schemeClr val="hlink"/>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7" name="Line 27"/>
          <p:cNvSpPr>
            <a:spLocks noChangeShapeType="1"/>
          </p:cNvSpPr>
          <p:nvPr/>
        </p:nvSpPr>
        <p:spPr bwMode="auto">
          <a:xfrm flipH="1">
            <a:off x="6732588" y="3141663"/>
            <a:ext cx="287337" cy="15113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8" name="Line 28"/>
          <p:cNvSpPr>
            <a:spLocks noChangeShapeType="1"/>
          </p:cNvSpPr>
          <p:nvPr/>
        </p:nvSpPr>
        <p:spPr bwMode="auto">
          <a:xfrm>
            <a:off x="7019925" y="3141663"/>
            <a:ext cx="576263" cy="151130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9" name="Line 29"/>
          <p:cNvSpPr>
            <a:spLocks noChangeShapeType="1"/>
          </p:cNvSpPr>
          <p:nvPr/>
        </p:nvSpPr>
        <p:spPr bwMode="auto">
          <a:xfrm>
            <a:off x="1187450" y="4652963"/>
            <a:ext cx="863600" cy="0"/>
          </a:xfrm>
          <a:prstGeom prst="line">
            <a:avLst/>
          </a:prstGeom>
          <a:noFill/>
          <a:ln w="28575" cap="sq">
            <a:solidFill>
              <a:srgbClr val="0000CC"/>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004970621"/>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32" fill="hold" grpId="0" nodeType="clickEffect">
                                  <p:stCondLst>
                                    <p:cond delay="0"/>
                                  </p:stCondLst>
                                  <p:childTnLst>
                                    <p:set>
                                      <p:cBhvr>
                                        <p:cTn id="6" dur="1" fill="hold">
                                          <p:stCondLst>
                                            <p:cond delay="0"/>
                                          </p:stCondLst>
                                        </p:cTn>
                                        <p:tgtEl>
                                          <p:spTgt spid="174105"/>
                                        </p:tgtEl>
                                        <p:attrNameLst>
                                          <p:attrName>style.visibility</p:attrName>
                                        </p:attrNameLst>
                                      </p:cBhvr>
                                      <p:to>
                                        <p:strVal val="visible"/>
                                      </p:to>
                                    </p:set>
                                    <p:animEffect transition="in" filter="diamond(out)">
                                      <p:cBhvr>
                                        <p:cTn id="7" dur="3000"/>
                                        <p:tgtEl>
                                          <p:spTgt spid="1741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xit" presetSubtype="10" fill="hold" nodeType="clickEffect">
                                  <p:stCondLst>
                                    <p:cond delay="0"/>
                                  </p:stCondLst>
                                  <p:childTnLst>
                                    <p:animEffect transition="out" filter="checkerboard(across)">
                                      <p:cBhvr>
                                        <p:cTn id="11" dur="500"/>
                                        <p:tgtEl>
                                          <p:spTgt spid="174094"/>
                                        </p:tgtEl>
                                      </p:cBhvr>
                                    </p:animEffect>
                                    <p:set>
                                      <p:cBhvr>
                                        <p:cTn id="12" dur="1" fill="hold">
                                          <p:stCondLst>
                                            <p:cond delay="499"/>
                                          </p:stCondLst>
                                        </p:cTn>
                                        <p:tgtEl>
                                          <p:spTgt spid="174094"/>
                                        </p:tgtEl>
                                        <p:attrNameLst>
                                          <p:attrName>style.visibility</p:attrName>
                                        </p:attrNameLst>
                                      </p:cBhvr>
                                      <p:to>
                                        <p:strVal val="hidden"/>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4106"/>
                                        </p:tgtEl>
                                        <p:attrNameLst>
                                          <p:attrName>style.visibility</p:attrName>
                                        </p:attrNameLst>
                                      </p:cBhvr>
                                      <p:to>
                                        <p:strVal val="visible"/>
                                      </p:to>
                                    </p:set>
                                    <p:animEffect transition="in" filter="wipe(left)">
                                      <p:cBhvr>
                                        <p:cTn id="17" dur="500"/>
                                        <p:tgtEl>
                                          <p:spTgt spid="17410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xit" presetSubtype="0" fill="hold" grpId="0" nodeType="clickEffect">
                                  <p:stCondLst>
                                    <p:cond delay="0"/>
                                  </p:stCondLst>
                                  <p:childTnLst>
                                    <p:set>
                                      <p:cBhvr>
                                        <p:cTn id="21" dur="1" fill="hold">
                                          <p:stCondLst>
                                            <p:cond delay="0"/>
                                          </p:stCondLst>
                                        </p:cTn>
                                        <p:tgtEl>
                                          <p:spTgt spid="174088"/>
                                        </p:tgtEl>
                                        <p:attrNameLst>
                                          <p:attrName>style.visibility</p:attrName>
                                        </p:attrNameLst>
                                      </p:cBhvr>
                                      <p:to>
                                        <p:strVal val="hidden"/>
                                      </p:to>
                                    </p:set>
                                  </p:childTnLst>
                                </p:cTn>
                              </p:par>
                              <p:par>
                                <p:cTn id="22" presetID="1" presetClass="exit" presetSubtype="0" fill="hold" grpId="1" nodeType="withEffect">
                                  <p:stCondLst>
                                    <p:cond delay="0"/>
                                  </p:stCondLst>
                                  <p:childTnLst>
                                    <p:set>
                                      <p:cBhvr>
                                        <p:cTn id="23" dur="1" fill="hold">
                                          <p:stCondLst>
                                            <p:cond delay="0"/>
                                          </p:stCondLst>
                                        </p:cTn>
                                        <p:tgtEl>
                                          <p:spTgt spid="1741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088" grpId="0" animBg="1"/>
      <p:bldP spid="174105" grpId="0" animBg="1"/>
      <p:bldP spid="174106" grpId="0" animBg="1"/>
      <p:bldP spid="174106"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4"/>
          <p:cNvSpPr>
            <a:spLocks noGrp="1"/>
          </p:cNvSpPr>
          <p:nvPr>
            <p:ph type="sldNum" sz="quarter" idx="11"/>
          </p:nvPr>
        </p:nvSpPr>
        <p:spPr/>
        <p:txBody>
          <a:bodyPr/>
          <a:lstStyle/>
          <a:p>
            <a:pPr>
              <a:defRPr/>
            </a:pPr>
            <a:fld id="{C20B37FF-5F9A-44C4-B963-604AFB5D6F50}" type="slidenum">
              <a:rPr lang="en-US" altLang="zh-CN"/>
              <a:pPr>
                <a:defRPr/>
              </a:pPr>
              <a:t>25</a:t>
            </a:fld>
            <a:endParaRPr lang="en-US" altLang="zh-CN"/>
          </a:p>
        </p:txBody>
      </p:sp>
      <p:sp>
        <p:nvSpPr>
          <p:cNvPr id="29699" name="Rectangle 3"/>
          <p:cNvSpPr>
            <a:spLocks noGrp="1" noChangeArrowheads="1"/>
          </p:cNvSpPr>
          <p:nvPr>
            <p:ph type="body" idx="1"/>
          </p:nvPr>
        </p:nvSpPr>
        <p:spPr>
          <a:xfrm>
            <a:off x="468313" y="1108075"/>
            <a:ext cx="8277225" cy="1990725"/>
          </a:xfrm>
          <a:noFill/>
        </p:spPr>
        <p:txBody>
          <a:bodyPr/>
          <a:lstStyle/>
          <a:p>
            <a:pPr eaLnBrk="1" hangingPunct="1"/>
            <a:r>
              <a:rPr kumimoji="1" lang="zh-CN" altLang="en-US" smtClean="0">
                <a:solidFill>
                  <a:srgbClr val="0000CC"/>
                </a:solidFill>
              </a:rPr>
              <a:t>定义</a:t>
            </a:r>
            <a:r>
              <a:rPr kumimoji="1" lang="en-US" altLang="zh-CN" smtClean="0">
                <a:solidFill>
                  <a:srgbClr val="0000CC"/>
                </a:solidFill>
              </a:rPr>
              <a:t>7-2.4</a:t>
            </a:r>
            <a:r>
              <a:rPr kumimoji="1" lang="zh-CN" altLang="en-US" smtClean="0">
                <a:solidFill>
                  <a:srgbClr val="0000CC"/>
                </a:solidFill>
              </a:rPr>
              <a:t>：</a:t>
            </a:r>
            <a:r>
              <a:rPr kumimoji="1" lang="zh-CN" altLang="en-US" smtClean="0"/>
              <a:t>设无向图</a:t>
            </a:r>
            <a:r>
              <a:rPr kumimoji="1" lang="en-US" altLang="zh-CN" smtClean="0"/>
              <a:t>G=&lt;V, E&gt;</a:t>
            </a:r>
            <a:r>
              <a:rPr kumimoji="1" lang="zh-CN" altLang="en-US" smtClean="0"/>
              <a:t>为连通图，若有点集</a:t>
            </a:r>
            <a:r>
              <a:rPr kumimoji="1" lang="en-US" altLang="zh-CN" smtClean="0"/>
              <a:t>V</a:t>
            </a:r>
            <a:r>
              <a:rPr kumimoji="1" lang="en-US" altLang="zh-CN" baseline="-25000" smtClean="0"/>
              <a:t>1</a:t>
            </a:r>
            <a:r>
              <a:rPr kumimoji="1" lang="en-US" altLang="zh-CN" smtClean="0">
                <a:sym typeface="Symbol" pitchFamily="18" charset="2"/>
              </a:rPr>
              <a:t></a:t>
            </a:r>
            <a:r>
              <a:rPr kumimoji="1" lang="en-US" altLang="zh-CN" smtClean="0"/>
              <a:t>V</a:t>
            </a:r>
            <a:r>
              <a:rPr kumimoji="1" lang="zh-CN" altLang="en-US" smtClean="0"/>
              <a:t>，使图</a:t>
            </a:r>
            <a:r>
              <a:rPr kumimoji="1" lang="en-US" altLang="zh-CN" smtClean="0"/>
              <a:t>G</a:t>
            </a:r>
            <a:r>
              <a:rPr kumimoji="1" lang="zh-CN" altLang="en-US" smtClean="0"/>
              <a:t>删除了</a:t>
            </a:r>
            <a:r>
              <a:rPr kumimoji="1" lang="en-US" altLang="zh-CN" smtClean="0"/>
              <a:t>V</a:t>
            </a:r>
            <a:r>
              <a:rPr kumimoji="1" lang="en-US" altLang="zh-CN" baseline="-25000" smtClean="0"/>
              <a:t>1</a:t>
            </a:r>
            <a:r>
              <a:rPr kumimoji="1" lang="zh-CN" altLang="en-US" smtClean="0"/>
              <a:t>的所有结点后，所得的子图是不连通图，</a:t>
            </a:r>
            <a:r>
              <a:rPr kumimoji="1" lang="zh-CN" altLang="en-US" smtClean="0">
                <a:solidFill>
                  <a:srgbClr val="0000CC"/>
                </a:solidFill>
              </a:rPr>
              <a:t>而删除了</a:t>
            </a:r>
            <a:r>
              <a:rPr kumimoji="1" lang="en-US" altLang="zh-CN" smtClean="0">
                <a:solidFill>
                  <a:srgbClr val="0000CC"/>
                </a:solidFill>
              </a:rPr>
              <a:t>V</a:t>
            </a:r>
            <a:r>
              <a:rPr kumimoji="1" lang="en-US" altLang="zh-CN" baseline="-25000" smtClean="0">
                <a:solidFill>
                  <a:srgbClr val="0000CC"/>
                </a:solidFill>
              </a:rPr>
              <a:t>1</a:t>
            </a:r>
            <a:r>
              <a:rPr kumimoji="1" lang="zh-CN" altLang="en-US" smtClean="0">
                <a:solidFill>
                  <a:srgbClr val="0000CC"/>
                </a:solidFill>
              </a:rPr>
              <a:t>的任何真子集后，所得到的子图仍是连通图</a:t>
            </a:r>
            <a:r>
              <a:rPr kumimoji="1" lang="zh-CN" altLang="en-US" smtClean="0"/>
              <a:t>，则称</a:t>
            </a:r>
            <a:r>
              <a:rPr kumimoji="1" lang="en-US" altLang="zh-CN" smtClean="0"/>
              <a:t>V</a:t>
            </a:r>
            <a:r>
              <a:rPr kumimoji="1" lang="en-US" altLang="zh-CN" baseline="-25000" smtClean="0"/>
              <a:t>1</a:t>
            </a:r>
            <a:r>
              <a:rPr kumimoji="1" lang="zh-CN" altLang="en-US" smtClean="0"/>
              <a:t>是</a:t>
            </a:r>
            <a:r>
              <a:rPr kumimoji="1" lang="en-US" altLang="zh-CN" smtClean="0"/>
              <a:t>G</a:t>
            </a:r>
            <a:r>
              <a:rPr kumimoji="1" lang="zh-CN" altLang="en-US" smtClean="0"/>
              <a:t>的一个</a:t>
            </a:r>
            <a:r>
              <a:rPr kumimoji="1" lang="zh-CN" altLang="en-US" i="1" smtClean="0">
                <a:solidFill>
                  <a:srgbClr val="0000CC"/>
                </a:solidFill>
              </a:rPr>
              <a:t>点割集</a:t>
            </a:r>
            <a:r>
              <a:rPr kumimoji="1" lang="zh-CN" altLang="en-US" smtClean="0"/>
              <a:t>。</a:t>
            </a:r>
          </a:p>
        </p:txBody>
      </p:sp>
      <p:sp>
        <p:nvSpPr>
          <p:cNvPr id="108549" name="Rectangle 5"/>
          <p:cNvSpPr>
            <a:spLocks noChangeArrowheads="1"/>
          </p:cNvSpPr>
          <p:nvPr/>
        </p:nvSpPr>
        <p:spPr bwMode="auto">
          <a:xfrm>
            <a:off x="468313" y="5084763"/>
            <a:ext cx="7231062"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buClr>
                <a:schemeClr val="folHlink"/>
              </a:buClr>
              <a:buSzPct val="60000"/>
              <a:buFont typeface="Wingdings" pitchFamily="2" charset="2"/>
              <a:buNone/>
            </a:pPr>
            <a:r>
              <a:rPr kumimoji="1" lang="zh-CN" altLang="en-US" b="1"/>
              <a:t>若某一个结点构成一个点割集，则称该结点为</a:t>
            </a:r>
            <a:r>
              <a:rPr kumimoji="1" lang="zh-CN" altLang="en-US" b="1" i="1">
                <a:solidFill>
                  <a:srgbClr val="0000CC"/>
                </a:solidFill>
              </a:rPr>
              <a:t>割点</a:t>
            </a:r>
            <a:r>
              <a:rPr kumimoji="1" lang="zh-CN" altLang="en-US" b="1"/>
              <a:t>。</a:t>
            </a:r>
          </a:p>
        </p:txBody>
      </p:sp>
      <p:sp>
        <p:nvSpPr>
          <p:cNvPr id="108566" name="Oval 22"/>
          <p:cNvSpPr>
            <a:spLocks noChangeArrowheads="1"/>
          </p:cNvSpPr>
          <p:nvPr/>
        </p:nvSpPr>
        <p:spPr bwMode="auto">
          <a:xfrm>
            <a:off x="5066054" y="3341233"/>
            <a:ext cx="649288" cy="576263"/>
          </a:xfrm>
          <a:prstGeom prst="ellipse">
            <a:avLst/>
          </a:prstGeom>
          <a:noFill/>
          <a:ln w="28575">
            <a:solidFill>
              <a:schemeClr val="hlink"/>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19" name="Group 5"/>
          <p:cNvGrpSpPr>
            <a:grpSpLocks/>
          </p:cNvGrpSpPr>
          <p:nvPr/>
        </p:nvGrpSpPr>
        <p:grpSpPr bwMode="auto">
          <a:xfrm>
            <a:off x="3998460" y="2863396"/>
            <a:ext cx="2981325" cy="2076450"/>
            <a:chOff x="3095" y="421"/>
            <a:chExt cx="1878" cy="1308"/>
          </a:xfrm>
        </p:grpSpPr>
        <p:sp>
          <p:nvSpPr>
            <p:cNvPr id="20" name="Text Box 6"/>
            <p:cNvSpPr txBox="1">
              <a:spLocks noChangeArrowheads="1"/>
            </p:cNvSpPr>
            <p:nvPr/>
          </p:nvSpPr>
          <p:spPr bwMode="auto">
            <a:xfrm>
              <a:off x="3095" y="799"/>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3</a:t>
              </a:r>
            </a:p>
          </p:txBody>
        </p:sp>
        <p:sp>
          <p:nvSpPr>
            <p:cNvPr id="21" name="Text Box 7"/>
            <p:cNvSpPr txBox="1">
              <a:spLocks noChangeArrowheads="1"/>
            </p:cNvSpPr>
            <p:nvPr/>
          </p:nvSpPr>
          <p:spPr bwMode="auto">
            <a:xfrm>
              <a:off x="4406" y="42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1</a:t>
              </a:r>
            </a:p>
          </p:txBody>
        </p:sp>
        <p:sp>
          <p:nvSpPr>
            <p:cNvPr id="22" name="Line 8"/>
            <p:cNvSpPr>
              <a:spLocks noChangeShapeType="1"/>
            </p:cNvSpPr>
            <p:nvPr/>
          </p:nvSpPr>
          <p:spPr bwMode="auto">
            <a:xfrm>
              <a:off x="3335" y="915"/>
              <a:ext cx="0" cy="652"/>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3" name="Line 9"/>
            <p:cNvSpPr>
              <a:spLocks noChangeShapeType="1"/>
            </p:cNvSpPr>
            <p:nvPr/>
          </p:nvSpPr>
          <p:spPr bwMode="auto">
            <a:xfrm>
              <a:off x="3972" y="915"/>
              <a:ext cx="0" cy="652"/>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 name="Line 10"/>
            <p:cNvSpPr>
              <a:spLocks noChangeShapeType="1"/>
            </p:cNvSpPr>
            <p:nvPr/>
          </p:nvSpPr>
          <p:spPr bwMode="auto">
            <a:xfrm>
              <a:off x="3335" y="1567"/>
              <a:ext cx="643" cy="0"/>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5" name="Oval 11"/>
            <p:cNvSpPr>
              <a:spLocks noChangeArrowheads="1"/>
            </p:cNvSpPr>
            <p:nvPr/>
          </p:nvSpPr>
          <p:spPr bwMode="auto">
            <a:xfrm>
              <a:off x="3335" y="755"/>
              <a:ext cx="643" cy="297"/>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6" name="AutoShape 12"/>
            <p:cNvSpPr>
              <a:spLocks noChangeArrowheads="1"/>
            </p:cNvSpPr>
            <p:nvPr/>
          </p:nvSpPr>
          <p:spPr bwMode="auto">
            <a:xfrm>
              <a:off x="3978" y="559"/>
              <a:ext cx="818" cy="356"/>
            </a:xfrm>
            <a:prstGeom prst="triangle">
              <a:avLst>
                <a:gd name="adj" fmla="val 50000"/>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Freeform 13"/>
            <p:cNvSpPr>
              <a:spLocks/>
            </p:cNvSpPr>
            <p:nvPr/>
          </p:nvSpPr>
          <p:spPr bwMode="auto">
            <a:xfrm>
              <a:off x="4796" y="915"/>
              <a:ext cx="171" cy="495"/>
            </a:xfrm>
            <a:custGeom>
              <a:avLst/>
              <a:gdLst>
                <a:gd name="T0" fmla="*/ 0 w 140"/>
                <a:gd name="T1" fmla="*/ 0 h 401"/>
                <a:gd name="T2" fmla="*/ 171 w 140"/>
                <a:gd name="T3" fmla="*/ 495 h 401"/>
                <a:gd name="T4" fmla="*/ 0 60000 65536"/>
                <a:gd name="T5" fmla="*/ 0 60000 65536"/>
              </a:gdLst>
              <a:ahLst/>
              <a:cxnLst>
                <a:cxn ang="T4">
                  <a:pos x="T0" y="T1"/>
                </a:cxn>
                <a:cxn ang="T5">
                  <a:pos x="T2" y="T3"/>
                </a:cxn>
              </a:cxnLst>
              <a:rect l="0" t="0" r="r" b="b"/>
              <a:pathLst>
                <a:path w="140" h="401">
                  <a:moveTo>
                    <a:pt x="0" y="0"/>
                  </a:moveTo>
                  <a:lnTo>
                    <a:pt x="140" y="401"/>
                  </a:lnTo>
                </a:path>
              </a:pathLst>
            </a:custGeom>
            <a:noFill/>
            <a:ln w="25400">
              <a:solidFill>
                <a:schemeClr val="tx1"/>
              </a:solidFill>
              <a:round/>
              <a:headEnd type="oval" w="lg" len="lg"/>
              <a:tailEnd type="oval"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8" name="Text Box 14"/>
            <p:cNvSpPr txBox="1">
              <a:spLocks noChangeArrowheads="1"/>
            </p:cNvSpPr>
            <p:nvPr/>
          </p:nvSpPr>
          <p:spPr bwMode="auto">
            <a:xfrm>
              <a:off x="4685" y="123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6</a:t>
              </a:r>
            </a:p>
          </p:txBody>
        </p:sp>
        <p:sp>
          <p:nvSpPr>
            <p:cNvPr id="29" name="Text Box 15"/>
            <p:cNvSpPr txBox="1">
              <a:spLocks noChangeArrowheads="1"/>
            </p:cNvSpPr>
            <p:nvPr/>
          </p:nvSpPr>
          <p:spPr bwMode="auto">
            <a:xfrm>
              <a:off x="3971" y="141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5</a:t>
              </a:r>
            </a:p>
          </p:txBody>
        </p:sp>
        <p:sp>
          <p:nvSpPr>
            <p:cNvPr id="30" name="Text Box 16"/>
            <p:cNvSpPr txBox="1">
              <a:spLocks noChangeArrowheads="1"/>
            </p:cNvSpPr>
            <p:nvPr/>
          </p:nvSpPr>
          <p:spPr bwMode="auto">
            <a:xfrm>
              <a:off x="3116" y="144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4</a:t>
              </a:r>
            </a:p>
          </p:txBody>
        </p:sp>
        <p:sp>
          <p:nvSpPr>
            <p:cNvPr id="31" name="Text Box 17"/>
            <p:cNvSpPr txBox="1">
              <a:spLocks noChangeArrowheads="1"/>
            </p:cNvSpPr>
            <p:nvPr/>
          </p:nvSpPr>
          <p:spPr bwMode="auto">
            <a:xfrm>
              <a:off x="3969" y="829"/>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2</a:t>
              </a:r>
            </a:p>
          </p:txBody>
        </p:sp>
        <p:sp>
          <p:nvSpPr>
            <p:cNvPr id="41" name="Oval 27"/>
            <p:cNvSpPr>
              <a:spLocks noChangeAspect="1" noChangeArrowheads="1"/>
            </p:cNvSpPr>
            <p:nvPr/>
          </p:nvSpPr>
          <p:spPr bwMode="auto">
            <a:xfrm>
              <a:off x="4341" y="527"/>
              <a:ext cx="86" cy="8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2" name="Text Box 28"/>
            <p:cNvSpPr txBox="1">
              <a:spLocks noChangeArrowheads="1"/>
            </p:cNvSpPr>
            <p:nvPr/>
          </p:nvSpPr>
          <p:spPr bwMode="auto">
            <a:xfrm>
              <a:off x="4560" y="83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7</a:t>
              </a:r>
            </a:p>
          </p:txBody>
        </p:sp>
      </p:grpSp>
    </p:spTree>
    <p:extLst>
      <p:ext uri="{BB962C8B-B14F-4D97-AF65-F5344CB8AC3E}">
        <p14:creationId xmlns:p14="http://schemas.microsoft.com/office/powerpoint/2010/main" val="3173931269"/>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 presetClass="entr" presetSubtype="16" fill="hold" grpId="0" nodeType="clickEffect">
                                  <p:stCondLst>
                                    <p:cond delay="0"/>
                                  </p:stCondLst>
                                  <p:childTnLst>
                                    <p:set>
                                      <p:cBhvr>
                                        <p:cTn id="12" dur="1" fill="hold">
                                          <p:stCondLst>
                                            <p:cond delay="0"/>
                                          </p:stCondLst>
                                        </p:cTn>
                                        <p:tgtEl>
                                          <p:spTgt spid="108566"/>
                                        </p:tgtEl>
                                        <p:attrNameLst>
                                          <p:attrName>style.visibility</p:attrName>
                                        </p:attrNameLst>
                                      </p:cBhvr>
                                      <p:to>
                                        <p:strVal val="visible"/>
                                      </p:to>
                                    </p:set>
                                    <p:animEffect transition="in" filter="box(in)">
                                      <p:cBhvr>
                                        <p:cTn id="13" dur="500"/>
                                        <p:tgtEl>
                                          <p:spTgt spid="108566"/>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08549"/>
                                        </p:tgtEl>
                                        <p:attrNameLst>
                                          <p:attrName>style.visibility</p:attrName>
                                        </p:attrNameLst>
                                      </p:cBhvr>
                                      <p:to>
                                        <p:strVal val="visible"/>
                                      </p:to>
                                    </p:set>
                                    <p:anim calcmode="lin" valueType="num">
                                      <p:cBhvr additive="base">
                                        <p:cTn id="18" dur="500" fill="hold"/>
                                        <p:tgtEl>
                                          <p:spTgt spid="108549"/>
                                        </p:tgtEl>
                                        <p:attrNameLst>
                                          <p:attrName>ppt_x</p:attrName>
                                        </p:attrNameLst>
                                      </p:cBhvr>
                                      <p:tavLst>
                                        <p:tav tm="0">
                                          <p:val>
                                            <p:strVal val="#ppt_x"/>
                                          </p:val>
                                        </p:tav>
                                        <p:tav tm="100000">
                                          <p:val>
                                            <p:strVal val="#ppt_x"/>
                                          </p:val>
                                        </p:tav>
                                      </p:tavLst>
                                    </p:anim>
                                    <p:anim calcmode="lin" valueType="num">
                                      <p:cBhvr additive="base">
                                        <p:cTn id="19" dur="500" fill="hold"/>
                                        <p:tgtEl>
                                          <p:spTgt spid="1085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49" grpId="0"/>
      <p:bldP spid="10856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pPr>
              <a:defRPr/>
            </a:pPr>
            <a:fld id="{E6511A4D-C1F2-495C-9B05-884951A959D9}" type="slidenum">
              <a:rPr lang="en-US" altLang="zh-CN"/>
              <a:pPr>
                <a:defRPr/>
              </a:pPr>
              <a:t>26</a:t>
            </a:fld>
            <a:endParaRPr lang="en-US" altLang="zh-CN"/>
          </a:p>
        </p:txBody>
      </p:sp>
      <p:sp>
        <p:nvSpPr>
          <p:cNvPr id="30723" name="Rectangle 4"/>
          <p:cNvSpPr>
            <a:spLocks noGrp="1" noChangeArrowheads="1"/>
          </p:cNvSpPr>
          <p:nvPr>
            <p:ph type="body" idx="1"/>
          </p:nvPr>
        </p:nvSpPr>
        <p:spPr>
          <a:xfrm>
            <a:off x="466725" y="1371600"/>
            <a:ext cx="8277225" cy="1516063"/>
          </a:xfrm>
        </p:spPr>
        <p:txBody>
          <a:bodyPr/>
          <a:lstStyle/>
          <a:p>
            <a:pPr eaLnBrk="1" hangingPunct="1"/>
            <a:r>
              <a:rPr kumimoji="1" lang="zh-CN" altLang="en-US" smtClean="0">
                <a:solidFill>
                  <a:srgbClr val="0000CC"/>
                </a:solidFill>
              </a:rPr>
              <a:t>定义：</a:t>
            </a:r>
            <a:r>
              <a:rPr kumimoji="1" lang="zh-CN" altLang="en-US" smtClean="0">
                <a:solidFill>
                  <a:schemeClr val="bg2"/>
                </a:solidFill>
              </a:rPr>
              <a:t>若</a:t>
            </a:r>
            <a:r>
              <a:rPr kumimoji="1" lang="en-US" altLang="zh-CN" smtClean="0">
                <a:solidFill>
                  <a:schemeClr val="bg2"/>
                </a:solidFill>
              </a:rPr>
              <a:t>G</a:t>
            </a:r>
            <a:r>
              <a:rPr kumimoji="1" lang="zh-CN" altLang="en-US" smtClean="0">
                <a:solidFill>
                  <a:schemeClr val="bg2"/>
                </a:solidFill>
              </a:rPr>
              <a:t>不是完全图，定义</a:t>
            </a:r>
            <a:r>
              <a:rPr kumimoji="1" lang="en-US" altLang="zh-CN" smtClean="0">
                <a:solidFill>
                  <a:schemeClr val="bg2"/>
                </a:solidFill>
              </a:rPr>
              <a:t>k(G)=min{|V</a:t>
            </a:r>
            <a:r>
              <a:rPr kumimoji="1" lang="en-US" altLang="zh-CN" baseline="-25000" smtClean="0">
                <a:solidFill>
                  <a:schemeClr val="bg2"/>
                </a:solidFill>
              </a:rPr>
              <a:t>1</a:t>
            </a:r>
            <a:r>
              <a:rPr kumimoji="1" lang="en-US" altLang="zh-CN" smtClean="0">
                <a:solidFill>
                  <a:schemeClr val="bg2"/>
                </a:solidFill>
              </a:rPr>
              <a:t>| |V</a:t>
            </a:r>
            <a:r>
              <a:rPr kumimoji="1" lang="en-US" altLang="zh-CN" baseline="-25000" smtClean="0">
                <a:solidFill>
                  <a:schemeClr val="bg2"/>
                </a:solidFill>
              </a:rPr>
              <a:t>1</a:t>
            </a:r>
            <a:r>
              <a:rPr kumimoji="1" lang="zh-CN" altLang="en-US" smtClean="0">
                <a:solidFill>
                  <a:schemeClr val="bg2"/>
                </a:solidFill>
              </a:rPr>
              <a:t>是</a:t>
            </a:r>
            <a:r>
              <a:rPr kumimoji="1" lang="en-US" altLang="zh-CN" smtClean="0">
                <a:solidFill>
                  <a:schemeClr val="bg2"/>
                </a:solidFill>
              </a:rPr>
              <a:t>G</a:t>
            </a:r>
            <a:r>
              <a:rPr kumimoji="1" lang="zh-CN" altLang="en-US" smtClean="0">
                <a:solidFill>
                  <a:schemeClr val="bg2"/>
                </a:solidFill>
              </a:rPr>
              <a:t>的点割集</a:t>
            </a:r>
            <a:r>
              <a:rPr kumimoji="1" lang="en-US" altLang="zh-CN" smtClean="0">
                <a:solidFill>
                  <a:schemeClr val="bg2"/>
                </a:solidFill>
              </a:rPr>
              <a:t>}</a:t>
            </a:r>
            <a:r>
              <a:rPr kumimoji="1" lang="zh-CN" altLang="en-US" smtClean="0">
                <a:solidFill>
                  <a:schemeClr val="bg2"/>
                </a:solidFill>
              </a:rPr>
              <a:t>，为</a:t>
            </a:r>
            <a:r>
              <a:rPr kumimoji="1" lang="en-US" altLang="zh-CN" smtClean="0">
                <a:solidFill>
                  <a:schemeClr val="bg2"/>
                </a:solidFill>
              </a:rPr>
              <a:t>G</a:t>
            </a:r>
            <a:r>
              <a:rPr kumimoji="1" lang="zh-CN" altLang="en-US" smtClean="0">
                <a:solidFill>
                  <a:schemeClr val="bg2"/>
                </a:solidFill>
              </a:rPr>
              <a:t>的</a:t>
            </a:r>
            <a:r>
              <a:rPr kumimoji="1" lang="zh-CN" altLang="en-US" i="1" smtClean="0">
                <a:solidFill>
                  <a:srgbClr val="0000CC"/>
                </a:solidFill>
              </a:rPr>
              <a:t>点连通度</a:t>
            </a:r>
            <a:r>
              <a:rPr kumimoji="1" lang="en-US" altLang="zh-CN" smtClean="0">
                <a:solidFill>
                  <a:schemeClr val="bg2"/>
                </a:solidFill>
              </a:rPr>
              <a:t>(</a:t>
            </a:r>
            <a:r>
              <a:rPr kumimoji="1" lang="zh-CN" altLang="en-US" smtClean="0">
                <a:solidFill>
                  <a:schemeClr val="bg2"/>
                </a:solidFill>
              </a:rPr>
              <a:t>或连通度</a:t>
            </a:r>
            <a:r>
              <a:rPr kumimoji="1" lang="en-US" altLang="zh-CN" smtClean="0">
                <a:solidFill>
                  <a:schemeClr val="bg2"/>
                </a:solidFill>
              </a:rPr>
              <a:t>)</a:t>
            </a:r>
            <a:r>
              <a:rPr kumimoji="1" lang="zh-CN" altLang="en-US" smtClean="0">
                <a:solidFill>
                  <a:schemeClr val="bg2"/>
                </a:solidFill>
              </a:rPr>
              <a:t>。</a:t>
            </a:r>
            <a:r>
              <a:rPr kumimoji="1" lang="en-US" altLang="zh-CN" smtClean="0">
                <a:solidFill>
                  <a:schemeClr val="bg2"/>
                </a:solidFill>
              </a:rPr>
              <a:t>k(G)</a:t>
            </a:r>
            <a:r>
              <a:rPr kumimoji="1" lang="zh-CN" altLang="en-US" smtClean="0">
                <a:solidFill>
                  <a:schemeClr val="bg2"/>
                </a:solidFill>
              </a:rPr>
              <a:t>是为了产生一个不连通图需要删去的点的</a:t>
            </a:r>
            <a:r>
              <a:rPr kumimoji="1" lang="zh-CN" altLang="en-US" smtClean="0">
                <a:solidFill>
                  <a:srgbClr val="0000CC"/>
                </a:solidFill>
              </a:rPr>
              <a:t>最少数目</a:t>
            </a:r>
            <a:r>
              <a:rPr kumimoji="1" lang="zh-CN" altLang="en-US" smtClean="0">
                <a:solidFill>
                  <a:schemeClr val="bg2"/>
                </a:solidFill>
              </a:rPr>
              <a:t>。</a:t>
            </a:r>
          </a:p>
        </p:txBody>
      </p:sp>
    </p:spTree>
    <p:extLst>
      <p:ext uri="{BB962C8B-B14F-4D97-AF65-F5344CB8AC3E}">
        <p14:creationId xmlns:p14="http://schemas.microsoft.com/office/powerpoint/2010/main" val="4221250586"/>
      </p:ext>
    </p:extLst>
  </p:cSld>
  <p:clrMapOvr>
    <a:masterClrMapping/>
  </p:clrMapOvr>
  <p:transition spd="slow">
    <p:random/>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灯片编号占位符 2"/>
          <p:cNvSpPr>
            <a:spLocks noGrp="1"/>
          </p:cNvSpPr>
          <p:nvPr>
            <p:ph type="sldNum" sz="quarter" idx="11"/>
          </p:nvPr>
        </p:nvSpPr>
        <p:spPr/>
        <p:txBody>
          <a:bodyPr/>
          <a:lstStyle/>
          <a:p>
            <a:pPr>
              <a:defRPr/>
            </a:pPr>
            <a:fld id="{C625D0F7-2A33-4EA3-AEC5-D9D7998D1F1F}" type="slidenum">
              <a:rPr lang="en-US" altLang="zh-CN"/>
              <a:pPr>
                <a:defRPr/>
              </a:pPr>
              <a:t>27</a:t>
            </a:fld>
            <a:endParaRPr lang="en-US" altLang="zh-CN"/>
          </a:p>
        </p:txBody>
      </p:sp>
      <p:sp>
        <p:nvSpPr>
          <p:cNvPr id="21508" name="Text Box 4"/>
          <p:cNvSpPr txBox="1">
            <a:spLocks noChangeArrowheads="1"/>
          </p:cNvSpPr>
          <p:nvPr/>
        </p:nvSpPr>
        <p:spPr bwMode="auto">
          <a:xfrm>
            <a:off x="466725" y="2924175"/>
            <a:ext cx="82772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u"/>
            </a:pPr>
            <a:r>
              <a:rPr kumimoji="1" lang="zh-CN" altLang="en-US" b="1">
                <a:solidFill>
                  <a:schemeClr val="bg2"/>
                </a:solidFill>
                <a:latin typeface="Times New Roman" pitchFamily="18" charset="0"/>
              </a:rPr>
              <a:t>考虑：</a:t>
            </a:r>
          </a:p>
          <a:p>
            <a:pPr eaLnBrk="1" hangingPunct="1">
              <a:lnSpc>
                <a:spcPct val="130000"/>
              </a:lnSpc>
              <a:buClr>
                <a:schemeClr val="bg1"/>
              </a:buClr>
            </a:pPr>
            <a:r>
              <a:rPr kumimoji="1" lang="en-US" altLang="zh-CN" b="1">
                <a:solidFill>
                  <a:schemeClr val="bg2"/>
                </a:solidFill>
                <a:latin typeface="Times New Roman" pitchFamily="18" charset="0"/>
              </a:rPr>
              <a:t>(1)</a:t>
            </a:r>
            <a:r>
              <a:rPr kumimoji="1" lang="zh-CN" altLang="en-US" b="1">
                <a:solidFill>
                  <a:schemeClr val="bg2"/>
                </a:solidFill>
                <a:latin typeface="Times New Roman" pitchFamily="18" charset="0"/>
              </a:rPr>
              <a:t>不连通图的连通度</a:t>
            </a:r>
          </a:p>
          <a:p>
            <a:pPr eaLnBrk="1" hangingPunct="1">
              <a:lnSpc>
                <a:spcPct val="130000"/>
              </a:lnSpc>
              <a:buClr>
                <a:schemeClr val="bg1"/>
              </a:buClr>
            </a:pPr>
            <a:r>
              <a:rPr kumimoji="1" lang="en-US" altLang="zh-CN" b="1">
                <a:solidFill>
                  <a:schemeClr val="bg2"/>
                </a:solidFill>
                <a:latin typeface="Times New Roman" pitchFamily="18" charset="0"/>
              </a:rPr>
              <a:t>(2)</a:t>
            </a:r>
            <a:r>
              <a:rPr kumimoji="1" lang="zh-CN" altLang="en-US" b="1">
                <a:solidFill>
                  <a:schemeClr val="bg2"/>
                </a:solidFill>
                <a:latin typeface="Times New Roman" pitchFamily="18" charset="0"/>
              </a:rPr>
              <a:t>存在割点的连通图的连通度</a:t>
            </a:r>
          </a:p>
          <a:p>
            <a:pPr eaLnBrk="1" hangingPunct="1">
              <a:lnSpc>
                <a:spcPct val="130000"/>
              </a:lnSpc>
              <a:buClr>
                <a:schemeClr val="bg1"/>
              </a:buClr>
            </a:pPr>
            <a:r>
              <a:rPr kumimoji="1" lang="en-US" altLang="zh-CN" b="1">
                <a:solidFill>
                  <a:schemeClr val="bg2"/>
                </a:solidFill>
                <a:latin typeface="Times New Roman" pitchFamily="18" charset="0"/>
              </a:rPr>
              <a:t>(3)</a:t>
            </a:r>
            <a:r>
              <a:rPr kumimoji="1" lang="zh-CN" altLang="en-US" b="1">
                <a:solidFill>
                  <a:schemeClr val="bg2"/>
                </a:solidFill>
                <a:latin typeface="Times New Roman" pitchFamily="18" charset="0"/>
              </a:rPr>
              <a:t>完全图</a:t>
            </a:r>
            <a:r>
              <a:rPr kumimoji="1" lang="en-US" altLang="zh-CN" b="1">
                <a:solidFill>
                  <a:schemeClr val="bg2"/>
                </a:solidFill>
                <a:latin typeface="Times New Roman" pitchFamily="18" charset="0"/>
              </a:rPr>
              <a:t>K</a:t>
            </a:r>
            <a:r>
              <a:rPr kumimoji="1" lang="en-US" altLang="zh-CN" b="1" baseline="-25000">
                <a:solidFill>
                  <a:schemeClr val="bg2"/>
                </a:solidFill>
                <a:latin typeface="Times New Roman" pitchFamily="18" charset="0"/>
              </a:rPr>
              <a:t>n</a:t>
            </a:r>
            <a:r>
              <a:rPr kumimoji="1" lang="zh-CN" altLang="en-US" b="1">
                <a:solidFill>
                  <a:schemeClr val="bg2"/>
                </a:solidFill>
                <a:latin typeface="Times New Roman" pitchFamily="18" charset="0"/>
              </a:rPr>
              <a:t>的连通度。</a:t>
            </a:r>
          </a:p>
        </p:txBody>
      </p:sp>
      <p:grpSp>
        <p:nvGrpSpPr>
          <p:cNvPr id="31748" name="Group 18"/>
          <p:cNvGrpSpPr>
            <a:grpSpLocks/>
          </p:cNvGrpSpPr>
          <p:nvPr/>
        </p:nvGrpSpPr>
        <p:grpSpPr bwMode="auto">
          <a:xfrm>
            <a:off x="979488" y="1384300"/>
            <a:ext cx="1720850" cy="1008063"/>
            <a:chOff x="431" y="981"/>
            <a:chExt cx="1084" cy="635"/>
          </a:xfrm>
        </p:grpSpPr>
        <p:sp>
          <p:nvSpPr>
            <p:cNvPr id="31766" name="Line 8"/>
            <p:cNvSpPr>
              <a:spLocks noChangeShapeType="1"/>
            </p:cNvSpPr>
            <p:nvPr/>
          </p:nvSpPr>
          <p:spPr bwMode="auto">
            <a:xfrm flipV="1">
              <a:off x="431" y="981"/>
              <a:ext cx="635" cy="635"/>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7" name="Oval 9"/>
            <p:cNvSpPr>
              <a:spLocks noChangeAspect="1" noChangeArrowheads="1"/>
            </p:cNvSpPr>
            <p:nvPr/>
          </p:nvSpPr>
          <p:spPr bwMode="auto">
            <a:xfrm>
              <a:off x="1429" y="1480"/>
              <a:ext cx="86" cy="8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31749" name="Group 30"/>
          <p:cNvGrpSpPr>
            <a:grpSpLocks/>
          </p:cNvGrpSpPr>
          <p:nvPr/>
        </p:nvGrpSpPr>
        <p:grpSpPr bwMode="auto">
          <a:xfrm>
            <a:off x="6443663" y="1052513"/>
            <a:ext cx="1441450" cy="1655762"/>
            <a:chOff x="4059" y="890"/>
            <a:chExt cx="771" cy="1020"/>
          </a:xfrm>
        </p:grpSpPr>
        <p:sp>
          <p:nvSpPr>
            <p:cNvPr id="31759" name="Rectangle 23"/>
            <p:cNvSpPr>
              <a:spLocks noChangeArrowheads="1"/>
            </p:cNvSpPr>
            <p:nvPr/>
          </p:nvSpPr>
          <p:spPr bwMode="auto">
            <a:xfrm>
              <a:off x="4059" y="1253"/>
              <a:ext cx="771" cy="635"/>
            </a:xfrm>
            <a:prstGeom prst="rect">
              <a:avLst/>
            </a:prstGeom>
            <a:solidFill>
              <a:schemeClr val="accent1">
                <a:alpha val="0"/>
              </a:schemeClr>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60" name="Line 24"/>
            <p:cNvSpPr>
              <a:spLocks noChangeShapeType="1"/>
            </p:cNvSpPr>
            <p:nvPr/>
          </p:nvSpPr>
          <p:spPr bwMode="auto">
            <a:xfrm>
              <a:off x="4413" y="890"/>
              <a:ext cx="408" cy="363"/>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1" name="Line 25"/>
            <p:cNvSpPr>
              <a:spLocks noChangeShapeType="1"/>
            </p:cNvSpPr>
            <p:nvPr/>
          </p:nvSpPr>
          <p:spPr bwMode="auto">
            <a:xfrm flipH="1">
              <a:off x="4068" y="899"/>
              <a:ext cx="351" cy="351"/>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2" name="Line 26"/>
            <p:cNvSpPr>
              <a:spLocks noChangeShapeType="1"/>
            </p:cNvSpPr>
            <p:nvPr/>
          </p:nvSpPr>
          <p:spPr bwMode="auto">
            <a:xfrm flipH="1">
              <a:off x="4059" y="890"/>
              <a:ext cx="363" cy="1020"/>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3" name="Line 27"/>
            <p:cNvSpPr>
              <a:spLocks noChangeShapeType="1"/>
            </p:cNvSpPr>
            <p:nvPr/>
          </p:nvSpPr>
          <p:spPr bwMode="auto">
            <a:xfrm>
              <a:off x="4413" y="899"/>
              <a:ext cx="417" cy="975"/>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4" name="Line 28"/>
            <p:cNvSpPr>
              <a:spLocks noChangeShapeType="1"/>
            </p:cNvSpPr>
            <p:nvPr/>
          </p:nvSpPr>
          <p:spPr bwMode="auto">
            <a:xfrm>
              <a:off x="4059" y="1253"/>
              <a:ext cx="771" cy="635"/>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5" name="Line 29"/>
            <p:cNvSpPr>
              <a:spLocks noChangeShapeType="1"/>
            </p:cNvSpPr>
            <p:nvPr/>
          </p:nvSpPr>
          <p:spPr bwMode="auto">
            <a:xfrm flipH="1">
              <a:off x="4059" y="1253"/>
              <a:ext cx="771" cy="648"/>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750" name="Group 34"/>
          <p:cNvGrpSpPr>
            <a:grpSpLocks/>
          </p:cNvGrpSpPr>
          <p:nvPr/>
        </p:nvGrpSpPr>
        <p:grpSpPr bwMode="auto">
          <a:xfrm>
            <a:off x="3598863" y="1258888"/>
            <a:ext cx="1920875" cy="1395412"/>
            <a:chOff x="2267" y="793"/>
            <a:chExt cx="1210" cy="879"/>
          </a:xfrm>
        </p:grpSpPr>
        <p:sp>
          <p:nvSpPr>
            <p:cNvPr id="31751" name="Oval 11"/>
            <p:cNvSpPr>
              <a:spLocks noChangeAspect="1" noChangeArrowheads="1"/>
            </p:cNvSpPr>
            <p:nvPr/>
          </p:nvSpPr>
          <p:spPr bwMode="auto">
            <a:xfrm>
              <a:off x="3400" y="1586"/>
              <a:ext cx="77" cy="8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2" name="Oval 12"/>
            <p:cNvSpPr>
              <a:spLocks noChangeAspect="1" noChangeArrowheads="1"/>
            </p:cNvSpPr>
            <p:nvPr/>
          </p:nvSpPr>
          <p:spPr bwMode="auto">
            <a:xfrm>
              <a:off x="2267" y="1586"/>
              <a:ext cx="77" cy="8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3" name="Oval 13"/>
            <p:cNvSpPr>
              <a:spLocks noChangeAspect="1" noChangeArrowheads="1"/>
            </p:cNvSpPr>
            <p:nvPr/>
          </p:nvSpPr>
          <p:spPr bwMode="auto">
            <a:xfrm>
              <a:off x="3400" y="793"/>
              <a:ext cx="76" cy="8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4" name="Oval 14"/>
            <p:cNvSpPr>
              <a:spLocks noChangeAspect="1" noChangeArrowheads="1"/>
            </p:cNvSpPr>
            <p:nvPr/>
          </p:nvSpPr>
          <p:spPr bwMode="auto">
            <a:xfrm>
              <a:off x="2267" y="793"/>
              <a:ext cx="77" cy="8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1755" name="Line 16"/>
            <p:cNvSpPr>
              <a:spLocks noChangeShapeType="1"/>
            </p:cNvSpPr>
            <p:nvPr/>
          </p:nvSpPr>
          <p:spPr bwMode="auto">
            <a:xfrm>
              <a:off x="2303" y="838"/>
              <a:ext cx="1134" cy="79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6" name="Line 31"/>
            <p:cNvSpPr>
              <a:spLocks noChangeShapeType="1"/>
            </p:cNvSpPr>
            <p:nvPr/>
          </p:nvSpPr>
          <p:spPr bwMode="auto">
            <a:xfrm>
              <a:off x="2308" y="836"/>
              <a:ext cx="0" cy="79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7" name="Line 32"/>
            <p:cNvSpPr>
              <a:spLocks noChangeShapeType="1"/>
            </p:cNvSpPr>
            <p:nvPr/>
          </p:nvSpPr>
          <p:spPr bwMode="auto">
            <a:xfrm>
              <a:off x="3434" y="836"/>
              <a:ext cx="0" cy="81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58" name="Line 33"/>
            <p:cNvSpPr>
              <a:spLocks noChangeShapeType="1"/>
            </p:cNvSpPr>
            <p:nvPr/>
          </p:nvSpPr>
          <p:spPr bwMode="auto">
            <a:xfrm>
              <a:off x="2303" y="1625"/>
              <a:ext cx="113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601501213"/>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 calcmode="lin" valueType="num">
                                      <p:cBhvr additive="base">
                                        <p:cTn id="7" dur="500" fill="hold"/>
                                        <p:tgtEl>
                                          <p:spTgt spid="21508"/>
                                        </p:tgtEl>
                                        <p:attrNameLst>
                                          <p:attrName>ppt_x</p:attrName>
                                        </p:attrNameLst>
                                      </p:cBhvr>
                                      <p:tavLst>
                                        <p:tav tm="0">
                                          <p:val>
                                            <p:strVal val="#ppt_x"/>
                                          </p:val>
                                        </p:tav>
                                        <p:tav tm="100000">
                                          <p:val>
                                            <p:strVal val="#ppt_x"/>
                                          </p:val>
                                        </p:tav>
                                      </p:tavLst>
                                    </p:anim>
                                    <p:anim calcmode="lin" valueType="num">
                                      <p:cBhvr additive="base">
                                        <p:cTn id="8"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灯片编号占位符 4"/>
          <p:cNvSpPr>
            <a:spLocks noGrp="1"/>
          </p:cNvSpPr>
          <p:nvPr>
            <p:ph type="sldNum" sz="quarter" idx="11"/>
          </p:nvPr>
        </p:nvSpPr>
        <p:spPr/>
        <p:txBody>
          <a:bodyPr/>
          <a:lstStyle/>
          <a:p>
            <a:pPr>
              <a:defRPr/>
            </a:pPr>
            <a:fld id="{87844F2A-BAEC-43E0-9AAC-E35664260E22}" type="slidenum">
              <a:rPr lang="en-US" altLang="zh-CN"/>
              <a:pPr>
                <a:defRPr/>
              </a:pPr>
              <a:t>28</a:t>
            </a:fld>
            <a:endParaRPr lang="en-US" altLang="zh-CN"/>
          </a:p>
        </p:txBody>
      </p:sp>
      <p:sp>
        <p:nvSpPr>
          <p:cNvPr id="32771" name="Rectangle 3"/>
          <p:cNvSpPr>
            <a:spLocks noGrp="1" noChangeArrowheads="1"/>
          </p:cNvSpPr>
          <p:nvPr>
            <p:ph type="body" idx="1"/>
          </p:nvPr>
        </p:nvSpPr>
        <p:spPr>
          <a:xfrm>
            <a:off x="466725" y="1096963"/>
            <a:ext cx="8277225" cy="1990725"/>
          </a:xfrm>
          <a:noFill/>
        </p:spPr>
        <p:txBody>
          <a:bodyPr/>
          <a:lstStyle/>
          <a:p>
            <a:pPr eaLnBrk="1" hangingPunct="1"/>
            <a:r>
              <a:rPr kumimoji="1" lang="zh-CN" altLang="en-US" smtClean="0">
                <a:solidFill>
                  <a:srgbClr val="0000CC"/>
                </a:solidFill>
              </a:rPr>
              <a:t>定义</a:t>
            </a:r>
            <a:r>
              <a:rPr kumimoji="1" lang="en-US" altLang="zh-CN" smtClean="0">
                <a:solidFill>
                  <a:srgbClr val="0000CC"/>
                </a:solidFill>
              </a:rPr>
              <a:t>7-2.5</a:t>
            </a:r>
            <a:r>
              <a:rPr kumimoji="1" lang="en-US" altLang="zh-CN" smtClean="0"/>
              <a:t>  </a:t>
            </a:r>
            <a:r>
              <a:rPr kumimoji="1" lang="zh-CN" altLang="en-US" smtClean="0"/>
              <a:t>设无向图</a:t>
            </a:r>
            <a:r>
              <a:rPr kumimoji="1" lang="en-US" altLang="zh-CN" smtClean="0"/>
              <a:t>G=&lt;V, E&gt;</a:t>
            </a:r>
            <a:r>
              <a:rPr kumimoji="1" lang="zh-CN" altLang="en-US" smtClean="0"/>
              <a:t>为连通图，若有边集</a:t>
            </a:r>
            <a:r>
              <a:rPr kumimoji="1" lang="en-US" altLang="zh-CN" smtClean="0"/>
              <a:t>E</a:t>
            </a:r>
            <a:r>
              <a:rPr kumimoji="1" lang="en-US" altLang="zh-CN" baseline="-25000" smtClean="0"/>
              <a:t>1</a:t>
            </a:r>
            <a:r>
              <a:rPr kumimoji="1" lang="en-US" altLang="zh-CN" smtClean="0">
                <a:sym typeface="Symbol" pitchFamily="18" charset="2"/>
              </a:rPr>
              <a:t></a:t>
            </a:r>
            <a:r>
              <a:rPr kumimoji="1" lang="en-US" altLang="zh-CN" smtClean="0"/>
              <a:t>E</a:t>
            </a:r>
            <a:r>
              <a:rPr kumimoji="1" lang="zh-CN" altLang="en-US" smtClean="0"/>
              <a:t>，使图</a:t>
            </a:r>
            <a:r>
              <a:rPr kumimoji="1" lang="en-US" altLang="zh-CN" smtClean="0"/>
              <a:t>G</a:t>
            </a:r>
            <a:r>
              <a:rPr kumimoji="1" lang="zh-CN" altLang="en-US" smtClean="0"/>
              <a:t>删除了</a:t>
            </a:r>
            <a:r>
              <a:rPr kumimoji="1" lang="en-US" altLang="zh-CN" smtClean="0"/>
              <a:t>E</a:t>
            </a:r>
            <a:r>
              <a:rPr kumimoji="1" lang="en-US" altLang="zh-CN" baseline="-25000" smtClean="0"/>
              <a:t>1</a:t>
            </a:r>
            <a:r>
              <a:rPr kumimoji="1" lang="zh-CN" altLang="en-US" smtClean="0"/>
              <a:t>中的所有边后所得的子图是不连通图，而删除了</a:t>
            </a:r>
            <a:r>
              <a:rPr kumimoji="1" lang="en-US" altLang="zh-CN" smtClean="0"/>
              <a:t>E</a:t>
            </a:r>
            <a:r>
              <a:rPr kumimoji="1" lang="en-US" altLang="zh-CN" baseline="-25000" smtClean="0"/>
              <a:t>1</a:t>
            </a:r>
            <a:r>
              <a:rPr kumimoji="1" lang="zh-CN" altLang="en-US" smtClean="0"/>
              <a:t>的</a:t>
            </a:r>
            <a:r>
              <a:rPr kumimoji="1" lang="zh-CN" altLang="en-US" smtClean="0">
                <a:solidFill>
                  <a:srgbClr val="0000FF"/>
                </a:solidFill>
              </a:rPr>
              <a:t>任何真子集</a:t>
            </a:r>
            <a:r>
              <a:rPr kumimoji="1" lang="zh-CN" altLang="en-US" smtClean="0"/>
              <a:t>后，所得到的子图仍是连通图，则称</a:t>
            </a:r>
            <a:r>
              <a:rPr kumimoji="1" lang="en-US" altLang="zh-CN" smtClean="0"/>
              <a:t>E</a:t>
            </a:r>
            <a:r>
              <a:rPr kumimoji="1" lang="en-US" altLang="zh-CN" baseline="-25000" smtClean="0"/>
              <a:t>1</a:t>
            </a:r>
            <a:r>
              <a:rPr kumimoji="1" lang="zh-CN" altLang="en-US" smtClean="0"/>
              <a:t>是</a:t>
            </a:r>
            <a:r>
              <a:rPr kumimoji="1" lang="en-US" altLang="zh-CN" smtClean="0"/>
              <a:t>G</a:t>
            </a:r>
            <a:r>
              <a:rPr kumimoji="1" lang="zh-CN" altLang="en-US" smtClean="0"/>
              <a:t>的一个</a:t>
            </a:r>
            <a:r>
              <a:rPr kumimoji="1" lang="zh-CN" altLang="en-US" i="1" smtClean="0">
                <a:solidFill>
                  <a:srgbClr val="0000CC"/>
                </a:solidFill>
              </a:rPr>
              <a:t>边割集</a:t>
            </a:r>
            <a:r>
              <a:rPr kumimoji="1" lang="zh-CN" altLang="en-US" smtClean="0"/>
              <a:t>。</a:t>
            </a:r>
          </a:p>
        </p:txBody>
      </p:sp>
      <p:sp>
        <p:nvSpPr>
          <p:cNvPr id="109572" name="Text Box 4"/>
          <p:cNvSpPr txBox="1">
            <a:spLocks noChangeArrowheads="1"/>
          </p:cNvSpPr>
          <p:nvPr/>
        </p:nvSpPr>
        <p:spPr bwMode="auto">
          <a:xfrm>
            <a:off x="466725" y="3025775"/>
            <a:ext cx="4597400" cy="294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bg1"/>
              </a:buClr>
            </a:pPr>
            <a:r>
              <a:rPr kumimoji="1" lang="zh-CN" altLang="en-US" b="1">
                <a:solidFill>
                  <a:schemeClr val="hlink"/>
                </a:solidFill>
                <a:latin typeface="Times New Roman" pitchFamily="18" charset="0"/>
              </a:rPr>
              <a:t>例：</a:t>
            </a:r>
            <a:r>
              <a:rPr kumimoji="1" lang="zh-CN" altLang="en-US" b="1">
                <a:latin typeface="Times New Roman" pitchFamily="18" charset="0"/>
              </a:rPr>
              <a:t>图</a:t>
            </a:r>
            <a:r>
              <a:rPr kumimoji="1" lang="en-US" altLang="zh-CN" b="1">
                <a:latin typeface="Times New Roman" pitchFamily="18" charset="0"/>
              </a:rPr>
              <a:t>G</a:t>
            </a:r>
            <a:r>
              <a:rPr kumimoji="1" lang="zh-CN" altLang="en-US" b="1">
                <a:latin typeface="Times New Roman" pitchFamily="18" charset="0"/>
              </a:rPr>
              <a:t>如右图所示</a:t>
            </a:r>
          </a:p>
          <a:p>
            <a:pPr eaLnBrk="1" hangingPunct="1">
              <a:lnSpc>
                <a:spcPct val="130000"/>
              </a:lnSpc>
              <a:buClr>
                <a:schemeClr val="bg1"/>
              </a:buClr>
            </a:pPr>
            <a:r>
              <a:rPr kumimoji="1" lang="zh-CN" altLang="en-US" b="1">
                <a:latin typeface="Times New Roman" pitchFamily="18" charset="0"/>
              </a:rPr>
              <a:t>判断下列边集是否为边割集：</a:t>
            </a:r>
          </a:p>
          <a:p>
            <a:pPr eaLnBrk="1" hangingPunct="1">
              <a:lnSpc>
                <a:spcPct val="130000"/>
              </a:lnSpc>
              <a:buClr>
                <a:schemeClr val="bg1"/>
              </a:buClr>
            </a:pPr>
            <a:r>
              <a:rPr kumimoji="1" lang="en-US" altLang="zh-CN" b="1">
                <a:latin typeface="Times New Roman" pitchFamily="18" charset="0"/>
              </a:rPr>
              <a:t>{e</a:t>
            </a:r>
            <a:r>
              <a:rPr kumimoji="1" lang="en-US" altLang="zh-CN" b="1" baseline="-25000">
                <a:latin typeface="Times New Roman" pitchFamily="18" charset="0"/>
              </a:rPr>
              <a:t>3</a:t>
            </a:r>
            <a:r>
              <a:rPr kumimoji="1" lang="en-US" altLang="zh-CN" b="1">
                <a:latin typeface="Times New Roman" pitchFamily="18" charset="0"/>
              </a:rPr>
              <a:t>,e</a:t>
            </a:r>
            <a:r>
              <a:rPr kumimoji="1" lang="en-US" altLang="zh-CN" b="1" baseline="-25000">
                <a:latin typeface="Times New Roman" pitchFamily="18" charset="0"/>
              </a:rPr>
              <a:t>4</a:t>
            </a:r>
            <a:r>
              <a:rPr kumimoji="1" lang="en-US" altLang="zh-CN" b="1">
                <a:latin typeface="Times New Roman" pitchFamily="18" charset="0"/>
              </a:rPr>
              <a:t>},{e</a:t>
            </a:r>
            <a:r>
              <a:rPr kumimoji="1" lang="en-US" altLang="zh-CN" b="1" baseline="-25000">
                <a:latin typeface="Times New Roman" pitchFamily="18" charset="0"/>
              </a:rPr>
              <a:t>4</a:t>
            </a:r>
            <a:r>
              <a:rPr kumimoji="1" lang="en-US" altLang="zh-CN" b="1">
                <a:latin typeface="Times New Roman" pitchFamily="18" charset="0"/>
              </a:rPr>
              <a:t>,e</a:t>
            </a:r>
            <a:r>
              <a:rPr kumimoji="1" lang="en-US" altLang="zh-CN" b="1" baseline="-25000">
                <a:latin typeface="Times New Roman" pitchFamily="18" charset="0"/>
              </a:rPr>
              <a:t>5</a:t>
            </a:r>
            <a:r>
              <a:rPr kumimoji="1" lang="en-US" altLang="zh-CN" b="1">
                <a:latin typeface="Times New Roman" pitchFamily="18" charset="0"/>
              </a:rPr>
              <a:t>},{e</a:t>
            </a:r>
            <a:r>
              <a:rPr kumimoji="1" lang="en-US" altLang="zh-CN" b="1" baseline="-25000">
                <a:latin typeface="Times New Roman" pitchFamily="18" charset="0"/>
              </a:rPr>
              <a:t>1</a:t>
            </a:r>
            <a:r>
              <a:rPr kumimoji="1" lang="en-US" altLang="zh-CN" b="1">
                <a:latin typeface="Times New Roman" pitchFamily="18" charset="0"/>
              </a:rPr>
              <a:t>,e</a:t>
            </a:r>
            <a:r>
              <a:rPr kumimoji="1" lang="en-US" altLang="zh-CN" b="1" baseline="-25000">
                <a:latin typeface="Times New Roman" pitchFamily="18" charset="0"/>
              </a:rPr>
              <a:t>2</a:t>
            </a:r>
            <a:r>
              <a:rPr kumimoji="1" lang="en-US" altLang="zh-CN" b="1">
                <a:latin typeface="Times New Roman" pitchFamily="18" charset="0"/>
              </a:rPr>
              <a:t>,e</a:t>
            </a:r>
            <a:r>
              <a:rPr kumimoji="1" lang="en-US" altLang="zh-CN" b="1" baseline="-25000">
                <a:latin typeface="Times New Roman" pitchFamily="18" charset="0"/>
              </a:rPr>
              <a:t>3</a:t>
            </a:r>
            <a:r>
              <a:rPr kumimoji="1" lang="en-US" altLang="zh-CN" b="1">
                <a:latin typeface="Times New Roman" pitchFamily="18" charset="0"/>
              </a:rPr>
              <a:t>},</a:t>
            </a:r>
          </a:p>
          <a:p>
            <a:pPr eaLnBrk="1" hangingPunct="1">
              <a:lnSpc>
                <a:spcPct val="130000"/>
              </a:lnSpc>
              <a:buClr>
                <a:schemeClr val="bg1"/>
              </a:buClr>
            </a:pPr>
            <a:r>
              <a:rPr kumimoji="1" lang="en-US" altLang="zh-CN" b="1">
                <a:latin typeface="Times New Roman" pitchFamily="18" charset="0"/>
              </a:rPr>
              <a:t>{e</a:t>
            </a:r>
            <a:r>
              <a:rPr kumimoji="1" lang="en-US" altLang="zh-CN" b="1" baseline="-25000">
                <a:latin typeface="Times New Roman" pitchFamily="18" charset="0"/>
              </a:rPr>
              <a:t>9</a:t>
            </a:r>
            <a:r>
              <a:rPr kumimoji="1" lang="en-US" altLang="zh-CN" b="1">
                <a:latin typeface="Times New Roman" pitchFamily="18" charset="0"/>
              </a:rPr>
              <a:t>}</a:t>
            </a:r>
          </a:p>
          <a:p>
            <a:pPr eaLnBrk="1" hangingPunct="1">
              <a:lnSpc>
                <a:spcPct val="130000"/>
              </a:lnSpc>
              <a:buClr>
                <a:schemeClr val="bg1"/>
              </a:buClr>
            </a:pPr>
            <a:r>
              <a:rPr kumimoji="1" lang="en-US" altLang="zh-CN" b="1">
                <a:latin typeface="Times New Roman" pitchFamily="18" charset="0"/>
              </a:rPr>
              <a:t>{e</a:t>
            </a:r>
            <a:r>
              <a:rPr kumimoji="1" lang="en-US" altLang="zh-CN" b="1" baseline="-25000">
                <a:latin typeface="Times New Roman" pitchFamily="18" charset="0"/>
              </a:rPr>
              <a:t>6</a:t>
            </a:r>
            <a:r>
              <a:rPr kumimoji="1" lang="en-US" altLang="zh-CN" b="1">
                <a:latin typeface="Times New Roman" pitchFamily="18" charset="0"/>
              </a:rPr>
              <a:t>,e</a:t>
            </a:r>
            <a:r>
              <a:rPr kumimoji="1" lang="en-US" altLang="zh-CN" b="1" baseline="-25000">
                <a:latin typeface="Times New Roman" pitchFamily="18" charset="0"/>
              </a:rPr>
              <a:t>7</a:t>
            </a:r>
            <a:r>
              <a:rPr kumimoji="1" lang="en-US" altLang="zh-CN" b="1">
                <a:latin typeface="Times New Roman" pitchFamily="18" charset="0"/>
              </a:rPr>
              <a:t>,e</a:t>
            </a:r>
            <a:r>
              <a:rPr kumimoji="1" lang="en-US" altLang="zh-CN" b="1" baseline="-25000">
                <a:latin typeface="Times New Roman" pitchFamily="18" charset="0"/>
              </a:rPr>
              <a:t>9</a:t>
            </a:r>
            <a:r>
              <a:rPr kumimoji="1" lang="en-US" altLang="zh-CN" b="1">
                <a:latin typeface="Times New Roman" pitchFamily="18" charset="0"/>
              </a:rPr>
              <a:t>}</a:t>
            </a:r>
          </a:p>
          <a:p>
            <a:pPr eaLnBrk="1" hangingPunct="1">
              <a:lnSpc>
                <a:spcPct val="130000"/>
              </a:lnSpc>
              <a:buClr>
                <a:schemeClr val="bg1"/>
              </a:buClr>
            </a:pPr>
            <a:r>
              <a:rPr kumimoji="1" lang="en-US" altLang="zh-CN" b="1">
                <a:latin typeface="Times New Roman" pitchFamily="18" charset="0"/>
              </a:rPr>
              <a:t>{e</a:t>
            </a:r>
            <a:r>
              <a:rPr kumimoji="1" lang="en-US" altLang="zh-CN" b="1" baseline="-25000">
                <a:latin typeface="Times New Roman" pitchFamily="18" charset="0"/>
              </a:rPr>
              <a:t>6</a:t>
            </a:r>
            <a:r>
              <a:rPr kumimoji="1" lang="en-US" altLang="zh-CN" b="1">
                <a:latin typeface="Times New Roman" pitchFamily="18" charset="0"/>
              </a:rPr>
              <a:t>,e</a:t>
            </a:r>
            <a:r>
              <a:rPr kumimoji="1" lang="en-US" altLang="zh-CN" b="1" baseline="-25000">
                <a:latin typeface="Times New Roman" pitchFamily="18" charset="0"/>
              </a:rPr>
              <a:t>8</a:t>
            </a:r>
            <a:r>
              <a:rPr kumimoji="1" lang="en-US" altLang="zh-CN" b="1">
                <a:latin typeface="Times New Roman" pitchFamily="18" charset="0"/>
              </a:rPr>
              <a:t>,e</a:t>
            </a:r>
            <a:r>
              <a:rPr kumimoji="1" lang="en-US" altLang="zh-CN" b="1" baseline="-25000">
                <a:latin typeface="Times New Roman" pitchFamily="18" charset="0"/>
              </a:rPr>
              <a:t>1</a:t>
            </a:r>
            <a:r>
              <a:rPr kumimoji="1" lang="en-US" altLang="zh-CN" b="1">
                <a:latin typeface="Times New Roman" pitchFamily="18" charset="0"/>
              </a:rPr>
              <a:t>,e</a:t>
            </a:r>
            <a:r>
              <a:rPr kumimoji="1" lang="en-US" altLang="zh-CN" b="1" baseline="-25000">
                <a:latin typeface="Times New Roman" pitchFamily="18" charset="0"/>
              </a:rPr>
              <a:t>2</a:t>
            </a:r>
            <a:r>
              <a:rPr kumimoji="1" lang="en-US" altLang="zh-CN" b="1">
                <a:latin typeface="Times New Roman" pitchFamily="18" charset="0"/>
              </a:rPr>
              <a:t>,e</a:t>
            </a:r>
            <a:r>
              <a:rPr kumimoji="1" lang="en-US" altLang="zh-CN" b="1" baseline="-25000">
                <a:latin typeface="Times New Roman" pitchFamily="18" charset="0"/>
              </a:rPr>
              <a:t>5</a:t>
            </a:r>
            <a:r>
              <a:rPr kumimoji="1" lang="en-US" altLang="zh-CN" b="1">
                <a:latin typeface="Times New Roman" pitchFamily="18" charset="0"/>
              </a:rPr>
              <a:t>}</a:t>
            </a:r>
            <a:r>
              <a:rPr kumimoji="1" lang="en-US" altLang="zh-CN" b="1">
                <a:solidFill>
                  <a:srgbClr val="008000"/>
                </a:solidFill>
                <a:latin typeface="Times New Roman" pitchFamily="18" charset="0"/>
              </a:rPr>
              <a:t> </a:t>
            </a:r>
          </a:p>
        </p:txBody>
      </p:sp>
      <p:grpSp>
        <p:nvGrpSpPr>
          <p:cNvPr id="109573" name="Group 5"/>
          <p:cNvGrpSpPr>
            <a:grpSpLocks/>
          </p:cNvGrpSpPr>
          <p:nvPr/>
        </p:nvGrpSpPr>
        <p:grpSpPr bwMode="auto">
          <a:xfrm>
            <a:off x="5119688" y="2924175"/>
            <a:ext cx="2981325" cy="2076450"/>
            <a:chOff x="3095" y="421"/>
            <a:chExt cx="1878" cy="1308"/>
          </a:xfrm>
        </p:grpSpPr>
        <p:sp>
          <p:nvSpPr>
            <p:cNvPr id="32776" name="Text Box 6"/>
            <p:cNvSpPr txBox="1">
              <a:spLocks noChangeArrowheads="1"/>
            </p:cNvSpPr>
            <p:nvPr/>
          </p:nvSpPr>
          <p:spPr bwMode="auto">
            <a:xfrm>
              <a:off x="3095" y="799"/>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3</a:t>
              </a:r>
            </a:p>
          </p:txBody>
        </p:sp>
        <p:sp>
          <p:nvSpPr>
            <p:cNvPr id="32777" name="Text Box 7"/>
            <p:cNvSpPr txBox="1">
              <a:spLocks noChangeArrowheads="1"/>
            </p:cNvSpPr>
            <p:nvPr/>
          </p:nvSpPr>
          <p:spPr bwMode="auto">
            <a:xfrm>
              <a:off x="4406" y="42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1</a:t>
              </a:r>
            </a:p>
          </p:txBody>
        </p:sp>
        <p:sp>
          <p:nvSpPr>
            <p:cNvPr id="32778" name="Line 8"/>
            <p:cNvSpPr>
              <a:spLocks noChangeShapeType="1"/>
            </p:cNvSpPr>
            <p:nvPr/>
          </p:nvSpPr>
          <p:spPr bwMode="auto">
            <a:xfrm>
              <a:off x="3335" y="915"/>
              <a:ext cx="0" cy="652"/>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79" name="Line 9"/>
            <p:cNvSpPr>
              <a:spLocks noChangeShapeType="1"/>
            </p:cNvSpPr>
            <p:nvPr/>
          </p:nvSpPr>
          <p:spPr bwMode="auto">
            <a:xfrm>
              <a:off x="3972" y="915"/>
              <a:ext cx="0" cy="652"/>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0" name="Line 10"/>
            <p:cNvSpPr>
              <a:spLocks noChangeShapeType="1"/>
            </p:cNvSpPr>
            <p:nvPr/>
          </p:nvSpPr>
          <p:spPr bwMode="auto">
            <a:xfrm>
              <a:off x="3335" y="1567"/>
              <a:ext cx="643" cy="0"/>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1" name="Oval 11"/>
            <p:cNvSpPr>
              <a:spLocks noChangeArrowheads="1"/>
            </p:cNvSpPr>
            <p:nvPr/>
          </p:nvSpPr>
          <p:spPr bwMode="auto">
            <a:xfrm>
              <a:off x="3335" y="755"/>
              <a:ext cx="643" cy="297"/>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2" name="AutoShape 12"/>
            <p:cNvSpPr>
              <a:spLocks noChangeArrowheads="1"/>
            </p:cNvSpPr>
            <p:nvPr/>
          </p:nvSpPr>
          <p:spPr bwMode="auto">
            <a:xfrm>
              <a:off x="3978" y="559"/>
              <a:ext cx="818" cy="356"/>
            </a:xfrm>
            <a:prstGeom prst="triangle">
              <a:avLst>
                <a:gd name="adj" fmla="val 50000"/>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83" name="Freeform 13"/>
            <p:cNvSpPr>
              <a:spLocks/>
            </p:cNvSpPr>
            <p:nvPr/>
          </p:nvSpPr>
          <p:spPr bwMode="auto">
            <a:xfrm>
              <a:off x="4796" y="915"/>
              <a:ext cx="171" cy="495"/>
            </a:xfrm>
            <a:custGeom>
              <a:avLst/>
              <a:gdLst>
                <a:gd name="T0" fmla="*/ 0 w 140"/>
                <a:gd name="T1" fmla="*/ 0 h 401"/>
                <a:gd name="T2" fmla="*/ 171 w 140"/>
                <a:gd name="T3" fmla="*/ 495 h 401"/>
                <a:gd name="T4" fmla="*/ 0 60000 65536"/>
                <a:gd name="T5" fmla="*/ 0 60000 65536"/>
              </a:gdLst>
              <a:ahLst/>
              <a:cxnLst>
                <a:cxn ang="T4">
                  <a:pos x="T0" y="T1"/>
                </a:cxn>
                <a:cxn ang="T5">
                  <a:pos x="T2" y="T3"/>
                </a:cxn>
              </a:cxnLst>
              <a:rect l="0" t="0" r="r" b="b"/>
              <a:pathLst>
                <a:path w="140" h="401">
                  <a:moveTo>
                    <a:pt x="0" y="0"/>
                  </a:moveTo>
                  <a:lnTo>
                    <a:pt x="140" y="401"/>
                  </a:lnTo>
                </a:path>
              </a:pathLst>
            </a:custGeom>
            <a:noFill/>
            <a:ln w="25400">
              <a:solidFill>
                <a:schemeClr val="tx1"/>
              </a:solidFill>
              <a:round/>
              <a:headEnd type="oval" w="lg" len="lg"/>
              <a:tailEnd type="oval"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4" name="Text Box 14"/>
            <p:cNvSpPr txBox="1">
              <a:spLocks noChangeArrowheads="1"/>
            </p:cNvSpPr>
            <p:nvPr/>
          </p:nvSpPr>
          <p:spPr bwMode="auto">
            <a:xfrm>
              <a:off x="4685" y="123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6</a:t>
              </a:r>
            </a:p>
          </p:txBody>
        </p:sp>
        <p:sp>
          <p:nvSpPr>
            <p:cNvPr id="32785" name="Text Box 15"/>
            <p:cNvSpPr txBox="1">
              <a:spLocks noChangeArrowheads="1"/>
            </p:cNvSpPr>
            <p:nvPr/>
          </p:nvSpPr>
          <p:spPr bwMode="auto">
            <a:xfrm>
              <a:off x="3971" y="141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5</a:t>
              </a:r>
            </a:p>
          </p:txBody>
        </p:sp>
        <p:sp>
          <p:nvSpPr>
            <p:cNvPr id="32786" name="Text Box 16"/>
            <p:cNvSpPr txBox="1">
              <a:spLocks noChangeArrowheads="1"/>
            </p:cNvSpPr>
            <p:nvPr/>
          </p:nvSpPr>
          <p:spPr bwMode="auto">
            <a:xfrm>
              <a:off x="3116" y="144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4</a:t>
              </a:r>
            </a:p>
          </p:txBody>
        </p:sp>
        <p:sp>
          <p:nvSpPr>
            <p:cNvPr id="32787" name="Text Box 17"/>
            <p:cNvSpPr txBox="1">
              <a:spLocks noChangeArrowheads="1"/>
            </p:cNvSpPr>
            <p:nvPr/>
          </p:nvSpPr>
          <p:spPr bwMode="auto">
            <a:xfrm>
              <a:off x="3969" y="829"/>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2</a:t>
              </a:r>
            </a:p>
          </p:txBody>
        </p:sp>
        <p:sp>
          <p:nvSpPr>
            <p:cNvPr id="32788" name="Text Box 18"/>
            <p:cNvSpPr txBox="1">
              <a:spLocks noChangeArrowheads="1"/>
            </p:cNvSpPr>
            <p:nvPr/>
          </p:nvSpPr>
          <p:spPr bwMode="auto">
            <a:xfrm>
              <a:off x="3536" y="482"/>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1</a:t>
              </a:r>
            </a:p>
          </p:txBody>
        </p:sp>
        <p:sp>
          <p:nvSpPr>
            <p:cNvPr id="32789" name="Text Box 19"/>
            <p:cNvSpPr txBox="1">
              <a:spLocks noChangeArrowheads="1"/>
            </p:cNvSpPr>
            <p:nvPr/>
          </p:nvSpPr>
          <p:spPr bwMode="auto">
            <a:xfrm>
              <a:off x="3527" y="754"/>
              <a:ext cx="3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2</a:t>
              </a:r>
            </a:p>
          </p:txBody>
        </p:sp>
        <p:sp>
          <p:nvSpPr>
            <p:cNvPr id="32790" name="Text Box 20"/>
            <p:cNvSpPr txBox="1">
              <a:spLocks noChangeArrowheads="1"/>
            </p:cNvSpPr>
            <p:nvPr/>
          </p:nvSpPr>
          <p:spPr bwMode="auto">
            <a:xfrm>
              <a:off x="3107" y="1104"/>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3</a:t>
              </a:r>
            </a:p>
          </p:txBody>
        </p:sp>
        <p:sp>
          <p:nvSpPr>
            <p:cNvPr id="32791" name="Text Box 21"/>
            <p:cNvSpPr txBox="1">
              <a:spLocks noChangeArrowheads="1"/>
            </p:cNvSpPr>
            <p:nvPr/>
          </p:nvSpPr>
          <p:spPr bwMode="auto">
            <a:xfrm>
              <a:off x="3515" y="1298"/>
              <a:ext cx="3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4</a:t>
              </a:r>
            </a:p>
          </p:txBody>
        </p:sp>
        <p:sp>
          <p:nvSpPr>
            <p:cNvPr id="32792" name="Text Box 22"/>
            <p:cNvSpPr txBox="1">
              <a:spLocks noChangeArrowheads="1"/>
            </p:cNvSpPr>
            <p:nvPr/>
          </p:nvSpPr>
          <p:spPr bwMode="auto">
            <a:xfrm>
              <a:off x="3742" y="1135"/>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5</a:t>
              </a:r>
            </a:p>
          </p:txBody>
        </p:sp>
        <p:sp>
          <p:nvSpPr>
            <p:cNvPr id="32793" name="Text Box 23"/>
            <p:cNvSpPr txBox="1">
              <a:spLocks noChangeArrowheads="1"/>
            </p:cNvSpPr>
            <p:nvPr/>
          </p:nvSpPr>
          <p:spPr bwMode="auto">
            <a:xfrm>
              <a:off x="4253" y="874"/>
              <a:ext cx="3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6</a:t>
              </a:r>
            </a:p>
          </p:txBody>
        </p:sp>
        <p:sp>
          <p:nvSpPr>
            <p:cNvPr id="32794" name="Text Box 24"/>
            <p:cNvSpPr txBox="1">
              <a:spLocks noChangeArrowheads="1"/>
            </p:cNvSpPr>
            <p:nvPr/>
          </p:nvSpPr>
          <p:spPr bwMode="auto">
            <a:xfrm>
              <a:off x="4377" y="607"/>
              <a:ext cx="2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7</a:t>
              </a:r>
            </a:p>
          </p:txBody>
        </p:sp>
        <p:sp>
          <p:nvSpPr>
            <p:cNvPr id="32795" name="Text Box 25"/>
            <p:cNvSpPr txBox="1">
              <a:spLocks noChangeArrowheads="1"/>
            </p:cNvSpPr>
            <p:nvPr/>
          </p:nvSpPr>
          <p:spPr bwMode="auto">
            <a:xfrm>
              <a:off x="3969" y="463"/>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8</a:t>
              </a:r>
            </a:p>
          </p:txBody>
        </p:sp>
        <p:sp>
          <p:nvSpPr>
            <p:cNvPr id="32796" name="Text Box 26"/>
            <p:cNvSpPr txBox="1">
              <a:spLocks noChangeArrowheads="1"/>
            </p:cNvSpPr>
            <p:nvPr/>
          </p:nvSpPr>
          <p:spPr bwMode="auto">
            <a:xfrm>
              <a:off x="4649" y="991"/>
              <a:ext cx="2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9</a:t>
              </a:r>
            </a:p>
          </p:txBody>
        </p:sp>
        <p:sp>
          <p:nvSpPr>
            <p:cNvPr id="32797" name="Oval 27"/>
            <p:cNvSpPr>
              <a:spLocks noChangeAspect="1" noChangeArrowheads="1"/>
            </p:cNvSpPr>
            <p:nvPr/>
          </p:nvSpPr>
          <p:spPr bwMode="auto">
            <a:xfrm>
              <a:off x="4341" y="527"/>
              <a:ext cx="86" cy="8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2798" name="Text Box 28"/>
            <p:cNvSpPr txBox="1">
              <a:spLocks noChangeArrowheads="1"/>
            </p:cNvSpPr>
            <p:nvPr/>
          </p:nvSpPr>
          <p:spPr bwMode="auto">
            <a:xfrm>
              <a:off x="4560" y="83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7</a:t>
              </a:r>
            </a:p>
          </p:txBody>
        </p:sp>
      </p:grpSp>
      <p:sp>
        <p:nvSpPr>
          <p:cNvPr id="109597" name="Oval 29"/>
          <p:cNvSpPr>
            <a:spLocks noChangeArrowheads="1"/>
          </p:cNvSpPr>
          <p:nvPr/>
        </p:nvSpPr>
        <p:spPr bwMode="auto">
          <a:xfrm>
            <a:off x="323850" y="4497388"/>
            <a:ext cx="1079500" cy="576262"/>
          </a:xfrm>
          <a:prstGeom prst="ellipse">
            <a:avLst/>
          </a:prstGeom>
          <a:noFill/>
          <a:ln w="38100" cap="sq">
            <a:solidFill>
              <a:schemeClr val="hlink"/>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9598" name="Rectangle 30"/>
          <p:cNvSpPr>
            <a:spLocks noChangeArrowheads="1"/>
          </p:cNvSpPr>
          <p:nvPr/>
        </p:nvSpPr>
        <p:spPr bwMode="auto">
          <a:xfrm>
            <a:off x="539750" y="6021388"/>
            <a:ext cx="7843838"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buClr>
                <a:schemeClr val="folHlink"/>
              </a:buClr>
              <a:buSzPct val="60000"/>
              <a:buFont typeface="Wingdings" pitchFamily="2" charset="2"/>
              <a:buNone/>
            </a:pPr>
            <a:r>
              <a:rPr kumimoji="1" lang="zh-CN" altLang="en-US" b="1"/>
              <a:t>若某一个边构成一个边割集，则称该边为</a:t>
            </a:r>
            <a:r>
              <a:rPr kumimoji="1" lang="zh-CN" altLang="en-US" b="1" i="1">
                <a:solidFill>
                  <a:srgbClr val="0000CC"/>
                </a:solidFill>
              </a:rPr>
              <a:t>割边（或桥）</a:t>
            </a:r>
            <a:r>
              <a:rPr kumimoji="1" lang="zh-CN" altLang="en-US" b="1"/>
              <a:t>。</a:t>
            </a:r>
          </a:p>
        </p:txBody>
      </p:sp>
    </p:spTree>
    <p:extLst>
      <p:ext uri="{BB962C8B-B14F-4D97-AF65-F5344CB8AC3E}">
        <p14:creationId xmlns:p14="http://schemas.microsoft.com/office/powerpoint/2010/main" val="3657347749"/>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9572"/>
                                        </p:tgtEl>
                                        <p:attrNameLst>
                                          <p:attrName>style.visibility</p:attrName>
                                        </p:attrNameLst>
                                      </p:cBhvr>
                                      <p:to>
                                        <p:strVal val="visible"/>
                                      </p:to>
                                    </p:set>
                                    <p:anim calcmode="lin" valueType="num">
                                      <p:cBhvr additive="base">
                                        <p:cTn id="7" dur="500" fill="hold"/>
                                        <p:tgtEl>
                                          <p:spTgt spid="109572"/>
                                        </p:tgtEl>
                                        <p:attrNameLst>
                                          <p:attrName>ppt_x</p:attrName>
                                        </p:attrNameLst>
                                      </p:cBhvr>
                                      <p:tavLst>
                                        <p:tav tm="0">
                                          <p:val>
                                            <p:strVal val="#ppt_x"/>
                                          </p:val>
                                        </p:tav>
                                        <p:tav tm="100000">
                                          <p:val>
                                            <p:strVal val="#ppt_x"/>
                                          </p:val>
                                        </p:tav>
                                      </p:tavLst>
                                    </p:anim>
                                    <p:anim calcmode="lin" valueType="num">
                                      <p:cBhvr additive="base">
                                        <p:cTn id="8" dur="500" fill="hold"/>
                                        <p:tgtEl>
                                          <p:spTgt spid="10957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09573"/>
                                        </p:tgtEl>
                                        <p:attrNameLst>
                                          <p:attrName>style.visibility</p:attrName>
                                        </p:attrNameLst>
                                      </p:cBhvr>
                                      <p:to>
                                        <p:strVal val="visible"/>
                                      </p:to>
                                    </p:set>
                                    <p:anim calcmode="lin" valueType="num">
                                      <p:cBhvr additive="base">
                                        <p:cTn id="11" dur="500" fill="hold"/>
                                        <p:tgtEl>
                                          <p:spTgt spid="109573"/>
                                        </p:tgtEl>
                                        <p:attrNameLst>
                                          <p:attrName>ppt_x</p:attrName>
                                        </p:attrNameLst>
                                      </p:cBhvr>
                                      <p:tavLst>
                                        <p:tav tm="0">
                                          <p:val>
                                            <p:strVal val="#ppt_x"/>
                                          </p:val>
                                        </p:tav>
                                        <p:tav tm="100000">
                                          <p:val>
                                            <p:strVal val="#ppt_x"/>
                                          </p:val>
                                        </p:tav>
                                      </p:tavLst>
                                    </p:anim>
                                    <p:anim calcmode="lin" valueType="num">
                                      <p:cBhvr additive="base">
                                        <p:cTn id="12" dur="500" fill="hold"/>
                                        <p:tgtEl>
                                          <p:spTgt spid="109573"/>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9597"/>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09598"/>
                                        </p:tgtEl>
                                        <p:attrNameLst>
                                          <p:attrName>style.visibility</p:attrName>
                                        </p:attrNameLst>
                                      </p:cBhvr>
                                      <p:to>
                                        <p:strVal val="visible"/>
                                      </p:to>
                                    </p:set>
                                    <p:anim calcmode="lin" valueType="num">
                                      <p:cBhvr additive="base">
                                        <p:cTn id="21" dur="500" fill="hold"/>
                                        <p:tgtEl>
                                          <p:spTgt spid="109598"/>
                                        </p:tgtEl>
                                        <p:attrNameLst>
                                          <p:attrName>ppt_x</p:attrName>
                                        </p:attrNameLst>
                                      </p:cBhvr>
                                      <p:tavLst>
                                        <p:tav tm="0">
                                          <p:val>
                                            <p:strVal val="#ppt_x"/>
                                          </p:val>
                                        </p:tav>
                                        <p:tav tm="100000">
                                          <p:val>
                                            <p:strVal val="#ppt_x"/>
                                          </p:val>
                                        </p:tav>
                                      </p:tavLst>
                                    </p:anim>
                                    <p:anim calcmode="lin" valueType="num">
                                      <p:cBhvr additive="base">
                                        <p:cTn id="22" dur="500" fill="hold"/>
                                        <p:tgtEl>
                                          <p:spTgt spid="1095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2" grpId="0"/>
      <p:bldP spid="109597" grpId="0" animBg="1"/>
      <p:bldP spid="10959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pPr>
              <a:defRPr/>
            </a:pPr>
            <a:fld id="{951CB726-6243-437A-9ACB-76BCF748B13E}" type="slidenum">
              <a:rPr lang="en-US" altLang="zh-CN"/>
              <a:pPr>
                <a:defRPr/>
              </a:pPr>
              <a:t>29</a:t>
            </a:fld>
            <a:endParaRPr lang="en-US" altLang="zh-CN"/>
          </a:p>
        </p:txBody>
      </p:sp>
      <p:sp>
        <p:nvSpPr>
          <p:cNvPr id="33795" name="Text Box 2"/>
          <p:cNvSpPr txBox="1">
            <a:spLocks noChangeArrowheads="1"/>
          </p:cNvSpPr>
          <p:nvPr/>
        </p:nvSpPr>
        <p:spPr bwMode="auto">
          <a:xfrm>
            <a:off x="466725" y="1125538"/>
            <a:ext cx="82772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rgbClr val="0000CC"/>
                </a:solidFill>
                <a:latin typeface="Times New Roman" pitchFamily="18" charset="0"/>
              </a:rPr>
              <a:t>定义：</a:t>
            </a:r>
            <a:r>
              <a:rPr kumimoji="1" lang="zh-CN" altLang="en-US" b="1">
                <a:latin typeface="Times New Roman" pitchFamily="18" charset="0"/>
              </a:rPr>
              <a:t>非平凡图</a:t>
            </a:r>
            <a:r>
              <a:rPr kumimoji="1" lang="en-US" altLang="zh-CN" b="1">
                <a:latin typeface="Times New Roman" pitchFamily="18" charset="0"/>
              </a:rPr>
              <a:t>G</a:t>
            </a:r>
            <a:r>
              <a:rPr kumimoji="1" lang="zh-CN" altLang="en-US" b="1">
                <a:latin typeface="Times New Roman" pitchFamily="18" charset="0"/>
              </a:rPr>
              <a:t>的</a:t>
            </a:r>
            <a:r>
              <a:rPr kumimoji="1" lang="zh-CN" altLang="en-US" b="1" i="1">
                <a:solidFill>
                  <a:srgbClr val="0000CC"/>
                </a:solidFill>
                <a:latin typeface="Times New Roman" pitchFamily="18" charset="0"/>
              </a:rPr>
              <a:t>边连通度</a:t>
            </a:r>
            <a:r>
              <a:rPr kumimoji="1" lang="zh-CN" altLang="en-US" b="1">
                <a:latin typeface="Times New Roman" pitchFamily="18" charset="0"/>
              </a:rPr>
              <a:t>为：</a:t>
            </a:r>
          </a:p>
          <a:p>
            <a:pPr algn="just" eaLnBrk="1" hangingPunct="1">
              <a:lnSpc>
                <a:spcPct val="130000"/>
              </a:lnSpc>
            </a:pPr>
            <a:r>
              <a:rPr kumimoji="1" lang="en-US" altLang="zh-CN" b="1">
                <a:latin typeface="Times New Roman" pitchFamily="18" charset="0"/>
                <a:cs typeface="Times New Roman" pitchFamily="18" charset="0"/>
              </a:rPr>
              <a:t>λ(G)=min{|E</a:t>
            </a:r>
            <a:r>
              <a:rPr kumimoji="1" lang="en-US" altLang="zh-CN" b="1" baseline="-25000">
                <a:latin typeface="Times New Roman" pitchFamily="18" charset="0"/>
                <a:cs typeface="Times New Roman" pitchFamily="18" charset="0"/>
              </a:rPr>
              <a:t>1</a:t>
            </a:r>
            <a:r>
              <a:rPr kumimoji="1" lang="en-US" altLang="zh-CN" b="1">
                <a:latin typeface="Times New Roman" pitchFamily="18" charset="0"/>
                <a:cs typeface="Times New Roman" pitchFamily="18" charset="0"/>
              </a:rPr>
              <a:t>|E</a:t>
            </a:r>
            <a:r>
              <a:rPr kumimoji="1" lang="en-US" altLang="zh-CN" b="1" baseline="-25000">
                <a:latin typeface="Times New Roman" pitchFamily="18" charset="0"/>
                <a:cs typeface="Times New Roman" pitchFamily="18" charset="0"/>
              </a:rPr>
              <a:t>1</a:t>
            </a:r>
            <a:r>
              <a:rPr kumimoji="1" lang="zh-CN" altLang="en-US" b="1">
                <a:latin typeface="Times New Roman" pitchFamily="18" charset="0"/>
              </a:rPr>
              <a:t>是</a:t>
            </a:r>
            <a:r>
              <a:rPr kumimoji="1" lang="en-US" altLang="zh-CN" b="1">
                <a:latin typeface="Times New Roman" pitchFamily="18" charset="0"/>
              </a:rPr>
              <a:t>G</a:t>
            </a:r>
            <a:r>
              <a:rPr kumimoji="1" lang="zh-CN" altLang="en-US" b="1">
                <a:latin typeface="Times New Roman" pitchFamily="18" charset="0"/>
              </a:rPr>
              <a:t>的边割集</a:t>
            </a:r>
            <a:r>
              <a:rPr kumimoji="1" lang="en-US" altLang="zh-CN" b="1">
                <a:latin typeface="Times New Roman" pitchFamily="18" charset="0"/>
                <a:cs typeface="Times New Roman" pitchFamily="18" charset="0"/>
              </a:rPr>
              <a:t>}</a:t>
            </a:r>
          </a:p>
          <a:p>
            <a:pPr algn="just" eaLnBrk="1" hangingPunct="1">
              <a:lnSpc>
                <a:spcPct val="130000"/>
              </a:lnSpc>
            </a:pPr>
            <a:r>
              <a:rPr kumimoji="1" lang="zh-CN" altLang="en-US" b="1">
                <a:latin typeface="Times New Roman" pitchFamily="18" charset="0"/>
              </a:rPr>
              <a:t>边连通度</a:t>
            </a:r>
            <a:r>
              <a:rPr kumimoji="1" lang="en-US" altLang="zh-CN" b="1">
                <a:latin typeface="Times New Roman" pitchFamily="18" charset="0"/>
                <a:cs typeface="Times New Roman" pitchFamily="18" charset="0"/>
              </a:rPr>
              <a:t>λ(G)</a:t>
            </a:r>
            <a:r>
              <a:rPr kumimoji="1" lang="zh-CN" altLang="en-US" b="1">
                <a:latin typeface="Times New Roman" pitchFamily="18" charset="0"/>
              </a:rPr>
              <a:t>是为了产生一个不连通图需要删除的边的最少数目。</a:t>
            </a:r>
          </a:p>
        </p:txBody>
      </p:sp>
      <p:sp>
        <p:nvSpPr>
          <p:cNvPr id="22558" name="Rectangle 30"/>
          <p:cNvSpPr>
            <a:spLocks noChangeArrowheads="1"/>
          </p:cNvSpPr>
          <p:nvPr/>
        </p:nvSpPr>
        <p:spPr bwMode="auto">
          <a:xfrm>
            <a:off x="466725" y="3149600"/>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hlink"/>
              </a:buClr>
              <a:buFont typeface="Wingdings" pitchFamily="2" charset="2"/>
              <a:buChar char="u"/>
            </a:pPr>
            <a:r>
              <a:rPr kumimoji="1" lang="zh-CN" altLang="en-US" b="1">
                <a:latin typeface="Times New Roman" pitchFamily="18" charset="0"/>
              </a:rPr>
              <a:t>平凡图或不连通图</a:t>
            </a:r>
            <a:r>
              <a:rPr kumimoji="1" lang="en-US" altLang="zh-CN" b="1">
                <a:latin typeface="Times New Roman" pitchFamily="18" charset="0"/>
              </a:rPr>
              <a:t>G </a:t>
            </a:r>
            <a:r>
              <a:rPr kumimoji="1" lang="zh-CN" altLang="en-US" b="1">
                <a:latin typeface="Times New Roman" pitchFamily="18" charset="0"/>
              </a:rPr>
              <a:t>其边连通度</a:t>
            </a:r>
            <a:r>
              <a:rPr kumimoji="1" lang="en-US" altLang="zh-CN" b="1">
                <a:latin typeface="Times New Roman" pitchFamily="18" charset="0"/>
              </a:rPr>
              <a:t>λ(G)=0</a:t>
            </a:r>
            <a:r>
              <a:rPr kumimoji="1" lang="zh-CN" altLang="en-US" b="1">
                <a:latin typeface="Times New Roman" pitchFamily="18" charset="0"/>
              </a:rPr>
              <a:t>；</a:t>
            </a:r>
          </a:p>
          <a:p>
            <a:pPr>
              <a:lnSpc>
                <a:spcPct val="130000"/>
              </a:lnSpc>
              <a:buClr>
                <a:schemeClr val="hlink"/>
              </a:buClr>
              <a:buFont typeface="Wingdings" pitchFamily="2" charset="2"/>
              <a:buChar char="u"/>
            </a:pPr>
            <a:r>
              <a:rPr kumimoji="1" lang="zh-CN" altLang="en-US" b="1">
                <a:latin typeface="Times New Roman" pitchFamily="18" charset="0"/>
              </a:rPr>
              <a:t>完全图</a:t>
            </a:r>
            <a:r>
              <a:rPr kumimoji="1" lang="en-US" altLang="zh-CN" b="1">
                <a:latin typeface="Times New Roman" pitchFamily="18" charset="0"/>
              </a:rPr>
              <a:t>K</a:t>
            </a:r>
            <a:r>
              <a:rPr kumimoji="1" lang="en-US" altLang="zh-CN" b="1" baseline="-25000">
                <a:latin typeface="Times New Roman" pitchFamily="18" charset="0"/>
              </a:rPr>
              <a:t>n</a:t>
            </a:r>
            <a:r>
              <a:rPr kumimoji="1" lang="zh-CN" altLang="en-US" b="1">
                <a:latin typeface="Times New Roman" pitchFamily="18" charset="0"/>
              </a:rPr>
              <a:t>上的边连通度</a:t>
            </a:r>
            <a:r>
              <a:rPr kumimoji="1" lang="en-US" altLang="zh-CN" b="1">
                <a:latin typeface="Times New Roman" pitchFamily="18" charset="0"/>
              </a:rPr>
              <a:t>λ(G)=n-1</a:t>
            </a:r>
            <a:r>
              <a:rPr kumimoji="1" lang="zh-CN" altLang="en-US" b="1">
                <a:latin typeface="Times New Roman" pitchFamily="18" charset="0"/>
              </a:rPr>
              <a:t>。</a:t>
            </a:r>
          </a:p>
        </p:txBody>
      </p:sp>
    </p:spTree>
    <p:extLst>
      <p:ext uri="{BB962C8B-B14F-4D97-AF65-F5344CB8AC3E}">
        <p14:creationId xmlns:p14="http://schemas.microsoft.com/office/powerpoint/2010/main" val="3251583510"/>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58"/>
                                        </p:tgtEl>
                                        <p:attrNameLst>
                                          <p:attrName>style.visibility</p:attrName>
                                        </p:attrNameLst>
                                      </p:cBhvr>
                                      <p:to>
                                        <p:strVal val="visible"/>
                                      </p:to>
                                    </p:set>
                                    <p:anim calcmode="lin" valueType="num">
                                      <p:cBhvr additive="base">
                                        <p:cTn id="7" dur="500" fill="hold"/>
                                        <p:tgtEl>
                                          <p:spTgt spid="22558"/>
                                        </p:tgtEl>
                                        <p:attrNameLst>
                                          <p:attrName>ppt_x</p:attrName>
                                        </p:attrNameLst>
                                      </p:cBhvr>
                                      <p:tavLst>
                                        <p:tav tm="0">
                                          <p:val>
                                            <p:strVal val="#ppt_x"/>
                                          </p:val>
                                        </p:tav>
                                        <p:tav tm="100000">
                                          <p:val>
                                            <p:strVal val="#ppt_x"/>
                                          </p:val>
                                        </p:tav>
                                      </p:tavLst>
                                    </p:anim>
                                    <p:anim calcmode="lin" valueType="num">
                                      <p:cBhvr additive="base">
                                        <p:cTn id="8" dur="500" fill="hold"/>
                                        <p:tgtEl>
                                          <p:spTgt spid="225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5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1"/>
          </p:nvPr>
        </p:nvSpPr>
        <p:spPr/>
        <p:txBody>
          <a:bodyPr/>
          <a:lstStyle/>
          <a:p>
            <a:pPr>
              <a:defRPr/>
            </a:pPr>
            <a:fld id="{F9746370-B94C-48C9-88AD-A00ACCC8FF0F}" type="slidenum">
              <a:rPr lang="en-US" altLang="zh-CN"/>
              <a:pPr>
                <a:defRPr/>
              </a:pPr>
              <a:t>30</a:t>
            </a:fld>
            <a:endParaRPr lang="en-US" altLang="zh-CN"/>
          </a:p>
        </p:txBody>
      </p:sp>
      <p:sp>
        <p:nvSpPr>
          <p:cNvPr id="34819" name="Text Box 3"/>
          <p:cNvSpPr txBox="1">
            <a:spLocks noChangeArrowheads="1"/>
          </p:cNvSpPr>
          <p:nvPr/>
        </p:nvSpPr>
        <p:spPr bwMode="auto">
          <a:xfrm>
            <a:off x="466725" y="1125538"/>
            <a:ext cx="8277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1173163" indent="-457200" eaLnBrk="0" hangingPunct="0">
              <a:defRPr sz="2400">
                <a:solidFill>
                  <a:schemeClr val="tx1"/>
                </a:solidFill>
                <a:latin typeface="Arial" charset="0"/>
                <a:ea typeface="宋体" pitchFamily="2" charset="-122"/>
              </a:defRPr>
            </a:lvl2pPr>
            <a:lvl3pPr marL="1809750" indent="-457200" eaLnBrk="0" hangingPunct="0">
              <a:defRPr sz="2400">
                <a:solidFill>
                  <a:schemeClr val="tx1"/>
                </a:solidFill>
                <a:latin typeface="Arial" charset="0"/>
                <a:ea typeface="宋体" pitchFamily="2" charset="-122"/>
              </a:defRPr>
            </a:lvl3pPr>
            <a:lvl4pPr marL="2446338" indent="-457200" eaLnBrk="0" hangingPunct="0">
              <a:defRPr sz="2400">
                <a:solidFill>
                  <a:schemeClr val="tx1"/>
                </a:solidFill>
                <a:latin typeface="Arial" charset="0"/>
                <a:ea typeface="宋体" pitchFamily="2" charset="-122"/>
              </a:defRPr>
            </a:lvl4pPr>
            <a:lvl5pPr marL="3082925" indent="-457200" eaLnBrk="0" hangingPunct="0">
              <a:defRPr sz="2400">
                <a:solidFill>
                  <a:schemeClr val="tx1"/>
                </a:solidFill>
                <a:latin typeface="Arial" charset="0"/>
                <a:ea typeface="宋体" pitchFamily="2" charset="-122"/>
              </a:defRPr>
            </a:lvl5pPr>
            <a:lvl6pPr marL="3540125" indent="-457200" eaLnBrk="0" fontAlgn="base" hangingPunct="0">
              <a:spcBef>
                <a:spcPct val="0"/>
              </a:spcBef>
              <a:spcAft>
                <a:spcPct val="0"/>
              </a:spcAft>
              <a:defRPr sz="2400">
                <a:solidFill>
                  <a:schemeClr val="tx1"/>
                </a:solidFill>
                <a:latin typeface="Arial" charset="0"/>
                <a:ea typeface="宋体" pitchFamily="2" charset="-122"/>
              </a:defRPr>
            </a:lvl6pPr>
            <a:lvl7pPr marL="3997325" indent="-457200" eaLnBrk="0" fontAlgn="base" hangingPunct="0">
              <a:spcBef>
                <a:spcPct val="0"/>
              </a:spcBef>
              <a:spcAft>
                <a:spcPct val="0"/>
              </a:spcAft>
              <a:defRPr sz="2400">
                <a:solidFill>
                  <a:schemeClr val="tx1"/>
                </a:solidFill>
                <a:latin typeface="Arial" charset="0"/>
                <a:ea typeface="宋体" pitchFamily="2" charset="-122"/>
              </a:defRPr>
            </a:lvl7pPr>
            <a:lvl8pPr marL="4454525" indent="-457200" eaLnBrk="0" fontAlgn="base" hangingPunct="0">
              <a:spcBef>
                <a:spcPct val="0"/>
              </a:spcBef>
              <a:spcAft>
                <a:spcPct val="0"/>
              </a:spcAft>
              <a:defRPr sz="2400">
                <a:solidFill>
                  <a:schemeClr val="tx1"/>
                </a:solidFill>
                <a:latin typeface="Arial" charset="0"/>
                <a:ea typeface="宋体" pitchFamily="2" charset="-122"/>
              </a:defRPr>
            </a:lvl8pPr>
            <a:lvl9pPr marL="4911725" indent="-4572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7-2.2</a:t>
            </a:r>
            <a:r>
              <a:rPr kumimoji="1" lang="zh-CN" altLang="en-US" b="1">
                <a:solidFill>
                  <a:srgbClr val="0000CC"/>
                </a:solidFill>
                <a:latin typeface="Times New Roman" pitchFamily="18" charset="0"/>
              </a:rPr>
              <a:t>：</a:t>
            </a:r>
            <a:r>
              <a:rPr kumimoji="1" lang="zh-CN" altLang="en-US" b="1">
                <a:latin typeface="Times New Roman" pitchFamily="18" charset="0"/>
              </a:rPr>
              <a:t>对于任何一个图</a:t>
            </a:r>
            <a:r>
              <a:rPr kumimoji="1" lang="en-US" altLang="zh-CN" b="1">
                <a:latin typeface="Times New Roman" pitchFamily="18" charset="0"/>
              </a:rPr>
              <a:t>G</a:t>
            </a:r>
            <a:r>
              <a:rPr kumimoji="1" lang="zh-CN" altLang="en-US" b="1">
                <a:latin typeface="Times New Roman" pitchFamily="18" charset="0"/>
              </a:rPr>
              <a:t>，有 </a:t>
            </a:r>
            <a:r>
              <a:rPr kumimoji="1" lang="en-US" altLang="zh-CN" b="1">
                <a:latin typeface="Times New Roman" pitchFamily="18" charset="0"/>
              </a:rPr>
              <a:t>k(G)≤</a:t>
            </a:r>
            <a:r>
              <a:rPr kumimoji="1" lang="en-US" altLang="zh-CN" b="1">
                <a:latin typeface="Times New Roman" pitchFamily="18" charset="0"/>
                <a:cs typeface="Times New Roman" pitchFamily="18" charset="0"/>
              </a:rPr>
              <a:t>λ(G)</a:t>
            </a:r>
            <a:r>
              <a:rPr kumimoji="1" lang="en-US" altLang="zh-CN" b="1">
                <a:latin typeface="宋体" pitchFamily="2" charset="-122"/>
              </a:rPr>
              <a:t>≤</a:t>
            </a:r>
            <a:r>
              <a:rPr kumimoji="1" lang="en-US" altLang="zh-CN" b="1">
                <a:latin typeface="Times New Roman" pitchFamily="18" charset="0"/>
                <a:cs typeface="Times New Roman" pitchFamily="18" charset="0"/>
              </a:rPr>
              <a:t>δ(G)</a:t>
            </a:r>
          </a:p>
        </p:txBody>
      </p:sp>
      <p:sp>
        <p:nvSpPr>
          <p:cNvPr id="23558" name="Rectangle 6"/>
          <p:cNvSpPr>
            <a:spLocks noChangeArrowheads="1"/>
          </p:cNvSpPr>
          <p:nvPr/>
        </p:nvSpPr>
        <p:spPr bwMode="auto">
          <a:xfrm>
            <a:off x="466725" y="1593850"/>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bg1"/>
              </a:buClr>
            </a:pPr>
            <a:r>
              <a:rPr kumimoji="1" lang="zh-CN" altLang="en-US" b="1">
                <a:solidFill>
                  <a:schemeClr val="hlink"/>
                </a:solidFill>
                <a:latin typeface="Times New Roman" pitchFamily="18" charset="0"/>
              </a:rPr>
              <a:t>证明：</a:t>
            </a:r>
          </a:p>
          <a:p>
            <a:pPr>
              <a:lnSpc>
                <a:spcPct val="130000"/>
              </a:lnSpc>
              <a:buClr>
                <a:schemeClr val="bg1"/>
              </a:buClr>
            </a:pPr>
            <a:r>
              <a:rPr kumimoji="1" lang="en-US" altLang="zh-CN" b="1">
                <a:solidFill>
                  <a:srgbClr val="008000"/>
                </a:solidFill>
                <a:latin typeface="Times New Roman" pitchFamily="18" charset="0"/>
              </a:rPr>
              <a:t>(1)</a:t>
            </a:r>
            <a:r>
              <a:rPr kumimoji="1" lang="zh-CN" altLang="en-US" b="1">
                <a:solidFill>
                  <a:srgbClr val="008000"/>
                </a:solidFill>
                <a:latin typeface="Times New Roman" pitchFamily="18" charset="0"/>
              </a:rPr>
              <a:t>若</a:t>
            </a:r>
            <a:r>
              <a:rPr kumimoji="1" lang="en-US" altLang="zh-CN" b="1">
                <a:solidFill>
                  <a:srgbClr val="008000"/>
                </a:solidFill>
                <a:latin typeface="Times New Roman" pitchFamily="18" charset="0"/>
              </a:rPr>
              <a:t>G</a:t>
            </a:r>
            <a:r>
              <a:rPr kumimoji="1" lang="zh-CN" altLang="en-US" b="1">
                <a:solidFill>
                  <a:srgbClr val="008000"/>
                </a:solidFill>
                <a:latin typeface="Times New Roman" pitchFamily="18" charset="0"/>
              </a:rPr>
              <a:t>不连通</a:t>
            </a:r>
            <a:r>
              <a:rPr kumimoji="1" lang="zh-CN" altLang="en-US" b="1">
                <a:latin typeface="Times New Roman" pitchFamily="18" charset="0"/>
              </a:rPr>
              <a:t>，则</a:t>
            </a:r>
            <a:r>
              <a:rPr kumimoji="1" lang="en-US" altLang="zh-CN" b="1">
                <a:latin typeface="Times New Roman" pitchFamily="18" charset="0"/>
              </a:rPr>
              <a:t>k(G)=λ(G)=0</a:t>
            </a:r>
            <a:r>
              <a:rPr kumimoji="1" lang="zh-CN" altLang="en-US" b="1">
                <a:latin typeface="Times New Roman" pitchFamily="18" charset="0"/>
              </a:rPr>
              <a:t>，故上式成立。</a:t>
            </a:r>
          </a:p>
        </p:txBody>
      </p:sp>
      <p:sp>
        <p:nvSpPr>
          <p:cNvPr id="23560" name="Rectangle 8"/>
          <p:cNvSpPr>
            <a:spLocks noChangeArrowheads="1"/>
          </p:cNvSpPr>
          <p:nvPr/>
        </p:nvSpPr>
        <p:spPr bwMode="auto">
          <a:xfrm>
            <a:off x="466725" y="2590800"/>
            <a:ext cx="8277225"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bg1"/>
              </a:buClr>
            </a:pPr>
            <a:r>
              <a:rPr kumimoji="1" lang="en-US" altLang="zh-CN" b="1">
                <a:solidFill>
                  <a:srgbClr val="008000"/>
                </a:solidFill>
                <a:latin typeface="Times New Roman" pitchFamily="18" charset="0"/>
              </a:rPr>
              <a:t>(2)</a:t>
            </a:r>
            <a:r>
              <a:rPr kumimoji="1" lang="zh-CN" altLang="en-US" b="1">
                <a:solidFill>
                  <a:srgbClr val="008000"/>
                </a:solidFill>
                <a:latin typeface="Times New Roman" pitchFamily="18" charset="0"/>
              </a:rPr>
              <a:t>若</a:t>
            </a:r>
            <a:r>
              <a:rPr kumimoji="1" lang="en-US" altLang="zh-CN" b="1">
                <a:solidFill>
                  <a:srgbClr val="008000"/>
                </a:solidFill>
                <a:latin typeface="Times New Roman" pitchFamily="18" charset="0"/>
              </a:rPr>
              <a:t>G</a:t>
            </a:r>
            <a:r>
              <a:rPr kumimoji="1" lang="zh-CN" altLang="en-US" b="1">
                <a:solidFill>
                  <a:srgbClr val="008000"/>
                </a:solidFill>
                <a:latin typeface="Times New Roman" pitchFamily="18" charset="0"/>
              </a:rPr>
              <a:t>连通</a:t>
            </a:r>
          </a:p>
          <a:p>
            <a:pPr>
              <a:lnSpc>
                <a:spcPct val="130000"/>
              </a:lnSpc>
              <a:buClr>
                <a:schemeClr val="bg1"/>
              </a:buClr>
            </a:pPr>
            <a:r>
              <a:rPr kumimoji="1" lang="en-US" altLang="zh-CN" b="1">
                <a:solidFill>
                  <a:srgbClr val="993300"/>
                </a:solidFill>
                <a:latin typeface="Times New Roman" pitchFamily="18" charset="0"/>
              </a:rPr>
              <a:t>1</a:t>
            </a:r>
            <a:r>
              <a:rPr kumimoji="1" lang="zh-CN" altLang="en-US" b="1">
                <a:solidFill>
                  <a:srgbClr val="993300"/>
                </a:solidFill>
                <a:latin typeface="Times New Roman" pitchFamily="18" charset="0"/>
              </a:rPr>
              <a:t>）证明</a:t>
            </a:r>
            <a:r>
              <a:rPr kumimoji="1" lang="en-US" altLang="zh-CN" b="1">
                <a:solidFill>
                  <a:srgbClr val="993300"/>
                </a:solidFill>
                <a:latin typeface="Times New Roman" pitchFamily="18" charset="0"/>
              </a:rPr>
              <a:t>λ(G)≤δ(G)</a:t>
            </a:r>
            <a:r>
              <a:rPr kumimoji="1" lang="zh-CN" altLang="en-US" b="1">
                <a:latin typeface="Times New Roman" pitchFamily="18" charset="0"/>
              </a:rPr>
              <a:t>：</a:t>
            </a:r>
          </a:p>
          <a:p>
            <a:pPr>
              <a:lnSpc>
                <a:spcPct val="130000"/>
              </a:lnSpc>
              <a:buClr>
                <a:schemeClr val="bg1"/>
              </a:buClr>
            </a:pPr>
            <a:endParaRPr kumimoji="1" lang="zh-CN" altLang="en-US" b="1">
              <a:latin typeface="Times New Roman" pitchFamily="18" charset="0"/>
            </a:endParaRPr>
          </a:p>
          <a:p>
            <a:pPr>
              <a:lnSpc>
                <a:spcPct val="130000"/>
              </a:lnSpc>
              <a:buClr>
                <a:schemeClr val="bg1"/>
              </a:buClr>
            </a:pPr>
            <a:endParaRPr kumimoji="1" lang="zh-CN" altLang="en-US" b="1">
              <a:latin typeface="Times New Roman" pitchFamily="18" charset="0"/>
            </a:endParaRPr>
          </a:p>
          <a:p>
            <a:pPr>
              <a:lnSpc>
                <a:spcPct val="130000"/>
              </a:lnSpc>
              <a:buClr>
                <a:schemeClr val="bg1"/>
              </a:buClr>
            </a:pPr>
            <a:r>
              <a:rPr kumimoji="1" lang="en-US" altLang="zh-CN" b="1">
                <a:solidFill>
                  <a:srgbClr val="993300"/>
                </a:solidFill>
                <a:latin typeface="Times New Roman" pitchFamily="18" charset="0"/>
              </a:rPr>
              <a:t>2</a:t>
            </a:r>
            <a:r>
              <a:rPr kumimoji="1" lang="zh-CN" altLang="en-US" b="1">
                <a:solidFill>
                  <a:srgbClr val="993300"/>
                </a:solidFill>
                <a:latin typeface="Times New Roman" pitchFamily="18" charset="0"/>
              </a:rPr>
              <a:t>）再证</a:t>
            </a:r>
            <a:r>
              <a:rPr kumimoji="1" lang="en-US" altLang="zh-CN" b="1">
                <a:solidFill>
                  <a:srgbClr val="993300"/>
                </a:solidFill>
                <a:latin typeface="Times New Roman" pitchFamily="18" charset="0"/>
              </a:rPr>
              <a:t>k(G)≤λ(G)</a:t>
            </a:r>
            <a:r>
              <a:rPr kumimoji="1" lang="en-US" altLang="zh-CN" b="1">
                <a:latin typeface="Times New Roman" pitchFamily="18" charset="0"/>
              </a:rPr>
              <a:t> </a:t>
            </a:r>
          </a:p>
        </p:txBody>
      </p:sp>
      <p:sp>
        <p:nvSpPr>
          <p:cNvPr id="23559" name="Rectangle 7"/>
          <p:cNvSpPr>
            <a:spLocks noChangeArrowheads="1"/>
          </p:cNvSpPr>
          <p:nvPr/>
        </p:nvSpPr>
        <p:spPr bwMode="auto">
          <a:xfrm>
            <a:off x="466725" y="3548063"/>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bg1"/>
              </a:buClr>
            </a:pPr>
            <a:r>
              <a:rPr kumimoji="1" lang="zh-CN" altLang="en-US" b="1">
                <a:latin typeface="Times New Roman" pitchFamily="18" charset="0"/>
              </a:rPr>
              <a:t>若</a:t>
            </a:r>
            <a:r>
              <a:rPr kumimoji="1" lang="en-US" altLang="zh-CN" b="1">
                <a:latin typeface="Times New Roman" pitchFamily="18" charset="0"/>
              </a:rPr>
              <a:t>G</a:t>
            </a:r>
            <a:r>
              <a:rPr kumimoji="1" lang="zh-CN" altLang="en-US" b="1">
                <a:latin typeface="Times New Roman" pitchFamily="18" charset="0"/>
              </a:rPr>
              <a:t>是平凡图，则</a:t>
            </a:r>
            <a:r>
              <a:rPr kumimoji="1" lang="en-US" altLang="zh-CN" b="1">
                <a:latin typeface="Times New Roman" pitchFamily="18" charset="0"/>
              </a:rPr>
              <a:t>λ(G) =0≤ δ(G)</a:t>
            </a:r>
            <a:r>
              <a:rPr kumimoji="1" lang="zh-CN" altLang="en-US" b="1">
                <a:latin typeface="Times New Roman" pitchFamily="18" charset="0"/>
              </a:rPr>
              <a:t>；若是非平凡图，则因每一结点的所有关联边必含有一个边割集，故</a:t>
            </a:r>
            <a:r>
              <a:rPr kumimoji="1" lang="en-US" altLang="zh-CN" b="1">
                <a:latin typeface="Times New Roman" pitchFamily="18" charset="0"/>
              </a:rPr>
              <a:t>λ(G) ≤ δ(G)</a:t>
            </a:r>
          </a:p>
        </p:txBody>
      </p:sp>
    </p:spTree>
    <p:extLst>
      <p:ext uri="{BB962C8B-B14F-4D97-AF65-F5344CB8AC3E}">
        <p14:creationId xmlns:p14="http://schemas.microsoft.com/office/powerpoint/2010/main" val="1902795700"/>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8"/>
                                        </p:tgtEl>
                                        <p:attrNameLst>
                                          <p:attrName>style.visibility</p:attrName>
                                        </p:attrNameLst>
                                      </p:cBhvr>
                                      <p:to>
                                        <p:strVal val="visible"/>
                                      </p:to>
                                    </p:set>
                                    <p:anim calcmode="lin" valueType="num">
                                      <p:cBhvr additive="base">
                                        <p:cTn id="7" dur="500" fill="hold"/>
                                        <p:tgtEl>
                                          <p:spTgt spid="23558"/>
                                        </p:tgtEl>
                                        <p:attrNameLst>
                                          <p:attrName>ppt_x</p:attrName>
                                        </p:attrNameLst>
                                      </p:cBhvr>
                                      <p:tavLst>
                                        <p:tav tm="0">
                                          <p:val>
                                            <p:strVal val="#ppt_x"/>
                                          </p:val>
                                        </p:tav>
                                        <p:tav tm="100000">
                                          <p:val>
                                            <p:strVal val="#ppt_x"/>
                                          </p:val>
                                        </p:tav>
                                      </p:tavLst>
                                    </p:anim>
                                    <p:anim calcmode="lin" valueType="num">
                                      <p:cBhvr additive="base">
                                        <p:cTn id="8" dur="500" fill="hold"/>
                                        <p:tgtEl>
                                          <p:spTgt spid="2355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60"/>
                                        </p:tgtEl>
                                        <p:attrNameLst>
                                          <p:attrName>style.visibility</p:attrName>
                                        </p:attrNameLst>
                                      </p:cBhvr>
                                      <p:to>
                                        <p:strVal val="visible"/>
                                      </p:to>
                                    </p:set>
                                    <p:anim calcmode="lin" valueType="num">
                                      <p:cBhvr additive="base">
                                        <p:cTn id="13" dur="500" fill="hold"/>
                                        <p:tgtEl>
                                          <p:spTgt spid="23560"/>
                                        </p:tgtEl>
                                        <p:attrNameLst>
                                          <p:attrName>ppt_x</p:attrName>
                                        </p:attrNameLst>
                                      </p:cBhvr>
                                      <p:tavLst>
                                        <p:tav tm="0">
                                          <p:val>
                                            <p:strVal val="#ppt_x"/>
                                          </p:val>
                                        </p:tav>
                                        <p:tav tm="100000">
                                          <p:val>
                                            <p:strVal val="#ppt_x"/>
                                          </p:val>
                                        </p:tav>
                                      </p:tavLst>
                                    </p:anim>
                                    <p:anim calcmode="lin" valueType="num">
                                      <p:cBhvr additive="base">
                                        <p:cTn id="14" dur="500" fill="hold"/>
                                        <p:tgtEl>
                                          <p:spTgt spid="2356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559"/>
                                        </p:tgtEl>
                                        <p:attrNameLst>
                                          <p:attrName>style.visibility</p:attrName>
                                        </p:attrNameLst>
                                      </p:cBhvr>
                                      <p:to>
                                        <p:strVal val="visible"/>
                                      </p:to>
                                    </p:set>
                                    <p:anim calcmode="lin" valueType="num">
                                      <p:cBhvr additive="base">
                                        <p:cTn id="19" dur="500" fill="hold"/>
                                        <p:tgtEl>
                                          <p:spTgt spid="23559"/>
                                        </p:tgtEl>
                                        <p:attrNameLst>
                                          <p:attrName>ppt_x</p:attrName>
                                        </p:attrNameLst>
                                      </p:cBhvr>
                                      <p:tavLst>
                                        <p:tav tm="0">
                                          <p:val>
                                            <p:strVal val="#ppt_x"/>
                                          </p:val>
                                        </p:tav>
                                        <p:tav tm="100000">
                                          <p:val>
                                            <p:strVal val="#ppt_x"/>
                                          </p:val>
                                        </p:tav>
                                      </p:tavLst>
                                    </p:anim>
                                    <p:anim calcmode="lin" valueType="num">
                                      <p:cBhvr additive="base">
                                        <p:cTn id="20" dur="500" fill="hold"/>
                                        <p:tgtEl>
                                          <p:spTgt spid="235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8" grpId="0"/>
      <p:bldP spid="23560" grpId="0"/>
      <p:bldP spid="23559"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pPr>
              <a:defRPr/>
            </a:pPr>
            <a:fld id="{34590C00-EB44-48E8-9C2F-2CB1F7715230}" type="slidenum">
              <a:rPr lang="en-US" altLang="zh-CN"/>
              <a:pPr>
                <a:defRPr/>
              </a:pPr>
              <a:t>31</a:t>
            </a:fld>
            <a:endParaRPr lang="en-US" altLang="zh-CN"/>
          </a:p>
        </p:txBody>
      </p:sp>
      <p:sp>
        <p:nvSpPr>
          <p:cNvPr id="110595" name="Rectangle 3"/>
          <p:cNvSpPr>
            <a:spLocks noGrp="1" noChangeArrowheads="1"/>
          </p:cNvSpPr>
          <p:nvPr>
            <p:ph type="body" idx="1"/>
          </p:nvPr>
        </p:nvSpPr>
        <p:spPr>
          <a:xfrm>
            <a:off x="466725" y="1052513"/>
            <a:ext cx="8277225" cy="5313362"/>
          </a:xfrm>
          <a:noFill/>
        </p:spPr>
        <p:txBody>
          <a:bodyPr/>
          <a:lstStyle/>
          <a:p>
            <a:pPr eaLnBrk="1" hangingPunct="1">
              <a:buClr>
                <a:schemeClr val="bg1"/>
              </a:buClr>
              <a:buSzTx/>
              <a:buFontTx/>
              <a:buNone/>
            </a:pPr>
            <a:r>
              <a:rPr kumimoji="1" lang="en-US" altLang="zh-CN" smtClean="0">
                <a:solidFill>
                  <a:srgbClr val="993300"/>
                </a:solidFill>
              </a:rPr>
              <a:t>2</a:t>
            </a:r>
            <a:r>
              <a:rPr kumimoji="1" lang="zh-CN" altLang="en-US" smtClean="0">
                <a:solidFill>
                  <a:srgbClr val="993300"/>
                </a:solidFill>
              </a:rPr>
              <a:t>）再证</a:t>
            </a:r>
            <a:r>
              <a:rPr kumimoji="1" lang="en-US" altLang="zh-CN" smtClean="0">
                <a:solidFill>
                  <a:srgbClr val="993300"/>
                </a:solidFill>
              </a:rPr>
              <a:t>k(G)≤λ(G)</a:t>
            </a:r>
            <a:r>
              <a:rPr kumimoji="1" lang="en-US" altLang="zh-CN" smtClean="0"/>
              <a:t> </a:t>
            </a:r>
          </a:p>
          <a:p>
            <a:pPr eaLnBrk="1" hangingPunct="1">
              <a:buClr>
                <a:schemeClr val="bg1"/>
              </a:buClr>
              <a:buSzTx/>
              <a:buFontTx/>
              <a:buNone/>
            </a:pPr>
            <a:r>
              <a:rPr kumimoji="1" lang="zh-CN" altLang="en-US" smtClean="0"/>
              <a:t>设</a:t>
            </a:r>
            <a:r>
              <a:rPr kumimoji="1" lang="en-US" altLang="zh-CN" smtClean="0"/>
              <a:t>λ(G)=1</a:t>
            </a:r>
            <a:r>
              <a:rPr kumimoji="1" lang="zh-CN" altLang="en-US" smtClean="0"/>
              <a:t>，即</a:t>
            </a:r>
            <a:r>
              <a:rPr kumimoji="1" lang="en-US" altLang="zh-CN" smtClean="0"/>
              <a:t>G</a:t>
            </a:r>
            <a:r>
              <a:rPr kumimoji="1" lang="zh-CN" altLang="en-US" smtClean="0"/>
              <a:t>有一割边， </a:t>
            </a:r>
            <a:r>
              <a:rPr kumimoji="1" lang="en-US" altLang="zh-CN" smtClean="0"/>
              <a:t>k(G) =1</a:t>
            </a:r>
            <a:r>
              <a:rPr kumimoji="1" lang="zh-CN" altLang="en-US" smtClean="0"/>
              <a:t>，上式成立。</a:t>
            </a:r>
          </a:p>
          <a:p>
            <a:pPr eaLnBrk="1" hangingPunct="1">
              <a:buClr>
                <a:schemeClr val="bg1"/>
              </a:buClr>
              <a:buSzTx/>
              <a:buFontTx/>
              <a:buNone/>
            </a:pPr>
            <a:r>
              <a:rPr kumimoji="1" lang="zh-CN" altLang="en-US" smtClean="0"/>
              <a:t>设</a:t>
            </a:r>
            <a:r>
              <a:rPr kumimoji="1" lang="en-US" altLang="zh-CN" smtClean="0"/>
              <a:t>λ(G)≥2</a:t>
            </a:r>
            <a:r>
              <a:rPr kumimoji="1" lang="zh-CN" altLang="en-US" smtClean="0"/>
              <a:t>，则必可删除某</a:t>
            </a:r>
            <a:r>
              <a:rPr kumimoji="1" lang="en-US" altLang="zh-CN" smtClean="0"/>
              <a:t>λ(G)</a:t>
            </a:r>
            <a:r>
              <a:rPr kumimoji="1" lang="zh-CN" altLang="en-US" smtClean="0"/>
              <a:t>条边，使</a:t>
            </a:r>
            <a:r>
              <a:rPr kumimoji="1" lang="en-US" altLang="zh-CN" smtClean="0"/>
              <a:t>G</a:t>
            </a:r>
            <a:r>
              <a:rPr kumimoji="1" lang="zh-CN" altLang="en-US" smtClean="0"/>
              <a:t>不连通，而删去其中</a:t>
            </a:r>
            <a:r>
              <a:rPr kumimoji="1" lang="en-US" altLang="zh-CN" smtClean="0"/>
              <a:t>λ(G)–1</a:t>
            </a:r>
            <a:r>
              <a:rPr kumimoji="1" lang="zh-CN" altLang="en-US" smtClean="0"/>
              <a:t>条边，它仍是连通的，且有一条桥</a:t>
            </a:r>
            <a:r>
              <a:rPr kumimoji="1" lang="en-US" altLang="zh-CN" smtClean="0"/>
              <a:t>e=(u, v)</a:t>
            </a:r>
            <a:r>
              <a:rPr kumimoji="1" lang="zh-CN" altLang="en-US" smtClean="0"/>
              <a:t>。</a:t>
            </a:r>
          </a:p>
          <a:p>
            <a:pPr eaLnBrk="1" hangingPunct="1">
              <a:buClr>
                <a:schemeClr val="bg1"/>
              </a:buClr>
              <a:buSzTx/>
              <a:buFontTx/>
              <a:buNone/>
            </a:pPr>
            <a:r>
              <a:rPr kumimoji="1" lang="zh-CN" altLang="en-US" smtClean="0"/>
              <a:t>对</a:t>
            </a:r>
            <a:r>
              <a:rPr kumimoji="1" lang="en-US" altLang="zh-CN" smtClean="0"/>
              <a:t>λ(G)-1</a:t>
            </a:r>
            <a:r>
              <a:rPr kumimoji="1" lang="zh-CN" altLang="en-US" smtClean="0"/>
              <a:t>条边中的每一条边，都选取一个不同于</a:t>
            </a:r>
            <a:r>
              <a:rPr kumimoji="1" lang="en-US" altLang="zh-CN" smtClean="0"/>
              <a:t>u</a:t>
            </a:r>
            <a:r>
              <a:rPr kumimoji="1" lang="zh-CN" altLang="en-US" smtClean="0"/>
              <a:t>，</a:t>
            </a:r>
            <a:r>
              <a:rPr kumimoji="1" lang="en-US" altLang="zh-CN" smtClean="0"/>
              <a:t>v</a:t>
            </a:r>
            <a:r>
              <a:rPr kumimoji="1" lang="zh-CN" altLang="en-US" smtClean="0"/>
              <a:t>的端点，</a:t>
            </a:r>
            <a:r>
              <a:rPr kumimoji="1" lang="zh-CN" altLang="en-US" smtClean="0">
                <a:solidFill>
                  <a:srgbClr val="993300"/>
                </a:solidFill>
              </a:rPr>
              <a:t>最多有</a:t>
            </a:r>
            <a:r>
              <a:rPr kumimoji="1" lang="en-US" altLang="zh-CN" smtClean="0">
                <a:solidFill>
                  <a:srgbClr val="993300"/>
                </a:solidFill>
              </a:rPr>
              <a:t>λ(G)-1</a:t>
            </a:r>
            <a:r>
              <a:rPr kumimoji="1" lang="zh-CN" altLang="en-US" smtClean="0">
                <a:solidFill>
                  <a:srgbClr val="993300"/>
                </a:solidFill>
              </a:rPr>
              <a:t>个这样的点</a:t>
            </a:r>
            <a:r>
              <a:rPr kumimoji="1" lang="zh-CN" altLang="en-US" smtClean="0"/>
              <a:t>，将这些点删除，则必删除了</a:t>
            </a:r>
            <a:r>
              <a:rPr kumimoji="1" lang="en-US" altLang="zh-CN" smtClean="0"/>
              <a:t>λ(G)-1</a:t>
            </a:r>
            <a:r>
              <a:rPr kumimoji="1" lang="zh-CN" altLang="en-US" smtClean="0"/>
              <a:t>条边。</a:t>
            </a:r>
          </a:p>
          <a:p>
            <a:pPr eaLnBrk="1" hangingPunct="1">
              <a:buClr>
                <a:schemeClr val="bg1"/>
              </a:buClr>
              <a:buSzTx/>
              <a:buFontTx/>
              <a:buNone/>
            </a:pPr>
            <a:r>
              <a:rPr kumimoji="1" lang="zh-CN" altLang="en-US" smtClean="0">
                <a:solidFill>
                  <a:srgbClr val="993300"/>
                </a:solidFill>
              </a:rPr>
              <a:t>若这样的图是不连通的</a:t>
            </a:r>
            <a:r>
              <a:rPr kumimoji="1" lang="zh-CN" altLang="en-US" smtClean="0"/>
              <a:t>，则</a:t>
            </a:r>
            <a:r>
              <a:rPr kumimoji="1" lang="en-US" altLang="zh-CN" smtClean="0"/>
              <a:t>k(G)≤λ(G)-1&lt;λ(G),</a:t>
            </a:r>
          </a:p>
          <a:p>
            <a:pPr eaLnBrk="1" hangingPunct="1">
              <a:buClr>
                <a:schemeClr val="bg1"/>
              </a:buClr>
              <a:buSzTx/>
              <a:buFontTx/>
              <a:buNone/>
            </a:pPr>
            <a:r>
              <a:rPr kumimoji="1" lang="zh-CN" altLang="en-US" smtClean="0">
                <a:solidFill>
                  <a:srgbClr val="993300"/>
                </a:solidFill>
              </a:rPr>
              <a:t>若是连通的</a:t>
            </a:r>
            <a:r>
              <a:rPr kumimoji="1" lang="zh-CN" altLang="en-US" smtClean="0"/>
              <a:t>，则</a:t>
            </a:r>
            <a:r>
              <a:rPr kumimoji="1" lang="en-US" altLang="zh-CN" smtClean="0"/>
              <a:t>e</a:t>
            </a:r>
            <a:r>
              <a:rPr kumimoji="1" lang="zh-CN" altLang="en-US" smtClean="0"/>
              <a:t>仍是桥，此时再删去</a:t>
            </a:r>
            <a:r>
              <a:rPr kumimoji="1" lang="en-US" altLang="zh-CN" smtClean="0"/>
              <a:t>u</a:t>
            </a:r>
            <a:r>
              <a:rPr kumimoji="1" lang="zh-CN" altLang="en-US" smtClean="0"/>
              <a:t>或</a:t>
            </a:r>
            <a:r>
              <a:rPr kumimoji="1" lang="en-US" altLang="zh-CN" smtClean="0"/>
              <a:t>v</a:t>
            </a:r>
            <a:r>
              <a:rPr kumimoji="1" lang="zh-CN" altLang="en-US" smtClean="0"/>
              <a:t>，就必产生一个不连通图，故</a:t>
            </a:r>
            <a:r>
              <a:rPr kumimoji="1" lang="en-US" altLang="zh-CN" smtClean="0"/>
              <a:t>k(G)≤λ(G) </a:t>
            </a:r>
            <a:r>
              <a:rPr kumimoji="1" lang="zh-CN" altLang="en-US" smtClean="0"/>
              <a:t>。   </a:t>
            </a:r>
          </a:p>
          <a:p>
            <a:pPr eaLnBrk="1" hangingPunct="1">
              <a:buClr>
                <a:schemeClr val="bg1"/>
              </a:buClr>
              <a:buSzTx/>
              <a:buFontTx/>
              <a:buNone/>
            </a:pPr>
            <a:r>
              <a:rPr kumimoji="1" lang="zh-CN" altLang="en-US" smtClean="0"/>
              <a:t>由此可得</a:t>
            </a:r>
            <a:r>
              <a:rPr kumimoji="1" lang="en-US" altLang="zh-CN" smtClean="0"/>
              <a:t>k(G)≤λ(G)≤δ(G)</a:t>
            </a:r>
            <a:r>
              <a:rPr kumimoji="1" lang="zh-CN" altLang="en-US" smtClean="0"/>
              <a:t>。</a:t>
            </a:r>
          </a:p>
        </p:txBody>
      </p:sp>
    </p:spTree>
    <p:extLst>
      <p:ext uri="{BB962C8B-B14F-4D97-AF65-F5344CB8AC3E}">
        <p14:creationId xmlns:p14="http://schemas.microsoft.com/office/powerpoint/2010/main" val="1354288833"/>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0595">
                                            <p:txEl>
                                              <p:pRg st="1" end="1"/>
                                            </p:txEl>
                                          </p:spTgt>
                                        </p:tgtEl>
                                        <p:attrNameLst>
                                          <p:attrName>style.visibility</p:attrName>
                                        </p:attrNameLst>
                                      </p:cBhvr>
                                      <p:to>
                                        <p:strVal val="visible"/>
                                      </p:to>
                                    </p:set>
                                    <p:anim calcmode="lin" valueType="num">
                                      <p:cBhvr additive="base">
                                        <p:cTn id="7" dur="500" fill="hold"/>
                                        <p:tgtEl>
                                          <p:spTgt spid="11059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05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0595">
                                            <p:txEl>
                                              <p:pRg st="2" end="2"/>
                                            </p:txEl>
                                          </p:spTgt>
                                        </p:tgtEl>
                                        <p:attrNameLst>
                                          <p:attrName>style.visibility</p:attrName>
                                        </p:attrNameLst>
                                      </p:cBhvr>
                                      <p:to>
                                        <p:strVal val="visible"/>
                                      </p:to>
                                    </p:set>
                                    <p:anim calcmode="lin" valueType="num">
                                      <p:cBhvr additive="base">
                                        <p:cTn id="13" dur="500" fill="hold"/>
                                        <p:tgtEl>
                                          <p:spTgt spid="11059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05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0595">
                                            <p:txEl>
                                              <p:pRg st="3" end="3"/>
                                            </p:txEl>
                                          </p:spTgt>
                                        </p:tgtEl>
                                        <p:attrNameLst>
                                          <p:attrName>style.visibility</p:attrName>
                                        </p:attrNameLst>
                                      </p:cBhvr>
                                      <p:to>
                                        <p:strVal val="visible"/>
                                      </p:to>
                                    </p:set>
                                    <p:anim calcmode="lin" valueType="num">
                                      <p:cBhvr additive="base">
                                        <p:cTn id="19" dur="500" fill="hold"/>
                                        <p:tgtEl>
                                          <p:spTgt spid="11059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05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0595">
                                            <p:txEl>
                                              <p:pRg st="4" end="4"/>
                                            </p:txEl>
                                          </p:spTgt>
                                        </p:tgtEl>
                                        <p:attrNameLst>
                                          <p:attrName>style.visibility</p:attrName>
                                        </p:attrNameLst>
                                      </p:cBhvr>
                                      <p:to>
                                        <p:strVal val="visible"/>
                                      </p:to>
                                    </p:set>
                                    <p:anim calcmode="lin" valueType="num">
                                      <p:cBhvr additive="base">
                                        <p:cTn id="25" dur="500" fill="hold"/>
                                        <p:tgtEl>
                                          <p:spTgt spid="110595">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05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10595">
                                            <p:txEl>
                                              <p:pRg st="5" end="5"/>
                                            </p:txEl>
                                          </p:spTgt>
                                        </p:tgtEl>
                                        <p:attrNameLst>
                                          <p:attrName>style.visibility</p:attrName>
                                        </p:attrNameLst>
                                      </p:cBhvr>
                                      <p:to>
                                        <p:strVal val="visible"/>
                                      </p:to>
                                    </p:set>
                                    <p:anim calcmode="lin" valueType="num">
                                      <p:cBhvr additive="base">
                                        <p:cTn id="31" dur="500" fill="hold"/>
                                        <p:tgtEl>
                                          <p:spTgt spid="110595">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059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10595">
                                            <p:txEl>
                                              <p:pRg st="6" end="6"/>
                                            </p:txEl>
                                          </p:spTgt>
                                        </p:tgtEl>
                                        <p:attrNameLst>
                                          <p:attrName>style.visibility</p:attrName>
                                        </p:attrNameLst>
                                      </p:cBhvr>
                                      <p:to>
                                        <p:strVal val="visible"/>
                                      </p:to>
                                    </p:set>
                                    <p:anim calcmode="lin" valueType="num">
                                      <p:cBhvr additive="base">
                                        <p:cTn id="37" dur="500" fill="hold"/>
                                        <p:tgtEl>
                                          <p:spTgt spid="110595">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059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pPr>
              <a:defRPr/>
            </a:pPr>
            <a:fld id="{6AAA7590-0C81-40B8-8A12-6330A097DF67}" type="slidenum">
              <a:rPr lang="en-US" altLang="zh-CN"/>
              <a:pPr>
                <a:defRPr/>
              </a:pPr>
              <a:t>32</a:t>
            </a:fld>
            <a:endParaRPr lang="en-US" altLang="zh-CN"/>
          </a:p>
        </p:txBody>
      </p:sp>
      <p:sp>
        <p:nvSpPr>
          <p:cNvPr id="40963" name="Text Box 2"/>
          <p:cNvSpPr txBox="1">
            <a:spLocks noChangeArrowheads="1"/>
          </p:cNvSpPr>
          <p:nvPr/>
        </p:nvSpPr>
        <p:spPr bwMode="auto">
          <a:xfrm>
            <a:off x="611188" y="2276475"/>
            <a:ext cx="7920037" cy="663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ctr" eaLnBrk="1" hangingPunct="1">
              <a:lnSpc>
                <a:spcPct val="130000"/>
              </a:lnSpc>
            </a:pPr>
            <a:r>
              <a:rPr kumimoji="1" lang="zh-CN" altLang="zh-CN" sz="3200" b="1" dirty="0">
                <a:latin typeface="Times New Roman" pitchFamily="18" charset="0"/>
                <a:ea typeface="楷体_GB2312" pitchFamily="49" charset="-122"/>
              </a:rPr>
              <a:t>作业</a:t>
            </a:r>
            <a:r>
              <a:rPr kumimoji="1" lang="zh-CN" altLang="zh-CN" sz="3200" b="1" dirty="0" smtClean="0">
                <a:latin typeface="Times New Roman" pitchFamily="18" charset="0"/>
                <a:ea typeface="楷体_GB2312" pitchFamily="49" charset="-122"/>
              </a:rPr>
              <a:t>：P279(1)</a:t>
            </a:r>
            <a:r>
              <a:rPr kumimoji="1" lang="zh-CN" altLang="en-US" sz="3200" b="1" dirty="0" smtClean="0">
                <a:latin typeface="Times New Roman" pitchFamily="18" charset="0"/>
                <a:ea typeface="楷体_GB2312" pitchFamily="49" charset="-122"/>
              </a:rPr>
              <a:t>，</a:t>
            </a:r>
            <a:r>
              <a:rPr kumimoji="1" lang="zh-CN" altLang="zh-CN" sz="3200" b="1" dirty="0" smtClean="0">
                <a:latin typeface="Times New Roman" pitchFamily="18" charset="0"/>
                <a:ea typeface="楷体_GB2312" pitchFamily="49" charset="-122"/>
              </a:rPr>
              <a:t>P</a:t>
            </a:r>
            <a:r>
              <a:rPr kumimoji="1" lang="zh-CN" altLang="zh-CN" sz="3200" b="1" dirty="0">
                <a:latin typeface="Times New Roman" pitchFamily="18" charset="0"/>
                <a:ea typeface="楷体_GB2312" pitchFamily="49" charset="-122"/>
              </a:rPr>
              <a:t>287(5</a:t>
            </a:r>
            <a:r>
              <a:rPr kumimoji="1" lang="zh-CN" altLang="zh-CN" sz="3200" b="1" dirty="0" smtClean="0">
                <a:latin typeface="Times New Roman" pitchFamily="18" charset="0"/>
                <a:ea typeface="楷体_GB2312" pitchFamily="49" charset="-122"/>
              </a:rPr>
              <a:t>)</a:t>
            </a:r>
            <a:r>
              <a:rPr kumimoji="1" lang="zh-CN" altLang="en-US" sz="3200" b="1" dirty="0" smtClean="0">
                <a:latin typeface="Times New Roman" pitchFamily="18" charset="0"/>
                <a:ea typeface="楷体_GB2312" pitchFamily="49" charset="-122"/>
              </a:rPr>
              <a:t>，</a:t>
            </a:r>
            <a:r>
              <a:rPr kumimoji="1" lang="en-US" altLang="zh-CN" sz="3200" b="1" dirty="0" smtClean="0">
                <a:latin typeface="Times New Roman" pitchFamily="18" charset="0"/>
                <a:ea typeface="楷体_GB2312" pitchFamily="49" charset="-122"/>
              </a:rPr>
              <a:t>(</a:t>
            </a:r>
            <a:r>
              <a:rPr kumimoji="1" lang="en-US" altLang="zh-CN" sz="3200" b="1" dirty="0">
                <a:latin typeface="Times New Roman" pitchFamily="18" charset="0"/>
                <a:ea typeface="楷体_GB2312" pitchFamily="49" charset="-122"/>
              </a:rPr>
              <a:t>7</a:t>
            </a:r>
            <a:r>
              <a:rPr kumimoji="1" lang="en-US" altLang="zh-CN" sz="3200" b="1" dirty="0" smtClean="0">
                <a:latin typeface="Times New Roman" pitchFamily="18" charset="0"/>
                <a:ea typeface="楷体_GB2312" pitchFamily="49" charset="-122"/>
              </a:rPr>
              <a:t>)</a:t>
            </a:r>
            <a:endParaRPr kumimoji="1" lang="en-US" altLang="zh-CN" sz="3200" b="1" dirty="0">
              <a:latin typeface="Times New Roman" pitchFamily="18" charset="0"/>
              <a:ea typeface="楷体_GB2312" pitchFamily="49" charset="-122"/>
            </a:endParaRPr>
          </a:p>
        </p:txBody>
      </p:sp>
    </p:spTree>
    <p:extLst>
      <p:ext uri="{BB962C8B-B14F-4D97-AF65-F5344CB8AC3E}">
        <p14:creationId xmlns:p14="http://schemas.microsoft.com/office/powerpoint/2010/main" val="1416109443"/>
      </p:ext>
    </p:extLst>
  </p:cSld>
  <p:clrMapOvr>
    <a:masterClrMapping/>
  </p:clrMapOvr>
  <p:transition spd="slow">
    <p:random/>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4"/>
          <p:cNvSpPr>
            <a:spLocks noGrp="1"/>
          </p:cNvSpPr>
          <p:nvPr>
            <p:ph type="sldNum" sz="quarter" idx="11"/>
          </p:nvPr>
        </p:nvSpPr>
        <p:spPr/>
        <p:txBody>
          <a:bodyPr/>
          <a:lstStyle/>
          <a:p>
            <a:pPr>
              <a:defRPr/>
            </a:pPr>
            <a:fld id="{EDFC530D-8A25-4B09-829D-CD7DB27C2F08}" type="slidenum">
              <a:rPr lang="en-US" altLang="zh-CN"/>
              <a:pPr>
                <a:defRPr/>
              </a:pPr>
              <a:t>33</a:t>
            </a:fld>
            <a:endParaRPr lang="en-US" altLang="zh-CN"/>
          </a:p>
        </p:txBody>
      </p:sp>
      <p:sp>
        <p:nvSpPr>
          <p:cNvPr id="11267" name="Rectangle 2"/>
          <p:cNvSpPr>
            <a:spLocks noGrp="1" noChangeArrowheads="1"/>
          </p:cNvSpPr>
          <p:nvPr>
            <p:ph type="title"/>
          </p:nvPr>
        </p:nvSpPr>
        <p:spPr/>
        <p:txBody>
          <a:bodyPr/>
          <a:lstStyle/>
          <a:p>
            <a:pPr eaLnBrk="1" hangingPunct="1"/>
            <a:r>
              <a:rPr lang="zh-CN" altLang="en-US" smtClean="0"/>
              <a:t>复习</a:t>
            </a:r>
          </a:p>
        </p:txBody>
      </p:sp>
      <p:sp>
        <p:nvSpPr>
          <p:cNvPr id="167939" name="Rectangle 3"/>
          <p:cNvSpPr>
            <a:spLocks noGrp="1" noChangeArrowheads="1"/>
          </p:cNvSpPr>
          <p:nvPr>
            <p:ph type="body" idx="1"/>
          </p:nvPr>
        </p:nvSpPr>
        <p:spPr>
          <a:xfrm>
            <a:off x="466725" y="836712"/>
            <a:ext cx="8425755" cy="5373779"/>
          </a:xfrm>
        </p:spPr>
        <p:txBody>
          <a:bodyPr/>
          <a:lstStyle/>
          <a:p>
            <a:pPr eaLnBrk="1" hangingPunct="1"/>
            <a:r>
              <a:rPr lang="en-US" altLang="zh-CN" dirty="0" smtClean="0"/>
              <a:t>1</a:t>
            </a:r>
            <a:r>
              <a:rPr lang="zh-CN" altLang="en-US" dirty="0" smtClean="0"/>
              <a:t>、图： </a:t>
            </a:r>
            <a:r>
              <a:rPr kumimoji="1" lang="en-US" altLang="zh-CN" dirty="0" smtClean="0"/>
              <a:t>&lt;V(G), E(G), </a:t>
            </a:r>
            <a:r>
              <a:rPr kumimoji="1" lang="en-US" altLang="zh-CN" dirty="0" smtClean="0">
                <a:solidFill>
                  <a:srgbClr val="000000"/>
                </a:solidFill>
                <a:sym typeface="Symbol" pitchFamily="18" charset="2"/>
              </a:rPr>
              <a:t></a:t>
            </a:r>
            <a:r>
              <a:rPr kumimoji="1" lang="en-US" altLang="zh-CN" baseline="-25000" dirty="0" smtClean="0">
                <a:solidFill>
                  <a:srgbClr val="000000"/>
                </a:solidFill>
                <a:sym typeface="Symbol" pitchFamily="18" charset="2"/>
              </a:rPr>
              <a:t>G</a:t>
            </a:r>
            <a:r>
              <a:rPr kumimoji="1" lang="en-US" altLang="zh-CN" dirty="0" smtClean="0"/>
              <a:t>&gt;</a:t>
            </a:r>
          </a:p>
          <a:p>
            <a:pPr eaLnBrk="1" hangingPunct="1"/>
            <a:r>
              <a:rPr kumimoji="1" lang="en-US" altLang="zh-CN" dirty="0" smtClean="0"/>
              <a:t>2</a:t>
            </a:r>
            <a:r>
              <a:rPr kumimoji="1" lang="zh-CN" altLang="en-US" dirty="0" smtClean="0"/>
              <a:t>、有向边和无向边，与有序序偶和无序序偶</a:t>
            </a:r>
          </a:p>
          <a:p>
            <a:pPr eaLnBrk="1" hangingPunct="1"/>
            <a:r>
              <a:rPr kumimoji="1" lang="en-US" altLang="zh-CN" dirty="0" smtClean="0"/>
              <a:t>3</a:t>
            </a:r>
            <a:r>
              <a:rPr kumimoji="1" lang="zh-CN" altLang="en-US" dirty="0" smtClean="0"/>
              <a:t>、图：有向图、无向图和混合图。特殊图：零</a:t>
            </a:r>
            <a:r>
              <a:rPr kumimoji="1" lang="zh-CN" altLang="en-US" dirty="0"/>
              <a:t>图、平凡图</a:t>
            </a:r>
          </a:p>
          <a:p>
            <a:pPr eaLnBrk="1" hangingPunct="1"/>
            <a:r>
              <a:rPr kumimoji="1" lang="en-US" altLang="zh-CN" dirty="0" smtClean="0"/>
              <a:t>4</a:t>
            </a:r>
            <a:r>
              <a:rPr kumimoji="1" lang="zh-CN" altLang="en-US" dirty="0" smtClean="0"/>
              <a:t>、邻接点、孤立点</a:t>
            </a:r>
          </a:p>
          <a:p>
            <a:pPr eaLnBrk="1" hangingPunct="1"/>
            <a:r>
              <a:rPr kumimoji="1" lang="en-US" altLang="zh-CN" dirty="0" smtClean="0"/>
              <a:t>5</a:t>
            </a:r>
            <a:r>
              <a:rPr kumimoji="1" lang="zh-CN" altLang="en-US" dirty="0" smtClean="0"/>
              <a:t>、邻接边、自回路或者环</a:t>
            </a:r>
          </a:p>
          <a:p>
            <a:pPr eaLnBrk="1" hangingPunct="1"/>
            <a:r>
              <a:rPr kumimoji="1" lang="en-US" altLang="zh-CN" dirty="0" smtClean="0"/>
              <a:t>6</a:t>
            </a:r>
            <a:r>
              <a:rPr kumimoji="1" lang="zh-CN" altLang="en-US" dirty="0" smtClean="0"/>
              <a:t>、结点的度、最大度、最小度</a:t>
            </a:r>
            <a:endParaRPr kumimoji="1" lang="en-US" altLang="zh-CN" dirty="0" smtClean="0"/>
          </a:p>
          <a:p>
            <a:pPr eaLnBrk="1" hangingPunct="1"/>
            <a:r>
              <a:rPr kumimoji="1" lang="en-US" altLang="zh-CN" dirty="0" smtClean="0"/>
              <a:t>7</a:t>
            </a:r>
            <a:r>
              <a:rPr kumimoji="1" lang="zh-CN" altLang="en-US" dirty="0" smtClean="0"/>
              <a:t>、</a:t>
            </a:r>
            <a:endParaRPr kumimoji="1" lang="en-US" altLang="zh-CN" dirty="0" smtClean="0"/>
          </a:p>
          <a:p>
            <a:pPr eaLnBrk="1" hangingPunct="1"/>
            <a:r>
              <a:rPr kumimoji="1" lang="en-US" altLang="zh-CN" dirty="0" smtClean="0"/>
              <a:t>8</a:t>
            </a:r>
            <a:r>
              <a:rPr kumimoji="1" lang="zh-CN" altLang="en-US" dirty="0" smtClean="0"/>
              <a:t>、完全图，补图</a:t>
            </a:r>
            <a:r>
              <a:rPr kumimoji="1" lang="zh-CN" altLang="en-US" dirty="0">
                <a:latin typeface="Times New Roman" pitchFamily="18" charset="0"/>
                <a:sym typeface="Symbol" pitchFamily="18" charset="2"/>
              </a:rPr>
              <a:t></a:t>
            </a:r>
            <a:r>
              <a:rPr kumimoji="1" lang="en-US" altLang="zh-CN" dirty="0">
                <a:latin typeface="Times New Roman" pitchFamily="18" charset="0"/>
              </a:rPr>
              <a:t>G </a:t>
            </a:r>
            <a:r>
              <a:rPr kumimoji="1" lang="zh-CN" altLang="en-US" dirty="0" smtClean="0"/>
              <a:t>，子图</a:t>
            </a:r>
            <a:r>
              <a:rPr kumimoji="1" lang="zh-CN" altLang="en-US" dirty="0"/>
              <a:t>，生成子图</a:t>
            </a:r>
            <a:r>
              <a:rPr kumimoji="1" lang="zh-CN" altLang="en-US" dirty="0" smtClean="0"/>
              <a:t>，子图相对于</a:t>
            </a:r>
            <a:r>
              <a:rPr kumimoji="1" lang="en-US" altLang="zh-CN" dirty="0" smtClean="0"/>
              <a:t>G</a:t>
            </a:r>
            <a:r>
              <a:rPr kumimoji="1" lang="zh-CN" altLang="en-US" dirty="0" smtClean="0"/>
              <a:t>的补图</a:t>
            </a:r>
            <a:endParaRPr kumimoji="1" lang="en-US" altLang="zh-CN" dirty="0" smtClean="0"/>
          </a:p>
          <a:p>
            <a:pPr defTabSz="296863" eaLnBrk="1" hangingPunct="1">
              <a:tabLst>
                <a:tab pos="0" algn="l"/>
                <a:tab pos="8069263" algn="l"/>
              </a:tabLst>
            </a:pPr>
            <a:r>
              <a:rPr kumimoji="1" lang="en-US" altLang="zh-CN" dirty="0" smtClean="0"/>
              <a:t>9</a:t>
            </a:r>
            <a:r>
              <a:rPr kumimoji="1" lang="zh-CN" altLang="en-US" dirty="0" smtClean="0"/>
              <a:t>、</a:t>
            </a:r>
            <a:r>
              <a:rPr kumimoji="1" lang="zh-CN" altLang="en-US" dirty="0"/>
              <a:t>路，回路，迹，通路，</a:t>
            </a:r>
            <a:r>
              <a:rPr kumimoji="1" lang="zh-CN" altLang="en-US" dirty="0" smtClean="0"/>
              <a:t>圈</a:t>
            </a:r>
            <a:endParaRPr kumimoji="1" lang="en-US" altLang="zh-CN" dirty="0" smtClean="0"/>
          </a:p>
          <a:p>
            <a:pPr defTabSz="296863" eaLnBrk="1" hangingPunct="1">
              <a:tabLst>
                <a:tab pos="0" algn="l"/>
                <a:tab pos="8069263" algn="l"/>
              </a:tabLst>
            </a:pPr>
            <a:r>
              <a:rPr kumimoji="1" lang="en-US" altLang="zh-CN" dirty="0" smtClean="0"/>
              <a:t>10</a:t>
            </a:r>
            <a:r>
              <a:rPr kumimoji="1" lang="zh-CN" altLang="en-US" dirty="0" smtClean="0"/>
              <a:t>、连通分支</a:t>
            </a:r>
            <a:r>
              <a:rPr kumimoji="1" lang="zh-CN" altLang="en-US" dirty="0"/>
              <a:t>，连通图，连通度，割点，边连通度，割边</a:t>
            </a:r>
            <a:endParaRPr kumimoji="1" lang="en-US" altLang="zh-CN" dirty="0"/>
          </a:p>
          <a:p>
            <a:pPr defTabSz="296863" eaLnBrk="1" hangingPunct="1">
              <a:tabLst>
                <a:tab pos="0" algn="l"/>
                <a:tab pos="8069263" algn="l"/>
              </a:tabLst>
            </a:pPr>
            <a:r>
              <a:rPr kumimoji="1" lang="en-US" altLang="zh-CN" dirty="0" smtClean="0"/>
              <a:t>11</a:t>
            </a:r>
            <a:r>
              <a:rPr kumimoji="1" lang="zh-CN" altLang="en-US" dirty="0" smtClean="0"/>
              <a:t>、</a:t>
            </a:r>
            <a:r>
              <a:rPr kumimoji="1" lang="zh-CN" altLang="en-US" dirty="0"/>
              <a:t>对于任何一个图</a:t>
            </a:r>
            <a:r>
              <a:rPr kumimoji="1" lang="en-US" altLang="zh-CN" dirty="0"/>
              <a:t>G</a:t>
            </a:r>
            <a:r>
              <a:rPr kumimoji="1" lang="zh-CN" altLang="en-US" dirty="0"/>
              <a:t>，有 </a:t>
            </a:r>
            <a:r>
              <a:rPr kumimoji="1" lang="en-US" altLang="zh-CN" dirty="0"/>
              <a:t>k(G)≤λ(G)≤δ(G</a:t>
            </a:r>
            <a:r>
              <a:rPr kumimoji="1" lang="en-US" altLang="zh-CN" dirty="0" smtClean="0"/>
              <a:t>)</a:t>
            </a:r>
            <a:endParaRPr kumimoji="1" lang="en-US" altLang="zh-CN" dirty="0"/>
          </a:p>
        </p:txBody>
      </p:sp>
      <p:grpSp>
        <p:nvGrpSpPr>
          <p:cNvPr id="167940" name="Group 4"/>
          <p:cNvGrpSpPr>
            <a:grpSpLocks/>
          </p:cNvGrpSpPr>
          <p:nvPr/>
        </p:nvGrpSpPr>
        <p:grpSpPr bwMode="auto">
          <a:xfrm>
            <a:off x="5364088" y="2996952"/>
            <a:ext cx="2667000" cy="1295400"/>
            <a:chOff x="432" y="192"/>
            <a:chExt cx="1680" cy="816"/>
          </a:xfrm>
        </p:grpSpPr>
        <p:sp>
          <p:nvSpPr>
            <p:cNvPr id="11270" name="Text Box 5"/>
            <p:cNvSpPr txBox="1">
              <a:spLocks noChangeArrowheads="1"/>
            </p:cNvSpPr>
            <p:nvPr/>
          </p:nvSpPr>
          <p:spPr bwMode="auto">
            <a:xfrm>
              <a:off x="1152" y="528"/>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c</a:t>
              </a:r>
            </a:p>
          </p:txBody>
        </p:sp>
        <p:grpSp>
          <p:nvGrpSpPr>
            <p:cNvPr id="11271" name="Group 6"/>
            <p:cNvGrpSpPr>
              <a:grpSpLocks/>
            </p:cNvGrpSpPr>
            <p:nvPr/>
          </p:nvGrpSpPr>
          <p:grpSpPr bwMode="auto">
            <a:xfrm>
              <a:off x="432" y="192"/>
              <a:ext cx="1680" cy="816"/>
              <a:chOff x="432" y="192"/>
              <a:chExt cx="1680" cy="816"/>
            </a:xfrm>
          </p:grpSpPr>
          <p:grpSp>
            <p:nvGrpSpPr>
              <p:cNvPr id="11272" name="Group 7"/>
              <p:cNvGrpSpPr>
                <a:grpSpLocks/>
              </p:cNvGrpSpPr>
              <p:nvPr/>
            </p:nvGrpSpPr>
            <p:grpSpPr bwMode="auto">
              <a:xfrm>
                <a:off x="672" y="192"/>
                <a:ext cx="1200" cy="816"/>
                <a:chOff x="2340" y="5340"/>
                <a:chExt cx="1830" cy="1560"/>
              </a:xfrm>
            </p:grpSpPr>
            <p:sp>
              <p:nvSpPr>
                <p:cNvPr id="11275" name="Oval 8"/>
                <p:cNvSpPr>
                  <a:spLocks noChangeArrowheads="1"/>
                </p:cNvSpPr>
                <p:nvPr/>
              </p:nvSpPr>
              <p:spPr bwMode="auto">
                <a:xfrm>
                  <a:off x="2340" y="5340"/>
                  <a:ext cx="1800" cy="468"/>
                </a:xfrm>
                <a:prstGeom prst="ellipse">
                  <a:avLst/>
                </a:prstGeom>
                <a:solidFill>
                  <a:srgbClr val="FFFFFF"/>
                </a:solidFill>
                <a:ln w="25400">
                  <a:solidFill>
                    <a:srgbClr val="000000"/>
                  </a:solidFill>
                  <a:round/>
                  <a:headEnd/>
                  <a:tailEnd/>
                </a:ln>
              </p:spPr>
              <p:txBody>
                <a:bodyPr/>
                <a:lstStyle/>
                <a:p>
                  <a:endParaRPr lang="zh-CN" altLang="en-US"/>
                </a:p>
              </p:txBody>
            </p:sp>
            <p:sp>
              <p:nvSpPr>
                <p:cNvPr id="11276" name="Freeform 9"/>
                <p:cNvSpPr>
                  <a:spLocks/>
                </p:cNvSpPr>
                <p:nvPr/>
              </p:nvSpPr>
              <p:spPr bwMode="auto">
                <a:xfrm>
                  <a:off x="2340" y="5496"/>
                  <a:ext cx="1830" cy="936"/>
                </a:xfrm>
                <a:custGeom>
                  <a:avLst/>
                  <a:gdLst>
                    <a:gd name="T0" fmla="*/ 0 w 1830"/>
                    <a:gd name="T1" fmla="*/ 0 h 936"/>
                    <a:gd name="T2" fmla="*/ 180 w 1830"/>
                    <a:gd name="T3" fmla="*/ 468 h 936"/>
                    <a:gd name="T4" fmla="*/ 900 w 1830"/>
                    <a:gd name="T5" fmla="*/ 936 h 936"/>
                    <a:gd name="T6" fmla="*/ 1620 w 1830"/>
                    <a:gd name="T7" fmla="*/ 468 h 936"/>
                    <a:gd name="T8" fmla="*/ 1800 w 1830"/>
                    <a:gd name="T9" fmla="*/ 156 h 936"/>
                    <a:gd name="T10" fmla="*/ 1800 w 1830"/>
                    <a:gd name="T11" fmla="*/ 135 h 93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30" h="936">
                      <a:moveTo>
                        <a:pt x="0" y="0"/>
                      </a:moveTo>
                      <a:cubicBezTo>
                        <a:pt x="15" y="156"/>
                        <a:pt x="30" y="312"/>
                        <a:pt x="180" y="468"/>
                      </a:cubicBezTo>
                      <a:cubicBezTo>
                        <a:pt x="330" y="624"/>
                        <a:pt x="660" y="936"/>
                        <a:pt x="900" y="936"/>
                      </a:cubicBezTo>
                      <a:cubicBezTo>
                        <a:pt x="1140" y="936"/>
                        <a:pt x="1470" y="598"/>
                        <a:pt x="1620" y="468"/>
                      </a:cubicBezTo>
                      <a:cubicBezTo>
                        <a:pt x="1770" y="338"/>
                        <a:pt x="1770" y="212"/>
                        <a:pt x="1800" y="156"/>
                      </a:cubicBezTo>
                      <a:cubicBezTo>
                        <a:pt x="1830" y="100"/>
                        <a:pt x="1800" y="139"/>
                        <a:pt x="1800" y="135"/>
                      </a:cubicBez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1277" name="Oval 10"/>
                <p:cNvSpPr>
                  <a:spLocks noChangeArrowheads="1"/>
                </p:cNvSpPr>
                <p:nvPr/>
              </p:nvSpPr>
              <p:spPr bwMode="auto">
                <a:xfrm>
                  <a:off x="2970" y="6432"/>
                  <a:ext cx="540" cy="468"/>
                </a:xfrm>
                <a:prstGeom prst="ellipse">
                  <a:avLst/>
                </a:prstGeom>
                <a:solidFill>
                  <a:srgbClr val="FFFFFF"/>
                </a:solidFill>
                <a:ln w="25400">
                  <a:solidFill>
                    <a:srgbClr val="000000"/>
                  </a:solidFill>
                  <a:round/>
                  <a:headEnd/>
                  <a:tailEnd/>
                </a:ln>
              </p:spPr>
              <p:txBody>
                <a:bodyPr/>
                <a:lstStyle/>
                <a:p>
                  <a:endParaRPr lang="zh-CN" altLang="en-US"/>
                </a:p>
              </p:txBody>
            </p:sp>
          </p:grpSp>
          <p:sp>
            <p:nvSpPr>
              <p:cNvPr id="11273" name="Text Box 11"/>
              <p:cNvSpPr txBox="1">
                <a:spLocks noChangeArrowheads="1"/>
              </p:cNvSpPr>
              <p:nvPr/>
            </p:nvSpPr>
            <p:spPr bwMode="auto">
              <a:xfrm>
                <a:off x="1872" y="19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b</a:t>
                </a:r>
              </a:p>
            </p:txBody>
          </p:sp>
          <p:sp>
            <p:nvSpPr>
              <p:cNvPr id="11274" name="Text Box 12"/>
              <p:cNvSpPr txBox="1">
                <a:spLocks noChangeArrowheads="1"/>
              </p:cNvSpPr>
              <p:nvPr/>
            </p:nvSpPr>
            <p:spPr bwMode="auto">
              <a:xfrm>
                <a:off x="432" y="192"/>
                <a:ext cx="24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a</a:t>
                </a:r>
              </a:p>
            </p:txBody>
          </p:sp>
        </p:grpSp>
      </p:grpSp>
      <p:graphicFrame>
        <p:nvGraphicFramePr>
          <p:cNvPr id="2" name="对象 1"/>
          <p:cNvGraphicFramePr>
            <a:graphicFrameLocks noChangeAspect="1"/>
          </p:cNvGraphicFramePr>
          <p:nvPr>
            <p:extLst>
              <p:ext uri="{D42A27DB-BD31-4B8C-83A1-F6EECF244321}">
                <p14:modId xmlns:p14="http://schemas.microsoft.com/office/powerpoint/2010/main" val="2369124486"/>
              </p:ext>
            </p:extLst>
          </p:nvPr>
        </p:nvGraphicFramePr>
        <p:xfrm>
          <a:off x="1043608" y="3701802"/>
          <a:ext cx="2016125" cy="571500"/>
        </p:xfrm>
        <a:graphic>
          <a:graphicData uri="http://schemas.openxmlformats.org/presentationml/2006/ole">
            <mc:AlternateContent xmlns:mc="http://schemas.openxmlformats.org/markup-compatibility/2006">
              <mc:Choice xmlns:v="urn:schemas-microsoft-com:vml" Requires="v">
                <p:oleObj spid="_x0000_s64523" name="Equation" r:id="rId3" imgW="2019300" imgH="571500" progId="Equation.DSMT4">
                  <p:embed/>
                </p:oleObj>
              </mc:Choice>
              <mc:Fallback>
                <p:oleObj name="Equation" r:id="rId3" imgW="2019300" imgH="5715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3608" y="3701802"/>
                        <a:ext cx="201612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441613025"/>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67939">
                                            <p:txEl>
                                              <p:pRg st="1" end="1"/>
                                            </p:txEl>
                                          </p:spTgt>
                                        </p:tgtEl>
                                        <p:attrNameLst>
                                          <p:attrName>style.visibility</p:attrName>
                                        </p:attrNameLst>
                                      </p:cBhvr>
                                      <p:to>
                                        <p:strVal val="visible"/>
                                      </p:to>
                                    </p:set>
                                    <p:anim calcmode="lin" valueType="num">
                                      <p:cBhvr additive="base">
                                        <p:cTn id="7" dur="500" fill="hold"/>
                                        <p:tgtEl>
                                          <p:spTgt spid="16793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79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67939">
                                            <p:txEl>
                                              <p:pRg st="2" end="2"/>
                                            </p:txEl>
                                          </p:spTgt>
                                        </p:tgtEl>
                                        <p:attrNameLst>
                                          <p:attrName>style.visibility</p:attrName>
                                        </p:attrNameLst>
                                      </p:cBhvr>
                                      <p:to>
                                        <p:strVal val="visible"/>
                                      </p:to>
                                    </p:set>
                                    <p:anim calcmode="lin" valueType="num">
                                      <p:cBhvr additive="base">
                                        <p:cTn id="13" dur="500" fill="hold"/>
                                        <p:tgtEl>
                                          <p:spTgt spid="16793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679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67939">
                                            <p:txEl>
                                              <p:pRg st="3" end="3"/>
                                            </p:txEl>
                                          </p:spTgt>
                                        </p:tgtEl>
                                        <p:attrNameLst>
                                          <p:attrName>style.visibility</p:attrName>
                                        </p:attrNameLst>
                                      </p:cBhvr>
                                      <p:to>
                                        <p:strVal val="visible"/>
                                      </p:to>
                                    </p:set>
                                    <p:anim calcmode="lin" valueType="num">
                                      <p:cBhvr additive="base">
                                        <p:cTn id="19" dur="500" fill="hold"/>
                                        <p:tgtEl>
                                          <p:spTgt spid="16793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79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67939">
                                            <p:txEl>
                                              <p:pRg st="4" end="4"/>
                                            </p:txEl>
                                          </p:spTgt>
                                        </p:tgtEl>
                                        <p:attrNameLst>
                                          <p:attrName>style.visibility</p:attrName>
                                        </p:attrNameLst>
                                      </p:cBhvr>
                                      <p:to>
                                        <p:strVal val="visible"/>
                                      </p:to>
                                    </p:set>
                                    <p:anim calcmode="lin" valueType="num">
                                      <p:cBhvr additive="base">
                                        <p:cTn id="25" dur="500" fill="hold"/>
                                        <p:tgtEl>
                                          <p:spTgt spid="16793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679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67939">
                                            <p:txEl>
                                              <p:pRg st="5" end="5"/>
                                            </p:txEl>
                                          </p:spTgt>
                                        </p:tgtEl>
                                        <p:attrNameLst>
                                          <p:attrName>style.visibility</p:attrName>
                                        </p:attrNameLst>
                                      </p:cBhvr>
                                      <p:to>
                                        <p:strVal val="visible"/>
                                      </p:to>
                                    </p:set>
                                    <p:anim calcmode="lin" valueType="num">
                                      <p:cBhvr additive="base">
                                        <p:cTn id="31" dur="500" fill="hold"/>
                                        <p:tgtEl>
                                          <p:spTgt spid="16793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793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167940"/>
                                        </p:tgtEl>
                                        <p:attrNameLst>
                                          <p:attrName>style.visibility</p:attrName>
                                        </p:attrNameLst>
                                      </p:cBhvr>
                                      <p:to>
                                        <p:strVal val="visible"/>
                                      </p:to>
                                    </p:set>
                                    <p:anim calcmode="lin" valueType="num">
                                      <p:cBhvr additive="base">
                                        <p:cTn id="37" dur="500" fill="hold"/>
                                        <p:tgtEl>
                                          <p:spTgt spid="167940"/>
                                        </p:tgtEl>
                                        <p:attrNameLst>
                                          <p:attrName>ppt_x</p:attrName>
                                        </p:attrNameLst>
                                      </p:cBhvr>
                                      <p:tavLst>
                                        <p:tav tm="0">
                                          <p:val>
                                            <p:strVal val="#ppt_x"/>
                                          </p:val>
                                        </p:tav>
                                        <p:tav tm="100000">
                                          <p:val>
                                            <p:strVal val="#ppt_x"/>
                                          </p:val>
                                        </p:tav>
                                      </p:tavLst>
                                    </p:anim>
                                    <p:anim calcmode="lin" valueType="num">
                                      <p:cBhvr additive="base">
                                        <p:cTn id="38" dur="500" fill="hold"/>
                                        <p:tgtEl>
                                          <p:spTgt spid="167940"/>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67939">
                                            <p:txEl>
                                              <p:pRg st="6" end="6"/>
                                            </p:txEl>
                                          </p:spTgt>
                                        </p:tgtEl>
                                        <p:attrNameLst>
                                          <p:attrName>style.visibility</p:attrName>
                                        </p:attrNameLst>
                                      </p:cBhvr>
                                      <p:to>
                                        <p:strVal val="visible"/>
                                      </p:to>
                                    </p:set>
                                    <p:anim calcmode="lin" valueType="num">
                                      <p:cBhvr additive="base">
                                        <p:cTn id="43" dur="500" fill="hold"/>
                                        <p:tgtEl>
                                          <p:spTgt spid="167939">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67939">
                                            <p:txEl>
                                              <p:pRg st="6" end="6"/>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67939">
                                            <p:txEl>
                                              <p:pRg st="7" end="7"/>
                                            </p:txEl>
                                          </p:spTgt>
                                        </p:tgtEl>
                                        <p:attrNameLst>
                                          <p:attrName>style.visibility</p:attrName>
                                        </p:attrNameLst>
                                      </p:cBhvr>
                                      <p:to>
                                        <p:strVal val="visible"/>
                                      </p:to>
                                    </p:set>
                                    <p:anim calcmode="lin" valueType="num">
                                      <p:cBhvr additive="base">
                                        <p:cTn id="53" dur="500" fill="hold"/>
                                        <p:tgtEl>
                                          <p:spTgt spid="167939">
                                            <p:txEl>
                                              <p:pRg st="7" end="7"/>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167939">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167939">
                                            <p:txEl>
                                              <p:pRg st="8" end="8"/>
                                            </p:txEl>
                                          </p:spTgt>
                                        </p:tgtEl>
                                        <p:attrNameLst>
                                          <p:attrName>style.visibility</p:attrName>
                                        </p:attrNameLst>
                                      </p:cBhvr>
                                      <p:to>
                                        <p:strVal val="visible"/>
                                      </p:to>
                                    </p:set>
                                    <p:anim calcmode="lin" valueType="num">
                                      <p:cBhvr additive="base">
                                        <p:cTn id="59" dur="500" fill="hold"/>
                                        <p:tgtEl>
                                          <p:spTgt spid="167939">
                                            <p:txEl>
                                              <p:pRg st="8" end="8"/>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167939">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nodeType="clickEffect">
                                  <p:stCondLst>
                                    <p:cond delay="0"/>
                                  </p:stCondLst>
                                  <p:childTnLst>
                                    <p:set>
                                      <p:cBhvr>
                                        <p:cTn id="64" dur="1" fill="hold">
                                          <p:stCondLst>
                                            <p:cond delay="0"/>
                                          </p:stCondLst>
                                        </p:cTn>
                                        <p:tgtEl>
                                          <p:spTgt spid="167939">
                                            <p:txEl>
                                              <p:pRg st="9" end="9"/>
                                            </p:txEl>
                                          </p:spTgt>
                                        </p:tgtEl>
                                        <p:attrNameLst>
                                          <p:attrName>style.visibility</p:attrName>
                                        </p:attrNameLst>
                                      </p:cBhvr>
                                      <p:to>
                                        <p:strVal val="visible"/>
                                      </p:to>
                                    </p:set>
                                    <p:anim calcmode="lin" valueType="num">
                                      <p:cBhvr additive="base">
                                        <p:cTn id="65" dur="500" fill="hold"/>
                                        <p:tgtEl>
                                          <p:spTgt spid="167939">
                                            <p:txEl>
                                              <p:pRg st="9" end="9"/>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167939">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167939">
                                            <p:txEl>
                                              <p:pRg st="10" end="10"/>
                                            </p:txEl>
                                          </p:spTgt>
                                        </p:tgtEl>
                                        <p:attrNameLst>
                                          <p:attrName>style.visibility</p:attrName>
                                        </p:attrNameLst>
                                      </p:cBhvr>
                                      <p:to>
                                        <p:strVal val="visible"/>
                                      </p:to>
                                    </p:set>
                                    <p:anim calcmode="lin" valueType="num">
                                      <p:cBhvr additive="base">
                                        <p:cTn id="71" dur="500" fill="hold"/>
                                        <p:tgtEl>
                                          <p:spTgt spid="167939">
                                            <p:txEl>
                                              <p:pRg st="10" end="10"/>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167939">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pPr>
              <a:defRPr/>
            </a:pPr>
            <a:fld id="{E8B8773F-C714-4D4E-81F4-5A4AD099FEAF}" type="slidenum">
              <a:rPr lang="en-US" altLang="zh-CN"/>
              <a:pPr>
                <a:defRPr/>
              </a:pPr>
              <a:t>34</a:t>
            </a:fld>
            <a:endParaRPr lang="en-US" altLang="zh-CN"/>
          </a:p>
        </p:txBody>
      </p:sp>
      <p:sp>
        <p:nvSpPr>
          <p:cNvPr id="36867" name="Rectangle 3"/>
          <p:cNvSpPr>
            <a:spLocks noGrp="1" noChangeArrowheads="1"/>
          </p:cNvSpPr>
          <p:nvPr>
            <p:ph type="body" idx="1"/>
          </p:nvPr>
        </p:nvSpPr>
        <p:spPr>
          <a:xfrm>
            <a:off x="468313" y="1124744"/>
            <a:ext cx="8277225" cy="5373779"/>
          </a:xfrm>
          <a:noFill/>
        </p:spPr>
        <p:txBody>
          <a:bodyPr/>
          <a:lstStyle/>
          <a:p>
            <a:pPr eaLnBrk="1" hangingPunct="1">
              <a:buClrTx/>
              <a:buSzTx/>
              <a:buFontTx/>
              <a:buNone/>
            </a:pPr>
            <a:r>
              <a:rPr kumimoji="1" lang="zh-CN" altLang="en-US" dirty="0" smtClean="0">
                <a:solidFill>
                  <a:srgbClr val="0000CC"/>
                </a:solidFill>
              </a:rPr>
              <a:t>定理</a:t>
            </a:r>
            <a:r>
              <a:rPr kumimoji="1" lang="en-US" altLang="zh-CN" dirty="0" smtClean="0">
                <a:solidFill>
                  <a:srgbClr val="0000CC"/>
                </a:solidFill>
              </a:rPr>
              <a:t>7-2.3</a:t>
            </a:r>
            <a:r>
              <a:rPr kumimoji="1" lang="zh-CN" altLang="en-US" dirty="0" smtClean="0">
                <a:solidFill>
                  <a:srgbClr val="0000CC"/>
                </a:solidFill>
              </a:rPr>
              <a:t>：</a:t>
            </a:r>
            <a:r>
              <a:rPr kumimoji="1" lang="zh-CN" altLang="en-US" dirty="0" smtClean="0"/>
              <a:t>一个连通无向图</a:t>
            </a:r>
            <a:r>
              <a:rPr kumimoji="1" lang="en-US" altLang="zh-CN" dirty="0" smtClean="0"/>
              <a:t>G</a:t>
            </a:r>
            <a:r>
              <a:rPr kumimoji="1" lang="zh-CN" altLang="en-US" dirty="0" smtClean="0"/>
              <a:t>中的结点</a:t>
            </a:r>
            <a:r>
              <a:rPr kumimoji="1" lang="en-US" altLang="zh-CN" dirty="0" smtClean="0"/>
              <a:t>v</a:t>
            </a:r>
            <a:r>
              <a:rPr kumimoji="1" lang="zh-CN" altLang="en-US" dirty="0" smtClean="0"/>
              <a:t>是割点的充分必要条件是</a:t>
            </a:r>
            <a:r>
              <a:rPr kumimoji="1" lang="zh-CN" altLang="en-US" dirty="0" smtClean="0">
                <a:solidFill>
                  <a:srgbClr val="0000CC"/>
                </a:solidFill>
              </a:rPr>
              <a:t>存在两个结点</a:t>
            </a:r>
            <a:r>
              <a:rPr kumimoji="1" lang="en-US" altLang="zh-CN" dirty="0" smtClean="0">
                <a:solidFill>
                  <a:srgbClr val="0000CC"/>
                </a:solidFill>
              </a:rPr>
              <a:t>u</a:t>
            </a:r>
            <a:r>
              <a:rPr kumimoji="1" lang="zh-CN" altLang="en-US" dirty="0" smtClean="0">
                <a:solidFill>
                  <a:srgbClr val="0000CC"/>
                </a:solidFill>
              </a:rPr>
              <a:t>和</a:t>
            </a:r>
            <a:r>
              <a:rPr kumimoji="1" lang="en-US" altLang="zh-CN" dirty="0" smtClean="0">
                <a:solidFill>
                  <a:srgbClr val="0000CC"/>
                </a:solidFill>
              </a:rPr>
              <a:t>w</a:t>
            </a:r>
            <a:r>
              <a:rPr kumimoji="1" lang="zh-CN" altLang="en-US" dirty="0" smtClean="0"/>
              <a:t>，使得结点</a:t>
            </a:r>
            <a:r>
              <a:rPr kumimoji="1" lang="en-US" altLang="zh-CN" dirty="0" smtClean="0"/>
              <a:t>u</a:t>
            </a:r>
            <a:r>
              <a:rPr kumimoji="1" lang="zh-CN" altLang="en-US" dirty="0" smtClean="0"/>
              <a:t>和</a:t>
            </a:r>
            <a:r>
              <a:rPr kumimoji="1" lang="en-US" altLang="zh-CN" dirty="0" smtClean="0"/>
              <a:t>w</a:t>
            </a:r>
            <a:r>
              <a:rPr kumimoji="1" lang="zh-CN" altLang="en-US" dirty="0" smtClean="0"/>
              <a:t>的每一条路都通过</a:t>
            </a:r>
            <a:r>
              <a:rPr kumimoji="1" lang="en-US" altLang="zh-CN" dirty="0" smtClean="0"/>
              <a:t>v</a:t>
            </a:r>
            <a:r>
              <a:rPr kumimoji="1" lang="zh-CN" altLang="en-US" dirty="0" smtClean="0"/>
              <a:t>。</a:t>
            </a:r>
            <a:endParaRPr kumimoji="1" lang="en-US" altLang="zh-CN" dirty="0" smtClean="0"/>
          </a:p>
          <a:p>
            <a:pPr eaLnBrk="1" hangingPunct="1">
              <a:buClrTx/>
              <a:buSzTx/>
              <a:buFontTx/>
              <a:buNone/>
            </a:pPr>
            <a:r>
              <a:rPr kumimoji="1" lang="zh-CN" altLang="en-US" dirty="0" smtClean="0"/>
              <a:t>证明：若结点</a:t>
            </a:r>
            <a:r>
              <a:rPr kumimoji="1" lang="en-US" altLang="zh-CN" dirty="0" smtClean="0"/>
              <a:t>v</a:t>
            </a:r>
            <a:r>
              <a:rPr kumimoji="1" lang="zh-CN" altLang="en-US" dirty="0" smtClean="0"/>
              <a:t>是图</a:t>
            </a:r>
            <a:r>
              <a:rPr kumimoji="1" lang="en-US" altLang="zh-CN" dirty="0" smtClean="0"/>
              <a:t>G</a:t>
            </a:r>
            <a:r>
              <a:rPr kumimoji="1" lang="zh-CN" altLang="en-US" dirty="0" smtClean="0"/>
              <a:t>的割点，则删去点</a:t>
            </a:r>
            <a:r>
              <a:rPr kumimoji="1" lang="en-US" altLang="zh-CN" dirty="0" smtClean="0"/>
              <a:t>v</a:t>
            </a:r>
            <a:r>
              <a:rPr kumimoji="1" lang="zh-CN" altLang="en-US" dirty="0" smtClean="0"/>
              <a:t>得到子图</a:t>
            </a:r>
            <a:r>
              <a:rPr kumimoji="1" lang="en-US" altLang="zh-CN" dirty="0" smtClean="0"/>
              <a:t>G’</a:t>
            </a:r>
            <a:r>
              <a:rPr kumimoji="1" lang="zh-CN" altLang="en-US" dirty="0" smtClean="0"/>
              <a:t>，</a:t>
            </a:r>
            <a:endParaRPr kumimoji="1" lang="en-US" altLang="zh-CN" dirty="0" smtClean="0"/>
          </a:p>
          <a:p>
            <a:pPr eaLnBrk="1" hangingPunct="1">
              <a:buClrTx/>
              <a:buSzTx/>
              <a:buFontTx/>
              <a:buNone/>
            </a:pPr>
            <a:r>
              <a:rPr kumimoji="1" lang="zh-CN" altLang="en-US" dirty="0" smtClean="0"/>
              <a:t>则</a:t>
            </a:r>
            <a:r>
              <a:rPr kumimoji="1" lang="en-US" altLang="zh-CN" dirty="0" smtClean="0"/>
              <a:t>G’</a:t>
            </a:r>
            <a:r>
              <a:rPr kumimoji="1" lang="zh-CN" altLang="en-US" dirty="0"/>
              <a:t>至少</a:t>
            </a:r>
            <a:r>
              <a:rPr kumimoji="1" lang="zh-CN" altLang="en-US" dirty="0" smtClean="0"/>
              <a:t>包含两个连通分支</a:t>
            </a:r>
            <a:r>
              <a:rPr kumimoji="1" lang="en-US" altLang="zh-CN" dirty="0" smtClean="0"/>
              <a:t>G</a:t>
            </a:r>
            <a:r>
              <a:rPr kumimoji="1" lang="en-US" altLang="zh-CN" baseline="-25000" dirty="0" smtClean="0"/>
              <a:t>1</a:t>
            </a:r>
            <a:r>
              <a:rPr kumimoji="1" lang="en-US" altLang="zh-CN" dirty="0" smtClean="0"/>
              <a:t>=&lt;V</a:t>
            </a:r>
            <a:r>
              <a:rPr kumimoji="1" lang="en-US" altLang="zh-CN" baseline="-25000" dirty="0" smtClean="0"/>
              <a:t>1</a:t>
            </a:r>
            <a:r>
              <a:rPr kumimoji="1" lang="en-US" altLang="zh-CN" dirty="0" smtClean="0"/>
              <a:t>, E</a:t>
            </a:r>
            <a:r>
              <a:rPr kumimoji="1" lang="en-US" altLang="zh-CN" baseline="-25000" dirty="0" smtClean="0"/>
              <a:t>1</a:t>
            </a:r>
            <a:r>
              <a:rPr kumimoji="1" lang="en-US" altLang="zh-CN" dirty="0" smtClean="0"/>
              <a:t>&gt;</a:t>
            </a:r>
            <a:r>
              <a:rPr kumimoji="1" lang="zh-CN" altLang="en-US" dirty="0" smtClean="0"/>
              <a:t>和</a:t>
            </a:r>
            <a:r>
              <a:rPr kumimoji="1" lang="en-US" altLang="zh-CN" dirty="0" smtClean="0"/>
              <a:t>G</a:t>
            </a:r>
            <a:r>
              <a:rPr kumimoji="1" lang="en-US" altLang="zh-CN" baseline="-25000" dirty="0" smtClean="0"/>
              <a:t>2</a:t>
            </a:r>
            <a:r>
              <a:rPr kumimoji="1" lang="en-US" altLang="zh-CN" dirty="0" smtClean="0"/>
              <a:t>=&lt;V</a:t>
            </a:r>
            <a:r>
              <a:rPr kumimoji="1" lang="en-US" altLang="zh-CN" baseline="-25000" dirty="0" smtClean="0"/>
              <a:t>2</a:t>
            </a:r>
            <a:r>
              <a:rPr kumimoji="1" lang="en-US" altLang="zh-CN" dirty="0" smtClean="0"/>
              <a:t>, E</a:t>
            </a:r>
            <a:r>
              <a:rPr kumimoji="1" lang="en-US" altLang="zh-CN" baseline="-25000" dirty="0" smtClean="0"/>
              <a:t>2</a:t>
            </a:r>
            <a:r>
              <a:rPr kumimoji="1" lang="en-US" altLang="zh-CN" dirty="0" smtClean="0"/>
              <a:t>&gt;</a:t>
            </a:r>
            <a:r>
              <a:rPr kumimoji="1" lang="zh-CN" altLang="en-US" dirty="0" smtClean="0"/>
              <a:t>，</a:t>
            </a:r>
            <a:endParaRPr kumimoji="1" lang="en-US" altLang="zh-CN" dirty="0" smtClean="0"/>
          </a:p>
          <a:p>
            <a:pPr eaLnBrk="1" hangingPunct="1">
              <a:buClrTx/>
              <a:buSzTx/>
              <a:buFontTx/>
              <a:buNone/>
            </a:pPr>
            <a:r>
              <a:rPr kumimoji="1" lang="zh-CN" altLang="en-US" dirty="0" smtClean="0"/>
              <a:t>若从</a:t>
            </a:r>
            <a:r>
              <a:rPr kumimoji="1" lang="en-US" altLang="zh-CN" dirty="0" smtClean="0"/>
              <a:t>V</a:t>
            </a:r>
            <a:r>
              <a:rPr kumimoji="1" lang="en-US" altLang="zh-CN" baseline="-25000" dirty="0" smtClean="0"/>
              <a:t>1</a:t>
            </a:r>
            <a:r>
              <a:rPr kumimoji="1" lang="zh-CN" altLang="en-US" dirty="0" smtClean="0"/>
              <a:t>中</a:t>
            </a:r>
            <a:r>
              <a:rPr kumimoji="1" lang="zh-CN" altLang="en-US" dirty="0"/>
              <a:t>取</a:t>
            </a:r>
            <a:r>
              <a:rPr kumimoji="1" lang="zh-CN" altLang="en-US" dirty="0" smtClean="0"/>
              <a:t>点</a:t>
            </a:r>
            <a:r>
              <a:rPr kumimoji="1" lang="en-US" altLang="zh-CN" dirty="0" smtClean="0"/>
              <a:t>u</a:t>
            </a:r>
            <a:r>
              <a:rPr kumimoji="1" lang="zh-CN" altLang="en-US" dirty="0" smtClean="0"/>
              <a:t>，</a:t>
            </a:r>
            <a:r>
              <a:rPr kumimoji="1" lang="en-US" altLang="zh-CN" dirty="0" smtClean="0"/>
              <a:t>V</a:t>
            </a:r>
            <a:r>
              <a:rPr kumimoji="1" lang="en-US" altLang="zh-CN" baseline="-25000" dirty="0" smtClean="0"/>
              <a:t>2</a:t>
            </a:r>
            <a:r>
              <a:rPr kumimoji="1" lang="zh-CN" altLang="en-US" dirty="0" smtClean="0"/>
              <a:t>中取点</a:t>
            </a:r>
            <a:r>
              <a:rPr kumimoji="1" lang="en-US" altLang="zh-CN" dirty="0" smtClean="0"/>
              <a:t>w</a:t>
            </a:r>
            <a:r>
              <a:rPr kumimoji="1" lang="zh-CN" altLang="en-US" dirty="0" smtClean="0"/>
              <a:t>，</a:t>
            </a:r>
            <a:endParaRPr kumimoji="1" lang="en-US" altLang="zh-CN" dirty="0" smtClean="0"/>
          </a:p>
          <a:p>
            <a:pPr eaLnBrk="1" hangingPunct="1">
              <a:buClrTx/>
              <a:buSzTx/>
              <a:buFontTx/>
              <a:buNone/>
            </a:pPr>
            <a:r>
              <a:rPr kumimoji="1" lang="zh-CN" altLang="en-US" dirty="0" smtClean="0"/>
              <a:t>因为</a:t>
            </a:r>
            <a:r>
              <a:rPr kumimoji="1" lang="en-US" altLang="zh-CN" dirty="0" smtClean="0"/>
              <a:t>G</a:t>
            </a:r>
            <a:r>
              <a:rPr kumimoji="1" lang="zh-CN" altLang="en-US" dirty="0" smtClean="0"/>
              <a:t>连通，则</a:t>
            </a:r>
            <a:r>
              <a:rPr kumimoji="1" lang="en-US" altLang="zh-CN" dirty="0" smtClean="0"/>
              <a:t>u</a:t>
            </a:r>
            <a:r>
              <a:rPr kumimoji="1" lang="zh-CN" altLang="en-US" dirty="0" smtClean="0"/>
              <a:t>和</a:t>
            </a:r>
            <a:r>
              <a:rPr kumimoji="1" lang="en-US" altLang="zh-CN" dirty="0" smtClean="0"/>
              <a:t>w</a:t>
            </a:r>
            <a:r>
              <a:rPr kumimoji="1" lang="zh-CN" altLang="en-US" dirty="0" smtClean="0"/>
              <a:t>之间存在一条路</a:t>
            </a:r>
            <a:r>
              <a:rPr kumimoji="1" lang="en-US" altLang="zh-CN" dirty="0" smtClean="0"/>
              <a:t>C</a:t>
            </a:r>
            <a:r>
              <a:rPr kumimoji="1" lang="zh-CN" altLang="en-US" dirty="0" smtClean="0"/>
              <a:t>，但</a:t>
            </a:r>
            <a:r>
              <a:rPr kumimoji="1" lang="en-US" altLang="zh-CN" dirty="0" smtClean="0"/>
              <a:t>u</a:t>
            </a:r>
            <a:r>
              <a:rPr kumimoji="1" lang="zh-CN" altLang="en-US" dirty="0" smtClean="0"/>
              <a:t>和</a:t>
            </a:r>
            <a:r>
              <a:rPr kumimoji="1" lang="en-US" altLang="zh-CN" dirty="0" smtClean="0"/>
              <a:t>w</a:t>
            </a:r>
            <a:r>
              <a:rPr kumimoji="1" lang="zh-CN" altLang="en-US" dirty="0" smtClean="0"/>
              <a:t>在</a:t>
            </a:r>
            <a:r>
              <a:rPr kumimoji="1" lang="en-US" altLang="zh-CN" dirty="0" smtClean="0"/>
              <a:t>G’</a:t>
            </a:r>
            <a:r>
              <a:rPr kumimoji="1" lang="zh-CN" altLang="en-US" dirty="0" smtClean="0"/>
              <a:t>中不在同一个连通分支，即</a:t>
            </a:r>
            <a:r>
              <a:rPr kumimoji="1" lang="en-US" altLang="zh-CN" dirty="0" smtClean="0"/>
              <a:t>u</a:t>
            </a:r>
            <a:r>
              <a:rPr kumimoji="1" lang="zh-CN" altLang="en-US" dirty="0" smtClean="0"/>
              <a:t>和</a:t>
            </a:r>
            <a:r>
              <a:rPr kumimoji="1" lang="en-US" altLang="zh-CN" dirty="0" smtClean="0"/>
              <a:t>w</a:t>
            </a:r>
            <a:r>
              <a:rPr kumimoji="1" lang="zh-CN" altLang="en-US" dirty="0" smtClean="0"/>
              <a:t>之间不连通，</a:t>
            </a:r>
            <a:endParaRPr kumimoji="1" lang="en-US" altLang="zh-CN" dirty="0" smtClean="0"/>
          </a:p>
          <a:p>
            <a:pPr eaLnBrk="1" hangingPunct="1">
              <a:buClrTx/>
              <a:buSzTx/>
              <a:buFontTx/>
              <a:buNone/>
            </a:pPr>
            <a:r>
              <a:rPr kumimoji="1" lang="zh-CN" altLang="en-US" dirty="0" smtClean="0"/>
              <a:t>因此，</a:t>
            </a:r>
            <a:r>
              <a:rPr kumimoji="1" lang="en-US" altLang="zh-CN" dirty="0" smtClean="0"/>
              <a:t>C</a:t>
            </a:r>
            <a:r>
              <a:rPr kumimoji="1" lang="zh-CN" altLang="en-US" dirty="0" smtClean="0"/>
              <a:t>必须通过</a:t>
            </a:r>
            <a:r>
              <a:rPr kumimoji="1" lang="en-US" altLang="zh-CN" dirty="0" smtClean="0"/>
              <a:t>v</a:t>
            </a:r>
            <a:r>
              <a:rPr kumimoji="1" lang="zh-CN" altLang="en-US" dirty="0" smtClean="0"/>
              <a:t>，故</a:t>
            </a:r>
            <a:r>
              <a:rPr kumimoji="1" lang="en-US" altLang="zh-CN" dirty="0"/>
              <a:t>u</a:t>
            </a:r>
            <a:r>
              <a:rPr kumimoji="1" lang="zh-CN" altLang="en-US" dirty="0"/>
              <a:t>和</a:t>
            </a:r>
            <a:r>
              <a:rPr kumimoji="1" lang="en-US" altLang="zh-CN" dirty="0" smtClean="0"/>
              <a:t>w</a:t>
            </a:r>
            <a:r>
              <a:rPr kumimoji="1" lang="zh-CN" altLang="en-US" dirty="0" smtClean="0"/>
              <a:t>之间的任意一</a:t>
            </a:r>
            <a:r>
              <a:rPr kumimoji="1" lang="zh-CN" altLang="en-US" dirty="0"/>
              <a:t>条路都通过</a:t>
            </a:r>
            <a:r>
              <a:rPr kumimoji="1" lang="en-US" altLang="zh-CN" dirty="0" smtClean="0"/>
              <a:t>v</a:t>
            </a:r>
            <a:r>
              <a:rPr kumimoji="1" lang="zh-CN" altLang="en-US" dirty="0" smtClean="0"/>
              <a:t>。</a:t>
            </a:r>
            <a:endParaRPr kumimoji="1" lang="en-US" altLang="zh-CN" dirty="0" smtClean="0"/>
          </a:p>
          <a:p>
            <a:pPr eaLnBrk="1" hangingPunct="1">
              <a:buClrTx/>
              <a:buSzTx/>
              <a:buFontTx/>
              <a:buNone/>
            </a:pPr>
            <a:r>
              <a:rPr kumimoji="1" lang="zh-CN" altLang="en-US" dirty="0" smtClean="0"/>
              <a:t>反之，若</a:t>
            </a:r>
            <a:r>
              <a:rPr kumimoji="1" lang="en-US" altLang="zh-CN" dirty="0" smtClean="0"/>
              <a:t>G</a:t>
            </a:r>
            <a:r>
              <a:rPr kumimoji="1" lang="zh-CN" altLang="en-US" dirty="0" smtClean="0"/>
              <a:t>中存在两个结点的每一条路都通过</a:t>
            </a:r>
            <a:r>
              <a:rPr kumimoji="1" lang="en-US" altLang="zh-CN" dirty="0" smtClean="0"/>
              <a:t>v</a:t>
            </a:r>
            <a:r>
              <a:rPr kumimoji="1" lang="zh-CN" altLang="en-US" dirty="0" smtClean="0"/>
              <a:t>，删去点</a:t>
            </a:r>
            <a:r>
              <a:rPr kumimoji="1" lang="en-US" altLang="zh-CN" dirty="0" smtClean="0"/>
              <a:t>v</a:t>
            </a:r>
            <a:r>
              <a:rPr kumimoji="1" lang="zh-CN" altLang="en-US" dirty="0" smtClean="0"/>
              <a:t>，</a:t>
            </a:r>
            <a:endParaRPr kumimoji="1" lang="en-US" altLang="zh-CN" dirty="0" smtClean="0"/>
          </a:p>
          <a:p>
            <a:pPr eaLnBrk="1" hangingPunct="1">
              <a:buClrTx/>
              <a:buSzTx/>
              <a:buFontTx/>
              <a:buNone/>
            </a:pPr>
            <a:r>
              <a:rPr kumimoji="1" lang="zh-CN" altLang="en-US" dirty="0" smtClean="0"/>
              <a:t>则</a:t>
            </a:r>
            <a:r>
              <a:rPr kumimoji="1" lang="zh-CN" altLang="en-US" dirty="0"/>
              <a:t>这两</a:t>
            </a:r>
            <a:r>
              <a:rPr kumimoji="1" lang="zh-CN" altLang="en-US" dirty="0" smtClean="0"/>
              <a:t>个点之间就不存在路，即这两个点不连通了，故</a:t>
            </a:r>
            <a:r>
              <a:rPr kumimoji="1" lang="en-US" altLang="zh-CN" dirty="0" smtClean="0"/>
              <a:t>v</a:t>
            </a:r>
            <a:r>
              <a:rPr kumimoji="1" lang="zh-CN" altLang="en-US" dirty="0" smtClean="0"/>
              <a:t>是图</a:t>
            </a:r>
            <a:r>
              <a:rPr kumimoji="1" lang="en-US" altLang="zh-CN" dirty="0" smtClean="0"/>
              <a:t>G</a:t>
            </a:r>
            <a:r>
              <a:rPr kumimoji="1" lang="zh-CN" altLang="en-US" dirty="0" smtClean="0"/>
              <a:t>的割点。</a:t>
            </a:r>
            <a:endParaRPr lang="zh-CN" altLang="en-US" dirty="0" smtClean="0"/>
          </a:p>
        </p:txBody>
      </p:sp>
    </p:spTree>
    <p:extLst>
      <p:ext uri="{BB962C8B-B14F-4D97-AF65-F5344CB8AC3E}">
        <p14:creationId xmlns:p14="http://schemas.microsoft.com/office/powerpoint/2010/main" val="2481008281"/>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6867">
                                            <p:txEl>
                                              <p:pRg st="1" end="1"/>
                                            </p:txEl>
                                          </p:spTgt>
                                        </p:tgtEl>
                                        <p:attrNameLst>
                                          <p:attrName>style.visibility</p:attrName>
                                        </p:attrNameLst>
                                      </p:cBhvr>
                                      <p:to>
                                        <p:strVal val="visible"/>
                                      </p:to>
                                    </p:set>
                                    <p:anim calcmode="lin" valueType="num">
                                      <p:cBhvr additive="base">
                                        <p:cTn id="7" dur="500" fill="hold"/>
                                        <p:tgtEl>
                                          <p:spTgt spid="3686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6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6867">
                                            <p:txEl>
                                              <p:pRg st="2" end="2"/>
                                            </p:txEl>
                                          </p:spTgt>
                                        </p:tgtEl>
                                        <p:attrNameLst>
                                          <p:attrName>style.visibility</p:attrName>
                                        </p:attrNameLst>
                                      </p:cBhvr>
                                      <p:to>
                                        <p:strVal val="visible"/>
                                      </p:to>
                                    </p:set>
                                    <p:anim calcmode="lin" valueType="num">
                                      <p:cBhvr additive="base">
                                        <p:cTn id="13" dur="500" fill="hold"/>
                                        <p:tgtEl>
                                          <p:spTgt spid="3686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6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6867">
                                            <p:txEl>
                                              <p:pRg st="3" end="3"/>
                                            </p:txEl>
                                          </p:spTgt>
                                        </p:tgtEl>
                                        <p:attrNameLst>
                                          <p:attrName>style.visibility</p:attrName>
                                        </p:attrNameLst>
                                      </p:cBhvr>
                                      <p:to>
                                        <p:strVal val="visible"/>
                                      </p:to>
                                    </p:set>
                                    <p:anim calcmode="lin" valueType="num">
                                      <p:cBhvr additive="base">
                                        <p:cTn id="19" dur="500" fill="hold"/>
                                        <p:tgtEl>
                                          <p:spTgt spid="3686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686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6867">
                                            <p:txEl>
                                              <p:pRg st="4" end="4"/>
                                            </p:txEl>
                                          </p:spTgt>
                                        </p:tgtEl>
                                        <p:attrNameLst>
                                          <p:attrName>style.visibility</p:attrName>
                                        </p:attrNameLst>
                                      </p:cBhvr>
                                      <p:to>
                                        <p:strVal val="visible"/>
                                      </p:to>
                                    </p:set>
                                    <p:anim calcmode="lin" valueType="num">
                                      <p:cBhvr additive="base">
                                        <p:cTn id="25" dur="500" fill="hold"/>
                                        <p:tgtEl>
                                          <p:spTgt spid="3686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686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6867">
                                            <p:txEl>
                                              <p:pRg st="5" end="5"/>
                                            </p:txEl>
                                          </p:spTgt>
                                        </p:tgtEl>
                                        <p:attrNameLst>
                                          <p:attrName>style.visibility</p:attrName>
                                        </p:attrNameLst>
                                      </p:cBhvr>
                                      <p:to>
                                        <p:strVal val="visible"/>
                                      </p:to>
                                    </p:set>
                                    <p:anim calcmode="lin" valueType="num">
                                      <p:cBhvr additive="base">
                                        <p:cTn id="31" dur="500" fill="hold"/>
                                        <p:tgtEl>
                                          <p:spTgt spid="3686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68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6867">
                                            <p:txEl>
                                              <p:pRg st="6" end="6"/>
                                            </p:txEl>
                                          </p:spTgt>
                                        </p:tgtEl>
                                        <p:attrNameLst>
                                          <p:attrName>style.visibility</p:attrName>
                                        </p:attrNameLst>
                                      </p:cBhvr>
                                      <p:to>
                                        <p:strVal val="visible"/>
                                      </p:to>
                                    </p:set>
                                    <p:anim calcmode="lin" valueType="num">
                                      <p:cBhvr additive="base">
                                        <p:cTn id="37" dur="500" fill="hold"/>
                                        <p:tgtEl>
                                          <p:spTgt spid="3686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686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6867">
                                            <p:txEl>
                                              <p:pRg st="7" end="7"/>
                                            </p:txEl>
                                          </p:spTgt>
                                        </p:tgtEl>
                                        <p:attrNameLst>
                                          <p:attrName>style.visibility</p:attrName>
                                        </p:attrNameLst>
                                      </p:cBhvr>
                                      <p:to>
                                        <p:strVal val="visible"/>
                                      </p:to>
                                    </p:set>
                                    <p:anim calcmode="lin" valueType="num">
                                      <p:cBhvr additive="base">
                                        <p:cTn id="43" dur="500" fill="hold"/>
                                        <p:tgtEl>
                                          <p:spTgt spid="36867">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686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pPr>
              <a:defRPr/>
            </a:pPr>
            <a:fld id="{136D4986-7AAD-4B49-A2ED-DE9B640221A2}" type="slidenum">
              <a:rPr lang="en-US" altLang="zh-CN"/>
              <a:pPr>
                <a:defRPr/>
              </a:pPr>
              <a:t>35</a:t>
            </a:fld>
            <a:endParaRPr lang="en-US" altLang="zh-CN"/>
          </a:p>
        </p:txBody>
      </p:sp>
      <p:sp>
        <p:nvSpPr>
          <p:cNvPr id="24581" name="Text Box 5"/>
          <p:cNvSpPr txBox="1">
            <a:spLocks noChangeArrowheads="1"/>
          </p:cNvSpPr>
          <p:nvPr/>
        </p:nvSpPr>
        <p:spPr bwMode="auto">
          <a:xfrm>
            <a:off x="466725" y="1052513"/>
            <a:ext cx="8277225"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bg1"/>
              </a:buClr>
            </a:pPr>
            <a:r>
              <a:rPr kumimoji="1" lang="zh-CN" altLang="en-US" b="1">
                <a:solidFill>
                  <a:srgbClr val="0000CC"/>
                </a:solidFill>
                <a:latin typeface="Times New Roman" pitchFamily="18" charset="0"/>
              </a:rPr>
              <a:t>定义</a:t>
            </a:r>
            <a:r>
              <a:rPr kumimoji="1" lang="zh-CN" altLang="en-US" b="1">
                <a:solidFill>
                  <a:schemeClr val="bg2"/>
                </a:solidFill>
                <a:latin typeface="Times New Roman" pitchFamily="18" charset="0"/>
              </a:rPr>
              <a:t>：在有向图</a:t>
            </a:r>
            <a:r>
              <a:rPr kumimoji="1" lang="en-US" altLang="zh-CN" b="1">
                <a:solidFill>
                  <a:schemeClr val="bg2"/>
                </a:solidFill>
                <a:latin typeface="Times New Roman" pitchFamily="18" charset="0"/>
              </a:rPr>
              <a:t>G=&lt;V, E&gt;</a:t>
            </a:r>
            <a:r>
              <a:rPr kumimoji="1" lang="zh-CN" altLang="en-US" b="1">
                <a:solidFill>
                  <a:schemeClr val="bg2"/>
                </a:solidFill>
                <a:latin typeface="Times New Roman" pitchFamily="18" charset="0"/>
              </a:rPr>
              <a:t>中，从结点</a:t>
            </a:r>
            <a:r>
              <a:rPr kumimoji="1" lang="en-US" altLang="zh-CN" b="1">
                <a:solidFill>
                  <a:schemeClr val="bg2"/>
                </a:solidFill>
                <a:latin typeface="Times New Roman" pitchFamily="18" charset="0"/>
              </a:rPr>
              <a:t>u</a:t>
            </a:r>
            <a:r>
              <a:rPr kumimoji="1" lang="zh-CN" altLang="en-US" b="1">
                <a:solidFill>
                  <a:schemeClr val="bg2"/>
                </a:solidFill>
                <a:latin typeface="Times New Roman" pitchFamily="18" charset="0"/>
              </a:rPr>
              <a:t>到</a:t>
            </a:r>
            <a:r>
              <a:rPr kumimoji="1" lang="en-US" altLang="zh-CN" b="1">
                <a:solidFill>
                  <a:schemeClr val="bg2"/>
                </a:solidFill>
                <a:latin typeface="Times New Roman" pitchFamily="18" charset="0"/>
              </a:rPr>
              <a:t>v</a:t>
            </a:r>
            <a:r>
              <a:rPr kumimoji="1" lang="zh-CN" altLang="en-US" b="1">
                <a:solidFill>
                  <a:schemeClr val="bg2"/>
                </a:solidFill>
                <a:latin typeface="Times New Roman" pitchFamily="18" charset="0"/>
              </a:rPr>
              <a:t>有一条路，称</a:t>
            </a:r>
            <a:r>
              <a:rPr kumimoji="1" lang="zh-CN" altLang="en-US" b="1" i="1">
                <a:solidFill>
                  <a:srgbClr val="0000CC"/>
                </a:solidFill>
                <a:latin typeface="Times New Roman" pitchFamily="18" charset="0"/>
              </a:rPr>
              <a:t>从</a:t>
            </a:r>
            <a:r>
              <a:rPr kumimoji="1" lang="en-US" altLang="zh-CN" b="1" i="1">
                <a:solidFill>
                  <a:srgbClr val="0000CC"/>
                </a:solidFill>
                <a:latin typeface="Times New Roman" pitchFamily="18" charset="0"/>
              </a:rPr>
              <a:t>u</a:t>
            </a:r>
            <a:r>
              <a:rPr kumimoji="1" lang="zh-CN" altLang="en-US" b="1" i="1">
                <a:solidFill>
                  <a:srgbClr val="0000CC"/>
                </a:solidFill>
                <a:latin typeface="Times New Roman" pitchFamily="18" charset="0"/>
              </a:rPr>
              <a:t>可达</a:t>
            </a:r>
            <a:r>
              <a:rPr kumimoji="1" lang="en-US" altLang="zh-CN" b="1" i="1">
                <a:solidFill>
                  <a:srgbClr val="0000CC"/>
                </a:solidFill>
                <a:latin typeface="Times New Roman" pitchFamily="18" charset="0"/>
              </a:rPr>
              <a:t>v</a:t>
            </a:r>
            <a:r>
              <a:rPr kumimoji="1" lang="zh-CN" altLang="en-US" b="1">
                <a:solidFill>
                  <a:schemeClr val="bg2"/>
                </a:solidFill>
                <a:latin typeface="Times New Roman" pitchFamily="18" charset="0"/>
              </a:rPr>
              <a:t>。</a:t>
            </a:r>
          </a:p>
          <a:p>
            <a:pPr eaLnBrk="1" hangingPunct="1">
              <a:lnSpc>
                <a:spcPct val="130000"/>
              </a:lnSpc>
              <a:buClr>
                <a:schemeClr val="bg1"/>
              </a:buClr>
            </a:pPr>
            <a:r>
              <a:rPr kumimoji="1" lang="zh-CN" altLang="en-US" b="1">
                <a:solidFill>
                  <a:schemeClr val="bg2"/>
                </a:solidFill>
                <a:latin typeface="Times New Roman" pitchFamily="18" charset="0"/>
              </a:rPr>
              <a:t>可达性是有向图结点集上的二元关系，但不是等价关系。</a:t>
            </a:r>
          </a:p>
          <a:p>
            <a:pPr eaLnBrk="1" hangingPunct="1">
              <a:lnSpc>
                <a:spcPct val="130000"/>
              </a:lnSpc>
              <a:buClr>
                <a:schemeClr val="bg1"/>
              </a:buClr>
            </a:pPr>
            <a:r>
              <a:rPr kumimoji="1" lang="zh-CN" altLang="en-US" b="1">
                <a:solidFill>
                  <a:schemeClr val="bg2"/>
                </a:solidFill>
                <a:latin typeface="Times New Roman" pitchFamily="18" charset="0"/>
              </a:rPr>
              <a:t>若</a:t>
            </a:r>
            <a:r>
              <a:rPr kumimoji="1" lang="en-US" altLang="zh-CN" b="1">
                <a:solidFill>
                  <a:schemeClr val="bg2"/>
                </a:solidFill>
                <a:latin typeface="Times New Roman" pitchFamily="18" charset="0"/>
              </a:rPr>
              <a:t>u</a:t>
            </a:r>
            <a:r>
              <a:rPr kumimoji="1" lang="zh-CN" altLang="en-US" b="1">
                <a:solidFill>
                  <a:schemeClr val="bg2"/>
                </a:solidFill>
                <a:latin typeface="Times New Roman" pitchFamily="18" charset="0"/>
              </a:rPr>
              <a:t>可达</a:t>
            </a:r>
            <a:r>
              <a:rPr kumimoji="1" lang="en-US" altLang="zh-CN" b="1">
                <a:solidFill>
                  <a:schemeClr val="bg2"/>
                </a:solidFill>
                <a:latin typeface="Times New Roman" pitchFamily="18" charset="0"/>
              </a:rPr>
              <a:t>v</a:t>
            </a:r>
            <a:r>
              <a:rPr kumimoji="1" lang="zh-CN" altLang="en-US" b="1">
                <a:solidFill>
                  <a:schemeClr val="bg2"/>
                </a:solidFill>
                <a:latin typeface="Times New Roman" pitchFamily="18" charset="0"/>
              </a:rPr>
              <a:t>，它们之间可能不止一条路，其中最短路的长度称为结点</a:t>
            </a:r>
            <a:r>
              <a:rPr kumimoji="1" lang="en-US" altLang="zh-CN" b="1" i="1">
                <a:solidFill>
                  <a:srgbClr val="0000CC"/>
                </a:solidFill>
                <a:latin typeface="Times New Roman" pitchFamily="18" charset="0"/>
              </a:rPr>
              <a:t>u</a:t>
            </a:r>
            <a:r>
              <a:rPr kumimoji="1" lang="zh-CN" altLang="en-US" b="1" i="1">
                <a:solidFill>
                  <a:srgbClr val="0000CC"/>
                </a:solidFill>
                <a:latin typeface="Times New Roman" pitchFamily="18" charset="0"/>
              </a:rPr>
              <a:t>和</a:t>
            </a:r>
            <a:r>
              <a:rPr kumimoji="1" lang="en-US" altLang="zh-CN" b="1" i="1">
                <a:solidFill>
                  <a:srgbClr val="0000CC"/>
                </a:solidFill>
                <a:latin typeface="Times New Roman" pitchFamily="18" charset="0"/>
              </a:rPr>
              <a:t>v</a:t>
            </a:r>
            <a:r>
              <a:rPr kumimoji="1" lang="zh-CN" altLang="en-US" b="1" i="1">
                <a:solidFill>
                  <a:srgbClr val="0000CC"/>
                </a:solidFill>
                <a:latin typeface="Times New Roman" pitchFamily="18" charset="0"/>
              </a:rPr>
              <a:t>之间的距离</a:t>
            </a:r>
            <a:r>
              <a:rPr kumimoji="1" lang="zh-CN" altLang="en-US" b="1">
                <a:solidFill>
                  <a:schemeClr val="bg2"/>
                </a:solidFill>
                <a:latin typeface="Times New Roman" pitchFamily="18" charset="0"/>
              </a:rPr>
              <a:t>，记作</a:t>
            </a:r>
            <a:r>
              <a:rPr kumimoji="1" lang="en-US" altLang="zh-CN" b="1">
                <a:solidFill>
                  <a:srgbClr val="0000CC"/>
                </a:solidFill>
                <a:latin typeface="Times New Roman" pitchFamily="18" charset="0"/>
              </a:rPr>
              <a:t>d&lt;u, v&gt;</a:t>
            </a:r>
            <a:r>
              <a:rPr kumimoji="1" lang="zh-CN" altLang="en-US" b="1">
                <a:solidFill>
                  <a:srgbClr val="0000CC"/>
                </a:solidFill>
                <a:latin typeface="Times New Roman" pitchFamily="18" charset="0"/>
              </a:rPr>
              <a:t>。</a:t>
            </a:r>
          </a:p>
          <a:p>
            <a:pPr lvl="1" eaLnBrk="1" hangingPunct="1">
              <a:lnSpc>
                <a:spcPct val="130000"/>
              </a:lnSpc>
              <a:buClr>
                <a:schemeClr val="bg1"/>
              </a:buClr>
            </a:pPr>
            <a:r>
              <a:rPr kumimoji="1" lang="en-US" altLang="zh-CN" b="1">
                <a:solidFill>
                  <a:srgbClr val="993300"/>
                </a:solidFill>
                <a:latin typeface="Times New Roman" pitchFamily="18" charset="0"/>
              </a:rPr>
              <a:t>d&lt;u, v&gt;</a:t>
            </a:r>
            <a:r>
              <a:rPr kumimoji="1" lang="en-US" altLang="zh-CN" b="1">
                <a:solidFill>
                  <a:srgbClr val="993300"/>
                </a:solidFill>
                <a:latin typeface="Times New Roman" pitchFamily="18" charset="0"/>
                <a:cs typeface="Times New Roman" pitchFamily="18" charset="0"/>
              </a:rPr>
              <a:t>≥0</a:t>
            </a:r>
          </a:p>
          <a:p>
            <a:pPr lvl="1" eaLnBrk="1" hangingPunct="1">
              <a:lnSpc>
                <a:spcPct val="130000"/>
              </a:lnSpc>
              <a:buClr>
                <a:schemeClr val="bg1"/>
              </a:buClr>
            </a:pPr>
            <a:r>
              <a:rPr kumimoji="1" lang="en-US" altLang="zh-CN" b="1">
                <a:solidFill>
                  <a:srgbClr val="993300"/>
                </a:solidFill>
                <a:latin typeface="Times New Roman" pitchFamily="18" charset="0"/>
                <a:cs typeface="Times New Roman" pitchFamily="18" charset="0"/>
              </a:rPr>
              <a:t>d&lt;u, u&gt;=0</a:t>
            </a:r>
          </a:p>
          <a:p>
            <a:pPr lvl="1" eaLnBrk="1" hangingPunct="1">
              <a:lnSpc>
                <a:spcPct val="130000"/>
              </a:lnSpc>
              <a:buClr>
                <a:schemeClr val="bg1"/>
              </a:buClr>
            </a:pPr>
            <a:r>
              <a:rPr kumimoji="1" lang="en-US" altLang="zh-CN" b="1">
                <a:solidFill>
                  <a:srgbClr val="993300"/>
                </a:solidFill>
                <a:latin typeface="Times New Roman" pitchFamily="18" charset="0"/>
                <a:cs typeface="Times New Roman" pitchFamily="18" charset="0"/>
              </a:rPr>
              <a:t>d&lt;u, v&gt;+d&lt;v, w&gt;</a:t>
            </a:r>
            <a:r>
              <a:rPr kumimoji="1" lang="en-US" altLang="zh-CN" b="1">
                <a:solidFill>
                  <a:srgbClr val="993300"/>
                </a:solidFill>
                <a:latin typeface="Times New Roman" pitchFamily="18" charset="0"/>
              </a:rPr>
              <a:t>≥</a:t>
            </a:r>
            <a:r>
              <a:rPr kumimoji="1" lang="en-US" altLang="zh-CN" b="1">
                <a:solidFill>
                  <a:srgbClr val="993300"/>
                </a:solidFill>
                <a:latin typeface="Times New Roman" pitchFamily="18" charset="0"/>
                <a:cs typeface="Times New Roman" pitchFamily="18" charset="0"/>
              </a:rPr>
              <a:t>d&lt;u, w&gt;</a:t>
            </a:r>
          </a:p>
          <a:p>
            <a:pPr eaLnBrk="1" hangingPunct="1">
              <a:lnSpc>
                <a:spcPct val="130000"/>
              </a:lnSpc>
              <a:buClr>
                <a:schemeClr val="bg1"/>
              </a:buClr>
            </a:pPr>
            <a:r>
              <a:rPr kumimoji="1" lang="zh-CN" altLang="en-US" b="1">
                <a:latin typeface="Times New Roman" pitchFamily="18" charset="0"/>
                <a:cs typeface="Times New Roman" pitchFamily="18" charset="0"/>
              </a:rPr>
              <a:t>若从</a:t>
            </a:r>
            <a:r>
              <a:rPr kumimoji="1" lang="en-US" altLang="zh-CN" b="1">
                <a:latin typeface="Times New Roman" pitchFamily="18" charset="0"/>
                <a:cs typeface="Times New Roman" pitchFamily="18" charset="0"/>
              </a:rPr>
              <a:t>u</a:t>
            </a:r>
            <a:r>
              <a:rPr kumimoji="1" lang="zh-CN" altLang="en-US" b="1">
                <a:latin typeface="Times New Roman" pitchFamily="18" charset="0"/>
                <a:cs typeface="Times New Roman" pitchFamily="18" charset="0"/>
              </a:rPr>
              <a:t>到</a:t>
            </a:r>
            <a:r>
              <a:rPr kumimoji="1" lang="en-US" altLang="zh-CN" b="1">
                <a:latin typeface="Times New Roman" pitchFamily="18" charset="0"/>
                <a:cs typeface="Times New Roman" pitchFamily="18" charset="0"/>
              </a:rPr>
              <a:t>v</a:t>
            </a:r>
            <a:r>
              <a:rPr kumimoji="1" lang="zh-CN" altLang="en-US" b="1">
                <a:latin typeface="Times New Roman" pitchFamily="18" charset="0"/>
                <a:cs typeface="Times New Roman" pitchFamily="18" charset="0"/>
              </a:rPr>
              <a:t>是不可达的，则通常写成</a:t>
            </a:r>
            <a:r>
              <a:rPr kumimoji="1" lang="en-US" altLang="zh-CN" b="1">
                <a:latin typeface="Times New Roman" pitchFamily="18" charset="0"/>
                <a:cs typeface="Times New Roman" pitchFamily="18" charset="0"/>
              </a:rPr>
              <a:t>d&lt;u, v&gt;=∞</a:t>
            </a:r>
          </a:p>
          <a:p>
            <a:pPr eaLnBrk="1" hangingPunct="1">
              <a:lnSpc>
                <a:spcPct val="130000"/>
              </a:lnSpc>
              <a:buClr>
                <a:schemeClr val="bg1"/>
              </a:buClr>
            </a:pPr>
            <a:r>
              <a:rPr kumimoji="1" lang="zh-CN" altLang="en-US" b="1">
                <a:latin typeface="Times New Roman" pitchFamily="18" charset="0"/>
                <a:cs typeface="Times New Roman" pitchFamily="18" charset="0"/>
              </a:rPr>
              <a:t>我们把</a:t>
            </a:r>
            <a:r>
              <a:rPr kumimoji="1" lang="en-US" altLang="zh-CN" b="1">
                <a:latin typeface="Times New Roman" pitchFamily="18" charset="0"/>
                <a:cs typeface="Times New Roman" pitchFamily="18" charset="0"/>
              </a:rPr>
              <a:t>D=max  d&lt;u, v&gt;</a:t>
            </a:r>
            <a:r>
              <a:rPr kumimoji="1" lang="zh-CN" altLang="en-US" b="1">
                <a:latin typeface="Times New Roman" pitchFamily="18" charset="0"/>
                <a:cs typeface="Times New Roman" pitchFamily="18" charset="0"/>
              </a:rPr>
              <a:t>称作</a:t>
            </a:r>
            <a:r>
              <a:rPr kumimoji="1" lang="zh-CN" altLang="en-US" b="1" i="1">
                <a:solidFill>
                  <a:srgbClr val="0000CC"/>
                </a:solidFill>
                <a:latin typeface="Times New Roman" pitchFamily="18" charset="0"/>
                <a:cs typeface="Times New Roman" pitchFamily="18" charset="0"/>
              </a:rPr>
              <a:t>图的直径</a:t>
            </a:r>
            <a:r>
              <a:rPr kumimoji="1" lang="zh-CN" altLang="en-US" b="1">
                <a:latin typeface="Times New Roman" pitchFamily="18" charset="0"/>
                <a:cs typeface="Times New Roman" pitchFamily="18" charset="0"/>
              </a:rPr>
              <a:t>。</a:t>
            </a:r>
          </a:p>
        </p:txBody>
      </p:sp>
      <p:sp>
        <p:nvSpPr>
          <p:cNvPr id="37892" name="Rectangle 8"/>
          <p:cNvSpPr>
            <a:spLocks noChangeArrowheads="1"/>
          </p:cNvSpPr>
          <p:nvPr/>
        </p:nvSpPr>
        <p:spPr bwMode="auto">
          <a:xfrm>
            <a:off x="1187450" y="333375"/>
            <a:ext cx="4464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3200" b="1">
                <a:solidFill>
                  <a:srgbClr val="993300"/>
                </a:solidFill>
                <a:latin typeface="Times New Roman" pitchFamily="18" charset="0"/>
              </a:rPr>
              <a:t>3</a:t>
            </a:r>
            <a:r>
              <a:rPr kumimoji="1" lang="zh-CN" altLang="en-US" sz="3200" b="1">
                <a:solidFill>
                  <a:srgbClr val="993300"/>
                </a:solidFill>
                <a:latin typeface="Times New Roman" pitchFamily="18" charset="0"/>
              </a:rPr>
              <a:t>、</a:t>
            </a:r>
            <a:r>
              <a:rPr kumimoji="1" lang="zh-CN" altLang="en-US" sz="3200" b="1">
                <a:solidFill>
                  <a:srgbClr val="993300"/>
                </a:solidFill>
                <a:latin typeface="Times New Roman" pitchFamily="18" charset="0"/>
                <a:ea typeface="楷体_GB2312" pitchFamily="49" charset="-122"/>
              </a:rPr>
              <a:t>有向图的连通性</a:t>
            </a:r>
          </a:p>
        </p:txBody>
      </p:sp>
    </p:spTree>
    <p:extLst>
      <p:ext uri="{BB962C8B-B14F-4D97-AF65-F5344CB8AC3E}">
        <p14:creationId xmlns:p14="http://schemas.microsoft.com/office/powerpoint/2010/main" val="567558206"/>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581">
                                            <p:txEl>
                                              <p:pRg st="1" end="1"/>
                                            </p:txEl>
                                          </p:spTgt>
                                        </p:tgtEl>
                                        <p:attrNameLst>
                                          <p:attrName>style.visibility</p:attrName>
                                        </p:attrNameLst>
                                      </p:cBhvr>
                                      <p:to>
                                        <p:strVal val="visible"/>
                                      </p:to>
                                    </p:set>
                                    <p:anim calcmode="lin" valueType="num">
                                      <p:cBhvr additive="base">
                                        <p:cTn id="7" dur="500" fill="hold"/>
                                        <p:tgtEl>
                                          <p:spTgt spid="2458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458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4581">
                                            <p:txEl>
                                              <p:pRg st="2" end="2"/>
                                            </p:txEl>
                                          </p:spTgt>
                                        </p:tgtEl>
                                        <p:attrNameLst>
                                          <p:attrName>style.visibility</p:attrName>
                                        </p:attrNameLst>
                                      </p:cBhvr>
                                      <p:to>
                                        <p:strVal val="visible"/>
                                      </p:to>
                                    </p:set>
                                    <p:anim calcmode="lin" valueType="num">
                                      <p:cBhvr additive="base">
                                        <p:cTn id="11" dur="500" fill="hold"/>
                                        <p:tgtEl>
                                          <p:spTgt spid="2458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458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24581">
                                            <p:txEl>
                                              <p:pRg st="3" end="3"/>
                                            </p:txEl>
                                          </p:spTgt>
                                        </p:tgtEl>
                                        <p:attrNameLst>
                                          <p:attrName>style.visibility</p:attrName>
                                        </p:attrNameLst>
                                      </p:cBhvr>
                                      <p:to>
                                        <p:strVal val="visible"/>
                                      </p:to>
                                    </p:set>
                                    <p:anim calcmode="lin" valueType="num">
                                      <p:cBhvr additive="base">
                                        <p:cTn id="17" dur="500" fill="hold"/>
                                        <p:tgtEl>
                                          <p:spTgt spid="24581">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24581">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24581">
                                            <p:txEl>
                                              <p:pRg st="4" end="4"/>
                                            </p:txEl>
                                          </p:spTgt>
                                        </p:tgtEl>
                                        <p:attrNameLst>
                                          <p:attrName>style.visibility</p:attrName>
                                        </p:attrNameLst>
                                      </p:cBhvr>
                                      <p:to>
                                        <p:strVal val="visible"/>
                                      </p:to>
                                    </p:set>
                                    <p:anim calcmode="lin" valueType="num">
                                      <p:cBhvr additive="base">
                                        <p:cTn id="21" dur="500" fill="hold"/>
                                        <p:tgtEl>
                                          <p:spTgt spid="24581">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24581">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24581">
                                            <p:txEl>
                                              <p:pRg st="5" end="5"/>
                                            </p:txEl>
                                          </p:spTgt>
                                        </p:tgtEl>
                                        <p:attrNameLst>
                                          <p:attrName>style.visibility</p:attrName>
                                        </p:attrNameLst>
                                      </p:cBhvr>
                                      <p:to>
                                        <p:strVal val="visible"/>
                                      </p:to>
                                    </p:set>
                                    <p:anim calcmode="lin" valueType="num">
                                      <p:cBhvr additive="base">
                                        <p:cTn id="25" dur="500" fill="hold"/>
                                        <p:tgtEl>
                                          <p:spTgt spid="24581">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458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4581">
                                            <p:txEl>
                                              <p:pRg st="6" end="6"/>
                                            </p:txEl>
                                          </p:spTgt>
                                        </p:tgtEl>
                                        <p:attrNameLst>
                                          <p:attrName>style.visibility</p:attrName>
                                        </p:attrNameLst>
                                      </p:cBhvr>
                                      <p:to>
                                        <p:strVal val="visible"/>
                                      </p:to>
                                    </p:set>
                                    <p:anim calcmode="lin" valueType="num">
                                      <p:cBhvr additive="base">
                                        <p:cTn id="31" dur="500" fill="hold"/>
                                        <p:tgtEl>
                                          <p:spTgt spid="24581">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4581">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4581">
                                            <p:txEl>
                                              <p:pRg st="7" end="7"/>
                                            </p:txEl>
                                          </p:spTgt>
                                        </p:tgtEl>
                                        <p:attrNameLst>
                                          <p:attrName>style.visibility</p:attrName>
                                        </p:attrNameLst>
                                      </p:cBhvr>
                                      <p:to>
                                        <p:strVal val="visible"/>
                                      </p:to>
                                    </p:set>
                                    <p:anim calcmode="lin" valueType="num">
                                      <p:cBhvr additive="base">
                                        <p:cTn id="35" dur="500" fill="hold"/>
                                        <p:tgtEl>
                                          <p:spTgt spid="24581">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458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2"/>
          <p:cNvSpPr>
            <a:spLocks noGrp="1"/>
          </p:cNvSpPr>
          <p:nvPr>
            <p:ph type="sldNum" sz="quarter" idx="11"/>
          </p:nvPr>
        </p:nvSpPr>
        <p:spPr/>
        <p:txBody>
          <a:bodyPr/>
          <a:lstStyle/>
          <a:p>
            <a:pPr>
              <a:defRPr/>
            </a:pPr>
            <a:fld id="{B859C224-24A0-47CE-9512-BAB41CA597DA}" type="slidenum">
              <a:rPr lang="en-US" altLang="zh-CN"/>
              <a:pPr>
                <a:defRPr/>
              </a:pPr>
              <a:t>36</a:t>
            </a:fld>
            <a:endParaRPr lang="en-US" altLang="zh-CN"/>
          </a:p>
        </p:txBody>
      </p:sp>
      <p:sp>
        <p:nvSpPr>
          <p:cNvPr id="38915" name="Text Box 4"/>
          <p:cNvSpPr txBox="1">
            <a:spLocks noChangeArrowheads="1"/>
          </p:cNvSpPr>
          <p:nvPr/>
        </p:nvSpPr>
        <p:spPr bwMode="auto">
          <a:xfrm>
            <a:off x="466725" y="1196975"/>
            <a:ext cx="8277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u"/>
            </a:pPr>
            <a:r>
              <a:rPr kumimoji="1" lang="zh-CN" altLang="en-US" b="1">
                <a:solidFill>
                  <a:schemeClr val="bg2"/>
                </a:solidFill>
                <a:latin typeface="Times New Roman" pitchFamily="18" charset="0"/>
              </a:rPr>
              <a:t>距离的概念也适用于无向图</a:t>
            </a:r>
          </a:p>
        </p:txBody>
      </p:sp>
      <p:grpSp>
        <p:nvGrpSpPr>
          <p:cNvPr id="112686" name="Group 46"/>
          <p:cNvGrpSpPr>
            <a:grpSpLocks/>
          </p:cNvGrpSpPr>
          <p:nvPr/>
        </p:nvGrpSpPr>
        <p:grpSpPr bwMode="auto">
          <a:xfrm>
            <a:off x="2051050" y="1916113"/>
            <a:ext cx="2622550" cy="2114550"/>
            <a:chOff x="1292" y="1207"/>
            <a:chExt cx="1652" cy="1332"/>
          </a:xfrm>
        </p:grpSpPr>
        <p:sp>
          <p:nvSpPr>
            <p:cNvPr id="38941" name="Line 5"/>
            <p:cNvSpPr>
              <a:spLocks noChangeShapeType="1"/>
            </p:cNvSpPr>
            <p:nvPr/>
          </p:nvSpPr>
          <p:spPr bwMode="auto">
            <a:xfrm>
              <a:off x="1519" y="1389"/>
              <a:ext cx="952" cy="181"/>
            </a:xfrm>
            <a:prstGeom prst="line">
              <a:avLst/>
            </a:prstGeom>
            <a:noFill/>
            <a:ln w="25400">
              <a:solidFill>
                <a:schemeClr val="tx1"/>
              </a:solidFill>
              <a:round/>
              <a:headEnd type="oval" w="lg" len="lg"/>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42" name="Line 6"/>
            <p:cNvSpPr>
              <a:spLocks noChangeAspect="1" noChangeShapeType="1"/>
            </p:cNvSpPr>
            <p:nvPr/>
          </p:nvSpPr>
          <p:spPr bwMode="auto">
            <a:xfrm flipH="1">
              <a:off x="1700" y="1606"/>
              <a:ext cx="735" cy="654"/>
            </a:xfrm>
            <a:prstGeom prst="line">
              <a:avLst/>
            </a:prstGeom>
            <a:noFill/>
            <a:ln w="25400">
              <a:solidFill>
                <a:schemeClr val="tx1"/>
              </a:solidFill>
              <a:round/>
              <a:headEnd type="arrow"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43" name="Line 7"/>
            <p:cNvSpPr>
              <a:spLocks noChangeShapeType="1"/>
            </p:cNvSpPr>
            <p:nvPr/>
          </p:nvSpPr>
          <p:spPr bwMode="auto">
            <a:xfrm>
              <a:off x="1700" y="2260"/>
              <a:ext cx="939" cy="204"/>
            </a:xfrm>
            <a:prstGeom prst="line">
              <a:avLst/>
            </a:prstGeom>
            <a:noFill/>
            <a:ln w="25400">
              <a:solidFill>
                <a:schemeClr val="tx1"/>
              </a:solidFill>
              <a:round/>
              <a:headEnd type="arrow"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44" name="Line 9"/>
            <p:cNvSpPr>
              <a:spLocks noChangeShapeType="1"/>
            </p:cNvSpPr>
            <p:nvPr/>
          </p:nvSpPr>
          <p:spPr bwMode="auto">
            <a:xfrm>
              <a:off x="1519" y="1389"/>
              <a:ext cx="1129" cy="1043"/>
            </a:xfrm>
            <a:prstGeom prst="line">
              <a:avLst/>
            </a:prstGeom>
            <a:noFill/>
            <a:ln w="25400">
              <a:solidFill>
                <a:schemeClr val="tx1"/>
              </a:solidFill>
              <a:round/>
              <a:headEnd type="oval" w="lg" len="lg"/>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8945" name="Rectangle 11"/>
            <p:cNvSpPr>
              <a:spLocks noChangeArrowheads="1"/>
            </p:cNvSpPr>
            <p:nvPr/>
          </p:nvSpPr>
          <p:spPr bwMode="auto">
            <a:xfrm>
              <a:off x="1292" y="1207"/>
              <a:ext cx="21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hlink"/>
                  </a:solidFill>
                  <a:latin typeface="Times New Roman" pitchFamily="18" charset="0"/>
                </a:rPr>
                <a:t>a</a:t>
              </a:r>
              <a:endParaRPr kumimoji="1" lang="en-US" altLang="zh-CN" b="1" baseline="-25000">
                <a:solidFill>
                  <a:schemeClr val="hlink"/>
                </a:solidFill>
                <a:latin typeface="Times New Roman" pitchFamily="18" charset="0"/>
              </a:endParaRPr>
            </a:p>
          </p:txBody>
        </p:sp>
        <p:sp>
          <p:nvSpPr>
            <p:cNvPr id="38946" name="Rectangle 13"/>
            <p:cNvSpPr>
              <a:spLocks noChangeArrowheads="1"/>
            </p:cNvSpPr>
            <p:nvPr/>
          </p:nvSpPr>
          <p:spPr bwMode="auto">
            <a:xfrm>
              <a:off x="2517" y="1389"/>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Times New Roman" pitchFamily="18" charset="0"/>
                </a:rPr>
                <a:t>b</a:t>
              </a:r>
              <a:endParaRPr kumimoji="1" lang="en-US" altLang="zh-CN" b="1" baseline="-25000">
                <a:latin typeface="Times New Roman" pitchFamily="18" charset="0"/>
              </a:endParaRPr>
            </a:p>
          </p:txBody>
        </p:sp>
        <p:sp>
          <p:nvSpPr>
            <p:cNvPr id="38947" name="Rectangle 15"/>
            <p:cNvSpPr>
              <a:spLocks noChangeArrowheads="1"/>
            </p:cNvSpPr>
            <p:nvPr/>
          </p:nvSpPr>
          <p:spPr bwMode="auto">
            <a:xfrm>
              <a:off x="2743" y="2251"/>
              <a:ext cx="20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Times New Roman" pitchFamily="18" charset="0"/>
                </a:rPr>
                <a:t>c</a:t>
              </a:r>
              <a:endParaRPr kumimoji="1" lang="en-US" altLang="zh-CN" b="1" baseline="-25000">
                <a:latin typeface="Times New Roman" pitchFamily="18" charset="0"/>
              </a:endParaRPr>
            </a:p>
          </p:txBody>
        </p:sp>
        <p:sp>
          <p:nvSpPr>
            <p:cNvPr id="38948" name="Rectangle 17"/>
            <p:cNvSpPr>
              <a:spLocks noChangeArrowheads="1"/>
            </p:cNvSpPr>
            <p:nvPr/>
          </p:nvSpPr>
          <p:spPr bwMode="auto">
            <a:xfrm>
              <a:off x="1383" y="2114"/>
              <a:ext cx="22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hlink"/>
                  </a:solidFill>
                  <a:latin typeface="Times New Roman" pitchFamily="18" charset="0"/>
                </a:rPr>
                <a:t>d</a:t>
              </a:r>
              <a:endParaRPr kumimoji="1" lang="en-US" altLang="zh-CN" b="1" baseline="-25000">
                <a:solidFill>
                  <a:schemeClr val="hlink"/>
                </a:solidFill>
                <a:latin typeface="Times New Roman" pitchFamily="18" charset="0"/>
              </a:endParaRPr>
            </a:p>
          </p:txBody>
        </p:sp>
        <p:sp>
          <p:nvSpPr>
            <p:cNvPr id="38949" name="Line 19"/>
            <p:cNvSpPr>
              <a:spLocks noChangeShapeType="1"/>
            </p:cNvSpPr>
            <p:nvPr/>
          </p:nvSpPr>
          <p:spPr bwMode="auto">
            <a:xfrm>
              <a:off x="2445" y="1570"/>
              <a:ext cx="204" cy="834"/>
            </a:xfrm>
            <a:prstGeom prst="line">
              <a:avLst/>
            </a:prstGeom>
            <a:noFill/>
            <a:ln w="25400">
              <a:solidFill>
                <a:schemeClr val="tx1"/>
              </a:solidFill>
              <a:round/>
              <a:headEnd type="oval" w="lg" len="lg"/>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112661" name="Group 21"/>
          <p:cNvGrpSpPr>
            <a:grpSpLocks/>
          </p:cNvGrpSpPr>
          <p:nvPr/>
        </p:nvGrpSpPr>
        <p:grpSpPr bwMode="auto">
          <a:xfrm>
            <a:off x="5219700" y="1989138"/>
            <a:ext cx="2981325" cy="2076450"/>
            <a:chOff x="3095" y="421"/>
            <a:chExt cx="1878" cy="1308"/>
          </a:xfrm>
        </p:grpSpPr>
        <p:sp>
          <p:nvSpPr>
            <p:cNvPr id="38918" name="Text Box 22"/>
            <p:cNvSpPr txBox="1">
              <a:spLocks noChangeArrowheads="1"/>
            </p:cNvSpPr>
            <p:nvPr/>
          </p:nvSpPr>
          <p:spPr bwMode="auto">
            <a:xfrm>
              <a:off x="3095" y="799"/>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chemeClr val="hlink"/>
                  </a:solidFill>
                  <a:latin typeface="Times New Roman" pitchFamily="18" charset="0"/>
                </a:rPr>
                <a:t>v</a:t>
              </a:r>
              <a:r>
                <a:rPr kumimoji="1" lang="en-US" altLang="zh-CN" b="1" baseline="-25000">
                  <a:solidFill>
                    <a:schemeClr val="hlink"/>
                  </a:solidFill>
                  <a:latin typeface="Times New Roman" pitchFamily="18" charset="0"/>
                </a:rPr>
                <a:t>3</a:t>
              </a:r>
            </a:p>
          </p:txBody>
        </p:sp>
        <p:sp>
          <p:nvSpPr>
            <p:cNvPr id="38919" name="Text Box 23"/>
            <p:cNvSpPr txBox="1">
              <a:spLocks noChangeArrowheads="1"/>
            </p:cNvSpPr>
            <p:nvPr/>
          </p:nvSpPr>
          <p:spPr bwMode="auto">
            <a:xfrm>
              <a:off x="4406" y="42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1</a:t>
              </a:r>
            </a:p>
          </p:txBody>
        </p:sp>
        <p:sp>
          <p:nvSpPr>
            <p:cNvPr id="38920" name="Line 24"/>
            <p:cNvSpPr>
              <a:spLocks noChangeShapeType="1"/>
            </p:cNvSpPr>
            <p:nvPr/>
          </p:nvSpPr>
          <p:spPr bwMode="auto">
            <a:xfrm>
              <a:off x="3335" y="915"/>
              <a:ext cx="0" cy="652"/>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921" name="Line 25"/>
            <p:cNvSpPr>
              <a:spLocks noChangeShapeType="1"/>
            </p:cNvSpPr>
            <p:nvPr/>
          </p:nvSpPr>
          <p:spPr bwMode="auto">
            <a:xfrm>
              <a:off x="3972" y="915"/>
              <a:ext cx="0" cy="652"/>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922" name="Line 26"/>
            <p:cNvSpPr>
              <a:spLocks noChangeShapeType="1"/>
            </p:cNvSpPr>
            <p:nvPr/>
          </p:nvSpPr>
          <p:spPr bwMode="auto">
            <a:xfrm>
              <a:off x="3335" y="1567"/>
              <a:ext cx="643" cy="0"/>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923" name="Oval 27"/>
            <p:cNvSpPr>
              <a:spLocks noChangeArrowheads="1"/>
            </p:cNvSpPr>
            <p:nvPr/>
          </p:nvSpPr>
          <p:spPr bwMode="auto">
            <a:xfrm>
              <a:off x="3335" y="755"/>
              <a:ext cx="643" cy="297"/>
            </a:xfrm>
            <a:prstGeom prst="ellipse">
              <a:avLst/>
            </a:prstGeom>
            <a:noFill/>
            <a:ln w="254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4" name="AutoShape 28"/>
            <p:cNvSpPr>
              <a:spLocks noChangeArrowheads="1"/>
            </p:cNvSpPr>
            <p:nvPr/>
          </p:nvSpPr>
          <p:spPr bwMode="auto">
            <a:xfrm>
              <a:off x="3978" y="559"/>
              <a:ext cx="818" cy="356"/>
            </a:xfrm>
            <a:prstGeom prst="triangle">
              <a:avLst>
                <a:gd name="adj" fmla="val 50000"/>
              </a:avLst>
            </a:prstGeom>
            <a:noFill/>
            <a:ln w="254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25" name="Freeform 29"/>
            <p:cNvSpPr>
              <a:spLocks/>
            </p:cNvSpPr>
            <p:nvPr/>
          </p:nvSpPr>
          <p:spPr bwMode="auto">
            <a:xfrm>
              <a:off x="4796" y="915"/>
              <a:ext cx="171" cy="495"/>
            </a:xfrm>
            <a:custGeom>
              <a:avLst/>
              <a:gdLst>
                <a:gd name="T0" fmla="*/ 0 w 140"/>
                <a:gd name="T1" fmla="*/ 0 h 401"/>
                <a:gd name="T2" fmla="*/ 171 w 140"/>
                <a:gd name="T3" fmla="*/ 495 h 401"/>
                <a:gd name="T4" fmla="*/ 0 60000 65536"/>
                <a:gd name="T5" fmla="*/ 0 60000 65536"/>
              </a:gdLst>
              <a:ahLst/>
              <a:cxnLst>
                <a:cxn ang="T4">
                  <a:pos x="T0" y="T1"/>
                </a:cxn>
                <a:cxn ang="T5">
                  <a:pos x="T2" y="T3"/>
                </a:cxn>
              </a:cxnLst>
              <a:rect l="0" t="0" r="r" b="b"/>
              <a:pathLst>
                <a:path w="140" h="401">
                  <a:moveTo>
                    <a:pt x="0" y="0"/>
                  </a:moveTo>
                  <a:lnTo>
                    <a:pt x="140" y="401"/>
                  </a:lnTo>
                </a:path>
              </a:pathLst>
            </a:custGeom>
            <a:noFill/>
            <a:ln w="25400">
              <a:solidFill>
                <a:schemeClr val="tx1"/>
              </a:solidFill>
              <a:round/>
              <a:headEnd type="oval" w="lg" len="lg"/>
              <a:tailEnd type="oval"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8926" name="Text Box 30"/>
            <p:cNvSpPr txBox="1">
              <a:spLocks noChangeArrowheads="1"/>
            </p:cNvSpPr>
            <p:nvPr/>
          </p:nvSpPr>
          <p:spPr bwMode="auto">
            <a:xfrm>
              <a:off x="4685" y="123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chemeClr val="hlink"/>
                  </a:solidFill>
                  <a:latin typeface="Times New Roman" pitchFamily="18" charset="0"/>
                </a:rPr>
                <a:t>v</a:t>
              </a:r>
              <a:r>
                <a:rPr kumimoji="1" lang="en-US" altLang="zh-CN" b="1" baseline="-25000">
                  <a:solidFill>
                    <a:schemeClr val="hlink"/>
                  </a:solidFill>
                  <a:latin typeface="Times New Roman" pitchFamily="18" charset="0"/>
                </a:rPr>
                <a:t>6</a:t>
              </a:r>
            </a:p>
          </p:txBody>
        </p:sp>
        <p:sp>
          <p:nvSpPr>
            <p:cNvPr id="38927" name="Text Box 31"/>
            <p:cNvSpPr txBox="1">
              <a:spLocks noChangeArrowheads="1"/>
            </p:cNvSpPr>
            <p:nvPr/>
          </p:nvSpPr>
          <p:spPr bwMode="auto">
            <a:xfrm>
              <a:off x="3971" y="141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5</a:t>
              </a:r>
            </a:p>
          </p:txBody>
        </p:sp>
        <p:sp>
          <p:nvSpPr>
            <p:cNvPr id="38928" name="Text Box 32"/>
            <p:cNvSpPr txBox="1">
              <a:spLocks noChangeArrowheads="1"/>
            </p:cNvSpPr>
            <p:nvPr/>
          </p:nvSpPr>
          <p:spPr bwMode="auto">
            <a:xfrm>
              <a:off x="3116" y="144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4</a:t>
              </a:r>
            </a:p>
          </p:txBody>
        </p:sp>
        <p:sp>
          <p:nvSpPr>
            <p:cNvPr id="38929" name="Text Box 33"/>
            <p:cNvSpPr txBox="1">
              <a:spLocks noChangeArrowheads="1"/>
            </p:cNvSpPr>
            <p:nvPr/>
          </p:nvSpPr>
          <p:spPr bwMode="auto">
            <a:xfrm>
              <a:off x="3969" y="829"/>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2</a:t>
              </a:r>
            </a:p>
          </p:txBody>
        </p:sp>
        <p:sp>
          <p:nvSpPr>
            <p:cNvPr id="38930" name="Text Box 34"/>
            <p:cNvSpPr txBox="1">
              <a:spLocks noChangeArrowheads="1"/>
            </p:cNvSpPr>
            <p:nvPr/>
          </p:nvSpPr>
          <p:spPr bwMode="auto">
            <a:xfrm>
              <a:off x="3536" y="482"/>
              <a:ext cx="29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1</a:t>
              </a:r>
            </a:p>
          </p:txBody>
        </p:sp>
        <p:sp>
          <p:nvSpPr>
            <p:cNvPr id="38931" name="Text Box 35"/>
            <p:cNvSpPr txBox="1">
              <a:spLocks noChangeArrowheads="1"/>
            </p:cNvSpPr>
            <p:nvPr/>
          </p:nvSpPr>
          <p:spPr bwMode="auto">
            <a:xfrm>
              <a:off x="3527" y="754"/>
              <a:ext cx="30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2</a:t>
              </a:r>
            </a:p>
          </p:txBody>
        </p:sp>
        <p:sp>
          <p:nvSpPr>
            <p:cNvPr id="38932" name="Text Box 36"/>
            <p:cNvSpPr txBox="1">
              <a:spLocks noChangeArrowheads="1"/>
            </p:cNvSpPr>
            <p:nvPr/>
          </p:nvSpPr>
          <p:spPr bwMode="auto">
            <a:xfrm>
              <a:off x="3107" y="1104"/>
              <a:ext cx="3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3</a:t>
              </a:r>
            </a:p>
          </p:txBody>
        </p:sp>
        <p:sp>
          <p:nvSpPr>
            <p:cNvPr id="38933" name="Text Box 37"/>
            <p:cNvSpPr txBox="1">
              <a:spLocks noChangeArrowheads="1"/>
            </p:cNvSpPr>
            <p:nvPr/>
          </p:nvSpPr>
          <p:spPr bwMode="auto">
            <a:xfrm>
              <a:off x="3515" y="1298"/>
              <a:ext cx="30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4</a:t>
              </a:r>
            </a:p>
          </p:txBody>
        </p:sp>
        <p:sp>
          <p:nvSpPr>
            <p:cNvPr id="38934" name="Text Box 38"/>
            <p:cNvSpPr txBox="1">
              <a:spLocks noChangeArrowheads="1"/>
            </p:cNvSpPr>
            <p:nvPr/>
          </p:nvSpPr>
          <p:spPr bwMode="auto">
            <a:xfrm>
              <a:off x="3742" y="1135"/>
              <a:ext cx="2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5</a:t>
              </a:r>
            </a:p>
          </p:txBody>
        </p:sp>
        <p:sp>
          <p:nvSpPr>
            <p:cNvPr id="38935" name="Text Box 39"/>
            <p:cNvSpPr txBox="1">
              <a:spLocks noChangeArrowheads="1"/>
            </p:cNvSpPr>
            <p:nvPr/>
          </p:nvSpPr>
          <p:spPr bwMode="auto">
            <a:xfrm>
              <a:off x="4253" y="874"/>
              <a:ext cx="30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6</a:t>
              </a:r>
            </a:p>
          </p:txBody>
        </p:sp>
        <p:sp>
          <p:nvSpPr>
            <p:cNvPr id="38936" name="Text Box 40"/>
            <p:cNvSpPr txBox="1">
              <a:spLocks noChangeArrowheads="1"/>
            </p:cNvSpPr>
            <p:nvPr/>
          </p:nvSpPr>
          <p:spPr bwMode="auto">
            <a:xfrm>
              <a:off x="4377" y="607"/>
              <a:ext cx="29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7</a:t>
              </a:r>
            </a:p>
          </p:txBody>
        </p:sp>
        <p:sp>
          <p:nvSpPr>
            <p:cNvPr id="38937" name="Text Box 41"/>
            <p:cNvSpPr txBox="1">
              <a:spLocks noChangeArrowheads="1"/>
            </p:cNvSpPr>
            <p:nvPr/>
          </p:nvSpPr>
          <p:spPr bwMode="auto">
            <a:xfrm>
              <a:off x="3969" y="463"/>
              <a:ext cx="34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8</a:t>
              </a:r>
            </a:p>
          </p:txBody>
        </p:sp>
        <p:sp>
          <p:nvSpPr>
            <p:cNvPr id="38938" name="Text Box 42"/>
            <p:cNvSpPr txBox="1">
              <a:spLocks noChangeArrowheads="1"/>
            </p:cNvSpPr>
            <p:nvPr/>
          </p:nvSpPr>
          <p:spPr bwMode="auto">
            <a:xfrm>
              <a:off x="4649" y="991"/>
              <a:ext cx="28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0033CC"/>
                  </a:solidFill>
                  <a:latin typeface="Times New Roman" pitchFamily="18" charset="0"/>
                </a:rPr>
                <a:t>e</a:t>
              </a:r>
              <a:r>
                <a:rPr kumimoji="1" lang="en-US" altLang="zh-CN" b="1" baseline="-25000">
                  <a:solidFill>
                    <a:srgbClr val="0033CC"/>
                  </a:solidFill>
                  <a:latin typeface="Times New Roman" pitchFamily="18" charset="0"/>
                </a:rPr>
                <a:t>9</a:t>
              </a:r>
            </a:p>
          </p:txBody>
        </p:sp>
        <p:sp>
          <p:nvSpPr>
            <p:cNvPr id="38939" name="Oval 43"/>
            <p:cNvSpPr>
              <a:spLocks noChangeAspect="1" noChangeArrowheads="1"/>
            </p:cNvSpPr>
            <p:nvPr/>
          </p:nvSpPr>
          <p:spPr bwMode="auto">
            <a:xfrm>
              <a:off x="4341" y="527"/>
              <a:ext cx="86" cy="8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8940" name="Text Box 44"/>
            <p:cNvSpPr txBox="1">
              <a:spLocks noChangeArrowheads="1"/>
            </p:cNvSpPr>
            <p:nvPr/>
          </p:nvSpPr>
          <p:spPr bwMode="auto">
            <a:xfrm>
              <a:off x="4560" y="83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7</a:t>
              </a:r>
            </a:p>
          </p:txBody>
        </p:sp>
      </p:grpSp>
    </p:spTree>
    <p:extLst>
      <p:ext uri="{BB962C8B-B14F-4D97-AF65-F5344CB8AC3E}">
        <p14:creationId xmlns:p14="http://schemas.microsoft.com/office/powerpoint/2010/main" val="2343222694"/>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2661"/>
                                        </p:tgtEl>
                                        <p:attrNameLst>
                                          <p:attrName>style.visibility</p:attrName>
                                        </p:attrNameLst>
                                      </p:cBhvr>
                                      <p:to>
                                        <p:strVal val="visible"/>
                                      </p:to>
                                    </p:set>
                                    <p:anim calcmode="lin" valueType="num">
                                      <p:cBhvr additive="base">
                                        <p:cTn id="7" dur="500" fill="hold"/>
                                        <p:tgtEl>
                                          <p:spTgt spid="112661"/>
                                        </p:tgtEl>
                                        <p:attrNameLst>
                                          <p:attrName>ppt_x</p:attrName>
                                        </p:attrNameLst>
                                      </p:cBhvr>
                                      <p:tavLst>
                                        <p:tav tm="0">
                                          <p:val>
                                            <p:strVal val="#ppt_x"/>
                                          </p:val>
                                        </p:tav>
                                        <p:tav tm="100000">
                                          <p:val>
                                            <p:strVal val="#ppt_x"/>
                                          </p:val>
                                        </p:tav>
                                      </p:tavLst>
                                    </p:anim>
                                    <p:anim calcmode="lin" valueType="num">
                                      <p:cBhvr additive="base">
                                        <p:cTn id="8" dur="500" fill="hold"/>
                                        <p:tgtEl>
                                          <p:spTgt spid="112661"/>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2686"/>
                                        </p:tgtEl>
                                        <p:attrNameLst>
                                          <p:attrName>style.visibility</p:attrName>
                                        </p:attrNameLst>
                                      </p:cBhvr>
                                      <p:to>
                                        <p:strVal val="visible"/>
                                      </p:to>
                                    </p:set>
                                    <p:anim calcmode="lin" valueType="num">
                                      <p:cBhvr additive="base">
                                        <p:cTn id="11" dur="500" fill="hold"/>
                                        <p:tgtEl>
                                          <p:spTgt spid="112686"/>
                                        </p:tgtEl>
                                        <p:attrNameLst>
                                          <p:attrName>ppt_x</p:attrName>
                                        </p:attrNameLst>
                                      </p:cBhvr>
                                      <p:tavLst>
                                        <p:tav tm="0">
                                          <p:val>
                                            <p:strVal val="#ppt_x"/>
                                          </p:val>
                                        </p:tav>
                                        <p:tav tm="100000">
                                          <p:val>
                                            <p:strVal val="#ppt_x"/>
                                          </p:val>
                                        </p:tav>
                                      </p:tavLst>
                                    </p:anim>
                                    <p:anim calcmode="lin" valueType="num">
                                      <p:cBhvr additive="base">
                                        <p:cTn id="12" dur="500" fill="hold"/>
                                        <p:tgtEl>
                                          <p:spTgt spid="1126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7" name="灯片编号占位符 2"/>
          <p:cNvSpPr>
            <a:spLocks noGrp="1"/>
          </p:cNvSpPr>
          <p:nvPr>
            <p:ph type="sldNum" sz="quarter" idx="11"/>
          </p:nvPr>
        </p:nvSpPr>
        <p:spPr/>
        <p:txBody>
          <a:bodyPr/>
          <a:lstStyle/>
          <a:p>
            <a:pPr>
              <a:defRPr/>
            </a:pPr>
            <a:fld id="{1BA7361D-8168-44B1-9429-009E0CA6261E}" type="slidenum">
              <a:rPr lang="en-US" altLang="zh-CN"/>
              <a:pPr>
                <a:defRPr/>
              </a:pPr>
              <a:t>37</a:t>
            </a:fld>
            <a:endParaRPr lang="en-US" altLang="zh-CN"/>
          </a:p>
        </p:txBody>
      </p:sp>
      <p:sp>
        <p:nvSpPr>
          <p:cNvPr id="39939" name="Text Box 2"/>
          <p:cNvSpPr txBox="1">
            <a:spLocks noChangeArrowheads="1"/>
          </p:cNvSpPr>
          <p:nvPr/>
        </p:nvSpPr>
        <p:spPr bwMode="auto">
          <a:xfrm>
            <a:off x="539750" y="958850"/>
            <a:ext cx="8135938" cy="337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50000"/>
              </a:lnSpc>
              <a:buClr>
                <a:schemeClr val="bg1"/>
              </a:buClr>
            </a:pPr>
            <a:r>
              <a:rPr kumimoji="1" lang="zh-CN" altLang="en-US" b="1">
                <a:solidFill>
                  <a:srgbClr val="0000CC"/>
                </a:solidFill>
                <a:latin typeface="Times New Roman" pitchFamily="18" charset="0"/>
              </a:rPr>
              <a:t>定义</a:t>
            </a:r>
            <a:r>
              <a:rPr kumimoji="1" lang="en-US" altLang="zh-CN" b="1">
                <a:solidFill>
                  <a:srgbClr val="0000CC"/>
                </a:solidFill>
                <a:latin typeface="Times New Roman" pitchFamily="18" charset="0"/>
              </a:rPr>
              <a:t>7-2.6</a:t>
            </a:r>
            <a:r>
              <a:rPr kumimoji="1" lang="zh-CN" altLang="en-US" b="1">
                <a:solidFill>
                  <a:srgbClr val="0000CC"/>
                </a:solidFill>
                <a:latin typeface="Times New Roman" pitchFamily="18" charset="0"/>
              </a:rPr>
              <a:t>：</a:t>
            </a:r>
            <a:r>
              <a:rPr kumimoji="1" lang="zh-CN" altLang="en-US" b="1">
                <a:latin typeface="Times New Roman" pitchFamily="18" charset="0"/>
              </a:rPr>
              <a:t>在简单有向图</a:t>
            </a:r>
            <a:r>
              <a:rPr kumimoji="1" lang="en-US" altLang="zh-CN" b="1">
                <a:latin typeface="Times New Roman" pitchFamily="18" charset="0"/>
              </a:rPr>
              <a:t>G</a:t>
            </a:r>
            <a:r>
              <a:rPr kumimoji="1" lang="zh-CN" altLang="en-US" b="1">
                <a:latin typeface="Times New Roman" pitchFamily="18" charset="0"/>
              </a:rPr>
              <a:t>中，任何一对结点间，至少有一个结点到另一个结点是可达的</a:t>
            </a:r>
            <a:r>
              <a:rPr kumimoji="1" lang="en-US" altLang="zh-CN" b="1">
                <a:latin typeface="Times New Roman" pitchFamily="18" charset="0"/>
              </a:rPr>
              <a:t>,</a:t>
            </a:r>
            <a:r>
              <a:rPr kumimoji="1" lang="zh-CN" altLang="en-US" b="1">
                <a:latin typeface="Times New Roman" pitchFamily="18" charset="0"/>
              </a:rPr>
              <a:t>则称这个图是</a:t>
            </a:r>
            <a:r>
              <a:rPr kumimoji="1" lang="zh-CN" altLang="en-US" b="1">
                <a:solidFill>
                  <a:srgbClr val="0000CC"/>
                </a:solidFill>
                <a:latin typeface="Times New Roman" pitchFamily="18" charset="0"/>
              </a:rPr>
              <a:t>单侧连通</a:t>
            </a:r>
            <a:r>
              <a:rPr kumimoji="1" lang="zh-CN" altLang="en-US" b="1">
                <a:latin typeface="Times New Roman" pitchFamily="18" charset="0"/>
              </a:rPr>
              <a:t>的。</a:t>
            </a:r>
          </a:p>
          <a:p>
            <a:pPr eaLnBrk="1" hangingPunct="1">
              <a:lnSpc>
                <a:spcPct val="150000"/>
              </a:lnSpc>
              <a:buClr>
                <a:schemeClr val="bg1"/>
              </a:buClr>
            </a:pPr>
            <a:r>
              <a:rPr kumimoji="1" lang="zh-CN" altLang="en-US" b="1">
                <a:latin typeface="Times New Roman" pitchFamily="18" charset="0"/>
              </a:rPr>
              <a:t>若图</a:t>
            </a:r>
            <a:r>
              <a:rPr kumimoji="1" lang="en-US" altLang="zh-CN" b="1">
                <a:latin typeface="Times New Roman" pitchFamily="18" charset="0"/>
              </a:rPr>
              <a:t>G</a:t>
            </a:r>
            <a:r>
              <a:rPr kumimoji="1" lang="zh-CN" altLang="en-US" b="1">
                <a:latin typeface="Times New Roman" pitchFamily="18" charset="0"/>
              </a:rPr>
              <a:t>中任何一对结点间是相互可达的，则称这个图是</a:t>
            </a:r>
            <a:r>
              <a:rPr kumimoji="1" lang="zh-CN" altLang="en-US" b="1">
                <a:solidFill>
                  <a:srgbClr val="0000CC"/>
                </a:solidFill>
                <a:latin typeface="Times New Roman" pitchFamily="18" charset="0"/>
              </a:rPr>
              <a:t>强连通</a:t>
            </a:r>
            <a:r>
              <a:rPr kumimoji="1" lang="zh-CN" altLang="en-US" b="1">
                <a:latin typeface="Times New Roman" pitchFamily="18" charset="0"/>
              </a:rPr>
              <a:t>的。</a:t>
            </a:r>
          </a:p>
          <a:p>
            <a:pPr eaLnBrk="1" hangingPunct="1">
              <a:lnSpc>
                <a:spcPct val="150000"/>
              </a:lnSpc>
              <a:buClr>
                <a:schemeClr val="bg1"/>
              </a:buClr>
            </a:pPr>
            <a:r>
              <a:rPr kumimoji="1" lang="zh-CN" altLang="en-US" b="1">
                <a:latin typeface="Times New Roman" pitchFamily="18" charset="0"/>
              </a:rPr>
              <a:t>若在图</a:t>
            </a:r>
            <a:r>
              <a:rPr kumimoji="1" lang="en-US" altLang="zh-CN" b="1">
                <a:latin typeface="Times New Roman" pitchFamily="18" charset="0"/>
              </a:rPr>
              <a:t>G</a:t>
            </a:r>
            <a:r>
              <a:rPr kumimoji="1" lang="zh-CN" altLang="en-US" b="1">
                <a:latin typeface="Times New Roman" pitchFamily="18" charset="0"/>
              </a:rPr>
              <a:t>中略去边的方向，将其看成无向图后，图是连通的，则称该图为</a:t>
            </a:r>
            <a:r>
              <a:rPr kumimoji="1" lang="zh-CN" altLang="en-US" b="1">
                <a:solidFill>
                  <a:srgbClr val="0000CC"/>
                </a:solidFill>
                <a:latin typeface="Times New Roman" pitchFamily="18" charset="0"/>
              </a:rPr>
              <a:t>弱连通</a:t>
            </a:r>
            <a:r>
              <a:rPr kumimoji="1" lang="zh-CN" altLang="en-US" b="1">
                <a:latin typeface="Times New Roman" pitchFamily="18" charset="0"/>
              </a:rPr>
              <a:t>的。</a:t>
            </a:r>
          </a:p>
        </p:txBody>
      </p:sp>
      <p:grpSp>
        <p:nvGrpSpPr>
          <p:cNvPr id="178179" name="Group 3"/>
          <p:cNvGrpSpPr>
            <a:grpSpLocks/>
          </p:cNvGrpSpPr>
          <p:nvPr/>
        </p:nvGrpSpPr>
        <p:grpSpPr bwMode="auto">
          <a:xfrm>
            <a:off x="323850" y="4581525"/>
            <a:ext cx="8420100" cy="1676400"/>
            <a:chOff x="0" y="2478"/>
            <a:chExt cx="5508" cy="1056"/>
          </a:xfrm>
        </p:grpSpPr>
        <p:sp>
          <p:nvSpPr>
            <p:cNvPr id="39941" name="Text Box 4"/>
            <p:cNvSpPr txBox="1">
              <a:spLocks noChangeArrowheads="1"/>
            </p:cNvSpPr>
            <p:nvPr/>
          </p:nvSpPr>
          <p:spPr bwMode="auto">
            <a:xfrm>
              <a:off x="0" y="2614"/>
              <a:ext cx="2585" cy="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50000"/>
                </a:lnSpc>
                <a:buClr>
                  <a:schemeClr val="bg1"/>
                </a:buClr>
              </a:pPr>
              <a:r>
                <a:rPr kumimoji="1" lang="zh-CN" altLang="en-US" b="1">
                  <a:solidFill>
                    <a:schemeClr val="hlink"/>
                  </a:solidFill>
                  <a:latin typeface="Times New Roman" pitchFamily="18" charset="0"/>
                </a:rPr>
                <a:t>例 </a:t>
              </a:r>
              <a:r>
                <a:rPr kumimoji="1" lang="zh-CN" altLang="en-US" b="1">
                  <a:latin typeface="Times New Roman" pitchFamily="18" charset="0"/>
                </a:rPr>
                <a:t>判断各图的连通性</a:t>
              </a:r>
            </a:p>
          </p:txBody>
        </p:sp>
        <p:sp>
          <p:nvSpPr>
            <p:cNvPr id="39942" name="Oval 5"/>
            <p:cNvSpPr>
              <a:spLocks noChangeArrowheads="1"/>
            </p:cNvSpPr>
            <p:nvPr/>
          </p:nvSpPr>
          <p:spPr bwMode="auto">
            <a:xfrm>
              <a:off x="2933" y="257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3" name="Oval 6"/>
            <p:cNvSpPr>
              <a:spLocks noChangeArrowheads="1"/>
            </p:cNvSpPr>
            <p:nvPr/>
          </p:nvSpPr>
          <p:spPr bwMode="auto">
            <a:xfrm>
              <a:off x="2069" y="257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4" name="Oval 7"/>
            <p:cNvSpPr>
              <a:spLocks noChangeArrowheads="1"/>
            </p:cNvSpPr>
            <p:nvPr/>
          </p:nvSpPr>
          <p:spPr bwMode="auto">
            <a:xfrm>
              <a:off x="2069" y="3342"/>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5" name="Oval 8"/>
            <p:cNvSpPr>
              <a:spLocks noChangeArrowheads="1"/>
            </p:cNvSpPr>
            <p:nvPr/>
          </p:nvSpPr>
          <p:spPr bwMode="auto">
            <a:xfrm>
              <a:off x="2933" y="3342"/>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6" name="Oval 9"/>
            <p:cNvSpPr>
              <a:spLocks noChangeArrowheads="1"/>
            </p:cNvSpPr>
            <p:nvPr/>
          </p:nvSpPr>
          <p:spPr bwMode="auto">
            <a:xfrm>
              <a:off x="2165" y="2526"/>
              <a:ext cx="768"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7" name="Oval 10"/>
            <p:cNvSpPr>
              <a:spLocks noChangeArrowheads="1"/>
            </p:cNvSpPr>
            <p:nvPr/>
          </p:nvSpPr>
          <p:spPr bwMode="auto">
            <a:xfrm>
              <a:off x="2021" y="2670"/>
              <a:ext cx="192" cy="67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8" name="Oval 11"/>
            <p:cNvSpPr>
              <a:spLocks noChangeArrowheads="1"/>
            </p:cNvSpPr>
            <p:nvPr/>
          </p:nvSpPr>
          <p:spPr bwMode="auto">
            <a:xfrm>
              <a:off x="2165" y="3294"/>
              <a:ext cx="768" cy="19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49" name="Oval 12"/>
            <p:cNvSpPr>
              <a:spLocks noChangeArrowheads="1"/>
            </p:cNvSpPr>
            <p:nvPr/>
          </p:nvSpPr>
          <p:spPr bwMode="auto">
            <a:xfrm>
              <a:off x="2885" y="2670"/>
              <a:ext cx="192" cy="672"/>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39950" name="Group 13"/>
            <p:cNvGrpSpPr>
              <a:grpSpLocks/>
            </p:cNvGrpSpPr>
            <p:nvPr/>
          </p:nvGrpSpPr>
          <p:grpSpPr bwMode="auto">
            <a:xfrm>
              <a:off x="1973" y="2478"/>
              <a:ext cx="1152" cy="1056"/>
              <a:chOff x="528" y="2592"/>
              <a:chExt cx="1152" cy="1056"/>
            </a:xfrm>
          </p:grpSpPr>
          <p:grpSp>
            <p:nvGrpSpPr>
              <p:cNvPr id="39975" name="Group 14"/>
              <p:cNvGrpSpPr>
                <a:grpSpLocks/>
              </p:cNvGrpSpPr>
              <p:nvPr/>
            </p:nvGrpSpPr>
            <p:grpSpPr bwMode="auto">
              <a:xfrm>
                <a:off x="1104" y="2592"/>
                <a:ext cx="96" cy="288"/>
                <a:chOff x="1104" y="2592"/>
                <a:chExt cx="96" cy="288"/>
              </a:xfrm>
            </p:grpSpPr>
            <p:sp>
              <p:nvSpPr>
                <p:cNvPr id="39989" name="Line 15"/>
                <p:cNvSpPr>
                  <a:spLocks noChangeShapeType="1"/>
                </p:cNvSpPr>
                <p:nvPr/>
              </p:nvSpPr>
              <p:spPr bwMode="auto">
                <a:xfrm>
                  <a:off x="1104" y="2592"/>
                  <a:ext cx="96"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90" name="Line 16"/>
                <p:cNvSpPr>
                  <a:spLocks noChangeShapeType="1"/>
                </p:cNvSpPr>
                <p:nvPr/>
              </p:nvSpPr>
              <p:spPr bwMode="auto">
                <a:xfrm flipH="1">
                  <a:off x="1104" y="2640"/>
                  <a:ext cx="96"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91" name="Line 17"/>
                <p:cNvSpPr>
                  <a:spLocks noChangeShapeType="1"/>
                </p:cNvSpPr>
                <p:nvPr/>
              </p:nvSpPr>
              <p:spPr bwMode="auto">
                <a:xfrm flipH="1">
                  <a:off x="1104" y="2784"/>
                  <a:ext cx="96"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92" name="Line 18"/>
                <p:cNvSpPr>
                  <a:spLocks noChangeShapeType="1"/>
                </p:cNvSpPr>
                <p:nvPr/>
              </p:nvSpPr>
              <p:spPr bwMode="auto">
                <a:xfrm>
                  <a:off x="1104" y="2832"/>
                  <a:ext cx="96"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9976" name="Group 19"/>
              <p:cNvGrpSpPr>
                <a:grpSpLocks/>
              </p:cNvGrpSpPr>
              <p:nvPr/>
            </p:nvGrpSpPr>
            <p:grpSpPr bwMode="auto">
              <a:xfrm>
                <a:off x="1056" y="3360"/>
                <a:ext cx="96" cy="288"/>
                <a:chOff x="1104" y="2592"/>
                <a:chExt cx="96" cy="288"/>
              </a:xfrm>
            </p:grpSpPr>
            <p:sp>
              <p:nvSpPr>
                <p:cNvPr id="39985" name="Line 20"/>
                <p:cNvSpPr>
                  <a:spLocks noChangeShapeType="1"/>
                </p:cNvSpPr>
                <p:nvPr/>
              </p:nvSpPr>
              <p:spPr bwMode="auto">
                <a:xfrm>
                  <a:off x="1104" y="2592"/>
                  <a:ext cx="96"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86" name="Line 21"/>
                <p:cNvSpPr>
                  <a:spLocks noChangeShapeType="1"/>
                </p:cNvSpPr>
                <p:nvPr/>
              </p:nvSpPr>
              <p:spPr bwMode="auto">
                <a:xfrm flipH="1">
                  <a:off x="1104" y="2640"/>
                  <a:ext cx="96"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87" name="Line 22"/>
                <p:cNvSpPr>
                  <a:spLocks noChangeShapeType="1"/>
                </p:cNvSpPr>
                <p:nvPr/>
              </p:nvSpPr>
              <p:spPr bwMode="auto">
                <a:xfrm flipH="1">
                  <a:off x="1104" y="2784"/>
                  <a:ext cx="96"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88" name="Line 23"/>
                <p:cNvSpPr>
                  <a:spLocks noChangeShapeType="1"/>
                </p:cNvSpPr>
                <p:nvPr/>
              </p:nvSpPr>
              <p:spPr bwMode="auto">
                <a:xfrm>
                  <a:off x="1104" y="2832"/>
                  <a:ext cx="96" cy="4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9977" name="Line 24"/>
              <p:cNvSpPr>
                <a:spLocks noChangeShapeType="1"/>
              </p:cNvSpPr>
              <p:nvPr/>
            </p:nvSpPr>
            <p:spPr bwMode="auto">
              <a:xfrm>
                <a:off x="528" y="3072"/>
                <a:ext cx="48"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78" name="Line 25"/>
              <p:cNvSpPr>
                <a:spLocks noChangeShapeType="1"/>
              </p:cNvSpPr>
              <p:nvPr/>
            </p:nvSpPr>
            <p:spPr bwMode="auto">
              <a:xfrm flipV="1">
                <a:off x="576" y="3072"/>
                <a:ext cx="48"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79" name="Line 26"/>
              <p:cNvSpPr>
                <a:spLocks noChangeShapeType="1"/>
              </p:cNvSpPr>
              <p:nvPr/>
            </p:nvSpPr>
            <p:spPr bwMode="auto">
              <a:xfrm flipH="1">
                <a:off x="720" y="3072"/>
                <a:ext cx="48"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80" name="Line 27"/>
              <p:cNvSpPr>
                <a:spLocks noChangeShapeType="1"/>
              </p:cNvSpPr>
              <p:nvPr/>
            </p:nvSpPr>
            <p:spPr bwMode="auto">
              <a:xfrm>
                <a:off x="768" y="3072"/>
                <a:ext cx="48"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81" name="Line 28"/>
              <p:cNvSpPr>
                <a:spLocks noChangeShapeType="1"/>
              </p:cNvSpPr>
              <p:nvPr/>
            </p:nvSpPr>
            <p:spPr bwMode="auto">
              <a:xfrm>
                <a:off x="1584" y="3072"/>
                <a:ext cx="48"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82" name="Line 29"/>
              <p:cNvSpPr>
                <a:spLocks noChangeShapeType="1"/>
              </p:cNvSpPr>
              <p:nvPr/>
            </p:nvSpPr>
            <p:spPr bwMode="auto">
              <a:xfrm flipV="1">
                <a:off x="1632" y="3072"/>
                <a:ext cx="48"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83" name="Line 30"/>
              <p:cNvSpPr>
                <a:spLocks noChangeShapeType="1"/>
              </p:cNvSpPr>
              <p:nvPr/>
            </p:nvSpPr>
            <p:spPr bwMode="auto">
              <a:xfrm flipH="1">
                <a:off x="1392" y="3120"/>
                <a:ext cx="48"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84" name="Line 31"/>
              <p:cNvSpPr>
                <a:spLocks noChangeShapeType="1"/>
              </p:cNvSpPr>
              <p:nvPr/>
            </p:nvSpPr>
            <p:spPr bwMode="auto">
              <a:xfrm>
                <a:off x="1440" y="3120"/>
                <a:ext cx="48" cy="9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9951" name="Oval 32"/>
            <p:cNvSpPr>
              <a:spLocks noChangeArrowheads="1"/>
            </p:cNvSpPr>
            <p:nvPr/>
          </p:nvSpPr>
          <p:spPr bwMode="auto">
            <a:xfrm>
              <a:off x="3428" y="261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2" name="Oval 33"/>
            <p:cNvSpPr>
              <a:spLocks noChangeArrowheads="1"/>
            </p:cNvSpPr>
            <p:nvPr/>
          </p:nvSpPr>
          <p:spPr bwMode="auto">
            <a:xfrm>
              <a:off x="4292" y="261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3" name="Oval 34"/>
            <p:cNvSpPr>
              <a:spLocks noChangeArrowheads="1"/>
            </p:cNvSpPr>
            <p:nvPr/>
          </p:nvSpPr>
          <p:spPr bwMode="auto">
            <a:xfrm>
              <a:off x="4292" y="328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4" name="Oval 35"/>
            <p:cNvSpPr>
              <a:spLocks noChangeArrowheads="1"/>
            </p:cNvSpPr>
            <p:nvPr/>
          </p:nvSpPr>
          <p:spPr bwMode="auto">
            <a:xfrm>
              <a:off x="3428" y="3286"/>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55" name="Line 36"/>
            <p:cNvSpPr>
              <a:spLocks noChangeShapeType="1"/>
            </p:cNvSpPr>
            <p:nvPr/>
          </p:nvSpPr>
          <p:spPr bwMode="auto">
            <a:xfrm>
              <a:off x="3524" y="2662"/>
              <a:ext cx="432" cy="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6" name="Line 37"/>
            <p:cNvSpPr>
              <a:spLocks noChangeShapeType="1"/>
            </p:cNvSpPr>
            <p:nvPr/>
          </p:nvSpPr>
          <p:spPr bwMode="auto">
            <a:xfrm>
              <a:off x="3908" y="2662"/>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7" name="Line 38"/>
            <p:cNvSpPr>
              <a:spLocks noChangeShapeType="1"/>
            </p:cNvSpPr>
            <p:nvPr/>
          </p:nvSpPr>
          <p:spPr bwMode="auto">
            <a:xfrm flipH="1">
              <a:off x="4004" y="3334"/>
              <a:ext cx="288" cy="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8" name="Line 39"/>
            <p:cNvSpPr>
              <a:spLocks noChangeShapeType="1"/>
            </p:cNvSpPr>
            <p:nvPr/>
          </p:nvSpPr>
          <p:spPr bwMode="auto">
            <a:xfrm flipH="1">
              <a:off x="3524" y="3334"/>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59" name="Line 40"/>
            <p:cNvSpPr>
              <a:spLocks noChangeShapeType="1"/>
            </p:cNvSpPr>
            <p:nvPr/>
          </p:nvSpPr>
          <p:spPr bwMode="auto">
            <a:xfrm flipV="1">
              <a:off x="3476" y="3046"/>
              <a:ext cx="0" cy="24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60" name="Line 41"/>
            <p:cNvSpPr>
              <a:spLocks noChangeShapeType="1"/>
            </p:cNvSpPr>
            <p:nvPr/>
          </p:nvSpPr>
          <p:spPr bwMode="auto">
            <a:xfrm flipV="1">
              <a:off x="3476" y="2710"/>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61" name="Line 42"/>
            <p:cNvSpPr>
              <a:spLocks noChangeShapeType="1"/>
            </p:cNvSpPr>
            <p:nvPr/>
          </p:nvSpPr>
          <p:spPr bwMode="auto">
            <a:xfrm flipV="1">
              <a:off x="4340" y="3046"/>
              <a:ext cx="0" cy="24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62" name="Line 43"/>
            <p:cNvSpPr>
              <a:spLocks noChangeShapeType="1"/>
            </p:cNvSpPr>
            <p:nvPr/>
          </p:nvSpPr>
          <p:spPr bwMode="auto">
            <a:xfrm flipV="1">
              <a:off x="4340" y="2710"/>
              <a:ext cx="0" cy="3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63" name="Oval 44"/>
            <p:cNvSpPr>
              <a:spLocks noChangeArrowheads="1"/>
            </p:cNvSpPr>
            <p:nvPr/>
          </p:nvSpPr>
          <p:spPr bwMode="auto">
            <a:xfrm>
              <a:off x="4740" y="3190"/>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64" name="Oval 45"/>
            <p:cNvSpPr>
              <a:spLocks noChangeArrowheads="1"/>
            </p:cNvSpPr>
            <p:nvPr/>
          </p:nvSpPr>
          <p:spPr bwMode="auto">
            <a:xfrm>
              <a:off x="4740" y="2614"/>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65" name="Oval 46"/>
            <p:cNvSpPr>
              <a:spLocks noChangeArrowheads="1"/>
            </p:cNvSpPr>
            <p:nvPr/>
          </p:nvSpPr>
          <p:spPr bwMode="auto">
            <a:xfrm>
              <a:off x="5412" y="2614"/>
              <a:ext cx="96" cy="9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39966" name="Line 47"/>
            <p:cNvSpPr>
              <a:spLocks noChangeShapeType="1"/>
            </p:cNvSpPr>
            <p:nvPr/>
          </p:nvSpPr>
          <p:spPr bwMode="auto">
            <a:xfrm flipH="1">
              <a:off x="5172" y="2662"/>
              <a:ext cx="240" cy="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67" name="Line 48"/>
            <p:cNvSpPr>
              <a:spLocks noChangeShapeType="1"/>
            </p:cNvSpPr>
            <p:nvPr/>
          </p:nvSpPr>
          <p:spPr bwMode="auto">
            <a:xfrm flipH="1">
              <a:off x="4836" y="2662"/>
              <a:ext cx="3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68" name="Line 49"/>
            <p:cNvSpPr>
              <a:spLocks noChangeShapeType="1"/>
            </p:cNvSpPr>
            <p:nvPr/>
          </p:nvSpPr>
          <p:spPr bwMode="auto">
            <a:xfrm flipV="1">
              <a:off x="4788" y="2950"/>
              <a:ext cx="0" cy="24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69" name="Line 50"/>
            <p:cNvSpPr>
              <a:spLocks noChangeShapeType="1"/>
            </p:cNvSpPr>
            <p:nvPr/>
          </p:nvSpPr>
          <p:spPr bwMode="auto">
            <a:xfrm flipV="1">
              <a:off x="4788" y="2710"/>
              <a:ext cx="0" cy="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70" name="Line 51"/>
            <p:cNvSpPr>
              <a:spLocks noChangeShapeType="1"/>
            </p:cNvSpPr>
            <p:nvPr/>
          </p:nvSpPr>
          <p:spPr bwMode="auto">
            <a:xfrm>
              <a:off x="5460" y="2710"/>
              <a:ext cx="0" cy="288"/>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71" name="Line 52"/>
            <p:cNvSpPr>
              <a:spLocks noChangeShapeType="1"/>
            </p:cNvSpPr>
            <p:nvPr/>
          </p:nvSpPr>
          <p:spPr bwMode="auto">
            <a:xfrm>
              <a:off x="5460" y="2998"/>
              <a:ext cx="0" cy="24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72" name="Line 53"/>
            <p:cNvSpPr>
              <a:spLocks noChangeShapeType="1"/>
            </p:cNvSpPr>
            <p:nvPr/>
          </p:nvSpPr>
          <p:spPr bwMode="auto">
            <a:xfrm>
              <a:off x="4836" y="3238"/>
              <a:ext cx="336" cy="0"/>
            </a:xfrm>
            <a:prstGeom prst="line">
              <a:avLst/>
            </a:prstGeom>
            <a:noFill/>
            <a:ln w="9525">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73" name="Line 54"/>
            <p:cNvSpPr>
              <a:spLocks noChangeShapeType="1"/>
            </p:cNvSpPr>
            <p:nvPr/>
          </p:nvSpPr>
          <p:spPr bwMode="auto">
            <a:xfrm>
              <a:off x="5172" y="3238"/>
              <a:ext cx="2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9974" name="Oval 55"/>
            <p:cNvSpPr>
              <a:spLocks noChangeArrowheads="1"/>
            </p:cNvSpPr>
            <p:nvPr/>
          </p:nvSpPr>
          <p:spPr bwMode="auto">
            <a:xfrm>
              <a:off x="5412" y="3190"/>
              <a:ext cx="96" cy="96"/>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876921565"/>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8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pPr>
              <a:defRPr/>
            </a:pPr>
            <a:fld id="{6BA5F411-60FF-47F2-9424-5AB76353951B}" type="slidenum">
              <a:rPr lang="en-US" altLang="zh-CN"/>
              <a:pPr>
                <a:defRPr/>
              </a:pPr>
              <a:t>38</a:t>
            </a:fld>
            <a:endParaRPr lang="en-US" altLang="zh-CN"/>
          </a:p>
        </p:txBody>
      </p:sp>
      <p:sp>
        <p:nvSpPr>
          <p:cNvPr id="43011" name="Text Box 3"/>
          <p:cNvSpPr txBox="1">
            <a:spLocks noChangeArrowheads="1"/>
          </p:cNvSpPr>
          <p:nvPr/>
        </p:nvSpPr>
        <p:spPr bwMode="auto">
          <a:xfrm>
            <a:off x="466725" y="909638"/>
            <a:ext cx="8277225"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sz="3200" b="1">
                <a:solidFill>
                  <a:srgbClr val="008000"/>
                </a:solidFill>
                <a:latin typeface="Times New Roman" pitchFamily="18" charset="0"/>
                <a:ea typeface="楷体_GB2312" pitchFamily="49" charset="-122"/>
              </a:rPr>
              <a:t>一、邻接矩阵</a:t>
            </a:r>
          </a:p>
          <a:p>
            <a:pPr algn="just" eaLnBrk="1" hangingPunct="1">
              <a:lnSpc>
                <a:spcPct val="130000"/>
              </a:lnSpc>
            </a:pPr>
            <a:r>
              <a:rPr kumimoji="1" lang="en-US" altLang="zh-CN" sz="2800" b="1">
                <a:solidFill>
                  <a:srgbClr val="993300"/>
                </a:solidFill>
                <a:latin typeface="楷体_GB2312" pitchFamily="49" charset="-122"/>
                <a:ea typeface="楷体_GB2312" pitchFamily="49" charset="-122"/>
              </a:rPr>
              <a:t>1</a:t>
            </a:r>
            <a:r>
              <a:rPr kumimoji="1" lang="zh-CN" altLang="en-US" sz="2800" b="1">
                <a:solidFill>
                  <a:srgbClr val="993300"/>
                </a:solidFill>
                <a:latin typeface="楷体_GB2312" pitchFamily="49" charset="-122"/>
                <a:ea typeface="楷体_GB2312" pitchFamily="49" charset="-122"/>
              </a:rPr>
              <a:t>、邻接矩阵定义</a:t>
            </a:r>
          </a:p>
          <a:p>
            <a:pPr algn="just" eaLnBrk="1" hangingPunct="1">
              <a:lnSpc>
                <a:spcPct val="130000"/>
              </a:lnSpc>
            </a:pPr>
            <a:r>
              <a:rPr kumimoji="1" lang="zh-CN" altLang="en-US" b="1">
                <a:solidFill>
                  <a:srgbClr val="0000CC"/>
                </a:solidFill>
                <a:latin typeface="Times New Roman" pitchFamily="18" charset="0"/>
              </a:rPr>
              <a:t>定义</a:t>
            </a:r>
            <a:r>
              <a:rPr kumimoji="1" lang="en-US" altLang="zh-CN" b="1">
                <a:solidFill>
                  <a:srgbClr val="0000CC"/>
                </a:solidFill>
                <a:latin typeface="Times New Roman" pitchFamily="18" charset="0"/>
              </a:rPr>
              <a:t>7-3.1</a:t>
            </a:r>
            <a:r>
              <a:rPr kumimoji="1" lang="zh-CN" altLang="en-US" b="1">
                <a:solidFill>
                  <a:srgbClr val="0000CC"/>
                </a:solidFill>
                <a:latin typeface="Times New Roman" pitchFamily="18" charset="0"/>
              </a:rPr>
              <a:t>：</a:t>
            </a:r>
            <a:r>
              <a:rPr kumimoji="1" lang="zh-CN" altLang="en-US" b="1">
                <a:latin typeface="Times New Roman" pitchFamily="18" charset="0"/>
              </a:rPr>
              <a:t>设</a:t>
            </a:r>
            <a:r>
              <a:rPr kumimoji="1" lang="en-US" altLang="zh-CN" b="1">
                <a:latin typeface="Times New Roman" pitchFamily="18" charset="0"/>
              </a:rPr>
              <a:t>G=&lt;V, E&gt;</a:t>
            </a:r>
            <a:r>
              <a:rPr kumimoji="1" lang="zh-CN" altLang="en-US" b="1">
                <a:latin typeface="Times New Roman" pitchFamily="18" charset="0"/>
              </a:rPr>
              <a:t>是一个简单图，它有</a:t>
            </a:r>
            <a:r>
              <a:rPr kumimoji="1" lang="en-US" altLang="zh-CN" b="1">
                <a:latin typeface="Times New Roman" pitchFamily="18" charset="0"/>
              </a:rPr>
              <a:t>n</a:t>
            </a:r>
            <a:r>
              <a:rPr kumimoji="1" lang="zh-CN" altLang="en-US" b="1">
                <a:latin typeface="Times New Roman" pitchFamily="18" charset="0"/>
              </a:rPr>
              <a:t>个结点</a:t>
            </a:r>
            <a:r>
              <a:rPr kumimoji="1" lang="en-US" altLang="zh-CN" b="1">
                <a:latin typeface="Times New Roman" pitchFamily="18" charset="0"/>
              </a:rPr>
              <a:t>V={V</a:t>
            </a:r>
            <a:r>
              <a:rPr kumimoji="1" lang="en-US" altLang="zh-CN" b="1" baseline="-25000">
                <a:latin typeface="Times New Roman" pitchFamily="18" charset="0"/>
              </a:rPr>
              <a:t>1</a:t>
            </a:r>
            <a:r>
              <a:rPr kumimoji="1" lang="en-US" altLang="zh-CN" b="1">
                <a:latin typeface="Times New Roman" pitchFamily="18" charset="0"/>
              </a:rPr>
              <a:t>,V</a:t>
            </a:r>
            <a:r>
              <a:rPr kumimoji="1" lang="en-US" altLang="zh-CN" b="1" baseline="-25000">
                <a:latin typeface="Times New Roman" pitchFamily="18" charset="0"/>
              </a:rPr>
              <a:t>2</a:t>
            </a:r>
            <a:r>
              <a:rPr kumimoji="1" lang="en-US" altLang="zh-CN" b="1">
                <a:latin typeface="Times New Roman" pitchFamily="18" charset="0"/>
              </a:rPr>
              <a:t>,…,V</a:t>
            </a:r>
            <a:r>
              <a:rPr kumimoji="1" lang="en-US" altLang="zh-CN" b="1" baseline="-25000">
                <a:latin typeface="Times New Roman" pitchFamily="18" charset="0"/>
              </a:rPr>
              <a:t>n</a:t>
            </a:r>
            <a:r>
              <a:rPr kumimoji="1" lang="en-US" altLang="zh-CN" b="1">
                <a:latin typeface="Times New Roman" pitchFamily="18" charset="0"/>
              </a:rPr>
              <a:t>}</a:t>
            </a:r>
            <a:r>
              <a:rPr kumimoji="1" lang="zh-CN" altLang="en-US" b="1">
                <a:latin typeface="Times New Roman" pitchFamily="18" charset="0"/>
              </a:rPr>
              <a:t>，则</a:t>
            </a:r>
            <a:r>
              <a:rPr kumimoji="1" lang="en-US" altLang="zh-CN" b="1">
                <a:latin typeface="Times New Roman" pitchFamily="18" charset="0"/>
              </a:rPr>
              <a:t>n</a:t>
            </a:r>
            <a:r>
              <a:rPr kumimoji="1" lang="zh-CN" altLang="en-US" b="1">
                <a:latin typeface="Times New Roman" pitchFamily="18" charset="0"/>
              </a:rPr>
              <a:t>阶方阵 </a:t>
            </a:r>
            <a:r>
              <a:rPr kumimoji="1" lang="en-US" altLang="zh-CN" b="1">
                <a:latin typeface="Times New Roman" pitchFamily="18" charset="0"/>
              </a:rPr>
              <a:t>A(G)=(a</a:t>
            </a:r>
            <a:r>
              <a:rPr kumimoji="1" lang="en-US" altLang="zh-CN" b="1" baseline="-25000">
                <a:latin typeface="Times New Roman" pitchFamily="18" charset="0"/>
              </a:rPr>
              <a:t>ij</a:t>
            </a:r>
            <a:r>
              <a:rPr kumimoji="1" lang="en-US" altLang="zh-CN" b="1">
                <a:latin typeface="Times New Roman" pitchFamily="18" charset="0"/>
              </a:rPr>
              <a:t>)</a:t>
            </a:r>
            <a:r>
              <a:rPr kumimoji="1" lang="zh-CN" altLang="en-US" b="1">
                <a:latin typeface="Times New Roman" pitchFamily="18" charset="0"/>
              </a:rPr>
              <a:t>称为</a:t>
            </a:r>
            <a:r>
              <a:rPr kumimoji="1" lang="en-US" altLang="zh-CN" b="1">
                <a:latin typeface="Times New Roman" pitchFamily="18" charset="0"/>
              </a:rPr>
              <a:t>G</a:t>
            </a:r>
            <a:r>
              <a:rPr kumimoji="1" lang="zh-CN" altLang="en-US" b="1">
                <a:latin typeface="Times New Roman" pitchFamily="18" charset="0"/>
              </a:rPr>
              <a:t>的</a:t>
            </a:r>
            <a:r>
              <a:rPr kumimoji="1" lang="zh-CN" altLang="en-US" b="1" i="1">
                <a:solidFill>
                  <a:srgbClr val="0000CC"/>
                </a:solidFill>
                <a:latin typeface="Times New Roman" pitchFamily="18" charset="0"/>
              </a:rPr>
              <a:t>邻接矩阵</a:t>
            </a:r>
            <a:r>
              <a:rPr kumimoji="1" lang="zh-CN" altLang="en-US" b="1">
                <a:latin typeface="Times New Roman" pitchFamily="18" charset="0"/>
              </a:rPr>
              <a:t>。</a:t>
            </a:r>
          </a:p>
          <a:p>
            <a:pPr algn="just" eaLnBrk="1" hangingPunct="1">
              <a:lnSpc>
                <a:spcPct val="130000"/>
              </a:lnSpc>
            </a:pPr>
            <a:r>
              <a:rPr kumimoji="1" lang="zh-CN" altLang="en-US" b="1">
                <a:solidFill>
                  <a:schemeClr val="bg2"/>
                </a:solidFill>
                <a:latin typeface="Times New Roman" pitchFamily="18" charset="0"/>
              </a:rPr>
              <a:t>其中</a:t>
            </a:r>
          </a:p>
        </p:txBody>
      </p:sp>
      <p:graphicFrame>
        <p:nvGraphicFramePr>
          <p:cNvPr id="43012" name="Object 4"/>
          <p:cNvGraphicFramePr>
            <a:graphicFrameLocks/>
          </p:cNvGraphicFramePr>
          <p:nvPr/>
        </p:nvGraphicFramePr>
        <p:xfrm>
          <a:off x="2771775" y="3249613"/>
          <a:ext cx="2182813" cy="900112"/>
        </p:xfrm>
        <a:graphic>
          <a:graphicData uri="http://schemas.openxmlformats.org/presentationml/2006/ole">
            <mc:AlternateContent xmlns:mc="http://schemas.openxmlformats.org/markup-compatibility/2006">
              <mc:Choice xmlns:v="urn:schemas-microsoft-com:vml" Requires="v">
                <p:oleObj spid="_x0000_s43087" name="Equation" r:id="rId3" imgW="2184400" imgH="901700" progId="Equation.DSMT4">
                  <p:embed/>
                </p:oleObj>
              </mc:Choice>
              <mc:Fallback>
                <p:oleObj name="Equation" r:id="rId3" imgW="2184400" imgH="9017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775" y="3249613"/>
                        <a:ext cx="2182813" cy="90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42" name="Text Box 46"/>
          <p:cNvSpPr txBox="1">
            <a:spLocks noChangeArrowheads="1"/>
          </p:cNvSpPr>
          <p:nvPr/>
        </p:nvSpPr>
        <p:spPr bwMode="auto">
          <a:xfrm>
            <a:off x="466725" y="4081463"/>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a:solidFill>
                  <a:schemeClr val="bg2"/>
                </a:solidFill>
                <a:latin typeface="Times New Roman" pitchFamily="18" charset="0"/>
              </a:rPr>
              <a:t>无向图中</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i</a:t>
            </a:r>
            <a:r>
              <a:rPr kumimoji="1" lang="zh-CN" altLang="en-US" b="1">
                <a:solidFill>
                  <a:schemeClr val="bg2"/>
                </a:solidFill>
                <a:latin typeface="Times New Roman" pitchFamily="18" charset="0"/>
              </a:rPr>
              <a:t>和</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j</a:t>
            </a:r>
            <a:r>
              <a:rPr kumimoji="1" lang="zh-CN" altLang="en-US" b="1">
                <a:solidFill>
                  <a:schemeClr val="bg2"/>
                </a:solidFill>
                <a:latin typeface="Times New Roman" pitchFamily="18" charset="0"/>
              </a:rPr>
              <a:t>邻接，则图中有一条边</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i</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j</a:t>
            </a:r>
            <a:r>
              <a:rPr kumimoji="1" lang="en-US" altLang="zh-CN" b="1">
                <a:solidFill>
                  <a:schemeClr val="bg2"/>
                </a:solidFill>
                <a:latin typeface="Times New Roman" pitchFamily="18" charset="0"/>
              </a:rPr>
              <a:t>)</a:t>
            </a:r>
          </a:p>
          <a:p>
            <a:pPr eaLnBrk="1" hangingPunct="1">
              <a:lnSpc>
                <a:spcPct val="130000"/>
              </a:lnSpc>
              <a:buClr>
                <a:schemeClr val="hlink"/>
              </a:buClr>
              <a:buFont typeface="Wingdings" pitchFamily="2" charset="2"/>
              <a:buChar char="Ø"/>
            </a:pPr>
            <a:r>
              <a:rPr kumimoji="1" lang="zh-CN" altLang="en-US" b="1">
                <a:solidFill>
                  <a:schemeClr val="bg2"/>
                </a:solidFill>
                <a:latin typeface="Times New Roman" pitchFamily="18" charset="0"/>
              </a:rPr>
              <a:t>有向图中</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i</a:t>
            </a:r>
            <a:r>
              <a:rPr kumimoji="1" lang="zh-CN" altLang="en-US" b="1">
                <a:solidFill>
                  <a:schemeClr val="bg2"/>
                </a:solidFill>
                <a:latin typeface="Times New Roman" pitchFamily="18" charset="0"/>
              </a:rPr>
              <a:t>和</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j</a:t>
            </a:r>
            <a:r>
              <a:rPr kumimoji="1" lang="zh-CN" altLang="en-US" b="1">
                <a:solidFill>
                  <a:schemeClr val="bg2"/>
                </a:solidFill>
                <a:latin typeface="Times New Roman" pitchFamily="18" charset="0"/>
              </a:rPr>
              <a:t>邻接，则图中有一条边</a:t>
            </a:r>
            <a:r>
              <a:rPr kumimoji="1" lang="en-US" altLang="zh-CN" b="1">
                <a:solidFill>
                  <a:schemeClr val="bg2"/>
                </a:solidFill>
                <a:latin typeface="Times New Roman" pitchFamily="18" charset="0"/>
              </a:rPr>
              <a:t>&lt;v</a:t>
            </a:r>
            <a:r>
              <a:rPr kumimoji="1" lang="en-US" altLang="zh-CN" b="1" baseline="-25000">
                <a:solidFill>
                  <a:schemeClr val="bg2"/>
                </a:solidFill>
                <a:latin typeface="Times New Roman" pitchFamily="18" charset="0"/>
              </a:rPr>
              <a:t>i</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j</a:t>
            </a:r>
            <a:r>
              <a:rPr kumimoji="1" lang="en-US" altLang="zh-CN" b="1">
                <a:solidFill>
                  <a:schemeClr val="bg2"/>
                </a:solidFill>
                <a:latin typeface="Times New Roman" pitchFamily="18" charset="0"/>
              </a:rPr>
              <a:t>&gt;</a:t>
            </a:r>
          </a:p>
        </p:txBody>
      </p:sp>
      <p:sp>
        <p:nvSpPr>
          <p:cNvPr id="43014" name="Rectangle 48"/>
          <p:cNvSpPr>
            <a:spLocks noGrp="1" noChangeArrowheads="1"/>
          </p:cNvSpPr>
          <p:nvPr>
            <p:ph type="title"/>
          </p:nvPr>
        </p:nvSpPr>
        <p:spPr>
          <a:xfrm>
            <a:off x="971550" y="260350"/>
            <a:ext cx="7237413" cy="701675"/>
          </a:xfrm>
        </p:spPr>
        <p:txBody>
          <a:bodyPr/>
          <a:lstStyle/>
          <a:p>
            <a:pPr eaLnBrk="1" hangingPunct="1"/>
            <a:r>
              <a:rPr kumimoji="1" lang="en-US" altLang="zh-CN" smtClean="0">
                <a:solidFill>
                  <a:schemeClr val="tx1"/>
                </a:solidFill>
                <a:latin typeface="华文行楷" pitchFamily="2" charset="-122"/>
                <a:ea typeface="华文行楷" pitchFamily="2" charset="-122"/>
              </a:rPr>
              <a:t>7-3</a:t>
            </a:r>
            <a:r>
              <a:rPr kumimoji="1" lang="en-US" altLang="zh-CN" smtClean="0">
                <a:solidFill>
                  <a:schemeClr val="tx1"/>
                </a:solidFill>
                <a:latin typeface="Times New Roman" pitchFamily="18" charset="0"/>
                <a:ea typeface="华文行楷" pitchFamily="2" charset="-122"/>
              </a:rPr>
              <a:t>   </a:t>
            </a:r>
            <a:r>
              <a:rPr kumimoji="1" lang="en-US" altLang="zh-CN" smtClean="0">
                <a:solidFill>
                  <a:schemeClr val="tx1"/>
                </a:solidFill>
                <a:latin typeface="华文行楷" pitchFamily="2" charset="-122"/>
                <a:ea typeface="华文行楷" pitchFamily="2" charset="-122"/>
              </a:rPr>
              <a:t> </a:t>
            </a:r>
            <a:r>
              <a:rPr kumimoji="1" lang="zh-CN" altLang="en-US" smtClean="0">
                <a:solidFill>
                  <a:schemeClr val="tx1"/>
                </a:solidFill>
                <a:latin typeface="华文行楷" pitchFamily="2" charset="-122"/>
                <a:ea typeface="华文行楷" pitchFamily="2" charset="-122"/>
              </a:rPr>
              <a:t>图的矩阵表示</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9742"/>
                                        </p:tgtEl>
                                        <p:attrNameLst>
                                          <p:attrName>style.visibility</p:attrName>
                                        </p:attrNameLst>
                                      </p:cBhvr>
                                      <p:to>
                                        <p:strVal val="visible"/>
                                      </p:to>
                                    </p:set>
                                    <p:animEffect transition="in" filter="checkerboard(across)">
                                      <p:cBhvr>
                                        <p:cTn id="7" dur="500"/>
                                        <p:tgtEl>
                                          <p:spTgt spid="297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4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2"/>
          <p:cNvSpPr>
            <a:spLocks noGrp="1"/>
          </p:cNvSpPr>
          <p:nvPr>
            <p:ph type="sldNum" sz="quarter" idx="11"/>
          </p:nvPr>
        </p:nvSpPr>
        <p:spPr/>
        <p:txBody>
          <a:bodyPr/>
          <a:lstStyle/>
          <a:p>
            <a:pPr>
              <a:defRPr/>
            </a:pPr>
            <a:fld id="{55AC4FFD-50E9-47E8-A2A6-2A42D2B3CBA8}" type="slidenum">
              <a:rPr lang="en-US" altLang="zh-CN"/>
              <a:pPr>
                <a:defRPr/>
              </a:pPr>
              <a:t>39</a:t>
            </a:fld>
            <a:endParaRPr lang="en-US" altLang="zh-CN"/>
          </a:p>
        </p:txBody>
      </p:sp>
      <p:sp>
        <p:nvSpPr>
          <p:cNvPr id="44035" name="Text Box 4"/>
          <p:cNvSpPr txBox="1">
            <a:spLocks noChangeArrowheads="1"/>
          </p:cNvSpPr>
          <p:nvPr/>
        </p:nvSpPr>
        <p:spPr bwMode="auto">
          <a:xfrm>
            <a:off x="466725" y="1052513"/>
            <a:ext cx="8277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bg1"/>
              </a:buClr>
            </a:pPr>
            <a:r>
              <a:rPr kumimoji="1" lang="zh-CN" altLang="en-US" b="1" dirty="0">
                <a:solidFill>
                  <a:schemeClr val="hlink"/>
                </a:solidFill>
                <a:latin typeface="Times New Roman" pitchFamily="18" charset="0"/>
              </a:rPr>
              <a:t>例：</a:t>
            </a:r>
            <a:r>
              <a:rPr kumimoji="1" lang="zh-CN" altLang="en-US" b="1" dirty="0">
                <a:latin typeface="Times New Roman" pitchFamily="18" charset="0"/>
              </a:rPr>
              <a:t>写出下图所对应的邻接矩阵。</a:t>
            </a:r>
          </a:p>
        </p:txBody>
      </p:sp>
      <p:grpSp>
        <p:nvGrpSpPr>
          <p:cNvPr id="44036" name="Group 5"/>
          <p:cNvGrpSpPr>
            <a:grpSpLocks/>
          </p:cNvGrpSpPr>
          <p:nvPr/>
        </p:nvGrpSpPr>
        <p:grpSpPr bwMode="auto">
          <a:xfrm>
            <a:off x="971550" y="1412875"/>
            <a:ext cx="2233613" cy="2233613"/>
            <a:chOff x="67" y="2341"/>
            <a:chExt cx="1407" cy="1407"/>
          </a:xfrm>
        </p:grpSpPr>
        <p:sp>
          <p:nvSpPr>
            <p:cNvPr id="44057" name="Oval 6"/>
            <p:cNvSpPr>
              <a:spLocks noChangeArrowheads="1"/>
            </p:cNvSpPr>
            <p:nvPr/>
          </p:nvSpPr>
          <p:spPr bwMode="auto">
            <a:xfrm>
              <a:off x="839" y="3294"/>
              <a:ext cx="499" cy="454"/>
            </a:xfrm>
            <a:prstGeom prst="ellipse">
              <a:avLst/>
            </a:prstGeom>
            <a:noFill/>
            <a:ln w="254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8" name="Oval 7"/>
            <p:cNvSpPr>
              <a:spLocks noChangeArrowheads="1"/>
            </p:cNvSpPr>
            <p:nvPr/>
          </p:nvSpPr>
          <p:spPr bwMode="auto">
            <a:xfrm>
              <a:off x="657" y="2523"/>
              <a:ext cx="91" cy="91"/>
            </a:xfrm>
            <a:prstGeom prst="ellipse">
              <a:avLst/>
            </a:prstGeom>
            <a:solidFill>
              <a:schemeClr val="hlink"/>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59" name="Oval 8"/>
            <p:cNvSpPr>
              <a:spLocks noChangeArrowheads="1"/>
            </p:cNvSpPr>
            <p:nvPr/>
          </p:nvSpPr>
          <p:spPr bwMode="auto">
            <a:xfrm>
              <a:off x="204" y="2840"/>
              <a:ext cx="91" cy="91"/>
            </a:xfrm>
            <a:prstGeom prst="ellipse">
              <a:avLst/>
            </a:prstGeom>
            <a:solidFill>
              <a:schemeClr val="hlink"/>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0" name="Oval 9"/>
            <p:cNvSpPr>
              <a:spLocks noChangeArrowheads="1"/>
            </p:cNvSpPr>
            <p:nvPr/>
          </p:nvSpPr>
          <p:spPr bwMode="auto">
            <a:xfrm>
              <a:off x="385" y="3294"/>
              <a:ext cx="91" cy="91"/>
            </a:xfrm>
            <a:prstGeom prst="ellipse">
              <a:avLst/>
            </a:prstGeom>
            <a:solidFill>
              <a:schemeClr val="hlink"/>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1" name="Oval 10"/>
            <p:cNvSpPr>
              <a:spLocks noChangeArrowheads="1"/>
            </p:cNvSpPr>
            <p:nvPr/>
          </p:nvSpPr>
          <p:spPr bwMode="auto">
            <a:xfrm>
              <a:off x="1111" y="2840"/>
              <a:ext cx="91" cy="91"/>
            </a:xfrm>
            <a:prstGeom prst="ellipse">
              <a:avLst/>
            </a:prstGeom>
            <a:solidFill>
              <a:schemeClr val="hlink"/>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2" name="Oval 11"/>
            <p:cNvSpPr>
              <a:spLocks noChangeArrowheads="1"/>
            </p:cNvSpPr>
            <p:nvPr/>
          </p:nvSpPr>
          <p:spPr bwMode="auto">
            <a:xfrm>
              <a:off x="884" y="3294"/>
              <a:ext cx="91" cy="91"/>
            </a:xfrm>
            <a:prstGeom prst="ellipse">
              <a:avLst/>
            </a:prstGeom>
            <a:solidFill>
              <a:schemeClr val="hlink"/>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4063" name="Line 12"/>
            <p:cNvSpPr>
              <a:spLocks noChangeShapeType="1"/>
            </p:cNvSpPr>
            <p:nvPr/>
          </p:nvSpPr>
          <p:spPr bwMode="auto">
            <a:xfrm flipH="1">
              <a:off x="295" y="2614"/>
              <a:ext cx="362" cy="22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4" name="Line 13"/>
            <p:cNvSpPr>
              <a:spLocks noChangeShapeType="1"/>
            </p:cNvSpPr>
            <p:nvPr/>
          </p:nvSpPr>
          <p:spPr bwMode="auto">
            <a:xfrm flipH="1" flipV="1">
              <a:off x="748" y="2567"/>
              <a:ext cx="363" cy="27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5" name="Line 14"/>
            <p:cNvSpPr>
              <a:spLocks noChangeShapeType="1"/>
            </p:cNvSpPr>
            <p:nvPr/>
          </p:nvSpPr>
          <p:spPr bwMode="auto">
            <a:xfrm flipH="1" flipV="1">
              <a:off x="295" y="2886"/>
              <a:ext cx="81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6" name="Line 15"/>
            <p:cNvSpPr>
              <a:spLocks noChangeShapeType="1"/>
            </p:cNvSpPr>
            <p:nvPr/>
          </p:nvSpPr>
          <p:spPr bwMode="auto">
            <a:xfrm flipH="1" flipV="1">
              <a:off x="249" y="2931"/>
              <a:ext cx="136" cy="4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7" name="Line 16"/>
            <p:cNvSpPr>
              <a:spLocks noChangeShapeType="1"/>
            </p:cNvSpPr>
            <p:nvPr/>
          </p:nvSpPr>
          <p:spPr bwMode="auto">
            <a:xfrm flipV="1">
              <a:off x="975" y="2931"/>
              <a:ext cx="181" cy="3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8" name="Line 17"/>
            <p:cNvSpPr>
              <a:spLocks noChangeShapeType="1"/>
            </p:cNvSpPr>
            <p:nvPr/>
          </p:nvSpPr>
          <p:spPr bwMode="auto">
            <a:xfrm flipH="1" flipV="1">
              <a:off x="430" y="3385"/>
              <a:ext cx="45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69" name="Line 18"/>
            <p:cNvSpPr>
              <a:spLocks noChangeShapeType="1"/>
            </p:cNvSpPr>
            <p:nvPr/>
          </p:nvSpPr>
          <p:spPr bwMode="auto">
            <a:xfrm flipH="1">
              <a:off x="431" y="2614"/>
              <a:ext cx="272" cy="68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70" name="Text Box 19"/>
            <p:cNvSpPr txBox="1">
              <a:spLocks noChangeArrowheads="1"/>
            </p:cNvSpPr>
            <p:nvPr/>
          </p:nvSpPr>
          <p:spPr bwMode="auto">
            <a:xfrm>
              <a:off x="702" y="2341"/>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1</a:t>
              </a:r>
            </a:p>
          </p:txBody>
        </p:sp>
        <p:sp>
          <p:nvSpPr>
            <p:cNvPr id="44071" name="Text Box 20"/>
            <p:cNvSpPr txBox="1">
              <a:spLocks noChangeArrowheads="1"/>
            </p:cNvSpPr>
            <p:nvPr/>
          </p:nvSpPr>
          <p:spPr bwMode="auto">
            <a:xfrm>
              <a:off x="1156" y="2750"/>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5</a:t>
              </a:r>
            </a:p>
          </p:txBody>
        </p:sp>
        <p:sp>
          <p:nvSpPr>
            <p:cNvPr id="44072" name="Text Box 21"/>
            <p:cNvSpPr txBox="1">
              <a:spLocks noChangeArrowheads="1"/>
            </p:cNvSpPr>
            <p:nvPr/>
          </p:nvSpPr>
          <p:spPr bwMode="auto">
            <a:xfrm>
              <a:off x="67" y="2614"/>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2</a:t>
              </a:r>
            </a:p>
          </p:txBody>
        </p:sp>
        <p:sp>
          <p:nvSpPr>
            <p:cNvPr id="44073" name="Text Box 22"/>
            <p:cNvSpPr txBox="1">
              <a:spLocks noChangeArrowheads="1"/>
            </p:cNvSpPr>
            <p:nvPr/>
          </p:nvSpPr>
          <p:spPr bwMode="auto">
            <a:xfrm>
              <a:off x="158" y="3294"/>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3</a:t>
              </a:r>
            </a:p>
          </p:txBody>
        </p:sp>
        <p:sp>
          <p:nvSpPr>
            <p:cNvPr id="44074" name="Text Box 23"/>
            <p:cNvSpPr txBox="1">
              <a:spLocks noChangeArrowheads="1"/>
            </p:cNvSpPr>
            <p:nvPr/>
          </p:nvSpPr>
          <p:spPr bwMode="auto">
            <a:xfrm>
              <a:off x="884" y="3294"/>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4</a:t>
              </a:r>
            </a:p>
          </p:txBody>
        </p:sp>
      </p:grpSp>
      <p:grpSp>
        <p:nvGrpSpPr>
          <p:cNvPr id="114712" name="Group 24"/>
          <p:cNvGrpSpPr>
            <a:grpSpLocks/>
          </p:cNvGrpSpPr>
          <p:nvPr/>
        </p:nvGrpSpPr>
        <p:grpSpPr bwMode="auto">
          <a:xfrm>
            <a:off x="1189038" y="1844675"/>
            <a:ext cx="1873250" cy="1728788"/>
            <a:chOff x="249" y="2659"/>
            <a:chExt cx="1180" cy="1089"/>
          </a:xfrm>
        </p:grpSpPr>
        <p:sp>
          <p:nvSpPr>
            <p:cNvPr id="44041" name="Line 25"/>
            <p:cNvSpPr>
              <a:spLocks noChangeShapeType="1"/>
            </p:cNvSpPr>
            <p:nvPr/>
          </p:nvSpPr>
          <p:spPr bwMode="auto">
            <a:xfrm>
              <a:off x="431" y="2750"/>
              <a:ext cx="136" cy="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2" name="Line 26"/>
            <p:cNvSpPr>
              <a:spLocks noChangeShapeType="1"/>
            </p:cNvSpPr>
            <p:nvPr/>
          </p:nvSpPr>
          <p:spPr bwMode="auto">
            <a:xfrm flipH="1">
              <a:off x="521" y="2750"/>
              <a:ext cx="46" cy="9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3" name="Line 27"/>
            <p:cNvSpPr>
              <a:spLocks noChangeShapeType="1"/>
            </p:cNvSpPr>
            <p:nvPr/>
          </p:nvSpPr>
          <p:spPr bwMode="auto">
            <a:xfrm flipH="1">
              <a:off x="567" y="2750"/>
              <a:ext cx="136" cy="9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4" name="Line 28"/>
            <p:cNvSpPr>
              <a:spLocks noChangeShapeType="1"/>
            </p:cNvSpPr>
            <p:nvPr/>
          </p:nvSpPr>
          <p:spPr bwMode="auto">
            <a:xfrm flipH="1" flipV="1">
              <a:off x="703" y="2749"/>
              <a:ext cx="45" cy="137"/>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5" name="Line 29"/>
            <p:cNvSpPr>
              <a:spLocks noChangeShapeType="1"/>
            </p:cNvSpPr>
            <p:nvPr/>
          </p:nvSpPr>
          <p:spPr bwMode="auto">
            <a:xfrm flipH="1" flipV="1">
              <a:off x="1020" y="2659"/>
              <a:ext cx="46" cy="136"/>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6" name="Line 30"/>
            <p:cNvSpPr>
              <a:spLocks noChangeShapeType="1"/>
            </p:cNvSpPr>
            <p:nvPr/>
          </p:nvSpPr>
          <p:spPr bwMode="auto">
            <a:xfrm>
              <a:off x="930" y="2795"/>
              <a:ext cx="136" cy="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7" name="Line 31"/>
            <p:cNvSpPr>
              <a:spLocks noChangeShapeType="1"/>
            </p:cNvSpPr>
            <p:nvPr/>
          </p:nvSpPr>
          <p:spPr bwMode="auto">
            <a:xfrm flipH="1" flipV="1">
              <a:off x="839" y="2931"/>
              <a:ext cx="91" cy="91"/>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8" name="Line 32"/>
            <p:cNvSpPr>
              <a:spLocks noChangeShapeType="1"/>
            </p:cNvSpPr>
            <p:nvPr/>
          </p:nvSpPr>
          <p:spPr bwMode="auto">
            <a:xfrm flipV="1">
              <a:off x="839" y="2840"/>
              <a:ext cx="91" cy="91"/>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49" name="Line 33"/>
            <p:cNvSpPr>
              <a:spLocks noChangeShapeType="1"/>
            </p:cNvSpPr>
            <p:nvPr/>
          </p:nvSpPr>
          <p:spPr bwMode="auto">
            <a:xfrm flipH="1" flipV="1">
              <a:off x="340" y="3067"/>
              <a:ext cx="91" cy="91"/>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0" name="Line 34"/>
            <p:cNvSpPr>
              <a:spLocks noChangeShapeType="1"/>
            </p:cNvSpPr>
            <p:nvPr/>
          </p:nvSpPr>
          <p:spPr bwMode="auto">
            <a:xfrm flipH="1">
              <a:off x="249" y="3067"/>
              <a:ext cx="91" cy="136"/>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1" name="Line 35"/>
            <p:cNvSpPr>
              <a:spLocks noChangeShapeType="1"/>
            </p:cNvSpPr>
            <p:nvPr/>
          </p:nvSpPr>
          <p:spPr bwMode="auto">
            <a:xfrm flipH="1" flipV="1">
              <a:off x="657" y="3430"/>
              <a:ext cx="91" cy="91"/>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2" name="Line 36"/>
            <p:cNvSpPr>
              <a:spLocks noChangeShapeType="1"/>
            </p:cNvSpPr>
            <p:nvPr/>
          </p:nvSpPr>
          <p:spPr bwMode="auto">
            <a:xfrm flipV="1">
              <a:off x="657" y="3339"/>
              <a:ext cx="91" cy="91"/>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3" name="Line 37"/>
            <p:cNvSpPr>
              <a:spLocks noChangeShapeType="1"/>
            </p:cNvSpPr>
            <p:nvPr/>
          </p:nvSpPr>
          <p:spPr bwMode="auto">
            <a:xfrm>
              <a:off x="1156" y="3113"/>
              <a:ext cx="0" cy="136"/>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4" name="Line 38"/>
            <p:cNvSpPr>
              <a:spLocks noChangeShapeType="1"/>
            </p:cNvSpPr>
            <p:nvPr/>
          </p:nvSpPr>
          <p:spPr bwMode="auto">
            <a:xfrm flipH="1">
              <a:off x="975" y="3113"/>
              <a:ext cx="181" cy="9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5" name="Line 39"/>
            <p:cNvSpPr>
              <a:spLocks noChangeShapeType="1"/>
            </p:cNvSpPr>
            <p:nvPr/>
          </p:nvSpPr>
          <p:spPr bwMode="auto">
            <a:xfrm flipH="1">
              <a:off x="1292" y="3748"/>
              <a:ext cx="137" cy="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6" name="Line 40"/>
            <p:cNvSpPr>
              <a:spLocks noChangeShapeType="1"/>
            </p:cNvSpPr>
            <p:nvPr/>
          </p:nvSpPr>
          <p:spPr bwMode="auto">
            <a:xfrm flipV="1">
              <a:off x="1292" y="3612"/>
              <a:ext cx="0" cy="136"/>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114729" name="Text Box 41"/>
          <p:cNvSpPr txBox="1">
            <a:spLocks noChangeArrowheads="1"/>
          </p:cNvSpPr>
          <p:nvPr/>
        </p:nvSpPr>
        <p:spPr bwMode="auto">
          <a:xfrm>
            <a:off x="466725" y="3644900"/>
            <a:ext cx="8277225" cy="2973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dirty="0">
                <a:latin typeface="Times New Roman" pitchFamily="18" charset="0"/>
              </a:rPr>
              <a:t>图的邻接矩阵描述的是</a:t>
            </a:r>
            <a:r>
              <a:rPr kumimoji="1" lang="zh-CN" altLang="en-US" b="1" dirty="0">
                <a:solidFill>
                  <a:srgbClr val="0000CC"/>
                </a:solidFill>
                <a:latin typeface="Times New Roman" pitchFamily="18" charset="0"/>
              </a:rPr>
              <a:t>结点之间</a:t>
            </a:r>
            <a:r>
              <a:rPr kumimoji="1" lang="zh-CN" altLang="en-US" b="1" dirty="0">
                <a:latin typeface="Times New Roman" pitchFamily="18" charset="0"/>
              </a:rPr>
              <a:t>的邻接关系。</a:t>
            </a:r>
          </a:p>
          <a:p>
            <a:pPr eaLnBrk="1" hangingPunct="1">
              <a:lnSpc>
                <a:spcPct val="130000"/>
              </a:lnSpc>
              <a:buClr>
                <a:schemeClr val="hlink"/>
              </a:buClr>
              <a:buFont typeface="Wingdings" pitchFamily="2" charset="2"/>
              <a:buChar char="Ø"/>
            </a:pPr>
            <a:r>
              <a:rPr kumimoji="1" lang="zh-CN" altLang="en-US" b="1" dirty="0">
                <a:latin typeface="Times New Roman" pitchFamily="18" charset="0"/>
              </a:rPr>
              <a:t>矩阵的行和列与结点相对应。</a:t>
            </a:r>
          </a:p>
          <a:p>
            <a:pPr eaLnBrk="1" hangingPunct="1">
              <a:lnSpc>
                <a:spcPct val="130000"/>
              </a:lnSpc>
              <a:buClr>
                <a:schemeClr val="hlink"/>
              </a:buClr>
              <a:buFont typeface="Wingdings" pitchFamily="2" charset="2"/>
              <a:buChar char="Ø"/>
            </a:pPr>
            <a:r>
              <a:rPr kumimoji="1" lang="zh-CN" altLang="en-US" b="1" dirty="0">
                <a:latin typeface="Times New Roman" pitchFamily="18" charset="0"/>
              </a:rPr>
              <a:t>无向图的邻接矩阵是关于主对角线</a:t>
            </a:r>
            <a:r>
              <a:rPr kumimoji="1" lang="zh-CN" altLang="en-US" b="1" dirty="0">
                <a:solidFill>
                  <a:srgbClr val="0000CC"/>
                </a:solidFill>
                <a:latin typeface="Times New Roman" pitchFamily="18" charset="0"/>
              </a:rPr>
              <a:t>对称的</a:t>
            </a:r>
            <a:r>
              <a:rPr kumimoji="1" lang="zh-CN" altLang="en-US" b="1" dirty="0">
                <a:latin typeface="Times New Roman" pitchFamily="18" charset="0"/>
              </a:rPr>
              <a:t>；有向图则不一定对称。</a:t>
            </a:r>
          </a:p>
          <a:p>
            <a:pPr eaLnBrk="1" hangingPunct="1">
              <a:lnSpc>
                <a:spcPct val="130000"/>
              </a:lnSpc>
              <a:buClr>
                <a:schemeClr val="hlink"/>
              </a:buClr>
              <a:buFont typeface="Wingdings" pitchFamily="2" charset="2"/>
              <a:buChar char="Ø"/>
            </a:pPr>
            <a:r>
              <a:rPr lang="zh-CN" altLang="en-US" b="1" dirty="0">
                <a:latin typeface="Times New Roman" pitchFamily="18" charset="0"/>
              </a:rPr>
              <a:t>若</a:t>
            </a:r>
            <a:r>
              <a:rPr lang="en-US" altLang="zh-CN" b="1" dirty="0">
                <a:latin typeface="Times New Roman" pitchFamily="18" charset="0"/>
              </a:rPr>
              <a:t>G</a:t>
            </a:r>
            <a:r>
              <a:rPr lang="zh-CN" altLang="en-US" b="1" dirty="0">
                <a:latin typeface="Times New Roman" pitchFamily="18" charset="0"/>
              </a:rPr>
              <a:t>有两个连通分支，则适当调整顶点及边可使邻接矩阵呈块对角形。</a:t>
            </a:r>
            <a:endParaRPr kumimoji="1" lang="zh-CN" altLang="en-US" b="1" dirty="0">
              <a:latin typeface="Times New Roman" pitchFamily="18" charset="0"/>
            </a:endParaRPr>
          </a:p>
        </p:txBody>
      </p:sp>
      <p:graphicFrame>
        <p:nvGraphicFramePr>
          <p:cNvPr id="114731" name="Object 43"/>
          <p:cNvGraphicFramePr>
            <a:graphicFrameLocks noChangeAspect="1"/>
          </p:cNvGraphicFramePr>
          <p:nvPr/>
        </p:nvGraphicFramePr>
        <p:xfrm>
          <a:off x="5867400" y="1484313"/>
          <a:ext cx="2019300" cy="2057400"/>
        </p:xfrm>
        <a:graphic>
          <a:graphicData uri="http://schemas.openxmlformats.org/presentationml/2006/ole">
            <mc:AlternateContent xmlns:mc="http://schemas.openxmlformats.org/markup-compatibility/2006">
              <mc:Choice xmlns:v="urn:schemas-microsoft-com:vml" Requires="v">
                <p:oleObj spid="_x0000_s44219" name="Equation" r:id="rId3" imgW="2019300" imgH="2057400" progId="Equation.DSMT4">
                  <p:embed/>
                </p:oleObj>
              </mc:Choice>
              <mc:Fallback>
                <p:oleObj name="Equation" r:id="rId3" imgW="2019300" imgH="2057400" progId="Equation.DSMT4">
                  <p:embed/>
                  <p:pic>
                    <p:nvPicPr>
                      <p:cNvPr id="0"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1484313"/>
                        <a:ext cx="20193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4732" name="Object 44"/>
          <p:cNvGraphicFramePr>
            <a:graphicFrameLocks noChangeAspect="1"/>
          </p:cNvGraphicFramePr>
          <p:nvPr/>
        </p:nvGraphicFramePr>
        <p:xfrm>
          <a:off x="3506788" y="1527175"/>
          <a:ext cx="2019300" cy="2057400"/>
        </p:xfrm>
        <a:graphic>
          <a:graphicData uri="http://schemas.openxmlformats.org/presentationml/2006/ole">
            <mc:AlternateContent xmlns:mc="http://schemas.openxmlformats.org/markup-compatibility/2006">
              <mc:Choice xmlns:v="urn:schemas-microsoft-com:vml" Requires="v">
                <p:oleObj spid="_x0000_s44220" name="Equation" r:id="rId5" imgW="2019300" imgH="2057400" progId="Equation.DSMT4">
                  <p:embed/>
                </p:oleObj>
              </mc:Choice>
              <mc:Fallback>
                <p:oleObj name="Equation" r:id="rId5" imgW="2019300" imgH="2057400" progId="Equation.DSMT4">
                  <p:embed/>
                  <p:pic>
                    <p:nvPicPr>
                      <p:cNvPr id="0"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6788" y="1527175"/>
                        <a:ext cx="20193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14732"/>
                                        </p:tgtEl>
                                        <p:attrNameLst>
                                          <p:attrName>style.visibility</p:attrName>
                                        </p:attrNameLst>
                                      </p:cBhvr>
                                      <p:to>
                                        <p:strVal val="visible"/>
                                      </p:to>
                                    </p:set>
                                    <p:anim calcmode="lin" valueType="num">
                                      <p:cBhvr additive="base">
                                        <p:cTn id="7" dur="500" fill="hold"/>
                                        <p:tgtEl>
                                          <p:spTgt spid="114732"/>
                                        </p:tgtEl>
                                        <p:attrNameLst>
                                          <p:attrName>ppt_x</p:attrName>
                                        </p:attrNameLst>
                                      </p:cBhvr>
                                      <p:tavLst>
                                        <p:tav tm="0">
                                          <p:val>
                                            <p:strVal val="1+#ppt_w/2"/>
                                          </p:val>
                                        </p:tav>
                                        <p:tav tm="100000">
                                          <p:val>
                                            <p:strVal val="#ppt_x"/>
                                          </p:val>
                                        </p:tav>
                                      </p:tavLst>
                                    </p:anim>
                                    <p:anim calcmode="lin" valueType="num">
                                      <p:cBhvr additive="base">
                                        <p:cTn id="8" dur="500" fill="hold"/>
                                        <p:tgtEl>
                                          <p:spTgt spid="11473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4712"/>
                                        </p:tgtEl>
                                        <p:attrNameLst>
                                          <p:attrName>style.visibility</p:attrName>
                                        </p:attrNameLst>
                                      </p:cBhvr>
                                      <p:to>
                                        <p:strVal val="visible"/>
                                      </p:to>
                                    </p:set>
                                    <p:anim calcmode="lin" valueType="num">
                                      <p:cBhvr additive="base">
                                        <p:cTn id="13" dur="500" fill="hold"/>
                                        <p:tgtEl>
                                          <p:spTgt spid="114712"/>
                                        </p:tgtEl>
                                        <p:attrNameLst>
                                          <p:attrName>ppt_x</p:attrName>
                                        </p:attrNameLst>
                                      </p:cBhvr>
                                      <p:tavLst>
                                        <p:tav tm="0">
                                          <p:val>
                                            <p:strVal val="#ppt_x"/>
                                          </p:val>
                                        </p:tav>
                                        <p:tav tm="100000">
                                          <p:val>
                                            <p:strVal val="#ppt_x"/>
                                          </p:val>
                                        </p:tav>
                                      </p:tavLst>
                                    </p:anim>
                                    <p:anim calcmode="lin" valueType="num">
                                      <p:cBhvr additive="base">
                                        <p:cTn id="14" dur="500" fill="hold"/>
                                        <p:tgtEl>
                                          <p:spTgt spid="11471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114731"/>
                                        </p:tgtEl>
                                        <p:attrNameLst>
                                          <p:attrName>style.visibility</p:attrName>
                                        </p:attrNameLst>
                                      </p:cBhvr>
                                      <p:to>
                                        <p:strVal val="visible"/>
                                      </p:to>
                                    </p:set>
                                    <p:anim calcmode="lin" valueType="num">
                                      <p:cBhvr additive="base">
                                        <p:cTn id="19" dur="500" fill="hold"/>
                                        <p:tgtEl>
                                          <p:spTgt spid="114731"/>
                                        </p:tgtEl>
                                        <p:attrNameLst>
                                          <p:attrName>ppt_x</p:attrName>
                                        </p:attrNameLst>
                                      </p:cBhvr>
                                      <p:tavLst>
                                        <p:tav tm="0">
                                          <p:val>
                                            <p:strVal val="1+#ppt_w/2"/>
                                          </p:val>
                                        </p:tav>
                                        <p:tav tm="100000">
                                          <p:val>
                                            <p:strVal val="#ppt_x"/>
                                          </p:val>
                                        </p:tav>
                                      </p:tavLst>
                                    </p:anim>
                                    <p:anim calcmode="lin" valueType="num">
                                      <p:cBhvr additive="base">
                                        <p:cTn id="20" dur="500" fill="hold"/>
                                        <p:tgtEl>
                                          <p:spTgt spid="114731"/>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4729"/>
                                        </p:tgtEl>
                                        <p:attrNameLst>
                                          <p:attrName>style.visibility</p:attrName>
                                        </p:attrNameLst>
                                      </p:cBhvr>
                                      <p:to>
                                        <p:strVal val="visible"/>
                                      </p:to>
                                    </p:set>
                                    <p:anim calcmode="lin" valueType="num">
                                      <p:cBhvr additive="base">
                                        <p:cTn id="25" dur="500" fill="hold"/>
                                        <p:tgtEl>
                                          <p:spTgt spid="114729"/>
                                        </p:tgtEl>
                                        <p:attrNameLst>
                                          <p:attrName>ppt_x</p:attrName>
                                        </p:attrNameLst>
                                      </p:cBhvr>
                                      <p:tavLst>
                                        <p:tav tm="0">
                                          <p:val>
                                            <p:strVal val="#ppt_x"/>
                                          </p:val>
                                        </p:tav>
                                        <p:tav tm="100000">
                                          <p:val>
                                            <p:strVal val="#ppt_x"/>
                                          </p:val>
                                        </p:tav>
                                      </p:tavLst>
                                    </p:anim>
                                    <p:anim calcmode="lin" valueType="num">
                                      <p:cBhvr additive="base">
                                        <p:cTn id="26" dur="500" fill="hold"/>
                                        <p:tgtEl>
                                          <p:spTgt spid="11472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72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2"/>
          <p:cNvSpPr>
            <a:spLocks noGrp="1"/>
          </p:cNvSpPr>
          <p:nvPr>
            <p:ph type="sldNum" sz="quarter" idx="11"/>
          </p:nvPr>
        </p:nvSpPr>
        <p:spPr/>
        <p:txBody>
          <a:bodyPr/>
          <a:lstStyle/>
          <a:p>
            <a:pPr>
              <a:defRPr/>
            </a:pPr>
            <a:fld id="{756BB777-D1E6-4BD4-8C87-A6919EE47E0E}" type="slidenum">
              <a:rPr lang="en-US" altLang="zh-CN"/>
              <a:pPr>
                <a:defRPr/>
              </a:pPr>
              <a:t>40</a:t>
            </a:fld>
            <a:endParaRPr lang="en-US" altLang="zh-CN"/>
          </a:p>
        </p:txBody>
      </p:sp>
      <p:sp>
        <p:nvSpPr>
          <p:cNvPr id="31749" name="Text Box 5"/>
          <p:cNvSpPr txBox="1">
            <a:spLocks noChangeArrowheads="1"/>
          </p:cNvSpPr>
          <p:nvPr/>
        </p:nvSpPr>
        <p:spPr bwMode="auto">
          <a:xfrm>
            <a:off x="466725" y="3644900"/>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lang="zh-CN" altLang="en-US" b="1">
                <a:solidFill>
                  <a:srgbClr val="008000"/>
                </a:solidFill>
                <a:latin typeface="Times New Roman" pitchFamily="18" charset="0"/>
              </a:rPr>
              <a:t>无向图 </a:t>
            </a:r>
            <a:r>
              <a:rPr lang="en-US" altLang="zh-CN" b="1">
                <a:latin typeface="Times New Roman" pitchFamily="18" charset="0"/>
              </a:rPr>
              <a:t>(1)</a:t>
            </a:r>
            <a:r>
              <a:rPr lang="zh-CN" altLang="en-US" b="1">
                <a:latin typeface="Times New Roman" pitchFamily="18" charset="0"/>
              </a:rPr>
              <a:t>结点</a:t>
            </a:r>
            <a:r>
              <a:rPr lang="en-US" altLang="zh-CN" b="1">
                <a:latin typeface="Times New Roman" pitchFamily="18" charset="0"/>
              </a:rPr>
              <a:t>v</a:t>
            </a:r>
            <a:r>
              <a:rPr lang="en-US" altLang="zh-CN" b="1" baseline="-25000">
                <a:latin typeface="Times New Roman" pitchFamily="18" charset="0"/>
              </a:rPr>
              <a:t>i</a:t>
            </a:r>
            <a:r>
              <a:rPr lang="zh-CN" altLang="en-US" b="1">
                <a:latin typeface="Times New Roman" pitchFamily="18" charset="0"/>
              </a:rPr>
              <a:t>的度；    </a:t>
            </a:r>
            <a:r>
              <a:rPr lang="en-US" altLang="zh-CN" b="1">
                <a:latin typeface="Times New Roman" pitchFamily="18" charset="0"/>
              </a:rPr>
              <a:t>(2)</a:t>
            </a:r>
            <a:r>
              <a:rPr lang="zh-CN" altLang="en-US" b="1">
                <a:latin typeface="Times New Roman" pitchFamily="18" charset="0"/>
              </a:rPr>
              <a:t>零图的邻接矩阵。</a:t>
            </a:r>
          </a:p>
          <a:p>
            <a:pPr eaLnBrk="1" hangingPunct="1">
              <a:lnSpc>
                <a:spcPct val="130000"/>
              </a:lnSpc>
            </a:pPr>
            <a:r>
              <a:rPr lang="zh-CN" altLang="en-US" b="1">
                <a:solidFill>
                  <a:srgbClr val="008000"/>
                </a:solidFill>
                <a:latin typeface="Times New Roman" pitchFamily="18" charset="0"/>
              </a:rPr>
              <a:t>有向图 </a:t>
            </a:r>
            <a:r>
              <a:rPr lang="en-US" altLang="zh-CN" b="1">
                <a:latin typeface="Times New Roman" pitchFamily="18" charset="0"/>
              </a:rPr>
              <a:t>(1)</a:t>
            </a:r>
            <a:r>
              <a:rPr lang="zh-CN" altLang="en-US" b="1">
                <a:latin typeface="Times New Roman" pitchFamily="18" charset="0"/>
              </a:rPr>
              <a:t>结点</a:t>
            </a:r>
            <a:r>
              <a:rPr lang="en-US" altLang="zh-CN" b="1">
                <a:latin typeface="Times New Roman" pitchFamily="18" charset="0"/>
              </a:rPr>
              <a:t>v</a:t>
            </a:r>
            <a:r>
              <a:rPr lang="en-US" altLang="zh-CN" b="1" baseline="-25000">
                <a:latin typeface="Times New Roman" pitchFamily="18" charset="0"/>
              </a:rPr>
              <a:t>i</a:t>
            </a:r>
            <a:r>
              <a:rPr lang="zh-CN" altLang="en-US" b="1">
                <a:latin typeface="Times New Roman" pitchFamily="18" charset="0"/>
              </a:rPr>
              <a:t>的出度；</a:t>
            </a:r>
            <a:r>
              <a:rPr lang="en-US" altLang="zh-CN" b="1">
                <a:latin typeface="Times New Roman" pitchFamily="18" charset="0"/>
              </a:rPr>
              <a:t>(2)</a:t>
            </a:r>
            <a:r>
              <a:rPr lang="zh-CN" altLang="en-US" b="1">
                <a:latin typeface="Times New Roman" pitchFamily="18" charset="0"/>
              </a:rPr>
              <a:t>结点</a:t>
            </a:r>
            <a:r>
              <a:rPr lang="en-US" altLang="zh-CN" b="1">
                <a:latin typeface="Times New Roman" pitchFamily="18" charset="0"/>
              </a:rPr>
              <a:t>v</a:t>
            </a:r>
            <a:r>
              <a:rPr lang="en-US" altLang="zh-CN" b="1" baseline="-25000">
                <a:latin typeface="Times New Roman" pitchFamily="18" charset="0"/>
              </a:rPr>
              <a:t>i</a:t>
            </a:r>
            <a:r>
              <a:rPr lang="zh-CN" altLang="en-US" b="1">
                <a:latin typeface="Times New Roman" pitchFamily="18" charset="0"/>
              </a:rPr>
              <a:t>的入度。</a:t>
            </a:r>
            <a:endParaRPr kumimoji="1" lang="zh-CN" altLang="en-US" b="1">
              <a:latin typeface="Times New Roman" pitchFamily="18" charset="0"/>
            </a:endParaRPr>
          </a:p>
        </p:txBody>
      </p:sp>
      <p:sp>
        <p:nvSpPr>
          <p:cNvPr id="45060" name="Rectangle 15"/>
          <p:cNvSpPr>
            <a:spLocks noChangeArrowheads="1"/>
          </p:cNvSpPr>
          <p:nvPr/>
        </p:nvSpPr>
        <p:spPr bwMode="auto">
          <a:xfrm>
            <a:off x="1030288" y="419100"/>
            <a:ext cx="44053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en-US" altLang="zh-CN" sz="2800" b="1">
                <a:solidFill>
                  <a:srgbClr val="993300"/>
                </a:solidFill>
                <a:latin typeface="楷体_GB2312" pitchFamily="49" charset="-122"/>
                <a:ea typeface="楷体_GB2312" pitchFamily="49" charset="-122"/>
              </a:rPr>
              <a:t>2</a:t>
            </a:r>
            <a:r>
              <a:rPr kumimoji="1" lang="zh-CN" altLang="en-US" sz="2800" b="1">
                <a:solidFill>
                  <a:srgbClr val="993300"/>
                </a:solidFill>
                <a:latin typeface="楷体_GB2312" pitchFamily="49" charset="-122"/>
                <a:ea typeface="楷体_GB2312" pitchFamily="49" charset="-122"/>
              </a:rPr>
              <a:t>、邻接矩阵的性质</a:t>
            </a:r>
          </a:p>
        </p:txBody>
      </p:sp>
      <p:grpSp>
        <p:nvGrpSpPr>
          <p:cNvPr id="45061" name="Group 16"/>
          <p:cNvGrpSpPr>
            <a:grpSpLocks/>
          </p:cNvGrpSpPr>
          <p:nvPr/>
        </p:nvGrpSpPr>
        <p:grpSpPr bwMode="auto">
          <a:xfrm>
            <a:off x="971550" y="1268413"/>
            <a:ext cx="2233613" cy="2233612"/>
            <a:chOff x="67" y="2341"/>
            <a:chExt cx="1407" cy="1407"/>
          </a:xfrm>
        </p:grpSpPr>
        <p:sp>
          <p:nvSpPr>
            <p:cNvPr id="45081" name="Oval 17"/>
            <p:cNvSpPr>
              <a:spLocks noChangeArrowheads="1"/>
            </p:cNvSpPr>
            <p:nvPr/>
          </p:nvSpPr>
          <p:spPr bwMode="auto">
            <a:xfrm>
              <a:off x="839" y="3294"/>
              <a:ext cx="499" cy="454"/>
            </a:xfrm>
            <a:prstGeom prst="ellipse">
              <a:avLst/>
            </a:prstGeom>
            <a:noFill/>
            <a:ln w="25400" algn="ctr">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2" name="Oval 18"/>
            <p:cNvSpPr>
              <a:spLocks noChangeArrowheads="1"/>
            </p:cNvSpPr>
            <p:nvPr/>
          </p:nvSpPr>
          <p:spPr bwMode="auto">
            <a:xfrm>
              <a:off x="657" y="2523"/>
              <a:ext cx="91" cy="91"/>
            </a:xfrm>
            <a:prstGeom prst="ellipse">
              <a:avLst/>
            </a:prstGeom>
            <a:solidFill>
              <a:schemeClr val="hlink"/>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3" name="Oval 19"/>
            <p:cNvSpPr>
              <a:spLocks noChangeArrowheads="1"/>
            </p:cNvSpPr>
            <p:nvPr/>
          </p:nvSpPr>
          <p:spPr bwMode="auto">
            <a:xfrm>
              <a:off x="204" y="2840"/>
              <a:ext cx="91" cy="91"/>
            </a:xfrm>
            <a:prstGeom prst="ellipse">
              <a:avLst/>
            </a:prstGeom>
            <a:solidFill>
              <a:schemeClr val="hlink"/>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4" name="Oval 20"/>
            <p:cNvSpPr>
              <a:spLocks noChangeArrowheads="1"/>
            </p:cNvSpPr>
            <p:nvPr/>
          </p:nvSpPr>
          <p:spPr bwMode="auto">
            <a:xfrm>
              <a:off x="385" y="3294"/>
              <a:ext cx="91" cy="91"/>
            </a:xfrm>
            <a:prstGeom prst="ellipse">
              <a:avLst/>
            </a:prstGeom>
            <a:solidFill>
              <a:schemeClr val="hlink"/>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5" name="Oval 21"/>
            <p:cNvSpPr>
              <a:spLocks noChangeArrowheads="1"/>
            </p:cNvSpPr>
            <p:nvPr/>
          </p:nvSpPr>
          <p:spPr bwMode="auto">
            <a:xfrm>
              <a:off x="1111" y="2840"/>
              <a:ext cx="91" cy="91"/>
            </a:xfrm>
            <a:prstGeom prst="ellipse">
              <a:avLst/>
            </a:prstGeom>
            <a:solidFill>
              <a:schemeClr val="hlink"/>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6" name="Oval 22"/>
            <p:cNvSpPr>
              <a:spLocks noChangeArrowheads="1"/>
            </p:cNvSpPr>
            <p:nvPr/>
          </p:nvSpPr>
          <p:spPr bwMode="auto">
            <a:xfrm>
              <a:off x="884" y="3294"/>
              <a:ext cx="91" cy="91"/>
            </a:xfrm>
            <a:prstGeom prst="ellipse">
              <a:avLst/>
            </a:prstGeom>
            <a:solidFill>
              <a:schemeClr val="hlink"/>
            </a:solidFill>
            <a:ln w="25400"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45087" name="Line 23"/>
            <p:cNvSpPr>
              <a:spLocks noChangeShapeType="1"/>
            </p:cNvSpPr>
            <p:nvPr/>
          </p:nvSpPr>
          <p:spPr bwMode="auto">
            <a:xfrm flipH="1">
              <a:off x="295" y="2614"/>
              <a:ext cx="362" cy="22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8" name="Line 24"/>
            <p:cNvSpPr>
              <a:spLocks noChangeShapeType="1"/>
            </p:cNvSpPr>
            <p:nvPr/>
          </p:nvSpPr>
          <p:spPr bwMode="auto">
            <a:xfrm flipH="1" flipV="1">
              <a:off x="748" y="2567"/>
              <a:ext cx="363" cy="27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9" name="Line 25"/>
            <p:cNvSpPr>
              <a:spLocks noChangeShapeType="1"/>
            </p:cNvSpPr>
            <p:nvPr/>
          </p:nvSpPr>
          <p:spPr bwMode="auto">
            <a:xfrm flipH="1" flipV="1">
              <a:off x="295" y="2886"/>
              <a:ext cx="81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0" name="Line 26"/>
            <p:cNvSpPr>
              <a:spLocks noChangeShapeType="1"/>
            </p:cNvSpPr>
            <p:nvPr/>
          </p:nvSpPr>
          <p:spPr bwMode="auto">
            <a:xfrm flipH="1" flipV="1">
              <a:off x="249" y="2931"/>
              <a:ext cx="136" cy="408"/>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1" name="Line 27"/>
            <p:cNvSpPr>
              <a:spLocks noChangeShapeType="1"/>
            </p:cNvSpPr>
            <p:nvPr/>
          </p:nvSpPr>
          <p:spPr bwMode="auto">
            <a:xfrm flipV="1">
              <a:off x="975" y="2931"/>
              <a:ext cx="181" cy="363"/>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2" name="Line 28"/>
            <p:cNvSpPr>
              <a:spLocks noChangeShapeType="1"/>
            </p:cNvSpPr>
            <p:nvPr/>
          </p:nvSpPr>
          <p:spPr bwMode="auto">
            <a:xfrm flipH="1" flipV="1">
              <a:off x="430" y="3385"/>
              <a:ext cx="454"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3" name="Line 29"/>
            <p:cNvSpPr>
              <a:spLocks noChangeShapeType="1"/>
            </p:cNvSpPr>
            <p:nvPr/>
          </p:nvSpPr>
          <p:spPr bwMode="auto">
            <a:xfrm flipH="1">
              <a:off x="431" y="2614"/>
              <a:ext cx="272" cy="68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94" name="Text Box 30"/>
            <p:cNvSpPr txBox="1">
              <a:spLocks noChangeArrowheads="1"/>
            </p:cNvSpPr>
            <p:nvPr/>
          </p:nvSpPr>
          <p:spPr bwMode="auto">
            <a:xfrm>
              <a:off x="702" y="2341"/>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1</a:t>
              </a:r>
            </a:p>
          </p:txBody>
        </p:sp>
        <p:sp>
          <p:nvSpPr>
            <p:cNvPr id="45095" name="Text Box 31"/>
            <p:cNvSpPr txBox="1">
              <a:spLocks noChangeArrowheads="1"/>
            </p:cNvSpPr>
            <p:nvPr/>
          </p:nvSpPr>
          <p:spPr bwMode="auto">
            <a:xfrm>
              <a:off x="1156" y="2750"/>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5</a:t>
              </a:r>
            </a:p>
          </p:txBody>
        </p:sp>
        <p:sp>
          <p:nvSpPr>
            <p:cNvPr id="45096" name="Text Box 32"/>
            <p:cNvSpPr txBox="1">
              <a:spLocks noChangeArrowheads="1"/>
            </p:cNvSpPr>
            <p:nvPr/>
          </p:nvSpPr>
          <p:spPr bwMode="auto">
            <a:xfrm>
              <a:off x="67" y="2614"/>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2</a:t>
              </a:r>
            </a:p>
          </p:txBody>
        </p:sp>
        <p:sp>
          <p:nvSpPr>
            <p:cNvPr id="45097" name="Text Box 33"/>
            <p:cNvSpPr txBox="1">
              <a:spLocks noChangeArrowheads="1"/>
            </p:cNvSpPr>
            <p:nvPr/>
          </p:nvSpPr>
          <p:spPr bwMode="auto">
            <a:xfrm>
              <a:off x="158" y="3294"/>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3</a:t>
              </a:r>
            </a:p>
          </p:txBody>
        </p:sp>
        <p:sp>
          <p:nvSpPr>
            <p:cNvPr id="45098" name="Text Box 34"/>
            <p:cNvSpPr txBox="1">
              <a:spLocks noChangeArrowheads="1"/>
            </p:cNvSpPr>
            <p:nvPr/>
          </p:nvSpPr>
          <p:spPr bwMode="auto">
            <a:xfrm>
              <a:off x="884" y="3294"/>
              <a:ext cx="31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4</a:t>
              </a:r>
            </a:p>
          </p:txBody>
        </p:sp>
      </p:grpSp>
      <p:grpSp>
        <p:nvGrpSpPr>
          <p:cNvPr id="45062" name="Group 35"/>
          <p:cNvGrpSpPr>
            <a:grpSpLocks/>
          </p:cNvGrpSpPr>
          <p:nvPr/>
        </p:nvGrpSpPr>
        <p:grpSpPr bwMode="auto">
          <a:xfrm>
            <a:off x="1189038" y="1700213"/>
            <a:ext cx="1873250" cy="1728787"/>
            <a:chOff x="249" y="2659"/>
            <a:chExt cx="1180" cy="1089"/>
          </a:xfrm>
        </p:grpSpPr>
        <p:sp>
          <p:nvSpPr>
            <p:cNvPr id="45065" name="Line 36"/>
            <p:cNvSpPr>
              <a:spLocks noChangeShapeType="1"/>
            </p:cNvSpPr>
            <p:nvPr/>
          </p:nvSpPr>
          <p:spPr bwMode="auto">
            <a:xfrm>
              <a:off x="431" y="2750"/>
              <a:ext cx="136" cy="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6" name="Line 37"/>
            <p:cNvSpPr>
              <a:spLocks noChangeShapeType="1"/>
            </p:cNvSpPr>
            <p:nvPr/>
          </p:nvSpPr>
          <p:spPr bwMode="auto">
            <a:xfrm flipH="1">
              <a:off x="521" y="2750"/>
              <a:ext cx="46" cy="9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7" name="Line 38"/>
            <p:cNvSpPr>
              <a:spLocks noChangeShapeType="1"/>
            </p:cNvSpPr>
            <p:nvPr/>
          </p:nvSpPr>
          <p:spPr bwMode="auto">
            <a:xfrm flipH="1">
              <a:off x="567" y="2750"/>
              <a:ext cx="136" cy="9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8" name="Line 39"/>
            <p:cNvSpPr>
              <a:spLocks noChangeShapeType="1"/>
            </p:cNvSpPr>
            <p:nvPr/>
          </p:nvSpPr>
          <p:spPr bwMode="auto">
            <a:xfrm flipH="1" flipV="1">
              <a:off x="703" y="2749"/>
              <a:ext cx="45" cy="137"/>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69" name="Line 40"/>
            <p:cNvSpPr>
              <a:spLocks noChangeShapeType="1"/>
            </p:cNvSpPr>
            <p:nvPr/>
          </p:nvSpPr>
          <p:spPr bwMode="auto">
            <a:xfrm flipH="1" flipV="1">
              <a:off x="1020" y="2659"/>
              <a:ext cx="46" cy="136"/>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0" name="Line 41"/>
            <p:cNvSpPr>
              <a:spLocks noChangeShapeType="1"/>
            </p:cNvSpPr>
            <p:nvPr/>
          </p:nvSpPr>
          <p:spPr bwMode="auto">
            <a:xfrm>
              <a:off x="930" y="2795"/>
              <a:ext cx="136" cy="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1" name="Line 42"/>
            <p:cNvSpPr>
              <a:spLocks noChangeShapeType="1"/>
            </p:cNvSpPr>
            <p:nvPr/>
          </p:nvSpPr>
          <p:spPr bwMode="auto">
            <a:xfrm flipH="1" flipV="1">
              <a:off x="839" y="2931"/>
              <a:ext cx="91" cy="91"/>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2" name="Line 43"/>
            <p:cNvSpPr>
              <a:spLocks noChangeShapeType="1"/>
            </p:cNvSpPr>
            <p:nvPr/>
          </p:nvSpPr>
          <p:spPr bwMode="auto">
            <a:xfrm flipV="1">
              <a:off x="839" y="2840"/>
              <a:ext cx="91" cy="91"/>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3" name="Line 44"/>
            <p:cNvSpPr>
              <a:spLocks noChangeShapeType="1"/>
            </p:cNvSpPr>
            <p:nvPr/>
          </p:nvSpPr>
          <p:spPr bwMode="auto">
            <a:xfrm flipH="1" flipV="1">
              <a:off x="340" y="3067"/>
              <a:ext cx="91" cy="91"/>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4" name="Line 45"/>
            <p:cNvSpPr>
              <a:spLocks noChangeShapeType="1"/>
            </p:cNvSpPr>
            <p:nvPr/>
          </p:nvSpPr>
          <p:spPr bwMode="auto">
            <a:xfrm flipH="1">
              <a:off x="249" y="3067"/>
              <a:ext cx="91" cy="136"/>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5" name="Line 46"/>
            <p:cNvSpPr>
              <a:spLocks noChangeShapeType="1"/>
            </p:cNvSpPr>
            <p:nvPr/>
          </p:nvSpPr>
          <p:spPr bwMode="auto">
            <a:xfrm flipH="1" flipV="1">
              <a:off x="657" y="3430"/>
              <a:ext cx="91" cy="91"/>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6" name="Line 47"/>
            <p:cNvSpPr>
              <a:spLocks noChangeShapeType="1"/>
            </p:cNvSpPr>
            <p:nvPr/>
          </p:nvSpPr>
          <p:spPr bwMode="auto">
            <a:xfrm flipV="1">
              <a:off x="657" y="3339"/>
              <a:ext cx="91" cy="91"/>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7" name="Line 48"/>
            <p:cNvSpPr>
              <a:spLocks noChangeShapeType="1"/>
            </p:cNvSpPr>
            <p:nvPr/>
          </p:nvSpPr>
          <p:spPr bwMode="auto">
            <a:xfrm>
              <a:off x="1156" y="3113"/>
              <a:ext cx="0" cy="136"/>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8" name="Line 49"/>
            <p:cNvSpPr>
              <a:spLocks noChangeShapeType="1"/>
            </p:cNvSpPr>
            <p:nvPr/>
          </p:nvSpPr>
          <p:spPr bwMode="auto">
            <a:xfrm flipH="1">
              <a:off x="975" y="3113"/>
              <a:ext cx="181" cy="9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79" name="Line 50"/>
            <p:cNvSpPr>
              <a:spLocks noChangeShapeType="1"/>
            </p:cNvSpPr>
            <p:nvPr/>
          </p:nvSpPr>
          <p:spPr bwMode="auto">
            <a:xfrm flipH="1">
              <a:off x="1292" y="3748"/>
              <a:ext cx="137" cy="0"/>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5080" name="Line 51"/>
            <p:cNvSpPr>
              <a:spLocks noChangeShapeType="1"/>
            </p:cNvSpPr>
            <p:nvPr/>
          </p:nvSpPr>
          <p:spPr bwMode="auto">
            <a:xfrm flipV="1">
              <a:off x="1292" y="3612"/>
              <a:ext cx="0" cy="136"/>
            </a:xfrm>
            <a:prstGeom prst="line">
              <a:avLst/>
            </a:prstGeom>
            <a:noFill/>
            <a:ln w="28575">
              <a:solidFill>
                <a:srgbClr val="00CC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aphicFrame>
        <p:nvGraphicFramePr>
          <p:cNvPr id="45063" name="Object 52"/>
          <p:cNvGraphicFramePr>
            <a:graphicFrameLocks noChangeAspect="1"/>
          </p:cNvGraphicFramePr>
          <p:nvPr/>
        </p:nvGraphicFramePr>
        <p:xfrm>
          <a:off x="5867400" y="1339850"/>
          <a:ext cx="2019300" cy="2057400"/>
        </p:xfrm>
        <a:graphic>
          <a:graphicData uri="http://schemas.openxmlformats.org/presentationml/2006/ole">
            <mc:AlternateContent xmlns:mc="http://schemas.openxmlformats.org/markup-compatibility/2006">
              <mc:Choice xmlns:v="urn:schemas-microsoft-com:vml" Requires="v">
                <p:oleObj spid="_x0000_s45243" name="Equation" r:id="rId3" imgW="2019300" imgH="2057400" progId="Equation.DSMT4">
                  <p:embed/>
                </p:oleObj>
              </mc:Choice>
              <mc:Fallback>
                <p:oleObj name="Equation" r:id="rId3" imgW="2019300" imgH="2057400" progId="Equation.DSMT4">
                  <p:embed/>
                  <p:pic>
                    <p:nvPicPr>
                      <p:cNvPr id="0" name="Object 5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1339850"/>
                        <a:ext cx="20193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064" name="Object 53"/>
          <p:cNvGraphicFramePr>
            <a:graphicFrameLocks noChangeAspect="1"/>
          </p:cNvGraphicFramePr>
          <p:nvPr/>
        </p:nvGraphicFramePr>
        <p:xfrm>
          <a:off x="3506788" y="1382713"/>
          <a:ext cx="2019300" cy="2057400"/>
        </p:xfrm>
        <a:graphic>
          <a:graphicData uri="http://schemas.openxmlformats.org/presentationml/2006/ole">
            <mc:AlternateContent xmlns:mc="http://schemas.openxmlformats.org/markup-compatibility/2006">
              <mc:Choice xmlns:v="urn:schemas-microsoft-com:vml" Requires="v">
                <p:oleObj spid="_x0000_s45244" name="Equation" r:id="rId5" imgW="2019300" imgH="2057400" progId="Equation.DSMT4">
                  <p:embed/>
                </p:oleObj>
              </mc:Choice>
              <mc:Fallback>
                <p:oleObj name="Equation" r:id="rId5" imgW="2019300" imgH="2057400" progId="Equation.DSMT4">
                  <p:embed/>
                  <p:pic>
                    <p:nvPicPr>
                      <p:cNvPr id="0" name="Object 5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06788" y="1382713"/>
                        <a:ext cx="2019300" cy="2057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anim calcmode="lin" valueType="num">
                                      <p:cBhvr additive="base">
                                        <p:cTn id="7" dur="500" fill="hold"/>
                                        <p:tgtEl>
                                          <p:spTgt spid="31749"/>
                                        </p:tgtEl>
                                        <p:attrNameLst>
                                          <p:attrName>ppt_x</p:attrName>
                                        </p:attrNameLst>
                                      </p:cBhvr>
                                      <p:tavLst>
                                        <p:tav tm="0">
                                          <p:val>
                                            <p:strVal val="#ppt_x"/>
                                          </p:val>
                                        </p:tav>
                                        <p:tav tm="100000">
                                          <p:val>
                                            <p:strVal val="#ppt_x"/>
                                          </p:val>
                                        </p:tav>
                                      </p:tavLst>
                                    </p:anim>
                                    <p:anim calcmode="lin" valueType="num">
                                      <p:cBhvr additive="base">
                                        <p:cTn id="8" dur="500" fill="hold"/>
                                        <p:tgtEl>
                                          <p:spTgt spid="3174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a:defRPr/>
            </a:pPr>
            <a:fld id="{3A551E67-66BF-44EB-8537-FF93A6058D80}" type="slidenum">
              <a:rPr lang="en-US" altLang="zh-CN"/>
              <a:pPr>
                <a:defRPr/>
              </a:pPr>
              <a:t>41</a:t>
            </a:fld>
            <a:endParaRPr lang="en-US" altLang="zh-CN"/>
          </a:p>
        </p:txBody>
      </p:sp>
      <p:sp>
        <p:nvSpPr>
          <p:cNvPr id="116739" name="Rectangle 3"/>
          <p:cNvSpPr>
            <a:spLocks noGrp="1" noChangeArrowheads="1"/>
          </p:cNvSpPr>
          <p:nvPr>
            <p:ph type="body" idx="1"/>
          </p:nvPr>
        </p:nvSpPr>
        <p:spPr>
          <a:xfrm>
            <a:off x="466725" y="1052513"/>
            <a:ext cx="8277225" cy="5313362"/>
          </a:xfrm>
          <a:noFill/>
        </p:spPr>
        <p:txBody>
          <a:bodyPr/>
          <a:lstStyle/>
          <a:p>
            <a:pPr eaLnBrk="1" hangingPunct="1"/>
            <a:r>
              <a:rPr kumimoji="1" lang="en-US" altLang="zh-CN" smtClean="0">
                <a:solidFill>
                  <a:schemeClr val="hlink"/>
                </a:solidFill>
              </a:rPr>
              <a:t>1)</a:t>
            </a:r>
            <a:r>
              <a:rPr kumimoji="1" lang="zh-CN" altLang="en-US" smtClean="0">
                <a:solidFill>
                  <a:schemeClr val="hlink"/>
                </a:solidFill>
              </a:rPr>
              <a:t>、有向图中结点间的路的长度</a:t>
            </a:r>
          </a:p>
          <a:p>
            <a:pPr eaLnBrk="1" hangingPunct="1">
              <a:buClr>
                <a:schemeClr val="hlink"/>
              </a:buClr>
              <a:buSzTx/>
              <a:buFont typeface="Wingdings" pitchFamily="2" charset="2"/>
              <a:buChar char="u"/>
            </a:pPr>
            <a:r>
              <a:rPr kumimoji="1" lang="zh-CN" altLang="en-US" smtClean="0">
                <a:solidFill>
                  <a:schemeClr val="bg2"/>
                </a:solidFill>
              </a:rPr>
              <a:t>通过</a:t>
            </a:r>
            <a:r>
              <a:rPr kumimoji="1" lang="zh-CN" altLang="en-US" smtClean="0">
                <a:solidFill>
                  <a:srgbClr val="0000CC"/>
                </a:solidFill>
              </a:rPr>
              <a:t>邻接矩阵</a:t>
            </a:r>
            <a:r>
              <a:rPr kumimoji="1" lang="zh-CN" altLang="en-US" smtClean="0">
                <a:solidFill>
                  <a:schemeClr val="bg2"/>
                </a:solidFill>
              </a:rPr>
              <a:t>考察简单有向图中结点</a:t>
            </a:r>
            <a:r>
              <a:rPr kumimoji="1" lang="en-US" altLang="zh-CN" smtClean="0">
                <a:solidFill>
                  <a:schemeClr val="bg2"/>
                </a:solidFill>
              </a:rPr>
              <a:t>v</a:t>
            </a:r>
            <a:r>
              <a:rPr kumimoji="1" lang="en-US" altLang="zh-CN" baseline="-25000" smtClean="0">
                <a:solidFill>
                  <a:schemeClr val="bg2"/>
                </a:solidFill>
              </a:rPr>
              <a:t>i</a:t>
            </a:r>
            <a:r>
              <a:rPr kumimoji="1" lang="zh-CN" altLang="en-US" smtClean="0">
                <a:solidFill>
                  <a:schemeClr val="bg2"/>
                </a:solidFill>
              </a:rPr>
              <a:t>到</a:t>
            </a:r>
            <a:r>
              <a:rPr kumimoji="1" lang="en-US" altLang="zh-CN" smtClean="0">
                <a:solidFill>
                  <a:schemeClr val="bg2"/>
                </a:solidFill>
              </a:rPr>
              <a:t>v</a:t>
            </a:r>
            <a:r>
              <a:rPr kumimoji="1" lang="en-US" altLang="zh-CN" baseline="-25000" smtClean="0">
                <a:solidFill>
                  <a:schemeClr val="bg2"/>
                </a:solidFill>
              </a:rPr>
              <a:t>j</a:t>
            </a:r>
            <a:r>
              <a:rPr kumimoji="1" lang="zh-CN" altLang="en-US" smtClean="0">
                <a:solidFill>
                  <a:schemeClr val="bg2"/>
                </a:solidFill>
              </a:rPr>
              <a:t>的长度为</a:t>
            </a:r>
            <a:r>
              <a:rPr kumimoji="1" lang="en-US" altLang="zh-CN" smtClean="0">
                <a:solidFill>
                  <a:schemeClr val="bg2"/>
                </a:solidFill>
              </a:rPr>
              <a:t>m</a:t>
            </a:r>
            <a:r>
              <a:rPr kumimoji="1" lang="zh-CN" altLang="en-US" smtClean="0">
                <a:solidFill>
                  <a:schemeClr val="bg2"/>
                </a:solidFill>
              </a:rPr>
              <a:t>的路的数目。设图</a:t>
            </a:r>
            <a:r>
              <a:rPr kumimoji="1" lang="en-US" altLang="zh-CN" smtClean="0">
                <a:solidFill>
                  <a:schemeClr val="bg2"/>
                </a:solidFill>
              </a:rPr>
              <a:t>G=&lt;V, E&gt;</a:t>
            </a:r>
            <a:r>
              <a:rPr kumimoji="1" lang="zh-CN" altLang="en-US" smtClean="0">
                <a:solidFill>
                  <a:schemeClr val="bg2"/>
                </a:solidFill>
              </a:rPr>
              <a:t>，其中</a:t>
            </a:r>
            <a:r>
              <a:rPr kumimoji="1" lang="en-US" altLang="zh-CN" smtClean="0">
                <a:solidFill>
                  <a:schemeClr val="bg2"/>
                </a:solidFill>
              </a:rPr>
              <a:t>V={v</a:t>
            </a:r>
            <a:r>
              <a:rPr kumimoji="1" lang="en-US" altLang="zh-CN" baseline="-25000" smtClean="0">
                <a:solidFill>
                  <a:schemeClr val="bg2"/>
                </a:solidFill>
              </a:rPr>
              <a:t>1</a:t>
            </a:r>
            <a:r>
              <a:rPr kumimoji="1" lang="en-US" altLang="zh-CN" smtClean="0">
                <a:solidFill>
                  <a:schemeClr val="bg2"/>
                </a:solidFill>
              </a:rPr>
              <a:t>,v</a:t>
            </a:r>
            <a:r>
              <a:rPr kumimoji="1" lang="en-US" altLang="zh-CN" baseline="-25000" smtClean="0">
                <a:solidFill>
                  <a:schemeClr val="bg2"/>
                </a:solidFill>
              </a:rPr>
              <a:t>2</a:t>
            </a:r>
            <a:r>
              <a:rPr kumimoji="1" lang="en-US" altLang="zh-CN" smtClean="0">
                <a:solidFill>
                  <a:schemeClr val="bg2"/>
                </a:solidFill>
              </a:rPr>
              <a:t>,…,v</a:t>
            </a:r>
            <a:r>
              <a:rPr kumimoji="1" lang="en-US" altLang="zh-CN" baseline="-25000" smtClean="0">
                <a:solidFill>
                  <a:schemeClr val="bg2"/>
                </a:solidFill>
              </a:rPr>
              <a:t>n</a:t>
            </a:r>
            <a:r>
              <a:rPr kumimoji="1" lang="en-US" altLang="zh-CN" smtClean="0">
                <a:solidFill>
                  <a:schemeClr val="bg2"/>
                </a:solidFill>
              </a:rPr>
              <a:t>}</a:t>
            </a:r>
          </a:p>
          <a:p>
            <a:pPr eaLnBrk="1" hangingPunct="1">
              <a:buClr>
                <a:schemeClr val="hlink"/>
              </a:buClr>
              <a:buSzTx/>
            </a:pPr>
            <a:r>
              <a:rPr kumimoji="1" lang="en-US" altLang="zh-CN" smtClean="0">
                <a:solidFill>
                  <a:srgbClr val="993300"/>
                </a:solidFill>
              </a:rPr>
              <a:t>(1)m=1</a:t>
            </a:r>
            <a:r>
              <a:rPr kumimoji="1" lang="en-US" altLang="zh-CN" smtClean="0">
                <a:solidFill>
                  <a:schemeClr val="bg2"/>
                </a:solidFill>
              </a:rPr>
              <a:t> </a:t>
            </a:r>
          </a:p>
          <a:p>
            <a:pPr eaLnBrk="1" hangingPunct="1">
              <a:buClr>
                <a:schemeClr val="hlink"/>
              </a:buClr>
              <a:buSzTx/>
            </a:pPr>
            <a:r>
              <a:rPr lang="en-US" altLang="zh-CN" smtClean="0">
                <a:solidFill>
                  <a:srgbClr val="993300"/>
                </a:solidFill>
              </a:rPr>
              <a:t>(2)m=2</a:t>
            </a:r>
            <a:r>
              <a:rPr lang="en-US" altLang="zh-CN" smtClean="0">
                <a:solidFill>
                  <a:schemeClr val="bg2"/>
                </a:solidFill>
              </a:rPr>
              <a:t>   </a:t>
            </a:r>
            <a:r>
              <a:rPr lang="zh-CN" altLang="en-US" smtClean="0">
                <a:solidFill>
                  <a:schemeClr val="bg2"/>
                </a:solidFill>
              </a:rPr>
              <a:t>对</a:t>
            </a:r>
            <a:r>
              <a:rPr kumimoji="1" lang="zh-CN" altLang="en-US" smtClean="0">
                <a:solidFill>
                  <a:schemeClr val="bg2"/>
                </a:solidFill>
              </a:rPr>
              <a:t>图中</a:t>
            </a:r>
            <a:r>
              <a:rPr kumimoji="1" lang="zh-CN" altLang="en-US" smtClean="0">
                <a:solidFill>
                  <a:schemeClr val="bg2"/>
                </a:solidFill>
                <a:sym typeface="Symbol" pitchFamily="18" charset="2"/>
              </a:rPr>
              <a:t>的结点</a:t>
            </a:r>
            <a:r>
              <a:rPr kumimoji="1" lang="en-US" altLang="zh-CN" smtClean="0">
                <a:solidFill>
                  <a:schemeClr val="bg2"/>
                </a:solidFill>
                <a:sym typeface="Symbol" pitchFamily="18" charset="2"/>
              </a:rPr>
              <a:t>v</a:t>
            </a:r>
            <a:r>
              <a:rPr kumimoji="1" lang="en-US" altLang="zh-CN" baseline="-25000" smtClean="0">
                <a:solidFill>
                  <a:schemeClr val="bg2"/>
                </a:solidFill>
                <a:sym typeface="Symbol" pitchFamily="18" charset="2"/>
              </a:rPr>
              <a:t>k</a:t>
            </a:r>
            <a:r>
              <a:rPr kumimoji="1" lang="zh-CN" altLang="en-US" smtClean="0">
                <a:solidFill>
                  <a:schemeClr val="bg2"/>
                </a:solidFill>
                <a:sym typeface="Symbol" pitchFamily="18" charset="2"/>
              </a:rPr>
              <a:t>，</a:t>
            </a:r>
          </a:p>
          <a:p>
            <a:pPr eaLnBrk="1" hangingPunct="1">
              <a:buClr>
                <a:schemeClr val="hlink"/>
              </a:buClr>
              <a:buSzTx/>
            </a:pPr>
            <a:r>
              <a:rPr kumimoji="1" lang="zh-CN" altLang="en-US" smtClean="0">
                <a:solidFill>
                  <a:srgbClr val="008000"/>
                </a:solidFill>
                <a:sym typeface="Symbol" pitchFamily="18" charset="2"/>
              </a:rPr>
              <a:t>若有路</a:t>
            </a:r>
            <a:r>
              <a:rPr kumimoji="1" lang="en-US" altLang="zh-CN" smtClean="0">
                <a:solidFill>
                  <a:srgbClr val="008000"/>
                </a:solidFill>
                <a:sym typeface="Symbol" pitchFamily="18" charset="2"/>
              </a:rPr>
              <a:t>v</a:t>
            </a:r>
            <a:r>
              <a:rPr kumimoji="1" lang="en-US" altLang="zh-CN" baseline="-25000" smtClean="0">
                <a:solidFill>
                  <a:srgbClr val="008000"/>
                </a:solidFill>
                <a:sym typeface="Symbol" pitchFamily="18" charset="2"/>
              </a:rPr>
              <a:t>i</a:t>
            </a:r>
            <a:r>
              <a:rPr kumimoji="1" lang="en-US" altLang="zh-CN" smtClean="0">
                <a:solidFill>
                  <a:srgbClr val="008000"/>
                </a:solidFill>
                <a:sym typeface="Symbol" pitchFamily="18" charset="2"/>
              </a:rPr>
              <a:t> </a:t>
            </a:r>
            <a:r>
              <a:rPr kumimoji="1" lang="en-US" altLang="zh-CN" smtClean="0">
                <a:solidFill>
                  <a:srgbClr val="008000"/>
                </a:solidFill>
                <a:sym typeface="Wingdings" pitchFamily="2" charset="2"/>
              </a:rPr>
              <a:t>→v</a:t>
            </a:r>
            <a:r>
              <a:rPr kumimoji="1" lang="en-US" altLang="zh-CN" baseline="-25000" smtClean="0">
                <a:solidFill>
                  <a:srgbClr val="008000"/>
                </a:solidFill>
                <a:sym typeface="Wingdings" pitchFamily="2" charset="2"/>
              </a:rPr>
              <a:t>k</a:t>
            </a:r>
            <a:r>
              <a:rPr kumimoji="1" lang="en-US" altLang="zh-CN" smtClean="0">
                <a:solidFill>
                  <a:srgbClr val="008000"/>
                </a:solidFill>
                <a:sym typeface="Wingdings" pitchFamily="2" charset="2"/>
              </a:rPr>
              <a:t> →v</a:t>
            </a:r>
            <a:r>
              <a:rPr kumimoji="1" lang="en-US" altLang="zh-CN" baseline="-25000" smtClean="0">
                <a:solidFill>
                  <a:srgbClr val="008000"/>
                </a:solidFill>
                <a:sym typeface="Wingdings" pitchFamily="2" charset="2"/>
              </a:rPr>
              <a:t>j</a:t>
            </a:r>
            <a:r>
              <a:rPr kumimoji="1" lang="zh-CN" altLang="en-US" smtClean="0">
                <a:solidFill>
                  <a:schemeClr val="bg2"/>
                </a:solidFill>
                <a:sym typeface="Wingdings" pitchFamily="2" charset="2"/>
              </a:rPr>
              <a:t>，</a:t>
            </a:r>
            <a:r>
              <a:rPr lang="zh-CN" altLang="en-US" smtClean="0">
                <a:solidFill>
                  <a:schemeClr val="bg2"/>
                </a:solidFill>
                <a:sym typeface="Wingdings" pitchFamily="2" charset="2"/>
              </a:rPr>
              <a:t>则矩阵中有</a:t>
            </a:r>
            <a:r>
              <a:rPr lang="en-US" altLang="zh-CN" smtClean="0">
                <a:solidFill>
                  <a:schemeClr val="bg2"/>
                </a:solidFill>
                <a:sym typeface="Wingdings" pitchFamily="2" charset="2"/>
              </a:rPr>
              <a:t>a</a:t>
            </a:r>
            <a:r>
              <a:rPr lang="en-US" altLang="zh-CN" baseline="-25000" smtClean="0">
                <a:solidFill>
                  <a:schemeClr val="bg2"/>
                </a:solidFill>
                <a:sym typeface="Wingdings" pitchFamily="2" charset="2"/>
              </a:rPr>
              <a:t>ik</a:t>
            </a:r>
            <a:r>
              <a:rPr lang="en-US" altLang="zh-CN" smtClean="0">
                <a:solidFill>
                  <a:schemeClr val="bg2"/>
                </a:solidFill>
                <a:sym typeface="Wingdings" pitchFamily="2" charset="2"/>
              </a:rPr>
              <a:t>=1</a:t>
            </a:r>
            <a:r>
              <a:rPr lang="zh-CN" altLang="en-US" smtClean="0">
                <a:solidFill>
                  <a:schemeClr val="bg2"/>
                </a:solidFill>
                <a:sym typeface="Wingdings" pitchFamily="2" charset="2"/>
              </a:rPr>
              <a:t>，</a:t>
            </a:r>
            <a:r>
              <a:rPr lang="en-US" altLang="zh-CN" smtClean="0">
                <a:solidFill>
                  <a:schemeClr val="bg2"/>
                </a:solidFill>
                <a:sym typeface="Wingdings" pitchFamily="2" charset="2"/>
              </a:rPr>
              <a:t>a</a:t>
            </a:r>
            <a:r>
              <a:rPr lang="en-US" altLang="zh-CN" baseline="-25000" smtClean="0">
                <a:solidFill>
                  <a:schemeClr val="bg2"/>
                </a:solidFill>
                <a:sym typeface="Wingdings" pitchFamily="2" charset="2"/>
              </a:rPr>
              <a:t>kj</a:t>
            </a:r>
            <a:r>
              <a:rPr lang="en-US" altLang="zh-CN" smtClean="0">
                <a:solidFill>
                  <a:schemeClr val="bg2"/>
                </a:solidFill>
                <a:sym typeface="Wingdings" pitchFamily="2" charset="2"/>
              </a:rPr>
              <a:t>=1</a:t>
            </a:r>
            <a:r>
              <a:rPr lang="zh-CN" altLang="en-US" smtClean="0">
                <a:solidFill>
                  <a:schemeClr val="bg2"/>
                </a:solidFill>
                <a:sym typeface="Wingdings" pitchFamily="2" charset="2"/>
              </a:rPr>
              <a:t>，即</a:t>
            </a:r>
            <a:r>
              <a:rPr lang="en-US" altLang="zh-CN" smtClean="0">
                <a:solidFill>
                  <a:srgbClr val="008000"/>
                </a:solidFill>
                <a:sym typeface="Wingdings" pitchFamily="2" charset="2"/>
              </a:rPr>
              <a:t>a</a:t>
            </a:r>
            <a:r>
              <a:rPr lang="en-US" altLang="zh-CN" baseline="-25000" smtClean="0">
                <a:solidFill>
                  <a:srgbClr val="008000"/>
                </a:solidFill>
                <a:sym typeface="Wingdings" pitchFamily="2" charset="2"/>
              </a:rPr>
              <a:t>ik</a:t>
            </a:r>
            <a:r>
              <a:rPr lang="en-US" altLang="zh-CN" smtClean="0">
                <a:solidFill>
                  <a:srgbClr val="008000"/>
                </a:solidFill>
                <a:cs typeface="Times New Roman" pitchFamily="18" charset="0"/>
                <a:sym typeface="Wingdings" pitchFamily="2" charset="2"/>
              </a:rPr>
              <a:t>·</a:t>
            </a:r>
            <a:r>
              <a:rPr lang="en-US" altLang="zh-CN" smtClean="0">
                <a:solidFill>
                  <a:srgbClr val="008000"/>
                </a:solidFill>
                <a:sym typeface="Wingdings" pitchFamily="2" charset="2"/>
              </a:rPr>
              <a:t>a</a:t>
            </a:r>
            <a:r>
              <a:rPr lang="en-US" altLang="zh-CN" baseline="-25000" smtClean="0">
                <a:solidFill>
                  <a:srgbClr val="008000"/>
                </a:solidFill>
                <a:sym typeface="Wingdings" pitchFamily="2" charset="2"/>
              </a:rPr>
              <a:t>kj</a:t>
            </a:r>
            <a:r>
              <a:rPr lang="en-US" altLang="zh-CN" smtClean="0">
                <a:solidFill>
                  <a:srgbClr val="008000"/>
                </a:solidFill>
                <a:sym typeface="Wingdings" pitchFamily="2" charset="2"/>
              </a:rPr>
              <a:t>=1</a:t>
            </a:r>
            <a:r>
              <a:rPr lang="zh-CN" altLang="en-US" smtClean="0">
                <a:solidFill>
                  <a:schemeClr val="bg2"/>
                </a:solidFill>
                <a:sym typeface="Wingdings" pitchFamily="2" charset="2"/>
              </a:rPr>
              <a:t>；也即从</a:t>
            </a:r>
            <a:r>
              <a:rPr lang="en-US" altLang="zh-CN" smtClean="0">
                <a:solidFill>
                  <a:schemeClr val="bg2"/>
                </a:solidFill>
                <a:sym typeface="Wingdings" pitchFamily="2" charset="2"/>
              </a:rPr>
              <a:t>v</a:t>
            </a:r>
            <a:r>
              <a:rPr lang="en-US" altLang="zh-CN" baseline="-25000" smtClean="0">
                <a:solidFill>
                  <a:schemeClr val="bg2"/>
                </a:solidFill>
                <a:sym typeface="Wingdings" pitchFamily="2" charset="2"/>
              </a:rPr>
              <a:t>i</a:t>
            </a:r>
            <a:r>
              <a:rPr lang="zh-CN" altLang="en-US" smtClean="0">
                <a:solidFill>
                  <a:schemeClr val="bg2"/>
                </a:solidFill>
                <a:sym typeface="Wingdings" pitchFamily="2" charset="2"/>
              </a:rPr>
              <a:t>到</a:t>
            </a:r>
            <a:r>
              <a:rPr lang="en-US" altLang="zh-CN" smtClean="0">
                <a:solidFill>
                  <a:schemeClr val="bg2"/>
                </a:solidFill>
                <a:sym typeface="Wingdings" pitchFamily="2" charset="2"/>
              </a:rPr>
              <a:t>v</a:t>
            </a:r>
            <a:r>
              <a:rPr lang="en-US" altLang="zh-CN" baseline="-25000" smtClean="0">
                <a:solidFill>
                  <a:schemeClr val="bg2"/>
                </a:solidFill>
                <a:sym typeface="Wingdings" pitchFamily="2" charset="2"/>
              </a:rPr>
              <a:t>j</a:t>
            </a:r>
            <a:r>
              <a:rPr lang="zh-CN" altLang="en-US" smtClean="0">
                <a:solidFill>
                  <a:schemeClr val="bg2"/>
                </a:solidFill>
                <a:sym typeface="Wingdings" pitchFamily="2" charset="2"/>
              </a:rPr>
              <a:t>经过结点</a:t>
            </a:r>
            <a:r>
              <a:rPr lang="en-US" altLang="zh-CN" smtClean="0">
                <a:solidFill>
                  <a:schemeClr val="bg2"/>
                </a:solidFill>
                <a:sym typeface="Wingdings" pitchFamily="2" charset="2"/>
              </a:rPr>
              <a:t>v</a:t>
            </a:r>
            <a:r>
              <a:rPr lang="en-US" altLang="zh-CN" baseline="-25000" smtClean="0">
                <a:solidFill>
                  <a:schemeClr val="bg2"/>
                </a:solidFill>
                <a:sym typeface="Wingdings" pitchFamily="2" charset="2"/>
              </a:rPr>
              <a:t>k</a:t>
            </a:r>
            <a:r>
              <a:rPr lang="zh-CN" altLang="en-US" smtClean="0">
                <a:solidFill>
                  <a:schemeClr val="bg2"/>
                </a:solidFill>
                <a:sym typeface="Wingdings" pitchFamily="2" charset="2"/>
              </a:rPr>
              <a:t>有一条长度为</a:t>
            </a:r>
            <a:r>
              <a:rPr lang="en-US" altLang="zh-CN" smtClean="0">
                <a:solidFill>
                  <a:schemeClr val="bg2"/>
                </a:solidFill>
                <a:sym typeface="Wingdings" pitchFamily="2" charset="2"/>
              </a:rPr>
              <a:t>2</a:t>
            </a:r>
            <a:r>
              <a:rPr lang="zh-CN" altLang="en-US" smtClean="0">
                <a:solidFill>
                  <a:schemeClr val="bg2"/>
                </a:solidFill>
                <a:sym typeface="Wingdings" pitchFamily="2" charset="2"/>
              </a:rPr>
              <a:t>的路。</a:t>
            </a:r>
          </a:p>
          <a:p>
            <a:pPr eaLnBrk="1" hangingPunct="1">
              <a:buClr>
                <a:schemeClr val="hlink"/>
              </a:buClr>
              <a:buSzTx/>
            </a:pPr>
            <a:r>
              <a:rPr kumimoji="1" lang="zh-CN" altLang="en-US" smtClean="0">
                <a:solidFill>
                  <a:srgbClr val="008000"/>
                </a:solidFill>
                <a:sym typeface="Wingdings" pitchFamily="2" charset="2"/>
              </a:rPr>
              <a:t>若不存在路</a:t>
            </a:r>
            <a:r>
              <a:rPr kumimoji="1" lang="en-US" altLang="zh-CN" smtClean="0">
                <a:solidFill>
                  <a:srgbClr val="008000"/>
                </a:solidFill>
                <a:sym typeface="Symbol" pitchFamily="18" charset="2"/>
              </a:rPr>
              <a:t>v</a:t>
            </a:r>
            <a:r>
              <a:rPr kumimoji="1" lang="en-US" altLang="zh-CN" baseline="-25000" smtClean="0">
                <a:solidFill>
                  <a:srgbClr val="008000"/>
                </a:solidFill>
                <a:sym typeface="Symbol" pitchFamily="18" charset="2"/>
              </a:rPr>
              <a:t>i</a:t>
            </a:r>
            <a:r>
              <a:rPr kumimoji="1" lang="en-US" altLang="zh-CN" smtClean="0">
                <a:solidFill>
                  <a:srgbClr val="008000"/>
                </a:solidFill>
                <a:sym typeface="Symbol" pitchFamily="18" charset="2"/>
              </a:rPr>
              <a:t> </a:t>
            </a:r>
            <a:r>
              <a:rPr kumimoji="1" lang="en-US" altLang="zh-CN" smtClean="0">
                <a:solidFill>
                  <a:srgbClr val="008000"/>
                </a:solidFill>
                <a:sym typeface="Wingdings" pitchFamily="2" charset="2"/>
              </a:rPr>
              <a:t>→v</a:t>
            </a:r>
            <a:r>
              <a:rPr kumimoji="1" lang="en-US" altLang="zh-CN" baseline="-25000" smtClean="0">
                <a:solidFill>
                  <a:srgbClr val="008000"/>
                </a:solidFill>
                <a:sym typeface="Wingdings" pitchFamily="2" charset="2"/>
              </a:rPr>
              <a:t>k</a:t>
            </a:r>
            <a:r>
              <a:rPr kumimoji="1" lang="en-US" altLang="zh-CN" smtClean="0">
                <a:solidFill>
                  <a:srgbClr val="008000"/>
                </a:solidFill>
                <a:sym typeface="Wingdings" pitchFamily="2" charset="2"/>
              </a:rPr>
              <a:t> →v</a:t>
            </a:r>
            <a:r>
              <a:rPr kumimoji="1" lang="en-US" altLang="zh-CN" baseline="-25000" smtClean="0">
                <a:solidFill>
                  <a:srgbClr val="008000"/>
                </a:solidFill>
                <a:sym typeface="Wingdings" pitchFamily="2" charset="2"/>
              </a:rPr>
              <a:t>j</a:t>
            </a:r>
            <a:r>
              <a:rPr lang="zh-CN" altLang="en-US" smtClean="0">
                <a:solidFill>
                  <a:schemeClr val="bg2"/>
                </a:solidFill>
                <a:sym typeface="Wingdings" pitchFamily="2" charset="2"/>
              </a:rPr>
              <a:t>，则矩阵中</a:t>
            </a:r>
            <a:r>
              <a:rPr lang="zh-CN" altLang="en-US" smtClean="0">
                <a:solidFill>
                  <a:schemeClr val="bg2"/>
                </a:solidFill>
                <a:sym typeface="Symbol" pitchFamily="18" charset="2"/>
              </a:rPr>
              <a:t>有</a:t>
            </a:r>
            <a:r>
              <a:rPr lang="en-US" altLang="zh-CN" smtClean="0">
                <a:solidFill>
                  <a:schemeClr val="bg2"/>
                </a:solidFill>
                <a:sym typeface="Symbol" pitchFamily="18" charset="2"/>
              </a:rPr>
              <a:t>a</a:t>
            </a:r>
            <a:r>
              <a:rPr lang="en-US" altLang="zh-CN" baseline="-25000" smtClean="0">
                <a:solidFill>
                  <a:schemeClr val="bg2"/>
                </a:solidFill>
                <a:sym typeface="Symbol" pitchFamily="18" charset="2"/>
              </a:rPr>
              <a:t>ik</a:t>
            </a:r>
            <a:r>
              <a:rPr lang="en-US" altLang="zh-CN" smtClean="0">
                <a:solidFill>
                  <a:schemeClr val="bg2"/>
                </a:solidFill>
                <a:sym typeface="Symbol" pitchFamily="18" charset="2"/>
              </a:rPr>
              <a:t>=0</a:t>
            </a:r>
            <a:r>
              <a:rPr lang="zh-CN" altLang="en-US" smtClean="0">
                <a:solidFill>
                  <a:schemeClr val="bg2"/>
                </a:solidFill>
                <a:sym typeface="Symbol" pitchFamily="18" charset="2"/>
              </a:rPr>
              <a:t>或</a:t>
            </a:r>
            <a:r>
              <a:rPr lang="en-US" altLang="zh-CN" smtClean="0">
                <a:solidFill>
                  <a:schemeClr val="bg2"/>
                </a:solidFill>
                <a:sym typeface="Symbol" pitchFamily="18" charset="2"/>
              </a:rPr>
              <a:t>a</a:t>
            </a:r>
            <a:r>
              <a:rPr lang="en-US" altLang="zh-CN" baseline="-25000" smtClean="0">
                <a:solidFill>
                  <a:schemeClr val="bg2"/>
                </a:solidFill>
                <a:sym typeface="Symbol" pitchFamily="18" charset="2"/>
              </a:rPr>
              <a:t>kj</a:t>
            </a:r>
            <a:r>
              <a:rPr lang="en-US" altLang="zh-CN" smtClean="0">
                <a:solidFill>
                  <a:schemeClr val="bg2"/>
                </a:solidFill>
                <a:sym typeface="Symbol" pitchFamily="18" charset="2"/>
              </a:rPr>
              <a:t>=0</a:t>
            </a:r>
            <a:r>
              <a:rPr lang="zh-CN" altLang="en-US" smtClean="0">
                <a:solidFill>
                  <a:schemeClr val="bg2"/>
                </a:solidFill>
                <a:sym typeface="Symbol" pitchFamily="18" charset="2"/>
              </a:rPr>
              <a:t>，即</a:t>
            </a:r>
            <a:r>
              <a:rPr lang="en-US" altLang="zh-CN" smtClean="0">
                <a:solidFill>
                  <a:srgbClr val="008000"/>
                </a:solidFill>
                <a:sym typeface="Symbol" pitchFamily="18" charset="2"/>
              </a:rPr>
              <a:t>a</a:t>
            </a:r>
            <a:r>
              <a:rPr lang="en-US" altLang="zh-CN" baseline="-25000" smtClean="0">
                <a:solidFill>
                  <a:srgbClr val="008000"/>
                </a:solidFill>
                <a:sym typeface="Symbol" pitchFamily="18" charset="2"/>
              </a:rPr>
              <a:t>ik</a:t>
            </a:r>
            <a:r>
              <a:rPr lang="en-US" altLang="zh-CN" smtClean="0">
                <a:solidFill>
                  <a:srgbClr val="008000"/>
                </a:solidFill>
                <a:cs typeface="Times New Roman" pitchFamily="18" charset="0"/>
                <a:sym typeface="Symbol" pitchFamily="18" charset="2"/>
              </a:rPr>
              <a:t>·</a:t>
            </a:r>
            <a:r>
              <a:rPr lang="en-US" altLang="zh-CN" smtClean="0">
                <a:solidFill>
                  <a:srgbClr val="008000"/>
                </a:solidFill>
                <a:sym typeface="Symbol" pitchFamily="18" charset="2"/>
              </a:rPr>
              <a:t>a</a:t>
            </a:r>
            <a:r>
              <a:rPr lang="en-US" altLang="zh-CN" baseline="-25000" smtClean="0">
                <a:solidFill>
                  <a:srgbClr val="008000"/>
                </a:solidFill>
                <a:sym typeface="Symbol" pitchFamily="18" charset="2"/>
              </a:rPr>
              <a:t>kj</a:t>
            </a:r>
            <a:r>
              <a:rPr lang="en-US" altLang="zh-CN" smtClean="0">
                <a:solidFill>
                  <a:srgbClr val="008000"/>
                </a:solidFill>
                <a:sym typeface="Symbol" pitchFamily="18" charset="2"/>
              </a:rPr>
              <a:t>=0</a:t>
            </a:r>
            <a:r>
              <a:rPr lang="zh-CN" altLang="en-US" smtClean="0">
                <a:solidFill>
                  <a:schemeClr val="bg2"/>
                </a:solidFill>
                <a:sym typeface="Symbol" pitchFamily="18" charset="2"/>
              </a:rPr>
              <a:t>。也即从</a:t>
            </a:r>
            <a:r>
              <a:rPr lang="en-US" altLang="zh-CN" smtClean="0">
                <a:solidFill>
                  <a:schemeClr val="bg2"/>
                </a:solidFill>
                <a:sym typeface="Symbol" pitchFamily="18" charset="2"/>
              </a:rPr>
              <a:t>v</a:t>
            </a:r>
            <a:r>
              <a:rPr lang="en-US" altLang="zh-CN" baseline="-25000" smtClean="0">
                <a:solidFill>
                  <a:schemeClr val="bg2"/>
                </a:solidFill>
                <a:sym typeface="Symbol" pitchFamily="18" charset="2"/>
              </a:rPr>
              <a:t>i</a:t>
            </a:r>
            <a:r>
              <a:rPr lang="zh-CN" altLang="en-US" smtClean="0">
                <a:solidFill>
                  <a:schemeClr val="bg2"/>
                </a:solidFill>
                <a:sym typeface="Symbol" pitchFamily="18" charset="2"/>
              </a:rPr>
              <a:t>到</a:t>
            </a:r>
            <a:r>
              <a:rPr lang="en-US" altLang="zh-CN" smtClean="0">
                <a:solidFill>
                  <a:schemeClr val="bg2"/>
                </a:solidFill>
                <a:sym typeface="Symbol" pitchFamily="18" charset="2"/>
              </a:rPr>
              <a:t>v</a:t>
            </a:r>
            <a:r>
              <a:rPr lang="en-US" altLang="zh-CN" baseline="-25000" smtClean="0">
                <a:solidFill>
                  <a:schemeClr val="bg2"/>
                </a:solidFill>
                <a:sym typeface="Symbol" pitchFamily="18" charset="2"/>
              </a:rPr>
              <a:t>j</a:t>
            </a:r>
            <a:r>
              <a:rPr lang="zh-CN" altLang="en-US" smtClean="0">
                <a:solidFill>
                  <a:schemeClr val="bg2"/>
                </a:solidFill>
                <a:sym typeface="Symbol" pitchFamily="18" charset="2"/>
              </a:rPr>
              <a:t>经过结点</a:t>
            </a:r>
            <a:r>
              <a:rPr lang="en-US" altLang="zh-CN" smtClean="0">
                <a:solidFill>
                  <a:schemeClr val="bg2"/>
                </a:solidFill>
                <a:sym typeface="Symbol" pitchFamily="18" charset="2"/>
              </a:rPr>
              <a:t>v</a:t>
            </a:r>
            <a:r>
              <a:rPr lang="en-US" altLang="zh-CN" baseline="-25000" smtClean="0">
                <a:solidFill>
                  <a:schemeClr val="bg2"/>
                </a:solidFill>
                <a:sym typeface="Symbol" pitchFamily="18" charset="2"/>
              </a:rPr>
              <a:t>k</a:t>
            </a:r>
            <a:r>
              <a:rPr lang="zh-CN" altLang="en-US" smtClean="0">
                <a:solidFill>
                  <a:schemeClr val="bg2"/>
                </a:solidFill>
                <a:sym typeface="Symbol" pitchFamily="18" charset="2"/>
              </a:rPr>
              <a:t>没有长度为</a:t>
            </a:r>
            <a:r>
              <a:rPr lang="en-US" altLang="zh-CN" smtClean="0">
                <a:solidFill>
                  <a:schemeClr val="bg2"/>
                </a:solidFill>
                <a:sym typeface="Symbol" pitchFamily="18" charset="2"/>
              </a:rPr>
              <a:t>2</a:t>
            </a:r>
            <a:r>
              <a:rPr lang="zh-CN" altLang="en-US" smtClean="0">
                <a:solidFill>
                  <a:schemeClr val="bg2"/>
                </a:solidFill>
                <a:sym typeface="Symbol" pitchFamily="18" charset="2"/>
              </a:rPr>
              <a:t>的路。</a:t>
            </a:r>
            <a:endParaRPr lang="zh-CN" altLang="en-US" baseline="-25000" smtClean="0">
              <a:solidFill>
                <a:schemeClr val="bg2"/>
              </a:solidFill>
              <a:sym typeface="Symbol" pitchFamily="18" charset="2"/>
            </a:endParaRPr>
          </a:p>
          <a:p>
            <a:pPr eaLnBrk="1" hangingPunct="1">
              <a:buClr>
                <a:schemeClr val="hlink"/>
              </a:buClr>
              <a:buSzTx/>
            </a:pPr>
            <a:r>
              <a:rPr lang="zh-CN" altLang="en-US" smtClean="0">
                <a:solidFill>
                  <a:schemeClr val="bg2"/>
                </a:solidFill>
                <a:sym typeface="Symbol" pitchFamily="18" charset="2"/>
              </a:rPr>
              <a:t>所以长度为</a:t>
            </a:r>
            <a:r>
              <a:rPr lang="en-US" altLang="zh-CN" smtClean="0">
                <a:solidFill>
                  <a:schemeClr val="bg2"/>
                </a:solidFill>
                <a:sym typeface="Symbol" pitchFamily="18" charset="2"/>
              </a:rPr>
              <a:t>2</a:t>
            </a:r>
            <a:r>
              <a:rPr lang="zh-CN" altLang="en-US" smtClean="0">
                <a:solidFill>
                  <a:schemeClr val="bg2"/>
                </a:solidFill>
                <a:sym typeface="Symbol" pitchFamily="18" charset="2"/>
              </a:rPr>
              <a:t>的路数</a:t>
            </a:r>
            <a:r>
              <a:rPr lang="en-US" altLang="zh-CN" smtClean="0">
                <a:solidFill>
                  <a:schemeClr val="bg2"/>
                </a:solidFill>
                <a:sym typeface="Symbol" pitchFamily="18" charset="2"/>
              </a:rPr>
              <a:t>a</a:t>
            </a:r>
            <a:r>
              <a:rPr lang="en-US" altLang="zh-CN" baseline="-25000" smtClean="0">
                <a:solidFill>
                  <a:schemeClr val="bg2"/>
                </a:solidFill>
                <a:sym typeface="Symbol" pitchFamily="18" charset="2"/>
              </a:rPr>
              <a:t>i1</a:t>
            </a:r>
            <a:r>
              <a:rPr lang="en-US" altLang="zh-CN" smtClean="0">
                <a:solidFill>
                  <a:schemeClr val="bg2"/>
                </a:solidFill>
                <a:cs typeface="Times New Roman" pitchFamily="18" charset="0"/>
                <a:sym typeface="Symbol" pitchFamily="18" charset="2"/>
              </a:rPr>
              <a:t>·</a:t>
            </a:r>
            <a:r>
              <a:rPr lang="en-US" altLang="zh-CN" smtClean="0">
                <a:solidFill>
                  <a:schemeClr val="bg2"/>
                </a:solidFill>
                <a:sym typeface="Symbol" pitchFamily="18" charset="2"/>
              </a:rPr>
              <a:t>a</a:t>
            </a:r>
            <a:r>
              <a:rPr lang="en-US" altLang="zh-CN" baseline="-25000" smtClean="0">
                <a:solidFill>
                  <a:schemeClr val="bg2"/>
                </a:solidFill>
                <a:sym typeface="Symbol" pitchFamily="18" charset="2"/>
              </a:rPr>
              <a:t>1j</a:t>
            </a:r>
            <a:r>
              <a:rPr lang="en-US" altLang="zh-CN" smtClean="0">
                <a:solidFill>
                  <a:schemeClr val="bg2"/>
                </a:solidFill>
                <a:sym typeface="Symbol" pitchFamily="18" charset="2"/>
              </a:rPr>
              <a:t> +a</a:t>
            </a:r>
            <a:r>
              <a:rPr lang="en-US" altLang="zh-CN" baseline="-25000" smtClean="0">
                <a:solidFill>
                  <a:schemeClr val="bg2"/>
                </a:solidFill>
                <a:sym typeface="Symbol" pitchFamily="18" charset="2"/>
              </a:rPr>
              <a:t>i2</a:t>
            </a:r>
            <a:r>
              <a:rPr lang="en-US" altLang="zh-CN" smtClean="0">
                <a:solidFill>
                  <a:schemeClr val="bg2"/>
                </a:solidFill>
                <a:cs typeface="Times New Roman" pitchFamily="18" charset="0"/>
                <a:sym typeface="Symbol" pitchFamily="18" charset="2"/>
              </a:rPr>
              <a:t>·</a:t>
            </a:r>
            <a:r>
              <a:rPr lang="en-US" altLang="zh-CN" smtClean="0">
                <a:solidFill>
                  <a:schemeClr val="bg2"/>
                </a:solidFill>
                <a:sym typeface="Symbol" pitchFamily="18" charset="2"/>
              </a:rPr>
              <a:t>a</a:t>
            </a:r>
            <a:r>
              <a:rPr lang="en-US" altLang="zh-CN" baseline="-25000" smtClean="0">
                <a:solidFill>
                  <a:schemeClr val="bg2"/>
                </a:solidFill>
                <a:sym typeface="Symbol" pitchFamily="18" charset="2"/>
              </a:rPr>
              <a:t>2j</a:t>
            </a:r>
            <a:r>
              <a:rPr lang="en-US" altLang="zh-CN" smtClean="0">
                <a:solidFill>
                  <a:schemeClr val="bg2"/>
                </a:solidFill>
                <a:sym typeface="Symbol" pitchFamily="18" charset="2"/>
              </a:rPr>
              <a:t> +…+a</a:t>
            </a:r>
            <a:r>
              <a:rPr lang="en-US" altLang="zh-CN" baseline="-25000" smtClean="0">
                <a:solidFill>
                  <a:schemeClr val="bg2"/>
                </a:solidFill>
                <a:sym typeface="Symbol" pitchFamily="18" charset="2"/>
              </a:rPr>
              <a:t>in</a:t>
            </a:r>
            <a:r>
              <a:rPr lang="en-US" altLang="zh-CN" smtClean="0">
                <a:solidFill>
                  <a:schemeClr val="bg2"/>
                </a:solidFill>
                <a:cs typeface="Times New Roman" pitchFamily="18" charset="0"/>
                <a:sym typeface="Symbol" pitchFamily="18" charset="2"/>
              </a:rPr>
              <a:t>·</a:t>
            </a:r>
            <a:r>
              <a:rPr lang="en-US" altLang="zh-CN" smtClean="0">
                <a:solidFill>
                  <a:schemeClr val="bg2"/>
                </a:solidFill>
                <a:sym typeface="Symbol" pitchFamily="18" charset="2"/>
              </a:rPr>
              <a:t>a</a:t>
            </a:r>
            <a:r>
              <a:rPr lang="en-US" altLang="zh-CN" baseline="-25000" smtClean="0">
                <a:solidFill>
                  <a:schemeClr val="bg2"/>
                </a:solidFill>
                <a:sym typeface="Symbol" pitchFamily="18" charset="2"/>
              </a:rPr>
              <a:t>nj</a:t>
            </a:r>
            <a:r>
              <a:rPr lang="en-US" altLang="zh-CN" smtClean="0">
                <a:solidFill>
                  <a:schemeClr val="bg2"/>
                </a:solidFill>
                <a:sym typeface="Symbol" pitchFamily="18" charset="2"/>
              </a:rPr>
              <a:t>=a</a:t>
            </a:r>
            <a:r>
              <a:rPr lang="en-US" altLang="zh-CN" baseline="30000" smtClean="0">
                <a:solidFill>
                  <a:schemeClr val="bg2"/>
                </a:solidFill>
                <a:sym typeface="Symbol" pitchFamily="18" charset="2"/>
              </a:rPr>
              <a:t>(2)</a:t>
            </a:r>
            <a:r>
              <a:rPr lang="en-US" altLang="zh-CN" baseline="-25000" smtClean="0">
                <a:solidFill>
                  <a:schemeClr val="bg2"/>
                </a:solidFill>
                <a:sym typeface="Symbol" pitchFamily="18" charset="2"/>
              </a:rPr>
              <a:t>ij</a:t>
            </a:r>
          </a:p>
          <a:p>
            <a:pPr eaLnBrk="1" hangingPunct="1">
              <a:buClr>
                <a:schemeClr val="hlink"/>
              </a:buClr>
              <a:buSzTx/>
            </a:pPr>
            <a:r>
              <a:rPr kumimoji="1" lang="en-US" altLang="zh-CN" smtClean="0">
                <a:solidFill>
                  <a:srgbClr val="993300"/>
                </a:solidFill>
              </a:rPr>
              <a:t>(3)</a:t>
            </a:r>
            <a:r>
              <a:rPr kumimoji="1" lang="zh-CN" altLang="en-US" smtClean="0">
                <a:solidFill>
                  <a:srgbClr val="993300"/>
                </a:solidFill>
              </a:rPr>
              <a:t>猜想</a:t>
            </a:r>
            <a:r>
              <a:rPr lang="zh-CN" altLang="en-US" smtClean="0">
                <a:solidFill>
                  <a:srgbClr val="993300"/>
                </a:solidFill>
                <a:sym typeface="Symbol" pitchFamily="18" charset="2"/>
              </a:rPr>
              <a:t>从</a:t>
            </a:r>
            <a:r>
              <a:rPr lang="en-US" altLang="zh-CN" smtClean="0">
                <a:solidFill>
                  <a:srgbClr val="993300"/>
                </a:solidFill>
                <a:sym typeface="Symbol" pitchFamily="18" charset="2"/>
              </a:rPr>
              <a:t>v</a:t>
            </a:r>
            <a:r>
              <a:rPr lang="en-US" altLang="zh-CN" baseline="-25000" smtClean="0">
                <a:solidFill>
                  <a:srgbClr val="993300"/>
                </a:solidFill>
                <a:sym typeface="Symbol" pitchFamily="18" charset="2"/>
              </a:rPr>
              <a:t>i</a:t>
            </a:r>
            <a:r>
              <a:rPr lang="zh-CN" altLang="en-US" smtClean="0">
                <a:solidFill>
                  <a:srgbClr val="993300"/>
                </a:solidFill>
                <a:sym typeface="Symbol" pitchFamily="18" charset="2"/>
              </a:rPr>
              <a:t>到</a:t>
            </a:r>
            <a:r>
              <a:rPr lang="en-US" altLang="zh-CN" smtClean="0">
                <a:solidFill>
                  <a:srgbClr val="993300"/>
                </a:solidFill>
                <a:sym typeface="Symbol" pitchFamily="18" charset="2"/>
              </a:rPr>
              <a:t>v</a:t>
            </a:r>
            <a:r>
              <a:rPr lang="en-US" altLang="zh-CN" baseline="-25000" smtClean="0">
                <a:solidFill>
                  <a:srgbClr val="993300"/>
                </a:solidFill>
                <a:sym typeface="Symbol" pitchFamily="18" charset="2"/>
              </a:rPr>
              <a:t>j</a:t>
            </a:r>
            <a:r>
              <a:rPr lang="zh-CN" altLang="en-US" smtClean="0">
                <a:solidFill>
                  <a:srgbClr val="993300"/>
                </a:solidFill>
                <a:sym typeface="Symbol" pitchFamily="18" charset="2"/>
              </a:rPr>
              <a:t>的长度为</a:t>
            </a:r>
            <a:r>
              <a:rPr lang="en-US" altLang="zh-CN" smtClean="0">
                <a:solidFill>
                  <a:srgbClr val="993300"/>
                </a:solidFill>
                <a:sym typeface="Symbol" pitchFamily="18" charset="2"/>
              </a:rPr>
              <a:t>m</a:t>
            </a:r>
            <a:r>
              <a:rPr lang="zh-CN" altLang="en-US" smtClean="0">
                <a:solidFill>
                  <a:srgbClr val="993300"/>
                </a:solidFill>
                <a:sym typeface="Symbol" pitchFamily="18" charset="2"/>
              </a:rPr>
              <a:t>的路的数目可由</a:t>
            </a:r>
            <a:r>
              <a:rPr lang="en-US" altLang="zh-CN" smtClean="0">
                <a:solidFill>
                  <a:srgbClr val="993300"/>
                </a:solidFill>
                <a:sym typeface="Symbol" pitchFamily="18" charset="2"/>
              </a:rPr>
              <a:t>a</a:t>
            </a:r>
            <a:r>
              <a:rPr lang="en-US" altLang="zh-CN" baseline="30000" smtClean="0">
                <a:solidFill>
                  <a:srgbClr val="993300"/>
                </a:solidFill>
                <a:sym typeface="Symbol" pitchFamily="18" charset="2"/>
              </a:rPr>
              <a:t>(m)</a:t>
            </a:r>
            <a:r>
              <a:rPr lang="en-US" altLang="zh-CN" baseline="-25000" smtClean="0">
                <a:solidFill>
                  <a:srgbClr val="993300"/>
                </a:solidFill>
                <a:sym typeface="Symbol" pitchFamily="18" charset="2"/>
              </a:rPr>
              <a:t>ij</a:t>
            </a:r>
            <a:r>
              <a:rPr lang="zh-CN" altLang="en-US" smtClean="0">
                <a:solidFill>
                  <a:srgbClr val="993300"/>
                </a:solidFill>
                <a:sym typeface="Symbol" pitchFamily="18" charset="2"/>
              </a:rPr>
              <a:t>表示。</a:t>
            </a:r>
          </a:p>
        </p:txBody>
      </p:sp>
      <p:sp>
        <p:nvSpPr>
          <p:cNvPr id="46084" name="Rectangle 2"/>
          <p:cNvSpPr>
            <a:spLocks noGrp="1" noChangeArrowheads="1"/>
          </p:cNvSpPr>
          <p:nvPr>
            <p:ph type="title"/>
          </p:nvPr>
        </p:nvSpPr>
        <p:spPr>
          <a:xfrm>
            <a:off x="1079500" y="423863"/>
            <a:ext cx="7237413" cy="519112"/>
          </a:xfrm>
        </p:spPr>
        <p:txBody>
          <a:bodyPr/>
          <a:lstStyle/>
          <a:p>
            <a:pPr algn="l" eaLnBrk="1" hangingPunct="1"/>
            <a:r>
              <a:rPr kumimoji="1" lang="en-US" altLang="zh-CN" sz="2800" smtClean="0">
                <a:solidFill>
                  <a:srgbClr val="993300"/>
                </a:solidFill>
                <a:latin typeface="楷体_GB2312" pitchFamily="49" charset="-122"/>
              </a:rPr>
              <a:t>3</a:t>
            </a:r>
            <a:r>
              <a:rPr kumimoji="1" lang="zh-CN" altLang="en-US" sz="2800" smtClean="0">
                <a:solidFill>
                  <a:srgbClr val="993300"/>
                </a:solidFill>
                <a:latin typeface="楷体_GB2312" pitchFamily="49" charset="-122"/>
              </a:rPr>
              <a:t>、可达性矩阵</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6739">
                                            <p:txEl>
                                              <p:pRg st="1" end="1"/>
                                            </p:txEl>
                                          </p:spTgt>
                                        </p:tgtEl>
                                        <p:attrNameLst>
                                          <p:attrName>style.visibility</p:attrName>
                                        </p:attrNameLst>
                                      </p:cBhvr>
                                      <p:to>
                                        <p:strVal val="visible"/>
                                      </p:to>
                                    </p:set>
                                    <p:anim calcmode="lin" valueType="num">
                                      <p:cBhvr additive="base">
                                        <p:cTn id="7" dur="500" fill="hold"/>
                                        <p:tgtEl>
                                          <p:spTgt spid="11673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673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6739">
                                            <p:txEl>
                                              <p:pRg st="2" end="2"/>
                                            </p:txEl>
                                          </p:spTgt>
                                        </p:tgtEl>
                                        <p:attrNameLst>
                                          <p:attrName>style.visibility</p:attrName>
                                        </p:attrNameLst>
                                      </p:cBhvr>
                                      <p:to>
                                        <p:strVal val="visible"/>
                                      </p:to>
                                    </p:set>
                                    <p:anim calcmode="lin" valueType="num">
                                      <p:cBhvr additive="base">
                                        <p:cTn id="13" dur="500" fill="hold"/>
                                        <p:tgtEl>
                                          <p:spTgt spid="11673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673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6739">
                                            <p:txEl>
                                              <p:pRg st="3" end="3"/>
                                            </p:txEl>
                                          </p:spTgt>
                                        </p:tgtEl>
                                        <p:attrNameLst>
                                          <p:attrName>style.visibility</p:attrName>
                                        </p:attrNameLst>
                                      </p:cBhvr>
                                      <p:to>
                                        <p:strVal val="visible"/>
                                      </p:to>
                                    </p:set>
                                    <p:anim calcmode="lin" valueType="num">
                                      <p:cBhvr additive="base">
                                        <p:cTn id="19" dur="500" fill="hold"/>
                                        <p:tgtEl>
                                          <p:spTgt spid="11673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673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6739">
                                            <p:txEl>
                                              <p:pRg st="4" end="4"/>
                                            </p:txEl>
                                          </p:spTgt>
                                        </p:tgtEl>
                                        <p:attrNameLst>
                                          <p:attrName>style.visibility</p:attrName>
                                        </p:attrNameLst>
                                      </p:cBhvr>
                                      <p:to>
                                        <p:strVal val="visible"/>
                                      </p:to>
                                    </p:set>
                                    <p:anim calcmode="lin" valueType="num">
                                      <p:cBhvr additive="base">
                                        <p:cTn id="25" dur="500" fill="hold"/>
                                        <p:tgtEl>
                                          <p:spTgt spid="11673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673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16739">
                                            <p:txEl>
                                              <p:pRg st="5" end="5"/>
                                            </p:txEl>
                                          </p:spTgt>
                                        </p:tgtEl>
                                        <p:attrNameLst>
                                          <p:attrName>style.visibility</p:attrName>
                                        </p:attrNameLst>
                                      </p:cBhvr>
                                      <p:to>
                                        <p:strVal val="visible"/>
                                      </p:to>
                                    </p:set>
                                    <p:anim calcmode="lin" valueType="num">
                                      <p:cBhvr additive="base">
                                        <p:cTn id="31" dur="500" fill="hold"/>
                                        <p:tgtEl>
                                          <p:spTgt spid="116739">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673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16739">
                                            <p:txEl>
                                              <p:pRg st="6" end="6"/>
                                            </p:txEl>
                                          </p:spTgt>
                                        </p:tgtEl>
                                        <p:attrNameLst>
                                          <p:attrName>style.visibility</p:attrName>
                                        </p:attrNameLst>
                                      </p:cBhvr>
                                      <p:to>
                                        <p:strVal val="visible"/>
                                      </p:to>
                                    </p:set>
                                    <p:anim calcmode="lin" valueType="num">
                                      <p:cBhvr additive="base">
                                        <p:cTn id="37" dur="500" fill="hold"/>
                                        <p:tgtEl>
                                          <p:spTgt spid="116739">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1673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16739">
                                            <p:txEl>
                                              <p:pRg st="7" end="7"/>
                                            </p:txEl>
                                          </p:spTgt>
                                        </p:tgtEl>
                                        <p:attrNameLst>
                                          <p:attrName>style.visibility</p:attrName>
                                        </p:attrNameLst>
                                      </p:cBhvr>
                                      <p:to>
                                        <p:strVal val="visible"/>
                                      </p:to>
                                    </p:set>
                                    <p:anim calcmode="lin" valueType="num">
                                      <p:cBhvr additive="base">
                                        <p:cTn id="43" dur="500" fill="hold"/>
                                        <p:tgtEl>
                                          <p:spTgt spid="116739">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1673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pPr>
              <a:defRPr/>
            </a:pPr>
            <a:fld id="{77BBF73E-871B-4FBA-8CD3-55019751E4D1}" type="slidenum">
              <a:rPr lang="en-US" altLang="zh-CN"/>
              <a:pPr>
                <a:defRPr/>
              </a:pPr>
              <a:t>42</a:t>
            </a:fld>
            <a:endParaRPr lang="en-US" altLang="zh-CN"/>
          </a:p>
        </p:txBody>
      </p:sp>
      <p:sp>
        <p:nvSpPr>
          <p:cNvPr id="32770" name="Text Box 2"/>
          <p:cNvSpPr txBox="1">
            <a:spLocks noChangeArrowheads="1"/>
          </p:cNvSpPr>
          <p:nvPr/>
        </p:nvSpPr>
        <p:spPr bwMode="auto">
          <a:xfrm>
            <a:off x="466725" y="1025525"/>
            <a:ext cx="8277225" cy="531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None/>
            </a:pPr>
            <a:r>
              <a:rPr lang="en-US" altLang="zh-CN" b="1">
                <a:solidFill>
                  <a:srgbClr val="993300"/>
                </a:solidFill>
                <a:latin typeface="Times New Roman" pitchFamily="18" charset="0"/>
              </a:rPr>
              <a:t>(4)</a:t>
            </a:r>
            <a:r>
              <a:rPr lang="zh-CN" altLang="en-US" b="1">
                <a:solidFill>
                  <a:srgbClr val="993300"/>
                </a:solidFill>
                <a:latin typeface="Times New Roman" pitchFamily="18" charset="0"/>
              </a:rPr>
              <a:t>那么</a:t>
            </a:r>
            <a:r>
              <a:rPr lang="zh-CN" altLang="en-US" b="1">
                <a:solidFill>
                  <a:srgbClr val="993300"/>
                </a:solidFill>
                <a:latin typeface="Times New Roman" pitchFamily="18" charset="0"/>
                <a:sym typeface="Symbol" pitchFamily="18" charset="2"/>
              </a:rPr>
              <a:t>从</a:t>
            </a:r>
            <a:r>
              <a:rPr lang="en-US" altLang="zh-CN" b="1">
                <a:solidFill>
                  <a:srgbClr val="993300"/>
                </a:solidFill>
                <a:latin typeface="Times New Roman" pitchFamily="18" charset="0"/>
                <a:sym typeface="Symbol" pitchFamily="18" charset="2"/>
              </a:rPr>
              <a:t>v</a:t>
            </a:r>
            <a:r>
              <a:rPr lang="en-US" altLang="zh-CN" b="1" baseline="-25000">
                <a:solidFill>
                  <a:srgbClr val="993300"/>
                </a:solidFill>
                <a:latin typeface="Times New Roman" pitchFamily="18" charset="0"/>
                <a:sym typeface="Symbol" pitchFamily="18" charset="2"/>
              </a:rPr>
              <a:t>i</a:t>
            </a:r>
            <a:r>
              <a:rPr lang="zh-CN" altLang="en-US" b="1">
                <a:solidFill>
                  <a:srgbClr val="993300"/>
                </a:solidFill>
                <a:latin typeface="Times New Roman" pitchFamily="18" charset="0"/>
                <a:sym typeface="Symbol" pitchFamily="18" charset="2"/>
              </a:rPr>
              <a:t>到</a:t>
            </a:r>
            <a:r>
              <a:rPr lang="en-US" altLang="zh-CN" b="1">
                <a:solidFill>
                  <a:srgbClr val="993300"/>
                </a:solidFill>
                <a:latin typeface="Times New Roman" pitchFamily="18" charset="0"/>
                <a:sym typeface="Symbol" pitchFamily="18" charset="2"/>
              </a:rPr>
              <a:t>v</a:t>
            </a:r>
            <a:r>
              <a:rPr lang="en-US" altLang="zh-CN" b="1" baseline="-25000">
                <a:solidFill>
                  <a:srgbClr val="993300"/>
                </a:solidFill>
                <a:latin typeface="Times New Roman" pitchFamily="18" charset="0"/>
                <a:sym typeface="Symbol" pitchFamily="18" charset="2"/>
              </a:rPr>
              <a:t>j</a:t>
            </a:r>
            <a:r>
              <a:rPr lang="zh-CN" altLang="en-US" b="1">
                <a:solidFill>
                  <a:srgbClr val="993300"/>
                </a:solidFill>
                <a:latin typeface="Times New Roman" pitchFamily="18" charset="0"/>
                <a:sym typeface="Symbol" pitchFamily="18" charset="2"/>
              </a:rPr>
              <a:t>的长度为</a:t>
            </a:r>
            <a:r>
              <a:rPr lang="en-US" altLang="zh-CN" b="1">
                <a:solidFill>
                  <a:srgbClr val="993300"/>
                </a:solidFill>
                <a:latin typeface="Times New Roman" pitchFamily="18" charset="0"/>
                <a:sym typeface="Symbol" pitchFamily="18" charset="2"/>
              </a:rPr>
              <a:t>m+1</a:t>
            </a:r>
            <a:r>
              <a:rPr lang="zh-CN" altLang="en-US" b="1">
                <a:solidFill>
                  <a:srgbClr val="993300"/>
                </a:solidFill>
                <a:latin typeface="Times New Roman" pitchFamily="18" charset="0"/>
                <a:sym typeface="Symbol" pitchFamily="18" charset="2"/>
              </a:rPr>
              <a:t>的路的数目应该由</a:t>
            </a:r>
            <a:r>
              <a:rPr lang="en-US" altLang="zh-CN" b="1">
                <a:solidFill>
                  <a:srgbClr val="993300"/>
                </a:solidFill>
                <a:latin typeface="Times New Roman" pitchFamily="18" charset="0"/>
                <a:sym typeface="Symbol" pitchFamily="18" charset="2"/>
              </a:rPr>
              <a:t>a</a:t>
            </a:r>
            <a:r>
              <a:rPr lang="en-US" altLang="zh-CN" b="1" baseline="30000">
                <a:solidFill>
                  <a:srgbClr val="993300"/>
                </a:solidFill>
                <a:latin typeface="Times New Roman" pitchFamily="18" charset="0"/>
                <a:sym typeface="Symbol" pitchFamily="18" charset="2"/>
              </a:rPr>
              <a:t>(m+1)</a:t>
            </a:r>
            <a:r>
              <a:rPr lang="en-US" altLang="zh-CN" b="1" baseline="-25000">
                <a:solidFill>
                  <a:srgbClr val="993300"/>
                </a:solidFill>
                <a:latin typeface="Times New Roman" pitchFamily="18" charset="0"/>
                <a:sym typeface="Symbol" pitchFamily="18" charset="2"/>
              </a:rPr>
              <a:t>ij</a:t>
            </a:r>
            <a:r>
              <a:rPr lang="zh-CN" altLang="en-US" b="1">
                <a:solidFill>
                  <a:srgbClr val="993300"/>
                </a:solidFill>
                <a:latin typeface="Times New Roman" pitchFamily="18" charset="0"/>
                <a:sym typeface="Symbol" pitchFamily="18" charset="2"/>
              </a:rPr>
              <a:t>表示。</a:t>
            </a:r>
            <a:endParaRPr lang="zh-CN" altLang="en-US" b="1">
              <a:solidFill>
                <a:schemeClr val="bg2"/>
              </a:solidFill>
              <a:latin typeface="Times New Roman" pitchFamily="18" charset="0"/>
            </a:endParaRPr>
          </a:p>
          <a:p>
            <a:pPr eaLnBrk="1" hangingPunct="1">
              <a:lnSpc>
                <a:spcPct val="130000"/>
              </a:lnSpc>
              <a:buClr>
                <a:schemeClr val="hlink"/>
              </a:buClr>
              <a:buFont typeface="Wingdings" pitchFamily="2" charset="2"/>
              <a:buNone/>
            </a:pPr>
            <a:r>
              <a:rPr lang="zh-CN" altLang="en-US" b="1">
                <a:solidFill>
                  <a:schemeClr val="bg2"/>
                </a:solidFill>
                <a:latin typeface="Times New Roman" pitchFamily="18" charset="0"/>
              </a:rPr>
              <a:t>        从</a:t>
            </a:r>
            <a:r>
              <a:rPr lang="en-US" altLang="zh-CN" b="1">
                <a:solidFill>
                  <a:schemeClr val="bg2"/>
                </a:solidFill>
                <a:latin typeface="Times New Roman" pitchFamily="18" charset="0"/>
              </a:rPr>
              <a:t>v</a:t>
            </a:r>
            <a:r>
              <a:rPr lang="en-US" altLang="zh-CN" b="1" baseline="-25000">
                <a:solidFill>
                  <a:schemeClr val="bg2"/>
                </a:solidFill>
                <a:latin typeface="Times New Roman" pitchFamily="18" charset="0"/>
              </a:rPr>
              <a:t>i</a:t>
            </a:r>
            <a:r>
              <a:rPr lang="zh-CN" altLang="en-US" b="1">
                <a:solidFill>
                  <a:schemeClr val="bg2"/>
                </a:solidFill>
                <a:latin typeface="Times New Roman" pitchFamily="18" charset="0"/>
              </a:rPr>
              <a:t>到</a:t>
            </a:r>
            <a:r>
              <a:rPr lang="en-US" altLang="zh-CN" b="1">
                <a:solidFill>
                  <a:schemeClr val="bg2"/>
                </a:solidFill>
                <a:latin typeface="Times New Roman" pitchFamily="18" charset="0"/>
              </a:rPr>
              <a:t>v</a:t>
            </a:r>
            <a:r>
              <a:rPr lang="en-US" altLang="zh-CN" b="1" baseline="-25000">
                <a:solidFill>
                  <a:schemeClr val="bg2"/>
                </a:solidFill>
                <a:latin typeface="Times New Roman" pitchFamily="18" charset="0"/>
              </a:rPr>
              <a:t>j</a:t>
            </a:r>
            <a:r>
              <a:rPr lang="zh-CN" altLang="en-US" b="1">
                <a:solidFill>
                  <a:schemeClr val="bg2"/>
                </a:solidFill>
                <a:latin typeface="Times New Roman" pitchFamily="18" charset="0"/>
              </a:rPr>
              <a:t>的长度为</a:t>
            </a:r>
            <a:r>
              <a:rPr lang="en-US" altLang="zh-CN" b="1">
                <a:solidFill>
                  <a:schemeClr val="bg2"/>
                </a:solidFill>
                <a:latin typeface="Times New Roman" pitchFamily="18" charset="0"/>
              </a:rPr>
              <a:t>m+1</a:t>
            </a:r>
            <a:r>
              <a:rPr lang="zh-CN" altLang="en-US" b="1">
                <a:solidFill>
                  <a:schemeClr val="bg2"/>
                </a:solidFill>
                <a:latin typeface="Times New Roman" pitchFamily="18" charset="0"/>
              </a:rPr>
              <a:t>的路可看成是从</a:t>
            </a:r>
            <a:r>
              <a:rPr lang="en-US" altLang="zh-CN" b="1">
                <a:solidFill>
                  <a:schemeClr val="bg2"/>
                </a:solidFill>
                <a:latin typeface="Times New Roman" pitchFamily="18" charset="0"/>
              </a:rPr>
              <a:t>v</a:t>
            </a:r>
            <a:r>
              <a:rPr lang="en-US" altLang="zh-CN" b="1" baseline="-25000">
                <a:solidFill>
                  <a:schemeClr val="bg2"/>
                </a:solidFill>
                <a:latin typeface="Times New Roman" pitchFamily="18" charset="0"/>
              </a:rPr>
              <a:t>i</a:t>
            </a:r>
            <a:r>
              <a:rPr lang="zh-CN" altLang="en-US" b="1">
                <a:solidFill>
                  <a:schemeClr val="bg2"/>
                </a:solidFill>
                <a:latin typeface="Times New Roman" pitchFamily="18" charset="0"/>
              </a:rPr>
              <a:t>到</a:t>
            </a:r>
            <a:r>
              <a:rPr lang="en-US" altLang="zh-CN" b="1">
                <a:solidFill>
                  <a:schemeClr val="bg2"/>
                </a:solidFill>
                <a:latin typeface="Times New Roman" pitchFamily="18" charset="0"/>
              </a:rPr>
              <a:t>v</a:t>
            </a:r>
            <a:r>
              <a:rPr lang="en-US" altLang="zh-CN" b="1" baseline="-25000">
                <a:solidFill>
                  <a:schemeClr val="bg2"/>
                </a:solidFill>
                <a:latin typeface="Times New Roman" pitchFamily="18" charset="0"/>
              </a:rPr>
              <a:t>k</a:t>
            </a:r>
            <a:r>
              <a:rPr lang="zh-CN" altLang="en-US" b="1">
                <a:solidFill>
                  <a:schemeClr val="bg2"/>
                </a:solidFill>
                <a:latin typeface="Times New Roman" pitchFamily="18" charset="0"/>
              </a:rPr>
              <a:t>的一条边再联结</a:t>
            </a:r>
            <a:r>
              <a:rPr lang="en-US" altLang="zh-CN" b="1">
                <a:solidFill>
                  <a:schemeClr val="bg2"/>
                </a:solidFill>
                <a:latin typeface="Times New Roman" pitchFamily="18" charset="0"/>
              </a:rPr>
              <a:t>v</a:t>
            </a:r>
            <a:r>
              <a:rPr lang="en-US" altLang="zh-CN" b="1" baseline="-25000">
                <a:solidFill>
                  <a:schemeClr val="bg2"/>
                </a:solidFill>
                <a:latin typeface="Times New Roman" pitchFamily="18" charset="0"/>
              </a:rPr>
              <a:t>k</a:t>
            </a:r>
            <a:r>
              <a:rPr lang="zh-CN" altLang="en-US" b="1">
                <a:solidFill>
                  <a:schemeClr val="bg2"/>
                </a:solidFill>
                <a:latin typeface="Times New Roman" pitchFamily="18" charset="0"/>
              </a:rPr>
              <a:t>到</a:t>
            </a:r>
            <a:r>
              <a:rPr lang="en-US" altLang="zh-CN" b="1">
                <a:solidFill>
                  <a:schemeClr val="bg2"/>
                </a:solidFill>
                <a:latin typeface="Times New Roman" pitchFamily="18" charset="0"/>
              </a:rPr>
              <a:t>v</a:t>
            </a:r>
            <a:r>
              <a:rPr lang="en-US" altLang="zh-CN" b="1" baseline="-25000">
                <a:solidFill>
                  <a:schemeClr val="bg2"/>
                </a:solidFill>
                <a:latin typeface="Times New Roman" pitchFamily="18" charset="0"/>
              </a:rPr>
              <a:t>j</a:t>
            </a:r>
            <a:r>
              <a:rPr lang="zh-CN" altLang="en-US" b="1">
                <a:solidFill>
                  <a:schemeClr val="bg2"/>
                </a:solidFill>
                <a:latin typeface="Times New Roman" pitchFamily="18" charset="0"/>
              </a:rPr>
              <a:t>的长度为</a:t>
            </a:r>
            <a:r>
              <a:rPr lang="en-US" altLang="zh-CN" b="1">
                <a:solidFill>
                  <a:schemeClr val="bg2"/>
                </a:solidFill>
                <a:latin typeface="Times New Roman" pitchFamily="18" charset="0"/>
              </a:rPr>
              <a:t>m</a:t>
            </a:r>
            <a:r>
              <a:rPr lang="zh-CN" altLang="en-US" b="1">
                <a:solidFill>
                  <a:schemeClr val="bg2"/>
                </a:solidFill>
                <a:latin typeface="Times New Roman" pitchFamily="18" charset="0"/>
              </a:rPr>
              <a:t>的路。</a:t>
            </a:r>
          </a:p>
          <a:p>
            <a:pPr eaLnBrk="1" hangingPunct="1">
              <a:lnSpc>
                <a:spcPct val="130000"/>
              </a:lnSpc>
              <a:buClr>
                <a:schemeClr val="hlink"/>
              </a:buClr>
              <a:buFont typeface="Wingdings" pitchFamily="2" charset="2"/>
              <a:buNone/>
            </a:pPr>
            <a:r>
              <a:rPr kumimoji="1" lang="zh-CN" altLang="en-US" b="1">
                <a:solidFill>
                  <a:srgbClr val="008000"/>
                </a:solidFill>
                <a:latin typeface="Times New Roman" pitchFamily="18" charset="0"/>
                <a:sym typeface="Symbol" pitchFamily="18" charset="2"/>
              </a:rPr>
              <a:t>        若有路</a:t>
            </a:r>
            <a:r>
              <a:rPr kumimoji="1" lang="en-US" altLang="zh-CN" b="1">
                <a:solidFill>
                  <a:srgbClr val="008000"/>
                </a:solidFill>
                <a:latin typeface="Times New Roman" pitchFamily="18" charset="0"/>
                <a:sym typeface="Symbol" pitchFamily="18" charset="2"/>
              </a:rPr>
              <a:t>v</a:t>
            </a:r>
            <a:r>
              <a:rPr kumimoji="1" lang="en-US" altLang="zh-CN" b="1" baseline="-25000">
                <a:solidFill>
                  <a:srgbClr val="008000"/>
                </a:solidFill>
                <a:latin typeface="Times New Roman" pitchFamily="18" charset="0"/>
                <a:sym typeface="Symbol" pitchFamily="18" charset="2"/>
              </a:rPr>
              <a:t>i</a:t>
            </a:r>
            <a:r>
              <a:rPr kumimoji="1" lang="en-US" altLang="zh-CN" b="1">
                <a:solidFill>
                  <a:srgbClr val="008000"/>
                </a:solidFill>
                <a:latin typeface="Times New Roman" pitchFamily="18" charset="0"/>
                <a:sym typeface="Symbol" pitchFamily="18" charset="2"/>
              </a:rPr>
              <a:t> </a:t>
            </a:r>
            <a:r>
              <a:rPr kumimoji="1" lang="en-US" altLang="zh-CN" b="1">
                <a:solidFill>
                  <a:srgbClr val="008000"/>
                </a:solidFill>
                <a:latin typeface="Times New Roman" pitchFamily="18" charset="0"/>
                <a:sym typeface="Wingdings" pitchFamily="2" charset="2"/>
              </a:rPr>
              <a:t>→v</a:t>
            </a:r>
            <a:r>
              <a:rPr kumimoji="1" lang="en-US" altLang="zh-CN" b="1" baseline="-25000">
                <a:solidFill>
                  <a:srgbClr val="008000"/>
                </a:solidFill>
                <a:latin typeface="Times New Roman" pitchFamily="18" charset="0"/>
                <a:sym typeface="Wingdings" pitchFamily="2" charset="2"/>
              </a:rPr>
              <a:t>k</a:t>
            </a:r>
            <a:r>
              <a:rPr kumimoji="1" lang="en-US" altLang="zh-CN" b="1">
                <a:solidFill>
                  <a:srgbClr val="008000"/>
                </a:solidFill>
                <a:latin typeface="Times New Roman" pitchFamily="18" charset="0"/>
                <a:sym typeface="Wingdings" pitchFamily="2" charset="2"/>
              </a:rPr>
              <a:t> →… →</a:t>
            </a:r>
            <a:r>
              <a:rPr kumimoji="1" lang="en-US" altLang="zh-CN">
                <a:solidFill>
                  <a:schemeClr val="bg2"/>
                </a:solidFill>
                <a:latin typeface="Times New Roman" pitchFamily="18" charset="0"/>
                <a:sym typeface="Wingdings" pitchFamily="2" charset="2"/>
              </a:rPr>
              <a:t> </a:t>
            </a:r>
            <a:r>
              <a:rPr kumimoji="1" lang="en-US" altLang="zh-CN" b="1">
                <a:solidFill>
                  <a:srgbClr val="008000"/>
                </a:solidFill>
                <a:latin typeface="Times New Roman" pitchFamily="18" charset="0"/>
                <a:sym typeface="Wingdings" pitchFamily="2" charset="2"/>
              </a:rPr>
              <a:t>v</a:t>
            </a:r>
            <a:r>
              <a:rPr kumimoji="1" lang="en-US" altLang="zh-CN" b="1" baseline="-25000">
                <a:solidFill>
                  <a:srgbClr val="008000"/>
                </a:solidFill>
                <a:latin typeface="Times New Roman" pitchFamily="18" charset="0"/>
                <a:sym typeface="Wingdings" pitchFamily="2" charset="2"/>
              </a:rPr>
              <a:t>j</a:t>
            </a:r>
            <a:r>
              <a:rPr kumimoji="1" lang="zh-CN" altLang="en-US" b="1">
                <a:solidFill>
                  <a:srgbClr val="008000"/>
                </a:solidFill>
                <a:latin typeface="Times New Roman" pitchFamily="18" charset="0"/>
                <a:sym typeface="Wingdings" pitchFamily="2" charset="2"/>
              </a:rPr>
              <a:t>，</a:t>
            </a:r>
            <a:r>
              <a:rPr lang="zh-CN" altLang="en-US" b="1">
                <a:solidFill>
                  <a:schemeClr val="bg2"/>
                </a:solidFill>
                <a:latin typeface="Times New Roman" pitchFamily="18" charset="0"/>
                <a:sym typeface="Wingdings" pitchFamily="2" charset="2"/>
              </a:rPr>
              <a:t>则有</a:t>
            </a:r>
            <a:r>
              <a:rPr kumimoji="1" lang="en-US" altLang="zh-CN" b="1">
                <a:solidFill>
                  <a:srgbClr val="008000"/>
                </a:solidFill>
                <a:latin typeface="Times New Roman" pitchFamily="18" charset="0"/>
                <a:sym typeface="Symbol" pitchFamily="18" charset="2"/>
              </a:rPr>
              <a:t>a</a:t>
            </a:r>
            <a:r>
              <a:rPr kumimoji="1" lang="en-US" altLang="zh-CN" b="1" baseline="-25000">
                <a:solidFill>
                  <a:srgbClr val="008000"/>
                </a:solidFill>
                <a:latin typeface="Times New Roman" pitchFamily="18" charset="0"/>
                <a:sym typeface="Symbol" pitchFamily="18" charset="2"/>
              </a:rPr>
              <a:t>ik</a:t>
            </a:r>
            <a:r>
              <a:rPr kumimoji="1" lang="en-US" altLang="zh-CN" b="1">
                <a:solidFill>
                  <a:srgbClr val="008000"/>
                </a:solidFill>
                <a:latin typeface="Times New Roman" pitchFamily="18" charset="0"/>
                <a:sym typeface="Symbol" pitchFamily="18" charset="2"/>
              </a:rPr>
              <a:t>.a</a:t>
            </a:r>
            <a:r>
              <a:rPr kumimoji="1" lang="en-US" altLang="zh-CN" b="1" baseline="30000">
                <a:solidFill>
                  <a:srgbClr val="008000"/>
                </a:solidFill>
                <a:latin typeface="Times New Roman" pitchFamily="18" charset="0"/>
                <a:sym typeface="Symbol" pitchFamily="18" charset="2"/>
              </a:rPr>
              <a:t>(m)</a:t>
            </a:r>
            <a:r>
              <a:rPr kumimoji="1" lang="en-US" altLang="zh-CN" b="1" baseline="-25000">
                <a:solidFill>
                  <a:srgbClr val="008000"/>
                </a:solidFill>
                <a:latin typeface="Times New Roman" pitchFamily="18" charset="0"/>
                <a:sym typeface="Symbol" pitchFamily="18" charset="2"/>
              </a:rPr>
              <a:t>kj</a:t>
            </a:r>
            <a:r>
              <a:rPr kumimoji="1" lang="en-US" altLang="zh-CN" b="1">
                <a:solidFill>
                  <a:srgbClr val="008000"/>
                </a:solidFill>
                <a:latin typeface="Times New Roman" pitchFamily="18" charset="0"/>
                <a:sym typeface="Symbol" pitchFamily="18" charset="2"/>
              </a:rPr>
              <a:t>=a</a:t>
            </a:r>
            <a:r>
              <a:rPr kumimoji="1" lang="en-US" altLang="zh-CN" b="1" baseline="30000">
                <a:solidFill>
                  <a:srgbClr val="008000"/>
                </a:solidFill>
                <a:latin typeface="Times New Roman" pitchFamily="18" charset="0"/>
                <a:sym typeface="Symbol" pitchFamily="18" charset="2"/>
              </a:rPr>
              <a:t>(m)</a:t>
            </a:r>
            <a:r>
              <a:rPr kumimoji="1" lang="en-US" altLang="zh-CN" b="1" baseline="-25000">
                <a:solidFill>
                  <a:srgbClr val="008000"/>
                </a:solidFill>
                <a:latin typeface="Times New Roman" pitchFamily="18" charset="0"/>
                <a:sym typeface="Symbol" pitchFamily="18" charset="2"/>
              </a:rPr>
              <a:t>kj</a:t>
            </a:r>
            <a:r>
              <a:rPr lang="zh-CN" altLang="en-US" b="1">
                <a:solidFill>
                  <a:schemeClr val="bg2"/>
                </a:solidFill>
                <a:latin typeface="Times New Roman" pitchFamily="18" charset="0"/>
                <a:sym typeface="Symbol" pitchFamily="18" charset="2"/>
              </a:rPr>
              <a:t>。</a:t>
            </a:r>
            <a:r>
              <a:rPr lang="zh-CN" altLang="en-US" b="1">
                <a:solidFill>
                  <a:schemeClr val="bg2"/>
                </a:solidFill>
                <a:latin typeface="Times New Roman" pitchFamily="18" charset="0"/>
                <a:sym typeface="Wingdings" pitchFamily="2" charset="2"/>
              </a:rPr>
              <a:t>也即从</a:t>
            </a:r>
            <a:r>
              <a:rPr lang="en-US" altLang="zh-CN" b="1">
                <a:solidFill>
                  <a:schemeClr val="bg2"/>
                </a:solidFill>
                <a:latin typeface="Times New Roman" pitchFamily="18" charset="0"/>
                <a:sym typeface="Wingdings" pitchFamily="2" charset="2"/>
              </a:rPr>
              <a:t>v</a:t>
            </a:r>
            <a:r>
              <a:rPr lang="en-US" altLang="zh-CN" b="1" baseline="-25000">
                <a:solidFill>
                  <a:schemeClr val="bg2"/>
                </a:solidFill>
                <a:latin typeface="Times New Roman" pitchFamily="18" charset="0"/>
                <a:sym typeface="Wingdings" pitchFamily="2" charset="2"/>
              </a:rPr>
              <a:t>i</a:t>
            </a:r>
            <a:r>
              <a:rPr lang="zh-CN" altLang="en-US" b="1">
                <a:solidFill>
                  <a:schemeClr val="bg2"/>
                </a:solidFill>
                <a:latin typeface="Times New Roman" pitchFamily="18" charset="0"/>
                <a:sym typeface="Wingdings" pitchFamily="2" charset="2"/>
              </a:rPr>
              <a:t>到</a:t>
            </a:r>
            <a:r>
              <a:rPr lang="en-US" altLang="zh-CN" b="1">
                <a:solidFill>
                  <a:schemeClr val="bg2"/>
                </a:solidFill>
                <a:latin typeface="Times New Roman" pitchFamily="18" charset="0"/>
                <a:sym typeface="Wingdings" pitchFamily="2" charset="2"/>
              </a:rPr>
              <a:t>v</a:t>
            </a:r>
            <a:r>
              <a:rPr lang="en-US" altLang="zh-CN" b="1" baseline="-25000">
                <a:solidFill>
                  <a:schemeClr val="bg2"/>
                </a:solidFill>
                <a:latin typeface="Times New Roman" pitchFamily="18" charset="0"/>
                <a:sym typeface="Wingdings" pitchFamily="2" charset="2"/>
              </a:rPr>
              <a:t>j</a:t>
            </a:r>
            <a:r>
              <a:rPr lang="zh-CN" altLang="en-US" b="1">
                <a:solidFill>
                  <a:schemeClr val="bg2"/>
                </a:solidFill>
                <a:latin typeface="Times New Roman" pitchFamily="18" charset="0"/>
                <a:sym typeface="Wingdings" pitchFamily="2" charset="2"/>
              </a:rPr>
              <a:t>经过结点</a:t>
            </a:r>
            <a:r>
              <a:rPr lang="en-US" altLang="zh-CN" b="1">
                <a:solidFill>
                  <a:schemeClr val="bg2"/>
                </a:solidFill>
                <a:latin typeface="Times New Roman" pitchFamily="18" charset="0"/>
                <a:sym typeface="Wingdings" pitchFamily="2" charset="2"/>
              </a:rPr>
              <a:t>v</a:t>
            </a:r>
            <a:r>
              <a:rPr lang="en-US" altLang="zh-CN" b="1" baseline="-25000">
                <a:solidFill>
                  <a:schemeClr val="bg2"/>
                </a:solidFill>
                <a:latin typeface="Times New Roman" pitchFamily="18" charset="0"/>
                <a:sym typeface="Wingdings" pitchFamily="2" charset="2"/>
              </a:rPr>
              <a:t>k</a:t>
            </a:r>
            <a:r>
              <a:rPr lang="zh-CN" altLang="en-US" b="1">
                <a:solidFill>
                  <a:schemeClr val="bg2"/>
                </a:solidFill>
                <a:latin typeface="Times New Roman" pitchFamily="18" charset="0"/>
                <a:sym typeface="Wingdings" pitchFamily="2" charset="2"/>
              </a:rPr>
              <a:t>有</a:t>
            </a:r>
            <a:r>
              <a:rPr lang="en-US" altLang="zh-CN" b="1">
                <a:solidFill>
                  <a:schemeClr val="bg2"/>
                </a:solidFill>
                <a:latin typeface="Times New Roman" pitchFamily="18" charset="0"/>
                <a:sym typeface="Symbol" pitchFamily="18" charset="2"/>
              </a:rPr>
              <a:t>a</a:t>
            </a:r>
            <a:r>
              <a:rPr lang="en-US" altLang="zh-CN" b="1" baseline="30000">
                <a:solidFill>
                  <a:schemeClr val="bg2"/>
                </a:solidFill>
                <a:latin typeface="Times New Roman" pitchFamily="18" charset="0"/>
                <a:sym typeface="Symbol" pitchFamily="18" charset="2"/>
              </a:rPr>
              <a:t>(m)</a:t>
            </a:r>
            <a:r>
              <a:rPr lang="en-US" altLang="zh-CN" b="1" baseline="-25000">
                <a:solidFill>
                  <a:schemeClr val="bg2"/>
                </a:solidFill>
                <a:latin typeface="Times New Roman" pitchFamily="18" charset="0"/>
                <a:sym typeface="Symbol" pitchFamily="18" charset="2"/>
              </a:rPr>
              <a:t>kj</a:t>
            </a:r>
            <a:r>
              <a:rPr lang="zh-CN" altLang="en-US" b="1">
                <a:solidFill>
                  <a:schemeClr val="bg2"/>
                </a:solidFill>
                <a:latin typeface="Times New Roman" pitchFamily="18" charset="0"/>
                <a:sym typeface="Wingdings" pitchFamily="2" charset="2"/>
              </a:rPr>
              <a:t>条长度为</a:t>
            </a:r>
            <a:r>
              <a:rPr lang="en-US" altLang="zh-CN" b="1">
                <a:solidFill>
                  <a:schemeClr val="bg2"/>
                </a:solidFill>
                <a:latin typeface="Times New Roman" pitchFamily="18" charset="0"/>
                <a:sym typeface="Wingdings" pitchFamily="2" charset="2"/>
              </a:rPr>
              <a:t>m+1</a:t>
            </a:r>
            <a:r>
              <a:rPr lang="zh-CN" altLang="en-US" b="1">
                <a:solidFill>
                  <a:schemeClr val="bg2"/>
                </a:solidFill>
                <a:latin typeface="Times New Roman" pitchFamily="18" charset="0"/>
                <a:sym typeface="Wingdings" pitchFamily="2" charset="2"/>
              </a:rPr>
              <a:t>的路。</a:t>
            </a:r>
          </a:p>
          <a:p>
            <a:pPr eaLnBrk="1" hangingPunct="1">
              <a:lnSpc>
                <a:spcPct val="130000"/>
              </a:lnSpc>
              <a:buClr>
                <a:schemeClr val="hlink"/>
              </a:buClr>
              <a:buFont typeface="Wingdings" pitchFamily="2" charset="2"/>
              <a:buNone/>
            </a:pPr>
            <a:r>
              <a:rPr kumimoji="1" lang="zh-CN" altLang="en-US" b="1">
                <a:solidFill>
                  <a:srgbClr val="008000"/>
                </a:solidFill>
                <a:latin typeface="Times New Roman" pitchFamily="18" charset="0"/>
                <a:sym typeface="Symbol" pitchFamily="18" charset="2"/>
              </a:rPr>
              <a:t>        若不存在路</a:t>
            </a:r>
            <a:r>
              <a:rPr kumimoji="1" lang="en-US" altLang="zh-CN" b="1">
                <a:solidFill>
                  <a:srgbClr val="008000"/>
                </a:solidFill>
                <a:latin typeface="Times New Roman" pitchFamily="18" charset="0"/>
                <a:sym typeface="Symbol" pitchFamily="18" charset="2"/>
              </a:rPr>
              <a:t>v</a:t>
            </a:r>
            <a:r>
              <a:rPr kumimoji="1" lang="en-US" altLang="zh-CN" b="1" baseline="-25000">
                <a:solidFill>
                  <a:srgbClr val="008000"/>
                </a:solidFill>
                <a:latin typeface="Times New Roman" pitchFamily="18" charset="0"/>
                <a:sym typeface="Symbol" pitchFamily="18" charset="2"/>
              </a:rPr>
              <a:t>i</a:t>
            </a:r>
            <a:r>
              <a:rPr kumimoji="1" lang="en-US" altLang="zh-CN" b="1">
                <a:solidFill>
                  <a:srgbClr val="008000"/>
                </a:solidFill>
                <a:latin typeface="Times New Roman" pitchFamily="18" charset="0"/>
                <a:sym typeface="Symbol" pitchFamily="18" charset="2"/>
              </a:rPr>
              <a:t> </a:t>
            </a:r>
            <a:r>
              <a:rPr kumimoji="1" lang="en-US" altLang="zh-CN" b="1">
                <a:solidFill>
                  <a:srgbClr val="008000"/>
                </a:solidFill>
                <a:latin typeface="Times New Roman" pitchFamily="18" charset="0"/>
                <a:sym typeface="Wingdings" pitchFamily="2" charset="2"/>
              </a:rPr>
              <a:t>→v</a:t>
            </a:r>
            <a:r>
              <a:rPr kumimoji="1" lang="en-US" altLang="zh-CN" b="1" baseline="-25000">
                <a:solidFill>
                  <a:srgbClr val="008000"/>
                </a:solidFill>
                <a:latin typeface="Times New Roman" pitchFamily="18" charset="0"/>
                <a:sym typeface="Wingdings" pitchFamily="2" charset="2"/>
              </a:rPr>
              <a:t>k</a:t>
            </a:r>
            <a:r>
              <a:rPr kumimoji="1" lang="en-US" altLang="zh-CN" b="1">
                <a:solidFill>
                  <a:srgbClr val="008000"/>
                </a:solidFill>
                <a:latin typeface="Times New Roman" pitchFamily="18" charset="0"/>
                <a:sym typeface="Wingdings" pitchFamily="2" charset="2"/>
              </a:rPr>
              <a:t> →… →</a:t>
            </a:r>
            <a:r>
              <a:rPr kumimoji="1" lang="en-US" altLang="zh-CN">
                <a:solidFill>
                  <a:schemeClr val="bg2"/>
                </a:solidFill>
                <a:latin typeface="Times New Roman" pitchFamily="18" charset="0"/>
                <a:sym typeface="Wingdings" pitchFamily="2" charset="2"/>
              </a:rPr>
              <a:t> </a:t>
            </a:r>
            <a:r>
              <a:rPr kumimoji="1" lang="en-US" altLang="zh-CN" b="1">
                <a:solidFill>
                  <a:srgbClr val="008000"/>
                </a:solidFill>
                <a:latin typeface="Times New Roman" pitchFamily="18" charset="0"/>
                <a:sym typeface="Wingdings" pitchFamily="2" charset="2"/>
              </a:rPr>
              <a:t>v</a:t>
            </a:r>
            <a:r>
              <a:rPr kumimoji="1" lang="en-US" altLang="zh-CN" b="1" baseline="-25000">
                <a:solidFill>
                  <a:srgbClr val="008000"/>
                </a:solidFill>
                <a:latin typeface="Times New Roman" pitchFamily="18" charset="0"/>
                <a:sym typeface="Wingdings" pitchFamily="2" charset="2"/>
              </a:rPr>
              <a:t>j</a:t>
            </a:r>
            <a:r>
              <a:rPr kumimoji="1" lang="zh-CN" altLang="en-US" b="1">
                <a:solidFill>
                  <a:srgbClr val="008000"/>
                </a:solidFill>
                <a:latin typeface="Times New Roman" pitchFamily="18" charset="0"/>
                <a:sym typeface="Wingdings" pitchFamily="2" charset="2"/>
              </a:rPr>
              <a:t>，</a:t>
            </a:r>
            <a:r>
              <a:rPr lang="zh-CN" altLang="en-US" b="1">
                <a:solidFill>
                  <a:schemeClr val="bg2"/>
                </a:solidFill>
                <a:latin typeface="Times New Roman" pitchFamily="18" charset="0"/>
                <a:sym typeface="Wingdings" pitchFamily="2" charset="2"/>
              </a:rPr>
              <a:t>则有</a:t>
            </a:r>
            <a:r>
              <a:rPr kumimoji="1" lang="en-US" altLang="zh-CN" b="1">
                <a:solidFill>
                  <a:srgbClr val="008000"/>
                </a:solidFill>
                <a:latin typeface="Times New Roman" pitchFamily="18" charset="0"/>
                <a:sym typeface="Wingdings" pitchFamily="2" charset="2"/>
              </a:rPr>
              <a:t>a</a:t>
            </a:r>
            <a:r>
              <a:rPr kumimoji="1" lang="en-US" altLang="zh-CN" b="1" baseline="-25000">
                <a:solidFill>
                  <a:srgbClr val="008000"/>
                </a:solidFill>
                <a:latin typeface="Times New Roman" pitchFamily="18" charset="0"/>
                <a:sym typeface="Wingdings" pitchFamily="2" charset="2"/>
              </a:rPr>
              <a:t>ik</a:t>
            </a:r>
            <a:r>
              <a:rPr kumimoji="1" lang="en-US" altLang="zh-CN" b="1">
                <a:solidFill>
                  <a:srgbClr val="008000"/>
                </a:solidFill>
                <a:latin typeface="Times New Roman" pitchFamily="18" charset="0"/>
                <a:sym typeface="Wingdings" pitchFamily="2" charset="2"/>
              </a:rPr>
              <a:t>=0</a:t>
            </a:r>
            <a:r>
              <a:rPr kumimoji="1" lang="zh-CN" altLang="en-US" b="1">
                <a:solidFill>
                  <a:srgbClr val="008000"/>
                </a:solidFill>
                <a:latin typeface="Times New Roman" pitchFamily="18" charset="0"/>
                <a:sym typeface="Wingdings" pitchFamily="2" charset="2"/>
              </a:rPr>
              <a:t>或</a:t>
            </a:r>
            <a:r>
              <a:rPr kumimoji="1" lang="en-US" altLang="zh-CN" b="1">
                <a:solidFill>
                  <a:srgbClr val="008000"/>
                </a:solidFill>
                <a:latin typeface="Times New Roman" pitchFamily="18" charset="0"/>
                <a:sym typeface="Symbol" pitchFamily="18" charset="2"/>
              </a:rPr>
              <a:t>a</a:t>
            </a:r>
            <a:r>
              <a:rPr kumimoji="1" lang="en-US" altLang="zh-CN" b="1" baseline="30000">
                <a:solidFill>
                  <a:srgbClr val="008000"/>
                </a:solidFill>
                <a:latin typeface="Times New Roman" pitchFamily="18" charset="0"/>
                <a:sym typeface="Symbol" pitchFamily="18" charset="2"/>
              </a:rPr>
              <a:t>(m)</a:t>
            </a:r>
            <a:r>
              <a:rPr kumimoji="1" lang="en-US" altLang="zh-CN" b="1" baseline="-25000">
                <a:solidFill>
                  <a:srgbClr val="008000"/>
                </a:solidFill>
                <a:latin typeface="Times New Roman" pitchFamily="18" charset="0"/>
                <a:sym typeface="Symbol" pitchFamily="18" charset="2"/>
              </a:rPr>
              <a:t>kj</a:t>
            </a:r>
            <a:r>
              <a:rPr kumimoji="1" lang="en-US" altLang="zh-CN" b="1">
                <a:solidFill>
                  <a:srgbClr val="008000"/>
                </a:solidFill>
                <a:latin typeface="Times New Roman" pitchFamily="18" charset="0"/>
                <a:sym typeface="Symbol" pitchFamily="18" charset="2"/>
              </a:rPr>
              <a:t>=0</a:t>
            </a:r>
            <a:r>
              <a:rPr lang="zh-CN" altLang="en-US" b="1">
                <a:solidFill>
                  <a:schemeClr val="bg2"/>
                </a:solidFill>
                <a:latin typeface="Times New Roman" pitchFamily="18" charset="0"/>
                <a:sym typeface="Symbol" pitchFamily="18" charset="2"/>
              </a:rPr>
              <a:t>，即</a:t>
            </a:r>
            <a:r>
              <a:rPr lang="en-US" altLang="zh-CN" b="1">
                <a:solidFill>
                  <a:schemeClr val="bg2"/>
                </a:solidFill>
                <a:latin typeface="Times New Roman" pitchFamily="18" charset="0"/>
                <a:sym typeface="Symbol" pitchFamily="18" charset="2"/>
              </a:rPr>
              <a:t>a</a:t>
            </a:r>
            <a:r>
              <a:rPr lang="en-US" altLang="zh-CN" b="1" baseline="-25000">
                <a:solidFill>
                  <a:schemeClr val="bg2"/>
                </a:solidFill>
                <a:latin typeface="Times New Roman" pitchFamily="18" charset="0"/>
                <a:sym typeface="Symbol" pitchFamily="18" charset="2"/>
              </a:rPr>
              <a:t>ik</a:t>
            </a:r>
            <a:r>
              <a:rPr lang="en-US" altLang="zh-CN" b="1">
                <a:solidFill>
                  <a:schemeClr val="bg2"/>
                </a:solidFill>
                <a:latin typeface="Times New Roman" pitchFamily="18" charset="0"/>
                <a:sym typeface="Symbol" pitchFamily="18" charset="2"/>
              </a:rPr>
              <a:t>.a</a:t>
            </a:r>
            <a:r>
              <a:rPr lang="en-US" altLang="zh-CN" b="1" baseline="30000">
                <a:solidFill>
                  <a:schemeClr val="bg2"/>
                </a:solidFill>
                <a:latin typeface="Times New Roman" pitchFamily="18" charset="0"/>
                <a:sym typeface="Symbol" pitchFamily="18" charset="2"/>
              </a:rPr>
              <a:t>(m)</a:t>
            </a:r>
            <a:r>
              <a:rPr lang="en-US" altLang="zh-CN" b="1" baseline="-25000">
                <a:solidFill>
                  <a:schemeClr val="bg2"/>
                </a:solidFill>
                <a:latin typeface="Times New Roman" pitchFamily="18" charset="0"/>
                <a:sym typeface="Symbol" pitchFamily="18" charset="2"/>
              </a:rPr>
              <a:t>kj</a:t>
            </a:r>
            <a:r>
              <a:rPr lang="en-US" altLang="zh-CN" b="1">
                <a:solidFill>
                  <a:schemeClr val="bg2"/>
                </a:solidFill>
                <a:latin typeface="Times New Roman" pitchFamily="18" charset="0"/>
                <a:sym typeface="Symbol" pitchFamily="18" charset="2"/>
              </a:rPr>
              <a:t>=0</a:t>
            </a:r>
            <a:r>
              <a:rPr lang="zh-CN" altLang="en-US" b="1">
                <a:solidFill>
                  <a:schemeClr val="bg2"/>
                </a:solidFill>
                <a:latin typeface="Times New Roman" pitchFamily="18" charset="0"/>
                <a:sym typeface="Symbol" pitchFamily="18" charset="2"/>
              </a:rPr>
              <a:t>。也即从</a:t>
            </a:r>
            <a:r>
              <a:rPr lang="en-US" altLang="zh-CN" b="1">
                <a:solidFill>
                  <a:schemeClr val="bg2"/>
                </a:solidFill>
                <a:latin typeface="Times New Roman" pitchFamily="18" charset="0"/>
                <a:sym typeface="Symbol" pitchFamily="18" charset="2"/>
              </a:rPr>
              <a:t>v</a:t>
            </a:r>
            <a:r>
              <a:rPr lang="en-US" altLang="zh-CN" b="1" baseline="-25000">
                <a:solidFill>
                  <a:schemeClr val="bg2"/>
                </a:solidFill>
                <a:latin typeface="Times New Roman" pitchFamily="18" charset="0"/>
                <a:sym typeface="Symbol" pitchFamily="18" charset="2"/>
              </a:rPr>
              <a:t>i</a:t>
            </a:r>
            <a:r>
              <a:rPr lang="zh-CN" altLang="en-US" b="1">
                <a:solidFill>
                  <a:schemeClr val="bg2"/>
                </a:solidFill>
                <a:latin typeface="Times New Roman" pitchFamily="18" charset="0"/>
                <a:sym typeface="Symbol" pitchFamily="18" charset="2"/>
              </a:rPr>
              <a:t>到</a:t>
            </a:r>
            <a:r>
              <a:rPr lang="en-US" altLang="zh-CN" b="1">
                <a:solidFill>
                  <a:schemeClr val="bg2"/>
                </a:solidFill>
                <a:latin typeface="Times New Roman" pitchFamily="18" charset="0"/>
                <a:sym typeface="Symbol" pitchFamily="18" charset="2"/>
              </a:rPr>
              <a:t>v</a:t>
            </a:r>
            <a:r>
              <a:rPr lang="en-US" altLang="zh-CN" b="1" baseline="-25000">
                <a:solidFill>
                  <a:schemeClr val="bg2"/>
                </a:solidFill>
                <a:latin typeface="Times New Roman" pitchFamily="18" charset="0"/>
                <a:sym typeface="Symbol" pitchFamily="18" charset="2"/>
              </a:rPr>
              <a:t>j</a:t>
            </a:r>
            <a:r>
              <a:rPr lang="zh-CN" altLang="en-US" b="1">
                <a:solidFill>
                  <a:schemeClr val="bg2"/>
                </a:solidFill>
                <a:latin typeface="Times New Roman" pitchFamily="18" charset="0"/>
                <a:sym typeface="Symbol" pitchFamily="18" charset="2"/>
              </a:rPr>
              <a:t>经过结点</a:t>
            </a:r>
            <a:r>
              <a:rPr lang="en-US" altLang="zh-CN" b="1">
                <a:solidFill>
                  <a:schemeClr val="bg2"/>
                </a:solidFill>
                <a:latin typeface="Times New Roman" pitchFamily="18" charset="0"/>
                <a:sym typeface="Symbol" pitchFamily="18" charset="2"/>
              </a:rPr>
              <a:t>v</a:t>
            </a:r>
            <a:r>
              <a:rPr lang="en-US" altLang="zh-CN" b="1" baseline="-25000">
                <a:solidFill>
                  <a:schemeClr val="bg2"/>
                </a:solidFill>
                <a:latin typeface="Times New Roman" pitchFamily="18" charset="0"/>
                <a:sym typeface="Symbol" pitchFamily="18" charset="2"/>
              </a:rPr>
              <a:t>k</a:t>
            </a:r>
            <a:r>
              <a:rPr lang="zh-CN" altLang="en-US" b="1">
                <a:solidFill>
                  <a:schemeClr val="bg2"/>
                </a:solidFill>
                <a:latin typeface="Times New Roman" pitchFamily="18" charset="0"/>
                <a:sym typeface="Symbol" pitchFamily="18" charset="2"/>
              </a:rPr>
              <a:t>没有长度为</a:t>
            </a:r>
            <a:r>
              <a:rPr lang="en-US" altLang="zh-CN" b="1">
                <a:solidFill>
                  <a:schemeClr val="bg2"/>
                </a:solidFill>
                <a:latin typeface="Times New Roman" pitchFamily="18" charset="0"/>
                <a:sym typeface="Symbol" pitchFamily="18" charset="2"/>
              </a:rPr>
              <a:t>m+1</a:t>
            </a:r>
            <a:r>
              <a:rPr lang="zh-CN" altLang="en-US" b="1">
                <a:solidFill>
                  <a:schemeClr val="bg2"/>
                </a:solidFill>
                <a:latin typeface="Times New Roman" pitchFamily="18" charset="0"/>
                <a:sym typeface="Symbol" pitchFamily="18" charset="2"/>
              </a:rPr>
              <a:t>的路。</a:t>
            </a:r>
          </a:p>
          <a:p>
            <a:pPr eaLnBrk="1" hangingPunct="1">
              <a:lnSpc>
                <a:spcPct val="130000"/>
              </a:lnSpc>
              <a:buClr>
                <a:schemeClr val="hlink"/>
              </a:buClr>
              <a:buFont typeface="Wingdings" pitchFamily="2" charset="2"/>
              <a:buNone/>
            </a:pPr>
            <a:r>
              <a:rPr lang="zh-CN" altLang="en-US" b="1">
                <a:solidFill>
                  <a:schemeClr val="bg2"/>
                </a:solidFill>
                <a:latin typeface="Times New Roman" pitchFamily="18" charset="0"/>
                <a:sym typeface="Symbol" pitchFamily="18" charset="2"/>
              </a:rPr>
              <a:t>        所以从</a:t>
            </a:r>
            <a:r>
              <a:rPr lang="en-US" altLang="zh-CN" b="1">
                <a:solidFill>
                  <a:schemeClr val="bg2"/>
                </a:solidFill>
                <a:latin typeface="Times New Roman" pitchFamily="18" charset="0"/>
                <a:sym typeface="Symbol" pitchFamily="18" charset="2"/>
              </a:rPr>
              <a:t>v</a:t>
            </a:r>
            <a:r>
              <a:rPr lang="en-US" altLang="zh-CN" b="1" baseline="-25000">
                <a:solidFill>
                  <a:schemeClr val="bg2"/>
                </a:solidFill>
                <a:latin typeface="Times New Roman" pitchFamily="18" charset="0"/>
                <a:sym typeface="Symbol" pitchFamily="18" charset="2"/>
              </a:rPr>
              <a:t>i</a:t>
            </a:r>
            <a:r>
              <a:rPr lang="zh-CN" altLang="en-US" b="1">
                <a:solidFill>
                  <a:schemeClr val="bg2"/>
                </a:solidFill>
                <a:latin typeface="Times New Roman" pitchFamily="18" charset="0"/>
                <a:sym typeface="Symbol" pitchFamily="18" charset="2"/>
              </a:rPr>
              <a:t>到</a:t>
            </a:r>
            <a:r>
              <a:rPr lang="en-US" altLang="zh-CN" b="1">
                <a:solidFill>
                  <a:schemeClr val="bg2"/>
                </a:solidFill>
                <a:latin typeface="Times New Roman" pitchFamily="18" charset="0"/>
                <a:sym typeface="Symbol" pitchFamily="18" charset="2"/>
              </a:rPr>
              <a:t>v</a:t>
            </a:r>
            <a:r>
              <a:rPr lang="en-US" altLang="zh-CN" b="1" baseline="-25000">
                <a:solidFill>
                  <a:schemeClr val="bg2"/>
                </a:solidFill>
                <a:latin typeface="Times New Roman" pitchFamily="18" charset="0"/>
                <a:sym typeface="Symbol" pitchFamily="18" charset="2"/>
              </a:rPr>
              <a:t>j</a:t>
            </a:r>
            <a:r>
              <a:rPr lang="zh-CN" altLang="en-US" b="1">
                <a:solidFill>
                  <a:schemeClr val="bg2"/>
                </a:solidFill>
                <a:latin typeface="Times New Roman" pitchFamily="18" charset="0"/>
                <a:sym typeface="Symbol" pitchFamily="18" charset="2"/>
              </a:rPr>
              <a:t>长度为</a:t>
            </a:r>
            <a:r>
              <a:rPr lang="en-US" altLang="zh-CN" b="1">
                <a:solidFill>
                  <a:schemeClr val="bg2"/>
                </a:solidFill>
                <a:latin typeface="Times New Roman" pitchFamily="18" charset="0"/>
                <a:sym typeface="Symbol" pitchFamily="18" charset="2"/>
              </a:rPr>
              <a:t>m+1</a:t>
            </a:r>
            <a:r>
              <a:rPr lang="zh-CN" altLang="en-US" b="1">
                <a:solidFill>
                  <a:schemeClr val="bg2"/>
                </a:solidFill>
                <a:latin typeface="Times New Roman" pitchFamily="18" charset="0"/>
                <a:sym typeface="Symbol" pitchFamily="18" charset="2"/>
              </a:rPr>
              <a:t>的路数</a:t>
            </a:r>
            <a:r>
              <a:rPr lang="en-US" altLang="zh-CN" b="1">
                <a:solidFill>
                  <a:schemeClr val="bg2"/>
                </a:solidFill>
                <a:latin typeface="Times New Roman" pitchFamily="18" charset="0"/>
                <a:sym typeface="Symbol" pitchFamily="18" charset="2"/>
              </a:rPr>
              <a:t>N(m+1)=a</a:t>
            </a:r>
            <a:r>
              <a:rPr lang="en-US" altLang="zh-CN" b="1" baseline="-25000">
                <a:solidFill>
                  <a:schemeClr val="bg2"/>
                </a:solidFill>
                <a:latin typeface="Times New Roman" pitchFamily="18" charset="0"/>
                <a:sym typeface="Symbol" pitchFamily="18" charset="2"/>
              </a:rPr>
              <a:t>i1</a:t>
            </a:r>
            <a:r>
              <a:rPr lang="en-US" altLang="zh-CN" b="1">
                <a:solidFill>
                  <a:schemeClr val="bg2"/>
                </a:solidFill>
                <a:latin typeface="Times New Roman" pitchFamily="18" charset="0"/>
                <a:sym typeface="Symbol" pitchFamily="18" charset="2"/>
              </a:rPr>
              <a:t>.a</a:t>
            </a:r>
            <a:r>
              <a:rPr lang="en-US" altLang="zh-CN" b="1" baseline="30000">
                <a:solidFill>
                  <a:schemeClr val="bg2"/>
                </a:solidFill>
                <a:latin typeface="Times New Roman" pitchFamily="18" charset="0"/>
                <a:sym typeface="Symbol" pitchFamily="18" charset="2"/>
              </a:rPr>
              <a:t>(m)</a:t>
            </a:r>
            <a:r>
              <a:rPr lang="en-US" altLang="zh-CN" b="1" baseline="-25000">
                <a:solidFill>
                  <a:schemeClr val="bg2"/>
                </a:solidFill>
                <a:latin typeface="Times New Roman" pitchFamily="18" charset="0"/>
                <a:sym typeface="Symbol" pitchFamily="18" charset="2"/>
              </a:rPr>
              <a:t>1j</a:t>
            </a:r>
            <a:r>
              <a:rPr lang="en-US" altLang="zh-CN" b="1">
                <a:solidFill>
                  <a:schemeClr val="bg2"/>
                </a:solidFill>
                <a:latin typeface="Times New Roman" pitchFamily="18" charset="0"/>
                <a:sym typeface="Symbol" pitchFamily="18" charset="2"/>
              </a:rPr>
              <a:t> +a</a:t>
            </a:r>
            <a:r>
              <a:rPr lang="en-US" altLang="zh-CN" b="1" baseline="-25000">
                <a:solidFill>
                  <a:schemeClr val="bg2"/>
                </a:solidFill>
                <a:latin typeface="Times New Roman" pitchFamily="18" charset="0"/>
                <a:sym typeface="Symbol" pitchFamily="18" charset="2"/>
              </a:rPr>
              <a:t>i2</a:t>
            </a:r>
            <a:r>
              <a:rPr lang="en-US" altLang="zh-CN" b="1">
                <a:solidFill>
                  <a:schemeClr val="bg2"/>
                </a:solidFill>
                <a:latin typeface="Times New Roman" pitchFamily="18" charset="0"/>
                <a:sym typeface="Symbol" pitchFamily="18" charset="2"/>
              </a:rPr>
              <a:t>.a</a:t>
            </a:r>
            <a:r>
              <a:rPr lang="en-US" altLang="zh-CN" b="1" baseline="30000">
                <a:solidFill>
                  <a:schemeClr val="bg2"/>
                </a:solidFill>
                <a:latin typeface="Times New Roman" pitchFamily="18" charset="0"/>
                <a:sym typeface="Symbol" pitchFamily="18" charset="2"/>
              </a:rPr>
              <a:t>(m)</a:t>
            </a:r>
            <a:r>
              <a:rPr lang="en-US" altLang="zh-CN" b="1" baseline="-25000">
                <a:solidFill>
                  <a:schemeClr val="bg2"/>
                </a:solidFill>
                <a:latin typeface="Times New Roman" pitchFamily="18" charset="0"/>
                <a:sym typeface="Symbol" pitchFamily="18" charset="2"/>
              </a:rPr>
              <a:t>2j</a:t>
            </a:r>
            <a:r>
              <a:rPr lang="en-US" altLang="zh-CN" b="1">
                <a:solidFill>
                  <a:schemeClr val="bg2"/>
                </a:solidFill>
                <a:latin typeface="Times New Roman" pitchFamily="18" charset="0"/>
                <a:sym typeface="Symbol" pitchFamily="18" charset="2"/>
              </a:rPr>
              <a:t> +…+a</a:t>
            </a:r>
            <a:r>
              <a:rPr lang="en-US" altLang="zh-CN" b="1" baseline="-25000">
                <a:solidFill>
                  <a:schemeClr val="bg2"/>
                </a:solidFill>
                <a:latin typeface="Times New Roman" pitchFamily="18" charset="0"/>
                <a:sym typeface="Symbol" pitchFamily="18" charset="2"/>
              </a:rPr>
              <a:t>in</a:t>
            </a:r>
            <a:r>
              <a:rPr lang="en-US" altLang="zh-CN" b="1">
                <a:solidFill>
                  <a:schemeClr val="bg2"/>
                </a:solidFill>
                <a:latin typeface="Times New Roman" pitchFamily="18" charset="0"/>
                <a:sym typeface="Symbol" pitchFamily="18" charset="2"/>
              </a:rPr>
              <a:t>.a</a:t>
            </a:r>
            <a:r>
              <a:rPr lang="en-US" altLang="zh-CN" b="1" baseline="30000">
                <a:solidFill>
                  <a:schemeClr val="bg2"/>
                </a:solidFill>
                <a:latin typeface="Times New Roman" pitchFamily="18" charset="0"/>
                <a:sym typeface="Symbol" pitchFamily="18" charset="2"/>
              </a:rPr>
              <a:t>(m)</a:t>
            </a:r>
            <a:r>
              <a:rPr lang="en-US" altLang="zh-CN" b="1" baseline="-25000">
                <a:solidFill>
                  <a:schemeClr val="bg2"/>
                </a:solidFill>
                <a:latin typeface="Times New Roman" pitchFamily="18" charset="0"/>
                <a:sym typeface="Symbol" pitchFamily="18" charset="2"/>
              </a:rPr>
              <a:t>nj </a:t>
            </a:r>
            <a:r>
              <a:rPr lang="en-US" altLang="zh-CN" b="1">
                <a:solidFill>
                  <a:schemeClr val="bg2"/>
                </a:solidFill>
                <a:latin typeface="Times New Roman" pitchFamily="18" charset="0"/>
                <a:sym typeface="Symbol" pitchFamily="18" charset="2"/>
              </a:rPr>
              <a:t>= a</a:t>
            </a:r>
            <a:r>
              <a:rPr lang="en-US" altLang="zh-CN" b="1" baseline="30000">
                <a:solidFill>
                  <a:schemeClr val="bg2"/>
                </a:solidFill>
                <a:latin typeface="Times New Roman" pitchFamily="18" charset="0"/>
                <a:sym typeface="Symbol" pitchFamily="18" charset="2"/>
              </a:rPr>
              <a:t>(m+1)</a:t>
            </a:r>
            <a:r>
              <a:rPr lang="en-US" altLang="zh-CN" b="1" baseline="-25000">
                <a:solidFill>
                  <a:schemeClr val="bg2"/>
                </a:solidFill>
                <a:latin typeface="Times New Roman" pitchFamily="18" charset="0"/>
                <a:sym typeface="Symbol" pitchFamily="18" charset="2"/>
              </a:rPr>
              <a:t>ij</a:t>
            </a:r>
            <a:r>
              <a:rPr lang="zh-CN" altLang="en-US" b="1">
                <a:solidFill>
                  <a:schemeClr val="bg2"/>
                </a:solidFill>
                <a:latin typeface="Times New Roman" pitchFamily="18" charset="0"/>
                <a:sym typeface="Symbol" pitchFamily="18" charset="2"/>
              </a:rPr>
              <a:t>。所以猜想是正确的。</a:t>
            </a:r>
          </a:p>
          <a:p>
            <a:pPr eaLnBrk="1" hangingPunct="1">
              <a:lnSpc>
                <a:spcPct val="130000"/>
              </a:lnSpc>
              <a:buClr>
                <a:schemeClr val="hlink"/>
              </a:buClr>
              <a:buFont typeface="Wingdings" pitchFamily="2" charset="2"/>
              <a:buNone/>
            </a:pPr>
            <a:r>
              <a:rPr lang="zh-CN" altLang="en-US" b="1">
                <a:solidFill>
                  <a:schemeClr val="bg2"/>
                </a:solidFill>
                <a:latin typeface="Times New Roman" pitchFamily="18" charset="0"/>
                <a:sym typeface="Symbol" pitchFamily="18" charset="2"/>
              </a:rPr>
              <a:t>        综上</a:t>
            </a:r>
            <a:r>
              <a:rPr lang="en-US" altLang="zh-CN" b="1">
                <a:solidFill>
                  <a:schemeClr val="bg2"/>
                </a:solidFill>
                <a:latin typeface="Times New Roman" pitchFamily="18" charset="0"/>
                <a:sym typeface="Symbol" pitchFamily="18" charset="2"/>
              </a:rPr>
              <a:t>(1)(2)(3)(4)</a:t>
            </a:r>
            <a:r>
              <a:rPr lang="zh-CN" altLang="en-US" b="1">
                <a:solidFill>
                  <a:schemeClr val="bg2"/>
                </a:solidFill>
                <a:latin typeface="Times New Roman" pitchFamily="18" charset="0"/>
                <a:sym typeface="Symbol" pitchFamily="18" charset="2"/>
              </a:rPr>
              <a:t>所述</a:t>
            </a:r>
            <a:r>
              <a:rPr kumimoji="1" lang="zh-CN" altLang="en-US" b="1">
                <a:solidFill>
                  <a:srgbClr val="993300"/>
                </a:solidFill>
                <a:latin typeface="Times New Roman" pitchFamily="18" charset="0"/>
              </a:rPr>
              <a:t>简单有向图中结点</a:t>
            </a:r>
            <a:r>
              <a:rPr kumimoji="1" lang="en-US" altLang="zh-CN" b="1">
                <a:solidFill>
                  <a:srgbClr val="993300"/>
                </a:solidFill>
                <a:latin typeface="Times New Roman" pitchFamily="18" charset="0"/>
              </a:rPr>
              <a:t>v</a:t>
            </a:r>
            <a:r>
              <a:rPr kumimoji="1" lang="en-US" altLang="zh-CN" b="1" baseline="-25000">
                <a:solidFill>
                  <a:srgbClr val="993300"/>
                </a:solidFill>
                <a:latin typeface="Times New Roman" pitchFamily="18" charset="0"/>
              </a:rPr>
              <a:t>i</a:t>
            </a:r>
            <a:r>
              <a:rPr kumimoji="1" lang="zh-CN" altLang="en-US" b="1">
                <a:solidFill>
                  <a:srgbClr val="993300"/>
                </a:solidFill>
                <a:latin typeface="Times New Roman" pitchFamily="18" charset="0"/>
              </a:rPr>
              <a:t>到</a:t>
            </a:r>
            <a:r>
              <a:rPr kumimoji="1" lang="en-US" altLang="zh-CN" b="1">
                <a:solidFill>
                  <a:srgbClr val="993300"/>
                </a:solidFill>
                <a:latin typeface="Times New Roman" pitchFamily="18" charset="0"/>
              </a:rPr>
              <a:t>v</a:t>
            </a:r>
            <a:r>
              <a:rPr kumimoji="1" lang="en-US" altLang="zh-CN" b="1" baseline="-25000">
                <a:solidFill>
                  <a:srgbClr val="993300"/>
                </a:solidFill>
                <a:latin typeface="Times New Roman" pitchFamily="18" charset="0"/>
              </a:rPr>
              <a:t>j</a:t>
            </a:r>
            <a:r>
              <a:rPr kumimoji="1" lang="zh-CN" altLang="en-US" b="1">
                <a:solidFill>
                  <a:srgbClr val="993300"/>
                </a:solidFill>
                <a:latin typeface="Times New Roman" pitchFamily="18" charset="0"/>
              </a:rPr>
              <a:t>的长度为</a:t>
            </a:r>
            <a:r>
              <a:rPr kumimoji="1" lang="en-US" altLang="zh-CN" b="1">
                <a:solidFill>
                  <a:srgbClr val="993300"/>
                </a:solidFill>
                <a:latin typeface="Times New Roman" pitchFamily="18" charset="0"/>
              </a:rPr>
              <a:t>m</a:t>
            </a:r>
            <a:r>
              <a:rPr kumimoji="1" lang="zh-CN" altLang="en-US" b="1">
                <a:solidFill>
                  <a:srgbClr val="993300"/>
                </a:solidFill>
                <a:latin typeface="Times New Roman" pitchFamily="18" charset="0"/>
              </a:rPr>
              <a:t>的路的数目为邻接矩阵</a:t>
            </a:r>
            <a:r>
              <a:rPr kumimoji="1" lang="en-US" altLang="zh-CN" b="1">
                <a:solidFill>
                  <a:srgbClr val="993300"/>
                </a:solidFill>
                <a:latin typeface="Times New Roman" pitchFamily="18" charset="0"/>
              </a:rPr>
              <a:t>m</a:t>
            </a:r>
            <a:r>
              <a:rPr kumimoji="1" lang="zh-CN" altLang="en-US" b="1">
                <a:solidFill>
                  <a:srgbClr val="993300"/>
                </a:solidFill>
                <a:latin typeface="Times New Roman" pitchFamily="18" charset="0"/>
              </a:rPr>
              <a:t>次幂运算后第</a:t>
            </a:r>
            <a:r>
              <a:rPr kumimoji="1" lang="en-US" altLang="zh-CN" b="1">
                <a:solidFill>
                  <a:srgbClr val="993300"/>
                </a:solidFill>
                <a:latin typeface="Times New Roman" pitchFamily="18" charset="0"/>
              </a:rPr>
              <a:t>i</a:t>
            </a:r>
            <a:r>
              <a:rPr kumimoji="1" lang="zh-CN" altLang="en-US" b="1">
                <a:solidFill>
                  <a:srgbClr val="993300"/>
                </a:solidFill>
                <a:latin typeface="Times New Roman" pitchFamily="18" charset="0"/>
              </a:rPr>
              <a:t>行</a:t>
            </a:r>
            <a:r>
              <a:rPr kumimoji="1" lang="en-US" altLang="zh-CN" b="1">
                <a:solidFill>
                  <a:srgbClr val="993300"/>
                </a:solidFill>
                <a:latin typeface="Times New Roman" pitchFamily="18" charset="0"/>
              </a:rPr>
              <a:t>j</a:t>
            </a:r>
            <a:r>
              <a:rPr kumimoji="1" lang="zh-CN" altLang="en-US" b="1">
                <a:solidFill>
                  <a:srgbClr val="993300"/>
                </a:solidFill>
                <a:latin typeface="Times New Roman" pitchFamily="18" charset="0"/>
              </a:rPr>
              <a:t>列的元素</a:t>
            </a:r>
            <a:r>
              <a:rPr kumimoji="1" lang="en-US" altLang="zh-CN" b="1">
                <a:solidFill>
                  <a:srgbClr val="993300"/>
                </a:solidFill>
                <a:latin typeface="Times New Roman" pitchFamily="18" charset="0"/>
              </a:rPr>
              <a:t>a</a:t>
            </a:r>
            <a:r>
              <a:rPr lang="en-US" altLang="zh-CN" b="1" baseline="30000">
                <a:solidFill>
                  <a:srgbClr val="993300"/>
                </a:solidFill>
                <a:latin typeface="Times New Roman" pitchFamily="18" charset="0"/>
              </a:rPr>
              <a:t>(m)</a:t>
            </a:r>
            <a:r>
              <a:rPr kumimoji="1" lang="en-US" altLang="zh-CN" b="1" baseline="-25000">
                <a:solidFill>
                  <a:srgbClr val="993300"/>
                </a:solidFill>
                <a:latin typeface="Times New Roman" pitchFamily="18" charset="0"/>
              </a:rPr>
              <a:t>ij</a:t>
            </a:r>
            <a:r>
              <a:rPr kumimoji="1" lang="zh-CN" altLang="en-US" b="1">
                <a:solidFill>
                  <a:srgbClr val="993300"/>
                </a:solidFill>
                <a:latin typeface="Times New Roman" pitchFamily="18" charset="0"/>
              </a:rPr>
              <a:t>。</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770">
                                            <p:txEl>
                                              <p:pRg st="1" end="1"/>
                                            </p:txEl>
                                          </p:spTgt>
                                        </p:tgtEl>
                                        <p:attrNameLst>
                                          <p:attrName>style.visibility</p:attrName>
                                        </p:attrNameLst>
                                      </p:cBhvr>
                                      <p:to>
                                        <p:strVal val="visible"/>
                                      </p:to>
                                    </p:set>
                                    <p:anim calcmode="lin" valueType="num">
                                      <p:cBhvr additive="base">
                                        <p:cTn id="7" dur="500" fill="hold"/>
                                        <p:tgtEl>
                                          <p:spTgt spid="3277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2770">
                                            <p:txEl>
                                              <p:pRg st="2" end="2"/>
                                            </p:txEl>
                                          </p:spTgt>
                                        </p:tgtEl>
                                        <p:attrNameLst>
                                          <p:attrName>style.visibility</p:attrName>
                                        </p:attrNameLst>
                                      </p:cBhvr>
                                      <p:to>
                                        <p:strVal val="visible"/>
                                      </p:to>
                                    </p:set>
                                    <p:anim calcmode="lin" valueType="num">
                                      <p:cBhvr additive="base">
                                        <p:cTn id="13" dur="500" fill="hold"/>
                                        <p:tgtEl>
                                          <p:spTgt spid="3277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7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2770">
                                            <p:txEl>
                                              <p:pRg st="3" end="3"/>
                                            </p:txEl>
                                          </p:spTgt>
                                        </p:tgtEl>
                                        <p:attrNameLst>
                                          <p:attrName>style.visibility</p:attrName>
                                        </p:attrNameLst>
                                      </p:cBhvr>
                                      <p:to>
                                        <p:strVal val="visible"/>
                                      </p:to>
                                    </p:set>
                                    <p:anim calcmode="lin" valueType="num">
                                      <p:cBhvr additive="base">
                                        <p:cTn id="19" dur="500" fill="hold"/>
                                        <p:tgtEl>
                                          <p:spTgt spid="3277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77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2770">
                                            <p:txEl>
                                              <p:pRg st="4" end="4"/>
                                            </p:txEl>
                                          </p:spTgt>
                                        </p:tgtEl>
                                        <p:attrNameLst>
                                          <p:attrName>style.visibility</p:attrName>
                                        </p:attrNameLst>
                                      </p:cBhvr>
                                      <p:to>
                                        <p:strVal val="visible"/>
                                      </p:to>
                                    </p:set>
                                    <p:anim calcmode="lin" valueType="num">
                                      <p:cBhvr additive="base">
                                        <p:cTn id="25" dur="500" fill="hold"/>
                                        <p:tgtEl>
                                          <p:spTgt spid="3277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77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2770">
                                            <p:txEl>
                                              <p:pRg st="5" end="5"/>
                                            </p:txEl>
                                          </p:spTgt>
                                        </p:tgtEl>
                                        <p:attrNameLst>
                                          <p:attrName>style.visibility</p:attrName>
                                        </p:attrNameLst>
                                      </p:cBhvr>
                                      <p:to>
                                        <p:strVal val="visible"/>
                                      </p:to>
                                    </p:set>
                                    <p:anim calcmode="lin" valueType="num">
                                      <p:cBhvr additive="base">
                                        <p:cTn id="31" dur="500" fill="hold"/>
                                        <p:tgtEl>
                                          <p:spTgt spid="3277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277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pPr>
              <a:defRPr/>
            </a:pPr>
            <a:fld id="{964F092B-F72D-4677-84A1-43C772F74D0E}" type="slidenum">
              <a:rPr lang="en-US" altLang="zh-CN"/>
              <a:pPr>
                <a:defRPr/>
              </a:pPr>
              <a:t>43</a:t>
            </a:fld>
            <a:endParaRPr lang="en-US" altLang="zh-CN"/>
          </a:p>
        </p:txBody>
      </p:sp>
      <p:sp>
        <p:nvSpPr>
          <p:cNvPr id="48131" name="Text Box 2"/>
          <p:cNvSpPr txBox="1">
            <a:spLocks noChangeArrowheads="1"/>
          </p:cNvSpPr>
          <p:nvPr/>
        </p:nvSpPr>
        <p:spPr bwMode="auto">
          <a:xfrm>
            <a:off x="466725" y="1341438"/>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7-3.1</a:t>
            </a:r>
            <a:r>
              <a:rPr kumimoji="1" lang="zh-CN" altLang="en-US" b="1">
                <a:solidFill>
                  <a:srgbClr val="0000CC"/>
                </a:solidFill>
                <a:latin typeface="Times New Roman" pitchFamily="18" charset="0"/>
              </a:rPr>
              <a:t>：</a:t>
            </a:r>
            <a:r>
              <a:rPr kumimoji="1" lang="zh-CN" altLang="en-US" b="1">
                <a:latin typeface="Times New Roman" pitchFamily="18" charset="0"/>
              </a:rPr>
              <a:t>设</a:t>
            </a:r>
            <a:r>
              <a:rPr kumimoji="1" lang="en-US" altLang="zh-CN" b="1">
                <a:latin typeface="Times New Roman" pitchFamily="18" charset="0"/>
              </a:rPr>
              <a:t>A(G)</a:t>
            </a:r>
            <a:r>
              <a:rPr kumimoji="1" lang="zh-CN" altLang="en-US" b="1">
                <a:latin typeface="Times New Roman" pitchFamily="18" charset="0"/>
              </a:rPr>
              <a:t>是图</a:t>
            </a:r>
            <a:r>
              <a:rPr kumimoji="1" lang="en-US" altLang="zh-CN" b="1">
                <a:latin typeface="Times New Roman" pitchFamily="18" charset="0"/>
              </a:rPr>
              <a:t>G</a:t>
            </a:r>
            <a:r>
              <a:rPr kumimoji="1" lang="zh-CN" altLang="en-US" b="1">
                <a:latin typeface="Times New Roman" pitchFamily="18" charset="0"/>
              </a:rPr>
              <a:t>的邻接矩阵，则</a:t>
            </a:r>
            <a:r>
              <a:rPr kumimoji="1" lang="en-US" altLang="zh-CN" b="1">
                <a:latin typeface="Times New Roman" pitchFamily="18" charset="0"/>
              </a:rPr>
              <a:t>(A(G))</a:t>
            </a:r>
            <a:r>
              <a:rPr kumimoji="1" lang="en-US" altLang="zh-CN" b="1" i="1" baseline="30000">
                <a:latin typeface="Times New Roman" pitchFamily="18" charset="0"/>
              </a:rPr>
              <a:t>l</a:t>
            </a:r>
            <a:r>
              <a:rPr kumimoji="1" lang="zh-CN" altLang="en-US" b="1">
                <a:latin typeface="Times New Roman" pitchFamily="18" charset="0"/>
              </a:rPr>
              <a:t>中的</a:t>
            </a:r>
            <a:r>
              <a:rPr kumimoji="1" lang="en-US" altLang="zh-CN" b="1">
                <a:latin typeface="Times New Roman" pitchFamily="18" charset="0"/>
              </a:rPr>
              <a:t>i</a:t>
            </a:r>
            <a:r>
              <a:rPr kumimoji="1" lang="zh-CN" altLang="en-US" b="1">
                <a:latin typeface="Times New Roman" pitchFamily="18" charset="0"/>
              </a:rPr>
              <a:t>行，</a:t>
            </a:r>
            <a:r>
              <a:rPr kumimoji="1" lang="en-US" altLang="zh-CN" b="1">
                <a:latin typeface="Times New Roman" pitchFamily="18" charset="0"/>
              </a:rPr>
              <a:t>j</a:t>
            </a:r>
            <a:r>
              <a:rPr kumimoji="1" lang="zh-CN" altLang="en-US" b="1">
                <a:latin typeface="Times New Roman" pitchFamily="18" charset="0"/>
              </a:rPr>
              <a:t>列元素</a:t>
            </a:r>
            <a:r>
              <a:rPr kumimoji="1" lang="en-US" altLang="zh-CN" b="1">
                <a:solidFill>
                  <a:srgbClr val="0000CC"/>
                </a:solidFill>
                <a:latin typeface="Times New Roman" pitchFamily="18" charset="0"/>
              </a:rPr>
              <a:t>a</a:t>
            </a:r>
            <a:r>
              <a:rPr kumimoji="1" lang="en-US" altLang="zh-CN" b="1" baseline="30000">
                <a:solidFill>
                  <a:srgbClr val="0000CC"/>
                </a:solidFill>
                <a:latin typeface="Times New Roman" pitchFamily="18" charset="0"/>
              </a:rPr>
              <a:t>( </a:t>
            </a:r>
            <a:r>
              <a:rPr kumimoji="1" lang="en-US" altLang="zh-CN" b="1" i="1" baseline="30000">
                <a:solidFill>
                  <a:srgbClr val="0000CC"/>
                </a:solidFill>
                <a:latin typeface="Times New Roman" pitchFamily="18" charset="0"/>
              </a:rPr>
              <a:t>l </a:t>
            </a:r>
            <a:r>
              <a:rPr kumimoji="1" lang="en-US" altLang="zh-CN" b="1" baseline="30000">
                <a:solidFill>
                  <a:srgbClr val="0000CC"/>
                </a:solidFill>
                <a:latin typeface="Times New Roman" pitchFamily="18" charset="0"/>
              </a:rPr>
              <a:t>)</a:t>
            </a:r>
            <a:r>
              <a:rPr kumimoji="1" lang="en-US" altLang="zh-CN" b="1" baseline="-25000">
                <a:solidFill>
                  <a:srgbClr val="0000CC"/>
                </a:solidFill>
                <a:latin typeface="Times New Roman" pitchFamily="18" charset="0"/>
              </a:rPr>
              <a:t>ij</a:t>
            </a:r>
            <a:r>
              <a:rPr kumimoji="1" lang="zh-CN" altLang="en-US" b="1">
                <a:solidFill>
                  <a:srgbClr val="0000CC"/>
                </a:solidFill>
                <a:latin typeface="Times New Roman" pitchFamily="18" charset="0"/>
              </a:rPr>
              <a:t>等于</a:t>
            </a:r>
            <a:r>
              <a:rPr kumimoji="1" lang="en-US" altLang="zh-CN" b="1">
                <a:solidFill>
                  <a:srgbClr val="0000CC"/>
                </a:solidFill>
                <a:latin typeface="Times New Roman" pitchFamily="18" charset="0"/>
              </a:rPr>
              <a:t>G</a:t>
            </a:r>
            <a:r>
              <a:rPr kumimoji="1" lang="zh-CN" altLang="en-US" b="1">
                <a:solidFill>
                  <a:srgbClr val="0000CC"/>
                </a:solidFill>
                <a:latin typeface="Times New Roman" pitchFamily="18" charset="0"/>
              </a:rPr>
              <a:t>中联结</a:t>
            </a:r>
            <a:r>
              <a:rPr kumimoji="1" lang="en-US" altLang="zh-CN" b="1">
                <a:solidFill>
                  <a:srgbClr val="0000CC"/>
                </a:solidFill>
                <a:latin typeface="Times New Roman" pitchFamily="18" charset="0"/>
              </a:rPr>
              <a:t>v</a:t>
            </a:r>
            <a:r>
              <a:rPr kumimoji="1" lang="en-US" altLang="zh-CN" b="1" baseline="-25000">
                <a:solidFill>
                  <a:srgbClr val="0000CC"/>
                </a:solidFill>
                <a:latin typeface="Times New Roman" pitchFamily="18" charset="0"/>
              </a:rPr>
              <a:t>i</a:t>
            </a:r>
            <a:r>
              <a:rPr kumimoji="1" lang="zh-CN" altLang="en-US" b="1">
                <a:solidFill>
                  <a:srgbClr val="0000CC"/>
                </a:solidFill>
                <a:latin typeface="Times New Roman" pitchFamily="18" charset="0"/>
              </a:rPr>
              <a:t>与</a:t>
            </a:r>
            <a:r>
              <a:rPr kumimoji="1" lang="en-US" altLang="zh-CN" b="1">
                <a:solidFill>
                  <a:srgbClr val="0000CC"/>
                </a:solidFill>
                <a:latin typeface="Times New Roman" pitchFamily="18" charset="0"/>
              </a:rPr>
              <a:t>v</a:t>
            </a:r>
            <a:r>
              <a:rPr kumimoji="1" lang="en-US" altLang="zh-CN" b="1" baseline="-25000">
                <a:solidFill>
                  <a:srgbClr val="0000CC"/>
                </a:solidFill>
                <a:latin typeface="Times New Roman" pitchFamily="18" charset="0"/>
              </a:rPr>
              <a:t>j</a:t>
            </a:r>
            <a:r>
              <a:rPr kumimoji="1" lang="zh-CN" altLang="en-US" b="1">
                <a:solidFill>
                  <a:srgbClr val="0000CC"/>
                </a:solidFill>
                <a:latin typeface="Times New Roman" pitchFamily="18" charset="0"/>
              </a:rPr>
              <a:t>长度为</a:t>
            </a:r>
            <a:r>
              <a:rPr kumimoji="1" lang="en-US" altLang="zh-CN" b="1" i="1">
                <a:solidFill>
                  <a:srgbClr val="0000CC"/>
                </a:solidFill>
                <a:latin typeface="Times New Roman" pitchFamily="18" charset="0"/>
              </a:rPr>
              <a:t>l</a:t>
            </a:r>
            <a:r>
              <a:rPr kumimoji="1" lang="zh-CN" altLang="en-US" b="1">
                <a:solidFill>
                  <a:srgbClr val="0000CC"/>
                </a:solidFill>
                <a:latin typeface="Times New Roman" pitchFamily="18" charset="0"/>
              </a:rPr>
              <a:t>的路的数目</a:t>
            </a:r>
            <a:r>
              <a:rPr kumimoji="1" lang="zh-CN" altLang="en-US" b="1">
                <a:latin typeface="Times New Roman" pitchFamily="18" charset="0"/>
              </a:rPr>
              <a:t>。</a:t>
            </a:r>
          </a:p>
        </p:txBody>
      </p:sp>
      <p:sp>
        <p:nvSpPr>
          <p:cNvPr id="33825" name="Text Box 33"/>
          <p:cNvSpPr txBox="1">
            <a:spLocks noChangeArrowheads="1"/>
          </p:cNvSpPr>
          <p:nvPr/>
        </p:nvSpPr>
        <p:spPr bwMode="auto">
          <a:xfrm>
            <a:off x="466725" y="2492375"/>
            <a:ext cx="8277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a:solidFill>
                  <a:schemeClr val="bg2"/>
                </a:solidFill>
                <a:latin typeface="Times New Roman" pitchFamily="18" charset="0"/>
              </a:rPr>
              <a:t>考虑：结点</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i</a:t>
            </a:r>
            <a:r>
              <a:rPr kumimoji="1" lang="zh-CN" altLang="en-US" b="1">
                <a:solidFill>
                  <a:schemeClr val="bg2"/>
                </a:solidFill>
                <a:latin typeface="Times New Roman" pitchFamily="18" charset="0"/>
              </a:rPr>
              <a:t>到</a:t>
            </a: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i</a:t>
            </a:r>
            <a:r>
              <a:rPr kumimoji="1" lang="zh-CN" altLang="en-US" b="1">
                <a:solidFill>
                  <a:schemeClr val="bg2"/>
                </a:solidFill>
                <a:latin typeface="Times New Roman" pitchFamily="18" charset="0"/>
              </a:rPr>
              <a:t>的长度为</a:t>
            </a:r>
            <a:r>
              <a:rPr kumimoji="1" lang="en-US" altLang="zh-CN" b="1">
                <a:solidFill>
                  <a:schemeClr val="bg2"/>
                </a:solidFill>
                <a:latin typeface="Times New Roman" pitchFamily="18" charset="0"/>
              </a:rPr>
              <a:t>m</a:t>
            </a:r>
            <a:r>
              <a:rPr kumimoji="1" lang="zh-CN" altLang="en-US" b="1">
                <a:solidFill>
                  <a:schemeClr val="bg2"/>
                </a:solidFill>
                <a:latin typeface="Times New Roman" pitchFamily="18" charset="0"/>
              </a:rPr>
              <a:t>的回路数目？</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3825"/>
                                        </p:tgtEl>
                                        <p:attrNameLst>
                                          <p:attrName>style.visibility</p:attrName>
                                        </p:attrNameLst>
                                      </p:cBhvr>
                                      <p:to>
                                        <p:strVal val="visible"/>
                                      </p:to>
                                    </p:set>
                                    <p:anim calcmode="lin" valueType="num">
                                      <p:cBhvr additive="base">
                                        <p:cTn id="7" dur="500" fill="hold"/>
                                        <p:tgtEl>
                                          <p:spTgt spid="33825"/>
                                        </p:tgtEl>
                                        <p:attrNameLst>
                                          <p:attrName>ppt_x</p:attrName>
                                        </p:attrNameLst>
                                      </p:cBhvr>
                                      <p:tavLst>
                                        <p:tav tm="0">
                                          <p:val>
                                            <p:strVal val="#ppt_x"/>
                                          </p:val>
                                        </p:tav>
                                        <p:tav tm="100000">
                                          <p:val>
                                            <p:strVal val="#ppt_x"/>
                                          </p:val>
                                        </p:tav>
                                      </p:tavLst>
                                    </p:anim>
                                    <p:anim calcmode="lin" valueType="num">
                                      <p:cBhvr additive="base">
                                        <p:cTn id="8" dur="500" fill="hold"/>
                                        <p:tgtEl>
                                          <p:spTgt spid="338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2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2"/>
          <p:cNvSpPr>
            <a:spLocks noGrp="1"/>
          </p:cNvSpPr>
          <p:nvPr>
            <p:ph type="sldNum" sz="quarter" idx="11"/>
          </p:nvPr>
        </p:nvSpPr>
        <p:spPr/>
        <p:txBody>
          <a:bodyPr/>
          <a:lstStyle/>
          <a:p>
            <a:pPr>
              <a:defRPr/>
            </a:pPr>
            <a:fld id="{C6A31168-F11D-4744-968C-D6786A38D6EE}" type="slidenum">
              <a:rPr lang="en-US" altLang="zh-CN"/>
              <a:pPr>
                <a:defRPr/>
              </a:pPr>
              <a:t>44</a:t>
            </a:fld>
            <a:endParaRPr lang="en-US" altLang="zh-CN"/>
          </a:p>
        </p:txBody>
      </p:sp>
      <p:sp>
        <p:nvSpPr>
          <p:cNvPr id="49155" name="Rectangle 4"/>
          <p:cNvSpPr>
            <a:spLocks noChangeArrowheads="1"/>
          </p:cNvSpPr>
          <p:nvPr/>
        </p:nvSpPr>
        <p:spPr bwMode="auto">
          <a:xfrm>
            <a:off x="466725" y="1081088"/>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zh-CN" altLang="en-US" b="1">
                <a:solidFill>
                  <a:schemeClr val="hlink"/>
                </a:solidFill>
                <a:latin typeface="Times New Roman" pitchFamily="18" charset="0"/>
              </a:rPr>
              <a:t>例：</a:t>
            </a:r>
            <a:r>
              <a:rPr kumimoji="1" lang="zh-CN" altLang="en-US" b="1">
                <a:latin typeface="Times New Roman" pitchFamily="18" charset="0"/>
              </a:rPr>
              <a:t>给定一图</a:t>
            </a:r>
            <a:r>
              <a:rPr kumimoji="1" lang="en-US" altLang="zh-CN" b="1">
                <a:latin typeface="Times New Roman" pitchFamily="18" charset="0"/>
              </a:rPr>
              <a:t>G=&lt;V,E&gt;</a:t>
            </a:r>
            <a:r>
              <a:rPr kumimoji="1" lang="zh-CN" altLang="en-US" b="1">
                <a:latin typeface="Times New Roman" pitchFamily="18" charset="0"/>
              </a:rPr>
              <a:t>，如图所示，求从</a:t>
            </a:r>
            <a:r>
              <a:rPr kumimoji="1" lang="en-US" altLang="zh-CN" b="1">
                <a:latin typeface="Times New Roman" pitchFamily="18" charset="0"/>
              </a:rPr>
              <a:t>v</a:t>
            </a:r>
            <a:r>
              <a:rPr kumimoji="1" lang="en-US" altLang="zh-CN" b="1" baseline="-25000">
                <a:latin typeface="Times New Roman" pitchFamily="18" charset="0"/>
              </a:rPr>
              <a:t>1</a:t>
            </a:r>
            <a:r>
              <a:rPr kumimoji="1" lang="zh-CN" altLang="en-US" b="1">
                <a:latin typeface="Times New Roman" pitchFamily="18" charset="0"/>
              </a:rPr>
              <a:t>到</a:t>
            </a:r>
            <a:r>
              <a:rPr kumimoji="1" lang="en-US" altLang="zh-CN" b="1">
                <a:latin typeface="Times New Roman" pitchFamily="18" charset="0"/>
              </a:rPr>
              <a:t>v</a:t>
            </a:r>
            <a:r>
              <a:rPr kumimoji="1" lang="en-US" altLang="zh-CN" b="1" baseline="-25000">
                <a:latin typeface="Times New Roman" pitchFamily="18" charset="0"/>
              </a:rPr>
              <a:t>3</a:t>
            </a:r>
            <a:r>
              <a:rPr kumimoji="1" lang="zh-CN" altLang="en-US" b="1">
                <a:latin typeface="Times New Roman" pitchFamily="18" charset="0"/>
              </a:rPr>
              <a:t>长度为</a:t>
            </a:r>
            <a:r>
              <a:rPr kumimoji="1" lang="en-US" altLang="zh-CN" b="1">
                <a:latin typeface="Times New Roman" pitchFamily="18" charset="0"/>
              </a:rPr>
              <a:t>3</a:t>
            </a:r>
            <a:r>
              <a:rPr kumimoji="1" lang="zh-CN" altLang="en-US" b="1">
                <a:latin typeface="Times New Roman" pitchFamily="18" charset="0"/>
              </a:rPr>
              <a:t>的路数目。</a:t>
            </a:r>
          </a:p>
        </p:txBody>
      </p:sp>
      <p:graphicFrame>
        <p:nvGraphicFramePr>
          <p:cNvPr id="117766" name="Object 6"/>
          <p:cNvGraphicFramePr>
            <a:graphicFrameLocks/>
          </p:cNvGraphicFramePr>
          <p:nvPr/>
        </p:nvGraphicFramePr>
        <p:xfrm>
          <a:off x="3295650" y="1728788"/>
          <a:ext cx="2425700" cy="2058987"/>
        </p:xfrm>
        <a:graphic>
          <a:graphicData uri="http://schemas.openxmlformats.org/presentationml/2006/ole">
            <mc:AlternateContent xmlns:mc="http://schemas.openxmlformats.org/markup-compatibility/2006">
              <mc:Choice xmlns:v="urn:schemas-microsoft-com:vml" Requires="v">
                <p:oleObj spid="_x0000_s49468" name="Equation" r:id="rId3" imgW="2425700" imgH="2057400" progId="Equation.DSMT4">
                  <p:embed/>
                </p:oleObj>
              </mc:Choice>
              <mc:Fallback>
                <p:oleObj name="Equation" r:id="rId3" imgW="2425700" imgH="2057400" progId="Equation.DSMT4">
                  <p:embed/>
                  <p:pic>
                    <p:nvPicPr>
                      <p:cNvPr id="0" name="Object 6"/>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95650" y="1728788"/>
                        <a:ext cx="2425700" cy="205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49157" name="Group 8"/>
          <p:cNvGrpSpPr>
            <a:grpSpLocks/>
          </p:cNvGrpSpPr>
          <p:nvPr/>
        </p:nvGrpSpPr>
        <p:grpSpPr bwMode="auto">
          <a:xfrm>
            <a:off x="468313" y="2016125"/>
            <a:ext cx="2667000" cy="2390775"/>
            <a:chOff x="576" y="2536"/>
            <a:chExt cx="1680" cy="1506"/>
          </a:xfrm>
        </p:grpSpPr>
        <p:grpSp>
          <p:nvGrpSpPr>
            <p:cNvPr id="49161" name="Group 9"/>
            <p:cNvGrpSpPr>
              <a:grpSpLocks/>
            </p:cNvGrpSpPr>
            <p:nvPr/>
          </p:nvGrpSpPr>
          <p:grpSpPr bwMode="auto">
            <a:xfrm>
              <a:off x="576" y="2659"/>
              <a:ext cx="1556" cy="1125"/>
              <a:chOff x="576" y="2555"/>
              <a:chExt cx="1556" cy="1125"/>
            </a:xfrm>
          </p:grpSpPr>
          <p:grpSp>
            <p:nvGrpSpPr>
              <p:cNvPr id="49167" name="Group 10"/>
              <p:cNvGrpSpPr>
                <a:grpSpLocks/>
              </p:cNvGrpSpPr>
              <p:nvPr/>
            </p:nvGrpSpPr>
            <p:grpSpPr bwMode="auto">
              <a:xfrm>
                <a:off x="576" y="2555"/>
                <a:ext cx="1556" cy="1125"/>
                <a:chOff x="576" y="2555"/>
                <a:chExt cx="1556" cy="1125"/>
              </a:xfrm>
            </p:grpSpPr>
            <p:grpSp>
              <p:nvGrpSpPr>
                <p:cNvPr id="49170" name="Group 11"/>
                <p:cNvGrpSpPr>
                  <a:grpSpLocks/>
                </p:cNvGrpSpPr>
                <p:nvPr/>
              </p:nvGrpSpPr>
              <p:grpSpPr bwMode="auto">
                <a:xfrm>
                  <a:off x="576" y="2555"/>
                  <a:ext cx="1273" cy="852"/>
                  <a:chOff x="576" y="2555"/>
                  <a:chExt cx="1273" cy="852"/>
                </a:xfrm>
              </p:grpSpPr>
              <p:sp>
                <p:nvSpPr>
                  <p:cNvPr id="49175" name="Freeform 12"/>
                  <p:cNvSpPr>
                    <a:spLocks/>
                  </p:cNvSpPr>
                  <p:nvPr/>
                </p:nvSpPr>
                <p:spPr bwMode="auto">
                  <a:xfrm>
                    <a:off x="576" y="2640"/>
                    <a:ext cx="288" cy="767"/>
                  </a:xfrm>
                  <a:custGeom>
                    <a:avLst/>
                    <a:gdLst>
                      <a:gd name="T0" fmla="*/ 144 w 420"/>
                      <a:gd name="T1" fmla="*/ 0 h 1248"/>
                      <a:gd name="T2" fmla="*/ 21 w 420"/>
                      <a:gd name="T3" fmla="*/ 192 h 1248"/>
                      <a:gd name="T4" fmla="*/ 21 w 420"/>
                      <a:gd name="T5" fmla="*/ 575 h 1248"/>
                      <a:gd name="T6" fmla="*/ 144 w 420"/>
                      <a:gd name="T7" fmla="*/ 767 h 1248"/>
                      <a:gd name="T8" fmla="*/ 267 w 420"/>
                      <a:gd name="T9" fmla="*/ 575 h 1248"/>
                      <a:gd name="T10" fmla="*/ 267 w 420"/>
                      <a:gd name="T11" fmla="*/ 192 h 1248"/>
                      <a:gd name="T12" fmla="*/ 144 w 420"/>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0" h="1248">
                        <a:moveTo>
                          <a:pt x="210" y="0"/>
                        </a:moveTo>
                        <a:cubicBezTo>
                          <a:pt x="150" y="0"/>
                          <a:pt x="60" y="156"/>
                          <a:pt x="30" y="312"/>
                        </a:cubicBezTo>
                        <a:cubicBezTo>
                          <a:pt x="0" y="468"/>
                          <a:pt x="0" y="780"/>
                          <a:pt x="30" y="936"/>
                        </a:cubicBezTo>
                        <a:cubicBezTo>
                          <a:pt x="60" y="1092"/>
                          <a:pt x="150" y="1248"/>
                          <a:pt x="210" y="1248"/>
                        </a:cubicBezTo>
                        <a:cubicBezTo>
                          <a:pt x="270" y="1248"/>
                          <a:pt x="360" y="1092"/>
                          <a:pt x="390" y="936"/>
                        </a:cubicBezTo>
                        <a:cubicBezTo>
                          <a:pt x="420" y="780"/>
                          <a:pt x="420" y="468"/>
                          <a:pt x="390" y="312"/>
                        </a:cubicBezTo>
                        <a:cubicBezTo>
                          <a:pt x="360" y="156"/>
                          <a:pt x="270" y="0"/>
                          <a:pt x="210" y="0"/>
                        </a:cubicBezTo>
                        <a:close/>
                      </a:path>
                    </a:pathLst>
                  </a:custGeom>
                  <a:solidFill>
                    <a:srgbClr val="FFFFFF"/>
                  </a:solidFill>
                  <a:ln w="25400">
                    <a:solidFill>
                      <a:srgbClr val="000000"/>
                    </a:solidFill>
                    <a:round/>
                    <a:headEnd/>
                    <a:tailEnd/>
                  </a:ln>
                </p:spPr>
                <p:txBody>
                  <a:bodyPr/>
                  <a:lstStyle/>
                  <a:p>
                    <a:endParaRPr lang="zh-CN" altLang="en-US"/>
                  </a:p>
                </p:txBody>
              </p:sp>
              <p:grpSp>
                <p:nvGrpSpPr>
                  <p:cNvPr id="49176" name="Group 13"/>
                  <p:cNvGrpSpPr>
                    <a:grpSpLocks/>
                  </p:cNvGrpSpPr>
                  <p:nvPr/>
                </p:nvGrpSpPr>
                <p:grpSpPr bwMode="auto">
                  <a:xfrm rot="8100000">
                    <a:off x="1575" y="2555"/>
                    <a:ext cx="274" cy="767"/>
                    <a:chOff x="3030" y="10176"/>
                    <a:chExt cx="420" cy="1248"/>
                  </a:xfrm>
                </p:grpSpPr>
                <p:sp>
                  <p:nvSpPr>
                    <p:cNvPr id="49177" name="Freeform 14"/>
                    <p:cNvSpPr>
                      <a:spLocks/>
                    </p:cNvSpPr>
                    <p:nvPr/>
                  </p:nvSpPr>
                  <p:spPr bwMode="auto">
                    <a:xfrm>
                      <a:off x="3030" y="10176"/>
                      <a:ext cx="420" cy="1248"/>
                    </a:xfrm>
                    <a:custGeom>
                      <a:avLst/>
                      <a:gdLst>
                        <a:gd name="T0" fmla="*/ 210 w 420"/>
                        <a:gd name="T1" fmla="*/ 0 h 1248"/>
                        <a:gd name="T2" fmla="*/ 30 w 420"/>
                        <a:gd name="T3" fmla="*/ 312 h 1248"/>
                        <a:gd name="T4" fmla="*/ 30 w 420"/>
                        <a:gd name="T5" fmla="*/ 936 h 1248"/>
                        <a:gd name="T6" fmla="*/ 210 w 420"/>
                        <a:gd name="T7" fmla="*/ 1248 h 1248"/>
                        <a:gd name="T8" fmla="*/ 390 w 420"/>
                        <a:gd name="T9" fmla="*/ 936 h 1248"/>
                        <a:gd name="T10" fmla="*/ 390 w 420"/>
                        <a:gd name="T11" fmla="*/ 312 h 1248"/>
                        <a:gd name="T12" fmla="*/ 210 w 420"/>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0" h="1248">
                          <a:moveTo>
                            <a:pt x="210" y="0"/>
                          </a:moveTo>
                          <a:cubicBezTo>
                            <a:pt x="150" y="0"/>
                            <a:pt x="60" y="156"/>
                            <a:pt x="30" y="312"/>
                          </a:cubicBezTo>
                          <a:cubicBezTo>
                            <a:pt x="0" y="468"/>
                            <a:pt x="0" y="780"/>
                            <a:pt x="30" y="936"/>
                          </a:cubicBezTo>
                          <a:cubicBezTo>
                            <a:pt x="60" y="1092"/>
                            <a:pt x="150" y="1248"/>
                            <a:pt x="210" y="1248"/>
                          </a:cubicBezTo>
                          <a:cubicBezTo>
                            <a:pt x="270" y="1248"/>
                            <a:pt x="360" y="1092"/>
                            <a:pt x="390" y="936"/>
                          </a:cubicBezTo>
                          <a:cubicBezTo>
                            <a:pt x="420" y="780"/>
                            <a:pt x="420" y="468"/>
                            <a:pt x="390" y="312"/>
                          </a:cubicBezTo>
                          <a:cubicBezTo>
                            <a:pt x="360" y="156"/>
                            <a:pt x="270" y="0"/>
                            <a:pt x="210" y="0"/>
                          </a:cubicBezTo>
                          <a:close/>
                        </a:path>
                      </a:pathLst>
                    </a:custGeom>
                    <a:solidFill>
                      <a:srgbClr val="FFFFFF"/>
                    </a:solidFill>
                    <a:ln w="25400">
                      <a:solidFill>
                        <a:srgbClr val="000000"/>
                      </a:solidFill>
                      <a:round/>
                      <a:headEnd/>
                      <a:tailEnd/>
                    </a:ln>
                  </p:spPr>
                  <p:txBody>
                    <a:bodyPr/>
                    <a:lstStyle/>
                    <a:p>
                      <a:endParaRPr lang="zh-CN" altLang="en-US"/>
                    </a:p>
                  </p:txBody>
                </p:sp>
                <p:sp>
                  <p:nvSpPr>
                    <p:cNvPr id="49178" name="Freeform 15"/>
                    <p:cNvSpPr>
                      <a:spLocks/>
                    </p:cNvSpPr>
                    <p:nvPr/>
                  </p:nvSpPr>
                  <p:spPr bwMode="auto">
                    <a:xfrm rot="5400000">
                      <a:off x="3002" y="10814"/>
                      <a:ext cx="57" cy="1"/>
                    </a:xfrm>
                    <a:custGeom>
                      <a:avLst/>
                      <a:gdLst>
                        <a:gd name="T0" fmla="*/ 0 w 510"/>
                        <a:gd name="T1" fmla="*/ 0 h 36"/>
                        <a:gd name="T2" fmla="*/ 57 w 510"/>
                        <a:gd name="T3" fmla="*/ 1 h 36"/>
                        <a:gd name="T4" fmla="*/ 0 60000 65536"/>
                        <a:gd name="T5" fmla="*/ 0 60000 65536"/>
                      </a:gdLst>
                      <a:ahLst/>
                      <a:cxnLst>
                        <a:cxn ang="T4">
                          <a:pos x="T0" y="T1"/>
                        </a:cxn>
                        <a:cxn ang="T5">
                          <a:pos x="T2" y="T3"/>
                        </a:cxn>
                      </a:cxnLst>
                      <a:rect l="0" t="0" r="r" b="b"/>
                      <a:pathLst>
                        <a:path w="510" h="36">
                          <a:moveTo>
                            <a:pt x="0" y="0"/>
                          </a:moveTo>
                          <a:lnTo>
                            <a:pt x="510" y="36"/>
                          </a:lnTo>
                        </a:path>
                      </a:pathLst>
                    </a:custGeom>
                    <a:noFill/>
                    <a:ln w="25400">
                      <a:solidFill>
                        <a:srgbClr val="000000"/>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79" name="Freeform 16"/>
                    <p:cNvSpPr>
                      <a:spLocks/>
                    </p:cNvSpPr>
                    <p:nvPr/>
                  </p:nvSpPr>
                  <p:spPr bwMode="auto">
                    <a:xfrm rot="-5400000">
                      <a:off x="3407" y="10753"/>
                      <a:ext cx="57" cy="1"/>
                    </a:xfrm>
                    <a:custGeom>
                      <a:avLst/>
                      <a:gdLst>
                        <a:gd name="T0" fmla="*/ 0 w 510"/>
                        <a:gd name="T1" fmla="*/ 0 h 36"/>
                        <a:gd name="T2" fmla="*/ 57 w 510"/>
                        <a:gd name="T3" fmla="*/ 1 h 36"/>
                        <a:gd name="T4" fmla="*/ 0 60000 65536"/>
                        <a:gd name="T5" fmla="*/ 0 60000 65536"/>
                      </a:gdLst>
                      <a:ahLst/>
                      <a:cxnLst>
                        <a:cxn ang="T4">
                          <a:pos x="T0" y="T1"/>
                        </a:cxn>
                        <a:cxn ang="T5">
                          <a:pos x="T2" y="T3"/>
                        </a:cxn>
                      </a:cxnLst>
                      <a:rect l="0" t="0" r="r" b="b"/>
                      <a:pathLst>
                        <a:path w="510" h="36">
                          <a:moveTo>
                            <a:pt x="0" y="0"/>
                          </a:moveTo>
                          <a:lnTo>
                            <a:pt x="510" y="36"/>
                          </a:lnTo>
                        </a:path>
                      </a:pathLst>
                    </a:custGeom>
                    <a:noFill/>
                    <a:ln w="25400">
                      <a:solidFill>
                        <a:srgbClr val="000000"/>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grpSp>
              <p:nvGrpSpPr>
                <p:cNvPr id="49171" name="Group 17"/>
                <p:cNvGrpSpPr>
                  <a:grpSpLocks/>
                </p:cNvGrpSpPr>
                <p:nvPr/>
              </p:nvGrpSpPr>
              <p:grpSpPr bwMode="auto">
                <a:xfrm>
                  <a:off x="1264" y="3392"/>
                  <a:ext cx="868" cy="288"/>
                  <a:chOff x="4650" y="11499"/>
                  <a:chExt cx="1248" cy="420"/>
                </a:xfrm>
              </p:grpSpPr>
              <p:sp>
                <p:nvSpPr>
                  <p:cNvPr id="49172" name="Freeform 18"/>
                  <p:cNvSpPr>
                    <a:spLocks/>
                  </p:cNvSpPr>
                  <p:nvPr/>
                </p:nvSpPr>
                <p:spPr bwMode="auto">
                  <a:xfrm rot="2700000">
                    <a:off x="5064" y="11085"/>
                    <a:ext cx="420" cy="1248"/>
                  </a:xfrm>
                  <a:custGeom>
                    <a:avLst/>
                    <a:gdLst>
                      <a:gd name="T0" fmla="*/ 210 w 420"/>
                      <a:gd name="T1" fmla="*/ 0 h 1248"/>
                      <a:gd name="T2" fmla="*/ 30 w 420"/>
                      <a:gd name="T3" fmla="*/ 312 h 1248"/>
                      <a:gd name="T4" fmla="*/ 30 w 420"/>
                      <a:gd name="T5" fmla="*/ 936 h 1248"/>
                      <a:gd name="T6" fmla="*/ 210 w 420"/>
                      <a:gd name="T7" fmla="*/ 1248 h 1248"/>
                      <a:gd name="T8" fmla="*/ 390 w 420"/>
                      <a:gd name="T9" fmla="*/ 936 h 1248"/>
                      <a:gd name="T10" fmla="*/ 390 w 420"/>
                      <a:gd name="T11" fmla="*/ 312 h 1248"/>
                      <a:gd name="T12" fmla="*/ 210 w 420"/>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0" h="1248">
                        <a:moveTo>
                          <a:pt x="210" y="0"/>
                        </a:moveTo>
                        <a:cubicBezTo>
                          <a:pt x="150" y="0"/>
                          <a:pt x="60" y="156"/>
                          <a:pt x="30" y="312"/>
                        </a:cubicBezTo>
                        <a:cubicBezTo>
                          <a:pt x="0" y="468"/>
                          <a:pt x="0" y="780"/>
                          <a:pt x="30" y="936"/>
                        </a:cubicBezTo>
                        <a:cubicBezTo>
                          <a:pt x="60" y="1092"/>
                          <a:pt x="150" y="1248"/>
                          <a:pt x="210" y="1248"/>
                        </a:cubicBezTo>
                        <a:cubicBezTo>
                          <a:pt x="270" y="1248"/>
                          <a:pt x="360" y="1092"/>
                          <a:pt x="390" y="936"/>
                        </a:cubicBezTo>
                        <a:cubicBezTo>
                          <a:pt x="420" y="780"/>
                          <a:pt x="420" y="468"/>
                          <a:pt x="390" y="312"/>
                        </a:cubicBezTo>
                        <a:cubicBezTo>
                          <a:pt x="360" y="156"/>
                          <a:pt x="270" y="0"/>
                          <a:pt x="210" y="0"/>
                        </a:cubicBezTo>
                        <a:close/>
                      </a:path>
                    </a:pathLst>
                  </a:custGeom>
                  <a:solidFill>
                    <a:srgbClr val="FFFFFF"/>
                  </a:solidFill>
                  <a:ln w="25400">
                    <a:solidFill>
                      <a:srgbClr val="000000"/>
                    </a:solidFill>
                    <a:round/>
                    <a:headEnd/>
                    <a:tailEnd/>
                  </a:ln>
                </p:spPr>
                <p:txBody>
                  <a:bodyPr/>
                  <a:lstStyle/>
                  <a:p>
                    <a:endParaRPr lang="zh-CN" altLang="en-US"/>
                  </a:p>
                </p:txBody>
              </p:sp>
              <p:sp>
                <p:nvSpPr>
                  <p:cNvPr id="49173" name="Freeform 19"/>
                  <p:cNvSpPr>
                    <a:spLocks/>
                  </p:cNvSpPr>
                  <p:nvPr/>
                </p:nvSpPr>
                <p:spPr bwMode="auto">
                  <a:xfrm rot="8100000">
                    <a:off x="5089" y="11570"/>
                    <a:ext cx="57" cy="1"/>
                  </a:xfrm>
                  <a:custGeom>
                    <a:avLst/>
                    <a:gdLst>
                      <a:gd name="T0" fmla="*/ 0 w 510"/>
                      <a:gd name="T1" fmla="*/ 0 h 36"/>
                      <a:gd name="T2" fmla="*/ 57 w 510"/>
                      <a:gd name="T3" fmla="*/ 1 h 36"/>
                      <a:gd name="T4" fmla="*/ 0 60000 65536"/>
                      <a:gd name="T5" fmla="*/ 0 60000 65536"/>
                    </a:gdLst>
                    <a:ahLst/>
                    <a:cxnLst>
                      <a:cxn ang="T4">
                        <a:pos x="T0" y="T1"/>
                      </a:cxn>
                      <a:cxn ang="T5">
                        <a:pos x="T2" y="T3"/>
                      </a:cxn>
                    </a:cxnLst>
                    <a:rect l="0" t="0" r="r" b="b"/>
                    <a:pathLst>
                      <a:path w="510" h="36">
                        <a:moveTo>
                          <a:pt x="0" y="0"/>
                        </a:moveTo>
                        <a:lnTo>
                          <a:pt x="510" y="36"/>
                        </a:lnTo>
                      </a:path>
                    </a:pathLst>
                  </a:custGeom>
                  <a:noFill/>
                  <a:ln w="25400">
                    <a:solidFill>
                      <a:srgbClr val="000000"/>
                    </a:solidFill>
                    <a:round/>
                    <a:headEnd type="arrow"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74" name="Freeform 20"/>
                  <p:cNvSpPr>
                    <a:spLocks/>
                  </p:cNvSpPr>
                  <p:nvPr/>
                </p:nvSpPr>
                <p:spPr bwMode="auto">
                  <a:xfrm rot="-2700000">
                    <a:off x="5416" y="11814"/>
                    <a:ext cx="57" cy="1"/>
                  </a:xfrm>
                  <a:custGeom>
                    <a:avLst/>
                    <a:gdLst>
                      <a:gd name="T0" fmla="*/ 0 w 510"/>
                      <a:gd name="T1" fmla="*/ 0 h 36"/>
                      <a:gd name="T2" fmla="*/ 57 w 510"/>
                      <a:gd name="T3" fmla="*/ 1 h 36"/>
                      <a:gd name="T4" fmla="*/ 0 60000 65536"/>
                      <a:gd name="T5" fmla="*/ 0 60000 65536"/>
                    </a:gdLst>
                    <a:ahLst/>
                    <a:cxnLst>
                      <a:cxn ang="T4">
                        <a:pos x="T0" y="T1"/>
                      </a:cxn>
                      <a:cxn ang="T5">
                        <a:pos x="T2" y="T3"/>
                      </a:cxn>
                    </a:cxnLst>
                    <a:rect l="0" t="0" r="r" b="b"/>
                    <a:pathLst>
                      <a:path w="510" h="36">
                        <a:moveTo>
                          <a:pt x="0" y="0"/>
                        </a:moveTo>
                        <a:lnTo>
                          <a:pt x="510" y="36"/>
                        </a:lnTo>
                      </a:path>
                    </a:pathLst>
                  </a:custGeom>
                  <a:noFill/>
                  <a:ln w="25400">
                    <a:solidFill>
                      <a:srgbClr val="000000"/>
                    </a:solidFill>
                    <a:round/>
                    <a:headEnd type="arrow"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sp>
            <p:nvSpPr>
              <p:cNvPr id="49168" name="Freeform 21"/>
              <p:cNvSpPr>
                <a:spLocks/>
              </p:cNvSpPr>
              <p:nvPr/>
            </p:nvSpPr>
            <p:spPr bwMode="auto">
              <a:xfrm rot="5400000">
                <a:off x="559" y="3032"/>
                <a:ext cx="35" cy="1"/>
              </a:xfrm>
              <a:custGeom>
                <a:avLst/>
                <a:gdLst>
                  <a:gd name="T0" fmla="*/ 0 w 510"/>
                  <a:gd name="T1" fmla="*/ 0 h 36"/>
                  <a:gd name="T2" fmla="*/ 35 w 510"/>
                  <a:gd name="T3" fmla="*/ 1 h 36"/>
                  <a:gd name="T4" fmla="*/ 0 60000 65536"/>
                  <a:gd name="T5" fmla="*/ 0 60000 65536"/>
                </a:gdLst>
                <a:ahLst/>
                <a:cxnLst>
                  <a:cxn ang="T4">
                    <a:pos x="T0" y="T1"/>
                  </a:cxn>
                  <a:cxn ang="T5">
                    <a:pos x="T2" y="T3"/>
                  </a:cxn>
                </a:cxnLst>
                <a:rect l="0" t="0" r="r" b="b"/>
                <a:pathLst>
                  <a:path w="510" h="36">
                    <a:moveTo>
                      <a:pt x="0" y="0"/>
                    </a:moveTo>
                    <a:lnTo>
                      <a:pt x="510" y="36"/>
                    </a:lnTo>
                  </a:path>
                </a:pathLst>
              </a:custGeom>
              <a:noFill/>
              <a:ln w="25400">
                <a:solidFill>
                  <a:srgbClr val="000000"/>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49169" name="Freeform 22"/>
              <p:cNvSpPr>
                <a:spLocks/>
              </p:cNvSpPr>
              <p:nvPr/>
            </p:nvSpPr>
            <p:spPr bwMode="auto">
              <a:xfrm rot="-5400000">
                <a:off x="834" y="2994"/>
                <a:ext cx="35" cy="1"/>
              </a:xfrm>
              <a:custGeom>
                <a:avLst/>
                <a:gdLst>
                  <a:gd name="T0" fmla="*/ 0 w 510"/>
                  <a:gd name="T1" fmla="*/ 0 h 36"/>
                  <a:gd name="T2" fmla="*/ 35 w 510"/>
                  <a:gd name="T3" fmla="*/ 1 h 36"/>
                  <a:gd name="T4" fmla="*/ 0 60000 65536"/>
                  <a:gd name="T5" fmla="*/ 0 60000 65536"/>
                </a:gdLst>
                <a:ahLst/>
                <a:cxnLst>
                  <a:cxn ang="T4">
                    <a:pos x="T0" y="T1"/>
                  </a:cxn>
                  <a:cxn ang="T5">
                    <a:pos x="T2" y="T3"/>
                  </a:cxn>
                </a:cxnLst>
                <a:rect l="0" t="0" r="r" b="b"/>
                <a:pathLst>
                  <a:path w="510" h="36">
                    <a:moveTo>
                      <a:pt x="0" y="0"/>
                    </a:moveTo>
                    <a:lnTo>
                      <a:pt x="510" y="36"/>
                    </a:lnTo>
                  </a:path>
                </a:pathLst>
              </a:custGeom>
              <a:noFill/>
              <a:ln w="25400">
                <a:solidFill>
                  <a:srgbClr val="000000"/>
                </a:solidFill>
                <a:round/>
                <a:headEnd type="none" w="med" len="med"/>
                <a:tailEnd type="arrow"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49162" name="Text Box 23"/>
            <p:cNvSpPr txBox="1">
              <a:spLocks noChangeArrowheads="1"/>
            </p:cNvSpPr>
            <p:nvPr/>
          </p:nvSpPr>
          <p:spPr bwMode="auto">
            <a:xfrm>
              <a:off x="1296" y="254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v</a:t>
              </a:r>
              <a:r>
                <a:rPr kumimoji="1" lang="en-US" altLang="zh-CN" sz="2000" b="1" baseline="-25000">
                  <a:latin typeface="Times New Roman" pitchFamily="18" charset="0"/>
                </a:rPr>
                <a:t>1</a:t>
              </a:r>
            </a:p>
          </p:txBody>
        </p:sp>
        <p:sp>
          <p:nvSpPr>
            <p:cNvPr id="49163" name="Text Box 24"/>
            <p:cNvSpPr txBox="1">
              <a:spLocks noChangeArrowheads="1"/>
            </p:cNvSpPr>
            <p:nvPr/>
          </p:nvSpPr>
          <p:spPr bwMode="auto">
            <a:xfrm>
              <a:off x="584" y="2536"/>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v</a:t>
              </a:r>
              <a:r>
                <a:rPr kumimoji="1" lang="en-US" altLang="zh-CN" sz="2000" b="1" baseline="-25000">
                  <a:latin typeface="Times New Roman" pitchFamily="18" charset="0"/>
                </a:rPr>
                <a:t>5</a:t>
              </a:r>
            </a:p>
          </p:txBody>
        </p:sp>
        <p:sp>
          <p:nvSpPr>
            <p:cNvPr id="49164" name="Text Box 25"/>
            <p:cNvSpPr txBox="1">
              <a:spLocks noChangeArrowheads="1"/>
            </p:cNvSpPr>
            <p:nvPr/>
          </p:nvSpPr>
          <p:spPr bwMode="auto">
            <a:xfrm>
              <a:off x="576" y="3432"/>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v</a:t>
              </a:r>
              <a:r>
                <a:rPr kumimoji="1" lang="en-US" altLang="zh-CN" sz="2000" b="1" baseline="-25000">
                  <a:latin typeface="Times New Roman" pitchFamily="18" charset="0"/>
                </a:rPr>
                <a:t>4</a:t>
              </a:r>
            </a:p>
          </p:txBody>
        </p:sp>
        <p:sp>
          <p:nvSpPr>
            <p:cNvPr id="49165" name="Text Box 26"/>
            <p:cNvSpPr txBox="1">
              <a:spLocks noChangeArrowheads="1"/>
            </p:cNvSpPr>
            <p:nvPr/>
          </p:nvSpPr>
          <p:spPr bwMode="auto">
            <a:xfrm>
              <a:off x="1968" y="316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v</a:t>
              </a:r>
              <a:r>
                <a:rPr kumimoji="1" lang="en-US" altLang="zh-CN" sz="2000" b="1" baseline="-25000">
                  <a:latin typeface="Times New Roman" pitchFamily="18" charset="0"/>
                </a:rPr>
                <a:t>2</a:t>
              </a:r>
            </a:p>
          </p:txBody>
        </p:sp>
        <p:sp>
          <p:nvSpPr>
            <p:cNvPr id="49166" name="Text Box 27"/>
            <p:cNvSpPr txBox="1">
              <a:spLocks noChangeArrowheads="1"/>
            </p:cNvSpPr>
            <p:nvPr/>
          </p:nvSpPr>
          <p:spPr bwMode="auto">
            <a:xfrm>
              <a:off x="1168" y="3792"/>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v</a:t>
              </a:r>
              <a:r>
                <a:rPr kumimoji="1" lang="en-US" altLang="zh-CN" sz="2000" b="1" baseline="-25000">
                  <a:latin typeface="Times New Roman" pitchFamily="18" charset="0"/>
                </a:rPr>
                <a:t>3</a:t>
              </a:r>
            </a:p>
          </p:txBody>
        </p:sp>
      </p:grpSp>
      <p:graphicFrame>
        <p:nvGraphicFramePr>
          <p:cNvPr id="117788" name="Object 28"/>
          <p:cNvGraphicFramePr>
            <a:graphicFrameLocks/>
          </p:cNvGraphicFramePr>
          <p:nvPr/>
        </p:nvGraphicFramePr>
        <p:xfrm>
          <a:off x="6046788" y="1760538"/>
          <a:ext cx="2641600" cy="2058987"/>
        </p:xfrm>
        <a:graphic>
          <a:graphicData uri="http://schemas.openxmlformats.org/presentationml/2006/ole">
            <mc:AlternateContent xmlns:mc="http://schemas.openxmlformats.org/markup-compatibility/2006">
              <mc:Choice xmlns:v="urn:schemas-microsoft-com:vml" Requires="v">
                <p:oleObj spid="_x0000_s49469" name="Equation" r:id="rId5" imgW="2641600" imgH="2057400" progId="Equation.DSMT4">
                  <p:embed/>
                </p:oleObj>
              </mc:Choice>
              <mc:Fallback>
                <p:oleObj name="Equation" r:id="rId5" imgW="2641600" imgH="2057400" progId="Equation.DSMT4">
                  <p:embed/>
                  <p:pic>
                    <p:nvPicPr>
                      <p:cNvPr id="0" name="Object 28"/>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46788" y="1760538"/>
                        <a:ext cx="2641600" cy="205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89" name="Object 29"/>
          <p:cNvGraphicFramePr>
            <a:graphicFrameLocks/>
          </p:cNvGraphicFramePr>
          <p:nvPr/>
        </p:nvGraphicFramePr>
        <p:xfrm>
          <a:off x="3073400" y="4032250"/>
          <a:ext cx="2652713" cy="2058988"/>
        </p:xfrm>
        <a:graphic>
          <a:graphicData uri="http://schemas.openxmlformats.org/presentationml/2006/ole">
            <mc:AlternateContent xmlns:mc="http://schemas.openxmlformats.org/markup-compatibility/2006">
              <mc:Choice xmlns:v="urn:schemas-microsoft-com:vml" Requires="v">
                <p:oleObj spid="_x0000_s49470" name="Equation" r:id="rId7" imgW="2654300" imgH="2057400" progId="Equation.DSMT4">
                  <p:embed/>
                </p:oleObj>
              </mc:Choice>
              <mc:Fallback>
                <p:oleObj name="Equation" r:id="rId7" imgW="2654300" imgH="2057400" progId="Equation.DSMT4">
                  <p:embed/>
                  <p:pic>
                    <p:nvPicPr>
                      <p:cNvPr id="0" name="Object 29"/>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3400" y="4032250"/>
                        <a:ext cx="2652713"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7790" name="Object 30"/>
          <p:cNvGraphicFramePr>
            <a:graphicFrameLocks/>
          </p:cNvGraphicFramePr>
          <p:nvPr/>
        </p:nvGraphicFramePr>
        <p:xfrm>
          <a:off x="6070600" y="4032250"/>
          <a:ext cx="2641600" cy="2058988"/>
        </p:xfrm>
        <a:graphic>
          <a:graphicData uri="http://schemas.openxmlformats.org/presentationml/2006/ole">
            <mc:AlternateContent xmlns:mc="http://schemas.openxmlformats.org/markup-compatibility/2006">
              <mc:Choice xmlns:v="urn:schemas-microsoft-com:vml" Requires="v">
                <p:oleObj spid="_x0000_s49471" name="Equation" r:id="rId9" imgW="2641600" imgH="2057400" progId="Equation.DSMT4">
                  <p:embed/>
                </p:oleObj>
              </mc:Choice>
              <mc:Fallback>
                <p:oleObj name="Equation" r:id="rId9" imgW="2641600" imgH="2057400" progId="Equation.DSMT4">
                  <p:embed/>
                  <p:pic>
                    <p:nvPicPr>
                      <p:cNvPr id="0" name="Object 30"/>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070600" y="4032250"/>
                        <a:ext cx="2641600" cy="205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117766"/>
                                        </p:tgtEl>
                                        <p:attrNameLst>
                                          <p:attrName>style.visibility</p:attrName>
                                        </p:attrNameLst>
                                      </p:cBhvr>
                                      <p:to>
                                        <p:strVal val="visible"/>
                                      </p:to>
                                    </p:set>
                                    <p:anim calcmode="lin" valueType="num">
                                      <p:cBhvr additive="base">
                                        <p:cTn id="7" dur="500" fill="hold"/>
                                        <p:tgtEl>
                                          <p:spTgt spid="117766"/>
                                        </p:tgtEl>
                                        <p:attrNameLst>
                                          <p:attrName>ppt_x</p:attrName>
                                        </p:attrNameLst>
                                      </p:cBhvr>
                                      <p:tavLst>
                                        <p:tav tm="0">
                                          <p:val>
                                            <p:strVal val="1+#ppt_w/2"/>
                                          </p:val>
                                        </p:tav>
                                        <p:tav tm="100000">
                                          <p:val>
                                            <p:strVal val="#ppt_x"/>
                                          </p:val>
                                        </p:tav>
                                      </p:tavLst>
                                    </p:anim>
                                    <p:anim calcmode="lin" valueType="num">
                                      <p:cBhvr additive="base">
                                        <p:cTn id="8" dur="500" fill="hold"/>
                                        <p:tgtEl>
                                          <p:spTgt spid="11776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117788"/>
                                        </p:tgtEl>
                                        <p:attrNameLst>
                                          <p:attrName>style.visibility</p:attrName>
                                        </p:attrNameLst>
                                      </p:cBhvr>
                                      <p:to>
                                        <p:strVal val="visible"/>
                                      </p:to>
                                    </p:set>
                                    <p:animEffect transition="in" filter="checkerboard(across)">
                                      <p:cBhvr>
                                        <p:cTn id="13" dur="500"/>
                                        <p:tgtEl>
                                          <p:spTgt spid="11778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5" presetClass="entr" presetSubtype="10" fill="hold" nodeType="clickEffect">
                                  <p:stCondLst>
                                    <p:cond delay="0"/>
                                  </p:stCondLst>
                                  <p:childTnLst>
                                    <p:set>
                                      <p:cBhvr>
                                        <p:cTn id="17" dur="1" fill="hold">
                                          <p:stCondLst>
                                            <p:cond delay="0"/>
                                          </p:stCondLst>
                                        </p:cTn>
                                        <p:tgtEl>
                                          <p:spTgt spid="117789"/>
                                        </p:tgtEl>
                                        <p:attrNameLst>
                                          <p:attrName>style.visibility</p:attrName>
                                        </p:attrNameLst>
                                      </p:cBhvr>
                                      <p:to>
                                        <p:strVal val="visible"/>
                                      </p:to>
                                    </p:set>
                                    <p:animEffect transition="in" filter="checkerboard(across)">
                                      <p:cBhvr>
                                        <p:cTn id="18" dur="500"/>
                                        <p:tgtEl>
                                          <p:spTgt spid="11778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nodeType="clickEffect">
                                  <p:stCondLst>
                                    <p:cond delay="0"/>
                                  </p:stCondLst>
                                  <p:childTnLst>
                                    <p:set>
                                      <p:cBhvr>
                                        <p:cTn id="22" dur="1" fill="hold">
                                          <p:stCondLst>
                                            <p:cond delay="0"/>
                                          </p:stCondLst>
                                        </p:cTn>
                                        <p:tgtEl>
                                          <p:spTgt spid="117790"/>
                                        </p:tgtEl>
                                        <p:attrNameLst>
                                          <p:attrName>style.visibility</p:attrName>
                                        </p:attrNameLst>
                                      </p:cBhvr>
                                      <p:to>
                                        <p:strVal val="visible"/>
                                      </p:to>
                                    </p:set>
                                    <p:animEffect transition="in" filter="checkerboard(across)">
                                      <p:cBhvr>
                                        <p:cTn id="23" dur="500"/>
                                        <p:tgtEl>
                                          <p:spTgt spid="117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pPr>
              <a:defRPr/>
            </a:pPr>
            <a:fld id="{E668E39D-BC03-452D-B0FD-761B4E56E30B}" type="slidenum">
              <a:rPr lang="en-US" altLang="zh-CN"/>
              <a:pPr>
                <a:defRPr/>
              </a:pPr>
              <a:t>45</a:t>
            </a:fld>
            <a:endParaRPr lang="en-US" altLang="zh-CN"/>
          </a:p>
        </p:txBody>
      </p:sp>
      <p:sp>
        <p:nvSpPr>
          <p:cNvPr id="50179" name="Text Box 3"/>
          <p:cNvSpPr txBox="1">
            <a:spLocks noChangeArrowheads="1"/>
          </p:cNvSpPr>
          <p:nvPr/>
        </p:nvSpPr>
        <p:spPr bwMode="auto">
          <a:xfrm>
            <a:off x="466725" y="1196975"/>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a:latin typeface="Times New Roman" pitchFamily="18" charset="0"/>
              </a:rPr>
              <a:t>考虑：</a:t>
            </a:r>
          </a:p>
          <a:p>
            <a:pPr eaLnBrk="1" hangingPunct="1">
              <a:lnSpc>
                <a:spcPct val="130000"/>
              </a:lnSpc>
              <a:buClr>
                <a:schemeClr val="hlink"/>
              </a:buClr>
              <a:buFont typeface="Wingdings" pitchFamily="2" charset="2"/>
              <a:buNone/>
            </a:pPr>
            <a:r>
              <a:rPr lang="en-US" altLang="zh-CN" b="1">
                <a:latin typeface="Times New Roman" pitchFamily="18" charset="0"/>
              </a:rPr>
              <a:t>(1)</a:t>
            </a:r>
            <a:r>
              <a:rPr lang="zh-CN" altLang="en-US" b="1">
                <a:latin typeface="Times New Roman" pitchFamily="18" charset="0"/>
              </a:rPr>
              <a:t>如</a:t>
            </a:r>
            <a:r>
              <a:rPr kumimoji="1" lang="zh-CN" altLang="en-US" b="1">
                <a:latin typeface="Times New Roman" pitchFamily="18" charset="0"/>
              </a:rPr>
              <a:t>何判断图中的结点</a:t>
            </a:r>
            <a:r>
              <a:rPr kumimoji="1" lang="en-US" altLang="zh-CN" b="1">
                <a:latin typeface="Times New Roman" pitchFamily="18" charset="0"/>
              </a:rPr>
              <a:t>v</a:t>
            </a:r>
            <a:r>
              <a:rPr kumimoji="1" lang="en-US" altLang="zh-CN" b="1" baseline="-25000">
                <a:latin typeface="Times New Roman" pitchFamily="18" charset="0"/>
              </a:rPr>
              <a:t>i</a:t>
            </a:r>
            <a:r>
              <a:rPr kumimoji="1" lang="zh-CN" altLang="en-US" b="1">
                <a:latin typeface="Times New Roman" pitchFamily="18" charset="0"/>
              </a:rPr>
              <a:t>可达</a:t>
            </a:r>
            <a:r>
              <a:rPr kumimoji="1" lang="en-US" altLang="zh-CN" b="1">
                <a:latin typeface="Times New Roman" pitchFamily="18" charset="0"/>
              </a:rPr>
              <a:t>v</a:t>
            </a:r>
            <a:r>
              <a:rPr kumimoji="1" lang="en-US" altLang="zh-CN" b="1" baseline="-25000">
                <a:latin typeface="Times New Roman" pitchFamily="18" charset="0"/>
              </a:rPr>
              <a:t>j</a:t>
            </a:r>
            <a:r>
              <a:rPr kumimoji="1" lang="zh-CN" altLang="en-US" b="1">
                <a:latin typeface="Times New Roman" pitchFamily="18" charset="0"/>
              </a:rPr>
              <a:t>？</a:t>
            </a:r>
          </a:p>
          <a:p>
            <a:pPr eaLnBrk="1" hangingPunct="1">
              <a:lnSpc>
                <a:spcPct val="130000"/>
              </a:lnSpc>
              <a:buClr>
                <a:schemeClr val="hlink"/>
              </a:buClr>
              <a:buFont typeface="Wingdings" pitchFamily="2" charset="2"/>
              <a:buNone/>
            </a:pPr>
            <a:r>
              <a:rPr kumimoji="1" lang="en-US" altLang="zh-CN" b="1">
                <a:latin typeface="Times New Roman" pitchFamily="18" charset="0"/>
              </a:rPr>
              <a:t>(2)</a:t>
            </a:r>
            <a:r>
              <a:rPr kumimoji="1" lang="zh-CN" altLang="en-US" b="1">
                <a:latin typeface="Times New Roman" pitchFamily="18" charset="0"/>
              </a:rPr>
              <a:t>判断</a:t>
            </a:r>
            <a:r>
              <a:rPr kumimoji="1" lang="en-US" altLang="zh-CN" b="1">
                <a:latin typeface="Times New Roman" pitchFamily="18" charset="0"/>
              </a:rPr>
              <a:t>v</a:t>
            </a:r>
            <a:r>
              <a:rPr kumimoji="1" lang="en-US" altLang="zh-CN" b="1" baseline="-25000">
                <a:latin typeface="Times New Roman" pitchFamily="18" charset="0"/>
              </a:rPr>
              <a:t>i</a:t>
            </a:r>
            <a:r>
              <a:rPr kumimoji="1" lang="zh-CN" altLang="en-US" b="1">
                <a:latin typeface="Times New Roman" pitchFamily="18" charset="0"/>
              </a:rPr>
              <a:t>和</a:t>
            </a:r>
            <a:r>
              <a:rPr kumimoji="1" lang="en-US" altLang="zh-CN" b="1">
                <a:latin typeface="Times New Roman" pitchFamily="18" charset="0"/>
              </a:rPr>
              <a:t>v</a:t>
            </a:r>
            <a:r>
              <a:rPr kumimoji="1" lang="en-US" altLang="zh-CN" b="1" baseline="-25000">
                <a:latin typeface="Times New Roman" pitchFamily="18" charset="0"/>
              </a:rPr>
              <a:t>j</a:t>
            </a:r>
            <a:r>
              <a:rPr kumimoji="1" lang="zh-CN" altLang="en-US" b="1">
                <a:latin typeface="Times New Roman" pitchFamily="18" charset="0"/>
              </a:rPr>
              <a:t>间是否有路应计算到邻接矩阵的多少幂次？</a:t>
            </a:r>
          </a:p>
        </p:txBody>
      </p:sp>
    </p:spTree>
  </p:cSld>
  <p:clrMapOvr>
    <a:masterClrMapping/>
  </p:clrMapOvr>
  <p:transition spd="slow">
    <p:random/>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pPr>
              <a:defRPr/>
            </a:pPr>
            <a:fld id="{0CEA2793-CA8D-47A8-ABEF-4AC48C7C4C19}" type="slidenum">
              <a:rPr lang="en-US" altLang="zh-CN"/>
              <a:pPr>
                <a:defRPr/>
              </a:pPr>
              <a:t>46</a:t>
            </a:fld>
            <a:endParaRPr lang="en-US" altLang="zh-CN"/>
          </a:p>
        </p:txBody>
      </p:sp>
      <p:sp>
        <p:nvSpPr>
          <p:cNvPr id="51203" name="Rectangle 2"/>
          <p:cNvSpPr>
            <a:spLocks noGrp="1" noChangeArrowheads="1"/>
          </p:cNvSpPr>
          <p:nvPr>
            <p:ph type="title"/>
          </p:nvPr>
        </p:nvSpPr>
        <p:spPr>
          <a:xfrm>
            <a:off x="990600" y="457200"/>
            <a:ext cx="7237413" cy="457200"/>
          </a:xfrm>
        </p:spPr>
        <p:txBody>
          <a:bodyPr/>
          <a:lstStyle/>
          <a:p>
            <a:pPr algn="l" eaLnBrk="1" hangingPunct="1"/>
            <a:r>
              <a:rPr kumimoji="1" lang="en-US" altLang="zh-CN" sz="2400" smtClean="0">
                <a:solidFill>
                  <a:schemeClr val="hlink"/>
                </a:solidFill>
                <a:latin typeface="Times New Roman" pitchFamily="18" charset="0"/>
                <a:ea typeface="宋体" pitchFamily="2" charset="-122"/>
              </a:rPr>
              <a:t>2)</a:t>
            </a:r>
            <a:r>
              <a:rPr kumimoji="1" lang="zh-CN" altLang="en-US" sz="2400" smtClean="0">
                <a:solidFill>
                  <a:schemeClr val="hlink"/>
                </a:solidFill>
                <a:latin typeface="Times New Roman" pitchFamily="18" charset="0"/>
                <a:ea typeface="宋体" pitchFamily="2" charset="-122"/>
              </a:rPr>
              <a:t>、可达性矩阵</a:t>
            </a:r>
          </a:p>
        </p:txBody>
      </p:sp>
      <p:sp>
        <p:nvSpPr>
          <p:cNvPr id="51204" name="Rectangle 3"/>
          <p:cNvSpPr>
            <a:spLocks noGrp="1" noChangeArrowheads="1"/>
          </p:cNvSpPr>
          <p:nvPr>
            <p:ph type="body" idx="1"/>
          </p:nvPr>
        </p:nvSpPr>
        <p:spPr>
          <a:xfrm>
            <a:off x="466725" y="1125538"/>
            <a:ext cx="8277225" cy="1516062"/>
          </a:xfrm>
          <a:noFill/>
        </p:spPr>
        <p:txBody>
          <a:bodyPr/>
          <a:lstStyle/>
          <a:p>
            <a:pPr eaLnBrk="1" hangingPunct="1">
              <a:buClrTx/>
              <a:buSzTx/>
              <a:buFontTx/>
              <a:buNone/>
            </a:pPr>
            <a:r>
              <a:rPr kumimoji="1" lang="zh-CN" altLang="en-US" smtClean="0">
                <a:solidFill>
                  <a:srgbClr val="0000CC"/>
                </a:solidFill>
              </a:rPr>
              <a:t>定义</a:t>
            </a:r>
            <a:r>
              <a:rPr kumimoji="1" lang="en-US" altLang="zh-CN" smtClean="0">
                <a:solidFill>
                  <a:srgbClr val="0000CC"/>
                </a:solidFill>
              </a:rPr>
              <a:t>7-3.2</a:t>
            </a:r>
            <a:r>
              <a:rPr kumimoji="1" lang="zh-CN" altLang="en-US" smtClean="0">
                <a:solidFill>
                  <a:srgbClr val="0000CC"/>
                </a:solidFill>
              </a:rPr>
              <a:t>：</a:t>
            </a:r>
            <a:r>
              <a:rPr kumimoji="1" lang="zh-CN" altLang="en-US" smtClean="0"/>
              <a:t>令</a:t>
            </a:r>
            <a:r>
              <a:rPr kumimoji="1" lang="en-US" altLang="zh-CN" smtClean="0"/>
              <a:t>G=&lt;V, E&gt;</a:t>
            </a:r>
            <a:r>
              <a:rPr kumimoji="1" lang="zh-CN" altLang="en-US" smtClean="0"/>
              <a:t>是一个简单有向图，</a:t>
            </a:r>
            <a:r>
              <a:rPr kumimoji="1" lang="en-US" altLang="zh-CN" smtClean="0"/>
              <a:t>|V|=n</a:t>
            </a:r>
            <a:r>
              <a:rPr kumimoji="1" lang="zh-CN" altLang="en-US" smtClean="0"/>
              <a:t>，假定</a:t>
            </a:r>
            <a:r>
              <a:rPr kumimoji="1" lang="en-US" altLang="zh-CN" smtClean="0"/>
              <a:t>G</a:t>
            </a:r>
            <a:r>
              <a:rPr kumimoji="1" lang="zh-CN" altLang="en-US" smtClean="0"/>
              <a:t>的结点已编序，即</a:t>
            </a:r>
            <a:r>
              <a:rPr kumimoji="1" lang="en-US" altLang="zh-CN" smtClean="0"/>
              <a:t>V={v</a:t>
            </a:r>
            <a:r>
              <a:rPr kumimoji="1" lang="en-US" altLang="zh-CN" baseline="-25000" smtClean="0"/>
              <a:t>1</a:t>
            </a:r>
            <a:r>
              <a:rPr kumimoji="1" lang="en-US" altLang="zh-CN" smtClean="0"/>
              <a:t>,v</a:t>
            </a:r>
            <a:r>
              <a:rPr kumimoji="1" lang="en-US" altLang="zh-CN" baseline="-25000" smtClean="0"/>
              <a:t>2</a:t>
            </a:r>
            <a:r>
              <a:rPr kumimoji="1" lang="en-US" altLang="zh-CN" smtClean="0"/>
              <a:t>,…,v</a:t>
            </a:r>
            <a:r>
              <a:rPr kumimoji="1" lang="en-US" altLang="zh-CN" baseline="-25000" smtClean="0"/>
              <a:t>n</a:t>
            </a:r>
            <a:r>
              <a:rPr kumimoji="1" lang="en-US" altLang="zh-CN" smtClean="0"/>
              <a:t>}</a:t>
            </a:r>
            <a:r>
              <a:rPr kumimoji="1" lang="zh-CN" altLang="en-US" smtClean="0"/>
              <a:t>，定义一个</a:t>
            </a:r>
            <a:r>
              <a:rPr kumimoji="1" lang="en-US" altLang="zh-CN" smtClean="0"/>
              <a:t>n×n</a:t>
            </a:r>
            <a:r>
              <a:rPr kumimoji="1" lang="zh-CN" altLang="en-US" smtClean="0"/>
              <a:t>矩阵</a:t>
            </a:r>
            <a:r>
              <a:rPr kumimoji="1" lang="en-US" altLang="zh-CN" smtClean="0"/>
              <a:t>P=(p</a:t>
            </a:r>
            <a:r>
              <a:rPr kumimoji="1" lang="en-US" altLang="zh-CN" baseline="-25000" smtClean="0"/>
              <a:t>ij</a:t>
            </a:r>
            <a:r>
              <a:rPr kumimoji="1" lang="en-US" altLang="zh-CN" smtClean="0"/>
              <a:t>)</a:t>
            </a:r>
            <a:r>
              <a:rPr kumimoji="1" lang="zh-CN" altLang="en-US" smtClean="0"/>
              <a:t>，称矩阵</a:t>
            </a:r>
            <a:r>
              <a:rPr kumimoji="1" lang="en-US" altLang="zh-CN" smtClean="0"/>
              <a:t>P</a:t>
            </a:r>
            <a:r>
              <a:rPr kumimoji="1" lang="zh-CN" altLang="en-US" smtClean="0"/>
              <a:t>是图</a:t>
            </a:r>
            <a:r>
              <a:rPr kumimoji="1" lang="en-US" altLang="zh-CN" smtClean="0"/>
              <a:t>G</a:t>
            </a:r>
            <a:r>
              <a:rPr kumimoji="1" lang="zh-CN" altLang="en-US" smtClean="0"/>
              <a:t>的</a:t>
            </a:r>
            <a:r>
              <a:rPr kumimoji="1" lang="zh-CN" altLang="en-US" smtClean="0">
                <a:solidFill>
                  <a:srgbClr val="0000CC"/>
                </a:solidFill>
              </a:rPr>
              <a:t>可达性矩阵</a:t>
            </a:r>
            <a:r>
              <a:rPr kumimoji="1" lang="zh-CN" altLang="en-US" smtClean="0"/>
              <a:t>。  </a:t>
            </a:r>
            <a:endParaRPr lang="zh-CN" altLang="en-US" smtClean="0"/>
          </a:p>
        </p:txBody>
      </p:sp>
      <p:graphicFrame>
        <p:nvGraphicFramePr>
          <p:cNvPr id="51205" name="Object 6"/>
          <p:cNvGraphicFramePr>
            <a:graphicFrameLocks noChangeAspect="1"/>
          </p:cNvGraphicFramePr>
          <p:nvPr/>
        </p:nvGraphicFramePr>
        <p:xfrm>
          <a:off x="2255838" y="2684463"/>
          <a:ext cx="4476750" cy="1003300"/>
        </p:xfrm>
        <a:graphic>
          <a:graphicData uri="http://schemas.openxmlformats.org/presentationml/2006/ole">
            <mc:AlternateContent xmlns:mc="http://schemas.openxmlformats.org/markup-compatibility/2006">
              <mc:Choice xmlns:v="urn:schemas-microsoft-com:vml" Requires="v">
                <p:oleObj spid="_x0000_s51279" name="Equation" r:id="rId3" imgW="4483100" imgH="1003300" progId="Equation.DSMT4">
                  <p:embed/>
                </p:oleObj>
              </mc:Choice>
              <mc:Fallback>
                <p:oleObj name="Equation" r:id="rId3" imgW="4483100" imgH="10033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5838" y="2684463"/>
                        <a:ext cx="4476750" cy="1003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8791" name="Text Box 7"/>
          <p:cNvSpPr txBox="1">
            <a:spLocks noChangeArrowheads="1"/>
          </p:cNvSpPr>
          <p:nvPr/>
        </p:nvSpPr>
        <p:spPr bwMode="auto">
          <a:xfrm>
            <a:off x="466725" y="3759200"/>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a:latin typeface="Times New Roman" pitchFamily="18" charset="0"/>
              </a:rPr>
              <a:t>可达性矩阵表明了图中任何两个结点间是否至少存在一条路以及在任何结点上是否存在回路。</a:t>
            </a:r>
          </a:p>
          <a:p>
            <a:pPr eaLnBrk="1" hangingPunct="1">
              <a:lnSpc>
                <a:spcPct val="130000"/>
              </a:lnSpc>
              <a:buClr>
                <a:schemeClr val="hlink"/>
              </a:buClr>
              <a:buFont typeface="Wingdings" pitchFamily="2" charset="2"/>
              <a:buChar char="Ø"/>
            </a:pPr>
            <a:r>
              <a:rPr lang="zh-CN" altLang="en-US" b="1">
                <a:latin typeface="Times New Roman" pitchFamily="18" charset="0"/>
              </a:rPr>
              <a:t>如何由</a:t>
            </a:r>
            <a:r>
              <a:rPr lang="en-US" altLang="zh-CN" b="1">
                <a:latin typeface="Times New Roman" pitchFamily="18" charset="0"/>
              </a:rPr>
              <a:t>G</a:t>
            </a:r>
            <a:r>
              <a:rPr lang="zh-CN" altLang="en-US" b="1">
                <a:latin typeface="Times New Roman" pitchFamily="18" charset="0"/>
              </a:rPr>
              <a:t>的邻接矩阵</a:t>
            </a:r>
            <a:r>
              <a:rPr lang="en-US" altLang="zh-CN" b="1">
                <a:latin typeface="Times New Roman" pitchFamily="18" charset="0"/>
              </a:rPr>
              <a:t>A</a:t>
            </a:r>
            <a:r>
              <a:rPr lang="zh-CN" altLang="en-US" b="1">
                <a:latin typeface="Times New Roman" pitchFamily="18" charset="0"/>
              </a:rPr>
              <a:t>得到可达性矩阵</a:t>
            </a:r>
            <a:r>
              <a:rPr lang="en-US" altLang="zh-CN" b="1">
                <a:latin typeface="Times New Roman" pitchFamily="18" charset="0"/>
              </a:rPr>
              <a:t>P</a:t>
            </a:r>
            <a:r>
              <a:rPr lang="zh-CN" altLang="en-US" b="1">
                <a:latin typeface="Times New Roman" pitchFamily="18" charset="0"/>
              </a:rPr>
              <a:t>？</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8791"/>
                                        </p:tgtEl>
                                        <p:attrNameLst>
                                          <p:attrName>style.visibility</p:attrName>
                                        </p:attrNameLst>
                                      </p:cBhvr>
                                      <p:to>
                                        <p:strVal val="visible"/>
                                      </p:to>
                                    </p:set>
                                    <p:anim calcmode="lin" valueType="num">
                                      <p:cBhvr additive="base">
                                        <p:cTn id="7" dur="500" fill="hold"/>
                                        <p:tgtEl>
                                          <p:spTgt spid="118791"/>
                                        </p:tgtEl>
                                        <p:attrNameLst>
                                          <p:attrName>ppt_x</p:attrName>
                                        </p:attrNameLst>
                                      </p:cBhvr>
                                      <p:tavLst>
                                        <p:tav tm="0">
                                          <p:val>
                                            <p:strVal val="#ppt_x"/>
                                          </p:val>
                                        </p:tav>
                                        <p:tav tm="100000">
                                          <p:val>
                                            <p:strVal val="#ppt_x"/>
                                          </p:val>
                                        </p:tav>
                                      </p:tavLst>
                                    </p:anim>
                                    <p:anim calcmode="lin" valueType="num">
                                      <p:cBhvr additive="base">
                                        <p:cTn id="8" dur="500" fill="hold"/>
                                        <p:tgtEl>
                                          <p:spTgt spid="11879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791"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pPr>
              <a:defRPr/>
            </a:pPr>
            <a:fld id="{1C450A14-CC0B-4B6F-9020-666E4A585855}" type="slidenum">
              <a:rPr lang="en-US" altLang="zh-CN"/>
              <a:pPr>
                <a:defRPr/>
              </a:pPr>
              <a:t>47</a:t>
            </a:fld>
            <a:endParaRPr lang="en-US" altLang="zh-CN"/>
          </a:p>
        </p:txBody>
      </p:sp>
      <p:sp>
        <p:nvSpPr>
          <p:cNvPr id="52227" name="Text Box 3"/>
          <p:cNvSpPr txBox="1">
            <a:spLocks noChangeArrowheads="1"/>
          </p:cNvSpPr>
          <p:nvPr/>
        </p:nvSpPr>
        <p:spPr bwMode="auto">
          <a:xfrm>
            <a:off x="466725" y="1125538"/>
            <a:ext cx="8277225"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63538" indent="-363538" eaLnBrk="0" hangingPunct="0">
              <a:defRPr sz="2400">
                <a:solidFill>
                  <a:schemeClr val="tx1"/>
                </a:solidFill>
                <a:latin typeface="Arial" charset="0"/>
                <a:ea typeface="宋体" pitchFamily="2" charset="-122"/>
              </a:defRPr>
            </a:lvl1pPr>
            <a:lvl2pPr marL="1085850" indent="-457200" eaLnBrk="0" hangingPunct="0">
              <a:defRPr sz="2400">
                <a:solidFill>
                  <a:schemeClr val="tx1"/>
                </a:solidFill>
                <a:latin typeface="Arial" charset="0"/>
                <a:ea typeface="宋体" pitchFamily="2" charset="-122"/>
              </a:defRPr>
            </a:lvl2pPr>
            <a:lvl3pPr marL="1722438" indent="-457200" eaLnBrk="0" hangingPunct="0">
              <a:defRPr sz="2400">
                <a:solidFill>
                  <a:schemeClr val="tx1"/>
                </a:solidFill>
                <a:latin typeface="Arial" charset="0"/>
                <a:ea typeface="宋体" pitchFamily="2" charset="-122"/>
              </a:defRPr>
            </a:lvl3pPr>
            <a:lvl4pPr marL="2359025" indent="-457200" eaLnBrk="0" hangingPunct="0">
              <a:defRPr sz="2400">
                <a:solidFill>
                  <a:schemeClr val="tx1"/>
                </a:solidFill>
                <a:latin typeface="Arial" charset="0"/>
                <a:ea typeface="宋体" pitchFamily="2" charset="-122"/>
              </a:defRPr>
            </a:lvl4pPr>
            <a:lvl5pPr marL="2995613" indent="-457200" eaLnBrk="0" hangingPunct="0">
              <a:defRPr sz="2400">
                <a:solidFill>
                  <a:schemeClr val="tx1"/>
                </a:solidFill>
                <a:latin typeface="Arial" charset="0"/>
                <a:ea typeface="宋体" pitchFamily="2" charset="-122"/>
              </a:defRPr>
            </a:lvl5pPr>
            <a:lvl6pPr marL="3452813" indent="-457200" eaLnBrk="0" fontAlgn="base" hangingPunct="0">
              <a:spcBef>
                <a:spcPct val="0"/>
              </a:spcBef>
              <a:spcAft>
                <a:spcPct val="0"/>
              </a:spcAft>
              <a:defRPr sz="2400">
                <a:solidFill>
                  <a:schemeClr val="tx1"/>
                </a:solidFill>
                <a:latin typeface="Arial" charset="0"/>
                <a:ea typeface="宋体" pitchFamily="2" charset="-122"/>
              </a:defRPr>
            </a:lvl6pPr>
            <a:lvl7pPr marL="3910013" indent="-457200" eaLnBrk="0" fontAlgn="base" hangingPunct="0">
              <a:spcBef>
                <a:spcPct val="0"/>
              </a:spcBef>
              <a:spcAft>
                <a:spcPct val="0"/>
              </a:spcAft>
              <a:defRPr sz="2400">
                <a:solidFill>
                  <a:schemeClr val="tx1"/>
                </a:solidFill>
                <a:latin typeface="Arial" charset="0"/>
                <a:ea typeface="宋体" pitchFamily="2" charset="-122"/>
              </a:defRPr>
            </a:lvl7pPr>
            <a:lvl8pPr marL="4367213" indent="-457200" eaLnBrk="0" fontAlgn="base" hangingPunct="0">
              <a:spcBef>
                <a:spcPct val="0"/>
              </a:spcBef>
              <a:spcAft>
                <a:spcPct val="0"/>
              </a:spcAft>
              <a:defRPr sz="2400">
                <a:solidFill>
                  <a:schemeClr val="tx1"/>
                </a:solidFill>
                <a:latin typeface="Arial" charset="0"/>
                <a:ea typeface="宋体" pitchFamily="2" charset="-122"/>
              </a:defRPr>
            </a:lvl8pPr>
            <a:lvl9pPr marL="4824413" indent="-4572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a:latin typeface="Times New Roman" pitchFamily="18" charset="0"/>
              </a:rPr>
              <a:t>求可达性矩阵的方法：</a:t>
            </a:r>
          </a:p>
          <a:p>
            <a:pPr eaLnBrk="1" hangingPunct="1">
              <a:lnSpc>
                <a:spcPct val="130000"/>
              </a:lnSpc>
            </a:pPr>
            <a:r>
              <a:rPr kumimoji="1" lang="en-US" altLang="zh-CN" b="1">
                <a:latin typeface="Times New Roman" pitchFamily="18" charset="0"/>
              </a:rPr>
              <a:t>(1)A</a:t>
            </a:r>
            <a:r>
              <a:rPr kumimoji="1" lang="zh-CN" altLang="en-US" b="1">
                <a:latin typeface="Times New Roman" pitchFamily="18" charset="0"/>
              </a:rPr>
              <a:t>为邻接矩阵，则令</a:t>
            </a:r>
            <a:r>
              <a:rPr kumimoji="1" lang="en-US" altLang="zh-CN" b="1">
                <a:latin typeface="Times New Roman" pitchFamily="18" charset="0"/>
              </a:rPr>
              <a:t>B=A+A</a:t>
            </a:r>
            <a:r>
              <a:rPr kumimoji="1" lang="en-US" altLang="zh-CN" b="1" baseline="30000">
                <a:latin typeface="Times New Roman" pitchFamily="18" charset="0"/>
              </a:rPr>
              <a:t>2</a:t>
            </a:r>
            <a:r>
              <a:rPr kumimoji="1" lang="en-US" altLang="zh-CN" b="1">
                <a:latin typeface="Times New Roman" pitchFamily="18" charset="0"/>
              </a:rPr>
              <a:t>+…+A</a:t>
            </a:r>
            <a:r>
              <a:rPr kumimoji="1" lang="en-US" altLang="zh-CN" b="1" baseline="30000">
                <a:latin typeface="Times New Roman" pitchFamily="18" charset="0"/>
              </a:rPr>
              <a:t>n</a:t>
            </a:r>
            <a:r>
              <a:rPr kumimoji="1" lang="en-US" altLang="zh-CN" b="1">
                <a:latin typeface="Times New Roman" pitchFamily="18" charset="0"/>
              </a:rPr>
              <a:t> </a:t>
            </a:r>
            <a:r>
              <a:rPr kumimoji="1" lang="zh-CN" altLang="en-US" b="1">
                <a:latin typeface="Times New Roman" pitchFamily="18" charset="0"/>
              </a:rPr>
              <a:t>，将</a:t>
            </a:r>
            <a:r>
              <a:rPr kumimoji="1" lang="en-US" altLang="zh-CN" b="1">
                <a:latin typeface="Times New Roman" pitchFamily="18" charset="0"/>
              </a:rPr>
              <a:t>B</a:t>
            </a:r>
            <a:r>
              <a:rPr kumimoji="1" lang="zh-CN" altLang="en-US" b="1">
                <a:latin typeface="Times New Roman" pitchFamily="18" charset="0"/>
              </a:rPr>
              <a:t>中不为零的元素均改为</a:t>
            </a:r>
            <a:r>
              <a:rPr kumimoji="1" lang="en-US" altLang="zh-CN" b="1">
                <a:latin typeface="Times New Roman" pitchFamily="18" charset="0"/>
              </a:rPr>
              <a:t>1</a:t>
            </a:r>
            <a:r>
              <a:rPr kumimoji="1" lang="zh-CN" altLang="en-US" b="1">
                <a:latin typeface="Times New Roman" pitchFamily="18" charset="0"/>
              </a:rPr>
              <a:t>。</a:t>
            </a:r>
          </a:p>
          <a:p>
            <a:pPr eaLnBrk="1" hangingPunct="1">
              <a:lnSpc>
                <a:spcPct val="130000"/>
              </a:lnSpc>
            </a:pPr>
            <a:r>
              <a:rPr kumimoji="1" lang="en-US" altLang="zh-CN" b="1">
                <a:latin typeface="Times New Roman" pitchFamily="18" charset="0"/>
              </a:rPr>
              <a:t>(2)</a:t>
            </a:r>
            <a:r>
              <a:rPr kumimoji="1" lang="zh-CN" altLang="en-US" b="1">
                <a:latin typeface="Times New Roman" pitchFamily="18" charset="0"/>
              </a:rPr>
              <a:t>令</a:t>
            </a:r>
            <a:r>
              <a:rPr kumimoji="1" lang="en-US" altLang="zh-CN" b="1">
                <a:latin typeface="Times New Roman" pitchFamily="18" charset="0"/>
              </a:rPr>
              <a:t>B=A+A</a:t>
            </a:r>
            <a:r>
              <a:rPr kumimoji="1" lang="en-US" altLang="zh-CN" b="1" baseline="30000">
                <a:latin typeface="Times New Roman" pitchFamily="18" charset="0"/>
              </a:rPr>
              <a:t>2</a:t>
            </a:r>
            <a:r>
              <a:rPr kumimoji="1" lang="en-US" altLang="zh-CN" b="1">
                <a:latin typeface="Times New Roman" pitchFamily="18" charset="0"/>
              </a:rPr>
              <a:t>+…+A</a:t>
            </a:r>
            <a:r>
              <a:rPr kumimoji="1" lang="en-US" altLang="zh-CN" b="1" baseline="30000">
                <a:latin typeface="Times New Roman" pitchFamily="18" charset="0"/>
              </a:rPr>
              <a:t>n</a:t>
            </a:r>
            <a:r>
              <a:rPr kumimoji="1" lang="zh-CN" altLang="en-US" b="1">
                <a:latin typeface="Times New Roman" pitchFamily="18" charset="0"/>
              </a:rPr>
              <a:t>，其中的加法和乘法都换成</a:t>
            </a:r>
            <a:r>
              <a:rPr kumimoji="1" lang="zh-CN" altLang="en-US" b="1">
                <a:solidFill>
                  <a:srgbClr val="0000CC"/>
                </a:solidFill>
                <a:latin typeface="Times New Roman" pitchFamily="18" charset="0"/>
              </a:rPr>
              <a:t>逻辑加和逻辑乘</a:t>
            </a:r>
            <a:r>
              <a:rPr kumimoji="1" lang="zh-CN" altLang="en-US" b="1">
                <a:latin typeface="Times New Roman" pitchFamily="18" charset="0"/>
              </a:rPr>
              <a:t>，这样得到的</a:t>
            </a:r>
            <a:r>
              <a:rPr kumimoji="1" lang="en-US" altLang="zh-CN" b="1">
                <a:latin typeface="Times New Roman" pitchFamily="18" charset="0"/>
              </a:rPr>
              <a:t>B</a:t>
            </a:r>
            <a:r>
              <a:rPr kumimoji="1" lang="zh-CN" altLang="en-US" b="1">
                <a:latin typeface="Times New Roman" pitchFamily="18" charset="0"/>
              </a:rPr>
              <a:t>就是可达性矩阵。</a:t>
            </a:r>
          </a:p>
        </p:txBody>
      </p:sp>
    </p:spTree>
  </p:cSld>
  <p:clrMapOvr>
    <a:masterClrMapping/>
  </p:clrMapOvr>
  <p:transition spd="slow">
    <p:random/>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灯片编号占位符 2"/>
          <p:cNvSpPr>
            <a:spLocks noGrp="1"/>
          </p:cNvSpPr>
          <p:nvPr>
            <p:ph type="sldNum" sz="quarter" idx="11"/>
          </p:nvPr>
        </p:nvSpPr>
        <p:spPr/>
        <p:txBody>
          <a:bodyPr/>
          <a:lstStyle/>
          <a:p>
            <a:pPr>
              <a:defRPr/>
            </a:pPr>
            <a:fld id="{2DE47C4F-23A7-48E9-8882-FAAB5D8C7F19}" type="slidenum">
              <a:rPr lang="en-US" altLang="zh-CN"/>
              <a:pPr>
                <a:defRPr/>
              </a:pPr>
              <a:t>48</a:t>
            </a:fld>
            <a:endParaRPr lang="en-US" altLang="zh-CN"/>
          </a:p>
        </p:txBody>
      </p:sp>
      <p:sp>
        <p:nvSpPr>
          <p:cNvPr id="53251" name="Text Box 4"/>
          <p:cNvSpPr txBox="1">
            <a:spLocks noChangeArrowheads="1"/>
          </p:cNvSpPr>
          <p:nvPr/>
        </p:nvSpPr>
        <p:spPr bwMode="auto">
          <a:xfrm>
            <a:off x="466725" y="1154113"/>
            <a:ext cx="827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zh-CN" altLang="en-US" b="1">
                <a:solidFill>
                  <a:schemeClr val="hlink"/>
                </a:solidFill>
                <a:latin typeface="Times New Roman" pitchFamily="18" charset="0"/>
              </a:rPr>
              <a:t>例：</a:t>
            </a:r>
            <a:r>
              <a:rPr kumimoji="1" lang="zh-CN" altLang="en-US" b="1">
                <a:latin typeface="Times New Roman" pitchFamily="18" charset="0"/>
              </a:rPr>
              <a:t>设图</a:t>
            </a:r>
            <a:r>
              <a:rPr kumimoji="1" lang="en-US" altLang="zh-CN" b="1">
                <a:latin typeface="Times New Roman" pitchFamily="18" charset="0"/>
              </a:rPr>
              <a:t>G</a:t>
            </a:r>
            <a:r>
              <a:rPr kumimoji="1" lang="zh-CN" altLang="en-US" b="1">
                <a:latin typeface="Times New Roman" pitchFamily="18" charset="0"/>
              </a:rPr>
              <a:t>的矩阵为</a:t>
            </a:r>
            <a:r>
              <a:rPr kumimoji="1" lang="en-US" altLang="zh-CN" b="1">
                <a:latin typeface="Times New Roman" pitchFamily="18" charset="0"/>
              </a:rPr>
              <a:t>A</a:t>
            </a:r>
            <a:r>
              <a:rPr kumimoji="1" lang="zh-CN" altLang="en-US" b="1">
                <a:latin typeface="Times New Roman" pitchFamily="18" charset="0"/>
              </a:rPr>
              <a:t>的可达性矩阵</a:t>
            </a:r>
            <a:r>
              <a:rPr kumimoji="1" lang="en-US" altLang="zh-CN" b="1">
                <a:latin typeface="Times New Roman" pitchFamily="18" charset="0"/>
              </a:rPr>
              <a:t>P</a:t>
            </a:r>
            <a:r>
              <a:rPr kumimoji="1" lang="zh-CN" altLang="en-US" b="1">
                <a:latin typeface="Times New Roman" pitchFamily="18" charset="0"/>
              </a:rPr>
              <a:t>。 </a:t>
            </a:r>
          </a:p>
        </p:txBody>
      </p:sp>
      <p:graphicFrame>
        <p:nvGraphicFramePr>
          <p:cNvPr id="53252" name="Object 6"/>
          <p:cNvGraphicFramePr>
            <a:graphicFrameLocks noChangeAspect="1"/>
          </p:cNvGraphicFramePr>
          <p:nvPr/>
        </p:nvGraphicFramePr>
        <p:xfrm>
          <a:off x="598488" y="1757363"/>
          <a:ext cx="2030412" cy="1652587"/>
        </p:xfrm>
        <a:graphic>
          <a:graphicData uri="http://schemas.openxmlformats.org/presentationml/2006/ole">
            <mc:AlternateContent xmlns:mc="http://schemas.openxmlformats.org/markup-compatibility/2006">
              <mc:Choice xmlns:v="urn:schemas-microsoft-com:vml" Requires="v">
                <p:oleObj spid="_x0000_s53631" name="Equation" r:id="rId3" imgW="2032000" imgH="1651000" progId="Equation.DSMT4">
                  <p:embed/>
                </p:oleObj>
              </mc:Choice>
              <mc:Fallback>
                <p:oleObj name="Equation" r:id="rId3" imgW="2032000" imgH="16510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488" y="1757363"/>
                        <a:ext cx="2030412" cy="165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16" name="Object 8"/>
          <p:cNvGraphicFramePr>
            <a:graphicFrameLocks noChangeAspect="1"/>
          </p:cNvGraphicFramePr>
          <p:nvPr/>
        </p:nvGraphicFramePr>
        <p:xfrm>
          <a:off x="3167063" y="1757363"/>
          <a:ext cx="2252662" cy="1652587"/>
        </p:xfrm>
        <a:graphic>
          <a:graphicData uri="http://schemas.openxmlformats.org/presentationml/2006/ole">
            <mc:AlternateContent xmlns:mc="http://schemas.openxmlformats.org/markup-compatibility/2006">
              <mc:Choice xmlns:v="urn:schemas-microsoft-com:vml" Requires="v">
                <p:oleObj spid="_x0000_s53632" name="Equation" r:id="rId5" imgW="2247900" imgH="1651000" progId="Equation.DSMT4">
                  <p:embed/>
                </p:oleObj>
              </mc:Choice>
              <mc:Fallback>
                <p:oleObj name="Equation" r:id="rId5" imgW="2247900" imgH="165100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67063" y="1757363"/>
                        <a:ext cx="2252662" cy="165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17" name="Object 9"/>
          <p:cNvGraphicFramePr>
            <a:graphicFrameLocks noChangeAspect="1"/>
          </p:cNvGraphicFramePr>
          <p:nvPr/>
        </p:nvGraphicFramePr>
        <p:xfrm>
          <a:off x="5922963" y="1757363"/>
          <a:ext cx="2259012" cy="1652587"/>
        </p:xfrm>
        <a:graphic>
          <a:graphicData uri="http://schemas.openxmlformats.org/presentationml/2006/ole">
            <mc:AlternateContent xmlns:mc="http://schemas.openxmlformats.org/markup-compatibility/2006">
              <mc:Choice xmlns:v="urn:schemas-microsoft-com:vml" Requires="v">
                <p:oleObj spid="_x0000_s53633" name="Equation" r:id="rId7" imgW="2260600" imgH="1651000" progId="Equation.DSMT4">
                  <p:embed/>
                </p:oleObj>
              </mc:Choice>
              <mc:Fallback>
                <p:oleObj name="Equation" r:id="rId7" imgW="2260600" imgH="165100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922963" y="1757363"/>
                        <a:ext cx="2259012" cy="165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18" name="Object 10"/>
          <p:cNvGraphicFramePr>
            <a:graphicFrameLocks noChangeAspect="1"/>
          </p:cNvGraphicFramePr>
          <p:nvPr/>
        </p:nvGraphicFramePr>
        <p:xfrm>
          <a:off x="598488" y="3432175"/>
          <a:ext cx="2259012" cy="1652588"/>
        </p:xfrm>
        <a:graphic>
          <a:graphicData uri="http://schemas.openxmlformats.org/presentationml/2006/ole">
            <mc:AlternateContent xmlns:mc="http://schemas.openxmlformats.org/markup-compatibility/2006">
              <mc:Choice xmlns:v="urn:schemas-microsoft-com:vml" Requires="v">
                <p:oleObj spid="_x0000_s53634" name="Equation" r:id="rId9" imgW="2260600" imgH="1651000" progId="Equation.DSMT4">
                  <p:embed/>
                </p:oleObj>
              </mc:Choice>
              <mc:Fallback>
                <p:oleObj name="Equation" r:id="rId9" imgW="2260600" imgH="1651000" progId="Equation.DSMT4">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8488" y="3432175"/>
                        <a:ext cx="2259012" cy="165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9819" name="Object 11"/>
          <p:cNvGraphicFramePr>
            <a:graphicFrameLocks noChangeAspect="1"/>
          </p:cNvGraphicFramePr>
          <p:nvPr/>
        </p:nvGraphicFramePr>
        <p:xfrm>
          <a:off x="3273425" y="3432175"/>
          <a:ext cx="4278313" cy="1652588"/>
        </p:xfrm>
        <a:graphic>
          <a:graphicData uri="http://schemas.openxmlformats.org/presentationml/2006/ole">
            <mc:AlternateContent xmlns:mc="http://schemas.openxmlformats.org/markup-compatibility/2006">
              <mc:Choice xmlns:v="urn:schemas-microsoft-com:vml" Requires="v">
                <p:oleObj spid="_x0000_s53635" name="Equation" r:id="rId11" imgW="4279900" imgH="1651000" progId="Equation.DSMT4">
                  <p:embed/>
                </p:oleObj>
              </mc:Choice>
              <mc:Fallback>
                <p:oleObj name="Equation" r:id="rId11" imgW="4279900" imgH="1651000"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73425" y="3432175"/>
                        <a:ext cx="4278313" cy="165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3257" name="Group 31"/>
          <p:cNvGrpSpPr>
            <a:grpSpLocks/>
          </p:cNvGrpSpPr>
          <p:nvPr/>
        </p:nvGrpSpPr>
        <p:grpSpPr bwMode="auto">
          <a:xfrm>
            <a:off x="5508625" y="0"/>
            <a:ext cx="2378075" cy="1752600"/>
            <a:chOff x="1927" y="3006"/>
            <a:chExt cx="1498" cy="1104"/>
          </a:xfrm>
        </p:grpSpPr>
        <p:grpSp>
          <p:nvGrpSpPr>
            <p:cNvPr id="53259" name="Group 26"/>
            <p:cNvGrpSpPr>
              <a:grpSpLocks noChangeAspect="1"/>
            </p:cNvGrpSpPr>
            <p:nvPr/>
          </p:nvGrpSpPr>
          <p:grpSpPr bwMode="auto">
            <a:xfrm>
              <a:off x="2175" y="3158"/>
              <a:ext cx="1204" cy="907"/>
              <a:chOff x="2100" y="3158"/>
              <a:chExt cx="1505" cy="1134"/>
            </a:xfrm>
          </p:grpSpPr>
          <p:sp>
            <p:nvSpPr>
              <p:cNvPr id="53264" name="Line 13"/>
              <p:cNvSpPr>
                <a:spLocks noChangeAspect="1" noChangeShapeType="1"/>
              </p:cNvSpPr>
              <p:nvPr/>
            </p:nvSpPr>
            <p:spPr bwMode="auto">
              <a:xfrm>
                <a:off x="2109" y="3158"/>
                <a:ext cx="1134" cy="0"/>
              </a:xfrm>
              <a:prstGeom prst="line">
                <a:avLst/>
              </a:prstGeom>
              <a:noFill/>
              <a:ln w="2540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5" name="Line 18"/>
              <p:cNvSpPr>
                <a:spLocks noChangeAspect="1" noChangeShapeType="1"/>
              </p:cNvSpPr>
              <p:nvPr/>
            </p:nvSpPr>
            <p:spPr bwMode="auto">
              <a:xfrm>
                <a:off x="3241" y="3158"/>
                <a:ext cx="0" cy="1134"/>
              </a:xfrm>
              <a:prstGeom prst="line">
                <a:avLst/>
              </a:prstGeom>
              <a:noFill/>
              <a:ln w="25400">
                <a:solidFill>
                  <a:schemeClr val="tx1"/>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6" name="Line 20"/>
              <p:cNvSpPr>
                <a:spLocks noChangeAspect="1" noChangeShapeType="1"/>
              </p:cNvSpPr>
              <p:nvPr/>
            </p:nvSpPr>
            <p:spPr bwMode="auto">
              <a:xfrm>
                <a:off x="2109" y="3158"/>
                <a:ext cx="0" cy="1134"/>
              </a:xfrm>
              <a:prstGeom prst="line">
                <a:avLst/>
              </a:prstGeom>
              <a:noFill/>
              <a:ln w="25400">
                <a:solidFill>
                  <a:schemeClr val="tx1"/>
                </a:solidFill>
                <a:round/>
                <a:headEnd type="arrow"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7" name="Line 21"/>
              <p:cNvSpPr>
                <a:spLocks noChangeAspect="1" noChangeShapeType="1"/>
              </p:cNvSpPr>
              <p:nvPr/>
            </p:nvSpPr>
            <p:spPr bwMode="auto">
              <a:xfrm>
                <a:off x="2109" y="4291"/>
                <a:ext cx="1134" cy="0"/>
              </a:xfrm>
              <a:prstGeom prst="line">
                <a:avLst/>
              </a:prstGeom>
              <a:noFill/>
              <a:ln w="25400">
                <a:solidFill>
                  <a:schemeClr val="tx1"/>
                </a:solidFill>
                <a:round/>
                <a:headEnd type="arrow"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8" name="Line 23"/>
              <p:cNvSpPr>
                <a:spLocks noChangeAspect="1" noChangeShapeType="1"/>
              </p:cNvSpPr>
              <p:nvPr/>
            </p:nvSpPr>
            <p:spPr bwMode="auto">
              <a:xfrm flipV="1">
                <a:off x="2109" y="3158"/>
                <a:ext cx="1134" cy="1134"/>
              </a:xfrm>
              <a:prstGeom prst="line">
                <a:avLst/>
              </a:prstGeom>
              <a:noFill/>
              <a:ln w="25400">
                <a:solidFill>
                  <a:schemeClr val="tx1"/>
                </a:solidFill>
                <a:round/>
                <a:headEnd type="arrow" w="lg" len="lg"/>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69" name="Line 24"/>
              <p:cNvSpPr>
                <a:spLocks noChangeAspect="1" noChangeShapeType="1"/>
              </p:cNvSpPr>
              <p:nvPr/>
            </p:nvSpPr>
            <p:spPr bwMode="auto">
              <a:xfrm>
                <a:off x="2100" y="3158"/>
                <a:ext cx="1134" cy="1134"/>
              </a:xfrm>
              <a:prstGeom prst="line">
                <a:avLst/>
              </a:prstGeom>
              <a:noFill/>
              <a:ln w="25400">
                <a:solidFill>
                  <a:schemeClr val="tx1"/>
                </a:solidFill>
                <a:round/>
                <a:headEnd type="arrow" w="lg" len="lg"/>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270" name="Freeform 25"/>
              <p:cNvSpPr>
                <a:spLocks noChangeAspect="1"/>
              </p:cNvSpPr>
              <p:nvPr/>
            </p:nvSpPr>
            <p:spPr bwMode="auto">
              <a:xfrm>
                <a:off x="3243" y="3158"/>
                <a:ext cx="362" cy="1089"/>
              </a:xfrm>
              <a:custGeom>
                <a:avLst/>
                <a:gdLst>
                  <a:gd name="T0" fmla="*/ 0 w 362"/>
                  <a:gd name="T1" fmla="*/ 1089 h 1089"/>
                  <a:gd name="T2" fmla="*/ 272 w 362"/>
                  <a:gd name="T3" fmla="*/ 680 h 1089"/>
                  <a:gd name="T4" fmla="*/ 317 w 362"/>
                  <a:gd name="T5" fmla="*/ 408 h 1089"/>
                  <a:gd name="T6" fmla="*/ 0 w 362"/>
                  <a:gd name="T7" fmla="*/ 0 h 108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62" h="1089">
                    <a:moveTo>
                      <a:pt x="0" y="1089"/>
                    </a:moveTo>
                    <a:cubicBezTo>
                      <a:pt x="109" y="941"/>
                      <a:pt x="219" y="793"/>
                      <a:pt x="272" y="680"/>
                    </a:cubicBezTo>
                    <a:cubicBezTo>
                      <a:pt x="325" y="567"/>
                      <a:pt x="362" y="521"/>
                      <a:pt x="317" y="408"/>
                    </a:cubicBezTo>
                    <a:cubicBezTo>
                      <a:pt x="272" y="295"/>
                      <a:pt x="136" y="147"/>
                      <a:pt x="0" y="0"/>
                    </a:cubicBezTo>
                  </a:path>
                </a:pathLst>
              </a:custGeom>
              <a:noFill/>
              <a:ln w="25400">
                <a:solidFill>
                  <a:schemeClr val="tx1"/>
                </a:solidFill>
                <a:round/>
                <a:headEnd type="none" w="lg" len="lg"/>
                <a:tailEnd type="arrow"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3260" name="Text Box 27"/>
            <p:cNvSpPr txBox="1">
              <a:spLocks noChangeArrowheads="1"/>
            </p:cNvSpPr>
            <p:nvPr/>
          </p:nvSpPr>
          <p:spPr bwMode="auto">
            <a:xfrm>
              <a:off x="1927" y="3022"/>
              <a:ext cx="2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lang="en-US" altLang="zh-CN">
                  <a:latin typeface="Times New Roman" pitchFamily="18" charset="0"/>
                </a:rPr>
                <a:t>a</a:t>
              </a:r>
            </a:p>
          </p:txBody>
        </p:sp>
        <p:sp>
          <p:nvSpPr>
            <p:cNvPr id="53261" name="Text Box 28"/>
            <p:cNvSpPr txBox="1">
              <a:spLocks noChangeArrowheads="1"/>
            </p:cNvSpPr>
            <p:nvPr/>
          </p:nvSpPr>
          <p:spPr bwMode="auto">
            <a:xfrm>
              <a:off x="3197" y="3006"/>
              <a:ext cx="2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lang="en-US" altLang="zh-CN">
                  <a:latin typeface="Times New Roman" pitchFamily="18" charset="0"/>
                </a:rPr>
                <a:t>b</a:t>
              </a:r>
            </a:p>
          </p:txBody>
        </p:sp>
        <p:sp>
          <p:nvSpPr>
            <p:cNvPr id="53262" name="Text Box 29"/>
            <p:cNvSpPr txBox="1">
              <a:spLocks noChangeArrowheads="1"/>
            </p:cNvSpPr>
            <p:nvPr/>
          </p:nvSpPr>
          <p:spPr bwMode="auto">
            <a:xfrm>
              <a:off x="1973" y="3822"/>
              <a:ext cx="2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lang="en-US" altLang="zh-CN">
                  <a:latin typeface="Times New Roman" pitchFamily="18" charset="0"/>
                </a:rPr>
                <a:t>d</a:t>
              </a:r>
            </a:p>
          </p:txBody>
        </p:sp>
        <p:sp>
          <p:nvSpPr>
            <p:cNvPr id="53263" name="Text Box 30"/>
            <p:cNvSpPr txBox="1">
              <a:spLocks noChangeArrowheads="1"/>
            </p:cNvSpPr>
            <p:nvPr/>
          </p:nvSpPr>
          <p:spPr bwMode="auto">
            <a:xfrm>
              <a:off x="3198" y="3822"/>
              <a:ext cx="22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lang="en-US" altLang="zh-CN">
                  <a:latin typeface="Times New Roman" pitchFamily="18" charset="0"/>
                </a:rPr>
                <a:t>c</a:t>
              </a:r>
            </a:p>
          </p:txBody>
        </p:sp>
      </p:grpSp>
      <p:sp>
        <p:nvSpPr>
          <p:cNvPr id="119840" name="Text Box 32"/>
          <p:cNvSpPr txBox="1">
            <a:spLocks noChangeArrowheads="1"/>
          </p:cNvSpPr>
          <p:nvPr/>
        </p:nvSpPr>
        <p:spPr bwMode="auto">
          <a:xfrm>
            <a:off x="468313" y="5013325"/>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dirty="0" smtClean="0">
                <a:solidFill>
                  <a:schemeClr val="bg2"/>
                </a:solidFill>
                <a:latin typeface="Times New Roman" pitchFamily="18" charset="0"/>
              </a:rPr>
              <a:t>可用</a:t>
            </a:r>
            <a:r>
              <a:rPr kumimoji="1" lang="en-US" altLang="zh-CN" b="1" dirty="0" err="1" smtClean="0">
                <a:solidFill>
                  <a:schemeClr val="bg2"/>
                </a:solidFill>
                <a:latin typeface="Times New Roman" pitchFamily="18" charset="0"/>
              </a:rPr>
              <a:t>warshall</a:t>
            </a:r>
            <a:r>
              <a:rPr kumimoji="1" lang="zh-CN" altLang="en-US" b="1" dirty="0" smtClean="0">
                <a:solidFill>
                  <a:schemeClr val="bg2"/>
                </a:solidFill>
                <a:latin typeface="Times New Roman" pitchFamily="18" charset="0"/>
              </a:rPr>
              <a:t>算法计算可达性矩阵</a:t>
            </a:r>
            <a:r>
              <a:rPr kumimoji="1" lang="en-US" altLang="zh-CN" b="1" dirty="0" smtClean="0">
                <a:solidFill>
                  <a:schemeClr val="bg2"/>
                </a:solidFill>
                <a:latin typeface="Times New Roman" pitchFamily="18" charset="0"/>
              </a:rPr>
              <a:t>P</a:t>
            </a:r>
            <a:r>
              <a:rPr kumimoji="1" lang="zh-CN" altLang="en-US" b="1" dirty="0" smtClean="0">
                <a:solidFill>
                  <a:schemeClr val="bg2"/>
                </a:solidFill>
                <a:latin typeface="Times New Roman" pitchFamily="18" charset="0"/>
              </a:rPr>
              <a:t>。</a:t>
            </a:r>
          </a:p>
          <a:p>
            <a:pPr eaLnBrk="1" hangingPunct="1">
              <a:lnSpc>
                <a:spcPct val="130000"/>
              </a:lnSpc>
              <a:buClr>
                <a:schemeClr val="hlink"/>
              </a:buClr>
              <a:buFont typeface="Wingdings" pitchFamily="2" charset="2"/>
              <a:buChar char="Ø"/>
            </a:pPr>
            <a:r>
              <a:rPr kumimoji="1" lang="zh-CN" altLang="en-US" b="1" dirty="0" smtClean="0">
                <a:solidFill>
                  <a:schemeClr val="bg2"/>
                </a:solidFill>
                <a:latin typeface="Times New Roman" pitchFamily="18" charset="0"/>
              </a:rPr>
              <a:t>无向图</a:t>
            </a:r>
            <a:r>
              <a:rPr kumimoji="1" lang="zh-CN" altLang="en-US" b="1" dirty="0">
                <a:solidFill>
                  <a:schemeClr val="bg2"/>
                </a:solidFill>
                <a:latin typeface="Times New Roman" pitchFamily="18" charset="0"/>
              </a:rPr>
              <a:t>可看作双向的有向图，其可达性矩阵，就是连通矩阵。</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19816"/>
                                        </p:tgtEl>
                                        <p:attrNameLst>
                                          <p:attrName>style.visibility</p:attrName>
                                        </p:attrNameLst>
                                      </p:cBhvr>
                                      <p:to>
                                        <p:strVal val="visible"/>
                                      </p:to>
                                    </p:set>
                                    <p:animEffect transition="in" filter="checkerboard(across)">
                                      <p:cBhvr>
                                        <p:cTn id="7" dur="500"/>
                                        <p:tgtEl>
                                          <p:spTgt spid="1198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19817"/>
                                        </p:tgtEl>
                                        <p:attrNameLst>
                                          <p:attrName>style.visibility</p:attrName>
                                        </p:attrNameLst>
                                      </p:cBhvr>
                                      <p:to>
                                        <p:strVal val="visible"/>
                                      </p:to>
                                    </p:set>
                                    <p:animEffect transition="in" filter="checkerboard(across)">
                                      <p:cBhvr>
                                        <p:cTn id="12" dur="500"/>
                                        <p:tgtEl>
                                          <p:spTgt spid="11981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19818"/>
                                        </p:tgtEl>
                                        <p:attrNameLst>
                                          <p:attrName>style.visibility</p:attrName>
                                        </p:attrNameLst>
                                      </p:cBhvr>
                                      <p:to>
                                        <p:strVal val="visible"/>
                                      </p:to>
                                    </p:set>
                                    <p:animEffect transition="in" filter="checkerboard(across)">
                                      <p:cBhvr>
                                        <p:cTn id="17" dur="500"/>
                                        <p:tgtEl>
                                          <p:spTgt spid="11981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119819"/>
                                        </p:tgtEl>
                                        <p:attrNameLst>
                                          <p:attrName>style.visibility</p:attrName>
                                        </p:attrNameLst>
                                      </p:cBhvr>
                                      <p:to>
                                        <p:strVal val="visible"/>
                                      </p:to>
                                    </p:set>
                                    <p:animEffect transition="in" filter="checkerboard(across)">
                                      <p:cBhvr>
                                        <p:cTn id="22" dur="500"/>
                                        <p:tgtEl>
                                          <p:spTgt spid="1198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19840"/>
                                        </p:tgtEl>
                                        <p:attrNameLst>
                                          <p:attrName>style.visibility</p:attrName>
                                        </p:attrNameLst>
                                      </p:cBhvr>
                                      <p:to>
                                        <p:strVal val="visible"/>
                                      </p:to>
                                    </p:set>
                                    <p:anim calcmode="lin" valueType="num">
                                      <p:cBhvr additive="base">
                                        <p:cTn id="27" dur="500" fill="hold"/>
                                        <p:tgtEl>
                                          <p:spTgt spid="119840"/>
                                        </p:tgtEl>
                                        <p:attrNameLst>
                                          <p:attrName>ppt_x</p:attrName>
                                        </p:attrNameLst>
                                      </p:cBhvr>
                                      <p:tavLst>
                                        <p:tav tm="0">
                                          <p:val>
                                            <p:strVal val="#ppt_x"/>
                                          </p:val>
                                        </p:tav>
                                        <p:tav tm="100000">
                                          <p:val>
                                            <p:strVal val="#ppt_x"/>
                                          </p:val>
                                        </p:tav>
                                      </p:tavLst>
                                    </p:anim>
                                    <p:anim calcmode="lin" valueType="num">
                                      <p:cBhvr additive="base">
                                        <p:cTn id="28" dur="500" fill="hold"/>
                                        <p:tgtEl>
                                          <p:spTgt spid="1198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4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pPr>
              <a:defRPr/>
            </a:pPr>
            <a:fld id="{10E2E258-150A-4499-B791-0908C87F7234}" type="slidenum">
              <a:rPr lang="en-US" altLang="zh-CN"/>
              <a:pPr>
                <a:defRPr/>
              </a:pPr>
              <a:t>49</a:t>
            </a:fld>
            <a:endParaRPr lang="en-US" altLang="zh-CN"/>
          </a:p>
        </p:txBody>
      </p:sp>
      <p:sp>
        <p:nvSpPr>
          <p:cNvPr id="54275" name="Text Box 2"/>
          <p:cNvSpPr txBox="1">
            <a:spLocks noChangeArrowheads="1"/>
          </p:cNvSpPr>
          <p:nvPr/>
        </p:nvSpPr>
        <p:spPr bwMode="auto">
          <a:xfrm>
            <a:off x="466725" y="1052513"/>
            <a:ext cx="82772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1085850" indent="-457200" eaLnBrk="0" hangingPunct="0">
              <a:defRPr sz="2400">
                <a:solidFill>
                  <a:schemeClr val="tx1"/>
                </a:solidFill>
                <a:latin typeface="Arial" charset="0"/>
                <a:ea typeface="宋体" pitchFamily="2" charset="-122"/>
              </a:defRPr>
            </a:lvl2pPr>
            <a:lvl3pPr marL="1722438" indent="-457200" eaLnBrk="0" hangingPunct="0">
              <a:defRPr sz="2400">
                <a:solidFill>
                  <a:schemeClr val="tx1"/>
                </a:solidFill>
                <a:latin typeface="Arial" charset="0"/>
                <a:ea typeface="宋体" pitchFamily="2" charset="-122"/>
              </a:defRPr>
            </a:lvl3pPr>
            <a:lvl4pPr marL="2359025" indent="-457200" eaLnBrk="0" hangingPunct="0">
              <a:defRPr sz="2400">
                <a:solidFill>
                  <a:schemeClr val="tx1"/>
                </a:solidFill>
                <a:latin typeface="Arial" charset="0"/>
                <a:ea typeface="宋体" pitchFamily="2" charset="-122"/>
              </a:defRPr>
            </a:lvl4pPr>
            <a:lvl5pPr marL="2995613" indent="-457200" eaLnBrk="0" hangingPunct="0">
              <a:defRPr sz="2400">
                <a:solidFill>
                  <a:schemeClr val="tx1"/>
                </a:solidFill>
                <a:latin typeface="Arial" charset="0"/>
                <a:ea typeface="宋体" pitchFamily="2" charset="-122"/>
              </a:defRPr>
            </a:lvl5pPr>
            <a:lvl6pPr marL="3452813" indent="-457200" eaLnBrk="0" fontAlgn="base" hangingPunct="0">
              <a:spcBef>
                <a:spcPct val="0"/>
              </a:spcBef>
              <a:spcAft>
                <a:spcPct val="0"/>
              </a:spcAft>
              <a:defRPr sz="2400">
                <a:solidFill>
                  <a:schemeClr val="tx1"/>
                </a:solidFill>
                <a:latin typeface="Arial" charset="0"/>
                <a:ea typeface="宋体" pitchFamily="2" charset="-122"/>
              </a:defRPr>
            </a:lvl6pPr>
            <a:lvl7pPr marL="3910013" indent="-457200" eaLnBrk="0" fontAlgn="base" hangingPunct="0">
              <a:spcBef>
                <a:spcPct val="0"/>
              </a:spcBef>
              <a:spcAft>
                <a:spcPct val="0"/>
              </a:spcAft>
              <a:defRPr sz="2400">
                <a:solidFill>
                  <a:schemeClr val="tx1"/>
                </a:solidFill>
                <a:latin typeface="Arial" charset="0"/>
                <a:ea typeface="宋体" pitchFamily="2" charset="-122"/>
              </a:defRPr>
            </a:lvl7pPr>
            <a:lvl8pPr marL="4367213" indent="-457200" eaLnBrk="0" fontAlgn="base" hangingPunct="0">
              <a:spcBef>
                <a:spcPct val="0"/>
              </a:spcBef>
              <a:spcAft>
                <a:spcPct val="0"/>
              </a:spcAft>
              <a:defRPr sz="2400">
                <a:solidFill>
                  <a:schemeClr val="tx1"/>
                </a:solidFill>
                <a:latin typeface="Arial" charset="0"/>
                <a:ea typeface="宋体" pitchFamily="2" charset="-122"/>
              </a:defRPr>
            </a:lvl8pPr>
            <a:lvl9pPr marL="4824413" indent="-4572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en-US" altLang="zh-CN" sz="2800" b="1">
                <a:solidFill>
                  <a:srgbClr val="993300"/>
                </a:solidFill>
                <a:latin typeface="楷体_GB2312" pitchFamily="49" charset="-122"/>
                <a:ea typeface="楷体_GB2312" pitchFamily="49" charset="-122"/>
              </a:rPr>
              <a:t>1</a:t>
            </a:r>
            <a:r>
              <a:rPr kumimoji="1" lang="zh-CN" altLang="en-US" sz="2800" b="1">
                <a:solidFill>
                  <a:srgbClr val="993300"/>
                </a:solidFill>
                <a:latin typeface="楷体_GB2312" pitchFamily="49" charset="-122"/>
                <a:ea typeface="楷体_GB2312" pitchFamily="49" charset="-122"/>
              </a:rPr>
              <a:t>、无向图的关联矩阵</a:t>
            </a:r>
          </a:p>
          <a:p>
            <a:pPr eaLnBrk="1" hangingPunct="1">
              <a:lnSpc>
                <a:spcPct val="130000"/>
              </a:lnSpc>
            </a:pPr>
            <a:r>
              <a:rPr kumimoji="1" lang="zh-CN" altLang="en-US" b="1">
                <a:solidFill>
                  <a:srgbClr val="0000CC"/>
                </a:solidFill>
                <a:latin typeface="Times New Roman" pitchFamily="18" charset="0"/>
              </a:rPr>
              <a:t>定义</a:t>
            </a:r>
            <a:r>
              <a:rPr kumimoji="1" lang="en-US" altLang="zh-CN" b="1">
                <a:solidFill>
                  <a:srgbClr val="0000CC"/>
                </a:solidFill>
                <a:latin typeface="Times New Roman" pitchFamily="18" charset="0"/>
              </a:rPr>
              <a:t>7-3.3</a:t>
            </a:r>
            <a:r>
              <a:rPr kumimoji="1" lang="zh-CN" altLang="en-US" b="1">
                <a:solidFill>
                  <a:srgbClr val="0000CC"/>
                </a:solidFill>
                <a:latin typeface="Times New Roman" pitchFamily="18" charset="0"/>
              </a:rPr>
              <a:t>：</a:t>
            </a:r>
            <a:r>
              <a:rPr kumimoji="1" lang="zh-CN" altLang="en-US" b="1">
                <a:latin typeface="Times New Roman" pitchFamily="18" charset="0"/>
              </a:rPr>
              <a:t>给定无向图</a:t>
            </a:r>
            <a:r>
              <a:rPr kumimoji="1" lang="en-US" altLang="zh-CN" b="1">
                <a:latin typeface="Times New Roman" pitchFamily="18" charset="0"/>
              </a:rPr>
              <a:t>G =&lt;V, E&gt;</a:t>
            </a:r>
            <a:r>
              <a:rPr kumimoji="1" lang="zh-CN" altLang="en-US" b="1">
                <a:latin typeface="Times New Roman" pitchFamily="18" charset="0"/>
              </a:rPr>
              <a:t>，令</a:t>
            </a:r>
            <a:r>
              <a:rPr kumimoji="1" lang="en-US" altLang="zh-CN" b="1">
                <a:latin typeface="Times New Roman" pitchFamily="18" charset="0"/>
              </a:rPr>
              <a:t>V={v</a:t>
            </a:r>
            <a:r>
              <a:rPr kumimoji="1" lang="en-US" altLang="zh-CN" b="1" baseline="-25000">
                <a:latin typeface="Times New Roman" pitchFamily="18" charset="0"/>
              </a:rPr>
              <a:t>1</a:t>
            </a:r>
            <a:r>
              <a:rPr kumimoji="1" lang="en-US" altLang="zh-CN" b="1">
                <a:latin typeface="Times New Roman" pitchFamily="18" charset="0"/>
              </a:rPr>
              <a:t>,v</a:t>
            </a:r>
            <a:r>
              <a:rPr kumimoji="1" lang="en-US" altLang="zh-CN" b="1" baseline="-25000">
                <a:latin typeface="Times New Roman" pitchFamily="18" charset="0"/>
              </a:rPr>
              <a:t>2</a:t>
            </a:r>
            <a:r>
              <a:rPr kumimoji="1" lang="en-US" altLang="zh-CN" b="1">
                <a:latin typeface="Times New Roman" pitchFamily="18" charset="0"/>
              </a:rPr>
              <a:t>,…,v</a:t>
            </a:r>
            <a:r>
              <a:rPr kumimoji="1" lang="en-US" altLang="zh-CN" b="1" baseline="-25000">
                <a:latin typeface="Times New Roman" pitchFamily="18" charset="0"/>
              </a:rPr>
              <a:t>p</a:t>
            </a:r>
            <a:r>
              <a:rPr kumimoji="1" lang="en-US" altLang="zh-CN" b="1">
                <a:latin typeface="Times New Roman" pitchFamily="18" charset="0"/>
              </a:rPr>
              <a:t>}</a:t>
            </a:r>
            <a:r>
              <a:rPr kumimoji="1" lang="zh-CN" altLang="en-US" b="1">
                <a:latin typeface="Times New Roman" pitchFamily="18" charset="0"/>
              </a:rPr>
              <a:t>和</a:t>
            </a:r>
            <a:r>
              <a:rPr kumimoji="1" lang="en-US" altLang="zh-CN" b="1">
                <a:latin typeface="Times New Roman" pitchFamily="18" charset="0"/>
              </a:rPr>
              <a:t>E={e</a:t>
            </a:r>
            <a:r>
              <a:rPr kumimoji="1" lang="en-US" altLang="zh-CN" b="1" baseline="-25000">
                <a:latin typeface="Times New Roman" pitchFamily="18" charset="0"/>
              </a:rPr>
              <a:t>1</a:t>
            </a:r>
            <a:r>
              <a:rPr kumimoji="1" lang="en-US" altLang="zh-CN" b="1">
                <a:latin typeface="Times New Roman" pitchFamily="18" charset="0"/>
              </a:rPr>
              <a:t>,e</a:t>
            </a:r>
            <a:r>
              <a:rPr kumimoji="1" lang="en-US" altLang="zh-CN" b="1" baseline="-25000">
                <a:latin typeface="Times New Roman" pitchFamily="18" charset="0"/>
              </a:rPr>
              <a:t>2</a:t>
            </a:r>
            <a:r>
              <a:rPr kumimoji="1" lang="en-US" altLang="zh-CN" b="1">
                <a:latin typeface="Times New Roman" pitchFamily="18" charset="0"/>
              </a:rPr>
              <a:t>,…,e</a:t>
            </a:r>
            <a:r>
              <a:rPr kumimoji="1" lang="en-US" altLang="zh-CN" b="1" baseline="-25000">
                <a:latin typeface="Times New Roman" pitchFamily="18" charset="0"/>
              </a:rPr>
              <a:t>q</a:t>
            </a:r>
            <a:r>
              <a:rPr kumimoji="1" lang="en-US" altLang="zh-CN" b="1">
                <a:latin typeface="Times New Roman" pitchFamily="18" charset="0"/>
              </a:rPr>
              <a:t>}</a:t>
            </a:r>
            <a:r>
              <a:rPr kumimoji="1" lang="zh-CN" altLang="en-US" b="1">
                <a:latin typeface="Times New Roman" pitchFamily="18" charset="0"/>
              </a:rPr>
              <a:t>分别记为</a:t>
            </a:r>
            <a:r>
              <a:rPr kumimoji="1" lang="en-US" altLang="zh-CN" b="1">
                <a:latin typeface="Times New Roman" pitchFamily="18" charset="0"/>
              </a:rPr>
              <a:t>M(G)</a:t>
            </a:r>
            <a:r>
              <a:rPr kumimoji="1" lang="zh-CN" altLang="en-US" b="1">
                <a:latin typeface="Times New Roman" pitchFamily="18" charset="0"/>
              </a:rPr>
              <a:t>的结点和边，则</a:t>
            </a:r>
            <a:r>
              <a:rPr kumimoji="1" lang="en-US" altLang="zh-CN" b="1">
                <a:latin typeface="Times New Roman" pitchFamily="18" charset="0"/>
              </a:rPr>
              <a:t>p×q</a:t>
            </a:r>
            <a:r>
              <a:rPr kumimoji="1" lang="zh-CN" altLang="en-US" b="1">
                <a:latin typeface="Times New Roman" pitchFamily="18" charset="0"/>
              </a:rPr>
              <a:t>阶矩阵</a:t>
            </a:r>
            <a:r>
              <a:rPr kumimoji="1" lang="en-US" altLang="zh-CN" b="1">
                <a:latin typeface="Times New Roman" pitchFamily="18" charset="0"/>
              </a:rPr>
              <a:t>M(G)=(m</a:t>
            </a:r>
            <a:r>
              <a:rPr kumimoji="1" lang="en-US" altLang="zh-CN" b="1" baseline="-25000">
                <a:latin typeface="Times New Roman" pitchFamily="18" charset="0"/>
              </a:rPr>
              <a:t>ij</a:t>
            </a:r>
            <a:r>
              <a:rPr kumimoji="1" lang="en-US" altLang="zh-CN" b="1">
                <a:latin typeface="Times New Roman" pitchFamily="18" charset="0"/>
              </a:rPr>
              <a:t>)</a:t>
            </a:r>
            <a:r>
              <a:rPr kumimoji="1" lang="zh-CN" altLang="en-US" b="1">
                <a:latin typeface="Times New Roman" pitchFamily="18" charset="0"/>
              </a:rPr>
              <a:t>，称</a:t>
            </a:r>
            <a:r>
              <a:rPr kumimoji="1" lang="en-US" altLang="zh-CN" b="1">
                <a:latin typeface="Times New Roman" pitchFamily="18" charset="0"/>
              </a:rPr>
              <a:t>M(G)</a:t>
            </a:r>
            <a:r>
              <a:rPr kumimoji="1" lang="zh-CN" altLang="en-US" b="1">
                <a:latin typeface="Times New Roman" pitchFamily="18" charset="0"/>
              </a:rPr>
              <a:t>为关联矩阵。 </a:t>
            </a:r>
          </a:p>
        </p:txBody>
      </p:sp>
      <p:graphicFrame>
        <p:nvGraphicFramePr>
          <p:cNvPr id="54276" name="Object 6"/>
          <p:cNvGraphicFramePr>
            <a:graphicFrameLocks noChangeAspect="1"/>
          </p:cNvGraphicFramePr>
          <p:nvPr/>
        </p:nvGraphicFramePr>
        <p:xfrm>
          <a:off x="2484438" y="3284538"/>
          <a:ext cx="3059112" cy="989012"/>
        </p:xfrm>
        <a:graphic>
          <a:graphicData uri="http://schemas.openxmlformats.org/presentationml/2006/ole">
            <mc:AlternateContent xmlns:mc="http://schemas.openxmlformats.org/markup-compatibility/2006">
              <mc:Choice xmlns:v="urn:schemas-microsoft-com:vml" Requires="v">
                <p:oleObj spid="_x0000_s54350" name="Equation" r:id="rId3" imgW="3060700" imgH="990600" progId="Equation.DSMT4">
                  <p:embed/>
                </p:oleObj>
              </mc:Choice>
              <mc:Fallback>
                <p:oleObj name="Equation" r:id="rId3" imgW="3060700" imgH="99060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3284538"/>
                        <a:ext cx="3059112" cy="989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4277" name="Rectangle 8"/>
          <p:cNvSpPr>
            <a:spLocks noChangeArrowheads="1"/>
          </p:cNvSpPr>
          <p:nvPr/>
        </p:nvSpPr>
        <p:spPr bwMode="auto">
          <a:xfrm>
            <a:off x="1187450" y="350838"/>
            <a:ext cx="6480175" cy="676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pPr>
            <a:r>
              <a:rPr kumimoji="1" lang="zh-CN" altLang="en-US" sz="3200" b="1">
                <a:solidFill>
                  <a:srgbClr val="008000"/>
                </a:solidFill>
                <a:latin typeface="楷体_GB2312" pitchFamily="49" charset="-122"/>
                <a:ea typeface="楷体_GB2312" pitchFamily="49" charset="-122"/>
              </a:rPr>
              <a:t>二、关联矩阵（完全关联矩阵）</a:t>
            </a:r>
          </a:p>
        </p:txBody>
      </p:sp>
    </p:spTree>
  </p:cSld>
  <p:clrMapOvr>
    <a:masterClrMapping/>
  </p:clrMapOvr>
  <p:transition spd="slow">
    <p:random/>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灯片编号占位符 2"/>
          <p:cNvSpPr>
            <a:spLocks noGrp="1"/>
          </p:cNvSpPr>
          <p:nvPr>
            <p:ph type="sldNum" sz="quarter" idx="11"/>
          </p:nvPr>
        </p:nvSpPr>
        <p:spPr/>
        <p:txBody>
          <a:bodyPr/>
          <a:lstStyle/>
          <a:p>
            <a:pPr>
              <a:defRPr/>
            </a:pPr>
            <a:fld id="{D8144880-B195-4534-AB6A-EEAEB57EEFCB}" type="slidenum">
              <a:rPr lang="en-US" altLang="zh-CN"/>
              <a:pPr>
                <a:defRPr/>
              </a:pPr>
              <a:t>50</a:t>
            </a:fld>
            <a:endParaRPr lang="en-US" altLang="zh-CN"/>
          </a:p>
        </p:txBody>
      </p:sp>
      <p:sp>
        <p:nvSpPr>
          <p:cNvPr id="55299" name="Text Box 13"/>
          <p:cNvSpPr txBox="1">
            <a:spLocks noChangeArrowheads="1"/>
          </p:cNvSpPr>
          <p:nvPr/>
        </p:nvSpPr>
        <p:spPr bwMode="auto">
          <a:xfrm>
            <a:off x="466725" y="1125538"/>
            <a:ext cx="827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zh-CN" altLang="en-US" b="1">
                <a:solidFill>
                  <a:schemeClr val="hlink"/>
                </a:solidFill>
                <a:latin typeface="Times New Roman" pitchFamily="18" charset="0"/>
              </a:rPr>
              <a:t>例：</a:t>
            </a:r>
            <a:r>
              <a:rPr kumimoji="1" lang="zh-CN" altLang="en-US" b="1">
                <a:latin typeface="Times New Roman" pitchFamily="18" charset="0"/>
              </a:rPr>
              <a:t>写出右图的关联矩阵。</a:t>
            </a:r>
          </a:p>
        </p:txBody>
      </p:sp>
      <p:sp>
        <p:nvSpPr>
          <p:cNvPr id="38933" name="Rectangle 21"/>
          <p:cNvSpPr>
            <a:spLocks noChangeArrowheads="1"/>
          </p:cNvSpPr>
          <p:nvPr/>
        </p:nvSpPr>
        <p:spPr bwMode="auto">
          <a:xfrm>
            <a:off x="466725" y="3846513"/>
            <a:ext cx="8277225" cy="2465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zh-CN" altLang="en-US" b="1">
                <a:solidFill>
                  <a:srgbClr val="993300"/>
                </a:solidFill>
                <a:latin typeface="Times New Roman" pitchFamily="18" charset="0"/>
              </a:rPr>
              <a:t>无向图关联矩阵的性质：</a:t>
            </a:r>
          </a:p>
          <a:p>
            <a:pPr>
              <a:lnSpc>
                <a:spcPct val="130000"/>
              </a:lnSpc>
            </a:pPr>
            <a:r>
              <a:rPr kumimoji="1" lang="en-US" altLang="zh-CN" b="1">
                <a:solidFill>
                  <a:schemeClr val="tx2"/>
                </a:solidFill>
                <a:latin typeface="Times New Roman" pitchFamily="18" charset="0"/>
              </a:rPr>
              <a:t>(1)</a:t>
            </a:r>
            <a:r>
              <a:rPr kumimoji="1" lang="zh-CN" altLang="en-US" b="1">
                <a:solidFill>
                  <a:schemeClr val="tx2"/>
                </a:solidFill>
                <a:latin typeface="Times New Roman" pitchFamily="18" charset="0"/>
              </a:rPr>
              <a:t>矩阵的列；</a:t>
            </a:r>
            <a:r>
              <a:rPr lang="en-US" altLang="zh-CN" b="1">
                <a:solidFill>
                  <a:schemeClr val="tx2"/>
                </a:solidFill>
                <a:latin typeface="Times New Roman" pitchFamily="18" charset="0"/>
              </a:rPr>
              <a:t>(2)</a:t>
            </a:r>
            <a:r>
              <a:rPr lang="zh-CN" altLang="en-US" b="1">
                <a:solidFill>
                  <a:schemeClr val="tx2"/>
                </a:solidFill>
                <a:latin typeface="Times New Roman" pitchFamily="18" charset="0"/>
              </a:rPr>
              <a:t>矩阵的行；</a:t>
            </a:r>
            <a:r>
              <a:rPr lang="en-US" altLang="zh-CN" b="1">
                <a:solidFill>
                  <a:schemeClr val="tx2"/>
                </a:solidFill>
                <a:latin typeface="Times New Roman" pitchFamily="18" charset="0"/>
              </a:rPr>
              <a:t>(3)</a:t>
            </a:r>
            <a:r>
              <a:rPr lang="zh-CN" altLang="en-US" b="1">
                <a:solidFill>
                  <a:schemeClr val="tx2"/>
                </a:solidFill>
                <a:latin typeface="Times New Roman" pitchFamily="18" charset="0"/>
              </a:rPr>
              <a:t>全零的行；</a:t>
            </a:r>
          </a:p>
          <a:p>
            <a:pPr>
              <a:lnSpc>
                <a:spcPct val="130000"/>
              </a:lnSpc>
            </a:pPr>
            <a:r>
              <a:rPr lang="en-US" altLang="zh-CN" b="1">
                <a:solidFill>
                  <a:schemeClr val="tx2"/>
                </a:solidFill>
                <a:latin typeface="Times New Roman" pitchFamily="18" charset="0"/>
              </a:rPr>
              <a:t>(4)</a:t>
            </a:r>
            <a:r>
              <a:rPr lang="zh-CN" altLang="en-US" b="1">
                <a:solidFill>
                  <a:schemeClr val="tx2"/>
                </a:solidFill>
                <a:latin typeface="Times New Roman" pitchFamily="18" charset="0"/>
              </a:rPr>
              <a:t>平行边；</a:t>
            </a:r>
            <a:r>
              <a:rPr lang="en-US" altLang="zh-CN" b="1">
                <a:solidFill>
                  <a:schemeClr val="tx2"/>
                </a:solidFill>
                <a:latin typeface="Times New Roman" pitchFamily="18" charset="0"/>
              </a:rPr>
              <a:t>(5)</a:t>
            </a:r>
            <a:r>
              <a:rPr lang="zh-CN" altLang="en-US" b="1">
                <a:solidFill>
                  <a:schemeClr val="tx2"/>
                </a:solidFill>
                <a:latin typeface="Times New Roman" pitchFamily="18" charset="0"/>
              </a:rPr>
              <a:t>结点次序变化后，矩阵的变化。</a:t>
            </a:r>
          </a:p>
          <a:p>
            <a:pPr>
              <a:lnSpc>
                <a:spcPct val="130000"/>
              </a:lnSpc>
            </a:pPr>
            <a:r>
              <a:rPr lang="en-US" altLang="zh-CN" b="1">
                <a:solidFill>
                  <a:schemeClr val="tx2"/>
                </a:solidFill>
                <a:latin typeface="Times New Roman" pitchFamily="18" charset="0"/>
              </a:rPr>
              <a:t>(6)</a:t>
            </a:r>
            <a:r>
              <a:rPr lang="zh-CN" altLang="en-US" b="1">
                <a:solidFill>
                  <a:schemeClr val="tx2"/>
                </a:solidFill>
                <a:latin typeface="Times New Roman" pitchFamily="18" charset="0"/>
              </a:rPr>
              <a:t>若</a:t>
            </a:r>
            <a:r>
              <a:rPr lang="en-US" altLang="zh-CN" b="1">
                <a:solidFill>
                  <a:schemeClr val="tx2"/>
                </a:solidFill>
                <a:latin typeface="Times New Roman" pitchFamily="18" charset="0"/>
              </a:rPr>
              <a:t>G</a:t>
            </a:r>
            <a:r>
              <a:rPr lang="zh-CN" altLang="en-US" b="1">
                <a:solidFill>
                  <a:schemeClr val="tx2"/>
                </a:solidFill>
                <a:latin typeface="Times New Roman" pitchFamily="18" charset="0"/>
              </a:rPr>
              <a:t>有两个连通分支，则适当调整顶点及边可使关联矩阵呈块对角形。</a:t>
            </a:r>
          </a:p>
        </p:txBody>
      </p:sp>
      <p:graphicFrame>
        <p:nvGraphicFramePr>
          <p:cNvPr id="38935" name="Object 23"/>
          <p:cNvGraphicFramePr>
            <a:graphicFrameLocks noChangeAspect="1"/>
          </p:cNvGraphicFramePr>
          <p:nvPr/>
        </p:nvGraphicFramePr>
        <p:xfrm>
          <a:off x="3851275" y="5805488"/>
          <a:ext cx="1889125" cy="806450"/>
        </p:xfrm>
        <a:graphic>
          <a:graphicData uri="http://schemas.openxmlformats.org/presentationml/2006/ole">
            <mc:AlternateContent xmlns:mc="http://schemas.openxmlformats.org/markup-compatibility/2006">
              <mc:Choice xmlns:v="urn:schemas-microsoft-com:vml" Requires="v">
                <p:oleObj spid="_x0000_s55462" name="Equation" r:id="rId3" imgW="1892300" imgH="800100" progId="Equation.DSMT4">
                  <p:embed/>
                </p:oleObj>
              </mc:Choice>
              <mc:Fallback>
                <p:oleObj name="Equation" r:id="rId3" imgW="1892300" imgH="800100" progId="Equation.DSMT4">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51275" y="5805488"/>
                        <a:ext cx="1889125"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55302" name="Group 24"/>
          <p:cNvGrpSpPr>
            <a:grpSpLocks/>
          </p:cNvGrpSpPr>
          <p:nvPr/>
        </p:nvGrpSpPr>
        <p:grpSpPr bwMode="auto">
          <a:xfrm>
            <a:off x="1031875" y="1557338"/>
            <a:ext cx="3027363" cy="2451100"/>
            <a:chOff x="249" y="845"/>
            <a:chExt cx="1907" cy="1544"/>
          </a:xfrm>
        </p:grpSpPr>
        <p:sp>
          <p:nvSpPr>
            <p:cNvPr id="55304" name="Freeform 25"/>
            <p:cNvSpPr>
              <a:spLocks/>
            </p:cNvSpPr>
            <p:nvPr/>
          </p:nvSpPr>
          <p:spPr bwMode="auto">
            <a:xfrm>
              <a:off x="476" y="1121"/>
              <a:ext cx="288" cy="767"/>
            </a:xfrm>
            <a:custGeom>
              <a:avLst/>
              <a:gdLst>
                <a:gd name="T0" fmla="*/ 144 w 420"/>
                <a:gd name="T1" fmla="*/ 0 h 1248"/>
                <a:gd name="T2" fmla="*/ 21 w 420"/>
                <a:gd name="T3" fmla="*/ 192 h 1248"/>
                <a:gd name="T4" fmla="*/ 21 w 420"/>
                <a:gd name="T5" fmla="*/ 575 h 1248"/>
                <a:gd name="T6" fmla="*/ 144 w 420"/>
                <a:gd name="T7" fmla="*/ 767 h 1248"/>
                <a:gd name="T8" fmla="*/ 267 w 420"/>
                <a:gd name="T9" fmla="*/ 575 h 1248"/>
                <a:gd name="T10" fmla="*/ 267 w 420"/>
                <a:gd name="T11" fmla="*/ 192 h 1248"/>
                <a:gd name="T12" fmla="*/ 144 w 420"/>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0" h="1248">
                  <a:moveTo>
                    <a:pt x="210" y="0"/>
                  </a:moveTo>
                  <a:cubicBezTo>
                    <a:pt x="150" y="0"/>
                    <a:pt x="60" y="156"/>
                    <a:pt x="30" y="312"/>
                  </a:cubicBezTo>
                  <a:cubicBezTo>
                    <a:pt x="0" y="468"/>
                    <a:pt x="0" y="780"/>
                    <a:pt x="30" y="936"/>
                  </a:cubicBezTo>
                  <a:cubicBezTo>
                    <a:pt x="60" y="1092"/>
                    <a:pt x="150" y="1248"/>
                    <a:pt x="210" y="1248"/>
                  </a:cubicBezTo>
                  <a:cubicBezTo>
                    <a:pt x="270" y="1248"/>
                    <a:pt x="360" y="1092"/>
                    <a:pt x="390" y="936"/>
                  </a:cubicBezTo>
                  <a:cubicBezTo>
                    <a:pt x="420" y="780"/>
                    <a:pt x="420" y="468"/>
                    <a:pt x="390" y="312"/>
                  </a:cubicBezTo>
                  <a:cubicBezTo>
                    <a:pt x="360" y="156"/>
                    <a:pt x="270" y="0"/>
                    <a:pt x="210" y="0"/>
                  </a:cubicBezTo>
                  <a:close/>
                </a:path>
              </a:pathLst>
            </a:custGeom>
            <a:solidFill>
              <a:srgbClr val="FFFFFF"/>
            </a:solidFill>
            <a:ln w="25400">
              <a:solidFill>
                <a:srgbClr val="000000"/>
              </a:solidFill>
              <a:round/>
              <a:headEnd/>
              <a:tailEnd/>
            </a:ln>
          </p:spPr>
          <p:txBody>
            <a:bodyPr/>
            <a:lstStyle/>
            <a:p>
              <a:endParaRPr lang="zh-CN" altLang="en-US"/>
            </a:p>
          </p:txBody>
        </p:sp>
        <p:sp>
          <p:nvSpPr>
            <p:cNvPr id="55305" name="Freeform 26"/>
            <p:cNvSpPr>
              <a:spLocks/>
            </p:cNvSpPr>
            <p:nvPr/>
          </p:nvSpPr>
          <p:spPr bwMode="auto">
            <a:xfrm rot="8100000">
              <a:off x="1475" y="968"/>
              <a:ext cx="274" cy="767"/>
            </a:xfrm>
            <a:custGeom>
              <a:avLst/>
              <a:gdLst>
                <a:gd name="T0" fmla="*/ 137 w 420"/>
                <a:gd name="T1" fmla="*/ 0 h 1248"/>
                <a:gd name="T2" fmla="*/ 20 w 420"/>
                <a:gd name="T3" fmla="*/ 192 h 1248"/>
                <a:gd name="T4" fmla="*/ 20 w 420"/>
                <a:gd name="T5" fmla="*/ 575 h 1248"/>
                <a:gd name="T6" fmla="*/ 137 w 420"/>
                <a:gd name="T7" fmla="*/ 767 h 1248"/>
                <a:gd name="T8" fmla="*/ 254 w 420"/>
                <a:gd name="T9" fmla="*/ 575 h 1248"/>
                <a:gd name="T10" fmla="*/ 254 w 420"/>
                <a:gd name="T11" fmla="*/ 192 h 1248"/>
                <a:gd name="T12" fmla="*/ 137 w 420"/>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0" h="1248">
                  <a:moveTo>
                    <a:pt x="210" y="0"/>
                  </a:moveTo>
                  <a:cubicBezTo>
                    <a:pt x="150" y="0"/>
                    <a:pt x="60" y="156"/>
                    <a:pt x="30" y="312"/>
                  </a:cubicBezTo>
                  <a:cubicBezTo>
                    <a:pt x="0" y="468"/>
                    <a:pt x="0" y="780"/>
                    <a:pt x="30" y="936"/>
                  </a:cubicBezTo>
                  <a:cubicBezTo>
                    <a:pt x="60" y="1092"/>
                    <a:pt x="150" y="1248"/>
                    <a:pt x="210" y="1248"/>
                  </a:cubicBezTo>
                  <a:cubicBezTo>
                    <a:pt x="270" y="1248"/>
                    <a:pt x="360" y="1092"/>
                    <a:pt x="390" y="936"/>
                  </a:cubicBezTo>
                  <a:cubicBezTo>
                    <a:pt x="420" y="780"/>
                    <a:pt x="420" y="468"/>
                    <a:pt x="390" y="312"/>
                  </a:cubicBezTo>
                  <a:cubicBezTo>
                    <a:pt x="360" y="156"/>
                    <a:pt x="270" y="0"/>
                    <a:pt x="210" y="0"/>
                  </a:cubicBezTo>
                  <a:close/>
                </a:path>
              </a:pathLst>
            </a:custGeom>
            <a:solidFill>
              <a:srgbClr val="FFFFFF"/>
            </a:solidFill>
            <a:ln w="25400">
              <a:solidFill>
                <a:srgbClr val="000000"/>
              </a:solidFill>
              <a:round/>
              <a:headEnd/>
              <a:tailEnd/>
            </a:ln>
          </p:spPr>
          <p:txBody>
            <a:bodyPr/>
            <a:lstStyle/>
            <a:p>
              <a:endParaRPr lang="zh-CN" altLang="en-US"/>
            </a:p>
          </p:txBody>
        </p:sp>
        <p:sp>
          <p:nvSpPr>
            <p:cNvPr id="55306" name="Freeform 27"/>
            <p:cNvSpPr>
              <a:spLocks/>
            </p:cNvSpPr>
            <p:nvPr/>
          </p:nvSpPr>
          <p:spPr bwMode="auto">
            <a:xfrm rot="2700000">
              <a:off x="1454" y="1515"/>
              <a:ext cx="288" cy="868"/>
            </a:xfrm>
            <a:custGeom>
              <a:avLst/>
              <a:gdLst>
                <a:gd name="T0" fmla="*/ 144 w 420"/>
                <a:gd name="T1" fmla="*/ 0 h 1248"/>
                <a:gd name="T2" fmla="*/ 21 w 420"/>
                <a:gd name="T3" fmla="*/ 217 h 1248"/>
                <a:gd name="T4" fmla="*/ 21 w 420"/>
                <a:gd name="T5" fmla="*/ 651 h 1248"/>
                <a:gd name="T6" fmla="*/ 144 w 420"/>
                <a:gd name="T7" fmla="*/ 868 h 1248"/>
                <a:gd name="T8" fmla="*/ 267 w 420"/>
                <a:gd name="T9" fmla="*/ 651 h 1248"/>
                <a:gd name="T10" fmla="*/ 267 w 420"/>
                <a:gd name="T11" fmla="*/ 217 h 1248"/>
                <a:gd name="T12" fmla="*/ 144 w 420"/>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0" h="1248">
                  <a:moveTo>
                    <a:pt x="210" y="0"/>
                  </a:moveTo>
                  <a:cubicBezTo>
                    <a:pt x="150" y="0"/>
                    <a:pt x="60" y="156"/>
                    <a:pt x="30" y="312"/>
                  </a:cubicBezTo>
                  <a:cubicBezTo>
                    <a:pt x="0" y="468"/>
                    <a:pt x="0" y="780"/>
                    <a:pt x="30" y="936"/>
                  </a:cubicBezTo>
                  <a:cubicBezTo>
                    <a:pt x="60" y="1092"/>
                    <a:pt x="150" y="1248"/>
                    <a:pt x="210" y="1248"/>
                  </a:cubicBezTo>
                  <a:cubicBezTo>
                    <a:pt x="270" y="1248"/>
                    <a:pt x="360" y="1092"/>
                    <a:pt x="390" y="936"/>
                  </a:cubicBezTo>
                  <a:cubicBezTo>
                    <a:pt x="420" y="780"/>
                    <a:pt x="420" y="468"/>
                    <a:pt x="390" y="312"/>
                  </a:cubicBezTo>
                  <a:cubicBezTo>
                    <a:pt x="360" y="156"/>
                    <a:pt x="270" y="0"/>
                    <a:pt x="210" y="0"/>
                  </a:cubicBezTo>
                  <a:close/>
                </a:path>
              </a:pathLst>
            </a:custGeom>
            <a:solidFill>
              <a:srgbClr val="FFFFFF"/>
            </a:solidFill>
            <a:ln w="25400">
              <a:solidFill>
                <a:srgbClr val="000000"/>
              </a:solidFill>
              <a:round/>
              <a:headEnd/>
              <a:tailEnd/>
            </a:ln>
          </p:spPr>
          <p:txBody>
            <a:bodyPr/>
            <a:lstStyle/>
            <a:p>
              <a:endParaRPr lang="zh-CN" altLang="en-US"/>
            </a:p>
          </p:txBody>
        </p:sp>
        <p:sp>
          <p:nvSpPr>
            <p:cNvPr id="55307" name="Text Box 28"/>
            <p:cNvSpPr txBox="1">
              <a:spLocks noChangeArrowheads="1"/>
            </p:cNvSpPr>
            <p:nvPr/>
          </p:nvSpPr>
          <p:spPr bwMode="auto">
            <a:xfrm>
              <a:off x="1196" y="853"/>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1</a:t>
              </a:r>
            </a:p>
          </p:txBody>
        </p:sp>
        <p:sp>
          <p:nvSpPr>
            <p:cNvPr id="55308" name="Text Box 29"/>
            <p:cNvSpPr txBox="1">
              <a:spLocks noChangeArrowheads="1"/>
            </p:cNvSpPr>
            <p:nvPr/>
          </p:nvSpPr>
          <p:spPr bwMode="auto">
            <a:xfrm>
              <a:off x="484" y="845"/>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5</a:t>
              </a:r>
            </a:p>
          </p:txBody>
        </p:sp>
        <p:sp>
          <p:nvSpPr>
            <p:cNvPr id="55309" name="Text Box 30"/>
            <p:cNvSpPr txBox="1">
              <a:spLocks noChangeArrowheads="1"/>
            </p:cNvSpPr>
            <p:nvPr/>
          </p:nvSpPr>
          <p:spPr bwMode="auto">
            <a:xfrm>
              <a:off x="476" y="182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4</a:t>
              </a:r>
            </a:p>
          </p:txBody>
        </p:sp>
        <p:sp>
          <p:nvSpPr>
            <p:cNvPr id="55310" name="Text Box 31"/>
            <p:cNvSpPr txBox="1">
              <a:spLocks noChangeArrowheads="1"/>
            </p:cNvSpPr>
            <p:nvPr/>
          </p:nvSpPr>
          <p:spPr bwMode="auto">
            <a:xfrm>
              <a:off x="1868" y="147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2</a:t>
              </a:r>
            </a:p>
          </p:txBody>
        </p:sp>
        <p:sp>
          <p:nvSpPr>
            <p:cNvPr id="55311" name="Text Box 32"/>
            <p:cNvSpPr txBox="1">
              <a:spLocks noChangeArrowheads="1"/>
            </p:cNvSpPr>
            <p:nvPr/>
          </p:nvSpPr>
          <p:spPr bwMode="auto">
            <a:xfrm>
              <a:off x="1068" y="210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3</a:t>
              </a:r>
            </a:p>
          </p:txBody>
        </p:sp>
        <p:sp>
          <p:nvSpPr>
            <p:cNvPr id="55312" name="Text Box 33"/>
            <p:cNvSpPr txBox="1">
              <a:spLocks noChangeArrowheads="1"/>
            </p:cNvSpPr>
            <p:nvPr/>
          </p:nvSpPr>
          <p:spPr bwMode="auto">
            <a:xfrm>
              <a:off x="1701" y="1071"/>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1</a:t>
              </a:r>
            </a:p>
          </p:txBody>
        </p:sp>
        <p:sp>
          <p:nvSpPr>
            <p:cNvPr id="55313" name="Text Box 34"/>
            <p:cNvSpPr txBox="1">
              <a:spLocks noChangeArrowheads="1"/>
            </p:cNvSpPr>
            <p:nvPr/>
          </p:nvSpPr>
          <p:spPr bwMode="auto">
            <a:xfrm>
              <a:off x="1202" y="1207"/>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2</a:t>
              </a:r>
            </a:p>
          </p:txBody>
        </p:sp>
        <p:sp>
          <p:nvSpPr>
            <p:cNvPr id="55314" name="Text Box 35"/>
            <p:cNvSpPr txBox="1">
              <a:spLocks noChangeArrowheads="1"/>
            </p:cNvSpPr>
            <p:nvPr/>
          </p:nvSpPr>
          <p:spPr bwMode="auto">
            <a:xfrm>
              <a:off x="1292" y="161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3</a:t>
              </a:r>
            </a:p>
          </p:txBody>
        </p:sp>
        <p:sp>
          <p:nvSpPr>
            <p:cNvPr id="55315" name="Text Box 36"/>
            <p:cNvSpPr txBox="1">
              <a:spLocks noChangeArrowheads="1"/>
            </p:cNvSpPr>
            <p:nvPr/>
          </p:nvSpPr>
          <p:spPr bwMode="auto">
            <a:xfrm>
              <a:off x="1655" y="1933"/>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4</a:t>
              </a:r>
            </a:p>
          </p:txBody>
        </p:sp>
        <p:sp>
          <p:nvSpPr>
            <p:cNvPr id="55316" name="Text Box 37"/>
            <p:cNvSpPr txBox="1">
              <a:spLocks noChangeArrowheads="1"/>
            </p:cNvSpPr>
            <p:nvPr/>
          </p:nvSpPr>
          <p:spPr bwMode="auto">
            <a:xfrm>
              <a:off x="732" y="1309"/>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5</a:t>
              </a:r>
            </a:p>
          </p:txBody>
        </p:sp>
        <p:sp>
          <p:nvSpPr>
            <p:cNvPr id="55317" name="Text Box 38"/>
            <p:cNvSpPr txBox="1">
              <a:spLocks noChangeArrowheads="1"/>
            </p:cNvSpPr>
            <p:nvPr/>
          </p:nvSpPr>
          <p:spPr bwMode="auto">
            <a:xfrm>
              <a:off x="249" y="1282"/>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6</a:t>
              </a:r>
            </a:p>
          </p:txBody>
        </p:sp>
      </p:grpSp>
      <p:graphicFrame>
        <p:nvGraphicFramePr>
          <p:cNvPr id="38951" name="Object 39"/>
          <p:cNvGraphicFramePr>
            <a:graphicFrameLocks/>
          </p:cNvGraphicFramePr>
          <p:nvPr/>
        </p:nvGraphicFramePr>
        <p:xfrm>
          <a:off x="4416425" y="1557338"/>
          <a:ext cx="3467100" cy="2503487"/>
        </p:xfrm>
        <a:graphic>
          <a:graphicData uri="http://schemas.openxmlformats.org/presentationml/2006/ole">
            <mc:AlternateContent xmlns:mc="http://schemas.openxmlformats.org/markup-compatibility/2006">
              <mc:Choice xmlns:v="urn:schemas-microsoft-com:vml" Requires="v">
                <p:oleObj spid="_x0000_s55463" name="Equation" r:id="rId5" imgW="3467100" imgH="2501900" progId="Equation.DSMT4">
                  <p:embed/>
                </p:oleObj>
              </mc:Choice>
              <mc:Fallback>
                <p:oleObj name="Equation" r:id="rId5" imgW="3467100" imgH="2501900" progId="Equation.DSMT4">
                  <p:embed/>
                  <p:pic>
                    <p:nvPicPr>
                      <p:cNvPr id="0" name="Object 3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6425" y="1557338"/>
                        <a:ext cx="3467100" cy="2503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8951"/>
                                        </p:tgtEl>
                                        <p:attrNameLst>
                                          <p:attrName>style.visibility</p:attrName>
                                        </p:attrNameLst>
                                      </p:cBhvr>
                                      <p:to>
                                        <p:strVal val="visible"/>
                                      </p:to>
                                    </p:set>
                                    <p:anim calcmode="lin" valueType="num">
                                      <p:cBhvr additive="base">
                                        <p:cTn id="7" dur="500" fill="hold"/>
                                        <p:tgtEl>
                                          <p:spTgt spid="38951"/>
                                        </p:tgtEl>
                                        <p:attrNameLst>
                                          <p:attrName>ppt_x</p:attrName>
                                        </p:attrNameLst>
                                      </p:cBhvr>
                                      <p:tavLst>
                                        <p:tav tm="0">
                                          <p:val>
                                            <p:strVal val="0-#ppt_w/2"/>
                                          </p:val>
                                        </p:tav>
                                        <p:tav tm="100000">
                                          <p:val>
                                            <p:strVal val="#ppt_x"/>
                                          </p:val>
                                        </p:tav>
                                      </p:tavLst>
                                    </p:anim>
                                    <p:anim calcmode="lin" valueType="num">
                                      <p:cBhvr additive="base">
                                        <p:cTn id="8" dur="500" fill="hold"/>
                                        <p:tgtEl>
                                          <p:spTgt spid="3895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8933">
                                            <p:txEl>
                                              <p:pRg st="0" end="0"/>
                                            </p:txEl>
                                          </p:spTgt>
                                        </p:tgtEl>
                                        <p:attrNameLst>
                                          <p:attrName>style.visibility</p:attrName>
                                        </p:attrNameLst>
                                      </p:cBhvr>
                                      <p:to>
                                        <p:strVal val="visible"/>
                                      </p:to>
                                    </p:set>
                                    <p:anim calcmode="lin" valueType="num">
                                      <p:cBhvr additive="base">
                                        <p:cTn id="13" dur="500" fill="hold"/>
                                        <p:tgtEl>
                                          <p:spTgt spid="3893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893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8933">
                                            <p:txEl>
                                              <p:pRg st="1" end="1"/>
                                            </p:txEl>
                                          </p:spTgt>
                                        </p:tgtEl>
                                        <p:attrNameLst>
                                          <p:attrName>style.visibility</p:attrName>
                                        </p:attrNameLst>
                                      </p:cBhvr>
                                      <p:to>
                                        <p:strVal val="visible"/>
                                      </p:to>
                                    </p:set>
                                    <p:anim calcmode="lin" valueType="num">
                                      <p:cBhvr additive="base">
                                        <p:cTn id="19" dur="500" fill="hold"/>
                                        <p:tgtEl>
                                          <p:spTgt spid="3893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893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8933">
                                            <p:txEl>
                                              <p:pRg st="2" end="2"/>
                                            </p:txEl>
                                          </p:spTgt>
                                        </p:tgtEl>
                                        <p:attrNameLst>
                                          <p:attrName>style.visibility</p:attrName>
                                        </p:attrNameLst>
                                      </p:cBhvr>
                                      <p:to>
                                        <p:strVal val="visible"/>
                                      </p:to>
                                    </p:set>
                                    <p:anim calcmode="lin" valueType="num">
                                      <p:cBhvr additive="base">
                                        <p:cTn id="25" dur="500" fill="hold"/>
                                        <p:tgtEl>
                                          <p:spTgt spid="3893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893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8933">
                                            <p:txEl>
                                              <p:pRg st="3" end="3"/>
                                            </p:txEl>
                                          </p:spTgt>
                                        </p:tgtEl>
                                        <p:attrNameLst>
                                          <p:attrName>style.visibility</p:attrName>
                                        </p:attrNameLst>
                                      </p:cBhvr>
                                      <p:to>
                                        <p:strVal val="visible"/>
                                      </p:to>
                                    </p:set>
                                    <p:anim calcmode="lin" valueType="num">
                                      <p:cBhvr additive="base">
                                        <p:cTn id="31" dur="500" fill="hold"/>
                                        <p:tgtEl>
                                          <p:spTgt spid="3893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893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8935"/>
                                        </p:tgtEl>
                                        <p:attrNameLst>
                                          <p:attrName>style.visibility</p:attrName>
                                        </p:attrNameLst>
                                      </p:cBhvr>
                                      <p:to>
                                        <p:strVal val="visible"/>
                                      </p:to>
                                    </p:set>
                                    <p:anim calcmode="lin" valueType="num">
                                      <p:cBhvr additive="base">
                                        <p:cTn id="37" dur="500" fill="hold"/>
                                        <p:tgtEl>
                                          <p:spTgt spid="38935"/>
                                        </p:tgtEl>
                                        <p:attrNameLst>
                                          <p:attrName>ppt_x</p:attrName>
                                        </p:attrNameLst>
                                      </p:cBhvr>
                                      <p:tavLst>
                                        <p:tav tm="0">
                                          <p:val>
                                            <p:strVal val="#ppt_x"/>
                                          </p:val>
                                        </p:tav>
                                        <p:tav tm="100000">
                                          <p:val>
                                            <p:strVal val="#ppt_x"/>
                                          </p:val>
                                        </p:tav>
                                      </p:tavLst>
                                    </p:anim>
                                    <p:anim calcmode="lin" valueType="num">
                                      <p:cBhvr additive="base">
                                        <p:cTn id="38" dur="500" fill="hold"/>
                                        <p:tgtEl>
                                          <p:spTgt spid="389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pPr>
              <a:defRPr/>
            </a:pPr>
            <a:fld id="{B497268F-29E1-477B-8008-D091099EDDDA}" type="slidenum">
              <a:rPr lang="en-US" altLang="zh-CN"/>
              <a:pPr>
                <a:defRPr/>
              </a:pPr>
              <a:t>51</a:t>
            </a:fld>
            <a:endParaRPr lang="en-US" altLang="zh-CN"/>
          </a:p>
        </p:txBody>
      </p:sp>
      <p:sp>
        <p:nvSpPr>
          <p:cNvPr id="56323" name="Text Box 3"/>
          <p:cNvSpPr txBox="1">
            <a:spLocks noChangeArrowheads="1"/>
          </p:cNvSpPr>
          <p:nvPr/>
        </p:nvSpPr>
        <p:spPr bwMode="auto">
          <a:xfrm>
            <a:off x="466725" y="1230313"/>
            <a:ext cx="8277225"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eaLnBrk="0" hangingPunct="0">
              <a:defRPr sz="2400">
                <a:solidFill>
                  <a:schemeClr val="tx1"/>
                </a:solidFill>
                <a:latin typeface="Arial" charset="0"/>
                <a:ea typeface="宋体" pitchFamily="2" charset="-122"/>
              </a:defRPr>
            </a:lvl1pPr>
            <a:lvl2pPr marL="914400" indent="-457200" eaLnBrk="0" hangingPunct="0">
              <a:defRPr sz="2400">
                <a:solidFill>
                  <a:schemeClr val="tx1"/>
                </a:solidFill>
                <a:latin typeface="Arial" charset="0"/>
                <a:ea typeface="宋体" pitchFamily="2" charset="-122"/>
              </a:defRPr>
            </a:lvl2pPr>
            <a:lvl3pPr marL="1371600" indent="-457200" eaLnBrk="0" hangingPunct="0">
              <a:defRPr sz="2400">
                <a:solidFill>
                  <a:schemeClr val="tx1"/>
                </a:solidFill>
                <a:latin typeface="Arial" charset="0"/>
                <a:ea typeface="宋体" pitchFamily="2" charset="-122"/>
              </a:defRPr>
            </a:lvl3pPr>
            <a:lvl4pPr marL="1828800" indent="-457200" eaLnBrk="0" hangingPunct="0">
              <a:defRPr sz="2400">
                <a:solidFill>
                  <a:schemeClr val="tx1"/>
                </a:solidFill>
                <a:latin typeface="Arial" charset="0"/>
                <a:ea typeface="宋体" pitchFamily="2" charset="-122"/>
              </a:defRPr>
            </a:lvl4pPr>
            <a:lvl5pPr marL="2286000" indent="-457200" eaLnBrk="0" hangingPunct="0">
              <a:defRPr sz="2400">
                <a:solidFill>
                  <a:schemeClr val="tx1"/>
                </a:solidFill>
                <a:latin typeface="Arial" charset="0"/>
                <a:ea typeface="宋体" pitchFamily="2" charset="-122"/>
              </a:defRPr>
            </a:lvl5pPr>
            <a:lvl6pPr marL="2743200" indent="-457200" eaLnBrk="0" fontAlgn="base" hangingPunct="0">
              <a:spcBef>
                <a:spcPct val="0"/>
              </a:spcBef>
              <a:spcAft>
                <a:spcPct val="0"/>
              </a:spcAft>
              <a:defRPr sz="2400">
                <a:solidFill>
                  <a:schemeClr val="tx1"/>
                </a:solidFill>
                <a:latin typeface="Arial" charset="0"/>
                <a:ea typeface="宋体" pitchFamily="2" charset="-122"/>
              </a:defRPr>
            </a:lvl6pPr>
            <a:lvl7pPr marL="3200400" indent="-457200" eaLnBrk="0" fontAlgn="base" hangingPunct="0">
              <a:spcBef>
                <a:spcPct val="0"/>
              </a:spcBef>
              <a:spcAft>
                <a:spcPct val="0"/>
              </a:spcAft>
              <a:defRPr sz="2400">
                <a:solidFill>
                  <a:schemeClr val="tx1"/>
                </a:solidFill>
                <a:latin typeface="Arial" charset="0"/>
                <a:ea typeface="宋体" pitchFamily="2" charset="-122"/>
              </a:defRPr>
            </a:lvl7pPr>
            <a:lvl8pPr marL="3657600" indent="-457200" eaLnBrk="0" fontAlgn="base" hangingPunct="0">
              <a:spcBef>
                <a:spcPct val="0"/>
              </a:spcBef>
              <a:spcAft>
                <a:spcPct val="0"/>
              </a:spcAft>
              <a:defRPr sz="2400">
                <a:solidFill>
                  <a:schemeClr val="tx1"/>
                </a:solidFill>
                <a:latin typeface="Arial" charset="0"/>
                <a:ea typeface="宋体" pitchFamily="2" charset="-122"/>
              </a:defRPr>
            </a:lvl8pPr>
            <a:lvl9pPr marL="4114800" indent="-4572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rgbClr val="0000CC"/>
                </a:solidFill>
                <a:latin typeface="Times New Roman" pitchFamily="18" charset="0"/>
              </a:rPr>
              <a:t>定义</a:t>
            </a:r>
            <a:r>
              <a:rPr kumimoji="1" lang="en-US" altLang="zh-CN" b="1">
                <a:solidFill>
                  <a:srgbClr val="0000CC"/>
                </a:solidFill>
                <a:latin typeface="Times New Roman" pitchFamily="18" charset="0"/>
              </a:rPr>
              <a:t>7-3.4</a:t>
            </a:r>
            <a:r>
              <a:rPr kumimoji="1" lang="zh-CN" altLang="en-US" b="1">
                <a:solidFill>
                  <a:srgbClr val="0000CC"/>
                </a:solidFill>
                <a:latin typeface="Times New Roman" pitchFamily="18" charset="0"/>
              </a:rPr>
              <a:t>：</a:t>
            </a:r>
            <a:r>
              <a:rPr kumimoji="1" lang="zh-CN" altLang="en-US" b="1">
                <a:latin typeface="Times New Roman" pitchFamily="18" charset="0"/>
              </a:rPr>
              <a:t>给定简单有向图</a:t>
            </a:r>
            <a:r>
              <a:rPr kumimoji="1" lang="en-US" altLang="zh-CN" b="1">
                <a:latin typeface="Times New Roman" pitchFamily="18" charset="0"/>
              </a:rPr>
              <a:t>G=&lt;V, E&gt;</a:t>
            </a:r>
            <a:r>
              <a:rPr kumimoji="1" lang="zh-CN" altLang="en-US" b="1">
                <a:latin typeface="Times New Roman" pitchFamily="18" charset="0"/>
              </a:rPr>
              <a:t>，令</a:t>
            </a:r>
            <a:r>
              <a:rPr kumimoji="1" lang="en-US" altLang="zh-CN" b="1">
                <a:latin typeface="Times New Roman" pitchFamily="18" charset="0"/>
              </a:rPr>
              <a:t>V={v</a:t>
            </a:r>
            <a:r>
              <a:rPr kumimoji="1" lang="en-US" altLang="zh-CN" b="1" baseline="-25000">
                <a:latin typeface="Times New Roman" pitchFamily="18" charset="0"/>
              </a:rPr>
              <a:t>1</a:t>
            </a:r>
            <a:r>
              <a:rPr kumimoji="1" lang="en-US" altLang="zh-CN" b="1">
                <a:latin typeface="Times New Roman" pitchFamily="18" charset="0"/>
              </a:rPr>
              <a:t>,v</a:t>
            </a:r>
            <a:r>
              <a:rPr kumimoji="1" lang="en-US" altLang="zh-CN" b="1" baseline="-25000">
                <a:latin typeface="Times New Roman" pitchFamily="18" charset="0"/>
              </a:rPr>
              <a:t>2</a:t>
            </a:r>
            <a:r>
              <a:rPr kumimoji="1" lang="en-US" altLang="zh-CN" b="1">
                <a:latin typeface="Times New Roman" pitchFamily="18" charset="0"/>
              </a:rPr>
              <a:t>,…,v</a:t>
            </a:r>
            <a:r>
              <a:rPr kumimoji="1" lang="en-US" altLang="zh-CN" b="1" baseline="-25000">
                <a:latin typeface="Times New Roman" pitchFamily="18" charset="0"/>
              </a:rPr>
              <a:t>p</a:t>
            </a:r>
            <a:r>
              <a:rPr kumimoji="1" lang="en-US" altLang="zh-CN" b="1">
                <a:latin typeface="Times New Roman" pitchFamily="18" charset="0"/>
              </a:rPr>
              <a:t>}</a:t>
            </a:r>
            <a:r>
              <a:rPr kumimoji="1" lang="zh-CN" altLang="en-US" b="1">
                <a:latin typeface="Times New Roman" pitchFamily="18" charset="0"/>
              </a:rPr>
              <a:t>和</a:t>
            </a:r>
          </a:p>
          <a:p>
            <a:pPr eaLnBrk="1" hangingPunct="1">
              <a:lnSpc>
                <a:spcPct val="130000"/>
              </a:lnSpc>
            </a:pPr>
            <a:r>
              <a:rPr kumimoji="1" lang="en-US" altLang="zh-CN" b="1">
                <a:latin typeface="Times New Roman" pitchFamily="18" charset="0"/>
              </a:rPr>
              <a:t>E={e</a:t>
            </a:r>
            <a:r>
              <a:rPr kumimoji="1" lang="en-US" altLang="zh-CN" b="1" baseline="-25000">
                <a:latin typeface="Times New Roman" pitchFamily="18" charset="0"/>
              </a:rPr>
              <a:t>1</a:t>
            </a:r>
            <a:r>
              <a:rPr kumimoji="1" lang="en-US" altLang="zh-CN" b="1">
                <a:latin typeface="Times New Roman" pitchFamily="18" charset="0"/>
              </a:rPr>
              <a:t>,e</a:t>
            </a:r>
            <a:r>
              <a:rPr kumimoji="1" lang="en-US" altLang="zh-CN" b="1" baseline="-25000">
                <a:latin typeface="Times New Roman" pitchFamily="18" charset="0"/>
              </a:rPr>
              <a:t>2</a:t>
            </a:r>
            <a:r>
              <a:rPr kumimoji="1" lang="en-US" altLang="zh-CN" b="1">
                <a:latin typeface="Times New Roman" pitchFamily="18" charset="0"/>
              </a:rPr>
              <a:t>,…,e</a:t>
            </a:r>
            <a:r>
              <a:rPr kumimoji="1" lang="en-US" altLang="zh-CN" b="1" baseline="-25000">
                <a:latin typeface="Times New Roman" pitchFamily="18" charset="0"/>
              </a:rPr>
              <a:t>q</a:t>
            </a:r>
            <a:r>
              <a:rPr kumimoji="1" lang="en-US" altLang="zh-CN" b="1">
                <a:latin typeface="Times New Roman" pitchFamily="18" charset="0"/>
              </a:rPr>
              <a:t>}</a:t>
            </a:r>
            <a:r>
              <a:rPr kumimoji="1" lang="zh-CN" altLang="en-US" b="1">
                <a:latin typeface="Times New Roman" pitchFamily="18" charset="0"/>
              </a:rPr>
              <a:t>分别记为</a:t>
            </a:r>
            <a:r>
              <a:rPr kumimoji="1" lang="en-US" altLang="zh-CN" b="1">
                <a:latin typeface="Times New Roman" pitchFamily="18" charset="0"/>
              </a:rPr>
              <a:t>M(G)</a:t>
            </a:r>
            <a:r>
              <a:rPr kumimoji="1" lang="zh-CN" altLang="en-US" b="1">
                <a:latin typeface="Times New Roman" pitchFamily="18" charset="0"/>
              </a:rPr>
              <a:t>的结点和边，则</a:t>
            </a:r>
            <a:r>
              <a:rPr kumimoji="1" lang="en-US" altLang="zh-CN" b="1">
                <a:latin typeface="Times New Roman" pitchFamily="18" charset="0"/>
              </a:rPr>
              <a:t>p×q</a:t>
            </a:r>
            <a:r>
              <a:rPr kumimoji="1" lang="zh-CN" altLang="en-US" b="1">
                <a:latin typeface="Times New Roman" pitchFamily="18" charset="0"/>
              </a:rPr>
              <a:t>阶矩阵</a:t>
            </a:r>
          </a:p>
          <a:p>
            <a:pPr eaLnBrk="1" hangingPunct="1">
              <a:lnSpc>
                <a:spcPct val="130000"/>
              </a:lnSpc>
            </a:pPr>
            <a:r>
              <a:rPr kumimoji="1" lang="en-US" altLang="zh-CN" b="1">
                <a:latin typeface="Times New Roman" pitchFamily="18" charset="0"/>
              </a:rPr>
              <a:t>M(G)=(m</a:t>
            </a:r>
            <a:r>
              <a:rPr kumimoji="1" lang="en-US" altLang="zh-CN" b="1" baseline="-25000">
                <a:latin typeface="Times New Roman" pitchFamily="18" charset="0"/>
              </a:rPr>
              <a:t>ij</a:t>
            </a:r>
            <a:r>
              <a:rPr kumimoji="1" lang="en-US" altLang="zh-CN" b="1">
                <a:latin typeface="Times New Roman" pitchFamily="18" charset="0"/>
              </a:rPr>
              <a:t>)</a:t>
            </a:r>
            <a:r>
              <a:rPr kumimoji="1" lang="zh-CN" altLang="en-US" b="1">
                <a:latin typeface="Times New Roman" pitchFamily="18" charset="0"/>
              </a:rPr>
              <a:t>，称</a:t>
            </a:r>
            <a:r>
              <a:rPr kumimoji="1" lang="en-US" altLang="zh-CN" b="1">
                <a:latin typeface="Times New Roman" pitchFamily="18" charset="0"/>
              </a:rPr>
              <a:t>M(G)</a:t>
            </a:r>
            <a:r>
              <a:rPr kumimoji="1" lang="zh-CN" altLang="en-US" b="1">
                <a:latin typeface="Times New Roman" pitchFamily="18" charset="0"/>
              </a:rPr>
              <a:t>为</a:t>
            </a:r>
            <a:r>
              <a:rPr kumimoji="1" lang="zh-CN" altLang="en-US" b="1">
                <a:solidFill>
                  <a:srgbClr val="0000CC"/>
                </a:solidFill>
                <a:latin typeface="Times New Roman" pitchFamily="18" charset="0"/>
              </a:rPr>
              <a:t>关联矩阵</a:t>
            </a:r>
            <a:r>
              <a:rPr kumimoji="1" lang="zh-CN" altLang="en-US" b="1">
                <a:latin typeface="Times New Roman" pitchFamily="18" charset="0"/>
              </a:rPr>
              <a:t>。</a:t>
            </a:r>
          </a:p>
        </p:txBody>
      </p:sp>
      <p:graphicFrame>
        <p:nvGraphicFramePr>
          <p:cNvPr id="56324" name="Object 4"/>
          <p:cNvGraphicFramePr>
            <a:graphicFrameLocks/>
          </p:cNvGraphicFramePr>
          <p:nvPr/>
        </p:nvGraphicFramePr>
        <p:xfrm>
          <a:off x="2339975" y="2803525"/>
          <a:ext cx="4164013" cy="1562100"/>
        </p:xfrm>
        <a:graphic>
          <a:graphicData uri="http://schemas.openxmlformats.org/presentationml/2006/ole">
            <mc:AlternateContent xmlns:mc="http://schemas.openxmlformats.org/markup-compatibility/2006">
              <mc:Choice xmlns:v="urn:schemas-microsoft-com:vml" Requires="v">
                <p:oleObj spid="_x0000_s56398" name="Equation" r:id="rId3" imgW="4165600" imgH="1562100" progId="Equation.DSMT4">
                  <p:embed/>
                </p:oleObj>
              </mc:Choice>
              <mc:Fallback>
                <p:oleObj name="Equation" r:id="rId3" imgW="4165600" imgH="1562100" progId="Equation.DSMT4">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2803525"/>
                        <a:ext cx="4164013" cy="156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6325" name="Rectangle 28"/>
          <p:cNvSpPr>
            <a:spLocks noChangeArrowheads="1"/>
          </p:cNvSpPr>
          <p:nvPr/>
        </p:nvSpPr>
        <p:spPr bwMode="auto">
          <a:xfrm>
            <a:off x="1114425" y="333375"/>
            <a:ext cx="7058025"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nSpc>
                <a:spcPct val="120000"/>
              </a:lnSpc>
            </a:pPr>
            <a:r>
              <a:rPr kumimoji="1" lang="en-US" altLang="zh-CN" sz="2800" b="1">
                <a:solidFill>
                  <a:srgbClr val="993300"/>
                </a:solidFill>
                <a:latin typeface="楷体_GB2312" pitchFamily="49" charset="-122"/>
                <a:ea typeface="楷体_GB2312" pitchFamily="49" charset="-122"/>
              </a:rPr>
              <a:t>2</a:t>
            </a:r>
            <a:r>
              <a:rPr kumimoji="1" lang="zh-CN" altLang="en-US" sz="2800" b="1">
                <a:solidFill>
                  <a:srgbClr val="993300"/>
                </a:solidFill>
                <a:latin typeface="楷体_GB2312" pitchFamily="49" charset="-122"/>
                <a:ea typeface="楷体_GB2312" pitchFamily="49" charset="-122"/>
              </a:rPr>
              <a:t>、有向图的关联矩阵</a:t>
            </a:r>
          </a:p>
        </p:txBody>
      </p:sp>
    </p:spTree>
  </p:cSld>
  <p:clrMapOvr>
    <a:masterClrMapping/>
  </p:clrMapOvr>
  <p:transition spd="slow">
    <p:random/>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灯片编号占位符 2"/>
          <p:cNvSpPr>
            <a:spLocks noGrp="1"/>
          </p:cNvSpPr>
          <p:nvPr>
            <p:ph type="sldNum" sz="quarter" idx="11"/>
          </p:nvPr>
        </p:nvSpPr>
        <p:spPr/>
        <p:txBody>
          <a:bodyPr/>
          <a:lstStyle/>
          <a:p>
            <a:pPr>
              <a:defRPr/>
            </a:pPr>
            <a:fld id="{81048FC7-9D15-4539-97D1-20EC79E8E6D9}" type="slidenum">
              <a:rPr lang="en-US" altLang="zh-CN"/>
              <a:pPr>
                <a:defRPr/>
              </a:pPr>
              <a:t>52</a:t>
            </a:fld>
            <a:endParaRPr lang="en-US" altLang="zh-CN"/>
          </a:p>
        </p:txBody>
      </p:sp>
      <p:sp>
        <p:nvSpPr>
          <p:cNvPr id="57347" name="Text Box 4"/>
          <p:cNvSpPr txBox="1">
            <a:spLocks noChangeArrowheads="1"/>
          </p:cNvSpPr>
          <p:nvPr/>
        </p:nvSpPr>
        <p:spPr bwMode="auto">
          <a:xfrm>
            <a:off x="466725" y="1268413"/>
            <a:ext cx="827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zh-CN" altLang="en-US" b="1">
                <a:solidFill>
                  <a:schemeClr val="hlink"/>
                </a:solidFill>
                <a:latin typeface="Times New Roman" pitchFamily="18" charset="0"/>
              </a:rPr>
              <a:t>例：</a:t>
            </a:r>
            <a:r>
              <a:rPr kumimoji="1" lang="zh-CN" altLang="en-US" b="1">
                <a:latin typeface="Times New Roman" pitchFamily="18" charset="0"/>
              </a:rPr>
              <a:t>由下图写出其关联矩阵。</a:t>
            </a:r>
          </a:p>
        </p:txBody>
      </p:sp>
      <p:grpSp>
        <p:nvGrpSpPr>
          <p:cNvPr id="57348" name="Group 5"/>
          <p:cNvGrpSpPr>
            <a:grpSpLocks/>
          </p:cNvGrpSpPr>
          <p:nvPr/>
        </p:nvGrpSpPr>
        <p:grpSpPr bwMode="auto">
          <a:xfrm>
            <a:off x="755650" y="1989138"/>
            <a:ext cx="3302000" cy="2108200"/>
            <a:chOff x="368" y="2256"/>
            <a:chExt cx="2080" cy="1328"/>
          </a:xfrm>
        </p:grpSpPr>
        <p:sp>
          <p:nvSpPr>
            <p:cNvPr id="57351" name="Text Box 6"/>
            <p:cNvSpPr txBox="1">
              <a:spLocks noChangeArrowheads="1"/>
            </p:cNvSpPr>
            <p:nvPr/>
          </p:nvSpPr>
          <p:spPr bwMode="auto">
            <a:xfrm>
              <a:off x="912" y="2256"/>
              <a:ext cx="15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1</a:t>
              </a:r>
              <a:r>
                <a:rPr kumimoji="1" lang="en-US" altLang="zh-CN" b="1">
                  <a:latin typeface="Times New Roman" pitchFamily="18" charset="0"/>
                </a:rPr>
                <a:t>     e</a:t>
              </a:r>
              <a:r>
                <a:rPr kumimoji="1" lang="en-US" altLang="zh-CN" b="1" baseline="-25000">
                  <a:latin typeface="Times New Roman" pitchFamily="18" charset="0"/>
                </a:rPr>
                <a:t>5 </a:t>
              </a:r>
              <a:r>
                <a:rPr kumimoji="1" lang="en-US" altLang="zh-CN" b="1">
                  <a:latin typeface="Times New Roman" pitchFamily="18" charset="0"/>
                </a:rPr>
                <a:t>        v</a:t>
              </a:r>
              <a:r>
                <a:rPr kumimoji="1" lang="en-US" altLang="zh-CN" b="1" baseline="-25000">
                  <a:latin typeface="Times New Roman" pitchFamily="18" charset="0"/>
                </a:rPr>
                <a:t>5</a:t>
              </a:r>
            </a:p>
          </p:txBody>
        </p:sp>
        <p:grpSp>
          <p:nvGrpSpPr>
            <p:cNvPr id="57352" name="Group 7"/>
            <p:cNvGrpSpPr>
              <a:grpSpLocks/>
            </p:cNvGrpSpPr>
            <p:nvPr/>
          </p:nvGrpSpPr>
          <p:grpSpPr bwMode="auto">
            <a:xfrm>
              <a:off x="368" y="2448"/>
              <a:ext cx="1728" cy="1136"/>
              <a:chOff x="368" y="2448"/>
              <a:chExt cx="1728" cy="1136"/>
            </a:xfrm>
          </p:grpSpPr>
          <p:grpSp>
            <p:nvGrpSpPr>
              <p:cNvPr id="57353" name="Group 8"/>
              <p:cNvGrpSpPr>
                <a:grpSpLocks/>
              </p:cNvGrpSpPr>
              <p:nvPr/>
            </p:nvGrpSpPr>
            <p:grpSpPr bwMode="auto">
              <a:xfrm>
                <a:off x="576" y="2448"/>
                <a:ext cx="1392" cy="912"/>
                <a:chOff x="2520" y="8460"/>
                <a:chExt cx="1980" cy="1092"/>
              </a:xfrm>
            </p:grpSpPr>
            <p:sp>
              <p:nvSpPr>
                <p:cNvPr id="57357" name="Line 9"/>
                <p:cNvSpPr>
                  <a:spLocks noChangeShapeType="1"/>
                </p:cNvSpPr>
                <p:nvPr/>
              </p:nvSpPr>
              <p:spPr bwMode="auto">
                <a:xfrm flipH="1">
                  <a:off x="2520" y="8460"/>
                  <a:ext cx="720" cy="936"/>
                </a:xfrm>
                <a:prstGeom prst="line">
                  <a:avLst/>
                </a:prstGeom>
                <a:noFill/>
                <a:ln w="25400">
                  <a:solidFill>
                    <a:srgbClr val="000000"/>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358" name="Line 10"/>
                <p:cNvSpPr>
                  <a:spLocks noChangeShapeType="1"/>
                </p:cNvSpPr>
                <p:nvPr/>
              </p:nvSpPr>
              <p:spPr bwMode="auto">
                <a:xfrm>
                  <a:off x="3240" y="8460"/>
                  <a:ext cx="0" cy="1092"/>
                </a:xfrm>
                <a:prstGeom prst="line">
                  <a:avLst/>
                </a:prstGeom>
                <a:noFill/>
                <a:ln w="25400">
                  <a:solidFill>
                    <a:srgbClr val="000000"/>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359" name="Line 11"/>
                <p:cNvSpPr>
                  <a:spLocks noChangeShapeType="1"/>
                </p:cNvSpPr>
                <p:nvPr/>
              </p:nvSpPr>
              <p:spPr bwMode="auto">
                <a:xfrm>
                  <a:off x="3240" y="8460"/>
                  <a:ext cx="720" cy="780"/>
                </a:xfrm>
                <a:prstGeom prst="line">
                  <a:avLst/>
                </a:prstGeom>
                <a:noFill/>
                <a:ln w="25400">
                  <a:solidFill>
                    <a:srgbClr val="000000"/>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360" name="Line 12"/>
                <p:cNvSpPr>
                  <a:spLocks noChangeShapeType="1"/>
                </p:cNvSpPr>
                <p:nvPr/>
              </p:nvSpPr>
              <p:spPr bwMode="auto">
                <a:xfrm>
                  <a:off x="3240" y="8460"/>
                  <a:ext cx="1260" cy="156"/>
                </a:xfrm>
                <a:prstGeom prst="line">
                  <a:avLst/>
                </a:prstGeom>
                <a:noFill/>
                <a:ln w="25400">
                  <a:solidFill>
                    <a:srgbClr val="000000"/>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361" name="Line 13"/>
                <p:cNvSpPr>
                  <a:spLocks noChangeShapeType="1"/>
                </p:cNvSpPr>
                <p:nvPr/>
              </p:nvSpPr>
              <p:spPr bwMode="auto">
                <a:xfrm>
                  <a:off x="2520" y="9396"/>
                  <a:ext cx="720" cy="156"/>
                </a:xfrm>
                <a:prstGeom prst="line">
                  <a:avLst/>
                </a:prstGeom>
                <a:noFill/>
                <a:ln w="25400">
                  <a:solidFill>
                    <a:srgbClr val="000000"/>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362" name="Line 14"/>
                <p:cNvSpPr>
                  <a:spLocks noChangeShapeType="1"/>
                </p:cNvSpPr>
                <p:nvPr/>
              </p:nvSpPr>
              <p:spPr bwMode="auto">
                <a:xfrm flipV="1">
                  <a:off x="3240" y="9240"/>
                  <a:ext cx="720" cy="312"/>
                </a:xfrm>
                <a:prstGeom prst="line">
                  <a:avLst/>
                </a:prstGeom>
                <a:noFill/>
                <a:ln w="25400">
                  <a:solidFill>
                    <a:srgbClr val="000000"/>
                  </a:solidFill>
                  <a:round/>
                  <a:headEnd/>
                  <a:tailEnd type="arrow"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7363" name="Freeform 15"/>
                <p:cNvSpPr>
                  <a:spLocks/>
                </p:cNvSpPr>
                <p:nvPr/>
              </p:nvSpPr>
              <p:spPr bwMode="auto">
                <a:xfrm>
                  <a:off x="3960" y="8649"/>
                  <a:ext cx="480" cy="591"/>
                </a:xfrm>
                <a:custGeom>
                  <a:avLst/>
                  <a:gdLst>
                    <a:gd name="T0" fmla="*/ 0 w 480"/>
                    <a:gd name="T1" fmla="*/ 591 h 591"/>
                    <a:gd name="T2" fmla="*/ 480 w 480"/>
                    <a:gd name="T3" fmla="*/ 0 h 591"/>
                    <a:gd name="T4" fmla="*/ 0 60000 65536"/>
                    <a:gd name="T5" fmla="*/ 0 60000 65536"/>
                  </a:gdLst>
                  <a:ahLst/>
                  <a:cxnLst>
                    <a:cxn ang="T4">
                      <a:pos x="T0" y="T1"/>
                    </a:cxn>
                    <a:cxn ang="T5">
                      <a:pos x="T2" y="T3"/>
                    </a:cxn>
                  </a:cxnLst>
                  <a:rect l="0" t="0" r="r" b="b"/>
                  <a:pathLst>
                    <a:path w="480" h="591">
                      <a:moveTo>
                        <a:pt x="0" y="591"/>
                      </a:moveTo>
                      <a:lnTo>
                        <a:pt x="480" y="0"/>
                      </a:lnTo>
                    </a:path>
                  </a:pathLst>
                </a:custGeom>
                <a:noFill/>
                <a:ln w="25400" cap="flat" cmpd="sng">
                  <a:solidFill>
                    <a:srgbClr val="000000"/>
                  </a:solidFill>
                  <a:prstDash val="solid"/>
                  <a:round/>
                  <a:headEnd type="none" w="med" len="med"/>
                  <a:tailEnd type="arrow"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57354" name="Text Box 16"/>
              <p:cNvSpPr txBox="1">
                <a:spLocks noChangeArrowheads="1"/>
              </p:cNvSpPr>
              <p:nvPr/>
            </p:nvSpPr>
            <p:spPr bwMode="auto">
              <a:xfrm>
                <a:off x="608" y="2688"/>
                <a:ext cx="14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e</a:t>
                </a:r>
                <a:r>
                  <a:rPr kumimoji="1" lang="en-US" altLang="zh-CN" b="1" baseline="-25000">
                    <a:latin typeface="Times New Roman" pitchFamily="18" charset="0"/>
                  </a:rPr>
                  <a:t>1</a:t>
                </a:r>
                <a:r>
                  <a:rPr kumimoji="1" lang="en-US" altLang="zh-CN" b="1">
                    <a:latin typeface="Times New Roman" pitchFamily="18" charset="0"/>
                  </a:rPr>
                  <a:t>    e</a:t>
                </a:r>
                <a:r>
                  <a:rPr kumimoji="1" lang="en-US" altLang="zh-CN" b="1" baseline="-25000">
                    <a:latin typeface="Times New Roman" pitchFamily="18" charset="0"/>
                  </a:rPr>
                  <a:t>7</a:t>
                </a:r>
                <a:r>
                  <a:rPr kumimoji="1" lang="en-US" altLang="zh-CN" b="1">
                    <a:latin typeface="Times New Roman" pitchFamily="18" charset="0"/>
                  </a:rPr>
                  <a:t>     e</a:t>
                </a:r>
                <a:r>
                  <a:rPr kumimoji="1" lang="en-US" altLang="zh-CN" b="1" baseline="-25000">
                    <a:latin typeface="Times New Roman" pitchFamily="18" charset="0"/>
                  </a:rPr>
                  <a:t>6</a:t>
                </a:r>
                <a:r>
                  <a:rPr kumimoji="1" lang="en-US" altLang="zh-CN" b="1">
                    <a:latin typeface="Times New Roman" pitchFamily="18" charset="0"/>
                  </a:rPr>
                  <a:t> </a:t>
                </a:r>
                <a:r>
                  <a:rPr kumimoji="1" lang="en-US" altLang="zh-CN" b="1" baseline="-25000">
                    <a:latin typeface="Times New Roman" pitchFamily="18" charset="0"/>
                  </a:rPr>
                  <a:t> </a:t>
                </a:r>
                <a:r>
                  <a:rPr kumimoji="1" lang="en-US" altLang="zh-CN" b="1">
                    <a:latin typeface="Times New Roman" pitchFamily="18" charset="0"/>
                  </a:rPr>
                  <a:t>    e</a:t>
                </a:r>
                <a:r>
                  <a:rPr kumimoji="1" lang="en-US" altLang="zh-CN" b="1" baseline="-25000">
                    <a:latin typeface="Times New Roman" pitchFamily="18" charset="0"/>
                  </a:rPr>
                  <a:t>4</a:t>
                </a:r>
                <a:r>
                  <a:rPr kumimoji="1" lang="en-US" altLang="zh-CN" b="1">
                    <a:latin typeface="Times New Roman" pitchFamily="18" charset="0"/>
                  </a:rPr>
                  <a:t> </a:t>
                </a:r>
                <a:endParaRPr kumimoji="1" lang="en-US" altLang="zh-CN" b="1" baseline="-25000">
                  <a:latin typeface="Times New Roman" pitchFamily="18" charset="0"/>
                </a:endParaRPr>
              </a:p>
            </p:txBody>
          </p:sp>
          <p:sp>
            <p:nvSpPr>
              <p:cNvPr id="57355" name="Text Box 17"/>
              <p:cNvSpPr txBox="1">
                <a:spLocks noChangeArrowheads="1"/>
              </p:cNvSpPr>
              <p:nvPr/>
            </p:nvSpPr>
            <p:spPr bwMode="auto">
              <a:xfrm>
                <a:off x="368" y="3064"/>
                <a:ext cx="15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2</a:t>
                </a:r>
                <a:r>
                  <a:rPr kumimoji="1" lang="en-US" altLang="zh-CN" b="1">
                    <a:latin typeface="Times New Roman" pitchFamily="18" charset="0"/>
                  </a:rPr>
                  <a:t>    e</a:t>
                </a:r>
                <a:r>
                  <a:rPr kumimoji="1" lang="en-US" altLang="zh-CN" b="1" baseline="-25000">
                    <a:latin typeface="Times New Roman" pitchFamily="18" charset="0"/>
                  </a:rPr>
                  <a:t>2 </a:t>
                </a:r>
                <a:r>
                  <a:rPr kumimoji="1" lang="en-US" altLang="zh-CN" b="1">
                    <a:latin typeface="Times New Roman" pitchFamily="18" charset="0"/>
                  </a:rPr>
                  <a:t>        e</a:t>
                </a:r>
                <a:r>
                  <a:rPr kumimoji="1" lang="en-US" altLang="zh-CN" b="1" baseline="-25000">
                    <a:latin typeface="Times New Roman" pitchFamily="18" charset="0"/>
                  </a:rPr>
                  <a:t>3 </a:t>
                </a:r>
                <a:r>
                  <a:rPr kumimoji="1" lang="en-US" altLang="zh-CN" b="1">
                    <a:latin typeface="Times New Roman" pitchFamily="18" charset="0"/>
                  </a:rPr>
                  <a:t>  v</a:t>
                </a:r>
                <a:r>
                  <a:rPr kumimoji="1" lang="en-US" altLang="zh-CN" b="1" baseline="-25000">
                    <a:latin typeface="Times New Roman" pitchFamily="18" charset="0"/>
                  </a:rPr>
                  <a:t>4</a:t>
                </a:r>
                <a:r>
                  <a:rPr kumimoji="1" lang="en-US" altLang="zh-CN" b="1">
                    <a:latin typeface="Times New Roman" pitchFamily="18" charset="0"/>
                  </a:rPr>
                  <a:t> </a:t>
                </a:r>
              </a:p>
            </p:txBody>
          </p:sp>
          <p:sp>
            <p:nvSpPr>
              <p:cNvPr id="57356" name="Text Box 18"/>
              <p:cNvSpPr txBox="1">
                <a:spLocks noChangeArrowheads="1"/>
              </p:cNvSpPr>
              <p:nvPr/>
            </p:nvSpPr>
            <p:spPr bwMode="auto">
              <a:xfrm>
                <a:off x="928" y="3296"/>
                <a:ext cx="28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latin typeface="Times New Roman" pitchFamily="18" charset="0"/>
                  </a:rPr>
                  <a:t>v</a:t>
                </a:r>
                <a:r>
                  <a:rPr kumimoji="1" lang="en-US" altLang="zh-CN" b="1" baseline="-25000">
                    <a:latin typeface="Times New Roman" pitchFamily="18" charset="0"/>
                  </a:rPr>
                  <a:t>3</a:t>
                </a:r>
              </a:p>
            </p:txBody>
          </p:sp>
        </p:grpSp>
      </p:grpSp>
      <p:graphicFrame>
        <p:nvGraphicFramePr>
          <p:cNvPr id="124947" name="Object 19"/>
          <p:cNvGraphicFramePr>
            <a:graphicFrameLocks/>
          </p:cNvGraphicFramePr>
          <p:nvPr/>
        </p:nvGraphicFramePr>
        <p:xfrm>
          <a:off x="3995738" y="1700213"/>
          <a:ext cx="4305300" cy="2501900"/>
        </p:xfrm>
        <a:graphic>
          <a:graphicData uri="http://schemas.openxmlformats.org/presentationml/2006/ole">
            <mc:AlternateContent xmlns:mc="http://schemas.openxmlformats.org/markup-compatibility/2006">
              <mc:Choice xmlns:v="urn:schemas-microsoft-com:vml" Requires="v">
                <p:oleObj spid="_x0000_s57436" name="Equation" r:id="rId3" imgW="4305300" imgH="2501900" progId="Equation.DSMT4">
                  <p:embed/>
                </p:oleObj>
              </mc:Choice>
              <mc:Fallback>
                <p:oleObj name="Equation" r:id="rId3" imgW="4305300" imgH="2501900" progId="Equation.DSMT4">
                  <p:embed/>
                  <p:pic>
                    <p:nvPicPr>
                      <p:cNvPr id="0" name="Object 1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5738" y="1700213"/>
                        <a:ext cx="4305300" cy="250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4948" name="Text Box 20"/>
          <p:cNvSpPr txBox="1">
            <a:spLocks noChangeArrowheads="1"/>
          </p:cNvSpPr>
          <p:nvPr/>
        </p:nvSpPr>
        <p:spPr bwMode="auto">
          <a:xfrm>
            <a:off x="466725" y="4340225"/>
            <a:ext cx="6410325" cy="45720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hlink"/>
              </a:buClr>
              <a:buFont typeface="Wingdings" pitchFamily="2" charset="2"/>
              <a:buChar char="Ø"/>
            </a:pPr>
            <a:r>
              <a:rPr kumimoji="1" lang="zh-CN" altLang="en-US" b="1">
                <a:solidFill>
                  <a:srgbClr val="000000"/>
                </a:solidFill>
                <a:latin typeface="Times New Roman" pitchFamily="18" charset="0"/>
              </a:rPr>
              <a:t>有向图的关联矩阵性质</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24947"/>
                                        </p:tgtEl>
                                        <p:attrNameLst>
                                          <p:attrName>style.visibility</p:attrName>
                                        </p:attrNameLst>
                                      </p:cBhvr>
                                      <p:to>
                                        <p:strVal val="visible"/>
                                      </p:to>
                                    </p:set>
                                    <p:anim calcmode="lin" valueType="num">
                                      <p:cBhvr additive="base">
                                        <p:cTn id="7" dur="500" fill="hold"/>
                                        <p:tgtEl>
                                          <p:spTgt spid="124947"/>
                                        </p:tgtEl>
                                        <p:attrNameLst>
                                          <p:attrName>ppt_x</p:attrName>
                                        </p:attrNameLst>
                                      </p:cBhvr>
                                      <p:tavLst>
                                        <p:tav tm="0">
                                          <p:val>
                                            <p:strVal val="0-#ppt_w/2"/>
                                          </p:val>
                                        </p:tav>
                                        <p:tav tm="100000">
                                          <p:val>
                                            <p:strVal val="#ppt_x"/>
                                          </p:val>
                                        </p:tav>
                                      </p:tavLst>
                                    </p:anim>
                                    <p:anim calcmode="lin" valueType="num">
                                      <p:cBhvr additive="base">
                                        <p:cTn id="8" dur="500" fill="hold"/>
                                        <p:tgtEl>
                                          <p:spTgt spid="12494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4948"/>
                                        </p:tgtEl>
                                        <p:attrNameLst>
                                          <p:attrName>style.visibility</p:attrName>
                                        </p:attrNameLst>
                                      </p:cBhvr>
                                      <p:to>
                                        <p:strVal val="visible"/>
                                      </p:to>
                                    </p:set>
                                    <p:anim calcmode="lin" valueType="num">
                                      <p:cBhvr additive="base">
                                        <p:cTn id="13" dur="500" fill="hold"/>
                                        <p:tgtEl>
                                          <p:spTgt spid="124948"/>
                                        </p:tgtEl>
                                        <p:attrNameLst>
                                          <p:attrName>ppt_x</p:attrName>
                                        </p:attrNameLst>
                                      </p:cBhvr>
                                      <p:tavLst>
                                        <p:tav tm="0">
                                          <p:val>
                                            <p:strVal val="#ppt_x"/>
                                          </p:val>
                                        </p:tav>
                                        <p:tav tm="100000">
                                          <p:val>
                                            <p:strVal val="#ppt_x"/>
                                          </p:val>
                                        </p:tav>
                                      </p:tavLst>
                                    </p:anim>
                                    <p:anim calcmode="lin" valueType="num">
                                      <p:cBhvr additive="base">
                                        <p:cTn id="14" dur="500" fill="hold"/>
                                        <p:tgtEl>
                                          <p:spTgt spid="12494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48" grpId="0"/>
    </p:bldLst>
  </p:timing>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pPr>
              <a:defRPr/>
            </a:pPr>
            <a:fld id="{8CDC8802-49CF-4450-A1C7-0A7F933BCEEC}" type="slidenum">
              <a:rPr lang="en-US" altLang="zh-CN"/>
              <a:pPr>
                <a:defRPr/>
              </a:pPr>
              <a:t>53</a:t>
            </a:fld>
            <a:endParaRPr lang="en-US" altLang="zh-CN"/>
          </a:p>
        </p:txBody>
      </p:sp>
      <p:sp>
        <p:nvSpPr>
          <p:cNvPr id="64515" name="Text Box 2"/>
          <p:cNvSpPr txBox="1">
            <a:spLocks noChangeArrowheads="1"/>
          </p:cNvSpPr>
          <p:nvPr/>
        </p:nvSpPr>
        <p:spPr bwMode="auto">
          <a:xfrm>
            <a:off x="611188" y="2276475"/>
            <a:ext cx="7920037"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ctr" eaLnBrk="1" hangingPunct="1">
              <a:lnSpc>
                <a:spcPct val="130000"/>
              </a:lnSpc>
            </a:pPr>
            <a:r>
              <a:rPr kumimoji="1" lang="zh-CN" altLang="zh-CN" sz="3200" b="1">
                <a:latin typeface="Times New Roman" pitchFamily="18" charset="0"/>
                <a:ea typeface="楷体_GB2312" pitchFamily="49" charset="-122"/>
              </a:rPr>
              <a:t>作业：</a:t>
            </a:r>
            <a:r>
              <a:rPr kumimoji="1" lang="en-US" altLang="zh-CN" sz="3200" b="1">
                <a:latin typeface="Times New Roman" pitchFamily="18" charset="0"/>
                <a:ea typeface="楷体_GB2312" pitchFamily="49" charset="-122"/>
              </a:rPr>
              <a:t>P300(3)</a:t>
            </a:r>
          </a:p>
        </p:txBody>
      </p:sp>
    </p:spTree>
    <p:extLst>
      <p:ext uri="{BB962C8B-B14F-4D97-AF65-F5344CB8AC3E}">
        <p14:creationId xmlns:p14="http://schemas.microsoft.com/office/powerpoint/2010/main" val="1947132751"/>
      </p:ext>
    </p:extLst>
  </p:cSld>
  <p:clrMapOvr>
    <a:masterClrMapping/>
  </p:clrMapOvr>
  <p:transition spd="slow">
    <p:random/>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a:defRPr/>
            </a:pPr>
            <a:fld id="{1F944AC9-2236-4E41-B7D6-B09917125B9C}" type="slidenum">
              <a:rPr lang="en-US" altLang="zh-CN"/>
              <a:pPr>
                <a:defRPr/>
              </a:pPr>
              <a:t>54</a:t>
            </a:fld>
            <a:endParaRPr lang="en-US" altLang="zh-CN"/>
          </a:p>
        </p:txBody>
      </p:sp>
      <p:sp>
        <p:nvSpPr>
          <p:cNvPr id="65539" name="Rectangle 2"/>
          <p:cNvSpPr>
            <a:spLocks noGrp="1" noChangeArrowheads="1"/>
          </p:cNvSpPr>
          <p:nvPr>
            <p:ph type="title"/>
          </p:nvPr>
        </p:nvSpPr>
        <p:spPr>
          <a:xfrm>
            <a:off x="990600" y="279400"/>
            <a:ext cx="7237413" cy="701675"/>
          </a:xfrm>
        </p:spPr>
        <p:txBody>
          <a:bodyPr/>
          <a:lstStyle/>
          <a:p>
            <a:pPr eaLnBrk="1" hangingPunct="1"/>
            <a:r>
              <a:rPr lang="zh-CN" altLang="en-US" smtClean="0">
                <a:solidFill>
                  <a:schemeClr val="tx1"/>
                </a:solidFill>
                <a:latin typeface="华文行楷" pitchFamily="2" charset="-122"/>
                <a:ea typeface="华文行楷" pitchFamily="2" charset="-122"/>
              </a:rPr>
              <a:t>复习</a:t>
            </a:r>
          </a:p>
        </p:txBody>
      </p:sp>
      <p:sp>
        <p:nvSpPr>
          <p:cNvPr id="181251" name="Rectangle 3"/>
          <p:cNvSpPr>
            <a:spLocks noGrp="1" noChangeArrowheads="1"/>
          </p:cNvSpPr>
          <p:nvPr>
            <p:ph type="body" idx="1"/>
          </p:nvPr>
        </p:nvSpPr>
        <p:spPr>
          <a:xfrm>
            <a:off x="466725" y="1123950"/>
            <a:ext cx="8277225" cy="2012859"/>
          </a:xfrm>
          <a:noFill/>
        </p:spPr>
        <p:txBody>
          <a:bodyPr/>
          <a:lstStyle/>
          <a:p>
            <a:pPr defTabSz="296863" eaLnBrk="1" hangingPunct="1">
              <a:tabLst>
                <a:tab pos="0" algn="l"/>
                <a:tab pos="8069263" algn="l"/>
              </a:tabLst>
            </a:pPr>
            <a:r>
              <a:rPr kumimoji="1" lang="en-US" altLang="zh-CN" dirty="0" smtClean="0"/>
              <a:t>1</a:t>
            </a:r>
            <a:r>
              <a:rPr kumimoji="1" lang="zh-CN" altLang="en-US" dirty="0" smtClean="0"/>
              <a:t>、</a:t>
            </a:r>
            <a:r>
              <a:rPr kumimoji="1" lang="zh-CN" altLang="en-US" dirty="0"/>
              <a:t>连通分支，连通图，连通度，割点，边连通度，割边</a:t>
            </a:r>
            <a:endParaRPr kumimoji="1" lang="en-US" altLang="zh-CN" dirty="0"/>
          </a:p>
          <a:p>
            <a:pPr defTabSz="296863" eaLnBrk="1" hangingPunct="1">
              <a:tabLst>
                <a:tab pos="0" algn="l"/>
                <a:tab pos="8069263" algn="l"/>
              </a:tabLst>
            </a:pPr>
            <a:r>
              <a:rPr kumimoji="1" lang="en-US" altLang="zh-CN" dirty="0" smtClean="0"/>
              <a:t>2</a:t>
            </a:r>
            <a:r>
              <a:rPr kumimoji="1" lang="zh-CN" altLang="en-US" dirty="0"/>
              <a:t>、对于任何一个图</a:t>
            </a:r>
            <a:r>
              <a:rPr kumimoji="1" lang="en-US" altLang="zh-CN" dirty="0"/>
              <a:t>G</a:t>
            </a:r>
            <a:r>
              <a:rPr kumimoji="1" lang="zh-CN" altLang="en-US" dirty="0"/>
              <a:t>，有 </a:t>
            </a:r>
            <a:r>
              <a:rPr kumimoji="1" lang="en-US" altLang="zh-CN" dirty="0"/>
              <a:t>k(G)≤λ(G)≤δ(G)</a:t>
            </a:r>
          </a:p>
          <a:p>
            <a:pPr defTabSz="296863" eaLnBrk="1" hangingPunct="1">
              <a:tabLst>
                <a:tab pos="0" algn="l"/>
                <a:tab pos="8069263" algn="l"/>
              </a:tabLst>
            </a:pPr>
            <a:r>
              <a:rPr kumimoji="1" lang="en-US" altLang="zh-CN" dirty="0" smtClean="0"/>
              <a:t>3</a:t>
            </a:r>
            <a:r>
              <a:rPr kumimoji="1" lang="zh-CN" altLang="en-US" dirty="0" smtClean="0"/>
              <a:t>、图的矩阵表示：</a:t>
            </a:r>
          </a:p>
          <a:p>
            <a:pPr defTabSz="296863" eaLnBrk="1" hangingPunct="1">
              <a:tabLst>
                <a:tab pos="0" algn="l"/>
                <a:tab pos="8069263" algn="l"/>
              </a:tabLst>
            </a:pPr>
            <a:r>
              <a:rPr kumimoji="1" lang="zh-CN" altLang="en-US" dirty="0" smtClean="0"/>
              <a:t>邻接矩阵：点与点的邻接</a:t>
            </a:r>
          </a:p>
        </p:txBody>
      </p:sp>
    </p:spTree>
    <p:extLst>
      <p:ext uri="{BB962C8B-B14F-4D97-AF65-F5344CB8AC3E}">
        <p14:creationId xmlns:p14="http://schemas.microsoft.com/office/powerpoint/2010/main" val="3106625022"/>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181251">
                                            <p:txEl>
                                              <p:pRg st="3" end="3"/>
                                            </p:txEl>
                                          </p:spTgt>
                                        </p:tgtEl>
                                        <p:attrNameLst>
                                          <p:attrName>style.visibility</p:attrName>
                                        </p:attrNameLst>
                                      </p:cBhvr>
                                      <p:to>
                                        <p:strVal val="visible"/>
                                      </p:to>
                                    </p:set>
                                    <p:anim calcmode="lin" valueType="num">
                                      <p:cBhvr additive="base">
                                        <p:cTn id="7" dur="500" fill="hold"/>
                                        <p:tgtEl>
                                          <p:spTgt spid="181251">
                                            <p:txEl>
                                              <p:pRg st="3" end="3"/>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1251">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a:defRPr/>
            </a:pPr>
            <a:fld id="{3BFE2808-8AEA-471D-9EB0-ACA8479C100F}" type="slidenum">
              <a:rPr lang="en-US" altLang="zh-CN"/>
              <a:pPr>
                <a:defRPr/>
              </a:pPr>
              <a:t>55</a:t>
            </a:fld>
            <a:endParaRPr lang="en-US" altLang="zh-CN"/>
          </a:p>
        </p:txBody>
      </p:sp>
      <p:sp>
        <p:nvSpPr>
          <p:cNvPr id="90115" name="Rectangle 2"/>
          <p:cNvSpPr>
            <a:spLocks noGrp="1" noChangeArrowheads="1"/>
          </p:cNvSpPr>
          <p:nvPr>
            <p:ph type="title"/>
          </p:nvPr>
        </p:nvSpPr>
        <p:spPr>
          <a:xfrm>
            <a:off x="990600" y="279400"/>
            <a:ext cx="7237413" cy="701675"/>
          </a:xfrm>
        </p:spPr>
        <p:txBody>
          <a:bodyPr/>
          <a:lstStyle/>
          <a:p>
            <a:pPr eaLnBrk="1" hangingPunct="1"/>
            <a:r>
              <a:rPr lang="zh-CN" altLang="en-US" smtClean="0">
                <a:solidFill>
                  <a:schemeClr val="tx1"/>
                </a:solidFill>
                <a:latin typeface="华文行楷" pitchFamily="2" charset="-122"/>
                <a:ea typeface="华文行楷" pitchFamily="2" charset="-122"/>
              </a:rPr>
              <a:t>复习</a:t>
            </a:r>
          </a:p>
        </p:txBody>
      </p:sp>
      <p:sp>
        <p:nvSpPr>
          <p:cNvPr id="182275" name="Rectangle 3"/>
          <p:cNvSpPr>
            <a:spLocks noGrp="1" noChangeArrowheads="1"/>
          </p:cNvSpPr>
          <p:nvPr>
            <p:ph type="body" idx="1"/>
          </p:nvPr>
        </p:nvSpPr>
        <p:spPr>
          <a:xfrm>
            <a:off x="466725" y="1123950"/>
            <a:ext cx="8277225" cy="2012859"/>
          </a:xfrm>
          <a:noFill/>
        </p:spPr>
        <p:txBody>
          <a:bodyPr/>
          <a:lstStyle/>
          <a:p>
            <a:pPr defTabSz="296863" eaLnBrk="1" hangingPunct="1">
              <a:tabLst>
                <a:tab pos="0" algn="l"/>
                <a:tab pos="8069263" algn="l"/>
              </a:tabLst>
            </a:pPr>
            <a:r>
              <a:rPr kumimoji="1" lang="en-US" altLang="zh-CN" dirty="0" smtClean="0"/>
              <a:t>1</a:t>
            </a:r>
            <a:r>
              <a:rPr kumimoji="1" lang="zh-CN" altLang="en-US" dirty="0" smtClean="0"/>
              <a:t>、图</a:t>
            </a:r>
            <a:r>
              <a:rPr kumimoji="1" lang="zh-CN" altLang="en-US" dirty="0"/>
              <a:t>的矩阵表示</a:t>
            </a:r>
            <a:r>
              <a:rPr kumimoji="1" lang="zh-CN" altLang="en-US" dirty="0" smtClean="0"/>
              <a:t>：</a:t>
            </a:r>
            <a:endParaRPr kumimoji="1" lang="en-US" altLang="zh-CN" dirty="0" smtClean="0"/>
          </a:p>
          <a:p>
            <a:pPr defTabSz="296863" eaLnBrk="1" hangingPunct="1">
              <a:tabLst>
                <a:tab pos="0" algn="l"/>
                <a:tab pos="8069263" algn="l"/>
              </a:tabLst>
            </a:pPr>
            <a:r>
              <a:rPr kumimoji="1" lang="zh-CN" altLang="en-US" dirty="0" smtClean="0"/>
              <a:t>邻接矩阵：点与点的邻接</a:t>
            </a:r>
            <a:endParaRPr kumimoji="1" lang="zh-CN" altLang="en-US" dirty="0"/>
          </a:p>
          <a:p>
            <a:pPr defTabSz="296863" eaLnBrk="1" hangingPunct="1">
              <a:tabLst>
                <a:tab pos="0" algn="l"/>
                <a:tab pos="8069263" algn="l"/>
              </a:tabLst>
            </a:pPr>
            <a:r>
              <a:rPr kumimoji="1" lang="zh-CN" altLang="en-US" dirty="0" smtClean="0"/>
              <a:t>可达性</a:t>
            </a:r>
            <a:r>
              <a:rPr kumimoji="1" lang="zh-CN" altLang="en-US" dirty="0"/>
              <a:t>矩阵：两点之间有</a:t>
            </a:r>
            <a:r>
              <a:rPr kumimoji="1" lang="zh-CN" altLang="en-US" dirty="0" smtClean="0"/>
              <a:t>路</a:t>
            </a:r>
            <a:endParaRPr kumimoji="1" lang="en-US" altLang="zh-CN" dirty="0" smtClean="0"/>
          </a:p>
          <a:p>
            <a:pPr defTabSz="296863" eaLnBrk="1" hangingPunct="1">
              <a:tabLst>
                <a:tab pos="0" algn="l"/>
                <a:tab pos="8069263" algn="l"/>
              </a:tabLst>
            </a:pPr>
            <a:r>
              <a:rPr kumimoji="1" lang="zh-CN" altLang="en-US" dirty="0"/>
              <a:t>关联</a:t>
            </a:r>
            <a:r>
              <a:rPr kumimoji="1" lang="zh-CN" altLang="en-US" dirty="0" smtClean="0"/>
              <a:t>矩阵</a:t>
            </a:r>
            <a:r>
              <a:rPr kumimoji="1" lang="zh-CN" altLang="en-US" dirty="0"/>
              <a:t>：点</a:t>
            </a:r>
            <a:r>
              <a:rPr kumimoji="1" lang="zh-CN" altLang="en-US" dirty="0" smtClean="0"/>
              <a:t>与边的</a:t>
            </a:r>
            <a:r>
              <a:rPr kumimoji="1" lang="zh-CN" altLang="en-US" dirty="0" smtClean="0"/>
              <a:t>邻接</a:t>
            </a:r>
            <a:endParaRPr kumimoji="1" lang="zh-CN" altLang="en-US" dirty="0"/>
          </a:p>
        </p:txBody>
      </p:sp>
    </p:spTree>
    <p:extLst>
      <p:ext uri="{BB962C8B-B14F-4D97-AF65-F5344CB8AC3E}">
        <p14:creationId xmlns:p14="http://schemas.microsoft.com/office/powerpoint/2010/main" val="1505792121"/>
      </p:ext>
    </p:extLst>
  </p:cSld>
  <p:clrMapOvr>
    <a:masterClrMapping/>
  </p:clrMapOvr>
  <p:transition spd="slow">
    <p:random/>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4"/>
          <p:cNvSpPr>
            <a:spLocks noGrp="1"/>
          </p:cNvSpPr>
          <p:nvPr>
            <p:ph type="sldNum" sz="quarter" idx="11"/>
          </p:nvPr>
        </p:nvSpPr>
        <p:spPr/>
        <p:txBody>
          <a:bodyPr/>
          <a:lstStyle/>
          <a:p>
            <a:pPr>
              <a:defRPr/>
            </a:pPr>
            <a:fld id="{1C1E6BA3-0714-4AAF-B900-6A221F2E540E}" type="slidenum">
              <a:rPr lang="en-US" altLang="zh-CN"/>
              <a:pPr>
                <a:defRPr/>
              </a:pPr>
              <a:t>56</a:t>
            </a:fld>
            <a:endParaRPr lang="en-US" altLang="zh-CN"/>
          </a:p>
        </p:txBody>
      </p:sp>
      <p:sp>
        <p:nvSpPr>
          <p:cNvPr id="58371" name="Rectangle 4"/>
          <p:cNvSpPr>
            <a:spLocks noChangeArrowheads="1"/>
          </p:cNvSpPr>
          <p:nvPr/>
        </p:nvSpPr>
        <p:spPr bwMode="auto">
          <a:xfrm>
            <a:off x="466725" y="908050"/>
            <a:ext cx="8277225"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zh-CN" altLang="en-US" sz="3200" b="1">
                <a:solidFill>
                  <a:srgbClr val="993300"/>
                </a:solidFill>
                <a:latin typeface="Times New Roman" pitchFamily="18" charset="0"/>
                <a:ea typeface="楷体_GB2312" pitchFamily="49" charset="-122"/>
              </a:rPr>
              <a:t>一、欧拉图</a:t>
            </a:r>
          </a:p>
        </p:txBody>
      </p:sp>
      <p:sp>
        <p:nvSpPr>
          <p:cNvPr id="58372" name="Text Box 5"/>
          <p:cNvSpPr txBox="1">
            <a:spLocks noChangeArrowheads="1"/>
          </p:cNvSpPr>
          <p:nvPr/>
        </p:nvSpPr>
        <p:spPr bwMode="auto">
          <a:xfrm>
            <a:off x="466725" y="1535113"/>
            <a:ext cx="8277225" cy="159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bg1"/>
              </a:buClr>
            </a:pPr>
            <a:r>
              <a:rPr kumimoji="1" lang="en-US" altLang="zh-CN" sz="2800" b="1">
                <a:solidFill>
                  <a:srgbClr val="993300"/>
                </a:solidFill>
                <a:latin typeface="楷体_GB2312" pitchFamily="49" charset="-122"/>
                <a:ea typeface="楷体_GB2312" pitchFamily="49" charset="-122"/>
              </a:rPr>
              <a:t>1</a:t>
            </a:r>
            <a:r>
              <a:rPr kumimoji="1" lang="zh-CN" altLang="en-US" sz="2800" b="1">
                <a:solidFill>
                  <a:srgbClr val="993300"/>
                </a:solidFill>
                <a:latin typeface="楷体_GB2312" pitchFamily="49" charset="-122"/>
                <a:ea typeface="楷体_GB2312" pitchFamily="49" charset="-122"/>
              </a:rPr>
              <a:t>、哥尼斯堡七桥问题</a:t>
            </a:r>
          </a:p>
          <a:p>
            <a:pPr eaLnBrk="1" hangingPunct="1">
              <a:lnSpc>
                <a:spcPct val="130000"/>
              </a:lnSpc>
              <a:buClr>
                <a:schemeClr val="bg1"/>
              </a:buClr>
            </a:pPr>
            <a:r>
              <a:rPr kumimoji="1" lang="zh-CN" altLang="en-US" b="1">
                <a:solidFill>
                  <a:schemeClr val="bg2"/>
                </a:solidFill>
                <a:latin typeface="Times New Roman" pitchFamily="18" charset="0"/>
              </a:rPr>
              <a:t>        能否设计一次“遍游”使得从某地出发对每座跨河桥只走一次，而在遍历了七桥之后却又能回到原地。</a:t>
            </a:r>
          </a:p>
        </p:txBody>
      </p:sp>
      <p:grpSp>
        <p:nvGrpSpPr>
          <p:cNvPr id="45064" name="Group 8"/>
          <p:cNvGrpSpPr>
            <a:grpSpLocks/>
          </p:cNvGrpSpPr>
          <p:nvPr/>
        </p:nvGrpSpPr>
        <p:grpSpPr bwMode="auto">
          <a:xfrm>
            <a:off x="3132138" y="3500438"/>
            <a:ext cx="2578100" cy="2327275"/>
            <a:chOff x="2408" y="1776"/>
            <a:chExt cx="1624" cy="1534"/>
          </a:xfrm>
        </p:grpSpPr>
        <p:grpSp>
          <p:nvGrpSpPr>
            <p:cNvPr id="58375" name="Group 9"/>
            <p:cNvGrpSpPr>
              <a:grpSpLocks/>
            </p:cNvGrpSpPr>
            <p:nvPr/>
          </p:nvGrpSpPr>
          <p:grpSpPr bwMode="auto">
            <a:xfrm>
              <a:off x="2551" y="2016"/>
              <a:ext cx="1289" cy="1152"/>
              <a:chOff x="2551" y="2016"/>
              <a:chExt cx="1289" cy="1152"/>
            </a:xfrm>
          </p:grpSpPr>
          <p:sp>
            <p:nvSpPr>
              <p:cNvPr id="58380" name="Freeform 10"/>
              <p:cNvSpPr>
                <a:spLocks/>
              </p:cNvSpPr>
              <p:nvPr/>
            </p:nvSpPr>
            <p:spPr bwMode="auto">
              <a:xfrm rot="8100000">
                <a:off x="2805" y="2432"/>
                <a:ext cx="230" cy="736"/>
              </a:xfrm>
              <a:custGeom>
                <a:avLst/>
                <a:gdLst>
                  <a:gd name="T0" fmla="*/ 115 w 420"/>
                  <a:gd name="T1" fmla="*/ 0 h 1248"/>
                  <a:gd name="T2" fmla="*/ 16 w 420"/>
                  <a:gd name="T3" fmla="*/ 184 h 1248"/>
                  <a:gd name="T4" fmla="*/ 16 w 420"/>
                  <a:gd name="T5" fmla="*/ 552 h 1248"/>
                  <a:gd name="T6" fmla="*/ 115 w 420"/>
                  <a:gd name="T7" fmla="*/ 736 h 1248"/>
                  <a:gd name="T8" fmla="*/ 214 w 420"/>
                  <a:gd name="T9" fmla="*/ 552 h 1248"/>
                  <a:gd name="T10" fmla="*/ 214 w 420"/>
                  <a:gd name="T11" fmla="*/ 184 h 1248"/>
                  <a:gd name="T12" fmla="*/ 115 w 420"/>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0" h="1248">
                    <a:moveTo>
                      <a:pt x="210" y="0"/>
                    </a:moveTo>
                    <a:cubicBezTo>
                      <a:pt x="150" y="0"/>
                      <a:pt x="60" y="156"/>
                      <a:pt x="30" y="312"/>
                    </a:cubicBezTo>
                    <a:cubicBezTo>
                      <a:pt x="0" y="468"/>
                      <a:pt x="0" y="780"/>
                      <a:pt x="30" y="936"/>
                    </a:cubicBezTo>
                    <a:cubicBezTo>
                      <a:pt x="60" y="1092"/>
                      <a:pt x="150" y="1248"/>
                      <a:pt x="210" y="1248"/>
                    </a:cubicBezTo>
                    <a:cubicBezTo>
                      <a:pt x="270" y="1248"/>
                      <a:pt x="360" y="1092"/>
                      <a:pt x="390" y="936"/>
                    </a:cubicBezTo>
                    <a:cubicBezTo>
                      <a:pt x="420" y="780"/>
                      <a:pt x="420" y="468"/>
                      <a:pt x="390" y="312"/>
                    </a:cubicBezTo>
                    <a:cubicBezTo>
                      <a:pt x="360" y="156"/>
                      <a:pt x="270" y="0"/>
                      <a:pt x="210" y="0"/>
                    </a:cubicBez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81" name="Freeform 11"/>
              <p:cNvSpPr>
                <a:spLocks/>
              </p:cNvSpPr>
              <p:nvPr/>
            </p:nvSpPr>
            <p:spPr bwMode="auto">
              <a:xfrm rot="2700000">
                <a:off x="2793" y="1900"/>
                <a:ext cx="247" cy="731"/>
              </a:xfrm>
              <a:custGeom>
                <a:avLst/>
                <a:gdLst>
                  <a:gd name="T0" fmla="*/ 124 w 420"/>
                  <a:gd name="T1" fmla="*/ 0 h 1248"/>
                  <a:gd name="T2" fmla="*/ 18 w 420"/>
                  <a:gd name="T3" fmla="*/ 183 h 1248"/>
                  <a:gd name="T4" fmla="*/ 18 w 420"/>
                  <a:gd name="T5" fmla="*/ 548 h 1248"/>
                  <a:gd name="T6" fmla="*/ 124 w 420"/>
                  <a:gd name="T7" fmla="*/ 731 h 1248"/>
                  <a:gd name="T8" fmla="*/ 229 w 420"/>
                  <a:gd name="T9" fmla="*/ 548 h 1248"/>
                  <a:gd name="T10" fmla="*/ 229 w 420"/>
                  <a:gd name="T11" fmla="*/ 183 h 1248"/>
                  <a:gd name="T12" fmla="*/ 124 w 420"/>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0" h="1248">
                    <a:moveTo>
                      <a:pt x="210" y="0"/>
                    </a:moveTo>
                    <a:cubicBezTo>
                      <a:pt x="150" y="0"/>
                      <a:pt x="60" y="156"/>
                      <a:pt x="30" y="312"/>
                    </a:cubicBezTo>
                    <a:cubicBezTo>
                      <a:pt x="0" y="468"/>
                      <a:pt x="0" y="780"/>
                      <a:pt x="30" y="936"/>
                    </a:cubicBezTo>
                    <a:cubicBezTo>
                      <a:pt x="60" y="1092"/>
                      <a:pt x="150" y="1248"/>
                      <a:pt x="210" y="1248"/>
                    </a:cubicBezTo>
                    <a:cubicBezTo>
                      <a:pt x="270" y="1248"/>
                      <a:pt x="360" y="1092"/>
                      <a:pt x="390" y="936"/>
                    </a:cubicBezTo>
                    <a:cubicBezTo>
                      <a:pt x="420" y="780"/>
                      <a:pt x="420" y="468"/>
                      <a:pt x="390" y="312"/>
                    </a:cubicBezTo>
                    <a:cubicBezTo>
                      <a:pt x="360" y="156"/>
                      <a:pt x="270" y="0"/>
                      <a:pt x="210" y="0"/>
                    </a:cubicBez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82" name="Line 12"/>
              <p:cNvSpPr>
                <a:spLocks noChangeShapeType="1"/>
              </p:cNvSpPr>
              <p:nvPr/>
            </p:nvSpPr>
            <p:spPr bwMode="auto">
              <a:xfrm>
                <a:off x="2732" y="2520"/>
                <a:ext cx="108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383" name="Freeform 13"/>
              <p:cNvSpPr>
                <a:spLocks/>
              </p:cNvSpPr>
              <p:nvPr/>
            </p:nvSpPr>
            <p:spPr bwMode="auto">
              <a:xfrm>
                <a:off x="3183" y="2016"/>
                <a:ext cx="657" cy="513"/>
              </a:xfrm>
              <a:custGeom>
                <a:avLst/>
                <a:gdLst>
                  <a:gd name="T0" fmla="*/ 0 w 1200"/>
                  <a:gd name="T1" fmla="*/ 0 h 870"/>
                  <a:gd name="T2" fmla="*/ 657 w 1200"/>
                  <a:gd name="T3" fmla="*/ 513 h 870"/>
                  <a:gd name="T4" fmla="*/ 0 60000 65536"/>
                  <a:gd name="T5" fmla="*/ 0 60000 65536"/>
                </a:gdLst>
                <a:ahLst/>
                <a:cxnLst>
                  <a:cxn ang="T4">
                    <a:pos x="T0" y="T1"/>
                  </a:cxn>
                  <a:cxn ang="T5">
                    <a:pos x="T2" y="T3"/>
                  </a:cxn>
                </a:cxnLst>
                <a:rect l="0" t="0" r="r" b="b"/>
                <a:pathLst>
                  <a:path w="1200" h="870">
                    <a:moveTo>
                      <a:pt x="0" y="0"/>
                    </a:moveTo>
                    <a:lnTo>
                      <a:pt x="1200" y="870"/>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8384" name="Freeform 14"/>
              <p:cNvSpPr>
                <a:spLocks/>
              </p:cNvSpPr>
              <p:nvPr/>
            </p:nvSpPr>
            <p:spPr bwMode="auto">
              <a:xfrm>
                <a:off x="3183" y="2511"/>
                <a:ext cx="641" cy="517"/>
              </a:xfrm>
              <a:custGeom>
                <a:avLst/>
                <a:gdLst>
                  <a:gd name="T0" fmla="*/ 0 w 1170"/>
                  <a:gd name="T1" fmla="*/ 517 h 876"/>
                  <a:gd name="T2" fmla="*/ 641 w 1170"/>
                  <a:gd name="T3" fmla="*/ 0 h 876"/>
                  <a:gd name="T4" fmla="*/ 0 60000 65536"/>
                  <a:gd name="T5" fmla="*/ 0 60000 65536"/>
                </a:gdLst>
                <a:ahLst/>
                <a:cxnLst>
                  <a:cxn ang="T4">
                    <a:pos x="T0" y="T1"/>
                  </a:cxn>
                  <a:cxn ang="T5">
                    <a:pos x="T2" y="T3"/>
                  </a:cxn>
                </a:cxnLst>
                <a:rect l="0" t="0" r="r" b="b"/>
                <a:pathLst>
                  <a:path w="1170" h="876">
                    <a:moveTo>
                      <a:pt x="0" y="876"/>
                    </a:moveTo>
                    <a:lnTo>
                      <a:pt x="1170" y="0"/>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58376" name="Text Box 15"/>
            <p:cNvSpPr txBox="1">
              <a:spLocks noChangeArrowheads="1"/>
            </p:cNvSpPr>
            <p:nvPr/>
          </p:nvSpPr>
          <p:spPr bwMode="auto">
            <a:xfrm>
              <a:off x="2408" y="2376"/>
              <a:ext cx="192"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A</a:t>
              </a:r>
            </a:p>
          </p:txBody>
        </p:sp>
        <p:sp>
          <p:nvSpPr>
            <p:cNvPr id="58377" name="Text Box 16"/>
            <p:cNvSpPr txBox="1">
              <a:spLocks noChangeArrowheads="1"/>
            </p:cNvSpPr>
            <p:nvPr/>
          </p:nvSpPr>
          <p:spPr bwMode="auto">
            <a:xfrm>
              <a:off x="3032" y="3008"/>
              <a:ext cx="192"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D</a:t>
              </a:r>
            </a:p>
          </p:txBody>
        </p:sp>
        <p:sp>
          <p:nvSpPr>
            <p:cNvPr id="58378" name="Text Box 17"/>
            <p:cNvSpPr txBox="1">
              <a:spLocks noChangeArrowheads="1"/>
            </p:cNvSpPr>
            <p:nvPr/>
          </p:nvSpPr>
          <p:spPr bwMode="auto">
            <a:xfrm>
              <a:off x="3024" y="1776"/>
              <a:ext cx="192" cy="3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C</a:t>
              </a:r>
            </a:p>
          </p:txBody>
        </p:sp>
        <p:sp>
          <p:nvSpPr>
            <p:cNvPr id="58379" name="Text Box 18"/>
            <p:cNvSpPr txBox="1">
              <a:spLocks noChangeArrowheads="1"/>
            </p:cNvSpPr>
            <p:nvPr/>
          </p:nvSpPr>
          <p:spPr bwMode="auto">
            <a:xfrm>
              <a:off x="3840" y="2352"/>
              <a:ext cx="192" cy="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B</a:t>
              </a:r>
            </a:p>
          </p:txBody>
        </p:sp>
      </p:grpSp>
      <p:sp>
        <p:nvSpPr>
          <p:cNvPr id="58374" name="Rectangle 19"/>
          <p:cNvSpPr>
            <a:spLocks noGrp="1" noChangeArrowheads="1"/>
          </p:cNvSpPr>
          <p:nvPr>
            <p:ph type="title"/>
          </p:nvPr>
        </p:nvSpPr>
        <p:spPr>
          <a:xfrm>
            <a:off x="900113" y="333375"/>
            <a:ext cx="7237412" cy="701675"/>
          </a:xfrm>
        </p:spPr>
        <p:txBody>
          <a:bodyPr/>
          <a:lstStyle/>
          <a:p>
            <a:pPr eaLnBrk="1" hangingPunct="1"/>
            <a:r>
              <a:rPr kumimoji="1" lang="en-US" altLang="zh-CN" smtClean="0">
                <a:solidFill>
                  <a:schemeClr val="tx1"/>
                </a:solidFill>
                <a:latin typeface="华文行楷" pitchFamily="2" charset="-122"/>
                <a:ea typeface="华文行楷" pitchFamily="2" charset="-122"/>
              </a:rPr>
              <a:t>7-4</a:t>
            </a:r>
            <a:r>
              <a:rPr kumimoji="1" lang="en-US" altLang="zh-CN" smtClean="0">
                <a:solidFill>
                  <a:schemeClr val="tx1"/>
                </a:solidFill>
                <a:latin typeface="Times New Roman" pitchFamily="18" charset="0"/>
                <a:ea typeface="华文行楷" pitchFamily="2" charset="-122"/>
              </a:rPr>
              <a:t>  </a:t>
            </a:r>
            <a:r>
              <a:rPr kumimoji="1" lang="zh-CN" altLang="en-US" smtClean="0">
                <a:solidFill>
                  <a:schemeClr val="tx1"/>
                </a:solidFill>
                <a:latin typeface="华文行楷" pitchFamily="2" charset="-122"/>
                <a:ea typeface="华文行楷" pitchFamily="2" charset="-122"/>
              </a:rPr>
              <a:t>欧拉图与汉密尔顿图</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45064"/>
                                        </p:tgtEl>
                                        <p:attrNameLst>
                                          <p:attrName>style.visibility</p:attrName>
                                        </p:attrNameLst>
                                      </p:cBhvr>
                                      <p:to>
                                        <p:strVal val="visible"/>
                                      </p:to>
                                    </p:set>
                                    <p:animEffect transition="in" filter="checkerboard(across)">
                                      <p:cBhvr>
                                        <p:cTn id="7" dur="500"/>
                                        <p:tgtEl>
                                          <p:spTgt spid="45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pPr>
              <a:defRPr/>
            </a:pPr>
            <a:fld id="{23CFA0AE-87A1-4E93-B75A-1AB23269B77B}" type="slidenum">
              <a:rPr lang="en-US" altLang="zh-CN"/>
              <a:pPr>
                <a:defRPr/>
              </a:pPr>
              <a:t>57</a:t>
            </a:fld>
            <a:endParaRPr lang="en-US" altLang="zh-CN"/>
          </a:p>
        </p:txBody>
      </p:sp>
      <p:sp>
        <p:nvSpPr>
          <p:cNvPr id="121859" name="Rectangle 3"/>
          <p:cNvSpPr>
            <a:spLocks noGrp="1" noChangeArrowheads="1"/>
          </p:cNvSpPr>
          <p:nvPr>
            <p:ph type="body" idx="1"/>
          </p:nvPr>
        </p:nvSpPr>
        <p:spPr>
          <a:xfrm>
            <a:off x="466725" y="1125538"/>
            <a:ext cx="8277225" cy="3889375"/>
          </a:xfrm>
          <a:noFill/>
        </p:spPr>
        <p:txBody>
          <a:bodyPr/>
          <a:lstStyle/>
          <a:p>
            <a:pPr eaLnBrk="1" hangingPunct="1">
              <a:buClrTx/>
              <a:buSzTx/>
              <a:buFontTx/>
              <a:buNone/>
            </a:pPr>
            <a:r>
              <a:rPr kumimoji="1" lang="zh-CN" altLang="en-US" smtClean="0">
                <a:solidFill>
                  <a:srgbClr val="0000CC"/>
                </a:solidFill>
              </a:rPr>
              <a:t>定义</a:t>
            </a:r>
            <a:r>
              <a:rPr kumimoji="1" lang="en-US" altLang="zh-CN" smtClean="0">
                <a:solidFill>
                  <a:srgbClr val="0000CC"/>
                </a:solidFill>
              </a:rPr>
              <a:t>7-4.1</a:t>
            </a:r>
            <a:r>
              <a:rPr kumimoji="1" lang="zh-CN" altLang="en-US" smtClean="0">
                <a:solidFill>
                  <a:srgbClr val="0000CC"/>
                </a:solidFill>
              </a:rPr>
              <a:t>：</a:t>
            </a:r>
            <a:r>
              <a:rPr kumimoji="1" lang="zh-CN" altLang="en-US" smtClean="0"/>
              <a:t>给定</a:t>
            </a:r>
            <a:r>
              <a:rPr kumimoji="1" lang="zh-CN" altLang="en-US" smtClean="0">
                <a:solidFill>
                  <a:srgbClr val="0000CC"/>
                </a:solidFill>
              </a:rPr>
              <a:t>无孤立结点图</a:t>
            </a:r>
            <a:r>
              <a:rPr kumimoji="1" lang="en-US" altLang="zh-CN" smtClean="0"/>
              <a:t>G</a:t>
            </a:r>
            <a:r>
              <a:rPr kumimoji="1" lang="zh-CN" altLang="en-US" smtClean="0"/>
              <a:t>，若存在一条路，经过图中</a:t>
            </a:r>
            <a:r>
              <a:rPr kumimoji="1" lang="zh-CN" altLang="en-US" smtClean="0">
                <a:solidFill>
                  <a:srgbClr val="0000FF"/>
                </a:solidFill>
              </a:rPr>
              <a:t>每边一次且仅一次</a:t>
            </a:r>
            <a:r>
              <a:rPr kumimoji="1" lang="zh-CN" altLang="en-US" smtClean="0"/>
              <a:t>，该条路称为</a:t>
            </a:r>
            <a:r>
              <a:rPr kumimoji="1" lang="zh-CN" altLang="en-US" i="1" smtClean="0">
                <a:solidFill>
                  <a:srgbClr val="FF0000"/>
                </a:solidFill>
              </a:rPr>
              <a:t>欧拉路</a:t>
            </a:r>
            <a:r>
              <a:rPr kumimoji="1" lang="zh-CN" altLang="en-US" smtClean="0"/>
              <a:t>；若存在一条回路，经过图中每条边</a:t>
            </a:r>
            <a:r>
              <a:rPr kumimoji="1" lang="zh-CN" altLang="en-US" smtClean="0">
                <a:solidFill>
                  <a:srgbClr val="0000FF"/>
                </a:solidFill>
              </a:rPr>
              <a:t>一次且仅一次</a:t>
            </a:r>
            <a:r>
              <a:rPr kumimoji="1" lang="zh-CN" altLang="en-US" smtClean="0"/>
              <a:t>，该回路称为</a:t>
            </a:r>
            <a:r>
              <a:rPr kumimoji="1" lang="zh-CN" altLang="en-US" i="1" smtClean="0">
                <a:solidFill>
                  <a:srgbClr val="FF0000"/>
                </a:solidFill>
              </a:rPr>
              <a:t>欧拉回路</a:t>
            </a:r>
            <a:r>
              <a:rPr kumimoji="1" lang="zh-CN" altLang="en-US" smtClean="0"/>
              <a:t>。具有</a:t>
            </a:r>
            <a:r>
              <a:rPr kumimoji="1" lang="zh-CN" altLang="en-US" smtClean="0">
                <a:solidFill>
                  <a:srgbClr val="0000CC"/>
                </a:solidFill>
              </a:rPr>
              <a:t>欧拉回路</a:t>
            </a:r>
            <a:r>
              <a:rPr kumimoji="1" lang="zh-CN" altLang="en-US" smtClean="0"/>
              <a:t>的图称作</a:t>
            </a:r>
            <a:r>
              <a:rPr kumimoji="1" lang="zh-CN" altLang="en-US" i="1" smtClean="0">
                <a:solidFill>
                  <a:schemeClr val="hlink"/>
                </a:solidFill>
              </a:rPr>
              <a:t>欧拉图</a:t>
            </a:r>
            <a:r>
              <a:rPr kumimoji="1" lang="zh-CN" altLang="en-US" smtClean="0"/>
              <a:t>。</a:t>
            </a:r>
          </a:p>
          <a:p>
            <a:pPr eaLnBrk="1" hangingPunct="1">
              <a:buClr>
                <a:schemeClr val="bg1"/>
              </a:buClr>
              <a:buSzTx/>
              <a:buFontTx/>
              <a:buNone/>
            </a:pPr>
            <a:r>
              <a:rPr kumimoji="1" lang="zh-CN" altLang="en-US" smtClean="0">
                <a:solidFill>
                  <a:srgbClr val="993300"/>
                </a:solidFill>
              </a:rPr>
              <a:t>欧拉图的特点</a:t>
            </a:r>
          </a:p>
          <a:p>
            <a:pPr eaLnBrk="1" hangingPunct="1">
              <a:buClr>
                <a:schemeClr val="hlink"/>
              </a:buClr>
              <a:buSzTx/>
              <a:buFont typeface="Wingdings" pitchFamily="2" charset="2"/>
              <a:buChar char="Ø"/>
            </a:pPr>
            <a:r>
              <a:rPr kumimoji="1" lang="zh-CN" altLang="en-US" smtClean="0">
                <a:solidFill>
                  <a:schemeClr val="bg2"/>
                </a:solidFill>
              </a:rPr>
              <a:t>无孤立结点的图，即对图中任意结点都有与之关联的边；</a:t>
            </a:r>
          </a:p>
          <a:p>
            <a:pPr eaLnBrk="1" hangingPunct="1">
              <a:buClr>
                <a:schemeClr val="hlink"/>
              </a:buClr>
              <a:buSzTx/>
              <a:buFont typeface="Wingdings" pitchFamily="2" charset="2"/>
              <a:buChar char="Ø"/>
            </a:pPr>
            <a:r>
              <a:rPr lang="zh-CN" altLang="en-US" smtClean="0">
                <a:solidFill>
                  <a:schemeClr val="bg2"/>
                </a:solidFill>
              </a:rPr>
              <a:t>图中的欧拉回路经过图中每边一次且仅一次，必经过图的每一个结点。</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1859">
                                            <p:txEl>
                                              <p:pRg st="1" end="1"/>
                                            </p:txEl>
                                          </p:spTgt>
                                        </p:tgtEl>
                                        <p:attrNameLst>
                                          <p:attrName>style.visibility</p:attrName>
                                        </p:attrNameLst>
                                      </p:cBhvr>
                                      <p:to>
                                        <p:strVal val="visible"/>
                                      </p:to>
                                    </p:set>
                                    <p:anim calcmode="lin" valueType="num">
                                      <p:cBhvr additive="base">
                                        <p:cTn id="7" dur="500" fill="hold"/>
                                        <p:tgtEl>
                                          <p:spTgt spid="1218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1859">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21859">
                                            <p:txEl>
                                              <p:pRg st="2" end="2"/>
                                            </p:txEl>
                                          </p:spTgt>
                                        </p:tgtEl>
                                        <p:attrNameLst>
                                          <p:attrName>style.visibility</p:attrName>
                                        </p:attrNameLst>
                                      </p:cBhvr>
                                      <p:to>
                                        <p:strVal val="visible"/>
                                      </p:to>
                                    </p:set>
                                    <p:anim calcmode="lin" valueType="num">
                                      <p:cBhvr additive="base">
                                        <p:cTn id="11" dur="500" fill="hold"/>
                                        <p:tgtEl>
                                          <p:spTgt spid="121859">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21859">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21859">
                                            <p:txEl>
                                              <p:pRg st="3" end="3"/>
                                            </p:txEl>
                                          </p:spTgt>
                                        </p:tgtEl>
                                        <p:attrNameLst>
                                          <p:attrName>style.visibility</p:attrName>
                                        </p:attrNameLst>
                                      </p:cBhvr>
                                      <p:to>
                                        <p:strVal val="visible"/>
                                      </p:to>
                                    </p:set>
                                    <p:anim calcmode="lin" valueType="num">
                                      <p:cBhvr additive="base">
                                        <p:cTn id="15" dur="500" fill="hold"/>
                                        <p:tgtEl>
                                          <p:spTgt spid="121859">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2185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pPr>
              <a:defRPr/>
            </a:pPr>
            <a:fld id="{67355CD8-F9F2-4641-9C0E-8E3E454FF3E0}" type="slidenum">
              <a:rPr lang="en-US" altLang="zh-CN"/>
              <a:pPr>
                <a:defRPr/>
              </a:pPr>
              <a:t>58</a:t>
            </a:fld>
            <a:endParaRPr lang="en-US" altLang="zh-CN"/>
          </a:p>
        </p:txBody>
      </p:sp>
      <p:sp>
        <p:nvSpPr>
          <p:cNvPr id="60420" name="Rectangle 5"/>
          <p:cNvSpPr>
            <a:spLocks noChangeArrowheads="1"/>
          </p:cNvSpPr>
          <p:nvPr/>
        </p:nvSpPr>
        <p:spPr bwMode="auto">
          <a:xfrm>
            <a:off x="466725" y="1049338"/>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7-4.1</a:t>
            </a:r>
            <a:r>
              <a:rPr kumimoji="1" lang="zh-CN" altLang="en-US" b="1">
                <a:solidFill>
                  <a:srgbClr val="0000CC"/>
                </a:solidFill>
                <a:latin typeface="Times New Roman" pitchFamily="18" charset="0"/>
              </a:rPr>
              <a:t>：</a:t>
            </a:r>
            <a:r>
              <a:rPr kumimoji="1" lang="zh-CN" altLang="en-US" b="1">
                <a:latin typeface="Times New Roman" pitchFamily="18" charset="0"/>
              </a:rPr>
              <a:t>无向图</a:t>
            </a:r>
            <a:r>
              <a:rPr kumimoji="1" lang="en-US" altLang="zh-CN" b="1">
                <a:latin typeface="Times New Roman" pitchFamily="18" charset="0"/>
              </a:rPr>
              <a:t>G</a:t>
            </a:r>
            <a:r>
              <a:rPr kumimoji="1" lang="zh-CN" altLang="en-US" b="1">
                <a:latin typeface="Times New Roman" pitchFamily="18" charset="0"/>
              </a:rPr>
              <a:t>具有一条欧拉路，当且仅当</a:t>
            </a:r>
            <a:r>
              <a:rPr kumimoji="1" lang="en-US" altLang="zh-CN" b="1">
                <a:latin typeface="Times New Roman" pitchFamily="18" charset="0"/>
              </a:rPr>
              <a:t>G</a:t>
            </a:r>
            <a:r>
              <a:rPr kumimoji="1" lang="zh-CN" altLang="en-US" b="1">
                <a:latin typeface="Times New Roman" pitchFamily="18" charset="0"/>
              </a:rPr>
              <a:t>是连通的，且有零个或两个奇数度结点。</a:t>
            </a:r>
          </a:p>
        </p:txBody>
      </p:sp>
    </p:spTree>
  </p:cSld>
  <p:clrMapOvr>
    <a:masterClrMapping/>
  </p:clrMapOvr>
  <p:transition spd="slow">
    <p:random/>
  </p:transition>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pPr>
              <a:defRPr/>
            </a:pPr>
            <a:fld id="{67355CD8-F9F2-4641-9C0E-8E3E454FF3E0}" type="slidenum">
              <a:rPr lang="en-US" altLang="zh-CN"/>
              <a:pPr>
                <a:defRPr/>
              </a:pPr>
              <a:t>59</a:t>
            </a:fld>
            <a:endParaRPr lang="en-US" altLang="zh-CN"/>
          </a:p>
        </p:txBody>
      </p:sp>
      <p:sp>
        <p:nvSpPr>
          <p:cNvPr id="46083" name="Text Box 3"/>
          <p:cNvSpPr txBox="1">
            <a:spLocks noChangeArrowheads="1"/>
          </p:cNvSpPr>
          <p:nvPr/>
        </p:nvSpPr>
        <p:spPr bwMode="auto">
          <a:xfrm>
            <a:off x="466725" y="2028825"/>
            <a:ext cx="8277225" cy="436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dirty="0">
                <a:latin typeface="Times New Roman" pitchFamily="18" charset="0"/>
              </a:rPr>
              <a:t>证明：</a:t>
            </a:r>
            <a:r>
              <a:rPr kumimoji="1" lang="en-US" altLang="zh-CN" b="1" dirty="0">
                <a:solidFill>
                  <a:srgbClr val="008000"/>
                </a:solidFill>
                <a:latin typeface="Times New Roman" pitchFamily="18" charset="0"/>
              </a:rPr>
              <a:t>(1)</a:t>
            </a:r>
            <a:r>
              <a:rPr kumimoji="1" lang="zh-CN" altLang="en-US" b="1" dirty="0">
                <a:solidFill>
                  <a:srgbClr val="008000"/>
                </a:solidFill>
                <a:latin typeface="Times New Roman" pitchFamily="18" charset="0"/>
              </a:rPr>
              <a:t>必要性</a:t>
            </a:r>
          </a:p>
          <a:p>
            <a:pPr algn="just" eaLnBrk="1" hangingPunct="1">
              <a:lnSpc>
                <a:spcPct val="130000"/>
              </a:lnSpc>
            </a:pPr>
            <a:r>
              <a:rPr kumimoji="1" lang="en-US" altLang="zh-CN" b="1" dirty="0">
                <a:latin typeface="Times New Roman" pitchFamily="18" charset="0"/>
              </a:rPr>
              <a:t>a)</a:t>
            </a:r>
            <a:r>
              <a:rPr kumimoji="1" lang="zh-CN" altLang="en-US" b="1" dirty="0">
                <a:latin typeface="Times New Roman" pitchFamily="18" charset="0"/>
              </a:rPr>
              <a:t>设</a:t>
            </a:r>
            <a:r>
              <a:rPr kumimoji="1" lang="en-US" altLang="zh-CN" b="1" dirty="0">
                <a:latin typeface="Times New Roman" pitchFamily="18" charset="0"/>
              </a:rPr>
              <a:t>G</a:t>
            </a:r>
            <a:r>
              <a:rPr kumimoji="1" lang="zh-CN" altLang="en-US" b="1" dirty="0">
                <a:latin typeface="Times New Roman" pitchFamily="18" charset="0"/>
              </a:rPr>
              <a:t>具有欧拉路</a:t>
            </a:r>
            <a:r>
              <a:rPr kumimoji="1" lang="en-US" altLang="zh-CN" b="1" dirty="0">
                <a:latin typeface="Times New Roman" pitchFamily="18" charset="0"/>
              </a:rPr>
              <a:t>v</a:t>
            </a:r>
            <a:r>
              <a:rPr kumimoji="1" lang="en-US" altLang="zh-CN" b="1" baseline="-25000" dirty="0">
                <a:latin typeface="Times New Roman" pitchFamily="18" charset="0"/>
              </a:rPr>
              <a:t>0</a:t>
            </a:r>
            <a:r>
              <a:rPr kumimoji="1" lang="en-US" altLang="zh-CN" b="1" dirty="0">
                <a:latin typeface="Times New Roman" pitchFamily="18" charset="0"/>
              </a:rPr>
              <a:t>e</a:t>
            </a:r>
            <a:r>
              <a:rPr kumimoji="1" lang="en-US" altLang="zh-CN" b="1" baseline="-25000" dirty="0">
                <a:latin typeface="Times New Roman" pitchFamily="18" charset="0"/>
              </a:rPr>
              <a:t>1</a:t>
            </a:r>
            <a:r>
              <a:rPr kumimoji="1" lang="en-US" altLang="zh-CN" b="1" dirty="0">
                <a:latin typeface="Times New Roman" pitchFamily="18" charset="0"/>
              </a:rPr>
              <a:t>v</a:t>
            </a:r>
            <a:r>
              <a:rPr kumimoji="1" lang="en-US" altLang="zh-CN" b="1" baseline="-25000" dirty="0">
                <a:latin typeface="Times New Roman" pitchFamily="18" charset="0"/>
              </a:rPr>
              <a:t>1</a:t>
            </a:r>
            <a:r>
              <a:rPr kumimoji="1" lang="en-US" altLang="zh-CN" b="1" dirty="0">
                <a:latin typeface="Times New Roman" pitchFamily="18" charset="0"/>
              </a:rPr>
              <a:t>e</a:t>
            </a:r>
            <a:r>
              <a:rPr kumimoji="1" lang="en-US" altLang="zh-CN" b="1" baseline="-25000" dirty="0">
                <a:latin typeface="Times New Roman" pitchFamily="18" charset="0"/>
              </a:rPr>
              <a:t>2</a:t>
            </a:r>
            <a:r>
              <a:rPr kumimoji="1" lang="en-US" altLang="zh-CN" b="1" dirty="0">
                <a:latin typeface="Times New Roman" pitchFamily="18" charset="0"/>
              </a:rPr>
              <a:t>v</a:t>
            </a:r>
            <a:r>
              <a:rPr kumimoji="1" lang="en-US" altLang="zh-CN" b="1" baseline="-25000" dirty="0">
                <a:latin typeface="Times New Roman" pitchFamily="18" charset="0"/>
              </a:rPr>
              <a:t>2</a:t>
            </a:r>
            <a:r>
              <a:rPr kumimoji="1" lang="en-US" altLang="zh-CN" b="1" dirty="0">
                <a:latin typeface="Times New Roman" pitchFamily="18" charset="0"/>
              </a:rPr>
              <a:t>…</a:t>
            </a:r>
            <a:r>
              <a:rPr kumimoji="1" lang="en-US" altLang="zh-CN" b="1" dirty="0" err="1">
                <a:latin typeface="Times New Roman" pitchFamily="18" charset="0"/>
              </a:rPr>
              <a:t>e</a:t>
            </a:r>
            <a:r>
              <a:rPr kumimoji="1" lang="en-US" altLang="zh-CN" b="1" baseline="-25000" dirty="0" err="1">
                <a:latin typeface="Times New Roman" pitchFamily="18" charset="0"/>
              </a:rPr>
              <a:t>k</a:t>
            </a:r>
            <a:r>
              <a:rPr kumimoji="1" lang="en-US" altLang="zh-CN" b="1" dirty="0" err="1">
                <a:latin typeface="Times New Roman" pitchFamily="18" charset="0"/>
              </a:rPr>
              <a:t>v</a:t>
            </a:r>
            <a:r>
              <a:rPr kumimoji="1" lang="en-US" altLang="zh-CN" b="1" baseline="-25000" dirty="0" err="1">
                <a:latin typeface="Times New Roman" pitchFamily="18" charset="0"/>
              </a:rPr>
              <a:t>k</a:t>
            </a:r>
            <a:r>
              <a:rPr kumimoji="1" lang="zh-CN" altLang="en-US" b="1" dirty="0">
                <a:latin typeface="Times New Roman" pitchFamily="18" charset="0"/>
              </a:rPr>
              <a:t>，边不重复，但点可重复，因欧拉图经过所有图</a:t>
            </a:r>
            <a:r>
              <a:rPr kumimoji="1" lang="en-US" altLang="zh-CN" b="1" dirty="0">
                <a:latin typeface="Times New Roman" pitchFamily="18" charset="0"/>
              </a:rPr>
              <a:t>G</a:t>
            </a:r>
            <a:r>
              <a:rPr kumimoji="1" lang="zh-CN" altLang="en-US" b="1" dirty="0">
                <a:latin typeface="Times New Roman" pitchFamily="18" charset="0"/>
              </a:rPr>
              <a:t>的结点，故</a:t>
            </a:r>
            <a:r>
              <a:rPr kumimoji="1" lang="en-US" altLang="zh-CN" b="1" dirty="0">
                <a:latin typeface="Times New Roman" pitchFamily="18" charset="0"/>
              </a:rPr>
              <a:t>G</a:t>
            </a:r>
            <a:r>
              <a:rPr kumimoji="1" lang="zh-CN" altLang="en-US" b="1" dirty="0">
                <a:latin typeface="Times New Roman" pitchFamily="18" charset="0"/>
              </a:rPr>
              <a:t>必是连通的。</a:t>
            </a:r>
          </a:p>
          <a:p>
            <a:pPr algn="just" eaLnBrk="1" hangingPunct="1">
              <a:lnSpc>
                <a:spcPct val="130000"/>
              </a:lnSpc>
            </a:pPr>
            <a:r>
              <a:rPr kumimoji="1" lang="en-US" altLang="zh-CN" b="1" dirty="0">
                <a:latin typeface="Times New Roman" pitchFamily="18" charset="0"/>
              </a:rPr>
              <a:t>b)</a:t>
            </a:r>
            <a:r>
              <a:rPr kumimoji="1" lang="zh-CN" altLang="en-US" b="1" dirty="0">
                <a:latin typeface="Times New Roman" pitchFamily="18" charset="0"/>
              </a:rPr>
              <a:t>因欧拉路经过所有边一次且仅一次，所以对任意不是端点的结点，在欧拉路中每当</a:t>
            </a:r>
            <a:r>
              <a:rPr kumimoji="1" lang="en-US" altLang="zh-CN" b="1" dirty="0">
                <a:latin typeface="Times New Roman" pitchFamily="18" charset="0"/>
              </a:rPr>
              <a:t>v</a:t>
            </a:r>
            <a:r>
              <a:rPr kumimoji="1" lang="en-US" altLang="zh-CN" b="1" baseline="-25000" dirty="0">
                <a:latin typeface="Times New Roman" pitchFamily="18" charset="0"/>
              </a:rPr>
              <a:t>i</a:t>
            </a:r>
            <a:r>
              <a:rPr kumimoji="1" lang="zh-CN" altLang="en-US" b="1" dirty="0">
                <a:latin typeface="Times New Roman" pitchFamily="18" charset="0"/>
              </a:rPr>
              <a:t>出现一次，必关联两条边，</a:t>
            </a:r>
            <a:r>
              <a:rPr kumimoji="1" lang="en-US" altLang="zh-CN" b="1" dirty="0" err="1">
                <a:latin typeface="Times New Roman" pitchFamily="18" charset="0"/>
              </a:rPr>
              <a:t>deg</a:t>
            </a:r>
            <a:r>
              <a:rPr kumimoji="1" lang="en-US" altLang="zh-CN" b="1" dirty="0">
                <a:latin typeface="Times New Roman" pitchFamily="18" charset="0"/>
              </a:rPr>
              <a:t>(v</a:t>
            </a:r>
            <a:r>
              <a:rPr kumimoji="1" lang="en-US" altLang="zh-CN" b="1" baseline="-25000" dirty="0">
                <a:latin typeface="Times New Roman" pitchFamily="18" charset="0"/>
              </a:rPr>
              <a:t>i</a:t>
            </a:r>
            <a:r>
              <a:rPr kumimoji="1" lang="en-US" altLang="zh-CN" b="1" dirty="0">
                <a:latin typeface="Times New Roman" pitchFamily="18" charset="0"/>
              </a:rPr>
              <a:t>)</a:t>
            </a:r>
            <a:r>
              <a:rPr kumimoji="1" lang="zh-CN" altLang="en-US" b="1" dirty="0">
                <a:latin typeface="Times New Roman" pitchFamily="18" charset="0"/>
              </a:rPr>
              <a:t>必是偶数。</a:t>
            </a:r>
          </a:p>
          <a:p>
            <a:pPr algn="just" eaLnBrk="1" hangingPunct="1">
              <a:lnSpc>
                <a:spcPct val="130000"/>
              </a:lnSpc>
            </a:pPr>
            <a:r>
              <a:rPr kumimoji="1" lang="zh-CN" altLang="en-US" b="1" dirty="0">
                <a:latin typeface="Times New Roman" pitchFamily="18" charset="0"/>
              </a:rPr>
              <a:t>若端点</a:t>
            </a:r>
            <a:r>
              <a:rPr kumimoji="1" lang="en-US" altLang="zh-CN" b="1" dirty="0">
                <a:latin typeface="Times New Roman" pitchFamily="18" charset="0"/>
              </a:rPr>
              <a:t>v</a:t>
            </a:r>
            <a:r>
              <a:rPr kumimoji="1" lang="en-US" altLang="zh-CN" b="1" baseline="-25000" dirty="0">
                <a:latin typeface="Times New Roman" pitchFamily="18" charset="0"/>
              </a:rPr>
              <a:t>0</a:t>
            </a:r>
            <a:r>
              <a:rPr kumimoji="1" lang="en-US" altLang="zh-CN" b="1" dirty="0">
                <a:latin typeface="Times New Roman" pitchFamily="18" charset="0"/>
              </a:rPr>
              <a:t>=</a:t>
            </a:r>
            <a:r>
              <a:rPr kumimoji="1" lang="en-US" altLang="zh-CN" b="1" dirty="0" err="1">
                <a:latin typeface="Times New Roman" pitchFamily="18" charset="0"/>
              </a:rPr>
              <a:t>v</a:t>
            </a:r>
            <a:r>
              <a:rPr kumimoji="1" lang="en-US" altLang="zh-CN" b="1" baseline="-25000" dirty="0" err="1">
                <a:latin typeface="Times New Roman" pitchFamily="18" charset="0"/>
              </a:rPr>
              <a:t>k</a:t>
            </a:r>
            <a:r>
              <a:rPr kumimoji="1" lang="zh-CN" altLang="en-US" b="1" dirty="0">
                <a:latin typeface="Times New Roman" pitchFamily="18" charset="0"/>
              </a:rPr>
              <a:t>，则</a:t>
            </a:r>
            <a:r>
              <a:rPr kumimoji="1" lang="en-US" altLang="zh-CN" b="1" dirty="0" err="1">
                <a:latin typeface="Times New Roman" pitchFamily="18" charset="0"/>
              </a:rPr>
              <a:t>deg</a:t>
            </a:r>
            <a:r>
              <a:rPr kumimoji="1" lang="en-US" altLang="zh-CN" b="1" dirty="0">
                <a:latin typeface="Times New Roman" pitchFamily="18" charset="0"/>
              </a:rPr>
              <a:t>(v</a:t>
            </a:r>
            <a:r>
              <a:rPr kumimoji="1" lang="en-US" altLang="zh-CN" b="1" baseline="-25000" dirty="0">
                <a:latin typeface="Times New Roman" pitchFamily="18" charset="0"/>
              </a:rPr>
              <a:t>0</a:t>
            </a:r>
            <a:r>
              <a:rPr kumimoji="1" lang="en-US" altLang="zh-CN" b="1" dirty="0">
                <a:latin typeface="Times New Roman" pitchFamily="18" charset="0"/>
              </a:rPr>
              <a:t>)</a:t>
            </a:r>
            <a:r>
              <a:rPr kumimoji="1" lang="zh-CN" altLang="en-US" b="1" dirty="0">
                <a:latin typeface="Times New Roman" pitchFamily="18" charset="0"/>
              </a:rPr>
              <a:t>为偶数，即</a:t>
            </a:r>
            <a:r>
              <a:rPr kumimoji="1" lang="en-US" altLang="zh-CN" b="1" dirty="0">
                <a:latin typeface="Times New Roman" pitchFamily="18" charset="0"/>
              </a:rPr>
              <a:t>G</a:t>
            </a:r>
            <a:r>
              <a:rPr kumimoji="1" lang="zh-CN" altLang="en-US" b="1" dirty="0">
                <a:latin typeface="Times New Roman" pitchFamily="18" charset="0"/>
              </a:rPr>
              <a:t>中无奇数度结点，</a:t>
            </a:r>
          </a:p>
          <a:p>
            <a:pPr algn="just" eaLnBrk="1" hangingPunct="1">
              <a:lnSpc>
                <a:spcPct val="130000"/>
              </a:lnSpc>
            </a:pPr>
            <a:r>
              <a:rPr kumimoji="1" lang="zh-CN" altLang="en-US" b="1" dirty="0">
                <a:latin typeface="Times New Roman" pitchFamily="18" charset="0"/>
              </a:rPr>
              <a:t>若端点</a:t>
            </a:r>
            <a:r>
              <a:rPr kumimoji="1" lang="en-US" altLang="zh-CN" b="1" dirty="0">
                <a:latin typeface="Times New Roman" pitchFamily="18" charset="0"/>
              </a:rPr>
              <a:t>v</a:t>
            </a:r>
            <a:r>
              <a:rPr kumimoji="1" lang="en-US" altLang="zh-CN" b="1" baseline="-25000" dirty="0">
                <a:latin typeface="Times New Roman" pitchFamily="18" charset="0"/>
              </a:rPr>
              <a:t>0</a:t>
            </a:r>
            <a:r>
              <a:rPr kumimoji="1" lang="zh-CN" altLang="en-US" b="1" dirty="0">
                <a:latin typeface="Times New Roman" pitchFamily="18" charset="0"/>
              </a:rPr>
              <a:t>与</a:t>
            </a:r>
            <a:r>
              <a:rPr kumimoji="1" lang="en-US" altLang="zh-CN" b="1" dirty="0" err="1">
                <a:latin typeface="Times New Roman" pitchFamily="18" charset="0"/>
              </a:rPr>
              <a:t>v</a:t>
            </a:r>
            <a:r>
              <a:rPr kumimoji="1" lang="en-US" altLang="zh-CN" b="1" baseline="-25000" dirty="0" err="1">
                <a:latin typeface="Times New Roman" pitchFamily="18" charset="0"/>
              </a:rPr>
              <a:t>k</a:t>
            </a:r>
            <a:r>
              <a:rPr kumimoji="1" lang="zh-CN" altLang="en-US" b="1" dirty="0">
                <a:latin typeface="Times New Roman" pitchFamily="18" charset="0"/>
              </a:rPr>
              <a:t>不同，则</a:t>
            </a:r>
            <a:r>
              <a:rPr kumimoji="1" lang="en-US" altLang="zh-CN" b="1" dirty="0" err="1">
                <a:latin typeface="Times New Roman" pitchFamily="18" charset="0"/>
              </a:rPr>
              <a:t>deg</a:t>
            </a:r>
            <a:r>
              <a:rPr kumimoji="1" lang="en-US" altLang="zh-CN" b="1" dirty="0">
                <a:latin typeface="Times New Roman" pitchFamily="18" charset="0"/>
              </a:rPr>
              <a:t>(v</a:t>
            </a:r>
            <a:r>
              <a:rPr kumimoji="1" lang="en-US" altLang="zh-CN" b="1" baseline="-25000" dirty="0">
                <a:latin typeface="Times New Roman" pitchFamily="18" charset="0"/>
              </a:rPr>
              <a:t>0</a:t>
            </a:r>
            <a:r>
              <a:rPr kumimoji="1" lang="en-US" altLang="zh-CN" b="1" dirty="0">
                <a:latin typeface="Times New Roman" pitchFamily="18" charset="0"/>
              </a:rPr>
              <a:t>)</a:t>
            </a:r>
            <a:r>
              <a:rPr kumimoji="1" lang="zh-CN" altLang="en-US" b="1" dirty="0">
                <a:latin typeface="Times New Roman" pitchFamily="18" charset="0"/>
              </a:rPr>
              <a:t>为奇数，</a:t>
            </a:r>
            <a:r>
              <a:rPr kumimoji="1" lang="en-US" altLang="zh-CN" b="1" dirty="0" err="1">
                <a:latin typeface="Times New Roman" pitchFamily="18" charset="0"/>
              </a:rPr>
              <a:t>deg</a:t>
            </a:r>
            <a:r>
              <a:rPr kumimoji="1" lang="en-US" altLang="zh-CN" b="1" dirty="0">
                <a:latin typeface="Times New Roman" pitchFamily="18" charset="0"/>
              </a:rPr>
              <a:t>(</a:t>
            </a:r>
            <a:r>
              <a:rPr kumimoji="1" lang="en-US" altLang="zh-CN" b="1" dirty="0" err="1">
                <a:latin typeface="Times New Roman" pitchFamily="18" charset="0"/>
              </a:rPr>
              <a:t>v</a:t>
            </a:r>
            <a:r>
              <a:rPr kumimoji="1" lang="en-US" altLang="zh-CN" b="1" baseline="-25000" dirty="0" err="1">
                <a:latin typeface="Times New Roman" pitchFamily="18" charset="0"/>
              </a:rPr>
              <a:t>k</a:t>
            </a:r>
            <a:r>
              <a:rPr kumimoji="1" lang="en-US" altLang="zh-CN" b="1" dirty="0">
                <a:latin typeface="Times New Roman" pitchFamily="18" charset="0"/>
              </a:rPr>
              <a:t>)</a:t>
            </a:r>
            <a:r>
              <a:rPr kumimoji="1" lang="zh-CN" altLang="en-US" b="1" dirty="0">
                <a:latin typeface="Times New Roman" pitchFamily="18" charset="0"/>
              </a:rPr>
              <a:t>为奇数，</a:t>
            </a:r>
            <a:r>
              <a:rPr kumimoji="1" lang="en-US" altLang="zh-CN" b="1" dirty="0">
                <a:latin typeface="Times New Roman" pitchFamily="18" charset="0"/>
              </a:rPr>
              <a:t>G</a:t>
            </a:r>
            <a:r>
              <a:rPr kumimoji="1" lang="zh-CN" altLang="en-US" b="1" dirty="0">
                <a:latin typeface="Times New Roman" pitchFamily="18" charset="0"/>
              </a:rPr>
              <a:t>中有两个奇数度结点。</a:t>
            </a:r>
          </a:p>
        </p:txBody>
      </p:sp>
      <p:sp>
        <p:nvSpPr>
          <p:cNvPr id="60420" name="Rectangle 5"/>
          <p:cNvSpPr>
            <a:spLocks noChangeArrowheads="1"/>
          </p:cNvSpPr>
          <p:nvPr/>
        </p:nvSpPr>
        <p:spPr bwMode="auto">
          <a:xfrm>
            <a:off x="466725" y="1049338"/>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7-4.1</a:t>
            </a:r>
            <a:r>
              <a:rPr kumimoji="1" lang="zh-CN" altLang="en-US" b="1">
                <a:solidFill>
                  <a:srgbClr val="0000CC"/>
                </a:solidFill>
                <a:latin typeface="Times New Roman" pitchFamily="18" charset="0"/>
              </a:rPr>
              <a:t>：</a:t>
            </a:r>
            <a:r>
              <a:rPr kumimoji="1" lang="zh-CN" altLang="en-US" b="1">
                <a:latin typeface="Times New Roman" pitchFamily="18" charset="0"/>
              </a:rPr>
              <a:t>无向图</a:t>
            </a:r>
            <a:r>
              <a:rPr kumimoji="1" lang="en-US" altLang="zh-CN" b="1">
                <a:latin typeface="Times New Roman" pitchFamily="18" charset="0"/>
              </a:rPr>
              <a:t>G</a:t>
            </a:r>
            <a:r>
              <a:rPr kumimoji="1" lang="zh-CN" altLang="en-US" b="1">
                <a:latin typeface="Times New Roman" pitchFamily="18" charset="0"/>
              </a:rPr>
              <a:t>具有一条欧拉路，当且仅当</a:t>
            </a:r>
            <a:r>
              <a:rPr kumimoji="1" lang="en-US" altLang="zh-CN" b="1">
                <a:latin typeface="Times New Roman" pitchFamily="18" charset="0"/>
              </a:rPr>
              <a:t>G</a:t>
            </a:r>
            <a:r>
              <a:rPr kumimoji="1" lang="zh-CN" altLang="en-US" b="1">
                <a:latin typeface="Times New Roman" pitchFamily="18" charset="0"/>
              </a:rPr>
              <a:t>是连通的，且有零个或两个奇数度结点。</a:t>
            </a:r>
          </a:p>
        </p:txBody>
      </p:sp>
    </p:spTree>
    <p:extLst>
      <p:ext uri="{BB962C8B-B14F-4D97-AF65-F5344CB8AC3E}">
        <p14:creationId xmlns:p14="http://schemas.microsoft.com/office/powerpoint/2010/main" val="2531837693"/>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6083">
                                            <p:txEl>
                                              <p:pRg st="0" end="0"/>
                                            </p:txEl>
                                          </p:spTgt>
                                        </p:tgtEl>
                                        <p:attrNameLst>
                                          <p:attrName>style.visibility</p:attrName>
                                        </p:attrNameLst>
                                      </p:cBhvr>
                                      <p:to>
                                        <p:strVal val="visible"/>
                                      </p:to>
                                    </p:set>
                                    <p:anim calcmode="lin" valueType="num">
                                      <p:cBhvr additive="base">
                                        <p:cTn id="7" dur="500" fill="hold"/>
                                        <p:tgtEl>
                                          <p:spTgt spid="4608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608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6083">
                                            <p:txEl>
                                              <p:pRg st="1" end="1"/>
                                            </p:txEl>
                                          </p:spTgt>
                                        </p:tgtEl>
                                        <p:attrNameLst>
                                          <p:attrName>style.visibility</p:attrName>
                                        </p:attrNameLst>
                                      </p:cBhvr>
                                      <p:to>
                                        <p:strVal val="visible"/>
                                      </p:to>
                                    </p:set>
                                    <p:anim calcmode="lin" valueType="num">
                                      <p:cBhvr additive="base">
                                        <p:cTn id="13" dur="500" fill="hold"/>
                                        <p:tgtEl>
                                          <p:spTgt spid="4608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608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6083">
                                            <p:txEl>
                                              <p:pRg st="2" end="2"/>
                                            </p:txEl>
                                          </p:spTgt>
                                        </p:tgtEl>
                                        <p:attrNameLst>
                                          <p:attrName>style.visibility</p:attrName>
                                        </p:attrNameLst>
                                      </p:cBhvr>
                                      <p:to>
                                        <p:strVal val="visible"/>
                                      </p:to>
                                    </p:set>
                                    <p:anim calcmode="lin" valueType="num">
                                      <p:cBhvr additive="base">
                                        <p:cTn id="19" dur="500" fill="hold"/>
                                        <p:tgtEl>
                                          <p:spTgt spid="4608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608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46083">
                                            <p:txEl>
                                              <p:pRg st="3" end="3"/>
                                            </p:txEl>
                                          </p:spTgt>
                                        </p:tgtEl>
                                        <p:attrNameLst>
                                          <p:attrName>style.visibility</p:attrName>
                                        </p:attrNameLst>
                                      </p:cBhvr>
                                      <p:to>
                                        <p:strVal val="visible"/>
                                      </p:to>
                                    </p:set>
                                    <p:anim calcmode="lin" valueType="num">
                                      <p:cBhvr additive="base">
                                        <p:cTn id="25" dur="500" fill="hold"/>
                                        <p:tgtEl>
                                          <p:spTgt spid="4608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608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46083">
                                            <p:txEl>
                                              <p:pRg st="4" end="4"/>
                                            </p:txEl>
                                          </p:spTgt>
                                        </p:tgtEl>
                                        <p:attrNameLst>
                                          <p:attrName>style.visibility</p:attrName>
                                        </p:attrNameLst>
                                      </p:cBhvr>
                                      <p:to>
                                        <p:strVal val="visible"/>
                                      </p:to>
                                    </p:set>
                                    <p:anim calcmode="lin" valueType="num">
                                      <p:cBhvr additive="base">
                                        <p:cTn id="31" dur="500" fill="hold"/>
                                        <p:tgtEl>
                                          <p:spTgt spid="4608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608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灯片编号占位符 2"/>
          <p:cNvSpPr>
            <a:spLocks noGrp="1"/>
          </p:cNvSpPr>
          <p:nvPr>
            <p:ph type="sldNum" sz="quarter" idx="11"/>
          </p:nvPr>
        </p:nvSpPr>
        <p:spPr/>
        <p:txBody>
          <a:bodyPr/>
          <a:lstStyle/>
          <a:p>
            <a:pPr>
              <a:defRPr/>
            </a:pPr>
            <a:fld id="{286AF020-79C1-416C-A704-A26CADE71F4A}" type="slidenum">
              <a:rPr lang="en-US" altLang="zh-CN"/>
              <a:pPr>
                <a:defRPr/>
              </a:pPr>
              <a:t>60</a:t>
            </a:fld>
            <a:endParaRPr lang="en-US" altLang="zh-CN"/>
          </a:p>
        </p:txBody>
      </p:sp>
      <p:sp>
        <p:nvSpPr>
          <p:cNvPr id="47106" name="Text Box 2"/>
          <p:cNvSpPr txBox="1">
            <a:spLocks noChangeArrowheads="1"/>
          </p:cNvSpPr>
          <p:nvPr/>
        </p:nvSpPr>
        <p:spPr bwMode="auto">
          <a:xfrm>
            <a:off x="466725" y="1052513"/>
            <a:ext cx="8277225" cy="491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10000"/>
              </a:lnSpc>
            </a:pPr>
            <a:r>
              <a:rPr kumimoji="1" lang="zh-CN" altLang="en-US" b="1" dirty="0">
                <a:solidFill>
                  <a:srgbClr val="993300"/>
                </a:solidFill>
                <a:latin typeface="Times New Roman" pitchFamily="18" charset="0"/>
              </a:rPr>
              <a:t>若图</a:t>
            </a:r>
            <a:r>
              <a:rPr kumimoji="1" lang="en-US" altLang="zh-CN" b="1" dirty="0">
                <a:solidFill>
                  <a:srgbClr val="993300"/>
                </a:solidFill>
                <a:latin typeface="Times New Roman" pitchFamily="18" charset="0"/>
              </a:rPr>
              <a:t>G</a:t>
            </a:r>
            <a:r>
              <a:rPr kumimoji="1" lang="zh-CN" altLang="en-US" b="1" dirty="0">
                <a:solidFill>
                  <a:srgbClr val="993300"/>
                </a:solidFill>
                <a:latin typeface="Times New Roman" pitchFamily="18" charset="0"/>
              </a:rPr>
              <a:t>连通，有零个奇数度结点</a:t>
            </a:r>
            <a:r>
              <a:rPr kumimoji="1" lang="zh-CN" altLang="en-US" b="1" dirty="0">
                <a:latin typeface="Times New Roman" pitchFamily="18" charset="0"/>
              </a:rPr>
              <a:t>，下面构造</a:t>
            </a:r>
            <a:r>
              <a:rPr kumimoji="1" lang="en-US" altLang="zh-CN" b="1" dirty="0">
                <a:latin typeface="Times New Roman" pitchFamily="18" charset="0"/>
              </a:rPr>
              <a:t>G</a:t>
            </a:r>
            <a:r>
              <a:rPr kumimoji="1" lang="zh-CN" altLang="en-US" b="1" dirty="0">
                <a:latin typeface="Times New Roman" pitchFamily="18" charset="0"/>
              </a:rPr>
              <a:t>的欧拉回路。</a:t>
            </a:r>
          </a:p>
          <a:p>
            <a:pPr algn="just" eaLnBrk="1" hangingPunct="1">
              <a:lnSpc>
                <a:spcPct val="110000"/>
              </a:lnSpc>
            </a:pPr>
            <a:r>
              <a:rPr kumimoji="1" lang="en-US" altLang="zh-CN" b="1" dirty="0">
                <a:latin typeface="Times New Roman" pitchFamily="18" charset="0"/>
              </a:rPr>
              <a:t>1)</a:t>
            </a:r>
            <a:r>
              <a:rPr kumimoji="1" lang="zh-CN" altLang="en-US" b="1" dirty="0">
                <a:latin typeface="Times New Roman" pitchFamily="18" charset="0"/>
              </a:rPr>
              <a:t>从任一结点</a:t>
            </a:r>
            <a:r>
              <a:rPr kumimoji="1" lang="en-US" altLang="zh-CN" b="1" dirty="0">
                <a:latin typeface="Times New Roman" pitchFamily="18" charset="0"/>
              </a:rPr>
              <a:t>v</a:t>
            </a:r>
            <a:r>
              <a:rPr kumimoji="1" lang="en-US" altLang="zh-CN" b="1" baseline="-25000" dirty="0">
                <a:latin typeface="Times New Roman" pitchFamily="18" charset="0"/>
              </a:rPr>
              <a:t>0</a:t>
            </a:r>
            <a:r>
              <a:rPr kumimoji="1" lang="zh-CN" altLang="en-US" b="1" dirty="0">
                <a:latin typeface="Times New Roman" pitchFamily="18" charset="0"/>
              </a:rPr>
              <a:t>开始，取关联于</a:t>
            </a:r>
            <a:r>
              <a:rPr kumimoji="1" lang="en-US" altLang="zh-CN" b="1" dirty="0">
                <a:latin typeface="Times New Roman" pitchFamily="18" charset="0"/>
              </a:rPr>
              <a:t>v</a:t>
            </a:r>
            <a:r>
              <a:rPr kumimoji="1" lang="en-US" altLang="zh-CN" b="1" baseline="-25000" dirty="0">
                <a:latin typeface="Times New Roman" pitchFamily="18" charset="0"/>
              </a:rPr>
              <a:t>0</a:t>
            </a:r>
            <a:r>
              <a:rPr kumimoji="1" lang="zh-CN" altLang="en-US" b="1" dirty="0">
                <a:latin typeface="Times New Roman" pitchFamily="18" charset="0"/>
              </a:rPr>
              <a:t>的边</a:t>
            </a:r>
            <a:r>
              <a:rPr kumimoji="1" lang="en-US" altLang="zh-CN" b="1" dirty="0">
                <a:latin typeface="Times New Roman" pitchFamily="18" charset="0"/>
              </a:rPr>
              <a:t>e</a:t>
            </a:r>
            <a:r>
              <a:rPr kumimoji="1" lang="en-US" altLang="zh-CN" b="1" baseline="-25000" dirty="0">
                <a:latin typeface="Times New Roman" pitchFamily="18" charset="0"/>
              </a:rPr>
              <a:t>1</a:t>
            </a:r>
            <a:r>
              <a:rPr kumimoji="1" lang="zh-CN" altLang="en-US" b="1" dirty="0">
                <a:latin typeface="Times New Roman" pitchFamily="18" charset="0"/>
              </a:rPr>
              <a:t>到</a:t>
            </a:r>
            <a:r>
              <a:rPr kumimoji="1" lang="en-US" altLang="zh-CN" b="1" dirty="0">
                <a:latin typeface="Times New Roman" pitchFamily="18" charset="0"/>
              </a:rPr>
              <a:t>v</a:t>
            </a:r>
            <a:r>
              <a:rPr kumimoji="1" lang="en-US" altLang="zh-CN" b="1" baseline="-25000" dirty="0">
                <a:latin typeface="Times New Roman" pitchFamily="18" charset="0"/>
              </a:rPr>
              <a:t>1</a:t>
            </a:r>
            <a:r>
              <a:rPr kumimoji="1" lang="zh-CN" altLang="en-US" b="1" dirty="0">
                <a:latin typeface="Times New Roman" pitchFamily="18" charset="0"/>
              </a:rPr>
              <a:t>，因</a:t>
            </a:r>
            <a:r>
              <a:rPr kumimoji="1" lang="en-US" altLang="zh-CN" b="1" dirty="0" err="1">
                <a:latin typeface="Times New Roman" pitchFamily="18" charset="0"/>
              </a:rPr>
              <a:t>deg</a:t>
            </a:r>
            <a:r>
              <a:rPr kumimoji="1" lang="en-US" altLang="zh-CN" b="1" dirty="0">
                <a:latin typeface="Times New Roman" pitchFamily="18" charset="0"/>
              </a:rPr>
              <a:t>(v</a:t>
            </a:r>
            <a:r>
              <a:rPr kumimoji="1" lang="en-US" altLang="zh-CN" b="1" baseline="-25000" dirty="0">
                <a:latin typeface="Times New Roman" pitchFamily="18" charset="0"/>
              </a:rPr>
              <a:t>1</a:t>
            </a:r>
            <a:r>
              <a:rPr kumimoji="1" lang="en-US" altLang="zh-CN" b="1" dirty="0">
                <a:latin typeface="Times New Roman" pitchFamily="18" charset="0"/>
              </a:rPr>
              <a:t>)</a:t>
            </a:r>
            <a:r>
              <a:rPr kumimoji="1" lang="zh-CN" altLang="en-US" b="1" dirty="0">
                <a:latin typeface="Times New Roman" pitchFamily="18" charset="0"/>
              </a:rPr>
              <a:t>为偶数，故可取关联与</a:t>
            </a:r>
            <a:r>
              <a:rPr kumimoji="1" lang="en-US" altLang="zh-CN" b="1" dirty="0">
                <a:latin typeface="Times New Roman" pitchFamily="18" charset="0"/>
              </a:rPr>
              <a:t>v</a:t>
            </a:r>
            <a:r>
              <a:rPr kumimoji="1" lang="en-US" altLang="zh-CN" b="1" baseline="-25000" dirty="0">
                <a:latin typeface="Times New Roman" pitchFamily="18" charset="0"/>
              </a:rPr>
              <a:t>1</a:t>
            </a:r>
            <a:r>
              <a:rPr kumimoji="1" lang="zh-CN" altLang="en-US" b="1" dirty="0">
                <a:latin typeface="Times New Roman" pitchFamily="18" charset="0"/>
              </a:rPr>
              <a:t>而不同于</a:t>
            </a:r>
            <a:r>
              <a:rPr kumimoji="1" lang="en-US" altLang="zh-CN" b="1" dirty="0">
                <a:latin typeface="Times New Roman" pitchFamily="18" charset="0"/>
              </a:rPr>
              <a:t>e</a:t>
            </a:r>
            <a:r>
              <a:rPr kumimoji="1" lang="en-US" altLang="zh-CN" b="1" baseline="-25000" dirty="0">
                <a:latin typeface="Times New Roman" pitchFamily="18" charset="0"/>
              </a:rPr>
              <a:t>1</a:t>
            </a:r>
            <a:r>
              <a:rPr kumimoji="1" lang="zh-CN" altLang="en-US" b="1" dirty="0">
                <a:latin typeface="Times New Roman" pitchFamily="18" charset="0"/>
              </a:rPr>
              <a:t>的边</a:t>
            </a:r>
            <a:r>
              <a:rPr kumimoji="1" lang="en-US" altLang="zh-CN" b="1" dirty="0">
                <a:latin typeface="Times New Roman" pitchFamily="18" charset="0"/>
              </a:rPr>
              <a:t>e</a:t>
            </a:r>
            <a:r>
              <a:rPr kumimoji="1" lang="en-US" altLang="zh-CN" b="1" baseline="-25000" dirty="0">
                <a:latin typeface="Times New Roman" pitchFamily="18" charset="0"/>
              </a:rPr>
              <a:t>2</a:t>
            </a:r>
            <a:r>
              <a:rPr kumimoji="1" lang="en-US" altLang="zh-CN" b="1" dirty="0">
                <a:latin typeface="Times New Roman" pitchFamily="18" charset="0"/>
              </a:rPr>
              <a:t>(e</a:t>
            </a:r>
            <a:r>
              <a:rPr kumimoji="1" lang="en-US" altLang="zh-CN" b="1" baseline="-25000" dirty="0">
                <a:latin typeface="Times New Roman" pitchFamily="18" charset="0"/>
              </a:rPr>
              <a:t>1</a:t>
            </a:r>
            <a:r>
              <a:rPr kumimoji="1" lang="en-US" altLang="zh-CN" b="1" dirty="0">
                <a:solidFill>
                  <a:schemeClr val="bg2"/>
                </a:solidFill>
                <a:latin typeface="Times New Roman" pitchFamily="18" charset="0"/>
              </a:rPr>
              <a:t>≠e</a:t>
            </a:r>
            <a:r>
              <a:rPr kumimoji="1" lang="en-US" altLang="zh-CN" b="1" baseline="-25000" dirty="0">
                <a:solidFill>
                  <a:schemeClr val="bg2"/>
                </a:solidFill>
                <a:latin typeface="Times New Roman" pitchFamily="18" charset="0"/>
              </a:rPr>
              <a:t>2</a:t>
            </a:r>
            <a:r>
              <a:rPr kumimoji="1" lang="en-US" altLang="zh-CN" b="1" dirty="0">
                <a:latin typeface="Times New Roman" pitchFamily="18" charset="0"/>
              </a:rPr>
              <a:t>)</a:t>
            </a:r>
            <a:r>
              <a:rPr kumimoji="1" lang="zh-CN" altLang="en-US" b="1" dirty="0">
                <a:latin typeface="Times New Roman" pitchFamily="18" charset="0"/>
              </a:rPr>
              <a:t>到</a:t>
            </a:r>
            <a:r>
              <a:rPr kumimoji="1" lang="en-US" altLang="zh-CN" b="1" dirty="0">
                <a:latin typeface="Times New Roman" pitchFamily="18" charset="0"/>
              </a:rPr>
              <a:t>v</a:t>
            </a:r>
            <a:r>
              <a:rPr kumimoji="1" lang="en-US" altLang="zh-CN" b="1" baseline="-25000" dirty="0">
                <a:latin typeface="Times New Roman" pitchFamily="18" charset="0"/>
              </a:rPr>
              <a:t>2</a:t>
            </a:r>
            <a:r>
              <a:rPr kumimoji="1" lang="zh-CN" altLang="en-US" b="1" dirty="0">
                <a:latin typeface="Times New Roman" pitchFamily="18" charset="0"/>
              </a:rPr>
              <a:t>，</a:t>
            </a:r>
            <a:r>
              <a:rPr kumimoji="1" lang="en-US" altLang="zh-CN" b="1" dirty="0">
                <a:latin typeface="Times New Roman" pitchFamily="18" charset="0"/>
              </a:rPr>
              <a:t>…</a:t>
            </a:r>
            <a:r>
              <a:rPr kumimoji="1" lang="zh-CN" altLang="en-US" b="1" dirty="0">
                <a:latin typeface="Times New Roman" pitchFamily="18" charset="0"/>
              </a:rPr>
              <a:t>，一直下去，</a:t>
            </a:r>
            <a:r>
              <a:rPr kumimoji="1" lang="en-US" altLang="zh-CN" b="1" dirty="0">
                <a:latin typeface="Times New Roman" pitchFamily="18" charset="0"/>
              </a:rPr>
              <a:t>(</a:t>
            </a:r>
            <a:r>
              <a:rPr kumimoji="1" lang="zh-CN" altLang="en-US" b="1" dirty="0">
                <a:latin typeface="Times New Roman" pitchFamily="18" charset="0"/>
              </a:rPr>
              <a:t>在此过程中每边只取一次</a:t>
            </a:r>
            <a:r>
              <a:rPr kumimoji="1" lang="en-US" altLang="zh-CN" b="1" dirty="0">
                <a:latin typeface="Times New Roman" pitchFamily="18" charset="0"/>
              </a:rPr>
              <a:t>)</a:t>
            </a:r>
            <a:r>
              <a:rPr kumimoji="1" lang="zh-CN" altLang="en-US" b="1" dirty="0">
                <a:latin typeface="Times New Roman" pitchFamily="18" charset="0"/>
              </a:rPr>
              <a:t>，直到回到结点</a:t>
            </a:r>
            <a:r>
              <a:rPr kumimoji="1" lang="en-US" altLang="zh-CN" b="1" dirty="0">
                <a:latin typeface="Times New Roman" pitchFamily="18" charset="0"/>
              </a:rPr>
              <a:t>v</a:t>
            </a:r>
            <a:r>
              <a:rPr kumimoji="1" lang="en-US" altLang="zh-CN" b="1" baseline="-25000" dirty="0">
                <a:latin typeface="Times New Roman" pitchFamily="18" charset="0"/>
              </a:rPr>
              <a:t>0</a:t>
            </a:r>
            <a:r>
              <a:rPr kumimoji="1" lang="zh-CN" altLang="en-US" b="1" dirty="0">
                <a:latin typeface="Times New Roman" pitchFamily="18" charset="0"/>
              </a:rPr>
              <a:t>，得到一条闭迹</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=v</a:t>
            </a:r>
            <a:r>
              <a:rPr kumimoji="1" lang="en-US" altLang="zh-CN" b="1" baseline="-25000" dirty="0">
                <a:latin typeface="Times New Roman" pitchFamily="18" charset="0"/>
              </a:rPr>
              <a:t>0</a:t>
            </a:r>
            <a:r>
              <a:rPr kumimoji="1" lang="en-US" altLang="zh-CN" b="1" dirty="0">
                <a:latin typeface="Times New Roman" pitchFamily="18" charset="0"/>
              </a:rPr>
              <a:t>e</a:t>
            </a:r>
            <a:r>
              <a:rPr kumimoji="1" lang="en-US" altLang="zh-CN" b="1" baseline="-25000" dirty="0">
                <a:latin typeface="Times New Roman" pitchFamily="18" charset="0"/>
              </a:rPr>
              <a:t>1</a:t>
            </a:r>
            <a:r>
              <a:rPr kumimoji="1" lang="en-US" altLang="zh-CN" b="1" dirty="0">
                <a:latin typeface="Times New Roman" pitchFamily="18" charset="0"/>
              </a:rPr>
              <a:t>v</a:t>
            </a:r>
            <a:r>
              <a:rPr kumimoji="1" lang="en-US" altLang="zh-CN" b="1" baseline="-25000" dirty="0">
                <a:latin typeface="Times New Roman" pitchFamily="18" charset="0"/>
              </a:rPr>
              <a:t>1</a:t>
            </a:r>
            <a:r>
              <a:rPr kumimoji="1" lang="en-US" altLang="zh-CN" b="1" dirty="0">
                <a:latin typeface="Times New Roman" pitchFamily="18" charset="0"/>
              </a:rPr>
              <a:t>e</a:t>
            </a:r>
            <a:r>
              <a:rPr kumimoji="1" lang="en-US" altLang="zh-CN" b="1" baseline="-25000" dirty="0">
                <a:latin typeface="Times New Roman" pitchFamily="18" charset="0"/>
              </a:rPr>
              <a:t>2</a:t>
            </a:r>
            <a:r>
              <a:rPr kumimoji="1" lang="en-US" altLang="zh-CN" b="1" dirty="0">
                <a:latin typeface="Times New Roman" pitchFamily="18" charset="0"/>
              </a:rPr>
              <a:t>…v</a:t>
            </a:r>
            <a:r>
              <a:rPr kumimoji="1" lang="en-US" altLang="zh-CN" b="1" baseline="-25000" dirty="0">
                <a:latin typeface="Times New Roman" pitchFamily="18" charset="0"/>
              </a:rPr>
              <a:t>i</a:t>
            </a:r>
            <a:r>
              <a:rPr kumimoji="1" lang="en-US" altLang="zh-CN" b="1" dirty="0">
                <a:latin typeface="Times New Roman" pitchFamily="18" charset="0"/>
              </a:rPr>
              <a:t>e</a:t>
            </a:r>
            <a:r>
              <a:rPr kumimoji="1" lang="en-US" altLang="zh-CN" b="1" baseline="-25000" dirty="0">
                <a:latin typeface="Times New Roman" pitchFamily="18" charset="0"/>
              </a:rPr>
              <a:t>i+1</a:t>
            </a:r>
            <a:r>
              <a:rPr kumimoji="1" lang="en-US" altLang="zh-CN" b="1" dirty="0">
                <a:latin typeface="Times New Roman" pitchFamily="18" charset="0"/>
              </a:rPr>
              <a:t>…v</a:t>
            </a:r>
            <a:r>
              <a:rPr kumimoji="1" lang="en-US" altLang="zh-CN" b="1" baseline="-25000" dirty="0">
                <a:latin typeface="Times New Roman" pitchFamily="18" charset="0"/>
              </a:rPr>
              <a:t>0</a:t>
            </a:r>
            <a:r>
              <a:rPr kumimoji="1" lang="zh-CN" altLang="en-US" b="1" dirty="0">
                <a:latin typeface="Times New Roman" pitchFamily="18" charset="0"/>
              </a:rPr>
              <a:t>。</a:t>
            </a:r>
          </a:p>
          <a:p>
            <a:pPr algn="just" eaLnBrk="1" hangingPunct="1">
              <a:lnSpc>
                <a:spcPct val="110000"/>
              </a:lnSpc>
            </a:pPr>
            <a:r>
              <a:rPr kumimoji="1" lang="en-US" altLang="zh-CN" b="1" dirty="0">
                <a:latin typeface="Times New Roman" pitchFamily="18" charset="0"/>
              </a:rPr>
              <a:t>2)</a:t>
            </a:r>
            <a:r>
              <a:rPr kumimoji="1" lang="zh-CN" altLang="en-US" b="1" dirty="0">
                <a:latin typeface="Times New Roman" pitchFamily="18" charset="0"/>
              </a:rPr>
              <a:t>若</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=G</a:t>
            </a:r>
            <a:r>
              <a:rPr kumimoji="1" lang="zh-CN" altLang="en-US" b="1" dirty="0">
                <a:latin typeface="Times New Roman" pitchFamily="18" charset="0"/>
              </a:rPr>
              <a:t>，则</a:t>
            </a:r>
            <a:r>
              <a:rPr kumimoji="1" lang="en-US" altLang="zh-CN" b="1" dirty="0">
                <a:latin typeface="Times New Roman" pitchFamily="18" charset="0"/>
              </a:rPr>
              <a:t>h</a:t>
            </a:r>
            <a:r>
              <a:rPr kumimoji="1" lang="en-US" altLang="zh-CN" b="1" baseline="-25000" dirty="0">
                <a:latin typeface="Times New Roman" pitchFamily="18" charset="0"/>
              </a:rPr>
              <a:t>1</a:t>
            </a:r>
            <a:r>
              <a:rPr kumimoji="1" lang="zh-CN" altLang="en-US" b="1" dirty="0">
                <a:latin typeface="Times New Roman" pitchFamily="18" charset="0"/>
              </a:rPr>
              <a:t>是欧拉回路，否则，令</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’=G(E(G)-E(h</a:t>
            </a:r>
            <a:r>
              <a:rPr kumimoji="1" lang="en-US" altLang="zh-CN" b="1" baseline="-25000" dirty="0">
                <a:latin typeface="Times New Roman" pitchFamily="18" charset="0"/>
              </a:rPr>
              <a:t>1</a:t>
            </a:r>
            <a:r>
              <a:rPr kumimoji="1" lang="en-US" altLang="zh-CN" b="1" dirty="0">
                <a:latin typeface="Times New Roman" pitchFamily="18" charset="0"/>
              </a:rPr>
              <a:t>))</a:t>
            </a:r>
            <a:r>
              <a:rPr kumimoji="1" lang="zh-CN" altLang="en-US" b="1" dirty="0">
                <a:latin typeface="Times New Roman" pitchFamily="18" charset="0"/>
              </a:rPr>
              <a:t>，即</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a:t>
            </a:r>
            <a:r>
              <a:rPr kumimoji="1" lang="zh-CN" altLang="en-US" b="1" dirty="0">
                <a:latin typeface="Times New Roman" pitchFamily="18" charset="0"/>
              </a:rPr>
              <a:t>是</a:t>
            </a:r>
            <a:r>
              <a:rPr kumimoji="1" lang="en-US" altLang="zh-CN" b="1" dirty="0">
                <a:latin typeface="Times New Roman" pitchFamily="18" charset="0"/>
              </a:rPr>
              <a:t>G</a:t>
            </a:r>
            <a:r>
              <a:rPr kumimoji="1" lang="zh-CN" altLang="en-US" b="1" dirty="0">
                <a:latin typeface="Times New Roman" pitchFamily="18" charset="0"/>
              </a:rPr>
              <a:t>中删去</a:t>
            </a:r>
            <a:r>
              <a:rPr kumimoji="1" lang="en-US" altLang="zh-CN" b="1" dirty="0">
                <a:latin typeface="Times New Roman" pitchFamily="18" charset="0"/>
              </a:rPr>
              <a:t>h</a:t>
            </a:r>
            <a:r>
              <a:rPr kumimoji="1" lang="en-US" altLang="zh-CN" b="1" baseline="-25000" dirty="0">
                <a:latin typeface="Times New Roman" pitchFamily="18" charset="0"/>
              </a:rPr>
              <a:t>1</a:t>
            </a:r>
            <a:r>
              <a:rPr kumimoji="1" lang="zh-CN" altLang="en-US" b="1" dirty="0">
                <a:latin typeface="Times New Roman" pitchFamily="18" charset="0"/>
              </a:rPr>
              <a:t>中的所有边后由剩余边形成的子图。则</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a:t>
            </a:r>
            <a:r>
              <a:rPr kumimoji="1" lang="zh-CN" altLang="en-US" b="1" dirty="0">
                <a:latin typeface="Times New Roman" pitchFamily="18" charset="0"/>
              </a:rPr>
              <a:t>中结点的度数均为偶数。因</a:t>
            </a:r>
            <a:r>
              <a:rPr kumimoji="1" lang="en-US" altLang="zh-CN" b="1" dirty="0">
                <a:latin typeface="Times New Roman" pitchFamily="18" charset="0"/>
              </a:rPr>
              <a:t>G</a:t>
            </a:r>
            <a:r>
              <a:rPr kumimoji="1" lang="zh-CN" altLang="en-US" b="1" dirty="0">
                <a:latin typeface="Times New Roman" pitchFamily="18" charset="0"/>
              </a:rPr>
              <a:t>是连通的，故</a:t>
            </a:r>
            <a:r>
              <a:rPr kumimoji="1" lang="en-US" altLang="zh-CN" b="1" dirty="0">
                <a:latin typeface="Times New Roman" pitchFamily="18" charset="0"/>
              </a:rPr>
              <a:t>h</a:t>
            </a:r>
            <a:r>
              <a:rPr kumimoji="1" lang="en-US" altLang="zh-CN" b="1" baseline="-25000" dirty="0">
                <a:latin typeface="Times New Roman" pitchFamily="18" charset="0"/>
              </a:rPr>
              <a:t>1</a:t>
            </a:r>
            <a:r>
              <a:rPr kumimoji="1" lang="zh-CN" altLang="en-US" b="1" dirty="0">
                <a:latin typeface="Times New Roman" pitchFamily="18" charset="0"/>
              </a:rPr>
              <a:t>和</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a:t>
            </a:r>
            <a:r>
              <a:rPr kumimoji="1" lang="zh-CN" altLang="en-US" b="1" dirty="0">
                <a:latin typeface="Times New Roman" pitchFamily="18" charset="0"/>
              </a:rPr>
              <a:t>必有公共的结点</a:t>
            </a:r>
            <a:r>
              <a:rPr kumimoji="1" lang="en-US" altLang="zh-CN" b="1" dirty="0">
                <a:latin typeface="Times New Roman" pitchFamily="18" charset="0"/>
              </a:rPr>
              <a:t>v</a:t>
            </a:r>
            <a:r>
              <a:rPr kumimoji="1" lang="en-US" altLang="zh-CN" b="1" baseline="-25000" dirty="0">
                <a:latin typeface="Times New Roman" pitchFamily="18" charset="0"/>
              </a:rPr>
              <a:t>i</a:t>
            </a:r>
            <a:r>
              <a:rPr kumimoji="1" lang="zh-CN" altLang="en-US" b="1" dirty="0">
                <a:latin typeface="Times New Roman" pitchFamily="18" charset="0"/>
              </a:rPr>
              <a:t>，在</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a:t>
            </a:r>
            <a:r>
              <a:rPr kumimoji="1" lang="zh-CN" altLang="en-US" b="1" dirty="0">
                <a:latin typeface="Times New Roman" pitchFamily="18" charset="0"/>
              </a:rPr>
              <a:t>中从</a:t>
            </a:r>
            <a:r>
              <a:rPr kumimoji="1" lang="en-US" altLang="zh-CN" b="1" dirty="0">
                <a:latin typeface="Times New Roman" pitchFamily="18" charset="0"/>
              </a:rPr>
              <a:t>v</a:t>
            </a:r>
            <a:r>
              <a:rPr kumimoji="1" lang="en-US" altLang="zh-CN" b="1" baseline="-25000" dirty="0">
                <a:latin typeface="Times New Roman" pitchFamily="18" charset="0"/>
              </a:rPr>
              <a:t>i</a:t>
            </a:r>
            <a:r>
              <a:rPr kumimoji="1" lang="zh-CN" altLang="en-US" b="1" dirty="0">
                <a:latin typeface="Times New Roman" pitchFamily="18" charset="0"/>
              </a:rPr>
              <a:t>出发继续步骤</a:t>
            </a:r>
            <a:r>
              <a:rPr kumimoji="1" lang="en-US" altLang="zh-CN" b="1" dirty="0">
                <a:latin typeface="Times New Roman" pitchFamily="18" charset="0"/>
              </a:rPr>
              <a:t>1)</a:t>
            </a:r>
            <a:r>
              <a:rPr kumimoji="1" lang="zh-CN" altLang="en-US" b="1" dirty="0">
                <a:latin typeface="Times New Roman" pitchFamily="18" charset="0"/>
              </a:rPr>
              <a:t>得到闭迹</a:t>
            </a:r>
            <a:r>
              <a:rPr kumimoji="1" lang="en-US" altLang="zh-CN" b="1" dirty="0">
                <a:latin typeface="Times New Roman" pitchFamily="18" charset="0"/>
              </a:rPr>
              <a:t>h</a:t>
            </a:r>
            <a:r>
              <a:rPr kumimoji="1" lang="en-US" altLang="zh-CN" b="1" baseline="-25000" dirty="0">
                <a:latin typeface="Times New Roman" pitchFamily="18" charset="0"/>
              </a:rPr>
              <a:t>2</a:t>
            </a:r>
            <a:r>
              <a:rPr kumimoji="1" lang="en-US" altLang="zh-CN" b="1" dirty="0">
                <a:latin typeface="Times New Roman" pitchFamily="18" charset="0"/>
              </a:rPr>
              <a:t>=v</a:t>
            </a:r>
            <a:r>
              <a:rPr kumimoji="1" lang="en-US" altLang="zh-CN" b="1" baseline="-25000" dirty="0">
                <a:latin typeface="Times New Roman" pitchFamily="18" charset="0"/>
              </a:rPr>
              <a:t>i</a:t>
            </a:r>
            <a:r>
              <a:rPr kumimoji="1" lang="en-US" altLang="zh-CN" b="1" dirty="0">
                <a:latin typeface="Times New Roman" pitchFamily="18" charset="0"/>
              </a:rPr>
              <a:t>……v</a:t>
            </a:r>
            <a:r>
              <a:rPr kumimoji="1" lang="en-US" altLang="zh-CN" b="1" baseline="-25000" dirty="0">
                <a:latin typeface="Times New Roman" pitchFamily="18" charset="0"/>
              </a:rPr>
              <a:t>i</a:t>
            </a:r>
            <a:r>
              <a:rPr kumimoji="1" lang="zh-CN" altLang="en-US" b="1" dirty="0">
                <a:latin typeface="Times New Roman" pitchFamily="18" charset="0"/>
              </a:rPr>
              <a:t>。</a:t>
            </a:r>
          </a:p>
          <a:p>
            <a:pPr algn="just" eaLnBrk="1" hangingPunct="1">
              <a:lnSpc>
                <a:spcPct val="110000"/>
              </a:lnSpc>
            </a:pPr>
            <a:r>
              <a:rPr kumimoji="1" lang="en-US" altLang="zh-CN" b="1" dirty="0">
                <a:latin typeface="Times New Roman" pitchFamily="18" charset="0"/>
              </a:rPr>
              <a:t>3)</a:t>
            </a:r>
            <a:r>
              <a:rPr kumimoji="1" lang="zh-CN" altLang="en-US" b="1" dirty="0">
                <a:latin typeface="Times New Roman" pitchFamily="18" charset="0"/>
              </a:rPr>
              <a:t>若</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solidFill>
                  <a:schemeClr val="bg2"/>
                </a:solidFill>
                <a:latin typeface="Times New Roman" pitchFamily="18" charset="0"/>
              </a:rPr>
              <a:t>∪h</a:t>
            </a:r>
            <a:r>
              <a:rPr kumimoji="1" lang="en-US" altLang="zh-CN" b="1" baseline="-25000" dirty="0">
                <a:latin typeface="Times New Roman" pitchFamily="18" charset="0"/>
              </a:rPr>
              <a:t>2</a:t>
            </a:r>
            <a:r>
              <a:rPr kumimoji="1" lang="en-US" altLang="zh-CN" b="1" dirty="0">
                <a:solidFill>
                  <a:schemeClr val="bg2"/>
                </a:solidFill>
                <a:latin typeface="Times New Roman" pitchFamily="18" charset="0"/>
              </a:rPr>
              <a:t>=G</a:t>
            </a:r>
            <a:r>
              <a:rPr kumimoji="1" lang="zh-CN" altLang="en-US" b="1" dirty="0">
                <a:solidFill>
                  <a:schemeClr val="bg2"/>
                </a:solidFill>
                <a:latin typeface="Times New Roman" pitchFamily="18" charset="0"/>
              </a:rPr>
              <a:t>，则</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solidFill>
                  <a:schemeClr val="bg2"/>
                </a:solidFill>
                <a:latin typeface="Times New Roman" pitchFamily="18" charset="0"/>
              </a:rPr>
              <a:t>∪h</a:t>
            </a:r>
            <a:r>
              <a:rPr kumimoji="1" lang="en-US" altLang="zh-CN" b="1" baseline="-25000" dirty="0">
                <a:latin typeface="Times New Roman" pitchFamily="18" charset="0"/>
              </a:rPr>
              <a:t>2</a:t>
            </a:r>
            <a:r>
              <a:rPr kumimoji="1" lang="zh-CN" altLang="en-US" b="1" dirty="0">
                <a:solidFill>
                  <a:schemeClr val="bg2"/>
                </a:solidFill>
                <a:latin typeface="Times New Roman" pitchFamily="18" charset="0"/>
              </a:rPr>
              <a:t>是欧拉回路，否则重复步骤</a:t>
            </a:r>
            <a:r>
              <a:rPr kumimoji="1" lang="en-US" altLang="zh-CN" b="1" dirty="0">
                <a:solidFill>
                  <a:schemeClr val="bg2"/>
                </a:solidFill>
                <a:latin typeface="Times New Roman" pitchFamily="18" charset="0"/>
              </a:rPr>
              <a:t>2)</a:t>
            </a:r>
            <a:r>
              <a:rPr kumimoji="1" lang="zh-CN" altLang="en-US" b="1" dirty="0">
                <a:solidFill>
                  <a:schemeClr val="bg2"/>
                </a:solidFill>
                <a:latin typeface="Times New Roman" pitchFamily="18" charset="0"/>
              </a:rPr>
              <a:t>，直到构造一条包含</a:t>
            </a:r>
            <a:r>
              <a:rPr kumimoji="1" lang="en-US" altLang="zh-CN" b="1" dirty="0">
                <a:solidFill>
                  <a:schemeClr val="bg2"/>
                </a:solidFill>
                <a:latin typeface="Times New Roman" pitchFamily="18" charset="0"/>
              </a:rPr>
              <a:t>G</a:t>
            </a:r>
            <a:r>
              <a:rPr kumimoji="1" lang="zh-CN" altLang="en-US" b="1" dirty="0">
                <a:solidFill>
                  <a:schemeClr val="bg2"/>
                </a:solidFill>
                <a:latin typeface="Times New Roman" pitchFamily="18" charset="0"/>
              </a:rPr>
              <a:t>中所有边的闭迹为止，此闭迹即为欧拉回路。</a:t>
            </a:r>
          </a:p>
        </p:txBody>
      </p:sp>
      <p:sp>
        <p:nvSpPr>
          <p:cNvPr id="47111" name="AutoShape 7"/>
          <p:cNvSpPr>
            <a:spLocks noChangeArrowheads="1"/>
          </p:cNvSpPr>
          <p:nvPr/>
        </p:nvSpPr>
        <p:spPr bwMode="auto">
          <a:xfrm>
            <a:off x="3203575" y="5591175"/>
            <a:ext cx="2663825" cy="1130300"/>
          </a:xfrm>
          <a:prstGeom prst="hexagon">
            <a:avLst>
              <a:gd name="adj" fmla="val 58919"/>
              <a:gd name="vf" fmla="val 115470"/>
            </a:avLst>
          </a:prstGeom>
          <a:noFill/>
          <a:ln w="28575" algn="ctr">
            <a:solidFill>
              <a:schemeClr val="hlink"/>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47112" name="Group 8"/>
          <p:cNvGrpSpPr>
            <a:grpSpLocks/>
          </p:cNvGrpSpPr>
          <p:nvPr/>
        </p:nvGrpSpPr>
        <p:grpSpPr bwMode="auto">
          <a:xfrm>
            <a:off x="3851275" y="5591175"/>
            <a:ext cx="1368425" cy="1150938"/>
            <a:chOff x="1111" y="3385"/>
            <a:chExt cx="862" cy="725"/>
          </a:xfrm>
        </p:grpSpPr>
        <p:sp>
          <p:nvSpPr>
            <p:cNvPr id="61453" name="Line 9"/>
            <p:cNvSpPr>
              <a:spLocks noChangeShapeType="1"/>
            </p:cNvSpPr>
            <p:nvPr/>
          </p:nvSpPr>
          <p:spPr bwMode="auto">
            <a:xfrm>
              <a:off x="1111" y="3385"/>
              <a:ext cx="0" cy="725"/>
            </a:xfrm>
            <a:prstGeom prst="line">
              <a:avLst/>
            </a:prstGeom>
            <a:noFill/>
            <a:ln w="28575">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4" name="Line 10"/>
            <p:cNvSpPr>
              <a:spLocks noChangeShapeType="1"/>
            </p:cNvSpPr>
            <p:nvPr/>
          </p:nvSpPr>
          <p:spPr bwMode="auto">
            <a:xfrm>
              <a:off x="1111" y="3385"/>
              <a:ext cx="862" cy="725"/>
            </a:xfrm>
            <a:prstGeom prst="line">
              <a:avLst/>
            </a:prstGeom>
            <a:noFill/>
            <a:ln w="28575">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5" name="Line 11"/>
            <p:cNvSpPr>
              <a:spLocks noChangeShapeType="1"/>
            </p:cNvSpPr>
            <p:nvPr/>
          </p:nvSpPr>
          <p:spPr bwMode="auto">
            <a:xfrm>
              <a:off x="1973" y="3385"/>
              <a:ext cx="0" cy="725"/>
            </a:xfrm>
            <a:prstGeom prst="line">
              <a:avLst/>
            </a:prstGeom>
            <a:noFill/>
            <a:ln w="28575">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6" name="Line 12"/>
            <p:cNvSpPr>
              <a:spLocks noChangeShapeType="1"/>
            </p:cNvSpPr>
            <p:nvPr/>
          </p:nvSpPr>
          <p:spPr bwMode="auto">
            <a:xfrm flipH="1">
              <a:off x="1111" y="3385"/>
              <a:ext cx="862" cy="725"/>
            </a:xfrm>
            <a:prstGeom prst="line">
              <a:avLst/>
            </a:prstGeom>
            <a:noFill/>
            <a:ln w="28575">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1446" name="Rectangle 19"/>
          <p:cNvSpPr>
            <a:spLocks noChangeArrowheads="1"/>
          </p:cNvSpPr>
          <p:nvPr/>
        </p:nvSpPr>
        <p:spPr bwMode="auto">
          <a:xfrm>
            <a:off x="1028700" y="476250"/>
            <a:ext cx="3529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b="1">
                <a:solidFill>
                  <a:srgbClr val="008000"/>
                </a:solidFill>
                <a:latin typeface="Times New Roman" pitchFamily="18" charset="0"/>
              </a:rPr>
              <a:t>(2)</a:t>
            </a:r>
            <a:r>
              <a:rPr lang="zh-CN" altLang="en-US" b="1">
                <a:solidFill>
                  <a:srgbClr val="008000"/>
                </a:solidFill>
                <a:latin typeface="Times New Roman" pitchFamily="18" charset="0"/>
              </a:rPr>
              <a:t>充</a:t>
            </a:r>
            <a:r>
              <a:rPr kumimoji="1" lang="zh-CN" altLang="en-US" b="1">
                <a:solidFill>
                  <a:srgbClr val="008000"/>
                </a:solidFill>
                <a:latin typeface="Times New Roman" pitchFamily="18" charset="0"/>
              </a:rPr>
              <a:t>分性</a:t>
            </a:r>
          </a:p>
        </p:txBody>
      </p:sp>
      <p:sp>
        <p:nvSpPr>
          <p:cNvPr id="47125" name="Rectangle 21"/>
          <p:cNvSpPr>
            <a:spLocks noChangeArrowheads="1"/>
          </p:cNvSpPr>
          <p:nvPr/>
        </p:nvSpPr>
        <p:spPr bwMode="auto">
          <a:xfrm>
            <a:off x="2700338" y="5949950"/>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latin typeface="Times New Roman" pitchFamily="18" charset="0"/>
              </a:rPr>
              <a:t>v</a:t>
            </a:r>
            <a:r>
              <a:rPr kumimoji="1" lang="en-US" altLang="zh-CN" b="1" baseline="-25000">
                <a:latin typeface="Times New Roman" pitchFamily="18" charset="0"/>
              </a:rPr>
              <a:t>0</a:t>
            </a:r>
          </a:p>
        </p:txBody>
      </p:sp>
      <p:grpSp>
        <p:nvGrpSpPr>
          <p:cNvPr id="47126" name="Group 22"/>
          <p:cNvGrpSpPr>
            <a:grpSpLocks/>
          </p:cNvGrpSpPr>
          <p:nvPr/>
        </p:nvGrpSpPr>
        <p:grpSpPr bwMode="auto">
          <a:xfrm>
            <a:off x="6300788" y="5602288"/>
            <a:ext cx="1368425" cy="1150937"/>
            <a:chOff x="1111" y="3385"/>
            <a:chExt cx="862" cy="725"/>
          </a:xfrm>
        </p:grpSpPr>
        <p:sp>
          <p:nvSpPr>
            <p:cNvPr id="61449" name="Line 23"/>
            <p:cNvSpPr>
              <a:spLocks noChangeShapeType="1"/>
            </p:cNvSpPr>
            <p:nvPr/>
          </p:nvSpPr>
          <p:spPr bwMode="auto">
            <a:xfrm>
              <a:off x="1111" y="3385"/>
              <a:ext cx="0" cy="725"/>
            </a:xfrm>
            <a:prstGeom prst="line">
              <a:avLst/>
            </a:prstGeom>
            <a:noFill/>
            <a:ln w="28575">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0" name="Line 24"/>
            <p:cNvSpPr>
              <a:spLocks noChangeShapeType="1"/>
            </p:cNvSpPr>
            <p:nvPr/>
          </p:nvSpPr>
          <p:spPr bwMode="auto">
            <a:xfrm>
              <a:off x="1111" y="3385"/>
              <a:ext cx="862" cy="725"/>
            </a:xfrm>
            <a:prstGeom prst="line">
              <a:avLst/>
            </a:prstGeom>
            <a:noFill/>
            <a:ln w="28575">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1" name="Line 25"/>
            <p:cNvSpPr>
              <a:spLocks noChangeShapeType="1"/>
            </p:cNvSpPr>
            <p:nvPr/>
          </p:nvSpPr>
          <p:spPr bwMode="auto">
            <a:xfrm>
              <a:off x="1973" y="3385"/>
              <a:ext cx="0" cy="725"/>
            </a:xfrm>
            <a:prstGeom prst="line">
              <a:avLst/>
            </a:prstGeom>
            <a:noFill/>
            <a:ln w="28575">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2" name="Line 26"/>
            <p:cNvSpPr>
              <a:spLocks noChangeShapeType="1"/>
            </p:cNvSpPr>
            <p:nvPr/>
          </p:nvSpPr>
          <p:spPr bwMode="auto">
            <a:xfrm flipH="1">
              <a:off x="1111" y="3385"/>
              <a:ext cx="862" cy="725"/>
            </a:xfrm>
            <a:prstGeom prst="line">
              <a:avLst/>
            </a:prstGeom>
            <a:noFill/>
            <a:ln w="28575">
              <a:solidFill>
                <a:srgbClr val="000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125"/>
                                        </p:tgtEl>
                                        <p:attrNameLst>
                                          <p:attrName>style.visibility</p:attrName>
                                        </p:attrNameLst>
                                      </p:cBhvr>
                                      <p:to>
                                        <p:strVal val="visible"/>
                                      </p:to>
                                    </p:set>
                                    <p:anim calcmode="lin" valueType="num">
                                      <p:cBhvr additive="base">
                                        <p:cTn id="7" dur="500" fill="hold"/>
                                        <p:tgtEl>
                                          <p:spTgt spid="47125"/>
                                        </p:tgtEl>
                                        <p:attrNameLst>
                                          <p:attrName>ppt_x</p:attrName>
                                        </p:attrNameLst>
                                      </p:cBhvr>
                                      <p:tavLst>
                                        <p:tav tm="0">
                                          <p:val>
                                            <p:strVal val="#ppt_x"/>
                                          </p:val>
                                        </p:tav>
                                        <p:tav tm="100000">
                                          <p:val>
                                            <p:strVal val="#ppt_x"/>
                                          </p:val>
                                        </p:tav>
                                      </p:tavLst>
                                    </p:anim>
                                    <p:anim calcmode="lin" valueType="num">
                                      <p:cBhvr additive="base">
                                        <p:cTn id="8" dur="500" fill="hold"/>
                                        <p:tgtEl>
                                          <p:spTgt spid="47125"/>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7111"/>
                                        </p:tgtEl>
                                        <p:attrNameLst>
                                          <p:attrName>style.visibility</p:attrName>
                                        </p:attrNameLst>
                                      </p:cBhvr>
                                      <p:to>
                                        <p:strVal val="visible"/>
                                      </p:to>
                                    </p:set>
                                    <p:anim calcmode="lin" valueType="num">
                                      <p:cBhvr additive="base">
                                        <p:cTn id="11" dur="500" fill="hold"/>
                                        <p:tgtEl>
                                          <p:spTgt spid="47111"/>
                                        </p:tgtEl>
                                        <p:attrNameLst>
                                          <p:attrName>ppt_x</p:attrName>
                                        </p:attrNameLst>
                                      </p:cBhvr>
                                      <p:tavLst>
                                        <p:tav tm="0">
                                          <p:val>
                                            <p:strVal val="#ppt_x"/>
                                          </p:val>
                                        </p:tav>
                                        <p:tav tm="100000">
                                          <p:val>
                                            <p:strVal val="#ppt_x"/>
                                          </p:val>
                                        </p:tav>
                                      </p:tavLst>
                                    </p:anim>
                                    <p:anim calcmode="lin" valueType="num">
                                      <p:cBhvr additive="base">
                                        <p:cTn id="12" dur="500" fill="hold"/>
                                        <p:tgtEl>
                                          <p:spTgt spid="47111"/>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7112"/>
                                        </p:tgtEl>
                                        <p:attrNameLst>
                                          <p:attrName>style.visibility</p:attrName>
                                        </p:attrNameLst>
                                      </p:cBhvr>
                                      <p:to>
                                        <p:strVal val="visible"/>
                                      </p:to>
                                    </p:set>
                                    <p:anim calcmode="lin" valueType="num">
                                      <p:cBhvr additive="base">
                                        <p:cTn id="15" dur="500" fill="hold"/>
                                        <p:tgtEl>
                                          <p:spTgt spid="47112"/>
                                        </p:tgtEl>
                                        <p:attrNameLst>
                                          <p:attrName>ppt_x</p:attrName>
                                        </p:attrNameLst>
                                      </p:cBhvr>
                                      <p:tavLst>
                                        <p:tav tm="0">
                                          <p:val>
                                            <p:strVal val="#ppt_x"/>
                                          </p:val>
                                        </p:tav>
                                        <p:tav tm="100000">
                                          <p:val>
                                            <p:strVal val="#ppt_x"/>
                                          </p:val>
                                        </p:tav>
                                      </p:tavLst>
                                    </p:anim>
                                    <p:anim calcmode="lin" valueType="num">
                                      <p:cBhvr additive="base">
                                        <p:cTn id="16" dur="500" fill="hold"/>
                                        <p:tgtEl>
                                          <p:spTgt spid="47112"/>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47126"/>
                                        </p:tgtEl>
                                        <p:attrNameLst>
                                          <p:attrName>style.visibility</p:attrName>
                                        </p:attrNameLst>
                                      </p:cBhvr>
                                      <p:to>
                                        <p:strVal val="visible"/>
                                      </p:to>
                                    </p:set>
                                    <p:anim calcmode="lin" valueType="num">
                                      <p:cBhvr additive="base">
                                        <p:cTn id="21" dur="500" fill="hold"/>
                                        <p:tgtEl>
                                          <p:spTgt spid="47126"/>
                                        </p:tgtEl>
                                        <p:attrNameLst>
                                          <p:attrName>ppt_x</p:attrName>
                                        </p:attrNameLst>
                                      </p:cBhvr>
                                      <p:tavLst>
                                        <p:tav tm="0">
                                          <p:val>
                                            <p:strVal val="#ppt_x"/>
                                          </p:val>
                                        </p:tav>
                                        <p:tav tm="100000">
                                          <p:val>
                                            <p:strVal val="#ppt_x"/>
                                          </p:val>
                                        </p:tav>
                                      </p:tavLst>
                                    </p:anim>
                                    <p:anim calcmode="lin" valueType="num">
                                      <p:cBhvr additive="base">
                                        <p:cTn id="22" dur="500" fill="hold"/>
                                        <p:tgtEl>
                                          <p:spTgt spid="47126"/>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47106">
                                            <p:txEl>
                                              <p:pRg st="1" end="1"/>
                                            </p:txEl>
                                          </p:spTgt>
                                        </p:tgtEl>
                                        <p:attrNameLst>
                                          <p:attrName>style.visibility</p:attrName>
                                        </p:attrNameLst>
                                      </p:cBhvr>
                                      <p:to>
                                        <p:strVal val="visible"/>
                                      </p:to>
                                    </p:set>
                                    <p:anim calcmode="lin" valueType="num">
                                      <p:cBhvr additive="base">
                                        <p:cTn id="27" dur="500" fill="hold"/>
                                        <p:tgtEl>
                                          <p:spTgt spid="47106">
                                            <p:txEl>
                                              <p:pRg st="1" end="1"/>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710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47106">
                                            <p:txEl>
                                              <p:pRg st="2" end="2"/>
                                            </p:txEl>
                                          </p:spTgt>
                                        </p:tgtEl>
                                        <p:attrNameLst>
                                          <p:attrName>style.visibility</p:attrName>
                                        </p:attrNameLst>
                                      </p:cBhvr>
                                      <p:to>
                                        <p:strVal val="visible"/>
                                      </p:to>
                                    </p:set>
                                    <p:anim calcmode="lin" valueType="num">
                                      <p:cBhvr additive="base">
                                        <p:cTn id="33" dur="500" fill="hold"/>
                                        <p:tgtEl>
                                          <p:spTgt spid="47106">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710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47106">
                                            <p:txEl>
                                              <p:pRg st="3" end="3"/>
                                            </p:txEl>
                                          </p:spTgt>
                                        </p:tgtEl>
                                        <p:attrNameLst>
                                          <p:attrName>style.visibility</p:attrName>
                                        </p:attrNameLst>
                                      </p:cBhvr>
                                      <p:to>
                                        <p:strVal val="visible"/>
                                      </p:to>
                                    </p:set>
                                    <p:anim calcmode="lin" valueType="num">
                                      <p:cBhvr additive="base">
                                        <p:cTn id="39" dur="500" fill="hold"/>
                                        <p:tgtEl>
                                          <p:spTgt spid="47106">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4710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1" grpId="0" animBg="1"/>
      <p:bldP spid="4712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pPr>
              <a:defRPr/>
            </a:pPr>
            <a:fld id="{F567DD42-B0DD-47CE-997B-32A17D0206E6}" type="slidenum">
              <a:rPr lang="en-US" altLang="zh-CN"/>
              <a:pPr>
                <a:defRPr/>
              </a:pPr>
              <a:t>61</a:t>
            </a:fld>
            <a:endParaRPr lang="en-US" altLang="zh-CN"/>
          </a:p>
        </p:txBody>
      </p:sp>
      <p:sp>
        <p:nvSpPr>
          <p:cNvPr id="48130" name="Text Box 2"/>
          <p:cNvSpPr txBox="1">
            <a:spLocks noChangeArrowheads="1"/>
          </p:cNvSpPr>
          <p:nvPr/>
        </p:nvSpPr>
        <p:spPr bwMode="auto">
          <a:xfrm>
            <a:off x="466725" y="1119188"/>
            <a:ext cx="8277225" cy="4911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20000"/>
              </a:lnSpc>
            </a:pPr>
            <a:r>
              <a:rPr kumimoji="1" lang="zh-CN" altLang="en-US" b="1" dirty="0">
                <a:solidFill>
                  <a:srgbClr val="993300"/>
                </a:solidFill>
                <a:latin typeface="Times New Roman" pitchFamily="18" charset="0"/>
              </a:rPr>
              <a:t>若图</a:t>
            </a:r>
            <a:r>
              <a:rPr kumimoji="1" lang="en-US" altLang="zh-CN" b="1" dirty="0">
                <a:solidFill>
                  <a:srgbClr val="993300"/>
                </a:solidFill>
                <a:latin typeface="Times New Roman" pitchFamily="18" charset="0"/>
              </a:rPr>
              <a:t>G</a:t>
            </a:r>
            <a:r>
              <a:rPr kumimoji="1" lang="zh-CN" altLang="en-US" b="1" dirty="0">
                <a:solidFill>
                  <a:srgbClr val="993300"/>
                </a:solidFill>
                <a:latin typeface="Times New Roman" pitchFamily="18" charset="0"/>
              </a:rPr>
              <a:t>连通，有零个奇数度结点</a:t>
            </a:r>
          </a:p>
          <a:p>
            <a:pPr algn="just" eaLnBrk="1" hangingPunct="1">
              <a:lnSpc>
                <a:spcPct val="120000"/>
              </a:lnSpc>
            </a:pPr>
            <a:r>
              <a:rPr kumimoji="1" lang="zh-CN" altLang="en-US" b="1" dirty="0">
                <a:solidFill>
                  <a:srgbClr val="993300"/>
                </a:solidFill>
                <a:latin typeface="Times New Roman" pitchFamily="18" charset="0"/>
              </a:rPr>
              <a:t>若图</a:t>
            </a:r>
            <a:r>
              <a:rPr kumimoji="1" lang="en-US" altLang="zh-CN" b="1" dirty="0">
                <a:solidFill>
                  <a:srgbClr val="993300"/>
                </a:solidFill>
                <a:latin typeface="Times New Roman" pitchFamily="18" charset="0"/>
              </a:rPr>
              <a:t>G</a:t>
            </a:r>
            <a:r>
              <a:rPr kumimoji="1" lang="zh-CN" altLang="en-US" b="1" dirty="0">
                <a:solidFill>
                  <a:srgbClr val="993300"/>
                </a:solidFill>
                <a:latin typeface="Times New Roman" pitchFamily="18" charset="0"/>
              </a:rPr>
              <a:t>连通，有</a:t>
            </a:r>
            <a:r>
              <a:rPr kumimoji="1" lang="en-US" altLang="zh-CN" b="1" dirty="0">
                <a:solidFill>
                  <a:srgbClr val="993300"/>
                </a:solidFill>
                <a:latin typeface="Times New Roman" pitchFamily="18" charset="0"/>
              </a:rPr>
              <a:t>2</a:t>
            </a:r>
            <a:r>
              <a:rPr kumimoji="1" lang="zh-CN" altLang="en-US" b="1" dirty="0">
                <a:solidFill>
                  <a:srgbClr val="993300"/>
                </a:solidFill>
                <a:latin typeface="Times New Roman" pitchFamily="18" charset="0"/>
              </a:rPr>
              <a:t>个奇数度结点</a:t>
            </a:r>
            <a:r>
              <a:rPr kumimoji="1" lang="zh-CN" altLang="en-US" b="1" dirty="0">
                <a:latin typeface="Times New Roman" pitchFamily="18" charset="0"/>
              </a:rPr>
              <a:t>，下面构造</a:t>
            </a:r>
            <a:r>
              <a:rPr kumimoji="1" lang="en-US" altLang="zh-CN" b="1" dirty="0">
                <a:latin typeface="Times New Roman" pitchFamily="18" charset="0"/>
              </a:rPr>
              <a:t>G</a:t>
            </a:r>
            <a:r>
              <a:rPr kumimoji="1" lang="zh-CN" altLang="en-US" b="1" dirty="0">
                <a:latin typeface="Times New Roman" pitchFamily="18" charset="0"/>
              </a:rPr>
              <a:t>的欧拉路。</a:t>
            </a:r>
          </a:p>
          <a:p>
            <a:pPr algn="just" eaLnBrk="1" hangingPunct="1">
              <a:lnSpc>
                <a:spcPct val="120000"/>
              </a:lnSpc>
            </a:pPr>
            <a:r>
              <a:rPr kumimoji="1" lang="zh-CN" altLang="en-US" b="1" dirty="0">
                <a:latin typeface="Times New Roman" pitchFamily="18" charset="0"/>
              </a:rPr>
              <a:t>从其中的一个奇数度结点</a:t>
            </a:r>
            <a:r>
              <a:rPr kumimoji="1" lang="en-US" altLang="zh-CN" b="1" dirty="0">
                <a:latin typeface="Times New Roman" pitchFamily="18" charset="0"/>
              </a:rPr>
              <a:t>v</a:t>
            </a:r>
            <a:r>
              <a:rPr kumimoji="1" lang="en-US" altLang="zh-CN" b="1" baseline="-25000" dirty="0">
                <a:latin typeface="Times New Roman" pitchFamily="18" charset="0"/>
              </a:rPr>
              <a:t>0</a:t>
            </a:r>
            <a:r>
              <a:rPr kumimoji="1" lang="zh-CN" altLang="en-US" b="1" dirty="0">
                <a:latin typeface="Times New Roman" pitchFamily="18" charset="0"/>
              </a:rPr>
              <a:t>出发，取关联于</a:t>
            </a:r>
            <a:r>
              <a:rPr kumimoji="1" lang="en-US" altLang="zh-CN" b="1" dirty="0">
                <a:latin typeface="Times New Roman" pitchFamily="18" charset="0"/>
              </a:rPr>
              <a:t>v</a:t>
            </a:r>
            <a:r>
              <a:rPr kumimoji="1" lang="en-US" altLang="zh-CN" b="1" baseline="-25000" dirty="0">
                <a:latin typeface="Times New Roman" pitchFamily="18" charset="0"/>
              </a:rPr>
              <a:t>0</a:t>
            </a:r>
            <a:r>
              <a:rPr kumimoji="1" lang="zh-CN" altLang="en-US" b="1" dirty="0">
                <a:latin typeface="Times New Roman" pitchFamily="18" charset="0"/>
              </a:rPr>
              <a:t>的边</a:t>
            </a:r>
            <a:r>
              <a:rPr kumimoji="1" lang="en-US" altLang="zh-CN" b="1" dirty="0">
                <a:latin typeface="Times New Roman" pitchFamily="18" charset="0"/>
              </a:rPr>
              <a:t>e</a:t>
            </a:r>
            <a:r>
              <a:rPr kumimoji="1" lang="en-US" altLang="zh-CN" b="1" baseline="-25000" dirty="0">
                <a:latin typeface="Times New Roman" pitchFamily="18" charset="0"/>
              </a:rPr>
              <a:t>1</a:t>
            </a:r>
            <a:r>
              <a:rPr kumimoji="1" lang="zh-CN" altLang="en-US" b="1" dirty="0">
                <a:latin typeface="Times New Roman" pitchFamily="18" charset="0"/>
              </a:rPr>
              <a:t>到</a:t>
            </a:r>
            <a:r>
              <a:rPr kumimoji="1" lang="en-US" altLang="zh-CN" b="1" dirty="0">
                <a:latin typeface="Times New Roman" pitchFamily="18" charset="0"/>
              </a:rPr>
              <a:t>v</a:t>
            </a:r>
            <a:r>
              <a:rPr kumimoji="1" lang="en-US" altLang="zh-CN" b="1" baseline="-25000" dirty="0">
                <a:latin typeface="Times New Roman" pitchFamily="18" charset="0"/>
              </a:rPr>
              <a:t>1</a:t>
            </a:r>
            <a:r>
              <a:rPr kumimoji="1" lang="zh-CN" altLang="en-US" b="1" dirty="0">
                <a:latin typeface="Times New Roman" pitchFamily="18" charset="0"/>
              </a:rPr>
              <a:t>，若</a:t>
            </a:r>
            <a:r>
              <a:rPr kumimoji="1" lang="en-US" altLang="zh-CN" b="1" dirty="0" err="1">
                <a:latin typeface="Times New Roman" pitchFamily="18" charset="0"/>
              </a:rPr>
              <a:t>deg</a:t>
            </a:r>
            <a:r>
              <a:rPr kumimoji="1" lang="en-US" altLang="zh-CN" b="1" dirty="0">
                <a:latin typeface="Times New Roman" pitchFamily="18" charset="0"/>
              </a:rPr>
              <a:t>(v</a:t>
            </a:r>
            <a:r>
              <a:rPr kumimoji="1" lang="en-US" altLang="zh-CN" b="1" baseline="-25000" dirty="0">
                <a:latin typeface="Times New Roman" pitchFamily="18" charset="0"/>
              </a:rPr>
              <a:t>1</a:t>
            </a:r>
            <a:r>
              <a:rPr kumimoji="1" lang="en-US" altLang="zh-CN" b="1" dirty="0">
                <a:latin typeface="Times New Roman" pitchFamily="18" charset="0"/>
              </a:rPr>
              <a:t>)</a:t>
            </a:r>
            <a:r>
              <a:rPr kumimoji="1" lang="zh-CN" altLang="en-US" b="1" dirty="0">
                <a:latin typeface="Times New Roman" pitchFamily="18" charset="0"/>
              </a:rPr>
              <a:t>为偶数，则继续寻找和</a:t>
            </a:r>
            <a:r>
              <a:rPr kumimoji="1" lang="en-US" altLang="zh-CN" b="1" dirty="0">
                <a:latin typeface="Times New Roman" pitchFamily="18" charset="0"/>
              </a:rPr>
              <a:t>v</a:t>
            </a:r>
            <a:r>
              <a:rPr kumimoji="1" lang="en-US" altLang="zh-CN" b="1" baseline="-25000" dirty="0">
                <a:latin typeface="Times New Roman" pitchFamily="18" charset="0"/>
              </a:rPr>
              <a:t>1</a:t>
            </a:r>
            <a:r>
              <a:rPr kumimoji="1" lang="zh-CN" altLang="en-US" b="1" dirty="0">
                <a:latin typeface="Times New Roman" pitchFamily="18" charset="0"/>
              </a:rPr>
              <a:t>通过不同的边</a:t>
            </a:r>
            <a:r>
              <a:rPr kumimoji="1" lang="en-US" altLang="zh-CN" b="1" dirty="0">
                <a:latin typeface="Times New Roman" pitchFamily="18" charset="0"/>
              </a:rPr>
              <a:t>e</a:t>
            </a:r>
            <a:r>
              <a:rPr kumimoji="1" lang="en-US" altLang="zh-CN" b="1" baseline="-25000" dirty="0">
                <a:latin typeface="Times New Roman" pitchFamily="18" charset="0"/>
              </a:rPr>
              <a:t>2</a:t>
            </a:r>
            <a:r>
              <a:rPr kumimoji="1" lang="zh-CN" altLang="en-US" b="1" dirty="0">
                <a:latin typeface="Times New Roman" pitchFamily="18" charset="0"/>
              </a:rPr>
              <a:t>关联的另一个结点</a:t>
            </a:r>
            <a:r>
              <a:rPr kumimoji="1" lang="en-US" altLang="zh-CN" b="1" dirty="0">
                <a:latin typeface="Times New Roman" pitchFamily="18" charset="0"/>
              </a:rPr>
              <a:t>v</a:t>
            </a:r>
            <a:r>
              <a:rPr kumimoji="1" lang="en-US" altLang="zh-CN" b="1" baseline="-25000" dirty="0">
                <a:latin typeface="Times New Roman" pitchFamily="18" charset="0"/>
              </a:rPr>
              <a:t>2</a:t>
            </a:r>
            <a:r>
              <a:rPr kumimoji="1" lang="zh-CN" altLang="en-US" b="1" dirty="0">
                <a:latin typeface="Times New Roman" pitchFamily="18" charset="0"/>
              </a:rPr>
              <a:t>，直到找到另一个度数为奇数的结点</a:t>
            </a:r>
            <a:r>
              <a:rPr kumimoji="1" lang="en-US" altLang="zh-CN" b="1" dirty="0" err="1">
                <a:latin typeface="Times New Roman" pitchFamily="18" charset="0"/>
              </a:rPr>
              <a:t>v</a:t>
            </a:r>
            <a:r>
              <a:rPr kumimoji="1" lang="en-US" altLang="zh-CN" b="1" baseline="-25000" dirty="0" err="1">
                <a:latin typeface="Times New Roman" pitchFamily="18" charset="0"/>
              </a:rPr>
              <a:t>k</a:t>
            </a:r>
            <a:r>
              <a:rPr kumimoji="1" lang="zh-CN" altLang="en-US" b="1" dirty="0">
                <a:latin typeface="Times New Roman" pitchFamily="18" charset="0"/>
              </a:rPr>
              <a:t>，则终止取</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=v</a:t>
            </a:r>
            <a:r>
              <a:rPr kumimoji="1" lang="en-US" altLang="zh-CN" b="1" baseline="-25000" dirty="0">
                <a:latin typeface="Times New Roman" pitchFamily="18" charset="0"/>
              </a:rPr>
              <a:t>0 </a:t>
            </a:r>
            <a:r>
              <a:rPr kumimoji="1" lang="en-US" altLang="zh-CN" b="1" dirty="0">
                <a:latin typeface="Times New Roman" pitchFamily="18" charset="0"/>
              </a:rPr>
              <a:t>e</a:t>
            </a:r>
            <a:r>
              <a:rPr kumimoji="1" lang="en-US" altLang="zh-CN" b="1" baseline="-25000" dirty="0">
                <a:latin typeface="Times New Roman" pitchFamily="18" charset="0"/>
              </a:rPr>
              <a:t>1 </a:t>
            </a:r>
            <a:r>
              <a:rPr kumimoji="1" lang="en-US" altLang="zh-CN" b="1" dirty="0">
                <a:latin typeface="Times New Roman" pitchFamily="18" charset="0"/>
              </a:rPr>
              <a:t>v</a:t>
            </a:r>
            <a:r>
              <a:rPr kumimoji="1" lang="en-US" altLang="zh-CN" b="1" baseline="-25000" dirty="0">
                <a:latin typeface="Times New Roman" pitchFamily="18" charset="0"/>
              </a:rPr>
              <a:t>1 </a:t>
            </a:r>
            <a:r>
              <a:rPr kumimoji="1" lang="en-US" altLang="zh-CN" b="1" dirty="0">
                <a:latin typeface="Times New Roman" pitchFamily="18" charset="0"/>
              </a:rPr>
              <a:t>…</a:t>
            </a:r>
            <a:r>
              <a:rPr kumimoji="1" lang="en-US" altLang="zh-CN" b="1" baseline="-25000" dirty="0">
                <a:latin typeface="Times New Roman" pitchFamily="18" charset="0"/>
              </a:rPr>
              <a:t> </a:t>
            </a:r>
            <a:r>
              <a:rPr kumimoji="1" lang="en-US" altLang="zh-CN" b="1" dirty="0" err="1">
                <a:latin typeface="Times New Roman" pitchFamily="18" charset="0"/>
              </a:rPr>
              <a:t>e</a:t>
            </a:r>
            <a:r>
              <a:rPr kumimoji="1" lang="en-US" altLang="zh-CN" b="1" baseline="-25000" dirty="0" err="1">
                <a:latin typeface="Times New Roman" pitchFamily="18" charset="0"/>
              </a:rPr>
              <a:t>k</a:t>
            </a:r>
            <a:r>
              <a:rPr kumimoji="1" lang="en-US" altLang="zh-CN" b="1" dirty="0" err="1">
                <a:latin typeface="Times New Roman" pitchFamily="18" charset="0"/>
              </a:rPr>
              <a:t>v</a:t>
            </a:r>
            <a:r>
              <a:rPr kumimoji="1" lang="en-US" altLang="zh-CN" b="1" baseline="-25000" dirty="0" err="1">
                <a:latin typeface="Times New Roman" pitchFamily="18" charset="0"/>
              </a:rPr>
              <a:t>k</a:t>
            </a:r>
            <a:r>
              <a:rPr kumimoji="1" lang="zh-CN" altLang="en-US" b="1" dirty="0">
                <a:latin typeface="Times New Roman" pitchFamily="18" charset="0"/>
              </a:rPr>
              <a:t>。</a:t>
            </a:r>
          </a:p>
          <a:p>
            <a:pPr algn="just" eaLnBrk="1" hangingPunct="1">
              <a:lnSpc>
                <a:spcPct val="120000"/>
              </a:lnSpc>
            </a:pPr>
            <a:r>
              <a:rPr kumimoji="1" lang="zh-CN" altLang="en-US" b="1" dirty="0">
                <a:latin typeface="Times New Roman" pitchFamily="18" charset="0"/>
              </a:rPr>
              <a:t>若</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=G</a:t>
            </a:r>
            <a:r>
              <a:rPr kumimoji="1" lang="zh-CN" altLang="en-US" b="1" dirty="0">
                <a:latin typeface="Times New Roman" pitchFamily="18" charset="0"/>
              </a:rPr>
              <a:t>，则</a:t>
            </a:r>
            <a:r>
              <a:rPr kumimoji="1" lang="en-US" altLang="zh-CN" b="1" dirty="0">
                <a:latin typeface="Times New Roman" pitchFamily="18" charset="0"/>
              </a:rPr>
              <a:t>G</a:t>
            </a:r>
            <a:r>
              <a:rPr kumimoji="1" lang="zh-CN" altLang="en-US" b="1" dirty="0">
                <a:latin typeface="Times New Roman" pitchFamily="18" charset="0"/>
              </a:rPr>
              <a:t>具有一条欧拉路</a:t>
            </a:r>
            <a:r>
              <a:rPr kumimoji="1" lang="en-US" altLang="zh-CN" b="1" dirty="0">
                <a:latin typeface="Times New Roman" pitchFamily="18" charset="0"/>
              </a:rPr>
              <a:t>h</a:t>
            </a:r>
            <a:r>
              <a:rPr kumimoji="1" lang="en-US" altLang="zh-CN" b="1" baseline="-25000" dirty="0">
                <a:latin typeface="Times New Roman" pitchFamily="18" charset="0"/>
              </a:rPr>
              <a:t>1</a:t>
            </a:r>
            <a:r>
              <a:rPr kumimoji="1" lang="zh-CN" altLang="en-US" b="1" dirty="0">
                <a:latin typeface="Times New Roman" pitchFamily="18" charset="0"/>
              </a:rPr>
              <a:t>，否则令</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’=G(E(G)-E(h</a:t>
            </a:r>
            <a:r>
              <a:rPr kumimoji="1" lang="en-US" altLang="zh-CN" b="1" baseline="-25000" dirty="0">
                <a:latin typeface="Times New Roman" pitchFamily="18" charset="0"/>
              </a:rPr>
              <a:t>1</a:t>
            </a:r>
            <a:r>
              <a:rPr kumimoji="1" lang="en-US" altLang="zh-CN" b="1" dirty="0">
                <a:latin typeface="Times New Roman" pitchFamily="18" charset="0"/>
              </a:rPr>
              <a:t>))</a:t>
            </a:r>
            <a:r>
              <a:rPr kumimoji="1" lang="zh-CN" altLang="en-US" b="1" dirty="0">
                <a:latin typeface="Times New Roman" pitchFamily="18" charset="0"/>
              </a:rPr>
              <a:t>，即</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a:t>
            </a:r>
            <a:r>
              <a:rPr kumimoji="1" lang="zh-CN" altLang="en-US" b="1" dirty="0">
                <a:latin typeface="Times New Roman" pitchFamily="18" charset="0"/>
              </a:rPr>
              <a:t>为</a:t>
            </a:r>
            <a:r>
              <a:rPr kumimoji="1" lang="en-US" altLang="zh-CN" b="1" dirty="0">
                <a:latin typeface="Times New Roman" pitchFamily="18" charset="0"/>
              </a:rPr>
              <a:t>G</a:t>
            </a:r>
            <a:r>
              <a:rPr kumimoji="1" lang="zh-CN" altLang="en-US" b="1" dirty="0">
                <a:latin typeface="Times New Roman" pitchFamily="18" charset="0"/>
              </a:rPr>
              <a:t>删去</a:t>
            </a:r>
            <a:r>
              <a:rPr kumimoji="1" lang="en-US" altLang="zh-CN" b="1" dirty="0">
                <a:latin typeface="Times New Roman" pitchFamily="18" charset="0"/>
              </a:rPr>
              <a:t>h</a:t>
            </a:r>
            <a:r>
              <a:rPr kumimoji="1" lang="en-US" altLang="zh-CN" b="1" baseline="-25000" dirty="0">
                <a:latin typeface="Times New Roman" pitchFamily="18" charset="0"/>
              </a:rPr>
              <a:t>1</a:t>
            </a:r>
            <a:r>
              <a:rPr kumimoji="1" lang="zh-CN" altLang="en-US" b="1" dirty="0">
                <a:latin typeface="Times New Roman" pitchFamily="18" charset="0"/>
              </a:rPr>
              <a:t>中的边由剩余边形成的子图。这时</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a:t>
            </a:r>
            <a:r>
              <a:rPr kumimoji="1" lang="zh-CN" altLang="en-US" b="1" dirty="0">
                <a:latin typeface="Times New Roman" pitchFamily="18" charset="0"/>
              </a:rPr>
              <a:t>中所有结点的度数均为偶数。并且</a:t>
            </a:r>
            <a:r>
              <a:rPr kumimoji="1" lang="en-US" altLang="zh-CN" b="1" dirty="0">
                <a:latin typeface="Times New Roman" pitchFamily="18" charset="0"/>
              </a:rPr>
              <a:t>G</a:t>
            </a:r>
            <a:r>
              <a:rPr kumimoji="1" lang="zh-CN" altLang="en-US" b="1" dirty="0">
                <a:latin typeface="Times New Roman" pitchFamily="18" charset="0"/>
              </a:rPr>
              <a:t>连通，所以</a:t>
            </a:r>
            <a:r>
              <a:rPr kumimoji="1" lang="en-US" altLang="zh-CN" b="1" dirty="0">
                <a:latin typeface="Times New Roman" pitchFamily="18" charset="0"/>
              </a:rPr>
              <a:t>h</a:t>
            </a:r>
            <a:r>
              <a:rPr kumimoji="1" lang="en-US" altLang="zh-CN" b="1" baseline="-25000" dirty="0">
                <a:latin typeface="Times New Roman" pitchFamily="18" charset="0"/>
              </a:rPr>
              <a:t>1</a:t>
            </a:r>
            <a:r>
              <a:rPr kumimoji="1" lang="zh-CN" altLang="en-US" b="1" dirty="0">
                <a:latin typeface="Times New Roman" pitchFamily="18" charset="0"/>
              </a:rPr>
              <a:t>和</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a:t>
            </a:r>
            <a:r>
              <a:rPr kumimoji="1" lang="zh-CN" altLang="en-US" b="1" dirty="0">
                <a:latin typeface="Times New Roman" pitchFamily="18" charset="0"/>
              </a:rPr>
              <a:t>有公共结点</a:t>
            </a:r>
            <a:r>
              <a:rPr kumimoji="1" lang="en-US" altLang="zh-CN" b="1" dirty="0">
                <a:latin typeface="Times New Roman" pitchFamily="18" charset="0"/>
              </a:rPr>
              <a:t>v</a:t>
            </a:r>
            <a:r>
              <a:rPr kumimoji="1" lang="en-US" altLang="zh-CN" b="1" baseline="-25000" dirty="0">
                <a:latin typeface="Times New Roman" pitchFamily="18" charset="0"/>
              </a:rPr>
              <a:t>i</a:t>
            </a:r>
            <a:r>
              <a:rPr kumimoji="1" lang="zh-CN" altLang="en-US" b="1" dirty="0">
                <a:latin typeface="Times New Roman" pitchFamily="18" charset="0"/>
              </a:rPr>
              <a:t>，前面已证明</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a:t>
            </a:r>
            <a:r>
              <a:rPr kumimoji="1" lang="zh-CN" altLang="en-US" b="1" dirty="0">
                <a:latin typeface="Times New Roman" pitchFamily="18" charset="0"/>
              </a:rPr>
              <a:t>中存在欧拉回路</a:t>
            </a:r>
            <a:r>
              <a:rPr kumimoji="1" lang="en-US" altLang="zh-CN" b="1" dirty="0">
                <a:latin typeface="Times New Roman" pitchFamily="18" charset="0"/>
              </a:rPr>
              <a:t>h</a:t>
            </a:r>
            <a:r>
              <a:rPr kumimoji="1" lang="en-US" altLang="zh-CN" b="1" baseline="-25000" dirty="0">
                <a:latin typeface="Times New Roman" pitchFamily="18" charset="0"/>
              </a:rPr>
              <a:t>1</a:t>
            </a:r>
            <a:r>
              <a:rPr kumimoji="1" lang="en-US" altLang="zh-CN" b="1" dirty="0">
                <a:latin typeface="Times New Roman" pitchFamily="18" charset="0"/>
              </a:rPr>
              <a:t>=v</a:t>
            </a:r>
            <a:r>
              <a:rPr kumimoji="1" lang="en-US" altLang="zh-CN" b="1" baseline="-25000" dirty="0">
                <a:latin typeface="Times New Roman" pitchFamily="18" charset="0"/>
              </a:rPr>
              <a:t>i</a:t>
            </a:r>
            <a:r>
              <a:rPr kumimoji="1" lang="en-US" altLang="zh-CN" b="1" dirty="0">
                <a:latin typeface="Times New Roman" pitchFamily="18" charset="0"/>
              </a:rPr>
              <a:t>…v</a:t>
            </a:r>
            <a:r>
              <a:rPr kumimoji="1" lang="en-US" altLang="zh-CN" b="1" baseline="-25000" dirty="0">
                <a:latin typeface="Times New Roman" pitchFamily="18" charset="0"/>
              </a:rPr>
              <a:t>i</a:t>
            </a:r>
            <a:r>
              <a:rPr kumimoji="1" lang="zh-CN" altLang="en-US" b="1" dirty="0">
                <a:latin typeface="Times New Roman" pitchFamily="18" charset="0"/>
              </a:rPr>
              <a:t>。</a:t>
            </a:r>
          </a:p>
          <a:p>
            <a:pPr algn="just" eaLnBrk="1" hangingPunct="1">
              <a:lnSpc>
                <a:spcPct val="120000"/>
              </a:lnSpc>
            </a:pPr>
            <a:r>
              <a:rPr kumimoji="1" lang="zh-CN" altLang="en-US" b="1" dirty="0">
                <a:latin typeface="Times New Roman" pitchFamily="18" charset="0"/>
              </a:rPr>
              <a:t>所以</a:t>
            </a:r>
            <a:r>
              <a:rPr kumimoji="1" lang="en-US" altLang="zh-CN" b="1" dirty="0" smtClean="0">
                <a:latin typeface="Times New Roman" pitchFamily="18" charset="0"/>
              </a:rPr>
              <a:t>h</a:t>
            </a:r>
            <a:r>
              <a:rPr kumimoji="1" lang="en-US" altLang="zh-CN" b="1" baseline="-25000" dirty="0" smtClean="0">
                <a:latin typeface="Times New Roman" pitchFamily="18" charset="0"/>
              </a:rPr>
              <a:t>1</a:t>
            </a:r>
            <a:r>
              <a:rPr kumimoji="1" lang="en-US" altLang="zh-CN" b="1" dirty="0" smtClean="0">
                <a:solidFill>
                  <a:schemeClr val="bg2"/>
                </a:solidFill>
                <a:latin typeface="Times New Roman" pitchFamily="18" charset="0"/>
              </a:rPr>
              <a:t>∪</a:t>
            </a:r>
            <a:r>
              <a:rPr kumimoji="1" lang="en-US" altLang="zh-CN" b="1" dirty="0">
                <a:solidFill>
                  <a:schemeClr val="bg2"/>
                </a:solidFill>
                <a:latin typeface="Times New Roman" pitchFamily="18" charset="0"/>
              </a:rPr>
              <a:t>h</a:t>
            </a:r>
            <a:r>
              <a:rPr kumimoji="1" lang="en-US" altLang="zh-CN" b="1" baseline="-25000" dirty="0">
                <a:latin typeface="Times New Roman" pitchFamily="18" charset="0"/>
              </a:rPr>
              <a:t>2</a:t>
            </a:r>
            <a:r>
              <a:rPr kumimoji="1" lang="en-US" altLang="zh-CN" b="1" dirty="0">
                <a:solidFill>
                  <a:schemeClr val="bg2"/>
                </a:solidFill>
                <a:latin typeface="Times New Roman" pitchFamily="18" charset="0"/>
              </a:rPr>
              <a:t>=G</a:t>
            </a:r>
            <a:r>
              <a:rPr kumimoji="1" lang="zh-CN" altLang="en-US" b="1" dirty="0">
                <a:solidFill>
                  <a:schemeClr val="bg2"/>
                </a:solidFill>
                <a:latin typeface="Times New Roman" pitchFamily="18" charset="0"/>
              </a:rPr>
              <a:t>，因此</a:t>
            </a:r>
            <a:r>
              <a:rPr kumimoji="1" lang="en-US" altLang="zh-CN" b="1" dirty="0">
                <a:latin typeface="Times New Roman" pitchFamily="18" charset="0"/>
              </a:rPr>
              <a:t>G</a:t>
            </a:r>
            <a:r>
              <a:rPr kumimoji="1" lang="zh-CN" altLang="en-US" b="1" dirty="0">
                <a:latin typeface="Times New Roman" pitchFamily="18" charset="0"/>
              </a:rPr>
              <a:t>具有一条欧拉路。</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8130">
                                            <p:txEl>
                                              <p:pRg st="2" end="2"/>
                                            </p:txEl>
                                          </p:spTgt>
                                        </p:tgtEl>
                                        <p:attrNameLst>
                                          <p:attrName>style.visibility</p:attrName>
                                        </p:attrNameLst>
                                      </p:cBhvr>
                                      <p:to>
                                        <p:strVal val="visible"/>
                                      </p:to>
                                    </p:set>
                                    <p:anim calcmode="lin" valueType="num">
                                      <p:cBhvr additive="base">
                                        <p:cTn id="7" dur="500" fill="hold"/>
                                        <p:tgtEl>
                                          <p:spTgt spid="48130">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8130">
                                            <p:txEl>
                                              <p:pRg st="3" end="3"/>
                                            </p:txEl>
                                          </p:spTgt>
                                        </p:tgtEl>
                                        <p:attrNameLst>
                                          <p:attrName>style.visibility</p:attrName>
                                        </p:attrNameLst>
                                      </p:cBhvr>
                                      <p:to>
                                        <p:strVal val="visible"/>
                                      </p:to>
                                    </p:set>
                                    <p:anim calcmode="lin" valueType="num">
                                      <p:cBhvr additive="base">
                                        <p:cTn id="13" dur="500" fill="hold"/>
                                        <p:tgtEl>
                                          <p:spTgt spid="48130">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813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8130">
                                            <p:txEl>
                                              <p:pRg st="4" end="4"/>
                                            </p:txEl>
                                          </p:spTgt>
                                        </p:tgtEl>
                                        <p:attrNameLst>
                                          <p:attrName>style.visibility</p:attrName>
                                        </p:attrNameLst>
                                      </p:cBhvr>
                                      <p:to>
                                        <p:strVal val="visible"/>
                                      </p:to>
                                    </p:set>
                                    <p:anim calcmode="lin" valueType="num">
                                      <p:cBhvr additive="base">
                                        <p:cTn id="19" dur="500" fill="hold"/>
                                        <p:tgtEl>
                                          <p:spTgt spid="48130">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813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2"/>
          <p:cNvSpPr>
            <a:spLocks noGrp="1"/>
          </p:cNvSpPr>
          <p:nvPr>
            <p:ph type="sldNum" sz="quarter" idx="11"/>
          </p:nvPr>
        </p:nvSpPr>
        <p:spPr/>
        <p:txBody>
          <a:bodyPr/>
          <a:lstStyle/>
          <a:p>
            <a:pPr>
              <a:defRPr/>
            </a:pPr>
            <a:fld id="{62614293-CE77-4DD1-9B61-616CDE07C9EF}" type="slidenum">
              <a:rPr lang="en-US" altLang="zh-CN"/>
              <a:pPr>
                <a:defRPr/>
              </a:pPr>
              <a:t>62</a:t>
            </a:fld>
            <a:endParaRPr lang="en-US" altLang="zh-CN"/>
          </a:p>
        </p:txBody>
      </p:sp>
      <p:sp>
        <p:nvSpPr>
          <p:cNvPr id="49155" name="Text Box 3"/>
          <p:cNvSpPr txBox="1">
            <a:spLocks noChangeArrowheads="1"/>
          </p:cNvSpPr>
          <p:nvPr/>
        </p:nvSpPr>
        <p:spPr bwMode="auto">
          <a:xfrm>
            <a:off x="466725" y="4868863"/>
            <a:ext cx="8277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en-US" altLang="zh-CN" b="1">
                <a:latin typeface="Times New Roman" pitchFamily="18" charset="0"/>
              </a:rPr>
              <a:t>deg(A)=5</a:t>
            </a:r>
            <a:r>
              <a:rPr kumimoji="1" lang="zh-CN" altLang="en-US" b="1">
                <a:latin typeface="Times New Roman" pitchFamily="18" charset="0"/>
              </a:rPr>
              <a:t>，</a:t>
            </a:r>
            <a:r>
              <a:rPr kumimoji="1" lang="en-US" altLang="zh-CN" b="1">
                <a:latin typeface="Times New Roman" pitchFamily="18" charset="0"/>
              </a:rPr>
              <a:t>deg(B)=deg(C)=deg(D)=3 </a:t>
            </a:r>
          </a:p>
        </p:txBody>
      </p:sp>
      <p:grpSp>
        <p:nvGrpSpPr>
          <p:cNvPr id="49156" name="Group 4"/>
          <p:cNvGrpSpPr>
            <a:grpSpLocks/>
          </p:cNvGrpSpPr>
          <p:nvPr/>
        </p:nvGrpSpPr>
        <p:grpSpPr bwMode="auto">
          <a:xfrm>
            <a:off x="3348038" y="2349500"/>
            <a:ext cx="2578100" cy="2413000"/>
            <a:chOff x="2408" y="1776"/>
            <a:chExt cx="1624" cy="1520"/>
          </a:xfrm>
        </p:grpSpPr>
        <p:grpSp>
          <p:nvGrpSpPr>
            <p:cNvPr id="63494" name="Group 5"/>
            <p:cNvGrpSpPr>
              <a:grpSpLocks/>
            </p:cNvGrpSpPr>
            <p:nvPr/>
          </p:nvGrpSpPr>
          <p:grpSpPr bwMode="auto">
            <a:xfrm>
              <a:off x="2551" y="2016"/>
              <a:ext cx="1289" cy="1152"/>
              <a:chOff x="2551" y="2016"/>
              <a:chExt cx="1289" cy="1152"/>
            </a:xfrm>
          </p:grpSpPr>
          <p:sp>
            <p:nvSpPr>
              <p:cNvPr id="63499" name="Freeform 6"/>
              <p:cNvSpPr>
                <a:spLocks/>
              </p:cNvSpPr>
              <p:nvPr/>
            </p:nvSpPr>
            <p:spPr bwMode="auto">
              <a:xfrm rot="8100000">
                <a:off x="2805" y="2432"/>
                <a:ext cx="230" cy="736"/>
              </a:xfrm>
              <a:custGeom>
                <a:avLst/>
                <a:gdLst>
                  <a:gd name="T0" fmla="*/ 115 w 420"/>
                  <a:gd name="T1" fmla="*/ 0 h 1248"/>
                  <a:gd name="T2" fmla="*/ 16 w 420"/>
                  <a:gd name="T3" fmla="*/ 184 h 1248"/>
                  <a:gd name="T4" fmla="*/ 16 w 420"/>
                  <a:gd name="T5" fmla="*/ 552 h 1248"/>
                  <a:gd name="T6" fmla="*/ 115 w 420"/>
                  <a:gd name="T7" fmla="*/ 736 h 1248"/>
                  <a:gd name="T8" fmla="*/ 214 w 420"/>
                  <a:gd name="T9" fmla="*/ 552 h 1248"/>
                  <a:gd name="T10" fmla="*/ 214 w 420"/>
                  <a:gd name="T11" fmla="*/ 184 h 1248"/>
                  <a:gd name="T12" fmla="*/ 115 w 420"/>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0" h="1248">
                    <a:moveTo>
                      <a:pt x="210" y="0"/>
                    </a:moveTo>
                    <a:cubicBezTo>
                      <a:pt x="150" y="0"/>
                      <a:pt x="60" y="156"/>
                      <a:pt x="30" y="312"/>
                    </a:cubicBezTo>
                    <a:cubicBezTo>
                      <a:pt x="0" y="468"/>
                      <a:pt x="0" y="780"/>
                      <a:pt x="30" y="936"/>
                    </a:cubicBezTo>
                    <a:cubicBezTo>
                      <a:pt x="60" y="1092"/>
                      <a:pt x="150" y="1248"/>
                      <a:pt x="210" y="1248"/>
                    </a:cubicBezTo>
                    <a:cubicBezTo>
                      <a:pt x="270" y="1248"/>
                      <a:pt x="360" y="1092"/>
                      <a:pt x="390" y="936"/>
                    </a:cubicBezTo>
                    <a:cubicBezTo>
                      <a:pt x="420" y="780"/>
                      <a:pt x="420" y="468"/>
                      <a:pt x="390" y="312"/>
                    </a:cubicBezTo>
                    <a:cubicBezTo>
                      <a:pt x="360" y="156"/>
                      <a:pt x="270" y="0"/>
                      <a:pt x="210" y="0"/>
                    </a:cubicBezTo>
                    <a:close/>
                  </a:path>
                </a:pathLst>
              </a:custGeom>
              <a:solidFill>
                <a:srgbClr val="FFFFFF"/>
              </a:solidFill>
              <a:ln w="25400">
                <a:solidFill>
                  <a:srgbClr val="000000"/>
                </a:solidFill>
                <a:round/>
                <a:headEnd/>
                <a:tailEnd/>
              </a:ln>
            </p:spPr>
            <p:txBody>
              <a:bodyPr/>
              <a:lstStyle/>
              <a:p>
                <a:endParaRPr lang="zh-CN" altLang="en-US"/>
              </a:p>
            </p:txBody>
          </p:sp>
          <p:sp>
            <p:nvSpPr>
              <p:cNvPr id="63500" name="Freeform 7"/>
              <p:cNvSpPr>
                <a:spLocks/>
              </p:cNvSpPr>
              <p:nvPr/>
            </p:nvSpPr>
            <p:spPr bwMode="auto">
              <a:xfrm rot="2700000">
                <a:off x="2793" y="1900"/>
                <a:ext cx="247" cy="731"/>
              </a:xfrm>
              <a:custGeom>
                <a:avLst/>
                <a:gdLst>
                  <a:gd name="T0" fmla="*/ 124 w 420"/>
                  <a:gd name="T1" fmla="*/ 0 h 1248"/>
                  <a:gd name="T2" fmla="*/ 18 w 420"/>
                  <a:gd name="T3" fmla="*/ 183 h 1248"/>
                  <a:gd name="T4" fmla="*/ 18 w 420"/>
                  <a:gd name="T5" fmla="*/ 548 h 1248"/>
                  <a:gd name="T6" fmla="*/ 124 w 420"/>
                  <a:gd name="T7" fmla="*/ 731 h 1248"/>
                  <a:gd name="T8" fmla="*/ 229 w 420"/>
                  <a:gd name="T9" fmla="*/ 548 h 1248"/>
                  <a:gd name="T10" fmla="*/ 229 w 420"/>
                  <a:gd name="T11" fmla="*/ 183 h 1248"/>
                  <a:gd name="T12" fmla="*/ 124 w 420"/>
                  <a:gd name="T13" fmla="*/ 0 h 124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20" h="1248">
                    <a:moveTo>
                      <a:pt x="210" y="0"/>
                    </a:moveTo>
                    <a:cubicBezTo>
                      <a:pt x="150" y="0"/>
                      <a:pt x="60" y="156"/>
                      <a:pt x="30" y="312"/>
                    </a:cubicBezTo>
                    <a:cubicBezTo>
                      <a:pt x="0" y="468"/>
                      <a:pt x="0" y="780"/>
                      <a:pt x="30" y="936"/>
                    </a:cubicBezTo>
                    <a:cubicBezTo>
                      <a:pt x="60" y="1092"/>
                      <a:pt x="150" y="1248"/>
                      <a:pt x="210" y="1248"/>
                    </a:cubicBezTo>
                    <a:cubicBezTo>
                      <a:pt x="270" y="1248"/>
                      <a:pt x="360" y="1092"/>
                      <a:pt x="390" y="936"/>
                    </a:cubicBezTo>
                    <a:cubicBezTo>
                      <a:pt x="420" y="780"/>
                      <a:pt x="420" y="468"/>
                      <a:pt x="390" y="312"/>
                    </a:cubicBezTo>
                    <a:cubicBezTo>
                      <a:pt x="360" y="156"/>
                      <a:pt x="270" y="0"/>
                      <a:pt x="210" y="0"/>
                    </a:cubicBezTo>
                    <a:close/>
                  </a:path>
                </a:pathLst>
              </a:custGeom>
              <a:solidFill>
                <a:srgbClr val="FFFFFF"/>
              </a:solidFill>
              <a:ln w="25400">
                <a:solidFill>
                  <a:srgbClr val="000000"/>
                </a:solidFill>
                <a:round/>
                <a:headEnd/>
                <a:tailEnd/>
              </a:ln>
            </p:spPr>
            <p:txBody>
              <a:bodyPr/>
              <a:lstStyle/>
              <a:p>
                <a:endParaRPr lang="zh-CN" altLang="en-US"/>
              </a:p>
            </p:txBody>
          </p:sp>
          <p:sp>
            <p:nvSpPr>
              <p:cNvPr id="63501" name="Line 8"/>
              <p:cNvSpPr>
                <a:spLocks noChangeShapeType="1"/>
              </p:cNvSpPr>
              <p:nvPr/>
            </p:nvSpPr>
            <p:spPr bwMode="auto">
              <a:xfrm>
                <a:off x="2732" y="2520"/>
                <a:ext cx="108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502" name="Freeform 9"/>
              <p:cNvSpPr>
                <a:spLocks/>
              </p:cNvSpPr>
              <p:nvPr/>
            </p:nvSpPr>
            <p:spPr bwMode="auto">
              <a:xfrm>
                <a:off x="3183" y="2016"/>
                <a:ext cx="657" cy="513"/>
              </a:xfrm>
              <a:custGeom>
                <a:avLst/>
                <a:gdLst>
                  <a:gd name="T0" fmla="*/ 0 w 1200"/>
                  <a:gd name="T1" fmla="*/ 0 h 870"/>
                  <a:gd name="T2" fmla="*/ 657 w 1200"/>
                  <a:gd name="T3" fmla="*/ 513 h 870"/>
                  <a:gd name="T4" fmla="*/ 0 60000 65536"/>
                  <a:gd name="T5" fmla="*/ 0 60000 65536"/>
                </a:gdLst>
                <a:ahLst/>
                <a:cxnLst>
                  <a:cxn ang="T4">
                    <a:pos x="T0" y="T1"/>
                  </a:cxn>
                  <a:cxn ang="T5">
                    <a:pos x="T2" y="T3"/>
                  </a:cxn>
                </a:cxnLst>
                <a:rect l="0" t="0" r="r" b="b"/>
                <a:pathLst>
                  <a:path w="1200" h="870">
                    <a:moveTo>
                      <a:pt x="0" y="0"/>
                    </a:moveTo>
                    <a:lnTo>
                      <a:pt x="1200" y="870"/>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3503" name="Freeform 10"/>
              <p:cNvSpPr>
                <a:spLocks/>
              </p:cNvSpPr>
              <p:nvPr/>
            </p:nvSpPr>
            <p:spPr bwMode="auto">
              <a:xfrm>
                <a:off x="3183" y="2511"/>
                <a:ext cx="641" cy="517"/>
              </a:xfrm>
              <a:custGeom>
                <a:avLst/>
                <a:gdLst>
                  <a:gd name="T0" fmla="*/ 0 w 1170"/>
                  <a:gd name="T1" fmla="*/ 517 h 876"/>
                  <a:gd name="T2" fmla="*/ 641 w 1170"/>
                  <a:gd name="T3" fmla="*/ 0 h 876"/>
                  <a:gd name="T4" fmla="*/ 0 60000 65536"/>
                  <a:gd name="T5" fmla="*/ 0 60000 65536"/>
                </a:gdLst>
                <a:ahLst/>
                <a:cxnLst>
                  <a:cxn ang="T4">
                    <a:pos x="T0" y="T1"/>
                  </a:cxn>
                  <a:cxn ang="T5">
                    <a:pos x="T2" y="T3"/>
                  </a:cxn>
                </a:cxnLst>
                <a:rect l="0" t="0" r="r" b="b"/>
                <a:pathLst>
                  <a:path w="1170" h="876">
                    <a:moveTo>
                      <a:pt x="0" y="876"/>
                    </a:moveTo>
                    <a:lnTo>
                      <a:pt x="1170" y="0"/>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63495" name="Text Box 11"/>
            <p:cNvSpPr txBox="1">
              <a:spLocks noChangeArrowheads="1"/>
            </p:cNvSpPr>
            <p:nvPr/>
          </p:nvSpPr>
          <p:spPr bwMode="auto">
            <a:xfrm>
              <a:off x="2408" y="2376"/>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A</a:t>
              </a:r>
            </a:p>
          </p:txBody>
        </p:sp>
        <p:sp>
          <p:nvSpPr>
            <p:cNvPr id="63496" name="Text Box 12"/>
            <p:cNvSpPr txBox="1">
              <a:spLocks noChangeArrowheads="1"/>
            </p:cNvSpPr>
            <p:nvPr/>
          </p:nvSpPr>
          <p:spPr bwMode="auto">
            <a:xfrm>
              <a:off x="3032" y="3008"/>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D</a:t>
              </a:r>
            </a:p>
          </p:txBody>
        </p:sp>
        <p:sp>
          <p:nvSpPr>
            <p:cNvPr id="63497" name="Text Box 13"/>
            <p:cNvSpPr txBox="1">
              <a:spLocks noChangeArrowheads="1"/>
            </p:cNvSpPr>
            <p:nvPr/>
          </p:nvSpPr>
          <p:spPr bwMode="auto">
            <a:xfrm>
              <a:off x="3024" y="1776"/>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C</a:t>
              </a:r>
            </a:p>
          </p:txBody>
        </p:sp>
        <p:sp>
          <p:nvSpPr>
            <p:cNvPr id="63498" name="Text Box 14"/>
            <p:cNvSpPr txBox="1">
              <a:spLocks noChangeArrowheads="1"/>
            </p:cNvSpPr>
            <p:nvPr/>
          </p:nvSpPr>
          <p:spPr bwMode="auto">
            <a:xfrm>
              <a:off x="3840" y="2352"/>
              <a:ext cx="19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a:latin typeface="Times New Roman" pitchFamily="18" charset="0"/>
                </a:rPr>
                <a:t>B</a:t>
              </a:r>
            </a:p>
          </p:txBody>
        </p:sp>
      </p:grpSp>
      <p:sp>
        <p:nvSpPr>
          <p:cNvPr id="49168" name="Rectangle 16"/>
          <p:cNvSpPr>
            <a:spLocks noChangeArrowheads="1"/>
          </p:cNvSpPr>
          <p:nvPr/>
        </p:nvSpPr>
        <p:spPr bwMode="auto">
          <a:xfrm>
            <a:off x="466725" y="1125538"/>
            <a:ext cx="8277225"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bg1"/>
              </a:buClr>
            </a:pPr>
            <a:r>
              <a:rPr kumimoji="1" lang="zh-CN" altLang="en-US" b="1">
                <a:solidFill>
                  <a:srgbClr val="0000CC"/>
                </a:solidFill>
                <a:latin typeface="Times New Roman" pitchFamily="18" charset="0"/>
              </a:rPr>
              <a:t>推论：</a:t>
            </a:r>
            <a:r>
              <a:rPr kumimoji="1" lang="zh-CN" altLang="en-US" b="1">
                <a:latin typeface="Times New Roman" pitchFamily="18" charset="0"/>
              </a:rPr>
              <a:t>无向图</a:t>
            </a:r>
            <a:r>
              <a:rPr kumimoji="1" lang="en-US" altLang="zh-CN" b="1">
                <a:latin typeface="Times New Roman" pitchFamily="18" charset="0"/>
              </a:rPr>
              <a:t>G</a:t>
            </a:r>
            <a:r>
              <a:rPr kumimoji="1" lang="zh-CN" altLang="en-US" b="1">
                <a:latin typeface="Times New Roman" pitchFamily="18" charset="0"/>
              </a:rPr>
              <a:t>具有一条欧拉回路，当且仅当</a:t>
            </a:r>
            <a:r>
              <a:rPr kumimoji="1" lang="en-US" altLang="zh-CN" b="1">
                <a:latin typeface="Times New Roman" pitchFamily="18" charset="0"/>
              </a:rPr>
              <a:t>G</a:t>
            </a:r>
            <a:r>
              <a:rPr kumimoji="1" lang="zh-CN" altLang="en-US" b="1">
                <a:latin typeface="Times New Roman" pitchFamily="18" charset="0"/>
              </a:rPr>
              <a:t>是连通的，且所有结点度数全为偶数。 </a:t>
            </a:r>
          </a:p>
          <a:p>
            <a:pPr>
              <a:lnSpc>
                <a:spcPct val="130000"/>
              </a:lnSpc>
              <a:buClr>
                <a:schemeClr val="bg1"/>
              </a:buClr>
            </a:pPr>
            <a:r>
              <a:rPr kumimoji="1" lang="zh-CN" altLang="en-US" b="1">
                <a:solidFill>
                  <a:srgbClr val="0000FF"/>
                </a:solidFill>
                <a:latin typeface="Times New Roman" pitchFamily="18" charset="0"/>
              </a:rPr>
              <a:t>哥尼斯堡七桥问题</a:t>
            </a:r>
            <a:r>
              <a:rPr kumimoji="1" lang="zh-CN" altLang="en-US" b="1">
                <a:solidFill>
                  <a:schemeClr val="bg2"/>
                </a:solidFill>
                <a:latin typeface="Times New Roman" pitchFamily="18" charset="0"/>
              </a:rPr>
              <a:t> </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9168">
                                            <p:txEl>
                                              <p:pRg st="1" end="1"/>
                                            </p:txEl>
                                          </p:spTgt>
                                        </p:tgtEl>
                                        <p:attrNameLst>
                                          <p:attrName>style.visibility</p:attrName>
                                        </p:attrNameLst>
                                      </p:cBhvr>
                                      <p:to>
                                        <p:strVal val="visible"/>
                                      </p:to>
                                    </p:set>
                                    <p:anim calcmode="lin" valueType="num">
                                      <p:cBhvr additive="base">
                                        <p:cTn id="7" dur="500" fill="hold"/>
                                        <p:tgtEl>
                                          <p:spTgt spid="4916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6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9156"/>
                                        </p:tgtEl>
                                        <p:attrNameLst>
                                          <p:attrName>style.visibility</p:attrName>
                                        </p:attrNameLst>
                                      </p:cBhvr>
                                      <p:to>
                                        <p:strVal val="visible"/>
                                      </p:to>
                                    </p:set>
                                    <p:anim calcmode="lin" valueType="num">
                                      <p:cBhvr additive="base">
                                        <p:cTn id="13" dur="500" fill="hold"/>
                                        <p:tgtEl>
                                          <p:spTgt spid="49156"/>
                                        </p:tgtEl>
                                        <p:attrNameLst>
                                          <p:attrName>ppt_x</p:attrName>
                                        </p:attrNameLst>
                                      </p:cBhvr>
                                      <p:tavLst>
                                        <p:tav tm="0">
                                          <p:val>
                                            <p:strVal val="#ppt_x"/>
                                          </p:val>
                                        </p:tav>
                                        <p:tav tm="100000">
                                          <p:val>
                                            <p:strVal val="#ppt_x"/>
                                          </p:val>
                                        </p:tav>
                                      </p:tavLst>
                                    </p:anim>
                                    <p:anim calcmode="lin" valueType="num">
                                      <p:cBhvr additive="base">
                                        <p:cTn id="14" dur="500" fill="hold"/>
                                        <p:tgtEl>
                                          <p:spTgt spid="4915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49155"/>
                                        </p:tgtEl>
                                        <p:attrNameLst>
                                          <p:attrName>style.visibility</p:attrName>
                                        </p:attrNameLst>
                                      </p:cBhvr>
                                      <p:to>
                                        <p:strVal val="visible"/>
                                      </p:to>
                                    </p:set>
                                    <p:animEffect transition="in" filter="checkerboard(across)">
                                      <p:cBhvr>
                                        <p:cTn id="19" dur="500"/>
                                        <p:tgtEl>
                                          <p:spTgt spid="491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2"/>
          <p:cNvSpPr>
            <a:spLocks noGrp="1"/>
          </p:cNvSpPr>
          <p:nvPr>
            <p:ph type="sldNum" sz="quarter" idx="11"/>
          </p:nvPr>
        </p:nvSpPr>
        <p:spPr/>
        <p:txBody>
          <a:bodyPr/>
          <a:lstStyle/>
          <a:p>
            <a:pPr>
              <a:defRPr/>
            </a:pPr>
            <a:fld id="{6AEF9AB9-6250-4988-A348-34AA4EEF391A}" type="slidenum">
              <a:rPr lang="en-US" altLang="zh-CN"/>
              <a:pPr>
                <a:defRPr/>
              </a:pPr>
              <a:t>63</a:t>
            </a:fld>
            <a:endParaRPr lang="en-US" altLang="zh-CN"/>
          </a:p>
        </p:txBody>
      </p:sp>
      <p:sp>
        <p:nvSpPr>
          <p:cNvPr id="66563" name="Text Box 3"/>
          <p:cNvSpPr txBox="1">
            <a:spLocks noChangeArrowheads="1"/>
          </p:cNvSpPr>
          <p:nvPr/>
        </p:nvSpPr>
        <p:spPr bwMode="auto">
          <a:xfrm>
            <a:off x="611560" y="1268760"/>
            <a:ext cx="75596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800" b="1">
                <a:solidFill>
                  <a:srgbClr val="993300"/>
                </a:solidFill>
                <a:latin typeface="楷体_GB2312" pitchFamily="49" charset="-122"/>
                <a:ea typeface="楷体_GB2312" pitchFamily="49" charset="-122"/>
              </a:rPr>
              <a:t>2</a:t>
            </a:r>
            <a:r>
              <a:rPr kumimoji="1" lang="zh-CN" altLang="en-US" sz="2800" b="1">
                <a:solidFill>
                  <a:srgbClr val="993300"/>
                </a:solidFill>
                <a:latin typeface="楷体_GB2312" pitchFamily="49" charset="-122"/>
                <a:ea typeface="楷体_GB2312" pitchFamily="49" charset="-122"/>
              </a:rPr>
              <a:t>、一笔画问题</a:t>
            </a:r>
          </a:p>
        </p:txBody>
      </p:sp>
      <p:grpSp>
        <p:nvGrpSpPr>
          <p:cNvPr id="66564" name="Group 4"/>
          <p:cNvGrpSpPr>
            <a:grpSpLocks/>
          </p:cNvGrpSpPr>
          <p:nvPr/>
        </p:nvGrpSpPr>
        <p:grpSpPr bwMode="auto">
          <a:xfrm>
            <a:off x="2102223" y="2109341"/>
            <a:ext cx="1287462" cy="1463675"/>
            <a:chOff x="2700" y="8928"/>
            <a:chExt cx="1440" cy="1872"/>
          </a:xfrm>
        </p:grpSpPr>
        <p:sp>
          <p:nvSpPr>
            <p:cNvPr id="66579" name="AutoShape 5"/>
            <p:cNvSpPr>
              <a:spLocks noChangeArrowheads="1"/>
            </p:cNvSpPr>
            <p:nvPr/>
          </p:nvSpPr>
          <p:spPr bwMode="auto">
            <a:xfrm>
              <a:off x="2700" y="8928"/>
              <a:ext cx="1440" cy="624"/>
            </a:xfrm>
            <a:prstGeom prst="triangle">
              <a:avLst>
                <a:gd name="adj" fmla="val 50000"/>
              </a:avLst>
            </a:prstGeom>
            <a:solidFill>
              <a:srgbClr val="FFFFFF"/>
            </a:solidFill>
            <a:ln w="25400">
              <a:solidFill>
                <a:srgbClr val="000000"/>
              </a:solidFill>
              <a:miter lim="800000"/>
              <a:headEnd/>
              <a:tailEnd/>
            </a:ln>
          </p:spPr>
          <p:txBody>
            <a:bodyPr/>
            <a:lstStyle/>
            <a:p>
              <a:endParaRPr lang="zh-CN" altLang="en-US"/>
            </a:p>
          </p:txBody>
        </p:sp>
        <p:sp>
          <p:nvSpPr>
            <p:cNvPr id="66580" name="Rectangle 6"/>
            <p:cNvSpPr>
              <a:spLocks noChangeArrowheads="1"/>
            </p:cNvSpPr>
            <p:nvPr/>
          </p:nvSpPr>
          <p:spPr bwMode="auto">
            <a:xfrm>
              <a:off x="2700" y="9552"/>
              <a:ext cx="1440" cy="1248"/>
            </a:xfrm>
            <a:prstGeom prst="rect">
              <a:avLst/>
            </a:prstGeom>
            <a:solidFill>
              <a:srgbClr val="FFFFFF"/>
            </a:solidFill>
            <a:ln w="25400">
              <a:solidFill>
                <a:srgbClr val="000000"/>
              </a:solidFill>
              <a:miter lim="800000"/>
              <a:headEnd/>
              <a:tailEnd/>
            </a:ln>
          </p:spPr>
          <p:txBody>
            <a:bodyPr/>
            <a:lstStyle/>
            <a:p>
              <a:endParaRPr lang="zh-CN" altLang="en-US"/>
            </a:p>
          </p:txBody>
        </p:sp>
      </p:grpSp>
      <p:grpSp>
        <p:nvGrpSpPr>
          <p:cNvPr id="66565" name="Group 7"/>
          <p:cNvGrpSpPr>
            <a:grpSpLocks/>
          </p:cNvGrpSpPr>
          <p:nvPr/>
        </p:nvGrpSpPr>
        <p:grpSpPr bwMode="auto">
          <a:xfrm>
            <a:off x="4318373" y="2061716"/>
            <a:ext cx="1447800" cy="1219200"/>
            <a:chOff x="6120" y="9084"/>
            <a:chExt cx="1620" cy="1560"/>
          </a:xfrm>
        </p:grpSpPr>
        <p:sp>
          <p:nvSpPr>
            <p:cNvPr id="66574" name="Line 8"/>
            <p:cNvSpPr>
              <a:spLocks noChangeShapeType="1"/>
            </p:cNvSpPr>
            <p:nvPr/>
          </p:nvSpPr>
          <p:spPr bwMode="auto">
            <a:xfrm flipH="1">
              <a:off x="6300" y="9084"/>
              <a:ext cx="540" cy="15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75" name="Line 9"/>
            <p:cNvSpPr>
              <a:spLocks noChangeShapeType="1"/>
            </p:cNvSpPr>
            <p:nvPr/>
          </p:nvSpPr>
          <p:spPr bwMode="auto">
            <a:xfrm>
              <a:off x="6840" y="9084"/>
              <a:ext cx="540" cy="15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76" name="Line 10"/>
            <p:cNvSpPr>
              <a:spLocks noChangeShapeType="1"/>
            </p:cNvSpPr>
            <p:nvPr/>
          </p:nvSpPr>
          <p:spPr bwMode="auto">
            <a:xfrm>
              <a:off x="6120" y="9864"/>
              <a:ext cx="16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77" name="Line 11"/>
            <p:cNvSpPr>
              <a:spLocks noChangeShapeType="1"/>
            </p:cNvSpPr>
            <p:nvPr/>
          </p:nvSpPr>
          <p:spPr bwMode="auto">
            <a:xfrm flipH="1">
              <a:off x="6300" y="9864"/>
              <a:ext cx="1440" cy="7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578" name="Line 12"/>
            <p:cNvSpPr>
              <a:spLocks noChangeShapeType="1"/>
            </p:cNvSpPr>
            <p:nvPr/>
          </p:nvSpPr>
          <p:spPr bwMode="auto">
            <a:xfrm>
              <a:off x="6120" y="9864"/>
              <a:ext cx="1260" cy="78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4145913761"/>
      </p:ext>
    </p:extLst>
  </p:cSld>
  <p:clrMapOvr>
    <a:masterClrMapping/>
  </p:clrMapOvr>
  <p:transition spd="slow">
    <p:random/>
  </p:transition>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2"/>
          <p:cNvSpPr>
            <a:spLocks noGrp="1"/>
          </p:cNvSpPr>
          <p:nvPr>
            <p:ph type="sldNum" sz="quarter" idx="11"/>
          </p:nvPr>
        </p:nvSpPr>
        <p:spPr/>
        <p:txBody>
          <a:bodyPr/>
          <a:lstStyle/>
          <a:p>
            <a:pPr>
              <a:defRPr/>
            </a:pPr>
            <a:fld id="{6AEF9AB9-6250-4988-A348-34AA4EEF391A}" type="slidenum">
              <a:rPr lang="en-US" altLang="zh-CN"/>
              <a:pPr>
                <a:defRPr/>
              </a:pPr>
              <a:t>64</a:t>
            </a:fld>
            <a:endParaRPr lang="en-US" altLang="zh-CN"/>
          </a:p>
        </p:txBody>
      </p:sp>
      <p:sp>
        <p:nvSpPr>
          <p:cNvPr id="50189" name="Text Box 13"/>
          <p:cNvSpPr txBox="1">
            <a:spLocks noChangeArrowheads="1"/>
          </p:cNvSpPr>
          <p:nvPr/>
        </p:nvSpPr>
        <p:spPr bwMode="auto">
          <a:xfrm>
            <a:off x="466725" y="1124744"/>
            <a:ext cx="8277225" cy="159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en-US" altLang="zh-CN" sz="2800" b="1" dirty="0">
                <a:solidFill>
                  <a:srgbClr val="993300"/>
                </a:solidFill>
                <a:latin typeface="楷体_GB2312" pitchFamily="49" charset="-122"/>
                <a:ea typeface="楷体_GB2312" pitchFamily="49" charset="-122"/>
              </a:rPr>
              <a:t>3</a:t>
            </a:r>
            <a:r>
              <a:rPr kumimoji="1" lang="zh-CN" altLang="en-US" sz="2800" b="1" dirty="0">
                <a:solidFill>
                  <a:srgbClr val="993300"/>
                </a:solidFill>
                <a:latin typeface="楷体_GB2312" pitchFamily="49" charset="-122"/>
                <a:ea typeface="楷体_GB2312" pitchFamily="49" charset="-122"/>
              </a:rPr>
              <a:t>、有向图中的欧拉路</a:t>
            </a:r>
          </a:p>
          <a:p>
            <a:pPr algn="just" eaLnBrk="1" hangingPunct="1">
              <a:lnSpc>
                <a:spcPct val="130000"/>
              </a:lnSpc>
            </a:pPr>
            <a:r>
              <a:rPr kumimoji="1" lang="zh-CN" altLang="en-US" b="1" dirty="0">
                <a:solidFill>
                  <a:srgbClr val="0000CC"/>
                </a:solidFill>
                <a:latin typeface="Times New Roman" pitchFamily="18" charset="0"/>
              </a:rPr>
              <a:t>定义</a:t>
            </a:r>
            <a:r>
              <a:rPr kumimoji="1" lang="en-US" altLang="zh-CN" b="1" dirty="0">
                <a:solidFill>
                  <a:srgbClr val="0000CC"/>
                </a:solidFill>
                <a:latin typeface="Times New Roman" pitchFamily="18" charset="0"/>
              </a:rPr>
              <a:t>7-4.2</a:t>
            </a:r>
            <a:r>
              <a:rPr kumimoji="1" lang="zh-CN" altLang="en-US" b="1" dirty="0">
                <a:solidFill>
                  <a:srgbClr val="0000CC"/>
                </a:solidFill>
                <a:latin typeface="Times New Roman" pitchFamily="18" charset="0"/>
              </a:rPr>
              <a:t>：</a:t>
            </a:r>
            <a:r>
              <a:rPr kumimoji="1" lang="zh-CN" altLang="en-US" b="1" dirty="0">
                <a:latin typeface="Times New Roman" pitchFamily="18" charset="0"/>
              </a:rPr>
              <a:t>给定有向图</a:t>
            </a:r>
            <a:r>
              <a:rPr kumimoji="1" lang="en-US" altLang="zh-CN" b="1" dirty="0">
                <a:latin typeface="Times New Roman" pitchFamily="18" charset="0"/>
              </a:rPr>
              <a:t>G</a:t>
            </a:r>
            <a:r>
              <a:rPr kumimoji="1" lang="zh-CN" altLang="en-US" b="1" dirty="0">
                <a:latin typeface="Times New Roman" pitchFamily="18" charset="0"/>
              </a:rPr>
              <a:t>，通过图中</a:t>
            </a:r>
            <a:r>
              <a:rPr kumimoji="1" lang="zh-CN" altLang="en-US" b="1" dirty="0">
                <a:solidFill>
                  <a:srgbClr val="0000FF"/>
                </a:solidFill>
                <a:latin typeface="Times New Roman" pitchFamily="18" charset="0"/>
              </a:rPr>
              <a:t>每边一次且仅一次</a:t>
            </a:r>
            <a:r>
              <a:rPr kumimoji="1" lang="zh-CN" altLang="en-US" b="1" dirty="0">
                <a:latin typeface="Times New Roman" pitchFamily="18" charset="0"/>
              </a:rPr>
              <a:t>的一条单向路</a:t>
            </a:r>
            <a:r>
              <a:rPr kumimoji="1" lang="en-US" altLang="zh-CN" b="1" dirty="0">
                <a:latin typeface="Times New Roman" pitchFamily="18" charset="0"/>
              </a:rPr>
              <a:t>(</a:t>
            </a:r>
            <a:r>
              <a:rPr kumimoji="1" lang="zh-CN" altLang="en-US" b="1" dirty="0">
                <a:latin typeface="Times New Roman" pitchFamily="18" charset="0"/>
              </a:rPr>
              <a:t>回路</a:t>
            </a:r>
            <a:r>
              <a:rPr kumimoji="1" lang="en-US" altLang="zh-CN" b="1" dirty="0">
                <a:latin typeface="Times New Roman" pitchFamily="18" charset="0"/>
              </a:rPr>
              <a:t>)</a:t>
            </a:r>
            <a:r>
              <a:rPr kumimoji="1" lang="zh-CN" altLang="en-US" b="1" dirty="0">
                <a:latin typeface="Times New Roman" pitchFamily="18" charset="0"/>
              </a:rPr>
              <a:t>，称作</a:t>
            </a:r>
            <a:r>
              <a:rPr kumimoji="1" lang="zh-CN" altLang="en-US" b="1" i="1" dirty="0">
                <a:solidFill>
                  <a:srgbClr val="FF0000"/>
                </a:solidFill>
                <a:latin typeface="Times New Roman" pitchFamily="18" charset="0"/>
              </a:rPr>
              <a:t>单向欧拉路</a:t>
            </a:r>
            <a:r>
              <a:rPr kumimoji="1" lang="en-US" altLang="zh-CN" b="1" dirty="0">
                <a:solidFill>
                  <a:srgbClr val="FF0000"/>
                </a:solidFill>
                <a:latin typeface="Times New Roman" pitchFamily="18" charset="0"/>
              </a:rPr>
              <a:t>(</a:t>
            </a:r>
            <a:r>
              <a:rPr kumimoji="1" lang="zh-CN" altLang="en-US" b="1" dirty="0">
                <a:solidFill>
                  <a:srgbClr val="FF0000"/>
                </a:solidFill>
                <a:latin typeface="Times New Roman" pitchFamily="18" charset="0"/>
              </a:rPr>
              <a:t>回路</a:t>
            </a:r>
            <a:r>
              <a:rPr kumimoji="1" lang="en-US" altLang="zh-CN" b="1" dirty="0">
                <a:solidFill>
                  <a:srgbClr val="FF0000"/>
                </a:solidFill>
                <a:latin typeface="Times New Roman" pitchFamily="18" charset="0"/>
              </a:rPr>
              <a:t>)</a:t>
            </a:r>
            <a:r>
              <a:rPr kumimoji="1" lang="zh-CN" altLang="en-US" b="1" dirty="0">
                <a:latin typeface="Times New Roman" pitchFamily="18" charset="0"/>
              </a:rPr>
              <a:t>。</a:t>
            </a:r>
          </a:p>
        </p:txBody>
      </p:sp>
      <p:grpSp>
        <p:nvGrpSpPr>
          <p:cNvPr id="50190" name="Group 14"/>
          <p:cNvGrpSpPr>
            <a:grpSpLocks/>
          </p:cNvGrpSpPr>
          <p:nvPr/>
        </p:nvGrpSpPr>
        <p:grpSpPr bwMode="auto">
          <a:xfrm>
            <a:off x="6780213" y="2853532"/>
            <a:ext cx="1752600" cy="1676400"/>
            <a:chOff x="3696" y="3120"/>
            <a:chExt cx="912" cy="768"/>
          </a:xfrm>
        </p:grpSpPr>
        <p:sp>
          <p:nvSpPr>
            <p:cNvPr id="66569" name="Line 15"/>
            <p:cNvSpPr>
              <a:spLocks noChangeShapeType="1"/>
            </p:cNvSpPr>
            <p:nvPr/>
          </p:nvSpPr>
          <p:spPr bwMode="auto">
            <a:xfrm flipH="1">
              <a:off x="3797" y="3120"/>
              <a:ext cx="304" cy="768"/>
            </a:xfrm>
            <a:prstGeom prst="line">
              <a:avLst/>
            </a:prstGeom>
            <a:noFill/>
            <a:ln w="25400">
              <a:solidFill>
                <a:schemeClr val="tx1"/>
              </a:solidFill>
              <a:round/>
              <a:headEnd type="arrow" w="lg" len="lg"/>
              <a:tailEnd/>
            </a:ln>
            <a:extLst>
              <a:ext uri="{909E8E84-426E-40DD-AFC4-6F175D3DCCD1}">
                <a14:hiddenFill xmlns:a14="http://schemas.microsoft.com/office/drawing/2010/main">
                  <a:noFill/>
                </a14:hiddenFill>
              </a:ext>
            </a:extLst>
          </p:spPr>
          <p:txBody>
            <a:bodyPr/>
            <a:lstStyle/>
            <a:p>
              <a:endParaRPr lang="zh-CN" altLang="en-US"/>
            </a:p>
          </p:txBody>
        </p:sp>
        <p:sp>
          <p:nvSpPr>
            <p:cNvPr id="66570" name="Line 16"/>
            <p:cNvSpPr>
              <a:spLocks noChangeShapeType="1"/>
            </p:cNvSpPr>
            <p:nvPr/>
          </p:nvSpPr>
          <p:spPr bwMode="auto">
            <a:xfrm>
              <a:off x="4101" y="3120"/>
              <a:ext cx="304" cy="768"/>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zh-CN" altLang="en-US"/>
            </a:p>
          </p:txBody>
        </p:sp>
        <p:sp>
          <p:nvSpPr>
            <p:cNvPr id="66571" name="Line 17"/>
            <p:cNvSpPr>
              <a:spLocks noChangeShapeType="1"/>
            </p:cNvSpPr>
            <p:nvPr/>
          </p:nvSpPr>
          <p:spPr bwMode="auto">
            <a:xfrm>
              <a:off x="3696" y="3504"/>
              <a:ext cx="912" cy="0"/>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zh-CN" altLang="en-US"/>
            </a:p>
          </p:txBody>
        </p:sp>
        <p:sp>
          <p:nvSpPr>
            <p:cNvPr id="66572" name="Line 18"/>
            <p:cNvSpPr>
              <a:spLocks noChangeShapeType="1"/>
            </p:cNvSpPr>
            <p:nvPr/>
          </p:nvSpPr>
          <p:spPr bwMode="auto">
            <a:xfrm flipH="1">
              <a:off x="3797" y="3504"/>
              <a:ext cx="811" cy="384"/>
            </a:xfrm>
            <a:prstGeom prst="line">
              <a:avLst/>
            </a:prstGeom>
            <a:noFill/>
            <a:ln w="25400">
              <a:solidFill>
                <a:schemeClr val="tx1"/>
              </a:solidFill>
              <a:round/>
              <a:headEnd/>
              <a:tailEnd type="arrow" w="lg" len="lg"/>
            </a:ln>
            <a:extLst>
              <a:ext uri="{909E8E84-426E-40DD-AFC4-6F175D3DCCD1}">
                <a14:hiddenFill xmlns:a14="http://schemas.microsoft.com/office/drawing/2010/main">
                  <a:noFill/>
                </a14:hiddenFill>
              </a:ext>
            </a:extLst>
          </p:spPr>
          <p:txBody>
            <a:bodyPr/>
            <a:lstStyle/>
            <a:p>
              <a:endParaRPr lang="zh-CN" altLang="en-US"/>
            </a:p>
          </p:txBody>
        </p:sp>
        <p:sp>
          <p:nvSpPr>
            <p:cNvPr id="66573" name="Line 19"/>
            <p:cNvSpPr>
              <a:spLocks noChangeShapeType="1"/>
            </p:cNvSpPr>
            <p:nvPr/>
          </p:nvSpPr>
          <p:spPr bwMode="auto">
            <a:xfrm>
              <a:off x="3696" y="3504"/>
              <a:ext cx="709" cy="384"/>
            </a:xfrm>
            <a:prstGeom prst="line">
              <a:avLst/>
            </a:prstGeom>
            <a:noFill/>
            <a:ln w="25400">
              <a:solidFill>
                <a:schemeClr val="tx1"/>
              </a:solidFill>
              <a:round/>
              <a:headEnd type="arrow" w="lg" len="lg"/>
              <a:tailEnd/>
            </a:ln>
            <a:extLst>
              <a:ext uri="{909E8E84-426E-40DD-AFC4-6F175D3DCCD1}">
                <a14:hiddenFill xmlns:a14="http://schemas.microsoft.com/office/drawing/2010/main">
                  <a:noFill/>
                </a14:hiddenFill>
              </a:ext>
            </a:extLst>
          </p:spPr>
          <p:txBody>
            <a:bodyPr/>
            <a:lstStyle/>
            <a:p>
              <a:endParaRPr lang="zh-CN" altLang="en-US"/>
            </a:p>
          </p:txBody>
        </p:sp>
      </p:grpSp>
      <p:sp>
        <p:nvSpPr>
          <p:cNvPr id="50196" name="Text Box 20"/>
          <p:cNvSpPr txBox="1">
            <a:spLocks noChangeArrowheads="1"/>
          </p:cNvSpPr>
          <p:nvPr/>
        </p:nvSpPr>
        <p:spPr bwMode="auto">
          <a:xfrm>
            <a:off x="466725" y="2663032"/>
            <a:ext cx="6324600"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7-4.2</a:t>
            </a:r>
            <a:r>
              <a:rPr kumimoji="1" lang="zh-CN" altLang="en-US" b="1">
                <a:solidFill>
                  <a:srgbClr val="0000CC"/>
                </a:solidFill>
                <a:latin typeface="Times New Roman" pitchFamily="18" charset="0"/>
              </a:rPr>
              <a:t>：</a:t>
            </a:r>
            <a:r>
              <a:rPr kumimoji="1" lang="zh-CN" altLang="en-US" b="1">
                <a:latin typeface="Times New Roman" pitchFamily="18" charset="0"/>
              </a:rPr>
              <a:t>有向图</a:t>
            </a:r>
            <a:r>
              <a:rPr kumimoji="1" lang="en-US" altLang="zh-CN" b="1">
                <a:latin typeface="Times New Roman" pitchFamily="18" charset="0"/>
              </a:rPr>
              <a:t>G</a:t>
            </a:r>
            <a:r>
              <a:rPr kumimoji="1" lang="zh-CN" altLang="en-US" b="1">
                <a:latin typeface="Times New Roman" pitchFamily="18" charset="0"/>
              </a:rPr>
              <a:t>具有一条单向欧拉路，当且仅当是连通的，且每个结点入度等于出度或者有两个结点，一个结点的入度比出度大</a:t>
            </a:r>
            <a:r>
              <a:rPr kumimoji="1" lang="en-US" altLang="zh-CN" b="1">
                <a:latin typeface="Times New Roman" pitchFamily="18" charset="0"/>
              </a:rPr>
              <a:t>1</a:t>
            </a:r>
            <a:r>
              <a:rPr kumimoji="1" lang="zh-CN" altLang="en-US" b="1">
                <a:latin typeface="Times New Roman" pitchFamily="18" charset="0"/>
              </a:rPr>
              <a:t>，另一个结点的入度比出度小</a:t>
            </a:r>
            <a:r>
              <a:rPr kumimoji="1" lang="en-US" altLang="zh-CN" b="1">
                <a:latin typeface="Times New Roman" pitchFamily="18" charset="0"/>
              </a:rPr>
              <a:t>1</a:t>
            </a:r>
            <a:r>
              <a:rPr kumimoji="1" lang="zh-CN" altLang="en-US" b="1">
                <a:latin typeface="Times New Roman" pitchFamily="18" charset="0"/>
              </a:rPr>
              <a:t>。</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0196"/>
                                        </p:tgtEl>
                                        <p:attrNameLst>
                                          <p:attrName>style.visibility</p:attrName>
                                        </p:attrNameLst>
                                      </p:cBhvr>
                                      <p:to>
                                        <p:strVal val="visible"/>
                                      </p:to>
                                    </p:set>
                                    <p:anim calcmode="lin" valueType="num">
                                      <p:cBhvr additive="base">
                                        <p:cTn id="7" dur="500" fill="hold"/>
                                        <p:tgtEl>
                                          <p:spTgt spid="50196"/>
                                        </p:tgtEl>
                                        <p:attrNameLst>
                                          <p:attrName>ppt_x</p:attrName>
                                        </p:attrNameLst>
                                      </p:cBhvr>
                                      <p:tavLst>
                                        <p:tav tm="0">
                                          <p:val>
                                            <p:strVal val="#ppt_x"/>
                                          </p:val>
                                        </p:tav>
                                        <p:tav tm="100000">
                                          <p:val>
                                            <p:strVal val="#ppt_x"/>
                                          </p:val>
                                        </p:tav>
                                      </p:tavLst>
                                    </p:anim>
                                    <p:anim calcmode="lin" valueType="num">
                                      <p:cBhvr additive="base">
                                        <p:cTn id="8" dur="500" fill="hold"/>
                                        <p:tgtEl>
                                          <p:spTgt spid="5019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0190"/>
                                        </p:tgtEl>
                                        <p:attrNameLst>
                                          <p:attrName>style.visibility</p:attrName>
                                        </p:attrNameLst>
                                      </p:cBhvr>
                                      <p:to>
                                        <p:strVal val="visible"/>
                                      </p:to>
                                    </p:set>
                                    <p:anim calcmode="lin" valueType="num">
                                      <p:cBhvr additive="base">
                                        <p:cTn id="13" dur="500" fill="hold"/>
                                        <p:tgtEl>
                                          <p:spTgt spid="50190"/>
                                        </p:tgtEl>
                                        <p:attrNameLst>
                                          <p:attrName>ppt_x</p:attrName>
                                        </p:attrNameLst>
                                      </p:cBhvr>
                                      <p:tavLst>
                                        <p:tav tm="0">
                                          <p:val>
                                            <p:strVal val="#ppt_x"/>
                                          </p:val>
                                        </p:tav>
                                        <p:tav tm="100000">
                                          <p:val>
                                            <p:strVal val="#ppt_x"/>
                                          </p:val>
                                        </p:tav>
                                      </p:tavLst>
                                    </p:anim>
                                    <p:anim calcmode="lin" valueType="num">
                                      <p:cBhvr additive="base">
                                        <p:cTn id="14" dur="500" fill="hold"/>
                                        <p:tgtEl>
                                          <p:spTgt spid="501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96"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pPr>
              <a:defRPr/>
            </a:pPr>
            <a:fld id="{2BEA5507-BC52-4877-96E8-80191E0330BB}" type="slidenum">
              <a:rPr lang="en-US" altLang="zh-CN"/>
              <a:pPr>
                <a:defRPr/>
              </a:pPr>
              <a:t>65</a:t>
            </a:fld>
            <a:endParaRPr lang="en-US" altLang="zh-CN"/>
          </a:p>
        </p:txBody>
      </p:sp>
      <p:sp>
        <p:nvSpPr>
          <p:cNvPr id="67587" name="Text Box 5"/>
          <p:cNvSpPr txBox="1">
            <a:spLocks noChangeArrowheads="1"/>
          </p:cNvSpPr>
          <p:nvPr/>
        </p:nvSpPr>
        <p:spPr bwMode="auto">
          <a:xfrm>
            <a:off x="466725" y="1250950"/>
            <a:ext cx="8277225" cy="1000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dirty="0">
                <a:solidFill>
                  <a:srgbClr val="0033CC"/>
                </a:solidFill>
                <a:latin typeface="Times New Roman" pitchFamily="18" charset="0"/>
              </a:rPr>
              <a:t>周游世界问题</a:t>
            </a:r>
            <a:r>
              <a:rPr kumimoji="1" lang="zh-CN" altLang="en-US" b="1" dirty="0">
                <a:latin typeface="Times New Roman" pitchFamily="18" charset="0"/>
              </a:rPr>
              <a:t>：能否找到一条旅游线路，沿着交通线经过每个城市恰好一次，再回到原来的出发地。</a:t>
            </a:r>
          </a:p>
        </p:txBody>
      </p:sp>
      <p:sp>
        <p:nvSpPr>
          <p:cNvPr id="51206" name="Text Box 6"/>
          <p:cNvSpPr txBox="1">
            <a:spLocks noChangeArrowheads="1"/>
          </p:cNvSpPr>
          <p:nvPr/>
        </p:nvSpPr>
        <p:spPr bwMode="auto">
          <a:xfrm>
            <a:off x="466725" y="2276475"/>
            <a:ext cx="8277225" cy="2546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en-US" altLang="zh-CN" sz="2800" b="1" dirty="0">
                <a:solidFill>
                  <a:srgbClr val="993300"/>
                </a:solidFill>
                <a:latin typeface="楷体_GB2312" pitchFamily="49" charset="-122"/>
                <a:ea typeface="楷体_GB2312" pitchFamily="49" charset="-122"/>
              </a:rPr>
              <a:t>1</a:t>
            </a:r>
            <a:r>
              <a:rPr kumimoji="1" lang="zh-CN" altLang="en-US" sz="2800" b="1" dirty="0">
                <a:solidFill>
                  <a:srgbClr val="993300"/>
                </a:solidFill>
                <a:latin typeface="楷体_GB2312" pitchFamily="49" charset="-122"/>
                <a:ea typeface="楷体_GB2312" pitchFamily="49" charset="-122"/>
              </a:rPr>
              <a:t>、定义</a:t>
            </a:r>
          </a:p>
          <a:p>
            <a:pPr algn="just" eaLnBrk="1" hangingPunct="1">
              <a:lnSpc>
                <a:spcPct val="130000"/>
              </a:lnSpc>
            </a:pPr>
            <a:r>
              <a:rPr kumimoji="1" lang="zh-CN" altLang="en-US" b="1" dirty="0">
                <a:solidFill>
                  <a:srgbClr val="0000CC"/>
                </a:solidFill>
                <a:latin typeface="Times New Roman" pitchFamily="18" charset="0"/>
              </a:rPr>
              <a:t>定义</a:t>
            </a:r>
            <a:r>
              <a:rPr kumimoji="1" lang="en-US" altLang="zh-CN" b="1" dirty="0">
                <a:solidFill>
                  <a:srgbClr val="0000CC"/>
                </a:solidFill>
                <a:latin typeface="Times New Roman" pitchFamily="18" charset="0"/>
              </a:rPr>
              <a:t>7-4.3</a:t>
            </a:r>
            <a:r>
              <a:rPr kumimoji="1" lang="zh-CN" altLang="en-US" b="1" dirty="0">
                <a:solidFill>
                  <a:srgbClr val="0000CC"/>
                </a:solidFill>
                <a:latin typeface="Times New Roman" pitchFamily="18" charset="0"/>
              </a:rPr>
              <a:t>：</a:t>
            </a:r>
            <a:r>
              <a:rPr kumimoji="1" lang="zh-CN" altLang="en-US" b="1" dirty="0">
                <a:latin typeface="Times New Roman" pitchFamily="18" charset="0"/>
              </a:rPr>
              <a:t>给定图</a:t>
            </a:r>
            <a:r>
              <a:rPr kumimoji="1" lang="en-US" altLang="zh-CN" b="1" dirty="0">
                <a:latin typeface="Times New Roman" pitchFamily="18" charset="0"/>
              </a:rPr>
              <a:t>G</a:t>
            </a:r>
            <a:r>
              <a:rPr kumimoji="1" lang="zh-CN" altLang="en-US" b="1" dirty="0">
                <a:latin typeface="Times New Roman" pitchFamily="18" charset="0"/>
              </a:rPr>
              <a:t>，若存在一条路经过图中的每个结点</a:t>
            </a:r>
            <a:r>
              <a:rPr kumimoji="1" lang="zh-CN" altLang="en-US" b="1" dirty="0">
                <a:solidFill>
                  <a:srgbClr val="0000FF"/>
                </a:solidFill>
                <a:latin typeface="Times New Roman" pitchFamily="18" charset="0"/>
              </a:rPr>
              <a:t>恰好一次</a:t>
            </a:r>
            <a:r>
              <a:rPr kumimoji="1" lang="zh-CN" altLang="en-US" b="1" dirty="0">
                <a:latin typeface="Times New Roman" pitchFamily="18" charset="0"/>
              </a:rPr>
              <a:t>，这条路称作</a:t>
            </a:r>
            <a:r>
              <a:rPr kumimoji="1" lang="zh-CN" altLang="en-US" b="1" i="1" dirty="0">
                <a:solidFill>
                  <a:srgbClr val="FF0000"/>
                </a:solidFill>
                <a:latin typeface="Times New Roman" pitchFamily="18" charset="0"/>
              </a:rPr>
              <a:t>汉密尔顿路</a:t>
            </a:r>
            <a:r>
              <a:rPr kumimoji="1" lang="zh-CN" altLang="en-US" b="1" dirty="0">
                <a:latin typeface="Times New Roman" pitchFamily="18" charset="0"/>
              </a:rPr>
              <a:t>。若存在一条回路，经过图中的每个结点</a:t>
            </a:r>
            <a:r>
              <a:rPr kumimoji="1" lang="zh-CN" altLang="en-US" b="1" dirty="0">
                <a:solidFill>
                  <a:srgbClr val="0000FF"/>
                </a:solidFill>
                <a:latin typeface="Times New Roman" pitchFamily="18" charset="0"/>
              </a:rPr>
              <a:t>恰好一次</a:t>
            </a:r>
            <a:r>
              <a:rPr kumimoji="1" lang="zh-CN" altLang="en-US" b="1" dirty="0">
                <a:latin typeface="Times New Roman" pitchFamily="18" charset="0"/>
              </a:rPr>
              <a:t>，这条回路称作</a:t>
            </a:r>
            <a:r>
              <a:rPr kumimoji="1" lang="zh-CN" altLang="en-US" b="1" i="1" dirty="0">
                <a:solidFill>
                  <a:srgbClr val="FF0000"/>
                </a:solidFill>
                <a:latin typeface="Times New Roman" pitchFamily="18" charset="0"/>
              </a:rPr>
              <a:t>汉密尔顿回路</a:t>
            </a:r>
            <a:r>
              <a:rPr kumimoji="1" lang="zh-CN" altLang="en-US" b="1" dirty="0">
                <a:latin typeface="Times New Roman" pitchFamily="18" charset="0"/>
              </a:rPr>
              <a:t>。具有汉密尔顿回路的图称为</a:t>
            </a:r>
            <a:r>
              <a:rPr kumimoji="1" lang="zh-CN" altLang="en-US" b="1" i="1" dirty="0">
                <a:solidFill>
                  <a:srgbClr val="FF0000"/>
                </a:solidFill>
                <a:latin typeface="Times New Roman" pitchFamily="18" charset="0"/>
              </a:rPr>
              <a:t>汉密尔顿图</a:t>
            </a:r>
            <a:r>
              <a:rPr kumimoji="1" lang="zh-CN" altLang="en-US" b="1" dirty="0">
                <a:latin typeface="Times New Roman" pitchFamily="18" charset="0"/>
              </a:rPr>
              <a:t>。 </a:t>
            </a:r>
          </a:p>
        </p:txBody>
      </p:sp>
      <p:sp>
        <p:nvSpPr>
          <p:cNvPr id="67589" name="Rectangle 9"/>
          <p:cNvSpPr>
            <a:spLocks noChangeArrowheads="1"/>
          </p:cNvSpPr>
          <p:nvPr/>
        </p:nvSpPr>
        <p:spPr bwMode="auto">
          <a:xfrm>
            <a:off x="1062038" y="371475"/>
            <a:ext cx="423068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3200" b="1">
                <a:solidFill>
                  <a:srgbClr val="993300"/>
                </a:solidFill>
                <a:latin typeface="Times New Roman" pitchFamily="18" charset="0"/>
                <a:ea typeface="楷体_GB2312" pitchFamily="49" charset="-122"/>
              </a:rPr>
              <a:t>二、汉密尔顿图</a:t>
            </a:r>
          </a:p>
        </p:txBody>
      </p:sp>
    </p:spTree>
    <p:extLst>
      <p:ext uri="{BB962C8B-B14F-4D97-AF65-F5344CB8AC3E}">
        <p14:creationId xmlns:p14="http://schemas.microsoft.com/office/powerpoint/2010/main" val="2657232785"/>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06"/>
                                        </p:tgtEl>
                                        <p:attrNameLst>
                                          <p:attrName>style.visibility</p:attrName>
                                        </p:attrNameLst>
                                      </p:cBhvr>
                                      <p:to>
                                        <p:strVal val="visible"/>
                                      </p:to>
                                    </p:set>
                                    <p:anim calcmode="lin" valueType="num">
                                      <p:cBhvr additive="base">
                                        <p:cTn id="7" dur="500" fill="hold"/>
                                        <p:tgtEl>
                                          <p:spTgt spid="51206"/>
                                        </p:tgtEl>
                                        <p:attrNameLst>
                                          <p:attrName>ppt_x</p:attrName>
                                        </p:attrNameLst>
                                      </p:cBhvr>
                                      <p:tavLst>
                                        <p:tav tm="0">
                                          <p:val>
                                            <p:strVal val="#ppt_x"/>
                                          </p:val>
                                        </p:tav>
                                        <p:tav tm="100000">
                                          <p:val>
                                            <p:strVal val="#ppt_x"/>
                                          </p:val>
                                        </p:tav>
                                      </p:tavLst>
                                    </p:anim>
                                    <p:anim calcmode="lin" valueType="num">
                                      <p:cBhvr additive="base">
                                        <p:cTn id="8" dur="500" fill="hold"/>
                                        <p:tgtEl>
                                          <p:spTgt spid="512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a:defRPr/>
            </a:pPr>
            <a:fld id="{5E195585-0509-4424-AB6A-A073D45DCDA8}" type="slidenum">
              <a:rPr lang="en-US" altLang="zh-CN"/>
              <a:pPr>
                <a:defRPr/>
              </a:pPr>
              <a:t>66</a:t>
            </a:fld>
            <a:endParaRPr lang="en-US" altLang="zh-CN"/>
          </a:p>
        </p:txBody>
      </p:sp>
      <p:sp>
        <p:nvSpPr>
          <p:cNvPr id="68611" name="Rectangle 2"/>
          <p:cNvSpPr>
            <a:spLocks noGrp="1" noChangeArrowheads="1"/>
          </p:cNvSpPr>
          <p:nvPr>
            <p:ph type="title"/>
          </p:nvPr>
        </p:nvSpPr>
        <p:spPr>
          <a:xfrm>
            <a:off x="1108075" y="395288"/>
            <a:ext cx="7237413" cy="519112"/>
          </a:xfrm>
        </p:spPr>
        <p:txBody>
          <a:bodyPr/>
          <a:lstStyle/>
          <a:p>
            <a:pPr algn="l" eaLnBrk="1" hangingPunct="1"/>
            <a:r>
              <a:rPr kumimoji="1" lang="en-US" altLang="zh-CN" sz="2800" smtClean="0">
                <a:solidFill>
                  <a:srgbClr val="993300"/>
                </a:solidFill>
                <a:latin typeface="楷体_GB2312" pitchFamily="49" charset="-122"/>
              </a:rPr>
              <a:t>2</a:t>
            </a:r>
            <a:r>
              <a:rPr kumimoji="1" lang="zh-CN" altLang="en-US" sz="2800" smtClean="0">
                <a:solidFill>
                  <a:srgbClr val="993300"/>
                </a:solidFill>
                <a:latin typeface="楷体_GB2312" pitchFamily="49" charset="-122"/>
              </a:rPr>
              <a:t>、必要条件</a:t>
            </a:r>
          </a:p>
        </p:txBody>
      </p:sp>
      <p:sp>
        <p:nvSpPr>
          <p:cNvPr id="122883" name="Rectangle 3"/>
          <p:cNvSpPr>
            <a:spLocks noGrp="1" noChangeArrowheads="1"/>
          </p:cNvSpPr>
          <p:nvPr>
            <p:ph type="body" idx="1"/>
          </p:nvPr>
        </p:nvSpPr>
        <p:spPr>
          <a:xfrm>
            <a:off x="466725" y="1125538"/>
            <a:ext cx="8277225" cy="2940050"/>
          </a:xfrm>
          <a:noFill/>
        </p:spPr>
        <p:txBody>
          <a:bodyPr/>
          <a:lstStyle/>
          <a:p>
            <a:pPr algn="just" eaLnBrk="1" hangingPunct="1">
              <a:buClrTx/>
              <a:buSzTx/>
              <a:buFontTx/>
              <a:buNone/>
            </a:pPr>
            <a:r>
              <a:rPr kumimoji="1" lang="zh-CN" altLang="en-US" dirty="0" smtClean="0">
                <a:solidFill>
                  <a:srgbClr val="0000CC"/>
                </a:solidFill>
              </a:rPr>
              <a:t>定理</a:t>
            </a:r>
            <a:r>
              <a:rPr kumimoji="1" lang="en-US" altLang="zh-CN" dirty="0" smtClean="0">
                <a:solidFill>
                  <a:srgbClr val="0000CC"/>
                </a:solidFill>
              </a:rPr>
              <a:t>7-4.3</a:t>
            </a:r>
            <a:r>
              <a:rPr kumimoji="1" lang="en-US" altLang="zh-CN" dirty="0" smtClean="0">
                <a:solidFill>
                  <a:schemeClr val="folHlink"/>
                </a:solidFill>
              </a:rPr>
              <a:t>(</a:t>
            </a:r>
            <a:r>
              <a:rPr kumimoji="1" lang="zh-CN" altLang="en-US" dirty="0" smtClean="0">
                <a:solidFill>
                  <a:schemeClr val="folHlink"/>
                </a:solidFill>
              </a:rPr>
              <a:t>必要条件</a:t>
            </a:r>
            <a:r>
              <a:rPr kumimoji="1" lang="en-US" altLang="zh-CN" dirty="0" smtClean="0">
                <a:solidFill>
                  <a:schemeClr val="folHlink"/>
                </a:solidFill>
              </a:rPr>
              <a:t>)</a:t>
            </a:r>
            <a:r>
              <a:rPr kumimoji="1" lang="zh-CN" altLang="en-US" dirty="0" smtClean="0">
                <a:solidFill>
                  <a:schemeClr val="folHlink"/>
                </a:solidFill>
              </a:rPr>
              <a:t>：</a:t>
            </a:r>
            <a:r>
              <a:rPr kumimoji="1" lang="zh-CN" altLang="en-US" dirty="0" smtClean="0"/>
              <a:t>若图</a:t>
            </a:r>
            <a:r>
              <a:rPr kumimoji="1" lang="en-US" altLang="zh-CN" dirty="0" smtClean="0"/>
              <a:t>G=&lt;V, E&gt;</a:t>
            </a:r>
            <a:r>
              <a:rPr kumimoji="1" lang="zh-CN" altLang="en-US" dirty="0" smtClean="0"/>
              <a:t>具有汉密尔顿回路，则对于结点集</a:t>
            </a:r>
            <a:r>
              <a:rPr kumimoji="1" lang="en-US" altLang="zh-CN" dirty="0" smtClean="0"/>
              <a:t>V</a:t>
            </a:r>
            <a:r>
              <a:rPr kumimoji="1" lang="zh-CN" altLang="en-US" dirty="0" smtClean="0"/>
              <a:t>的每个非空子集</a:t>
            </a:r>
            <a:r>
              <a:rPr kumimoji="1" lang="en-US" altLang="zh-CN" dirty="0" smtClean="0"/>
              <a:t>S</a:t>
            </a:r>
            <a:r>
              <a:rPr kumimoji="1" lang="zh-CN" altLang="en-US" dirty="0" smtClean="0"/>
              <a:t>均有</a:t>
            </a:r>
            <a:r>
              <a:rPr kumimoji="1" lang="en-US" altLang="zh-CN" dirty="0" smtClean="0">
                <a:solidFill>
                  <a:srgbClr val="FF3300"/>
                </a:solidFill>
              </a:rPr>
              <a:t>W(G-S)≤|S|</a:t>
            </a:r>
            <a:r>
              <a:rPr kumimoji="1" lang="zh-CN" altLang="en-US" dirty="0" smtClean="0"/>
              <a:t>成立，其中</a:t>
            </a:r>
            <a:r>
              <a:rPr kumimoji="1" lang="en-US" altLang="zh-CN" dirty="0" smtClean="0">
                <a:solidFill>
                  <a:srgbClr val="FF3300"/>
                </a:solidFill>
              </a:rPr>
              <a:t>W(G-S)</a:t>
            </a:r>
            <a:r>
              <a:rPr kumimoji="1" lang="zh-CN" altLang="en-US" dirty="0" smtClean="0"/>
              <a:t>是</a:t>
            </a:r>
            <a:r>
              <a:rPr kumimoji="1" lang="en-US" altLang="zh-CN" dirty="0" smtClean="0"/>
              <a:t>G-S</a:t>
            </a:r>
            <a:r>
              <a:rPr kumimoji="1" lang="zh-CN" altLang="en-US" dirty="0" smtClean="0"/>
              <a:t>中的连通分支数。</a:t>
            </a:r>
          </a:p>
          <a:p>
            <a:pPr eaLnBrk="1" hangingPunct="1">
              <a:buClr>
                <a:schemeClr val="bg1"/>
              </a:buClr>
              <a:buSzTx/>
              <a:buFontTx/>
              <a:buNone/>
            </a:pPr>
            <a:r>
              <a:rPr kumimoji="1" lang="zh-CN" altLang="en-US" dirty="0" smtClean="0"/>
              <a:t>证明：设</a:t>
            </a:r>
            <a:r>
              <a:rPr kumimoji="1" lang="en-US" altLang="zh-CN" dirty="0" smtClean="0"/>
              <a:t>C</a:t>
            </a:r>
            <a:r>
              <a:rPr kumimoji="1" lang="zh-CN" altLang="en-US" dirty="0" smtClean="0"/>
              <a:t>是</a:t>
            </a:r>
            <a:r>
              <a:rPr kumimoji="1" lang="en-US" altLang="zh-CN" dirty="0" smtClean="0"/>
              <a:t>G</a:t>
            </a:r>
            <a:r>
              <a:rPr kumimoji="1" lang="zh-CN" altLang="en-US" dirty="0" smtClean="0"/>
              <a:t>的一条汉密尔顿回路，则</a:t>
            </a:r>
            <a:r>
              <a:rPr kumimoji="1" lang="en-US" altLang="zh-CN" dirty="0" smtClean="0"/>
              <a:t>W(C-S) ≤ |S|</a:t>
            </a:r>
            <a:r>
              <a:rPr kumimoji="1" lang="zh-CN" altLang="en-US" dirty="0" smtClean="0"/>
              <a:t>，又</a:t>
            </a:r>
            <a:r>
              <a:rPr kumimoji="1" lang="en-US" altLang="zh-CN" dirty="0" smtClean="0"/>
              <a:t>G</a:t>
            </a:r>
            <a:r>
              <a:rPr kumimoji="1" lang="zh-CN" altLang="en-US" dirty="0" smtClean="0"/>
              <a:t>是</a:t>
            </a:r>
            <a:r>
              <a:rPr kumimoji="1" lang="en-US" altLang="zh-CN" dirty="0" smtClean="0"/>
              <a:t>C</a:t>
            </a:r>
            <a:r>
              <a:rPr kumimoji="1" lang="zh-CN" altLang="en-US" dirty="0" smtClean="0"/>
              <a:t>加入一些边组成的，所以</a:t>
            </a:r>
            <a:r>
              <a:rPr kumimoji="1" lang="en-US" altLang="zh-CN" dirty="0" smtClean="0"/>
              <a:t>G-S</a:t>
            </a:r>
            <a:r>
              <a:rPr kumimoji="1" lang="zh-CN" altLang="en-US" dirty="0" smtClean="0"/>
              <a:t>也是由</a:t>
            </a:r>
            <a:r>
              <a:rPr kumimoji="1" lang="en-US" altLang="zh-CN" dirty="0" smtClean="0"/>
              <a:t>C-S</a:t>
            </a:r>
            <a:r>
              <a:rPr kumimoji="1" lang="zh-CN" altLang="en-US" dirty="0" smtClean="0"/>
              <a:t>加入一些边组成的，有</a:t>
            </a:r>
            <a:r>
              <a:rPr kumimoji="1" lang="en-US" altLang="zh-CN" dirty="0" smtClean="0"/>
              <a:t>W(G-S) ≤ W(C-S) ≤ |S|</a:t>
            </a:r>
            <a:endParaRPr lang="en-US" altLang="zh-CN" dirty="0" smtClean="0"/>
          </a:p>
        </p:txBody>
      </p:sp>
    </p:spTree>
    <p:extLst>
      <p:ext uri="{BB962C8B-B14F-4D97-AF65-F5344CB8AC3E}">
        <p14:creationId xmlns:p14="http://schemas.microsoft.com/office/powerpoint/2010/main" val="2038562597"/>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2883">
                                            <p:txEl>
                                              <p:pRg st="1" end="1"/>
                                            </p:txEl>
                                          </p:spTgt>
                                        </p:tgtEl>
                                        <p:attrNameLst>
                                          <p:attrName>style.visibility</p:attrName>
                                        </p:attrNameLst>
                                      </p:cBhvr>
                                      <p:to>
                                        <p:strVal val="visible"/>
                                      </p:to>
                                    </p:set>
                                    <p:anim calcmode="lin" valueType="num">
                                      <p:cBhvr additive="base">
                                        <p:cTn id="7" dur="500" fill="hold"/>
                                        <p:tgtEl>
                                          <p:spTgt spid="12288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288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灯片编号占位符 2"/>
          <p:cNvSpPr>
            <a:spLocks noGrp="1"/>
          </p:cNvSpPr>
          <p:nvPr>
            <p:ph type="sldNum" sz="quarter" idx="11"/>
          </p:nvPr>
        </p:nvSpPr>
        <p:spPr/>
        <p:txBody>
          <a:bodyPr/>
          <a:lstStyle/>
          <a:p>
            <a:pPr>
              <a:defRPr/>
            </a:pPr>
            <a:fld id="{922A32D4-1B4B-4D5A-96D6-5F983490612B}" type="slidenum">
              <a:rPr lang="en-US" altLang="zh-CN"/>
              <a:pPr>
                <a:defRPr/>
              </a:pPr>
              <a:t>67</a:t>
            </a:fld>
            <a:endParaRPr lang="en-US" altLang="zh-CN"/>
          </a:p>
        </p:txBody>
      </p:sp>
      <p:grpSp>
        <p:nvGrpSpPr>
          <p:cNvPr id="52261" name="Group 37"/>
          <p:cNvGrpSpPr>
            <a:grpSpLocks/>
          </p:cNvGrpSpPr>
          <p:nvPr/>
        </p:nvGrpSpPr>
        <p:grpSpPr bwMode="auto">
          <a:xfrm>
            <a:off x="4984750" y="1973263"/>
            <a:ext cx="2466975" cy="1714500"/>
            <a:chOff x="3140" y="1243"/>
            <a:chExt cx="1554" cy="1080"/>
          </a:xfrm>
        </p:grpSpPr>
        <p:sp>
          <p:nvSpPr>
            <p:cNvPr id="69659" name="AutoShape 10"/>
            <p:cNvSpPr>
              <a:spLocks noChangeArrowheads="1"/>
            </p:cNvSpPr>
            <p:nvPr/>
          </p:nvSpPr>
          <p:spPr bwMode="auto">
            <a:xfrm rot="10800000">
              <a:off x="3795" y="1344"/>
              <a:ext cx="808" cy="937"/>
            </a:xfrm>
            <a:prstGeom prst="rtTriangle">
              <a:avLst/>
            </a:prstGeom>
            <a:solidFill>
              <a:srgbClr val="FFFFFF"/>
            </a:solidFill>
            <a:ln w="25400">
              <a:solidFill>
                <a:srgbClr val="000000"/>
              </a:solidFill>
              <a:miter lim="800000"/>
              <a:headEnd/>
              <a:tailEnd/>
            </a:ln>
          </p:spPr>
          <p:txBody>
            <a:bodyPr/>
            <a:lstStyle/>
            <a:p>
              <a:endParaRPr lang="zh-CN" altLang="en-US"/>
            </a:p>
          </p:txBody>
        </p:sp>
        <p:sp>
          <p:nvSpPr>
            <p:cNvPr id="69660" name="Text Box 19"/>
            <p:cNvSpPr txBox="1">
              <a:spLocks noChangeArrowheads="1"/>
            </p:cNvSpPr>
            <p:nvPr/>
          </p:nvSpPr>
          <p:spPr bwMode="auto">
            <a:xfrm>
              <a:off x="3416" y="1701"/>
              <a:ext cx="207" cy="1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61" name="Text Box 20"/>
            <p:cNvSpPr txBox="1">
              <a:spLocks noChangeArrowheads="1"/>
            </p:cNvSpPr>
            <p:nvPr/>
          </p:nvSpPr>
          <p:spPr bwMode="auto">
            <a:xfrm>
              <a:off x="4064" y="1678"/>
              <a:ext cx="20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62" name="Text Box 21"/>
            <p:cNvSpPr txBox="1">
              <a:spLocks noChangeArrowheads="1"/>
            </p:cNvSpPr>
            <p:nvPr/>
          </p:nvSpPr>
          <p:spPr bwMode="auto">
            <a:xfrm>
              <a:off x="3140" y="2147"/>
              <a:ext cx="20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63" name="Text Box 22"/>
            <p:cNvSpPr txBox="1">
              <a:spLocks noChangeArrowheads="1"/>
            </p:cNvSpPr>
            <p:nvPr/>
          </p:nvSpPr>
          <p:spPr bwMode="auto">
            <a:xfrm>
              <a:off x="4487" y="2170"/>
              <a:ext cx="207"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64" name="Text Box 23"/>
            <p:cNvSpPr txBox="1">
              <a:spLocks noChangeArrowheads="1"/>
            </p:cNvSpPr>
            <p:nvPr/>
          </p:nvSpPr>
          <p:spPr bwMode="auto">
            <a:xfrm>
              <a:off x="4478" y="1243"/>
              <a:ext cx="20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65" name="Text Box 24"/>
            <p:cNvSpPr txBox="1">
              <a:spLocks noChangeArrowheads="1"/>
            </p:cNvSpPr>
            <p:nvPr/>
          </p:nvSpPr>
          <p:spPr bwMode="auto">
            <a:xfrm>
              <a:off x="3692" y="1243"/>
              <a:ext cx="20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grpSp>
      <p:grpSp>
        <p:nvGrpSpPr>
          <p:cNvPr id="69636" name="Group 38"/>
          <p:cNvGrpSpPr>
            <a:grpSpLocks/>
          </p:cNvGrpSpPr>
          <p:nvPr/>
        </p:nvGrpSpPr>
        <p:grpSpPr bwMode="auto">
          <a:xfrm>
            <a:off x="1258888" y="1676400"/>
            <a:ext cx="3025775" cy="2328863"/>
            <a:chOff x="793" y="1056"/>
            <a:chExt cx="1906" cy="1467"/>
          </a:xfrm>
        </p:grpSpPr>
        <p:grpSp>
          <p:nvGrpSpPr>
            <p:cNvPr id="69638" name="Group 5"/>
            <p:cNvGrpSpPr>
              <a:grpSpLocks/>
            </p:cNvGrpSpPr>
            <p:nvPr/>
          </p:nvGrpSpPr>
          <p:grpSpPr bwMode="auto">
            <a:xfrm>
              <a:off x="1086" y="1335"/>
              <a:ext cx="1313" cy="937"/>
              <a:chOff x="2520" y="8460"/>
              <a:chExt cx="2160" cy="936"/>
            </a:xfrm>
          </p:grpSpPr>
          <p:sp>
            <p:nvSpPr>
              <p:cNvPr id="69655" name="Rectangle 6"/>
              <p:cNvSpPr>
                <a:spLocks noChangeArrowheads="1"/>
              </p:cNvSpPr>
              <p:nvPr/>
            </p:nvSpPr>
            <p:spPr bwMode="auto">
              <a:xfrm>
                <a:off x="2520" y="8460"/>
                <a:ext cx="1080" cy="936"/>
              </a:xfrm>
              <a:prstGeom prst="rect">
                <a:avLst/>
              </a:prstGeom>
              <a:solidFill>
                <a:srgbClr val="FFFFFF"/>
              </a:solidFill>
              <a:ln w="25400">
                <a:solidFill>
                  <a:srgbClr val="000000"/>
                </a:solidFill>
                <a:miter lim="800000"/>
                <a:headEnd/>
                <a:tailEnd/>
              </a:ln>
            </p:spPr>
            <p:txBody>
              <a:bodyPr/>
              <a:lstStyle/>
              <a:p>
                <a:endParaRPr lang="zh-CN" altLang="en-US"/>
              </a:p>
            </p:txBody>
          </p:sp>
          <p:sp>
            <p:nvSpPr>
              <p:cNvPr id="69656" name="Rectangle 7"/>
              <p:cNvSpPr>
                <a:spLocks noChangeArrowheads="1"/>
              </p:cNvSpPr>
              <p:nvPr/>
            </p:nvSpPr>
            <p:spPr bwMode="auto">
              <a:xfrm>
                <a:off x="3600" y="8460"/>
                <a:ext cx="1080" cy="936"/>
              </a:xfrm>
              <a:prstGeom prst="rect">
                <a:avLst/>
              </a:prstGeom>
              <a:solidFill>
                <a:srgbClr val="FFFFFF"/>
              </a:solidFill>
              <a:ln w="25400">
                <a:solidFill>
                  <a:srgbClr val="000000"/>
                </a:solidFill>
                <a:miter lim="800000"/>
                <a:headEnd/>
                <a:tailEnd/>
              </a:ln>
            </p:spPr>
            <p:txBody>
              <a:bodyPr/>
              <a:lstStyle/>
              <a:p>
                <a:endParaRPr lang="zh-CN" altLang="en-US"/>
              </a:p>
            </p:txBody>
          </p:sp>
          <p:sp>
            <p:nvSpPr>
              <p:cNvPr id="69657" name="Line 8"/>
              <p:cNvSpPr>
                <a:spLocks noChangeShapeType="1"/>
              </p:cNvSpPr>
              <p:nvPr/>
            </p:nvSpPr>
            <p:spPr bwMode="auto">
              <a:xfrm>
                <a:off x="2520" y="8460"/>
                <a:ext cx="1080"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658" name="Line 9"/>
              <p:cNvSpPr>
                <a:spLocks noChangeShapeType="1"/>
              </p:cNvSpPr>
              <p:nvPr/>
            </p:nvSpPr>
            <p:spPr bwMode="auto">
              <a:xfrm>
                <a:off x="3600" y="8460"/>
                <a:ext cx="1080"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9639" name="Text Box 11"/>
            <p:cNvSpPr txBox="1">
              <a:spLocks noChangeArrowheads="1"/>
            </p:cNvSpPr>
            <p:nvPr/>
          </p:nvSpPr>
          <p:spPr bwMode="auto">
            <a:xfrm>
              <a:off x="1286" y="1678"/>
              <a:ext cx="20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40" name="Text Box 12"/>
            <p:cNvSpPr txBox="1">
              <a:spLocks noChangeArrowheads="1"/>
            </p:cNvSpPr>
            <p:nvPr/>
          </p:nvSpPr>
          <p:spPr bwMode="auto">
            <a:xfrm>
              <a:off x="1959" y="1690"/>
              <a:ext cx="208"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41" name="Text Box 13"/>
            <p:cNvSpPr txBox="1">
              <a:spLocks noChangeArrowheads="1"/>
            </p:cNvSpPr>
            <p:nvPr/>
          </p:nvSpPr>
          <p:spPr bwMode="auto">
            <a:xfrm>
              <a:off x="1631" y="2170"/>
              <a:ext cx="207"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42" name="Text Box 14"/>
            <p:cNvSpPr txBox="1">
              <a:spLocks noChangeArrowheads="1"/>
            </p:cNvSpPr>
            <p:nvPr/>
          </p:nvSpPr>
          <p:spPr bwMode="auto">
            <a:xfrm>
              <a:off x="975" y="2158"/>
              <a:ext cx="20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43" name="Text Box 15"/>
            <p:cNvSpPr txBox="1">
              <a:spLocks noChangeArrowheads="1"/>
            </p:cNvSpPr>
            <p:nvPr/>
          </p:nvSpPr>
          <p:spPr bwMode="auto">
            <a:xfrm>
              <a:off x="2288" y="2158"/>
              <a:ext cx="20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44" name="Text Box 16"/>
            <p:cNvSpPr txBox="1">
              <a:spLocks noChangeArrowheads="1"/>
            </p:cNvSpPr>
            <p:nvPr/>
          </p:nvSpPr>
          <p:spPr bwMode="auto">
            <a:xfrm>
              <a:off x="2279" y="1232"/>
              <a:ext cx="207"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45" name="Text Box 17"/>
            <p:cNvSpPr txBox="1">
              <a:spLocks noChangeArrowheads="1"/>
            </p:cNvSpPr>
            <p:nvPr/>
          </p:nvSpPr>
          <p:spPr bwMode="auto">
            <a:xfrm>
              <a:off x="1640" y="1232"/>
              <a:ext cx="207"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46" name="Text Box 18"/>
            <p:cNvSpPr txBox="1">
              <a:spLocks noChangeArrowheads="1"/>
            </p:cNvSpPr>
            <p:nvPr/>
          </p:nvSpPr>
          <p:spPr bwMode="auto">
            <a:xfrm>
              <a:off x="975" y="1243"/>
              <a:ext cx="207"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69647" name="Text Box 25"/>
            <p:cNvSpPr txBox="1">
              <a:spLocks noChangeArrowheads="1"/>
            </p:cNvSpPr>
            <p:nvPr/>
          </p:nvSpPr>
          <p:spPr bwMode="auto">
            <a:xfrm>
              <a:off x="793" y="1101"/>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rgbClr val="0000CC"/>
                  </a:solidFill>
                  <a:latin typeface="Times New Roman" pitchFamily="18" charset="0"/>
                </a:rPr>
                <a:t>v</a:t>
              </a:r>
              <a:r>
                <a:rPr kumimoji="1" lang="en-US" altLang="zh-CN" b="1" baseline="-25000">
                  <a:solidFill>
                    <a:srgbClr val="0000CC"/>
                  </a:solidFill>
                  <a:latin typeface="Times New Roman" pitchFamily="18" charset="0"/>
                </a:rPr>
                <a:t>1</a:t>
              </a:r>
            </a:p>
          </p:txBody>
        </p:sp>
        <p:sp>
          <p:nvSpPr>
            <p:cNvPr id="69648" name="Text Box 26"/>
            <p:cNvSpPr txBox="1">
              <a:spLocks noChangeArrowheads="1"/>
            </p:cNvSpPr>
            <p:nvPr/>
          </p:nvSpPr>
          <p:spPr bwMode="auto">
            <a:xfrm>
              <a:off x="1565" y="1056"/>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3</a:t>
              </a:r>
            </a:p>
          </p:txBody>
        </p:sp>
        <p:sp>
          <p:nvSpPr>
            <p:cNvPr id="69649" name="Text Box 27"/>
            <p:cNvSpPr txBox="1">
              <a:spLocks noChangeArrowheads="1"/>
            </p:cNvSpPr>
            <p:nvPr/>
          </p:nvSpPr>
          <p:spPr bwMode="auto">
            <a:xfrm>
              <a:off x="1610" y="2235"/>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rgbClr val="0000CC"/>
                  </a:solidFill>
                  <a:latin typeface="Times New Roman" pitchFamily="18" charset="0"/>
                </a:rPr>
                <a:t>v</a:t>
              </a:r>
              <a:r>
                <a:rPr kumimoji="1" lang="en-US" altLang="zh-CN" b="1" baseline="-25000">
                  <a:solidFill>
                    <a:srgbClr val="0000CC"/>
                  </a:solidFill>
                  <a:latin typeface="Times New Roman" pitchFamily="18" charset="0"/>
                </a:rPr>
                <a:t>4</a:t>
              </a:r>
            </a:p>
          </p:txBody>
        </p:sp>
        <p:sp>
          <p:nvSpPr>
            <p:cNvPr id="69650" name="Text Box 28"/>
            <p:cNvSpPr txBox="1">
              <a:spLocks noChangeArrowheads="1"/>
            </p:cNvSpPr>
            <p:nvPr/>
          </p:nvSpPr>
          <p:spPr bwMode="auto">
            <a:xfrm>
              <a:off x="793" y="2190"/>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2</a:t>
              </a:r>
            </a:p>
          </p:txBody>
        </p:sp>
        <p:sp>
          <p:nvSpPr>
            <p:cNvPr id="69651" name="Text Box 29"/>
            <p:cNvSpPr txBox="1">
              <a:spLocks noChangeArrowheads="1"/>
            </p:cNvSpPr>
            <p:nvPr/>
          </p:nvSpPr>
          <p:spPr bwMode="auto">
            <a:xfrm>
              <a:off x="1338" y="1600"/>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7</a:t>
              </a:r>
            </a:p>
          </p:txBody>
        </p:sp>
        <p:sp>
          <p:nvSpPr>
            <p:cNvPr id="69652" name="Text Box 30"/>
            <p:cNvSpPr txBox="1">
              <a:spLocks noChangeArrowheads="1"/>
            </p:cNvSpPr>
            <p:nvPr/>
          </p:nvSpPr>
          <p:spPr bwMode="auto">
            <a:xfrm>
              <a:off x="2019" y="1600"/>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8</a:t>
              </a:r>
            </a:p>
          </p:txBody>
        </p:sp>
        <p:sp>
          <p:nvSpPr>
            <p:cNvPr id="69653" name="Text Box 31"/>
            <p:cNvSpPr txBox="1">
              <a:spLocks noChangeArrowheads="1"/>
            </p:cNvSpPr>
            <p:nvPr/>
          </p:nvSpPr>
          <p:spPr bwMode="auto">
            <a:xfrm>
              <a:off x="2382" y="1056"/>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5</a:t>
              </a:r>
            </a:p>
          </p:txBody>
        </p:sp>
        <p:sp>
          <p:nvSpPr>
            <p:cNvPr id="69654" name="Text Box 32"/>
            <p:cNvSpPr txBox="1">
              <a:spLocks noChangeArrowheads="1"/>
            </p:cNvSpPr>
            <p:nvPr/>
          </p:nvSpPr>
          <p:spPr bwMode="auto">
            <a:xfrm>
              <a:off x="2382" y="2219"/>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6</a:t>
              </a:r>
            </a:p>
          </p:txBody>
        </p:sp>
      </p:grpSp>
      <p:sp>
        <p:nvSpPr>
          <p:cNvPr id="69637" name="Text Box 34"/>
          <p:cNvSpPr txBox="1">
            <a:spLocks noChangeArrowheads="1"/>
          </p:cNvSpPr>
          <p:nvPr/>
        </p:nvSpPr>
        <p:spPr bwMode="auto">
          <a:xfrm>
            <a:off x="466725" y="1412875"/>
            <a:ext cx="33131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20000"/>
              </a:spcBef>
              <a:buClr>
                <a:schemeClr val="bg1"/>
              </a:buClr>
            </a:pPr>
            <a:r>
              <a:rPr kumimoji="1" lang="zh-CN" altLang="en-US" b="1">
                <a:solidFill>
                  <a:schemeClr val="hlink"/>
                </a:solidFill>
                <a:latin typeface="Times New Roman" pitchFamily="18" charset="0"/>
              </a:rPr>
              <a:t>例</a:t>
            </a:r>
            <a:r>
              <a:rPr kumimoji="1" lang="zh-CN" altLang="en-US" b="1">
                <a:solidFill>
                  <a:srgbClr val="008000"/>
                </a:solidFill>
                <a:latin typeface="Times New Roman" pitchFamily="18" charset="0"/>
              </a:rPr>
              <a:t>： </a:t>
            </a:r>
          </a:p>
        </p:txBody>
      </p:sp>
    </p:spTree>
    <p:extLst>
      <p:ext uri="{BB962C8B-B14F-4D97-AF65-F5344CB8AC3E}">
        <p14:creationId xmlns:p14="http://schemas.microsoft.com/office/powerpoint/2010/main" val="1182471986"/>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2261"/>
                                        </p:tgtEl>
                                        <p:attrNameLst>
                                          <p:attrName>style.visibility</p:attrName>
                                        </p:attrNameLst>
                                      </p:cBhvr>
                                      <p:to>
                                        <p:strVal val="visible"/>
                                      </p:to>
                                    </p:set>
                                    <p:anim calcmode="lin" valueType="num">
                                      <p:cBhvr additive="base">
                                        <p:cTn id="7" dur="500" fill="hold"/>
                                        <p:tgtEl>
                                          <p:spTgt spid="52261"/>
                                        </p:tgtEl>
                                        <p:attrNameLst>
                                          <p:attrName>ppt_x</p:attrName>
                                        </p:attrNameLst>
                                      </p:cBhvr>
                                      <p:tavLst>
                                        <p:tav tm="0">
                                          <p:val>
                                            <p:strVal val="#ppt_x"/>
                                          </p:val>
                                        </p:tav>
                                        <p:tav tm="100000">
                                          <p:val>
                                            <p:strVal val="#ppt_x"/>
                                          </p:val>
                                        </p:tav>
                                      </p:tavLst>
                                    </p:anim>
                                    <p:anim calcmode="lin" valueType="num">
                                      <p:cBhvr additive="base">
                                        <p:cTn id="8" dur="500" fill="hold"/>
                                        <p:tgtEl>
                                          <p:spTgt spid="522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a:defRPr/>
            </a:pPr>
            <a:fld id="{E91083B3-A238-49C9-8D20-76BD4806E49A}" type="slidenum">
              <a:rPr lang="en-US" altLang="zh-CN"/>
              <a:pPr>
                <a:defRPr/>
              </a:pPr>
              <a:t>68</a:t>
            </a:fld>
            <a:endParaRPr lang="en-US" altLang="zh-CN"/>
          </a:p>
        </p:txBody>
      </p:sp>
      <p:sp>
        <p:nvSpPr>
          <p:cNvPr id="70659" name="Rectangle 2"/>
          <p:cNvSpPr>
            <a:spLocks noGrp="1" noChangeArrowheads="1"/>
          </p:cNvSpPr>
          <p:nvPr>
            <p:ph type="title"/>
          </p:nvPr>
        </p:nvSpPr>
        <p:spPr>
          <a:xfrm>
            <a:off x="1135063" y="388938"/>
            <a:ext cx="6173787" cy="519112"/>
          </a:xfrm>
        </p:spPr>
        <p:txBody>
          <a:bodyPr/>
          <a:lstStyle/>
          <a:p>
            <a:pPr algn="l" eaLnBrk="1" hangingPunct="1"/>
            <a:r>
              <a:rPr kumimoji="1" lang="en-US" altLang="zh-CN" sz="2800" smtClean="0">
                <a:solidFill>
                  <a:srgbClr val="993300"/>
                </a:solidFill>
                <a:latin typeface="楷体_GB2312" pitchFamily="49" charset="-122"/>
              </a:rPr>
              <a:t>3</a:t>
            </a:r>
            <a:r>
              <a:rPr kumimoji="1" lang="zh-CN" altLang="en-US" sz="2800" smtClean="0">
                <a:solidFill>
                  <a:srgbClr val="993300"/>
                </a:solidFill>
                <a:latin typeface="楷体_GB2312" pitchFamily="49" charset="-122"/>
              </a:rPr>
              <a:t>、充分条件</a:t>
            </a:r>
          </a:p>
        </p:txBody>
      </p:sp>
      <p:sp>
        <p:nvSpPr>
          <p:cNvPr id="123907" name="Rectangle 3"/>
          <p:cNvSpPr>
            <a:spLocks noGrp="1" noChangeArrowheads="1"/>
          </p:cNvSpPr>
          <p:nvPr>
            <p:ph type="body" idx="1"/>
          </p:nvPr>
        </p:nvSpPr>
        <p:spPr>
          <a:xfrm>
            <a:off x="466725" y="1125538"/>
            <a:ext cx="8277225" cy="1481111"/>
          </a:xfrm>
          <a:noFill/>
        </p:spPr>
        <p:txBody>
          <a:bodyPr/>
          <a:lstStyle/>
          <a:p>
            <a:pPr algn="just" defTabSz="261938" eaLnBrk="1" hangingPunct="1">
              <a:buClrTx/>
              <a:buSzTx/>
              <a:buFontTx/>
              <a:buNone/>
              <a:tabLst>
                <a:tab pos="8069263" algn="l"/>
              </a:tabLst>
            </a:pPr>
            <a:r>
              <a:rPr kumimoji="1" lang="zh-CN" altLang="en-US" dirty="0" smtClean="0">
                <a:solidFill>
                  <a:srgbClr val="0000CC"/>
                </a:solidFill>
              </a:rPr>
              <a:t>定理</a:t>
            </a:r>
            <a:r>
              <a:rPr kumimoji="1" lang="en-US" altLang="zh-CN" dirty="0" smtClean="0">
                <a:solidFill>
                  <a:srgbClr val="0000CC"/>
                </a:solidFill>
              </a:rPr>
              <a:t>7-4.4</a:t>
            </a:r>
            <a:r>
              <a:rPr kumimoji="1" lang="en-US" altLang="zh-CN" dirty="0" smtClean="0">
                <a:solidFill>
                  <a:schemeClr val="folHlink"/>
                </a:solidFill>
              </a:rPr>
              <a:t>(</a:t>
            </a:r>
            <a:r>
              <a:rPr kumimoji="1" lang="zh-CN" altLang="en-US" dirty="0" smtClean="0">
                <a:solidFill>
                  <a:schemeClr val="folHlink"/>
                </a:solidFill>
              </a:rPr>
              <a:t>充分条件</a:t>
            </a:r>
            <a:r>
              <a:rPr kumimoji="1" lang="en-US" altLang="zh-CN" dirty="0" smtClean="0">
                <a:solidFill>
                  <a:schemeClr val="folHlink"/>
                </a:solidFill>
              </a:rPr>
              <a:t>)</a:t>
            </a:r>
            <a:r>
              <a:rPr kumimoji="1" lang="zh-CN" altLang="en-US" dirty="0" smtClean="0">
                <a:solidFill>
                  <a:schemeClr val="folHlink"/>
                </a:solidFill>
              </a:rPr>
              <a:t>：</a:t>
            </a:r>
            <a:r>
              <a:rPr kumimoji="1" lang="en-US" altLang="zh-CN" dirty="0" smtClean="0"/>
              <a:t>G</a:t>
            </a:r>
            <a:r>
              <a:rPr kumimoji="1" lang="zh-CN" altLang="en-US" dirty="0" smtClean="0"/>
              <a:t>为有</a:t>
            </a:r>
            <a:r>
              <a:rPr kumimoji="1" lang="en-US" altLang="zh-CN" dirty="0" smtClean="0"/>
              <a:t>n</a:t>
            </a:r>
            <a:r>
              <a:rPr kumimoji="1" lang="zh-CN" altLang="en-US" dirty="0" smtClean="0"/>
              <a:t>个结点的简单图，如果</a:t>
            </a:r>
            <a:r>
              <a:rPr kumimoji="1" lang="en-US" altLang="zh-CN" dirty="0" smtClean="0"/>
              <a:t>G</a:t>
            </a:r>
            <a:r>
              <a:rPr kumimoji="1" lang="zh-CN" altLang="en-US" dirty="0" smtClean="0"/>
              <a:t>中每一对结点度数之和大于等于</a:t>
            </a:r>
            <a:r>
              <a:rPr kumimoji="1" lang="en-US" altLang="zh-CN" dirty="0" smtClean="0"/>
              <a:t>n-1</a:t>
            </a:r>
            <a:r>
              <a:rPr kumimoji="1" lang="zh-CN" altLang="en-US" dirty="0" smtClean="0"/>
              <a:t>，则在</a:t>
            </a:r>
            <a:r>
              <a:rPr kumimoji="1" lang="en-US" altLang="zh-CN" dirty="0" smtClean="0"/>
              <a:t>G</a:t>
            </a:r>
            <a:r>
              <a:rPr kumimoji="1" lang="zh-CN" altLang="en-US" dirty="0" smtClean="0"/>
              <a:t>中存在一条</a:t>
            </a:r>
            <a:r>
              <a:rPr kumimoji="1" lang="zh-CN" altLang="en-US" i="1" dirty="0" smtClean="0">
                <a:solidFill>
                  <a:srgbClr val="0000CC"/>
                </a:solidFill>
              </a:rPr>
              <a:t>汉密尔顿路</a:t>
            </a:r>
            <a:r>
              <a:rPr kumimoji="1" lang="zh-CN" altLang="en-US" dirty="0" smtClean="0"/>
              <a:t>。</a:t>
            </a:r>
          </a:p>
        </p:txBody>
      </p:sp>
      <p:grpSp>
        <p:nvGrpSpPr>
          <p:cNvPr id="18" name="Group 20"/>
          <p:cNvGrpSpPr>
            <a:grpSpLocks/>
          </p:cNvGrpSpPr>
          <p:nvPr/>
        </p:nvGrpSpPr>
        <p:grpSpPr bwMode="auto">
          <a:xfrm>
            <a:off x="954088" y="4006007"/>
            <a:ext cx="7218362" cy="576262"/>
            <a:chOff x="385" y="3702"/>
            <a:chExt cx="4547" cy="363"/>
          </a:xfrm>
        </p:grpSpPr>
        <p:sp>
          <p:nvSpPr>
            <p:cNvPr id="19" name="Line 4"/>
            <p:cNvSpPr>
              <a:spLocks noChangeShapeType="1"/>
            </p:cNvSpPr>
            <p:nvPr/>
          </p:nvSpPr>
          <p:spPr bwMode="auto">
            <a:xfrm>
              <a:off x="703" y="3838"/>
              <a:ext cx="680" cy="0"/>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5"/>
            <p:cNvSpPr>
              <a:spLocks noChangeShapeType="1"/>
            </p:cNvSpPr>
            <p:nvPr/>
          </p:nvSpPr>
          <p:spPr bwMode="auto">
            <a:xfrm>
              <a:off x="1384" y="3838"/>
              <a:ext cx="680" cy="0"/>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6"/>
            <p:cNvSpPr>
              <a:spLocks noChangeShapeType="1"/>
            </p:cNvSpPr>
            <p:nvPr/>
          </p:nvSpPr>
          <p:spPr bwMode="auto">
            <a:xfrm>
              <a:off x="2055" y="3838"/>
              <a:ext cx="680" cy="0"/>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7"/>
            <p:cNvSpPr>
              <a:spLocks noChangeShapeType="1"/>
            </p:cNvSpPr>
            <p:nvPr/>
          </p:nvSpPr>
          <p:spPr bwMode="auto">
            <a:xfrm>
              <a:off x="3524" y="3829"/>
              <a:ext cx="680" cy="0"/>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8"/>
            <p:cNvSpPr>
              <a:spLocks noChangeShapeType="1"/>
            </p:cNvSpPr>
            <p:nvPr/>
          </p:nvSpPr>
          <p:spPr bwMode="auto">
            <a:xfrm>
              <a:off x="4205" y="3829"/>
              <a:ext cx="680" cy="0"/>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Line 10"/>
            <p:cNvSpPr>
              <a:spLocks noChangeShapeType="1"/>
            </p:cNvSpPr>
            <p:nvPr/>
          </p:nvSpPr>
          <p:spPr bwMode="auto">
            <a:xfrm>
              <a:off x="2744" y="3838"/>
              <a:ext cx="771"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5" name="Rectangle 12"/>
            <p:cNvSpPr>
              <a:spLocks noChangeArrowheads="1"/>
            </p:cNvSpPr>
            <p:nvPr/>
          </p:nvSpPr>
          <p:spPr bwMode="auto">
            <a:xfrm>
              <a:off x="385" y="3702"/>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1</a:t>
              </a:r>
            </a:p>
          </p:txBody>
        </p:sp>
        <p:sp>
          <p:nvSpPr>
            <p:cNvPr id="26" name="Rectangle 13"/>
            <p:cNvSpPr>
              <a:spLocks noChangeArrowheads="1"/>
            </p:cNvSpPr>
            <p:nvPr/>
          </p:nvSpPr>
          <p:spPr bwMode="auto">
            <a:xfrm>
              <a:off x="1243" y="3777"/>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2</a:t>
              </a:r>
            </a:p>
          </p:txBody>
        </p:sp>
        <p:sp>
          <p:nvSpPr>
            <p:cNvPr id="27" name="Rectangle 14"/>
            <p:cNvSpPr>
              <a:spLocks noChangeArrowheads="1"/>
            </p:cNvSpPr>
            <p:nvPr/>
          </p:nvSpPr>
          <p:spPr bwMode="auto">
            <a:xfrm>
              <a:off x="2526" y="3748"/>
              <a:ext cx="3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j-1</a:t>
              </a:r>
            </a:p>
          </p:txBody>
        </p:sp>
        <p:sp>
          <p:nvSpPr>
            <p:cNvPr id="28" name="Rectangle 15"/>
            <p:cNvSpPr>
              <a:spLocks noChangeArrowheads="1"/>
            </p:cNvSpPr>
            <p:nvPr/>
          </p:nvSpPr>
          <p:spPr bwMode="auto">
            <a:xfrm>
              <a:off x="3334" y="3757"/>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err="1">
                  <a:solidFill>
                    <a:schemeClr val="bg2"/>
                  </a:solidFill>
                  <a:latin typeface="Times New Roman" pitchFamily="18" charset="0"/>
                </a:rPr>
                <a:t>v</a:t>
              </a:r>
              <a:r>
                <a:rPr kumimoji="1" lang="en-US" altLang="zh-CN" b="1" baseline="-25000" dirty="0" err="1">
                  <a:solidFill>
                    <a:schemeClr val="bg2"/>
                  </a:solidFill>
                  <a:latin typeface="Times New Roman" pitchFamily="18" charset="0"/>
                </a:rPr>
                <a:t>j</a:t>
              </a:r>
              <a:endParaRPr kumimoji="1" lang="en-US" altLang="zh-CN" b="1" baseline="-25000" dirty="0">
                <a:solidFill>
                  <a:schemeClr val="bg2"/>
                </a:solidFill>
                <a:latin typeface="Times New Roman" pitchFamily="18" charset="0"/>
              </a:endParaRPr>
            </a:p>
          </p:txBody>
        </p:sp>
        <p:sp>
          <p:nvSpPr>
            <p:cNvPr id="29" name="Rectangle 16"/>
            <p:cNvSpPr>
              <a:spLocks noChangeArrowheads="1"/>
            </p:cNvSpPr>
            <p:nvPr/>
          </p:nvSpPr>
          <p:spPr bwMode="auto">
            <a:xfrm>
              <a:off x="4649" y="3748"/>
              <a:ext cx="2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err="1">
                  <a:solidFill>
                    <a:schemeClr val="bg2"/>
                  </a:solidFill>
                  <a:latin typeface="Times New Roman" pitchFamily="18" charset="0"/>
                </a:rPr>
                <a:t>v</a:t>
              </a:r>
              <a:r>
                <a:rPr kumimoji="1" lang="en-US" altLang="zh-CN" b="1" baseline="-25000" dirty="0" err="1">
                  <a:solidFill>
                    <a:schemeClr val="bg2"/>
                  </a:solidFill>
                  <a:latin typeface="Times New Roman" pitchFamily="18" charset="0"/>
                </a:rPr>
                <a:t>p</a:t>
              </a:r>
              <a:endParaRPr kumimoji="1" lang="en-US" altLang="zh-CN" b="1" baseline="-25000" dirty="0">
                <a:solidFill>
                  <a:schemeClr val="bg2"/>
                </a:solidFill>
                <a:latin typeface="Times New Roman" pitchFamily="18" charset="0"/>
              </a:endParaRPr>
            </a:p>
          </p:txBody>
        </p:sp>
      </p:grpSp>
      <p:sp>
        <p:nvSpPr>
          <p:cNvPr id="30" name="Freeform 18"/>
          <p:cNvSpPr>
            <a:spLocks/>
          </p:cNvSpPr>
          <p:nvPr/>
        </p:nvSpPr>
        <p:spPr bwMode="auto">
          <a:xfrm>
            <a:off x="1458913" y="4221907"/>
            <a:ext cx="4464050" cy="503237"/>
          </a:xfrm>
          <a:custGeom>
            <a:avLst/>
            <a:gdLst>
              <a:gd name="T0" fmla="*/ 0 w 2812"/>
              <a:gd name="T1" fmla="*/ 0 h 317"/>
              <a:gd name="T2" fmla="*/ 1584325 w 2812"/>
              <a:gd name="T3" fmla="*/ 431800 h 317"/>
              <a:gd name="T4" fmla="*/ 2663825 w 2812"/>
              <a:gd name="T5" fmla="*/ 431800 h 317"/>
              <a:gd name="T6" fmla="*/ 4464050 w 2812"/>
              <a:gd name="T7" fmla="*/ 0 h 3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12" h="317">
                <a:moveTo>
                  <a:pt x="0" y="0"/>
                </a:moveTo>
                <a:cubicBezTo>
                  <a:pt x="359" y="113"/>
                  <a:pt x="718" y="227"/>
                  <a:pt x="998" y="272"/>
                </a:cubicBezTo>
                <a:cubicBezTo>
                  <a:pt x="1278" y="317"/>
                  <a:pt x="1376" y="317"/>
                  <a:pt x="1678" y="272"/>
                </a:cubicBezTo>
                <a:cubicBezTo>
                  <a:pt x="1980" y="227"/>
                  <a:pt x="2396" y="113"/>
                  <a:pt x="2812" y="0"/>
                </a:cubicBezTo>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 name="Freeform 19"/>
          <p:cNvSpPr>
            <a:spLocks/>
          </p:cNvSpPr>
          <p:nvPr/>
        </p:nvSpPr>
        <p:spPr bwMode="auto">
          <a:xfrm>
            <a:off x="4699000" y="3790107"/>
            <a:ext cx="3384550" cy="431800"/>
          </a:xfrm>
          <a:custGeom>
            <a:avLst/>
            <a:gdLst>
              <a:gd name="T0" fmla="*/ 0 w 2132"/>
              <a:gd name="T1" fmla="*/ 431800 h 272"/>
              <a:gd name="T2" fmla="*/ 936625 w 2132"/>
              <a:gd name="T3" fmla="*/ 73025 h 272"/>
              <a:gd name="T4" fmla="*/ 1944688 w 2132"/>
              <a:gd name="T5" fmla="*/ 0 h 272"/>
              <a:gd name="T6" fmla="*/ 2952750 w 2132"/>
              <a:gd name="T7" fmla="*/ 73025 h 272"/>
              <a:gd name="T8" fmla="*/ 3384550 w 2132"/>
              <a:gd name="T9" fmla="*/ 360363 h 2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32" h="272">
                <a:moveTo>
                  <a:pt x="0" y="272"/>
                </a:moveTo>
                <a:cubicBezTo>
                  <a:pt x="193" y="181"/>
                  <a:pt x="386" y="91"/>
                  <a:pt x="590" y="46"/>
                </a:cubicBezTo>
                <a:cubicBezTo>
                  <a:pt x="794" y="1"/>
                  <a:pt x="1013" y="0"/>
                  <a:pt x="1225" y="0"/>
                </a:cubicBezTo>
                <a:cubicBezTo>
                  <a:pt x="1437" y="0"/>
                  <a:pt x="1709" y="8"/>
                  <a:pt x="1860" y="46"/>
                </a:cubicBezTo>
                <a:cubicBezTo>
                  <a:pt x="2011" y="84"/>
                  <a:pt x="2087" y="189"/>
                  <a:pt x="2132" y="227"/>
                </a:cubicBezTo>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176187423"/>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500" fill="hold"/>
                                        <p:tgtEl>
                                          <p:spTgt spid="18"/>
                                        </p:tgtEl>
                                        <p:attrNameLst>
                                          <p:attrName>ppt_x</p:attrName>
                                        </p:attrNameLst>
                                      </p:cBhvr>
                                      <p:tavLst>
                                        <p:tav tm="0">
                                          <p:val>
                                            <p:strVal val="#ppt_x"/>
                                          </p:val>
                                        </p:tav>
                                        <p:tav tm="100000">
                                          <p:val>
                                            <p:strVal val="#ppt_x"/>
                                          </p:val>
                                        </p:tav>
                                      </p:tavLst>
                                    </p:anim>
                                    <p:anim calcmode="lin" valueType="num">
                                      <p:cBhvr additive="base">
                                        <p:cTn id="8" dur="500" fill="hold"/>
                                        <p:tgtEl>
                                          <p:spTgt spid="1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anim calcmode="lin" valueType="num">
                                      <p:cBhvr additive="base">
                                        <p:cTn id="15" dur="500" fill="hold"/>
                                        <p:tgtEl>
                                          <p:spTgt spid="31"/>
                                        </p:tgtEl>
                                        <p:attrNameLst>
                                          <p:attrName>ppt_x</p:attrName>
                                        </p:attrNameLst>
                                      </p:cBhvr>
                                      <p:tavLst>
                                        <p:tav tm="0">
                                          <p:val>
                                            <p:strVal val="#ppt_x"/>
                                          </p:val>
                                        </p:tav>
                                        <p:tav tm="100000">
                                          <p:val>
                                            <p:strVal val="#ppt_x"/>
                                          </p:val>
                                        </p:tav>
                                      </p:tavLst>
                                    </p:anim>
                                    <p:anim calcmode="lin" valueType="num">
                                      <p:cBhvr additive="base">
                                        <p:cTn id="1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a:defRPr/>
            </a:pPr>
            <a:fld id="{E91083B3-A238-49C9-8D20-76BD4806E49A}" type="slidenum">
              <a:rPr lang="en-US" altLang="zh-CN"/>
              <a:pPr>
                <a:defRPr/>
              </a:pPr>
              <a:t>69</a:t>
            </a:fld>
            <a:endParaRPr lang="en-US" altLang="zh-CN"/>
          </a:p>
        </p:txBody>
      </p:sp>
      <p:sp>
        <p:nvSpPr>
          <p:cNvPr id="70659" name="Rectangle 2"/>
          <p:cNvSpPr>
            <a:spLocks noGrp="1" noChangeArrowheads="1"/>
          </p:cNvSpPr>
          <p:nvPr>
            <p:ph type="title"/>
          </p:nvPr>
        </p:nvSpPr>
        <p:spPr>
          <a:xfrm>
            <a:off x="1135063" y="388938"/>
            <a:ext cx="6173787" cy="519112"/>
          </a:xfrm>
        </p:spPr>
        <p:txBody>
          <a:bodyPr/>
          <a:lstStyle/>
          <a:p>
            <a:pPr algn="l" eaLnBrk="1" hangingPunct="1"/>
            <a:r>
              <a:rPr kumimoji="1" lang="en-US" altLang="zh-CN" sz="2800" smtClean="0">
                <a:solidFill>
                  <a:srgbClr val="993300"/>
                </a:solidFill>
                <a:latin typeface="楷体_GB2312" pitchFamily="49" charset="-122"/>
              </a:rPr>
              <a:t>3</a:t>
            </a:r>
            <a:r>
              <a:rPr kumimoji="1" lang="zh-CN" altLang="en-US" sz="2800" smtClean="0">
                <a:solidFill>
                  <a:srgbClr val="993300"/>
                </a:solidFill>
                <a:latin typeface="楷体_GB2312" pitchFamily="49" charset="-122"/>
              </a:rPr>
              <a:t>、充分条件</a:t>
            </a:r>
          </a:p>
        </p:txBody>
      </p:sp>
      <p:sp>
        <p:nvSpPr>
          <p:cNvPr id="123907" name="Rectangle 3"/>
          <p:cNvSpPr>
            <a:spLocks noGrp="1" noChangeArrowheads="1"/>
          </p:cNvSpPr>
          <p:nvPr>
            <p:ph type="body" idx="1"/>
          </p:nvPr>
        </p:nvSpPr>
        <p:spPr>
          <a:xfrm>
            <a:off x="466725" y="1125538"/>
            <a:ext cx="8277225" cy="4838700"/>
          </a:xfrm>
          <a:noFill/>
        </p:spPr>
        <p:txBody>
          <a:bodyPr/>
          <a:lstStyle/>
          <a:p>
            <a:pPr algn="just" defTabSz="261938" eaLnBrk="1" hangingPunct="1">
              <a:buClrTx/>
              <a:buSzTx/>
              <a:buFontTx/>
              <a:buNone/>
              <a:tabLst>
                <a:tab pos="8069263" algn="l"/>
              </a:tabLst>
            </a:pPr>
            <a:r>
              <a:rPr kumimoji="1" lang="zh-CN" altLang="en-US" dirty="0" smtClean="0">
                <a:solidFill>
                  <a:srgbClr val="0000CC"/>
                </a:solidFill>
              </a:rPr>
              <a:t>定理</a:t>
            </a:r>
            <a:r>
              <a:rPr kumimoji="1" lang="en-US" altLang="zh-CN" dirty="0" smtClean="0">
                <a:solidFill>
                  <a:srgbClr val="0000CC"/>
                </a:solidFill>
              </a:rPr>
              <a:t>7-4.4</a:t>
            </a:r>
            <a:r>
              <a:rPr kumimoji="1" lang="en-US" altLang="zh-CN" dirty="0" smtClean="0">
                <a:solidFill>
                  <a:schemeClr val="folHlink"/>
                </a:solidFill>
              </a:rPr>
              <a:t>(</a:t>
            </a:r>
            <a:r>
              <a:rPr kumimoji="1" lang="zh-CN" altLang="en-US" dirty="0" smtClean="0">
                <a:solidFill>
                  <a:schemeClr val="folHlink"/>
                </a:solidFill>
              </a:rPr>
              <a:t>充分条件</a:t>
            </a:r>
            <a:r>
              <a:rPr kumimoji="1" lang="en-US" altLang="zh-CN" dirty="0" smtClean="0">
                <a:solidFill>
                  <a:schemeClr val="folHlink"/>
                </a:solidFill>
              </a:rPr>
              <a:t>)</a:t>
            </a:r>
            <a:r>
              <a:rPr kumimoji="1" lang="zh-CN" altLang="en-US" dirty="0" smtClean="0">
                <a:solidFill>
                  <a:schemeClr val="folHlink"/>
                </a:solidFill>
              </a:rPr>
              <a:t>：</a:t>
            </a:r>
            <a:r>
              <a:rPr kumimoji="1" lang="en-US" altLang="zh-CN" dirty="0" smtClean="0"/>
              <a:t>G</a:t>
            </a:r>
            <a:r>
              <a:rPr kumimoji="1" lang="zh-CN" altLang="en-US" dirty="0" smtClean="0"/>
              <a:t>为有</a:t>
            </a:r>
            <a:r>
              <a:rPr kumimoji="1" lang="en-US" altLang="zh-CN" dirty="0" smtClean="0"/>
              <a:t>n</a:t>
            </a:r>
            <a:r>
              <a:rPr kumimoji="1" lang="zh-CN" altLang="en-US" dirty="0" smtClean="0"/>
              <a:t>个结点的简单图，如果</a:t>
            </a:r>
            <a:r>
              <a:rPr kumimoji="1" lang="en-US" altLang="zh-CN" dirty="0" smtClean="0"/>
              <a:t>G</a:t>
            </a:r>
            <a:r>
              <a:rPr kumimoji="1" lang="zh-CN" altLang="en-US" dirty="0" smtClean="0"/>
              <a:t>中每一对结点度数之和大于等于</a:t>
            </a:r>
            <a:r>
              <a:rPr kumimoji="1" lang="en-US" altLang="zh-CN" dirty="0" smtClean="0"/>
              <a:t>n-1</a:t>
            </a:r>
            <a:r>
              <a:rPr kumimoji="1" lang="zh-CN" altLang="en-US" dirty="0" smtClean="0"/>
              <a:t>，则在</a:t>
            </a:r>
            <a:r>
              <a:rPr kumimoji="1" lang="en-US" altLang="zh-CN" dirty="0" smtClean="0"/>
              <a:t>G</a:t>
            </a:r>
            <a:r>
              <a:rPr kumimoji="1" lang="zh-CN" altLang="en-US" dirty="0" smtClean="0"/>
              <a:t>中存在一条</a:t>
            </a:r>
            <a:r>
              <a:rPr kumimoji="1" lang="zh-CN" altLang="en-US" i="1" dirty="0" smtClean="0">
                <a:solidFill>
                  <a:srgbClr val="0000CC"/>
                </a:solidFill>
              </a:rPr>
              <a:t>汉密尔顿路</a:t>
            </a:r>
            <a:r>
              <a:rPr kumimoji="1" lang="zh-CN" altLang="en-US" dirty="0" smtClean="0"/>
              <a:t>。</a:t>
            </a:r>
          </a:p>
          <a:p>
            <a:pPr algn="just" defTabSz="261938" eaLnBrk="1" hangingPunct="1">
              <a:buClrTx/>
              <a:buSzTx/>
              <a:buFontTx/>
              <a:buNone/>
              <a:tabLst>
                <a:tab pos="8069263" algn="l"/>
              </a:tabLst>
            </a:pPr>
            <a:r>
              <a:rPr kumimoji="1" lang="zh-CN" altLang="en-US" dirty="0" smtClean="0">
                <a:solidFill>
                  <a:srgbClr val="008000"/>
                </a:solidFill>
              </a:rPr>
              <a:t>证明：已知</a:t>
            </a:r>
            <a:r>
              <a:rPr kumimoji="1" lang="en-US" altLang="zh-CN" dirty="0" smtClean="0">
                <a:solidFill>
                  <a:srgbClr val="008000"/>
                </a:solidFill>
              </a:rPr>
              <a:t>G</a:t>
            </a:r>
            <a:r>
              <a:rPr kumimoji="1" lang="zh-CN" altLang="en-US" dirty="0" smtClean="0">
                <a:solidFill>
                  <a:srgbClr val="008000"/>
                </a:solidFill>
              </a:rPr>
              <a:t>中每一对结点度数之和大于等于</a:t>
            </a:r>
            <a:r>
              <a:rPr kumimoji="1" lang="en-US" altLang="zh-CN" dirty="0" smtClean="0">
                <a:solidFill>
                  <a:srgbClr val="008000"/>
                </a:solidFill>
              </a:rPr>
              <a:t>n-1</a:t>
            </a:r>
            <a:r>
              <a:rPr kumimoji="1" lang="zh-CN" altLang="en-US" dirty="0" smtClean="0">
                <a:solidFill>
                  <a:srgbClr val="008000"/>
                </a:solidFill>
              </a:rPr>
              <a:t>，</a:t>
            </a:r>
          </a:p>
          <a:p>
            <a:pPr algn="just" defTabSz="261938" eaLnBrk="1" hangingPunct="1">
              <a:buClrTx/>
              <a:buSzTx/>
              <a:buFontTx/>
              <a:buNone/>
              <a:tabLst>
                <a:tab pos="8069263" algn="l"/>
              </a:tabLst>
            </a:pPr>
            <a:r>
              <a:rPr kumimoji="1" lang="en-US" altLang="zh-CN" dirty="0" smtClean="0">
                <a:solidFill>
                  <a:srgbClr val="008000"/>
                </a:solidFill>
              </a:rPr>
              <a:t>(1)</a:t>
            </a:r>
            <a:r>
              <a:rPr kumimoji="1" lang="zh-CN" altLang="en-US" dirty="0" smtClean="0">
                <a:solidFill>
                  <a:srgbClr val="008000"/>
                </a:solidFill>
              </a:rPr>
              <a:t>证</a:t>
            </a:r>
            <a:r>
              <a:rPr kumimoji="1" lang="en-US" altLang="zh-CN" dirty="0" smtClean="0">
                <a:solidFill>
                  <a:srgbClr val="008000"/>
                </a:solidFill>
              </a:rPr>
              <a:t>G</a:t>
            </a:r>
            <a:r>
              <a:rPr kumimoji="1" lang="zh-CN" altLang="en-US" dirty="0" smtClean="0">
                <a:solidFill>
                  <a:srgbClr val="008000"/>
                </a:solidFill>
              </a:rPr>
              <a:t>是连通的。</a:t>
            </a:r>
            <a:r>
              <a:rPr kumimoji="1" lang="zh-CN" altLang="en-US" dirty="0" smtClean="0"/>
              <a:t>假设</a:t>
            </a:r>
            <a:r>
              <a:rPr kumimoji="1" lang="en-US" altLang="zh-CN" dirty="0" smtClean="0"/>
              <a:t>G</a:t>
            </a:r>
            <a:r>
              <a:rPr kumimoji="1" lang="zh-CN" altLang="en-US" dirty="0" smtClean="0"/>
              <a:t>有两个或两个以上的连通分支，则从两个不同的分支中分别取任意结点</a:t>
            </a:r>
            <a:r>
              <a:rPr kumimoji="1" lang="en-US" altLang="zh-CN" dirty="0" smtClean="0"/>
              <a:t>v</a:t>
            </a:r>
            <a:r>
              <a:rPr kumimoji="1" lang="en-US" altLang="zh-CN" baseline="-25000" dirty="0" smtClean="0"/>
              <a:t>1</a:t>
            </a:r>
            <a:r>
              <a:rPr kumimoji="1" lang="zh-CN" altLang="en-US" dirty="0" smtClean="0"/>
              <a:t>，</a:t>
            </a:r>
            <a:r>
              <a:rPr kumimoji="1" lang="en-US" altLang="zh-CN" dirty="0" smtClean="0"/>
              <a:t>v</a:t>
            </a:r>
            <a:r>
              <a:rPr kumimoji="1" lang="en-US" altLang="zh-CN" baseline="-25000" dirty="0" smtClean="0"/>
              <a:t>2</a:t>
            </a:r>
            <a:r>
              <a:rPr kumimoji="1" lang="zh-CN" altLang="en-US" dirty="0" smtClean="0"/>
              <a:t>，</a:t>
            </a:r>
          </a:p>
          <a:p>
            <a:pPr algn="just" defTabSz="261938" eaLnBrk="1" hangingPunct="1">
              <a:buClrTx/>
              <a:buSzTx/>
              <a:buFontTx/>
              <a:buNone/>
              <a:tabLst>
                <a:tab pos="8069263" algn="l"/>
              </a:tabLst>
            </a:pPr>
            <a:r>
              <a:rPr kumimoji="1" lang="zh-CN" altLang="en-US" dirty="0" smtClean="0"/>
              <a:t>则</a:t>
            </a:r>
            <a:r>
              <a:rPr kumimoji="1" lang="en-US" altLang="zh-CN" dirty="0" err="1" smtClean="0"/>
              <a:t>deg</a:t>
            </a:r>
            <a:r>
              <a:rPr kumimoji="1" lang="en-US" altLang="zh-CN" dirty="0" smtClean="0"/>
              <a:t>(v</a:t>
            </a:r>
            <a:r>
              <a:rPr kumimoji="1" lang="en-US" altLang="zh-CN" baseline="-25000" dirty="0" smtClean="0"/>
              <a:t>1</a:t>
            </a:r>
            <a:r>
              <a:rPr kumimoji="1" lang="en-US" altLang="zh-CN" dirty="0" smtClean="0"/>
              <a:t>) ≤n</a:t>
            </a:r>
            <a:r>
              <a:rPr kumimoji="1" lang="en-US" altLang="zh-CN" baseline="-25000" dirty="0" smtClean="0"/>
              <a:t>1</a:t>
            </a:r>
            <a:r>
              <a:rPr kumimoji="1" lang="en-US" altLang="zh-CN" dirty="0" smtClean="0"/>
              <a:t>-1</a:t>
            </a:r>
            <a:r>
              <a:rPr kumimoji="1" lang="zh-CN" altLang="en-US" dirty="0" smtClean="0"/>
              <a:t>，</a:t>
            </a:r>
          </a:p>
          <a:p>
            <a:pPr algn="just" defTabSz="261938" eaLnBrk="1" hangingPunct="1">
              <a:buClrTx/>
              <a:buSzTx/>
              <a:buFontTx/>
              <a:buNone/>
              <a:tabLst>
                <a:tab pos="8069263" algn="l"/>
              </a:tabLst>
            </a:pPr>
            <a:r>
              <a:rPr kumimoji="1" lang="zh-CN" altLang="en-US" dirty="0" smtClean="0"/>
              <a:t>    </a:t>
            </a:r>
            <a:r>
              <a:rPr kumimoji="1" lang="en-US" altLang="zh-CN" dirty="0" err="1" smtClean="0"/>
              <a:t>deg</a:t>
            </a:r>
            <a:r>
              <a:rPr kumimoji="1" lang="en-US" altLang="zh-CN" dirty="0" smtClean="0"/>
              <a:t>(v</a:t>
            </a:r>
            <a:r>
              <a:rPr kumimoji="1" lang="en-US" altLang="zh-CN" baseline="-25000" dirty="0" smtClean="0"/>
              <a:t>2</a:t>
            </a:r>
            <a:r>
              <a:rPr kumimoji="1" lang="en-US" altLang="zh-CN" dirty="0" smtClean="0"/>
              <a:t>) ≤n</a:t>
            </a:r>
            <a:r>
              <a:rPr kumimoji="1" lang="en-US" altLang="zh-CN" baseline="-25000" dirty="0" smtClean="0"/>
              <a:t>2</a:t>
            </a:r>
            <a:r>
              <a:rPr kumimoji="1" lang="en-US" altLang="zh-CN" dirty="0" smtClean="0"/>
              <a:t>-1</a:t>
            </a:r>
            <a:r>
              <a:rPr kumimoji="1" lang="zh-CN" altLang="en-US" dirty="0" smtClean="0"/>
              <a:t>，</a:t>
            </a:r>
          </a:p>
          <a:p>
            <a:pPr algn="just" defTabSz="261938" eaLnBrk="1" hangingPunct="1">
              <a:buClrTx/>
              <a:buSzTx/>
              <a:buFontTx/>
              <a:buNone/>
              <a:tabLst>
                <a:tab pos="8069263" algn="l"/>
              </a:tabLst>
            </a:pPr>
            <a:r>
              <a:rPr kumimoji="1" lang="zh-CN" altLang="en-US" dirty="0" smtClean="0"/>
              <a:t>所以</a:t>
            </a:r>
            <a:r>
              <a:rPr kumimoji="1" lang="en-US" altLang="zh-CN" dirty="0" err="1" smtClean="0"/>
              <a:t>deg</a:t>
            </a:r>
            <a:r>
              <a:rPr kumimoji="1" lang="en-US" altLang="zh-CN" dirty="0" smtClean="0"/>
              <a:t>(v</a:t>
            </a:r>
            <a:r>
              <a:rPr kumimoji="1" lang="en-US" altLang="zh-CN" baseline="-25000" dirty="0" smtClean="0"/>
              <a:t>1</a:t>
            </a:r>
            <a:r>
              <a:rPr kumimoji="1" lang="en-US" altLang="zh-CN" dirty="0" smtClean="0"/>
              <a:t>)+</a:t>
            </a:r>
            <a:r>
              <a:rPr kumimoji="1" lang="en-US" altLang="zh-CN" dirty="0" err="1" smtClean="0"/>
              <a:t>deg</a:t>
            </a:r>
            <a:r>
              <a:rPr kumimoji="1" lang="en-US" altLang="zh-CN" dirty="0" smtClean="0"/>
              <a:t>(v</a:t>
            </a:r>
            <a:r>
              <a:rPr kumimoji="1" lang="en-US" altLang="zh-CN" baseline="-25000" dirty="0" smtClean="0"/>
              <a:t>2</a:t>
            </a:r>
            <a:r>
              <a:rPr kumimoji="1" lang="en-US" altLang="zh-CN" dirty="0" smtClean="0"/>
              <a:t>) ≤n</a:t>
            </a:r>
            <a:r>
              <a:rPr kumimoji="1" lang="en-US" altLang="zh-CN" baseline="-25000" dirty="0" smtClean="0"/>
              <a:t>1</a:t>
            </a:r>
            <a:r>
              <a:rPr kumimoji="1" lang="en-US" altLang="zh-CN" dirty="0" smtClean="0"/>
              <a:t>+n</a:t>
            </a:r>
            <a:r>
              <a:rPr kumimoji="1" lang="en-US" altLang="zh-CN" baseline="-25000" dirty="0" smtClean="0"/>
              <a:t>2</a:t>
            </a:r>
            <a:r>
              <a:rPr kumimoji="1" lang="en-US" altLang="zh-CN" dirty="0" smtClean="0"/>
              <a:t>-2&lt;n-1</a:t>
            </a:r>
            <a:r>
              <a:rPr kumimoji="1" lang="zh-CN" altLang="en-US" dirty="0" smtClean="0"/>
              <a:t>，矛盾。</a:t>
            </a:r>
          </a:p>
          <a:p>
            <a:pPr algn="just" defTabSz="261938" eaLnBrk="1" hangingPunct="1">
              <a:buClrTx/>
              <a:buSzTx/>
              <a:buFontTx/>
              <a:buNone/>
              <a:tabLst>
                <a:tab pos="8069263" algn="l"/>
              </a:tabLst>
            </a:pPr>
            <a:r>
              <a:rPr kumimoji="1" lang="en-US" altLang="zh-CN" dirty="0" smtClean="0">
                <a:solidFill>
                  <a:srgbClr val="008000"/>
                </a:solidFill>
              </a:rPr>
              <a:t>(2)</a:t>
            </a:r>
            <a:r>
              <a:rPr kumimoji="1" lang="zh-CN" altLang="en-US" dirty="0" smtClean="0">
                <a:solidFill>
                  <a:srgbClr val="008000"/>
                </a:solidFill>
              </a:rPr>
              <a:t>在</a:t>
            </a:r>
            <a:r>
              <a:rPr kumimoji="1" lang="en-US" altLang="zh-CN" dirty="0" smtClean="0">
                <a:solidFill>
                  <a:srgbClr val="008000"/>
                </a:solidFill>
              </a:rPr>
              <a:t>G</a:t>
            </a:r>
            <a:r>
              <a:rPr kumimoji="1" lang="zh-CN" altLang="en-US" dirty="0" smtClean="0">
                <a:solidFill>
                  <a:srgbClr val="008000"/>
                </a:solidFill>
              </a:rPr>
              <a:t>中从一边出发构造一条路，证明为汉密尔顿路。</a:t>
            </a:r>
          </a:p>
        </p:txBody>
      </p:sp>
    </p:spTree>
    <p:extLst>
      <p:ext uri="{BB962C8B-B14F-4D97-AF65-F5344CB8AC3E}">
        <p14:creationId xmlns:p14="http://schemas.microsoft.com/office/powerpoint/2010/main" val="2194755543"/>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3907">
                                            <p:txEl>
                                              <p:pRg st="1" end="1"/>
                                            </p:txEl>
                                          </p:spTgt>
                                        </p:tgtEl>
                                        <p:attrNameLst>
                                          <p:attrName>style.visibility</p:attrName>
                                        </p:attrNameLst>
                                      </p:cBhvr>
                                      <p:to>
                                        <p:strVal val="visible"/>
                                      </p:to>
                                    </p:set>
                                    <p:anim calcmode="lin" valueType="num">
                                      <p:cBhvr additive="base">
                                        <p:cTn id="7" dur="500" fill="hold"/>
                                        <p:tgtEl>
                                          <p:spTgt spid="12390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39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23907">
                                            <p:txEl>
                                              <p:pRg st="2" end="2"/>
                                            </p:txEl>
                                          </p:spTgt>
                                        </p:tgtEl>
                                        <p:attrNameLst>
                                          <p:attrName>style.visibility</p:attrName>
                                        </p:attrNameLst>
                                      </p:cBhvr>
                                      <p:to>
                                        <p:strVal val="visible"/>
                                      </p:to>
                                    </p:set>
                                    <p:anim calcmode="lin" valueType="num">
                                      <p:cBhvr additive="base">
                                        <p:cTn id="13" dur="500" fill="hold"/>
                                        <p:tgtEl>
                                          <p:spTgt spid="12390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239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23907">
                                            <p:txEl>
                                              <p:pRg st="3" end="3"/>
                                            </p:txEl>
                                          </p:spTgt>
                                        </p:tgtEl>
                                        <p:attrNameLst>
                                          <p:attrName>style.visibility</p:attrName>
                                        </p:attrNameLst>
                                      </p:cBhvr>
                                      <p:to>
                                        <p:strVal val="visible"/>
                                      </p:to>
                                    </p:set>
                                    <p:anim calcmode="lin" valueType="num">
                                      <p:cBhvr additive="base">
                                        <p:cTn id="19" dur="500" fill="hold"/>
                                        <p:tgtEl>
                                          <p:spTgt spid="12390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2390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23907">
                                            <p:txEl>
                                              <p:pRg st="4" end="4"/>
                                            </p:txEl>
                                          </p:spTgt>
                                        </p:tgtEl>
                                        <p:attrNameLst>
                                          <p:attrName>style.visibility</p:attrName>
                                        </p:attrNameLst>
                                      </p:cBhvr>
                                      <p:to>
                                        <p:strVal val="visible"/>
                                      </p:to>
                                    </p:set>
                                    <p:anim calcmode="lin" valueType="num">
                                      <p:cBhvr additive="base">
                                        <p:cTn id="25" dur="500" fill="hold"/>
                                        <p:tgtEl>
                                          <p:spTgt spid="123907">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2390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23907">
                                            <p:txEl>
                                              <p:pRg st="5" end="5"/>
                                            </p:txEl>
                                          </p:spTgt>
                                        </p:tgtEl>
                                        <p:attrNameLst>
                                          <p:attrName>style.visibility</p:attrName>
                                        </p:attrNameLst>
                                      </p:cBhvr>
                                      <p:to>
                                        <p:strVal val="visible"/>
                                      </p:to>
                                    </p:set>
                                    <p:anim calcmode="lin" valueType="num">
                                      <p:cBhvr additive="base">
                                        <p:cTn id="31" dur="500" fill="hold"/>
                                        <p:tgtEl>
                                          <p:spTgt spid="123907">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2390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23907">
                                            <p:txEl>
                                              <p:pRg st="6" end="6"/>
                                            </p:txEl>
                                          </p:spTgt>
                                        </p:tgtEl>
                                        <p:attrNameLst>
                                          <p:attrName>style.visibility</p:attrName>
                                        </p:attrNameLst>
                                      </p:cBhvr>
                                      <p:to>
                                        <p:strVal val="visible"/>
                                      </p:to>
                                    </p:set>
                                    <p:anim calcmode="lin" valueType="num">
                                      <p:cBhvr additive="base">
                                        <p:cTn id="37" dur="500" fill="hold"/>
                                        <p:tgtEl>
                                          <p:spTgt spid="123907">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2390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pPr>
              <a:defRPr/>
            </a:pPr>
            <a:fld id="{49E4DA3B-179C-4F77-B7A5-3FD63A275322}" type="slidenum">
              <a:rPr lang="en-US" altLang="zh-CN"/>
              <a:pPr>
                <a:defRPr/>
              </a:pPr>
              <a:t>70</a:t>
            </a:fld>
            <a:endParaRPr lang="en-US" altLang="zh-CN"/>
          </a:p>
        </p:txBody>
      </p:sp>
      <p:sp>
        <p:nvSpPr>
          <p:cNvPr id="53253" name="Rectangle 5"/>
          <p:cNvSpPr>
            <a:spLocks noChangeArrowheads="1"/>
          </p:cNvSpPr>
          <p:nvPr/>
        </p:nvSpPr>
        <p:spPr bwMode="auto">
          <a:xfrm>
            <a:off x="358775" y="1125538"/>
            <a:ext cx="8564563" cy="388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bg1"/>
              </a:buClr>
            </a:pPr>
            <a:r>
              <a:rPr kumimoji="1" lang="en-US" altLang="zh-CN" b="1" dirty="0">
                <a:solidFill>
                  <a:srgbClr val="008000"/>
                </a:solidFill>
                <a:latin typeface="Times New Roman" pitchFamily="18" charset="0"/>
              </a:rPr>
              <a:t>(2)</a:t>
            </a:r>
            <a:r>
              <a:rPr kumimoji="1" lang="zh-CN" altLang="en-US" b="1" dirty="0">
                <a:solidFill>
                  <a:srgbClr val="008000"/>
                </a:solidFill>
                <a:latin typeface="Times New Roman" pitchFamily="18" charset="0"/>
              </a:rPr>
              <a:t>在</a:t>
            </a:r>
            <a:r>
              <a:rPr kumimoji="1" lang="en-US" altLang="zh-CN" b="1" dirty="0">
                <a:solidFill>
                  <a:srgbClr val="008000"/>
                </a:solidFill>
                <a:latin typeface="Times New Roman" pitchFamily="18" charset="0"/>
              </a:rPr>
              <a:t>G</a:t>
            </a:r>
            <a:r>
              <a:rPr kumimoji="1" lang="zh-CN" altLang="en-US" b="1" dirty="0">
                <a:solidFill>
                  <a:srgbClr val="008000"/>
                </a:solidFill>
                <a:latin typeface="Times New Roman" pitchFamily="18" charset="0"/>
              </a:rPr>
              <a:t>中从一边出发构造一条路，证明为汉密尔顿路。</a:t>
            </a:r>
            <a:r>
              <a:rPr lang="zh-CN" altLang="en-US" b="1" dirty="0">
                <a:solidFill>
                  <a:schemeClr val="bg2"/>
                </a:solidFill>
                <a:latin typeface="Times New Roman" pitchFamily="18" charset="0"/>
              </a:rPr>
              <a:t> </a:t>
            </a:r>
          </a:p>
          <a:p>
            <a:pPr>
              <a:lnSpc>
                <a:spcPct val="130000"/>
              </a:lnSpc>
              <a:buClr>
                <a:schemeClr val="bg1"/>
              </a:buClr>
            </a:pPr>
            <a:r>
              <a:rPr lang="en-US" altLang="zh-CN" b="1" dirty="0">
                <a:latin typeface="Times New Roman" pitchFamily="18" charset="0"/>
              </a:rPr>
              <a:t>1) </a:t>
            </a:r>
            <a:r>
              <a:rPr lang="zh-CN" altLang="en-US" b="1" dirty="0">
                <a:latin typeface="Times New Roman" pitchFamily="18" charset="0"/>
              </a:rPr>
              <a:t>设在</a:t>
            </a:r>
            <a:r>
              <a:rPr lang="en-US" altLang="zh-CN" b="1" dirty="0">
                <a:latin typeface="Times New Roman" pitchFamily="18" charset="0"/>
              </a:rPr>
              <a:t>G</a:t>
            </a:r>
            <a:r>
              <a:rPr lang="zh-CN" altLang="en-US" b="1" dirty="0">
                <a:latin typeface="Times New Roman" pitchFamily="18" charset="0"/>
              </a:rPr>
              <a:t>中有</a:t>
            </a:r>
            <a:r>
              <a:rPr lang="en-US" altLang="zh-CN" b="1" dirty="0">
                <a:latin typeface="Times New Roman" pitchFamily="18" charset="0"/>
              </a:rPr>
              <a:t>p-1</a:t>
            </a:r>
            <a:r>
              <a:rPr lang="zh-CN" altLang="en-US" b="1" dirty="0">
                <a:latin typeface="Times New Roman" pitchFamily="18" charset="0"/>
              </a:rPr>
              <a:t>条边的通路</a:t>
            </a:r>
            <a:r>
              <a:rPr lang="en-US" altLang="zh-CN" b="1" dirty="0">
                <a:latin typeface="Times New Roman" pitchFamily="18" charset="0"/>
              </a:rPr>
              <a:t>(p&lt;n)</a:t>
            </a:r>
            <a:r>
              <a:rPr lang="zh-CN" altLang="en-US" b="1" dirty="0">
                <a:latin typeface="Times New Roman" pitchFamily="18" charset="0"/>
              </a:rPr>
              <a:t>，结点序列为</a:t>
            </a:r>
            <a:r>
              <a:rPr lang="en-US" altLang="zh-CN" b="1" dirty="0">
                <a:latin typeface="Times New Roman" pitchFamily="18" charset="0"/>
              </a:rPr>
              <a:t>v</a:t>
            </a:r>
            <a:r>
              <a:rPr lang="en-US" altLang="zh-CN" b="1" baseline="-25000" dirty="0">
                <a:latin typeface="Times New Roman" pitchFamily="18" charset="0"/>
              </a:rPr>
              <a:t>1</a:t>
            </a:r>
            <a:r>
              <a:rPr lang="en-US" altLang="zh-CN" b="1" dirty="0">
                <a:latin typeface="Times New Roman" pitchFamily="18" charset="0"/>
              </a:rPr>
              <a:t>,v</a:t>
            </a:r>
            <a:r>
              <a:rPr lang="en-US" altLang="zh-CN" b="1" baseline="-25000" dirty="0">
                <a:latin typeface="Times New Roman" pitchFamily="18" charset="0"/>
              </a:rPr>
              <a:t>2</a:t>
            </a:r>
            <a:r>
              <a:rPr lang="en-US" altLang="zh-CN" b="1" dirty="0">
                <a:latin typeface="Times New Roman" pitchFamily="18" charset="0"/>
              </a:rPr>
              <a:t>,…,</a:t>
            </a:r>
            <a:r>
              <a:rPr lang="en-US" altLang="zh-CN" b="1" dirty="0" err="1">
                <a:latin typeface="Times New Roman" pitchFamily="18" charset="0"/>
              </a:rPr>
              <a:t>v</a:t>
            </a:r>
            <a:r>
              <a:rPr lang="en-US" altLang="zh-CN" b="1" baseline="-25000" dirty="0" err="1">
                <a:latin typeface="Times New Roman" pitchFamily="18" charset="0"/>
              </a:rPr>
              <a:t>p</a:t>
            </a:r>
            <a:r>
              <a:rPr lang="zh-CN" altLang="en-US" b="1" dirty="0">
                <a:latin typeface="Times New Roman" pitchFamily="18" charset="0"/>
              </a:rPr>
              <a:t>。</a:t>
            </a:r>
          </a:p>
          <a:p>
            <a:pPr>
              <a:lnSpc>
                <a:spcPct val="130000"/>
              </a:lnSpc>
              <a:buClr>
                <a:schemeClr val="bg1"/>
              </a:buClr>
            </a:pPr>
            <a:r>
              <a:rPr lang="zh-CN" altLang="en-US" b="1" dirty="0">
                <a:solidFill>
                  <a:srgbClr val="0000CC"/>
                </a:solidFill>
                <a:latin typeface="Times New Roman" pitchFamily="18" charset="0"/>
              </a:rPr>
              <a:t>若</a:t>
            </a:r>
            <a:r>
              <a:rPr lang="en-US" altLang="zh-CN" b="1" dirty="0">
                <a:solidFill>
                  <a:srgbClr val="0000CC"/>
                </a:solidFill>
                <a:latin typeface="Times New Roman" pitchFamily="18" charset="0"/>
              </a:rPr>
              <a:t>v</a:t>
            </a:r>
            <a:r>
              <a:rPr lang="en-US" altLang="zh-CN" b="1" baseline="-25000" dirty="0">
                <a:solidFill>
                  <a:srgbClr val="0000CC"/>
                </a:solidFill>
                <a:latin typeface="Times New Roman" pitchFamily="18" charset="0"/>
              </a:rPr>
              <a:t>1</a:t>
            </a:r>
            <a:r>
              <a:rPr lang="zh-CN" altLang="en-US" b="1" dirty="0">
                <a:solidFill>
                  <a:srgbClr val="0000CC"/>
                </a:solidFill>
                <a:latin typeface="Times New Roman" pitchFamily="18" charset="0"/>
              </a:rPr>
              <a:t>或</a:t>
            </a:r>
            <a:r>
              <a:rPr lang="en-US" altLang="zh-CN" b="1" dirty="0" err="1">
                <a:solidFill>
                  <a:srgbClr val="0000CC"/>
                </a:solidFill>
                <a:latin typeface="Times New Roman" pitchFamily="18" charset="0"/>
              </a:rPr>
              <a:t>v</a:t>
            </a:r>
            <a:r>
              <a:rPr lang="en-US" altLang="zh-CN" b="1" baseline="-25000" dirty="0" err="1">
                <a:solidFill>
                  <a:srgbClr val="0000CC"/>
                </a:solidFill>
                <a:latin typeface="Times New Roman" pitchFamily="18" charset="0"/>
              </a:rPr>
              <a:t>p</a:t>
            </a:r>
            <a:r>
              <a:rPr lang="zh-CN" altLang="en-US" b="1" dirty="0">
                <a:solidFill>
                  <a:srgbClr val="0000CC"/>
                </a:solidFill>
                <a:latin typeface="Times New Roman" pitchFamily="18" charset="0"/>
              </a:rPr>
              <a:t>邻接于不在这条路上的一个结点</a:t>
            </a:r>
            <a:r>
              <a:rPr lang="zh-CN" altLang="en-US" b="1" dirty="0">
                <a:latin typeface="Times New Roman" pitchFamily="18" charset="0"/>
              </a:rPr>
              <a:t>，则扩展这条路，使包含这一结点。这时形成了</a:t>
            </a:r>
            <a:r>
              <a:rPr lang="en-US" altLang="zh-CN" b="1" dirty="0">
                <a:latin typeface="Times New Roman" pitchFamily="18" charset="0"/>
              </a:rPr>
              <a:t>p</a:t>
            </a:r>
            <a:r>
              <a:rPr lang="zh-CN" altLang="en-US" b="1" dirty="0">
                <a:latin typeface="Times New Roman" pitchFamily="18" charset="0"/>
              </a:rPr>
              <a:t>条边的路，若这时处于端点的结点仍邻接于不在这条路上的一个结点，则继续扩充，直至</a:t>
            </a:r>
            <a:r>
              <a:rPr lang="en-US" altLang="zh-CN" b="1" dirty="0">
                <a:latin typeface="Times New Roman" pitchFamily="18" charset="0"/>
              </a:rPr>
              <a:t>p=n</a:t>
            </a:r>
            <a:r>
              <a:rPr lang="zh-CN" altLang="en-US" b="1" dirty="0">
                <a:latin typeface="Times New Roman" pitchFamily="18" charset="0"/>
              </a:rPr>
              <a:t>或者</a:t>
            </a:r>
            <a:r>
              <a:rPr lang="en-US" altLang="zh-CN" b="1" dirty="0">
                <a:latin typeface="Times New Roman" pitchFamily="18" charset="0"/>
              </a:rPr>
              <a:t>p&lt;n</a:t>
            </a:r>
            <a:r>
              <a:rPr lang="zh-CN" altLang="en-US" b="1" dirty="0">
                <a:latin typeface="Times New Roman" pitchFamily="18" charset="0"/>
              </a:rPr>
              <a:t>且</a:t>
            </a:r>
            <a:r>
              <a:rPr lang="en-US" altLang="zh-CN" b="1" dirty="0">
                <a:latin typeface="Times New Roman" pitchFamily="18" charset="0"/>
              </a:rPr>
              <a:t>v</a:t>
            </a:r>
            <a:r>
              <a:rPr lang="en-US" altLang="zh-CN" b="1" baseline="-25000" dirty="0">
                <a:latin typeface="Times New Roman" pitchFamily="18" charset="0"/>
              </a:rPr>
              <a:t>1</a:t>
            </a:r>
            <a:r>
              <a:rPr lang="zh-CN" altLang="en-US" b="1" dirty="0">
                <a:latin typeface="Times New Roman" pitchFamily="18" charset="0"/>
              </a:rPr>
              <a:t>和</a:t>
            </a:r>
            <a:r>
              <a:rPr lang="en-US" altLang="zh-CN" b="1" dirty="0" err="1">
                <a:latin typeface="Times New Roman" pitchFamily="18" charset="0"/>
              </a:rPr>
              <a:t>v</a:t>
            </a:r>
            <a:r>
              <a:rPr lang="en-US" altLang="zh-CN" b="1" baseline="-25000" dirty="0" err="1">
                <a:latin typeface="Times New Roman" pitchFamily="18" charset="0"/>
              </a:rPr>
              <a:t>p</a:t>
            </a:r>
            <a:r>
              <a:rPr lang="zh-CN" altLang="en-US" b="1" dirty="0">
                <a:latin typeface="Times New Roman" pitchFamily="18" charset="0"/>
              </a:rPr>
              <a:t>只邻接于路上的结点。若</a:t>
            </a:r>
            <a:r>
              <a:rPr lang="en-US" altLang="zh-CN" b="1" dirty="0">
                <a:latin typeface="Times New Roman" pitchFamily="18" charset="0"/>
              </a:rPr>
              <a:t>p=n</a:t>
            </a:r>
            <a:r>
              <a:rPr lang="zh-CN" altLang="en-US" b="1" dirty="0">
                <a:latin typeface="Times New Roman" pitchFamily="18" charset="0"/>
              </a:rPr>
              <a:t>，则这</a:t>
            </a:r>
            <a:r>
              <a:rPr lang="en-US" altLang="zh-CN" b="1" dirty="0">
                <a:latin typeface="Times New Roman" pitchFamily="18" charset="0"/>
              </a:rPr>
              <a:t>n-1</a:t>
            </a:r>
            <a:r>
              <a:rPr lang="zh-CN" altLang="en-US" b="1" dirty="0">
                <a:latin typeface="Times New Roman" pitchFamily="18" charset="0"/>
              </a:rPr>
              <a:t>条边的路便是汉密尔顿路。</a:t>
            </a:r>
          </a:p>
          <a:p>
            <a:pPr>
              <a:lnSpc>
                <a:spcPct val="130000"/>
              </a:lnSpc>
              <a:buClr>
                <a:schemeClr val="bg1"/>
              </a:buClr>
            </a:pPr>
            <a:r>
              <a:rPr lang="zh-CN" altLang="en-US" b="1" dirty="0">
                <a:latin typeface="Times New Roman" pitchFamily="18" charset="0"/>
              </a:rPr>
              <a:t>否则若</a:t>
            </a:r>
            <a:r>
              <a:rPr lang="en-US" altLang="zh-CN" b="1" dirty="0">
                <a:latin typeface="Times New Roman" pitchFamily="18" charset="0"/>
              </a:rPr>
              <a:t>p&lt;n</a:t>
            </a:r>
            <a:r>
              <a:rPr lang="zh-CN" altLang="en-US" b="1" dirty="0">
                <a:latin typeface="Times New Roman" pitchFamily="18" charset="0"/>
              </a:rPr>
              <a:t>且</a:t>
            </a:r>
            <a:r>
              <a:rPr lang="en-US" altLang="zh-CN" b="1" dirty="0">
                <a:latin typeface="Times New Roman" pitchFamily="18" charset="0"/>
              </a:rPr>
              <a:t>v</a:t>
            </a:r>
            <a:r>
              <a:rPr lang="en-US" altLang="zh-CN" b="1" baseline="-25000" dirty="0">
                <a:latin typeface="Times New Roman" pitchFamily="18" charset="0"/>
              </a:rPr>
              <a:t>1</a:t>
            </a:r>
            <a:r>
              <a:rPr lang="zh-CN" altLang="en-US" b="1" dirty="0">
                <a:latin typeface="Times New Roman" pitchFamily="18" charset="0"/>
              </a:rPr>
              <a:t>和</a:t>
            </a:r>
            <a:r>
              <a:rPr lang="en-US" altLang="zh-CN" b="1" dirty="0" err="1">
                <a:latin typeface="Times New Roman" pitchFamily="18" charset="0"/>
              </a:rPr>
              <a:t>v</a:t>
            </a:r>
            <a:r>
              <a:rPr lang="en-US" altLang="zh-CN" b="1" baseline="-25000" dirty="0" err="1">
                <a:latin typeface="Times New Roman" pitchFamily="18" charset="0"/>
              </a:rPr>
              <a:t>p</a:t>
            </a:r>
            <a:r>
              <a:rPr lang="zh-CN" altLang="en-US" b="1" dirty="0">
                <a:latin typeface="Times New Roman" pitchFamily="18" charset="0"/>
              </a:rPr>
              <a:t>只邻接于路上的结点，继续</a:t>
            </a:r>
            <a:r>
              <a:rPr lang="en-US" altLang="zh-CN" b="1" dirty="0">
                <a:latin typeface="Times New Roman" pitchFamily="18" charset="0"/>
              </a:rPr>
              <a:t>2)</a:t>
            </a:r>
          </a:p>
        </p:txBody>
      </p:sp>
    </p:spTree>
    <p:extLst>
      <p:ext uri="{BB962C8B-B14F-4D97-AF65-F5344CB8AC3E}">
        <p14:creationId xmlns:p14="http://schemas.microsoft.com/office/powerpoint/2010/main" val="2693420733"/>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3253">
                                            <p:txEl>
                                              <p:pRg st="2" end="2"/>
                                            </p:txEl>
                                          </p:spTgt>
                                        </p:tgtEl>
                                        <p:attrNameLst>
                                          <p:attrName>style.visibility</p:attrName>
                                        </p:attrNameLst>
                                      </p:cBhvr>
                                      <p:to>
                                        <p:strVal val="visible"/>
                                      </p:to>
                                    </p:set>
                                    <p:anim calcmode="lin" valueType="num">
                                      <p:cBhvr additive="base">
                                        <p:cTn id="7" dur="500" fill="hold"/>
                                        <p:tgtEl>
                                          <p:spTgt spid="5325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3253">
                                            <p:txEl>
                                              <p:pRg st="3" end="3"/>
                                            </p:txEl>
                                          </p:spTgt>
                                        </p:tgtEl>
                                        <p:attrNameLst>
                                          <p:attrName>style.visibility</p:attrName>
                                        </p:attrNameLst>
                                      </p:cBhvr>
                                      <p:to>
                                        <p:strVal val="visible"/>
                                      </p:to>
                                    </p:set>
                                    <p:anim calcmode="lin" valueType="num">
                                      <p:cBhvr additive="base">
                                        <p:cTn id="13" dur="500" fill="hold"/>
                                        <p:tgtEl>
                                          <p:spTgt spid="5325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灯片编号占位符 4"/>
          <p:cNvSpPr>
            <a:spLocks noGrp="1"/>
          </p:cNvSpPr>
          <p:nvPr>
            <p:ph type="sldNum" sz="quarter" idx="11"/>
          </p:nvPr>
        </p:nvSpPr>
        <p:spPr/>
        <p:txBody>
          <a:bodyPr/>
          <a:lstStyle/>
          <a:p>
            <a:pPr>
              <a:defRPr/>
            </a:pPr>
            <a:fld id="{D9017487-87DA-431F-A8A1-DB182C3E62CC}" type="slidenum">
              <a:rPr lang="en-US" altLang="zh-CN"/>
              <a:pPr>
                <a:defRPr/>
              </a:pPr>
              <a:t>71</a:t>
            </a:fld>
            <a:endParaRPr lang="en-US" altLang="zh-CN"/>
          </a:p>
        </p:txBody>
      </p:sp>
      <p:sp>
        <p:nvSpPr>
          <p:cNvPr id="125955" name="Rectangle 3"/>
          <p:cNvSpPr>
            <a:spLocks noGrp="1" noChangeArrowheads="1"/>
          </p:cNvSpPr>
          <p:nvPr>
            <p:ph type="body" idx="1"/>
          </p:nvPr>
        </p:nvSpPr>
        <p:spPr>
          <a:xfrm>
            <a:off x="466725" y="1216025"/>
            <a:ext cx="8277225" cy="5140325"/>
          </a:xfrm>
          <a:noFill/>
        </p:spPr>
        <p:txBody>
          <a:bodyPr/>
          <a:lstStyle/>
          <a:p>
            <a:pPr eaLnBrk="1" hangingPunct="1">
              <a:lnSpc>
                <a:spcPct val="115000"/>
              </a:lnSpc>
              <a:buClr>
                <a:schemeClr val="bg1"/>
              </a:buClr>
              <a:buSzTx/>
              <a:buFontTx/>
              <a:buNone/>
            </a:pPr>
            <a:r>
              <a:rPr lang="en-US" altLang="zh-CN" dirty="0" smtClean="0">
                <a:solidFill>
                  <a:schemeClr val="bg2"/>
                </a:solidFill>
              </a:rPr>
              <a:t>2) </a:t>
            </a:r>
            <a:r>
              <a:rPr lang="zh-CN" altLang="en-US" dirty="0" smtClean="0">
                <a:solidFill>
                  <a:srgbClr val="0000CC"/>
                </a:solidFill>
              </a:rPr>
              <a:t>若</a:t>
            </a:r>
            <a:r>
              <a:rPr lang="en-US" altLang="zh-CN" dirty="0" smtClean="0">
                <a:solidFill>
                  <a:srgbClr val="0000CC"/>
                </a:solidFill>
              </a:rPr>
              <a:t>v</a:t>
            </a:r>
            <a:r>
              <a:rPr lang="en-US" altLang="zh-CN" baseline="-25000" dirty="0" smtClean="0">
                <a:solidFill>
                  <a:srgbClr val="0000CC"/>
                </a:solidFill>
              </a:rPr>
              <a:t>1</a:t>
            </a:r>
            <a:r>
              <a:rPr lang="zh-CN" altLang="en-US" dirty="0" smtClean="0">
                <a:solidFill>
                  <a:srgbClr val="0000CC"/>
                </a:solidFill>
              </a:rPr>
              <a:t>和</a:t>
            </a:r>
            <a:r>
              <a:rPr lang="en-US" altLang="zh-CN" dirty="0" err="1" smtClean="0">
                <a:solidFill>
                  <a:srgbClr val="0000CC"/>
                </a:solidFill>
              </a:rPr>
              <a:t>v</a:t>
            </a:r>
            <a:r>
              <a:rPr lang="en-US" altLang="zh-CN" baseline="-25000" dirty="0" err="1" smtClean="0">
                <a:solidFill>
                  <a:srgbClr val="0000CC"/>
                </a:solidFill>
              </a:rPr>
              <a:t>p</a:t>
            </a:r>
            <a:r>
              <a:rPr lang="zh-CN" altLang="en-US" dirty="0" smtClean="0">
                <a:solidFill>
                  <a:srgbClr val="0000CC"/>
                </a:solidFill>
              </a:rPr>
              <a:t>只邻接于路上的结点。</a:t>
            </a:r>
            <a:r>
              <a:rPr lang="zh-CN" altLang="en-US" dirty="0" smtClean="0"/>
              <a:t>设</a:t>
            </a:r>
            <a:r>
              <a:rPr lang="en-US" altLang="zh-CN" dirty="0" smtClean="0"/>
              <a:t>v</a:t>
            </a:r>
            <a:r>
              <a:rPr lang="en-US" altLang="zh-CN" baseline="-25000" dirty="0" smtClean="0"/>
              <a:t>1</a:t>
            </a:r>
            <a:r>
              <a:rPr lang="zh-CN" altLang="en-US" dirty="0" smtClean="0"/>
              <a:t>邻接的结点集为</a:t>
            </a:r>
            <a:r>
              <a:rPr lang="en-US" altLang="zh-CN" dirty="0" smtClean="0"/>
              <a:t>{</a:t>
            </a:r>
            <a:r>
              <a:rPr lang="en-US" altLang="zh-CN" dirty="0" err="1" smtClean="0"/>
              <a:t>v</a:t>
            </a:r>
            <a:r>
              <a:rPr lang="en-US" altLang="zh-CN" i="1" baseline="-25000" dirty="0" err="1" smtClean="0"/>
              <a:t>l</a:t>
            </a:r>
            <a:r>
              <a:rPr lang="en-US" altLang="zh-CN" dirty="0" err="1" smtClean="0"/>
              <a:t>,v</a:t>
            </a:r>
            <a:r>
              <a:rPr lang="en-US" altLang="zh-CN" baseline="-25000" dirty="0" err="1" smtClean="0"/>
              <a:t>m</a:t>
            </a:r>
            <a:r>
              <a:rPr lang="en-US" altLang="zh-CN" dirty="0" smtClean="0"/>
              <a:t>,…,</a:t>
            </a:r>
            <a:r>
              <a:rPr lang="en-US" altLang="zh-CN" dirty="0" err="1" smtClean="0"/>
              <a:t>v</a:t>
            </a:r>
            <a:r>
              <a:rPr lang="en-US" altLang="zh-CN" baseline="-25000" dirty="0" err="1" smtClean="0"/>
              <a:t>j</a:t>
            </a:r>
            <a:r>
              <a:rPr lang="en-US" altLang="zh-CN" dirty="0" smtClean="0"/>
              <a:t>,…,</a:t>
            </a:r>
            <a:r>
              <a:rPr lang="en-US" altLang="zh-CN" dirty="0" err="1" smtClean="0"/>
              <a:t>v</a:t>
            </a:r>
            <a:r>
              <a:rPr lang="en-US" altLang="zh-CN" baseline="-25000" dirty="0" err="1" smtClean="0"/>
              <a:t>t</a:t>
            </a:r>
            <a:r>
              <a:rPr lang="en-US" altLang="zh-CN" dirty="0" smtClean="0"/>
              <a:t>}</a:t>
            </a:r>
            <a:r>
              <a:rPr lang="zh-CN" altLang="en-US" dirty="0" smtClean="0"/>
              <a:t>共</a:t>
            </a:r>
            <a:r>
              <a:rPr lang="en-US" altLang="zh-CN" dirty="0" smtClean="0"/>
              <a:t>k</a:t>
            </a:r>
            <a:r>
              <a:rPr lang="zh-CN" altLang="en-US" dirty="0" smtClean="0"/>
              <a:t>个，这里</a:t>
            </a:r>
            <a:r>
              <a:rPr lang="en-US" altLang="zh-CN" dirty="0" smtClean="0"/>
              <a:t>2</a:t>
            </a:r>
            <a:r>
              <a:rPr kumimoji="1" lang="en-US" altLang="zh-CN" dirty="0" smtClean="0"/>
              <a:t>≤</a:t>
            </a:r>
            <a:r>
              <a:rPr lang="en-US" altLang="zh-CN" i="1" dirty="0" smtClean="0"/>
              <a:t>l</a:t>
            </a:r>
            <a:r>
              <a:rPr lang="en-US" altLang="zh-CN" dirty="0" smtClean="0"/>
              <a:t>, m, …, j, …, t</a:t>
            </a:r>
            <a:r>
              <a:rPr kumimoji="1" lang="en-US" altLang="zh-CN" dirty="0" smtClean="0"/>
              <a:t>≤p-1</a:t>
            </a:r>
            <a:r>
              <a:rPr kumimoji="1" lang="zh-CN" altLang="en-US" dirty="0" smtClean="0"/>
              <a:t>，</a:t>
            </a:r>
          </a:p>
          <a:p>
            <a:pPr eaLnBrk="1" hangingPunct="1">
              <a:lnSpc>
                <a:spcPct val="115000"/>
              </a:lnSpc>
              <a:buClr>
                <a:schemeClr val="bg1"/>
              </a:buClr>
              <a:buSzTx/>
              <a:buFontTx/>
              <a:buNone/>
            </a:pPr>
            <a:r>
              <a:rPr kumimoji="1" lang="zh-CN" altLang="en-US" dirty="0" smtClean="0"/>
              <a:t>若</a:t>
            </a:r>
            <a:r>
              <a:rPr kumimoji="1" lang="en-US" altLang="zh-CN" dirty="0" err="1" smtClean="0"/>
              <a:t>v</a:t>
            </a:r>
            <a:r>
              <a:rPr kumimoji="1" lang="en-US" altLang="zh-CN" baseline="-25000" dirty="0" err="1" smtClean="0"/>
              <a:t>p</a:t>
            </a:r>
            <a:r>
              <a:rPr kumimoji="1" lang="zh-CN" altLang="en-US" dirty="0" smtClean="0"/>
              <a:t>邻接于</a:t>
            </a:r>
            <a:r>
              <a:rPr kumimoji="1" lang="en-US" altLang="zh-CN" dirty="0" smtClean="0"/>
              <a:t>v</a:t>
            </a:r>
            <a:r>
              <a:rPr kumimoji="1" lang="en-US" altLang="zh-CN" i="1" baseline="-25000" dirty="0" smtClean="0"/>
              <a:t>l</a:t>
            </a:r>
            <a:r>
              <a:rPr kumimoji="1" lang="en-US" altLang="zh-CN" baseline="-25000" dirty="0" smtClean="0"/>
              <a:t>-1</a:t>
            </a:r>
            <a:r>
              <a:rPr kumimoji="1" lang="zh-CN" altLang="en-US" dirty="0" smtClean="0"/>
              <a:t>，</a:t>
            </a:r>
            <a:r>
              <a:rPr kumimoji="1" lang="en-US" altLang="zh-CN" dirty="0" smtClean="0"/>
              <a:t>v</a:t>
            </a:r>
            <a:r>
              <a:rPr kumimoji="1" lang="en-US" altLang="zh-CN" baseline="-25000" dirty="0" smtClean="0"/>
              <a:t>m-1</a:t>
            </a:r>
            <a:r>
              <a:rPr kumimoji="1" lang="zh-CN" altLang="en-US" dirty="0" smtClean="0"/>
              <a:t>，</a:t>
            </a:r>
            <a:r>
              <a:rPr kumimoji="1" lang="en-US" altLang="zh-CN" dirty="0" smtClean="0"/>
              <a:t>…</a:t>
            </a:r>
            <a:r>
              <a:rPr kumimoji="1" lang="zh-CN" altLang="en-US" dirty="0" smtClean="0"/>
              <a:t>，</a:t>
            </a:r>
            <a:r>
              <a:rPr kumimoji="1" lang="en-US" altLang="zh-CN" dirty="0" smtClean="0"/>
              <a:t>v</a:t>
            </a:r>
            <a:r>
              <a:rPr kumimoji="1" lang="en-US" altLang="zh-CN" baseline="-25000" dirty="0" smtClean="0"/>
              <a:t>j-1</a:t>
            </a:r>
            <a:r>
              <a:rPr kumimoji="1" lang="zh-CN" altLang="en-US" dirty="0" smtClean="0"/>
              <a:t>，</a:t>
            </a:r>
            <a:r>
              <a:rPr kumimoji="1" lang="en-US" altLang="zh-CN" dirty="0" smtClean="0"/>
              <a:t>…</a:t>
            </a:r>
            <a:r>
              <a:rPr kumimoji="1" lang="zh-CN" altLang="en-US" dirty="0" smtClean="0"/>
              <a:t>，</a:t>
            </a:r>
            <a:r>
              <a:rPr kumimoji="1" lang="en-US" altLang="zh-CN" dirty="0" smtClean="0"/>
              <a:t>v</a:t>
            </a:r>
            <a:r>
              <a:rPr kumimoji="1" lang="en-US" altLang="zh-CN" baseline="-25000" dirty="0" smtClean="0"/>
              <a:t>t-1</a:t>
            </a:r>
            <a:r>
              <a:rPr kumimoji="1" lang="zh-CN" altLang="en-US" dirty="0" smtClean="0"/>
              <a:t>中之一，若为</a:t>
            </a:r>
            <a:r>
              <a:rPr kumimoji="1" lang="en-US" altLang="zh-CN" dirty="0" smtClean="0"/>
              <a:t>v</a:t>
            </a:r>
            <a:r>
              <a:rPr kumimoji="1" lang="en-US" altLang="zh-CN" baseline="-25000" dirty="0" smtClean="0"/>
              <a:t>j-1</a:t>
            </a:r>
            <a:r>
              <a:rPr kumimoji="1" lang="zh-CN" altLang="en-US" dirty="0" smtClean="0"/>
              <a:t>，则可形成一条回路</a:t>
            </a:r>
            <a:r>
              <a:rPr kumimoji="1" lang="en-US" altLang="zh-CN" dirty="0" smtClean="0"/>
              <a:t>v</a:t>
            </a:r>
            <a:r>
              <a:rPr kumimoji="1" lang="en-US" altLang="zh-CN" baseline="-25000" dirty="0" smtClean="0"/>
              <a:t>1</a:t>
            </a:r>
            <a:r>
              <a:rPr kumimoji="1" lang="en-US" altLang="zh-CN" dirty="0" smtClean="0"/>
              <a:t>,v</a:t>
            </a:r>
            <a:r>
              <a:rPr kumimoji="1" lang="en-US" altLang="zh-CN" baseline="-25000" dirty="0" smtClean="0"/>
              <a:t>2</a:t>
            </a:r>
            <a:r>
              <a:rPr kumimoji="1" lang="en-US" altLang="zh-CN" dirty="0" smtClean="0"/>
              <a:t>,…,v</a:t>
            </a:r>
            <a:r>
              <a:rPr kumimoji="1" lang="en-US" altLang="zh-CN" baseline="-25000" dirty="0" smtClean="0"/>
              <a:t>j-1</a:t>
            </a:r>
            <a:r>
              <a:rPr kumimoji="1" lang="en-US" altLang="zh-CN" dirty="0" smtClean="0"/>
              <a:t>,v</a:t>
            </a:r>
            <a:r>
              <a:rPr kumimoji="1" lang="en-US" altLang="zh-CN" baseline="-25000" dirty="0" smtClean="0"/>
              <a:t>p</a:t>
            </a:r>
            <a:r>
              <a:rPr kumimoji="1" lang="en-US" altLang="zh-CN" dirty="0" smtClean="0"/>
              <a:t>,v</a:t>
            </a:r>
            <a:r>
              <a:rPr kumimoji="1" lang="en-US" altLang="zh-CN" baseline="-25000" dirty="0" smtClean="0"/>
              <a:t>p-1</a:t>
            </a:r>
            <a:r>
              <a:rPr kumimoji="1" lang="en-US" altLang="zh-CN" dirty="0" smtClean="0"/>
              <a:t>,…,v</a:t>
            </a:r>
            <a:r>
              <a:rPr kumimoji="1" lang="en-US" altLang="zh-CN" baseline="-25000" dirty="0" smtClean="0"/>
              <a:t>j</a:t>
            </a:r>
            <a:r>
              <a:rPr kumimoji="1" lang="en-US" altLang="zh-CN" dirty="0" smtClean="0"/>
              <a:t>v</a:t>
            </a:r>
            <a:r>
              <a:rPr kumimoji="1" lang="en-US" altLang="zh-CN" baseline="-25000" dirty="0" smtClean="0"/>
              <a:t>1</a:t>
            </a:r>
            <a:r>
              <a:rPr kumimoji="1" lang="zh-CN" altLang="en-US" dirty="0" smtClean="0"/>
              <a:t>。</a:t>
            </a:r>
          </a:p>
          <a:p>
            <a:pPr eaLnBrk="1" hangingPunct="1">
              <a:lnSpc>
                <a:spcPct val="115000"/>
              </a:lnSpc>
              <a:buClr>
                <a:schemeClr val="bg1"/>
              </a:buClr>
              <a:buSzTx/>
              <a:buFontTx/>
              <a:buNone/>
            </a:pPr>
            <a:r>
              <a:rPr kumimoji="1" lang="zh-CN" altLang="en-US" dirty="0" smtClean="0"/>
              <a:t>若</a:t>
            </a:r>
            <a:r>
              <a:rPr kumimoji="1" lang="en-US" altLang="zh-CN" dirty="0" err="1" smtClean="0"/>
              <a:t>v</a:t>
            </a:r>
            <a:r>
              <a:rPr kumimoji="1" lang="en-US" altLang="zh-CN" baseline="-25000" dirty="0" err="1" smtClean="0"/>
              <a:t>p</a:t>
            </a:r>
            <a:r>
              <a:rPr kumimoji="1" lang="zh-CN" altLang="en-US" dirty="0" smtClean="0"/>
              <a:t>不邻接于</a:t>
            </a:r>
            <a:r>
              <a:rPr kumimoji="1" lang="en-US" altLang="zh-CN" dirty="0" smtClean="0"/>
              <a:t>v</a:t>
            </a:r>
            <a:r>
              <a:rPr kumimoji="1" lang="en-US" altLang="zh-CN" i="1" baseline="-25000" dirty="0" smtClean="0"/>
              <a:t>l</a:t>
            </a:r>
            <a:r>
              <a:rPr kumimoji="1" lang="en-US" altLang="zh-CN" baseline="-25000" dirty="0" smtClean="0"/>
              <a:t>-1</a:t>
            </a:r>
            <a:r>
              <a:rPr kumimoji="1" lang="zh-CN" altLang="en-US" dirty="0" smtClean="0"/>
              <a:t>，</a:t>
            </a:r>
            <a:r>
              <a:rPr kumimoji="1" lang="en-US" altLang="zh-CN" dirty="0" smtClean="0"/>
              <a:t>v</a:t>
            </a:r>
            <a:r>
              <a:rPr kumimoji="1" lang="en-US" altLang="zh-CN" baseline="-25000" dirty="0" smtClean="0"/>
              <a:t>m-1</a:t>
            </a:r>
            <a:r>
              <a:rPr kumimoji="1" lang="zh-CN" altLang="en-US" dirty="0" smtClean="0"/>
              <a:t>，</a:t>
            </a:r>
            <a:r>
              <a:rPr kumimoji="1" lang="en-US" altLang="zh-CN" dirty="0" smtClean="0"/>
              <a:t>…</a:t>
            </a:r>
            <a:r>
              <a:rPr kumimoji="1" lang="zh-CN" altLang="en-US" dirty="0" smtClean="0"/>
              <a:t>，</a:t>
            </a:r>
            <a:r>
              <a:rPr kumimoji="1" lang="en-US" altLang="zh-CN" dirty="0" smtClean="0"/>
              <a:t>v</a:t>
            </a:r>
            <a:r>
              <a:rPr kumimoji="1" lang="en-US" altLang="zh-CN" baseline="-25000" dirty="0" smtClean="0"/>
              <a:t>j-1</a:t>
            </a:r>
            <a:r>
              <a:rPr kumimoji="1" lang="zh-CN" altLang="en-US" dirty="0" smtClean="0"/>
              <a:t>，</a:t>
            </a:r>
            <a:r>
              <a:rPr kumimoji="1" lang="en-US" altLang="zh-CN" dirty="0" smtClean="0"/>
              <a:t>…</a:t>
            </a:r>
            <a:r>
              <a:rPr kumimoji="1" lang="zh-CN" altLang="en-US" dirty="0" smtClean="0"/>
              <a:t>，</a:t>
            </a:r>
            <a:r>
              <a:rPr kumimoji="1" lang="en-US" altLang="zh-CN" dirty="0" smtClean="0"/>
              <a:t>v</a:t>
            </a:r>
            <a:r>
              <a:rPr kumimoji="1" lang="en-US" altLang="zh-CN" baseline="-25000" dirty="0" smtClean="0"/>
              <a:t>t-1</a:t>
            </a:r>
            <a:r>
              <a:rPr kumimoji="1" lang="zh-CN" altLang="en-US" dirty="0" smtClean="0"/>
              <a:t>中某一个，则</a:t>
            </a:r>
            <a:r>
              <a:rPr kumimoji="1" lang="en-US" altLang="zh-CN" dirty="0" err="1" smtClean="0"/>
              <a:t>deg</a:t>
            </a:r>
            <a:r>
              <a:rPr kumimoji="1" lang="en-US" altLang="zh-CN" dirty="0" smtClean="0"/>
              <a:t>(</a:t>
            </a:r>
            <a:r>
              <a:rPr kumimoji="1" lang="en-US" altLang="zh-CN" dirty="0" err="1" smtClean="0"/>
              <a:t>v</a:t>
            </a:r>
            <a:r>
              <a:rPr kumimoji="1" lang="en-US" altLang="zh-CN" baseline="-25000" dirty="0" err="1" smtClean="0"/>
              <a:t>p</a:t>
            </a:r>
            <a:r>
              <a:rPr kumimoji="1" lang="en-US" altLang="zh-CN" dirty="0" smtClean="0"/>
              <a:t>)≤p-k-1</a:t>
            </a:r>
            <a:r>
              <a:rPr kumimoji="1" lang="zh-CN" altLang="en-US" dirty="0" smtClean="0"/>
              <a:t>，</a:t>
            </a:r>
            <a:r>
              <a:rPr kumimoji="1" lang="en-US" altLang="zh-CN" dirty="0" err="1" smtClean="0"/>
              <a:t>deg</a:t>
            </a:r>
            <a:r>
              <a:rPr kumimoji="1" lang="en-US" altLang="zh-CN" dirty="0" smtClean="0"/>
              <a:t>(v</a:t>
            </a:r>
            <a:r>
              <a:rPr kumimoji="1" lang="en-US" altLang="zh-CN" baseline="-25000" dirty="0" smtClean="0"/>
              <a:t>1</a:t>
            </a:r>
            <a:r>
              <a:rPr kumimoji="1" lang="en-US" altLang="zh-CN" dirty="0" smtClean="0"/>
              <a:t>)=k</a:t>
            </a:r>
            <a:r>
              <a:rPr kumimoji="1" lang="zh-CN" altLang="en-US" dirty="0" smtClean="0"/>
              <a:t>，</a:t>
            </a:r>
          </a:p>
          <a:p>
            <a:pPr eaLnBrk="1" hangingPunct="1">
              <a:lnSpc>
                <a:spcPct val="115000"/>
              </a:lnSpc>
              <a:buClr>
                <a:schemeClr val="bg1"/>
              </a:buClr>
              <a:buSzTx/>
              <a:buFontTx/>
              <a:buNone/>
            </a:pPr>
            <a:r>
              <a:rPr kumimoji="1" lang="zh-CN" altLang="en-US" dirty="0" smtClean="0"/>
              <a:t>所以</a:t>
            </a:r>
            <a:r>
              <a:rPr kumimoji="1" lang="en-US" altLang="zh-CN" dirty="0" err="1" smtClean="0"/>
              <a:t>deg</a:t>
            </a:r>
            <a:r>
              <a:rPr kumimoji="1" lang="en-US" altLang="zh-CN" dirty="0" smtClean="0"/>
              <a:t>(</a:t>
            </a:r>
            <a:r>
              <a:rPr kumimoji="1" lang="en-US" altLang="zh-CN" dirty="0" err="1" smtClean="0"/>
              <a:t>v</a:t>
            </a:r>
            <a:r>
              <a:rPr kumimoji="1" lang="en-US" altLang="zh-CN" baseline="-25000" dirty="0" err="1" smtClean="0"/>
              <a:t>p</a:t>
            </a:r>
            <a:r>
              <a:rPr kumimoji="1" lang="en-US" altLang="zh-CN" dirty="0" smtClean="0"/>
              <a:t>)+</a:t>
            </a:r>
            <a:r>
              <a:rPr kumimoji="1" lang="en-US" altLang="zh-CN" dirty="0" err="1" smtClean="0"/>
              <a:t>deg</a:t>
            </a:r>
            <a:r>
              <a:rPr kumimoji="1" lang="en-US" altLang="zh-CN" dirty="0" smtClean="0"/>
              <a:t>(v</a:t>
            </a:r>
            <a:r>
              <a:rPr kumimoji="1" lang="en-US" altLang="zh-CN" baseline="-25000" dirty="0" smtClean="0"/>
              <a:t>1</a:t>
            </a:r>
            <a:r>
              <a:rPr kumimoji="1" lang="en-US" altLang="zh-CN" dirty="0" smtClean="0"/>
              <a:t>)≤p-k-1+k&lt;n-1</a:t>
            </a:r>
            <a:r>
              <a:rPr kumimoji="1" lang="zh-CN" altLang="en-US" dirty="0" smtClean="0"/>
              <a:t>。矛盾。</a:t>
            </a:r>
          </a:p>
          <a:p>
            <a:pPr eaLnBrk="1" hangingPunct="1">
              <a:lnSpc>
                <a:spcPct val="115000"/>
              </a:lnSpc>
              <a:buClr>
                <a:schemeClr val="bg1"/>
              </a:buClr>
              <a:buSzTx/>
              <a:buFontTx/>
              <a:buNone/>
            </a:pPr>
            <a:r>
              <a:rPr kumimoji="1" lang="zh-CN" altLang="en-US" dirty="0" smtClean="0"/>
              <a:t>因</a:t>
            </a:r>
            <a:r>
              <a:rPr kumimoji="1" lang="en-US" altLang="zh-CN" dirty="0" smtClean="0"/>
              <a:t>p&lt;n</a:t>
            </a:r>
            <a:r>
              <a:rPr kumimoji="1" lang="zh-CN" altLang="en-US" dirty="0" smtClean="0"/>
              <a:t>，故</a:t>
            </a:r>
            <a:r>
              <a:rPr kumimoji="1" lang="en-US" altLang="zh-CN" dirty="0" smtClean="0"/>
              <a:t>G</a:t>
            </a:r>
            <a:r>
              <a:rPr kumimoji="1" lang="zh-CN" altLang="en-US" dirty="0" smtClean="0"/>
              <a:t>中存在某结点</a:t>
            </a:r>
            <a:r>
              <a:rPr kumimoji="1" lang="en-US" altLang="zh-CN" dirty="0" err="1" smtClean="0"/>
              <a:t>v</a:t>
            </a:r>
            <a:r>
              <a:rPr kumimoji="1" lang="en-US" altLang="zh-CN" baseline="-25000" dirty="0" err="1" smtClean="0"/>
              <a:t>x</a:t>
            </a:r>
            <a:r>
              <a:rPr kumimoji="1" lang="zh-CN" altLang="en-US" dirty="0" smtClean="0"/>
              <a:t>不在回路中且与回路</a:t>
            </a:r>
            <a:r>
              <a:rPr kumimoji="1" lang="en-US" altLang="zh-CN" dirty="0" smtClean="0"/>
              <a:t>v</a:t>
            </a:r>
            <a:r>
              <a:rPr kumimoji="1" lang="en-US" altLang="zh-CN" baseline="-25000" dirty="0" smtClean="0"/>
              <a:t>1</a:t>
            </a:r>
            <a:r>
              <a:rPr kumimoji="1" lang="en-US" altLang="zh-CN" dirty="0" smtClean="0"/>
              <a:t>, v</a:t>
            </a:r>
            <a:r>
              <a:rPr kumimoji="1" lang="en-US" altLang="zh-CN" baseline="-25000" dirty="0" smtClean="0"/>
              <a:t>2</a:t>
            </a:r>
            <a:r>
              <a:rPr kumimoji="1" lang="en-US" altLang="zh-CN" dirty="0" smtClean="0"/>
              <a:t>, …,  v</a:t>
            </a:r>
            <a:r>
              <a:rPr kumimoji="1" lang="en-US" altLang="zh-CN" baseline="-25000" dirty="0" smtClean="0"/>
              <a:t>j-1</a:t>
            </a:r>
            <a:r>
              <a:rPr kumimoji="1" lang="en-US" altLang="zh-CN" dirty="0" smtClean="0"/>
              <a:t>,v</a:t>
            </a:r>
            <a:r>
              <a:rPr kumimoji="1" lang="en-US" altLang="zh-CN" baseline="-25000" dirty="0" smtClean="0"/>
              <a:t>p</a:t>
            </a:r>
            <a:r>
              <a:rPr kumimoji="1" lang="en-US" altLang="zh-CN" dirty="0" smtClean="0"/>
              <a:t>,v</a:t>
            </a:r>
            <a:r>
              <a:rPr kumimoji="1" lang="en-US" altLang="zh-CN" baseline="-25000" dirty="0" smtClean="0"/>
              <a:t>p-1</a:t>
            </a:r>
            <a:r>
              <a:rPr kumimoji="1" lang="en-US" altLang="zh-CN" dirty="0" smtClean="0"/>
              <a:t>,…,v</a:t>
            </a:r>
            <a:r>
              <a:rPr kumimoji="1" lang="en-US" altLang="zh-CN" baseline="-25000" dirty="0" smtClean="0"/>
              <a:t>j</a:t>
            </a:r>
            <a:r>
              <a:rPr kumimoji="1" lang="en-US" altLang="zh-CN" dirty="0" smtClean="0"/>
              <a:t>v</a:t>
            </a:r>
            <a:r>
              <a:rPr kumimoji="1" lang="en-US" altLang="zh-CN" baseline="-25000" dirty="0" smtClean="0"/>
              <a:t>1</a:t>
            </a:r>
            <a:r>
              <a:rPr kumimoji="1" lang="zh-CN" altLang="en-US" dirty="0" smtClean="0"/>
              <a:t>中某结点</a:t>
            </a:r>
            <a:r>
              <a:rPr kumimoji="1" lang="en-US" altLang="zh-CN" dirty="0" err="1" smtClean="0"/>
              <a:t>v</a:t>
            </a:r>
            <a:r>
              <a:rPr kumimoji="1" lang="en-US" altLang="zh-CN" baseline="-25000" dirty="0" err="1" smtClean="0"/>
              <a:t>k</a:t>
            </a:r>
            <a:r>
              <a:rPr kumimoji="1" lang="zh-CN" altLang="en-US" dirty="0" smtClean="0"/>
              <a:t>邻接，这样可形成</a:t>
            </a:r>
            <a:r>
              <a:rPr kumimoji="1" lang="en-US" altLang="zh-CN" dirty="0" smtClean="0"/>
              <a:t>v</a:t>
            </a:r>
            <a:r>
              <a:rPr kumimoji="1" lang="en-US" altLang="zh-CN" baseline="-25000" dirty="0" smtClean="0"/>
              <a:t>x</a:t>
            </a:r>
            <a:r>
              <a:rPr kumimoji="1" lang="en-US" altLang="zh-CN" dirty="0" smtClean="0"/>
              <a:t>,v</a:t>
            </a:r>
            <a:r>
              <a:rPr kumimoji="1" lang="en-US" altLang="zh-CN" baseline="-25000" dirty="0" smtClean="0"/>
              <a:t>k</a:t>
            </a:r>
            <a:r>
              <a:rPr kumimoji="1" lang="en-US" altLang="zh-CN" dirty="0" smtClean="0"/>
              <a:t>,v</a:t>
            </a:r>
            <a:r>
              <a:rPr kumimoji="1" lang="en-US" altLang="zh-CN" baseline="-25000" dirty="0" smtClean="0"/>
              <a:t>k+1</a:t>
            </a:r>
            <a:r>
              <a:rPr kumimoji="1" lang="en-US" altLang="zh-CN" dirty="0" smtClean="0"/>
              <a:t>,v</a:t>
            </a:r>
            <a:r>
              <a:rPr kumimoji="1" lang="en-US" altLang="zh-CN" baseline="-25000" dirty="0" smtClean="0"/>
              <a:t>p</a:t>
            </a:r>
            <a:r>
              <a:rPr kumimoji="1" lang="en-US" altLang="zh-CN" dirty="0" smtClean="0"/>
              <a:t>, v</a:t>
            </a:r>
            <a:r>
              <a:rPr kumimoji="1" lang="en-US" altLang="zh-CN" baseline="-25000" dirty="0" smtClean="0"/>
              <a:t>j</a:t>
            </a:r>
            <a:r>
              <a:rPr kumimoji="1" lang="en-US" altLang="zh-CN" dirty="0" smtClean="0"/>
              <a:t>,v</a:t>
            </a:r>
            <a:r>
              <a:rPr kumimoji="1" lang="en-US" altLang="zh-CN" baseline="-25000" dirty="0" smtClean="0"/>
              <a:t>1</a:t>
            </a:r>
            <a:r>
              <a:rPr kumimoji="1" lang="en-US" altLang="zh-CN" dirty="0" smtClean="0"/>
              <a:t>,v</a:t>
            </a:r>
            <a:r>
              <a:rPr kumimoji="1" lang="en-US" altLang="zh-CN" baseline="-25000" dirty="0" smtClean="0"/>
              <a:t>2</a:t>
            </a:r>
            <a:r>
              <a:rPr kumimoji="1" lang="en-US" altLang="zh-CN" dirty="0" smtClean="0"/>
              <a:t>,…,v</a:t>
            </a:r>
            <a:r>
              <a:rPr kumimoji="1" lang="en-US" altLang="zh-CN" baseline="-25000" dirty="0" smtClean="0"/>
              <a:t>k-1</a:t>
            </a:r>
            <a:r>
              <a:rPr kumimoji="1" lang="zh-CN" altLang="en-US" dirty="0" smtClean="0"/>
              <a:t>的</a:t>
            </a:r>
            <a:r>
              <a:rPr kumimoji="1" lang="en-US" altLang="zh-CN" dirty="0" smtClean="0"/>
              <a:t>p</a:t>
            </a:r>
            <a:r>
              <a:rPr kumimoji="1" lang="zh-CN" altLang="en-US" dirty="0" smtClean="0"/>
              <a:t>条边的通路。这时若</a:t>
            </a:r>
            <a:r>
              <a:rPr kumimoji="1" lang="en-US" altLang="zh-CN" dirty="0" smtClean="0"/>
              <a:t>p=n </a:t>
            </a:r>
            <a:r>
              <a:rPr kumimoji="1" lang="zh-CN" altLang="en-US" dirty="0" smtClean="0"/>
              <a:t>，则</a:t>
            </a:r>
            <a:r>
              <a:rPr lang="zh-CN" altLang="en-US" dirty="0" smtClean="0"/>
              <a:t>这</a:t>
            </a:r>
            <a:r>
              <a:rPr lang="en-US" altLang="zh-CN" dirty="0" smtClean="0"/>
              <a:t>n-1</a:t>
            </a:r>
            <a:r>
              <a:rPr lang="zh-CN" altLang="en-US" dirty="0" smtClean="0"/>
              <a:t>条边的路便是汉密尔顿路。</a:t>
            </a:r>
          </a:p>
          <a:p>
            <a:pPr eaLnBrk="1" hangingPunct="1">
              <a:lnSpc>
                <a:spcPct val="115000"/>
              </a:lnSpc>
              <a:buClr>
                <a:schemeClr val="bg1"/>
              </a:buClr>
              <a:buSzTx/>
              <a:buFontTx/>
              <a:buNone/>
            </a:pPr>
            <a:r>
              <a:rPr kumimoji="1" lang="zh-CN" altLang="en-US" dirty="0" smtClean="0"/>
              <a:t>否则，重复步骤</a:t>
            </a:r>
            <a:r>
              <a:rPr kumimoji="1" lang="en-US" altLang="zh-CN" dirty="0" smtClean="0"/>
              <a:t>1)2)</a:t>
            </a:r>
            <a:r>
              <a:rPr kumimoji="1" lang="zh-CN" altLang="en-US" dirty="0" smtClean="0"/>
              <a:t>直到找到一条</a:t>
            </a:r>
            <a:r>
              <a:rPr kumimoji="1" lang="en-US" altLang="zh-CN" dirty="0" smtClean="0"/>
              <a:t>n-1</a:t>
            </a:r>
            <a:r>
              <a:rPr kumimoji="1" lang="zh-CN" altLang="en-US" dirty="0" smtClean="0"/>
              <a:t>条边的汉密尔顿路。</a:t>
            </a:r>
          </a:p>
        </p:txBody>
      </p:sp>
      <p:grpSp>
        <p:nvGrpSpPr>
          <p:cNvPr id="125972" name="Group 20"/>
          <p:cNvGrpSpPr>
            <a:grpSpLocks/>
          </p:cNvGrpSpPr>
          <p:nvPr/>
        </p:nvGrpSpPr>
        <p:grpSpPr bwMode="auto">
          <a:xfrm>
            <a:off x="954088" y="423863"/>
            <a:ext cx="7218362" cy="576262"/>
            <a:chOff x="385" y="3702"/>
            <a:chExt cx="4547" cy="363"/>
          </a:xfrm>
        </p:grpSpPr>
        <p:sp>
          <p:nvSpPr>
            <p:cNvPr id="72711" name="Line 4"/>
            <p:cNvSpPr>
              <a:spLocks noChangeShapeType="1"/>
            </p:cNvSpPr>
            <p:nvPr/>
          </p:nvSpPr>
          <p:spPr bwMode="auto">
            <a:xfrm>
              <a:off x="703" y="3838"/>
              <a:ext cx="680" cy="0"/>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12" name="Line 5"/>
            <p:cNvSpPr>
              <a:spLocks noChangeShapeType="1"/>
            </p:cNvSpPr>
            <p:nvPr/>
          </p:nvSpPr>
          <p:spPr bwMode="auto">
            <a:xfrm>
              <a:off x="1384" y="3838"/>
              <a:ext cx="680" cy="0"/>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13" name="Line 6"/>
            <p:cNvSpPr>
              <a:spLocks noChangeShapeType="1"/>
            </p:cNvSpPr>
            <p:nvPr/>
          </p:nvSpPr>
          <p:spPr bwMode="auto">
            <a:xfrm>
              <a:off x="2055" y="3838"/>
              <a:ext cx="680" cy="0"/>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14" name="Line 7"/>
            <p:cNvSpPr>
              <a:spLocks noChangeShapeType="1"/>
            </p:cNvSpPr>
            <p:nvPr/>
          </p:nvSpPr>
          <p:spPr bwMode="auto">
            <a:xfrm>
              <a:off x="3524" y="3829"/>
              <a:ext cx="680" cy="0"/>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15" name="Line 8"/>
            <p:cNvSpPr>
              <a:spLocks noChangeShapeType="1"/>
            </p:cNvSpPr>
            <p:nvPr/>
          </p:nvSpPr>
          <p:spPr bwMode="auto">
            <a:xfrm>
              <a:off x="4205" y="3829"/>
              <a:ext cx="680" cy="0"/>
            </a:xfrm>
            <a:prstGeom prst="line">
              <a:avLst/>
            </a:prstGeom>
            <a:noFill/>
            <a:ln w="38100">
              <a:solidFill>
                <a:schemeClr val="tx1"/>
              </a:solidFill>
              <a:round/>
              <a:headEnd type="oval" w="med" len="me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16" name="Line 10"/>
            <p:cNvSpPr>
              <a:spLocks noChangeShapeType="1"/>
            </p:cNvSpPr>
            <p:nvPr/>
          </p:nvSpPr>
          <p:spPr bwMode="auto">
            <a:xfrm>
              <a:off x="2744" y="3838"/>
              <a:ext cx="771" cy="0"/>
            </a:xfrm>
            <a:prstGeom prst="line">
              <a:avLst/>
            </a:prstGeom>
            <a:noFill/>
            <a:ln w="381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2717" name="Rectangle 12"/>
            <p:cNvSpPr>
              <a:spLocks noChangeArrowheads="1"/>
            </p:cNvSpPr>
            <p:nvPr/>
          </p:nvSpPr>
          <p:spPr bwMode="auto">
            <a:xfrm>
              <a:off x="385" y="3702"/>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1</a:t>
              </a:r>
            </a:p>
          </p:txBody>
        </p:sp>
        <p:sp>
          <p:nvSpPr>
            <p:cNvPr id="72718" name="Rectangle 13"/>
            <p:cNvSpPr>
              <a:spLocks noChangeArrowheads="1"/>
            </p:cNvSpPr>
            <p:nvPr/>
          </p:nvSpPr>
          <p:spPr bwMode="auto">
            <a:xfrm>
              <a:off x="1243" y="3777"/>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2</a:t>
              </a:r>
            </a:p>
          </p:txBody>
        </p:sp>
        <p:sp>
          <p:nvSpPr>
            <p:cNvPr id="72719" name="Rectangle 14"/>
            <p:cNvSpPr>
              <a:spLocks noChangeArrowheads="1"/>
            </p:cNvSpPr>
            <p:nvPr/>
          </p:nvSpPr>
          <p:spPr bwMode="auto">
            <a:xfrm>
              <a:off x="2526" y="3748"/>
              <a:ext cx="36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solidFill>
                    <a:schemeClr val="bg2"/>
                  </a:solidFill>
                  <a:latin typeface="Times New Roman" pitchFamily="18" charset="0"/>
                </a:rPr>
                <a:t>v</a:t>
              </a:r>
              <a:r>
                <a:rPr kumimoji="1" lang="en-US" altLang="zh-CN" b="1" baseline="-25000">
                  <a:solidFill>
                    <a:schemeClr val="bg2"/>
                  </a:solidFill>
                  <a:latin typeface="Times New Roman" pitchFamily="18" charset="0"/>
                </a:rPr>
                <a:t>j-1</a:t>
              </a:r>
            </a:p>
          </p:txBody>
        </p:sp>
        <p:sp>
          <p:nvSpPr>
            <p:cNvPr id="72720" name="Rectangle 15"/>
            <p:cNvSpPr>
              <a:spLocks noChangeArrowheads="1"/>
            </p:cNvSpPr>
            <p:nvPr/>
          </p:nvSpPr>
          <p:spPr bwMode="auto">
            <a:xfrm>
              <a:off x="3334" y="3757"/>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err="1">
                  <a:solidFill>
                    <a:schemeClr val="bg2"/>
                  </a:solidFill>
                  <a:latin typeface="Times New Roman" pitchFamily="18" charset="0"/>
                </a:rPr>
                <a:t>v</a:t>
              </a:r>
              <a:r>
                <a:rPr kumimoji="1" lang="en-US" altLang="zh-CN" b="1" baseline="-25000" dirty="0" err="1">
                  <a:solidFill>
                    <a:schemeClr val="bg2"/>
                  </a:solidFill>
                  <a:latin typeface="Times New Roman" pitchFamily="18" charset="0"/>
                </a:rPr>
                <a:t>j</a:t>
              </a:r>
              <a:endParaRPr kumimoji="1" lang="en-US" altLang="zh-CN" b="1" baseline="-25000" dirty="0">
                <a:solidFill>
                  <a:schemeClr val="bg2"/>
                </a:solidFill>
                <a:latin typeface="Times New Roman" pitchFamily="18" charset="0"/>
              </a:endParaRPr>
            </a:p>
          </p:txBody>
        </p:sp>
        <p:sp>
          <p:nvSpPr>
            <p:cNvPr id="72721" name="Rectangle 16"/>
            <p:cNvSpPr>
              <a:spLocks noChangeArrowheads="1"/>
            </p:cNvSpPr>
            <p:nvPr/>
          </p:nvSpPr>
          <p:spPr bwMode="auto">
            <a:xfrm>
              <a:off x="4649" y="3748"/>
              <a:ext cx="28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dirty="0" err="1">
                  <a:solidFill>
                    <a:schemeClr val="bg2"/>
                  </a:solidFill>
                  <a:latin typeface="Times New Roman" pitchFamily="18" charset="0"/>
                </a:rPr>
                <a:t>v</a:t>
              </a:r>
              <a:r>
                <a:rPr kumimoji="1" lang="en-US" altLang="zh-CN" b="1" baseline="-25000" dirty="0" err="1">
                  <a:solidFill>
                    <a:schemeClr val="bg2"/>
                  </a:solidFill>
                  <a:latin typeface="Times New Roman" pitchFamily="18" charset="0"/>
                </a:rPr>
                <a:t>p</a:t>
              </a:r>
              <a:endParaRPr kumimoji="1" lang="en-US" altLang="zh-CN" b="1" baseline="-25000" dirty="0">
                <a:solidFill>
                  <a:schemeClr val="bg2"/>
                </a:solidFill>
                <a:latin typeface="Times New Roman" pitchFamily="18" charset="0"/>
              </a:endParaRPr>
            </a:p>
          </p:txBody>
        </p:sp>
      </p:grpSp>
      <p:sp>
        <p:nvSpPr>
          <p:cNvPr id="125970" name="Freeform 18"/>
          <p:cNvSpPr>
            <a:spLocks/>
          </p:cNvSpPr>
          <p:nvPr/>
        </p:nvSpPr>
        <p:spPr bwMode="auto">
          <a:xfrm>
            <a:off x="1458913" y="639763"/>
            <a:ext cx="4464050" cy="503237"/>
          </a:xfrm>
          <a:custGeom>
            <a:avLst/>
            <a:gdLst>
              <a:gd name="T0" fmla="*/ 0 w 2812"/>
              <a:gd name="T1" fmla="*/ 0 h 317"/>
              <a:gd name="T2" fmla="*/ 1584325 w 2812"/>
              <a:gd name="T3" fmla="*/ 431800 h 317"/>
              <a:gd name="T4" fmla="*/ 2663825 w 2812"/>
              <a:gd name="T5" fmla="*/ 431800 h 317"/>
              <a:gd name="T6" fmla="*/ 4464050 w 2812"/>
              <a:gd name="T7" fmla="*/ 0 h 31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812" h="317">
                <a:moveTo>
                  <a:pt x="0" y="0"/>
                </a:moveTo>
                <a:cubicBezTo>
                  <a:pt x="359" y="113"/>
                  <a:pt x="718" y="227"/>
                  <a:pt x="998" y="272"/>
                </a:cubicBezTo>
                <a:cubicBezTo>
                  <a:pt x="1278" y="317"/>
                  <a:pt x="1376" y="317"/>
                  <a:pt x="1678" y="272"/>
                </a:cubicBezTo>
                <a:cubicBezTo>
                  <a:pt x="1980" y="227"/>
                  <a:pt x="2396" y="113"/>
                  <a:pt x="2812" y="0"/>
                </a:cubicBezTo>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5971" name="Freeform 19"/>
          <p:cNvSpPr>
            <a:spLocks/>
          </p:cNvSpPr>
          <p:nvPr/>
        </p:nvSpPr>
        <p:spPr bwMode="auto">
          <a:xfrm>
            <a:off x="4699000" y="207963"/>
            <a:ext cx="3384550" cy="431800"/>
          </a:xfrm>
          <a:custGeom>
            <a:avLst/>
            <a:gdLst>
              <a:gd name="T0" fmla="*/ 0 w 2132"/>
              <a:gd name="T1" fmla="*/ 431800 h 272"/>
              <a:gd name="T2" fmla="*/ 936625 w 2132"/>
              <a:gd name="T3" fmla="*/ 73025 h 272"/>
              <a:gd name="T4" fmla="*/ 1944688 w 2132"/>
              <a:gd name="T5" fmla="*/ 0 h 272"/>
              <a:gd name="T6" fmla="*/ 2952750 w 2132"/>
              <a:gd name="T7" fmla="*/ 73025 h 272"/>
              <a:gd name="T8" fmla="*/ 3384550 w 2132"/>
              <a:gd name="T9" fmla="*/ 360363 h 2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32" h="272">
                <a:moveTo>
                  <a:pt x="0" y="272"/>
                </a:moveTo>
                <a:cubicBezTo>
                  <a:pt x="193" y="181"/>
                  <a:pt x="386" y="91"/>
                  <a:pt x="590" y="46"/>
                </a:cubicBezTo>
                <a:cubicBezTo>
                  <a:pt x="794" y="1"/>
                  <a:pt x="1013" y="0"/>
                  <a:pt x="1225" y="0"/>
                </a:cubicBezTo>
                <a:cubicBezTo>
                  <a:pt x="1437" y="0"/>
                  <a:pt x="1709" y="8"/>
                  <a:pt x="1860" y="46"/>
                </a:cubicBezTo>
                <a:cubicBezTo>
                  <a:pt x="2011" y="84"/>
                  <a:pt x="2087" y="189"/>
                  <a:pt x="2132" y="227"/>
                </a:cubicBezTo>
              </a:path>
            </a:pathLst>
          </a:cu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2147469085"/>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25955">
                                            <p:txEl>
                                              <p:pRg st="1" end="1"/>
                                            </p:txEl>
                                          </p:spTgt>
                                        </p:tgtEl>
                                        <p:attrNameLst>
                                          <p:attrName>style.visibility</p:attrName>
                                        </p:attrNameLst>
                                      </p:cBhvr>
                                      <p:to>
                                        <p:strVal val="visible"/>
                                      </p:to>
                                    </p:set>
                                    <p:anim calcmode="lin" valueType="num">
                                      <p:cBhvr additive="base">
                                        <p:cTn id="7" dur="500" fill="hold"/>
                                        <p:tgtEl>
                                          <p:spTgt spid="12595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595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25972"/>
                                        </p:tgtEl>
                                        <p:attrNameLst>
                                          <p:attrName>style.visibility</p:attrName>
                                        </p:attrNameLst>
                                      </p:cBhvr>
                                      <p:to>
                                        <p:strVal val="visible"/>
                                      </p:to>
                                    </p:set>
                                    <p:anim calcmode="lin" valueType="num">
                                      <p:cBhvr additive="base">
                                        <p:cTn id="13" dur="500" fill="hold"/>
                                        <p:tgtEl>
                                          <p:spTgt spid="125972"/>
                                        </p:tgtEl>
                                        <p:attrNameLst>
                                          <p:attrName>ppt_x</p:attrName>
                                        </p:attrNameLst>
                                      </p:cBhvr>
                                      <p:tavLst>
                                        <p:tav tm="0">
                                          <p:val>
                                            <p:strVal val="#ppt_x"/>
                                          </p:val>
                                        </p:tav>
                                        <p:tav tm="100000">
                                          <p:val>
                                            <p:strVal val="#ppt_x"/>
                                          </p:val>
                                        </p:tav>
                                      </p:tavLst>
                                    </p:anim>
                                    <p:anim calcmode="lin" valueType="num">
                                      <p:cBhvr additive="base">
                                        <p:cTn id="14" dur="500" fill="hold"/>
                                        <p:tgtEl>
                                          <p:spTgt spid="125972"/>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25970"/>
                                        </p:tgtEl>
                                        <p:attrNameLst>
                                          <p:attrName>style.visibility</p:attrName>
                                        </p:attrNameLst>
                                      </p:cBhvr>
                                      <p:to>
                                        <p:strVal val="visible"/>
                                      </p:to>
                                    </p:set>
                                    <p:anim calcmode="lin" valueType="num">
                                      <p:cBhvr additive="base">
                                        <p:cTn id="17" dur="500" fill="hold"/>
                                        <p:tgtEl>
                                          <p:spTgt spid="125970"/>
                                        </p:tgtEl>
                                        <p:attrNameLst>
                                          <p:attrName>ppt_x</p:attrName>
                                        </p:attrNameLst>
                                      </p:cBhvr>
                                      <p:tavLst>
                                        <p:tav tm="0">
                                          <p:val>
                                            <p:strVal val="#ppt_x"/>
                                          </p:val>
                                        </p:tav>
                                        <p:tav tm="100000">
                                          <p:val>
                                            <p:strVal val="#ppt_x"/>
                                          </p:val>
                                        </p:tav>
                                      </p:tavLst>
                                    </p:anim>
                                    <p:anim calcmode="lin" valueType="num">
                                      <p:cBhvr additive="base">
                                        <p:cTn id="18" dur="500" fill="hold"/>
                                        <p:tgtEl>
                                          <p:spTgt spid="12597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25971"/>
                                        </p:tgtEl>
                                        <p:attrNameLst>
                                          <p:attrName>style.visibility</p:attrName>
                                        </p:attrNameLst>
                                      </p:cBhvr>
                                      <p:to>
                                        <p:strVal val="visible"/>
                                      </p:to>
                                    </p:set>
                                    <p:anim calcmode="lin" valueType="num">
                                      <p:cBhvr additive="base">
                                        <p:cTn id="21" dur="500" fill="hold"/>
                                        <p:tgtEl>
                                          <p:spTgt spid="125971"/>
                                        </p:tgtEl>
                                        <p:attrNameLst>
                                          <p:attrName>ppt_x</p:attrName>
                                        </p:attrNameLst>
                                      </p:cBhvr>
                                      <p:tavLst>
                                        <p:tav tm="0">
                                          <p:val>
                                            <p:strVal val="#ppt_x"/>
                                          </p:val>
                                        </p:tav>
                                        <p:tav tm="100000">
                                          <p:val>
                                            <p:strVal val="#ppt_x"/>
                                          </p:val>
                                        </p:tav>
                                      </p:tavLst>
                                    </p:anim>
                                    <p:anim calcmode="lin" valueType="num">
                                      <p:cBhvr additive="base">
                                        <p:cTn id="22" dur="500" fill="hold"/>
                                        <p:tgtEl>
                                          <p:spTgt spid="125971"/>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125955">
                                            <p:txEl>
                                              <p:pRg st="2" end="2"/>
                                            </p:txEl>
                                          </p:spTgt>
                                        </p:tgtEl>
                                        <p:attrNameLst>
                                          <p:attrName>style.visibility</p:attrName>
                                        </p:attrNameLst>
                                      </p:cBhvr>
                                      <p:to>
                                        <p:strVal val="visible"/>
                                      </p:to>
                                    </p:set>
                                    <p:anim calcmode="lin" valueType="num">
                                      <p:cBhvr additive="base">
                                        <p:cTn id="27" dur="500" fill="hold"/>
                                        <p:tgtEl>
                                          <p:spTgt spid="125955">
                                            <p:txEl>
                                              <p:pRg st="2" end="2"/>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259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125955">
                                            <p:txEl>
                                              <p:pRg st="3" end="3"/>
                                            </p:txEl>
                                          </p:spTgt>
                                        </p:tgtEl>
                                        <p:attrNameLst>
                                          <p:attrName>style.visibility</p:attrName>
                                        </p:attrNameLst>
                                      </p:cBhvr>
                                      <p:to>
                                        <p:strVal val="visible"/>
                                      </p:to>
                                    </p:set>
                                    <p:anim calcmode="lin" valueType="num">
                                      <p:cBhvr additive="base">
                                        <p:cTn id="33" dur="500" fill="hold"/>
                                        <p:tgtEl>
                                          <p:spTgt spid="125955">
                                            <p:txEl>
                                              <p:pRg st="3" end="3"/>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2595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nodeType="clickEffect">
                                  <p:stCondLst>
                                    <p:cond delay="0"/>
                                  </p:stCondLst>
                                  <p:childTnLst>
                                    <p:set>
                                      <p:cBhvr>
                                        <p:cTn id="38" dur="1" fill="hold">
                                          <p:stCondLst>
                                            <p:cond delay="0"/>
                                          </p:stCondLst>
                                        </p:cTn>
                                        <p:tgtEl>
                                          <p:spTgt spid="125955">
                                            <p:txEl>
                                              <p:pRg st="4" end="4"/>
                                            </p:txEl>
                                          </p:spTgt>
                                        </p:tgtEl>
                                        <p:attrNameLst>
                                          <p:attrName>style.visibility</p:attrName>
                                        </p:attrNameLst>
                                      </p:cBhvr>
                                      <p:to>
                                        <p:strVal val="visible"/>
                                      </p:to>
                                    </p:set>
                                    <p:anim calcmode="lin" valueType="num">
                                      <p:cBhvr additive="base">
                                        <p:cTn id="39" dur="500" fill="hold"/>
                                        <p:tgtEl>
                                          <p:spTgt spid="125955">
                                            <p:txEl>
                                              <p:pRg st="4" end="4"/>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1259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 presetClass="entr" presetSubtype="4" fill="hold" nodeType="clickEffect">
                                  <p:stCondLst>
                                    <p:cond delay="0"/>
                                  </p:stCondLst>
                                  <p:childTnLst>
                                    <p:set>
                                      <p:cBhvr>
                                        <p:cTn id="44" dur="1" fill="hold">
                                          <p:stCondLst>
                                            <p:cond delay="0"/>
                                          </p:stCondLst>
                                        </p:cTn>
                                        <p:tgtEl>
                                          <p:spTgt spid="125955">
                                            <p:txEl>
                                              <p:pRg st="5" end="5"/>
                                            </p:txEl>
                                          </p:spTgt>
                                        </p:tgtEl>
                                        <p:attrNameLst>
                                          <p:attrName>style.visibility</p:attrName>
                                        </p:attrNameLst>
                                      </p:cBhvr>
                                      <p:to>
                                        <p:strVal val="visible"/>
                                      </p:to>
                                    </p:set>
                                    <p:anim calcmode="lin" valueType="num">
                                      <p:cBhvr additive="base">
                                        <p:cTn id="45" dur="500" fill="hold"/>
                                        <p:tgtEl>
                                          <p:spTgt spid="125955">
                                            <p:txEl>
                                              <p:pRg st="5" end="5"/>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12595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70" grpId="0" animBg="1"/>
      <p:bldP spid="12597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2"/>
          <p:cNvSpPr>
            <a:spLocks noGrp="1"/>
          </p:cNvSpPr>
          <p:nvPr>
            <p:ph type="sldNum" sz="quarter" idx="11"/>
          </p:nvPr>
        </p:nvSpPr>
        <p:spPr/>
        <p:txBody>
          <a:bodyPr/>
          <a:lstStyle/>
          <a:p>
            <a:pPr>
              <a:defRPr/>
            </a:pPr>
            <a:fld id="{596662D8-6062-4BA5-B73C-D87F3F99DCDB}" type="slidenum">
              <a:rPr lang="en-US" altLang="zh-CN"/>
              <a:pPr>
                <a:defRPr/>
              </a:pPr>
              <a:t>72</a:t>
            </a:fld>
            <a:endParaRPr lang="en-US" altLang="zh-CN"/>
          </a:p>
        </p:txBody>
      </p:sp>
      <p:sp>
        <p:nvSpPr>
          <p:cNvPr id="54274" name="Text Box 2"/>
          <p:cNvSpPr txBox="1">
            <a:spLocks noChangeArrowheads="1"/>
          </p:cNvSpPr>
          <p:nvPr/>
        </p:nvSpPr>
        <p:spPr bwMode="auto">
          <a:xfrm>
            <a:off x="466725" y="2590800"/>
            <a:ext cx="82772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en-US" altLang="zh-CN" b="1" dirty="0">
                <a:latin typeface="Times New Roman" pitchFamily="18" charset="0"/>
              </a:rPr>
              <a:t>G</a:t>
            </a:r>
            <a:r>
              <a:rPr kumimoji="1" lang="zh-CN" altLang="en-US" b="1" dirty="0">
                <a:latin typeface="Times New Roman" pitchFamily="18" charset="0"/>
              </a:rPr>
              <a:t>中每对结点度数之和大于等于</a:t>
            </a:r>
            <a:r>
              <a:rPr kumimoji="1" lang="en-US" altLang="zh-CN" b="1" dirty="0">
                <a:latin typeface="Times New Roman" pitchFamily="18" charset="0"/>
              </a:rPr>
              <a:t>n-1</a:t>
            </a:r>
            <a:r>
              <a:rPr kumimoji="1" lang="zh-CN" altLang="en-US" b="1" dirty="0">
                <a:latin typeface="Times New Roman" pitchFamily="18" charset="0"/>
              </a:rPr>
              <a:t>是</a:t>
            </a:r>
            <a:r>
              <a:rPr kumimoji="1" lang="en-US" altLang="zh-CN" b="1" dirty="0">
                <a:latin typeface="Times New Roman" pitchFamily="18" charset="0"/>
              </a:rPr>
              <a:t>G</a:t>
            </a:r>
            <a:r>
              <a:rPr kumimoji="1" lang="zh-CN" altLang="en-US" b="1" dirty="0">
                <a:latin typeface="Times New Roman" pitchFamily="18" charset="0"/>
              </a:rPr>
              <a:t>中有汉密尔顿路的充分条件</a:t>
            </a:r>
          </a:p>
          <a:p>
            <a:pPr eaLnBrk="1" hangingPunct="1">
              <a:lnSpc>
                <a:spcPct val="130000"/>
              </a:lnSpc>
              <a:buClr>
                <a:schemeClr val="hlink"/>
              </a:buClr>
              <a:buFont typeface="Wingdings" pitchFamily="2" charset="2"/>
              <a:buChar char="Ø"/>
            </a:pPr>
            <a:r>
              <a:rPr kumimoji="1" lang="en-US" altLang="zh-CN" b="1" dirty="0">
                <a:latin typeface="Times New Roman" pitchFamily="18" charset="0"/>
              </a:rPr>
              <a:t>G</a:t>
            </a:r>
            <a:r>
              <a:rPr kumimoji="1" lang="zh-CN" altLang="en-US" b="1" dirty="0">
                <a:latin typeface="Times New Roman" pitchFamily="18" charset="0"/>
              </a:rPr>
              <a:t>中每对结点度数之和大于等于</a:t>
            </a:r>
            <a:r>
              <a:rPr kumimoji="1" lang="en-US" altLang="zh-CN" b="1" dirty="0">
                <a:latin typeface="Times New Roman" pitchFamily="18" charset="0"/>
              </a:rPr>
              <a:t>n</a:t>
            </a:r>
            <a:r>
              <a:rPr kumimoji="1" lang="zh-CN" altLang="en-US" b="1" dirty="0">
                <a:latin typeface="Times New Roman" pitchFamily="18" charset="0"/>
              </a:rPr>
              <a:t>是</a:t>
            </a:r>
            <a:r>
              <a:rPr kumimoji="1" lang="en-US" altLang="zh-CN" b="1" dirty="0">
                <a:latin typeface="Times New Roman" pitchFamily="18" charset="0"/>
              </a:rPr>
              <a:t>G</a:t>
            </a:r>
            <a:r>
              <a:rPr kumimoji="1" lang="zh-CN" altLang="en-US" b="1" dirty="0">
                <a:latin typeface="Times New Roman" pitchFamily="18" charset="0"/>
              </a:rPr>
              <a:t>中有汉密尔顿回路的充分条件。</a:t>
            </a:r>
          </a:p>
        </p:txBody>
      </p:sp>
      <p:sp>
        <p:nvSpPr>
          <p:cNvPr id="73732" name="Text Box 4"/>
          <p:cNvSpPr txBox="1">
            <a:spLocks noChangeArrowheads="1"/>
          </p:cNvSpPr>
          <p:nvPr/>
        </p:nvSpPr>
        <p:spPr bwMode="auto">
          <a:xfrm>
            <a:off x="466725" y="1125538"/>
            <a:ext cx="8277225"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7-4.5</a:t>
            </a:r>
            <a:r>
              <a:rPr kumimoji="1" lang="en-US" altLang="zh-CN" b="1">
                <a:solidFill>
                  <a:schemeClr val="folHlink"/>
                </a:solidFill>
                <a:latin typeface="Times New Roman" pitchFamily="18" charset="0"/>
              </a:rPr>
              <a:t>(</a:t>
            </a:r>
            <a:r>
              <a:rPr kumimoji="1" lang="zh-CN" altLang="en-US" b="1">
                <a:solidFill>
                  <a:schemeClr val="folHlink"/>
                </a:solidFill>
                <a:latin typeface="Times New Roman" pitchFamily="18" charset="0"/>
              </a:rPr>
              <a:t>充分条件</a:t>
            </a:r>
            <a:r>
              <a:rPr kumimoji="1" lang="en-US" altLang="zh-CN" b="1">
                <a:solidFill>
                  <a:schemeClr val="folHlink"/>
                </a:solidFill>
                <a:latin typeface="Times New Roman" pitchFamily="18" charset="0"/>
              </a:rPr>
              <a:t>)</a:t>
            </a:r>
            <a:r>
              <a:rPr kumimoji="1" lang="zh-CN" altLang="en-US" b="1">
                <a:solidFill>
                  <a:schemeClr val="folHlink"/>
                </a:solidFill>
                <a:latin typeface="Times New Roman" pitchFamily="18" charset="0"/>
              </a:rPr>
              <a:t>：</a:t>
            </a:r>
            <a:r>
              <a:rPr kumimoji="1" lang="zh-CN" altLang="en-US" b="1">
                <a:latin typeface="Times New Roman" pitchFamily="18" charset="0"/>
              </a:rPr>
              <a:t>设</a:t>
            </a:r>
            <a:r>
              <a:rPr kumimoji="1" lang="en-US" altLang="zh-CN" b="1">
                <a:latin typeface="Times New Roman" pitchFamily="18" charset="0"/>
              </a:rPr>
              <a:t>G</a:t>
            </a:r>
            <a:r>
              <a:rPr kumimoji="1" lang="zh-CN" altLang="en-US" b="1">
                <a:latin typeface="Times New Roman" pitchFamily="18" charset="0"/>
              </a:rPr>
              <a:t>是具有</a:t>
            </a:r>
            <a:r>
              <a:rPr kumimoji="1" lang="en-US" altLang="zh-CN" b="1">
                <a:latin typeface="Times New Roman" pitchFamily="18" charset="0"/>
              </a:rPr>
              <a:t>n</a:t>
            </a:r>
            <a:r>
              <a:rPr kumimoji="1" lang="zh-CN" altLang="en-US" b="1">
                <a:latin typeface="Times New Roman" pitchFamily="18" charset="0"/>
              </a:rPr>
              <a:t>个结点的简单图，如果</a:t>
            </a:r>
            <a:r>
              <a:rPr kumimoji="1" lang="en-US" altLang="zh-CN" b="1">
                <a:latin typeface="Times New Roman" pitchFamily="18" charset="0"/>
              </a:rPr>
              <a:t>G</a:t>
            </a:r>
            <a:r>
              <a:rPr kumimoji="1" lang="zh-CN" altLang="en-US" b="1">
                <a:latin typeface="Times New Roman" pitchFamily="18" charset="0"/>
              </a:rPr>
              <a:t>中每一对结点度数之和大于等于</a:t>
            </a:r>
            <a:r>
              <a:rPr kumimoji="1" lang="en-US" altLang="zh-CN" b="1">
                <a:latin typeface="Times New Roman" pitchFamily="18" charset="0"/>
              </a:rPr>
              <a:t>n</a:t>
            </a:r>
            <a:r>
              <a:rPr kumimoji="1" lang="zh-CN" altLang="en-US" b="1">
                <a:latin typeface="Times New Roman" pitchFamily="18" charset="0"/>
              </a:rPr>
              <a:t>，则在</a:t>
            </a:r>
            <a:r>
              <a:rPr kumimoji="1" lang="en-US" altLang="zh-CN" b="1">
                <a:latin typeface="Times New Roman" pitchFamily="18" charset="0"/>
              </a:rPr>
              <a:t>G</a:t>
            </a:r>
            <a:r>
              <a:rPr kumimoji="1" lang="zh-CN" altLang="en-US" b="1">
                <a:latin typeface="Times New Roman" pitchFamily="18" charset="0"/>
              </a:rPr>
              <a:t>中存在一条</a:t>
            </a:r>
            <a:r>
              <a:rPr kumimoji="1" lang="zh-CN" altLang="en-US" b="1" i="1">
                <a:solidFill>
                  <a:srgbClr val="0000CC"/>
                </a:solidFill>
                <a:latin typeface="Times New Roman" pitchFamily="18" charset="0"/>
              </a:rPr>
              <a:t>汉密尔顿回路</a:t>
            </a:r>
            <a:r>
              <a:rPr kumimoji="1" lang="zh-CN" altLang="en-US" b="1">
                <a:latin typeface="Times New Roman" pitchFamily="18" charset="0"/>
              </a:rPr>
              <a:t>。 </a:t>
            </a:r>
          </a:p>
        </p:txBody>
      </p:sp>
      <p:sp>
        <p:nvSpPr>
          <p:cNvPr id="54278" name="Text Box 6"/>
          <p:cNvSpPr txBox="1">
            <a:spLocks noChangeArrowheads="1"/>
          </p:cNvSpPr>
          <p:nvPr/>
        </p:nvSpPr>
        <p:spPr bwMode="auto">
          <a:xfrm>
            <a:off x="466725" y="4556125"/>
            <a:ext cx="3598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20000"/>
              </a:spcBef>
              <a:buClr>
                <a:schemeClr val="bg1"/>
              </a:buClr>
            </a:pPr>
            <a:r>
              <a:rPr kumimoji="1" lang="zh-CN" altLang="en-US" b="1">
                <a:solidFill>
                  <a:schemeClr val="hlink"/>
                </a:solidFill>
                <a:latin typeface="Times New Roman" pitchFamily="18" charset="0"/>
              </a:rPr>
              <a:t>例：</a:t>
            </a:r>
            <a:r>
              <a:rPr kumimoji="1" lang="zh-CN" altLang="en-US" b="1">
                <a:solidFill>
                  <a:srgbClr val="008000"/>
                </a:solidFill>
                <a:latin typeface="Times New Roman" pitchFamily="18" charset="0"/>
              </a:rPr>
              <a:t> </a:t>
            </a:r>
          </a:p>
        </p:txBody>
      </p:sp>
      <p:grpSp>
        <p:nvGrpSpPr>
          <p:cNvPr id="54279" name="Group 7"/>
          <p:cNvGrpSpPr>
            <a:grpSpLocks/>
          </p:cNvGrpSpPr>
          <p:nvPr/>
        </p:nvGrpSpPr>
        <p:grpSpPr bwMode="auto">
          <a:xfrm>
            <a:off x="4211638" y="4222750"/>
            <a:ext cx="1728787" cy="2014538"/>
            <a:chOff x="1247" y="2478"/>
            <a:chExt cx="1089" cy="1269"/>
          </a:xfrm>
        </p:grpSpPr>
        <p:sp>
          <p:nvSpPr>
            <p:cNvPr id="73735" name="Oval 8"/>
            <p:cNvSpPr>
              <a:spLocks noChangeArrowheads="1"/>
            </p:cNvSpPr>
            <p:nvPr/>
          </p:nvSpPr>
          <p:spPr bwMode="auto">
            <a:xfrm>
              <a:off x="1746" y="2478"/>
              <a:ext cx="91" cy="9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6" name="Oval 9"/>
            <p:cNvSpPr>
              <a:spLocks noChangeArrowheads="1"/>
            </p:cNvSpPr>
            <p:nvPr/>
          </p:nvSpPr>
          <p:spPr bwMode="auto">
            <a:xfrm>
              <a:off x="1247" y="2750"/>
              <a:ext cx="91" cy="9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7" name="Oval 10"/>
            <p:cNvSpPr>
              <a:spLocks noChangeArrowheads="1"/>
            </p:cNvSpPr>
            <p:nvPr/>
          </p:nvSpPr>
          <p:spPr bwMode="auto">
            <a:xfrm>
              <a:off x="2200" y="2750"/>
              <a:ext cx="91" cy="9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8" name="Oval 11"/>
            <p:cNvSpPr>
              <a:spLocks noChangeArrowheads="1"/>
            </p:cNvSpPr>
            <p:nvPr/>
          </p:nvSpPr>
          <p:spPr bwMode="auto">
            <a:xfrm>
              <a:off x="1247" y="3294"/>
              <a:ext cx="91" cy="9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39" name="Oval 12"/>
            <p:cNvSpPr>
              <a:spLocks noChangeArrowheads="1"/>
            </p:cNvSpPr>
            <p:nvPr/>
          </p:nvSpPr>
          <p:spPr bwMode="auto">
            <a:xfrm>
              <a:off x="2245" y="3294"/>
              <a:ext cx="91" cy="9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0" name="Oval 13"/>
            <p:cNvSpPr>
              <a:spLocks noChangeArrowheads="1"/>
            </p:cNvSpPr>
            <p:nvPr/>
          </p:nvSpPr>
          <p:spPr bwMode="auto">
            <a:xfrm>
              <a:off x="1746" y="3657"/>
              <a:ext cx="91" cy="90"/>
            </a:xfrm>
            <a:prstGeom prst="ellipse">
              <a:avLst/>
            </a:prstGeom>
            <a:solidFill>
              <a:schemeClr val="accent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3741" name="Line 14"/>
            <p:cNvSpPr>
              <a:spLocks noChangeShapeType="1"/>
            </p:cNvSpPr>
            <p:nvPr/>
          </p:nvSpPr>
          <p:spPr bwMode="auto">
            <a:xfrm flipH="1">
              <a:off x="1338" y="2523"/>
              <a:ext cx="408" cy="272"/>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2" name="Line 15"/>
            <p:cNvSpPr>
              <a:spLocks noChangeShapeType="1"/>
            </p:cNvSpPr>
            <p:nvPr/>
          </p:nvSpPr>
          <p:spPr bwMode="auto">
            <a:xfrm flipV="1">
              <a:off x="1292" y="2840"/>
              <a:ext cx="0" cy="454"/>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3" name="Line 16"/>
            <p:cNvSpPr>
              <a:spLocks noChangeShapeType="1"/>
            </p:cNvSpPr>
            <p:nvPr/>
          </p:nvSpPr>
          <p:spPr bwMode="auto">
            <a:xfrm flipH="1" flipV="1">
              <a:off x="1837" y="2523"/>
              <a:ext cx="362" cy="226"/>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4" name="Line 17"/>
            <p:cNvSpPr>
              <a:spLocks noChangeShapeType="1"/>
            </p:cNvSpPr>
            <p:nvPr/>
          </p:nvSpPr>
          <p:spPr bwMode="auto">
            <a:xfrm>
              <a:off x="2245" y="2840"/>
              <a:ext cx="45" cy="454"/>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5" name="Line 18"/>
            <p:cNvSpPr>
              <a:spLocks noChangeShapeType="1"/>
            </p:cNvSpPr>
            <p:nvPr/>
          </p:nvSpPr>
          <p:spPr bwMode="auto">
            <a:xfrm flipH="1" flipV="1">
              <a:off x="1338" y="3385"/>
              <a:ext cx="408" cy="272"/>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3746" name="Line 19"/>
            <p:cNvSpPr>
              <a:spLocks noChangeShapeType="1"/>
            </p:cNvSpPr>
            <p:nvPr/>
          </p:nvSpPr>
          <p:spPr bwMode="auto">
            <a:xfrm flipV="1">
              <a:off x="1837" y="3385"/>
              <a:ext cx="408" cy="272"/>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Tree>
    <p:extLst>
      <p:ext uri="{BB962C8B-B14F-4D97-AF65-F5344CB8AC3E}">
        <p14:creationId xmlns:p14="http://schemas.microsoft.com/office/powerpoint/2010/main" val="3166769770"/>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74"/>
                                        </p:tgtEl>
                                        <p:attrNameLst>
                                          <p:attrName>style.visibility</p:attrName>
                                        </p:attrNameLst>
                                      </p:cBhvr>
                                      <p:to>
                                        <p:strVal val="visible"/>
                                      </p:to>
                                    </p:set>
                                    <p:anim calcmode="lin" valueType="num">
                                      <p:cBhvr additive="base">
                                        <p:cTn id="7" dur="500" fill="hold"/>
                                        <p:tgtEl>
                                          <p:spTgt spid="54274"/>
                                        </p:tgtEl>
                                        <p:attrNameLst>
                                          <p:attrName>ppt_x</p:attrName>
                                        </p:attrNameLst>
                                      </p:cBhvr>
                                      <p:tavLst>
                                        <p:tav tm="0">
                                          <p:val>
                                            <p:strVal val="#ppt_x"/>
                                          </p:val>
                                        </p:tav>
                                        <p:tav tm="100000">
                                          <p:val>
                                            <p:strVal val="#ppt_x"/>
                                          </p:val>
                                        </p:tav>
                                      </p:tavLst>
                                    </p:anim>
                                    <p:anim calcmode="lin" valueType="num">
                                      <p:cBhvr additive="base">
                                        <p:cTn id="8" dur="500" fill="hold"/>
                                        <p:tgtEl>
                                          <p:spTgt spid="5427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4278"/>
                                        </p:tgtEl>
                                        <p:attrNameLst>
                                          <p:attrName>style.visibility</p:attrName>
                                        </p:attrNameLst>
                                      </p:cBhvr>
                                      <p:to>
                                        <p:strVal val="visible"/>
                                      </p:to>
                                    </p:set>
                                    <p:anim calcmode="lin" valueType="num">
                                      <p:cBhvr additive="base">
                                        <p:cTn id="13" dur="500" fill="hold"/>
                                        <p:tgtEl>
                                          <p:spTgt spid="54278"/>
                                        </p:tgtEl>
                                        <p:attrNameLst>
                                          <p:attrName>ppt_x</p:attrName>
                                        </p:attrNameLst>
                                      </p:cBhvr>
                                      <p:tavLst>
                                        <p:tav tm="0">
                                          <p:val>
                                            <p:strVal val="#ppt_x"/>
                                          </p:val>
                                        </p:tav>
                                        <p:tav tm="100000">
                                          <p:val>
                                            <p:strVal val="#ppt_x"/>
                                          </p:val>
                                        </p:tav>
                                      </p:tavLst>
                                    </p:anim>
                                    <p:anim calcmode="lin" valueType="num">
                                      <p:cBhvr additive="base">
                                        <p:cTn id="14" dur="500" fill="hold"/>
                                        <p:tgtEl>
                                          <p:spTgt spid="54278"/>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54279"/>
                                        </p:tgtEl>
                                        <p:attrNameLst>
                                          <p:attrName>style.visibility</p:attrName>
                                        </p:attrNameLst>
                                      </p:cBhvr>
                                      <p:to>
                                        <p:strVal val="visible"/>
                                      </p:to>
                                    </p:set>
                                    <p:anim calcmode="lin" valueType="num">
                                      <p:cBhvr additive="base">
                                        <p:cTn id="17" dur="500" fill="hold"/>
                                        <p:tgtEl>
                                          <p:spTgt spid="54279"/>
                                        </p:tgtEl>
                                        <p:attrNameLst>
                                          <p:attrName>ppt_x</p:attrName>
                                        </p:attrNameLst>
                                      </p:cBhvr>
                                      <p:tavLst>
                                        <p:tav tm="0">
                                          <p:val>
                                            <p:strVal val="#ppt_x"/>
                                          </p:val>
                                        </p:tav>
                                        <p:tav tm="100000">
                                          <p:val>
                                            <p:strVal val="#ppt_x"/>
                                          </p:val>
                                        </p:tav>
                                      </p:tavLst>
                                    </p:anim>
                                    <p:anim calcmode="lin" valueType="num">
                                      <p:cBhvr additive="base">
                                        <p:cTn id="18" dur="500" fill="hold"/>
                                        <p:tgtEl>
                                          <p:spTgt spid="542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p:bldP spid="54278"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pPr>
              <a:defRPr/>
            </a:pPr>
            <a:fld id="{B21D2B53-5A7B-4790-AB27-F728970492CB}" type="slidenum">
              <a:rPr lang="en-US" altLang="zh-CN"/>
              <a:pPr>
                <a:defRPr/>
              </a:pPr>
              <a:t>73</a:t>
            </a:fld>
            <a:endParaRPr lang="en-US" altLang="zh-CN"/>
          </a:p>
        </p:txBody>
      </p:sp>
      <p:sp>
        <p:nvSpPr>
          <p:cNvPr id="74755" name="Text Box 2"/>
          <p:cNvSpPr txBox="1">
            <a:spLocks noChangeArrowheads="1"/>
          </p:cNvSpPr>
          <p:nvPr/>
        </p:nvSpPr>
        <p:spPr bwMode="auto">
          <a:xfrm>
            <a:off x="466725" y="1136650"/>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dirty="0">
                <a:solidFill>
                  <a:schemeClr val="hlink"/>
                </a:solidFill>
                <a:latin typeface="Times New Roman" pitchFamily="18" charset="0"/>
              </a:rPr>
              <a:t>例</a:t>
            </a:r>
            <a:r>
              <a:rPr kumimoji="1" lang="en-US" altLang="zh-CN" b="1" dirty="0">
                <a:solidFill>
                  <a:schemeClr val="hlink"/>
                </a:solidFill>
                <a:latin typeface="Times New Roman" pitchFamily="18" charset="0"/>
              </a:rPr>
              <a:t>2</a:t>
            </a:r>
            <a:r>
              <a:rPr kumimoji="1" lang="zh-CN" altLang="en-US" b="1" dirty="0">
                <a:solidFill>
                  <a:schemeClr val="hlink"/>
                </a:solidFill>
                <a:latin typeface="Times New Roman" pitchFamily="18" charset="0"/>
              </a:rPr>
              <a:t>：</a:t>
            </a:r>
            <a:r>
              <a:rPr kumimoji="1" lang="zh-CN" altLang="en-US" b="1" dirty="0">
                <a:latin typeface="Times New Roman" pitchFamily="18" charset="0"/>
              </a:rPr>
              <a:t>七天内安排七门课程的考试，使得同一位教师所任的两门课程不排在连续的两天中，证明，如果没有教师担任多于四门课程，则符合上述要求的考试安排总是可行的。</a:t>
            </a:r>
          </a:p>
        </p:txBody>
      </p:sp>
    </p:spTree>
    <p:extLst>
      <p:ext uri="{BB962C8B-B14F-4D97-AF65-F5344CB8AC3E}">
        <p14:creationId xmlns:p14="http://schemas.microsoft.com/office/powerpoint/2010/main" val="1149306429"/>
      </p:ext>
    </p:extLst>
  </p:cSld>
  <p:clrMapOvr>
    <a:masterClrMapping/>
  </p:clrMapOvr>
  <p:transition spd="slow">
    <p:random/>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灯片编号占位符 4"/>
          <p:cNvSpPr>
            <a:spLocks noGrp="1"/>
          </p:cNvSpPr>
          <p:nvPr>
            <p:ph type="sldNum" sz="quarter" idx="11"/>
          </p:nvPr>
        </p:nvSpPr>
        <p:spPr/>
        <p:txBody>
          <a:bodyPr/>
          <a:lstStyle/>
          <a:p>
            <a:pPr>
              <a:defRPr/>
            </a:pPr>
            <a:fld id="{FB12AA03-88AF-48E1-BEAF-E49AF1FD101E}" type="slidenum">
              <a:rPr lang="en-US" altLang="zh-CN"/>
              <a:pPr>
                <a:defRPr/>
              </a:pPr>
              <a:t>74</a:t>
            </a:fld>
            <a:endParaRPr lang="en-US" altLang="zh-CN"/>
          </a:p>
        </p:txBody>
      </p:sp>
      <p:grpSp>
        <p:nvGrpSpPr>
          <p:cNvPr id="57390" name="Group 46"/>
          <p:cNvGrpSpPr>
            <a:grpSpLocks/>
          </p:cNvGrpSpPr>
          <p:nvPr/>
        </p:nvGrpSpPr>
        <p:grpSpPr bwMode="auto">
          <a:xfrm>
            <a:off x="827088" y="3800475"/>
            <a:ext cx="1512887" cy="1512888"/>
            <a:chOff x="385" y="2387"/>
            <a:chExt cx="953" cy="953"/>
          </a:xfrm>
        </p:grpSpPr>
        <p:sp>
          <p:nvSpPr>
            <p:cNvPr id="75817" name="Rectangle 43"/>
            <p:cNvSpPr>
              <a:spLocks noChangeArrowheads="1"/>
            </p:cNvSpPr>
            <p:nvPr/>
          </p:nvSpPr>
          <p:spPr bwMode="auto">
            <a:xfrm>
              <a:off x="385" y="2387"/>
              <a:ext cx="953" cy="953"/>
            </a:xfrm>
            <a:prstGeom prst="rect">
              <a:avLst/>
            </a:prstGeom>
            <a:solidFill>
              <a:schemeClr val="accent1">
                <a:alpha val="0"/>
              </a:schemeClr>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18" name="Line 45"/>
            <p:cNvSpPr>
              <a:spLocks noChangeShapeType="1"/>
            </p:cNvSpPr>
            <p:nvPr/>
          </p:nvSpPr>
          <p:spPr bwMode="auto">
            <a:xfrm flipV="1">
              <a:off x="385" y="2387"/>
              <a:ext cx="953" cy="952"/>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7368" name="Text Box 24"/>
          <p:cNvSpPr txBox="1">
            <a:spLocks noChangeArrowheads="1"/>
          </p:cNvSpPr>
          <p:nvPr/>
        </p:nvSpPr>
        <p:spPr bwMode="auto">
          <a:xfrm>
            <a:off x="466725" y="2924175"/>
            <a:ext cx="8277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bg1"/>
              </a:buClr>
            </a:pPr>
            <a:r>
              <a:rPr kumimoji="1" lang="zh-CN" altLang="en-US" b="1" dirty="0">
                <a:solidFill>
                  <a:srgbClr val="008000"/>
                </a:solidFill>
                <a:latin typeface="Times New Roman" pitchFamily="18" charset="0"/>
              </a:rPr>
              <a:t>例：</a:t>
            </a:r>
            <a:r>
              <a:rPr kumimoji="1" lang="zh-CN" altLang="en-US" b="1" dirty="0">
                <a:latin typeface="Times New Roman" pitchFamily="18" charset="0"/>
              </a:rPr>
              <a:t>判断下图是否为平面图  </a:t>
            </a:r>
          </a:p>
        </p:txBody>
      </p:sp>
      <p:sp>
        <p:nvSpPr>
          <p:cNvPr id="75781" name="Text Box 2"/>
          <p:cNvSpPr txBox="1">
            <a:spLocks noChangeArrowheads="1"/>
          </p:cNvSpPr>
          <p:nvPr/>
        </p:nvSpPr>
        <p:spPr bwMode="auto">
          <a:xfrm>
            <a:off x="466725" y="908050"/>
            <a:ext cx="8277225" cy="214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sz="3200" b="1" dirty="0">
                <a:solidFill>
                  <a:srgbClr val="993300"/>
                </a:solidFill>
                <a:latin typeface="Times New Roman" pitchFamily="18" charset="0"/>
                <a:ea typeface="楷体_GB2312" pitchFamily="49" charset="-122"/>
              </a:rPr>
              <a:t>一、平面图定义及性质</a:t>
            </a:r>
          </a:p>
          <a:p>
            <a:pPr eaLnBrk="1" hangingPunct="1">
              <a:lnSpc>
                <a:spcPct val="130000"/>
              </a:lnSpc>
            </a:pPr>
            <a:r>
              <a:rPr kumimoji="1" lang="zh-CN" altLang="en-US" b="1" dirty="0">
                <a:solidFill>
                  <a:srgbClr val="0000CC"/>
                </a:solidFill>
                <a:latin typeface="Times New Roman" pitchFamily="18" charset="0"/>
              </a:rPr>
              <a:t>定义</a:t>
            </a:r>
            <a:r>
              <a:rPr kumimoji="1" lang="en-US" altLang="zh-CN" b="1" dirty="0">
                <a:solidFill>
                  <a:srgbClr val="0000CC"/>
                </a:solidFill>
                <a:latin typeface="Times New Roman" pitchFamily="18" charset="0"/>
              </a:rPr>
              <a:t>7-5.1</a:t>
            </a:r>
            <a:r>
              <a:rPr kumimoji="1" lang="zh-CN" altLang="en-US" b="1" dirty="0">
                <a:solidFill>
                  <a:srgbClr val="0000CC"/>
                </a:solidFill>
                <a:latin typeface="Times New Roman" pitchFamily="18" charset="0"/>
              </a:rPr>
              <a:t>：</a:t>
            </a:r>
            <a:r>
              <a:rPr kumimoji="1" lang="zh-CN" altLang="en-US" b="1" dirty="0">
                <a:latin typeface="Times New Roman" pitchFamily="18" charset="0"/>
              </a:rPr>
              <a:t>设</a:t>
            </a:r>
            <a:r>
              <a:rPr kumimoji="1" lang="en-US" altLang="zh-CN" b="1" dirty="0">
                <a:latin typeface="Times New Roman" pitchFamily="18" charset="0"/>
              </a:rPr>
              <a:t>G=&lt;V,E&gt;</a:t>
            </a:r>
            <a:r>
              <a:rPr kumimoji="1" lang="zh-CN" altLang="en-US" b="1" dirty="0">
                <a:latin typeface="Times New Roman" pitchFamily="18" charset="0"/>
              </a:rPr>
              <a:t>是一个无向图，如果能够把</a:t>
            </a:r>
            <a:r>
              <a:rPr kumimoji="1" lang="en-US" altLang="zh-CN" b="1" dirty="0">
                <a:latin typeface="Times New Roman" pitchFamily="18" charset="0"/>
              </a:rPr>
              <a:t>G</a:t>
            </a:r>
            <a:r>
              <a:rPr kumimoji="1" lang="zh-CN" altLang="en-US" b="1" dirty="0">
                <a:latin typeface="Times New Roman" pitchFamily="18" charset="0"/>
              </a:rPr>
              <a:t>的所有结点和边画在平面上，且使得任何两条边除了端点外没有其它的交点，称</a:t>
            </a:r>
            <a:r>
              <a:rPr kumimoji="1" lang="en-US" altLang="zh-CN" b="1" dirty="0">
                <a:latin typeface="Times New Roman" pitchFamily="18" charset="0"/>
              </a:rPr>
              <a:t>G</a:t>
            </a:r>
            <a:r>
              <a:rPr kumimoji="1" lang="zh-CN" altLang="en-US" b="1" dirty="0">
                <a:latin typeface="Times New Roman" pitchFamily="18" charset="0"/>
              </a:rPr>
              <a:t>是一个</a:t>
            </a:r>
            <a:r>
              <a:rPr kumimoji="1" lang="zh-CN" altLang="en-US" b="1" i="1" dirty="0">
                <a:solidFill>
                  <a:srgbClr val="0000CC"/>
                </a:solidFill>
                <a:latin typeface="Times New Roman" pitchFamily="18" charset="0"/>
              </a:rPr>
              <a:t>平面图</a:t>
            </a:r>
            <a:r>
              <a:rPr kumimoji="1" lang="zh-CN" altLang="en-US" b="1" dirty="0">
                <a:latin typeface="Times New Roman" pitchFamily="18" charset="0"/>
              </a:rPr>
              <a:t>。</a:t>
            </a:r>
          </a:p>
        </p:txBody>
      </p:sp>
      <p:grpSp>
        <p:nvGrpSpPr>
          <p:cNvPr id="57386" name="Group 42"/>
          <p:cNvGrpSpPr>
            <a:grpSpLocks/>
          </p:cNvGrpSpPr>
          <p:nvPr/>
        </p:nvGrpSpPr>
        <p:grpSpPr bwMode="auto">
          <a:xfrm>
            <a:off x="3276600" y="3429000"/>
            <a:ext cx="1944688" cy="1943100"/>
            <a:chOff x="1541" y="2160"/>
            <a:chExt cx="1225" cy="1224"/>
          </a:xfrm>
        </p:grpSpPr>
        <p:sp>
          <p:nvSpPr>
            <p:cNvPr id="75803" name="Oval 5"/>
            <p:cNvSpPr>
              <a:spLocks noChangeArrowheads="1"/>
            </p:cNvSpPr>
            <p:nvPr/>
          </p:nvSpPr>
          <p:spPr bwMode="auto">
            <a:xfrm>
              <a:off x="2040" y="2160"/>
              <a:ext cx="136" cy="90"/>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04" name="Oval 6"/>
            <p:cNvSpPr>
              <a:spLocks noChangeArrowheads="1"/>
            </p:cNvSpPr>
            <p:nvPr/>
          </p:nvSpPr>
          <p:spPr bwMode="auto">
            <a:xfrm>
              <a:off x="1541" y="2568"/>
              <a:ext cx="136" cy="90"/>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05" name="Oval 7"/>
            <p:cNvSpPr>
              <a:spLocks noChangeArrowheads="1"/>
            </p:cNvSpPr>
            <p:nvPr/>
          </p:nvSpPr>
          <p:spPr bwMode="auto">
            <a:xfrm>
              <a:off x="2630" y="2522"/>
              <a:ext cx="136" cy="90"/>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06" name="Oval 8"/>
            <p:cNvSpPr>
              <a:spLocks noChangeArrowheads="1"/>
            </p:cNvSpPr>
            <p:nvPr/>
          </p:nvSpPr>
          <p:spPr bwMode="auto">
            <a:xfrm>
              <a:off x="1541" y="3294"/>
              <a:ext cx="136" cy="90"/>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07" name="Oval 9"/>
            <p:cNvSpPr>
              <a:spLocks noChangeArrowheads="1"/>
            </p:cNvSpPr>
            <p:nvPr/>
          </p:nvSpPr>
          <p:spPr bwMode="auto">
            <a:xfrm>
              <a:off x="2630" y="3248"/>
              <a:ext cx="136" cy="90"/>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808" name="Line 10"/>
            <p:cNvSpPr>
              <a:spLocks noChangeShapeType="1"/>
            </p:cNvSpPr>
            <p:nvPr/>
          </p:nvSpPr>
          <p:spPr bwMode="auto">
            <a:xfrm flipH="1">
              <a:off x="1677" y="2250"/>
              <a:ext cx="363" cy="31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9" name="Line 11"/>
            <p:cNvSpPr>
              <a:spLocks noChangeShapeType="1"/>
            </p:cNvSpPr>
            <p:nvPr/>
          </p:nvSpPr>
          <p:spPr bwMode="auto">
            <a:xfrm flipH="1">
              <a:off x="1587" y="2658"/>
              <a:ext cx="0" cy="63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0" name="Line 12"/>
            <p:cNvSpPr>
              <a:spLocks noChangeShapeType="1"/>
            </p:cNvSpPr>
            <p:nvPr/>
          </p:nvSpPr>
          <p:spPr bwMode="auto">
            <a:xfrm flipH="1" flipV="1">
              <a:off x="2176" y="2205"/>
              <a:ext cx="499" cy="31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1" name="Line 13"/>
            <p:cNvSpPr>
              <a:spLocks noChangeShapeType="1"/>
            </p:cNvSpPr>
            <p:nvPr/>
          </p:nvSpPr>
          <p:spPr bwMode="auto">
            <a:xfrm flipH="1" flipV="1">
              <a:off x="2721" y="2613"/>
              <a:ext cx="0" cy="63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2" name="Line 14"/>
            <p:cNvSpPr>
              <a:spLocks noChangeShapeType="1"/>
            </p:cNvSpPr>
            <p:nvPr/>
          </p:nvSpPr>
          <p:spPr bwMode="auto">
            <a:xfrm flipH="1">
              <a:off x="1632" y="3294"/>
              <a:ext cx="998" cy="4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3" name="Line 15"/>
            <p:cNvSpPr>
              <a:spLocks noChangeShapeType="1"/>
            </p:cNvSpPr>
            <p:nvPr/>
          </p:nvSpPr>
          <p:spPr bwMode="auto">
            <a:xfrm flipH="1">
              <a:off x="1632" y="2568"/>
              <a:ext cx="998" cy="4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4" name="Line 16"/>
            <p:cNvSpPr>
              <a:spLocks noChangeShapeType="1"/>
            </p:cNvSpPr>
            <p:nvPr/>
          </p:nvSpPr>
          <p:spPr bwMode="auto">
            <a:xfrm flipH="1">
              <a:off x="1677" y="2613"/>
              <a:ext cx="953" cy="68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5" name="Line 17"/>
            <p:cNvSpPr>
              <a:spLocks noChangeShapeType="1"/>
            </p:cNvSpPr>
            <p:nvPr/>
          </p:nvSpPr>
          <p:spPr bwMode="auto">
            <a:xfrm flipH="1">
              <a:off x="1632" y="2250"/>
              <a:ext cx="454" cy="104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16" name="Line 18"/>
            <p:cNvSpPr>
              <a:spLocks noChangeShapeType="1"/>
            </p:cNvSpPr>
            <p:nvPr/>
          </p:nvSpPr>
          <p:spPr bwMode="auto">
            <a:xfrm>
              <a:off x="2131" y="2250"/>
              <a:ext cx="499" cy="99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7369" name="Group 25"/>
          <p:cNvGrpSpPr>
            <a:grpSpLocks/>
          </p:cNvGrpSpPr>
          <p:nvPr/>
        </p:nvGrpSpPr>
        <p:grpSpPr bwMode="auto">
          <a:xfrm>
            <a:off x="5795963" y="3646488"/>
            <a:ext cx="2663825" cy="1727200"/>
            <a:chOff x="2744" y="1616"/>
            <a:chExt cx="1678" cy="1088"/>
          </a:xfrm>
        </p:grpSpPr>
        <p:sp>
          <p:nvSpPr>
            <p:cNvPr id="75788" name="Oval 26"/>
            <p:cNvSpPr>
              <a:spLocks noChangeArrowheads="1"/>
            </p:cNvSpPr>
            <p:nvPr/>
          </p:nvSpPr>
          <p:spPr bwMode="auto">
            <a:xfrm>
              <a:off x="2744" y="1616"/>
              <a:ext cx="136" cy="136"/>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89" name="Oval 27"/>
            <p:cNvSpPr>
              <a:spLocks noChangeArrowheads="1"/>
            </p:cNvSpPr>
            <p:nvPr/>
          </p:nvSpPr>
          <p:spPr bwMode="auto">
            <a:xfrm>
              <a:off x="3560" y="1616"/>
              <a:ext cx="136" cy="136"/>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0" name="Oval 28"/>
            <p:cNvSpPr>
              <a:spLocks noChangeArrowheads="1"/>
            </p:cNvSpPr>
            <p:nvPr/>
          </p:nvSpPr>
          <p:spPr bwMode="auto">
            <a:xfrm>
              <a:off x="4286" y="1616"/>
              <a:ext cx="136" cy="136"/>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1" name="Oval 29"/>
            <p:cNvSpPr>
              <a:spLocks noChangeArrowheads="1"/>
            </p:cNvSpPr>
            <p:nvPr/>
          </p:nvSpPr>
          <p:spPr bwMode="auto">
            <a:xfrm>
              <a:off x="2744" y="2568"/>
              <a:ext cx="136" cy="136"/>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2" name="Oval 30"/>
            <p:cNvSpPr>
              <a:spLocks noChangeArrowheads="1"/>
            </p:cNvSpPr>
            <p:nvPr/>
          </p:nvSpPr>
          <p:spPr bwMode="auto">
            <a:xfrm>
              <a:off x="3560" y="2568"/>
              <a:ext cx="136" cy="136"/>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3" name="Oval 31"/>
            <p:cNvSpPr>
              <a:spLocks noChangeArrowheads="1"/>
            </p:cNvSpPr>
            <p:nvPr/>
          </p:nvSpPr>
          <p:spPr bwMode="auto">
            <a:xfrm>
              <a:off x="4286" y="2568"/>
              <a:ext cx="136" cy="136"/>
            </a:xfrm>
            <a:prstGeom prst="ellipse">
              <a:avLst/>
            </a:prstGeom>
            <a:solidFill>
              <a:schemeClr val="tx1"/>
            </a:solidFill>
            <a:ln w="9525" algn="ctr">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75794" name="Line 32"/>
            <p:cNvSpPr>
              <a:spLocks noChangeShapeType="1"/>
            </p:cNvSpPr>
            <p:nvPr/>
          </p:nvSpPr>
          <p:spPr bwMode="auto">
            <a:xfrm>
              <a:off x="2789" y="1752"/>
              <a:ext cx="0" cy="8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5" name="Line 33"/>
            <p:cNvSpPr>
              <a:spLocks noChangeShapeType="1"/>
            </p:cNvSpPr>
            <p:nvPr/>
          </p:nvSpPr>
          <p:spPr bwMode="auto">
            <a:xfrm>
              <a:off x="3651" y="1752"/>
              <a:ext cx="0" cy="8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6" name="Line 34"/>
            <p:cNvSpPr>
              <a:spLocks noChangeShapeType="1"/>
            </p:cNvSpPr>
            <p:nvPr/>
          </p:nvSpPr>
          <p:spPr bwMode="auto">
            <a:xfrm>
              <a:off x="4332" y="1752"/>
              <a:ext cx="0" cy="8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7" name="Line 35"/>
            <p:cNvSpPr>
              <a:spLocks noChangeShapeType="1"/>
            </p:cNvSpPr>
            <p:nvPr/>
          </p:nvSpPr>
          <p:spPr bwMode="auto">
            <a:xfrm>
              <a:off x="2835" y="1752"/>
              <a:ext cx="771" cy="81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8" name="Line 36"/>
            <p:cNvSpPr>
              <a:spLocks noChangeShapeType="1"/>
            </p:cNvSpPr>
            <p:nvPr/>
          </p:nvSpPr>
          <p:spPr bwMode="auto">
            <a:xfrm>
              <a:off x="2880" y="1706"/>
              <a:ext cx="1406" cy="8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99" name="Line 37"/>
            <p:cNvSpPr>
              <a:spLocks noChangeShapeType="1"/>
            </p:cNvSpPr>
            <p:nvPr/>
          </p:nvSpPr>
          <p:spPr bwMode="auto">
            <a:xfrm flipH="1">
              <a:off x="2835" y="1752"/>
              <a:ext cx="725" cy="8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0" name="Line 38"/>
            <p:cNvSpPr>
              <a:spLocks noChangeShapeType="1"/>
            </p:cNvSpPr>
            <p:nvPr/>
          </p:nvSpPr>
          <p:spPr bwMode="auto">
            <a:xfrm flipH="1" flipV="1">
              <a:off x="3696" y="1706"/>
              <a:ext cx="590" cy="8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1" name="Line 39"/>
            <p:cNvSpPr>
              <a:spLocks noChangeShapeType="1"/>
            </p:cNvSpPr>
            <p:nvPr/>
          </p:nvSpPr>
          <p:spPr bwMode="auto">
            <a:xfrm flipV="1">
              <a:off x="3696" y="1706"/>
              <a:ext cx="590" cy="8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802" name="Line 40"/>
            <p:cNvSpPr>
              <a:spLocks noChangeShapeType="1"/>
            </p:cNvSpPr>
            <p:nvPr/>
          </p:nvSpPr>
          <p:spPr bwMode="auto">
            <a:xfrm flipV="1">
              <a:off x="2880" y="1661"/>
              <a:ext cx="1406" cy="99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7385" name="Text Box 41"/>
          <p:cNvSpPr txBox="1">
            <a:spLocks noChangeArrowheads="1"/>
          </p:cNvSpPr>
          <p:nvPr/>
        </p:nvSpPr>
        <p:spPr bwMode="auto">
          <a:xfrm>
            <a:off x="468313" y="5373688"/>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dirty="0">
                <a:latin typeface="Times New Roman" pitchFamily="18" charset="0"/>
              </a:rPr>
              <a:t>表面上相交的图形，如果能够改画成任何两条边除了端点外没有其它的交点的情况，则其所表示的图就是平面图。</a:t>
            </a:r>
          </a:p>
        </p:txBody>
      </p:sp>
      <p:sp>
        <p:nvSpPr>
          <p:cNvPr id="57388" name="Line 44"/>
          <p:cNvSpPr>
            <a:spLocks noChangeShapeType="1"/>
          </p:cNvSpPr>
          <p:nvPr/>
        </p:nvSpPr>
        <p:spPr bwMode="auto">
          <a:xfrm>
            <a:off x="827088" y="3800475"/>
            <a:ext cx="1512887" cy="1511300"/>
          </a:xfrm>
          <a:prstGeom prst="line">
            <a:avLst/>
          </a:prstGeom>
          <a:noFill/>
          <a:ln w="25400">
            <a:solidFill>
              <a:schemeClr val="tx1"/>
            </a:solidFill>
            <a:round/>
            <a:headEnd type="oval" w="lg" len="lg"/>
            <a:tailEnd type="oval"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92" name="Freeform 48"/>
          <p:cNvSpPr>
            <a:spLocks/>
          </p:cNvSpPr>
          <p:nvPr/>
        </p:nvSpPr>
        <p:spPr bwMode="auto">
          <a:xfrm>
            <a:off x="827088" y="3500438"/>
            <a:ext cx="1836737" cy="1812925"/>
          </a:xfrm>
          <a:custGeom>
            <a:avLst/>
            <a:gdLst>
              <a:gd name="T0" fmla="*/ 0 w 1157"/>
              <a:gd name="T1" fmla="*/ 301625 h 1142"/>
              <a:gd name="T2" fmla="*/ 431800 w 1157"/>
              <a:gd name="T3" fmla="*/ 84138 h 1142"/>
              <a:gd name="T4" fmla="*/ 1368425 w 1157"/>
              <a:gd name="T5" fmla="*/ 12700 h 1142"/>
              <a:gd name="T6" fmla="*/ 1728787 w 1157"/>
              <a:gd name="T7" fmla="*/ 157163 h 1142"/>
              <a:gd name="T8" fmla="*/ 1800225 w 1157"/>
              <a:gd name="T9" fmla="*/ 949325 h 1142"/>
              <a:gd name="T10" fmla="*/ 1512887 w 1157"/>
              <a:gd name="T11" fmla="*/ 1812925 h 114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157" h="1142">
                <a:moveTo>
                  <a:pt x="0" y="190"/>
                </a:moveTo>
                <a:cubicBezTo>
                  <a:pt x="64" y="136"/>
                  <a:pt x="128" y="83"/>
                  <a:pt x="272" y="53"/>
                </a:cubicBezTo>
                <a:cubicBezTo>
                  <a:pt x="416" y="23"/>
                  <a:pt x="726" y="0"/>
                  <a:pt x="862" y="8"/>
                </a:cubicBezTo>
                <a:cubicBezTo>
                  <a:pt x="998" y="16"/>
                  <a:pt x="1044" y="1"/>
                  <a:pt x="1089" y="99"/>
                </a:cubicBezTo>
                <a:cubicBezTo>
                  <a:pt x="1134" y="197"/>
                  <a:pt x="1157" y="424"/>
                  <a:pt x="1134" y="598"/>
                </a:cubicBezTo>
                <a:cubicBezTo>
                  <a:pt x="1111" y="772"/>
                  <a:pt x="983" y="1074"/>
                  <a:pt x="953" y="1142"/>
                </a:cubicBezTo>
              </a:path>
            </a:pathLst>
          </a:custGeom>
          <a:noFill/>
          <a:ln w="25400">
            <a:solidFill>
              <a:schemeClr val="hlink"/>
            </a:solidFill>
            <a:round/>
            <a:headEnd type="oval" w="lg" len="lg"/>
            <a:tailEnd type="oval" w="lg" len="lg"/>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5787" name="Rectangle 49"/>
          <p:cNvSpPr>
            <a:spLocks noGrp="1" noChangeArrowheads="1"/>
          </p:cNvSpPr>
          <p:nvPr>
            <p:ph type="title"/>
          </p:nvPr>
        </p:nvSpPr>
        <p:spPr>
          <a:xfrm>
            <a:off x="971550" y="333375"/>
            <a:ext cx="7237413" cy="701675"/>
          </a:xfrm>
        </p:spPr>
        <p:txBody>
          <a:bodyPr/>
          <a:lstStyle/>
          <a:p>
            <a:pPr eaLnBrk="1" hangingPunct="1"/>
            <a:r>
              <a:rPr kumimoji="1" lang="en-US" altLang="zh-CN" dirty="0" smtClean="0">
                <a:solidFill>
                  <a:schemeClr val="tx1"/>
                </a:solidFill>
                <a:latin typeface="Times New Roman" pitchFamily="18" charset="0"/>
                <a:ea typeface="宋体" pitchFamily="2" charset="-122"/>
              </a:rPr>
              <a:t>7-5  </a:t>
            </a:r>
            <a:r>
              <a:rPr kumimoji="1" lang="zh-CN" altLang="en-US" dirty="0" smtClean="0">
                <a:solidFill>
                  <a:schemeClr val="tx1"/>
                </a:solidFill>
                <a:latin typeface="Times New Roman" pitchFamily="18" charset="0"/>
              </a:rPr>
              <a:t>平面图</a:t>
            </a:r>
          </a:p>
        </p:txBody>
      </p:sp>
    </p:spTree>
    <p:extLst>
      <p:ext uri="{BB962C8B-B14F-4D97-AF65-F5344CB8AC3E}">
        <p14:creationId xmlns:p14="http://schemas.microsoft.com/office/powerpoint/2010/main" val="1794539586"/>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7368"/>
                                        </p:tgtEl>
                                        <p:attrNameLst>
                                          <p:attrName>style.visibility</p:attrName>
                                        </p:attrNameLst>
                                      </p:cBhvr>
                                      <p:to>
                                        <p:strVal val="visible"/>
                                      </p:to>
                                    </p:set>
                                    <p:anim calcmode="lin" valueType="num">
                                      <p:cBhvr additive="base">
                                        <p:cTn id="7" dur="500" fill="hold"/>
                                        <p:tgtEl>
                                          <p:spTgt spid="57368"/>
                                        </p:tgtEl>
                                        <p:attrNameLst>
                                          <p:attrName>ppt_x</p:attrName>
                                        </p:attrNameLst>
                                      </p:cBhvr>
                                      <p:tavLst>
                                        <p:tav tm="0">
                                          <p:val>
                                            <p:strVal val="0-#ppt_w/2"/>
                                          </p:val>
                                        </p:tav>
                                        <p:tav tm="100000">
                                          <p:val>
                                            <p:strVal val="#ppt_x"/>
                                          </p:val>
                                        </p:tav>
                                      </p:tavLst>
                                    </p:anim>
                                    <p:anim calcmode="lin" valueType="num">
                                      <p:cBhvr additive="base">
                                        <p:cTn id="8" dur="500" fill="hold"/>
                                        <p:tgtEl>
                                          <p:spTgt spid="57368"/>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57390"/>
                                        </p:tgtEl>
                                        <p:attrNameLst>
                                          <p:attrName>style.visibility</p:attrName>
                                        </p:attrNameLst>
                                      </p:cBhvr>
                                      <p:to>
                                        <p:strVal val="visible"/>
                                      </p:to>
                                    </p:set>
                                    <p:anim calcmode="lin" valueType="num">
                                      <p:cBhvr additive="base">
                                        <p:cTn id="11" dur="500" fill="hold"/>
                                        <p:tgtEl>
                                          <p:spTgt spid="57390"/>
                                        </p:tgtEl>
                                        <p:attrNameLst>
                                          <p:attrName>ppt_x</p:attrName>
                                        </p:attrNameLst>
                                      </p:cBhvr>
                                      <p:tavLst>
                                        <p:tav tm="0">
                                          <p:val>
                                            <p:strVal val="0-#ppt_w/2"/>
                                          </p:val>
                                        </p:tav>
                                        <p:tav tm="100000">
                                          <p:val>
                                            <p:strVal val="#ppt_x"/>
                                          </p:val>
                                        </p:tav>
                                      </p:tavLst>
                                    </p:anim>
                                    <p:anim calcmode="lin" valueType="num">
                                      <p:cBhvr additive="base">
                                        <p:cTn id="12" dur="500" fill="hold"/>
                                        <p:tgtEl>
                                          <p:spTgt spid="57390"/>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57388"/>
                                        </p:tgtEl>
                                        <p:attrNameLst>
                                          <p:attrName>style.visibility</p:attrName>
                                        </p:attrNameLst>
                                      </p:cBhvr>
                                      <p:to>
                                        <p:strVal val="visible"/>
                                      </p:to>
                                    </p:set>
                                    <p:anim calcmode="lin" valueType="num">
                                      <p:cBhvr additive="base">
                                        <p:cTn id="15" dur="500" fill="hold"/>
                                        <p:tgtEl>
                                          <p:spTgt spid="57388"/>
                                        </p:tgtEl>
                                        <p:attrNameLst>
                                          <p:attrName>ppt_x</p:attrName>
                                        </p:attrNameLst>
                                      </p:cBhvr>
                                      <p:tavLst>
                                        <p:tav tm="0">
                                          <p:val>
                                            <p:strVal val="0-#ppt_w/2"/>
                                          </p:val>
                                        </p:tav>
                                        <p:tav tm="100000">
                                          <p:val>
                                            <p:strVal val="#ppt_x"/>
                                          </p:val>
                                        </p:tav>
                                      </p:tavLst>
                                    </p:anim>
                                    <p:anim calcmode="lin" valueType="num">
                                      <p:cBhvr additive="base">
                                        <p:cTn id="16" dur="500" fill="hold"/>
                                        <p:tgtEl>
                                          <p:spTgt spid="57388"/>
                                        </p:tgtEl>
                                        <p:attrNameLst>
                                          <p:attrName>ppt_y</p:attrName>
                                        </p:attrNameLst>
                                      </p:cBhvr>
                                      <p:tavLst>
                                        <p:tav tm="0">
                                          <p:val>
                                            <p:strVal val="#ppt_y"/>
                                          </p:val>
                                        </p:tav>
                                        <p:tav tm="100000">
                                          <p:val>
                                            <p:strVal val="#ppt_y"/>
                                          </p:val>
                                        </p:tav>
                                      </p:tavLst>
                                    </p:anim>
                                  </p:childTnLst>
                                </p:cTn>
                              </p:par>
                              <p:par>
                                <p:cTn id="17" presetID="2" presetClass="entr" presetSubtype="8" fill="hold" nodeType="withEffect">
                                  <p:stCondLst>
                                    <p:cond delay="0"/>
                                  </p:stCondLst>
                                  <p:childTnLst>
                                    <p:set>
                                      <p:cBhvr>
                                        <p:cTn id="18" dur="1" fill="hold">
                                          <p:stCondLst>
                                            <p:cond delay="0"/>
                                          </p:stCondLst>
                                        </p:cTn>
                                        <p:tgtEl>
                                          <p:spTgt spid="57386"/>
                                        </p:tgtEl>
                                        <p:attrNameLst>
                                          <p:attrName>style.visibility</p:attrName>
                                        </p:attrNameLst>
                                      </p:cBhvr>
                                      <p:to>
                                        <p:strVal val="visible"/>
                                      </p:to>
                                    </p:set>
                                    <p:anim calcmode="lin" valueType="num">
                                      <p:cBhvr additive="base">
                                        <p:cTn id="19" dur="500" fill="hold"/>
                                        <p:tgtEl>
                                          <p:spTgt spid="57386"/>
                                        </p:tgtEl>
                                        <p:attrNameLst>
                                          <p:attrName>ppt_x</p:attrName>
                                        </p:attrNameLst>
                                      </p:cBhvr>
                                      <p:tavLst>
                                        <p:tav tm="0">
                                          <p:val>
                                            <p:strVal val="0-#ppt_w/2"/>
                                          </p:val>
                                        </p:tav>
                                        <p:tav tm="100000">
                                          <p:val>
                                            <p:strVal val="#ppt_x"/>
                                          </p:val>
                                        </p:tav>
                                      </p:tavLst>
                                    </p:anim>
                                    <p:anim calcmode="lin" valueType="num">
                                      <p:cBhvr additive="base">
                                        <p:cTn id="20" dur="500" fill="hold"/>
                                        <p:tgtEl>
                                          <p:spTgt spid="57386"/>
                                        </p:tgtEl>
                                        <p:attrNameLst>
                                          <p:attrName>ppt_y</p:attrName>
                                        </p:attrNameLst>
                                      </p:cBhvr>
                                      <p:tavLst>
                                        <p:tav tm="0">
                                          <p:val>
                                            <p:strVal val="#ppt_y"/>
                                          </p:val>
                                        </p:tav>
                                        <p:tav tm="100000">
                                          <p:val>
                                            <p:strVal val="#ppt_y"/>
                                          </p:val>
                                        </p:tav>
                                      </p:tavLst>
                                    </p:anim>
                                  </p:childTnLst>
                                </p:cTn>
                              </p:par>
                              <p:par>
                                <p:cTn id="21" presetID="2" presetClass="entr" presetSubtype="8" fill="hold" nodeType="withEffect">
                                  <p:stCondLst>
                                    <p:cond delay="0"/>
                                  </p:stCondLst>
                                  <p:childTnLst>
                                    <p:set>
                                      <p:cBhvr>
                                        <p:cTn id="22" dur="1" fill="hold">
                                          <p:stCondLst>
                                            <p:cond delay="0"/>
                                          </p:stCondLst>
                                        </p:cTn>
                                        <p:tgtEl>
                                          <p:spTgt spid="57369"/>
                                        </p:tgtEl>
                                        <p:attrNameLst>
                                          <p:attrName>style.visibility</p:attrName>
                                        </p:attrNameLst>
                                      </p:cBhvr>
                                      <p:to>
                                        <p:strVal val="visible"/>
                                      </p:to>
                                    </p:set>
                                    <p:anim calcmode="lin" valueType="num">
                                      <p:cBhvr additive="base">
                                        <p:cTn id="23" dur="500" fill="hold"/>
                                        <p:tgtEl>
                                          <p:spTgt spid="57369"/>
                                        </p:tgtEl>
                                        <p:attrNameLst>
                                          <p:attrName>ppt_x</p:attrName>
                                        </p:attrNameLst>
                                      </p:cBhvr>
                                      <p:tavLst>
                                        <p:tav tm="0">
                                          <p:val>
                                            <p:strVal val="0-#ppt_w/2"/>
                                          </p:val>
                                        </p:tav>
                                        <p:tav tm="100000">
                                          <p:val>
                                            <p:strVal val="#ppt_x"/>
                                          </p:val>
                                        </p:tav>
                                      </p:tavLst>
                                    </p:anim>
                                    <p:anim calcmode="lin" valueType="num">
                                      <p:cBhvr additive="base">
                                        <p:cTn id="24" dur="500" fill="hold"/>
                                        <p:tgtEl>
                                          <p:spTgt spid="57369"/>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xit" presetSubtype="4" fill="hold" grpId="1" nodeType="clickEffect">
                                  <p:stCondLst>
                                    <p:cond delay="0"/>
                                  </p:stCondLst>
                                  <p:childTnLst>
                                    <p:anim calcmode="lin" valueType="num">
                                      <p:cBhvr additive="base">
                                        <p:cTn id="28" dur="500"/>
                                        <p:tgtEl>
                                          <p:spTgt spid="57388"/>
                                        </p:tgtEl>
                                        <p:attrNameLst>
                                          <p:attrName>ppt_x</p:attrName>
                                        </p:attrNameLst>
                                      </p:cBhvr>
                                      <p:tavLst>
                                        <p:tav tm="0">
                                          <p:val>
                                            <p:strVal val="ppt_x"/>
                                          </p:val>
                                        </p:tav>
                                        <p:tav tm="100000">
                                          <p:val>
                                            <p:strVal val="ppt_x"/>
                                          </p:val>
                                        </p:tav>
                                      </p:tavLst>
                                    </p:anim>
                                    <p:anim calcmode="lin" valueType="num">
                                      <p:cBhvr additive="base">
                                        <p:cTn id="29" dur="500"/>
                                        <p:tgtEl>
                                          <p:spTgt spid="57388"/>
                                        </p:tgtEl>
                                        <p:attrNameLst>
                                          <p:attrName>ppt_y</p:attrName>
                                        </p:attrNameLst>
                                      </p:cBhvr>
                                      <p:tavLst>
                                        <p:tav tm="0">
                                          <p:val>
                                            <p:strVal val="ppt_y"/>
                                          </p:val>
                                        </p:tav>
                                        <p:tav tm="100000">
                                          <p:val>
                                            <p:strVal val="1+ppt_h/2"/>
                                          </p:val>
                                        </p:tav>
                                      </p:tavLst>
                                    </p:anim>
                                    <p:set>
                                      <p:cBhvr>
                                        <p:cTn id="30" dur="1" fill="hold">
                                          <p:stCondLst>
                                            <p:cond delay="499"/>
                                          </p:stCondLst>
                                        </p:cTn>
                                        <p:tgtEl>
                                          <p:spTgt spid="57388"/>
                                        </p:tgtEl>
                                        <p:attrNameLst>
                                          <p:attrName>style.visibility</p:attrName>
                                        </p:attrNameLst>
                                      </p:cBhvr>
                                      <p:to>
                                        <p:strVal val="hidden"/>
                                      </p:to>
                                    </p:set>
                                  </p:childTnLst>
                                </p:cTn>
                              </p:par>
                              <p:par>
                                <p:cTn id="31" presetID="2" presetClass="entr" presetSubtype="4" fill="hold" grpId="0" nodeType="withEffect">
                                  <p:stCondLst>
                                    <p:cond delay="0"/>
                                  </p:stCondLst>
                                  <p:childTnLst>
                                    <p:set>
                                      <p:cBhvr>
                                        <p:cTn id="32" dur="1" fill="hold">
                                          <p:stCondLst>
                                            <p:cond delay="0"/>
                                          </p:stCondLst>
                                        </p:cTn>
                                        <p:tgtEl>
                                          <p:spTgt spid="57392"/>
                                        </p:tgtEl>
                                        <p:attrNameLst>
                                          <p:attrName>style.visibility</p:attrName>
                                        </p:attrNameLst>
                                      </p:cBhvr>
                                      <p:to>
                                        <p:strVal val="visible"/>
                                      </p:to>
                                    </p:set>
                                    <p:anim calcmode="lin" valueType="num">
                                      <p:cBhvr additive="base">
                                        <p:cTn id="33" dur="500" fill="hold"/>
                                        <p:tgtEl>
                                          <p:spTgt spid="57392"/>
                                        </p:tgtEl>
                                        <p:attrNameLst>
                                          <p:attrName>ppt_x</p:attrName>
                                        </p:attrNameLst>
                                      </p:cBhvr>
                                      <p:tavLst>
                                        <p:tav tm="0">
                                          <p:val>
                                            <p:strVal val="#ppt_x"/>
                                          </p:val>
                                        </p:tav>
                                        <p:tav tm="100000">
                                          <p:val>
                                            <p:strVal val="#ppt_x"/>
                                          </p:val>
                                        </p:tav>
                                      </p:tavLst>
                                    </p:anim>
                                    <p:anim calcmode="lin" valueType="num">
                                      <p:cBhvr additive="base">
                                        <p:cTn id="34" dur="500" fill="hold"/>
                                        <p:tgtEl>
                                          <p:spTgt spid="57392"/>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57385"/>
                                        </p:tgtEl>
                                        <p:attrNameLst>
                                          <p:attrName>style.visibility</p:attrName>
                                        </p:attrNameLst>
                                      </p:cBhvr>
                                      <p:to>
                                        <p:strVal val="visible"/>
                                      </p:to>
                                    </p:set>
                                    <p:animEffect transition="in" filter="box(in)">
                                      <p:cBhvr>
                                        <p:cTn id="39" dur="500"/>
                                        <p:tgtEl>
                                          <p:spTgt spid="57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68" grpId="0"/>
      <p:bldP spid="57385" grpId="0"/>
      <p:bldP spid="57388" grpId="0" animBg="1"/>
      <p:bldP spid="57388" grpId="1" animBg="1"/>
      <p:bldP spid="57392"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2"/>
          <p:cNvSpPr>
            <a:spLocks noGrp="1"/>
          </p:cNvSpPr>
          <p:nvPr>
            <p:ph type="sldNum" sz="quarter" idx="11"/>
          </p:nvPr>
        </p:nvSpPr>
        <p:spPr/>
        <p:txBody>
          <a:bodyPr/>
          <a:lstStyle/>
          <a:p>
            <a:pPr>
              <a:defRPr/>
            </a:pPr>
            <a:fld id="{F8C27291-DDA4-497E-A4C4-35CB3C9C46C6}" type="slidenum">
              <a:rPr lang="en-US" altLang="zh-CN"/>
              <a:pPr>
                <a:defRPr/>
              </a:pPr>
              <a:t>75</a:t>
            </a:fld>
            <a:endParaRPr lang="en-US" altLang="zh-CN"/>
          </a:p>
        </p:txBody>
      </p:sp>
      <p:sp>
        <p:nvSpPr>
          <p:cNvPr id="76803" name="Text Box 4"/>
          <p:cNvSpPr txBox="1">
            <a:spLocks noChangeArrowheads="1"/>
          </p:cNvSpPr>
          <p:nvPr/>
        </p:nvSpPr>
        <p:spPr bwMode="auto">
          <a:xfrm>
            <a:off x="466725" y="1038225"/>
            <a:ext cx="8277225"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dirty="0">
                <a:solidFill>
                  <a:srgbClr val="0000CC"/>
                </a:solidFill>
                <a:latin typeface="Times New Roman" pitchFamily="18" charset="0"/>
              </a:rPr>
              <a:t>定义</a:t>
            </a:r>
            <a:r>
              <a:rPr kumimoji="1" lang="en-US" altLang="zh-CN" b="1" dirty="0">
                <a:solidFill>
                  <a:srgbClr val="0000CC"/>
                </a:solidFill>
                <a:latin typeface="Times New Roman" pitchFamily="18" charset="0"/>
              </a:rPr>
              <a:t>7-5.2</a:t>
            </a:r>
            <a:r>
              <a:rPr kumimoji="1" lang="zh-CN" altLang="en-US" b="1" dirty="0">
                <a:solidFill>
                  <a:srgbClr val="0000CC"/>
                </a:solidFill>
                <a:latin typeface="Times New Roman" pitchFamily="18" charset="0"/>
              </a:rPr>
              <a:t>：</a:t>
            </a:r>
            <a:r>
              <a:rPr kumimoji="1" lang="zh-CN" altLang="en-US" b="1" dirty="0">
                <a:latin typeface="Times New Roman" pitchFamily="18" charset="0"/>
              </a:rPr>
              <a:t>设</a:t>
            </a:r>
            <a:r>
              <a:rPr kumimoji="1" lang="en-US" altLang="zh-CN" b="1" dirty="0">
                <a:latin typeface="Times New Roman" pitchFamily="18" charset="0"/>
              </a:rPr>
              <a:t>G</a:t>
            </a:r>
            <a:r>
              <a:rPr kumimoji="1" lang="zh-CN" altLang="en-US" b="1" dirty="0">
                <a:latin typeface="Times New Roman" pitchFamily="18" charset="0"/>
              </a:rPr>
              <a:t>是一连通平面图，由图中的边所包围的区域，在区域内既不包含图的结点，也不包含图的边，这样的区域称为</a:t>
            </a:r>
            <a:r>
              <a:rPr kumimoji="1" lang="en-US" altLang="zh-CN" b="1" dirty="0">
                <a:latin typeface="Times New Roman" pitchFamily="18" charset="0"/>
              </a:rPr>
              <a:t>G</a:t>
            </a:r>
            <a:r>
              <a:rPr kumimoji="1" lang="zh-CN" altLang="en-US" b="1" dirty="0">
                <a:latin typeface="Times New Roman" pitchFamily="18" charset="0"/>
              </a:rPr>
              <a:t>的一个面，包围该面的诸边所构成的</a:t>
            </a:r>
            <a:r>
              <a:rPr kumimoji="1" lang="zh-CN" altLang="en-US" b="1" dirty="0">
                <a:solidFill>
                  <a:srgbClr val="0000CC"/>
                </a:solidFill>
                <a:latin typeface="Times New Roman" pitchFamily="18" charset="0"/>
              </a:rPr>
              <a:t>回路</a:t>
            </a:r>
            <a:r>
              <a:rPr kumimoji="1" lang="zh-CN" altLang="en-US" b="1" dirty="0">
                <a:latin typeface="Times New Roman" pitchFamily="18" charset="0"/>
              </a:rPr>
              <a:t>称为</a:t>
            </a:r>
            <a:r>
              <a:rPr kumimoji="1" lang="zh-CN" altLang="en-US" b="1" dirty="0">
                <a:solidFill>
                  <a:srgbClr val="0000CC"/>
                </a:solidFill>
                <a:latin typeface="Times New Roman" pitchFamily="18" charset="0"/>
              </a:rPr>
              <a:t>这个面的边界</a:t>
            </a:r>
            <a:r>
              <a:rPr kumimoji="1" lang="zh-CN" altLang="en-US" b="1" dirty="0">
                <a:latin typeface="Times New Roman" pitchFamily="18" charset="0"/>
              </a:rPr>
              <a:t>。</a:t>
            </a:r>
          </a:p>
          <a:p>
            <a:pPr eaLnBrk="1" hangingPunct="1">
              <a:lnSpc>
                <a:spcPct val="130000"/>
              </a:lnSpc>
            </a:pPr>
            <a:r>
              <a:rPr kumimoji="1" lang="zh-CN" altLang="en-US" b="1" dirty="0">
                <a:latin typeface="Times New Roman" pitchFamily="18" charset="0"/>
              </a:rPr>
              <a:t>面的边界回路长度称作是该</a:t>
            </a:r>
            <a:r>
              <a:rPr kumimoji="1" lang="zh-CN" altLang="en-US" b="1" dirty="0">
                <a:solidFill>
                  <a:srgbClr val="0000CC"/>
                </a:solidFill>
                <a:latin typeface="Times New Roman" pitchFamily="18" charset="0"/>
              </a:rPr>
              <a:t>面的次数</a:t>
            </a:r>
            <a:r>
              <a:rPr kumimoji="1" lang="zh-CN" altLang="en-US" b="1" dirty="0">
                <a:latin typeface="Times New Roman" pitchFamily="18" charset="0"/>
              </a:rPr>
              <a:t>，记为</a:t>
            </a:r>
            <a:r>
              <a:rPr kumimoji="1" lang="en-US" altLang="zh-CN" b="1" dirty="0" err="1">
                <a:solidFill>
                  <a:srgbClr val="0000CC"/>
                </a:solidFill>
                <a:latin typeface="Times New Roman" pitchFamily="18" charset="0"/>
              </a:rPr>
              <a:t>deg</a:t>
            </a:r>
            <a:r>
              <a:rPr kumimoji="1" lang="en-US" altLang="zh-CN" b="1" dirty="0">
                <a:solidFill>
                  <a:srgbClr val="0000CC"/>
                </a:solidFill>
                <a:latin typeface="Times New Roman" pitchFamily="18" charset="0"/>
              </a:rPr>
              <a:t>(r)</a:t>
            </a:r>
            <a:r>
              <a:rPr kumimoji="1" lang="zh-CN" altLang="en-US" b="1" dirty="0">
                <a:latin typeface="Times New Roman" pitchFamily="18" charset="0"/>
              </a:rPr>
              <a:t>。 </a:t>
            </a:r>
          </a:p>
        </p:txBody>
      </p:sp>
      <p:sp>
        <p:nvSpPr>
          <p:cNvPr id="58373" name="Text Box 5"/>
          <p:cNvSpPr txBox="1">
            <a:spLocks noChangeArrowheads="1"/>
          </p:cNvSpPr>
          <p:nvPr/>
        </p:nvSpPr>
        <p:spPr bwMode="auto">
          <a:xfrm>
            <a:off x="466725" y="3395663"/>
            <a:ext cx="8277225" cy="1000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bg1"/>
              </a:buClr>
            </a:pPr>
            <a:r>
              <a:rPr kumimoji="1" lang="zh-CN" altLang="en-US" b="1" dirty="0">
                <a:solidFill>
                  <a:schemeClr val="hlink"/>
                </a:solidFill>
                <a:latin typeface="Times New Roman" pitchFamily="18" charset="0"/>
              </a:rPr>
              <a:t>例：</a:t>
            </a:r>
            <a:r>
              <a:rPr kumimoji="1" lang="zh-CN" altLang="en-US" b="1" dirty="0">
                <a:latin typeface="Times New Roman" pitchFamily="18" charset="0"/>
              </a:rPr>
              <a:t>下图将整个平面分为</a:t>
            </a:r>
            <a:r>
              <a:rPr kumimoji="1" lang="en-US" altLang="zh-CN" b="1" dirty="0">
                <a:latin typeface="Times New Roman" pitchFamily="18" charset="0"/>
              </a:rPr>
              <a:t>5</a:t>
            </a:r>
            <a:r>
              <a:rPr kumimoji="1" lang="zh-CN" altLang="en-US" b="1" dirty="0">
                <a:latin typeface="Times New Roman" pitchFamily="18" charset="0"/>
              </a:rPr>
              <a:t>个面，找出面</a:t>
            </a:r>
            <a:r>
              <a:rPr kumimoji="1" lang="en-US" altLang="zh-CN" b="1" dirty="0">
                <a:latin typeface="Times New Roman" pitchFamily="18" charset="0"/>
              </a:rPr>
              <a:t>r</a:t>
            </a:r>
            <a:r>
              <a:rPr kumimoji="1" lang="en-US" altLang="zh-CN" b="1" baseline="-25000" dirty="0">
                <a:latin typeface="Times New Roman" pitchFamily="18" charset="0"/>
              </a:rPr>
              <a:t>3</a:t>
            </a:r>
            <a:r>
              <a:rPr kumimoji="1" lang="zh-CN" altLang="en-US" b="1" dirty="0">
                <a:latin typeface="Times New Roman" pitchFamily="18" charset="0"/>
              </a:rPr>
              <a:t>的边界，并计算每个面的次数</a:t>
            </a:r>
          </a:p>
        </p:txBody>
      </p:sp>
      <p:grpSp>
        <p:nvGrpSpPr>
          <p:cNvPr id="58397" name="Group 29"/>
          <p:cNvGrpSpPr>
            <a:grpSpLocks/>
          </p:cNvGrpSpPr>
          <p:nvPr/>
        </p:nvGrpSpPr>
        <p:grpSpPr bwMode="auto">
          <a:xfrm>
            <a:off x="3348038" y="3908425"/>
            <a:ext cx="5759450" cy="2257425"/>
            <a:chOff x="2132" y="2462"/>
            <a:chExt cx="3628" cy="1422"/>
          </a:xfrm>
        </p:grpSpPr>
        <p:sp>
          <p:nvSpPr>
            <p:cNvPr id="58375" name="Rectangle 7"/>
            <p:cNvSpPr>
              <a:spLocks noChangeArrowheads="1"/>
            </p:cNvSpPr>
            <p:nvPr/>
          </p:nvSpPr>
          <p:spPr bwMode="auto">
            <a:xfrm>
              <a:off x="4523" y="2719"/>
              <a:ext cx="116"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endParaRPr kumimoji="1" lang="en-US" altLang="zh-CN" b="1">
                <a:solidFill>
                  <a:schemeClr val="tx2"/>
                </a:solidFill>
                <a:effectLst>
                  <a:outerShdw blurRad="38100" dist="38100" dir="2700000" algn="tl">
                    <a:srgbClr val="C0C0C0"/>
                  </a:outerShdw>
                </a:effectLst>
              </a:endParaRPr>
            </a:p>
            <a:p>
              <a:pPr>
                <a:defRPr/>
              </a:pPr>
              <a:endParaRPr kumimoji="1" lang="en-US" altLang="zh-CN" b="1">
                <a:solidFill>
                  <a:schemeClr val="tx2"/>
                </a:solidFill>
                <a:effectLst>
                  <a:outerShdw blurRad="38100" dist="38100" dir="2700000" algn="tl">
                    <a:srgbClr val="C0C0C0"/>
                  </a:outerShdw>
                </a:effectLst>
              </a:endParaRPr>
            </a:p>
          </p:txBody>
        </p:sp>
        <p:sp>
          <p:nvSpPr>
            <p:cNvPr id="76808" name="Freeform 9"/>
            <p:cNvSpPr>
              <a:spLocks/>
            </p:cNvSpPr>
            <p:nvPr/>
          </p:nvSpPr>
          <p:spPr bwMode="auto">
            <a:xfrm>
              <a:off x="2404" y="2523"/>
              <a:ext cx="3084" cy="1134"/>
            </a:xfrm>
            <a:custGeom>
              <a:avLst/>
              <a:gdLst>
                <a:gd name="T0" fmla="*/ 62 w 2993"/>
                <a:gd name="T1" fmla="*/ 633 h 1835"/>
                <a:gd name="T2" fmla="*/ 247 w 2993"/>
                <a:gd name="T3" fmla="*/ 344 h 1835"/>
                <a:gd name="T4" fmla="*/ 989 w 2993"/>
                <a:gd name="T5" fmla="*/ 54 h 1835"/>
                <a:gd name="T6" fmla="*/ 1747 w 2993"/>
                <a:gd name="T7" fmla="*/ 16 h 1835"/>
                <a:gd name="T8" fmla="*/ 2164 w 2993"/>
                <a:gd name="T9" fmla="*/ 72 h 1835"/>
                <a:gd name="T10" fmla="*/ 2674 w 2993"/>
                <a:gd name="T11" fmla="*/ 248 h 1835"/>
                <a:gd name="T12" fmla="*/ 2998 w 2993"/>
                <a:gd name="T13" fmla="*/ 498 h 1835"/>
                <a:gd name="T14" fmla="*/ 3029 w 2993"/>
                <a:gd name="T15" fmla="*/ 729 h 1835"/>
                <a:gd name="T16" fmla="*/ 2674 w 2993"/>
                <a:gd name="T17" fmla="*/ 971 h 1835"/>
                <a:gd name="T18" fmla="*/ 2133 w 2993"/>
                <a:gd name="T19" fmla="*/ 1110 h 1835"/>
                <a:gd name="T20" fmla="*/ 1360 w 2993"/>
                <a:gd name="T21" fmla="*/ 1115 h 1835"/>
                <a:gd name="T22" fmla="*/ 618 w 2993"/>
                <a:gd name="T23" fmla="*/ 1018 h 1835"/>
                <a:gd name="T24" fmla="*/ 62 w 2993"/>
                <a:gd name="T25" fmla="*/ 633 h 183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993" h="1835">
                  <a:moveTo>
                    <a:pt x="60" y="1024"/>
                  </a:moveTo>
                  <a:cubicBezTo>
                    <a:pt x="0" y="842"/>
                    <a:pt x="90" y="712"/>
                    <a:pt x="240" y="556"/>
                  </a:cubicBezTo>
                  <a:cubicBezTo>
                    <a:pt x="390" y="400"/>
                    <a:pt x="718" y="176"/>
                    <a:pt x="960" y="88"/>
                  </a:cubicBezTo>
                  <a:cubicBezTo>
                    <a:pt x="1202" y="0"/>
                    <a:pt x="1505" y="21"/>
                    <a:pt x="1695" y="26"/>
                  </a:cubicBezTo>
                  <a:cubicBezTo>
                    <a:pt x="1885" y="31"/>
                    <a:pt x="1950" y="54"/>
                    <a:pt x="2100" y="116"/>
                  </a:cubicBezTo>
                  <a:cubicBezTo>
                    <a:pt x="2250" y="178"/>
                    <a:pt x="2460" y="286"/>
                    <a:pt x="2595" y="401"/>
                  </a:cubicBezTo>
                  <a:cubicBezTo>
                    <a:pt x="2730" y="516"/>
                    <a:pt x="2853" y="676"/>
                    <a:pt x="2910" y="806"/>
                  </a:cubicBezTo>
                  <a:cubicBezTo>
                    <a:pt x="2967" y="936"/>
                    <a:pt x="2993" y="1052"/>
                    <a:pt x="2940" y="1180"/>
                  </a:cubicBezTo>
                  <a:cubicBezTo>
                    <a:pt x="2887" y="1308"/>
                    <a:pt x="2740" y="1468"/>
                    <a:pt x="2595" y="1571"/>
                  </a:cubicBezTo>
                  <a:cubicBezTo>
                    <a:pt x="2450" y="1674"/>
                    <a:pt x="2282" y="1757"/>
                    <a:pt x="2070" y="1796"/>
                  </a:cubicBezTo>
                  <a:cubicBezTo>
                    <a:pt x="1858" y="1835"/>
                    <a:pt x="1565" y="1829"/>
                    <a:pt x="1320" y="1804"/>
                  </a:cubicBezTo>
                  <a:cubicBezTo>
                    <a:pt x="1075" y="1779"/>
                    <a:pt x="810" y="1778"/>
                    <a:pt x="600" y="1648"/>
                  </a:cubicBezTo>
                  <a:cubicBezTo>
                    <a:pt x="390" y="1518"/>
                    <a:pt x="120" y="1206"/>
                    <a:pt x="60" y="1024"/>
                  </a:cubicBezTo>
                  <a:close/>
                </a:path>
              </a:pathLst>
            </a:custGeom>
            <a:solidFill>
              <a:srgbClr val="FFFFFF"/>
            </a:solidFill>
            <a:ln w="25400">
              <a:solidFill>
                <a:srgbClr val="000000"/>
              </a:solidFill>
              <a:round/>
              <a:headEnd/>
              <a:tailEnd/>
            </a:ln>
          </p:spPr>
          <p:txBody>
            <a:bodyPr/>
            <a:lstStyle/>
            <a:p>
              <a:endParaRPr lang="zh-CN" altLang="en-US"/>
            </a:p>
          </p:txBody>
        </p:sp>
        <p:sp>
          <p:nvSpPr>
            <p:cNvPr id="76809" name="Freeform 10"/>
            <p:cNvSpPr>
              <a:spLocks/>
            </p:cNvSpPr>
            <p:nvPr/>
          </p:nvSpPr>
          <p:spPr bwMode="auto">
            <a:xfrm>
              <a:off x="2466" y="3132"/>
              <a:ext cx="865" cy="8"/>
            </a:xfrm>
            <a:custGeom>
              <a:avLst/>
              <a:gdLst>
                <a:gd name="T0" fmla="*/ 0 w 840"/>
                <a:gd name="T1" fmla="*/ 0 h 13"/>
                <a:gd name="T2" fmla="*/ 865 w 840"/>
                <a:gd name="T3" fmla="*/ 8 h 13"/>
                <a:gd name="T4" fmla="*/ 0 60000 65536"/>
                <a:gd name="T5" fmla="*/ 0 60000 65536"/>
              </a:gdLst>
              <a:ahLst/>
              <a:cxnLst>
                <a:cxn ang="T4">
                  <a:pos x="T0" y="T1"/>
                </a:cxn>
                <a:cxn ang="T5">
                  <a:pos x="T2" y="T3"/>
                </a:cxn>
              </a:cxnLst>
              <a:rect l="0" t="0" r="r" b="b"/>
              <a:pathLst>
                <a:path w="840" h="13">
                  <a:moveTo>
                    <a:pt x="0" y="0"/>
                  </a:moveTo>
                  <a:lnTo>
                    <a:pt x="840" y="13"/>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6810" name="Line 11"/>
            <p:cNvSpPr>
              <a:spLocks noChangeShapeType="1"/>
            </p:cNvSpPr>
            <p:nvPr/>
          </p:nvSpPr>
          <p:spPr bwMode="auto">
            <a:xfrm flipV="1">
              <a:off x="3331" y="2851"/>
              <a:ext cx="371" cy="28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1" name="Line 12"/>
            <p:cNvSpPr>
              <a:spLocks noChangeShapeType="1"/>
            </p:cNvSpPr>
            <p:nvPr/>
          </p:nvSpPr>
          <p:spPr bwMode="auto">
            <a:xfrm>
              <a:off x="3331" y="3140"/>
              <a:ext cx="371" cy="48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2" name="Line 13"/>
            <p:cNvSpPr>
              <a:spLocks noChangeShapeType="1"/>
            </p:cNvSpPr>
            <p:nvPr/>
          </p:nvSpPr>
          <p:spPr bwMode="auto">
            <a:xfrm>
              <a:off x="3702" y="2851"/>
              <a:ext cx="0" cy="77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3" name="Line 14"/>
            <p:cNvSpPr>
              <a:spLocks noChangeShapeType="1"/>
            </p:cNvSpPr>
            <p:nvPr/>
          </p:nvSpPr>
          <p:spPr bwMode="auto">
            <a:xfrm>
              <a:off x="3696" y="2851"/>
              <a:ext cx="1768" cy="3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4" name="Line 15"/>
            <p:cNvSpPr>
              <a:spLocks noChangeShapeType="1"/>
            </p:cNvSpPr>
            <p:nvPr/>
          </p:nvSpPr>
          <p:spPr bwMode="auto">
            <a:xfrm flipH="1">
              <a:off x="4440" y="3236"/>
              <a:ext cx="99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815" name="Text Box 16"/>
            <p:cNvSpPr txBox="1">
              <a:spLocks noChangeArrowheads="1"/>
            </p:cNvSpPr>
            <p:nvPr/>
          </p:nvSpPr>
          <p:spPr bwMode="auto">
            <a:xfrm>
              <a:off x="2903" y="315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r</a:t>
              </a:r>
              <a:r>
                <a:rPr kumimoji="1" lang="en-US" altLang="zh-CN" b="1" baseline="-25000">
                  <a:solidFill>
                    <a:schemeClr val="bg2"/>
                  </a:solidFill>
                  <a:latin typeface="Times New Roman" pitchFamily="18" charset="0"/>
                </a:rPr>
                <a:t>1</a:t>
              </a:r>
            </a:p>
          </p:txBody>
        </p:sp>
        <p:sp>
          <p:nvSpPr>
            <p:cNvPr id="76816" name="Text Box 17"/>
            <p:cNvSpPr txBox="1">
              <a:spLocks noChangeArrowheads="1"/>
            </p:cNvSpPr>
            <p:nvPr/>
          </p:nvSpPr>
          <p:spPr bwMode="auto">
            <a:xfrm>
              <a:off x="3447" y="3022"/>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r</a:t>
              </a:r>
              <a:r>
                <a:rPr kumimoji="1" lang="en-US" altLang="zh-CN" b="1" baseline="-25000">
                  <a:solidFill>
                    <a:schemeClr val="bg2"/>
                  </a:solidFill>
                  <a:latin typeface="Times New Roman" pitchFamily="18" charset="0"/>
                </a:rPr>
                <a:t>2</a:t>
              </a:r>
            </a:p>
          </p:txBody>
        </p:sp>
        <p:sp>
          <p:nvSpPr>
            <p:cNvPr id="76817" name="Text Box 18"/>
            <p:cNvSpPr txBox="1">
              <a:spLocks noChangeArrowheads="1"/>
            </p:cNvSpPr>
            <p:nvPr/>
          </p:nvSpPr>
          <p:spPr bwMode="auto">
            <a:xfrm>
              <a:off x="3175" y="2704"/>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r</a:t>
              </a:r>
              <a:r>
                <a:rPr kumimoji="1" lang="en-US" altLang="zh-CN" b="1" baseline="-25000">
                  <a:solidFill>
                    <a:schemeClr val="bg2"/>
                  </a:solidFill>
                  <a:latin typeface="Times New Roman" pitchFamily="18" charset="0"/>
                </a:rPr>
                <a:t>4</a:t>
              </a:r>
            </a:p>
          </p:txBody>
        </p:sp>
        <p:sp>
          <p:nvSpPr>
            <p:cNvPr id="76818" name="Text Box 19"/>
            <p:cNvSpPr txBox="1">
              <a:spLocks noChangeArrowheads="1"/>
            </p:cNvSpPr>
            <p:nvPr/>
          </p:nvSpPr>
          <p:spPr bwMode="auto">
            <a:xfrm>
              <a:off x="3946" y="3022"/>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r</a:t>
              </a:r>
              <a:r>
                <a:rPr kumimoji="1" lang="en-US" altLang="zh-CN" b="1" baseline="-25000">
                  <a:solidFill>
                    <a:schemeClr val="bg2"/>
                  </a:solidFill>
                  <a:latin typeface="Times New Roman" pitchFamily="18" charset="0"/>
                </a:rPr>
                <a:t>3</a:t>
              </a:r>
            </a:p>
          </p:txBody>
        </p:sp>
        <p:sp>
          <p:nvSpPr>
            <p:cNvPr id="76819" name="Text Box 20"/>
            <p:cNvSpPr txBox="1">
              <a:spLocks noChangeArrowheads="1"/>
            </p:cNvSpPr>
            <p:nvPr/>
          </p:nvSpPr>
          <p:spPr bwMode="auto">
            <a:xfrm>
              <a:off x="5035" y="2462"/>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hlink"/>
                  </a:solidFill>
                  <a:latin typeface="Times New Roman" pitchFamily="18" charset="0"/>
                </a:rPr>
                <a:t>r</a:t>
              </a:r>
              <a:r>
                <a:rPr kumimoji="1" lang="en-US" altLang="zh-CN" b="1" baseline="-25000">
                  <a:solidFill>
                    <a:schemeClr val="hlink"/>
                  </a:solidFill>
                  <a:latin typeface="Times New Roman" pitchFamily="18" charset="0"/>
                </a:rPr>
                <a:t>5</a:t>
              </a:r>
            </a:p>
          </p:txBody>
        </p:sp>
        <p:sp>
          <p:nvSpPr>
            <p:cNvPr id="76820" name="Text Box 21"/>
            <p:cNvSpPr txBox="1">
              <a:spLocks noChangeArrowheads="1"/>
            </p:cNvSpPr>
            <p:nvPr/>
          </p:nvSpPr>
          <p:spPr bwMode="auto">
            <a:xfrm>
              <a:off x="2132" y="3067"/>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A</a:t>
              </a:r>
            </a:p>
          </p:txBody>
        </p:sp>
        <p:sp>
          <p:nvSpPr>
            <p:cNvPr id="76821" name="Text Box 22"/>
            <p:cNvSpPr txBox="1">
              <a:spLocks noChangeArrowheads="1"/>
            </p:cNvSpPr>
            <p:nvPr/>
          </p:nvSpPr>
          <p:spPr bwMode="auto">
            <a:xfrm>
              <a:off x="3175" y="2886"/>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B</a:t>
              </a:r>
            </a:p>
          </p:txBody>
        </p:sp>
        <p:sp>
          <p:nvSpPr>
            <p:cNvPr id="76822" name="Text Box 23"/>
            <p:cNvSpPr txBox="1">
              <a:spLocks noChangeArrowheads="1"/>
            </p:cNvSpPr>
            <p:nvPr/>
          </p:nvSpPr>
          <p:spPr bwMode="auto">
            <a:xfrm>
              <a:off x="3674" y="2598"/>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C</a:t>
              </a:r>
            </a:p>
          </p:txBody>
        </p:sp>
        <p:sp>
          <p:nvSpPr>
            <p:cNvPr id="76823" name="Text Box 24"/>
            <p:cNvSpPr txBox="1">
              <a:spLocks noChangeArrowheads="1"/>
            </p:cNvSpPr>
            <p:nvPr/>
          </p:nvSpPr>
          <p:spPr bwMode="auto">
            <a:xfrm>
              <a:off x="3674" y="3596"/>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D</a:t>
              </a:r>
            </a:p>
          </p:txBody>
        </p:sp>
        <p:sp>
          <p:nvSpPr>
            <p:cNvPr id="76824" name="Text Box 25"/>
            <p:cNvSpPr txBox="1">
              <a:spLocks noChangeArrowheads="1"/>
            </p:cNvSpPr>
            <p:nvPr/>
          </p:nvSpPr>
          <p:spPr bwMode="auto">
            <a:xfrm>
              <a:off x="4218" y="3113"/>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F</a:t>
              </a:r>
            </a:p>
          </p:txBody>
        </p:sp>
        <p:sp>
          <p:nvSpPr>
            <p:cNvPr id="76825" name="Text Box 26"/>
            <p:cNvSpPr txBox="1">
              <a:spLocks noChangeArrowheads="1"/>
            </p:cNvSpPr>
            <p:nvPr/>
          </p:nvSpPr>
          <p:spPr bwMode="auto">
            <a:xfrm>
              <a:off x="5443" y="3067"/>
              <a:ext cx="3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buClr>
                  <a:schemeClr val="bg1"/>
                </a:buClr>
              </a:pPr>
              <a:r>
                <a:rPr kumimoji="1" lang="en-US" altLang="zh-CN" b="1">
                  <a:solidFill>
                    <a:schemeClr val="bg2"/>
                  </a:solidFill>
                  <a:latin typeface="Times New Roman" pitchFamily="18" charset="0"/>
                </a:rPr>
                <a:t>E</a:t>
              </a:r>
            </a:p>
          </p:txBody>
        </p:sp>
      </p:grpSp>
      <p:sp>
        <p:nvSpPr>
          <p:cNvPr id="58395" name="Text Box 27"/>
          <p:cNvSpPr txBox="1">
            <a:spLocks noChangeArrowheads="1"/>
          </p:cNvSpPr>
          <p:nvPr/>
        </p:nvSpPr>
        <p:spPr bwMode="auto">
          <a:xfrm>
            <a:off x="466725" y="5708650"/>
            <a:ext cx="8277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dirty="0">
                <a:solidFill>
                  <a:schemeClr val="bg2"/>
                </a:solidFill>
                <a:latin typeface="Times New Roman" pitchFamily="18" charset="0"/>
              </a:rPr>
              <a:t>不要遗漏在图形之外的无限面</a:t>
            </a:r>
            <a:r>
              <a:rPr kumimoji="1" lang="en-US" altLang="zh-CN" b="1" dirty="0">
                <a:solidFill>
                  <a:schemeClr val="bg2"/>
                </a:solidFill>
                <a:latin typeface="Times New Roman" pitchFamily="18" charset="0"/>
              </a:rPr>
              <a:t>r</a:t>
            </a:r>
            <a:r>
              <a:rPr kumimoji="1" lang="en-US" altLang="zh-CN" b="1" baseline="-25000" dirty="0">
                <a:solidFill>
                  <a:schemeClr val="bg2"/>
                </a:solidFill>
                <a:latin typeface="Times New Roman" pitchFamily="18" charset="0"/>
              </a:rPr>
              <a:t>5</a:t>
            </a:r>
          </a:p>
        </p:txBody>
      </p:sp>
    </p:spTree>
    <p:extLst>
      <p:ext uri="{BB962C8B-B14F-4D97-AF65-F5344CB8AC3E}">
        <p14:creationId xmlns:p14="http://schemas.microsoft.com/office/powerpoint/2010/main" val="3204119178"/>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58373"/>
                                        </p:tgtEl>
                                        <p:attrNameLst>
                                          <p:attrName>style.visibility</p:attrName>
                                        </p:attrNameLst>
                                      </p:cBhvr>
                                      <p:to>
                                        <p:strVal val="visible"/>
                                      </p:to>
                                    </p:set>
                                    <p:animEffect transition="in" filter="diamond(in)">
                                      <p:cBhvr>
                                        <p:cTn id="7" dur="500"/>
                                        <p:tgtEl>
                                          <p:spTgt spid="583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58397"/>
                                        </p:tgtEl>
                                        <p:attrNameLst>
                                          <p:attrName>style.visibility</p:attrName>
                                        </p:attrNameLst>
                                      </p:cBhvr>
                                      <p:to>
                                        <p:strVal val="visible"/>
                                      </p:to>
                                    </p:set>
                                    <p:anim calcmode="lin" valueType="num">
                                      <p:cBhvr additive="base">
                                        <p:cTn id="12" dur="500" fill="hold"/>
                                        <p:tgtEl>
                                          <p:spTgt spid="58397"/>
                                        </p:tgtEl>
                                        <p:attrNameLst>
                                          <p:attrName>ppt_x</p:attrName>
                                        </p:attrNameLst>
                                      </p:cBhvr>
                                      <p:tavLst>
                                        <p:tav tm="0">
                                          <p:val>
                                            <p:strVal val="#ppt_x"/>
                                          </p:val>
                                        </p:tav>
                                        <p:tav tm="100000">
                                          <p:val>
                                            <p:strVal val="#ppt_x"/>
                                          </p:val>
                                        </p:tav>
                                      </p:tavLst>
                                    </p:anim>
                                    <p:anim calcmode="lin" valueType="num">
                                      <p:cBhvr additive="base">
                                        <p:cTn id="13" dur="500" fill="hold"/>
                                        <p:tgtEl>
                                          <p:spTgt spid="58397"/>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58395"/>
                                        </p:tgtEl>
                                        <p:attrNameLst>
                                          <p:attrName>style.visibility</p:attrName>
                                        </p:attrNameLst>
                                      </p:cBhvr>
                                      <p:to>
                                        <p:strVal val="visible"/>
                                      </p:to>
                                    </p:set>
                                    <p:anim calcmode="lin" valueType="num">
                                      <p:cBhvr additive="base">
                                        <p:cTn id="18" dur="500" fill="hold"/>
                                        <p:tgtEl>
                                          <p:spTgt spid="58395"/>
                                        </p:tgtEl>
                                        <p:attrNameLst>
                                          <p:attrName>ppt_x</p:attrName>
                                        </p:attrNameLst>
                                      </p:cBhvr>
                                      <p:tavLst>
                                        <p:tav tm="0">
                                          <p:val>
                                            <p:strVal val="#ppt_x"/>
                                          </p:val>
                                        </p:tav>
                                        <p:tav tm="100000">
                                          <p:val>
                                            <p:strVal val="#ppt_x"/>
                                          </p:val>
                                        </p:tav>
                                      </p:tavLst>
                                    </p:anim>
                                    <p:anim calcmode="lin" valueType="num">
                                      <p:cBhvr additive="base">
                                        <p:cTn id="19" dur="500" fill="hold"/>
                                        <p:tgtEl>
                                          <p:spTgt spid="583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3" grpId="0"/>
      <p:bldP spid="58395"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pPr>
              <a:defRPr/>
            </a:pPr>
            <a:fld id="{BCF75D85-1334-4884-9B66-C1FBC3ECF278}" type="slidenum">
              <a:rPr lang="en-US" altLang="zh-CN"/>
              <a:pPr>
                <a:defRPr/>
              </a:pPr>
              <a:t>76</a:t>
            </a:fld>
            <a:endParaRPr lang="en-US" altLang="zh-CN"/>
          </a:p>
        </p:txBody>
      </p:sp>
      <p:sp>
        <p:nvSpPr>
          <p:cNvPr id="77827" name="Rectangle 3"/>
          <p:cNvSpPr>
            <a:spLocks noGrp="1" noChangeArrowheads="1"/>
          </p:cNvSpPr>
          <p:nvPr>
            <p:ph type="body" idx="1"/>
          </p:nvPr>
        </p:nvSpPr>
        <p:spPr>
          <a:xfrm>
            <a:off x="466725" y="1125538"/>
            <a:ext cx="8277225" cy="1990725"/>
          </a:xfrm>
          <a:noFill/>
        </p:spPr>
        <p:txBody>
          <a:bodyPr/>
          <a:lstStyle/>
          <a:p>
            <a:pPr eaLnBrk="1" hangingPunct="1">
              <a:buClrTx/>
              <a:buSzTx/>
              <a:buFontTx/>
              <a:buNone/>
            </a:pPr>
            <a:r>
              <a:rPr kumimoji="1" lang="zh-CN" altLang="en-US" dirty="0" smtClean="0">
                <a:solidFill>
                  <a:srgbClr val="0000CC"/>
                </a:solidFill>
              </a:rPr>
              <a:t>定理</a:t>
            </a:r>
            <a:r>
              <a:rPr kumimoji="1" lang="en-US" altLang="zh-CN" dirty="0" smtClean="0">
                <a:solidFill>
                  <a:srgbClr val="0000CC"/>
                </a:solidFill>
              </a:rPr>
              <a:t>7-5.1</a:t>
            </a:r>
            <a:r>
              <a:rPr kumimoji="1" lang="zh-CN" altLang="en-US" dirty="0" smtClean="0">
                <a:solidFill>
                  <a:srgbClr val="0000CC"/>
                </a:solidFill>
              </a:rPr>
              <a:t>：</a:t>
            </a:r>
            <a:r>
              <a:rPr kumimoji="1" lang="zh-CN" altLang="en-US" dirty="0" smtClean="0"/>
              <a:t>一个有限平面图，面的次数之和等于其边数的两倍。</a:t>
            </a:r>
          </a:p>
          <a:p>
            <a:pPr eaLnBrk="1" hangingPunct="1">
              <a:buClr>
                <a:schemeClr val="bg1"/>
              </a:buClr>
              <a:buSzTx/>
              <a:buFontTx/>
              <a:buNone/>
            </a:pPr>
            <a:r>
              <a:rPr kumimoji="1" lang="zh-CN" altLang="en-US" dirty="0" smtClean="0"/>
              <a:t>证明：图中任一条边要么是两个面的边界，要么是在一个面中被重复计算两次 。</a:t>
            </a:r>
            <a:endParaRPr lang="zh-CN" altLang="en-US" dirty="0" smtClean="0"/>
          </a:p>
        </p:txBody>
      </p:sp>
    </p:spTree>
    <p:extLst>
      <p:ext uri="{BB962C8B-B14F-4D97-AF65-F5344CB8AC3E}">
        <p14:creationId xmlns:p14="http://schemas.microsoft.com/office/powerpoint/2010/main" val="3585124767"/>
      </p:ext>
    </p:extLst>
  </p:cSld>
  <p:clrMapOvr>
    <a:masterClrMapping/>
  </p:clrMapOvr>
  <p:transition spd="slow">
    <p:random/>
  </p:transition>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灯片编号占位符 2"/>
          <p:cNvSpPr>
            <a:spLocks noGrp="1"/>
          </p:cNvSpPr>
          <p:nvPr>
            <p:ph type="sldNum" sz="quarter" idx="11"/>
          </p:nvPr>
        </p:nvSpPr>
        <p:spPr/>
        <p:txBody>
          <a:bodyPr/>
          <a:lstStyle/>
          <a:p>
            <a:pPr>
              <a:defRPr/>
            </a:pPr>
            <a:fld id="{D2C91D57-010B-4994-B98F-F47E1FD154FF}" type="slidenum">
              <a:rPr lang="en-US" altLang="zh-CN"/>
              <a:pPr>
                <a:defRPr/>
              </a:pPr>
              <a:t>77</a:t>
            </a:fld>
            <a:endParaRPr lang="en-US" altLang="zh-CN"/>
          </a:p>
        </p:txBody>
      </p:sp>
      <p:sp>
        <p:nvSpPr>
          <p:cNvPr id="59394" name="Rectangle 2"/>
          <p:cNvSpPr>
            <a:spLocks noChangeArrowheads="1"/>
          </p:cNvSpPr>
          <p:nvPr/>
        </p:nvSpPr>
        <p:spPr bwMode="auto">
          <a:xfrm>
            <a:off x="466725" y="2492375"/>
            <a:ext cx="8277225" cy="3414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bg1"/>
              </a:buClr>
            </a:pPr>
            <a:r>
              <a:rPr kumimoji="1" lang="zh-CN" altLang="en-US" b="1">
                <a:latin typeface="Times New Roman" pitchFamily="18" charset="0"/>
              </a:rPr>
              <a:t>证明</a:t>
            </a:r>
            <a:r>
              <a:rPr kumimoji="1" lang="zh-CN" altLang="en-US" b="1">
                <a:latin typeface="Times New Roman" pitchFamily="18" charset="0"/>
                <a:sym typeface="Wingdings" pitchFamily="2" charset="2"/>
              </a:rPr>
              <a:t>：（归纳法</a:t>
            </a:r>
            <a:r>
              <a:rPr kumimoji="1" lang="en-US" altLang="zh-CN" b="1">
                <a:latin typeface="Times New Roman" pitchFamily="18" charset="0"/>
                <a:sym typeface="Wingdings" pitchFamily="2" charset="2"/>
              </a:rPr>
              <a:t>——</a:t>
            </a:r>
            <a:r>
              <a:rPr kumimoji="1" lang="zh-CN" altLang="en-US" b="1">
                <a:latin typeface="Times New Roman" pitchFamily="18" charset="0"/>
                <a:sym typeface="Wingdings" pitchFamily="2" charset="2"/>
              </a:rPr>
              <a:t>边数）</a:t>
            </a:r>
          </a:p>
          <a:p>
            <a:pPr>
              <a:lnSpc>
                <a:spcPct val="130000"/>
              </a:lnSpc>
              <a:buClr>
                <a:schemeClr val="bg1"/>
              </a:buClr>
            </a:pPr>
            <a:r>
              <a:rPr kumimoji="1" lang="en-US" altLang="zh-CN" b="1">
                <a:latin typeface="Times New Roman" pitchFamily="18" charset="0"/>
                <a:sym typeface="Wingdings" pitchFamily="2" charset="2"/>
              </a:rPr>
              <a:t>1</a:t>
            </a:r>
            <a:r>
              <a:rPr kumimoji="1" lang="zh-CN" altLang="en-US" b="1">
                <a:latin typeface="Times New Roman" pitchFamily="18" charset="0"/>
                <a:sym typeface="Wingdings" pitchFamily="2" charset="2"/>
              </a:rPr>
              <a:t>、若</a:t>
            </a:r>
            <a:r>
              <a:rPr kumimoji="1" lang="en-US" altLang="zh-CN" b="1">
                <a:latin typeface="Times New Roman" pitchFamily="18" charset="0"/>
                <a:sym typeface="Wingdings" pitchFamily="2" charset="2"/>
              </a:rPr>
              <a:t>G</a:t>
            </a:r>
            <a:r>
              <a:rPr kumimoji="1" lang="zh-CN" altLang="en-US" b="1">
                <a:latin typeface="Times New Roman" pitchFamily="18" charset="0"/>
                <a:sym typeface="Wingdings" pitchFamily="2" charset="2"/>
              </a:rPr>
              <a:t>为</a:t>
            </a:r>
            <a:r>
              <a:rPr kumimoji="1" lang="zh-CN" altLang="en-US" b="1">
                <a:sym typeface="Wingdings" pitchFamily="2" charset="2"/>
              </a:rPr>
              <a:t>一</a:t>
            </a:r>
            <a:r>
              <a:rPr kumimoji="1" lang="zh-CN" altLang="en-US" b="1">
                <a:latin typeface="Times New Roman" pitchFamily="18" charset="0"/>
                <a:sym typeface="Wingdings" pitchFamily="2" charset="2"/>
              </a:rPr>
              <a:t>孤立结点，则</a:t>
            </a:r>
            <a:r>
              <a:rPr kumimoji="1" lang="en-US" altLang="zh-CN" b="1">
                <a:latin typeface="Times New Roman" pitchFamily="18" charset="0"/>
                <a:sym typeface="Wingdings" pitchFamily="2" charset="2"/>
              </a:rPr>
              <a:t>v=1</a:t>
            </a:r>
            <a:r>
              <a:rPr kumimoji="1" lang="zh-CN" altLang="en-US" b="1">
                <a:latin typeface="Times New Roman" pitchFamily="18" charset="0"/>
                <a:sym typeface="Wingdings" pitchFamily="2" charset="2"/>
              </a:rPr>
              <a:t>，</a:t>
            </a:r>
            <a:r>
              <a:rPr kumimoji="1" lang="en-US" altLang="zh-CN" b="1">
                <a:latin typeface="Times New Roman" pitchFamily="18" charset="0"/>
                <a:sym typeface="Wingdings" pitchFamily="2" charset="2"/>
              </a:rPr>
              <a:t>e=0</a:t>
            </a:r>
            <a:r>
              <a:rPr kumimoji="1" lang="zh-CN" altLang="en-US" b="1">
                <a:latin typeface="Times New Roman" pitchFamily="18" charset="0"/>
                <a:sym typeface="Wingdings" pitchFamily="2" charset="2"/>
              </a:rPr>
              <a:t>，</a:t>
            </a:r>
            <a:r>
              <a:rPr kumimoji="1" lang="en-US" altLang="zh-CN" b="1">
                <a:latin typeface="Times New Roman" pitchFamily="18" charset="0"/>
                <a:sym typeface="Wingdings" pitchFamily="2" charset="2"/>
              </a:rPr>
              <a:t>r=1</a:t>
            </a:r>
            <a:r>
              <a:rPr kumimoji="1" lang="zh-CN" altLang="en-US" b="1">
                <a:latin typeface="Times New Roman" pitchFamily="18" charset="0"/>
                <a:sym typeface="Wingdings" pitchFamily="2" charset="2"/>
              </a:rPr>
              <a:t>，故</a:t>
            </a:r>
            <a:r>
              <a:rPr kumimoji="1" lang="en-US" altLang="zh-CN" b="1">
                <a:latin typeface="Times New Roman" pitchFamily="18" charset="0"/>
                <a:sym typeface="Wingdings" pitchFamily="2" charset="2"/>
              </a:rPr>
              <a:t>v-e+r=2</a:t>
            </a:r>
            <a:r>
              <a:rPr kumimoji="1" lang="zh-CN" altLang="en-US" b="1">
                <a:latin typeface="Times New Roman" pitchFamily="18" charset="0"/>
                <a:sym typeface="Wingdings" pitchFamily="2" charset="2"/>
              </a:rPr>
              <a:t>成立。</a:t>
            </a:r>
          </a:p>
          <a:p>
            <a:pPr>
              <a:lnSpc>
                <a:spcPct val="130000"/>
              </a:lnSpc>
              <a:buClr>
                <a:schemeClr val="bg1"/>
              </a:buClr>
            </a:pPr>
            <a:r>
              <a:rPr kumimoji="1" lang="en-US" altLang="zh-CN" b="1">
                <a:latin typeface="Times New Roman" pitchFamily="18" charset="0"/>
                <a:sym typeface="Wingdings" pitchFamily="2" charset="2"/>
              </a:rPr>
              <a:t>2</a:t>
            </a:r>
            <a:r>
              <a:rPr kumimoji="1" lang="zh-CN" altLang="en-US" b="1">
                <a:latin typeface="Times New Roman" pitchFamily="18" charset="0"/>
                <a:sym typeface="Wingdings" pitchFamily="2" charset="2"/>
              </a:rPr>
              <a:t>、若</a:t>
            </a:r>
            <a:r>
              <a:rPr kumimoji="1" lang="en-US" altLang="zh-CN" b="1">
                <a:latin typeface="Times New Roman" pitchFamily="18" charset="0"/>
                <a:sym typeface="Wingdings" pitchFamily="2" charset="2"/>
              </a:rPr>
              <a:t>G</a:t>
            </a:r>
            <a:r>
              <a:rPr kumimoji="1" lang="zh-CN" altLang="en-US" b="1">
                <a:latin typeface="Times New Roman" pitchFamily="18" charset="0"/>
                <a:sym typeface="Wingdings" pitchFamily="2" charset="2"/>
              </a:rPr>
              <a:t>为一条边，即</a:t>
            </a:r>
            <a:r>
              <a:rPr kumimoji="1" lang="en-US" altLang="zh-CN" b="1">
                <a:latin typeface="Times New Roman" pitchFamily="18" charset="0"/>
                <a:sym typeface="Wingdings" pitchFamily="2" charset="2"/>
              </a:rPr>
              <a:t>v=2</a:t>
            </a:r>
            <a:r>
              <a:rPr kumimoji="1" lang="zh-CN" altLang="en-US" b="1">
                <a:latin typeface="Times New Roman" pitchFamily="18" charset="0"/>
                <a:sym typeface="Wingdings" pitchFamily="2" charset="2"/>
              </a:rPr>
              <a:t>，</a:t>
            </a:r>
            <a:r>
              <a:rPr kumimoji="1" lang="en-US" altLang="zh-CN" b="1">
                <a:latin typeface="Times New Roman" pitchFamily="18" charset="0"/>
                <a:sym typeface="Wingdings" pitchFamily="2" charset="2"/>
              </a:rPr>
              <a:t>e=1</a:t>
            </a:r>
            <a:r>
              <a:rPr kumimoji="1" lang="zh-CN" altLang="en-US" b="1">
                <a:latin typeface="Times New Roman" pitchFamily="18" charset="0"/>
                <a:sym typeface="Wingdings" pitchFamily="2" charset="2"/>
              </a:rPr>
              <a:t>，</a:t>
            </a:r>
            <a:r>
              <a:rPr kumimoji="1" lang="en-US" altLang="zh-CN" b="1">
                <a:latin typeface="Times New Roman" pitchFamily="18" charset="0"/>
                <a:sym typeface="Wingdings" pitchFamily="2" charset="2"/>
              </a:rPr>
              <a:t>r=1</a:t>
            </a:r>
            <a:r>
              <a:rPr kumimoji="1" lang="zh-CN" altLang="en-US" b="1">
                <a:latin typeface="Times New Roman" pitchFamily="18" charset="0"/>
                <a:sym typeface="Wingdings" pitchFamily="2" charset="2"/>
              </a:rPr>
              <a:t>，则</a:t>
            </a:r>
            <a:r>
              <a:rPr kumimoji="1" lang="en-US" altLang="zh-CN" b="1">
                <a:latin typeface="Times New Roman" pitchFamily="18" charset="0"/>
                <a:sym typeface="Wingdings" pitchFamily="2" charset="2"/>
              </a:rPr>
              <a:t>v-e+r=2</a:t>
            </a:r>
            <a:r>
              <a:rPr kumimoji="1" lang="zh-CN" altLang="en-US" b="1">
                <a:latin typeface="Times New Roman" pitchFamily="18" charset="0"/>
                <a:sym typeface="Wingdings" pitchFamily="2" charset="2"/>
              </a:rPr>
              <a:t>成立。</a:t>
            </a:r>
          </a:p>
          <a:p>
            <a:pPr>
              <a:lnSpc>
                <a:spcPct val="130000"/>
              </a:lnSpc>
              <a:buClr>
                <a:schemeClr val="bg1"/>
              </a:buClr>
            </a:pPr>
            <a:r>
              <a:rPr kumimoji="1" lang="en-US" altLang="zh-CN" b="1">
                <a:latin typeface="Times New Roman" pitchFamily="18" charset="0"/>
                <a:sym typeface="Wingdings" pitchFamily="2" charset="2"/>
              </a:rPr>
              <a:t>3</a:t>
            </a:r>
            <a:r>
              <a:rPr kumimoji="1" lang="zh-CN" altLang="en-US" b="1">
                <a:latin typeface="Times New Roman" pitchFamily="18" charset="0"/>
                <a:sym typeface="Wingdings" pitchFamily="2" charset="2"/>
              </a:rPr>
              <a:t>、设</a:t>
            </a:r>
            <a:r>
              <a:rPr kumimoji="1" lang="en-US" altLang="zh-CN" b="1">
                <a:latin typeface="Times New Roman" pitchFamily="18" charset="0"/>
                <a:sym typeface="Wingdings" pitchFamily="2" charset="2"/>
              </a:rPr>
              <a:t>G</a:t>
            </a:r>
            <a:r>
              <a:rPr kumimoji="1" lang="zh-CN" altLang="en-US" b="1">
                <a:latin typeface="Times New Roman" pitchFamily="18" charset="0"/>
                <a:sym typeface="Wingdings" pitchFamily="2" charset="2"/>
              </a:rPr>
              <a:t>为</a:t>
            </a:r>
            <a:r>
              <a:rPr kumimoji="1" lang="en-US" altLang="zh-CN" b="1">
                <a:latin typeface="Times New Roman" pitchFamily="18" charset="0"/>
                <a:sym typeface="Wingdings" pitchFamily="2" charset="2"/>
              </a:rPr>
              <a:t>k</a:t>
            </a:r>
            <a:r>
              <a:rPr kumimoji="1" lang="zh-CN" altLang="en-US" b="1">
                <a:latin typeface="Times New Roman" pitchFamily="18" charset="0"/>
                <a:sym typeface="Wingdings" pitchFamily="2" charset="2"/>
              </a:rPr>
              <a:t>条边时成立，即</a:t>
            </a:r>
            <a:r>
              <a:rPr kumimoji="1" lang="en-US" altLang="zh-CN" b="1">
                <a:latin typeface="Times New Roman" pitchFamily="18" charset="0"/>
                <a:sym typeface="Wingdings" pitchFamily="2" charset="2"/>
              </a:rPr>
              <a:t>v</a:t>
            </a:r>
            <a:r>
              <a:rPr kumimoji="1" lang="en-US" altLang="zh-CN" b="1" baseline="-25000">
                <a:latin typeface="Times New Roman" pitchFamily="18" charset="0"/>
                <a:sym typeface="Wingdings" pitchFamily="2" charset="2"/>
              </a:rPr>
              <a:t>k</a:t>
            </a:r>
            <a:r>
              <a:rPr kumimoji="1" lang="en-US" altLang="zh-CN" b="1">
                <a:latin typeface="Times New Roman" pitchFamily="18" charset="0"/>
                <a:sym typeface="Wingdings" pitchFamily="2" charset="2"/>
              </a:rPr>
              <a:t>-e</a:t>
            </a:r>
            <a:r>
              <a:rPr kumimoji="1" lang="en-US" altLang="zh-CN" b="1" baseline="-25000">
                <a:latin typeface="Times New Roman" pitchFamily="18" charset="0"/>
                <a:sym typeface="Wingdings" pitchFamily="2" charset="2"/>
              </a:rPr>
              <a:t>k</a:t>
            </a:r>
            <a:r>
              <a:rPr kumimoji="1" lang="en-US" altLang="zh-CN" b="1">
                <a:latin typeface="Times New Roman" pitchFamily="18" charset="0"/>
                <a:sym typeface="Wingdings" pitchFamily="2" charset="2"/>
              </a:rPr>
              <a:t>+r</a:t>
            </a:r>
            <a:r>
              <a:rPr kumimoji="1" lang="en-US" altLang="zh-CN" b="1" baseline="-25000">
                <a:latin typeface="Times New Roman" pitchFamily="18" charset="0"/>
                <a:sym typeface="Wingdings" pitchFamily="2" charset="2"/>
              </a:rPr>
              <a:t>k</a:t>
            </a:r>
            <a:r>
              <a:rPr kumimoji="1" lang="en-US" altLang="zh-CN" b="1">
                <a:latin typeface="Times New Roman" pitchFamily="18" charset="0"/>
                <a:sym typeface="Wingdings" pitchFamily="2" charset="2"/>
              </a:rPr>
              <a:t>=2</a:t>
            </a:r>
            <a:r>
              <a:rPr kumimoji="1" lang="zh-CN" altLang="en-US" b="1">
                <a:latin typeface="Times New Roman" pitchFamily="18" charset="0"/>
                <a:sym typeface="Wingdings" pitchFamily="2" charset="2"/>
              </a:rPr>
              <a:t>成立。</a:t>
            </a:r>
          </a:p>
          <a:p>
            <a:pPr>
              <a:lnSpc>
                <a:spcPct val="130000"/>
              </a:lnSpc>
              <a:buClr>
                <a:schemeClr val="bg1"/>
              </a:buClr>
            </a:pPr>
            <a:r>
              <a:rPr kumimoji="1" lang="en-US" altLang="zh-CN" b="1">
                <a:latin typeface="Times New Roman" pitchFamily="18" charset="0"/>
                <a:sym typeface="Wingdings" pitchFamily="2" charset="2"/>
              </a:rPr>
              <a:t>4</a:t>
            </a:r>
            <a:r>
              <a:rPr kumimoji="1" lang="zh-CN" altLang="en-US" b="1">
                <a:latin typeface="Times New Roman" pitchFamily="18" charset="0"/>
                <a:sym typeface="Wingdings" pitchFamily="2" charset="2"/>
              </a:rPr>
              <a:t>、证</a:t>
            </a:r>
            <a:r>
              <a:rPr kumimoji="1" lang="en-US" altLang="zh-CN" b="1">
                <a:latin typeface="Times New Roman" pitchFamily="18" charset="0"/>
                <a:sym typeface="Wingdings" pitchFamily="2" charset="2"/>
              </a:rPr>
              <a:t>G</a:t>
            </a:r>
            <a:r>
              <a:rPr kumimoji="1" lang="zh-CN" altLang="en-US" b="1">
                <a:latin typeface="Times New Roman" pitchFamily="18" charset="0"/>
                <a:sym typeface="Wingdings" pitchFamily="2" charset="2"/>
              </a:rPr>
              <a:t>有</a:t>
            </a:r>
            <a:r>
              <a:rPr kumimoji="1" lang="en-US" altLang="zh-CN" b="1">
                <a:latin typeface="Times New Roman" pitchFamily="18" charset="0"/>
                <a:sym typeface="Wingdings" pitchFamily="2" charset="2"/>
              </a:rPr>
              <a:t>k+1</a:t>
            </a:r>
            <a:r>
              <a:rPr kumimoji="1" lang="zh-CN" altLang="en-US" b="1">
                <a:latin typeface="Times New Roman" pitchFamily="18" charset="0"/>
                <a:sym typeface="Wingdings" pitchFamily="2" charset="2"/>
              </a:rPr>
              <a:t>条边时成立</a:t>
            </a:r>
          </a:p>
          <a:p>
            <a:pPr>
              <a:lnSpc>
                <a:spcPct val="130000"/>
              </a:lnSpc>
              <a:buClr>
                <a:schemeClr val="bg1"/>
              </a:buClr>
            </a:pPr>
            <a:r>
              <a:rPr lang="en-US" altLang="zh-CN" b="1">
                <a:latin typeface="Times New Roman" pitchFamily="18" charset="0"/>
                <a:sym typeface="Wingdings" pitchFamily="2" charset="2"/>
              </a:rPr>
              <a:t>a)</a:t>
            </a:r>
            <a:r>
              <a:rPr lang="zh-CN" altLang="en-US" b="1">
                <a:latin typeface="Times New Roman" pitchFamily="18" charset="0"/>
                <a:sym typeface="Wingdings" pitchFamily="2" charset="2"/>
              </a:rPr>
              <a:t>增加新结点，并与已知结点相连；</a:t>
            </a:r>
          </a:p>
          <a:p>
            <a:pPr>
              <a:lnSpc>
                <a:spcPct val="130000"/>
              </a:lnSpc>
              <a:buClr>
                <a:schemeClr val="bg1"/>
              </a:buClr>
            </a:pPr>
            <a:r>
              <a:rPr lang="en-US" altLang="zh-CN" b="1">
                <a:latin typeface="Times New Roman" pitchFamily="18" charset="0"/>
                <a:sym typeface="Wingdings" pitchFamily="2" charset="2"/>
              </a:rPr>
              <a:t>b)</a:t>
            </a:r>
            <a:r>
              <a:rPr lang="zh-CN" altLang="en-US" b="1">
                <a:latin typeface="Times New Roman" pitchFamily="18" charset="0"/>
                <a:sym typeface="Wingdings" pitchFamily="2" charset="2"/>
              </a:rPr>
              <a:t>直接连接两个已知结点。</a:t>
            </a:r>
          </a:p>
        </p:txBody>
      </p:sp>
      <p:sp>
        <p:nvSpPr>
          <p:cNvPr id="78852" name="Text Box 3"/>
          <p:cNvSpPr txBox="1">
            <a:spLocks noChangeArrowheads="1"/>
          </p:cNvSpPr>
          <p:nvPr/>
        </p:nvSpPr>
        <p:spPr bwMode="auto">
          <a:xfrm>
            <a:off x="466725" y="981075"/>
            <a:ext cx="8277225" cy="159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en-US" altLang="zh-CN" sz="2800" b="1">
                <a:solidFill>
                  <a:srgbClr val="993300"/>
                </a:solidFill>
                <a:latin typeface="楷体_GB2312" pitchFamily="49" charset="-122"/>
                <a:ea typeface="楷体_GB2312" pitchFamily="49" charset="-122"/>
              </a:rPr>
              <a:t>1</a:t>
            </a:r>
            <a:r>
              <a:rPr kumimoji="1" lang="zh-CN" altLang="en-US" sz="2800" b="1">
                <a:solidFill>
                  <a:srgbClr val="993300"/>
                </a:solidFill>
                <a:latin typeface="楷体_GB2312" pitchFamily="49" charset="-122"/>
                <a:ea typeface="楷体_GB2312" pitchFamily="49" charset="-122"/>
              </a:rPr>
              <a:t>、欧拉定理</a:t>
            </a:r>
          </a:p>
          <a:p>
            <a:pPr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7-5.2(</a:t>
            </a:r>
            <a:r>
              <a:rPr kumimoji="1" lang="zh-CN" altLang="en-US" b="1">
                <a:solidFill>
                  <a:srgbClr val="0000CC"/>
                </a:solidFill>
                <a:latin typeface="Times New Roman" pitchFamily="18" charset="0"/>
              </a:rPr>
              <a:t>欧拉定理</a:t>
            </a:r>
            <a:r>
              <a:rPr kumimoji="1" lang="en-US" altLang="zh-CN" b="1">
                <a:solidFill>
                  <a:srgbClr val="0000CC"/>
                </a:solidFill>
                <a:latin typeface="Times New Roman" pitchFamily="18" charset="0"/>
              </a:rPr>
              <a:t>)</a:t>
            </a:r>
            <a:r>
              <a:rPr kumimoji="1" lang="zh-CN" altLang="en-US" b="1">
                <a:solidFill>
                  <a:srgbClr val="0000CC"/>
                </a:solidFill>
                <a:latin typeface="Times New Roman" pitchFamily="18" charset="0"/>
              </a:rPr>
              <a:t>：</a:t>
            </a:r>
            <a:r>
              <a:rPr kumimoji="1" lang="zh-CN" altLang="en-US" b="1">
                <a:latin typeface="Times New Roman" pitchFamily="18" charset="0"/>
              </a:rPr>
              <a:t>设有一个连通的平面图</a:t>
            </a:r>
            <a:r>
              <a:rPr kumimoji="1" lang="en-US" altLang="zh-CN" b="1">
                <a:latin typeface="Times New Roman" pitchFamily="18" charset="0"/>
              </a:rPr>
              <a:t>G</a:t>
            </a:r>
            <a:r>
              <a:rPr kumimoji="1" lang="zh-CN" altLang="en-US" b="1">
                <a:latin typeface="Times New Roman" pitchFamily="18" charset="0"/>
              </a:rPr>
              <a:t>，共有</a:t>
            </a:r>
            <a:r>
              <a:rPr kumimoji="1" lang="en-US" altLang="zh-CN" b="1">
                <a:latin typeface="Times New Roman" pitchFamily="18" charset="0"/>
              </a:rPr>
              <a:t>v</a:t>
            </a:r>
            <a:r>
              <a:rPr kumimoji="1" lang="zh-CN" altLang="en-US" b="1">
                <a:latin typeface="Times New Roman" pitchFamily="18" charset="0"/>
              </a:rPr>
              <a:t>个结点</a:t>
            </a:r>
            <a:r>
              <a:rPr kumimoji="1" lang="en-US" altLang="zh-CN" b="1">
                <a:latin typeface="Times New Roman" pitchFamily="18" charset="0"/>
              </a:rPr>
              <a:t>e</a:t>
            </a:r>
            <a:r>
              <a:rPr kumimoji="1" lang="zh-CN" altLang="en-US" b="1">
                <a:latin typeface="Times New Roman" pitchFamily="18" charset="0"/>
              </a:rPr>
              <a:t>条边和</a:t>
            </a:r>
            <a:r>
              <a:rPr kumimoji="1" lang="en-US" altLang="zh-CN" b="1">
                <a:latin typeface="Times New Roman" pitchFamily="18" charset="0"/>
              </a:rPr>
              <a:t>r</a:t>
            </a:r>
            <a:r>
              <a:rPr kumimoji="1" lang="zh-CN" altLang="en-US" b="1">
                <a:latin typeface="Times New Roman" pitchFamily="18" charset="0"/>
              </a:rPr>
              <a:t>个面，则欧拉公式  </a:t>
            </a:r>
            <a:r>
              <a:rPr kumimoji="1" lang="en-US" altLang="zh-CN" b="1">
                <a:solidFill>
                  <a:srgbClr val="0000CC"/>
                </a:solidFill>
                <a:latin typeface="Times New Roman" pitchFamily="18" charset="0"/>
              </a:rPr>
              <a:t>v - e + r = 2 </a:t>
            </a:r>
            <a:r>
              <a:rPr kumimoji="1" lang="zh-CN" altLang="en-US" b="1">
                <a:latin typeface="Times New Roman" pitchFamily="18" charset="0"/>
              </a:rPr>
              <a:t>成立。 </a:t>
            </a:r>
          </a:p>
        </p:txBody>
      </p:sp>
      <p:grpSp>
        <p:nvGrpSpPr>
          <p:cNvPr id="59396" name="Group 4"/>
          <p:cNvGrpSpPr>
            <a:grpSpLocks/>
          </p:cNvGrpSpPr>
          <p:nvPr/>
        </p:nvGrpSpPr>
        <p:grpSpPr bwMode="auto">
          <a:xfrm>
            <a:off x="5767388" y="4897438"/>
            <a:ext cx="1295400" cy="1143000"/>
            <a:chOff x="240" y="2400"/>
            <a:chExt cx="816" cy="720"/>
          </a:xfrm>
        </p:grpSpPr>
        <p:grpSp>
          <p:nvGrpSpPr>
            <p:cNvPr id="78865" name="Group 5"/>
            <p:cNvGrpSpPr>
              <a:grpSpLocks/>
            </p:cNvGrpSpPr>
            <p:nvPr/>
          </p:nvGrpSpPr>
          <p:grpSpPr bwMode="auto">
            <a:xfrm>
              <a:off x="240" y="2544"/>
              <a:ext cx="816" cy="576"/>
              <a:chOff x="240" y="2544"/>
              <a:chExt cx="816" cy="576"/>
            </a:xfrm>
          </p:grpSpPr>
          <p:sp>
            <p:nvSpPr>
              <p:cNvPr id="78867" name="Line 6"/>
              <p:cNvSpPr>
                <a:spLocks noChangeShapeType="1"/>
              </p:cNvSpPr>
              <p:nvPr/>
            </p:nvSpPr>
            <p:spPr bwMode="auto">
              <a:xfrm>
                <a:off x="240" y="2544"/>
                <a:ext cx="0" cy="5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68" name="Line 7"/>
              <p:cNvSpPr>
                <a:spLocks noChangeShapeType="1"/>
              </p:cNvSpPr>
              <p:nvPr/>
            </p:nvSpPr>
            <p:spPr bwMode="auto">
              <a:xfrm>
                <a:off x="1056" y="2544"/>
                <a:ext cx="0" cy="5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69" name="Line 8"/>
              <p:cNvSpPr>
                <a:spLocks noChangeShapeType="1"/>
              </p:cNvSpPr>
              <p:nvPr/>
            </p:nvSpPr>
            <p:spPr bwMode="auto">
              <a:xfrm>
                <a:off x="240" y="3120"/>
                <a:ext cx="81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70" name="Line 9"/>
              <p:cNvSpPr>
                <a:spLocks noChangeShapeType="1"/>
              </p:cNvSpPr>
              <p:nvPr/>
            </p:nvSpPr>
            <p:spPr bwMode="auto">
              <a:xfrm flipV="1">
                <a:off x="240" y="2880"/>
                <a:ext cx="384"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71" name="Line 10"/>
              <p:cNvSpPr>
                <a:spLocks noChangeShapeType="1"/>
              </p:cNvSpPr>
              <p:nvPr/>
            </p:nvSpPr>
            <p:spPr bwMode="auto">
              <a:xfrm flipH="1" flipV="1">
                <a:off x="624" y="2880"/>
                <a:ext cx="432"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72" name="Line 11"/>
              <p:cNvSpPr>
                <a:spLocks noChangeShapeType="1"/>
              </p:cNvSpPr>
              <p:nvPr/>
            </p:nvSpPr>
            <p:spPr bwMode="auto">
              <a:xfrm>
                <a:off x="240" y="2544"/>
                <a:ext cx="384" cy="3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73" name="Line 12"/>
              <p:cNvSpPr>
                <a:spLocks noChangeShapeType="1"/>
              </p:cNvSpPr>
              <p:nvPr/>
            </p:nvSpPr>
            <p:spPr bwMode="auto">
              <a:xfrm flipH="1">
                <a:off x="624" y="2544"/>
                <a:ext cx="432" cy="3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78866" name="Line 13"/>
            <p:cNvSpPr>
              <a:spLocks noChangeShapeType="1"/>
            </p:cNvSpPr>
            <p:nvPr/>
          </p:nvSpPr>
          <p:spPr bwMode="auto">
            <a:xfrm>
              <a:off x="624" y="2400"/>
              <a:ext cx="0" cy="480"/>
            </a:xfrm>
            <a:prstGeom prst="line">
              <a:avLst/>
            </a:prstGeom>
            <a:noFill/>
            <a:ln w="254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59406" name="Group 14"/>
          <p:cNvGrpSpPr>
            <a:grpSpLocks/>
          </p:cNvGrpSpPr>
          <p:nvPr/>
        </p:nvGrpSpPr>
        <p:grpSpPr bwMode="auto">
          <a:xfrm>
            <a:off x="7524750" y="5157788"/>
            <a:ext cx="1295400" cy="914400"/>
            <a:chOff x="1440" y="2544"/>
            <a:chExt cx="816" cy="576"/>
          </a:xfrm>
        </p:grpSpPr>
        <p:grpSp>
          <p:nvGrpSpPr>
            <p:cNvPr id="78856" name="Group 15"/>
            <p:cNvGrpSpPr>
              <a:grpSpLocks/>
            </p:cNvGrpSpPr>
            <p:nvPr/>
          </p:nvGrpSpPr>
          <p:grpSpPr bwMode="auto">
            <a:xfrm>
              <a:off x="1440" y="2544"/>
              <a:ext cx="816" cy="576"/>
              <a:chOff x="240" y="2544"/>
              <a:chExt cx="816" cy="576"/>
            </a:xfrm>
          </p:grpSpPr>
          <p:sp>
            <p:nvSpPr>
              <p:cNvPr id="78858" name="Line 16"/>
              <p:cNvSpPr>
                <a:spLocks noChangeShapeType="1"/>
              </p:cNvSpPr>
              <p:nvPr/>
            </p:nvSpPr>
            <p:spPr bwMode="auto">
              <a:xfrm>
                <a:off x="240" y="2544"/>
                <a:ext cx="0" cy="5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59" name="Line 17"/>
              <p:cNvSpPr>
                <a:spLocks noChangeShapeType="1"/>
              </p:cNvSpPr>
              <p:nvPr/>
            </p:nvSpPr>
            <p:spPr bwMode="auto">
              <a:xfrm>
                <a:off x="1056" y="2544"/>
                <a:ext cx="0" cy="57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60" name="Line 18"/>
              <p:cNvSpPr>
                <a:spLocks noChangeShapeType="1"/>
              </p:cNvSpPr>
              <p:nvPr/>
            </p:nvSpPr>
            <p:spPr bwMode="auto">
              <a:xfrm>
                <a:off x="240" y="3120"/>
                <a:ext cx="816" cy="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61" name="Line 19"/>
              <p:cNvSpPr>
                <a:spLocks noChangeShapeType="1"/>
              </p:cNvSpPr>
              <p:nvPr/>
            </p:nvSpPr>
            <p:spPr bwMode="auto">
              <a:xfrm flipV="1">
                <a:off x="240" y="2880"/>
                <a:ext cx="384"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62" name="Line 20"/>
              <p:cNvSpPr>
                <a:spLocks noChangeShapeType="1"/>
              </p:cNvSpPr>
              <p:nvPr/>
            </p:nvSpPr>
            <p:spPr bwMode="auto">
              <a:xfrm flipH="1" flipV="1">
                <a:off x="624" y="2880"/>
                <a:ext cx="432" cy="24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63" name="Line 21"/>
              <p:cNvSpPr>
                <a:spLocks noChangeShapeType="1"/>
              </p:cNvSpPr>
              <p:nvPr/>
            </p:nvSpPr>
            <p:spPr bwMode="auto">
              <a:xfrm>
                <a:off x="240" y="2544"/>
                <a:ext cx="384" cy="3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78864" name="Line 22"/>
              <p:cNvSpPr>
                <a:spLocks noChangeShapeType="1"/>
              </p:cNvSpPr>
              <p:nvPr/>
            </p:nvSpPr>
            <p:spPr bwMode="auto">
              <a:xfrm flipH="1">
                <a:off x="624" y="2544"/>
                <a:ext cx="432" cy="33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78857" name="Line 23"/>
            <p:cNvSpPr>
              <a:spLocks noChangeShapeType="1"/>
            </p:cNvSpPr>
            <p:nvPr/>
          </p:nvSpPr>
          <p:spPr bwMode="auto">
            <a:xfrm>
              <a:off x="1440" y="2544"/>
              <a:ext cx="816" cy="0"/>
            </a:xfrm>
            <a:prstGeom prst="line">
              <a:avLst/>
            </a:prstGeom>
            <a:noFill/>
            <a:ln w="25400">
              <a:solidFill>
                <a:srgbClr val="FF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78855" name="Rectangle 26"/>
          <p:cNvSpPr>
            <a:spLocks noChangeArrowheads="1"/>
          </p:cNvSpPr>
          <p:nvPr/>
        </p:nvSpPr>
        <p:spPr bwMode="auto">
          <a:xfrm>
            <a:off x="1044575" y="350838"/>
            <a:ext cx="525621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sz="3200" b="1">
                <a:solidFill>
                  <a:srgbClr val="993300"/>
                </a:solidFill>
                <a:latin typeface="Times New Roman" pitchFamily="18" charset="0"/>
                <a:ea typeface="楷体_GB2312" pitchFamily="49" charset="-122"/>
              </a:rPr>
              <a:t>二、平面图判定定理</a:t>
            </a:r>
          </a:p>
        </p:txBody>
      </p:sp>
    </p:spTree>
    <p:extLst>
      <p:ext uri="{BB962C8B-B14F-4D97-AF65-F5344CB8AC3E}">
        <p14:creationId xmlns:p14="http://schemas.microsoft.com/office/powerpoint/2010/main" val="2937446789"/>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9394">
                                            <p:txEl>
                                              <p:pRg st="0" end="0"/>
                                            </p:txEl>
                                          </p:spTgt>
                                        </p:tgtEl>
                                        <p:attrNameLst>
                                          <p:attrName>style.visibility</p:attrName>
                                        </p:attrNameLst>
                                      </p:cBhvr>
                                      <p:to>
                                        <p:strVal val="visible"/>
                                      </p:to>
                                    </p:set>
                                    <p:anim calcmode="lin" valueType="num">
                                      <p:cBhvr additive="base">
                                        <p:cTn id="7" dur="500" fill="hold"/>
                                        <p:tgtEl>
                                          <p:spTgt spid="5939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939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9394">
                                            <p:txEl>
                                              <p:pRg st="1" end="1"/>
                                            </p:txEl>
                                          </p:spTgt>
                                        </p:tgtEl>
                                        <p:attrNameLst>
                                          <p:attrName>style.visibility</p:attrName>
                                        </p:attrNameLst>
                                      </p:cBhvr>
                                      <p:to>
                                        <p:strVal val="visible"/>
                                      </p:to>
                                    </p:set>
                                    <p:anim calcmode="lin" valueType="num">
                                      <p:cBhvr additive="base">
                                        <p:cTn id="13" dur="500" fill="hold"/>
                                        <p:tgtEl>
                                          <p:spTgt spid="5939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939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9394">
                                            <p:txEl>
                                              <p:pRg st="2" end="2"/>
                                            </p:txEl>
                                          </p:spTgt>
                                        </p:tgtEl>
                                        <p:attrNameLst>
                                          <p:attrName>style.visibility</p:attrName>
                                        </p:attrNameLst>
                                      </p:cBhvr>
                                      <p:to>
                                        <p:strVal val="visible"/>
                                      </p:to>
                                    </p:set>
                                    <p:anim calcmode="lin" valueType="num">
                                      <p:cBhvr additive="base">
                                        <p:cTn id="19" dur="500" fill="hold"/>
                                        <p:tgtEl>
                                          <p:spTgt spid="5939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939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9394">
                                            <p:txEl>
                                              <p:pRg st="3" end="3"/>
                                            </p:txEl>
                                          </p:spTgt>
                                        </p:tgtEl>
                                        <p:attrNameLst>
                                          <p:attrName>style.visibility</p:attrName>
                                        </p:attrNameLst>
                                      </p:cBhvr>
                                      <p:to>
                                        <p:strVal val="visible"/>
                                      </p:to>
                                    </p:set>
                                    <p:anim calcmode="lin" valueType="num">
                                      <p:cBhvr additive="base">
                                        <p:cTn id="25" dur="500" fill="hold"/>
                                        <p:tgtEl>
                                          <p:spTgt spid="5939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939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9394">
                                            <p:txEl>
                                              <p:pRg st="4" end="4"/>
                                            </p:txEl>
                                          </p:spTgt>
                                        </p:tgtEl>
                                        <p:attrNameLst>
                                          <p:attrName>style.visibility</p:attrName>
                                        </p:attrNameLst>
                                      </p:cBhvr>
                                      <p:to>
                                        <p:strVal val="visible"/>
                                      </p:to>
                                    </p:set>
                                    <p:anim calcmode="lin" valueType="num">
                                      <p:cBhvr additive="base">
                                        <p:cTn id="31" dur="500" fill="hold"/>
                                        <p:tgtEl>
                                          <p:spTgt spid="59394">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939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59394">
                                            <p:txEl>
                                              <p:pRg st="5" end="5"/>
                                            </p:txEl>
                                          </p:spTgt>
                                        </p:tgtEl>
                                        <p:attrNameLst>
                                          <p:attrName>style.visibility</p:attrName>
                                        </p:attrNameLst>
                                      </p:cBhvr>
                                      <p:to>
                                        <p:strVal val="visible"/>
                                      </p:to>
                                    </p:set>
                                    <p:anim calcmode="lin" valueType="num">
                                      <p:cBhvr additive="base">
                                        <p:cTn id="37" dur="500" fill="hold"/>
                                        <p:tgtEl>
                                          <p:spTgt spid="59394">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9394">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59396"/>
                                        </p:tgtEl>
                                        <p:attrNameLst>
                                          <p:attrName>style.visibility</p:attrName>
                                        </p:attrNameLst>
                                      </p:cBhvr>
                                      <p:to>
                                        <p:strVal val="visible"/>
                                      </p:to>
                                    </p:set>
                                    <p:anim calcmode="lin" valueType="num">
                                      <p:cBhvr additive="base">
                                        <p:cTn id="43" dur="500" fill="hold"/>
                                        <p:tgtEl>
                                          <p:spTgt spid="59396"/>
                                        </p:tgtEl>
                                        <p:attrNameLst>
                                          <p:attrName>ppt_x</p:attrName>
                                        </p:attrNameLst>
                                      </p:cBhvr>
                                      <p:tavLst>
                                        <p:tav tm="0">
                                          <p:val>
                                            <p:strVal val="#ppt_x"/>
                                          </p:val>
                                        </p:tav>
                                        <p:tav tm="100000">
                                          <p:val>
                                            <p:strVal val="#ppt_x"/>
                                          </p:val>
                                        </p:tav>
                                      </p:tavLst>
                                    </p:anim>
                                    <p:anim calcmode="lin" valueType="num">
                                      <p:cBhvr additive="base">
                                        <p:cTn id="44" dur="500" fill="hold"/>
                                        <p:tgtEl>
                                          <p:spTgt spid="59396"/>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59394">
                                            <p:txEl>
                                              <p:pRg st="6" end="6"/>
                                            </p:txEl>
                                          </p:spTgt>
                                        </p:tgtEl>
                                        <p:attrNameLst>
                                          <p:attrName>style.visibility</p:attrName>
                                        </p:attrNameLst>
                                      </p:cBhvr>
                                      <p:to>
                                        <p:strVal val="visible"/>
                                      </p:to>
                                    </p:set>
                                    <p:anim calcmode="lin" valueType="num">
                                      <p:cBhvr additive="base">
                                        <p:cTn id="49" dur="500" fill="hold"/>
                                        <p:tgtEl>
                                          <p:spTgt spid="59394">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5939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59406"/>
                                        </p:tgtEl>
                                        <p:attrNameLst>
                                          <p:attrName>style.visibility</p:attrName>
                                        </p:attrNameLst>
                                      </p:cBhvr>
                                      <p:to>
                                        <p:strVal val="visible"/>
                                      </p:to>
                                    </p:set>
                                    <p:anim calcmode="lin" valueType="num">
                                      <p:cBhvr additive="base">
                                        <p:cTn id="55" dur="500" fill="hold"/>
                                        <p:tgtEl>
                                          <p:spTgt spid="59406"/>
                                        </p:tgtEl>
                                        <p:attrNameLst>
                                          <p:attrName>ppt_x</p:attrName>
                                        </p:attrNameLst>
                                      </p:cBhvr>
                                      <p:tavLst>
                                        <p:tav tm="0">
                                          <p:val>
                                            <p:strVal val="#ppt_x"/>
                                          </p:val>
                                        </p:tav>
                                        <p:tav tm="100000">
                                          <p:val>
                                            <p:strVal val="#ppt_x"/>
                                          </p:val>
                                        </p:tav>
                                      </p:tavLst>
                                    </p:anim>
                                    <p:anim calcmode="lin" valueType="num">
                                      <p:cBhvr additive="base">
                                        <p:cTn id="56" dur="500" fill="hold"/>
                                        <p:tgtEl>
                                          <p:spTgt spid="594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pPr>
              <a:defRPr/>
            </a:pPr>
            <a:fld id="{B62715DE-7796-4AE0-963E-855F6B546FF5}" type="slidenum">
              <a:rPr lang="en-US" altLang="zh-CN"/>
              <a:pPr>
                <a:defRPr/>
              </a:pPr>
              <a:t>78</a:t>
            </a:fld>
            <a:endParaRPr lang="en-US" altLang="zh-CN"/>
          </a:p>
        </p:txBody>
      </p:sp>
      <p:sp>
        <p:nvSpPr>
          <p:cNvPr id="79875" name="Text Box 3"/>
          <p:cNvSpPr txBox="1">
            <a:spLocks noChangeArrowheads="1"/>
          </p:cNvSpPr>
          <p:nvPr/>
        </p:nvSpPr>
        <p:spPr bwMode="auto">
          <a:xfrm>
            <a:off x="466725" y="1063625"/>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7-5.3</a:t>
            </a:r>
            <a:r>
              <a:rPr kumimoji="1" lang="zh-CN" altLang="en-US" b="1">
                <a:solidFill>
                  <a:srgbClr val="0000CC"/>
                </a:solidFill>
                <a:latin typeface="Times New Roman" pitchFamily="18" charset="0"/>
              </a:rPr>
              <a:t>：</a:t>
            </a:r>
            <a:r>
              <a:rPr kumimoji="1" lang="zh-CN" altLang="en-US" b="1">
                <a:latin typeface="Times New Roman" pitchFamily="18" charset="0"/>
              </a:rPr>
              <a:t>设</a:t>
            </a:r>
            <a:r>
              <a:rPr kumimoji="1" lang="en-US" altLang="zh-CN" b="1">
                <a:latin typeface="Times New Roman" pitchFamily="18" charset="0"/>
              </a:rPr>
              <a:t>G</a:t>
            </a:r>
            <a:r>
              <a:rPr kumimoji="1" lang="zh-CN" altLang="en-US" b="1">
                <a:latin typeface="Times New Roman" pitchFamily="18" charset="0"/>
              </a:rPr>
              <a:t>是一个有</a:t>
            </a:r>
            <a:r>
              <a:rPr kumimoji="1" lang="en-US" altLang="zh-CN" b="1">
                <a:latin typeface="Times New Roman" pitchFamily="18" charset="0"/>
              </a:rPr>
              <a:t>v</a:t>
            </a:r>
            <a:r>
              <a:rPr kumimoji="1" lang="zh-CN" altLang="en-US" b="1">
                <a:latin typeface="Times New Roman" pitchFamily="18" charset="0"/>
              </a:rPr>
              <a:t>个结点</a:t>
            </a:r>
            <a:r>
              <a:rPr kumimoji="1" lang="en-US" altLang="zh-CN" b="1">
                <a:latin typeface="Times New Roman" pitchFamily="18" charset="0"/>
              </a:rPr>
              <a:t>e</a:t>
            </a:r>
            <a:r>
              <a:rPr kumimoji="1" lang="zh-CN" altLang="en-US" b="1">
                <a:latin typeface="Times New Roman" pitchFamily="18" charset="0"/>
              </a:rPr>
              <a:t>条边的连通简单平面图，若</a:t>
            </a:r>
            <a:r>
              <a:rPr kumimoji="1" lang="en-US" altLang="zh-CN" b="1">
                <a:latin typeface="Times New Roman" pitchFamily="18" charset="0"/>
              </a:rPr>
              <a:t>v≥3</a:t>
            </a:r>
            <a:r>
              <a:rPr kumimoji="1" lang="zh-CN" altLang="en-US" b="1">
                <a:latin typeface="Times New Roman" pitchFamily="18" charset="0"/>
              </a:rPr>
              <a:t>，则</a:t>
            </a:r>
            <a:r>
              <a:rPr kumimoji="1" lang="en-US" altLang="zh-CN" b="1">
                <a:latin typeface="Times New Roman" pitchFamily="18" charset="0"/>
              </a:rPr>
              <a:t>e≤3v-6</a:t>
            </a:r>
          </a:p>
        </p:txBody>
      </p:sp>
      <p:sp>
        <p:nvSpPr>
          <p:cNvPr id="60434" name="Rectangle 18"/>
          <p:cNvSpPr>
            <a:spLocks noChangeArrowheads="1"/>
          </p:cNvSpPr>
          <p:nvPr/>
        </p:nvSpPr>
        <p:spPr bwMode="auto">
          <a:xfrm>
            <a:off x="466724" y="2492896"/>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hlink"/>
              </a:buClr>
              <a:buFont typeface="Wingdings" pitchFamily="2" charset="2"/>
              <a:buChar char="Ø"/>
            </a:pPr>
            <a:r>
              <a:rPr kumimoji="1" lang="zh-CN" altLang="en-US" b="1" dirty="0">
                <a:latin typeface="Times New Roman" pitchFamily="18" charset="0"/>
              </a:rPr>
              <a:t>上述两定理给出了判断平面图的必要条件，若不满足这些条件，可以判断某些图就不是平面图。 </a:t>
            </a:r>
          </a:p>
        </p:txBody>
      </p:sp>
    </p:spTree>
    <p:extLst>
      <p:ext uri="{BB962C8B-B14F-4D97-AF65-F5344CB8AC3E}">
        <p14:creationId xmlns:p14="http://schemas.microsoft.com/office/powerpoint/2010/main" val="3982279701"/>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434"/>
                                        </p:tgtEl>
                                        <p:attrNameLst>
                                          <p:attrName>style.visibility</p:attrName>
                                        </p:attrNameLst>
                                      </p:cBhvr>
                                      <p:to>
                                        <p:strVal val="visible"/>
                                      </p:to>
                                    </p:set>
                                    <p:anim calcmode="lin" valueType="num">
                                      <p:cBhvr additive="base">
                                        <p:cTn id="7" dur="500" fill="hold"/>
                                        <p:tgtEl>
                                          <p:spTgt spid="60434"/>
                                        </p:tgtEl>
                                        <p:attrNameLst>
                                          <p:attrName>ppt_x</p:attrName>
                                        </p:attrNameLst>
                                      </p:cBhvr>
                                      <p:tavLst>
                                        <p:tav tm="0">
                                          <p:val>
                                            <p:strVal val="#ppt_x"/>
                                          </p:val>
                                        </p:tav>
                                        <p:tav tm="100000">
                                          <p:val>
                                            <p:strVal val="#ppt_x"/>
                                          </p:val>
                                        </p:tav>
                                      </p:tavLst>
                                    </p:anim>
                                    <p:anim calcmode="lin" valueType="num">
                                      <p:cBhvr additive="base">
                                        <p:cTn id="8" dur="500" fill="hold"/>
                                        <p:tgtEl>
                                          <p:spTgt spid="6043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3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2"/>
          <p:cNvSpPr>
            <a:spLocks noGrp="1"/>
          </p:cNvSpPr>
          <p:nvPr>
            <p:ph type="sldNum" sz="quarter" idx="11"/>
          </p:nvPr>
        </p:nvSpPr>
        <p:spPr/>
        <p:txBody>
          <a:bodyPr/>
          <a:lstStyle/>
          <a:p>
            <a:pPr>
              <a:defRPr/>
            </a:pPr>
            <a:fld id="{146CF7D0-71D7-4DB1-B86C-1C668412024B}" type="slidenum">
              <a:rPr lang="en-US" altLang="zh-CN"/>
              <a:pPr>
                <a:defRPr/>
              </a:pPr>
              <a:t>79</a:t>
            </a:fld>
            <a:endParaRPr lang="en-US" altLang="zh-CN"/>
          </a:p>
        </p:txBody>
      </p:sp>
      <p:grpSp>
        <p:nvGrpSpPr>
          <p:cNvPr id="80900" name="Group 18"/>
          <p:cNvGrpSpPr>
            <a:grpSpLocks/>
          </p:cNvGrpSpPr>
          <p:nvPr/>
        </p:nvGrpSpPr>
        <p:grpSpPr bwMode="auto">
          <a:xfrm>
            <a:off x="5003800" y="1628775"/>
            <a:ext cx="2438400" cy="1941513"/>
            <a:chOff x="1616" y="1028"/>
            <a:chExt cx="1536" cy="1223"/>
          </a:xfrm>
        </p:grpSpPr>
        <p:sp>
          <p:nvSpPr>
            <p:cNvPr id="80913" name="Line 7"/>
            <p:cNvSpPr>
              <a:spLocks noChangeShapeType="1"/>
            </p:cNvSpPr>
            <p:nvPr/>
          </p:nvSpPr>
          <p:spPr bwMode="auto">
            <a:xfrm>
              <a:off x="1751" y="1331"/>
              <a:ext cx="0" cy="7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914" name="Line 8"/>
            <p:cNvSpPr>
              <a:spLocks noChangeShapeType="1"/>
            </p:cNvSpPr>
            <p:nvPr/>
          </p:nvSpPr>
          <p:spPr bwMode="auto">
            <a:xfrm>
              <a:off x="1751" y="1331"/>
              <a:ext cx="566" cy="7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915" name="Line 9"/>
            <p:cNvSpPr>
              <a:spLocks noChangeShapeType="1"/>
            </p:cNvSpPr>
            <p:nvPr/>
          </p:nvSpPr>
          <p:spPr bwMode="auto">
            <a:xfrm flipV="1">
              <a:off x="2317" y="1331"/>
              <a:ext cx="0" cy="7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916" name="Line 10"/>
            <p:cNvSpPr>
              <a:spLocks noChangeShapeType="1"/>
            </p:cNvSpPr>
            <p:nvPr/>
          </p:nvSpPr>
          <p:spPr bwMode="auto">
            <a:xfrm>
              <a:off x="2317" y="1331"/>
              <a:ext cx="566" cy="7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917" name="Line 11"/>
            <p:cNvSpPr>
              <a:spLocks noChangeShapeType="1"/>
            </p:cNvSpPr>
            <p:nvPr/>
          </p:nvSpPr>
          <p:spPr bwMode="auto">
            <a:xfrm flipV="1">
              <a:off x="2883" y="1331"/>
              <a:ext cx="0" cy="7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918" name="Line 12"/>
            <p:cNvSpPr>
              <a:spLocks noChangeShapeType="1"/>
            </p:cNvSpPr>
            <p:nvPr/>
          </p:nvSpPr>
          <p:spPr bwMode="auto">
            <a:xfrm flipH="1">
              <a:off x="2317" y="1331"/>
              <a:ext cx="566" cy="7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919" name="Line 13"/>
            <p:cNvSpPr>
              <a:spLocks noChangeShapeType="1"/>
            </p:cNvSpPr>
            <p:nvPr/>
          </p:nvSpPr>
          <p:spPr bwMode="auto">
            <a:xfrm flipH="1">
              <a:off x="1751" y="1331"/>
              <a:ext cx="566" cy="72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920" name="Text Box 14"/>
            <p:cNvSpPr txBox="1">
              <a:spLocks noChangeArrowheads="1"/>
            </p:cNvSpPr>
            <p:nvPr/>
          </p:nvSpPr>
          <p:spPr bwMode="auto">
            <a:xfrm>
              <a:off x="1616" y="1028"/>
              <a:ext cx="15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FF3300"/>
                  </a:solidFill>
                  <a:latin typeface="Times New Roman" pitchFamily="18" charset="0"/>
                </a:rPr>
                <a:t>v</a:t>
              </a:r>
              <a:r>
                <a:rPr kumimoji="1" lang="en-US" altLang="zh-CN" b="1" baseline="-25000">
                  <a:solidFill>
                    <a:srgbClr val="FF3300"/>
                  </a:solidFill>
                  <a:latin typeface="Times New Roman" pitchFamily="18" charset="0"/>
                </a:rPr>
                <a:t>1</a:t>
              </a:r>
              <a:r>
                <a:rPr kumimoji="1" lang="en-US" altLang="zh-CN" b="1">
                  <a:solidFill>
                    <a:srgbClr val="FF3300"/>
                  </a:solidFill>
                  <a:latin typeface="Times New Roman" pitchFamily="18" charset="0"/>
                </a:rPr>
                <a:t>         v</a:t>
              </a:r>
              <a:r>
                <a:rPr kumimoji="1" lang="en-US" altLang="zh-CN" b="1" baseline="-25000">
                  <a:solidFill>
                    <a:srgbClr val="FF3300"/>
                  </a:solidFill>
                  <a:latin typeface="Times New Roman" pitchFamily="18" charset="0"/>
                </a:rPr>
                <a:t>2</a:t>
              </a:r>
              <a:r>
                <a:rPr kumimoji="1" lang="en-US" altLang="zh-CN" b="1">
                  <a:solidFill>
                    <a:srgbClr val="FF3300"/>
                  </a:solidFill>
                  <a:latin typeface="Times New Roman" pitchFamily="18" charset="0"/>
                </a:rPr>
                <a:t>       v</a:t>
              </a:r>
              <a:r>
                <a:rPr kumimoji="1" lang="en-US" altLang="zh-CN" b="1" baseline="-25000">
                  <a:solidFill>
                    <a:srgbClr val="FF3300"/>
                  </a:solidFill>
                  <a:latin typeface="Times New Roman" pitchFamily="18" charset="0"/>
                </a:rPr>
                <a:t>3</a:t>
              </a:r>
            </a:p>
          </p:txBody>
        </p:sp>
        <p:sp>
          <p:nvSpPr>
            <p:cNvPr id="80921" name="Text Box 15"/>
            <p:cNvSpPr txBox="1">
              <a:spLocks noChangeArrowheads="1"/>
            </p:cNvSpPr>
            <p:nvPr/>
          </p:nvSpPr>
          <p:spPr bwMode="auto">
            <a:xfrm>
              <a:off x="1616" y="1963"/>
              <a:ext cx="153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b="1">
                  <a:solidFill>
                    <a:srgbClr val="FF3300"/>
                  </a:solidFill>
                  <a:latin typeface="Times New Roman" pitchFamily="18" charset="0"/>
                </a:rPr>
                <a:t>v</a:t>
              </a:r>
              <a:r>
                <a:rPr kumimoji="1" lang="en-US" altLang="zh-CN" b="1" baseline="-25000">
                  <a:solidFill>
                    <a:srgbClr val="FF3300"/>
                  </a:solidFill>
                  <a:latin typeface="Times New Roman" pitchFamily="18" charset="0"/>
                </a:rPr>
                <a:t>4</a:t>
              </a:r>
              <a:r>
                <a:rPr kumimoji="1" lang="en-US" altLang="zh-CN" b="1">
                  <a:solidFill>
                    <a:srgbClr val="FF3300"/>
                  </a:solidFill>
                  <a:latin typeface="Times New Roman" pitchFamily="18" charset="0"/>
                </a:rPr>
                <a:t>         v</a:t>
              </a:r>
              <a:r>
                <a:rPr kumimoji="1" lang="en-US" altLang="zh-CN" b="1" baseline="-25000">
                  <a:solidFill>
                    <a:srgbClr val="FF3300"/>
                  </a:solidFill>
                  <a:latin typeface="Times New Roman" pitchFamily="18" charset="0"/>
                </a:rPr>
                <a:t>5</a:t>
              </a:r>
              <a:r>
                <a:rPr kumimoji="1" lang="en-US" altLang="zh-CN" b="1">
                  <a:solidFill>
                    <a:srgbClr val="FF3300"/>
                  </a:solidFill>
                  <a:latin typeface="Times New Roman" pitchFamily="18" charset="0"/>
                </a:rPr>
                <a:t>        v</a:t>
              </a:r>
              <a:r>
                <a:rPr kumimoji="1" lang="en-US" altLang="zh-CN" b="1" baseline="-25000">
                  <a:solidFill>
                    <a:srgbClr val="FF3300"/>
                  </a:solidFill>
                  <a:latin typeface="Times New Roman" pitchFamily="18" charset="0"/>
                </a:rPr>
                <a:t>6</a:t>
              </a:r>
            </a:p>
          </p:txBody>
        </p:sp>
        <p:sp>
          <p:nvSpPr>
            <p:cNvPr id="80922" name="Line 16"/>
            <p:cNvSpPr>
              <a:spLocks noChangeShapeType="1"/>
            </p:cNvSpPr>
            <p:nvPr/>
          </p:nvSpPr>
          <p:spPr bwMode="auto">
            <a:xfrm>
              <a:off x="1743" y="1321"/>
              <a:ext cx="1134" cy="725"/>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0923" name="Line 17"/>
            <p:cNvSpPr>
              <a:spLocks noChangeShapeType="1"/>
            </p:cNvSpPr>
            <p:nvPr/>
          </p:nvSpPr>
          <p:spPr bwMode="auto">
            <a:xfrm flipH="1">
              <a:off x="1743" y="1366"/>
              <a:ext cx="1134" cy="680"/>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grpSp>
        <p:nvGrpSpPr>
          <p:cNvPr id="80901" name="Group 19"/>
          <p:cNvGrpSpPr>
            <a:grpSpLocks/>
          </p:cNvGrpSpPr>
          <p:nvPr/>
        </p:nvGrpSpPr>
        <p:grpSpPr bwMode="auto">
          <a:xfrm>
            <a:off x="1331913" y="1916113"/>
            <a:ext cx="1905000" cy="1371600"/>
            <a:chOff x="3960" y="5184"/>
            <a:chExt cx="1980" cy="1404"/>
          </a:xfrm>
        </p:grpSpPr>
        <p:sp>
          <p:nvSpPr>
            <p:cNvPr id="80903" name="Line 20"/>
            <p:cNvSpPr>
              <a:spLocks noChangeShapeType="1"/>
            </p:cNvSpPr>
            <p:nvPr/>
          </p:nvSpPr>
          <p:spPr bwMode="auto">
            <a:xfrm flipH="1">
              <a:off x="3960" y="5184"/>
              <a:ext cx="900" cy="14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4" name="Line 21"/>
            <p:cNvSpPr>
              <a:spLocks noChangeShapeType="1"/>
            </p:cNvSpPr>
            <p:nvPr/>
          </p:nvSpPr>
          <p:spPr bwMode="auto">
            <a:xfrm>
              <a:off x="4860" y="5184"/>
              <a:ext cx="720" cy="14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5" name="Line 22"/>
            <p:cNvSpPr>
              <a:spLocks noChangeShapeType="1"/>
            </p:cNvSpPr>
            <p:nvPr/>
          </p:nvSpPr>
          <p:spPr bwMode="auto">
            <a:xfrm>
              <a:off x="3960" y="5652"/>
              <a:ext cx="19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6" name="Line 23"/>
            <p:cNvSpPr>
              <a:spLocks noChangeShapeType="1"/>
            </p:cNvSpPr>
            <p:nvPr/>
          </p:nvSpPr>
          <p:spPr bwMode="auto">
            <a:xfrm flipH="1">
              <a:off x="3960" y="5652"/>
              <a:ext cx="1980"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7" name="Line 24"/>
            <p:cNvSpPr>
              <a:spLocks noChangeShapeType="1"/>
            </p:cNvSpPr>
            <p:nvPr/>
          </p:nvSpPr>
          <p:spPr bwMode="auto">
            <a:xfrm>
              <a:off x="3960" y="5652"/>
              <a:ext cx="1620"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8" name="Line 25"/>
            <p:cNvSpPr>
              <a:spLocks noChangeShapeType="1"/>
            </p:cNvSpPr>
            <p:nvPr/>
          </p:nvSpPr>
          <p:spPr bwMode="auto">
            <a:xfrm flipH="1">
              <a:off x="3960" y="5184"/>
              <a:ext cx="900" cy="4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09" name="Line 26"/>
            <p:cNvSpPr>
              <a:spLocks noChangeShapeType="1"/>
            </p:cNvSpPr>
            <p:nvPr/>
          </p:nvSpPr>
          <p:spPr bwMode="auto">
            <a:xfrm>
              <a:off x="3960" y="5652"/>
              <a:ext cx="0"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0" name="Line 27"/>
            <p:cNvSpPr>
              <a:spLocks noChangeShapeType="1"/>
            </p:cNvSpPr>
            <p:nvPr/>
          </p:nvSpPr>
          <p:spPr bwMode="auto">
            <a:xfrm>
              <a:off x="3960" y="6588"/>
              <a:ext cx="16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1" name="Line 28"/>
            <p:cNvSpPr>
              <a:spLocks noChangeShapeType="1"/>
            </p:cNvSpPr>
            <p:nvPr/>
          </p:nvSpPr>
          <p:spPr bwMode="auto">
            <a:xfrm flipV="1">
              <a:off x="5580" y="5652"/>
              <a:ext cx="360"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912" name="Line 29"/>
            <p:cNvSpPr>
              <a:spLocks noChangeShapeType="1"/>
            </p:cNvSpPr>
            <p:nvPr/>
          </p:nvSpPr>
          <p:spPr bwMode="auto">
            <a:xfrm flipH="1" flipV="1">
              <a:off x="4860" y="5184"/>
              <a:ext cx="1080" cy="4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0902" name="Text Box 30"/>
          <p:cNvSpPr txBox="1">
            <a:spLocks noChangeArrowheads="1"/>
          </p:cNvSpPr>
          <p:nvPr/>
        </p:nvSpPr>
        <p:spPr bwMode="auto">
          <a:xfrm>
            <a:off x="468313" y="1206500"/>
            <a:ext cx="8277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chemeClr val="hlink"/>
                </a:solidFill>
                <a:latin typeface="Times New Roman" pitchFamily="18" charset="0"/>
              </a:rPr>
              <a:t>例：</a:t>
            </a:r>
            <a:r>
              <a:rPr kumimoji="1" lang="zh-CN" altLang="en-US" b="1">
                <a:latin typeface="Times New Roman" pitchFamily="18" charset="0"/>
              </a:rPr>
              <a:t>判断</a:t>
            </a:r>
            <a:r>
              <a:rPr kumimoji="1" lang="en-US" altLang="zh-CN" b="1">
                <a:latin typeface="Times New Roman" pitchFamily="18" charset="0"/>
              </a:rPr>
              <a:t>K</a:t>
            </a:r>
            <a:r>
              <a:rPr kumimoji="1" lang="en-US" altLang="zh-CN" b="1" baseline="-25000">
                <a:latin typeface="Times New Roman" pitchFamily="18" charset="0"/>
              </a:rPr>
              <a:t>5</a:t>
            </a:r>
            <a:r>
              <a:rPr kumimoji="1" lang="zh-CN" altLang="en-US" b="1">
                <a:latin typeface="Times New Roman" pitchFamily="18" charset="0"/>
              </a:rPr>
              <a:t>和</a:t>
            </a:r>
            <a:r>
              <a:rPr kumimoji="1" lang="en-US" altLang="zh-CN" b="1">
                <a:latin typeface="Times New Roman" pitchFamily="18" charset="0"/>
              </a:rPr>
              <a:t>K</a:t>
            </a:r>
            <a:r>
              <a:rPr kumimoji="1" lang="en-US" altLang="zh-CN" b="1" baseline="-25000">
                <a:latin typeface="Times New Roman" pitchFamily="18" charset="0"/>
              </a:rPr>
              <a:t>3,3</a:t>
            </a:r>
            <a:r>
              <a:rPr kumimoji="1" lang="zh-CN" altLang="en-US" b="1">
                <a:latin typeface="Times New Roman" pitchFamily="18" charset="0"/>
              </a:rPr>
              <a:t>（二分图）是否平面图</a:t>
            </a:r>
          </a:p>
        </p:txBody>
      </p:sp>
    </p:spTree>
    <p:extLst>
      <p:ext uri="{BB962C8B-B14F-4D97-AF65-F5344CB8AC3E}">
        <p14:creationId xmlns:p14="http://schemas.microsoft.com/office/powerpoint/2010/main" val="3448188966"/>
      </p:ext>
    </p:extLst>
  </p:cSld>
  <p:clrMapOvr>
    <a:masterClrMapping/>
  </p:clrMapOvr>
  <p:transition spd="slow">
    <p:random/>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灯片编号占位符 2"/>
          <p:cNvSpPr>
            <a:spLocks noGrp="1"/>
          </p:cNvSpPr>
          <p:nvPr>
            <p:ph type="sldNum" sz="quarter" idx="11"/>
          </p:nvPr>
        </p:nvSpPr>
        <p:spPr/>
        <p:txBody>
          <a:bodyPr/>
          <a:lstStyle/>
          <a:p>
            <a:pPr>
              <a:defRPr/>
            </a:pPr>
            <a:fld id="{A6ADB44B-63B8-4D61-A270-EDF07AACC070}" type="slidenum">
              <a:rPr lang="en-US" altLang="zh-CN"/>
              <a:pPr>
                <a:defRPr/>
              </a:pPr>
              <a:t>80</a:t>
            </a:fld>
            <a:endParaRPr lang="en-US" altLang="zh-CN"/>
          </a:p>
        </p:txBody>
      </p:sp>
      <p:sp>
        <p:nvSpPr>
          <p:cNvPr id="81923" name="Text Box 2"/>
          <p:cNvSpPr txBox="1">
            <a:spLocks noChangeArrowheads="1"/>
          </p:cNvSpPr>
          <p:nvPr/>
        </p:nvSpPr>
        <p:spPr bwMode="auto">
          <a:xfrm>
            <a:off x="468313" y="981075"/>
            <a:ext cx="8277225" cy="2192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en-US" altLang="zh-CN" sz="2800" b="1">
                <a:solidFill>
                  <a:srgbClr val="993300"/>
                </a:solidFill>
                <a:latin typeface="楷体_GB2312" pitchFamily="49" charset="-122"/>
                <a:ea typeface="楷体_GB2312" pitchFamily="49" charset="-122"/>
              </a:rPr>
              <a:t>2</a:t>
            </a:r>
            <a:r>
              <a:rPr kumimoji="1" lang="zh-CN" altLang="en-US" sz="2800" b="1">
                <a:solidFill>
                  <a:srgbClr val="993300"/>
                </a:solidFill>
                <a:latin typeface="楷体_GB2312" pitchFamily="49" charset="-122"/>
                <a:ea typeface="楷体_GB2312" pitchFamily="49" charset="-122"/>
              </a:rPr>
              <a:t>、库拉托夫斯基定理</a:t>
            </a:r>
          </a:p>
          <a:p>
            <a:pPr algn="just" eaLnBrk="1" hangingPunct="1">
              <a:lnSpc>
                <a:spcPct val="130000"/>
              </a:lnSpc>
            </a:pPr>
            <a:r>
              <a:rPr kumimoji="1" lang="zh-CN" altLang="en-US" b="1">
                <a:latin typeface="Times New Roman" pitchFamily="18" charset="0"/>
              </a:rPr>
              <a:t>作处理： 消去</a:t>
            </a:r>
            <a:r>
              <a:rPr kumimoji="1" lang="en-US" altLang="zh-CN" b="1">
                <a:latin typeface="Times New Roman" pitchFamily="18" charset="0"/>
              </a:rPr>
              <a:t>2</a:t>
            </a:r>
            <a:r>
              <a:rPr kumimoji="1" lang="zh-CN" altLang="en-US" b="1">
                <a:latin typeface="Times New Roman" pitchFamily="18" charset="0"/>
              </a:rPr>
              <a:t>度结点            插入</a:t>
            </a:r>
            <a:r>
              <a:rPr kumimoji="1" lang="en-US" altLang="zh-CN" b="1">
                <a:latin typeface="Times New Roman" pitchFamily="18" charset="0"/>
              </a:rPr>
              <a:t>2</a:t>
            </a:r>
            <a:r>
              <a:rPr kumimoji="1" lang="zh-CN" altLang="en-US" b="1">
                <a:latin typeface="Times New Roman" pitchFamily="18" charset="0"/>
              </a:rPr>
              <a:t>度结点</a:t>
            </a:r>
            <a:r>
              <a:rPr kumimoji="1" lang="zh-CN" altLang="en-US" b="1">
                <a:latin typeface="宋体" pitchFamily="2" charset="-122"/>
              </a:rPr>
              <a:t> </a:t>
            </a:r>
          </a:p>
          <a:p>
            <a:pPr algn="just" eaLnBrk="1" hangingPunct="1">
              <a:lnSpc>
                <a:spcPct val="130000"/>
              </a:lnSpc>
            </a:pPr>
            <a:r>
              <a:rPr kumimoji="1" lang="zh-CN" altLang="en-US" b="1">
                <a:latin typeface="宋体" pitchFamily="2" charset="-122"/>
              </a:rPr>
              <a:t>          </a:t>
            </a:r>
            <a:r>
              <a:rPr kumimoji="1" lang="zh-CN" altLang="en-US" sz="1000" b="1">
                <a:solidFill>
                  <a:srgbClr val="FF3300"/>
                </a:solidFill>
                <a:latin typeface="宋体" pitchFamily="2" charset="-122"/>
              </a:rPr>
              <a:t>●        ●                                         ●         ●</a:t>
            </a:r>
          </a:p>
          <a:p>
            <a:pPr algn="just" eaLnBrk="1" hangingPunct="1">
              <a:lnSpc>
                <a:spcPct val="130000"/>
              </a:lnSpc>
            </a:pPr>
            <a:r>
              <a:rPr kumimoji="1" lang="zh-CN" altLang="en-US" sz="1000" b="1">
                <a:solidFill>
                  <a:srgbClr val="FF3300"/>
                </a:solidFill>
                <a:latin typeface="宋体" pitchFamily="2" charset="-122"/>
              </a:rPr>
              <a:t>                        ●                                                              ●</a:t>
            </a:r>
          </a:p>
          <a:p>
            <a:pPr algn="just" eaLnBrk="1" hangingPunct="1">
              <a:lnSpc>
                <a:spcPct val="130000"/>
              </a:lnSpc>
            </a:pPr>
            <a:r>
              <a:rPr kumimoji="1" lang="zh-CN" altLang="en-US" sz="1000" b="1">
                <a:solidFill>
                  <a:srgbClr val="FF3300"/>
                </a:solidFill>
                <a:latin typeface="宋体" pitchFamily="2" charset="-122"/>
              </a:rPr>
              <a:t>                        </a:t>
            </a:r>
          </a:p>
          <a:p>
            <a:pPr algn="just" eaLnBrk="1" hangingPunct="1">
              <a:lnSpc>
                <a:spcPct val="130000"/>
              </a:lnSpc>
            </a:pPr>
            <a:r>
              <a:rPr kumimoji="1" lang="zh-CN" altLang="en-US" sz="1000" b="1">
                <a:solidFill>
                  <a:srgbClr val="FF3300"/>
                </a:solidFill>
                <a:latin typeface="宋体" pitchFamily="2" charset="-122"/>
              </a:rPr>
              <a:t>                        ●        ●                                         ●         ●                        </a:t>
            </a:r>
          </a:p>
        </p:txBody>
      </p:sp>
      <p:sp>
        <p:nvSpPr>
          <p:cNvPr id="81924" name="Freeform 3"/>
          <p:cNvSpPr>
            <a:spLocks/>
          </p:cNvSpPr>
          <p:nvPr/>
        </p:nvSpPr>
        <p:spPr bwMode="auto">
          <a:xfrm>
            <a:off x="2181225" y="2432050"/>
            <a:ext cx="1588" cy="571500"/>
          </a:xfrm>
          <a:custGeom>
            <a:avLst/>
            <a:gdLst>
              <a:gd name="T0" fmla="*/ 0 w 1"/>
              <a:gd name="T1" fmla="*/ 0 h 360"/>
              <a:gd name="T2" fmla="*/ 0 w 1"/>
              <a:gd name="T3" fmla="*/ 571500 h 360"/>
              <a:gd name="T4" fmla="*/ 0 60000 65536"/>
              <a:gd name="T5" fmla="*/ 0 60000 65536"/>
            </a:gdLst>
            <a:ahLst/>
            <a:cxnLst>
              <a:cxn ang="T4">
                <a:pos x="T0" y="T1"/>
              </a:cxn>
              <a:cxn ang="T5">
                <a:pos x="T2" y="T3"/>
              </a:cxn>
            </a:cxnLst>
            <a:rect l="0" t="0" r="r" b="b"/>
            <a:pathLst>
              <a:path w="1" h="360">
                <a:moveTo>
                  <a:pt x="0" y="0"/>
                </a:moveTo>
                <a:lnTo>
                  <a:pt x="0" y="360"/>
                </a:lnTo>
              </a:path>
            </a:pathLst>
          </a:custGeom>
          <a:noFill/>
          <a:ln w="2540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25" name="Freeform 4"/>
          <p:cNvSpPr>
            <a:spLocks/>
          </p:cNvSpPr>
          <p:nvPr/>
        </p:nvSpPr>
        <p:spPr bwMode="auto">
          <a:xfrm>
            <a:off x="2816225" y="2424113"/>
            <a:ext cx="1588" cy="571500"/>
          </a:xfrm>
          <a:custGeom>
            <a:avLst/>
            <a:gdLst>
              <a:gd name="T0" fmla="*/ 0 w 1"/>
              <a:gd name="T1" fmla="*/ 0 h 360"/>
              <a:gd name="T2" fmla="*/ 0 w 1"/>
              <a:gd name="T3" fmla="*/ 571500 h 360"/>
              <a:gd name="T4" fmla="*/ 0 60000 65536"/>
              <a:gd name="T5" fmla="*/ 0 60000 65536"/>
            </a:gdLst>
            <a:ahLst/>
            <a:cxnLst>
              <a:cxn ang="T4">
                <a:pos x="T0" y="T1"/>
              </a:cxn>
              <a:cxn ang="T5">
                <a:pos x="T2" y="T3"/>
              </a:cxn>
            </a:cxnLst>
            <a:rect l="0" t="0" r="r" b="b"/>
            <a:pathLst>
              <a:path w="1" h="360">
                <a:moveTo>
                  <a:pt x="0" y="0"/>
                </a:moveTo>
                <a:lnTo>
                  <a:pt x="0" y="360"/>
                </a:lnTo>
              </a:path>
            </a:pathLst>
          </a:custGeom>
          <a:noFill/>
          <a:ln w="2540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26" name="Freeform 5"/>
          <p:cNvSpPr>
            <a:spLocks/>
          </p:cNvSpPr>
          <p:nvPr/>
        </p:nvSpPr>
        <p:spPr bwMode="auto">
          <a:xfrm>
            <a:off x="5546725" y="2443163"/>
            <a:ext cx="1588" cy="596900"/>
          </a:xfrm>
          <a:custGeom>
            <a:avLst/>
            <a:gdLst>
              <a:gd name="T0" fmla="*/ 0 w 1"/>
              <a:gd name="T1" fmla="*/ 0 h 376"/>
              <a:gd name="T2" fmla="*/ 0 w 1"/>
              <a:gd name="T3" fmla="*/ 596900 h 376"/>
              <a:gd name="T4" fmla="*/ 0 60000 65536"/>
              <a:gd name="T5" fmla="*/ 0 60000 65536"/>
            </a:gdLst>
            <a:ahLst/>
            <a:cxnLst>
              <a:cxn ang="T4">
                <a:pos x="T0" y="T1"/>
              </a:cxn>
              <a:cxn ang="T5">
                <a:pos x="T2" y="T3"/>
              </a:cxn>
            </a:cxnLst>
            <a:rect l="0" t="0" r="r" b="b"/>
            <a:pathLst>
              <a:path w="1" h="376">
                <a:moveTo>
                  <a:pt x="0" y="0"/>
                </a:moveTo>
                <a:lnTo>
                  <a:pt x="0" y="376"/>
                </a:lnTo>
              </a:path>
            </a:pathLst>
          </a:custGeom>
          <a:noFill/>
          <a:ln w="2540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81927" name="Freeform 6"/>
          <p:cNvSpPr>
            <a:spLocks/>
          </p:cNvSpPr>
          <p:nvPr/>
        </p:nvSpPr>
        <p:spPr bwMode="auto">
          <a:xfrm>
            <a:off x="6256338" y="2420938"/>
            <a:ext cx="1587" cy="584200"/>
          </a:xfrm>
          <a:custGeom>
            <a:avLst/>
            <a:gdLst>
              <a:gd name="T0" fmla="*/ 0 w 1"/>
              <a:gd name="T1" fmla="*/ 0 h 368"/>
              <a:gd name="T2" fmla="*/ 0 w 1"/>
              <a:gd name="T3" fmla="*/ 584200 h 368"/>
              <a:gd name="T4" fmla="*/ 0 60000 65536"/>
              <a:gd name="T5" fmla="*/ 0 60000 65536"/>
            </a:gdLst>
            <a:ahLst/>
            <a:cxnLst>
              <a:cxn ang="T4">
                <a:pos x="T0" y="T1"/>
              </a:cxn>
              <a:cxn ang="T5">
                <a:pos x="T2" y="T3"/>
              </a:cxn>
            </a:cxnLst>
            <a:rect l="0" t="0" r="r" b="b"/>
            <a:pathLst>
              <a:path w="1" h="368">
                <a:moveTo>
                  <a:pt x="0" y="0"/>
                </a:moveTo>
                <a:lnTo>
                  <a:pt x="0" y="368"/>
                </a:lnTo>
              </a:path>
            </a:pathLst>
          </a:custGeom>
          <a:noFill/>
          <a:ln w="25400">
            <a:solidFill>
              <a:schemeClr val="tx1"/>
            </a:solidFill>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2471" name="Text Box 7"/>
          <p:cNvSpPr txBox="1">
            <a:spLocks noChangeArrowheads="1"/>
          </p:cNvSpPr>
          <p:nvPr/>
        </p:nvSpPr>
        <p:spPr bwMode="auto">
          <a:xfrm>
            <a:off x="466725" y="3068638"/>
            <a:ext cx="8277225"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dirty="0">
                <a:solidFill>
                  <a:srgbClr val="0000CC"/>
                </a:solidFill>
                <a:latin typeface="Times New Roman" pitchFamily="18" charset="0"/>
              </a:rPr>
              <a:t>定义</a:t>
            </a:r>
            <a:r>
              <a:rPr kumimoji="1" lang="en-US" altLang="zh-CN" b="1" dirty="0">
                <a:solidFill>
                  <a:srgbClr val="0000CC"/>
                </a:solidFill>
                <a:latin typeface="Times New Roman" pitchFamily="18" charset="0"/>
              </a:rPr>
              <a:t>7-5.3</a:t>
            </a:r>
            <a:r>
              <a:rPr kumimoji="1" lang="zh-CN" altLang="en-US" b="1" dirty="0">
                <a:solidFill>
                  <a:srgbClr val="0000CC"/>
                </a:solidFill>
                <a:latin typeface="Times New Roman" pitchFamily="18" charset="0"/>
              </a:rPr>
              <a:t>：</a:t>
            </a:r>
            <a:r>
              <a:rPr kumimoji="1" lang="zh-CN" altLang="en-US" b="1" dirty="0">
                <a:latin typeface="Times New Roman" pitchFamily="18" charset="0"/>
              </a:rPr>
              <a:t>给定两个图</a:t>
            </a:r>
            <a:r>
              <a:rPr kumimoji="1" lang="en-US" altLang="zh-CN" b="1" dirty="0">
                <a:latin typeface="Times New Roman" pitchFamily="18" charset="0"/>
              </a:rPr>
              <a:t>G</a:t>
            </a:r>
            <a:r>
              <a:rPr kumimoji="1" lang="en-US" altLang="zh-CN" b="1" baseline="-25000" dirty="0">
                <a:latin typeface="Times New Roman" pitchFamily="18" charset="0"/>
              </a:rPr>
              <a:t>1</a:t>
            </a:r>
            <a:r>
              <a:rPr kumimoji="1" lang="zh-CN" altLang="en-US" b="1" dirty="0">
                <a:latin typeface="Times New Roman" pitchFamily="18" charset="0"/>
              </a:rPr>
              <a:t>和</a:t>
            </a:r>
            <a:r>
              <a:rPr kumimoji="1" lang="en-US" altLang="zh-CN" b="1" dirty="0">
                <a:latin typeface="Times New Roman" pitchFamily="18" charset="0"/>
              </a:rPr>
              <a:t>G</a:t>
            </a:r>
            <a:r>
              <a:rPr kumimoji="1" lang="en-US" altLang="zh-CN" b="1" baseline="-25000" dirty="0">
                <a:latin typeface="Times New Roman" pitchFamily="18" charset="0"/>
              </a:rPr>
              <a:t>2</a:t>
            </a:r>
            <a:r>
              <a:rPr kumimoji="1" lang="zh-CN" altLang="en-US" b="1" dirty="0">
                <a:latin typeface="Times New Roman" pitchFamily="18" charset="0"/>
              </a:rPr>
              <a:t>，如果它们是同构的，或者通过反复插入或除去度数为</a:t>
            </a:r>
            <a:r>
              <a:rPr kumimoji="1" lang="en-US" altLang="zh-CN" b="1" dirty="0">
                <a:latin typeface="Times New Roman" pitchFamily="18" charset="0"/>
              </a:rPr>
              <a:t>2</a:t>
            </a:r>
            <a:r>
              <a:rPr kumimoji="1" lang="zh-CN" altLang="en-US" b="1" dirty="0">
                <a:latin typeface="Times New Roman" pitchFamily="18" charset="0"/>
              </a:rPr>
              <a:t>的结点后，使</a:t>
            </a:r>
            <a:r>
              <a:rPr kumimoji="1" lang="en-US" altLang="zh-CN" b="1" dirty="0">
                <a:latin typeface="Times New Roman" pitchFamily="18" charset="0"/>
              </a:rPr>
              <a:t>G</a:t>
            </a:r>
            <a:r>
              <a:rPr kumimoji="1" lang="en-US" altLang="zh-CN" b="1" baseline="-25000" dirty="0">
                <a:latin typeface="Times New Roman" pitchFamily="18" charset="0"/>
              </a:rPr>
              <a:t>1</a:t>
            </a:r>
            <a:r>
              <a:rPr kumimoji="1" lang="zh-CN" altLang="en-US" b="1" dirty="0">
                <a:latin typeface="Times New Roman" pitchFamily="18" charset="0"/>
              </a:rPr>
              <a:t>与</a:t>
            </a:r>
            <a:r>
              <a:rPr kumimoji="1" lang="en-US" altLang="zh-CN" b="1" dirty="0">
                <a:latin typeface="Times New Roman" pitchFamily="18" charset="0"/>
              </a:rPr>
              <a:t>G</a:t>
            </a:r>
            <a:r>
              <a:rPr kumimoji="1" lang="en-US" altLang="zh-CN" b="1" baseline="-25000" dirty="0">
                <a:latin typeface="Times New Roman" pitchFamily="18" charset="0"/>
              </a:rPr>
              <a:t>2</a:t>
            </a:r>
            <a:r>
              <a:rPr kumimoji="1" lang="zh-CN" altLang="en-US" b="1" dirty="0">
                <a:latin typeface="Times New Roman" pitchFamily="18" charset="0"/>
              </a:rPr>
              <a:t>同构，则称该两图是在</a:t>
            </a:r>
            <a:r>
              <a:rPr kumimoji="1" lang="en-US" altLang="zh-CN" b="1" dirty="0">
                <a:solidFill>
                  <a:srgbClr val="0000CC"/>
                </a:solidFill>
                <a:latin typeface="Times New Roman" pitchFamily="18" charset="0"/>
              </a:rPr>
              <a:t>2</a:t>
            </a:r>
            <a:r>
              <a:rPr kumimoji="1" lang="zh-CN" altLang="en-US" b="1" dirty="0">
                <a:solidFill>
                  <a:srgbClr val="0000CC"/>
                </a:solidFill>
                <a:latin typeface="Times New Roman" pitchFamily="18" charset="0"/>
              </a:rPr>
              <a:t>度结点内同构的</a:t>
            </a:r>
            <a:r>
              <a:rPr kumimoji="1" lang="zh-CN" altLang="en-US" b="1" dirty="0">
                <a:latin typeface="Times New Roman" pitchFamily="18" charset="0"/>
              </a:rPr>
              <a:t>。</a:t>
            </a:r>
          </a:p>
        </p:txBody>
      </p:sp>
      <p:grpSp>
        <p:nvGrpSpPr>
          <p:cNvPr id="62502" name="Group 38"/>
          <p:cNvGrpSpPr>
            <a:grpSpLocks/>
          </p:cNvGrpSpPr>
          <p:nvPr/>
        </p:nvGrpSpPr>
        <p:grpSpPr bwMode="auto">
          <a:xfrm>
            <a:off x="2763838" y="4675188"/>
            <a:ext cx="1231900" cy="1562100"/>
            <a:chOff x="1474" y="2809"/>
            <a:chExt cx="776" cy="984"/>
          </a:xfrm>
        </p:grpSpPr>
        <p:sp>
          <p:nvSpPr>
            <p:cNvPr id="81941" name="Line 12"/>
            <p:cNvSpPr>
              <a:spLocks noChangeShapeType="1"/>
            </p:cNvSpPr>
            <p:nvPr/>
          </p:nvSpPr>
          <p:spPr bwMode="auto">
            <a:xfrm flipH="1">
              <a:off x="1570" y="2889"/>
              <a:ext cx="313" cy="3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2" name="Line 13"/>
            <p:cNvSpPr>
              <a:spLocks noChangeShapeType="1"/>
            </p:cNvSpPr>
            <p:nvPr/>
          </p:nvSpPr>
          <p:spPr bwMode="auto">
            <a:xfrm>
              <a:off x="1883" y="2889"/>
              <a:ext cx="314" cy="3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3" name="Line 14"/>
            <p:cNvSpPr>
              <a:spLocks noChangeShapeType="1"/>
            </p:cNvSpPr>
            <p:nvPr/>
          </p:nvSpPr>
          <p:spPr bwMode="auto">
            <a:xfrm>
              <a:off x="1570" y="3213"/>
              <a:ext cx="6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4" name="Line 15"/>
            <p:cNvSpPr>
              <a:spLocks noChangeShapeType="1"/>
            </p:cNvSpPr>
            <p:nvPr/>
          </p:nvSpPr>
          <p:spPr bwMode="auto">
            <a:xfrm>
              <a:off x="1570" y="3213"/>
              <a:ext cx="0" cy="5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5" name="Line 16"/>
            <p:cNvSpPr>
              <a:spLocks noChangeShapeType="1"/>
            </p:cNvSpPr>
            <p:nvPr/>
          </p:nvSpPr>
          <p:spPr bwMode="auto">
            <a:xfrm>
              <a:off x="2197" y="3213"/>
              <a:ext cx="0" cy="54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6" name="Line 17"/>
            <p:cNvSpPr>
              <a:spLocks noChangeShapeType="1"/>
            </p:cNvSpPr>
            <p:nvPr/>
          </p:nvSpPr>
          <p:spPr bwMode="auto">
            <a:xfrm>
              <a:off x="1570" y="3714"/>
              <a:ext cx="6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7" name="Text Box 28"/>
            <p:cNvSpPr txBox="1">
              <a:spLocks noChangeArrowheads="1"/>
            </p:cNvSpPr>
            <p:nvPr/>
          </p:nvSpPr>
          <p:spPr bwMode="auto">
            <a:xfrm>
              <a:off x="1474" y="3399"/>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1948" name="Text Box 29"/>
            <p:cNvSpPr txBox="1">
              <a:spLocks noChangeArrowheads="1"/>
            </p:cNvSpPr>
            <p:nvPr/>
          </p:nvSpPr>
          <p:spPr bwMode="auto">
            <a:xfrm>
              <a:off x="1474" y="3143"/>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1949" name="Text Box 30"/>
            <p:cNvSpPr txBox="1">
              <a:spLocks noChangeArrowheads="1"/>
            </p:cNvSpPr>
            <p:nvPr/>
          </p:nvSpPr>
          <p:spPr bwMode="auto">
            <a:xfrm>
              <a:off x="2090" y="315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1950" name="Text Box 31"/>
            <p:cNvSpPr txBox="1">
              <a:spLocks noChangeArrowheads="1"/>
            </p:cNvSpPr>
            <p:nvPr/>
          </p:nvSpPr>
          <p:spPr bwMode="auto">
            <a:xfrm>
              <a:off x="1490" y="3639"/>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1951" name="Text Box 32"/>
            <p:cNvSpPr txBox="1">
              <a:spLocks noChangeArrowheads="1"/>
            </p:cNvSpPr>
            <p:nvPr/>
          </p:nvSpPr>
          <p:spPr bwMode="auto">
            <a:xfrm>
              <a:off x="2106" y="3623"/>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1952" name="Text Box 33"/>
            <p:cNvSpPr txBox="1">
              <a:spLocks noChangeArrowheads="1"/>
            </p:cNvSpPr>
            <p:nvPr/>
          </p:nvSpPr>
          <p:spPr bwMode="auto">
            <a:xfrm>
              <a:off x="1794" y="2809"/>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grpSp>
      <p:grpSp>
        <p:nvGrpSpPr>
          <p:cNvPr id="62503" name="Group 39"/>
          <p:cNvGrpSpPr>
            <a:grpSpLocks/>
          </p:cNvGrpSpPr>
          <p:nvPr/>
        </p:nvGrpSpPr>
        <p:grpSpPr bwMode="auto">
          <a:xfrm>
            <a:off x="4716463" y="4930775"/>
            <a:ext cx="1079500" cy="1306513"/>
            <a:chOff x="2730" y="2956"/>
            <a:chExt cx="680" cy="823"/>
          </a:xfrm>
        </p:grpSpPr>
        <p:sp>
          <p:nvSpPr>
            <p:cNvPr id="81931" name="Freeform 18"/>
            <p:cNvSpPr>
              <a:spLocks/>
            </p:cNvSpPr>
            <p:nvPr/>
          </p:nvSpPr>
          <p:spPr bwMode="auto">
            <a:xfrm>
              <a:off x="2823" y="3209"/>
              <a:ext cx="514" cy="4"/>
            </a:xfrm>
            <a:custGeom>
              <a:avLst/>
              <a:gdLst>
                <a:gd name="T0" fmla="*/ 0 w 885"/>
                <a:gd name="T1" fmla="*/ 4 h 6"/>
                <a:gd name="T2" fmla="*/ 514 w 885"/>
                <a:gd name="T3" fmla="*/ 0 h 6"/>
                <a:gd name="T4" fmla="*/ 0 60000 65536"/>
                <a:gd name="T5" fmla="*/ 0 60000 65536"/>
              </a:gdLst>
              <a:ahLst/>
              <a:cxnLst>
                <a:cxn ang="T4">
                  <a:pos x="T0" y="T1"/>
                </a:cxn>
                <a:cxn ang="T5">
                  <a:pos x="T2" y="T3"/>
                </a:cxn>
              </a:cxnLst>
              <a:rect l="0" t="0" r="r" b="b"/>
              <a:pathLst>
                <a:path w="885" h="6">
                  <a:moveTo>
                    <a:pt x="0" y="6"/>
                  </a:moveTo>
                  <a:lnTo>
                    <a:pt x="885" y="0"/>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2" name="Freeform 19"/>
            <p:cNvSpPr>
              <a:spLocks/>
            </p:cNvSpPr>
            <p:nvPr/>
          </p:nvSpPr>
          <p:spPr bwMode="auto">
            <a:xfrm>
              <a:off x="2823" y="3213"/>
              <a:ext cx="1" cy="505"/>
            </a:xfrm>
            <a:custGeom>
              <a:avLst/>
              <a:gdLst>
                <a:gd name="T0" fmla="*/ 0 w 1"/>
                <a:gd name="T1" fmla="*/ 0 h 729"/>
                <a:gd name="T2" fmla="*/ 0 w 1"/>
                <a:gd name="T3" fmla="*/ 505 h 729"/>
                <a:gd name="T4" fmla="*/ 0 60000 65536"/>
                <a:gd name="T5" fmla="*/ 0 60000 65536"/>
              </a:gdLst>
              <a:ahLst/>
              <a:cxnLst>
                <a:cxn ang="T4">
                  <a:pos x="T0" y="T1"/>
                </a:cxn>
                <a:cxn ang="T5">
                  <a:pos x="T2" y="T3"/>
                </a:cxn>
              </a:cxnLst>
              <a:rect l="0" t="0" r="r" b="b"/>
              <a:pathLst>
                <a:path w="1" h="729">
                  <a:moveTo>
                    <a:pt x="0" y="0"/>
                  </a:moveTo>
                  <a:lnTo>
                    <a:pt x="0" y="729"/>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3" name="Line 20"/>
            <p:cNvSpPr>
              <a:spLocks noChangeShapeType="1"/>
            </p:cNvSpPr>
            <p:nvPr/>
          </p:nvSpPr>
          <p:spPr bwMode="auto">
            <a:xfrm>
              <a:off x="2823" y="3689"/>
              <a:ext cx="52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4" name="Freeform 21"/>
            <p:cNvSpPr>
              <a:spLocks/>
            </p:cNvSpPr>
            <p:nvPr/>
          </p:nvSpPr>
          <p:spPr bwMode="auto">
            <a:xfrm>
              <a:off x="3345" y="3213"/>
              <a:ext cx="1" cy="484"/>
            </a:xfrm>
            <a:custGeom>
              <a:avLst/>
              <a:gdLst>
                <a:gd name="T0" fmla="*/ 0 w 1"/>
                <a:gd name="T1" fmla="*/ 484 h 699"/>
                <a:gd name="T2" fmla="*/ 1 w 1"/>
                <a:gd name="T3" fmla="*/ 0 h 699"/>
                <a:gd name="T4" fmla="*/ 0 60000 65536"/>
                <a:gd name="T5" fmla="*/ 0 60000 65536"/>
              </a:gdLst>
              <a:ahLst/>
              <a:cxnLst>
                <a:cxn ang="T4">
                  <a:pos x="T0" y="T1"/>
                </a:cxn>
                <a:cxn ang="T5">
                  <a:pos x="T2" y="T3"/>
                </a:cxn>
              </a:cxnLst>
              <a:rect l="0" t="0" r="r" b="b"/>
              <a:pathLst>
                <a:path w="1" h="699">
                  <a:moveTo>
                    <a:pt x="0" y="699"/>
                  </a:moveTo>
                  <a:lnTo>
                    <a:pt x="1" y="0"/>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5" name="Freeform 22"/>
            <p:cNvSpPr>
              <a:spLocks/>
            </p:cNvSpPr>
            <p:nvPr/>
          </p:nvSpPr>
          <p:spPr bwMode="auto">
            <a:xfrm>
              <a:off x="2823" y="2956"/>
              <a:ext cx="522" cy="257"/>
            </a:xfrm>
            <a:custGeom>
              <a:avLst/>
              <a:gdLst>
                <a:gd name="T0" fmla="*/ 0 w 900"/>
                <a:gd name="T1" fmla="*/ 257 h 371"/>
                <a:gd name="T2" fmla="*/ 87 w 900"/>
                <a:gd name="T3" fmla="*/ 66 h 371"/>
                <a:gd name="T4" fmla="*/ 252 w 900"/>
                <a:gd name="T5" fmla="*/ 3 h 371"/>
                <a:gd name="T6" fmla="*/ 392 w 900"/>
                <a:gd name="T7" fmla="*/ 45 h 371"/>
                <a:gd name="T8" fmla="*/ 426 w 900"/>
                <a:gd name="T9" fmla="*/ 66 h 371"/>
                <a:gd name="T10" fmla="*/ 522 w 900"/>
                <a:gd name="T11" fmla="*/ 257 h 371"/>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00" h="371">
                  <a:moveTo>
                    <a:pt x="0" y="371"/>
                  </a:moveTo>
                  <a:cubicBezTo>
                    <a:pt x="25" y="325"/>
                    <a:pt x="77" y="156"/>
                    <a:pt x="150" y="95"/>
                  </a:cubicBezTo>
                  <a:cubicBezTo>
                    <a:pt x="223" y="34"/>
                    <a:pt x="348" y="10"/>
                    <a:pt x="435" y="5"/>
                  </a:cubicBezTo>
                  <a:cubicBezTo>
                    <a:pt x="522" y="0"/>
                    <a:pt x="625" y="50"/>
                    <a:pt x="675" y="65"/>
                  </a:cubicBezTo>
                  <a:cubicBezTo>
                    <a:pt x="725" y="80"/>
                    <a:pt x="698" y="44"/>
                    <a:pt x="735" y="95"/>
                  </a:cubicBezTo>
                  <a:cubicBezTo>
                    <a:pt x="772" y="146"/>
                    <a:pt x="866" y="314"/>
                    <a:pt x="900" y="371"/>
                  </a:cubicBez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1936" name="Text Box 24"/>
            <p:cNvSpPr txBox="1">
              <a:spLocks noChangeArrowheads="1"/>
            </p:cNvSpPr>
            <p:nvPr/>
          </p:nvSpPr>
          <p:spPr bwMode="auto">
            <a:xfrm>
              <a:off x="2730" y="3129"/>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1937" name="Text Box 25"/>
            <p:cNvSpPr txBox="1">
              <a:spLocks noChangeArrowheads="1"/>
            </p:cNvSpPr>
            <p:nvPr/>
          </p:nvSpPr>
          <p:spPr bwMode="auto">
            <a:xfrm>
              <a:off x="3250" y="3129"/>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1938" name="Text Box 26"/>
            <p:cNvSpPr txBox="1">
              <a:spLocks noChangeArrowheads="1"/>
            </p:cNvSpPr>
            <p:nvPr/>
          </p:nvSpPr>
          <p:spPr bwMode="auto">
            <a:xfrm>
              <a:off x="2746" y="3625"/>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1939" name="Text Box 27"/>
            <p:cNvSpPr txBox="1">
              <a:spLocks noChangeArrowheads="1"/>
            </p:cNvSpPr>
            <p:nvPr/>
          </p:nvSpPr>
          <p:spPr bwMode="auto">
            <a:xfrm>
              <a:off x="3266" y="3601"/>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1940" name="Text Box 34"/>
            <p:cNvSpPr txBox="1">
              <a:spLocks noChangeArrowheads="1"/>
            </p:cNvSpPr>
            <p:nvPr/>
          </p:nvSpPr>
          <p:spPr bwMode="auto">
            <a:xfrm>
              <a:off x="2970" y="3129"/>
              <a:ext cx="144"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grpSp>
    </p:spTree>
    <p:extLst>
      <p:ext uri="{BB962C8B-B14F-4D97-AF65-F5344CB8AC3E}">
        <p14:creationId xmlns:p14="http://schemas.microsoft.com/office/powerpoint/2010/main" val="2678995300"/>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2471"/>
                                        </p:tgtEl>
                                        <p:attrNameLst>
                                          <p:attrName>style.visibility</p:attrName>
                                        </p:attrNameLst>
                                      </p:cBhvr>
                                      <p:to>
                                        <p:strVal val="visible"/>
                                      </p:to>
                                    </p:set>
                                    <p:anim calcmode="lin" valueType="num">
                                      <p:cBhvr additive="base">
                                        <p:cTn id="7" dur="500" fill="hold"/>
                                        <p:tgtEl>
                                          <p:spTgt spid="62471"/>
                                        </p:tgtEl>
                                        <p:attrNameLst>
                                          <p:attrName>ppt_x</p:attrName>
                                        </p:attrNameLst>
                                      </p:cBhvr>
                                      <p:tavLst>
                                        <p:tav tm="0">
                                          <p:val>
                                            <p:strVal val="#ppt_x"/>
                                          </p:val>
                                        </p:tav>
                                        <p:tav tm="100000">
                                          <p:val>
                                            <p:strVal val="#ppt_x"/>
                                          </p:val>
                                        </p:tav>
                                      </p:tavLst>
                                    </p:anim>
                                    <p:anim calcmode="lin" valueType="num">
                                      <p:cBhvr additive="base">
                                        <p:cTn id="8" dur="500" fill="hold"/>
                                        <p:tgtEl>
                                          <p:spTgt spid="6247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62502"/>
                                        </p:tgtEl>
                                        <p:attrNameLst>
                                          <p:attrName>style.visibility</p:attrName>
                                        </p:attrNameLst>
                                      </p:cBhvr>
                                      <p:to>
                                        <p:strVal val="visible"/>
                                      </p:to>
                                    </p:set>
                                    <p:animEffect transition="in" filter="blinds(horizontal)">
                                      <p:cBhvr>
                                        <p:cTn id="13" dur="500"/>
                                        <p:tgtEl>
                                          <p:spTgt spid="6250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2503"/>
                                        </p:tgtEl>
                                        <p:attrNameLst>
                                          <p:attrName>style.visibility</p:attrName>
                                        </p:attrNameLst>
                                      </p:cBhvr>
                                      <p:to>
                                        <p:strVal val="visible"/>
                                      </p:to>
                                    </p:set>
                                    <p:animEffect transition="in" filter="blinds(horizontal)">
                                      <p:cBhvr>
                                        <p:cTn id="18" dur="500"/>
                                        <p:tgtEl>
                                          <p:spTgt spid="62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1" grpId="0"/>
    </p:bldLst>
  </p:timing>
</p:sld>
</file>

<file path=ppt/slides/slide8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5" name="灯片编号占位符 2"/>
          <p:cNvSpPr>
            <a:spLocks noGrp="1"/>
          </p:cNvSpPr>
          <p:nvPr>
            <p:ph type="sldNum" sz="quarter" idx="11"/>
          </p:nvPr>
        </p:nvSpPr>
        <p:spPr/>
        <p:txBody>
          <a:bodyPr/>
          <a:lstStyle/>
          <a:p>
            <a:pPr>
              <a:defRPr/>
            </a:pPr>
            <a:fld id="{FCBC7AD1-DD8A-4CC7-B005-E7228AA6ABC1}" type="slidenum">
              <a:rPr lang="en-US" altLang="zh-CN"/>
              <a:pPr>
                <a:defRPr/>
              </a:pPr>
              <a:t>81</a:t>
            </a:fld>
            <a:endParaRPr lang="en-US" altLang="zh-CN"/>
          </a:p>
        </p:txBody>
      </p:sp>
      <p:sp>
        <p:nvSpPr>
          <p:cNvPr id="82947" name="Text Box 2"/>
          <p:cNvSpPr txBox="1">
            <a:spLocks noChangeArrowheads="1"/>
          </p:cNvSpPr>
          <p:nvPr/>
        </p:nvSpPr>
        <p:spPr bwMode="auto">
          <a:xfrm>
            <a:off x="466725" y="1295400"/>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7-5.4</a:t>
            </a:r>
            <a:r>
              <a:rPr kumimoji="1" lang="en-US" altLang="zh-CN" b="1">
                <a:solidFill>
                  <a:srgbClr val="993300"/>
                </a:solidFill>
                <a:latin typeface="Times New Roman" pitchFamily="18" charset="0"/>
              </a:rPr>
              <a:t>(Kuratowski</a:t>
            </a:r>
            <a:r>
              <a:rPr kumimoji="1" lang="zh-CN" altLang="en-US" b="1">
                <a:solidFill>
                  <a:srgbClr val="993300"/>
                </a:solidFill>
                <a:latin typeface="Times New Roman" pitchFamily="18" charset="0"/>
              </a:rPr>
              <a:t>定理</a:t>
            </a:r>
            <a:r>
              <a:rPr kumimoji="1" lang="en-US" altLang="zh-CN" b="1">
                <a:solidFill>
                  <a:srgbClr val="993300"/>
                </a:solidFill>
                <a:latin typeface="Times New Roman" pitchFamily="18" charset="0"/>
              </a:rPr>
              <a:t>)</a:t>
            </a:r>
            <a:r>
              <a:rPr kumimoji="1" lang="zh-CN" altLang="en-US" b="1">
                <a:latin typeface="Times New Roman" pitchFamily="18" charset="0"/>
              </a:rPr>
              <a:t>：一个图是平面图，当且仅当它不包含与</a:t>
            </a:r>
            <a:r>
              <a:rPr kumimoji="1" lang="en-US" altLang="zh-CN" b="1">
                <a:solidFill>
                  <a:srgbClr val="0000CC"/>
                </a:solidFill>
                <a:latin typeface="Times New Roman" pitchFamily="18" charset="0"/>
              </a:rPr>
              <a:t>K</a:t>
            </a:r>
            <a:r>
              <a:rPr kumimoji="1" lang="en-US" altLang="zh-CN" b="1" baseline="-25000">
                <a:solidFill>
                  <a:srgbClr val="0000CC"/>
                </a:solidFill>
                <a:latin typeface="Times New Roman" pitchFamily="18" charset="0"/>
              </a:rPr>
              <a:t>3,3</a:t>
            </a:r>
            <a:r>
              <a:rPr kumimoji="1" lang="zh-CN" altLang="en-US" b="1">
                <a:solidFill>
                  <a:srgbClr val="0000CC"/>
                </a:solidFill>
                <a:latin typeface="Times New Roman" pitchFamily="18" charset="0"/>
              </a:rPr>
              <a:t>或</a:t>
            </a:r>
            <a:r>
              <a:rPr kumimoji="1" lang="en-US" altLang="zh-CN" b="1">
                <a:solidFill>
                  <a:srgbClr val="0000CC"/>
                </a:solidFill>
                <a:latin typeface="Times New Roman" pitchFamily="18" charset="0"/>
              </a:rPr>
              <a:t>K</a:t>
            </a:r>
            <a:r>
              <a:rPr kumimoji="1" lang="en-US" altLang="zh-CN" b="1" baseline="-25000">
                <a:solidFill>
                  <a:srgbClr val="0000CC"/>
                </a:solidFill>
                <a:latin typeface="Times New Roman" pitchFamily="18" charset="0"/>
              </a:rPr>
              <a:t>5</a:t>
            </a:r>
            <a:r>
              <a:rPr kumimoji="1" lang="zh-CN" altLang="en-US" b="1">
                <a:latin typeface="Times New Roman" pitchFamily="18" charset="0"/>
              </a:rPr>
              <a:t>在</a:t>
            </a:r>
            <a:r>
              <a:rPr kumimoji="1" lang="en-US" altLang="zh-CN" b="1">
                <a:latin typeface="Times New Roman" pitchFamily="18" charset="0"/>
              </a:rPr>
              <a:t>2</a:t>
            </a:r>
            <a:r>
              <a:rPr kumimoji="1" lang="zh-CN" altLang="en-US" b="1">
                <a:latin typeface="Times New Roman" pitchFamily="18" charset="0"/>
              </a:rPr>
              <a:t>度结点内同构的子图。 </a:t>
            </a:r>
          </a:p>
        </p:txBody>
      </p:sp>
      <p:grpSp>
        <p:nvGrpSpPr>
          <p:cNvPr id="63491" name="Group 3"/>
          <p:cNvGrpSpPr>
            <a:grpSpLocks/>
          </p:cNvGrpSpPr>
          <p:nvPr/>
        </p:nvGrpSpPr>
        <p:grpSpPr bwMode="auto">
          <a:xfrm>
            <a:off x="4572000" y="2563813"/>
            <a:ext cx="1897063" cy="1662112"/>
            <a:chOff x="2880" y="1235"/>
            <a:chExt cx="1195" cy="1047"/>
          </a:xfrm>
        </p:grpSpPr>
        <p:grpSp>
          <p:nvGrpSpPr>
            <p:cNvPr id="82967" name="Group 4"/>
            <p:cNvGrpSpPr>
              <a:grpSpLocks/>
            </p:cNvGrpSpPr>
            <p:nvPr/>
          </p:nvGrpSpPr>
          <p:grpSpPr bwMode="auto">
            <a:xfrm>
              <a:off x="2880" y="1235"/>
              <a:ext cx="1195" cy="1047"/>
              <a:chOff x="1215" y="1235"/>
              <a:chExt cx="1195" cy="1047"/>
            </a:xfrm>
          </p:grpSpPr>
          <p:sp>
            <p:nvSpPr>
              <p:cNvPr id="82974" name="Line 5"/>
              <p:cNvSpPr>
                <a:spLocks noChangeShapeType="1"/>
              </p:cNvSpPr>
              <p:nvPr/>
            </p:nvSpPr>
            <p:spPr bwMode="auto">
              <a:xfrm flipH="1">
                <a:off x="1365" y="1235"/>
                <a:ext cx="448" cy="10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5" name="Line 6"/>
              <p:cNvSpPr>
                <a:spLocks noChangeShapeType="1"/>
              </p:cNvSpPr>
              <p:nvPr/>
            </p:nvSpPr>
            <p:spPr bwMode="auto">
              <a:xfrm>
                <a:off x="1813" y="1235"/>
                <a:ext cx="298" cy="10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6" name="Line 7"/>
              <p:cNvSpPr>
                <a:spLocks noChangeShapeType="1"/>
              </p:cNvSpPr>
              <p:nvPr/>
            </p:nvSpPr>
            <p:spPr bwMode="auto">
              <a:xfrm>
                <a:off x="1215" y="1549"/>
                <a:ext cx="119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7" name="Line 8"/>
              <p:cNvSpPr>
                <a:spLocks noChangeShapeType="1"/>
              </p:cNvSpPr>
              <p:nvPr/>
            </p:nvSpPr>
            <p:spPr bwMode="auto">
              <a:xfrm flipH="1">
                <a:off x="1365" y="1549"/>
                <a:ext cx="1045" cy="7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8" name="Line 9"/>
              <p:cNvSpPr>
                <a:spLocks noChangeShapeType="1"/>
              </p:cNvSpPr>
              <p:nvPr/>
            </p:nvSpPr>
            <p:spPr bwMode="auto">
              <a:xfrm>
                <a:off x="1215" y="1549"/>
                <a:ext cx="896" cy="7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2968" name="Group 10"/>
            <p:cNvGrpSpPr>
              <a:grpSpLocks/>
            </p:cNvGrpSpPr>
            <p:nvPr/>
          </p:nvGrpSpPr>
          <p:grpSpPr bwMode="auto">
            <a:xfrm>
              <a:off x="2880" y="1235"/>
              <a:ext cx="1195" cy="1047"/>
              <a:chOff x="1215" y="1235"/>
              <a:chExt cx="1195" cy="1047"/>
            </a:xfrm>
          </p:grpSpPr>
          <p:sp>
            <p:nvSpPr>
              <p:cNvPr id="82969" name="Line 11"/>
              <p:cNvSpPr>
                <a:spLocks noChangeShapeType="1"/>
              </p:cNvSpPr>
              <p:nvPr/>
            </p:nvSpPr>
            <p:spPr bwMode="auto">
              <a:xfrm flipH="1">
                <a:off x="1215" y="1235"/>
                <a:ext cx="598" cy="31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0" name="Line 12"/>
              <p:cNvSpPr>
                <a:spLocks noChangeShapeType="1"/>
              </p:cNvSpPr>
              <p:nvPr/>
            </p:nvSpPr>
            <p:spPr bwMode="auto">
              <a:xfrm>
                <a:off x="1215" y="1549"/>
                <a:ext cx="150" cy="733"/>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1" name="Line 13"/>
              <p:cNvSpPr>
                <a:spLocks noChangeShapeType="1"/>
              </p:cNvSpPr>
              <p:nvPr/>
            </p:nvSpPr>
            <p:spPr bwMode="auto">
              <a:xfrm>
                <a:off x="1365" y="2282"/>
                <a:ext cx="746"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2" name="Line 14"/>
              <p:cNvSpPr>
                <a:spLocks noChangeShapeType="1"/>
              </p:cNvSpPr>
              <p:nvPr/>
            </p:nvSpPr>
            <p:spPr bwMode="auto">
              <a:xfrm flipV="1">
                <a:off x="2111" y="1549"/>
                <a:ext cx="299" cy="733"/>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73" name="Line 15"/>
              <p:cNvSpPr>
                <a:spLocks noChangeShapeType="1"/>
              </p:cNvSpPr>
              <p:nvPr/>
            </p:nvSpPr>
            <p:spPr bwMode="auto">
              <a:xfrm flipH="1" flipV="1">
                <a:off x="1813" y="1235"/>
                <a:ext cx="597" cy="314"/>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63505" name="Text Box 17"/>
          <p:cNvSpPr txBox="1">
            <a:spLocks noChangeArrowheads="1"/>
          </p:cNvSpPr>
          <p:nvPr/>
        </p:nvSpPr>
        <p:spPr bwMode="auto">
          <a:xfrm>
            <a:off x="466725" y="4916488"/>
            <a:ext cx="8277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en-US" altLang="zh-CN" b="1">
                <a:solidFill>
                  <a:schemeClr val="bg2"/>
                </a:solidFill>
                <a:latin typeface="Times New Roman" pitchFamily="18" charset="0"/>
              </a:rPr>
              <a:t>K</a:t>
            </a:r>
            <a:r>
              <a:rPr kumimoji="1" lang="en-US" altLang="zh-CN" b="1" baseline="-25000">
                <a:solidFill>
                  <a:schemeClr val="bg2"/>
                </a:solidFill>
                <a:latin typeface="Times New Roman" pitchFamily="18" charset="0"/>
              </a:rPr>
              <a:t>3,3</a:t>
            </a:r>
            <a:r>
              <a:rPr kumimoji="1" lang="zh-CN" altLang="en-US" b="1">
                <a:solidFill>
                  <a:schemeClr val="bg2"/>
                </a:solidFill>
                <a:latin typeface="Times New Roman" pitchFamily="18" charset="0"/>
              </a:rPr>
              <a:t>和</a:t>
            </a:r>
            <a:r>
              <a:rPr kumimoji="1" lang="en-US" altLang="zh-CN" b="1">
                <a:solidFill>
                  <a:schemeClr val="bg2"/>
                </a:solidFill>
                <a:latin typeface="Times New Roman" pitchFamily="18" charset="0"/>
              </a:rPr>
              <a:t>K</a:t>
            </a:r>
            <a:r>
              <a:rPr kumimoji="1" lang="en-US" altLang="zh-CN" b="1" baseline="-25000">
                <a:solidFill>
                  <a:schemeClr val="bg2"/>
                </a:solidFill>
                <a:latin typeface="Times New Roman" pitchFamily="18" charset="0"/>
              </a:rPr>
              <a:t>5</a:t>
            </a:r>
            <a:r>
              <a:rPr kumimoji="1" lang="zh-CN" altLang="en-US" b="1">
                <a:solidFill>
                  <a:schemeClr val="bg2"/>
                </a:solidFill>
                <a:latin typeface="Times New Roman" pitchFamily="18" charset="0"/>
              </a:rPr>
              <a:t>常称作库拉托夫斯基图</a:t>
            </a:r>
          </a:p>
        </p:txBody>
      </p:sp>
      <p:grpSp>
        <p:nvGrpSpPr>
          <p:cNvPr id="82950" name="Group 18"/>
          <p:cNvGrpSpPr>
            <a:grpSpLocks/>
          </p:cNvGrpSpPr>
          <p:nvPr/>
        </p:nvGrpSpPr>
        <p:grpSpPr bwMode="auto">
          <a:xfrm>
            <a:off x="1692275" y="2563813"/>
            <a:ext cx="2133600" cy="1828800"/>
            <a:chOff x="1066" y="1235"/>
            <a:chExt cx="1344" cy="1152"/>
          </a:xfrm>
        </p:grpSpPr>
        <p:sp>
          <p:nvSpPr>
            <p:cNvPr id="82951" name="Line 19"/>
            <p:cNvSpPr>
              <a:spLocks noChangeShapeType="1"/>
            </p:cNvSpPr>
            <p:nvPr/>
          </p:nvSpPr>
          <p:spPr bwMode="auto">
            <a:xfrm flipH="1">
              <a:off x="1365" y="1235"/>
              <a:ext cx="4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2" name="Line 20"/>
            <p:cNvSpPr>
              <a:spLocks noChangeShapeType="1"/>
            </p:cNvSpPr>
            <p:nvPr/>
          </p:nvSpPr>
          <p:spPr bwMode="auto">
            <a:xfrm flipH="1">
              <a:off x="1215" y="1235"/>
              <a:ext cx="150" cy="3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3" name="Line 21"/>
            <p:cNvSpPr>
              <a:spLocks noChangeShapeType="1"/>
            </p:cNvSpPr>
            <p:nvPr/>
          </p:nvSpPr>
          <p:spPr bwMode="auto">
            <a:xfrm flipH="1">
              <a:off x="1066" y="1549"/>
              <a:ext cx="149" cy="4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4" name="Line 22"/>
            <p:cNvSpPr>
              <a:spLocks noChangeShapeType="1"/>
            </p:cNvSpPr>
            <p:nvPr/>
          </p:nvSpPr>
          <p:spPr bwMode="auto">
            <a:xfrm>
              <a:off x="1066" y="1968"/>
              <a:ext cx="299" cy="3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5" name="Line 23"/>
            <p:cNvSpPr>
              <a:spLocks noChangeShapeType="1"/>
            </p:cNvSpPr>
            <p:nvPr/>
          </p:nvSpPr>
          <p:spPr bwMode="auto">
            <a:xfrm>
              <a:off x="1365" y="2282"/>
              <a:ext cx="298" cy="10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6" name="Line 24"/>
            <p:cNvSpPr>
              <a:spLocks noChangeShapeType="1"/>
            </p:cNvSpPr>
            <p:nvPr/>
          </p:nvSpPr>
          <p:spPr bwMode="auto">
            <a:xfrm flipV="1">
              <a:off x="1663" y="2282"/>
              <a:ext cx="448" cy="10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7" name="Line 25"/>
            <p:cNvSpPr>
              <a:spLocks noChangeShapeType="1"/>
            </p:cNvSpPr>
            <p:nvPr/>
          </p:nvSpPr>
          <p:spPr bwMode="auto">
            <a:xfrm flipV="1">
              <a:off x="2111" y="1968"/>
              <a:ext cx="299" cy="3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8" name="Line 26"/>
            <p:cNvSpPr>
              <a:spLocks noChangeShapeType="1"/>
            </p:cNvSpPr>
            <p:nvPr/>
          </p:nvSpPr>
          <p:spPr bwMode="auto">
            <a:xfrm flipV="1">
              <a:off x="2410" y="1549"/>
              <a:ext cx="0" cy="41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59" name="Line 27"/>
            <p:cNvSpPr>
              <a:spLocks noChangeShapeType="1"/>
            </p:cNvSpPr>
            <p:nvPr/>
          </p:nvSpPr>
          <p:spPr bwMode="auto">
            <a:xfrm flipH="1" flipV="1">
              <a:off x="2261" y="1235"/>
              <a:ext cx="149" cy="31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0" name="Line 28"/>
            <p:cNvSpPr>
              <a:spLocks noChangeShapeType="1"/>
            </p:cNvSpPr>
            <p:nvPr/>
          </p:nvSpPr>
          <p:spPr bwMode="auto">
            <a:xfrm flipH="1">
              <a:off x="1813" y="1235"/>
              <a:ext cx="4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2961" name="Group 29"/>
            <p:cNvGrpSpPr>
              <a:grpSpLocks/>
            </p:cNvGrpSpPr>
            <p:nvPr/>
          </p:nvGrpSpPr>
          <p:grpSpPr bwMode="auto">
            <a:xfrm>
              <a:off x="1202" y="1249"/>
              <a:ext cx="1195" cy="1047"/>
              <a:chOff x="1215" y="1235"/>
              <a:chExt cx="1195" cy="1047"/>
            </a:xfrm>
          </p:grpSpPr>
          <p:sp>
            <p:nvSpPr>
              <p:cNvPr id="82962" name="Line 30"/>
              <p:cNvSpPr>
                <a:spLocks noChangeShapeType="1"/>
              </p:cNvSpPr>
              <p:nvPr/>
            </p:nvSpPr>
            <p:spPr bwMode="auto">
              <a:xfrm flipH="1">
                <a:off x="1365" y="1235"/>
                <a:ext cx="448" cy="10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3" name="Line 31"/>
              <p:cNvSpPr>
                <a:spLocks noChangeShapeType="1"/>
              </p:cNvSpPr>
              <p:nvPr/>
            </p:nvSpPr>
            <p:spPr bwMode="auto">
              <a:xfrm>
                <a:off x="1813" y="1235"/>
                <a:ext cx="298" cy="104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4" name="Line 32"/>
              <p:cNvSpPr>
                <a:spLocks noChangeShapeType="1"/>
              </p:cNvSpPr>
              <p:nvPr/>
            </p:nvSpPr>
            <p:spPr bwMode="auto">
              <a:xfrm>
                <a:off x="1215" y="1549"/>
                <a:ext cx="119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5" name="Line 33"/>
              <p:cNvSpPr>
                <a:spLocks noChangeShapeType="1"/>
              </p:cNvSpPr>
              <p:nvPr/>
            </p:nvSpPr>
            <p:spPr bwMode="auto">
              <a:xfrm flipH="1">
                <a:off x="1365" y="1549"/>
                <a:ext cx="1045" cy="7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966" name="Line 34"/>
              <p:cNvSpPr>
                <a:spLocks noChangeShapeType="1"/>
              </p:cNvSpPr>
              <p:nvPr/>
            </p:nvSpPr>
            <p:spPr bwMode="auto">
              <a:xfrm>
                <a:off x="1215" y="1549"/>
                <a:ext cx="896" cy="7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Tree>
    <p:extLst>
      <p:ext uri="{BB962C8B-B14F-4D97-AF65-F5344CB8AC3E}">
        <p14:creationId xmlns:p14="http://schemas.microsoft.com/office/powerpoint/2010/main" val="241481090"/>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3491"/>
                                        </p:tgtEl>
                                        <p:attrNameLst>
                                          <p:attrName>style.visibility</p:attrName>
                                        </p:attrNameLst>
                                      </p:cBhvr>
                                      <p:to>
                                        <p:strVal val="visible"/>
                                      </p:to>
                                    </p:set>
                                    <p:anim calcmode="lin" valueType="num">
                                      <p:cBhvr additive="base">
                                        <p:cTn id="7" dur="500" fill="hold"/>
                                        <p:tgtEl>
                                          <p:spTgt spid="63491"/>
                                        </p:tgtEl>
                                        <p:attrNameLst>
                                          <p:attrName>ppt_x</p:attrName>
                                        </p:attrNameLst>
                                      </p:cBhvr>
                                      <p:tavLst>
                                        <p:tav tm="0">
                                          <p:val>
                                            <p:strVal val="#ppt_x"/>
                                          </p:val>
                                        </p:tav>
                                        <p:tav tm="100000">
                                          <p:val>
                                            <p:strVal val="#ppt_x"/>
                                          </p:val>
                                        </p:tav>
                                      </p:tavLst>
                                    </p:anim>
                                    <p:anim calcmode="lin" valueType="num">
                                      <p:cBhvr additive="base">
                                        <p:cTn id="8" dur="500" fill="hold"/>
                                        <p:tgtEl>
                                          <p:spTgt spid="6349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3505"/>
                                        </p:tgtEl>
                                        <p:attrNameLst>
                                          <p:attrName>style.visibility</p:attrName>
                                        </p:attrNameLst>
                                      </p:cBhvr>
                                      <p:to>
                                        <p:strVal val="visible"/>
                                      </p:to>
                                    </p:set>
                                    <p:anim calcmode="lin" valueType="num">
                                      <p:cBhvr additive="base">
                                        <p:cTn id="13" dur="500" fill="hold"/>
                                        <p:tgtEl>
                                          <p:spTgt spid="63505"/>
                                        </p:tgtEl>
                                        <p:attrNameLst>
                                          <p:attrName>ppt_x</p:attrName>
                                        </p:attrNameLst>
                                      </p:cBhvr>
                                      <p:tavLst>
                                        <p:tav tm="0">
                                          <p:val>
                                            <p:strVal val="#ppt_x"/>
                                          </p:val>
                                        </p:tav>
                                        <p:tav tm="100000">
                                          <p:val>
                                            <p:strVal val="#ppt_x"/>
                                          </p:val>
                                        </p:tav>
                                      </p:tavLst>
                                    </p:anim>
                                    <p:anim calcmode="lin" valueType="num">
                                      <p:cBhvr additive="base">
                                        <p:cTn id="14" dur="500" fill="hold"/>
                                        <p:tgtEl>
                                          <p:spTgt spid="635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50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a:defRPr/>
            </a:pPr>
            <a:fld id="{3BFE2808-8AEA-471D-9EB0-ACA8479C100F}" type="slidenum">
              <a:rPr lang="en-US" altLang="zh-CN"/>
              <a:pPr>
                <a:defRPr/>
              </a:pPr>
              <a:t>82</a:t>
            </a:fld>
            <a:endParaRPr lang="en-US" altLang="zh-CN"/>
          </a:p>
        </p:txBody>
      </p:sp>
      <p:sp>
        <p:nvSpPr>
          <p:cNvPr id="90115" name="Rectangle 2"/>
          <p:cNvSpPr>
            <a:spLocks noGrp="1" noChangeArrowheads="1"/>
          </p:cNvSpPr>
          <p:nvPr>
            <p:ph type="title"/>
          </p:nvPr>
        </p:nvSpPr>
        <p:spPr>
          <a:xfrm>
            <a:off x="990600" y="279400"/>
            <a:ext cx="7237413" cy="701675"/>
          </a:xfrm>
        </p:spPr>
        <p:txBody>
          <a:bodyPr/>
          <a:lstStyle/>
          <a:p>
            <a:pPr eaLnBrk="1" hangingPunct="1"/>
            <a:r>
              <a:rPr lang="zh-CN" altLang="en-US" smtClean="0">
                <a:solidFill>
                  <a:schemeClr val="tx1"/>
                </a:solidFill>
                <a:latin typeface="华文行楷" pitchFamily="2" charset="-122"/>
                <a:ea typeface="华文行楷" pitchFamily="2" charset="-122"/>
              </a:rPr>
              <a:t>复习</a:t>
            </a:r>
          </a:p>
        </p:txBody>
      </p:sp>
      <p:sp>
        <p:nvSpPr>
          <p:cNvPr id="182275" name="Rectangle 3"/>
          <p:cNvSpPr>
            <a:spLocks noGrp="1" noChangeArrowheads="1"/>
          </p:cNvSpPr>
          <p:nvPr>
            <p:ph type="body" idx="1"/>
          </p:nvPr>
        </p:nvSpPr>
        <p:spPr>
          <a:xfrm>
            <a:off x="466725" y="1123950"/>
            <a:ext cx="8277225" cy="1052596"/>
          </a:xfrm>
          <a:noFill/>
        </p:spPr>
        <p:txBody>
          <a:bodyPr/>
          <a:lstStyle/>
          <a:p>
            <a:pPr defTabSz="296863" eaLnBrk="1" hangingPunct="1">
              <a:tabLst>
                <a:tab pos="0" algn="l"/>
                <a:tab pos="8069263" algn="l"/>
              </a:tabLst>
            </a:pPr>
            <a:r>
              <a:rPr kumimoji="1" lang="en-US" altLang="zh-CN" dirty="0" smtClean="0"/>
              <a:t>1</a:t>
            </a:r>
            <a:r>
              <a:rPr kumimoji="1" lang="zh-CN" altLang="en-US" dirty="0" smtClean="0"/>
              <a:t>、欧拉图</a:t>
            </a:r>
            <a:endParaRPr kumimoji="1" lang="en-US" altLang="zh-CN" dirty="0" smtClean="0"/>
          </a:p>
          <a:p>
            <a:pPr defTabSz="296863" eaLnBrk="1" hangingPunct="1">
              <a:tabLst>
                <a:tab pos="0" algn="l"/>
                <a:tab pos="8069263" algn="l"/>
              </a:tabLst>
            </a:pPr>
            <a:r>
              <a:rPr kumimoji="1" lang="en-US" altLang="zh-CN" dirty="0" smtClean="0"/>
              <a:t>2</a:t>
            </a:r>
            <a:r>
              <a:rPr kumimoji="1" lang="zh-CN" altLang="en-US" dirty="0" smtClean="0"/>
              <a:t>、</a:t>
            </a:r>
            <a:r>
              <a:rPr kumimoji="1" lang="zh-CN" altLang="en-US" dirty="0"/>
              <a:t>汉密尔顿图</a:t>
            </a:r>
          </a:p>
        </p:txBody>
      </p:sp>
    </p:spTree>
    <p:extLst>
      <p:ext uri="{BB962C8B-B14F-4D97-AF65-F5344CB8AC3E}">
        <p14:creationId xmlns:p14="http://schemas.microsoft.com/office/powerpoint/2010/main" val="4094893237"/>
      </p:ext>
    </p:extLst>
  </p:cSld>
  <p:clrMapOvr>
    <a:masterClrMapping/>
  </p:clrMapOvr>
  <p:transition spd="slow">
    <p:random/>
  </p:transition>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a:defRPr/>
            </a:pPr>
            <a:fld id="{C4DBFDDB-023D-4BFB-A134-F131754517B6}" type="slidenum">
              <a:rPr lang="en-US" altLang="zh-CN"/>
              <a:pPr>
                <a:defRPr/>
              </a:pPr>
              <a:t>83</a:t>
            </a:fld>
            <a:endParaRPr lang="en-US" altLang="zh-CN"/>
          </a:p>
        </p:txBody>
      </p:sp>
      <p:sp>
        <p:nvSpPr>
          <p:cNvPr id="83971" name="Rectangle 2"/>
          <p:cNvSpPr>
            <a:spLocks noGrp="1" noChangeArrowheads="1"/>
          </p:cNvSpPr>
          <p:nvPr>
            <p:ph type="title"/>
          </p:nvPr>
        </p:nvSpPr>
        <p:spPr/>
        <p:txBody>
          <a:bodyPr/>
          <a:lstStyle/>
          <a:p>
            <a:pPr eaLnBrk="1" hangingPunct="1"/>
            <a:r>
              <a:rPr kumimoji="1" lang="en-US" altLang="zh-CN" smtClean="0">
                <a:solidFill>
                  <a:schemeClr val="tx1"/>
                </a:solidFill>
                <a:latin typeface="华文行楷" pitchFamily="2" charset="-122"/>
                <a:ea typeface="华文行楷" pitchFamily="2" charset="-122"/>
              </a:rPr>
              <a:t>7-6</a:t>
            </a:r>
            <a:r>
              <a:rPr kumimoji="1" lang="en-US" altLang="zh-CN" smtClean="0">
                <a:solidFill>
                  <a:schemeClr val="tx1"/>
                </a:solidFill>
                <a:latin typeface="Arial" charset="0"/>
                <a:ea typeface="华文行楷" pitchFamily="2" charset="-122"/>
              </a:rPr>
              <a:t>  </a:t>
            </a:r>
            <a:r>
              <a:rPr kumimoji="1" lang="zh-CN" altLang="en-US" smtClean="0">
                <a:solidFill>
                  <a:schemeClr val="tx1"/>
                </a:solidFill>
                <a:latin typeface="华文行楷" pitchFamily="2" charset="-122"/>
                <a:ea typeface="华文行楷" pitchFamily="2" charset="-122"/>
              </a:rPr>
              <a:t>对偶图与着色</a:t>
            </a:r>
          </a:p>
        </p:txBody>
      </p:sp>
      <p:sp>
        <p:nvSpPr>
          <p:cNvPr id="145411" name="Rectangle 3"/>
          <p:cNvSpPr>
            <a:spLocks noGrp="1" noChangeArrowheads="1"/>
          </p:cNvSpPr>
          <p:nvPr>
            <p:ph type="body" idx="1"/>
          </p:nvPr>
        </p:nvSpPr>
        <p:spPr>
          <a:xfrm>
            <a:off x="466725" y="1111250"/>
            <a:ext cx="8277225" cy="4413516"/>
          </a:xfrm>
          <a:noFill/>
        </p:spPr>
        <p:txBody>
          <a:bodyPr/>
          <a:lstStyle/>
          <a:p>
            <a:pPr eaLnBrk="1" hangingPunct="1">
              <a:buClr>
                <a:schemeClr val="bg1"/>
              </a:buClr>
              <a:buSzTx/>
              <a:buFontTx/>
              <a:buNone/>
            </a:pPr>
            <a:r>
              <a:rPr kumimoji="1" lang="zh-CN" altLang="en-US" dirty="0" smtClean="0">
                <a:solidFill>
                  <a:srgbClr val="0000CC"/>
                </a:solidFill>
              </a:rPr>
              <a:t>定义：</a:t>
            </a:r>
            <a:r>
              <a:rPr kumimoji="1" lang="zh-CN" altLang="en-US" dirty="0" smtClean="0">
                <a:solidFill>
                  <a:schemeClr val="bg2"/>
                </a:solidFill>
              </a:rPr>
              <a:t>对图</a:t>
            </a:r>
            <a:r>
              <a:rPr kumimoji="1" lang="en-US" altLang="zh-CN" dirty="0" smtClean="0">
                <a:solidFill>
                  <a:schemeClr val="bg2"/>
                </a:solidFill>
              </a:rPr>
              <a:t>G</a:t>
            </a:r>
            <a:r>
              <a:rPr kumimoji="1" lang="zh-CN" altLang="en-US" dirty="0" smtClean="0">
                <a:solidFill>
                  <a:schemeClr val="bg2"/>
                </a:solidFill>
              </a:rPr>
              <a:t>的每一个结点着一种颜色，使得没有</a:t>
            </a:r>
            <a:r>
              <a:rPr kumimoji="1" lang="zh-CN" altLang="en-US" dirty="0" smtClean="0">
                <a:solidFill>
                  <a:schemeClr val="hlink"/>
                </a:solidFill>
              </a:rPr>
              <a:t>两个邻接的结点</a:t>
            </a:r>
            <a:r>
              <a:rPr kumimoji="1" lang="zh-CN" altLang="en-US" dirty="0" smtClean="0"/>
              <a:t>是</a:t>
            </a:r>
            <a:r>
              <a:rPr kumimoji="1" lang="zh-CN" altLang="en-US" dirty="0" smtClean="0">
                <a:solidFill>
                  <a:schemeClr val="bg2"/>
                </a:solidFill>
              </a:rPr>
              <a:t>着相同的颜色的，称为</a:t>
            </a:r>
            <a:r>
              <a:rPr kumimoji="1" lang="zh-CN" altLang="en-US" i="1" dirty="0" smtClean="0">
                <a:solidFill>
                  <a:srgbClr val="0000CC"/>
                </a:solidFill>
              </a:rPr>
              <a:t>图</a:t>
            </a:r>
            <a:r>
              <a:rPr kumimoji="1" lang="en-US" altLang="zh-CN" i="1" dirty="0" smtClean="0">
                <a:solidFill>
                  <a:srgbClr val="0000CC"/>
                </a:solidFill>
              </a:rPr>
              <a:t>G</a:t>
            </a:r>
            <a:r>
              <a:rPr kumimoji="1" lang="zh-CN" altLang="en-US" i="1" dirty="0" smtClean="0">
                <a:solidFill>
                  <a:srgbClr val="0000CC"/>
                </a:solidFill>
              </a:rPr>
              <a:t>的正常着色</a:t>
            </a:r>
            <a:r>
              <a:rPr kumimoji="1" lang="en-US" altLang="zh-CN" i="1" dirty="0" smtClean="0">
                <a:solidFill>
                  <a:srgbClr val="0000CC"/>
                </a:solidFill>
              </a:rPr>
              <a:t>(</a:t>
            </a:r>
            <a:r>
              <a:rPr kumimoji="1" lang="zh-CN" altLang="en-US" i="1" dirty="0" smtClean="0">
                <a:solidFill>
                  <a:srgbClr val="0000CC"/>
                </a:solidFill>
              </a:rPr>
              <a:t>简称着色</a:t>
            </a:r>
            <a:r>
              <a:rPr kumimoji="1" lang="en-US" altLang="zh-CN" i="1" dirty="0" smtClean="0">
                <a:solidFill>
                  <a:srgbClr val="0000CC"/>
                </a:solidFill>
              </a:rPr>
              <a:t>)</a:t>
            </a:r>
            <a:r>
              <a:rPr kumimoji="1" lang="zh-CN" altLang="en-US" dirty="0" smtClean="0">
                <a:solidFill>
                  <a:schemeClr val="bg2"/>
                </a:solidFill>
              </a:rPr>
              <a:t>；</a:t>
            </a:r>
          </a:p>
          <a:p>
            <a:pPr eaLnBrk="1" hangingPunct="1">
              <a:buClr>
                <a:schemeClr val="bg1"/>
              </a:buClr>
              <a:buSzTx/>
              <a:buFontTx/>
              <a:buNone/>
            </a:pPr>
            <a:r>
              <a:rPr kumimoji="1" lang="zh-CN" altLang="en-US" dirty="0" smtClean="0">
                <a:solidFill>
                  <a:schemeClr val="bg2"/>
                </a:solidFill>
              </a:rPr>
              <a:t>若用</a:t>
            </a:r>
            <a:r>
              <a:rPr kumimoji="1" lang="en-US" altLang="zh-CN" dirty="0" smtClean="0">
                <a:solidFill>
                  <a:schemeClr val="bg2"/>
                </a:solidFill>
              </a:rPr>
              <a:t>n</a:t>
            </a:r>
            <a:r>
              <a:rPr kumimoji="1" lang="zh-CN" altLang="en-US" dirty="0" smtClean="0">
                <a:solidFill>
                  <a:schemeClr val="bg2"/>
                </a:solidFill>
              </a:rPr>
              <a:t>种颜色对图</a:t>
            </a:r>
            <a:r>
              <a:rPr kumimoji="1" lang="en-US" altLang="zh-CN" dirty="0" smtClean="0">
                <a:solidFill>
                  <a:schemeClr val="bg2"/>
                </a:solidFill>
              </a:rPr>
              <a:t>G</a:t>
            </a:r>
            <a:r>
              <a:rPr kumimoji="1" lang="zh-CN" altLang="en-US" dirty="0" smtClean="0">
                <a:solidFill>
                  <a:schemeClr val="bg2"/>
                </a:solidFill>
              </a:rPr>
              <a:t>能正常着色，则称</a:t>
            </a:r>
            <a:r>
              <a:rPr kumimoji="1" lang="en-US" altLang="zh-CN" dirty="0" smtClean="0">
                <a:solidFill>
                  <a:schemeClr val="bg2"/>
                </a:solidFill>
              </a:rPr>
              <a:t>G</a:t>
            </a:r>
            <a:r>
              <a:rPr kumimoji="1" lang="zh-CN" altLang="en-US" dirty="0" smtClean="0">
                <a:solidFill>
                  <a:schemeClr val="bg2"/>
                </a:solidFill>
              </a:rPr>
              <a:t>为</a:t>
            </a:r>
            <a:r>
              <a:rPr kumimoji="1" lang="en-US" altLang="zh-CN" i="1" dirty="0" smtClean="0">
                <a:solidFill>
                  <a:srgbClr val="0000CC"/>
                </a:solidFill>
              </a:rPr>
              <a:t>n</a:t>
            </a:r>
            <a:r>
              <a:rPr kumimoji="1" lang="zh-CN" altLang="en-US" i="1" dirty="0" smtClean="0">
                <a:solidFill>
                  <a:srgbClr val="0000CC"/>
                </a:solidFill>
              </a:rPr>
              <a:t>可着色的</a:t>
            </a:r>
            <a:r>
              <a:rPr kumimoji="1" lang="zh-CN" altLang="en-US" dirty="0" smtClean="0">
                <a:solidFill>
                  <a:schemeClr val="bg2"/>
                </a:solidFill>
              </a:rPr>
              <a:t>，记为</a:t>
            </a:r>
            <a:r>
              <a:rPr kumimoji="1" lang="en-US" altLang="zh-CN" dirty="0" smtClean="0">
                <a:solidFill>
                  <a:schemeClr val="bg2"/>
                </a:solidFill>
              </a:rPr>
              <a:t>n-</a:t>
            </a:r>
            <a:r>
              <a:rPr kumimoji="1" lang="zh-CN" altLang="en-US" dirty="0" smtClean="0">
                <a:solidFill>
                  <a:schemeClr val="bg2"/>
                </a:solidFill>
              </a:rPr>
              <a:t>色的</a:t>
            </a:r>
            <a:r>
              <a:rPr kumimoji="1" lang="en-US" altLang="zh-CN" dirty="0" smtClean="0">
                <a:solidFill>
                  <a:schemeClr val="bg2"/>
                </a:solidFill>
              </a:rPr>
              <a:t>;</a:t>
            </a:r>
          </a:p>
          <a:p>
            <a:pPr eaLnBrk="1" hangingPunct="1">
              <a:buClr>
                <a:schemeClr val="bg1"/>
              </a:buClr>
              <a:buSzTx/>
              <a:buFontTx/>
              <a:buNone/>
            </a:pPr>
            <a:r>
              <a:rPr kumimoji="1" lang="zh-CN" altLang="en-US" dirty="0" smtClean="0">
                <a:solidFill>
                  <a:schemeClr val="bg2"/>
                </a:solidFill>
              </a:rPr>
              <a:t>对图</a:t>
            </a:r>
            <a:r>
              <a:rPr kumimoji="1" lang="en-US" altLang="zh-CN" dirty="0" smtClean="0">
                <a:solidFill>
                  <a:schemeClr val="bg2"/>
                </a:solidFill>
              </a:rPr>
              <a:t>G</a:t>
            </a:r>
            <a:r>
              <a:rPr kumimoji="1" lang="zh-CN" altLang="en-US" dirty="0" smtClean="0">
                <a:solidFill>
                  <a:schemeClr val="bg2"/>
                </a:solidFill>
              </a:rPr>
              <a:t>着色需要的最少颜色数称为</a:t>
            </a:r>
            <a:r>
              <a:rPr kumimoji="1" lang="en-US" altLang="zh-CN" dirty="0" smtClean="0">
                <a:solidFill>
                  <a:schemeClr val="bg2"/>
                </a:solidFill>
              </a:rPr>
              <a:t>G</a:t>
            </a:r>
            <a:r>
              <a:rPr kumimoji="1" lang="zh-CN" altLang="en-US" dirty="0" smtClean="0">
                <a:solidFill>
                  <a:schemeClr val="bg2"/>
                </a:solidFill>
              </a:rPr>
              <a:t>的</a:t>
            </a:r>
            <a:r>
              <a:rPr kumimoji="1" lang="zh-CN" altLang="en-US" i="1" dirty="0" smtClean="0">
                <a:solidFill>
                  <a:srgbClr val="0000CC"/>
                </a:solidFill>
              </a:rPr>
              <a:t>着色数</a:t>
            </a:r>
            <a:r>
              <a:rPr kumimoji="1" lang="zh-CN" altLang="en-US" dirty="0" smtClean="0">
                <a:solidFill>
                  <a:schemeClr val="bg2"/>
                </a:solidFill>
              </a:rPr>
              <a:t>，记作</a:t>
            </a:r>
            <a:r>
              <a:rPr kumimoji="1" lang="el-GR" altLang="zh-CN" dirty="0" smtClean="0">
                <a:solidFill>
                  <a:schemeClr val="bg2"/>
                </a:solidFill>
              </a:rPr>
              <a:t>χ</a:t>
            </a:r>
            <a:r>
              <a:rPr kumimoji="1" lang="en-US" altLang="zh-CN" dirty="0" smtClean="0">
                <a:solidFill>
                  <a:schemeClr val="bg2"/>
                </a:solidFill>
              </a:rPr>
              <a:t>(G)</a:t>
            </a:r>
            <a:r>
              <a:rPr kumimoji="1" lang="zh-CN" altLang="en-US" dirty="0" smtClean="0">
                <a:solidFill>
                  <a:schemeClr val="bg2"/>
                </a:solidFill>
              </a:rPr>
              <a:t>。</a:t>
            </a:r>
            <a:endParaRPr kumimoji="1" lang="zh-CN" altLang="en-US" dirty="0" smtClean="0">
              <a:solidFill>
                <a:srgbClr val="008000"/>
              </a:solidFill>
            </a:endParaRPr>
          </a:p>
          <a:p>
            <a:pPr eaLnBrk="1" hangingPunct="1">
              <a:buClr>
                <a:schemeClr val="hlink"/>
              </a:buClr>
              <a:buSzTx/>
              <a:buFont typeface="Wingdings" pitchFamily="2" charset="2"/>
              <a:buChar char="Ø"/>
            </a:pPr>
            <a:r>
              <a:rPr kumimoji="1" lang="zh-CN" altLang="en-US" dirty="0" smtClean="0">
                <a:solidFill>
                  <a:srgbClr val="008000"/>
                </a:solidFill>
              </a:rPr>
              <a:t>平面图的点着色与面着色</a:t>
            </a:r>
          </a:p>
          <a:p>
            <a:pPr eaLnBrk="1" hangingPunct="1">
              <a:buClr>
                <a:schemeClr val="hlink"/>
              </a:buClr>
              <a:buSzTx/>
              <a:buFont typeface="Wingdings" pitchFamily="2" charset="2"/>
              <a:buChar char="Ø"/>
            </a:pPr>
            <a:r>
              <a:rPr kumimoji="1" lang="zh-CN" altLang="en-US" dirty="0" smtClean="0">
                <a:solidFill>
                  <a:srgbClr val="008000"/>
                </a:solidFill>
              </a:rPr>
              <a:t>对平面图的面着色问题，如何转换成点着色的问题。</a:t>
            </a:r>
          </a:p>
          <a:p>
            <a:pPr eaLnBrk="1" hangingPunct="1">
              <a:buClr>
                <a:schemeClr val="hlink"/>
              </a:buClr>
              <a:buSzTx/>
              <a:buFont typeface="Wingdings" pitchFamily="2" charset="2"/>
              <a:buChar char="Ø"/>
            </a:pPr>
            <a:r>
              <a:rPr kumimoji="1" lang="zh-CN" altLang="en-US" dirty="0" smtClean="0">
                <a:solidFill>
                  <a:srgbClr val="993300"/>
                </a:solidFill>
              </a:rPr>
              <a:t>四色问题</a:t>
            </a:r>
            <a:r>
              <a:rPr kumimoji="1" lang="zh-CN" altLang="en-US" dirty="0" smtClean="0"/>
              <a:t>：要证明对任何一个平面图，一定可以用四种颜色对它的结点进行着色，使得邻接的结点都有不同的颜色。</a:t>
            </a:r>
          </a:p>
        </p:txBody>
      </p:sp>
    </p:spTree>
    <p:extLst>
      <p:ext uri="{BB962C8B-B14F-4D97-AF65-F5344CB8AC3E}">
        <p14:creationId xmlns:p14="http://schemas.microsoft.com/office/powerpoint/2010/main" val="3144378736"/>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5411">
                                            <p:txEl>
                                              <p:pRg st="1" end="1"/>
                                            </p:txEl>
                                          </p:spTgt>
                                        </p:tgtEl>
                                        <p:attrNameLst>
                                          <p:attrName>style.visibility</p:attrName>
                                        </p:attrNameLst>
                                      </p:cBhvr>
                                      <p:to>
                                        <p:strVal val="visible"/>
                                      </p:to>
                                    </p:set>
                                    <p:anim calcmode="lin" valueType="num">
                                      <p:cBhvr additive="base">
                                        <p:cTn id="7" dur="500" fill="hold"/>
                                        <p:tgtEl>
                                          <p:spTgt spid="14541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541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5411">
                                            <p:txEl>
                                              <p:pRg st="2" end="2"/>
                                            </p:txEl>
                                          </p:spTgt>
                                        </p:tgtEl>
                                        <p:attrNameLst>
                                          <p:attrName>style.visibility</p:attrName>
                                        </p:attrNameLst>
                                      </p:cBhvr>
                                      <p:to>
                                        <p:strVal val="visible"/>
                                      </p:to>
                                    </p:set>
                                    <p:anim calcmode="lin" valueType="num">
                                      <p:cBhvr additive="base">
                                        <p:cTn id="11" dur="500" fill="hold"/>
                                        <p:tgtEl>
                                          <p:spTgt spid="14541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541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45411">
                                            <p:txEl>
                                              <p:pRg st="3" end="3"/>
                                            </p:txEl>
                                          </p:spTgt>
                                        </p:tgtEl>
                                        <p:attrNameLst>
                                          <p:attrName>style.visibility</p:attrName>
                                        </p:attrNameLst>
                                      </p:cBhvr>
                                      <p:to>
                                        <p:strVal val="visible"/>
                                      </p:to>
                                    </p:set>
                                    <p:anim calcmode="lin" valueType="num">
                                      <p:cBhvr additive="base">
                                        <p:cTn id="17" dur="500" fill="hold"/>
                                        <p:tgtEl>
                                          <p:spTgt spid="145411">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4541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145411">
                                            <p:txEl>
                                              <p:pRg st="4" end="4"/>
                                            </p:txEl>
                                          </p:spTgt>
                                        </p:tgtEl>
                                        <p:attrNameLst>
                                          <p:attrName>style.visibility</p:attrName>
                                        </p:attrNameLst>
                                      </p:cBhvr>
                                      <p:to>
                                        <p:strVal val="visible"/>
                                      </p:to>
                                    </p:set>
                                    <p:anim calcmode="lin" valueType="num">
                                      <p:cBhvr additive="base">
                                        <p:cTn id="23" dur="500" fill="hold"/>
                                        <p:tgtEl>
                                          <p:spTgt spid="145411">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541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145411">
                                            <p:txEl>
                                              <p:pRg st="5" end="5"/>
                                            </p:txEl>
                                          </p:spTgt>
                                        </p:tgtEl>
                                        <p:attrNameLst>
                                          <p:attrName>style.visibility</p:attrName>
                                        </p:attrNameLst>
                                      </p:cBhvr>
                                      <p:to>
                                        <p:strVal val="visible"/>
                                      </p:to>
                                    </p:set>
                                    <p:anim calcmode="lin" valueType="num">
                                      <p:cBhvr additive="base">
                                        <p:cTn id="29" dur="500" fill="hold"/>
                                        <p:tgtEl>
                                          <p:spTgt spid="14541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5411">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灯片编号占位符 4"/>
          <p:cNvSpPr>
            <a:spLocks noGrp="1"/>
          </p:cNvSpPr>
          <p:nvPr>
            <p:ph type="sldNum" sz="quarter" idx="11"/>
          </p:nvPr>
        </p:nvSpPr>
        <p:spPr/>
        <p:txBody>
          <a:bodyPr/>
          <a:lstStyle/>
          <a:p>
            <a:pPr>
              <a:defRPr/>
            </a:pPr>
            <a:fld id="{3F8B1E3F-E74A-4058-8B2E-232F422231EE}" type="slidenum">
              <a:rPr lang="en-US" altLang="zh-CN"/>
              <a:pPr>
                <a:defRPr/>
              </a:pPr>
              <a:t>84</a:t>
            </a:fld>
            <a:endParaRPr lang="en-US" altLang="zh-CN"/>
          </a:p>
        </p:txBody>
      </p:sp>
      <p:sp>
        <p:nvSpPr>
          <p:cNvPr id="131075" name="Rectangle 3"/>
          <p:cNvSpPr>
            <a:spLocks noGrp="1" noChangeArrowheads="1"/>
          </p:cNvSpPr>
          <p:nvPr>
            <p:ph type="body" idx="1"/>
          </p:nvPr>
        </p:nvSpPr>
        <p:spPr>
          <a:xfrm>
            <a:off x="466725" y="1109663"/>
            <a:ext cx="8277225" cy="3414712"/>
          </a:xfrm>
        </p:spPr>
        <p:txBody>
          <a:bodyPr/>
          <a:lstStyle/>
          <a:p>
            <a:pPr algn="just" eaLnBrk="1" hangingPunct="1">
              <a:buClrTx/>
              <a:buSzTx/>
              <a:buFontTx/>
              <a:buNone/>
            </a:pPr>
            <a:r>
              <a:rPr kumimoji="1" lang="zh-CN" altLang="en-US" dirty="0" smtClean="0">
                <a:solidFill>
                  <a:srgbClr val="0000CC"/>
                </a:solidFill>
              </a:rPr>
              <a:t>定义：</a:t>
            </a:r>
            <a:r>
              <a:rPr kumimoji="1" lang="zh-CN" altLang="en-US" dirty="0" smtClean="0"/>
              <a:t>设</a:t>
            </a:r>
            <a:r>
              <a:rPr kumimoji="1" lang="en-US" altLang="zh-CN" dirty="0" smtClean="0"/>
              <a:t>G</a:t>
            </a:r>
            <a:r>
              <a:rPr kumimoji="1" lang="zh-CN" altLang="en-US" dirty="0" smtClean="0"/>
              <a:t>是一个平面图，现另作一图</a:t>
            </a:r>
            <a:r>
              <a:rPr kumimoji="1" lang="en-US" altLang="zh-CN" dirty="0" smtClean="0"/>
              <a:t>G*</a:t>
            </a:r>
            <a:r>
              <a:rPr kumimoji="1" lang="zh-CN" altLang="en-US" dirty="0" smtClean="0"/>
              <a:t>如下</a:t>
            </a:r>
            <a:r>
              <a:rPr kumimoji="1" lang="en-US" altLang="zh-CN" dirty="0" smtClean="0"/>
              <a:t>:</a:t>
            </a:r>
          </a:p>
          <a:p>
            <a:pPr algn="just" eaLnBrk="1" hangingPunct="1">
              <a:buClrTx/>
              <a:buSzTx/>
              <a:buFontTx/>
              <a:buNone/>
            </a:pPr>
            <a:r>
              <a:rPr lang="en-US" altLang="zh-CN" dirty="0" smtClean="0">
                <a:solidFill>
                  <a:srgbClr val="993300"/>
                </a:solidFill>
              </a:rPr>
              <a:t>(1)</a:t>
            </a:r>
            <a:r>
              <a:rPr lang="zh-CN" altLang="en-US" dirty="0" smtClean="0"/>
              <a:t>对应</a:t>
            </a:r>
            <a:r>
              <a:rPr lang="en-US" altLang="zh-CN" dirty="0" smtClean="0"/>
              <a:t>G</a:t>
            </a:r>
            <a:r>
              <a:rPr lang="zh-CN" altLang="en-US" dirty="0" smtClean="0"/>
              <a:t>的面</a:t>
            </a:r>
            <a:r>
              <a:rPr lang="en-US" altLang="zh-CN" dirty="0" smtClean="0"/>
              <a:t>F</a:t>
            </a:r>
            <a:r>
              <a:rPr lang="en-US" altLang="zh-CN" baseline="-25000" dirty="0" smtClean="0"/>
              <a:t>1</a:t>
            </a:r>
            <a:r>
              <a:rPr lang="zh-CN" altLang="en-US" dirty="0" smtClean="0"/>
              <a:t>，</a:t>
            </a:r>
            <a:r>
              <a:rPr lang="en-US" altLang="zh-CN" dirty="0" smtClean="0"/>
              <a:t>F</a:t>
            </a:r>
            <a:r>
              <a:rPr lang="en-US" altLang="zh-CN" baseline="-25000" dirty="0" smtClean="0"/>
              <a:t>2</a:t>
            </a:r>
            <a:r>
              <a:rPr lang="zh-CN" altLang="en-US" dirty="0" smtClean="0"/>
              <a:t>，</a:t>
            </a:r>
            <a:r>
              <a:rPr lang="en-US" altLang="zh-CN" dirty="0" smtClean="0"/>
              <a:t>…</a:t>
            </a:r>
            <a:r>
              <a:rPr lang="zh-CN" altLang="en-US" dirty="0" smtClean="0"/>
              <a:t>，</a:t>
            </a:r>
            <a:r>
              <a:rPr lang="en-US" altLang="zh-CN" dirty="0" err="1" smtClean="0"/>
              <a:t>F</a:t>
            </a:r>
            <a:r>
              <a:rPr lang="en-US" altLang="zh-CN" baseline="-25000" dirty="0" err="1" smtClean="0"/>
              <a:t>n</a:t>
            </a:r>
            <a:r>
              <a:rPr lang="zh-CN" altLang="en-US" dirty="0" smtClean="0"/>
              <a:t>分别作顶点</a:t>
            </a:r>
            <a:r>
              <a:rPr lang="en-US" altLang="zh-CN" dirty="0" smtClean="0"/>
              <a:t>v</a:t>
            </a:r>
            <a:r>
              <a:rPr lang="en-US" altLang="zh-CN" baseline="-25000" dirty="0" smtClean="0"/>
              <a:t>1</a:t>
            </a:r>
            <a:r>
              <a:rPr lang="en-US" altLang="zh-CN" dirty="0" smtClean="0"/>
              <a:t>*</a:t>
            </a:r>
            <a:r>
              <a:rPr lang="zh-CN" altLang="en-US" dirty="0" smtClean="0"/>
              <a:t>，</a:t>
            </a:r>
            <a:r>
              <a:rPr lang="en-US" altLang="zh-CN" dirty="0" smtClean="0"/>
              <a:t>v</a:t>
            </a:r>
            <a:r>
              <a:rPr lang="en-US" altLang="zh-CN" baseline="-25000" dirty="0" smtClean="0"/>
              <a:t>2</a:t>
            </a:r>
            <a:r>
              <a:rPr lang="en-US" altLang="zh-CN" dirty="0" smtClean="0"/>
              <a:t>*</a:t>
            </a:r>
            <a:r>
              <a:rPr lang="zh-CN" altLang="en-US" dirty="0" smtClean="0"/>
              <a:t>，</a:t>
            </a:r>
            <a:r>
              <a:rPr lang="en-US" altLang="zh-CN" dirty="0" smtClean="0"/>
              <a:t>…</a:t>
            </a:r>
            <a:r>
              <a:rPr lang="zh-CN" altLang="en-US" dirty="0" smtClean="0"/>
              <a:t>，</a:t>
            </a:r>
            <a:r>
              <a:rPr lang="en-US" altLang="zh-CN" dirty="0" err="1" smtClean="0"/>
              <a:t>v</a:t>
            </a:r>
            <a:r>
              <a:rPr lang="en-US" altLang="zh-CN" baseline="-25000" dirty="0" err="1" smtClean="0"/>
              <a:t>n</a:t>
            </a:r>
            <a:r>
              <a:rPr lang="en-US" altLang="zh-CN" dirty="0" smtClean="0"/>
              <a:t>*</a:t>
            </a:r>
          </a:p>
          <a:p>
            <a:pPr algn="just" eaLnBrk="1" hangingPunct="1">
              <a:buClrTx/>
              <a:buSzTx/>
              <a:buFontTx/>
              <a:buNone/>
            </a:pPr>
            <a:r>
              <a:rPr lang="en-US" altLang="zh-CN" dirty="0" smtClean="0">
                <a:solidFill>
                  <a:srgbClr val="993300"/>
                </a:solidFill>
              </a:rPr>
              <a:t>(2)</a:t>
            </a:r>
            <a:r>
              <a:rPr lang="zh-CN" altLang="en-US" dirty="0" smtClean="0"/>
              <a:t>当且仅当</a:t>
            </a:r>
            <a:r>
              <a:rPr lang="en-US" altLang="zh-CN" dirty="0" err="1" smtClean="0"/>
              <a:t>e</a:t>
            </a:r>
            <a:r>
              <a:rPr kumimoji="1" lang="en-US" altLang="zh-CN" dirty="0" err="1" smtClean="0">
                <a:solidFill>
                  <a:schemeClr val="bg2"/>
                </a:solidFill>
              </a:rPr>
              <a:t>∈E</a:t>
            </a:r>
            <a:r>
              <a:rPr kumimoji="1" lang="en-US" altLang="zh-CN" dirty="0" smtClean="0">
                <a:solidFill>
                  <a:schemeClr val="bg2"/>
                </a:solidFill>
              </a:rPr>
              <a:t>(G)</a:t>
            </a:r>
            <a:r>
              <a:rPr kumimoji="1" lang="zh-CN" altLang="en-US" dirty="0" smtClean="0">
                <a:solidFill>
                  <a:schemeClr val="bg2"/>
                </a:solidFill>
              </a:rPr>
              <a:t>是</a:t>
            </a:r>
            <a:r>
              <a:rPr kumimoji="1" lang="en-US" altLang="zh-CN" dirty="0" smtClean="0">
                <a:solidFill>
                  <a:schemeClr val="bg2"/>
                </a:solidFill>
              </a:rPr>
              <a:t>G</a:t>
            </a:r>
            <a:r>
              <a:rPr kumimoji="1" lang="zh-CN" altLang="en-US" dirty="0" smtClean="0">
                <a:solidFill>
                  <a:schemeClr val="bg2"/>
                </a:solidFill>
              </a:rPr>
              <a:t>的两个面</a:t>
            </a:r>
            <a:r>
              <a:rPr kumimoji="1" lang="en-US" altLang="zh-CN" dirty="0" smtClean="0">
                <a:solidFill>
                  <a:schemeClr val="bg2"/>
                </a:solidFill>
              </a:rPr>
              <a:t>F</a:t>
            </a:r>
            <a:r>
              <a:rPr kumimoji="1" lang="en-US" altLang="zh-CN" baseline="-25000" dirty="0" smtClean="0">
                <a:solidFill>
                  <a:schemeClr val="bg2"/>
                </a:solidFill>
              </a:rPr>
              <a:t>i</a:t>
            </a:r>
            <a:r>
              <a:rPr kumimoji="1" lang="zh-CN" altLang="en-US" dirty="0" smtClean="0">
                <a:solidFill>
                  <a:schemeClr val="bg2"/>
                </a:solidFill>
              </a:rPr>
              <a:t>，</a:t>
            </a:r>
            <a:r>
              <a:rPr kumimoji="1" lang="en-US" altLang="zh-CN" dirty="0" err="1" smtClean="0">
                <a:solidFill>
                  <a:schemeClr val="bg2"/>
                </a:solidFill>
              </a:rPr>
              <a:t>F</a:t>
            </a:r>
            <a:r>
              <a:rPr kumimoji="1" lang="en-US" altLang="zh-CN" baseline="-25000" dirty="0" err="1" smtClean="0">
                <a:solidFill>
                  <a:schemeClr val="bg2"/>
                </a:solidFill>
              </a:rPr>
              <a:t>j</a:t>
            </a:r>
            <a:r>
              <a:rPr kumimoji="1" lang="zh-CN" altLang="en-US" dirty="0" smtClean="0">
                <a:solidFill>
                  <a:schemeClr val="bg2"/>
                </a:solidFill>
              </a:rPr>
              <a:t>的公共边时，在</a:t>
            </a:r>
            <a:r>
              <a:rPr kumimoji="1" lang="en-US" altLang="zh-CN" dirty="0" smtClean="0">
                <a:solidFill>
                  <a:schemeClr val="bg2"/>
                </a:solidFill>
              </a:rPr>
              <a:t>v</a:t>
            </a:r>
            <a:r>
              <a:rPr kumimoji="1" lang="en-US" altLang="zh-CN" baseline="-25000" dirty="0" smtClean="0">
                <a:solidFill>
                  <a:schemeClr val="bg2"/>
                </a:solidFill>
              </a:rPr>
              <a:t>i</a:t>
            </a:r>
            <a:r>
              <a:rPr kumimoji="1" lang="en-US" altLang="zh-CN" dirty="0" smtClean="0">
                <a:solidFill>
                  <a:schemeClr val="bg2"/>
                </a:solidFill>
              </a:rPr>
              <a:t>*</a:t>
            </a:r>
            <a:r>
              <a:rPr kumimoji="1" lang="zh-CN" altLang="en-US" dirty="0" smtClean="0">
                <a:solidFill>
                  <a:schemeClr val="bg2"/>
                </a:solidFill>
              </a:rPr>
              <a:t>与</a:t>
            </a:r>
            <a:r>
              <a:rPr kumimoji="1" lang="en-US" altLang="zh-CN" dirty="0" err="1" smtClean="0">
                <a:solidFill>
                  <a:schemeClr val="bg2"/>
                </a:solidFill>
              </a:rPr>
              <a:t>v</a:t>
            </a:r>
            <a:r>
              <a:rPr kumimoji="1" lang="en-US" altLang="zh-CN" baseline="-25000" dirty="0" err="1" smtClean="0">
                <a:solidFill>
                  <a:schemeClr val="bg2"/>
                </a:solidFill>
              </a:rPr>
              <a:t>j</a:t>
            </a:r>
            <a:r>
              <a:rPr kumimoji="1" lang="en-US" altLang="zh-CN" dirty="0" smtClean="0">
                <a:solidFill>
                  <a:schemeClr val="bg2"/>
                </a:solidFill>
              </a:rPr>
              <a:t>*</a:t>
            </a:r>
            <a:r>
              <a:rPr kumimoji="1" lang="zh-CN" altLang="en-US" dirty="0" smtClean="0">
                <a:solidFill>
                  <a:schemeClr val="bg2"/>
                </a:solidFill>
              </a:rPr>
              <a:t>之间连一边</a:t>
            </a:r>
            <a:r>
              <a:rPr kumimoji="1" lang="en-US" altLang="zh-CN" dirty="0" smtClean="0">
                <a:solidFill>
                  <a:schemeClr val="bg2"/>
                </a:solidFill>
              </a:rPr>
              <a:t>e*</a:t>
            </a:r>
            <a:r>
              <a:rPr kumimoji="1" lang="zh-CN" altLang="en-US" dirty="0" smtClean="0">
                <a:solidFill>
                  <a:schemeClr val="bg2"/>
                </a:solidFill>
              </a:rPr>
              <a:t>，且</a:t>
            </a:r>
            <a:r>
              <a:rPr kumimoji="1" lang="en-US" altLang="zh-CN" dirty="0" smtClean="0">
                <a:solidFill>
                  <a:schemeClr val="bg2"/>
                </a:solidFill>
              </a:rPr>
              <a:t>e*</a:t>
            </a:r>
            <a:r>
              <a:rPr kumimoji="1" lang="zh-CN" altLang="en-US" dirty="0" smtClean="0">
                <a:solidFill>
                  <a:schemeClr val="bg2"/>
                </a:solidFill>
              </a:rPr>
              <a:t>和</a:t>
            </a:r>
            <a:r>
              <a:rPr kumimoji="1" lang="en-US" altLang="zh-CN" dirty="0" smtClean="0">
                <a:solidFill>
                  <a:schemeClr val="bg2"/>
                </a:solidFill>
              </a:rPr>
              <a:t>e</a:t>
            </a:r>
            <a:r>
              <a:rPr kumimoji="1" lang="zh-CN" altLang="en-US" dirty="0" smtClean="0">
                <a:solidFill>
                  <a:schemeClr val="bg2"/>
                </a:solidFill>
              </a:rPr>
              <a:t>相交</a:t>
            </a:r>
          </a:p>
          <a:p>
            <a:pPr algn="just" eaLnBrk="1" hangingPunct="1">
              <a:buClrTx/>
              <a:buSzTx/>
              <a:buFontTx/>
              <a:buNone/>
            </a:pPr>
            <a:r>
              <a:rPr lang="en-US" altLang="zh-CN" dirty="0" smtClean="0">
                <a:solidFill>
                  <a:srgbClr val="993300"/>
                </a:solidFill>
              </a:rPr>
              <a:t>(3)</a:t>
            </a:r>
            <a:r>
              <a:rPr lang="zh-CN" altLang="en-US" dirty="0" smtClean="0">
                <a:solidFill>
                  <a:schemeClr val="bg2"/>
                </a:solidFill>
              </a:rPr>
              <a:t>当且仅当</a:t>
            </a:r>
            <a:r>
              <a:rPr lang="en-US" altLang="zh-CN" dirty="0" err="1" smtClean="0">
                <a:solidFill>
                  <a:schemeClr val="bg2"/>
                </a:solidFill>
              </a:rPr>
              <a:t>e</a:t>
            </a:r>
            <a:r>
              <a:rPr kumimoji="1" lang="en-US" altLang="zh-CN" dirty="0" err="1" smtClean="0">
                <a:solidFill>
                  <a:schemeClr val="bg2"/>
                </a:solidFill>
              </a:rPr>
              <a:t>∈E</a:t>
            </a:r>
            <a:r>
              <a:rPr kumimoji="1" lang="en-US" altLang="zh-CN" dirty="0" smtClean="0">
                <a:solidFill>
                  <a:schemeClr val="bg2"/>
                </a:solidFill>
              </a:rPr>
              <a:t>(G)</a:t>
            </a:r>
            <a:r>
              <a:rPr kumimoji="1" lang="zh-CN" altLang="en-US" dirty="0" smtClean="0">
                <a:solidFill>
                  <a:schemeClr val="bg2"/>
                </a:solidFill>
              </a:rPr>
              <a:t>仅是一个面</a:t>
            </a:r>
            <a:r>
              <a:rPr kumimoji="1" lang="en-US" altLang="zh-CN" dirty="0" smtClean="0">
                <a:solidFill>
                  <a:schemeClr val="bg2"/>
                </a:solidFill>
              </a:rPr>
              <a:t>F</a:t>
            </a:r>
            <a:r>
              <a:rPr kumimoji="1" lang="en-US" altLang="zh-CN" baseline="-25000" dirty="0" smtClean="0">
                <a:solidFill>
                  <a:schemeClr val="bg2"/>
                </a:solidFill>
              </a:rPr>
              <a:t>i</a:t>
            </a:r>
            <a:r>
              <a:rPr kumimoji="1" lang="zh-CN" altLang="en-US" dirty="0" smtClean="0">
                <a:solidFill>
                  <a:schemeClr val="bg2"/>
                </a:solidFill>
              </a:rPr>
              <a:t>的边界时，在</a:t>
            </a:r>
            <a:r>
              <a:rPr kumimoji="1" lang="en-US" altLang="zh-CN" dirty="0" smtClean="0">
                <a:solidFill>
                  <a:schemeClr val="bg2"/>
                </a:solidFill>
              </a:rPr>
              <a:t>v</a:t>
            </a:r>
            <a:r>
              <a:rPr kumimoji="1" lang="en-US" altLang="zh-CN" baseline="-25000" dirty="0" smtClean="0">
                <a:solidFill>
                  <a:schemeClr val="bg2"/>
                </a:solidFill>
              </a:rPr>
              <a:t>i</a:t>
            </a:r>
            <a:r>
              <a:rPr kumimoji="1" lang="en-US" altLang="zh-CN" dirty="0" smtClean="0">
                <a:solidFill>
                  <a:schemeClr val="bg2"/>
                </a:solidFill>
              </a:rPr>
              <a:t>*</a:t>
            </a:r>
            <a:r>
              <a:rPr kumimoji="1" lang="zh-CN" altLang="en-US" dirty="0" smtClean="0">
                <a:solidFill>
                  <a:schemeClr val="bg2"/>
                </a:solidFill>
              </a:rPr>
              <a:t>上作一自环</a:t>
            </a:r>
            <a:r>
              <a:rPr kumimoji="1" lang="en-US" altLang="zh-CN" dirty="0" smtClean="0">
                <a:solidFill>
                  <a:schemeClr val="bg2"/>
                </a:solidFill>
              </a:rPr>
              <a:t>e*</a:t>
            </a:r>
            <a:r>
              <a:rPr kumimoji="1" lang="zh-CN" altLang="en-US" dirty="0" smtClean="0">
                <a:solidFill>
                  <a:schemeClr val="bg2"/>
                </a:solidFill>
              </a:rPr>
              <a:t>，且</a:t>
            </a:r>
            <a:r>
              <a:rPr kumimoji="1" lang="en-US" altLang="zh-CN" dirty="0" smtClean="0">
                <a:solidFill>
                  <a:schemeClr val="bg2"/>
                </a:solidFill>
              </a:rPr>
              <a:t>e*</a:t>
            </a:r>
            <a:r>
              <a:rPr kumimoji="1" lang="zh-CN" altLang="en-US" dirty="0" smtClean="0">
                <a:solidFill>
                  <a:schemeClr val="bg2"/>
                </a:solidFill>
              </a:rPr>
              <a:t>和</a:t>
            </a:r>
            <a:r>
              <a:rPr kumimoji="1" lang="en-US" altLang="zh-CN" dirty="0" smtClean="0">
                <a:solidFill>
                  <a:schemeClr val="bg2"/>
                </a:solidFill>
              </a:rPr>
              <a:t>e</a:t>
            </a:r>
            <a:r>
              <a:rPr kumimoji="1" lang="zh-CN" altLang="en-US" dirty="0" smtClean="0">
                <a:solidFill>
                  <a:schemeClr val="bg2"/>
                </a:solidFill>
              </a:rPr>
              <a:t>相交</a:t>
            </a:r>
          </a:p>
          <a:p>
            <a:pPr algn="just" eaLnBrk="1" hangingPunct="1">
              <a:buClrTx/>
              <a:buSzTx/>
              <a:buFontTx/>
              <a:buNone/>
            </a:pPr>
            <a:r>
              <a:rPr kumimoji="1" lang="zh-CN" altLang="en-US" dirty="0" smtClean="0">
                <a:solidFill>
                  <a:schemeClr val="bg2"/>
                </a:solidFill>
              </a:rPr>
              <a:t>图</a:t>
            </a:r>
            <a:r>
              <a:rPr kumimoji="1" lang="en-US" altLang="zh-CN" dirty="0" smtClean="0">
                <a:solidFill>
                  <a:schemeClr val="bg2"/>
                </a:solidFill>
              </a:rPr>
              <a:t>G*</a:t>
            </a:r>
            <a:r>
              <a:rPr kumimoji="1" lang="zh-CN" altLang="en-US" dirty="0" smtClean="0">
                <a:solidFill>
                  <a:schemeClr val="bg2"/>
                </a:solidFill>
              </a:rPr>
              <a:t>称为</a:t>
            </a:r>
            <a:r>
              <a:rPr kumimoji="1" lang="en-US" altLang="zh-CN" dirty="0" smtClean="0">
                <a:solidFill>
                  <a:schemeClr val="bg2"/>
                </a:solidFill>
              </a:rPr>
              <a:t>G</a:t>
            </a:r>
            <a:r>
              <a:rPr kumimoji="1" lang="zh-CN" altLang="en-US" dirty="0" smtClean="0">
                <a:solidFill>
                  <a:schemeClr val="bg2"/>
                </a:solidFill>
              </a:rPr>
              <a:t>的</a:t>
            </a:r>
            <a:r>
              <a:rPr kumimoji="1" lang="zh-CN" altLang="en-US" i="1" dirty="0" smtClean="0">
                <a:solidFill>
                  <a:srgbClr val="0000CC"/>
                </a:solidFill>
              </a:rPr>
              <a:t>对偶图</a:t>
            </a:r>
            <a:r>
              <a:rPr kumimoji="1" lang="zh-CN" altLang="en-US" dirty="0" smtClean="0">
                <a:solidFill>
                  <a:schemeClr val="bg2"/>
                </a:solidFill>
              </a:rPr>
              <a:t>。</a:t>
            </a:r>
            <a:endParaRPr lang="zh-CN" altLang="en-US" sz="3200" dirty="0" smtClean="0">
              <a:latin typeface="楷体_GB2312" pitchFamily="49" charset="-122"/>
              <a:ea typeface="楷体_GB2312" pitchFamily="49" charset="-122"/>
            </a:endParaRPr>
          </a:p>
        </p:txBody>
      </p:sp>
      <p:sp>
        <p:nvSpPr>
          <p:cNvPr id="131076" name="Freeform 4"/>
          <p:cNvSpPr>
            <a:spLocks/>
          </p:cNvSpPr>
          <p:nvPr/>
        </p:nvSpPr>
        <p:spPr bwMode="auto">
          <a:xfrm>
            <a:off x="5176838" y="4081463"/>
            <a:ext cx="669925" cy="1143000"/>
          </a:xfrm>
          <a:custGeom>
            <a:avLst/>
            <a:gdLst>
              <a:gd name="T0" fmla="*/ 589576 w 642"/>
              <a:gd name="T1" fmla="*/ 22931 h 1296"/>
              <a:gd name="T2" fmla="*/ 401746 w 642"/>
              <a:gd name="T3" fmla="*/ 298097 h 1296"/>
              <a:gd name="T4" fmla="*/ 213917 w 642"/>
              <a:gd name="T5" fmla="*/ 573264 h 1296"/>
              <a:gd name="T6" fmla="*/ 73045 w 642"/>
              <a:gd name="T7" fmla="*/ 827264 h 1296"/>
              <a:gd name="T8" fmla="*/ 26087 w 642"/>
              <a:gd name="T9" fmla="*/ 986014 h 1296"/>
              <a:gd name="T10" fmla="*/ 229569 w 642"/>
              <a:gd name="T11" fmla="*/ 1118306 h 1296"/>
              <a:gd name="T12" fmla="*/ 401746 w 642"/>
              <a:gd name="T13" fmla="*/ 1123597 h 1296"/>
              <a:gd name="T14" fmla="*/ 605228 w 642"/>
              <a:gd name="T15" fmla="*/ 999243 h 1296"/>
              <a:gd name="T16" fmla="*/ 667838 w 642"/>
              <a:gd name="T17" fmla="*/ 774347 h 1296"/>
              <a:gd name="T18" fmla="*/ 589576 w 642"/>
              <a:gd name="T19" fmla="*/ 435681 h 1296"/>
              <a:gd name="T20" fmla="*/ 589576 w 642"/>
              <a:gd name="T21" fmla="*/ 22931 h 12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42" h="1296">
                <a:moveTo>
                  <a:pt x="565" y="26"/>
                </a:moveTo>
                <a:cubicBezTo>
                  <a:pt x="535" y="0"/>
                  <a:pt x="445" y="234"/>
                  <a:pt x="385" y="338"/>
                </a:cubicBezTo>
                <a:cubicBezTo>
                  <a:pt x="325" y="442"/>
                  <a:pt x="257" y="550"/>
                  <a:pt x="205" y="650"/>
                </a:cubicBezTo>
                <a:cubicBezTo>
                  <a:pt x="153" y="750"/>
                  <a:pt x="100" y="860"/>
                  <a:pt x="70" y="938"/>
                </a:cubicBezTo>
                <a:cubicBezTo>
                  <a:pt x="40" y="1016"/>
                  <a:pt x="0" y="1063"/>
                  <a:pt x="25" y="1118"/>
                </a:cubicBezTo>
                <a:cubicBezTo>
                  <a:pt x="50" y="1173"/>
                  <a:pt x="160" y="1242"/>
                  <a:pt x="220" y="1268"/>
                </a:cubicBezTo>
                <a:cubicBezTo>
                  <a:pt x="280" y="1294"/>
                  <a:pt x="325" y="1296"/>
                  <a:pt x="385" y="1274"/>
                </a:cubicBezTo>
                <a:cubicBezTo>
                  <a:pt x="445" y="1252"/>
                  <a:pt x="537" y="1199"/>
                  <a:pt x="580" y="1133"/>
                </a:cubicBezTo>
                <a:cubicBezTo>
                  <a:pt x="623" y="1067"/>
                  <a:pt x="642" y="984"/>
                  <a:pt x="640" y="878"/>
                </a:cubicBezTo>
                <a:cubicBezTo>
                  <a:pt x="638" y="772"/>
                  <a:pt x="577" y="636"/>
                  <a:pt x="565" y="494"/>
                </a:cubicBezTo>
                <a:cubicBezTo>
                  <a:pt x="553" y="352"/>
                  <a:pt x="595" y="52"/>
                  <a:pt x="565" y="26"/>
                </a:cubicBezTo>
                <a:close/>
              </a:path>
            </a:pathLst>
          </a:custGeom>
          <a:solidFill>
            <a:srgbClr val="FFFF99"/>
          </a:solidFill>
          <a:ln w="25400" cap="flat">
            <a:solidFill>
              <a:srgbClr val="000000"/>
            </a:solidFill>
            <a:prstDash val="dash"/>
            <a:round/>
            <a:headEnd/>
            <a:tailEnd/>
          </a:ln>
        </p:spPr>
        <p:txBody>
          <a:bodyPr/>
          <a:lstStyle/>
          <a:p>
            <a:endParaRPr lang="zh-CN" altLang="en-US"/>
          </a:p>
        </p:txBody>
      </p:sp>
      <p:grpSp>
        <p:nvGrpSpPr>
          <p:cNvPr id="131077" name="Group 5"/>
          <p:cNvGrpSpPr>
            <a:grpSpLocks/>
          </p:cNvGrpSpPr>
          <p:nvPr/>
        </p:nvGrpSpPr>
        <p:grpSpPr bwMode="auto">
          <a:xfrm>
            <a:off x="5332413" y="3933825"/>
            <a:ext cx="558800" cy="1882775"/>
            <a:chOff x="3851" y="2024"/>
            <a:chExt cx="352" cy="1186"/>
          </a:xfrm>
        </p:grpSpPr>
        <p:sp>
          <p:nvSpPr>
            <p:cNvPr id="85016" name="Text Box 6"/>
            <p:cNvSpPr txBox="1">
              <a:spLocks noChangeArrowheads="1"/>
            </p:cNvSpPr>
            <p:nvPr/>
          </p:nvSpPr>
          <p:spPr bwMode="auto">
            <a:xfrm>
              <a:off x="4011" y="2024"/>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5017" name="Text Box 7"/>
            <p:cNvSpPr txBox="1">
              <a:spLocks noChangeArrowheads="1"/>
            </p:cNvSpPr>
            <p:nvPr/>
          </p:nvSpPr>
          <p:spPr bwMode="auto">
            <a:xfrm>
              <a:off x="3867" y="3056"/>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5018" name="Text Box 8"/>
            <p:cNvSpPr txBox="1">
              <a:spLocks noChangeArrowheads="1"/>
            </p:cNvSpPr>
            <p:nvPr/>
          </p:nvSpPr>
          <p:spPr bwMode="auto">
            <a:xfrm>
              <a:off x="3851" y="2744"/>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grpSp>
      <p:sp>
        <p:nvSpPr>
          <p:cNvPr id="131081" name="Freeform 9"/>
          <p:cNvSpPr>
            <a:spLocks/>
          </p:cNvSpPr>
          <p:nvPr/>
        </p:nvSpPr>
        <p:spPr bwMode="auto">
          <a:xfrm>
            <a:off x="4395788" y="4035425"/>
            <a:ext cx="1500187" cy="955675"/>
          </a:xfrm>
          <a:custGeom>
            <a:avLst/>
            <a:gdLst>
              <a:gd name="T0" fmla="*/ 1406425 w 1440"/>
              <a:gd name="T1" fmla="*/ 65240 h 1084"/>
              <a:gd name="T2" fmla="*/ 593824 w 1440"/>
              <a:gd name="T3" fmla="*/ 41436 h 1084"/>
              <a:gd name="T4" fmla="*/ 218777 w 1440"/>
              <a:gd name="T5" fmla="*/ 316501 h 1084"/>
              <a:gd name="T6" fmla="*/ 31254 w 1440"/>
              <a:gd name="T7" fmla="*/ 591566 h 1084"/>
              <a:gd name="T8" fmla="*/ 31254 w 1440"/>
              <a:gd name="T9" fmla="*/ 866631 h 1084"/>
              <a:gd name="T10" fmla="*/ 218777 w 1440"/>
              <a:gd name="T11" fmla="*/ 938043 h 1084"/>
              <a:gd name="T12" fmla="*/ 484435 w 1440"/>
              <a:gd name="T13" fmla="*/ 898370 h 1084"/>
              <a:gd name="T14" fmla="*/ 781347 w 1440"/>
              <a:gd name="T15" fmla="*/ 591566 h 1084"/>
              <a:gd name="T16" fmla="*/ 968871 w 1440"/>
              <a:gd name="T17" fmla="*/ 316501 h 1084"/>
              <a:gd name="T18" fmla="*/ 1156394 w 1440"/>
              <a:gd name="T19" fmla="*/ 178969 h 1084"/>
              <a:gd name="T20" fmla="*/ 1406425 w 1440"/>
              <a:gd name="T21" fmla="*/ 65240 h 10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40" h="1084">
                <a:moveTo>
                  <a:pt x="1350" y="74"/>
                </a:moveTo>
                <a:cubicBezTo>
                  <a:pt x="1260" y="48"/>
                  <a:pt x="760" y="0"/>
                  <a:pt x="570" y="47"/>
                </a:cubicBezTo>
                <a:cubicBezTo>
                  <a:pt x="380" y="94"/>
                  <a:pt x="300" y="255"/>
                  <a:pt x="210" y="359"/>
                </a:cubicBezTo>
                <a:cubicBezTo>
                  <a:pt x="120" y="463"/>
                  <a:pt x="60" y="567"/>
                  <a:pt x="30" y="671"/>
                </a:cubicBezTo>
                <a:cubicBezTo>
                  <a:pt x="0" y="775"/>
                  <a:pt x="0" y="918"/>
                  <a:pt x="30" y="983"/>
                </a:cubicBezTo>
                <a:cubicBezTo>
                  <a:pt x="60" y="1048"/>
                  <a:pt x="138" y="1058"/>
                  <a:pt x="210" y="1064"/>
                </a:cubicBezTo>
                <a:cubicBezTo>
                  <a:pt x="282" y="1070"/>
                  <a:pt x="375" y="1084"/>
                  <a:pt x="465" y="1019"/>
                </a:cubicBezTo>
                <a:cubicBezTo>
                  <a:pt x="555" y="954"/>
                  <a:pt x="672" y="781"/>
                  <a:pt x="750" y="671"/>
                </a:cubicBezTo>
                <a:cubicBezTo>
                  <a:pt x="828" y="561"/>
                  <a:pt x="870" y="437"/>
                  <a:pt x="930" y="359"/>
                </a:cubicBezTo>
                <a:cubicBezTo>
                  <a:pt x="990" y="281"/>
                  <a:pt x="1040" y="251"/>
                  <a:pt x="1110" y="203"/>
                </a:cubicBezTo>
                <a:cubicBezTo>
                  <a:pt x="1180" y="155"/>
                  <a:pt x="1440" y="100"/>
                  <a:pt x="1350" y="74"/>
                </a:cubicBezTo>
                <a:close/>
              </a:path>
            </a:pathLst>
          </a:custGeom>
          <a:solidFill>
            <a:srgbClr val="FFFF99"/>
          </a:solidFill>
          <a:ln w="25400" cap="flat">
            <a:solidFill>
              <a:srgbClr val="000000"/>
            </a:solidFill>
            <a:prstDash val="dash"/>
            <a:round/>
            <a:headEnd/>
            <a:tailEnd/>
          </a:ln>
        </p:spPr>
        <p:txBody>
          <a:bodyPr/>
          <a:lstStyle/>
          <a:p>
            <a:endParaRPr lang="zh-CN" altLang="en-US"/>
          </a:p>
        </p:txBody>
      </p:sp>
      <p:sp>
        <p:nvSpPr>
          <p:cNvPr id="131082" name="Freeform 10"/>
          <p:cNvSpPr>
            <a:spLocks/>
          </p:cNvSpPr>
          <p:nvPr/>
        </p:nvSpPr>
        <p:spPr bwMode="auto">
          <a:xfrm>
            <a:off x="5116513" y="4059238"/>
            <a:ext cx="2479675" cy="2190750"/>
          </a:xfrm>
          <a:custGeom>
            <a:avLst/>
            <a:gdLst>
              <a:gd name="T0" fmla="*/ 623044 w 2380"/>
              <a:gd name="T1" fmla="*/ 22912 h 2486"/>
              <a:gd name="T2" fmla="*/ 1373198 w 2380"/>
              <a:gd name="T3" fmla="*/ 297857 h 2486"/>
              <a:gd name="T4" fmla="*/ 1748275 w 2380"/>
              <a:gd name="T5" fmla="*/ 710275 h 2486"/>
              <a:gd name="T6" fmla="*/ 1935814 w 2380"/>
              <a:gd name="T7" fmla="*/ 1397639 h 2486"/>
              <a:gd name="T8" fmla="*/ 1373198 w 2380"/>
              <a:gd name="T9" fmla="*/ 1672584 h 2486"/>
              <a:gd name="T10" fmla="*/ 435506 w 2380"/>
              <a:gd name="T11" fmla="*/ 1672584 h 2486"/>
              <a:gd name="T12" fmla="*/ 60429 w 2380"/>
              <a:gd name="T13" fmla="*/ 1947529 h 2486"/>
              <a:gd name="T14" fmla="*/ 794955 w 2380"/>
              <a:gd name="T15" fmla="*/ 2188106 h 2486"/>
              <a:gd name="T16" fmla="*/ 2045211 w 2380"/>
              <a:gd name="T17" fmla="*/ 1963391 h 2486"/>
              <a:gd name="T18" fmla="*/ 2467172 w 2380"/>
              <a:gd name="T19" fmla="*/ 1566836 h 2486"/>
              <a:gd name="T20" fmla="*/ 2123352 w 2380"/>
              <a:gd name="T21" fmla="*/ 435330 h 2486"/>
              <a:gd name="T22" fmla="*/ 623044 w 2380"/>
              <a:gd name="T23" fmla="*/ 22912 h 248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80" h="2486">
                <a:moveTo>
                  <a:pt x="598" y="26"/>
                </a:moveTo>
                <a:cubicBezTo>
                  <a:pt x="478" y="0"/>
                  <a:pt x="1138" y="208"/>
                  <a:pt x="1318" y="338"/>
                </a:cubicBezTo>
                <a:cubicBezTo>
                  <a:pt x="1498" y="468"/>
                  <a:pt x="1588" y="598"/>
                  <a:pt x="1678" y="806"/>
                </a:cubicBezTo>
                <a:cubicBezTo>
                  <a:pt x="1768" y="1014"/>
                  <a:pt x="1918" y="1404"/>
                  <a:pt x="1858" y="1586"/>
                </a:cubicBezTo>
                <a:cubicBezTo>
                  <a:pt x="1798" y="1768"/>
                  <a:pt x="1558" y="1846"/>
                  <a:pt x="1318" y="1898"/>
                </a:cubicBezTo>
                <a:cubicBezTo>
                  <a:pt x="1078" y="1950"/>
                  <a:pt x="628" y="1846"/>
                  <a:pt x="418" y="1898"/>
                </a:cubicBezTo>
                <a:cubicBezTo>
                  <a:pt x="208" y="1950"/>
                  <a:pt x="0" y="2112"/>
                  <a:pt x="58" y="2210"/>
                </a:cubicBezTo>
                <a:cubicBezTo>
                  <a:pt x="116" y="2308"/>
                  <a:pt x="446" y="2480"/>
                  <a:pt x="763" y="2483"/>
                </a:cubicBezTo>
                <a:cubicBezTo>
                  <a:pt x="1080" y="2486"/>
                  <a:pt x="1696" y="2345"/>
                  <a:pt x="1963" y="2228"/>
                </a:cubicBezTo>
                <a:cubicBezTo>
                  <a:pt x="2230" y="2111"/>
                  <a:pt x="2356" y="2067"/>
                  <a:pt x="2368" y="1778"/>
                </a:cubicBezTo>
                <a:cubicBezTo>
                  <a:pt x="2380" y="1489"/>
                  <a:pt x="2333" y="786"/>
                  <a:pt x="2038" y="494"/>
                </a:cubicBezTo>
                <a:cubicBezTo>
                  <a:pt x="1743" y="202"/>
                  <a:pt x="718" y="52"/>
                  <a:pt x="598" y="26"/>
                </a:cubicBezTo>
                <a:close/>
              </a:path>
            </a:pathLst>
          </a:custGeom>
          <a:solidFill>
            <a:srgbClr val="FFFF99"/>
          </a:solidFill>
          <a:ln w="25400" cap="flat">
            <a:solidFill>
              <a:srgbClr val="000000"/>
            </a:solidFill>
            <a:prstDash val="dash"/>
            <a:round/>
            <a:headEnd/>
            <a:tailEnd/>
          </a:ln>
        </p:spPr>
        <p:txBody>
          <a:bodyPr/>
          <a:lstStyle/>
          <a:p>
            <a:endParaRPr lang="zh-CN" altLang="en-US"/>
          </a:p>
        </p:txBody>
      </p:sp>
      <p:sp>
        <p:nvSpPr>
          <p:cNvPr id="131083" name="Line 11"/>
          <p:cNvSpPr>
            <a:spLocks noChangeShapeType="1"/>
          </p:cNvSpPr>
          <p:nvPr/>
        </p:nvSpPr>
        <p:spPr bwMode="auto">
          <a:xfrm>
            <a:off x="5475288" y="5259388"/>
            <a:ext cx="73025" cy="433387"/>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5001" name="Group 12"/>
          <p:cNvGrpSpPr>
            <a:grpSpLocks/>
          </p:cNvGrpSpPr>
          <p:nvPr/>
        </p:nvGrpSpPr>
        <p:grpSpPr bwMode="auto">
          <a:xfrm>
            <a:off x="4494213" y="4394200"/>
            <a:ext cx="2133600" cy="1565275"/>
            <a:chOff x="3289" y="2397"/>
            <a:chExt cx="1344" cy="986"/>
          </a:xfrm>
        </p:grpSpPr>
        <p:grpSp>
          <p:nvGrpSpPr>
            <p:cNvPr id="85003" name="Group 13"/>
            <p:cNvGrpSpPr>
              <a:grpSpLocks/>
            </p:cNvGrpSpPr>
            <p:nvPr/>
          </p:nvGrpSpPr>
          <p:grpSpPr bwMode="auto">
            <a:xfrm>
              <a:off x="3379" y="2478"/>
              <a:ext cx="1181" cy="866"/>
              <a:chOff x="4680" y="7992"/>
              <a:chExt cx="1800" cy="1560"/>
            </a:xfrm>
          </p:grpSpPr>
          <p:grpSp>
            <p:nvGrpSpPr>
              <p:cNvPr id="85009" name="Group 14"/>
              <p:cNvGrpSpPr>
                <a:grpSpLocks/>
              </p:cNvGrpSpPr>
              <p:nvPr/>
            </p:nvGrpSpPr>
            <p:grpSpPr bwMode="auto">
              <a:xfrm>
                <a:off x="4680" y="7992"/>
                <a:ext cx="1800" cy="1560"/>
                <a:chOff x="4680" y="7056"/>
                <a:chExt cx="1800" cy="1560"/>
              </a:xfrm>
            </p:grpSpPr>
            <p:sp>
              <p:nvSpPr>
                <p:cNvPr id="85011" name="Line 15"/>
                <p:cNvSpPr>
                  <a:spLocks noChangeShapeType="1"/>
                </p:cNvSpPr>
                <p:nvPr/>
              </p:nvSpPr>
              <p:spPr bwMode="auto">
                <a:xfrm flipH="1">
                  <a:off x="4680" y="7368"/>
                  <a:ext cx="90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12" name="Line 16"/>
                <p:cNvSpPr>
                  <a:spLocks noChangeShapeType="1"/>
                </p:cNvSpPr>
                <p:nvPr/>
              </p:nvSpPr>
              <p:spPr bwMode="auto">
                <a:xfrm>
                  <a:off x="5580" y="7368"/>
                  <a:ext cx="90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13" name="Line 17"/>
                <p:cNvSpPr>
                  <a:spLocks noChangeShapeType="1"/>
                </p:cNvSpPr>
                <p:nvPr/>
              </p:nvSpPr>
              <p:spPr bwMode="auto">
                <a:xfrm flipH="1">
                  <a:off x="5580" y="7992"/>
                  <a:ext cx="90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14" name="Line 18"/>
                <p:cNvSpPr>
                  <a:spLocks noChangeShapeType="1"/>
                </p:cNvSpPr>
                <p:nvPr/>
              </p:nvSpPr>
              <p:spPr bwMode="auto">
                <a:xfrm flipH="1" flipV="1">
                  <a:off x="4680" y="7992"/>
                  <a:ext cx="90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5015" name="Line 19"/>
                <p:cNvSpPr>
                  <a:spLocks noChangeShapeType="1"/>
                </p:cNvSpPr>
                <p:nvPr/>
              </p:nvSpPr>
              <p:spPr bwMode="auto">
                <a:xfrm flipV="1">
                  <a:off x="4680" y="7056"/>
                  <a:ext cx="0"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010" name="Line 20"/>
              <p:cNvSpPr>
                <a:spLocks noChangeShapeType="1"/>
              </p:cNvSpPr>
              <p:nvPr/>
            </p:nvSpPr>
            <p:spPr bwMode="auto">
              <a:xfrm>
                <a:off x="4680" y="8928"/>
                <a:ext cx="18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5004" name="Text Box 21"/>
            <p:cNvSpPr txBox="1">
              <a:spLocks noChangeArrowheads="1"/>
            </p:cNvSpPr>
            <p:nvPr/>
          </p:nvSpPr>
          <p:spPr bwMode="auto">
            <a:xfrm>
              <a:off x="3289" y="2893"/>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0033CC"/>
                  </a:solidFill>
                  <a:latin typeface="Times New Roman" pitchFamily="18" charset="0"/>
                </a:rPr>
                <a:t>●</a:t>
              </a:r>
            </a:p>
          </p:txBody>
        </p:sp>
        <p:sp>
          <p:nvSpPr>
            <p:cNvPr id="85005" name="Text Box 22"/>
            <p:cNvSpPr txBox="1">
              <a:spLocks noChangeArrowheads="1"/>
            </p:cNvSpPr>
            <p:nvPr/>
          </p:nvSpPr>
          <p:spPr bwMode="auto">
            <a:xfrm>
              <a:off x="3289" y="2397"/>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0033CC"/>
                  </a:solidFill>
                  <a:latin typeface="Times New Roman" pitchFamily="18" charset="0"/>
                </a:rPr>
                <a:t>●</a:t>
              </a:r>
            </a:p>
          </p:txBody>
        </p:sp>
        <p:sp>
          <p:nvSpPr>
            <p:cNvPr id="85006" name="Text Box 23"/>
            <p:cNvSpPr txBox="1">
              <a:spLocks noChangeArrowheads="1"/>
            </p:cNvSpPr>
            <p:nvPr/>
          </p:nvSpPr>
          <p:spPr bwMode="auto">
            <a:xfrm>
              <a:off x="3865" y="2557"/>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0033CC"/>
                  </a:solidFill>
                  <a:latin typeface="Times New Roman" pitchFamily="18" charset="0"/>
                </a:rPr>
                <a:t>●</a:t>
              </a:r>
            </a:p>
          </p:txBody>
        </p:sp>
        <p:sp>
          <p:nvSpPr>
            <p:cNvPr id="85007" name="Text Box 24"/>
            <p:cNvSpPr txBox="1">
              <a:spLocks noChangeArrowheads="1"/>
            </p:cNvSpPr>
            <p:nvPr/>
          </p:nvSpPr>
          <p:spPr bwMode="auto">
            <a:xfrm>
              <a:off x="3865" y="3229"/>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0033CC"/>
                  </a:solidFill>
                  <a:latin typeface="Times New Roman" pitchFamily="18" charset="0"/>
                </a:rPr>
                <a:t>●</a:t>
              </a:r>
            </a:p>
          </p:txBody>
        </p:sp>
        <p:sp>
          <p:nvSpPr>
            <p:cNvPr id="85008" name="Text Box 25"/>
            <p:cNvSpPr txBox="1">
              <a:spLocks noChangeArrowheads="1"/>
            </p:cNvSpPr>
            <p:nvPr/>
          </p:nvSpPr>
          <p:spPr bwMode="auto">
            <a:xfrm>
              <a:off x="4441" y="2893"/>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0033CC"/>
                  </a:solidFill>
                  <a:latin typeface="Times New Roman" pitchFamily="18" charset="0"/>
                </a:rPr>
                <a:t>●</a:t>
              </a:r>
            </a:p>
          </p:txBody>
        </p:sp>
      </p:grpSp>
      <p:sp>
        <p:nvSpPr>
          <p:cNvPr id="85002" name="Rectangle 27"/>
          <p:cNvSpPr>
            <a:spLocks noChangeArrowheads="1"/>
          </p:cNvSpPr>
          <p:nvPr/>
        </p:nvSpPr>
        <p:spPr bwMode="auto">
          <a:xfrm>
            <a:off x="1085850" y="376238"/>
            <a:ext cx="38893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sz="3200" b="1">
                <a:solidFill>
                  <a:srgbClr val="993300"/>
                </a:solidFill>
                <a:latin typeface="楷体_GB2312" pitchFamily="49" charset="-122"/>
                <a:ea typeface="楷体_GB2312" pitchFamily="49" charset="-122"/>
              </a:rPr>
              <a:t>1.</a:t>
            </a:r>
            <a:r>
              <a:rPr lang="zh-CN" altLang="en-US" sz="3200" b="1">
                <a:solidFill>
                  <a:srgbClr val="993300"/>
                </a:solidFill>
                <a:latin typeface="楷体_GB2312" pitchFamily="49" charset="-122"/>
                <a:ea typeface="楷体_GB2312" pitchFamily="49" charset="-122"/>
              </a:rPr>
              <a:t>对偶图</a:t>
            </a:r>
          </a:p>
        </p:txBody>
      </p:sp>
    </p:spTree>
    <p:extLst>
      <p:ext uri="{BB962C8B-B14F-4D97-AF65-F5344CB8AC3E}">
        <p14:creationId xmlns:p14="http://schemas.microsoft.com/office/powerpoint/2010/main" val="2987061188"/>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1077"/>
                                        </p:tgtEl>
                                        <p:attrNameLst>
                                          <p:attrName>style.visibility</p:attrName>
                                        </p:attrNameLst>
                                      </p:cBhvr>
                                      <p:to>
                                        <p:strVal val="visible"/>
                                      </p:to>
                                    </p:set>
                                    <p:animEffect transition="in" filter="checkerboard(across)">
                                      <p:cBhvr>
                                        <p:cTn id="7" dur="500"/>
                                        <p:tgtEl>
                                          <p:spTgt spid="13107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nodeType="clickEffect">
                                  <p:stCondLst>
                                    <p:cond delay="0"/>
                                  </p:stCondLst>
                                  <p:childTnLst>
                                    <p:set>
                                      <p:cBhvr>
                                        <p:cTn id="11" dur="1" fill="hold">
                                          <p:stCondLst>
                                            <p:cond delay="0"/>
                                          </p:stCondLst>
                                        </p:cTn>
                                        <p:tgtEl>
                                          <p:spTgt spid="131075">
                                            <p:txEl>
                                              <p:pRg st="2" end="2"/>
                                            </p:txEl>
                                          </p:spTgt>
                                        </p:tgtEl>
                                        <p:attrNameLst>
                                          <p:attrName>style.visibility</p:attrName>
                                        </p:attrNameLst>
                                      </p:cBhvr>
                                      <p:to>
                                        <p:strVal val="visible"/>
                                      </p:to>
                                    </p:set>
                                    <p:anim calcmode="lin" valueType="num">
                                      <p:cBhvr additive="base">
                                        <p:cTn id="12" dur="500" fill="hold"/>
                                        <p:tgtEl>
                                          <p:spTgt spid="131075">
                                            <p:txEl>
                                              <p:pRg st="2" end="2"/>
                                            </p:txEl>
                                          </p:spTgt>
                                        </p:tgtEl>
                                        <p:attrNameLst>
                                          <p:attrName>ppt_x</p:attrName>
                                        </p:attrNameLst>
                                      </p:cBhvr>
                                      <p:tavLst>
                                        <p:tav tm="0">
                                          <p:val>
                                            <p:strVal val="0-#ppt_w/2"/>
                                          </p:val>
                                        </p:tav>
                                        <p:tav tm="100000">
                                          <p:val>
                                            <p:strVal val="#ppt_x"/>
                                          </p:val>
                                        </p:tav>
                                      </p:tavLst>
                                    </p:anim>
                                    <p:anim calcmode="lin" valueType="num">
                                      <p:cBhvr additive="base">
                                        <p:cTn id="13" dur="500" fill="hold"/>
                                        <p:tgtEl>
                                          <p:spTgt spid="1310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31082"/>
                                        </p:tgtEl>
                                        <p:attrNameLst>
                                          <p:attrName>style.visibility</p:attrName>
                                        </p:attrNameLst>
                                      </p:cBhvr>
                                      <p:to>
                                        <p:strVal val="visible"/>
                                      </p:to>
                                    </p:set>
                                    <p:anim calcmode="lin" valueType="num">
                                      <p:cBhvr additive="base">
                                        <p:cTn id="18" dur="500" fill="hold"/>
                                        <p:tgtEl>
                                          <p:spTgt spid="131082"/>
                                        </p:tgtEl>
                                        <p:attrNameLst>
                                          <p:attrName>ppt_x</p:attrName>
                                        </p:attrNameLst>
                                      </p:cBhvr>
                                      <p:tavLst>
                                        <p:tav tm="0">
                                          <p:val>
                                            <p:strVal val="#ppt_x"/>
                                          </p:val>
                                        </p:tav>
                                        <p:tav tm="100000">
                                          <p:val>
                                            <p:strVal val="#ppt_x"/>
                                          </p:val>
                                        </p:tav>
                                      </p:tavLst>
                                    </p:anim>
                                    <p:anim calcmode="lin" valueType="num">
                                      <p:cBhvr additive="base">
                                        <p:cTn id="19" dur="500" fill="hold"/>
                                        <p:tgtEl>
                                          <p:spTgt spid="131082"/>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131076"/>
                                        </p:tgtEl>
                                        <p:attrNameLst>
                                          <p:attrName>style.visibility</p:attrName>
                                        </p:attrNameLst>
                                      </p:cBhvr>
                                      <p:to>
                                        <p:strVal val="visible"/>
                                      </p:to>
                                    </p:set>
                                    <p:anim calcmode="lin" valueType="num">
                                      <p:cBhvr additive="base">
                                        <p:cTn id="24" dur="500" fill="hold"/>
                                        <p:tgtEl>
                                          <p:spTgt spid="131076"/>
                                        </p:tgtEl>
                                        <p:attrNameLst>
                                          <p:attrName>ppt_x</p:attrName>
                                        </p:attrNameLst>
                                      </p:cBhvr>
                                      <p:tavLst>
                                        <p:tav tm="0">
                                          <p:val>
                                            <p:strVal val="#ppt_x"/>
                                          </p:val>
                                        </p:tav>
                                        <p:tav tm="100000">
                                          <p:val>
                                            <p:strVal val="#ppt_x"/>
                                          </p:val>
                                        </p:tav>
                                      </p:tavLst>
                                    </p:anim>
                                    <p:anim calcmode="lin" valueType="num">
                                      <p:cBhvr additive="base">
                                        <p:cTn id="25" dur="500" fill="hold"/>
                                        <p:tgtEl>
                                          <p:spTgt spid="131076"/>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31083"/>
                                        </p:tgtEl>
                                        <p:attrNameLst>
                                          <p:attrName>style.visibility</p:attrName>
                                        </p:attrNameLst>
                                      </p:cBhvr>
                                      <p:to>
                                        <p:strVal val="visible"/>
                                      </p:to>
                                    </p:set>
                                    <p:anim calcmode="lin" valueType="num">
                                      <p:cBhvr additive="base">
                                        <p:cTn id="30" dur="500" fill="hold"/>
                                        <p:tgtEl>
                                          <p:spTgt spid="131083"/>
                                        </p:tgtEl>
                                        <p:attrNameLst>
                                          <p:attrName>ppt_x</p:attrName>
                                        </p:attrNameLst>
                                      </p:cBhvr>
                                      <p:tavLst>
                                        <p:tav tm="0">
                                          <p:val>
                                            <p:strVal val="#ppt_x"/>
                                          </p:val>
                                        </p:tav>
                                        <p:tav tm="100000">
                                          <p:val>
                                            <p:strVal val="#ppt_x"/>
                                          </p:val>
                                        </p:tav>
                                      </p:tavLst>
                                    </p:anim>
                                    <p:anim calcmode="lin" valueType="num">
                                      <p:cBhvr additive="base">
                                        <p:cTn id="31" dur="500" fill="hold"/>
                                        <p:tgtEl>
                                          <p:spTgt spid="131083"/>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nodeType="clickEffect">
                                  <p:stCondLst>
                                    <p:cond delay="0"/>
                                  </p:stCondLst>
                                  <p:childTnLst>
                                    <p:set>
                                      <p:cBhvr>
                                        <p:cTn id="35" dur="1" fill="hold">
                                          <p:stCondLst>
                                            <p:cond delay="0"/>
                                          </p:stCondLst>
                                        </p:cTn>
                                        <p:tgtEl>
                                          <p:spTgt spid="131075">
                                            <p:txEl>
                                              <p:pRg st="3" end="3"/>
                                            </p:txEl>
                                          </p:spTgt>
                                        </p:tgtEl>
                                        <p:attrNameLst>
                                          <p:attrName>style.visibility</p:attrName>
                                        </p:attrNameLst>
                                      </p:cBhvr>
                                      <p:to>
                                        <p:strVal val="visible"/>
                                      </p:to>
                                    </p:set>
                                    <p:anim calcmode="lin" valueType="num">
                                      <p:cBhvr additive="base">
                                        <p:cTn id="36" dur="500" fill="hold"/>
                                        <p:tgtEl>
                                          <p:spTgt spid="131075">
                                            <p:txEl>
                                              <p:pRg st="3" end="3"/>
                                            </p:txEl>
                                          </p:spTgt>
                                        </p:tgtEl>
                                        <p:attrNameLst>
                                          <p:attrName>ppt_x</p:attrName>
                                        </p:attrNameLst>
                                      </p:cBhvr>
                                      <p:tavLst>
                                        <p:tav tm="0">
                                          <p:val>
                                            <p:strVal val="0-#ppt_w/2"/>
                                          </p:val>
                                        </p:tav>
                                        <p:tav tm="100000">
                                          <p:val>
                                            <p:strVal val="#ppt_x"/>
                                          </p:val>
                                        </p:tav>
                                      </p:tavLst>
                                    </p:anim>
                                    <p:anim calcmode="lin" valueType="num">
                                      <p:cBhvr additive="base">
                                        <p:cTn id="37" dur="500" fill="hold"/>
                                        <p:tgtEl>
                                          <p:spTgt spid="1310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31081"/>
                                        </p:tgtEl>
                                        <p:attrNameLst>
                                          <p:attrName>style.visibility</p:attrName>
                                        </p:attrNameLst>
                                      </p:cBhvr>
                                      <p:to>
                                        <p:strVal val="visible"/>
                                      </p:to>
                                    </p:set>
                                    <p:anim calcmode="lin" valueType="num">
                                      <p:cBhvr additive="base">
                                        <p:cTn id="42" dur="500" fill="hold"/>
                                        <p:tgtEl>
                                          <p:spTgt spid="131081"/>
                                        </p:tgtEl>
                                        <p:attrNameLst>
                                          <p:attrName>ppt_x</p:attrName>
                                        </p:attrNameLst>
                                      </p:cBhvr>
                                      <p:tavLst>
                                        <p:tav tm="0">
                                          <p:val>
                                            <p:strVal val="#ppt_x"/>
                                          </p:val>
                                        </p:tav>
                                        <p:tav tm="100000">
                                          <p:val>
                                            <p:strVal val="#ppt_x"/>
                                          </p:val>
                                        </p:tav>
                                      </p:tavLst>
                                    </p:anim>
                                    <p:anim calcmode="lin" valueType="num">
                                      <p:cBhvr additive="base">
                                        <p:cTn id="43" dur="500" fill="hold"/>
                                        <p:tgtEl>
                                          <p:spTgt spid="131081"/>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131075">
                                            <p:txEl>
                                              <p:pRg st="4" end="4"/>
                                            </p:txEl>
                                          </p:spTgt>
                                        </p:tgtEl>
                                        <p:attrNameLst>
                                          <p:attrName>style.visibility</p:attrName>
                                        </p:attrNameLst>
                                      </p:cBhvr>
                                      <p:to>
                                        <p:strVal val="visible"/>
                                      </p:to>
                                    </p:set>
                                    <p:anim calcmode="lin" valueType="num">
                                      <p:cBhvr additive="base">
                                        <p:cTn id="48" dur="500" fill="hold"/>
                                        <p:tgtEl>
                                          <p:spTgt spid="131075">
                                            <p:txEl>
                                              <p:pRg st="4" end="4"/>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13107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076" grpId="0" animBg="1"/>
      <p:bldP spid="131081" grpId="0" animBg="1"/>
      <p:bldP spid="131082" grpId="0" animBg="1"/>
      <p:bldP spid="131083" grpId="0"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灯片编号占位符 2"/>
          <p:cNvSpPr>
            <a:spLocks noGrp="1"/>
          </p:cNvSpPr>
          <p:nvPr>
            <p:ph type="sldNum" sz="quarter" idx="11"/>
          </p:nvPr>
        </p:nvSpPr>
        <p:spPr/>
        <p:txBody>
          <a:bodyPr/>
          <a:lstStyle/>
          <a:p>
            <a:pPr>
              <a:defRPr/>
            </a:pPr>
            <a:fld id="{D7F31175-4385-4A37-A7D7-E1462A0E8760}" type="slidenum">
              <a:rPr lang="en-US" altLang="zh-CN"/>
              <a:pPr>
                <a:defRPr/>
              </a:pPr>
              <a:t>85</a:t>
            </a:fld>
            <a:endParaRPr lang="en-US" altLang="zh-CN"/>
          </a:p>
        </p:txBody>
      </p:sp>
      <p:sp>
        <p:nvSpPr>
          <p:cNvPr id="64542" name="Text Box 30"/>
          <p:cNvSpPr txBox="1">
            <a:spLocks noChangeArrowheads="1"/>
          </p:cNvSpPr>
          <p:nvPr/>
        </p:nvSpPr>
        <p:spPr bwMode="auto">
          <a:xfrm>
            <a:off x="466725" y="1916113"/>
            <a:ext cx="82772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en-US" altLang="zh-CN" b="1" dirty="0">
                <a:latin typeface="Times New Roman" pitchFamily="18" charset="0"/>
              </a:rPr>
              <a:t>G</a:t>
            </a:r>
            <a:r>
              <a:rPr kumimoji="1" lang="zh-CN" altLang="en-US" b="1" dirty="0">
                <a:latin typeface="Times New Roman" pitchFamily="18" charset="0"/>
              </a:rPr>
              <a:t>与</a:t>
            </a:r>
            <a:r>
              <a:rPr kumimoji="1" lang="en-US" altLang="zh-CN" b="1" dirty="0">
                <a:latin typeface="Times New Roman" pitchFamily="18" charset="0"/>
              </a:rPr>
              <a:t>G*</a:t>
            </a:r>
            <a:r>
              <a:rPr kumimoji="1" lang="zh-CN" altLang="en-US" b="1" dirty="0">
                <a:latin typeface="Times New Roman" pitchFamily="18" charset="0"/>
              </a:rPr>
              <a:t>互为对偶图。</a:t>
            </a:r>
          </a:p>
          <a:p>
            <a:pPr eaLnBrk="1" hangingPunct="1">
              <a:lnSpc>
                <a:spcPct val="130000"/>
              </a:lnSpc>
              <a:buClr>
                <a:schemeClr val="hlink"/>
              </a:buClr>
              <a:buFont typeface="Wingdings" pitchFamily="2" charset="2"/>
              <a:buChar char="Ø"/>
            </a:pPr>
            <a:r>
              <a:rPr kumimoji="1" lang="en-US" altLang="zh-CN" b="1" dirty="0">
                <a:latin typeface="Times New Roman" pitchFamily="18" charset="0"/>
              </a:rPr>
              <a:t>G</a:t>
            </a:r>
            <a:r>
              <a:rPr kumimoji="1" lang="zh-CN" altLang="en-US" b="1" dirty="0">
                <a:latin typeface="Times New Roman" pitchFamily="18" charset="0"/>
              </a:rPr>
              <a:t>是平面图，则</a:t>
            </a:r>
            <a:r>
              <a:rPr kumimoji="1" lang="en-US" altLang="zh-CN" b="1" dirty="0">
                <a:latin typeface="Times New Roman" pitchFamily="18" charset="0"/>
              </a:rPr>
              <a:t>G*</a:t>
            </a:r>
            <a:r>
              <a:rPr kumimoji="1" lang="zh-CN" altLang="en-US" b="1" dirty="0">
                <a:latin typeface="Times New Roman" pitchFamily="18" charset="0"/>
              </a:rPr>
              <a:t>也是平面图。</a:t>
            </a:r>
          </a:p>
          <a:p>
            <a:pPr eaLnBrk="1" hangingPunct="1">
              <a:lnSpc>
                <a:spcPct val="130000"/>
              </a:lnSpc>
              <a:buClr>
                <a:schemeClr val="hlink"/>
              </a:buClr>
              <a:buFont typeface="Wingdings" pitchFamily="2" charset="2"/>
              <a:buChar char="Ø"/>
            </a:pPr>
            <a:r>
              <a:rPr kumimoji="1" lang="zh-CN" altLang="en-US" b="1" dirty="0">
                <a:latin typeface="Times New Roman" pitchFamily="18" charset="0"/>
              </a:rPr>
              <a:t>考虑图</a:t>
            </a:r>
            <a:r>
              <a:rPr kumimoji="1" lang="en-US" altLang="zh-CN" b="1" dirty="0">
                <a:latin typeface="Times New Roman" pitchFamily="18" charset="0"/>
              </a:rPr>
              <a:t>G=&lt;V, E&gt;</a:t>
            </a:r>
            <a:r>
              <a:rPr kumimoji="1" lang="zh-CN" altLang="en-US" b="1" dirty="0">
                <a:latin typeface="Times New Roman" pitchFamily="18" charset="0"/>
              </a:rPr>
              <a:t>的对偶图</a:t>
            </a:r>
            <a:r>
              <a:rPr kumimoji="1" lang="en-US" altLang="zh-CN" b="1" dirty="0">
                <a:latin typeface="Times New Roman" pitchFamily="18" charset="0"/>
              </a:rPr>
              <a:t>G*</a:t>
            </a:r>
            <a:r>
              <a:rPr kumimoji="1" lang="zh-CN" altLang="en-US" b="1" dirty="0">
                <a:latin typeface="Times New Roman" pitchFamily="18" charset="0"/>
              </a:rPr>
              <a:t>中顶点的个数，边的条数以及面数。</a:t>
            </a:r>
          </a:p>
        </p:txBody>
      </p:sp>
      <p:sp>
        <p:nvSpPr>
          <p:cNvPr id="64543" name="Text Box 31"/>
          <p:cNvSpPr txBox="1">
            <a:spLocks noChangeArrowheads="1"/>
          </p:cNvSpPr>
          <p:nvPr/>
        </p:nvSpPr>
        <p:spPr bwMode="auto">
          <a:xfrm>
            <a:off x="466725" y="3933825"/>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rgbClr val="0000CC"/>
                </a:solidFill>
                <a:latin typeface="Times New Roman" pitchFamily="18" charset="0"/>
              </a:rPr>
              <a:t>定理：</a:t>
            </a:r>
            <a:r>
              <a:rPr kumimoji="1" lang="zh-CN" altLang="en-US" b="1">
                <a:latin typeface="Times New Roman" pitchFamily="18" charset="0"/>
              </a:rPr>
              <a:t>设</a:t>
            </a:r>
            <a:r>
              <a:rPr kumimoji="1" lang="en-US" altLang="zh-CN" b="1">
                <a:latin typeface="Times New Roman" pitchFamily="18" charset="0"/>
              </a:rPr>
              <a:t>G</a:t>
            </a:r>
            <a:r>
              <a:rPr kumimoji="1" lang="zh-CN" altLang="en-US" b="1">
                <a:latin typeface="Times New Roman" pitchFamily="18" charset="0"/>
              </a:rPr>
              <a:t>是一个平面图，</a:t>
            </a:r>
            <a:r>
              <a:rPr kumimoji="1" lang="en-US" altLang="zh-CN" b="1">
                <a:latin typeface="Times New Roman" pitchFamily="18" charset="0"/>
              </a:rPr>
              <a:t>G*</a:t>
            </a:r>
            <a:r>
              <a:rPr kumimoji="1" lang="zh-CN" altLang="en-US" b="1">
                <a:latin typeface="Times New Roman" pitchFamily="18" charset="0"/>
              </a:rPr>
              <a:t>是</a:t>
            </a:r>
            <a:r>
              <a:rPr kumimoji="1" lang="en-US" altLang="zh-CN" b="1">
                <a:latin typeface="Times New Roman" pitchFamily="18" charset="0"/>
              </a:rPr>
              <a:t>G</a:t>
            </a:r>
            <a:r>
              <a:rPr kumimoji="1" lang="zh-CN" altLang="en-US" b="1">
                <a:latin typeface="Times New Roman" pitchFamily="18" charset="0"/>
              </a:rPr>
              <a:t>的对偶图，</a:t>
            </a:r>
            <a:r>
              <a:rPr kumimoji="1" lang="zh-CN" altLang="en-US" b="1">
                <a:solidFill>
                  <a:srgbClr val="0000CC"/>
                </a:solidFill>
                <a:latin typeface="Times New Roman" pitchFamily="18" charset="0"/>
              </a:rPr>
              <a:t>则</a:t>
            </a:r>
            <a:r>
              <a:rPr kumimoji="1" lang="en-US" altLang="zh-CN" b="1">
                <a:solidFill>
                  <a:srgbClr val="0000CC"/>
                </a:solidFill>
                <a:latin typeface="Times New Roman" pitchFamily="18" charset="0"/>
              </a:rPr>
              <a:t>v*=r</a:t>
            </a:r>
            <a:r>
              <a:rPr kumimoji="1" lang="zh-CN" altLang="en-US" b="1">
                <a:solidFill>
                  <a:srgbClr val="0000CC"/>
                </a:solidFill>
                <a:latin typeface="Times New Roman" pitchFamily="18" charset="0"/>
              </a:rPr>
              <a:t>，</a:t>
            </a:r>
            <a:r>
              <a:rPr kumimoji="1" lang="en-US" altLang="zh-CN" b="1">
                <a:solidFill>
                  <a:srgbClr val="0000CC"/>
                </a:solidFill>
                <a:latin typeface="Times New Roman" pitchFamily="18" charset="0"/>
              </a:rPr>
              <a:t>e*=e</a:t>
            </a:r>
            <a:r>
              <a:rPr kumimoji="1" lang="zh-CN" altLang="en-US" b="1">
                <a:solidFill>
                  <a:srgbClr val="0000CC"/>
                </a:solidFill>
                <a:latin typeface="Times New Roman" pitchFamily="18" charset="0"/>
              </a:rPr>
              <a:t>，</a:t>
            </a:r>
            <a:r>
              <a:rPr kumimoji="1" lang="en-US" altLang="zh-CN" b="1">
                <a:solidFill>
                  <a:srgbClr val="0000CC"/>
                </a:solidFill>
                <a:latin typeface="Times New Roman" pitchFamily="18" charset="0"/>
              </a:rPr>
              <a:t>r*=v</a:t>
            </a:r>
            <a:r>
              <a:rPr kumimoji="1" lang="zh-CN" altLang="en-US" b="1">
                <a:latin typeface="Times New Roman" pitchFamily="18" charset="0"/>
              </a:rPr>
              <a:t>。其中</a:t>
            </a:r>
            <a:r>
              <a:rPr kumimoji="1" lang="en-US" altLang="zh-CN" b="1">
                <a:latin typeface="Times New Roman" pitchFamily="18" charset="0"/>
              </a:rPr>
              <a:t>v</a:t>
            </a:r>
            <a:r>
              <a:rPr kumimoji="1" lang="zh-CN" altLang="en-US" b="1">
                <a:latin typeface="Times New Roman" pitchFamily="18" charset="0"/>
              </a:rPr>
              <a:t>和</a:t>
            </a:r>
            <a:r>
              <a:rPr kumimoji="1" lang="en-US" altLang="zh-CN" b="1">
                <a:latin typeface="Times New Roman" pitchFamily="18" charset="0"/>
              </a:rPr>
              <a:t>v*</a:t>
            </a:r>
            <a:r>
              <a:rPr kumimoji="1" lang="zh-CN" altLang="en-US" b="1">
                <a:latin typeface="Times New Roman" pitchFamily="18" charset="0"/>
              </a:rPr>
              <a:t>分别是</a:t>
            </a:r>
            <a:r>
              <a:rPr kumimoji="1" lang="en-US" altLang="zh-CN" b="1">
                <a:latin typeface="Times New Roman" pitchFamily="18" charset="0"/>
              </a:rPr>
              <a:t>G</a:t>
            </a:r>
            <a:r>
              <a:rPr kumimoji="1" lang="zh-CN" altLang="en-US" b="1">
                <a:latin typeface="Times New Roman" pitchFamily="18" charset="0"/>
              </a:rPr>
              <a:t>和</a:t>
            </a:r>
            <a:r>
              <a:rPr kumimoji="1" lang="en-US" altLang="zh-CN" b="1">
                <a:latin typeface="Times New Roman" pitchFamily="18" charset="0"/>
              </a:rPr>
              <a:t>G*</a:t>
            </a:r>
            <a:r>
              <a:rPr kumimoji="1" lang="zh-CN" altLang="en-US" b="1">
                <a:latin typeface="Times New Roman" pitchFamily="18" charset="0"/>
              </a:rPr>
              <a:t>的结点数，</a:t>
            </a:r>
            <a:r>
              <a:rPr kumimoji="1" lang="en-US" altLang="zh-CN" b="1">
                <a:latin typeface="Times New Roman" pitchFamily="18" charset="0"/>
              </a:rPr>
              <a:t>r</a:t>
            </a:r>
            <a:r>
              <a:rPr kumimoji="1" lang="zh-CN" altLang="en-US" b="1">
                <a:latin typeface="Times New Roman" pitchFamily="18" charset="0"/>
              </a:rPr>
              <a:t>和</a:t>
            </a:r>
            <a:r>
              <a:rPr kumimoji="1" lang="en-US" altLang="zh-CN" b="1">
                <a:latin typeface="Times New Roman" pitchFamily="18" charset="0"/>
              </a:rPr>
              <a:t>r*</a:t>
            </a:r>
            <a:r>
              <a:rPr kumimoji="1" lang="zh-CN" altLang="en-US" b="1">
                <a:latin typeface="Times New Roman" pitchFamily="18" charset="0"/>
              </a:rPr>
              <a:t>分别是</a:t>
            </a:r>
            <a:r>
              <a:rPr kumimoji="1" lang="en-US" altLang="zh-CN" b="1">
                <a:latin typeface="Times New Roman" pitchFamily="18" charset="0"/>
              </a:rPr>
              <a:t>G</a:t>
            </a:r>
            <a:r>
              <a:rPr kumimoji="1" lang="zh-CN" altLang="en-US" b="1">
                <a:latin typeface="Times New Roman" pitchFamily="18" charset="0"/>
              </a:rPr>
              <a:t>和</a:t>
            </a:r>
            <a:r>
              <a:rPr kumimoji="1" lang="en-US" altLang="zh-CN" b="1">
                <a:latin typeface="Times New Roman" pitchFamily="18" charset="0"/>
              </a:rPr>
              <a:t>G*</a:t>
            </a:r>
            <a:r>
              <a:rPr kumimoji="1" lang="zh-CN" altLang="en-US" b="1">
                <a:latin typeface="Times New Roman" pitchFamily="18" charset="0"/>
              </a:rPr>
              <a:t>的面数，</a:t>
            </a:r>
            <a:r>
              <a:rPr kumimoji="1" lang="en-US" altLang="zh-CN" b="1">
                <a:latin typeface="Times New Roman" pitchFamily="18" charset="0"/>
              </a:rPr>
              <a:t>e</a:t>
            </a:r>
            <a:r>
              <a:rPr kumimoji="1" lang="zh-CN" altLang="en-US" b="1">
                <a:latin typeface="Times New Roman" pitchFamily="18" charset="0"/>
              </a:rPr>
              <a:t>和</a:t>
            </a:r>
            <a:r>
              <a:rPr kumimoji="1" lang="en-US" altLang="zh-CN" b="1">
                <a:latin typeface="Times New Roman" pitchFamily="18" charset="0"/>
              </a:rPr>
              <a:t>e*</a:t>
            </a:r>
            <a:r>
              <a:rPr kumimoji="1" lang="zh-CN" altLang="en-US" b="1">
                <a:latin typeface="Times New Roman" pitchFamily="18" charset="0"/>
              </a:rPr>
              <a:t>分别是</a:t>
            </a:r>
            <a:r>
              <a:rPr kumimoji="1" lang="en-US" altLang="zh-CN" b="1">
                <a:latin typeface="Times New Roman" pitchFamily="18" charset="0"/>
              </a:rPr>
              <a:t>G</a:t>
            </a:r>
            <a:r>
              <a:rPr kumimoji="1" lang="zh-CN" altLang="en-US" b="1">
                <a:latin typeface="Times New Roman" pitchFamily="18" charset="0"/>
              </a:rPr>
              <a:t>和</a:t>
            </a:r>
            <a:r>
              <a:rPr kumimoji="1" lang="en-US" altLang="zh-CN" b="1">
                <a:latin typeface="Times New Roman" pitchFamily="18" charset="0"/>
              </a:rPr>
              <a:t>G*</a:t>
            </a:r>
            <a:r>
              <a:rPr kumimoji="1" lang="zh-CN" altLang="en-US" b="1">
                <a:latin typeface="Times New Roman" pitchFamily="18" charset="0"/>
              </a:rPr>
              <a:t>的边数。</a:t>
            </a:r>
          </a:p>
        </p:txBody>
      </p:sp>
      <p:grpSp>
        <p:nvGrpSpPr>
          <p:cNvPr id="86021" name="Group 54"/>
          <p:cNvGrpSpPr>
            <a:grpSpLocks/>
          </p:cNvGrpSpPr>
          <p:nvPr/>
        </p:nvGrpSpPr>
        <p:grpSpPr bwMode="auto">
          <a:xfrm>
            <a:off x="4395788" y="392113"/>
            <a:ext cx="3200400" cy="2316162"/>
            <a:chOff x="2769" y="247"/>
            <a:chExt cx="2016" cy="1459"/>
          </a:xfrm>
        </p:grpSpPr>
        <p:sp>
          <p:nvSpPr>
            <p:cNvPr id="86022" name="Freeform 32"/>
            <p:cNvSpPr>
              <a:spLocks/>
            </p:cNvSpPr>
            <p:nvPr/>
          </p:nvSpPr>
          <p:spPr bwMode="auto">
            <a:xfrm>
              <a:off x="3261" y="340"/>
              <a:ext cx="422" cy="720"/>
            </a:xfrm>
            <a:custGeom>
              <a:avLst/>
              <a:gdLst>
                <a:gd name="T0" fmla="*/ 371 w 642"/>
                <a:gd name="T1" fmla="*/ 14 h 1296"/>
                <a:gd name="T2" fmla="*/ 253 w 642"/>
                <a:gd name="T3" fmla="*/ 188 h 1296"/>
                <a:gd name="T4" fmla="*/ 135 w 642"/>
                <a:gd name="T5" fmla="*/ 361 h 1296"/>
                <a:gd name="T6" fmla="*/ 46 w 642"/>
                <a:gd name="T7" fmla="*/ 521 h 1296"/>
                <a:gd name="T8" fmla="*/ 16 w 642"/>
                <a:gd name="T9" fmla="*/ 621 h 1296"/>
                <a:gd name="T10" fmla="*/ 145 w 642"/>
                <a:gd name="T11" fmla="*/ 704 h 1296"/>
                <a:gd name="T12" fmla="*/ 253 w 642"/>
                <a:gd name="T13" fmla="*/ 708 h 1296"/>
                <a:gd name="T14" fmla="*/ 381 w 642"/>
                <a:gd name="T15" fmla="*/ 629 h 1296"/>
                <a:gd name="T16" fmla="*/ 421 w 642"/>
                <a:gd name="T17" fmla="*/ 488 h 1296"/>
                <a:gd name="T18" fmla="*/ 371 w 642"/>
                <a:gd name="T19" fmla="*/ 274 h 1296"/>
                <a:gd name="T20" fmla="*/ 371 w 642"/>
                <a:gd name="T21" fmla="*/ 14 h 129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642" h="1296">
                  <a:moveTo>
                    <a:pt x="565" y="26"/>
                  </a:moveTo>
                  <a:cubicBezTo>
                    <a:pt x="535" y="0"/>
                    <a:pt x="445" y="234"/>
                    <a:pt x="385" y="338"/>
                  </a:cubicBezTo>
                  <a:cubicBezTo>
                    <a:pt x="325" y="442"/>
                    <a:pt x="257" y="550"/>
                    <a:pt x="205" y="650"/>
                  </a:cubicBezTo>
                  <a:cubicBezTo>
                    <a:pt x="153" y="750"/>
                    <a:pt x="100" y="860"/>
                    <a:pt x="70" y="938"/>
                  </a:cubicBezTo>
                  <a:cubicBezTo>
                    <a:pt x="40" y="1016"/>
                    <a:pt x="0" y="1063"/>
                    <a:pt x="25" y="1118"/>
                  </a:cubicBezTo>
                  <a:cubicBezTo>
                    <a:pt x="50" y="1173"/>
                    <a:pt x="160" y="1242"/>
                    <a:pt x="220" y="1268"/>
                  </a:cubicBezTo>
                  <a:cubicBezTo>
                    <a:pt x="280" y="1294"/>
                    <a:pt x="325" y="1296"/>
                    <a:pt x="385" y="1274"/>
                  </a:cubicBezTo>
                  <a:cubicBezTo>
                    <a:pt x="445" y="1252"/>
                    <a:pt x="537" y="1199"/>
                    <a:pt x="580" y="1133"/>
                  </a:cubicBezTo>
                  <a:cubicBezTo>
                    <a:pt x="623" y="1067"/>
                    <a:pt x="642" y="984"/>
                    <a:pt x="640" y="878"/>
                  </a:cubicBezTo>
                  <a:cubicBezTo>
                    <a:pt x="638" y="772"/>
                    <a:pt x="577" y="636"/>
                    <a:pt x="565" y="494"/>
                  </a:cubicBezTo>
                  <a:cubicBezTo>
                    <a:pt x="553" y="352"/>
                    <a:pt x="595" y="52"/>
                    <a:pt x="565" y="26"/>
                  </a:cubicBezTo>
                  <a:close/>
                </a:path>
              </a:pathLst>
            </a:custGeom>
            <a:solidFill>
              <a:srgbClr val="FFFF99"/>
            </a:solidFill>
            <a:ln w="25400" cap="flat">
              <a:solidFill>
                <a:srgbClr val="000000"/>
              </a:solidFill>
              <a:prstDash val="dash"/>
              <a:round/>
              <a:headEnd/>
              <a:tailEnd/>
            </a:ln>
          </p:spPr>
          <p:txBody>
            <a:bodyPr/>
            <a:lstStyle/>
            <a:p>
              <a:endParaRPr lang="zh-CN" altLang="en-US"/>
            </a:p>
          </p:txBody>
        </p:sp>
        <p:grpSp>
          <p:nvGrpSpPr>
            <p:cNvPr id="86023" name="Group 33"/>
            <p:cNvGrpSpPr>
              <a:grpSpLocks/>
            </p:cNvGrpSpPr>
            <p:nvPr/>
          </p:nvGrpSpPr>
          <p:grpSpPr bwMode="auto">
            <a:xfrm>
              <a:off x="3359" y="247"/>
              <a:ext cx="352" cy="1186"/>
              <a:chOff x="3851" y="2024"/>
              <a:chExt cx="352" cy="1186"/>
            </a:xfrm>
          </p:grpSpPr>
          <p:sp>
            <p:nvSpPr>
              <p:cNvPr id="86041" name="Text Box 34"/>
              <p:cNvSpPr txBox="1">
                <a:spLocks noChangeArrowheads="1"/>
              </p:cNvSpPr>
              <p:nvPr/>
            </p:nvSpPr>
            <p:spPr bwMode="auto">
              <a:xfrm>
                <a:off x="4011" y="2024"/>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6042" name="Text Box 35"/>
              <p:cNvSpPr txBox="1">
                <a:spLocks noChangeArrowheads="1"/>
              </p:cNvSpPr>
              <p:nvPr/>
            </p:nvSpPr>
            <p:spPr bwMode="auto">
              <a:xfrm>
                <a:off x="3867" y="3056"/>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sp>
            <p:nvSpPr>
              <p:cNvPr id="86043" name="Text Box 36"/>
              <p:cNvSpPr txBox="1">
                <a:spLocks noChangeArrowheads="1"/>
              </p:cNvSpPr>
              <p:nvPr/>
            </p:nvSpPr>
            <p:spPr bwMode="auto">
              <a:xfrm>
                <a:off x="3851" y="2744"/>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FF3300"/>
                    </a:solidFill>
                    <a:latin typeface="Times New Roman" pitchFamily="18" charset="0"/>
                  </a:rPr>
                  <a:t>●</a:t>
                </a:r>
              </a:p>
            </p:txBody>
          </p:sp>
        </p:grpSp>
        <p:sp>
          <p:nvSpPr>
            <p:cNvPr id="86024" name="Freeform 37"/>
            <p:cNvSpPr>
              <a:spLocks/>
            </p:cNvSpPr>
            <p:nvPr/>
          </p:nvSpPr>
          <p:spPr bwMode="auto">
            <a:xfrm>
              <a:off x="2769" y="311"/>
              <a:ext cx="945" cy="602"/>
            </a:xfrm>
            <a:custGeom>
              <a:avLst/>
              <a:gdLst>
                <a:gd name="T0" fmla="*/ 886 w 1440"/>
                <a:gd name="T1" fmla="*/ 41 h 1084"/>
                <a:gd name="T2" fmla="*/ 374 w 1440"/>
                <a:gd name="T3" fmla="*/ 26 h 1084"/>
                <a:gd name="T4" fmla="*/ 138 w 1440"/>
                <a:gd name="T5" fmla="*/ 199 h 1084"/>
                <a:gd name="T6" fmla="*/ 20 w 1440"/>
                <a:gd name="T7" fmla="*/ 373 h 1084"/>
                <a:gd name="T8" fmla="*/ 20 w 1440"/>
                <a:gd name="T9" fmla="*/ 546 h 1084"/>
                <a:gd name="T10" fmla="*/ 138 w 1440"/>
                <a:gd name="T11" fmla="*/ 591 h 1084"/>
                <a:gd name="T12" fmla="*/ 305 w 1440"/>
                <a:gd name="T13" fmla="*/ 566 h 1084"/>
                <a:gd name="T14" fmla="*/ 492 w 1440"/>
                <a:gd name="T15" fmla="*/ 373 h 1084"/>
                <a:gd name="T16" fmla="*/ 610 w 1440"/>
                <a:gd name="T17" fmla="*/ 199 h 1084"/>
                <a:gd name="T18" fmla="*/ 728 w 1440"/>
                <a:gd name="T19" fmla="*/ 113 h 1084"/>
                <a:gd name="T20" fmla="*/ 886 w 1440"/>
                <a:gd name="T21" fmla="*/ 41 h 108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440" h="1084">
                  <a:moveTo>
                    <a:pt x="1350" y="74"/>
                  </a:moveTo>
                  <a:cubicBezTo>
                    <a:pt x="1260" y="48"/>
                    <a:pt x="760" y="0"/>
                    <a:pt x="570" y="47"/>
                  </a:cubicBezTo>
                  <a:cubicBezTo>
                    <a:pt x="380" y="94"/>
                    <a:pt x="300" y="255"/>
                    <a:pt x="210" y="359"/>
                  </a:cubicBezTo>
                  <a:cubicBezTo>
                    <a:pt x="120" y="463"/>
                    <a:pt x="60" y="567"/>
                    <a:pt x="30" y="671"/>
                  </a:cubicBezTo>
                  <a:cubicBezTo>
                    <a:pt x="0" y="775"/>
                    <a:pt x="0" y="918"/>
                    <a:pt x="30" y="983"/>
                  </a:cubicBezTo>
                  <a:cubicBezTo>
                    <a:pt x="60" y="1048"/>
                    <a:pt x="138" y="1058"/>
                    <a:pt x="210" y="1064"/>
                  </a:cubicBezTo>
                  <a:cubicBezTo>
                    <a:pt x="282" y="1070"/>
                    <a:pt x="375" y="1084"/>
                    <a:pt x="465" y="1019"/>
                  </a:cubicBezTo>
                  <a:cubicBezTo>
                    <a:pt x="555" y="954"/>
                    <a:pt x="672" y="781"/>
                    <a:pt x="750" y="671"/>
                  </a:cubicBezTo>
                  <a:cubicBezTo>
                    <a:pt x="828" y="561"/>
                    <a:pt x="870" y="437"/>
                    <a:pt x="930" y="359"/>
                  </a:cubicBezTo>
                  <a:cubicBezTo>
                    <a:pt x="990" y="281"/>
                    <a:pt x="1040" y="251"/>
                    <a:pt x="1110" y="203"/>
                  </a:cubicBezTo>
                  <a:cubicBezTo>
                    <a:pt x="1180" y="155"/>
                    <a:pt x="1440" y="100"/>
                    <a:pt x="1350" y="74"/>
                  </a:cubicBezTo>
                  <a:close/>
                </a:path>
              </a:pathLst>
            </a:custGeom>
            <a:solidFill>
              <a:srgbClr val="FFFF99"/>
            </a:solidFill>
            <a:ln w="25400" cap="flat">
              <a:solidFill>
                <a:srgbClr val="000000"/>
              </a:solidFill>
              <a:prstDash val="dash"/>
              <a:round/>
              <a:headEnd/>
              <a:tailEnd/>
            </a:ln>
          </p:spPr>
          <p:txBody>
            <a:bodyPr/>
            <a:lstStyle/>
            <a:p>
              <a:endParaRPr lang="zh-CN" altLang="en-US"/>
            </a:p>
          </p:txBody>
        </p:sp>
        <p:sp>
          <p:nvSpPr>
            <p:cNvPr id="86025" name="Freeform 38"/>
            <p:cNvSpPr>
              <a:spLocks/>
            </p:cNvSpPr>
            <p:nvPr/>
          </p:nvSpPr>
          <p:spPr bwMode="auto">
            <a:xfrm>
              <a:off x="3223" y="326"/>
              <a:ext cx="1562" cy="1380"/>
            </a:xfrm>
            <a:custGeom>
              <a:avLst/>
              <a:gdLst>
                <a:gd name="T0" fmla="*/ 392 w 2380"/>
                <a:gd name="T1" fmla="*/ 14 h 2486"/>
                <a:gd name="T2" fmla="*/ 865 w 2380"/>
                <a:gd name="T3" fmla="*/ 188 h 2486"/>
                <a:gd name="T4" fmla="*/ 1101 w 2380"/>
                <a:gd name="T5" fmla="*/ 447 h 2486"/>
                <a:gd name="T6" fmla="*/ 1219 w 2380"/>
                <a:gd name="T7" fmla="*/ 880 h 2486"/>
                <a:gd name="T8" fmla="*/ 865 w 2380"/>
                <a:gd name="T9" fmla="*/ 1054 h 2486"/>
                <a:gd name="T10" fmla="*/ 274 w 2380"/>
                <a:gd name="T11" fmla="*/ 1054 h 2486"/>
                <a:gd name="T12" fmla="*/ 38 w 2380"/>
                <a:gd name="T13" fmla="*/ 1227 h 2486"/>
                <a:gd name="T14" fmla="*/ 501 w 2380"/>
                <a:gd name="T15" fmla="*/ 1378 h 2486"/>
                <a:gd name="T16" fmla="*/ 1288 w 2380"/>
                <a:gd name="T17" fmla="*/ 1237 h 2486"/>
                <a:gd name="T18" fmla="*/ 1554 w 2380"/>
                <a:gd name="T19" fmla="*/ 987 h 2486"/>
                <a:gd name="T20" fmla="*/ 1338 w 2380"/>
                <a:gd name="T21" fmla="*/ 274 h 2486"/>
                <a:gd name="T22" fmla="*/ 392 w 2380"/>
                <a:gd name="T23" fmla="*/ 14 h 248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380" h="2486">
                  <a:moveTo>
                    <a:pt x="598" y="26"/>
                  </a:moveTo>
                  <a:cubicBezTo>
                    <a:pt x="478" y="0"/>
                    <a:pt x="1138" y="208"/>
                    <a:pt x="1318" y="338"/>
                  </a:cubicBezTo>
                  <a:cubicBezTo>
                    <a:pt x="1498" y="468"/>
                    <a:pt x="1588" y="598"/>
                    <a:pt x="1678" y="806"/>
                  </a:cubicBezTo>
                  <a:cubicBezTo>
                    <a:pt x="1768" y="1014"/>
                    <a:pt x="1918" y="1404"/>
                    <a:pt x="1858" y="1586"/>
                  </a:cubicBezTo>
                  <a:cubicBezTo>
                    <a:pt x="1798" y="1768"/>
                    <a:pt x="1558" y="1846"/>
                    <a:pt x="1318" y="1898"/>
                  </a:cubicBezTo>
                  <a:cubicBezTo>
                    <a:pt x="1078" y="1950"/>
                    <a:pt x="628" y="1846"/>
                    <a:pt x="418" y="1898"/>
                  </a:cubicBezTo>
                  <a:cubicBezTo>
                    <a:pt x="208" y="1950"/>
                    <a:pt x="0" y="2112"/>
                    <a:pt x="58" y="2210"/>
                  </a:cubicBezTo>
                  <a:cubicBezTo>
                    <a:pt x="116" y="2308"/>
                    <a:pt x="446" y="2480"/>
                    <a:pt x="763" y="2483"/>
                  </a:cubicBezTo>
                  <a:cubicBezTo>
                    <a:pt x="1080" y="2486"/>
                    <a:pt x="1696" y="2345"/>
                    <a:pt x="1963" y="2228"/>
                  </a:cubicBezTo>
                  <a:cubicBezTo>
                    <a:pt x="2230" y="2111"/>
                    <a:pt x="2356" y="2067"/>
                    <a:pt x="2368" y="1778"/>
                  </a:cubicBezTo>
                  <a:cubicBezTo>
                    <a:pt x="2380" y="1489"/>
                    <a:pt x="2333" y="786"/>
                    <a:pt x="2038" y="494"/>
                  </a:cubicBezTo>
                  <a:cubicBezTo>
                    <a:pt x="1743" y="202"/>
                    <a:pt x="718" y="52"/>
                    <a:pt x="598" y="26"/>
                  </a:cubicBezTo>
                  <a:close/>
                </a:path>
              </a:pathLst>
            </a:custGeom>
            <a:solidFill>
              <a:srgbClr val="FFFF99"/>
            </a:solidFill>
            <a:ln w="25400" cap="flat">
              <a:solidFill>
                <a:srgbClr val="000000"/>
              </a:solidFill>
              <a:prstDash val="dash"/>
              <a:round/>
              <a:headEnd/>
              <a:tailEnd/>
            </a:ln>
          </p:spPr>
          <p:txBody>
            <a:bodyPr/>
            <a:lstStyle/>
            <a:p>
              <a:endParaRPr lang="zh-CN" altLang="en-US"/>
            </a:p>
          </p:txBody>
        </p:sp>
        <p:sp>
          <p:nvSpPr>
            <p:cNvPr id="86026" name="Line 39"/>
            <p:cNvSpPr>
              <a:spLocks noChangeShapeType="1"/>
            </p:cNvSpPr>
            <p:nvPr/>
          </p:nvSpPr>
          <p:spPr bwMode="auto">
            <a:xfrm>
              <a:off x="3449" y="1082"/>
              <a:ext cx="46" cy="273"/>
            </a:xfrm>
            <a:prstGeom prst="line">
              <a:avLst/>
            </a:prstGeom>
            <a:noFill/>
            <a:ln w="2540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6027" name="Group 40"/>
            <p:cNvGrpSpPr>
              <a:grpSpLocks/>
            </p:cNvGrpSpPr>
            <p:nvPr/>
          </p:nvGrpSpPr>
          <p:grpSpPr bwMode="auto">
            <a:xfrm>
              <a:off x="2831" y="537"/>
              <a:ext cx="1344" cy="986"/>
              <a:chOff x="3289" y="2397"/>
              <a:chExt cx="1344" cy="986"/>
            </a:xfrm>
          </p:grpSpPr>
          <p:grpSp>
            <p:nvGrpSpPr>
              <p:cNvPr id="86028" name="Group 41"/>
              <p:cNvGrpSpPr>
                <a:grpSpLocks/>
              </p:cNvGrpSpPr>
              <p:nvPr/>
            </p:nvGrpSpPr>
            <p:grpSpPr bwMode="auto">
              <a:xfrm>
                <a:off x="3379" y="2478"/>
                <a:ext cx="1181" cy="866"/>
                <a:chOff x="4680" y="7992"/>
                <a:chExt cx="1800" cy="1560"/>
              </a:xfrm>
            </p:grpSpPr>
            <p:grpSp>
              <p:nvGrpSpPr>
                <p:cNvPr id="86034" name="Group 42"/>
                <p:cNvGrpSpPr>
                  <a:grpSpLocks/>
                </p:cNvGrpSpPr>
                <p:nvPr/>
              </p:nvGrpSpPr>
              <p:grpSpPr bwMode="auto">
                <a:xfrm>
                  <a:off x="4680" y="7992"/>
                  <a:ext cx="1800" cy="1560"/>
                  <a:chOff x="4680" y="7056"/>
                  <a:chExt cx="1800" cy="1560"/>
                </a:xfrm>
              </p:grpSpPr>
              <p:sp>
                <p:nvSpPr>
                  <p:cNvPr id="86036" name="Line 43"/>
                  <p:cNvSpPr>
                    <a:spLocks noChangeShapeType="1"/>
                  </p:cNvSpPr>
                  <p:nvPr/>
                </p:nvSpPr>
                <p:spPr bwMode="auto">
                  <a:xfrm flipH="1">
                    <a:off x="4680" y="7368"/>
                    <a:ext cx="90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7" name="Line 44"/>
                  <p:cNvSpPr>
                    <a:spLocks noChangeShapeType="1"/>
                  </p:cNvSpPr>
                  <p:nvPr/>
                </p:nvSpPr>
                <p:spPr bwMode="auto">
                  <a:xfrm>
                    <a:off x="5580" y="7368"/>
                    <a:ext cx="90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8" name="Line 45"/>
                  <p:cNvSpPr>
                    <a:spLocks noChangeShapeType="1"/>
                  </p:cNvSpPr>
                  <p:nvPr/>
                </p:nvSpPr>
                <p:spPr bwMode="auto">
                  <a:xfrm flipH="1">
                    <a:off x="5580" y="7992"/>
                    <a:ext cx="90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39" name="Line 46"/>
                  <p:cNvSpPr>
                    <a:spLocks noChangeShapeType="1"/>
                  </p:cNvSpPr>
                  <p:nvPr/>
                </p:nvSpPr>
                <p:spPr bwMode="auto">
                  <a:xfrm flipH="1" flipV="1">
                    <a:off x="4680" y="7992"/>
                    <a:ext cx="90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040" name="Line 47"/>
                  <p:cNvSpPr>
                    <a:spLocks noChangeShapeType="1"/>
                  </p:cNvSpPr>
                  <p:nvPr/>
                </p:nvSpPr>
                <p:spPr bwMode="auto">
                  <a:xfrm flipV="1">
                    <a:off x="4680" y="7056"/>
                    <a:ext cx="0"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6035" name="Line 48"/>
                <p:cNvSpPr>
                  <a:spLocks noChangeShapeType="1"/>
                </p:cNvSpPr>
                <p:nvPr/>
              </p:nvSpPr>
              <p:spPr bwMode="auto">
                <a:xfrm>
                  <a:off x="4680" y="8928"/>
                  <a:ext cx="18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6029" name="Text Box 49"/>
              <p:cNvSpPr txBox="1">
                <a:spLocks noChangeArrowheads="1"/>
              </p:cNvSpPr>
              <p:nvPr/>
            </p:nvSpPr>
            <p:spPr bwMode="auto">
              <a:xfrm>
                <a:off x="3289" y="2893"/>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0033CC"/>
                    </a:solidFill>
                    <a:latin typeface="Times New Roman" pitchFamily="18" charset="0"/>
                  </a:rPr>
                  <a:t>●</a:t>
                </a:r>
              </a:p>
            </p:txBody>
          </p:sp>
          <p:sp>
            <p:nvSpPr>
              <p:cNvPr id="86030" name="Text Box 50"/>
              <p:cNvSpPr txBox="1">
                <a:spLocks noChangeArrowheads="1"/>
              </p:cNvSpPr>
              <p:nvPr/>
            </p:nvSpPr>
            <p:spPr bwMode="auto">
              <a:xfrm>
                <a:off x="3289" y="2397"/>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0033CC"/>
                    </a:solidFill>
                    <a:latin typeface="Times New Roman" pitchFamily="18" charset="0"/>
                  </a:rPr>
                  <a:t>●</a:t>
                </a:r>
              </a:p>
            </p:txBody>
          </p:sp>
          <p:sp>
            <p:nvSpPr>
              <p:cNvPr id="86031" name="Text Box 51"/>
              <p:cNvSpPr txBox="1">
                <a:spLocks noChangeArrowheads="1"/>
              </p:cNvSpPr>
              <p:nvPr/>
            </p:nvSpPr>
            <p:spPr bwMode="auto">
              <a:xfrm>
                <a:off x="3865" y="2557"/>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0033CC"/>
                    </a:solidFill>
                    <a:latin typeface="Times New Roman" pitchFamily="18" charset="0"/>
                  </a:rPr>
                  <a:t>●</a:t>
                </a:r>
              </a:p>
            </p:txBody>
          </p:sp>
          <p:sp>
            <p:nvSpPr>
              <p:cNvPr id="86032" name="Text Box 52"/>
              <p:cNvSpPr txBox="1">
                <a:spLocks noChangeArrowheads="1"/>
              </p:cNvSpPr>
              <p:nvPr/>
            </p:nvSpPr>
            <p:spPr bwMode="auto">
              <a:xfrm>
                <a:off x="3865" y="3229"/>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0033CC"/>
                    </a:solidFill>
                    <a:latin typeface="Times New Roman" pitchFamily="18" charset="0"/>
                  </a:rPr>
                  <a:t>●</a:t>
                </a:r>
              </a:p>
            </p:txBody>
          </p:sp>
          <p:sp>
            <p:nvSpPr>
              <p:cNvPr id="86033" name="Text Box 53"/>
              <p:cNvSpPr txBox="1">
                <a:spLocks noChangeArrowheads="1"/>
              </p:cNvSpPr>
              <p:nvPr/>
            </p:nvSpPr>
            <p:spPr bwMode="auto">
              <a:xfrm>
                <a:off x="4441" y="2893"/>
                <a:ext cx="192"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1000">
                    <a:solidFill>
                      <a:srgbClr val="0033CC"/>
                    </a:solidFill>
                    <a:latin typeface="Times New Roman" pitchFamily="18" charset="0"/>
                  </a:rPr>
                  <a:t>●</a:t>
                </a:r>
              </a:p>
            </p:txBody>
          </p:sp>
        </p:grpSp>
      </p:grpSp>
    </p:spTree>
    <p:extLst>
      <p:ext uri="{BB962C8B-B14F-4D97-AF65-F5344CB8AC3E}">
        <p14:creationId xmlns:p14="http://schemas.microsoft.com/office/powerpoint/2010/main" val="3839506827"/>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542"/>
                                        </p:tgtEl>
                                        <p:attrNameLst>
                                          <p:attrName>style.visibility</p:attrName>
                                        </p:attrNameLst>
                                      </p:cBhvr>
                                      <p:to>
                                        <p:strVal val="visible"/>
                                      </p:to>
                                    </p:set>
                                    <p:anim calcmode="lin" valueType="num">
                                      <p:cBhvr additive="base">
                                        <p:cTn id="7" dur="500" fill="hold"/>
                                        <p:tgtEl>
                                          <p:spTgt spid="64542"/>
                                        </p:tgtEl>
                                        <p:attrNameLst>
                                          <p:attrName>ppt_x</p:attrName>
                                        </p:attrNameLst>
                                      </p:cBhvr>
                                      <p:tavLst>
                                        <p:tav tm="0">
                                          <p:val>
                                            <p:strVal val="#ppt_x"/>
                                          </p:val>
                                        </p:tav>
                                        <p:tav tm="100000">
                                          <p:val>
                                            <p:strVal val="#ppt_x"/>
                                          </p:val>
                                        </p:tav>
                                      </p:tavLst>
                                    </p:anim>
                                    <p:anim calcmode="lin" valueType="num">
                                      <p:cBhvr additive="base">
                                        <p:cTn id="8" dur="500" fill="hold"/>
                                        <p:tgtEl>
                                          <p:spTgt spid="6454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4543"/>
                                        </p:tgtEl>
                                        <p:attrNameLst>
                                          <p:attrName>style.visibility</p:attrName>
                                        </p:attrNameLst>
                                      </p:cBhvr>
                                      <p:to>
                                        <p:strVal val="visible"/>
                                      </p:to>
                                    </p:set>
                                    <p:anim calcmode="lin" valueType="num">
                                      <p:cBhvr additive="base">
                                        <p:cTn id="13" dur="500" fill="hold"/>
                                        <p:tgtEl>
                                          <p:spTgt spid="64543"/>
                                        </p:tgtEl>
                                        <p:attrNameLst>
                                          <p:attrName>ppt_x</p:attrName>
                                        </p:attrNameLst>
                                      </p:cBhvr>
                                      <p:tavLst>
                                        <p:tav tm="0">
                                          <p:val>
                                            <p:strVal val="#ppt_x"/>
                                          </p:val>
                                        </p:tav>
                                        <p:tav tm="100000">
                                          <p:val>
                                            <p:strVal val="#ppt_x"/>
                                          </p:val>
                                        </p:tav>
                                      </p:tavLst>
                                    </p:anim>
                                    <p:anim calcmode="lin" valueType="num">
                                      <p:cBhvr additive="base">
                                        <p:cTn id="14" dur="500" fill="hold"/>
                                        <p:tgtEl>
                                          <p:spTgt spid="6454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42" grpId="0"/>
      <p:bldP spid="64543"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pPr>
              <a:defRPr/>
            </a:pPr>
            <a:fld id="{B33F1125-15BD-48A8-A798-B27B8418A09D}" type="slidenum">
              <a:rPr lang="en-US" altLang="zh-CN"/>
              <a:pPr>
                <a:defRPr/>
              </a:pPr>
              <a:t>86</a:t>
            </a:fld>
            <a:endParaRPr lang="en-US" altLang="zh-CN"/>
          </a:p>
        </p:txBody>
      </p:sp>
      <p:sp>
        <p:nvSpPr>
          <p:cNvPr id="87043" name="Rectangle 3"/>
          <p:cNvSpPr>
            <a:spLocks noGrp="1" noChangeArrowheads="1"/>
          </p:cNvSpPr>
          <p:nvPr>
            <p:ph type="body" idx="1"/>
          </p:nvPr>
        </p:nvSpPr>
        <p:spPr>
          <a:xfrm>
            <a:off x="466725" y="1196975"/>
            <a:ext cx="8277225" cy="3889375"/>
          </a:xfrm>
          <a:noFill/>
        </p:spPr>
        <p:txBody>
          <a:bodyPr/>
          <a:lstStyle/>
          <a:p>
            <a:pPr marL="363538" indent="-363538" algn="just" eaLnBrk="1" hangingPunct="1">
              <a:buSzTx/>
              <a:buFont typeface="Wingdings" pitchFamily="2" charset="2"/>
              <a:buChar char="Ø"/>
            </a:pPr>
            <a:r>
              <a:rPr kumimoji="1" lang="zh-CN" altLang="en-US" dirty="0" smtClean="0">
                <a:solidFill>
                  <a:schemeClr val="folHlink"/>
                </a:solidFill>
              </a:rPr>
              <a:t>韦尔奇</a:t>
            </a:r>
            <a:r>
              <a:rPr kumimoji="1" lang="zh-CN" altLang="en-US" dirty="0" smtClean="0">
                <a:solidFill>
                  <a:schemeClr val="folHlink"/>
                </a:solidFill>
                <a:sym typeface="Symbol" pitchFamily="18" charset="2"/>
              </a:rPr>
              <a:t></a:t>
            </a:r>
            <a:r>
              <a:rPr kumimoji="1" lang="zh-CN" altLang="en-US" dirty="0" smtClean="0">
                <a:solidFill>
                  <a:schemeClr val="folHlink"/>
                </a:solidFill>
              </a:rPr>
              <a:t>鲍威尔图着色法</a:t>
            </a:r>
          </a:p>
          <a:p>
            <a:pPr marL="363538" indent="-363538" algn="just" eaLnBrk="1" hangingPunct="1">
              <a:buClrTx/>
              <a:buSzTx/>
              <a:buFontTx/>
              <a:buNone/>
            </a:pPr>
            <a:r>
              <a:rPr kumimoji="1" lang="en-US" altLang="zh-CN" dirty="0" smtClean="0"/>
              <a:t>a) </a:t>
            </a:r>
            <a:r>
              <a:rPr kumimoji="1" lang="zh-CN" altLang="en-US" dirty="0" smtClean="0"/>
              <a:t>将图</a:t>
            </a:r>
            <a:r>
              <a:rPr kumimoji="1" lang="en-US" altLang="zh-CN" dirty="0" smtClean="0"/>
              <a:t>G</a:t>
            </a:r>
            <a:r>
              <a:rPr kumimoji="1" lang="zh-CN" altLang="en-US" dirty="0" smtClean="0"/>
              <a:t>中的结点排列为</a:t>
            </a:r>
            <a:r>
              <a:rPr kumimoji="1" lang="en-US" altLang="zh-CN" dirty="0" smtClean="0"/>
              <a:t>V={v</a:t>
            </a:r>
            <a:r>
              <a:rPr kumimoji="1" lang="en-US" altLang="zh-CN" baseline="-25000" dirty="0" smtClean="0"/>
              <a:t>i1</a:t>
            </a:r>
            <a:r>
              <a:rPr kumimoji="1" lang="en-US" altLang="zh-CN" dirty="0" smtClean="0"/>
              <a:t>, v</a:t>
            </a:r>
            <a:r>
              <a:rPr kumimoji="1" lang="en-US" altLang="zh-CN" baseline="-25000" dirty="0" smtClean="0"/>
              <a:t>i2</a:t>
            </a:r>
            <a:r>
              <a:rPr kumimoji="1" lang="en-US" altLang="zh-CN" dirty="0" smtClean="0"/>
              <a:t>, … , v</a:t>
            </a:r>
            <a:r>
              <a:rPr kumimoji="1" lang="en-US" altLang="zh-CN" baseline="-25000" dirty="0" smtClean="0"/>
              <a:t>in</a:t>
            </a:r>
            <a:r>
              <a:rPr kumimoji="1" lang="en-US" altLang="zh-CN" dirty="0" smtClean="0"/>
              <a:t>}</a:t>
            </a:r>
            <a:r>
              <a:rPr kumimoji="1" lang="zh-CN" altLang="en-US" dirty="0" smtClean="0"/>
              <a:t>，</a:t>
            </a:r>
          </a:p>
          <a:p>
            <a:pPr marL="363538" indent="-363538" algn="just" eaLnBrk="1" hangingPunct="1">
              <a:buClrTx/>
              <a:buSzTx/>
              <a:buFontTx/>
              <a:buNone/>
            </a:pPr>
            <a:r>
              <a:rPr kumimoji="1" lang="zh-CN" altLang="en-US" dirty="0" smtClean="0"/>
              <a:t>     其中</a:t>
            </a:r>
            <a:r>
              <a:rPr kumimoji="1" lang="en-US" altLang="zh-CN" dirty="0" err="1" smtClean="0"/>
              <a:t>deg</a:t>
            </a:r>
            <a:r>
              <a:rPr kumimoji="1" lang="en-US" altLang="zh-CN" dirty="0" smtClean="0"/>
              <a:t>(</a:t>
            </a:r>
            <a:r>
              <a:rPr kumimoji="1" lang="en-US" altLang="zh-CN" dirty="0" err="1" smtClean="0"/>
              <a:t>v</a:t>
            </a:r>
            <a:r>
              <a:rPr kumimoji="1" lang="en-US" altLang="zh-CN" baseline="-25000" dirty="0" err="1" smtClean="0"/>
              <a:t>ij</a:t>
            </a:r>
            <a:r>
              <a:rPr kumimoji="1" lang="en-US" altLang="zh-CN" dirty="0" smtClean="0"/>
              <a:t>) </a:t>
            </a:r>
            <a:r>
              <a:rPr kumimoji="1" lang="en-US" altLang="en-US" dirty="0" smtClean="0"/>
              <a:t>≥</a:t>
            </a:r>
            <a:r>
              <a:rPr kumimoji="1" lang="en-US" altLang="zh-CN" dirty="0" err="1" smtClean="0"/>
              <a:t>deg</a:t>
            </a:r>
            <a:r>
              <a:rPr kumimoji="1" lang="en-US" altLang="zh-CN" dirty="0" smtClean="0"/>
              <a:t>(</a:t>
            </a:r>
            <a:r>
              <a:rPr kumimoji="1" lang="en-US" altLang="zh-CN" dirty="0" err="1" smtClean="0"/>
              <a:t>v</a:t>
            </a:r>
            <a:r>
              <a:rPr kumimoji="1" lang="en-US" altLang="zh-CN" baseline="-25000" dirty="0" err="1" smtClean="0"/>
              <a:t>ik</a:t>
            </a:r>
            <a:r>
              <a:rPr kumimoji="1" lang="en-US" altLang="zh-CN" dirty="0" smtClean="0"/>
              <a:t>)</a:t>
            </a:r>
            <a:r>
              <a:rPr kumimoji="1" lang="zh-CN" altLang="en-US" dirty="0" smtClean="0"/>
              <a:t>，</a:t>
            </a:r>
            <a:r>
              <a:rPr kumimoji="1" lang="en-US" altLang="zh-CN" dirty="0" smtClean="0"/>
              <a:t>j&lt;k</a:t>
            </a:r>
            <a:r>
              <a:rPr kumimoji="1" lang="zh-CN" altLang="en-US" dirty="0" smtClean="0"/>
              <a:t>，</a:t>
            </a:r>
            <a:r>
              <a:rPr kumimoji="1" lang="en-US" altLang="zh-CN" dirty="0" smtClean="0"/>
              <a:t>m=1</a:t>
            </a:r>
            <a:r>
              <a:rPr kumimoji="1" lang="zh-CN" altLang="en-US" dirty="0" smtClean="0"/>
              <a:t>。</a:t>
            </a:r>
          </a:p>
          <a:p>
            <a:pPr marL="363538" indent="-363538" algn="just" eaLnBrk="1" hangingPunct="1">
              <a:buClrTx/>
              <a:buSzTx/>
              <a:buFontTx/>
              <a:buNone/>
            </a:pPr>
            <a:r>
              <a:rPr kumimoji="1" lang="en-US" altLang="zh-CN" dirty="0" smtClean="0">
                <a:solidFill>
                  <a:srgbClr val="993300"/>
                </a:solidFill>
              </a:rPr>
              <a:t>b)</a:t>
            </a:r>
            <a:r>
              <a:rPr kumimoji="1" lang="en-US" altLang="zh-CN" dirty="0" smtClean="0"/>
              <a:t> </a:t>
            </a:r>
            <a:r>
              <a:rPr kumimoji="1" lang="zh-CN" altLang="en-US" dirty="0" smtClean="0"/>
              <a:t>令</a:t>
            </a:r>
            <a:r>
              <a:rPr kumimoji="1" lang="en-US" altLang="zh-CN" dirty="0" err="1" smtClean="0"/>
              <a:t>V</a:t>
            </a:r>
            <a:r>
              <a:rPr kumimoji="1" lang="en-US" altLang="zh-CN" baseline="-25000" dirty="0" err="1" smtClean="0"/>
              <a:t>m</a:t>
            </a:r>
            <a:r>
              <a:rPr kumimoji="1" lang="en-US" altLang="zh-CN" dirty="0" smtClean="0"/>
              <a:t>=</a:t>
            </a:r>
            <a:r>
              <a:rPr kumimoji="1" lang="en-US" altLang="zh-CN" dirty="0" smtClean="0">
                <a:sym typeface="Symbol"/>
              </a:rPr>
              <a:t></a:t>
            </a:r>
            <a:r>
              <a:rPr kumimoji="1" lang="zh-CN" altLang="en-US" dirty="0" smtClean="0">
                <a:sym typeface="Symbol" pitchFamily="18" charset="2"/>
              </a:rPr>
              <a:t>，</a:t>
            </a:r>
            <a:r>
              <a:rPr kumimoji="1" lang="zh-CN" altLang="en-US" dirty="0" smtClean="0"/>
              <a:t>用第</a:t>
            </a:r>
            <a:r>
              <a:rPr kumimoji="1" lang="en-US" altLang="zh-CN" dirty="0" smtClean="0"/>
              <a:t>m</a:t>
            </a:r>
            <a:r>
              <a:rPr kumimoji="1" lang="zh-CN" altLang="en-US" dirty="0" smtClean="0"/>
              <a:t>种颜色对</a:t>
            </a:r>
            <a:r>
              <a:rPr kumimoji="1" lang="en-US" altLang="zh-CN" dirty="0" smtClean="0"/>
              <a:t>V</a:t>
            </a:r>
            <a:r>
              <a:rPr kumimoji="1" lang="zh-CN" altLang="en-US" dirty="0" smtClean="0"/>
              <a:t>中第一点着色，并将其加入</a:t>
            </a:r>
            <a:r>
              <a:rPr kumimoji="1" lang="en-US" altLang="zh-CN" dirty="0" err="1" smtClean="0"/>
              <a:t>V</a:t>
            </a:r>
            <a:r>
              <a:rPr kumimoji="1" lang="en-US" altLang="zh-CN" baseline="-25000" dirty="0" err="1" smtClean="0"/>
              <a:t>m</a:t>
            </a:r>
            <a:r>
              <a:rPr kumimoji="1" lang="zh-CN" altLang="en-US" dirty="0" smtClean="0"/>
              <a:t>中，对</a:t>
            </a:r>
            <a:r>
              <a:rPr kumimoji="1" lang="en-US" altLang="zh-CN" dirty="0" smtClean="0"/>
              <a:t>V</a:t>
            </a:r>
            <a:r>
              <a:rPr kumimoji="1" lang="zh-CN" altLang="en-US" dirty="0" smtClean="0"/>
              <a:t>中与</a:t>
            </a:r>
            <a:r>
              <a:rPr kumimoji="1" lang="en-US" altLang="zh-CN" dirty="0" err="1" smtClean="0"/>
              <a:t>V</a:t>
            </a:r>
            <a:r>
              <a:rPr kumimoji="1" lang="en-US" altLang="zh-CN" baseline="-25000" dirty="0" err="1" smtClean="0"/>
              <a:t>m</a:t>
            </a:r>
            <a:r>
              <a:rPr kumimoji="1" lang="zh-CN" altLang="en-US" dirty="0" smtClean="0"/>
              <a:t>中各点都不邻接的点着上同样的颜色，并将其加入</a:t>
            </a:r>
            <a:r>
              <a:rPr kumimoji="1" lang="en-US" altLang="zh-CN" dirty="0" err="1" smtClean="0"/>
              <a:t>V</a:t>
            </a:r>
            <a:r>
              <a:rPr kumimoji="1" lang="en-US" altLang="zh-CN" baseline="-25000" dirty="0" err="1" smtClean="0"/>
              <a:t>m</a:t>
            </a:r>
            <a:r>
              <a:rPr kumimoji="1" lang="zh-CN" altLang="en-US" dirty="0" smtClean="0"/>
              <a:t>中，令</a:t>
            </a:r>
            <a:r>
              <a:rPr kumimoji="1" lang="en-US" altLang="zh-CN" dirty="0" smtClean="0"/>
              <a:t>V=V-</a:t>
            </a:r>
            <a:r>
              <a:rPr kumimoji="1" lang="en-US" altLang="zh-CN" dirty="0" err="1" smtClean="0"/>
              <a:t>V</a:t>
            </a:r>
            <a:r>
              <a:rPr kumimoji="1" lang="en-US" altLang="zh-CN" baseline="-25000" dirty="0" err="1" smtClean="0"/>
              <a:t>m</a:t>
            </a:r>
            <a:r>
              <a:rPr kumimoji="1" lang="zh-CN" altLang="en-US" dirty="0" smtClean="0"/>
              <a:t>，直至</a:t>
            </a:r>
            <a:r>
              <a:rPr kumimoji="1" lang="en-US" altLang="zh-CN" dirty="0" smtClean="0"/>
              <a:t>V</a:t>
            </a:r>
            <a:r>
              <a:rPr kumimoji="1" lang="zh-CN" altLang="en-US" dirty="0" smtClean="0"/>
              <a:t>中没有结点是与</a:t>
            </a:r>
            <a:r>
              <a:rPr kumimoji="1" lang="en-US" altLang="zh-CN" dirty="0" err="1" smtClean="0"/>
              <a:t>V</a:t>
            </a:r>
            <a:r>
              <a:rPr kumimoji="1" lang="en-US" altLang="zh-CN" baseline="-25000" dirty="0" err="1" smtClean="0"/>
              <a:t>m</a:t>
            </a:r>
            <a:r>
              <a:rPr kumimoji="1" lang="zh-CN" altLang="en-US" dirty="0" smtClean="0"/>
              <a:t>中各点都不邻接。</a:t>
            </a:r>
          </a:p>
          <a:p>
            <a:pPr marL="363538" indent="-363538" eaLnBrk="1" hangingPunct="1">
              <a:buClrTx/>
              <a:buSzTx/>
              <a:buFontTx/>
              <a:buNone/>
            </a:pPr>
            <a:r>
              <a:rPr kumimoji="1" lang="en-US" altLang="zh-CN" dirty="0" smtClean="0">
                <a:solidFill>
                  <a:srgbClr val="993300"/>
                </a:solidFill>
              </a:rPr>
              <a:t>c)</a:t>
            </a:r>
            <a:r>
              <a:rPr kumimoji="1" lang="en-US" altLang="zh-CN" dirty="0" smtClean="0"/>
              <a:t> V= </a:t>
            </a:r>
            <a:r>
              <a:rPr kumimoji="1" lang="en-US" altLang="zh-CN" dirty="0">
                <a:sym typeface="Symbol"/>
              </a:rPr>
              <a:t> </a:t>
            </a:r>
            <a:r>
              <a:rPr kumimoji="1" lang="zh-CN" altLang="en-US" dirty="0" smtClean="0">
                <a:sym typeface="Symbol" pitchFamily="18" charset="2"/>
              </a:rPr>
              <a:t>，停止，否则，</a:t>
            </a:r>
            <a:r>
              <a:rPr kumimoji="1" lang="en-US" altLang="zh-CN" dirty="0" smtClean="0">
                <a:sym typeface="Symbol" pitchFamily="18" charset="2"/>
              </a:rPr>
              <a:t>m=m+1</a:t>
            </a:r>
            <a:r>
              <a:rPr kumimoji="1" lang="zh-CN" altLang="en-US" dirty="0" smtClean="0">
                <a:sym typeface="Symbol" pitchFamily="18" charset="2"/>
              </a:rPr>
              <a:t>，转</a:t>
            </a:r>
            <a:r>
              <a:rPr kumimoji="1" lang="en-US" altLang="zh-CN" dirty="0" smtClean="0">
                <a:sym typeface="Symbol" pitchFamily="18" charset="2"/>
              </a:rPr>
              <a:t>b)</a:t>
            </a:r>
            <a:r>
              <a:rPr kumimoji="1" lang="zh-CN" altLang="en-US" dirty="0" smtClean="0">
                <a:sym typeface="Symbol" pitchFamily="18" charset="2"/>
              </a:rPr>
              <a:t>。</a:t>
            </a:r>
            <a:endParaRPr kumimoji="1" lang="zh-CN" altLang="en-US" dirty="0" smtClean="0"/>
          </a:p>
        </p:txBody>
      </p:sp>
      <p:sp>
        <p:nvSpPr>
          <p:cNvPr id="87044" name="Rectangle 4"/>
          <p:cNvSpPr>
            <a:spLocks noChangeArrowheads="1"/>
          </p:cNvSpPr>
          <p:nvPr/>
        </p:nvSpPr>
        <p:spPr bwMode="auto">
          <a:xfrm>
            <a:off x="1042988" y="246063"/>
            <a:ext cx="3671887"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bg1"/>
              </a:buClr>
            </a:pPr>
            <a:r>
              <a:rPr kumimoji="1" lang="en-US" altLang="zh-CN" sz="3200" b="1">
                <a:solidFill>
                  <a:srgbClr val="993300"/>
                </a:solidFill>
                <a:latin typeface="楷体_GB2312" pitchFamily="49" charset="-122"/>
                <a:ea typeface="楷体_GB2312" pitchFamily="49" charset="-122"/>
              </a:rPr>
              <a:t>2</a:t>
            </a:r>
            <a:r>
              <a:rPr kumimoji="1" lang="zh-CN" altLang="en-US" sz="3200" b="1">
                <a:solidFill>
                  <a:srgbClr val="993300"/>
                </a:solidFill>
                <a:latin typeface="楷体_GB2312" pitchFamily="49" charset="-122"/>
                <a:ea typeface="楷体_GB2312" pitchFamily="49" charset="-122"/>
              </a:rPr>
              <a:t>、着色的方法</a:t>
            </a:r>
          </a:p>
        </p:txBody>
      </p:sp>
    </p:spTree>
    <p:extLst>
      <p:ext uri="{BB962C8B-B14F-4D97-AF65-F5344CB8AC3E}">
        <p14:creationId xmlns:p14="http://schemas.microsoft.com/office/powerpoint/2010/main" val="1811012741"/>
      </p:ext>
    </p:extLst>
  </p:cSld>
  <p:clrMapOvr>
    <a:masterClrMapping/>
  </p:clrMapOvr>
  <p:transition spd="slow">
    <p:random/>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灯片编号占位符 2"/>
          <p:cNvSpPr>
            <a:spLocks noGrp="1"/>
          </p:cNvSpPr>
          <p:nvPr>
            <p:ph type="sldNum" sz="quarter" idx="11"/>
          </p:nvPr>
        </p:nvSpPr>
        <p:spPr/>
        <p:txBody>
          <a:bodyPr/>
          <a:lstStyle/>
          <a:p>
            <a:pPr>
              <a:defRPr/>
            </a:pPr>
            <a:fld id="{6BB6EE1A-FDA6-447D-9F1C-9748E9A23842}" type="slidenum">
              <a:rPr lang="en-US" altLang="zh-CN"/>
              <a:pPr>
                <a:defRPr/>
              </a:pPr>
              <a:t>87</a:t>
            </a:fld>
            <a:endParaRPr lang="en-US" altLang="zh-CN"/>
          </a:p>
        </p:txBody>
      </p:sp>
      <p:sp>
        <p:nvSpPr>
          <p:cNvPr id="67586" name="Rectangle 2"/>
          <p:cNvSpPr>
            <a:spLocks noChangeArrowheads="1"/>
          </p:cNvSpPr>
          <p:nvPr/>
        </p:nvSpPr>
        <p:spPr bwMode="auto">
          <a:xfrm>
            <a:off x="466725" y="3068638"/>
            <a:ext cx="82772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0000"/>
              </a:lnSpc>
            </a:pPr>
            <a:r>
              <a:rPr kumimoji="1" lang="zh-CN" altLang="en-US" b="1">
                <a:solidFill>
                  <a:schemeClr val="tx2"/>
                </a:solidFill>
                <a:latin typeface="Times New Roman" pitchFamily="18" charset="0"/>
              </a:rPr>
              <a:t>各点递减排列次序：</a:t>
            </a:r>
            <a:r>
              <a:rPr kumimoji="1" lang="en-US" altLang="zh-CN" b="1">
                <a:solidFill>
                  <a:schemeClr val="tx2"/>
                </a:solidFill>
                <a:latin typeface="Times New Roman" pitchFamily="18" charset="0"/>
              </a:rPr>
              <a:t>V={A</a:t>
            </a:r>
            <a:r>
              <a:rPr kumimoji="1" lang="en-US" altLang="zh-CN" b="1" baseline="-25000">
                <a:solidFill>
                  <a:schemeClr val="tx2"/>
                </a:solidFill>
                <a:latin typeface="Times New Roman" pitchFamily="18" charset="0"/>
              </a:rPr>
              <a:t>7</a:t>
            </a:r>
            <a:r>
              <a:rPr kumimoji="1" lang="en-US" altLang="zh-CN" b="1">
                <a:solidFill>
                  <a:schemeClr val="tx2"/>
                </a:solidFill>
                <a:latin typeface="Times New Roman" pitchFamily="18" charset="0"/>
              </a:rPr>
              <a:t>, A</a:t>
            </a:r>
            <a:r>
              <a:rPr kumimoji="1" lang="en-US" altLang="zh-CN" b="1" baseline="-25000">
                <a:solidFill>
                  <a:schemeClr val="tx2"/>
                </a:solidFill>
                <a:latin typeface="Times New Roman" pitchFamily="18" charset="0"/>
              </a:rPr>
              <a:t>5</a:t>
            </a:r>
            <a:r>
              <a:rPr kumimoji="1" lang="en-US" altLang="zh-CN" b="1">
                <a:solidFill>
                  <a:schemeClr val="tx2"/>
                </a:solidFill>
                <a:latin typeface="Times New Roman" pitchFamily="18" charset="0"/>
              </a:rPr>
              <a:t>, A</a:t>
            </a:r>
            <a:r>
              <a:rPr kumimoji="1" lang="en-US" altLang="zh-CN" b="1" baseline="-25000">
                <a:solidFill>
                  <a:schemeClr val="tx2"/>
                </a:solidFill>
                <a:latin typeface="Times New Roman" pitchFamily="18" charset="0"/>
              </a:rPr>
              <a:t>3</a:t>
            </a:r>
            <a:r>
              <a:rPr kumimoji="1" lang="en-US" altLang="zh-CN" b="1">
                <a:solidFill>
                  <a:schemeClr val="tx2"/>
                </a:solidFill>
                <a:latin typeface="Times New Roman" pitchFamily="18" charset="0"/>
              </a:rPr>
              <a:t>, A</a:t>
            </a:r>
            <a:r>
              <a:rPr kumimoji="1" lang="en-US" altLang="zh-CN" b="1" baseline="-25000">
                <a:solidFill>
                  <a:schemeClr val="tx2"/>
                </a:solidFill>
                <a:latin typeface="Times New Roman" pitchFamily="18" charset="0"/>
              </a:rPr>
              <a:t>1</a:t>
            </a:r>
            <a:r>
              <a:rPr kumimoji="1" lang="en-US" altLang="zh-CN" b="1">
                <a:solidFill>
                  <a:schemeClr val="tx2"/>
                </a:solidFill>
                <a:latin typeface="Times New Roman" pitchFamily="18" charset="0"/>
              </a:rPr>
              <a:t>, A</a:t>
            </a:r>
            <a:r>
              <a:rPr kumimoji="1" lang="en-US" altLang="zh-CN" b="1" baseline="-25000">
                <a:solidFill>
                  <a:schemeClr val="tx2"/>
                </a:solidFill>
                <a:latin typeface="Times New Roman" pitchFamily="18" charset="0"/>
              </a:rPr>
              <a:t>2</a:t>
            </a:r>
            <a:r>
              <a:rPr kumimoji="1" lang="en-US" altLang="zh-CN" b="1">
                <a:solidFill>
                  <a:schemeClr val="tx2"/>
                </a:solidFill>
                <a:latin typeface="Times New Roman" pitchFamily="18" charset="0"/>
              </a:rPr>
              <a:t>, A</a:t>
            </a:r>
            <a:r>
              <a:rPr kumimoji="1" lang="en-US" altLang="zh-CN" b="1" baseline="-25000">
                <a:solidFill>
                  <a:schemeClr val="tx2"/>
                </a:solidFill>
                <a:latin typeface="Times New Roman" pitchFamily="18" charset="0"/>
              </a:rPr>
              <a:t>4</a:t>
            </a:r>
            <a:r>
              <a:rPr kumimoji="1" lang="en-US" altLang="zh-CN" b="1">
                <a:solidFill>
                  <a:schemeClr val="tx2"/>
                </a:solidFill>
                <a:latin typeface="Times New Roman" pitchFamily="18" charset="0"/>
              </a:rPr>
              <a:t>, A</a:t>
            </a:r>
            <a:r>
              <a:rPr kumimoji="1" lang="en-US" altLang="zh-CN" b="1" baseline="-25000">
                <a:solidFill>
                  <a:schemeClr val="tx2"/>
                </a:solidFill>
                <a:latin typeface="Times New Roman" pitchFamily="18" charset="0"/>
              </a:rPr>
              <a:t>6</a:t>
            </a:r>
            <a:r>
              <a:rPr kumimoji="1" lang="en-US" altLang="zh-CN" b="1">
                <a:solidFill>
                  <a:schemeClr val="tx2"/>
                </a:solidFill>
                <a:latin typeface="Times New Roman" pitchFamily="18" charset="0"/>
              </a:rPr>
              <a:t>, A</a:t>
            </a:r>
            <a:r>
              <a:rPr kumimoji="1" lang="en-US" altLang="zh-CN" b="1" baseline="-25000">
                <a:solidFill>
                  <a:schemeClr val="tx2"/>
                </a:solidFill>
                <a:latin typeface="Times New Roman" pitchFamily="18" charset="0"/>
              </a:rPr>
              <a:t>8</a:t>
            </a:r>
            <a:r>
              <a:rPr kumimoji="1" lang="en-US" altLang="zh-CN" b="1">
                <a:solidFill>
                  <a:schemeClr val="tx2"/>
                </a:solidFill>
                <a:latin typeface="Times New Roman" pitchFamily="18" charset="0"/>
              </a:rPr>
              <a:t>}</a:t>
            </a:r>
            <a:endParaRPr kumimoji="1" lang="en-US" altLang="zh-CN" b="1" baseline="-25000">
              <a:solidFill>
                <a:schemeClr val="tx2"/>
              </a:solidFill>
              <a:latin typeface="Times New Roman" pitchFamily="18" charset="0"/>
            </a:endParaRPr>
          </a:p>
          <a:p>
            <a:pPr algn="just">
              <a:lnSpc>
                <a:spcPct val="130000"/>
              </a:lnSpc>
            </a:pPr>
            <a:r>
              <a:rPr kumimoji="1" lang="en-US" altLang="zh-CN" b="1">
                <a:latin typeface="Times New Roman" pitchFamily="18" charset="0"/>
              </a:rPr>
              <a:t>V</a:t>
            </a:r>
            <a:r>
              <a:rPr kumimoji="1" lang="en-US" altLang="zh-CN" b="1" baseline="-25000">
                <a:latin typeface="Times New Roman" pitchFamily="18" charset="0"/>
              </a:rPr>
              <a:t>1</a:t>
            </a:r>
            <a:r>
              <a:rPr kumimoji="1" lang="en-US" altLang="zh-CN" b="1">
                <a:latin typeface="Times New Roman" pitchFamily="18" charset="0"/>
              </a:rPr>
              <a:t>={A</a:t>
            </a:r>
            <a:r>
              <a:rPr kumimoji="1" lang="en-US" altLang="zh-CN" b="1" baseline="-25000">
                <a:latin typeface="Times New Roman" pitchFamily="18" charset="0"/>
              </a:rPr>
              <a:t>7</a:t>
            </a:r>
            <a:r>
              <a:rPr kumimoji="1" lang="en-US" altLang="zh-CN" b="1">
                <a:latin typeface="Times New Roman" pitchFamily="18" charset="0"/>
              </a:rPr>
              <a:t>, A</a:t>
            </a:r>
            <a:r>
              <a:rPr kumimoji="1" lang="en-US" altLang="zh-CN" b="1" baseline="-25000">
                <a:latin typeface="Times New Roman" pitchFamily="18" charset="0"/>
              </a:rPr>
              <a:t>2</a:t>
            </a:r>
            <a:r>
              <a:rPr kumimoji="1" lang="en-US" altLang="zh-CN" b="1">
                <a:latin typeface="Times New Roman" pitchFamily="18" charset="0"/>
              </a:rPr>
              <a:t>, A</a:t>
            </a:r>
            <a:r>
              <a:rPr kumimoji="1" lang="en-US" altLang="zh-CN" b="1" baseline="-25000">
                <a:latin typeface="Times New Roman" pitchFamily="18" charset="0"/>
              </a:rPr>
              <a:t>6</a:t>
            </a:r>
            <a:r>
              <a:rPr kumimoji="1" lang="en-US" altLang="zh-CN" b="1">
                <a:latin typeface="Times New Roman" pitchFamily="18" charset="0"/>
              </a:rPr>
              <a:t>}</a:t>
            </a:r>
            <a:r>
              <a:rPr kumimoji="1" lang="zh-CN" altLang="en-US" b="1">
                <a:latin typeface="Times New Roman" pitchFamily="18" charset="0"/>
              </a:rPr>
              <a:t>， </a:t>
            </a:r>
            <a:r>
              <a:rPr kumimoji="1" lang="en-US" altLang="zh-CN" b="1">
                <a:latin typeface="Times New Roman" pitchFamily="18" charset="0"/>
              </a:rPr>
              <a:t>V={A</a:t>
            </a:r>
            <a:r>
              <a:rPr kumimoji="1" lang="en-US" altLang="zh-CN" b="1" baseline="-25000">
                <a:latin typeface="Times New Roman" pitchFamily="18" charset="0"/>
              </a:rPr>
              <a:t>5</a:t>
            </a:r>
            <a:r>
              <a:rPr kumimoji="1" lang="en-US" altLang="zh-CN" b="1">
                <a:latin typeface="Times New Roman" pitchFamily="18" charset="0"/>
              </a:rPr>
              <a:t>, A</a:t>
            </a:r>
            <a:r>
              <a:rPr kumimoji="1" lang="en-US" altLang="zh-CN" b="1" baseline="-25000">
                <a:latin typeface="Times New Roman" pitchFamily="18" charset="0"/>
              </a:rPr>
              <a:t>3</a:t>
            </a:r>
            <a:r>
              <a:rPr kumimoji="1" lang="en-US" altLang="zh-CN" b="1">
                <a:latin typeface="Times New Roman" pitchFamily="18" charset="0"/>
              </a:rPr>
              <a:t>, A</a:t>
            </a:r>
            <a:r>
              <a:rPr kumimoji="1" lang="en-US" altLang="zh-CN" b="1" baseline="-25000">
                <a:latin typeface="Times New Roman" pitchFamily="18" charset="0"/>
              </a:rPr>
              <a:t>1</a:t>
            </a:r>
            <a:r>
              <a:rPr kumimoji="1" lang="en-US" altLang="zh-CN" b="1">
                <a:latin typeface="Times New Roman" pitchFamily="18" charset="0"/>
              </a:rPr>
              <a:t>, A</a:t>
            </a:r>
            <a:r>
              <a:rPr kumimoji="1" lang="en-US" altLang="zh-CN" b="1" baseline="-25000">
                <a:latin typeface="Times New Roman" pitchFamily="18" charset="0"/>
              </a:rPr>
              <a:t>4</a:t>
            </a:r>
            <a:r>
              <a:rPr kumimoji="1" lang="en-US" altLang="zh-CN" b="1">
                <a:latin typeface="Times New Roman" pitchFamily="18" charset="0"/>
              </a:rPr>
              <a:t>, A</a:t>
            </a:r>
            <a:r>
              <a:rPr kumimoji="1" lang="en-US" altLang="zh-CN" b="1" baseline="-25000">
                <a:latin typeface="Times New Roman" pitchFamily="18" charset="0"/>
              </a:rPr>
              <a:t>8</a:t>
            </a:r>
            <a:r>
              <a:rPr kumimoji="1" lang="en-US" altLang="zh-CN" b="1">
                <a:latin typeface="Times New Roman" pitchFamily="18" charset="0"/>
              </a:rPr>
              <a:t>}</a:t>
            </a:r>
          </a:p>
          <a:p>
            <a:pPr algn="just">
              <a:lnSpc>
                <a:spcPct val="130000"/>
              </a:lnSpc>
            </a:pPr>
            <a:r>
              <a:rPr kumimoji="1" lang="en-US" altLang="zh-CN" b="1">
                <a:latin typeface="Times New Roman" pitchFamily="18" charset="0"/>
              </a:rPr>
              <a:t>V</a:t>
            </a:r>
            <a:r>
              <a:rPr kumimoji="1" lang="en-US" altLang="zh-CN" b="1" baseline="-25000">
                <a:latin typeface="Times New Roman" pitchFamily="18" charset="0"/>
              </a:rPr>
              <a:t>2</a:t>
            </a:r>
            <a:r>
              <a:rPr kumimoji="1" lang="en-US" altLang="zh-CN" b="1">
                <a:latin typeface="Times New Roman" pitchFamily="18" charset="0"/>
              </a:rPr>
              <a:t>={A</a:t>
            </a:r>
            <a:r>
              <a:rPr kumimoji="1" lang="en-US" altLang="zh-CN" b="1" baseline="-25000">
                <a:latin typeface="Times New Roman" pitchFamily="18" charset="0"/>
              </a:rPr>
              <a:t>5</a:t>
            </a:r>
            <a:r>
              <a:rPr kumimoji="1" lang="en-US" altLang="zh-CN" b="1">
                <a:latin typeface="Times New Roman" pitchFamily="18" charset="0"/>
              </a:rPr>
              <a:t>, A</a:t>
            </a:r>
            <a:r>
              <a:rPr kumimoji="1" lang="en-US" altLang="zh-CN" b="1" baseline="-25000">
                <a:latin typeface="Times New Roman" pitchFamily="18" charset="0"/>
              </a:rPr>
              <a:t>1</a:t>
            </a:r>
            <a:r>
              <a:rPr kumimoji="1" lang="en-US" altLang="zh-CN" b="1">
                <a:latin typeface="Times New Roman" pitchFamily="18" charset="0"/>
              </a:rPr>
              <a:t>, A</a:t>
            </a:r>
            <a:r>
              <a:rPr kumimoji="1" lang="en-US" altLang="zh-CN" b="1" baseline="-25000">
                <a:latin typeface="Times New Roman" pitchFamily="18" charset="0"/>
              </a:rPr>
              <a:t>8</a:t>
            </a:r>
            <a:r>
              <a:rPr kumimoji="1" lang="en-US" altLang="zh-CN" b="1">
                <a:latin typeface="Times New Roman" pitchFamily="18" charset="0"/>
              </a:rPr>
              <a:t>}</a:t>
            </a:r>
            <a:r>
              <a:rPr kumimoji="1" lang="zh-CN" altLang="en-US" b="1">
                <a:latin typeface="Times New Roman" pitchFamily="18" charset="0"/>
              </a:rPr>
              <a:t>， </a:t>
            </a:r>
            <a:r>
              <a:rPr kumimoji="1" lang="en-US" altLang="zh-CN" b="1">
                <a:latin typeface="Times New Roman" pitchFamily="18" charset="0"/>
              </a:rPr>
              <a:t>V={A</a:t>
            </a:r>
            <a:r>
              <a:rPr kumimoji="1" lang="en-US" altLang="zh-CN" b="1" baseline="-25000">
                <a:latin typeface="Times New Roman" pitchFamily="18" charset="0"/>
              </a:rPr>
              <a:t>3</a:t>
            </a:r>
            <a:r>
              <a:rPr kumimoji="1" lang="en-US" altLang="zh-CN" b="1">
                <a:latin typeface="Times New Roman" pitchFamily="18" charset="0"/>
              </a:rPr>
              <a:t>, A</a:t>
            </a:r>
            <a:r>
              <a:rPr kumimoji="1" lang="en-US" altLang="zh-CN" b="1" baseline="-25000">
                <a:latin typeface="Times New Roman" pitchFamily="18" charset="0"/>
              </a:rPr>
              <a:t>4</a:t>
            </a:r>
            <a:r>
              <a:rPr kumimoji="1" lang="en-US" altLang="zh-CN" b="1">
                <a:latin typeface="Times New Roman" pitchFamily="18" charset="0"/>
              </a:rPr>
              <a:t>}</a:t>
            </a:r>
          </a:p>
          <a:p>
            <a:pPr algn="just">
              <a:lnSpc>
                <a:spcPct val="130000"/>
              </a:lnSpc>
            </a:pPr>
            <a:r>
              <a:rPr kumimoji="1" lang="en-US" altLang="zh-CN" b="1">
                <a:latin typeface="Times New Roman" pitchFamily="18" charset="0"/>
              </a:rPr>
              <a:t>V</a:t>
            </a:r>
            <a:r>
              <a:rPr kumimoji="1" lang="en-US" altLang="zh-CN" b="1" baseline="-25000">
                <a:latin typeface="Times New Roman" pitchFamily="18" charset="0"/>
              </a:rPr>
              <a:t>3</a:t>
            </a:r>
            <a:r>
              <a:rPr kumimoji="1" lang="en-US" altLang="zh-CN" b="1">
                <a:latin typeface="Times New Roman" pitchFamily="18" charset="0"/>
              </a:rPr>
              <a:t>={A</a:t>
            </a:r>
            <a:r>
              <a:rPr kumimoji="1" lang="en-US" altLang="zh-CN" b="1" baseline="-25000">
                <a:latin typeface="Times New Roman" pitchFamily="18" charset="0"/>
              </a:rPr>
              <a:t>3</a:t>
            </a:r>
            <a:r>
              <a:rPr kumimoji="1" lang="en-US" altLang="zh-CN" b="1">
                <a:latin typeface="Times New Roman" pitchFamily="18" charset="0"/>
              </a:rPr>
              <a:t>, A</a:t>
            </a:r>
            <a:r>
              <a:rPr kumimoji="1" lang="en-US" altLang="zh-CN" b="1" baseline="-25000">
                <a:latin typeface="Times New Roman" pitchFamily="18" charset="0"/>
              </a:rPr>
              <a:t>4</a:t>
            </a:r>
            <a:r>
              <a:rPr kumimoji="1" lang="en-US" altLang="zh-CN" b="1">
                <a:latin typeface="Times New Roman" pitchFamily="18" charset="0"/>
              </a:rPr>
              <a:t>}</a:t>
            </a:r>
          </a:p>
        </p:txBody>
      </p:sp>
      <p:grpSp>
        <p:nvGrpSpPr>
          <p:cNvPr id="88068" name="Group 3"/>
          <p:cNvGrpSpPr>
            <a:grpSpLocks/>
          </p:cNvGrpSpPr>
          <p:nvPr/>
        </p:nvGrpSpPr>
        <p:grpSpPr bwMode="auto">
          <a:xfrm>
            <a:off x="2746375" y="1009650"/>
            <a:ext cx="2667000" cy="1981200"/>
            <a:chOff x="3240" y="3754"/>
            <a:chExt cx="2161" cy="1742"/>
          </a:xfrm>
        </p:grpSpPr>
        <p:sp>
          <p:nvSpPr>
            <p:cNvPr id="88086" name="Line 4"/>
            <p:cNvSpPr>
              <a:spLocks noChangeShapeType="1"/>
            </p:cNvSpPr>
            <p:nvPr/>
          </p:nvSpPr>
          <p:spPr bwMode="auto">
            <a:xfrm flipH="1">
              <a:off x="3240" y="4248"/>
              <a:ext cx="90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88087" name="Group 5"/>
            <p:cNvGrpSpPr>
              <a:grpSpLocks/>
            </p:cNvGrpSpPr>
            <p:nvPr/>
          </p:nvGrpSpPr>
          <p:grpSpPr bwMode="auto">
            <a:xfrm>
              <a:off x="3240" y="4248"/>
              <a:ext cx="2161" cy="1248"/>
              <a:chOff x="3240" y="4248"/>
              <a:chExt cx="2161" cy="1248"/>
            </a:xfrm>
          </p:grpSpPr>
          <p:sp>
            <p:nvSpPr>
              <p:cNvPr id="88089" name="Line 6"/>
              <p:cNvSpPr>
                <a:spLocks noChangeShapeType="1"/>
              </p:cNvSpPr>
              <p:nvPr/>
            </p:nvSpPr>
            <p:spPr bwMode="auto">
              <a:xfrm>
                <a:off x="3240" y="4248"/>
                <a:ext cx="10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90" name="Line 7"/>
              <p:cNvSpPr>
                <a:spLocks noChangeShapeType="1"/>
              </p:cNvSpPr>
              <p:nvPr/>
            </p:nvSpPr>
            <p:spPr bwMode="auto">
              <a:xfrm>
                <a:off x="4320" y="4248"/>
                <a:ext cx="10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91" name="Freeform 8"/>
              <p:cNvSpPr>
                <a:spLocks/>
              </p:cNvSpPr>
              <p:nvPr/>
            </p:nvSpPr>
            <p:spPr bwMode="auto">
              <a:xfrm>
                <a:off x="5400" y="4248"/>
                <a:ext cx="1" cy="597"/>
              </a:xfrm>
              <a:custGeom>
                <a:avLst/>
                <a:gdLst>
                  <a:gd name="T0" fmla="*/ 0 w 1"/>
                  <a:gd name="T1" fmla="*/ 0 h 597"/>
                  <a:gd name="T2" fmla="*/ 0 w 1"/>
                  <a:gd name="T3" fmla="*/ 597 h 597"/>
                  <a:gd name="T4" fmla="*/ 0 60000 65536"/>
                  <a:gd name="T5" fmla="*/ 0 60000 65536"/>
                </a:gdLst>
                <a:ahLst/>
                <a:cxnLst>
                  <a:cxn ang="T4">
                    <a:pos x="T0" y="T1"/>
                  </a:cxn>
                  <a:cxn ang="T5">
                    <a:pos x="T2" y="T3"/>
                  </a:cxn>
                </a:cxnLst>
                <a:rect l="0" t="0" r="r" b="b"/>
                <a:pathLst>
                  <a:path w="1" h="597">
                    <a:moveTo>
                      <a:pt x="0" y="0"/>
                    </a:moveTo>
                    <a:lnTo>
                      <a:pt x="0" y="597"/>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92" name="Freeform 9"/>
              <p:cNvSpPr>
                <a:spLocks/>
              </p:cNvSpPr>
              <p:nvPr/>
            </p:nvSpPr>
            <p:spPr bwMode="auto">
              <a:xfrm>
                <a:off x="3241" y="4248"/>
                <a:ext cx="1" cy="627"/>
              </a:xfrm>
              <a:custGeom>
                <a:avLst/>
                <a:gdLst>
                  <a:gd name="T0" fmla="*/ 1 w 14"/>
                  <a:gd name="T1" fmla="*/ 627 h 627"/>
                  <a:gd name="T2" fmla="*/ 0 w 14"/>
                  <a:gd name="T3" fmla="*/ 0 h 627"/>
                  <a:gd name="T4" fmla="*/ 0 60000 65536"/>
                  <a:gd name="T5" fmla="*/ 0 60000 65536"/>
                </a:gdLst>
                <a:ahLst/>
                <a:cxnLst>
                  <a:cxn ang="T4">
                    <a:pos x="T0" y="T1"/>
                  </a:cxn>
                  <a:cxn ang="T5">
                    <a:pos x="T2" y="T3"/>
                  </a:cxn>
                </a:cxnLst>
                <a:rect l="0" t="0" r="r" b="b"/>
                <a:pathLst>
                  <a:path w="14" h="627">
                    <a:moveTo>
                      <a:pt x="14" y="627"/>
                    </a:moveTo>
                    <a:lnTo>
                      <a:pt x="0" y="0"/>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8093" name="Line 10"/>
              <p:cNvSpPr>
                <a:spLocks noChangeShapeType="1"/>
              </p:cNvSpPr>
              <p:nvPr/>
            </p:nvSpPr>
            <p:spPr bwMode="auto">
              <a:xfrm>
                <a:off x="3240" y="4872"/>
                <a:ext cx="2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94" name="Line 11"/>
              <p:cNvSpPr>
                <a:spLocks noChangeShapeType="1"/>
              </p:cNvSpPr>
              <p:nvPr/>
            </p:nvSpPr>
            <p:spPr bwMode="auto">
              <a:xfrm>
                <a:off x="4140" y="4248"/>
                <a:ext cx="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95" name="Line 12"/>
              <p:cNvSpPr>
                <a:spLocks noChangeShapeType="1"/>
              </p:cNvSpPr>
              <p:nvPr/>
            </p:nvSpPr>
            <p:spPr bwMode="auto">
              <a:xfrm flipH="1">
                <a:off x="4140" y="4248"/>
                <a:ext cx="126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96" name="Line 13"/>
              <p:cNvSpPr>
                <a:spLocks noChangeShapeType="1"/>
              </p:cNvSpPr>
              <p:nvPr/>
            </p:nvSpPr>
            <p:spPr bwMode="auto">
              <a:xfrm>
                <a:off x="3240" y="4872"/>
                <a:ext cx="36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97" name="Line 14"/>
              <p:cNvSpPr>
                <a:spLocks noChangeShapeType="1"/>
              </p:cNvSpPr>
              <p:nvPr/>
            </p:nvSpPr>
            <p:spPr bwMode="auto">
              <a:xfrm>
                <a:off x="3600" y="5496"/>
                <a:ext cx="10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98" name="Line 15"/>
              <p:cNvSpPr>
                <a:spLocks noChangeShapeType="1"/>
              </p:cNvSpPr>
              <p:nvPr/>
            </p:nvSpPr>
            <p:spPr bwMode="auto">
              <a:xfrm flipV="1">
                <a:off x="4680" y="4872"/>
                <a:ext cx="72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099" name="Line 16"/>
              <p:cNvSpPr>
                <a:spLocks noChangeShapeType="1"/>
              </p:cNvSpPr>
              <p:nvPr/>
            </p:nvSpPr>
            <p:spPr bwMode="auto">
              <a:xfrm flipH="1">
                <a:off x="3600" y="4872"/>
                <a:ext cx="54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00" name="Line 17"/>
              <p:cNvSpPr>
                <a:spLocks noChangeShapeType="1"/>
              </p:cNvSpPr>
              <p:nvPr/>
            </p:nvSpPr>
            <p:spPr bwMode="auto">
              <a:xfrm>
                <a:off x="3240" y="4248"/>
                <a:ext cx="360" cy="12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101" name="Line 18"/>
              <p:cNvSpPr>
                <a:spLocks noChangeShapeType="1"/>
              </p:cNvSpPr>
              <p:nvPr/>
            </p:nvSpPr>
            <p:spPr bwMode="auto">
              <a:xfrm flipV="1">
                <a:off x="3600" y="4248"/>
                <a:ext cx="1800" cy="12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8088" name="Freeform 19"/>
            <p:cNvSpPr>
              <a:spLocks/>
            </p:cNvSpPr>
            <p:nvPr/>
          </p:nvSpPr>
          <p:spPr bwMode="auto">
            <a:xfrm>
              <a:off x="3240" y="3754"/>
              <a:ext cx="2160" cy="494"/>
            </a:xfrm>
            <a:custGeom>
              <a:avLst/>
              <a:gdLst>
                <a:gd name="T0" fmla="*/ 0 w 2160"/>
                <a:gd name="T1" fmla="*/ 494 h 494"/>
                <a:gd name="T2" fmla="*/ 180 w 2160"/>
                <a:gd name="T3" fmla="*/ 182 h 494"/>
                <a:gd name="T4" fmla="*/ 720 w 2160"/>
                <a:gd name="T5" fmla="*/ 26 h 494"/>
                <a:gd name="T6" fmla="*/ 1260 w 2160"/>
                <a:gd name="T7" fmla="*/ 26 h 494"/>
                <a:gd name="T8" fmla="*/ 1800 w 2160"/>
                <a:gd name="T9" fmla="*/ 182 h 494"/>
                <a:gd name="T10" fmla="*/ 2160 w 2160"/>
                <a:gd name="T11" fmla="*/ 494 h 494"/>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160" h="494">
                  <a:moveTo>
                    <a:pt x="0" y="494"/>
                  </a:moveTo>
                  <a:cubicBezTo>
                    <a:pt x="30" y="377"/>
                    <a:pt x="60" y="260"/>
                    <a:pt x="180" y="182"/>
                  </a:cubicBezTo>
                  <a:cubicBezTo>
                    <a:pt x="300" y="104"/>
                    <a:pt x="540" y="52"/>
                    <a:pt x="720" y="26"/>
                  </a:cubicBezTo>
                  <a:cubicBezTo>
                    <a:pt x="900" y="0"/>
                    <a:pt x="1080" y="0"/>
                    <a:pt x="1260" y="26"/>
                  </a:cubicBezTo>
                  <a:cubicBezTo>
                    <a:pt x="1440" y="52"/>
                    <a:pt x="1650" y="104"/>
                    <a:pt x="1800" y="182"/>
                  </a:cubicBezTo>
                  <a:cubicBezTo>
                    <a:pt x="1950" y="260"/>
                    <a:pt x="2100" y="442"/>
                    <a:pt x="2160" y="494"/>
                  </a:cubicBez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88069" name="Text Box 20"/>
          <p:cNvSpPr txBox="1">
            <a:spLocks noChangeArrowheads="1"/>
          </p:cNvSpPr>
          <p:nvPr/>
        </p:nvSpPr>
        <p:spPr bwMode="auto">
          <a:xfrm>
            <a:off x="2289175" y="139065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a:latin typeface="Times New Roman" pitchFamily="18" charset="0"/>
              </a:rPr>
              <a:t>A</a:t>
            </a:r>
            <a:r>
              <a:rPr kumimoji="1" lang="en-US" altLang="zh-CN" sz="2000" baseline="-25000">
                <a:latin typeface="Times New Roman" pitchFamily="18" charset="0"/>
              </a:rPr>
              <a:t>1</a:t>
            </a:r>
          </a:p>
        </p:txBody>
      </p:sp>
      <p:sp>
        <p:nvSpPr>
          <p:cNvPr id="88070" name="Text Box 21"/>
          <p:cNvSpPr txBox="1">
            <a:spLocks noChangeArrowheads="1"/>
          </p:cNvSpPr>
          <p:nvPr/>
        </p:nvSpPr>
        <p:spPr bwMode="auto">
          <a:xfrm>
            <a:off x="3584575" y="123825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a:latin typeface="Times New Roman" pitchFamily="18" charset="0"/>
              </a:rPr>
              <a:t>A</a:t>
            </a:r>
            <a:r>
              <a:rPr kumimoji="1" lang="en-US" altLang="zh-CN" sz="2000" baseline="-25000">
                <a:latin typeface="Times New Roman" pitchFamily="18" charset="0"/>
              </a:rPr>
              <a:t>2</a:t>
            </a:r>
          </a:p>
        </p:txBody>
      </p:sp>
      <p:sp>
        <p:nvSpPr>
          <p:cNvPr id="88071" name="Text Box 22"/>
          <p:cNvSpPr txBox="1">
            <a:spLocks noChangeArrowheads="1"/>
          </p:cNvSpPr>
          <p:nvPr/>
        </p:nvSpPr>
        <p:spPr bwMode="auto">
          <a:xfrm>
            <a:off x="5362575" y="133985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a:latin typeface="Times New Roman" pitchFamily="18" charset="0"/>
              </a:rPr>
              <a:t>A</a:t>
            </a:r>
            <a:r>
              <a:rPr kumimoji="1" lang="en-US" altLang="zh-CN" sz="2000" baseline="-25000">
                <a:latin typeface="Times New Roman" pitchFamily="18" charset="0"/>
              </a:rPr>
              <a:t>3</a:t>
            </a:r>
          </a:p>
        </p:txBody>
      </p:sp>
      <p:sp>
        <p:nvSpPr>
          <p:cNvPr id="88072" name="Text Box 23"/>
          <p:cNvSpPr txBox="1">
            <a:spLocks noChangeArrowheads="1"/>
          </p:cNvSpPr>
          <p:nvPr/>
        </p:nvSpPr>
        <p:spPr bwMode="auto">
          <a:xfrm>
            <a:off x="2365375" y="215265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a:latin typeface="Times New Roman" pitchFamily="18" charset="0"/>
              </a:rPr>
              <a:t>A</a:t>
            </a:r>
            <a:r>
              <a:rPr kumimoji="1" lang="en-US" altLang="zh-CN" sz="2000" baseline="-25000">
                <a:latin typeface="Times New Roman" pitchFamily="18" charset="0"/>
              </a:rPr>
              <a:t>4</a:t>
            </a:r>
          </a:p>
        </p:txBody>
      </p:sp>
      <p:sp>
        <p:nvSpPr>
          <p:cNvPr id="88073" name="Text Box 24"/>
          <p:cNvSpPr txBox="1">
            <a:spLocks noChangeArrowheads="1"/>
          </p:cNvSpPr>
          <p:nvPr/>
        </p:nvSpPr>
        <p:spPr bwMode="auto">
          <a:xfrm>
            <a:off x="3584575" y="196215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a:latin typeface="Times New Roman" pitchFamily="18" charset="0"/>
              </a:rPr>
              <a:t>A</a:t>
            </a:r>
            <a:r>
              <a:rPr kumimoji="1" lang="en-US" altLang="zh-CN" sz="2000" baseline="-25000">
                <a:latin typeface="Times New Roman" pitchFamily="18" charset="0"/>
              </a:rPr>
              <a:t>5</a:t>
            </a:r>
          </a:p>
        </p:txBody>
      </p:sp>
      <p:sp>
        <p:nvSpPr>
          <p:cNvPr id="88074" name="Text Box 25"/>
          <p:cNvSpPr txBox="1">
            <a:spLocks noChangeArrowheads="1"/>
          </p:cNvSpPr>
          <p:nvPr/>
        </p:nvSpPr>
        <p:spPr bwMode="auto">
          <a:xfrm>
            <a:off x="5337175" y="207645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a:latin typeface="Times New Roman" pitchFamily="18" charset="0"/>
              </a:rPr>
              <a:t>A</a:t>
            </a:r>
            <a:r>
              <a:rPr kumimoji="1" lang="en-US" altLang="zh-CN" sz="2000" baseline="-25000">
                <a:latin typeface="Times New Roman" pitchFamily="18" charset="0"/>
              </a:rPr>
              <a:t>6</a:t>
            </a:r>
          </a:p>
        </p:txBody>
      </p:sp>
      <p:sp>
        <p:nvSpPr>
          <p:cNvPr id="88075" name="Text Box 26"/>
          <p:cNvSpPr txBox="1">
            <a:spLocks noChangeArrowheads="1"/>
          </p:cNvSpPr>
          <p:nvPr/>
        </p:nvSpPr>
        <p:spPr bwMode="auto">
          <a:xfrm>
            <a:off x="4422775" y="283845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a:latin typeface="Times New Roman" pitchFamily="18" charset="0"/>
              </a:rPr>
              <a:t>A</a:t>
            </a:r>
            <a:r>
              <a:rPr kumimoji="1" lang="en-US" altLang="zh-CN" sz="2000" baseline="-25000">
                <a:latin typeface="Times New Roman" pitchFamily="18" charset="0"/>
              </a:rPr>
              <a:t>8</a:t>
            </a:r>
          </a:p>
        </p:txBody>
      </p:sp>
      <p:sp>
        <p:nvSpPr>
          <p:cNvPr id="88076" name="Text Box 27"/>
          <p:cNvSpPr txBox="1">
            <a:spLocks noChangeArrowheads="1"/>
          </p:cNvSpPr>
          <p:nvPr/>
        </p:nvSpPr>
        <p:spPr bwMode="auto">
          <a:xfrm>
            <a:off x="2898775" y="2914650"/>
            <a:ext cx="5334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a:latin typeface="Times New Roman" pitchFamily="18" charset="0"/>
              </a:rPr>
              <a:t>A</a:t>
            </a:r>
            <a:r>
              <a:rPr kumimoji="1" lang="en-US" altLang="zh-CN" sz="2000" baseline="-25000">
                <a:latin typeface="Times New Roman" pitchFamily="18" charset="0"/>
              </a:rPr>
              <a:t>7</a:t>
            </a:r>
          </a:p>
        </p:txBody>
      </p:sp>
      <p:sp>
        <p:nvSpPr>
          <p:cNvPr id="67613" name="Rectangle 29"/>
          <p:cNvSpPr>
            <a:spLocks noChangeArrowheads="1"/>
          </p:cNvSpPr>
          <p:nvPr/>
        </p:nvSpPr>
        <p:spPr bwMode="auto">
          <a:xfrm>
            <a:off x="466725" y="4979988"/>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hlink"/>
              </a:buClr>
              <a:buFont typeface="Wingdings" pitchFamily="2" charset="2"/>
              <a:buChar char="Ø"/>
            </a:pPr>
            <a:r>
              <a:rPr kumimoji="1" lang="zh-CN" altLang="en-US" b="1">
                <a:solidFill>
                  <a:schemeClr val="hlink"/>
                </a:solidFill>
                <a:latin typeface="Times New Roman" pitchFamily="18" charset="0"/>
              </a:rPr>
              <a:t>平面图的面着色，则先构画出对偶图，然后对对偶图的结点进行着色。</a:t>
            </a:r>
          </a:p>
        </p:txBody>
      </p:sp>
      <p:sp>
        <p:nvSpPr>
          <p:cNvPr id="67614" name="Oval 30"/>
          <p:cNvSpPr>
            <a:spLocks noChangeArrowheads="1"/>
          </p:cNvSpPr>
          <p:nvPr/>
        </p:nvSpPr>
        <p:spPr bwMode="auto">
          <a:xfrm>
            <a:off x="3113088" y="2901950"/>
            <a:ext cx="142875" cy="144463"/>
          </a:xfrm>
          <a:prstGeom prst="ellipse">
            <a:avLst/>
          </a:prstGeom>
          <a:solidFill>
            <a:srgbClr val="FF00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5" name="Oval 31"/>
          <p:cNvSpPr>
            <a:spLocks noChangeArrowheads="1"/>
          </p:cNvSpPr>
          <p:nvPr/>
        </p:nvSpPr>
        <p:spPr bwMode="auto">
          <a:xfrm>
            <a:off x="3760788" y="2252663"/>
            <a:ext cx="142875" cy="144462"/>
          </a:xfrm>
          <a:prstGeom prst="ellipse">
            <a:avLst/>
          </a:prstGeom>
          <a:solidFill>
            <a:srgbClr val="0000FF"/>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6" name="Oval 32"/>
          <p:cNvSpPr>
            <a:spLocks noChangeArrowheads="1"/>
          </p:cNvSpPr>
          <p:nvPr/>
        </p:nvSpPr>
        <p:spPr bwMode="auto">
          <a:xfrm>
            <a:off x="5346700" y="1533525"/>
            <a:ext cx="142875" cy="144463"/>
          </a:xfrm>
          <a:prstGeom prst="ellipse">
            <a:avLst/>
          </a:prstGeom>
          <a:solidFill>
            <a:srgbClr val="0080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7" name="Oval 33"/>
          <p:cNvSpPr>
            <a:spLocks noChangeArrowheads="1"/>
          </p:cNvSpPr>
          <p:nvPr/>
        </p:nvSpPr>
        <p:spPr bwMode="auto">
          <a:xfrm>
            <a:off x="5346700" y="2181225"/>
            <a:ext cx="142875" cy="144463"/>
          </a:xfrm>
          <a:prstGeom prst="ellipse">
            <a:avLst/>
          </a:prstGeom>
          <a:solidFill>
            <a:srgbClr val="FF00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8" name="Oval 34"/>
          <p:cNvSpPr>
            <a:spLocks noChangeArrowheads="1"/>
          </p:cNvSpPr>
          <p:nvPr/>
        </p:nvSpPr>
        <p:spPr bwMode="auto">
          <a:xfrm>
            <a:off x="3760788" y="1533525"/>
            <a:ext cx="142875" cy="144463"/>
          </a:xfrm>
          <a:prstGeom prst="ellipse">
            <a:avLst/>
          </a:prstGeom>
          <a:solidFill>
            <a:srgbClr val="FF00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19" name="Oval 35"/>
          <p:cNvSpPr>
            <a:spLocks noChangeArrowheads="1"/>
          </p:cNvSpPr>
          <p:nvPr/>
        </p:nvSpPr>
        <p:spPr bwMode="auto">
          <a:xfrm>
            <a:off x="2682875" y="1533525"/>
            <a:ext cx="142875" cy="144463"/>
          </a:xfrm>
          <a:prstGeom prst="ellipse">
            <a:avLst/>
          </a:prstGeom>
          <a:solidFill>
            <a:srgbClr val="0000FF"/>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0" name="Oval 36"/>
          <p:cNvSpPr>
            <a:spLocks noChangeArrowheads="1"/>
          </p:cNvSpPr>
          <p:nvPr/>
        </p:nvSpPr>
        <p:spPr bwMode="auto">
          <a:xfrm>
            <a:off x="4410075" y="2900363"/>
            <a:ext cx="142875" cy="144462"/>
          </a:xfrm>
          <a:prstGeom prst="ellipse">
            <a:avLst/>
          </a:prstGeom>
          <a:solidFill>
            <a:srgbClr val="0000FF"/>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7621" name="Oval 37"/>
          <p:cNvSpPr>
            <a:spLocks noChangeArrowheads="1"/>
          </p:cNvSpPr>
          <p:nvPr/>
        </p:nvSpPr>
        <p:spPr bwMode="auto">
          <a:xfrm>
            <a:off x="2681288" y="2181225"/>
            <a:ext cx="142875" cy="144463"/>
          </a:xfrm>
          <a:prstGeom prst="ellipse">
            <a:avLst/>
          </a:prstGeom>
          <a:solidFill>
            <a:srgbClr val="008000"/>
          </a:solidFill>
          <a:ln>
            <a:noFill/>
          </a:ln>
          <a:effectLst/>
          <a:extLst>
            <a:ext uri="{91240B29-F687-4F45-9708-019B960494DF}">
              <a14:hiddenLine xmlns:a14="http://schemas.microsoft.com/office/drawing/2010/main" w="9525" algn="ctr">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2993724145"/>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7586">
                                            <p:txEl>
                                              <p:pRg st="0" end="0"/>
                                            </p:txEl>
                                          </p:spTgt>
                                        </p:tgtEl>
                                        <p:attrNameLst>
                                          <p:attrName>style.visibility</p:attrName>
                                        </p:attrNameLst>
                                      </p:cBhvr>
                                      <p:to>
                                        <p:strVal val="visible"/>
                                      </p:to>
                                    </p:set>
                                    <p:anim calcmode="lin" valueType="num">
                                      <p:cBhvr additive="base">
                                        <p:cTn id="7" dur="500" fill="hold"/>
                                        <p:tgtEl>
                                          <p:spTgt spid="6758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758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7614"/>
                                        </p:tgtEl>
                                        <p:attrNameLst>
                                          <p:attrName>style.visibility</p:attrName>
                                        </p:attrNameLst>
                                      </p:cBhvr>
                                      <p:to>
                                        <p:strVal val="visible"/>
                                      </p:to>
                                    </p:set>
                                    <p:anim calcmode="lin" valueType="num">
                                      <p:cBhvr additive="base">
                                        <p:cTn id="13" dur="500" fill="hold"/>
                                        <p:tgtEl>
                                          <p:spTgt spid="67614"/>
                                        </p:tgtEl>
                                        <p:attrNameLst>
                                          <p:attrName>ppt_x</p:attrName>
                                        </p:attrNameLst>
                                      </p:cBhvr>
                                      <p:tavLst>
                                        <p:tav tm="0">
                                          <p:val>
                                            <p:strVal val="#ppt_x"/>
                                          </p:val>
                                        </p:tav>
                                        <p:tav tm="100000">
                                          <p:val>
                                            <p:strVal val="#ppt_x"/>
                                          </p:val>
                                        </p:tav>
                                      </p:tavLst>
                                    </p:anim>
                                    <p:anim calcmode="lin" valueType="num">
                                      <p:cBhvr additive="base">
                                        <p:cTn id="14" dur="500" fill="hold"/>
                                        <p:tgtEl>
                                          <p:spTgt spid="6761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7618"/>
                                        </p:tgtEl>
                                        <p:attrNameLst>
                                          <p:attrName>style.visibility</p:attrName>
                                        </p:attrNameLst>
                                      </p:cBhvr>
                                      <p:to>
                                        <p:strVal val="visible"/>
                                      </p:to>
                                    </p:set>
                                    <p:anim calcmode="lin" valueType="num">
                                      <p:cBhvr additive="base">
                                        <p:cTn id="19" dur="500" fill="hold"/>
                                        <p:tgtEl>
                                          <p:spTgt spid="67618"/>
                                        </p:tgtEl>
                                        <p:attrNameLst>
                                          <p:attrName>ppt_x</p:attrName>
                                        </p:attrNameLst>
                                      </p:cBhvr>
                                      <p:tavLst>
                                        <p:tav tm="0">
                                          <p:val>
                                            <p:strVal val="#ppt_x"/>
                                          </p:val>
                                        </p:tav>
                                        <p:tav tm="100000">
                                          <p:val>
                                            <p:strVal val="#ppt_x"/>
                                          </p:val>
                                        </p:tav>
                                      </p:tavLst>
                                    </p:anim>
                                    <p:anim calcmode="lin" valueType="num">
                                      <p:cBhvr additive="base">
                                        <p:cTn id="20" dur="500" fill="hold"/>
                                        <p:tgtEl>
                                          <p:spTgt spid="67618"/>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67617"/>
                                        </p:tgtEl>
                                        <p:attrNameLst>
                                          <p:attrName>style.visibility</p:attrName>
                                        </p:attrNameLst>
                                      </p:cBhvr>
                                      <p:to>
                                        <p:strVal val="visible"/>
                                      </p:to>
                                    </p:set>
                                    <p:anim calcmode="lin" valueType="num">
                                      <p:cBhvr additive="base">
                                        <p:cTn id="23" dur="500" fill="hold"/>
                                        <p:tgtEl>
                                          <p:spTgt spid="67617"/>
                                        </p:tgtEl>
                                        <p:attrNameLst>
                                          <p:attrName>ppt_x</p:attrName>
                                        </p:attrNameLst>
                                      </p:cBhvr>
                                      <p:tavLst>
                                        <p:tav tm="0">
                                          <p:val>
                                            <p:strVal val="#ppt_x"/>
                                          </p:val>
                                        </p:tav>
                                        <p:tav tm="100000">
                                          <p:val>
                                            <p:strVal val="#ppt_x"/>
                                          </p:val>
                                        </p:tav>
                                      </p:tavLst>
                                    </p:anim>
                                    <p:anim calcmode="lin" valueType="num">
                                      <p:cBhvr additive="base">
                                        <p:cTn id="24" dur="500" fill="hold"/>
                                        <p:tgtEl>
                                          <p:spTgt spid="67617"/>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67586">
                                            <p:txEl>
                                              <p:pRg st="1" end="1"/>
                                            </p:txEl>
                                          </p:spTgt>
                                        </p:tgtEl>
                                        <p:attrNameLst>
                                          <p:attrName>style.visibility</p:attrName>
                                        </p:attrNameLst>
                                      </p:cBhvr>
                                      <p:to>
                                        <p:strVal val="visible"/>
                                      </p:to>
                                    </p:set>
                                    <p:anim calcmode="lin" valueType="num">
                                      <p:cBhvr additive="base">
                                        <p:cTn id="29" dur="500" fill="hold"/>
                                        <p:tgtEl>
                                          <p:spTgt spid="67586">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758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67615"/>
                                        </p:tgtEl>
                                        <p:attrNameLst>
                                          <p:attrName>style.visibility</p:attrName>
                                        </p:attrNameLst>
                                      </p:cBhvr>
                                      <p:to>
                                        <p:strVal val="visible"/>
                                      </p:to>
                                    </p:set>
                                    <p:anim calcmode="lin" valueType="num">
                                      <p:cBhvr additive="base">
                                        <p:cTn id="35" dur="500" fill="hold"/>
                                        <p:tgtEl>
                                          <p:spTgt spid="67615"/>
                                        </p:tgtEl>
                                        <p:attrNameLst>
                                          <p:attrName>ppt_x</p:attrName>
                                        </p:attrNameLst>
                                      </p:cBhvr>
                                      <p:tavLst>
                                        <p:tav tm="0">
                                          <p:val>
                                            <p:strVal val="#ppt_x"/>
                                          </p:val>
                                        </p:tav>
                                        <p:tav tm="100000">
                                          <p:val>
                                            <p:strVal val="#ppt_x"/>
                                          </p:val>
                                        </p:tav>
                                      </p:tavLst>
                                    </p:anim>
                                    <p:anim calcmode="lin" valueType="num">
                                      <p:cBhvr additive="base">
                                        <p:cTn id="36" dur="500" fill="hold"/>
                                        <p:tgtEl>
                                          <p:spTgt spid="67615"/>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67619"/>
                                        </p:tgtEl>
                                        <p:attrNameLst>
                                          <p:attrName>style.visibility</p:attrName>
                                        </p:attrNameLst>
                                      </p:cBhvr>
                                      <p:to>
                                        <p:strVal val="visible"/>
                                      </p:to>
                                    </p:set>
                                    <p:anim calcmode="lin" valueType="num">
                                      <p:cBhvr additive="base">
                                        <p:cTn id="41" dur="500" fill="hold"/>
                                        <p:tgtEl>
                                          <p:spTgt spid="67619"/>
                                        </p:tgtEl>
                                        <p:attrNameLst>
                                          <p:attrName>ppt_x</p:attrName>
                                        </p:attrNameLst>
                                      </p:cBhvr>
                                      <p:tavLst>
                                        <p:tav tm="0">
                                          <p:val>
                                            <p:strVal val="#ppt_x"/>
                                          </p:val>
                                        </p:tav>
                                        <p:tav tm="100000">
                                          <p:val>
                                            <p:strVal val="#ppt_x"/>
                                          </p:val>
                                        </p:tav>
                                      </p:tavLst>
                                    </p:anim>
                                    <p:anim calcmode="lin" valueType="num">
                                      <p:cBhvr additive="base">
                                        <p:cTn id="42" dur="500" fill="hold"/>
                                        <p:tgtEl>
                                          <p:spTgt spid="67619"/>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67620"/>
                                        </p:tgtEl>
                                        <p:attrNameLst>
                                          <p:attrName>style.visibility</p:attrName>
                                        </p:attrNameLst>
                                      </p:cBhvr>
                                      <p:to>
                                        <p:strVal val="visible"/>
                                      </p:to>
                                    </p:set>
                                    <p:anim calcmode="lin" valueType="num">
                                      <p:cBhvr additive="base">
                                        <p:cTn id="45" dur="500" fill="hold"/>
                                        <p:tgtEl>
                                          <p:spTgt spid="67620"/>
                                        </p:tgtEl>
                                        <p:attrNameLst>
                                          <p:attrName>ppt_x</p:attrName>
                                        </p:attrNameLst>
                                      </p:cBhvr>
                                      <p:tavLst>
                                        <p:tav tm="0">
                                          <p:val>
                                            <p:strVal val="#ppt_x"/>
                                          </p:val>
                                        </p:tav>
                                        <p:tav tm="100000">
                                          <p:val>
                                            <p:strVal val="#ppt_x"/>
                                          </p:val>
                                        </p:tav>
                                      </p:tavLst>
                                    </p:anim>
                                    <p:anim calcmode="lin" valueType="num">
                                      <p:cBhvr additive="base">
                                        <p:cTn id="46" dur="500" fill="hold"/>
                                        <p:tgtEl>
                                          <p:spTgt spid="67620"/>
                                        </p:tgtEl>
                                        <p:attrNameLst>
                                          <p:attrName>ppt_y</p:attrName>
                                        </p:attrNameLst>
                                      </p:cBhvr>
                                      <p:tavLst>
                                        <p:tav tm="0">
                                          <p:val>
                                            <p:strVal val="1+#ppt_h/2"/>
                                          </p:val>
                                        </p:tav>
                                        <p:tav tm="100000">
                                          <p:val>
                                            <p:strVal val="#ppt_y"/>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 presetClass="entr" presetSubtype="4" fill="hold" nodeType="clickEffect">
                                  <p:stCondLst>
                                    <p:cond delay="0"/>
                                  </p:stCondLst>
                                  <p:childTnLst>
                                    <p:set>
                                      <p:cBhvr>
                                        <p:cTn id="50" dur="1" fill="hold">
                                          <p:stCondLst>
                                            <p:cond delay="0"/>
                                          </p:stCondLst>
                                        </p:cTn>
                                        <p:tgtEl>
                                          <p:spTgt spid="67586">
                                            <p:txEl>
                                              <p:pRg st="2" end="2"/>
                                            </p:txEl>
                                          </p:spTgt>
                                        </p:tgtEl>
                                        <p:attrNameLst>
                                          <p:attrName>style.visibility</p:attrName>
                                        </p:attrNameLst>
                                      </p:cBhvr>
                                      <p:to>
                                        <p:strVal val="visible"/>
                                      </p:to>
                                    </p:set>
                                    <p:anim calcmode="lin" valueType="num">
                                      <p:cBhvr additive="base">
                                        <p:cTn id="51" dur="500" fill="hold"/>
                                        <p:tgtEl>
                                          <p:spTgt spid="67586">
                                            <p:txEl>
                                              <p:pRg st="2" end="2"/>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6758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67616"/>
                                        </p:tgtEl>
                                        <p:attrNameLst>
                                          <p:attrName>style.visibility</p:attrName>
                                        </p:attrNameLst>
                                      </p:cBhvr>
                                      <p:to>
                                        <p:strVal val="visible"/>
                                      </p:to>
                                    </p:set>
                                    <p:anim calcmode="lin" valueType="num">
                                      <p:cBhvr additive="base">
                                        <p:cTn id="57" dur="500" fill="hold"/>
                                        <p:tgtEl>
                                          <p:spTgt spid="67616"/>
                                        </p:tgtEl>
                                        <p:attrNameLst>
                                          <p:attrName>ppt_x</p:attrName>
                                        </p:attrNameLst>
                                      </p:cBhvr>
                                      <p:tavLst>
                                        <p:tav tm="0">
                                          <p:val>
                                            <p:strVal val="#ppt_x"/>
                                          </p:val>
                                        </p:tav>
                                        <p:tav tm="100000">
                                          <p:val>
                                            <p:strVal val="#ppt_x"/>
                                          </p:val>
                                        </p:tav>
                                      </p:tavLst>
                                    </p:anim>
                                    <p:anim calcmode="lin" valueType="num">
                                      <p:cBhvr additive="base">
                                        <p:cTn id="58" dur="500" fill="hold"/>
                                        <p:tgtEl>
                                          <p:spTgt spid="67616"/>
                                        </p:tgtEl>
                                        <p:attrNameLst>
                                          <p:attrName>ppt_y</p:attrName>
                                        </p:attrNameLst>
                                      </p:cBhvr>
                                      <p:tavLst>
                                        <p:tav tm="0">
                                          <p:val>
                                            <p:strVal val="1+#ppt_h/2"/>
                                          </p:val>
                                        </p:tav>
                                        <p:tav tm="100000">
                                          <p:val>
                                            <p:strVal val="#ppt_y"/>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67621"/>
                                        </p:tgtEl>
                                        <p:attrNameLst>
                                          <p:attrName>style.visibility</p:attrName>
                                        </p:attrNameLst>
                                      </p:cBhvr>
                                      <p:to>
                                        <p:strVal val="visible"/>
                                      </p:to>
                                    </p:set>
                                    <p:anim calcmode="lin" valueType="num">
                                      <p:cBhvr additive="base">
                                        <p:cTn id="63" dur="500" fill="hold"/>
                                        <p:tgtEl>
                                          <p:spTgt spid="67621"/>
                                        </p:tgtEl>
                                        <p:attrNameLst>
                                          <p:attrName>ppt_x</p:attrName>
                                        </p:attrNameLst>
                                      </p:cBhvr>
                                      <p:tavLst>
                                        <p:tav tm="0">
                                          <p:val>
                                            <p:strVal val="#ppt_x"/>
                                          </p:val>
                                        </p:tav>
                                        <p:tav tm="100000">
                                          <p:val>
                                            <p:strVal val="#ppt_x"/>
                                          </p:val>
                                        </p:tav>
                                      </p:tavLst>
                                    </p:anim>
                                    <p:anim calcmode="lin" valueType="num">
                                      <p:cBhvr additive="base">
                                        <p:cTn id="64" dur="500" fill="hold"/>
                                        <p:tgtEl>
                                          <p:spTgt spid="67621"/>
                                        </p:tgtEl>
                                        <p:attrNameLst>
                                          <p:attrName>ppt_y</p:attrName>
                                        </p:attrNameLst>
                                      </p:cBhvr>
                                      <p:tavLst>
                                        <p:tav tm="0">
                                          <p:val>
                                            <p:strVal val="1+#ppt_h/2"/>
                                          </p:val>
                                        </p:tav>
                                        <p:tav tm="100000">
                                          <p:val>
                                            <p:strVal val="#ppt_y"/>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 presetClass="entr" presetSubtype="4" fill="hold" nodeType="clickEffect">
                                  <p:stCondLst>
                                    <p:cond delay="0"/>
                                  </p:stCondLst>
                                  <p:childTnLst>
                                    <p:set>
                                      <p:cBhvr>
                                        <p:cTn id="68" dur="1" fill="hold">
                                          <p:stCondLst>
                                            <p:cond delay="0"/>
                                          </p:stCondLst>
                                        </p:cTn>
                                        <p:tgtEl>
                                          <p:spTgt spid="67586">
                                            <p:txEl>
                                              <p:pRg st="3" end="3"/>
                                            </p:txEl>
                                          </p:spTgt>
                                        </p:tgtEl>
                                        <p:attrNameLst>
                                          <p:attrName>style.visibility</p:attrName>
                                        </p:attrNameLst>
                                      </p:cBhvr>
                                      <p:to>
                                        <p:strVal val="visible"/>
                                      </p:to>
                                    </p:set>
                                    <p:anim calcmode="lin" valueType="num">
                                      <p:cBhvr additive="base">
                                        <p:cTn id="69" dur="500" fill="hold"/>
                                        <p:tgtEl>
                                          <p:spTgt spid="67586">
                                            <p:txEl>
                                              <p:pRg st="3" end="3"/>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6758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67613"/>
                                        </p:tgtEl>
                                        <p:attrNameLst>
                                          <p:attrName>style.visibility</p:attrName>
                                        </p:attrNameLst>
                                      </p:cBhvr>
                                      <p:to>
                                        <p:strVal val="visible"/>
                                      </p:to>
                                    </p:set>
                                    <p:anim calcmode="lin" valueType="num">
                                      <p:cBhvr additive="base">
                                        <p:cTn id="75" dur="500" fill="hold"/>
                                        <p:tgtEl>
                                          <p:spTgt spid="67613"/>
                                        </p:tgtEl>
                                        <p:attrNameLst>
                                          <p:attrName>ppt_x</p:attrName>
                                        </p:attrNameLst>
                                      </p:cBhvr>
                                      <p:tavLst>
                                        <p:tav tm="0">
                                          <p:val>
                                            <p:strVal val="#ppt_x"/>
                                          </p:val>
                                        </p:tav>
                                        <p:tav tm="100000">
                                          <p:val>
                                            <p:strVal val="#ppt_x"/>
                                          </p:val>
                                        </p:tav>
                                      </p:tavLst>
                                    </p:anim>
                                    <p:anim calcmode="lin" valueType="num">
                                      <p:cBhvr additive="base">
                                        <p:cTn id="76" dur="500" fill="hold"/>
                                        <p:tgtEl>
                                          <p:spTgt spid="676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13" grpId="0"/>
      <p:bldP spid="67614" grpId="0" animBg="1"/>
      <p:bldP spid="67615" grpId="0" animBg="1"/>
      <p:bldP spid="67616" grpId="0" animBg="1"/>
      <p:bldP spid="67617" grpId="0" animBg="1"/>
      <p:bldP spid="67618" grpId="0" animBg="1"/>
      <p:bldP spid="67619" grpId="0" animBg="1"/>
      <p:bldP spid="67620" grpId="0" animBg="1"/>
      <p:bldP spid="67621"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1"/>
          </p:nvPr>
        </p:nvSpPr>
        <p:spPr/>
        <p:txBody>
          <a:bodyPr/>
          <a:lstStyle/>
          <a:p>
            <a:pPr>
              <a:defRPr/>
            </a:pPr>
            <a:fld id="{37B898B8-3E9C-4694-8A86-33A2ECAC5897}" type="slidenum">
              <a:rPr lang="en-US" altLang="zh-CN"/>
              <a:pPr>
                <a:defRPr/>
              </a:pPr>
              <a:t>88</a:t>
            </a:fld>
            <a:endParaRPr lang="en-US" altLang="zh-CN"/>
          </a:p>
        </p:txBody>
      </p:sp>
      <p:sp>
        <p:nvSpPr>
          <p:cNvPr id="89091" name="Text Box 3"/>
          <p:cNvSpPr txBox="1">
            <a:spLocks noChangeArrowheads="1"/>
          </p:cNvSpPr>
          <p:nvPr/>
        </p:nvSpPr>
        <p:spPr bwMode="auto">
          <a:xfrm>
            <a:off x="466725" y="1133475"/>
            <a:ext cx="8277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dirty="0">
                <a:solidFill>
                  <a:srgbClr val="0000CC"/>
                </a:solidFill>
                <a:latin typeface="Times New Roman" pitchFamily="18" charset="0"/>
              </a:rPr>
              <a:t>定理</a:t>
            </a:r>
            <a:r>
              <a:rPr kumimoji="1" lang="en-US" altLang="zh-CN" b="1" dirty="0">
                <a:solidFill>
                  <a:srgbClr val="0000CC"/>
                </a:solidFill>
                <a:latin typeface="Times New Roman" pitchFamily="18" charset="0"/>
              </a:rPr>
              <a:t>7-6.1</a:t>
            </a:r>
            <a:r>
              <a:rPr kumimoji="1" lang="zh-CN" altLang="en-US" b="1" dirty="0">
                <a:solidFill>
                  <a:srgbClr val="0000CC"/>
                </a:solidFill>
                <a:latin typeface="Times New Roman" pitchFamily="18" charset="0"/>
              </a:rPr>
              <a:t>：</a:t>
            </a:r>
            <a:r>
              <a:rPr kumimoji="1" lang="zh-CN" altLang="en-US" b="1" dirty="0">
                <a:latin typeface="Times New Roman" pitchFamily="18" charset="0"/>
              </a:rPr>
              <a:t>对于</a:t>
            </a:r>
            <a:r>
              <a:rPr kumimoji="1" lang="en-US" altLang="zh-CN" b="1" dirty="0">
                <a:latin typeface="Times New Roman" pitchFamily="18" charset="0"/>
              </a:rPr>
              <a:t>n</a:t>
            </a:r>
            <a:r>
              <a:rPr kumimoji="1" lang="zh-CN" altLang="en-US" b="1" dirty="0">
                <a:latin typeface="Times New Roman" pitchFamily="18" charset="0"/>
              </a:rPr>
              <a:t>个结点的完全图</a:t>
            </a:r>
            <a:r>
              <a:rPr kumimoji="1" lang="en-US" altLang="zh-CN" b="1" dirty="0" err="1">
                <a:latin typeface="Times New Roman" pitchFamily="18" charset="0"/>
              </a:rPr>
              <a:t>K</a:t>
            </a:r>
            <a:r>
              <a:rPr kumimoji="1" lang="en-US" altLang="zh-CN" b="1" baseline="-25000" dirty="0" err="1">
                <a:latin typeface="Times New Roman" pitchFamily="18" charset="0"/>
              </a:rPr>
              <a:t>n</a:t>
            </a:r>
            <a:r>
              <a:rPr kumimoji="1" lang="zh-CN" altLang="en-US" b="1" dirty="0">
                <a:latin typeface="Times New Roman" pitchFamily="18" charset="0"/>
              </a:rPr>
              <a:t>，</a:t>
            </a:r>
            <a:r>
              <a:rPr kumimoji="1" lang="zh-CN" altLang="en-US" b="1" dirty="0" smtClean="0">
                <a:latin typeface="Times New Roman" pitchFamily="18" charset="0"/>
              </a:rPr>
              <a:t>有</a:t>
            </a:r>
            <a:r>
              <a:rPr kumimoji="1" lang="el-GR" altLang="zh-CN" b="1" dirty="0" smtClean="0">
                <a:latin typeface="Times New Roman" pitchFamily="18" charset="0"/>
                <a:cs typeface="Times New Roman" pitchFamily="18" charset="0"/>
              </a:rPr>
              <a:t>χ</a:t>
            </a:r>
            <a:r>
              <a:rPr kumimoji="1" lang="en-US" altLang="zh-CN" b="1" dirty="0" smtClean="0">
                <a:latin typeface="Times New Roman" pitchFamily="18" charset="0"/>
              </a:rPr>
              <a:t>(</a:t>
            </a:r>
            <a:r>
              <a:rPr kumimoji="1" lang="en-US" altLang="zh-CN" b="1" dirty="0" err="1" smtClean="0">
                <a:latin typeface="Times New Roman" pitchFamily="18" charset="0"/>
              </a:rPr>
              <a:t>K</a:t>
            </a:r>
            <a:r>
              <a:rPr kumimoji="1" lang="en-US" altLang="zh-CN" b="1" baseline="-25000" dirty="0" err="1" smtClean="0">
                <a:latin typeface="Times New Roman" pitchFamily="18" charset="0"/>
              </a:rPr>
              <a:t>n</a:t>
            </a:r>
            <a:r>
              <a:rPr kumimoji="1" lang="en-US" altLang="zh-CN" b="1" dirty="0">
                <a:latin typeface="Times New Roman" pitchFamily="18" charset="0"/>
              </a:rPr>
              <a:t>)=n</a:t>
            </a:r>
            <a:r>
              <a:rPr kumimoji="1" lang="zh-CN" altLang="en-US" b="1" dirty="0">
                <a:latin typeface="Times New Roman" pitchFamily="18" charset="0"/>
              </a:rPr>
              <a:t>。（零图）</a:t>
            </a:r>
          </a:p>
        </p:txBody>
      </p:sp>
      <p:sp>
        <p:nvSpPr>
          <p:cNvPr id="68612" name="Text Box 4"/>
          <p:cNvSpPr txBox="1">
            <a:spLocks noChangeArrowheads="1"/>
          </p:cNvSpPr>
          <p:nvPr/>
        </p:nvSpPr>
        <p:spPr bwMode="auto">
          <a:xfrm>
            <a:off x="466725" y="1711325"/>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7-6.2</a:t>
            </a:r>
            <a:r>
              <a:rPr kumimoji="1" lang="zh-CN" altLang="en-US" b="1">
                <a:solidFill>
                  <a:schemeClr val="tx2"/>
                </a:solidFill>
                <a:latin typeface="Times New Roman" pitchFamily="18" charset="0"/>
              </a:rPr>
              <a:t>：</a:t>
            </a:r>
            <a:r>
              <a:rPr kumimoji="1" lang="zh-CN" altLang="en-US" b="1">
                <a:latin typeface="Times New Roman" pitchFamily="18" charset="0"/>
              </a:rPr>
              <a:t>设</a:t>
            </a:r>
            <a:r>
              <a:rPr kumimoji="1" lang="en-US" altLang="zh-CN" b="1">
                <a:latin typeface="Times New Roman" pitchFamily="18" charset="0"/>
              </a:rPr>
              <a:t>G</a:t>
            </a:r>
            <a:r>
              <a:rPr kumimoji="1" lang="zh-CN" altLang="en-US" b="1">
                <a:latin typeface="Times New Roman" pitchFamily="18" charset="0"/>
              </a:rPr>
              <a:t>为一个至少具有三个结点的连通平面图，则</a:t>
            </a:r>
            <a:r>
              <a:rPr kumimoji="1" lang="en-US" altLang="zh-CN" b="1">
                <a:latin typeface="Times New Roman" pitchFamily="18" charset="0"/>
              </a:rPr>
              <a:t>G</a:t>
            </a:r>
            <a:r>
              <a:rPr kumimoji="1" lang="zh-CN" altLang="en-US" b="1">
                <a:latin typeface="Times New Roman" pitchFamily="18" charset="0"/>
              </a:rPr>
              <a:t>中必有一个结点</a:t>
            </a:r>
            <a:r>
              <a:rPr kumimoji="1" lang="en-US" altLang="zh-CN" b="1">
                <a:latin typeface="Times New Roman" pitchFamily="18" charset="0"/>
              </a:rPr>
              <a:t>u</a:t>
            </a:r>
            <a:r>
              <a:rPr kumimoji="1" lang="zh-CN" altLang="en-US" b="1">
                <a:latin typeface="Times New Roman" pitchFamily="18" charset="0"/>
              </a:rPr>
              <a:t>，使得</a:t>
            </a:r>
            <a:r>
              <a:rPr kumimoji="1" lang="en-US" altLang="zh-CN" b="1">
                <a:latin typeface="Times New Roman" pitchFamily="18" charset="0"/>
              </a:rPr>
              <a:t>deg(u)≤5</a:t>
            </a:r>
            <a:r>
              <a:rPr kumimoji="1" lang="zh-CN" altLang="en-US" b="1">
                <a:latin typeface="Times New Roman" pitchFamily="18" charset="0"/>
              </a:rPr>
              <a:t>。</a:t>
            </a:r>
          </a:p>
        </p:txBody>
      </p:sp>
      <p:sp>
        <p:nvSpPr>
          <p:cNvPr id="68615" name="Text Box 7"/>
          <p:cNvSpPr txBox="1">
            <a:spLocks noChangeArrowheads="1"/>
          </p:cNvSpPr>
          <p:nvPr/>
        </p:nvSpPr>
        <p:spPr bwMode="auto">
          <a:xfrm>
            <a:off x="466725" y="2703513"/>
            <a:ext cx="8277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7-6.3</a:t>
            </a:r>
            <a:r>
              <a:rPr kumimoji="1" lang="zh-CN" altLang="en-US" b="1">
                <a:solidFill>
                  <a:srgbClr val="0000CC"/>
                </a:solidFill>
                <a:latin typeface="Times New Roman" pitchFamily="18" charset="0"/>
              </a:rPr>
              <a:t>：</a:t>
            </a:r>
            <a:r>
              <a:rPr kumimoji="1" lang="zh-CN" altLang="en-US" b="1">
                <a:latin typeface="Times New Roman" pitchFamily="18" charset="0"/>
              </a:rPr>
              <a:t>任意平面图</a:t>
            </a:r>
            <a:r>
              <a:rPr kumimoji="1" lang="en-US" altLang="zh-CN" b="1">
                <a:latin typeface="Times New Roman" pitchFamily="18" charset="0"/>
              </a:rPr>
              <a:t>G</a:t>
            </a:r>
            <a:r>
              <a:rPr kumimoji="1" lang="zh-CN" altLang="en-US" b="1">
                <a:latin typeface="Times New Roman" pitchFamily="18" charset="0"/>
              </a:rPr>
              <a:t>最多是</a:t>
            </a:r>
            <a:r>
              <a:rPr kumimoji="1" lang="en-US" altLang="zh-CN" b="1">
                <a:latin typeface="Times New Roman" pitchFamily="18" charset="0"/>
              </a:rPr>
              <a:t>5-</a:t>
            </a:r>
            <a:r>
              <a:rPr kumimoji="1" lang="zh-CN" altLang="en-US" b="1">
                <a:latin typeface="Times New Roman" pitchFamily="18" charset="0"/>
              </a:rPr>
              <a:t>色的。</a:t>
            </a:r>
          </a:p>
        </p:txBody>
      </p:sp>
      <p:sp>
        <p:nvSpPr>
          <p:cNvPr id="68616" name="Text Box 8"/>
          <p:cNvSpPr txBox="1">
            <a:spLocks noChangeArrowheads="1"/>
          </p:cNvSpPr>
          <p:nvPr/>
        </p:nvSpPr>
        <p:spPr bwMode="auto">
          <a:xfrm>
            <a:off x="466725" y="3294063"/>
            <a:ext cx="8277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bg1"/>
              </a:buClr>
            </a:pPr>
            <a:r>
              <a:rPr kumimoji="1" lang="zh-CN" altLang="en-US" b="1">
                <a:solidFill>
                  <a:srgbClr val="0000CC"/>
                </a:solidFill>
                <a:latin typeface="Times New Roman" pitchFamily="18" charset="0"/>
              </a:rPr>
              <a:t>推论：</a:t>
            </a:r>
            <a:r>
              <a:rPr kumimoji="1" lang="zh-CN" altLang="en-US" b="1">
                <a:solidFill>
                  <a:schemeClr val="bg2"/>
                </a:solidFill>
                <a:latin typeface="Times New Roman" pitchFamily="18" charset="0"/>
              </a:rPr>
              <a:t>任何地图是</a:t>
            </a:r>
            <a:r>
              <a:rPr kumimoji="1" lang="en-US" altLang="zh-CN" b="1">
                <a:solidFill>
                  <a:schemeClr val="bg2"/>
                </a:solidFill>
                <a:latin typeface="Times New Roman" pitchFamily="18" charset="0"/>
              </a:rPr>
              <a:t>5-</a:t>
            </a:r>
            <a:r>
              <a:rPr kumimoji="1" lang="zh-CN" altLang="en-US" b="1">
                <a:solidFill>
                  <a:schemeClr val="bg2"/>
                </a:solidFill>
                <a:latin typeface="Times New Roman" pitchFamily="18" charset="0"/>
              </a:rPr>
              <a:t>色的</a:t>
            </a:r>
          </a:p>
        </p:txBody>
      </p:sp>
    </p:spTree>
    <p:extLst>
      <p:ext uri="{BB962C8B-B14F-4D97-AF65-F5344CB8AC3E}">
        <p14:creationId xmlns:p14="http://schemas.microsoft.com/office/powerpoint/2010/main" val="2095372115"/>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8612"/>
                                        </p:tgtEl>
                                        <p:attrNameLst>
                                          <p:attrName>style.visibility</p:attrName>
                                        </p:attrNameLst>
                                      </p:cBhvr>
                                      <p:to>
                                        <p:strVal val="visible"/>
                                      </p:to>
                                    </p:set>
                                    <p:animEffect transition="in" filter="checkerboard(across)">
                                      <p:cBhvr>
                                        <p:cTn id="7" dur="500"/>
                                        <p:tgtEl>
                                          <p:spTgt spid="686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8615"/>
                                        </p:tgtEl>
                                        <p:attrNameLst>
                                          <p:attrName>style.visibility</p:attrName>
                                        </p:attrNameLst>
                                      </p:cBhvr>
                                      <p:to>
                                        <p:strVal val="visible"/>
                                      </p:to>
                                    </p:set>
                                    <p:animEffect transition="in" filter="checkerboard(across)">
                                      <p:cBhvr>
                                        <p:cTn id="12" dur="500"/>
                                        <p:tgtEl>
                                          <p:spTgt spid="6861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68616"/>
                                        </p:tgtEl>
                                        <p:attrNameLst>
                                          <p:attrName>style.visibility</p:attrName>
                                        </p:attrNameLst>
                                      </p:cBhvr>
                                      <p:to>
                                        <p:strVal val="visible"/>
                                      </p:to>
                                    </p:set>
                                    <p:anim calcmode="lin" valueType="num">
                                      <p:cBhvr additive="base">
                                        <p:cTn id="17" dur="500" fill="hold"/>
                                        <p:tgtEl>
                                          <p:spTgt spid="68616"/>
                                        </p:tgtEl>
                                        <p:attrNameLst>
                                          <p:attrName>ppt_x</p:attrName>
                                        </p:attrNameLst>
                                      </p:cBhvr>
                                      <p:tavLst>
                                        <p:tav tm="0">
                                          <p:val>
                                            <p:strVal val="#ppt_x"/>
                                          </p:val>
                                        </p:tav>
                                        <p:tav tm="100000">
                                          <p:val>
                                            <p:strVal val="#ppt_x"/>
                                          </p:val>
                                        </p:tav>
                                      </p:tavLst>
                                    </p:anim>
                                    <p:anim calcmode="lin" valueType="num">
                                      <p:cBhvr additive="base">
                                        <p:cTn id="18" dur="500" fill="hold"/>
                                        <p:tgtEl>
                                          <p:spTgt spid="686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2" grpId="0"/>
      <p:bldP spid="68615" grpId="0"/>
      <p:bldP spid="68616"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灯片编号占位符 4"/>
          <p:cNvSpPr>
            <a:spLocks noGrp="1"/>
          </p:cNvSpPr>
          <p:nvPr>
            <p:ph type="sldNum" sz="quarter" idx="11"/>
          </p:nvPr>
        </p:nvSpPr>
        <p:spPr/>
        <p:txBody>
          <a:bodyPr/>
          <a:lstStyle/>
          <a:p>
            <a:pPr>
              <a:defRPr/>
            </a:pPr>
            <a:fld id="{399DB6AF-283B-47B1-B71D-22FE167B4D63}" type="slidenum">
              <a:rPr lang="en-US" altLang="zh-CN"/>
              <a:pPr>
                <a:defRPr/>
              </a:pPr>
              <a:t>89</a:t>
            </a:fld>
            <a:endParaRPr lang="en-US" altLang="zh-CN"/>
          </a:p>
        </p:txBody>
      </p:sp>
      <p:sp>
        <p:nvSpPr>
          <p:cNvPr id="91139" name="Rectangle 2"/>
          <p:cNvSpPr>
            <a:spLocks noGrp="1" noChangeArrowheads="1"/>
          </p:cNvSpPr>
          <p:nvPr>
            <p:ph type="title"/>
          </p:nvPr>
        </p:nvSpPr>
        <p:spPr/>
        <p:txBody>
          <a:bodyPr/>
          <a:lstStyle/>
          <a:p>
            <a:pPr eaLnBrk="1" hangingPunct="1"/>
            <a:r>
              <a:rPr kumimoji="1" lang="en-US" altLang="zh-CN" smtClean="0">
                <a:solidFill>
                  <a:schemeClr val="tx1"/>
                </a:solidFill>
                <a:latin typeface="华文行楷" pitchFamily="2" charset="-122"/>
                <a:ea typeface="华文行楷" pitchFamily="2" charset="-122"/>
              </a:rPr>
              <a:t>7-7</a:t>
            </a:r>
            <a:r>
              <a:rPr kumimoji="1" lang="en-US" altLang="zh-CN" smtClean="0">
                <a:solidFill>
                  <a:schemeClr val="tx1"/>
                </a:solidFill>
                <a:latin typeface="Arial" charset="0"/>
                <a:ea typeface="华文行楷" pitchFamily="2" charset="-122"/>
              </a:rPr>
              <a:t>  </a:t>
            </a:r>
            <a:r>
              <a:rPr kumimoji="1" lang="zh-CN" altLang="en-US" smtClean="0">
                <a:solidFill>
                  <a:schemeClr val="tx1"/>
                </a:solidFill>
                <a:latin typeface="华文行楷" pitchFamily="2" charset="-122"/>
                <a:ea typeface="华文行楷" pitchFamily="2" charset="-122"/>
              </a:rPr>
              <a:t>树与生成树</a:t>
            </a:r>
          </a:p>
        </p:txBody>
      </p:sp>
      <p:sp>
        <p:nvSpPr>
          <p:cNvPr id="91140" name="Rectangle 3"/>
          <p:cNvSpPr>
            <a:spLocks noGrp="1" noChangeArrowheads="1"/>
          </p:cNvSpPr>
          <p:nvPr>
            <p:ph type="body" idx="1"/>
          </p:nvPr>
        </p:nvSpPr>
        <p:spPr>
          <a:xfrm>
            <a:off x="466725" y="1052513"/>
            <a:ext cx="8277225" cy="2624137"/>
          </a:xfrm>
        </p:spPr>
        <p:txBody>
          <a:bodyPr/>
          <a:lstStyle/>
          <a:p>
            <a:pPr eaLnBrk="1" hangingPunct="1">
              <a:buClrTx/>
              <a:buSzTx/>
              <a:buFontTx/>
              <a:buNone/>
            </a:pPr>
            <a:r>
              <a:rPr kumimoji="1" lang="en-US" altLang="zh-CN" sz="3200" smtClean="0">
                <a:solidFill>
                  <a:srgbClr val="993300"/>
                </a:solidFill>
                <a:latin typeface="楷体_GB2312" pitchFamily="49" charset="-122"/>
                <a:ea typeface="楷体_GB2312" pitchFamily="49" charset="-122"/>
              </a:rPr>
              <a:t>1. </a:t>
            </a:r>
            <a:r>
              <a:rPr kumimoji="1" lang="zh-CN" altLang="en-US" sz="3200" smtClean="0">
                <a:solidFill>
                  <a:srgbClr val="993300"/>
                </a:solidFill>
                <a:latin typeface="楷体_GB2312" pitchFamily="49" charset="-122"/>
                <a:ea typeface="楷体_GB2312" pitchFamily="49" charset="-122"/>
              </a:rPr>
              <a:t>树及性质</a:t>
            </a:r>
          </a:p>
          <a:p>
            <a:pPr eaLnBrk="1" hangingPunct="1">
              <a:buClrTx/>
              <a:buSzTx/>
              <a:buFontTx/>
              <a:buNone/>
            </a:pPr>
            <a:r>
              <a:rPr kumimoji="1" lang="zh-CN" altLang="en-US" smtClean="0">
                <a:solidFill>
                  <a:srgbClr val="0000CC"/>
                </a:solidFill>
              </a:rPr>
              <a:t>定义</a:t>
            </a:r>
            <a:r>
              <a:rPr kumimoji="1" lang="en-US" altLang="zh-CN" smtClean="0">
                <a:solidFill>
                  <a:srgbClr val="0000CC"/>
                </a:solidFill>
              </a:rPr>
              <a:t>7-7.1</a:t>
            </a:r>
            <a:r>
              <a:rPr kumimoji="1" lang="zh-CN" altLang="en-US" smtClean="0">
                <a:solidFill>
                  <a:srgbClr val="0000CC"/>
                </a:solidFill>
              </a:rPr>
              <a:t>：</a:t>
            </a:r>
            <a:r>
              <a:rPr kumimoji="1" lang="zh-CN" altLang="en-US" smtClean="0"/>
              <a:t>一个连通且无回路的无向图称为</a:t>
            </a:r>
            <a:r>
              <a:rPr kumimoji="1" lang="zh-CN" altLang="en-US" smtClean="0">
                <a:solidFill>
                  <a:srgbClr val="0000CC"/>
                </a:solidFill>
              </a:rPr>
              <a:t>树</a:t>
            </a:r>
            <a:r>
              <a:rPr kumimoji="1" lang="zh-CN" altLang="en-US" smtClean="0"/>
              <a:t>。</a:t>
            </a:r>
          </a:p>
          <a:p>
            <a:pPr eaLnBrk="1" hangingPunct="1">
              <a:buClrTx/>
              <a:buSzTx/>
              <a:buFontTx/>
              <a:buNone/>
            </a:pPr>
            <a:r>
              <a:rPr kumimoji="1" lang="zh-CN" altLang="en-US" smtClean="0"/>
              <a:t>树中度数为</a:t>
            </a:r>
            <a:r>
              <a:rPr kumimoji="1" lang="en-US" altLang="zh-CN" smtClean="0"/>
              <a:t>1</a:t>
            </a:r>
            <a:r>
              <a:rPr kumimoji="1" lang="zh-CN" altLang="en-US" smtClean="0"/>
              <a:t>的结点称为</a:t>
            </a:r>
            <a:r>
              <a:rPr kumimoji="1" lang="zh-CN" altLang="en-US" smtClean="0">
                <a:solidFill>
                  <a:srgbClr val="0000CC"/>
                </a:solidFill>
              </a:rPr>
              <a:t>树叶</a:t>
            </a:r>
            <a:r>
              <a:rPr kumimoji="1" lang="zh-CN" altLang="en-US" smtClean="0"/>
              <a:t>，</a:t>
            </a:r>
          </a:p>
          <a:p>
            <a:pPr eaLnBrk="1" hangingPunct="1">
              <a:buClrTx/>
              <a:buSzTx/>
              <a:buFontTx/>
              <a:buNone/>
            </a:pPr>
            <a:r>
              <a:rPr kumimoji="1" lang="zh-CN" altLang="en-US" smtClean="0"/>
              <a:t>度数大于</a:t>
            </a:r>
            <a:r>
              <a:rPr kumimoji="1" lang="en-US" altLang="zh-CN" smtClean="0"/>
              <a:t>1</a:t>
            </a:r>
            <a:r>
              <a:rPr kumimoji="1" lang="zh-CN" altLang="en-US" smtClean="0"/>
              <a:t>的结点称为</a:t>
            </a:r>
            <a:r>
              <a:rPr kumimoji="1" lang="zh-CN" altLang="en-US" smtClean="0">
                <a:solidFill>
                  <a:srgbClr val="0000CC"/>
                </a:solidFill>
              </a:rPr>
              <a:t>分支点或内点</a:t>
            </a:r>
            <a:r>
              <a:rPr kumimoji="1" lang="zh-CN" altLang="en-US" smtClean="0"/>
              <a:t>。</a:t>
            </a:r>
          </a:p>
          <a:p>
            <a:pPr eaLnBrk="1" hangingPunct="1">
              <a:buClrTx/>
              <a:buSzTx/>
              <a:buFontTx/>
              <a:buNone/>
            </a:pPr>
            <a:r>
              <a:rPr kumimoji="1" lang="zh-CN" altLang="en-US" smtClean="0"/>
              <a:t>多个无回路的无向图称为</a:t>
            </a:r>
            <a:r>
              <a:rPr kumimoji="1" lang="zh-CN" altLang="en-US" smtClean="0">
                <a:solidFill>
                  <a:srgbClr val="0000CC"/>
                </a:solidFill>
              </a:rPr>
              <a:t>森林</a:t>
            </a:r>
            <a:r>
              <a:rPr kumimoji="1" lang="zh-CN" altLang="en-US" smtClean="0"/>
              <a:t>。它的每个连通分图是树。</a:t>
            </a:r>
          </a:p>
        </p:txBody>
      </p:sp>
      <p:sp>
        <p:nvSpPr>
          <p:cNvPr id="133124" name="Line 4"/>
          <p:cNvSpPr>
            <a:spLocks noChangeShapeType="1"/>
          </p:cNvSpPr>
          <p:nvPr/>
        </p:nvSpPr>
        <p:spPr bwMode="auto">
          <a:xfrm>
            <a:off x="3040063" y="4013200"/>
            <a:ext cx="4762" cy="57308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33125" name="Group 5"/>
          <p:cNvGrpSpPr>
            <a:grpSpLocks/>
          </p:cNvGrpSpPr>
          <p:nvPr/>
        </p:nvGrpSpPr>
        <p:grpSpPr bwMode="auto">
          <a:xfrm>
            <a:off x="3878263" y="4013200"/>
            <a:ext cx="685800" cy="457200"/>
            <a:chOff x="4200" y="11112"/>
            <a:chExt cx="840" cy="624"/>
          </a:xfrm>
        </p:grpSpPr>
        <p:sp>
          <p:nvSpPr>
            <p:cNvPr id="91147" name="Line 6"/>
            <p:cNvSpPr>
              <a:spLocks noChangeShapeType="1"/>
            </p:cNvSpPr>
            <p:nvPr/>
          </p:nvSpPr>
          <p:spPr bwMode="auto">
            <a:xfrm>
              <a:off x="4200" y="11112"/>
              <a:ext cx="36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8" name="Freeform 7"/>
            <p:cNvSpPr>
              <a:spLocks/>
            </p:cNvSpPr>
            <p:nvPr/>
          </p:nvSpPr>
          <p:spPr bwMode="auto">
            <a:xfrm>
              <a:off x="4560" y="11112"/>
              <a:ext cx="480" cy="618"/>
            </a:xfrm>
            <a:custGeom>
              <a:avLst/>
              <a:gdLst>
                <a:gd name="T0" fmla="*/ 480 w 480"/>
                <a:gd name="T1" fmla="*/ 0 h 618"/>
                <a:gd name="T2" fmla="*/ 0 w 480"/>
                <a:gd name="T3" fmla="*/ 618 h 618"/>
                <a:gd name="T4" fmla="*/ 0 60000 65536"/>
                <a:gd name="T5" fmla="*/ 0 60000 65536"/>
              </a:gdLst>
              <a:ahLst/>
              <a:cxnLst>
                <a:cxn ang="T4">
                  <a:pos x="T0" y="T1"/>
                </a:cxn>
                <a:cxn ang="T5">
                  <a:pos x="T2" y="T3"/>
                </a:cxn>
              </a:cxnLst>
              <a:rect l="0" t="0" r="r" b="b"/>
              <a:pathLst>
                <a:path w="480" h="618">
                  <a:moveTo>
                    <a:pt x="480" y="0"/>
                  </a:moveTo>
                  <a:lnTo>
                    <a:pt x="0" y="618"/>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33128" name="Group 8"/>
          <p:cNvGrpSpPr>
            <a:grpSpLocks/>
          </p:cNvGrpSpPr>
          <p:nvPr/>
        </p:nvGrpSpPr>
        <p:grpSpPr bwMode="auto">
          <a:xfrm>
            <a:off x="5326063" y="3860800"/>
            <a:ext cx="685800" cy="762000"/>
            <a:chOff x="5580" y="11112"/>
            <a:chExt cx="840" cy="1248"/>
          </a:xfrm>
        </p:grpSpPr>
        <p:sp>
          <p:nvSpPr>
            <p:cNvPr id="91144" name="Line 9"/>
            <p:cNvSpPr>
              <a:spLocks noChangeShapeType="1"/>
            </p:cNvSpPr>
            <p:nvPr/>
          </p:nvSpPr>
          <p:spPr bwMode="auto">
            <a:xfrm>
              <a:off x="5580" y="11112"/>
              <a:ext cx="36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1145" name="Freeform 10"/>
            <p:cNvSpPr>
              <a:spLocks/>
            </p:cNvSpPr>
            <p:nvPr/>
          </p:nvSpPr>
          <p:spPr bwMode="auto">
            <a:xfrm>
              <a:off x="5940" y="11112"/>
              <a:ext cx="480" cy="618"/>
            </a:xfrm>
            <a:custGeom>
              <a:avLst/>
              <a:gdLst>
                <a:gd name="T0" fmla="*/ 480 w 480"/>
                <a:gd name="T1" fmla="*/ 0 h 618"/>
                <a:gd name="T2" fmla="*/ 0 w 480"/>
                <a:gd name="T3" fmla="*/ 618 h 618"/>
                <a:gd name="T4" fmla="*/ 0 60000 65536"/>
                <a:gd name="T5" fmla="*/ 0 60000 65536"/>
              </a:gdLst>
              <a:ahLst/>
              <a:cxnLst>
                <a:cxn ang="T4">
                  <a:pos x="T0" y="T1"/>
                </a:cxn>
                <a:cxn ang="T5">
                  <a:pos x="T2" y="T3"/>
                </a:cxn>
              </a:cxnLst>
              <a:rect l="0" t="0" r="r" b="b"/>
              <a:pathLst>
                <a:path w="480" h="618">
                  <a:moveTo>
                    <a:pt x="480" y="0"/>
                  </a:moveTo>
                  <a:lnTo>
                    <a:pt x="0" y="618"/>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1146" name="Line 11"/>
            <p:cNvSpPr>
              <a:spLocks noChangeShapeType="1"/>
            </p:cNvSpPr>
            <p:nvPr/>
          </p:nvSpPr>
          <p:spPr bwMode="auto">
            <a:xfrm>
              <a:off x="5940" y="11736"/>
              <a:ext cx="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3430041412"/>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33128"/>
                                        </p:tgtEl>
                                        <p:attrNameLst>
                                          <p:attrName>style.visibility</p:attrName>
                                        </p:attrNameLst>
                                      </p:cBhvr>
                                      <p:to>
                                        <p:strVal val="visible"/>
                                      </p:to>
                                    </p:set>
                                    <p:animEffect transition="in" filter="checkerboard(across)">
                                      <p:cBhvr>
                                        <p:cTn id="7" dur="500"/>
                                        <p:tgtEl>
                                          <p:spTgt spid="133128"/>
                                        </p:tgtEl>
                                      </p:cBhvr>
                                    </p:animEffect>
                                  </p:childTnLst>
                                </p:cTn>
                              </p:par>
                              <p:par>
                                <p:cTn id="8" presetID="5" presetClass="entr" presetSubtype="10" fill="hold" nodeType="withEffect">
                                  <p:stCondLst>
                                    <p:cond delay="0"/>
                                  </p:stCondLst>
                                  <p:childTnLst>
                                    <p:set>
                                      <p:cBhvr>
                                        <p:cTn id="9" dur="1" fill="hold">
                                          <p:stCondLst>
                                            <p:cond delay="0"/>
                                          </p:stCondLst>
                                        </p:cTn>
                                        <p:tgtEl>
                                          <p:spTgt spid="133125"/>
                                        </p:tgtEl>
                                        <p:attrNameLst>
                                          <p:attrName>style.visibility</p:attrName>
                                        </p:attrNameLst>
                                      </p:cBhvr>
                                      <p:to>
                                        <p:strVal val="visible"/>
                                      </p:to>
                                    </p:set>
                                    <p:animEffect transition="in" filter="checkerboard(across)">
                                      <p:cBhvr>
                                        <p:cTn id="10" dur="500"/>
                                        <p:tgtEl>
                                          <p:spTgt spid="13312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33124"/>
                                        </p:tgtEl>
                                        <p:attrNameLst>
                                          <p:attrName>style.visibility</p:attrName>
                                        </p:attrNameLst>
                                      </p:cBhvr>
                                      <p:to>
                                        <p:strVal val="visible"/>
                                      </p:to>
                                    </p:set>
                                    <p:animEffect transition="in" filter="checkerboard(across)">
                                      <p:cBhvr>
                                        <p:cTn id="13" dur="500"/>
                                        <p:tgtEl>
                                          <p:spTgt spid="1331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pPr>
              <a:defRPr/>
            </a:pPr>
            <a:fld id="{DAAA85B8-27EB-4B7C-9F56-C1AD7B9511D1}" type="slidenum">
              <a:rPr lang="en-US" altLang="zh-CN"/>
              <a:pPr>
                <a:defRPr/>
              </a:pPr>
              <a:t>90</a:t>
            </a:fld>
            <a:endParaRPr lang="en-US" altLang="zh-CN"/>
          </a:p>
        </p:txBody>
      </p:sp>
      <p:sp>
        <p:nvSpPr>
          <p:cNvPr id="92163" name="Text Box 12"/>
          <p:cNvSpPr txBox="1">
            <a:spLocks noChangeArrowheads="1"/>
          </p:cNvSpPr>
          <p:nvPr/>
        </p:nvSpPr>
        <p:spPr bwMode="auto">
          <a:xfrm>
            <a:off x="466725" y="1125538"/>
            <a:ext cx="8277225" cy="3414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7-7.1</a:t>
            </a:r>
            <a:r>
              <a:rPr kumimoji="1" lang="zh-CN" altLang="en-US" b="1">
                <a:solidFill>
                  <a:srgbClr val="0000CC"/>
                </a:solidFill>
                <a:latin typeface="Times New Roman" pitchFamily="18" charset="0"/>
              </a:rPr>
              <a:t>：</a:t>
            </a:r>
            <a:r>
              <a:rPr kumimoji="1" lang="zh-CN" altLang="en-US" b="1">
                <a:latin typeface="Times New Roman" pitchFamily="18" charset="0"/>
              </a:rPr>
              <a:t>给定图</a:t>
            </a:r>
            <a:r>
              <a:rPr kumimoji="1" lang="en-US" altLang="zh-CN" b="1">
                <a:latin typeface="Times New Roman" pitchFamily="18" charset="0"/>
              </a:rPr>
              <a:t>T</a:t>
            </a:r>
            <a:r>
              <a:rPr kumimoji="1" lang="zh-CN" altLang="en-US" b="1">
                <a:latin typeface="Times New Roman" pitchFamily="18" charset="0"/>
              </a:rPr>
              <a:t>，以下关于树的定义是等价的。</a:t>
            </a:r>
          </a:p>
          <a:p>
            <a:pPr algn="just" eaLnBrk="1" hangingPunct="1">
              <a:lnSpc>
                <a:spcPct val="130000"/>
              </a:lnSpc>
            </a:pPr>
            <a:r>
              <a:rPr kumimoji="1" lang="zh-CN" altLang="en-US" b="1">
                <a:latin typeface="Times New Roman" pitchFamily="18" charset="0"/>
              </a:rPr>
              <a:t>（</a:t>
            </a:r>
            <a:r>
              <a:rPr kumimoji="1" lang="en-US" altLang="zh-CN" b="1">
                <a:latin typeface="Times New Roman" pitchFamily="18" charset="0"/>
              </a:rPr>
              <a:t>1</a:t>
            </a:r>
            <a:r>
              <a:rPr kumimoji="1" lang="zh-CN" altLang="en-US" b="1">
                <a:latin typeface="Times New Roman" pitchFamily="18" charset="0"/>
              </a:rPr>
              <a:t>）无回路的连通图。</a:t>
            </a:r>
          </a:p>
          <a:p>
            <a:pPr algn="just" eaLnBrk="1" hangingPunct="1">
              <a:lnSpc>
                <a:spcPct val="130000"/>
              </a:lnSpc>
            </a:pPr>
            <a:r>
              <a:rPr kumimoji="1" lang="zh-CN" altLang="en-US" b="1">
                <a:latin typeface="Times New Roman" pitchFamily="18" charset="0"/>
              </a:rPr>
              <a:t>（</a:t>
            </a:r>
            <a:r>
              <a:rPr kumimoji="1" lang="en-US" altLang="zh-CN" b="1">
                <a:latin typeface="Times New Roman" pitchFamily="18" charset="0"/>
              </a:rPr>
              <a:t>2</a:t>
            </a:r>
            <a:r>
              <a:rPr kumimoji="1" lang="zh-CN" altLang="en-US" b="1">
                <a:latin typeface="Times New Roman" pitchFamily="18" charset="0"/>
              </a:rPr>
              <a:t>）无回路且</a:t>
            </a:r>
            <a:r>
              <a:rPr kumimoji="1" lang="en-US" altLang="zh-CN" b="1">
                <a:latin typeface="Times New Roman" pitchFamily="18" charset="0"/>
              </a:rPr>
              <a:t>e=v-1</a:t>
            </a:r>
            <a:r>
              <a:rPr kumimoji="1" lang="zh-CN" altLang="en-US" b="1">
                <a:latin typeface="Times New Roman" pitchFamily="18" charset="0"/>
              </a:rPr>
              <a:t>，其中</a:t>
            </a:r>
            <a:r>
              <a:rPr kumimoji="1" lang="en-US" altLang="zh-CN" b="1">
                <a:latin typeface="Times New Roman" pitchFamily="18" charset="0"/>
              </a:rPr>
              <a:t>e</a:t>
            </a:r>
            <a:r>
              <a:rPr kumimoji="1" lang="zh-CN" altLang="en-US" b="1">
                <a:latin typeface="Times New Roman" pitchFamily="18" charset="0"/>
              </a:rPr>
              <a:t>是边数，</a:t>
            </a:r>
            <a:r>
              <a:rPr kumimoji="1" lang="en-US" altLang="zh-CN" b="1">
                <a:latin typeface="Times New Roman" pitchFamily="18" charset="0"/>
              </a:rPr>
              <a:t>v</a:t>
            </a:r>
            <a:r>
              <a:rPr kumimoji="1" lang="zh-CN" altLang="en-US" b="1">
                <a:latin typeface="Times New Roman" pitchFamily="18" charset="0"/>
              </a:rPr>
              <a:t>是结点数。</a:t>
            </a:r>
          </a:p>
          <a:p>
            <a:pPr algn="just" eaLnBrk="1" hangingPunct="1">
              <a:lnSpc>
                <a:spcPct val="130000"/>
              </a:lnSpc>
            </a:pPr>
            <a:r>
              <a:rPr kumimoji="1" lang="zh-CN" altLang="en-US" b="1">
                <a:latin typeface="Times New Roman" pitchFamily="18" charset="0"/>
              </a:rPr>
              <a:t>（</a:t>
            </a:r>
            <a:r>
              <a:rPr kumimoji="1" lang="en-US" altLang="zh-CN" b="1">
                <a:latin typeface="Times New Roman" pitchFamily="18" charset="0"/>
              </a:rPr>
              <a:t>3</a:t>
            </a:r>
            <a:r>
              <a:rPr kumimoji="1" lang="zh-CN" altLang="en-US" b="1">
                <a:latin typeface="Times New Roman" pitchFamily="18" charset="0"/>
              </a:rPr>
              <a:t>）连通且</a:t>
            </a:r>
            <a:r>
              <a:rPr kumimoji="1" lang="en-US" altLang="zh-CN" b="1">
                <a:latin typeface="Times New Roman" pitchFamily="18" charset="0"/>
              </a:rPr>
              <a:t>e=v-1</a:t>
            </a:r>
            <a:r>
              <a:rPr kumimoji="1" lang="zh-CN" altLang="en-US" b="1">
                <a:latin typeface="Times New Roman" pitchFamily="18" charset="0"/>
              </a:rPr>
              <a:t>。</a:t>
            </a:r>
          </a:p>
          <a:p>
            <a:pPr algn="just" eaLnBrk="1" hangingPunct="1">
              <a:lnSpc>
                <a:spcPct val="130000"/>
              </a:lnSpc>
            </a:pPr>
            <a:r>
              <a:rPr kumimoji="1" lang="zh-CN" altLang="en-US" b="1">
                <a:latin typeface="Times New Roman" pitchFamily="18" charset="0"/>
              </a:rPr>
              <a:t>（</a:t>
            </a:r>
            <a:r>
              <a:rPr kumimoji="1" lang="en-US" altLang="zh-CN" b="1">
                <a:latin typeface="Times New Roman" pitchFamily="18" charset="0"/>
              </a:rPr>
              <a:t>4</a:t>
            </a:r>
            <a:r>
              <a:rPr kumimoji="1" lang="zh-CN" altLang="en-US" b="1">
                <a:latin typeface="Times New Roman" pitchFamily="18" charset="0"/>
              </a:rPr>
              <a:t>）连通，但删除任一边后便不连通。</a:t>
            </a:r>
          </a:p>
          <a:p>
            <a:pPr algn="just" eaLnBrk="1" hangingPunct="1">
              <a:lnSpc>
                <a:spcPct val="130000"/>
              </a:lnSpc>
            </a:pPr>
            <a:r>
              <a:rPr kumimoji="1" lang="zh-CN" altLang="en-US" b="1">
                <a:latin typeface="Times New Roman" pitchFamily="18" charset="0"/>
              </a:rPr>
              <a:t>（</a:t>
            </a:r>
            <a:r>
              <a:rPr kumimoji="1" lang="en-US" altLang="zh-CN" b="1">
                <a:latin typeface="Times New Roman" pitchFamily="18" charset="0"/>
              </a:rPr>
              <a:t>5</a:t>
            </a:r>
            <a:r>
              <a:rPr kumimoji="1" lang="zh-CN" altLang="en-US" b="1">
                <a:latin typeface="Times New Roman" pitchFamily="18" charset="0"/>
              </a:rPr>
              <a:t>）无回路，但增加一条新边，得到一个且仅一个回路。</a:t>
            </a:r>
          </a:p>
          <a:p>
            <a:pPr eaLnBrk="1" hangingPunct="1">
              <a:lnSpc>
                <a:spcPct val="130000"/>
              </a:lnSpc>
            </a:pPr>
            <a:r>
              <a:rPr kumimoji="1" lang="zh-CN" altLang="en-US" b="1">
                <a:latin typeface="Times New Roman" pitchFamily="18" charset="0"/>
              </a:rPr>
              <a:t>（</a:t>
            </a:r>
            <a:r>
              <a:rPr kumimoji="1" lang="en-US" altLang="zh-CN" b="1">
                <a:latin typeface="Times New Roman" pitchFamily="18" charset="0"/>
              </a:rPr>
              <a:t>6</a:t>
            </a:r>
            <a:r>
              <a:rPr kumimoji="1" lang="zh-CN" altLang="en-US" b="1">
                <a:latin typeface="Times New Roman" pitchFamily="18" charset="0"/>
              </a:rPr>
              <a:t>）每一对结点之间有一条且仅有一条路。 </a:t>
            </a:r>
          </a:p>
        </p:txBody>
      </p:sp>
      <p:sp>
        <p:nvSpPr>
          <p:cNvPr id="92164" name="Rectangle 15"/>
          <p:cNvSpPr>
            <a:spLocks noChangeArrowheads="1"/>
          </p:cNvSpPr>
          <p:nvPr/>
        </p:nvSpPr>
        <p:spPr bwMode="auto">
          <a:xfrm>
            <a:off x="466725" y="4652963"/>
            <a:ext cx="827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kumimoji="1" lang="zh-CN" altLang="en-US" b="1">
                <a:latin typeface="Times New Roman" pitchFamily="18" charset="0"/>
              </a:rPr>
              <a:t>证明</a:t>
            </a:r>
            <a:r>
              <a:rPr kumimoji="1" lang="zh-CN" altLang="en-US" b="1">
                <a:latin typeface="Times New Roman" pitchFamily="18" charset="0"/>
                <a:sym typeface="Wingdings" pitchFamily="2" charset="2"/>
              </a:rPr>
              <a:t>：（</a:t>
            </a:r>
            <a:r>
              <a:rPr kumimoji="1" lang="en-US" altLang="zh-CN" b="1">
                <a:latin typeface="Times New Roman" pitchFamily="18" charset="0"/>
                <a:sym typeface="Wingdings" pitchFamily="2" charset="2"/>
              </a:rPr>
              <a:t>1</a:t>
            </a:r>
            <a:r>
              <a:rPr kumimoji="1" lang="zh-CN" altLang="en-US" b="1">
                <a:latin typeface="Times New Roman" pitchFamily="18" charset="0"/>
                <a:sym typeface="Wingdings" pitchFamily="2" charset="2"/>
              </a:rPr>
              <a:t>）</a:t>
            </a:r>
            <a:r>
              <a:rPr kumimoji="1" lang="zh-CN" altLang="en-US" b="1">
                <a:latin typeface="Times New Roman" pitchFamily="18" charset="0"/>
                <a:sym typeface="Symbol" pitchFamily="18" charset="2"/>
              </a:rPr>
              <a:t>（</a:t>
            </a:r>
            <a:r>
              <a:rPr kumimoji="1" lang="en-US" altLang="zh-CN" b="1">
                <a:latin typeface="Times New Roman" pitchFamily="18" charset="0"/>
                <a:sym typeface="Symbol" pitchFamily="18" charset="2"/>
              </a:rPr>
              <a:t>2</a:t>
            </a:r>
            <a:r>
              <a:rPr kumimoji="1" lang="zh-CN" altLang="en-US" b="1">
                <a:latin typeface="Times New Roman" pitchFamily="18" charset="0"/>
                <a:sym typeface="Symbol" pitchFamily="18" charset="2"/>
              </a:rPr>
              <a:t>）（</a:t>
            </a:r>
            <a:r>
              <a:rPr kumimoji="1" lang="en-US" altLang="zh-CN" b="1">
                <a:latin typeface="Times New Roman" pitchFamily="18" charset="0"/>
                <a:sym typeface="Symbol" pitchFamily="18" charset="2"/>
              </a:rPr>
              <a:t>3</a:t>
            </a:r>
            <a:r>
              <a:rPr kumimoji="1" lang="zh-CN" altLang="en-US" b="1">
                <a:latin typeface="Times New Roman" pitchFamily="18" charset="0"/>
                <a:sym typeface="Symbol" pitchFamily="18" charset="2"/>
              </a:rPr>
              <a:t>）（</a:t>
            </a:r>
            <a:r>
              <a:rPr kumimoji="1" lang="en-US" altLang="zh-CN" b="1">
                <a:latin typeface="Times New Roman" pitchFamily="18" charset="0"/>
                <a:sym typeface="Symbol" pitchFamily="18" charset="2"/>
              </a:rPr>
              <a:t>4</a:t>
            </a:r>
            <a:r>
              <a:rPr kumimoji="1" lang="zh-CN" altLang="en-US" b="1">
                <a:latin typeface="Times New Roman" pitchFamily="18" charset="0"/>
                <a:sym typeface="Symbol" pitchFamily="18" charset="2"/>
              </a:rPr>
              <a:t>）（</a:t>
            </a:r>
            <a:r>
              <a:rPr kumimoji="1" lang="en-US" altLang="zh-CN" b="1">
                <a:latin typeface="Times New Roman" pitchFamily="18" charset="0"/>
                <a:sym typeface="Symbol" pitchFamily="18" charset="2"/>
              </a:rPr>
              <a:t>5</a:t>
            </a:r>
            <a:r>
              <a:rPr kumimoji="1" lang="zh-CN" altLang="en-US" b="1">
                <a:latin typeface="Times New Roman" pitchFamily="18" charset="0"/>
                <a:sym typeface="Symbol" pitchFamily="18" charset="2"/>
              </a:rPr>
              <a:t>）（</a:t>
            </a:r>
            <a:r>
              <a:rPr kumimoji="1" lang="en-US" altLang="zh-CN" b="1">
                <a:latin typeface="Times New Roman" pitchFamily="18" charset="0"/>
                <a:sym typeface="Symbol" pitchFamily="18" charset="2"/>
              </a:rPr>
              <a:t>6</a:t>
            </a:r>
            <a:r>
              <a:rPr kumimoji="1" lang="zh-CN" altLang="en-US" b="1">
                <a:latin typeface="Times New Roman" pitchFamily="18" charset="0"/>
                <a:sym typeface="Symbol" pitchFamily="18" charset="2"/>
              </a:rPr>
              <a:t>）（</a:t>
            </a:r>
            <a:r>
              <a:rPr kumimoji="1" lang="en-US" altLang="zh-CN" b="1">
                <a:latin typeface="Times New Roman" pitchFamily="18" charset="0"/>
                <a:sym typeface="Symbol" pitchFamily="18" charset="2"/>
              </a:rPr>
              <a:t>1</a:t>
            </a:r>
            <a:r>
              <a:rPr kumimoji="1" lang="zh-CN" altLang="en-US" b="1">
                <a:latin typeface="Times New Roman" pitchFamily="18" charset="0"/>
                <a:sym typeface="Symbol" pitchFamily="18" charset="2"/>
              </a:rPr>
              <a:t>）</a:t>
            </a:r>
          </a:p>
        </p:txBody>
      </p:sp>
    </p:spTree>
    <p:extLst>
      <p:ext uri="{BB962C8B-B14F-4D97-AF65-F5344CB8AC3E}">
        <p14:creationId xmlns:p14="http://schemas.microsoft.com/office/powerpoint/2010/main" val="1432023256"/>
      </p:ext>
    </p:extLst>
  </p:cSld>
  <p:clrMapOvr>
    <a:masterClrMapping/>
  </p:clrMapOvr>
  <p:transition spd="slow">
    <p:random/>
  </p:transition>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pPr>
              <a:defRPr/>
            </a:pPr>
            <a:fld id="{EAADE89F-0933-4E26-B461-39F16E91ACC0}" type="slidenum">
              <a:rPr lang="en-US" altLang="zh-CN"/>
              <a:pPr>
                <a:defRPr/>
              </a:pPr>
              <a:t>91</a:t>
            </a:fld>
            <a:endParaRPr lang="en-US" altLang="zh-CN"/>
          </a:p>
        </p:txBody>
      </p:sp>
      <p:sp>
        <p:nvSpPr>
          <p:cNvPr id="70659" name="Text Box 3"/>
          <p:cNvSpPr txBox="1">
            <a:spLocks noChangeArrowheads="1"/>
          </p:cNvSpPr>
          <p:nvPr/>
        </p:nvSpPr>
        <p:spPr bwMode="auto">
          <a:xfrm>
            <a:off x="466725" y="995363"/>
            <a:ext cx="8277225" cy="5313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en-US" altLang="zh-CN" b="1">
                <a:solidFill>
                  <a:srgbClr val="008000"/>
                </a:solidFill>
                <a:latin typeface="Times New Roman" pitchFamily="18" charset="0"/>
              </a:rPr>
              <a:t>(1)</a:t>
            </a:r>
            <a:r>
              <a:rPr kumimoji="1" lang="zh-CN" altLang="en-US" b="1">
                <a:solidFill>
                  <a:srgbClr val="008000"/>
                </a:solidFill>
                <a:latin typeface="Times New Roman" pitchFamily="18" charset="0"/>
              </a:rPr>
              <a:t>无回路的连通图</a:t>
            </a:r>
            <a:r>
              <a:rPr kumimoji="1" lang="zh-CN" altLang="en-US" b="1">
                <a:solidFill>
                  <a:srgbClr val="008000"/>
                </a:solidFill>
                <a:latin typeface="Times New Roman" pitchFamily="18" charset="0"/>
                <a:sym typeface="Symbol" pitchFamily="18" charset="2"/>
              </a:rPr>
              <a:t></a:t>
            </a:r>
            <a:r>
              <a:rPr kumimoji="1" lang="en-US" altLang="zh-CN" b="1">
                <a:solidFill>
                  <a:srgbClr val="008000"/>
                </a:solidFill>
                <a:latin typeface="Times New Roman" pitchFamily="18" charset="0"/>
                <a:sym typeface="Symbol" pitchFamily="18" charset="2"/>
              </a:rPr>
              <a:t>(2)</a:t>
            </a:r>
            <a:r>
              <a:rPr kumimoji="1" lang="zh-CN" altLang="en-US" b="1">
                <a:solidFill>
                  <a:srgbClr val="008000"/>
                </a:solidFill>
                <a:latin typeface="Times New Roman" pitchFamily="18" charset="0"/>
              </a:rPr>
              <a:t>无回路且</a:t>
            </a:r>
            <a:r>
              <a:rPr kumimoji="1" lang="en-US" altLang="zh-CN" b="1">
                <a:solidFill>
                  <a:srgbClr val="008000"/>
                </a:solidFill>
                <a:latin typeface="Times New Roman" pitchFamily="18" charset="0"/>
              </a:rPr>
              <a:t>e=v-1</a:t>
            </a:r>
            <a:r>
              <a:rPr kumimoji="1" lang="zh-CN" altLang="en-US" b="1">
                <a:solidFill>
                  <a:srgbClr val="008000"/>
                </a:solidFill>
                <a:latin typeface="Times New Roman" pitchFamily="18" charset="0"/>
              </a:rPr>
              <a:t>，其中</a:t>
            </a:r>
            <a:r>
              <a:rPr kumimoji="1" lang="en-US" altLang="zh-CN" b="1">
                <a:solidFill>
                  <a:srgbClr val="008000"/>
                </a:solidFill>
                <a:latin typeface="Times New Roman" pitchFamily="18" charset="0"/>
              </a:rPr>
              <a:t>e</a:t>
            </a:r>
            <a:r>
              <a:rPr kumimoji="1" lang="zh-CN" altLang="en-US" b="1">
                <a:solidFill>
                  <a:srgbClr val="008000"/>
                </a:solidFill>
                <a:latin typeface="Times New Roman" pitchFamily="18" charset="0"/>
              </a:rPr>
              <a:t>是边数，</a:t>
            </a:r>
            <a:r>
              <a:rPr kumimoji="1" lang="en-US" altLang="zh-CN" b="1">
                <a:solidFill>
                  <a:srgbClr val="008000"/>
                </a:solidFill>
                <a:latin typeface="Times New Roman" pitchFamily="18" charset="0"/>
              </a:rPr>
              <a:t>v</a:t>
            </a:r>
            <a:r>
              <a:rPr kumimoji="1" lang="zh-CN" altLang="en-US" b="1">
                <a:solidFill>
                  <a:srgbClr val="008000"/>
                </a:solidFill>
                <a:latin typeface="Times New Roman" pitchFamily="18" charset="0"/>
              </a:rPr>
              <a:t>是结点数 </a:t>
            </a:r>
            <a:r>
              <a:rPr kumimoji="1" lang="en-US" altLang="zh-CN" b="1">
                <a:solidFill>
                  <a:srgbClr val="008000"/>
                </a:solidFill>
                <a:latin typeface="Times New Roman" pitchFamily="18" charset="0"/>
              </a:rPr>
              <a:t>(</a:t>
            </a:r>
            <a:r>
              <a:rPr kumimoji="1" lang="zh-CN" altLang="en-US" b="1">
                <a:solidFill>
                  <a:srgbClr val="008000"/>
                </a:solidFill>
                <a:latin typeface="Times New Roman" pitchFamily="18" charset="0"/>
              </a:rPr>
              <a:t>归纳法</a:t>
            </a:r>
            <a:r>
              <a:rPr kumimoji="1" lang="en-US" altLang="zh-CN" b="1">
                <a:solidFill>
                  <a:srgbClr val="008000"/>
                </a:solidFill>
                <a:latin typeface="Times New Roman" pitchFamily="18" charset="0"/>
              </a:rPr>
              <a:t>)</a:t>
            </a:r>
            <a:r>
              <a:rPr kumimoji="1" lang="zh-CN" altLang="en-US" b="1">
                <a:solidFill>
                  <a:srgbClr val="008000"/>
                </a:solidFill>
                <a:latin typeface="Times New Roman" pitchFamily="18" charset="0"/>
              </a:rPr>
              <a:t>。</a:t>
            </a:r>
          </a:p>
          <a:p>
            <a:pPr algn="just" eaLnBrk="1" hangingPunct="1">
              <a:lnSpc>
                <a:spcPct val="130000"/>
              </a:lnSpc>
            </a:pPr>
            <a:r>
              <a:rPr kumimoji="1" lang="en-US" altLang="zh-CN" b="1">
                <a:solidFill>
                  <a:srgbClr val="993300"/>
                </a:solidFill>
                <a:latin typeface="Times New Roman" pitchFamily="18" charset="0"/>
              </a:rPr>
              <a:t>1)</a:t>
            </a:r>
            <a:r>
              <a:rPr kumimoji="1" lang="zh-CN" altLang="en-US" b="1">
                <a:latin typeface="Times New Roman" pitchFamily="18" charset="0"/>
              </a:rPr>
              <a:t>设图</a:t>
            </a:r>
            <a:r>
              <a:rPr kumimoji="1" lang="en-US" altLang="zh-CN" b="1">
                <a:latin typeface="Times New Roman" pitchFamily="18" charset="0"/>
              </a:rPr>
              <a:t>T</a:t>
            </a:r>
            <a:r>
              <a:rPr kumimoji="1" lang="zh-CN" altLang="en-US" b="1">
                <a:latin typeface="Times New Roman" pitchFamily="18" charset="0"/>
              </a:rPr>
              <a:t>中</a:t>
            </a:r>
            <a:r>
              <a:rPr kumimoji="1" lang="en-US" altLang="zh-CN" b="1">
                <a:latin typeface="Times New Roman" pitchFamily="18" charset="0"/>
              </a:rPr>
              <a:t>v=2</a:t>
            </a:r>
            <a:r>
              <a:rPr kumimoji="1" lang="zh-CN" altLang="en-US" b="1">
                <a:latin typeface="Times New Roman" pitchFamily="18" charset="0"/>
              </a:rPr>
              <a:t>时，无回路的连通图，</a:t>
            </a:r>
            <a:r>
              <a:rPr kumimoji="1" lang="en-US" altLang="zh-CN" b="1">
                <a:latin typeface="Times New Roman" pitchFamily="18" charset="0"/>
              </a:rPr>
              <a:t>T</a:t>
            </a:r>
            <a:r>
              <a:rPr kumimoji="1" lang="zh-CN" altLang="en-US" b="1">
                <a:latin typeface="Times New Roman" pitchFamily="18" charset="0"/>
              </a:rPr>
              <a:t>的边数</a:t>
            </a:r>
            <a:r>
              <a:rPr kumimoji="1" lang="en-US" altLang="zh-CN" b="1">
                <a:latin typeface="Times New Roman" pitchFamily="18" charset="0"/>
              </a:rPr>
              <a:t>e=1</a:t>
            </a:r>
            <a:r>
              <a:rPr kumimoji="1" lang="zh-CN" altLang="en-US" b="1">
                <a:latin typeface="Times New Roman" pitchFamily="18" charset="0"/>
              </a:rPr>
              <a:t>，即</a:t>
            </a:r>
            <a:r>
              <a:rPr kumimoji="1" lang="en-US" altLang="zh-CN" b="1">
                <a:latin typeface="Times New Roman" pitchFamily="18" charset="0"/>
              </a:rPr>
              <a:t>e=v-1</a:t>
            </a:r>
            <a:r>
              <a:rPr kumimoji="1" lang="zh-CN" altLang="en-US" b="1">
                <a:latin typeface="Times New Roman" pitchFamily="18" charset="0"/>
              </a:rPr>
              <a:t>成立。</a:t>
            </a:r>
          </a:p>
          <a:p>
            <a:pPr algn="just" eaLnBrk="1" hangingPunct="1">
              <a:lnSpc>
                <a:spcPct val="130000"/>
              </a:lnSpc>
            </a:pPr>
            <a:r>
              <a:rPr kumimoji="1" lang="en-US" altLang="zh-CN" b="1">
                <a:solidFill>
                  <a:srgbClr val="993300"/>
                </a:solidFill>
                <a:latin typeface="Times New Roman" pitchFamily="18" charset="0"/>
              </a:rPr>
              <a:t>2)</a:t>
            </a:r>
            <a:r>
              <a:rPr kumimoji="1" lang="zh-CN" altLang="en-US" b="1">
                <a:latin typeface="Times New Roman" pitchFamily="18" charset="0"/>
              </a:rPr>
              <a:t>假设</a:t>
            </a:r>
            <a:r>
              <a:rPr kumimoji="1" lang="en-US" altLang="zh-CN" b="1">
                <a:latin typeface="Times New Roman" pitchFamily="18" charset="0"/>
              </a:rPr>
              <a:t>v=k</a:t>
            </a:r>
            <a:r>
              <a:rPr kumimoji="1" lang="zh-CN" altLang="en-US" b="1">
                <a:latin typeface="Times New Roman" pitchFamily="18" charset="0"/>
              </a:rPr>
              <a:t>且</a:t>
            </a:r>
            <a:r>
              <a:rPr kumimoji="1" lang="en-US" altLang="zh-CN" b="1">
                <a:latin typeface="Times New Roman" pitchFamily="18" charset="0"/>
              </a:rPr>
              <a:t>k</a:t>
            </a:r>
            <a:r>
              <a:rPr kumimoji="1" lang="en-US" altLang="zh-CN" b="1">
                <a:solidFill>
                  <a:schemeClr val="bg2"/>
                </a:solidFill>
                <a:latin typeface="Times New Roman" pitchFamily="18" charset="0"/>
              </a:rPr>
              <a:t>≥2</a:t>
            </a:r>
            <a:r>
              <a:rPr kumimoji="1" lang="zh-CN" altLang="en-US" b="1">
                <a:latin typeface="Times New Roman" pitchFamily="18" charset="0"/>
              </a:rPr>
              <a:t>时命题成立，即</a:t>
            </a:r>
            <a:r>
              <a:rPr kumimoji="1" lang="en-US" altLang="zh-CN" b="1">
                <a:latin typeface="Times New Roman" pitchFamily="18" charset="0"/>
              </a:rPr>
              <a:t>v</a:t>
            </a:r>
            <a:r>
              <a:rPr kumimoji="1" lang="en-US" altLang="zh-CN" b="1" baseline="-25000">
                <a:latin typeface="Times New Roman" pitchFamily="18" charset="0"/>
              </a:rPr>
              <a:t>k</a:t>
            </a:r>
            <a:r>
              <a:rPr kumimoji="1" lang="en-US" altLang="zh-CN" b="1">
                <a:latin typeface="Times New Roman" pitchFamily="18" charset="0"/>
              </a:rPr>
              <a:t>=k</a:t>
            </a:r>
            <a:r>
              <a:rPr kumimoji="1" lang="zh-CN" altLang="en-US" b="1">
                <a:latin typeface="Times New Roman" pitchFamily="18" charset="0"/>
              </a:rPr>
              <a:t>时，有</a:t>
            </a:r>
            <a:r>
              <a:rPr kumimoji="1" lang="en-US" altLang="zh-CN" b="1">
                <a:latin typeface="Times New Roman" pitchFamily="18" charset="0"/>
              </a:rPr>
              <a:t>e</a:t>
            </a:r>
            <a:r>
              <a:rPr kumimoji="1" lang="en-US" altLang="zh-CN" b="1" baseline="-25000">
                <a:latin typeface="Times New Roman" pitchFamily="18" charset="0"/>
              </a:rPr>
              <a:t>k</a:t>
            </a:r>
            <a:r>
              <a:rPr kumimoji="1" lang="en-US" altLang="zh-CN" b="1">
                <a:latin typeface="Times New Roman" pitchFamily="18" charset="0"/>
              </a:rPr>
              <a:t>=k-1</a:t>
            </a:r>
            <a:r>
              <a:rPr kumimoji="1" lang="zh-CN" altLang="en-US" b="1">
                <a:latin typeface="Times New Roman" pitchFamily="18" charset="0"/>
              </a:rPr>
              <a:t>；</a:t>
            </a:r>
          </a:p>
          <a:p>
            <a:pPr algn="just" eaLnBrk="1" hangingPunct="1">
              <a:lnSpc>
                <a:spcPct val="130000"/>
              </a:lnSpc>
            </a:pPr>
            <a:r>
              <a:rPr kumimoji="1" lang="en-US" altLang="zh-CN" b="1">
                <a:solidFill>
                  <a:srgbClr val="993300"/>
                </a:solidFill>
                <a:latin typeface="Times New Roman" pitchFamily="18" charset="0"/>
              </a:rPr>
              <a:t>3)</a:t>
            </a:r>
            <a:r>
              <a:rPr kumimoji="1" lang="zh-CN" altLang="en-US" b="1">
                <a:latin typeface="Times New Roman" pitchFamily="18" charset="0"/>
              </a:rPr>
              <a:t>当</a:t>
            </a:r>
            <a:r>
              <a:rPr kumimoji="1" lang="en-US" altLang="zh-CN" b="1">
                <a:latin typeface="Times New Roman" pitchFamily="18" charset="0"/>
              </a:rPr>
              <a:t>v=k+1</a:t>
            </a:r>
            <a:r>
              <a:rPr kumimoji="1" lang="zh-CN" altLang="en-US" b="1">
                <a:latin typeface="Times New Roman" pitchFamily="18" charset="0"/>
              </a:rPr>
              <a:t>时，先在</a:t>
            </a:r>
            <a:r>
              <a:rPr kumimoji="1" lang="en-US" altLang="zh-CN" b="1">
                <a:latin typeface="Times New Roman" pitchFamily="18" charset="0"/>
              </a:rPr>
              <a:t>k</a:t>
            </a:r>
            <a:r>
              <a:rPr kumimoji="1" lang="zh-CN" altLang="en-US" b="1">
                <a:latin typeface="Times New Roman" pitchFamily="18" charset="0"/>
              </a:rPr>
              <a:t>个点的树</a:t>
            </a:r>
            <a:r>
              <a:rPr kumimoji="1" lang="en-US" altLang="zh-CN" b="1">
                <a:latin typeface="Times New Roman" pitchFamily="18" charset="0"/>
              </a:rPr>
              <a:t>T</a:t>
            </a:r>
            <a:r>
              <a:rPr kumimoji="1" lang="en-US" altLang="zh-CN" b="1" baseline="-25000">
                <a:latin typeface="Times New Roman" pitchFamily="18" charset="0"/>
              </a:rPr>
              <a:t>k</a:t>
            </a:r>
            <a:r>
              <a:rPr kumimoji="1" lang="zh-CN" altLang="en-US" b="1">
                <a:latin typeface="Times New Roman" pitchFamily="18" charset="0"/>
              </a:rPr>
              <a:t>上加一个结点</a:t>
            </a:r>
            <a:r>
              <a:rPr kumimoji="1" lang="en-US" altLang="zh-CN" b="1">
                <a:latin typeface="Times New Roman" pitchFamily="18" charset="0"/>
              </a:rPr>
              <a:t>v</a:t>
            </a:r>
            <a:r>
              <a:rPr kumimoji="1" lang="en-US" altLang="zh-CN" b="1" baseline="-25000">
                <a:latin typeface="Times New Roman" pitchFamily="18" charset="0"/>
              </a:rPr>
              <a:t>k+1</a:t>
            </a:r>
            <a:r>
              <a:rPr kumimoji="1" lang="zh-CN" altLang="en-US" b="1">
                <a:latin typeface="Times New Roman" pitchFamily="18" charset="0"/>
              </a:rPr>
              <a:t>，要连通，</a:t>
            </a:r>
            <a:r>
              <a:rPr kumimoji="1" lang="en-US" altLang="zh-CN" b="1">
                <a:latin typeface="Times New Roman" pitchFamily="18" charset="0"/>
              </a:rPr>
              <a:t>v</a:t>
            </a:r>
            <a:r>
              <a:rPr kumimoji="1" lang="en-US" altLang="zh-CN" b="1" baseline="-25000">
                <a:latin typeface="Times New Roman" pitchFamily="18" charset="0"/>
              </a:rPr>
              <a:t>k+1</a:t>
            </a:r>
            <a:r>
              <a:rPr kumimoji="1" lang="zh-CN" altLang="en-US" b="1">
                <a:latin typeface="Times New Roman" pitchFamily="18" charset="0"/>
              </a:rPr>
              <a:t>必与</a:t>
            </a:r>
            <a:r>
              <a:rPr kumimoji="1" lang="en-US" altLang="zh-CN" b="1">
                <a:latin typeface="Times New Roman" pitchFamily="18" charset="0"/>
              </a:rPr>
              <a:t>T</a:t>
            </a:r>
            <a:r>
              <a:rPr kumimoji="1" lang="en-US" altLang="zh-CN" b="1" baseline="-25000">
                <a:latin typeface="Times New Roman" pitchFamily="18" charset="0"/>
              </a:rPr>
              <a:t>k</a:t>
            </a:r>
            <a:r>
              <a:rPr kumimoji="1" lang="zh-CN" altLang="en-US" b="1">
                <a:latin typeface="Times New Roman" pitchFamily="18" charset="0"/>
              </a:rPr>
              <a:t>中的点相连，若</a:t>
            </a:r>
            <a:r>
              <a:rPr kumimoji="1" lang="en-US" altLang="zh-CN" b="1">
                <a:latin typeface="Times New Roman" pitchFamily="18" charset="0"/>
              </a:rPr>
              <a:t>v</a:t>
            </a:r>
            <a:r>
              <a:rPr kumimoji="1" lang="en-US" altLang="zh-CN" b="1" baseline="-25000">
                <a:latin typeface="Times New Roman" pitchFamily="18" charset="0"/>
              </a:rPr>
              <a:t>k+1</a:t>
            </a:r>
            <a:r>
              <a:rPr kumimoji="1" lang="zh-CN" altLang="en-US" b="1">
                <a:latin typeface="Times New Roman" pitchFamily="18" charset="0"/>
              </a:rPr>
              <a:t>与</a:t>
            </a:r>
            <a:r>
              <a:rPr kumimoji="1" lang="en-US" altLang="zh-CN" b="1">
                <a:latin typeface="Times New Roman" pitchFamily="18" charset="0"/>
              </a:rPr>
              <a:t>T</a:t>
            </a:r>
            <a:r>
              <a:rPr kumimoji="1" lang="en-US" altLang="zh-CN" b="1" baseline="-25000">
                <a:latin typeface="Times New Roman" pitchFamily="18" charset="0"/>
              </a:rPr>
              <a:t>k</a:t>
            </a:r>
            <a:r>
              <a:rPr kumimoji="1" lang="zh-CN" altLang="en-US" b="1">
                <a:latin typeface="Times New Roman" pitchFamily="18" charset="0"/>
              </a:rPr>
              <a:t>中多于两个点相连，即至少有边</a:t>
            </a:r>
            <a:r>
              <a:rPr kumimoji="1" lang="en-US" altLang="zh-CN" b="1">
                <a:latin typeface="Times New Roman" pitchFamily="18" charset="0"/>
              </a:rPr>
              <a:t>(v</a:t>
            </a:r>
            <a:r>
              <a:rPr kumimoji="1" lang="en-US" altLang="zh-CN" b="1" baseline="-25000">
                <a:latin typeface="Times New Roman" pitchFamily="18" charset="0"/>
              </a:rPr>
              <a:t>k+1</a:t>
            </a:r>
            <a:r>
              <a:rPr kumimoji="1" lang="en-US" altLang="zh-CN" b="1">
                <a:latin typeface="Times New Roman" pitchFamily="18" charset="0"/>
              </a:rPr>
              <a:t>,v</a:t>
            </a:r>
            <a:r>
              <a:rPr kumimoji="1" lang="en-US" altLang="zh-CN" b="1" baseline="-25000">
                <a:latin typeface="Times New Roman" pitchFamily="18" charset="0"/>
              </a:rPr>
              <a:t>i</a:t>
            </a:r>
            <a:r>
              <a:rPr kumimoji="1" lang="en-US" altLang="zh-CN" b="1">
                <a:latin typeface="Times New Roman" pitchFamily="18" charset="0"/>
              </a:rPr>
              <a:t>)</a:t>
            </a:r>
            <a:r>
              <a:rPr kumimoji="1" lang="zh-CN" altLang="en-US" b="1">
                <a:latin typeface="Times New Roman" pitchFamily="18" charset="0"/>
              </a:rPr>
              <a:t>和</a:t>
            </a:r>
            <a:r>
              <a:rPr kumimoji="1" lang="en-US" altLang="zh-CN" b="1">
                <a:latin typeface="Times New Roman" pitchFamily="18" charset="0"/>
              </a:rPr>
              <a:t>(v</a:t>
            </a:r>
            <a:r>
              <a:rPr kumimoji="1" lang="en-US" altLang="zh-CN" b="1" baseline="-25000">
                <a:latin typeface="Times New Roman" pitchFamily="18" charset="0"/>
              </a:rPr>
              <a:t>k+1</a:t>
            </a:r>
            <a:r>
              <a:rPr kumimoji="1" lang="en-US" altLang="zh-CN" b="1">
                <a:latin typeface="Times New Roman" pitchFamily="18" charset="0"/>
              </a:rPr>
              <a:t>,v</a:t>
            </a:r>
            <a:r>
              <a:rPr kumimoji="1" lang="en-US" altLang="zh-CN" b="1" baseline="-25000">
                <a:latin typeface="Times New Roman" pitchFamily="18" charset="0"/>
              </a:rPr>
              <a:t>j</a:t>
            </a:r>
            <a:r>
              <a:rPr kumimoji="1" lang="en-US" altLang="zh-CN" b="1">
                <a:latin typeface="Times New Roman" pitchFamily="18" charset="0"/>
              </a:rPr>
              <a:t>)</a:t>
            </a:r>
            <a:r>
              <a:rPr kumimoji="1" lang="zh-CN" altLang="en-US" b="1">
                <a:latin typeface="Times New Roman" pitchFamily="18" charset="0"/>
              </a:rPr>
              <a:t>，而</a:t>
            </a:r>
            <a:r>
              <a:rPr kumimoji="1" lang="en-US" altLang="zh-CN" b="1">
                <a:latin typeface="Times New Roman" pitchFamily="18" charset="0"/>
              </a:rPr>
              <a:t>v</a:t>
            </a:r>
            <a:r>
              <a:rPr kumimoji="1" lang="en-US" altLang="zh-CN" b="1" baseline="-25000">
                <a:latin typeface="Times New Roman" pitchFamily="18" charset="0"/>
              </a:rPr>
              <a:t>i</a:t>
            </a:r>
            <a:r>
              <a:rPr kumimoji="1" lang="zh-CN" altLang="en-US" b="1">
                <a:latin typeface="Times New Roman" pitchFamily="18" charset="0"/>
              </a:rPr>
              <a:t>和</a:t>
            </a:r>
            <a:r>
              <a:rPr kumimoji="1" lang="en-US" altLang="zh-CN" b="1">
                <a:latin typeface="Times New Roman" pitchFamily="18" charset="0"/>
              </a:rPr>
              <a:t>v</a:t>
            </a:r>
            <a:r>
              <a:rPr kumimoji="1" lang="en-US" altLang="zh-CN" b="1" baseline="-25000">
                <a:latin typeface="Times New Roman" pitchFamily="18" charset="0"/>
              </a:rPr>
              <a:t>j</a:t>
            </a:r>
            <a:r>
              <a:rPr kumimoji="1" lang="zh-CN" altLang="en-US" b="1">
                <a:latin typeface="Times New Roman" pitchFamily="18" charset="0"/>
              </a:rPr>
              <a:t>在</a:t>
            </a:r>
            <a:r>
              <a:rPr kumimoji="1" lang="en-US" altLang="zh-CN" b="1">
                <a:latin typeface="Times New Roman" pitchFamily="18" charset="0"/>
              </a:rPr>
              <a:t>T</a:t>
            </a:r>
            <a:r>
              <a:rPr kumimoji="1" lang="en-US" altLang="zh-CN" b="1" baseline="-25000">
                <a:latin typeface="Times New Roman" pitchFamily="18" charset="0"/>
              </a:rPr>
              <a:t>k</a:t>
            </a:r>
            <a:r>
              <a:rPr kumimoji="1" lang="zh-CN" altLang="en-US" b="1">
                <a:latin typeface="Times New Roman" pitchFamily="18" charset="0"/>
              </a:rPr>
              <a:t>中是连通的，则</a:t>
            </a:r>
            <a:r>
              <a:rPr kumimoji="1" lang="en-US" altLang="zh-CN" b="1">
                <a:latin typeface="Times New Roman" pitchFamily="18" charset="0"/>
              </a:rPr>
              <a:t>v</a:t>
            </a:r>
            <a:r>
              <a:rPr kumimoji="1" lang="en-US" altLang="zh-CN" b="1" baseline="-25000">
                <a:latin typeface="Times New Roman" pitchFamily="18" charset="0"/>
              </a:rPr>
              <a:t>k+1</a:t>
            </a:r>
            <a:r>
              <a:rPr kumimoji="1" lang="zh-CN" altLang="en-US" b="1">
                <a:latin typeface="Times New Roman" pitchFamily="18" charset="0"/>
              </a:rPr>
              <a:t>，</a:t>
            </a:r>
            <a:r>
              <a:rPr kumimoji="1" lang="en-US" altLang="zh-CN" b="1">
                <a:latin typeface="Times New Roman" pitchFamily="18" charset="0"/>
              </a:rPr>
              <a:t>v</a:t>
            </a:r>
            <a:r>
              <a:rPr kumimoji="1" lang="en-US" altLang="zh-CN" b="1" baseline="-25000">
                <a:latin typeface="Times New Roman" pitchFamily="18" charset="0"/>
              </a:rPr>
              <a:t>i</a:t>
            </a:r>
            <a:r>
              <a:rPr kumimoji="1" lang="zh-CN" altLang="en-US" b="1">
                <a:latin typeface="Times New Roman" pitchFamily="18" charset="0"/>
              </a:rPr>
              <a:t>和</a:t>
            </a:r>
            <a:r>
              <a:rPr kumimoji="1" lang="en-US" altLang="zh-CN" b="1">
                <a:latin typeface="Times New Roman" pitchFamily="18" charset="0"/>
              </a:rPr>
              <a:t>v</a:t>
            </a:r>
            <a:r>
              <a:rPr kumimoji="1" lang="en-US" altLang="zh-CN" b="1" baseline="-25000">
                <a:latin typeface="Times New Roman" pitchFamily="18" charset="0"/>
              </a:rPr>
              <a:t>j</a:t>
            </a:r>
            <a:r>
              <a:rPr kumimoji="1" lang="zh-CN" altLang="en-US" b="1">
                <a:latin typeface="Times New Roman" pitchFamily="18" charset="0"/>
              </a:rPr>
              <a:t>三点在一个回路中，矛盾，即</a:t>
            </a:r>
            <a:r>
              <a:rPr kumimoji="1" lang="en-US" altLang="zh-CN" b="1">
                <a:latin typeface="Times New Roman" pitchFamily="18" charset="0"/>
              </a:rPr>
              <a:t>v</a:t>
            </a:r>
            <a:r>
              <a:rPr kumimoji="1" lang="en-US" altLang="zh-CN" b="1" baseline="-25000">
                <a:latin typeface="Times New Roman" pitchFamily="18" charset="0"/>
              </a:rPr>
              <a:t>k+1</a:t>
            </a:r>
            <a:r>
              <a:rPr kumimoji="1" lang="zh-CN" altLang="en-US" b="1">
                <a:latin typeface="Times New Roman" pitchFamily="18" charset="0"/>
              </a:rPr>
              <a:t>只能与</a:t>
            </a:r>
            <a:r>
              <a:rPr kumimoji="1" lang="en-US" altLang="zh-CN" b="1">
                <a:latin typeface="Times New Roman" pitchFamily="18" charset="0"/>
              </a:rPr>
              <a:t>T</a:t>
            </a:r>
            <a:r>
              <a:rPr kumimoji="1" lang="en-US" altLang="zh-CN" b="1" baseline="-25000">
                <a:latin typeface="Times New Roman" pitchFamily="18" charset="0"/>
              </a:rPr>
              <a:t>k</a:t>
            </a:r>
            <a:r>
              <a:rPr kumimoji="1" lang="zh-CN" altLang="en-US" b="1">
                <a:latin typeface="Times New Roman" pitchFamily="18" charset="0"/>
              </a:rPr>
              <a:t>有一个点相连，即</a:t>
            </a:r>
            <a:r>
              <a:rPr kumimoji="1" lang="en-US" altLang="zh-CN" b="1">
                <a:latin typeface="Times New Roman" pitchFamily="18" charset="0"/>
              </a:rPr>
              <a:t>v</a:t>
            </a:r>
            <a:r>
              <a:rPr kumimoji="1" lang="en-US" altLang="zh-CN" b="1" baseline="-25000">
                <a:latin typeface="Times New Roman" pitchFamily="18" charset="0"/>
              </a:rPr>
              <a:t>k+1</a:t>
            </a:r>
            <a:r>
              <a:rPr kumimoji="1" lang="en-US" altLang="zh-CN" b="1">
                <a:latin typeface="Times New Roman" pitchFamily="18" charset="0"/>
              </a:rPr>
              <a:t>=v</a:t>
            </a:r>
            <a:r>
              <a:rPr kumimoji="1" lang="en-US" altLang="zh-CN" b="1" baseline="-25000">
                <a:latin typeface="Times New Roman" pitchFamily="18" charset="0"/>
              </a:rPr>
              <a:t>k</a:t>
            </a:r>
            <a:r>
              <a:rPr kumimoji="1" lang="en-US" altLang="zh-CN" b="1">
                <a:latin typeface="Times New Roman" pitchFamily="18" charset="0"/>
              </a:rPr>
              <a:t>+1=k+1</a:t>
            </a:r>
            <a:r>
              <a:rPr kumimoji="1" lang="zh-CN" altLang="en-US" b="1">
                <a:latin typeface="Times New Roman" pitchFamily="18" charset="0"/>
              </a:rPr>
              <a:t>，</a:t>
            </a:r>
            <a:r>
              <a:rPr kumimoji="1" lang="en-US" altLang="zh-CN" b="1">
                <a:latin typeface="Times New Roman" pitchFamily="18" charset="0"/>
              </a:rPr>
              <a:t>e</a:t>
            </a:r>
            <a:r>
              <a:rPr kumimoji="1" lang="en-US" altLang="zh-CN" b="1" baseline="-25000">
                <a:latin typeface="Times New Roman" pitchFamily="18" charset="0"/>
              </a:rPr>
              <a:t>k+1</a:t>
            </a:r>
            <a:r>
              <a:rPr kumimoji="1" lang="en-US" altLang="zh-CN" b="1">
                <a:latin typeface="Times New Roman" pitchFamily="18" charset="0"/>
              </a:rPr>
              <a:t>=e</a:t>
            </a:r>
            <a:r>
              <a:rPr kumimoji="1" lang="en-US" altLang="zh-CN" b="1" baseline="-25000">
                <a:latin typeface="Times New Roman" pitchFamily="18" charset="0"/>
              </a:rPr>
              <a:t>k</a:t>
            </a:r>
            <a:r>
              <a:rPr kumimoji="1" lang="en-US" altLang="zh-CN" b="1">
                <a:latin typeface="Times New Roman" pitchFamily="18" charset="0"/>
              </a:rPr>
              <a:t>+1=(k-1)+1=k</a:t>
            </a:r>
            <a:r>
              <a:rPr kumimoji="1" lang="zh-CN" altLang="en-US" b="1">
                <a:latin typeface="Times New Roman" pitchFamily="18" charset="0"/>
              </a:rPr>
              <a:t>。</a:t>
            </a:r>
          </a:p>
          <a:p>
            <a:pPr algn="just" eaLnBrk="1" hangingPunct="1">
              <a:lnSpc>
                <a:spcPct val="130000"/>
              </a:lnSpc>
            </a:pPr>
            <a:r>
              <a:rPr kumimoji="1" lang="zh-CN" altLang="en-US" b="1">
                <a:latin typeface="Times New Roman" pitchFamily="18" charset="0"/>
              </a:rPr>
              <a:t>综合</a:t>
            </a:r>
            <a:r>
              <a:rPr kumimoji="1" lang="en-US" altLang="zh-CN" b="1">
                <a:latin typeface="Times New Roman" pitchFamily="18" charset="0"/>
              </a:rPr>
              <a:t>1)</a:t>
            </a:r>
            <a:r>
              <a:rPr kumimoji="1" lang="zh-CN" altLang="en-US" b="1">
                <a:latin typeface="Times New Roman" pitchFamily="18" charset="0"/>
              </a:rPr>
              <a:t>，</a:t>
            </a:r>
            <a:r>
              <a:rPr kumimoji="1" lang="en-US" altLang="zh-CN" b="1">
                <a:latin typeface="Times New Roman" pitchFamily="18" charset="0"/>
              </a:rPr>
              <a:t>2)</a:t>
            </a:r>
            <a:r>
              <a:rPr kumimoji="1" lang="zh-CN" altLang="en-US" b="1">
                <a:latin typeface="Times New Roman" pitchFamily="18" charset="0"/>
              </a:rPr>
              <a:t>，</a:t>
            </a:r>
            <a:r>
              <a:rPr kumimoji="1" lang="en-US" altLang="zh-CN" b="1">
                <a:latin typeface="Times New Roman" pitchFamily="18" charset="0"/>
              </a:rPr>
              <a:t>3)</a:t>
            </a:r>
            <a:r>
              <a:rPr kumimoji="1" lang="zh-CN" altLang="en-US" b="1">
                <a:latin typeface="Times New Roman" pitchFamily="18" charset="0"/>
              </a:rPr>
              <a:t>命题成立。</a:t>
            </a:r>
          </a:p>
        </p:txBody>
      </p:sp>
    </p:spTree>
    <p:extLst>
      <p:ext uri="{BB962C8B-B14F-4D97-AF65-F5344CB8AC3E}">
        <p14:creationId xmlns:p14="http://schemas.microsoft.com/office/powerpoint/2010/main" val="1980684789"/>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0659">
                                            <p:txEl>
                                              <p:pRg st="1" end="1"/>
                                            </p:txEl>
                                          </p:spTgt>
                                        </p:tgtEl>
                                        <p:attrNameLst>
                                          <p:attrName>style.visibility</p:attrName>
                                        </p:attrNameLst>
                                      </p:cBhvr>
                                      <p:to>
                                        <p:strVal val="visible"/>
                                      </p:to>
                                    </p:set>
                                    <p:anim calcmode="lin" valueType="num">
                                      <p:cBhvr additive="base">
                                        <p:cTn id="7" dur="500" fill="hold"/>
                                        <p:tgtEl>
                                          <p:spTgt spid="7065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06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0659">
                                            <p:txEl>
                                              <p:pRg st="2" end="2"/>
                                            </p:txEl>
                                          </p:spTgt>
                                        </p:tgtEl>
                                        <p:attrNameLst>
                                          <p:attrName>style.visibility</p:attrName>
                                        </p:attrNameLst>
                                      </p:cBhvr>
                                      <p:to>
                                        <p:strVal val="visible"/>
                                      </p:to>
                                    </p:set>
                                    <p:anim calcmode="lin" valueType="num">
                                      <p:cBhvr additive="base">
                                        <p:cTn id="13" dur="500" fill="hold"/>
                                        <p:tgtEl>
                                          <p:spTgt spid="7065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06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0659">
                                            <p:txEl>
                                              <p:pRg st="3" end="3"/>
                                            </p:txEl>
                                          </p:spTgt>
                                        </p:tgtEl>
                                        <p:attrNameLst>
                                          <p:attrName>style.visibility</p:attrName>
                                        </p:attrNameLst>
                                      </p:cBhvr>
                                      <p:to>
                                        <p:strVal val="visible"/>
                                      </p:to>
                                    </p:set>
                                    <p:anim calcmode="lin" valueType="num">
                                      <p:cBhvr additive="base">
                                        <p:cTn id="19" dur="500" fill="hold"/>
                                        <p:tgtEl>
                                          <p:spTgt spid="7065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065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0659">
                                            <p:txEl>
                                              <p:pRg st="4" end="4"/>
                                            </p:txEl>
                                          </p:spTgt>
                                        </p:tgtEl>
                                        <p:attrNameLst>
                                          <p:attrName>style.visibility</p:attrName>
                                        </p:attrNameLst>
                                      </p:cBhvr>
                                      <p:to>
                                        <p:strVal val="visible"/>
                                      </p:to>
                                    </p:set>
                                    <p:anim calcmode="lin" valueType="num">
                                      <p:cBhvr additive="base">
                                        <p:cTn id="25" dur="500" fill="hold"/>
                                        <p:tgtEl>
                                          <p:spTgt spid="7065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065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pPr>
              <a:defRPr/>
            </a:pPr>
            <a:fld id="{1590AAC7-5422-4F22-B220-1BC4CD0FEDD4}" type="slidenum">
              <a:rPr lang="en-US" altLang="zh-CN"/>
              <a:pPr>
                <a:defRPr/>
              </a:pPr>
              <a:t>92</a:t>
            </a:fld>
            <a:endParaRPr lang="en-US" altLang="zh-CN"/>
          </a:p>
        </p:txBody>
      </p:sp>
      <p:sp>
        <p:nvSpPr>
          <p:cNvPr id="71684" name="Text Box 4"/>
          <p:cNvSpPr txBox="1">
            <a:spLocks noChangeArrowheads="1"/>
          </p:cNvSpPr>
          <p:nvPr/>
        </p:nvSpPr>
        <p:spPr bwMode="auto">
          <a:xfrm>
            <a:off x="466725" y="1196975"/>
            <a:ext cx="8277225" cy="2465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lang="en-US" altLang="zh-CN" b="1">
                <a:solidFill>
                  <a:srgbClr val="008000"/>
                </a:solidFill>
                <a:latin typeface="Times New Roman" pitchFamily="18" charset="0"/>
              </a:rPr>
              <a:t>(2)</a:t>
            </a:r>
            <a:r>
              <a:rPr lang="zh-CN" altLang="en-US" b="1">
                <a:solidFill>
                  <a:srgbClr val="008000"/>
                </a:solidFill>
                <a:latin typeface="Times New Roman" pitchFamily="18" charset="0"/>
              </a:rPr>
              <a:t>无</a:t>
            </a:r>
            <a:r>
              <a:rPr kumimoji="1" lang="zh-CN" altLang="en-US" b="1">
                <a:solidFill>
                  <a:srgbClr val="008000"/>
                </a:solidFill>
                <a:latin typeface="Times New Roman" pitchFamily="18" charset="0"/>
              </a:rPr>
              <a:t>回路且</a:t>
            </a:r>
            <a:r>
              <a:rPr kumimoji="1" lang="en-US" altLang="zh-CN" b="1">
                <a:solidFill>
                  <a:srgbClr val="008000"/>
                </a:solidFill>
                <a:latin typeface="Times New Roman" pitchFamily="18" charset="0"/>
              </a:rPr>
              <a:t>e=v-1</a:t>
            </a:r>
            <a:r>
              <a:rPr kumimoji="1" lang="zh-CN" altLang="en-US" b="1">
                <a:solidFill>
                  <a:srgbClr val="008000"/>
                </a:solidFill>
                <a:latin typeface="Times New Roman" pitchFamily="18" charset="0"/>
              </a:rPr>
              <a:t>，其中</a:t>
            </a:r>
            <a:r>
              <a:rPr kumimoji="1" lang="en-US" altLang="zh-CN" b="1">
                <a:solidFill>
                  <a:srgbClr val="008000"/>
                </a:solidFill>
                <a:latin typeface="Times New Roman" pitchFamily="18" charset="0"/>
              </a:rPr>
              <a:t>e</a:t>
            </a:r>
            <a:r>
              <a:rPr kumimoji="1" lang="zh-CN" altLang="en-US" b="1">
                <a:solidFill>
                  <a:srgbClr val="008000"/>
                </a:solidFill>
                <a:latin typeface="Times New Roman" pitchFamily="18" charset="0"/>
              </a:rPr>
              <a:t>是边数，</a:t>
            </a:r>
            <a:r>
              <a:rPr kumimoji="1" lang="en-US" altLang="zh-CN" b="1">
                <a:solidFill>
                  <a:srgbClr val="008000"/>
                </a:solidFill>
                <a:latin typeface="Times New Roman" pitchFamily="18" charset="0"/>
              </a:rPr>
              <a:t>v</a:t>
            </a:r>
            <a:r>
              <a:rPr kumimoji="1" lang="zh-CN" altLang="en-US" b="1">
                <a:solidFill>
                  <a:srgbClr val="008000"/>
                </a:solidFill>
                <a:latin typeface="Times New Roman" pitchFamily="18" charset="0"/>
              </a:rPr>
              <a:t>是结点数</a:t>
            </a:r>
            <a:r>
              <a:rPr kumimoji="1" lang="zh-CN" altLang="en-US" b="1">
                <a:solidFill>
                  <a:srgbClr val="008000"/>
                </a:solidFill>
                <a:latin typeface="Times New Roman" pitchFamily="18" charset="0"/>
                <a:sym typeface="Symbol" pitchFamily="18" charset="2"/>
              </a:rPr>
              <a:t></a:t>
            </a:r>
            <a:r>
              <a:rPr kumimoji="1" lang="en-US" altLang="zh-CN" b="1">
                <a:solidFill>
                  <a:srgbClr val="008000"/>
                </a:solidFill>
                <a:latin typeface="Times New Roman" pitchFamily="18" charset="0"/>
              </a:rPr>
              <a:t>(3)</a:t>
            </a:r>
            <a:r>
              <a:rPr kumimoji="1" lang="zh-CN" altLang="en-US" b="1">
                <a:solidFill>
                  <a:srgbClr val="008000"/>
                </a:solidFill>
                <a:latin typeface="Times New Roman" pitchFamily="18" charset="0"/>
              </a:rPr>
              <a:t>连通且</a:t>
            </a:r>
            <a:r>
              <a:rPr kumimoji="1" lang="en-US" altLang="zh-CN" b="1">
                <a:solidFill>
                  <a:srgbClr val="008000"/>
                </a:solidFill>
                <a:latin typeface="Times New Roman" pitchFamily="18" charset="0"/>
              </a:rPr>
              <a:t>e=v-1</a:t>
            </a:r>
            <a:r>
              <a:rPr kumimoji="1" lang="zh-CN" altLang="en-US" b="1">
                <a:solidFill>
                  <a:srgbClr val="008000"/>
                </a:solidFill>
                <a:latin typeface="Times New Roman" pitchFamily="18" charset="0"/>
              </a:rPr>
              <a:t>。</a:t>
            </a:r>
            <a:endParaRPr kumimoji="1" lang="zh-CN" altLang="en-US" b="1">
              <a:latin typeface="Times New Roman" pitchFamily="18" charset="0"/>
            </a:endParaRPr>
          </a:p>
          <a:p>
            <a:pPr algn="just" eaLnBrk="1" hangingPunct="1">
              <a:lnSpc>
                <a:spcPct val="130000"/>
              </a:lnSpc>
            </a:pPr>
            <a:r>
              <a:rPr kumimoji="1" lang="zh-CN" altLang="en-US" b="1">
                <a:latin typeface="Times New Roman" pitchFamily="18" charset="0"/>
              </a:rPr>
              <a:t>设</a:t>
            </a:r>
            <a:r>
              <a:rPr kumimoji="1" lang="en-US" altLang="zh-CN" b="1">
                <a:latin typeface="Times New Roman" pitchFamily="18" charset="0"/>
              </a:rPr>
              <a:t>T</a:t>
            </a:r>
            <a:r>
              <a:rPr kumimoji="1" lang="zh-CN" altLang="en-US" b="1">
                <a:latin typeface="Times New Roman" pitchFamily="18" charset="0"/>
              </a:rPr>
              <a:t>有</a:t>
            </a:r>
            <a:r>
              <a:rPr kumimoji="1" lang="en-US" altLang="zh-CN" b="1">
                <a:latin typeface="Times New Roman" pitchFamily="18" charset="0"/>
              </a:rPr>
              <a:t>k</a:t>
            </a:r>
            <a:r>
              <a:rPr kumimoji="1" lang="zh-CN" altLang="en-US" b="1">
                <a:latin typeface="Times New Roman" pitchFamily="18" charset="0"/>
              </a:rPr>
              <a:t>个连通分支，每一连通分支有</a:t>
            </a:r>
            <a:r>
              <a:rPr kumimoji="1" lang="en-US" altLang="zh-CN" b="1">
                <a:latin typeface="Times New Roman" pitchFamily="18" charset="0"/>
              </a:rPr>
              <a:t>v</a:t>
            </a:r>
            <a:r>
              <a:rPr kumimoji="1" lang="en-US" altLang="zh-CN" b="1" baseline="-25000">
                <a:latin typeface="Times New Roman" pitchFamily="18" charset="0"/>
              </a:rPr>
              <a:t>i</a:t>
            </a:r>
            <a:r>
              <a:rPr kumimoji="1" lang="zh-CN" altLang="en-US" b="1">
                <a:latin typeface="Times New Roman" pitchFamily="18" charset="0"/>
              </a:rPr>
              <a:t>个结点，因每一连通分支有</a:t>
            </a:r>
            <a:r>
              <a:rPr kumimoji="1" lang="en-US" altLang="zh-CN" b="1">
                <a:latin typeface="Times New Roman" pitchFamily="18" charset="0"/>
              </a:rPr>
              <a:t>v</a:t>
            </a:r>
            <a:r>
              <a:rPr kumimoji="1" lang="en-US" altLang="zh-CN" b="1" baseline="-25000">
                <a:latin typeface="Times New Roman" pitchFamily="18" charset="0"/>
              </a:rPr>
              <a:t>i</a:t>
            </a:r>
            <a:r>
              <a:rPr kumimoji="1" lang="en-US" altLang="zh-CN" b="1">
                <a:latin typeface="Times New Roman" pitchFamily="18" charset="0"/>
              </a:rPr>
              <a:t>-1</a:t>
            </a:r>
            <a:r>
              <a:rPr kumimoji="1" lang="zh-CN" altLang="en-US" b="1">
                <a:latin typeface="Times New Roman" pitchFamily="18" charset="0"/>
              </a:rPr>
              <a:t>条边，所以</a:t>
            </a:r>
            <a:r>
              <a:rPr kumimoji="1" lang="en-US" altLang="zh-CN" b="1">
                <a:latin typeface="Times New Roman" pitchFamily="18" charset="0"/>
              </a:rPr>
              <a:t>e=(v</a:t>
            </a:r>
            <a:r>
              <a:rPr kumimoji="1" lang="en-US" altLang="zh-CN" b="1" baseline="-25000">
                <a:latin typeface="Times New Roman" pitchFamily="18" charset="0"/>
              </a:rPr>
              <a:t>1</a:t>
            </a:r>
            <a:r>
              <a:rPr kumimoji="1" lang="en-US" altLang="zh-CN" b="1">
                <a:latin typeface="Times New Roman" pitchFamily="18" charset="0"/>
              </a:rPr>
              <a:t>-1)+(v</a:t>
            </a:r>
            <a:r>
              <a:rPr kumimoji="1" lang="en-US" altLang="zh-CN" b="1" baseline="-25000">
                <a:latin typeface="Times New Roman" pitchFamily="18" charset="0"/>
              </a:rPr>
              <a:t>2</a:t>
            </a:r>
            <a:r>
              <a:rPr kumimoji="1" lang="en-US" altLang="zh-CN" b="1">
                <a:latin typeface="Times New Roman" pitchFamily="18" charset="0"/>
              </a:rPr>
              <a:t>-1)+…+(v</a:t>
            </a:r>
            <a:r>
              <a:rPr kumimoji="1" lang="en-US" altLang="zh-CN" b="1" baseline="-25000">
                <a:latin typeface="Times New Roman" pitchFamily="18" charset="0"/>
              </a:rPr>
              <a:t>k</a:t>
            </a:r>
            <a:r>
              <a:rPr kumimoji="1" lang="en-US" altLang="zh-CN" b="1">
                <a:latin typeface="Times New Roman" pitchFamily="18" charset="0"/>
              </a:rPr>
              <a:t>-1)=v-k</a:t>
            </a:r>
            <a:r>
              <a:rPr kumimoji="1" lang="zh-CN" altLang="en-US" b="1">
                <a:latin typeface="Times New Roman" pitchFamily="18" charset="0"/>
              </a:rPr>
              <a:t>，</a:t>
            </a:r>
          </a:p>
          <a:p>
            <a:pPr algn="just" eaLnBrk="1" hangingPunct="1">
              <a:lnSpc>
                <a:spcPct val="130000"/>
              </a:lnSpc>
            </a:pPr>
            <a:r>
              <a:rPr kumimoji="1" lang="zh-CN" altLang="en-US" b="1">
                <a:latin typeface="Times New Roman" pitchFamily="18" charset="0"/>
              </a:rPr>
              <a:t>因</a:t>
            </a:r>
            <a:r>
              <a:rPr kumimoji="1" lang="en-US" altLang="zh-CN" b="1">
                <a:latin typeface="Times New Roman" pitchFamily="18" charset="0"/>
              </a:rPr>
              <a:t>e=v-1</a:t>
            </a:r>
            <a:r>
              <a:rPr kumimoji="1" lang="zh-CN" altLang="en-US" b="1">
                <a:latin typeface="Times New Roman" pitchFamily="18" charset="0"/>
              </a:rPr>
              <a:t>，即</a:t>
            </a:r>
            <a:r>
              <a:rPr kumimoji="1" lang="en-US" altLang="zh-CN" b="1">
                <a:latin typeface="Times New Roman" pitchFamily="18" charset="0"/>
              </a:rPr>
              <a:t>k=1</a:t>
            </a:r>
            <a:r>
              <a:rPr kumimoji="1" lang="zh-CN" altLang="en-US" b="1">
                <a:latin typeface="Times New Roman" pitchFamily="18" charset="0"/>
              </a:rPr>
              <a:t>。</a:t>
            </a:r>
          </a:p>
        </p:txBody>
      </p:sp>
      <p:sp>
        <p:nvSpPr>
          <p:cNvPr id="71685" name="Text Box 5"/>
          <p:cNvSpPr txBox="1">
            <a:spLocks noChangeArrowheads="1"/>
          </p:cNvSpPr>
          <p:nvPr/>
        </p:nvSpPr>
        <p:spPr bwMode="auto">
          <a:xfrm>
            <a:off x="466725" y="3644900"/>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en-US" altLang="zh-CN" b="1">
                <a:solidFill>
                  <a:srgbClr val="008000"/>
                </a:solidFill>
                <a:latin typeface="Times New Roman" pitchFamily="18" charset="0"/>
              </a:rPr>
              <a:t>(3)</a:t>
            </a:r>
            <a:r>
              <a:rPr kumimoji="1" lang="zh-CN" altLang="en-US" b="1">
                <a:solidFill>
                  <a:srgbClr val="008000"/>
                </a:solidFill>
                <a:latin typeface="Times New Roman" pitchFamily="18" charset="0"/>
              </a:rPr>
              <a:t>连通且</a:t>
            </a:r>
            <a:r>
              <a:rPr kumimoji="1" lang="en-US" altLang="zh-CN" b="1">
                <a:solidFill>
                  <a:srgbClr val="008000"/>
                </a:solidFill>
                <a:latin typeface="Times New Roman" pitchFamily="18" charset="0"/>
              </a:rPr>
              <a:t>e=v-1</a:t>
            </a:r>
            <a:r>
              <a:rPr kumimoji="1" lang="en-US" altLang="zh-CN" b="1">
                <a:solidFill>
                  <a:srgbClr val="008000"/>
                </a:solidFill>
                <a:latin typeface="Times New Roman" pitchFamily="18" charset="0"/>
                <a:sym typeface="Symbol" pitchFamily="18" charset="2"/>
              </a:rPr>
              <a:t></a:t>
            </a:r>
            <a:r>
              <a:rPr kumimoji="1" lang="en-US" altLang="zh-CN" b="1">
                <a:solidFill>
                  <a:srgbClr val="008000"/>
                </a:solidFill>
                <a:latin typeface="Times New Roman" pitchFamily="18" charset="0"/>
              </a:rPr>
              <a:t>(4)</a:t>
            </a:r>
            <a:r>
              <a:rPr kumimoji="1" lang="zh-CN" altLang="en-US" b="1">
                <a:solidFill>
                  <a:srgbClr val="008000"/>
                </a:solidFill>
                <a:latin typeface="Times New Roman" pitchFamily="18" charset="0"/>
              </a:rPr>
              <a:t>连通，但删除任一边后便不连通。</a:t>
            </a:r>
          </a:p>
          <a:p>
            <a:pPr algn="just" eaLnBrk="1" hangingPunct="1">
              <a:lnSpc>
                <a:spcPct val="130000"/>
              </a:lnSpc>
            </a:pPr>
            <a:r>
              <a:rPr kumimoji="1" lang="zh-CN" altLang="en-US" b="1">
                <a:latin typeface="Times New Roman" pitchFamily="18" charset="0"/>
              </a:rPr>
              <a:t>删掉图中任意一条边，边数为</a:t>
            </a:r>
            <a:r>
              <a:rPr kumimoji="1" lang="en-US" altLang="zh-CN" b="1">
                <a:latin typeface="Times New Roman" pitchFamily="18" charset="0"/>
              </a:rPr>
              <a:t>v-2</a:t>
            </a:r>
            <a:r>
              <a:rPr kumimoji="1" lang="zh-CN" altLang="en-US" b="1">
                <a:latin typeface="Times New Roman" pitchFamily="18" charset="0"/>
              </a:rPr>
              <a:t>，而有</a:t>
            </a:r>
            <a:r>
              <a:rPr kumimoji="1" lang="en-US" altLang="zh-CN" b="1">
                <a:latin typeface="Times New Roman" pitchFamily="18" charset="0"/>
              </a:rPr>
              <a:t>v</a:t>
            </a:r>
            <a:r>
              <a:rPr kumimoji="1" lang="zh-CN" altLang="en-US" b="1">
                <a:latin typeface="Times New Roman" pitchFamily="18" charset="0"/>
              </a:rPr>
              <a:t>个点。对于</a:t>
            </a:r>
            <a:r>
              <a:rPr kumimoji="1" lang="en-US" altLang="zh-CN" b="1">
                <a:latin typeface="Times New Roman" pitchFamily="18" charset="0"/>
              </a:rPr>
              <a:t>n</a:t>
            </a:r>
            <a:r>
              <a:rPr kumimoji="1" lang="zh-CN" altLang="en-US" b="1">
                <a:latin typeface="Times New Roman" pitchFamily="18" charset="0"/>
              </a:rPr>
              <a:t>个结点的图至少要有</a:t>
            </a:r>
            <a:r>
              <a:rPr kumimoji="1" lang="en-US" altLang="zh-CN" b="1">
                <a:latin typeface="Times New Roman" pitchFamily="18" charset="0"/>
              </a:rPr>
              <a:t>n-1</a:t>
            </a:r>
            <a:r>
              <a:rPr kumimoji="1" lang="zh-CN" altLang="en-US" b="1">
                <a:latin typeface="Times New Roman" pitchFamily="18" charset="0"/>
              </a:rPr>
              <a:t>一条边才能连通。</a:t>
            </a:r>
          </a:p>
        </p:txBody>
      </p:sp>
    </p:spTree>
    <p:extLst>
      <p:ext uri="{BB962C8B-B14F-4D97-AF65-F5344CB8AC3E}">
        <p14:creationId xmlns:p14="http://schemas.microsoft.com/office/powerpoint/2010/main" val="707411616"/>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1684">
                                            <p:txEl>
                                              <p:pRg st="1" end="1"/>
                                            </p:txEl>
                                          </p:spTgt>
                                        </p:tgtEl>
                                        <p:attrNameLst>
                                          <p:attrName>style.visibility</p:attrName>
                                        </p:attrNameLst>
                                      </p:cBhvr>
                                      <p:to>
                                        <p:strVal val="visible"/>
                                      </p:to>
                                    </p:set>
                                    <p:anim calcmode="lin" valueType="num">
                                      <p:cBhvr additive="base">
                                        <p:cTn id="7" dur="500" fill="hold"/>
                                        <p:tgtEl>
                                          <p:spTgt spid="7168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168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1684">
                                            <p:txEl>
                                              <p:pRg st="2" end="2"/>
                                            </p:txEl>
                                          </p:spTgt>
                                        </p:tgtEl>
                                        <p:attrNameLst>
                                          <p:attrName>style.visibility</p:attrName>
                                        </p:attrNameLst>
                                      </p:cBhvr>
                                      <p:to>
                                        <p:strVal val="visible"/>
                                      </p:to>
                                    </p:set>
                                    <p:anim calcmode="lin" valueType="num">
                                      <p:cBhvr additive="base">
                                        <p:cTn id="13" dur="500" fill="hold"/>
                                        <p:tgtEl>
                                          <p:spTgt spid="7168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68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1685">
                                            <p:txEl>
                                              <p:pRg st="0" end="0"/>
                                            </p:txEl>
                                          </p:spTgt>
                                        </p:tgtEl>
                                        <p:attrNameLst>
                                          <p:attrName>style.visibility</p:attrName>
                                        </p:attrNameLst>
                                      </p:cBhvr>
                                      <p:to>
                                        <p:strVal val="visible"/>
                                      </p:to>
                                    </p:set>
                                    <p:anim calcmode="lin" valueType="num">
                                      <p:cBhvr additive="base">
                                        <p:cTn id="19" dur="500" fill="hold"/>
                                        <p:tgtEl>
                                          <p:spTgt spid="7168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168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1685">
                                            <p:txEl>
                                              <p:pRg st="1" end="1"/>
                                            </p:txEl>
                                          </p:spTgt>
                                        </p:tgtEl>
                                        <p:attrNameLst>
                                          <p:attrName>style.visibility</p:attrName>
                                        </p:attrNameLst>
                                      </p:cBhvr>
                                      <p:to>
                                        <p:strVal val="visible"/>
                                      </p:to>
                                    </p:set>
                                    <p:anim calcmode="lin" valueType="num">
                                      <p:cBhvr additive="base">
                                        <p:cTn id="25" dur="500" fill="hold"/>
                                        <p:tgtEl>
                                          <p:spTgt spid="71685">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1685">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pPr>
              <a:defRPr/>
            </a:pPr>
            <a:fld id="{83907054-DE28-46DD-A8B4-63B5C2DDF4B2}" type="slidenum">
              <a:rPr lang="en-US" altLang="zh-CN"/>
              <a:pPr>
                <a:defRPr/>
              </a:pPr>
              <a:t>93</a:t>
            </a:fld>
            <a:endParaRPr lang="en-US" altLang="zh-CN"/>
          </a:p>
        </p:txBody>
      </p:sp>
      <p:sp>
        <p:nvSpPr>
          <p:cNvPr id="72709" name="Text Box 5"/>
          <p:cNvSpPr txBox="1">
            <a:spLocks noChangeArrowheads="1"/>
          </p:cNvSpPr>
          <p:nvPr/>
        </p:nvSpPr>
        <p:spPr bwMode="auto">
          <a:xfrm>
            <a:off x="466725" y="1071563"/>
            <a:ext cx="8277225" cy="250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10000"/>
              </a:lnSpc>
            </a:pPr>
            <a:r>
              <a:rPr kumimoji="1" lang="en-US" altLang="zh-CN" b="1">
                <a:solidFill>
                  <a:srgbClr val="008000"/>
                </a:solidFill>
                <a:latin typeface="Times New Roman" pitchFamily="18" charset="0"/>
              </a:rPr>
              <a:t>(4)</a:t>
            </a:r>
            <a:r>
              <a:rPr kumimoji="1" lang="zh-CN" altLang="en-US" b="1">
                <a:solidFill>
                  <a:srgbClr val="008000"/>
                </a:solidFill>
                <a:latin typeface="Times New Roman" pitchFamily="18" charset="0"/>
              </a:rPr>
              <a:t>连通，但删除任一边后便不连通</a:t>
            </a:r>
            <a:r>
              <a:rPr kumimoji="1" lang="zh-CN" altLang="en-US" b="1">
                <a:solidFill>
                  <a:srgbClr val="008000"/>
                </a:solidFill>
                <a:latin typeface="Times New Roman" pitchFamily="18" charset="0"/>
                <a:sym typeface="Symbol" pitchFamily="18" charset="2"/>
              </a:rPr>
              <a:t></a:t>
            </a:r>
            <a:r>
              <a:rPr kumimoji="1" lang="en-US" altLang="zh-CN" b="1">
                <a:solidFill>
                  <a:srgbClr val="008000"/>
                </a:solidFill>
                <a:latin typeface="Times New Roman" pitchFamily="18" charset="0"/>
              </a:rPr>
              <a:t>(5)</a:t>
            </a:r>
            <a:r>
              <a:rPr kumimoji="1" lang="zh-CN" altLang="en-US" b="1">
                <a:solidFill>
                  <a:srgbClr val="008000"/>
                </a:solidFill>
              </a:rPr>
              <a:t>无回路，但增加一条新边，得到一个且仅一个回路。</a:t>
            </a:r>
          </a:p>
          <a:p>
            <a:pPr algn="just" eaLnBrk="1" hangingPunct="1">
              <a:lnSpc>
                <a:spcPct val="110000"/>
              </a:lnSpc>
            </a:pPr>
            <a:r>
              <a:rPr kumimoji="1" lang="zh-CN" altLang="en-US" b="1">
                <a:latin typeface="Times New Roman" pitchFamily="18" charset="0"/>
              </a:rPr>
              <a:t>假设有回路，则删除在回路上的任意一条边，图还是连通的，矛盾。即没有回路。若加任一边</a:t>
            </a:r>
            <a:r>
              <a:rPr kumimoji="1" lang="en-US" altLang="zh-CN" b="1">
                <a:latin typeface="Times New Roman" pitchFamily="18" charset="0"/>
              </a:rPr>
              <a:t>(v</a:t>
            </a:r>
            <a:r>
              <a:rPr kumimoji="1" lang="en-US" altLang="zh-CN" b="1" baseline="-25000">
                <a:latin typeface="Times New Roman" pitchFamily="18" charset="0"/>
              </a:rPr>
              <a:t>i</a:t>
            </a:r>
            <a:r>
              <a:rPr kumimoji="1" lang="en-US" altLang="zh-CN" b="1">
                <a:latin typeface="Times New Roman" pitchFamily="18" charset="0"/>
              </a:rPr>
              <a:t>,v</a:t>
            </a:r>
            <a:r>
              <a:rPr kumimoji="1" lang="en-US" altLang="zh-CN" b="1" baseline="-25000">
                <a:latin typeface="Times New Roman" pitchFamily="18" charset="0"/>
              </a:rPr>
              <a:t>j</a:t>
            </a:r>
            <a:r>
              <a:rPr kumimoji="1" lang="en-US" altLang="zh-CN" b="1">
                <a:latin typeface="Times New Roman" pitchFamily="18" charset="0"/>
              </a:rPr>
              <a:t>)</a:t>
            </a:r>
            <a:r>
              <a:rPr kumimoji="1" lang="zh-CN" altLang="en-US" b="1">
                <a:latin typeface="Times New Roman" pitchFamily="18" charset="0"/>
              </a:rPr>
              <a:t>构成回路，因为图连通的即</a:t>
            </a:r>
            <a:r>
              <a:rPr kumimoji="1" lang="en-US" altLang="zh-CN" b="1">
                <a:latin typeface="Times New Roman" pitchFamily="18" charset="0"/>
              </a:rPr>
              <a:t>v</a:t>
            </a:r>
            <a:r>
              <a:rPr kumimoji="1" lang="en-US" altLang="zh-CN" b="1" baseline="-25000">
                <a:latin typeface="Times New Roman" pitchFamily="18" charset="0"/>
              </a:rPr>
              <a:t>i</a:t>
            </a:r>
            <a:r>
              <a:rPr kumimoji="1" lang="zh-CN" altLang="en-US" b="1">
                <a:latin typeface="Times New Roman" pitchFamily="18" charset="0"/>
              </a:rPr>
              <a:t>和</a:t>
            </a:r>
            <a:r>
              <a:rPr kumimoji="1" lang="en-US" altLang="zh-CN" b="1">
                <a:latin typeface="Times New Roman" pitchFamily="18" charset="0"/>
              </a:rPr>
              <a:t>v</a:t>
            </a:r>
            <a:r>
              <a:rPr kumimoji="1" lang="en-US" altLang="zh-CN" b="1" baseline="-25000">
                <a:latin typeface="Times New Roman" pitchFamily="18" charset="0"/>
              </a:rPr>
              <a:t>j</a:t>
            </a:r>
            <a:r>
              <a:rPr kumimoji="1" lang="zh-CN" altLang="en-US" b="1">
                <a:latin typeface="Times New Roman" pitchFamily="18" charset="0"/>
              </a:rPr>
              <a:t>间有路。若回路不唯一，则说明</a:t>
            </a:r>
            <a:r>
              <a:rPr kumimoji="1" lang="en-US" altLang="zh-CN" b="1">
                <a:latin typeface="Times New Roman" pitchFamily="18" charset="0"/>
              </a:rPr>
              <a:t>v</a:t>
            </a:r>
            <a:r>
              <a:rPr kumimoji="1" lang="en-US" altLang="zh-CN" b="1" baseline="-25000">
                <a:latin typeface="Times New Roman" pitchFamily="18" charset="0"/>
              </a:rPr>
              <a:t>i</a:t>
            </a:r>
            <a:r>
              <a:rPr kumimoji="1" lang="zh-CN" altLang="en-US" b="1">
                <a:latin typeface="Times New Roman" pitchFamily="18" charset="0"/>
              </a:rPr>
              <a:t>和</a:t>
            </a:r>
            <a:r>
              <a:rPr kumimoji="1" lang="en-US" altLang="zh-CN" b="1">
                <a:latin typeface="Times New Roman" pitchFamily="18" charset="0"/>
              </a:rPr>
              <a:t>v</a:t>
            </a:r>
            <a:r>
              <a:rPr kumimoji="1" lang="en-US" altLang="zh-CN" b="1" baseline="-25000">
                <a:latin typeface="Times New Roman" pitchFamily="18" charset="0"/>
              </a:rPr>
              <a:t>j</a:t>
            </a:r>
            <a:r>
              <a:rPr kumimoji="1" lang="zh-CN" altLang="en-US" b="1">
                <a:latin typeface="Times New Roman" pitchFamily="18" charset="0"/>
              </a:rPr>
              <a:t>间有两条路，则去掉新边原图中仍有回路，矛盾。</a:t>
            </a:r>
          </a:p>
        </p:txBody>
      </p:sp>
      <p:sp>
        <p:nvSpPr>
          <p:cNvPr id="72710" name="Text Box 6"/>
          <p:cNvSpPr txBox="1">
            <a:spLocks noChangeArrowheads="1"/>
          </p:cNvSpPr>
          <p:nvPr/>
        </p:nvSpPr>
        <p:spPr bwMode="auto">
          <a:xfrm>
            <a:off x="466725" y="3602038"/>
            <a:ext cx="8277225"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10000"/>
              </a:lnSpc>
            </a:pPr>
            <a:r>
              <a:rPr lang="en-US" altLang="zh-CN" b="1">
                <a:solidFill>
                  <a:srgbClr val="008000"/>
                </a:solidFill>
                <a:latin typeface="Times New Roman" pitchFamily="18" charset="0"/>
              </a:rPr>
              <a:t>(5)</a:t>
            </a:r>
            <a:r>
              <a:rPr kumimoji="1" lang="zh-CN" altLang="en-US" b="1">
                <a:solidFill>
                  <a:srgbClr val="008000"/>
                </a:solidFill>
              </a:rPr>
              <a:t>无回路，但增加一条新边，得到一个且仅一个回路</a:t>
            </a:r>
            <a:r>
              <a:rPr kumimoji="1" lang="zh-CN" altLang="en-US" b="1">
                <a:solidFill>
                  <a:srgbClr val="008000"/>
                </a:solidFill>
                <a:latin typeface="Times New Roman" pitchFamily="18" charset="0"/>
                <a:sym typeface="Symbol" pitchFamily="18" charset="2"/>
              </a:rPr>
              <a:t></a:t>
            </a:r>
            <a:r>
              <a:rPr kumimoji="1" lang="en-US" altLang="zh-CN" b="1">
                <a:solidFill>
                  <a:srgbClr val="008000"/>
                </a:solidFill>
                <a:latin typeface="Times New Roman" pitchFamily="18" charset="0"/>
                <a:sym typeface="Symbol" pitchFamily="18" charset="2"/>
              </a:rPr>
              <a:t>(6)</a:t>
            </a:r>
            <a:r>
              <a:rPr kumimoji="1" lang="zh-CN" altLang="en-US" b="1">
                <a:solidFill>
                  <a:srgbClr val="008000"/>
                </a:solidFill>
                <a:latin typeface="Times New Roman" pitchFamily="18" charset="0"/>
              </a:rPr>
              <a:t>每一对结点之间有一条且仅有一条路。</a:t>
            </a:r>
          </a:p>
          <a:p>
            <a:pPr algn="just" eaLnBrk="1" hangingPunct="1">
              <a:lnSpc>
                <a:spcPct val="110000"/>
              </a:lnSpc>
            </a:pPr>
            <a:r>
              <a:rPr kumimoji="1" lang="zh-CN" altLang="en-US" b="1">
                <a:latin typeface="Times New Roman" pitchFamily="18" charset="0"/>
              </a:rPr>
              <a:t>任加一边</a:t>
            </a:r>
            <a:r>
              <a:rPr kumimoji="1" lang="en-US" altLang="zh-CN" b="1">
                <a:latin typeface="Times New Roman" pitchFamily="18" charset="0"/>
              </a:rPr>
              <a:t>(v</a:t>
            </a:r>
            <a:r>
              <a:rPr kumimoji="1" lang="en-US" altLang="zh-CN" b="1" baseline="-25000">
                <a:latin typeface="Times New Roman" pitchFamily="18" charset="0"/>
              </a:rPr>
              <a:t>i</a:t>
            </a:r>
            <a:r>
              <a:rPr kumimoji="1" lang="en-US" altLang="zh-CN" b="1">
                <a:latin typeface="Times New Roman" pitchFamily="18" charset="0"/>
              </a:rPr>
              <a:t>,v</a:t>
            </a:r>
            <a:r>
              <a:rPr kumimoji="1" lang="en-US" altLang="zh-CN" b="1" baseline="-25000">
                <a:latin typeface="Times New Roman" pitchFamily="18" charset="0"/>
              </a:rPr>
              <a:t>j</a:t>
            </a:r>
            <a:r>
              <a:rPr kumimoji="1" lang="en-US" altLang="zh-CN" b="1">
                <a:latin typeface="Times New Roman" pitchFamily="18" charset="0"/>
              </a:rPr>
              <a:t>)</a:t>
            </a:r>
            <a:r>
              <a:rPr kumimoji="1" lang="zh-CN" altLang="en-US" b="1">
                <a:latin typeface="Times New Roman" pitchFamily="18" charset="0"/>
              </a:rPr>
              <a:t>构成唯一回路，则说明原图中</a:t>
            </a:r>
            <a:r>
              <a:rPr kumimoji="1" lang="en-US" altLang="zh-CN" b="1">
                <a:latin typeface="Times New Roman" pitchFamily="18" charset="0"/>
              </a:rPr>
              <a:t>v</a:t>
            </a:r>
            <a:r>
              <a:rPr kumimoji="1" lang="en-US" altLang="zh-CN" b="1" baseline="-25000">
                <a:latin typeface="Times New Roman" pitchFamily="18" charset="0"/>
              </a:rPr>
              <a:t>i</a:t>
            </a:r>
            <a:r>
              <a:rPr kumimoji="1" lang="zh-CN" altLang="en-US" b="1">
                <a:latin typeface="Times New Roman" pitchFamily="18" charset="0"/>
              </a:rPr>
              <a:t>和</a:t>
            </a:r>
            <a:r>
              <a:rPr kumimoji="1" lang="en-US" altLang="zh-CN" b="1">
                <a:latin typeface="Times New Roman" pitchFamily="18" charset="0"/>
              </a:rPr>
              <a:t>v</a:t>
            </a:r>
            <a:r>
              <a:rPr kumimoji="1" lang="en-US" altLang="zh-CN" b="1" baseline="-25000">
                <a:latin typeface="Times New Roman" pitchFamily="18" charset="0"/>
              </a:rPr>
              <a:t>j</a:t>
            </a:r>
            <a:r>
              <a:rPr kumimoji="1" lang="zh-CN" altLang="en-US" b="1">
                <a:latin typeface="Times New Roman" pitchFamily="18" charset="0"/>
              </a:rPr>
              <a:t>间有唯一路。</a:t>
            </a:r>
          </a:p>
        </p:txBody>
      </p:sp>
      <p:sp>
        <p:nvSpPr>
          <p:cNvPr id="72711" name="Text Box 7"/>
          <p:cNvSpPr txBox="1">
            <a:spLocks noChangeArrowheads="1"/>
          </p:cNvSpPr>
          <p:nvPr/>
        </p:nvSpPr>
        <p:spPr bwMode="auto">
          <a:xfrm>
            <a:off x="466725" y="5227638"/>
            <a:ext cx="8277225" cy="129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10000"/>
              </a:lnSpc>
            </a:pPr>
            <a:r>
              <a:rPr kumimoji="1" lang="en-US" altLang="zh-CN" b="1">
                <a:solidFill>
                  <a:srgbClr val="008000"/>
                </a:solidFill>
                <a:latin typeface="Times New Roman" pitchFamily="18" charset="0"/>
              </a:rPr>
              <a:t>(6)</a:t>
            </a:r>
            <a:r>
              <a:rPr kumimoji="1" lang="zh-CN" altLang="en-US" b="1">
                <a:solidFill>
                  <a:srgbClr val="008000"/>
                </a:solidFill>
                <a:latin typeface="Times New Roman" pitchFamily="18" charset="0"/>
              </a:rPr>
              <a:t>每一对结点之间有一条且仅有一条路</a:t>
            </a:r>
            <a:r>
              <a:rPr kumimoji="1" lang="zh-CN" altLang="en-US" b="1">
                <a:solidFill>
                  <a:srgbClr val="008000"/>
                </a:solidFill>
                <a:latin typeface="Times New Roman" pitchFamily="18" charset="0"/>
                <a:sym typeface="Symbol" pitchFamily="18" charset="2"/>
              </a:rPr>
              <a:t></a:t>
            </a:r>
            <a:r>
              <a:rPr kumimoji="1" lang="en-US" altLang="zh-CN" b="1">
                <a:solidFill>
                  <a:srgbClr val="008000"/>
                </a:solidFill>
                <a:latin typeface="Times New Roman" pitchFamily="18" charset="0"/>
                <a:sym typeface="Symbol" pitchFamily="18" charset="2"/>
              </a:rPr>
              <a:t>(1)</a:t>
            </a:r>
            <a:r>
              <a:rPr kumimoji="1" lang="zh-CN" altLang="en-US" b="1">
                <a:solidFill>
                  <a:srgbClr val="008000"/>
                </a:solidFill>
                <a:latin typeface="Times New Roman" pitchFamily="18" charset="0"/>
              </a:rPr>
              <a:t>无回路的连通图</a:t>
            </a:r>
          </a:p>
          <a:p>
            <a:pPr algn="just" eaLnBrk="1" hangingPunct="1">
              <a:lnSpc>
                <a:spcPct val="110000"/>
              </a:lnSpc>
            </a:pPr>
            <a:r>
              <a:rPr kumimoji="1" lang="zh-CN" altLang="en-US" b="1">
                <a:latin typeface="Times New Roman" pitchFamily="18" charset="0"/>
              </a:rPr>
              <a:t>任意两点间有唯一一条路，则图</a:t>
            </a:r>
            <a:r>
              <a:rPr kumimoji="1" lang="en-US" altLang="zh-CN" b="1">
                <a:latin typeface="Times New Roman" pitchFamily="18" charset="0"/>
              </a:rPr>
              <a:t>T</a:t>
            </a:r>
            <a:r>
              <a:rPr kumimoji="1" lang="zh-CN" altLang="en-US" b="1">
                <a:latin typeface="Times New Roman" pitchFamily="18" charset="0"/>
              </a:rPr>
              <a:t>必连通，若有回路，则回路上任两点间有两条路，与</a:t>
            </a:r>
            <a:r>
              <a:rPr kumimoji="1" lang="en-US" altLang="zh-CN" b="1">
                <a:latin typeface="Times New Roman" pitchFamily="18" charset="0"/>
              </a:rPr>
              <a:t>(6)</a:t>
            </a:r>
            <a:r>
              <a:rPr kumimoji="1" lang="zh-CN" altLang="en-US" b="1">
                <a:latin typeface="Times New Roman" pitchFamily="18" charset="0"/>
              </a:rPr>
              <a:t>矛盾。</a:t>
            </a:r>
          </a:p>
        </p:txBody>
      </p:sp>
    </p:spTree>
    <p:extLst>
      <p:ext uri="{BB962C8B-B14F-4D97-AF65-F5344CB8AC3E}">
        <p14:creationId xmlns:p14="http://schemas.microsoft.com/office/powerpoint/2010/main" val="2470561887"/>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2709">
                                            <p:txEl>
                                              <p:pRg st="1" end="1"/>
                                            </p:txEl>
                                          </p:spTgt>
                                        </p:tgtEl>
                                        <p:attrNameLst>
                                          <p:attrName>style.visibility</p:attrName>
                                        </p:attrNameLst>
                                      </p:cBhvr>
                                      <p:to>
                                        <p:strVal val="visible"/>
                                      </p:to>
                                    </p:set>
                                    <p:anim calcmode="lin" valueType="num">
                                      <p:cBhvr additive="base">
                                        <p:cTn id="7" dur="500" fill="hold"/>
                                        <p:tgtEl>
                                          <p:spTgt spid="72709">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270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2710"/>
                                        </p:tgtEl>
                                        <p:attrNameLst>
                                          <p:attrName>style.visibility</p:attrName>
                                        </p:attrNameLst>
                                      </p:cBhvr>
                                      <p:to>
                                        <p:strVal val="visible"/>
                                      </p:to>
                                    </p:set>
                                    <p:anim calcmode="lin" valueType="num">
                                      <p:cBhvr additive="base">
                                        <p:cTn id="13" dur="500" fill="hold"/>
                                        <p:tgtEl>
                                          <p:spTgt spid="72710"/>
                                        </p:tgtEl>
                                        <p:attrNameLst>
                                          <p:attrName>ppt_x</p:attrName>
                                        </p:attrNameLst>
                                      </p:cBhvr>
                                      <p:tavLst>
                                        <p:tav tm="0">
                                          <p:val>
                                            <p:strVal val="#ppt_x"/>
                                          </p:val>
                                        </p:tav>
                                        <p:tav tm="100000">
                                          <p:val>
                                            <p:strVal val="#ppt_x"/>
                                          </p:val>
                                        </p:tav>
                                      </p:tavLst>
                                    </p:anim>
                                    <p:anim calcmode="lin" valueType="num">
                                      <p:cBhvr additive="base">
                                        <p:cTn id="14" dur="500" fill="hold"/>
                                        <p:tgtEl>
                                          <p:spTgt spid="7271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2711"/>
                                        </p:tgtEl>
                                        <p:attrNameLst>
                                          <p:attrName>style.visibility</p:attrName>
                                        </p:attrNameLst>
                                      </p:cBhvr>
                                      <p:to>
                                        <p:strVal val="visible"/>
                                      </p:to>
                                    </p:set>
                                    <p:anim calcmode="lin" valueType="num">
                                      <p:cBhvr additive="base">
                                        <p:cTn id="19" dur="500" fill="hold"/>
                                        <p:tgtEl>
                                          <p:spTgt spid="72711"/>
                                        </p:tgtEl>
                                        <p:attrNameLst>
                                          <p:attrName>ppt_x</p:attrName>
                                        </p:attrNameLst>
                                      </p:cBhvr>
                                      <p:tavLst>
                                        <p:tav tm="0">
                                          <p:val>
                                            <p:strVal val="#ppt_x"/>
                                          </p:val>
                                        </p:tav>
                                        <p:tav tm="100000">
                                          <p:val>
                                            <p:strVal val="#ppt_x"/>
                                          </p:val>
                                        </p:tav>
                                      </p:tavLst>
                                    </p:anim>
                                    <p:anim calcmode="lin" valueType="num">
                                      <p:cBhvr additive="base">
                                        <p:cTn id="20" dur="500" fill="hold"/>
                                        <p:tgtEl>
                                          <p:spTgt spid="727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0" grpId="0"/>
      <p:bldP spid="72711"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pPr>
              <a:defRPr/>
            </a:pPr>
            <a:fld id="{C8EFEAB2-241C-4BA8-86AF-CEA60F8A5AA7}" type="slidenum">
              <a:rPr lang="en-US" altLang="zh-CN"/>
              <a:pPr>
                <a:defRPr/>
              </a:pPr>
              <a:t>94</a:t>
            </a:fld>
            <a:endParaRPr lang="en-US" altLang="zh-CN"/>
          </a:p>
        </p:txBody>
      </p:sp>
      <p:sp>
        <p:nvSpPr>
          <p:cNvPr id="96259" name="Text Box 3"/>
          <p:cNvSpPr txBox="1">
            <a:spLocks noChangeArrowheads="1"/>
          </p:cNvSpPr>
          <p:nvPr/>
        </p:nvSpPr>
        <p:spPr bwMode="auto">
          <a:xfrm>
            <a:off x="466725" y="1236663"/>
            <a:ext cx="827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spcBef>
                <a:spcPct val="50000"/>
              </a:spcBef>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7-7.2</a:t>
            </a:r>
            <a:r>
              <a:rPr kumimoji="1" lang="zh-CN" altLang="en-US" b="1">
                <a:solidFill>
                  <a:srgbClr val="0000CC"/>
                </a:solidFill>
                <a:latin typeface="Times New Roman" pitchFamily="18" charset="0"/>
              </a:rPr>
              <a:t>：</a:t>
            </a:r>
            <a:r>
              <a:rPr kumimoji="1" lang="zh-CN" altLang="en-US" b="1">
                <a:latin typeface="Times New Roman" pitchFamily="18" charset="0"/>
              </a:rPr>
              <a:t>任一棵树中至少有两片树叶。</a:t>
            </a:r>
          </a:p>
        </p:txBody>
      </p:sp>
      <p:sp>
        <p:nvSpPr>
          <p:cNvPr id="74768" name="Text Box 16"/>
          <p:cNvSpPr txBox="1">
            <a:spLocks noChangeArrowheads="1"/>
          </p:cNvSpPr>
          <p:nvPr/>
        </p:nvSpPr>
        <p:spPr bwMode="auto">
          <a:xfrm>
            <a:off x="468313" y="1739900"/>
            <a:ext cx="8277225" cy="3195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spcBef>
                <a:spcPct val="50000"/>
              </a:spcBef>
            </a:pPr>
            <a:r>
              <a:rPr kumimoji="1" lang="zh-CN" altLang="en-US" b="1">
                <a:latin typeface="Times New Roman" pitchFamily="18" charset="0"/>
              </a:rPr>
              <a:t>证明：设树</a:t>
            </a:r>
            <a:r>
              <a:rPr kumimoji="1" lang="en-US" altLang="zh-CN" b="1">
                <a:latin typeface="Times New Roman" pitchFamily="18" charset="0"/>
              </a:rPr>
              <a:t>T=&lt;V, E&gt;</a:t>
            </a:r>
            <a:r>
              <a:rPr kumimoji="1" lang="zh-CN" altLang="en-US" b="1">
                <a:latin typeface="Times New Roman" pitchFamily="18" charset="0"/>
              </a:rPr>
              <a:t>，</a:t>
            </a:r>
            <a:r>
              <a:rPr kumimoji="1" lang="en-US" altLang="zh-CN" b="1">
                <a:latin typeface="Times New Roman" pitchFamily="18" charset="0"/>
              </a:rPr>
              <a:t>|V|=v</a:t>
            </a:r>
            <a:r>
              <a:rPr kumimoji="1" lang="zh-CN" altLang="en-US" b="1">
                <a:latin typeface="Times New Roman" pitchFamily="18" charset="0"/>
              </a:rPr>
              <a:t>，则</a:t>
            </a:r>
            <a:r>
              <a:rPr kumimoji="1" lang="en-US" altLang="zh-CN" b="1">
                <a:latin typeface="Times New Roman" pitchFamily="18" charset="0"/>
              </a:rPr>
              <a:t>|E|=v-1</a:t>
            </a:r>
            <a:r>
              <a:rPr kumimoji="1" lang="zh-CN" altLang="en-US" b="1">
                <a:latin typeface="Times New Roman" pitchFamily="18" charset="0"/>
              </a:rPr>
              <a:t>，∑</a:t>
            </a:r>
            <a:r>
              <a:rPr kumimoji="1" lang="en-US" altLang="zh-CN" b="1">
                <a:latin typeface="Times New Roman" pitchFamily="18" charset="0"/>
              </a:rPr>
              <a:t>deg(v</a:t>
            </a:r>
            <a:r>
              <a:rPr kumimoji="1" lang="en-US" altLang="zh-CN" b="1" baseline="-25000">
                <a:latin typeface="Times New Roman" pitchFamily="18" charset="0"/>
              </a:rPr>
              <a:t>i</a:t>
            </a:r>
            <a:r>
              <a:rPr kumimoji="1" lang="en-US" altLang="zh-CN" b="1">
                <a:latin typeface="Times New Roman" pitchFamily="18" charset="0"/>
              </a:rPr>
              <a:t>)=2v-2</a:t>
            </a:r>
          </a:p>
          <a:p>
            <a:pPr algn="just" eaLnBrk="1" hangingPunct="1">
              <a:spcBef>
                <a:spcPct val="50000"/>
              </a:spcBef>
            </a:pPr>
            <a:r>
              <a:rPr lang="en-US" altLang="zh-CN" b="1">
                <a:solidFill>
                  <a:srgbClr val="008000"/>
                </a:solidFill>
                <a:latin typeface="Times New Roman" pitchFamily="18" charset="0"/>
              </a:rPr>
              <a:t>(1)</a:t>
            </a:r>
            <a:r>
              <a:rPr lang="zh-CN" altLang="en-US" b="1">
                <a:solidFill>
                  <a:srgbClr val="008000"/>
                </a:solidFill>
                <a:latin typeface="Times New Roman" pitchFamily="18" charset="0"/>
              </a:rPr>
              <a:t>没有树叶，即没有度数为</a:t>
            </a:r>
            <a:r>
              <a:rPr lang="en-US" altLang="zh-CN" b="1">
                <a:solidFill>
                  <a:srgbClr val="008000"/>
                </a:solidFill>
                <a:latin typeface="Times New Roman" pitchFamily="18" charset="0"/>
              </a:rPr>
              <a:t>1</a:t>
            </a:r>
            <a:r>
              <a:rPr lang="zh-CN" altLang="en-US" b="1">
                <a:solidFill>
                  <a:srgbClr val="008000"/>
                </a:solidFill>
                <a:latin typeface="Times New Roman" pitchFamily="18" charset="0"/>
              </a:rPr>
              <a:t>的结点，则</a:t>
            </a:r>
            <a:endParaRPr kumimoji="1" lang="zh-CN" altLang="en-US" b="1">
              <a:latin typeface="Times New Roman" pitchFamily="18" charset="0"/>
            </a:endParaRPr>
          </a:p>
          <a:p>
            <a:pPr algn="just" eaLnBrk="1" hangingPunct="1">
              <a:spcBef>
                <a:spcPct val="50000"/>
              </a:spcBef>
            </a:pPr>
            <a:r>
              <a:rPr kumimoji="1" lang="zh-CN" altLang="en-US" b="1">
                <a:latin typeface="Times New Roman" pitchFamily="18" charset="0"/>
              </a:rPr>
              <a:t>任意</a:t>
            </a:r>
            <a:r>
              <a:rPr kumimoji="1" lang="en-US" altLang="zh-CN" b="1">
                <a:latin typeface="Times New Roman" pitchFamily="18" charset="0"/>
              </a:rPr>
              <a:t>v</a:t>
            </a:r>
            <a:r>
              <a:rPr kumimoji="1" lang="en-US" altLang="zh-CN" b="1" baseline="-25000">
                <a:latin typeface="Times New Roman" pitchFamily="18" charset="0"/>
              </a:rPr>
              <a:t>i</a:t>
            </a:r>
            <a:r>
              <a:rPr kumimoji="1" lang="en-US" altLang="zh-CN" b="1">
                <a:latin typeface="Times New Roman" pitchFamily="18" charset="0"/>
              </a:rPr>
              <a:t>∈T</a:t>
            </a:r>
            <a:r>
              <a:rPr kumimoji="1" lang="zh-CN" altLang="en-US" b="1">
                <a:latin typeface="Times New Roman" pitchFamily="18" charset="0"/>
              </a:rPr>
              <a:t>，有</a:t>
            </a:r>
            <a:r>
              <a:rPr kumimoji="1" lang="en-US" altLang="zh-CN" b="1">
                <a:latin typeface="Times New Roman" pitchFamily="18" charset="0"/>
              </a:rPr>
              <a:t>deg(v</a:t>
            </a:r>
            <a:r>
              <a:rPr kumimoji="1" lang="en-US" altLang="zh-CN" b="1" baseline="-25000">
                <a:latin typeface="Times New Roman" pitchFamily="18" charset="0"/>
              </a:rPr>
              <a:t>i</a:t>
            </a:r>
            <a:r>
              <a:rPr kumimoji="1" lang="en-US" altLang="zh-CN" b="1">
                <a:latin typeface="Times New Roman" pitchFamily="18" charset="0"/>
              </a:rPr>
              <a:t>)≥2</a:t>
            </a:r>
            <a:r>
              <a:rPr kumimoji="1" lang="zh-CN" altLang="en-US" b="1">
                <a:latin typeface="Times New Roman" pitchFamily="18" charset="0"/>
              </a:rPr>
              <a:t>，∑</a:t>
            </a:r>
            <a:r>
              <a:rPr kumimoji="1" lang="en-US" altLang="zh-CN" b="1">
                <a:latin typeface="Times New Roman" pitchFamily="18" charset="0"/>
              </a:rPr>
              <a:t>deg(v</a:t>
            </a:r>
            <a:r>
              <a:rPr kumimoji="1" lang="en-US" altLang="zh-CN" b="1" baseline="-25000">
                <a:latin typeface="Times New Roman" pitchFamily="18" charset="0"/>
              </a:rPr>
              <a:t>i</a:t>
            </a:r>
            <a:r>
              <a:rPr kumimoji="1" lang="en-US" altLang="zh-CN" b="1">
                <a:latin typeface="Times New Roman" pitchFamily="18" charset="0"/>
              </a:rPr>
              <a:t>)≥2v</a:t>
            </a:r>
            <a:r>
              <a:rPr kumimoji="1" lang="zh-CN" altLang="en-US" b="1">
                <a:latin typeface="Times New Roman" pitchFamily="18" charset="0"/>
              </a:rPr>
              <a:t>，所以</a:t>
            </a:r>
            <a:r>
              <a:rPr kumimoji="1" lang="en-US" altLang="zh-CN" b="1">
                <a:latin typeface="Times New Roman" pitchFamily="18" charset="0"/>
              </a:rPr>
              <a:t>2v-2≥2v</a:t>
            </a:r>
            <a:r>
              <a:rPr kumimoji="1" lang="zh-CN" altLang="en-US" b="1">
                <a:latin typeface="Times New Roman" pitchFamily="18" charset="0"/>
              </a:rPr>
              <a:t>矛盾。</a:t>
            </a:r>
            <a:endParaRPr lang="zh-CN" altLang="en-US" b="1">
              <a:solidFill>
                <a:srgbClr val="008000"/>
              </a:solidFill>
              <a:latin typeface="Times New Roman" pitchFamily="18" charset="0"/>
            </a:endParaRPr>
          </a:p>
          <a:p>
            <a:pPr algn="just" eaLnBrk="1" hangingPunct="1">
              <a:spcBef>
                <a:spcPct val="50000"/>
              </a:spcBef>
            </a:pPr>
            <a:r>
              <a:rPr lang="en-US" altLang="zh-CN" b="1">
                <a:solidFill>
                  <a:srgbClr val="008000"/>
                </a:solidFill>
                <a:latin typeface="Times New Roman" pitchFamily="18" charset="0"/>
              </a:rPr>
              <a:t>(2)</a:t>
            </a:r>
            <a:r>
              <a:rPr lang="zh-CN" altLang="en-US" b="1">
                <a:solidFill>
                  <a:srgbClr val="008000"/>
                </a:solidFill>
                <a:latin typeface="Times New Roman" pitchFamily="18" charset="0"/>
              </a:rPr>
              <a:t>只有一片树叶，即只有一个度数为</a:t>
            </a:r>
            <a:r>
              <a:rPr lang="en-US" altLang="zh-CN" b="1">
                <a:solidFill>
                  <a:srgbClr val="008000"/>
                </a:solidFill>
                <a:latin typeface="Times New Roman" pitchFamily="18" charset="0"/>
              </a:rPr>
              <a:t>1</a:t>
            </a:r>
            <a:r>
              <a:rPr lang="zh-CN" altLang="en-US" b="1">
                <a:solidFill>
                  <a:srgbClr val="008000"/>
                </a:solidFill>
                <a:latin typeface="Times New Roman" pitchFamily="18" charset="0"/>
              </a:rPr>
              <a:t>的结点，则</a:t>
            </a:r>
            <a:endParaRPr kumimoji="1" lang="zh-CN" altLang="en-US" b="1">
              <a:latin typeface="Times New Roman" pitchFamily="18" charset="0"/>
            </a:endParaRPr>
          </a:p>
          <a:p>
            <a:pPr algn="just" eaLnBrk="1" hangingPunct="1">
              <a:spcBef>
                <a:spcPct val="50000"/>
              </a:spcBef>
            </a:pPr>
            <a:r>
              <a:rPr kumimoji="1" lang="zh-CN" altLang="en-US" b="1">
                <a:latin typeface="Times New Roman" pitchFamily="18" charset="0"/>
              </a:rPr>
              <a:t>∑</a:t>
            </a:r>
            <a:r>
              <a:rPr kumimoji="1" lang="en-US" altLang="zh-CN" b="1">
                <a:latin typeface="Times New Roman" pitchFamily="18" charset="0"/>
              </a:rPr>
              <a:t>deg(v</a:t>
            </a:r>
            <a:r>
              <a:rPr kumimoji="1" lang="en-US" altLang="zh-CN" b="1" baseline="-25000">
                <a:latin typeface="Times New Roman" pitchFamily="18" charset="0"/>
              </a:rPr>
              <a:t>i</a:t>
            </a:r>
            <a:r>
              <a:rPr kumimoji="1" lang="en-US" altLang="zh-CN" b="1">
                <a:latin typeface="Times New Roman" pitchFamily="18" charset="0"/>
              </a:rPr>
              <a:t>)≥2(v-1)+1=2v-1</a:t>
            </a:r>
            <a:r>
              <a:rPr kumimoji="1" lang="zh-CN" altLang="en-US" b="1">
                <a:latin typeface="Times New Roman" pitchFamily="18" charset="0"/>
              </a:rPr>
              <a:t>，有</a:t>
            </a:r>
            <a:r>
              <a:rPr kumimoji="1" lang="en-US" altLang="zh-CN" b="1">
                <a:latin typeface="Times New Roman" pitchFamily="18" charset="0"/>
              </a:rPr>
              <a:t>2v-1≥2v </a:t>
            </a:r>
            <a:r>
              <a:rPr kumimoji="1" lang="zh-CN" altLang="en-US" b="1">
                <a:latin typeface="Times New Roman" pitchFamily="18" charset="0"/>
              </a:rPr>
              <a:t>矛盾。</a:t>
            </a:r>
          </a:p>
          <a:p>
            <a:pPr algn="just" eaLnBrk="1" hangingPunct="1">
              <a:spcBef>
                <a:spcPct val="50000"/>
              </a:spcBef>
            </a:pPr>
            <a:r>
              <a:rPr kumimoji="1" lang="zh-CN" altLang="en-US" b="1">
                <a:latin typeface="Times New Roman" pitchFamily="18" charset="0"/>
              </a:rPr>
              <a:t>因此，任一棵树中至少有两片树叶。</a:t>
            </a:r>
          </a:p>
        </p:txBody>
      </p:sp>
    </p:spTree>
    <p:extLst>
      <p:ext uri="{BB962C8B-B14F-4D97-AF65-F5344CB8AC3E}">
        <p14:creationId xmlns:p14="http://schemas.microsoft.com/office/powerpoint/2010/main" val="2293881074"/>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4768"/>
                                        </p:tgtEl>
                                        <p:attrNameLst>
                                          <p:attrName>style.visibility</p:attrName>
                                        </p:attrNameLst>
                                      </p:cBhvr>
                                      <p:to>
                                        <p:strVal val="visible"/>
                                      </p:to>
                                    </p:set>
                                    <p:animEffect transition="in" filter="checkerboard(across)">
                                      <p:cBhvr>
                                        <p:cTn id="7" dur="500"/>
                                        <p:tgtEl>
                                          <p:spTgt spid="747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68"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灯片编号占位符 4"/>
          <p:cNvSpPr>
            <a:spLocks noGrp="1"/>
          </p:cNvSpPr>
          <p:nvPr>
            <p:ph type="sldNum" sz="quarter" idx="11"/>
          </p:nvPr>
        </p:nvSpPr>
        <p:spPr/>
        <p:txBody>
          <a:bodyPr/>
          <a:lstStyle/>
          <a:p>
            <a:pPr>
              <a:defRPr/>
            </a:pPr>
            <a:fld id="{4CED6884-0810-41D6-ADEC-FE342F954373}" type="slidenum">
              <a:rPr lang="en-US" altLang="zh-CN"/>
              <a:pPr>
                <a:defRPr/>
              </a:pPr>
              <a:t>95</a:t>
            </a:fld>
            <a:endParaRPr lang="en-US" altLang="zh-CN"/>
          </a:p>
        </p:txBody>
      </p:sp>
      <p:sp>
        <p:nvSpPr>
          <p:cNvPr id="97283" name="Rectangle 2"/>
          <p:cNvSpPr>
            <a:spLocks noGrp="1" noChangeArrowheads="1"/>
          </p:cNvSpPr>
          <p:nvPr>
            <p:ph type="title"/>
          </p:nvPr>
        </p:nvSpPr>
        <p:spPr>
          <a:xfrm>
            <a:off x="1079500" y="373063"/>
            <a:ext cx="7237413" cy="579437"/>
          </a:xfrm>
        </p:spPr>
        <p:txBody>
          <a:bodyPr/>
          <a:lstStyle/>
          <a:p>
            <a:pPr algn="l" eaLnBrk="1" hangingPunct="1"/>
            <a:r>
              <a:rPr kumimoji="1" lang="en-US" altLang="zh-CN" sz="3200" smtClean="0">
                <a:solidFill>
                  <a:srgbClr val="993300"/>
                </a:solidFill>
                <a:latin typeface="楷体_GB2312" pitchFamily="49" charset="-122"/>
              </a:rPr>
              <a:t>2. </a:t>
            </a:r>
            <a:r>
              <a:rPr kumimoji="1" lang="zh-CN" altLang="en-US" sz="3200" smtClean="0">
                <a:solidFill>
                  <a:srgbClr val="993300"/>
                </a:solidFill>
                <a:latin typeface="楷体_GB2312" pitchFamily="49" charset="-122"/>
              </a:rPr>
              <a:t>生成树及其性质</a:t>
            </a:r>
          </a:p>
        </p:txBody>
      </p:sp>
      <p:sp>
        <p:nvSpPr>
          <p:cNvPr id="97284" name="Rectangle 3"/>
          <p:cNvSpPr>
            <a:spLocks noGrp="1" noChangeArrowheads="1"/>
          </p:cNvSpPr>
          <p:nvPr>
            <p:ph type="body" idx="1"/>
          </p:nvPr>
        </p:nvSpPr>
        <p:spPr>
          <a:xfrm>
            <a:off x="466725" y="1196975"/>
            <a:ext cx="8277225" cy="2940050"/>
          </a:xfrm>
        </p:spPr>
        <p:txBody>
          <a:bodyPr/>
          <a:lstStyle/>
          <a:p>
            <a:pPr eaLnBrk="1" hangingPunct="1"/>
            <a:r>
              <a:rPr kumimoji="1" lang="zh-CN" altLang="en-US" smtClean="0">
                <a:solidFill>
                  <a:srgbClr val="0000CC"/>
                </a:solidFill>
              </a:rPr>
              <a:t>定义</a:t>
            </a:r>
            <a:r>
              <a:rPr kumimoji="1" lang="en-US" altLang="zh-CN" smtClean="0">
                <a:solidFill>
                  <a:srgbClr val="0000CC"/>
                </a:solidFill>
              </a:rPr>
              <a:t>7-7.2</a:t>
            </a:r>
            <a:r>
              <a:rPr kumimoji="1" lang="zh-CN" altLang="en-US" smtClean="0">
                <a:solidFill>
                  <a:srgbClr val="0000CC"/>
                </a:solidFill>
              </a:rPr>
              <a:t>：</a:t>
            </a:r>
            <a:r>
              <a:rPr kumimoji="1" lang="zh-CN" altLang="en-US" smtClean="0"/>
              <a:t>若图</a:t>
            </a:r>
            <a:r>
              <a:rPr kumimoji="1" lang="en-US" altLang="zh-CN" smtClean="0"/>
              <a:t>G</a:t>
            </a:r>
            <a:r>
              <a:rPr kumimoji="1" lang="zh-CN" altLang="en-US" smtClean="0"/>
              <a:t>的生成子图是一棵树，则该树称为</a:t>
            </a:r>
            <a:r>
              <a:rPr kumimoji="1" lang="en-US" altLang="zh-CN" smtClean="0"/>
              <a:t>G</a:t>
            </a:r>
            <a:r>
              <a:rPr kumimoji="1" lang="zh-CN" altLang="en-US" smtClean="0"/>
              <a:t>的</a:t>
            </a:r>
            <a:r>
              <a:rPr kumimoji="1" lang="zh-CN" altLang="en-US" i="1" smtClean="0">
                <a:solidFill>
                  <a:srgbClr val="0000CC"/>
                </a:solidFill>
              </a:rPr>
              <a:t>生成树</a:t>
            </a:r>
            <a:r>
              <a:rPr kumimoji="1" lang="zh-CN" altLang="en-US" smtClean="0"/>
              <a:t>。</a:t>
            </a:r>
          </a:p>
          <a:p>
            <a:pPr eaLnBrk="1" hangingPunct="1"/>
            <a:r>
              <a:rPr kumimoji="1" lang="zh-CN" altLang="en-US" smtClean="0"/>
              <a:t>设图</a:t>
            </a:r>
            <a:r>
              <a:rPr kumimoji="1" lang="en-US" altLang="zh-CN" smtClean="0"/>
              <a:t>G</a:t>
            </a:r>
            <a:r>
              <a:rPr kumimoji="1" lang="zh-CN" altLang="en-US" smtClean="0"/>
              <a:t>有一棵生成树</a:t>
            </a:r>
            <a:r>
              <a:rPr kumimoji="1" lang="en-US" altLang="zh-CN" smtClean="0"/>
              <a:t>T</a:t>
            </a:r>
            <a:r>
              <a:rPr kumimoji="1" lang="zh-CN" altLang="en-US" smtClean="0"/>
              <a:t>，则</a:t>
            </a:r>
            <a:r>
              <a:rPr kumimoji="1" lang="en-US" altLang="zh-CN" smtClean="0"/>
              <a:t>T</a:t>
            </a:r>
            <a:r>
              <a:rPr kumimoji="1" lang="zh-CN" altLang="en-US" smtClean="0"/>
              <a:t>中的边称作</a:t>
            </a:r>
            <a:r>
              <a:rPr kumimoji="1" lang="zh-CN" altLang="en-US" i="1" smtClean="0">
                <a:solidFill>
                  <a:srgbClr val="0000CC"/>
                </a:solidFill>
              </a:rPr>
              <a:t>树枝</a:t>
            </a:r>
            <a:r>
              <a:rPr kumimoji="1" lang="zh-CN" altLang="en-US" smtClean="0"/>
              <a:t>；</a:t>
            </a:r>
          </a:p>
          <a:p>
            <a:pPr eaLnBrk="1" hangingPunct="1"/>
            <a:r>
              <a:rPr kumimoji="1" lang="zh-CN" altLang="en-US" smtClean="0"/>
              <a:t>图</a:t>
            </a:r>
            <a:r>
              <a:rPr kumimoji="1" lang="en-US" altLang="zh-CN" smtClean="0"/>
              <a:t>G</a:t>
            </a:r>
            <a:r>
              <a:rPr kumimoji="1" lang="zh-CN" altLang="en-US" smtClean="0"/>
              <a:t>的不在生成树中的边称作</a:t>
            </a:r>
            <a:r>
              <a:rPr kumimoji="1" lang="zh-CN" altLang="en-US" i="1" smtClean="0">
                <a:solidFill>
                  <a:srgbClr val="0000CC"/>
                </a:solidFill>
              </a:rPr>
              <a:t>弦</a:t>
            </a:r>
            <a:r>
              <a:rPr kumimoji="1" lang="zh-CN" altLang="en-US" smtClean="0"/>
              <a:t>；</a:t>
            </a:r>
          </a:p>
          <a:p>
            <a:pPr eaLnBrk="1" hangingPunct="1"/>
            <a:r>
              <a:rPr kumimoji="1" lang="zh-CN" altLang="en-US" smtClean="0"/>
              <a:t>所有弦的集合称作生成树的</a:t>
            </a:r>
            <a:r>
              <a:rPr kumimoji="1" lang="zh-CN" altLang="en-US" i="1" smtClean="0">
                <a:solidFill>
                  <a:srgbClr val="0000CC"/>
                </a:solidFill>
              </a:rPr>
              <a:t>补</a:t>
            </a:r>
            <a:r>
              <a:rPr kumimoji="1" lang="zh-CN" altLang="en-US" b="0" smtClean="0"/>
              <a:t>。</a:t>
            </a:r>
          </a:p>
          <a:p>
            <a:pPr eaLnBrk="1" hangingPunct="1"/>
            <a:r>
              <a:rPr kumimoji="1" lang="zh-CN" altLang="en-US" smtClean="0"/>
              <a:t>有弦导出的子图是</a:t>
            </a:r>
            <a:r>
              <a:rPr kumimoji="1" lang="en-US" altLang="zh-CN" smtClean="0"/>
              <a:t>T</a:t>
            </a:r>
            <a:r>
              <a:rPr kumimoji="1" lang="zh-CN" altLang="en-US" smtClean="0"/>
              <a:t>的</a:t>
            </a:r>
            <a:r>
              <a:rPr kumimoji="1" lang="zh-CN" altLang="en-US" i="1" smtClean="0">
                <a:solidFill>
                  <a:schemeClr val="folHlink"/>
                </a:solidFill>
              </a:rPr>
              <a:t>余树</a:t>
            </a:r>
            <a:r>
              <a:rPr kumimoji="1" lang="zh-CN" altLang="en-US" smtClean="0"/>
              <a:t>。</a:t>
            </a:r>
          </a:p>
        </p:txBody>
      </p:sp>
      <p:grpSp>
        <p:nvGrpSpPr>
          <p:cNvPr id="134149" name="Group 5"/>
          <p:cNvGrpSpPr>
            <a:grpSpLocks/>
          </p:cNvGrpSpPr>
          <p:nvPr/>
        </p:nvGrpSpPr>
        <p:grpSpPr bwMode="auto">
          <a:xfrm>
            <a:off x="6156325" y="3429000"/>
            <a:ext cx="1335088" cy="1135063"/>
            <a:chOff x="2697" y="9084"/>
            <a:chExt cx="1908" cy="1404"/>
          </a:xfrm>
        </p:grpSpPr>
        <p:sp>
          <p:nvSpPr>
            <p:cNvPr id="97287" name="Line 6"/>
            <p:cNvSpPr>
              <a:spLocks noChangeShapeType="1"/>
            </p:cNvSpPr>
            <p:nvPr/>
          </p:nvSpPr>
          <p:spPr bwMode="auto">
            <a:xfrm>
              <a:off x="2700" y="9084"/>
              <a:ext cx="0" cy="93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88" name="Line 7"/>
            <p:cNvSpPr>
              <a:spLocks noChangeShapeType="1"/>
            </p:cNvSpPr>
            <p:nvPr/>
          </p:nvSpPr>
          <p:spPr bwMode="auto">
            <a:xfrm rot="5400000">
              <a:off x="3168" y="8616"/>
              <a:ext cx="0" cy="9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89" name="Line 8"/>
            <p:cNvSpPr>
              <a:spLocks noChangeShapeType="1"/>
            </p:cNvSpPr>
            <p:nvPr/>
          </p:nvSpPr>
          <p:spPr bwMode="auto">
            <a:xfrm rot="5400000">
              <a:off x="3165" y="9564"/>
              <a:ext cx="0" cy="9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0" name="Line 9"/>
            <p:cNvSpPr>
              <a:spLocks noChangeShapeType="1"/>
            </p:cNvSpPr>
            <p:nvPr/>
          </p:nvSpPr>
          <p:spPr bwMode="auto">
            <a:xfrm rot="5400000">
              <a:off x="4128" y="8616"/>
              <a:ext cx="0" cy="93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1" name="Line 10"/>
            <p:cNvSpPr>
              <a:spLocks noChangeShapeType="1"/>
            </p:cNvSpPr>
            <p:nvPr/>
          </p:nvSpPr>
          <p:spPr bwMode="auto">
            <a:xfrm rot="5400000">
              <a:off x="4128" y="9567"/>
              <a:ext cx="0" cy="936"/>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2" name="Line 11"/>
            <p:cNvSpPr>
              <a:spLocks noChangeShapeType="1"/>
            </p:cNvSpPr>
            <p:nvPr/>
          </p:nvSpPr>
          <p:spPr bwMode="auto">
            <a:xfrm>
              <a:off x="3660" y="9090"/>
              <a:ext cx="0" cy="9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3" name="Line 12"/>
            <p:cNvSpPr>
              <a:spLocks noChangeShapeType="1"/>
            </p:cNvSpPr>
            <p:nvPr/>
          </p:nvSpPr>
          <p:spPr bwMode="auto">
            <a:xfrm>
              <a:off x="4605" y="9084"/>
              <a:ext cx="0" cy="93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7294" name="Freeform 13"/>
            <p:cNvSpPr>
              <a:spLocks/>
            </p:cNvSpPr>
            <p:nvPr/>
          </p:nvSpPr>
          <p:spPr bwMode="auto">
            <a:xfrm>
              <a:off x="2700" y="10005"/>
              <a:ext cx="1890" cy="483"/>
            </a:xfrm>
            <a:custGeom>
              <a:avLst/>
              <a:gdLst>
                <a:gd name="T0" fmla="*/ 0 w 1890"/>
                <a:gd name="T1" fmla="*/ 15 h 483"/>
                <a:gd name="T2" fmla="*/ 180 w 1890"/>
                <a:gd name="T3" fmla="*/ 327 h 483"/>
                <a:gd name="T4" fmla="*/ 900 w 1890"/>
                <a:gd name="T5" fmla="*/ 483 h 483"/>
                <a:gd name="T6" fmla="*/ 1620 w 1890"/>
                <a:gd name="T7" fmla="*/ 327 h 483"/>
                <a:gd name="T8" fmla="*/ 1890 w 1890"/>
                <a:gd name="T9" fmla="*/ 0 h 48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890" h="483">
                  <a:moveTo>
                    <a:pt x="0" y="15"/>
                  </a:moveTo>
                  <a:cubicBezTo>
                    <a:pt x="15" y="132"/>
                    <a:pt x="30" y="249"/>
                    <a:pt x="180" y="327"/>
                  </a:cubicBezTo>
                  <a:cubicBezTo>
                    <a:pt x="330" y="405"/>
                    <a:pt x="660" y="483"/>
                    <a:pt x="900" y="483"/>
                  </a:cubicBezTo>
                  <a:cubicBezTo>
                    <a:pt x="1140" y="483"/>
                    <a:pt x="1455" y="407"/>
                    <a:pt x="1620" y="327"/>
                  </a:cubicBezTo>
                  <a:cubicBezTo>
                    <a:pt x="1785" y="247"/>
                    <a:pt x="1834" y="68"/>
                    <a:pt x="1890" y="0"/>
                  </a:cubicBez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34165" name="Rectangle 21"/>
          <p:cNvSpPr>
            <a:spLocks noChangeArrowheads="1"/>
          </p:cNvSpPr>
          <p:nvPr/>
        </p:nvSpPr>
        <p:spPr bwMode="auto">
          <a:xfrm>
            <a:off x="466725" y="4484688"/>
            <a:ext cx="82772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buClr>
                <a:schemeClr val="hlink"/>
              </a:buClr>
              <a:buFont typeface="Wingdings" pitchFamily="2" charset="2"/>
              <a:buChar char="Ø"/>
            </a:pPr>
            <a:r>
              <a:rPr kumimoji="1" lang="zh-CN" altLang="en-US" b="1">
                <a:latin typeface="Times New Roman" pitchFamily="18" charset="0"/>
              </a:rPr>
              <a:t>什么样的图有生成树？</a:t>
            </a:r>
          </a:p>
        </p:txBody>
      </p:sp>
    </p:spTree>
    <p:extLst>
      <p:ext uri="{BB962C8B-B14F-4D97-AF65-F5344CB8AC3E}">
        <p14:creationId xmlns:p14="http://schemas.microsoft.com/office/powerpoint/2010/main" val="1896475464"/>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4149"/>
                                        </p:tgtEl>
                                        <p:attrNameLst>
                                          <p:attrName>style.visibility</p:attrName>
                                        </p:attrNameLst>
                                      </p:cBhvr>
                                      <p:to>
                                        <p:strVal val="visible"/>
                                      </p:to>
                                    </p:set>
                                    <p:anim calcmode="lin" valueType="num">
                                      <p:cBhvr additive="base">
                                        <p:cTn id="7" dur="500" fill="hold"/>
                                        <p:tgtEl>
                                          <p:spTgt spid="134149"/>
                                        </p:tgtEl>
                                        <p:attrNameLst>
                                          <p:attrName>ppt_x</p:attrName>
                                        </p:attrNameLst>
                                      </p:cBhvr>
                                      <p:tavLst>
                                        <p:tav tm="0">
                                          <p:val>
                                            <p:strVal val="#ppt_x"/>
                                          </p:val>
                                        </p:tav>
                                        <p:tav tm="100000">
                                          <p:val>
                                            <p:strVal val="#ppt_x"/>
                                          </p:val>
                                        </p:tav>
                                      </p:tavLst>
                                    </p:anim>
                                    <p:anim calcmode="lin" valueType="num">
                                      <p:cBhvr additive="base">
                                        <p:cTn id="8" dur="500" fill="hold"/>
                                        <p:tgtEl>
                                          <p:spTgt spid="13414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4165"/>
                                        </p:tgtEl>
                                        <p:attrNameLst>
                                          <p:attrName>style.visibility</p:attrName>
                                        </p:attrNameLst>
                                      </p:cBhvr>
                                      <p:to>
                                        <p:strVal val="visible"/>
                                      </p:to>
                                    </p:set>
                                    <p:anim calcmode="lin" valueType="num">
                                      <p:cBhvr additive="base">
                                        <p:cTn id="13" dur="500" fill="hold"/>
                                        <p:tgtEl>
                                          <p:spTgt spid="134165"/>
                                        </p:tgtEl>
                                        <p:attrNameLst>
                                          <p:attrName>ppt_x</p:attrName>
                                        </p:attrNameLst>
                                      </p:cBhvr>
                                      <p:tavLst>
                                        <p:tav tm="0">
                                          <p:val>
                                            <p:strVal val="#ppt_x"/>
                                          </p:val>
                                        </p:tav>
                                        <p:tav tm="100000">
                                          <p:val>
                                            <p:strVal val="#ppt_x"/>
                                          </p:val>
                                        </p:tav>
                                      </p:tavLst>
                                    </p:anim>
                                    <p:anim calcmode="lin" valueType="num">
                                      <p:cBhvr additive="base">
                                        <p:cTn id="14" dur="500" fill="hold"/>
                                        <p:tgtEl>
                                          <p:spTgt spid="13416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65"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灯片编号占位符 2"/>
          <p:cNvSpPr>
            <a:spLocks noGrp="1"/>
          </p:cNvSpPr>
          <p:nvPr>
            <p:ph type="sldNum" sz="quarter" idx="11"/>
          </p:nvPr>
        </p:nvSpPr>
        <p:spPr/>
        <p:txBody>
          <a:bodyPr/>
          <a:lstStyle/>
          <a:p>
            <a:pPr>
              <a:defRPr/>
            </a:pPr>
            <a:fld id="{15A00FDC-3308-451A-9C23-B648E9C7A79F}" type="slidenum">
              <a:rPr lang="en-US" altLang="zh-CN"/>
              <a:pPr>
                <a:defRPr/>
              </a:pPr>
              <a:t>96</a:t>
            </a:fld>
            <a:endParaRPr lang="en-US" altLang="zh-CN"/>
          </a:p>
        </p:txBody>
      </p:sp>
      <p:sp>
        <p:nvSpPr>
          <p:cNvPr id="98307" name="Text Box 2"/>
          <p:cNvSpPr txBox="1">
            <a:spLocks noChangeArrowheads="1"/>
          </p:cNvSpPr>
          <p:nvPr/>
        </p:nvSpPr>
        <p:spPr bwMode="auto">
          <a:xfrm>
            <a:off x="466725" y="1014413"/>
            <a:ext cx="8277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7-7.3</a:t>
            </a:r>
            <a:r>
              <a:rPr kumimoji="1" lang="zh-CN" altLang="en-US" b="1">
                <a:solidFill>
                  <a:srgbClr val="0000CC"/>
                </a:solidFill>
                <a:latin typeface="Times New Roman" pitchFamily="18" charset="0"/>
              </a:rPr>
              <a:t>：</a:t>
            </a:r>
            <a:r>
              <a:rPr kumimoji="1" lang="zh-CN" altLang="en-US" b="1">
                <a:latin typeface="Times New Roman" pitchFamily="18" charset="0"/>
              </a:rPr>
              <a:t>连通图至少有一棵生成树。（构造法</a:t>
            </a:r>
            <a:r>
              <a:rPr kumimoji="1" lang="en-US" altLang="zh-CN" b="1">
                <a:latin typeface="Times New Roman" pitchFamily="18" charset="0"/>
              </a:rPr>
              <a:t>—</a:t>
            </a:r>
            <a:r>
              <a:rPr kumimoji="1" lang="zh-CN" altLang="en-US" b="1">
                <a:latin typeface="Times New Roman" pitchFamily="18" charset="0"/>
              </a:rPr>
              <a:t>破圈法）</a:t>
            </a:r>
          </a:p>
        </p:txBody>
      </p:sp>
      <p:sp>
        <p:nvSpPr>
          <p:cNvPr id="75780" name="Text Box 4"/>
          <p:cNvSpPr txBox="1">
            <a:spLocks noChangeArrowheads="1"/>
          </p:cNvSpPr>
          <p:nvPr/>
        </p:nvSpPr>
        <p:spPr bwMode="auto">
          <a:xfrm>
            <a:off x="466725" y="1484313"/>
            <a:ext cx="82772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latin typeface="Times New Roman" pitchFamily="18" charset="0"/>
              </a:rPr>
              <a:t>证明：</a:t>
            </a:r>
            <a:r>
              <a:rPr kumimoji="1" lang="en-US" altLang="zh-CN" b="1">
                <a:solidFill>
                  <a:srgbClr val="993300"/>
                </a:solidFill>
                <a:latin typeface="Times New Roman" pitchFamily="18" charset="0"/>
              </a:rPr>
              <a:t>1)</a:t>
            </a:r>
            <a:r>
              <a:rPr kumimoji="1" lang="zh-CN" altLang="en-US" b="1">
                <a:latin typeface="Times New Roman" pitchFamily="18" charset="0"/>
              </a:rPr>
              <a:t>设连通图</a:t>
            </a:r>
            <a:r>
              <a:rPr kumimoji="1" lang="en-US" altLang="zh-CN" b="1">
                <a:latin typeface="Times New Roman" pitchFamily="18" charset="0"/>
              </a:rPr>
              <a:t>G</a:t>
            </a:r>
            <a:r>
              <a:rPr kumimoji="1" lang="zh-CN" altLang="en-US" b="1">
                <a:latin typeface="Times New Roman" pitchFamily="18" charset="0"/>
              </a:rPr>
              <a:t>没有回路，则</a:t>
            </a:r>
            <a:r>
              <a:rPr kumimoji="1" lang="en-US" altLang="zh-CN" b="1">
                <a:latin typeface="Times New Roman" pitchFamily="18" charset="0"/>
              </a:rPr>
              <a:t>G</a:t>
            </a:r>
            <a:r>
              <a:rPr kumimoji="1" lang="zh-CN" altLang="en-US" b="1">
                <a:latin typeface="Times New Roman" pitchFamily="18" charset="0"/>
              </a:rPr>
              <a:t>本身就是一棵生成树。</a:t>
            </a:r>
          </a:p>
          <a:p>
            <a:pPr algn="just" eaLnBrk="1" hangingPunct="1">
              <a:lnSpc>
                <a:spcPct val="130000"/>
              </a:lnSpc>
            </a:pPr>
            <a:r>
              <a:rPr kumimoji="1" lang="en-US" altLang="zh-CN" b="1">
                <a:solidFill>
                  <a:srgbClr val="993300"/>
                </a:solidFill>
                <a:latin typeface="Times New Roman" pitchFamily="18" charset="0"/>
              </a:rPr>
              <a:t>2)</a:t>
            </a:r>
            <a:r>
              <a:rPr kumimoji="1" lang="zh-CN" altLang="en-US" b="1">
                <a:latin typeface="Times New Roman" pitchFamily="18" charset="0"/>
              </a:rPr>
              <a:t>若</a:t>
            </a:r>
            <a:r>
              <a:rPr kumimoji="1" lang="en-US" altLang="zh-CN" b="1">
                <a:latin typeface="Times New Roman" pitchFamily="18" charset="0"/>
              </a:rPr>
              <a:t>G</a:t>
            </a:r>
            <a:r>
              <a:rPr kumimoji="1" lang="zh-CN" altLang="en-US" b="1">
                <a:latin typeface="Times New Roman" pitchFamily="18" charset="0"/>
              </a:rPr>
              <a:t>有回路，则删除</a:t>
            </a:r>
            <a:r>
              <a:rPr kumimoji="1" lang="en-US" altLang="zh-CN" b="1">
                <a:latin typeface="Times New Roman" pitchFamily="18" charset="0"/>
              </a:rPr>
              <a:t>G</a:t>
            </a:r>
            <a:r>
              <a:rPr kumimoji="1" lang="zh-CN" altLang="en-US" b="1">
                <a:latin typeface="Times New Roman" pitchFamily="18" charset="0"/>
              </a:rPr>
              <a:t>中回路上的一条边，则得到图</a:t>
            </a:r>
            <a:r>
              <a:rPr kumimoji="1" lang="en-US" altLang="zh-CN" b="1">
                <a:latin typeface="Times New Roman" pitchFamily="18" charset="0"/>
              </a:rPr>
              <a:t>G’</a:t>
            </a:r>
            <a:r>
              <a:rPr kumimoji="1" lang="zh-CN" altLang="en-US" b="1">
                <a:latin typeface="Times New Roman" pitchFamily="18" charset="0"/>
              </a:rPr>
              <a:t>，若</a:t>
            </a:r>
            <a:r>
              <a:rPr kumimoji="1" lang="en-US" altLang="zh-CN" b="1">
                <a:latin typeface="Times New Roman" pitchFamily="18" charset="0"/>
              </a:rPr>
              <a:t>G’</a:t>
            </a:r>
            <a:r>
              <a:rPr kumimoji="1" lang="zh-CN" altLang="en-US" b="1">
                <a:latin typeface="Times New Roman" pitchFamily="18" charset="0"/>
              </a:rPr>
              <a:t>没有回路即是</a:t>
            </a:r>
            <a:r>
              <a:rPr kumimoji="1" lang="en-US" altLang="zh-CN" b="1">
                <a:latin typeface="Times New Roman" pitchFamily="18" charset="0"/>
              </a:rPr>
              <a:t>G</a:t>
            </a:r>
            <a:r>
              <a:rPr kumimoji="1" lang="zh-CN" altLang="en-US" b="1">
                <a:latin typeface="Times New Roman" pitchFamily="18" charset="0"/>
              </a:rPr>
              <a:t>的生成树，若</a:t>
            </a:r>
            <a:r>
              <a:rPr kumimoji="1" lang="en-US" altLang="zh-CN" b="1">
                <a:latin typeface="Times New Roman" pitchFamily="18" charset="0"/>
              </a:rPr>
              <a:t>G’</a:t>
            </a:r>
            <a:r>
              <a:rPr kumimoji="1" lang="zh-CN" altLang="en-US" b="1">
                <a:latin typeface="Times New Roman" pitchFamily="18" charset="0"/>
              </a:rPr>
              <a:t>有回路，则删掉</a:t>
            </a:r>
            <a:r>
              <a:rPr kumimoji="1" lang="en-US" altLang="zh-CN" b="1">
                <a:latin typeface="Times New Roman" pitchFamily="18" charset="0"/>
              </a:rPr>
              <a:t>G’</a:t>
            </a:r>
            <a:r>
              <a:rPr kumimoji="1" lang="zh-CN" altLang="en-US" b="1">
                <a:latin typeface="Times New Roman" pitchFamily="18" charset="0"/>
              </a:rPr>
              <a:t>中回路上的一条边</a:t>
            </a:r>
            <a:r>
              <a:rPr kumimoji="1" lang="en-US" altLang="zh-CN" b="1">
                <a:latin typeface="Times New Roman" pitchFamily="18" charset="0"/>
              </a:rPr>
              <a:t>……</a:t>
            </a:r>
            <a:r>
              <a:rPr kumimoji="1" lang="zh-CN" altLang="en-US" b="1">
                <a:latin typeface="Times New Roman" pitchFamily="18" charset="0"/>
              </a:rPr>
              <a:t>直到没有回路为止，得到图</a:t>
            </a:r>
            <a:r>
              <a:rPr kumimoji="1" lang="en-US" altLang="zh-CN" b="1">
                <a:latin typeface="Times New Roman" pitchFamily="18" charset="0"/>
              </a:rPr>
              <a:t>G</a:t>
            </a:r>
            <a:r>
              <a:rPr kumimoji="1" lang="zh-CN" altLang="en-US" b="1">
                <a:latin typeface="Times New Roman" pitchFamily="18" charset="0"/>
              </a:rPr>
              <a:t>的生成树。</a:t>
            </a:r>
          </a:p>
        </p:txBody>
      </p:sp>
      <p:sp>
        <p:nvSpPr>
          <p:cNvPr id="75781" name="Text Box 5"/>
          <p:cNvSpPr txBox="1">
            <a:spLocks noChangeArrowheads="1"/>
          </p:cNvSpPr>
          <p:nvPr/>
        </p:nvSpPr>
        <p:spPr bwMode="auto">
          <a:xfrm>
            <a:off x="466725" y="3429000"/>
            <a:ext cx="8277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hlink"/>
              </a:buClr>
              <a:buFont typeface="Wingdings" pitchFamily="2" charset="2"/>
              <a:buChar char="Ø"/>
            </a:pPr>
            <a:r>
              <a:rPr kumimoji="1" lang="zh-CN" altLang="en-US" b="1">
                <a:solidFill>
                  <a:schemeClr val="bg2"/>
                </a:solidFill>
                <a:latin typeface="Times New Roman" pitchFamily="18" charset="0"/>
              </a:rPr>
              <a:t>图的生成树不为一。</a:t>
            </a:r>
          </a:p>
        </p:txBody>
      </p:sp>
      <p:grpSp>
        <p:nvGrpSpPr>
          <p:cNvPr id="75782" name="Group 6"/>
          <p:cNvGrpSpPr>
            <a:grpSpLocks/>
          </p:cNvGrpSpPr>
          <p:nvPr/>
        </p:nvGrpSpPr>
        <p:grpSpPr bwMode="auto">
          <a:xfrm>
            <a:off x="971550" y="4003675"/>
            <a:ext cx="1392238" cy="1371600"/>
            <a:chOff x="2340" y="3468"/>
            <a:chExt cx="1620" cy="1404"/>
          </a:xfrm>
        </p:grpSpPr>
        <p:sp>
          <p:nvSpPr>
            <p:cNvPr id="98322" name="AutoShape 7"/>
            <p:cNvSpPr>
              <a:spLocks noChangeArrowheads="1"/>
            </p:cNvSpPr>
            <p:nvPr/>
          </p:nvSpPr>
          <p:spPr bwMode="auto">
            <a:xfrm>
              <a:off x="2340" y="3468"/>
              <a:ext cx="1620" cy="468"/>
            </a:xfrm>
            <a:prstGeom prst="triangle">
              <a:avLst>
                <a:gd name="adj" fmla="val 50000"/>
              </a:avLst>
            </a:prstGeom>
            <a:solidFill>
              <a:srgbClr val="FFFFFF"/>
            </a:solidFill>
            <a:ln w="25400">
              <a:solidFill>
                <a:srgbClr val="000000"/>
              </a:solidFill>
              <a:miter lim="800000"/>
              <a:headEnd/>
              <a:tailEnd/>
            </a:ln>
          </p:spPr>
          <p:txBody>
            <a:bodyPr/>
            <a:lstStyle/>
            <a:p>
              <a:endParaRPr lang="zh-CN" altLang="en-US"/>
            </a:p>
          </p:txBody>
        </p:sp>
        <p:sp>
          <p:nvSpPr>
            <p:cNvPr id="98323" name="Rectangle 8"/>
            <p:cNvSpPr>
              <a:spLocks noChangeArrowheads="1"/>
            </p:cNvSpPr>
            <p:nvPr/>
          </p:nvSpPr>
          <p:spPr bwMode="auto">
            <a:xfrm>
              <a:off x="2340" y="3936"/>
              <a:ext cx="1620" cy="936"/>
            </a:xfrm>
            <a:prstGeom prst="rect">
              <a:avLst/>
            </a:prstGeom>
            <a:solidFill>
              <a:srgbClr val="FFFFFF"/>
            </a:solidFill>
            <a:ln w="25400">
              <a:solidFill>
                <a:srgbClr val="000000"/>
              </a:solidFill>
              <a:miter lim="800000"/>
              <a:headEnd/>
              <a:tailEnd/>
            </a:ln>
          </p:spPr>
          <p:txBody>
            <a:bodyPr/>
            <a:lstStyle/>
            <a:p>
              <a:endParaRPr lang="zh-CN" altLang="en-US"/>
            </a:p>
          </p:txBody>
        </p:sp>
        <p:sp>
          <p:nvSpPr>
            <p:cNvPr id="98324" name="Line 9"/>
            <p:cNvSpPr>
              <a:spLocks noChangeShapeType="1"/>
            </p:cNvSpPr>
            <p:nvPr/>
          </p:nvSpPr>
          <p:spPr bwMode="auto">
            <a:xfrm>
              <a:off x="2340" y="3936"/>
              <a:ext cx="1620" cy="93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786" name="Group 10"/>
          <p:cNvGrpSpPr>
            <a:grpSpLocks/>
          </p:cNvGrpSpPr>
          <p:nvPr/>
        </p:nvGrpSpPr>
        <p:grpSpPr bwMode="auto">
          <a:xfrm>
            <a:off x="3473450" y="4005263"/>
            <a:ext cx="1314450" cy="1371600"/>
            <a:chOff x="4860" y="3312"/>
            <a:chExt cx="1530" cy="1404"/>
          </a:xfrm>
        </p:grpSpPr>
        <p:sp>
          <p:nvSpPr>
            <p:cNvPr id="98318" name="Line 11"/>
            <p:cNvSpPr>
              <a:spLocks noChangeShapeType="1"/>
            </p:cNvSpPr>
            <p:nvPr/>
          </p:nvSpPr>
          <p:spPr bwMode="auto">
            <a:xfrm flipH="1">
              <a:off x="4860" y="3312"/>
              <a:ext cx="720" cy="46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9" name="Freeform 12"/>
            <p:cNvSpPr>
              <a:spLocks/>
            </p:cNvSpPr>
            <p:nvPr/>
          </p:nvSpPr>
          <p:spPr bwMode="auto">
            <a:xfrm>
              <a:off x="5580" y="3312"/>
              <a:ext cx="810" cy="438"/>
            </a:xfrm>
            <a:custGeom>
              <a:avLst/>
              <a:gdLst>
                <a:gd name="T0" fmla="*/ 0 w 810"/>
                <a:gd name="T1" fmla="*/ 0 h 438"/>
                <a:gd name="T2" fmla="*/ 810 w 810"/>
                <a:gd name="T3" fmla="*/ 438 h 438"/>
                <a:gd name="T4" fmla="*/ 0 60000 65536"/>
                <a:gd name="T5" fmla="*/ 0 60000 65536"/>
              </a:gdLst>
              <a:ahLst/>
              <a:cxnLst>
                <a:cxn ang="T4">
                  <a:pos x="T0" y="T1"/>
                </a:cxn>
                <a:cxn ang="T5">
                  <a:pos x="T2" y="T3"/>
                </a:cxn>
              </a:cxnLst>
              <a:rect l="0" t="0" r="r" b="b"/>
              <a:pathLst>
                <a:path w="810" h="438">
                  <a:moveTo>
                    <a:pt x="0" y="0"/>
                  </a:moveTo>
                  <a:lnTo>
                    <a:pt x="810" y="438"/>
                  </a:lnTo>
                </a:path>
              </a:pathLst>
            </a:custGeom>
            <a:noFill/>
            <a:ln w="28575">
              <a:solidFill>
                <a:srgbClr val="FF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8320" name="Line 13"/>
            <p:cNvSpPr>
              <a:spLocks noChangeShapeType="1"/>
            </p:cNvSpPr>
            <p:nvPr/>
          </p:nvSpPr>
          <p:spPr bwMode="auto">
            <a:xfrm>
              <a:off x="4860" y="3780"/>
              <a:ext cx="0" cy="93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21" name="Line 14"/>
            <p:cNvSpPr>
              <a:spLocks noChangeShapeType="1"/>
            </p:cNvSpPr>
            <p:nvPr/>
          </p:nvSpPr>
          <p:spPr bwMode="auto">
            <a:xfrm>
              <a:off x="6390" y="3765"/>
              <a:ext cx="0" cy="93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791" name="Group 15"/>
          <p:cNvGrpSpPr>
            <a:grpSpLocks/>
          </p:cNvGrpSpPr>
          <p:nvPr/>
        </p:nvGrpSpPr>
        <p:grpSpPr bwMode="auto">
          <a:xfrm>
            <a:off x="5848350" y="4002088"/>
            <a:ext cx="927100" cy="1371600"/>
            <a:chOff x="7380" y="12048"/>
            <a:chExt cx="1080" cy="1404"/>
          </a:xfrm>
        </p:grpSpPr>
        <p:sp>
          <p:nvSpPr>
            <p:cNvPr id="98314" name="Line 16"/>
            <p:cNvSpPr>
              <a:spLocks noChangeShapeType="1"/>
            </p:cNvSpPr>
            <p:nvPr/>
          </p:nvSpPr>
          <p:spPr bwMode="auto">
            <a:xfrm>
              <a:off x="7380" y="12516"/>
              <a:ext cx="0" cy="93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5" name="Line 17"/>
            <p:cNvSpPr>
              <a:spLocks noChangeShapeType="1"/>
            </p:cNvSpPr>
            <p:nvPr/>
          </p:nvSpPr>
          <p:spPr bwMode="auto">
            <a:xfrm>
              <a:off x="7380" y="12516"/>
              <a:ext cx="108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6" name="Line 18"/>
            <p:cNvSpPr>
              <a:spLocks noChangeShapeType="1"/>
            </p:cNvSpPr>
            <p:nvPr/>
          </p:nvSpPr>
          <p:spPr bwMode="auto">
            <a:xfrm flipH="1" flipV="1">
              <a:off x="7920" y="12048"/>
              <a:ext cx="540" cy="468"/>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8317" name="Line 19"/>
            <p:cNvSpPr>
              <a:spLocks noChangeShapeType="1"/>
            </p:cNvSpPr>
            <p:nvPr/>
          </p:nvSpPr>
          <p:spPr bwMode="auto">
            <a:xfrm>
              <a:off x="7380" y="12516"/>
              <a:ext cx="1080" cy="936"/>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5796" name="Rectangle 20"/>
          <p:cNvSpPr>
            <a:spLocks noChangeArrowheads="1"/>
          </p:cNvSpPr>
          <p:nvPr/>
        </p:nvSpPr>
        <p:spPr bwMode="auto">
          <a:xfrm>
            <a:off x="466725" y="5445125"/>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hlink"/>
              </a:buClr>
              <a:buFont typeface="Wingdings" pitchFamily="2" charset="2"/>
              <a:buChar char="Ø"/>
            </a:pPr>
            <a:r>
              <a:rPr kumimoji="1" lang="zh-CN" altLang="en-US" b="1">
                <a:solidFill>
                  <a:schemeClr val="bg2"/>
                </a:solidFill>
                <a:latin typeface="Times New Roman" pitchFamily="18" charset="0"/>
              </a:rPr>
              <a:t>考虑假设</a:t>
            </a:r>
            <a:r>
              <a:rPr kumimoji="1" lang="en-US" altLang="zh-CN" b="1">
                <a:solidFill>
                  <a:schemeClr val="bg2"/>
                </a:solidFill>
                <a:latin typeface="Times New Roman" pitchFamily="18" charset="0"/>
              </a:rPr>
              <a:t>G</a:t>
            </a:r>
            <a:r>
              <a:rPr kumimoji="1" lang="zh-CN" altLang="en-US" b="1">
                <a:solidFill>
                  <a:schemeClr val="bg2"/>
                </a:solidFill>
                <a:latin typeface="Times New Roman" pitchFamily="18" charset="0"/>
              </a:rPr>
              <a:t>是一个有</a:t>
            </a:r>
            <a:r>
              <a:rPr kumimoji="1" lang="en-US" altLang="zh-CN" b="1">
                <a:solidFill>
                  <a:srgbClr val="993300"/>
                </a:solidFill>
                <a:latin typeface="Times New Roman" pitchFamily="18" charset="0"/>
              </a:rPr>
              <a:t>n</a:t>
            </a:r>
            <a:r>
              <a:rPr kumimoji="1" lang="zh-CN" altLang="en-US" b="1">
                <a:solidFill>
                  <a:schemeClr val="bg2"/>
                </a:solidFill>
                <a:latin typeface="Times New Roman" pitchFamily="18" charset="0"/>
              </a:rPr>
              <a:t>个结点和</a:t>
            </a:r>
            <a:r>
              <a:rPr kumimoji="1" lang="en-US" altLang="zh-CN" b="1">
                <a:solidFill>
                  <a:srgbClr val="993300"/>
                </a:solidFill>
                <a:latin typeface="Times New Roman" pitchFamily="18" charset="0"/>
              </a:rPr>
              <a:t>m</a:t>
            </a:r>
            <a:r>
              <a:rPr kumimoji="1" lang="zh-CN" altLang="en-US" b="1">
                <a:solidFill>
                  <a:schemeClr val="bg2"/>
                </a:solidFill>
                <a:latin typeface="Times New Roman" pitchFamily="18" charset="0"/>
              </a:rPr>
              <a:t>条边的连通图，则</a:t>
            </a:r>
            <a:r>
              <a:rPr kumimoji="1" lang="en-US" altLang="zh-CN" b="1">
                <a:solidFill>
                  <a:schemeClr val="bg2"/>
                </a:solidFill>
                <a:latin typeface="Times New Roman" pitchFamily="18" charset="0"/>
              </a:rPr>
              <a:t>G</a:t>
            </a:r>
            <a:r>
              <a:rPr kumimoji="1" lang="zh-CN" altLang="en-US" b="1">
                <a:solidFill>
                  <a:schemeClr val="bg2"/>
                </a:solidFill>
                <a:latin typeface="Times New Roman" pitchFamily="18" charset="0"/>
              </a:rPr>
              <a:t>的生成树有多少条边？</a:t>
            </a:r>
          </a:p>
        </p:txBody>
      </p:sp>
    </p:spTree>
    <p:extLst>
      <p:ext uri="{BB962C8B-B14F-4D97-AF65-F5344CB8AC3E}">
        <p14:creationId xmlns:p14="http://schemas.microsoft.com/office/powerpoint/2010/main" val="949991795"/>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5780"/>
                                        </p:tgtEl>
                                        <p:attrNameLst>
                                          <p:attrName>style.visibility</p:attrName>
                                        </p:attrNameLst>
                                      </p:cBhvr>
                                      <p:to>
                                        <p:strVal val="visible"/>
                                      </p:to>
                                    </p:set>
                                    <p:animEffect transition="in" filter="checkerboard(across)">
                                      <p:cBhvr>
                                        <p:cTn id="7" dur="500"/>
                                        <p:tgtEl>
                                          <p:spTgt spid="7578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75781"/>
                                        </p:tgtEl>
                                        <p:attrNameLst>
                                          <p:attrName>style.visibility</p:attrName>
                                        </p:attrNameLst>
                                      </p:cBhvr>
                                      <p:to>
                                        <p:strVal val="visible"/>
                                      </p:to>
                                    </p:set>
                                    <p:anim calcmode="lin" valueType="num">
                                      <p:cBhvr additive="base">
                                        <p:cTn id="12" dur="500" fill="hold"/>
                                        <p:tgtEl>
                                          <p:spTgt spid="75781"/>
                                        </p:tgtEl>
                                        <p:attrNameLst>
                                          <p:attrName>ppt_x</p:attrName>
                                        </p:attrNameLst>
                                      </p:cBhvr>
                                      <p:tavLst>
                                        <p:tav tm="0">
                                          <p:val>
                                            <p:strVal val="#ppt_x"/>
                                          </p:val>
                                        </p:tav>
                                        <p:tav tm="100000">
                                          <p:val>
                                            <p:strVal val="#ppt_x"/>
                                          </p:val>
                                        </p:tav>
                                      </p:tavLst>
                                    </p:anim>
                                    <p:anim calcmode="lin" valueType="num">
                                      <p:cBhvr additive="base">
                                        <p:cTn id="13" dur="500" fill="hold"/>
                                        <p:tgtEl>
                                          <p:spTgt spid="75781"/>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75782"/>
                                        </p:tgtEl>
                                        <p:attrNameLst>
                                          <p:attrName>style.visibility</p:attrName>
                                        </p:attrNameLst>
                                      </p:cBhvr>
                                      <p:to>
                                        <p:strVal val="visible"/>
                                      </p:to>
                                    </p:set>
                                    <p:anim calcmode="lin" valueType="num">
                                      <p:cBhvr additive="base">
                                        <p:cTn id="16" dur="500" fill="hold"/>
                                        <p:tgtEl>
                                          <p:spTgt spid="75782"/>
                                        </p:tgtEl>
                                        <p:attrNameLst>
                                          <p:attrName>ppt_x</p:attrName>
                                        </p:attrNameLst>
                                      </p:cBhvr>
                                      <p:tavLst>
                                        <p:tav tm="0">
                                          <p:val>
                                            <p:strVal val="#ppt_x"/>
                                          </p:val>
                                        </p:tav>
                                        <p:tav tm="100000">
                                          <p:val>
                                            <p:strVal val="#ppt_x"/>
                                          </p:val>
                                        </p:tav>
                                      </p:tavLst>
                                    </p:anim>
                                    <p:anim calcmode="lin" valueType="num">
                                      <p:cBhvr additive="base">
                                        <p:cTn id="17" dur="500" fill="hold"/>
                                        <p:tgtEl>
                                          <p:spTgt spid="75782"/>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75786"/>
                                        </p:tgtEl>
                                        <p:attrNameLst>
                                          <p:attrName>style.visibility</p:attrName>
                                        </p:attrNameLst>
                                      </p:cBhvr>
                                      <p:to>
                                        <p:strVal val="visible"/>
                                      </p:to>
                                    </p:set>
                                    <p:anim calcmode="lin" valueType="num">
                                      <p:cBhvr additive="base">
                                        <p:cTn id="22" dur="500" fill="hold"/>
                                        <p:tgtEl>
                                          <p:spTgt spid="75786"/>
                                        </p:tgtEl>
                                        <p:attrNameLst>
                                          <p:attrName>ppt_x</p:attrName>
                                        </p:attrNameLst>
                                      </p:cBhvr>
                                      <p:tavLst>
                                        <p:tav tm="0">
                                          <p:val>
                                            <p:strVal val="#ppt_x"/>
                                          </p:val>
                                        </p:tav>
                                        <p:tav tm="100000">
                                          <p:val>
                                            <p:strVal val="#ppt_x"/>
                                          </p:val>
                                        </p:tav>
                                      </p:tavLst>
                                    </p:anim>
                                    <p:anim calcmode="lin" valueType="num">
                                      <p:cBhvr additive="base">
                                        <p:cTn id="23" dur="500" fill="hold"/>
                                        <p:tgtEl>
                                          <p:spTgt spid="75786"/>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75791"/>
                                        </p:tgtEl>
                                        <p:attrNameLst>
                                          <p:attrName>style.visibility</p:attrName>
                                        </p:attrNameLst>
                                      </p:cBhvr>
                                      <p:to>
                                        <p:strVal val="visible"/>
                                      </p:to>
                                    </p:set>
                                    <p:anim calcmode="lin" valueType="num">
                                      <p:cBhvr additive="base">
                                        <p:cTn id="28" dur="500" fill="hold"/>
                                        <p:tgtEl>
                                          <p:spTgt spid="75791"/>
                                        </p:tgtEl>
                                        <p:attrNameLst>
                                          <p:attrName>ppt_x</p:attrName>
                                        </p:attrNameLst>
                                      </p:cBhvr>
                                      <p:tavLst>
                                        <p:tav tm="0">
                                          <p:val>
                                            <p:strVal val="#ppt_x"/>
                                          </p:val>
                                        </p:tav>
                                        <p:tav tm="100000">
                                          <p:val>
                                            <p:strVal val="#ppt_x"/>
                                          </p:val>
                                        </p:tav>
                                      </p:tavLst>
                                    </p:anim>
                                    <p:anim calcmode="lin" valueType="num">
                                      <p:cBhvr additive="base">
                                        <p:cTn id="29" dur="500" fill="hold"/>
                                        <p:tgtEl>
                                          <p:spTgt spid="75791"/>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75796"/>
                                        </p:tgtEl>
                                        <p:attrNameLst>
                                          <p:attrName>style.visibility</p:attrName>
                                        </p:attrNameLst>
                                      </p:cBhvr>
                                      <p:to>
                                        <p:strVal val="visible"/>
                                      </p:to>
                                    </p:set>
                                    <p:anim calcmode="lin" valueType="num">
                                      <p:cBhvr additive="base">
                                        <p:cTn id="34" dur="500" fill="hold"/>
                                        <p:tgtEl>
                                          <p:spTgt spid="75796"/>
                                        </p:tgtEl>
                                        <p:attrNameLst>
                                          <p:attrName>ppt_x</p:attrName>
                                        </p:attrNameLst>
                                      </p:cBhvr>
                                      <p:tavLst>
                                        <p:tav tm="0">
                                          <p:val>
                                            <p:strVal val="#ppt_x"/>
                                          </p:val>
                                        </p:tav>
                                        <p:tav tm="100000">
                                          <p:val>
                                            <p:strVal val="#ppt_x"/>
                                          </p:val>
                                        </p:tav>
                                      </p:tavLst>
                                    </p:anim>
                                    <p:anim calcmode="lin" valueType="num">
                                      <p:cBhvr additive="base">
                                        <p:cTn id="35" dur="500" fill="hold"/>
                                        <p:tgtEl>
                                          <p:spTgt spid="757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80" grpId="0"/>
      <p:bldP spid="75781" grpId="0"/>
      <p:bldP spid="75796"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pPr>
              <a:defRPr/>
            </a:pPr>
            <a:fld id="{E9BD7238-5B3C-4E7B-AFA6-7FC84BB44DD0}" type="slidenum">
              <a:rPr lang="en-US" altLang="zh-CN"/>
              <a:pPr>
                <a:defRPr/>
              </a:pPr>
              <a:t>97</a:t>
            </a:fld>
            <a:endParaRPr lang="en-US" altLang="zh-CN"/>
          </a:p>
        </p:txBody>
      </p:sp>
      <p:sp>
        <p:nvSpPr>
          <p:cNvPr id="99331" name="Text Box 2"/>
          <p:cNvSpPr txBox="1">
            <a:spLocks noChangeArrowheads="1"/>
          </p:cNvSpPr>
          <p:nvPr/>
        </p:nvSpPr>
        <p:spPr bwMode="auto">
          <a:xfrm>
            <a:off x="466725" y="1166813"/>
            <a:ext cx="8277225"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rgbClr val="0000CC"/>
                </a:solidFill>
                <a:latin typeface="Times New Roman" pitchFamily="18" charset="0"/>
              </a:rPr>
              <a:t>定义：</a:t>
            </a:r>
            <a:r>
              <a:rPr kumimoji="1" lang="zh-CN" altLang="en-US" b="1">
                <a:latin typeface="Times New Roman" pitchFamily="18" charset="0"/>
              </a:rPr>
              <a:t>图</a:t>
            </a:r>
            <a:r>
              <a:rPr kumimoji="1" lang="en-US" altLang="zh-CN" b="1">
                <a:latin typeface="Times New Roman" pitchFamily="18" charset="0"/>
              </a:rPr>
              <a:t>G</a:t>
            </a:r>
            <a:r>
              <a:rPr kumimoji="1" lang="zh-CN" altLang="en-US" b="1">
                <a:latin typeface="Times New Roman" pitchFamily="18" charset="0"/>
              </a:rPr>
              <a:t>中有</a:t>
            </a:r>
            <a:r>
              <a:rPr kumimoji="1" lang="en-US" altLang="zh-CN" b="1">
                <a:latin typeface="Times New Roman" pitchFamily="18" charset="0"/>
              </a:rPr>
              <a:t>n</a:t>
            </a:r>
            <a:r>
              <a:rPr kumimoji="1" lang="zh-CN" altLang="en-US" b="1">
                <a:latin typeface="Times New Roman" pitchFamily="18" charset="0"/>
              </a:rPr>
              <a:t>个顶点</a:t>
            </a:r>
            <a:r>
              <a:rPr kumimoji="1" lang="en-US" altLang="zh-CN" b="1">
                <a:latin typeface="Times New Roman" pitchFamily="18" charset="0"/>
              </a:rPr>
              <a:t>m</a:t>
            </a:r>
            <a:r>
              <a:rPr kumimoji="1" lang="zh-CN" altLang="en-US" b="1">
                <a:latin typeface="Times New Roman" pitchFamily="18" charset="0"/>
              </a:rPr>
              <a:t>条边，则生成树有</a:t>
            </a:r>
            <a:r>
              <a:rPr kumimoji="1" lang="en-US" altLang="zh-CN" b="1">
                <a:latin typeface="Times New Roman" pitchFamily="18" charset="0"/>
              </a:rPr>
              <a:t>n-1</a:t>
            </a:r>
            <a:r>
              <a:rPr kumimoji="1" lang="zh-CN" altLang="en-US" b="1">
                <a:latin typeface="Times New Roman" pitchFamily="18" charset="0"/>
              </a:rPr>
              <a:t>条边，要确定</a:t>
            </a:r>
            <a:r>
              <a:rPr kumimoji="1" lang="en-US" altLang="zh-CN" b="1">
                <a:latin typeface="Times New Roman" pitchFamily="18" charset="0"/>
              </a:rPr>
              <a:t>G</a:t>
            </a:r>
            <a:r>
              <a:rPr kumimoji="1" lang="zh-CN" altLang="en-US" b="1">
                <a:latin typeface="Times New Roman" pitchFamily="18" charset="0"/>
              </a:rPr>
              <a:t>的一棵生成树，则需删除</a:t>
            </a:r>
            <a:r>
              <a:rPr kumimoji="1" lang="en-US" altLang="zh-CN" b="1">
                <a:latin typeface="Times New Roman" pitchFamily="18" charset="0"/>
              </a:rPr>
              <a:t>m-(n-1)=m-n+1</a:t>
            </a:r>
            <a:r>
              <a:rPr kumimoji="1" lang="zh-CN" altLang="en-US" b="1">
                <a:latin typeface="Times New Roman" pitchFamily="18" charset="0"/>
              </a:rPr>
              <a:t>条边，数</a:t>
            </a:r>
            <a:r>
              <a:rPr kumimoji="1" lang="en-US" altLang="zh-CN" b="1" u="sng">
                <a:solidFill>
                  <a:srgbClr val="0000CC"/>
                </a:solidFill>
                <a:latin typeface="Times New Roman" pitchFamily="18" charset="0"/>
              </a:rPr>
              <a:t>m-n+1</a:t>
            </a:r>
            <a:r>
              <a:rPr kumimoji="1" lang="zh-CN" altLang="en-US" b="1">
                <a:latin typeface="Times New Roman" pitchFamily="18" charset="0"/>
              </a:rPr>
              <a:t>称为</a:t>
            </a:r>
            <a:r>
              <a:rPr kumimoji="1" lang="zh-CN" altLang="en-US" b="1">
                <a:solidFill>
                  <a:srgbClr val="0000CC"/>
                </a:solidFill>
                <a:latin typeface="Times New Roman" pitchFamily="18" charset="0"/>
              </a:rPr>
              <a:t>连通图</a:t>
            </a:r>
            <a:r>
              <a:rPr kumimoji="1" lang="en-US" altLang="zh-CN" b="1">
                <a:solidFill>
                  <a:srgbClr val="0000CC"/>
                </a:solidFill>
                <a:latin typeface="Times New Roman" pitchFamily="18" charset="0"/>
              </a:rPr>
              <a:t>G</a:t>
            </a:r>
            <a:r>
              <a:rPr kumimoji="1" lang="zh-CN" altLang="en-US" b="1">
                <a:solidFill>
                  <a:srgbClr val="0000CC"/>
                </a:solidFill>
                <a:latin typeface="Times New Roman" pitchFamily="18" charset="0"/>
              </a:rPr>
              <a:t>的秩。</a:t>
            </a:r>
          </a:p>
        </p:txBody>
      </p:sp>
      <p:sp>
        <p:nvSpPr>
          <p:cNvPr id="76804" name="Text Box 4"/>
          <p:cNvSpPr txBox="1">
            <a:spLocks noChangeArrowheads="1"/>
          </p:cNvSpPr>
          <p:nvPr/>
        </p:nvSpPr>
        <p:spPr bwMode="auto">
          <a:xfrm>
            <a:off x="466725" y="2601913"/>
            <a:ext cx="8277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7-7.4</a:t>
            </a:r>
            <a:r>
              <a:rPr kumimoji="1" lang="zh-CN" altLang="en-US" b="1">
                <a:solidFill>
                  <a:srgbClr val="0000CC"/>
                </a:solidFill>
                <a:latin typeface="Times New Roman" pitchFamily="18" charset="0"/>
              </a:rPr>
              <a:t>：</a:t>
            </a:r>
            <a:r>
              <a:rPr kumimoji="1" lang="zh-CN" altLang="en-US" b="1">
                <a:latin typeface="Times New Roman" pitchFamily="18" charset="0"/>
              </a:rPr>
              <a:t>一条回路和任何一棵生成树的补至少有一条公共边。</a:t>
            </a:r>
          </a:p>
        </p:txBody>
      </p:sp>
      <p:sp>
        <p:nvSpPr>
          <p:cNvPr id="76805" name="Text Box 5"/>
          <p:cNvSpPr txBox="1">
            <a:spLocks noChangeArrowheads="1"/>
          </p:cNvSpPr>
          <p:nvPr/>
        </p:nvSpPr>
        <p:spPr bwMode="auto">
          <a:xfrm>
            <a:off x="466725" y="3582988"/>
            <a:ext cx="82772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7-7.5</a:t>
            </a:r>
            <a:r>
              <a:rPr kumimoji="1" lang="zh-CN" altLang="en-US" b="1">
                <a:solidFill>
                  <a:srgbClr val="0000CC"/>
                </a:solidFill>
                <a:latin typeface="Times New Roman" pitchFamily="18" charset="0"/>
              </a:rPr>
              <a:t>：</a:t>
            </a:r>
            <a:r>
              <a:rPr kumimoji="1" lang="zh-CN" altLang="en-US" b="1">
                <a:latin typeface="Times New Roman" pitchFamily="18" charset="0"/>
              </a:rPr>
              <a:t>一个边割集和任何生成树至少有一条公共边。</a:t>
            </a:r>
          </a:p>
        </p:txBody>
      </p:sp>
    </p:spTree>
    <p:extLst>
      <p:ext uri="{BB962C8B-B14F-4D97-AF65-F5344CB8AC3E}">
        <p14:creationId xmlns:p14="http://schemas.microsoft.com/office/powerpoint/2010/main" val="3031818765"/>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4"/>
                                        </p:tgtEl>
                                        <p:attrNameLst>
                                          <p:attrName>style.visibility</p:attrName>
                                        </p:attrNameLst>
                                      </p:cBhvr>
                                      <p:to>
                                        <p:strVal val="visible"/>
                                      </p:to>
                                    </p:set>
                                    <p:anim calcmode="lin" valueType="num">
                                      <p:cBhvr additive="base">
                                        <p:cTn id="7" dur="500" fill="hold"/>
                                        <p:tgtEl>
                                          <p:spTgt spid="76804"/>
                                        </p:tgtEl>
                                        <p:attrNameLst>
                                          <p:attrName>ppt_x</p:attrName>
                                        </p:attrNameLst>
                                      </p:cBhvr>
                                      <p:tavLst>
                                        <p:tav tm="0">
                                          <p:val>
                                            <p:strVal val="#ppt_x"/>
                                          </p:val>
                                        </p:tav>
                                        <p:tav tm="100000">
                                          <p:val>
                                            <p:strVal val="#ppt_x"/>
                                          </p:val>
                                        </p:tav>
                                      </p:tavLst>
                                    </p:anim>
                                    <p:anim calcmode="lin" valueType="num">
                                      <p:cBhvr additive="base">
                                        <p:cTn id="8" dur="500" fill="hold"/>
                                        <p:tgtEl>
                                          <p:spTgt spid="7680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6805"/>
                                        </p:tgtEl>
                                        <p:attrNameLst>
                                          <p:attrName>style.visibility</p:attrName>
                                        </p:attrNameLst>
                                      </p:cBhvr>
                                      <p:to>
                                        <p:strVal val="visible"/>
                                      </p:to>
                                    </p:set>
                                    <p:anim calcmode="lin" valueType="num">
                                      <p:cBhvr additive="base">
                                        <p:cTn id="13" dur="500" fill="hold"/>
                                        <p:tgtEl>
                                          <p:spTgt spid="76805"/>
                                        </p:tgtEl>
                                        <p:attrNameLst>
                                          <p:attrName>ppt_x</p:attrName>
                                        </p:attrNameLst>
                                      </p:cBhvr>
                                      <p:tavLst>
                                        <p:tav tm="0">
                                          <p:val>
                                            <p:strVal val="#ppt_x"/>
                                          </p:val>
                                        </p:tav>
                                        <p:tav tm="100000">
                                          <p:val>
                                            <p:strVal val="#ppt_x"/>
                                          </p:val>
                                        </p:tav>
                                      </p:tavLst>
                                    </p:anim>
                                    <p:anim calcmode="lin" valueType="num">
                                      <p:cBhvr additive="base">
                                        <p:cTn id="14" dur="500" fill="hold"/>
                                        <p:tgtEl>
                                          <p:spTgt spid="768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p:bldP spid="76805"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2"/>
          <p:cNvSpPr>
            <a:spLocks noGrp="1"/>
          </p:cNvSpPr>
          <p:nvPr>
            <p:ph type="sldNum" sz="quarter" idx="11"/>
          </p:nvPr>
        </p:nvSpPr>
        <p:spPr/>
        <p:txBody>
          <a:bodyPr/>
          <a:lstStyle/>
          <a:p>
            <a:pPr>
              <a:defRPr/>
            </a:pPr>
            <a:fld id="{21E4720B-644F-47DC-95AF-49E7B4DAF3A1}" type="slidenum">
              <a:rPr lang="en-US" altLang="zh-CN"/>
              <a:pPr>
                <a:defRPr/>
              </a:pPr>
              <a:t>98</a:t>
            </a:fld>
            <a:endParaRPr lang="en-US" altLang="zh-CN"/>
          </a:p>
        </p:txBody>
      </p:sp>
      <p:sp>
        <p:nvSpPr>
          <p:cNvPr id="77826" name="Text Box 2"/>
          <p:cNvSpPr txBox="1">
            <a:spLocks noChangeArrowheads="1"/>
          </p:cNvSpPr>
          <p:nvPr/>
        </p:nvSpPr>
        <p:spPr bwMode="auto">
          <a:xfrm>
            <a:off x="466725" y="3108325"/>
            <a:ext cx="8277225"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algn="just" eaLnBrk="1" hangingPunct="1">
              <a:lnSpc>
                <a:spcPct val="130000"/>
              </a:lnSpc>
            </a:pPr>
            <a:r>
              <a:rPr kumimoji="1" lang="zh-CN" altLang="en-US" b="1">
                <a:solidFill>
                  <a:srgbClr val="0000CC"/>
                </a:solidFill>
                <a:latin typeface="Times New Roman" pitchFamily="18" charset="0"/>
              </a:rPr>
              <a:t>定义</a:t>
            </a:r>
            <a:r>
              <a:rPr kumimoji="1" lang="en-US" altLang="zh-CN" b="1">
                <a:solidFill>
                  <a:srgbClr val="0000CC"/>
                </a:solidFill>
                <a:latin typeface="Times New Roman" pitchFamily="18" charset="0"/>
              </a:rPr>
              <a:t>7-7.3</a:t>
            </a:r>
            <a:r>
              <a:rPr kumimoji="1" lang="zh-CN" altLang="en-US" b="1">
                <a:solidFill>
                  <a:srgbClr val="0000CC"/>
                </a:solidFill>
                <a:latin typeface="Times New Roman" pitchFamily="18" charset="0"/>
              </a:rPr>
              <a:t>：</a:t>
            </a:r>
            <a:r>
              <a:rPr kumimoji="1" lang="zh-CN" altLang="en-US" b="1">
                <a:latin typeface="Times New Roman" pitchFamily="18" charset="0"/>
              </a:rPr>
              <a:t>在图</a:t>
            </a:r>
            <a:r>
              <a:rPr kumimoji="1" lang="en-US" altLang="zh-CN" b="1">
                <a:latin typeface="Times New Roman" pitchFamily="18" charset="0"/>
              </a:rPr>
              <a:t>G</a:t>
            </a:r>
            <a:r>
              <a:rPr kumimoji="1" lang="zh-CN" altLang="en-US" b="1">
                <a:latin typeface="Times New Roman" pitchFamily="18" charset="0"/>
              </a:rPr>
              <a:t>的所有生成树中，树权最小的那棵生成树，称作</a:t>
            </a:r>
            <a:r>
              <a:rPr kumimoji="1" lang="zh-CN" altLang="en-US" b="1" i="1">
                <a:solidFill>
                  <a:srgbClr val="0000CC"/>
                </a:solidFill>
                <a:latin typeface="Times New Roman" pitchFamily="18" charset="0"/>
              </a:rPr>
              <a:t>最小生成树</a:t>
            </a:r>
            <a:r>
              <a:rPr kumimoji="1" lang="zh-CN" altLang="en-US" b="1">
                <a:latin typeface="Times New Roman" pitchFamily="18" charset="0"/>
              </a:rPr>
              <a:t>。</a:t>
            </a:r>
          </a:p>
          <a:p>
            <a:pPr algn="just" eaLnBrk="1" hangingPunct="1">
              <a:lnSpc>
                <a:spcPct val="130000"/>
              </a:lnSpc>
            </a:pPr>
            <a:r>
              <a:rPr kumimoji="1" lang="en-US" altLang="zh-CN" b="1">
                <a:latin typeface="Times New Roman" pitchFamily="18" charset="0"/>
              </a:rPr>
              <a:t>W</a:t>
            </a:r>
            <a:r>
              <a:rPr kumimoji="1" lang="en-US" altLang="zh-CN" b="1" baseline="-25000">
                <a:latin typeface="Times New Roman" pitchFamily="18" charset="0"/>
              </a:rPr>
              <a:t>min</a:t>
            </a:r>
            <a:r>
              <a:rPr kumimoji="1" lang="en-US" altLang="zh-CN" b="1">
                <a:latin typeface="Times New Roman" pitchFamily="18" charset="0"/>
              </a:rPr>
              <a:t>(T)=∑</a:t>
            </a:r>
            <a:r>
              <a:rPr kumimoji="1" lang="en-US" altLang="zh-CN" b="1" baseline="-25000">
                <a:latin typeface="Times New Roman" pitchFamily="18" charset="0"/>
              </a:rPr>
              <a:t>e</a:t>
            </a:r>
            <a:r>
              <a:rPr kumimoji="1" lang="en-US" altLang="zh-CN" b="1" baseline="-25000">
                <a:latin typeface="宋体" pitchFamily="2" charset="-122"/>
              </a:rPr>
              <a:t>∈</a:t>
            </a:r>
            <a:r>
              <a:rPr kumimoji="1" lang="en-US" altLang="zh-CN" b="1" baseline="-25000">
                <a:latin typeface="Times New Roman" pitchFamily="18" charset="0"/>
              </a:rPr>
              <a:t>T</a:t>
            </a:r>
            <a:r>
              <a:rPr kumimoji="1" lang="en-US" altLang="zh-CN" b="1">
                <a:latin typeface="Times New Roman" pitchFamily="18" charset="0"/>
              </a:rPr>
              <a:t>W(e)=min{∑</a:t>
            </a:r>
            <a:r>
              <a:rPr kumimoji="1" lang="en-US" altLang="zh-CN" b="1" baseline="-25000">
                <a:latin typeface="Times New Roman" pitchFamily="18" charset="0"/>
              </a:rPr>
              <a:t>e</a:t>
            </a:r>
            <a:r>
              <a:rPr kumimoji="1" lang="en-US" altLang="zh-CN" b="1" baseline="-25000">
                <a:latin typeface="宋体" pitchFamily="2" charset="-122"/>
              </a:rPr>
              <a:t>∈</a:t>
            </a:r>
            <a:r>
              <a:rPr kumimoji="1" lang="en-US" altLang="zh-CN" b="1" baseline="-25000">
                <a:latin typeface="Times New Roman" pitchFamily="18" charset="0"/>
              </a:rPr>
              <a:t>Ti</a:t>
            </a:r>
            <a:r>
              <a:rPr kumimoji="1" lang="en-US" altLang="zh-CN" b="1">
                <a:latin typeface="Times New Roman" pitchFamily="18" charset="0"/>
              </a:rPr>
              <a:t>W(e), T</a:t>
            </a:r>
            <a:r>
              <a:rPr kumimoji="1" lang="en-US" altLang="zh-CN" b="1" baseline="-25000">
                <a:latin typeface="Times New Roman" pitchFamily="18" charset="0"/>
              </a:rPr>
              <a:t>i</a:t>
            </a:r>
            <a:r>
              <a:rPr kumimoji="1" lang="zh-CN" altLang="en-US" b="1">
                <a:latin typeface="Times New Roman" pitchFamily="18" charset="0"/>
              </a:rPr>
              <a:t>是</a:t>
            </a:r>
            <a:r>
              <a:rPr kumimoji="1" lang="en-US" altLang="zh-CN" b="1">
                <a:latin typeface="Times New Roman" pitchFamily="18" charset="0"/>
              </a:rPr>
              <a:t>G</a:t>
            </a:r>
            <a:r>
              <a:rPr kumimoji="1" lang="zh-CN" altLang="en-US" b="1">
                <a:latin typeface="Times New Roman" pitchFamily="18" charset="0"/>
              </a:rPr>
              <a:t>的生成树</a:t>
            </a:r>
            <a:r>
              <a:rPr kumimoji="1" lang="en-US" altLang="zh-CN" b="1">
                <a:latin typeface="Times New Roman" pitchFamily="18" charset="0"/>
              </a:rPr>
              <a:t>}</a:t>
            </a:r>
          </a:p>
        </p:txBody>
      </p:sp>
      <p:sp>
        <p:nvSpPr>
          <p:cNvPr id="100356" name="Text Box 3"/>
          <p:cNvSpPr txBox="1">
            <a:spLocks noChangeArrowheads="1"/>
          </p:cNvSpPr>
          <p:nvPr/>
        </p:nvSpPr>
        <p:spPr bwMode="auto">
          <a:xfrm>
            <a:off x="466725" y="1117600"/>
            <a:ext cx="8277225"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buClr>
                <a:schemeClr val="bg1"/>
              </a:buClr>
            </a:pPr>
            <a:r>
              <a:rPr kumimoji="1" lang="zh-CN" altLang="en-US" b="1">
                <a:solidFill>
                  <a:srgbClr val="0000CC"/>
                </a:solidFill>
                <a:latin typeface="Times New Roman" pitchFamily="18" charset="0"/>
              </a:rPr>
              <a:t>定义：</a:t>
            </a:r>
            <a:r>
              <a:rPr kumimoji="1" lang="zh-CN" altLang="en-US" b="1">
                <a:latin typeface="Times New Roman" pitchFamily="18" charset="0"/>
              </a:rPr>
              <a:t>假定</a:t>
            </a:r>
            <a:r>
              <a:rPr kumimoji="1" lang="en-US" altLang="zh-CN" b="1">
                <a:latin typeface="Times New Roman" pitchFamily="18" charset="0"/>
              </a:rPr>
              <a:t>G</a:t>
            </a:r>
            <a:r>
              <a:rPr kumimoji="1" lang="zh-CN" altLang="en-US" b="1">
                <a:latin typeface="Times New Roman" pitchFamily="18" charset="0"/>
              </a:rPr>
              <a:t>是具有</a:t>
            </a:r>
            <a:r>
              <a:rPr kumimoji="1" lang="en-US" altLang="zh-CN" b="1">
                <a:latin typeface="Times New Roman" pitchFamily="18" charset="0"/>
              </a:rPr>
              <a:t>n</a:t>
            </a:r>
            <a:r>
              <a:rPr kumimoji="1" lang="zh-CN" altLang="en-US" b="1">
                <a:latin typeface="Times New Roman" pitchFamily="18" charset="0"/>
              </a:rPr>
              <a:t>个结点的连通图，对于</a:t>
            </a:r>
            <a:r>
              <a:rPr kumimoji="1" lang="en-US" altLang="zh-CN" b="1">
                <a:latin typeface="Times New Roman" pitchFamily="18" charset="0"/>
              </a:rPr>
              <a:t>G</a:t>
            </a:r>
            <a:r>
              <a:rPr kumimoji="1" lang="zh-CN" altLang="en-US" b="1">
                <a:latin typeface="Times New Roman" pitchFamily="18" charset="0"/>
              </a:rPr>
              <a:t>中的每边</a:t>
            </a:r>
            <a:r>
              <a:rPr kumimoji="1" lang="en-US" altLang="zh-CN" b="1">
                <a:latin typeface="Times New Roman" pitchFamily="18" charset="0"/>
              </a:rPr>
              <a:t>e</a:t>
            </a:r>
            <a:r>
              <a:rPr kumimoji="1" lang="zh-CN" altLang="en-US" b="1">
                <a:latin typeface="Times New Roman" pitchFamily="18" charset="0"/>
              </a:rPr>
              <a:t>指定一个正数</a:t>
            </a:r>
            <a:r>
              <a:rPr kumimoji="1" lang="en-US" altLang="zh-CN" b="1">
                <a:latin typeface="Times New Roman" pitchFamily="18" charset="0"/>
              </a:rPr>
              <a:t>W(e)</a:t>
            </a:r>
            <a:r>
              <a:rPr kumimoji="1" lang="zh-CN" altLang="en-US" b="1">
                <a:latin typeface="Times New Roman" pitchFamily="18" charset="0"/>
              </a:rPr>
              <a:t>，</a:t>
            </a:r>
            <a:r>
              <a:rPr kumimoji="1" lang="en-US" altLang="zh-CN" b="1">
                <a:latin typeface="Times New Roman" pitchFamily="18" charset="0"/>
              </a:rPr>
              <a:t>W(e)</a:t>
            </a:r>
            <a:r>
              <a:rPr kumimoji="1" lang="zh-CN" altLang="en-US" b="1">
                <a:latin typeface="Times New Roman" pitchFamily="18" charset="0"/>
              </a:rPr>
              <a:t>称为边</a:t>
            </a:r>
            <a:r>
              <a:rPr kumimoji="1" lang="en-US" altLang="zh-CN" b="1">
                <a:latin typeface="Times New Roman" pitchFamily="18" charset="0"/>
              </a:rPr>
              <a:t>e</a:t>
            </a:r>
            <a:r>
              <a:rPr kumimoji="1" lang="zh-CN" altLang="en-US" b="1">
                <a:latin typeface="Times New Roman" pitchFamily="18" charset="0"/>
              </a:rPr>
              <a:t>的权</a:t>
            </a:r>
            <a:r>
              <a:rPr kumimoji="1" lang="en-US" altLang="zh-CN" b="1">
                <a:latin typeface="Times New Roman" pitchFamily="18" charset="0"/>
              </a:rPr>
              <a:t>(</a:t>
            </a:r>
            <a:r>
              <a:rPr kumimoji="1" lang="zh-CN" altLang="en-US" b="1">
                <a:latin typeface="Times New Roman" pitchFamily="18" charset="0"/>
              </a:rPr>
              <a:t>可以是长度、运输量、费用等</a:t>
            </a:r>
            <a:r>
              <a:rPr kumimoji="1" lang="en-US" altLang="zh-CN" b="1">
                <a:latin typeface="Times New Roman" pitchFamily="18" charset="0"/>
              </a:rPr>
              <a:t>)</a:t>
            </a:r>
            <a:r>
              <a:rPr kumimoji="1" lang="zh-CN" altLang="en-US" b="1">
                <a:latin typeface="Times New Roman" pitchFamily="18" charset="0"/>
              </a:rPr>
              <a:t>，该图称为</a:t>
            </a:r>
            <a:r>
              <a:rPr kumimoji="1" lang="zh-CN" altLang="en-US" b="1" i="1">
                <a:solidFill>
                  <a:srgbClr val="0000CC"/>
                </a:solidFill>
                <a:latin typeface="Times New Roman" pitchFamily="18" charset="0"/>
              </a:rPr>
              <a:t>带权图</a:t>
            </a:r>
            <a:r>
              <a:rPr kumimoji="1" lang="zh-CN" altLang="en-US" b="1">
                <a:latin typeface="Times New Roman" pitchFamily="18" charset="0"/>
              </a:rPr>
              <a:t>；</a:t>
            </a:r>
            <a:r>
              <a:rPr kumimoji="1" lang="en-US" altLang="zh-CN" b="1">
                <a:latin typeface="Times New Roman" pitchFamily="18" charset="0"/>
              </a:rPr>
              <a:t>G</a:t>
            </a:r>
            <a:r>
              <a:rPr kumimoji="1" lang="zh-CN" altLang="en-US" b="1">
                <a:latin typeface="Times New Roman" pitchFamily="18" charset="0"/>
              </a:rPr>
              <a:t>的生成树</a:t>
            </a:r>
            <a:r>
              <a:rPr kumimoji="1" lang="en-US" altLang="zh-CN" b="1">
                <a:latin typeface="Times New Roman" pitchFamily="18" charset="0"/>
              </a:rPr>
              <a:t>T</a:t>
            </a:r>
            <a:r>
              <a:rPr kumimoji="1" lang="zh-CN" altLang="en-US" b="1">
                <a:latin typeface="Times New Roman" pitchFamily="18" charset="0"/>
              </a:rPr>
              <a:t>中所有边权的和，称作</a:t>
            </a:r>
            <a:r>
              <a:rPr kumimoji="1" lang="en-US" altLang="zh-CN" b="1">
                <a:latin typeface="Times New Roman" pitchFamily="18" charset="0"/>
              </a:rPr>
              <a:t>G</a:t>
            </a:r>
            <a:r>
              <a:rPr kumimoji="1" lang="zh-CN" altLang="en-US" b="1">
                <a:latin typeface="Times New Roman" pitchFamily="18" charset="0"/>
              </a:rPr>
              <a:t>的一个</a:t>
            </a:r>
            <a:r>
              <a:rPr kumimoji="1" lang="zh-CN" altLang="en-US" b="1" i="1">
                <a:solidFill>
                  <a:srgbClr val="0000CC"/>
                </a:solidFill>
                <a:latin typeface="Times New Roman" pitchFamily="18" charset="0"/>
              </a:rPr>
              <a:t>树权</a:t>
            </a:r>
            <a:r>
              <a:rPr kumimoji="1" lang="zh-CN" altLang="en-US" b="1">
                <a:latin typeface="Times New Roman" pitchFamily="18" charset="0"/>
              </a:rPr>
              <a:t>，记为</a:t>
            </a:r>
            <a:r>
              <a:rPr kumimoji="1" lang="en-US" altLang="zh-CN" b="1">
                <a:latin typeface="Times New Roman" pitchFamily="18" charset="0"/>
              </a:rPr>
              <a:t>W(T)</a:t>
            </a:r>
            <a:r>
              <a:rPr kumimoji="1" lang="zh-CN" altLang="en-US" b="1">
                <a:latin typeface="Times New Roman" pitchFamily="18" charset="0"/>
              </a:rPr>
              <a:t>。</a:t>
            </a:r>
          </a:p>
        </p:txBody>
      </p:sp>
      <p:sp>
        <p:nvSpPr>
          <p:cNvPr id="100357" name="Rectangle 6"/>
          <p:cNvSpPr>
            <a:spLocks noChangeArrowheads="1"/>
          </p:cNvSpPr>
          <p:nvPr/>
        </p:nvSpPr>
        <p:spPr bwMode="auto">
          <a:xfrm>
            <a:off x="1100138" y="233363"/>
            <a:ext cx="4824412" cy="7254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buClr>
                <a:schemeClr val="bg1"/>
              </a:buClr>
            </a:pPr>
            <a:r>
              <a:rPr kumimoji="1" lang="en-US" altLang="zh-CN" sz="3200" b="1">
                <a:solidFill>
                  <a:srgbClr val="993300"/>
                </a:solidFill>
                <a:latin typeface="楷体_GB2312" pitchFamily="49" charset="-122"/>
                <a:ea typeface="楷体_GB2312" pitchFamily="49" charset="-122"/>
              </a:rPr>
              <a:t>3. </a:t>
            </a:r>
            <a:r>
              <a:rPr kumimoji="1" lang="zh-CN" altLang="en-US" sz="3200" b="1">
                <a:solidFill>
                  <a:srgbClr val="993300"/>
                </a:solidFill>
                <a:latin typeface="楷体_GB2312" pitchFamily="49" charset="-122"/>
                <a:ea typeface="楷体_GB2312" pitchFamily="49" charset="-122"/>
              </a:rPr>
              <a:t>最小生成树</a:t>
            </a:r>
          </a:p>
        </p:txBody>
      </p:sp>
      <p:sp>
        <p:nvSpPr>
          <p:cNvPr id="77831" name="Rectangle 7"/>
          <p:cNvSpPr>
            <a:spLocks noChangeArrowheads="1"/>
          </p:cNvSpPr>
          <p:nvPr/>
        </p:nvSpPr>
        <p:spPr bwMode="auto">
          <a:xfrm>
            <a:off x="466725" y="4678363"/>
            <a:ext cx="3384550"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zh-CN" altLang="en-US" b="1" dirty="0"/>
              <a:t>生成树：破圈法 </a:t>
            </a:r>
          </a:p>
          <a:p>
            <a:pPr>
              <a:lnSpc>
                <a:spcPct val="130000"/>
              </a:lnSpc>
            </a:pPr>
            <a:r>
              <a:rPr kumimoji="1" lang="zh-CN" altLang="en-US" b="1" dirty="0"/>
              <a:t>              </a:t>
            </a:r>
            <a:r>
              <a:rPr kumimoji="1" lang="zh-CN" altLang="en-US" b="1" dirty="0" smtClean="0"/>
              <a:t> 避</a:t>
            </a:r>
            <a:r>
              <a:rPr kumimoji="1" lang="zh-CN" altLang="en-US" b="1" dirty="0"/>
              <a:t>圈法</a:t>
            </a:r>
          </a:p>
        </p:txBody>
      </p:sp>
      <p:sp>
        <p:nvSpPr>
          <p:cNvPr id="77833" name="Rectangle 9"/>
          <p:cNvSpPr>
            <a:spLocks noChangeArrowheads="1"/>
          </p:cNvSpPr>
          <p:nvPr/>
        </p:nvSpPr>
        <p:spPr bwMode="auto">
          <a:xfrm>
            <a:off x="3671888" y="4678363"/>
            <a:ext cx="4572000" cy="1052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30000"/>
              </a:lnSpc>
            </a:pPr>
            <a:r>
              <a:rPr kumimoji="1" lang="zh-CN" altLang="en-US" b="1" dirty="0"/>
              <a:t>最小生成树：删权大的边</a:t>
            </a:r>
          </a:p>
          <a:p>
            <a:pPr>
              <a:lnSpc>
                <a:spcPct val="130000"/>
              </a:lnSpc>
            </a:pPr>
            <a:r>
              <a:rPr kumimoji="1" lang="zh-CN" altLang="en-US" b="1" dirty="0"/>
              <a:t>                   </a:t>
            </a:r>
            <a:r>
              <a:rPr kumimoji="1" lang="zh-CN" altLang="en-US" b="1" dirty="0" smtClean="0"/>
              <a:t>   </a:t>
            </a:r>
            <a:r>
              <a:rPr kumimoji="1" lang="zh-CN" altLang="en-US" b="1" dirty="0"/>
              <a:t>加权小的边</a:t>
            </a:r>
          </a:p>
        </p:txBody>
      </p:sp>
    </p:spTree>
    <p:extLst>
      <p:ext uri="{BB962C8B-B14F-4D97-AF65-F5344CB8AC3E}">
        <p14:creationId xmlns:p14="http://schemas.microsoft.com/office/powerpoint/2010/main" val="1376588293"/>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7826">
                                            <p:txEl>
                                              <p:pRg st="0" end="0"/>
                                            </p:txEl>
                                          </p:spTgt>
                                        </p:tgtEl>
                                        <p:attrNameLst>
                                          <p:attrName>style.visibility</p:attrName>
                                        </p:attrNameLst>
                                      </p:cBhvr>
                                      <p:to>
                                        <p:strVal val="visible"/>
                                      </p:to>
                                    </p:set>
                                    <p:anim calcmode="lin" valueType="num">
                                      <p:cBhvr additive="base">
                                        <p:cTn id="7" dur="500" fill="hold"/>
                                        <p:tgtEl>
                                          <p:spTgt spid="7782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782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7826">
                                            <p:txEl>
                                              <p:pRg st="1" end="1"/>
                                            </p:txEl>
                                          </p:spTgt>
                                        </p:tgtEl>
                                        <p:attrNameLst>
                                          <p:attrName>style.visibility</p:attrName>
                                        </p:attrNameLst>
                                      </p:cBhvr>
                                      <p:to>
                                        <p:strVal val="visible"/>
                                      </p:to>
                                    </p:set>
                                    <p:anim calcmode="lin" valueType="num">
                                      <p:cBhvr additive="base">
                                        <p:cTn id="13" dur="500" fill="hold"/>
                                        <p:tgtEl>
                                          <p:spTgt spid="7782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782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7831"/>
                                        </p:tgtEl>
                                        <p:attrNameLst>
                                          <p:attrName>style.visibility</p:attrName>
                                        </p:attrNameLst>
                                      </p:cBhvr>
                                      <p:to>
                                        <p:strVal val="visible"/>
                                      </p:to>
                                    </p:set>
                                    <p:anim calcmode="lin" valueType="num">
                                      <p:cBhvr additive="base">
                                        <p:cTn id="19" dur="500" fill="hold"/>
                                        <p:tgtEl>
                                          <p:spTgt spid="77831"/>
                                        </p:tgtEl>
                                        <p:attrNameLst>
                                          <p:attrName>ppt_x</p:attrName>
                                        </p:attrNameLst>
                                      </p:cBhvr>
                                      <p:tavLst>
                                        <p:tav tm="0">
                                          <p:val>
                                            <p:strVal val="#ppt_x"/>
                                          </p:val>
                                        </p:tav>
                                        <p:tav tm="100000">
                                          <p:val>
                                            <p:strVal val="#ppt_x"/>
                                          </p:val>
                                        </p:tav>
                                      </p:tavLst>
                                    </p:anim>
                                    <p:anim calcmode="lin" valueType="num">
                                      <p:cBhvr additive="base">
                                        <p:cTn id="20" dur="500" fill="hold"/>
                                        <p:tgtEl>
                                          <p:spTgt spid="7783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7833"/>
                                        </p:tgtEl>
                                        <p:attrNameLst>
                                          <p:attrName>style.visibility</p:attrName>
                                        </p:attrNameLst>
                                      </p:cBhvr>
                                      <p:to>
                                        <p:strVal val="visible"/>
                                      </p:to>
                                    </p:set>
                                    <p:anim calcmode="lin" valueType="num">
                                      <p:cBhvr additive="base">
                                        <p:cTn id="25" dur="500" fill="hold"/>
                                        <p:tgtEl>
                                          <p:spTgt spid="77833"/>
                                        </p:tgtEl>
                                        <p:attrNameLst>
                                          <p:attrName>ppt_x</p:attrName>
                                        </p:attrNameLst>
                                      </p:cBhvr>
                                      <p:tavLst>
                                        <p:tav tm="0">
                                          <p:val>
                                            <p:strVal val="#ppt_x"/>
                                          </p:val>
                                        </p:tav>
                                        <p:tav tm="100000">
                                          <p:val>
                                            <p:strVal val="#ppt_x"/>
                                          </p:val>
                                        </p:tav>
                                      </p:tavLst>
                                    </p:anim>
                                    <p:anim calcmode="lin" valueType="num">
                                      <p:cBhvr additive="base">
                                        <p:cTn id="26" dur="500" fill="hold"/>
                                        <p:tgtEl>
                                          <p:spTgt spid="778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1" grpId="0"/>
      <p:bldP spid="77833"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灯片编号占位符 2"/>
          <p:cNvSpPr>
            <a:spLocks noGrp="1"/>
          </p:cNvSpPr>
          <p:nvPr>
            <p:ph type="sldNum" sz="quarter" idx="11"/>
          </p:nvPr>
        </p:nvSpPr>
        <p:spPr/>
        <p:txBody>
          <a:bodyPr/>
          <a:lstStyle/>
          <a:p>
            <a:pPr>
              <a:defRPr/>
            </a:pPr>
            <a:fld id="{82653BDF-6AD7-434F-A235-2F2BB2C6DE87}" type="slidenum">
              <a:rPr lang="en-US" altLang="zh-CN"/>
              <a:pPr>
                <a:defRPr/>
              </a:pPr>
              <a:t>99</a:t>
            </a:fld>
            <a:endParaRPr lang="en-US" altLang="zh-CN"/>
          </a:p>
        </p:txBody>
      </p:sp>
      <p:sp>
        <p:nvSpPr>
          <p:cNvPr id="101379" name="Text Box 2"/>
          <p:cNvSpPr txBox="1">
            <a:spLocks noChangeArrowheads="1"/>
          </p:cNvSpPr>
          <p:nvPr/>
        </p:nvSpPr>
        <p:spPr bwMode="auto">
          <a:xfrm>
            <a:off x="466725" y="1052513"/>
            <a:ext cx="8277225" cy="294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lnSpc>
                <a:spcPct val="130000"/>
              </a:lnSpc>
            </a:pPr>
            <a:r>
              <a:rPr kumimoji="1" lang="zh-CN" altLang="en-US" b="1">
                <a:solidFill>
                  <a:srgbClr val="0000CC"/>
                </a:solidFill>
                <a:latin typeface="Times New Roman" pitchFamily="18" charset="0"/>
              </a:rPr>
              <a:t>定理</a:t>
            </a:r>
            <a:r>
              <a:rPr kumimoji="1" lang="en-US" altLang="zh-CN" b="1">
                <a:solidFill>
                  <a:srgbClr val="0000CC"/>
                </a:solidFill>
                <a:latin typeface="Times New Roman" pitchFamily="18" charset="0"/>
              </a:rPr>
              <a:t>7-7.6(Kruskal)</a:t>
            </a:r>
            <a:r>
              <a:rPr kumimoji="1" lang="zh-CN" altLang="en-US" b="1">
                <a:solidFill>
                  <a:srgbClr val="0000CC"/>
                </a:solidFill>
                <a:latin typeface="Times New Roman" pitchFamily="18" charset="0"/>
              </a:rPr>
              <a:t>：</a:t>
            </a:r>
            <a:r>
              <a:rPr kumimoji="1" lang="zh-CN" altLang="en-US" b="1">
                <a:latin typeface="Times New Roman" pitchFamily="18" charset="0"/>
              </a:rPr>
              <a:t>图</a:t>
            </a:r>
            <a:r>
              <a:rPr kumimoji="1" lang="en-US" altLang="zh-CN" b="1">
                <a:latin typeface="Times New Roman" pitchFamily="18" charset="0"/>
              </a:rPr>
              <a:t>G</a:t>
            </a:r>
            <a:r>
              <a:rPr kumimoji="1" lang="zh-CN" altLang="en-US" b="1">
                <a:latin typeface="Times New Roman" pitchFamily="18" charset="0"/>
              </a:rPr>
              <a:t>有</a:t>
            </a:r>
            <a:r>
              <a:rPr kumimoji="1" lang="en-US" altLang="zh-CN" b="1">
                <a:latin typeface="Times New Roman" pitchFamily="18" charset="0"/>
              </a:rPr>
              <a:t>n</a:t>
            </a:r>
            <a:r>
              <a:rPr kumimoji="1" lang="zh-CN" altLang="en-US" b="1">
                <a:latin typeface="Times New Roman" pitchFamily="18" charset="0"/>
              </a:rPr>
              <a:t>个结点，权</a:t>
            </a:r>
            <a:r>
              <a:rPr kumimoji="1" lang="en-US" altLang="zh-CN" b="1">
                <a:latin typeface="Times New Roman" pitchFamily="18" charset="0"/>
              </a:rPr>
              <a:t>W(e)</a:t>
            </a:r>
            <a:r>
              <a:rPr kumimoji="1" lang="zh-CN" altLang="en-US" b="1">
                <a:latin typeface="Times New Roman" pitchFamily="18" charset="0"/>
              </a:rPr>
              <a:t>，边集</a:t>
            </a:r>
            <a:r>
              <a:rPr kumimoji="1" lang="en-US" altLang="zh-CN" b="1">
                <a:latin typeface="Times New Roman" pitchFamily="18" charset="0"/>
              </a:rPr>
              <a:t>E(G)</a:t>
            </a:r>
            <a:r>
              <a:rPr kumimoji="1" lang="zh-CN" altLang="en-US" b="1">
                <a:latin typeface="Times New Roman" pitchFamily="18" charset="0"/>
              </a:rPr>
              <a:t>，以下算法产生的是</a:t>
            </a:r>
            <a:r>
              <a:rPr kumimoji="1" lang="zh-CN" altLang="en-US" b="1" i="1">
                <a:solidFill>
                  <a:srgbClr val="0000CC"/>
                </a:solidFill>
                <a:latin typeface="Times New Roman" pitchFamily="18" charset="0"/>
              </a:rPr>
              <a:t>最小生成树</a:t>
            </a:r>
            <a:r>
              <a:rPr kumimoji="1" lang="zh-CN" altLang="en-US" b="1">
                <a:latin typeface="Times New Roman" pitchFamily="18" charset="0"/>
              </a:rPr>
              <a:t>。</a:t>
            </a:r>
          </a:p>
          <a:p>
            <a:pPr algn="just" eaLnBrk="1" hangingPunct="1">
              <a:lnSpc>
                <a:spcPct val="130000"/>
              </a:lnSpc>
            </a:pPr>
            <a:r>
              <a:rPr kumimoji="1" lang="en-US" altLang="zh-CN" b="1">
                <a:latin typeface="Times New Roman" pitchFamily="18" charset="0"/>
              </a:rPr>
              <a:t>a)</a:t>
            </a:r>
            <a:r>
              <a:rPr kumimoji="1" lang="zh-CN" altLang="en-US" b="1">
                <a:latin typeface="Times New Roman" pitchFamily="18" charset="0"/>
              </a:rPr>
              <a:t>选取最小权边</a:t>
            </a:r>
            <a:r>
              <a:rPr kumimoji="1" lang="en-US" altLang="zh-CN" b="1">
                <a:latin typeface="Times New Roman" pitchFamily="18" charset="0"/>
              </a:rPr>
              <a:t>e</a:t>
            </a:r>
            <a:r>
              <a:rPr kumimoji="1" lang="en-US" altLang="zh-CN" b="1" baseline="-25000">
                <a:latin typeface="Times New Roman" pitchFamily="18" charset="0"/>
              </a:rPr>
              <a:t>1</a:t>
            </a:r>
            <a:r>
              <a:rPr kumimoji="1" lang="zh-CN" altLang="en-US" b="1">
                <a:latin typeface="Times New Roman" pitchFamily="18" charset="0"/>
              </a:rPr>
              <a:t>，置边数</a:t>
            </a:r>
            <a:r>
              <a:rPr kumimoji="1" lang="en-US" altLang="zh-CN" b="1">
                <a:latin typeface="Times New Roman" pitchFamily="18" charset="0"/>
              </a:rPr>
              <a:t>i=1</a:t>
            </a:r>
            <a:r>
              <a:rPr kumimoji="1" lang="zh-CN" altLang="en-US" b="1">
                <a:latin typeface="Times New Roman" pitchFamily="18" charset="0"/>
              </a:rPr>
              <a:t>，</a:t>
            </a:r>
            <a:r>
              <a:rPr kumimoji="1" lang="en-US" altLang="zh-CN" b="1">
                <a:latin typeface="Times New Roman" pitchFamily="18" charset="0"/>
              </a:rPr>
              <a:t>E</a:t>
            </a:r>
            <a:r>
              <a:rPr kumimoji="1" lang="en-US" altLang="zh-CN" b="1" baseline="-25000">
                <a:latin typeface="Times New Roman" pitchFamily="18" charset="0"/>
              </a:rPr>
              <a:t>1</a:t>
            </a:r>
            <a:r>
              <a:rPr kumimoji="1" lang="en-US" altLang="zh-CN" b="1">
                <a:latin typeface="Times New Roman" pitchFamily="18" charset="0"/>
              </a:rPr>
              <a:t>={e</a:t>
            </a:r>
            <a:r>
              <a:rPr kumimoji="1" lang="en-US" altLang="zh-CN" b="1" baseline="-25000">
                <a:latin typeface="Times New Roman" pitchFamily="18" charset="0"/>
              </a:rPr>
              <a:t>1</a:t>
            </a:r>
            <a:r>
              <a:rPr kumimoji="1" lang="en-US" altLang="zh-CN" b="1">
                <a:latin typeface="Times New Roman" pitchFamily="18" charset="0"/>
              </a:rPr>
              <a:t>}</a:t>
            </a:r>
            <a:r>
              <a:rPr kumimoji="1" lang="zh-CN" altLang="en-US" b="1">
                <a:latin typeface="Times New Roman" pitchFamily="18" charset="0"/>
              </a:rPr>
              <a:t>；</a:t>
            </a:r>
          </a:p>
          <a:p>
            <a:pPr algn="just" eaLnBrk="1" hangingPunct="1">
              <a:lnSpc>
                <a:spcPct val="130000"/>
              </a:lnSpc>
            </a:pPr>
            <a:r>
              <a:rPr kumimoji="1" lang="en-US" altLang="zh-CN" b="1">
                <a:latin typeface="Times New Roman" pitchFamily="18" charset="0"/>
              </a:rPr>
              <a:t>b) i=n-1</a:t>
            </a:r>
            <a:r>
              <a:rPr kumimoji="1" lang="zh-CN" altLang="en-US" b="1">
                <a:latin typeface="Times New Roman" pitchFamily="18" charset="0"/>
              </a:rPr>
              <a:t>，结束，否则转</a:t>
            </a:r>
            <a:r>
              <a:rPr kumimoji="1" lang="en-US" altLang="zh-CN" b="1">
                <a:latin typeface="Times New Roman" pitchFamily="18" charset="0"/>
              </a:rPr>
              <a:t>c)</a:t>
            </a:r>
            <a:r>
              <a:rPr kumimoji="1" lang="zh-CN" altLang="en-US" b="1">
                <a:latin typeface="Times New Roman" pitchFamily="18" charset="0"/>
              </a:rPr>
              <a:t>；</a:t>
            </a:r>
          </a:p>
          <a:p>
            <a:pPr algn="just" eaLnBrk="1" hangingPunct="1">
              <a:lnSpc>
                <a:spcPct val="130000"/>
              </a:lnSpc>
            </a:pPr>
            <a:r>
              <a:rPr kumimoji="1" lang="en-US" altLang="zh-CN" b="1">
                <a:latin typeface="Times New Roman" pitchFamily="18" charset="0"/>
              </a:rPr>
              <a:t>c)</a:t>
            </a:r>
            <a:r>
              <a:rPr kumimoji="1" lang="zh-CN" altLang="en-US" b="1">
                <a:latin typeface="Times New Roman" pitchFamily="18" charset="0"/>
              </a:rPr>
              <a:t>选择</a:t>
            </a:r>
            <a:r>
              <a:rPr kumimoji="1" lang="en-US" altLang="zh-CN" b="1">
                <a:latin typeface="Times New Roman" pitchFamily="18" charset="0"/>
              </a:rPr>
              <a:t>e</a:t>
            </a:r>
            <a:r>
              <a:rPr kumimoji="1" lang="en-US" altLang="zh-CN" b="1" baseline="-30000">
                <a:latin typeface="Times New Roman" pitchFamily="18" charset="0"/>
              </a:rPr>
              <a:t>i+1</a:t>
            </a:r>
            <a:r>
              <a:rPr kumimoji="1" lang="en-US" altLang="zh-CN" b="1">
                <a:latin typeface="宋体" pitchFamily="2" charset="-122"/>
              </a:rPr>
              <a:t>∈</a:t>
            </a:r>
            <a:r>
              <a:rPr kumimoji="1" lang="en-US" altLang="zh-CN" b="1">
                <a:latin typeface="Times New Roman" pitchFamily="18" charset="0"/>
              </a:rPr>
              <a:t>E(G)-E</a:t>
            </a:r>
            <a:r>
              <a:rPr kumimoji="1" lang="en-US" altLang="zh-CN" b="1" baseline="-25000">
                <a:latin typeface="Times New Roman" pitchFamily="18" charset="0"/>
              </a:rPr>
              <a:t>i</a:t>
            </a:r>
            <a:r>
              <a:rPr kumimoji="1" lang="zh-CN" altLang="en-US" b="1">
                <a:latin typeface="Times New Roman" pitchFamily="18" charset="0"/>
              </a:rPr>
              <a:t>，</a:t>
            </a:r>
            <a:r>
              <a:rPr kumimoji="1" lang="en-US" altLang="zh-CN" b="1">
                <a:latin typeface="Times New Roman" pitchFamily="18" charset="0"/>
              </a:rPr>
              <a:t>E</a:t>
            </a:r>
            <a:r>
              <a:rPr kumimoji="1" lang="en-US" altLang="zh-CN" b="1" baseline="-25000">
                <a:latin typeface="Times New Roman" pitchFamily="18" charset="0"/>
              </a:rPr>
              <a:t>i+1</a:t>
            </a:r>
            <a:r>
              <a:rPr kumimoji="1" lang="en-US" altLang="zh-CN" b="1">
                <a:latin typeface="Times New Roman" pitchFamily="18" charset="0"/>
              </a:rPr>
              <a:t>=E</a:t>
            </a:r>
            <a:r>
              <a:rPr kumimoji="1" lang="en-US" altLang="zh-CN" b="1" baseline="-25000">
                <a:latin typeface="Times New Roman" pitchFamily="18" charset="0"/>
              </a:rPr>
              <a:t>i</a:t>
            </a:r>
            <a:r>
              <a:rPr kumimoji="1" lang="en-US" altLang="zh-CN" b="1">
                <a:latin typeface="宋体" pitchFamily="2" charset="-122"/>
              </a:rPr>
              <a:t>∪</a:t>
            </a:r>
            <a:r>
              <a:rPr kumimoji="1" lang="en-US" altLang="zh-CN" b="1">
                <a:latin typeface="Times New Roman" pitchFamily="18" charset="0"/>
              </a:rPr>
              <a:t>{e</a:t>
            </a:r>
            <a:r>
              <a:rPr kumimoji="1" lang="en-US" altLang="zh-CN" b="1" baseline="-30000">
                <a:latin typeface="Times New Roman" pitchFamily="18" charset="0"/>
              </a:rPr>
              <a:t>i+1</a:t>
            </a:r>
            <a:r>
              <a:rPr kumimoji="1" lang="en-US" altLang="zh-CN" b="1">
                <a:latin typeface="Times New Roman" pitchFamily="18" charset="0"/>
              </a:rPr>
              <a:t>}</a:t>
            </a:r>
            <a:r>
              <a:rPr kumimoji="1" lang="zh-CN" altLang="en-US" b="1">
                <a:latin typeface="Times New Roman" pitchFamily="18" charset="0"/>
              </a:rPr>
              <a:t>无回路且</a:t>
            </a:r>
            <a:r>
              <a:rPr kumimoji="1" lang="en-US" altLang="zh-CN" b="1">
                <a:latin typeface="Times New Roman" pitchFamily="18" charset="0"/>
              </a:rPr>
              <a:t>W(e</a:t>
            </a:r>
            <a:r>
              <a:rPr kumimoji="1" lang="en-US" altLang="zh-CN" b="1" baseline="-30000">
                <a:latin typeface="Times New Roman" pitchFamily="18" charset="0"/>
              </a:rPr>
              <a:t>i+1</a:t>
            </a:r>
            <a:r>
              <a:rPr kumimoji="1" lang="en-US" altLang="zh-CN" b="1">
                <a:latin typeface="Times New Roman" pitchFamily="18" charset="0"/>
              </a:rPr>
              <a:t>)</a:t>
            </a:r>
            <a:r>
              <a:rPr kumimoji="1" lang="zh-CN" altLang="en-US" b="1">
                <a:latin typeface="Times New Roman" pitchFamily="18" charset="0"/>
              </a:rPr>
              <a:t>最小。</a:t>
            </a:r>
          </a:p>
          <a:p>
            <a:pPr algn="just" eaLnBrk="1" hangingPunct="1">
              <a:lnSpc>
                <a:spcPct val="130000"/>
              </a:lnSpc>
            </a:pPr>
            <a:r>
              <a:rPr kumimoji="1" lang="en-US" altLang="zh-CN" b="1">
                <a:latin typeface="Times New Roman" pitchFamily="18" charset="0"/>
              </a:rPr>
              <a:t>d) </a:t>
            </a:r>
            <a:r>
              <a:rPr kumimoji="1" lang="zh-CN" altLang="en-US" b="1">
                <a:latin typeface="Times New Roman" pitchFamily="18" charset="0"/>
              </a:rPr>
              <a:t>令</a:t>
            </a:r>
            <a:r>
              <a:rPr kumimoji="1" lang="en-US" altLang="zh-CN" b="1">
                <a:latin typeface="Times New Roman" pitchFamily="18" charset="0"/>
              </a:rPr>
              <a:t>i=i+1, </a:t>
            </a:r>
            <a:r>
              <a:rPr kumimoji="1" lang="zh-CN" altLang="en-US" b="1">
                <a:latin typeface="Times New Roman" pitchFamily="18" charset="0"/>
              </a:rPr>
              <a:t>转</a:t>
            </a:r>
            <a:r>
              <a:rPr kumimoji="1" lang="en-US" altLang="zh-CN" b="1">
                <a:latin typeface="Times New Roman" pitchFamily="18" charset="0"/>
              </a:rPr>
              <a:t>b)</a:t>
            </a:r>
          </a:p>
        </p:txBody>
      </p:sp>
      <p:grpSp>
        <p:nvGrpSpPr>
          <p:cNvPr id="78851" name="Group 3"/>
          <p:cNvGrpSpPr>
            <a:grpSpLocks/>
          </p:cNvGrpSpPr>
          <p:nvPr/>
        </p:nvGrpSpPr>
        <p:grpSpPr bwMode="auto">
          <a:xfrm>
            <a:off x="1331913" y="4019550"/>
            <a:ext cx="2857500" cy="2362200"/>
            <a:chOff x="432" y="2208"/>
            <a:chExt cx="1800" cy="1488"/>
          </a:xfrm>
        </p:grpSpPr>
        <p:grpSp>
          <p:nvGrpSpPr>
            <p:cNvPr id="101414" name="Group 4"/>
            <p:cNvGrpSpPr>
              <a:grpSpLocks/>
            </p:cNvGrpSpPr>
            <p:nvPr/>
          </p:nvGrpSpPr>
          <p:grpSpPr bwMode="auto">
            <a:xfrm>
              <a:off x="432" y="2208"/>
              <a:ext cx="1584" cy="1488"/>
              <a:chOff x="2175" y="11304"/>
              <a:chExt cx="2716" cy="2445"/>
            </a:xfrm>
          </p:grpSpPr>
          <p:sp>
            <p:nvSpPr>
              <p:cNvPr id="101426" name="Freeform 5"/>
              <p:cNvSpPr>
                <a:spLocks/>
              </p:cNvSpPr>
              <p:nvPr/>
            </p:nvSpPr>
            <p:spPr bwMode="auto">
              <a:xfrm>
                <a:off x="2175" y="11304"/>
                <a:ext cx="1687" cy="1857"/>
              </a:xfrm>
              <a:custGeom>
                <a:avLst/>
                <a:gdLst>
                  <a:gd name="T0" fmla="*/ 1687 w 1687"/>
                  <a:gd name="T1" fmla="*/ 82 h 1857"/>
                  <a:gd name="T2" fmla="*/ 1222 w 1687"/>
                  <a:gd name="T3" fmla="*/ 22 h 1857"/>
                  <a:gd name="T4" fmla="*/ 442 w 1687"/>
                  <a:gd name="T5" fmla="*/ 217 h 1857"/>
                  <a:gd name="T6" fmla="*/ 37 w 1687"/>
                  <a:gd name="T7" fmla="*/ 892 h 1857"/>
                  <a:gd name="T8" fmla="*/ 217 w 1687"/>
                  <a:gd name="T9" fmla="*/ 1462 h 1857"/>
                  <a:gd name="T10" fmla="*/ 765 w 1687"/>
                  <a:gd name="T11" fmla="*/ 1857 h 1857"/>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687" h="1857">
                    <a:moveTo>
                      <a:pt x="1687" y="82"/>
                    </a:moveTo>
                    <a:cubicBezTo>
                      <a:pt x="1609" y="72"/>
                      <a:pt x="1429" y="0"/>
                      <a:pt x="1222" y="22"/>
                    </a:cubicBezTo>
                    <a:cubicBezTo>
                      <a:pt x="1015" y="44"/>
                      <a:pt x="639" y="72"/>
                      <a:pt x="442" y="217"/>
                    </a:cubicBezTo>
                    <a:cubicBezTo>
                      <a:pt x="245" y="362"/>
                      <a:pt x="74" y="685"/>
                      <a:pt x="37" y="892"/>
                    </a:cubicBezTo>
                    <a:cubicBezTo>
                      <a:pt x="0" y="1099"/>
                      <a:pt x="96" y="1301"/>
                      <a:pt x="217" y="1462"/>
                    </a:cubicBezTo>
                    <a:cubicBezTo>
                      <a:pt x="338" y="1623"/>
                      <a:pt x="651" y="1775"/>
                      <a:pt x="765" y="1857"/>
                    </a:cubicBezTo>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nvGrpSpPr>
              <p:cNvPr id="101427" name="Group 6"/>
              <p:cNvGrpSpPr>
                <a:grpSpLocks/>
              </p:cNvGrpSpPr>
              <p:nvPr/>
            </p:nvGrpSpPr>
            <p:grpSpPr bwMode="auto">
              <a:xfrm>
                <a:off x="2985" y="11394"/>
                <a:ext cx="1906" cy="2310"/>
                <a:chOff x="2925" y="11370"/>
                <a:chExt cx="1906" cy="2310"/>
              </a:xfrm>
            </p:grpSpPr>
            <p:sp>
              <p:nvSpPr>
                <p:cNvPr id="101435" name="Freeform 7"/>
                <p:cNvSpPr>
                  <a:spLocks/>
                </p:cNvSpPr>
                <p:nvPr/>
              </p:nvSpPr>
              <p:spPr bwMode="auto">
                <a:xfrm>
                  <a:off x="2925" y="13125"/>
                  <a:ext cx="1905" cy="1"/>
                </a:xfrm>
                <a:custGeom>
                  <a:avLst/>
                  <a:gdLst>
                    <a:gd name="T0" fmla="*/ 0 w 1905"/>
                    <a:gd name="T1" fmla="*/ 0 h 15"/>
                    <a:gd name="T2" fmla="*/ 1905 w 1905"/>
                    <a:gd name="T3" fmla="*/ 1 h 15"/>
                    <a:gd name="T4" fmla="*/ 0 60000 65536"/>
                    <a:gd name="T5" fmla="*/ 0 60000 65536"/>
                  </a:gdLst>
                  <a:ahLst/>
                  <a:cxnLst>
                    <a:cxn ang="T4">
                      <a:pos x="T0" y="T1"/>
                    </a:cxn>
                    <a:cxn ang="T5">
                      <a:pos x="T2" y="T3"/>
                    </a:cxn>
                  </a:cxnLst>
                  <a:rect l="0" t="0" r="r" b="b"/>
                  <a:pathLst>
                    <a:path w="1905" h="15">
                      <a:moveTo>
                        <a:pt x="0" y="0"/>
                      </a:moveTo>
                      <a:lnTo>
                        <a:pt x="1905" y="15"/>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36" name="Freeform 8"/>
                <p:cNvSpPr>
                  <a:spLocks/>
                </p:cNvSpPr>
                <p:nvPr/>
              </p:nvSpPr>
              <p:spPr bwMode="auto">
                <a:xfrm>
                  <a:off x="2925" y="13125"/>
                  <a:ext cx="930" cy="555"/>
                </a:xfrm>
                <a:custGeom>
                  <a:avLst/>
                  <a:gdLst>
                    <a:gd name="T0" fmla="*/ 0 w 930"/>
                    <a:gd name="T1" fmla="*/ 0 h 555"/>
                    <a:gd name="T2" fmla="*/ 930 w 930"/>
                    <a:gd name="T3" fmla="*/ 555 h 555"/>
                    <a:gd name="T4" fmla="*/ 0 60000 65536"/>
                    <a:gd name="T5" fmla="*/ 0 60000 65536"/>
                  </a:gdLst>
                  <a:ahLst/>
                  <a:cxnLst>
                    <a:cxn ang="T4">
                      <a:pos x="T0" y="T1"/>
                    </a:cxn>
                    <a:cxn ang="T5">
                      <a:pos x="T2" y="T3"/>
                    </a:cxn>
                  </a:cxnLst>
                  <a:rect l="0" t="0" r="r" b="b"/>
                  <a:pathLst>
                    <a:path w="930" h="555">
                      <a:moveTo>
                        <a:pt x="0" y="0"/>
                      </a:moveTo>
                      <a:lnTo>
                        <a:pt x="930" y="555"/>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37" name="Freeform 9"/>
                <p:cNvSpPr>
                  <a:spLocks/>
                </p:cNvSpPr>
                <p:nvPr/>
              </p:nvSpPr>
              <p:spPr bwMode="auto">
                <a:xfrm>
                  <a:off x="4830" y="11940"/>
                  <a:ext cx="1" cy="1185"/>
                </a:xfrm>
                <a:custGeom>
                  <a:avLst/>
                  <a:gdLst>
                    <a:gd name="T0" fmla="*/ 0 w 1"/>
                    <a:gd name="T1" fmla="*/ 0 h 1185"/>
                    <a:gd name="T2" fmla="*/ 1 w 1"/>
                    <a:gd name="T3" fmla="*/ 1185 h 1185"/>
                    <a:gd name="T4" fmla="*/ 0 60000 65536"/>
                    <a:gd name="T5" fmla="*/ 0 60000 65536"/>
                  </a:gdLst>
                  <a:ahLst/>
                  <a:cxnLst>
                    <a:cxn ang="T4">
                      <a:pos x="T0" y="T1"/>
                    </a:cxn>
                    <a:cxn ang="T5">
                      <a:pos x="T2" y="T3"/>
                    </a:cxn>
                  </a:cxnLst>
                  <a:rect l="0" t="0" r="r" b="b"/>
                  <a:pathLst>
                    <a:path w="1" h="1185">
                      <a:moveTo>
                        <a:pt x="0" y="0"/>
                      </a:moveTo>
                      <a:lnTo>
                        <a:pt x="1" y="1185"/>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38" name="Freeform 10"/>
                <p:cNvSpPr>
                  <a:spLocks/>
                </p:cNvSpPr>
                <p:nvPr/>
              </p:nvSpPr>
              <p:spPr bwMode="auto">
                <a:xfrm>
                  <a:off x="3900" y="11370"/>
                  <a:ext cx="915" cy="555"/>
                </a:xfrm>
                <a:custGeom>
                  <a:avLst/>
                  <a:gdLst>
                    <a:gd name="T0" fmla="*/ 0 w 915"/>
                    <a:gd name="T1" fmla="*/ 0 h 555"/>
                    <a:gd name="T2" fmla="*/ 915 w 915"/>
                    <a:gd name="T3" fmla="*/ 555 h 555"/>
                    <a:gd name="T4" fmla="*/ 0 60000 65536"/>
                    <a:gd name="T5" fmla="*/ 0 60000 65536"/>
                  </a:gdLst>
                  <a:ahLst/>
                  <a:cxnLst>
                    <a:cxn ang="T4">
                      <a:pos x="T0" y="T1"/>
                    </a:cxn>
                    <a:cxn ang="T5">
                      <a:pos x="T2" y="T3"/>
                    </a:cxn>
                  </a:cxnLst>
                  <a:rect l="0" t="0" r="r" b="b"/>
                  <a:pathLst>
                    <a:path w="915" h="555">
                      <a:moveTo>
                        <a:pt x="0" y="0"/>
                      </a:moveTo>
                      <a:lnTo>
                        <a:pt x="915" y="555"/>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grpSp>
            <p:nvGrpSpPr>
              <p:cNvPr id="101428" name="Group 11"/>
              <p:cNvGrpSpPr>
                <a:grpSpLocks/>
              </p:cNvGrpSpPr>
              <p:nvPr/>
            </p:nvGrpSpPr>
            <p:grpSpPr bwMode="auto">
              <a:xfrm>
                <a:off x="2985" y="11394"/>
                <a:ext cx="1905" cy="2355"/>
                <a:chOff x="2925" y="11349"/>
                <a:chExt cx="1905" cy="2355"/>
              </a:xfrm>
            </p:grpSpPr>
            <p:sp>
              <p:nvSpPr>
                <p:cNvPr id="101431" name="Freeform 12"/>
                <p:cNvSpPr>
                  <a:spLocks/>
                </p:cNvSpPr>
                <p:nvPr/>
              </p:nvSpPr>
              <p:spPr bwMode="auto">
                <a:xfrm>
                  <a:off x="2940" y="11349"/>
                  <a:ext cx="900" cy="591"/>
                </a:xfrm>
                <a:custGeom>
                  <a:avLst/>
                  <a:gdLst>
                    <a:gd name="T0" fmla="*/ 900 w 900"/>
                    <a:gd name="T1" fmla="*/ 0 h 591"/>
                    <a:gd name="T2" fmla="*/ 0 w 900"/>
                    <a:gd name="T3" fmla="*/ 591 h 591"/>
                    <a:gd name="T4" fmla="*/ 0 60000 65536"/>
                    <a:gd name="T5" fmla="*/ 0 60000 65536"/>
                  </a:gdLst>
                  <a:ahLst/>
                  <a:cxnLst>
                    <a:cxn ang="T4">
                      <a:pos x="T0" y="T1"/>
                    </a:cxn>
                    <a:cxn ang="T5">
                      <a:pos x="T2" y="T3"/>
                    </a:cxn>
                  </a:cxnLst>
                  <a:rect l="0" t="0" r="r" b="b"/>
                  <a:pathLst>
                    <a:path w="900" h="591">
                      <a:moveTo>
                        <a:pt x="900" y="0"/>
                      </a:moveTo>
                      <a:lnTo>
                        <a:pt x="0" y="591"/>
                      </a:lnTo>
                    </a:path>
                  </a:pathLst>
                </a:custGeom>
                <a:noFill/>
                <a:ln w="25400">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32" name="Freeform 13"/>
                <p:cNvSpPr>
                  <a:spLocks/>
                </p:cNvSpPr>
                <p:nvPr/>
              </p:nvSpPr>
              <p:spPr bwMode="auto">
                <a:xfrm>
                  <a:off x="2925" y="11922"/>
                  <a:ext cx="1" cy="1218"/>
                </a:xfrm>
                <a:custGeom>
                  <a:avLst/>
                  <a:gdLst>
                    <a:gd name="T0" fmla="*/ 0 w 1"/>
                    <a:gd name="T1" fmla="*/ 0 h 1218"/>
                    <a:gd name="T2" fmla="*/ 0 w 1"/>
                    <a:gd name="T3" fmla="*/ 1218 h 1218"/>
                    <a:gd name="T4" fmla="*/ 0 60000 65536"/>
                    <a:gd name="T5" fmla="*/ 0 60000 65536"/>
                  </a:gdLst>
                  <a:ahLst/>
                  <a:cxnLst>
                    <a:cxn ang="T4">
                      <a:pos x="T0" y="T1"/>
                    </a:cxn>
                    <a:cxn ang="T5">
                      <a:pos x="T2" y="T3"/>
                    </a:cxn>
                  </a:cxnLst>
                  <a:rect l="0" t="0" r="r" b="b"/>
                  <a:pathLst>
                    <a:path w="1" h="1218">
                      <a:moveTo>
                        <a:pt x="0" y="0"/>
                      </a:moveTo>
                      <a:lnTo>
                        <a:pt x="0" y="1218"/>
                      </a:lnTo>
                    </a:path>
                  </a:pathLst>
                </a:custGeom>
                <a:noFill/>
                <a:ln w="25400">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33" name="Freeform 14"/>
                <p:cNvSpPr>
                  <a:spLocks/>
                </p:cNvSpPr>
                <p:nvPr/>
              </p:nvSpPr>
              <p:spPr bwMode="auto">
                <a:xfrm>
                  <a:off x="3840" y="13095"/>
                  <a:ext cx="975" cy="609"/>
                </a:xfrm>
                <a:custGeom>
                  <a:avLst/>
                  <a:gdLst>
                    <a:gd name="T0" fmla="*/ 975 w 975"/>
                    <a:gd name="T1" fmla="*/ 0 h 609"/>
                    <a:gd name="T2" fmla="*/ 975 w 975"/>
                    <a:gd name="T3" fmla="*/ 15 h 609"/>
                    <a:gd name="T4" fmla="*/ 0 w 975"/>
                    <a:gd name="T5" fmla="*/ 609 h 609"/>
                    <a:gd name="T6" fmla="*/ 0 60000 65536"/>
                    <a:gd name="T7" fmla="*/ 0 60000 65536"/>
                    <a:gd name="T8" fmla="*/ 0 60000 65536"/>
                  </a:gdLst>
                  <a:ahLst/>
                  <a:cxnLst>
                    <a:cxn ang="T6">
                      <a:pos x="T0" y="T1"/>
                    </a:cxn>
                    <a:cxn ang="T7">
                      <a:pos x="T2" y="T3"/>
                    </a:cxn>
                    <a:cxn ang="T8">
                      <a:pos x="T4" y="T5"/>
                    </a:cxn>
                  </a:cxnLst>
                  <a:rect l="0" t="0" r="r" b="b"/>
                  <a:pathLst>
                    <a:path w="975" h="609">
                      <a:moveTo>
                        <a:pt x="975" y="0"/>
                      </a:moveTo>
                      <a:lnTo>
                        <a:pt x="975" y="15"/>
                      </a:lnTo>
                      <a:lnTo>
                        <a:pt x="0" y="609"/>
                      </a:lnTo>
                    </a:path>
                  </a:pathLst>
                </a:custGeom>
                <a:noFill/>
                <a:ln w="25400">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01434" name="Freeform 15"/>
                <p:cNvSpPr>
                  <a:spLocks/>
                </p:cNvSpPr>
                <p:nvPr/>
              </p:nvSpPr>
              <p:spPr bwMode="auto">
                <a:xfrm>
                  <a:off x="3862" y="11949"/>
                  <a:ext cx="968" cy="1716"/>
                </a:xfrm>
                <a:custGeom>
                  <a:avLst/>
                  <a:gdLst>
                    <a:gd name="T0" fmla="*/ 968 w 968"/>
                    <a:gd name="T1" fmla="*/ 0 h 1716"/>
                    <a:gd name="T2" fmla="*/ 0 w 968"/>
                    <a:gd name="T3" fmla="*/ 1716 h 1716"/>
                    <a:gd name="T4" fmla="*/ 0 60000 65536"/>
                    <a:gd name="T5" fmla="*/ 0 60000 65536"/>
                  </a:gdLst>
                  <a:ahLst/>
                  <a:cxnLst>
                    <a:cxn ang="T4">
                      <a:pos x="T0" y="T1"/>
                    </a:cxn>
                    <a:cxn ang="T5">
                      <a:pos x="T2" y="T3"/>
                    </a:cxn>
                  </a:cxnLst>
                  <a:rect l="0" t="0" r="r" b="b"/>
                  <a:pathLst>
                    <a:path w="968" h="1716">
                      <a:moveTo>
                        <a:pt x="968" y="0"/>
                      </a:moveTo>
                      <a:lnTo>
                        <a:pt x="0" y="1716"/>
                      </a:lnTo>
                    </a:path>
                  </a:pathLst>
                </a:custGeom>
                <a:noFill/>
                <a:ln w="25400">
                  <a:solidFill>
                    <a:schemeClr val="tx1"/>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1429" name="Line 16"/>
              <p:cNvSpPr>
                <a:spLocks noChangeShapeType="1"/>
              </p:cNvSpPr>
              <p:nvPr/>
            </p:nvSpPr>
            <p:spPr bwMode="auto">
              <a:xfrm>
                <a:off x="3915" y="11379"/>
                <a:ext cx="0" cy="23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30" name="Freeform 17"/>
              <p:cNvSpPr>
                <a:spLocks/>
              </p:cNvSpPr>
              <p:nvPr/>
            </p:nvSpPr>
            <p:spPr bwMode="auto">
              <a:xfrm>
                <a:off x="3000" y="11994"/>
                <a:ext cx="1860" cy="1"/>
              </a:xfrm>
              <a:custGeom>
                <a:avLst/>
                <a:gdLst>
                  <a:gd name="T0" fmla="*/ 0 w 1860"/>
                  <a:gd name="T1" fmla="*/ 0 h 3"/>
                  <a:gd name="T2" fmla="*/ 1860 w 1860"/>
                  <a:gd name="T3" fmla="*/ 1 h 3"/>
                  <a:gd name="T4" fmla="*/ 0 60000 65536"/>
                  <a:gd name="T5" fmla="*/ 0 60000 65536"/>
                </a:gdLst>
                <a:ahLst/>
                <a:cxnLst>
                  <a:cxn ang="T4">
                    <a:pos x="T0" y="T1"/>
                  </a:cxn>
                  <a:cxn ang="T5">
                    <a:pos x="T2" y="T3"/>
                  </a:cxn>
                </a:cxnLst>
                <a:rect l="0" t="0" r="r" b="b"/>
                <a:pathLst>
                  <a:path w="1860" h="3">
                    <a:moveTo>
                      <a:pt x="0" y="0"/>
                    </a:moveTo>
                    <a:lnTo>
                      <a:pt x="1860" y="3"/>
                    </a:lnTo>
                  </a:path>
                </a:pathLst>
              </a:custGeom>
              <a:noFill/>
              <a:ln w="25400">
                <a:solidFill>
                  <a:srgbClr val="000000"/>
                </a:solidFill>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01415" name="Text Box 18"/>
            <p:cNvSpPr txBox="1">
              <a:spLocks noChangeArrowheads="1"/>
            </p:cNvSpPr>
            <p:nvPr/>
          </p:nvSpPr>
          <p:spPr bwMode="auto">
            <a:xfrm>
              <a:off x="448" y="235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6</a:t>
              </a:r>
            </a:p>
          </p:txBody>
        </p:sp>
        <p:sp>
          <p:nvSpPr>
            <p:cNvPr id="101416" name="Text Box 19"/>
            <p:cNvSpPr txBox="1">
              <a:spLocks noChangeArrowheads="1"/>
            </p:cNvSpPr>
            <p:nvPr/>
          </p:nvSpPr>
          <p:spPr bwMode="auto">
            <a:xfrm>
              <a:off x="1024" y="232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1</a:t>
              </a:r>
            </a:p>
          </p:txBody>
        </p:sp>
        <p:sp>
          <p:nvSpPr>
            <p:cNvPr id="101417" name="Text Box 20"/>
            <p:cNvSpPr txBox="1">
              <a:spLocks noChangeArrowheads="1"/>
            </p:cNvSpPr>
            <p:nvPr/>
          </p:nvSpPr>
          <p:spPr bwMode="auto">
            <a:xfrm>
              <a:off x="1408" y="239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2</a:t>
              </a:r>
            </a:p>
          </p:txBody>
        </p:sp>
        <p:sp>
          <p:nvSpPr>
            <p:cNvPr id="101418" name="Text Box 21"/>
            <p:cNvSpPr txBox="1">
              <a:spLocks noChangeArrowheads="1"/>
            </p:cNvSpPr>
            <p:nvPr/>
          </p:nvSpPr>
          <p:spPr bwMode="auto">
            <a:xfrm>
              <a:off x="1536" y="2584"/>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9</a:t>
              </a:r>
            </a:p>
          </p:txBody>
        </p:sp>
        <p:sp>
          <p:nvSpPr>
            <p:cNvPr id="101419" name="Text Box 22"/>
            <p:cNvSpPr txBox="1">
              <a:spLocks noChangeArrowheads="1"/>
            </p:cNvSpPr>
            <p:nvPr/>
          </p:nvSpPr>
          <p:spPr bwMode="auto">
            <a:xfrm>
              <a:off x="864" y="283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3</a:t>
              </a:r>
            </a:p>
          </p:txBody>
        </p:sp>
        <p:sp>
          <p:nvSpPr>
            <p:cNvPr id="101420" name="Text Box 23"/>
            <p:cNvSpPr txBox="1">
              <a:spLocks noChangeArrowheads="1"/>
            </p:cNvSpPr>
            <p:nvPr/>
          </p:nvSpPr>
          <p:spPr bwMode="auto">
            <a:xfrm>
              <a:off x="1008" y="3408"/>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4</a:t>
              </a:r>
            </a:p>
          </p:txBody>
        </p:sp>
        <p:sp>
          <p:nvSpPr>
            <p:cNvPr id="101421" name="Text Box 24"/>
            <p:cNvSpPr txBox="1">
              <a:spLocks noChangeArrowheads="1"/>
            </p:cNvSpPr>
            <p:nvPr/>
          </p:nvSpPr>
          <p:spPr bwMode="auto">
            <a:xfrm>
              <a:off x="1056" y="316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10</a:t>
              </a:r>
            </a:p>
          </p:txBody>
        </p:sp>
        <p:sp>
          <p:nvSpPr>
            <p:cNvPr id="101422" name="Text Box 25"/>
            <p:cNvSpPr txBox="1">
              <a:spLocks noChangeArrowheads="1"/>
            </p:cNvSpPr>
            <p:nvPr/>
          </p:nvSpPr>
          <p:spPr bwMode="auto">
            <a:xfrm>
              <a:off x="1992" y="2880"/>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8</a:t>
              </a:r>
            </a:p>
          </p:txBody>
        </p:sp>
        <p:sp>
          <p:nvSpPr>
            <p:cNvPr id="101423" name="Text Box 26"/>
            <p:cNvSpPr txBox="1">
              <a:spLocks noChangeArrowheads="1"/>
            </p:cNvSpPr>
            <p:nvPr/>
          </p:nvSpPr>
          <p:spPr bwMode="auto">
            <a:xfrm>
              <a:off x="1632" y="2976"/>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7</a:t>
              </a:r>
            </a:p>
          </p:txBody>
        </p:sp>
        <p:sp>
          <p:nvSpPr>
            <p:cNvPr id="101424" name="Text Box 27"/>
            <p:cNvSpPr txBox="1">
              <a:spLocks noChangeArrowheads="1"/>
            </p:cNvSpPr>
            <p:nvPr/>
          </p:nvSpPr>
          <p:spPr bwMode="auto">
            <a:xfrm>
              <a:off x="1736" y="3432"/>
              <a:ext cx="2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5</a:t>
              </a:r>
            </a:p>
          </p:txBody>
        </p:sp>
        <p:sp>
          <p:nvSpPr>
            <p:cNvPr id="101425" name="Text Box 28"/>
            <p:cNvSpPr txBox="1">
              <a:spLocks noChangeArrowheads="1"/>
            </p:cNvSpPr>
            <p:nvPr/>
          </p:nvSpPr>
          <p:spPr bwMode="auto">
            <a:xfrm>
              <a:off x="1648" y="2264"/>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11</a:t>
              </a:r>
            </a:p>
          </p:txBody>
        </p:sp>
      </p:grpSp>
      <p:grpSp>
        <p:nvGrpSpPr>
          <p:cNvPr id="78877" name="Group 29"/>
          <p:cNvGrpSpPr>
            <a:grpSpLocks/>
          </p:cNvGrpSpPr>
          <p:nvPr/>
        </p:nvGrpSpPr>
        <p:grpSpPr bwMode="auto">
          <a:xfrm>
            <a:off x="5043488" y="3716338"/>
            <a:ext cx="2768600" cy="2479675"/>
            <a:chOff x="2784" y="2048"/>
            <a:chExt cx="1744" cy="1562"/>
          </a:xfrm>
        </p:grpSpPr>
        <p:grpSp>
          <p:nvGrpSpPr>
            <p:cNvPr id="101392" name="Group 30"/>
            <p:cNvGrpSpPr>
              <a:grpSpLocks/>
            </p:cNvGrpSpPr>
            <p:nvPr/>
          </p:nvGrpSpPr>
          <p:grpSpPr bwMode="auto">
            <a:xfrm>
              <a:off x="2976" y="2208"/>
              <a:ext cx="1296" cy="1200"/>
              <a:chOff x="7020" y="11268"/>
              <a:chExt cx="2340" cy="2028"/>
            </a:xfrm>
          </p:grpSpPr>
          <p:sp>
            <p:nvSpPr>
              <p:cNvPr id="101406" name="Line 31"/>
              <p:cNvSpPr>
                <a:spLocks noChangeShapeType="1"/>
              </p:cNvSpPr>
              <p:nvPr/>
            </p:nvSpPr>
            <p:spPr bwMode="auto">
              <a:xfrm flipH="1">
                <a:off x="7020" y="11268"/>
                <a:ext cx="1080" cy="62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7" name="Line 32"/>
              <p:cNvSpPr>
                <a:spLocks noChangeShapeType="1"/>
              </p:cNvSpPr>
              <p:nvPr/>
            </p:nvSpPr>
            <p:spPr bwMode="auto">
              <a:xfrm>
                <a:off x="8100" y="11268"/>
                <a:ext cx="1260" cy="6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8" name="Line 33"/>
              <p:cNvSpPr>
                <a:spLocks noChangeShapeType="1"/>
              </p:cNvSpPr>
              <p:nvPr/>
            </p:nvSpPr>
            <p:spPr bwMode="auto">
              <a:xfrm>
                <a:off x="7020" y="11892"/>
                <a:ext cx="360" cy="14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09" name="Line 34"/>
              <p:cNvSpPr>
                <a:spLocks noChangeShapeType="1"/>
              </p:cNvSpPr>
              <p:nvPr/>
            </p:nvSpPr>
            <p:spPr bwMode="auto">
              <a:xfrm flipH="1">
                <a:off x="8820" y="11892"/>
                <a:ext cx="540" cy="14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0" name="Line 35"/>
              <p:cNvSpPr>
                <a:spLocks noChangeShapeType="1"/>
              </p:cNvSpPr>
              <p:nvPr/>
            </p:nvSpPr>
            <p:spPr bwMode="auto">
              <a:xfrm>
                <a:off x="7380" y="13296"/>
                <a:ext cx="14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1" name="Line 36"/>
              <p:cNvSpPr>
                <a:spLocks noChangeShapeType="1"/>
              </p:cNvSpPr>
              <p:nvPr/>
            </p:nvSpPr>
            <p:spPr bwMode="auto">
              <a:xfrm flipH="1">
                <a:off x="7380" y="11892"/>
                <a:ext cx="1980" cy="140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2" name="Line 37"/>
              <p:cNvSpPr>
                <a:spLocks noChangeShapeType="1"/>
              </p:cNvSpPr>
              <p:nvPr/>
            </p:nvSpPr>
            <p:spPr bwMode="auto">
              <a:xfrm>
                <a:off x="7020" y="11892"/>
                <a:ext cx="23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1413" name="Line 38"/>
              <p:cNvSpPr>
                <a:spLocks noChangeShapeType="1"/>
              </p:cNvSpPr>
              <p:nvPr/>
            </p:nvSpPr>
            <p:spPr bwMode="auto">
              <a:xfrm flipH="1">
                <a:off x="7380" y="11268"/>
                <a:ext cx="720" cy="202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1393" name="Text Box 39"/>
            <p:cNvSpPr txBox="1">
              <a:spLocks noChangeArrowheads="1"/>
            </p:cNvSpPr>
            <p:nvPr/>
          </p:nvSpPr>
          <p:spPr bwMode="auto">
            <a:xfrm>
              <a:off x="3464" y="2048"/>
              <a:ext cx="2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x</a:t>
              </a:r>
              <a:r>
                <a:rPr kumimoji="1" lang="en-US" altLang="zh-CN" sz="2000" b="1" baseline="-25000">
                  <a:latin typeface="Times New Roman" pitchFamily="18" charset="0"/>
                </a:rPr>
                <a:t>1</a:t>
              </a:r>
            </a:p>
          </p:txBody>
        </p:sp>
        <p:sp>
          <p:nvSpPr>
            <p:cNvPr id="101394" name="Text Box 40"/>
            <p:cNvSpPr txBox="1">
              <a:spLocks noChangeArrowheads="1"/>
            </p:cNvSpPr>
            <p:nvPr/>
          </p:nvSpPr>
          <p:spPr bwMode="auto">
            <a:xfrm>
              <a:off x="3960" y="3264"/>
              <a:ext cx="2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x</a:t>
              </a:r>
              <a:r>
                <a:rPr kumimoji="1" lang="en-US" altLang="zh-CN" sz="2000" b="1" baseline="-25000">
                  <a:latin typeface="Times New Roman" pitchFamily="18" charset="0"/>
                </a:rPr>
                <a:t>3</a:t>
              </a:r>
            </a:p>
          </p:txBody>
        </p:sp>
        <p:sp>
          <p:nvSpPr>
            <p:cNvPr id="101395" name="Text Box 41"/>
            <p:cNvSpPr txBox="1">
              <a:spLocks noChangeArrowheads="1"/>
            </p:cNvSpPr>
            <p:nvPr/>
          </p:nvSpPr>
          <p:spPr bwMode="auto">
            <a:xfrm>
              <a:off x="2992" y="3296"/>
              <a:ext cx="2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x</a:t>
              </a:r>
              <a:r>
                <a:rPr kumimoji="1" lang="en-US" altLang="zh-CN" sz="2000" b="1" baseline="-25000">
                  <a:latin typeface="Times New Roman" pitchFamily="18" charset="0"/>
                </a:rPr>
                <a:t>4</a:t>
              </a:r>
            </a:p>
          </p:txBody>
        </p:sp>
        <p:sp>
          <p:nvSpPr>
            <p:cNvPr id="101396" name="Text Box 42"/>
            <p:cNvSpPr txBox="1">
              <a:spLocks noChangeArrowheads="1"/>
            </p:cNvSpPr>
            <p:nvPr/>
          </p:nvSpPr>
          <p:spPr bwMode="auto">
            <a:xfrm>
              <a:off x="4248" y="2448"/>
              <a:ext cx="2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x</a:t>
              </a:r>
              <a:r>
                <a:rPr kumimoji="1" lang="en-US" altLang="zh-CN" sz="2000" b="1" baseline="-25000">
                  <a:latin typeface="Times New Roman" pitchFamily="18" charset="0"/>
                </a:rPr>
                <a:t>2</a:t>
              </a:r>
            </a:p>
          </p:txBody>
        </p:sp>
        <p:sp>
          <p:nvSpPr>
            <p:cNvPr id="101397" name="Text Box 43"/>
            <p:cNvSpPr txBox="1">
              <a:spLocks noChangeArrowheads="1"/>
            </p:cNvSpPr>
            <p:nvPr/>
          </p:nvSpPr>
          <p:spPr bwMode="auto">
            <a:xfrm>
              <a:off x="2784" y="2448"/>
              <a:ext cx="2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x</a:t>
              </a:r>
              <a:r>
                <a:rPr kumimoji="1" lang="en-US" altLang="zh-CN" sz="2000" b="1" baseline="-25000">
                  <a:latin typeface="Times New Roman" pitchFamily="18" charset="0"/>
                </a:rPr>
                <a:t>5</a:t>
              </a:r>
            </a:p>
          </p:txBody>
        </p:sp>
        <p:sp>
          <p:nvSpPr>
            <p:cNvPr id="101398" name="Text Box 44"/>
            <p:cNvSpPr txBox="1">
              <a:spLocks noChangeArrowheads="1"/>
            </p:cNvSpPr>
            <p:nvPr/>
          </p:nvSpPr>
          <p:spPr bwMode="auto">
            <a:xfrm>
              <a:off x="3120" y="2256"/>
              <a:ext cx="2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2</a:t>
              </a:r>
            </a:p>
          </p:txBody>
        </p:sp>
        <p:sp>
          <p:nvSpPr>
            <p:cNvPr id="101399" name="Text Box 45"/>
            <p:cNvSpPr txBox="1">
              <a:spLocks noChangeArrowheads="1"/>
            </p:cNvSpPr>
            <p:nvPr/>
          </p:nvSpPr>
          <p:spPr bwMode="auto">
            <a:xfrm>
              <a:off x="3216" y="2688"/>
              <a:ext cx="2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3</a:t>
              </a:r>
            </a:p>
          </p:txBody>
        </p:sp>
        <p:sp>
          <p:nvSpPr>
            <p:cNvPr id="101400" name="Text Box 46"/>
            <p:cNvSpPr txBox="1">
              <a:spLocks noChangeArrowheads="1"/>
            </p:cNvSpPr>
            <p:nvPr/>
          </p:nvSpPr>
          <p:spPr bwMode="auto">
            <a:xfrm>
              <a:off x="2928" y="2832"/>
              <a:ext cx="2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3</a:t>
              </a:r>
            </a:p>
          </p:txBody>
        </p:sp>
        <p:sp>
          <p:nvSpPr>
            <p:cNvPr id="101401" name="Text Box 47"/>
            <p:cNvSpPr txBox="1">
              <a:spLocks noChangeArrowheads="1"/>
            </p:cNvSpPr>
            <p:nvPr/>
          </p:nvSpPr>
          <p:spPr bwMode="auto">
            <a:xfrm>
              <a:off x="3504" y="3360"/>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2</a:t>
              </a:r>
            </a:p>
          </p:txBody>
        </p:sp>
        <p:sp>
          <p:nvSpPr>
            <p:cNvPr id="101402" name="Text Box 48"/>
            <p:cNvSpPr txBox="1">
              <a:spLocks noChangeArrowheads="1"/>
            </p:cNvSpPr>
            <p:nvPr/>
          </p:nvSpPr>
          <p:spPr bwMode="auto">
            <a:xfrm>
              <a:off x="3648" y="2832"/>
              <a:ext cx="19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2</a:t>
              </a:r>
            </a:p>
          </p:txBody>
        </p:sp>
        <p:sp>
          <p:nvSpPr>
            <p:cNvPr id="101403" name="Text Box 49"/>
            <p:cNvSpPr txBox="1">
              <a:spLocks noChangeArrowheads="1"/>
            </p:cNvSpPr>
            <p:nvPr/>
          </p:nvSpPr>
          <p:spPr bwMode="auto">
            <a:xfrm>
              <a:off x="4096" y="2872"/>
              <a:ext cx="2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2</a:t>
              </a:r>
            </a:p>
          </p:txBody>
        </p:sp>
        <p:sp>
          <p:nvSpPr>
            <p:cNvPr id="101404" name="Text Box 50"/>
            <p:cNvSpPr txBox="1">
              <a:spLocks noChangeArrowheads="1"/>
            </p:cNvSpPr>
            <p:nvPr/>
          </p:nvSpPr>
          <p:spPr bwMode="auto">
            <a:xfrm>
              <a:off x="3560" y="2408"/>
              <a:ext cx="2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1</a:t>
              </a:r>
            </a:p>
          </p:txBody>
        </p:sp>
        <p:sp>
          <p:nvSpPr>
            <p:cNvPr id="101405" name="Text Box 51"/>
            <p:cNvSpPr txBox="1">
              <a:spLocks noChangeArrowheads="1"/>
            </p:cNvSpPr>
            <p:nvPr/>
          </p:nvSpPr>
          <p:spPr bwMode="auto">
            <a:xfrm>
              <a:off x="3840" y="2224"/>
              <a:ext cx="2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50000"/>
                </a:spcBef>
              </a:pPr>
              <a:r>
                <a:rPr kumimoji="1" lang="en-US" altLang="zh-CN" sz="2000" b="1">
                  <a:latin typeface="Times New Roman" pitchFamily="18" charset="0"/>
                </a:rPr>
                <a:t>1</a:t>
              </a:r>
            </a:p>
          </p:txBody>
        </p:sp>
      </p:grpSp>
      <p:sp>
        <p:nvSpPr>
          <p:cNvPr id="78901" name="Text Box 53"/>
          <p:cNvSpPr txBox="1">
            <a:spLocks noChangeArrowheads="1"/>
          </p:cNvSpPr>
          <p:nvPr/>
        </p:nvSpPr>
        <p:spPr bwMode="auto">
          <a:xfrm>
            <a:off x="466725" y="4076700"/>
            <a:ext cx="2305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2400">
                <a:solidFill>
                  <a:schemeClr val="tx1"/>
                </a:solidFill>
                <a:latin typeface="Arial" charset="0"/>
                <a:ea typeface="宋体" pitchFamily="2" charset="-122"/>
              </a:defRPr>
            </a:lvl1pPr>
            <a:lvl2pPr marL="742950" indent="-285750" eaLnBrk="0" hangingPunct="0">
              <a:defRPr sz="2400">
                <a:solidFill>
                  <a:schemeClr val="tx1"/>
                </a:solidFill>
                <a:latin typeface="Arial" charset="0"/>
                <a:ea typeface="宋体" pitchFamily="2" charset="-122"/>
              </a:defRPr>
            </a:lvl2pPr>
            <a:lvl3pPr marL="1143000" indent="-228600" eaLnBrk="0" hangingPunct="0">
              <a:defRPr sz="2400">
                <a:solidFill>
                  <a:schemeClr val="tx1"/>
                </a:solidFill>
                <a:latin typeface="Arial" charset="0"/>
                <a:ea typeface="宋体" pitchFamily="2" charset="-122"/>
              </a:defRPr>
            </a:lvl3pPr>
            <a:lvl4pPr marL="1600200" indent="-228600" eaLnBrk="0" hangingPunct="0">
              <a:defRPr sz="2400">
                <a:solidFill>
                  <a:schemeClr val="tx1"/>
                </a:solidFill>
                <a:latin typeface="Arial" charset="0"/>
                <a:ea typeface="宋体" pitchFamily="2" charset="-122"/>
              </a:defRPr>
            </a:lvl4pPr>
            <a:lvl5pPr marL="2057400" indent="-228600" eaLnBrk="0" hangingPunct="0">
              <a:defRPr sz="2400">
                <a:solidFill>
                  <a:schemeClr val="tx1"/>
                </a:solidFill>
                <a:latin typeface="Arial" charset="0"/>
                <a:ea typeface="宋体" pitchFamily="2" charset="-122"/>
              </a:defRPr>
            </a:lvl5pPr>
            <a:lvl6pPr marL="2514600" indent="-228600" eaLnBrk="0" fontAlgn="base" hangingPunct="0">
              <a:spcBef>
                <a:spcPct val="0"/>
              </a:spcBef>
              <a:spcAft>
                <a:spcPct val="0"/>
              </a:spcAft>
              <a:defRPr sz="2400">
                <a:solidFill>
                  <a:schemeClr val="tx1"/>
                </a:solidFill>
                <a:latin typeface="Arial" charset="0"/>
                <a:ea typeface="宋体" pitchFamily="2" charset="-122"/>
              </a:defRPr>
            </a:lvl6pPr>
            <a:lvl7pPr marL="2971800" indent="-228600" eaLnBrk="0" fontAlgn="base" hangingPunct="0">
              <a:spcBef>
                <a:spcPct val="0"/>
              </a:spcBef>
              <a:spcAft>
                <a:spcPct val="0"/>
              </a:spcAft>
              <a:defRPr sz="2400">
                <a:solidFill>
                  <a:schemeClr val="tx1"/>
                </a:solidFill>
                <a:latin typeface="Arial" charset="0"/>
                <a:ea typeface="宋体" pitchFamily="2" charset="-122"/>
              </a:defRPr>
            </a:lvl7pPr>
            <a:lvl8pPr marL="3429000" indent="-228600" eaLnBrk="0" fontAlgn="base" hangingPunct="0">
              <a:spcBef>
                <a:spcPct val="0"/>
              </a:spcBef>
              <a:spcAft>
                <a:spcPct val="0"/>
              </a:spcAft>
              <a:defRPr sz="2400">
                <a:solidFill>
                  <a:schemeClr val="tx1"/>
                </a:solidFill>
                <a:latin typeface="Arial" charset="0"/>
                <a:ea typeface="宋体" pitchFamily="2" charset="-122"/>
              </a:defRPr>
            </a:lvl8pPr>
            <a:lvl9pPr marL="3886200" indent="-228600" eaLnBrk="0" fontAlgn="base" hangingPunct="0">
              <a:spcBef>
                <a:spcPct val="0"/>
              </a:spcBef>
              <a:spcAft>
                <a:spcPct val="0"/>
              </a:spcAft>
              <a:defRPr sz="2400">
                <a:solidFill>
                  <a:schemeClr val="tx1"/>
                </a:solidFill>
                <a:latin typeface="Arial" charset="0"/>
                <a:ea typeface="宋体" pitchFamily="2" charset="-122"/>
              </a:defRPr>
            </a:lvl9pPr>
          </a:lstStyle>
          <a:p>
            <a:pPr eaLnBrk="1" hangingPunct="1">
              <a:spcBef>
                <a:spcPct val="20000"/>
              </a:spcBef>
              <a:buClr>
                <a:schemeClr val="bg1"/>
              </a:buClr>
            </a:pPr>
            <a:r>
              <a:rPr kumimoji="1" lang="zh-CN" altLang="en-US" b="1">
                <a:solidFill>
                  <a:schemeClr val="hlink"/>
                </a:solidFill>
                <a:latin typeface="Times New Roman" pitchFamily="18" charset="0"/>
              </a:rPr>
              <a:t>例：</a:t>
            </a:r>
          </a:p>
        </p:txBody>
      </p:sp>
      <p:sp>
        <p:nvSpPr>
          <p:cNvPr id="78902" name="Line 54"/>
          <p:cNvSpPr>
            <a:spLocks noChangeShapeType="1"/>
          </p:cNvSpPr>
          <p:nvPr/>
        </p:nvSpPr>
        <p:spPr bwMode="auto">
          <a:xfrm flipH="1">
            <a:off x="2068513" y="4119563"/>
            <a:ext cx="863600" cy="576262"/>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03" name="Line 55"/>
          <p:cNvSpPr>
            <a:spLocks noChangeShapeType="1"/>
          </p:cNvSpPr>
          <p:nvPr/>
        </p:nvSpPr>
        <p:spPr bwMode="auto">
          <a:xfrm flipH="1">
            <a:off x="2932113" y="4119563"/>
            <a:ext cx="0" cy="2232025"/>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04" name="Line 56"/>
          <p:cNvSpPr>
            <a:spLocks noChangeShapeType="1"/>
          </p:cNvSpPr>
          <p:nvPr/>
        </p:nvSpPr>
        <p:spPr bwMode="auto">
          <a:xfrm flipH="1">
            <a:off x="2068513" y="4695825"/>
            <a:ext cx="0" cy="1152525"/>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05" name="Line 57"/>
          <p:cNvSpPr>
            <a:spLocks noChangeShapeType="1"/>
          </p:cNvSpPr>
          <p:nvPr/>
        </p:nvSpPr>
        <p:spPr bwMode="auto">
          <a:xfrm flipH="1">
            <a:off x="2933700" y="5848350"/>
            <a:ext cx="863600" cy="503238"/>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06" name="Line 58"/>
          <p:cNvSpPr>
            <a:spLocks noChangeShapeType="1"/>
          </p:cNvSpPr>
          <p:nvPr/>
        </p:nvSpPr>
        <p:spPr bwMode="auto">
          <a:xfrm flipH="1">
            <a:off x="2960688" y="4695825"/>
            <a:ext cx="865187" cy="1655763"/>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07" name="Line 59"/>
          <p:cNvSpPr>
            <a:spLocks noChangeShapeType="1"/>
          </p:cNvSpPr>
          <p:nvPr/>
        </p:nvSpPr>
        <p:spPr bwMode="auto">
          <a:xfrm>
            <a:off x="6256338" y="3933825"/>
            <a:ext cx="1152525" cy="6477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08" name="Line 60"/>
          <p:cNvSpPr>
            <a:spLocks noChangeShapeType="1"/>
          </p:cNvSpPr>
          <p:nvPr/>
        </p:nvSpPr>
        <p:spPr bwMode="auto">
          <a:xfrm flipH="1">
            <a:off x="5321300" y="4567238"/>
            <a:ext cx="2016125" cy="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09" name="Line 61"/>
          <p:cNvSpPr>
            <a:spLocks noChangeShapeType="1"/>
          </p:cNvSpPr>
          <p:nvPr/>
        </p:nvSpPr>
        <p:spPr bwMode="auto">
          <a:xfrm flipH="1">
            <a:off x="5653088" y="4581525"/>
            <a:ext cx="1727200" cy="1295400"/>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8910" name="Line 62"/>
          <p:cNvSpPr>
            <a:spLocks noChangeShapeType="1"/>
          </p:cNvSpPr>
          <p:nvPr/>
        </p:nvSpPr>
        <p:spPr bwMode="auto">
          <a:xfrm flipH="1">
            <a:off x="5621338" y="5876925"/>
            <a:ext cx="1296987" cy="1588"/>
          </a:xfrm>
          <a:prstGeom prst="line">
            <a:avLst/>
          </a:prstGeom>
          <a:noFill/>
          <a:ln w="38100">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extLst>
      <p:ext uri="{BB962C8B-B14F-4D97-AF65-F5344CB8AC3E}">
        <p14:creationId xmlns:p14="http://schemas.microsoft.com/office/powerpoint/2010/main" val="3235958483"/>
      </p:ext>
    </p:extLst>
  </p:cSld>
  <p:clrMapOvr>
    <a:masterClrMapping/>
  </p:clrMapOvr>
  <p:transition spd="slow">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8901"/>
                                        </p:tgtEl>
                                        <p:attrNameLst>
                                          <p:attrName>style.visibility</p:attrName>
                                        </p:attrNameLst>
                                      </p:cBhvr>
                                      <p:to>
                                        <p:strVal val="visible"/>
                                      </p:to>
                                    </p:set>
                                    <p:animEffect transition="in" filter="checkerboard(across)">
                                      <p:cBhvr>
                                        <p:cTn id="7" dur="500"/>
                                        <p:tgtEl>
                                          <p:spTgt spid="78901"/>
                                        </p:tgtEl>
                                      </p:cBhvr>
                                    </p:animEffect>
                                  </p:childTnLst>
                                </p:cTn>
                              </p:par>
                              <p:par>
                                <p:cTn id="8" presetID="5" presetClass="entr" presetSubtype="10" fill="hold" nodeType="withEffect">
                                  <p:stCondLst>
                                    <p:cond delay="0"/>
                                  </p:stCondLst>
                                  <p:childTnLst>
                                    <p:set>
                                      <p:cBhvr>
                                        <p:cTn id="9" dur="1" fill="hold">
                                          <p:stCondLst>
                                            <p:cond delay="0"/>
                                          </p:stCondLst>
                                        </p:cTn>
                                        <p:tgtEl>
                                          <p:spTgt spid="78851"/>
                                        </p:tgtEl>
                                        <p:attrNameLst>
                                          <p:attrName>style.visibility</p:attrName>
                                        </p:attrNameLst>
                                      </p:cBhvr>
                                      <p:to>
                                        <p:strVal val="visible"/>
                                      </p:to>
                                    </p:set>
                                    <p:animEffect transition="in" filter="checkerboard(across)">
                                      <p:cBhvr>
                                        <p:cTn id="10" dur="500"/>
                                        <p:tgtEl>
                                          <p:spTgt spid="78851"/>
                                        </p:tgtEl>
                                      </p:cBhvr>
                                    </p:animEffect>
                                  </p:childTnLst>
                                </p:cTn>
                              </p:par>
                              <p:par>
                                <p:cTn id="11" presetID="5" presetClass="entr" presetSubtype="10" fill="hold" nodeType="withEffect">
                                  <p:stCondLst>
                                    <p:cond delay="0"/>
                                  </p:stCondLst>
                                  <p:childTnLst>
                                    <p:set>
                                      <p:cBhvr>
                                        <p:cTn id="12" dur="1" fill="hold">
                                          <p:stCondLst>
                                            <p:cond delay="0"/>
                                          </p:stCondLst>
                                        </p:cTn>
                                        <p:tgtEl>
                                          <p:spTgt spid="78877"/>
                                        </p:tgtEl>
                                        <p:attrNameLst>
                                          <p:attrName>style.visibility</p:attrName>
                                        </p:attrNameLst>
                                      </p:cBhvr>
                                      <p:to>
                                        <p:strVal val="visible"/>
                                      </p:to>
                                    </p:set>
                                    <p:animEffect transition="in" filter="checkerboard(across)">
                                      <p:cBhvr>
                                        <p:cTn id="13" dur="500"/>
                                        <p:tgtEl>
                                          <p:spTgt spid="7887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8902"/>
                                        </p:tgtEl>
                                        <p:attrNameLst>
                                          <p:attrName>style.visibility</p:attrName>
                                        </p:attrNameLst>
                                      </p:cBhvr>
                                      <p:to>
                                        <p:strVal val="visible"/>
                                      </p:to>
                                    </p:set>
                                    <p:anim calcmode="lin" valueType="num">
                                      <p:cBhvr additive="base">
                                        <p:cTn id="18" dur="500" fill="hold"/>
                                        <p:tgtEl>
                                          <p:spTgt spid="78902"/>
                                        </p:tgtEl>
                                        <p:attrNameLst>
                                          <p:attrName>ppt_x</p:attrName>
                                        </p:attrNameLst>
                                      </p:cBhvr>
                                      <p:tavLst>
                                        <p:tav tm="0">
                                          <p:val>
                                            <p:strVal val="#ppt_x"/>
                                          </p:val>
                                        </p:tav>
                                        <p:tav tm="100000">
                                          <p:val>
                                            <p:strVal val="#ppt_x"/>
                                          </p:val>
                                        </p:tav>
                                      </p:tavLst>
                                    </p:anim>
                                    <p:anim calcmode="lin" valueType="num">
                                      <p:cBhvr additive="base">
                                        <p:cTn id="19" dur="500" fill="hold"/>
                                        <p:tgtEl>
                                          <p:spTgt spid="78902"/>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78903"/>
                                        </p:tgtEl>
                                        <p:attrNameLst>
                                          <p:attrName>style.visibility</p:attrName>
                                        </p:attrNameLst>
                                      </p:cBhvr>
                                      <p:to>
                                        <p:strVal val="visible"/>
                                      </p:to>
                                    </p:set>
                                    <p:anim calcmode="lin" valueType="num">
                                      <p:cBhvr additive="base">
                                        <p:cTn id="24" dur="500" fill="hold"/>
                                        <p:tgtEl>
                                          <p:spTgt spid="78903"/>
                                        </p:tgtEl>
                                        <p:attrNameLst>
                                          <p:attrName>ppt_x</p:attrName>
                                        </p:attrNameLst>
                                      </p:cBhvr>
                                      <p:tavLst>
                                        <p:tav tm="0">
                                          <p:val>
                                            <p:strVal val="#ppt_x"/>
                                          </p:val>
                                        </p:tav>
                                        <p:tav tm="100000">
                                          <p:val>
                                            <p:strVal val="#ppt_x"/>
                                          </p:val>
                                        </p:tav>
                                      </p:tavLst>
                                    </p:anim>
                                    <p:anim calcmode="lin" valueType="num">
                                      <p:cBhvr additive="base">
                                        <p:cTn id="25" dur="500" fill="hold"/>
                                        <p:tgtEl>
                                          <p:spTgt spid="78903"/>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78904"/>
                                        </p:tgtEl>
                                        <p:attrNameLst>
                                          <p:attrName>style.visibility</p:attrName>
                                        </p:attrNameLst>
                                      </p:cBhvr>
                                      <p:to>
                                        <p:strVal val="visible"/>
                                      </p:to>
                                    </p:set>
                                    <p:anim calcmode="lin" valueType="num">
                                      <p:cBhvr additive="base">
                                        <p:cTn id="30" dur="500" fill="hold"/>
                                        <p:tgtEl>
                                          <p:spTgt spid="78904"/>
                                        </p:tgtEl>
                                        <p:attrNameLst>
                                          <p:attrName>ppt_x</p:attrName>
                                        </p:attrNameLst>
                                      </p:cBhvr>
                                      <p:tavLst>
                                        <p:tav tm="0">
                                          <p:val>
                                            <p:strVal val="#ppt_x"/>
                                          </p:val>
                                        </p:tav>
                                        <p:tav tm="100000">
                                          <p:val>
                                            <p:strVal val="#ppt_x"/>
                                          </p:val>
                                        </p:tav>
                                      </p:tavLst>
                                    </p:anim>
                                    <p:anim calcmode="lin" valueType="num">
                                      <p:cBhvr additive="base">
                                        <p:cTn id="31" dur="500" fill="hold"/>
                                        <p:tgtEl>
                                          <p:spTgt spid="78904"/>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78905"/>
                                        </p:tgtEl>
                                        <p:attrNameLst>
                                          <p:attrName>style.visibility</p:attrName>
                                        </p:attrNameLst>
                                      </p:cBhvr>
                                      <p:to>
                                        <p:strVal val="visible"/>
                                      </p:to>
                                    </p:set>
                                    <p:anim calcmode="lin" valueType="num">
                                      <p:cBhvr additive="base">
                                        <p:cTn id="36" dur="500" fill="hold"/>
                                        <p:tgtEl>
                                          <p:spTgt spid="78905"/>
                                        </p:tgtEl>
                                        <p:attrNameLst>
                                          <p:attrName>ppt_x</p:attrName>
                                        </p:attrNameLst>
                                      </p:cBhvr>
                                      <p:tavLst>
                                        <p:tav tm="0">
                                          <p:val>
                                            <p:strVal val="#ppt_x"/>
                                          </p:val>
                                        </p:tav>
                                        <p:tav tm="100000">
                                          <p:val>
                                            <p:strVal val="#ppt_x"/>
                                          </p:val>
                                        </p:tav>
                                      </p:tavLst>
                                    </p:anim>
                                    <p:anim calcmode="lin" valueType="num">
                                      <p:cBhvr additive="base">
                                        <p:cTn id="37" dur="500" fill="hold"/>
                                        <p:tgtEl>
                                          <p:spTgt spid="78905"/>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78906"/>
                                        </p:tgtEl>
                                        <p:attrNameLst>
                                          <p:attrName>style.visibility</p:attrName>
                                        </p:attrNameLst>
                                      </p:cBhvr>
                                      <p:to>
                                        <p:strVal val="visible"/>
                                      </p:to>
                                    </p:set>
                                    <p:anim calcmode="lin" valueType="num">
                                      <p:cBhvr additive="base">
                                        <p:cTn id="42" dur="500" fill="hold"/>
                                        <p:tgtEl>
                                          <p:spTgt spid="78906"/>
                                        </p:tgtEl>
                                        <p:attrNameLst>
                                          <p:attrName>ppt_x</p:attrName>
                                        </p:attrNameLst>
                                      </p:cBhvr>
                                      <p:tavLst>
                                        <p:tav tm="0">
                                          <p:val>
                                            <p:strVal val="#ppt_x"/>
                                          </p:val>
                                        </p:tav>
                                        <p:tav tm="100000">
                                          <p:val>
                                            <p:strVal val="#ppt_x"/>
                                          </p:val>
                                        </p:tav>
                                      </p:tavLst>
                                    </p:anim>
                                    <p:anim calcmode="lin" valueType="num">
                                      <p:cBhvr additive="base">
                                        <p:cTn id="43" dur="500" fill="hold"/>
                                        <p:tgtEl>
                                          <p:spTgt spid="78906"/>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78907"/>
                                        </p:tgtEl>
                                        <p:attrNameLst>
                                          <p:attrName>style.visibility</p:attrName>
                                        </p:attrNameLst>
                                      </p:cBhvr>
                                      <p:to>
                                        <p:strVal val="visible"/>
                                      </p:to>
                                    </p:set>
                                    <p:anim calcmode="lin" valueType="num">
                                      <p:cBhvr additive="base">
                                        <p:cTn id="48" dur="500" fill="hold"/>
                                        <p:tgtEl>
                                          <p:spTgt spid="78907"/>
                                        </p:tgtEl>
                                        <p:attrNameLst>
                                          <p:attrName>ppt_x</p:attrName>
                                        </p:attrNameLst>
                                      </p:cBhvr>
                                      <p:tavLst>
                                        <p:tav tm="0">
                                          <p:val>
                                            <p:strVal val="#ppt_x"/>
                                          </p:val>
                                        </p:tav>
                                        <p:tav tm="100000">
                                          <p:val>
                                            <p:strVal val="#ppt_x"/>
                                          </p:val>
                                        </p:tav>
                                      </p:tavLst>
                                    </p:anim>
                                    <p:anim calcmode="lin" valueType="num">
                                      <p:cBhvr additive="base">
                                        <p:cTn id="49" dur="500" fill="hold"/>
                                        <p:tgtEl>
                                          <p:spTgt spid="78907"/>
                                        </p:tgtEl>
                                        <p:attrNameLst>
                                          <p:attrName>ppt_y</p:attrName>
                                        </p:attrNameLst>
                                      </p:cBhvr>
                                      <p:tavLst>
                                        <p:tav tm="0">
                                          <p:val>
                                            <p:strVal val="1+#ppt_h/2"/>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78908"/>
                                        </p:tgtEl>
                                        <p:attrNameLst>
                                          <p:attrName>style.visibility</p:attrName>
                                        </p:attrNameLst>
                                      </p:cBhvr>
                                      <p:to>
                                        <p:strVal val="visible"/>
                                      </p:to>
                                    </p:set>
                                    <p:anim calcmode="lin" valueType="num">
                                      <p:cBhvr additive="base">
                                        <p:cTn id="54" dur="500" fill="hold"/>
                                        <p:tgtEl>
                                          <p:spTgt spid="78908"/>
                                        </p:tgtEl>
                                        <p:attrNameLst>
                                          <p:attrName>ppt_x</p:attrName>
                                        </p:attrNameLst>
                                      </p:cBhvr>
                                      <p:tavLst>
                                        <p:tav tm="0">
                                          <p:val>
                                            <p:strVal val="#ppt_x"/>
                                          </p:val>
                                        </p:tav>
                                        <p:tav tm="100000">
                                          <p:val>
                                            <p:strVal val="#ppt_x"/>
                                          </p:val>
                                        </p:tav>
                                      </p:tavLst>
                                    </p:anim>
                                    <p:anim calcmode="lin" valueType="num">
                                      <p:cBhvr additive="base">
                                        <p:cTn id="55" dur="500" fill="hold"/>
                                        <p:tgtEl>
                                          <p:spTgt spid="78908"/>
                                        </p:tgtEl>
                                        <p:attrNameLst>
                                          <p:attrName>ppt_y</p:attrName>
                                        </p:attrNameLst>
                                      </p:cBhvr>
                                      <p:tavLst>
                                        <p:tav tm="0">
                                          <p:val>
                                            <p:strVal val="1+#ppt_h/2"/>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78909"/>
                                        </p:tgtEl>
                                        <p:attrNameLst>
                                          <p:attrName>style.visibility</p:attrName>
                                        </p:attrNameLst>
                                      </p:cBhvr>
                                      <p:to>
                                        <p:strVal val="visible"/>
                                      </p:to>
                                    </p:set>
                                    <p:anim calcmode="lin" valueType="num">
                                      <p:cBhvr additive="base">
                                        <p:cTn id="60" dur="500" fill="hold"/>
                                        <p:tgtEl>
                                          <p:spTgt spid="78909"/>
                                        </p:tgtEl>
                                        <p:attrNameLst>
                                          <p:attrName>ppt_x</p:attrName>
                                        </p:attrNameLst>
                                      </p:cBhvr>
                                      <p:tavLst>
                                        <p:tav tm="0">
                                          <p:val>
                                            <p:strVal val="#ppt_x"/>
                                          </p:val>
                                        </p:tav>
                                        <p:tav tm="100000">
                                          <p:val>
                                            <p:strVal val="#ppt_x"/>
                                          </p:val>
                                        </p:tav>
                                      </p:tavLst>
                                    </p:anim>
                                    <p:anim calcmode="lin" valueType="num">
                                      <p:cBhvr additive="base">
                                        <p:cTn id="61" dur="500" fill="hold"/>
                                        <p:tgtEl>
                                          <p:spTgt spid="78909"/>
                                        </p:tgtEl>
                                        <p:attrNameLst>
                                          <p:attrName>ppt_y</p:attrName>
                                        </p:attrNameLst>
                                      </p:cBhvr>
                                      <p:tavLst>
                                        <p:tav tm="0">
                                          <p:val>
                                            <p:strVal val="1+#ppt_h/2"/>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78910"/>
                                        </p:tgtEl>
                                        <p:attrNameLst>
                                          <p:attrName>style.visibility</p:attrName>
                                        </p:attrNameLst>
                                      </p:cBhvr>
                                      <p:to>
                                        <p:strVal val="visible"/>
                                      </p:to>
                                    </p:set>
                                    <p:anim calcmode="lin" valueType="num">
                                      <p:cBhvr additive="base">
                                        <p:cTn id="66" dur="500" fill="hold"/>
                                        <p:tgtEl>
                                          <p:spTgt spid="78910"/>
                                        </p:tgtEl>
                                        <p:attrNameLst>
                                          <p:attrName>ppt_x</p:attrName>
                                        </p:attrNameLst>
                                      </p:cBhvr>
                                      <p:tavLst>
                                        <p:tav tm="0">
                                          <p:val>
                                            <p:strVal val="#ppt_x"/>
                                          </p:val>
                                        </p:tav>
                                        <p:tav tm="100000">
                                          <p:val>
                                            <p:strVal val="#ppt_x"/>
                                          </p:val>
                                        </p:tav>
                                      </p:tavLst>
                                    </p:anim>
                                    <p:anim calcmode="lin" valueType="num">
                                      <p:cBhvr additive="base">
                                        <p:cTn id="67" dur="500" fill="hold"/>
                                        <p:tgtEl>
                                          <p:spTgt spid="789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901" grpId="0"/>
      <p:bldP spid="78902" grpId="0" animBg="1"/>
      <p:bldP spid="78903" grpId="0" animBg="1"/>
      <p:bldP spid="78904" grpId="0" animBg="1"/>
      <p:bldP spid="78905" grpId="0" animBg="1"/>
      <p:bldP spid="78906" grpId="0" animBg="1"/>
      <p:bldP spid="78907" grpId="0" animBg="1"/>
      <p:bldP spid="78908" grpId="0" animBg="1"/>
      <p:bldP spid="78909" grpId="0" animBg="1"/>
      <p:bldP spid="78910" grpId="0" animBg="1"/>
    </p:bld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灯片编号占位符 1"/>
          <p:cNvSpPr>
            <a:spLocks noGrp="1"/>
          </p:cNvSpPr>
          <p:nvPr>
            <p:ph type="sldNum" sz="quarter" idx="11"/>
          </p:nvPr>
        </p:nvSpPr>
        <p:spPr/>
        <p:txBody>
          <a:bodyPr/>
          <a:lstStyle/>
          <a:p>
            <a:pPr>
              <a:defRPr/>
            </a:pPr>
            <a:fld id="{9EBAB458-6D31-4EF9-9831-75D92864639F}" type="slidenum">
              <a:rPr lang="en-US" altLang="zh-CN" smtClean="0"/>
              <a:pPr>
                <a:defRPr/>
              </a:pPr>
              <a:t>100</a:t>
            </a:fld>
            <a:endParaRPr lang="en-US" altLang="zh-CN"/>
          </a:p>
        </p:txBody>
      </p:sp>
      <p:sp>
        <p:nvSpPr>
          <p:cNvPr id="3" name="TextBox 2"/>
          <p:cNvSpPr txBox="1"/>
          <p:nvPr/>
        </p:nvSpPr>
        <p:spPr>
          <a:xfrm>
            <a:off x="1907704" y="2708920"/>
            <a:ext cx="5184576" cy="584775"/>
          </a:xfrm>
          <a:prstGeom prst="rect">
            <a:avLst/>
          </a:prstGeom>
          <a:noFill/>
        </p:spPr>
        <p:txBody>
          <a:bodyPr wrap="square" rtlCol="0">
            <a:spAutoFit/>
          </a:bodyPr>
          <a:lstStyle/>
          <a:p>
            <a:r>
              <a:rPr lang="en-US" altLang="zh-CN" sz="3200" b="1" dirty="0" smtClean="0">
                <a:latin typeface="+mn-lt"/>
              </a:rPr>
              <a:t> </a:t>
            </a:r>
            <a:r>
              <a:rPr lang="zh-CN" altLang="en-US" sz="3200" b="1" dirty="0" smtClean="0">
                <a:latin typeface="+mn-lt"/>
              </a:rPr>
              <a:t>作业：</a:t>
            </a:r>
            <a:r>
              <a:rPr lang="en-US" altLang="zh-CN" sz="3200" b="1" dirty="0" smtClean="0">
                <a:latin typeface="+mn-lt"/>
              </a:rPr>
              <a:t>P317</a:t>
            </a:r>
            <a:r>
              <a:rPr lang="zh-CN" altLang="en-US" sz="3200" b="1" dirty="0" smtClean="0">
                <a:latin typeface="+mn-lt"/>
              </a:rPr>
              <a:t>（</a:t>
            </a:r>
            <a:r>
              <a:rPr lang="en-US" altLang="zh-CN" sz="3200" b="1" dirty="0" smtClean="0">
                <a:latin typeface="+mn-lt"/>
              </a:rPr>
              <a:t>1</a:t>
            </a:r>
            <a:r>
              <a:rPr lang="zh-CN" altLang="en-US" sz="3200" b="1" dirty="0" smtClean="0">
                <a:latin typeface="+mn-lt"/>
              </a:rPr>
              <a:t>）</a:t>
            </a:r>
            <a:endParaRPr lang="zh-CN" altLang="en-US" sz="3200" b="1" dirty="0">
              <a:latin typeface="+mn-lt"/>
            </a:endParaRPr>
          </a:p>
        </p:txBody>
      </p:sp>
    </p:spTree>
    <p:extLst>
      <p:ext uri="{BB962C8B-B14F-4D97-AF65-F5344CB8AC3E}">
        <p14:creationId xmlns:p14="http://schemas.microsoft.com/office/powerpoint/2010/main" val="2779454097"/>
      </p:ext>
    </p:extLst>
  </p:cSld>
  <p:clrMapOvr>
    <a:masterClrMapping/>
  </p:clrMapOvr>
  <p:transition spd="slow">
    <p:random/>
  </p:transition>
  <p:timing>
    <p:tnLst>
      <p:par>
        <p:cTn id="1" dur="indefinite" restart="never" nodeType="tmRoot"/>
      </p:par>
    </p:tn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楷体_GB2312"/>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2763</TotalTime>
  <Words>9265</Words>
  <Application>Microsoft Office PowerPoint</Application>
  <PresentationFormat>全屏显示(4:3)</PresentationFormat>
  <Paragraphs>812</Paragraphs>
  <Slides>100</Slides>
  <Notes>0</Notes>
  <HiddenSlides>7</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100</vt:i4>
      </vt:variant>
    </vt:vector>
  </HeadingPairs>
  <TitlesOfParts>
    <vt:vector size="102" baseType="lpstr">
      <vt:lpstr>Blends</vt:lpstr>
      <vt:lpstr>Equation</vt:lpstr>
      <vt:lpstr>第四篇  图论</vt:lpstr>
      <vt:lpstr>第七章      图论</vt:lpstr>
      <vt:lpstr>7-1    图的基本概念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7-2    路与回路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复习</vt:lpstr>
      <vt:lpstr>PowerPoint 演示文稿</vt:lpstr>
      <vt:lpstr>PowerPoint 演示文稿</vt:lpstr>
      <vt:lpstr>PowerPoint 演示文稿</vt:lpstr>
      <vt:lpstr>PowerPoint 演示文稿</vt:lpstr>
      <vt:lpstr>7-3    图的矩阵表示</vt:lpstr>
      <vt:lpstr>PowerPoint 演示文稿</vt:lpstr>
      <vt:lpstr>PowerPoint 演示文稿</vt:lpstr>
      <vt:lpstr>3、可达性矩阵</vt:lpstr>
      <vt:lpstr>PowerPoint 演示文稿</vt:lpstr>
      <vt:lpstr>PowerPoint 演示文稿</vt:lpstr>
      <vt:lpstr>PowerPoint 演示文稿</vt:lpstr>
      <vt:lpstr>PowerPoint 演示文稿</vt:lpstr>
      <vt:lpstr>2)、可达性矩阵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复习</vt:lpstr>
      <vt:lpstr>复习</vt:lpstr>
      <vt:lpstr>7-4  欧拉图与汉密尔顿图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2、必要条件</vt:lpstr>
      <vt:lpstr>PowerPoint 演示文稿</vt:lpstr>
      <vt:lpstr>3、充分条件</vt:lpstr>
      <vt:lpstr>3、充分条件</vt:lpstr>
      <vt:lpstr>PowerPoint 演示文稿</vt:lpstr>
      <vt:lpstr>PowerPoint 演示文稿</vt:lpstr>
      <vt:lpstr>PowerPoint 演示文稿</vt:lpstr>
      <vt:lpstr>PowerPoint 演示文稿</vt:lpstr>
      <vt:lpstr>7-5  平面图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复习</vt:lpstr>
      <vt:lpstr>7-6  对偶图与着色</vt:lpstr>
      <vt:lpstr>PowerPoint 演示文稿</vt:lpstr>
      <vt:lpstr>PowerPoint 演示文稿</vt:lpstr>
      <vt:lpstr>PowerPoint 演示文稿</vt:lpstr>
      <vt:lpstr>PowerPoint 演示文稿</vt:lpstr>
      <vt:lpstr>PowerPoint 演示文稿</vt:lpstr>
      <vt:lpstr>7-7  树与生成树</vt:lpstr>
      <vt:lpstr>PowerPoint 演示文稿</vt:lpstr>
      <vt:lpstr>PowerPoint 演示文稿</vt:lpstr>
      <vt:lpstr>PowerPoint 演示文稿</vt:lpstr>
      <vt:lpstr>PowerPoint 演示文稿</vt:lpstr>
      <vt:lpstr>PowerPoint 演示文稿</vt:lpstr>
      <vt:lpstr>2. 生成树及其性质</vt:lpstr>
      <vt:lpstr>PowerPoint 演示文稿</vt:lpstr>
      <vt:lpstr>PowerPoint 演示文稿</vt:lpstr>
      <vt:lpstr>PowerPoint 演示文稿</vt:lpstr>
      <vt:lpstr>PowerPoint 演示文稿</vt:lpstr>
      <vt:lpstr>PowerPoint 演示文稿</vt:lpstr>
    </vt:vector>
  </TitlesOfParts>
  <Company>番茄花园</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MC SYSTEM</dc:creator>
  <cp:lastModifiedBy>Sky123.Org</cp:lastModifiedBy>
  <cp:revision>1427</cp:revision>
  <dcterms:created xsi:type="dcterms:W3CDTF">2008-12-04T04:31:12Z</dcterms:created>
  <dcterms:modified xsi:type="dcterms:W3CDTF">2019-12-02T05:34:18Z</dcterms:modified>
</cp:coreProperties>
</file>