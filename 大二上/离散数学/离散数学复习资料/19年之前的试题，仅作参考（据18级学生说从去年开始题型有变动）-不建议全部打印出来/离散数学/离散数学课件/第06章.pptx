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42"/>
  </p:notesMasterIdLst>
  <p:sldIdLst>
    <p:sldId id="307" r:id="rId2"/>
    <p:sldId id="339" r:id="rId3"/>
    <p:sldId id="308" r:id="rId4"/>
    <p:sldId id="309" r:id="rId5"/>
    <p:sldId id="310" r:id="rId6"/>
    <p:sldId id="332" r:id="rId7"/>
    <p:sldId id="311" r:id="rId8"/>
    <p:sldId id="313" r:id="rId9"/>
    <p:sldId id="334" r:id="rId10"/>
    <p:sldId id="314" r:id="rId11"/>
    <p:sldId id="315" r:id="rId12"/>
    <p:sldId id="316" r:id="rId13"/>
    <p:sldId id="319" r:id="rId14"/>
    <p:sldId id="320" r:id="rId15"/>
    <p:sldId id="321" r:id="rId16"/>
    <p:sldId id="336" r:id="rId17"/>
    <p:sldId id="323" r:id="rId18"/>
    <p:sldId id="325" r:id="rId19"/>
    <p:sldId id="327" r:id="rId20"/>
    <p:sldId id="328" r:id="rId21"/>
    <p:sldId id="342" r:id="rId22"/>
    <p:sldId id="343" r:id="rId23"/>
    <p:sldId id="344" r:id="rId24"/>
    <p:sldId id="412" r:id="rId25"/>
    <p:sldId id="345" r:id="rId26"/>
    <p:sldId id="346" r:id="rId27"/>
    <p:sldId id="347" r:id="rId28"/>
    <p:sldId id="348" r:id="rId29"/>
    <p:sldId id="349" r:id="rId30"/>
    <p:sldId id="351" r:id="rId31"/>
    <p:sldId id="352" r:id="rId32"/>
    <p:sldId id="362" r:id="rId33"/>
    <p:sldId id="363" r:id="rId34"/>
    <p:sldId id="364" r:id="rId35"/>
    <p:sldId id="366" r:id="rId36"/>
    <p:sldId id="367" r:id="rId37"/>
    <p:sldId id="369" r:id="rId38"/>
    <p:sldId id="411" r:id="rId39"/>
    <p:sldId id="370" r:id="rId40"/>
    <p:sldId id="371" r:id="rId41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itchFamily="18" charset="0"/>
        <a:ea typeface="楷体_GB2312" pitchFamily="49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66"/>
    <a:srgbClr val="FF9900"/>
    <a:srgbClr val="FFFFCC"/>
    <a:srgbClr val="0000CC"/>
    <a:srgbClr val="003300"/>
    <a:srgbClr val="FFFF00"/>
    <a:srgbClr val="00FFFF"/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66" autoAdjust="0"/>
  </p:normalViewPr>
  <p:slideViewPr>
    <p:cSldViewPr>
      <p:cViewPr varScale="1">
        <p:scale>
          <a:sx n="63" d="100"/>
          <a:sy n="63" d="100"/>
        </p:scale>
        <p:origin x="-151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4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44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44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044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fld id="{2DD1324C-B84C-4B31-8DD9-530A42E2F5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944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106" name="Group 2"/>
          <p:cNvGrpSpPr>
            <a:grpSpLocks/>
          </p:cNvGrpSpPr>
          <p:nvPr/>
        </p:nvGrpSpPr>
        <p:grpSpPr bwMode="auto">
          <a:xfrm>
            <a:off x="0" y="1728788"/>
            <a:ext cx="9009063" cy="1052512"/>
            <a:chOff x="0" y="1536"/>
            <a:chExt cx="5675" cy="663"/>
          </a:xfrm>
        </p:grpSpPr>
        <p:grpSp>
          <p:nvGrpSpPr>
            <p:cNvPr id="17510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7510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0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7511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7511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511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7511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511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511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062038" y="1196975"/>
            <a:ext cx="7397750" cy="1223963"/>
          </a:xfrm>
        </p:spPr>
        <p:txBody>
          <a:bodyPr/>
          <a:lstStyle>
            <a:lvl1pPr>
              <a:defRPr>
                <a:ea typeface="华文行楷" pitchFamily="2" charset="-122"/>
              </a:defRPr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17511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24175"/>
            <a:ext cx="6400800" cy="17526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175118" name="Rectangle 14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0153DF-B98E-49C6-8935-C042EB0E082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3875356"/>
      </p:ext>
    </p:extLst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71E7AB7-B5DC-40F4-AC95-BB06C8006747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913569"/>
      </p:ext>
    </p:extLst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2000" y="1371600"/>
            <a:ext cx="3810000" cy="2570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371600"/>
            <a:ext cx="3810000" cy="25701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A324A2-A1AC-476C-9354-EF0A545E2C2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4133678"/>
      </p:ext>
    </p:extLst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0BCE5FC-96D2-4CC3-8009-9E12A5D4373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8015664"/>
      </p:ext>
    </p:extLst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FEAC4-F0AA-449E-8886-DF0570D8C5D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339263"/>
      </p:ext>
    </p:extLst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F67BC28-E3E6-4077-B79A-C45FDFC2E93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9710917"/>
      </p:ext>
    </p:extLst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1F15C64-B7B6-4B51-A8D2-50FC67301A6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9509929"/>
      </p:ext>
    </p:extLst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60BC2F1-F3A6-460B-95C6-FEE4238E41E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776853"/>
      </p:ext>
    </p:extLst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1224056-A0B5-4257-AE25-B42773888A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0401693"/>
      </p:ext>
    </p:extLst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91300" y="212725"/>
            <a:ext cx="1943100" cy="37290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2000" y="212725"/>
            <a:ext cx="5676900" cy="37290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BFC408B-CB32-4FBA-BD5E-4135E6D8F58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59635"/>
      </p:ext>
    </p:extLst>
  </p:cSld>
  <p:clrMapOvr>
    <a:masterClrMapping/>
  </p:clrMapOvr>
  <p:transition spd="slow"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762000" y="212725"/>
            <a:ext cx="7772400" cy="37290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3D6F78D-545E-435F-9C13-F75ED90E692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983325"/>
      </p:ext>
    </p:extLst>
  </p:cSld>
  <p:clrMapOvr>
    <a:masterClrMapping/>
  </p:clrMapOvr>
  <p:transition spd="slow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082" name="Group 2"/>
          <p:cNvGrpSpPr>
            <a:grpSpLocks/>
          </p:cNvGrpSpPr>
          <p:nvPr userDrawn="1"/>
        </p:nvGrpSpPr>
        <p:grpSpPr bwMode="auto">
          <a:xfrm>
            <a:off x="0" y="157163"/>
            <a:ext cx="8542338" cy="1052512"/>
            <a:chOff x="80" y="624"/>
            <a:chExt cx="5381" cy="663"/>
          </a:xfrm>
        </p:grpSpPr>
        <p:sp>
          <p:nvSpPr>
            <p:cNvPr id="174083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4" name="Rectangle 4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5" name="Rectangle 5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6" name="Rectangle 6"/>
            <p:cNvSpPr>
              <a:spLocks noChangeArrowheads="1"/>
            </p:cNvSpPr>
            <p:nvPr userDrawn="1"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7" name="Rectangle 7"/>
            <p:cNvSpPr>
              <a:spLocks noChangeArrowheads="1"/>
            </p:cNvSpPr>
            <p:nvPr userDrawn="1"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8" name="Rectangle 8"/>
            <p:cNvSpPr>
              <a:spLocks noChangeArrowheads="1"/>
            </p:cNvSpPr>
            <p:nvPr userDrawn="1"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4089" name="Rectangle 9"/>
            <p:cNvSpPr>
              <a:spLocks noChangeArrowheads="1"/>
            </p:cNvSpPr>
            <p:nvPr userDrawn="1"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zh-CN">
                <a:latin typeface="Tahoma" pitchFamily="34" charset="0"/>
                <a:ea typeface="宋体" pitchFamily="2" charset="-122"/>
              </a:endParaRPr>
            </a:p>
          </p:txBody>
        </p:sp>
      </p:grpSp>
      <p:sp>
        <p:nvSpPr>
          <p:cNvPr id="174090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990600" y="212725"/>
            <a:ext cx="72374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74091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371600"/>
            <a:ext cx="7772400" cy="2570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7409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+mj-lt"/>
                <a:ea typeface="+mn-ea"/>
              </a:defRPr>
            </a:lvl1pPr>
          </a:lstStyle>
          <a:p>
            <a:endParaRPr lang="en-US" altLang="zh-CN"/>
          </a:p>
        </p:txBody>
      </p:sp>
      <p:sp>
        <p:nvSpPr>
          <p:cNvPr id="17409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j-lt"/>
                <a:ea typeface="+mn-ea"/>
              </a:defRPr>
            </a:lvl1pPr>
          </a:lstStyle>
          <a:p>
            <a:fld id="{A5FCEA5B-4C5A-436C-8BDD-4A99DA13E4D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ransition spd="slow">
    <p:random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439738" indent="4763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2pPr>
      <a:lvl3pPr marL="9017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3pPr>
      <a:lvl4pPr marL="13462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4pPr>
      <a:lvl5pPr marL="17891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5pPr>
      <a:lvl6pPr marL="22463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6pPr>
      <a:lvl7pPr marL="27035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7pPr>
      <a:lvl8pPr marL="31607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8pPr>
      <a:lvl9pPr marL="3617913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Relationship Id="rId9" Type="http://schemas.openxmlformats.org/officeDocument/2006/relationships/image" Target="../media/image9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0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1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D30502-A92C-4BB4-BF55-90C233DFA65C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85396" name="Rectangle 20"/>
          <p:cNvSpPr>
            <a:spLocks noGrp="1" noChangeArrowheads="1"/>
          </p:cNvSpPr>
          <p:nvPr>
            <p:ph type="title"/>
          </p:nvPr>
        </p:nvSpPr>
        <p:spPr>
          <a:xfrm>
            <a:off x="990600" y="188913"/>
            <a:ext cx="7237413" cy="701675"/>
          </a:xfrm>
        </p:spPr>
        <p:txBody>
          <a:bodyPr/>
          <a:lstStyle/>
          <a:p>
            <a:r>
              <a:rPr lang="zh-CN" altLang="en-US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第六章   格和布尔代数</a:t>
            </a:r>
          </a:p>
        </p:txBody>
      </p:sp>
      <p:sp>
        <p:nvSpPr>
          <p:cNvPr id="485398" name="Rectangle 22"/>
          <p:cNvSpPr>
            <a:spLocks noGrp="1" noChangeArrowheads="1"/>
          </p:cNvSpPr>
          <p:nvPr>
            <p:ph idx="1"/>
          </p:nvPr>
        </p:nvSpPr>
        <p:spPr>
          <a:xfrm>
            <a:off x="466725" y="1371600"/>
            <a:ext cx="7772400" cy="2501900"/>
          </a:xfrm>
          <a:noFill/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400">
                <a:solidFill>
                  <a:srgbClr val="0000CC"/>
                </a:solidFill>
              </a:rPr>
              <a:t>本章内容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格的定义及其性质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特殊的格</a:t>
            </a:r>
            <a:r>
              <a:rPr lang="en-US" altLang="zh-CN" sz="2400">
                <a:latin typeface="Arial"/>
              </a:rPr>
              <a:t>—</a:t>
            </a:r>
            <a:r>
              <a:rPr lang="zh-CN" altLang="en-US" sz="2400"/>
              <a:t>分配格、模格、有补格</a:t>
            </a:r>
          </a:p>
          <a:p>
            <a:pPr>
              <a:lnSpc>
                <a:spcPct val="150000"/>
              </a:lnSpc>
            </a:pPr>
            <a:r>
              <a:rPr lang="zh-CN" altLang="en-US" sz="2400"/>
              <a:t>布尔格</a:t>
            </a:r>
            <a:r>
              <a:rPr lang="en-US" altLang="zh-CN" sz="2400">
                <a:latin typeface="Arial"/>
              </a:rPr>
              <a:t>—</a:t>
            </a:r>
            <a:r>
              <a:rPr lang="zh-CN" altLang="en-US" sz="2400"/>
              <a:t>布尔代数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5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53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5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53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5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53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98" grpId="0" uiExpand="1" build="p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041179-F8AD-426B-88ED-2FB75226BD2F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5744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188913"/>
            <a:ext cx="7237413" cy="701675"/>
          </a:xfrm>
        </p:spPr>
        <p:txBody>
          <a:bodyPr/>
          <a:lstStyle/>
          <a:p>
            <a:r>
              <a:rPr lang="zh-CN" altLang="en-US">
                <a:solidFill>
                  <a:srgbClr val="0000CC"/>
                </a:solidFill>
                <a:ea typeface="华文行楷" pitchFamily="2" charset="-122"/>
              </a:rPr>
              <a:t>复习</a:t>
            </a:r>
          </a:p>
        </p:txBody>
      </p:sp>
      <p:sp>
        <p:nvSpPr>
          <p:cNvPr id="574468" name="Rectangle 4"/>
          <p:cNvSpPr>
            <a:spLocks noGrp="1" noChangeArrowheads="1"/>
          </p:cNvSpPr>
          <p:nvPr>
            <p:ph idx="1"/>
          </p:nvPr>
        </p:nvSpPr>
        <p:spPr>
          <a:xfrm>
            <a:off x="466725" y="1412875"/>
            <a:ext cx="7772400" cy="2720975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hlink"/>
                </a:solidFill>
              </a:rPr>
              <a:t>偏序关系：</a:t>
            </a:r>
            <a:r>
              <a:rPr lang="zh-CN" altLang="en-US" sz="2400"/>
              <a:t>自反性、反对称性、传递性。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hlink"/>
                </a:solidFill>
              </a:rPr>
              <a:t>偏序集：</a:t>
            </a:r>
            <a:r>
              <a:rPr lang="zh-CN" altLang="en-US" sz="2400"/>
              <a:t>由一个集合</a:t>
            </a:r>
            <a:r>
              <a:rPr lang="en-US" altLang="zh-CN" sz="2400"/>
              <a:t>A</a:t>
            </a:r>
            <a:r>
              <a:rPr lang="zh-CN" altLang="en-US" sz="2400"/>
              <a:t>和偏序关系</a:t>
            </a:r>
            <a:r>
              <a:rPr lang="zh-CN" altLang="en-US" sz="2400">
                <a:latin typeface="Arial"/>
              </a:rPr>
              <a:t>“</a:t>
            </a:r>
            <a:r>
              <a:rPr kumimoji="1" lang="zh-CN" altLang="en-US" sz="24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sz="2400">
                <a:latin typeface="Arial"/>
              </a:rPr>
              <a:t>”</a:t>
            </a:r>
            <a:r>
              <a:rPr lang="zh-CN" altLang="en-US" sz="2400"/>
              <a:t>组成的序偶</a:t>
            </a:r>
            <a:r>
              <a:rPr lang="en-US" altLang="zh-CN" sz="2400"/>
              <a:t>&lt;A, </a:t>
            </a:r>
            <a:r>
              <a:rPr kumimoji="1" lang="en-US" altLang="zh-CN" sz="24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sz="2400"/>
              <a:t>&gt;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hlink"/>
                </a:solidFill>
              </a:rPr>
              <a:t>盖住：</a:t>
            </a:r>
            <a:r>
              <a:rPr lang="en-US" altLang="zh-CN" sz="2400"/>
              <a:t>&lt;A, </a:t>
            </a:r>
            <a:r>
              <a:rPr kumimoji="1" lang="en-US" altLang="zh-CN" sz="240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sz="2400"/>
              <a:t>&gt;</a:t>
            </a:r>
            <a:r>
              <a:rPr lang="zh-CN" altLang="en-US" sz="2400"/>
              <a:t>，</a:t>
            </a:r>
            <a:r>
              <a:rPr lang="en-US" altLang="zh-CN" sz="2400"/>
              <a:t>x</a:t>
            </a:r>
            <a:r>
              <a:rPr lang="zh-CN" altLang="en-US" sz="2400"/>
              <a:t>，</a:t>
            </a:r>
            <a:r>
              <a:rPr lang="en-US" altLang="zh-CN" sz="2400"/>
              <a:t>y∈A,  x</a:t>
            </a:r>
            <a:r>
              <a:rPr kumimoji="1" lang="en-US" altLang="zh-CN" sz="240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sz="2400"/>
              <a:t>y,  x≠y, </a:t>
            </a:r>
            <a:r>
              <a:rPr lang="zh-CN" altLang="en-US" sz="2400"/>
              <a:t>且不存在</a:t>
            </a:r>
            <a:r>
              <a:rPr lang="en-US" altLang="zh-CN" sz="2400"/>
              <a:t>z</a:t>
            </a:r>
            <a:r>
              <a:rPr lang="zh-CN" altLang="en-US" sz="2400"/>
              <a:t>满足</a:t>
            </a:r>
            <a:r>
              <a:rPr lang="en-US" altLang="zh-CN" sz="2400"/>
              <a:t>x</a:t>
            </a:r>
            <a:r>
              <a:rPr kumimoji="1" lang="en-US" altLang="zh-CN" sz="24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sz="2400"/>
              <a:t>z, z</a:t>
            </a:r>
            <a:r>
              <a:rPr kumimoji="1" lang="en-US" altLang="zh-CN" sz="240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sz="2400"/>
              <a:t>y, </a:t>
            </a:r>
            <a:r>
              <a:rPr lang="zh-CN" altLang="en-US" sz="2400"/>
              <a:t>称元素</a:t>
            </a:r>
            <a:r>
              <a:rPr lang="en-US" altLang="zh-CN" sz="2400"/>
              <a:t>y</a:t>
            </a:r>
            <a:r>
              <a:rPr lang="zh-CN" altLang="en-US" sz="2400"/>
              <a:t>盖住</a:t>
            </a:r>
            <a:r>
              <a:rPr lang="en-US" altLang="zh-CN" sz="2400"/>
              <a:t>x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hlink"/>
                </a:solidFill>
              </a:rPr>
              <a:t>哈斯图：</a:t>
            </a:r>
            <a:r>
              <a:rPr lang="zh-CN" altLang="en-US" sz="2400"/>
              <a:t>体现了关系的传递性。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400">
                <a:solidFill>
                  <a:schemeClr val="hlink"/>
                </a:solidFill>
              </a:rPr>
              <a:t>链、反链、全序关系</a:t>
            </a:r>
            <a:r>
              <a:rPr lang="zh-CN" altLang="en-US" sz="2400"/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44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44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4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44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8" grpId="0" uiExpand="1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15271D-E597-459D-84BF-DE8A26A6DE43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486402" name="Text Box 2"/>
          <p:cNvSpPr txBox="1">
            <a:spLocks noChangeArrowheads="1"/>
          </p:cNvSpPr>
          <p:nvPr/>
        </p:nvSpPr>
        <p:spPr bwMode="auto">
          <a:xfrm>
            <a:off x="466725" y="1123950"/>
            <a:ext cx="6172200" cy="3889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0000CC"/>
                </a:solidFill>
                <a:ea typeface="宋体" pitchFamily="2" charset="-122"/>
              </a:rPr>
              <a:t>极大、极小元</a:t>
            </a: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   </a:t>
            </a:r>
            <a:r>
              <a:rPr lang="zh-CN" altLang="en-US" b="1">
                <a:ea typeface="宋体" pitchFamily="2" charset="-122"/>
              </a:rPr>
              <a:t>不唯一</a:t>
            </a:r>
            <a:endParaRPr lang="zh-CN" altLang="en-US">
              <a:solidFill>
                <a:srgbClr val="0033CC"/>
              </a:solidFill>
              <a:ea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∈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中无元素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zh-CN" altLang="en-US" b="1">
                <a:ea typeface="宋体" pitchFamily="2" charset="-122"/>
              </a:rPr>
              <a:t>有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≻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或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≺</a:t>
            </a:r>
            <a:r>
              <a:rPr lang="en-US" altLang="zh-CN" b="1">
                <a:ea typeface="宋体" pitchFamily="2" charset="-122"/>
              </a:rPr>
              <a:t>x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0000CC"/>
                </a:solidFill>
                <a:ea typeface="宋体" pitchFamily="2" charset="-122"/>
              </a:rPr>
              <a:t>最大、最小元</a:t>
            </a: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   </a:t>
            </a:r>
            <a:r>
              <a:rPr lang="zh-CN" altLang="en-US" b="1">
                <a:ea typeface="宋体" pitchFamily="2" charset="-122"/>
              </a:rPr>
              <a:t>唯一</a:t>
            </a:r>
            <a:endParaRPr lang="zh-CN" altLang="en-US">
              <a:solidFill>
                <a:srgbClr val="0033CC"/>
              </a:solidFill>
              <a:ea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∈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中每一元素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zh-CN" altLang="en-US" b="1">
                <a:ea typeface="宋体" pitchFamily="2" charset="-122"/>
              </a:rPr>
              <a:t>有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或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x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0000CC"/>
                </a:solidFill>
                <a:ea typeface="宋体" pitchFamily="2" charset="-122"/>
              </a:rPr>
              <a:t>上界、下界</a:t>
            </a: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  </a:t>
            </a:r>
            <a:r>
              <a:rPr lang="zh-CN" altLang="en-US" b="1">
                <a:ea typeface="宋体" pitchFamily="2" charset="-122"/>
              </a:rPr>
              <a:t>不唯一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a∈A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中每一元素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zh-CN" altLang="en-US" b="1">
                <a:ea typeface="宋体" pitchFamily="2" charset="-122"/>
              </a:rPr>
              <a:t>有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或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en-US" altLang="zh-CN" b="1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x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0000CC"/>
                </a:solidFill>
                <a:ea typeface="宋体" pitchFamily="2" charset="-122"/>
              </a:rPr>
              <a:t>最小上界、最大下界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若存在则唯一，可能不存在</a:t>
            </a:r>
          </a:p>
        </p:txBody>
      </p:sp>
      <p:grpSp>
        <p:nvGrpSpPr>
          <p:cNvPr id="486441" name="Group 41"/>
          <p:cNvGrpSpPr>
            <a:grpSpLocks/>
          </p:cNvGrpSpPr>
          <p:nvPr/>
        </p:nvGrpSpPr>
        <p:grpSpPr bwMode="auto">
          <a:xfrm>
            <a:off x="6372225" y="1125538"/>
            <a:ext cx="2305050" cy="2330450"/>
            <a:chOff x="3936" y="1104"/>
            <a:chExt cx="1452" cy="1468"/>
          </a:xfrm>
        </p:grpSpPr>
        <p:grpSp>
          <p:nvGrpSpPr>
            <p:cNvPr id="486414" name="Group 14"/>
            <p:cNvGrpSpPr>
              <a:grpSpLocks/>
            </p:cNvGrpSpPr>
            <p:nvPr/>
          </p:nvGrpSpPr>
          <p:grpSpPr bwMode="auto">
            <a:xfrm>
              <a:off x="4160" y="1283"/>
              <a:ext cx="1056" cy="1200"/>
              <a:chOff x="5580" y="6591"/>
              <a:chExt cx="1440" cy="2028"/>
            </a:xfrm>
          </p:grpSpPr>
          <p:sp>
            <p:nvSpPr>
              <p:cNvPr id="486415" name="Oval 15"/>
              <p:cNvSpPr>
                <a:spLocks noChangeArrowheads="1"/>
              </p:cNvSpPr>
              <p:nvPr/>
            </p:nvSpPr>
            <p:spPr bwMode="auto">
              <a:xfrm>
                <a:off x="6210" y="7134"/>
                <a:ext cx="180" cy="156"/>
              </a:xfrm>
              <a:prstGeom prst="ellipse">
                <a:avLst/>
              </a:prstGeom>
              <a:solidFill>
                <a:srgbClr val="800000"/>
              </a:solidFill>
              <a:ln w="9525">
                <a:solidFill>
                  <a:srgbClr val="8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16" name="Oval 16"/>
              <p:cNvSpPr>
                <a:spLocks noChangeArrowheads="1"/>
              </p:cNvSpPr>
              <p:nvPr/>
            </p:nvSpPr>
            <p:spPr bwMode="auto">
              <a:xfrm>
                <a:off x="5580" y="7749"/>
                <a:ext cx="1440" cy="87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17" name="Line 17"/>
              <p:cNvSpPr>
                <a:spLocks noChangeShapeType="1"/>
              </p:cNvSpPr>
              <p:nvPr/>
            </p:nvSpPr>
            <p:spPr bwMode="auto">
              <a:xfrm>
                <a:off x="5760" y="6747"/>
                <a:ext cx="54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18" name="Line 18"/>
              <p:cNvSpPr>
                <a:spLocks noChangeShapeType="1"/>
              </p:cNvSpPr>
              <p:nvPr/>
            </p:nvSpPr>
            <p:spPr bwMode="auto">
              <a:xfrm flipH="1">
                <a:off x="6300" y="6747"/>
                <a:ext cx="54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19" name="Line 19"/>
              <p:cNvSpPr>
                <a:spLocks noChangeShapeType="1"/>
              </p:cNvSpPr>
              <p:nvPr/>
            </p:nvSpPr>
            <p:spPr bwMode="auto">
              <a:xfrm>
                <a:off x="6300" y="7839"/>
                <a:ext cx="540" cy="46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0" name="Freeform 20"/>
              <p:cNvSpPr>
                <a:spLocks/>
              </p:cNvSpPr>
              <p:nvPr/>
            </p:nvSpPr>
            <p:spPr bwMode="auto">
              <a:xfrm>
                <a:off x="5790" y="7839"/>
                <a:ext cx="510" cy="441"/>
              </a:xfrm>
              <a:custGeom>
                <a:avLst/>
                <a:gdLst>
                  <a:gd name="T0" fmla="*/ 510 w 510"/>
                  <a:gd name="T1" fmla="*/ 0 h 441"/>
                  <a:gd name="T2" fmla="*/ 0 w 510"/>
                  <a:gd name="T3" fmla="*/ 441 h 4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510" h="441">
                    <a:moveTo>
                      <a:pt x="510" y="0"/>
                    </a:moveTo>
                    <a:lnTo>
                      <a:pt x="0" y="441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1" name="Oval 21"/>
              <p:cNvSpPr>
                <a:spLocks noChangeArrowheads="1"/>
              </p:cNvSpPr>
              <p:nvPr/>
            </p:nvSpPr>
            <p:spPr bwMode="auto">
              <a:xfrm>
                <a:off x="5790" y="8181"/>
                <a:ext cx="180" cy="15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2" name="Oval 22"/>
              <p:cNvSpPr>
                <a:spLocks noChangeArrowheads="1"/>
              </p:cNvSpPr>
              <p:nvPr/>
            </p:nvSpPr>
            <p:spPr bwMode="auto">
              <a:xfrm>
                <a:off x="6675" y="8181"/>
                <a:ext cx="180" cy="156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3" name="Oval 23"/>
              <p:cNvSpPr>
                <a:spLocks noChangeArrowheads="1"/>
              </p:cNvSpPr>
              <p:nvPr/>
            </p:nvSpPr>
            <p:spPr bwMode="auto">
              <a:xfrm>
                <a:off x="5595" y="6606"/>
                <a:ext cx="180" cy="156"/>
              </a:xfrm>
              <a:prstGeom prst="ellipse">
                <a:avLst/>
              </a:prstGeom>
              <a:solidFill>
                <a:srgbClr val="8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4" name="Oval 24"/>
              <p:cNvSpPr>
                <a:spLocks noChangeArrowheads="1"/>
              </p:cNvSpPr>
              <p:nvPr/>
            </p:nvSpPr>
            <p:spPr bwMode="auto">
              <a:xfrm>
                <a:off x="6780" y="6591"/>
                <a:ext cx="180" cy="156"/>
              </a:xfrm>
              <a:prstGeom prst="ellipse">
                <a:avLst/>
              </a:prstGeom>
              <a:solidFill>
                <a:srgbClr val="800000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5" name="Freeform 25"/>
              <p:cNvSpPr>
                <a:spLocks/>
              </p:cNvSpPr>
              <p:nvPr/>
            </p:nvSpPr>
            <p:spPr bwMode="auto">
              <a:xfrm>
                <a:off x="6300" y="7185"/>
                <a:ext cx="1" cy="654"/>
              </a:xfrm>
              <a:custGeom>
                <a:avLst/>
                <a:gdLst>
                  <a:gd name="T0" fmla="*/ 0 w 1"/>
                  <a:gd name="T1" fmla="*/ 0 h 654"/>
                  <a:gd name="T2" fmla="*/ 1 w 1"/>
                  <a:gd name="T3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54">
                    <a:moveTo>
                      <a:pt x="0" y="0"/>
                    </a:moveTo>
                    <a:lnTo>
                      <a:pt x="1" y="654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6426" name="Oval 26"/>
              <p:cNvSpPr>
                <a:spLocks noChangeArrowheads="1"/>
              </p:cNvSpPr>
              <p:nvPr/>
            </p:nvSpPr>
            <p:spPr bwMode="auto">
              <a:xfrm>
                <a:off x="6210" y="7791"/>
                <a:ext cx="180" cy="156"/>
              </a:xfrm>
              <a:prstGeom prst="ellipse">
                <a:avLst/>
              </a:prstGeom>
              <a:solidFill>
                <a:srgbClr val="800000"/>
              </a:solidFill>
              <a:ln w="25400">
                <a:solidFill>
                  <a:srgbClr val="FFF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6431" name="Text Box 31"/>
            <p:cNvSpPr txBox="1">
              <a:spLocks noChangeArrowheads="1"/>
            </p:cNvSpPr>
            <p:nvPr/>
          </p:nvSpPr>
          <p:spPr bwMode="auto">
            <a:xfrm>
              <a:off x="4118" y="2284"/>
              <a:ext cx="1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</a:t>
              </a:r>
            </a:p>
          </p:txBody>
        </p:sp>
        <p:sp>
          <p:nvSpPr>
            <p:cNvPr id="486432" name="Text Box 32"/>
            <p:cNvSpPr txBox="1">
              <a:spLocks noChangeArrowheads="1"/>
            </p:cNvSpPr>
            <p:nvPr/>
          </p:nvSpPr>
          <p:spPr bwMode="auto">
            <a:xfrm>
              <a:off x="5070" y="2284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b</a:t>
              </a:r>
            </a:p>
          </p:txBody>
        </p:sp>
        <p:sp>
          <p:nvSpPr>
            <p:cNvPr id="486433" name="Text Box 33"/>
            <p:cNvSpPr txBox="1">
              <a:spLocks noChangeArrowheads="1"/>
            </p:cNvSpPr>
            <p:nvPr/>
          </p:nvSpPr>
          <p:spPr bwMode="auto">
            <a:xfrm>
              <a:off x="4707" y="1830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c</a:t>
              </a:r>
            </a:p>
          </p:txBody>
        </p:sp>
        <p:sp>
          <p:nvSpPr>
            <p:cNvPr id="486434" name="Text Box 34"/>
            <p:cNvSpPr txBox="1">
              <a:spLocks noChangeArrowheads="1"/>
            </p:cNvSpPr>
            <p:nvPr/>
          </p:nvSpPr>
          <p:spPr bwMode="auto">
            <a:xfrm>
              <a:off x="4571" y="1331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d</a:t>
              </a:r>
            </a:p>
          </p:txBody>
        </p:sp>
        <p:sp>
          <p:nvSpPr>
            <p:cNvPr id="486435" name="Text Box 35"/>
            <p:cNvSpPr txBox="1">
              <a:spLocks noChangeArrowheads="1"/>
            </p:cNvSpPr>
            <p:nvPr/>
          </p:nvSpPr>
          <p:spPr bwMode="auto">
            <a:xfrm>
              <a:off x="3936" y="1150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e</a:t>
              </a:r>
            </a:p>
          </p:txBody>
        </p:sp>
        <p:sp>
          <p:nvSpPr>
            <p:cNvPr id="486436" name="Text Box 36"/>
            <p:cNvSpPr txBox="1">
              <a:spLocks noChangeArrowheads="1"/>
            </p:cNvSpPr>
            <p:nvPr/>
          </p:nvSpPr>
          <p:spPr bwMode="auto">
            <a:xfrm>
              <a:off x="5116" y="1104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f</a:t>
              </a:r>
            </a:p>
          </p:txBody>
        </p:sp>
      </p:grpSp>
      <p:sp>
        <p:nvSpPr>
          <p:cNvPr id="486438" name="Rectangle 38"/>
          <p:cNvSpPr>
            <a:spLocks noGrp="1" noChangeArrowheads="1"/>
          </p:cNvSpPr>
          <p:nvPr>
            <p:ph type="title"/>
          </p:nvPr>
        </p:nvSpPr>
        <p:spPr>
          <a:xfrm>
            <a:off x="990600" y="188913"/>
            <a:ext cx="7237413" cy="701675"/>
          </a:xfrm>
        </p:spPr>
        <p:txBody>
          <a:bodyPr/>
          <a:lstStyle/>
          <a:p>
            <a:r>
              <a:rPr lang="zh-CN" altLang="en-US">
                <a:solidFill>
                  <a:srgbClr val="0000CC"/>
                </a:solidFill>
                <a:ea typeface="华文行楷" pitchFamily="2" charset="-122"/>
              </a:rPr>
              <a:t>复习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2" grpId="0" uiExpand="1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E7C3A64-E68D-46E1-958B-FA398664103E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487426" name="Text Box 2"/>
          <p:cNvSpPr txBox="1">
            <a:spLocks noChangeArrowheads="1"/>
          </p:cNvSpPr>
          <p:nvPr/>
        </p:nvSpPr>
        <p:spPr bwMode="auto">
          <a:xfrm>
            <a:off x="466725" y="1717675"/>
            <a:ext cx="8534400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folHlink"/>
                </a:solidFill>
                <a:ea typeface="宋体" pitchFamily="2" charset="-122"/>
              </a:rPr>
              <a:t>例如，</a:t>
            </a:r>
          </a:p>
        </p:txBody>
      </p:sp>
      <p:grpSp>
        <p:nvGrpSpPr>
          <p:cNvPr id="487429" name="Group 5"/>
          <p:cNvGrpSpPr>
            <a:grpSpLocks/>
          </p:cNvGrpSpPr>
          <p:nvPr/>
        </p:nvGrpSpPr>
        <p:grpSpPr bwMode="auto">
          <a:xfrm>
            <a:off x="1676400" y="1778000"/>
            <a:ext cx="5715000" cy="1371600"/>
            <a:chOff x="2700" y="5808"/>
            <a:chExt cx="5715" cy="1344"/>
          </a:xfrm>
        </p:grpSpPr>
        <p:sp>
          <p:nvSpPr>
            <p:cNvPr id="487430" name="Oval 6"/>
            <p:cNvSpPr>
              <a:spLocks noChangeArrowheads="1"/>
            </p:cNvSpPr>
            <p:nvPr/>
          </p:nvSpPr>
          <p:spPr bwMode="auto">
            <a:xfrm>
              <a:off x="2700" y="6588"/>
              <a:ext cx="180" cy="156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7431" name="Group 7"/>
            <p:cNvGrpSpPr>
              <a:grpSpLocks/>
            </p:cNvGrpSpPr>
            <p:nvPr/>
          </p:nvGrpSpPr>
          <p:grpSpPr bwMode="auto">
            <a:xfrm>
              <a:off x="3420" y="5964"/>
              <a:ext cx="195" cy="1188"/>
              <a:chOff x="3525" y="11892"/>
              <a:chExt cx="195" cy="1188"/>
            </a:xfrm>
          </p:grpSpPr>
          <p:sp>
            <p:nvSpPr>
              <p:cNvPr id="487432" name="Line 8"/>
              <p:cNvSpPr>
                <a:spLocks noChangeShapeType="1"/>
              </p:cNvSpPr>
              <p:nvPr/>
            </p:nvSpPr>
            <p:spPr bwMode="auto">
              <a:xfrm>
                <a:off x="3600" y="12048"/>
                <a:ext cx="0" cy="936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33" name="Oval 9"/>
              <p:cNvSpPr>
                <a:spLocks noChangeArrowheads="1"/>
              </p:cNvSpPr>
              <p:nvPr/>
            </p:nvSpPr>
            <p:spPr bwMode="auto">
              <a:xfrm>
                <a:off x="3525" y="11892"/>
                <a:ext cx="180" cy="15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34" name="Oval 10"/>
              <p:cNvSpPr>
                <a:spLocks noChangeArrowheads="1"/>
              </p:cNvSpPr>
              <p:nvPr/>
            </p:nvSpPr>
            <p:spPr bwMode="auto">
              <a:xfrm>
                <a:off x="3540" y="12924"/>
                <a:ext cx="180" cy="15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7435" name="Group 11"/>
            <p:cNvGrpSpPr>
              <a:grpSpLocks/>
            </p:cNvGrpSpPr>
            <p:nvPr/>
          </p:nvGrpSpPr>
          <p:grpSpPr bwMode="auto">
            <a:xfrm>
              <a:off x="4500" y="5964"/>
              <a:ext cx="195" cy="1188"/>
              <a:chOff x="4500" y="11892"/>
              <a:chExt cx="195" cy="1188"/>
            </a:xfrm>
          </p:grpSpPr>
          <p:grpSp>
            <p:nvGrpSpPr>
              <p:cNvPr id="487436" name="Group 12"/>
              <p:cNvGrpSpPr>
                <a:grpSpLocks/>
              </p:cNvGrpSpPr>
              <p:nvPr/>
            </p:nvGrpSpPr>
            <p:grpSpPr bwMode="auto">
              <a:xfrm>
                <a:off x="4500" y="11892"/>
                <a:ext cx="195" cy="1188"/>
                <a:chOff x="3525" y="11892"/>
                <a:chExt cx="195" cy="1188"/>
              </a:xfrm>
            </p:grpSpPr>
            <p:sp>
              <p:nvSpPr>
                <p:cNvPr id="487437" name="Line 13"/>
                <p:cNvSpPr>
                  <a:spLocks noChangeShapeType="1"/>
                </p:cNvSpPr>
                <p:nvPr/>
              </p:nvSpPr>
              <p:spPr bwMode="auto">
                <a:xfrm>
                  <a:off x="3600" y="12048"/>
                  <a:ext cx="0" cy="936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438" name="Oval 14"/>
                <p:cNvSpPr>
                  <a:spLocks noChangeArrowheads="1"/>
                </p:cNvSpPr>
                <p:nvPr/>
              </p:nvSpPr>
              <p:spPr bwMode="auto">
                <a:xfrm>
                  <a:off x="3525" y="11892"/>
                  <a:ext cx="180" cy="156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7439" name="Oval 15"/>
                <p:cNvSpPr>
                  <a:spLocks noChangeArrowheads="1"/>
                </p:cNvSpPr>
                <p:nvPr/>
              </p:nvSpPr>
              <p:spPr bwMode="auto">
                <a:xfrm>
                  <a:off x="3540" y="12924"/>
                  <a:ext cx="180" cy="156"/>
                </a:xfrm>
                <a:prstGeom prst="ellipse">
                  <a:avLst/>
                </a:prstGeom>
                <a:solidFill>
                  <a:srgbClr val="FFFFFF"/>
                </a:solidFill>
                <a:ln w="254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87440" name="Oval 16"/>
              <p:cNvSpPr>
                <a:spLocks noChangeArrowheads="1"/>
              </p:cNvSpPr>
              <p:nvPr/>
            </p:nvSpPr>
            <p:spPr bwMode="auto">
              <a:xfrm>
                <a:off x="4500" y="12405"/>
                <a:ext cx="180" cy="156"/>
              </a:xfrm>
              <a:prstGeom prst="ellipse">
                <a:avLst/>
              </a:prstGeom>
              <a:solidFill>
                <a:srgbClr val="FFFFFF"/>
              </a:solidFill>
              <a:ln w="254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7441" name="Group 17"/>
            <p:cNvGrpSpPr>
              <a:grpSpLocks/>
            </p:cNvGrpSpPr>
            <p:nvPr/>
          </p:nvGrpSpPr>
          <p:grpSpPr bwMode="auto">
            <a:xfrm>
              <a:off x="7200" y="5964"/>
              <a:ext cx="1215" cy="1092"/>
              <a:chOff x="7200" y="11892"/>
              <a:chExt cx="1215" cy="1092"/>
            </a:xfrm>
          </p:grpSpPr>
          <p:sp>
            <p:nvSpPr>
              <p:cNvPr id="487442" name="Line 18"/>
              <p:cNvSpPr>
                <a:spLocks noChangeShapeType="1"/>
              </p:cNvSpPr>
              <p:nvPr/>
            </p:nvSpPr>
            <p:spPr bwMode="auto">
              <a:xfrm flipH="1">
                <a:off x="7200" y="11892"/>
                <a:ext cx="36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43" name="Freeform 19"/>
              <p:cNvSpPr>
                <a:spLocks/>
              </p:cNvSpPr>
              <p:nvPr/>
            </p:nvSpPr>
            <p:spPr bwMode="auto">
              <a:xfrm>
                <a:off x="7740" y="12705"/>
                <a:ext cx="645" cy="279"/>
              </a:xfrm>
              <a:custGeom>
                <a:avLst/>
                <a:gdLst>
                  <a:gd name="T0" fmla="*/ 645 w 645"/>
                  <a:gd name="T1" fmla="*/ 0 h 279"/>
                  <a:gd name="T2" fmla="*/ 0 w 645"/>
                  <a:gd name="T3" fmla="*/ 279 h 2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45" h="279">
                    <a:moveTo>
                      <a:pt x="645" y="0"/>
                    </a:moveTo>
                    <a:lnTo>
                      <a:pt x="0" y="27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44" name="Line 20"/>
              <p:cNvSpPr>
                <a:spLocks noChangeShapeType="1"/>
              </p:cNvSpPr>
              <p:nvPr/>
            </p:nvSpPr>
            <p:spPr bwMode="auto">
              <a:xfrm>
                <a:off x="7200" y="12516"/>
                <a:ext cx="540" cy="46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45" name="Line 21"/>
              <p:cNvSpPr>
                <a:spLocks noChangeShapeType="1"/>
              </p:cNvSpPr>
              <p:nvPr/>
            </p:nvSpPr>
            <p:spPr bwMode="auto">
              <a:xfrm>
                <a:off x="7560" y="11892"/>
                <a:ext cx="720" cy="312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46" name="Freeform 22"/>
              <p:cNvSpPr>
                <a:spLocks/>
              </p:cNvSpPr>
              <p:nvPr/>
            </p:nvSpPr>
            <p:spPr bwMode="auto">
              <a:xfrm>
                <a:off x="8280" y="12204"/>
                <a:ext cx="135" cy="486"/>
              </a:xfrm>
              <a:custGeom>
                <a:avLst/>
                <a:gdLst>
                  <a:gd name="T0" fmla="*/ 0 w 135"/>
                  <a:gd name="T1" fmla="*/ 0 h 486"/>
                  <a:gd name="T2" fmla="*/ 135 w 135"/>
                  <a:gd name="T3" fmla="*/ 486 h 4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35" h="486">
                    <a:moveTo>
                      <a:pt x="0" y="0"/>
                    </a:moveTo>
                    <a:lnTo>
                      <a:pt x="135" y="486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7447" name="Group 23"/>
            <p:cNvGrpSpPr>
              <a:grpSpLocks/>
            </p:cNvGrpSpPr>
            <p:nvPr/>
          </p:nvGrpSpPr>
          <p:grpSpPr bwMode="auto">
            <a:xfrm>
              <a:off x="5580" y="5808"/>
              <a:ext cx="1020" cy="1092"/>
              <a:chOff x="5580" y="11892"/>
              <a:chExt cx="900" cy="1092"/>
            </a:xfrm>
          </p:grpSpPr>
          <p:sp>
            <p:nvSpPr>
              <p:cNvPr id="487448" name="Line 24"/>
              <p:cNvSpPr>
                <a:spLocks noChangeShapeType="1"/>
              </p:cNvSpPr>
              <p:nvPr/>
            </p:nvSpPr>
            <p:spPr bwMode="auto">
              <a:xfrm flipH="1">
                <a:off x="5580" y="11892"/>
                <a:ext cx="36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49" name="Line 25"/>
              <p:cNvSpPr>
                <a:spLocks noChangeShapeType="1"/>
              </p:cNvSpPr>
              <p:nvPr/>
            </p:nvSpPr>
            <p:spPr bwMode="auto">
              <a:xfrm flipH="1">
                <a:off x="6120" y="12360"/>
                <a:ext cx="36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50" name="Line 26"/>
              <p:cNvSpPr>
                <a:spLocks noChangeShapeType="1"/>
              </p:cNvSpPr>
              <p:nvPr/>
            </p:nvSpPr>
            <p:spPr bwMode="auto">
              <a:xfrm>
                <a:off x="5580" y="12516"/>
                <a:ext cx="540" cy="46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7451" name="Line 27"/>
              <p:cNvSpPr>
                <a:spLocks noChangeShapeType="1"/>
              </p:cNvSpPr>
              <p:nvPr/>
            </p:nvSpPr>
            <p:spPr bwMode="auto">
              <a:xfrm>
                <a:off x="5940" y="11892"/>
                <a:ext cx="540" cy="46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487455" name="Text Box 31"/>
          <p:cNvSpPr txBox="1">
            <a:spLocks noChangeArrowheads="1"/>
          </p:cNvSpPr>
          <p:nvPr/>
        </p:nvSpPr>
        <p:spPr bwMode="auto">
          <a:xfrm>
            <a:off x="466725" y="4238625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altLang="zh-CN" b="1">
                <a:ea typeface="宋体" pitchFamily="2" charset="-122"/>
              </a:rPr>
              <a:t>  </a:t>
            </a:r>
            <a:r>
              <a:rPr lang="zh-CN" altLang="en-US" b="1">
                <a:ea typeface="宋体" pitchFamily="2" charset="-122"/>
              </a:rPr>
              <a:t>偏序集的哈斯图是上面所画形式的，都是格，当然格还有其他的哈斯图形式</a:t>
            </a:r>
          </a:p>
        </p:txBody>
      </p:sp>
      <p:sp>
        <p:nvSpPr>
          <p:cNvPr id="487456" name="Rectangle 32"/>
          <p:cNvSpPr>
            <a:spLocks noGrp="1" noChangeArrowheads="1"/>
          </p:cNvSpPr>
          <p:nvPr>
            <p:ph type="title"/>
          </p:nvPr>
        </p:nvSpPr>
        <p:spPr>
          <a:xfrm>
            <a:off x="990600" y="228600"/>
            <a:ext cx="7237413" cy="641350"/>
          </a:xfrm>
        </p:spPr>
        <p:txBody>
          <a:bodyPr/>
          <a:lstStyle/>
          <a:p>
            <a:r>
              <a:rPr kumimoji="1" lang="en-US" altLang="zh-CN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6-1 </a:t>
            </a:r>
            <a:r>
              <a:rPr kumimoji="1" lang="zh-CN" altLang="en-US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格的概念</a:t>
            </a:r>
          </a:p>
        </p:txBody>
      </p:sp>
      <p:sp>
        <p:nvSpPr>
          <p:cNvPr id="487458" name="Rectangle 34"/>
          <p:cNvSpPr>
            <a:spLocks noChangeArrowheads="1"/>
          </p:cNvSpPr>
          <p:nvPr/>
        </p:nvSpPr>
        <p:spPr bwMode="auto">
          <a:xfrm>
            <a:off x="466725" y="966788"/>
            <a:ext cx="8277225" cy="725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3200" b="1"/>
              <a:t>一、格及其运算、子格、对偶原理</a:t>
            </a:r>
          </a:p>
        </p:txBody>
      </p:sp>
      <p:sp>
        <p:nvSpPr>
          <p:cNvPr id="487459" name="Rectangle 35"/>
          <p:cNvSpPr>
            <a:spLocks noChangeArrowheads="1"/>
          </p:cNvSpPr>
          <p:nvPr/>
        </p:nvSpPr>
        <p:spPr bwMode="auto">
          <a:xfrm>
            <a:off x="466725" y="3217863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6-1.1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是一个偏序集，如果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中任意两个元素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都有</a:t>
            </a:r>
            <a:r>
              <a:rPr lang="zh-CN" altLang="en-US" b="1" dirty="0">
                <a:solidFill>
                  <a:srgbClr val="0000CC"/>
                </a:solidFill>
                <a:ea typeface="宋体" pitchFamily="2" charset="-122"/>
              </a:rPr>
              <a:t>最小</a:t>
            </a:r>
            <a:r>
              <a:rPr lang="zh-CN" altLang="en-US" b="1" dirty="0">
                <a:ea typeface="宋体" pitchFamily="2" charset="-122"/>
              </a:rPr>
              <a:t>上界和</a:t>
            </a:r>
            <a:r>
              <a:rPr kumimoji="0" lang="zh-CN" altLang="en-US" b="1" dirty="0">
                <a:solidFill>
                  <a:srgbClr val="0000CC"/>
                </a:solidFill>
                <a:ea typeface="宋体" pitchFamily="2" charset="-122"/>
              </a:rPr>
              <a:t>最大</a:t>
            </a:r>
            <a:r>
              <a:rPr lang="zh-CN" altLang="en-US" b="1" dirty="0">
                <a:ea typeface="宋体" pitchFamily="2" charset="-122"/>
              </a:rPr>
              <a:t>下界，则称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solidFill>
                  <a:srgbClr val="0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格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74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74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74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74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7455" grpId="0" autoUpdateAnimBg="0"/>
      <p:bldP spid="48745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E2CAD5-EA5D-4355-8F77-FB6D193AB67F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488450" name="Text Box 2"/>
          <p:cNvSpPr txBox="1">
            <a:spLocks noChangeArrowheads="1"/>
          </p:cNvSpPr>
          <p:nvPr/>
        </p:nvSpPr>
        <p:spPr bwMode="auto">
          <a:xfrm>
            <a:off x="466725" y="1196975"/>
            <a:ext cx="8277225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79388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</a:rPr>
              <a:t>6-1.2</a:t>
            </a:r>
            <a:r>
              <a:rPr lang="zh-CN" altLang="en-US" b="1" dirty="0">
                <a:solidFill>
                  <a:schemeClr val="hlink"/>
                </a:solidFill>
              </a:rPr>
              <a:t>：</a:t>
            </a:r>
            <a:r>
              <a:rPr lang="zh-CN" altLang="en-US" b="1" dirty="0"/>
              <a:t>设</a:t>
            </a:r>
            <a:r>
              <a:rPr lang="en-US" altLang="zh-CN" b="1" dirty="0"/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/>
              <a:t>&gt;</a:t>
            </a:r>
            <a:r>
              <a:rPr lang="zh-CN" altLang="en-US" b="1" dirty="0"/>
              <a:t>是一个格，如果在</a:t>
            </a:r>
            <a:r>
              <a:rPr lang="en-US" altLang="zh-CN" b="1" dirty="0"/>
              <a:t>A</a:t>
            </a:r>
            <a:r>
              <a:rPr lang="zh-CN" altLang="en-US" b="1" dirty="0"/>
              <a:t>上定义两个二元运算</a:t>
            </a:r>
            <a:r>
              <a:rPr lang="zh-CN" altLang="en-US" b="1" dirty="0">
                <a:solidFill>
                  <a:srgbClr val="0000CC"/>
                </a:solidFill>
              </a:rPr>
              <a:t>∧</a:t>
            </a:r>
            <a:r>
              <a:rPr lang="zh-CN" altLang="en-US" b="1" dirty="0"/>
              <a:t>、</a:t>
            </a:r>
            <a:r>
              <a:rPr lang="zh-CN" altLang="en-US" b="1" dirty="0">
                <a:solidFill>
                  <a:srgbClr val="0000CC"/>
                </a:solidFill>
              </a:rPr>
              <a:t>∨</a:t>
            </a:r>
            <a:r>
              <a:rPr lang="zh-CN" altLang="en-US" b="1" dirty="0"/>
              <a:t>，使得对于任意的</a:t>
            </a:r>
            <a:r>
              <a:rPr lang="en-US" altLang="zh-CN" b="1" dirty="0"/>
              <a:t>a</a:t>
            </a:r>
            <a:r>
              <a:rPr lang="zh-CN" altLang="en-US" b="1" dirty="0"/>
              <a:t>，</a:t>
            </a:r>
            <a:r>
              <a:rPr lang="en-US" altLang="zh-CN" b="1" dirty="0" err="1"/>
              <a:t>b∈A</a:t>
            </a:r>
            <a:r>
              <a:rPr lang="zh-CN" altLang="en-US" b="1" dirty="0"/>
              <a:t>：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 err="1">
                <a:solidFill>
                  <a:srgbClr val="0000CC"/>
                </a:solidFill>
              </a:rPr>
              <a:t>a∨b</a:t>
            </a:r>
            <a:r>
              <a:rPr lang="en-US" altLang="zh-CN" b="1" dirty="0"/>
              <a:t> =</a:t>
            </a:r>
            <a:r>
              <a:rPr lang="zh-CN" altLang="en-US" b="1" dirty="0"/>
              <a:t>元素</a:t>
            </a:r>
            <a:r>
              <a:rPr lang="en-US" altLang="zh-CN" b="1" dirty="0"/>
              <a:t>a</a:t>
            </a:r>
            <a:r>
              <a:rPr lang="zh-CN" altLang="en-US" b="1" dirty="0"/>
              <a:t>，</a:t>
            </a:r>
            <a:r>
              <a:rPr lang="en-US" altLang="zh-CN" b="1" dirty="0"/>
              <a:t>b</a:t>
            </a:r>
            <a:r>
              <a:rPr lang="zh-CN" altLang="en-US" b="1" dirty="0"/>
              <a:t>的最小上界，</a:t>
            </a:r>
            <a:r>
              <a:rPr lang="en-US" altLang="zh-CN" b="1" dirty="0"/>
              <a:t>(</a:t>
            </a:r>
            <a:r>
              <a:rPr lang="zh-CN" altLang="en-US" b="1" dirty="0">
                <a:solidFill>
                  <a:srgbClr val="0000CC"/>
                </a:solidFill>
              </a:rPr>
              <a:t>并运算</a:t>
            </a:r>
            <a:r>
              <a:rPr lang="en-US" altLang="zh-CN" b="1" dirty="0"/>
              <a:t>)</a:t>
            </a:r>
          </a:p>
          <a:p>
            <a:pPr algn="ctr">
              <a:lnSpc>
                <a:spcPct val="130000"/>
              </a:lnSpc>
            </a:pPr>
            <a:r>
              <a:rPr lang="en-US" altLang="zh-CN" b="1" dirty="0" err="1">
                <a:solidFill>
                  <a:srgbClr val="0000CC"/>
                </a:solidFill>
              </a:rPr>
              <a:t>a∧b</a:t>
            </a:r>
            <a:r>
              <a:rPr lang="en-US" altLang="zh-CN" b="1" dirty="0"/>
              <a:t> =</a:t>
            </a:r>
            <a:r>
              <a:rPr lang="zh-CN" altLang="en-US" b="1" dirty="0"/>
              <a:t>元素</a:t>
            </a:r>
            <a:r>
              <a:rPr lang="en-US" altLang="zh-CN" b="1" dirty="0"/>
              <a:t>a</a:t>
            </a:r>
            <a:r>
              <a:rPr lang="zh-CN" altLang="en-US" b="1" dirty="0"/>
              <a:t>，</a:t>
            </a:r>
            <a:r>
              <a:rPr lang="en-US" altLang="zh-CN" b="1" dirty="0"/>
              <a:t>b</a:t>
            </a:r>
            <a:r>
              <a:rPr lang="zh-CN" altLang="en-US" b="1" dirty="0"/>
              <a:t>的最大下界，</a:t>
            </a:r>
            <a:r>
              <a:rPr lang="en-US" altLang="zh-CN" b="1" dirty="0"/>
              <a:t>(</a:t>
            </a:r>
            <a:r>
              <a:rPr lang="zh-CN" altLang="en-US" b="1" dirty="0">
                <a:solidFill>
                  <a:srgbClr val="0000CC"/>
                </a:solidFill>
              </a:rPr>
              <a:t>交运算</a:t>
            </a:r>
            <a:r>
              <a:rPr lang="en-US" altLang="zh-CN" b="1" dirty="0"/>
              <a:t>)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/>
              <a:t>称</a:t>
            </a:r>
            <a:r>
              <a:rPr lang="en-US" altLang="zh-CN" b="1" dirty="0">
                <a:solidFill>
                  <a:srgbClr val="0000CC"/>
                </a:solidFill>
              </a:rPr>
              <a:t>&lt;A,∨,∧&gt;</a:t>
            </a:r>
            <a:r>
              <a:rPr lang="zh-CN" altLang="en-US" b="1" dirty="0"/>
              <a:t>为由格</a:t>
            </a:r>
            <a:r>
              <a:rPr lang="en-US" altLang="zh-CN" b="1" dirty="0"/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/>
              <a:t>&gt;</a:t>
            </a:r>
            <a:r>
              <a:rPr lang="zh-CN" altLang="en-US" b="1" dirty="0"/>
              <a:t>所诱导的代数系统。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DB954D3-AA8E-4789-B01E-4E951EF5AB67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567299" name="Text Box 3"/>
          <p:cNvSpPr txBox="1">
            <a:spLocks noChangeArrowheads="1"/>
          </p:cNvSpPr>
          <p:nvPr/>
        </p:nvSpPr>
        <p:spPr bwMode="auto">
          <a:xfrm>
            <a:off x="466725" y="1196975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例：</a:t>
            </a:r>
            <a:r>
              <a:rPr lang="zh-CN" altLang="en-US" b="1">
                <a:ea typeface="宋体" pitchFamily="2" charset="-122"/>
              </a:rPr>
              <a:t>给定</a:t>
            </a:r>
            <a:r>
              <a:rPr lang="en-US" altLang="zh-CN" b="1">
                <a:ea typeface="宋体" pitchFamily="2" charset="-122"/>
              </a:rPr>
              <a:t>S={a, b}</a:t>
            </a:r>
            <a:r>
              <a:rPr lang="zh-CN" altLang="en-US" b="1">
                <a:ea typeface="宋体" pitchFamily="2" charset="-122"/>
              </a:rPr>
              <a:t>， 格</a:t>
            </a:r>
            <a:r>
              <a:rPr lang="en-US" altLang="zh-CN" b="1">
                <a:ea typeface="宋体" pitchFamily="2" charset="-122"/>
              </a:rPr>
              <a:t>&lt;</a:t>
            </a:r>
            <a:r>
              <a:rPr lang="en-US" altLang="zh-CN" b="1">
                <a:solidFill>
                  <a:srgbClr val="000000"/>
                </a:solidFill>
                <a:latin typeface="CommercialScript BT" pitchFamily="66" charset="0"/>
                <a:ea typeface="宋体" pitchFamily="2" charset="-122"/>
              </a:rPr>
              <a:t>P 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(S), 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如下图所示，列出该格所诱导的代数系统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&lt;</a:t>
            </a:r>
            <a:r>
              <a:rPr lang="en-US" altLang="zh-CN" b="1">
                <a:solidFill>
                  <a:srgbClr val="000000"/>
                </a:solidFill>
                <a:latin typeface="CommercialScript BT" pitchFamily="66" charset="0"/>
                <a:ea typeface="宋体" pitchFamily="2" charset="-122"/>
              </a:rPr>
              <a:t>P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 (S)</a:t>
            </a:r>
            <a:r>
              <a:rPr lang="en-US" altLang="zh-CN">
                <a:ea typeface="宋体" pitchFamily="2" charset="-122"/>
              </a:rPr>
              <a:t>, 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∧</a:t>
            </a:r>
            <a:r>
              <a:rPr lang="en-US" altLang="zh-CN">
                <a:ea typeface="宋体" pitchFamily="2" charset="-122"/>
              </a:rPr>
              <a:t>, 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∨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&gt;</a:t>
            </a:r>
            <a:r>
              <a:rPr lang="zh-CN" altLang="en-US" b="1">
                <a:solidFill>
                  <a:srgbClr val="000000"/>
                </a:solidFill>
                <a:ea typeface="宋体" pitchFamily="2" charset="-122"/>
              </a:rPr>
              <a:t>中运算的运算表。</a:t>
            </a:r>
          </a:p>
        </p:txBody>
      </p:sp>
      <p:grpSp>
        <p:nvGrpSpPr>
          <p:cNvPr id="567301" name="Group 5"/>
          <p:cNvGrpSpPr>
            <a:grpSpLocks/>
          </p:cNvGrpSpPr>
          <p:nvPr/>
        </p:nvGrpSpPr>
        <p:grpSpPr bwMode="auto">
          <a:xfrm>
            <a:off x="900113" y="2420938"/>
            <a:ext cx="2195512" cy="2401887"/>
            <a:chOff x="590" y="2552"/>
            <a:chExt cx="1383" cy="1513"/>
          </a:xfrm>
        </p:grpSpPr>
        <p:sp>
          <p:nvSpPr>
            <p:cNvPr id="567302" name="Oval 6"/>
            <p:cNvSpPr>
              <a:spLocks noChangeArrowheads="1"/>
            </p:cNvSpPr>
            <p:nvPr/>
          </p:nvSpPr>
          <p:spPr bwMode="auto">
            <a:xfrm>
              <a:off x="1180" y="2825"/>
              <a:ext cx="90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03" name="Oval 7"/>
            <p:cNvSpPr>
              <a:spLocks noChangeArrowheads="1"/>
            </p:cNvSpPr>
            <p:nvPr/>
          </p:nvSpPr>
          <p:spPr bwMode="auto">
            <a:xfrm>
              <a:off x="772" y="3278"/>
              <a:ext cx="90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04" name="Oval 8"/>
            <p:cNvSpPr>
              <a:spLocks noChangeArrowheads="1"/>
            </p:cNvSpPr>
            <p:nvPr/>
          </p:nvSpPr>
          <p:spPr bwMode="auto">
            <a:xfrm>
              <a:off x="1180" y="3732"/>
              <a:ext cx="90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05" name="Oval 9"/>
            <p:cNvSpPr>
              <a:spLocks noChangeArrowheads="1"/>
            </p:cNvSpPr>
            <p:nvPr/>
          </p:nvSpPr>
          <p:spPr bwMode="auto">
            <a:xfrm>
              <a:off x="1633" y="3233"/>
              <a:ext cx="90" cy="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67306" name="Text Box 10"/>
            <p:cNvSpPr txBox="1">
              <a:spLocks noChangeArrowheads="1"/>
            </p:cNvSpPr>
            <p:nvPr/>
          </p:nvSpPr>
          <p:spPr bwMode="auto">
            <a:xfrm>
              <a:off x="1044" y="2552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{a,b}</a:t>
              </a:r>
            </a:p>
          </p:txBody>
        </p:sp>
        <p:sp>
          <p:nvSpPr>
            <p:cNvPr id="567307" name="Text Box 11"/>
            <p:cNvSpPr txBox="1">
              <a:spLocks noChangeArrowheads="1"/>
            </p:cNvSpPr>
            <p:nvPr/>
          </p:nvSpPr>
          <p:spPr bwMode="auto">
            <a:xfrm>
              <a:off x="590" y="3006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{a}</a:t>
              </a:r>
            </a:p>
          </p:txBody>
        </p:sp>
        <p:sp>
          <p:nvSpPr>
            <p:cNvPr id="567308" name="Text Box 12"/>
            <p:cNvSpPr txBox="1">
              <a:spLocks noChangeArrowheads="1"/>
            </p:cNvSpPr>
            <p:nvPr/>
          </p:nvSpPr>
          <p:spPr bwMode="auto">
            <a:xfrm>
              <a:off x="1588" y="2961"/>
              <a:ext cx="3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{b}</a:t>
              </a:r>
            </a:p>
          </p:txBody>
        </p:sp>
        <p:sp>
          <p:nvSpPr>
            <p:cNvPr id="567309" name="Text Box 13"/>
            <p:cNvSpPr txBox="1">
              <a:spLocks noChangeArrowheads="1"/>
            </p:cNvSpPr>
            <p:nvPr/>
          </p:nvSpPr>
          <p:spPr bwMode="auto">
            <a:xfrm>
              <a:off x="1113" y="3777"/>
              <a:ext cx="33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solidFill>
                    <a:srgbClr val="000000"/>
                  </a:solidFill>
                  <a:ea typeface="宋体" pitchFamily="2" charset="-122"/>
                  <a:sym typeface="Symbol" pitchFamily="18" charset="2"/>
                </a:rPr>
                <a:t></a:t>
              </a:r>
            </a:p>
          </p:txBody>
        </p:sp>
        <p:sp>
          <p:nvSpPr>
            <p:cNvPr id="567310" name="Line 14"/>
            <p:cNvSpPr>
              <a:spLocks noChangeShapeType="1"/>
            </p:cNvSpPr>
            <p:nvPr/>
          </p:nvSpPr>
          <p:spPr bwMode="auto">
            <a:xfrm>
              <a:off x="817" y="3369"/>
              <a:ext cx="36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7311" name="Line 15"/>
            <p:cNvSpPr>
              <a:spLocks noChangeShapeType="1"/>
            </p:cNvSpPr>
            <p:nvPr/>
          </p:nvSpPr>
          <p:spPr bwMode="auto">
            <a:xfrm>
              <a:off x="1270" y="2870"/>
              <a:ext cx="363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7312" name="Line 16"/>
            <p:cNvSpPr>
              <a:spLocks noChangeShapeType="1"/>
            </p:cNvSpPr>
            <p:nvPr/>
          </p:nvSpPr>
          <p:spPr bwMode="auto">
            <a:xfrm flipH="1">
              <a:off x="1270" y="3323"/>
              <a:ext cx="363" cy="4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7313" name="Line 17"/>
            <p:cNvSpPr>
              <a:spLocks noChangeShapeType="1"/>
            </p:cNvSpPr>
            <p:nvPr/>
          </p:nvSpPr>
          <p:spPr bwMode="auto">
            <a:xfrm flipV="1">
              <a:off x="862" y="2915"/>
              <a:ext cx="363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aphicFrame>
        <p:nvGraphicFramePr>
          <p:cNvPr id="567336" name="Group 40"/>
          <p:cNvGraphicFramePr>
            <a:graphicFrameLocks noGrp="1"/>
          </p:cNvGraphicFramePr>
          <p:nvPr/>
        </p:nvGraphicFramePr>
        <p:xfrm>
          <a:off x="3995738" y="2755900"/>
          <a:ext cx="3313112" cy="2112963"/>
        </p:xfrm>
        <a:graphic>
          <a:graphicData uri="http://schemas.openxmlformats.org/drawingml/2006/table">
            <a:tbl>
              <a:tblPr/>
              <a:tblGrid>
                <a:gridCol w="825500"/>
                <a:gridCol w="2487612"/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∧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</a:t>
                      </a: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{a}  {b}  {a,b}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5795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{a}  {b}  {a,b}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67338" name="Group 42"/>
          <p:cNvGraphicFramePr>
            <a:graphicFrameLocks noGrp="1"/>
          </p:cNvGraphicFramePr>
          <p:nvPr/>
        </p:nvGraphicFramePr>
        <p:xfrm>
          <a:off x="4830763" y="3298825"/>
          <a:ext cx="2449512" cy="1584325"/>
        </p:xfrm>
        <a:graphic>
          <a:graphicData uri="http://schemas.openxmlformats.org/drawingml/2006/table">
            <a:tbl>
              <a:tblPr/>
              <a:tblGrid>
                <a:gridCol w="2449512"/>
              </a:tblGrid>
              <a:tr h="15843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        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{a}      {a}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    {b}  {b}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Symbol" pitchFamily="18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sym typeface="Symbol" pitchFamily="18" charset="2"/>
                        </a:rPr>
                        <a:t>  {a}  {b}  {a,b} 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73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7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C9E8160-98A6-4854-BF26-2A41F3F3699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89476" name="Text Box 4"/>
          <p:cNvSpPr txBox="1">
            <a:spLocks noChangeArrowheads="1"/>
          </p:cNvSpPr>
          <p:nvPr/>
        </p:nvSpPr>
        <p:spPr bwMode="auto">
          <a:xfrm>
            <a:off x="466725" y="1082675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6-1.3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是一个格，由格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所诱导的代数系统为</a:t>
            </a:r>
            <a:r>
              <a:rPr lang="en-US" altLang="zh-CN" b="1" dirty="0">
                <a:ea typeface="宋体" pitchFamily="2" charset="-122"/>
              </a:rPr>
              <a:t>&lt;A,∨,∧&gt;</a:t>
            </a:r>
            <a:r>
              <a:rPr lang="zh-CN" altLang="en-US" b="1" dirty="0">
                <a:ea typeface="宋体" pitchFamily="2" charset="-122"/>
              </a:rPr>
              <a:t>，设</a:t>
            </a:r>
            <a:r>
              <a:rPr lang="en-US" altLang="zh-CN" b="1" dirty="0">
                <a:ea typeface="宋体" pitchFamily="2" charset="-122"/>
              </a:rPr>
              <a:t>B </a:t>
            </a:r>
            <a:r>
              <a:rPr lang="en-US" altLang="zh-CN" b="1" dirty="0">
                <a:ea typeface="宋体" pitchFamily="2" charset="-122"/>
                <a:sym typeface="Symbol" pitchFamily="18" charset="2"/>
              </a:rPr>
              <a:t> 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且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en-US" altLang="zh-CN" b="1" dirty="0" smtClean="0">
                <a:ea typeface="宋体" pitchFamily="2" charset="-122"/>
              </a:rPr>
              <a:t>≠</a:t>
            </a:r>
            <a:r>
              <a:rPr lang="en-US" altLang="zh-CN" b="1" dirty="0" smtClean="0">
                <a:ea typeface="宋体" pitchFamily="2" charset="-122"/>
                <a:sym typeface="Symbol"/>
              </a:rPr>
              <a:t></a:t>
            </a:r>
            <a:r>
              <a:rPr lang="zh-CN" altLang="en-US" b="1" dirty="0" smtClean="0">
                <a:ea typeface="宋体" pitchFamily="2" charset="-122"/>
              </a:rPr>
              <a:t>，</a:t>
            </a:r>
            <a:r>
              <a:rPr lang="zh-CN" altLang="en-US" b="1" dirty="0">
                <a:ea typeface="宋体" pitchFamily="2" charset="-122"/>
              </a:rPr>
              <a:t>如果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中的两个运算∧、∨关于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是封闭的，则称</a:t>
            </a:r>
            <a:r>
              <a:rPr lang="en-US" altLang="zh-CN" b="1" dirty="0">
                <a:ea typeface="宋体" pitchFamily="2" charset="-122"/>
              </a:rPr>
              <a:t>&lt;B,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 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&lt;A,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 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的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子格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sp>
        <p:nvSpPr>
          <p:cNvPr id="489506" name="AutoShape 34"/>
          <p:cNvSpPr>
            <a:spLocks noChangeArrowheads="1"/>
          </p:cNvSpPr>
          <p:nvPr/>
        </p:nvSpPr>
        <p:spPr bwMode="auto">
          <a:xfrm>
            <a:off x="7391400" y="2176463"/>
            <a:ext cx="1573213" cy="1008062"/>
          </a:xfrm>
          <a:prstGeom prst="wedgeEllipseCallout">
            <a:avLst>
              <a:gd name="adj1" fmla="val -90264"/>
              <a:gd name="adj2" fmla="val -28898"/>
            </a:avLst>
          </a:prstGeom>
          <a:solidFill>
            <a:srgbClr val="FF99CC"/>
          </a:solidFill>
          <a:ln w="12700" cap="sq">
            <a:solidFill>
              <a:srgbClr val="FF0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ea typeface="宋体" pitchFamily="2" charset="-122"/>
              </a:rPr>
              <a:t>子格是格吗</a:t>
            </a:r>
          </a:p>
        </p:txBody>
      </p:sp>
      <p:sp>
        <p:nvSpPr>
          <p:cNvPr id="489508" name="Text Box 36"/>
          <p:cNvSpPr txBox="1">
            <a:spLocks noChangeArrowheads="1"/>
          </p:cNvSpPr>
          <p:nvPr/>
        </p:nvSpPr>
        <p:spPr bwMode="auto">
          <a:xfrm>
            <a:off x="466725" y="4187825"/>
            <a:ext cx="3795713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例：</a:t>
            </a:r>
            <a:r>
              <a:rPr lang="en-US" altLang="zh-CN" b="1">
                <a:ea typeface="宋体" pitchFamily="2" charset="-122"/>
              </a:rPr>
              <a:t>&lt;S,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是一个格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S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={a, b, d, f}        &lt;S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S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={c, e, g, h}        &lt;S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</a:p>
          <a:p>
            <a:pPr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S</a:t>
            </a:r>
            <a:r>
              <a:rPr lang="en-US" altLang="zh-CN" b="1" baseline="-25000">
                <a:ea typeface="宋体" pitchFamily="2" charset="-122"/>
              </a:rPr>
              <a:t>3</a:t>
            </a:r>
            <a:r>
              <a:rPr lang="en-US" altLang="zh-CN" b="1">
                <a:ea typeface="宋体" pitchFamily="2" charset="-122"/>
              </a:rPr>
              <a:t>={a, b, d, h}       &lt;S</a:t>
            </a:r>
            <a:r>
              <a:rPr lang="en-US" altLang="zh-CN" b="1" baseline="-25000">
                <a:ea typeface="宋体" pitchFamily="2" charset="-122"/>
              </a:rPr>
              <a:t>3</a:t>
            </a:r>
            <a:r>
              <a:rPr lang="en-US" altLang="zh-CN" b="1">
                <a:ea typeface="宋体" pitchFamily="2" charset="-122"/>
              </a:rPr>
              <a:t>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</a:p>
        </p:txBody>
      </p:sp>
      <p:grpSp>
        <p:nvGrpSpPr>
          <p:cNvPr id="489509" name="Group 37"/>
          <p:cNvGrpSpPr>
            <a:grpSpLocks/>
          </p:cNvGrpSpPr>
          <p:nvPr/>
        </p:nvGrpSpPr>
        <p:grpSpPr bwMode="auto">
          <a:xfrm>
            <a:off x="5068888" y="4005263"/>
            <a:ext cx="2743200" cy="2747962"/>
            <a:chOff x="3168" y="192"/>
            <a:chExt cx="1824" cy="1843"/>
          </a:xfrm>
        </p:grpSpPr>
        <p:grpSp>
          <p:nvGrpSpPr>
            <p:cNvPr id="489510" name="Group 38"/>
            <p:cNvGrpSpPr>
              <a:grpSpLocks/>
            </p:cNvGrpSpPr>
            <p:nvPr/>
          </p:nvGrpSpPr>
          <p:grpSpPr bwMode="auto">
            <a:xfrm>
              <a:off x="3354" y="336"/>
              <a:ext cx="1224" cy="1402"/>
              <a:chOff x="7200" y="4092"/>
              <a:chExt cx="900" cy="1716"/>
            </a:xfrm>
          </p:grpSpPr>
          <p:grpSp>
            <p:nvGrpSpPr>
              <p:cNvPr id="489511" name="Group 39"/>
              <p:cNvGrpSpPr>
                <a:grpSpLocks/>
              </p:cNvGrpSpPr>
              <p:nvPr/>
            </p:nvGrpSpPr>
            <p:grpSpPr bwMode="auto">
              <a:xfrm>
                <a:off x="7200" y="4092"/>
                <a:ext cx="900" cy="1716"/>
                <a:chOff x="7200" y="4092"/>
                <a:chExt cx="900" cy="1716"/>
              </a:xfrm>
            </p:grpSpPr>
            <p:grpSp>
              <p:nvGrpSpPr>
                <p:cNvPr id="489512" name="Group 40"/>
                <p:cNvGrpSpPr>
                  <a:grpSpLocks/>
                </p:cNvGrpSpPr>
                <p:nvPr/>
              </p:nvGrpSpPr>
              <p:grpSpPr bwMode="auto">
                <a:xfrm>
                  <a:off x="7200" y="4092"/>
                  <a:ext cx="900" cy="1092"/>
                  <a:chOff x="5580" y="11892"/>
                  <a:chExt cx="900" cy="1092"/>
                </a:xfrm>
              </p:grpSpPr>
              <p:sp>
                <p:nvSpPr>
                  <p:cNvPr id="489513" name="Line 4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580" y="11892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14" name="Line 4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120" y="12360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15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5580" y="12516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16" name="Line 44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11892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489517" name="Group 45"/>
                <p:cNvGrpSpPr>
                  <a:grpSpLocks/>
                </p:cNvGrpSpPr>
                <p:nvPr/>
              </p:nvGrpSpPr>
              <p:grpSpPr bwMode="auto">
                <a:xfrm>
                  <a:off x="7200" y="4716"/>
                  <a:ext cx="900" cy="1092"/>
                  <a:chOff x="5580" y="11892"/>
                  <a:chExt cx="900" cy="1092"/>
                </a:xfrm>
              </p:grpSpPr>
              <p:sp>
                <p:nvSpPr>
                  <p:cNvPr id="489518" name="Line 4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580" y="11892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19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120" y="12360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20" name="Line 48"/>
                  <p:cNvSpPr>
                    <a:spLocks noChangeShapeType="1"/>
                  </p:cNvSpPr>
                  <p:nvPr/>
                </p:nvSpPr>
                <p:spPr bwMode="auto">
                  <a:xfrm>
                    <a:off x="5580" y="12516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489521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11892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489522" name="Line 50"/>
              <p:cNvSpPr>
                <a:spLocks noChangeShapeType="1"/>
              </p:cNvSpPr>
              <p:nvPr/>
            </p:nvSpPr>
            <p:spPr bwMode="auto">
              <a:xfrm>
                <a:off x="7560" y="4092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23" name="Line 51"/>
              <p:cNvSpPr>
                <a:spLocks noChangeShapeType="1"/>
              </p:cNvSpPr>
              <p:nvPr/>
            </p:nvSpPr>
            <p:spPr bwMode="auto">
              <a:xfrm>
                <a:off x="7200" y="4716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24" name="Line 52"/>
              <p:cNvSpPr>
                <a:spLocks noChangeShapeType="1"/>
              </p:cNvSpPr>
              <p:nvPr/>
            </p:nvSpPr>
            <p:spPr bwMode="auto">
              <a:xfrm>
                <a:off x="8100" y="4560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89525" name="Line 53"/>
              <p:cNvSpPr>
                <a:spLocks noChangeShapeType="1"/>
              </p:cNvSpPr>
              <p:nvPr/>
            </p:nvSpPr>
            <p:spPr bwMode="auto">
              <a:xfrm>
                <a:off x="7740" y="5184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9526" name="Text Box 54"/>
            <p:cNvSpPr txBox="1">
              <a:spLocks noChangeArrowheads="1"/>
            </p:cNvSpPr>
            <p:nvPr/>
          </p:nvSpPr>
          <p:spPr bwMode="auto">
            <a:xfrm>
              <a:off x="3552" y="192"/>
              <a:ext cx="672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  <a:ea typeface="宋体" pitchFamily="2" charset="-122"/>
                </a:rPr>
                <a:t>a</a:t>
              </a:r>
            </a:p>
          </p:txBody>
        </p:sp>
        <p:sp>
          <p:nvSpPr>
            <p:cNvPr id="489527" name="Text Box 55"/>
            <p:cNvSpPr txBox="1">
              <a:spLocks noChangeArrowheads="1"/>
            </p:cNvSpPr>
            <p:nvPr/>
          </p:nvSpPr>
          <p:spPr bwMode="auto">
            <a:xfrm>
              <a:off x="3168" y="624"/>
              <a:ext cx="1824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  <a:ea typeface="宋体" pitchFamily="2" charset="-122"/>
                </a:rPr>
                <a:t>b         c           d</a:t>
              </a:r>
            </a:p>
          </p:txBody>
        </p:sp>
        <p:sp>
          <p:nvSpPr>
            <p:cNvPr id="489528" name="Text Box 56"/>
            <p:cNvSpPr txBox="1">
              <a:spLocks noChangeArrowheads="1"/>
            </p:cNvSpPr>
            <p:nvPr/>
          </p:nvSpPr>
          <p:spPr bwMode="auto">
            <a:xfrm>
              <a:off x="3168" y="1104"/>
              <a:ext cx="1824" cy="3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  <a:ea typeface="宋体" pitchFamily="2" charset="-122"/>
                </a:rPr>
                <a:t>e              f           g</a:t>
              </a:r>
            </a:p>
          </p:txBody>
        </p:sp>
        <p:sp>
          <p:nvSpPr>
            <p:cNvPr id="489529" name="Text Box 57"/>
            <p:cNvSpPr txBox="1">
              <a:spLocks noChangeArrowheads="1"/>
            </p:cNvSpPr>
            <p:nvPr/>
          </p:nvSpPr>
          <p:spPr bwMode="auto">
            <a:xfrm>
              <a:off x="3984" y="1729"/>
              <a:ext cx="528" cy="30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hlink"/>
                  </a:solidFill>
                  <a:ea typeface="宋体" pitchFamily="2" charset="-122"/>
                </a:rPr>
                <a:t>h</a:t>
              </a:r>
            </a:p>
          </p:txBody>
        </p:sp>
      </p:grpSp>
      <p:sp>
        <p:nvSpPr>
          <p:cNvPr id="489530" name="Rectangle 58"/>
          <p:cNvSpPr>
            <a:spLocks noChangeArrowheads="1"/>
          </p:cNvSpPr>
          <p:nvPr/>
        </p:nvSpPr>
        <p:spPr bwMode="auto">
          <a:xfrm>
            <a:off x="466725" y="2636838"/>
            <a:ext cx="8426450" cy="1512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altLang="zh-CN" b="1" dirty="0">
                <a:ea typeface="宋体" pitchFamily="2" charset="-122"/>
              </a:rPr>
              <a:t>  </a:t>
            </a:r>
            <a:r>
              <a:rPr lang="zh-CN" altLang="en-US" b="1" dirty="0">
                <a:ea typeface="宋体" pitchFamily="2" charset="-122"/>
              </a:rPr>
              <a:t>子格一定是格</a:t>
            </a:r>
            <a:r>
              <a:rPr lang="zh-CN" altLang="en-US" dirty="0">
                <a:solidFill>
                  <a:schemeClr val="bg2"/>
                </a:solidFill>
                <a:ea typeface="宋体" pitchFamily="2" charset="-122"/>
              </a:rPr>
              <a:t> 。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 dirty="0" smtClean="0">
                <a:ea typeface="宋体" pitchFamily="2" charset="-122"/>
              </a:rPr>
              <a:t>  </a:t>
            </a:r>
            <a:r>
              <a:rPr lang="en-US" altLang="zh-CN" b="1" dirty="0" smtClean="0">
                <a:ea typeface="宋体" pitchFamily="2" charset="-122"/>
              </a:rPr>
              <a:t>&lt;A, </a:t>
            </a:r>
            <a:r>
              <a:rPr lang="en-US" altLang="zh-CN" b="1" dirty="0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smtClean="0">
                <a:ea typeface="宋体" pitchFamily="2" charset="-122"/>
              </a:rPr>
              <a:t>&gt;</a:t>
            </a:r>
            <a:r>
              <a:rPr lang="zh-CN" altLang="en-US" b="1" dirty="0" smtClean="0">
                <a:ea typeface="宋体" pitchFamily="2" charset="-122"/>
              </a:rPr>
              <a:t>是格，</a:t>
            </a:r>
            <a:r>
              <a:rPr lang="en-US" altLang="zh-CN" b="1" dirty="0" smtClean="0">
                <a:ea typeface="宋体" pitchFamily="2" charset="-122"/>
              </a:rPr>
              <a:t>B </a:t>
            </a:r>
            <a:r>
              <a:rPr lang="en-US" altLang="zh-CN" b="1" dirty="0" smtClean="0">
                <a:ea typeface="宋体" pitchFamily="2" charset="-122"/>
                <a:sym typeface="Symbol" pitchFamily="18" charset="2"/>
              </a:rPr>
              <a:t> </a:t>
            </a:r>
            <a:r>
              <a:rPr lang="en-US" altLang="zh-CN" b="1" dirty="0" smtClean="0">
                <a:ea typeface="宋体" pitchFamily="2" charset="-122"/>
              </a:rPr>
              <a:t>A</a:t>
            </a:r>
            <a:r>
              <a:rPr lang="zh-CN" altLang="en-US" b="1" dirty="0" smtClean="0">
                <a:ea typeface="宋体" pitchFamily="2" charset="-122"/>
              </a:rPr>
              <a:t>，</a:t>
            </a:r>
            <a:r>
              <a:rPr lang="en-US" altLang="zh-CN" b="1" dirty="0" smtClean="0">
                <a:ea typeface="宋体" pitchFamily="2" charset="-122"/>
              </a:rPr>
              <a:t>&lt;B, </a:t>
            </a:r>
            <a:r>
              <a:rPr lang="en-US" altLang="zh-CN" b="1" dirty="0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smtClean="0">
                <a:ea typeface="宋体" pitchFamily="2" charset="-122"/>
              </a:rPr>
              <a:t>&gt;</a:t>
            </a:r>
            <a:r>
              <a:rPr lang="zh-CN" altLang="en-US" b="1" dirty="0" smtClean="0">
                <a:ea typeface="宋体" pitchFamily="2" charset="-122"/>
              </a:rPr>
              <a:t>必是偏序集，但不一定是格。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 dirty="0" smtClean="0">
                <a:ea typeface="宋体" pitchFamily="2" charset="-122"/>
              </a:rPr>
              <a:t>  若</a:t>
            </a:r>
            <a:r>
              <a:rPr lang="en-US" altLang="zh-CN" b="1" dirty="0" smtClean="0">
                <a:ea typeface="宋体" pitchFamily="2" charset="-122"/>
              </a:rPr>
              <a:t>&lt;B, </a:t>
            </a:r>
            <a:r>
              <a:rPr lang="en-US" altLang="zh-CN" b="1" dirty="0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smtClean="0">
                <a:ea typeface="宋体" pitchFamily="2" charset="-122"/>
              </a:rPr>
              <a:t>&gt;</a:t>
            </a:r>
            <a:r>
              <a:rPr lang="zh-CN" altLang="en-US" b="1" dirty="0" smtClean="0">
                <a:ea typeface="宋体" pitchFamily="2" charset="-122"/>
              </a:rPr>
              <a:t>是格，也不一定是</a:t>
            </a:r>
            <a:r>
              <a:rPr lang="en-US" altLang="zh-CN" b="1" dirty="0" smtClean="0">
                <a:ea typeface="宋体" pitchFamily="2" charset="-122"/>
              </a:rPr>
              <a:t>&lt;A, </a:t>
            </a:r>
            <a:r>
              <a:rPr lang="en-US" altLang="zh-CN" b="1" dirty="0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smtClean="0">
                <a:ea typeface="宋体" pitchFamily="2" charset="-122"/>
              </a:rPr>
              <a:t>&gt;</a:t>
            </a:r>
            <a:r>
              <a:rPr lang="zh-CN" altLang="en-US" b="1" dirty="0" smtClean="0">
                <a:ea typeface="宋体" pitchFamily="2" charset="-122"/>
              </a:rPr>
              <a:t>的子格。</a:t>
            </a:r>
            <a:endParaRPr lang="zh-CN" altLang="en-US" b="1" dirty="0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9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9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95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9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9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9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9506" grpId="0" animBg="1" autoUpdateAnimBg="0"/>
      <p:bldP spid="48950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1E0195-7437-4CC8-B552-13BB9D537848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466725" y="2124075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u"/>
            </a:pP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偏序集中的对偶现象：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b="1">
                <a:ea typeface="宋体" pitchFamily="2" charset="-122"/>
              </a:rPr>
              <a:t>    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是一个偏序集，在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上定义一个二元关系</a:t>
            </a:r>
            <a:r>
              <a:rPr lang="zh-CN" altLang="en-US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≽</a:t>
            </a:r>
            <a:r>
              <a:rPr lang="zh-CN" altLang="en-US" b="1">
                <a:ea typeface="宋体" pitchFamily="2" charset="-122"/>
              </a:rPr>
              <a:t>，使得对于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中的两个元素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有关系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en-US" altLang="zh-CN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≽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当且仅当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，则</a:t>
            </a:r>
            <a:r>
              <a:rPr lang="en-US" altLang="zh-CN" b="1">
                <a:ea typeface="宋体" pitchFamily="2" charset="-122"/>
              </a:rPr>
              <a:t>&lt;A,</a:t>
            </a:r>
            <a:r>
              <a:rPr lang="en-US" altLang="zh-CN" b="1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≽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也是一个偏序集。</a:t>
            </a:r>
          </a:p>
        </p:txBody>
      </p:sp>
      <p:sp>
        <p:nvSpPr>
          <p:cNvPr id="491529" name="Rectangle 9"/>
          <p:cNvSpPr>
            <a:spLocks noChangeArrowheads="1"/>
          </p:cNvSpPr>
          <p:nvPr/>
        </p:nvSpPr>
        <p:spPr bwMode="auto">
          <a:xfrm>
            <a:off x="466725" y="1111250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对偶现象：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命题逻辑中的析取与合取，集合运算中的并与交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23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B43A14C-32F1-4388-844D-0976733F65CA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569346" name="Text Box 2"/>
          <p:cNvSpPr txBox="1">
            <a:spLocks noChangeArrowheads="1"/>
          </p:cNvSpPr>
          <p:nvPr/>
        </p:nvSpPr>
        <p:spPr bwMode="auto">
          <a:xfrm>
            <a:off x="466725" y="1095375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对偶原理：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P</a:t>
            </a:r>
            <a:r>
              <a:rPr lang="zh-CN" altLang="en-US" b="1" dirty="0">
                <a:ea typeface="宋体" pitchFamily="2" charset="-122"/>
              </a:rPr>
              <a:t>是对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任意格</a:t>
            </a:r>
            <a:r>
              <a:rPr lang="zh-CN" altLang="en-US" b="1" dirty="0">
                <a:ea typeface="宋体" pitchFamily="2" charset="-122"/>
              </a:rPr>
              <a:t>都为真的命题，如果在命题</a:t>
            </a:r>
            <a:r>
              <a:rPr lang="en-US" altLang="zh-CN" b="1" dirty="0">
                <a:ea typeface="宋体" pitchFamily="2" charset="-122"/>
              </a:rPr>
              <a:t>P</a:t>
            </a:r>
            <a:r>
              <a:rPr lang="zh-CN" altLang="en-US" b="1" dirty="0">
                <a:ea typeface="宋体" pitchFamily="2" charset="-122"/>
              </a:rPr>
              <a:t>中把</a:t>
            </a:r>
            <a:r>
              <a:rPr lang="zh-CN" altLang="en-US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zh-CN" altLang="en-US" b="1" dirty="0">
                <a:ea typeface="宋体" pitchFamily="2" charset="-122"/>
              </a:rPr>
              <a:t>换成</a:t>
            </a:r>
            <a:r>
              <a:rPr lang="zh-CN" altLang="en-US" b="1" dirty="0"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≽</a:t>
            </a:r>
            <a:r>
              <a:rPr lang="zh-CN" altLang="en-US" b="1" dirty="0">
                <a:ea typeface="宋体" pitchFamily="2" charset="-122"/>
              </a:rPr>
              <a:t>，∨换成∧，∧换成∨，就得到另一个命题</a:t>
            </a:r>
            <a:r>
              <a:rPr lang="en-US" altLang="zh-CN" b="1" dirty="0">
                <a:ea typeface="宋体" pitchFamily="2" charset="-122"/>
              </a:rPr>
              <a:t>P’</a:t>
            </a:r>
            <a:r>
              <a:rPr lang="zh-CN" altLang="en-US" b="1" dirty="0">
                <a:ea typeface="宋体" pitchFamily="2" charset="-122"/>
              </a:rPr>
              <a:t>，我们把</a:t>
            </a:r>
            <a:r>
              <a:rPr lang="en-US" altLang="zh-CN" b="1" dirty="0">
                <a:ea typeface="宋体" pitchFamily="2" charset="-122"/>
              </a:rPr>
              <a:t>P’</a:t>
            </a:r>
            <a:r>
              <a:rPr lang="zh-CN" altLang="en-US" b="1" dirty="0">
                <a:ea typeface="宋体" pitchFamily="2" charset="-122"/>
              </a:rPr>
              <a:t>称为</a:t>
            </a:r>
            <a:r>
              <a:rPr lang="en-US" altLang="zh-CN" b="1" dirty="0">
                <a:ea typeface="宋体" pitchFamily="2" charset="-122"/>
              </a:rPr>
              <a:t>P</a:t>
            </a:r>
            <a:r>
              <a:rPr lang="zh-CN" altLang="en-US" b="1" dirty="0">
                <a:ea typeface="宋体" pitchFamily="2" charset="-122"/>
              </a:rPr>
              <a:t>的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对偶命题</a:t>
            </a:r>
            <a:r>
              <a:rPr lang="zh-CN" altLang="en-US" b="1" dirty="0">
                <a:ea typeface="宋体" pitchFamily="2" charset="-122"/>
              </a:rPr>
              <a:t>，则</a:t>
            </a:r>
            <a:r>
              <a:rPr lang="en-US" altLang="zh-CN" b="1" dirty="0">
                <a:ea typeface="宋体" pitchFamily="2" charset="-122"/>
              </a:rPr>
              <a:t>P’</a:t>
            </a:r>
            <a:r>
              <a:rPr lang="zh-CN" altLang="en-US" b="1" dirty="0">
                <a:ea typeface="宋体" pitchFamily="2" charset="-122"/>
              </a:rPr>
              <a:t>对任意格也是真的命题。</a:t>
            </a:r>
          </a:p>
        </p:txBody>
      </p:sp>
      <p:sp>
        <p:nvSpPr>
          <p:cNvPr id="569348" name="Text Box 4"/>
          <p:cNvSpPr txBox="1">
            <a:spLocks noChangeArrowheads="1"/>
          </p:cNvSpPr>
          <p:nvPr/>
        </p:nvSpPr>
        <p:spPr bwMode="auto">
          <a:xfrm>
            <a:off x="466725" y="2781300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例如：</a:t>
            </a:r>
            <a:r>
              <a:rPr lang="en-US" altLang="zh-CN" b="1" dirty="0">
                <a:ea typeface="宋体" pitchFamily="2" charset="-122"/>
              </a:rPr>
              <a:t>&lt;N, </a:t>
            </a:r>
            <a:r>
              <a:rPr lang="en-US" altLang="en-US" b="1" dirty="0">
                <a:ea typeface="宋体" pitchFamily="2" charset="-122"/>
              </a:rPr>
              <a:t>≤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是一个格，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则命题“</a:t>
            </a:r>
            <a:r>
              <a:rPr lang="zh-CN" altLang="en-US" b="1" dirty="0"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b="1" dirty="0" err="1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="1" dirty="0" err="1">
                <a:ea typeface="宋体" pitchFamily="2" charset="-122"/>
              </a:rPr>
              <a:t>∈N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zh-CN" altLang="en-US" b="1" dirty="0"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b="1" dirty="0" err="1"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b="1" dirty="0" err="1">
                <a:ea typeface="宋体" pitchFamily="2" charset="-122"/>
              </a:rPr>
              <a:t>∈N</a:t>
            </a:r>
            <a:r>
              <a:rPr lang="zh-CN" altLang="en-US" b="1" dirty="0">
                <a:ea typeface="宋体" pitchFamily="2" charset="-122"/>
              </a:rPr>
              <a:t>使</a:t>
            </a:r>
            <a:r>
              <a:rPr lang="en-US" altLang="zh-CN" b="1" dirty="0">
                <a:ea typeface="宋体" pitchFamily="2" charset="-122"/>
              </a:rPr>
              <a:t>x&lt;y”</a:t>
            </a:r>
            <a:r>
              <a:rPr lang="zh-CN" altLang="en-US" b="1" dirty="0">
                <a:ea typeface="宋体" pitchFamily="2" charset="-122"/>
              </a:rPr>
              <a:t>在</a:t>
            </a:r>
            <a:r>
              <a:rPr lang="en-US" altLang="zh-CN" b="1" dirty="0">
                <a:ea typeface="宋体" pitchFamily="2" charset="-122"/>
              </a:rPr>
              <a:t>&lt;N, </a:t>
            </a:r>
            <a:r>
              <a:rPr lang="en-US" altLang="en-US" b="1" dirty="0">
                <a:ea typeface="宋体" pitchFamily="2" charset="-122"/>
              </a:rPr>
              <a:t>≤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中成立，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但其对偶命题“</a:t>
            </a:r>
            <a:r>
              <a:rPr lang="zh-CN" altLang="en-US" b="1" dirty="0">
                <a:ea typeface="宋体" pitchFamily="2" charset="-122"/>
                <a:sym typeface="Symbol" pitchFamily="18" charset="2"/>
              </a:rPr>
              <a:t></a:t>
            </a:r>
            <a:r>
              <a:rPr lang="en-US" altLang="zh-CN" b="1" dirty="0" err="1">
                <a:ea typeface="宋体" pitchFamily="2" charset="-122"/>
                <a:sym typeface="Symbol" pitchFamily="18" charset="2"/>
              </a:rPr>
              <a:t>x</a:t>
            </a:r>
            <a:r>
              <a:rPr lang="en-US" altLang="zh-CN" b="1" dirty="0" err="1">
                <a:ea typeface="宋体" pitchFamily="2" charset="-122"/>
              </a:rPr>
              <a:t>∈N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zh-CN" altLang="en-US" b="1" dirty="0">
                <a:ea typeface="宋体" pitchFamily="2" charset="-122"/>
                <a:sym typeface="Symbol" pitchFamily="18" charset="2"/>
              </a:rPr>
              <a:t></a:t>
            </a:r>
            <a:r>
              <a:rPr lang="en-US" altLang="zh-CN" b="1" dirty="0" err="1">
                <a:ea typeface="宋体" pitchFamily="2" charset="-122"/>
                <a:sym typeface="Symbol" pitchFamily="18" charset="2"/>
              </a:rPr>
              <a:t>y</a:t>
            </a:r>
            <a:r>
              <a:rPr lang="en-US" altLang="zh-CN" b="1" dirty="0" err="1">
                <a:ea typeface="宋体" pitchFamily="2" charset="-122"/>
              </a:rPr>
              <a:t>∈N</a:t>
            </a:r>
            <a:r>
              <a:rPr lang="zh-CN" altLang="en-US" b="1" dirty="0">
                <a:ea typeface="宋体" pitchFamily="2" charset="-122"/>
              </a:rPr>
              <a:t>使</a:t>
            </a:r>
            <a:r>
              <a:rPr lang="en-US" altLang="zh-CN" b="1" dirty="0">
                <a:ea typeface="宋体" pitchFamily="2" charset="-122"/>
              </a:rPr>
              <a:t>x&gt;y”</a:t>
            </a:r>
            <a:r>
              <a:rPr lang="zh-CN" altLang="en-US" b="1" dirty="0">
                <a:ea typeface="宋体" pitchFamily="2" charset="-122"/>
              </a:rPr>
              <a:t>在</a:t>
            </a:r>
            <a:r>
              <a:rPr lang="en-US" altLang="zh-CN" b="1" dirty="0">
                <a:ea typeface="宋体" pitchFamily="2" charset="-122"/>
              </a:rPr>
              <a:t>&lt;N, </a:t>
            </a:r>
            <a:r>
              <a:rPr lang="en-US" altLang="en-US" b="1" dirty="0">
                <a:ea typeface="宋体" pitchFamily="2" charset="-122"/>
              </a:rPr>
              <a:t>≥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中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则不成立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93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6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69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93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6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93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D82416-C234-4826-A978-B06BBDF7EAAB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92546" name="Text Box 2"/>
          <p:cNvSpPr txBox="1">
            <a:spLocks noChangeArrowheads="1"/>
          </p:cNvSpPr>
          <p:nvPr/>
        </p:nvSpPr>
        <p:spPr bwMode="auto">
          <a:xfrm>
            <a:off x="466725" y="1090613"/>
            <a:ext cx="8277225" cy="254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latin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itchFamily="49" charset="-122"/>
              </a:rPr>
              <a:t>、格的基本性质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6-1.1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在一个格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中，由格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所诱导的代数系统为</a:t>
            </a:r>
            <a:r>
              <a:rPr lang="en-US" altLang="zh-CN" b="1" dirty="0">
                <a:ea typeface="宋体" pitchFamily="2" charset="-122"/>
              </a:rPr>
              <a:t>&lt;A,∨,∧&gt;</a:t>
            </a:r>
            <a:r>
              <a:rPr lang="zh-CN" altLang="en-US" b="1" dirty="0">
                <a:ea typeface="宋体" pitchFamily="2" charset="-122"/>
              </a:rPr>
              <a:t>，则对任意的</a:t>
            </a:r>
            <a:r>
              <a:rPr lang="en-US" altLang="zh-CN" b="1" dirty="0">
                <a:ea typeface="宋体" pitchFamily="2" charset="-122"/>
              </a:rPr>
              <a:t>a, </a:t>
            </a:r>
            <a:r>
              <a:rPr lang="en-US" altLang="zh-CN" b="1" dirty="0" err="1">
                <a:ea typeface="宋体" pitchFamily="2" charset="-122"/>
              </a:rPr>
              <a:t>b∈A</a:t>
            </a:r>
            <a:r>
              <a:rPr lang="zh-CN" altLang="en-US" b="1" dirty="0">
                <a:ea typeface="宋体" pitchFamily="2" charset="-122"/>
              </a:rPr>
              <a:t>，都有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CC3300"/>
                </a:solidFill>
                <a:ea typeface="宋体" pitchFamily="2" charset="-122"/>
              </a:rPr>
              <a:t>        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a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a∨b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,      b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a∨b</a:t>
            </a:r>
            <a:endParaRPr lang="en-US" altLang="zh-CN" b="1" dirty="0">
              <a:solidFill>
                <a:schemeClr val="hlink"/>
              </a:solidFill>
              <a:ea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      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a∧b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a,     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a∧b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b</a:t>
            </a:r>
          </a:p>
        </p:txBody>
      </p:sp>
      <p:sp>
        <p:nvSpPr>
          <p:cNvPr id="492548" name="Text Box 4"/>
          <p:cNvSpPr txBox="1">
            <a:spLocks noChangeArrowheads="1"/>
          </p:cNvSpPr>
          <p:nvPr/>
        </p:nvSpPr>
        <p:spPr bwMode="auto">
          <a:xfrm>
            <a:off x="466725" y="3611563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证明</a:t>
            </a:r>
            <a:r>
              <a:rPr lang="zh-CN" altLang="en-US" b="1" dirty="0">
                <a:ea typeface="宋体" pitchFamily="2" charset="-122"/>
              </a:rPr>
              <a:t>：∵</a:t>
            </a:r>
            <a:r>
              <a:rPr lang="en-US" altLang="zh-CN" b="1" dirty="0" err="1">
                <a:ea typeface="宋体" pitchFamily="2" charset="-122"/>
              </a:rPr>
              <a:t>a∨b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的一个上界，∴ </a:t>
            </a:r>
            <a:r>
              <a:rPr lang="en-US" altLang="zh-CN" b="1" dirty="0">
                <a:ea typeface="宋体" pitchFamily="2" charset="-122"/>
              </a:rPr>
              <a:t>a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 err="1">
                <a:ea typeface="宋体" pitchFamily="2" charset="-122"/>
              </a:rPr>
              <a:t>a∨b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>
                <a:ea typeface="宋体" pitchFamily="2" charset="-122"/>
              </a:rPr>
              <a:t>b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 err="1">
                <a:ea typeface="宋体" pitchFamily="2" charset="-122"/>
              </a:rPr>
              <a:t>a∨b</a:t>
            </a:r>
            <a:endParaRPr lang="en-US" altLang="zh-CN" b="1" dirty="0">
              <a:ea typeface="宋体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由对偶定理可得：</a:t>
            </a:r>
            <a:r>
              <a:rPr lang="en-US" altLang="zh-CN" b="1" dirty="0" err="1">
                <a:ea typeface="宋体" pitchFamily="2" charset="-122"/>
              </a:rPr>
              <a:t>a∧b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a,      </a:t>
            </a:r>
            <a:r>
              <a:rPr lang="en-US" altLang="zh-CN" b="1" dirty="0" err="1">
                <a:ea typeface="宋体" pitchFamily="2" charset="-122"/>
              </a:rPr>
              <a:t>a∧b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b</a:t>
            </a:r>
          </a:p>
        </p:txBody>
      </p:sp>
      <p:sp>
        <p:nvSpPr>
          <p:cNvPr id="492549" name="Rectangle 5"/>
          <p:cNvSpPr>
            <a:spLocks noGrp="1" noChangeArrowheads="1"/>
          </p:cNvSpPr>
          <p:nvPr>
            <p:ph type="title"/>
          </p:nvPr>
        </p:nvSpPr>
        <p:spPr>
          <a:xfrm>
            <a:off x="1062038" y="303213"/>
            <a:ext cx="5741987" cy="579437"/>
          </a:xfrm>
        </p:spPr>
        <p:txBody>
          <a:bodyPr/>
          <a:lstStyle/>
          <a:p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二、格的性质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2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25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2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25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2548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93AB2D-0F75-4C4A-A205-A18905E0876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93571" name="Rectangle 3"/>
          <p:cNvSpPr>
            <a:spLocks noChangeArrowheads="1"/>
          </p:cNvSpPr>
          <p:nvPr/>
        </p:nvSpPr>
        <p:spPr bwMode="auto">
          <a:xfrm>
            <a:off x="466725" y="1066800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6-1.2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在一个格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中，由格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所诱导的代数系统为</a:t>
            </a:r>
            <a:r>
              <a:rPr lang="en-US" altLang="zh-CN" b="1">
                <a:ea typeface="宋体" pitchFamily="2" charset="-122"/>
              </a:rPr>
              <a:t>&lt;A,∨,∧&gt;</a:t>
            </a:r>
            <a:r>
              <a:rPr lang="zh-CN" altLang="en-US" b="1">
                <a:ea typeface="宋体" pitchFamily="2" charset="-122"/>
              </a:rPr>
              <a:t>，则对任意的</a:t>
            </a:r>
            <a:r>
              <a:rPr lang="en-US" altLang="zh-CN" b="1">
                <a:ea typeface="宋体" pitchFamily="2" charset="-122"/>
              </a:rPr>
              <a:t>a, b, c, d∈A</a:t>
            </a:r>
            <a:r>
              <a:rPr lang="zh-CN" altLang="en-US" b="1">
                <a:ea typeface="宋体" pitchFamily="2" charset="-122"/>
              </a:rPr>
              <a:t>，如果有 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和</a:t>
            </a:r>
            <a:r>
              <a:rPr lang="en-US" altLang="zh-CN" b="1">
                <a:ea typeface="宋体" pitchFamily="2" charset="-122"/>
              </a:rPr>
              <a:t>c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d</a:t>
            </a:r>
            <a:r>
              <a:rPr lang="zh-CN" altLang="en-US" b="1">
                <a:ea typeface="宋体" pitchFamily="2" charset="-122"/>
              </a:rPr>
              <a:t>，则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                   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a∨c </a:t>
            </a:r>
            <a:r>
              <a:rPr lang="en-US" altLang="zh-CN" b="1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 b∨d   ,     a∧c </a:t>
            </a:r>
            <a:r>
              <a:rPr lang="en-US" altLang="zh-CN" b="1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 b∧d</a:t>
            </a:r>
          </a:p>
        </p:txBody>
      </p:sp>
      <p:sp>
        <p:nvSpPr>
          <p:cNvPr id="493572" name="Rectangle 4"/>
          <p:cNvSpPr>
            <a:spLocks noChangeArrowheads="1"/>
          </p:cNvSpPr>
          <p:nvPr/>
        </p:nvSpPr>
        <p:spPr bwMode="auto">
          <a:xfrm>
            <a:off x="466725" y="3011488"/>
            <a:ext cx="8277225" cy="2012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证明</a:t>
            </a:r>
            <a:r>
              <a:rPr lang="zh-CN" altLang="en-US" b="1" dirty="0" smtClean="0">
                <a:solidFill>
                  <a:srgbClr val="0033CC"/>
                </a:solidFill>
                <a:ea typeface="宋体" pitchFamily="2" charset="-122"/>
              </a:rPr>
              <a:t>：</a:t>
            </a:r>
            <a:r>
              <a:rPr lang="zh-CN" altLang="en-US" b="1" dirty="0" smtClean="0">
                <a:ea typeface="宋体" pitchFamily="2" charset="-122"/>
              </a:rPr>
              <a:t>∵</a:t>
            </a:r>
            <a:r>
              <a:rPr lang="en-US" altLang="zh-CN" b="1" dirty="0" err="1">
                <a:ea typeface="宋体" pitchFamily="2" charset="-122"/>
              </a:rPr>
              <a:t>a∧</a:t>
            </a:r>
            <a:r>
              <a:rPr lang="en-US" altLang="zh-CN" b="1" dirty="0" err="1" smtClean="0">
                <a:ea typeface="宋体" pitchFamily="2" charset="-122"/>
              </a:rPr>
              <a:t>c</a:t>
            </a:r>
            <a:r>
              <a:rPr lang="en-US" altLang="zh-CN" b="1" dirty="0" err="1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 smtClean="0">
                <a:ea typeface="宋体" pitchFamily="2" charset="-122"/>
              </a:rPr>
              <a:t>a</a:t>
            </a:r>
            <a:r>
              <a:rPr lang="en-US" altLang="zh-CN" b="1" dirty="0">
                <a:ea typeface="宋体" pitchFamily="2" charset="-122"/>
              </a:rPr>
              <a:t>, </a:t>
            </a:r>
            <a:r>
              <a:rPr lang="en-US" altLang="zh-CN" b="1" dirty="0" err="1">
                <a:ea typeface="宋体" pitchFamily="2" charset="-122"/>
              </a:rPr>
              <a:t>a∧</a:t>
            </a:r>
            <a:r>
              <a:rPr lang="en-US" altLang="zh-CN" b="1" dirty="0" err="1" smtClean="0">
                <a:ea typeface="宋体" pitchFamily="2" charset="-122"/>
              </a:rPr>
              <a:t>c</a:t>
            </a:r>
            <a:r>
              <a:rPr lang="en-US" altLang="zh-CN" b="1" dirty="0" err="1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 smtClean="0">
                <a:ea typeface="宋体" pitchFamily="2" charset="-122"/>
              </a:rPr>
              <a:t>c</a:t>
            </a:r>
            <a:r>
              <a:rPr lang="en-US" altLang="zh-CN" b="1" dirty="0">
                <a:ea typeface="宋体" pitchFamily="2" charset="-122"/>
              </a:rPr>
              <a:t>, </a:t>
            </a:r>
            <a:r>
              <a:rPr lang="zh-CN" altLang="en-US" b="1" dirty="0">
                <a:ea typeface="宋体" pitchFamily="2" charset="-122"/>
              </a:rPr>
              <a:t>条件</a:t>
            </a:r>
            <a:r>
              <a:rPr lang="en-US" altLang="zh-CN" b="1" dirty="0" err="1" smtClean="0">
                <a:ea typeface="宋体" pitchFamily="2" charset="-122"/>
              </a:rPr>
              <a:t>a</a:t>
            </a:r>
            <a:r>
              <a:rPr lang="en-US" altLang="zh-CN" b="1" dirty="0" err="1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 smtClean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 err="1" smtClean="0">
                <a:ea typeface="宋体" pitchFamily="2" charset="-122"/>
              </a:rPr>
              <a:t>c</a:t>
            </a:r>
            <a:r>
              <a:rPr lang="en-US" altLang="zh-CN" b="1" dirty="0" err="1" smtClean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 smtClean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，由传递性可得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            </a:t>
            </a:r>
            <a:r>
              <a:rPr lang="en-US" altLang="zh-CN" b="1" dirty="0" err="1">
                <a:ea typeface="宋体" pitchFamily="2" charset="-122"/>
              </a:rPr>
              <a:t>a∧c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b, </a:t>
            </a:r>
            <a:r>
              <a:rPr lang="en-US" altLang="zh-CN" b="1" dirty="0" err="1">
                <a:ea typeface="宋体" pitchFamily="2" charset="-122"/>
              </a:rPr>
              <a:t>a∧c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d, 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       </a:t>
            </a:r>
            <a:r>
              <a:rPr lang="zh-CN" altLang="en-US" b="1" dirty="0">
                <a:ea typeface="宋体" pitchFamily="2" charset="-122"/>
              </a:rPr>
              <a:t>即</a:t>
            </a:r>
            <a:r>
              <a:rPr lang="en-US" altLang="zh-CN" b="1" dirty="0" err="1">
                <a:ea typeface="宋体" pitchFamily="2" charset="-122"/>
              </a:rPr>
              <a:t>a∧c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的一个下界，而</a:t>
            </a:r>
            <a:r>
              <a:rPr lang="en-US" altLang="zh-CN" b="1" dirty="0" err="1">
                <a:ea typeface="宋体" pitchFamily="2" charset="-122"/>
              </a:rPr>
              <a:t>b∧d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的最大下界。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 ∴ </a:t>
            </a:r>
            <a:r>
              <a:rPr lang="en-US" altLang="zh-CN" b="1" dirty="0">
                <a:ea typeface="宋体" pitchFamily="2" charset="-122"/>
              </a:rPr>
              <a:t>a ∧ c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 </a:t>
            </a:r>
            <a:r>
              <a:rPr lang="en-US" altLang="zh-CN" b="1" dirty="0" err="1">
                <a:ea typeface="宋体" pitchFamily="2" charset="-122"/>
              </a:rPr>
              <a:t>b∧d</a:t>
            </a:r>
            <a:r>
              <a:rPr lang="en-US" altLang="zh-CN" b="1" dirty="0">
                <a:ea typeface="宋体" pitchFamily="2" charset="-122"/>
              </a:rPr>
              <a:t>   </a:t>
            </a:r>
            <a:r>
              <a:rPr lang="zh-CN" altLang="en-US" b="1" dirty="0">
                <a:ea typeface="宋体" pitchFamily="2" charset="-122"/>
              </a:rPr>
              <a:t>同理</a:t>
            </a:r>
            <a:r>
              <a:rPr lang="en-US" altLang="zh-CN" b="1" dirty="0">
                <a:ea typeface="宋体" pitchFamily="2" charset="-122"/>
              </a:rPr>
              <a:t>……</a:t>
            </a:r>
          </a:p>
        </p:txBody>
      </p:sp>
      <p:sp>
        <p:nvSpPr>
          <p:cNvPr id="493573" name="Text Box 5"/>
          <p:cNvSpPr txBox="1">
            <a:spLocks noChangeArrowheads="1"/>
          </p:cNvSpPr>
          <p:nvPr/>
        </p:nvSpPr>
        <p:spPr bwMode="auto">
          <a:xfrm>
            <a:off x="466725" y="4883150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altLang="zh-CN" b="1" dirty="0">
                <a:ea typeface="宋体" pitchFamily="2" charset="-122"/>
              </a:rPr>
              <a:t>   </a:t>
            </a:r>
            <a:r>
              <a:rPr lang="zh-CN" altLang="en-US" b="1" dirty="0">
                <a:ea typeface="宋体" pitchFamily="2" charset="-122"/>
              </a:rPr>
              <a:t>格的保序性：在格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中，对于</a:t>
            </a:r>
            <a:r>
              <a:rPr lang="en-US" altLang="zh-CN" b="1" dirty="0">
                <a:ea typeface="宋体" pitchFamily="2" charset="-122"/>
              </a:rPr>
              <a:t>a, c, </a:t>
            </a:r>
            <a:r>
              <a:rPr lang="en-US" altLang="zh-CN" b="1" dirty="0" err="1">
                <a:ea typeface="宋体" pitchFamily="2" charset="-122"/>
              </a:rPr>
              <a:t>d∈A</a:t>
            </a:r>
            <a:r>
              <a:rPr lang="zh-CN" altLang="en-US" b="1" dirty="0">
                <a:ea typeface="宋体" pitchFamily="2" charset="-122"/>
              </a:rPr>
              <a:t>，若</a:t>
            </a:r>
            <a:r>
              <a:rPr lang="en-US" altLang="zh-CN" b="1" dirty="0" err="1">
                <a:ea typeface="宋体" pitchFamily="2" charset="-122"/>
              </a:rPr>
              <a:t>c</a:t>
            </a:r>
            <a:r>
              <a:rPr lang="en-US" altLang="zh-CN" b="1" dirty="0" err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，则有</a:t>
            </a:r>
            <a:r>
              <a:rPr lang="zh-CN" altLang="en-US" b="1" dirty="0">
                <a:solidFill>
                  <a:srgbClr val="CC3300"/>
                </a:solidFill>
                <a:ea typeface="宋体" pitchFamily="2" charset="-122"/>
              </a:rPr>
              <a:t>        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a∨c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a∨d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，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a∧c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a∧d</a:t>
            </a:r>
            <a:endParaRPr lang="en-US" altLang="zh-CN" b="1" dirty="0">
              <a:solidFill>
                <a:schemeClr val="hlink"/>
              </a:solidFill>
              <a:ea typeface="宋体" pitchFamily="2" charset="-122"/>
            </a:endParaRPr>
          </a:p>
        </p:txBody>
      </p:sp>
      <p:sp>
        <p:nvSpPr>
          <p:cNvPr id="493576" name="AutoShape 8"/>
          <p:cNvSpPr>
            <a:spLocks noChangeArrowheads="1"/>
          </p:cNvSpPr>
          <p:nvPr/>
        </p:nvSpPr>
        <p:spPr bwMode="auto">
          <a:xfrm>
            <a:off x="6732588" y="2003425"/>
            <a:ext cx="2231900" cy="1152525"/>
          </a:xfrm>
          <a:prstGeom prst="cloudCallout">
            <a:avLst>
              <a:gd name="adj1" fmla="val -87264"/>
              <a:gd name="adj2" fmla="val 18731"/>
            </a:avLst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能用对偶原理吗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3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3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3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3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3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3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93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3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935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93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935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3572" grpId="0" uiExpand="1" build="p" autoUpdateAnimBg="0"/>
      <p:bldP spid="493573" grpId="0" build="p" autoUpdateAnimBg="0"/>
      <p:bldP spid="49357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91A726-B67E-4F0E-B8E0-3FF39D0EC7B0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494595" name="Text Box 3"/>
          <p:cNvSpPr txBox="1">
            <a:spLocks noChangeArrowheads="1"/>
          </p:cNvSpPr>
          <p:nvPr/>
        </p:nvSpPr>
        <p:spPr bwMode="auto">
          <a:xfrm>
            <a:off x="466725" y="1052513"/>
            <a:ext cx="8277225" cy="4838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6-1.3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是一个格，由格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所诱导的代数系统为</a:t>
            </a:r>
            <a:r>
              <a:rPr lang="en-US" altLang="zh-CN" b="1">
                <a:ea typeface="宋体" pitchFamily="2" charset="-122"/>
              </a:rPr>
              <a:t>&lt;A,∨,∧&gt;</a:t>
            </a:r>
            <a:r>
              <a:rPr lang="zh-CN" altLang="en-US" b="1">
                <a:ea typeface="宋体" pitchFamily="2" charset="-122"/>
              </a:rPr>
              <a:t>，则对任意的</a:t>
            </a:r>
            <a:r>
              <a:rPr lang="en-US" altLang="zh-CN" b="1">
                <a:ea typeface="宋体" pitchFamily="2" charset="-122"/>
              </a:rPr>
              <a:t>a, b, c, d∈A</a:t>
            </a:r>
            <a:r>
              <a:rPr lang="zh-CN" altLang="en-US" b="1">
                <a:ea typeface="宋体" pitchFamily="2" charset="-122"/>
              </a:rPr>
              <a:t>，有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(1) a∨b=b∨a     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      a∧b=b∧a                 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（交换律）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(2) a∨(b∨c)=(a∨b)∨c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      a∧(b∧c)=(a∧b)∧c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（结合律）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(3) a∨a=a 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      a∧a=a                        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（幂等律）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(4) a∨(a∧b)=a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      a∧(a∨b)=a               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（吸收律）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4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4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94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94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945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945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94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945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95" grpId="0" uiExpand="1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E68EB1-7337-4A82-8EED-421A9CD5D327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466725" y="1120775"/>
            <a:ext cx="8277225" cy="2709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36842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216852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96862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376872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2259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46831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51403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597525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定理</a:t>
            </a:r>
            <a:r>
              <a:rPr lang="en-US" altLang="zh-CN" b="1" dirty="0">
                <a:solidFill>
                  <a:schemeClr val="hlink"/>
                </a:solidFill>
              </a:rPr>
              <a:t>6-1.5-7</a:t>
            </a:r>
            <a:r>
              <a:rPr lang="zh-CN" altLang="en-US" b="1" dirty="0">
                <a:solidFill>
                  <a:schemeClr val="hlink"/>
                </a:solidFill>
              </a:rPr>
              <a:t>：</a:t>
            </a:r>
            <a:r>
              <a:rPr lang="zh-CN" altLang="en-US" b="1" dirty="0"/>
              <a:t>设</a:t>
            </a:r>
            <a:r>
              <a:rPr lang="en-US" altLang="zh-CN" b="1" dirty="0"/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/>
              <a:t>&gt;</a:t>
            </a:r>
            <a:r>
              <a:rPr lang="zh-CN" altLang="en-US" b="1" dirty="0"/>
              <a:t>是一个格，对任意的</a:t>
            </a:r>
            <a:r>
              <a:rPr lang="en-US" altLang="zh-CN" b="1" dirty="0"/>
              <a:t>a</a:t>
            </a:r>
            <a:r>
              <a:rPr lang="en-US" altLang="zh-CN" b="1" dirty="0" smtClean="0"/>
              <a:t>, b, c, </a:t>
            </a:r>
            <a:r>
              <a:rPr lang="en-US" altLang="zh-CN" b="1" dirty="0" err="1" smtClean="0"/>
              <a:t>d</a:t>
            </a:r>
            <a:r>
              <a:rPr lang="en-US" altLang="zh-CN" b="1" dirty="0" err="1"/>
              <a:t>∈A</a:t>
            </a:r>
            <a:r>
              <a:rPr lang="zh-CN" altLang="en-US" b="1" dirty="0"/>
              <a:t>，都有</a:t>
            </a:r>
          </a:p>
          <a:p>
            <a:pPr algn="just">
              <a:lnSpc>
                <a:spcPct val="120000"/>
              </a:lnSpc>
            </a:pPr>
            <a:r>
              <a:rPr lang="zh-CN" altLang="en-US" b="1" dirty="0"/>
              <a:t>             </a:t>
            </a:r>
            <a:r>
              <a:rPr lang="en-US" altLang="zh-CN" b="1" dirty="0"/>
              <a:t>(1) a∨( </a:t>
            </a:r>
            <a:r>
              <a:rPr lang="en-US" altLang="zh-CN" b="1" dirty="0" err="1"/>
              <a:t>b∧c</a:t>
            </a:r>
            <a:r>
              <a:rPr lang="en-US" altLang="zh-CN" b="1" dirty="0"/>
              <a:t>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 </a:t>
            </a:r>
            <a:r>
              <a:rPr lang="en-US" altLang="zh-CN" b="1" dirty="0"/>
              <a:t>(</a:t>
            </a:r>
            <a:r>
              <a:rPr lang="en-US" altLang="zh-CN" b="1" dirty="0" err="1"/>
              <a:t>a∨b</a:t>
            </a:r>
            <a:r>
              <a:rPr lang="en-US" altLang="zh-CN" b="1" dirty="0"/>
              <a:t>)∧(</a:t>
            </a:r>
            <a:r>
              <a:rPr lang="en-US" altLang="zh-CN" b="1" dirty="0">
                <a:solidFill>
                  <a:srgbClr val="0033CC"/>
                </a:solidFill>
              </a:rPr>
              <a:t> </a:t>
            </a:r>
            <a:r>
              <a:rPr lang="en-US" altLang="zh-CN" b="1" dirty="0" err="1"/>
              <a:t>a∨c</a:t>
            </a:r>
            <a:r>
              <a:rPr lang="en-US" altLang="zh-CN" b="1" dirty="0"/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             (2) (</a:t>
            </a:r>
            <a:r>
              <a:rPr lang="en-US" altLang="zh-CN" b="1" dirty="0" err="1"/>
              <a:t>a∧b</a:t>
            </a:r>
            <a:r>
              <a:rPr lang="en-US" altLang="zh-CN" b="1" dirty="0"/>
              <a:t>)∨(</a:t>
            </a:r>
            <a:r>
              <a:rPr lang="en-US" altLang="zh-CN" b="1" dirty="0">
                <a:solidFill>
                  <a:srgbClr val="0033CC"/>
                </a:solidFill>
              </a:rPr>
              <a:t> </a:t>
            </a:r>
            <a:r>
              <a:rPr lang="en-US" altLang="zh-CN" b="1" dirty="0" err="1"/>
              <a:t>a∧c</a:t>
            </a:r>
            <a:r>
              <a:rPr lang="en-US" altLang="zh-CN" b="1" dirty="0"/>
              <a:t>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/>
              <a:t> a∧( </a:t>
            </a:r>
            <a:r>
              <a:rPr lang="en-US" altLang="zh-CN" b="1" dirty="0" err="1"/>
              <a:t>b∨c</a:t>
            </a:r>
            <a:r>
              <a:rPr lang="en-US" altLang="zh-CN" b="1" dirty="0"/>
              <a:t>) 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             (3) </a:t>
            </a:r>
            <a:r>
              <a:rPr lang="en-US" altLang="zh-CN" b="1" dirty="0">
                <a:solidFill>
                  <a:schemeClr val="hlink"/>
                </a:solidFill>
              </a:rPr>
              <a:t>a </a:t>
            </a:r>
            <a:r>
              <a:rPr lang="en-US" altLang="zh-CN" b="1" dirty="0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solidFill>
                  <a:schemeClr val="hlink"/>
                </a:solidFill>
              </a:rPr>
              <a:t> b </a:t>
            </a:r>
            <a:r>
              <a:rPr lang="en-US" altLang="zh-CN" b="1" dirty="0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lang="en-US" altLang="zh-CN" b="1" dirty="0">
                <a:solidFill>
                  <a:schemeClr val="hlink"/>
                </a:solidFill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</a:rPr>
              <a:t>a∧b</a:t>
            </a:r>
            <a:r>
              <a:rPr lang="en-US" altLang="zh-CN" b="1" dirty="0">
                <a:solidFill>
                  <a:schemeClr val="hlink"/>
                </a:solidFill>
              </a:rPr>
              <a:t>=a </a:t>
            </a:r>
            <a:r>
              <a:rPr lang="en-US" altLang="zh-CN" b="1" dirty="0">
                <a:solidFill>
                  <a:schemeClr val="hlink"/>
                </a:solidFill>
                <a:sym typeface="Symbol" pitchFamily="18" charset="2"/>
              </a:rPr>
              <a:t></a:t>
            </a:r>
            <a:r>
              <a:rPr lang="en-US" altLang="zh-CN" b="1" dirty="0">
                <a:solidFill>
                  <a:schemeClr val="hlink"/>
                </a:solidFill>
              </a:rPr>
              <a:t> </a:t>
            </a:r>
            <a:r>
              <a:rPr lang="en-US" altLang="zh-CN" b="1" dirty="0" err="1">
                <a:solidFill>
                  <a:schemeClr val="hlink"/>
                </a:solidFill>
              </a:rPr>
              <a:t>a∨b</a:t>
            </a:r>
            <a:r>
              <a:rPr lang="en-US" altLang="zh-CN" b="1" dirty="0">
                <a:solidFill>
                  <a:schemeClr val="hlink"/>
                </a:solidFill>
              </a:rPr>
              <a:t>=b</a:t>
            </a:r>
          </a:p>
          <a:p>
            <a:pPr>
              <a:lnSpc>
                <a:spcPct val="120000"/>
              </a:lnSpc>
            </a:pPr>
            <a:r>
              <a:rPr lang="en-US" altLang="zh-CN" b="1" dirty="0"/>
              <a:t>             (4) a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/>
              <a:t> c </a:t>
            </a:r>
            <a:r>
              <a:rPr lang="en-US" altLang="zh-CN" b="1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b="1" dirty="0"/>
              <a:t> a∨(</a:t>
            </a:r>
            <a:r>
              <a:rPr lang="en-US" altLang="zh-CN" b="1" dirty="0" err="1"/>
              <a:t>b∧c</a:t>
            </a:r>
            <a:r>
              <a:rPr lang="en-US" altLang="zh-CN" b="1" dirty="0"/>
              <a:t>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 </a:t>
            </a:r>
            <a:r>
              <a:rPr lang="en-US" altLang="zh-CN" b="1" dirty="0"/>
              <a:t>(</a:t>
            </a:r>
            <a:r>
              <a:rPr lang="en-US" altLang="zh-CN" b="1" dirty="0" err="1"/>
              <a:t>a∨b</a:t>
            </a:r>
            <a:r>
              <a:rPr lang="en-US" altLang="zh-CN" b="1" dirty="0"/>
              <a:t>)∧c </a:t>
            </a:r>
          </a:p>
        </p:txBody>
      </p:sp>
      <p:sp>
        <p:nvSpPr>
          <p:cNvPr id="497669" name="Rectangle 5"/>
          <p:cNvSpPr>
            <a:spLocks noGrp="1" noChangeArrowheads="1"/>
          </p:cNvSpPr>
          <p:nvPr>
            <p:ph type="title"/>
          </p:nvPr>
        </p:nvSpPr>
        <p:spPr>
          <a:xfrm>
            <a:off x="1033463" y="360363"/>
            <a:ext cx="6418262" cy="519112"/>
          </a:xfrm>
        </p:spPr>
        <p:txBody>
          <a:bodyPr/>
          <a:lstStyle/>
          <a:p>
            <a:r>
              <a:rPr kumimoji="1" lang="en-US" altLang="zh-CN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280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、格的其它一些性质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32AAA8-F83D-447D-981A-2A06945394E1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498691" name="Text Box 3"/>
          <p:cNvSpPr txBox="1">
            <a:spLocks noChangeArrowheads="1"/>
          </p:cNvSpPr>
          <p:nvPr/>
        </p:nvSpPr>
        <p:spPr bwMode="auto">
          <a:xfrm>
            <a:off x="468313" y="987425"/>
            <a:ext cx="8277225" cy="397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latin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itchFamily="49" charset="-122"/>
              </a:rPr>
              <a:t>、基本概念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6-1.4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 &gt;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 &gt;</a:t>
            </a:r>
            <a:r>
              <a:rPr lang="zh-CN" altLang="en-US" b="1" dirty="0">
                <a:ea typeface="宋体" pitchFamily="2" charset="-122"/>
              </a:rPr>
              <a:t>是两个格，由它们分别引导的代数系统为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, ∨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 , ∧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, ∨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, 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，如果存在着一个从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zh-CN" altLang="en-US" b="1" dirty="0">
                <a:ea typeface="宋体" pitchFamily="2" charset="-122"/>
              </a:rPr>
              <a:t>到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zh-CN" altLang="en-US" b="1" dirty="0">
                <a:ea typeface="宋体" pitchFamily="2" charset="-122"/>
              </a:rPr>
              <a:t>的映射</a:t>
            </a:r>
            <a:r>
              <a:rPr lang="en-US" altLang="zh-CN" b="1" dirty="0">
                <a:ea typeface="宋体" pitchFamily="2" charset="-122"/>
              </a:rPr>
              <a:t>f</a:t>
            </a:r>
            <a:r>
              <a:rPr lang="zh-CN" altLang="en-US" b="1" dirty="0">
                <a:ea typeface="宋体" pitchFamily="2" charset="-122"/>
              </a:rPr>
              <a:t>，使得对于任意的</a:t>
            </a:r>
            <a:r>
              <a:rPr lang="en-US" altLang="zh-CN" b="1" dirty="0">
                <a:ea typeface="宋体" pitchFamily="2" charset="-122"/>
              </a:rPr>
              <a:t>a, b∈A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zh-CN" altLang="en-US" b="1" dirty="0">
                <a:ea typeface="宋体" pitchFamily="2" charset="-122"/>
              </a:rPr>
              <a:t>，有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              </a:t>
            </a:r>
            <a:r>
              <a:rPr lang="en-US" altLang="zh-CN" b="1" dirty="0">
                <a:ea typeface="宋体" pitchFamily="2" charset="-122"/>
              </a:rPr>
              <a:t>f(a∨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b)=f(a)∨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f(b)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                   f(a∧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b)=f(a)∧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f(b)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称</a:t>
            </a:r>
            <a:r>
              <a:rPr lang="en-US" altLang="zh-CN" b="1" dirty="0">
                <a:ea typeface="宋体" pitchFamily="2" charset="-122"/>
              </a:rPr>
              <a:t>f</a:t>
            </a:r>
            <a:r>
              <a:rPr lang="zh-CN" altLang="en-US" b="1" dirty="0">
                <a:ea typeface="宋体" pitchFamily="2" charset="-122"/>
              </a:rPr>
              <a:t>为从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, ∨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, ∧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到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, ∨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, 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的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格同态</a:t>
            </a:r>
            <a:r>
              <a:rPr lang="zh-CN" altLang="en-US" b="1" dirty="0">
                <a:ea typeface="宋体" pitchFamily="2" charset="-122"/>
              </a:rPr>
              <a:t>，亦可称</a:t>
            </a:r>
            <a:r>
              <a:rPr lang="en-US" altLang="zh-CN" b="1" dirty="0">
                <a:ea typeface="宋体" pitchFamily="2" charset="-122"/>
              </a:rPr>
              <a:t>&lt;f(A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),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&lt;A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的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格同态象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sp>
        <p:nvSpPr>
          <p:cNvPr id="498694" name="Rectangle 6"/>
          <p:cNvSpPr>
            <a:spLocks noGrp="1" noChangeArrowheads="1"/>
          </p:cNvSpPr>
          <p:nvPr>
            <p:ph type="title"/>
          </p:nvPr>
        </p:nvSpPr>
        <p:spPr>
          <a:xfrm>
            <a:off x="1019175" y="303213"/>
            <a:ext cx="5957888" cy="579437"/>
          </a:xfrm>
        </p:spPr>
        <p:txBody>
          <a:bodyPr/>
          <a:lstStyle/>
          <a:p>
            <a:r>
              <a:rPr kumimoji="1" lang="zh-CN" altLang="en-US" sz="320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</a:rPr>
              <a:t>三、格的同态同构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ABFCBE1-B316-4B3D-8EDB-DBFD6DBD4B85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499716" name="Text Box 4"/>
          <p:cNvSpPr txBox="1">
            <a:spLocks noChangeArrowheads="1"/>
          </p:cNvSpPr>
          <p:nvPr/>
        </p:nvSpPr>
        <p:spPr bwMode="auto">
          <a:xfrm>
            <a:off x="466725" y="1235075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3684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21685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9686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37687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2259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46831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51403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5975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</a:rPr>
              <a:t>定理</a:t>
            </a:r>
            <a:r>
              <a:rPr lang="en-US" altLang="zh-CN" b="1">
                <a:solidFill>
                  <a:schemeClr val="hlink"/>
                </a:solidFill>
              </a:rPr>
              <a:t>6-1.8</a:t>
            </a:r>
            <a:r>
              <a:rPr lang="zh-CN" altLang="en-US" b="1">
                <a:solidFill>
                  <a:schemeClr val="hlink"/>
                </a:solidFill>
              </a:rPr>
              <a:t>：</a:t>
            </a:r>
            <a:r>
              <a:rPr lang="zh-CN" altLang="en-US" b="1"/>
              <a:t>设</a:t>
            </a:r>
            <a:r>
              <a:rPr lang="en-US" altLang="zh-CN" b="1"/>
              <a:t>f</a:t>
            </a:r>
            <a:r>
              <a:rPr lang="zh-CN" altLang="en-US" b="1"/>
              <a:t>是格</a:t>
            </a:r>
            <a:r>
              <a:rPr lang="en-US" altLang="zh-CN" b="1"/>
              <a:t>&lt;A</a:t>
            </a:r>
            <a:r>
              <a:rPr lang="en-US" altLang="zh-CN" b="1" baseline="-8000"/>
              <a:t>1</a:t>
            </a:r>
            <a:r>
              <a:rPr lang="en-US" altLang="zh-CN" b="1"/>
              <a:t>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/>
              <a:t>1</a:t>
            </a:r>
            <a:r>
              <a:rPr lang="en-US" altLang="zh-CN" b="1"/>
              <a:t>&gt;</a:t>
            </a:r>
            <a:r>
              <a:rPr lang="zh-CN" altLang="en-US" b="1"/>
              <a:t>到</a:t>
            </a:r>
            <a:r>
              <a:rPr lang="en-US" altLang="zh-CN" b="1"/>
              <a:t>&lt;A</a:t>
            </a:r>
            <a:r>
              <a:rPr lang="en-US" altLang="zh-CN" b="1" baseline="-8000"/>
              <a:t>2</a:t>
            </a:r>
            <a:r>
              <a:rPr lang="en-US" altLang="zh-CN" b="1"/>
              <a:t>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/>
              <a:t>2</a:t>
            </a:r>
            <a:r>
              <a:rPr lang="en-US" altLang="zh-CN" b="1"/>
              <a:t> &gt;</a:t>
            </a:r>
            <a:r>
              <a:rPr lang="zh-CN" altLang="en-US" b="1"/>
              <a:t>的格同态，则对任意的</a:t>
            </a:r>
            <a:r>
              <a:rPr lang="en-US" altLang="zh-CN" b="1"/>
              <a:t>x, y∈A</a:t>
            </a:r>
            <a:r>
              <a:rPr lang="en-US" altLang="zh-CN" b="1" baseline="-8000"/>
              <a:t>1</a:t>
            </a:r>
            <a:r>
              <a:rPr lang="zh-CN" altLang="en-US" b="1"/>
              <a:t>，如果</a:t>
            </a:r>
            <a:r>
              <a:rPr lang="en-US" altLang="zh-CN" b="1"/>
              <a:t>x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/>
              <a:t>1 </a:t>
            </a:r>
            <a:r>
              <a:rPr lang="en-US" altLang="zh-CN" b="1"/>
              <a:t>y</a:t>
            </a:r>
            <a:r>
              <a:rPr lang="zh-CN" altLang="en-US" b="1"/>
              <a:t>，则</a:t>
            </a:r>
            <a:r>
              <a:rPr lang="en-US" altLang="zh-CN" b="1"/>
              <a:t>f(x)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/>
              <a:t>2 </a:t>
            </a:r>
            <a:r>
              <a:rPr lang="en-US" altLang="zh-CN" b="1"/>
              <a:t>f(y)</a:t>
            </a:r>
            <a:r>
              <a:rPr lang="zh-CN" altLang="en-US" b="1"/>
              <a:t>。</a:t>
            </a:r>
            <a:r>
              <a:rPr lang="en-US" altLang="zh-CN" b="1"/>
              <a:t>(</a:t>
            </a:r>
            <a:r>
              <a:rPr lang="zh-CN" altLang="en-US" b="1"/>
              <a:t>格同态的保序性</a:t>
            </a:r>
            <a:r>
              <a:rPr lang="en-US" altLang="zh-CN" b="1"/>
              <a:t>)</a:t>
            </a:r>
          </a:p>
        </p:txBody>
      </p:sp>
      <p:sp>
        <p:nvSpPr>
          <p:cNvPr id="499718" name="Text Box 6"/>
          <p:cNvSpPr txBox="1">
            <a:spLocks noChangeArrowheads="1"/>
          </p:cNvSpPr>
          <p:nvPr/>
        </p:nvSpPr>
        <p:spPr bwMode="auto">
          <a:xfrm>
            <a:off x="466725" y="2276475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证明：</a:t>
            </a:r>
            <a:r>
              <a:rPr lang="zh-CN" altLang="en-US" b="1" dirty="0">
                <a:ea typeface="宋体" pitchFamily="2" charset="-122"/>
              </a:rPr>
              <a:t>因为</a:t>
            </a:r>
            <a:r>
              <a:rPr lang="en-US" altLang="zh-CN" b="1" dirty="0">
                <a:ea typeface="宋体" pitchFamily="2" charset="-122"/>
              </a:rPr>
              <a:t>x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1 </a:t>
            </a:r>
            <a:r>
              <a:rPr lang="en-US" altLang="zh-CN" b="1" dirty="0">
                <a:ea typeface="宋体" pitchFamily="2" charset="-122"/>
              </a:rPr>
              <a:t>y</a:t>
            </a:r>
            <a:r>
              <a:rPr lang="zh-CN" altLang="en-US" b="1" dirty="0">
                <a:ea typeface="宋体" pitchFamily="2" charset="-122"/>
              </a:rPr>
              <a:t>，有</a:t>
            </a:r>
            <a:r>
              <a:rPr lang="en-US" altLang="zh-CN" b="1" dirty="0">
                <a:ea typeface="宋体" pitchFamily="2" charset="-122"/>
              </a:rPr>
              <a:t>x ∧</a:t>
            </a:r>
            <a:r>
              <a:rPr lang="en-US" altLang="zh-CN" b="1" baseline="-8000" dirty="0">
                <a:ea typeface="宋体" pitchFamily="2" charset="-122"/>
              </a:rPr>
              <a:t>1 </a:t>
            </a:r>
            <a:r>
              <a:rPr lang="en-US" altLang="zh-CN" b="1" dirty="0">
                <a:ea typeface="宋体" pitchFamily="2" charset="-122"/>
              </a:rPr>
              <a:t>y=x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又因</a:t>
            </a:r>
            <a:r>
              <a:rPr lang="en-US" altLang="zh-CN" b="1" dirty="0">
                <a:ea typeface="宋体" pitchFamily="2" charset="-122"/>
              </a:rPr>
              <a:t>f</a:t>
            </a:r>
            <a:r>
              <a:rPr lang="zh-CN" altLang="en-US" b="1" dirty="0">
                <a:ea typeface="宋体" pitchFamily="2" charset="-122"/>
              </a:rPr>
              <a:t>为格同态，所以</a:t>
            </a:r>
            <a:r>
              <a:rPr lang="en-US" altLang="zh-CN" b="1" dirty="0">
                <a:ea typeface="宋体" pitchFamily="2" charset="-122"/>
              </a:rPr>
              <a:t>f(x∧</a:t>
            </a:r>
            <a:r>
              <a:rPr lang="en-US" altLang="zh-CN" b="1" baseline="-8000" dirty="0">
                <a:ea typeface="宋体" pitchFamily="2" charset="-122"/>
              </a:rPr>
              <a:t>1 </a:t>
            </a:r>
            <a:r>
              <a:rPr lang="en-US" altLang="zh-CN" b="1" dirty="0">
                <a:ea typeface="宋体" pitchFamily="2" charset="-122"/>
              </a:rPr>
              <a:t>y)=f(x)∧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 f(y)=f(x)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又</a:t>
            </a:r>
            <a:r>
              <a:rPr lang="en-US" altLang="zh-CN" b="1" dirty="0">
                <a:ea typeface="宋体" pitchFamily="2" charset="-122"/>
              </a:rPr>
              <a:t>f(x)∧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 f(y)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2 </a:t>
            </a:r>
            <a:r>
              <a:rPr lang="en-US" altLang="zh-CN" b="1" dirty="0">
                <a:ea typeface="宋体" pitchFamily="2" charset="-122"/>
              </a:rPr>
              <a:t>f(y)</a:t>
            </a:r>
            <a:r>
              <a:rPr lang="zh-CN" altLang="en-US" b="1" dirty="0">
                <a:ea typeface="宋体" pitchFamily="2" charset="-122"/>
              </a:rPr>
              <a:t>，所以有</a:t>
            </a:r>
            <a:r>
              <a:rPr lang="en-US" altLang="zh-CN" b="1" dirty="0">
                <a:ea typeface="宋体" pitchFamily="2" charset="-122"/>
              </a:rPr>
              <a:t>f(x)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 f(y)</a:t>
            </a:r>
          </a:p>
        </p:txBody>
      </p:sp>
      <p:sp>
        <p:nvSpPr>
          <p:cNvPr id="499720" name="Rectangle 8"/>
          <p:cNvSpPr>
            <a:spLocks noGrp="1" noChangeArrowheads="1"/>
          </p:cNvSpPr>
          <p:nvPr>
            <p:ph type="title"/>
          </p:nvPr>
        </p:nvSpPr>
        <p:spPr>
          <a:xfrm>
            <a:off x="990600" y="360363"/>
            <a:ext cx="6318250" cy="519112"/>
          </a:xfrm>
        </p:spPr>
        <p:txBody>
          <a:bodyPr/>
          <a:lstStyle/>
          <a:p>
            <a:r>
              <a:rPr kumimoji="1" lang="en-US" altLang="zh-CN" sz="28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28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、格的同态同构性质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97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9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97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9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97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9718" grpId="0" uiExpand="1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12D77C-1A0C-4EC3-8F92-DE7E9AD36991}" type="slidenum">
              <a:rPr lang="en-US" altLang="zh-CN"/>
              <a:pPr/>
              <a:t>16</a:t>
            </a:fld>
            <a:endParaRPr lang="en-US" altLang="zh-CN"/>
          </a:p>
        </p:txBody>
      </p:sp>
      <p:sp>
        <p:nvSpPr>
          <p:cNvPr id="571394" name="Text Box 2"/>
          <p:cNvSpPr txBox="1">
            <a:spLocks noChangeArrowheads="1"/>
          </p:cNvSpPr>
          <p:nvPr/>
        </p:nvSpPr>
        <p:spPr bwMode="auto">
          <a:xfrm>
            <a:off x="358775" y="1081088"/>
            <a:ext cx="834866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3684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21685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9686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3768725" indent="-609600"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2259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46831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51403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597525" indent="-609600" fontAlgn="base">
              <a:spcBef>
                <a:spcPct val="0"/>
              </a:spcBef>
              <a:spcAft>
                <a:spcPct val="0"/>
              </a:spcAft>
              <a:tabLst>
                <a:tab pos="668338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b="1" dirty="0">
                <a:solidFill>
                  <a:schemeClr val="hlink"/>
                </a:solidFill>
              </a:rPr>
              <a:t>定理</a:t>
            </a:r>
            <a:r>
              <a:rPr lang="en-US" altLang="zh-CN" b="1" dirty="0">
                <a:solidFill>
                  <a:schemeClr val="hlink"/>
                </a:solidFill>
              </a:rPr>
              <a:t>6-1.9</a:t>
            </a:r>
            <a:r>
              <a:rPr lang="zh-CN" altLang="en-US" b="1" dirty="0">
                <a:solidFill>
                  <a:schemeClr val="hlink"/>
                </a:solidFill>
              </a:rPr>
              <a:t>：</a:t>
            </a:r>
            <a:r>
              <a:rPr lang="zh-CN" altLang="en-US" b="1" dirty="0"/>
              <a:t>设两个格为</a:t>
            </a:r>
            <a:r>
              <a:rPr lang="en-US" altLang="zh-CN" b="1" dirty="0"/>
              <a:t>&lt;A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&gt;</a:t>
            </a:r>
            <a:r>
              <a:rPr lang="zh-CN" altLang="en-US" b="1" dirty="0"/>
              <a:t>和</a:t>
            </a:r>
            <a:r>
              <a:rPr lang="en-US" altLang="zh-CN" b="1" dirty="0"/>
              <a:t>&lt;A</a:t>
            </a:r>
            <a:r>
              <a:rPr lang="en-US" altLang="zh-CN" b="1" baseline="-8000" dirty="0"/>
              <a:t>2</a:t>
            </a:r>
            <a:r>
              <a:rPr lang="en-US" altLang="zh-CN" b="1" dirty="0"/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2</a:t>
            </a:r>
            <a:r>
              <a:rPr lang="en-US" altLang="zh-CN" b="1" dirty="0"/>
              <a:t> &gt;</a:t>
            </a:r>
            <a:r>
              <a:rPr lang="zh-CN" altLang="en-US" b="1" dirty="0"/>
              <a:t>，</a:t>
            </a:r>
            <a:r>
              <a:rPr lang="en-US" altLang="zh-CN" b="1" dirty="0"/>
              <a:t>f </a:t>
            </a:r>
            <a:r>
              <a:rPr lang="zh-CN" altLang="en-US" b="1" dirty="0"/>
              <a:t>是从</a:t>
            </a:r>
            <a:r>
              <a:rPr lang="en-US" altLang="zh-CN" b="1" dirty="0"/>
              <a:t>A</a:t>
            </a:r>
            <a:r>
              <a:rPr lang="en-US" altLang="zh-CN" b="1" baseline="-8000" dirty="0"/>
              <a:t>1</a:t>
            </a:r>
            <a:r>
              <a:rPr lang="zh-CN" altLang="en-US" b="1" dirty="0"/>
              <a:t>到</a:t>
            </a:r>
            <a:r>
              <a:rPr lang="en-US" altLang="zh-CN" b="1" dirty="0"/>
              <a:t>A</a:t>
            </a:r>
            <a:r>
              <a:rPr lang="en-US" altLang="zh-CN" b="1" baseline="-8000" dirty="0"/>
              <a:t>2</a:t>
            </a:r>
            <a:r>
              <a:rPr lang="zh-CN" altLang="en-US" b="1" dirty="0"/>
              <a:t>的双射，则</a:t>
            </a:r>
            <a:r>
              <a:rPr lang="en-US" altLang="zh-CN" b="1" dirty="0"/>
              <a:t>f</a:t>
            </a:r>
            <a:r>
              <a:rPr lang="zh-CN" altLang="en-US" b="1" dirty="0"/>
              <a:t>是</a:t>
            </a:r>
            <a:r>
              <a:rPr lang="en-US" altLang="zh-CN" b="1" dirty="0"/>
              <a:t>&lt;A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&gt;</a:t>
            </a:r>
            <a:r>
              <a:rPr lang="zh-CN" altLang="en-US" b="1" dirty="0"/>
              <a:t>到</a:t>
            </a:r>
            <a:r>
              <a:rPr lang="en-US" altLang="zh-CN" b="1" dirty="0"/>
              <a:t>&lt;A</a:t>
            </a:r>
            <a:r>
              <a:rPr lang="en-US" altLang="zh-CN" b="1" baseline="-8000" dirty="0"/>
              <a:t>2</a:t>
            </a:r>
            <a:r>
              <a:rPr lang="en-US" altLang="zh-CN" b="1" dirty="0"/>
              <a:t>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2</a:t>
            </a:r>
            <a:r>
              <a:rPr lang="en-US" altLang="zh-CN" b="1" dirty="0"/>
              <a:t> &gt; </a:t>
            </a:r>
            <a:r>
              <a:rPr lang="zh-CN" altLang="en-US" b="1" dirty="0"/>
              <a:t>的格同构，当且仅当对任意的</a:t>
            </a:r>
            <a:r>
              <a:rPr lang="en-US" altLang="zh-CN" b="1" dirty="0" smtClean="0"/>
              <a:t>a, b</a:t>
            </a:r>
            <a:r>
              <a:rPr lang="en-US" altLang="zh-CN" b="1" dirty="0"/>
              <a:t>∈A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, a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1</a:t>
            </a:r>
            <a:r>
              <a:rPr lang="en-US" altLang="zh-CN" b="1" dirty="0"/>
              <a:t>b </a:t>
            </a:r>
            <a:r>
              <a:rPr lang="en-US" altLang="zh-CN" b="1" dirty="0">
                <a:solidFill>
                  <a:srgbClr val="000000"/>
                </a:solidFill>
                <a:sym typeface="Symbol" pitchFamily="18" charset="2"/>
              </a:rPr>
              <a:t></a:t>
            </a:r>
            <a:r>
              <a:rPr lang="en-US" altLang="zh-CN" b="1" dirty="0"/>
              <a:t>f(a)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baseline="-8000" dirty="0"/>
              <a:t>2</a:t>
            </a:r>
            <a:r>
              <a:rPr lang="en-US" altLang="zh-CN" b="1" dirty="0"/>
              <a:t> f(b)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AD5556-3B4F-4B85-8DE5-F098C2604268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501763" name="Text Box 3"/>
          <p:cNvSpPr txBox="1">
            <a:spLocks noChangeArrowheads="1"/>
          </p:cNvSpPr>
          <p:nvPr/>
        </p:nvSpPr>
        <p:spPr bwMode="auto">
          <a:xfrm>
            <a:off x="466725" y="3200400"/>
            <a:ext cx="8277225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6-2.1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 ∨, ∧&gt;</a:t>
            </a:r>
            <a:r>
              <a:rPr lang="zh-CN" altLang="en-US" b="1" dirty="0">
                <a:ea typeface="宋体" pitchFamily="2" charset="-122"/>
              </a:rPr>
              <a:t>是由格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所引导的代数系统，如对任意的</a:t>
            </a:r>
            <a:r>
              <a:rPr lang="en-US" altLang="zh-CN" b="1" dirty="0">
                <a:ea typeface="宋体" pitchFamily="2" charset="-122"/>
              </a:rPr>
              <a:t>a, b, </a:t>
            </a:r>
            <a:r>
              <a:rPr lang="en-US" altLang="zh-CN" b="1" dirty="0" err="1">
                <a:ea typeface="宋体" pitchFamily="2" charset="-122"/>
              </a:rPr>
              <a:t>c∈A</a:t>
            </a:r>
            <a:r>
              <a:rPr lang="zh-CN" altLang="en-US" b="1" dirty="0">
                <a:ea typeface="宋体" pitchFamily="2" charset="-122"/>
              </a:rPr>
              <a:t>，满足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　　</a:t>
            </a:r>
            <a:r>
              <a:rPr lang="en-US" altLang="zh-CN" b="1" dirty="0">
                <a:ea typeface="宋体" pitchFamily="2" charset="-122"/>
              </a:rPr>
              <a:t>a∨(</a:t>
            </a:r>
            <a:r>
              <a:rPr lang="en-US" altLang="zh-CN" b="1" dirty="0" err="1">
                <a:ea typeface="宋体" pitchFamily="2" charset="-122"/>
              </a:rPr>
              <a:t>b∧c</a:t>
            </a:r>
            <a:r>
              <a:rPr lang="en-US" altLang="zh-CN" b="1" dirty="0">
                <a:ea typeface="宋体" pitchFamily="2" charset="-122"/>
              </a:rPr>
              <a:t>)=(</a:t>
            </a:r>
            <a:r>
              <a:rPr lang="en-US" altLang="zh-CN" b="1" dirty="0" err="1">
                <a:ea typeface="宋体" pitchFamily="2" charset="-122"/>
              </a:rPr>
              <a:t>a∨b</a:t>
            </a:r>
            <a:r>
              <a:rPr lang="en-US" altLang="zh-CN" b="1" dirty="0">
                <a:ea typeface="宋体" pitchFamily="2" charset="-122"/>
              </a:rPr>
              <a:t>)∧(</a:t>
            </a:r>
            <a:r>
              <a:rPr lang="en-US" altLang="zh-CN" b="1" dirty="0" err="1">
                <a:ea typeface="宋体" pitchFamily="2" charset="-122"/>
              </a:rPr>
              <a:t>a∨c</a:t>
            </a:r>
            <a:r>
              <a:rPr lang="en-US" altLang="zh-CN" b="1" dirty="0">
                <a:ea typeface="宋体" pitchFamily="2" charset="-122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　    </a:t>
            </a:r>
            <a:r>
              <a:rPr lang="en-US" altLang="zh-CN" b="1" dirty="0">
                <a:ea typeface="宋体" pitchFamily="2" charset="-122"/>
              </a:rPr>
              <a:t>(</a:t>
            </a:r>
            <a:r>
              <a:rPr lang="en-US" altLang="zh-CN" b="1" dirty="0" err="1">
                <a:ea typeface="宋体" pitchFamily="2" charset="-122"/>
              </a:rPr>
              <a:t>a∧b</a:t>
            </a:r>
            <a:r>
              <a:rPr lang="en-US" altLang="zh-CN" b="1" dirty="0">
                <a:ea typeface="宋体" pitchFamily="2" charset="-122"/>
              </a:rPr>
              <a:t>)∨(</a:t>
            </a:r>
            <a:r>
              <a:rPr lang="en-US" altLang="zh-CN" b="1" dirty="0" err="1">
                <a:ea typeface="宋体" pitchFamily="2" charset="-122"/>
              </a:rPr>
              <a:t>a∧c</a:t>
            </a:r>
            <a:r>
              <a:rPr lang="en-US" altLang="zh-CN" b="1" dirty="0">
                <a:ea typeface="宋体" pitchFamily="2" charset="-122"/>
              </a:rPr>
              <a:t>)=a∧(</a:t>
            </a:r>
            <a:r>
              <a:rPr lang="en-US" altLang="zh-CN" b="1" dirty="0" err="1">
                <a:ea typeface="宋体" pitchFamily="2" charset="-122"/>
              </a:rPr>
              <a:t>b∨c</a:t>
            </a:r>
            <a:r>
              <a:rPr lang="en-US" altLang="zh-CN" b="1" dirty="0">
                <a:ea typeface="宋体" pitchFamily="2" charset="-122"/>
              </a:rPr>
              <a:t>)</a:t>
            </a: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则称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分配格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sp>
        <p:nvSpPr>
          <p:cNvPr id="501765" name="Rectangle 5"/>
          <p:cNvSpPr>
            <a:spLocks noChangeArrowheads="1"/>
          </p:cNvSpPr>
          <p:nvPr/>
        </p:nvSpPr>
        <p:spPr bwMode="auto">
          <a:xfrm>
            <a:off x="466725" y="1700213"/>
            <a:ext cx="8277225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引言   </a:t>
            </a:r>
            <a:r>
              <a:rPr lang="zh-CN" altLang="en-US" b="1">
                <a:ea typeface="宋体" pitchFamily="2" charset="-122"/>
              </a:rPr>
              <a:t>定理</a:t>
            </a:r>
            <a:r>
              <a:rPr lang="en-US" altLang="zh-CN" b="1">
                <a:ea typeface="宋体" pitchFamily="2" charset="-122"/>
              </a:rPr>
              <a:t>6-1.5 </a:t>
            </a:r>
          </a:p>
          <a:p>
            <a:pPr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(1) a∨( b∧c)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(a∨b)∧(a∨c)</a:t>
            </a:r>
          </a:p>
          <a:p>
            <a:pPr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(2) (a∧b)∨(a∧c)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 ≼</a:t>
            </a:r>
            <a:r>
              <a:rPr lang="en-US" altLang="zh-CN" b="1">
                <a:ea typeface="宋体" pitchFamily="2" charset="-122"/>
              </a:rPr>
              <a:t> a∧(b∨c) </a:t>
            </a:r>
          </a:p>
        </p:txBody>
      </p:sp>
      <p:sp>
        <p:nvSpPr>
          <p:cNvPr id="501766" name="Rectangle 6"/>
          <p:cNvSpPr>
            <a:spLocks noGrp="1" noChangeArrowheads="1"/>
          </p:cNvSpPr>
          <p:nvPr>
            <p:ph type="title"/>
          </p:nvPr>
        </p:nvSpPr>
        <p:spPr>
          <a:xfrm>
            <a:off x="990600" y="273050"/>
            <a:ext cx="7237413" cy="641350"/>
          </a:xfrm>
        </p:spPr>
        <p:txBody>
          <a:bodyPr/>
          <a:lstStyle/>
          <a:p>
            <a:r>
              <a:rPr kumimoji="1" lang="en-US" altLang="zh-CN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6-2 </a:t>
            </a:r>
            <a:r>
              <a:rPr kumimoji="1" lang="zh-CN" altLang="en-US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分配格</a:t>
            </a:r>
          </a:p>
        </p:txBody>
      </p:sp>
      <p:sp>
        <p:nvSpPr>
          <p:cNvPr id="501769" name="Text Box 9"/>
          <p:cNvSpPr txBox="1">
            <a:spLocks noChangeArrowheads="1"/>
          </p:cNvSpPr>
          <p:nvPr/>
        </p:nvSpPr>
        <p:spPr bwMode="auto">
          <a:xfrm>
            <a:off x="466725" y="981075"/>
            <a:ext cx="8277225" cy="725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3200" b="1">
                <a:latin typeface="楷体_GB2312" pitchFamily="49" charset="-122"/>
              </a:rPr>
              <a:t>1</a:t>
            </a:r>
            <a:r>
              <a:rPr lang="zh-CN" altLang="en-US" sz="3200" b="1">
                <a:latin typeface="楷体_GB2312" pitchFamily="49" charset="-122"/>
              </a:rPr>
              <a:t>、分配格定义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01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63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DF5A228-2665-4773-B708-264A5458FEA5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503810" name="Text Box 2"/>
          <p:cNvSpPr txBox="1">
            <a:spLocks noChangeArrowheads="1"/>
          </p:cNvSpPr>
          <p:nvPr/>
        </p:nvSpPr>
        <p:spPr bwMode="auto">
          <a:xfrm>
            <a:off x="466725" y="4149080"/>
            <a:ext cx="6626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 dirty="0">
                <a:ea typeface="宋体" pitchFamily="2" charset="-122"/>
              </a:rPr>
              <a:t>判断是否为分配格，是考察格中的任意元素均满足分配律，才能说这个格是分配格</a:t>
            </a:r>
          </a:p>
        </p:txBody>
      </p:sp>
      <p:sp>
        <p:nvSpPr>
          <p:cNvPr id="503832" name="Text Box 24"/>
          <p:cNvSpPr txBox="1">
            <a:spLocks noChangeArrowheads="1"/>
          </p:cNvSpPr>
          <p:nvPr/>
        </p:nvSpPr>
        <p:spPr bwMode="auto">
          <a:xfrm>
            <a:off x="466725" y="1219200"/>
            <a:ext cx="6985000" cy="2973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(1)c∧(</a:t>
            </a:r>
            <a:r>
              <a:rPr lang="en-US" altLang="zh-CN" b="1" dirty="0" err="1">
                <a:ea typeface="宋体" pitchFamily="2" charset="-122"/>
              </a:rPr>
              <a:t>b∨d</a:t>
            </a:r>
            <a:r>
              <a:rPr lang="en-US" altLang="zh-CN" b="1" dirty="0">
                <a:ea typeface="宋体" pitchFamily="2" charset="-122"/>
              </a:rPr>
              <a:t>)=</a:t>
            </a:r>
            <a:r>
              <a:rPr lang="en-US" altLang="zh-CN" b="1" dirty="0" err="1">
                <a:ea typeface="宋体" pitchFamily="2" charset="-122"/>
              </a:rPr>
              <a:t>c∧a</a:t>
            </a:r>
            <a:r>
              <a:rPr lang="en-US" altLang="zh-CN" b="1" dirty="0">
                <a:ea typeface="宋体" pitchFamily="2" charset="-122"/>
              </a:rPr>
              <a:t>=c</a:t>
            </a:r>
            <a:r>
              <a:rPr lang="zh-CN" altLang="en-US" b="1" dirty="0" smtClean="0">
                <a:ea typeface="宋体" pitchFamily="2" charset="-122"/>
              </a:rPr>
              <a:t>，</a:t>
            </a:r>
            <a:endParaRPr lang="en-US" altLang="zh-CN" b="1" dirty="0" smtClean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ea typeface="宋体" pitchFamily="2" charset="-122"/>
              </a:rPr>
              <a:t>(</a:t>
            </a:r>
            <a:r>
              <a:rPr lang="en-US" altLang="zh-CN" b="1" dirty="0" err="1">
                <a:ea typeface="宋体" pitchFamily="2" charset="-122"/>
              </a:rPr>
              <a:t>c∧b</a:t>
            </a:r>
            <a:r>
              <a:rPr lang="en-US" altLang="zh-CN" b="1" dirty="0">
                <a:ea typeface="宋体" pitchFamily="2" charset="-122"/>
              </a:rPr>
              <a:t>)∨(</a:t>
            </a:r>
            <a:r>
              <a:rPr lang="en-US" altLang="zh-CN" b="1" dirty="0" err="1">
                <a:ea typeface="宋体" pitchFamily="2" charset="-122"/>
              </a:rPr>
              <a:t>c∧d</a:t>
            </a:r>
            <a:r>
              <a:rPr lang="en-US" altLang="zh-CN" b="1" dirty="0">
                <a:ea typeface="宋体" pitchFamily="2" charset="-122"/>
              </a:rPr>
              <a:t>)=</a:t>
            </a:r>
            <a:r>
              <a:rPr lang="en-US" altLang="zh-CN" b="1" dirty="0" err="1">
                <a:ea typeface="宋体" pitchFamily="2" charset="-122"/>
              </a:rPr>
              <a:t>e∨d</a:t>
            </a:r>
            <a:r>
              <a:rPr lang="en-US" altLang="zh-CN" b="1" dirty="0">
                <a:ea typeface="宋体" pitchFamily="2" charset="-122"/>
              </a:rPr>
              <a:t>=d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∴ c∧(</a:t>
            </a:r>
            <a:r>
              <a:rPr lang="en-US" altLang="zh-CN" b="1" dirty="0" err="1">
                <a:ea typeface="宋体" pitchFamily="2" charset="-122"/>
              </a:rPr>
              <a:t>b∨d</a:t>
            </a:r>
            <a:r>
              <a:rPr lang="en-US" altLang="zh-CN" b="1" dirty="0">
                <a:ea typeface="宋体" pitchFamily="2" charset="-122"/>
              </a:rPr>
              <a:t>)≠(</a:t>
            </a:r>
            <a:r>
              <a:rPr lang="en-US" altLang="zh-CN" b="1" dirty="0" err="1">
                <a:ea typeface="宋体" pitchFamily="2" charset="-122"/>
              </a:rPr>
              <a:t>c∧b</a:t>
            </a:r>
            <a:r>
              <a:rPr lang="en-US" altLang="zh-CN" b="1" dirty="0">
                <a:ea typeface="宋体" pitchFamily="2" charset="-122"/>
              </a:rPr>
              <a:t>)∨(</a:t>
            </a:r>
            <a:r>
              <a:rPr lang="en-US" altLang="zh-CN" b="1" dirty="0" err="1">
                <a:ea typeface="宋体" pitchFamily="2" charset="-122"/>
              </a:rPr>
              <a:t>c∧d</a:t>
            </a:r>
            <a:r>
              <a:rPr lang="en-US" altLang="zh-CN" b="1" dirty="0">
                <a:ea typeface="宋体" pitchFamily="2" charset="-122"/>
              </a:rPr>
              <a:t>)</a:t>
            </a:r>
            <a:r>
              <a:rPr lang="zh-CN" altLang="en-US" b="1" dirty="0">
                <a:ea typeface="宋体" pitchFamily="2" charset="-122"/>
              </a:rPr>
              <a:t>，该格不为分配格。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(2)b∧(</a:t>
            </a:r>
            <a:r>
              <a:rPr lang="en-US" altLang="zh-CN" b="1" dirty="0" err="1">
                <a:ea typeface="宋体" pitchFamily="2" charset="-122"/>
              </a:rPr>
              <a:t>c∨d</a:t>
            </a:r>
            <a:r>
              <a:rPr lang="en-US" altLang="zh-CN" b="1" dirty="0">
                <a:ea typeface="宋体" pitchFamily="2" charset="-122"/>
              </a:rPr>
              <a:t>)=</a:t>
            </a:r>
            <a:r>
              <a:rPr lang="en-US" altLang="zh-CN" b="1" dirty="0" err="1">
                <a:ea typeface="宋体" pitchFamily="2" charset="-122"/>
              </a:rPr>
              <a:t>b∧a</a:t>
            </a:r>
            <a:r>
              <a:rPr lang="en-US" altLang="zh-CN" b="1" dirty="0">
                <a:ea typeface="宋体" pitchFamily="2" charset="-122"/>
              </a:rPr>
              <a:t>=b</a:t>
            </a:r>
            <a:r>
              <a:rPr lang="zh-CN" altLang="en-US" b="1" dirty="0" smtClean="0">
                <a:ea typeface="宋体" pitchFamily="2" charset="-122"/>
              </a:rPr>
              <a:t>，</a:t>
            </a:r>
            <a:endParaRPr lang="en-US" altLang="zh-CN" b="1" dirty="0" smtClean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b="1" dirty="0" smtClean="0">
                <a:ea typeface="宋体" pitchFamily="2" charset="-122"/>
              </a:rPr>
              <a:t>(</a:t>
            </a:r>
            <a:r>
              <a:rPr lang="en-US" altLang="zh-CN" b="1" dirty="0" err="1">
                <a:ea typeface="宋体" pitchFamily="2" charset="-122"/>
              </a:rPr>
              <a:t>b∧c</a:t>
            </a:r>
            <a:r>
              <a:rPr lang="en-US" altLang="zh-CN" b="1" dirty="0">
                <a:ea typeface="宋体" pitchFamily="2" charset="-122"/>
              </a:rPr>
              <a:t>)∨(</a:t>
            </a:r>
            <a:r>
              <a:rPr lang="en-US" altLang="zh-CN" b="1" dirty="0" err="1">
                <a:ea typeface="宋体" pitchFamily="2" charset="-122"/>
              </a:rPr>
              <a:t>b∧d</a:t>
            </a:r>
            <a:r>
              <a:rPr lang="en-US" altLang="zh-CN" b="1" dirty="0">
                <a:ea typeface="宋体" pitchFamily="2" charset="-122"/>
              </a:rPr>
              <a:t>)=</a:t>
            </a:r>
            <a:r>
              <a:rPr lang="en-US" altLang="zh-CN" b="1" dirty="0" err="1">
                <a:ea typeface="宋体" pitchFamily="2" charset="-122"/>
              </a:rPr>
              <a:t>e∨e</a:t>
            </a:r>
            <a:r>
              <a:rPr lang="en-US" altLang="zh-CN" b="1" dirty="0">
                <a:ea typeface="宋体" pitchFamily="2" charset="-122"/>
              </a:rPr>
              <a:t>=e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∴ b∧(</a:t>
            </a:r>
            <a:r>
              <a:rPr lang="en-US" altLang="zh-CN" b="1" dirty="0" err="1">
                <a:ea typeface="宋体" pitchFamily="2" charset="-122"/>
              </a:rPr>
              <a:t>c∨d</a:t>
            </a:r>
            <a:r>
              <a:rPr lang="en-US" altLang="zh-CN" b="1" dirty="0">
                <a:ea typeface="宋体" pitchFamily="2" charset="-122"/>
              </a:rPr>
              <a:t>)≠(</a:t>
            </a:r>
            <a:r>
              <a:rPr lang="en-US" altLang="zh-CN" b="1" dirty="0" err="1">
                <a:ea typeface="宋体" pitchFamily="2" charset="-122"/>
              </a:rPr>
              <a:t>b∧c</a:t>
            </a:r>
            <a:r>
              <a:rPr lang="en-US" altLang="zh-CN" b="1" dirty="0">
                <a:ea typeface="宋体" pitchFamily="2" charset="-122"/>
              </a:rPr>
              <a:t>)∨(</a:t>
            </a:r>
            <a:r>
              <a:rPr lang="en-US" altLang="zh-CN" b="1" dirty="0" err="1">
                <a:ea typeface="宋体" pitchFamily="2" charset="-122"/>
              </a:rPr>
              <a:t>b∧d</a:t>
            </a:r>
            <a:r>
              <a:rPr lang="en-US" altLang="zh-CN" b="1" dirty="0">
                <a:ea typeface="宋体" pitchFamily="2" charset="-122"/>
              </a:rPr>
              <a:t>)</a:t>
            </a:r>
            <a:r>
              <a:rPr lang="zh-CN" altLang="en-US" b="1" dirty="0">
                <a:ea typeface="宋体" pitchFamily="2" charset="-122"/>
              </a:rPr>
              <a:t>，该格不为分配格。</a:t>
            </a:r>
          </a:p>
        </p:txBody>
      </p:sp>
      <p:grpSp>
        <p:nvGrpSpPr>
          <p:cNvPr id="503850" name="Group 42"/>
          <p:cNvGrpSpPr>
            <a:grpSpLocks/>
          </p:cNvGrpSpPr>
          <p:nvPr/>
        </p:nvGrpSpPr>
        <p:grpSpPr bwMode="auto">
          <a:xfrm>
            <a:off x="7092950" y="2589213"/>
            <a:ext cx="1943100" cy="1776412"/>
            <a:chOff x="4423" y="1416"/>
            <a:chExt cx="1224" cy="1119"/>
          </a:xfrm>
        </p:grpSpPr>
        <p:sp>
          <p:nvSpPr>
            <p:cNvPr id="503814" name="Line 6"/>
            <p:cNvSpPr>
              <a:spLocks noChangeShapeType="1"/>
            </p:cNvSpPr>
            <p:nvPr/>
          </p:nvSpPr>
          <p:spPr bwMode="auto">
            <a:xfrm flipH="1">
              <a:off x="4639" y="1599"/>
              <a:ext cx="377" cy="3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15" name="Line 7"/>
            <p:cNvSpPr>
              <a:spLocks noChangeShapeType="1"/>
            </p:cNvSpPr>
            <p:nvPr/>
          </p:nvSpPr>
          <p:spPr bwMode="auto">
            <a:xfrm flipH="1">
              <a:off x="5037" y="1949"/>
              <a:ext cx="377" cy="3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16" name="Line 8"/>
            <p:cNvSpPr>
              <a:spLocks noChangeShapeType="1"/>
            </p:cNvSpPr>
            <p:nvPr/>
          </p:nvSpPr>
          <p:spPr bwMode="auto">
            <a:xfrm rot="5400000" flipH="1">
              <a:off x="5033" y="1575"/>
              <a:ext cx="347" cy="3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17" name="Line 9"/>
            <p:cNvSpPr>
              <a:spLocks noChangeShapeType="1"/>
            </p:cNvSpPr>
            <p:nvPr/>
          </p:nvSpPr>
          <p:spPr bwMode="auto">
            <a:xfrm rot="5400000" flipH="1">
              <a:off x="4654" y="1947"/>
              <a:ext cx="347" cy="37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18" name="Line 10"/>
            <p:cNvSpPr>
              <a:spLocks noChangeShapeType="1"/>
            </p:cNvSpPr>
            <p:nvPr/>
          </p:nvSpPr>
          <p:spPr bwMode="auto">
            <a:xfrm>
              <a:off x="5023" y="1585"/>
              <a:ext cx="0" cy="73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19" name="Text Box 11"/>
            <p:cNvSpPr txBox="1">
              <a:spLocks noChangeArrowheads="1"/>
            </p:cNvSpPr>
            <p:nvPr/>
          </p:nvSpPr>
          <p:spPr bwMode="auto">
            <a:xfrm>
              <a:off x="4423" y="1797"/>
              <a:ext cx="12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b       c          d</a:t>
              </a:r>
            </a:p>
          </p:txBody>
        </p:sp>
        <p:sp>
          <p:nvSpPr>
            <p:cNvPr id="503820" name="Text Box 12"/>
            <p:cNvSpPr txBox="1">
              <a:spLocks noChangeArrowheads="1"/>
            </p:cNvSpPr>
            <p:nvPr/>
          </p:nvSpPr>
          <p:spPr bwMode="auto">
            <a:xfrm>
              <a:off x="4908" y="2247"/>
              <a:ext cx="33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e</a:t>
              </a:r>
            </a:p>
          </p:txBody>
        </p:sp>
        <p:sp>
          <p:nvSpPr>
            <p:cNvPr id="503821" name="Text Box 13"/>
            <p:cNvSpPr txBox="1">
              <a:spLocks noChangeArrowheads="1"/>
            </p:cNvSpPr>
            <p:nvPr/>
          </p:nvSpPr>
          <p:spPr bwMode="auto">
            <a:xfrm>
              <a:off x="4821" y="1416"/>
              <a:ext cx="25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a</a:t>
              </a:r>
            </a:p>
          </p:txBody>
        </p:sp>
        <p:sp>
          <p:nvSpPr>
            <p:cNvPr id="503838" name="Oval 30"/>
            <p:cNvSpPr>
              <a:spLocks noChangeArrowheads="1"/>
            </p:cNvSpPr>
            <p:nvPr/>
          </p:nvSpPr>
          <p:spPr bwMode="auto">
            <a:xfrm>
              <a:off x="5003" y="1934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39" name="Oval 31"/>
            <p:cNvSpPr>
              <a:spLocks noChangeArrowheads="1"/>
            </p:cNvSpPr>
            <p:nvPr/>
          </p:nvSpPr>
          <p:spPr bwMode="auto">
            <a:xfrm>
              <a:off x="4604" y="1934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0" name="Oval 32"/>
            <p:cNvSpPr>
              <a:spLocks noChangeArrowheads="1"/>
            </p:cNvSpPr>
            <p:nvPr/>
          </p:nvSpPr>
          <p:spPr bwMode="auto">
            <a:xfrm>
              <a:off x="5003" y="1570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1" name="Oval 33"/>
            <p:cNvSpPr>
              <a:spLocks noChangeArrowheads="1"/>
            </p:cNvSpPr>
            <p:nvPr/>
          </p:nvSpPr>
          <p:spPr bwMode="auto">
            <a:xfrm>
              <a:off x="5375" y="1924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2" name="Oval 34"/>
            <p:cNvSpPr>
              <a:spLocks noChangeArrowheads="1"/>
            </p:cNvSpPr>
            <p:nvPr/>
          </p:nvSpPr>
          <p:spPr bwMode="auto">
            <a:xfrm>
              <a:off x="5003" y="2287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03849" name="Group 41"/>
          <p:cNvGrpSpPr>
            <a:grpSpLocks/>
          </p:cNvGrpSpPr>
          <p:nvPr/>
        </p:nvGrpSpPr>
        <p:grpSpPr bwMode="auto">
          <a:xfrm>
            <a:off x="7019925" y="601663"/>
            <a:ext cx="1857375" cy="2184400"/>
            <a:chOff x="4368" y="119"/>
            <a:chExt cx="1170" cy="1376"/>
          </a:xfrm>
        </p:grpSpPr>
        <p:sp>
          <p:nvSpPr>
            <p:cNvPr id="503823" name="Line 15"/>
            <p:cNvSpPr>
              <a:spLocks noChangeShapeType="1"/>
            </p:cNvSpPr>
            <p:nvPr/>
          </p:nvSpPr>
          <p:spPr bwMode="auto">
            <a:xfrm flipH="1">
              <a:off x="4570" y="323"/>
              <a:ext cx="407" cy="24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24" name="Line 16"/>
            <p:cNvSpPr>
              <a:spLocks noChangeShapeType="1"/>
            </p:cNvSpPr>
            <p:nvPr/>
          </p:nvSpPr>
          <p:spPr bwMode="auto">
            <a:xfrm>
              <a:off x="4570" y="567"/>
              <a:ext cx="447" cy="69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25" name="Line 17"/>
            <p:cNvSpPr>
              <a:spLocks noChangeShapeType="1"/>
            </p:cNvSpPr>
            <p:nvPr/>
          </p:nvSpPr>
          <p:spPr bwMode="auto">
            <a:xfrm>
              <a:off x="4977" y="323"/>
              <a:ext cx="448" cy="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26" name="Line 18"/>
            <p:cNvSpPr>
              <a:spLocks noChangeShapeType="1"/>
            </p:cNvSpPr>
            <p:nvPr/>
          </p:nvSpPr>
          <p:spPr bwMode="auto">
            <a:xfrm>
              <a:off x="5425" y="608"/>
              <a:ext cx="0" cy="36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27" name="Line 19"/>
            <p:cNvSpPr>
              <a:spLocks noChangeShapeType="1"/>
            </p:cNvSpPr>
            <p:nvPr/>
          </p:nvSpPr>
          <p:spPr bwMode="auto">
            <a:xfrm flipH="1">
              <a:off x="5017" y="975"/>
              <a:ext cx="408" cy="28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03828" name="Text Box 20"/>
            <p:cNvSpPr txBox="1">
              <a:spLocks noChangeArrowheads="1"/>
            </p:cNvSpPr>
            <p:nvPr/>
          </p:nvSpPr>
          <p:spPr bwMode="auto">
            <a:xfrm>
              <a:off x="4773" y="119"/>
              <a:ext cx="28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</a:t>
              </a:r>
            </a:p>
          </p:txBody>
        </p:sp>
        <p:sp>
          <p:nvSpPr>
            <p:cNvPr id="503829" name="Text Box 21"/>
            <p:cNvSpPr txBox="1">
              <a:spLocks noChangeArrowheads="1"/>
            </p:cNvSpPr>
            <p:nvPr/>
          </p:nvSpPr>
          <p:spPr bwMode="auto">
            <a:xfrm>
              <a:off x="4368" y="443"/>
              <a:ext cx="114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b               c</a:t>
              </a:r>
            </a:p>
          </p:txBody>
        </p:sp>
        <p:sp>
          <p:nvSpPr>
            <p:cNvPr id="503830" name="Text Box 22"/>
            <p:cNvSpPr txBox="1">
              <a:spLocks noChangeArrowheads="1"/>
            </p:cNvSpPr>
            <p:nvPr/>
          </p:nvSpPr>
          <p:spPr bwMode="auto">
            <a:xfrm>
              <a:off x="5205" y="790"/>
              <a:ext cx="33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d</a:t>
              </a:r>
            </a:p>
          </p:txBody>
        </p:sp>
        <p:sp>
          <p:nvSpPr>
            <p:cNvPr id="503831" name="Text Box 23"/>
            <p:cNvSpPr txBox="1">
              <a:spLocks noChangeArrowheads="1"/>
            </p:cNvSpPr>
            <p:nvPr/>
          </p:nvSpPr>
          <p:spPr bwMode="auto">
            <a:xfrm>
              <a:off x="4921" y="1207"/>
              <a:ext cx="2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zh-CN">
                  <a:ea typeface="宋体" pitchFamily="2" charset="-122"/>
                </a:rPr>
                <a:t>e</a:t>
              </a:r>
            </a:p>
          </p:txBody>
        </p:sp>
        <p:sp>
          <p:nvSpPr>
            <p:cNvPr id="503843" name="Oval 35"/>
            <p:cNvSpPr>
              <a:spLocks noChangeArrowheads="1"/>
            </p:cNvSpPr>
            <p:nvPr/>
          </p:nvSpPr>
          <p:spPr bwMode="auto">
            <a:xfrm>
              <a:off x="5003" y="1244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5" name="Oval 37"/>
            <p:cNvSpPr>
              <a:spLocks noChangeArrowheads="1"/>
            </p:cNvSpPr>
            <p:nvPr/>
          </p:nvSpPr>
          <p:spPr bwMode="auto">
            <a:xfrm>
              <a:off x="5402" y="963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6" name="Oval 38"/>
            <p:cNvSpPr>
              <a:spLocks noChangeArrowheads="1"/>
            </p:cNvSpPr>
            <p:nvPr/>
          </p:nvSpPr>
          <p:spPr bwMode="auto">
            <a:xfrm>
              <a:off x="5402" y="590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7" name="Oval 39"/>
            <p:cNvSpPr>
              <a:spLocks noChangeArrowheads="1"/>
            </p:cNvSpPr>
            <p:nvPr/>
          </p:nvSpPr>
          <p:spPr bwMode="auto">
            <a:xfrm>
              <a:off x="4958" y="301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3848" name="Oval 40"/>
            <p:cNvSpPr>
              <a:spLocks noChangeArrowheads="1"/>
            </p:cNvSpPr>
            <p:nvPr/>
          </p:nvSpPr>
          <p:spPr bwMode="auto">
            <a:xfrm>
              <a:off x="4558" y="554"/>
              <a:ext cx="45" cy="45"/>
            </a:xfrm>
            <a:prstGeom prst="ellipse">
              <a:avLst/>
            </a:prstGeom>
            <a:solidFill>
              <a:schemeClr val="accent1"/>
            </a:solidFill>
            <a:ln w="254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3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38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03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038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03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038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038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038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038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038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038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38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3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3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38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B3643C6-EB13-4594-BC0D-A6F71A667FDB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505858" name="Text Box 2"/>
          <p:cNvSpPr txBox="1">
            <a:spLocks noChangeArrowheads="1"/>
          </p:cNvSpPr>
          <p:nvPr/>
        </p:nvSpPr>
        <p:spPr bwMode="auto">
          <a:xfrm>
            <a:off x="466725" y="1168400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6-2.1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如果在一个格中交运算对于并运算可分配，则并运算对交运算也一定是可分配的。即：</a:t>
            </a:r>
          </a:p>
          <a:p>
            <a:pPr>
              <a:lnSpc>
                <a:spcPct val="130000"/>
              </a:lnSpc>
            </a:pPr>
            <a:r>
              <a:rPr lang="en-US" altLang="zh-CN" b="1">
                <a:ea typeface="宋体" pitchFamily="2" charset="-122"/>
              </a:rPr>
              <a:t>a∨(b∧c)=(a∨b)∧(a∨c) 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 </a:t>
            </a:r>
            <a:r>
              <a:rPr lang="en-US" altLang="zh-CN" b="1">
                <a:ea typeface="宋体" pitchFamily="2" charset="-122"/>
              </a:rPr>
              <a:t>a∧(b∨c)</a:t>
            </a:r>
            <a:r>
              <a:rPr lang="zh-CN" altLang="en-US" b="1">
                <a:ea typeface="宋体" pitchFamily="2" charset="-122"/>
              </a:rPr>
              <a:t>＝</a:t>
            </a:r>
            <a:r>
              <a:rPr lang="en-US" altLang="zh-CN" b="1">
                <a:ea typeface="宋体" pitchFamily="2" charset="-122"/>
              </a:rPr>
              <a:t>(a∧b)∨(a∧c)</a:t>
            </a:r>
          </a:p>
        </p:txBody>
      </p:sp>
      <p:sp>
        <p:nvSpPr>
          <p:cNvPr id="505861" name="Text Box 5"/>
          <p:cNvSpPr txBox="1">
            <a:spLocks noChangeArrowheads="1"/>
          </p:cNvSpPr>
          <p:nvPr/>
        </p:nvSpPr>
        <p:spPr bwMode="auto">
          <a:xfrm>
            <a:off x="466725" y="2695575"/>
            <a:ext cx="8277225" cy="566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6-2.2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每个链是分配格。</a:t>
            </a:r>
          </a:p>
        </p:txBody>
      </p:sp>
      <p:sp>
        <p:nvSpPr>
          <p:cNvPr id="505864" name="Rectangle 8"/>
          <p:cNvSpPr>
            <a:spLocks noGrp="1" noChangeArrowheads="1"/>
          </p:cNvSpPr>
          <p:nvPr>
            <p:ph type="title"/>
          </p:nvPr>
        </p:nvSpPr>
        <p:spPr>
          <a:xfrm>
            <a:off x="990600" y="334963"/>
            <a:ext cx="7237413" cy="579437"/>
          </a:xfrm>
        </p:spPr>
        <p:txBody>
          <a:bodyPr/>
          <a:lstStyle/>
          <a:p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、分配格的性质</a:t>
            </a:r>
          </a:p>
        </p:txBody>
      </p:sp>
      <p:sp>
        <p:nvSpPr>
          <p:cNvPr id="505866" name="Text Box 10"/>
          <p:cNvSpPr txBox="1">
            <a:spLocks noChangeArrowheads="1"/>
          </p:cNvSpPr>
          <p:nvPr/>
        </p:nvSpPr>
        <p:spPr bwMode="auto">
          <a:xfrm>
            <a:off x="468313" y="3382963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6-2.3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是一个分配格，那么，对于任意的</a:t>
            </a:r>
            <a:r>
              <a:rPr lang="en-US" altLang="zh-CN" b="1">
                <a:ea typeface="宋体" pitchFamily="2" charset="-122"/>
              </a:rPr>
              <a:t>a, b, c∈A</a:t>
            </a:r>
            <a:r>
              <a:rPr lang="zh-CN" altLang="en-US" b="1">
                <a:ea typeface="宋体" pitchFamily="2" charset="-122"/>
              </a:rPr>
              <a:t>，如果有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                  </a:t>
            </a:r>
            <a:r>
              <a:rPr lang="en-US" altLang="zh-CN" b="1">
                <a:ea typeface="宋体" pitchFamily="2" charset="-122"/>
              </a:rPr>
              <a:t>a ∧ b=a ∧ c  </a:t>
            </a:r>
            <a:r>
              <a:rPr lang="zh-CN" altLang="en-US" b="1">
                <a:ea typeface="宋体" pitchFamily="2" charset="-122"/>
              </a:rPr>
              <a:t>和  </a:t>
            </a:r>
            <a:r>
              <a:rPr lang="en-US" altLang="zh-CN" b="1">
                <a:ea typeface="宋体" pitchFamily="2" charset="-122"/>
              </a:rPr>
              <a:t>a ∨ b=a ∨ c   </a:t>
            </a:r>
            <a:r>
              <a:rPr lang="zh-CN" altLang="en-US" b="1">
                <a:ea typeface="宋体" pitchFamily="2" charset="-122"/>
              </a:rPr>
              <a:t>成立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则必有          </a:t>
            </a:r>
            <a:r>
              <a:rPr lang="en-US" altLang="zh-CN" b="1">
                <a:ea typeface="宋体" pitchFamily="2" charset="-122"/>
              </a:rPr>
              <a:t>b = c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61" grpId="0" autoUpdateAnimBg="0"/>
      <p:bldP spid="50586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4291295-6526-4ECD-A5AB-CC72378A4416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506882" name="Text Box 2"/>
          <p:cNvSpPr txBox="1">
            <a:spLocks noChangeArrowheads="1"/>
          </p:cNvSpPr>
          <p:nvPr/>
        </p:nvSpPr>
        <p:spPr bwMode="auto">
          <a:xfrm>
            <a:off x="466725" y="1196975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6-2.2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是一个格，由它诱导的代数系统为</a:t>
            </a:r>
            <a:r>
              <a:rPr lang="en-US" altLang="zh-CN" b="1" dirty="0">
                <a:ea typeface="宋体" pitchFamily="2" charset="-122"/>
              </a:rPr>
              <a:t>&lt;A,∨,∧&gt;</a:t>
            </a:r>
            <a:r>
              <a:rPr lang="zh-CN" altLang="en-US" b="1" dirty="0">
                <a:ea typeface="宋体" pitchFamily="2" charset="-122"/>
              </a:rPr>
              <a:t>，如果对于任意的</a:t>
            </a:r>
            <a:r>
              <a:rPr lang="en-US" altLang="zh-CN" b="1" dirty="0">
                <a:ea typeface="宋体" pitchFamily="2" charset="-122"/>
              </a:rPr>
              <a:t>a, b, </a:t>
            </a:r>
            <a:r>
              <a:rPr lang="en-US" altLang="zh-CN" b="1" dirty="0" err="1">
                <a:ea typeface="宋体" pitchFamily="2" charset="-122"/>
              </a:rPr>
              <a:t>c∈A</a:t>
            </a:r>
            <a:r>
              <a:rPr lang="zh-CN" altLang="en-US" b="1" dirty="0">
                <a:ea typeface="宋体" pitchFamily="2" charset="-122"/>
              </a:rPr>
              <a:t>，当</a:t>
            </a:r>
            <a:r>
              <a:rPr lang="en-US" altLang="zh-CN" b="1" dirty="0" err="1">
                <a:ea typeface="宋体" pitchFamily="2" charset="-122"/>
              </a:rPr>
              <a:t>b</a:t>
            </a:r>
            <a:r>
              <a:rPr lang="en-US" altLang="zh-CN" b="1" dirty="0" err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 err="1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时，有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CC3300"/>
                </a:solidFill>
                <a:ea typeface="宋体" pitchFamily="2" charset="-122"/>
              </a:rPr>
              <a:t>                    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a ∧(</a:t>
            </a:r>
            <a:r>
              <a:rPr lang="en-US" altLang="zh-CN" b="1" dirty="0" err="1">
                <a:solidFill>
                  <a:schemeClr val="hlink"/>
                </a:solidFill>
                <a:ea typeface="宋体" pitchFamily="2" charset="-122"/>
              </a:rPr>
              <a:t>b∨c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) = b∨(a ∧ c)</a:t>
            </a:r>
            <a:r>
              <a:rPr lang="en-US" altLang="zh-CN" b="1" dirty="0">
                <a:solidFill>
                  <a:srgbClr val="CC3300"/>
                </a:solidFill>
                <a:ea typeface="宋体" pitchFamily="2" charset="-122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则称</a:t>
            </a:r>
            <a:r>
              <a:rPr lang="en-US" altLang="zh-CN" b="1" dirty="0">
                <a:ea typeface="宋体" pitchFamily="2" charset="-122"/>
              </a:rPr>
              <a:t>&lt;A, 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模格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sp>
        <p:nvSpPr>
          <p:cNvPr id="506886" name="Text Box 6"/>
          <p:cNvSpPr txBox="1">
            <a:spLocks noChangeArrowheads="1"/>
          </p:cNvSpPr>
          <p:nvPr/>
        </p:nvSpPr>
        <p:spPr bwMode="auto">
          <a:xfrm>
            <a:off x="466725" y="3190875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由于格满足交换律，所以上述定义表达式可写成</a:t>
            </a:r>
          </a:p>
          <a:p>
            <a:pPr>
              <a:lnSpc>
                <a:spcPct val="130000"/>
              </a:lnSpc>
              <a:buClr>
                <a:schemeClr val="hlink"/>
              </a:buClr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         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(b∨c) ∧a= b∨(c∧a)                b c a</a:t>
            </a:r>
          </a:p>
        </p:txBody>
      </p:sp>
      <p:sp>
        <p:nvSpPr>
          <p:cNvPr id="506888" name="Rectangle 8"/>
          <p:cNvSpPr>
            <a:spLocks noGrp="1" noChangeArrowheads="1"/>
          </p:cNvSpPr>
          <p:nvPr>
            <p:ph type="title"/>
          </p:nvPr>
        </p:nvSpPr>
        <p:spPr>
          <a:xfrm>
            <a:off x="990600" y="334963"/>
            <a:ext cx="7237413" cy="579437"/>
          </a:xfrm>
        </p:spPr>
        <p:txBody>
          <a:bodyPr/>
          <a:lstStyle/>
          <a:p>
            <a:r>
              <a:rPr kumimoji="1" lang="en-US" altLang="zh-CN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、模格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/>
          </p:nvPr>
        </p:nvSpPr>
        <p:spPr>
          <a:xfrm>
            <a:off x="471239" y="4344712"/>
            <a:ext cx="8277225" cy="520848"/>
          </a:xfrm>
          <a:noFill/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400" dirty="0">
                <a:solidFill>
                  <a:schemeClr val="hlink"/>
                </a:solidFill>
                <a:latin typeface="+mn-lt"/>
              </a:rPr>
              <a:t>定理</a:t>
            </a:r>
            <a:r>
              <a:rPr kumimoji="1" lang="en-US" altLang="zh-CN" sz="2400" dirty="0">
                <a:solidFill>
                  <a:schemeClr val="hlink"/>
                </a:solidFill>
                <a:latin typeface="+mn-lt"/>
              </a:rPr>
              <a:t>6-2.6</a:t>
            </a:r>
            <a:r>
              <a:rPr kumimoji="1" lang="en-US" altLang="zh-CN" sz="2400" dirty="0">
                <a:solidFill>
                  <a:srgbClr val="0033CC"/>
                </a:solidFill>
                <a:latin typeface="+mn-lt"/>
              </a:rPr>
              <a:t>   </a:t>
            </a:r>
            <a:r>
              <a:rPr kumimoji="1" lang="zh-CN" altLang="en-US" sz="2400" dirty="0">
                <a:solidFill>
                  <a:schemeClr val="tx1"/>
                </a:solidFill>
              </a:rPr>
              <a:t>分配格是模格</a:t>
            </a:r>
            <a:r>
              <a:rPr kumimoji="1" lang="zh-CN" altLang="en-US" sz="2400" dirty="0" smtClean="0">
                <a:solidFill>
                  <a:schemeClr val="tx1"/>
                </a:solidFill>
              </a:rPr>
              <a:t>。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6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886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1D7AF9-813B-44EE-9B9A-ADDDB688032D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577538" name="Text Box 2"/>
          <p:cNvSpPr txBox="1">
            <a:spLocks noChangeArrowheads="1"/>
          </p:cNvSpPr>
          <p:nvPr/>
        </p:nvSpPr>
        <p:spPr bwMode="auto">
          <a:xfrm>
            <a:off x="466725" y="1196975"/>
            <a:ext cx="8277225" cy="214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b="1">
                <a:latin typeface="楷体_GB2312" pitchFamily="49" charset="-122"/>
              </a:rPr>
              <a:t>1.</a:t>
            </a:r>
            <a:r>
              <a:rPr lang="zh-CN" altLang="en-US" sz="3200" b="1">
                <a:latin typeface="楷体_GB2312" pitchFamily="49" charset="-122"/>
              </a:rPr>
              <a:t>全下界、全上界、有界格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6-3.1-2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是一个格，如果存在元素</a:t>
            </a:r>
            <a:r>
              <a:rPr lang="en-US" altLang="zh-CN" b="1">
                <a:ea typeface="宋体" pitchFamily="2" charset="-122"/>
              </a:rPr>
              <a:t>a∈A</a:t>
            </a:r>
            <a:r>
              <a:rPr lang="zh-CN" altLang="en-US" b="1">
                <a:ea typeface="宋体" pitchFamily="2" charset="-122"/>
              </a:rPr>
              <a:t>，对于任意的</a:t>
            </a:r>
            <a:r>
              <a:rPr lang="en-US" altLang="zh-CN" b="1">
                <a:ea typeface="宋体" pitchFamily="2" charset="-122"/>
              </a:rPr>
              <a:t>x∈A</a:t>
            </a:r>
            <a:r>
              <a:rPr lang="zh-CN" altLang="en-US" b="1">
                <a:ea typeface="宋体" pitchFamily="2" charset="-122"/>
              </a:rPr>
              <a:t>，都有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a</a:t>
            </a:r>
            <a:r>
              <a:rPr lang="en-US" altLang="zh-CN" b="1">
                <a:solidFill>
                  <a:schemeClr val="fol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x</a:t>
            </a:r>
            <a:r>
              <a:rPr lang="zh-CN" altLang="en-US" b="1">
                <a:ea typeface="宋体" pitchFamily="2" charset="-122"/>
              </a:rPr>
              <a:t>（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x</a:t>
            </a:r>
            <a:r>
              <a:rPr lang="en-US" altLang="zh-CN" b="1">
                <a:solidFill>
                  <a:schemeClr val="hlink"/>
                </a:solidFill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），称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为格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的</a:t>
            </a:r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全下界</a:t>
            </a:r>
            <a:r>
              <a:rPr lang="zh-CN" altLang="en-US" b="1">
                <a:ea typeface="宋体" pitchFamily="2" charset="-122"/>
              </a:rPr>
              <a:t>（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全上界</a:t>
            </a:r>
            <a:r>
              <a:rPr lang="zh-CN" altLang="en-US" b="1">
                <a:ea typeface="宋体" pitchFamily="2" charset="-122"/>
              </a:rPr>
              <a:t>），记为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（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）。</a:t>
            </a:r>
          </a:p>
        </p:txBody>
      </p:sp>
      <p:sp>
        <p:nvSpPr>
          <p:cNvPr id="577539" name="Text Box 3"/>
          <p:cNvSpPr txBox="1">
            <a:spLocks noChangeArrowheads="1"/>
          </p:cNvSpPr>
          <p:nvPr/>
        </p:nvSpPr>
        <p:spPr bwMode="auto">
          <a:xfrm>
            <a:off x="466725" y="3257550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63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</a:rPr>
              <a:t>定理</a:t>
            </a:r>
            <a:r>
              <a:rPr lang="en-US" altLang="zh-CN" b="1">
                <a:solidFill>
                  <a:schemeClr val="hlink"/>
                </a:solidFill>
              </a:rPr>
              <a:t>6-3.1-2</a:t>
            </a:r>
            <a:r>
              <a:rPr lang="zh-CN" altLang="en-US" b="1">
                <a:solidFill>
                  <a:schemeClr val="hlink"/>
                </a:solidFill>
              </a:rPr>
              <a:t>：</a:t>
            </a:r>
            <a:r>
              <a:rPr lang="zh-CN" altLang="en-US" b="1"/>
              <a:t>一个格</a:t>
            </a:r>
            <a:r>
              <a:rPr lang="en-US" altLang="zh-CN" b="1"/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/>
              <a:t>&gt;</a:t>
            </a:r>
            <a:r>
              <a:rPr lang="zh-CN" altLang="en-US" b="1"/>
              <a:t>若有</a:t>
            </a:r>
            <a:r>
              <a:rPr lang="zh-CN" altLang="en-US" b="1" i="1">
                <a:solidFill>
                  <a:srgbClr val="0033CC"/>
                </a:solidFill>
              </a:rPr>
              <a:t>全下界</a:t>
            </a:r>
            <a:r>
              <a:rPr lang="zh-CN" altLang="en-US" b="1"/>
              <a:t>（</a:t>
            </a:r>
            <a:r>
              <a:rPr lang="zh-CN" altLang="en-US" b="1">
                <a:solidFill>
                  <a:schemeClr val="hlink"/>
                </a:solidFill>
              </a:rPr>
              <a:t>全上界</a:t>
            </a:r>
            <a:r>
              <a:rPr lang="zh-CN" altLang="en-US" b="1"/>
              <a:t>），则是</a:t>
            </a:r>
          </a:p>
          <a:p>
            <a:pPr algn="just">
              <a:lnSpc>
                <a:spcPct val="130000"/>
              </a:lnSpc>
            </a:pPr>
            <a:r>
              <a:rPr lang="zh-CN" altLang="en-US" b="1"/>
              <a:t>                      </a:t>
            </a:r>
            <a:r>
              <a:rPr lang="zh-CN" altLang="en-US" b="1" i="1">
                <a:solidFill>
                  <a:srgbClr val="0033CC"/>
                </a:solidFill>
              </a:rPr>
              <a:t>唯一的</a:t>
            </a:r>
            <a:r>
              <a:rPr lang="zh-CN" altLang="en-US" b="1"/>
              <a:t>。</a:t>
            </a:r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title"/>
          </p:nvPr>
        </p:nvSpPr>
        <p:spPr>
          <a:xfrm>
            <a:off x="1079500" y="339725"/>
            <a:ext cx="7237413" cy="641350"/>
          </a:xfrm>
        </p:spPr>
        <p:txBody>
          <a:bodyPr/>
          <a:lstStyle/>
          <a:p>
            <a:r>
              <a:rPr kumimoji="1" lang="en-US" altLang="zh-CN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6-3  </a:t>
            </a:r>
            <a:r>
              <a:rPr kumimoji="1" lang="zh-CN" altLang="en-US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有补格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7539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DDB43A-9E4B-4331-891C-227CD48F8653}" type="slidenum">
              <a:rPr lang="en-US" altLang="zh-CN"/>
              <a:pPr/>
              <a:t>22</a:t>
            </a:fld>
            <a:endParaRPr lang="en-US" altLang="zh-CN"/>
          </a:p>
        </p:txBody>
      </p:sp>
      <p:grpSp>
        <p:nvGrpSpPr>
          <p:cNvPr id="578562" name="Group 2"/>
          <p:cNvGrpSpPr>
            <a:grpSpLocks/>
          </p:cNvGrpSpPr>
          <p:nvPr/>
        </p:nvGrpSpPr>
        <p:grpSpPr bwMode="auto">
          <a:xfrm>
            <a:off x="5076825" y="2060575"/>
            <a:ext cx="3124200" cy="2695575"/>
            <a:chOff x="3504" y="2400"/>
            <a:chExt cx="1968" cy="1698"/>
          </a:xfrm>
        </p:grpSpPr>
        <p:grpSp>
          <p:nvGrpSpPr>
            <p:cNvPr id="578563" name="Group 3"/>
            <p:cNvGrpSpPr>
              <a:grpSpLocks/>
            </p:cNvGrpSpPr>
            <p:nvPr/>
          </p:nvGrpSpPr>
          <p:grpSpPr bwMode="auto">
            <a:xfrm>
              <a:off x="4080" y="2640"/>
              <a:ext cx="1008" cy="1248"/>
              <a:chOff x="7200" y="4092"/>
              <a:chExt cx="900" cy="1716"/>
            </a:xfrm>
          </p:grpSpPr>
          <p:grpSp>
            <p:nvGrpSpPr>
              <p:cNvPr id="578564" name="Group 4"/>
              <p:cNvGrpSpPr>
                <a:grpSpLocks/>
              </p:cNvGrpSpPr>
              <p:nvPr/>
            </p:nvGrpSpPr>
            <p:grpSpPr bwMode="auto">
              <a:xfrm>
                <a:off x="7200" y="4092"/>
                <a:ext cx="900" cy="1716"/>
                <a:chOff x="7200" y="4092"/>
                <a:chExt cx="900" cy="1716"/>
              </a:xfrm>
            </p:grpSpPr>
            <p:grpSp>
              <p:nvGrpSpPr>
                <p:cNvPr id="578565" name="Group 5"/>
                <p:cNvGrpSpPr>
                  <a:grpSpLocks/>
                </p:cNvGrpSpPr>
                <p:nvPr/>
              </p:nvGrpSpPr>
              <p:grpSpPr bwMode="auto">
                <a:xfrm>
                  <a:off x="7200" y="4092"/>
                  <a:ext cx="900" cy="1092"/>
                  <a:chOff x="5580" y="11892"/>
                  <a:chExt cx="900" cy="1092"/>
                </a:xfrm>
              </p:grpSpPr>
              <p:sp>
                <p:nvSpPr>
                  <p:cNvPr id="578566" name="Line 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580" y="11892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67" name="Line 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120" y="12360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68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5580" y="12516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69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11892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578570" name="Group 10"/>
                <p:cNvGrpSpPr>
                  <a:grpSpLocks/>
                </p:cNvGrpSpPr>
                <p:nvPr/>
              </p:nvGrpSpPr>
              <p:grpSpPr bwMode="auto">
                <a:xfrm>
                  <a:off x="7200" y="4716"/>
                  <a:ext cx="900" cy="1092"/>
                  <a:chOff x="5580" y="11892"/>
                  <a:chExt cx="900" cy="1092"/>
                </a:xfrm>
              </p:grpSpPr>
              <p:sp>
                <p:nvSpPr>
                  <p:cNvPr id="578571" name="Line 1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5580" y="11892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72" name="Line 12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120" y="12360"/>
                    <a:ext cx="360" cy="624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7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5580" y="12516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578574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5940" y="11892"/>
                    <a:ext cx="540" cy="468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sp>
            <p:nvSpPr>
              <p:cNvPr id="578575" name="Line 15"/>
              <p:cNvSpPr>
                <a:spLocks noChangeShapeType="1"/>
              </p:cNvSpPr>
              <p:nvPr/>
            </p:nvSpPr>
            <p:spPr bwMode="auto">
              <a:xfrm>
                <a:off x="7560" y="4092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576" name="Line 16"/>
              <p:cNvSpPr>
                <a:spLocks noChangeShapeType="1"/>
              </p:cNvSpPr>
              <p:nvPr/>
            </p:nvSpPr>
            <p:spPr bwMode="auto">
              <a:xfrm>
                <a:off x="7200" y="4716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577" name="Line 17"/>
              <p:cNvSpPr>
                <a:spLocks noChangeShapeType="1"/>
              </p:cNvSpPr>
              <p:nvPr/>
            </p:nvSpPr>
            <p:spPr bwMode="auto">
              <a:xfrm>
                <a:off x="8100" y="4560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78578" name="Line 18"/>
              <p:cNvSpPr>
                <a:spLocks noChangeShapeType="1"/>
              </p:cNvSpPr>
              <p:nvPr/>
            </p:nvSpPr>
            <p:spPr bwMode="auto">
              <a:xfrm>
                <a:off x="7740" y="5184"/>
                <a:ext cx="0" cy="62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8579" name="Text Box 19"/>
            <p:cNvSpPr txBox="1">
              <a:spLocks noChangeArrowheads="1"/>
            </p:cNvSpPr>
            <p:nvPr/>
          </p:nvSpPr>
          <p:spPr bwMode="auto">
            <a:xfrm>
              <a:off x="4128" y="240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{a,b,c}</a:t>
              </a:r>
            </a:p>
          </p:txBody>
        </p:sp>
        <p:sp>
          <p:nvSpPr>
            <p:cNvPr id="578580" name="Text Box 20"/>
            <p:cNvSpPr txBox="1">
              <a:spLocks noChangeArrowheads="1"/>
            </p:cNvSpPr>
            <p:nvPr/>
          </p:nvSpPr>
          <p:spPr bwMode="auto">
            <a:xfrm>
              <a:off x="3744" y="3312"/>
              <a:ext cx="14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 {a}       {b}     {c}</a:t>
              </a:r>
            </a:p>
          </p:txBody>
        </p:sp>
        <p:sp>
          <p:nvSpPr>
            <p:cNvPr id="578581" name="Text Box 21"/>
            <p:cNvSpPr txBox="1">
              <a:spLocks noChangeArrowheads="1"/>
            </p:cNvSpPr>
            <p:nvPr/>
          </p:nvSpPr>
          <p:spPr bwMode="auto">
            <a:xfrm>
              <a:off x="4431" y="3810"/>
              <a:ext cx="4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b="1" dirty="0" smtClean="0">
                  <a:ea typeface="宋体" pitchFamily="2" charset="-122"/>
                  <a:sym typeface="Symbol"/>
                </a:rPr>
                <a:t></a:t>
              </a:r>
              <a:r>
                <a:rPr lang="en-US" altLang="zh-CN" b="1" dirty="0" smtClean="0">
                  <a:ea typeface="宋体" pitchFamily="2" charset="-122"/>
                </a:rPr>
                <a:t> </a:t>
              </a:r>
              <a:endParaRPr lang="en-US" altLang="zh-CN" b="1" dirty="0">
                <a:ea typeface="宋体" pitchFamily="2" charset="-122"/>
              </a:endParaRPr>
            </a:p>
          </p:txBody>
        </p:sp>
        <p:sp>
          <p:nvSpPr>
            <p:cNvPr id="578582" name="Text Box 22"/>
            <p:cNvSpPr txBox="1">
              <a:spLocks noChangeArrowheads="1"/>
            </p:cNvSpPr>
            <p:nvPr/>
          </p:nvSpPr>
          <p:spPr bwMode="auto">
            <a:xfrm>
              <a:off x="3504" y="2880"/>
              <a:ext cx="19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spcBef>
                  <a:spcPct val="50000"/>
                </a:spcBef>
              </a:pPr>
              <a:r>
                <a:rPr lang="en-US" altLang="zh-CN" b="1">
                  <a:ea typeface="宋体" pitchFamily="2" charset="-122"/>
                </a:rPr>
                <a:t>  {a,b}        {a,c}     {b,c}</a:t>
              </a:r>
            </a:p>
          </p:txBody>
        </p:sp>
      </p:grpSp>
      <p:sp>
        <p:nvSpPr>
          <p:cNvPr id="578583" name="Text Box 23"/>
          <p:cNvSpPr txBox="1">
            <a:spLocks noChangeArrowheads="1"/>
          </p:cNvSpPr>
          <p:nvPr/>
        </p:nvSpPr>
        <p:spPr bwMode="auto">
          <a:xfrm>
            <a:off x="466725" y="1341438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如果一个格中存在全下界和全上界，则称该格为</a:t>
            </a:r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有界格</a:t>
            </a:r>
            <a:r>
              <a:rPr lang="zh-CN" altLang="en-US" b="1" i="1">
                <a:ea typeface="宋体" pitchFamily="2" charset="-122"/>
              </a:rPr>
              <a:t>。</a:t>
            </a:r>
            <a:r>
              <a:rPr lang="zh-CN" altLang="en-US" i="1">
                <a:ea typeface="宋体" pitchFamily="2" charset="-122"/>
              </a:rPr>
              <a:t> </a:t>
            </a:r>
          </a:p>
        </p:txBody>
      </p:sp>
      <p:sp>
        <p:nvSpPr>
          <p:cNvPr id="578585" name="Text Box 25"/>
          <p:cNvSpPr txBox="1">
            <a:spLocks noChangeArrowheads="1"/>
          </p:cNvSpPr>
          <p:nvPr/>
        </p:nvSpPr>
        <p:spPr bwMode="auto">
          <a:xfrm>
            <a:off x="466725" y="2378075"/>
            <a:ext cx="4648200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例：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S={a, b, c}</a:t>
            </a:r>
            <a:r>
              <a:rPr lang="zh-CN" altLang="en-US" b="1">
                <a:ea typeface="宋体" pitchFamily="2" charset="-122"/>
              </a:rPr>
              <a:t>，格</a:t>
            </a:r>
            <a:r>
              <a:rPr lang="en-US" altLang="zh-CN" b="1">
                <a:ea typeface="宋体" pitchFamily="2" charset="-122"/>
              </a:rPr>
              <a:t>&lt;</a:t>
            </a:r>
            <a:r>
              <a:rPr lang="en-US" altLang="zh-CN" b="1">
                <a:solidFill>
                  <a:srgbClr val="000000"/>
                </a:solidFill>
                <a:latin typeface="CommercialScript BT" pitchFamily="66" charset="0"/>
                <a:ea typeface="宋体" pitchFamily="2" charset="-122"/>
              </a:rPr>
              <a:t>P</a:t>
            </a:r>
            <a:r>
              <a:rPr lang="en-US" altLang="zh-CN" b="1">
                <a:solidFill>
                  <a:srgbClr val="000000"/>
                </a:solidFill>
                <a:ea typeface="宋体" pitchFamily="2" charset="-122"/>
              </a:rPr>
              <a:t> </a:t>
            </a:r>
            <a:r>
              <a:rPr lang="en-US" altLang="zh-CN" b="1">
                <a:ea typeface="宋体" pitchFamily="2" charset="-122"/>
              </a:rPr>
              <a:t>(S), 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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中， 求该格的全下界和全上界。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8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83" grpId="0" autoUpdateAnimBg="0"/>
      <p:bldP spid="57858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F7673B-C232-452D-9199-D653F5A1A61E}" type="slidenum">
              <a:rPr lang="en-US" altLang="zh-CN"/>
              <a:pPr/>
              <a:t>23</a:t>
            </a:fld>
            <a:endParaRPr lang="en-US" altLang="zh-CN"/>
          </a:p>
        </p:txBody>
      </p:sp>
      <p:sp>
        <p:nvSpPr>
          <p:cNvPr id="579586" name="Text Box 2"/>
          <p:cNvSpPr txBox="1">
            <a:spLocks noChangeArrowheads="1"/>
          </p:cNvSpPr>
          <p:nvPr/>
        </p:nvSpPr>
        <p:spPr bwMode="auto">
          <a:xfrm>
            <a:off x="466725" y="1268413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是一个有界格，则对于任意的</a:t>
            </a:r>
            <a:r>
              <a:rPr lang="en-US" altLang="zh-CN" b="1">
                <a:ea typeface="宋体" pitchFamily="2" charset="-122"/>
              </a:rPr>
              <a:t>a∈A</a:t>
            </a:r>
            <a:r>
              <a:rPr lang="zh-CN" altLang="en-US" b="1">
                <a:ea typeface="宋体" pitchFamily="2" charset="-122"/>
              </a:rPr>
              <a:t>，必有</a:t>
            </a:r>
          </a:p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rgbClr val="CC3300"/>
                </a:solidFill>
                <a:ea typeface="宋体" pitchFamily="2" charset="-122"/>
              </a:rPr>
              <a:t>                          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a∨1=1,     a∧1=a</a:t>
            </a:r>
          </a:p>
          <a:p>
            <a:pPr algn="just">
              <a:lnSpc>
                <a:spcPct val="130000"/>
              </a:lnSpc>
            </a:pP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                          a∨0=a,     a∧0=0</a:t>
            </a:r>
          </a:p>
        </p:txBody>
      </p:sp>
      <p:sp>
        <p:nvSpPr>
          <p:cNvPr id="579587" name="Text Box 3"/>
          <p:cNvSpPr txBox="1">
            <a:spLocks noChangeArrowheads="1"/>
          </p:cNvSpPr>
          <p:nvPr/>
        </p:nvSpPr>
        <p:spPr bwMode="auto">
          <a:xfrm>
            <a:off x="466725" y="3395663"/>
            <a:ext cx="8277225" cy="151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代数系统</a:t>
            </a:r>
            <a:r>
              <a:rPr lang="en-US" altLang="zh-CN" b="1">
                <a:ea typeface="宋体" pitchFamily="2" charset="-122"/>
              </a:rPr>
              <a:t>&lt;A, ∨, ∧&gt;</a:t>
            </a:r>
            <a:r>
              <a:rPr lang="zh-CN" altLang="en-US" b="1">
                <a:ea typeface="宋体" pitchFamily="2" charset="-122"/>
              </a:rPr>
              <a:t>中，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None/>
            </a:pPr>
            <a:r>
              <a:rPr lang="zh-CN" altLang="en-US" b="1">
                <a:ea typeface="宋体" pitchFamily="2" charset="-122"/>
              </a:rPr>
              <a:t> ∨的零元为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，幺元为</a:t>
            </a:r>
            <a:r>
              <a:rPr lang="en-US" altLang="zh-CN" b="1"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 ∧的零元为</a:t>
            </a:r>
            <a:r>
              <a:rPr lang="en-US" altLang="zh-CN" b="1"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，幺元为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795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79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15271D-E597-459D-84BF-DE8A26A6DE43}" type="slidenum">
              <a:rPr lang="en-US" altLang="zh-CN"/>
              <a:pPr/>
              <a:t>24</a:t>
            </a:fld>
            <a:endParaRPr lang="en-US" altLang="zh-CN"/>
          </a:p>
        </p:txBody>
      </p:sp>
      <p:sp>
        <p:nvSpPr>
          <p:cNvPr id="486402" name="Text Box 2"/>
          <p:cNvSpPr txBox="1">
            <a:spLocks noChangeArrowheads="1"/>
          </p:cNvSpPr>
          <p:nvPr/>
        </p:nvSpPr>
        <p:spPr bwMode="auto">
          <a:xfrm>
            <a:off x="538732" y="1247966"/>
            <a:ext cx="79217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0033CC"/>
                </a:solidFill>
                <a:ea typeface="宋体" pitchFamily="2" charset="-122"/>
              </a:rPr>
              <a:t>格：</a:t>
            </a:r>
            <a:r>
              <a:rPr lang="en-US" altLang="zh-CN" b="1" dirty="0" smtClean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中任意两个</a:t>
            </a:r>
            <a:r>
              <a:rPr lang="zh-CN" altLang="en-US" b="1" dirty="0" smtClean="0">
                <a:ea typeface="宋体" pitchFamily="2" charset="-122"/>
              </a:rPr>
              <a:t>元素都</a:t>
            </a:r>
            <a:r>
              <a:rPr lang="zh-CN" altLang="en-US" b="1" dirty="0">
                <a:ea typeface="宋体" pitchFamily="2" charset="-122"/>
              </a:rPr>
              <a:t>有</a:t>
            </a:r>
            <a:r>
              <a:rPr lang="zh-CN" altLang="en-US" b="1" dirty="0">
                <a:solidFill>
                  <a:srgbClr val="0000CC"/>
                </a:solidFill>
                <a:ea typeface="宋体" pitchFamily="2" charset="-122"/>
              </a:rPr>
              <a:t>最小</a:t>
            </a:r>
            <a:r>
              <a:rPr lang="zh-CN" altLang="en-US" b="1" dirty="0">
                <a:ea typeface="宋体" pitchFamily="2" charset="-122"/>
              </a:rPr>
              <a:t>上界和</a:t>
            </a:r>
            <a:r>
              <a:rPr kumimoji="0" lang="zh-CN" altLang="en-US" b="1" dirty="0">
                <a:solidFill>
                  <a:srgbClr val="0000CC"/>
                </a:solidFill>
                <a:ea typeface="宋体" pitchFamily="2" charset="-122"/>
              </a:rPr>
              <a:t>最大</a:t>
            </a:r>
            <a:r>
              <a:rPr lang="zh-CN" altLang="en-US" b="1" dirty="0" smtClean="0">
                <a:ea typeface="宋体" pitchFamily="2" charset="-122"/>
              </a:rPr>
              <a:t>下界</a:t>
            </a:r>
            <a:endParaRPr lang="en-US" altLang="zh-CN" b="1" dirty="0" smtClean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子格：</a:t>
            </a:r>
            <a:r>
              <a:rPr lang="en-US" altLang="zh-CN" b="1" dirty="0">
                <a:solidFill>
                  <a:srgbClr val="0033CC"/>
                </a:solidFill>
                <a:ea typeface="宋体" pitchFamily="2" charset="-122"/>
              </a:rPr>
              <a:t> 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中的两个运算∧、∨关于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是封闭</a:t>
            </a:r>
            <a:r>
              <a:rPr lang="zh-CN" altLang="en-US" b="1" dirty="0" smtClean="0">
                <a:ea typeface="宋体" pitchFamily="2" charset="-122"/>
              </a:rPr>
              <a:t>的</a:t>
            </a:r>
            <a:endParaRPr lang="en-US" altLang="zh-CN" b="1" dirty="0" smtClean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0033CC"/>
                </a:solidFill>
                <a:ea typeface="宋体" pitchFamily="2" charset="-122"/>
              </a:rPr>
              <a:t>格同态：</a:t>
            </a:r>
            <a:r>
              <a:rPr lang="en-US" altLang="zh-CN" b="1" dirty="0">
                <a:ea typeface="宋体" pitchFamily="2" charset="-122"/>
              </a:rPr>
              <a:t>f(a∨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b)=f(a)∨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f(b</a:t>
            </a:r>
            <a:r>
              <a:rPr lang="en-US" altLang="zh-CN" b="1" dirty="0" smtClean="0">
                <a:ea typeface="宋体" pitchFamily="2" charset="-122"/>
              </a:rPr>
              <a:t>)</a:t>
            </a:r>
            <a:r>
              <a:rPr lang="zh-CN" altLang="en-US" b="1" dirty="0" smtClean="0">
                <a:ea typeface="宋体" pitchFamily="2" charset="-122"/>
              </a:rPr>
              <a:t>，</a:t>
            </a:r>
            <a:r>
              <a:rPr lang="en-US" altLang="zh-CN" b="1" dirty="0" smtClean="0">
                <a:ea typeface="宋体" pitchFamily="2" charset="-122"/>
              </a:rPr>
              <a:t> </a:t>
            </a:r>
            <a:r>
              <a:rPr lang="en-US" altLang="zh-CN" b="1" dirty="0">
                <a:ea typeface="宋体" pitchFamily="2" charset="-122"/>
              </a:rPr>
              <a:t>f(a∧</a:t>
            </a:r>
            <a:r>
              <a:rPr lang="en-US" altLang="zh-CN" b="1" baseline="-8000" dirty="0">
                <a:ea typeface="宋体" pitchFamily="2" charset="-122"/>
              </a:rPr>
              <a:t>1</a:t>
            </a:r>
            <a:r>
              <a:rPr lang="en-US" altLang="zh-CN" b="1" dirty="0">
                <a:ea typeface="宋体" pitchFamily="2" charset="-122"/>
              </a:rPr>
              <a:t>b)=f(a)∧</a:t>
            </a:r>
            <a:r>
              <a:rPr lang="en-US" altLang="zh-CN" b="1" baseline="-8000" dirty="0">
                <a:ea typeface="宋体" pitchFamily="2" charset="-122"/>
              </a:rPr>
              <a:t>2</a:t>
            </a:r>
            <a:r>
              <a:rPr lang="en-US" altLang="zh-CN" b="1" dirty="0">
                <a:ea typeface="宋体" pitchFamily="2" charset="-122"/>
              </a:rPr>
              <a:t>f(b)</a:t>
            </a:r>
          </a:p>
          <a:p>
            <a:pPr>
              <a:lnSpc>
                <a:spcPct val="130000"/>
              </a:lnSpc>
            </a:pPr>
            <a:r>
              <a:rPr lang="zh-CN" altLang="en-US" b="1" dirty="0" smtClean="0">
                <a:solidFill>
                  <a:srgbClr val="0033CC"/>
                </a:solidFill>
                <a:ea typeface="宋体" pitchFamily="2" charset="-122"/>
              </a:rPr>
              <a:t>分配格：</a:t>
            </a:r>
            <a:r>
              <a:rPr lang="zh-CN" altLang="en-US" b="1" dirty="0" smtClean="0">
                <a:ea typeface="宋体" pitchFamily="2" charset="-122"/>
              </a:rPr>
              <a:t>满足分配律</a:t>
            </a:r>
            <a:endParaRPr lang="en-US" altLang="zh-CN" b="1" dirty="0" smtClean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有界格：</a:t>
            </a:r>
            <a:r>
              <a:rPr lang="zh-CN" altLang="en-US" b="1" dirty="0" smtClean="0">
                <a:ea typeface="宋体" pitchFamily="2" charset="-122"/>
              </a:rPr>
              <a:t>有全上界和全下届</a:t>
            </a:r>
            <a:endParaRPr lang="en-US" altLang="zh-CN" b="1" dirty="0" smtClean="0">
              <a:ea typeface="宋体" pitchFamily="2" charset="-122"/>
            </a:endParaRPr>
          </a:p>
        </p:txBody>
      </p:sp>
      <p:sp>
        <p:nvSpPr>
          <p:cNvPr id="486438" name="Rectangle 38"/>
          <p:cNvSpPr>
            <a:spLocks noGrp="1" noChangeArrowheads="1"/>
          </p:cNvSpPr>
          <p:nvPr>
            <p:ph type="title"/>
          </p:nvPr>
        </p:nvSpPr>
        <p:spPr>
          <a:xfrm>
            <a:off x="990600" y="188913"/>
            <a:ext cx="7237413" cy="701675"/>
          </a:xfrm>
        </p:spPr>
        <p:txBody>
          <a:bodyPr/>
          <a:lstStyle/>
          <a:p>
            <a:pPr algn="ctr"/>
            <a:r>
              <a:rPr lang="zh-CN" altLang="en-US" dirty="0">
                <a:solidFill>
                  <a:srgbClr val="0000CC"/>
                </a:solidFill>
                <a:ea typeface="华文行楷" pitchFamily="2" charset="-122"/>
              </a:rPr>
              <a:t>复习</a:t>
            </a:r>
          </a:p>
        </p:txBody>
      </p:sp>
    </p:spTree>
    <p:extLst>
      <p:ext uri="{BB962C8B-B14F-4D97-AF65-F5344CB8AC3E}">
        <p14:creationId xmlns:p14="http://schemas.microsoft.com/office/powerpoint/2010/main" val="2547857834"/>
      </p:ext>
    </p:extLst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64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6402" grpId="0" build="p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61B9D4B-BABD-41C5-BDCA-3CC44C6E8C65}" type="slidenum">
              <a:rPr lang="en-US" altLang="zh-CN"/>
              <a:pPr/>
              <a:t>25</a:t>
            </a:fld>
            <a:endParaRPr lang="en-US" altLang="zh-CN"/>
          </a:p>
        </p:txBody>
      </p:sp>
      <p:sp>
        <p:nvSpPr>
          <p:cNvPr id="580610" name="Text Box 2"/>
          <p:cNvSpPr txBox="1">
            <a:spLocks noChangeArrowheads="1"/>
          </p:cNvSpPr>
          <p:nvPr/>
        </p:nvSpPr>
        <p:spPr bwMode="auto">
          <a:xfrm>
            <a:off x="466725" y="2527300"/>
            <a:ext cx="6048375" cy="24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rgbClr val="0033CC"/>
                </a:solidFill>
                <a:ea typeface="宋体" pitchFamily="2" charset="-122"/>
              </a:rPr>
              <a:t>例：</a:t>
            </a:r>
            <a:r>
              <a:rPr lang="zh-CN" altLang="en-US" b="1" dirty="0">
                <a:ea typeface="宋体" pitchFamily="2" charset="-122"/>
              </a:rPr>
              <a:t>在图所示的有界格中，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</a:t>
            </a:r>
            <a:r>
              <a:rPr lang="en-US" altLang="zh-CN" b="1" dirty="0" err="1">
                <a:ea typeface="宋体" pitchFamily="2" charset="-122"/>
              </a:rPr>
              <a:t>d∨c</a:t>
            </a:r>
            <a:r>
              <a:rPr lang="en-US" altLang="zh-CN" b="1" dirty="0">
                <a:ea typeface="宋体" pitchFamily="2" charset="-122"/>
              </a:rPr>
              <a:t>=1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 err="1">
                <a:ea typeface="宋体" pitchFamily="2" charset="-122"/>
              </a:rPr>
              <a:t>d∧c</a:t>
            </a:r>
            <a:r>
              <a:rPr lang="en-US" altLang="zh-CN" b="1" dirty="0">
                <a:ea typeface="宋体" pitchFamily="2" charset="-122"/>
              </a:rPr>
              <a:t>=0</a:t>
            </a:r>
            <a:r>
              <a:rPr lang="zh-CN" altLang="en-US" b="1" dirty="0">
                <a:ea typeface="宋体" pitchFamily="2" charset="-122"/>
              </a:rPr>
              <a:t>；所以</a:t>
            </a:r>
            <a:r>
              <a:rPr lang="en-US" altLang="zh-CN" b="1" dirty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>
                <a:ea typeface="宋体" pitchFamily="2" charset="-122"/>
              </a:rPr>
              <a:t>c</a:t>
            </a:r>
            <a:r>
              <a:rPr lang="zh-CN" altLang="en-US" b="1" dirty="0">
                <a:ea typeface="宋体" pitchFamily="2" charset="-122"/>
              </a:rPr>
              <a:t>是互补的。但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无补元。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都是</a:t>
            </a:r>
            <a:r>
              <a:rPr lang="en-US" altLang="zh-CN" b="1" dirty="0">
                <a:ea typeface="宋体" pitchFamily="2" charset="-122"/>
              </a:rPr>
              <a:t>e</a:t>
            </a:r>
            <a:r>
              <a:rPr lang="zh-CN" altLang="en-US" b="1" dirty="0">
                <a:ea typeface="宋体" pitchFamily="2" charset="-122"/>
              </a:rPr>
              <a:t>的补元；</a:t>
            </a:r>
            <a:r>
              <a:rPr lang="en-US" altLang="zh-CN" b="1" dirty="0">
                <a:ea typeface="宋体" pitchFamily="2" charset="-122"/>
              </a:rPr>
              <a:t>c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>
                <a:ea typeface="宋体" pitchFamily="2" charset="-122"/>
              </a:rPr>
              <a:t>e</a:t>
            </a:r>
            <a:r>
              <a:rPr lang="zh-CN" altLang="en-US" b="1" dirty="0">
                <a:ea typeface="宋体" pitchFamily="2" charset="-122"/>
              </a:rPr>
              <a:t>都是</a:t>
            </a:r>
            <a:r>
              <a:rPr lang="en-US" altLang="zh-CN" b="1" dirty="0">
                <a:ea typeface="宋体" pitchFamily="2" charset="-122"/>
              </a:rPr>
              <a:t>d</a:t>
            </a:r>
            <a:r>
              <a:rPr lang="zh-CN" altLang="en-US" b="1" dirty="0">
                <a:ea typeface="宋体" pitchFamily="2" charset="-122"/>
              </a:rPr>
              <a:t>的补元。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显然，</a:t>
            </a:r>
            <a:r>
              <a:rPr lang="en-US" altLang="zh-CN" b="1" dirty="0">
                <a:ea typeface="宋体" pitchFamily="2" charset="-122"/>
              </a:rPr>
              <a:t>0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1</a:t>
            </a:r>
            <a:r>
              <a:rPr lang="zh-CN" altLang="en-US" b="1" dirty="0">
                <a:ea typeface="宋体" pitchFamily="2" charset="-122"/>
              </a:rPr>
              <a:t>的唯一补元，</a:t>
            </a:r>
            <a:r>
              <a:rPr lang="en-US" altLang="zh-CN" b="1" dirty="0">
                <a:ea typeface="宋体" pitchFamily="2" charset="-122"/>
              </a:rPr>
              <a:t>1</a:t>
            </a:r>
            <a:r>
              <a:rPr lang="zh-CN" altLang="en-US" b="1" dirty="0">
                <a:ea typeface="宋体" pitchFamily="2" charset="-122"/>
              </a:rPr>
              <a:t>是</a:t>
            </a:r>
            <a:r>
              <a:rPr lang="en-US" altLang="zh-CN" b="1" dirty="0">
                <a:ea typeface="宋体" pitchFamily="2" charset="-122"/>
              </a:rPr>
              <a:t>0</a:t>
            </a:r>
            <a:r>
              <a:rPr lang="zh-CN" altLang="en-US" b="1" dirty="0">
                <a:ea typeface="宋体" pitchFamily="2" charset="-122"/>
              </a:rPr>
              <a:t>的唯一补元。</a:t>
            </a:r>
          </a:p>
        </p:txBody>
      </p:sp>
      <p:grpSp>
        <p:nvGrpSpPr>
          <p:cNvPr id="580611" name="Group 3"/>
          <p:cNvGrpSpPr>
            <a:grpSpLocks/>
          </p:cNvGrpSpPr>
          <p:nvPr/>
        </p:nvGrpSpPr>
        <p:grpSpPr bwMode="auto">
          <a:xfrm>
            <a:off x="6629400" y="2362200"/>
            <a:ext cx="1905000" cy="2225675"/>
            <a:chOff x="3792" y="1641"/>
            <a:chExt cx="1200" cy="1982"/>
          </a:xfrm>
        </p:grpSpPr>
        <p:sp>
          <p:nvSpPr>
            <p:cNvPr id="580612" name="AutoShape 4"/>
            <p:cNvSpPr>
              <a:spLocks noChangeArrowheads="1"/>
            </p:cNvSpPr>
            <p:nvPr/>
          </p:nvSpPr>
          <p:spPr bwMode="auto">
            <a:xfrm>
              <a:off x="3984" y="1824"/>
              <a:ext cx="768" cy="768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80613" name="Line 5"/>
            <p:cNvSpPr>
              <a:spLocks noChangeShapeType="1"/>
            </p:cNvSpPr>
            <p:nvPr/>
          </p:nvSpPr>
          <p:spPr bwMode="auto">
            <a:xfrm>
              <a:off x="4368" y="2592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0614" name="Line 6"/>
            <p:cNvSpPr>
              <a:spLocks noChangeShapeType="1"/>
            </p:cNvSpPr>
            <p:nvPr/>
          </p:nvSpPr>
          <p:spPr bwMode="auto">
            <a:xfrm>
              <a:off x="4752" y="220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0615" name="Line 7"/>
            <p:cNvSpPr>
              <a:spLocks noChangeShapeType="1"/>
            </p:cNvSpPr>
            <p:nvPr/>
          </p:nvSpPr>
          <p:spPr bwMode="auto">
            <a:xfrm>
              <a:off x="3984" y="2208"/>
              <a:ext cx="0" cy="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0616" name="Line 8"/>
            <p:cNvSpPr>
              <a:spLocks noChangeShapeType="1"/>
            </p:cNvSpPr>
            <p:nvPr/>
          </p:nvSpPr>
          <p:spPr bwMode="auto">
            <a:xfrm>
              <a:off x="3984" y="2976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0617" name="Line 9"/>
            <p:cNvSpPr>
              <a:spLocks noChangeShapeType="1"/>
            </p:cNvSpPr>
            <p:nvPr/>
          </p:nvSpPr>
          <p:spPr bwMode="auto">
            <a:xfrm rot="5400000">
              <a:off x="4374" y="2958"/>
              <a:ext cx="384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0618" name="Text Box 10"/>
            <p:cNvSpPr txBox="1">
              <a:spLocks noChangeArrowheads="1"/>
            </p:cNvSpPr>
            <p:nvPr/>
          </p:nvSpPr>
          <p:spPr bwMode="auto">
            <a:xfrm>
              <a:off x="4170" y="1641"/>
              <a:ext cx="24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1</a:t>
              </a:r>
            </a:p>
          </p:txBody>
        </p:sp>
        <p:sp>
          <p:nvSpPr>
            <p:cNvPr id="580619" name="Text Box 11"/>
            <p:cNvSpPr txBox="1">
              <a:spLocks noChangeArrowheads="1"/>
            </p:cNvSpPr>
            <p:nvPr/>
          </p:nvSpPr>
          <p:spPr bwMode="auto">
            <a:xfrm>
              <a:off x="3792" y="2016"/>
              <a:ext cx="120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              c</a:t>
              </a:r>
            </a:p>
          </p:txBody>
        </p:sp>
        <p:sp>
          <p:nvSpPr>
            <p:cNvPr id="580620" name="Text Box 12"/>
            <p:cNvSpPr txBox="1">
              <a:spLocks noChangeArrowheads="1"/>
            </p:cNvSpPr>
            <p:nvPr/>
          </p:nvSpPr>
          <p:spPr bwMode="auto">
            <a:xfrm>
              <a:off x="3792" y="2785"/>
              <a:ext cx="120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d              e</a:t>
              </a:r>
            </a:p>
          </p:txBody>
        </p:sp>
        <p:sp>
          <p:nvSpPr>
            <p:cNvPr id="580621" name="Text Box 13"/>
            <p:cNvSpPr txBox="1">
              <a:spLocks noChangeArrowheads="1"/>
            </p:cNvSpPr>
            <p:nvPr/>
          </p:nvSpPr>
          <p:spPr bwMode="auto">
            <a:xfrm>
              <a:off x="4176" y="2448"/>
              <a:ext cx="24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b</a:t>
              </a:r>
            </a:p>
          </p:txBody>
        </p:sp>
        <p:sp>
          <p:nvSpPr>
            <p:cNvPr id="580622" name="Text Box 14"/>
            <p:cNvSpPr txBox="1">
              <a:spLocks noChangeArrowheads="1"/>
            </p:cNvSpPr>
            <p:nvPr/>
          </p:nvSpPr>
          <p:spPr bwMode="auto">
            <a:xfrm>
              <a:off x="4176" y="3216"/>
              <a:ext cx="240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0</a:t>
              </a:r>
            </a:p>
          </p:txBody>
        </p:sp>
      </p:grpSp>
      <p:sp>
        <p:nvSpPr>
          <p:cNvPr id="580623" name="Text Box 15"/>
          <p:cNvSpPr txBox="1">
            <a:spLocks noChangeArrowheads="1"/>
          </p:cNvSpPr>
          <p:nvPr/>
        </p:nvSpPr>
        <p:spPr bwMode="auto">
          <a:xfrm>
            <a:off x="466725" y="1117600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6-3.4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设</a:t>
            </a:r>
            <a:r>
              <a:rPr lang="en-US" altLang="zh-CN" b="1">
                <a:ea typeface="宋体" pitchFamily="2" charset="-122"/>
              </a:rPr>
              <a:t>&lt;A, </a:t>
            </a:r>
            <a:r>
              <a:rPr lang="en-US" altLang="zh-CN" b="1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是一个有界格，对于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中的一个元素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，如果存在</a:t>
            </a:r>
            <a:r>
              <a:rPr lang="en-US" altLang="zh-CN" b="1">
                <a:ea typeface="宋体" pitchFamily="2" charset="-122"/>
              </a:rPr>
              <a:t>b∈A</a:t>
            </a:r>
            <a:r>
              <a:rPr lang="zh-CN" altLang="en-US" b="1">
                <a:ea typeface="宋体" pitchFamily="2" charset="-122"/>
              </a:rPr>
              <a:t>，使得</a:t>
            </a:r>
            <a:r>
              <a:rPr lang="en-US" altLang="zh-CN" b="1">
                <a:ea typeface="宋体" pitchFamily="2" charset="-122"/>
              </a:rPr>
              <a:t>a∨b=1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a∧b=0</a:t>
            </a:r>
            <a:r>
              <a:rPr lang="zh-CN" altLang="en-US" b="1">
                <a:ea typeface="宋体" pitchFamily="2" charset="-122"/>
              </a:rPr>
              <a:t>，则称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元素</a:t>
            </a:r>
            <a:r>
              <a:rPr lang="en-US" altLang="zh-CN" b="1" i="1">
                <a:solidFill>
                  <a:schemeClr val="hlink"/>
                </a:solidFill>
                <a:ea typeface="宋体" pitchFamily="2" charset="-122"/>
              </a:rPr>
              <a:t>b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是元素</a:t>
            </a:r>
            <a:r>
              <a:rPr lang="en-US" altLang="zh-CN" b="1" i="1">
                <a:solidFill>
                  <a:schemeClr val="hlink"/>
                </a:solidFill>
                <a:ea typeface="宋体" pitchFamily="2" charset="-122"/>
              </a:rPr>
              <a:t>a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的补元</a:t>
            </a:r>
            <a:r>
              <a:rPr lang="zh-CN" altLang="en-US" b="1">
                <a:ea typeface="宋体" pitchFamily="2" charset="-122"/>
              </a:rPr>
              <a:t>。同样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也是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的补元，即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互补。</a:t>
            </a:r>
          </a:p>
        </p:txBody>
      </p:sp>
      <p:sp>
        <p:nvSpPr>
          <p:cNvPr id="580624" name="Rectangle 16"/>
          <p:cNvSpPr>
            <a:spLocks noChangeArrowheads="1"/>
          </p:cNvSpPr>
          <p:nvPr/>
        </p:nvSpPr>
        <p:spPr bwMode="auto">
          <a:xfrm>
            <a:off x="914400" y="331788"/>
            <a:ext cx="42656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>
                <a:latin typeface="楷体_GB2312" pitchFamily="49" charset="-122"/>
              </a:rPr>
              <a:t>2.</a:t>
            </a:r>
            <a:r>
              <a:rPr lang="zh-CN" altLang="en-US" sz="3200" b="1">
                <a:latin typeface="楷体_GB2312" pitchFamily="49" charset="-122"/>
              </a:rPr>
              <a:t>元素的补元、有补格</a:t>
            </a:r>
          </a:p>
        </p:txBody>
      </p:sp>
      <p:sp>
        <p:nvSpPr>
          <p:cNvPr id="580625" name="Text Box 17"/>
          <p:cNvSpPr txBox="1">
            <a:spLocks noChangeArrowheads="1"/>
          </p:cNvSpPr>
          <p:nvPr/>
        </p:nvSpPr>
        <p:spPr bwMode="auto">
          <a:xfrm>
            <a:off x="466725" y="4937125"/>
            <a:ext cx="604837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元素的补元不唯一，也不一定存在。</a:t>
            </a:r>
          </a:p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en-US" altLang="zh-CN" b="1"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是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的唯一补元，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是</a:t>
            </a:r>
            <a:r>
              <a:rPr lang="en-US" altLang="zh-CN" b="1"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的唯一补元。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0610" grpId="0" uiExpand="1" build="p" autoUpdateAnimBg="0"/>
      <p:bldP spid="58062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402A6BF-9A1E-40FD-8715-BC844055C55D}" type="slidenum">
              <a:rPr lang="en-US" altLang="zh-CN"/>
              <a:pPr/>
              <a:t>26</a:t>
            </a:fld>
            <a:endParaRPr lang="en-US" altLang="zh-CN"/>
          </a:p>
        </p:txBody>
      </p:sp>
      <p:sp>
        <p:nvSpPr>
          <p:cNvPr id="581634" name="Text Box 2"/>
          <p:cNvSpPr txBox="1">
            <a:spLocks noChangeArrowheads="1"/>
          </p:cNvSpPr>
          <p:nvPr/>
        </p:nvSpPr>
        <p:spPr bwMode="auto">
          <a:xfrm>
            <a:off x="466725" y="1412875"/>
            <a:ext cx="82772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6-3.5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在一个有界格中，如果每个元素都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至少</a:t>
            </a:r>
            <a:r>
              <a:rPr lang="zh-CN" altLang="en-US" b="1">
                <a:ea typeface="宋体" pitchFamily="2" charset="-122"/>
              </a:rPr>
              <a:t>有一个补元素，则称此格为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有补格</a:t>
            </a:r>
            <a:r>
              <a:rPr lang="zh-CN" altLang="en-US" b="1">
                <a:ea typeface="宋体" pitchFamily="2" charset="-122"/>
              </a:rPr>
              <a:t>。</a:t>
            </a:r>
          </a:p>
        </p:txBody>
      </p:sp>
      <p:grpSp>
        <p:nvGrpSpPr>
          <p:cNvPr id="581635" name="Group 3"/>
          <p:cNvGrpSpPr>
            <a:grpSpLocks/>
          </p:cNvGrpSpPr>
          <p:nvPr/>
        </p:nvGrpSpPr>
        <p:grpSpPr bwMode="auto">
          <a:xfrm>
            <a:off x="914400" y="2514600"/>
            <a:ext cx="6934200" cy="2590800"/>
            <a:chOff x="384" y="384"/>
            <a:chExt cx="4368" cy="1632"/>
          </a:xfrm>
        </p:grpSpPr>
        <p:grpSp>
          <p:nvGrpSpPr>
            <p:cNvPr id="581636" name="Group 4"/>
            <p:cNvGrpSpPr>
              <a:grpSpLocks/>
            </p:cNvGrpSpPr>
            <p:nvPr/>
          </p:nvGrpSpPr>
          <p:grpSpPr bwMode="auto">
            <a:xfrm>
              <a:off x="576" y="864"/>
              <a:ext cx="733" cy="806"/>
              <a:chOff x="5580" y="11892"/>
              <a:chExt cx="900" cy="1092"/>
            </a:xfrm>
          </p:grpSpPr>
          <p:sp>
            <p:nvSpPr>
              <p:cNvPr id="581637" name="Line 5"/>
              <p:cNvSpPr>
                <a:spLocks noChangeShapeType="1"/>
              </p:cNvSpPr>
              <p:nvPr/>
            </p:nvSpPr>
            <p:spPr bwMode="auto">
              <a:xfrm flipH="1">
                <a:off x="5580" y="11892"/>
                <a:ext cx="36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38" name="Line 6"/>
              <p:cNvSpPr>
                <a:spLocks noChangeShapeType="1"/>
              </p:cNvSpPr>
              <p:nvPr/>
            </p:nvSpPr>
            <p:spPr bwMode="auto">
              <a:xfrm flipH="1">
                <a:off x="6120" y="12360"/>
                <a:ext cx="36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39" name="Line 7"/>
              <p:cNvSpPr>
                <a:spLocks noChangeShapeType="1"/>
              </p:cNvSpPr>
              <p:nvPr/>
            </p:nvSpPr>
            <p:spPr bwMode="auto">
              <a:xfrm>
                <a:off x="5580" y="12516"/>
                <a:ext cx="540" cy="46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0" name="Line 8"/>
              <p:cNvSpPr>
                <a:spLocks noChangeShapeType="1"/>
              </p:cNvSpPr>
              <p:nvPr/>
            </p:nvSpPr>
            <p:spPr bwMode="auto">
              <a:xfrm>
                <a:off x="5940" y="11892"/>
                <a:ext cx="540" cy="46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1641" name="Group 9"/>
            <p:cNvGrpSpPr>
              <a:grpSpLocks/>
            </p:cNvGrpSpPr>
            <p:nvPr/>
          </p:nvGrpSpPr>
          <p:grpSpPr bwMode="auto">
            <a:xfrm>
              <a:off x="3552" y="528"/>
              <a:ext cx="912" cy="1286"/>
              <a:chOff x="5400" y="7257"/>
              <a:chExt cx="1473" cy="1740"/>
            </a:xfrm>
          </p:grpSpPr>
          <p:sp>
            <p:nvSpPr>
              <p:cNvPr id="581642" name="Freeform 10"/>
              <p:cNvSpPr>
                <a:spLocks/>
              </p:cNvSpPr>
              <p:nvPr/>
            </p:nvSpPr>
            <p:spPr bwMode="auto">
              <a:xfrm>
                <a:off x="5400" y="7257"/>
                <a:ext cx="660" cy="579"/>
              </a:xfrm>
              <a:custGeom>
                <a:avLst/>
                <a:gdLst>
                  <a:gd name="T0" fmla="*/ 660 w 660"/>
                  <a:gd name="T1" fmla="*/ 0 h 579"/>
                  <a:gd name="T2" fmla="*/ 0 w 660"/>
                  <a:gd name="T3" fmla="*/ 579 h 5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60" h="579">
                    <a:moveTo>
                      <a:pt x="660" y="0"/>
                    </a:moveTo>
                    <a:lnTo>
                      <a:pt x="0" y="579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3" name="Freeform 11"/>
              <p:cNvSpPr>
                <a:spLocks/>
              </p:cNvSpPr>
              <p:nvPr/>
            </p:nvSpPr>
            <p:spPr bwMode="auto">
              <a:xfrm>
                <a:off x="6228" y="8460"/>
                <a:ext cx="627" cy="537"/>
              </a:xfrm>
              <a:custGeom>
                <a:avLst/>
                <a:gdLst>
                  <a:gd name="T0" fmla="*/ 627 w 627"/>
                  <a:gd name="T1" fmla="*/ 0 h 537"/>
                  <a:gd name="T2" fmla="*/ 0 w 627"/>
                  <a:gd name="T3" fmla="*/ 537 h 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627" h="537">
                    <a:moveTo>
                      <a:pt x="627" y="0"/>
                    </a:moveTo>
                    <a:lnTo>
                      <a:pt x="0" y="537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4" name="Freeform 12"/>
              <p:cNvSpPr>
                <a:spLocks/>
              </p:cNvSpPr>
              <p:nvPr/>
            </p:nvSpPr>
            <p:spPr bwMode="auto">
              <a:xfrm>
                <a:off x="5430" y="8505"/>
                <a:ext cx="798" cy="492"/>
              </a:xfrm>
              <a:custGeom>
                <a:avLst/>
                <a:gdLst>
                  <a:gd name="T0" fmla="*/ 0 w 798"/>
                  <a:gd name="T1" fmla="*/ 0 h 492"/>
                  <a:gd name="T2" fmla="*/ 798 w 798"/>
                  <a:gd name="T3" fmla="*/ 492 h 4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98" h="492">
                    <a:moveTo>
                      <a:pt x="0" y="0"/>
                    </a:moveTo>
                    <a:lnTo>
                      <a:pt x="798" y="492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5" name="Freeform 13"/>
              <p:cNvSpPr>
                <a:spLocks/>
              </p:cNvSpPr>
              <p:nvPr/>
            </p:nvSpPr>
            <p:spPr bwMode="auto">
              <a:xfrm>
                <a:off x="6120" y="7272"/>
                <a:ext cx="753" cy="528"/>
              </a:xfrm>
              <a:custGeom>
                <a:avLst/>
                <a:gdLst>
                  <a:gd name="T0" fmla="*/ 0 w 753"/>
                  <a:gd name="T1" fmla="*/ 0 h 528"/>
                  <a:gd name="T2" fmla="*/ 753 w 753"/>
                  <a:gd name="T3" fmla="*/ 528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53" h="528">
                    <a:moveTo>
                      <a:pt x="0" y="0"/>
                    </a:moveTo>
                    <a:lnTo>
                      <a:pt x="753" y="528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6" name="Line 14"/>
              <p:cNvSpPr>
                <a:spLocks noChangeShapeType="1"/>
              </p:cNvSpPr>
              <p:nvPr/>
            </p:nvSpPr>
            <p:spPr bwMode="auto">
              <a:xfrm>
                <a:off x="5400" y="7866"/>
                <a:ext cx="0" cy="62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47" name="Freeform 15"/>
              <p:cNvSpPr>
                <a:spLocks/>
              </p:cNvSpPr>
              <p:nvPr/>
            </p:nvSpPr>
            <p:spPr bwMode="auto">
              <a:xfrm>
                <a:off x="6870" y="7836"/>
                <a:ext cx="1" cy="654"/>
              </a:xfrm>
              <a:custGeom>
                <a:avLst/>
                <a:gdLst>
                  <a:gd name="T0" fmla="*/ 0 w 1"/>
                  <a:gd name="T1" fmla="*/ 0 h 654"/>
                  <a:gd name="T2" fmla="*/ 0 w 1"/>
                  <a:gd name="T3" fmla="*/ 654 h 6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654">
                    <a:moveTo>
                      <a:pt x="0" y="0"/>
                    </a:moveTo>
                    <a:lnTo>
                      <a:pt x="0" y="654"/>
                    </a:lnTo>
                  </a:path>
                </a:pathLst>
              </a:custGeom>
              <a:noFill/>
              <a:ln w="25400">
                <a:solidFill>
                  <a:srgbClr val="000000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81648" name="Group 16"/>
            <p:cNvGrpSpPr>
              <a:grpSpLocks/>
            </p:cNvGrpSpPr>
            <p:nvPr/>
          </p:nvGrpSpPr>
          <p:grpSpPr bwMode="auto">
            <a:xfrm>
              <a:off x="1728" y="672"/>
              <a:ext cx="1296" cy="1152"/>
              <a:chOff x="1728" y="672"/>
              <a:chExt cx="1296" cy="1152"/>
            </a:xfrm>
          </p:grpSpPr>
          <p:grpSp>
            <p:nvGrpSpPr>
              <p:cNvPr id="581649" name="Group 17"/>
              <p:cNvGrpSpPr>
                <a:grpSpLocks/>
              </p:cNvGrpSpPr>
              <p:nvPr/>
            </p:nvGrpSpPr>
            <p:grpSpPr bwMode="auto">
              <a:xfrm>
                <a:off x="1728" y="672"/>
                <a:ext cx="1296" cy="1152"/>
                <a:chOff x="5580" y="11892"/>
                <a:chExt cx="900" cy="1092"/>
              </a:xfrm>
            </p:grpSpPr>
            <p:sp>
              <p:nvSpPr>
                <p:cNvPr id="581650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5580" y="11892"/>
                  <a:ext cx="360" cy="62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1651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6120" y="12360"/>
                  <a:ext cx="360" cy="62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1652" name="Line 20"/>
                <p:cNvSpPr>
                  <a:spLocks noChangeShapeType="1"/>
                </p:cNvSpPr>
                <p:nvPr/>
              </p:nvSpPr>
              <p:spPr bwMode="auto">
                <a:xfrm>
                  <a:off x="5580" y="12516"/>
                  <a:ext cx="540" cy="46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1653" name="Line 21"/>
                <p:cNvSpPr>
                  <a:spLocks noChangeShapeType="1"/>
                </p:cNvSpPr>
                <p:nvPr/>
              </p:nvSpPr>
              <p:spPr bwMode="auto">
                <a:xfrm>
                  <a:off x="5940" y="11892"/>
                  <a:ext cx="540" cy="46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81654" name="Line 22"/>
              <p:cNvSpPr>
                <a:spLocks noChangeShapeType="1"/>
              </p:cNvSpPr>
              <p:nvPr/>
            </p:nvSpPr>
            <p:spPr bwMode="auto">
              <a:xfrm flipH="1">
                <a:off x="1968" y="672"/>
                <a:ext cx="288" cy="65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55" name="Line 23"/>
              <p:cNvSpPr>
                <a:spLocks noChangeShapeType="1"/>
              </p:cNvSpPr>
              <p:nvPr/>
            </p:nvSpPr>
            <p:spPr bwMode="auto">
              <a:xfrm flipH="1">
                <a:off x="2496" y="1166"/>
                <a:ext cx="192" cy="658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56" name="Line 24"/>
              <p:cNvSpPr>
                <a:spLocks noChangeShapeType="1"/>
              </p:cNvSpPr>
              <p:nvPr/>
            </p:nvSpPr>
            <p:spPr bwMode="auto">
              <a:xfrm>
                <a:off x="1968" y="1344"/>
                <a:ext cx="528" cy="480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1657" name="Line 25"/>
              <p:cNvSpPr>
                <a:spLocks noChangeShapeType="1"/>
              </p:cNvSpPr>
              <p:nvPr/>
            </p:nvSpPr>
            <p:spPr bwMode="auto">
              <a:xfrm>
                <a:off x="2256" y="672"/>
                <a:ext cx="432" cy="494"/>
              </a:xfrm>
              <a:prstGeom prst="lin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81658" name="Text Box 26"/>
            <p:cNvSpPr txBox="1">
              <a:spLocks noChangeArrowheads="1"/>
            </p:cNvSpPr>
            <p:nvPr/>
          </p:nvSpPr>
          <p:spPr bwMode="auto">
            <a:xfrm>
              <a:off x="768" y="63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1</a:t>
              </a:r>
            </a:p>
          </p:txBody>
        </p:sp>
        <p:sp>
          <p:nvSpPr>
            <p:cNvPr id="581659" name="Text Box 27"/>
            <p:cNvSpPr txBox="1">
              <a:spLocks noChangeArrowheads="1"/>
            </p:cNvSpPr>
            <p:nvPr/>
          </p:nvSpPr>
          <p:spPr bwMode="auto">
            <a:xfrm>
              <a:off x="2064" y="480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1</a:t>
              </a:r>
            </a:p>
          </p:txBody>
        </p:sp>
        <p:sp>
          <p:nvSpPr>
            <p:cNvPr id="581660" name="Text Box 28"/>
            <p:cNvSpPr txBox="1">
              <a:spLocks noChangeArrowheads="1"/>
            </p:cNvSpPr>
            <p:nvPr/>
          </p:nvSpPr>
          <p:spPr bwMode="auto">
            <a:xfrm>
              <a:off x="3840" y="384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1</a:t>
              </a:r>
            </a:p>
          </p:txBody>
        </p:sp>
        <p:sp>
          <p:nvSpPr>
            <p:cNvPr id="581661" name="Text Box 29"/>
            <p:cNvSpPr txBox="1">
              <a:spLocks noChangeArrowheads="1"/>
            </p:cNvSpPr>
            <p:nvPr/>
          </p:nvSpPr>
          <p:spPr bwMode="auto">
            <a:xfrm>
              <a:off x="4080" y="17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0</a:t>
              </a:r>
            </a:p>
          </p:txBody>
        </p:sp>
        <p:sp>
          <p:nvSpPr>
            <p:cNvPr id="581662" name="Text Box 30"/>
            <p:cNvSpPr txBox="1">
              <a:spLocks noChangeArrowheads="1"/>
            </p:cNvSpPr>
            <p:nvPr/>
          </p:nvSpPr>
          <p:spPr bwMode="auto">
            <a:xfrm>
              <a:off x="2256" y="17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0</a:t>
              </a:r>
            </a:p>
          </p:txBody>
        </p:sp>
        <p:sp>
          <p:nvSpPr>
            <p:cNvPr id="581663" name="Text Box 31"/>
            <p:cNvSpPr txBox="1">
              <a:spLocks noChangeArrowheads="1"/>
            </p:cNvSpPr>
            <p:nvPr/>
          </p:nvSpPr>
          <p:spPr bwMode="auto">
            <a:xfrm>
              <a:off x="804" y="1581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0</a:t>
              </a:r>
            </a:p>
          </p:txBody>
        </p:sp>
        <p:sp>
          <p:nvSpPr>
            <p:cNvPr id="581664" name="Text Box 32"/>
            <p:cNvSpPr txBox="1">
              <a:spLocks noChangeArrowheads="1"/>
            </p:cNvSpPr>
            <p:nvPr/>
          </p:nvSpPr>
          <p:spPr bwMode="auto">
            <a:xfrm>
              <a:off x="384" y="1104"/>
              <a:ext cx="115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                 b</a:t>
              </a:r>
            </a:p>
          </p:txBody>
        </p:sp>
        <p:sp>
          <p:nvSpPr>
            <p:cNvPr id="581665" name="Text Box 33"/>
            <p:cNvSpPr txBox="1">
              <a:spLocks noChangeArrowheads="1"/>
            </p:cNvSpPr>
            <p:nvPr/>
          </p:nvSpPr>
          <p:spPr bwMode="auto">
            <a:xfrm>
              <a:off x="1584" y="1104"/>
              <a:ext cx="16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   b           c          d</a:t>
              </a:r>
            </a:p>
          </p:txBody>
        </p:sp>
        <p:sp>
          <p:nvSpPr>
            <p:cNvPr id="581666" name="Text Box 34"/>
            <p:cNvSpPr txBox="1">
              <a:spLocks noChangeArrowheads="1"/>
            </p:cNvSpPr>
            <p:nvPr/>
          </p:nvSpPr>
          <p:spPr bwMode="auto">
            <a:xfrm>
              <a:off x="3360" y="816"/>
              <a:ext cx="13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a                     b</a:t>
              </a:r>
            </a:p>
          </p:txBody>
        </p:sp>
        <p:sp>
          <p:nvSpPr>
            <p:cNvPr id="581667" name="Text Box 35"/>
            <p:cNvSpPr txBox="1">
              <a:spLocks noChangeArrowheads="1"/>
            </p:cNvSpPr>
            <p:nvPr/>
          </p:nvSpPr>
          <p:spPr bwMode="auto">
            <a:xfrm>
              <a:off x="3408" y="1296"/>
              <a:ext cx="12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ea typeface="宋体" pitchFamily="2" charset="-122"/>
                </a:rPr>
                <a:t>c                    d</a:t>
              </a:r>
            </a:p>
          </p:txBody>
        </p:sp>
      </p:grpSp>
      <p:sp>
        <p:nvSpPr>
          <p:cNvPr id="581669" name="AutoShape 37"/>
          <p:cNvSpPr>
            <a:spLocks noChangeArrowheads="1"/>
          </p:cNvSpPr>
          <p:nvPr/>
        </p:nvSpPr>
        <p:spPr bwMode="auto">
          <a:xfrm>
            <a:off x="6011863" y="333375"/>
            <a:ext cx="2209800" cy="1066800"/>
          </a:xfrm>
          <a:prstGeom prst="cloudCallout">
            <a:avLst>
              <a:gd name="adj1" fmla="val -134912"/>
              <a:gd name="adj2" fmla="val 106694"/>
            </a:avLst>
          </a:prstGeom>
          <a:solidFill>
            <a:srgbClr val="FF99CC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ea typeface="宋体" pitchFamily="2" charset="-122"/>
              </a:rPr>
              <a:t>与有界格的关系？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1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1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16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D25B0C-DB29-4347-8A48-973F08A36A24}" type="slidenum">
              <a:rPr lang="en-US" altLang="zh-CN"/>
              <a:pPr/>
              <a:t>27</a:t>
            </a:fld>
            <a:endParaRPr lang="en-US" altLang="zh-CN"/>
          </a:p>
        </p:txBody>
      </p:sp>
      <p:sp>
        <p:nvSpPr>
          <p:cNvPr id="582658" name="Text Box 2"/>
          <p:cNvSpPr txBox="1">
            <a:spLocks noChangeArrowheads="1"/>
          </p:cNvSpPr>
          <p:nvPr/>
        </p:nvSpPr>
        <p:spPr bwMode="auto">
          <a:xfrm>
            <a:off x="466725" y="1125538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6-3.4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在有界分配格中，若某元素有补元素，则必是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唯一的</a:t>
            </a:r>
            <a:r>
              <a:rPr lang="zh-CN" altLang="en-US" b="1">
                <a:ea typeface="宋体" pitchFamily="2" charset="-122"/>
              </a:rPr>
              <a:t>。</a:t>
            </a:r>
          </a:p>
        </p:txBody>
      </p:sp>
      <p:sp>
        <p:nvSpPr>
          <p:cNvPr id="582659" name="Text Box 3"/>
          <p:cNvSpPr txBox="1">
            <a:spLocks noChangeArrowheads="1"/>
          </p:cNvSpPr>
          <p:nvPr/>
        </p:nvSpPr>
        <p:spPr bwMode="auto">
          <a:xfrm>
            <a:off x="466725" y="2133600"/>
            <a:ext cx="8277225" cy="1516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证明：设 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有两个补元素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和</a:t>
            </a:r>
            <a:r>
              <a:rPr lang="en-US" altLang="zh-CN" b="1" dirty="0">
                <a:ea typeface="宋体" pitchFamily="2" charset="-122"/>
              </a:rPr>
              <a:t>c</a:t>
            </a:r>
            <a:r>
              <a:rPr lang="zh-CN" altLang="en-US" b="1" dirty="0">
                <a:ea typeface="宋体" pitchFamily="2" charset="-122"/>
              </a:rPr>
              <a:t>，即有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           </a:t>
            </a:r>
            <a:r>
              <a:rPr lang="en-US" altLang="zh-CN" b="1" dirty="0">
                <a:ea typeface="宋体" pitchFamily="2" charset="-122"/>
              </a:rPr>
              <a:t>a ∨ b = 1      a ∧ b = 0</a:t>
            </a:r>
          </a:p>
          <a:p>
            <a:pPr>
              <a:lnSpc>
                <a:spcPct val="130000"/>
              </a:lnSpc>
            </a:pPr>
            <a:r>
              <a:rPr lang="en-US" altLang="zh-CN" b="1" dirty="0">
                <a:ea typeface="宋体" pitchFamily="2" charset="-122"/>
              </a:rPr>
              <a:t>           a ∨ c = 1      a ∧ c = 0    </a:t>
            </a:r>
            <a:r>
              <a:rPr lang="zh-CN" altLang="en-US" b="1" dirty="0">
                <a:ea typeface="宋体" pitchFamily="2" charset="-122"/>
              </a:rPr>
              <a:t>由定理</a:t>
            </a:r>
            <a:r>
              <a:rPr lang="en-US" altLang="zh-CN" b="1" dirty="0">
                <a:ea typeface="宋体" pitchFamily="2" charset="-122"/>
              </a:rPr>
              <a:t>6-2.3</a:t>
            </a:r>
            <a:r>
              <a:rPr lang="zh-CN" altLang="en-US" b="1" dirty="0">
                <a:ea typeface="宋体" pitchFamily="2" charset="-122"/>
              </a:rPr>
              <a:t>即得</a:t>
            </a:r>
            <a:r>
              <a:rPr lang="en-US" altLang="zh-CN" b="1" dirty="0">
                <a:ea typeface="宋体" pitchFamily="2" charset="-122"/>
              </a:rPr>
              <a:t>b=c.</a:t>
            </a:r>
          </a:p>
        </p:txBody>
      </p:sp>
      <p:sp>
        <p:nvSpPr>
          <p:cNvPr id="582660" name="AutoShape 4"/>
          <p:cNvSpPr>
            <a:spLocks noChangeArrowheads="1"/>
          </p:cNvSpPr>
          <p:nvPr/>
        </p:nvSpPr>
        <p:spPr bwMode="auto">
          <a:xfrm>
            <a:off x="4495800" y="3962400"/>
            <a:ext cx="4108450" cy="1698625"/>
          </a:xfrm>
          <a:prstGeom prst="wedgeRoundRectCallout">
            <a:avLst>
              <a:gd name="adj1" fmla="val -27319"/>
              <a:gd name="adj2" fmla="val -75981"/>
              <a:gd name="adj3" fmla="val 16667"/>
            </a:avLst>
          </a:prstGeom>
          <a:solidFill>
            <a:srgbClr val="FF99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just">
              <a:lnSpc>
                <a:spcPct val="120000"/>
              </a:lnSpc>
            </a:pPr>
            <a:r>
              <a:rPr lang="zh-CN" altLang="en-US" b="1">
                <a:ea typeface="宋体" pitchFamily="2" charset="-122"/>
              </a:rPr>
              <a:t>对于任意的</a:t>
            </a:r>
            <a:r>
              <a:rPr lang="en-US" altLang="zh-CN" b="1">
                <a:ea typeface="宋体" pitchFamily="2" charset="-122"/>
              </a:rPr>
              <a:t>a,b,c∈A</a:t>
            </a:r>
            <a:r>
              <a:rPr lang="zh-CN" altLang="en-US" b="1">
                <a:ea typeface="宋体" pitchFamily="2" charset="-122"/>
              </a:rPr>
              <a:t>，如果有</a:t>
            </a:r>
            <a:r>
              <a:rPr lang="en-US" altLang="zh-CN" b="1">
                <a:ea typeface="宋体" pitchFamily="2" charset="-122"/>
              </a:rPr>
              <a:t>a∧b=a∧c</a:t>
            </a:r>
            <a:r>
              <a:rPr lang="zh-CN" altLang="en-US" b="1">
                <a:ea typeface="宋体" pitchFamily="2" charset="-122"/>
              </a:rPr>
              <a:t>和</a:t>
            </a:r>
            <a:r>
              <a:rPr lang="en-US" altLang="zh-CN" b="1">
                <a:ea typeface="宋体" pitchFamily="2" charset="-122"/>
              </a:rPr>
              <a:t>a∨b=a∨c   </a:t>
            </a:r>
            <a:r>
              <a:rPr lang="zh-CN" altLang="en-US" b="1">
                <a:ea typeface="宋体" pitchFamily="2" charset="-122"/>
              </a:rPr>
              <a:t>成立，则必有</a:t>
            </a:r>
            <a:r>
              <a:rPr lang="en-US" altLang="zh-CN" b="1">
                <a:ea typeface="宋体" pitchFamily="2" charset="-122"/>
              </a:rPr>
              <a:t>b = c</a:t>
            </a:r>
            <a:endParaRPr lang="en-US" altLang="zh-CN">
              <a:ea typeface="宋体" pitchFamily="2" charset="-122"/>
            </a:endParaRP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2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2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2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82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660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0A3949-AEAF-486B-B6E0-30B9A1954B40}" type="slidenum">
              <a:rPr lang="en-US" altLang="zh-CN"/>
              <a:pPr/>
              <a:t>28</a:t>
            </a:fld>
            <a:endParaRPr lang="en-US" altLang="zh-CN"/>
          </a:p>
        </p:txBody>
      </p:sp>
      <p:sp>
        <p:nvSpPr>
          <p:cNvPr id="583682" name="Text Box 2"/>
          <p:cNvSpPr txBox="1">
            <a:spLocks noChangeArrowheads="1"/>
          </p:cNvSpPr>
          <p:nvPr/>
        </p:nvSpPr>
        <p:spPr bwMode="auto">
          <a:xfrm>
            <a:off x="466725" y="1268413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6-3.6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一个格如果它既是有补格，又是分配格，则称它是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有补分配格</a:t>
            </a:r>
            <a:r>
              <a:rPr lang="zh-CN" altLang="en-US" b="1">
                <a:ea typeface="宋体" pitchFamily="2" charset="-122"/>
              </a:rPr>
              <a:t>。</a:t>
            </a:r>
            <a:endParaRPr lang="zh-CN" altLang="en-US" b="1"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583683" name="Rectangle 3"/>
          <p:cNvSpPr>
            <a:spLocks noChangeArrowheads="1"/>
          </p:cNvSpPr>
          <p:nvPr/>
        </p:nvSpPr>
        <p:spPr bwMode="auto">
          <a:xfrm>
            <a:off x="466725" y="2420938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hlink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有补分配格中任一元素均有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唯一补元</a:t>
            </a:r>
            <a:r>
              <a:rPr lang="zh-CN" altLang="en-US" b="1">
                <a:ea typeface="宋体" pitchFamily="2" charset="-122"/>
              </a:rPr>
              <a:t>，元素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的补元记为      。</a:t>
            </a:r>
          </a:p>
        </p:txBody>
      </p:sp>
      <p:graphicFrame>
        <p:nvGraphicFramePr>
          <p:cNvPr id="583684" name="Object 4"/>
          <p:cNvGraphicFramePr>
            <a:graphicFrameLocks noChangeAspect="1"/>
          </p:cNvGraphicFramePr>
          <p:nvPr/>
        </p:nvGraphicFramePr>
        <p:xfrm>
          <a:off x="896938" y="2992438"/>
          <a:ext cx="3048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14" name="Microsoft 公式 3.0" r:id="rId3" imgW="126720" imgH="215640" progId="Equation.3">
                  <p:embed/>
                </p:oleObj>
              </mc:Choice>
              <mc:Fallback>
                <p:oleObj name="Microsoft 公式 3.0" r:id="rId3" imgW="126720" imgH="215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2992438"/>
                        <a:ext cx="3048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685" name="AutoShape 5"/>
          <p:cNvSpPr>
            <a:spLocks noChangeArrowheads="1"/>
          </p:cNvSpPr>
          <p:nvPr/>
        </p:nvSpPr>
        <p:spPr bwMode="auto">
          <a:xfrm>
            <a:off x="4572000" y="3716338"/>
            <a:ext cx="2667000" cy="1752600"/>
          </a:xfrm>
          <a:prstGeom prst="cloudCallout">
            <a:avLst>
              <a:gd name="adj1" fmla="val -146431"/>
              <a:gd name="adj2" fmla="val -129894"/>
            </a:avLst>
          </a:prstGeom>
          <a:solidFill>
            <a:srgbClr val="FF99CC"/>
          </a:solidFill>
          <a:ln w="12700" cap="sq">
            <a:solidFill>
              <a:srgbClr val="0000FF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ea typeface="宋体" pitchFamily="2" charset="-122"/>
              </a:rPr>
              <a:t>特点：有界、有补、服从分配律</a:t>
            </a:r>
          </a:p>
        </p:txBody>
      </p:sp>
      <p:sp>
        <p:nvSpPr>
          <p:cNvPr id="583686" name="AutoShape 6"/>
          <p:cNvSpPr>
            <a:spLocks noChangeArrowheads="1"/>
          </p:cNvSpPr>
          <p:nvPr/>
        </p:nvSpPr>
        <p:spPr bwMode="auto">
          <a:xfrm>
            <a:off x="900112" y="4005263"/>
            <a:ext cx="1871687" cy="762000"/>
          </a:xfrm>
          <a:prstGeom prst="wedgeEllipseCallout">
            <a:avLst>
              <a:gd name="adj1" fmla="val -35519"/>
              <a:gd name="adj2" fmla="val -275833"/>
            </a:avLst>
          </a:prstGeom>
          <a:solidFill>
            <a:srgbClr val="FFCC99"/>
          </a:solidFill>
          <a:ln w="12700" cap="sq">
            <a:solidFill>
              <a:schemeClr val="hlink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布尔格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3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83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83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683" grpId="0" autoUpdateAnimBg="0"/>
      <p:bldP spid="583685" grpId="0" animBg="1" autoUpdateAnimBg="0"/>
      <p:bldP spid="583686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12026D1-27EE-488E-8D30-6AE4C825725E}" type="slidenum">
              <a:rPr lang="en-US" altLang="zh-CN"/>
              <a:pPr/>
              <a:t>29</a:t>
            </a:fld>
            <a:endParaRPr lang="en-US" altLang="zh-CN"/>
          </a:p>
        </p:txBody>
      </p:sp>
      <p:sp>
        <p:nvSpPr>
          <p:cNvPr id="584706" name="Text Box 2"/>
          <p:cNvSpPr txBox="1">
            <a:spLocks noChangeArrowheads="1"/>
          </p:cNvSpPr>
          <p:nvPr/>
        </p:nvSpPr>
        <p:spPr bwMode="auto">
          <a:xfrm>
            <a:off x="468313" y="3109913"/>
            <a:ext cx="8277225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6-4.2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由布尔格</a:t>
            </a:r>
            <a:r>
              <a:rPr lang="en-US" altLang="zh-CN" b="1" dirty="0">
                <a:ea typeface="宋体" pitchFamily="2" charset="-122"/>
              </a:rPr>
              <a:t>&lt;A,</a:t>
            </a:r>
            <a:r>
              <a:rPr lang="en-US" altLang="zh-CN" b="1" dirty="0">
                <a:ea typeface="Arial Unicode MS" pitchFamily="34" charset="-122"/>
                <a:cs typeface="Arial Unicode MS" pitchFamily="34" charset="-122"/>
              </a:rPr>
              <a:t>≼</a:t>
            </a:r>
            <a:r>
              <a:rPr lang="en-US" altLang="zh-CN" b="1" dirty="0">
                <a:ea typeface="宋体" pitchFamily="2" charset="-122"/>
              </a:rPr>
              <a:t>&gt;</a:t>
            </a:r>
            <a:r>
              <a:rPr lang="zh-CN" altLang="en-US" b="1" dirty="0">
                <a:ea typeface="宋体" pitchFamily="2" charset="-122"/>
              </a:rPr>
              <a:t>所诱导的代数系统</a:t>
            </a:r>
            <a:r>
              <a:rPr lang="en-US" altLang="zh-CN" b="1" dirty="0">
                <a:ea typeface="宋体" pitchFamily="2" charset="-122"/>
              </a:rPr>
              <a:t>&lt;A,∨,∧,</a:t>
            </a:r>
            <a:r>
              <a:rPr lang="en-US" altLang="zh-CN" b="1" dirty="0" smtClean="0">
                <a:ea typeface="宋体" pitchFamily="2" charset="-122"/>
              </a:rPr>
              <a:t>ˉ &gt;</a:t>
            </a:r>
            <a:r>
              <a:rPr lang="zh-CN" altLang="en-US" b="1" dirty="0">
                <a:ea typeface="宋体" pitchFamily="2" charset="-122"/>
              </a:rPr>
              <a:t>，称为</a:t>
            </a:r>
            <a:r>
              <a:rPr lang="zh-CN" altLang="en-US" b="1" i="1" dirty="0">
                <a:solidFill>
                  <a:schemeClr val="hlink"/>
                </a:solidFill>
                <a:ea typeface="宋体" pitchFamily="2" charset="-122"/>
              </a:rPr>
              <a:t>布尔代数</a:t>
            </a:r>
            <a:r>
              <a:rPr lang="zh-CN" altLang="en-US" b="1" dirty="0">
                <a:ea typeface="宋体" pitchFamily="2" charset="-122"/>
              </a:rPr>
              <a:t>。 </a:t>
            </a:r>
          </a:p>
        </p:txBody>
      </p:sp>
      <p:grpSp>
        <p:nvGrpSpPr>
          <p:cNvPr id="584714" name="Group 10"/>
          <p:cNvGrpSpPr>
            <a:grpSpLocks/>
          </p:cNvGrpSpPr>
          <p:nvPr/>
        </p:nvGrpSpPr>
        <p:grpSpPr bwMode="auto">
          <a:xfrm>
            <a:off x="468313" y="2014538"/>
            <a:ext cx="8277225" cy="1041400"/>
            <a:chOff x="295" y="1269"/>
            <a:chExt cx="5214" cy="656"/>
          </a:xfrm>
        </p:grpSpPr>
        <p:sp>
          <p:nvSpPr>
            <p:cNvPr id="584708" name="Text Box 4"/>
            <p:cNvSpPr txBox="1">
              <a:spLocks noChangeArrowheads="1"/>
            </p:cNvSpPr>
            <p:nvPr/>
          </p:nvSpPr>
          <p:spPr bwMode="auto">
            <a:xfrm>
              <a:off x="295" y="1269"/>
              <a:ext cx="5214" cy="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just">
                <a:lnSpc>
                  <a:spcPct val="130000"/>
                </a:lnSpc>
                <a:buClr>
                  <a:schemeClr val="hlink"/>
                </a:buClr>
                <a:buFont typeface="Wingdings" pitchFamily="2" charset="2"/>
                <a:buChar char="Ø"/>
              </a:pPr>
              <a:r>
                <a:rPr lang="zh-CN" altLang="en-US" b="1" dirty="0">
                  <a:ea typeface="宋体" pitchFamily="2" charset="-122"/>
                </a:rPr>
                <a:t>布尔格中每一元素</a:t>
              </a:r>
              <a:r>
                <a:rPr lang="en-US" altLang="zh-CN" b="1" dirty="0">
                  <a:ea typeface="宋体" pitchFamily="2" charset="-122"/>
                </a:rPr>
                <a:t>a</a:t>
              </a:r>
              <a:r>
                <a:rPr lang="zh-CN" altLang="en-US" b="1" dirty="0">
                  <a:ea typeface="宋体" pitchFamily="2" charset="-122"/>
                </a:rPr>
                <a:t>都有唯一的补元   ，在</a:t>
              </a:r>
              <a:r>
                <a:rPr lang="en-US" altLang="zh-CN" b="1" dirty="0">
                  <a:ea typeface="宋体" pitchFamily="2" charset="-122"/>
                </a:rPr>
                <a:t>A</a:t>
              </a:r>
              <a:r>
                <a:rPr lang="zh-CN" altLang="en-US" b="1" dirty="0">
                  <a:ea typeface="宋体" pitchFamily="2" charset="-122"/>
                </a:rPr>
                <a:t>上确定一个一元运算，记为“ˉ” 。</a:t>
              </a:r>
            </a:p>
          </p:txBody>
        </p:sp>
        <p:graphicFrame>
          <p:nvGraphicFramePr>
            <p:cNvPr id="584709" name="Object 5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577539895"/>
                </p:ext>
              </p:extLst>
            </p:nvPr>
          </p:nvGraphicFramePr>
          <p:xfrm>
            <a:off x="3583" y="1322"/>
            <a:ext cx="16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84742" name="公式" r:id="rId3" imgW="126720" imgH="215640" progId="Equation.3">
                    <p:embed/>
                  </p:oleObj>
                </mc:Choice>
                <mc:Fallback>
                  <p:oleObj name="公式" r:id="rId3" imgW="12672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83" y="1322"/>
                          <a:ext cx="16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84710" name="Text Box 6"/>
          <p:cNvSpPr txBox="1">
            <a:spLocks noChangeArrowheads="1"/>
          </p:cNvSpPr>
          <p:nvPr/>
        </p:nvSpPr>
        <p:spPr bwMode="auto">
          <a:xfrm>
            <a:off x="468313" y="1341438"/>
            <a:ext cx="827722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6-4.1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一个有补分配格称为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布尔格</a:t>
            </a:r>
            <a:r>
              <a:rPr lang="zh-CN" altLang="en-US" b="1">
                <a:ea typeface="宋体" pitchFamily="2" charset="-122"/>
              </a:rPr>
              <a:t>。</a:t>
            </a:r>
          </a:p>
        </p:txBody>
      </p:sp>
      <p:sp>
        <p:nvSpPr>
          <p:cNvPr id="584711" name="Rectangle 7"/>
          <p:cNvSpPr>
            <a:spLocks noGrp="1" noChangeArrowheads="1"/>
          </p:cNvSpPr>
          <p:nvPr>
            <p:ph type="title"/>
          </p:nvPr>
        </p:nvSpPr>
        <p:spPr>
          <a:xfrm>
            <a:off x="990600" y="273050"/>
            <a:ext cx="7237413" cy="641350"/>
          </a:xfrm>
        </p:spPr>
        <p:txBody>
          <a:bodyPr/>
          <a:lstStyle/>
          <a:p>
            <a:r>
              <a:rPr kumimoji="1" lang="en-US" altLang="zh-CN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6-4  </a:t>
            </a:r>
            <a:r>
              <a:rPr kumimoji="1" lang="zh-CN" altLang="en-US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布尔代数</a:t>
            </a:r>
          </a:p>
        </p:txBody>
      </p:sp>
      <p:sp>
        <p:nvSpPr>
          <p:cNvPr id="584712" name="Text Box 8"/>
          <p:cNvSpPr txBox="1">
            <a:spLocks noChangeArrowheads="1"/>
          </p:cNvSpPr>
          <p:nvPr/>
        </p:nvSpPr>
        <p:spPr bwMode="auto">
          <a:xfrm>
            <a:off x="468313" y="4160838"/>
            <a:ext cx="827722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6-4.3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具有有限个元素的布尔代数称为</a:t>
            </a:r>
            <a:r>
              <a:rPr lang="zh-CN" altLang="en-US" b="1" i="1">
                <a:solidFill>
                  <a:schemeClr val="hlink"/>
                </a:solidFill>
                <a:ea typeface="宋体" pitchFamily="2" charset="-122"/>
              </a:rPr>
              <a:t>有限布尔代数</a:t>
            </a:r>
            <a:r>
              <a:rPr lang="zh-CN" altLang="en-US" b="1">
                <a:ea typeface="宋体" pitchFamily="2" charset="-122"/>
              </a:rPr>
              <a:t>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47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4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4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4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847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84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4706" grpId="0" autoUpdateAnimBg="0"/>
      <p:bldP spid="58471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12154D-8497-48DB-8D3C-A31CE85A27F6}" type="slidenum">
              <a:rPr lang="en-US" altLang="zh-CN"/>
              <a:pPr/>
              <a:t>30</a:t>
            </a:fld>
            <a:endParaRPr lang="en-US" altLang="zh-CN"/>
          </a:p>
        </p:txBody>
      </p:sp>
      <p:sp>
        <p:nvSpPr>
          <p:cNvPr id="586754" name="Text Box 2"/>
          <p:cNvSpPr txBox="1">
            <a:spLocks noChangeArrowheads="1"/>
          </p:cNvSpPr>
          <p:nvPr/>
        </p:nvSpPr>
        <p:spPr bwMode="auto">
          <a:xfrm>
            <a:off x="466725" y="1136650"/>
            <a:ext cx="827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定理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6-4.1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对于布尔代数中任意两个元素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b</a:t>
            </a:r>
            <a:r>
              <a:rPr lang="zh-CN" altLang="en-US" b="1">
                <a:ea typeface="宋体" pitchFamily="2" charset="-122"/>
              </a:rPr>
              <a:t>必定有</a:t>
            </a:r>
          </a:p>
        </p:txBody>
      </p:sp>
      <p:sp>
        <p:nvSpPr>
          <p:cNvPr id="586757" name="AutoShape 5"/>
          <p:cNvSpPr>
            <a:spLocks noChangeArrowheads="1"/>
          </p:cNvSpPr>
          <p:nvPr/>
        </p:nvSpPr>
        <p:spPr bwMode="auto">
          <a:xfrm>
            <a:off x="5943600" y="1822450"/>
            <a:ext cx="2800350" cy="1295400"/>
          </a:xfrm>
          <a:prstGeom prst="cloudCallout">
            <a:avLst>
              <a:gd name="adj1" fmla="val -75366"/>
              <a:gd name="adj2" fmla="val -20097"/>
            </a:avLst>
          </a:prstGeom>
          <a:solidFill>
            <a:srgbClr val="FF99CC"/>
          </a:solidFill>
          <a:ln w="12700" cap="sq">
            <a:solidFill>
              <a:schemeClr val="hlink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zh-CN" altLang="en-US" b="1">
                <a:ea typeface="宋体" pitchFamily="2" charset="-122"/>
              </a:rPr>
              <a:t>如何证明</a:t>
            </a:r>
            <a:r>
              <a:rPr lang="en-US" altLang="zh-CN" b="1">
                <a:ea typeface="宋体" pitchFamily="2" charset="-122"/>
              </a:rPr>
              <a:t>2</a:t>
            </a:r>
            <a:r>
              <a:rPr lang="zh-CN" altLang="en-US" b="1">
                <a:ea typeface="宋体" pitchFamily="2" charset="-122"/>
              </a:rPr>
              <a:t>个元素互补</a:t>
            </a:r>
          </a:p>
        </p:txBody>
      </p:sp>
      <p:graphicFrame>
        <p:nvGraphicFramePr>
          <p:cNvPr id="586759" name="Object 7"/>
          <p:cNvGraphicFramePr>
            <a:graphicFrameLocks noChangeAspect="1"/>
          </p:cNvGraphicFramePr>
          <p:nvPr/>
        </p:nvGraphicFramePr>
        <p:xfrm>
          <a:off x="3787775" y="1643063"/>
          <a:ext cx="15621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6787" name="Equation" r:id="rId3" imgW="1562040" imgH="1371600" progId="Equation.DSMT4">
                  <p:embed/>
                </p:oleObj>
              </mc:Choice>
              <mc:Fallback>
                <p:oleObj name="Equation" r:id="rId3" imgW="1562040" imgH="1371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1643063"/>
                        <a:ext cx="1562100" cy="1371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6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6757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CA78E6-AA7F-44C6-B2B1-16D6AF1A156F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587778" name="Text Box 2"/>
          <p:cNvSpPr txBox="1">
            <a:spLocks noChangeArrowheads="1"/>
          </p:cNvSpPr>
          <p:nvPr/>
        </p:nvSpPr>
        <p:spPr bwMode="auto">
          <a:xfrm>
            <a:off x="466725" y="1125538"/>
            <a:ext cx="8277225" cy="3414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6-4.4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 ∨, ∧,ˉ&gt;</a:t>
            </a:r>
            <a:r>
              <a:rPr lang="zh-CN" altLang="en-US" b="1" dirty="0">
                <a:ea typeface="宋体" pitchFamily="2" charset="-122"/>
              </a:rPr>
              <a:t>和 </a:t>
            </a:r>
            <a:r>
              <a:rPr lang="en-US" altLang="zh-CN" b="1" dirty="0">
                <a:ea typeface="宋体" pitchFamily="2" charset="-122"/>
              </a:rPr>
              <a:t>&lt;B, ∨, ∧,ˉ&gt;</a:t>
            </a:r>
            <a:r>
              <a:rPr lang="zh-CN" altLang="en-US" b="1" dirty="0">
                <a:ea typeface="宋体" pitchFamily="2" charset="-122"/>
              </a:rPr>
              <a:t>是两个布尔代数，如果存在着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到</a:t>
            </a:r>
            <a:r>
              <a:rPr lang="en-US" altLang="zh-CN" b="1" dirty="0">
                <a:ea typeface="宋体" pitchFamily="2" charset="-122"/>
              </a:rPr>
              <a:t>B</a:t>
            </a:r>
            <a:r>
              <a:rPr lang="zh-CN" altLang="en-US" b="1" dirty="0">
                <a:ea typeface="宋体" pitchFamily="2" charset="-122"/>
              </a:rPr>
              <a:t>的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双射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f</a:t>
            </a:r>
            <a:r>
              <a:rPr lang="zh-CN" altLang="en-US" b="1" dirty="0">
                <a:ea typeface="宋体" pitchFamily="2" charset="-122"/>
              </a:rPr>
              <a:t>，对于任意的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，</a:t>
            </a:r>
            <a:r>
              <a:rPr lang="en-US" altLang="zh-CN" b="1" dirty="0" err="1">
                <a:ea typeface="宋体" pitchFamily="2" charset="-122"/>
              </a:rPr>
              <a:t>b∈A</a:t>
            </a:r>
            <a:r>
              <a:rPr lang="zh-CN" altLang="en-US" b="1" dirty="0">
                <a:ea typeface="宋体" pitchFamily="2" charset="-122"/>
              </a:rPr>
              <a:t>，都有以下三式成立，</a:t>
            </a:r>
          </a:p>
          <a:p>
            <a:pPr>
              <a:lnSpc>
                <a:spcPct val="130000"/>
              </a:lnSpc>
            </a:pPr>
            <a:endParaRPr lang="zh-CN" altLang="en-US" b="1" dirty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b="1" dirty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endParaRPr lang="zh-CN" altLang="en-US" b="1" dirty="0">
              <a:ea typeface="宋体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b="1" dirty="0">
                <a:ea typeface="宋体" pitchFamily="2" charset="-122"/>
              </a:rPr>
              <a:t>则称</a:t>
            </a:r>
            <a:r>
              <a:rPr lang="en-US" altLang="zh-CN" b="1" dirty="0">
                <a:ea typeface="宋体" pitchFamily="2" charset="-122"/>
              </a:rPr>
              <a:t>&lt;A,∨,∧,</a:t>
            </a:r>
            <a:r>
              <a:rPr lang="en-US" altLang="zh-CN" b="1" dirty="0" smtClean="0">
                <a:ea typeface="宋体" pitchFamily="2" charset="-122"/>
              </a:rPr>
              <a:t>ˉ &gt;</a:t>
            </a:r>
            <a:r>
              <a:rPr lang="zh-CN" altLang="en-US" b="1" dirty="0">
                <a:ea typeface="宋体" pitchFamily="2" charset="-122"/>
              </a:rPr>
              <a:t>和 </a:t>
            </a:r>
            <a:r>
              <a:rPr lang="en-US" altLang="zh-CN" b="1" dirty="0">
                <a:ea typeface="宋体" pitchFamily="2" charset="-122"/>
              </a:rPr>
              <a:t>&lt;B,∨,∧,</a:t>
            </a:r>
            <a:r>
              <a:rPr lang="en-US" altLang="zh-CN" b="1" dirty="0" smtClean="0">
                <a:ea typeface="宋体" pitchFamily="2" charset="-122"/>
              </a:rPr>
              <a:t>ˉ &gt;</a:t>
            </a:r>
            <a:r>
              <a:rPr lang="zh-CN" altLang="en-US" b="1" i="1" dirty="0">
                <a:solidFill>
                  <a:schemeClr val="hlink"/>
                </a:solidFill>
                <a:ea typeface="宋体" pitchFamily="2" charset="-122"/>
              </a:rPr>
              <a:t>同构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graphicFrame>
        <p:nvGraphicFramePr>
          <p:cNvPr id="587781" name="Object 5"/>
          <p:cNvGraphicFramePr>
            <a:graphicFrameLocks noChangeAspect="1"/>
          </p:cNvGraphicFramePr>
          <p:nvPr/>
        </p:nvGraphicFramePr>
        <p:xfrm>
          <a:off x="3232150" y="2636838"/>
          <a:ext cx="26797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7809" name="Equation" r:id="rId3" imgW="2679480" imgH="1206360" progId="Equation.DSMT4">
                  <p:embed/>
                </p:oleObj>
              </mc:Choice>
              <mc:Fallback>
                <p:oleObj name="Equation" r:id="rId3" imgW="2679480" imgH="1206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2150" y="2636838"/>
                        <a:ext cx="2679700" cy="1206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77B3D1D-904C-465B-8CE5-BFAD8E3A2BE2}" type="slidenum">
              <a:rPr lang="en-US" altLang="zh-CN"/>
              <a:pPr/>
              <a:t>32</a:t>
            </a:fld>
            <a:endParaRPr lang="en-US" altLang="zh-CN"/>
          </a:p>
        </p:txBody>
      </p:sp>
      <p:sp>
        <p:nvSpPr>
          <p:cNvPr id="598018" name="Text Box 2"/>
          <p:cNvSpPr txBox="1">
            <a:spLocks noChangeArrowheads="1"/>
          </p:cNvSpPr>
          <p:nvPr/>
        </p:nvSpPr>
        <p:spPr bwMode="auto">
          <a:xfrm>
            <a:off x="466725" y="981075"/>
            <a:ext cx="8277225" cy="270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412875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2201863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990850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3779838" indent="-609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42370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46942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51514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5608638" indent="-609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sz="3200" b="1" dirty="0">
                <a:latin typeface="楷体_GB2312" pitchFamily="49" charset="-122"/>
                <a:ea typeface="楷体_GB2312" pitchFamily="49" charset="-122"/>
              </a:rPr>
              <a:t>一、函数的表示方法</a:t>
            </a:r>
          </a:p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、列表法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设</a:t>
            </a:r>
            <a:r>
              <a:rPr lang="en-US" altLang="zh-CN" b="1" dirty="0"/>
              <a:t>&lt;{0, 1},∨,∧,</a:t>
            </a:r>
            <a:r>
              <a:rPr lang="en-US" altLang="zh-CN" b="1" dirty="0" smtClean="0"/>
              <a:t>ˉ &gt;</a:t>
            </a:r>
            <a:r>
              <a:rPr lang="zh-CN" altLang="en-US" b="1" dirty="0"/>
              <a:t>是一个布尔代数，一个从</a:t>
            </a:r>
            <a:r>
              <a:rPr lang="en-US" altLang="zh-CN" b="1" dirty="0"/>
              <a:t>{0,1}</a:t>
            </a:r>
            <a:r>
              <a:rPr lang="en-US" altLang="zh-CN" b="1" baseline="30000" dirty="0"/>
              <a:t>3</a:t>
            </a:r>
            <a:r>
              <a:rPr lang="en-US" altLang="zh-CN" b="1" dirty="0"/>
              <a:t>→{0,1}</a:t>
            </a:r>
            <a:r>
              <a:rPr lang="zh-CN" altLang="en-US" b="1" dirty="0"/>
              <a:t>的函数</a:t>
            </a:r>
            <a:r>
              <a:rPr lang="en-US" altLang="zh-CN" b="1" dirty="0"/>
              <a:t>f</a:t>
            </a:r>
            <a:r>
              <a:rPr lang="zh-CN" altLang="en-US" b="1" dirty="0"/>
              <a:t>，使用变量可表示为</a:t>
            </a:r>
            <a:r>
              <a:rPr lang="en-US" altLang="zh-CN" b="1" dirty="0"/>
              <a:t>f(x)=y</a:t>
            </a:r>
            <a:r>
              <a:rPr lang="zh-CN" altLang="en-US" b="1" dirty="0"/>
              <a:t>，其中</a:t>
            </a:r>
            <a:r>
              <a:rPr lang="en-US" altLang="zh-CN" b="1" dirty="0"/>
              <a:t>x</a:t>
            </a:r>
            <a:r>
              <a:rPr lang="zh-CN" altLang="en-US" b="1" dirty="0"/>
              <a:t>为三元组，</a:t>
            </a:r>
          </a:p>
          <a:p>
            <a:pPr>
              <a:lnSpc>
                <a:spcPct val="130000"/>
              </a:lnSpc>
            </a:pPr>
            <a:r>
              <a:rPr lang="zh-CN" altLang="en-US" b="1" dirty="0"/>
              <a:t>具体取值可用下表表示：                                     </a:t>
            </a:r>
          </a:p>
        </p:txBody>
      </p:sp>
      <p:graphicFrame>
        <p:nvGraphicFramePr>
          <p:cNvPr id="598033" name="Group 17"/>
          <p:cNvGraphicFramePr>
            <a:graphicFrameLocks noGrp="1"/>
          </p:cNvGraphicFramePr>
          <p:nvPr/>
        </p:nvGraphicFramePr>
        <p:xfrm>
          <a:off x="5292725" y="3429000"/>
          <a:ext cx="2362200" cy="3065336"/>
        </p:xfrm>
        <a:graphic>
          <a:graphicData uri="http://schemas.openxmlformats.org/drawingml/2006/table">
            <a:tbl>
              <a:tblPr/>
              <a:tblGrid>
                <a:gridCol w="1512888"/>
                <a:gridCol w="849312"/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0,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0,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1,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1,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0,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0,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1,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1, 1&gt;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8031" name="Rectangle 15"/>
          <p:cNvSpPr>
            <a:spLocks noGrp="1" noChangeArrowheads="1"/>
          </p:cNvSpPr>
          <p:nvPr>
            <p:ph type="title"/>
          </p:nvPr>
        </p:nvSpPr>
        <p:spPr>
          <a:xfrm>
            <a:off x="990600" y="273050"/>
            <a:ext cx="7237413" cy="641350"/>
          </a:xfrm>
        </p:spPr>
        <p:txBody>
          <a:bodyPr/>
          <a:lstStyle/>
          <a:p>
            <a:r>
              <a:rPr kumimoji="1" lang="en-US" altLang="zh-CN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6-5  </a:t>
            </a:r>
            <a:r>
              <a:rPr kumimoji="1" lang="zh-CN" altLang="en-US" sz="3600">
                <a:solidFill>
                  <a:srgbClr val="0000CC"/>
                </a:solidFill>
                <a:latin typeface="华文行楷" pitchFamily="2" charset="-122"/>
                <a:ea typeface="华文行楷" pitchFamily="2" charset="-122"/>
              </a:rPr>
              <a:t>布尔表达式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1DAB779-CCC5-4342-B9A6-F54AF1FF28FB}" type="slidenum">
              <a:rPr lang="en-US" altLang="zh-CN"/>
              <a:pPr/>
              <a:t>33</a:t>
            </a:fld>
            <a:endParaRPr lang="en-US" altLang="zh-CN"/>
          </a:p>
        </p:txBody>
      </p:sp>
      <p:sp>
        <p:nvSpPr>
          <p:cNvPr id="599042" name="Text Box 2"/>
          <p:cNvSpPr txBox="1">
            <a:spLocks noChangeArrowheads="1"/>
          </p:cNvSpPr>
          <p:nvPr/>
        </p:nvSpPr>
        <p:spPr bwMode="auto">
          <a:xfrm>
            <a:off x="466725" y="1052513"/>
            <a:ext cx="8277225" cy="337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5850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22438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9025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5613" indent="-457200"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52813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10013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7213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24413" indent="-457200" fontAlgn="base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</a:rPr>
              <a:t>6-5.1</a:t>
            </a:r>
            <a:r>
              <a:rPr lang="zh-CN" altLang="en-US" b="1" dirty="0">
                <a:solidFill>
                  <a:schemeClr val="hlink"/>
                </a:solidFill>
              </a:rPr>
              <a:t>：</a:t>
            </a:r>
            <a:r>
              <a:rPr lang="zh-CN" altLang="en-US" b="1" dirty="0"/>
              <a:t>设</a:t>
            </a:r>
            <a:r>
              <a:rPr lang="en-US" altLang="zh-CN" b="1" dirty="0"/>
              <a:t>&lt; A,∨,∧,ˉ&gt;</a:t>
            </a:r>
            <a:r>
              <a:rPr lang="zh-CN" altLang="en-US" b="1" dirty="0"/>
              <a:t>是一个布尔代数，并在这个布尔代数上定义布尔表达式如下：</a:t>
            </a: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zh-CN" altLang="en-US" b="1" dirty="0"/>
              <a:t> </a:t>
            </a:r>
            <a:r>
              <a:rPr lang="en-US" altLang="zh-CN" b="1" dirty="0"/>
              <a:t>A</a:t>
            </a:r>
            <a:r>
              <a:rPr lang="zh-CN" altLang="en-US" b="1" dirty="0"/>
              <a:t>中</a:t>
            </a:r>
            <a:r>
              <a:rPr lang="zh-CN" altLang="en-US" b="1" i="1" dirty="0">
                <a:solidFill>
                  <a:srgbClr val="0033CC"/>
                </a:solidFill>
              </a:rPr>
              <a:t>任何元素</a:t>
            </a:r>
            <a:r>
              <a:rPr lang="zh-CN" altLang="en-US" b="1" dirty="0"/>
              <a:t>是一个布尔表达式。</a:t>
            </a: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zh-CN" altLang="en-US" b="1" i="1" dirty="0"/>
              <a:t> </a:t>
            </a:r>
            <a:r>
              <a:rPr lang="zh-CN" altLang="en-US" b="1" i="1" dirty="0">
                <a:solidFill>
                  <a:srgbClr val="0033CC"/>
                </a:solidFill>
              </a:rPr>
              <a:t>任何变元</a:t>
            </a:r>
            <a:r>
              <a:rPr lang="zh-CN" altLang="en-US" b="1" dirty="0"/>
              <a:t>是一个布尔表达式。</a:t>
            </a: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zh-CN" altLang="en-US" b="1" dirty="0"/>
              <a:t> 如果</a:t>
            </a:r>
            <a:r>
              <a:rPr lang="en-US" altLang="zh-CN" b="1" dirty="0"/>
              <a:t>e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和</a:t>
            </a:r>
            <a:r>
              <a:rPr lang="en-US" altLang="zh-CN" b="1" dirty="0"/>
              <a:t>e</a:t>
            </a:r>
            <a:r>
              <a:rPr lang="en-US" altLang="zh-CN" b="1" baseline="-25000" dirty="0"/>
              <a:t>2</a:t>
            </a:r>
            <a:r>
              <a:rPr lang="zh-CN" altLang="en-US" b="1" dirty="0"/>
              <a:t>是布尔表达式，那么    ，</a:t>
            </a:r>
            <a:r>
              <a:rPr lang="en-US" altLang="zh-CN" b="1" dirty="0">
                <a:solidFill>
                  <a:srgbClr val="0033CC"/>
                </a:solidFill>
              </a:rPr>
              <a:t>(e</a:t>
            </a:r>
            <a:r>
              <a:rPr lang="en-US" altLang="zh-CN" b="1" baseline="-25000" dirty="0">
                <a:solidFill>
                  <a:srgbClr val="0033CC"/>
                </a:solidFill>
              </a:rPr>
              <a:t>1</a:t>
            </a:r>
            <a:r>
              <a:rPr lang="en-US" altLang="zh-CN" b="1" dirty="0">
                <a:solidFill>
                  <a:srgbClr val="0033CC"/>
                </a:solidFill>
              </a:rPr>
              <a:t> ∨ e</a:t>
            </a:r>
            <a:r>
              <a:rPr lang="en-US" altLang="zh-CN" b="1" baseline="-25000" dirty="0">
                <a:solidFill>
                  <a:srgbClr val="0033CC"/>
                </a:solidFill>
              </a:rPr>
              <a:t>2</a:t>
            </a:r>
            <a:r>
              <a:rPr lang="en-US" altLang="zh-CN" b="1" dirty="0">
                <a:solidFill>
                  <a:srgbClr val="0033CC"/>
                </a:solidFill>
              </a:rPr>
              <a:t>)</a:t>
            </a:r>
            <a:r>
              <a:rPr lang="zh-CN" altLang="en-US" b="1" dirty="0"/>
              <a:t>，</a:t>
            </a:r>
            <a:r>
              <a:rPr lang="en-US" altLang="zh-CN" b="1" dirty="0">
                <a:solidFill>
                  <a:srgbClr val="0033CC"/>
                </a:solidFill>
              </a:rPr>
              <a:t>(e</a:t>
            </a:r>
            <a:r>
              <a:rPr lang="en-US" altLang="zh-CN" b="1" baseline="-25000" dirty="0">
                <a:solidFill>
                  <a:srgbClr val="0033CC"/>
                </a:solidFill>
              </a:rPr>
              <a:t>1</a:t>
            </a:r>
            <a:r>
              <a:rPr lang="en-US" altLang="zh-CN" b="1" dirty="0">
                <a:solidFill>
                  <a:srgbClr val="0033CC"/>
                </a:solidFill>
              </a:rPr>
              <a:t> ∧ e</a:t>
            </a:r>
            <a:r>
              <a:rPr lang="en-US" altLang="zh-CN" b="1" baseline="-25000" dirty="0">
                <a:solidFill>
                  <a:srgbClr val="0033CC"/>
                </a:solidFill>
              </a:rPr>
              <a:t>2</a:t>
            </a:r>
            <a:r>
              <a:rPr lang="en-US" altLang="zh-CN" b="1" dirty="0">
                <a:solidFill>
                  <a:srgbClr val="0033CC"/>
                </a:solidFill>
              </a:rPr>
              <a:t>)</a:t>
            </a:r>
            <a:r>
              <a:rPr lang="zh-CN" altLang="en-US" b="1" dirty="0"/>
              <a:t>都是布尔表达式。</a:t>
            </a:r>
          </a:p>
          <a:p>
            <a:pPr>
              <a:lnSpc>
                <a:spcPct val="130000"/>
              </a:lnSpc>
              <a:buFontTx/>
              <a:buAutoNum type="arabicPeriod"/>
            </a:pPr>
            <a:r>
              <a:rPr lang="zh-CN" altLang="en-US" b="1" dirty="0"/>
              <a:t> 只有有限次运用规则</a:t>
            </a:r>
            <a:r>
              <a:rPr lang="en-US" altLang="zh-CN" b="1" dirty="0"/>
              <a:t>2</a:t>
            </a:r>
            <a:r>
              <a:rPr lang="zh-CN" altLang="en-US" b="1" dirty="0"/>
              <a:t>，</a:t>
            </a:r>
            <a:r>
              <a:rPr lang="en-US" altLang="zh-CN" b="1" dirty="0"/>
              <a:t>3</a:t>
            </a:r>
            <a:r>
              <a:rPr lang="zh-CN" altLang="en-US" b="1" dirty="0"/>
              <a:t>所构造的</a:t>
            </a:r>
            <a:r>
              <a:rPr lang="zh-CN" altLang="en-US" b="1" i="1" dirty="0">
                <a:solidFill>
                  <a:srgbClr val="0033CC"/>
                </a:solidFill>
              </a:rPr>
              <a:t>符号串</a:t>
            </a:r>
            <a:r>
              <a:rPr lang="zh-CN" altLang="en-US" b="1" dirty="0"/>
              <a:t>是布尔表达式。</a:t>
            </a:r>
          </a:p>
        </p:txBody>
      </p:sp>
      <p:sp>
        <p:nvSpPr>
          <p:cNvPr id="599043" name="Text Box 3"/>
          <p:cNvSpPr txBox="1">
            <a:spLocks noChangeArrowheads="1"/>
          </p:cNvSpPr>
          <p:nvPr/>
        </p:nvSpPr>
        <p:spPr bwMode="auto">
          <a:xfrm>
            <a:off x="466725" y="4508500"/>
            <a:ext cx="827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chemeClr val="folHlink"/>
                </a:solidFill>
                <a:ea typeface="宋体" pitchFamily="2" charset="-122"/>
              </a:rPr>
              <a:t>例：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&lt;{0,1,2,3}, ∨,∧,</a:t>
            </a:r>
            <a:r>
              <a:rPr lang="en-US" altLang="zh-CN" b="1" dirty="0" smtClean="0">
                <a:ea typeface="宋体" pitchFamily="2" charset="-122"/>
              </a:rPr>
              <a:t>ˉ &gt;</a:t>
            </a:r>
            <a:r>
              <a:rPr lang="zh-CN" altLang="en-US" b="1" dirty="0">
                <a:ea typeface="宋体" pitchFamily="2" charset="-122"/>
              </a:rPr>
              <a:t>是一个布尔代数，</a:t>
            </a:r>
          </a:p>
        </p:txBody>
      </p:sp>
      <p:sp>
        <p:nvSpPr>
          <p:cNvPr id="599046" name="Rectangle 6"/>
          <p:cNvSpPr>
            <a:spLocks noGrp="1" noChangeArrowheads="1"/>
          </p:cNvSpPr>
          <p:nvPr>
            <p:ph type="title"/>
          </p:nvPr>
        </p:nvSpPr>
        <p:spPr>
          <a:xfrm>
            <a:off x="990600" y="395288"/>
            <a:ext cx="7237413" cy="519112"/>
          </a:xfrm>
        </p:spPr>
        <p:txBody>
          <a:bodyPr/>
          <a:lstStyle/>
          <a:p>
            <a:r>
              <a:rPr kumimoji="1" lang="en-US" altLang="zh-CN" sz="28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kumimoji="1" lang="zh-CN" altLang="en-US" sz="280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布尔表达式</a:t>
            </a:r>
          </a:p>
        </p:txBody>
      </p:sp>
      <p:graphicFrame>
        <p:nvGraphicFramePr>
          <p:cNvPr id="599047" name="Object 7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657004"/>
              </p:ext>
            </p:extLst>
          </p:nvPr>
        </p:nvGraphicFramePr>
        <p:xfrm>
          <a:off x="5077432" y="3026093"/>
          <a:ext cx="258768" cy="3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103" name="Equation" r:id="rId3" imgW="215640" imgH="330120" progId="Equation.DSMT4">
                  <p:embed/>
                </p:oleObj>
              </mc:Choice>
              <mc:Fallback>
                <p:oleObj name="Equation" r:id="rId3" imgW="215640" imgH="33012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7432" y="3026093"/>
                        <a:ext cx="258768" cy="396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9048" name="Object 8"/>
          <p:cNvGraphicFramePr>
            <a:graphicFrameLocks noChangeAspect="1"/>
          </p:cNvGraphicFramePr>
          <p:nvPr/>
        </p:nvGraphicFramePr>
        <p:xfrm>
          <a:off x="606425" y="5065713"/>
          <a:ext cx="6197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9104" name="Equation" r:id="rId5" imgW="6197400" imgH="419040" progId="Equation.DSMT4">
                  <p:embed/>
                </p:oleObj>
              </mc:Choice>
              <mc:Fallback>
                <p:oleObj name="Equation" r:id="rId5" imgW="619740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6425" y="5065713"/>
                        <a:ext cx="6197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9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990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9043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64AA65D-AC62-4677-80B0-F790BBAC083A}" type="slidenum">
              <a:rPr lang="en-US" altLang="zh-CN"/>
              <a:pPr/>
              <a:t>34</a:t>
            </a:fld>
            <a:endParaRPr lang="en-US" altLang="zh-CN"/>
          </a:p>
        </p:txBody>
      </p:sp>
      <p:sp>
        <p:nvSpPr>
          <p:cNvPr id="600066" name="Text Box 2"/>
          <p:cNvSpPr txBox="1">
            <a:spLocks noChangeArrowheads="1"/>
          </p:cNvSpPr>
          <p:nvPr/>
        </p:nvSpPr>
        <p:spPr bwMode="auto">
          <a:xfrm>
            <a:off x="466725" y="1341438"/>
            <a:ext cx="8277225" cy="2465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6-5.2-3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一个含有</a:t>
            </a:r>
            <a:r>
              <a:rPr lang="en-US" altLang="zh-CN" b="1">
                <a:ea typeface="宋体" pitchFamily="2" charset="-122"/>
              </a:rPr>
              <a:t>n</a:t>
            </a:r>
            <a:r>
              <a:rPr lang="zh-CN" altLang="en-US" b="1">
                <a:ea typeface="宋体" pitchFamily="2" charset="-122"/>
              </a:rPr>
              <a:t>个相异变元的布尔表达式，称为</a:t>
            </a:r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含有</a:t>
            </a:r>
            <a:r>
              <a:rPr lang="en-US" altLang="zh-CN" b="1" i="1">
                <a:solidFill>
                  <a:srgbClr val="0033CC"/>
                </a:solidFill>
                <a:ea typeface="宋体" pitchFamily="2" charset="-122"/>
              </a:rPr>
              <a:t>n</a:t>
            </a:r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元的布尔表达式</a:t>
            </a:r>
            <a:r>
              <a:rPr lang="zh-CN" altLang="en-US" b="1">
                <a:ea typeface="宋体" pitchFamily="2" charset="-122"/>
              </a:rPr>
              <a:t>。记为</a:t>
            </a:r>
            <a:r>
              <a:rPr lang="en-US" altLang="zh-CN" b="1">
                <a:ea typeface="宋体" pitchFamily="2" charset="-122"/>
              </a:rPr>
              <a:t>E(x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 …,x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en-US" altLang="zh-CN" b="1">
                <a:ea typeface="宋体" pitchFamily="2" charset="-122"/>
              </a:rPr>
              <a:t>)</a:t>
            </a:r>
            <a:r>
              <a:rPr lang="zh-CN" altLang="en-US" b="1">
                <a:ea typeface="宋体" pitchFamily="2" charset="-122"/>
              </a:rPr>
              <a:t>，其中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…</a:t>
            </a:r>
            <a:r>
              <a:rPr lang="zh-CN" altLang="en-US" b="1">
                <a:ea typeface="宋体" pitchFamily="2" charset="-122"/>
              </a:rPr>
              <a:t>，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zh-CN" altLang="en-US" b="1">
                <a:ea typeface="宋体" pitchFamily="2" charset="-122"/>
              </a:rPr>
              <a:t>为变元。一个含有</a:t>
            </a:r>
            <a:r>
              <a:rPr lang="en-US" altLang="zh-CN" b="1">
                <a:solidFill>
                  <a:srgbClr val="0033CC"/>
                </a:solidFill>
                <a:ea typeface="宋体" pitchFamily="2" charset="-122"/>
              </a:rPr>
              <a:t>n</a:t>
            </a:r>
            <a:r>
              <a:rPr lang="zh-CN" altLang="en-US" b="1">
                <a:solidFill>
                  <a:srgbClr val="0033CC"/>
                </a:solidFill>
                <a:ea typeface="宋体" pitchFamily="2" charset="-122"/>
              </a:rPr>
              <a:t>元的布尔表达式的值</a:t>
            </a:r>
            <a:r>
              <a:rPr lang="zh-CN" altLang="en-US" b="1">
                <a:ea typeface="宋体" pitchFamily="2" charset="-122"/>
              </a:rPr>
              <a:t>是指：将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中的元素作为变元</a:t>
            </a:r>
            <a:r>
              <a:rPr lang="en-US" altLang="zh-CN" b="1">
                <a:ea typeface="宋体" pitchFamily="2" charset="-122"/>
              </a:rPr>
              <a:t>x</a:t>
            </a:r>
            <a:r>
              <a:rPr lang="en-US" altLang="zh-CN" b="1" baseline="-25000">
                <a:ea typeface="宋体" pitchFamily="2" charset="-122"/>
              </a:rPr>
              <a:t>i</a:t>
            </a:r>
            <a:r>
              <a:rPr lang="en-US" altLang="zh-CN" b="1">
                <a:ea typeface="宋体" pitchFamily="2" charset="-122"/>
              </a:rPr>
              <a:t>(i=1,2,…,n)</a:t>
            </a:r>
            <a:r>
              <a:rPr lang="zh-CN" altLang="en-US" b="1">
                <a:ea typeface="宋体" pitchFamily="2" charset="-122"/>
              </a:rPr>
              <a:t>的值来代替表达式中相应的变元</a:t>
            </a:r>
            <a:r>
              <a:rPr lang="en-US" altLang="zh-CN" b="1">
                <a:ea typeface="宋体" pitchFamily="2" charset="-122"/>
              </a:rPr>
              <a:t>(</a:t>
            </a:r>
            <a:r>
              <a:rPr lang="zh-CN" altLang="en-US" b="1">
                <a:ea typeface="宋体" pitchFamily="2" charset="-122"/>
              </a:rPr>
              <a:t>即对变元赋值</a:t>
            </a:r>
            <a:r>
              <a:rPr lang="en-US" altLang="zh-CN" b="1">
                <a:ea typeface="宋体" pitchFamily="2" charset="-122"/>
              </a:rPr>
              <a:t>)</a:t>
            </a:r>
            <a:r>
              <a:rPr lang="zh-CN" altLang="en-US" b="1">
                <a:ea typeface="宋体" pitchFamily="2" charset="-122"/>
              </a:rPr>
              <a:t>，从而计算出表达式的值。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219A2D-0426-4622-98BA-148D885284CB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602116" name="Text Box 4"/>
          <p:cNvSpPr txBox="1">
            <a:spLocks noChangeArrowheads="1"/>
          </p:cNvSpPr>
          <p:nvPr/>
        </p:nvSpPr>
        <p:spPr bwMode="auto">
          <a:xfrm>
            <a:off x="466725" y="3211513"/>
            <a:ext cx="8277225" cy="5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ea typeface="宋体" pitchFamily="2" charset="-122"/>
              </a:rPr>
              <a:t>则称这</a:t>
            </a:r>
            <a:r>
              <a:rPr lang="zh-CN" altLang="en-US" b="1" i="1">
                <a:solidFill>
                  <a:srgbClr val="0033CC"/>
                </a:solidFill>
                <a:ea typeface="宋体" pitchFamily="2" charset="-122"/>
              </a:rPr>
              <a:t>两个布尔表达式是等价的</a:t>
            </a:r>
            <a:r>
              <a:rPr lang="zh-CN" altLang="en-US" b="1">
                <a:ea typeface="宋体" pitchFamily="2" charset="-122"/>
              </a:rPr>
              <a:t>。记为</a:t>
            </a:r>
          </a:p>
        </p:txBody>
      </p:sp>
      <p:graphicFrame>
        <p:nvGraphicFramePr>
          <p:cNvPr id="602120" name="Object 8"/>
          <p:cNvGraphicFramePr>
            <a:graphicFrameLocks noChangeAspect="1"/>
          </p:cNvGraphicFramePr>
          <p:nvPr/>
        </p:nvGraphicFramePr>
        <p:xfrm>
          <a:off x="2265363" y="2759075"/>
          <a:ext cx="452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235" name="Equation" r:id="rId3" imgW="4520880" imgH="380880" progId="Equation.DSMT4">
                  <p:embed/>
                </p:oleObj>
              </mc:Choice>
              <mc:Fallback>
                <p:oleObj name="Equation" r:id="rId3" imgW="4520880" imgH="3808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2759075"/>
                        <a:ext cx="4521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2125" name="Group 13"/>
          <p:cNvGrpSpPr>
            <a:grpSpLocks/>
          </p:cNvGrpSpPr>
          <p:nvPr/>
        </p:nvGrpSpPr>
        <p:grpSpPr bwMode="auto">
          <a:xfrm>
            <a:off x="466725" y="1052513"/>
            <a:ext cx="8277225" cy="1516062"/>
            <a:chOff x="294" y="799"/>
            <a:chExt cx="5214" cy="955"/>
          </a:xfrm>
        </p:grpSpPr>
        <p:sp>
          <p:nvSpPr>
            <p:cNvPr id="602114" name="Text Box 2"/>
            <p:cNvSpPr txBox="1">
              <a:spLocks noChangeArrowheads="1"/>
            </p:cNvSpPr>
            <p:nvPr/>
          </p:nvSpPr>
          <p:spPr bwMode="auto">
            <a:xfrm>
              <a:off x="294" y="799"/>
              <a:ext cx="5214" cy="9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 dirty="0">
                  <a:solidFill>
                    <a:schemeClr val="hlink"/>
                  </a:solidFill>
                  <a:ea typeface="宋体" pitchFamily="2" charset="-122"/>
                </a:rPr>
                <a:t>定义</a:t>
              </a:r>
              <a:r>
                <a:rPr lang="en-US" altLang="zh-CN" b="1" dirty="0">
                  <a:solidFill>
                    <a:schemeClr val="hlink"/>
                  </a:solidFill>
                  <a:ea typeface="宋体" pitchFamily="2" charset="-122"/>
                </a:rPr>
                <a:t>6-5.4</a:t>
              </a:r>
              <a:r>
                <a:rPr lang="zh-CN" altLang="en-US" b="1" dirty="0">
                  <a:solidFill>
                    <a:schemeClr val="hlink"/>
                  </a:solidFill>
                  <a:ea typeface="宋体" pitchFamily="2" charset="-122"/>
                </a:rPr>
                <a:t>：</a:t>
              </a:r>
              <a:r>
                <a:rPr lang="zh-CN" altLang="en-US" b="1" dirty="0">
                  <a:ea typeface="宋体" pitchFamily="2" charset="-122"/>
                </a:rPr>
                <a:t>设布尔代数</a:t>
              </a:r>
              <a:r>
                <a:rPr lang="en-US" altLang="zh-CN" b="1" dirty="0">
                  <a:ea typeface="宋体" pitchFamily="2" charset="-122"/>
                </a:rPr>
                <a:t>&lt;A,∨,∧,</a:t>
              </a:r>
              <a:r>
                <a:rPr lang="en-US" altLang="zh-CN" b="1" dirty="0" smtClean="0">
                  <a:ea typeface="宋体" pitchFamily="2" charset="-122"/>
                </a:rPr>
                <a:t>ˉ &gt;</a:t>
              </a:r>
              <a:r>
                <a:rPr lang="zh-CN" altLang="en-US" b="1" dirty="0">
                  <a:ea typeface="宋体" pitchFamily="2" charset="-122"/>
                </a:rPr>
                <a:t>上两个</a:t>
              </a:r>
              <a:r>
                <a:rPr lang="en-US" altLang="zh-CN" b="1" dirty="0">
                  <a:ea typeface="宋体" pitchFamily="2" charset="-122"/>
                </a:rPr>
                <a:t>n</a:t>
              </a:r>
              <a:r>
                <a:rPr lang="zh-CN" altLang="en-US" b="1" dirty="0">
                  <a:ea typeface="宋体" pitchFamily="2" charset="-122"/>
                </a:rPr>
                <a:t>元的布尔表达式为</a:t>
              </a:r>
              <a:r>
                <a:rPr lang="en-US" altLang="zh-CN" b="1" dirty="0">
                  <a:ea typeface="宋体" pitchFamily="2" charset="-122"/>
                </a:rPr>
                <a:t>E</a:t>
              </a:r>
              <a:r>
                <a:rPr lang="en-US" altLang="zh-CN" b="1" baseline="-25000" dirty="0">
                  <a:ea typeface="宋体" pitchFamily="2" charset="-122"/>
                </a:rPr>
                <a:t>1</a:t>
              </a:r>
              <a:r>
                <a:rPr lang="en-US" altLang="zh-CN" b="1" dirty="0">
                  <a:ea typeface="宋体" pitchFamily="2" charset="-122"/>
                </a:rPr>
                <a:t>(x</a:t>
              </a:r>
              <a:r>
                <a:rPr lang="en-US" altLang="zh-CN" b="1" baseline="-25000" dirty="0">
                  <a:ea typeface="宋体" pitchFamily="2" charset="-122"/>
                </a:rPr>
                <a:t>1</a:t>
              </a:r>
              <a:r>
                <a:rPr lang="en-US" altLang="zh-CN" b="1" dirty="0">
                  <a:ea typeface="宋体" pitchFamily="2" charset="-122"/>
                </a:rPr>
                <a:t>,x</a:t>
              </a:r>
              <a:r>
                <a:rPr lang="en-US" altLang="zh-CN" b="1" baseline="-25000" dirty="0">
                  <a:ea typeface="宋体" pitchFamily="2" charset="-122"/>
                </a:rPr>
                <a:t>2</a:t>
              </a:r>
              <a:r>
                <a:rPr lang="en-US" altLang="zh-CN" b="1" dirty="0">
                  <a:ea typeface="宋体" pitchFamily="2" charset="-122"/>
                </a:rPr>
                <a:t>, …, </a:t>
              </a:r>
              <a:r>
                <a:rPr lang="en-US" altLang="zh-CN" b="1" dirty="0" err="1">
                  <a:ea typeface="宋体" pitchFamily="2" charset="-122"/>
                </a:rPr>
                <a:t>x</a:t>
              </a:r>
              <a:r>
                <a:rPr lang="en-US" altLang="zh-CN" b="1" baseline="-25000" dirty="0" err="1">
                  <a:ea typeface="宋体" pitchFamily="2" charset="-122"/>
                </a:rPr>
                <a:t>n</a:t>
              </a:r>
              <a:r>
                <a:rPr lang="en-US" altLang="zh-CN" b="1" dirty="0">
                  <a:ea typeface="宋体" pitchFamily="2" charset="-122"/>
                </a:rPr>
                <a:t>)</a:t>
              </a:r>
              <a:r>
                <a:rPr lang="zh-CN" altLang="en-US" b="1" dirty="0">
                  <a:ea typeface="宋体" pitchFamily="2" charset="-122"/>
                </a:rPr>
                <a:t>和</a:t>
              </a:r>
              <a:r>
                <a:rPr lang="en-US" altLang="zh-CN" b="1" dirty="0">
                  <a:ea typeface="宋体" pitchFamily="2" charset="-122"/>
                </a:rPr>
                <a:t>E</a:t>
              </a:r>
              <a:r>
                <a:rPr lang="en-US" altLang="zh-CN" b="1" baseline="-25000" dirty="0">
                  <a:ea typeface="宋体" pitchFamily="2" charset="-122"/>
                </a:rPr>
                <a:t>2</a:t>
              </a:r>
              <a:r>
                <a:rPr lang="en-US" altLang="zh-CN" b="1" dirty="0">
                  <a:ea typeface="宋体" pitchFamily="2" charset="-122"/>
                </a:rPr>
                <a:t>(x</a:t>
              </a:r>
              <a:r>
                <a:rPr lang="en-US" altLang="zh-CN" b="1" baseline="-25000" dirty="0">
                  <a:ea typeface="宋体" pitchFamily="2" charset="-122"/>
                </a:rPr>
                <a:t>1</a:t>
              </a:r>
              <a:r>
                <a:rPr lang="en-US" altLang="zh-CN" b="1" dirty="0">
                  <a:ea typeface="宋体" pitchFamily="2" charset="-122"/>
                </a:rPr>
                <a:t>,x</a:t>
              </a:r>
              <a:r>
                <a:rPr lang="en-US" altLang="zh-CN" b="1" baseline="-25000" dirty="0">
                  <a:ea typeface="宋体" pitchFamily="2" charset="-122"/>
                </a:rPr>
                <a:t>2</a:t>
              </a:r>
              <a:r>
                <a:rPr lang="en-US" altLang="zh-CN" b="1" dirty="0">
                  <a:ea typeface="宋体" pitchFamily="2" charset="-122"/>
                </a:rPr>
                <a:t>, …, </a:t>
              </a:r>
              <a:r>
                <a:rPr lang="en-US" altLang="zh-CN" b="1" dirty="0" err="1">
                  <a:ea typeface="宋体" pitchFamily="2" charset="-122"/>
                </a:rPr>
                <a:t>x</a:t>
              </a:r>
              <a:r>
                <a:rPr lang="en-US" altLang="zh-CN" b="1" baseline="-25000" dirty="0" err="1">
                  <a:ea typeface="宋体" pitchFamily="2" charset="-122"/>
                </a:rPr>
                <a:t>n</a:t>
              </a:r>
              <a:r>
                <a:rPr lang="en-US" altLang="zh-CN" b="1" dirty="0">
                  <a:ea typeface="宋体" pitchFamily="2" charset="-122"/>
                </a:rPr>
                <a:t>)</a:t>
              </a:r>
              <a:r>
                <a:rPr lang="zh-CN" altLang="en-US" b="1" dirty="0">
                  <a:ea typeface="宋体" pitchFamily="2" charset="-122"/>
                </a:rPr>
                <a:t>，如果对于</a:t>
              </a:r>
              <a:r>
                <a:rPr lang="en-US" altLang="zh-CN" b="1" dirty="0">
                  <a:ea typeface="宋体" pitchFamily="2" charset="-122"/>
                </a:rPr>
                <a:t>n</a:t>
              </a:r>
              <a:r>
                <a:rPr lang="zh-CN" altLang="en-US" b="1" dirty="0">
                  <a:ea typeface="宋体" pitchFamily="2" charset="-122"/>
                </a:rPr>
                <a:t>个变元的任意赋值</a:t>
              </a:r>
              <a:r>
                <a:rPr lang="en-US" altLang="zh-CN" b="1" dirty="0">
                  <a:ea typeface="宋体" pitchFamily="2" charset="-122"/>
                </a:rPr>
                <a:t>x</a:t>
              </a:r>
              <a:r>
                <a:rPr lang="en-US" altLang="zh-CN" b="1" baseline="-25000" dirty="0">
                  <a:ea typeface="宋体" pitchFamily="2" charset="-122"/>
                </a:rPr>
                <a:t>i</a:t>
              </a:r>
              <a:r>
                <a:rPr lang="en-US" altLang="zh-CN" b="1" dirty="0">
                  <a:ea typeface="宋体" pitchFamily="2" charset="-122"/>
                </a:rPr>
                <a:t>=      ,     ∈A</a:t>
              </a:r>
              <a:r>
                <a:rPr lang="zh-CN" altLang="en-US" b="1" dirty="0">
                  <a:ea typeface="宋体" pitchFamily="2" charset="-122"/>
                </a:rPr>
                <a:t>时均有</a:t>
              </a:r>
            </a:p>
          </p:txBody>
        </p:sp>
        <p:graphicFrame>
          <p:nvGraphicFramePr>
            <p:cNvPr id="602121" name="Object 9"/>
            <p:cNvGraphicFramePr>
              <a:graphicFrameLocks noChangeAspect="1"/>
            </p:cNvGraphicFramePr>
            <p:nvPr/>
          </p:nvGraphicFramePr>
          <p:xfrm>
            <a:off x="1384" y="1489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236" name="Equation" r:id="rId5" imgW="291960" imgH="380880" progId="Equation.DSMT4">
                    <p:embed/>
                  </p:oleObj>
                </mc:Choice>
                <mc:Fallback>
                  <p:oleObj name="Equation" r:id="rId5" imgW="291960" imgH="38088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1489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02124" name="Object 12"/>
            <p:cNvGraphicFramePr>
              <a:graphicFrameLocks noChangeAspect="1"/>
            </p:cNvGraphicFramePr>
            <p:nvPr/>
          </p:nvGraphicFramePr>
          <p:xfrm>
            <a:off x="1038" y="1489"/>
            <a:ext cx="18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02237" name="Equation" r:id="rId7" imgW="291960" imgH="380880" progId="Equation.DSMT4">
                    <p:embed/>
                  </p:oleObj>
                </mc:Choice>
                <mc:Fallback>
                  <p:oleObj name="Equation" r:id="rId7" imgW="291960" imgH="3808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38" y="1489"/>
                          <a:ext cx="18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 cap="sq">
                              <a:solidFill>
                                <a:schemeClr val="tx1"/>
                              </a:solidFill>
                              <a:miter lim="800000"/>
                              <a:headEnd type="none" w="sm" len="sm"/>
                              <a:tailEnd type="none" w="sm" len="sm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02126" name="Object 14"/>
          <p:cNvGraphicFramePr>
            <a:graphicFrameLocks noChangeAspect="1"/>
          </p:cNvGraphicFramePr>
          <p:nvPr/>
        </p:nvGraphicFramePr>
        <p:xfrm>
          <a:off x="2254250" y="3911600"/>
          <a:ext cx="4521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2238" name="Equation" r:id="rId8" imgW="4520880" imgH="380880" progId="Equation.DSMT4">
                  <p:embed/>
                </p:oleObj>
              </mc:Choice>
              <mc:Fallback>
                <p:oleObj name="Equation" r:id="rId8" imgW="4520880" imgH="38088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4250" y="3911600"/>
                        <a:ext cx="4521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86462B-63A7-473F-BC73-CA03DCED36BC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603138" name="Text Box 2"/>
          <p:cNvSpPr txBox="1">
            <a:spLocks noChangeArrowheads="1"/>
          </p:cNvSpPr>
          <p:nvPr/>
        </p:nvSpPr>
        <p:spPr bwMode="auto">
          <a:xfrm>
            <a:off x="468313" y="1068388"/>
            <a:ext cx="8277225" cy="104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b="1">
                <a:solidFill>
                  <a:schemeClr val="folHlink"/>
                </a:solidFill>
                <a:ea typeface="宋体" pitchFamily="2" charset="-122"/>
              </a:rPr>
              <a:t>例</a:t>
            </a:r>
            <a:r>
              <a:rPr lang="en-US" altLang="zh-CN" b="1">
                <a:solidFill>
                  <a:schemeClr val="folHlink"/>
                </a:solidFill>
                <a:ea typeface="宋体" pitchFamily="2" charset="-122"/>
              </a:rPr>
              <a:t>1</a:t>
            </a:r>
            <a:r>
              <a:rPr lang="zh-CN" altLang="en-US" b="1">
                <a:solidFill>
                  <a:schemeClr val="fol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在布尔代数</a:t>
            </a:r>
            <a:r>
              <a:rPr lang="en-US" altLang="zh-CN" b="1">
                <a:ea typeface="宋体" pitchFamily="2" charset="-122"/>
              </a:rPr>
              <a:t>&lt;{0,1},∨,∧,ˉ&gt;</a:t>
            </a:r>
            <a:r>
              <a:rPr lang="zh-CN" altLang="en-US" b="1">
                <a:ea typeface="宋体" pitchFamily="2" charset="-122"/>
              </a:rPr>
              <a:t>上的两个布尔表达式是否等价。</a:t>
            </a:r>
          </a:p>
        </p:txBody>
      </p:sp>
      <p:sp>
        <p:nvSpPr>
          <p:cNvPr id="603140" name="Text Box 4"/>
          <p:cNvSpPr txBox="1">
            <a:spLocks noChangeArrowheads="1"/>
          </p:cNvSpPr>
          <p:nvPr/>
        </p:nvSpPr>
        <p:spPr bwMode="auto">
          <a:xfrm>
            <a:off x="466725" y="2781300"/>
            <a:ext cx="34766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ea typeface="宋体" pitchFamily="2" charset="-122"/>
              </a:rPr>
              <a:t>解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：</a:t>
            </a:r>
            <a:r>
              <a:rPr lang="en-US" altLang="zh-CN" b="1">
                <a:ea typeface="宋体" pitchFamily="2" charset="-122"/>
              </a:rPr>
              <a:t>E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(0,0,0)=E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(0,0,0)</a:t>
            </a:r>
          </a:p>
          <a:p>
            <a:pPr lvl="1"/>
            <a:r>
              <a:rPr lang="en-US" altLang="zh-CN" b="1">
                <a:ea typeface="宋体" pitchFamily="2" charset="-122"/>
              </a:rPr>
              <a:t>    E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(0,0,1)=E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(0,0,1)</a:t>
            </a:r>
          </a:p>
          <a:p>
            <a:r>
              <a:rPr lang="en-US" altLang="zh-CN" b="1">
                <a:ea typeface="宋体" pitchFamily="2" charset="-122"/>
              </a:rPr>
              <a:t>                      ……</a:t>
            </a:r>
          </a:p>
        </p:txBody>
      </p:sp>
      <p:sp>
        <p:nvSpPr>
          <p:cNvPr id="603141" name="Text Box 5"/>
          <p:cNvSpPr txBox="1">
            <a:spLocks noChangeArrowheads="1"/>
          </p:cNvSpPr>
          <p:nvPr/>
        </p:nvSpPr>
        <p:spPr bwMode="auto">
          <a:xfrm>
            <a:off x="4724400" y="2781300"/>
            <a:ext cx="38893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b="1">
                <a:ea typeface="宋体" pitchFamily="2" charset="-122"/>
              </a:rPr>
              <a:t>解</a:t>
            </a:r>
            <a:r>
              <a:rPr lang="en-US" altLang="zh-CN" b="1">
                <a:ea typeface="宋体" pitchFamily="2" charset="-122"/>
              </a:rPr>
              <a:t>2</a:t>
            </a:r>
            <a:r>
              <a:rPr lang="zh-CN" altLang="en-US" b="1">
                <a:ea typeface="宋体" pitchFamily="2" charset="-122"/>
              </a:rPr>
              <a:t>：</a:t>
            </a:r>
            <a:r>
              <a:rPr lang="en-US" altLang="zh-CN" b="1">
                <a:ea typeface="宋体" pitchFamily="2" charset="-122"/>
              </a:rPr>
              <a:t>E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3</a:t>
            </a:r>
            <a:r>
              <a:rPr lang="en-US" altLang="zh-CN" b="1">
                <a:ea typeface="宋体" pitchFamily="2" charset="-122"/>
              </a:rPr>
              <a:t>)</a:t>
            </a:r>
          </a:p>
          <a:p>
            <a:r>
              <a:rPr lang="en-US" altLang="zh-CN" b="1">
                <a:ea typeface="宋体" pitchFamily="2" charset="-122"/>
              </a:rPr>
              <a:t>        =x</a:t>
            </a:r>
            <a:r>
              <a:rPr lang="en-US" altLang="zh-CN" b="1" baseline="-25000">
                <a:ea typeface="宋体" pitchFamily="2" charset="-122"/>
              </a:rPr>
              <a:t>1 </a:t>
            </a:r>
            <a:r>
              <a:rPr lang="en-US" altLang="zh-CN" b="1">
                <a:ea typeface="宋体" pitchFamily="2" charset="-122"/>
              </a:rPr>
              <a:t>∧(x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 ∨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x</a:t>
            </a:r>
            <a:r>
              <a:rPr lang="en-US" altLang="zh-CN" b="1" baseline="-25000">
                <a:ea typeface="宋体" pitchFamily="2" charset="-122"/>
                <a:sym typeface="Symbol" pitchFamily="18" charset="2"/>
              </a:rPr>
              <a:t>3</a:t>
            </a:r>
            <a:r>
              <a:rPr lang="en-US" altLang="zh-CN" b="1">
                <a:ea typeface="宋体" pitchFamily="2" charset="-122"/>
              </a:rPr>
              <a:t> )</a:t>
            </a:r>
          </a:p>
          <a:p>
            <a:r>
              <a:rPr lang="en-US" altLang="zh-CN" b="1">
                <a:ea typeface="宋体" pitchFamily="2" charset="-122"/>
              </a:rPr>
              <a:t>        =(x</a:t>
            </a:r>
            <a:r>
              <a:rPr lang="en-US" altLang="zh-CN" b="1" baseline="-25000">
                <a:ea typeface="宋体" pitchFamily="2" charset="-122"/>
              </a:rPr>
              <a:t>1 </a:t>
            </a:r>
            <a:r>
              <a:rPr lang="en-US" altLang="zh-CN" b="1">
                <a:ea typeface="宋体" pitchFamily="2" charset="-122"/>
              </a:rPr>
              <a:t>∧x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) ∨(x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 ∧</a:t>
            </a:r>
            <a:r>
              <a:rPr lang="en-US" altLang="zh-CN" b="1">
                <a:ea typeface="宋体" pitchFamily="2" charset="-122"/>
                <a:sym typeface="Symbol" pitchFamily="18" charset="2"/>
              </a:rPr>
              <a:t>x</a:t>
            </a:r>
            <a:r>
              <a:rPr lang="en-US" altLang="zh-CN" b="1" baseline="-25000">
                <a:ea typeface="宋体" pitchFamily="2" charset="-122"/>
                <a:sym typeface="Symbol" pitchFamily="18" charset="2"/>
              </a:rPr>
              <a:t>3</a:t>
            </a:r>
            <a:r>
              <a:rPr lang="en-US" altLang="zh-CN" b="1">
                <a:ea typeface="宋体" pitchFamily="2" charset="-122"/>
              </a:rPr>
              <a:t>)</a:t>
            </a:r>
          </a:p>
          <a:p>
            <a:r>
              <a:rPr lang="en-US" altLang="zh-CN" b="1">
                <a:ea typeface="宋体" pitchFamily="2" charset="-122"/>
              </a:rPr>
              <a:t>        =E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3</a:t>
            </a:r>
            <a:r>
              <a:rPr lang="en-US" altLang="zh-CN" b="1">
                <a:ea typeface="宋体" pitchFamily="2" charset="-122"/>
              </a:rPr>
              <a:t>)  </a:t>
            </a:r>
          </a:p>
        </p:txBody>
      </p:sp>
      <p:sp>
        <p:nvSpPr>
          <p:cNvPr id="603142" name="Text Box 6"/>
          <p:cNvSpPr txBox="1">
            <a:spLocks noChangeArrowheads="1"/>
          </p:cNvSpPr>
          <p:nvPr/>
        </p:nvSpPr>
        <p:spPr bwMode="auto">
          <a:xfrm>
            <a:off x="466725" y="4292600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chemeClr val="folHlink"/>
              </a:buClr>
              <a:buFont typeface="Wingdings" pitchFamily="2" charset="2"/>
              <a:buChar char="Ø"/>
            </a:pPr>
            <a:r>
              <a:rPr lang="en-US" altLang="zh-CN" b="1">
                <a:ea typeface="宋体" pitchFamily="2" charset="-122"/>
              </a:rPr>
              <a:t>  </a:t>
            </a:r>
            <a:r>
              <a:rPr lang="zh-CN" altLang="en-US" b="1">
                <a:ea typeface="宋体" pitchFamily="2" charset="-122"/>
              </a:rPr>
              <a:t>在布尔代数</a:t>
            </a:r>
            <a:r>
              <a:rPr lang="en-US" altLang="zh-CN" b="1">
                <a:ea typeface="宋体" pitchFamily="2" charset="-122"/>
              </a:rPr>
              <a:t>&lt;A,∨,∧,ˉ &gt;</a:t>
            </a:r>
            <a:r>
              <a:rPr lang="zh-CN" altLang="en-US" b="1">
                <a:ea typeface="宋体" pitchFamily="2" charset="-122"/>
              </a:rPr>
              <a:t>中，对于</a:t>
            </a:r>
            <a:r>
              <a:rPr lang="en-US" altLang="zh-CN" b="1">
                <a:ea typeface="宋体" pitchFamily="2" charset="-122"/>
              </a:rPr>
              <a:t>n</a:t>
            </a:r>
            <a:r>
              <a:rPr lang="zh-CN" altLang="en-US" b="1">
                <a:ea typeface="宋体" pitchFamily="2" charset="-122"/>
              </a:rPr>
              <a:t>元布尔表达式</a:t>
            </a:r>
            <a:r>
              <a:rPr lang="en-US" altLang="zh-CN" b="1">
                <a:ea typeface="宋体" pitchFamily="2" charset="-122"/>
              </a:rPr>
              <a:t>E(x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,…,x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en-US" altLang="zh-CN" b="1">
                <a:ea typeface="宋体" pitchFamily="2" charset="-122"/>
              </a:rPr>
              <a:t>)</a:t>
            </a:r>
            <a:r>
              <a:rPr lang="zh-CN" altLang="en-US" b="1">
                <a:ea typeface="宋体" pitchFamily="2" charset="-122"/>
              </a:rPr>
              <a:t>，它的每一组赋值</a:t>
            </a:r>
            <a:r>
              <a:rPr lang="en-US" altLang="zh-CN" b="1">
                <a:ea typeface="宋体" pitchFamily="2" charset="-122"/>
              </a:rPr>
              <a:t>&lt;a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,a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,…,a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en-US" altLang="zh-CN" b="1">
                <a:ea typeface="宋体" pitchFamily="2" charset="-122"/>
              </a:rPr>
              <a:t>&gt;</a:t>
            </a:r>
            <a:r>
              <a:rPr lang="zh-CN" altLang="en-US" b="1">
                <a:ea typeface="宋体" pitchFamily="2" charset="-122"/>
              </a:rPr>
              <a:t>所对应的值</a:t>
            </a:r>
            <a:r>
              <a:rPr lang="en-US" altLang="zh-CN" b="1">
                <a:ea typeface="宋体" pitchFamily="2" charset="-122"/>
              </a:rPr>
              <a:t>E(a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,a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,…,a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en-US" altLang="zh-CN" b="1">
                <a:ea typeface="宋体" pitchFamily="2" charset="-122"/>
              </a:rPr>
              <a:t>)</a:t>
            </a:r>
            <a:r>
              <a:rPr lang="zh-CN" altLang="en-US" b="1">
                <a:ea typeface="宋体" pitchFamily="2" charset="-122"/>
              </a:rPr>
              <a:t>都是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中的元素。</a:t>
            </a:r>
          </a:p>
          <a:p>
            <a:pPr>
              <a:lnSpc>
                <a:spcPct val="130000"/>
              </a:lnSpc>
              <a:buClr>
                <a:schemeClr val="folHlink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  表达式</a:t>
            </a:r>
            <a:r>
              <a:rPr lang="en-US" altLang="zh-CN" b="1">
                <a:ea typeface="宋体" pitchFamily="2" charset="-122"/>
              </a:rPr>
              <a:t>E(x</a:t>
            </a:r>
            <a:r>
              <a:rPr lang="en-US" altLang="zh-CN" b="1" baseline="-25000">
                <a:ea typeface="宋体" pitchFamily="2" charset="-122"/>
              </a:rPr>
              <a:t>1</a:t>
            </a:r>
            <a:r>
              <a:rPr lang="en-US" altLang="zh-CN" b="1">
                <a:ea typeface="宋体" pitchFamily="2" charset="-122"/>
              </a:rPr>
              <a:t>,x</a:t>
            </a:r>
            <a:r>
              <a:rPr lang="en-US" altLang="zh-CN" b="1" baseline="-25000">
                <a:ea typeface="宋体" pitchFamily="2" charset="-122"/>
              </a:rPr>
              <a:t>2</a:t>
            </a:r>
            <a:r>
              <a:rPr lang="en-US" altLang="zh-CN" b="1">
                <a:ea typeface="宋体" pitchFamily="2" charset="-122"/>
              </a:rPr>
              <a:t>,…,x</a:t>
            </a:r>
            <a:r>
              <a:rPr lang="en-US" altLang="zh-CN" b="1" baseline="-25000">
                <a:ea typeface="宋体" pitchFamily="2" charset="-122"/>
              </a:rPr>
              <a:t>n</a:t>
            </a:r>
            <a:r>
              <a:rPr lang="en-US" altLang="zh-CN" b="1">
                <a:ea typeface="宋体" pitchFamily="2" charset="-122"/>
              </a:rPr>
              <a:t>)</a:t>
            </a:r>
            <a:r>
              <a:rPr lang="zh-CN" altLang="en-US" b="1">
                <a:ea typeface="宋体" pitchFamily="2" charset="-122"/>
              </a:rPr>
              <a:t>定义了一个从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en-US" altLang="zh-CN" b="1" baseline="30000">
                <a:ea typeface="宋体" pitchFamily="2" charset="-122"/>
              </a:rPr>
              <a:t>n</a:t>
            </a:r>
            <a:r>
              <a:rPr lang="zh-CN" altLang="en-US" b="1">
                <a:ea typeface="宋体" pitchFamily="2" charset="-122"/>
              </a:rPr>
              <a:t>到</a:t>
            </a:r>
            <a:r>
              <a:rPr lang="en-US" altLang="zh-CN" b="1">
                <a:ea typeface="宋体" pitchFamily="2" charset="-122"/>
              </a:rPr>
              <a:t>A</a:t>
            </a:r>
            <a:r>
              <a:rPr lang="zh-CN" altLang="en-US" b="1">
                <a:ea typeface="宋体" pitchFamily="2" charset="-122"/>
              </a:rPr>
              <a:t>的函数</a:t>
            </a:r>
          </a:p>
        </p:txBody>
      </p:sp>
      <p:graphicFrame>
        <p:nvGraphicFramePr>
          <p:cNvPr id="603143" name="Object 7"/>
          <p:cNvGraphicFramePr>
            <a:graphicFrameLocks noChangeAspect="1"/>
          </p:cNvGraphicFramePr>
          <p:nvPr/>
        </p:nvGraphicFramePr>
        <p:xfrm>
          <a:off x="2317750" y="1857375"/>
          <a:ext cx="45085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3171" name="Equation" r:id="rId3" imgW="4508280" imgH="850680" progId="Equation.DSMT4">
                  <p:embed/>
                </p:oleObj>
              </mc:Choice>
              <mc:Fallback>
                <p:oleObj name="Equation" r:id="rId3" imgW="4508280" imgH="8506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0" y="1857375"/>
                        <a:ext cx="45085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03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03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03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3140" grpId="0" autoUpdateAnimBg="0"/>
      <p:bldP spid="603141" grpId="0" autoUpdateAnimBg="0"/>
      <p:bldP spid="6031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E8787EB-B7DF-4CED-9B81-BC8459A0A998}" type="slidenum">
              <a:rPr lang="en-US" altLang="zh-CN"/>
              <a:pPr/>
              <a:t>37</a:t>
            </a:fld>
            <a:endParaRPr lang="en-US" altLang="zh-CN"/>
          </a:p>
        </p:txBody>
      </p:sp>
      <p:sp>
        <p:nvSpPr>
          <p:cNvPr id="605188" name="Text Box 4"/>
          <p:cNvSpPr txBox="1">
            <a:spLocks noChangeArrowheads="1"/>
          </p:cNvSpPr>
          <p:nvPr/>
        </p:nvSpPr>
        <p:spPr bwMode="auto">
          <a:xfrm>
            <a:off x="466725" y="1052513"/>
            <a:ext cx="8277225" cy="207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800" b="1" dirty="0">
                <a:solidFill>
                  <a:schemeClr val="folHlink"/>
                </a:solidFill>
                <a:latin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folHlink"/>
                </a:solidFill>
                <a:latin typeface="楷体_GB2312" pitchFamily="49" charset="-122"/>
              </a:rPr>
              <a:t>、布尔函数、析取范式、合取范式</a:t>
            </a:r>
          </a:p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定义</a:t>
            </a:r>
            <a:r>
              <a:rPr lang="en-US" altLang="zh-CN" b="1" dirty="0">
                <a:solidFill>
                  <a:schemeClr val="hlink"/>
                </a:solidFill>
                <a:ea typeface="宋体" pitchFamily="2" charset="-122"/>
              </a:rPr>
              <a:t>6-5.5</a:t>
            </a:r>
            <a:r>
              <a:rPr lang="zh-CN" altLang="en-US" b="1" dirty="0">
                <a:solidFill>
                  <a:schemeClr val="hlink"/>
                </a:solidFill>
                <a:ea typeface="宋体" pitchFamily="2" charset="-122"/>
              </a:rPr>
              <a:t>：</a:t>
            </a:r>
            <a:r>
              <a:rPr lang="zh-CN" altLang="en-US" b="1" dirty="0">
                <a:ea typeface="宋体" pitchFamily="2" charset="-122"/>
              </a:rPr>
              <a:t>设</a:t>
            </a:r>
            <a:r>
              <a:rPr lang="en-US" altLang="zh-CN" b="1" dirty="0">
                <a:ea typeface="宋体" pitchFamily="2" charset="-122"/>
              </a:rPr>
              <a:t>&lt;A,∨,∧,</a:t>
            </a:r>
            <a:r>
              <a:rPr lang="en-US" altLang="zh-CN" b="1" dirty="0" smtClean="0">
                <a:ea typeface="宋体" pitchFamily="2" charset="-122"/>
              </a:rPr>
              <a:t>ˉ &gt;</a:t>
            </a:r>
            <a:r>
              <a:rPr lang="zh-CN" altLang="en-US" b="1" dirty="0">
                <a:ea typeface="宋体" pitchFamily="2" charset="-122"/>
              </a:rPr>
              <a:t>是一个布尔代数，一个从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en-US" altLang="zh-CN" b="1" baseline="30000" dirty="0">
                <a:ea typeface="宋体" pitchFamily="2" charset="-122"/>
              </a:rPr>
              <a:t>n</a:t>
            </a:r>
            <a:r>
              <a:rPr lang="zh-CN" altLang="en-US" b="1" dirty="0">
                <a:ea typeface="宋体" pitchFamily="2" charset="-122"/>
              </a:rPr>
              <a:t>到</a:t>
            </a:r>
            <a:r>
              <a:rPr lang="en-US" altLang="zh-CN" b="1" dirty="0">
                <a:ea typeface="宋体" pitchFamily="2" charset="-122"/>
              </a:rPr>
              <a:t>A</a:t>
            </a:r>
            <a:r>
              <a:rPr lang="zh-CN" altLang="en-US" b="1" dirty="0">
                <a:ea typeface="宋体" pitchFamily="2" charset="-122"/>
              </a:rPr>
              <a:t>的函数，如果它能够用</a:t>
            </a:r>
            <a:r>
              <a:rPr lang="en-US" altLang="zh-CN" b="1" dirty="0">
                <a:ea typeface="宋体" pitchFamily="2" charset="-122"/>
              </a:rPr>
              <a:t>&lt;A,∨,∧,ˉ&gt;</a:t>
            </a:r>
            <a:r>
              <a:rPr lang="zh-CN" altLang="en-US" b="1" dirty="0">
                <a:ea typeface="宋体" pitchFamily="2" charset="-122"/>
              </a:rPr>
              <a:t>上的</a:t>
            </a:r>
            <a:r>
              <a:rPr lang="en-US" altLang="zh-CN" b="1" dirty="0">
                <a:ea typeface="宋体" pitchFamily="2" charset="-122"/>
              </a:rPr>
              <a:t>n</a:t>
            </a:r>
            <a:r>
              <a:rPr lang="zh-CN" altLang="en-US" b="1" dirty="0">
                <a:ea typeface="宋体" pitchFamily="2" charset="-122"/>
              </a:rPr>
              <a:t>元布尔表达式来表示，那么这个函数就称为</a:t>
            </a:r>
            <a:r>
              <a:rPr lang="zh-CN" altLang="en-US" b="1" i="1" dirty="0">
                <a:solidFill>
                  <a:srgbClr val="0033CC"/>
                </a:solidFill>
                <a:ea typeface="宋体" pitchFamily="2" charset="-122"/>
              </a:rPr>
              <a:t>布尔函数</a:t>
            </a:r>
            <a:r>
              <a:rPr lang="zh-CN" altLang="en-US" b="1" dirty="0">
                <a:ea typeface="宋体" pitchFamily="2" charset="-122"/>
              </a:rPr>
              <a:t>。</a:t>
            </a:r>
          </a:p>
        </p:txBody>
      </p:sp>
      <p:sp>
        <p:nvSpPr>
          <p:cNvPr id="605190" name="Rectangle 6"/>
          <p:cNvSpPr>
            <a:spLocks noGrp="1" noChangeArrowheads="1"/>
          </p:cNvSpPr>
          <p:nvPr>
            <p:ph type="title"/>
          </p:nvPr>
        </p:nvSpPr>
        <p:spPr>
          <a:xfrm>
            <a:off x="990600" y="334963"/>
            <a:ext cx="7237413" cy="579437"/>
          </a:xfrm>
        </p:spPr>
        <p:txBody>
          <a:bodyPr/>
          <a:lstStyle/>
          <a:p>
            <a:r>
              <a:rPr kumimoji="1" lang="zh-CN" altLang="en-US" sz="320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二、布尔函数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D208E0C-ED6E-4870-8E22-BEA8A8378D5B}" type="slidenum">
              <a:rPr lang="en-US" altLang="zh-CN"/>
              <a:pPr/>
              <a:t>38</a:t>
            </a:fld>
            <a:endParaRPr lang="en-US" altLang="zh-CN"/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6725" y="1052513"/>
            <a:ext cx="8277225" cy="3889375"/>
          </a:xfrm>
          <a:noFill/>
        </p:spPr>
        <p:txBody>
          <a:bodyPr/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400" dirty="0">
                <a:solidFill>
                  <a:schemeClr val="hlink"/>
                </a:solidFill>
              </a:rPr>
              <a:t>定义：</a:t>
            </a:r>
            <a:r>
              <a:rPr kumimoji="1" lang="zh-CN" altLang="en-US" sz="2400" dirty="0"/>
              <a:t>设布尔代数</a:t>
            </a:r>
            <a:r>
              <a:rPr kumimoji="1" lang="en-US" altLang="zh-CN" sz="2400" dirty="0"/>
              <a:t>&lt;{0,1},∨,∧,</a:t>
            </a:r>
            <a:r>
              <a:rPr kumimoji="1" lang="en-US" altLang="zh-CN" sz="2400" dirty="0" smtClean="0"/>
              <a:t>ˉ &gt;</a:t>
            </a:r>
            <a:r>
              <a:rPr kumimoji="1" lang="zh-CN" altLang="en-US" sz="2400" dirty="0"/>
              <a:t>，若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dirty="0"/>
              <a:t>1</a:t>
            </a:r>
            <a:r>
              <a:rPr kumimoji="1" lang="zh-CN" altLang="en-US" sz="2400" dirty="0"/>
              <a:t>）</a:t>
            </a:r>
            <a:r>
              <a:rPr kumimoji="1" lang="en-US" altLang="zh-CN" sz="2400" dirty="0"/>
              <a:t>E(x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,x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</a:t>
            </a:r>
            <a:r>
              <a:rPr kumimoji="1" lang="en-US" altLang="zh-CN" sz="2400" dirty="0">
                <a:latin typeface="Arial"/>
              </a:rPr>
              <a:t>…</a:t>
            </a:r>
            <a:r>
              <a:rPr kumimoji="1" lang="en-US" altLang="zh-CN" sz="2400" dirty="0"/>
              <a:t>,</a:t>
            </a:r>
            <a:r>
              <a:rPr kumimoji="1" lang="en-US" altLang="zh-CN" sz="2400" dirty="0" err="1"/>
              <a:t>x</a:t>
            </a:r>
            <a:r>
              <a:rPr kumimoji="1" lang="en-US" altLang="zh-CN" sz="2400" baseline="-25000" dirty="0" err="1"/>
              <a:t>n</a:t>
            </a:r>
            <a:r>
              <a:rPr kumimoji="1" lang="en-US" altLang="zh-CN" sz="2400" dirty="0"/>
              <a:t>)=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400" dirty="0"/>
              <a:t>则称这个布尔表达式为</a:t>
            </a:r>
            <a:r>
              <a:rPr kumimoji="1" lang="zh-CN" altLang="en-US" sz="2400" i="1" dirty="0">
                <a:solidFill>
                  <a:srgbClr val="0033CC"/>
                </a:solidFill>
              </a:rPr>
              <a:t>小项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dirty="0"/>
              <a:t>2</a:t>
            </a:r>
            <a:r>
              <a:rPr kumimoji="1" lang="zh-CN" altLang="en-US" sz="2400" dirty="0"/>
              <a:t>）</a:t>
            </a:r>
            <a:r>
              <a:rPr kumimoji="1" lang="en-US" altLang="zh-CN" sz="2400" dirty="0"/>
              <a:t>E(x</a:t>
            </a:r>
            <a:r>
              <a:rPr kumimoji="1" lang="en-US" altLang="zh-CN" sz="2400" baseline="-25000" dirty="0"/>
              <a:t>1</a:t>
            </a:r>
            <a:r>
              <a:rPr kumimoji="1" lang="en-US" altLang="zh-CN" sz="2400" dirty="0"/>
              <a:t>,x</a:t>
            </a:r>
            <a:r>
              <a:rPr kumimoji="1" lang="en-US" altLang="zh-CN" sz="2400" baseline="-25000" dirty="0"/>
              <a:t>2</a:t>
            </a:r>
            <a:r>
              <a:rPr kumimoji="1" lang="en-US" altLang="zh-CN" sz="2400" dirty="0"/>
              <a:t>,</a:t>
            </a:r>
            <a:r>
              <a:rPr kumimoji="1" lang="en-US" altLang="zh-CN" sz="2400" dirty="0">
                <a:latin typeface="Arial"/>
              </a:rPr>
              <a:t>…</a:t>
            </a:r>
            <a:r>
              <a:rPr kumimoji="1" lang="en-US" altLang="zh-CN" sz="2400" dirty="0"/>
              <a:t>,</a:t>
            </a:r>
            <a:r>
              <a:rPr kumimoji="1" lang="en-US" altLang="zh-CN" sz="2400" dirty="0" err="1"/>
              <a:t>x</a:t>
            </a:r>
            <a:r>
              <a:rPr kumimoji="1" lang="en-US" altLang="zh-CN" sz="2400" baseline="-25000" dirty="0" err="1"/>
              <a:t>n</a:t>
            </a:r>
            <a:r>
              <a:rPr kumimoji="1" lang="en-US" altLang="zh-CN" sz="2400" dirty="0"/>
              <a:t>)=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400" dirty="0"/>
              <a:t>则称这个布尔表达式为</a:t>
            </a:r>
            <a:r>
              <a:rPr kumimoji="1" lang="zh-CN" altLang="en-US" sz="2400" i="1" dirty="0">
                <a:solidFill>
                  <a:srgbClr val="0033CC"/>
                </a:solidFill>
              </a:rPr>
              <a:t>大项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zh-CN" altLang="en-US" sz="2400" dirty="0"/>
              <a:t>一个在</a:t>
            </a:r>
            <a:r>
              <a:rPr kumimoji="1" lang="en-US" altLang="zh-CN" sz="2400" dirty="0"/>
              <a:t>&lt;{0,1}, ∧ , ∨ , ˉ &gt;</a:t>
            </a:r>
            <a:r>
              <a:rPr kumimoji="1" lang="zh-CN" altLang="en-US" sz="2400" dirty="0"/>
              <a:t>上的布尔表达式，若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dirty="0"/>
              <a:t>1</a:t>
            </a:r>
            <a:r>
              <a:rPr kumimoji="1" lang="zh-CN" altLang="en-US" sz="2400" dirty="0"/>
              <a:t>）能表示成小项的并，则称该布尔表达式为</a:t>
            </a:r>
            <a:r>
              <a:rPr kumimoji="1" lang="zh-CN" altLang="en-US" sz="2400" i="1" dirty="0">
                <a:solidFill>
                  <a:srgbClr val="0033CC"/>
                </a:solidFill>
              </a:rPr>
              <a:t>析取范式</a:t>
            </a:r>
            <a:r>
              <a:rPr kumimoji="1" lang="zh-CN" altLang="en-US" sz="2400" dirty="0"/>
              <a:t>。</a:t>
            </a:r>
          </a:p>
          <a:p>
            <a:pPr>
              <a:lnSpc>
                <a:spcPct val="130000"/>
              </a:lnSpc>
              <a:spcBef>
                <a:spcPct val="0"/>
              </a:spcBef>
            </a:pPr>
            <a:r>
              <a:rPr kumimoji="1" lang="en-US" altLang="zh-CN" sz="2400" dirty="0"/>
              <a:t>2</a:t>
            </a:r>
            <a:r>
              <a:rPr kumimoji="1" lang="zh-CN" altLang="en-US" sz="2400" dirty="0"/>
              <a:t>）能表示成大项的交，则称该布尔表达式为</a:t>
            </a:r>
            <a:r>
              <a:rPr kumimoji="1" lang="zh-CN" altLang="en-US" sz="2400" i="1" dirty="0">
                <a:solidFill>
                  <a:srgbClr val="0033CC"/>
                </a:solidFill>
              </a:rPr>
              <a:t>合取范式</a:t>
            </a:r>
            <a:r>
              <a:rPr kumimoji="1" lang="zh-CN" altLang="en-US" sz="2400" dirty="0"/>
              <a:t>。</a:t>
            </a:r>
          </a:p>
        </p:txBody>
      </p:sp>
      <p:graphicFrame>
        <p:nvGraphicFramePr>
          <p:cNvPr id="648199" name="Object 7"/>
          <p:cNvGraphicFramePr>
            <a:graphicFrameLocks noChangeAspect="1"/>
          </p:cNvGraphicFramePr>
          <p:nvPr/>
        </p:nvGraphicFramePr>
        <p:xfrm>
          <a:off x="2916238" y="1689100"/>
          <a:ext cx="575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55" name="Equation" r:id="rId3" imgW="5752800" imgH="393480" progId="Equation.DSMT4">
                  <p:embed/>
                </p:oleObj>
              </mc:Choice>
              <mc:Fallback>
                <p:oleObj name="Equation" r:id="rId3" imgW="5752800" imgH="3934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689100"/>
                        <a:ext cx="5753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8200" name="Object 8"/>
          <p:cNvGraphicFramePr>
            <a:graphicFrameLocks noChangeAspect="1"/>
          </p:cNvGraphicFramePr>
          <p:nvPr/>
        </p:nvGraphicFramePr>
        <p:xfrm>
          <a:off x="2936875" y="2651125"/>
          <a:ext cx="57531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48256" name="Equation" r:id="rId5" imgW="5752800" imgH="393480" progId="Equation.DSMT4">
                  <p:embed/>
                </p:oleObj>
              </mc:Choice>
              <mc:Fallback>
                <p:oleObj name="Equation" r:id="rId5" imgW="5752800" imgH="3934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6875" y="2651125"/>
                        <a:ext cx="57531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99E0FC9-E903-47CF-AA50-1F06613641E5}" type="slidenum">
              <a:rPr lang="en-US" altLang="zh-CN"/>
              <a:pPr/>
              <a:t>39</a:t>
            </a:fld>
            <a:endParaRPr lang="en-US" altLang="zh-CN"/>
          </a:p>
        </p:txBody>
      </p:sp>
      <p:sp>
        <p:nvSpPr>
          <p:cNvPr id="606212" name="Text Box 4"/>
          <p:cNvSpPr txBox="1">
            <a:spLocks noChangeArrowheads="1"/>
          </p:cNvSpPr>
          <p:nvPr/>
        </p:nvSpPr>
        <p:spPr bwMode="auto">
          <a:xfrm>
            <a:off x="468313" y="981075"/>
            <a:ext cx="8277225" cy="1000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1085850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722438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2359025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995613" indent="-4572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34528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9100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43672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824413" indent="-457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lnSpc>
                <a:spcPct val="130000"/>
              </a:lnSpc>
            </a:pPr>
            <a:r>
              <a:rPr lang="zh-CN" altLang="en-US" b="1" dirty="0">
                <a:solidFill>
                  <a:schemeClr val="hlink"/>
                </a:solidFill>
              </a:rPr>
              <a:t>定理</a:t>
            </a:r>
            <a:r>
              <a:rPr lang="en-US" altLang="zh-CN" b="1" dirty="0">
                <a:solidFill>
                  <a:schemeClr val="hlink"/>
                </a:solidFill>
              </a:rPr>
              <a:t>6-5.1</a:t>
            </a:r>
            <a:r>
              <a:rPr lang="zh-CN" altLang="en-US" b="1" dirty="0">
                <a:solidFill>
                  <a:schemeClr val="hlink"/>
                </a:solidFill>
              </a:rPr>
              <a:t>：</a:t>
            </a:r>
            <a:r>
              <a:rPr lang="zh-CN" altLang="en-US" b="1" dirty="0"/>
              <a:t>对于两个元素的布尔代数</a:t>
            </a:r>
            <a:r>
              <a:rPr lang="en-US" altLang="zh-CN" b="1" dirty="0"/>
              <a:t>&lt;{0,1},∨,∧,</a:t>
            </a:r>
            <a:r>
              <a:rPr lang="en-US" altLang="zh-CN" b="1" dirty="0" smtClean="0"/>
              <a:t>ˉ &gt;</a:t>
            </a:r>
            <a:r>
              <a:rPr lang="zh-CN" altLang="en-US" b="1" dirty="0"/>
              <a:t>，任何一个从</a:t>
            </a:r>
            <a:r>
              <a:rPr lang="en-US" altLang="zh-CN" b="1" dirty="0"/>
              <a:t>{0,1}</a:t>
            </a:r>
            <a:r>
              <a:rPr lang="en-US" altLang="zh-CN" b="1" baseline="30000" dirty="0"/>
              <a:t>n</a:t>
            </a:r>
            <a:r>
              <a:rPr lang="zh-CN" altLang="en-US" b="1" dirty="0"/>
              <a:t>到</a:t>
            </a:r>
            <a:r>
              <a:rPr lang="en-US" altLang="zh-CN" b="1" dirty="0"/>
              <a:t>{0,1}</a:t>
            </a:r>
            <a:r>
              <a:rPr lang="zh-CN" altLang="en-US" b="1" dirty="0"/>
              <a:t>的函数都是布尔函数。</a:t>
            </a:r>
          </a:p>
        </p:txBody>
      </p:sp>
      <p:sp>
        <p:nvSpPr>
          <p:cNvPr id="606224" name="Text Box 16"/>
          <p:cNvSpPr txBox="1">
            <a:spLocks noChangeArrowheads="1"/>
          </p:cNvSpPr>
          <p:nvPr/>
        </p:nvSpPr>
        <p:spPr bwMode="auto">
          <a:xfrm>
            <a:off x="466725" y="2060575"/>
            <a:ext cx="8277225" cy="199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en-US" altLang="zh-CN" b="1">
                <a:ea typeface="宋体" pitchFamily="2" charset="-122"/>
              </a:rPr>
              <a:t>   </a:t>
            </a:r>
            <a:r>
              <a:rPr lang="zh-CN" altLang="en-US" b="1">
                <a:ea typeface="宋体" pitchFamily="2" charset="-122"/>
              </a:rPr>
              <a:t>任何一个从</a:t>
            </a:r>
            <a:r>
              <a:rPr lang="en-US" altLang="zh-CN" b="1">
                <a:ea typeface="宋体" pitchFamily="2" charset="-122"/>
              </a:rPr>
              <a:t>{0,1}</a:t>
            </a:r>
            <a:r>
              <a:rPr lang="en-US" altLang="zh-CN" b="1" baseline="30000">
                <a:ea typeface="宋体" pitchFamily="2" charset="-122"/>
              </a:rPr>
              <a:t>n</a:t>
            </a:r>
            <a:r>
              <a:rPr lang="zh-CN" altLang="en-US" b="1">
                <a:ea typeface="宋体" pitchFamily="2" charset="-122"/>
              </a:rPr>
              <a:t>到</a:t>
            </a:r>
            <a:r>
              <a:rPr lang="en-US" altLang="zh-CN" b="1">
                <a:ea typeface="宋体" pitchFamily="2" charset="-122"/>
              </a:rPr>
              <a:t>{0,1}</a:t>
            </a:r>
            <a:r>
              <a:rPr lang="zh-CN" altLang="en-US" b="1">
                <a:ea typeface="宋体" pitchFamily="2" charset="-122"/>
              </a:rPr>
              <a:t>的函数，它的函数值只可能是</a:t>
            </a:r>
            <a:r>
              <a:rPr lang="en-US" altLang="zh-CN" b="1">
                <a:ea typeface="宋体" pitchFamily="2" charset="-122"/>
              </a:rPr>
              <a:t>1</a:t>
            </a:r>
            <a:r>
              <a:rPr lang="zh-CN" altLang="en-US" b="1">
                <a:ea typeface="宋体" pitchFamily="2" charset="-122"/>
              </a:rPr>
              <a:t>或</a:t>
            </a:r>
            <a:r>
              <a:rPr lang="en-US" altLang="zh-CN" b="1">
                <a:ea typeface="宋体" pitchFamily="2" charset="-122"/>
              </a:rPr>
              <a:t>0</a:t>
            </a:r>
            <a:r>
              <a:rPr lang="zh-CN" altLang="en-US" b="1">
                <a:ea typeface="宋体" pitchFamily="2" charset="-122"/>
              </a:rPr>
              <a:t>，因此，总可以用上述方法得到该函数所对应的析取范式、合取范式。</a:t>
            </a:r>
          </a:p>
          <a:p>
            <a:pPr>
              <a:lnSpc>
                <a:spcPct val="130000"/>
              </a:lnSpc>
              <a:buClr>
                <a:srgbClr val="FF3300"/>
              </a:buClr>
              <a:buFont typeface="Wingdings" pitchFamily="2" charset="2"/>
              <a:buChar char="Ø"/>
            </a:pPr>
            <a:r>
              <a:rPr lang="zh-CN" altLang="en-US" b="1">
                <a:ea typeface="宋体" pitchFamily="2" charset="-122"/>
              </a:rPr>
              <a:t>   考虑命题公式的析取范式和合取范式。</a:t>
            </a:r>
          </a:p>
        </p:txBody>
      </p:sp>
    </p:spTree>
  </p:cSld>
  <p:clrMapOvr>
    <a:masterClrMapping/>
  </p:clrMapOvr>
  <p:transition spd="slow">
    <p:rand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C80A56-2652-4CC4-8F45-B7C2DFE2E838}" type="slidenum">
              <a:rPr lang="en-US" altLang="zh-CN"/>
              <a:pPr/>
              <a:t>40</a:t>
            </a:fld>
            <a:endParaRPr lang="en-US" altLang="zh-CN"/>
          </a:p>
        </p:txBody>
      </p:sp>
      <p:sp>
        <p:nvSpPr>
          <p:cNvPr id="607234" name="Rectangle 2"/>
          <p:cNvSpPr>
            <a:spLocks noChangeArrowheads="1"/>
          </p:cNvSpPr>
          <p:nvPr/>
        </p:nvSpPr>
        <p:spPr bwMode="auto">
          <a:xfrm>
            <a:off x="2686050" y="32131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函数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f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所对应的合取范式为：</a:t>
            </a:r>
            <a:endParaRPr lang="zh-CN" altLang="en-US" sz="44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07253" name="Group 21"/>
          <p:cNvGraphicFramePr>
            <a:graphicFrameLocks noGrp="1"/>
          </p:cNvGraphicFramePr>
          <p:nvPr/>
        </p:nvGraphicFramePr>
        <p:xfrm>
          <a:off x="628650" y="1912938"/>
          <a:ext cx="1927225" cy="3094038"/>
        </p:xfrm>
        <a:graphic>
          <a:graphicData uri="http://schemas.openxmlformats.org/drawingml/2006/table">
            <a:tbl>
              <a:tblPr/>
              <a:tblGrid>
                <a:gridCol w="1219200"/>
                <a:gridCol w="708025"/>
              </a:tblGrid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987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0,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0,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1,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0, 1,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0,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0, 1&gt;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1, 0&gt;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&lt; 1, 1, 1&gt;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7247" name="Text Box 15"/>
          <p:cNvSpPr txBox="1">
            <a:spLocks noChangeArrowheads="1"/>
          </p:cNvSpPr>
          <p:nvPr/>
        </p:nvSpPr>
        <p:spPr bwMode="auto">
          <a:xfrm>
            <a:off x="466725" y="1196975"/>
            <a:ext cx="8277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folHlink"/>
                </a:solidFill>
                <a:ea typeface="宋体" pitchFamily="2" charset="-122"/>
              </a:rPr>
              <a:t>例</a:t>
            </a:r>
            <a:r>
              <a:rPr lang="en-US" altLang="zh-CN" b="1">
                <a:solidFill>
                  <a:schemeClr val="folHlink"/>
                </a:solidFill>
                <a:ea typeface="宋体" pitchFamily="2" charset="-122"/>
              </a:rPr>
              <a:t>2</a:t>
            </a:r>
            <a:r>
              <a:rPr lang="zh-CN" altLang="en-US" b="1">
                <a:solidFill>
                  <a:schemeClr val="folHlink"/>
                </a:solidFill>
                <a:ea typeface="宋体" pitchFamily="2" charset="-122"/>
              </a:rPr>
              <a:t>：</a:t>
            </a:r>
            <a:r>
              <a:rPr lang="zh-CN" altLang="en-US" b="1">
                <a:ea typeface="宋体" pitchFamily="2" charset="-122"/>
              </a:rPr>
              <a:t>写出所给函数的析取范式和合取范式。</a:t>
            </a:r>
          </a:p>
        </p:txBody>
      </p:sp>
      <p:sp>
        <p:nvSpPr>
          <p:cNvPr id="607249" name="Rectangle 17"/>
          <p:cNvSpPr>
            <a:spLocks noChangeArrowheads="1"/>
          </p:cNvSpPr>
          <p:nvPr/>
        </p:nvSpPr>
        <p:spPr bwMode="auto">
          <a:xfrm>
            <a:off x="2700338" y="1989138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函数</a:t>
            </a:r>
            <a:r>
              <a:rPr lang="en-US" altLang="zh-CN" b="1">
                <a:solidFill>
                  <a:schemeClr val="hlink"/>
                </a:solidFill>
                <a:ea typeface="宋体" pitchFamily="2" charset="-122"/>
              </a:rPr>
              <a:t>f</a:t>
            </a:r>
            <a:r>
              <a:rPr lang="zh-CN" altLang="en-US" b="1">
                <a:solidFill>
                  <a:schemeClr val="hlink"/>
                </a:solidFill>
                <a:ea typeface="宋体" pitchFamily="2" charset="-122"/>
              </a:rPr>
              <a:t>所对应的析取范式为：</a:t>
            </a:r>
            <a:endParaRPr lang="zh-CN" altLang="en-US" sz="4400" b="1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  <a:ea typeface="宋体" pitchFamily="2" charset="-122"/>
            </a:endParaRPr>
          </a:p>
        </p:txBody>
      </p:sp>
      <p:graphicFrame>
        <p:nvGraphicFramePr>
          <p:cNvPr id="607250" name="Object 18"/>
          <p:cNvGraphicFramePr>
            <a:graphicFrameLocks noGrp="1" noChangeAspect="1"/>
          </p:cNvGraphicFramePr>
          <p:nvPr>
            <p:ph idx="1"/>
          </p:nvPr>
        </p:nvGraphicFramePr>
        <p:xfrm>
          <a:off x="2830513" y="2673350"/>
          <a:ext cx="55626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309" name="Equation" r:id="rId3" imgW="5715000" imgH="380880" progId="Equation.DSMT4">
                  <p:embed/>
                </p:oleObj>
              </mc:Choice>
              <mc:Fallback>
                <p:oleObj name="Equation" r:id="rId3" imgW="5715000" imgH="3808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2673350"/>
                        <a:ext cx="5562600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7254" name="Object 22"/>
          <p:cNvGraphicFramePr>
            <a:graphicFrameLocks noChangeAspect="1"/>
          </p:cNvGraphicFramePr>
          <p:nvPr/>
        </p:nvGraphicFramePr>
        <p:xfrm>
          <a:off x="2817813" y="3871913"/>
          <a:ext cx="5715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7310" name="Equation" r:id="rId5" imgW="5715000" imgH="850680" progId="Equation.DSMT4">
                  <p:embed/>
                </p:oleObj>
              </mc:Choice>
              <mc:Fallback>
                <p:oleObj name="Equation" r:id="rId5" imgW="5715000" imgH="85068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7813" y="3871913"/>
                        <a:ext cx="5715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 cap="sq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07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07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07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07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07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07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07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7234" grpId="0"/>
      <p:bldP spid="607249" grpId="0"/>
    </p:bld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4559</TotalTime>
  <Words>4015</Words>
  <Application>Microsoft Office PowerPoint</Application>
  <PresentationFormat>全屏显示(4:3)</PresentationFormat>
  <Paragraphs>335</Paragraphs>
  <Slides>40</Slides>
  <Notes>0</Notes>
  <HiddenSlides>2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Blends</vt:lpstr>
      <vt:lpstr>Microsoft 公式 3.0</vt:lpstr>
      <vt:lpstr>公式</vt:lpstr>
      <vt:lpstr>Equation</vt:lpstr>
      <vt:lpstr>第六章   格和布尔代数</vt:lpstr>
      <vt:lpstr>复习</vt:lpstr>
      <vt:lpstr>复习</vt:lpstr>
      <vt:lpstr>6-1 格的概念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二、格的性质</vt:lpstr>
      <vt:lpstr>PowerPoint 演示文稿</vt:lpstr>
      <vt:lpstr>PowerPoint 演示文稿</vt:lpstr>
      <vt:lpstr>2、格的其它一些性质</vt:lpstr>
      <vt:lpstr>三、格的同态同构</vt:lpstr>
      <vt:lpstr>2、格的同态同构性质</vt:lpstr>
      <vt:lpstr>PowerPoint 演示文稿</vt:lpstr>
      <vt:lpstr>6-2 分配格</vt:lpstr>
      <vt:lpstr>PowerPoint 演示文稿</vt:lpstr>
      <vt:lpstr>2、分配格的性质</vt:lpstr>
      <vt:lpstr>3、模格</vt:lpstr>
      <vt:lpstr>6-3  有补格</vt:lpstr>
      <vt:lpstr>PowerPoint 演示文稿</vt:lpstr>
      <vt:lpstr>PowerPoint 演示文稿</vt:lpstr>
      <vt:lpstr>复习</vt:lpstr>
      <vt:lpstr>PowerPoint 演示文稿</vt:lpstr>
      <vt:lpstr>PowerPoint 演示文稿</vt:lpstr>
      <vt:lpstr>PowerPoint 演示文稿</vt:lpstr>
      <vt:lpstr>PowerPoint 演示文稿</vt:lpstr>
      <vt:lpstr>6-4  布尔代数</vt:lpstr>
      <vt:lpstr>PowerPoint 演示文稿</vt:lpstr>
      <vt:lpstr>PowerPoint 演示文稿</vt:lpstr>
      <vt:lpstr>6-5  布尔表达式</vt:lpstr>
      <vt:lpstr>2.布尔表达式</vt:lpstr>
      <vt:lpstr>PowerPoint 演示文稿</vt:lpstr>
      <vt:lpstr>PowerPoint 演示文稿</vt:lpstr>
      <vt:lpstr>PowerPoint 演示文稿</vt:lpstr>
      <vt:lpstr>二、布尔函数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没有幻灯片标题</dc:title>
  <dc:creator>丁伦</dc:creator>
  <cp:lastModifiedBy>Sky123.Org</cp:lastModifiedBy>
  <cp:revision>1917</cp:revision>
  <dcterms:created xsi:type="dcterms:W3CDTF">2002-08-05T07:56:52Z</dcterms:created>
  <dcterms:modified xsi:type="dcterms:W3CDTF">2019-11-18T02:18:39Z</dcterms:modified>
</cp:coreProperties>
</file>