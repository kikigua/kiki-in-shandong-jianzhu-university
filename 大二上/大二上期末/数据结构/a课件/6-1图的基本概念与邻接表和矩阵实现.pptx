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s/comment1.xml" ContentType="application/vnd.openxmlformats-officedocument.presentationml.comment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s/comment2.xml" ContentType="application/vnd.openxmlformats-officedocument.presentationml.comments+xml"/>
  <Override PartName="/ppt/slides/slide17.xml" ContentType="application/vnd.openxmlformats-officedocument.presentationml.slide+xml"/>
  <Override PartName="/ppt/comments/comment3.xml" ContentType="application/vnd.openxmlformats-officedocument.presentationml.comments+xml"/>
  <Override PartName="/ppt/slides/slide18.xml" ContentType="application/vnd.openxmlformats-officedocument.presentationml.slide+xml"/>
  <Override PartName="/ppt/comments/comment4.xml" ContentType="application/vnd.openxmlformats-officedocument.presentationml.comment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s/comment5.xml" ContentType="application/vnd.openxmlformats-officedocument.presentationml.comment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s/comment6.xml" ContentType="application/vnd.openxmlformats-officedocument.presentationml.comments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s/comment7.xml" ContentType="application/vnd.openxmlformats-officedocument.presentationml.comments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comments/comment8.xml" ContentType="application/vnd.openxmlformats-officedocument.presentationml.comments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comments/comment9.xml" ContentType="application/vnd.openxmlformats-officedocument.presentationml.comments+xml"/>
  <Override PartName="/ppt/slides/slide44.xml" ContentType="application/vnd.openxmlformats-officedocument.presentationml.slide+xml"/>
  <Override PartName="/ppt/comments/comment10.xml" ContentType="application/vnd.openxmlformats-officedocument.presentationml.comments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comments/comment11.xml" ContentType="application/vnd.openxmlformats-officedocument.presentationml.comments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comments/comment12.xml" ContentType="application/vnd.openxmlformats-officedocument.presentationml.comments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comments/comment13.xml" ContentType="application/vnd.openxmlformats-officedocument.presentationml.comments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comments/comment14.xml" ContentType="application/vnd.openxmlformats-officedocument.presentationml.comments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comments/comment15.xml" ContentType="application/vnd.openxmlformats-officedocument.presentationml.comments+xml"/>
  <Override PartName="/ppt/slides/slide76.xml" ContentType="application/vnd.openxmlformats-officedocument.presentationml.slide+xml"/>
  <Override PartName="/ppt/comments/comment16.xml" ContentType="application/vnd.openxmlformats-officedocument.presentationml.comments+xml"/>
  <Override PartName="/ppt/slides/slide77.xml" ContentType="application/vnd.openxmlformats-officedocument.presentationml.slide+xml"/>
  <Override PartName="/ppt/comments/comment17.xml" ContentType="application/vnd.openxmlformats-officedocument.presentationml.comments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6"/>
    <p:sldId id="273" r:id="rId28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8"/>
    <p:sldId id="282" r:id="rId39"/>
    <p:sldId id="283" r:id="rId41"/>
    <p:sldId id="284" r:id="rId42"/>
    <p:sldId id="285" r:id="rId43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4"/>
    <p:sldId id="295" r:id="rId55"/>
    <p:sldId id="296" r:id="rId56"/>
    <p:sldId id="297" r:id="rId57"/>
    <p:sldId id="298" r:id="rId58"/>
    <p:sldId id="299" r:id="rId60"/>
    <p:sldId id="300" r:id="rId62"/>
    <p:sldId id="301" r:id="rId63"/>
    <p:sldId id="302" r:id="rId64"/>
    <p:sldId id="303" r:id="rId65"/>
    <p:sldId id="304" r:id="rId67"/>
    <p:sldId id="305" r:id="rId68"/>
    <p:sldId id="306" r:id="rId69"/>
    <p:sldId id="307" r:id="rId70"/>
    <p:sldId id="308" r:id="rId71"/>
    <p:sldId id="309" r:id="rId72"/>
    <p:sldId id="310" r:id="rId73"/>
    <p:sldId id="311" r:id="rId74"/>
    <p:sldId id="312" r:id="rId75"/>
    <p:sldId id="313" r:id="rId77"/>
    <p:sldId id="314" r:id="rId78"/>
    <p:sldId id="315" r:id="rId79"/>
    <p:sldId id="316" r:id="rId80"/>
    <p:sldId id="317" r:id="rId81"/>
    <p:sldId id="318" r:id="rId82"/>
    <p:sldId id="319" r:id="rId83"/>
    <p:sldId id="320" r:id="rId84"/>
    <p:sldId id="321" r:id="rId85"/>
    <p:sldId id="322" r:id="rId86"/>
    <p:sldId id="323" r:id="rId88"/>
    <p:sldId id="324" r:id="rId89"/>
    <p:sldId id="325" r:id="rId90"/>
    <p:sldId id="326" r:id="rId91"/>
    <p:sldId id="327" r:id="rId92"/>
    <p:sldId id="328" r:id="rId93"/>
    <p:sldId id="329" r:id="rId95"/>
    <p:sldId id="330" r:id="rId96"/>
    <p:sldId id="331" r:id="rId98"/>
    <p:sldId id="332" r:id="rId100"/>
    <p:sldId id="333" r:id="rId102"/>
    <p:sldId id="334" r:id="rId103"/>
    <p:sldId id="335" r:id="rId104"/>
    <p:sldId id="336" r:id="rId105"/>
    <p:sldId id="337" r:id="rId106"/>
    <p:sldId id="338" r:id="rId107"/>
    <p:sldId id="339" r:id="rId108"/>
    <p:sldId id="340" r:id="rId109"/>
    <p:sldId id="341" r:id="rId11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1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CDFE2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2E78C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394F8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4EB3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 b="def" i="def"/>
      <a:tcStyle>
        <a:tcBdr/>
        <a:fill>
          <a:solidFill>
            <a:srgbClr val="E6E9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4CB"/>
          </a:solidFill>
        </a:fill>
      </a:tcStyle>
    </a:wholeTbl>
    <a:band2H>
      <a:tcTxStyle b="def" i="def"/>
      <a:tcStyle>
        <a:tcBdr/>
        <a:fill>
          <a:solidFill>
            <a:srgbClr val="F7F2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BD9"/>
          </a:solidFill>
        </a:fill>
      </a:tcStyle>
    </a:wholeTbl>
    <a:band2H>
      <a:tcTxStyle b="def" i="def"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comments" Target="comments/comment1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comments" Target="comments/comment2.xml"/><Relationship Id="rId26" Type="http://schemas.openxmlformats.org/officeDocument/2006/relationships/slide" Target="slides/slide17.xml"/><Relationship Id="rId27" Type="http://schemas.openxmlformats.org/officeDocument/2006/relationships/comments" Target="comments/comment3.xml"/><Relationship Id="rId28" Type="http://schemas.openxmlformats.org/officeDocument/2006/relationships/slide" Target="slides/slide18.xml"/><Relationship Id="rId29" Type="http://schemas.openxmlformats.org/officeDocument/2006/relationships/comments" Target="comments/comment4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comments" Target="comments/comment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comments" Target="comments/comment6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comments" Target="comments/comment7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comments" Target="comments/comment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comments" Target="comments/comment9.xml"/><Relationship Id="rId60" Type="http://schemas.openxmlformats.org/officeDocument/2006/relationships/slide" Target="slides/slide44.xml"/><Relationship Id="rId61" Type="http://schemas.openxmlformats.org/officeDocument/2006/relationships/comments" Target="comments/comment10.xml"/><Relationship Id="rId62" Type="http://schemas.openxmlformats.org/officeDocument/2006/relationships/slide" Target="slides/slide45.xml"/><Relationship Id="rId63" Type="http://schemas.openxmlformats.org/officeDocument/2006/relationships/slide" Target="slides/slide46.xml"/><Relationship Id="rId64" Type="http://schemas.openxmlformats.org/officeDocument/2006/relationships/slide" Target="slides/slide47.xml"/><Relationship Id="rId65" Type="http://schemas.openxmlformats.org/officeDocument/2006/relationships/slide" Target="slides/slide48.xml"/><Relationship Id="rId66" Type="http://schemas.openxmlformats.org/officeDocument/2006/relationships/comments" Target="comments/comment11.xml"/><Relationship Id="rId67" Type="http://schemas.openxmlformats.org/officeDocument/2006/relationships/slide" Target="slides/slide49.xml"/><Relationship Id="rId68" Type="http://schemas.openxmlformats.org/officeDocument/2006/relationships/slide" Target="slides/slide50.xml"/><Relationship Id="rId69" Type="http://schemas.openxmlformats.org/officeDocument/2006/relationships/slide" Target="slides/slide51.xml"/><Relationship Id="rId70" Type="http://schemas.openxmlformats.org/officeDocument/2006/relationships/slide" Target="slides/slide52.xml"/><Relationship Id="rId71" Type="http://schemas.openxmlformats.org/officeDocument/2006/relationships/slide" Target="slides/slide53.xml"/><Relationship Id="rId72" Type="http://schemas.openxmlformats.org/officeDocument/2006/relationships/slide" Target="slides/slide54.xml"/><Relationship Id="rId73" Type="http://schemas.openxmlformats.org/officeDocument/2006/relationships/slide" Target="slides/slide55.xml"/><Relationship Id="rId74" Type="http://schemas.openxmlformats.org/officeDocument/2006/relationships/slide" Target="slides/slide56.xml"/><Relationship Id="rId75" Type="http://schemas.openxmlformats.org/officeDocument/2006/relationships/slide" Target="slides/slide57.xml"/><Relationship Id="rId76" Type="http://schemas.openxmlformats.org/officeDocument/2006/relationships/comments" Target="comments/comment12.xml"/><Relationship Id="rId77" Type="http://schemas.openxmlformats.org/officeDocument/2006/relationships/slide" Target="slides/slide58.xml"/><Relationship Id="rId78" Type="http://schemas.openxmlformats.org/officeDocument/2006/relationships/slide" Target="slides/slide59.xml"/><Relationship Id="rId79" Type="http://schemas.openxmlformats.org/officeDocument/2006/relationships/slide" Target="slides/slide60.xml"/><Relationship Id="rId80" Type="http://schemas.openxmlformats.org/officeDocument/2006/relationships/slide" Target="slides/slide61.xml"/><Relationship Id="rId81" Type="http://schemas.openxmlformats.org/officeDocument/2006/relationships/slide" Target="slides/slide62.xml"/><Relationship Id="rId82" Type="http://schemas.openxmlformats.org/officeDocument/2006/relationships/slide" Target="slides/slide63.xml"/><Relationship Id="rId83" Type="http://schemas.openxmlformats.org/officeDocument/2006/relationships/slide" Target="slides/slide64.xml"/><Relationship Id="rId84" Type="http://schemas.openxmlformats.org/officeDocument/2006/relationships/slide" Target="slides/slide65.xml"/><Relationship Id="rId85" Type="http://schemas.openxmlformats.org/officeDocument/2006/relationships/slide" Target="slides/slide66.xml"/><Relationship Id="rId86" Type="http://schemas.openxmlformats.org/officeDocument/2006/relationships/slide" Target="slides/slide67.xml"/><Relationship Id="rId87" Type="http://schemas.openxmlformats.org/officeDocument/2006/relationships/comments" Target="comments/comment13.xml"/><Relationship Id="rId88" Type="http://schemas.openxmlformats.org/officeDocument/2006/relationships/slide" Target="slides/slide68.xml"/><Relationship Id="rId89" Type="http://schemas.openxmlformats.org/officeDocument/2006/relationships/slide" Target="slides/slide69.xml"/><Relationship Id="rId90" Type="http://schemas.openxmlformats.org/officeDocument/2006/relationships/slide" Target="slides/slide70.xml"/><Relationship Id="rId91" Type="http://schemas.openxmlformats.org/officeDocument/2006/relationships/slide" Target="slides/slide71.xml"/><Relationship Id="rId92" Type="http://schemas.openxmlformats.org/officeDocument/2006/relationships/slide" Target="slides/slide72.xml"/><Relationship Id="rId93" Type="http://schemas.openxmlformats.org/officeDocument/2006/relationships/slide" Target="slides/slide73.xml"/><Relationship Id="rId94" Type="http://schemas.openxmlformats.org/officeDocument/2006/relationships/comments" Target="comments/comment14.xml"/><Relationship Id="rId95" Type="http://schemas.openxmlformats.org/officeDocument/2006/relationships/slide" Target="slides/slide74.xml"/><Relationship Id="rId96" Type="http://schemas.openxmlformats.org/officeDocument/2006/relationships/slide" Target="slides/slide75.xml"/><Relationship Id="rId97" Type="http://schemas.openxmlformats.org/officeDocument/2006/relationships/comments" Target="comments/comment15.xml"/><Relationship Id="rId98" Type="http://schemas.openxmlformats.org/officeDocument/2006/relationships/slide" Target="slides/slide76.xml"/><Relationship Id="rId99" Type="http://schemas.openxmlformats.org/officeDocument/2006/relationships/comments" Target="comments/comment16.xml"/><Relationship Id="rId100" Type="http://schemas.openxmlformats.org/officeDocument/2006/relationships/slide" Target="slides/slide77.xml"/><Relationship Id="rId101" Type="http://schemas.openxmlformats.org/officeDocument/2006/relationships/comments" Target="comments/comment17.xml"/><Relationship Id="rId102" Type="http://schemas.openxmlformats.org/officeDocument/2006/relationships/slide" Target="slides/slide78.xml"/><Relationship Id="rId103" Type="http://schemas.openxmlformats.org/officeDocument/2006/relationships/slide" Target="slides/slide79.xml"/><Relationship Id="rId104" Type="http://schemas.openxmlformats.org/officeDocument/2006/relationships/slide" Target="slides/slide80.xml"/><Relationship Id="rId105" Type="http://schemas.openxmlformats.org/officeDocument/2006/relationships/slide" Target="slides/slide81.xml"/><Relationship Id="rId106" Type="http://schemas.openxmlformats.org/officeDocument/2006/relationships/slide" Target="slides/slide82.xml"/><Relationship Id="rId107" Type="http://schemas.openxmlformats.org/officeDocument/2006/relationships/slide" Target="slides/slide83.xml"/><Relationship Id="rId108" Type="http://schemas.openxmlformats.org/officeDocument/2006/relationships/slide" Target="slides/slide84.xml"/><Relationship Id="rId109" Type="http://schemas.openxmlformats.org/officeDocument/2006/relationships/slide" Target="slides/slide85.xml"/><Relationship Id="rId110" Type="http://schemas.openxmlformats.org/officeDocument/2006/relationships/slide" Target="slides/slide86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1-29T18:27:54.145" idx="1">
    <p:pos x="3136" y="2512"/>
    <p:text>严蔚敏老师的书：
稀疏图 |E| ≤ |V| log|V|
但国外著名的教材一般采用ppt中的定义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4-12T08:49:21.916" idx="2">
    <p:pos x="399" y="-15"/>
    <p:text>第1种观点：
1、1个数组存放数据
2、1个矩阵存放数据之间的关系
      用图的术语讲就是，1个顶点与哪些顶点邻接，即有哪些邻接点
      或者，1个顶点和哪个顶点之间有边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07T10:10:15.942" idx="3">
    <p:pos x="375" y="4722"/>
    <p:text>第1种观点：数据和数据之间的关系: 
list存储关系，即顶点的邻接点
list可以是LinkedList也可以是ArrayList，任何一种list都可以。
</p:text>
    <p:extLst>
      <p:ext uri="{C676402C-5697-4E1C-873F-D02D1690AC5C}">
        <p15:threadingInfo xmlns:p15="http://schemas.microsoft.com/office/powerpoint/2012/main" timeZoneBias="-480"/>
      </p:ext>
    </p:extLst>
  </p:cm>
  <p:cm authorId="0" dt="2021-10-26T08:32:13.575" idx="4">
    <p:pos x="3941" y="4693"/>
    <p:text>链表中的数字，即顶点的编号是引用的一种实现形式，通过存储的编号
就能找到顶点对象，参考前面树的双亲表示法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4-12T08:48:48.045" idx="5">
    <p:pos x="2409" y="718"/>
    <p:text>第2种观点：
1、顶点，边分别作为数据存放；边中除了存放与边关联的2个顶点外，还可以存放其它的数据
2、顶点和边之间的邻接关系
所以：这是第1章介绍的，2个数据集，1个关系类的数据结构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5-15T18:42:36.488" idx="6">
    <p:pos x="4212" y="3802"/>
    <p:text>如何表示无边？
自己补齐带权重无向图的邻接矩阵和邻接表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18T08:21:31.380" idx="7">
    <p:pos x="2602" y="4185"/>
    <p:text>下标起到了引用变量的作用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5-04T09:06:33.954" idx="8">
    <p:pos x="648" y="4501"/>
    <p:text>构造器得到的图，有顶点，没有边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4-14T06:55:41.940" idx="9">
    <p:pos x="5768" y="3425"/>
    <p:text>如果需要无参的iterator，需要增加一个
字段，表示求哪个顶点的邻接点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4T08:05:39.325" idx="10">
    <p:pos x="1746" y="3568"/>
    <p:text>类库的List接口的add方法是O(1)，LinkedList加到表头，ArrayList加到表尾	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4-16T07:35:53.934" idx="11">
    <p:pos x="449" y="3868"/>
    <p:text>
类库的List接口有2个remove:
   boolean remove(Object o); 删除第一次出现的数据o，查找-删除一次完成
   E remove(int index);删除index位置的数据
所以，如果调用remove(v)，编译器将选择第2个方法，为了使用第1个方法，需要生成Integer的对象
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18T14:34:57.140" idx="12">
    <p:pos x="3154" y="4357"/>
    <p:text>邻接矩阵是空间换时间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5-16T10:30:05.319" idx="13">
    <p:pos x="2014" y="4031"/>
    <p:text>如果使用indexOf会返回一个位置
然后再使用这个位置去数据
遍历了2遍链表，效率低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0T08:53:34.352" idx="14">
    <p:pos x="5576" y="2936"/>
    <p:text>满足时间复杂度和空间复杂度，实现简单即可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8T19:15:16.365" idx="15">
    <p:pos x="5835" y="4125"/>
    <p:text>表是线性表，可以有不同的实现方式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0T09:11:49.445" idx="16">
    <p:pos x="4896" y="3848"/>
    <p:text>每个顶点最多5棵子树
如何知道顶点到底有几棵子树？
或者：再增加1个字段: int n，
或者：子树从左到右放在数组，遇到null，后面就没有了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0T09:16:52.145" idx="17">
    <p:pos x="4438" y="4352"/>
    <p:text>每个顶点的子树数目不同，但是一经决定，就不再变化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20T09:18:01.574" idx="18">
    <p:pos x="3960" y="4800"/>
    <p:text>每个顶点的子树数目不同，而且不断变化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" name="Shape 6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 latinLnBrk="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24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20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5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6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27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0" marR="57798" indent="57798" algn="ctr" defTabSz="1295400">
              <a:defRPr sz="4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29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8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7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2"/>
          <p:cNvSpPr/>
          <p:nvPr/>
        </p:nvSpPr>
        <p:spPr>
          <a:xfrm>
            <a:off x="1143000" y="285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50" name="Group 7"/>
          <p:cNvGrpSpPr/>
          <p:nvPr/>
        </p:nvGrpSpPr>
        <p:grpSpPr>
          <a:xfrm>
            <a:off x="165099" y="41203"/>
            <a:ext cx="1435101" cy="1041403"/>
            <a:chOff x="0" y="0"/>
            <a:chExt cx="1435099" cy="1041401"/>
          </a:xfrm>
        </p:grpSpPr>
        <p:sp>
          <p:nvSpPr>
            <p:cNvPr id="46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1" name="Shape 8"/>
          <p:cNvSpPr/>
          <p:nvPr/>
        </p:nvSpPr>
        <p:spPr>
          <a:xfrm>
            <a:off x="1087402" y="-24272"/>
            <a:ext cx="45157" cy="11667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" name="Shape 9"/>
          <p:cNvSpPr/>
          <p:nvPr/>
        </p:nvSpPr>
        <p:spPr>
          <a:xfrm>
            <a:off x="629919" y="9485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53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17779"/>
            <a:ext cx="971382" cy="925127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标题文本"/>
          <p:cNvSpPr txBox="1"/>
          <p:nvPr>
            <p:ph type="title"/>
          </p:nvPr>
        </p:nvSpPr>
        <p:spPr>
          <a:xfrm>
            <a:off x="1611487" y="11287"/>
            <a:ext cx="9448802" cy="952502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0" marR="57798" indent="57798" algn="ctr" defTabSz="1295400">
              <a:defRPr sz="37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5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 lIns="50800" tIns="50800" rIns="50800" bIns="50800"/>
          <a:lstStyle>
            <a:lvl1pPr defTabSz="825500">
              <a:defRPr sz="28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593795" y="320604"/>
            <a:ext cx="623148" cy="675076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" name="矩形"/>
          <p:cNvSpPr/>
          <p:nvPr/>
        </p:nvSpPr>
        <p:spPr>
          <a:xfrm>
            <a:off x="1137919" y="320604"/>
            <a:ext cx="467361" cy="675076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" name="矩形"/>
          <p:cNvSpPr/>
          <p:nvPr/>
        </p:nvSpPr>
        <p:spPr>
          <a:xfrm>
            <a:off x="769902" y="921173"/>
            <a:ext cx="600569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" name="矩形"/>
          <p:cNvSpPr/>
          <p:nvPr/>
        </p:nvSpPr>
        <p:spPr>
          <a:xfrm>
            <a:off x="1295964" y="921173"/>
            <a:ext cx="523805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" name="矩形"/>
          <p:cNvSpPr/>
          <p:nvPr/>
        </p:nvSpPr>
        <p:spPr>
          <a:xfrm>
            <a:off x="180622" y="817315"/>
            <a:ext cx="796996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" name="矩形"/>
          <p:cNvSpPr/>
          <p:nvPr/>
        </p:nvSpPr>
        <p:spPr>
          <a:xfrm>
            <a:off x="1074702" y="153528"/>
            <a:ext cx="45156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" name="矩形"/>
          <p:cNvSpPr/>
          <p:nvPr/>
        </p:nvSpPr>
        <p:spPr>
          <a:xfrm>
            <a:off x="629919" y="1291448"/>
            <a:ext cx="11699806" cy="45157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72248" tIns="72248" rIns="72248" bIns="72248" anchor="ctr"/>
          <a:lstStyle/>
          <a:p>
            <a:pPr marL="57799" marR="57799" indent="0" defTabSz="1300480">
              <a:lnSpc>
                <a:spcPct val="100000"/>
              </a:lnSpc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320604"/>
            <a:ext cx="1074704" cy="100245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636888" y="-1"/>
            <a:ext cx="11083433" cy="134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 anchor="b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1682044" y="2869635"/>
            <a:ext cx="11054081" cy="6883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normAutofit fontScale="100000" lnSpcReduction="0"/>
          </a:bodyPr>
          <a:lstStyle>
            <a:lvl2pPr marL="885643" indent="-387803">
              <a:spcBef>
                <a:spcPts val="900"/>
              </a:spcBef>
              <a:buClr>
                <a:srgbClr val="FF0000"/>
              </a:buClr>
              <a:defRPr sz="3800"/>
            </a:lvl2pPr>
            <a:lvl3pPr marL="1278889" indent="-323850">
              <a:spcBef>
                <a:spcPts val="800"/>
              </a:spcBef>
              <a:defRPr sz="3400"/>
            </a:lvl3pPr>
            <a:lvl4pPr marL="1732279" indent="-320039">
              <a:spcBef>
                <a:spcPts val="600"/>
              </a:spcBef>
              <a:buClr>
                <a:srgbClr val="F81F08"/>
              </a:buClr>
              <a:defRPr sz="2800"/>
            </a:lvl4pPr>
            <a:lvl5pPr marL="2189479" indent="-320039">
              <a:spcBef>
                <a:spcPts val="600"/>
              </a:spcBef>
              <a:buClr>
                <a:srgbClr val="FFFFFF"/>
              </a:buClr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6204373" y="9085298"/>
            <a:ext cx="596054" cy="60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2248" tIns="72248" rIns="72248" bIns="72248">
            <a:spAutoFit/>
          </a:bodyPr>
          <a:lstStyle>
            <a:lvl1pPr indent="0" algn="ctr" defTabSz="830862">
              <a:lnSpc>
                <a:spcPct val="100000"/>
              </a:lnSpc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</p:sldLayoutIdLst>
  <p:transition xmlns:p14="http://schemas.microsoft.com/office/powerpoint/2010/main" spd="med" advClick="1"/>
  <p:txStyles>
    <p:titleStyle>
      <a:lvl1pPr marL="57799" marR="57799" indent="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1pPr>
      <a:lvl2pPr marL="57799" marR="57799" indent="3429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2pPr>
      <a:lvl3pPr marL="57799" marR="57799" indent="6858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3pPr>
      <a:lvl4pPr marL="57799" marR="57799" indent="10287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4pPr>
      <a:lvl5pPr marL="57799" marR="57799" indent="13716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5pPr>
      <a:lvl6pPr marL="57799" marR="57799" indent="17145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6pPr>
      <a:lvl7pPr marL="57799" marR="57799" indent="20574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7pPr>
      <a:lvl8pPr marL="57799" marR="57799" indent="24003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8pPr>
      <a:lvl9pPr marL="57799" marR="57799" indent="2743200" algn="l" defTabSz="1300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333399"/>
          </a:solidFill>
          <a:uFill>
            <a:solidFill>
              <a:srgbClr val="333399"/>
            </a:solidFill>
          </a:uFill>
          <a:latin typeface="Tahoma Bold"/>
          <a:ea typeface="Tahoma Bold"/>
          <a:cs typeface="Tahoma Bold"/>
          <a:sym typeface="Tahoma Bold"/>
        </a:defRPr>
      </a:lvl9pPr>
    </p:titleStyle>
    <p:bodyStyle>
      <a:lvl1pPr marL="512127" marR="57799" indent="-471487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1pPr>
      <a:lvl2pPr marL="946875" marR="57799" indent="-449035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2pPr>
      <a:lvl3pPr marL="1374139" marR="57799" indent="-419100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3pPr>
      <a:lvl4pPr marL="19151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4pPr>
      <a:lvl5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5pPr>
      <a:lvl6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6pPr>
      <a:lvl7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7pPr>
      <a:lvl8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8pPr>
      <a:lvl9pPr marL="2372359" marR="57799" indent="-502919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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SimSun"/>
          <a:ea typeface="SimSun"/>
          <a:cs typeface="SimSun"/>
          <a:sym typeface="SimSun"/>
        </a:defRPr>
      </a:lvl9pPr>
    </p:bodyStyle>
    <p:otherStyle>
      <a:lvl1pPr marL="0" marR="0" indent="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3429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6858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10287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13716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17145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20574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24003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2743200" algn="ctr" defTabSz="83086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5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6.xml"/><Relationship Id="rId3" Type="http://schemas.openxmlformats.org/officeDocument/2006/relationships/image" Target="../media/image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8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9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0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1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2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3.xml"/><Relationship Id="rId3" Type="http://schemas.openxmlformats.org/officeDocument/2006/relationships/image" Target="../media/image2.png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4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omments" Target="../comments/comment15.xml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omments" Target="../comments/comment16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omments" Target="../comments/comment17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30"/>
          <p:cNvSpPr txBox="1"/>
          <p:nvPr/>
        </p:nvSpPr>
        <p:spPr>
          <a:xfrm>
            <a:off x="1715064" y="80433"/>
            <a:ext cx="86995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图(Graph)的数学定义</a:t>
            </a:r>
          </a:p>
        </p:txBody>
      </p:sp>
      <p:sp>
        <p:nvSpPr>
          <p:cNvPr id="65" name="Shape 31"/>
          <p:cNvSpPr txBox="1"/>
          <p:nvPr/>
        </p:nvSpPr>
        <p:spPr>
          <a:xfrm>
            <a:off x="240735" y="1558082"/>
            <a:ext cx="3922476" cy="485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0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G = (V, E</a:t>
            </a:r>
            <a:r>
              <a:t>, </a:t>
            </a:r>
            <a14:m>
              <m:oMath>
                <m:r>
                  <a:rPr xmlns:a="http://schemas.openxmlformats.org/drawingml/2006/main" sz="3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𝜑</m:t>
                </m:r>
              </m:oMath>
            </a14:m>
            <a:r>
              <a:t>)</a:t>
            </a:r>
          </a:p>
        </p:txBody>
      </p:sp>
      <p:sp>
        <p:nvSpPr>
          <p:cNvPr id="66" name="Shape 32"/>
          <p:cNvSpPr txBox="1"/>
          <p:nvPr/>
        </p:nvSpPr>
        <p:spPr>
          <a:xfrm>
            <a:off x="484575" y="2239799"/>
            <a:ext cx="9244908" cy="1390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0" defTabSz="1295400">
              <a:lnSpc>
                <a:spcPct val="15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V：顶点(vertex、node)的集合</a:t>
            </a:r>
          </a:p>
          <a:p>
            <a:pPr marR="57797" indent="0" defTabSz="1295400">
              <a:lnSpc>
                <a:spcPct val="15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 例如，V={A, B, C, D}</a:t>
            </a:r>
          </a:p>
        </p:txBody>
      </p:sp>
      <p:sp>
        <p:nvSpPr>
          <p:cNvPr id="67" name="Shape 33"/>
          <p:cNvSpPr txBox="1"/>
          <p:nvPr/>
        </p:nvSpPr>
        <p:spPr>
          <a:xfrm>
            <a:off x="519956" y="3997019"/>
            <a:ext cx="9904205" cy="1205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0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E：边</a:t>
            </a:r>
            <a:r>
              <a:t>(edge</a:t>
            </a:r>
            <a:r>
              <a:t>、</a:t>
            </a:r>
            <a:r>
              <a:t>arc)</a:t>
            </a:r>
            <a:r>
              <a:t>的集合</a:t>
            </a:r>
          </a:p>
          <a:p>
            <a:pPr marR="57797" indent="0" defTabSz="1295400">
              <a:lnSpc>
                <a:spcPct val="15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例如，E = {e</a:t>
            </a:r>
            <a:r>
              <a:rPr baseline="-25000"/>
              <a:t>1</a:t>
            </a:r>
            <a:r>
              <a:t>, e</a:t>
            </a:r>
            <a:r>
              <a:rPr baseline="-25000"/>
              <a:t>2</a:t>
            </a:r>
            <a:r>
              <a:t>, e</a:t>
            </a:r>
            <a:r>
              <a:rPr baseline="-25000"/>
              <a:t>3</a:t>
            </a:r>
            <a:r>
              <a:t>, e</a:t>
            </a:r>
            <a:r>
              <a:rPr baseline="-25000"/>
              <a:t>4</a:t>
            </a:r>
            <a:r>
              <a:t>}</a:t>
            </a:r>
          </a:p>
        </p:txBody>
      </p:sp>
      <p:sp>
        <p:nvSpPr>
          <p:cNvPr id="68" name="Shape 33"/>
          <p:cNvSpPr txBox="1"/>
          <p:nvPr/>
        </p:nvSpPr>
        <p:spPr>
          <a:xfrm>
            <a:off x="702834" y="5276520"/>
            <a:ext cx="9904205" cy="1272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0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3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𝜑</m:t>
                </m:r>
                <m:r>
                  <a:rPr xmlns:a="http://schemas.openxmlformats.org/drawingml/2006/main" sz="3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rPr>
                <a:latin typeface="Microsoft YaHei"/>
                <a:ea typeface="Microsoft YaHei"/>
                <a:cs typeface="Microsoft YaHei"/>
                <a:sym typeface="Microsoft YaHei"/>
              </a:rPr>
              <a:t>：E </a:t>
            </a:r>
            <a14:m>
              <m:oMath>
                <m:r>
                  <a:rPr xmlns:a="http://schemas.openxmlformats.org/drawingml/2006/main" sz="34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</m:oMath>
            </a14:m>
            <a:r>
              <a:rPr sz="2500">
                <a:latin typeface="Arial"/>
                <a:ea typeface="Arial"/>
                <a:cs typeface="Arial"/>
                <a:sym typeface="Arial"/>
              </a:rPr>
              <a:t> {&lt;v</a:t>
            </a:r>
            <a:r>
              <a:rPr baseline="-25000" sz="25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sz="2500"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aseline="-25000" sz="25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sz="2500">
                <a:latin typeface="Arial"/>
                <a:ea typeface="Arial"/>
                <a:cs typeface="Arial"/>
                <a:sym typeface="Arial"/>
              </a:rPr>
              <a:t>&gt; | v</a:t>
            </a:r>
            <a:r>
              <a:rPr baseline="-25000" sz="25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sz="2500"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baseline="-25000" sz="25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sz="2500">
                <a:latin typeface="Arial"/>
                <a:ea typeface="Arial"/>
                <a:cs typeface="Arial"/>
                <a:sym typeface="Arial"/>
              </a:rPr>
              <a:t> </a:t>
            </a:r>
            <a14:m>
              <m:oMath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</m:oMath>
            </a14:m>
            <a:r>
              <a:rPr sz="2500">
                <a:latin typeface="Arial"/>
                <a:ea typeface="Arial"/>
                <a:cs typeface="Arial"/>
                <a:sym typeface="Arial"/>
              </a:rPr>
              <a:t> V }</a:t>
            </a:r>
            <a:endParaRPr sz="2500"/>
          </a:p>
          <a:p>
            <a:pPr marR="57797" indent="0" defTabSz="1295400">
              <a:lnSpc>
                <a:spcPct val="15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</a:t>
            </a:r>
            <a:r>
              <a:t>     例如：</a:t>
            </a:r>
            <a14:m>
              <m:oMath>
                <m:r>
                  <a:rPr xmlns:a="http://schemas.openxmlformats.org/drawingml/2006/main" sz="4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𝜑</m:t>
                </m:r>
                <m:r>
                  <a:rPr xmlns:a="http://schemas.openxmlformats.org/drawingml/2006/main" sz="4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</m:oMath>
            </a14:m>
            <a:r>
              <a:t>={(e</a:t>
            </a:r>
            <a:r>
              <a:rPr baseline="-25000"/>
              <a:t>1</a:t>
            </a:r>
            <a:r>
              <a:t>, &lt;A, B&gt;), (e</a:t>
            </a:r>
            <a:r>
              <a:rPr baseline="-25000"/>
              <a:t>2</a:t>
            </a:r>
            <a:r>
              <a:t>, &lt;B, C&gt;), (e</a:t>
            </a:r>
            <a:r>
              <a:rPr baseline="-25000"/>
              <a:t>3</a:t>
            </a:r>
            <a:r>
              <a:t>, &lt;C, D&gt;), (e</a:t>
            </a:r>
            <a:r>
              <a:rPr baseline="-25000"/>
              <a:t>4</a:t>
            </a:r>
            <a:r>
              <a:t>, &lt;D, B&gt;)}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30"/>
          <p:cNvSpPr txBox="1"/>
          <p:nvPr/>
        </p:nvSpPr>
        <p:spPr>
          <a:xfrm>
            <a:off x="1715064" y="80433"/>
            <a:ext cx="86995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图的数据结构课的定义</a:t>
            </a:r>
          </a:p>
        </p:txBody>
      </p:sp>
      <p:sp>
        <p:nvSpPr>
          <p:cNvPr id="71" name="Shape 31"/>
          <p:cNvSpPr txBox="1"/>
          <p:nvPr/>
        </p:nvSpPr>
        <p:spPr>
          <a:xfrm>
            <a:off x="240734" y="1558082"/>
            <a:ext cx="379730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7" indent="0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G = (V, E)</a:t>
            </a:r>
          </a:p>
        </p:txBody>
      </p:sp>
      <p:sp>
        <p:nvSpPr>
          <p:cNvPr id="72" name="Shape 32"/>
          <p:cNvSpPr txBox="1"/>
          <p:nvPr/>
        </p:nvSpPr>
        <p:spPr>
          <a:xfrm>
            <a:off x="484575" y="2239799"/>
            <a:ext cx="9244908" cy="1390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0" defTabSz="1295400">
              <a:lnSpc>
                <a:spcPct val="15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V：顶点的集合</a:t>
            </a:r>
          </a:p>
          <a:p>
            <a:pPr marR="57797" indent="0" defTabSz="1295400">
              <a:lnSpc>
                <a:spcPct val="15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 例如，V={A, B, C, D}</a:t>
            </a:r>
          </a:p>
        </p:txBody>
      </p:sp>
      <p:sp>
        <p:nvSpPr>
          <p:cNvPr id="73" name="Shape 33"/>
          <p:cNvSpPr txBox="1"/>
          <p:nvPr/>
        </p:nvSpPr>
        <p:spPr>
          <a:xfrm>
            <a:off x="519956" y="3997019"/>
            <a:ext cx="9904205" cy="118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7" indent="0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E：边的集合</a:t>
            </a:r>
          </a:p>
          <a:p>
            <a:pPr marR="57797" indent="0" defTabSz="1295400">
              <a:lnSpc>
                <a:spcPct val="15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     例如，E={&lt;A, B&gt;, &lt;B, C&gt;, &lt;C, D&gt;, &lt;D, B&gt;}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30"/>
          <p:cNvSpPr txBox="1"/>
          <p:nvPr/>
        </p:nvSpPr>
        <p:spPr>
          <a:xfrm>
            <a:off x="1715064" y="80433"/>
            <a:ext cx="86995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图的规模</a:t>
            </a:r>
          </a:p>
        </p:txBody>
      </p:sp>
      <p:sp>
        <p:nvSpPr>
          <p:cNvPr id="76" name="图的规模：两个参数描述：V、E…"/>
          <p:cNvSpPr txBox="1"/>
          <p:nvPr/>
        </p:nvSpPr>
        <p:spPr>
          <a:xfrm>
            <a:off x="469823" y="2210132"/>
            <a:ext cx="6510686" cy="226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7" indent="0" defTabSz="1295400">
              <a:lnSpc>
                <a:spcPct val="15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两个参数：V、E</a:t>
            </a:r>
          </a:p>
          <a:p>
            <a:pPr lvl="2" marL="1104900" marR="57797" indent="-342900" defTabSz="1295400">
              <a:lnSpc>
                <a:spcPct val="150000"/>
              </a:lnSpc>
              <a:spcBef>
                <a:spcPts val="1900"/>
              </a:spcBef>
              <a:buSzPct val="100000"/>
              <a:buChar char="●"/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有向图：|E| ≤ |V| * (|V| - 1) = O(|V|</a:t>
            </a:r>
            <a:r>
              <a:rPr baseline="31999"/>
              <a:t>2</a:t>
            </a:r>
            <a:r>
              <a:t>)</a:t>
            </a:r>
            <a:endParaRPr sz="2500"/>
          </a:p>
          <a:p>
            <a:pPr lvl="2" marL="1104900" marR="57797" indent="-342900" defTabSz="1295400">
              <a:lnSpc>
                <a:spcPct val="150000"/>
              </a:lnSpc>
              <a:spcBef>
                <a:spcPts val="1900"/>
              </a:spcBef>
              <a:buSzPct val="100000"/>
              <a:buChar char="●"/>
              <a:defRPr sz="2400">
                <a:uFill>
                  <a:solidFill>
                    <a:srgbClr val="000000"/>
                  </a:solidFill>
                </a:u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无向图：|E| ≤ (|V| * (|V| - 1))/2 = O(|V|</a:t>
            </a:r>
            <a:r>
              <a:rPr baseline="31999"/>
              <a:t>2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35"/>
          <p:cNvSpPr txBox="1"/>
          <p:nvPr/>
        </p:nvSpPr>
        <p:spPr>
          <a:xfrm>
            <a:off x="1702364" y="105833"/>
            <a:ext cx="86995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有向图、无向图</a:t>
            </a:r>
          </a:p>
        </p:txBody>
      </p:sp>
      <p:grpSp>
        <p:nvGrpSpPr>
          <p:cNvPr id="101" name="Group 58"/>
          <p:cNvGrpSpPr/>
          <p:nvPr/>
        </p:nvGrpSpPr>
        <p:grpSpPr>
          <a:xfrm>
            <a:off x="1472121" y="2161242"/>
            <a:ext cx="4096459" cy="2833343"/>
            <a:chOff x="0" y="0"/>
            <a:chExt cx="4096458" cy="2833341"/>
          </a:xfrm>
        </p:grpSpPr>
        <p:grpSp>
          <p:nvGrpSpPr>
            <p:cNvPr id="81" name="Group 38"/>
            <p:cNvGrpSpPr/>
            <p:nvPr/>
          </p:nvGrpSpPr>
          <p:grpSpPr>
            <a:xfrm>
              <a:off x="3400268" y="1027709"/>
              <a:ext cx="696191" cy="700163"/>
              <a:chOff x="0" y="0"/>
              <a:chExt cx="696190" cy="700161"/>
            </a:xfrm>
          </p:grpSpPr>
          <p:sp>
            <p:nvSpPr>
              <p:cNvPr id="79" name="Shape 36"/>
              <p:cNvSpPr/>
              <p:nvPr/>
            </p:nvSpPr>
            <p:spPr>
              <a:xfrm>
                <a:off x="-1" y="32088"/>
                <a:ext cx="696191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" name="Shape 37"/>
              <p:cNvSpPr txBox="1"/>
              <p:nvPr/>
            </p:nvSpPr>
            <p:spPr>
              <a:xfrm>
                <a:off x="88876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84" name="Group 41"/>
            <p:cNvGrpSpPr/>
            <p:nvPr/>
          </p:nvGrpSpPr>
          <p:grpSpPr>
            <a:xfrm>
              <a:off x="1547440" y="0"/>
              <a:ext cx="693987" cy="700162"/>
              <a:chOff x="0" y="0"/>
              <a:chExt cx="693985" cy="700161"/>
            </a:xfrm>
          </p:grpSpPr>
          <p:sp>
            <p:nvSpPr>
              <p:cNvPr id="82" name="Shape 39"/>
              <p:cNvSpPr/>
              <p:nvPr/>
            </p:nvSpPr>
            <p:spPr>
              <a:xfrm>
                <a:off x="0" y="32088"/>
                <a:ext cx="693986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" name="Shape 40"/>
              <p:cNvSpPr txBox="1"/>
              <p:nvPr/>
            </p:nvSpPr>
            <p:spPr>
              <a:xfrm>
                <a:off x="72359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87" name="Group 44"/>
            <p:cNvGrpSpPr/>
            <p:nvPr/>
          </p:nvGrpSpPr>
          <p:grpSpPr>
            <a:xfrm>
              <a:off x="851254" y="2133179"/>
              <a:ext cx="696191" cy="700163"/>
              <a:chOff x="0" y="0"/>
              <a:chExt cx="696190" cy="700161"/>
            </a:xfrm>
          </p:grpSpPr>
          <p:sp>
            <p:nvSpPr>
              <p:cNvPr id="85" name="Shape 42"/>
              <p:cNvSpPr/>
              <p:nvPr/>
            </p:nvSpPr>
            <p:spPr>
              <a:xfrm>
                <a:off x="-1" y="32088"/>
                <a:ext cx="696191" cy="632603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" name="Shape 43"/>
              <p:cNvSpPr txBox="1"/>
              <p:nvPr/>
            </p:nvSpPr>
            <p:spPr>
              <a:xfrm>
                <a:off x="73460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90" name="Group 47"/>
            <p:cNvGrpSpPr/>
            <p:nvPr/>
          </p:nvGrpSpPr>
          <p:grpSpPr>
            <a:xfrm>
              <a:off x="-1" y="1027709"/>
              <a:ext cx="696191" cy="700163"/>
              <a:chOff x="0" y="0"/>
              <a:chExt cx="696190" cy="700161"/>
            </a:xfrm>
          </p:grpSpPr>
          <p:sp>
            <p:nvSpPr>
              <p:cNvPr id="88" name="Shape 45"/>
              <p:cNvSpPr/>
              <p:nvPr/>
            </p:nvSpPr>
            <p:spPr>
              <a:xfrm>
                <a:off x="-1" y="32088"/>
                <a:ext cx="696191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" name="Shape 46"/>
              <p:cNvSpPr txBox="1"/>
              <p:nvPr/>
            </p:nvSpPr>
            <p:spPr>
              <a:xfrm>
                <a:off x="89724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93" name="Group 50"/>
            <p:cNvGrpSpPr/>
            <p:nvPr/>
          </p:nvGrpSpPr>
          <p:grpSpPr>
            <a:xfrm>
              <a:off x="2395643" y="2133179"/>
              <a:ext cx="696191" cy="700163"/>
              <a:chOff x="0" y="0"/>
              <a:chExt cx="696190" cy="700161"/>
            </a:xfrm>
          </p:grpSpPr>
          <p:sp>
            <p:nvSpPr>
              <p:cNvPr id="91" name="Shape 48"/>
              <p:cNvSpPr/>
              <p:nvPr/>
            </p:nvSpPr>
            <p:spPr>
              <a:xfrm>
                <a:off x="-1" y="32088"/>
                <a:ext cx="696191" cy="632603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" name="Shape 49"/>
              <p:cNvSpPr txBox="1"/>
              <p:nvPr/>
            </p:nvSpPr>
            <p:spPr>
              <a:xfrm>
                <a:off x="73460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94" name="Shape 51"/>
            <p:cNvSpPr/>
            <p:nvPr/>
          </p:nvSpPr>
          <p:spPr>
            <a:xfrm flipH="1">
              <a:off x="498754" y="427199"/>
              <a:ext cx="1048689" cy="65361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" name="Shape 52"/>
            <p:cNvSpPr/>
            <p:nvPr/>
          </p:nvSpPr>
          <p:spPr>
            <a:xfrm>
              <a:off x="582472" y="1650362"/>
              <a:ext cx="385550" cy="632600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" name="Shape 53"/>
            <p:cNvSpPr/>
            <p:nvPr/>
          </p:nvSpPr>
          <p:spPr>
            <a:xfrm>
              <a:off x="1547441" y="2482617"/>
              <a:ext cx="848205" cy="2260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" name="Shape 54"/>
            <p:cNvSpPr/>
            <p:nvPr/>
          </p:nvSpPr>
          <p:spPr>
            <a:xfrm flipH="1" flipV="1">
              <a:off x="2087206" y="584823"/>
              <a:ext cx="619080" cy="158044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" name="Shape 55"/>
            <p:cNvSpPr/>
            <p:nvPr/>
          </p:nvSpPr>
          <p:spPr>
            <a:xfrm>
              <a:off x="2241424" y="347337"/>
              <a:ext cx="1313064" cy="790224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" name="Shape 56"/>
            <p:cNvSpPr/>
            <p:nvPr/>
          </p:nvSpPr>
          <p:spPr>
            <a:xfrm flipH="1" flipV="1">
              <a:off x="699237" y="1463315"/>
              <a:ext cx="1773518" cy="781817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" name="Shape 57"/>
            <p:cNvSpPr/>
            <p:nvPr/>
          </p:nvSpPr>
          <p:spPr>
            <a:xfrm flipH="1">
              <a:off x="1391018" y="1454908"/>
              <a:ext cx="2009253" cy="790224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27" name="Group 84"/>
          <p:cNvGrpSpPr/>
          <p:nvPr/>
        </p:nvGrpSpPr>
        <p:grpSpPr>
          <a:xfrm>
            <a:off x="6723330" y="1524203"/>
            <a:ext cx="4544910" cy="3699225"/>
            <a:chOff x="0" y="0"/>
            <a:chExt cx="4544909" cy="3699223"/>
          </a:xfrm>
        </p:grpSpPr>
        <p:grpSp>
          <p:nvGrpSpPr>
            <p:cNvPr id="104" name="Group 61"/>
            <p:cNvGrpSpPr/>
            <p:nvPr/>
          </p:nvGrpSpPr>
          <p:grpSpPr>
            <a:xfrm>
              <a:off x="1215845" y="62421"/>
              <a:ext cx="635199" cy="700162"/>
              <a:chOff x="0" y="0"/>
              <a:chExt cx="635198" cy="700161"/>
            </a:xfrm>
          </p:grpSpPr>
          <p:sp>
            <p:nvSpPr>
              <p:cNvPr id="102" name="Shape 59"/>
              <p:cNvSpPr/>
              <p:nvPr/>
            </p:nvSpPr>
            <p:spPr>
              <a:xfrm>
                <a:off x="-1" y="16419"/>
                <a:ext cx="635199" cy="663941"/>
              </a:xfrm>
              <a:prstGeom prst="ellipse">
                <a:avLst/>
              </a:prstGeom>
              <a:noFill/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3" name="Shape 60"/>
              <p:cNvSpPr txBox="1"/>
              <p:nvPr/>
            </p:nvSpPr>
            <p:spPr>
              <a:xfrm>
                <a:off x="58382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07" name="Group 64"/>
            <p:cNvGrpSpPr/>
            <p:nvPr/>
          </p:nvGrpSpPr>
          <p:grpSpPr>
            <a:xfrm>
              <a:off x="2949736" y="0"/>
              <a:ext cx="549264" cy="700162"/>
              <a:chOff x="0" y="0"/>
              <a:chExt cx="549263" cy="700161"/>
            </a:xfrm>
          </p:grpSpPr>
          <p:sp>
            <p:nvSpPr>
              <p:cNvPr id="105" name="Shape 62"/>
              <p:cNvSpPr/>
              <p:nvPr/>
            </p:nvSpPr>
            <p:spPr>
              <a:xfrm>
                <a:off x="22137" y="61817"/>
                <a:ext cx="504993" cy="573145"/>
              </a:xfrm>
              <a:prstGeom prst="ellipse">
                <a:avLst/>
              </a:prstGeom>
              <a:noFill/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6" name="Shape 63"/>
              <p:cNvSpPr txBox="1"/>
              <p:nvPr/>
            </p:nvSpPr>
            <p:spPr>
              <a:xfrm>
                <a:off x="0" y="-1"/>
                <a:ext cx="549264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10" name="Group 67"/>
            <p:cNvGrpSpPr/>
            <p:nvPr/>
          </p:nvGrpSpPr>
          <p:grpSpPr>
            <a:xfrm>
              <a:off x="0" y="1512298"/>
              <a:ext cx="607047" cy="700163"/>
              <a:chOff x="0" y="0"/>
              <a:chExt cx="607045" cy="700161"/>
            </a:xfrm>
          </p:grpSpPr>
          <p:sp>
            <p:nvSpPr>
              <p:cNvPr id="108" name="Shape 65"/>
              <p:cNvSpPr/>
              <p:nvPr/>
            </p:nvSpPr>
            <p:spPr>
              <a:xfrm>
                <a:off x="-1" y="30606"/>
                <a:ext cx="607047" cy="635565"/>
              </a:xfrm>
              <a:prstGeom prst="ellipse">
                <a:avLst/>
              </a:prstGeom>
              <a:noFill/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9" name="Shape 66"/>
              <p:cNvSpPr txBox="1"/>
              <p:nvPr/>
            </p:nvSpPr>
            <p:spPr>
              <a:xfrm>
                <a:off x="28889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13" name="Group 70"/>
            <p:cNvGrpSpPr/>
            <p:nvPr/>
          </p:nvGrpSpPr>
          <p:grpSpPr>
            <a:xfrm>
              <a:off x="1117311" y="2999061"/>
              <a:ext cx="666871" cy="700163"/>
              <a:chOff x="0" y="0"/>
              <a:chExt cx="666870" cy="700161"/>
            </a:xfrm>
          </p:grpSpPr>
          <p:sp>
            <p:nvSpPr>
              <p:cNvPr id="111" name="Shape 68"/>
              <p:cNvSpPr/>
              <p:nvPr/>
            </p:nvSpPr>
            <p:spPr>
              <a:xfrm>
                <a:off x="-1" y="30606"/>
                <a:ext cx="666871" cy="635565"/>
              </a:xfrm>
              <a:prstGeom prst="ellipse">
                <a:avLst/>
              </a:prstGeom>
              <a:noFill/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2" name="Shape 69"/>
              <p:cNvSpPr txBox="1"/>
              <p:nvPr/>
            </p:nvSpPr>
            <p:spPr>
              <a:xfrm>
                <a:off x="89907" y="0"/>
                <a:ext cx="48705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16" name="Group 73"/>
            <p:cNvGrpSpPr/>
            <p:nvPr/>
          </p:nvGrpSpPr>
          <p:grpSpPr>
            <a:xfrm>
              <a:off x="3021141" y="2965013"/>
              <a:ext cx="617603" cy="700163"/>
              <a:chOff x="0" y="0"/>
              <a:chExt cx="617602" cy="700161"/>
            </a:xfrm>
          </p:grpSpPr>
          <p:sp>
            <p:nvSpPr>
              <p:cNvPr id="114" name="Shape 71"/>
              <p:cNvSpPr/>
              <p:nvPr/>
            </p:nvSpPr>
            <p:spPr>
              <a:xfrm>
                <a:off x="-1" y="30606"/>
                <a:ext cx="617604" cy="635567"/>
              </a:xfrm>
              <a:prstGeom prst="ellipse">
                <a:avLst/>
              </a:prstGeom>
              <a:noFill/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5" name="Shape 72"/>
              <p:cNvSpPr txBox="1"/>
              <p:nvPr/>
            </p:nvSpPr>
            <p:spPr>
              <a:xfrm>
                <a:off x="49584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117" name="Shape 74"/>
            <p:cNvSpPr/>
            <p:nvPr/>
          </p:nvSpPr>
          <p:spPr>
            <a:xfrm flipH="1">
              <a:off x="353668" y="453368"/>
              <a:ext cx="844584" cy="1089538"/>
            </a:xfrm>
            <a:prstGeom prst="line">
              <a:avLst/>
            </a:prstGeom>
            <a:noFill/>
            <a:ln w="28575" cap="sq">
              <a:solidFill>
                <a:srgbClr val="00006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" name="Shape 75"/>
            <p:cNvSpPr/>
            <p:nvPr/>
          </p:nvSpPr>
          <p:spPr>
            <a:xfrm>
              <a:off x="1833446" y="328526"/>
              <a:ext cx="1518490" cy="2633047"/>
            </a:xfrm>
            <a:prstGeom prst="line">
              <a:avLst/>
            </a:prstGeom>
            <a:noFill/>
            <a:ln w="28575" cap="sq">
              <a:solidFill>
                <a:srgbClr val="00006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" name="Shape 76"/>
            <p:cNvSpPr/>
            <p:nvPr/>
          </p:nvSpPr>
          <p:spPr>
            <a:xfrm>
              <a:off x="608802" y="1906084"/>
              <a:ext cx="2616448" cy="1089537"/>
            </a:xfrm>
            <a:prstGeom prst="line">
              <a:avLst/>
            </a:prstGeom>
            <a:noFill/>
            <a:ln w="28575" cap="sq">
              <a:solidFill>
                <a:srgbClr val="00006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" name="Shape 77"/>
            <p:cNvSpPr/>
            <p:nvPr/>
          </p:nvSpPr>
          <p:spPr>
            <a:xfrm flipH="1">
              <a:off x="1608225" y="453368"/>
              <a:ext cx="1363650" cy="2633047"/>
            </a:xfrm>
            <a:prstGeom prst="line">
              <a:avLst/>
            </a:prstGeom>
            <a:noFill/>
            <a:ln w="28575" cap="sq">
              <a:solidFill>
                <a:srgbClr val="00006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" name="Shape 78"/>
            <p:cNvSpPr/>
            <p:nvPr/>
          </p:nvSpPr>
          <p:spPr>
            <a:xfrm>
              <a:off x="3478623" y="362574"/>
              <a:ext cx="675668" cy="1180332"/>
            </a:xfrm>
            <a:prstGeom prst="line">
              <a:avLst/>
            </a:prstGeom>
            <a:noFill/>
            <a:ln w="28575" cap="sq">
              <a:solidFill>
                <a:srgbClr val="00006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" name="Shape 79"/>
            <p:cNvSpPr/>
            <p:nvPr/>
          </p:nvSpPr>
          <p:spPr>
            <a:xfrm flipH="1">
              <a:off x="1692682" y="1906083"/>
              <a:ext cx="2208233" cy="1180332"/>
            </a:xfrm>
            <a:prstGeom prst="line">
              <a:avLst/>
            </a:prstGeom>
            <a:noFill/>
            <a:ln w="28575" cap="sq">
              <a:solidFill>
                <a:srgbClr val="00006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" name="Shape 80"/>
            <p:cNvSpPr/>
            <p:nvPr/>
          </p:nvSpPr>
          <p:spPr>
            <a:xfrm>
              <a:off x="1437548" y="769258"/>
              <a:ext cx="14079" cy="2226363"/>
            </a:xfrm>
            <a:prstGeom prst="line">
              <a:avLst/>
            </a:prstGeom>
            <a:noFill/>
            <a:ln w="28575" cap="sq">
              <a:solidFill>
                <a:srgbClr val="00006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26" name="Group 83"/>
            <p:cNvGrpSpPr/>
            <p:nvPr/>
          </p:nvGrpSpPr>
          <p:grpSpPr>
            <a:xfrm>
              <a:off x="3927307" y="1493383"/>
              <a:ext cx="617603" cy="700163"/>
              <a:chOff x="0" y="0"/>
              <a:chExt cx="617602" cy="700161"/>
            </a:xfrm>
          </p:grpSpPr>
          <p:sp>
            <p:nvSpPr>
              <p:cNvPr id="124" name="Shape 81"/>
              <p:cNvSpPr/>
              <p:nvPr/>
            </p:nvSpPr>
            <p:spPr>
              <a:xfrm>
                <a:off x="-1" y="30606"/>
                <a:ext cx="617604" cy="635565"/>
              </a:xfrm>
              <a:prstGeom prst="ellipse">
                <a:avLst/>
              </a:prstGeom>
              <a:noFill/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5" name="Shape 82"/>
              <p:cNvSpPr txBox="1"/>
              <p:nvPr/>
            </p:nvSpPr>
            <p:spPr>
              <a:xfrm>
                <a:off x="34168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  <p:sp>
        <p:nvSpPr>
          <p:cNvPr id="128" name="Shape 35"/>
          <p:cNvSpPr txBox="1"/>
          <p:nvPr/>
        </p:nvSpPr>
        <p:spPr>
          <a:xfrm>
            <a:off x="2122127" y="5779325"/>
            <a:ext cx="2796447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directed graph</a:t>
            </a:r>
          </a:p>
        </p:txBody>
      </p:sp>
      <p:sp>
        <p:nvSpPr>
          <p:cNvPr id="129" name="Shape 35"/>
          <p:cNvSpPr txBox="1"/>
          <p:nvPr/>
        </p:nvSpPr>
        <p:spPr>
          <a:xfrm>
            <a:off x="7849608" y="5689296"/>
            <a:ext cx="3687565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undirected graph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11"/>
          <p:cNvGrpSpPr/>
          <p:nvPr/>
        </p:nvGrpSpPr>
        <p:grpSpPr>
          <a:xfrm>
            <a:off x="6559126" y="2064173"/>
            <a:ext cx="4915187" cy="3585355"/>
            <a:chOff x="0" y="0"/>
            <a:chExt cx="4915186" cy="3585354"/>
          </a:xfrm>
        </p:grpSpPr>
        <p:grpSp>
          <p:nvGrpSpPr>
            <p:cNvPr id="133" name="Group 88"/>
            <p:cNvGrpSpPr/>
            <p:nvPr/>
          </p:nvGrpSpPr>
          <p:grpSpPr>
            <a:xfrm>
              <a:off x="0" y="1523774"/>
              <a:ext cx="588513" cy="627441"/>
              <a:chOff x="0" y="0"/>
              <a:chExt cx="588511" cy="627439"/>
            </a:xfrm>
          </p:grpSpPr>
          <p:sp>
            <p:nvSpPr>
              <p:cNvPr id="131" name="Shape 86"/>
              <p:cNvSpPr/>
              <p:nvPr/>
            </p:nvSpPr>
            <p:spPr>
              <a:xfrm>
                <a:off x="0" y="0"/>
                <a:ext cx="588512" cy="627440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2" name="Shape 87"/>
              <p:cNvSpPr txBox="1"/>
              <p:nvPr/>
            </p:nvSpPr>
            <p:spPr>
              <a:xfrm>
                <a:off x="47137" y="8867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134" name="Shape 89"/>
            <p:cNvSpPr/>
            <p:nvPr/>
          </p:nvSpPr>
          <p:spPr>
            <a:xfrm flipH="1">
              <a:off x="293229" y="448168"/>
              <a:ext cx="984268" cy="107560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" name="Shape 90"/>
            <p:cNvSpPr/>
            <p:nvPr/>
          </p:nvSpPr>
          <p:spPr>
            <a:xfrm>
              <a:off x="1870106" y="358534"/>
              <a:ext cx="1769631" cy="259938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" name="Shape 91"/>
            <p:cNvSpPr/>
            <p:nvPr/>
          </p:nvSpPr>
          <p:spPr>
            <a:xfrm>
              <a:off x="590560" y="1882308"/>
              <a:ext cx="3049179" cy="107560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" name="Shape 92"/>
            <p:cNvSpPr/>
            <p:nvPr/>
          </p:nvSpPr>
          <p:spPr>
            <a:xfrm flipH="1">
              <a:off x="1755276" y="448168"/>
              <a:ext cx="1589182" cy="259938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" name="Shape 93"/>
            <p:cNvSpPr/>
            <p:nvPr/>
          </p:nvSpPr>
          <p:spPr>
            <a:xfrm>
              <a:off x="3935018" y="358535"/>
              <a:ext cx="787415" cy="116524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" name="Shape 94"/>
            <p:cNvSpPr/>
            <p:nvPr/>
          </p:nvSpPr>
          <p:spPr>
            <a:xfrm flipH="1">
              <a:off x="1853703" y="1882309"/>
              <a:ext cx="2573450" cy="116524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" name="Shape 95"/>
            <p:cNvSpPr/>
            <p:nvPr/>
          </p:nvSpPr>
          <p:spPr>
            <a:xfrm flipH="1">
              <a:off x="1572776" y="689059"/>
              <a:ext cx="2053" cy="226885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43" name="Group 98"/>
            <p:cNvGrpSpPr/>
            <p:nvPr/>
          </p:nvGrpSpPr>
          <p:grpSpPr>
            <a:xfrm>
              <a:off x="3342407" y="0"/>
              <a:ext cx="588513" cy="627439"/>
              <a:chOff x="0" y="0"/>
              <a:chExt cx="588511" cy="627438"/>
            </a:xfrm>
          </p:grpSpPr>
          <p:sp>
            <p:nvSpPr>
              <p:cNvPr id="141" name="Shape 96"/>
              <p:cNvSpPr/>
              <p:nvPr/>
            </p:nvSpPr>
            <p:spPr>
              <a:xfrm>
                <a:off x="0" y="0"/>
                <a:ext cx="588512" cy="627439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2" name="Shape 97"/>
              <p:cNvSpPr txBox="1"/>
              <p:nvPr/>
            </p:nvSpPr>
            <p:spPr>
              <a:xfrm>
                <a:off x="47136" y="8867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46" name="Group 101"/>
            <p:cNvGrpSpPr/>
            <p:nvPr/>
          </p:nvGrpSpPr>
          <p:grpSpPr>
            <a:xfrm>
              <a:off x="4326674" y="1434140"/>
              <a:ext cx="588513" cy="627439"/>
              <a:chOff x="0" y="0"/>
              <a:chExt cx="588511" cy="627438"/>
            </a:xfrm>
          </p:grpSpPr>
          <p:sp>
            <p:nvSpPr>
              <p:cNvPr id="144" name="Shape 99"/>
              <p:cNvSpPr/>
              <p:nvPr/>
            </p:nvSpPr>
            <p:spPr>
              <a:xfrm>
                <a:off x="0" y="0"/>
                <a:ext cx="588512" cy="627439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" name="Shape 100"/>
              <p:cNvSpPr txBox="1"/>
              <p:nvPr/>
            </p:nvSpPr>
            <p:spPr>
              <a:xfrm>
                <a:off x="47137" y="8867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49" name="Group 104"/>
            <p:cNvGrpSpPr/>
            <p:nvPr/>
          </p:nvGrpSpPr>
          <p:grpSpPr>
            <a:xfrm>
              <a:off x="1275446" y="2957914"/>
              <a:ext cx="588513" cy="627441"/>
              <a:chOff x="0" y="0"/>
              <a:chExt cx="588511" cy="627439"/>
            </a:xfrm>
          </p:grpSpPr>
          <p:sp>
            <p:nvSpPr>
              <p:cNvPr id="147" name="Shape 102"/>
              <p:cNvSpPr/>
              <p:nvPr/>
            </p:nvSpPr>
            <p:spPr>
              <a:xfrm>
                <a:off x="0" y="0"/>
                <a:ext cx="588512" cy="627440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8" name="Shape 103"/>
              <p:cNvSpPr txBox="1"/>
              <p:nvPr/>
            </p:nvSpPr>
            <p:spPr>
              <a:xfrm>
                <a:off x="74000" y="8867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52" name="Group 107"/>
            <p:cNvGrpSpPr/>
            <p:nvPr/>
          </p:nvGrpSpPr>
          <p:grpSpPr>
            <a:xfrm>
              <a:off x="3440834" y="2868281"/>
              <a:ext cx="588513" cy="627439"/>
              <a:chOff x="0" y="0"/>
              <a:chExt cx="588511" cy="627438"/>
            </a:xfrm>
          </p:grpSpPr>
          <p:sp>
            <p:nvSpPr>
              <p:cNvPr id="150" name="Shape 105"/>
              <p:cNvSpPr/>
              <p:nvPr/>
            </p:nvSpPr>
            <p:spPr>
              <a:xfrm>
                <a:off x="0" y="0"/>
                <a:ext cx="588512" cy="627439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1" name="Shape 106"/>
              <p:cNvSpPr txBox="1"/>
              <p:nvPr/>
            </p:nvSpPr>
            <p:spPr>
              <a:xfrm>
                <a:off x="59525" y="8867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55" name="Group 110"/>
            <p:cNvGrpSpPr/>
            <p:nvPr/>
          </p:nvGrpSpPr>
          <p:grpSpPr>
            <a:xfrm>
              <a:off x="1275446" y="0"/>
              <a:ext cx="588513" cy="627439"/>
              <a:chOff x="0" y="0"/>
              <a:chExt cx="588511" cy="627438"/>
            </a:xfrm>
          </p:grpSpPr>
          <p:sp>
            <p:nvSpPr>
              <p:cNvPr id="153" name="Shape 108"/>
              <p:cNvSpPr/>
              <p:nvPr/>
            </p:nvSpPr>
            <p:spPr>
              <a:xfrm>
                <a:off x="0" y="0"/>
                <a:ext cx="588512" cy="627439"/>
              </a:xfrm>
              <a:prstGeom prst="ellipse">
                <a:avLst/>
              </a:prstGeom>
              <a:solidFill>
                <a:srgbClr val="CCFFCC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4" name="Shape 109"/>
              <p:cNvSpPr txBox="1"/>
              <p:nvPr/>
            </p:nvSpPr>
            <p:spPr>
              <a:xfrm>
                <a:off x="60451" y="8867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</p:grpSp>
      <p:sp>
        <p:nvSpPr>
          <p:cNvPr id="157" name="Shape 112"/>
          <p:cNvSpPr txBox="1"/>
          <p:nvPr/>
        </p:nvSpPr>
        <p:spPr>
          <a:xfrm>
            <a:off x="1533639" y="144497"/>
            <a:ext cx="960062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邻接点(adjacent vertex)、度(degree)</a:t>
            </a:r>
          </a:p>
        </p:txBody>
      </p:sp>
      <p:grpSp>
        <p:nvGrpSpPr>
          <p:cNvPr id="180" name="Group 135"/>
          <p:cNvGrpSpPr/>
          <p:nvPr/>
        </p:nvGrpSpPr>
        <p:grpSpPr>
          <a:xfrm>
            <a:off x="1346199" y="2176299"/>
            <a:ext cx="4096460" cy="2833343"/>
            <a:chOff x="0" y="0"/>
            <a:chExt cx="4096458" cy="2833341"/>
          </a:xfrm>
        </p:grpSpPr>
        <p:grpSp>
          <p:nvGrpSpPr>
            <p:cNvPr id="160" name="Group 115"/>
            <p:cNvGrpSpPr/>
            <p:nvPr/>
          </p:nvGrpSpPr>
          <p:grpSpPr>
            <a:xfrm>
              <a:off x="3400268" y="1027709"/>
              <a:ext cx="696191" cy="700163"/>
              <a:chOff x="0" y="0"/>
              <a:chExt cx="696190" cy="700161"/>
            </a:xfrm>
          </p:grpSpPr>
          <p:sp>
            <p:nvSpPr>
              <p:cNvPr id="158" name="Shape 113"/>
              <p:cNvSpPr/>
              <p:nvPr/>
            </p:nvSpPr>
            <p:spPr>
              <a:xfrm>
                <a:off x="-1" y="32088"/>
                <a:ext cx="696191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9" name="Shape 114"/>
              <p:cNvSpPr txBox="1"/>
              <p:nvPr/>
            </p:nvSpPr>
            <p:spPr>
              <a:xfrm>
                <a:off x="88876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63" name="Group 118"/>
            <p:cNvGrpSpPr/>
            <p:nvPr/>
          </p:nvGrpSpPr>
          <p:grpSpPr>
            <a:xfrm>
              <a:off x="1547440" y="0"/>
              <a:ext cx="693987" cy="700162"/>
              <a:chOff x="0" y="0"/>
              <a:chExt cx="693985" cy="700161"/>
            </a:xfrm>
          </p:grpSpPr>
          <p:sp>
            <p:nvSpPr>
              <p:cNvPr id="161" name="Shape 116"/>
              <p:cNvSpPr/>
              <p:nvPr/>
            </p:nvSpPr>
            <p:spPr>
              <a:xfrm>
                <a:off x="0" y="32088"/>
                <a:ext cx="693986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" name="Shape 117"/>
              <p:cNvSpPr txBox="1"/>
              <p:nvPr/>
            </p:nvSpPr>
            <p:spPr>
              <a:xfrm>
                <a:off x="72359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66" name="Group 121"/>
            <p:cNvGrpSpPr/>
            <p:nvPr/>
          </p:nvGrpSpPr>
          <p:grpSpPr>
            <a:xfrm>
              <a:off x="851254" y="2133179"/>
              <a:ext cx="696191" cy="700163"/>
              <a:chOff x="0" y="0"/>
              <a:chExt cx="696190" cy="700161"/>
            </a:xfrm>
          </p:grpSpPr>
          <p:sp>
            <p:nvSpPr>
              <p:cNvPr id="164" name="Shape 119"/>
              <p:cNvSpPr/>
              <p:nvPr/>
            </p:nvSpPr>
            <p:spPr>
              <a:xfrm>
                <a:off x="-1" y="32088"/>
                <a:ext cx="696191" cy="632603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5" name="Shape 120"/>
              <p:cNvSpPr txBox="1"/>
              <p:nvPr/>
            </p:nvSpPr>
            <p:spPr>
              <a:xfrm>
                <a:off x="73460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69" name="Group 124"/>
            <p:cNvGrpSpPr/>
            <p:nvPr/>
          </p:nvGrpSpPr>
          <p:grpSpPr>
            <a:xfrm>
              <a:off x="-1" y="1027709"/>
              <a:ext cx="696191" cy="700163"/>
              <a:chOff x="0" y="0"/>
              <a:chExt cx="696190" cy="700161"/>
            </a:xfrm>
          </p:grpSpPr>
          <p:sp>
            <p:nvSpPr>
              <p:cNvPr id="167" name="Shape 122"/>
              <p:cNvSpPr/>
              <p:nvPr/>
            </p:nvSpPr>
            <p:spPr>
              <a:xfrm>
                <a:off x="-1" y="32088"/>
                <a:ext cx="696191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" name="Shape 123"/>
              <p:cNvSpPr txBox="1"/>
              <p:nvPr/>
            </p:nvSpPr>
            <p:spPr>
              <a:xfrm>
                <a:off x="89724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72" name="Group 127"/>
            <p:cNvGrpSpPr/>
            <p:nvPr/>
          </p:nvGrpSpPr>
          <p:grpSpPr>
            <a:xfrm>
              <a:off x="2395643" y="2133179"/>
              <a:ext cx="696191" cy="700163"/>
              <a:chOff x="0" y="0"/>
              <a:chExt cx="696190" cy="700161"/>
            </a:xfrm>
          </p:grpSpPr>
          <p:sp>
            <p:nvSpPr>
              <p:cNvPr id="170" name="Shape 125"/>
              <p:cNvSpPr/>
              <p:nvPr/>
            </p:nvSpPr>
            <p:spPr>
              <a:xfrm>
                <a:off x="-1" y="32088"/>
                <a:ext cx="696191" cy="632603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1" name="Shape 126"/>
              <p:cNvSpPr txBox="1"/>
              <p:nvPr/>
            </p:nvSpPr>
            <p:spPr>
              <a:xfrm>
                <a:off x="73460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173" name="Shape 128"/>
            <p:cNvSpPr/>
            <p:nvPr/>
          </p:nvSpPr>
          <p:spPr>
            <a:xfrm flipH="1">
              <a:off x="498754" y="427199"/>
              <a:ext cx="1048689" cy="65361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" name="Shape 129"/>
            <p:cNvSpPr/>
            <p:nvPr/>
          </p:nvSpPr>
          <p:spPr>
            <a:xfrm>
              <a:off x="582472" y="1650362"/>
              <a:ext cx="385550" cy="632600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5" name="Shape 130"/>
            <p:cNvSpPr/>
            <p:nvPr/>
          </p:nvSpPr>
          <p:spPr>
            <a:xfrm>
              <a:off x="1547441" y="2482617"/>
              <a:ext cx="848205" cy="2260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" name="Shape 131"/>
            <p:cNvSpPr/>
            <p:nvPr/>
          </p:nvSpPr>
          <p:spPr>
            <a:xfrm flipH="1" flipV="1">
              <a:off x="2087206" y="584823"/>
              <a:ext cx="619080" cy="158044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7" name="Shape 132"/>
            <p:cNvSpPr/>
            <p:nvPr/>
          </p:nvSpPr>
          <p:spPr>
            <a:xfrm>
              <a:off x="2241424" y="347337"/>
              <a:ext cx="1313064" cy="790224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8" name="Shape 133"/>
            <p:cNvSpPr/>
            <p:nvPr/>
          </p:nvSpPr>
          <p:spPr>
            <a:xfrm flipH="1" flipV="1">
              <a:off x="699237" y="1463315"/>
              <a:ext cx="1773518" cy="78181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9" name="Shape 134"/>
            <p:cNvSpPr/>
            <p:nvPr/>
          </p:nvSpPr>
          <p:spPr>
            <a:xfrm flipH="1">
              <a:off x="1391018" y="1454908"/>
              <a:ext cx="2009253" cy="790224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81" name="in-degree…"/>
          <p:cNvSpPr txBox="1"/>
          <p:nvPr/>
        </p:nvSpPr>
        <p:spPr>
          <a:xfrm>
            <a:off x="1583686" y="5466467"/>
            <a:ext cx="1801024" cy="1032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in-degree</a:t>
            </a:r>
          </a:p>
          <a:p>
            <a:pPr/>
            <a:r>
              <a:t>out-degree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37"/>
          <p:cNvSpPr txBox="1"/>
          <p:nvPr/>
        </p:nvSpPr>
        <p:spPr>
          <a:xfrm>
            <a:off x="2223064" y="80997"/>
            <a:ext cx="7924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子图(subgraph)</a:t>
            </a:r>
          </a:p>
        </p:txBody>
      </p:sp>
      <p:grpSp>
        <p:nvGrpSpPr>
          <p:cNvPr id="206" name="Group 160"/>
          <p:cNvGrpSpPr/>
          <p:nvPr/>
        </p:nvGrpSpPr>
        <p:grpSpPr>
          <a:xfrm>
            <a:off x="1473199" y="2520964"/>
            <a:ext cx="3793352" cy="2515417"/>
            <a:chOff x="0" y="0"/>
            <a:chExt cx="3793350" cy="2515415"/>
          </a:xfrm>
        </p:grpSpPr>
        <p:grpSp>
          <p:nvGrpSpPr>
            <p:cNvPr id="186" name="Group 140"/>
            <p:cNvGrpSpPr/>
            <p:nvPr/>
          </p:nvGrpSpPr>
          <p:grpSpPr>
            <a:xfrm>
              <a:off x="3149882" y="874889"/>
              <a:ext cx="643469" cy="700163"/>
              <a:chOff x="0" y="0"/>
              <a:chExt cx="643467" cy="700161"/>
            </a:xfrm>
          </p:grpSpPr>
          <p:sp>
            <p:nvSpPr>
              <p:cNvPr id="184" name="Shape 138"/>
              <p:cNvSpPr/>
              <p:nvPr/>
            </p:nvSpPr>
            <p:spPr>
              <a:xfrm>
                <a:off x="0" y="79712"/>
                <a:ext cx="643469" cy="537353"/>
              </a:xfrm>
              <a:prstGeom prst="ellipse">
                <a:avLst/>
              </a:prstGeom>
              <a:solidFill>
                <a:srgbClr val="A7E2FF"/>
              </a:solidFill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5" name="Shape 139"/>
              <p:cNvSpPr txBox="1"/>
              <p:nvPr/>
            </p:nvSpPr>
            <p:spPr>
              <a:xfrm>
                <a:off x="62517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89" name="Group 143"/>
            <p:cNvGrpSpPr/>
            <p:nvPr/>
          </p:nvGrpSpPr>
          <p:grpSpPr>
            <a:xfrm>
              <a:off x="1433971" y="0"/>
              <a:ext cx="643471" cy="700163"/>
              <a:chOff x="0" y="0"/>
              <a:chExt cx="643470" cy="700161"/>
            </a:xfrm>
          </p:grpSpPr>
          <p:sp>
            <p:nvSpPr>
              <p:cNvPr id="187" name="Shape 141"/>
              <p:cNvSpPr/>
              <p:nvPr/>
            </p:nvSpPr>
            <p:spPr>
              <a:xfrm>
                <a:off x="-1" y="78583"/>
                <a:ext cx="643472" cy="539611"/>
              </a:xfrm>
              <a:prstGeom prst="ellipse">
                <a:avLst/>
              </a:prstGeom>
              <a:solidFill>
                <a:srgbClr val="A7E2FF"/>
              </a:solidFill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8" name="Shape 142"/>
              <p:cNvSpPr txBox="1"/>
              <p:nvPr/>
            </p:nvSpPr>
            <p:spPr>
              <a:xfrm>
                <a:off x="47101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92" name="Group 146"/>
            <p:cNvGrpSpPr/>
            <p:nvPr/>
          </p:nvGrpSpPr>
          <p:grpSpPr>
            <a:xfrm>
              <a:off x="790504" y="1815253"/>
              <a:ext cx="643471" cy="700163"/>
              <a:chOff x="0" y="0"/>
              <a:chExt cx="643470" cy="700161"/>
            </a:xfrm>
          </p:grpSpPr>
          <p:sp>
            <p:nvSpPr>
              <p:cNvPr id="190" name="Shape 144"/>
              <p:cNvSpPr/>
              <p:nvPr/>
            </p:nvSpPr>
            <p:spPr>
              <a:xfrm>
                <a:off x="-1" y="78583"/>
                <a:ext cx="643472" cy="539613"/>
              </a:xfrm>
              <a:prstGeom prst="ellipse">
                <a:avLst/>
              </a:prstGeom>
              <a:solidFill>
                <a:srgbClr val="A7E2FF"/>
              </a:solidFill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" name="Shape 145"/>
              <p:cNvSpPr txBox="1"/>
              <p:nvPr/>
            </p:nvSpPr>
            <p:spPr>
              <a:xfrm>
                <a:off x="47101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95" name="Group 149"/>
            <p:cNvGrpSpPr/>
            <p:nvPr/>
          </p:nvGrpSpPr>
          <p:grpSpPr>
            <a:xfrm>
              <a:off x="0" y="874889"/>
              <a:ext cx="643469" cy="700163"/>
              <a:chOff x="0" y="0"/>
              <a:chExt cx="643467" cy="700161"/>
            </a:xfrm>
          </p:grpSpPr>
          <p:sp>
            <p:nvSpPr>
              <p:cNvPr id="193" name="Shape 147"/>
              <p:cNvSpPr/>
              <p:nvPr/>
            </p:nvSpPr>
            <p:spPr>
              <a:xfrm>
                <a:off x="0" y="79712"/>
                <a:ext cx="643469" cy="537353"/>
              </a:xfrm>
              <a:prstGeom prst="ellipse">
                <a:avLst/>
              </a:prstGeom>
              <a:solidFill>
                <a:srgbClr val="A7E2FF"/>
              </a:solidFill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4" name="Shape 148"/>
              <p:cNvSpPr txBox="1"/>
              <p:nvPr/>
            </p:nvSpPr>
            <p:spPr>
              <a:xfrm>
                <a:off x="65057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98" name="Group 152"/>
            <p:cNvGrpSpPr/>
            <p:nvPr/>
          </p:nvGrpSpPr>
          <p:grpSpPr>
            <a:xfrm>
              <a:off x="2219677" y="1815253"/>
              <a:ext cx="643471" cy="700163"/>
              <a:chOff x="0" y="0"/>
              <a:chExt cx="643470" cy="700161"/>
            </a:xfrm>
          </p:grpSpPr>
          <p:sp>
            <p:nvSpPr>
              <p:cNvPr id="196" name="Shape 150"/>
              <p:cNvSpPr/>
              <p:nvPr/>
            </p:nvSpPr>
            <p:spPr>
              <a:xfrm>
                <a:off x="-1" y="78583"/>
                <a:ext cx="643472" cy="539613"/>
              </a:xfrm>
              <a:prstGeom prst="ellipse">
                <a:avLst/>
              </a:prstGeom>
              <a:solidFill>
                <a:srgbClr val="A7E2FF"/>
              </a:solidFill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" name="Shape 151"/>
              <p:cNvSpPr txBox="1"/>
              <p:nvPr/>
            </p:nvSpPr>
            <p:spPr>
              <a:xfrm>
                <a:off x="47101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199" name="Shape 153"/>
            <p:cNvSpPr/>
            <p:nvPr/>
          </p:nvSpPr>
          <p:spPr>
            <a:xfrm flipH="1">
              <a:off x="463126" y="414992"/>
              <a:ext cx="970847" cy="555415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" name="Shape 154"/>
            <p:cNvSpPr/>
            <p:nvPr/>
          </p:nvSpPr>
          <p:spPr>
            <a:xfrm>
              <a:off x="539891" y="1455827"/>
              <a:ext cx="356730" cy="539611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1" name="Shape 155"/>
            <p:cNvSpPr/>
            <p:nvPr/>
          </p:nvSpPr>
          <p:spPr>
            <a:xfrm>
              <a:off x="1433971" y="2164769"/>
              <a:ext cx="785709" cy="2260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2" name="Shape 156"/>
            <p:cNvSpPr/>
            <p:nvPr/>
          </p:nvSpPr>
          <p:spPr>
            <a:xfrm flipH="1" flipV="1">
              <a:off x="1932940" y="548201"/>
              <a:ext cx="573477" cy="134563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3" name="Shape 157"/>
            <p:cNvSpPr/>
            <p:nvPr/>
          </p:nvSpPr>
          <p:spPr>
            <a:xfrm>
              <a:off x="2077438" y="347258"/>
              <a:ext cx="1214686" cy="672820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4" name="Shape 158"/>
            <p:cNvSpPr/>
            <p:nvPr/>
          </p:nvSpPr>
          <p:spPr>
            <a:xfrm flipH="1" flipV="1">
              <a:off x="648264" y="1297783"/>
              <a:ext cx="1641406" cy="666046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" name="Shape 159"/>
            <p:cNvSpPr/>
            <p:nvPr/>
          </p:nvSpPr>
          <p:spPr>
            <a:xfrm flipH="1">
              <a:off x="1289473" y="1291010"/>
              <a:ext cx="1854202" cy="672819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18" name="Group 172"/>
          <p:cNvGrpSpPr/>
          <p:nvPr/>
        </p:nvGrpSpPr>
        <p:grpSpPr>
          <a:xfrm>
            <a:off x="6968631" y="3230754"/>
            <a:ext cx="2860609" cy="1640527"/>
            <a:chOff x="0" y="0"/>
            <a:chExt cx="2860607" cy="1640526"/>
          </a:xfrm>
        </p:grpSpPr>
        <p:grpSp>
          <p:nvGrpSpPr>
            <p:cNvPr id="209" name="Group 163"/>
            <p:cNvGrpSpPr/>
            <p:nvPr/>
          </p:nvGrpSpPr>
          <p:grpSpPr>
            <a:xfrm>
              <a:off x="787964" y="940364"/>
              <a:ext cx="643471" cy="700163"/>
              <a:chOff x="0" y="0"/>
              <a:chExt cx="643470" cy="700161"/>
            </a:xfrm>
          </p:grpSpPr>
          <p:sp>
            <p:nvSpPr>
              <p:cNvPr id="207" name="Shape 161"/>
              <p:cNvSpPr/>
              <p:nvPr/>
            </p:nvSpPr>
            <p:spPr>
              <a:xfrm>
                <a:off x="0" y="78583"/>
                <a:ext cx="643471" cy="539613"/>
              </a:xfrm>
              <a:prstGeom prst="ellipse">
                <a:avLst/>
              </a:prstGeom>
              <a:solidFill>
                <a:srgbClr val="A7E2FF"/>
              </a:solidFill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" name="Shape 162"/>
              <p:cNvSpPr txBox="1"/>
              <p:nvPr/>
            </p:nvSpPr>
            <p:spPr>
              <a:xfrm>
                <a:off x="47101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12" name="Group 166"/>
            <p:cNvGrpSpPr/>
            <p:nvPr/>
          </p:nvGrpSpPr>
          <p:grpSpPr>
            <a:xfrm>
              <a:off x="-1" y="0"/>
              <a:ext cx="643469" cy="700162"/>
              <a:chOff x="0" y="0"/>
              <a:chExt cx="643467" cy="700161"/>
            </a:xfrm>
          </p:grpSpPr>
          <p:sp>
            <p:nvSpPr>
              <p:cNvPr id="210" name="Shape 164"/>
              <p:cNvSpPr/>
              <p:nvPr/>
            </p:nvSpPr>
            <p:spPr>
              <a:xfrm>
                <a:off x="0" y="79712"/>
                <a:ext cx="643468" cy="537355"/>
              </a:xfrm>
              <a:prstGeom prst="ellipse">
                <a:avLst/>
              </a:prstGeom>
              <a:solidFill>
                <a:srgbClr val="A7E2FF"/>
              </a:solidFill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1" name="Shape 165"/>
              <p:cNvSpPr txBox="1"/>
              <p:nvPr/>
            </p:nvSpPr>
            <p:spPr>
              <a:xfrm>
                <a:off x="62517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15" name="Group 169"/>
            <p:cNvGrpSpPr/>
            <p:nvPr/>
          </p:nvGrpSpPr>
          <p:grpSpPr>
            <a:xfrm>
              <a:off x="2217137" y="940364"/>
              <a:ext cx="643471" cy="700163"/>
              <a:chOff x="0" y="0"/>
              <a:chExt cx="643470" cy="700161"/>
            </a:xfrm>
          </p:grpSpPr>
          <p:sp>
            <p:nvSpPr>
              <p:cNvPr id="213" name="Shape 167"/>
              <p:cNvSpPr/>
              <p:nvPr/>
            </p:nvSpPr>
            <p:spPr>
              <a:xfrm>
                <a:off x="0" y="78583"/>
                <a:ext cx="643471" cy="539613"/>
              </a:xfrm>
              <a:prstGeom prst="ellipse">
                <a:avLst/>
              </a:prstGeom>
              <a:solidFill>
                <a:srgbClr val="A7E2FF"/>
              </a:solidFill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" name="Shape 168"/>
              <p:cNvSpPr txBox="1"/>
              <p:nvPr/>
            </p:nvSpPr>
            <p:spPr>
              <a:xfrm>
                <a:off x="47101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216" name="Shape 170"/>
            <p:cNvSpPr/>
            <p:nvPr/>
          </p:nvSpPr>
          <p:spPr>
            <a:xfrm>
              <a:off x="537350" y="580938"/>
              <a:ext cx="356731" cy="539611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7" name="Shape 171"/>
            <p:cNvSpPr/>
            <p:nvPr/>
          </p:nvSpPr>
          <p:spPr>
            <a:xfrm>
              <a:off x="1431431" y="1289880"/>
              <a:ext cx="785708" cy="2260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174"/>
          <p:cNvSpPr txBox="1"/>
          <p:nvPr/>
        </p:nvSpPr>
        <p:spPr>
          <a:xfrm>
            <a:off x="1030237" y="1617133"/>
            <a:ext cx="9725126" cy="193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0"/>
            <a:r>
              <a:t>没有严格的定义，一般指：</a:t>
            </a:r>
          </a:p>
          <a:p>
            <a:pPr lvl="1" marL="681789" indent="-300789">
              <a:buSzPct val="60000"/>
              <a:buBlip>
                <a:blip r:embed="rId3"/>
              </a:buBlip>
            </a:pPr>
            <a:r>
              <a:rPr>
                <a:solidFill>
                  <a:schemeClr val="accent1"/>
                </a:solidFill>
              </a:rPr>
              <a:t>稠密图</a:t>
            </a:r>
            <a:r>
              <a:t>：|E| = Θ(|V|</a:t>
            </a:r>
            <a:r>
              <a:rPr baseline="31999"/>
              <a:t>2</a:t>
            </a:r>
            <a:r>
              <a:t>)</a:t>
            </a:r>
          </a:p>
          <a:p>
            <a:pPr lvl="1" marL="681789" indent="-300789">
              <a:buSzPct val="60000"/>
              <a:buBlip>
                <a:blip r:embed="rId3"/>
              </a:buBlip>
            </a:pPr>
            <a:r>
              <a:rPr>
                <a:solidFill>
                  <a:schemeClr val="accent1"/>
                </a:solidFill>
              </a:rPr>
              <a:t>稀疏图</a:t>
            </a:r>
            <a:r>
              <a:t>：非稠密图，或者|E| &lt;&lt;   |V|</a:t>
            </a:r>
            <a:r>
              <a:rPr baseline="31999"/>
              <a:t>2</a:t>
            </a:r>
            <a:r>
              <a:t>  (远远小于)    </a:t>
            </a:r>
          </a:p>
        </p:txBody>
      </p:sp>
      <p:sp>
        <p:nvSpPr>
          <p:cNvPr id="221" name="Shape 175"/>
          <p:cNvSpPr txBox="1"/>
          <p:nvPr/>
        </p:nvSpPr>
        <p:spPr>
          <a:xfrm>
            <a:off x="1314630" y="271496"/>
            <a:ext cx="10090108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39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稀疏图(sparse graph)、稠密图(dense graph)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00"/>
          <p:cNvSpPr txBox="1"/>
          <p:nvPr/>
        </p:nvSpPr>
        <p:spPr>
          <a:xfrm>
            <a:off x="1600764" y="119097"/>
            <a:ext cx="9684375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路径(path)和路径长度(path length)</a:t>
            </a:r>
          </a:p>
        </p:txBody>
      </p:sp>
      <p:sp>
        <p:nvSpPr>
          <p:cNvPr id="224" name="Shape 201"/>
          <p:cNvSpPr txBox="1"/>
          <p:nvPr/>
        </p:nvSpPr>
        <p:spPr>
          <a:xfrm>
            <a:off x="6505250" y="2033741"/>
            <a:ext cx="2255879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A-&gt;B-&gt;C-&gt;D</a:t>
            </a:r>
          </a:p>
        </p:txBody>
      </p:sp>
      <p:sp>
        <p:nvSpPr>
          <p:cNvPr id="225" name="Shape 202"/>
          <p:cNvSpPr txBox="1"/>
          <p:nvPr/>
        </p:nvSpPr>
        <p:spPr>
          <a:xfrm>
            <a:off x="6505250" y="3026318"/>
            <a:ext cx="2234485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A-&gt;E-&gt;C-&gt;D</a:t>
            </a:r>
          </a:p>
        </p:txBody>
      </p:sp>
      <p:grpSp>
        <p:nvGrpSpPr>
          <p:cNvPr id="248" name="Group 58"/>
          <p:cNvGrpSpPr/>
          <p:nvPr/>
        </p:nvGrpSpPr>
        <p:grpSpPr>
          <a:xfrm>
            <a:off x="1472121" y="2161242"/>
            <a:ext cx="4096459" cy="2833343"/>
            <a:chOff x="0" y="0"/>
            <a:chExt cx="4096458" cy="2833341"/>
          </a:xfrm>
        </p:grpSpPr>
        <p:grpSp>
          <p:nvGrpSpPr>
            <p:cNvPr id="228" name="Group 38"/>
            <p:cNvGrpSpPr/>
            <p:nvPr/>
          </p:nvGrpSpPr>
          <p:grpSpPr>
            <a:xfrm>
              <a:off x="3400268" y="1027709"/>
              <a:ext cx="696191" cy="700163"/>
              <a:chOff x="0" y="0"/>
              <a:chExt cx="696190" cy="700161"/>
            </a:xfrm>
          </p:grpSpPr>
          <p:sp>
            <p:nvSpPr>
              <p:cNvPr id="226" name="Shape 36"/>
              <p:cNvSpPr/>
              <p:nvPr/>
            </p:nvSpPr>
            <p:spPr>
              <a:xfrm>
                <a:off x="-1" y="32088"/>
                <a:ext cx="696191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7" name="Shape 37"/>
              <p:cNvSpPr txBox="1"/>
              <p:nvPr/>
            </p:nvSpPr>
            <p:spPr>
              <a:xfrm>
                <a:off x="88876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31" name="Group 41"/>
            <p:cNvGrpSpPr/>
            <p:nvPr/>
          </p:nvGrpSpPr>
          <p:grpSpPr>
            <a:xfrm>
              <a:off x="1547440" y="0"/>
              <a:ext cx="693987" cy="700162"/>
              <a:chOff x="0" y="0"/>
              <a:chExt cx="693985" cy="700161"/>
            </a:xfrm>
          </p:grpSpPr>
          <p:sp>
            <p:nvSpPr>
              <p:cNvPr id="229" name="Shape 39"/>
              <p:cNvSpPr/>
              <p:nvPr/>
            </p:nvSpPr>
            <p:spPr>
              <a:xfrm>
                <a:off x="0" y="32088"/>
                <a:ext cx="693986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" name="Shape 40"/>
              <p:cNvSpPr txBox="1"/>
              <p:nvPr/>
            </p:nvSpPr>
            <p:spPr>
              <a:xfrm>
                <a:off x="72359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34" name="Group 44"/>
            <p:cNvGrpSpPr/>
            <p:nvPr/>
          </p:nvGrpSpPr>
          <p:grpSpPr>
            <a:xfrm>
              <a:off x="851254" y="2133179"/>
              <a:ext cx="696191" cy="700163"/>
              <a:chOff x="0" y="0"/>
              <a:chExt cx="696190" cy="700161"/>
            </a:xfrm>
          </p:grpSpPr>
          <p:sp>
            <p:nvSpPr>
              <p:cNvPr id="232" name="Shape 42"/>
              <p:cNvSpPr/>
              <p:nvPr/>
            </p:nvSpPr>
            <p:spPr>
              <a:xfrm>
                <a:off x="-1" y="32088"/>
                <a:ext cx="696191" cy="632603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3" name="Shape 43"/>
              <p:cNvSpPr txBox="1"/>
              <p:nvPr/>
            </p:nvSpPr>
            <p:spPr>
              <a:xfrm>
                <a:off x="73460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37" name="Group 47"/>
            <p:cNvGrpSpPr/>
            <p:nvPr/>
          </p:nvGrpSpPr>
          <p:grpSpPr>
            <a:xfrm>
              <a:off x="-1" y="1027709"/>
              <a:ext cx="696191" cy="700163"/>
              <a:chOff x="0" y="0"/>
              <a:chExt cx="696190" cy="700161"/>
            </a:xfrm>
          </p:grpSpPr>
          <p:sp>
            <p:nvSpPr>
              <p:cNvPr id="235" name="Shape 45"/>
              <p:cNvSpPr/>
              <p:nvPr/>
            </p:nvSpPr>
            <p:spPr>
              <a:xfrm>
                <a:off x="-1" y="32088"/>
                <a:ext cx="696191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6" name="Shape 46"/>
              <p:cNvSpPr txBox="1"/>
              <p:nvPr/>
            </p:nvSpPr>
            <p:spPr>
              <a:xfrm>
                <a:off x="89724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40" name="Group 50"/>
            <p:cNvGrpSpPr/>
            <p:nvPr/>
          </p:nvGrpSpPr>
          <p:grpSpPr>
            <a:xfrm>
              <a:off x="2395643" y="2133179"/>
              <a:ext cx="696191" cy="700163"/>
              <a:chOff x="0" y="0"/>
              <a:chExt cx="696190" cy="700161"/>
            </a:xfrm>
          </p:grpSpPr>
          <p:sp>
            <p:nvSpPr>
              <p:cNvPr id="238" name="Shape 48"/>
              <p:cNvSpPr/>
              <p:nvPr/>
            </p:nvSpPr>
            <p:spPr>
              <a:xfrm>
                <a:off x="-1" y="32088"/>
                <a:ext cx="696191" cy="632603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9" name="Shape 49"/>
              <p:cNvSpPr txBox="1"/>
              <p:nvPr/>
            </p:nvSpPr>
            <p:spPr>
              <a:xfrm>
                <a:off x="73460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241" name="Shape 51"/>
            <p:cNvSpPr/>
            <p:nvPr/>
          </p:nvSpPr>
          <p:spPr>
            <a:xfrm flipH="1">
              <a:off x="498754" y="427199"/>
              <a:ext cx="1048689" cy="65361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2" name="Shape 52"/>
            <p:cNvSpPr/>
            <p:nvPr/>
          </p:nvSpPr>
          <p:spPr>
            <a:xfrm>
              <a:off x="582472" y="1650362"/>
              <a:ext cx="385550" cy="632600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3" name="Shape 53"/>
            <p:cNvSpPr/>
            <p:nvPr/>
          </p:nvSpPr>
          <p:spPr>
            <a:xfrm>
              <a:off x="1547441" y="2482617"/>
              <a:ext cx="848205" cy="2260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4" name="Shape 54"/>
            <p:cNvSpPr/>
            <p:nvPr/>
          </p:nvSpPr>
          <p:spPr>
            <a:xfrm flipH="1" flipV="1">
              <a:off x="2087206" y="584823"/>
              <a:ext cx="619080" cy="158044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5" name="Shape 55"/>
            <p:cNvSpPr/>
            <p:nvPr/>
          </p:nvSpPr>
          <p:spPr>
            <a:xfrm>
              <a:off x="2241424" y="347337"/>
              <a:ext cx="1313064" cy="790224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6" name="Shape 56"/>
            <p:cNvSpPr/>
            <p:nvPr/>
          </p:nvSpPr>
          <p:spPr>
            <a:xfrm flipH="1" flipV="1">
              <a:off x="699237" y="1463315"/>
              <a:ext cx="1773518" cy="781817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7" name="Shape 57"/>
            <p:cNvSpPr/>
            <p:nvPr/>
          </p:nvSpPr>
          <p:spPr>
            <a:xfrm flipH="1">
              <a:off x="1391018" y="1454908"/>
              <a:ext cx="2009253" cy="790224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04"/>
          <p:cNvSpPr txBox="1"/>
          <p:nvPr/>
        </p:nvSpPr>
        <p:spPr>
          <a:xfrm>
            <a:off x="2134164" y="93697"/>
            <a:ext cx="7924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简单路径(simple path)</a:t>
            </a:r>
          </a:p>
        </p:txBody>
      </p:sp>
      <p:sp>
        <p:nvSpPr>
          <p:cNvPr id="251" name="Shape 228"/>
          <p:cNvSpPr txBox="1"/>
          <p:nvPr/>
        </p:nvSpPr>
        <p:spPr>
          <a:xfrm>
            <a:off x="6853583" y="2020436"/>
            <a:ext cx="3322234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A-&gt;B-&gt;C-&gt;D         √</a:t>
            </a:r>
          </a:p>
        </p:txBody>
      </p:sp>
      <p:sp>
        <p:nvSpPr>
          <p:cNvPr id="252" name="Shape 229"/>
          <p:cNvSpPr txBox="1"/>
          <p:nvPr/>
        </p:nvSpPr>
        <p:spPr>
          <a:xfrm>
            <a:off x="6853583" y="3138642"/>
            <a:ext cx="480512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A-&gt;E-&gt;C-&gt;D-&gt;B-&gt;C-&gt;D        </a:t>
            </a:r>
          </a:p>
        </p:txBody>
      </p:sp>
      <p:grpSp>
        <p:nvGrpSpPr>
          <p:cNvPr id="275" name="Group 58"/>
          <p:cNvGrpSpPr/>
          <p:nvPr/>
        </p:nvGrpSpPr>
        <p:grpSpPr>
          <a:xfrm>
            <a:off x="1472121" y="2161242"/>
            <a:ext cx="4096459" cy="2833343"/>
            <a:chOff x="0" y="0"/>
            <a:chExt cx="4096458" cy="2833341"/>
          </a:xfrm>
        </p:grpSpPr>
        <p:grpSp>
          <p:nvGrpSpPr>
            <p:cNvPr id="255" name="Group 38"/>
            <p:cNvGrpSpPr/>
            <p:nvPr/>
          </p:nvGrpSpPr>
          <p:grpSpPr>
            <a:xfrm>
              <a:off x="3400268" y="1027709"/>
              <a:ext cx="696191" cy="700163"/>
              <a:chOff x="0" y="0"/>
              <a:chExt cx="696190" cy="700161"/>
            </a:xfrm>
          </p:grpSpPr>
          <p:sp>
            <p:nvSpPr>
              <p:cNvPr id="253" name="Shape 36"/>
              <p:cNvSpPr/>
              <p:nvPr/>
            </p:nvSpPr>
            <p:spPr>
              <a:xfrm>
                <a:off x="-1" y="32088"/>
                <a:ext cx="696191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4" name="Shape 37"/>
              <p:cNvSpPr txBox="1"/>
              <p:nvPr/>
            </p:nvSpPr>
            <p:spPr>
              <a:xfrm>
                <a:off x="88876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58" name="Group 41"/>
            <p:cNvGrpSpPr/>
            <p:nvPr/>
          </p:nvGrpSpPr>
          <p:grpSpPr>
            <a:xfrm>
              <a:off x="1547440" y="0"/>
              <a:ext cx="693987" cy="700162"/>
              <a:chOff x="0" y="0"/>
              <a:chExt cx="693985" cy="700161"/>
            </a:xfrm>
          </p:grpSpPr>
          <p:sp>
            <p:nvSpPr>
              <p:cNvPr id="256" name="Shape 39"/>
              <p:cNvSpPr/>
              <p:nvPr/>
            </p:nvSpPr>
            <p:spPr>
              <a:xfrm>
                <a:off x="0" y="32088"/>
                <a:ext cx="693986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7" name="Shape 40"/>
              <p:cNvSpPr txBox="1"/>
              <p:nvPr/>
            </p:nvSpPr>
            <p:spPr>
              <a:xfrm>
                <a:off x="72359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61" name="Group 44"/>
            <p:cNvGrpSpPr/>
            <p:nvPr/>
          </p:nvGrpSpPr>
          <p:grpSpPr>
            <a:xfrm>
              <a:off x="851254" y="2133179"/>
              <a:ext cx="696191" cy="700163"/>
              <a:chOff x="0" y="0"/>
              <a:chExt cx="696190" cy="700161"/>
            </a:xfrm>
          </p:grpSpPr>
          <p:sp>
            <p:nvSpPr>
              <p:cNvPr id="259" name="Shape 42"/>
              <p:cNvSpPr/>
              <p:nvPr/>
            </p:nvSpPr>
            <p:spPr>
              <a:xfrm>
                <a:off x="-1" y="32088"/>
                <a:ext cx="696191" cy="632603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0" name="Shape 43"/>
              <p:cNvSpPr txBox="1"/>
              <p:nvPr/>
            </p:nvSpPr>
            <p:spPr>
              <a:xfrm>
                <a:off x="73460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64" name="Group 47"/>
            <p:cNvGrpSpPr/>
            <p:nvPr/>
          </p:nvGrpSpPr>
          <p:grpSpPr>
            <a:xfrm>
              <a:off x="-1" y="1027709"/>
              <a:ext cx="696191" cy="700163"/>
              <a:chOff x="0" y="0"/>
              <a:chExt cx="696190" cy="700161"/>
            </a:xfrm>
          </p:grpSpPr>
          <p:sp>
            <p:nvSpPr>
              <p:cNvPr id="262" name="Shape 45"/>
              <p:cNvSpPr/>
              <p:nvPr/>
            </p:nvSpPr>
            <p:spPr>
              <a:xfrm>
                <a:off x="-1" y="32088"/>
                <a:ext cx="696191" cy="632601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3" name="Shape 46"/>
              <p:cNvSpPr txBox="1"/>
              <p:nvPr/>
            </p:nvSpPr>
            <p:spPr>
              <a:xfrm>
                <a:off x="89724" y="0"/>
                <a:ext cx="518432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67" name="Group 50"/>
            <p:cNvGrpSpPr/>
            <p:nvPr/>
          </p:nvGrpSpPr>
          <p:grpSpPr>
            <a:xfrm>
              <a:off x="2395643" y="2133179"/>
              <a:ext cx="696191" cy="700163"/>
              <a:chOff x="0" y="0"/>
              <a:chExt cx="696190" cy="700161"/>
            </a:xfrm>
          </p:grpSpPr>
          <p:sp>
            <p:nvSpPr>
              <p:cNvPr id="265" name="Shape 48"/>
              <p:cNvSpPr/>
              <p:nvPr/>
            </p:nvSpPr>
            <p:spPr>
              <a:xfrm>
                <a:off x="-1" y="32088"/>
                <a:ext cx="696191" cy="632603"/>
              </a:xfrm>
              <a:prstGeom prst="ellipse">
                <a:avLst/>
              </a:prstGeom>
              <a:noFill/>
              <a:ln w="12700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6" name="Shape 49"/>
              <p:cNvSpPr txBox="1"/>
              <p:nvPr/>
            </p:nvSpPr>
            <p:spPr>
              <a:xfrm>
                <a:off x="73460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000099"/>
                    </a:solidFill>
                    <a:uFill>
                      <a:solidFill>
                        <a:srgbClr val="0000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268" name="Shape 51"/>
            <p:cNvSpPr/>
            <p:nvPr/>
          </p:nvSpPr>
          <p:spPr>
            <a:xfrm flipH="1">
              <a:off x="498754" y="427199"/>
              <a:ext cx="1048689" cy="65361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9" name="Shape 52"/>
            <p:cNvSpPr/>
            <p:nvPr/>
          </p:nvSpPr>
          <p:spPr>
            <a:xfrm>
              <a:off x="582472" y="1650362"/>
              <a:ext cx="385550" cy="632600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0" name="Shape 53"/>
            <p:cNvSpPr/>
            <p:nvPr/>
          </p:nvSpPr>
          <p:spPr>
            <a:xfrm>
              <a:off x="1547441" y="2482617"/>
              <a:ext cx="848205" cy="2260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1" name="Shape 54"/>
            <p:cNvSpPr/>
            <p:nvPr/>
          </p:nvSpPr>
          <p:spPr>
            <a:xfrm flipH="1" flipV="1">
              <a:off x="2087206" y="584823"/>
              <a:ext cx="619080" cy="1580447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2" name="Shape 55"/>
            <p:cNvSpPr/>
            <p:nvPr/>
          </p:nvSpPr>
          <p:spPr>
            <a:xfrm>
              <a:off x="2241424" y="347337"/>
              <a:ext cx="1313064" cy="790224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" name="Shape 56"/>
            <p:cNvSpPr/>
            <p:nvPr/>
          </p:nvSpPr>
          <p:spPr>
            <a:xfrm flipH="1" flipV="1">
              <a:off x="699237" y="1463315"/>
              <a:ext cx="1773518" cy="781817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" name="Shape 57"/>
            <p:cNvSpPr/>
            <p:nvPr/>
          </p:nvSpPr>
          <p:spPr>
            <a:xfrm flipH="1">
              <a:off x="1391018" y="1454908"/>
              <a:ext cx="2009253" cy="790224"/>
            </a:xfrm>
            <a:prstGeom prst="line">
              <a:avLst/>
            </a:prstGeom>
            <a:noFill/>
            <a:ln w="381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roup 254"/>
          <p:cNvGrpSpPr/>
          <p:nvPr/>
        </p:nvGrpSpPr>
        <p:grpSpPr>
          <a:xfrm>
            <a:off x="7124700" y="2140858"/>
            <a:ext cx="4484797" cy="3347034"/>
            <a:chOff x="0" y="0"/>
            <a:chExt cx="4484796" cy="3347032"/>
          </a:xfrm>
        </p:grpSpPr>
        <p:grpSp>
          <p:nvGrpSpPr>
            <p:cNvPr id="279" name="Group 233"/>
            <p:cNvGrpSpPr/>
            <p:nvPr/>
          </p:nvGrpSpPr>
          <p:grpSpPr>
            <a:xfrm>
              <a:off x="1164791" y="69865"/>
              <a:ext cx="537421" cy="614499"/>
              <a:chOff x="0" y="0"/>
              <a:chExt cx="537420" cy="614498"/>
            </a:xfrm>
          </p:grpSpPr>
          <p:sp>
            <p:nvSpPr>
              <p:cNvPr id="277" name="Shape 231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8" name="Shape 232"/>
              <p:cNvSpPr txBox="1"/>
              <p:nvPr/>
            </p:nvSpPr>
            <p:spPr>
              <a:xfrm>
                <a:off x="3490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82" name="Group 236"/>
            <p:cNvGrpSpPr/>
            <p:nvPr/>
          </p:nvGrpSpPr>
          <p:grpSpPr>
            <a:xfrm>
              <a:off x="0" y="1407667"/>
              <a:ext cx="537421" cy="614500"/>
              <a:chOff x="0" y="0"/>
              <a:chExt cx="537420" cy="614498"/>
            </a:xfrm>
          </p:grpSpPr>
          <p:sp>
            <p:nvSpPr>
              <p:cNvPr id="280" name="Shape 234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1" name="Shape 235"/>
              <p:cNvSpPr txBox="1"/>
              <p:nvPr/>
            </p:nvSpPr>
            <p:spPr>
              <a:xfrm>
                <a:off x="17922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283" name="Shape 237"/>
            <p:cNvSpPr/>
            <p:nvPr/>
          </p:nvSpPr>
          <p:spPr>
            <a:xfrm flipH="1">
              <a:off x="264104" y="429056"/>
              <a:ext cx="898818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4" name="Shape 238"/>
            <p:cNvSpPr/>
            <p:nvPr/>
          </p:nvSpPr>
          <p:spPr>
            <a:xfrm>
              <a:off x="1704082" y="346252"/>
              <a:ext cx="1615997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5" name="Shape 239"/>
            <p:cNvSpPr/>
            <p:nvPr/>
          </p:nvSpPr>
          <p:spPr>
            <a:xfrm>
              <a:off x="535620" y="1753920"/>
              <a:ext cx="2784460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6" name="Shape 240"/>
            <p:cNvSpPr/>
            <p:nvPr/>
          </p:nvSpPr>
          <p:spPr>
            <a:xfrm flipH="1">
              <a:off x="1599220" y="429056"/>
              <a:ext cx="1451215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7" name="Shape 241"/>
            <p:cNvSpPr/>
            <p:nvPr/>
          </p:nvSpPr>
          <p:spPr>
            <a:xfrm flipH="1">
              <a:off x="1432564" y="651592"/>
              <a:ext cx="1874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90" name="Group 244"/>
            <p:cNvGrpSpPr/>
            <p:nvPr/>
          </p:nvGrpSpPr>
          <p:grpSpPr>
            <a:xfrm>
              <a:off x="3048560" y="-1"/>
              <a:ext cx="537421" cy="614500"/>
              <a:chOff x="0" y="0"/>
              <a:chExt cx="537420" cy="614498"/>
            </a:xfrm>
          </p:grpSpPr>
          <p:sp>
            <p:nvSpPr>
              <p:cNvPr id="288" name="Shape 242"/>
              <p:cNvSpPr/>
              <p:nvPr/>
            </p:nvSpPr>
            <p:spPr>
              <a:xfrm>
                <a:off x="0" y="15036"/>
                <a:ext cx="537421" cy="579631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9" name="Shape 243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93" name="Group 247"/>
            <p:cNvGrpSpPr/>
            <p:nvPr/>
          </p:nvGrpSpPr>
          <p:grpSpPr>
            <a:xfrm>
              <a:off x="3947376" y="1324864"/>
              <a:ext cx="537421" cy="614500"/>
              <a:chOff x="0" y="0"/>
              <a:chExt cx="537420" cy="614498"/>
            </a:xfrm>
          </p:grpSpPr>
          <p:sp>
            <p:nvSpPr>
              <p:cNvPr id="291" name="Shape 245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2" name="Shape 246"/>
              <p:cNvSpPr txBox="1"/>
              <p:nvPr/>
            </p:nvSpPr>
            <p:spPr>
              <a:xfrm>
                <a:off x="2159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96" name="Group 250"/>
            <p:cNvGrpSpPr/>
            <p:nvPr/>
          </p:nvGrpSpPr>
          <p:grpSpPr>
            <a:xfrm>
              <a:off x="1161046" y="2732533"/>
              <a:ext cx="537421" cy="614499"/>
              <a:chOff x="0" y="0"/>
              <a:chExt cx="537420" cy="614498"/>
            </a:xfrm>
          </p:grpSpPr>
          <p:sp>
            <p:nvSpPr>
              <p:cNvPr id="294" name="Shape 248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5" name="Shape 249"/>
              <p:cNvSpPr txBox="1"/>
              <p:nvPr/>
            </p:nvSpPr>
            <p:spPr>
              <a:xfrm>
                <a:off x="61651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99" name="Group 253"/>
            <p:cNvGrpSpPr/>
            <p:nvPr/>
          </p:nvGrpSpPr>
          <p:grpSpPr>
            <a:xfrm>
              <a:off x="3138441" y="2649728"/>
              <a:ext cx="537421" cy="614499"/>
              <a:chOff x="0" y="0"/>
              <a:chExt cx="537420" cy="614498"/>
            </a:xfrm>
          </p:grpSpPr>
          <p:sp>
            <p:nvSpPr>
              <p:cNvPr id="297" name="Shape 251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8" name="Shape 252"/>
              <p:cNvSpPr txBox="1"/>
              <p:nvPr/>
            </p:nvSpPr>
            <p:spPr>
              <a:xfrm>
                <a:off x="48453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sp>
        <p:nvSpPr>
          <p:cNvPr id="301" name="Shape 255"/>
          <p:cNvSpPr txBox="1"/>
          <p:nvPr/>
        </p:nvSpPr>
        <p:spPr>
          <a:xfrm>
            <a:off x="2159564" y="106397"/>
            <a:ext cx="7924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连通图(connected graph)</a:t>
            </a:r>
          </a:p>
        </p:txBody>
      </p:sp>
      <p:sp>
        <p:nvSpPr>
          <p:cNvPr id="302" name="Shape 256"/>
          <p:cNvSpPr txBox="1"/>
          <p:nvPr/>
        </p:nvSpPr>
        <p:spPr>
          <a:xfrm>
            <a:off x="2181747" y="6088944"/>
            <a:ext cx="1678984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a、连通图 </a:t>
            </a:r>
          </a:p>
        </p:txBody>
      </p:sp>
      <p:grpSp>
        <p:nvGrpSpPr>
          <p:cNvPr id="328" name="Group 282"/>
          <p:cNvGrpSpPr/>
          <p:nvPr/>
        </p:nvGrpSpPr>
        <p:grpSpPr>
          <a:xfrm>
            <a:off x="1028700" y="2140858"/>
            <a:ext cx="4484797" cy="3347034"/>
            <a:chOff x="0" y="0"/>
            <a:chExt cx="4484796" cy="3347032"/>
          </a:xfrm>
        </p:grpSpPr>
        <p:grpSp>
          <p:nvGrpSpPr>
            <p:cNvPr id="305" name="Group 259"/>
            <p:cNvGrpSpPr/>
            <p:nvPr/>
          </p:nvGrpSpPr>
          <p:grpSpPr>
            <a:xfrm>
              <a:off x="1164791" y="69865"/>
              <a:ext cx="537421" cy="614500"/>
              <a:chOff x="0" y="0"/>
              <a:chExt cx="537420" cy="614498"/>
            </a:xfrm>
          </p:grpSpPr>
          <p:sp>
            <p:nvSpPr>
              <p:cNvPr id="303" name="Shape 257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4" name="Shape 258"/>
              <p:cNvSpPr txBox="1"/>
              <p:nvPr/>
            </p:nvSpPr>
            <p:spPr>
              <a:xfrm>
                <a:off x="3490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08" name="Group 262"/>
            <p:cNvGrpSpPr/>
            <p:nvPr/>
          </p:nvGrpSpPr>
          <p:grpSpPr>
            <a:xfrm>
              <a:off x="0" y="1407668"/>
              <a:ext cx="537421" cy="614500"/>
              <a:chOff x="0" y="0"/>
              <a:chExt cx="537420" cy="614498"/>
            </a:xfrm>
          </p:grpSpPr>
          <p:sp>
            <p:nvSpPr>
              <p:cNvPr id="306" name="Shape 260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7" name="Shape 261"/>
              <p:cNvSpPr txBox="1"/>
              <p:nvPr/>
            </p:nvSpPr>
            <p:spPr>
              <a:xfrm>
                <a:off x="17922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309" name="Shape 263"/>
            <p:cNvSpPr/>
            <p:nvPr/>
          </p:nvSpPr>
          <p:spPr>
            <a:xfrm flipH="1">
              <a:off x="264104" y="429056"/>
              <a:ext cx="898818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" name="Shape 264"/>
            <p:cNvSpPr/>
            <p:nvPr/>
          </p:nvSpPr>
          <p:spPr>
            <a:xfrm>
              <a:off x="1704082" y="346252"/>
              <a:ext cx="1615997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1" name="Shape 265"/>
            <p:cNvSpPr/>
            <p:nvPr/>
          </p:nvSpPr>
          <p:spPr>
            <a:xfrm>
              <a:off x="535620" y="1753920"/>
              <a:ext cx="2784460" cy="99365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2" name="Shape 266"/>
            <p:cNvSpPr/>
            <p:nvPr/>
          </p:nvSpPr>
          <p:spPr>
            <a:xfrm flipH="1">
              <a:off x="1599220" y="429055"/>
              <a:ext cx="1451215" cy="240132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3" name="Shape 267"/>
            <p:cNvSpPr/>
            <p:nvPr/>
          </p:nvSpPr>
          <p:spPr>
            <a:xfrm>
              <a:off x="3589721" y="346252"/>
              <a:ext cx="719054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" name="Shape 268"/>
            <p:cNvSpPr/>
            <p:nvPr/>
          </p:nvSpPr>
          <p:spPr>
            <a:xfrm flipH="1">
              <a:off x="1689101" y="1753920"/>
              <a:ext cx="2350031" cy="1076455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5" name="Shape 269"/>
            <p:cNvSpPr/>
            <p:nvPr/>
          </p:nvSpPr>
          <p:spPr>
            <a:xfrm flipH="1">
              <a:off x="1432564" y="651592"/>
              <a:ext cx="1874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18" name="Group 272"/>
            <p:cNvGrpSpPr/>
            <p:nvPr/>
          </p:nvGrpSpPr>
          <p:grpSpPr>
            <a:xfrm>
              <a:off x="3048560" y="-1"/>
              <a:ext cx="537421" cy="614500"/>
              <a:chOff x="0" y="0"/>
              <a:chExt cx="537420" cy="614498"/>
            </a:xfrm>
          </p:grpSpPr>
          <p:sp>
            <p:nvSpPr>
              <p:cNvPr id="316" name="Shape 270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7" name="Shape 271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21" name="Group 275"/>
            <p:cNvGrpSpPr/>
            <p:nvPr/>
          </p:nvGrpSpPr>
          <p:grpSpPr>
            <a:xfrm>
              <a:off x="3947376" y="1324864"/>
              <a:ext cx="537421" cy="614500"/>
              <a:chOff x="0" y="0"/>
              <a:chExt cx="537420" cy="614498"/>
            </a:xfrm>
          </p:grpSpPr>
          <p:sp>
            <p:nvSpPr>
              <p:cNvPr id="319" name="Shape 273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0" name="Shape 274"/>
              <p:cNvSpPr txBox="1"/>
              <p:nvPr/>
            </p:nvSpPr>
            <p:spPr>
              <a:xfrm>
                <a:off x="2159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324" name="Group 278"/>
            <p:cNvGrpSpPr/>
            <p:nvPr/>
          </p:nvGrpSpPr>
          <p:grpSpPr>
            <a:xfrm>
              <a:off x="1161046" y="2732533"/>
              <a:ext cx="537421" cy="614499"/>
              <a:chOff x="0" y="0"/>
              <a:chExt cx="537420" cy="614498"/>
            </a:xfrm>
          </p:grpSpPr>
          <p:sp>
            <p:nvSpPr>
              <p:cNvPr id="322" name="Shape 276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3" name="Shape 277"/>
              <p:cNvSpPr txBox="1"/>
              <p:nvPr/>
            </p:nvSpPr>
            <p:spPr>
              <a:xfrm>
                <a:off x="61651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327" name="Group 281"/>
            <p:cNvGrpSpPr/>
            <p:nvPr/>
          </p:nvGrpSpPr>
          <p:grpSpPr>
            <a:xfrm>
              <a:off x="3138441" y="2649729"/>
              <a:ext cx="537421" cy="614499"/>
              <a:chOff x="0" y="0"/>
              <a:chExt cx="537420" cy="614498"/>
            </a:xfrm>
          </p:grpSpPr>
          <p:sp>
            <p:nvSpPr>
              <p:cNvPr id="325" name="Shape 279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" name="Shape 280"/>
              <p:cNvSpPr txBox="1"/>
              <p:nvPr/>
            </p:nvSpPr>
            <p:spPr>
              <a:xfrm>
                <a:off x="48453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sp>
        <p:nvSpPr>
          <p:cNvPr id="329" name="Shape 283"/>
          <p:cNvSpPr txBox="1"/>
          <p:nvPr/>
        </p:nvSpPr>
        <p:spPr>
          <a:xfrm>
            <a:off x="8658746" y="6088944"/>
            <a:ext cx="20009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b、非连通图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285"/>
          <p:cNvSpPr txBox="1"/>
          <p:nvPr/>
        </p:nvSpPr>
        <p:spPr>
          <a:xfrm>
            <a:off x="1346764" y="119097"/>
            <a:ext cx="1013128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强连通图(strongly connected graph)</a:t>
            </a:r>
          </a:p>
        </p:txBody>
      </p:sp>
      <p:sp>
        <p:nvSpPr>
          <p:cNvPr id="332" name="Shape 286"/>
          <p:cNvSpPr txBox="1"/>
          <p:nvPr/>
        </p:nvSpPr>
        <p:spPr>
          <a:xfrm>
            <a:off x="2181747" y="6038144"/>
            <a:ext cx="1983784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a、强连通图 </a:t>
            </a:r>
          </a:p>
        </p:txBody>
      </p:sp>
      <p:sp>
        <p:nvSpPr>
          <p:cNvPr id="333" name="Shape 287"/>
          <p:cNvSpPr txBox="1"/>
          <p:nvPr/>
        </p:nvSpPr>
        <p:spPr>
          <a:xfrm>
            <a:off x="8531746" y="6038144"/>
            <a:ext cx="2305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b、非强连通图 </a:t>
            </a:r>
          </a:p>
        </p:txBody>
      </p:sp>
      <p:grpSp>
        <p:nvGrpSpPr>
          <p:cNvPr id="356" name="Group 310"/>
          <p:cNvGrpSpPr/>
          <p:nvPr/>
        </p:nvGrpSpPr>
        <p:grpSpPr>
          <a:xfrm>
            <a:off x="1363132" y="2298404"/>
            <a:ext cx="3994012" cy="2601837"/>
            <a:chOff x="0" y="0"/>
            <a:chExt cx="3994010" cy="2601836"/>
          </a:xfrm>
        </p:grpSpPr>
        <p:sp>
          <p:nvSpPr>
            <p:cNvPr id="334" name="Shape 288"/>
            <p:cNvSpPr/>
            <p:nvPr/>
          </p:nvSpPr>
          <p:spPr>
            <a:xfrm flipH="1">
              <a:off x="260478" y="268709"/>
              <a:ext cx="1476049" cy="74332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5" name="Shape 289"/>
            <p:cNvSpPr/>
            <p:nvPr/>
          </p:nvSpPr>
          <p:spPr>
            <a:xfrm>
              <a:off x="434131" y="1507574"/>
              <a:ext cx="520960" cy="74332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6" name="Shape 290"/>
            <p:cNvSpPr/>
            <p:nvPr/>
          </p:nvSpPr>
          <p:spPr>
            <a:xfrm>
              <a:off x="1476046" y="2250892"/>
              <a:ext cx="1041918" cy="2260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7" name="Shape 291"/>
            <p:cNvSpPr/>
            <p:nvPr/>
          </p:nvSpPr>
          <p:spPr>
            <a:xfrm flipH="1" flipV="1">
              <a:off x="2170656" y="516481"/>
              <a:ext cx="607786" cy="1486640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8" name="Shape 292"/>
            <p:cNvSpPr/>
            <p:nvPr/>
          </p:nvSpPr>
          <p:spPr>
            <a:xfrm>
              <a:off x="2257483" y="268709"/>
              <a:ext cx="1389222" cy="74332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9" name="Shape 293"/>
            <p:cNvSpPr/>
            <p:nvPr/>
          </p:nvSpPr>
          <p:spPr>
            <a:xfrm flipH="1" flipV="1">
              <a:off x="520958" y="1259801"/>
              <a:ext cx="1997006" cy="82591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40" name="Shape 294"/>
            <p:cNvSpPr/>
            <p:nvPr/>
          </p:nvSpPr>
          <p:spPr>
            <a:xfrm flipH="1">
              <a:off x="1215567" y="1259800"/>
              <a:ext cx="2257485" cy="74332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43" name="Group 297"/>
            <p:cNvGrpSpPr/>
            <p:nvPr/>
          </p:nvGrpSpPr>
          <p:grpSpPr>
            <a:xfrm>
              <a:off x="1736525" y="-1"/>
              <a:ext cx="520961" cy="614500"/>
              <a:chOff x="0" y="0"/>
              <a:chExt cx="520960" cy="614498"/>
            </a:xfrm>
          </p:grpSpPr>
          <p:sp>
            <p:nvSpPr>
              <p:cNvPr id="341" name="Shape 295"/>
              <p:cNvSpPr/>
              <p:nvPr/>
            </p:nvSpPr>
            <p:spPr>
              <a:xfrm>
                <a:off x="0" y="20935"/>
                <a:ext cx="520961" cy="58420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2" name="Shape 296"/>
              <p:cNvSpPr txBox="1"/>
              <p:nvPr/>
            </p:nvSpPr>
            <p:spPr>
              <a:xfrm>
                <a:off x="1336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346" name="Group 300"/>
            <p:cNvGrpSpPr/>
            <p:nvPr/>
          </p:nvGrpSpPr>
          <p:grpSpPr>
            <a:xfrm>
              <a:off x="0" y="996245"/>
              <a:ext cx="520961" cy="614500"/>
              <a:chOff x="0" y="0"/>
              <a:chExt cx="520960" cy="614498"/>
            </a:xfrm>
          </p:grpSpPr>
          <p:sp>
            <p:nvSpPr>
              <p:cNvPr id="344" name="Shape 298"/>
              <p:cNvSpPr/>
              <p:nvPr/>
            </p:nvSpPr>
            <p:spPr>
              <a:xfrm>
                <a:off x="0" y="15782"/>
                <a:ext cx="520961" cy="58420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5" name="Shape 299"/>
              <p:cNvSpPr txBox="1"/>
              <p:nvPr/>
            </p:nvSpPr>
            <p:spPr>
              <a:xfrm>
                <a:off x="2667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49" name="Group 303"/>
            <p:cNvGrpSpPr/>
            <p:nvPr/>
          </p:nvGrpSpPr>
          <p:grpSpPr>
            <a:xfrm>
              <a:off x="3473050" y="996245"/>
              <a:ext cx="520961" cy="614500"/>
              <a:chOff x="0" y="0"/>
              <a:chExt cx="520960" cy="614498"/>
            </a:xfrm>
          </p:grpSpPr>
          <p:sp>
            <p:nvSpPr>
              <p:cNvPr id="347" name="Shape 301"/>
              <p:cNvSpPr/>
              <p:nvPr/>
            </p:nvSpPr>
            <p:spPr>
              <a:xfrm>
                <a:off x="0" y="15782"/>
                <a:ext cx="520961" cy="58420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8" name="Shape 302"/>
              <p:cNvSpPr txBox="1"/>
              <p:nvPr/>
            </p:nvSpPr>
            <p:spPr>
              <a:xfrm>
                <a:off x="2667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352" name="Group 306"/>
            <p:cNvGrpSpPr/>
            <p:nvPr/>
          </p:nvGrpSpPr>
          <p:grpSpPr>
            <a:xfrm>
              <a:off x="955089" y="1987337"/>
              <a:ext cx="520961" cy="614500"/>
              <a:chOff x="0" y="0"/>
              <a:chExt cx="520960" cy="614498"/>
            </a:xfrm>
          </p:grpSpPr>
          <p:sp>
            <p:nvSpPr>
              <p:cNvPr id="350" name="Shape 304"/>
              <p:cNvSpPr/>
              <p:nvPr/>
            </p:nvSpPr>
            <p:spPr>
              <a:xfrm>
                <a:off x="0" y="15783"/>
                <a:ext cx="520961" cy="58420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1" name="Shape 305"/>
              <p:cNvSpPr txBox="1"/>
              <p:nvPr/>
            </p:nvSpPr>
            <p:spPr>
              <a:xfrm>
                <a:off x="760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55" name="Group 309"/>
            <p:cNvGrpSpPr/>
            <p:nvPr/>
          </p:nvGrpSpPr>
          <p:grpSpPr>
            <a:xfrm>
              <a:off x="2517961" y="1987337"/>
              <a:ext cx="520961" cy="614500"/>
              <a:chOff x="0" y="0"/>
              <a:chExt cx="520960" cy="614498"/>
            </a:xfrm>
          </p:grpSpPr>
          <p:sp>
            <p:nvSpPr>
              <p:cNvPr id="353" name="Shape 307"/>
              <p:cNvSpPr/>
              <p:nvPr/>
            </p:nvSpPr>
            <p:spPr>
              <a:xfrm>
                <a:off x="0" y="15783"/>
                <a:ext cx="520961" cy="58420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4" name="Shape 308"/>
              <p:cNvSpPr txBox="1"/>
              <p:nvPr/>
            </p:nvSpPr>
            <p:spPr>
              <a:xfrm>
                <a:off x="1336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  <p:grpSp>
        <p:nvGrpSpPr>
          <p:cNvPr id="378" name="Group 332"/>
          <p:cNvGrpSpPr/>
          <p:nvPr/>
        </p:nvGrpSpPr>
        <p:grpSpPr>
          <a:xfrm>
            <a:off x="7408333" y="2196804"/>
            <a:ext cx="3994011" cy="2601837"/>
            <a:chOff x="0" y="0"/>
            <a:chExt cx="3994010" cy="2601836"/>
          </a:xfrm>
        </p:grpSpPr>
        <p:sp>
          <p:nvSpPr>
            <p:cNvPr id="357" name="Shape 311"/>
            <p:cNvSpPr/>
            <p:nvPr/>
          </p:nvSpPr>
          <p:spPr>
            <a:xfrm flipH="1">
              <a:off x="260478" y="268708"/>
              <a:ext cx="1476049" cy="74332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8" name="Shape 312"/>
            <p:cNvSpPr/>
            <p:nvPr/>
          </p:nvSpPr>
          <p:spPr>
            <a:xfrm>
              <a:off x="434131" y="1507573"/>
              <a:ext cx="520960" cy="74332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9" name="Shape 313"/>
            <p:cNvSpPr/>
            <p:nvPr/>
          </p:nvSpPr>
          <p:spPr>
            <a:xfrm>
              <a:off x="1476046" y="2250892"/>
              <a:ext cx="1041918" cy="2260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0" name="Shape 314"/>
            <p:cNvSpPr/>
            <p:nvPr/>
          </p:nvSpPr>
          <p:spPr>
            <a:xfrm>
              <a:off x="2257483" y="268708"/>
              <a:ext cx="1389222" cy="74332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1" name="Shape 315"/>
            <p:cNvSpPr/>
            <p:nvPr/>
          </p:nvSpPr>
          <p:spPr>
            <a:xfrm flipH="1" flipV="1">
              <a:off x="520958" y="1259800"/>
              <a:ext cx="1997006" cy="825912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2" name="Shape 316"/>
            <p:cNvSpPr/>
            <p:nvPr/>
          </p:nvSpPr>
          <p:spPr>
            <a:xfrm flipH="1">
              <a:off x="1215567" y="1259800"/>
              <a:ext cx="2257485" cy="74332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65" name="Group 319"/>
            <p:cNvGrpSpPr/>
            <p:nvPr/>
          </p:nvGrpSpPr>
          <p:grpSpPr>
            <a:xfrm>
              <a:off x="1736525" y="-1"/>
              <a:ext cx="520961" cy="614500"/>
              <a:chOff x="0" y="0"/>
              <a:chExt cx="520960" cy="614498"/>
            </a:xfrm>
          </p:grpSpPr>
          <p:sp>
            <p:nvSpPr>
              <p:cNvPr id="363" name="Shape 317"/>
              <p:cNvSpPr/>
              <p:nvPr/>
            </p:nvSpPr>
            <p:spPr>
              <a:xfrm>
                <a:off x="0" y="20935"/>
                <a:ext cx="520961" cy="58420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4" name="Shape 318"/>
              <p:cNvSpPr txBox="1"/>
              <p:nvPr/>
            </p:nvSpPr>
            <p:spPr>
              <a:xfrm>
                <a:off x="13361" y="-1"/>
                <a:ext cx="494235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368" name="Group 322"/>
            <p:cNvGrpSpPr/>
            <p:nvPr/>
          </p:nvGrpSpPr>
          <p:grpSpPr>
            <a:xfrm>
              <a:off x="0" y="996244"/>
              <a:ext cx="520961" cy="614500"/>
              <a:chOff x="0" y="0"/>
              <a:chExt cx="520960" cy="614498"/>
            </a:xfrm>
          </p:grpSpPr>
          <p:sp>
            <p:nvSpPr>
              <p:cNvPr id="366" name="Shape 320"/>
              <p:cNvSpPr/>
              <p:nvPr/>
            </p:nvSpPr>
            <p:spPr>
              <a:xfrm>
                <a:off x="0" y="15782"/>
                <a:ext cx="520961" cy="58420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7" name="Shape 321"/>
              <p:cNvSpPr txBox="1"/>
              <p:nvPr/>
            </p:nvSpPr>
            <p:spPr>
              <a:xfrm>
                <a:off x="2667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71" name="Group 325"/>
            <p:cNvGrpSpPr/>
            <p:nvPr/>
          </p:nvGrpSpPr>
          <p:grpSpPr>
            <a:xfrm>
              <a:off x="3473050" y="996244"/>
              <a:ext cx="520961" cy="614500"/>
              <a:chOff x="0" y="0"/>
              <a:chExt cx="520960" cy="614498"/>
            </a:xfrm>
          </p:grpSpPr>
          <p:sp>
            <p:nvSpPr>
              <p:cNvPr id="369" name="Shape 323"/>
              <p:cNvSpPr/>
              <p:nvPr/>
            </p:nvSpPr>
            <p:spPr>
              <a:xfrm>
                <a:off x="0" y="15782"/>
                <a:ext cx="520961" cy="58420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0" name="Shape 324"/>
              <p:cNvSpPr txBox="1"/>
              <p:nvPr/>
            </p:nvSpPr>
            <p:spPr>
              <a:xfrm>
                <a:off x="2667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374" name="Group 328"/>
            <p:cNvGrpSpPr/>
            <p:nvPr/>
          </p:nvGrpSpPr>
          <p:grpSpPr>
            <a:xfrm>
              <a:off x="955089" y="1987337"/>
              <a:ext cx="520961" cy="614500"/>
              <a:chOff x="0" y="0"/>
              <a:chExt cx="520960" cy="614498"/>
            </a:xfrm>
          </p:grpSpPr>
          <p:sp>
            <p:nvSpPr>
              <p:cNvPr id="372" name="Shape 326"/>
              <p:cNvSpPr/>
              <p:nvPr/>
            </p:nvSpPr>
            <p:spPr>
              <a:xfrm>
                <a:off x="0" y="15783"/>
                <a:ext cx="520961" cy="58420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3" name="Shape 327"/>
              <p:cNvSpPr txBox="1"/>
              <p:nvPr/>
            </p:nvSpPr>
            <p:spPr>
              <a:xfrm>
                <a:off x="7601" y="-1"/>
                <a:ext cx="494235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77" name="Group 331"/>
            <p:cNvGrpSpPr/>
            <p:nvPr/>
          </p:nvGrpSpPr>
          <p:grpSpPr>
            <a:xfrm>
              <a:off x="2517961" y="1987337"/>
              <a:ext cx="520961" cy="614500"/>
              <a:chOff x="0" y="0"/>
              <a:chExt cx="520960" cy="614498"/>
            </a:xfrm>
          </p:grpSpPr>
          <p:sp>
            <p:nvSpPr>
              <p:cNvPr id="375" name="Shape 329"/>
              <p:cNvSpPr/>
              <p:nvPr/>
            </p:nvSpPr>
            <p:spPr>
              <a:xfrm>
                <a:off x="0" y="15783"/>
                <a:ext cx="520961" cy="58420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76" name="Shape 330"/>
              <p:cNvSpPr txBox="1"/>
              <p:nvPr/>
            </p:nvSpPr>
            <p:spPr>
              <a:xfrm>
                <a:off x="13361" y="-1"/>
                <a:ext cx="494235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roup 359"/>
          <p:cNvGrpSpPr/>
          <p:nvPr/>
        </p:nvGrpSpPr>
        <p:grpSpPr>
          <a:xfrm>
            <a:off x="838200" y="2495761"/>
            <a:ext cx="4201727" cy="3150871"/>
            <a:chOff x="0" y="0"/>
            <a:chExt cx="4201726" cy="3150870"/>
          </a:xfrm>
        </p:grpSpPr>
        <p:grpSp>
          <p:nvGrpSpPr>
            <p:cNvPr id="382" name="Group 336"/>
            <p:cNvGrpSpPr/>
            <p:nvPr/>
          </p:nvGrpSpPr>
          <p:grpSpPr>
            <a:xfrm>
              <a:off x="1331194" y="106504"/>
              <a:ext cx="498853" cy="614500"/>
              <a:chOff x="0" y="0"/>
              <a:chExt cx="498852" cy="614498"/>
            </a:xfrm>
          </p:grpSpPr>
          <p:sp>
            <p:nvSpPr>
              <p:cNvPr id="380" name="Shape 334"/>
              <p:cNvSpPr/>
              <p:nvPr/>
            </p:nvSpPr>
            <p:spPr>
              <a:xfrm>
                <a:off x="-1" y="24785"/>
                <a:ext cx="498853" cy="560137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1" name="Shape 335"/>
              <p:cNvSpPr txBox="1"/>
              <p:nvPr/>
            </p:nvSpPr>
            <p:spPr>
              <a:xfrm>
                <a:off x="15620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85" name="Group 339"/>
            <p:cNvGrpSpPr/>
            <p:nvPr/>
          </p:nvGrpSpPr>
          <p:grpSpPr>
            <a:xfrm>
              <a:off x="0" y="1408219"/>
              <a:ext cx="501057" cy="614500"/>
              <a:chOff x="0" y="0"/>
              <a:chExt cx="501056" cy="614498"/>
            </a:xfrm>
          </p:grpSpPr>
          <p:sp>
            <p:nvSpPr>
              <p:cNvPr id="383" name="Shape 337"/>
              <p:cNvSpPr/>
              <p:nvPr/>
            </p:nvSpPr>
            <p:spPr>
              <a:xfrm>
                <a:off x="-1" y="36618"/>
                <a:ext cx="498852" cy="536469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4" name="Shape 338"/>
              <p:cNvSpPr txBox="1"/>
              <p:nvPr/>
            </p:nvSpPr>
            <p:spPr>
              <a:xfrm>
                <a:off x="6822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386" name="Shape 340"/>
            <p:cNvSpPr/>
            <p:nvPr/>
          </p:nvSpPr>
          <p:spPr>
            <a:xfrm>
              <a:off x="443158" y="1839296"/>
              <a:ext cx="2730767" cy="984177"/>
            </a:xfrm>
            <a:prstGeom prst="line">
              <a:avLst/>
            </a:prstGeom>
            <a:noFill/>
            <a:ln w="1905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7" name="Shape 341"/>
            <p:cNvSpPr/>
            <p:nvPr/>
          </p:nvSpPr>
          <p:spPr>
            <a:xfrm>
              <a:off x="3290034" y="486302"/>
              <a:ext cx="825683" cy="1230714"/>
            </a:xfrm>
            <a:prstGeom prst="line">
              <a:avLst/>
            </a:prstGeom>
            <a:noFill/>
            <a:ln w="1905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90" name="Group 344"/>
            <p:cNvGrpSpPr/>
            <p:nvPr/>
          </p:nvGrpSpPr>
          <p:grpSpPr>
            <a:xfrm>
              <a:off x="2864294" y="0"/>
              <a:ext cx="498851" cy="614499"/>
              <a:chOff x="0" y="0"/>
              <a:chExt cx="498850" cy="614498"/>
            </a:xfrm>
          </p:grpSpPr>
          <p:sp>
            <p:nvSpPr>
              <p:cNvPr id="388" name="Shape 342"/>
              <p:cNvSpPr/>
              <p:nvPr/>
            </p:nvSpPr>
            <p:spPr>
              <a:xfrm>
                <a:off x="-1" y="36619"/>
                <a:ext cx="498852" cy="536467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89" name="Shape 343"/>
              <p:cNvSpPr txBox="1"/>
              <p:nvPr/>
            </p:nvSpPr>
            <p:spPr>
              <a:xfrm>
                <a:off x="2305" y="0"/>
                <a:ext cx="49423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93" name="Group 347"/>
            <p:cNvGrpSpPr/>
            <p:nvPr/>
          </p:nvGrpSpPr>
          <p:grpSpPr>
            <a:xfrm>
              <a:off x="3702876" y="1585725"/>
              <a:ext cx="498851" cy="614500"/>
              <a:chOff x="0" y="0"/>
              <a:chExt cx="498850" cy="614498"/>
            </a:xfrm>
          </p:grpSpPr>
          <p:sp>
            <p:nvSpPr>
              <p:cNvPr id="391" name="Shape 345"/>
              <p:cNvSpPr/>
              <p:nvPr/>
            </p:nvSpPr>
            <p:spPr>
              <a:xfrm>
                <a:off x="-1" y="36618"/>
                <a:ext cx="498852" cy="536469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2" name="Shape 346"/>
              <p:cNvSpPr txBox="1"/>
              <p:nvPr/>
            </p:nvSpPr>
            <p:spPr>
              <a:xfrm>
                <a:off x="2305" y="0"/>
                <a:ext cx="49423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396" name="Group 350"/>
            <p:cNvGrpSpPr/>
            <p:nvPr/>
          </p:nvGrpSpPr>
          <p:grpSpPr>
            <a:xfrm>
              <a:off x="980710" y="2524538"/>
              <a:ext cx="498853" cy="614500"/>
              <a:chOff x="0" y="0"/>
              <a:chExt cx="498852" cy="614498"/>
            </a:xfrm>
          </p:grpSpPr>
          <p:sp>
            <p:nvSpPr>
              <p:cNvPr id="394" name="Shape 348"/>
              <p:cNvSpPr/>
              <p:nvPr/>
            </p:nvSpPr>
            <p:spPr>
              <a:xfrm>
                <a:off x="-1" y="36618"/>
                <a:ext cx="498853" cy="536467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5" name="Shape 349"/>
              <p:cNvSpPr txBox="1"/>
              <p:nvPr/>
            </p:nvSpPr>
            <p:spPr>
              <a:xfrm>
                <a:off x="29170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399" name="Group 353"/>
            <p:cNvGrpSpPr/>
            <p:nvPr/>
          </p:nvGrpSpPr>
          <p:grpSpPr>
            <a:xfrm>
              <a:off x="3173925" y="2536371"/>
              <a:ext cx="498853" cy="614500"/>
              <a:chOff x="0" y="0"/>
              <a:chExt cx="498852" cy="614498"/>
            </a:xfrm>
          </p:grpSpPr>
          <p:sp>
            <p:nvSpPr>
              <p:cNvPr id="397" name="Shape 351"/>
              <p:cNvSpPr/>
              <p:nvPr/>
            </p:nvSpPr>
            <p:spPr>
              <a:xfrm>
                <a:off x="-1" y="36618"/>
                <a:ext cx="498853" cy="536469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8" name="Shape 352"/>
              <p:cNvSpPr txBox="1"/>
              <p:nvPr/>
            </p:nvSpPr>
            <p:spPr>
              <a:xfrm>
                <a:off x="15619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400" name="Shape 354"/>
            <p:cNvSpPr/>
            <p:nvPr/>
          </p:nvSpPr>
          <p:spPr>
            <a:xfrm flipH="1">
              <a:off x="398004" y="622390"/>
              <a:ext cx="976197" cy="895424"/>
            </a:xfrm>
            <a:prstGeom prst="line">
              <a:avLst/>
            </a:prstGeom>
            <a:noFill/>
            <a:ln w="190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1" name="Shape 355"/>
            <p:cNvSpPr/>
            <p:nvPr/>
          </p:nvSpPr>
          <p:spPr>
            <a:xfrm flipH="1">
              <a:off x="1281740" y="711143"/>
              <a:ext cx="292430" cy="1879600"/>
            </a:xfrm>
            <a:prstGeom prst="line">
              <a:avLst/>
            </a:prstGeom>
            <a:noFill/>
            <a:ln w="190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2" name="Shape 356"/>
            <p:cNvSpPr/>
            <p:nvPr/>
          </p:nvSpPr>
          <p:spPr>
            <a:xfrm flipH="1">
              <a:off x="1380650" y="531664"/>
              <a:ext cx="1657813" cy="2057402"/>
            </a:xfrm>
            <a:prstGeom prst="line">
              <a:avLst/>
            </a:prstGeom>
            <a:noFill/>
            <a:ln w="190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3" name="Shape 357"/>
            <p:cNvSpPr/>
            <p:nvPr/>
          </p:nvSpPr>
          <p:spPr>
            <a:xfrm flipV="1">
              <a:off x="1477408" y="2054276"/>
              <a:ext cx="2242670" cy="713973"/>
            </a:xfrm>
            <a:prstGeom prst="line">
              <a:avLst/>
            </a:prstGeom>
            <a:noFill/>
            <a:ln w="190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4" name="Shape 358"/>
            <p:cNvSpPr/>
            <p:nvPr/>
          </p:nvSpPr>
          <p:spPr>
            <a:xfrm>
              <a:off x="1789190" y="549415"/>
              <a:ext cx="1464294" cy="2057402"/>
            </a:xfrm>
            <a:prstGeom prst="line">
              <a:avLst/>
            </a:prstGeom>
            <a:noFill/>
            <a:ln w="190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430" name="Group 384"/>
          <p:cNvGrpSpPr/>
          <p:nvPr/>
        </p:nvGrpSpPr>
        <p:grpSpPr>
          <a:xfrm>
            <a:off x="7141603" y="2650440"/>
            <a:ext cx="3931980" cy="2841513"/>
            <a:chOff x="0" y="0"/>
            <a:chExt cx="3931978" cy="2841511"/>
          </a:xfrm>
        </p:grpSpPr>
        <p:grpSp>
          <p:nvGrpSpPr>
            <p:cNvPr id="408" name="Group 362"/>
            <p:cNvGrpSpPr/>
            <p:nvPr/>
          </p:nvGrpSpPr>
          <p:grpSpPr>
            <a:xfrm>
              <a:off x="1246504" y="93513"/>
              <a:ext cx="467607" cy="614499"/>
              <a:chOff x="0" y="0"/>
              <a:chExt cx="467606" cy="614498"/>
            </a:xfrm>
          </p:grpSpPr>
          <p:sp>
            <p:nvSpPr>
              <p:cNvPr id="406" name="Shape 360"/>
              <p:cNvSpPr/>
              <p:nvPr/>
            </p:nvSpPr>
            <p:spPr>
              <a:xfrm>
                <a:off x="1955" y="58945"/>
                <a:ext cx="463701" cy="491817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7" name="Shape 361"/>
              <p:cNvSpPr txBox="1"/>
              <p:nvPr/>
            </p:nvSpPr>
            <p:spPr>
              <a:xfrm>
                <a:off x="0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411" name="Group 365"/>
            <p:cNvGrpSpPr/>
            <p:nvPr/>
          </p:nvGrpSpPr>
          <p:grpSpPr>
            <a:xfrm>
              <a:off x="-1" y="1236459"/>
              <a:ext cx="494236" cy="614500"/>
              <a:chOff x="0" y="0"/>
              <a:chExt cx="494234" cy="614498"/>
            </a:xfrm>
          </p:grpSpPr>
          <p:sp>
            <p:nvSpPr>
              <p:cNvPr id="409" name="Shape 363"/>
              <p:cNvSpPr/>
              <p:nvPr/>
            </p:nvSpPr>
            <p:spPr>
              <a:xfrm>
                <a:off x="15268" y="69335"/>
                <a:ext cx="463699" cy="471035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0" name="Shape 364"/>
              <p:cNvSpPr txBox="1"/>
              <p:nvPr/>
            </p:nvSpPr>
            <p:spPr>
              <a:xfrm>
                <a:off x="-1" y="0"/>
                <a:ext cx="49423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414" name="Group 368"/>
            <p:cNvGrpSpPr/>
            <p:nvPr/>
          </p:nvGrpSpPr>
          <p:grpSpPr>
            <a:xfrm>
              <a:off x="2658254" y="0"/>
              <a:ext cx="494235" cy="614499"/>
              <a:chOff x="0" y="0"/>
              <a:chExt cx="494234" cy="614498"/>
            </a:xfrm>
          </p:grpSpPr>
          <p:sp>
            <p:nvSpPr>
              <p:cNvPr id="412" name="Shape 366"/>
              <p:cNvSpPr/>
              <p:nvPr/>
            </p:nvSpPr>
            <p:spPr>
              <a:xfrm>
                <a:off x="15269" y="69335"/>
                <a:ext cx="463701" cy="471035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3" name="Shape 367"/>
              <p:cNvSpPr txBox="1"/>
              <p:nvPr/>
            </p:nvSpPr>
            <p:spPr>
              <a:xfrm>
                <a:off x="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417" name="Group 371"/>
            <p:cNvGrpSpPr/>
            <p:nvPr/>
          </p:nvGrpSpPr>
          <p:grpSpPr>
            <a:xfrm>
              <a:off x="3437744" y="1397704"/>
              <a:ext cx="494235" cy="614500"/>
              <a:chOff x="0" y="0"/>
              <a:chExt cx="494234" cy="614498"/>
            </a:xfrm>
          </p:grpSpPr>
          <p:sp>
            <p:nvSpPr>
              <p:cNvPr id="415" name="Shape 369"/>
              <p:cNvSpPr/>
              <p:nvPr/>
            </p:nvSpPr>
            <p:spPr>
              <a:xfrm>
                <a:off x="15270" y="63947"/>
                <a:ext cx="463701" cy="471035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6" name="Shape 370"/>
              <p:cNvSpPr txBox="1"/>
              <p:nvPr/>
            </p:nvSpPr>
            <p:spPr>
              <a:xfrm>
                <a:off x="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420" name="Group 374"/>
            <p:cNvGrpSpPr/>
            <p:nvPr/>
          </p:nvGrpSpPr>
          <p:grpSpPr>
            <a:xfrm>
              <a:off x="922673" y="2216622"/>
              <a:ext cx="463699" cy="614500"/>
              <a:chOff x="0" y="0"/>
              <a:chExt cx="463698" cy="614498"/>
            </a:xfrm>
          </p:grpSpPr>
          <p:sp>
            <p:nvSpPr>
              <p:cNvPr id="418" name="Shape 372"/>
              <p:cNvSpPr/>
              <p:nvPr/>
            </p:nvSpPr>
            <p:spPr>
              <a:xfrm>
                <a:off x="-1" y="69335"/>
                <a:ext cx="463699" cy="471035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9" name="Shape 373"/>
              <p:cNvSpPr txBox="1"/>
              <p:nvPr/>
            </p:nvSpPr>
            <p:spPr>
              <a:xfrm>
                <a:off x="11593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423" name="Group 377"/>
            <p:cNvGrpSpPr/>
            <p:nvPr/>
          </p:nvGrpSpPr>
          <p:grpSpPr>
            <a:xfrm>
              <a:off x="2959379" y="2227012"/>
              <a:ext cx="467608" cy="614500"/>
              <a:chOff x="0" y="0"/>
              <a:chExt cx="467606" cy="614498"/>
            </a:xfrm>
          </p:grpSpPr>
          <p:sp>
            <p:nvSpPr>
              <p:cNvPr id="421" name="Shape 375"/>
              <p:cNvSpPr/>
              <p:nvPr/>
            </p:nvSpPr>
            <p:spPr>
              <a:xfrm>
                <a:off x="1956" y="69335"/>
                <a:ext cx="463701" cy="471035"/>
              </a:xfrm>
              <a:prstGeom prst="ellipse">
                <a:avLst/>
              </a:prstGeom>
              <a:solidFill>
                <a:srgbClr val="A7E1FF"/>
              </a:solidFill>
              <a:ln w="28575" cap="sq">
                <a:solidFill>
                  <a:srgbClr val="0000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2" name="Shape 376"/>
              <p:cNvSpPr txBox="1"/>
              <p:nvPr/>
            </p:nvSpPr>
            <p:spPr>
              <a:xfrm>
                <a:off x="0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424" name="Shape 378"/>
            <p:cNvSpPr/>
            <p:nvPr/>
          </p:nvSpPr>
          <p:spPr>
            <a:xfrm flipH="1">
              <a:off x="1294429" y="504000"/>
              <a:ext cx="1540991" cy="1807934"/>
            </a:xfrm>
            <a:prstGeom prst="line">
              <a:avLst/>
            </a:prstGeom>
            <a:noFill/>
            <a:ln w="19050" cap="flat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5" name="Shape 379"/>
            <p:cNvSpPr/>
            <p:nvPr/>
          </p:nvSpPr>
          <p:spPr>
            <a:xfrm flipH="1">
              <a:off x="437824" y="580775"/>
              <a:ext cx="907407" cy="786210"/>
            </a:xfrm>
            <a:prstGeom prst="line">
              <a:avLst/>
            </a:prstGeom>
            <a:noFill/>
            <a:ln w="38100" cap="flat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6" name="Shape 380"/>
            <p:cNvSpPr/>
            <p:nvPr/>
          </p:nvSpPr>
          <p:spPr>
            <a:xfrm flipH="1">
              <a:off x="1209776" y="619449"/>
              <a:ext cx="271824" cy="1650346"/>
            </a:xfrm>
            <a:prstGeom prst="line">
              <a:avLst/>
            </a:prstGeom>
            <a:noFill/>
            <a:ln w="38100" cap="flat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7" name="Shape 381"/>
            <p:cNvSpPr/>
            <p:nvPr/>
          </p:nvSpPr>
          <p:spPr>
            <a:xfrm>
              <a:off x="1704868" y="491300"/>
              <a:ext cx="1361109" cy="1807934"/>
            </a:xfrm>
            <a:prstGeom prst="line">
              <a:avLst/>
            </a:prstGeom>
            <a:noFill/>
            <a:ln w="38100" cap="flat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8" name="Shape 382"/>
            <p:cNvSpPr/>
            <p:nvPr/>
          </p:nvSpPr>
          <p:spPr>
            <a:xfrm flipH="1">
              <a:off x="1294429" y="523050"/>
              <a:ext cx="1540991" cy="1807934"/>
            </a:xfrm>
            <a:prstGeom prst="line">
              <a:avLst/>
            </a:prstGeom>
            <a:noFill/>
            <a:ln w="38100" cap="flat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9" name="Shape 383"/>
            <p:cNvSpPr/>
            <p:nvPr/>
          </p:nvSpPr>
          <p:spPr>
            <a:xfrm flipV="1">
              <a:off x="1364259" y="1746229"/>
              <a:ext cx="2084634" cy="626890"/>
            </a:xfrm>
            <a:prstGeom prst="line">
              <a:avLst/>
            </a:prstGeom>
            <a:noFill/>
            <a:ln w="38100" cap="flat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431" name="Shape 385"/>
          <p:cNvSpPr txBox="1"/>
          <p:nvPr/>
        </p:nvSpPr>
        <p:spPr>
          <a:xfrm>
            <a:off x="2108764" y="80997"/>
            <a:ext cx="7924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生成树(spanning tree)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17"/>
          <p:cNvSpPr txBox="1"/>
          <p:nvPr/>
        </p:nvSpPr>
        <p:spPr>
          <a:xfrm>
            <a:off x="2108764" y="68297"/>
            <a:ext cx="7924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多对多的关系</a:t>
            </a:r>
          </a:p>
        </p:txBody>
      </p:sp>
      <p:grpSp>
        <p:nvGrpSpPr>
          <p:cNvPr id="437" name="成组"/>
          <p:cNvGrpSpPr/>
          <p:nvPr/>
        </p:nvGrpSpPr>
        <p:grpSpPr>
          <a:xfrm>
            <a:off x="2592109" y="1646175"/>
            <a:ext cx="675415" cy="2773375"/>
            <a:chOff x="0" y="0"/>
            <a:chExt cx="675413" cy="2773373"/>
          </a:xfrm>
        </p:grpSpPr>
        <p:sp>
          <p:nvSpPr>
            <p:cNvPr id="434" name="椭圆形"/>
            <p:cNvSpPr/>
            <p:nvPr/>
          </p:nvSpPr>
          <p:spPr>
            <a:xfrm>
              <a:off x="0" y="1070121"/>
              <a:ext cx="675414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5" name="线条"/>
            <p:cNvSpPr/>
            <p:nvPr/>
          </p:nvSpPr>
          <p:spPr>
            <a:xfrm flipH="1">
              <a:off x="337706" y="0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6" name="线条"/>
            <p:cNvSpPr/>
            <p:nvPr/>
          </p:nvSpPr>
          <p:spPr>
            <a:xfrm flipH="1">
              <a:off x="337706" y="1731972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443" name="成组"/>
          <p:cNvGrpSpPr/>
          <p:nvPr/>
        </p:nvGrpSpPr>
        <p:grpSpPr>
          <a:xfrm>
            <a:off x="5754728" y="1623913"/>
            <a:ext cx="1624429" cy="2773374"/>
            <a:chOff x="0" y="0"/>
            <a:chExt cx="1624428" cy="2773373"/>
          </a:xfrm>
        </p:grpSpPr>
        <p:sp>
          <p:nvSpPr>
            <p:cNvPr id="438" name="椭圆形"/>
            <p:cNvSpPr/>
            <p:nvPr/>
          </p:nvSpPr>
          <p:spPr>
            <a:xfrm>
              <a:off x="496325" y="1070122"/>
              <a:ext cx="675415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39" name="线条"/>
            <p:cNvSpPr/>
            <p:nvPr/>
          </p:nvSpPr>
          <p:spPr>
            <a:xfrm flipH="1">
              <a:off x="834032" y="0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0" name="线条"/>
            <p:cNvSpPr/>
            <p:nvPr/>
          </p:nvSpPr>
          <p:spPr>
            <a:xfrm flipH="1">
              <a:off x="834032" y="1731972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1" name="线条"/>
            <p:cNvSpPr/>
            <p:nvPr/>
          </p:nvSpPr>
          <p:spPr>
            <a:xfrm flipH="1">
              <a:off x="0" y="1548020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2" name="线条"/>
            <p:cNvSpPr/>
            <p:nvPr/>
          </p:nvSpPr>
          <p:spPr>
            <a:xfrm>
              <a:off x="1104572" y="1588786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451" name="成组"/>
          <p:cNvGrpSpPr/>
          <p:nvPr/>
        </p:nvGrpSpPr>
        <p:grpSpPr>
          <a:xfrm>
            <a:off x="9181582" y="1606166"/>
            <a:ext cx="1624430" cy="2808867"/>
            <a:chOff x="0" y="0"/>
            <a:chExt cx="1624428" cy="2808865"/>
          </a:xfrm>
        </p:grpSpPr>
        <p:sp>
          <p:nvSpPr>
            <p:cNvPr id="444" name="椭圆形"/>
            <p:cNvSpPr/>
            <p:nvPr/>
          </p:nvSpPr>
          <p:spPr>
            <a:xfrm>
              <a:off x="496325" y="1105614"/>
              <a:ext cx="675415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5" name="线条"/>
            <p:cNvSpPr/>
            <p:nvPr/>
          </p:nvSpPr>
          <p:spPr>
            <a:xfrm flipH="1">
              <a:off x="834032" y="48192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6" name="线条"/>
            <p:cNvSpPr/>
            <p:nvPr/>
          </p:nvSpPr>
          <p:spPr>
            <a:xfrm flipH="1">
              <a:off x="834031" y="1767464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7" name="线条"/>
            <p:cNvSpPr/>
            <p:nvPr/>
          </p:nvSpPr>
          <p:spPr>
            <a:xfrm flipH="1">
              <a:off x="0" y="1583512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8" name="线条"/>
            <p:cNvSpPr/>
            <p:nvPr/>
          </p:nvSpPr>
          <p:spPr>
            <a:xfrm>
              <a:off x="1104572" y="1624278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9" name="线条"/>
            <p:cNvSpPr/>
            <p:nvPr/>
          </p:nvSpPr>
          <p:spPr>
            <a:xfrm>
              <a:off x="249932" y="0"/>
              <a:ext cx="519857" cy="111483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0" name="线条"/>
            <p:cNvSpPr/>
            <p:nvPr/>
          </p:nvSpPr>
          <p:spPr>
            <a:xfrm flipH="1">
              <a:off x="898052" y="4471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452" name="线性表:一对一"/>
          <p:cNvSpPr txBox="1"/>
          <p:nvPr/>
        </p:nvSpPr>
        <p:spPr>
          <a:xfrm>
            <a:off x="1645938" y="4813300"/>
            <a:ext cx="2563954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线性表:一对一</a:t>
            </a:r>
          </a:p>
        </p:txBody>
      </p:sp>
      <p:sp>
        <p:nvSpPr>
          <p:cNvPr id="453" name="树:一对多"/>
          <p:cNvSpPr txBox="1"/>
          <p:nvPr/>
        </p:nvSpPr>
        <p:spPr>
          <a:xfrm>
            <a:off x="5678666" y="4813300"/>
            <a:ext cx="1801954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树:一对多</a:t>
            </a:r>
          </a:p>
        </p:txBody>
      </p:sp>
      <p:sp>
        <p:nvSpPr>
          <p:cNvPr id="454" name="图:多对多"/>
          <p:cNvSpPr txBox="1"/>
          <p:nvPr/>
        </p:nvSpPr>
        <p:spPr>
          <a:xfrm>
            <a:off x="9143620" y="4813300"/>
            <a:ext cx="1801954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图:多对多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23"/>
          <p:cNvSpPr txBox="1"/>
          <p:nvPr/>
        </p:nvSpPr>
        <p:spPr>
          <a:xfrm>
            <a:off x="1803964" y="93133"/>
            <a:ext cx="85725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图的基本内容</a:t>
            </a:r>
          </a:p>
        </p:txBody>
      </p:sp>
      <p:sp>
        <p:nvSpPr>
          <p:cNvPr id="457" name="本章的主要内容：…"/>
          <p:cNvSpPr txBox="1"/>
          <p:nvPr/>
        </p:nvSpPr>
        <p:spPr>
          <a:xfrm>
            <a:off x="1082028" y="1630671"/>
            <a:ext cx="5749091" cy="383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本章的主要内容：</a:t>
            </a:r>
          </a:p>
          <a:p>
            <a:pPr lvl="1" marL="681789" indent="-300789">
              <a:buSzPct val="60000"/>
              <a:buBlip>
                <a:blip r:embed="rId2"/>
              </a:buBlip>
            </a:pPr>
            <a:r>
              <a:t>图的存储</a:t>
            </a:r>
          </a:p>
          <a:p>
            <a:pPr lvl="1" marL="681789" indent="-300789">
              <a:buSzPct val="60000"/>
              <a:buBlip>
                <a:blip r:embed="rId2"/>
              </a:buBlip>
            </a:pPr>
            <a:r>
              <a:t>图的遍历及应用</a:t>
            </a:r>
          </a:p>
          <a:p>
            <a:pPr lvl="1" marL="681789" indent="-300789">
              <a:buSzPct val="60000"/>
              <a:buBlip>
                <a:blip r:embed="rId2"/>
              </a:buBlip>
            </a:pPr>
            <a:r>
              <a:t>有向图的拓扑排序问题</a:t>
            </a:r>
          </a:p>
          <a:p>
            <a:pPr lvl="1" marL="681789" indent="-300789">
              <a:buSzPct val="60000"/>
              <a:buBlip>
                <a:blip r:embed="rId2"/>
              </a:buBlip>
            </a:pPr>
            <a:r>
              <a:t>带权有向图的最短路径问题</a:t>
            </a:r>
          </a:p>
          <a:p>
            <a:pPr lvl="1" marL="681789" indent="-300789">
              <a:buSzPct val="60000"/>
              <a:buBlip>
                <a:blip r:embed="rId2"/>
              </a:buBlip>
            </a:pPr>
            <a:r>
              <a:t>带权无向图的最小生成树问题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23"/>
          <p:cNvSpPr txBox="1"/>
          <p:nvPr/>
        </p:nvSpPr>
        <p:spPr>
          <a:xfrm>
            <a:off x="1803964" y="93133"/>
            <a:ext cx="85725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图的存储</a:t>
            </a:r>
          </a:p>
        </p:txBody>
      </p:sp>
      <p:sp>
        <p:nvSpPr>
          <p:cNvPr id="460" name="Shape 31"/>
          <p:cNvSpPr txBox="1"/>
          <p:nvPr/>
        </p:nvSpPr>
        <p:spPr>
          <a:xfrm>
            <a:off x="332175" y="1524000"/>
            <a:ext cx="3797303" cy="542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31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G = (V, E)</a:t>
            </a:r>
          </a:p>
        </p:txBody>
      </p:sp>
      <p:sp>
        <p:nvSpPr>
          <p:cNvPr id="461" name="Shape 32"/>
          <p:cNvSpPr txBox="1"/>
          <p:nvPr/>
        </p:nvSpPr>
        <p:spPr>
          <a:xfrm>
            <a:off x="725875" y="2108200"/>
            <a:ext cx="9244908" cy="66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25000"/>
              </a:lnSpc>
              <a:spcBef>
                <a:spcPts val="1900"/>
              </a:spcBef>
              <a:defRPr sz="31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V：顶点的集合。例如，V={A, B, C, D}</a:t>
            </a:r>
          </a:p>
        </p:txBody>
      </p:sp>
      <p:sp>
        <p:nvSpPr>
          <p:cNvPr id="462" name="Shape 33"/>
          <p:cNvSpPr txBox="1"/>
          <p:nvPr/>
        </p:nvSpPr>
        <p:spPr>
          <a:xfrm>
            <a:off x="725875" y="2895600"/>
            <a:ext cx="11861803" cy="66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31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E：边的集合。例如，E={&lt;A, B&gt;, &lt;B, C&gt;, &lt;C, D&gt;, &lt;D, B&gt;, &lt;D, A&gt; }</a:t>
            </a:r>
          </a:p>
        </p:txBody>
      </p:sp>
      <p:sp>
        <p:nvSpPr>
          <p:cNvPr id="463" name="两种观点：…"/>
          <p:cNvSpPr txBox="1"/>
          <p:nvPr/>
        </p:nvSpPr>
        <p:spPr>
          <a:xfrm>
            <a:off x="84142" y="4169611"/>
            <a:ext cx="12797218" cy="193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/>
            <a:r>
              <a:t>两种观点：</a:t>
            </a:r>
          </a:p>
          <a:p>
            <a:pPr lvl="2" marL="1062789" indent="-300789">
              <a:buSzPct val="60000"/>
              <a:buBlip>
                <a:blip r:embed="rId2"/>
              </a:buBlip>
              <a:defRPr>
                <a:solidFill>
                  <a:schemeClr val="accent1"/>
                </a:solidFill>
              </a:defRPr>
            </a:pPr>
            <a:r>
              <a:t>把E视为顶点之间的关系，则存储V和V上的关系(即E)</a:t>
            </a:r>
          </a:p>
          <a:p>
            <a:pPr lvl="2" marL="1062789" indent="-300789">
              <a:buSzPct val="60000"/>
              <a:buBlip>
                <a:blip r:embed="rId2"/>
              </a:buBlip>
            </a:pPr>
            <a:r>
              <a:t>把V和E视为2个集合，则分别存储V和E，再存储V和E之间的邻接关系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25"/>
          <p:cNvSpPr txBox="1"/>
          <p:nvPr/>
        </p:nvSpPr>
        <p:spPr>
          <a:xfrm>
            <a:off x="1638864" y="93133"/>
            <a:ext cx="9743288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无向图-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邻接矩阵(adjacency matrix)</a:t>
            </a:r>
          </a:p>
        </p:txBody>
      </p:sp>
      <p:grpSp>
        <p:nvGrpSpPr>
          <p:cNvPr id="491" name="Group 451"/>
          <p:cNvGrpSpPr/>
          <p:nvPr/>
        </p:nvGrpSpPr>
        <p:grpSpPr>
          <a:xfrm>
            <a:off x="26207" y="1615391"/>
            <a:ext cx="4488467" cy="3347034"/>
            <a:chOff x="0" y="0"/>
            <a:chExt cx="4488465" cy="3347032"/>
          </a:xfrm>
        </p:grpSpPr>
        <p:grpSp>
          <p:nvGrpSpPr>
            <p:cNvPr id="468" name="Group 428"/>
            <p:cNvGrpSpPr/>
            <p:nvPr/>
          </p:nvGrpSpPr>
          <p:grpSpPr>
            <a:xfrm>
              <a:off x="1168460" y="69865"/>
              <a:ext cx="537421" cy="614500"/>
              <a:chOff x="0" y="0"/>
              <a:chExt cx="537420" cy="614498"/>
            </a:xfrm>
          </p:grpSpPr>
          <p:sp>
            <p:nvSpPr>
              <p:cNvPr id="466" name="Shape 426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7" name="Shape 427"/>
              <p:cNvSpPr txBox="1"/>
              <p:nvPr/>
            </p:nvSpPr>
            <p:spPr>
              <a:xfrm>
                <a:off x="3490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471" name="Group 431"/>
            <p:cNvGrpSpPr/>
            <p:nvPr/>
          </p:nvGrpSpPr>
          <p:grpSpPr>
            <a:xfrm>
              <a:off x="-1" y="1407668"/>
              <a:ext cx="537421" cy="614500"/>
              <a:chOff x="0" y="0"/>
              <a:chExt cx="537420" cy="614498"/>
            </a:xfrm>
          </p:grpSpPr>
          <p:sp>
            <p:nvSpPr>
              <p:cNvPr id="469" name="Shape 429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0" name="Shape 430"/>
              <p:cNvSpPr txBox="1"/>
              <p:nvPr/>
            </p:nvSpPr>
            <p:spPr>
              <a:xfrm>
                <a:off x="2159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472" name="Shape 432"/>
            <p:cNvSpPr/>
            <p:nvPr/>
          </p:nvSpPr>
          <p:spPr>
            <a:xfrm flipH="1">
              <a:off x="267772" y="429056"/>
              <a:ext cx="898818" cy="99365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3" name="Shape 433"/>
            <p:cNvSpPr/>
            <p:nvPr/>
          </p:nvSpPr>
          <p:spPr>
            <a:xfrm>
              <a:off x="1707750" y="346252"/>
              <a:ext cx="1615998" cy="240131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4" name="Shape 434"/>
            <p:cNvSpPr/>
            <p:nvPr/>
          </p:nvSpPr>
          <p:spPr>
            <a:xfrm>
              <a:off x="539289" y="1753921"/>
              <a:ext cx="2784459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5" name="Shape 435"/>
            <p:cNvSpPr/>
            <p:nvPr/>
          </p:nvSpPr>
          <p:spPr>
            <a:xfrm flipH="1">
              <a:off x="1602888" y="429055"/>
              <a:ext cx="1451215" cy="240132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6" name="Shape 436"/>
            <p:cNvSpPr/>
            <p:nvPr/>
          </p:nvSpPr>
          <p:spPr>
            <a:xfrm>
              <a:off x="3593391" y="346253"/>
              <a:ext cx="719055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7" name="Shape 437"/>
            <p:cNvSpPr/>
            <p:nvPr/>
          </p:nvSpPr>
          <p:spPr>
            <a:xfrm flipH="1">
              <a:off x="1692769" y="1753920"/>
              <a:ext cx="2350032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8" name="Shape 438"/>
            <p:cNvSpPr/>
            <p:nvPr/>
          </p:nvSpPr>
          <p:spPr>
            <a:xfrm flipH="1">
              <a:off x="1436232" y="651592"/>
              <a:ext cx="1875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481" name="Group 441"/>
            <p:cNvGrpSpPr/>
            <p:nvPr/>
          </p:nvGrpSpPr>
          <p:grpSpPr>
            <a:xfrm>
              <a:off x="3052229" y="-1"/>
              <a:ext cx="537421" cy="614500"/>
              <a:chOff x="0" y="0"/>
              <a:chExt cx="537420" cy="614498"/>
            </a:xfrm>
          </p:grpSpPr>
          <p:sp>
            <p:nvSpPr>
              <p:cNvPr id="479" name="Shape 439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0" name="Shape 440"/>
              <p:cNvSpPr txBox="1"/>
              <p:nvPr/>
            </p:nvSpPr>
            <p:spPr>
              <a:xfrm>
                <a:off x="3490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484" name="Group 444"/>
            <p:cNvGrpSpPr/>
            <p:nvPr/>
          </p:nvGrpSpPr>
          <p:grpSpPr>
            <a:xfrm>
              <a:off x="3951045" y="1324864"/>
              <a:ext cx="537421" cy="614500"/>
              <a:chOff x="0" y="0"/>
              <a:chExt cx="537420" cy="614498"/>
            </a:xfrm>
          </p:grpSpPr>
          <p:sp>
            <p:nvSpPr>
              <p:cNvPr id="482" name="Shape 442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3" name="Shape 443"/>
              <p:cNvSpPr txBox="1"/>
              <p:nvPr/>
            </p:nvSpPr>
            <p:spPr>
              <a:xfrm>
                <a:off x="2159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487" name="Group 447"/>
            <p:cNvGrpSpPr/>
            <p:nvPr/>
          </p:nvGrpSpPr>
          <p:grpSpPr>
            <a:xfrm>
              <a:off x="1164715" y="2732534"/>
              <a:ext cx="537421" cy="614499"/>
              <a:chOff x="0" y="0"/>
              <a:chExt cx="537420" cy="614498"/>
            </a:xfrm>
          </p:grpSpPr>
          <p:sp>
            <p:nvSpPr>
              <p:cNvPr id="485" name="Shape 445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6" name="Shape 446"/>
              <p:cNvSpPr txBox="1"/>
              <p:nvPr/>
            </p:nvSpPr>
            <p:spPr>
              <a:xfrm>
                <a:off x="61650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490" name="Group 450"/>
            <p:cNvGrpSpPr/>
            <p:nvPr/>
          </p:nvGrpSpPr>
          <p:grpSpPr>
            <a:xfrm>
              <a:off x="3142110" y="2649729"/>
              <a:ext cx="537421" cy="614499"/>
              <a:chOff x="0" y="0"/>
              <a:chExt cx="537420" cy="614498"/>
            </a:xfrm>
          </p:grpSpPr>
          <p:sp>
            <p:nvSpPr>
              <p:cNvPr id="488" name="Shape 448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9" name="Shape 449"/>
              <p:cNvSpPr txBox="1"/>
              <p:nvPr/>
            </p:nvSpPr>
            <p:spPr>
              <a:xfrm>
                <a:off x="48454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495" name="成组"/>
          <p:cNvGrpSpPr/>
          <p:nvPr/>
        </p:nvGrpSpPr>
        <p:grpSpPr>
          <a:xfrm>
            <a:off x="6045824" y="5199668"/>
            <a:ext cx="3490733" cy="4212193"/>
            <a:chOff x="25400" y="25400"/>
            <a:chExt cx="3490731" cy="4212191"/>
          </a:xfrm>
        </p:grpSpPr>
        <p:graphicFrame>
          <p:nvGraphicFramePr>
            <p:cNvPr id="492" name="Table 1053"/>
            <p:cNvGraphicFramePr/>
            <p:nvPr/>
          </p:nvGraphicFramePr>
          <p:xfrm>
            <a:off x="25400" y="503606"/>
            <a:ext cx="480060" cy="373398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493" name="Table 1052"/>
            <p:cNvGraphicFramePr/>
            <p:nvPr/>
          </p:nvGraphicFramePr>
          <p:xfrm>
            <a:off x="4794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8680"/>
                  <a:gridCol w="558680"/>
                  <a:gridCol w="558680"/>
                  <a:gridCol w="558680"/>
                  <a:gridCol w="558680"/>
                  <a:gridCol w="558680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494" name="表格"/>
            <p:cNvGraphicFramePr/>
            <p:nvPr/>
          </p:nvGraphicFramePr>
          <p:xfrm>
            <a:off x="506710" y="4909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  <p:grpSp>
        <p:nvGrpSpPr>
          <p:cNvPr id="499" name="成组"/>
          <p:cNvGrpSpPr/>
          <p:nvPr/>
        </p:nvGrpSpPr>
        <p:grpSpPr>
          <a:xfrm>
            <a:off x="8148338" y="959909"/>
            <a:ext cx="3490732" cy="4212193"/>
            <a:chOff x="25400" y="25400"/>
            <a:chExt cx="3490731" cy="4212191"/>
          </a:xfrm>
        </p:grpSpPr>
        <p:graphicFrame>
          <p:nvGraphicFramePr>
            <p:cNvPr id="496" name="Table 1053"/>
            <p:cNvGraphicFramePr/>
            <p:nvPr/>
          </p:nvGraphicFramePr>
          <p:xfrm>
            <a:off x="25400" y="503606"/>
            <a:ext cx="480060" cy="373398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4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5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497" name="Table 1052"/>
            <p:cNvGraphicFramePr/>
            <p:nvPr/>
          </p:nvGraphicFramePr>
          <p:xfrm>
            <a:off x="4794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8680"/>
                  <a:gridCol w="558680"/>
                  <a:gridCol w="558680"/>
                  <a:gridCol w="558680"/>
                  <a:gridCol w="558680"/>
                  <a:gridCol w="558680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0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1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2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3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4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5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498" name="表格"/>
            <p:cNvGraphicFramePr/>
            <p:nvPr/>
          </p:nvGraphicFramePr>
          <p:xfrm>
            <a:off x="506710" y="4909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  <p:grpSp>
        <p:nvGrpSpPr>
          <p:cNvPr id="518" name="成组"/>
          <p:cNvGrpSpPr/>
          <p:nvPr/>
        </p:nvGrpSpPr>
        <p:grpSpPr>
          <a:xfrm>
            <a:off x="4864863" y="1253348"/>
            <a:ext cx="1465776" cy="4199471"/>
            <a:chOff x="0" y="0"/>
            <a:chExt cx="1465774" cy="4199470"/>
          </a:xfrm>
        </p:grpSpPr>
        <p:sp>
          <p:nvSpPr>
            <p:cNvPr id="500" name="Shape 753"/>
            <p:cNvSpPr/>
            <p:nvPr/>
          </p:nvSpPr>
          <p:spPr>
            <a:xfrm>
              <a:off x="438854" y="0"/>
              <a:ext cx="1026921" cy="419947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1" name="Shape 754"/>
            <p:cNvSpPr/>
            <p:nvPr/>
          </p:nvSpPr>
          <p:spPr>
            <a:xfrm>
              <a:off x="438855" y="715715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2" name="Shape 755"/>
            <p:cNvSpPr/>
            <p:nvPr/>
          </p:nvSpPr>
          <p:spPr>
            <a:xfrm>
              <a:off x="438855" y="1433689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3" name="Shape 756"/>
            <p:cNvSpPr/>
            <p:nvPr/>
          </p:nvSpPr>
          <p:spPr>
            <a:xfrm>
              <a:off x="438855" y="2149406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4" name="Shape 757"/>
            <p:cNvSpPr/>
            <p:nvPr/>
          </p:nvSpPr>
          <p:spPr>
            <a:xfrm>
              <a:off x="438855" y="2867379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5" name="Shape 758"/>
            <p:cNvSpPr/>
            <p:nvPr/>
          </p:nvSpPr>
          <p:spPr>
            <a:xfrm>
              <a:off x="438855" y="3583096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6" name="Shape 809"/>
            <p:cNvSpPr txBox="1"/>
            <p:nvPr/>
          </p:nvSpPr>
          <p:spPr>
            <a:xfrm>
              <a:off x="0" y="1238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07" name="Shape 810"/>
            <p:cNvSpPr txBox="1"/>
            <p:nvPr/>
          </p:nvSpPr>
          <p:spPr>
            <a:xfrm>
              <a:off x="0" y="8012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08" name="Shape 811"/>
            <p:cNvSpPr txBox="1"/>
            <p:nvPr/>
          </p:nvSpPr>
          <p:spPr>
            <a:xfrm>
              <a:off x="0" y="15581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509" name="Shape 812"/>
            <p:cNvSpPr txBox="1"/>
            <p:nvPr/>
          </p:nvSpPr>
          <p:spPr>
            <a:xfrm>
              <a:off x="0" y="22275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510" name="Shape 813"/>
            <p:cNvSpPr txBox="1"/>
            <p:nvPr/>
          </p:nvSpPr>
          <p:spPr>
            <a:xfrm>
              <a:off x="0" y="2958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511" name="Shape 814"/>
            <p:cNvSpPr txBox="1"/>
            <p:nvPr/>
          </p:nvSpPr>
          <p:spPr>
            <a:xfrm>
              <a:off x="0" y="362317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512" name="Shape 815"/>
            <p:cNvSpPr txBox="1"/>
            <p:nvPr/>
          </p:nvSpPr>
          <p:spPr>
            <a:xfrm>
              <a:off x="636975" y="140263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513" name="Shape 816"/>
            <p:cNvSpPr txBox="1"/>
            <p:nvPr/>
          </p:nvSpPr>
          <p:spPr>
            <a:xfrm>
              <a:off x="636975" y="880816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514" name="Shape 817"/>
            <p:cNvSpPr txBox="1"/>
            <p:nvPr/>
          </p:nvSpPr>
          <p:spPr>
            <a:xfrm>
              <a:off x="636975" y="159878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515" name="Shape 818"/>
            <p:cNvSpPr txBox="1"/>
            <p:nvPr/>
          </p:nvSpPr>
          <p:spPr>
            <a:xfrm>
              <a:off x="636975" y="2212904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516" name="Shape 819"/>
            <p:cNvSpPr txBox="1"/>
            <p:nvPr/>
          </p:nvSpPr>
          <p:spPr>
            <a:xfrm>
              <a:off x="636975" y="303247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517" name="Shape 820"/>
            <p:cNvSpPr txBox="1"/>
            <p:nvPr/>
          </p:nvSpPr>
          <p:spPr>
            <a:xfrm>
              <a:off x="636975" y="3669455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872"/>
          <p:cNvSpPr txBox="1"/>
          <p:nvPr/>
        </p:nvSpPr>
        <p:spPr>
          <a:xfrm>
            <a:off x="1537264" y="105833"/>
            <a:ext cx="8813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无向图-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邻接表(adjacency list)</a:t>
            </a:r>
          </a:p>
        </p:txBody>
      </p:sp>
      <p:sp>
        <p:nvSpPr>
          <p:cNvPr id="521" name="邻接表：使用线性表存储邻接点"/>
          <p:cNvSpPr txBox="1"/>
          <p:nvPr/>
        </p:nvSpPr>
        <p:spPr>
          <a:xfrm>
            <a:off x="112183" y="1401356"/>
            <a:ext cx="5506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邻接表：使用线性表存储邻接点</a:t>
            </a:r>
          </a:p>
        </p:txBody>
      </p:sp>
      <p:grpSp>
        <p:nvGrpSpPr>
          <p:cNvPr id="616" name="成组"/>
          <p:cNvGrpSpPr/>
          <p:nvPr/>
        </p:nvGrpSpPr>
        <p:grpSpPr>
          <a:xfrm>
            <a:off x="7300869" y="2039275"/>
            <a:ext cx="5514625" cy="4199472"/>
            <a:chOff x="0" y="0"/>
            <a:chExt cx="5514623" cy="4199470"/>
          </a:xfrm>
        </p:grpSpPr>
        <p:sp>
          <p:nvSpPr>
            <p:cNvPr id="522" name="Shape 763"/>
            <p:cNvSpPr/>
            <p:nvPr/>
          </p:nvSpPr>
          <p:spPr>
            <a:xfrm>
              <a:off x="2257497" y="324860"/>
              <a:ext cx="841479" cy="243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3" name="Shape 765"/>
            <p:cNvSpPr/>
            <p:nvPr/>
          </p:nvSpPr>
          <p:spPr>
            <a:xfrm>
              <a:off x="2159536" y="47757"/>
              <a:ext cx="2289" cy="566360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4" name="Shape 766"/>
            <p:cNvSpPr/>
            <p:nvPr/>
          </p:nvSpPr>
          <p:spPr>
            <a:xfrm>
              <a:off x="707532" y="324860"/>
              <a:ext cx="843765" cy="243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5" name="Shape 772"/>
            <p:cNvSpPr/>
            <p:nvPr/>
          </p:nvSpPr>
          <p:spPr>
            <a:xfrm>
              <a:off x="2257494" y="1065671"/>
              <a:ext cx="842153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6" name="Shape 775"/>
            <p:cNvSpPr/>
            <p:nvPr/>
          </p:nvSpPr>
          <p:spPr>
            <a:xfrm>
              <a:off x="707529" y="1065671"/>
              <a:ext cx="844411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7" name="Shape 778"/>
            <p:cNvSpPr/>
            <p:nvPr/>
          </p:nvSpPr>
          <p:spPr>
            <a:xfrm>
              <a:off x="2257497" y="1800334"/>
              <a:ext cx="841479" cy="2423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8" name="Shape 781"/>
            <p:cNvSpPr/>
            <p:nvPr/>
          </p:nvSpPr>
          <p:spPr>
            <a:xfrm>
              <a:off x="707532" y="1800334"/>
              <a:ext cx="843765" cy="2423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9" name="Shape 787"/>
            <p:cNvSpPr/>
            <p:nvPr/>
          </p:nvSpPr>
          <p:spPr>
            <a:xfrm>
              <a:off x="2257496" y="2527454"/>
              <a:ext cx="841479" cy="2346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0" name="Shape 790"/>
            <p:cNvSpPr/>
            <p:nvPr/>
          </p:nvSpPr>
          <p:spPr>
            <a:xfrm>
              <a:off x="707530" y="2527454"/>
              <a:ext cx="843765" cy="2346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1" name="Shape 796"/>
            <p:cNvSpPr/>
            <p:nvPr/>
          </p:nvSpPr>
          <p:spPr>
            <a:xfrm>
              <a:off x="2257494" y="3213962"/>
              <a:ext cx="841479" cy="225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2" name="Shape 799"/>
            <p:cNvSpPr/>
            <p:nvPr/>
          </p:nvSpPr>
          <p:spPr>
            <a:xfrm>
              <a:off x="707529" y="3213962"/>
              <a:ext cx="843765" cy="225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3" name="Shape 805"/>
            <p:cNvSpPr/>
            <p:nvPr/>
          </p:nvSpPr>
          <p:spPr>
            <a:xfrm>
              <a:off x="2257494" y="3930792"/>
              <a:ext cx="842153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4" name="Shape 808"/>
            <p:cNvSpPr/>
            <p:nvPr/>
          </p:nvSpPr>
          <p:spPr>
            <a:xfrm>
              <a:off x="707529" y="3930792"/>
              <a:ext cx="844411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5" name="Shape 753"/>
            <p:cNvSpPr/>
            <p:nvPr/>
          </p:nvSpPr>
          <p:spPr>
            <a:xfrm>
              <a:off x="362655" y="0"/>
              <a:ext cx="715246" cy="419947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6" name="Shape 754"/>
            <p:cNvSpPr/>
            <p:nvPr/>
          </p:nvSpPr>
          <p:spPr>
            <a:xfrm>
              <a:off x="362655" y="715715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7" name="Shape 755"/>
            <p:cNvSpPr/>
            <p:nvPr/>
          </p:nvSpPr>
          <p:spPr>
            <a:xfrm>
              <a:off x="362655" y="143368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8" name="Shape 756"/>
            <p:cNvSpPr/>
            <p:nvPr/>
          </p:nvSpPr>
          <p:spPr>
            <a:xfrm>
              <a:off x="362655" y="214940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9" name="Shape 757"/>
            <p:cNvSpPr/>
            <p:nvPr/>
          </p:nvSpPr>
          <p:spPr>
            <a:xfrm>
              <a:off x="362655" y="286737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0" name="Shape 758"/>
            <p:cNvSpPr/>
            <p:nvPr/>
          </p:nvSpPr>
          <p:spPr>
            <a:xfrm>
              <a:off x="362655" y="358309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1" name="Shape 809"/>
            <p:cNvSpPr txBox="1"/>
            <p:nvPr/>
          </p:nvSpPr>
          <p:spPr>
            <a:xfrm>
              <a:off x="0" y="98495"/>
              <a:ext cx="736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42" name="Shape 810"/>
            <p:cNvSpPr txBox="1"/>
            <p:nvPr/>
          </p:nvSpPr>
          <p:spPr>
            <a:xfrm>
              <a:off x="0" y="877429"/>
              <a:ext cx="736602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43" name="Shape 811"/>
            <p:cNvSpPr txBox="1"/>
            <p:nvPr/>
          </p:nvSpPr>
          <p:spPr>
            <a:xfrm>
              <a:off x="0" y="1608949"/>
              <a:ext cx="736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544" name="Shape 812"/>
            <p:cNvSpPr txBox="1"/>
            <p:nvPr/>
          </p:nvSpPr>
          <p:spPr>
            <a:xfrm>
              <a:off x="0" y="2329180"/>
              <a:ext cx="736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545" name="Shape 813"/>
            <p:cNvSpPr txBox="1"/>
            <p:nvPr/>
          </p:nvSpPr>
          <p:spPr>
            <a:xfrm>
              <a:off x="0" y="3047153"/>
              <a:ext cx="73660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546" name="Shape 814"/>
            <p:cNvSpPr txBox="1"/>
            <p:nvPr/>
          </p:nvSpPr>
          <p:spPr>
            <a:xfrm>
              <a:off x="0" y="3661270"/>
              <a:ext cx="736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grpSp>
          <p:nvGrpSpPr>
            <p:cNvPr id="549" name="成组"/>
            <p:cNvGrpSpPr/>
            <p:nvPr/>
          </p:nvGrpSpPr>
          <p:grpSpPr>
            <a:xfrm>
              <a:off x="1551294" y="42896"/>
              <a:ext cx="841479" cy="566360"/>
              <a:chOff x="0" y="0"/>
              <a:chExt cx="841477" cy="566358"/>
            </a:xfrm>
          </p:grpSpPr>
          <p:sp>
            <p:nvSpPr>
              <p:cNvPr id="547" name="Shape 764"/>
              <p:cNvSpPr/>
              <p:nvPr/>
            </p:nvSpPr>
            <p:spPr>
              <a:xfrm>
                <a:off x="0" y="0"/>
                <a:ext cx="841478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8" name="Shape 821"/>
              <p:cNvSpPr txBox="1"/>
              <p:nvPr/>
            </p:nvSpPr>
            <p:spPr>
              <a:xfrm>
                <a:off x="99422" y="71403"/>
                <a:ext cx="736602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555" name="成组"/>
            <p:cNvGrpSpPr/>
            <p:nvPr/>
          </p:nvGrpSpPr>
          <p:grpSpPr>
            <a:xfrm>
              <a:off x="3098317" y="42896"/>
              <a:ext cx="843765" cy="571221"/>
              <a:chOff x="0" y="0"/>
              <a:chExt cx="843764" cy="571220"/>
            </a:xfrm>
          </p:grpSpPr>
          <p:sp>
            <p:nvSpPr>
              <p:cNvPr id="550" name="Shape 761"/>
              <p:cNvSpPr/>
              <p:nvPr/>
            </p:nvSpPr>
            <p:spPr>
              <a:xfrm>
                <a:off x="0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1" name="Shape 762"/>
              <p:cNvSpPr/>
              <p:nvPr/>
            </p:nvSpPr>
            <p:spPr>
              <a:xfrm>
                <a:off x="610529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2" name="Shape 767"/>
              <p:cNvSpPr/>
              <p:nvPr/>
            </p:nvSpPr>
            <p:spPr>
              <a:xfrm flipH="1">
                <a:off x="610529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3" name="Shape 768"/>
              <p:cNvSpPr/>
              <p:nvPr/>
            </p:nvSpPr>
            <p:spPr>
              <a:xfrm>
                <a:off x="715712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4" name="Shape 822"/>
              <p:cNvSpPr txBox="1"/>
              <p:nvPr/>
            </p:nvSpPr>
            <p:spPr>
              <a:xfrm>
                <a:off x="90228" y="84103"/>
                <a:ext cx="736602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559" name="成组"/>
            <p:cNvGrpSpPr/>
            <p:nvPr/>
          </p:nvGrpSpPr>
          <p:grpSpPr>
            <a:xfrm>
              <a:off x="1551294" y="803769"/>
              <a:ext cx="839895" cy="525217"/>
              <a:chOff x="0" y="0"/>
              <a:chExt cx="839893" cy="525216"/>
            </a:xfrm>
          </p:grpSpPr>
          <p:sp>
            <p:nvSpPr>
              <p:cNvPr id="556" name="Shape 773"/>
              <p:cNvSpPr/>
              <p:nvPr/>
            </p:nvSpPr>
            <p:spPr>
              <a:xfrm>
                <a:off x="0" y="0"/>
                <a:ext cx="839894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7" name="Shape 774"/>
              <p:cNvSpPr/>
              <p:nvPr/>
            </p:nvSpPr>
            <p:spPr>
              <a:xfrm>
                <a:off x="609882" y="4515"/>
                <a:ext cx="2260" cy="52070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8" name="Shape 823"/>
              <p:cNvSpPr/>
              <p:nvPr/>
            </p:nvSpPr>
            <p:spPr>
              <a:xfrm>
                <a:off x="92004" y="47695"/>
                <a:ext cx="7366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</p:grpSp>
        <p:grpSp>
          <p:nvGrpSpPr>
            <p:cNvPr id="563" name="成组"/>
            <p:cNvGrpSpPr/>
            <p:nvPr/>
          </p:nvGrpSpPr>
          <p:grpSpPr>
            <a:xfrm>
              <a:off x="3098317" y="803769"/>
              <a:ext cx="844411" cy="525217"/>
              <a:chOff x="0" y="0"/>
              <a:chExt cx="844409" cy="525216"/>
            </a:xfrm>
          </p:grpSpPr>
          <p:sp>
            <p:nvSpPr>
              <p:cNvPr id="560" name="Shape 770"/>
              <p:cNvSpPr/>
              <p:nvPr/>
            </p:nvSpPr>
            <p:spPr>
              <a:xfrm>
                <a:off x="0" y="0"/>
                <a:ext cx="844410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1" name="Shape 771"/>
              <p:cNvSpPr/>
              <p:nvPr/>
            </p:nvSpPr>
            <p:spPr>
              <a:xfrm>
                <a:off x="611857" y="4515"/>
                <a:ext cx="2260" cy="52070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2" name="Shape 824"/>
              <p:cNvSpPr txBox="1"/>
              <p:nvPr/>
            </p:nvSpPr>
            <p:spPr>
              <a:xfrm>
                <a:off x="104421" y="38946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567" name="成组"/>
            <p:cNvGrpSpPr/>
            <p:nvPr/>
          </p:nvGrpSpPr>
          <p:grpSpPr>
            <a:xfrm>
              <a:off x="1551294" y="1519485"/>
              <a:ext cx="841479" cy="568963"/>
              <a:chOff x="0" y="0"/>
              <a:chExt cx="841477" cy="568962"/>
            </a:xfrm>
          </p:grpSpPr>
          <p:sp>
            <p:nvSpPr>
              <p:cNvPr id="564" name="Shape 779"/>
              <p:cNvSpPr/>
              <p:nvPr/>
            </p:nvSpPr>
            <p:spPr>
              <a:xfrm>
                <a:off x="0" y="0"/>
                <a:ext cx="841478" cy="56412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5" name="Shape 780"/>
              <p:cNvSpPr/>
              <p:nvPr/>
            </p:nvSpPr>
            <p:spPr>
              <a:xfrm>
                <a:off x="608240" y="4841"/>
                <a:ext cx="2289" cy="56412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6" name="Shape 825"/>
              <p:cNvSpPr txBox="1"/>
              <p:nvPr/>
            </p:nvSpPr>
            <p:spPr>
              <a:xfrm>
                <a:off x="92649" y="74223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573" name="成组"/>
            <p:cNvGrpSpPr/>
            <p:nvPr/>
          </p:nvGrpSpPr>
          <p:grpSpPr>
            <a:xfrm>
              <a:off x="3098317" y="1519485"/>
              <a:ext cx="843765" cy="568963"/>
              <a:chOff x="0" y="0"/>
              <a:chExt cx="843764" cy="568962"/>
            </a:xfrm>
          </p:grpSpPr>
          <p:sp>
            <p:nvSpPr>
              <p:cNvPr id="568" name="Shape 776"/>
              <p:cNvSpPr/>
              <p:nvPr/>
            </p:nvSpPr>
            <p:spPr>
              <a:xfrm>
                <a:off x="0" y="0"/>
                <a:ext cx="843765" cy="56412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9" name="Shape 777"/>
              <p:cNvSpPr/>
              <p:nvPr/>
            </p:nvSpPr>
            <p:spPr>
              <a:xfrm>
                <a:off x="610527" y="4841"/>
                <a:ext cx="2289" cy="56412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0" name="Shape 782"/>
              <p:cNvSpPr/>
              <p:nvPr/>
            </p:nvSpPr>
            <p:spPr>
              <a:xfrm flipH="1">
                <a:off x="610528" y="193687"/>
                <a:ext cx="105187" cy="28085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1" name="Shape 783"/>
              <p:cNvSpPr/>
              <p:nvPr/>
            </p:nvSpPr>
            <p:spPr>
              <a:xfrm>
                <a:off x="715712" y="193687"/>
                <a:ext cx="105186" cy="28085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2" name="Shape 826"/>
              <p:cNvSpPr txBox="1"/>
              <p:nvPr/>
            </p:nvSpPr>
            <p:spPr>
              <a:xfrm>
                <a:off x="96155" y="61523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577" name="成组"/>
            <p:cNvGrpSpPr/>
            <p:nvPr/>
          </p:nvGrpSpPr>
          <p:grpSpPr>
            <a:xfrm>
              <a:off x="1551294" y="2260209"/>
              <a:ext cx="841479" cy="547168"/>
              <a:chOff x="0" y="0"/>
              <a:chExt cx="841477" cy="547167"/>
            </a:xfrm>
          </p:grpSpPr>
          <p:sp>
            <p:nvSpPr>
              <p:cNvPr id="574" name="Shape 788"/>
              <p:cNvSpPr/>
              <p:nvPr/>
            </p:nvSpPr>
            <p:spPr>
              <a:xfrm>
                <a:off x="0" y="955"/>
                <a:ext cx="841478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5" name="Shape 789"/>
              <p:cNvSpPr/>
              <p:nvPr/>
            </p:nvSpPr>
            <p:spPr>
              <a:xfrm>
                <a:off x="608241" y="-1"/>
                <a:ext cx="2289" cy="54621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6" name="Shape 827"/>
              <p:cNvSpPr txBox="1"/>
              <p:nvPr/>
            </p:nvSpPr>
            <p:spPr>
              <a:xfrm>
                <a:off x="92650" y="82235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583" name="成组"/>
            <p:cNvGrpSpPr/>
            <p:nvPr/>
          </p:nvGrpSpPr>
          <p:grpSpPr>
            <a:xfrm>
              <a:off x="3098317" y="2260209"/>
              <a:ext cx="843765" cy="547168"/>
              <a:chOff x="0" y="0"/>
              <a:chExt cx="843764" cy="547167"/>
            </a:xfrm>
          </p:grpSpPr>
          <p:sp>
            <p:nvSpPr>
              <p:cNvPr id="578" name="Shape 785"/>
              <p:cNvSpPr/>
              <p:nvPr/>
            </p:nvSpPr>
            <p:spPr>
              <a:xfrm>
                <a:off x="0" y="955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9" name="Shape 786"/>
              <p:cNvSpPr/>
              <p:nvPr/>
            </p:nvSpPr>
            <p:spPr>
              <a:xfrm>
                <a:off x="610528" y="-1"/>
                <a:ext cx="2288" cy="54621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0" name="Shape 791"/>
              <p:cNvSpPr/>
              <p:nvPr/>
            </p:nvSpPr>
            <p:spPr>
              <a:xfrm flipH="1">
                <a:off x="610529" y="182851"/>
                <a:ext cx="105186" cy="27193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1" name="Shape 792"/>
              <p:cNvSpPr/>
              <p:nvPr/>
            </p:nvSpPr>
            <p:spPr>
              <a:xfrm>
                <a:off x="715712" y="182851"/>
                <a:ext cx="105187" cy="27193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2" name="Shape 828"/>
              <p:cNvSpPr txBox="1"/>
              <p:nvPr/>
            </p:nvSpPr>
            <p:spPr>
              <a:xfrm>
                <a:off x="106315" y="64454"/>
                <a:ext cx="736603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587" name="成组"/>
            <p:cNvGrpSpPr/>
            <p:nvPr/>
          </p:nvGrpSpPr>
          <p:grpSpPr>
            <a:xfrm>
              <a:off x="1551294" y="2953174"/>
              <a:ext cx="841479" cy="525199"/>
              <a:chOff x="0" y="0"/>
              <a:chExt cx="841477" cy="525197"/>
            </a:xfrm>
          </p:grpSpPr>
          <p:sp>
            <p:nvSpPr>
              <p:cNvPr id="584" name="Shape 797"/>
              <p:cNvSpPr/>
              <p:nvPr/>
            </p:nvSpPr>
            <p:spPr>
              <a:xfrm>
                <a:off x="0" y="0"/>
                <a:ext cx="841478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5" name="Shape 798"/>
              <p:cNvSpPr/>
              <p:nvPr/>
            </p:nvSpPr>
            <p:spPr>
              <a:xfrm>
                <a:off x="608241" y="4495"/>
                <a:ext cx="2289" cy="52070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6" name="Shape 829"/>
              <p:cNvSpPr txBox="1"/>
              <p:nvPr/>
            </p:nvSpPr>
            <p:spPr>
              <a:xfrm>
                <a:off x="100269" y="53904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</p:grpSp>
        <p:grpSp>
          <p:nvGrpSpPr>
            <p:cNvPr id="593" name="成组"/>
            <p:cNvGrpSpPr/>
            <p:nvPr/>
          </p:nvGrpSpPr>
          <p:grpSpPr>
            <a:xfrm>
              <a:off x="3098317" y="2953174"/>
              <a:ext cx="843765" cy="525199"/>
              <a:chOff x="0" y="0"/>
              <a:chExt cx="843764" cy="525197"/>
            </a:xfrm>
          </p:grpSpPr>
          <p:sp>
            <p:nvSpPr>
              <p:cNvPr id="588" name="Shape 794"/>
              <p:cNvSpPr/>
              <p:nvPr/>
            </p:nvSpPr>
            <p:spPr>
              <a:xfrm>
                <a:off x="0" y="0"/>
                <a:ext cx="843765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9" name="Shape 795"/>
              <p:cNvSpPr/>
              <p:nvPr/>
            </p:nvSpPr>
            <p:spPr>
              <a:xfrm>
                <a:off x="610528" y="4495"/>
                <a:ext cx="2288" cy="52070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0" name="Shape 800"/>
              <p:cNvSpPr/>
              <p:nvPr/>
            </p:nvSpPr>
            <p:spPr>
              <a:xfrm flipH="1">
                <a:off x="610529" y="179852"/>
                <a:ext cx="105186" cy="26079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1" name="Shape 801"/>
              <p:cNvSpPr/>
              <p:nvPr/>
            </p:nvSpPr>
            <p:spPr>
              <a:xfrm>
                <a:off x="715711" y="179852"/>
                <a:ext cx="105187" cy="26079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2" name="Shape 830"/>
              <p:cNvSpPr txBox="1"/>
              <p:nvPr/>
            </p:nvSpPr>
            <p:spPr>
              <a:xfrm>
                <a:off x="101235" y="57290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597" name="成组"/>
            <p:cNvGrpSpPr/>
            <p:nvPr/>
          </p:nvGrpSpPr>
          <p:grpSpPr>
            <a:xfrm>
              <a:off x="1551294" y="3668890"/>
              <a:ext cx="839895" cy="530580"/>
              <a:chOff x="0" y="0"/>
              <a:chExt cx="839893" cy="530579"/>
            </a:xfrm>
          </p:grpSpPr>
          <p:sp>
            <p:nvSpPr>
              <p:cNvPr id="594" name="Shape 806"/>
              <p:cNvSpPr/>
              <p:nvPr/>
            </p:nvSpPr>
            <p:spPr>
              <a:xfrm>
                <a:off x="0" y="0"/>
                <a:ext cx="839894" cy="52606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5" name="Shape 807"/>
              <p:cNvSpPr/>
              <p:nvPr/>
            </p:nvSpPr>
            <p:spPr>
              <a:xfrm>
                <a:off x="607341" y="4515"/>
                <a:ext cx="2260" cy="52606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6" name="Shape 831"/>
              <p:cNvSpPr txBox="1"/>
              <p:nvPr/>
            </p:nvSpPr>
            <p:spPr>
              <a:xfrm>
                <a:off x="99624" y="36124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601" name="成组"/>
            <p:cNvGrpSpPr/>
            <p:nvPr/>
          </p:nvGrpSpPr>
          <p:grpSpPr>
            <a:xfrm>
              <a:off x="3098317" y="3668890"/>
              <a:ext cx="844411" cy="530580"/>
              <a:chOff x="0" y="0"/>
              <a:chExt cx="844409" cy="530579"/>
            </a:xfrm>
          </p:grpSpPr>
          <p:sp>
            <p:nvSpPr>
              <p:cNvPr id="598" name="Shape 803"/>
              <p:cNvSpPr/>
              <p:nvPr/>
            </p:nvSpPr>
            <p:spPr>
              <a:xfrm>
                <a:off x="0" y="0"/>
                <a:ext cx="844410" cy="52606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9" name="Shape 804"/>
              <p:cNvSpPr/>
              <p:nvPr/>
            </p:nvSpPr>
            <p:spPr>
              <a:xfrm>
                <a:off x="611857" y="4515"/>
                <a:ext cx="2260" cy="52606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0" name="Shape 832"/>
              <p:cNvSpPr txBox="1"/>
              <p:nvPr/>
            </p:nvSpPr>
            <p:spPr>
              <a:xfrm>
                <a:off x="101882" y="43743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602" name="Shape 835"/>
            <p:cNvSpPr/>
            <p:nvPr/>
          </p:nvSpPr>
          <p:spPr>
            <a:xfrm>
              <a:off x="3832859" y="1065671"/>
              <a:ext cx="842153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08" name="成组"/>
            <p:cNvGrpSpPr/>
            <p:nvPr/>
          </p:nvGrpSpPr>
          <p:grpSpPr>
            <a:xfrm>
              <a:off x="4670213" y="803769"/>
              <a:ext cx="844411" cy="525217"/>
              <a:chOff x="0" y="0"/>
              <a:chExt cx="844409" cy="525216"/>
            </a:xfrm>
          </p:grpSpPr>
          <p:sp>
            <p:nvSpPr>
              <p:cNvPr id="603" name="Shape 833"/>
              <p:cNvSpPr/>
              <p:nvPr/>
            </p:nvSpPr>
            <p:spPr>
              <a:xfrm>
                <a:off x="0" y="0"/>
                <a:ext cx="844410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4" name="Shape 834"/>
              <p:cNvSpPr/>
              <p:nvPr/>
            </p:nvSpPr>
            <p:spPr>
              <a:xfrm>
                <a:off x="609881" y="4515"/>
                <a:ext cx="2260" cy="52070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5" name="Shape 836"/>
              <p:cNvSpPr/>
              <p:nvPr/>
            </p:nvSpPr>
            <p:spPr>
              <a:xfrm flipH="1">
                <a:off x="609882" y="180622"/>
                <a:ext cx="103860" cy="25964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6" name="Shape 837"/>
              <p:cNvSpPr/>
              <p:nvPr/>
            </p:nvSpPr>
            <p:spPr>
              <a:xfrm>
                <a:off x="715716" y="180622"/>
                <a:ext cx="106118" cy="25964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7" name="Shape 838"/>
              <p:cNvSpPr txBox="1"/>
              <p:nvPr/>
            </p:nvSpPr>
            <p:spPr>
              <a:xfrm>
                <a:off x="104422" y="38946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sp>
          <p:nvSpPr>
            <p:cNvPr id="609" name="Shape 841"/>
            <p:cNvSpPr/>
            <p:nvPr/>
          </p:nvSpPr>
          <p:spPr>
            <a:xfrm>
              <a:off x="3832859" y="3933050"/>
              <a:ext cx="842153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15" name="成组"/>
            <p:cNvGrpSpPr/>
            <p:nvPr/>
          </p:nvGrpSpPr>
          <p:grpSpPr>
            <a:xfrm>
              <a:off x="4670213" y="3671147"/>
              <a:ext cx="844411" cy="525218"/>
              <a:chOff x="0" y="0"/>
              <a:chExt cx="844409" cy="525217"/>
            </a:xfrm>
          </p:grpSpPr>
          <p:sp>
            <p:nvSpPr>
              <p:cNvPr id="610" name="Shape 839"/>
              <p:cNvSpPr/>
              <p:nvPr/>
            </p:nvSpPr>
            <p:spPr>
              <a:xfrm>
                <a:off x="0" y="0"/>
                <a:ext cx="844410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1" name="Shape 840"/>
              <p:cNvSpPr/>
              <p:nvPr/>
            </p:nvSpPr>
            <p:spPr>
              <a:xfrm>
                <a:off x="611857" y="4516"/>
                <a:ext cx="2259" cy="52070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2" name="Shape 842"/>
              <p:cNvSpPr/>
              <p:nvPr/>
            </p:nvSpPr>
            <p:spPr>
              <a:xfrm flipH="1">
                <a:off x="611857" y="180622"/>
                <a:ext cx="103859" cy="25964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3" name="Shape 843"/>
              <p:cNvSpPr/>
              <p:nvPr/>
            </p:nvSpPr>
            <p:spPr>
              <a:xfrm>
                <a:off x="715715" y="180622"/>
                <a:ext cx="106118" cy="25964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4" name="Shape 844"/>
              <p:cNvSpPr txBox="1"/>
              <p:nvPr/>
            </p:nvSpPr>
            <p:spPr>
              <a:xfrm>
                <a:off x="104421" y="38948"/>
                <a:ext cx="736602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</p:grpSp>
      <p:grpSp>
        <p:nvGrpSpPr>
          <p:cNvPr id="642" name="Group 871"/>
          <p:cNvGrpSpPr/>
          <p:nvPr/>
        </p:nvGrpSpPr>
        <p:grpSpPr>
          <a:xfrm>
            <a:off x="229314" y="2122143"/>
            <a:ext cx="4489313" cy="3347033"/>
            <a:chOff x="0" y="0"/>
            <a:chExt cx="4489312" cy="3347032"/>
          </a:xfrm>
        </p:grpSpPr>
        <p:grpSp>
          <p:nvGrpSpPr>
            <p:cNvPr id="619" name="Group 848"/>
            <p:cNvGrpSpPr/>
            <p:nvPr/>
          </p:nvGrpSpPr>
          <p:grpSpPr>
            <a:xfrm>
              <a:off x="1169307" y="69865"/>
              <a:ext cx="537421" cy="614500"/>
              <a:chOff x="0" y="0"/>
              <a:chExt cx="537420" cy="614498"/>
            </a:xfrm>
          </p:grpSpPr>
          <p:sp>
            <p:nvSpPr>
              <p:cNvPr id="617" name="Shape 846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8" name="Shape 847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22" name="Group 851"/>
            <p:cNvGrpSpPr/>
            <p:nvPr/>
          </p:nvGrpSpPr>
          <p:grpSpPr>
            <a:xfrm>
              <a:off x="0" y="1407668"/>
              <a:ext cx="537421" cy="614500"/>
              <a:chOff x="0" y="0"/>
              <a:chExt cx="537420" cy="614498"/>
            </a:xfrm>
          </p:grpSpPr>
          <p:sp>
            <p:nvSpPr>
              <p:cNvPr id="620" name="Shape 849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1" name="Shape 850"/>
              <p:cNvSpPr txBox="1"/>
              <p:nvPr/>
            </p:nvSpPr>
            <p:spPr>
              <a:xfrm>
                <a:off x="22438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623" name="Shape 852"/>
            <p:cNvSpPr/>
            <p:nvPr/>
          </p:nvSpPr>
          <p:spPr>
            <a:xfrm flipH="1">
              <a:off x="268619" y="429057"/>
              <a:ext cx="898818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4" name="Shape 853"/>
            <p:cNvSpPr/>
            <p:nvPr/>
          </p:nvSpPr>
          <p:spPr>
            <a:xfrm>
              <a:off x="1708598" y="346252"/>
              <a:ext cx="1615997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5" name="Shape 854"/>
            <p:cNvSpPr/>
            <p:nvPr/>
          </p:nvSpPr>
          <p:spPr>
            <a:xfrm>
              <a:off x="540135" y="1753921"/>
              <a:ext cx="2784460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6" name="Shape 855"/>
            <p:cNvSpPr/>
            <p:nvPr/>
          </p:nvSpPr>
          <p:spPr>
            <a:xfrm flipH="1">
              <a:off x="1603735" y="429057"/>
              <a:ext cx="1451215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7" name="Shape 856"/>
            <p:cNvSpPr/>
            <p:nvPr/>
          </p:nvSpPr>
          <p:spPr>
            <a:xfrm>
              <a:off x="3594237" y="346252"/>
              <a:ext cx="719054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8" name="Shape 857"/>
            <p:cNvSpPr/>
            <p:nvPr/>
          </p:nvSpPr>
          <p:spPr>
            <a:xfrm flipH="1">
              <a:off x="1693616" y="1753920"/>
              <a:ext cx="2350032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9" name="Shape 858"/>
            <p:cNvSpPr/>
            <p:nvPr/>
          </p:nvSpPr>
          <p:spPr>
            <a:xfrm flipH="1">
              <a:off x="1437080" y="651592"/>
              <a:ext cx="1875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32" name="Group 861"/>
            <p:cNvGrpSpPr/>
            <p:nvPr/>
          </p:nvGrpSpPr>
          <p:grpSpPr>
            <a:xfrm>
              <a:off x="3053075" y="-1"/>
              <a:ext cx="537421" cy="614500"/>
              <a:chOff x="0" y="0"/>
              <a:chExt cx="537420" cy="614498"/>
            </a:xfrm>
          </p:grpSpPr>
          <p:sp>
            <p:nvSpPr>
              <p:cNvPr id="630" name="Shape 859"/>
              <p:cNvSpPr/>
              <p:nvPr/>
            </p:nvSpPr>
            <p:spPr>
              <a:xfrm>
                <a:off x="0" y="15037"/>
                <a:ext cx="537421" cy="579631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1" name="Shape 860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635" name="Group 864"/>
            <p:cNvGrpSpPr/>
            <p:nvPr/>
          </p:nvGrpSpPr>
          <p:grpSpPr>
            <a:xfrm>
              <a:off x="3951892" y="1324864"/>
              <a:ext cx="537421" cy="614500"/>
              <a:chOff x="0" y="0"/>
              <a:chExt cx="537420" cy="614498"/>
            </a:xfrm>
          </p:grpSpPr>
          <p:sp>
            <p:nvSpPr>
              <p:cNvPr id="633" name="Shape 862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4" name="Shape 863"/>
              <p:cNvSpPr txBox="1"/>
              <p:nvPr/>
            </p:nvSpPr>
            <p:spPr>
              <a:xfrm>
                <a:off x="2159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638" name="Group 867"/>
            <p:cNvGrpSpPr/>
            <p:nvPr/>
          </p:nvGrpSpPr>
          <p:grpSpPr>
            <a:xfrm>
              <a:off x="1165562" y="2732533"/>
              <a:ext cx="537421" cy="614499"/>
              <a:chOff x="0" y="0"/>
              <a:chExt cx="537420" cy="614498"/>
            </a:xfrm>
          </p:grpSpPr>
          <p:sp>
            <p:nvSpPr>
              <p:cNvPr id="636" name="Shape 865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7" name="Shape 866"/>
              <p:cNvSpPr txBox="1"/>
              <p:nvPr/>
            </p:nvSpPr>
            <p:spPr>
              <a:xfrm>
                <a:off x="61651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641" name="Group 870"/>
            <p:cNvGrpSpPr/>
            <p:nvPr/>
          </p:nvGrpSpPr>
          <p:grpSpPr>
            <a:xfrm>
              <a:off x="3142956" y="2649729"/>
              <a:ext cx="537421" cy="614499"/>
              <a:chOff x="0" y="0"/>
              <a:chExt cx="537420" cy="614498"/>
            </a:xfrm>
          </p:grpSpPr>
          <p:sp>
            <p:nvSpPr>
              <p:cNvPr id="639" name="Shape 868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40" name="Shape 869"/>
              <p:cNvSpPr txBox="1"/>
              <p:nvPr/>
            </p:nvSpPr>
            <p:spPr>
              <a:xfrm>
                <a:off x="48454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sp>
        <p:nvSpPr>
          <p:cNvPr id="643" name="Shape 873"/>
          <p:cNvSpPr txBox="1"/>
          <p:nvPr/>
        </p:nvSpPr>
        <p:spPr>
          <a:xfrm>
            <a:off x="254247" y="6625466"/>
            <a:ext cx="7411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链表中的数字是顶点的编号。1条边存了2次</a:t>
            </a:r>
          </a:p>
        </p:txBody>
      </p:sp>
      <p:grpSp>
        <p:nvGrpSpPr>
          <p:cNvPr id="662" name="成组"/>
          <p:cNvGrpSpPr/>
          <p:nvPr/>
        </p:nvGrpSpPr>
        <p:grpSpPr>
          <a:xfrm>
            <a:off x="5215495" y="2039275"/>
            <a:ext cx="1465775" cy="4199472"/>
            <a:chOff x="0" y="0"/>
            <a:chExt cx="1465774" cy="4199470"/>
          </a:xfrm>
        </p:grpSpPr>
        <p:sp>
          <p:nvSpPr>
            <p:cNvPr id="644" name="Shape 753"/>
            <p:cNvSpPr/>
            <p:nvPr/>
          </p:nvSpPr>
          <p:spPr>
            <a:xfrm>
              <a:off x="438854" y="0"/>
              <a:ext cx="1026921" cy="419947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5" name="Shape 754"/>
            <p:cNvSpPr/>
            <p:nvPr/>
          </p:nvSpPr>
          <p:spPr>
            <a:xfrm>
              <a:off x="438855" y="715715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6" name="Shape 755"/>
            <p:cNvSpPr/>
            <p:nvPr/>
          </p:nvSpPr>
          <p:spPr>
            <a:xfrm>
              <a:off x="438855" y="1433689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7" name="Shape 756"/>
            <p:cNvSpPr/>
            <p:nvPr/>
          </p:nvSpPr>
          <p:spPr>
            <a:xfrm>
              <a:off x="438855" y="2149406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8" name="Shape 757"/>
            <p:cNvSpPr/>
            <p:nvPr/>
          </p:nvSpPr>
          <p:spPr>
            <a:xfrm>
              <a:off x="438855" y="2867379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49" name="Shape 758"/>
            <p:cNvSpPr/>
            <p:nvPr/>
          </p:nvSpPr>
          <p:spPr>
            <a:xfrm>
              <a:off x="438855" y="3583096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50" name="Shape 809"/>
            <p:cNvSpPr txBox="1"/>
            <p:nvPr/>
          </p:nvSpPr>
          <p:spPr>
            <a:xfrm>
              <a:off x="0" y="1238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651" name="Shape 810"/>
            <p:cNvSpPr txBox="1"/>
            <p:nvPr/>
          </p:nvSpPr>
          <p:spPr>
            <a:xfrm>
              <a:off x="0" y="8012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652" name="Shape 811"/>
            <p:cNvSpPr txBox="1"/>
            <p:nvPr/>
          </p:nvSpPr>
          <p:spPr>
            <a:xfrm>
              <a:off x="0" y="15581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653" name="Shape 812"/>
            <p:cNvSpPr txBox="1"/>
            <p:nvPr/>
          </p:nvSpPr>
          <p:spPr>
            <a:xfrm>
              <a:off x="0" y="22275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654" name="Shape 813"/>
            <p:cNvSpPr txBox="1"/>
            <p:nvPr/>
          </p:nvSpPr>
          <p:spPr>
            <a:xfrm>
              <a:off x="0" y="2958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655" name="Shape 814"/>
            <p:cNvSpPr txBox="1"/>
            <p:nvPr/>
          </p:nvSpPr>
          <p:spPr>
            <a:xfrm>
              <a:off x="0" y="362317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656" name="Shape 815"/>
            <p:cNvSpPr txBox="1"/>
            <p:nvPr/>
          </p:nvSpPr>
          <p:spPr>
            <a:xfrm>
              <a:off x="636975" y="140263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657" name="Shape 816"/>
            <p:cNvSpPr txBox="1"/>
            <p:nvPr/>
          </p:nvSpPr>
          <p:spPr>
            <a:xfrm>
              <a:off x="636975" y="880816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658" name="Shape 817"/>
            <p:cNvSpPr txBox="1"/>
            <p:nvPr/>
          </p:nvSpPr>
          <p:spPr>
            <a:xfrm>
              <a:off x="636975" y="159878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659" name="Shape 818"/>
            <p:cNvSpPr txBox="1"/>
            <p:nvPr/>
          </p:nvSpPr>
          <p:spPr>
            <a:xfrm>
              <a:off x="636975" y="2212904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660" name="Shape 819"/>
            <p:cNvSpPr txBox="1"/>
            <p:nvPr/>
          </p:nvSpPr>
          <p:spPr>
            <a:xfrm>
              <a:off x="636975" y="303247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661" name="Shape 820"/>
            <p:cNvSpPr txBox="1"/>
            <p:nvPr/>
          </p:nvSpPr>
          <p:spPr>
            <a:xfrm>
              <a:off x="636975" y="3669455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sp>
        <p:nvSpPr>
          <p:cNvPr id="663" name="list : 链表"/>
          <p:cNvSpPr txBox="1"/>
          <p:nvPr/>
        </p:nvSpPr>
        <p:spPr>
          <a:xfrm>
            <a:off x="8795915" y="6535437"/>
            <a:ext cx="169628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list : 链表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875"/>
          <p:cNvSpPr txBox="1"/>
          <p:nvPr/>
        </p:nvSpPr>
        <p:spPr>
          <a:xfrm>
            <a:off x="889564" y="190500"/>
            <a:ext cx="11002188" cy="901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5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无向图-邻接多重表(adjacency multilist)</a:t>
            </a:r>
          </a:p>
        </p:txBody>
      </p:sp>
      <p:grpSp>
        <p:nvGrpSpPr>
          <p:cNvPr id="689" name="Group 899"/>
          <p:cNvGrpSpPr/>
          <p:nvPr/>
        </p:nvGrpSpPr>
        <p:grpSpPr>
          <a:xfrm>
            <a:off x="612218" y="1682363"/>
            <a:ext cx="4015113" cy="3263581"/>
            <a:chOff x="263849" y="63078"/>
            <a:chExt cx="4015112" cy="3263580"/>
          </a:xfrm>
        </p:grpSpPr>
        <p:sp>
          <p:nvSpPr>
            <p:cNvPr id="666" name="Shape 876"/>
            <p:cNvSpPr/>
            <p:nvPr/>
          </p:nvSpPr>
          <p:spPr>
            <a:xfrm>
              <a:off x="263849" y="304800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例</a:t>
              </a:r>
            </a:p>
          </p:txBody>
        </p:sp>
        <p:grpSp>
          <p:nvGrpSpPr>
            <p:cNvPr id="688" name="Group 898"/>
            <p:cNvGrpSpPr/>
            <p:nvPr/>
          </p:nvGrpSpPr>
          <p:grpSpPr>
            <a:xfrm>
              <a:off x="1001882" y="63078"/>
              <a:ext cx="3277080" cy="3263581"/>
              <a:chOff x="0" y="0"/>
              <a:chExt cx="3277078" cy="3263580"/>
            </a:xfrm>
          </p:grpSpPr>
          <p:grpSp>
            <p:nvGrpSpPr>
              <p:cNvPr id="669" name="Group 879"/>
              <p:cNvGrpSpPr/>
              <p:nvPr/>
            </p:nvGrpSpPr>
            <p:grpSpPr>
              <a:xfrm>
                <a:off x="0" y="0"/>
                <a:ext cx="1533052" cy="1527441"/>
                <a:chOff x="0" y="0"/>
                <a:chExt cx="1533051" cy="1527440"/>
              </a:xfrm>
            </p:grpSpPr>
            <p:sp>
              <p:nvSpPr>
                <p:cNvPr id="667" name="Shape 877"/>
                <p:cNvSpPr/>
                <p:nvPr/>
              </p:nvSpPr>
              <p:spPr>
                <a:xfrm>
                  <a:off x="0" y="-1"/>
                  <a:ext cx="526105" cy="512623"/>
                </a:xfrm>
                <a:prstGeom prst="ellips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68" name="Shape 878"/>
                <p:cNvSpPr/>
                <p:nvPr/>
              </p:nvSpPr>
              <p:spPr>
                <a:xfrm>
                  <a:off x="263051" y="257440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672" name="Group 882"/>
              <p:cNvGrpSpPr/>
              <p:nvPr/>
            </p:nvGrpSpPr>
            <p:grpSpPr>
              <a:xfrm>
                <a:off x="1744027" y="1736141"/>
                <a:ext cx="1533052" cy="1527440"/>
                <a:chOff x="0" y="0"/>
                <a:chExt cx="1533051" cy="1527439"/>
              </a:xfrm>
            </p:grpSpPr>
            <p:sp>
              <p:nvSpPr>
                <p:cNvPr id="670" name="Shape 880"/>
                <p:cNvSpPr/>
                <p:nvPr/>
              </p:nvSpPr>
              <p:spPr>
                <a:xfrm>
                  <a:off x="0" y="-1"/>
                  <a:ext cx="526105" cy="512623"/>
                </a:xfrm>
                <a:prstGeom prst="ellips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71" name="Shape 881"/>
                <p:cNvSpPr/>
                <p:nvPr/>
              </p:nvSpPr>
              <p:spPr>
                <a:xfrm>
                  <a:off x="263051" y="257439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  <p:grpSp>
            <p:nvGrpSpPr>
              <p:cNvPr id="675" name="Group 885"/>
              <p:cNvGrpSpPr/>
              <p:nvPr/>
            </p:nvGrpSpPr>
            <p:grpSpPr>
              <a:xfrm>
                <a:off x="878588" y="930939"/>
                <a:ext cx="1533053" cy="1527441"/>
                <a:chOff x="0" y="0"/>
                <a:chExt cx="1533051" cy="1527440"/>
              </a:xfrm>
            </p:grpSpPr>
            <p:sp>
              <p:nvSpPr>
                <p:cNvPr id="673" name="Shape 883"/>
                <p:cNvSpPr/>
                <p:nvPr/>
              </p:nvSpPr>
              <p:spPr>
                <a:xfrm>
                  <a:off x="0" y="-1"/>
                  <a:ext cx="526105" cy="512623"/>
                </a:xfrm>
                <a:prstGeom prst="ellips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74" name="Shape 884"/>
                <p:cNvSpPr/>
                <p:nvPr/>
              </p:nvSpPr>
              <p:spPr>
                <a:xfrm>
                  <a:off x="263051" y="257440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678" name="Group 888"/>
              <p:cNvGrpSpPr/>
              <p:nvPr/>
            </p:nvGrpSpPr>
            <p:grpSpPr>
              <a:xfrm>
                <a:off x="1744027" y="16926"/>
                <a:ext cx="1533052" cy="1527440"/>
                <a:chOff x="0" y="0"/>
                <a:chExt cx="1533051" cy="1527439"/>
              </a:xfrm>
            </p:grpSpPr>
            <p:sp>
              <p:nvSpPr>
                <p:cNvPr id="676" name="Shape 886"/>
                <p:cNvSpPr/>
                <p:nvPr/>
              </p:nvSpPr>
              <p:spPr>
                <a:xfrm>
                  <a:off x="0" y="-1"/>
                  <a:ext cx="526105" cy="512623"/>
                </a:xfrm>
                <a:prstGeom prst="ellips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77" name="Shape 887"/>
                <p:cNvSpPr/>
                <p:nvPr/>
              </p:nvSpPr>
              <p:spPr>
                <a:xfrm>
                  <a:off x="263051" y="257439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681" name="Group 891"/>
              <p:cNvGrpSpPr/>
              <p:nvPr/>
            </p:nvGrpSpPr>
            <p:grpSpPr>
              <a:xfrm>
                <a:off x="0" y="1736141"/>
                <a:ext cx="1533051" cy="1527440"/>
                <a:chOff x="0" y="0"/>
                <a:chExt cx="1533050" cy="1527439"/>
              </a:xfrm>
            </p:grpSpPr>
            <p:sp>
              <p:nvSpPr>
                <p:cNvPr id="679" name="Shape 889"/>
                <p:cNvSpPr/>
                <p:nvPr/>
              </p:nvSpPr>
              <p:spPr>
                <a:xfrm>
                  <a:off x="0" y="-1"/>
                  <a:ext cx="526105" cy="512623"/>
                </a:xfrm>
                <a:prstGeom prst="ellips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0" name="Shape 890"/>
                <p:cNvSpPr/>
                <p:nvPr/>
              </p:nvSpPr>
              <p:spPr>
                <a:xfrm>
                  <a:off x="263050" y="257439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  <p:sp>
            <p:nvSpPr>
              <p:cNvPr id="682" name="Shape 892"/>
              <p:cNvSpPr/>
              <p:nvPr/>
            </p:nvSpPr>
            <p:spPr>
              <a:xfrm>
                <a:off x="520839" y="278072"/>
                <a:ext cx="1228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3" name="Shape 893"/>
              <p:cNvSpPr/>
              <p:nvPr/>
            </p:nvSpPr>
            <p:spPr>
              <a:xfrm>
                <a:off x="228853" y="519874"/>
                <a:ext cx="2260" cy="120901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4" name="Shape 894"/>
              <p:cNvSpPr/>
              <p:nvPr/>
            </p:nvSpPr>
            <p:spPr>
              <a:xfrm>
                <a:off x="2070209" y="519874"/>
                <a:ext cx="2260" cy="1209013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5" name="Shape 895"/>
              <p:cNvSpPr/>
              <p:nvPr/>
            </p:nvSpPr>
            <p:spPr>
              <a:xfrm>
                <a:off x="1281057" y="1380690"/>
                <a:ext cx="555038" cy="51020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6" name="Shape 896"/>
              <p:cNvSpPr/>
              <p:nvPr/>
            </p:nvSpPr>
            <p:spPr>
              <a:xfrm flipH="1">
                <a:off x="1252121" y="493276"/>
                <a:ext cx="583975" cy="53922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7" name="Shape 897"/>
              <p:cNvSpPr/>
              <p:nvPr/>
            </p:nvSpPr>
            <p:spPr>
              <a:xfrm flipH="1">
                <a:off x="462968" y="1380690"/>
                <a:ext cx="497168" cy="457008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690" name="Shape 900"/>
          <p:cNvSpPr/>
          <p:nvPr/>
        </p:nvSpPr>
        <p:spPr>
          <a:xfrm>
            <a:off x="3317800" y="4746299"/>
            <a:ext cx="828606" cy="2260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91" name="Shape 901"/>
          <p:cNvSpPr/>
          <p:nvPr/>
        </p:nvSpPr>
        <p:spPr>
          <a:xfrm>
            <a:off x="3271233" y="5999366"/>
            <a:ext cx="901702" cy="2259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92" name="Shape 902"/>
          <p:cNvSpPr/>
          <p:nvPr/>
        </p:nvSpPr>
        <p:spPr>
          <a:xfrm>
            <a:off x="3317800" y="7329197"/>
            <a:ext cx="878277" cy="2259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696" name="Group 906"/>
          <p:cNvGrpSpPr/>
          <p:nvPr/>
        </p:nvGrpSpPr>
        <p:grpSpPr>
          <a:xfrm>
            <a:off x="5655446" y="4143472"/>
            <a:ext cx="3535682" cy="482039"/>
            <a:chOff x="0" y="0"/>
            <a:chExt cx="3535681" cy="482038"/>
          </a:xfrm>
        </p:grpSpPr>
        <p:sp>
          <p:nvSpPr>
            <p:cNvPr id="693" name="Shape 903"/>
            <p:cNvSpPr/>
            <p:nvPr/>
          </p:nvSpPr>
          <p:spPr>
            <a:xfrm flipV="1">
              <a:off x="0" y="24835"/>
              <a:ext cx="2259" cy="457204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4" name="Shape 904"/>
            <p:cNvSpPr/>
            <p:nvPr/>
          </p:nvSpPr>
          <p:spPr>
            <a:xfrm>
              <a:off x="0" y="0"/>
              <a:ext cx="3535682" cy="2258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5" name="Shape 905"/>
            <p:cNvSpPr/>
            <p:nvPr/>
          </p:nvSpPr>
          <p:spPr>
            <a:xfrm>
              <a:off x="3529755" y="0"/>
              <a:ext cx="2260" cy="275450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701" name="Group 911"/>
          <p:cNvGrpSpPr/>
          <p:nvPr/>
        </p:nvGrpSpPr>
        <p:grpSpPr>
          <a:xfrm>
            <a:off x="3271234" y="3773197"/>
            <a:ext cx="3614704" cy="1605283"/>
            <a:chOff x="0" y="0"/>
            <a:chExt cx="3614703" cy="1605282"/>
          </a:xfrm>
        </p:grpSpPr>
        <p:sp>
          <p:nvSpPr>
            <p:cNvPr id="697" name="Shape 907"/>
            <p:cNvSpPr/>
            <p:nvPr/>
          </p:nvSpPr>
          <p:spPr>
            <a:xfrm>
              <a:off x="-1" y="1600765"/>
              <a:ext cx="652499" cy="2260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8" name="Shape 908"/>
            <p:cNvSpPr/>
            <p:nvPr/>
          </p:nvSpPr>
          <p:spPr>
            <a:xfrm flipV="1">
              <a:off x="652497" y="0"/>
              <a:ext cx="2260" cy="1605283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9" name="Shape 909"/>
            <p:cNvSpPr/>
            <p:nvPr/>
          </p:nvSpPr>
          <p:spPr>
            <a:xfrm>
              <a:off x="652497" y="0"/>
              <a:ext cx="2959949" cy="2258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0" name="Shape 910"/>
            <p:cNvSpPr/>
            <p:nvPr/>
          </p:nvSpPr>
          <p:spPr>
            <a:xfrm>
              <a:off x="3612444" y="20319"/>
              <a:ext cx="2260" cy="652499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702" name="Shape 912"/>
          <p:cNvSpPr/>
          <p:nvPr/>
        </p:nvSpPr>
        <p:spPr>
          <a:xfrm>
            <a:off x="6858842" y="4795970"/>
            <a:ext cx="2260" cy="927949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03" name="Shape 913"/>
          <p:cNvSpPr/>
          <p:nvPr/>
        </p:nvSpPr>
        <p:spPr>
          <a:xfrm>
            <a:off x="6883677" y="6100965"/>
            <a:ext cx="2260" cy="952785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07" name="Group 917"/>
          <p:cNvGrpSpPr/>
          <p:nvPr/>
        </p:nvGrpSpPr>
        <p:grpSpPr>
          <a:xfrm>
            <a:off x="5680282" y="5449597"/>
            <a:ext cx="3589870" cy="476394"/>
            <a:chOff x="0" y="0"/>
            <a:chExt cx="3589868" cy="476393"/>
          </a:xfrm>
        </p:grpSpPr>
        <p:sp>
          <p:nvSpPr>
            <p:cNvPr id="704" name="Shape 914"/>
            <p:cNvSpPr/>
            <p:nvPr/>
          </p:nvSpPr>
          <p:spPr>
            <a:xfrm flipV="1">
              <a:off x="-1" y="0"/>
              <a:ext cx="2259" cy="476393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5" name="Shape 915"/>
            <p:cNvSpPr/>
            <p:nvPr/>
          </p:nvSpPr>
          <p:spPr>
            <a:xfrm>
              <a:off x="-1" y="-1"/>
              <a:ext cx="3562777" cy="2260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6" name="Shape 916"/>
            <p:cNvSpPr/>
            <p:nvPr/>
          </p:nvSpPr>
          <p:spPr>
            <a:xfrm>
              <a:off x="3587609" y="-1"/>
              <a:ext cx="2260" cy="250615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708" name="Shape 918"/>
          <p:cNvSpPr/>
          <p:nvPr/>
        </p:nvSpPr>
        <p:spPr>
          <a:xfrm>
            <a:off x="9218220" y="5999366"/>
            <a:ext cx="2260" cy="1054384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11" name="Group 921"/>
          <p:cNvGrpSpPr/>
          <p:nvPr/>
        </p:nvGrpSpPr>
        <p:grpSpPr>
          <a:xfrm>
            <a:off x="3221563" y="6224298"/>
            <a:ext cx="7251984" cy="380155"/>
            <a:chOff x="0" y="0"/>
            <a:chExt cx="7251983" cy="380154"/>
          </a:xfrm>
        </p:grpSpPr>
        <p:sp>
          <p:nvSpPr>
            <p:cNvPr id="709" name="Shape 919"/>
            <p:cNvSpPr/>
            <p:nvPr/>
          </p:nvSpPr>
          <p:spPr>
            <a:xfrm flipV="1">
              <a:off x="0" y="377895"/>
              <a:ext cx="7249727" cy="2260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0" name="Shape 920"/>
            <p:cNvSpPr/>
            <p:nvPr/>
          </p:nvSpPr>
          <p:spPr>
            <a:xfrm flipV="1">
              <a:off x="7249725" y="0"/>
              <a:ext cx="2259" cy="352215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712" name="Shape 922"/>
          <p:cNvSpPr/>
          <p:nvPr/>
        </p:nvSpPr>
        <p:spPr>
          <a:xfrm flipV="1">
            <a:off x="10446451" y="4947241"/>
            <a:ext cx="2260" cy="878278"/>
          </a:xfrm>
          <a:prstGeom prst="line">
            <a:avLst/>
          </a:prstGeom>
          <a:ln w="38100">
            <a:solidFill>
              <a:srgbClr val="0000FF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16" name="Group 926"/>
          <p:cNvGrpSpPr/>
          <p:nvPr/>
        </p:nvGrpSpPr>
        <p:grpSpPr>
          <a:xfrm>
            <a:off x="5680283" y="7405961"/>
            <a:ext cx="4718758" cy="401887"/>
            <a:chOff x="0" y="0"/>
            <a:chExt cx="4718757" cy="401885"/>
          </a:xfrm>
        </p:grpSpPr>
        <p:sp>
          <p:nvSpPr>
            <p:cNvPr id="713" name="Shape 923"/>
            <p:cNvSpPr/>
            <p:nvPr/>
          </p:nvSpPr>
          <p:spPr>
            <a:xfrm>
              <a:off x="0" y="0"/>
              <a:ext cx="2259" cy="399628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4" name="Shape 924"/>
            <p:cNvSpPr/>
            <p:nvPr/>
          </p:nvSpPr>
          <p:spPr>
            <a:xfrm>
              <a:off x="0" y="399627"/>
              <a:ext cx="4716500" cy="2259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5" name="Shape 925"/>
            <p:cNvSpPr/>
            <p:nvPr/>
          </p:nvSpPr>
          <p:spPr>
            <a:xfrm flipV="1">
              <a:off x="4716499" y="198684"/>
              <a:ext cx="2259" cy="200945"/>
            </a:xfrm>
            <a:prstGeom prst="line">
              <a:avLst/>
            </a:prstGeom>
            <a:noFill/>
            <a:ln w="38100" cap="flat">
              <a:solidFill>
                <a:srgbClr val="0000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717" name="Shape 927"/>
          <p:cNvSpPr txBox="1"/>
          <p:nvPr/>
        </p:nvSpPr>
        <p:spPr>
          <a:xfrm>
            <a:off x="8929224" y="4389570"/>
            <a:ext cx="37872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^</a:t>
            </a:r>
          </a:p>
        </p:txBody>
      </p:sp>
      <p:sp>
        <p:nvSpPr>
          <p:cNvPr id="718" name="Shape 928"/>
          <p:cNvSpPr txBox="1"/>
          <p:nvPr/>
        </p:nvSpPr>
        <p:spPr>
          <a:xfrm>
            <a:off x="8929224" y="7098904"/>
            <a:ext cx="37872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^</a:t>
            </a:r>
          </a:p>
        </p:txBody>
      </p:sp>
      <p:sp>
        <p:nvSpPr>
          <p:cNvPr id="719" name="Shape 929"/>
          <p:cNvSpPr txBox="1"/>
          <p:nvPr/>
        </p:nvSpPr>
        <p:spPr>
          <a:xfrm>
            <a:off x="10121331" y="4389570"/>
            <a:ext cx="37872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^</a:t>
            </a:r>
          </a:p>
        </p:txBody>
      </p:sp>
      <p:sp>
        <p:nvSpPr>
          <p:cNvPr id="720" name="Shape 930"/>
          <p:cNvSpPr txBox="1"/>
          <p:nvPr/>
        </p:nvSpPr>
        <p:spPr>
          <a:xfrm>
            <a:off x="10121331" y="7098904"/>
            <a:ext cx="37872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^</a:t>
            </a:r>
          </a:p>
        </p:txBody>
      </p:sp>
      <p:sp>
        <p:nvSpPr>
          <p:cNvPr id="721" name="Shape 931"/>
          <p:cNvSpPr txBox="1"/>
          <p:nvPr/>
        </p:nvSpPr>
        <p:spPr>
          <a:xfrm>
            <a:off x="6653384" y="7098904"/>
            <a:ext cx="37872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^</a:t>
            </a:r>
          </a:p>
        </p:txBody>
      </p:sp>
      <p:grpSp>
        <p:nvGrpSpPr>
          <p:cNvPr id="789" name="Group 1000"/>
          <p:cNvGrpSpPr/>
          <p:nvPr/>
        </p:nvGrpSpPr>
        <p:grpSpPr>
          <a:xfrm>
            <a:off x="1111281" y="4331712"/>
            <a:ext cx="9551921" cy="3296365"/>
            <a:chOff x="0" y="0"/>
            <a:chExt cx="9551920" cy="3296363"/>
          </a:xfrm>
        </p:grpSpPr>
        <p:grpSp>
          <p:nvGrpSpPr>
            <p:cNvPr id="785" name="Group 996"/>
            <p:cNvGrpSpPr/>
            <p:nvPr/>
          </p:nvGrpSpPr>
          <p:grpSpPr>
            <a:xfrm>
              <a:off x="0" y="0"/>
              <a:ext cx="9551921" cy="3296364"/>
              <a:chOff x="0" y="0"/>
              <a:chExt cx="9551920" cy="3296363"/>
            </a:xfrm>
          </p:grpSpPr>
          <p:sp>
            <p:nvSpPr>
              <p:cNvPr id="722" name="Shape 933"/>
              <p:cNvSpPr/>
              <p:nvPr/>
            </p:nvSpPr>
            <p:spPr>
              <a:xfrm flipV="1">
                <a:off x="492680" y="661039"/>
                <a:ext cx="1836640" cy="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23" name="Shape 934"/>
              <p:cNvSpPr/>
              <p:nvPr/>
            </p:nvSpPr>
            <p:spPr>
              <a:xfrm flipV="1">
                <a:off x="492680" y="1303609"/>
                <a:ext cx="1836640" cy="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24" name="Shape 935"/>
              <p:cNvSpPr/>
              <p:nvPr/>
            </p:nvSpPr>
            <p:spPr>
              <a:xfrm flipV="1">
                <a:off x="492680" y="1948496"/>
                <a:ext cx="1836640" cy="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25" name="Shape 936"/>
              <p:cNvSpPr/>
              <p:nvPr/>
            </p:nvSpPr>
            <p:spPr>
              <a:xfrm>
                <a:off x="1459451" y="12984"/>
                <a:ext cx="2258" cy="32731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26" name="Shape 937"/>
              <p:cNvSpPr txBox="1"/>
              <p:nvPr/>
            </p:nvSpPr>
            <p:spPr>
              <a:xfrm>
                <a:off x="-1" y="66459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  <p:sp>
            <p:nvSpPr>
              <p:cNvPr id="727" name="Shape 938"/>
              <p:cNvSpPr txBox="1"/>
              <p:nvPr/>
            </p:nvSpPr>
            <p:spPr>
              <a:xfrm>
                <a:off x="-1" y="700909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728" name="Shape 939"/>
              <p:cNvSpPr txBox="1"/>
              <p:nvPr/>
            </p:nvSpPr>
            <p:spPr>
              <a:xfrm>
                <a:off x="-1" y="1330719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  <p:sp>
            <p:nvSpPr>
              <p:cNvPr id="729" name="Shape 940"/>
              <p:cNvSpPr txBox="1"/>
              <p:nvPr/>
            </p:nvSpPr>
            <p:spPr>
              <a:xfrm>
                <a:off x="-1" y="1965170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730" name="Shape 941"/>
              <p:cNvSpPr txBox="1"/>
              <p:nvPr/>
            </p:nvSpPr>
            <p:spPr>
              <a:xfrm>
                <a:off x="845077" y="107054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731" name="Shape 942"/>
              <p:cNvSpPr txBox="1"/>
              <p:nvPr/>
            </p:nvSpPr>
            <p:spPr>
              <a:xfrm>
                <a:off x="892035" y="1382913"/>
                <a:ext cx="32993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  <p:sp>
            <p:nvSpPr>
              <p:cNvPr id="732" name="Shape 943"/>
              <p:cNvSpPr txBox="1"/>
              <p:nvPr/>
            </p:nvSpPr>
            <p:spPr>
              <a:xfrm>
                <a:off x="845235" y="2019682"/>
                <a:ext cx="369867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  <p:sp>
            <p:nvSpPr>
              <p:cNvPr id="733" name="Shape 944"/>
              <p:cNvSpPr txBox="1"/>
              <p:nvPr/>
            </p:nvSpPr>
            <p:spPr>
              <a:xfrm>
                <a:off x="845235" y="687287"/>
                <a:ext cx="369867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  <p:sp>
            <p:nvSpPr>
              <p:cNvPr id="734" name="Shape 945"/>
              <p:cNvSpPr/>
              <p:nvPr/>
            </p:nvSpPr>
            <p:spPr>
              <a:xfrm>
                <a:off x="492890" y="2628183"/>
                <a:ext cx="1852415" cy="2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35" name="Shape 946"/>
              <p:cNvSpPr txBox="1"/>
              <p:nvPr/>
            </p:nvSpPr>
            <p:spPr>
              <a:xfrm>
                <a:off x="15774" y="2728366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736" name="Shape 947"/>
              <p:cNvSpPr txBox="1"/>
              <p:nvPr/>
            </p:nvSpPr>
            <p:spPr>
              <a:xfrm>
                <a:off x="856188" y="2731988"/>
                <a:ext cx="32993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57798" algn="ctr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  <p:grpSp>
            <p:nvGrpSpPr>
              <p:cNvPr id="744" name="Group 955"/>
              <p:cNvGrpSpPr/>
              <p:nvPr/>
            </p:nvGrpSpPr>
            <p:grpSpPr>
              <a:xfrm>
                <a:off x="3032421" y="34796"/>
                <a:ext cx="2981440" cy="568344"/>
                <a:chOff x="-1" y="0"/>
                <a:chExt cx="2981439" cy="568343"/>
              </a:xfrm>
            </p:grpSpPr>
            <p:grpSp>
              <p:nvGrpSpPr>
                <p:cNvPr id="739" name="Group 950"/>
                <p:cNvGrpSpPr/>
                <p:nvPr/>
              </p:nvGrpSpPr>
              <p:grpSpPr>
                <a:xfrm>
                  <a:off x="-2" y="12701"/>
                  <a:ext cx="2981441" cy="542824"/>
                  <a:chOff x="0" y="0"/>
                  <a:chExt cx="2981439" cy="542823"/>
                </a:xfrm>
              </p:grpSpPr>
              <p:sp>
                <p:nvSpPr>
                  <p:cNvPr id="737" name="Shape 948"/>
                  <p:cNvSpPr/>
                  <p:nvPr/>
                </p:nvSpPr>
                <p:spPr>
                  <a:xfrm>
                    <a:off x="-1" y="-1"/>
                    <a:ext cx="2981441" cy="54282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738" name="Shape 949"/>
                  <p:cNvSpPr txBox="1"/>
                  <p:nvPr/>
                </p:nvSpPr>
                <p:spPr>
                  <a:xfrm>
                    <a:off x="-1" y="27080"/>
                    <a:ext cx="21279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       1           2</a:t>
                    </a:r>
                  </a:p>
                </p:txBody>
              </p:sp>
            </p:grpSp>
            <p:sp>
              <p:nvSpPr>
                <p:cNvPr id="740" name="Shape 951"/>
                <p:cNvSpPr/>
                <p:nvPr/>
              </p:nvSpPr>
              <p:spPr>
                <a:xfrm flipH="1">
                  <a:off x="553243" y="-1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41" name="Shape 952"/>
                <p:cNvSpPr/>
                <p:nvPr/>
              </p:nvSpPr>
              <p:spPr>
                <a:xfrm flipH="1">
                  <a:off x="1168460" y="-1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42" name="Shape 953"/>
                <p:cNvSpPr/>
                <p:nvPr/>
              </p:nvSpPr>
              <p:spPr>
                <a:xfrm flipH="1">
                  <a:off x="1785930" y="-1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43" name="Shape 954"/>
                <p:cNvSpPr/>
                <p:nvPr/>
              </p:nvSpPr>
              <p:spPr>
                <a:xfrm flipH="1">
                  <a:off x="2403401" y="-1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752" name="Group 963"/>
              <p:cNvGrpSpPr/>
              <p:nvPr/>
            </p:nvGrpSpPr>
            <p:grpSpPr>
              <a:xfrm>
                <a:off x="6554708" y="-1"/>
                <a:ext cx="2981440" cy="568345"/>
                <a:chOff x="-1" y="0"/>
                <a:chExt cx="2981439" cy="568343"/>
              </a:xfrm>
            </p:grpSpPr>
            <p:grpSp>
              <p:nvGrpSpPr>
                <p:cNvPr id="747" name="Group 958"/>
                <p:cNvGrpSpPr/>
                <p:nvPr/>
              </p:nvGrpSpPr>
              <p:grpSpPr>
                <a:xfrm>
                  <a:off x="-2" y="12702"/>
                  <a:ext cx="2981440" cy="542824"/>
                  <a:chOff x="0" y="0"/>
                  <a:chExt cx="2981439" cy="542823"/>
                </a:xfrm>
              </p:grpSpPr>
              <p:sp>
                <p:nvSpPr>
                  <p:cNvPr id="745" name="Shape 956"/>
                  <p:cNvSpPr/>
                  <p:nvPr/>
                </p:nvSpPr>
                <p:spPr>
                  <a:xfrm>
                    <a:off x="-1" y="-1"/>
                    <a:ext cx="2981440" cy="54282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746" name="Shape 957"/>
                  <p:cNvSpPr txBox="1"/>
                  <p:nvPr/>
                </p:nvSpPr>
                <p:spPr>
                  <a:xfrm>
                    <a:off x="-1" y="27079"/>
                    <a:ext cx="22168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       1            4</a:t>
                    </a:r>
                  </a:p>
                </p:txBody>
              </p:sp>
            </p:grpSp>
            <p:sp>
              <p:nvSpPr>
                <p:cNvPr id="748" name="Shape 959"/>
                <p:cNvSpPr/>
                <p:nvPr/>
              </p:nvSpPr>
              <p:spPr>
                <a:xfrm flipH="1">
                  <a:off x="553241" y="-1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49" name="Shape 960"/>
                <p:cNvSpPr/>
                <p:nvPr/>
              </p:nvSpPr>
              <p:spPr>
                <a:xfrm flipH="1">
                  <a:off x="1168459" y="-1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50" name="Shape 961"/>
                <p:cNvSpPr/>
                <p:nvPr/>
              </p:nvSpPr>
              <p:spPr>
                <a:xfrm flipH="1">
                  <a:off x="1785928" y="-1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51" name="Shape 962"/>
                <p:cNvSpPr/>
                <p:nvPr/>
              </p:nvSpPr>
              <p:spPr>
                <a:xfrm flipH="1">
                  <a:off x="2403400" y="-1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760" name="Group 971"/>
              <p:cNvGrpSpPr/>
              <p:nvPr/>
            </p:nvGrpSpPr>
            <p:grpSpPr>
              <a:xfrm>
                <a:off x="6570480" y="1329213"/>
                <a:ext cx="2981441" cy="568345"/>
                <a:chOff x="-1" y="0"/>
                <a:chExt cx="2981439" cy="568343"/>
              </a:xfrm>
            </p:grpSpPr>
            <p:grpSp>
              <p:nvGrpSpPr>
                <p:cNvPr id="755" name="Group 966"/>
                <p:cNvGrpSpPr/>
                <p:nvPr/>
              </p:nvGrpSpPr>
              <p:grpSpPr>
                <a:xfrm>
                  <a:off x="-2" y="12702"/>
                  <a:ext cx="2981441" cy="542825"/>
                  <a:chOff x="0" y="0"/>
                  <a:chExt cx="2981439" cy="542823"/>
                </a:xfrm>
              </p:grpSpPr>
              <p:sp>
                <p:nvSpPr>
                  <p:cNvPr id="753" name="Shape 964"/>
                  <p:cNvSpPr/>
                  <p:nvPr/>
                </p:nvSpPr>
                <p:spPr>
                  <a:xfrm>
                    <a:off x="-1" y="-1"/>
                    <a:ext cx="2981441" cy="54282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754" name="Shape 965"/>
                  <p:cNvSpPr txBox="1"/>
                  <p:nvPr/>
                </p:nvSpPr>
                <p:spPr>
                  <a:xfrm>
                    <a:off x="0" y="27079"/>
                    <a:ext cx="22168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       3            4</a:t>
                    </a:r>
                  </a:p>
                </p:txBody>
              </p:sp>
            </p:grpSp>
            <p:sp>
              <p:nvSpPr>
                <p:cNvPr id="756" name="Shape 967"/>
                <p:cNvSpPr/>
                <p:nvPr/>
              </p:nvSpPr>
              <p:spPr>
                <a:xfrm flipH="1">
                  <a:off x="552061" y="0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57" name="Shape 968"/>
                <p:cNvSpPr/>
                <p:nvPr/>
              </p:nvSpPr>
              <p:spPr>
                <a:xfrm flipH="1">
                  <a:off x="1168460" y="0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58" name="Shape 969"/>
                <p:cNvSpPr/>
                <p:nvPr/>
              </p:nvSpPr>
              <p:spPr>
                <a:xfrm flipH="1">
                  <a:off x="1785930" y="0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59" name="Shape 970"/>
                <p:cNvSpPr/>
                <p:nvPr/>
              </p:nvSpPr>
              <p:spPr>
                <a:xfrm flipH="1">
                  <a:off x="2403401" y="0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768" name="Group 979"/>
              <p:cNvGrpSpPr/>
              <p:nvPr/>
            </p:nvGrpSpPr>
            <p:grpSpPr>
              <a:xfrm>
                <a:off x="3052703" y="1347771"/>
                <a:ext cx="2981440" cy="568344"/>
                <a:chOff x="-1" y="0"/>
                <a:chExt cx="2981439" cy="568343"/>
              </a:xfrm>
            </p:grpSpPr>
            <p:grpSp>
              <p:nvGrpSpPr>
                <p:cNvPr id="763" name="Group 974"/>
                <p:cNvGrpSpPr/>
                <p:nvPr/>
              </p:nvGrpSpPr>
              <p:grpSpPr>
                <a:xfrm>
                  <a:off x="-2" y="12702"/>
                  <a:ext cx="2981440" cy="542824"/>
                  <a:chOff x="0" y="0"/>
                  <a:chExt cx="2981439" cy="542823"/>
                </a:xfrm>
              </p:grpSpPr>
              <p:sp>
                <p:nvSpPr>
                  <p:cNvPr id="761" name="Shape 972"/>
                  <p:cNvSpPr/>
                  <p:nvPr/>
                </p:nvSpPr>
                <p:spPr>
                  <a:xfrm>
                    <a:off x="-1" y="-1"/>
                    <a:ext cx="2981440" cy="54282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762" name="Shape 973"/>
                  <p:cNvSpPr txBox="1"/>
                  <p:nvPr/>
                </p:nvSpPr>
                <p:spPr>
                  <a:xfrm>
                    <a:off x="-1" y="27079"/>
                    <a:ext cx="21279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       3           2</a:t>
                    </a:r>
                  </a:p>
                </p:txBody>
              </p:sp>
            </p:grpSp>
            <p:sp>
              <p:nvSpPr>
                <p:cNvPr id="764" name="Shape 975"/>
                <p:cNvSpPr/>
                <p:nvPr/>
              </p:nvSpPr>
              <p:spPr>
                <a:xfrm flipH="1">
                  <a:off x="553243" y="-1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65" name="Shape 976"/>
                <p:cNvSpPr/>
                <p:nvPr/>
              </p:nvSpPr>
              <p:spPr>
                <a:xfrm flipH="1">
                  <a:off x="1168459" y="-1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66" name="Shape 977"/>
                <p:cNvSpPr/>
                <p:nvPr/>
              </p:nvSpPr>
              <p:spPr>
                <a:xfrm flipH="1">
                  <a:off x="1785930" y="-1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67" name="Shape 978"/>
                <p:cNvSpPr/>
                <p:nvPr/>
              </p:nvSpPr>
              <p:spPr>
                <a:xfrm flipH="1">
                  <a:off x="2403401" y="-1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776" name="Group 987"/>
              <p:cNvGrpSpPr/>
              <p:nvPr/>
            </p:nvGrpSpPr>
            <p:grpSpPr>
              <a:xfrm>
                <a:off x="6527664" y="2728019"/>
                <a:ext cx="2981441" cy="568345"/>
                <a:chOff x="-1" y="0"/>
                <a:chExt cx="2981439" cy="568343"/>
              </a:xfrm>
            </p:grpSpPr>
            <p:grpSp>
              <p:nvGrpSpPr>
                <p:cNvPr id="771" name="Group 982"/>
                <p:cNvGrpSpPr/>
                <p:nvPr/>
              </p:nvGrpSpPr>
              <p:grpSpPr>
                <a:xfrm>
                  <a:off x="-2" y="12702"/>
                  <a:ext cx="2981441" cy="542825"/>
                  <a:chOff x="0" y="0"/>
                  <a:chExt cx="2981439" cy="542823"/>
                </a:xfrm>
              </p:grpSpPr>
              <p:sp>
                <p:nvSpPr>
                  <p:cNvPr id="769" name="Shape 980"/>
                  <p:cNvSpPr/>
                  <p:nvPr/>
                </p:nvSpPr>
                <p:spPr>
                  <a:xfrm>
                    <a:off x="-1" y="-1"/>
                    <a:ext cx="2981441" cy="54282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770" name="Shape 981"/>
                  <p:cNvSpPr txBox="1"/>
                  <p:nvPr/>
                </p:nvSpPr>
                <p:spPr>
                  <a:xfrm>
                    <a:off x="0" y="27079"/>
                    <a:ext cx="27502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       3            5      </a:t>
                    </a:r>
                  </a:p>
                </p:txBody>
              </p:sp>
            </p:grpSp>
            <p:sp>
              <p:nvSpPr>
                <p:cNvPr id="772" name="Shape 983"/>
                <p:cNvSpPr/>
                <p:nvPr/>
              </p:nvSpPr>
              <p:spPr>
                <a:xfrm flipH="1">
                  <a:off x="553241" y="0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73" name="Shape 984"/>
                <p:cNvSpPr/>
                <p:nvPr/>
              </p:nvSpPr>
              <p:spPr>
                <a:xfrm flipH="1">
                  <a:off x="1168460" y="0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74" name="Shape 985"/>
                <p:cNvSpPr/>
                <p:nvPr/>
              </p:nvSpPr>
              <p:spPr>
                <a:xfrm flipH="1">
                  <a:off x="1785929" y="0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75" name="Shape 986"/>
                <p:cNvSpPr/>
                <p:nvPr/>
              </p:nvSpPr>
              <p:spPr>
                <a:xfrm flipH="1">
                  <a:off x="2403401" y="0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  <p:grpSp>
            <p:nvGrpSpPr>
              <p:cNvPr id="784" name="Group 995"/>
              <p:cNvGrpSpPr/>
              <p:nvPr/>
            </p:nvGrpSpPr>
            <p:grpSpPr>
              <a:xfrm>
                <a:off x="3086506" y="2721060"/>
                <a:ext cx="2981440" cy="568345"/>
                <a:chOff x="-1" y="0"/>
                <a:chExt cx="2981439" cy="568343"/>
              </a:xfrm>
            </p:grpSpPr>
            <p:grpSp>
              <p:nvGrpSpPr>
                <p:cNvPr id="779" name="Group 990"/>
                <p:cNvGrpSpPr/>
                <p:nvPr/>
              </p:nvGrpSpPr>
              <p:grpSpPr>
                <a:xfrm>
                  <a:off x="-2" y="12702"/>
                  <a:ext cx="2981441" cy="542825"/>
                  <a:chOff x="0" y="0"/>
                  <a:chExt cx="2981439" cy="542823"/>
                </a:xfrm>
              </p:grpSpPr>
              <p:sp>
                <p:nvSpPr>
                  <p:cNvPr id="777" name="Shape 988"/>
                  <p:cNvSpPr/>
                  <p:nvPr/>
                </p:nvSpPr>
                <p:spPr>
                  <a:xfrm>
                    <a:off x="-1" y="-1"/>
                    <a:ext cx="2981441" cy="542825"/>
                  </a:xfrm>
                  <a:prstGeom prst="rect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778" name="Shape 989"/>
                  <p:cNvSpPr txBox="1"/>
                  <p:nvPr/>
                </p:nvSpPr>
                <p:spPr>
                  <a:xfrm>
                    <a:off x="-1" y="27079"/>
                    <a:ext cx="2127900" cy="4928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ctr">
                    <a:spAutoFit/>
                  </a:bodyPr>
                  <a:lstStyle>
                    <a:lvl1pPr marR="57798" defTabSz="1295400">
                      <a:lnSpc>
                        <a:spcPct val="100000"/>
                      </a:lnSpc>
                      <a:spcBef>
                        <a:spcPts val="1900"/>
                      </a:spcBef>
                      <a:defRPr b="1"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       5           2</a:t>
                    </a:r>
                  </a:p>
                </p:txBody>
              </p:sp>
            </p:grpSp>
            <p:sp>
              <p:nvSpPr>
                <p:cNvPr id="780" name="Shape 991"/>
                <p:cNvSpPr/>
                <p:nvPr/>
              </p:nvSpPr>
              <p:spPr>
                <a:xfrm flipH="1">
                  <a:off x="553243" y="0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81" name="Shape 992"/>
                <p:cNvSpPr/>
                <p:nvPr/>
              </p:nvSpPr>
              <p:spPr>
                <a:xfrm flipH="1">
                  <a:off x="1168460" y="0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82" name="Shape 993"/>
                <p:cNvSpPr/>
                <p:nvPr/>
              </p:nvSpPr>
              <p:spPr>
                <a:xfrm flipH="1">
                  <a:off x="1785931" y="0"/>
                  <a:ext cx="7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83" name="Shape 994"/>
                <p:cNvSpPr/>
                <p:nvPr/>
              </p:nvSpPr>
              <p:spPr>
                <a:xfrm flipH="1">
                  <a:off x="2403401" y="0"/>
                  <a:ext cx="8" cy="568344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</p:grpSp>
        </p:grpSp>
        <p:sp>
          <p:nvSpPr>
            <p:cNvPr id="786" name="Shape 997"/>
            <p:cNvSpPr/>
            <p:nvPr/>
          </p:nvSpPr>
          <p:spPr>
            <a:xfrm>
              <a:off x="2333518" y="12984"/>
              <a:ext cx="2260" cy="32731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7" name="Shape 998"/>
            <p:cNvSpPr/>
            <p:nvPr/>
          </p:nvSpPr>
          <p:spPr>
            <a:xfrm>
              <a:off x="492017" y="12984"/>
              <a:ext cx="2261" cy="32731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8" name="Shape 999"/>
            <p:cNvSpPr/>
            <p:nvPr/>
          </p:nvSpPr>
          <p:spPr>
            <a:xfrm>
              <a:off x="492017" y="3291841"/>
              <a:ext cx="1852415" cy="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790" name="Shape 1001"/>
          <p:cNvSpPr/>
          <p:nvPr/>
        </p:nvSpPr>
        <p:spPr>
          <a:xfrm>
            <a:off x="1603300" y="4346954"/>
            <a:ext cx="1852414" cy="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32" presetID="4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7"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32" presetID="4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2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32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7" dur="500"/>
                                        <p:tgtEl>
                                          <p:spTgt spid="7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Class="entr" nodeType="withEffect" presetSubtype="32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20" dur="500"/>
                                        <p:tgtEl>
                                          <p:spTgt spid="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32" presetID="4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25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32" presetID="4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30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32" presetID="4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35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32" presetID="4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40" dur="500"/>
                                        <p:tgtEl>
                                          <p:spTgt spid="7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Class="entr" nodeType="withEffect" presetSubtype="32" presetID="4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43" dur="500"/>
                                        <p:tgtEl>
                                          <p:spTgt spid="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nodeType="clickEffect" presetSubtype="32" presetID="4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48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32" presetID="4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53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clickEffect" presetSubtype="32" presetID="4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58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32" presetID="4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7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63" dur="500"/>
                                        <p:tgtEl>
                                          <p:spTgt spid="7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Class="entr" nodeType="withEffect" presetSubtype="32" presetID="4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66" dur="500"/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32" presetID="4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71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Class="entr" nodeType="clickEffect" presetSubtype="32" presetID="4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76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Class="entr" nodeType="clickEffect" presetSubtype="32" presetID="4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7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81" dur="500"/>
                                        <p:tgtEl>
                                          <p:spTgt spid="7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Class="entr" nodeType="withEffect" presetSubtype="32" presetID="4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84" dur="500"/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Class="entr" nodeType="clickEffect" presetSubtype="32" presetID="4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89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Class="entr" nodeType="clickEffect" presetSubtype="32" presetID="4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94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32" presetID="4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7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99" dur="500"/>
                                        <p:tgtEl>
                                          <p:spTgt spid="7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Class="entr" nodeType="withEffect" presetSubtype="32" presetID="4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02" dur="500"/>
                                        <p:tgtEl>
                                          <p:spTgt spid="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02" grpId="5"/>
      <p:bldP build="whole" bldLvl="1" animBg="1" rev="0" advAuto="0" spid="692" grpId="15"/>
      <p:bldP build="p" bldLvl="5" animBg="1" rev="0" advAuto="0" spid="717" grpId="3"/>
      <p:bldP build="whole" bldLvl="1" animBg="1" rev="0" advAuto="0" spid="696" grpId="2"/>
      <p:bldP build="p" bldLvl="5" animBg="1" rev="0" advAuto="0" spid="721" grpId="7"/>
      <p:bldP build="p" bldLvl="5" animBg="1" rev="0" advAuto="0" spid="720" grpId="17"/>
      <p:bldP build="whole" bldLvl="1" animBg="1" rev="0" advAuto="0" spid="691" grpId="8"/>
      <p:bldP build="whole" bldLvl="1" animBg="1" rev="0" advAuto="0" spid="711" grpId="12"/>
      <p:bldP build="whole" bldLvl="1" animBg="1" rev="0" advAuto="0" spid="703" grpId="6"/>
      <p:bldP build="whole" bldLvl="1" animBg="1" rev="0" advAuto="0" spid="701" grpId="4"/>
      <p:bldP build="whole" bldLvl="1" animBg="1" rev="0" advAuto="0" spid="708" grpId="10"/>
      <p:bldP build="whole" bldLvl="1" animBg="1" rev="0" advAuto="0" spid="690" grpId="1"/>
      <p:bldP build="whole" bldLvl="1" animBg="1" rev="0" advAuto="0" spid="707" grpId="9"/>
      <p:bldP build="whole" bldLvl="1" animBg="1" rev="0" advAuto="0" spid="712" grpId="13"/>
      <p:bldP build="p" bldLvl="5" animBg="1" rev="0" advAuto="0" spid="719" grpId="14"/>
      <p:bldP build="whole" bldLvl="1" animBg="1" rev="0" advAuto="0" spid="716" grpId="16"/>
      <p:bldP build="p" bldLvl="5" animBg="1" rev="0" advAuto="0" spid="718" grpId="1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Shape 1003"/>
          <p:cNvSpPr txBox="1"/>
          <p:nvPr/>
        </p:nvSpPr>
        <p:spPr>
          <a:xfrm>
            <a:off x="2350064" y="80433"/>
            <a:ext cx="7797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  <p:sp>
        <p:nvSpPr>
          <p:cNvPr id="793" name="Shape 1004"/>
          <p:cNvSpPr/>
          <p:nvPr/>
        </p:nvSpPr>
        <p:spPr>
          <a:xfrm>
            <a:off x="6197598" y="1732279"/>
            <a:ext cx="1126635" cy="1025035"/>
          </a:xfrm>
          <a:prstGeom prst="ellipse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4" name="Shape 1005"/>
          <p:cNvSpPr txBox="1"/>
          <p:nvPr/>
        </p:nvSpPr>
        <p:spPr>
          <a:xfrm>
            <a:off x="6524940" y="2022119"/>
            <a:ext cx="467434" cy="44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R="56816" indent="56816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0250"/>
              <a:t>1</a:t>
            </a:r>
          </a:p>
        </p:txBody>
      </p:sp>
      <p:sp>
        <p:nvSpPr>
          <p:cNvPr id="795" name="Shape 1007"/>
          <p:cNvSpPr/>
          <p:nvPr/>
        </p:nvSpPr>
        <p:spPr>
          <a:xfrm>
            <a:off x="9164319" y="1732279"/>
            <a:ext cx="1126635" cy="1025035"/>
          </a:xfrm>
          <a:prstGeom prst="ellipse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6" name="Shape 1008"/>
          <p:cNvSpPr txBox="1"/>
          <p:nvPr/>
        </p:nvSpPr>
        <p:spPr>
          <a:xfrm>
            <a:off x="9490990" y="2022119"/>
            <a:ext cx="467433" cy="44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R="56816" indent="56816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0250"/>
              <a:t>2</a:t>
            </a:r>
          </a:p>
        </p:txBody>
      </p:sp>
      <p:sp>
        <p:nvSpPr>
          <p:cNvPr id="797" name="Shape 1010"/>
          <p:cNvSpPr/>
          <p:nvPr/>
        </p:nvSpPr>
        <p:spPr>
          <a:xfrm>
            <a:off x="7834489" y="3263900"/>
            <a:ext cx="1126635" cy="1025035"/>
          </a:xfrm>
          <a:prstGeom prst="ellipse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98" name="Shape 1011"/>
          <p:cNvSpPr txBox="1"/>
          <p:nvPr/>
        </p:nvSpPr>
        <p:spPr>
          <a:xfrm>
            <a:off x="8164087" y="3559665"/>
            <a:ext cx="467434" cy="44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R="56816" indent="56816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0250"/>
              <a:t>3</a:t>
            </a:r>
          </a:p>
        </p:txBody>
      </p:sp>
      <p:sp>
        <p:nvSpPr>
          <p:cNvPr id="799" name="Shape 1013"/>
          <p:cNvSpPr/>
          <p:nvPr/>
        </p:nvSpPr>
        <p:spPr>
          <a:xfrm>
            <a:off x="6197598" y="4800600"/>
            <a:ext cx="1126635" cy="1025035"/>
          </a:xfrm>
          <a:prstGeom prst="ellipse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00" name="Shape 1014"/>
          <p:cNvSpPr txBox="1"/>
          <p:nvPr/>
        </p:nvSpPr>
        <p:spPr>
          <a:xfrm>
            <a:off x="6524940" y="5094954"/>
            <a:ext cx="467434" cy="44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R="56816" indent="56816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0250"/>
              <a:t>4</a:t>
            </a:r>
          </a:p>
        </p:txBody>
      </p:sp>
      <p:sp>
        <p:nvSpPr>
          <p:cNvPr id="801" name="Shape 1016"/>
          <p:cNvSpPr/>
          <p:nvPr/>
        </p:nvSpPr>
        <p:spPr>
          <a:xfrm>
            <a:off x="9164319" y="4800600"/>
            <a:ext cx="1126635" cy="1025035"/>
          </a:xfrm>
          <a:prstGeom prst="ellipse">
            <a:avLst/>
          </a:prstGeom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02" name="Shape 1017"/>
          <p:cNvSpPr txBox="1"/>
          <p:nvPr/>
        </p:nvSpPr>
        <p:spPr>
          <a:xfrm>
            <a:off x="9490990" y="5094954"/>
            <a:ext cx="467433" cy="44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R="56816" indent="56816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0250"/>
              <a:t>5</a:t>
            </a:r>
          </a:p>
        </p:txBody>
      </p:sp>
      <p:sp>
        <p:nvSpPr>
          <p:cNvPr id="803" name="Shape 1019"/>
          <p:cNvSpPr txBox="1"/>
          <p:nvPr/>
        </p:nvSpPr>
        <p:spPr>
          <a:xfrm>
            <a:off x="496428" y="2115536"/>
            <a:ext cx="47371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2400"/>
              </a:spcBef>
              <a:defRPr sz="38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pPr>
            <a:r>
              <a:t>1</a:t>
            </a:r>
            <a:r>
              <a:rPr>
                <a:latin typeface="SimSun"/>
                <a:ea typeface="SimSun"/>
                <a:cs typeface="SimSun"/>
                <a:sym typeface="SimSun"/>
              </a:rPr>
              <a:t>、邻接矩阵</a:t>
            </a:r>
          </a:p>
        </p:txBody>
      </p:sp>
      <p:sp>
        <p:nvSpPr>
          <p:cNvPr id="804" name="Shape 1020"/>
          <p:cNvSpPr txBox="1"/>
          <p:nvPr/>
        </p:nvSpPr>
        <p:spPr>
          <a:xfrm>
            <a:off x="496428" y="3343769"/>
            <a:ext cx="47371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2400"/>
              </a:spcBef>
              <a:defRPr sz="38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pPr>
            <a:r>
              <a:t>2</a:t>
            </a:r>
            <a:r>
              <a:rPr>
                <a:latin typeface="SimSun"/>
                <a:ea typeface="SimSun"/>
                <a:cs typeface="SimSun"/>
                <a:sym typeface="SimSun"/>
              </a:rPr>
              <a:t>、邻接表</a:t>
            </a:r>
          </a:p>
        </p:txBody>
      </p:sp>
      <p:sp>
        <p:nvSpPr>
          <p:cNvPr id="805" name="Shape 1021"/>
          <p:cNvSpPr txBox="1"/>
          <p:nvPr/>
        </p:nvSpPr>
        <p:spPr>
          <a:xfrm>
            <a:off x="496428" y="4858737"/>
            <a:ext cx="47371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2400"/>
              </a:spcBef>
              <a:defRPr sz="38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pPr>
            <a:r>
              <a:t>3</a:t>
            </a:r>
            <a:r>
              <a:rPr>
                <a:latin typeface="SimSun"/>
                <a:ea typeface="SimSun"/>
                <a:cs typeface="SimSun"/>
                <a:sym typeface="SimSun"/>
              </a:rPr>
              <a:t>、邻接多重表</a:t>
            </a:r>
          </a:p>
        </p:txBody>
      </p:sp>
      <p:sp>
        <p:nvSpPr>
          <p:cNvPr id="806" name="Shape 1022"/>
          <p:cNvSpPr/>
          <p:nvPr/>
        </p:nvSpPr>
        <p:spPr>
          <a:xfrm>
            <a:off x="7321973" y="2193995"/>
            <a:ext cx="1841502" cy="225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07" name="Shape 1023"/>
          <p:cNvSpPr/>
          <p:nvPr/>
        </p:nvSpPr>
        <p:spPr>
          <a:xfrm>
            <a:off x="7321973" y="5317630"/>
            <a:ext cx="1841502" cy="226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08" name="Shape 1024"/>
          <p:cNvSpPr/>
          <p:nvPr/>
        </p:nvSpPr>
        <p:spPr>
          <a:xfrm>
            <a:off x="6707858" y="2757311"/>
            <a:ext cx="2259" cy="204780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09" name="Shape 1025"/>
          <p:cNvSpPr/>
          <p:nvPr/>
        </p:nvSpPr>
        <p:spPr>
          <a:xfrm>
            <a:off x="9780692" y="2757311"/>
            <a:ext cx="2260" cy="204780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10" name="Shape 1026"/>
          <p:cNvSpPr/>
          <p:nvPr/>
        </p:nvSpPr>
        <p:spPr>
          <a:xfrm>
            <a:off x="7220373" y="2551853"/>
            <a:ext cx="817317" cy="819575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roup 1050"/>
          <p:cNvGrpSpPr/>
          <p:nvPr/>
        </p:nvGrpSpPr>
        <p:grpSpPr>
          <a:xfrm>
            <a:off x="447283" y="1492082"/>
            <a:ext cx="4301071" cy="2863711"/>
            <a:chOff x="0" y="0"/>
            <a:chExt cx="4301069" cy="2863710"/>
          </a:xfrm>
        </p:grpSpPr>
        <p:sp>
          <p:nvSpPr>
            <p:cNvPr id="812" name="Shape 1028"/>
            <p:cNvSpPr/>
            <p:nvPr/>
          </p:nvSpPr>
          <p:spPr>
            <a:xfrm flipH="1">
              <a:off x="280504" y="273819"/>
              <a:ext cx="1587502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3" name="Shape 1029"/>
            <p:cNvSpPr/>
            <p:nvPr/>
          </p:nvSpPr>
          <p:spPr>
            <a:xfrm>
              <a:off x="467507" y="1661260"/>
              <a:ext cx="561011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4" name="Shape 1030"/>
            <p:cNvSpPr/>
            <p:nvPr/>
          </p:nvSpPr>
          <p:spPr>
            <a:xfrm>
              <a:off x="1589524" y="2493724"/>
              <a:ext cx="1122020" cy="2260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5" name="Shape 1031"/>
            <p:cNvSpPr/>
            <p:nvPr/>
          </p:nvSpPr>
          <p:spPr>
            <a:xfrm flipH="1" flipV="1">
              <a:off x="2337536" y="551307"/>
              <a:ext cx="654512" cy="166493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6" name="Shape 1032"/>
            <p:cNvSpPr/>
            <p:nvPr/>
          </p:nvSpPr>
          <p:spPr>
            <a:xfrm>
              <a:off x="2431037" y="273819"/>
              <a:ext cx="1496025" cy="832465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7" name="Shape 1033"/>
            <p:cNvSpPr/>
            <p:nvPr/>
          </p:nvSpPr>
          <p:spPr>
            <a:xfrm flipH="1" flipV="1">
              <a:off x="561008" y="1383772"/>
              <a:ext cx="2150536" cy="924963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8" name="Shape 1034"/>
            <p:cNvSpPr/>
            <p:nvPr/>
          </p:nvSpPr>
          <p:spPr>
            <a:xfrm flipH="1">
              <a:off x="1309019" y="1383772"/>
              <a:ext cx="2431040" cy="832467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821" name="Group 1037"/>
            <p:cNvGrpSpPr/>
            <p:nvPr/>
          </p:nvGrpSpPr>
          <p:grpSpPr>
            <a:xfrm>
              <a:off x="1870028" y="0"/>
              <a:ext cx="561013" cy="647475"/>
              <a:chOff x="0" y="0"/>
              <a:chExt cx="561011" cy="647473"/>
            </a:xfrm>
          </p:grpSpPr>
          <p:sp>
            <p:nvSpPr>
              <p:cNvPr id="819" name="Shape 1035"/>
              <p:cNvSpPr/>
              <p:nvPr/>
            </p:nvSpPr>
            <p:spPr>
              <a:xfrm>
                <a:off x="0" y="0"/>
                <a:ext cx="561012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20" name="Shape 1036"/>
              <p:cNvSpPr txBox="1"/>
              <p:nvPr/>
            </p:nvSpPr>
            <p:spPr>
              <a:xfrm>
                <a:off x="33387" y="15216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824" name="Group 1040"/>
            <p:cNvGrpSpPr/>
            <p:nvPr/>
          </p:nvGrpSpPr>
          <p:grpSpPr>
            <a:xfrm>
              <a:off x="0" y="1106284"/>
              <a:ext cx="561011" cy="647475"/>
              <a:chOff x="0" y="0"/>
              <a:chExt cx="561009" cy="647473"/>
            </a:xfrm>
          </p:grpSpPr>
          <p:sp>
            <p:nvSpPr>
              <p:cNvPr id="822" name="Shape 1038"/>
              <p:cNvSpPr/>
              <p:nvPr/>
            </p:nvSpPr>
            <p:spPr>
              <a:xfrm>
                <a:off x="0" y="0"/>
                <a:ext cx="561011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23" name="Shape 1039"/>
              <p:cNvSpPr txBox="1"/>
              <p:nvPr/>
            </p:nvSpPr>
            <p:spPr>
              <a:xfrm>
                <a:off x="46701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827" name="Group 1043"/>
            <p:cNvGrpSpPr/>
            <p:nvPr/>
          </p:nvGrpSpPr>
          <p:grpSpPr>
            <a:xfrm>
              <a:off x="3740057" y="1106284"/>
              <a:ext cx="561013" cy="647475"/>
              <a:chOff x="0" y="0"/>
              <a:chExt cx="561011" cy="647473"/>
            </a:xfrm>
          </p:grpSpPr>
          <p:sp>
            <p:nvSpPr>
              <p:cNvPr id="825" name="Shape 1041"/>
              <p:cNvSpPr/>
              <p:nvPr/>
            </p:nvSpPr>
            <p:spPr>
              <a:xfrm>
                <a:off x="0" y="0"/>
                <a:ext cx="561012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26" name="Shape 1042"/>
              <p:cNvSpPr txBox="1"/>
              <p:nvPr/>
            </p:nvSpPr>
            <p:spPr>
              <a:xfrm>
                <a:off x="46701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830" name="Group 1046"/>
            <p:cNvGrpSpPr/>
            <p:nvPr/>
          </p:nvGrpSpPr>
          <p:grpSpPr>
            <a:xfrm>
              <a:off x="1028516" y="2216236"/>
              <a:ext cx="561011" cy="647475"/>
              <a:chOff x="0" y="0"/>
              <a:chExt cx="561009" cy="647473"/>
            </a:xfrm>
          </p:grpSpPr>
          <p:sp>
            <p:nvSpPr>
              <p:cNvPr id="828" name="Shape 1044"/>
              <p:cNvSpPr/>
              <p:nvPr/>
            </p:nvSpPr>
            <p:spPr>
              <a:xfrm>
                <a:off x="0" y="0"/>
                <a:ext cx="561011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29" name="Shape 1045"/>
              <p:cNvSpPr txBox="1"/>
              <p:nvPr/>
            </p:nvSpPr>
            <p:spPr>
              <a:xfrm>
                <a:off x="33387" y="18886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833" name="Group 1049"/>
            <p:cNvGrpSpPr/>
            <p:nvPr/>
          </p:nvGrpSpPr>
          <p:grpSpPr>
            <a:xfrm>
              <a:off x="2711542" y="2216236"/>
              <a:ext cx="561011" cy="647475"/>
              <a:chOff x="0" y="0"/>
              <a:chExt cx="561009" cy="647473"/>
            </a:xfrm>
          </p:grpSpPr>
          <p:sp>
            <p:nvSpPr>
              <p:cNvPr id="831" name="Shape 1047"/>
              <p:cNvSpPr/>
              <p:nvPr/>
            </p:nvSpPr>
            <p:spPr>
              <a:xfrm>
                <a:off x="0" y="0"/>
                <a:ext cx="561011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2" name="Shape 1048"/>
              <p:cNvSpPr txBox="1"/>
              <p:nvPr/>
            </p:nvSpPr>
            <p:spPr>
              <a:xfrm>
                <a:off x="33387" y="18886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  <p:sp>
        <p:nvSpPr>
          <p:cNvPr id="835" name="Shape 1054"/>
          <p:cNvSpPr txBox="1"/>
          <p:nvPr/>
        </p:nvSpPr>
        <p:spPr>
          <a:xfrm>
            <a:off x="1676964" y="105833"/>
            <a:ext cx="8813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有向图-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邻接矩阵</a:t>
            </a:r>
          </a:p>
        </p:txBody>
      </p:sp>
      <p:graphicFrame>
        <p:nvGraphicFramePr>
          <p:cNvPr id="836" name="Table 1052"/>
          <p:cNvGraphicFramePr/>
          <p:nvPr/>
        </p:nvGraphicFramePr>
        <p:xfrm>
          <a:off x="9098895" y="1188719"/>
          <a:ext cx="3036719" cy="56307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56363"/>
                <a:gridCol w="637097"/>
                <a:gridCol w="558118"/>
                <a:gridCol w="635342"/>
                <a:gridCol w="637097"/>
              </a:tblGrid>
              <a:tr h="550373">
                <a:tc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457200">
                        <a:spcBef>
                          <a:spcPts val="6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graphicFrame>
        <p:nvGraphicFramePr>
          <p:cNvPr id="837" name="Table 1053"/>
          <p:cNvGraphicFramePr/>
          <p:nvPr/>
        </p:nvGraphicFramePr>
        <p:xfrm>
          <a:off x="8695681" y="1616125"/>
          <a:ext cx="480061" cy="343709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67360"/>
              </a:tblGrid>
              <a:tr h="684879">
                <a:tc>
                  <a:txBody>
                    <a:bodyPr/>
                    <a:lstStyle/>
                    <a:p>
                      <a:pPr defTabSz="457200">
                        <a:spcBef>
                          <a:spcPts val="8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  <a:tr h="684879">
                <a:tc>
                  <a:txBody>
                    <a:bodyPr/>
                    <a:lstStyle/>
                    <a:p>
                      <a:pPr defTabSz="457200">
                        <a:spcBef>
                          <a:spcPts val="8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B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  <a:tr h="684879">
                <a:tc>
                  <a:txBody>
                    <a:bodyPr/>
                    <a:lstStyle/>
                    <a:p>
                      <a:pPr defTabSz="457200">
                        <a:spcBef>
                          <a:spcPts val="8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C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  <a:tr h="684879">
                <a:tc>
                  <a:txBody>
                    <a:bodyPr/>
                    <a:lstStyle/>
                    <a:p>
                      <a:pPr defTabSz="457200">
                        <a:spcBef>
                          <a:spcPts val="8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  <a:tr h="684879">
                <a:tc>
                  <a:txBody>
                    <a:bodyPr/>
                    <a:lstStyle/>
                    <a:p>
                      <a:pPr defTabSz="457200">
                        <a:spcBef>
                          <a:spcPts val="800"/>
                        </a:spcBef>
                        <a:defRPr sz="1800">
                          <a:uFillTx/>
                        </a:defRPr>
                      </a:pPr>
                      <a:r>
                        <a:rPr sz="2000">
                          <a:latin typeface="Tahoma"/>
                          <a:ea typeface="Tahoma"/>
                          <a:cs typeface="Tahoma"/>
                          <a:sym typeface="Tahoma"/>
                        </a:rPr>
                        <a:t>E</a:t>
                      </a:r>
                    </a:p>
                  </a:txBody>
                  <a:tcPr marL="50800" marR="50800" marT="50800" marB="50800" anchor="ctr" anchorCtr="0" horzOverflow="overflow">
                    <a:noFill/>
                  </a:tcPr>
                </a:tc>
              </a:tr>
            </a:tbl>
          </a:graphicData>
        </a:graphic>
      </p:graphicFrame>
      <p:graphicFrame>
        <p:nvGraphicFramePr>
          <p:cNvPr id="838" name="表格"/>
          <p:cNvGraphicFramePr/>
          <p:nvPr/>
        </p:nvGraphicFramePr>
        <p:xfrm>
          <a:off x="9253191" y="1819333"/>
          <a:ext cx="2728126" cy="310318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543085"/>
                <a:gridCol w="543085"/>
                <a:gridCol w="543085"/>
                <a:gridCol w="543085"/>
                <a:gridCol w="543085"/>
              </a:tblGrid>
              <a:tr h="618097"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</a:p>
                  </a:txBody>
                  <a:tcPr marL="0" marR="0" marT="0" marB="0" anchor="ctr" anchorCtr="0" horzOverflow="overflow"/>
                </a:tc>
              </a:tr>
              <a:tr h="618097"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</a:tr>
              <a:tr h="618097"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</a:tr>
              <a:tr h="618097"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</a:tr>
              <a:tr h="618097"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indent="342900" defTabSz="825500">
                        <a:defRPr sz="1800">
                          <a:uFillTx/>
                        </a:defRPr>
                      </a:pPr>
                      <a:r>
                        <a:rPr sz="21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0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  <p:grpSp>
        <p:nvGrpSpPr>
          <p:cNvPr id="854" name="成组"/>
          <p:cNvGrpSpPr/>
          <p:nvPr/>
        </p:nvGrpSpPr>
        <p:grpSpPr>
          <a:xfrm>
            <a:off x="5786181" y="1316307"/>
            <a:ext cx="1432438" cy="3677430"/>
            <a:chOff x="0" y="0"/>
            <a:chExt cx="1432437" cy="3677429"/>
          </a:xfrm>
        </p:grpSpPr>
        <p:sp>
          <p:nvSpPr>
            <p:cNvPr id="839" name="Shape 753"/>
            <p:cNvSpPr/>
            <p:nvPr/>
          </p:nvSpPr>
          <p:spPr>
            <a:xfrm>
              <a:off x="438854" y="0"/>
              <a:ext cx="993584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0" name="Shape 754"/>
            <p:cNvSpPr/>
            <p:nvPr/>
          </p:nvSpPr>
          <p:spPr>
            <a:xfrm>
              <a:off x="438855" y="715715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1" name="Shape 755"/>
            <p:cNvSpPr/>
            <p:nvPr/>
          </p:nvSpPr>
          <p:spPr>
            <a:xfrm>
              <a:off x="438855" y="1433689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2" name="Shape 756"/>
            <p:cNvSpPr/>
            <p:nvPr/>
          </p:nvSpPr>
          <p:spPr>
            <a:xfrm>
              <a:off x="438855" y="2149406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3" name="Shape 757"/>
            <p:cNvSpPr/>
            <p:nvPr/>
          </p:nvSpPr>
          <p:spPr>
            <a:xfrm>
              <a:off x="438855" y="2867380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4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45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46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47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48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49" name="Shape 815"/>
            <p:cNvSpPr txBox="1"/>
            <p:nvPr/>
          </p:nvSpPr>
          <p:spPr>
            <a:xfrm>
              <a:off x="629354" y="64063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850" name="Shape 816"/>
            <p:cNvSpPr txBox="1"/>
            <p:nvPr/>
          </p:nvSpPr>
          <p:spPr>
            <a:xfrm>
              <a:off x="629354" y="804616"/>
              <a:ext cx="73660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851" name="Shape 817"/>
            <p:cNvSpPr txBox="1"/>
            <p:nvPr/>
          </p:nvSpPr>
          <p:spPr>
            <a:xfrm>
              <a:off x="629354" y="152258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852" name="Shape 818"/>
            <p:cNvSpPr txBox="1"/>
            <p:nvPr/>
          </p:nvSpPr>
          <p:spPr>
            <a:xfrm>
              <a:off x="629354" y="2238304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53" name="Shape 819"/>
            <p:cNvSpPr txBox="1"/>
            <p:nvPr/>
          </p:nvSpPr>
          <p:spPr>
            <a:xfrm>
              <a:off x="629354" y="295627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roup 1078"/>
          <p:cNvGrpSpPr/>
          <p:nvPr/>
        </p:nvGrpSpPr>
        <p:grpSpPr>
          <a:xfrm>
            <a:off x="460490" y="1392293"/>
            <a:ext cx="4301070" cy="2867381"/>
            <a:chOff x="0" y="0"/>
            <a:chExt cx="4301069" cy="2867379"/>
          </a:xfrm>
        </p:grpSpPr>
        <p:sp>
          <p:nvSpPr>
            <p:cNvPr id="856" name="Shape 1056"/>
            <p:cNvSpPr/>
            <p:nvPr/>
          </p:nvSpPr>
          <p:spPr>
            <a:xfrm flipH="1">
              <a:off x="280504" y="277488"/>
              <a:ext cx="1587502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7" name="Shape 1057"/>
            <p:cNvSpPr/>
            <p:nvPr/>
          </p:nvSpPr>
          <p:spPr>
            <a:xfrm>
              <a:off x="467507" y="1664929"/>
              <a:ext cx="561010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8" name="Shape 1058"/>
            <p:cNvSpPr/>
            <p:nvPr/>
          </p:nvSpPr>
          <p:spPr>
            <a:xfrm>
              <a:off x="1589524" y="2497392"/>
              <a:ext cx="1122021" cy="226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9" name="Shape 1059"/>
            <p:cNvSpPr/>
            <p:nvPr/>
          </p:nvSpPr>
          <p:spPr>
            <a:xfrm flipH="1" flipV="1">
              <a:off x="2337535" y="554976"/>
              <a:ext cx="654512" cy="166493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0" name="Shape 1060"/>
            <p:cNvSpPr/>
            <p:nvPr/>
          </p:nvSpPr>
          <p:spPr>
            <a:xfrm>
              <a:off x="2431038" y="277488"/>
              <a:ext cx="1496026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1" name="Shape 1061"/>
            <p:cNvSpPr/>
            <p:nvPr/>
          </p:nvSpPr>
          <p:spPr>
            <a:xfrm flipH="1" flipV="1">
              <a:off x="561009" y="1387441"/>
              <a:ext cx="2150536" cy="924962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2" name="Shape 1062"/>
            <p:cNvSpPr/>
            <p:nvPr/>
          </p:nvSpPr>
          <p:spPr>
            <a:xfrm flipH="1">
              <a:off x="1309020" y="1387440"/>
              <a:ext cx="2431040" cy="832467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865" name="Group 1065"/>
            <p:cNvGrpSpPr/>
            <p:nvPr/>
          </p:nvGrpSpPr>
          <p:grpSpPr>
            <a:xfrm>
              <a:off x="1870029" y="-1"/>
              <a:ext cx="561011" cy="647475"/>
              <a:chOff x="0" y="0"/>
              <a:chExt cx="561009" cy="647473"/>
            </a:xfrm>
          </p:grpSpPr>
          <p:sp>
            <p:nvSpPr>
              <p:cNvPr id="863" name="Shape 1063"/>
              <p:cNvSpPr/>
              <p:nvPr/>
            </p:nvSpPr>
            <p:spPr>
              <a:xfrm>
                <a:off x="0" y="0"/>
                <a:ext cx="561011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4" name="Shape 1064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868" name="Group 1068"/>
            <p:cNvGrpSpPr/>
            <p:nvPr/>
          </p:nvGrpSpPr>
          <p:grpSpPr>
            <a:xfrm>
              <a:off x="0" y="1109952"/>
              <a:ext cx="561011" cy="647475"/>
              <a:chOff x="0" y="0"/>
              <a:chExt cx="561009" cy="647473"/>
            </a:xfrm>
          </p:grpSpPr>
          <p:sp>
            <p:nvSpPr>
              <p:cNvPr id="866" name="Shape 1066"/>
              <p:cNvSpPr/>
              <p:nvPr/>
            </p:nvSpPr>
            <p:spPr>
              <a:xfrm>
                <a:off x="0" y="0"/>
                <a:ext cx="561011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7" name="Shape 1067"/>
              <p:cNvSpPr txBox="1"/>
              <p:nvPr/>
            </p:nvSpPr>
            <p:spPr>
              <a:xfrm>
                <a:off x="46701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871" name="Group 1071"/>
            <p:cNvGrpSpPr/>
            <p:nvPr/>
          </p:nvGrpSpPr>
          <p:grpSpPr>
            <a:xfrm>
              <a:off x="3740057" y="1109952"/>
              <a:ext cx="561013" cy="647475"/>
              <a:chOff x="0" y="0"/>
              <a:chExt cx="561011" cy="647473"/>
            </a:xfrm>
          </p:grpSpPr>
          <p:sp>
            <p:nvSpPr>
              <p:cNvPr id="869" name="Shape 1069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0" name="Shape 1070"/>
              <p:cNvSpPr txBox="1"/>
              <p:nvPr/>
            </p:nvSpPr>
            <p:spPr>
              <a:xfrm>
                <a:off x="46700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874" name="Group 1074"/>
            <p:cNvGrpSpPr/>
            <p:nvPr/>
          </p:nvGrpSpPr>
          <p:grpSpPr>
            <a:xfrm>
              <a:off x="1028516" y="2219905"/>
              <a:ext cx="561013" cy="647475"/>
              <a:chOff x="0" y="0"/>
              <a:chExt cx="561011" cy="647473"/>
            </a:xfrm>
          </p:grpSpPr>
          <p:sp>
            <p:nvSpPr>
              <p:cNvPr id="872" name="Shape 1072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3" name="Shape 1073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877" name="Group 1077"/>
            <p:cNvGrpSpPr/>
            <p:nvPr/>
          </p:nvGrpSpPr>
          <p:grpSpPr>
            <a:xfrm>
              <a:off x="2711541" y="2219905"/>
              <a:ext cx="561013" cy="647475"/>
              <a:chOff x="0" y="0"/>
              <a:chExt cx="561011" cy="647473"/>
            </a:xfrm>
          </p:grpSpPr>
          <p:sp>
            <p:nvSpPr>
              <p:cNvPr id="875" name="Shape 1075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6" name="Shape 1076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  <p:grpSp>
        <p:nvGrpSpPr>
          <p:cNvPr id="934" name="成组"/>
          <p:cNvGrpSpPr/>
          <p:nvPr/>
        </p:nvGrpSpPr>
        <p:grpSpPr>
          <a:xfrm>
            <a:off x="8714528" y="1463705"/>
            <a:ext cx="4036910" cy="3671151"/>
            <a:chOff x="0" y="0"/>
            <a:chExt cx="4036908" cy="3671149"/>
          </a:xfrm>
        </p:grpSpPr>
        <p:sp>
          <p:nvSpPr>
            <p:cNvPr id="879" name="Shape 1088"/>
            <p:cNvSpPr/>
            <p:nvPr/>
          </p:nvSpPr>
          <p:spPr>
            <a:xfrm>
              <a:off x="2348801" y="324860"/>
              <a:ext cx="841478" cy="243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0" name="Shape 1090"/>
            <p:cNvSpPr/>
            <p:nvPr/>
          </p:nvSpPr>
          <p:spPr>
            <a:xfrm>
              <a:off x="2223037" y="47757"/>
              <a:ext cx="2289" cy="566360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1" name="Shape 1091"/>
            <p:cNvSpPr/>
            <p:nvPr/>
          </p:nvSpPr>
          <p:spPr>
            <a:xfrm>
              <a:off x="771032" y="324860"/>
              <a:ext cx="843765" cy="2432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2" name="Shape 1095"/>
            <p:cNvSpPr/>
            <p:nvPr/>
          </p:nvSpPr>
          <p:spPr>
            <a:xfrm>
              <a:off x="771029" y="1065671"/>
              <a:ext cx="844411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3" name="Shape 1098"/>
            <p:cNvSpPr/>
            <p:nvPr/>
          </p:nvSpPr>
          <p:spPr>
            <a:xfrm>
              <a:off x="771029" y="1799449"/>
              <a:ext cx="844411" cy="2259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4" name="Shape 1103"/>
            <p:cNvSpPr/>
            <p:nvPr/>
          </p:nvSpPr>
          <p:spPr>
            <a:xfrm>
              <a:off x="2348800" y="2547774"/>
              <a:ext cx="841479" cy="2346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5" name="Shape 1106"/>
            <p:cNvSpPr/>
            <p:nvPr/>
          </p:nvSpPr>
          <p:spPr>
            <a:xfrm>
              <a:off x="771031" y="2547774"/>
              <a:ext cx="843765" cy="2346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6" name="Shape 1112"/>
            <p:cNvSpPr/>
            <p:nvPr/>
          </p:nvSpPr>
          <p:spPr>
            <a:xfrm>
              <a:off x="771029" y="3305388"/>
              <a:ext cx="844411" cy="2259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7" name="Shape 1079"/>
            <p:cNvSpPr/>
            <p:nvPr/>
          </p:nvSpPr>
          <p:spPr>
            <a:xfrm>
              <a:off x="413455" y="0"/>
              <a:ext cx="7165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8" name="Shape 1080"/>
            <p:cNvSpPr/>
            <p:nvPr/>
          </p:nvSpPr>
          <p:spPr>
            <a:xfrm>
              <a:off x="413455" y="71571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9" name="Shape 1081"/>
            <p:cNvSpPr/>
            <p:nvPr/>
          </p:nvSpPr>
          <p:spPr>
            <a:xfrm>
              <a:off x="413455" y="1433689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0" name="Shape 1082"/>
            <p:cNvSpPr/>
            <p:nvPr/>
          </p:nvSpPr>
          <p:spPr>
            <a:xfrm>
              <a:off x="413455" y="2149406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1" name="Shape 1083"/>
            <p:cNvSpPr/>
            <p:nvPr/>
          </p:nvSpPr>
          <p:spPr>
            <a:xfrm>
              <a:off x="413455" y="2867379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2" name="Shape 1115"/>
            <p:cNvSpPr txBox="1"/>
            <p:nvPr/>
          </p:nvSpPr>
          <p:spPr>
            <a:xfrm>
              <a:off x="0" y="85795"/>
              <a:ext cx="73660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93" name="Shape 1116"/>
            <p:cNvSpPr txBox="1"/>
            <p:nvPr/>
          </p:nvSpPr>
          <p:spPr>
            <a:xfrm>
              <a:off x="0" y="864729"/>
              <a:ext cx="736602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94" name="Shape 1117"/>
            <p:cNvSpPr txBox="1"/>
            <p:nvPr/>
          </p:nvSpPr>
          <p:spPr>
            <a:xfrm>
              <a:off x="0" y="1596249"/>
              <a:ext cx="736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95" name="Shape 1118"/>
            <p:cNvSpPr txBox="1"/>
            <p:nvPr/>
          </p:nvSpPr>
          <p:spPr>
            <a:xfrm>
              <a:off x="0" y="2316479"/>
              <a:ext cx="73660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96" name="Shape 1119"/>
            <p:cNvSpPr txBox="1"/>
            <p:nvPr/>
          </p:nvSpPr>
          <p:spPr>
            <a:xfrm>
              <a:off x="0" y="3034453"/>
              <a:ext cx="736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grpSp>
          <p:nvGrpSpPr>
            <p:cNvPr id="899" name="成组"/>
            <p:cNvGrpSpPr/>
            <p:nvPr/>
          </p:nvGrpSpPr>
          <p:grpSpPr>
            <a:xfrm>
              <a:off x="1607821" y="42896"/>
              <a:ext cx="841479" cy="566360"/>
              <a:chOff x="0" y="0"/>
              <a:chExt cx="841477" cy="566358"/>
            </a:xfrm>
          </p:grpSpPr>
          <p:sp>
            <p:nvSpPr>
              <p:cNvPr id="897" name="Shape 1089"/>
              <p:cNvSpPr/>
              <p:nvPr/>
            </p:nvSpPr>
            <p:spPr>
              <a:xfrm>
                <a:off x="0" y="0"/>
                <a:ext cx="841478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8" name="Shape 1125"/>
              <p:cNvSpPr txBox="1"/>
              <p:nvPr/>
            </p:nvSpPr>
            <p:spPr>
              <a:xfrm>
                <a:off x="95189" y="71403"/>
                <a:ext cx="736602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905" name="成组"/>
            <p:cNvGrpSpPr/>
            <p:nvPr/>
          </p:nvGrpSpPr>
          <p:grpSpPr>
            <a:xfrm>
              <a:off x="3187219" y="42896"/>
              <a:ext cx="849690" cy="571221"/>
              <a:chOff x="0" y="0"/>
              <a:chExt cx="849689" cy="571219"/>
            </a:xfrm>
          </p:grpSpPr>
          <p:sp>
            <p:nvSpPr>
              <p:cNvPr id="900" name="Shape 1086"/>
              <p:cNvSpPr/>
              <p:nvPr/>
            </p:nvSpPr>
            <p:spPr>
              <a:xfrm>
                <a:off x="0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1" name="Shape 1087"/>
              <p:cNvSpPr/>
              <p:nvPr/>
            </p:nvSpPr>
            <p:spPr>
              <a:xfrm>
                <a:off x="610529" y="4860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2" name="Shape 1092"/>
              <p:cNvSpPr/>
              <p:nvPr/>
            </p:nvSpPr>
            <p:spPr>
              <a:xfrm flipH="1">
                <a:off x="610529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3" name="Shape 1093"/>
              <p:cNvSpPr/>
              <p:nvPr/>
            </p:nvSpPr>
            <p:spPr>
              <a:xfrm>
                <a:off x="715712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4" name="Shape 1126"/>
              <p:cNvSpPr txBox="1"/>
              <p:nvPr/>
            </p:nvSpPr>
            <p:spPr>
              <a:xfrm>
                <a:off x="113088" y="71403"/>
                <a:ext cx="736602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911" name="成组"/>
            <p:cNvGrpSpPr/>
            <p:nvPr/>
          </p:nvGrpSpPr>
          <p:grpSpPr>
            <a:xfrm>
              <a:off x="1607821" y="1519484"/>
              <a:ext cx="844411" cy="568963"/>
              <a:chOff x="0" y="0"/>
              <a:chExt cx="844409" cy="568962"/>
            </a:xfrm>
          </p:grpSpPr>
          <p:sp>
            <p:nvSpPr>
              <p:cNvPr id="906" name="Shape 1096"/>
              <p:cNvSpPr/>
              <p:nvPr/>
            </p:nvSpPr>
            <p:spPr>
              <a:xfrm>
                <a:off x="0" y="0"/>
                <a:ext cx="844410" cy="564446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7" name="Shape 1097"/>
              <p:cNvSpPr/>
              <p:nvPr/>
            </p:nvSpPr>
            <p:spPr>
              <a:xfrm>
                <a:off x="611858" y="4516"/>
                <a:ext cx="2259" cy="56444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8" name="Shape 1099"/>
              <p:cNvSpPr/>
              <p:nvPr/>
            </p:nvSpPr>
            <p:spPr>
              <a:xfrm flipH="1">
                <a:off x="611858" y="189371"/>
                <a:ext cx="103859" cy="27996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9" name="Shape 1100"/>
              <p:cNvSpPr/>
              <p:nvPr/>
            </p:nvSpPr>
            <p:spPr>
              <a:xfrm>
                <a:off x="715715" y="189371"/>
                <a:ext cx="106118" cy="27996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0" name="Shape 1127"/>
              <p:cNvSpPr txBox="1"/>
              <p:nvPr/>
            </p:nvSpPr>
            <p:spPr>
              <a:xfrm>
                <a:off x="96802" y="74225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915" name="成组"/>
            <p:cNvGrpSpPr/>
            <p:nvPr/>
          </p:nvGrpSpPr>
          <p:grpSpPr>
            <a:xfrm>
              <a:off x="1607821" y="2275840"/>
              <a:ext cx="841479" cy="550901"/>
              <a:chOff x="0" y="0"/>
              <a:chExt cx="841477" cy="550899"/>
            </a:xfrm>
          </p:grpSpPr>
          <p:sp>
            <p:nvSpPr>
              <p:cNvPr id="912" name="Shape 1104"/>
              <p:cNvSpPr/>
              <p:nvPr/>
            </p:nvSpPr>
            <p:spPr>
              <a:xfrm>
                <a:off x="0" y="0"/>
                <a:ext cx="841478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3" name="Shape 1105"/>
              <p:cNvSpPr/>
              <p:nvPr/>
            </p:nvSpPr>
            <p:spPr>
              <a:xfrm>
                <a:off x="608241" y="4687"/>
                <a:ext cx="2289" cy="54621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4" name="Shape 1128"/>
              <p:cNvSpPr txBox="1"/>
              <p:nvPr/>
            </p:nvSpPr>
            <p:spPr>
              <a:xfrm>
                <a:off x="88417" y="48823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</p:grpSp>
        <p:grpSp>
          <p:nvGrpSpPr>
            <p:cNvPr id="921" name="成组"/>
            <p:cNvGrpSpPr/>
            <p:nvPr/>
          </p:nvGrpSpPr>
          <p:grpSpPr>
            <a:xfrm>
              <a:off x="3187219" y="2275840"/>
              <a:ext cx="843765" cy="550901"/>
              <a:chOff x="0" y="0"/>
              <a:chExt cx="843764" cy="550899"/>
            </a:xfrm>
          </p:grpSpPr>
          <p:sp>
            <p:nvSpPr>
              <p:cNvPr id="916" name="Shape 1101"/>
              <p:cNvSpPr/>
              <p:nvPr/>
            </p:nvSpPr>
            <p:spPr>
              <a:xfrm>
                <a:off x="0" y="0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7" name="Shape 1102"/>
              <p:cNvSpPr/>
              <p:nvPr/>
            </p:nvSpPr>
            <p:spPr>
              <a:xfrm>
                <a:off x="610528" y="4687"/>
                <a:ext cx="2288" cy="54621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8" name="Shape 1107"/>
              <p:cNvSpPr/>
              <p:nvPr/>
            </p:nvSpPr>
            <p:spPr>
              <a:xfrm flipH="1">
                <a:off x="610529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9" name="Shape 1108"/>
              <p:cNvSpPr/>
              <p:nvPr/>
            </p:nvSpPr>
            <p:spPr>
              <a:xfrm>
                <a:off x="715712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0" name="Shape 1129"/>
              <p:cNvSpPr txBox="1"/>
              <p:nvPr/>
            </p:nvSpPr>
            <p:spPr>
              <a:xfrm>
                <a:off x="106315" y="69145"/>
                <a:ext cx="736602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927" name="成组"/>
            <p:cNvGrpSpPr/>
            <p:nvPr/>
          </p:nvGrpSpPr>
          <p:grpSpPr>
            <a:xfrm>
              <a:off x="1607821" y="3043485"/>
              <a:ext cx="844411" cy="525217"/>
              <a:chOff x="0" y="0"/>
              <a:chExt cx="844409" cy="525216"/>
            </a:xfrm>
          </p:grpSpPr>
          <p:sp>
            <p:nvSpPr>
              <p:cNvPr id="922" name="Shape 1110"/>
              <p:cNvSpPr/>
              <p:nvPr/>
            </p:nvSpPr>
            <p:spPr>
              <a:xfrm>
                <a:off x="0" y="0"/>
                <a:ext cx="844410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3" name="Shape 1111"/>
              <p:cNvSpPr/>
              <p:nvPr/>
            </p:nvSpPr>
            <p:spPr>
              <a:xfrm>
                <a:off x="616372" y="4515"/>
                <a:ext cx="2260" cy="52070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4" name="Shape 1113"/>
              <p:cNvSpPr/>
              <p:nvPr/>
            </p:nvSpPr>
            <p:spPr>
              <a:xfrm flipH="1">
                <a:off x="616373" y="180621"/>
                <a:ext cx="103860" cy="25964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5" name="Shape 1114"/>
              <p:cNvSpPr/>
              <p:nvPr/>
            </p:nvSpPr>
            <p:spPr>
              <a:xfrm>
                <a:off x="715715" y="180621"/>
                <a:ext cx="106118" cy="25964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6" name="Shape 1130"/>
              <p:cNvSpPr txBox="1"/>
              <p:nvPr/>
            </p:nvSpPr>
            <p:spPr>
              <a:xfrm>
                <a:off x="56162" y="49669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933" name="成组"/>
            <p:cNvGrpSpPr/>
            <p:nvPr/>
          </p:nvGrpSpPr>
          <p:grpSpPr>
            <a:xfrm>
              <a:off x="1607821" y="803768"/>
              <a:ext cx="851466" cy="525217"/>
              <a:chOff x="0" y="0"/>
              <a:chExt cx="851465" cy="525216"/>
            </a:xfrm>
          </p:grpSpPr>
          <p:sp>
            <p:nvSpPr>
              <p:cNvPr id="928" name="Shape 1131"/>
              <p:cNvSpPr/>
              <p:nvPr/>
            </p:nvSpPr>
            <p:spPr>
              <a:xfrm>
                <a:off x="0" y="0"/>
                <a:ext cx="844410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9" name="Shape 1132"/>
              <p:cNvSpPr/>
              <p:nvPr/>
            </p:nvSpPr>
            <p:spPr>
              <a:xfrm>
                <a:off x="611856" y="4515"/>
                <a:ext cx="2260" cy="52070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0" name="Shape 1133"/>
              <p:cNvSpPr/>
              <p:nvPr/>
            </p:nvSpPr>
            <p:spPr>
              <a:xfrm flipH="1">
                <a:off x="611857" y="180622"/>
                <a:ext cx="103860" cy="25964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1" name="Shape 1134"/>
              <p:cNvSpPr/>
              <p:nvPr/>
            </p:nvSpPr>
            <p:spPr>
              <a:xfrm>
                <a:off x="715715" y="180622"/>
                <a:ext cx="106118" cy="25964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2" name="Shape 1135"/>
              <p:cNvSpPr txBox="1"/>
              <p:nvPr/>
            </p:nvSpPr>
            <p:spPr>
              <a:xfrm>
                <a:off x="114864" y="51647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</p:grpSp>
      <p:sp>
        <p:nvSpPr>
          <p:cNvPr id="935" name="Shape 1137"/>
          <p:cNvSpPr txBox="1"/>
          <p:nvPr/>
        </p:nvSpPr>
        <p:spPr>
          <a:xfrm>
            <a:off x="1753164" y="80433"/>
            <a:ext cx="8813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有向图-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邻接表</a:t>
            </a:r>
          </a:p>
        </p:txBody>
      </p:sp>
      <p:grpSp>
        <p:nvGrpSpPr>
          <p:cNvPr id="951" name="成组"/>
          <p:cNvGrpSpPr/>
          <p:nvPr/>
        </p:nvGrpSpPr>
        <p:grpSpPr>
          <a:xfrm>
            <a:off x="5552813" y="1288249"/>
            <a:ext cx="1432438" cy="3677430"/>
            <a:chOff x="0" y="0"/>
            <a:chExt cx="1432437" cy="3677429"/>
          </a:xfrm>
        </p:grpSpPr>
        <p:sp>
          <p:nvSpPr>
            <p:cNvPr id="936" name="Shape 753"/>
            <p:cNvSpPr/>
            <p:nvPr/>
          </p:nvSpPr>
          <p:spPr>
            <a:xfrm>
              <a:off x="438854" y="0"/>
              <a:ext cx="993584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7" name="Shape 754"/>
            <p:cNvSpPr/>
            <p:nvPr/>
          </p:nvSpPr>
          <p:spPr>
            <a:xfrm>
              <a:off x="438855" y="715715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8" name="Shape 755"/>
            <p:cNvSpPr/>
            <p:nvPr/>
          </p:nvSpPr>
          <p:spPr>
            <a:xfrm>
              <a:off x="438855" y="1433689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9" name="Shape 756"/>
            <p:cNvSpPr/>
            <p:nvPr/>
          </p:nvSpPr>
          <p:spPr>
            <a:xfrm>
              <a:off x="438855" y="2149406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0" name="Shape 757"/>
            <p:cNvSpPr/>
            <p:nvPr/>
          </p:nvSpPr>
          <p:spPr>
            <a:xfrm>
              <a:off x="438855" y="2867380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1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42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43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944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45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946" name="Shape 815"/>
            <p:cNvSpPr txBox="1"/>
            <p:nvPr/>
          </p:nvSpPr>
          <p:spPr>
            <a:xfrm>
              <a:off x="629354" y="64063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947" name="Shape 816"/>
            <p:cNvSpPr txBox="1"/>
            <p:nvPr/>
          </p:nvSpPr>
          <p:spPr>
            <a:xfrm>
              <a:off x="629354" y="804616"/>
              <a:ext cx="73660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948" name="Shape 817"/>
            <p:cNvSpPr txBox="1"/>
            <p:nvPr/>
          </p:nvSpPr>
          <p:spPr>
            <a:xfrm>
              <a:off x="629354" y="152258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949" name="Shape 818"/>
            <p:cNvSpPr txBox="1"/>
            <p:nvPr/>
          </p:nvSpPr>
          <p:spPr>
            <a:xfrm>
              <a:off x="629354" y="2238304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950" name="Shape 819"/>
            <p:cNvSpPr txBox="1"/>
            <p:nvPr/>
          </p:nvSpPr>
          <p:spPr>
            <a:xfrm>
              <a:off x="629354" y="295627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5" name="Group 1161"/>
          <p:cNvGrpSpPr/>
          <p:nvPr/>
        </p:nvGrpSpPr>
        <p:grpSpPr>
          <a:xfrm>
            <a:off x="425534" y="1549784"/>
            <a:ext cx="4301070" cy="2867382"/>
            <a:chOff x="0" y="0"/>
            <a:chExt cx="4301069" cy="2867380"/>
          </a:xfrm>
        </p:grpSpPr>
        <p:sp>
          <p:nvSpPr>
            <p:cNvPr id="953" name="Shape 1139"/>
            <p:cNvSpPr/>
            <p:nvPr/>
          </p:nvSpPr>
          <p:spPr>
            <a:xfrm flipH="1">
              <a:off x="280503" y="277488"/>
              <a:ext cx="1587502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4" name="Shape 1140"/>
            <p:cNvSpPr/>
            <p:nvPr/>
          </p:nvSpPr>
          <p:spPr>
            <a:xfrm>
              <a:off x="467506" y="1664930"/>
              <a:ext cx="561011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5" name="Shape 1141"/>
            <p:cNvSpPr/>
            <p:nvPr/>
          </p:nvSpPr>
          <p:spPr>
            <a:xfrm>
              <a:off x="1589523" y="2497394"/>
              <a:ext cx="1122021" cy="2260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6" name="Shape 1142"/>
            <p:cNvSpPr/>
            <p:nvPr/>
          </p:nvSpPr>
          <p:spPr>
            <a:xfrm flipH="1" flipV="1">
              <a:off x="2337535" y="554976"/>
              <a:ext cx="654512" cy="1664932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7" name="Shape 1143"/>
            <p:cNvSpPr/>
            <p:nvPr/>
          </p:nvSpPr>
          <p:spPr>
            <a:xfrm>
              <a:off x="2431038" y="277488"/>
              <a:ext cx="1496026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8" name="Shape 1144"/>
            <p:cNvSpPr/>
            <p:nvPr/>
          </p:nvSpPr>
          <p:spPr>
            <a:xfrm flipH="1" flipV="1">
              <a:off x="561009" y="1387442"/>
              <a:ext cx="2150535" cy="924963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9" name="Shape 1145"/>
            <p:cNvSpPr/>
            <p:nvPr/>
          </p:nvSpPr>
          <p:spPr>
            <a:xfrm flipH="1">
              <a:off x="1309020" y="1387440"/>
              <a:ext cx="2431040" cy="832468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62" name="Group 1148"/>
            <p:cNvGrpSpPr/>
            <p:nvPr/>
          </p:nvGrpSpPr>
          <p:grpSpPr>
            <a:xfrm>
              <a:off x="1870028" y="-1"/>
              <a:ext cx="561013" cy="647475"/>
              <a:chOff x="0" y="0"/>
              <a:chExt cx="561011" cy="647473"/>
            </a:xfrm>
          </p:grpSpPr>
          <p:sp>
            <p:nvSpPr>
              <p:cNvPr id="960" name="Shape 1146"/>
              <p:cNvSpPr/>
              <p:nvPr/>
            </p:nvSpPr>
            <p:spPr>
              <a:xfrm>
                <a:off x="0" y="-1"/>
                <a:ext cx="561012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61" name="Shape 1147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965" name="Group 1151"/>
            <p:cNvGrpSpPr/>
            <p:nvPr/>
          </p:nvGrpSpPr>
          <p:grpSpPr>
            <a:xfrm>
              <a:off x="0" y="1109952"/>
              <a:ext cx="561011" cy="647477"/>
              <a:chOff x="0" y="0"/>
              <a:chExt cx="561009" cy="647476"/>
            </a:xfrm>
          </p:grpSpPr>
          <p:sp>
            <p:nvSpPr>
              <p:cNvPr id="963" name="Shape 1149"/>
              <p:cNvSpPr/>
              <p:nvPr/>
            </p:nvSpPr>
            <p:spPr>
              <a:xfrm>
                <a:off x="0" y="-1"/>
                <a:ext cx="561011" cy="647478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64" name="Shape 1150"/>
              <p:cNvSpPr txBox="1"/>
              <p:nvPr/>
            </p:nvSpPr>
            <p:spPr>
              <a:xfrm>
                <a:off x="46701" y="18885"/>
                <a:ext cx="467607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968" name="Group 1154"/>
            <p:cNvGrpSpPr/>
            <p:nvPr/>
          </p:nvGrpSpPr>
          <p:grpSpPr>
            <a:xfrm>
              <a:off x="3740057" y="1109952"/>
              <a:ext cx="561013" cy="647477"/>
              <a:chOff x="0" y="0"/>
              <a:chExt cx="561011" cy="647476"/>
            </a:xfrm>
          </p:grpSpPr>
          <p:sp>
            <p:nvSpPr>
              <p:cNvPr id="966" name="Shape 1152"/>
              <p:cNvSpPr/>
              <p:nvPr/>
            </p:nvSpPr>
            <p:spPr>
              <a:xfrm>
                <a:off x="0" y="-1"/>
                <a:ext cx="561012" cy="647478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67" name="Shape 1153"/>
              <p:cNvSpPr txBox="1"/>
              <p:nvPr/>
            </p:nvSpPr>
            <p:spPr>
              <a:xfrm>
                <a:off x="46700" y="18885"/>
                <a:ext cx="467607" cy="6145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971" name="Group 1157"/>
            <p:cNvGrpSpPr/>
            <p:nvPr/>
          </p:nvGrpSpPr>
          <p:grpSpPr>
            <a:xfrm>
              <a:off x="1028516" y="2219906"/>
              <a:ext cx="561013" cy="647475"/>
              <a:chOff x="0" y="0"/>
              <a:chExt cx="561011" cy="647473"/>
            </a:xfrm>
          </p:grpSpPr>
          <p:sp>
            <p:nvSpPr>
              <p:cNvPr id="969" name="Shape 1155"/>
              <p:cNvSpPr/>
              <p:nvPr/>
            </p:nvSpPr>
            <p:spPr>
              <a:xfrm>
                <a:off x="0" y="-1"/>
                <a:ext cx="561012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0" name="Shape 1156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974" name="Group 1160"/>
            <p:cNvGrpSpPr/>
            <p:nvPr/>
          </p:nvGrpSpPr>
          <p:grpSpPr>
            <a:xfrm>
              <a:off x="2711541" y="2219906"/>
              <a:ext cx="561013" cy="647475"/>
              <a:chOff x="0" y="0"/>
              <a:chExt cx="561011" cy="647473"/>
            </a:xfrm>
          </p:grpSpPr>
          <p:sp>
            <p:nvSpPr>
              <p:cNvPr id="972" name="Shape 1158"/>
              <p:cNvSpPr/>
              <p:nvPr/>
            </p:nvSpPr>
            <p:spPr>
              <a:xfrm>
                <a:off x="0" y="-1"/>
                <a:ext cx="561012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3" name="Shape 1159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  <p:grpSp>
        <p:nvGrpSpPr>
          <p:cNvPr id="1031" name="成组"/>
          <p:cNvGrpSpPr/>
          <p:nvPr/>
        </p:nvGrpSpPr>
        <p:grpSpPr>
          <a:xfrm>
            <a:off x="8499192" y="1395049"/>
            <a:ext cx="4023644" cy="3671151"/>
            <a:chOff x="0" y="0"/>
            <a:chExt cx="4023643" cy="3671149"/>
          </a:xfrm>
        </p:grpSpPr>
        <p:sp>
          <p:nvSpPr>
            <p:cNvPr id="976" name="Shape 1172"/>
            <p:cNvSpPr/>
            <p:nvPr/>
          </p:nvSpPr>
          <p:spPr>
            <a:xfrm>
              <a:off x="2205849" y="34712"/>
              <a:ext cx="2260" cy="566704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81" name="成组"/>
            <p:cNvGrpSpPr/>
            <p:nvPr/>
          </p:nvGrpSpPr>
          <p:grpSpPr>
            <a:xfrm>
              <a:off x="1605845" y="30197"/>
              <a:ext cx="850055" cy="566704"/>
              <a:chOff x="0" y="0"/>
              <a:chExt cx="850053" cy="566703"/>
            </a:xfrm>
          </p:grpSpPr>
          <p:sp>
            <p:nvSpPr>
              <p:cNvPr id="977" name="Shape 1171"/>
              <p:cNvSpPr/>
              <p:nvPr/>
            </p:nvSpPr>
            <p:spPr>
              <a:xfrm>
                <a:off x="0" y="0"/>
                <a:ext cx="844410" cy="566704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8" name="Shape 1174"/>
              <p:cNvSpPr/>
              <p:nvPr/>
            </p:nvSpPr>
            <p:spPr>
              <a:xfrm flipH="1">
                <a:off x="609035" y="196708"/>
                <a:ext cx="103860" cy="28222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9" name="Shape 1175"/>
              <p:cNvSpPr/>
              <p:nvPr/>
            </p:nvSpPr>
            <p:spPr>
              <a:xfrm>
                <a:off x="712892" y="196708"/>
                <a:ext cx="106118" cy="28222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0" name="Shape 1197"/>
              <p:cNvSpPr txBox="1"/>
              <p:nvPr/>
            </p:nvSpPr>
            <p:spPr>
              <a:xfrm>
                <a:off x="113452" y="84101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987" name="成组"/>
            <p:cNvGrpSpPr/>
            <p:nvPr/>
          </p:nvGrpSpPr>
          <p:grpSpPr>
            <a:xfrm>
              <a:off x="1605845" y="2263140"/>
              <a:ext cx="844411" cy="550900"/>
              <a:chOff x="0" y="0"/>
              <a:chExt cx="844409" cy="550898"/>
            </a:xfrm>
          </p:grpSpPr>
          <p:sp>
            <p:nvSpPr>
              <p:cNvPr id="982" name="Shape 1177"/>
              <p:cNvSpPr/>
              <p:nvPr/>
            </p:nvSpPr>
            <p:spPr>
              <a:xfrm>
                <a:off x="0" y="0"/>
                <a:ext cx="844410" cy="546384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3" name="Shape 1178"/>
              <p:cNvSpPr/>
              <p:nvPr/>
            </p:nvSpPr>
            <p:spPr>
              <a:xfrm>
                <a:off x="611857" y="4515"/>
                <a:ext cx="2260" cy="54638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4" name="Shape 1180"/>
              <p:cNvSpPr/>
              <p:nvPr/>
            </p:nvSpPr>
            <p:spPr>
              <a:xfrm flipH="1">
                <a:off x="611857" y="187395"/>
                <a:ext cx="103860" cy="27319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5" name="Shape 1181"/>
              <p:cNvSpPr/>
              <p:nvPr/>
            </p:nvSpPr>
            <p:spPr>
              <a:xfrm>
                <a:off x="715715" y="187395"/>
                <a:ext cx="106118" cy="27319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6" name="Shape 1198"/>
              <p:cNvSpPr txBox="1"/>
              <p:nvPr/>
            </p:nvSpPr>
            <p:spPr>
              <a:xfrm>
                <a:off x="104985" y="69144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993" name="成组"/>
            <p:cNvGrpSpPr/>
            <p:nvPr/>
          </p:nvGrpSpPr>
          <p:grpSpPr>
            <a:xfrm>
              <a:off x="1605845" y="3073682"/>
              <a:ext cx="859932" cy="531426"/>
              <a:chOff x="0" y="0"/>
              <a:chExt cx="859931" cy="531424"/>
            </a:xfrm>
          </p:grpSpPr>
          <p:sp>
            <p:nvSpPr>
              <p:cNvPr id="988" name="Shape 1182"/>
              <p:cNvSpPr/>
              <p:nvPr/>
            </p:nvSpPr>
            <p:spPr>
              <a:xfrm>
                <a:off x="0" y="0"/>
                <a:ext cx="844410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9" name="Shape 1183"/>
              <p:cNvSpPr/>
              <p:nvPr/>
            </p:nvSpPr>
            <p:spPr>
              <a:xfrm>
                <a:off x="606777" y="10724"/>
                <a:ext cx="2260" cy="52070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0" name="Shape 1185"/>
              <p:cNvSpPr/>
              <p:nvPr/>
            </p:nvSpPr>
            <p:spPr>
              <a:xfrm flipH="1">
                <a:off x="606778" y="180621"/>
                <a:ext cx="103860" cy="25964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1" name="Shape 1186"/>
              <p:cNvSpPr/>
              <p:nvPr/>
            </p:nvSpPr>
            <p:spPr>
              <a:xfrm>
                <a:off x="715714" y="180621"/>
                <a:ext cx="106118" cy="25964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2" name="Shape 1199"/>
              <p:cNvSpPr/>
              <p:nvPr/>
            </p:nvSpPr>
            <p:spPr>
              <a:xfrm>
                <a:off x="123330" y="61524"/>
                <a:ext cx="7366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</p:grpSp>
        <p:grpSp>
          <p:nvGrpSpPr>
            <p:cNvPr id="996" name="成组"/>
            <p:cNvGrpSpPr/>
            <p:nvPr/>
          </p:nvGrpSpPr>
          <p:grpSpPr>
            <a:xfrm>
              <a:off x="1605845" y="791068"/>
              <a:ext cx="844411" cy="520702"/>
              <a:chOff x="0" y="0"/>
              <a:chExt cx="844409" cy="520701"/>
            </a:xfrm>
          </p:grpSpPr>
          <p:sp>
            <p:nvSpPr>
              <p:cNvPr id="994" name="Shape 1162"/>
              <p:cNvSpPr txBox="1"/>
              <p:nvPr/>
            </p:nvSpPr>
            <p:spPr>
              <a:xfrm>
                <a:off x="100470" y="38946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995" name="Shape 1200"/>
              <p:cNvSpPr/>
              <p:nvPr/>
            </p:nvSpPr>
            <p:spPr>
              <a:xfrm>
                <a:off x="0" y="0"/>
                <a:ext cx="844410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997" name="Shape 1201"/>
            <p:cNvSpPr/>
            <p:nvPr/>
          </p:nvSpPr>
          <p:spPr>
            <a:xfrm>
              <a:off x="2221654" y="79558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8" name="Shape 1202"/>
            <p:cNvSpPr/>
            <p:nvPr/>
          </p:nvSpPr>
          <p:spPr>
            <a:xfrm>
              <a:off x="2333414" y="1052971"/>
              <a:ext cx="844411" cy="2259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9" name="Shape 1204"/>
            <p:cNvSpPr/>
            <p:nvPr/>
          </p:nvSpPr>
          <p:spPr>
            <a:xfrm>
              <a:off x="3727592" y="833966"/>
              <a:ext cx="2259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004" name="成组"/>
            <p:cNvGrpSpPr/>
            <p:nvPr/>
          </p:nvGrpSpPr>
          <p:grpSpPr>
            <a:xfrm>
              <a:off x="3179234" y="791350"/>
              <a:ext cx="844410" cy="520702"/>
              <a:chOff x="0" y="0"/>
              <a:chExt cx="844408" cy="520701"/>
            </a:xfrm>
          </p:grpSpPr>
          <p:sp>
            <p:nvSpPr>
              <p:cNvPr id="1000" name="Shape 1203"/>
              <p:cNvSpPr/>
              <p:nvPr/>
            </p:nvSpPr>
            <p:spPr>
              <a:xfrm>
                <a:off x="0" y="0"/>
                <a:ext cx="844409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1" name="Shape 1205"/>
              <p:cNvSpPr/>
              <p:nvPr/>
            </p:nvSpPr>
            <p:spPr>
              <a:xfrm flipH="1">
                <a:off x="611858" y="180622"/>
                <a:ext cx="103859" cy="25964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2" name="Shape 1206"/>
              <p:cNvSpPr/>
              <p:nvPr/>
            </p:nvSpPr>
            <p:spPr>
              <a:xfrm>
                <a:off x="715716" y="180622"/>
                <a:ext cx="106117" cy="25964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3" name="Shape 1207"/>
              <p:cNvSpPr txBox="1"/>
              <p:nvPr/>
            </p:nvSpPr>
            <p:spPr>
              <a:xfrm>
                <a:off x="93980" y="51646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sp>
          <p:nvSpPr>
            <p:cNvPr id="1005" name="Shape 1173"/>
            <p:cNvSpPr/>
            <p:nvPr/>
          </p:nvSpPr>
          <p:spPr>
            <a:xfrm>
              <a:off x="758613" y="312419"/>
              <a:ext cx="844411" cy="2261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6" name="Shape 1176"/>
            <p:cNvSpPr/>
            <p:nvPr/>
          </p:nvSpPr>
          <p:spPr>
            <a:xfrm>
              <a:off x="758613" y="1052970"/>
              <a:ext cx="844411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7" name="Shape 1179"/>
            <p:cNvSpPr/>
            <p:nvPr/>
          </p:nvSpPr>
          <p:spPr>
            <a:xfrm>
              <a:off x="758613" y="2534073"/>
              <a:ext cx="844411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8" name="Shape 1184"/>
            <p:cNvSpPr/>
            <p:nvPr/>
          </p:nvSpPr>
          <p:spPr>
            <a:xfrm>
              <a:off x="758613" y="3335584"/>
              <a:ext cx="844411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9" name="Shape 1164"/>
            <p:cNvSpPr/>
            <p:nvPr/>
          </p:nvSpPr>
          <p:spPr>
            <a:xfrm>
              <a:off x="390031" y="0"/>
              <a:ext cx="7266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0" name="Shape 1165"/>
            <p:cNvSpPr/>
            <p:nvPr/>
          </p:nvSpPr>
          <p:spPr>
            <a:xfrm>
              <a:off x="390031" y="715715"/>
              <a:ext cx="724749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1" name="Shape 1166"/>
            <p:cNvSpPr/>
            <p:nvPr/>
          </p:nvSpPr>
          <p:spPr>
            <a:xfrm>
              <a:off x="390031" y="1433688"/>
              <a:ext cx="724749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2" name="Shape 1167"/>
            <p:cNvSpPr/>
            <p:nvPr/>
          </p:nvSpPr>
          <p:spPr>
            <a:xfrm>
              <a:off x="390031" y="2149405"/>
              <a:ext cx="724749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3" name="Shape 1168"/>
            <p:cNvSpPr/>
            <p:nvPr/>
          </p:nvSpPr>
          <p:spPr>
            <a:xfrm>
              <a:off x="390031" y="2867379"/>
              <a:ext cx="724749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4" name="Shape 1187"/>
            <p:cNvSpPr txBox="1"/>
            <p:nvPr/>
          </p:nvSpPr>
          <p:spPr>
            <a:xfrm>
              <a:off x="0" y="87206"/>
              <a:ext cx="73660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015" name="Shape 1188"/>
            <p:cNvSpPr txBox="1"/>
            <p:nvPr/>
          </p:nvSpPr>
          <p:spPr>
            <a:xfrm>
              <a:off x="0" y="841304"/>
              <a:ext cx="736602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016" name="Shape 1189"/>
            <p:cNvSpPr txBox="1"/>
            <p:nvPr/>
          </p:nvSpPr>
          <p:spPr>
            <a:xfrm>
              <a:off x="0" y="1547424"/>
              <a:ext cx="736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017" name="Shape 1190"/>
            <p:cNvSpPr txBox="1"/>
            <p:nvPr/>
          </p:nvSpPr>
          <p:spPr>
            <a:xfrm>
              <a:off x="0" y="2331156"/>
              <a:ext cx="73660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018" name="Shape 1191"/>
            <p:cNvSpPr txBox="1"/>
            <p:nvPr/>
          </p:nvSpPr>
          <p:spPr>
            <a:xfrm>
              <a:off x="0" y="3112629"/>
              <a:ext cx="736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019" name="Shape 1208"/>
            <p:cNvSpPr/>
            <p:nvPr/>
          </p:nvSpPr>
          <p:spPr>
            <a:xfrm>
              <a:off x="758613" y="1755140"/>
              <a:ext cx="844411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023" name="成组"/>
            <p:cNvGrpSpPr/>
            <p:nvPr/>
          </p:nvGrpSpPr>
          <p:grpSpPr>
            <a:xfrm>
              <a:off x="1605845" y="1493237"/>
              <a:ext cx="866423" cy="525218"/>
              <a:chOff x="0" y="0"/>
              <a:chExt cx="866422" cy="525216"/>
            </a:xfrm>
          </p:grpSpPr>
          <p:sp>
            <p:nvSpPr>
              <p:cNvPr id="1020" name="Shape 1163"/>
              <p:cNvSpPr txBox="1"/>
              <p:nvPr/>
            </p:nvSpPr>
            <p:spPr>
              <a:xfrm>
                <a:off x="129821" y="51647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  <p:sp>
            <p:nvSpPr>
              <p:cNvPr id="1021" name="Shape 1209"/>
              <p:cNvSpPr/>
              <p:nvPr/>
            </p:nvSpPr>
            <p:spPr>
              <a:xfrm>
                <a:off x="0" y="0"/>
                <a:ext cx="844410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22" name="Shape 1210"/>
              <p:cNvSpPr/>
              <p:nvPr/>
            </p:nvSpPr>
            <p:spPr>
              <a:xfrm>
                <a:off x="611858" y="4515"/>
                <a:ext cx="2259" cy="52070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024" name="Shape 1211"/>
            <p:cNvSpPr/>
            <p:nvPr/>
          </p:nvSpPr>
          <p:spPr>
            <a:xfrm>
              <a:off x="2307167" y="1755140"/>
              <a:ext cx="844411" cy="2260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030" name="成组"/>
            <p:cNvGrpSpPr/>
            <p:nvPr/>
          </p:nvGrpSpPr>
          <p:grpSpPr>
            <a:xfrm>
              <a:off x="3149883" y="1506220"/>
              <a:ext cx="859933" cy="525218"/>
              <a:chOff x="0" y="0"/>
              <a:chExt cx="859932" cy="525217"/>
            </a:xfrm>
          </p:grpSpPr>
          <p:sp>
            <p:nvSpPr>
              <p:cNvPr id="1025" name="Shape 1212"/>
              <p:cNvSpPr/>
              <p:nvPr/>
            </p:nvSpPr>
            <p:spPr>
              <a:xfrm>
                <a:off x="0" y="0"/>
                <a:ext cx="844410" cy="52070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26" name="Shape 1213"/>
              <p:cNvSpPr/>
              <p:nvPr/>
            </p:nvSpPr>
            <p:spPr>
              <a:xfrm>
                <a:off x="611858" y="4516"/>
                <a:ext cx="2260" cy="52070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27" name="Shape 1214"/>
              <p:cNvSpPr/>
              <p:nvPr/>
            </p:nvSpPr>
            <p:spPr>
              <a:xfrm flipH="1">
                <a:off x="611858" y="180622"/>
                <a:ext cx="103859" cy="25964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28" name="Shape 1215"/>
              <p:cNvSpPr/>
              <p:nvPr/>
            </p:nvSpPr>
            <p:spPr>
              <a:xfrm>
                <a:off x="715716" y="180622"/>
                <a:ext cx="106117" cy="259647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29" name="Shape 1216"/>
              <p:cNvSpPr txBox="1"/>
              <p:nvPr/>
            </p:nvSpPr>
            <p:spPr>
              <a:xfrm>
                <a:off x="123331" y="51647"/>
                <a:ext cx="7366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</p:grpSp>
      <p:sp>
        <p:nvSpPr>
          <p:cNvPr id="1032" name="Shape 1218"/>
          <p:cNvSpPr txBox="1"/>
          <p:nvPr/>
        </p:nvSpPr>
        <p:spPr>
          <a:xfrm>
            <a:off x="1384864" y="207433"/>
            <a:ext cx="10014454" cy="9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6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有向图-逆</a:t>
            </a:r>
            <a:r>
              <a:rPr>
                <a:uFill>
                  <a:solidFill>
                    <a:srgbClr val="0000FF"/>
                  </a:solidFill>
                </a:uFill>
              </a:rPr>
              <a:t>邻接表(inverse adjacency list)</a:t>
            </a:r>
          </a:p>
        </p:txBody>
      </p:sp>
      <p:grpSp>
        <p:nvGrpSpPr>
          <p:cNvPr id="1048" name="成组"/>
          <p:cNvGrpSpPr/>
          <p:nvPr/>
        </p:nvGrpSpPr>
        <p:grpSpPr>
          <a:xfrm>
            <a:off x="5779007" y="1436966"/>
            <a:ext cx="1432438" cy="3677430"/>
            <a:chOff x="0" y="0"/>
            <a:chExt cx="1432437" cy="3677429"/>
          </a:xfrm>
        </p:grpSpPr>
        <p:sp>
          <p:nvSpPr>
            <p:cNvPr id="1033" name="Shape 753"/>
            <p:cNvSpPr/>
            <p:nvPr/>
          </p:nvSpPr>
          <p:spPr>
            <a:xfrm>
              <a:off x="438854" y="0"/>
              <a:ext cx="993584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4" name="Shape 754"/>
            <p:cNvSpPr/>
            <p:nvPr/>
          </p:nvSpPr>
          <p:spPr>
            <a:xfrm>
              <a:off x="438855" y="715715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5" name="Shape 755"/>
            <p:cNvSpPr/>
            <p:nvPr/>
          </p:nvSpPr>
          <p:spPr>
            <a:xfrm>
              <a:off x="438855" y="1433689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6" name="Shape 756"/>
            <p:cNvSpPr/>
            <p:nvPr/>
          </p:nvSpPr>
          <p:spPr>
            <a:xfrm>
              <a:off x="438855" y="2149406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7" name="Shape 757"/>
            <p:cNvSpPr/>
            <p:nvPr/>
          </p:nvSpPr>
          <p:spPr>
            <a:xfrm>
              <a:off x="438855" y="2867380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8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039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040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041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042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043" name="Shape 815"/>
            <p:cNvSpPr txBox="1"/>
            <p:nvPr/>
          </p:nvSpPr>
          <p:spPr>
            <a:xfrm>
              <a:off x="629354" y="64063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44" name="Shape 816"/>
            <p:cNvSpPr txBox="1"/>
            <p:nvPr/>
          </p:nvSpPr>
          <p:spPr>
            <a:xfrm>
              <a:off x="629354" y="804616"/>
              <a:ext cx="73660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045" name="Shape 817"/>
            <p:cNvSpPr txBox="1"/>
            <p:nvPr/>
          </p:nvSpPr>
          <p:spPr>
            <a:xfrm>
              <a:off x="629354" y="152258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046" name="Shape 818"/>
            <p:cNvSpPr txBox="1"/>
            <p:nvPr/>
          </p:nvSpPr>
          <p:spPr>
            <a:xfrm>
              <a:off x="629354" y="2238304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047" name="Shape 819"/>
            <p:cNvSpPr txBox="1"/>
            <p:nvPr/>
          </p:nvSpPr>
          <p:spPr>
            <a:xfrm>
              <a:off x="629354" y="295627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Shape 1220"/>
          <p:cNvSpPr txBox="1"/>
          <p:nvPr/>
        </p:nvSpPr>
        <p:spPr>
          <a:xfrm>
            <a:off x="1663475" y="85654"/>
            <a:ext cx="950223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FF"/>
                  </a:solidFill>
                </a:uFill>
              </a:defRPr>
            </a:lvl1pPr>
          </a:lstStyle>
          <a:p>
            <a:pPr/>
            <a:r>
              <a:t>有向图-十字链表</a:t>
            </a:r>
          </a:p>
        </p:txBody>
      </p:sp>
      <p:grpSp>
        <p:nvGrpSpPr>
          <p:cNvPr id="1064" name="Group 1234"/>
          <p:cNvGrpSpPr/>
          <p:nvPr/>
        </p:nvGrpSpPr>
        <p:grpSpPr>
          <a:xfrm>
            <a:off x="198118" y="1532747"/>
            <a:ext cx="2458724" cy="2467558"/>
            <a:chOff x="0" y="7"/>
            <a:chExt cx="2458723" cy="2467556"/>
          </a:xfrm>
        </p:grpSpPr>
        <p:grpSp>
          <p:nvGrpSpPr>
            <p:cNvPr id="1053" name="Group 1223"/>
            <p:cNvGrpSpPr/>
            <p:nvPr/>
          </p:nvGrpSpPr>
          <p:grpSpPr>
            <a:xfrm>
              <a:off x="0" y="170016"/>
              <a:ext cx="661964" cy="700163"/>
              <a:chOff x="0" y="0"/>
              <a:chExt cx="661963" cy="700161"/>
            </a:xfrm>
          </p:grpSpPr>
          <p:sp>
            <p:nvSpPr>
              <p:cNvPr id="1051" name="Shape 1221"/>
              <p:cNvSpPr/>
              <p:nvPr/>
            </p:nvSpPr>
            <p:spPr>
              <a:xfrm>
                <a:off x="0" y="19514"/>
                <a:ext cx="661964" cy="657751"/>
              </a:xfrm>
              <a:prstGeom prst="ellipse">
                <a:avLst/>
              </a:prstGeom>
              <a:solidFill>
                <a:srgbClr val="A7E2FF"/>
              </a:solidFill>
              <a:ln w="25400" cap="sq">
                <a:solidFill>
                  <a:srgbClr val="3399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52" name="Shape 1222"/>
              <p:cNvSpPr txBox="1"/>
              <p:nvPr/>
            </p:nvSpPr>
            <p:spPr>
              <a:xfrm>
                <a:off x="56349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056" name="Group 1226"/>
            <p:cNvGrpSpPr/>
            <p:nvPr/>
          </p:nvGrpSpPr>
          <p:grpSpPr>
            <a:xfrm>
              <a:off x="851095" y="1767402"/>
              <a:ext cx="661967" cy="700163"/>
              <a:chOff x="0" y="0"/>
              <a:chExt cx="661965" cy="700161"/>
            </a:xfrm>
          </p:grpSpPr>
          <p:sp>
            <p:nvSpPr>
              <p:cNvPr id="1054" name="Shape 1224"/>
              <p:cNvSpPr/>
              <p:nvPr/>
            </p:nvSpPr>
            <p:spPr>
              <a:xfrm>
                <a:off x="0" y="19514"/>
                <a:ext cx="661967" cy="657751"/>
              </a:xfrm>
              <a:prstGeom prst="ellipse">
                <a:avLst/>
              </a:prstGeom>
              <a:solidFill>
                <a:srgbClr val="A7E2FF"/>
              </a:solidFill>
              <a:ln w="25400" cap="sq">
                <a:solidFill>
                  <a:srgbClr val="3399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55" name="Shape 1225"/>
              <p:cNvSpPr txBox="1"/>
              <p:nvPr/>
            </p:nvSpPr>
            <p:spPr>
              <a:xfrm>
                <a:off x="71765" y="-1"/>
                <a:ext cx="518432" cy="7001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059" name="Group 1229"/>
            <p:cNvGrpSpPr/>
            <p:nvPr/>
          </p:nvGrpSpPr>
          <p:grpSpPr>
            <a:xfrm>
              <a:off x="1796757" y="263979"/>
              <a:ext cx="661967" cy="700163"/>
              <a:chOff x="0" y="0"/>
              <a:chExt cx="661965" cy="700161"/>
            </a:xfrm>
          </p:grpSpPr>
          <p:sp>
            <p:nvSpPr>
              <p:cNvPr id="1057" name="Shape 1227"/>
              <p:cNvSpPr/>
              <p:nvPr/>
            </p:nvSpPr>
            <p:spPr>
              <a:xfrm>
                <a:off x="0" y="19514"/>
                <a:ext cx="661967" cy="657751"/>
              </a:xfrm>
              <a:prstGeom prst="ellipse">
                <a:avLst/>
              </a:prstGeom>
              <a:solidFill>
                <a:srgbClr val="A7E2FF"/>
              </a:solidFill>
              <a:ln w="25400" cap="sq">
                <a:solidFill>
                  <a:srgbClr val="339966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58" name="Shape 1228"/>
              <p:cNvSpPr txBox="1"/>
              <p:nvPr/>
            </p:nvSpPr>
            <p:spPr>
              <a:xfrm>
                <a:off x="56349" y="0"/>
                <a:ext cx="549264" cy="7001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44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1060" name="Shape 1230"/>
            <p:cNvSpPr/>
            <p:nvPr/>
          </p:nvSpPr>
          <p:spPr>
            <a:xfrm>
              <a:off x="472830" y="753312"/>
              <a:ext cx="567399" cy="1127568"/>
            </a:xfrm>
            <a:prstGeom prst="line">
              <a:avLst/>
            </a:prstGeom>
            <a:noFill/>
            <a:ln w="635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1" name="Shape 1231"/>
            <p:cNvSpPr/>
            <p:nvPr/>
          </p:nvSpPr>
          <p:spPr>
            <a:xfrm>
              <a:off x="661963" y="471421"/>
              <a:ext cx="1229363" cy="2260"/>
            </a:xfrm>
            <a:prstGeom prst="line">
              <a:avLst/>
            </a:prstGeom>
            <a:noFill/>
            <a:ln w="635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2" name="Shape 1232"/>
            <p:cNvSpPr/>
            <p:nvPr/>
          </p:nvSpPr>
          <p:spPr>
            <a:xfrm flipH="1">
              <a:off x="1418493" y="941240"/>
              <a:ext cx="661965" cy="1033605"/>
            </a:xfrm>
            <a:prstGeom prst="line">
              <a:avLst/>
            </a:prstGeom>
            <a:noFill/>
            <a:ln w="635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3" name="Shape 1233"/>
            <p:cNvSpPr/>
            <p:nvPr/>
          </p:nvSpPr>
          <p:spPr>
            <a:xfrm>
              <a:off x="472830" y="7"/>
              <a:ext cx="1702194" cy="283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79" fill="norm" stroke="1" extrusionOk="0">
                  <a:moveTo>
                    <a:pt x="21600" y="20579"/>
                  </a:moveTo>
                  <a:cubicBezTo>
                    <a:pt x="17400" y="10916"/>
                    <a:pt x="13200" y="1253"/>
                    <a:pt x="9600" y="116"/>
                  </a:cubicBezTo>
                  <a:cubicBezTo>
                    <a:pt x="6000" y="-1021"/>
                    <a:pt x="3000" y="6368"/>
                    <a:pt x="0" y="13758"/>
                  </a:cubicBezTo>
                </a:path>
              </a:pathLst>
            </a:custGeom>
            <a:noFill/>
            <a:ln w="635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070" name="Group 1240"/>
          <p:cNvGrpSpPr/>
          <p:nvPr/>
        </p:nvGrpSpPr>
        <p:grpSpPr>
          <a:xfrm>
            <a:off x="2565399" y="2617611"/>
            <a:ext cx="2514601" cy="3427937"/>
            <a:chOff x="0" y="0"/>
            <a:chExt cx="2514600" cy="3427936"/>
          </a:xfrm>
        </p:grpSpPr>
        <p:sp>
          <p:nvSpPr>
            <p:cNvPr id="1065" name="Shape 1235"/>
            <p:cNvSpPr/>
            <p:nvPr/>
          </p:nvSpPr>
          <p:spPr>
            <a:xfrm>
              <a:off x="0" y="0"/>
              <a:ext cx="2514600" cy="3376563"/>
            </a:xfrm>
            <a:prstGeom prst="rect">
              <a:avLst/>
            </a:prstGeom>
            <a:solidFill>
              <a:srgbClr val="FFFF99"/>
            </a:solidFill>
            <a:ln w="28575" cap="sq">
              <a:solidFill>
                <a:srgbClr val="9933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3300"/>
                </a:spcBef>
                <a:defRPr b="1" sz="5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pPr>
              <a:r>
                <a:t>A</a:t>
              </a:r>
            </a:p>
            <a:p>
              <a:pPr marR="57798" defTabSz="1295400">
                <a:lnSpc>
                  <a:spcPct val="100000"/>
                </a:lnSpc>
                <a:spcBef>
                  <a:spcPts val="3300"/>
                </a:spcBef>
                <a:defRPr b="1" sz="5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pPr>
              <a:r>
                <a:t>B</a:t>
              </a:r>
            </a:p>
            <a:p>
              <a:pPr marR="57798" defTabSz="1295400">
                <a:lnSpc>
                  <a:spcPct val="100000"/>
                </a:lnSpc>
                <a:spcBef>
                  <a:spcPts val="3300"/>
                </a:spcBef>
                <a:defRPr b="1" sz="5600">
                  <a:solidFill>
                    <a:srgbClr val="800000"/>
                  </a:solidFill>
                  <a:uFill>
                    <a:solidFill>
                      <a:srgbClr val="800000"/>
                    </a:solidFill>
                  </a:uFill>
                </a:defRPr>
              </a:pPr>
              <a:r>
                <a:t>C</a:t>
              </a:r>
            </a:p>
          </p:txBody>
        </p:sp>
        <p:sp>
          <p:nvSpPr>
            <p:cNvPr id="1066" name="Shape 1236"/>
            <p:cNvSpPr/>
            <p:nvPr/>
          </p:nvSpPr>
          <p:spPr>
            <a:xfrm>
              <a:off x="-1" y="1128888"/>
              <a:ext cx="2489201" cy="2260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7" name="Shape 1237"/>
            <p:cNvSpPr/>
            <p:nvPr/>
          </p:nvSpPr>
          <p:spPr>
            <a:xfrm>
              <a:off x="-1" y="2424288"/>
              <a:ext cx="2489201" cy="2260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8" name="Shape 1238"/>
            <p:cNvSpPr/>
            <p:nvPr/>
          </p:nvSpPr>
          <p:spPr>
            <a:xfrm flipH="1">
              <a:off x="976459" y="49388"/>
              <a:ext cx="1442" cy="3375624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9" name="Shape 1239"/>
            <p:cNvSpPr/>
            <p:nvPr/>
          </p:nvSpPr>
          <p:spPr>
            <a:xfrm>
              <a:off x="1727200" y="49388"/>
              <a:ext cx="2630" cy="3378549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071" name="Shape 1241"/>
          <p:cNvSpPr txBox="1"/>
          <p:nvPr/>
        </p:nvSpPr>
        <p:spPr>
          <a:xfrm>
            <a:off x="4292600" y="3962400"/>
            <a:ext cx="458643" cy="54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380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∧</a:t>
            </a:r>
          </a:p>
        </p:txBody>
      </p:sp>
      <p:grpSp>
        <p:nvGrpSpPr>
          <p:cNvPr id="1076" name="Group 1246"/>
          <p:cNvGrpSpPr/>
          <p:nvPr/>
        </p:nvGrpSpPr>
        <p:grpSpPr>
          <a:xfrm>
            <a:off x="5816600" y="2666957"/>
            <a:ext cx="2616200" cy="890088"/>
            <a:chOff x="0" y="0"/>
            <a:chExt cx="2616200" cy="890086"/>
          </a:xfrm>
        </p:grpSpPr>
        <p:sp>
          <p:nvSpPr>
            <p:cNvPr id="1072" name="Shape 1242"/>
            <p:cNvSpPr/>
            <p:nvPr/>
          </p:nvSpPr>
          <p:spPr>
            <a:xfrm>
              <a:off x="0" y="22902"/>
              <a:ext cx="2616200" cy="836625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rgbClr val="00008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3000"/>
                </a:spcBef>
                <a:defRPr b="1" sz="5000">
                  <a:solidFill>
                    <a:srgbClr val="0000CC"/>
                  </a:solidFill>
                  <a:uFill>
                    <a:solidFill>
                      <a:srgbClr val="0000CC"/>
                    </a:solidFill>
                  </a:uFill>
                </a:defRPr>
              </a:lvl1pPr>
            </a:lstStyle>
            <a:p>
              <a:pPr/>
              <a:r>
                <a:t>0  1</a:t>
              </a:r>
            </a:p>
          </p:txBody>
        </p:sp>
        <p:sp>
          <p:nvSpPr>
            <p:cNvPr id="1073" name="Shape 1243"/>
            <p:cNvSpPr/>
            <p:nvPr/>
          </p:nvSpPr>
          <p:spPr>
            <a:xfrm>
              <a:off x="647699" y="12742"/>
              <a:ext cx="5111" cy="877345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4" name="Shape 1244"/>
            <p:cNvSpPr/>
            <p:nvPr/>
          </p:nvSpPr>
          <p:spPr>
            <a:xfrm>
              <a:off x="1289296" y="-1"/>
              <a:ext cx="4" cy="883927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5" name="Shape 1245"/>
            <p:cNvSpPr/>
            <p:nvPr/>
          </p:nvSpPr>
          <p:spPr>
            <a:xfrm flipH="1">
              <a:off x="1937891" y="41"/>
              <a:ext cx="5210" cy="865985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077" name="Shape 1247"/>
          <p:cNvSpPr/>
          <p:nvPr/>
        </p:nvSpPr>
        <p:spPr>
          <a:xfrm>
            <a:off x="4570091" y="3200400"/>
            <a:ext cx="1244534" cy="2358"/>
          </a:xfrm>
          <a:prstGeom prst="line">
            <a:avLst/>
          </a:prstGeom>
          <a:ln w="28575" cap="sq">
            <a:solidFill>
              <a:srgbClr val="0000CC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082" name="Group 1252"/>
          <p:cNvGrpSpPr/>
          <p:nvPr/>
        </p:nvGrpSpPr>
        <p:grpSpPr>
          <a:xfrm>
            <a:off x="5816600" y="5156200"/>
            <a:ext cx="2616200" cy="874664"/>
            <a:chOff x="0" y="0"/>
            <a:chExt cx="2616200" cy="874663"/>
          </a:xfrm>
        </p:grpSpPr>
        <p:sp>
          <p:nvSpPr>
            <p:cNvPr id="1078" name="Shape 1248"/>
            <p:cNvSpPr/>
            <p:nvPr/>
          </p:nvSpPr>
          <p:spPr>
            <a:xfrm>
              <a:off x="0" y="26246"/>
              <a:ext cx="26162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  <a:ln w="25400" cap="sq">
              <a:solidFill>
                <a:srgbClr val="00008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3000"/>
                </a:spcBef>
                <a:defRPr b="1" sz="5000">
                  <a:solidFill>
                    <a:srgbClr val="0000CC"/>
                  </a:solidFill>
                  <a:uFill>
                    <a:solidFill>
                      <a:srgbClr val="0000CC"/>
                    </a:solidFill>
                  </a:uFill>
                </a:defRPr>
              </a:pPr>
              <a:r>
                <a:t>2  1  </a:t>
              </a:r>
              <a:r>
                <a:rPr b="0" sz="3800">
                  <a:solidFill>
                    <a:srgbClr val="CC3300"/>
                  </a:solidFill>
                  <a:uFill>
                    <a:solidFill>
                      <a:srgbClr val="CC3300"/>
                    </a:solidFill>
                  </a:uFill>
                  <a:latin typeface="SimSun"/>
                  <a:ea typeface="SimSun"/>
                  <a:cs typeface="SimSun"/>
                  <a:sym typeface="SimSun"/>
                </a:rPr>
                <a:t>∧</a:t>
              </a:r>
            </a:p>
          </p:txBody>
        </p:sp>
        <p:sp>
          <p:nvSpPr>
            <p:cNvPr id="1079" name="Shape 1249"/>
            <p:cNvSpPr/>
            <p:nvPr/>
          </p:nvSpPr>
          <p:spPr>
            <a:xfrm flipH="1">
              <a:off x="647699" y="12700"/>
              <a:ext cx="1" cy="861643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0" name="Shape 1250"/>
            <p:cNvSpPr/>
            <p:nvPr/>
          </p:nvSpPr>
          <p:spPr>
            <a:xfrm>
              <a:off x="1295399" y="0"/>
              <a:ext cx="1590" cy="862708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1" name="Shape 1251"/>
            <p:cNvSpPr/>
            <p:nvPr/>
          </p:nvSpPr>
          <p:spPr>
            <a:xfrm>
              <a:off x="1943100" y="0"/>
              <a:ext cx="3572" cy="874664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087" name="Group 1257"/>
          <p:cNvGrpSpPr/>
          <p:nvPr/>
        </p:nvGrpSpPr>
        <p:grpSpPr>
          <a:xfrm>
            <a:off x="9931400" y="2666999"/>
            <a:ext cx="2616200" cy="861420"/>
            <a:chOff x="0" y="0"/>
            <a:chExt cx="2616200" cy="861418"/>
          </a:xfrm>
        </p:grpSpPr>
        <p:sp>
          <p:nvSpPr>
            <p:cNvPr id="1083" name="Shape 1253"/>
            <p:cNvSpPr/>
            <p:nvPr/>
          </p:nvSpPr>
          <p:spPr>
            <a:xfrm>
              <a:off x="0" y="-1"/>
              <a:ext cx="2616200" cy="836626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rgbClr val="00008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3000"/>
                </a:spcBef>
                <a:defRPr b="1" sz="5000">
                  <a:solidFill>
                    <a:srgbClr val="0000CC"/>
                  </a:solidFill>
                  <a:uFill>
                    <a:solidFill>
                      <a:srgbClr val="0000CC"/>
                    </a:solidFill>
                  </a:uFill>
                </a:defRPr>
              </a:pPr>
              <a:r>
                <a:t>0  2  </a:t>
              </a:r>
              <a:r>
                <a:rPr b="0" sz="3800">
                  <a:solidFill>
                    <a:srgbClr val="CC3300"/>
                  </a:solidFill>
                  <a:uFill>
                    <a:solidFill>
                      <a:srgbClr val="CC3300"/>
                    </a:solidFill>
                  </a:uFill>
                  <a:latin typeface="SimSun"/>
                  <a:ea typeface="SimSun"/>
                  <a:cs typeface="SimSun"/>
                  <a:sym typeface="SimSun"/>
                </a:rPr>
                <a:t>∧</a:t>
              </a:r>
              <a:r>
                <a:rPr sz="3800"/>
                <a:t> </a:t>
              </a:r>
              <a:r>
                <a:rPr b="0" sz="3800">
                  <a:latin typeface="SimSun"/>
                  <a:ea typeface="SimSun"/>
                  <a:cs typeface="SimSun"/>
                  <a:sym typeface="SimSun"/>
                </a:rPr>
                <a:t>∧</a:t>
              </a:r>
            </a:p>
          </p:txBody>
        </p:sp>
        <p:sp>
          <p:nvSpPr>
            <p:cNvPr id="1084" name="Shape 1254"/>
            <p:cNvSpPr/>
            <p:nvPr/>
          </p:nvSpPr>
          <p:spPr>
            <a:xfrm>
              <a:off x="647699" y="-1"/>
              <a:ext cx="1392" cy="860279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5" name="Shape 1255"/>
            <p:cNvSpPr/>
            <p:nvPr/>
          </p:nvSpPr>
          <p:spPr>
            <a:xfrm flipH="1">
              <a:off x="1303386" y="0"/>
              <a:ext cx="4714" cy="861419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6" name="Shape 1256"/>
            <p:cNvSpPr/>
            <p:nvPr/>
          </p:nvSpPr>
          <p:spPr>
            <a:xfrm flipH="1">
              <a:off x="1947862" y="0"/>
              <a:ext cx="7939" cy="842170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088" name="Shape 1258"/>
          <p:cNvSpPr/>
          <p:nvPr/>
        </p:nvSpPr>
        <p:spPr>
          <a:xfrm>
            <a:off x="4570091" y="5702299"/>
            <a:ext cx="1244534" cy="2358"/>
          </a:xfrm>
          <a:prstGeom prst="line">
            <a:avLst/>
          </a:prstGeom>
          <a:ln w="28575" cap="sq">
            <a:solidFill>
              <a:srgbClr val="0000CC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9" name="Shape 1259"/>
          <p:cNvSpPr/>
          <p:nvPr/>
        </p:nvSpPr>
        <p:spPr>
          <a:xfrm>
            <a:off x="3759198" y="3152206"/>
            <a:ext cx="3" cy="3201713"/>
          </a:xfrm>
          <a:prstGeom prst="line">
            <a:avLst/>
          </a:prstGeom>
          <a:ln w="28575" cap="sq">
            <a:solidFill>
              <a:srgbClr val="CC33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0" name="Shape 1260"/>
          <p:cNvSpPr/>
          <p:nvPr/>
        </p:nvSpPr>
        <p:spPr>
          <a:xfrm>
            <a:off x="3755242" y="6338220"/>
            <a:ext cx="7814458" cy="1"/>
          </a:xfrm>
          <a:prstGeom prst="line">
            <a:avLst/>
          </a:prstGeom>
          <a:ln w="28575" cap="sq">
            <a:solidFill>
              <a:srgbClr val="CC33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1" name="Shape 1261"/>
          <p:cNvSpPr/>
          <p:nvPr/>
        </p:nvSpPr>
        <p:spPr>
          <a:xfrm flipV="1">
            <a:off x="11559256" y="5943600"/>
            <a:ext cx="1" cy="399021"/>
          </a:xfrm>
          <a:prstGeom prst="line">
            <a:avLst/>
          </a:prstGeom>
          <a:ln w="28575" cap="sq">
            <a:solidFill>
              <a:srgbClr val="CC33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2" name="Shape 1262"/>
          <p:cNvSpPr/>
          <p:nvPr/>
        </p:nvSpPr>
        <p:spPr>
          <a:xfrm>
            <a:off x="7442199" y="3152206"/>
            <a:ext cx="2321" cy="2003147"/>
          </a:xfrm>
          <a:prstGeom prst="line">
            <a:avLst/>
          </a:prstGeom>
          <a:ln w="28575" cap="sq">
            <a:solidFill>
              <a:srgbClr val="CC33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3" name="Shape 1263"/>
          <p:cNvSpPr/>
          <p:nvPr/>
        </p:nvSpPr>
        <p:spPr>
          <a:xfrm flipV="1">
            <a:off x="4076699" y="1904999"/>
            <a:ext cx="2308" cy="2545014"/>
          </a:xfrm>
          <a:prstGeom prst="line">
            <a:avLst/>
          </a:prstGeom>
          <a:ln w="28575" cap="sq">
            <a:solidFill>
              <a:srgbClr val="CC33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4" name="Shape 1264"/>
          <p:cNvSpPr/>
          <p:nvPr/>
        </p:nvSpPr>
        <p:spPr>
          <a:xfrm>
            <a:off x="4076699" y="1930399"/>
            <a:ext cx="3365502" cy="2260"/>
          </a:xfrm>
          <a:prstGeom prst="line">
            <a:avLst/>
          </a:prstGeom>
          <a:ln w="28575" cap="sq">
            <a:solidFill>
              <a:srgbClr val="CC33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5" name="Shape 1265"/>
          <p:cNvSpPr/>
          <p:nvPr/>
        </p:nvSpPr>
        <p:spPr>
          <a:xfrm>
            <a:off x="7442199" y="1904999"/>
            <a:ext cx="2259" cy="863602"/>
          </a:xfrm>
          <a:prstGeom prst="line">
            <a:avLst/>
          </a:prstGeom>
          <a:ln w="28575" cap="sq">
            <a:solidFill>
              <a:srgbClr val="CC33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6" name="Shape 1266"/>
          <p:cNvSpPr/>
          <p:nvPr/>
        </p:nvSpPr>
        <p:spPr>
          <a:xfrm>
            <a:off x="4049837" y="5750483"/>
            <a:ext cx="3" cy="1031780"/>
          </a:xfrm>
          <a:prstGeom prst="line">
            <a:avLst/>
          </a:prstGeom>
          <a:ln w="28575" cap="sq">
            <a:solidFill>
              <a:srgbClr val="CC33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7" name="Shape 1267"/>
          <p:cNvSpPr/>
          <p:nvPr/>
        </p:nvSpPr>
        <p:spPr>
          <a:xfrm flipV="1">
            <a:off x="4051298" y="6782703"/>
            <a:ext cx="8921247" cy="2"/>
          </a:xfrm>
          <a:prstGeom prst="line">
            <a:avLst/>
          </a:prstGeom>
          <a:ln w="28575" cap="sq">
            <a:solidFill>
              <a:srgbClr val="CC33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8" name="Shape 1268"/>
          <p:cNvSpPr/>
          <p:nvPr/>
        </p:nvSpPr>
        <p:spPr>
          <a:xfrm flipH="1">
            <a:off x="11559257" y="1942710"/>
            <a:ext cx="2" cy="660790"/>
          </a:xfrm>
          <a:prstGeom prst="line">
            <a:avLst/>
          </a:prstGeom>
          <a:ln w="28575" cap="sq">
            <a:solidFill>
              <a:srgbClr val="CC33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103" name="Group 1273"/>
          <p:cNvGrpSpPr/>
          <p:nvPr/>
        </p:nvGrpSpPr>
        <p:grpSpPr>
          <a:xfrm>
            <a:off x="9918700" y="5132775"/>
            <a:ext cx="2616200" cy="859493"/>
            <a:chOff x="0" y="0"/>
            <a:chExt cx="2616200" cy="859492"/>
          </a:xfrm>
        </p:grpSpPr>
        <p:sp>
          <p:nvSpPr>
            <p:cNvPr id="1099" name="Shape 1269"/>
            <p:cNvSpPr/>
            <p:nvPr/>
          </p:nvSpPr>
          <p:spPr>
            <a:xfrm>
              <a:off x="0" y="0"/>
              <a:ext cx="2616200" cy="836625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rgbClr val="00008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3000"/>
                </a:spcBef>
                <a:defRPr b="1" sz="5000">
                  <a:solidFill>
                    <a:srgbClr val="0000CC"/>
                  </a:solidFill>
                  <a:uFill>
                    <a:solidFill>
                      <a:srgbClr val="0000CC"/>
                    </a:solidFill>
                  </a:uFill>
                </a:defRPr>
              </a:pPr>
              <a:r>
                <a:t>2  0  </a:t>
              </a:r>
              <a:r>
                <a:rPr b="0" sz="3800">
                  <a:solidFill>
                    <a:srgbClr val="CC3300"/>
                  </a:solidFill>
                  <a:uFill>
                    <a:solidFill>
                      <a:srgbClr val="CC3300"/>
                    </a:solidFill>
                  </a:uFill>
                  <a:latin typeface="SimSun"/>
                  <a:ea typeface="SimSun"/>
                  <a:cs typeface="SimSun"/>
                  <a:sym typeface="SimSun"/>
                </a:rPr>
                <a:t>∧</a:t>
              </a:r>
              <a:r>
                <a:rPr sz="3800"/>
                <a:t> </a:t>
              </a:r>
              <a:r>
                <a:rPr b="0" sz="3800">
                  <a:latin typeface="SimSun"/>
                  <a:ea typeface="SimSun"/>
                  <a:cs typeface="SimSun"/>
                  <a:sym typeface="SimSun"/>
                </a:rPr>
                <a:t>∧</a:t>
              </a:r>
            </a:p>
          </p:txBody>
        </p:sp>
        <p:sp>
          <p:nvSpPr>
            <p:cNvPr id="1100" name="Shape 1270"/>
            <p:cNvSpPr/>
            <p:nvPr/>
          </p:nvSpPr>
          <p:spPr>
            <a:xfrm flipH="1">
              <a:off x="615999" y="23424"/>
              <a:ext cx="3197" cy="830513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1" name="Shape 1271"/>
            <p:cNvSpPr/>
            <p:nvPr/>
          </p:nvSpPr>
          <p:spPr>
            <a:xfrm>
              <a:off x="1269434" y="23424"/>
              <a:ext cx="5677" cy="813199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2" name="Shape 1272"/>
            <p:cNvSpPr/>
            <p:nvPr/>
          </p:nvSpPr>
          <p:spPr>
            <a:xfrm>
              <a:off x="1919674" y="23424"/>
              <a:ext cx="1450" cy="836069"/>
            </a:xfrm>
            <a:prstGeom prst="line">
              <a:avLst/>
            </a:prstGeom>
            <a:noFill/>
            <a:ln w="19050" cap="sq">
              <a:solidFill>
                <a:srgbClr val="0000C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104" name="Shape 1274"/>
          <p:cNvSpPr/>
          <p:nvPr/>
        </p:nvSpPr>
        <p:spPr>
          <a:xfrm>
            <a:off x="8038037" y="5674576"/>
            <a:ext cx="1894775" cy="2324"/>
          </a:xfrm>
          <a:prstGeom prst="line">
            <a:avLst/>
          </a:prstGeom>
          <a:ln w="28575" cap="sq">
            <a:solidFill>
              <a:srgbClr val="0000CC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05" name="Shape 1275"/>
          <p:cNvSpPr/>
          <p:nvPr/>
        </p:nvSpPr>
        <p:spPr>
          <a:xfrm>
            <a:off x="8146411" y="3163927"/>
            <a:ext cx="1894774" cy="2325"/>
          </a:xfrm>
          <a:prstGeom prst="line">
            <a:avLst/>
          </a:prstGeom>
          <a:ln w="28575" cap="sq">
            <a:solidFill>
              <a:srgbClr val="0000CC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109" name="成组"/>
          <p:cNvGrpSpPr/>
          <p:nvPr/>
        </p:nvGrpSpPr>
        <p:grpSpPr>
          <a:xfrm>
            <a:off x="2149170" y="2791890"/>
            <a:ext cx="476900" cy="3079379"/>
            <a:chOff x="0" y="0"/>
            <a:chExt cx="476898" cy="3079377"/>
          </a:xfrm>
        </p:grpSpPr>
        <p:sp>
          <p:nvSpPr>
            <p:cNvPr id="1106" name="Shape 1276"/>
            <p:cNvSpPr txBox="1"/>
            <p:nvPr/>
          </p:nvSpPr>
          <p:spPr>
            <a:xfrm>
              <a:off x="0" y="0"/>
              <a:ext cx="400699" cy="615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3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107" name="Shape 1277"/>
            <p:cNvSpPr txBox="1"/>
            <p:nvPr/>
          </p:nvSpPr>
          <p:spPr>
            <a:xfrm>
              <a:off x="38100" y="1231900"/>
              <a:ext cx="400699" cy="615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3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108" name="Shape 1278"/>
            <p:cNvSpPr txBox="1"/>
            <p:nvPr/>
          </p:nvSpPr>
          <p:spPr>
            <a:xfrm>
              <a:off x="76200" y="2463800"/>
              <a:ext cx="400699" cy="6155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3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110" name="Shape 1279"/>
          <p:cNvSpPr/>
          <p:nvPr/>
        </p:nvSpPr>
        <p:spPr>
          <a:xfrm flipV="1">
            <a:off x="11556999" y="1932666"/>
            <a:ext cx="1376118" cy="2"/>
          </a:xfrm>
          <a:prstGeom prst="line">
            <a:avLst/>
          </a:prstGeom>
          <a:ln w="28575" cap="sq">
            <a:solidFill>
              <a:srgbClr val="CC33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1" name="Shape 1280"/>
          <p:cNvSpPr/>
          <p:nvPr/>
        </p:nvSpPr>
        <p:spPr>
          <a:xfrm flipH="1">
            <a:off x="12959098" y="1898743"/>
            <a:ext cx="1" cy="4838306"/>
          </a:xfrm>
          <a:prstGeom prst="line">
            <a:avLst/>
          </a:prstGeom>
          <a:ln w="28575" cap="sq">
            <a:solidFill>
              <a:srgbClr val="CC3300"/>
            </a:solidFill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8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8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3" dur="5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Class="entr" nodeType="after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after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ntr" nodeType="after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Class="entr" nodeType="after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Class="entr" nodeType="after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after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Class="entr" nodeType="after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94" grpId="17"/>
      <p:bldP build="whole" bldLvl="1" animBg="1" rev="0" advAuto="0" spid="1109" grpId="2"/>
      <p:bldP build="whole" bldLvl="1" animBg="1" rev="0" advAuto="0" spid="1070" grpId="3"/>
      <p:bldP build="whole" bldLvl="1" animBg="1" rev="0" advAuto="0" spid="1082" grpId="6"/>
      <p:bldP build="whole" bldLvl="1" animBg="1" rev="0" advAuto="0" spid="1088" grpId="11"/>
      <p:bldP build="whole" bldLvl="1" animBg="1" rev="0" advAuto="0" spid="1097" grpId="21"/>
      <p:bldP build="whole" bldLvl="1" animBg="1" rev="0" advAuto="0" spid="1110" grpId="23"/>
      <p:bldP build="whole" bldLvl="1" animBg="1" rev="0" advAuto="0" spid="1071" grpId="10"/>
      <p:bldP build="whole" bldLvl="1" animBg="1" rev="0" advAuto="0" spid="1087" grpId="5"/>
      <p:bldP build="whole" bldLvl="1" animBg="1" rev="0" advAuto="0" spid="1098" grpId="22"/>
      <p:bldP build="whole" bldLvl="1" animBg="1" rev="0" advAuto="0" spid="1096" grpId="20"/>
      <p:bldP build="whole" bldLvl="1" animBg="1" rev="0" advAuto="0" spid="1111" grpId="24"/>
      <p:bldP build="whole" bldLvl="1" animBg="1" rev="0" advAuto="0" spid="1089" grpId="13"/>
      <p:bldP build="whole" bldLvl="1" animBg="1" rev="0" advAuto="0" spid="1076" grpId="4"/>
      <p:bldP build="whole" bldLvl="1" animBg="1" rev="0" advAuto="0" spid="1095" grpId="18"/>
      <p:bldP build="whole" bldLvl="1" animBg="1" rev="0" advAuto="0" spid="1104" grpId="12"/>
      <p:bldP build="whole" bldLvl="1" animBg="1" rev="0" advAuto="0" spid="1093" grpId="16"/>
      <p:bldP build="whole" bldLvl="1" animBg="1" rev="0" advAuto="0" spid="1103" grpId="7"/>
      <p:bldP build="whole" bldLvl="1" animBg="1" rev="0" advAuto="0" spid="1105" grpId="9"/>
      <p:bldP build="whole" bldLvl="1" animBg="1" rev="0" advAuto="0" spid="1077" grpId="8"/>
      <p:bldP build="whole" bldLvl="1" animBg="1" rev="0" advAuto="0" spid="1091" grpId="15"/>
      <p:bldP build="whole" bldLvl="1" animBg="1" rev="0" advAuto="0" spid="1064" grpId="1"/>
      <p:bldP build="whole" bldLvl="1" animBg="1" rev="0" advAuto="0" spid="1090" grpId="14"/>
      <p:bldP build="whole" bldLvl="1" animBg="1" rev="0" advAuto="0" spid="1092" grpId="19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Shape 1282"/>
          <p:cNvSpPr/>
          <p:nvPr/>
        </p:nvSpPr>
        <p:spPr>
          <a:xfrm>
            <a:off x="7936089" y="1683736"/>
            <a:ext cx="1126635" cy="1025035"/>
          </a:xfrm>
          <a:prstGeom prst="ellipse">
            <a:avLst/>
          </a:prstGeom>
          <a:ln w="381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4" name="Shape 1283"/>
          <p:cNvSpPr txBox="1"/>
          <p:nvPr/>
        </p:nvSpPr>
        <p:spPr>
          <a:xfrm>
            <a:off x="8271790" y="1978656"/>
            <a:ext cx="467434" cy="44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R="56816" indent="56816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0250"/>
              <a:t>2</a:t>
            </a:r>
          </a:p>
        </p:txBody>
      </p:sp>
      <p:sp>
        <p:nvSpPr>
          <p:cNvPr id="1115" name="Shape 1285"/>
          <p:cNvSpPr/>
          <p:nvPr/>
        </p:nvSpPr>
        <p:spPr>
          <a:xfrm>
            <a:off x="5892800" y="3219025"/>
            <a:ext cx="1126634" cy="1025036"/>
          </a:xfrm>
          <a:prstGeom prst="ellipse">
            <a:avLst/>
          </a:prstGeom>
          <a:ln w="381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6" name="Shape 1286"/>
          <p:cNvSpPr txBox="1"/>
          <p:nvPr/>
        </p:nvSpPr>
        <p:spPr>
          <a:xfrm>
            <a:off x="6217883" y="3502656"/>
            <a:ext cx="467434" cy="44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R="56816" indent="56816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0250"/>
              <a:t>1</a:t>
            </a:r>
          </a:p>
        </p:txBody>
      </p:sp>
      <p:sp>
        <p:nvSpPr>
          <p:cNvPr id="1117" name="Shape 1288"/>
          <p:cNvSpPr/>
          <p:nvPr/>
        </p:nvSpPr>
        <p:spPr>
          <a:xfrm>
            <a:off x="9882292" y="3219025"/>
            <a:ext cx="1126635" cy="1025036"/>
          </a:xfrm>
          <a:prstGeom prst="ellipse">
            <a:avLst/>
          </a:prstGeom>
          <a:ln w="381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8" name="Shape 1289"/>
          <p:cNvSpPr txBox="1"/>
          <p:nvPr/>
        </p:nvSpPr>
        <p:spPr>
          <a:xfrm>
            <a:off x="10211890" y="3502656"/>
            <a:ext cx="467434" cy="44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R="56816" indent="56816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0250"/>
              <a:t>4</a:t>
            </a:r>
          </a:p>
        </p:txBody>
      </p:sp>
      <p:sp>
        <p:nvSpPr>
          <p:cNvPr id="1119" name="Shape 1291"/>
          <p:cNvSpPr/>
          <p:nvPr/>
        </p:nvSpPr>
        <p:spPr>
          <a:xfrm>
            <a:off x="7936089" y="4551114"/>
            <a:ext cx="1126635" cy="1025035"/>
          </a:xfrm>
          <a:prstGeom prst="ellipse">
            <a:avLst/>
          </a:prstGeom>
          <a:ln w="381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0" name="Shape 1292"/>
          <p:cNvSpPr txBox="1"/>
          <p:nvPr/>
        </p:nvSpPr>
        <p:spPr>
          <a:xfrm>
            <a:off x="8271790" y="4840954"/>
            <a:ext cx="467434" cy="449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marR="56816" indent="56816" algn="ctr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V</a:t>
            </a:r>
            <a:r>
              <a:rPr baseline="-20250"/>
              <a:t>3</a:t>
            </a:r>
          </a:p>
        </p:txBody>
      </p:sp>
      <p:sp>
        <p:nvSpPr>
          <p:cNvPr id="1121" name="Shape 1294"/>
          <p:cNvSpPr txBox="1"/>
          <p:nvPr/>
        </p:nvSpPr>
        <p:spPr>
          <a:xfrm>
            <a:off x="255128" y="1785336"/>
            <a:ext cx="47371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2400"/>
              </a:spcBef>
              <a:defRPr sz="38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pPr>
            <a:r>
              <a:t>1</a:t>
            </a:r>
            <a:r>
              <a:rPr>
                <a:latin typeface="SimSun"/>
                <a:ea typeface="SimSun"/>
                <a:cs typeface="SimSun"/>
                <a:sym typeface="SimSun"/>
              </a:rPr>
              <a:t>、邻接矩阵</a:t>
            </a:r>
          </a:p>
        </p:txBody>
      </p:sp>
      <p:sp>
        <p:nvSpPr>
          <p:cNvPr id="1122" name="Shape 1295"/>
          <p:cNvSpPr txBox="1"/>
          <p:nvPr/>
        </p:nvSpPr>
        <p:spPr>
          <a:xfrm>
            <a:off x="255128" y="3013569"/>
            <a:ext cx="47371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2400"/>
              </a:spcBef>
              <a:defRPr sz="38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pPr>
            <a:r>
              <a:t>2</a:t>
            </a:r>
            <a:r>
              <a:rPr>
                <a:latin typeface="SimSun"/>
                <a:ea typeface="SimSun"/>
                <a:cs typeface="SimSun"/>
                <a:sym typeface="SimSun"/>
              </a:rPr>
              <a:t>、邻接表</a:t>
            </a:r>
          </a:p>
        </p:txBody>
      </p:sp>
      <p:sp>
        <p:nvSpPr>
          <p:cNvPr id="1123" name="Shape 1296"/>
          <p:cNvSpPr txBox="1"/>
          <p:nvPr/>
        </p:nvSpPr>
        <p:spPr>
          <a:xfrm>
            <a:off x="255128" y="4528537"/>
            <a:ext cx="47371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2400"/>
              </a:spcBef>
              <a:defRPr sz="3800">
                <a:uFill>
                  <a:solidFill>
                    <a:srgbClr val="000000"/>
                  </a:solidFill>
                </a:uFill>
                <a:latin typeface="Tahoma"/>
                <a:ea typeface="Tahoma"/>
                <a:cs typeface="Tahoma"/>
                <a:sym typeface="Tahoma"/>
              </a:defRPr>
            </a:pPr>
            <a:r>
              <a:t>3</a:t>
            </a:r>
            <a:r>
              <a:rPr>
                <a:latin typeface="SimSun"/>
                <a:ea typeface="SimSun"/>
                <a:cs typeface="SimSun"/>
                <a:sym typeface="SimSun"/>
              </a:rPr>
              <a:t>、十字链表</a:t>
            </a:r>
          </a:p>
        </p:txBody>
      </p:sp>
      <p:sp>
        <p:nvSpPr>
          <p:cNvPr id="1124" name="Shape 1297"/>
          <p:cNvSpPr txBox="1"/>
          <p:nvPr/>
        </p:nvSpPr>
        <p:spPr>
          <a:xfrm>
            <a:off x="2248464" y="105833"/>
            <a:ext cx="8051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课堂练习</a:t>
            </a:r>
          </a:p>
        </p:txBody>
      </p:sp>
      <p:sp>
        <p:nvSpPr>
          <p:cNvPr id="1125" name="Shape 1298"/>
          <p:cNvSpPr/>
          <p:nvPr/>
        </p:nvSpPr>
        <p:spPr>
          <a:xfrm flipV="1">
            <a:off x="6705599" y="2492207"/>
            <a:ext cx="1356307" cy="812864"/>
          </a:xfrm>
          <a:prstGeom prst="line">
            <a:avLst/>
          </a:prstGeom>
          <a:ln w="3810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6" name="Shape 1299"/>
          <p:cNvSpPr/>
          <p:nvPr/>
        </p:nvSpPr>
        <p:spPr>
          <a:xfrm>
            <a:off x="8905517" y="2524869"/>
            <a:ext cx="1007560" cy="1007559"/>
          </a:xfrm>
          <a:prstGeom prst="line">
            <a:avLst/>
          </a:prstGeom>
          <a:ln w="3810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7" name="Shape 1300"/>
          <p:cNvSpPr/>
          <p:nvPr/>
        </p:nvSpPr>
        <p:spPr>
          <a:xfrm flipV="1">
            <a:off x="9016999" y="4134272"/>
            <a:ext cx="1106673" cy="775893"/>
          </a:xfrm>
          <a:prstGeom prst="line">
            <a:avLst/>
          </a:prstGeom>
          <a:ln w="3810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8" name="Shape 1301"/>
          <p:cNvSpPr/>
          <p:nvPr/>
        </p:nvSpPr>
        <p:spPr>
          <a:xfrm>
            <a:off x="6908798" y="4026572"/>
            <a:ext cx="1076909" cy="843001"/>
          </a:xfrm>
          <a:prstGeom prst="line">
            <a:avLst/>
          </a:prstGeom>
          <a:ln w="3810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带权重有向图-邻接矩阵</a:t>
            </a:r>
          </a:p>
        </p:txBody>
      </p:sp>
      <p:grpSp>
        <p:nvGrpSpPr>
          <p:cNvPr id="1161" name="成组"/>
          <p:cNvGrpSpPr/>
          <p:nvPr/>
        </p:nvGrpSpPr>
        <p:grpSpPr>
          <a:xfrm>
            <a:off x="479007" y="1700693"/>
            <a:ext cx="4301071" cy="3149975"/>
            <a:chOff x="0" y="0"/>
            <a:chExt cx="4301069" cy="3149974"/>
          </a:xfrm>
        </p:grpSpPr>
        <p:grpSp>
          <p:nvGrpSpPr>
            <p:cNvPr id="1153" name="Group 1078"/>
            <p:cNvGrpSpPr/>
            <p:nvPr/>
          </p:nvGrpSpPr>
          <p:grpSpPr>
            <a:xfrm>
              <a:off x="0" y="-1"/>
              <a:ext cx="4301070" cy="2867381"/>
              <a:chOff x="0" y="0"/>
              <a:chExt cx="4301069" cy="2867379"/>
            </a:xfrm>
          </p:grpSpPr>
          <p:sp>
            <p:nvSpPr>
              <p:cNvPr id="1131" name="Shape 1056"/>
              <p:cNvSpPr/>
              <p:nvPr/>
            </p:nvSpPr>
            <p:spPr>
              <a:xfrm flipH="1">
                <a:off x="280504" y="277488"/>
                <a:ext cx="1587502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2" name="Shape 1057"/>
              <p:cNvSpPr/>
              <p:nvPr/>
            </p:nvSpPr>
            <p:spPr>
              <a:xfrm>
                <a:off x="467507" y="1664929"/>
                <a:ext cx="561010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3" name="Shape 1058"/>
              <p:cNvSpPr/>
              <p:nvPr/>
            </p:nvSpPr>
            <p:spPr>
              <a:xfrm>
                <a:off x="1589524" y="2497392"/>
                <a:ext cx="1122021" cy="2261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4" name="Shape 1059"/>
              <p:cNvSpPr/>
              <p:nvPr/>
            </p:nvSpPr>
            <p:spPr>
              <a:xfrm flipH="1" flipV="1">
                <a:off x="2337535" y="554976"/>
                <a:ext cx="654512" cy="1664931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5" name="Shape 1060"/>
              <p:cNvSpPr/>
              <p:nvPr/>
            </p:nvSpPr>
            <p:spPr>
              <a:xfrm>
                <a:off x="2431038" y="277488"/>
                <a:ext cx="1496026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6" name="Shape 1061"/>
              <p:cNvSpPr/>
              <p:nvPr/>
            </p:nvSpPr>
            <p:spPr>
              <a:xfrm flipH="1" flipV="1">
                <a:off x="561009" y="1387441"/>
                <a:ext cx="2150536" cy="924962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37" name="Shape 1062"/>
              <p:cNvSpPr/>
              <p:nvPr/>
            </p:nvSpPr>
            <p:spPr>
              <a:xfrm flipH="1">
                <a:off x="1309020" y="1387440"/>
                <a:ext cx="2431040" cy="832467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1140" name="Group 1065"/>
              <p:cNvGrpSpPr/>
              <p:nvPr/>
            </p:nvGrpSpPr>
            <p:grpSpPr>
              <a:xfrm>
                <a:off x="1870029" y="-1"/>
                <a:ext cx="561011" cy="647475"/>
                <a:chOff x="0" y="0"/>
                <a:chExt cx="561009" cy="647473"/>
              </a:xfrm>
            </p:grpSpPr>
            <p:sp>
              <p:nvSpPr>
                <p:cNvPr id="1138" name="Shape 1063"/>
                <p:cNvSpPr/>
                <p:nvPr/>
              </p:nvSpPr>
              <p:spPr>
                <a:xfrm>
                  <a:off x="0" y="0"/>
                  <a:ext cx="561011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39" name="Shape 1064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1143" name="Group 1068"/>
              <p:cNvGrpSpPr/>
              <p:nvPr/>
            </p:nvGrpSpPr>
            <p:grpSpPr>
              <a:xfrm>
                <a:off x="0" y="1109952"/>
                <a:ext cx="561011" cy="647475"/>
                <a:chOff x="0" y="0"/>
                <a:chExt cx="561009" cy="647473"/>
              </a:xfrm>
            </p:grpSpPr>
            <p:sp>
              <p:nvSpPr>
                <p:cNvPr id="1141" name="Shape 1066"/>
                <p:cNvSpPr/>
                <p:nvPr/>
              </p:nvSpPr>
              <p:spPr>
                <a:xfrm>
                  <a:off x="0" y="0"/>
                  <a:ext cx="561011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42" name="Shape 1067"/>
                <p:cNvSpPr txBox="1"/>
                <p:nvPr/>
              </p:nvSpPr>
              <p:spPr>
                <a:xfrm>
                  <a:off x="46701" y="18885"/>
                  <a:ext cx="467607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1146" name="Group 1071"/>
              <p:cNvGrpSpPr/>
              <p:nvPr/>
            </p:nvGrpSpPr>
            <p:grpSpPr>
              <a:xfrm>
                <a:off x="3740057" y="1109952"/>
                <a:ext cx="561013" cy="647475"/>
                <a:chOff x="0" y="0"/>
                <a:chExt cx="561011" cy="647473"/>
              </a:xfrm>
            </p:grpSpPr>
            <p:sp>
              <p:nvSpPr>
                <p:cNvPr id="1144" name="Shape 1069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45" name="Shape 1070"/>
                <p:cNvSpPr txBox="1"/>
                <p:nvPr/>
              </p:nvSpPr>
              <p:spPr>
                <a:xfrm>
                  <a:off x="46700" y="18885"/>
                  <a:ext cx="467607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  <p:grpSp>
            <p:nvGrpSpPr>
              <p:cNvPr id="1149" name="Group 1074"/>
              <p:cNvGrpSpPr/>
              <p:nvPr/>
            </p:nvGrpSpPr>
            <p:grpSpPr>
              <a:xfrm>
                <a:off x="1028516" y="2219905"/>
                <a:ext cx="561013" cy="647475"/>
                <a:chOff x="0" y="0"/>
                <a:chExt cx="561011" cy="647473"/>
              </a:xfrm>
            </p:grpSpPr>
            <p:sp>
              <p:nvSpPr>
                <p:cNvPr id="1147" name="Shape 1072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48" name="Shape 1073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1152" name="Group 1077"/>
              <p:cNvGrpSpPr/>
              <p:nvPr/>
            </p:nvGrpSpPr>
            <p:grpSpPr>
              <a:xfrm>
                <a:off x="2711541" y="2219905"/>
                <a:ext cx="561013" cy="647475"/>
                <a:chOff x="0" y="0"/>
                <a:chExt cx="561011" cy="647473"/>
              </a:xfrm>
            </p:grpSpPr>
            <p:sp>
              <p:nvSpPr>
                <p:cNvPr id="1150" name="Shape 1075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151" name="Shape 1076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</p:grpSp>
        <p:sp>
          <p:nvSpPr>
            <p:cNvPr id="1154" name="9"/>
            <p:cNvSpPr txBox="1"/>
            <p:nvPr/>
          </p:nvSpPr>
          <p:spPr>
            <a:xfrm>
              <a:off x="654925" y="245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9</a:t>
              </a:r>
            </a:p>
          </p:txBody>
        </p:sp>
        <p:sp>
          <p:nvSpPr>
            <p:cNvPr id="1155" name="8"/>
            <p:cNvSpPr txBox="1"/>
            <p:nvPr/>
          </p:nvSpPr>
          <p:spPr>
            <a:xfrm>
              <a:off x="3271125" y="245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8</a:t>
              </a:r>
            </a:p>
          </p:txBody>
        </p:sp>
        <p:sp>
          <p:nvSpPr>
            <p:cNvPr id="1156" name="7"/>
            <p:cNvSpPr txBox="1"/>
            <p:nvPr/>
          </p:nvSpPr>
          <p:spPr>
            <a:xfrm>
              <a:off x="350125" y="2099359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7</a:t>
              </a:r>
            </a:p>
          </p:txBody>
        </p:sp>
        <p:sp>
          <p:nvSpPr>
            <p:cNvPr id="1157" name="6"/>
            <p:cNvSpPr txBox="1"/>
            <p:nvPr/>
          </p:nvSpPr>
          <p:spPr>
            <a:xfrm>
              <a:off x="1969235" y="2632759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6</a:t>
              </a:r>
            </a:p>
          </p:txBody>
        </p:sp>
        <p:sp>
          <p:nvSpPr>
            <p:cNvPr id="1158" name="5"/>
            <p:cNvSpPr txBox="1"/>
            <p:nvPr/>
          </p:nvSpPr>
          <p:spPr>
            <a:xfrm>
              <a:off x="2234663" y="880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5</a:t>
              </a:r>
            </a:p>
          </p:txBody>
        </p:sp>
        <p:sp>
          <p:nvSpPr>
            <p:cNvPr id="1159" name="4"/>
            <p:cNvSpPr txBox="1"/>
            <p:nvPr/>
          </p:nvSpPr>
          <p:spPr>
            <a:xfrm>
              <a:off x="1282163" y="11750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4</a:t>
              </a:r>
            </a:p>
          </p:txBody>
        </p:sp>
        <p:sp>
          <p:nvSpPr>
            <p:cNvPr id="1160" name="3"/>
            <p:cNvSpPr txBox="1"/>
            <p:nvPr/>
          </p:nvSpPr>
          <p:spPr>
            <a:xfrm>
              <a:off x="3072863" y="14544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3</a:t>
              </a:r>
            </a:p>
          </p:txBody>
        </p:sp>
      </p:grpSp>
      <p:grpSp>
        <p:nvGrpSpPr>
          <p:cNvPr id="1165" name="成组"/>
          <p:cNvGrpSpPr/>
          <p:nvPr/>
        </p:nvGrpSpPr>
        <p:grpSpPr>
          <a:xfrm>
            <a:off x="7136416" y="1381451"/>
            <a:ext cx="3439932" cy="3940702"/>
            <a:chOff x="25400" y="25400"/>
            <a:chExt cx="3439931" cy="3940701"/>
          </a:xfrm>
        </p:grpSpPr>
        <p:graphicFrame>
          <p:nvGraphicFramePr>
            <p:cNvPr id="1162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163" name="Table 1053"/>
            <p:cNvGraphicFramePr/>
            <p:nvPr/>
          </p:nvGraphicFramePr>
          <p:xfrm>
            <a:off x="25400" y="5290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164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  <p:grpSp>
        <p:nvGrpSpPr>
          <p:cNvPr id="1181" name="成组"/>
          <p:cNvGrpSpPr/>
          <p:nvPr/>
        </p:nvGrpSpPr>
        <p:grpSpPr>
          <a:xfrm>
            <a:off x="5397922" y="1623339"/>
            <a:ext cx="1432439" cy="3677430"/>
            <a:chOff x="0" y="0"/>
            <a:chExt cx="1432437" cy="3677429"/>
          </a:xfrm>
        </p:grpSpPr>
        <p:sp>
          <p:nvSpPr>
            <p:cNvPr id="1166" name="Shape 753"/>
            <p:cNvSpPr/>
            <p:nvPr/>
          </p:nvSpPr>
          <p:spPr>
            <a:xfrm>
              <a:off x="438854" y="0"/>
              <a:ext cx="993584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7" name="Shape 754"/>
            <p:cNvSpPr/>
            <p:nvPr/>
          </p:nvSpPr>
          <p:spPr>
            <a:xfrm>
              <a:off x="438855" y="715715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8" name="Shape 755"/>
            <p:cNvSpPr/>
            <p:nvPr/>
          </p:nvSpPr>
          <p:spPr>
            <a:xfrm>
              <a:off x="438855" y="1433689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9" name="Shape 756"/>
            <p:cNvSpPr/>
            <p:nvPr/>
          </p:nvSpPr>
          <p:spPr>
            <a:xfrm>
              <a:off x="438855" y="2149406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0" name="Shape 757"/>
            <p:cNvSpPr/>
            <p:nvPr/>
          </p:nvSpPr>
          <p:spPr>
            <a:xfrm>
              <a:off x="438855" y="2867380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1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172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173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174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175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176" name="Shape 815"/>
            <p:cNvSpPr txBox="1"/>
            <p:nvPr/>
          </p:nvSpPr>
          <p:spPr>
            <a:xfrm>
              <a:off x="629354" y="64063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177" name="Shape 816"/>
            <p:cNvSpPr txBox="1"/>
            <p:nvPr/>
          </p:nvSpPr>
          <p:spPr>
            <a:xfrm>
              <a:off x="629354" y="804616"/>
              <a:ext cx="73660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78" name="Shape 817"/>
            <p:cNvSpPr txBox="1"/>
            <p:nvPr/>
          </p:nvSpPr>
          <p:spPr>
            <a:xfrm>
              <a:off x="629354" y="152258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79" name="Shape 818"/>
            <p:cNvSpPr txBox="1"/>
            <p:nvPr/>
          </p:nvSpPr>
          <p:spPr>
            <a:xfrm>
              <a:off x="629354" y="2238304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180" name="Shape 819"/>
            <p:cNvSpPr txBox="1"/>
            <p:nvPr/>
          </p:nvSpPr>
          <p:spPr>
            <a:xfrm>
              <a:off x="629354" y="295627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带权重有向图-邻接表</a:t>
            </a:r>
          </a:p>
        </p:txBody>
      </p:sp>
      <p:grpSp>
        <p:nvGrpSpPr>
          <p:cNvPr id="1199" name="成组"/>
          <p:cNvGrpSpPr/>
          <p:nvPr/>
        </p:nvGrpSpPr>
        <p:grpSpPr>
          <a:xfrm>
            <a:off x="6376695" y="1491002"/>
            <a:ext cx="1394338" cy="3677430"/>
            <a:chOff x="0" y="0"/>
            <a:chExt cx="1394337" cy="3677429"/>
          </a:xfrm>
        </p:grpSpPr>
        <p:sp>
          <p:nvSpPr>
            <p:cNvPr id="1184" name="Shape 753"/>
            <p:cNvSpPr/>
            <p:nvPr/>
          </p:nvSpPr>
          <p:spPr>
            <a:xfrm>
              <a:off x="400754" y="0"/>
              <a:ext cx="993584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5" name="Shape 754"/>
            <p:cNvSpPr/>
            <p:nvPr/>
          </p:nvSpPr>
          <p:spPr>
            <a:xfrm>
              <a:off x="400755" y="715715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6" name="Shape 755"/>
            <p:cNvSpPr/>
            <p:nvPr/>
          </p:nvSpPr>
          <p:spPr>
            <a:xfrm>
              <a:off x="400755" y="1433689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7" name="Shape 756"/>
            <p:cNvSpPr/>
            <p:nvPr/>
          </p:nvSpPr>
          <p:spPr>
            <a:xfrm>
              <a:off x="400755" y="2149406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8" name="Shape 757"/>
            <p:cNvSpPr/>
            <p:nvPr/>
          </p:nvSpPr>
          <p:spPr>
            <a:xfrm>
              <a:off x="400755" y="2867380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9" name="Shape 809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190" name="Shape 810"/>
            <p:cNvSpPr txBox="1"/>
            <p:nvPr/>
          </p:nvSpPr>
          <p:spPr>
            <a:xfrm>
              <a:off x="0" y="9155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191" name="Shape 811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192" name="Shape 812"/>
            <p:cNvSpPr txBox="1"/>
            <p:nvPr/>
          </p:nvSpPr>
          <p:spPr>
            <a:xfrm>
              <a:off x="0" y="23672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193" name="Shape 813"/>
            <p:cNvSpPr txBox="1"/>
            <p:nvPr/>
          </p:nvSpPr>
          <p:spPr>
            <a:xfrm>
              <a:off x="0" y="30852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194" name="Shape 815"/>
            <p:cNvSpPr txBox="1"/>
            <p:nvPr/>
          </p:nvSpPr>
          <p:spPr>
            <a:xfrm>
              <a:off x="603954" y="140263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195" name="Shape 816"/>
            <p:cNvSpPr txBox="1"/>
            <p:nvPr/>
          </p:nvSpPr>
          <p:spPr>
            <a:xfrm>
              <a:off x="603954" y="880816"/>
              <a:ext cx="73660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96" name="Shape 817"/>
            <p:cNvSpPr txBox="1"/>
            <p:nvPr/>
          </p:nvSpPr>
          <p:spPr>
            <a:xfrm>
              <a:off x="603954" y="159878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97" name="Shape 818"/>
            <p:cNvSpPr txBox="1"/>
            <p:nvPr/>
          </p:nvSpPr>
          <p:spPr>
            <a:xfrm>
              <a:off x="603954" y="2212904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198" name="Shape 819"/>
            <p:cNvSpPr txBox="1"/>
            <p:nvPr/>
          </p:nvSpPr>
          <p:spPr>
            <a:xfrm>
              <a:off x="603954" y="303247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230" name="成组"/>
          <p:cNvGrpSpPr/>
          <p:nvPr/>
        </p:nvGrpSpPr>
        <p:grpSpPr>
          <a:xfrm>
            <a:off x="904111" y="1710547"/>
            <a:ext cx="4301071" cy="3149975"/>
            <a:chOff x="0" y="0"/>
            <a:chExt cx="4301069" cy="3149974"/>
          </a:xfrm>
        </p:grpSpPr>
        <p:grpSp>
          <p:nvGrpSpPr>
            <p:cNvPr id="1222" name="Group 1078"/>
            <p:cNvGrpSpPr/>
            <p:nvPr/>
          </p:nvGrpSpPr>
          <p:grpSpPr>
            <a:xfrm>
              <a:off x="0" y="-1"/>
              <a:ext cx="4301070" cy="2867381"/>
              <a:chOff x="0" y="0"/>
              <a:chExt cx="4301069" cy="2867379"/>
            </a:xfrm>
          </p:grpSpPr>
          <p:sp>
            <p:nvSpPr>
              <p:cNvPr id="1200" name="Shape 1056"/>
              <p:cNvSpPr/>
              <p:nvPr/>
            </p:nvSpPr>
            <p:spPr>
              <a:xfrm flipH="1">
                <a:off x="280504" y="277488"/>
                <a:ext cx="1587502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1" name="Shape 1057"/>
              <p:cNvSpPr/>
              <p:nvPr/>
            </p:nvSpPr>
            <p:spPr>
              <a:xfrm>
                <a:off x="467507" y="1664929"/>
                <a:ext cx="561010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2" name="Shape 1058"/>
              <p:cNvSpPr/>
              <p:nvPr/>
            </p:nvSpPr>
            <p:spPr>
              <a:xfrm>
                <a:off x="1589524" y="2497392"/>
                <a:ext cx="1122021" cy="2261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3" name="Shape 1059"/>
              <p:cNvSpPr/>
              <p:nvPr/>
            </p:nvSpPr>
            <p:spPr>
              <a:xfrm flipH="1" flipV="1">
                <a:off x="2337535" y="554976"/>
                <a:ext cx="654512" cy="1664931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4" name="Shape 1060"/>
              <p:cNvSpPr/>
              <p:nvPr/>
            </p:nvSpPr>
            <p:spPr>
              <a:xfrm>
                <a:off x="2431038" y="277488"/>
                <a:ext cx="1496026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5" name="Shape 1061"/>
              <p:cNvSpPr/>
              <p:nvPr/>
            </p:nvSpPr>
            <p:spPr>
              <a:xfrm flipH="1" flipV="1">
                <a:off x="561009" y="1387441"/>
                <a:ext cx="2150536" cy="924962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06" name="Shape 1062"/>
              <p:cNvSpPr/>
              <p:nvPr/>
            </p:nvSpPr>
            <p:spPr>
              <a:xfrm flipH="1">
                <a:off x="1309020" y="1387440"/>
                <a:ext cx="2431040" cy="832467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1209" name="Group 1065"/>
              <p:cNvGrpSpPr/>
              <p:nvPr/>
            </p:nvGrpSpPr>
            <p:grpSpPr>
              <a:xfrm>
                <a:off x="1870029" y="-1"/>
                <a:ext cx="561011" cy="647475"/>
                <a:chOff x="0" y="0"/>
                <a:chExt cx="561009" cy="647473"/>
              </a:xfrm>
            </p:grpSpPr>
            <p:sp>
              <p:nvSpPr>
                <p:cNvPr id="1207" name="Shape 1063"/>
                <p:cNvSpPr/>
                <p:nvPr/>
              </p:nvSpPr>
              <p:spPr>
                <a:xfrm>
                  <a:off x="0" y="0"/>
                  <a:ext cx="561011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08" name="Shape 1064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1212" name="Group 1068"/>
              <p:cNvGrpSpPr/>
              <p:nvPr/>
            </p:nvGrpSpPr>
            <p:grpSpPr>
              <a:xfrm>
                <a:off x="0" y="1109952"/>
                <a:ext cx="561011" cy="647475"/>
                <a:chOff x="0" y="0"/>
                <a:chExt cx="561009" cy="647473"/>
              </a:xfrm>
            </p:grpSpPr>
            <p:sp>
              <p:nvSpPr>
                <p:cNvPr id="1210" name="Shape 1066"/>
                <p:cNvSpPr/>
                <p:nvPr/>
              </p:nvSpPr>
              <p:spPr>
                <a:xfrm>
                  <a:off x="0" y="0"/>
                  <a:ext cx="561011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11" name="Shape 1067"/>
                <p:cNvSpPr txBox="1"/>
                <p:nvPr/>
              </p:nvSpPr>
              <p:spPr>
                <a:xfrm>
                  <a:off x="46701" y="18885"/>
                  <a:ext cx="467607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1215" name="Group 1071"/>
              <p:cNvGrpSpPr/>
              <p:nvPr/>
            </p:nvGrpSpPr>
            <p:grpSpPr>
              <a:xfrm>
                <a:off x="3740057" y="1109952"/>
                <a:ext cx="561013" cy="647475"/>
                <a:chOff x="0" y="0"/>
                <a:chExt cx="561011" cy="647473"/>
              </a:xfrm>
            </p:grpSpPr>
            <p:sp>
              <p:nvSpPr>
                <p:cNvPr id="1213" name="Shape 1069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14" name="Shape 1070"/>
                <p:cNvSpPr txBox="1"/>
                <p:nvPr/>
              </p:nvSpPr>
              <p:spPr>
                <a:xfrm>
                  <a:off x="46700" y="18885"/>
                  <a:ext cx="467607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  <p:grpSp>
            <p:nvGrpSpPr>
              <p:cNvPr id="1218" name="Group 1074"/>
              <p:cNvGrpSpPr/>
              <p:nvPr/>
            </p:nvGrpSpPr>
            <p:grpSpPr>
              <a:xfrm>
                <a:off x="1028516" y="2219905"/>
                <a:ext cx="561013" cy="647475"/>
                <a:chOff x="0" y="0"/>
                <a:chExt cx="561011" cy="647473"/>
              </a:xfrm>
            </p:grpSpPr>
            <p:sp>
              <p:nvSpPr>
                <p:cNvPr id="1216" name="Shape 1072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17" name="Shape 1073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1221" name="Group 1077"/>
              <p:cNvGrpSpPr/>
              <p:nvPr/>
            </p:nvGrpSpPr>
            <p:grpSpPr>
              <a:xfrm>
                <a:off x="2711541" y="2219905"/>
                <a:ext cx="561013" cy="647475"/>
                <a:chOff x="0" y="0"/>
                <a:chExt cx="561011" cy="647473"/>
              </a:xfrm>
            </p:grpSpPr>
            <p:sp>
              <p:nvSpPr>
                <p:cNvPr id="1219" name="Shape 1075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220" name="Shape 1076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</p:grpSp>
        <p:sp>
          <p:nvSpPr>
            <p:cNvPr id="1223" name="9"/>
            <p:cNvSpPr txBox="1"/>
            <p:nvPr/>
          </p:nvSpPr>
          <p:spPr>
            <a:xfrm>
              <a:off x="654925" y="245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9</a:t>
              </a:r>
            </a:p>
          </p:txBody>
        </p:sp>
        <p:sp>
          <p:nvSpPr>
            <p:cNvPr id="1224" name="8"/>
            <p:cNvSpPr txBox="1"/>
            <p:nvPr/>
          </p:nvSpPr>
          <p:spPr>
            <a:xfrm>
              <a:off x="3271125" y="245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8</a:t>
              </a:r>
            </a:p>
          </p:txBody>
        </p:sp>
        <p:sp>
          <p:nvSpPr>
            <p:cNvPr id="1225" name="7"/>
            <p:cNvSpPr txBox="1"/>
            <p:nvPr/>
          </p:nvSpPr>
          <p:spPr>
            <a:xfrm>
              <a:off x="350125" y="2099359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7</a:t>
              </a:r>
            </a:p>
          </p:txBody>
        </p:sp>
        <p:sp>
          <p:nvSpPr>
            <p:cNvPr id="1226" name="6"/>
            <p:cNvSpPr txBox="1"/>
            <p:nvPr/>
          </p:nvSpPr>
          <p:spPr>
            <a:xfrm>
              <a:off x="1969235" y="2632759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6</a:t>
              </a:r>
            </a:p>
          </p:txBody>
        </p:sp>
        <p:sp>
          <p:nvSpPr>
            <p:cNvPr id="1227" name="5"/>
            <p:cNvSpPr txBox="1"/>
            <p:nvPr/>
          </p:nvSpPr>
          <p:spPr>
            <a:xfrm>
              <a:off x="2234663" y="880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5</a:t>
              </a:r>
            </a:p>
          </p:txBody>
        </p:sp>
        <p:sp>
          <p:nvSpPr>
            <p:cNvPr id="1228" name="4"/>
            <p:cNvSpPr txBox="1"/>
            <p:nvPr/>
          </p:nvSpPr>
          <p:spPr>
            <a:xfrm>
              <a:off x="1282163" y="11750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4</a:t>
              </a:r>
            </a:p>
          </p:txBody>
        </p:sp>
        <p:sp>
          <p:nvSpPr>
            <p:cNvPr id="1229" name="3"/>
            <p:cNvSpPr txBox="1"/>
            <p:nvPr/>
          </p:nvSpPr>
          <p:spPr>
            <a:xfrm>
              <a:off x="3072863" y="14544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3</a:t>
              </a:r>
            </a:p>
          </p:txBody>
        </p:sp>
      </p:grpSp>
      <p:grpSp>
        <p:nvGrpSpPr>
          <p:cNvPr id="1279" name="成组"/>
          <p:cNvGrpSpPr/>
          <p:nvPr/>
        </p:nvGrpSpPr>
        <p:grpSpPr>
          <a:xfrm>
            <a:off x="8300133" y="1477600"/>
            <a:ext cx="4101962" cy="3677430"/>
            <a:chOff x="0" y="0"/>
            <a:chExt cx="4101961" cy="3677429"/>
          </a:xfrm>
        </p:grpSpPr>
        <p:sp>
          <p:nvSpPr>
            <p:cNvPr id="1231" name="Shape 763"/>
            <p:cNvSpPr/>
            <p:nvPr/>
          </p:nvSpPr>
          <p:spPr>
            <a:xfrm>
              <a:off x="2401802" y="334506"/>
              <a:ext cx="870181" cy="2504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2" name="Shape 765"/>
            <p:cNvSpPr/>
            <p:nvPr/>
          </p:nvSpPr>
          <p:spPr>
            <a:xfrm>
              <a:off x="2271748" y="49175"/>
              <a:ext cx="2367" cy="58317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3" name="Shape 766"/>
            <p:cNvSpPr/>
            <p:nvPr/>
          </p:nvSpPr>
          <p:spPr>
            <a:xfrm>
              <a:off x="770218" y="334506"/>
              <a:ext cx="872545" cy="2504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4" name="Shape 775"/>
            <p:cNvSpPr/>
            <p:nvPr/>
          </p:nvSpPr>
          <p:spPr>
            <a:xfrm>
              <a:off x="770215" y="1097312"/>
              <a:ext cx="873213" cy="2327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5" name="Shape 787"/>
            <p:cNvSpPr/>
            <p:nvPr/>
          </p:nvSpPr>
          <p:spPr>
            <a:xfrm>
              <a:off x="2401800" y="2602497"/>
              <a:ext cx="870181" cy="2416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6" name="Shape 789"/>
            <p:cNvSpPr/>
            <p:nvPr/>
          </p:nvSpPr>
          <p:spPr>
            <a:xfrm>
              <a:off x="2320778" y="2327317"/>
              <a:ext cx="2367" cy="562430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7" name="Shape 790"/>
            <p:cNvSpPr/>
            <p:nvPr/>
          </p:nvSpPr>
          <p:spPr>
            <a:xfrm>
              <a:off x="770217" y="2602497"/>
              <a:ext cx="872545" cy="2416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8" name="Shape 799"/>
            <p:cNvSpPr/>
            <p:nvPr/>
          </p:nvSpPr>
          <p:spPr>
            <a:xfrm>
              <a:off x="770215" y="3309389"/>
              <a:ext cx="872545" cy="2317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9" name="Shape 753"/>
            <p:cNvSpPr/>
            <p:nvPr/>
          </p:nvSpPr>
          <p:spPr>
            <a:xfrm>
              <a:off x="432322" y="0"/>
              <a:ext cx="700726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0" name="Shape 754"/>
            <p:cNvSpPr/>
            <p:nvPr/>
          </p:nvSpPr>
          <p:spPr>
            <a:xfrm>
              <a:off x="432322" y="736974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1" name="Shape 755"/>
            <p:cNvSpPr/>
            <p:nvPr/>
          </p:nvSpPr>
          <p:spPr>
            <a:xfrm>
              <a:off x="432322" y="1476265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2" name="Shape 756"/>
            <p:cNvSpPr/>
            <p:nvPr/>
          </p:nvSpPr>
          <p:spPr>
            <a:xfrm>
              <a:off x="432322" y="2213232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3" name="Shape 757"/>
            <p:cNvSpPr/>
            <p:nvPr/>
          </p:nvSpPr>
          <p:spPr>
            <a:xfrm>
              <a:off x="432322" y="2952523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4" name="Shape 809"/>
            <p:cNvSpPr txBox="1"/>
            <p:nvPr/>
          </p:nvSpPr>
          <p:spPr>
            <a:xfrm>
              <a:off x="0" y="21826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245" name="Shape 810"/>
            <p:cNvSpPr txBox="1"/>
            <p:nvPr/>
          </p:nvSpPr>
          <p:spPr>
            <a:xfrm>
              <a:off x="0" y="773087"/>
              <a:ext cx="761726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246" name="Shape 811"/>
            <p:cNvSpPr txBox="1"/>
            <p:nvPr/>
          </p:nvSpPr>
          <p:spPr>
            <a:xfrm>
              <a:off x="0" y="1539027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247" name="Shape 812"/>
            <p:cNvSpPr txBox="1"/>
            <p:nvPr/>
          </p:nvSpPr>
          <p:spPr>
            <a:xfrm>
              <a:off x="0" y="2280643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248" name="Shape 813"/>
            <p:cNvSpPr txBox="1"/>
            <p:nvPr/>
          </p:nvSpPr>
          <p:spPr>
            <a:xfrm>
              <a:off x="0" y="2994533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5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249" name="Shape 764"/>
            <p:cNvSpPr/>
            <p:nvPr/>
          </p:nvSpPr>
          <p:spPr>
            <a:xfrm>
              <a:off x="1642343" y="44170"/>
              <a:ext cx="870180" cy="583176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0" name="Shape 821"/>
            <p:cNvSpPr txBox="1"/>
            <p:nvPr/>
          </p:nvSpPr>
          <p:spPr>
            <a:xfrm>
              <a:off x="1642343" y="131524"/>
              <a:ext cx="761726" cy="444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1, 9</a:t>
              </a:r>
            </a:p>
          </p:txBody>
        </p:sp>
        <p:sp>
          <p:nvSpPr>
            <p:cNvPr id="1251" name="Shape 761"/>
            <p:cNvSpPr/>
            <p:nvPr/>
          </p:nvSpPr>
          <p:spPr>
            <a:xfrm>
              <a:off x="3229417" y="44170"/>
              <a:ext cx="872545" cy="583176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2" name="Shape 762"/>
            <p:cNvSpPr/>
            <p:nvPr/>
          </p:nvSpPr>
          <p:spPr>
            <a:xfrm>
              <a:off x="3860771" y="49175"/>
              <a:ext cx="2366" cy="58317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3" name="Shape 767"/>
            <p:cNvSpPr/>
            <p:nvPr/>
          </p:nvSpPr>
          <p:spPr>
            <a:xfrm flipH="1">
              <a:off x="3860771" y="244401"/>
              <a:ext cx="108774" cy="290338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4" name="Shape 768"/>
            <p:cNvSpPr/>
            <p:nvPr/>
          </p:nvSpPr>
          <p:spPr>
            <a:xfrm>
              <a:off x="3969542" y="244401"/>
              <a:ext cx="108774" cy="290338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5" name="Shape 822"/>
            <p:cNvSpPr txBox="1"/>
            <p:nvPr/>
          </p:nvSpPr>
          <p:spPr>
            <a:xfrm>
              <a:off x="3221123" y="130770"/>
              <a:ext cx="761727" cy="444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4, 8</a:t>
              </a:r>
            </a:p>
          </p:txBody>
        </p:sp>
        <p:sp>
          <p:nvSpPr>
            <p:cNvPr id="1256" name="Shape 781"/>
            <p:cNvSpPr/>
            <p:nvPr/>
          </p:nvSpPr>
          <p:spPr>
            <a:xfrm>
              <a:off x="770218" y="1853789"/>
              <a:ext cx="872545" cy="2494"/>
            </a:xfrm>
            <a:prstGeom prst="line">
              <a:avLst/>
            </a:prstGeom>
            <a:noFill/>
            <a:ln w="25400" cap="sq">
              <a:solidFill>
                <a:srgbClr val="000099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7" name="Shape 776"/>
            <p:cNvSpPr/>
            <p:nvPr/>
          </p:nvSpPr>
          <p:spPr>
            <a:xfrm>
              <a:off x="1642343" y="1558487"/>
              <a:ext cx="872544" cy="580870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8" name="Shape 777"/>
            <p:cNvSpPr/>
            <p:nvPr/>
          </p:nvSpPr>
          <p:spPr>
            <a:xfrm>
              <a:off x="2277159" y="1563471"/>
              <a:ext cx="2367" cy="58087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9" name="Shape 782"/>
            <p:cNvSpPr/>
            <p:nvPr/>
          </p:nvSpPr>
          <p:spPr>
            <a:xfrm flipH="1">
              <a:off x="2289860" y="1745225"/>
              <a:ext cx="108775" cy="289191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0" name="Shape 783"/>
            <p:cNvSpPr/>
            <p:nvPr/>
          </p:nvSpPr>
          <p:spPr>
            <a:xfrm>
              <a:off x="2398632" y="1732525"/>
              <a:ext cx="108774" cy="289191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1" name="Shape 826"/>
            <p:cNvSpPr txBox="1"/>
            <p:nvPr/>
          </p:nvSpPr>
          <p:spPr>
            <a:xfrm>
              <a:off x="1642343" y="1621837"/>
              <a:ext cx="761726" cy="444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3, 6</a:t>
              </a:r>
            </a:p>
          </p:txBody>
        </p:sp>
        <p:sp>
          <p:nvSpPr>
            <p:cNvPr id="1262" name="Shape 788"/>
            <p:cNvSpPr/>
            <p:nvPr/>
          </p:nvSpPr>
          <p:spPr>
            <a:xfrm>
              <a:off x="1642343" y="2328301"/>
              <a:ext cx="870180" cy="562431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3" name="Shape 827"/>
            <p:cNvSpPr txBox="1"/>
            <p:nvPr/>
          </p:nvSpPr>
          <p:spPr>
            <a:xfrm>
              <a:off x="1642343" y="2411995"/>
              <a:ext cx="761726" cy="444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0, 5</a:t>
              </a:r>
            </a:p>
          </p:txBody>
        </p:sp>
        <p:sp>
          <p:nvSpPr>
            <p:cNvPr id="1264" name="Shape 785"/>
            <p:cNvSpPr/>
            <p:nvPr/>
          </p:nvSpPr>
          <p:spPr>
            <a:xfrm>
              <a:off x="3229417" y="2328301"/>
              <a:ext cx="872545" cy="562431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5" name="Shape 786"/>
            <p:cNvSpPr/>
            <p:nvPr/>
          </p:nvSpPr>
          <p:spPr>
            <a:xfrm>
              <a:off x="3884401" y="2327317"/>
              <a:ext cx="2366" cy="562430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6" name="Shape 791"/>
            <p:cNvSpPr/>
            <p:nvPr/>
          </p:nvSpPr>
          <p:spPr>
            <a:xfrm flipH="1">
              <a:off x="3884401" y="2515598"/>
              <a:ext cx="108774" cy="280008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7" name="Shape 792"/>
            <p:cNvSpPr/>
            <p:nvPr/>
          </p:nvSpPr>
          <p:spPr>
            <a:xfrm>
              <a:off x="3993172" y="2515598"/>
              <a:ext cx="108774" cy="280008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8" name="Shape 828"/>
            <p:cNvSpPr txBox="1"/>
            <p:nvPr/>
          </p:nvSpPr>
          <p:spPr>
            <a:xfrm>
              <a:off x="3221123" y="2406763"/>
              <a:ext cx="761727" cy="444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1, 4</a:t>
              </a:r>
            </a:p>
          </p:txBody>
        </p:sp>
        <p:sp>
          <p:nvSpPr>
            <p:cNvPr id="1269" name="Shape 794"/>
            <p:cNvSpPr/>
            <p:nvPr/>
          </p:nvSpPr>
          <p:spPr>
            <a:xfrm>
              <a:off x="1642343" y="3046636"/>
              <a:ext cx="872544" cy="53616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0" name="Shape 795"/>
            <p:cNvSpPr/>
            <p:nvPr/>
          </p:nvSpPr>
          <p:spPr>
            <a:xfrm>
              <a:off x="2273696" y="3051265"/>
              <a:ext cx="2366" cy="536163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1" name="Shape 800"/>
            <p:cNvSpPr/>
            <p:nvPr/>
          </p:nvSpPr>
          <p:spPr>
            <a:xfrm flipH="1">
              <a:off x="2273696" y="3231828"/>
              <a:ext cx="108774" cy="268533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2" name="Shape 801"/>
            <p:cNvSpPr/>
            <p:nvPr/>
          </p:nvSpPr>
          <p:spPr>
            <a:xfrm>
              <a:off x="2382467" y="3231828"/>
              <a:ext cx="108775" cy="268533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3" name="Shape 830"/>
            <p:cNvSpPr txBox="1"/>
            <p:nvPr/>
          </p:nvSpPr>
          <p:spPr>
            <a:xfrm>
              <a:off x="1642343" y="3105627"/>
              <a:ext cx="761726" cy="444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2, 3</a:t>
              </a:r>
            </a:p>
          </p:txBody>
        </p:sp>
        <p:sp>
          <p:nvSpPr>
            <p:cNvPr id="1274" name="Shape 833"/>
            <p:cNvSpPr/>
            <p:nvPr/>
          </p:nvSpPr>
          <p:spPr>
            <a:xfrm>
              <a:off x="1642343" y="814332"/>
              <a:ext cx="873212" cy="536163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5" name="Shape 834"/>
            <p:cNvSpPr/>
            <p:nvPr/>
          </p:nvSpPr>
          <p:spPr>
            <a:xfrm>
              <a:off x="2273027" y="818981"/>
              <a:ext cx="2337" cy="53616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6" name="Shape 836"/>
            <p:cNvSpPr/>
            <p:nvPr/>
          </p:nvSpPr>
          <p:spPr>
            <a:xfrm flipH="1">
              <a:off x="2273027" y="1000317"/>
              <a:ext cx="107403" cy="26735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7" name="Shape 837"/>
            <p:cNvSpPr/>
            <p:nvPr/>
          </p:nvSpPr>
          <p:spPr>
            <a:xfrm>
              <a:off x="2382470" y="1000317"/>
              <a:ext cx="109738" cy="26735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8" name="Shape 838"/>
            <p:cNvSpPr txBox="1"/>
            <p:nvPr/>
          </p:nvSpPr>
          <p:spPr>
            <a:xfrm>
              <a:off x="1642343" y="854435"/>
              <a:ext cx="761726" cy="444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2, 7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Shape 1297"/>
          <p:cNvSpPr txBox="1"/>
          <p:nvPr/>
        </p:nvSpPr>
        <p:spPr>
          <a:xfrm>
            <a:off x="2248464" y="105833"/>
            <a:ext cx="8051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1282" name="邻接矩阵比较适合稠密图，空间复杂度O(|V|2)…"/>
          <p:cNvSpPr txBox="1"/>
          <p:nvPr/>
        </p:nvSpPr>
        <p:spPr>
          <a:xfrm>
            <a:off x="391404" y="1786856"/>
            <a:ext cx="12176837" cy="3883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50921" indent="-350921">
              <a:buSzPct val="60000"/>
              <a:buBlip>
                <a:blip r:embed="rId3"/>
              </a:buBlip>
            </a:pPr>
            <a:r>
              <a:t>邻接矩阵比较适合稠密图，空间复杂度O(|V|</a:t>
            </a:r>
            <a:r>
              <a:rPr baseline="31999"/>
              <a:t>2</a:t>
            </a:r>
            <a:r>
              <a:t>)</a:t>
            </a:r>
          </a:p>
          <a:p>
            <a:pPr marL="350921" indent="-350921">
              <a:buSzPct val="60000"/>
              <a:buBlip>
                <a:blip r:embed="rId3"/>
              </a:buBlip>
            </a:pPr>
            <a:r>
              <a:t>邻接表比较适合稀疏图，空间复杂度O(|V| + |E|)</a:t>
            </a:r>
          </a:p>
          <a:p>
            <a:pPr marL="350921" indent="-350921">
              <a:buSzPct val="60000"/>
              <a:buBlip>
                <a:blip r:embed="rId3"/>
              </a:buBlip>
            </a:pPr>
            <a:r>
              <a:t>无论是邻接矩阵还是邻接表，边都使用了</a:t>
            </a:r>
            <a:r>
              <a:rPr>
                <a:solidFill>
                  <a:schemeClr val="accent1"/>
                </a:solidFill>
              </a:rPr>
              <a:t>顶点的下标(引用)</a:t>
            </a:r>
            <a:r>
              <a:t>：</a:t>
            </a:r>
          </a:p>
          <a:p>
            <a:pPr lvl="2" marL="1483894" indent="-467894">
              <a:buSzPct val="100000"/>
              <a:buAutoNum type="arabicPeriod" startAt="1"/>
            </a:pPr>
            <a:r>
              <a:t>简单、易行</a:t>
            </a:r>
          </a:p>
          <a:p>
            <a:pPr lvl="2" marL="1483894" indent="-467894">
              <a:buSzPct val="100000"/>
              <a:buAutoNum type="arabicPeriod" startAt="1"/>
            </a:pPr>
            <a:r>
              <a:t>改变了顶点的编号必须改变邻接矩阵和邻接表</a:t>
            </a:r>
          </a:p>
          <a:p>
            <a:pPr marL="350921" indent="-350921">
              <a:buSzPct val="60000"/>
              <a:buBlip>
                <a:blip r:embed="rId3"/>
              </a:buBlip>
            </a:pPr>
            <a:r>
              <a:t>也可以考虑其它的数据结构：例如Map等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Shape 423"/>
          <p:cNvSpPr txBox="1"/>
          <p:nvPr/>
        </p:nvSpPr>
        <p:spPr>
          <a:xfrm>
            <a:off x="2019864" y="93133"/>
            <a:ext cx="85725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图的类型</a:t>
            </a:r>
          </a:p>
        </p:txBody>
      </p:sp>
      <p:sp>
        <p:nvSpPr>
          <p:cNvPr id="1285" name="public enum GraphKind {…"/>
          <p:cNvSpPr txBox="1"/>
          <p:nvPr/>
        </p:nvSpPr>
        <p:spPr>
          <a:xfrm>
            <a:off x="3391036" y="1384786"/>
            <a:ext cx="6058794" cy="3682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enum</a:t>
            </a:r>
            <a:r>
              <a:t> GraphKind {</a:t>
            </a:r>
          </a:p>
          <a:p>
            <a:pPr indent="0">
              <a:defRPr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UnDirectedGraph</a:t>
            </a:r>
            <a:r>
              <a:rPr>
                <a:solidFill>
                  <a:srgbClr val="000000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indent="0">
              <a:defRPr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DirectedGraph</a:t>
            </a:r>
            <a:r>
              <a:rPr>
                <a:solidFill>
                  <a:srgbClr val="000000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indent="0">
              <a:defRPr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WeightedUnDirectedGraph</a:t>
            </a:r>
            <a:r>
              <a:rPr>
                <a:solidFill>
                  <a:srgbClr val="000000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indent="0">
              <a:defRPr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WeightedDirectedGraph</a:t>
            </a:r>
            <a:endParaRPr>
              <a:solidFill>
                <a:srgbClr val="000000"/>
              </a:solidFill>
            </a:endParaRPr>
          </a:p>
          <a:p>
            <a:pPr indent="0">
              <a:defRPr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Shape 423"/>
          <p:cNvSpPr txBox="1"/>
          <p:nvPr/>
        </p:nvSpPr>
        <p:spPr>
          <a:xfrm>
            <a:off x="2019864" y="93133"/>
            <a:ext cx="85725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b="1"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图的接口</a:t>
            </a:r>
          </a:p>
        </p:txBody>
      </p:sp>
      <p:sp>
        <p:nvSpPr>
          <p:cNvPr id="1288" name="public interface IGraph&lt;T&gt; {…"/>
          <p:cNvSpPr txBox="1"/>
          <p:nvPr/>
        </p:nvSpPr>
        <p:spPr>
          <a:xfrm>
            <a:off x="96930" y="1453797"/>
            <a:ext cx="12643273" cy="6120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interface</a:t>
            </a:r>
            <a:r>
              <a:t> IGraph&lt;T&gt;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GraphKind getGraphKind();</a:t>
            </a:r>
            <a:r>
              <a:rPr>
                <a:solidFill>
                  <a:srgbClr val="4E9072"/>
                </a:solidFill>
              </a:rPr>
              <a:t>// 图的类型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numberOfVertices();</a:t>
            </a:r>
            <a:r>
              <a:rPr>
                <a:solidFill>
                  <a:srgbClr val="4E9072"/>
                </a:solidFill>
              </a:rPr>
              <a:t>// 顶点的个数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numberOfEdges();</a:t>
            </a:r>
            <a:r>
              <a:rPr>
                <a:solidFill>
                  <a:srgbClr val="4E9072"/>
                </a:solidFill>
              </a:rPr>
              <a:t>// 边数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index(T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值等于x的顶点编号，-1，表示没找到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value(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 编号为v的顶点的值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inDegree(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); </a:t>
            </a:r>
            <a:r>
              <a:t>// 有向图的编号为v的顶点的入度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outDegree(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有向图的编号为v的顶点的出度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无向图的编号为v的顶点的度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 addEdge(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加入边&lt;u, v&gt;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removeEdge(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 删除边&lt;u, v&gt;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addWeightedEdge(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w</a:t>
            </a:r>
            <a:r>
              <a:t>); </a:t>
            </a:r>
            <a:r>
              <a:rPr>
                <a:solidFill>
                  <a:srgbClr val="4E9072"/>
                </a:solidFill>
              </a:rPr>
              <a:t>// 设置边&lt;u, v&gt;的权重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 getWeight(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获取边&lt;u, v&gt;的权重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Iterator&lt;Integer&gt; iterator(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); </a:t>
            </a:r>
            <a:r>
              <a:t>// 用于迭代访问顶点v的邻接点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grpSp>
        <p:nvGrpSpPr>
          <p:cNvPr id="1306" name="成组"/>
          <p:cNvGrpSpPr/>
          <p:nvPr/>
        </p:nvGrpSpPr>
        <p:grpSpPr>
          <a:xfrm>
            <a:off x="7947185" y="5835037"/>
            <a:ext cx="1432438" cy="3677430"/>
            <a:chOff x="0" y="0"/>
            <a:chExt cx="1432437" cy="3677429"/>
          </a:xfrm>
        </p:grpSpPr>
        <p:sp>
          <p:nvSpPr>
            <p:cNvPr id="1291" name="Shape 753"/>
            <p:cNvSpPr/>
            <p:nvPr/>
          </p:nvSpPr>
          <p:spPr>
            <a:xfrm>
              <a:off x="438854" y="0"/>
              <a:ext cx="993584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2" name="Shape 754"/>
            <p:cNvSpPr/>
            <p:nvPr/>
          </p:nvSpPr>
          <p:spPr>
            <a:xfrm>
              <a:off x="438855" y="715715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3" name="Shape 755"/>
            <p:cNvSpPr/>
            <p:nvPr/>
          </p:nvSpPr>
          <p:spPr>
            <a:xfrm>
              <a:off x="438855" y="1433689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4" name="Shape 756"/>
            <p:cNvSpPr/>
            <p:nvPr/>
          </p:nvSpPr>
          <p:spPr>
            <a:xfrm>
              <a:off x="438855" y="2149406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5" name="Shape 757"/>
            <p:cNvSpPr/>
            <p:nvPr/>
          </p:nvSpPr>
          <p:spPr>
            <a:xfrm>
              <a:off x="438855" y="2867380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6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297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298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299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300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301" name="Shape 815"/>
            <p:cNvSpPr txBox="1"/>
            <p:nvPr/>
          </p:nvSpPr>
          <p:spPr>
            <a:xfrm>
              <a:off x="629354" y="64063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302" name="Shape 816"/>
            <p:cNvSpPr txBox="1"/>
            <p:nvPr/>
          </p:nvSpPr>
          <p:spPr>
            <a:xfrm>
              <a:off x="629354" y="804616"/>
              <a:ext cx="73660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303" name="Shape 817"/>
            <p:cNvSpPr txBox="1"/>
            <p:nvPr/>
          </p:nvSpPr>
          <p:spPr>
            <a:xfrm>
              <a:off x="629354" y="152258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304" name="Shape 818"/>
            <p:cNvSpPr txBox="1"/>
            <p:nvPr/>
          </p:nvSpPr>
          <p:spPr>
            <a:xfrm>
              <a:off x="629354" y="2238304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305" name="Shape 819"/>
            <p:cNvSpPr txBox="1"/>
            <p:nvPr/>
          </p:nvSpPr>
          <p:spPr>
            <a:xfrm>
              <a:off x="629354" y="295627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310" name="成组"/>
          <p:cNvGrpSpPr/>
          <p:nvPr/>
        </p:nvGrpSpPr>
        <p:grpSpPr>
          <a:xfrm>
            <a:off x="9472229" y="5360568"/>
            <a:ext cx="3439933" cy="3940703"/>
            <a:chOff x="25400" y="25400"/>
            <a:chExt cx="3439931" cy="3940701"/>
          </a:xfrm>
        </p:grpSpPr>
        <p:graphicFrame>
          <p:nvGraphicFramePr>
            <p:cNvPr id="1307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08" name="Table 1053"/>
            <p:cNvGraphicFramePr/>
            <p:nvPr/>
          </p:nvGraphicFramePr>
          <p:xfrm>
            <a:off x="25400" y="5290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09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  <p:sp>
        <p:nvSpPr>
          <p:cNvPr id="1311" name="public class AjacencyMatrixDirectedGraph&lt;T&gt; implements IGraph&lt;T&gt; {…"/>
          <p:cNvSpPr txBox="1"/>
          <p:nvPr/>
        </p:nvSpPr>
        <p:spPr>
          <a:xfrm>
            <a:off x="257139" y="1343824"/>
            <a:ext cx="11637542" cy="465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AjacencyMatrixDirectedGraph&lt;T&gt;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IGraph&lt;T&gt;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GraphKind </a:t>
            </a:r>
            <a:r>
              <a:rPr>
                <a:solidFill>
                  <a:srgbClr val="0326CC"/>
                </a:solidFill>
              </a:rPr>
              <a:t>graghKind</a:t>
            </a:r>
            <a:r>
              <a:t> = GraphKind.</a:t>
            </a:r>
            <a:r>
              <a:rPr>
                <a:solidFill>
                  <a:srgbClr val="0326CC"/>
                </a:solidFill>
              </a:rPr>
              <a:t>DirectedGraph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[][]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n</a:t>
            </a:r>
            <a:r>
              <a:rPr>
                <a:solidFill>
                  <a:srgbClr val="000000"/>
                </a:solidFill>
              </a:rP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AjacencyMatrixDirectedGraph(T[]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n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vertices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Object[</a:t>
            </a:r>
            <a: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System.arraycopy(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n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sp>
        <p:nvSpPr>
          <p:cNvPr id="1314" name="public GraphKind getGraphKind() {…"/>
          <p:cNvSpPr txBox="1"/>
          <p:nvPr/>
        </p:nvSpPr>
        <p:spPr>
          <a:xfrm>
            <a:off x="2489937" y="1358994"/>
            <a:ext cx="7857258" cy="6555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GraphKind getGraphKind() 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graghKind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rangeCheck(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7E504F"/>
                </a:solidFill>
              </a:rPr>
              <a:t>v</a:t>
            </a:r>
            <a:r>
              <a:t> &lt; 0 || </a:t>
            </a:r>
            <a:r>
              <a:rPr>
                <a:solidFill>
                  <a:srgbClr val="7E504F"/>
                </a:solidFill>
              </a:rPr>
              <a:t>v</a:t>
            </a:r>
            <a:r>
              <a:t> &gt;= </a:t>
            </a:r>
            <a:r>
              <a:rPr>
                <a:solidFill>
                  <a:srgbClr val="0326CC"/>
                </a:solidFill>
              </a:rPr>
              <a:t>n</a:t>
            </a:r>
            <a:r>
              <a:t>)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IndexOutOfBoundsException();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numberOfVertices() 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numberOfEdges() 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sp>
        <p:nvSpPr>
          <p:cNvPr id="1317" name="public int index(T x) {…"/>
          <p:cNvSpPr txBox="1"/>
          <p:nvPr/>
        </p:nvSpPr>
        <p:spPr>
          <a:xfrm>
            <a:off x="1964321" y="1413964"/>
            <a:ext cx="6554100" cy="552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index(T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(int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 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n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].equals(</a:t>
            </a:r>
            <a:r>
              <a:rPr>
                <a:solidFill>
                  <a:srgbClr val="7E504F"/>
                </a:solidFill>
              </a:rPr>
              <a:t>x</a:t>
            </a:r>
            <a:r>
              <a:t>))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return i;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-1;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value(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vertices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sp>
        <p:nvSpPr>
          <p:cNvPr id="1320" name="public int inDegree(int v) {…"/>
          <p:cNvSpPr txBox="1"/>
          <p:nvPr/>
        </p:nvSpPr>
        <p:spPr>
          <a:xfrm>
            <a:off x="1168522" y="1131637"/>
            <a:ext cx="7750635" cy="6124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inDegree(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= 0;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++</a:t>
            </a:r>
            <a:r>
              <a:rPr>
                <a:solidFill>
                  <a:srgbClr val="7E504F"/>
                </a:solidFill>
              </a:rPr>
              <a:t>i</a:t>
            </a:r>
            <a:r>
              <a:t>)</a:t>
            </a: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count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][</a:t>
            </a:r>
            <a:r>
              <a:t>v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outDegree(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= 0;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++</a:t>
            </a:r>
            <a:r>
              <a:rPr>
                <a:solidFill>
                  <a:srgbClr val="7E504F"/>
                </a:solidFill>
              </a:rPr>
              <a:t>i</a:t>
            </a:r>
            <a:r>
              <a:t>)</a:t>
            </a:r>
          </a:p>
          <a:p>
            <a:pPr indent="0">
              <a:lnSpc>
                <a:spcPct val="100000"/>
              </a:lnSpc>
              <a:defRPr sz="21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count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t>v</a:t>
            </a:r>
            <a:r>
              <a:rPr>
                <a:solidFill>
                  <a:srgbClr val="000000"/>
                </a:solidFill>
              </a:rPr>
              <a:t>][</a:t>
            </a:r>
            <a:r>
              <a:t>i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UnsupportedOperationException();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324" name="成组"/>
          <p:cNvGrpSpPr/>
          <p:nvPr/>
        </p:nvGrpSpPr>
        <p:grpSpPr>
          <a:xfrm>
            <a:off x="9327530" y="1251371"/>
            <a:ext cx="3439933" cy="3940703"/>
            <a:chOff x="25400" y="25400"/>
            <a:chExt cx="3439931" cy="3940701"/>
          </a:xfrm>
        </p:grpSpPr>
        <p:graphicFrame>
          <p:nvGraphicFramePr>
            <p:cNvPr id="1321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22" name="Table 1053"/>
            <p:cNvGraphicFramePr/>
            <p:nvPr/>
          </p:nvGraphicFramePr>
          <p:xfrm>
            <a:off x="25400" y="5290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23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sp>
        <p:nvSpPr>
          <p:cNvPr id="1327" name="public int inDegree(int v) {…"/>
          <p:cNvSpPr txBox="1"/>
          <p:nvPr/>
        </p:nvSpPr>
        <p:spPr>
          <a:xfrm>
            <a:off x="355722" y="1530904"/>
            <a:ext cx="6173038" cy="3008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inDegree(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= 0;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++</a:t>
            </a:r>
            <a:r>
              <a:rPr>
                <a:solidFill>
                  <a:srgbClr val="7E504F"/>
                </a:solidFill>
              </a:rPr>
              <a:t>i</a:t>
            </a:r>
            <a:r>
              <a:t>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count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][</a:t>
            </a:r>
            <a:r>
              <a:t>v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331" name="成组"/>
          <p:cNvGrpSpPr/>
          <p:nvPr/>
        </p:nvGrpSpPr>
        <p:grpSpPr>
          <a:xfrm>
            <a:off x="9327530" y="1251371"/>
            <a:ext cx="3439933" cy="3940703"/>
            <a:chOff x="25400" y="25400"/>
            <a:chExt cx="3439931" cy="3940701"/>
          </a:xfrm>
        </p:grpSpPr>
        <p:graphicFrame>
          <p:nvGraphicFramePr>
            <p:cNvPr id="1328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29" name="Table 1053"/>
            <p:cNvGraphicFramePr/>
            <p:nvPr/>
          </p:nvGraphicFramePr>
          <p:xfrm>
            <a:off x="25400" y="5290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30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sp>
        <p:nvSpPr>
          <p:cNvPr id="1334" name="public boolean addEdge(int u, int v) {…"/>
          <p:cNvSpPr txBox="1"/>
          <p:nvPr/>
        </p:nvSpPr>
        <p:spPr>
          <a:xfrm>
            <a:off x="87354" y="1660651"/>
            <a:ext cx="7522073" cy="4546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addEdge(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== 0) {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 1; 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++</a:t>
            </a:r>
            <a: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338" name="成组"/>
          <p:cNvGrpSpPr/>
          <p:nvPr/>
        </p:nvGrpSpPr>
        <p:grpSpPr>
          <a:xfrm>
            <a:off x="9327530" y="1251371"/>
            <a:ext cx="3439933" cy="3940703"/>
            <a:chOff x="25400" y="25400"/>
            <a:chExt cx="3439931" cy="3940701"/>
          </a:xfrm>
        </p:grpSpPr>
        <p:graphicFrame>
          <p:nvGraphicFramePr>
            <p:cNvPr id="1335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36" name="Table 1053"/>
            <p:cNvGraphicFramePr/>
            <p:nvPr/>
          </p:nvGraphicFramePr>
          <p:xfrm>
            <a:off x="25400" y="5290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37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sp>
        <p:nvSpPr>
          <p:cNvPr id="1341" name="public boolean removeEdge(int u, int v) {…"/>
          <p:cNvSpPr txBox="1"/>
          <p:nvPr/>
        </p:nvSpPr>
        <p:spPr>
          <a:xfrm>
            <a:off x="1250535" y="1210569"/>
            <a:ext cx="7758330" cy="401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removeEdge(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!= 0)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 0;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--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345" name="成组"/>
          <p:cNvGrpSpPr/>
          <p:nvPr/>
        </p:nvGrpSpPr>
        <p:grpSpPr>
          <a:xfrm>
            <a:off x="9327530" y="1251371"/>
            <a:ext cx="3439933" cy="3940703"/>
            <a:chOff x="25400" y="25400"/>
            <a:chExt cx="3439931" cy="3940701"/>
          </a:xfrm>
        </p:grpSpPr>
        <p:graphicFrame>
          <p:nvGraphicFramePr>
            <p:cNvPr id="1342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43" name="Table 1053"/>
            <p:cNvGraphicFramePr/>
            <p:nvPr/>
          </p:nvGraphicFramePr>
          <p:xfrm>
            <a:off x="25400" y="5290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44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grpSp>
        <p:nvGrpSpPr>
          <p:cNvPr id="1351" name="成组"/>
          <p:cNvGrpSpPr/>
          <p:nvPr/>
        </p:nvGrpSpPr>
        <p:grpSpPr>
          <a:xfrm>
            <a:off x="8903102" y="2263284"/>
            <a:ext cx="3439932" cy="3940702"/>
            <a:chOff x="25400" y="25400"/>
            <a:chExt cx="3439931" cy="3940701"/>
          </a:xfrm>
        </p:grpSpPr>
        <p:graphicFrame>
          <p:nvGraphicFramePr>
            <p:cNvPr id="1348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49" name="Table 1053"/>
            <p:cNvGraphicFramePr/>
            <p:nvPr/>
          </p:nvGraphicFramePr>
          <p:xfrm>
            <a:off x="25400" y="5290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50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  <p:sp>
        <p:nvSpPr>
          <p:cNvPr id="1352" name="public void addWeightedEdge(int u, int v, double w) {…"/>
          <p:cNvSpPr txBox="1"/>
          <p:nvPr/>
        </p:nvSpPr>
        <p:spPr>
          <a:xfrm>
            <a:off x="15341" y="1538638"/>
            <a:ext cx="9457867" cy="3126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addWeightedEdge(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w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UnsupportedOperationException();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getWeight(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UnsupportedOperationException();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sp>
        <p:nvSpPr>
          <p:cNvPr id="1355" name="public Iterator&lt;Integer&gt; iterator(int v){…"/>
          <p:cNvSpPr txBox="1"/>
          <p:nvPr/>
        </p:nvSpPr>
        <p:spPr>
          <a:xfrm>
            <a:off x="272405" y="1539097"/>
            <a:ext cx="7735467" cy="728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Iterator&lt;Integer&gt; iterator(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){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new</a:t>
            </a:r>
            <a:r>
              <a:rPr>
                <a:solidFill>
                  <a:srgbClr val="000000"/>
                </a:solidFill>
              </a:rPr>
              <a:t> Itr(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Itr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Iterator&lt;Integer&gt;{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vertex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curPos</a:t>
            </a:r>
            <a:r>
              <a:rPr>
                <a:solidFill>
                  <a:srgbClr val="000000"/>
                </a:solidFill>
              </a:rPr>
              <a:t>;</a:t>
            </a:r>
            <a:r>
              <a:t>		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public</a:t>
            </a:r>
            <a:r>
              <a:rPr>
                <a:solidFill>
                  <a:srgbClr val="000000"/>
                </a:solidFill>
              </a:rPr>
              <a:t> Itr(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	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hasNext()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(;</a:t>
            </a:r>
            <a:r>
              <a:t>curPos</a:t>
            </a:r>
            <a:r>
              <a:rPr>
                <a:solidFill>
                  <a:srgbClr val="000000"/>
                </a:solidFill>
              </a:rPr>
              <a:t>&lt; </a:t>
            </a:r>
            <a:r>
              <a:t>n</a:t>
            </a:r>
            <a:r>
              <a:rPr>
                <a:solidFill>
                  <a:srgbClr val="000000"/>
                </a:solidFill>
              </a:rPr>
              <a:t>; </a:t>
            </a:r>
            <a:r>
              <a:t>curPos</a:t>
            </a:r>
            <a:r>
              <a:rPr>
                <a:solidFill>
                  <a:srgbClr val="000000"/>
                </a:solidFill>
              </a:rPr>
              <a:t>++)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0326CC"/>
                </a:solidFill>
              </a:rPr>
              <a:t>vertex</a:t>
            </a:r>
            <a:r>
              <a:t>][</a:t>
            </a:r>
            <a:r>
              <a:rPr>
                <a:solidFill>
                  <a:srgbClr val="0326CC"/>
                </a:solidFill>
              </a:rPr>
              <a:t>curPos</a:t>
            </a:r>
            <a:r>
              <a:t>] != 0)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931A68"/>
                </a:solidFill>
              </a:rPr>
              <a:t>break</a:t>
            </a:r>
            <a:r>
              <a:t>;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curPos</a:t>
            </a:r>
            <a:r>
              <a:rPr>
                <a:solidFill>
                  <a:srgbClr val="000000"/>
                </a:solidFill>
              </a:rPr>
              <a:t> == </a:t>
            </a:r>
            <a:r>
              <a:t>n</a:t>
            </a:r>
            <a:r>
              <a:rPr>
                <a:solidFill>
                  <a:srgbClr val="000000"/>
                </a:solidFill>
              </a:rPr>
              <a:t> ? </a:t>
            </a:r>
            <a:r>
              <a:rPr>
                <a:solidFill>
                  <a:srgbClr val="931A68"/>
                </a:solidFill>
              </a:rPr>
              <a:t>false</a:t>
            </a:r>
            <a:r>
              <a:rPr>
                <a:solidFill>
                  <a:srgbClr val="000000"/>
                </a:solidFill>
              </a:rPr>
              <a:t> : </a:t>
            </a:r>
            <a:r>
              <a:rPr>
                <a:solidFill>
                  <a:srgbClr val="931A68"/>
                </a:solidFill>
              </a:rP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	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Integer next() {</a:t>
            </a:r>
          </a:p>
          <a:p>
            <a:pPr indent="0">
              <a:lnSpc>
                <a:spcPct val="100000"/>
              </a:lnSpc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curPos</a:t>
            </a:r>
            <a:r>
              <a:rPr>
                <a:solidFill>
                  <a:srgbClr val="000000"/>
                </a:solidFill>
              </a:rPr>
              <a:t>++;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	</a:t>
            </a:r>
          </a:p>
          <a:p>
            <a:pPr indent="0">
              <a:lnSpc>
                <a:spcPct val="10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359" name="成组"/>
          <p:cNvGrpSpPr/>
          <p:nvPr/>
        </p:nvGrpSpPr>
        <p:grpSpPr>
          <a:xfrm>
            <a:off x="8762208" y="1253215"/>
            <a:ext cx="3439933" cy="3940703"/>
            <a:chOff x="25400" y="25400"/>
            <a:chExt cx="3439931" cy="3940701"/>
          </a:xfrm>
        </p:grpSpPr>
        <p:graphicFrame>
          <p:nvGraphicFramePr>
            <p:cNvPr id="1356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57" name="Table 1053"/>
            <p:cNvGraphicFramePr/>
            <p:nvPr/>
          </p:nvGraphicFramePr>
          <p:xfrm>
            <a:off x="25400" y="5290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358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sp>
        <p:nvSpPr>
          <p:cNvPr id="1362" name="public static void main(String[] args) {…"/>
          <p:cNvSpPr txBox="1"/>
          <p:nvPr/>
        </p:nvSpPr>
        <p:spPr>
          <a:xfrm>
            <a:off x="-119012" y="1603651"/>
            <a:ext cx="12963563" cy="6115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Character[]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 = { </a:t>
            </a:r>
            <a:r>
              <a:rPr>
                <a:solidFill>
                  <a:srgbClr val="3933FF"/>
                </a:solidFill>
              </a:rPr>
              <a:t>'a'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'b'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'c'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'd'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'e'</a:t>
            </a:r>
            <a:r>
              <a:t>, </a:t>
            </a:r>
            <a:r>
              <a:rPr>
                <a:solidFill>
                  <a:srgbClr val="3933FF"/>
                </a:solidFill>
              </a:rPr>
              <a:t>'f'</a:t>
            </a:r>
            <a:r>
              <a:t> };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AjacencyMatrixDirectedGraph&lt;Character&gt;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AjacencyMatrixDirectedGraph&lt;&gt;(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3933FF"/>
                </a:solidFill>
              </a:rPr>
              <a:t>"nodes="</a:t>
            </a:r>
            <a:r>
              <a:t> +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.numberOfVertices());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.addEdge(0, 2);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.addEdge(1, 2);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.addEdge(1, 4);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.addEdge(1, 5);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.addEdge(2, 3);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.addEdge(3, 5);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.addEdge(4, 3);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.addEdge(4, 5);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3933FF"/>
                </a:solidFill>
              </a:rPr>
              <a:t>"edges="</a:t>
            </a:r>
            <a:r>
              <a:t> +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.numberOfEdges());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"outdegree of 1="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rPr>
                <a:solidFill>
                  <a:srgbClr val="000000"/>
                </a:solidFill>
              </a:rPr>
              <a:t>.outDegree(1));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"indegree of 5="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rPr>
                <a:solidFill>
                  <a:srgbClr val="000000"/>
                </a:solidFill>
              </a:rPr>
              <a:t>.inDegree(5));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63" name="nodes=6…"/>
          <p:cNvSpPr txBox="1"/>
          <p:nvPr/>
        </p:nvSpPr>
        <p:spPr>
          <a:xfrm>
            <a:off x="9638598" y="6117351"/>
            <a:ext cx="2309218" cy="1670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nodes=6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edges=8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outdegree of 1=3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indegree of 5=3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基于邻接矩阵的有向图实现</a:t>
            </a:r>
          </a:p>
        </p:txBody>
      </p:sp>
      <p:sp>
        <p:nvSpPr>
          <p:cNvPr id="1366" name="graph.removeEdge(1, 4);…"/>
          <p:cNvSpPr txBox="1"/>
          <p:nvPr/>
        </p:nvSpPr>
        <p:spPr>
          <a:xfrm>
            <a:off x="671245" y="1217331"/>
            <a:ext cx="9122459" cy="5162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.removeEdge(1, 4);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.numberOfEdges());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"outdegree of 1="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rPr>
                <a:solidFill>
                  <a:srgbClr val="000000"/>
                </a:solidFill>
              </a:rPr>
              <a:t>.outDegree(1));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"value of 4="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rPr>
                <a:solidFill>
                  <a:srgbClr val="000000"/>
                </a:solidFill>
              </a:rPr>
              <a:t>.value(4));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"subscript of c="</a:t>
            </a:r>
            <a:r>
              <a:rPr>
                <a:solidFill>
                  <a:srgbClr val="000000"/>
                </a:solidFill>
              </a:rPr>
              <a:t> +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rPr>
                <a:solidFill>
                  <a:srgbClr val="000000"/>
                </a:solidFill>
              </a:rPr>
              <a:t>.index(</a:t>
            </a:r>
            <a:r>
              <a:t>'c'</a:t>
            </a:r>
            <a:r>
              <a:rPr>
                <a:solidFill>
                  <a:srgbClr val="000000"/>
                </a:solidFill>
              </a:rPr>
              <a:t>));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18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"---------"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Iterator&lt;Integer&gt;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graph</a:t>
            </a:r>
            <a:r>
              <a:t>.iterator(1);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.next());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1367" name="7…"/>
          <p:cNvSpPr txBox="1"/>
          <p:nvPr/>
        </p:nvSpPr>
        <p:spPr>
          <a:xfrm>
            <a:off x="9782137" y="4007324"/>
            <a:ext cx="2309218" cy="2305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7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outdegree of 1=2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value of 4=e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subscript of c=2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---------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2</a:t>
            </a:r>
          </a:p>
          <a:p>
            <a:pPr indent="0">
              <a:lnSpc>
                <a:spcPct val="100000"/>
              </a:lnSpc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基于邻接表的有向图实现</a:t>
            </a:r>
          </a:p>
        </p:txBody>
      </p:sp>
      <p:grpSp>
        <p:nvGrpSpPr>
          <p:cNvPr id="1420" name="成组"/>
          <p:cNvGrpSpPr/>
          <p:nvPr/>
        </p:nvGrpSpPr>
        <p:grpSpPr>
          <a:xfrm>
            <a:off x="8953254" y="2440472"/>
            <a:ext cx="4001351" cy="3671151"/>
            <a:chOff x="0" y="0"/>
            <a:chExt cx="4001349" cy="3671149"/>
          </a:xfrm>
        </p:grpSpPr>
        <p:grpSp>
          <p:nvGrpSpPr>
            <p:cNvPr id="1378" name="Group 1094"/>
            <p:cNvGrpSpPr/>
            <p:nvPr/>
          </p:nvGrpSpPr>
          <p:grpSpPr>
            <a:xfrm>
              <a:off x="771032" y="42896"/>
              <a:ext cx="3221852" cy="571221"/>
              <a:chOff x="0" y="0"/>
              <a:chExt cx="3221850" cy="571220"/>
            </a:xfrm>
          </p:grpSpPr>
          <p:sp>
            <p:nvSpPr>
              <p:cNvPr id="1370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1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2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3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4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5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6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77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379" name="Shape 1095"/>
            <p:cNvSpPr/>
            <p:nvPr/>
          </p:nvSpPr>
          <p:spPr>
            <a:xfrm>
              <a:off x="777805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0" name="Shape 1096"/>
            <p:cNvSpPr/>
            <p:nvPr/>
          </p:nvSpPr>
          <p:spPr>
            <a:xfrm>
              <a:off x="1613182" y="151948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1" name="Shape 1097"/>
            <p:cNvSpPr/>
            <p:nvPr/>
          </p:nvSpPr>
          <p:spPr>
            <a:xfrm>
              <a:off x="2225041" y="1524000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2" name="Shape 1098"/>
            <p:cNvSpPr/>
            <p:nvPr/>
          </p:nvSpPr>
          <p:spPr>
            <a:xfrm>
              <a:off x="798124" y="1799449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3" name="Shape 1099"/>
            <p:cNvSpPr/>
            <p:nvPr/>
          </p:nvSpPr>
          <p:spPr>
            <a:xfrm flipH="1">
              <a:off x="2225041" y="1708855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4" name="Shape 1100"/>
            <p:cNvSpPr/>
            <p:nvPr/>
          </p:nvSpPr>
          <p:spPr>
            <a:xfrm>
              <a:off x="2328898" y="1708855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393" name="Group 1109"/>
            <p:cNvGrpSpPr/>
            <p:nvPr/>
          </p:nvGrpSpPr>
          <p:grpSpPr>
            <a:xfrm>
              <a:off x="777806" y="2275840"/>
              <a:ext cx="3221851" cy="550901"/>
              <a:chOff x="0" y="0"/>
              <a:chExt cx="3221850" cy="550900"/>
            </a:xfrm>
          </p:grpSpPr>
          <p:sp>
            <p:nvSpPr>
              <p:cNvPr id="1385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86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87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88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89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90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91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92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394" name="Shape 1110"/>
            <p:cNvSpPr/>
            <p:nvPr/>
          </p:nvSpPr>
          <p:spPr>
            <a:xfrm>
              <a:off x="1653823" y="3043485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5" name="Shape 1111"/>
            <p:cNvSpPr/>
            <p:nvPr/>
          </p:nvSpPr>
          <p:spPr>
            <a:xfrm>
              <a:off x="2270196" y="304800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6" name="Shape 1112"/>
            <p:cNvSpPr/>
            <p:nvPr/>
          </p:nvSpPr>
          <p:spPr>
            <a:xfrm>
              <a:off x="798124" y="3305388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7" name="Shape 1113"/>
            <p:cNvSpPr/>
            <p:nvPr/>
          </p:nvSpPr>
          <p:spPr>
            <a:xfrm flipH="1">
              <a:off x="2270196" y="322410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8" name="Shape 1114"/>
            <p:cNvSpPr/>
            <p:nvPr/>
          </p:nvSpPr>
          <p:spPr>
            <a:xfrm>
              <a:off x="2369538" y="322410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9" name="Shape 1079"/>
            <p:cNvSpPr/>
            <p:nvPr/>
          </p:nvSpPr>
          <p:spPr>
            <a:xfrm>
              <a:off x="413455" y="0"/>
              <a:ext cx="7165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0" name="Shape 1080"/>
            <p:cNvSpPr/>
            <p:nvPr/>
          </p:nvSpPr>
          <p:spPr>
            <a:xfrm>
              <a:off x="413455" y="71571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1" name="Shape 1081"/>
            <p:cNvSpPr/>
            <p:nvPr/>
          </p:nvSpPr>
          <p:spPr>
            <a:xfrm>
              <a:off x="413455" y="143368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2" name="Shape 1082"/>
            <p:cNvSpPr/>
            <p:nvPr/>
          </p:nvSpPr>
          <p:spPr>
            <a:xfrm>
              <a:off x="413455" y="2149406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3" name="Shape 1083"/>
            <p:cNvSpPr/>
            <p:nvPr/>
          </p:nvSpPr>
          <p:spPr>
            <a:xfrm>
              <a:off x="413455" y="286737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4" name="Shape 1115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405" name="Shape 1116"/>
            <p:cNvSpPr txBox="1"/>
            <p:nvPr/>
          </p:nvSpPr>
          <p:spPr>
            <a:xfrm>
              <a:off x="0" y="9155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06" name="Shape 1117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407" name="Shape 1118"/>
            <p:cNvSpPr txBox="1"/>
            <p:nvPr/>
          </p:nvSpPr>
          <p:spPr>
            <a:xfrm>
              <a:off x="0" y="236727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08" name="Shape 1119"/>
            <p:cNvSpPr txBox="1"/>
            <p:nvPr/>
          </p:nvSpPr>
          <p:spPr>
            <a:xfrm>
              <a:off x="0" y="3085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409" name="Shape 1125"/>
            <p:cNvSpPr txBox="1"/>
            <p:nvPr/>
          </p:nvSpPr>
          <p:spPr>
            <a:xfrm>
              <a:off x="1739617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10" name="Shape 1126"/>
            <p:cNvSpPr txBox="1"/>
            <p:nvPr/>
          </p:nvSpPr>
          <p:spPr>
            <a:xfrm>
              <a:off x="3264748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411" name="Shape 1127"/>
            <p:cNvSpPr txBox="1"/>
            <p:nvPr/>
          </p:nvSpPr>
          <p:spPr>
            <a:xfrm>
              <a:off x="1735385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12" name="Shape 1128"/>
            <p:cNvSpPr txBox="1"/>
            <p:nvPr/>
          </p:nvSpPr>
          <p:spPr>
            <a:xfrm>
              <a:off x="1739617" y="233736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413" name="Shape 1129"/>
            <p:cNvSpPr txBox="1"/>
            <p:nvPr/>
          </p:nvSpPr>
          <p:spPr>
            <a:xfrm>
              <a:off x="3262207" y="235768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14" name="Shape 1130"/>
            <p:cNvSpPr txBox="1"/>
            <p:nvPr/>
          </p:nvSpPr>
          <p:spPr>
            <a:xfrm>
              <a:off x="1743005" y="310585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415" name="Shape 1131"/>
            <p:cNvSpPr/>
            <p:nvPr/>
          </p:nvSpPr>
          <p:spPr>
            <a:xfrm>
              <a:off x="1595121" y="803768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6" name="Shape 1132"/>
            <p:cNvSpPr/>
            <p:nvPr/>
          </p:nvSpPr>
          <p:spPr>
            <a:xfrm>
              <a:off x="2206978" y="80828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7" name="Shape 1133"/>
            <p:cNvSpPr/>
            <p:nvPr/>
          </p:nvSpPr>
          <p:spPr>
            <a:xfrm flipH="1">
              <a:off x="2206978" y="98439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8" name="Shape 1134"/>
            <p:cNvSpPr/>
            <p:nvPr/>
          </p:nvSpPr>
          <p:spPr>
            <a:xfrm>
              <a:off x="2310836" y="98439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9" name="Shape 1135"/>
            <p:cNvSpPr txBox="1"/>
            <p:nvPr/>
          </p:nvSpPr>
          <p:spPr>
            <a:xfrm>
              <a:off x="1737642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421" name="public class LinkedListDirectedGraph&lt;T&gt; implements IGraph&lt;T&gt; {…"/>
          <p:cNvSpPr txBox="1"/>
          <p:nvPr/>
        </p:nvSpPr>
        <p:spPr>
          <a:xfrm>
            <a:off x="41889" y="1366838"/>
            <a:ext cx="11637541" cy="5818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LinkedListDirectedGraph&lt;T&gt;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IGraph&lt;T&gt;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GraphKind </a:t>
            </a:r>
            <a:r>
              <a:rPr>
                <a:solidFill>
                  <a:srgbClr val="0326CC"/>
                </a:solidFill>
              </a:rPr>
              <a:t>graghKind</a:t>
            </a:r>
            <a:r>
              <a:t> = GraphKind.</a:t>
            </a:r>
            <a:r>
              <a:rPr>
                <a:solidFill>
                  <a:srgbClr val="0326CC"/>
                </a:solidFill>
              </a:rPr>
              <a:t>DirectedGraph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数组+链表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LinkedListDirectedGraph(T[]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n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vertices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Object[</a:t>
            </a:r>
            <a: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System.arraycopy(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n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Object[</a:t>
            </a:r>
            <a:r>
              <a:rPr>
                <a:solidFill>
                  <a:srgbClr val="0326CC"/>
                </a:solidFill>
              </a:rPr>
              <a:t>n</a:t>
            </a:r>
            <a:r>
              <a:t>];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 u="sng">
                <a:solidFill>
                  <a:schemeClr val="accent5"/>
                </a:solidFill>
              </a:rPr>
              <a:t>LinkedList</a:t>
            </a:r>
            <a:r>
              <a:rPr>
                <a:solidFill>
                  <a:srgbClr val="000000"/>
                </a:solidFill>
              </a:rPr>
              <a:t>&lt;&gt;();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基于邻接表的有向图实现</a:t>
            </a:r>
          </a:p>
        </p:txBody>
      </p:sp>
      <p:sp>
        <p:nvSpPr>
          <p:cNvPr id="1424" name="public int inDegree(int v) {…"/>
          <p:cNvSpPr txBox="1"/>
          <p:nvPr/>
        </p:nvSpPr>
        <p:spPr>
          <a:xfrm>
            <a:off x="-149550" y="1453644"/>
            <a:ext cx="8848019" cy="598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inDegree(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= 0;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u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u</a:t>
            </a:r>
            <a:r>
              <a:t>++)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(((List&lt;?&gt;)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]).indexOf(</a:t>
            </a:r>
            <a:r>
              <a:rPr>
                <a:solidFill>
                  <a:srgbClr val="7E504F"/>
                </a:solidFill>
              </a:rPr>
              <a:t>v</a:t>
            </a:r>
            <a:r>
              <a:t>) != -1)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	++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outDegree(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= ((List&lt;?&gt;)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]).size();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475" name="成组"/>
          <p:cNvGrpSpPr/>
          <p:nvPr/>
        </p:nvGrpSpPr>
        <p:grpSpPr>
          <a:xfrm>
            <a:off x="8868729" y="1397177"/>
            <a:ext cx="4001350" cy="3671151"/>
            <a:chOff x="0" y="0"/>
            <a:chExt cx="4001349" cy="3671149"/>
          </a:xfrm>
        </p:grpSpPr>
        <p:grpSp>
          <p:nvGrpSpPr>
            <p:cNvPr id="1433" name="Group 1094"/>
            <p:cNvGrpSpPr/>
            <p:nvPr/>
          </p:nvGrpSpPr>
          <p:grpSpPr>
            <a:xfrm>
              <a:off x="771032" y="42896"/>
              <a:ext cx="3221852" cy="571221"/>
              <a:chOff x="0" y="0"/>
              <a:chExt cx="3221850" cy="571220"/>
            </a:xfrm>
          </p:grpSpPr>
          <p:sp>
            <p:nvSpPr>
              <p:cNvPr id="1425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26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27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28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29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30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31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32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434" name="Shape 1095"/>
            <p:cNvSpPr/>
            <p:nvPr/>
          </p:nvSpPr>
          <p:spPr>
            <a:xfrm>
              <a:off x="777805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5" name="Shape 1096"/>
            <p:cNvSpPr/>
            <p:nvPr/>
          </p:nvSpPr>
          <p:spPr>
            <a:xfrm>
              <a:off x="1613182" y="151948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6" name="Shape 1097"/>
            <p:cNvSpPr/>
            <p:nvPr/>
          </p:nvSpPr>
          <p:spPr>
            <a:xfrm>
              <a:off x="2225041" y="1524000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7" name="Shape 1098"/>
            <p:cNvSpPr/>
            <p:nvPr/>
          </p:nvSpPr>
          <p:spPr>
            <a:xfrm>
              <a:off x="798124" y="1799449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8" name="Shape 1099"/>
            <p:cNvSpPr/>
            <p:nvPr/>
          </p:nvSpPr>
          <p:spPr>
            <a:xfrm flipH="1">
              <a:off x="2225041" y="1708855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9" name="Shape 1100"/>
            <p:cNvSpPr/>
            <p:nvPr/>
          </p:nvSpPr>
          <p:spPr>
            <a:xfrm>
              <a:off x="2328898" y="1708855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448" name="Group 1109"/>
            <p:cNvGrpSpPr/>
            <p:nvPr/>
          </p:nvGrpSpPr>
          <p:grpSpPr>
            <a:xfrm>
              <a:off x="777806" y="2275840"/>
              <a:ext cx="3221851" cy="550901"/>
              <a:chOff x="0" y="0"/>
              <a:chExt cx="3221850" cy="550900"/>
            </a:xfrm>
          </p:grpSpPr>
          <p:sp>
            <p:nvSpPr>
              <p:cNvPr id="1440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1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2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3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4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5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6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7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449" name="Shape 1110"/>
            <p:cNvSpPr/>
            <p:nvPr/>
          </p:nvSpPr>
          <p:spPr>
            <a:xfrm>
              <a:off x="1653823" y="3043485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0" name="Shape 1111"/>
            <p:cNvSpPr/>
            <p:nvPr/>
          </p:nvSpPr>
          <p:spPr>
            <a:xfrm>
              <a:off x="2270196" y="304800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1" name="Shape 1112"/>
            <p:cNvSpPr/>
            <p:nvPr/>
          </p:nvSpPr>
          <p:spPr>
            <a:xfrm>
              <a:off x="798124" y="3305388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2" name="Shape 1113"/>
            <p:cNvSpPr/>
            <p:nvPr/>
          </p:nvSpPr>
          <p:spPr>
            <a:xfrm flipH="1">
              <a:off x="2270196" y="322410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3" name="Shape 1114"/>
            <p:cNvSpPr/>
            <p:nvPr/>
          </p:nvSpPr>
          <p:spPr>
            <a:xfrm>
              <a:off x="2369538" y="322410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4" name="Shape 1079"/>
            <p:cNvSpPr/>
            <p:nvPr/>
          </p:nvSpPr>
          <p:spPr>
            <a:xfrm>
              <a:off x="413455" y="0"/>
              <a:ext cx="7165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5" name="Shape 1080"/>
            <p:cNvSpPr/>
            <p:nvPr/>
          </p:nvSpPr>
          <p:spPr>
            <a:xfrm>
              <a:off x="413455" y="71571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6" name="Shape 1081"/>
            <p:cNvSpPr/>
            <p:nvPr/>
          </p:nvSpPr>
          <p:spPr>
            <a:xfrm>
              <a:off x="413455" y="143368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7" name="Shape 1082"/>
            <p:cNvSpPr/>
            <p:nvPr/>
          </p:nvSpPr>
          <p:spPr>
            <a:xfrm>
              <a:off x="413455" y="2149406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8" name="Shape 1083"/>
            <p:cNvSpPr/>
            <p:nvPr/>
          </p:nvSpPr>
          <p:spPr>
            <a:xfrm>
              <a:off x="413455" y="286737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9" name="Shape 1115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460" name="Shape 1116"/>
            <p:cNvSpPr txBox="1"/>
            <p:nvPr/>
          </p:nvSpPr>
          <p:spPr>
            <a:xfrm>
              <a:off x="0" y="9155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61" name="Shape 1117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462" name="Shape 1118"/>
            <p:cNvSpPr txBox="1"/>
            <p:nvPr/>
          </p:nvSpPr>
          <p:spPr>
            <a:xfrm>
              <a:off x="0" y="236727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63" name="Shape 1119"/>
            <p:cNvSpPr txBox="1"/>
            <p:nvPr/>
          </p:nvSpPr>
          <p:spPr>
            <a:xfrm>
              <a:off x="0" y="3085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464" name="Shape 1125"/>
            <p:cNvSpPr txBox="1"/>
            <p:nvPr/>
          </p:nvSpPr>
          <p:spPr>
            <a:xfrm>
              <a:off x="1739617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65" name="Shape 1126"/>
            <p:cNvSpPr txBox="1"/>
            <p:nvPr/>
          </p:nvSpPr>
          <p:spPr>
            <a:xfrm>
              <a:off x="3264748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466" name="Shape 1127"/>
            <p:cNvSpPr txBox="1"/>
            <p:nvPr/>
          </p:nvSpPr>
          <p:spPr>
            <a:xfrm>
              <a:off x="1735385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67" name="Shape 1128"/>
            <p:cNvSpPr txBox="1"/>
            <p:nvPr/>
          </p:nvSpPr>
          <p:spPr>
            <a:xfrm>
              <a:off x="1739617" y="233736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468" name="Shape 1129"/>
            <p:cNvSpPr txBox="1"/>
            <p:nvPr/>
          </p:nvSpPr>
          <p:spPr>
            <a:xfrm>
              <a:off x="3262207" y="235768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69" name="Shape 1130"/>
            <p:cNvSpPr txBox="1"/>
            <p:nvPr/>
          </p:nvSpPr>
          <p:spPr>
            <a:xfrm>
              <a:off x="1743005" y="310585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470" name="Shape 1131"/>
            <p:cNvSpPr/>
            <p:nvPr/>
          </p:nvSpPr>
          <p:spPr>
            <a:xfrm>
              <a:off x="1595121" y="803768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1" name="Shape 1132"/>
            <p:cNvSpPr/>
            <p:nvPr/>
          </p:nvSpPr>
          <p:spPr>
            <a:xfrm>
              <a:off x="2206978" y="80828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2" name="Shape 1133"/>
            <p:cNvSpPr/>
            <p:nvPr/>
          </p:nvSpPr>
          <p:spPr>
            <a:xfrm flipH="1">
              <a:off x="2206978" y="98439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3" name="Shape 1134"/>
            <p:cNvSpPr/>
            <p:nvPr/>
          </p:nvSpPr>
          <p:spPr>
            <a:xfrm>
              <a:off x="2310836" y="98439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4" name="Shape 1135"/>
            <p:cNvSpPr txBox="1"/>
            <p:nvPr/>
          </p:nvSpPr>
          <p:spPr>
            <a:xfrm>
              <a:off x="1737642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498" name="Group 1078"/>
          <p:cNvGrpSpPr/>
          <p:nvPr/>
        </p:nvGrpSpPr>
        <p:grpSpPr>
          <a:xfrm>
            <a:off x="8313668" y="5387415"/>
            <a:ext cx="4301071" cy="2867381"/>
            <a:chOff x="0" y="0"/>
            <a:chExt cx="4301069" cy="2867379"/>
          </a:xfrm>
        </p:grpSpPr>
        <p:sp>
          <p:nvSpPr>
            <p:cNvPr id="1476" name="Shape 1056"/>
            <p:cNvSpPr/>
            <p:nvPr/>
          </p:nvSpPr>
          <p:spPr>
            <a:xfrm flipH="1">
              <a:off x="280504" y="277488"/>
              <a:ext cx="1587502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7" name="Shape 1057"/>
            <p:cNvSpPr/>
            <p:nvPr/>
          </p:nvSpPr>
          <p:spPr>
            <a:xfrm>
              <a:off x="467507" y="1664929"/>
              <a:ext cx="561010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8" name="Shape 1058"/>
            <p:cNvSpPr/>
            <p:nvPr/>
          </p:nvSpPr>
          <p:spPr>
            <a:xfrm>
              <a:off x="1589524" y="2497392"/>
              <a:ext cx="1122021" cy="226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9" name="Shape 1059"/>
            <p:cNvSpPr/>
            <p:nvPr/>
          </p:nvSpPr>
          <p:spPr>
            <a:xfrm flipH="1" flipV="1">
              <a:off x="2337535" y="554976"/>
              <a:ext cx="654512" cy="166493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0" name="Shape 1060"/>
            <p:cNvSpPr/>
            <p:nvPr/>
          </p:nvSpPr>
          <p:spPr>
            <a:xfrm>
              <a:off x="2431038" y="277488"/>
              <a:ext cx="1496026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1" name="Shape 1061"/>
            <p:cNvSpPr/>
            <p:nvPr/>
          </p:nvSpPr>
          <p:spPr>
            <a:xfrm flipH="1" flipV="1">
              <a:off x="561009" y="1387441"/>
              <a:ext cx="2150536" cy="924962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2" name="Shape 1062"/>
            <p:cNvSpPr/>
            <p:nvPr/>
          </p:nvSpPr>
          <p:spPr>
            <a:xfrm flipH="1">
              <a:off x="1309020" y="1387440"/>
              <a:ext cx="2431040" cy="832467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485" name="Group 1065"/>
            <p:cNvGrpSpPr/>
            <p:nvPr/>
          </p:nvGrpSpPr>
          <p:grpSpPr>
            <a:xfrm>
              <a:off x="1870029" y="-1"/>
              <a:ext cx="561011" cy="647475"/>
              <a:chOff x="0" y="0"/>
              <a:chExt cx="561009" cy="647473"/>
            </a:xfrm>
          </p:grpSpPr>
          <p:sp>
            <p:nvSpPr>
              <p:cNvPr id="1483" name="Shape 1063"/>
              <p:cNvSpPr/>
              <p:nvPr/>
            </p:nvSpPr>
            <p:spPr>
              <a:xfrm>
                <a:off x="0" y="0"/>
                <a:ext cx="561011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84" name="Shape 1064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488" name="Group 1068"/>
            <p:cNvGrpSpPr/>
            <p:nvPr/>
          </p:nvGrpSpPr>
          <p:grpSpPr>
            <a:xfrm>
              <a:off x="0" y="1109952"/>
              <a:ext cx="561011" cy="647475"/>
              <a:chOff x="0" y="0"/>
              <a:chExt cx="561009" cy="647473"/>
            </a:xfrm>
          </p:grpSpPr>
          <p:sp>
            <p:nvSpPr>
              <p:cNvPr id="1486" name="Shape 1066"/>
              <p:cNvSpPr/>
              <p:nvPr/>
            </p:nvSpPr>
            <p:spPr>
              <a:xfrm>
                <a:off x="0" y="0"/>
                <a:ext cx="561011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87" name="Shape 1067"/>
              <p:cNvSpPr txBox="1"/>
              <p:nvPr/>
            </p:nvSpPr>
            <p:spPr>
              <a:xfrm>
                <a:off x="46701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491" name="Group 1071"/>
            <p:cNvGrpSpPr/>
            <p:nvPr/>
          </p:nvGrpSpPr>
          <p:grpSpPr>
            <a:xfrm>
              <a:off x="3740057" y="1109952"/>
              <a:ext cx="561013" cy="647475"/>
              <a:chOff x="0" y="0"/>
              <a:chExt cx="561011" cy="647473"/>
            </a:xfrm>
          </p:grpSpPr>
          <p:sp>
            <p:nvSpPr>
              <p:cNvPr id="1489" name="Shape 1069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90" name="Shape 1070"/>
              <p:cNvSpPr txBox="1"/>
              <p:nvPr/>
            </p:nvSpPr>
            <p:spPr>
              <a:xfrm>
                <a:off x="46700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494" name="Group 1074"/>
            <p:cNvGrpSpPr/>
            <p:nvPr/>
          </p:nvGrpSpPr>
          <p:grpSpPr>
            <a:xfrm>
              <a:off x="1028516" y="2219905"/>
              <a:ext cx="561013" cy="647475"/>
              <a:chOff x="0" y="0"/>
              <a:chExt cx="561011" cy="647473"/>
            </a:xfrm>
          </p:grpSpPr>
          <p:sp>
            <p:nvSpPr>
              <p:cNvPr id="1492" name="Shape 1072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93" name="Shape 1073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497" name="Group 1077"/>
            <p:cNvGrpSpPr/>
            <p:nvPr/>
          </p:nvGrpSpPr>
          <p:grpSpPr>
            <a:xfrm>
              <a:off x="2711541" y="2219905"/>
              <a:ext cx="561013" cy="647475"/>
              <a:chOff x="0" y="0"/>
              <a:chExt cx="561011" cy="647473"/>
            </a:xfrm>
          </p:grpSpPr>
          <p:sp>
            <p:nvSpPr>
              <p:cNvPr id="1495" name="Shape 1075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96" name="Shape 1076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基于邻接表的有向图实现</a:t>
            </a:r>
          </a:p>
        </p:txBody>
      </p:sp>
      <p:sp>
        <p:nvSpPr>
          <p:cNvPr id="1501" name="public boolean addEdge(int u, int v) {…"/>
          <p:cNvSpPr txBox="1"/>
          <p:nvPr/>
        </p:nvSpPr>
        <p:spPr>
          <a:xfrm>
            <a:off x="49504" y="1449587"/>
            <a:ext cx="8741396" cy="4650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addEdge(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List&lt;Integer&gt;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 = (List&lt;Integer&gt;)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.indexOf(</a:t>
            </a:r>
            <a:r>
              <a:rPr>
                <a:solidFill>
                  <a:srgbClr val="7E504F"/>
                </a:solidFill>
              </a:rPr>
              <a:t>v</a:t>
            </a:r>
            <a:r>
              <a:t>) == -1)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.add(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++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552" name="成组"/>
          <p:cNvGrpSpPr/>
          <p:nvPr/>
        </p:nvGrpSpPr>
        <p:grpSpPr>
          <a:xfrm>
            <a:off x="8950984" y="1253348"/>
            <a:ext cx="4001350" cy="3671150"/>
            <a:chOff x="0" y="0"/>
            <a:chExt cx="4001349" cy="3671149"/>
          </a:xfrm>
        </p:grpSpPr>
        <p:grpSp>
          <p:nvGrpSpPr>
            <p:cNvPr id="1510" name="Group 1094"/>
            <p:cNvGrpSpPr/>
            <p:nvPr/>
          </p:nvGrpSpPr>
          <p:grpSpPr>
            <a:xfrm>
              <a:off x="771032" y="42896"/>
              <a:ext cx="3221852" cy="571221"/>
              <a:chOff x="0" y="0"/>
              <a:chExt cx="3221850" cy="571220"/>
            </a:xfrm>
          </p:grpSpPr>
          <p:sp>
            <p:nvSpPr>
              <p:cNvPr id="1502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03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04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05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06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07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08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09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511" name="Shape 1095"/>
            <p:cNvSpPr/>
            <p:nvPr/>
          </p:nvSpPr>
          <p:spPr>
            <a:xfrm>
              <a:off x="777805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2" name="Shape 1096"/>
            <p:cNvSpPr/>
            <p:nvPr/>
          </p:nvSpPr>
          <p:spPr>
            <a:xfrm>
              <a:off x="1613182" y="151948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3" name="Shape 1097"/>
            <p:cNvSpPr/>
            <p:nvPr/>
          </p:nvSpPr>
          <p:spPr>
            <a:xfrm>
              <a:off x="2225041" y="1524000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4" name="Shape 1098"/>
            <p:cNvSpPr/>
            <p:nvPr/>
          </p:nvSpPr>
          <p:spPr>
            <a:xfrm>
              <a:off x="798124" y="1799449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5" name="Shape 1099"/>
            <p:cNvSpPr/>
            <p:nvPr/>
          </p:nvSpPr>
          <p:spPr>
            <a:xfrm flipH="1">
              <a:off x="2225041" y="1708855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6" name="Shape 1100"/>
            <p:cNvSpPr/>
            <p:nvPr/>
          </p:nvSpPr>
          <p:spPr>
            <a:xfrm>
              <a:off x="2328898" y="1708855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525" name="Group 1109"/>
            <p:cNvGrpSpPr/>
            <p:nvPr/>
          </p:nvGrpSpPr>
          <p:grpSpPr>
            <a:xfrm>
              <a:off x="777806" y="2275840"/>
              <a:ext cx="3221851" cy="550901"/>
              <a:chOff x="0" y="0"/>
              <a:chExt cx="3221850" cy="550900"/>
            </a:xfrm>
          </p:grpSpPr>
          <p:sp>
            <p:nvSpPr>
              <p:cNvPr id="1517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18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19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20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21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22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23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24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526" name="Shape 1110"/>
            <p:cNvSpPr/>
            <p:nvPr/>
          </p:nvSpPr>
          <p:spPr>
            <a:xfrm>
              <a:off x="1653823" y="3043485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27" name="Shape 1111"/>
            <p:cNvSpPr/>
            <p:nvPr/>
          </p:nvSpPr>
          <p:spPr>
            <a:xfrm>
              <a:off x="2270196" y="304800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28" name="Shape 1112"/>
            <p:cNvSpPr/>
            <p:nvPr/>
          </p:nvSpPr>
          <p:spPr>
            <a:xfrm>
              <a:off x="798124" y="3305388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29" name="Shape 1113"/>
            <p:cNvSpPr/>
            <p:nvPr/>
          </p:nvSpPr>
          <p:spPr>
            <a:xfrm flipH="1">
              <a:off x="2270196" y="322410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0" name="Shape 1114"/>
            <p:cNvSpPr/>
            <p:nvPr/>
          </p:nvSpPr>
          <p:spPr>
            <a:xfrm>
              <a:off x="2369538" y="322410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1" name="Shape 1079"/>
            <p:cNvSpPr/>
            <p:nvPr/>
          </p:nvSpPr>
          <p:spPr>
            <a:xfrm>
              <a:off x="413455" y="0"/>
              <a:ext cx="7165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2" name="Shape 1080"/>
            <p:cNvSpPr/>
            <p:nvPr/>
          </p:nvSpPr>
          <p:spPr>
            <a:xfrm>
              <a:off x="413455" y="71571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3" name="Shape 1081"/>
            <p:cNvSpPr/>
            <p:nvPr/>
          </p:nvSpPr>
          <p:spPr>
            <a:xfrm>
              <a:off x="413455" y="143368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4" name="Shape 1082"/>
            <p:cNvSpPr/>
            <p:nvPr/>
          </p:nvSpPr>
          <p:spPr>
            <a:xfrm>
              <a:off x="413455" y="2149406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5" name="Shape 1083"/>
            <p:cNvSpPr/>
            <p:nvPr/>
          </p:nvSpPr>
          <p:spPr>
            <a:xfrm>
              <a:off x="413455" y="286737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6" name="Shape 1115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537" name="Shape 1116"/>
            <p:cNvSpPr txBox="1"/>
            <p:nvPr/>
          </p:nvSpPr>
          <p:spPr>
            <a:xfrm>
              <a:off x="0" y="9155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38" name="Shape 1117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539" name="Shape 1118"/>
            <p:cNvSpPr txBox="1"/>
            <p:nvPr/>
          </p:nvSpPr>
          <p:spPr>
            <a:xfrm>
              <a:off x="0" y="236727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540" name="Shape 1119"/>
            <p:cNvSpPr txBox="1"/>
            <p:nvPr/>
          </p:nvSpPr>
          <p:spPr>
            <a:xfrm>
              <a:off x="0" y="3085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541" name="Shape 1125"/>
            <p:cNvSpPr txBox="1"/>
            <p:nvPr/>
          </p:nvSpPr>
          <p:spPr>
            <a:xfrm>
              <a:off x="1739617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42" name="Shape 1126"/>
            <p:cNvSpPr txBox="1"/>
            <p:nvPr/>
          </p:nvSpPr>
          <p:spPr>
            <a:xfrm>
              <a:off x="3264748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543" name="Shape 1127"/>
            <p:cNvSpPr txBox="1"/>
            <p:nvPr/>
          </p:nvSpPr>
          <p:spPr>
            <a:xfrm>
              <a:off x="1735385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544" name="Shape 1128"/>
            <p:cNvSpPr txBox="1"/>
            <p:nvPr/>
          </p:nvSpPr>
          <p:spPr>
            <a:xfrm>
              <a:off x="1739617" y="233736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545" name="Shape 1129"/>
            <p:cNvSpPr txBox="1"/>
            <p:nvPr/>
          </p:nvSpPr>
          <p:spPr>
            <a:xfrm>
              <a:off x="3262207" y="235768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46" name="Shape 1130"/>
            <p:cNvSpPr txBox="1"/>
            <p:nvPr/>
          </p:nvSpPr>
          <p:spPr>
            <a:xfrm>
              <a:off x="1743005" y="310585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547" name="Shape 1131"/>
            <p:cNvSpPr/>
            <p:nvPr/>
          </p:nvSpPr>
          <p:spPr>
            <a:xfrm>
              <a:off x="1595121" y="803768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48" name="Shape 1132"/>
            <p:cNvSpPr/>
            <p:nvPr/>
          </p:nvSpPr>
          <p:spPr>
            <a:xfrm>
              <a:off x="2206978" y="80828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49" name="Shape 1133"/>
            <p:cNvSpPr/>
            <p:nvPr/>
          </p:nvSpPr>
          <p:spPr>
            <a:xfrm flipH="1">
              <a:off x="2206978" y="98439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50" name="Shape 1134"/>
            <p:cNvSpPr/>
            <p:nvPr/>
          </p:nvSpPr>
          <p:spPr>
            <a:xfrm>
              <a:off x="2310836" y="98439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51" name="Shape 1135"/>
            <p:cNvSpPr txBox="1"/>
            <p:nvPr/>
          </p:nvSpPr>
          <p:spPr>
            <a:xfrm>
              <a:off x="1737642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基于邻接表的有向图实现</a:t>
            </a:r>
          </a:p>
        </p:txBody>
      </p:sp>
      <p:grpSp>
        <p:nvGrpSpPr>
          <p:cNvPr id="1605" name="成组"/>
          <p:cNvGrpSpPr/>
          <p:nvPr/>
        </p:nvGrpSpPr>
        <p:grpSpPr>
          <a:xfrm>
            <a:off x="8740939" y="3672842"/>
            <a:ext cx="4001350" cy="3671151"/>
            <a:chOff x="0" y="0"/>
            <a:chExt cx="4001349" cy="3671149"/>
          </a:xfrm>
        </p:grpSpPr>
        <p:grpSp>
          <p:nvGrpSpPr>
            <p:cNvPr id="1563" name="Group 1094"/>
            <p:cNvGrpSpPr/>
            <p:nvPr/>
          </p:nvGrpSpPr>
          <p:grpSpPr>
            <a:xfrm>
              <a:off x="771032" y="42896"/>
              <a:ext cx="3221852" cy="571221"/>
              <a:chOff x="0" y="0"/>
              <a:chExt cx="3221850" cy="571220"/>
            </a:xfrm>
          </p:grpSpPr>
          <p:sp>
            <p:nvSpPr>
              <p:cNvPr id="1555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56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57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58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59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60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61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62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564" name="Shape 1095"/>
            <p:cNvSpPr/>
            <p:nvPr/>
          </p:nvSpPr>
          <p:spPr>
            <a:xfrm>
              <a:off x="777805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65" name="Shape 1096"/>
            <p:cNvSpPr/>
            <p:nvPr/>
          </p:nvSpPr>
          <p:spPr>
            <a:xfrm>
              <a:off x="1613182" y="151948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66" name="Shape 1097"/>
            <p:cNvSpPr/>
            <p:nvPr/>
          </p:nvSpPr>
          <p:spPr>
            <a:xfrm>
              <a:off x="2225041" y="1524000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67" name="Shape 1098"/>
            <p:cNvSpPr/>
            <p:nvPr/>
          </p:nvSpPr>
          <p:spPr>
            <a:xfrm>
              <a:off x="798124" y="1799449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68" name="Shape 1099"/>
            <p:cNvSpPr/>
            <p:nvPr/>
          </p:nvSpPr>
          <p:spPr>
            <a:xfrm flipH="1">
              <a:off x="2225041" y="1708855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69" name="Shape 1100"/>
            <p:cNvSpPr/>
            <p:nvPr/>
          </p:nvSpPr>
          <p:spPr>
            <a:xfrm>
              <a:off x="2328898" y="1708855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578" name="Group 1109"/>
            <p:cNvGrpSpPr/>
            <p:nvPr/>
          </p:nvGrpSpPr>
          <p:grpSpPr>
            <a:xfrm>
              <a:off x="777806" y="2275840"/>
              <a:ext cx="3221851" cy="550901"/>
              <a:chOff x="0" y="0"/>
              <a:chExt cx="3221850" cy="550900"/>
            </a:xfrm>
          </p:grpSpPr>
          <p:sp>
            <p:nvSpPr>
              <p:cNvPr id="1570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71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72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73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74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75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76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77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579" name="Shape 1110"/>
            <p:cNvSpPr/>
            <p:nvPr/>
          </p:nvSpPr>
          <p:spPr>
            <a:xfrm>
              <a:off x="1653823" y="3043485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0" name="Shape 1111"/>
            <p:cNvSpPr/>
            <p:nvPr/>
          </p:nvSpPr>
          <p:spPr>
            <a:xfrm>
              <a:off x="2270196" y="304800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1" name="Shape 1112"/>
            <p:cNvSpPr/>
            <p:nvPr/>
          </p:nvSpPr>
          <p:spPr>
            <a:xfrm>
              <a:off x="798124" y="3305388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2" name="Shape 1113"/>
            <p:cNvSpPr/>
            <p:nvPr/>
          </p:nvSpPr>
          <p:spPr>
            <a:xfrm flipH="1">
              <a:off x="2270196" y="322410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3" name="Shape 1114"/>
            <p:cNvSpPr/>
            <p:nvPr/>
          </p:nvSpPr>
          <p:spPr>
            <a:xfrm>
              <a:off x="2369538" y="322410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4" name="Shape 1079"/>
            <p:cNvSpPr/>
            <p:nvPr/>
          </p:nvSpPr>
          <p:spPr>
            <a:xfrm>
              <a:off x="413455" y="0"/>
              <a:ext cx="7165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5" name="Shape 1080"/>
            <p:cNvSpPr/>
            <p:nvPr/>
          </p:nvSpPr>
          <p:spPr>
            <a:xfrm>
              <a:off x="413455" y="71571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6" name="Shape 1081"/>
            <p:cNvSpPr/>
            <p:nvPr/>
          </p:nvSpPr>
          <p:spPr>
            <a:xfrm>
              <a:off x="413455" y="143368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7" name="Shape 1082"/>
            <p:cNvSpPr/>
            <p:nvPr/>
          </p:nvSpPr>
          <p:spPr>
            <a:xfrm>
              <a:off x="413455" y="2149406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8" name="Shape 1083"/>
            <p:cNvSpPr/>
            <p:nvPr/>
          </p:nvSpPr>
          <p:spPr>
            <a:xfrm>
              <a:off x="413455" y="286737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9" name="Shape 1115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590" name="Shape 1116"/>
            <p:cNvSpPr txBox="1"/>
            <p:nvPr/>
          </p:nvSpPr>
          <p:spPr>
            <a:xfrm>
              <a:off x="0" y="9155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91" name="Shape 1117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592" name="Shape 1118"/>
            <p:cNvSpPr txBox="1"/>
            <p:nvPr/>
          </p:nvSpPr>
          <p:spPr>
            <a:xfrm>
              <a:off x="0" y="236727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593" name="Shape 1119"/>
            <p:cNvSpPr txBox="1"/>
            <p:nvPr/>
          </p:nvSpPr>
          <p:spPr>
            <a:xfrm>
              <a:off x="0" y="3085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594" name="Shape 1125"/>
            <p:cNvSpPr txBox="1"/>
            <p:nvPr/>
          </p:nvSpPr>
          <p:spPr>
            <a:xfrm>
              <a:off x="1739617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95" name="Shape 1126"/>
            <p:cNvSpPr txBox="1"/>
            <p:nvPr/>
          </p:nvSpPr>
          <p:spPr>
            <a:xfrm>
              <a:off x="3264748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596" name="Shape 1127"/>
            <p:cNvSpPr txBox="1"/>
            <p:nvPr/>
          </p:nvSpPr>
          <p:spPr>
            <a:xfrm>
              <a:off x="1735385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597" name="Shape 1128"/>
            <p:cNvSpPr txBox="1"/>
            <p:nvPr/>
          </p:nvSpPr>
          <p:spPr>
            <a:xfrm>
              <a:off x="1739617" y="233736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598" name="Shape 1129"/>
            <p:cNvSpPr txBox="1"/>
            <p:nvPr/>
          </p:nvSpPr>
          <p:spPr>
            <a:xfrm>
              <a:off x="3262207" y="235768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99" name="Shape 1130"/>
            <p:cNvSpPr txBox="1"/>
            <p:nvPr/>
          </p:nvSpPr>
          <p:spPr>
            <a:xfrm>
              <a:off x="1743005" y="310585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600" name="Shape 1131"/>
            <p:cNvSpPr/>
            <p:nvPr/>
          </p:nvSpPr>
          <p:spPr>
            <a:xfrm>
              <a:off x="1595121" y="803768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1" name="Shape 1132"/>
            <p:cNvSpPr/>
            <p:nvPr/>
          </p:nvSpPr>
          <p:spPr>
            <a:xfrm>
              <a:off x="2206978" y="80828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2" name="Shape 1133"/>
            <p:cNvSpPr/>
            <p:nvPr/>
          </p:nvSpPr>
          <p:spPr>
            <a:xfrm flipH="1">
              <a:off x="2206978" y="98439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3" name="Shape 1134"/>
            <p:cNvSpPr/>
            <p:nvPr/>
          </p:nvSpPr>
          <p:spPr>
            <a:xfrm>
              <a:off x="2310836" y="98439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4" name="Shape 1135"/>
            <p:cNvSpPr txBox="1"/>
            <p:nvPr/>
          </p:nvSpPr>
          <p:spPr>
            <a:xfrm>
              <a:off x="1737642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606" name="public boolean removeEdge(int u, int v) {…"/>
          <p:cNvSpPr txBox="1"/>
          <p:nvPr/>
        </p:nvSpPr>
        <p:spPr>
          <a:xfrm>
            <a:off x="286854" y="1328599"/>
            <a:ext cx="10082735" cy="350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removeEdge(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(((List&lt;?&gt;)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]).remove(Integer.valueOf(</a:t>
            </a:r>
            <a:r>
              <a:rPr>
                <a:solidFill>
                  <a:srgbClr val="7E504F"/>
                </a:solidFill>
              </a:rPr>
              <a:t>v</a:t>
            </a:r>
            <a:r>
              <a:t>)))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--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基于邻接表的有向图实现</a:t>
            </a:r>
          </a:p>
        </p:txBody>
      </p:sp>
      <p:grpSp>
        <p:nvGrpSpPr>
          <p:cNvPr id="1659" name="成组"/>
          <p:cNvGrpSpPr/>
          <p:nvPr/>
        </p:nvGrpSpPr>
        <p:grpSpPr>
          <a:xfrm>
            <a:off x="8660073" y="4198471"/>
            <a:ext cx="4001350" cy="3671151"/>
            <a:chOff x="0" y="0"/>
            <a:chExt cx="4001349" cy="3671149"/>
          </a:xfrm>
        </p:grpSpPr>
        <p:grpSp>
          <p:nvGrpSpPr>
            <p:cNvPr id="1617" name="Group 1094"/>
            <p:cNvGrpSpPr/>
            <p:nvPr/>
          </p:nvGrpSpPr>
          <p:grpSpPr>
            <a:xfrm>
              <a:off x="771032" y="42896"/>
              <a:ext cx="3221852" cy="571221"/>
              <a:chOff x="0" y="0"/>
              <a:chExt cx="3221850" cy="571220"/>
            </a:xfrm>
          </p:grpSpPr>
          <p:sp>
            <p:nvSpPr>
              <p:cNvPr id="1609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0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1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2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3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4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5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6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618" name="Shape 1095"/>
            <p:cNvSpPr/>
            <p:nvPr/>
          </p:nvSpPr>
          <p:spPr>
            <a:xfrm>
              <a:off x="777805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9" name="Shape 1096"/>
            <p:cNvSpPr/>
            <p:nvPr/>
          </p:nvSpPr>
          <p:spPr>
            <a:xfrm>
              <a:off x="1613182" y="151948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0" name="Shape 1097"/>
            <p:cNvSpPr/>
            <p:nvPr/>
          </p:nvSpPr>
          <p:spPr>
            <a:xfrm>
              <a:off x="2225041" y="1524000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1" name="Shape 1098"/>
            <p:cNvSpPr/>
            <p:nvPr/>
          </p:nvSpPr>
          <p:spPr>
            <a:xfrm>
              <a:off x="798124" y="1799449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2" name="Shape 1099"/>
            <p:cNvSpPr/>
            <p:nvPr/>
          </p:nvSpPr>
          <p:spPr>
            <a:xfrm flipH="1">
              <a:off x="2225041" y="1708855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3" name="Shape 1100"/>
            <p:cNvSpPr/>
            <p:nvPr/>
          </p:nvSpPr>
          <p:spPr>
            <a:xfrm>
              <a:off x="2328898" y="1708855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632" name="Group 1109"/>
            <p:cNvGrpSpPr/>
            <p:nvPr/>
          </p:nvGrpSpPr>
          <p:grpSpPr>
            <a:xfrm>
              <a:off x="777806" y="2275840"/>
              <a:ext cx="3221851" cy="550901"/>
              <a:chOff x="0" y="0"/>
              <a:chExt cx="3221850" cy="550900"/>
            </a:xfrm>
          </p:grpSpPr>
          <p:sp>
            <p:nvSpPr>
              <p:cNvPr id="1624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5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6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7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8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9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30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31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633" name="Shape 1110"/>
            <p:cNvSpPr/>
            <p:nvPr/>
          </p:nvSpPr>
          <p:spPr>
            <a:xfrm>
              <a:off x="1653823" y="3043485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4" name="Shape 1111"/>
            <p:cNvSpPr/>
            <p:nvPr/>
          </p:nvSpPr>
          <p:spPr>
            <a:xfrm>
              <a:off x="2270196" y="304800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5" name="Shape 1112"/>
            <p:cNvSpPr/>
            <p:nvPr/>
          </p:nvSpPr>
          <p:spPr>
            <a:xfrm>
              <a:off x="798124" y="3305388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6" name="Shape 1113"/>
            <p:cNvSpPr/>
            <p:nvPr/>
          </p:nvSpPr>
          <p:spPr>
            <a:xfrm flipH="1">
              <a:off x="2270196" y="322410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7" name="Shape 1114"/>
            <p:cNvSpPr/>
            <p:nvPr/>
          </p:nvSpPr>
          <p:spPr>
            <a:xfrm>
              <a:off x="2369538" y="322410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8" name="Shape 1079"/>
            <p:cNvSpPr/>
            <p:nvPr/>
          </p:nvSpPr>
          <p:spPr>
            <a:xfrm>
              <a:off x="413455" y="0"/>
              <a:ext cx="7165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9" name="Shape 1080"/>
            <p:cNvSpPr/>
            <p:nvPr/>
          </p:nvSpPr>
          <p:spPr>
            <a:xfrm>
              <a:off x="413455" y="71571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0" name="Shape 1081"/>
            <p:cNvSpPr/>
            <p:nvPr/>
          </p:nvSpPr>
          <p:spPr>
            <a:xfrm>
              <a:off x="413455" y="143368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1" name="Shape 1082"/>
            <p:cNvSpPr/>
            <p:nvPr/>
          </p:nvSpPr>
          <p:spPr>
            <a:xfrm>
              <a:off x="413455" y="2149406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2" name="Shape 1083"/>
            <p:cNvSpPr/>
            <p:nvPr/>
          </p:nvSpPr>
          <p:spPr>
            <a:xfrm>
              <a:off x="413455" y="286737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3" name="Shape 1115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644" name="Shape 1116"/>
            <p:cNvSpPr txBox="1"/>
            <p:nvPr/>
          </p:nvSpPr>
          <p:spPr>
            <a:xfrm>
              <a:off x="0" y="9155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45" name="Shape 1117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646" name="Shape 1118"/>
            <p:cNvSpPr txBox="1"/>
            <p:nvPr/>
          </p:nvSpPr>
          <p:spPr>
            <a:xfrm>
              <a:off x="0" y="236727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647" name="Shape 1119"/>
            <p:cNvSpPr txBox="1"/>
            <p:nvPr/>
          </p:nvSpPr>
          <p:spPr>
            <a:xfrm>
              <a:off x="0" y="3085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648" name="Shape 1125"/>
            <p:cNvSpPr txBox="1"/>
            <p:nvPr/>
          </p:nvSpPr>
          <p:spPr>
            <a:xfrm>
              <a:off x="1739617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49" name="Shape 1126"/>
            <p:cNvSpPr txBox="1"/>
            <p:nvPr/>
          </p:nvSpPr>
          <p:spPr>
            <a:xfrm>
              <a:off x="3264748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650" name="Shape 1127"/>
            <p:cNvSpPr txBox="1"/>
            <p:nvPr/>
          </p:nvSpPr>
          <p:spPr>
            <a:xfrm>
              <a:off x="1735385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651" name="Shape 1128"/>
            <p:cNvSpPr txBox="1"/>
            <p:nvPr/>
          </p:nvSpPr>
          <p:spPr>
            <a:xfrm>
              <a:off x="1739617" y="233736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652" name="Shape 1129"/>
            <p:cNvSpPr txBox="1"/>
            <p:nvPr/>
          </p:nvSpPr>
          <p:spPr>
            <a:xfrm>
              <a:off x="3262207" y="235768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53" name="Shape 1130"/>
            <p:cNvSpPr txBox="1"/>
            <p:nvPr/>
          </p:nvSpPr>
          <p:spPr>
            <a:xfrm>
              <a:off x="1743005" y="310585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654" name="Shape 1131"/>
            <p:cNvSpPr/>
            <p:nvPr/>
          </p:nvSpPr>
          <p:spPr>
            <a:xfrm>
              <a:off x="1595121" y="803768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55" name="Shape 1132"/>
            <p:cNvSpPr/>
            <p:nvPr/>
          </p:nvSpPr>
          <p:spPr>
            <a:xfrm>
              <a:off x="2206978" y="80828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56" name="Shape 1133"/>
            <p:cNvSpPr/>
            <p:nvPr/>
          </p:nvSpPr>
          <p:spPr>
            <a:xfrm flipH="1">
              <a:off x="2206978" y="98439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57" name="Shape 1134"/>
            <p:cNvSpPr/>
            <p:nvPr/>
          </p:nvSpPr>
          <p:spPr>
            <a:xfrm>
              <a:off x="2310836" y="98439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58" name="Shape 1135"/>
            <p:cNvSpPr txBox="1"/>
            <p:nvPr/>
          </p:nvSpPr>
          <p:spPr>
            <a:xfrm>
              <a:off x="1737642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660" name="public boolean removeEdge2(int u, int v) {// 效率高，代码行数多…"/>
          <p:cNvSpPr txBox="1"/>
          <p:nvPr/>
        </p:nvSpPr>
        <p:spPr>
          <a:xfrm>
            <a:off x="-157908" y="1400397"/>
            <a:ext cx="11424073" cy="584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removeEdge2(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  <a:r>
              <a:rPr>
                <a:solidFill>
                  <a:srgbClr val="4E9072"/>
                </a:solidFill>
              </a:rPr>
              <a:t>// 效率高，代码行数多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Iterator&lt;Integer&gt; </a:t>
            </a:r>
            <a:r>
              <a:rPr>
                <a:solidFill>
                  <a:srgbClr val="7E504F"/>
                </a:solidFill>
              </a:rPr>
              <a:t>itr</a:t>
            </a:r>
            <a:r>
              <a:t> = ((List&lt;Integer&gt;)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]).iterator();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itr</a:t>
            </a:r>
            <a:r>
              <a:t>.hasNext())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w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itr</a:t>
            </a:r>
            <a:r>
              <a:t>.next();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w</a:t>
            </a:r>
            <a:r>
              <a:t> ==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itr</a:t>
            </a:r>
            <a:r>
              <a:rPr>
                <a:solidFill>
                  <a:srgbClr val="000000"/>
                </a:solidFill>
              </a:rPr>
              <a:t>.remove();</a:t>
            </a:r>
            <a:r>
              <a:t>// 利用迭代器的就地删除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--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基于邻接表的有向图实现</a:t>
            </a:r>
          </a:p>
        </p:txBody>
      </p:sp>
      <p:grpSp>
        <p:nvGrpSpPr>
          <p:cNvPr id="1713" name="成组"/>
          <p:cNvGrpSpPr/>
          <p:nvPr/>
        </p:nvGrpSpPr>
        <p:grpSpPr>
          <a:xfrm>
            <a:off x="8916148" y="3875007"/>
            <a:ext cx="4001350" cy="3671151"/>
            <a:chOff x="0" y="0"/>
            <a:chExt cx="4001349" cy="3671149"/>
          </a:xfrm>
        </p:grpSpPr>
        <p:grpSp>
          <p:nvGrpSpPr>
            <p:cNvPr id="1671" name="Group 1094"/>
            <p:cNvGrpSpPr/>
            <p:nvPr/>
          </p:nvGrpSpPr>
          <p:grpSpPr>
            <a:xfrm>
              <a:off x="771032" y="42896"/>
              <a:ext cx="3221852" cy="571221"/>
              <a:chOff x="0" y="0"/>
              <a:chExt cx="3221850" cy="571220"/>
            </a:xfrm>
          </p:grpSpPr>
          <p:sp>
            <p:nvSpPr>
              <p:cNvPr id="1663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4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5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6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7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8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9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0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672" name="Shape 1095"/>
            <p:cNvSpPr/>
            <p:nvPr/>
          </p:nvSpPr>
          <p:spPr>
            <a:xfrm>
              <a:off x="777805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3" name="Shape 1096"/>
            <p:cNvSpPr/>
            <p:nvPr/>
          </p:nvSpPr>
          <p:spPr>
            <a:xfrm>
              <a:off x="1613182" y="151948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4" name="Shape 1097"/>
            <p:cNvSpPr/>
            <p:nvPr/>
          </p:nvSpPr>
          <p:spPr>
            <a:xfrm>
              <a:off x="2225041" y="1524000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5" name="Shape 1098"/>
            <p:cNvSpPr/>
            <p:nvPr/>
          </p:nvSpPr>
          <p:spPr>
            <a:xfrm>
              <a:off x="798124" y="1799449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6" name="Shape 1099"/>
            <p:cNvSpPr/>
            <p:nvPr/>
          </p:nvSpPr>
          <p:spPr>
            <a:xfrm flipH="1">
              <a:off x="2225041" y="1708855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7" name="Shape 1100"/>
            <p:cNvSpPr/>
            <p:nvPr/>
          </p:nvSpPr>
          <p:spPr>
            <a:xfrm>
              <a:off x="2328898" y="1708855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686" name="Group 1109"/>
            <p:cNvGrpSpPr/>
            <p:nvPr/>
          </p:nvGrpSpPr>
          <p:grpSpPr>
            <a:xfrm>
              <a:off x="777806" y="2275840"/>
              <a:ext cx="3221851" cy="550901"/>
              <a:chOff x="0" y="0"/>
              <a:chExt cx="3221850" cy="550900"/>
            </a:xfrm>
          </p:grpSpPr>
          <p:sp>
            <p:nvSpPr>
              <p:cNvPr id="1678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9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0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1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2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3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4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5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687" name="Shape 1110"/>
            <p:cNvSpPr/>
            <p:nvPr/>
          </p:nvSpPr>
          <p:spPr>
            <a:xfrm>
              <a:off x="1653823" y="3043485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8" name="Shape 1111"/>
            <p:cNvSpPr/>
            <p:nvPr/>
          </p:nvSpPr>
          <p:spPr>
            <a:xfrm>
              <a:off x="2270196" y="304800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9" name="Shape 1112"/>
            <p:cNvSpPr/>
            <p:nvPr/>
          </p:nvSpPr>
          <p:spPr>
            <a:xfrm>
              <a:off x="798124" y="3305388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0" name="Shape 1113"/>
            <p:cNvSpPr/>
            <p:nvPr/>
          </p:nvSpPr>
          <p:spPr>
            <a:xfrm flipH="1">
              <a:off x="2270196" y="322410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1" name="Shape 1114"/>
            <p:cNvSpPr/>
            <p:nvPr/>
          </p:nvSpPr>
          <p:spPr>
            <a:xfrm>
              <a:off x="2369538" y="322410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2" name="Shape 1079"/>
            <p:cNvSpPr/>
            <p:nvPr/>
          </p:nvSpPr>
          <p:spPr>
            <a:xfrm>
              <a:off x="413455" y="0"/>
              <a:ext cx="7165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3" name="Shape 1080"/>
            <p:cNvSpPr/>
            <p:nvPr/>
          </p:nvSpPr>
          <p:spPr>
            <a:xfrm>
              <a:off x="413455" y="71571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4" name="Shape 1081"/>
            <p:cNvSpPr/>
            <p:nvPr/>
          </p:nvSpPr>
          <p:spPr>
            <a:xfrm>
              <a:off x="413455" y="143368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5" name="Shape 1082"/>
            <p:cNvSpPr/>
            <p:nvPr/>
          </p:nvSpPr>
          <p:spPr>
            <a:xfrm>
              <a:off x="413455" y="2149406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6" name="Shape 1083"/>
            <p:cNvSpPr/>
            <p:nvPr/>
          </p:nvSpPr>
          <p:spPr>
            <a:xfrm>
              <a:off x="413455" y="286737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7" name="Shape 1115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698" name="Shape 1116"/>
            <p:cNvSpPr txBox="1"/>
            <p:nvPr/>
          </p:nvSpPr>
          <p:spPr>
            <a:xfrm>
              <a:off x="0" y="9155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99" name="Shape 1117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700" name="Shape 1118"/>
            <p:cNvSpPr txBox="1"/>
            <p:nvPr/>
          </p:nvSpPr>
          <p:spPr>
            <a:xfrm>
              <a:off x="0" y="236727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701" name="Shape 1119"/>
            <p:cNvSpPr txBox="1"/>
            <p:nvPr/>
          </p:nvSpPr>
          <p:spPr>
            <a:xfrm>
              <a:off x="0" y="3085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702" name="Shape 1125"/>
            <p:cNvSpPr txBox="1"/>
            <p:nvPr/>
          </p:nvSpPr>
          <p:spPr>
            <a:xfrm>
              <a:off x="1739617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703" name="Shape 1126"/>
            <p:cNvSpPr txBox="1"/>
            <p:nvPr/>
          </p:nvSpPr>
          <p:spPr>
            <a:xfrm>
              <a:off x="3264748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704" name="Shape 1127"/>
            <p:cNvSpPr txBox="1"/>
            <p:nvPr/>
          </p:nvSpPr>
          <p:spPr>
            <a:xfrm>
              <a:off x="1735385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705" name="Shape 1128"/>
            <p:cNvSpPr txBox="1"/>
            <p:nvPr/>
          </p:nvSpPr>
          <p:spPr>
            <a:xfrm>
              <a:off x="1739617" y="233736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706" name="Shape 1129"/>
            <p:cNvSpPr txBox="1"/>
            <p:nvPr/>
          </p:nvSpPr>
          <p:spPr>
            <a:xfrm>
              <a:off x="3262207" y="235768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707" name="Shape 1130"/>
            <p:cNvSpPr txBox="1"/>
            <p:nvPr/>
          </p:nvSpPr>
          <p:spPr>
            <a:xfrm>
              <a:off x="1743005" y="310585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708" name="Shape 1131"/>
            <p:cNvSpPr/>
            <p:nvPr/>
          </p:nvSpPr>
          <p:spPr>
            <a:xfrm>
              <a:off x="1595121" y="803768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09" name="Shape 1132"/>
            <p:cNvSpPr/>
            <p:nvPr/>
          </p:nvSpPr>
          <p:spPr>
            <a:xfrm>
              <a:off x="2206978" y="80828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10" name="Shape 1133"/>
            <p:cNvSpPr/>
            <p:nvPr/>
          </p:nvSpPr>
          <p:spPr>
            <a:xfrm flipH="1">
              <a:off x="2206978" y="98439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11" name="Shape 1134"/>
            <p:cNvSpPr/>
            <p:nvPr/>
          </p:nvSpPr>
          <p:spPr>
            <a:xfrm>
              <a:off x="2310836" y="98439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12" name="Shape 1135"/>
            <p:cNvSpPr txBox="1"/>
            <p:nvPr/>
          </p:nvSpPr>
          <p:spPr>
            <a:xfrm>
              <a:off x="1737642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714" name="// indexOf和remove各遍历了一次LinkedList，效率低…"/>
          <p:cNvSpPr txBox="1"/>
          <p:nvPr/>
        </p:nvSpPr>
        <p:spPr>
          <a:xfrm>
            <a:off x="313810" y="1441738"/>
            <a:ext cx="8741396" cy="5437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indexOf和remove各遍历了一次LinkedList，效率低</a:t>
            </a:r>
            <a:r>
              <a:rPr>
                <a:solidFill>
                  <a:srgbClr val="000000"/>
                </a:solidFill>
              </a:rPr>
              <a:t>	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 removeEdge3(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List&lt;Integer&gt;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 = (List&lt;Integer&gt;)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w</a:t>
            </a:r>
            <a:r>
              <a:t> = 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.indexOf(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 O(n)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w</a:t>
            </a:r>
            <a:r>
              <a:t> != -1)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list</a:t>
            </a:r>
            <a:r>
              <a:t>.remove(</a:t>
            </a:r>
            <a:r>
              <a:rPr>
                <a:solidFill>
                  <a:srgbClr val="7E504F"/>
                </a:solidFill>
              </a:rPr>
              <a:t>w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 O(n)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--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基于邻接表的有向图实现</a:t>
            </a:r>
          </a:p>
        </p:txBody>
      </p:sp>
      <p:sp>
        <p:nvSpPr>
          <p:cNvPr id="1717" name="@SuppressWarnings(&quot;unchecked&quot;)…"/>
          <p:cNvSpPr txBox="1"/>
          <p:nvPr/>
        </p:nvSpPr>
        <p:spPr>
          <a:xfrm>
            <a:off x="216656" y="1488063"/>
            <a:ext cx="12480505" cy="208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Iterator&lt;Integer&gt; iterator(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((List&lt;Integer&gt;)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]).iterator();</a:t>
            </a:r>
            <a:r>
              <a:rPr>
                <a:solidFill>
                  <a:srgbClr val="4E9072"/>
                </a:solidFill>
              </a:rPr>
              <a:t>// 使用List实现的迭代器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768" name="成组"/>
          <p:cNvGrpSpPr/>
          <p:nvPr/>
        </p:nvGrpSpPr>
        <p:grpSpPr>
          <a:xfrm>
            <a:off x="8468369" y="3526759"/>
            <a:ext cx="4001350" cy="3671151"/>
            <a:chOff x="0" y="0"/>
            <a:chExt cx="4001349" cy="3671149"/>
          </a:xfrm>
        </p:grpSpPr>
        <p:grpSp>
          <p:nvGrpSpPr>
            <p:cNvPr id="1726" name="Group 1094"/>
            <p:cNvGrpSpPr/>
            <p:nvPr/>
          </p:nvGrpSpPr>
          <p:grpSpPr>
            <a:xfrm>
              <a:off x="771032" y="42896"/>
              <a:ext cx="3221852" cy="571221"/>
              <a:chOff x="0" y="0"/>
              <a:chExt cx="3221850" cy="571220"/>
            </a:xfrm>
          </p:grpSpPr>
          <p:sp>
            <p:nvSpPr>
              <p:cNvPr id="1718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19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20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21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22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23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24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25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727" name="Shape 1095"/>
            <p:cNvSpPr/>
            <p:nvPr/>
          </p:nvSpPr>
          <p:spPr>
            <a:xfrm>
              <a:off x="777805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28" name="Shape 1096"/>
            <p:cNvSpPr/>
            <p:nvPr/>
          </p:nvSpPr>
          <p:spPr>
            <a:xfrm>
              <a:off x="1613182" y="151948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29" name="Shape 1097"/>
            <p:cNvSpPr/>
            <p:nvPr/>
          </p:nvSpPr>
          <p:spPr>
            <a:xfrm>
              <a:off x="2225041" y="1524000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0" name="Shape 1098"/>
            <p:cNvSpPr/>
            <p:nvPr/>
          </p:nvSpPr>
          <p:spPr>
            <a:xfrm>
              <a:off x="798124" y="1799449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1" name="Shape 1099"/>
            <p:cNvSpPr/>
            <p:nvPr/>
          </p:nvSpPr>
          <p:spPr>
            <a:xfrm flipH="1">
              <a:off x="2225041" y="1708855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2" name="Shape 1100"/>
            <p:cNvSpPr/>
            <p:nvPr/>
          </p:nvSpPr>
          <p:spPr>
            <a:xfrm>
              <a:off x="2328898" y="1708855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741" name="Group 1109"/>
            <p:cNvGrpSpPr/>
            <p:nvPr/>
          </p:nvGrpSpPr>
          <p:grpSpPr>
            <a:xfrm>
              <a:off x="777806" y="2275840"/>
              <a:ext cx="3221851" cy="550901"/>
              <a:chOff x="0" y="0"/>
              <a:chExt cx="3221850" cy="550900"/>
            </a:xfrm>
          </p:grpSpPr>
          <p:sp>
            <p:nvSpPr>
              <p:cNvPr id="1733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4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5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6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7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8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39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40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742" name="Shape 1110"/>
            <p:cNvSpPr/>
            <p:nvPr/>
          </p:nvSpPr>
          <p:spPr>
            <a:xfrm>
              <a:off x="1653823" y="3043485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3" name="Shape 1111"/>
            <p:cNvSpPr/>
            <p:nvPr/>
          </p:nvSpPr>
          <p:spPr>
            <a:xfrm>
              <a:off x="2270196" y="304800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4" name="Shape 1112"/>
            <p:cNvSpPr/>
            <p:nvPr/>
          </p:nvSpPr>
          <p:spPr>
            <a:xfrm>
              <a:off x="798124" y="3305388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5" name="Shape 1113"/>
            <p:cNvSpPr/>
            <p:nvPr/>
          </p:nvSpPr>
          <p:spPr>
            <a:xfrm flipH="1">
              <a:off x="2270196" y="322410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6" name="Shape 1114"/>
            <p:cNvSpPr/>
            <p:nvPr/>
          </p:nvSpPr>
          <p:spPr>
            <a:xfrm>
              <a:off x="2369538" y="322410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7" name="Shape 1079"/>
            <p:cNvSpPr/>
            <p:nvPr/>
          </p:nvSpPr>
          <p:spPr>
            <a:xfrm>
              <a:off x="413455" y="0"/>
              <a:ext cx="7165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8" name="Shape 1080"/>
            <p:cNvSpPr/>
            <p:nvPr/>
          </p:nvSpPr>
          <p:spPr>
            <a:xfrm>
              <a:off x="413455" y="71571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9" name="Shape 1081"/>
            <p:cNvSpPr/>
            <p:nvPr/>
          </p:nvSpPr>
          <p:spPr>
            <a:xfrm>
              <a:off x="413455" y="143368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50" name="Shape 1082"/>
            <p:cNvSpPr/>
            <p:nvPr/>
          </p:nvSpPr>
          <p:spPr>
            <a:xfrm>
              <a:off x="413455" y="2149406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51" name="Shape 1083"/>
            <p:cNvSpPr/>
            <p:nvPr/>
          </p:nvSpPr>
          <p:spPr>
            <a:xfrm>
              <a:off x="413455" y="286737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52" name="Shape 1115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753" name="Shape 1116"/>
            <p:cNvSpPr txBox="1"/>
            <p:nvPr/>
          </p:nvSpPr>
          <p:spPr>
            <a:xfrm>
              <a:off x="0" y="9155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754" name="Shape 1117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755" name="Shape 1118"/>
            <p:cNvSpPr txBox="1"/>
            <p:nvPr/>
          </p:nvSpPr>
          <p:spPr>
            <a:xfrm>
              <a:off x="0" y="236727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756" name="Shape 1119"/>
            <p:cNvSpPr txBox="1"/>
            <p:nvPr/>
          </p:nvSpPr>
          <p:spPr>
            <a:xfrm>
              <a:off x="0" y="3085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757" name="Shape 1125"/>
            <p:cNvSpPr txBox="1"/>
            <p:nvPr/>
          </p:nvSpPr>
          <p:spPr>
            <a:xfrm>
              <a:off x="1739617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758" name="Shape 1126"/>
            <p:cNvSpPr txBox="1"/>
            <p:nvPr/>
          </p:nvSpPr>
          <p:spPr>
            <a:xfrm>
              <a:off x="3264748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759" name="Shape 1127"/>
            <p:cNvSpPr txBox="1"/>
            <p:nvPr/>
          </p:nvSpPr>
          <p:spPr>
            <a:xfrm>
              <a:off x="1735385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760" name="Shape 1128"/>
            <p:cNvSpPr txBox="1"/>
            <p:nvPr/>
          </p:nvSpPr>
          <p:spPr>
            <a:xfrm>
              <a:off x="1739617" y="233736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761" name="Shape 1129"/>
            <p:cNvSpPr txBox="1"/>
            <p:nvPr/>
          </p:nvSpPr>
          <p:spPr>
            <a:xfrm>
              <a:off x="3262207" y="235768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762" name="Shape 1130"/>
            <p:cNvSpPr txBox="1"/>
            <p:nvPr/>
          </p:nvSpPr>
          <p:spPr>
            <a:xfrm>
              <a:off x="1743005" y="310585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763" name="Shape 1131"/>
            <p:cNvSpPr/>
            <p:nvPr/>
          </p:nvSpPr>
          <p:spPr>
            <a:xfrm>
              <a:off x="1595121" y="803768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4" name="Shape 1132"/>
            <p:cNvSpPr/>
            <p:nvPr/>
          </p:nvSpPr>
          <p:spPr>
            <a:xfrm>
              <a:off x="2206978" y="80828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5" name="Shape 1133"/>
            <p:cNvSpPr/>
            <p:nvPr/>
          </p:nvSpPr>
          <p:spPr>
            <a:xfrm flipH="1">
              <a:off x="2206978" y="98439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6" name="Shape 1134"/>
            <p:cNvSpPr/>
            <p:nvPr/>
          </p:nvSpPr>
          <p:spPr>
            <a:xfrm>
              <a:off x="2310836" y="98439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7" name="Shape 1135"/>
            <p:cNvSpPr txBox="1"/>
            <p:nvPr/>
          </p:nvSpPr>
          <p:spPr>
            <a:xfrm>
              <a:off x="1737642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Shape 1400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总结</a:t>
            </a:r>
          </a:p>
        </p:txBody>
      </p:sp>
      <p:sp>
        <p:nvSpPr>
          <p:cNvPr id="1771" name="Shape 1401"/>
          <p:cNvSpPr txBox="1"/>
          <p:nvPr/>
        </p:nvSpPr>
        <p:spPr>
          <a:xfrm>
            <a:off x="54964" y="1613812"/>
            <a:ext cx="12815976" cy="512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1、使用邻接矩阵，inDegree、outDegree、index是O(|V|)，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                      addEdge和removeEdge是O(1)。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2、使用邻接表，inDegree是O(|E|)、outDegree、index是O(|V|)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                      addEdge和removeEdge是O(|V|)。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3、给出的代码没有实用价值，只用于体会如何实现复杂的数据结构。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因为使用顶点在数组的下标作为顶点的编号，不利于增加和删除顶点。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带权重有向图-邻接矩阵</a:t>
            </a:r>
          </a:p>
        </p:txBody>
      </p:sp>
      <p:grpSp>
        <p:nvGrpSpPr>
          <p:cNvPr id="1804" name="成组"/>
          <p:cNvGrpSpPr/>
          <p:nvPr/>
        </p:nvGrpSpPr>
        <p:grpSpPr>
          <a:xfrm>
            <a:off x="2380465" y="3844119"/>
            <a:ext cx="4301070" cy="3149975"/>
            <a:chOff x="0" y="0"/>
            <a:chExt cx="4301069" cy="3149974"/>
          </a:xfrm>
        </p:grpSpPr>
        <p:grpSp>
          <p:nvGrpSpPr>
            <p:cNvPr id="1796" name="Group 1078"/>
            <p:cNvGrpSpPr/>
            <p:nvPr/>
          </p:nvGrpSpPr>
          <p:grpSpPr>
            <a:xfrm>
              <a:off x="0" y="-1"/>
              <a:ext cx="4301070" cy="2867381"/>
              <a:chOff x="0" y="0"/>
              <a:chExt cx="4301069" cy="2867379"/>
            </a:xfrm>
          </p:grpSpPr>
          <p:sp>
            <p:nvSpPr>
              <p:cNvPr id="1774" name="Shape 1056"/>
              <p:cNvSpPr/>
              <p:nvPr/>
            </p:nvSpPr>
            <p:spPr>
              <a:xfrm flipH="1">
                <a:off x="280504" y="277488"/>
                <a:ext cx="1587502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75" name="Shape 1057"/>
              <p:cNvSpPr/>
              <p:nvPr/>
            </p:nvSpPr>
            <p:spPr>
              <a:xfrm>
                <a:off x="467507" y="1664929"/>
                <a:ext cx="561010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76" name="Shape 1058"/>
              <p:cNvSpPr/>
              <p:nvPr/>
            </p:nvSpPr>
            <p:spPr>
              <a:xfrm>
                <a:off x="1589524" y="2497392"/>
                <a:ext cx="1122021" cy="2261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77" name="Shape 1059"/>
              <p:cNvSpPr/>
              <p:nvPr/>
            </p:nvSpPr>
            <p:spPr>
              <a:xfrm flipH="1" flipV="1">
                <a:off x="2337535" y="554976"/>
                <a:ext cx="654512" cy="1664931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78" name="Shape 1060"/>
              <p:cNvSpPr/>
              <p:nvPr/>
            </p:nvSpPr>
            <p:spPr>
              <a:xfrm>
                <a:off x="2431038" y="277488"/>
                <a:ext cx="1496026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79" name="Shape 1061"/>
              <p:cNvSpPr/>
              <p:nvPr/>
            </p:nvSpPr>
            <p:spPr>
              <a:xfrm flipH="1" flipV="1">
                <a:off x="561009" y="1387441"/>
                <a:ext cx="2150536" cy="924962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80" name="Shape 1062"/>
              <p:cNvSpPr/>
              <p:nvPr/>
            </p:nvSpPr>
            <p:spPr>
              <a:xfrm flipH="1">
                <a:off x="1309020" y="1387440"/>
                <a:ext cx="2431040" cy="832467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1783" name="Group 1065"/>
              <p:cNvGrpSpPr/>
              <p:nvPr/>
            </p:nvGrpSpPr>
            <p:grpSpPr>
              <a:xfrm>
                <a:off x="1870029" y="-1"/>
                <a:ext cx="561011" cy="647475"/>
                <a:chOff x="0" y="0"/>
                <a:chExt cx="561009" cy="647473"/>
              </a:xfrm>
            </p:grpSpPr>
            <p:sp>
              <p:nvSpPr>
                <p:cNvPr id="1781" name="Shape 1063"/>
                <p:cNvSpPr/>
                <p:nvPr/>
              </p:nvSpPr>
              <p:spPr>
                <a:xfrm>
                  <a:off x="0" y="0"/>
                  <a:ext cx="561011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782" name="Shape 1064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1786" name="Group 1068"/>
              <p:cNvGrpSpPr/>
              <p:nvPr/>
            </p:nvGrpSpPr>
            <p:grpSpPr>
              <a:xfrm>
                <a:off x="0" y="1109952"/>
                <a:ext cx="561011" cy="647475"/>
                <a:chOff x="0" y="0"/>
                <a:chExt cx="561009" cy="647473"/>
              </a:xfrm>
            </p:grpSpPr>
            <p:sp>
              <p:nvSpPr>
                <p:cNvPr id="1784" name="Shape 1066"/>
                <p:cNvSpPr/>
                <p:nvPr/>
              </p:nvSpPr>
              <p:spPr>
                <a:xfrm>
                  <a:off x="0" y="0"/>
                  <a:ext cx="561011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785" name="Shape 1067"/>
                <p:cNvSpPr txBox="1"/>
                <p:nvPr/>
              </p:nvSpPr>
              <p:spPr>
                <a:xfrm>
                  <a:off x="46701" y="18885"/>
                  <a:ext cx="467607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1789" name="Group 1071"/>
              <p:cNvGrpSpPr/>
              <p:nvPr/>
            </p:nvGrpSpPr>
            <p:grpSpPr>
              <a:xfrm>
                <a:off x="3740057" y="1109952"/>
                <a:ext cx="561013" cy="647475"/>
                <a:chOff x="0" y="0"/>
                <a:chExt cx="561011" cy="647473"/>
              </a:xfrm>
            </p:grpSpPr>
            <p:sp>
              <p:nvSpPr>
                <p:cNvPr id="1787" name="Shape 1069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788" name="Shape 1070"/>
                <p:cNvSpPr txBox="1"/>
                <p:nvPr/>
              </p:nvSpPr>
              <p:spPr>
                <a:xfrm>
                  <a:off x="46700" y="18885"/>
                  <a:ext cx="467607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  <p:grpSp>
            <p:nvGrpSpPr>
              <p:cNvPr id="1792" name="Group 1074"/>
              <p:cNvGrpSpPr/>
              <p:nvPr/>
            </p:nvGrpSpPr>
            <p:grpSpPr>
              <a:xfrm>
                <a:off x="1028516" y="2219905"/>
                <a:ext cx="561013" cy="647475"/>
                <a:chOff x="0" y="0"/>
                <a:chExt cx="561011" cy="647473"/>
              </a:xfrm>
            </p:grpSpPr>
            <p:sp>
              <p:nvSpPr>
                <p:cNvPr id="1790" name="Shape 1072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791" name="Shape 1073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1795" name="Group 1077"/>
              <p:cNvGrpSpPr/>
              <p:nvPr/>
            </p:nvGrpSpPr>
            <p:grpSpPr>
              <a:xfrm>
                <a:off x="2711541" y="2219905"/>
                <a:ext cx="561013" cy="647475"/>
                <a:chOff x="0" y="0"/>
                <a:chExt cx="561011" cy="647473"/>
              </a:xfrm>
            </p:grpSpPr>
            <p:sp>
              <p:nvSpPr>
                <p:cNvPr id="1793" name="Shape 1075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794" name="Shape 1076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</p:grpSp>
        <p:sp>
          <p:nvSpPr>
            <p:cNvPr id="1797" name="9"/>
            <p:cNvSpPr txBox="1"/>
            <p:nvPr/>
          </p:nvSpPr>
          <p:spPr>
            <a:xfrm>
              <a:off x="654925" y="245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9</a:t>
              </a:r>
            </a:p>
          </p:txBody>
        </p:sp>
        <p:sp>
          <p:nvSpPr>
            <p:cNvPr id="1798" name="8"/>
            <p:cNvSpPr txBox="1"/>
            <p:nvPr/>
          </p:nvSpPr>
          <p:spPr>
            <a:xfrm>
              <a:off x="3271125" y="245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8</a:t>
              </a:r>
            </a:p>
          </p:txBody>
        </p:sp>
        <p:sp>
          <p:nvSpPr>
            <p:cNvPr id="1799" name="7"/>
            <p:cNvSpPr txBox="1"/>
            <p:nvPr/>
          </p:nvSpPr>
          <p:spPr>
            <a:xfrm>
              <a:off x="350125" y="2099359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7</a:t>
              </a:r>
            </a:p>
          </p:txBody>
        </p:sp>
        <p:sp>
          <p:nvSpPr>
            <p:cNvPr id="1800" name="6"/>
            <p:cNvSpPr txBox="1"/>
            <p:nvPr/>
          </p:nvSpPr>
          <p:spPr>
            <a:xfrm>
              <a:off x="1969235" y="2632759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6</a:t>
              </a:r>
            </a:p>
          </p:txBody>
        </p:sp>
        <p:sp>
          <p:nvSpPr>
            <p:cNvPr id="1801" name="5"/>
            <p:cNvSpPr txBox="1"/>
            <p:nvPr/>
          </p:nvSpPr>
          <p:spPr>
            <a:xfrm>
              <a:off x="2234663" y="880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5</a:t>
              </a:r>
            </a:p>
          </p:txBody>
        </p:sp>
        <p:sp>
          <p:nvSpPr>
            <p:cNvPr id="1802" name="4"/>
            <p:cNvSpPr txBox="1"/>
            <p:nvPr/>
          </p:nvSpPr>
          <p:spPr>
            <a:xfrm>
              <a:off x="1282163" y="11750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4</a:t>
              </a:r>
            </a:p>
          </p:txBody>
        </p:sp>
        <p:sp>
          <p:nvSpPr>
            <p:cNvPr id="1803" name="3"/>
            <p:cNvSpPr txBox="1"/>
            <p:nvPr/>
          </p:nvSpPr>
          <p:spPr>
            <a:xfrm>
              <a:off x="3072863" y="14544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3</a:t>
              </a:r>
            </a:p>
          </p:txBody>
        </p:sp>
      </p:grpSp>
      <p:grpSp>
        <p:nvGrpSpPr>
          <p:cNvPr id="1808" name="成组"/>
          <p:cNvGrpSpPr/>
          <p:nvPr/>
        </p:nvGrpSpPr>
        <p:grpSpPr>
          <a:xfrm>
            <a:off x="7127966" y="3452803"/>
            <a:ext cx="3439932" cy="3940703"/>
            <a:chOff x="25400" y="25400"/>
            <a:chExt cx="3439931" cy="3940701"/>
          </a:xfrm>
        </p:grpSpPr>
        <p:graphicFrame>
          <p:nvGraphicFramePr>
            <p:cNvPr id="1805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806" name="Table 1053"/>
            <p:cNvGraphicFramePr/>
            <p:nvPr/>
          </p:nvGraphicFramePr>
          <p:xfrm>
            <a:off x="25400" y="5290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807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9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8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7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6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5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2100">
                            <a:uFill>
                              <a:solidFill>
                                <a:srgbClr val="000000"/>
                              </a:solidFill>
                            </a:uFill>
                          </a:defRPr>
                        </a:pP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  <p:sp>
        <p:nvSpPr>
          <p:cNvPr id="1809" name="如何表示2个顶点之间没有边？"/>
          <p:cNvSpPr txBox="1"/>
          <p:nvPr/>
        </p:nvSpPr>
        <p:spPr>
          <a:xfrm>
            <a:off x="200629" y="1553928"/>
            <a:ext cx="5315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如何表示2个顶点之间没有边？</a:t>
            </a:r>
          </a:p>
        </p:txBody>
      </p:sp>
      <p:sp>
        <p:nvSpPr>
          <p:cNvPr id="1810" name="如果使用泛型，因为必须以某个引用类型参数化，所以可以使用null表示无边…"/>
          <p:cNvSpPr txBox="1"/>
          <p:nvPr/>
        </p:nvSpPr>
        <p:spPr>
          <a:xfrm>
            <a:off x="414031" y="2299850"/>
            <a:ext cx="10826023" cy="1065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/>
            </a:pPr>
            <a:r>
              <a:t>如果使用泛型，因为必须以某个引用类型参数化，所以可以使用null表示无边</a:t>
            </a:r>
          </a:p>
          <a:p>
            <a:pPr>
              <a:defRPr sz="2500"/>
            </a:pPr>
            <a:r>
              <a:t>如果使用基本类型，必须以某个特定值表示无边。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基于邻接矩阵的带权重有向图实现</a:t>
            </a:r>
          </a:p>
        </p:txBody>
      </p:sp>
      <p:sp>
        <p:nvSpPr>
          <p:cNvPr id="1813" name="public class AjacencyMatrixWeightedDirectedGraph&lt;T&gt; implements IGraph&lt;T&gt; {…"/>
          <p:cNvSpPr txBox="1"/>
          <p:nvPr/>
        </p:nvSpPr>
        <p:spPr>
          <a:xfrm>
            <a:off x="69056" y="1206764"/>
            <a:ext cx="12521680" cy="6986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AjacencyMatrixWeightedDirectedGraph&lt;T&gt;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IGraph&lt;T&gt; 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GraphKind </a:t>
            </a:r>
            <a:r>
              <a:t>graghKind</a:t>
            </a:r>
            <a:r>
              <a:rPr>
                <a:solidFill>
                  <a:srgbClr val="000000"/>
                </a:solidFill>
              </a:rPr>
              <a:t> = GraphKind.</a:t>
            </a:r>
            <a:r>
              <a:t>WeightedDirectedGraph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 </a:t>
            </a:r>
            <a:r>
              <a:t>noEdge</a:t>
            </a:r>
            <a:r>
              <a:rPr>
                <a:solidFill>
                  <a:srgbClr val="000000"/>
                </a:solidFill>
              </a:rPr>
              <a:t> = Double.</a:t>
            </a:r>
            <a:r>
              <a:t>POSITIVE_INFINITY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[][]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这里让权重为double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AjacencyMatrixWeightedDirectedGraph(T[]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                </a:t>
            </a:r>
            <a:r>
              <a:rPr>
                <a:solidFill>
                  <a:srgbClr val="4E9072"/>
                </a:solidFill>
              </a:rPr>
              <a:t>// 也可以把noEdge的值作为1个参数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n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vertices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Object[</a:t>
            </a:r>
            <a: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System.arraycopy(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n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 = </a:t>
            </a:r>
            <a: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t>double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++</a:t>
            </a:r>
            <a:r>
              <a:rPr>
                <a:solidFill>
                  <a:srgbClr val="7E504F"/>
                </a:solidFill>
              </a:rPr>
              <a:t>i</a:t>
            </a:r>
            <a:r>
              <a:t>)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Arrays.fill(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], </a:t>
            </a:r>
            <a:r>
              <a:rPr>
                <a:solidFill>
                  <a:srgbClr val="0326CC"/>
                </a:solidFill>
              </a:rPr>
              <a:t>noEdge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基于邻接矩阵的带权重有向图实现</a:t>
            </a:r>
          </a:p>
        </p:txBody>
      </p:sp>
      <p:sp>
        <p:nvSpPr>
          <p:cNvPr id="1816" name="public boolean addEdge(int u, int v) {…"/>
          <p:cNvSpPr txBox="1"/>
          <p:nvPr/>
        </p:nvSpPr>
        <p:spPr>
          <a:xfrm>
            <a:off x="1622643" y="1071558"/>
            <a:ext cx="8390819" cy="5589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addEdge(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UnsupportedOperationException();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removeEdge(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!= </a:t>
            </a:r>
            <a:r>
              <a:t>noEdge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 </a:t>
            </a:r>
            <a:r>
              <a:t>noEdge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--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基于邻接矩阵的带权重有向图实现</a:t>
            </a:r>
          </a:p>
        </p:txBody>
      </p:sp>
      <p:sp>
        <p:nvSpPr>
          <p:cNvPr id="1819" name="public void addWeightedEdge(int u, int v, double w) {…"/>
          <p:cNvSpPr txBox="1"/>
          <p:nvPr/>
        </p:nvSpPr>
        <p:spPr>
          <a:xfrm>
            <a:off x="1818869" y="1066313"/>
            <a:ext cx="9457868" cy="6199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addWeightedEdge(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w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== </a:t>
            </a:r>
            <a:r>
              <a:t>noEdge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w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++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w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已经有的边，认为是修改权重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getWeight(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基于邻接表的带权重有向图实现</a:t>
            </a:r>
          </a:p>
        </p:txBody>
      </p:sp>
      <p:grpSp>
        <p:nvGrpSpPr>
          <p:cNvPr id="1837" name="成组"/>
          <p:cNvGrpSpPr/>
          <p:nvPr/>
        </p:nvGrpSpPr>
        <p:grpSpPr>
          <a:xfrm>
            <a:off x="3361051" y="4385305"/>
            <a:ext cx="1394338" cy="3677430"/>
            <a:chOff x="0" y="0"/>
            <a:chExt cx="1394337" cy="3677429"/>
          </a:xfrm>
        </p:grpSpPr>
        <p:sp>
          <p:nvSpPr>
            <p:cNvPr id="1822" name="Shape 753"/>
            <p:cNvSpPr/>
            <p:nvPr/>
          </p:nvSpPr>
          <p:spPr>
            <a:xfrm>
              <a:off x="400754" y="0"/>
              <a:ext cx="993584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23" name="Shape 754"/>
            <p:cNvSpPr/>
            <p:nvPr/>
          </p:nvSpPr>
          <p:spPr>
            <a:xfrm>
              <a:off x="400755" y="715715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24" name="Shape 755"/>
            <p:cNvSpPr/>
            <p:nvPr/>
          </p:nvSpPr>
          <p:spPr>
            <a:xfrm>
              <a:off x="400755" y="1433689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25" name="Shape 756"/>
            <p:cNvSpPr/>
            <p:nvPr/>
          </p:nvSpPr>
          <p:spPr>
            <a:xfrm>
              <a:off x="400755" y="2149406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26" name="Shape 757"/>
            <p:cNvSpPr/>
            <p:nvPr/>
          </p:nvSpPr>
          <p:spPr>
            <a:xfrm>
              <a:off x="400755" y="2867380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27" name="Shape 809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828" name="Shape 810"/>
            <p:cNvSpPr txBox="1"/>
            <p:nvPr/>
          </p:nvSpPr>
          <p:spPr>
            <a:xfrm>
              <a:off x="0" y="9155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29" name="Shape 811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830" name="Shape 812"/>
            <p:cNvSpPr txBox="1"/>
            <p:nvPr/>
          </p:nvSpPr>
          <p:spPr>
            <a:xfrm>
              <a:off x="0" y="23672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831" name="Shape 813"/>
            <p:cNvSpPr txBox="1"/>
            <p:nvPr/>
          </p:nvSpPr>
          <p:spPr>
            <a:xfrm>
              <a:off x="0" y="30852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832" name="Shape 815"/>
            <p:cNvSpPr txBox="1"/>
            <p:nvPr/>
          </p:nvSpPr>
          <p:spPr>
            <a:xfrm>
              <a:off x="603954" y="140263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833" name="Shape 816"/>
            <p:cNvSpPr txBox="1"/>
            <p:nvPr/>
          </p:nvSpPr>
          <p:spPr>
            <a:xfrm>
              <a:off x="603954" y="880816"/>
              <a:ext cx="73660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834" name="Shape 817"/>
            <p:cNvSpPr txBox="1"/>
            <p:nvPr/>
          </p:nvSpPr>
          <p:spPr>
            <a:xfrm>
              <a:off x="603954" y="159878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835" name="Shape 818"/>
            <p:cNvSpPr txBox="1"/>
            <p:nvPr/>
          </p:nvSpPr>
          <p:spPr>
            <a:xfrm>
              <a:off x="603954" y="2212904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836" name="Shape 819"/>
            <p:cNvSpPr txBox="1"/>
            <p:nvPr/>
          </p:nvSpPr>
          <p:spPr>
            <a:xfrm>
              <a:off x="603954" y="303247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868" name="成组"/>
          <p:cNvGrpSpPr/>
          <p:nvPr/>
        </p:nvGrpSpPr>
        <p:grpSpPr>
          <a:xfrm>
            <a:off x="3919925" y="1179405"/>
            <a:ext cx="4301070" cy="3149975"/>
            <a:chOff x="0" y="0"/>
            <a:chExt cx="4301069" cy="3149974"/>
          </a:xfrm>
        </p:grpSpPr>
        <p:grpSp>
          <p:nvGrpSpPr>
            <p:cNvPr id="1860" name="Group 1078"/>
            <p:cNvGrpSpPr/>
            <p:nvPr/>
          </p:nvGrpSpPr>
          <p:grpSpPr>
            <a:xfrm>
              <a:off x="0" y="-1"/>
              <a:ext cx="4301070" cy="2867381"/>
              <a:chOff x="0" y="0"/>
              <a:chExt cx="4301069" cy="2867379"/>
            </a:xfrm>
          </p:grpSpPr>
          <p:sp>
            <p:nvSpPr>
              <p:cNvPr id="1838" name="Shape 1056"/>
              <p:cNvSpPr/>
              <p:nvPr/>
            </p:nvSpPr>
            <p:spPr>
              <a:xfrm flipH="1">
                <a:off x="280504" y="277488"/>
                <a:ext cx="1587502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39" name="Shape 1057"/>
              <p:cNvSpPr/>
              <p:nvPr/>
            </p:nvSpPr>
            <p:spPr>
              <a:xfrm>
                <a:off x="467507" y="1664929"/>
                <a:ext cx="561010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0" name="Shape 1058"/>
              <p:cNvSpPr/>
              <p:nvPr/>
            </p:nvSpPr>
            <p:spPr>
              <a:xfrm>
                <a:off x="1589524" y="2497392"/>
                <a:ext cx="1122021" cy="2261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1" name="Shape 1059"/>
              <p:cNvSpPr/>
              <p:nvPr/>
            </p:nvSpPr>
            <p:spPr>
              <a:xfrm flipH="1" flipV="1">
                <a:off x="2337535" y="554976"/>
                <a:ext cx="654512" cy="1664931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2" name="Shape 1060"/>
              <p:cNvSpPr/>
              <p:nvPr/>
            </p:nvSpPr>
            <p:spPr>
              <a:xfrm>
                <a:off x="2431038" y="277488"/>
                <a:ext cx="1496026" cy="832466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3" name="Shape 1061"/>
              <p:cNvSpPr/>
              <p:nvPr/>
            </p:nvSpPr>
            <p:spPr>
              <a:xfrm flipH="1" flipV="1">
                <a:off x="561009" y="1387441"/>
                <a:ext cx="2150536" cy="924962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4" name="Shape 1062"/>
              <p:cNvSpPr/>
              <p:nvPr/>
            </p:nvSpPr>
            <p:spPr>
              <a:xfrm flipH="1">
                <a:off x="1309020" y="1387440"/>
                <a:ext cx="2431040" cy="832467"/>
              </a:xfrm>
              <a:prstGeom prst="line">
                <a:avLst/>
              </a:prstGeom>
              <a:noFill/>
              <a:ln w="25400" cap="sq">
                <a:solidFill>
                  <a:srgbClr val="000066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1847" name="Group 1065"/>
              <p:cNvGrpSpPr/>
              <p:nvPr/>
            </p:nvGrpSpPr>
            <p:grpSpPr>
              <a:xfrm>
                <a:off x="1870029" y="-1"/>
                <a:ext cx="561011" cy="647475"/>
                <a:chOff x="0" y="0"/>
                <a:chExt cx="561009" cy="647473"/>
              </a:xfrm>
            </p:grpSpPr>
            <p:sp>
              <p:nvSpPr>
                <p:cNvPr id="1845" name="Shape 1063"/>
                <p:cNvSpPr/>
                <p:nvPr/>
              </p:nvSpPr>
              <p:spPr>
                <a:xfrm>
                  <a:off x="0" y="0"/>
                  <a:ext cx="561011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846" name="Shape 1064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1850" name="Group 1068"/>
              <p:cNvGrpSpPr/>
              <p:nvPr/>
            </p:nvGrpSpPr>
            <p:grpSpPr>
              <a:xfrm>
                <a:off x="0" y="1109952"/>
                <a:ext cx="561011" cy="647475"/>
                <a:chOff x="0" y="0"/>
                <a:chExt cx="561009" cy="647473"/>
              </a:xfrm>
            </p:grpSpPr>
            <p:sp>
              <p:nvSpPr>
                <p:cNvPr id="1848" name="Shape 1066"/>
                <p:cNvSpPr/>
                <p:nvPr/>
              </p:nvSpPr>
              <p:spPr>
                <a:xfrm>
                  <a:off x="0" y="0"/>
                  <a:ext cx="561011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849" name="Shape 1067"/>
                <p:cNvSpPr txBox="1"/>
                <p:nvPr/>
              </p:nvSpPr>
              <p:spPr>
                <a:xfrm>
                  <a:off x="46701" y="18885"/>
                  <a:ext cx="467607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1853" name="Group 1071"/>
              <p:cNvGrpSpPr/>
              <p:nvPr/>
            </p:nvGrpSpPr>
            <p:grpSpPr>
              <a:xfrm>
                <a:off x="3740057" y="1109952"/>
                <a:ext cx="561013" cy="647475"/>
                <a:chOff x="0" y="0"/>
                <a:chExt cx="561011" cy="647473"/>
              </a:xfrm>
            </p:grpSpPr>
            <p:sp>
              <p:nvSpPr>
                <p:cNvPr id="1851" name="Shape 1069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852" name="Shape 1070"/>
                <p:cNvSpPr txBox="1"/>
                <p:nvPr/>
              </p:nvSpPr>
              <p:spPr>
                <a:xfrm>
                  <a:off x="46700" y="18885"/>
                  <a:ext cx="467607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  <p:grpSp>
            <p:nvGrpSpPr>
              <p:cNvPr id="1856" name="Group 1074"/>
              <p:cNvGrpSpPr/>
              <p:nvPr/>
            </p:nvGrpSpPr>
            <p:grpSpPr>
              <a:xfrm>
                <a:off x="1028516" y="2219905"/>
                <a:ext cx="561013" cy="647475"/>
                <a:chOff x="0" y="0"/>
                <a:chExt cx="561011" cy="647473"/>
              </a:xfrm>
            </p:grpSpPr>
            <p:sp>
              <p:nvSpPr>
                <p:cNvPr id="1854" name="Shape 1072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855" name="Shape 1073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1859" name="Group 1077"/>
              <p:cNvGrpSpPr/>
              <p:nvPr/>
            </p:nvGrpSpPr>
            <p:grpSpPr>
              <a:xfrm>
                <a:off x="2711541" y="2219905"/>
                <a:ext cx="561013" cy="647475"/>
                <a:chOff x="0" y="0"/>
                <a:chExt cx="561011" cy="647473"/>
              </a:xfrm>
            </p:grpSpPr>
            <p:sp>
              <p:nvSpPr>
                <p:cNvPr id="1857" name="Shape 1075"/>
                <p:cNvSpPr/>
                <p:nvPr/>
              </p:nvSpPr>
              <p:spPr>
                <a:xfrm>
                  <a:off x="0" y="0"/>
                  <a:ext cx="561012" cy="647474"/>
                </a:xfrm>
                <a:prstGeom prst="ellipse">
                  <a:avLst/>
                </a:prstGeom>
                <a:solidFill>
                  <a:srgbClr val="A7E2FF">
                    <a:alpha val="50195"/>
                  </a:srgbClr>
                </a:solidFill>
                <a:ln w="25400" cap="sq">
                  <a:solidFill>
                    <a:srgbClr val="00008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1858" name="Shape 1076"/>
                <p:cNvSpPr txBox="1"/>
                <p:nvPr/>
              </p:nvSpPr>
              <p:spPr>
                <a:xfrm>
                  <a:off x="33387" y="18885"/>
                  <a:ext cx="494235" cy="614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 defTabSz="1295400">
                    <a:lnSpc>
                      <a:spcPct val="100000"/>
                    </a:lnSpc>
                    <a:spcBef>
                      <a:spcPts val="1900"/>
                    </a:spcBef>
                    <a:defRPr b="1" sz="3800">
                      <a:solidFill>
                        <a:srgbClr val="000066"/>
                      </a:solidFill>
                      <a:uFill>
                        <a:solidFill>
                          <a:srgbClr val="000066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</p:grpSp>
        <p:sp>
          <p:nvSpPr>
            <p:cNvPr id="1861" name="9"/>
            <p:cNvSpPr txBox="1"/>
            <p:nvPr/>
          </p:nvSpPr>
          <p:spPr>
            <a:xfrm>
              <a:off x="654925" y="245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9</a:t>
              </a:r>
            </a:p>
          </p:txBody>
        </p:sp>
        <p:sp>
          <p:nvSpPr>
            <p:cNvPr id="1862" name="8"/>
            <p:cNvSpPr txBox="1"/>
            <p:nvPr/>
          </p:nvSpPr>
          <p:spPr>
            <a:xfrm>
              <a:off x="3271125" y="245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8</a:t>
              </a:r>
            </a:p>
          </p:txBody>
        </p:sp>
        <p:sp>
          <p:nvSpPr>
            <p:cNvPr id="1863" name="7"/>
            <p:cNvSpPr txBox="1"/>
            <p:nvPr/>
          </p:nvSpPr>
          <p:spPr>
            <a:xfrm>
              <a:off x="350125" y="2099359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7</a:t>
              </a:r>
            </a:p>
          </p:txBody>
        </p:sp>
        <p:sp>
          <p:nvSpPr>
            <p:cNvPr id="1864" name="6"/>
            <p:cNvSpPr txBox="1"/>
            <p:nvPr/>
          </p:nvSpPr>
          <p:spPr>
            <a:xfrm>
              <a:off x="1969235" y="2632759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6</a:t>
              </a:r>
            </a:p>
          </p:txBody>
        </p:sp>
        <p:sp>
          <p:nvSpPr>
            <p:cNvPr id="1865" name="5"/>
            <p:cNvSpPr txBox="1"/>
            <p:nvPr/>
          </p:nvSpPr>
          <p:spPr>
            <a:xfrm>
              <a:off x="2234663" y="88015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5</a:t>
              </a:r>
            </a:p>
          </p:txBody>
        </p:sp>
        <p:sp>
          <p:nvSpPr>
            <p:cNvPr id="1866" name="4"/>
            <p:cNvSpPr txBox="1"/>
            <p:nvPr/>
          </p:nvSpPr>
          <p:spPr>
            <a:xfrm>
              <a:off x="1282163" y="11750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4</a:t>
              </a:r>
            </a:p>
          </p:txBody>
        </p:sp>
        <p:sp>
          <p:nvSpPr>
            <p:cNvPr id="1867" name="3"/>
            <p:cNvSpPr txBox="1"/>
            <p:nvPr/>
          </p:nvSpPr>
          <p:spPr>
            <a:xfrm>
              <a:off x="3072863" y="1454482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3</a:t>
              </a:r>
            </a:p>
          </p:txBody>
        </p:sp>
      </p:grpSp>
      <p:grpSp>
        <p:nvGrpSpPr>
          <p:cNvPr id="1924" name="成组"/>
          <p:cNvGrpSpPr/>
          <p:nvPr/>
        </p:nvGrpSpPr>
        <p:grpSpPr>
          <a:xfrm>
            <a:off x="6278083" y="4364002"/>
            <a:ext cx="4125592" cy="3704233"/>
            <a:chOff x="0" y="0"/>
            <a:chExt cx="4125591" cy="3704232"/>
          </a:xfrm>
        </p:grpSpPr>
        <p:sp>
          <p:nvSpPr>
            <p:cNvPr id="1869" name="Shape 763"/>
            <p:cNvSpPr/>
            <p:nvPr/>
          </p:nvSpPr>
          <p:spPr>
            <a:xfrm>
              <a:off x="2401802" y="334506"/>
              <a:ext cx="870181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0" name="Shape 765"/>
            <p:cNvSpPr/>
            <p:nvPr/>
          </p:nvSpPr>
          <p:spPr>
            <a:xfrm>
              <a:off x="2271748" y="49175"/>
              <a:ext cx="2367" cy="58317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1" name="Shape 766"/>
            <p:cNvSpPr/>
            <p:nvPr/>
          </p:nvSpPr>
          <p:spPr>
            <a:xfrm>
              <a:off x="770218" y="334506"/>
              <a:ext cx="872545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2" name="Shape 775"/>
            <p:cNvSpPr/>
            <p:nvPr/>
          </p:nvSpPr>
          <p:spPr>
            <a:xfrm>
              <a:off x="770215" y="1097312"/>
              <a:ext cx="873213" cy="232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3" name="Shape 787"/>
            <p:cNvSpPr/>
            <p:nvPr/>
          </p:nvSpPr>
          <p:spPr>
            <a:xfrm>
              <a:off x="2401800" y="2602497"/>
              <a:ext cx="870181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4" name="Shape 789"/>
            <p:cNvSpPr/>
            <p:nvPr/>
          </p:nvSpPr>
          <p:spPr>
            <a:xfrm>
              <a:off x="2320778" y="2327317"/>
              <a:ext cx="2367" cy="562430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5" name="Shape 790"/>
            <p:cNvSpPr/>
            <p:nvPr/>
          </p:nvSpPr>
          <p:spPr>
            <a:xfrm>
              <a:off x="770217" y="2602497"/>
              <a:ext cx="872545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6" name="Shape 799"/>
            <p:cNvSpPr/>
            <p:nvPr/>
          </p:nvSpPr>
          <p:spPr>
            <a:xfrm>
              <a:off x="770215" y="3309389"/>
              <a:ext cx="872545" cy="231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7" name="Shape 753"/>
            <p:cNvSpPr/>
            <p:nvPr/>
          </p:nvSpPr>
          <p:spPr>
            <a:xfrm>
              <a:off x="432322" y="0"/>
              <a:ext cx="700726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8" name="Shape 754"/>
            <p:cNvSpPr/>
            <p:nvPr/>
          </p:nvSpPr>
          <p:spPr>
            <a:xfrm>
              <a:off x="432322" y="736974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9" name="Shape 755"/>
            <p:cNvSpPr/>
            <p:nvPr/>
          </p:nvSpPr>
          <p:spPr>
            <a:xfrm>
              <a:off x="432322" y="1476265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80" name="Shape 756"/>
            <p:cNvSpPr/>
            <p:nvPr/>
          </p:nvSpPr>
          <p:spPr>
            <a:xfrm>
              <a:off x="432322" y="2213232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81" name="Shape 757"/>
            <p:cNvSpPr/>
            <p:nvPr/>
          </p:nvSpPr>
          <p:spPr>
            <a:xfrm>
              <a:off x="432322" y="2952523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82" name="Shape 809"/>
            <p:cNvSpPr txBox="1"/>
            <p:nvPr/>
          </p:nvSpPr>
          <p:spPr>
            <a:xfrm>
              <a:off x="0" y="98026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883" name="Shape 810"/>
            <p:cNvSpPr txBox="1"/>
            <p:nvPr/>
          </p:nvSpPr>
          <p:spPr>
            <a:xfrm>
              <a:off x="0" y="861987"/>
              <a:ext cx="761726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84" name="Shape 811"/>
            <p:cNvSpPr txBox="1"/>
            <p:nvPr/>
          </p:nvSpPr>
          <p:spPr>
            <a:xfrm>
              <a:off x="0" y="1577127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885" name="Shape 812"/>
            <p:cNvSpPr txBox="1"/>
            <p:nvPr/>
          </p:nvSpPr>
          <p:spPr>
            <a:xfrm>
              <a:off x="0" y="2331443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886" name="Shape 813"/>
            <p:cNvSpPr txBox="1"/>
            <p:nvPr/>
          </p:nvSpPr>
          <p:spPr>
            <a:xfrm>
              <a:off x="0" y="3045333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grpSp>
          <p:nvGrpSpPr>
            <p:cNvPr id="1889" name="成组"/>
            <p:cNvGrpSpPr/>
            <p:nvPr/>
          </p:nvGrpSpPr>
          <p:grpSpPr>
            <a:xfrm>
              <a:off x="1642343" y="44170"/>
              <a:ext cx="870180" cy="583176"/>
              <a:chOff x="0" y="0"/>
              <a:chExt cx="870179" cy="583174"/>
            </a:xfrm>
          </p:grpSpPr>
          <p:sp>
            <p:nvSpPr>
              <p:cNvPr id="1887" name="Shape 764"/>
              <p:cNvSpPr/>
              <p:nvPr/>
            </p:nvSpPr>
            <p:spPr>
              <a:xfrm>
                <a:off x="0" y="0"/>
                <a:ext cx="870180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88" name="Shape 821"/>
              <p:cNvSpPr txBox="1"/>
              <p:nvPr/>
            </p:nvSpPr>
            <p:spPr>
              <a:xfrm>
                <a:off x="1213" y="8735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1, 9</a:t>
                </a:r>
              </a:p>
            </p:txBody>
          </p:sp>
        </p:grpSp>
        <p:grpSp>
          <p:nvGrpSpPr>
            <p:cNvPr id="1895" name="成组"/>
            <p:cNvGrpSpPr/>
            <p:nvPr/>
          </p:nvGrpSpPr>
          <p:grpSpPr>
            <a:xfrm>
              <a:off x="3221123" y="44170"/>
              <a:ext cx="880839" cy="588181"/>
              <a:chOff x="0" y="0"/>
              <a:chExt cx="880837" cy="588180"/>
            </a:xfrm>
          </p:grpSpPr>
          <p:sp>
            <p:nvSpPr>
              <p:cNvPr id="1890" name="Shape 761"/>
              <p:cNvSpPr/>
              <p:nvPr/>
            </p:nvSpPr>
            <p:spPr>
              <a:xfrm>
                <a:off x="8294" y="0"/>
                <a:ext cx="872544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91" name="Shape 762"/>
              <p:cNvSpPr/>
              <p:nvPr/>
            </p:nvSpPr>
            <p:spPr>
              <a:xfrm>
                <a:off x="639648" y="5005"/>
                <a:ext cx="2365" cy="58317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92" name="Shape 767"/>
              <p:cNvSpPr/>
              <p:nvPr/>
            </p:nvSpPr>
            <p:spPr>
              <a:xfrm flipH="1">
                <a:off x="639648" y="200231"/>
                <a:ext cx="108773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93" name="Shape 768"/>
              <p:cNvSpPr/>
              <p:nvPr/>
            </p:nvSpPr>
            <p:spPr>
              <a:xfrm>
                <a:off x="748418" y="200231"/>
                <a:ext cx="108775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94" name="Shape 822"/>
              <p:cNvSpPr txBox="1"/>
              <p:nvPr/>
            </p:nvSpPr>
            <p:spPr>
              <a:xfrm>
                <a:off x="0" y="8660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4, 8</a:t>
                </a:r>
              </a:p>
            </p:txBody>
          </p:sp>
        </p:grpSp>
        <p:sp>
          <p:nvSpPr>
            <p:cNvPr id="1896" name="Shape 781"/>
            <p:cNvSpPr/>
            <p:nvPr/>
          </p:nvSpPr>
          <p:spPr>
            <a:xfrm>
              <a:off x="770218" y="1853789"/>
              <a:ext cx="872545" cy="249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902" name="成组"/>
            <p:cNvGrpSpPr/>
            <p:nvPr/>
          </p:nvGrpSpPr>
          <p:grpSpPr>
            <a:xfrm>
              <a:off x="1642343" y="1558487"/>
              <a:ext cx="876009" cy="585856"/>
              <a:chOff x="0" y="0"/>
              <a:chExt cx="876008" cy="585855"/>
            </a:xfrm>
          </p:grpSpPr>
          <p:sp>
            <p:nvSpPr>
              <p:cNvPr id="1897" name="Shape 776"/>
              <p:cNvSpPr/>
              <p:nvPr/>
            </p:nvSpPr>
            <p:spPr>
              <a:xfrm>
                <a:off x="3464" y="0"/>
                <a:ext cx="872545" cy="58087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98" name="Shape 777"/>
              <p:cNvSpPr/>
              <p:nvPr/>
            </p:nvSpPr>
            <p:spPr>
              <a:xfrm>
                <a:off x="634816" y="4984"/>
                <a:ext cx="2367" cy="58087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99" name="Shape 782"/>
              <p:cNvSpPr/>
              <p:nvPr/>
            </p:nvSpPr>
            <p:spPr>
              <a:xfrm flipH="1">
                <a:off x="634817" y="199438"/>
                <a:ext cx="108775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00" name="Shape 783"/>
              <p:cNvSpPr/>
              <p:nvPr/>
            </p:nvSpPr>
            <p:spPr>
              <a:xfrm>
                <a:off x="756289" y="174038"/>
                <a:ext cx="108773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01" name="Shape 826"/>
              <p:cNvSpPr txBox="1"/>
              <p:nvPr/>
            </p:nvSpPr>
            <p:spPr>
              <a:xfrm>
                <a:off x="0" y="6335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3, 6</a:t>
                </a:r>
              </a:p>
            </p:txBody>
          </p:sp>
        </p:grpSp>
        <p:grpSp>
          <p:nvGrpSpPr>
            <p:cNvPr id="1905" name="成组"/>
            <p:cNvGrpSpPr/>
            <p:nvPr/>
          </p:nvGrpSpPr>
          <p:grpSpPr>
            <a:xfrm>
              <a:off x="1642343" y="2328301"/>
              <a:ext cx="870180" cy="562431"/>
              <a:chOff x="0" y="0"/>
              <a:chExt cx="870179" cy="562429"/>
            </a:xfrm>
          </p:grpSpPr>
          <p:sp>
            <p:nvSpPr>
              <p:cNvPr id="1903" name="Shape 788"/>
              <p:cNvSpPr/>
              <p:nvPr/>
            </p:nvSpPr>
            <p:spPr>
              <a:xfrm>
                <a:off x="0" y="0"/>
                <a:ext cx="870180" cy="56243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04" name="Shape 827"/>
              <p:cNvSpPr txBox="1"/>
              <p:nvPr/>
            </p:nvSpPr>
            <p:spPr>
              <a:xfrm>
                <a:off x="5611" y="8369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0, 5</a:t>
                </a:r>
              </a:p>
            </p:txBody>
          </p:sp>
        </p:grpSp>
        <p:grpSp>
          <p:nvGrpSpPr>
            <p:cNvPr id="1911" name="成组"/>
            <p:cNvGrpSpPr/>
            <p:nvPr/>
          </p:nvGrpSpPr>
          <p:grpSpPr>
            <a:xfrm>
              <a:off x="3221123" y="2327318"/>
              <a:ext cx="904469" cy="563414"/>
              <a:chOff x="0" y="0"/>
              <a:chExt cx="904468" cy="563413"/>
            </a:xfrm>
          </p:grpSpPr>
          <p:sp>
            <p:nvSpPr>
              <p:cNvPr id="1906" name="Shape 785"/>
              <p:cNvSpPr/>
              <p:nvPr/>
            </p:nvSpPr>
            <p:spPr>
              <a:xfrm>
                <a:off x="31924" y="983"/>
                <a:ext cx="872545" cy="56243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07" name="Shape 786"/>
              <p:cNvSpPr/>
              <p:nvPr/>
            </p:nvSpPr>
            <p:spPr>
              <a:xfrm>
                <a:off x="663278" y="0"/>
                <a:ext cx="2366" cy="562429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08" name="Shape 791"/>
              <p:cNvSpPr/>
              <p:nvPr/>
            </p:nvSpPr>
            <p:spPr>
              <a:xfrm flipH="1">
                <a:off x="663277" y="188280"/>
                <a:ext cx="108774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09" name="Shape 792"/>
              <p:cNvSpPr/>
              <p:nvPr/>
            </p:nvSpPr>
            <p:spPr>
              <a:xfrm>
                <a:off x="772048" y="188280"/>
                <a:ext cx="108775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0" name="Shape 828"/>
              <p:cNvSpPr txBox="1"/>
              <p:nvPr/>
            </p:nvSpPr>
            <p:spPr>
              <a:xfrm>
                <a:off x="0" y="79445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1,4</a:t>
                </a:r>
              </a:p>
            </p:txBody>
          </p:sp>
        </p:grpSp>
        <p:grpSp>
          <p:nvGrpSpPr>
            <p:cNvPr id="1917" name="成组"/>
            <p:cNvGrpSpPr/>
            <p:nvPr/>
          </p:nvGrpSpPr>
          <p:grpSpPr>
            <a:xfrm>
              <a:off x="1642343" y="3046636"/>
              <a:ext cx="872544" cy="540792"/>
              <a:chOff x="0" y="0"/>
              <a:chExt cx="872543" cy="540791"/>
            </a:xfrm>
          </p:grpSpPr>
          <p:sp>
            <p:nvSpPr>
              <p:cNvPr id="1912" name="Shape 794"/>
              <p:cNvSpPr/>
              <p:nvPr/>
            </p:nvSpPr>
            <p:spPr>
              <a:xfrm>
                <a:off x="0" y="0"/>
                <a:ext cx="872544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3" name="Shape 795"/>
              <p:cNvSpPr/>
              <p:nvPr/>
            </p:nvSpPr>
            <p:spPr>
              <a:xfrm>
                <a:off x="631353" y="4628"/>
                <a:ext cx="2366" cy="53616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4" name="Shape 800"/>
              <p:cNvSpPr/>
              <p:nvPr/>
            </p:nvSpPr>
            <p:spPr>
              <a:xfrm flipH="1">
                <a:off x="631353" y="185192"/>
                <a:ext cx="108774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5" name="Shape 801"/>
              <p:cNvSpPr/>
              <p:nvPr/>
            </p:nvSpPr>
            <p:spPr>
              <a:xfrm>
                <a:off x="740124" y="185192"/>
                <a:ext cx="108775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6" name="Shape 830"/>
              <p:cNvSpPr txBox="1"/>
              <p:nvPr/>
            </p:nvSpPr>
            <p:spPr>
              <a:xfrm>
                <a:off x="922" y="58991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2,3</a:t>
                </a:r>
              </a:p>
            </p:txBody>
          </p:sp>
        </p:grpSp>
        <p:grpSp>
          <p:nvGrpSpPr>
            <p:cNvPr id="1923" name="成组"/>
            <p:cNvGrpSpPr/>
            <p:nvPr/>
          </p:nvGrpSpPr>
          <p:grpSpPr>
            <a:xfrm>
              <a:off x="1642343" y="814332"/>
              <a:ext cx="873212" cy="540811"/>
              <a:chOff x="0" y="0"/>
              <a:chExt cx="873211" cy="540810"/>
            </a:xfrm>
          </p:grpSpPr>
          <p:sp>
            <p:nvSpPr>
              <p:cNvPr id="1918" name="Shape 833"/>
              <p:cNvSpPr/>
              <p:nvPr/>
            </p:nvSpPr>
            <p:spPr>
              <a:xfrm>
                <a:off x="0" y="0"/>
                <a:ext cx="873212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9" name="Shape 834"/>
              <p:cNvSpPr/>
              <p:nvPr/>
            </p:nvSpPr>
            <p:spPr>
              <a:xfrm>
                <a:off x="630684" y="4648"/>
                <a:ext cx="2337" cy="53616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20" name="Shape 836"/>
              <p:cNvSpPr/>
              <p:nvPr/>
            </p:nvSpPr>
            <p:spPr>
              <a:xfrm flipH="1">
                <a:off x="630684" y="185984"/>
                <a:ext cx="107402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21" name="Shape 837"/>
              <p:cNvSpPr/>
              <p:nvPr/>
            </p:nvSpPr>
            <p:spPr>
              <a:xfrm>
                <a:off x="740127" y="185984"/>
                <a:ext cx="109738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22" name="Shape 838"/>
              <p:cNvSpPr txBox="1"/>
              <p:nvPr/>
            </p:nvSpPr>
            <p:spPr>
              <a:xfrm>
                <a:off x="6383" y="40102"/>
                <a:ext cx="761726" cy="44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2, 7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基于邻接表的带权重有向图实现</a:t>
            </a:r>
          </a:p>
        </p:txBody>
      </p:sp>
      <p:sp>
        <p:nvSpPr>
          <p:cNvPr id="1927" name="private static class Pair{…"/>
          <p:cNvSpPr txBox="1"/>
          <p:nvPr/>
        </p:nvSpPr>
        <p:spPr>
          <a:xfrm>
            <a:off x="986067" y="1555279"/>
            <a:ext cx="10864999" cy="5818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>
                <a:solidFill>
                  <a:srgbClr val="000000"/>
                </a:solidFill>
              </a:rPr>
              <a:t> Pair{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double</a:t>
            </a:r>
            <a:r>
              <a:rPr>
                <a:solidFill>
                  <a:srgbClr val="000000"/>
                </a:solidFill>
              </a:rPr>
              <a:t> </a:t>
            </a:r>
            <a:r>
              <a:t>weight</a:t>
            </a:r>
            <a:r>
              <a:rPr>
                <a:solidFill>
                  <a:srgbClr val="000000"/>
                </a:solidFill>
              </a:rPr>
              <a:t>;</a:t>
            </a:r>
            <a:r>
              <a:t>	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Pair(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w</a:t>
            </a:r>
            <a:r>
              <a:t>){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weight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w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	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 equals(Object </a:t>
            </a:r>
            <a:r>
              <a:rPr>
                <a:solidFill>
                  <a:srgbClr val="7E504F"/>
                </a:solidFill>
              </a:rPr>
              <a:t>o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//LinkedList的indexOf要使用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if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7E504F"/>
                </a:solidFill>
              </a:rPr>
              <a:t>o</a:t>
            </a:r>
            <a:r>
              <a:rPr>
                <a:solidFill>
                  <a:srgbClr val="000000"/>
                </a:solidFill>
              </a:rPr>
              <a:t> </a:t>
            </a:r>
            <a:r>
              <a:t>instanceof</a:t>
            </a:r>
            <a:r>
              <a:rPr>
                <a:solidFill>
                  <a:srgbClr val="000000"/>
                </a:solidFill>
              </a:rPr>
              <a:t> Pair)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this</a:t>
            </a:r>
            <a:r>
              <a:t>.</a:t>
            </a:r>
            <a:r>
              <a:rPr>
                <a:solidFill>
                  <a:srgbClr val="0326CC"/>
                </a:solidFill>
              </a:rPr>
              <a:t>vertex</a:t>
            </a:r>
            <a:r>
              <a:t> == ((Pair)</a:t>
            </a:r>
            <a:r>
              <a:rPr>
                <a:solidFill>
                  <a:srgbClr val="7E504F"/>
                </a:solidFill>
              </a:rPr>
              <a:t>o</a:t>
            </a:r>
            <a:r>
              <a:t>).</a:t>
            </a:r>
            <a:r>
              <a:rPr>
                <a:solidFill>
                  <a:srgbClr val="0326CC"/>
                </a:solidFill>
              </a:rPr>
              <a:t>vertex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public class LinkedListWeightedDirectedGraph&lt;T&gt; implements IGraph&lt;T&gt; {…"/>
          <p:cNvSpPr txBox="1"/>
          <p:nvPr/>
        </p:nvSpPr>
        <p:spPr>
          <a:xfrm>
            <a:off x="192345" y="1304148"/>
            <a:ext cx="12414909" cy="615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LinkedListWeightedDirectedGraph&lt;T&gt;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IGraph&lt;T&gt; {</a:t>
            </a:r>
          </a:p>
          <a:p>
            <a:pPr indent="0"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GraphKind </a:t>
            </a:r>
            <a:r>
              <a:t>graghKind</a:t>
            </a:r>
            <a:r>
              <a:rPr>
                <a:solidFill>
                  <a:srgbClr val="000000"/>
                </a:solidFill>
              </a:rPr>
              <a:t> = GraphKind.</a:t>
            </a:r>
            <a:r>
              <a:t>WeightedDirectedGraph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rPr>
                <a:solidFill>
                  <a:srgbClr val="000000"/>
                </a:solidFill>
              </a:rPr>
              <a:t> </a:t>
            </a:r>
            <a:r>
              <a:t>noEdge</a:t>
            </a:r>
            <a:r>
              <a:rPr>
                <a:solidFill>
                  <a:srgbClr val="000000"/>
                </a:solidFill>
              </a:rPr>
              <a:t> = Double.</a:t>
            </a:r>
            <a:r>
              <a:t>POSITIVE_INFINITY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;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ArrayList&lt;LinkedList&lt;Pair&gt;&gt;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表套表</a:t>
            </a:r>
          </a:p>
          <a:p>
            <a:pPr indent="0"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LinkedListWeightedDirectedGraph(T[]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n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vertices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Object[</a:t>
            </a:r>
            <a: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System.arraycopy(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n</a:t>
            </a:r>
            <a:r>
              <a:t>);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ArrayList&lt;&gt;(</a:t>
            </a:r>
            <a:r>
              <a:rPr>
                <a:solidFill>
                  <a:srgbClr val="0326CC"/>
                </a:solidFill>
              </a:rPr>
              <a:t>n</a:t>
            </a:r>
            <a:r>
              <a:t>);</a:t>
            </a:r>
          </a:p>
          <a:p>
            <a:pPr indent="0">
              <a:lnSpc>
                <a:spcPct val="100000"/>
              </a:lnSpc>
              <a:defRPr sz="21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n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.add(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LinkedList&lt;&gt;());</a:t>
            </a:r>
          </a:p>
          <a:p>
            <a:pPr indent="0">
              <a:lnSpc>
                <a:spcPct val="100000"/>
              </a:lnSpc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1985" name="成组"/>
          <p:cNvGrpSpPr/>
          <p:nvPr/>
        </p:nvGrpSpPr>
        <p:grpSpPr>
          <a:xfrm>
            <a:off x="8590076" y="5484098"/>
            <a:ext cx="4125593" cy="3704233"/>
            <a:chOff x="0" y="0"/>
            <a:chExt cx="4125591" cy="3704232"/>
          </a:xfrm>
        </p:grpSpPr>
        <p:sp>
          <p:nvSpPr>
            <p:cNvPr id="1930" name="Shape 763"/>
            <p:cNvSpPr/>
            <p:nvPr/>
          </p:nvSpPr>
          <p:spPr>
            <a:xfrm>
              <a:off x="2401802" y="334506"/>
              <a:ext cx="870181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1" name="Shape 765"/>
            <p:cNvSpPr/>
            <p:nvPr/>
          </p:nvSpPr>
          <p:spPr>
            <a:xfrm>
              <a:off x="2271748" y="49175"/>
              <a:ext cx="2367" cy="58317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2" name="Shape 766"/>
            <p:cNvSpPr/>
            <p:nvPr/>
          </p:nvSpPr>
          <p:spPr>
            <a:xfrm>
              <a:off x="770218" y="334506"/>
              <a:ext cx="872545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3" name="Shape 775"/>
            <p:cNvSpPr/>
            <p:nvPr/>
          </p:nvSpPr>
          <p:spPr>
            <a:xfrm>
              <a:off x="770215" y="1097312"/>
              <a:ext cx="873213" cy="232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4" name="Shape 787"/>
            <p:cNvSpPr/>
            <p:nvPr/>
          </p:nvSpPr>
          <p:spPr>
            <a:xfrm>
              <a:off x="2401800" y="2602497"/>
              <a:ext cx="870181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5" name="Shape 789"/>
            <p:cNvSpPr/>
            <p:nvPr/>
          </p:nvSpPr>
          <p:spPr>
            <a:xfrm>
              <a:off x="2320778" y="2327317"/>
              <a:ext cx="2367" cy="562430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6" name="Shape 790"/>
            <p:cNvSpPr/>
            <p:nvPr/>
          </p:nvSpPr>
          <p:spPr>
            <a:xfrm>
              <a:off x="770217" y="2602497"/>
              <a:ext cx="872545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7" name="Shape 799"/>
            <p:cNvSpPr/>
            <p:nvPr/>
          </p:nvSpPr>
          <p:spPr>
            <a:xfrm>
              <a:off x="770215" y="3309389"/>
              <a:ext cx="872545" cy="231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8" name="Shape 753"/>
            <p:cNvSpPr/>
            <p:nvPr/>
          </p:nvSpPr>
          <p:spPr>
            <a:xfrm>
              <a:off x="432322" y="0"/>
              <a:ext cx="700726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9" name="Shape 754"/>
            <p:cNvSpPr/>
            <p:nvPr/>
          </p:nvSpPr>
          <p:spPr>
            <a:xfrm>
              <a:off x="432322" y="736974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40" name="Shape 755"/>
            <p:cNvSpPr/>
            <p:nvPr/>
          </p:nvSpPr>
          <p:spPr>
            <a:xfrm>
              <a:off x="432322" y="1476265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41" name="Shape 756"/>
            <p:cNvSpPr/>
            <p:nvPr/>
          </p:nvSpPr>
          <p:spPr>
            <a:xfrm>
              <a:off x="432322" y="2213232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42" name="Shape 757"/>
            <p:cNvSpPr/>
            <p:nvPr/>
          </p:nvSpPr>
          <p:spPr>
            <a:xfrm>
              <a:off x="432322" y="2952523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43" name="Shape 809"/>
            <p:cNvSpPr txBox="1"/>
            <p:nvPr/>
          </p:nvSpPr>
          <p:spPr>
            <a:xfrm>
              <a:off x="0" y="98026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944" name="Shape 810"/>
            <p:cNvSpPr txBox="1"/>
            <p:nvPr/>
          </p:nvSpPr>
          <p:spPr>
            <a:xfrm>
              <a:off x="0" y="861987"/>
              <a:ext cx="761726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945" name="Shape 811"/>
            <p:cNvSpPr txBox="1"/>
            <p:nvPr/>
          </p:nvSpPr>
          <p:spPr>
            <a:xfrm>
              <a:off x="0" y="1577127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946" name="Shape 812"/>
            <p:cNvSpPr txBox="1"/>
            <p:nvPr/>
          </p:nvSpPr>
          <p:spPr>
            <a:xfrm>
              <a:off x="0" y="2331443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947" name="Shape 813"/>
            <p:cNvSpPr txBox="1"/>
            <p:nvPr/>
          </p:nvSpPr>
          <p:spPr>
            <a:xfrm>
              <a:off x="0" y="3045333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grpSp>
          <p:nvGrpSpPr>
            <p:cNvPr id="1950" name="成组"/>
            <p:cNvGrpSpPr/>
            <p:nvPr/>
          </p:nvGrpSpPr>
          <p:grpSpPr>
            <a:xfrm>
              <a:off x="1642343" y="44170"/>
              <a:ext cx="870180" cy="583176"/>
              <a:chOff x="0" y="0"/>
              <a:chExt cx="870179" cy="583174"/>
            </a:xfrm>
          </p:grpSpPr>
          <p:sp>
            <p:nvSpPr>
              <p:cNvPr id="1948" name="Shape 764"/>
              <p:cNvSpPr/>
              <p:nvPr/>
            </p:nvSpPr>
            <p:spPr>
              <a:xfrm>
                <a:off x="0" y="0"/>
                <a:ext cx="870180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49" name="Shape 821"/>
              <p:cNvSpPr txBox="1"/>
              <p:nvPr/>
            </p:nvSpPr>
            <p:spPr>
              <a:xfrm>
                <a:off x="1213" y="8735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1, 9</a:t>
                </a:r>
              </a:p>
            </p:txBody>
          </p:sp>
        </p:grpSp>
        <p:grpSp>
          <p:nvGrpSpPr>
            <p:cNvPr id="1956" name="成组"/>
            <p:cNvGrpSpPr/>
            <p:nvPr/>
          </p:nvGrpSpPr>
          <p:grpSpPr>
            <a:xfrm>
              <a:off x="3221123" y="44170"/>
              <a:ext cx="880839" cy="588181"/>
              <a:chOff x="0" y="0"/>
              <a:chExt cx="880837" cy="588180"/>
            </a:xfrm>
          </p:grpSpPr>
          <p:sp>
            <p:nvSpPr>
              <p:cNvPr id="1951" name="Shape 761"/>
              <p:cNvSpPr/>
              <p:nvPr/>
            </p:nvSpPr>
            <p:spPr>
              <a:xfrm>
                <a:off x="8294" y="0"/>
                <a:ext cx="872544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52" name="Shape 762"/>
              <p:cNvSpPr/>
              <p:nvPr/>
            </p:nvSpPr>
            <p:spPr>
              <a:xfrm>
                <a:off x="639648" y="5005"/>
                <a:ext cx="2365" cy="58317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53" name="Shape 767"/>
              <p:cNvSpPr/>
              <p:nvPr/>
            </p:nvSpPr>
            <p:spPr>
              <a:xfrm flipH="1">
                <a:off x="639648" y="200231"/>
                <a:ext cx="108773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54" name="Shape 768"/>
              <p:cNvSpPr/>
              <p:nvPr/>
            </p:nvSpPr>
            <p:spPr>
              <a:xfrm>
                <a:off x="748418" y="200231"/>
                <a:ext cx="108775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55" name="Shape 822"/>
              <p:cNvSpPr txBox="1"/>
              <p:nvPr/>
            </p:nvSpPr>
            <p:spPr>
              <a:xfrm>
                <a:off x="0" y="8660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4, 8</a:t>
                </a:r>
              </a:p>
            </p:txBody>
          </p:sp>
        </p:grpSp>
        <p:sp>
          <p:nvSpPr>
            <p:cNvPr id="1957" name="Shape 781"/>
            <p:cNvSpPr/>
            <p:nvPr/>
          </p:nvSpPr>
          <p:spPr>
            <a:xfrm>
              <a:off x="770218" y="1853789"/>
              <a:ext cx="872545" cy="249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963" name="成组"/>
            <p:cNvGrpSpPr/>
            <p:nvPr/>
          </p:nvGrpSpPr>
          <p:grpSpPr>
            <a:xfrm>
              <a:off x="1642343" y="1558487"/>
              <a:ext cx="876009" cy="585856"/>
              <a:chOff x="0" y="0"/>
              <a:chExt cx="876008" cy="585855"/>
            </a:xfrm>
          </p:grpSpPr>
          <p:sp>
            <p:nvSpPr>
              <p:cNvPr id="1958" name="Shape 776"/>
              <p:cNvSpPr/>
              <p:nvPr/>
            </p:nvSpPr>
            <p:spPr>
              <a:xfrm>
                <a:off x="3464" y="0"/>
                <a:ext cx="872545" cy="58087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59" name="Shape 777"/>
              <p:cNvSpPr/>
              <p:nvPr/>
            </p:nvSpPr>
            <p:spPr>
              <a:xfrm>
                <a:off x="634816" y="4984"/>
                <a:ext cx="2367" cy="58087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60" name="Shape 782"/>
              <p:cNvSpPr/>
              <p:nvPr/>
            </p:nvSpPr>
            <p:spPr>
              <a:xfrm flipH="1">
                <a:off x="634817" y="199438"/>
                <a:ext cx="108775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61" name="Shape 783"/>
              <p:cNvSpPr/>
              <p:nvPr/>
            </p:nvSpPr>
            <p:spPr>
              <a:xfrm>
                <a:off x="756289" y="174038"/>
                <a:ext cx="108773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62" name="Shape 826"/>
              <p:cNvSpPr txBox="1"/>
              <p:nvPr/>
            </p:nvSpPr>
            <p:spPr>
              <a:xfrm>
                <a:off x="0" y="6335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3, 6</a:t>
                </a:r>
              </a:p>
            </p:txBody>
          </p:sp>
        </p:grpSp>
        <p:grpSp>
          <p:nvGrpSpPr>
            <p:cNvPr id="1966" name="成组"/>
            <p:cNvGrpSpPr/>
            <p:nvPr/>
          </p:nvGrpSpPr>
          <p:grpSpPr>
            <a:xfrm>
              <a:off x="1642343" y="2328301"/>
              <a:ext cx="870180" cy="562431"/>
              <a:chOff x="0" y="0"/>
              <a:chExt cx="870179" cy="562429"/>
            </a:xfrm>
          </p:grpSpPr>
          <p:sp>
            <p:nvSpPr>
              <p:cNvPr id="1964" name="Shape 788"/>
              <p:cNvSpPr/>
              <p:nvPr/>
            </p:nvSpPr>
            <p:spPr>
              <a:xfrm>
                <a:off x="0" y="0"/>
                <a:ext cx="870180" cy="56243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65" name="Shape 827"/>
              <p:cNvSpPr txBox="1"/>
              <p:nvPr/>
            </p:nvSpPr>
            <p:spPr>
              <a:xfrm>
                <a:off x="5611" y="8369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0, 5</a:t>
                </a:r>
              </a:p>
            </p:txBody>
          </p:sp>
        </p:grpSp>
        <p:grpSp>
          <p:nvGrpSpPr>
            <p:cNvPr id="1972" name="成组"/>
            <p:cNvGrpSpPr/>
            <p:nvPr/>
          </p:nvGrpSpPr>
          <p:grpSpPr>
            <a:xfrm>
              <a:off x="3221123" y="2327318"/>
              <a:ext cx="904469" cy="563414"/>
              <a:chOff x="0" y="0"/>
              <a:chExt cx="904468" cy="563413"/>
            </a:xfrm>
          </p:grpSpPr>
          <p:sp>
            <p:nvSpPr>
              <p:cNvPr id="1967" name="Shape 785"/>
              <p:cNvSpPr/>
              <p:nvPr/>
            </p:nvSpPr>
            <p:spPr>
              <a:xfrm>
                <a:off x="31924" y="983"/>
                <a:ext cx="872545" cy="56243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68" name="Shape 786"/>
              <p:cNvSpPr/>
              <p:nvPr/>
            </p:nvSpPr>
            <p:spPr>
              <a:xfrm>
                <a:off x="663278" y="0"/>
                <a:ext cx="2366" cy="562429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69" name="Shape 791"/>
              <p:cNvSpPr/>
              <p:nvPr/>
            </p:nvSpPr>
            <p:spPr>
              <a:xfrm flipH="1">
                <a:off x="663277" y="188280"/>
                <a:ext cx="108774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0" name="Shape 792"/>
              <p:cNvSpPr/>
              <p:nvPr/>
            </p:nvSpPr>
            <p:spPr>
              <a:xfrm>
                <a:off x="772048" y="188280"/>
                <a:ext cx="108775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1" name="Shape 828"/>
              <p:cNvSpPr txBox="1"/>
              <p:nvPr/>
            </p:nvSpPr>
            <p:spPr>
              <a:xfrm>
                <a:off x="0" y="79445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1,4</a:t>
                </a:r>
              </a:p>
            </p:txBody>
          </p:sp>
        </p:grpSp>
        <p:grpSp>
          <p:nvGrpSpPr>
            <p:cNvPr id="1978" name="成组"/>
            <p:cNvGrpSpPr/>
            <p:nvPr/>
          </p:nvGrpSpPr>
          <p:grpSpPr>
            <a:xfrm>
              <a:off x="1642343" y="3046636"/>
              <a:ext cx="872544" cy="540792"/>
              <a:chOff x="0" y="0"/>
              <a:chExt cx="872543" cy="540791"/>
            </a:xfrm>
          </p:grpSpPr>
          <p:sp>
            <p:nvSpPr>
              <p:cNvPr id="1973" name="Shape 794"/>
              <p:cNvSpPr/>
              <p:nvPr/>
            </p:nvSpPr>
            <p:spPr>
              <a:xfrm>
                <a:off x="0" y="0"/>
                <a:ext cx="872544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4" name="Shape 795"/>
              <p:cNvSpPr/>
              <p:nvPr/>
            </p:nvSpPr>
            <p:spPr>
              <a:xfrm>
                <a:off x="631353" y="4628"/>
                <a:ext cx="2366" cy="53616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5" name="Shape 800"/>
              <p:cNvSpPr/>
              <p:nvPr/>
            </p:nvSpPr>
            <p:spPr>
              <a:xfrm flipH="1">
                <a:off x="631353" y="185192"/>
                <a:ext cx="108774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6" name="Shape 801"/>
              <p:cNvSpPr/>
              <p:nvPr/>
            </p:nvSpPr>
            <p:spPr>
              <a:xfrm>
                <a:off x="740124" y="185192"/>
                <a:ext cx="108775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7" name="Shape 830"/>
              <p:cNvSpPr txBox="1"/>
              <p:nvPr/>
            </p:nvSpPr>
            <p:spPr>
              <a:xfrm>
                <a:off x="922" y="58991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2,3</a:t>
                </a:r>
              </a:p>
            </p:txBody>
          </p:sp>
        </p:grpSp>
        <p:grpSp>
          <p:nvGrpSpPr>
            <p:cNvPr id="1984" name="成组"/>
            <p:cNvGrpSpPr/>
            <p:nvPr/>
          </p:nvGrpSpPr>
          <p:grpSpPr>
            <a:xfrm>
              <a:off x="1642343" y="814332"/>
              <a:ext cx="873212" cy="540811"/>
              <a:chOff x="0" y="0"/>
              <a:chExt cx="873211" cy="540810"/>
            </a:xfrm>
          </p:grpSpPr>
          <p:sp>
            <p:nvSpPr>
              <p:cNvPr id="1979" name="Shape 833"/>
              <p:cNvSpPr/>
              <p:nvPr/>
            </p:nvSpPr>
            <p:spPr>
              <a:xfrm>
                <a:off x="0" y="0"/>
                <a:ext cx="873212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0" name="Shape 834"/>
              <p:cNvSpPr/>
              <p:nvPr/>
            </p:nvSpPr>
            <p:spPr>
              <a:xfrm>
                <a:off x="630684" y="4648"/>
                <a:ext cx="2337" cy="53616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1" name="Shape 836"/>
              <p:cNvSpPr/>
              <p:nvPr/>
            </p:nvSpPr>
            <p:spPr>
              <a:xfrm flipH="1">
                <a:off x="630684" y="185984"/>
                <a:ext cx="107402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2" name="Shape 837"/>
              <p:cNvSpPr/>
              <p:nvPr/>
            </p:nvSpPr>
            <p:spPr>
              <a:xfrm>
                <a:off x="740127" y="185984"/>
                <a:ext cx="109738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3" name="Shape 838"/>
              <p:cNvSpPr txBox="1"/>
              <p:nvPr/>
            </p:nvSpPr>
            <p:spPr>
              <a:xfrm>
                <a:off x="6383" y="40102"/>
                <a:ext cx="761726" cy="44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2, 7</a:t>
                </a:r>
              </a:p>
            </p:txBody>
          </p:sp>
        </p:grpSp>
      </p:grpSp>
      <p:sp>
        <p:nvSpPr>
          <p:cNvPr id="1986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基于邻接表的带权重有向图实现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public void addWeightedEdge(int u, int v, double w) {…"/>
          <p:cNvSpPr txBox="1"/>
          <p:nvPr/>
        </p:nvSpPr>
        <p:spPr>
          <a:xfrm>
            <a:off x="77912" y="1446593"/>
            <a:ext cx="9457867" cy="6199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addWeightedEdge(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w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Iterator&lt;Pair&gt;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u</a:t>
            </a:r>
            <a:r>
              <a:t>).iterator();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Pair </a:t>
            </a:r>
            <a:r>
              <a:rPr>
                <a:solidFill>
                  <a:srgbClr val="7E504F"/>
                </a:solidFill>
              </a:rPr>
              <a:t>pair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7E504F"/>
                </a:solidFill>
              </a:rPr>
              <a:t>pair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vertex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//边存在，认为修改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7E504F"/>
                </a:solidFill>
              </a:rPr>
              <a:t>pair</a:t>
            </a:r>
            <a:r>
              <a:rPr>
                <a:solidFill>
                  <a:srgbClr val="000000"/>
                </a:solidFill>
              </a:rPr>
              <a:t>.</a:t>
            </a:r>
            <a:r>
              <a:t>weight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w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u</a:t>
            </a:r>
            <a:r>
              <a:t>).add(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Pair(</a:t>
            </a:r>
            <a:r>
              <a:rPr>
                <a:solidFill>
                  <a:srgbClr val="7E504F"/>
                </a:solidFill>
              </a:rPr>
              <a:t>v</a:t>
            </a:r>
            <a:r>
              <a:t>, </a:t>
            </a:r>
            <a:r>
              <a:rPr>
                <a:solidFill>
                  <a:srgbClr val="7E504F"/>
                </a:solidFill>
              </a:rPr>
              <a:t>w</a:t>
            </a:r>
            <a:r>
              <a:t>));</a:t>
            </a:r>
            <a:endParaRPr>
              <a:solidFill>
                <a:srgbClr val="4E9072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++</a:t>
            </a:r>
            <a: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044" name="成组"/>
          <p:cNvGrpSpPr/>
          <p:nvPr/>
        </p:nvGrpSpPr>
        <p:grpSpPr>
          <a:xfrm>
            <a:off x="8682491" y="2273109"/>
            <a:ext cx="4125592" cy="3704233"/>
            <a:chOff x="0" y="0"/>
            <a:chExt cx="4125591" cy="3704232"/>
          </a:xfrm>
        </p:grpSpPr>
        <p:sp>
          <p:nvSpPr>
            <p:cNvPr id="1989" name="Shape 763"/>
            <p:cNvSpPr/>
            <p:nvPr/>
          </p:nvSpPr>
          <p:spPr>
            <a:xfrm>
              <a:off x="2401802" y="334506"/>
              <a:ext cx="870181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0" name="Shape 765"/>
            <p:cNvSpPr/>
            <p:nvPr/>
          </p:nvSpPr>
          <p:spPr>
            <a:xfrm>
              <a:off x="2271748" y="49175"/>
              <a:ext cx="2367" cy="58317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1" name="Shape 766"/>
            <p:cNvSpPr/>
            <p:nvPr/>
          </p:nvSpPr>
          <p:spPr>
            <a:xfrm>
              <a:off x="770218" y="334506"/>
              <a:ext cx="872545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2" name="Shape 775"/>
            <p:cNvSpPr/>
            <p:nvPr/>
          </p:nvSpPr>
          <p:spPr>
            <a:xfrm>
              <a:off x="770215" y="1097312"/>
              <a:ext cx="873213" cy="232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3" name="Shape 787"/>
            <p:cNvSpPr/>
            <p:nvPr/>
          </p:nvSpPr>
          <p:spPr>
            <a:xfrm>
              <a:off x="2401800" y="2602497"/>
              <a:ext cx="870181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4" name="Shape 789"/>
            <p:cNvSpPr/>
            <p:nvPr/>
          </p:nvSpPr>
          <p:spPr>
            <a:xfrm>
              <a:off x="2320778" y="2327317"/>
              <a:ext cx="2367" cy="562430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5" name="Shape 790"/>
            <p:cNvSpPr/>
            <p:nvPr/>
          </p:nvSpPr>
          <p:spPr>
            <a:xfrm>
              <a:off x="770217" y="2602497"/>
              <a:ext cx="872545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6" name="Shape 799"/>
            <p:cNvSpPr/>
            <p:nvPr/>
          </p:nvSpPr>
          <p:spPr>
            <a:xfrm>
              <a:off x="770215" y="3309389"/>
              <a:ext cx="872545" cy="231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7" name="Shape 753"/>
            <p:cNvSpPr/>
            <p:nvPr/>
          </p:nvSpPr>
          <p:spPr>
            <a:xfrm>
              <a:off x="432322" y="0"/>
              <a:ext cx="700726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8" name="Shape 754"/>
            <p:cNvSpPr/>
            <p:nvPr/>
          </p:nvSpPr>
          <p:spPr>
            <a:xfrm>
              <a:off x="432322" y="736974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9" name="Shape 755"/>
            <p:cNvSpPr/>
            <p:nvPr/>
          </p:nvSpPr>
          <p:spPr>
            <a:xfrm>
              <a:off x="432322" y="1476265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0" name="Shape 756"/>
            <p:cNvSpPr/>
            <p:nvPr/>
          </p:nvSpPr>
          <p:spPr>
            <a:xfrm>
              <a:off x="432322" y="2213232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1" name="Shape 757"/>
            <p:cNvSpPr/>
            <p:nvPr/>
          </p:nvSpPr>
          <p:spPr>
            <a:xfrm>
              <a:off x="432322" y="2952523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2" name="Shape 809"/>
            <p:cNvSpPr txBox="1"/>
            <p:nvPr/>
          </p:nvSpPr>
          <p:spPr>
            <a:xfrm>
              <a:off x="0" y="98026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003" name="Shape 810"/>
            <p:cNvSpPr txBox="1"/>
            <p:nvPr/>
          </p:nvSpPr>
          <p:spPr>
            <a:xfrm>
              <a:off x="0" y="861987"/>
              <a:ext cx="761726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004" name="Shape 811"/>
            <p:cNvSpPr txBox="1"/>
            <p:nvPr/>
          </p:nvSpPr>
          <p:spPr>
            <a:xfrm>
              <a:off x="0" y="1577127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005" name="Shape 812"/>
            <p:cNvSpPr txBox="1"/>
            <p:nvPr/>
          </p:nvSpPr>
          <p:spPr>
            <a:xfrm>
              <a:off x="0" y="2331443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006" name="Shape 813"/>
            <p:cNvSpPr txBox="1"/>
            <p:nvPr/>
          </p:nvSpPr>
          <p:spPr>
            <a:xfrm>
              <a:off x="0" y="3045333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grpSp>
          <p:nvGrpSpPr>
            <p:cNvPr id="2009" name="成组"/>
            <p:cNvGrpSpPr/>
            <p:nvPr/>
          </p:nvGrpSpPr>
          <p:grpSpPr>
            <a:xfrm>
              <a:off x="1642343" y="44170"/>
              <a:ext cx="870180" cy="583176"/>
              <a:chOff x="0" y="0"/>
              <a:chExt cx="870179" cy="583174"/>
            </a:xfrm>
          </p:grpSpPr>
          <p:sp>
            <p:nvSpPr>
              <p:cNvPr id="2007" name="Shape 764"/>
              <p:cNvSpPr/>
              <p:nvPr/>
            </p:nvSpPr>
            <p:spPr>
              <a:xfrm>
                <a:off x="0" y="0"/>
                <a:ext cx="870180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08" name="Shape 821"/>
              <p:cNvSpPr txBox="1"/>
              <p:nvPr/>
            </p:nvSpPr>
            <p:spPr>
              <a:xfrm>
                <a:off x="1213" y="8735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1, 9</a:t>
                </a:r>
              </a:p>
            </p:txBody>
          </p:sp>
        </p:grpSp>
        <p:grpSp>
          <p:nvGrpSpPr>
            <p:cNvPr id="2015" name="成组"/>
            <p:cNvGrpSpPr/>
            <p:nvPr/>
          </p:nvGrpSpPr>
          <p:grpSpPr>
            <a:xfrm>
              <a:off x="3221123" y="44170"/>
              <a:ext cx="880839" cy="588181"/>
              <a:chOff x="0" y="0"/>
              <a:chExt cx="880837" cy="588180"/>
            </a:xfrm>
          </p:grpSpPr>
          <p:sp>
            <p:nvSpPr>
              <p:cNvPr id="2010" name="Shape 761"/>
              <p:cNvSpPr/>
              <p:nvPr/>
            </p:nvSpPr>
            <p:spPr>
              <a:xfrm>
                <a:off x="8294" y="0"/>
                <a:ext cx="872544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11" name="Shape 762"/>
              <p:cNvSpPr/>
              <p:nvPr/>
            </p:nvSpPr>
            <p:spPr>
              <a:xfrm>
                <a:off x="639648" y="5005"/>
                <a:ext cx="2365" cy="58317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12" name="Shape 767"/>
              <p:cNvSpPr/>
              <p:nvPr/>
            </p:nvSpPr>
            <p:spPr>
              <a:xfrm flipH="1">
                <a:off x="639648" y="200231"/>
                <a:ext cx="108773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13" name="Shape 768"/>
              <p:cNvSpPr/>
              <p:nvPr/>
            </p:nvSpPr>
            <p:spPr>
              <a:xfrm>
                <a:off x="748418" y="200231"/>
                <a:ext cx="108775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14" name="Shape 822"/>
              <p:cNvSpPr txBox="1"/>
              <p:nvPr/>
            </p:nvSpPr>
            <p:spPr>
              <a:xfrm>
                <a:off x="0" y="8660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4, 8</a:t>
                </a:r>
              </a:p>
            </p:txBody>
          </p:sp>
        </p:grpSp>
        <p:sp>
          <p:nvSpPr>
            <p:cNvPr id="2016" name="Shape 781"/>
            <p:cNvSpPr/>
            <p:nvPr/>
          </p:nvSpPr>
          <p:spPr>
            <a:xfrm>
              <a:off x="770218" y="1853789"/>
              <a:ext cx="872545" cy="249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022" name="成组"/>
            <p:cNvGrpSpPr/>
            <p:nvPr/>
          </p:nvGrpSpPr>
          <p:grpSpPr>
            <a:xfrm>
              <a:off x="1642343" y="1558487"/>
              <a:ext cx="876009" cy="585856"/>
              <a:chOff x="0" y="0"/>
              <a:chExt cx="876008" cy="585855"/>
            </a:xfrm>
          </p:grpSpPr>
          <p:sp>
            <p:nvSpPr>
              <p:cNvPr id="2017" name="Shape 776"/>
              <p:cNvSpPr/>
              <p:nvPr/>
            </p:nvSpPr>
            <p:spPr>
              <a:xfrm>
                <a:off x="3464" y="0"/>
                <a:ext cx="872545" cy="58087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18" name="Shape 777"/>
              <p:cNvSpPr/>
              <p:nvPr/>
            </p:nvSpPr>
            <p:spPr>
              <a:xfrm>
                <a:off x="634816" y="4984"/>
                <a:ext cx="2367" cy="58087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19" name="Shape 782"/>
              <p:cNvSpPr/>
              <p:nvPr/>
            </p:nvSpPr>
            <p:spPr>
              <a:xfrm flipH="1">
                <a:off x="634817" y="199438"/>
                <a:ext cx="108775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0" name="Shape 783"/>
              <p:cNvSpPr/>
              <p:nvPr/>
            </p:nvSpPr>
            <p:spPr>
              <a:xfrm>
                <a:off x="756289" y="174038"/>
                <a:ext cx="108773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1" name="Shape 826"/>
              <p:cNvSpPr txBox="1"/>
              <p:nvPr/>
            </p:nvSpPr>
            <p:spPr>
              <a:xfrm>
                <a:off x="0" y="6335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3, 6</a:t>
                </a:r>
              </a:p>
            </p:txBody>
          </p:sp>
        </p:grpSp>
        <p:grpSp>
          <p:nvGrpSpPr>
            <p:cNvPr id="2025" name="成组"/>
            <p:cNvGrpSpPr/>
            <p:nvPr/>
          </p:nvGrpSpPr>
          <p:grpSpPr>
            <a:xfrm>
              <a:off x="1642343" y="2328301"/>
              <a:ext cx="870180" cy="562431"/>
              <a:chOff x="0" y="0"/>
              <a:chExt cx="870179" cy="562429"/>
            </a:xfrm>
          </p:grpSpPr>
          <p:sp>
            <p:nvSpPr>
              <p:cNvPr id="2023" name="Shape 788"/>
              <p:cNvSpPr/>
              <p:nvPr/>
            </p:nvSpPr>
            <p:spPr>
              <a:xfrm>
                <a:off x="0" y="0"/>
                <a:ext cx="870180" cy="56243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4" name="Shape 827"/>
              <p:cNvSpPr txBox="1"/>
              <p:nvPr/>
            </p:nvSpPr>
            <p:spPr>
              <a:xfrm>
                <a:off x="5611" y="8369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0, 5</a:t>
                </a:r>
              </a:p>
            </p:txBody>
          </p:sp>
        </p:grpSp>
        <p:grpSp>
          <p:nvGrpSpPr>
            <p:cNvPr id="2031" name="成组"/>
            <p:cNvGrpSpPr/>
            <p:nvPr/>
          </p:nvGrpSpPr>
          <p:grpSpPr>
            <a:xfrm>
              <a:off x="3221123" y="2327318"/>
              <a:ext cx="904469" cy="563414"/>
              <a:chOff x="0" y="0"/>
              <a:chExt cx="904468" cy="563413"/>
            </a:xfrm>
          </p:grpSpPr>
          <p:sp>
            <p:nvSpPr>
              <p:cNvPr id="2026" name="Shape 785"/>
              <p:cNvSpPr/>
              <p:nvPr/>
            </p:nvSpPr>
            <p:spPr>
              <a:xfrm>
                <a:off x="31924" y="983"/>
                <a:ext cx="872545" cy="56243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7" name="Shape 786"/>
              <p:cNvSpPr/>
              <p:nvPr/>
            </p:nvSpPr>
            <p:spPr>
              <a:xfrm>
                <a:off x="663278" y="0"/>
                <a:ext cx="2366" cy="562429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8" name="Shape 791"/>
              <p:cNvSpPr/>
              <p:nvPr/>
            </p:nvSpPr>
            <p:spPr>
              <a:xfrm flipH="1">
                <a:off x="663277" y="188280"/>
                <a:ext cx="108774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9" name="Shape 792"/>
              <p:cNvSpPr/>
              <p:nvPr/>
            </p:nvSpPr>
            <p:spPr>
              <a:xfrm>
                <a:off x="772048" y="188280"/>
                <a:ext cx="108775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30" name="Shape 828"/>
              <p:cNvSpPr txBox="1"/>
              <p:nvPr/>
            </p:nvSpPr>
            <p:spPr>
              <a:xfrm>
                <a:off x="0" y="79445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1,4</a:t>
                </a:r>
              </a:p>
            </p:txBody>
          </p:sp>
        </p:grpSp>
        <p:grpSp>
          <p:nvGrpSpPr>
            <p:cNvPr id="2037" name="成组"/>
            <p:cNvGrpSpPr/>
            <p:nvPr/>
          </p:nvGrpSpPr>
          <p:grpSpPr>
            <a:xfrm>
              <a:off x="1642343" y="3046636"/>
              <a:ext cx="872544" cy="540792"/>
              <a:chOff x="0" y="0"/>
              <a:chExt cx="872543" cy="540791"/>
            </a:xfrm>
          </p:grpSpPr>
          <p:sp>
            <p:nvSpPr>
              <p:cNvPr id="2032" name="Shape 794"/>
              <p:cNvSpPr/>
              <p:nvPr/>
            </p:nvSpPr>
            <p:spPr>
              <a:xfrm>
                <a:off x="0" y="0"/>
                <a:ext cx="872544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33" name="Shape 795"/>
              <p:cNvSpPr/>
              <p:nvPr/>
            </p:nvSpPr>
            <p:spPr>
              <a:xfrm>
                <a:off x="631353" y="4628"/>
                <a:ext cx="2366" cy="53616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34" name="Shape 800"/>
              <p:cNvSpPr/>
              <p:nvPr/>
            </p:nvSpPr>
            <p:spPr>
              <a:xfrm flipH="1">
                <a:off x="631353" y="185192"/>
                <a:ext cx="108774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35" name="Shape 801"/>
              <p:cNvSpPr/>
              <p:nvPr/>
            </p:nvSpPr>
            <p:spPr>
              <a:xfrm>
                <a:off x="740124" y="185192"/>
                <a:ext cx="108775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36" name="Shape 830"/>
              <p:cNvSpPr txBox="1"/>
              <p:nvPr/>
            </p:nvSpPr>
            <p:spPr>
              <a:xfrm>
                <a:off x="922" y="58991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2,3</a:t>
                </a:r>
              </a:p>
            </p:txBody>
          </p:sp>
        </p:grpSp>
        <p:grpSp>
          <p:nvGrpSpPr>
            <p:cNvPr id="2043" name="成组"/>
            <p:cNvGrpSpPr/>
            <p:nvPr/>
          </p:nvGrpSpPr>
          <p:grpSpPr>
            <a:xfrm>
              <a:off x="1642343" y="814332"/>
              <a:ext cx="873212" cy="540811"/>
              <a:chOff x="0" y="0"/>
              <a:chExt cx="873211" cy="540810"/>
            </a:xfrm>
          </p:grpSpPr>
          <p:sp>
            <p:nvSpPr>
              <p:cNvPr id="2038" name="Shape 833"/>
              <p:cNvSpPr/>
              <p:nvPr/>
            </p:nvSpPr>
            <p:spPr>
              <a:xfrm>
                <a:off x="0" y="0"/>
                <a:ext cx="873212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39" name="Shape 834"/>
              <p:cNvSpPr/>
              <p:nvPr/>
            </p:nvSpPr>
            <p:spPr>
              <a:xfrm>
                <a:off x="630684" y="4648"/>
                <a:ext cx="2337" cy="53616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40" name="Shape 836"/>
              <p:cNvSpPr/>
              <p:nvPr/>
            </p:nvSpPr>
            <p:spPr>
              <a:xfrm flipH="1">
                <a:off x="630684" y="185984"/>
                <a:ext cx="107402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41" name="Shape 837"/>
              <p:cNvSpPr/>
              <p:nvPr/>
            </p:nvSpPr>
            <p:spPr>
              <a:xfrm>
                <a:off x="740127" y="185984"/>
                <a:ext cx="109738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42" name="Shape 838"/>
              <p:cNvSpPr txBox="1"/>
              <p:nvPr/>
            </p:nvSpPr>
            <p:spPr>
              <a:xfrm>
                <a:off x="6383" y="40102"/>
                <a:ext cx="761726" cy="44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2, 7</a:t>
                </a:r>
              </a:p>
            </p:txBody>
          </p:sp>
        </p:grpSp>
      </p:grpSp>
      <p:sp>
        <p:nvSpPr>
          <p:cNvPr id="2045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基于邻接表的带权重有向图实现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public double getWeight(int u, int v) {…"/>
          <p:cNvSpPr txBox="1"/>
          <p:nvPr/>
        </p:nvSpPr>
        <p:spPr>
          <a:xfrm>
            <a:off x="171676" y="1510162"/>
            <a:ext cx="8406061" cy="467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getWeight(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Iterator&lt;Pair&gt;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u</a:t>
            </a:r>
            <a:r>
              <a:t>).iterator();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Pair </a:t>
            </a:r>
            <a:r>
              <a:rPr>
                <a:solidFill>
                  <a:srgbClr val="7E504F"/>
                </a:solidFill>
              </a:rPr>
              <a:t>pair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</a:p>
          <a:p>
            <a:pPr indent="0">
              <a:lnSpc>
                <a:spcPct val="100000"/>
              </a:lnSpc>
              <a:defRPr sz="22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(</a:t>
            </a:r>
            <a:r>
              <a:t>pair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vertex</a:t>
            </a:r>
            <a:r>
              <a:rPr>
                <a:solidFill>
                  <a:srgbClr val="000000"/>
                </a:solidFill>
              </a:rPr>
              <a:t> == </a:t>
            </a:r>
            <a:r>
              <a:t>v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pair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weight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noEdge;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</a:t>
            </a:r>
            <a:r>
              <a:rPr>
                <a:solidFill>
                  <a:srgbClr val="4E9072"/>
                </a:solidFill>
              </a:rPr>
              <a:t>//无u-&gt;v的边，用正无穷大表示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103" name="成组"/>
          <p:cNvGrpSpPr/>
          <p:nvPr/>
        </p:nvGrpSpPr>
        <p:grpSpPr>
          <a:xfrm>
            <a:off x="8524380" y="3163151"/>
            <a:ext cx="4125593" cy="3704233"/>
            <a:chOff x="0" y="0"/>
            <a:chExt cx="4125591" cy="3704232"/>
          </a:xfrm>
        </p:grpSpPr>
        <p:sp>
          <p:nvSpPr>
            <p:cNvPr id="2048" name="Shape 763"/>
            <p:cNvSpPr/>
            <p:nvPr/>
          </p:nvSpPr>
          <p:spPr>
            <a:xfrm>
              <a:off x="2401802" y="334506"/>
              <a:ext cx="870181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49" name="Shape 765"/>
            <p:cNvSpPr/>
            <p:nvPr/>
          </p:nvSpPr>
          <p:spPr>
            <a:xfrm>
              <a:off x="2271748" y="49175"/>
              <a:ext cx="2367" cy="58317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0" name="Shape 766"/>
            <p:cNvSpPr/>
            <p:nvPr/>
          </p:nvSpPr>
          <p:spPr>
            <a:xfrm>
              <a:off x="770218" y="334506"/>
              <a:ext cx="872545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1" name="Shape 775"/>
            <p:cNvSpPr/>
            <p:nvPr/>
          </p:nvSpPr>
          <p:spPr>
            <a:xfrm>
              <a:off x="770215" y="1097312"/>
              <a:ext cx="873213" cy="232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2" name="Shape 787"/>
            <p:cNvSpPr/>
            <p:nvPr/>
          </p:nvSpPr>
          <p:spPr>
            <a:xfrm>
              <a:off x="2401800" y="2602497"/>
              <a:ext cx="870181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3" name="Shape 789"/>
            <p:cNvSpPr/>
            <p:nvPr/>
          </p:nvSpPr>
          <p:spPr>
            <a:xfrm>
              <a:off x="2320778" y="2327317"/>
              <a:ext cx="2367" cy="562430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4" name="Shape 790"/>
            <p:cNvSpPr/>
            <p:nvPr/>
          </p:nvSpPr>
          <p:spPr>
            <a:xfrm>
              <a:off x="770217" y="2602497"/>
              <a:ext cx="872545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5" name="Shape 799"/>
            <p:cNvSpPr/>
            <p:nvPr/>
          </p:nvSpPr>
          <p:spPr>
            <a:xfrm>
              <a:off x="770215" y="3309389"/>
              <a:ext cx="872545" cy="231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6" name="Shape 753"/>
            <p:cNvSpPr/>
            <p:nvPr/>
          </p:nvSpPr>
          <p:spPr>
            <a:xfrm>
              <a:off x="432322" y="0"/>
              <a:ext cx="700726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7" name="Shape 754"/>
            <p:cNvSpPr/>
            <p:nvPr/>
          </p:nvSpPr>
          <p:spPr>
            <a:xfrm>
              <a:off x="432322" y="736974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8" name="Shape 755"/>
            <p:cNvSpPr/>
            <p:nvPr/>
          </p:nvSpPr>
          <p:spPr>
            <a:xfrm>
              <a:off x="432322" y="1476265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9" name="Shape 756"/>
            <p:cNvSpPr/>
            <p:nvPr/>
          </p:nvSpPr>
          <p:spPr>
            <a:xfrm>
              <a:off x="432322" y="2213232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60" name="Shape 757"/>
            <p:cNvSpPr/>
            <p:nvPr/>
          </p:nvSpPr>
          <p:spPr>
            <a:xfrm>
              <a:off x="432322" y="2952523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61" name="Shape 809"/>
            <p:cNvSpPr txBox="1"/>
            <p:nvPr/>
          </p:nvSpPr>
          <p:spPr>
            <a:xfrm>
              <a:off x="0" y="98026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062" name="Shape 810"/>
            <p:cNvSpPr txBox="1"/>
            <p:nvPr/>
          </p:nvSpPr>
          <p:spPr>
            <a:xfrm>
              <a:off x="0" y="861987"/>
              <a:ext cx="761726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063" name="Shape 811"/>
            <p:cNvSpPr txBox="1"/>
            <p:nvPr/>
          </p:nvSpPr>
          <p:spPr>
            <a:xfrm>
              <a:off x="0" y="1577127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064" name="Shape 812"/>
            <p:cNvSpPr txBox="1"/>
            <p:nvPr/>
          </p:nvSpPr>
          <p:spPr>
            <a:xfrm>
              <a:off x="0" y="2331443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065" name="Shape 813"/>
            <p:cNvSpPr txBox="1"/>
            <p:nvPr/>
          </p:nvSpPr>
          <p:spPr>
            <a:xfrm>
              <a:off x="0" y="3045333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grpSp>
          <p:nvGrpSpPr>
            <p:cNvPr id="2068" name="成组"/>
            <p:cNvGrpSpPr/>
            <p:nvPr/>
          </p:nvGrpSpPr>
          <p:grpSpPr>
            <a:xfrm>
              <a:off x="1642343" y="44170"/>
              <a:ext cx="870180" cy="583176"/>
              <a:chOff x="0" y="0"/>
              <a:chExt cx="870179" cy="583174"/>
            </a:xfrm>
          </p:grpSpPr>
          <p:sp>
            <p:nvSpPr>
              <p:cNvPr id="2066" name="Shape 764"/>
              <p:cNvSpPr/>
              <p:nvPr/>
            </p:nvSpPr>
            <p:spPr>
              <a:xfrm>
                <a:off x="0" y="0"/>
                <a:ext cx="870180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67" name="Shape 821"/>
              <p:cNvSpPr txBox="1"/>
              <p:nvPr/>
            </p:nvSpPr>
            <p:spPr>
              <a:xfrm>
                <a:off x="1213" y="8735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1, 9</a:t>
                </a:r>
              </a:p>
            </p:txBody>
          </p:sp>
        </p:grpSp>
        <p:grpSp>
          <p:nvGrpSpPr>
            <p:cNvPr id="2074" name="成组"/>
            <p:cNvGrpSpPr/>
            <p:nvPr/>
          </p:nvGrpSpPr>
          <p:grpSpPr>
            <a:xfrm>
              <a:off x="3221123" y="44170"/>
              <a:ext cx="880839" cy="588181"/>
              <a:chOff x="0" y="0"/>
              <a:chExt cx="880837" cy="588180"/>
            </a:xfrm>
          </p:grpSpPr>
          <p:sp>
            <p:nvSpPr>
              <p:cNvPr id="2069" name="Shape 761"/>
              <p:cNvSpPr/>
              <p:nvPr/>
            </p:nvSpPr>
            <p:spPr>
              <a:xfrm>
                <a:off x="8294" y="0"/>
                <a:ext cx="872544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0" name="Shape 762"/>
              <p:cNvSpPr/>
              <p:nvPr/>
            </p:nvSpPr>
            <p:spPr>
              <a:xfrm>
                <a:off x="639648" y="5005"/>
                <a:ext cx="2365" cy="58317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1" name="Shape 767"/>
              <p:cNvSpPr/>
              <p:nvPr/>
            </p:nvSpPr>
            <p:spPr>
              <a:xfrm flipH="1">
                <a:off x="639648" y="200231"/>
                <a:ext cx="108773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2" name="Shape 768"/>
              <p:cNvSpPr/>
              <p:nvPr/>
            </p:nvSpPr>
            <p:spPr>
              <a:xfrm>
                <a:off x="748418" y="200231"/>
                <a:ext cx="108775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3" name="Shape 822"/>
              <p:cNvSpPr txBox="1"/>
              <p:nvPr/>
            </p:nvSpPr>
            <p:spPr>
              <a:xfrm>
                <a:off x="0" y="8660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4, 8</a:t>
                </a:r>
              </a:p>
            </p:txBody>
          </p:sp>
        </p:grpSp>
        <p:sp>
          <p:nvSpPr>
            <p:cNvPr id="2075" name="Shape 781"/>
            <p:cNvSpPr/>
            <p:nvPr/>
          </p:nvSpPr>
          <p:spPr>
            <a:xfrm>
              <a:off x="770218" y="1853789"/>
              <a:ext cx="872545" cy="249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081" name="成组"/>
            <p:cNvGrpSpPr/>
            <p:nvPr/>
          </p:nvGrpSpPr>
          <p:grpSpPr>
            <a:xfrm>
              <a:off x="1642343" y="1558487"/>
              <a:ext cx="876009" cy="585856"/>
              <a:chOff x="0" y="0"/>
              <a:chExt cx="876008" cy="585855"/>
            </a:xfrm>
          </p:grpSpPr>
          <p:sp>
            <p:nvSpPr>
              <p:cNvPr id="2076" name="Shape 776"/>
              <p:cNvSpPr/>
              <p:nvPr/>
            </p:nvSpPr>
            <p:spPr>
              <a:xfrm>
                <a:off x="3464" y="0"/>
                <a:ext cx="872545" cy="58087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7" name="Shape 777"/>
              <p:cNvSpPr/>
              <p:nvPr/>
            </p:nvSpPr>
            <p:spPr>
              <a:xfrm>
                <a:off x="634816" y="4984"/>
                <a:ext cx="2367" cy="58087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8" name="Shape 782"/>
              <p:cNvSpPr/>
              <p:nvPr/>
            </p:nvSpPr>
            <p:spPr>
              <a:xfrm flipH="1">
                <a:off x="634817" y="199438"/>
                <a:ext cx="108775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9" name="Shape 783"/>
              <p:cNvSpPr/>
              <p:nvPr/>
            </p:nvSpPr>
            <p:spPr>
              <a:xfrm>
                <a:off x="756289" y="174038"/>
                <a:ext cx="108773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0" name="Shape 826"/>
              <p:cNvSpPr txBox="1"/>
              <p:nvPr/>
            </p:nvSpPr>
            <p:spPr>
              <a:xfrm>
                <a:off x="0" y="6335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3, 6</a:t>
                </a:r>
              </a:p>
            </p:txBody>
          </p:sp>
        </p:grpSp>
        <p:grpSp>
          <p:nvGrpSpPr>
            <p:cNvPr id="2084" name="成组"/>
            <p:cNvGrpSpPr/>
            <p:nvPr/>
          </p:nvGrpSpPr>
          <p:grpSpPr>
            <a:xfrm>
              <a:off x="1642343" y="2328301"/>
              <a:ext cx="870180" cy="562431"/>
              <a:chOff x="0" y="0"/>
              <a:chExt cx="870179" cy="562429"/>
            </a:xfrm>
          </p:grpSpPr>
          <p:sp>
            <p:nvSpPr>
              <p:cNvPr id="2082" name="Shape 788"/>
              <p:cNvSpPr/>
              <p:nvPr/>
            </p:nvSpPr>
            <p:spPr>
              <a:xfrm>
                <a:off x="0" y="0"/>
                <a:ext cx="870180" cy="56243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3" name="Shape 827"/>
              <p:cNvSpPr txBox="1"/>
              <p:nvPr/>
            </p:nvSpPr>
            <p:spPr>
              <a:xfrm>
                <a:off x="5611" y="8369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0, 5</a:t>
                </a:r>
              </a:p>
            </p:txBody>
          </p:sp>
        </p:grpSp>
        <p:grpSp>
          <p:nvGrpSpPr>
            <p:cNvPr id="2090" name="成组"/>
            <p:cNvGrpSpPr/>
            <p:nvPr/>
          </p:nvGrpSpPr>
          <p:grpSpPr>
            <a:xfrm>
              <a:off x="3221123" y="2327318"/>
              <a:ext cx="904469" cy="563414"/>
              <a:chOff x="0" y="0"/>
              <a:chExt cx="904468" cy="563413"/>
            </a:xfrm>
          </p:grpSpPr>
          <p:sp>
            <p:nvSpPr>
              <p:cNvPr id="2085" name="Shape 785"/>
              <p:cNvSpPr/>
              <p:nvPr/>
            </p:nvSpPr>
            <p:spPr>
              <a:xfrm>
                <a:off x="31924" y="983"/>
                <a:ext cx="872545" cy="56243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6" name="Shape 786"/>
              <p:cNvSpPr/>
              <p:nvPr/>
            </p:nvSpPr>
            <p:spPr>
              <a:xfrm>
                <a:off x="663278" y="0"/>
                <a:ext cx="2366" cy="562429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7" name="Shape 791"/>
              <p:cNvSpPr/>
              <p:nvPr/>
            </p:nvSpPr>
            <p:spPr>
              <a:xfrm flipH="1">
                <a:off x="663277" y="188280"/>
                <a:ext cx="108774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8" name="Shape 792"/>
              <p:cNvSpPr/>
              <p:nvPr/>
            </p:nvSpPr>
            <p:spPr>
              <a:xfrm>
                <a:off x="772048" y="188280"/>
                <a:ext cx="108775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9" name="Shape 828"/>
              <p:cNvSpPr txBox="1"/>
              <p:nvPr/>
            </p:nvSpPr>
            <p:spPr>
              <a:xfrm>
                <a:off x="0" y="79445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1,4</a:t>
                </a:r>
              </a:p>
            </p:txBody>
          </p:sp>
        </p:grpSp>
        <p:grpSp>
          <p:nvGrpSpPr>
            <p:cNvPr id="2096" name="成组"/>
            <p:cNvGrpSpPr/>
            <p:nvPr/>
          </p:nvGrpSpPr>
          <p:grpSpPr>
            <a:xfrm>
              <a:off x="1642343" y="3046636"/>
              <a:ext cx="872544" cy="540792"/>
              <a:chOff x="0" y="0"/>
              <a:chExt cx="872543" cy="540791"/>
            </a:xfrm>
          </p:grpSpPr>
          <p:sp>
            <p:nvSpPr>
              <p:cNvPr id="2091" name="Shape 794"/>
              <p:cNvSpPr/>
              <p:nvPr/>
            </p:nvSpPr>
            <p:spPr>
              <a:xfrm>
                <a:off x="0" y="0"/>
                <a:ext cx="872544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2" name="Shape 795"/>
              <p:cNvSpPr/>
              <p:nvPr/>
            </p:nvSpPr>
            <p:spPr>
              <a:xfrm>
                <a:off x="631353" y="4628"/>
                <a:ext cx="2366" cy="53616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3" name="Shape 800"/>
              <p:cNvSpPr/>
              <p:nvPr/>
            </p:nvSpPr>
            <p:spPr>
              <a:xfrm flipH="1">
                <a:off x="631353" y="185192"/>
                <a:ext cx="108774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4" name="Shape 801"/>
              <p:cNvSpPr/>
              <p:nvPr/>
            </p:nvSpPr>
            <p:spPr>
              <a:xfrm>
                <a:off x="740124" y="185192"/>
                <a:ext cx="108775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5" name="Shape 830"/>
              <p:cNvSpPr txBox="1"/>
              <p:nvPr/>
            </p:nvSpPr>
            <p:spPr>
              <a:xfrm>
                <a:off x="922" y="58991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2,3</a:t>
                </a:r>
              </a:p>
            </p:txBody>
          </p:sp>
        </p:grpSp>
        <p:grpSp>
          <p:nvGrpSpPr>
            <p:cNvPr id="2102" name="成组"/>
            <p:cNvGrpSpPr/>
            <p:nvPr/>
          </p:nvGrpSpPr>
          <p:grpSpPr>
            <a:xfrm>
              <a:off x="1642343" y="814332"/>
              <a:ext cx="873212" cy="540811"/>
              <a:chOff x="0" y="0"/>
              <a:chExt cx="873211" cy="540810"/>
            </a:xfrm>
          </p:grpSpPr>
          <p:sp>
            <p:nvSpPr>
              <p:cNvPr id="2097" name="Shape 833"/>
              <p:cNvSpPr/>
              <p:nvPr/>
            </p:nvSpPr>
            <p:spPr>
              <a:xfrm>
                <a:off x="0" y="0"/>
                <a:ext cx="873212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8" name="Shape 834"/>
              <p:cNvSpPr/>
              <p:nvPr/>
            </p:nvSpPr>
            <p:spPr>
              <a:xfrm>
                <a:off x="630684" y="4648"/>
                <a:ext cx="2337" cy="53616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9" name="Shape 836"/>
              <p:cNvSpPr/>
              <p:nvPr/>
            </p:nvSpPr>
            <p:spPr>
              <a:xfrm flipH="1">
                <a:off x="630684" y="185984"/>
                <a:ext cx="107402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00" name="Shape 837"/>
              <p:cNvSpPr/>
              <p:nvPr/>
            </p:nvSpPr>
            <p:spPr>
              <a:xfrm>
                <a:off x="740127" y="185984"/>
                <a:ext cx="109738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01" name="Shape 838"/>
              <p:cNvSpPr txBox="1"/>
              <p:nvPr/>
            </p:nvSpPr>
            <p:spPr>
              <a:xfrm>
                <a:off x="6383" y="40102"/>
                <a:ext cx="761726" cy="44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2, 7</a:t>
                </a:r>
              </a:p>
            </p:txBody>
          </p:sp>
        </p:grpSp>
      </p:grpSp>
      <p:sp>
        <p:nvSpPr>
          <p:cNvPr id="2104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基于邻接表的带权重有向图实现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1" name="成组"/>
          <p:cNvGrpSpPr/>
          <p:nvPr/>
        </p:nvGrpSpPr>
        <p:grpSpPr>
          <a:xfrm>
            <a:off x="8682491" y="2273109"/>
            <a:ext cx="4125592" cy="3704233"/>
            <a:chOff x="0" y="0"/>
            <a:chExt cx="4125591" cy="3704232"/>
          </a:xfrm>
        </p:grpSpPr>
        <p:sp>
          <p:nvSpPr>
            <p:cNvPr id="2106" name="Shape 763"/>
            <p:cNvSpPr/>
            <p:nvPr/>
          </p:nvSpPr>
          <p:spPr>
            <a:xfrm>
              <a:off x="2401802" y="334506"/>
              <a:ext cx="870181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7" name="Shape 765"/>
            <p:cNvSpPr/>
            <p:nvPr/>
          </p:nvSpPr>
          <p:spPr>
            <a:xfrm>
              <a:off x="2271748" y="49175"/>
              <a:ext cx="2367" cy="58317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8" name="Shape 766"/>
            <p:cNvSpPr/>
            <p:nvPr/>
          </p:nvSpPr>
          <p:spPr>
            <a:xfrm>
              <a:off x="770218" y="334506"/>
              <a:ext cx="872545" cy="250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09" name="Shape 775"/>
            <p:cNvSpPr/>
            <p:nvPr/>
          </p:nvSpPr>
          <p:spPr>
            <a:xfrm>
              <a:off x="770215" y="1097312"/>
              <a:ext cx="873213" cy="232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0" name="Shape 787"/>
            <p:cNvSpPr/>
            <p:nvPr/>
          </p:nvSpPr>
          <p:spPr>
            <a:xfrm>
              <a:off x="2401800" y="2602497"/>
              <a:ext cx="870181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1" name="Shape 789"/>
            <p:cNvSpPr/>
            <p:nvPr/>
          </p:nvSpPr>
          <p:spPr>
            <a:xfrm>
              <a:off x="2320778" y="2327317"/>
              <a:ext cx="2367" cy="562430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2" name="Shape 790"/>
            <p:cNvSpPr/>
            <p:nvPr/>
          </p:nvSpPr>
          <p:spPr>
            <a:xfrm>
              <a:off x="770217" y="2602497"/>
              <a:ext cx="872545" cy="241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3" name="Shape 799"/>
            <p:cNvSpPr/>
            <p:nvPr/>
          </p:nvSpPr>
          <p:spPr>
            <a:xfrm>
              <a:off x="770215" y="3309389"/>
              <a:ext cx="872545" cy="2317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4" name="Shape 753"/>
            <p:cNvSpPr/>
            <p:nvPr/>
          </p:nvSpPr>
          <p:spPr>
            <a:xfrm>
              <a:off x="432322" y="0"/>
              <a:ext cx="700726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5" name="Shape 754"/>
            <p:cNvSpPr/>
            <p:nvPr/>
          </p:nvSpPr>
          <p:spPr>
            <a:xfrm>
              <a:off x="432322" y="736974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6" name="Shape 755"/>
            <p:cNvSpPr/>
            <p:nvPr/>
          </p:nvSpPr>
          <p:spPr>
            <a:xfrm>
              <a:off x="432322" y="1476265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7" name="Shape 756"/>
            <p:cNvSpPr/>
            <p:nvPr/>
          </p:nvSpPr>
          <p:spPr>
            <a:xfrm>
              <a:off x="432322" y="2213232"/>
              <a:ext cx="700994" cy="2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8" name="Shape 757"/>
            <p:cNvSpPr/>
            <p:nvPr/>
          </p:nvSpPr>
          <p:spPr>
            <a:xfrm>
              <a:off x="432322" y="2952523"/>
              <a:ext cx="700994" cy="231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19" name="Shape 809"/>
            <p:cNvSpPr txBox="1"/>
            <p:nvPr/>
          </p:nvSpPr>
          <p:spPr>
            <a:xfrm>
              <a:off x="0" y="98026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120" name="Shape 810"/>
            <p:cNvSpPr txBox="1"/>
            <p:nvPr/>
          </p:nvSpPr>
          <p:spPr>
            <a:xfrm>
              <a:off x="0" y="861987"/>
              <a:ext cx="761726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121" name="Shape 811"/>
            <p:cNvSpPr txBox="1"/>
            <p:nvPr/>
          </p:nvSpPr>
          <p:spPr>
            <a:xfrm>
              <a:off x="0" y="1577127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122" name="Shape 812"/>
            <p:cNvSpPr txBox="1"/>
            <p:nvPr/>
          </p:nvSpPr>
          <p:spPr>
            <a:xfrm>
              <a:off x="0" y="2331443"/>
              <a:ext cx="761725" cy="658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123" name="Shape 813"/>
            <p:cNvSpPr txBox="1"/>
            <p:nvPr/>
          </p:nvSpPr>
          <p:spPr>
            <a:xfrm>
              <a:off x="0" y="3045333"/>
              <a:ext cx="761725" cy="658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 sz="29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grpSp>
          <p:nvGrpSpPr>
            <p:cNvPr id="2126" name="成组"/>
            <p:cNvGrpSpPr/>
            <p:nvPr/>
          </p:nvGrpSpPr>
          <p:grpSpPr>
            <a:xfrm>
              <a:off x="1642343" y="44170"/>
              <a:ext cx="870180" cy="583176"/>
              <a:chOff x="0" y="0"/>
              <a:chExt cx="870179" cy="583174"/>
            </a:xfrm>
          </p:grpSpPr>
          <p:sp>
            <p:nvSpPr>
              <p:cNvPr id="2124" name="Shape 764"/>
              <p:cNvSpPr/>
              <p:nvPr/>
            </p:nvSpPr>
            <p:spPr>
              <a:xfrm>
                <a:off x="0" y="0"/>
                <a:ext cx="870180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25" name="Shape 821"/>
              <p:cNvSpPr txBox="1"/>
              <p:nvPr/>
            </p:nvSpPr>
            <p:spPr>
              <a:xfrm>
                <a:off x="1213" y="8735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1, 9</a:t>
                </a:r>
              </a:p>
            </p:txBody>
          </p:sp>
        </p:grpSp>
        <p:grpSp>
          <p:nvGrpSpPr>
            <p:cNvPr id="2132" name="成组"/>
            <p:cNvGrpSpPr/>
            <p:nvPr/>
          </p:nvGrpSpPr>
          <p:grpSpPr>
            <a:xfrm>
              <a:off x="3221123" y="44170"/>
              <a:ext cx="880839" cy="588181"/>
              <a:chOff x="0" y="0"/>
              <a:chExt cx="880837" cy="588180"/>
            </a:xfrm>
          </p:grpSpPr>
          <p:sp>
            <p:nvSpPr>
              <p:cNvPr id="2127" name="Shape 761"/>
              <p:cNvSpPr/>
              <p:nvPr/>
            </p:nvSpPr>
            <p:spPr>
              <a:xfrm>
                <a:off x="8294" y="0"/>
                <a:ext cx="872544" cy="583175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28" name="Shape 762"/>
              <p:cNvSpPr/>
              <p:nvPr/>
            </p:nvSpPr>
            <p:spPr>
              <a:xfrm>
                <a:off x="639648" y="5005"/>
                <a:ext cx="2365" cy="58317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29" name="Shape 767"/>
              <p:cNvSpPr/>
              <p:nvPr/>
            </p:nvSpPr>
            <p:spPr>
              <a:xfrm flipH="1">
                <a:off x="639648" y="200231"/>
                <a:ext cx="108773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0" name="Shape 768"/>
              <p:cNvSpPr/>
              <p:nvPr/>
            </p:nvSpPr>
            <p:spPr>
              <a:xfrm>
                <a:off x="748418" y="200231"/>
                <a:ext cx="108775" cy="29033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1" name="Shape 822"/>
              <p:cNvSpPr txBox="1"/>
              <p:nvPr/>
            </p:nvSpPr>
            <p:spPr>
              <a:xfrm>
                <a:off x="0" y="8660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4, 8</a:t>
                </a:r>
              </a:p>
            </p:txBody>
          </p:sp>
        </p:grpSp>
        <p:sp>
          <p:nvSpPr>
            <p:cNvPr id="2133" name="Shape 781"/>
            <p:cNvSpPr/>
            <p:nvPr/>
          </p:nvSpPr>
          <p:spPr>
            <a:xfrm>
              <a:off x="770218" y="1853789"/>
              <a:ext cx="872545" cy="2494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139" name="成组"/>
            <p:cNvGrpSpPr/>
            <p:nvPr/>
          </p:nvGrpSpPr>
          <p:grpSpPr>
            <a:xfrm>
              <a:off x="1642343" y="1558487"/>
              <a:ext cx="876009" cy="585856"/>
              <a:chOff x="0" y="0"/>
              <a:chExt cx="876008" cy="585855"/>
            </a:xfrm>
          </p:grpSpPr>
          <p:sp>
            <p:nvSpPr>
              <p:cNvPr id="2134" name="Shape 776"/>
              <p:cNvSpPr/>
              <p:nvPr/>
            </p:nvSpPr>
            <p:spPr>
              <a:xfrm>
                <a:off x="3464" y="0"/>
                <a:ext cx="872545" cy="58087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5" name="Shape 777"/>
              <p:cNvSpPr/>
              <p:nvPr/>
            </p:nvSpPr>
            <p:spPr>
              <a:xfrm>
                <a:off x="634816" y="4984"/>
                <a:ext cx="2367" cy="58087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6" name="Shape 782"/>
              <p:cNvSpPr/>
              <p:nvPr/>
            </p:nvSpPr>
            <p:spPr>
              <a:xfrm flipH="1">
                <a:off x="634817" y="199438"/>
                <a:ext cx="108775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7" name="Shape 783"/>
              <p:cNvSpPr/>
              <p:nvPr/>
            </p:nvSpPr>
            <p:spPr>
              <a:xfrm>
                <a:off x="756289" y="174038"/>
                <a:ext cx="108773" cy="28919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8" name="Shape 826"/>
              <p:cNvSpPr txBox="1"/>
              <p:nvPr/>
            </p:nvSpPr>
            <p:spPr>
              <a:xfrm>
                <a:off x="0" y="63350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3, 6</a:t>
                </a:r>
              </a:p>
            </p:txBody>
          </p:sp>
        </p:grpSp>
        <p:grpSp>
          <p:nvGrpSpPr>
            <p:cNvPr id="2142" name="成组"/>
            <p:cNvGrpSpPr/>
            <p:nvPr/>
          </p:nvGrpSpPr>
          <p:grpSpPr>
            <a:xfrm>
              <a:off x="1642343" y="2328301"/>
              <a:ext cx="870180" cy="562431"/>
              <a:chOff x="0" y="0"/>
              <a:chExt cx="870179" cy="562429"/>
            </a:xfrm>
          </p:grpSpPr>
          <p:sp>
            <p:nvSpPr>
              <p:cNvPr id="2140" name="Shape 788"/>
              <p:cNvSpPr/>
              <p:nvPr/>
            </p:nvSpPr>
            <p:spPr>
              <a:xfrm>
                <a:off x="0" y="0"/>
                <a:ext cx="870180" cy="562430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1" name="Shape 827"/>
              <p:cNvSpPr txBox="1"/>
              <p:nvPr/>
            </p:nvSpPr>
            <p:spPr>
              <a:xfrm>
                <a:off x="5611" y="83694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0, 5</a:t>
                </a:r>
              </a:p>
            </p:txBody>
          </p:sp>
        </p:grpSp>
        <p:grpSp>
          <p:nvGrpSpPr>
            <p:cNvPr id="2148" name="成组"/>
            <p:cNvGrpSpPr/>
            <p:nvPr/>
          </p:nvGrpSpPr>
          <p:grpSpPr>
            <a:xfrm>
              <a:off x="3221123" y="2327318"/>
              <a:ext cx="904469" cy="563414"/>
              <a:chOff x="0" y="0"/>
              <a:chExt cx="904468" cy="563413"/>
            </a:xfrm>
          </p:grpSpPr>
          <p:sp>
            <p:nvSpPr>
              <p:cNvPr id="2143" name="Shape 785"/>
              <p:cNvSpPr/>
              <p:nvPr/>
            </p:nvSpPr>
            <p:spPr>
              <a:xfrm>
                <a:off x="31924" y="983"/>
                <a:ext cx="872545" cy="56243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4" name="Shape 786"/>
              <p:cNvSpPr/>
              <p:nvPr/>
            </p:nvSpPr>
            <p:spPr>
              <a:xfrm>
                <a:off x="663278" y="0"/>
                <a:ext cx="2366" cy="562429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5" name="Shape 791"/>
              <p:cNvSpPr/>
              <p:nvPr/>
            </p:nvSpPr>
            <p:spPr>
              <a:xfrm flipH="1">
                <a:off x="663277" y="188280"/>
                <a:ext cx="108774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6" name="Shape 792"/>
              <p:cNvSpPr/>
              <p:nvPr/>
            </p:nvSpPr>
            <p:spPr>
              <a:xfrm>
                <a:off x="772048" y="188280"/>
                <a:ext cx="108775" cy="280008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7" name="Shape 828"/>
              <p:cNvSpPr txBox="1"/>
              <p:nvPr/>
            </p:nvSpPr>
            <p:spPr>
              <a:xfrm>
                <a:off x="0" y="79445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1,4</a:t>
                </a:r>
              </a:p>
            </p:txBody>
          </p:sp>
        </p:grpSp>
        <p:grpSp>
          <p:nvGrpSpPr>
            <p:cNvPr id="2154" name="成组"/>
            <p:cNvGrpSpPr/>
            <p:nvPr/>
          </p:nvGrpSpPr>
          <p:grpSpPr>
            <a:xfrm>
              <a:off x="1642343" y="3046636"/>
              <a:ext cx="872544" cy="540792"/>
              <a:chOff x="0" y="0"/>
              <a:chExt cx="872543" cy="540791"/>
            </a:xfrm>
          </p:grpSpPr>
          <p:sp>
            <p:nvSpPr>
              <p:cNvPr id="2149" name="Shape 794"/>
              <p:cNvSpPr/>
              <p:nvPr/>
            </p:nvSpPr>
            <p:spPr>
              <a:xfrm>
                <a:off x="0" y="0"/>
                <a:ext cx="872544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0" name="Shape 795"/>
              <p:cNvSpPr/>
              <p:nvPr/>
            </p:nvSpPr>
            <p:spPr>
              <a:xfrm>
                <a:off x="631353" y="4628"/>
                <a:ext cx="2366" cy="53616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1" name="Shape 800"/>
              <p:cNvSpPr/>
              <p:nvPr/>
            </p:nvSpPr>
            <p:spPr>
              <a:xfrm flipH="1">
                <a:off x="631353" y="185192"/>
                <a:ext cx="108774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2" name="Shape 801"/>
              <p:cNvSpPr/>
              <p:nvPr/>
            </p:nvSpPr>
            <p:spPr>
              <a:xfrm>
                <a:off x="740124" y="185192"/>
                <a:ext cx="108775" cy="26853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3" name="Shape 830"/>
              <p:cNvSpPr txBox="1"/>
              <p:nvPr/>
            </p:nvSpPr>
            <p:spPr>
              <a:xfrm>
                <a:off x="922" y="58991"/>
                <a:ext cx="761726" cy="4443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2,3</a:t>
                </a:r>
              </a:p>
            </p:txBody>
          </p:sp>
        </p:grpSp>
        <p:grpSp>
          <p:nvGrpSpPr>
            <p:cNvPr id="2160" name="成组"/>
            <p:cNvGrpSpPr/>
            <p:nvPr/>
          </p:nvGrpSpPr>
          <p:grpSpPr>
            <a:xfrm>
              <a:off x="1642343" y="814332"/>
              <a:ext cx="873212" cy="540811"/>
              <a:chOff x="0" y="0"/>
              <a:chExt cx="873211" cy="540810"/>
            </a:xfrm>
          </p:grpSpPr>
          <p:sp>
            <p:nvSpPr>
              <p:cNvPr id="2155" name="Shape 833"/>
              <p:cNvSpPr/>
              <p:nvPr/>
            </p:nvSpPr>
            <p:spPr>
              <a:xfrm>
                <a:off x="0" y="0"/>
                <a:ext cx="873212" cy="536162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6" name="Shape 834"/>
              <p:cNvSpPr/>
              <p:nvPr/>
            </p:nvSpPr>
            <p:spPr>
              <a:xfrm>
                <a:off x="630684" y="4648"/>
                <a:ext cx="2337" cy="53616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7" name="Shape 836"/>
              <p:cNvSpPr/>
              <p:nvPr/>
            </p:nvSpPr>
            <p:spPr>
              <a:xfrm flipH="1">
                <a:off x="630684" y="185984"/>
                <a:ext cx="107402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8" name="Shape 837"/>
              <p:cNvSpPr/>
              <p:nvPr/>
            </p:nvSpPr>
            <p:spPr>
              <a:xfrm>
                <a:off x="740127" y="185984"/>
                <a:ext cx="109738" cy="267355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9" name="Shape 838"/>
              <p:cNvSpPr txBox="1"/>
              <p:nvPr/>
            </p:nvSpPr>
            <p:spPr>
              <a:xfrm>
                <a:off x="6383" y="40102"/>
                <a:ext cx="761726" cy="444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2, 7</a:t>
                </a:r>
              </a:p>
            </p:txBody>
          </p:sp>
        </p:grpSp>
      </p:grpSp>
      <p:sp>
        <p:nvSpPr>
          <p:cNvPr id="2162" name="public boolean removeEdge(int u, int v) {…"/>
          <p:cNvSpPr txBox="1"/>
          <p:nvPr/>
        </p:nvSpPr>
        <p:spPr>
          <a:xfrm>
            <a:off x="535391" y="1712046"/>
            <a:ext cx="7903059" cy="388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removeEdge(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u</a:t>
            </a:r>
            <a:r>
              <a:t>).remove(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Pair(</a:t>
            </a:r>
            <a:r>
              <a:rPr>
                <a:solidFill>
                  <a:srgbClr val="7E504F"/>
                </a:solidFill>
              </a:rPr>
              <a:t>v</a:t>
            </a:r>
            <a:r>
              <a:t>, 0))) {</a:t>
            </a:r>
          </a:p>
          <a:p>
            <a:pPr indent="0">
              <a:lnSpc>
                <a:spcPct val="100000"/>
              </a:lnSpc>
              <a:defRPr sz="22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--</a:t>
            </a:r>
            <a: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			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163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基于邻接表的带权重有向图实现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无向图的实现</a:t>
            </a:r>
          </a:p>
        </p:txBody>
      </p:sp>
      <p:grpSp>
        <p:nvGrpSpPr>
          <p:cNvPr id="2250" name="成组"/>
          <p:cNvGrpSpPr/>
          <p:nvPr/>
        </p:nvGrpSpPr>
        <p:grpSpPr>
          <a:xfrm>
            <a:off x="3791004" y="1253348"/>
            <a:ext cx="5471445" cy="4199471"/>
            <a:chOff x="0" y="0"/>
            <a:chExt cx="5471443" cy="4199470"/>
          </a:xfrm>
        </p:grpSpPr>
        <p:grpSp>
          <p:nvGrpSpPr>
            <p:cNvPr id="2174" name="Group 769"/>
            <p:cNvGrpSpPr/>
            <p:nvPr/>
          </p:nvGrpSpPr>
          <p:grpSpPr>
            <a:xfrm>
              <a:off x="707532" y="42896"/>
              <a:ext cx="3221850" cy="571221"/>
              <a:chOff x="0" y="0"/>
              <a:chExt cx="3221849" cy="571219"/>
            </a:xfrm>
          </p:grpSpPr>
          <p:sp>
            <p:nvSpPr>
              <p:cNvPr id="2166" name="Shape 761"/>
              <p:cNvSpPr/>
              <p:nvPr/>
            </p:nvSpPr>
            <p:spPr>
              <a:xfrm>
                <a:off x="2378085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67" name="Shape 762"/>
              <p:cNvSpPr/>
              <p:nvPr/>
            </p:nvSpPr>
            <p:spPr>
              <a:xfrm>
                <a:off x="2988615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68" name="Shape 763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69" name="Shape 764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70" name="Shape 765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71" name="Shape 766"/>
              <p:cNvSpPr/>
              <p:nvPr/>
            </p:nvSpPr>
            <p:spPr>
              <a:xfrm>
                <a:off x="0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72" name="Shape 767"/>
              <p:cNvSpPr/>
              <p:nvPr/>
            </p:nvSpPr>
            <p:spPr>
              <a:xfrm flipH="1">
                <a:off x="2988615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73" name="Shape 768"/>
              <p:cNvSpPr/>
              <p:nvPr/>
            </p:nvSpPr>
            <p:spPr>
              <a:xfrm>
                <a:off x="3093798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175" name="Shape 770"/>
            <p:cNvSpPr/>
            <p:nvPr/>
          </p:nvSpPr>
          <p:spPr>
            <a:xfrm>
              <a:off x="3091744" y="803769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76" name="Shape 771"/>
            <p:cNvSpPr/>
            <p:nvPr/>
          </p:nvSpPr>
          <p:spPr>
            <a:xfrm>
              <a:off x="3703602" y="808284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77" name="Shape 772"/>
            <p:cNvSpPr/>
            <p:nvPr/>
          </p:nvSpPr>
          <p:spPr>
            <a:xfrm>
              <a:off x="2295594" y="1065671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78" name="Shape 773"/>
            <p:cNvSpPr/>
            <p:nvPr/>
          </p:nvSpPr>
          <p:spPr>
            <a:xfrm>
              <a:off x="1558712" y="803769"/>
              <a:ext cx="839895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79" name="Shape 774"/>
            <p:cNvSpPr/>
            <p:nvPr/>
          </p:nvSpPr>
          <p:spPr>
            <a:xfrm>
              <a:off x="2168595" y="808284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80" name="Shape 775"/>
            <p:cNvSpPr/>
            <p:nvPr/>
          </p:nvSpPr>
          <p:spPr>
            <a:xfrm>
              <a:off x="714303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189" name="Group 784"/>
            <p:cNvGrpSpPr/>
            <p:nvPr/>
          </p:nvGrpSpPr>
          <p:grpSpPr>
            <a:xfrm>
              <a:off x="734624" y="1519485"/>
              <a:ext cx="3221851" cy="568963"/>
              <a:chOff x="0" y="0"/>
              <a:chExt cx="3221849" cy="568962"/>
            </a:xfrm>
          </p:grpSpPr>
          <p:sp>
            <p:nvSpPr>
              <p:cNvPr id="2181" name="Shape 776"/>
              <p:cNvSpPr/>
              <p:nvPr/>
            </p:nvSpPr>
            <p:spPr>
              <a:xfrm>
                <a:off x="2378085" y="-1"/>
                <a:ext cx="843765" cy="56412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2" name="Shape 777"/>
              <p:cNvSpPr/>
              <p:nvPr/>
            </p:nvSpPr>
            <p:spPr>
              <a:xfrm>
                <a:off x="2988613" y="4841"/>
                <a:ext cx="2289" cy="56412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3" name="Shape 778"/>
              <p:cNvSpPr/>
              <p:nvPr/>
            </p:nvSpPr>
            <p:spPr>
              <a:xfrm>
                <a:off x="1577767" y="280849"/>
                <a:ext cx="841479" cy="2423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4" name="Shape 779"/>
              <p:cNvSpPr/>
              <p:nvPr/>
            </p:nvSpPr>
            <p:spPr>
              <a:xfrm>
                <a:off x="843762" y="-1"/>
                <a:ext cx="841479" cy="56412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5" name="Shape 780"/>
              <p:cNvSpPr/>
              <p:nvPr/>
            </p:nvSpPr>
            <p:spPr>
              <a:xfrm>
                <a:off x="1452003" y="4841"/>
                <a:ext cx="2289" cy="56412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6" name="Shape 781"/>
              <p:cNvSpPr/>
              <p:nvPr/>
            </p:nvSpPr>
            <p:spPr>
              <a:xfrm>
                <a:off x="0" y="280849"/>
                <a:ext cx="843765" cy="2423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7" name="Shape 782"/>
              <p:cNvSpPr/>
              <p:nvPr/>
            </p:nvSpPr>
            <p:spPr>
              <a:xfrm flipH="1">
                <a:off x="2988614" y="193687"/>
                <a:ext cx="105187" cy="28085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8" name="Shape 783"/>
              <p:cNvSpPr/>
              <p:nvPr/>
            </p:nvSpPr>
            <p:spPr>
              <a:xfrm>
                <a:off x="3093798" y="193687"/>
                <a:ext cx="105186" cy="28085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198" name="Group 793"/>
            <p:cNvGrpSpPr/>
            <p:nvPr/>
          </p:nvGrpSpPr>
          <p:grpSpPr>
            <a:xfrm>
              <a:off x="754944" y="2260209"/>
              <a:ext cx="3221851" cy="547168"/>
              <a:chOff x="0" y="0"/>
              <a:chExt cx="3221849" cy="547166"/>
            </a:xfrm>
          </p:grpSpPr>
          <p:sp>
            <p:nvSpPr>
              <p:cNvPr id="2190" name="Shape 785"/>
              <p:cNvSpPr/>
              <p:nvPr/>
            </p:nvSpPr>
            <p:spPr>
              <a:xfrm>
                <a:off x="2378085" y="955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1" name="Shape 786"/>
              <p:cNvSpPr/>
              <p:nvPr/>
            </p:nvSpPr>
            <p:spPr>
              <a:xfrm>
                <a:off x="2988615" y="0"/>
                <a:ext cx="2288" cy="54621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2" name="Shape 787"/>
              <p:cNvSpPr/>
              <p:nvPr/>
            </p:nvSpPr>
            <p:spPr>
              <a:xfrm>
                <a:off x="1577768" y="26724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3" name="Shape 788"/>
              <p:cNvSpPr/>
              <p:nvPr/>
            </p:nvSpPr>
            <p:spPr>
              <a:xfrm>
                <a:off x="843762" y="955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4" name="Shape 789"/>
              <p:cNvSpPr/>
              <p:nvPr/>
            </p:nvSpPr>
            <p:spPr>
              <a:xfrm>
                <a:off x="1452004" y="0"/>
                <a:ext cx="2288" cy="54621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5" name="Shape 790"/>
              <p:cNvSpPr/>
              <p:nvPr/>
            </p:nvSpPr>
            <p:spPr>
              <a:xfrm>
                <a:off x="0" y="26724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6" name="Shape 791"/>
              <p:cNvSpPr/>
              <p:nvPr/>
            </p:nvSpPr>
            <p:spPr>
              <a:xfrm flipH="1">
                <a:off x="2988615" y="182851"/>
                <a:ext cx="105186" cy="27193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7" name="Shape 792"/>
              <p:cNvSpPr/>
              <p:nvPr/>
            </p:nvSpPr>
            <p:spPr>
              <a:xfrm>
                <a:off x="3093798" y="182851"/>
                <a:ext cx="105187" cy="27193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207" name="Group 802"/>
            <p:cNvGrpSpPr/>
            <p:nvPr/>
          </p:nvGrpSpPr>
          <p:grpSpPr>
            <a:xfrm>
              <a:off x="754944" y="2953175"/>
              <a:ext cx="3221851" cy="525198"/>
              <a:chOff x="0" y="0"/>
              <a:chExt cx="3221849" cy="525197"/>
            </a:xfrm>
          </p:grpSpPr>
          <p:sp>
            <p:nvSpPr>
              <p:cNvPr id="2199" name="Shape 794"/>
              <p:cNvSpPr/>
              <p:nvPr/>
            </p:nvSpPr>
            <p:spPr>
              <a:xfrm>
                <a:off x="2378085" y="-1"/>
                <a:ext cx="843765" cy="52070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00" name="Shape 795"/>
              <p:cNvSpPr/>
              <p:nvPr/>
            </p:nvSpPr>
            <p:spPr>
              <a:xfrm>
                <a:off x="2988615" y="4495"/>
                <a:ext cx="2288" cy="52070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01" name="Shape 796"/>
              <p:cNvSpPr/>
              <p:nvPr/>
            </p:nvSpPr>
            <p:spPr>
              <a:xfrm>
                <a:off x="1577768" y="260787"/>
                <a:ext cx="841479" cy="2250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02" name="Shape 797"/>
              <p:cNvSpPr/>
              <p:nvPr/>
            </p:nvSpPr>
            <p:spPr>
              <a:xfrm>
                <a:off x="843762" y="-1"/>
                <a:ext cx="841479" cy="52070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03" name="Shape 798"/>
              <p:cNvSpPr/>
              <p:nvPr/>
            </p:nvSpPr>
            <p:spPr>
              <a:xfrm>
                <a:off x="1452004" y="4495"/>
                <a:ext cx="2289" cy="52070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04" name="Shape 799"/>
              <p:cNvSpPr/>
              <p:nvPr/>
            </p:nvSpPr>
            <p:spPr>
              <a:xfrm>
                <a:off x="0" y="260787"/>
                <a:ext cx="843765" cy="2250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05" name="Shape 800"/>
              <p:cNvSpPr/>
              <p:nvPr/>
            </p:nvSpPr>
            <p:spPr>
              <a:xfrm flipH="1">
                <a:off x="2988615" y="179852"/>
                <a:ext cx="105186" cy="26079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06" name="Shape 801"/>
              <p:cNvSpPr/>
              <p:nvPr/>
            </p:nvSpPr>
            <p:spPr>
              <a:xfrm>
                <a:off x="3093798" y="179852"/>
                <a:ext cx="105187" cy="26079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208" name="Shape 803"/>
            <p:cNvSpPr/>
            <p:nvPr/>
          </p:nvSpPr>
          <p:spPr>
            <a:xfrm>
              <a:off x="3132383" y="3668890"/>
              <a:ext cx="844411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09" name="Shape 804"/>
            <p:cNvSpPr/>
            <p:nvPr/>
          </p:nvSpPr>
          <p:spPr>
            <a:xfrm>
              <a:off x="3744241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0" name="Shape 805"/>
            <p:cNvSpPr/>
            <p:nvPr/>
          </p:nvSpPr>
          <p:spPr>
            <a:xfrm>
              <a:off x="2333131" y="3930792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1" name="Shape 806"/>
            <p:cNvSpPr/>
            <p:nvPr/>
          </p:nvSpPr>
          <p:spPr>
            <a:xfrm>
              <a:off x="1599352" y="3668890"/>
              <a:ext cx="839895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2" name="Shape 807"/>
            <p:cNvSpPr/>
            <p:nvPr/>
          </p:nvSpPr>
          <p:spPr>
            <a:xfrm>
              <a:off x="2206694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3" name="Shape 808"/>
            <p:cNvSpPr/>
            <p:nvPr/>
          </p:nvSpPr>
          <p:spPr>
            <a:xfrm>
              <a:off x="754943" y="3930792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4" name="Shape 753"/>
            <p:cNvSpPr/>
            <p:nvPr/>
          </p:nvSpPr>
          <p:spPr>
            <a:xfrm>
              <a:off x="362655" y="0"/>
              <a:ext cx="715246" cy="419947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5" name="Shape 754"/>
            <p:cNvSpPr/>
            <p:nvPr/>
          </p:nvSpPr>
          <p:spPr>
            <a:xfrm>
              <a:off x="362655" y="715715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6" name="Shape 755"/>
            <p:cNvSpPr/>
            <p:nvPr/>
          </p:nvSpPr>
          <p:spPr>
            <a:xfrm>
              <a:off x="362655" y="1433689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7" name="Shape 756"/>
            <p:cNvSpPr/>
            <p:nvPr/>
          </p:nvSpPr>
          <p:spPr>
            <a:xfrm>
              <a:off x="362655" y="214940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8" name="Shape 757"/>
            <p:cNvSpPr/>
            <p:nvPr/>
          </p:nvSpPr>
          <p:spPr>
            <a:xfrm>
              <a:off x="362655" y="286737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9" name="Shape 758"/>
            <p:cNvSpPr/>
            <p:nvPr/>
          </p:nvSpPr>
          <p:spPr>
            <a:xfrm>
              <a:off x="362655" y="358309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20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21" name="Shape 810"/>
            <p:cNvSpPr txBox="1"/>
            <p:nvPr/>
          </p:nvSpPr>
          <p:spPr>
            <a:xfrm>
              <a:off x="0" y="8774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222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223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224" name="Shape 813"/>
            <p:cNvSpPr txBox="1"/>
            <p:nvPr/>
          </p:nvSpPr>
          <p:spPr>
            <a:xfrm>
              <a:off x="0" y="30471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225" name="Shape 814"/>
            <p:cNvSpPr txBox="1"/>
            <p:nvPr/>
          </p:nvSpPr>
          <p:spPr>
            <a:xfrm>
              <a:off x="0" y="366127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226" name="Shape 821"/>
            <p:cNvSpPr txBox="1"/>
            <p:nvPr/>
          </p:nvSpPr>
          <p:spPr>
            <a:xfrm>
              <a:off x="1650717" y="1523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227" name="Shape 822"/>
            <p:cNvSpPr txBox="1"/>
            <p:nvPr/>
          </p:nvSpPr>
          <p:spPr>
            <a:xfrm>
              <a:off x="3175846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228" name="Shape 823"/>
            <p:cNvSpPr txBox="1"/>
            <p:nvPr/>
          </p:nvSpPr>
          <p:spPr>
            <a:xfrm>
              <a:off x="1650717" y="91496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29" name="Shape 824"/>
            <p:cNvSpPr txBox="1"/>
            <p:nvPr/>
          </p:nvSpPr>
          <p:spPr>
            <a:xfrm>
              <a:off x="3170766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230" name="Shape 825"/>
            <p:cNvSpPr txBox="1"/>
            <p:nvPr/>
          </p:nvSpPr>
          <p:spPr>
            <a:xfrm>
              <a:off x="1645636" y="16064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231" name="Shape 826"/>
            <p:cNvSpPr txBox="1"/>
            <p:nvPr/>
          </p:nvSpPr>
          <p:spPr>
            <a:xfrm>
              <a:off x="3170766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232" name="Shape 827"/>
            <p:cNvSpPr txBox="1"/>
            <p:nvPr/>
          </p:nvSpPr>
          <p:spPr>
            <a:xfrm>
              <a:off x="1653258" y="234244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233" name="Shape 828"/>
            <p:cNvSpPr txBox="1"/>
            <p:nvPr/>
          </p:nvSpPr>
          <p:spPr>
            <a:xfrm>
              <a:off x="3175846" y="233736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234" name="Shape 829"/>
            <p:cNvSpPr txBox="1"/>
            <p:nvPr/>
          </p:nvSpPr>
          <p:spPr>
            <a:xfrm>
              <a:off x="1648176" y="301977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35" name="Shape 830"/>
            <p:cNvSpPr txBox="1"/>
            <p:nvPr/>
          </p:nvSpPr>
          <p:spPr>
            <a:xfrm>
              <a:off x="3170766" y="301046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236" name="Shape 831"/>
            <p:cNvSpPr txBox="1"/>
            <p:nvPr/>
          </p:nvSpPr>
          <p:spPr>
            <a:xfrm>
              <a:off x="1648176" y="375581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237" name="Shape 832"/>
            <p:cNvSpPr txBox="1"/>
            <p:nvPr/>
          </p:nvSpPr>
          <p:spPr>
            <a:xfrm>
              <a:off x="3170766" y="375073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238" name="Shape 833"/>
            <p:cNvSpPr/>
            <p:nvPr/>
          </p:nvSpPr>
          <p:spPr>
            <a:xfrm>
              <a:off x="4606713" y="803769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39" name="Shape 834"/>
            <p:cNvSpPr/>
            <p:nvPr/>
          </p:nvSpPr>
          <p:spPr>
            <a:xfrm>
              <a:off x="5216595" y="808284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0" name="Shape 835"/>
            <p:cNvSpPr/>
            <p:nvPr/>
          </p:nvSpPr>
          <p:spPr>
            <a:xfrm>
              <a:off x="3807459" y="1065671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1" name="Shape 836"/>
            <p:cNvSpPr/>
            <p:nvPr/>
          </p:nvSpPr>
          <p:spPr>
            <a:xfrm flipH="1">
              <a:off x="5216595" y="984391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2" name="Shape 837"/>
            <p:cNvSpPr/>
            <p:nvPr/>
          </p:nvSpPr>
          <p:spPr>
            <a:xfrm>
              <a:off x="5322429" y="984391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3" name="Shape 838"/>
            <p:cNvSpPr txBox="1"/>
            <p:nvPr/>
          </p:nvSpPr>
          <p:spPr>
            <a:xfrm>
              <a:off x="4711135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244" name="Shape 839"/>
            <p:cNvSpPr/>
            <p:nvPr/>
          </p:nvSpPr>
          <p:spPr>
            <a:xfrm>
              <a:off x="4627033" y="3671147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5" name="Shape 840"/>
            <p:cNvSpPr/>
            <p:nvPr/>
          </p:nvSpPr>
          <p:spPr>
            <a:xfrm>
              <a:off x="5238891" y="3675663"/>
              <a:ext cx="2259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6" name="Shape 841"/>
            <p:cNvSpPr/>
            <p:nvPr/>
          </p:nvSpPr>
          <p:spPr>
            <a:xfrm>
              <a:off x="3866162" y="3933050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7" name="Shape 842"/>
            <p:cNvSpPr/>
            <p:nvPr/>
          </p:nvSpPr>
          <p:spPr>
            <a:xfrm flipH="1">
              <a:off x="5238891" y="3851770"/>
              <a:ext cx="103859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8" name="Shape 843"/>
            <p:cNvSpPr/>
            <p:nvPr/>
          </p:nvSpPr>
          <p:spPr>
            <a:xfrm>
              <a:off x="5342749" y="385177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9" name="Shape 844"/>
            <p:cNvSpPr txBox="1"/>
            <p:nvPr/>
          </p:nvSpPr>
          <p:spPr>
            <a:xfrm>
              <a:off x="4706055" y="371009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276" name="Group 871"/>
          <p:cNvGrpSpPr/>
          <p:nvPr/>
        </p:nvGrpSpPr>
        <p:grpSpPr>
          <a:xfrm>
            <a:off x="8492348" y="1932643"/>
            <a:ext cx="4489314" cy="3347033"/>
            <a:chOff x="0" y="0"/>
            <a:chExt cx="4489312" cy="3347032"/>
          </a:xfrm>
        </p:grpSpPr>
        <p:grpSp>
          <p:nvGrpSpPr>
            <p:cNvPr id="2253" name="Group 848"/>
            <p:cNvGrpSpPr/>
            <p:nvPr/>
          </p:nvGrpSpPr>
          <p:grpSpPr>
            <a:xfrm>
              <a:off x="1169307" y="69865"/>
              <a:ext cx="537421" cy="614500"/>
              <a:chOff x="0" y="0"/>
              <a:chExt cx="537420" cy="614498"/>
            </a:xfrm>
          </p:grpSpPr>
          <p:sp>
            <p:nvSpPr>
              <p:cNvPr id="2251" name="Shape 846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52" name="Shape 847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256" name="Group 851"/>
            <p:cNvGrpSpPr/>
            <p:nvPr/>
          </p:nvGrpSpPr>
          <p:grpSpPr>
            <a:xfrm>
              <a:off x="0" y="1407668"/>
              <a:ext cx="537421" cy="614500"/>
              <a:chOff x="0" y="0"/>
              <a:chExt cx="537420" cy="614498"/>
            </a:xfrm>
          </p:grpSpPr>
          <p:sp>
            <p:nvSpPr>
              <p:cNvPr id="2254" name="Shape 849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55" name="Shape 850"/>
              <p:cNvSpPr txBox="1"/>
              <p:nvPr/>
            </p:nvSpPr>
            <p:spPr>
              <a:xfrm>
                <a:off x="22438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2257" name="Shape 852"/>
            <p:cNvSpPr/>
            <p:nvPr/>
          </p:nvSpPr>
          <p:spPr>
            <a:xfrm flipH="1">
              <a:off x="268619" y="429057"/>
              <a:ext cx="898818" cy="993650"/>
            </a:xfrm>
            <a:prstGeom prst="line">
              <a:avLst/>
            </a:prstGeom>
            <a:noFill/>
            <a:ln w="28575" cap="sq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58" name="Shape 853"/>
            <p:cNvSpPr/>
            <p:nvPr/>
          </p:nvSpPr>
          <p:spPr>
            <a:xfrm>
              <a:off x="1708598" y="346252"/>
              <a:ext cx="1615997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59" name="Shape 854"/>
            <p:cNvSpPr/>
            <p:nvPr/>
          </p:nvSpPr>
          <p:spPr>
            <a:xfrm>
              <a:off x="540135" y="1753921"/>
              <a:ext cx="2784460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60" name="Shape 855"/>
            <p:cNvSpPr/>
            <p:nvPr/>
          </p:nvSpPr>
          <p:spPr>
            <a:xfrm flipH="1">
              <a:off x="1603735" y="429057"/>
              <a:ext cx="1451215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61" name="Shape 856"/>
            <p:cNvSpPr/>
            <p:nvPr/>
          </p:nvSpPr>
          <p:spPr>
            <a:xfrm>
              <a:off x="3594237" y="346252"/>
              <a:ext cx="719054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62" name="Shape 857"/>
            <p:cNvSpPr/>
            <p:nvPr/>
          </p:nvSpPr>
          <p:spPr>
            <a:xfrm flipH="1">
              <a:off x="1693616" y="1753920"/>
              <a:ext cx="2350032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63" name="Shape 858"/>
            <p:cNvSpPr/>
            <p:nvPr/>
          </p:nvSpPr>
          <p:spPr>
            <a:xfrm flipH="1">
              <a:off x="1437080" y="651592"/>
              <a:ext cx="1875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266" name="Group 861"/>
            <p:cNvGrpSpPr/>
            <p:nvPr/>
          </p:nvGrpSpPr>
          <p:grpSpPr>
            <a:xfrm>
              <a:off x="3053075" y="-1"/>
              <a:ext cx="537421" cy="614500"/>
              <a:chOff x="0" y="0"/>
              <a:chExt cx="537420" cy="614498"/>
            </a:xfrm>
          </p:grpSpPr>
          <p:sp>
            <p:nvSpPr>
              <p:cNvPr id="2264" name="Shape 859"/>
              <p:cNvSpPr/>
              <p:nvPr/>
            </p:nvSpPr>
            <p:spPr>
              <a:xfrm>
                <a:off x="0" y="15037"/>
                <a:ext cx="537421" cy="579631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5" name="Shape 860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269" name="Group 864"/>
            <p:cNvGrpSpPr/>
            <p:nvPr/>
          </p:nvGrpSpPr>
          <p:grpSpPr>
            <a:xfrm>
              <a:off x="3951892" y="1324864"/>
              <a:ext cx="537421" cy="614500"/>
              <a:chOff x="0" y="0"/>
              <a:chExt cx="537420" cy="614498"/>
            </a:xfrm>
          </p:grpSpPr>
          <p:sp>
            <p:nvSpPr>
              <p:cNvPr id="2267" name="Shape 862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8" name="Shape 863"/>
              <p:cNvSpPr txBox="1"/>
              <p:nvPr/>
            </p:nvSpPr>
            <p:spPr>
              <a:xfrm>
                <a:off x="2159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272" name="Group 867"/>
            <p:cNvGrpSpPr/>
            <p:nvPr/>
          </p:nvGrpSpPr>
          <p:grpSpPr>
            <a:xfrm>
              <a:off x="1165562" y="2732533"/>
              <a:ext cx="537421" cy="614499"/>
              <a:chOff x="0" y="0"/>
              <a:chExt cx="537420" cy="614498"/>
            </a:xfrm>
          </p:grpSpPr>
          <p:sp>
            <p:nvSpPr>
              <p:cNvPr id="2270" name="Shape 865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71" name="Shape 866"/>
              <p:cNvSpPr txBox="1"/>
              <p:nvPr/>
            </p:nvSpPr>
            <p:spPr>
              <a:xfrm>
                <a:off x="61651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275" name="Group 870"/>
            <p:cNvGrpSpPr/>
            <p:nvPr/>
          </p:nvGrpSpPr>
          <p:grpSpPr>
            <a:xfrm>
              <a:off x="3142956" y="2649729"/>
              <a:ext cx="537421" cy="614499"/>
              <a:chOff x="0" y="0"/>
              <a:chExt cx="537420" cy="614498"/>
            </a:xfrm>
          </p:grpSpPr>
          <p:sp>
            <p:nvSpPr>
              <p:cNvPr id="2273" name="Shape 868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74" name="Shape 869"/>
              <p:cNvSpPr txBox="1"/>
              <p:nvPr/>
            </p:nvSpPr>
            <p:spPr>
              <a:xfrm>
                <a:off x="48454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sp>
        <p:nvSpPr>
          <p:cNvPr id="2277" name="Shape 873"/>
          <p:cNvSpPr txBox="1"/>
          <p:nvPr/>
        </p:nvSpPr>
        <p:spPr>
          <a:xfrm>
            <a:off x="1659281" y="5706369"/>
            <a:ext cx="9316100" cy="221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lnSpc>
                <a:spcPct val="10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1条边存了2次，当然，也可以1条边只存1次，怎么存？</a:t>
            </a:r>
          </a:p>
          <a:p>
            <a:pPr marL="300789" marR="57798" indent="-300789" defTabSz="1295400">
              <a:lnSpc>
                <a:spcPct val="100000"/>
              </a:lnSpc>
              <a:spcBef>
                <a:spcPts val="1900"/>
              </a:spcBef>
              <a:buSzPct val="60000"/>
              <a:buBlip>
                <a:blip r:embed="rId2"/>
              </a:buBlip>
              <a:defRPr>
                <a:uFill>
                  <a:solidFill>
                    <a:srgbClr val="000000"/>
                  </a:solidFill>
                </a:uFill>
              </a:defRPr>
            </a:pPr>
            <a:r>
              <a:t>addEdge(1, 0)、addEdge(0, 1)</a:t>
            </a:r>
          </a:p>
          <a:p>
            <a:pPr marL="300789" marR="57798" indent="-300789" defTabSz="1295400">
              <a:lnSpc>
                <a:spcPct val="100000"/>
              </a:lnSpc>
              <a:spcBef>
                <a:spcPts val="1900"/>
              </a:spcBef>
              <a:buSzPct val="60000"/>
              <a:buBlip>
                <a:blip r:embed="rId2"/>
              </a:buBlip>
              <a:defRPr>
                <a:uFill>
                  <a:solidFill>
                    <a:srgbClr val="000000"/>
                  </a:solidFill>
                </a:uFill>
              </a:defRPr>
            </a:pPr>
            <a:r>
              <a:t>addEdge(1, 0)、removeEdge(0, 1)</a:t>
            </a:r>
          </a:p>
        </p:txBody>
      </p:sp>
      <p:grpSp>
        <p:nvGrpSpPr>
          <p:cNvPr id="2281" name="成组"/>
          <p:cNvGrpSpPr/>
          <p:nvPr/>
        </p:nvGrpSpPr>
        <p:grpSpPr>
          <a:xfrm>
            <a:off x="16720" y="1251371"/>
            <a:ext cx="3490733" cy="4212193"/>
            <a:chOff x="25400" y="25400"/>
            <a:chExt cx="3490731" cy="4212191"/>
          </a:xfrm>
        </p:grpSpPr>
        <p:graphicFrame>
          <p:nvGraphicFramePr>
            <p:cNvPr id="2278" name="Table 1053"/>
            <p:cNvGraphicFramePr/>
            <p:nvPr/>
          </p:nvGraphicFramePr>
          <p:xfrm>
            <a:off x="25400" y="503606"/>
            <a:ext cx="480060" cy="373398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279" name="Table 1052"/>
            <p:cNvGraphicFramePr/>
            <p:nvPr/>
          </p:nvGraphicFramePr>
          <p:xfrm>
            <a:off x="4794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8680"/>
                  <a:gridCol w="558680"/>
                  <a:gridCol w="558680"/>
                  <a:gridCol w="558680"/>
                  <a:gridCol w="558680"/>
                  <a:gridCol w="558680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280" name="表格"/>
            <p:cNvGraphicFramePr/>
            <p:nvPr/>
          </p:nvGraphicFramePr>
          <p:xfrm>
            <a:off x="506710" y="4909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Shape 425"/>
          <p:cNvSpPr txBox="1"/>
          <p:nvPr/>
        </p:nvSpPr>
        <p:spPr>
          <a:xfrm>
            <a:off x="1778564" y="93133"/>
            <a:ext cx="8813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无向图-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邻接矩阵</a:t>
            </a:r>
          </a:p>
        </p:txBody>
      </p:sp>
      <p:grpSp>
        <p:nvGrpSpPr>
          <p:cNvPr id="2309" name="Group 451"/>
          <p:cNvGrpSpPr/>
          <p:nvPr/>
        </p:nvGrpSpPr>
        <p:grpSpPr>
          <a:xfrm>
            <a:off x="625602" y="2933320"/>
            <a:ext cx="4488467" cy="3347034"/>
            <a:chOff x="0" y="0"/>
            <a:chExt cx="4488465" cy="3347032"/>
          </a:xfrm>
        </p:grpSpPr>
        <p:grpSp>
          <p:nvGrpSpPr>
            <p:cNvPr id="2286" name="Group 428"/>
            <p:cNvGrpSpPr/>
            <p:nvPr/>
          </p:nvGrpSpPr>
          <p:grpSpPr>
            <a:xfrm>
              <a:off x="1168460" y="69865"/>
              <a:ext cx="537421" cy="614500"/>
              <a:chOff x="0" y="0"/>
              <a:chExt cx="537420" cy="614498"/>
            </a:xfrm>
          </p:grpSpPr>
          <p:sp>
            <p:nvSpPr>
              <p:cNvPr id="2284" name="Shape 426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85" name="Shape 427"/>
              <p:cNvSpPr txBox="1"/>
              <p:nvPr/>
            </p:nvSpPr>
            <p:spPr>
              <a:xfrm>
                <a:off x="3490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289" name="Group 431"/>
            <p:cNvGrpSpPr/>
            <p:nvPr/>
          </p:nvGrpSpPr>
          <p:grpSpPr>
            <a:xfrm>
              <a:off x="-1" y="1407668"/>
              <a:ext cx="537421" cy="614500"/>
              <a:chOff x="0" y="0"/>
              <a:chExt cx="537420" cy="614498"/>
            </a:xfrm>
          </p:grpSpPr>
          <p:sp>
            <p:nvSpPr>
              <p:cNvPr id="2287" name="Shape 429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88" name="Shape 430"/>
              <p:cNvSpPr txBox="1"/>
              <p:nvPr/>
            </p:nvSpPr>
            <p:spPr>
              <a:xfrm>
                <a:off x="2159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2290" name="Shape 432"/>
            <p:cNvSpPr/>
            <p:nvPr/>
          </p:nvSpPr>
          <p:spPr>
            <a:xfrm flipH="1">
              <a:off x="267772" y="429056"/>
              <a:ext cx="898818" cy="99365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91" name="Shape 433"/>
            <p:cNvSpPr/>
            <p:nvPr/>
          </p:nvSpPr>
          <p:spPr>
            <a:xfrm>
              <a:off x="1707750" y="346252"/>
              <a:ext cx="1615998" cy="240131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92" name="Shape 434"/>
            <p:cNvSpPr/>
            <p:nvPr/>
          </p:nvSpPr>
          <p:spPr>
            <a:xfrm>
              <a:off x="539289" y="1753921"/>
              <a:ext cx="2784459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93" name="Shape 435"/>
            <p:cNvSpPr/>
            <p:nvPr/>
          </p:nvSpPr>
          <p:spPr>
            <a:xfrm flipH="1">
              <a:off x="1602888" y="429055"/>
              <a:ext cx="1451215" cy="2401321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94" name="Shape 436"/>
            <p:cNvSpPr/>
            <p:nvPr/>
          </p:nvSpPr>
          <p:spPr>
            <a:xfrm>
              <a:off x="3593391" y="346253"/>
              <a:ext cx="719055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95" name="Shape 437"/>
            <p:cNvSpPr/>
            <p:nvPr/>
          </p:nvSpPr>
          <p:spPr>
            <a:xfrm flipH="1">
              <a:off x="1692769" y="1753920"/>
              <a:ext cx="2350032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96" name="Shape 438"/>
            <p:cNvSpPr/>
            <p:nvPr/>
          </p:nvSpPr>
          <p:spPr>
            <a:xfrm flipH="1">
              <a:off x="1436232" y="651592"/>
              <a:ext cx="1875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299" name="Group 441"/>
            <p:cNvGrpSpPr/>
            <p:nvPr/>
          </p:nvGrpSpPr>
          <p:grpSpPr>
            <a:xfrm>
              <a:off x="3052229" y="-1"/>
              <a:ext cx="537421" cy="614500"/>
              <a:chOff x="0" y="0"/>
              <a:chExt cx="537420" cy="614498"/>
            </a:xfrm>
          </p:grpSpPr>
          <p:sp>
            <p:nvSpPr>
              <p:cNvPr id="2297" name="Shape 439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98" name="Shape 440"/>
              <p:cNvSpPr txBox="1"/>
              <p:nvPr/>
            </p:nvSpPr>
            <p:spPr>
              <a:xfrm>
                <a:off x="34905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302" name="Group 444"/>
            <p:cNvGrpSpPr/>
            <p:nvPr/>
          </p:nvGrpSpPr>
          <p:grpSpPr>
            <a:xfrm>
              <a:off x="3951045" y="1324864"/>
              <a:ext cx="537421" cy="614500"/>
              <a:chOff x="0" y="0"/>
              <a:chExt cx="537420" cy="614498"/>
            </a:xfrm>
          </p:grpSpPr>
          <p:sp>
            <p:nvSpPr>
              <p:cNvPr id="2300" name="Shape 442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1" name="Shape 443"/>
              <p:cNvSpPr txBox="1"/>
              <p:nvPr/>
            </p:nvSpPr>
            <p:spPr>
              <a:xfrm>
                <a:off x="21591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305" name="Group 447"/>
            <p:cNvGrpSpPr/>
            <p:nvPr/>
          </p:nvGrpSpPr>
          <p:grpSpPr>
            <a:xfrm>
              <a:off x="1164715" y="2732534"/>
              <a:ext cx="537421" cy="614499"/>
              <a:chOff x="0" y="0"/>
              <a:chExt cx="537420" cy="614498"/>
            </a:xfrm>
          </p:grpSpPr>
          <p:sp>
            <p:nvSpPr>
              <p:cNvPr id="2303" name="Shape 445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4" name="Shape 446"/>
              <p:cNvSpPr txBox="1"/>
              <p:nvPr/>
            </p:nvSpPr>
            <p:spPr>
              <a:xfrm>
                <a:off x="61650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308" name="Group 450"/>
            <p:cNvGrpSpPr/>
            <p:nvPr/>
          </p:nvGrpSpPr>
          <p:grpSpPr>
            <a:xfrm>
              <a:off x="3142110" y="2649729"/>
              <a:ext cx="537421" cy="614499"/>
              <a:chOff x="0" y="0"/>
              <a:chExt cx="537420" cy="614498"/>
            </a:xfrm>
          </p:grpSpPr>
          <p:sp>
            <p:nvSpPr>
              <p:cNvPr id="2306" name="Shape 448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7" name="Shape 449"/>
              <p:cNvSpPr txBox="1"/>
              <p:nvPr/>
            </p:nvSpPr>
            <p:spPr>
              <a:xfrm>
                <a:off x="48454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2328" name="成组"/>
          <p:cNvGrpSpPr/>
          <p:nvPr/>
        </p:nvGrpSpPr>
        <p:grpSpPr>
          <a:xfrm>
            <a:off x="5909021" y="2876106"/>
            <a:ext cx="1465776" cy="4199472"/>
            <a:chOff x="0" y="0"/>
            <a:chExt cx="1465774" cy="4199470"/>
          </a:xfrm>
        </p:grpSpPr>
        <p:sp>
          <p:nvSpPr>
            <p:cNvPr id="2310" name="Shape 753"/>
            <p:cNvSpPr/>
            <p:nvPr/>
          </p:nvSpPr>
          <p:spPr>
            <a:xfrm>
              <a:off x="438854" y="0"/>
              <a:ext cx="1026921" cy="419947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11" name="Shape 754"/>
            <p:cNvSpPr/>
            <p:nvPr/>
          </p:nvSpPr>
          <p:spPr>
            <a:xfrm>
              <a:off x="438855" y="715715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12" name="Shape 755"/>
            <p:cNvSpPr/>
            <p:nvPr/>
          </p:nvSpPr>
          <p:spPr>
            <a:xfrm>
              <a:off x="438855" y="1433689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13" name="Shape 756"/>
            <p:cNvSpPr/>
            <p:nvPr/>
          </p:nvSpPr>
          <p:spPr>
            <a:xfrm>
              <a:off x="438855" y="2149406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14" name="Shape 757"/>
            <p:cNvSpPr/>
            <p:nvPr/>
          </p:nvSpPr>
          <p:spPr>
            <a:xfrm>
              <a:off x="438855" y="2867379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15" name="Shape 758"/>
            <p:cNvSpPr/>
            <p:nvPr/>
          </p:nvSpPr>
          <p:spPr>
            <a:xfrm>
              <a:off x="438855" y="3583096"/>
              <a:ext cx="10168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16" name="Shape 809"/>
            <p:cNvSpPr txBox="1"/>
            <p:nvPr/>
          </p:nvSpPr>
          <p:spPr>
            <a:xfrm>
              <a:off x="0" y="1238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317" name="Shape 810"/>
            <p:cNvSpPr txBox="1"/>
            <p:nvPr/>
          </p:nvSpPr>
          <p:spPr>
            <a:xfrm>
              <a:off x="0" y="8012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318" name="Shape 811"/>
            <p:cNvSpPr txBox="1"/>
            <p:nvPr/>
          </p:nvSpPr>
          <p:spPr>
            <a:xfrm>
              <a:off x="0" y="15581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319" name="Shape 812"/>
            <p:cNvSpPr txBox="1"/>
            <p:nvPr/>
          </p:nvSpPr>
          <p:spPr>
            <a:xfrm>
              <a:off x="0" y="22275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320" name="Shape 813"/>
            <p:cNvSpPr txBox="1"/>
            <p:nvPr/>
          </p:nvSpPr>
          <p:spPr>
            <a:xfrm>
              <a:off x="0" y="2958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321" name="Shape 814"/>
            <p:cNvSpPr txBox="1"/>
            <p:nvPr/>
          </p:nvSpPr>
          <p:spPr>
            <a:xfrm>
              <a:off x="0" y="362317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322" name="Shape 815"/>
            <p:cNvSpPr txBox="1"/>
            <p:nvPr/>
          </p:nvSpPr>
          <p:spPr>
            <a:xfrm>
              <a:off x="636975" y="140263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323" name="Shape 816"/>
            <p:cNvSpPr txBox="1"/>
            <p:nvPr/>
          </p:nvSpPr>
          <p:spPr>
            <a:xfrm>
              <a:off x="636975" y="880816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324" name="Shape 817"/>
            <p:cNvSpPr txBox="1"/>
            <p:nvPr/>
          </p:nvSpPr>
          <p:spPr>
            <a:xfrm>
              <a:off x="636975" y="159878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325" name="Shape 818"/>
            <p:cNvSpPr txBox="1"/>
            <p:nvPr/>
          </p:nvSpPr>
          <p:spPr>
            <a:xfrm>
              <a:off x="636975" y="2212904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326" name="Shape 819"/>
            <p:cNvSpPr txBox="1"/>
            <p:nvPr/>
          </p:nvSpPr>
          <p:spPr>
            <a:xfrm>
              <a:off x="636975" y="303247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327" name="Shape 820"/>
            <p:cNvSpPr txBox="1"/>
            <p:nvPr/>
          </p:nvSpPr>
          <p:spPr>
            <a:xfrm>
              <a:off x="636975" y="3669455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sp>
        <p:nvSpPr>
          <p:cNvPr id="2329" name="对称矩阵，只存储、使用下三角部分"/>
          <p:cNvSpPr txBox="1"/>
          <p:nvPr/>
        </p:nvSpPr>
        <p:spPr>
          <a:xfrm>
            <a:off x="388632" y="1705513"/>
            <a:ext cx="6268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对称矩阵，只存储、使用下三角部分</a:t>
            </a:r>
          </a:p>
        </p:txBody>
      </p:sp>
      <p:grpSp>
        <p:nvGrpSpPr>
          <p:cNvPr id="2333" name="成组"/>
          <p:cNvGrpSpPr/>
          <p:nvPr/>
        </p:nvGrpSpPr>
        <p:grpSpPr>
          <a:xfrm>
            <a:off x="8455254" y="2587266"/>
            <a:ext cx="3490732" cy="4212193"/>
            <a:chOff x="25400" y="25400"/>
            <a:chExt cx="3490731" cy="4212191"/>
          </a:xfrm>
        </p:grpSpPr>
        <p:graphicFrame>
          <p:nvGraphicFramePr>
            <p:cNvPr id="2330" name="Table 1053"/>
            <p:cNvGraphicFramePr/>
            <p:nvPr/>
          </p:nvGraphicFramePr>
          <p:xfrm>
            <a:off x="25400" y="503606"/>
            <a:ext cx="480060" cy="373398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31" name="Table 1052"/>
            <p:cNvGraphicFramePr/>
            <p:nvPr/>
          </p:nvGraphicFramePr>
          <p:xfrm>
            <a:off x="4794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8680"/>
                  <a:gridCol w="558680"/>
                  <a:gridCol w="558680"/>
                  <a:gridCol w="558680"/>
                  <a:gridCol w="558680"/>
                  <a:gridCol w="558680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32" name="表格"/>
            <p:cNvGraphicFramePr/>
            <p:nvPr/>
          </p:nvGraphicFramePr>
          <p:xfrm>
            <a:off x="506710" y="6179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基于邻接矩阵的无向图实现</a:t>
            </a:r>
          </a:p>
        </p:txBody>
      </p:sp>
      <p:sp>
        <p:nvSpPr>
          <p:cNvPr id="2336" name="public class AjacencyMatrixUnDirectedGraph&lt;T&gt; implements IGraph&lt;T&gt; {…"/>
          <p:cNvSpPr txBox="1"/>
          <p:nvPr/>
        </p:nvSpPr>
        <p:spPr>
          <a:xfrm>
            <a:off x="148003" y="1475309"/>
            <a:ext cx="12491121" cy="6056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AjacencyMatrixUnDirectedGraph&lt;T&gt;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IGraph&lt;T&gt; {</a:t>
            </a: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GraphKind </a:t>
            </a:r>
            <a:r>
              <a:t>graghKind</a:t>
            </a:r>
            <a:r>
              <a:rPr>
                <a:solidFill>
                  <a:srgbClr val="000000"/>
                </a:solidFill>
              </a:rPr>
              <a:t> = GraphKind.</a:t>
            </a:r>
            <a:r>
              <a:t>UnDirectedGraph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[][]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AjacencyMatrixUnDirectedGraph(T[]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n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vertices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Object[</a:t>
            </a:r>
            <a: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System.arraycopy(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, 0, </a:t>
            </a:r>
            <a:r>
              <a:rPr>
                <a:solidFill>
                  <a:srgbClr val="0326CC"/>
                </a:solidFill>
              </a:rPr>
              <a:t>n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][]; </a:t>
            </a:r>
            <a:r>
              <a:t>// 使用下三角形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n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+ 1];// 注意：数组的大小等于顶点编号 + 1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public int degree(int v) {…"/>
          <p:cNvSpPr txBox="1"/>
          <p:nvPr/>
        </p:nvSpPr>
        <p:spPr>
          <a:xfrm>
            <a:off x="1077078" y="1253347"/>
            <a:ext cx="5525307" cy="4266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 = 0;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&lt;= </a:t>
            </a:r>
            <a:r>
              <a:rPr>
                <a:solidFill>
                  <a:srgbClr val="7E504F"/>
                </a:solidFill>
              </a:rPr>
              <a:t>v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count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t>v</a:t>
            </a:r>
            <a:r>
              <a:rPr>
                <a:solidFill>
                  <a:srgbClr val="000000"/>
                </a:solidFill>
              </a:rPr>
              <a:t>][</a:t>
            </a:r>
            <a:r>
              <a:t>i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count</a:t>
            </a:r>
            <a:r>
              <a:rPr>
                <a:solidFill>
                  <a:srgbClr val="000000"/>
                </a:solidFill>
              </a:rPr>
              <a:t> +=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][</a:t>
            </a:r>
            <a:r>
              <a:t>v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2342" name="成组"/>
          <p:cNvGrpSpPr/>
          <p:nvPr/>
        </p:nvGrpSpPr>
        <p:grpSpPr>
          <a:xfrm>
            <a:off x="8814259" y="1682573"/>
            <a:ext cx="3490733" cy="4212193"/>
            <a:chOff x="25400" y="25400"/>
            <a:chExt cx="3490731" cy="4212191"/>
          </a:xfrm>
        </p:grpSpPr>
        <p:graphicFrame>
          <p:nvGraphicFramePr>
            <p:cNvPr id="2339" name="Table 1053"/>
            <p:cNvGraphicFramePr/>
            <p:nvPr/>
          </p:nvGraphicFramePr>
          <p:xfrm>
            <a:off x="25400" y="503606"/>
            <a:ext cx="480060" cy="373398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40" name="Table 1052"/>
            <p:cNvGraphicFramePr/>
            <p:nvPr/>
          </p:nvGraphicFramePr>
          <p:xfrm>
            <a:off x="4794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8680"/>
                  <a:gridCol w="558680"/>
                  <a:gridCol w="558680"/>
                  <a:gridCol w="558680"/>
                  <a:gridCol w="558680"/>
                  <a:gridCol w="558680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41" name="表格"/>
            <p:cNvGraphicFramePr/>
            <p:nvPr/>
          </p:nvGraphicFramePr>
          <p:xfrm>
            <a:off x="506710" y="6179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</a:tbl>
            </a:graphicData>
          </a:graphic>
        </p:graphicFrame>
      </p:grpSp>
      <p:sp>
        <p:nvSpPr>
          <p:cNvPr id="2343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基于邻接矩阵的无向图实现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8" name="成组"/>
          <p:cNvGrpSpPr/>
          <p:nvPr/>
        </p:nvGrpSpPr>
        <p:grpSpPr>
          <a:xfrm>
            <a:off x="8814259" y="1682573"/>
            <a:ext cx="3490733" cy="4212193"/>
            <a:chOff x="25400" y="25400"/>
            <a:chExt cx="3490731" cy="4212191"/>
          </a:xfrm>
        </p:grpSpPr>
        <p:graphicFrame>
          <p:nvGraphicFramePr>
            <p:cNvPr id="2345" name="Table 1053"/>
            <p:cNvGraphicFramePr/>
            <p:nvPr/>
          </p:nvGraphicFramePr>
          <p:xfrm>
            <a:off x="25400" y="503606"/>
            <a:ext cx="480060" cy="373398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46" name="Table 1052"/>
            <p:cNvGraphicFramePr/>
            <p:nvPr/>
          </p:nvGraphicFramePr>
          <p:xfrm>
            <a:off x="4794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8680"/>
                  <a:gridCol w="558680"/>
                  <a:gridCol w="558680"/>
                  <a:gridCol w="558680"/>
                  <a:gridCol w="558680"/>
                  <a:gridCol w="558680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47" name="表格"/>
            <p:cNvGraphicFramePr/>
            <p:nvPr/>
          </p:nvGraphicFramePr>
          <p:xfrm>
            <a:off x="506710" y="6179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</a:tbl>
            </a:graphicData>
          </a:graphic>
        </p:graphicFrame>
      </p:grpSp>
      <p:sp>
        <p:nvSpPr>
          <p:cNvPr id="2349" name="public boolean addEdge(int u, int v) {…"/>
          <p:cNvSpPr txBox="1"/>
          <p:nvPr/>
        </p:nvSpPr>
        <p:spPr>
          <a:xfrm>
            <a:off x="183693" y="1509058"/>
            <a:ext cx="7811679" cy="642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addEdge(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 &gt;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保证 u &gt; v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u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u</a:t>
            </a:r>
            <a: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== 0) {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 1;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++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350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基于邻接矩阵的无向图实现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基于邻接矩阵的无向图实现</a:t>
            </a:r>
          </a:p>
        </p:txBody>
      </p:sp>
      <p:grpSp>
        <p:nvGrpSpPr>
          <p:cNvPr id="2356" name="成组"/>
          <p:cNvGrpSpPr/>
          <p:nvPr/>
        </p:nvGrpSpPr>
        <p:grpSpPr>
          <a:xfrm>
            <a:off x="9131759" y="1682573"/>
            <a:ext cx="3490733" cy="4212193"/>
            <a:chOff x="25400" y="25400"/>
            <a:chExt cx="3490731" cy="4212191"/>
          </a:xfrm>
        </p:grpSpPr>
        <p:graphicFrame>
          <p:nvGraphicFramePr>
            <p:cNvPr id="2353" name="Table 1053"/>
            <p:cNvGraphicFramePr/>
            <p:nvPr/>
          </p:nvGraphicFramePr>
          <p:xfrm>
            <a:off x="25400" y="503606"/>
            <a:ext cx="480060" cy="373398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54" name="Table 1052"/>
            <p:cNvGraphicFramePr/>
            <p:nvPr/>
          </p:nvGraphicFramePr>
          <p:xfrm>
            <a:off x="4794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8680"/>
                  <a:gridCol w="558680"/>
                  <a:gridCol w="558680"/>
                  <a:gridCol w="558680"/>
                  <a:gridCol w="558680"/>
                  <a:gridCol w="558680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55" name="表格"/>
            <p:cNvGraphicFramePr/>
            <p:nvPr/>
          </p:nvGraphicFramePr>
          <p:xfrm>
            <a:off x="506710" y="6179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</a:tbl>
            </a:graphicData>
          </a:graphic>
        </p:graphicFrame>
      </p:grpSp>
      <p:sp>
        <p:nvSpPr>
          <p:cNvPr id="2357" name="public boolean removeEdge(int u, int v) {…"/>
          <p:cNvSpPr txBox="1"/>
          <p:nvPr/>
        </p:nvSpPr>
        <p:spPr>
          <a:xfrm>
            <a:off x="2850" y="1333500"/>
            <a:ext cx="9032926" cy="601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removeEdge(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 &gt;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保证 u &gt; v, 交换2个整数的另外的写法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t> ^ </a:t>
            </a:r>
            <a:r>
              <a:rPr>
                <a:solidFill>
                  <a:srgbClr val="7E504F"/>
                </a:solidFill>
              </a:rPr>
              <a:t>u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u</a:t>
            </a:r>
            <a: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t> ^ </a:t>
            </a:r>
            <a:r>
              <a:rPr>
                <a:solidFill>
                  <a:srgbClr val="7E504F"/>
                </a:solidFill>
              </a:rPr>
              <a:t>u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t> ^ </a:t>
            </a:r>
            <a:r>
              <a:rPr>
                <a:solidFill>
                  <a:srgbClr val="7E504F"/>
                </a:solidFill>
              </a:rPr>
              <a:t>u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!= 0)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= 0;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--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Shape 1314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基于邻接矩阵的无向图实现</a:t>
            </a:r>
          </a:p>
        </p:txBody>
      </p:sp>
      <p:grpSp>
        <p:nvGrpSpPr>
          <p:cNvPr id="2363" name="成组"/>
          <p:cNvGrpSpPr/>
          <p:nvPr/>
        </p:nvGrpSpPr>
        <p:grpSpPr>
          <a:xfrm>
            <a:off x="8814259" y="1682573"/>
            <a:ext cx="3490733" cy="4212193"/>
            <a:chOff x="25400" y="25400"/>
            <a:chExt cx="3490731" cy="4212191"/>
          </a:xfrm>
        </p:grpSpPr>
        <p:graphicFrame>
          <p:nvGraphicFramePr>
            <p:cNvPr id="2360" name="Table 1053"/>
            <p:cNvGraphicFramePr/>
            <p:nvPr/>
          </p:nvGraphicFramePr>
          <p:xfrm>
            <a:off x="25400" y="503606"/>
            <a:ext cx="480060" cy="373398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61" name="Table 1052"/>
            <p:cNvGraphicFramePr/>
            <p:nvPr/>
          </p:nvGraphicFramePr>
          <p:xfrm>
            <a:off x="4794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8680"/>
                  <a:gridCol w="558680"/>
                  <a:gridCol w="558680"/>
                  <a:gridCol w="558680"/>
                  <a:gridCol w="558680"/>
                  <a:gridCol w="558680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362" name="表格"/>
            <p:cNvGraphicFramePr/>
            <p:nvPr/>
          </p:nvGraphicFramePr>
          <p:xfrm>
            <a:off x="506710" y="6179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38100">
                        <a:solidFill>
                          <a:schemeClr val="accent4"/>
                        </a:solidFill>
                        <a:miter lim="400000"/>
                      </a:lnL>
                      <a:lnR w="38100">
                        <a:solidFill>
                          <a:schemeClr val="accent4"/>
                        </a:solidFill>
                        <a:miter lim="400000"/>
                      </a:lnR>
                      <a:lnT w="38100">
                        <a:solidFill>
                          <a:schemeClr val="accent4"/>
                        </a:solidFill>
                        <a:miter lim="400000"/>
                      </a:lnT>
                      <a:lnB w="38100">
                        <a:solidFill>
                          <a:schemeClr val="accent4"/>
                        </a:solidFill>
                        <a:miter lim="400000"/>
                      </a:lnB>
                    </a:tcPr>
                  </a:tc>
                </a:tr>
              </a:tbl>
            </a:graphicData>
          </a:graphic>
        </p:graphicFrame>
      </p:grpSp>
      <p:sp>
        <p:nvSpPr>
          <p:cNvPr id="2364" name="public boolean hasNext() {…"/>
          <p:cNvSpPr txBox="1"/>
          <p:nvPr/>
        </p:nvSpPr>
        <p:spPr>
          <a:xfrm>
            <a:off x="155250" y="1403904"/>
            <a:ext cx="8345017" cy="6361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hasNext()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(; </a:t>
            </a:r>
            <a:r>
              <a:t>curPos</a:t>
            </a:r>
            <a:r>
              <a:rPr>
                <a:solidFill>
                  <a:srgbClr val="000000"/>
                </a:solidFill>
              </a:rPr>
              <a:t> &lt;= 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; ++</a:t>
            </a:r>
            <a:r>
              <a:t>curPos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0326CC"/>
                </a:solidFill>
              </a:rPr>
              <a:t>vertex</a:t>
            </a:r>
            <a:r>
              <a:t>][</a:t>
            </a:r>
            <a:r>
              <a:rPr>
                <a:solidFill>
                  <a:srgbClr val="0326CC"/>
                </a:solidFill>
              </a:rPr>
              <a:t>curPos</a:t>
            </a:r>
            <a:r>
              <a:t>] != 0)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(; </a:t>
            </a:r>
            <a:r>
              <a:t>curPos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n</a:t>
            </a:r>
            <a:r>
              <a:rPr>
                <a:solidFill>
                  <a:srgbClr val="000000"/>
                </a:solidFill>
              </a:rPr>
              <a:t>; ++</a:t>
            </a:r>
            <a:r>
              <a:t>curPos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[</a:t>
            </a:r>
            <a:r>
              <a:rPr>
                <a:solidFill>
                  <a:srgbClr val="0326CC"/>
                </a:solidFill>
              </a:rPr>
              <a:t>curPos</a:t>
            </a:r>
            <a:r>
              <a:t>][</a:t>
            </a:r>
            <a:r>
              <a:rPr>
                <a:solidFill>
                  <a:srgbClr val="0326CC"/>
                </a:solidFill>
              </a:rPr>
              <a:t>vertex</a:t>
            </a:r>
            <a:r>
              <a:t>] != 0)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931A68"/>
                </a:solidFill>
              </a:rPr>
              <a:t>break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curPos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 ?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 :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Integer next()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curPos</a:t>
            </a:r>
            <a:r>
              <a:rPr>
                <a:solidFill>
                  <a:srgbClr val="000000"/>
                </a:solidFill>
              </a:rPr>
              <a:t>++;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Shape 425"/>
          <p:cNvSpPr txBox="1"/>
          <p:nvPr/>
        </p:nvSpPr>
        <p:spPr>
          <a:xfrm>
            <a:off x="1638864" y="93133"/>
            <a:ext cx="9743288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讨论</a:t>
            </a:r>
          </a:p>
        </p:txBody>
      </p:sp>
      <p:sp>
        <p:nvSpPr>
          <p:cNvPr id="2367" name="1、很多书把图作为一种数据结构介绍…"/>
          <p:cNvSpPr txBox="1"/>
          <p:nvPr/>
        </p:nvSpPr>
        <p:spPr>
          <a:xfrm>
            <a:off x="462391" y="1540788"/>
            <a:ext cx="7722250" cy="1903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/>
            </a:pPr>
            <a:r>
              <a:t>1、很多书把图作为一种数据结构介绍</a:t>
            </a:r>
          </a:p>
          <a:p>
            <a:pPr>
              <a:defRPr sz="2900"/>
            </a:pPr>
            <a:r>
              <a:t>2、也有这样的考题：逻辑数据结构有哪几种？</a:t>
            </a:r>
          </a:p>
          <a:p>
            <a:pPr>
              <a:defRPr sz="2900"/>
            </a:pPr>
            <a:r>
              <a:t>      答：线性表、树、图、集合</a:t>
            </a:r>
          </a:p>
        </p:txBody>
      </p:sp>
      <p:sp>
        <p:nvSpPr>
          <p:cNvPr id="2368" name="个人观点：前面已经学习了线性表、栈、队列、二叉树、树，知道了如何表达…"/>
          <p:cNvSpPr txBox="1"/>
          <p:nvPr/>
        </p:nvSpPr>
        <p:spPr>
          <a:xfrm>
            <a:off x="90333" y="3644702"/>
            <a:ext cx="12694300" cy="1887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/>
            </a:pPr>
            <a:r>
              <a:t>个人观点：前面已经学习了线性表、栈、队列、二叉树、树，知道了如何表达</a:t>
            </a:r>
          </a:p>
          <a:p>
            <a:pPr>
              <a:defRPr sz="2900"/>
            </a:pPr>
            <a:r>
              <a:t>            数据之间的关系(结构)：</a:t>
            </a:r>
          </a:p>
          <a:p>
            <a:pPr>
              <a:defRPr sz="2900"/>
            </a:pPr>
            <a:r>
              <a:t>            数组、引用(即顺序和链式)</a:t>
            </a:r>
          </a:p>
        </p:txBody>
      </p:sp>
      <p:grpSp>
        <p:nvGrpSpPr>
          <p:cNvPr id="2372" name="成组"/>
          <p:cNvGrpSpPr/>
          <p:nvPr/>
        </p:nvGrpSpPr>
        <p:grpSpPr>
          <a:xfrm>
            <a:off x="6831386" y="5083427"/>
            <a:ext cx="675415" cy="2773374"/>
            <a:chOff x="0" y="0"/>
            <a:chExt cx="675413" cy="2773373"/>
          </a:xfrm>
        </p:grpSpPr>
        <p:sp>
          <p:nvSpPr>
            <p:cNvPr id="2369" name="椭圆形"/>
            <p:cNvSpPr/>
            <p:nvPr/>
          </p:nvSpPr>
          <p:spPr>
            <a:xfrm>
              <a:off x="0" y="1070121"/>
              <a:ext cx="675414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0" name="线条"/>
            <p:cNvSpPr/>
            <p:nvPr/>
          </p:nvSpPr>
          <p:spPr>
            <a:xfrm flipH="1">
              <a:off x="337706" y="0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1" name="线条"/>
            <p:cNvSpPr/>
            <p:nvPr/>
          </p:nvSpPr>
          <p:spPr>
            <a:xfrm flipH="1">
              <a:off x="337706" y="1731972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378" name="成组"/>
          <p:cNvGrpSpPr/>
          <p:nvPr/>
        </p:nvGrpSpPr>
        <p:grpSpPr>
          <a:xfrm>
            <a:off x="9994005" y="5061164"/>
            <a:ext cx="1624430" cy="2773375"/>
            <a:chOff x="0" y="0"/>
            <a:chExt cx="1624428" cy="2773373"/>
          </a:xfrm>
        </p:grpSpPr>
        <p:sp>
          <p:nvSpPr>
            <p:cNvPr id="2373" name="椭圆形"/>
            <p:cNvSpPr/>
            <p:nvPr/>
          </p:nvSpPr>
          <p:spPr>
            <a:xfrm>
              <a:off x="496325" y="1070122"/>
              <a:ext cx="675415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4" name="线条"/>
            <p:cNvSpPr/>
            <p:nvPr/>
          </p:nvSpPr>
          <p:spPr>
            <a:xfrm flipH="1">
              <a:off x="834032" y="0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5" name="线条"/>
            <p:cNvSpPr/>
            <p:nvPr/>
          </p:nvSpPr>
          <p:spPr>
            <a:xfrm flipH="1">
              <a:off x="834032" y="1731972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6" name="线条"/>
            <p:cNvSpPr/>
            <p:nvPr/>
          </p:nvSpPr>
          <p:spPr>
            <a:xfrm flipH="1">
              <a:off x="0" y="1548020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7" name="线条"/>
            <p:cNvSpPr/>
            <p:nvPr/>
          </p:nvSpPr>
          <p:spPr>
            <a:xfrm>
              <a:off x="1104572" y="1588786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Shape 425"/>
          <p:cNvSpPr txBox="1"/>
          <p:nvPr/>
        </p:nvSpPr>
        <p:spPr>
          <a:xfrm>
            <a:off x="1638864" y="93133"/>
            <a:ext cx="9743288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讨论</a:t>
            </a:r>
          </a:p>
        </p:txBody>
      </p:sp>
      <p:sp>
        <p:nvSpPr>
          <p:cNvPr id="2381" name="更一般的关系也是使用数组和引用描述"/>
          <p:cNvSpPr txBox="1"/>
          <p:nvPr/>
        </p:nvSpPr>
        <p:spPr>
          <a:xfrm>
            <a:off x="245420" y="1617992"/>
            <a:ext cx="6649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更一般的关系也是使用数组和引用描述</a:t>
            </a:r>
          </a:p>
        </p:txBody>
      </p:sp>
      <p:grpSp>
        <p:nvGrpSpPr>
          <p:cNvPr id="2389" name="成组"/>
          <p:cNvGrpSpPr/>
          <p:nvPr/>
        </p:nvGrpSpPr>
        <p:grpSpPr>
          <a:xfrm>
            <a:off x="8891958" y="1253348"/>
            <a:ext cx="1624429" cy="2808866"/>
            <a:chOff x="0" y="0"/>
            <a:chExt cx="1624428" cy="2808865"/>
          </a:xfrm>
        </p:grpSpPr>
        <p:sp>
          <p:nvSpPr>
            <p:cNvPr id="2382" name="椭圆形"/>
            <p:cNvSpPr/>
            <p:nvPr/>
          </p:nvSpPr>
          <p:spPr>
            <a:xfrm>
              <a:off x="496325" y="1105614"/>
              <a:ext cx="675415" cy="649678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83" name="线条"/>
            <p:cNvSpPr/>
            <p:nvPr/>
          </p:nvSpPr>
          <p:spPr>
            <a:xfrm flipH="1">
              <a:off x="834032" y="48192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84" name="线条"/>
            <p:cNvSpPr/>
            <p:nvPr/>
          </p:nvSpPr>
          <p:spPr>
            <a:xfrm flipH="1">
              <a:off x="834031" y="1767464"/>
              <a:ext cx="1" cy="104140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85" name="线条"/>
            <p:cNvSpPr/>
            <p:nvPr/>
          </p:nvSpPr>
          <p:spPr>
            <a:xfrm flipH="1">
              <a:off x="0" y="1583512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86" name="线条"/>
            <p:cNvSpPr/>
            <p:nvPr/>
          </p:nvSpPr>
          <p:spPr>
            <a:xfrm>
              <a:off x="1104572" y="1624278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87" name="线条"/>
            <p:cNvSpPr/>
            <p:nvPr/>
          </p:nvSpPr>
          <p:spPr>
            <a:xfrm>
              <a:off x="249932" y="0"/>
              <a:ext cx="519857" cy="111483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88" name="线条"/>
            <p:cNvSpPr/>
            <p:nvPr/>
          </p:nvSpPr>
          <p:spPr>
            <a:xfrm flipH="1">
              <a:off x="898052" y="4471"/>
              <a:ext cx="519857" cy="11148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390" name="因此，以图为例，探讨各种合适的数据结构：…"/>
          <p:cNvSpPr txBox="1"/>
          <p:nvPr/>
        </p:nvSpPr>
        <p:spPr>
          <a:xfrm>
            <a:off x="283520" y="2508979"/>
            <a:ext cx="7792099" cy="3717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因此，以图为例，探讨各种</a:t>
            </a:r>
            <a:r>
              <a:rPr>
                <a:solidFill>
                  <a:schemeClr val="accent1">
                    <a:lumOff val="-8039"/>
                  </a:schemeClr>
                </a:solidFill>
              </a:rPr>
              <a:t>合适的</a:t>
            </a:r>
            <a:r>
              <a:t>数据结构：</a:t>
            </a:r>
          </a:p>
          <a:p>
            <a:pPr lvl="1" marL="681789" indent="-300789">
              <a:buSzPct val="60000"/>
              <a:buBlip>
                <a:blip r:embed="rId3"/>
              </a:buBlip>
            </a:pPr>
            <a:r>
              <a:t>邻接矩阵</a:t>
            </a:r>
          </a:p>
          <a:p>
            <a:pPr lvl="1" marL="681789" indent="-300789">
              <a:buSzPct val="60000"/>
              <a:buBlip>
                <a:blip r:embed="rId3"/>
              </a:buBlip>
            </a:pPr>
            <a:r>
              <a:t>邻接表</a:t>
            </a:r>
          </a:p>
          <a:p>
            <a:pPr lvl="1" marL="681789" indent="-300789">
              <a:buSzPct val="60000"/>
              <a:buBlip>
                <a:blip r:embed="rId3"/>
              </a:buBlip>
            </a:pPr>
            <a:r>
              <a:t>多重链表</a:t>
            </a:r>
          </a:p>
          <a:p>
            <a:pPr lvl="1" marL="681789" indent="-300789">
              <a:buSzPct val="60000"/>
              <a:buBlip>
                <a:blip r:embed="rId3"/>
              </a:buBlip>
            </a:pPr>
            <a:r>
              <a:t>十字链表</a:t>
            </a:r>
          </a:p>
          <a:p>
            <a:pPr lvl="1" marL="681789" indent="-300789">
              <a:buSzPct val="60000"/>
              <a:buBlip>
                <a:blip r:embed="rId3"/>
              </a:buBlip>
            </a:pPr>
            <a:r>
              <a:t>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4" name="Group 1050"/>
          <p:cNvGrpSpPr/>
          <p:nvPr/>
        </p:nvGrpSpPr>
        <p:grpSpPr>
          <a:xfrm>
            <a:off x="4313765" y="5389668"/>
            <a:ext cx="4301070" cy="2863711"/>
            <a:chOff x="0" y="0"/>
            <a:chExt cx="4301069" cy="2863710"/>
          </a:xfrm>
        </p:grpSpPr>
        <p:sp>
          <p:nvSpPr>
            <p:cNvPr id="2392" name="Shape 1028"/>
            <p:cNvSpPr/>
            <p:nvPr/>
          </p:nvSpPr>
          <p:spPr>
            <a:xfrm flipH="1">
              <a:off x="280504" y="273819"/>
              <a:ext cx="1587502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93" name="Shape 1029"/>
            <p:cNvSpPr/>
            <p:nvPr/>
          </p:nvSpPr>
          <p:spPr>
            <a:xfrm>
              <a:off x="467507" y="1661260"/>
              <a:ext cx="561011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94" name="Shape 1030"/>
            <p:cNvSpPr/>
            <p:nvPr/>
          </p:nvSpPr>
          <p:spPr>
            <a:xfrm>
              <a:off x="1589524" y="2493724"/>
              <a:ext cx="1122020" cy="2260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95" name="Shape 1031"/>
            <p:cNvSpPr/>
            <p:nvPr/>
          </p:nvSpPr>
          <p:spPr>
            <a:xfrm flipH="1" flipV="1">
              <a:off x="2337536" y="551307"/>
              <a:ext cx="654512" cy="166493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96" name="Shape 1032"/>
            <p:cNvSpPr/>
            <p:nvPr/>
          </p:nvSpPr>
          <p:spPr>
            <a:xfrm>
              <a:off x="2431037" y="273819"/>
              <a:ext cx="1496025" cy="832465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97" name="Shape 1033"/>
            <p:cNvSpPr/>
            <p:nvPr/>
          </p:nvSpPr>
          <p:spPr>
            <a:xfrm flipH="1" flipV="1">
              <a:off x="561008" y="1383772"/>
              <a:ext cx="2150536" cy="924963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98" name="Shape 1034"/>
            <p:cNvSpPr/>
            <p:nvPr/>
          </p:nvSpPr>
          <p:spPr>
            <a:xfrm flipH="1">
              <a:off x="1309019" y="1383772"/>
              <a:ext cx="2431040" cy="832467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401" name="Group 1037"/>
            <p:cNvGrpSpPr/>
            <p:nvPr/>
          </p:nvGrpSpPr>
          <p:grpSpPr>
            <a:xfrm>
              <a:off x="1870028" y="0"/>
              <a:ext cx="561013" cy="647475"/>
              <a:chOff x="0" y="0"/>
              <a:chExt cx="561011" cy="647473"/>
            </a:xfrm>
          </p:grpSpPr>
          <p:sp>
            <p:nvSpPr>
              <p:cNvPr id="2399" name="Shape 1035"/>
              <p:cNvSpPr/>
              <p:nvPr/>
            </p:nvSpPr>
            <p:spPr>
              <a:xfrm>
                <a:off x="0" y="0"/>
                <a:ext cx="561012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00" name="Shape 1036"/>
              <p:cNvSpPr txBox="1"/>
              <p:nvPr/>
            </p:nvSpPr>
            <p:spPr>
              <a:xfrm>
                <a:off x="33387" y="15216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404" name="Group 1040"/>
            <p:cNvGrpSpPr/>
            <p:nvPr/>
          </p:nvGrpSpPr>
          <p:grpSpPr>
            <a:xfrm>
              <a:off x="0" y="1106284"/>
              <a:ext cx="561011" cy="647475"/>
              <a:chOff x="0" y="0"/>
              <a:chExt cx="561009" cy="647473"/>
            </a:xfrm>
          </p:grpSpPr>
          <p:sp>
            <p:nvSpPr>
              <p:cNvPr id="2402" name="Shape 1038"/>
              <p:cNvSpPr/>
              <p:nvPr/>
            </p:nvSpPr>
            <p:spPr>
              <a:xfrm>
                <a:off x="0" y="0"/>
                <a:ext cx="561011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03" name="Shape 1039"/>
              <p:cNvSpPr txBox="1"/>
              <p:nvPr/>
            </p:nvSpPr>
            <p:spPr>
              <a:xfrm>
                <a:off x="46701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407" name="Group 1043"/>
            <p:cNvGrpSpPr/>
            <p:nvPr/>
          </p:nvGrpSpPr>
          <p:grpSpPr>
            <a:xfrm>
              <a:off x="3740057" y="1106284"/>
              <a:ext cx="561013" cy="647475"/>
              <a:chOff x="0" y="0"/>
              <a:chExt cx="561011" cy="647473"/>
            </a:xfrm>
          </p:grpSpPr>
          <p:sp>
            <p:nvSpPr>
              <p:cNvPr id="2405" name="Shape 1041"/>
              <p:cNvSpPr/>
              <p:nvPr/>
            </p:nvSpPr>
            <p:spPr>
              <a:xfrm>
                <a:off x="0" y="0"/>
                <a:ext cx="561012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06" name="Shape 1042"/>
              <p:cNvSpPr txBox="1"/>
              <p:nvPr/>
            </p:nvSpPr>
            <p:spPr>
              <a:xfrm>
                <a:off x="46701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410" name="Group 1046"/>
            <p:cNvGrpSpPr/>
            <p:nvPr/>
          </p:nvGrpSpPr>
          <p:grpSpPr>
            <a:xfrm>
              <a:off x="1028516" y="2216236"/>
              <a:ext cx="561011" cy="647475"/>
              <a:chOff x="0" y="0"/>
              <a:chExt cx="561009" cy="647473"/>
            </a:xfrm>
          </p:grpSpPr>
          <p:sp>
            <p:nvSpPr>
              <p:cNvPr id="2408" name="Shape 1044"/>
              <p:cNvSpPr/>
              <p:nvPr/>
            </p:nvSpPr>
            <p:spPr>
              <a:xfrm>
                <a:off x="0" y="0"/>
                <a:ext cx="561011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09" name="Shape 1045"/>
              <p:cNvSpPr txBox="1"/>
              <p:nvPr/>
            </p:nvSpPr>
            <p:spPr>
              <a:xfrm>
                <a:off x="33387" y="18886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413" name="Group 1049"/>
            <p:cNvGrpSpPr/>
            <p:nvPr/>
          </p:nvGrpSpPr>
          <p:grpSpPr>
            <a:xfrm>
              <a:off x="2711542" y="2216236"/>
              <a:ext cx="561011" cy="647475"/>
              <a:chOff x="0" y="0"/>
              <a:chExt cx="561009" cy="647473"/>
            </a:xfrm>
          </p:grpSpPr>
          <p:sp>
            <p:nvSpPr>
              <p:cNvPr id="2411" name="Shape 1047"/>
              <p:cNvSpPr/>
              <p:nvPr/>
            </p:nvSpPr>
            <p:spPr>
              <a:xfrm>
                <a:off x="0" y="0"/>
                <a:ext cx="561011" cy="647475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12" name="Shape 1048"/>
              <p:cNvSpPr txBox="1"/>
              <p:nvPr/>
            </p:nvSpPr>
            <p:spPr>
              <a:xfrm>
                <a:off x="33387" y="18886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  <p:grpSp>
        <p:nvGrpSpPr>
          <p:cNvPr id="2418" name="成组"/>
          <p:cNvGrpSpPr/>
          <p:nvPr/>
        </p:nvGrpSpPr>
        <p:grpSpPr>
          <a:xfrm>
            <a:off x="2332981" y="1404619"/>
            <a:ext cx="3439933" cy="3864502"/>
            <a:chOff x="25400" y="25400"/>
            <a:chExt cx="3439931" cy="3864501"/>
          </a:xfrm>
        </p:grpSpPr>
        <p:graphicFrame>
          <p:nvGraphicFramePr>
            <p:cNvPr id="2415" name="Table 1052"/>
            <p:cNvGraphicFramePr/>
            <p:nvPr/>
          </p:nvGraphicFramePr>
          <p:xfrm>
            <a:off x="4286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6363"/>
                  <a:gridCol w="637097"/>
                  <a:gridCol w="558118"/>
                  <a:gridCol w="635342"/>
                  <a:gridCol w="637097"/>
                </a:tblGrid>
                <a:tr h="550373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416" name="Table 1053"/>
            <p:cNvGraphicFramePr/>
            <p:nvPr/>
          </p:nvGraphicFramePr>
          <p:xfrm>
            <a:off x="25400" y="452806"/>
            <a:ext cx="480060" cy="343709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84879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2417" name="表格"/>
            <p:cNvGraphicFramePr/>
            <p:nvPr/>
          </p:nvGraphicFramePr>
          <p:xfrm>
            <a:off x="582910" y="6560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  <p:grpSp>
        <p:nvGrpSpPr>
          <p:cNvPr id="2434" name="成组"/>
          <p:cNvGrpSpPr/>
          <p:nvPr/>
        </p:nvGrpSpPr>
        <p:grpSpPr>
          <a:xfrm>
            <a:off x="556603" y="1568871"/>
            <a:ext cx="1432439" cy="3677430"/>
            <a:chOff x="0" y="0"/>
            <a:chExt cx="1432437" cy="3677429"/>
          </a:xfrm>
        </p:grpSpPr>
        <p:sp>
          <p:nvSpPr>
            <p:cNvPr id="2419" name="Shape 753"/>
            <p:cNvSpPr/>
            <p:nvPr/>
          </p:nvSpPr>
          <p:spPr>
            <a:xfrm>
              <a:off x="438854" y="0"/>
              <a:ext cx="993584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20" name="Shape 754"/>
            <p:cNvSpPr/>
            <p:nvPr/>
          </p:nvSpPr>
          <p:spPr>
            <a:xfrm>
              <a:off x="438855" y="715715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21" name="Shape 755"/>
            <p:cNvSpPr/>
            <p:nvPr/>
          </p:nvSpPr>
          <p:spPr>
            <a:xfrm>
              <a:off x="438855" y="1433689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22" name="Shape 756"/>
            <p:cNvSpPr/>
            <p:nvPr/>
          </p:nvSpPr>
          <p:spPr>
            <a:xfrm>
              <a:off x="438855" y="2149406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23" name="Shape 757"/>
            <p:cNvSpPr/>
            <p:nvPr/>
          </p:nvSpPr>
          <p:spPr>
            <a:xfrm>
              <a:off x="438855" y="2867380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24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425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426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427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428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429" name="Shape 815"/>
            <p:cNvSpPr txBox="1"/>
            <p:nvPr/>
          </p:nvSpPr>
          <p:spPr>
            <a:xfrm>
              <a:off x="629354" y="64063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430" name="Shape 816"/>
            <p:cNvSpPr txBox="1"/>
            <p:nvPr/>
          </p:nvSpPr>
          <p:spPr>
            <a:xfrm>
              <a:off x="629354" y="804616"/>
              <a:ext cx="73660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431" name="Shape 817"/>
            <p:cNvSpPr txBox="1"/>
            <p:nvPr/>
          </p:nvSpPr>
          <p:spPr>
            <a:xfrm>
              <a:off x="629354" y="152258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432" name="Shape 818"/>
            <p:cNvSpPr txBox="1"/>
            <p:nvPr/>
          </p:nvSpPr>
          <p:spPr>
            <a:xfrm>
              <a:off x="629354" y="2238304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433" name="Shape 819"/>
            <p:cNvSpPr txBox="1"/>
            <p:nvPr/>
          </p:nvSpPr>
          <p:spPr>
            <a:xfrm>
              <a:off x="629354" y="295627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2457" name="成组"/>
          <p:cNvGrpSpPr/>
          <p:nvPr/>
        </p:nvGrpSpPr>
        <p:grpSpPr>
          <a:xfrm>
            <a:off x="8049604" y="1340271"/>
            <a:ext cx="4156732" cy="3677430"/>
            <a:chOff x="0" y="0"/>
            <a:chExt cx="4156731" cy="3677429"/>
          </a:xfrm>
        </p:grpSpPr>
        <p:graphicFrame>
          <p:nvGraphicFramePr>
            <p:cNvPr id="2435" name="表格"/>
            <p:cNvGraphicFramePr/>
            <p:nvPr/>
          </p:nvGraphicFramePr>
          <p:xfrm>
            <a:off x="1441306" y="74295"/>
            <a:ext cx="2715426" cy="61809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grpSp>
          <p:nvGrpSpPr>
            <p:cNvPr id="2456" name="成组"/>
            <p:cNvGrpSpPr/>
            <p:nvPr/>
          </p:nvGrpSpPr>
          <p:grpSpPr>
            <a:xfrm>
              <a:off x="0" y="0"/>
              <a:ext cx="4156732" cy="3677430"/>
              <a:chOff x="0" y="0"/>
              <a:chExt cx="4156731" cy="3677429"/>
            </a:xfrm>
          </p:grpSpPr>
          <p:grpSp>
            <p:nvGrpSpPr>
              <p:cNvPr id="2451" name="成组"/>
              <p:cNvGrpSpPr/>
              <p:nvPr/>
            </p:nvGrpSpPr>
            <p:grpSpPr>
              <a:xfrm>
                <a:off x="0" y="0"/>
                <a:ext cx="1432438" cy="3677430"/>
                <a:chOff x="0" y="0"/>
                <a:chExt cx="1432437" cy="3677429"/>
              </a:xfrm>
            </p:grpSpPr>
            <p:sp>
              <p:nvSpPr>
                <p:cNvPr id="2436" name="Shape 753"/>
                <p:cNvSpPr/>
                <p:nvPr/>
              </p:nvSpPr>
              <p:spPr>
                <a:xfrm>
                  <a:off x="438854" y="0"/>
                  <a:ext cx="993584" cy="3677430"/>
                </a:xfrm>
                <a:prstGeom prst="rect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37" name="Shape 754"/>
                <p:cNvSpPr/>
                <p:nvPr/>
              </p:nvSpPr>
              <p:spPr>
                <a:xfrm>
                  <a:off x="438855" y="715715"/>
                  <a:ext cx="991450" cy="2259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38" name="Shape 755"/>
                <p:cNvSpPr/>
                <p:nvPr/>
              </p:nvSpPr>
              <p:spPr>
                <a:xfrm>
                  <a:off x="438855" y="1433689"/>
                  <a:ext cx="99145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39" name="Shape 756"/>
                <p:cNvSpPr/>
                <p:nvPr/>
              </p:nvSpPr>
              <p:spPr>
                <a:xfrm>
                  <a:off x="438855" y="2149406"/>
                  <a:ext cx="99145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40" name="Shape 757"/>
                <p:cNvSpPr/>
                <p:nvPr/>
              </p:nvSpPr>
              <p:spPr>
                <a:xfrm>
                  <a:off x="438855" y="2867380"/>
                  <a:ext cx="991450" cy="226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lnSpc>
                      <a:spcPct val="100000"/>
                    </a:lnSpc>
                    <a:spcBef>
                      <a:spcPts val="1900"/>
                    </a:spcBef>
                    <a:defRPr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441" name="Shape 809"/>
                <p:cNvSpPr txBox="1"/>
                <p:nvPr/>
              </p:nvSpPr>
              <p:spPr>
                <a:xfrm>
                  <a:off x="0" y="98495"/>
                  <a:ext cx="736600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0</a:t>
                  </a:r>
                </a:p>
              </p:txBody>
            </p:sp>
            <p:sp>
              <p:nvSpPr>
                <p:cNvPr id="2442" name="Shape 810"/>
                <p:cNvSpPr txBox="1"/>
                <p:nvPr/>
              </p:nvSpPr>
              <p:spPr>
                <a:xfrm>
                  <a:off x="0" y="877429"/>
                  <a:ext cx="736602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1</a:t>
                  </a:r>
                </a:p>
              </p:txBody>
            </p:sp>
            <p:sp>
              <p:nvSpPr>
                <p:cNvPr id="2443" name="Shape 811"/>
                <p:cNvSpPr txBox="1"/>
                <p:nvPr/>
              </p:nvSpPr>
              <p:spPr>
                <a:xfrm>
                  <a:off x="0" y="1608949"/>
                  <a:ext cx="736600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2</a:t>
                  </a:r>
                </a:p>
              </p:txBody>
            </p:sp>
            <p:sp>
              <p:nvSpPr>
                <p:cNvPr id="2444" name="Shape 812"/>
                <p:cNvSpPr txBox="1"/>
                <p:nvPr/>
              </p:nvSpPr>
              <p:spPr>
                <a:xfrm>
                  <a:off x="0" y="2329180"/>
                  <a:ext cx="736600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3</a:t>
                  </a:r>
                </a:p>
              </p:txBody>
            </p:sp>
            <p:sp>
              <p:nvSpPr>
                <p:cNvPr id="2445" name="Shape 813"/>
                <p:cNvSpPr txBox="1"/>
                <p:nvPr/>
              </p:nvSpPr>
              <p:spPr>
                <a:xfrm>
                  <a:off x="0" y="3047154"/>
                  <a:ext cx="736600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  <p:sp>
              <p:nvSpPr>
                <p:cNvPr id="2446" name="Shape 815"/>
                <p:cNvSpPr txBox="1"/>
                <p:nvPr/>
              </p:nvSpPr>
              <p:spPr>
                <a:xfrm>
                  <a:off x="629354" y="64063"/>
                  <a:ext cx="736603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  <p:sp>
              <p:nvSpPr>
                <p:cNvPr id="2447" name="Shape 816"/>
                <p:cNvSpPr txBox="1"/>
                <p:nvPr/>
              </p:nvSpPr>
              <p:spPr>
                <a:xfrm>
                  <a:off x="629354" y="804616"/>
                  <a:ext cx="736603" cy="5172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  <p:sp>
              <p:nvSpPr>
                <p:cNvPr id="2448" name="Shape 817"/>
                <p:cNvSpPr txBox="1"/>
                <p:nvPr/>
              </p:nvSpPr>
              <p:spPr>
                <a:xfrm>
                  <a:off x="629354" y="1522589"/>
                  <a:ext cx="736603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  <p:sp>
              <p:nvSpPr>
                <p:cNvPr id="2449" name="Shape 818"/>
                <p:cNvSpPr txBox="1"/>
                <p:nvPr/>
              </p:nvSpPr>
              <p:spPr>
                <a:xfrm>
                  <a:off x="629354" y="2238304"/>
                  <a:ext cx="736603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  <p:sp>
              <p:nvSpPr>
                <p:cNvPr id="2450" name="Shape 819"/>
                <p:cNvSpPr txBox="1"/>
                <p:nvPr/>
              </p:nvSpPr>
              <p:spPr>
                <a:xfrm>
                  <a:off x="629354" y="2956279"/>
                  <a:ext cx="736603" cy="517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lnSpc>
                      <a:spcPct val="100000"/>
                    </a:lnSpc>
                    <a:spcBef>
                      <a:spcPts val="2300"/>
                    </a:spcBef>
                    <a:defRPr b="1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E</a:t>
                  </a:r>
                </a:p>
              </p:txBody>
            </p:sp>
          </p:grpSp>
          <p:graphicFrame>
            <p:nvGraphicFramePr>
              <p:cNvPr id="2452" name="表格"/>
              <p:cNvGraphicFramePr/>
              <p:nvPr/>
            </p:nvGraphicFramePr>
            <p:xfrm>
              <a:off x="1441306" y="784960"/>
              <a:ext cx="2715426" cy="618099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1" rtl="0">
                    <a:tableStyleId>{C7B018BB-80A7-4F77-B60F-C8B233D01FF8}</a:tableStyleId>
                  </a:tblPr>
                  <a:tblGrid>
                    <a:gridCol w="543085"/>
                    <a:gridCol w="543085"/>
                    <a:gridCol w="543085"/>
                    <a:gridCol w="543085"/>
                    <a:gridCol w="543085"/>
                  </a:tblGrid>
                  <a:tr h="618097"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2453" name="表格"/>
              <p:cNvGraphicFramePr/>
              <p:nvPr/>
            </p:nvGraphicFramePr>
            <p:xfrm>
              <a:off x="1438483" y="1504265"/>
              <a:ext cx="2715426" cy="618099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1" rtl="0">
                    <a:tableStyleId>{C7B018BB-80A7-4F77-B60F-C8B233D01FF8}</a:tableStyleId>
                  </a:tblPr>
                  <a:tblGrid>
                    <a:gridCol w="543085"/>
                    <a:gridCol w="543085"/>
                    <a:gridCol w="543085"/>
                    <a:gridCol w="543085"/>
                    <a:gridCol w="543085"/>
                  </a:tblGrid>
                  <a:tr h="618097"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2454" name="表格"/>
              <p:cNvGraphicFramePr/>
              <p:nvPr/>
            </p:nvGraphicFramePr>
            <p:xfrm>
              <a:off x="1438483" y="2217220"/>
              <a:ext cx="2715426" cy="618099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1" rtl="0">
                    <a:tableStyleId>{C7B018BB-80A7-4F77-B60F-C8B233D01FF8}</a:tableStyleId>
                  </a:tblPr>
                  <a:tblGrid>
                    <a:gridCol w="543085"/>
                    <a:gridCol w="543085"/>
                    <a:gridCol w="543085"/>
                    <a:gridCol w="543085"/>
                    <a:gridCol w="543085"/>
                  </a:tblGrid>
                  <a:tr h="618097"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</a:tr>
                </a:tbl>
              </a:graphicData>
            </a:graphic>
          </p:graphicFrame>
          <p:graphicFrame>
            <p:nvGraphicFramePr>
              <p:cNvPr id="2455" name="表格"/>
              <p:cNvGraphicFramePr/>
              <p:nvPr/>
            </p:nvGraphicFramePr>
            <p:xfrm>
              <a:off x="1438483" y="2996777"/>
              <a:ext cx="2715426" cy="618099"/>
            </p:xfrm>
            <a:graphic xmlns:a="http://schemas.openxmlformats.org/drawingml/2006/main">
              <a:graphicData uri="http://schemas.openxmlformats.org/drawingml/2006/table">
                <a:tbl>
                  <a:tblPr firstCol="0" firstRow="0" lastCol="0" lastRow="0" bandCol="0" bandRow="1" rtl="0">
                    <a:tableStyleId>{C7B018BB-80A7-4F77-B60F-C8B233D01FF8}</a:tableStyleId>
                  </a:tblPr>
                  <a:tblGrid>
                    <a:gridCol w="543085"/>
                    <a:gridCol w="543085"/>
                    <a:gridCol w="543085"/>
                    <a:gridCol w="543085"/>
                    <a:gridCol w="543085"/>
                  </a:tblGrid>
                  <a:tr h="618097"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1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  <a:tc>
                      <a:txBody>
                        <a:bodyPr/>
                        <a:lstStyle/>
                        <a:p>
                          <a:pPr indent="342900" algn="ctr" defTabSz="825500">
                            <a:lnSpc>
                              <a:spcPct val="100000"/>
                            </a:lnSpc>
                            <a:defRPr sz="1800"/>
                          </a:pPr>
                          <a:r>
                            <a:rPr sz="2100">
                              <a:uFill>
                                <a:solidFill>
                                  <a:srgbClr val="000000"/>
                                </a:solidFill>
                              </a:uFill>
                            </a:rPr>
                            <a:t>0</a:t>
                          </a:r>
                        </a:p>
                      </a:txBody>
                      <a:tcPr marL="0" marR="0" marT="0" marB="0" anchor="ctr" anchorCtr="0" horzOverflow="overflow"/>
                    </a:tc>
                  </a:tr>
                </a:tbl>
              </a:graphicData>
            </a:graphic>
          </p:graphicFrame>
        </p:grpSp>
      </p:grpSp>
      <p:sp>
        <p:nvSpPr>
          <p:cNvPr id="2458" name="Shape 1054"/>
          <p:cNvSpPr txBox="1"/>
          <p:nvPr/>
        </p:nvSpPr>
        <p:spPr>
          <a:xfrm>
            <a:off x="1554434" y="181892"/>
            <a:ext cx="981973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有向图-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邻接矩阵-&gt; Node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//拆分邻接矩阵，将顶点数组和邻接数组合并到Node数组，使用数组表示邻接关系…"/>
          <p:cNvSpPr txBox="1"/>
          <p:nvPr/>
        </p:nvSpPr>
        <p:spPr>
          <a:xfrm>
            <a:off x="344484" y="1405987"/>
            <a:ext cx="12140544" cy="6561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//拆分邻接矩阵，将顶点数组和邻接数组合并到Node数组，使用数组表示邻接关系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NodeDirectedGraph2&lt;T&gt;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IGraph&lt;T&gt;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GraphKind </a:t>
            </a:r>
            <a:r>
              <a:rPr>
                <a:solidFill>
                  <a:srgbClr val="0326CC"/>
                </a:solidFill>
              </a:rPr>
              <a:t>graghKind</a:t>
            </a:r>
            <a:r>
              <a:t> = GraphKind.</a:t>
            </a:r>
            <a:r>
              <a:rPr>
                <a:solidFill>
                  <a:srgbClr val="0326CC"/>
                </a:solidFill>
              </a:rPr>
              <a:t>DirectedGraph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Node&lt;?&gt;[]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e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边的条数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顶点的个数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顶点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to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邻接点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Node(T </a:t>
            </a:r>
            <a:r>
              <a:rPr>
                <a:solidFill>
                  <a:srgbClr val="7E504F"/>
                </a:solidFill>
              </a:rPr>
              <a:t>node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to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461" name="Shape 1054"/>
          <p:cNvSpPr txBox="1"/>
          <p:nvPr/>
        </p:nvSpPr>
        <p:spPr>
          <a:xfrm>
            <a:off x="1554434" y="181892"/>
            <a:ext cx="981973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有向图-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邻接矩阵-&gt; Node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5" name="Group 1078"/>
          <p:cNvGrpSpPr/>
          <p:nvPr/>
        </p:nvGrpSpPr>
        <p:grpSpPr>
          <a:xfrm>
            <a:off x="4587990" y="5227694"/>
            <a:ext cx="4301070" cy="2867380"/>
            <a:chOff x="0" y="0"/>
            <a:chExt cx="4301069" cy="2867379"/>
          </a:xfrm>
        </p:grpSpPr>
        <p:sp>
          <p:nvSpPr>
            <p:cNvPr id="2463" name="Shape 1056"/>
            <p:cNvSpPr/>
            <p:nvPr/>
          </p:nvSpPr>
          <p:spPr>
            <a:xfrm flipH="1">
              <a:off x="280504" y="277488"/>
              <a:ext cx="1587502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64" name="Shape 1057"/>
            <p:cNvSpPr/>
            <p:nvPr/>
          </p:nvSpPr>
          <p:spPr>
            <a:xfrm>
              <a:off x="467507" y="1664929"/>
              <a:ext cx="561010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65" name="Shape 1058"/>
            <p:cNvSpPr/>
            <p:nvPr/>
          </p:nvSpPr>
          <p:spPr>
            <a:xfrm>
              <a:off x="1589524" y="2497392"/>
              <a:ext cx="1122021" cy="226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66" name="Shape 1059"/>
            <p:cNvSpPr/>
            <p:nvPr/>
          </p:nvSpPr>
          <p:spPr>
            <a:xfrm flipH="1" flipV="1">
              <a:off x="2337535" y="554976"/>
              <a:ext cx="654512" cy="166493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67" name="Shape 1060"/>
            <p:cNvSpPr/>
            <p:nvPr/>
          </p:nvSpPr>
          <p:spPr>
            <a:xfrm>
              <a:off x="2431038" y="277488"/>
              <a:ext cx="1496026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68" name="Shape 1061"/>
            <p:cNvSpPr/>
            <p:nvPr/>
          </p:nvSpPr>
          <p:spPr>
            <a:xfrm flipH="1" flipV="1">
              <a:off x="561009" y="1387441"/>
              <a:ext cx="2150536" cy="924962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69" name="Shape 1062"/>
            <p:cNvSpPr/>
            <p:nvPr/>
          </p:nvSpPr>
          <p:spPr>
            <a:xfrm flipH="1">
              <a:off x="1309020" y="1387440"/>
              <a:ext cx="2431040" cy="832467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472" name="Group 1065"/>
            <p:cNvGrpSpPr/>
            <p:nvPr/>
          </p:nvGrpSpPr>
          <p:grpSpPr>
            <a:xfrm>
              <a:off x="1870029" y="-1"/>
              <a:ext cx="561011" cy="647475"/>
              <a:chOff x="0" y="0"/>
              <a:chExt cx="561009" cy="647473"/>
            </a:xfrm>
          </p:grpSpPr>
          <p:sp>
            <p:nvSpPr>
              <p:cNvPr id="2470" name="Shape 1063"/>
              <p:cNvSpPr/>
              <p:nvPr/>
            </p:nvSpPr>
            <p:spPr>
              <a:xfrm>
                <a:off x="0" y="0"/>
                <a:ext cx="561011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71" name="Shape 1064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475" name="Group 1068"/>
            <p:cNvGrpSpPr/>
            <p:nvPr/>
          </p:nvGrpSpPr>
          <p:grpSpPr>
            <a:xfrm>
              <a:off x="0" y="1109952"/>
              <a:ext cx="561011" cy="647475"/>
              <a:chOff x="0" y="0"/>
              <a:chExt cx="561009" cy="647473"/>
            </a:xfrm>
          </p:grpSpPr>
          <p:sp>
            <p:nvSpPr>
              <p:cNvPr id="2473" name="Shape 1066"/>
              <p:cNvSpPr/>
              <p:nvPr/>
            </p:nvSpPr>
            <p:spPr>
              <a:xfrm>
                <a:off x="0" y="0"/>
                <a:ext cx="561011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74" name="Shape 1067"/>
              <p:cNvSpPr txBox="1"/>
              <p:nvPr/>
            </p:nvSpPr>
            <p:spPr>
              <a:xfrm>
                <a:off x="46701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478" name="Group 1071"/>
            <p:cNvGrpSpPr/>
            <p:nvPr/>
          </p:nvGrpSpPr>
          <p:grpSpPr>
            <a:xfrm>
              <a:off x="3740057" y="1109952"/>
              <a:ext cx="561013" cy="647475"/>
              <a:chOff x="0" y="0"/>
              <a:chExt cx="561011" cy="647473"/>
            </a:xfrm>
          </p:grpSpPr>
          <p:sp>
            <p:nvSpPr>
              <p:cNvPr id="2476" name="Shape 1069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77" name="Shape 1070"/>
              <p:cNvSpPr txBox="1"/>
              <p:nvPr/>
            </p:nvSpPr>
            <p:spPr>
              <a:xfrm>
                <a:off x="46700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481" name="Group 1074"/>
            <p:cNvGrpSpPr/>
            <p:nvPr/>
          </p:nvGrpSpPr>
          <p:grpSpPr>
            <a:xfrm>
              <a:off x="1028516" y="2219905"/>
              <a:ext cx="561013" cy="647475"/>
              <a:chOff x="0" y="0"/>
              <a:chExt cx="561011" cy="647473"/>
            </a:xfrm>
          </p:grpSpPr>
          <p:sp>
            <p:nvSpPr>
              <p:cNvPr id="2479" name="Shape 1072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80" name="Shape 1073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484" name="Group 1077"/>
            <p:cNvGrpSpPr/>
            <p:nvPr/>
          </p:nvGrpSpPr>
          <p:grpSpPr>
            <a:xfrm>
              <a:off x="2711541" y="2219905"/>
              <a:ext cx="561013" cy="647475"/>
              <a:chOff x="0" y="0"/>
              <a:chExt cx="561011" cy="647473"/>
            </a:xfrm>
          </p:grpSpPr>
          <p:sp>
            <p:nvSpPr>
              <p:cNvPr id="2482" name="Shape 1075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83" name="Shape 1076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  <p:grpSp>
        <p:nvGrpSpPr>
          <p:cNvPr id="2536" name="成组"/>
          <p:cNvGrpSpPr/>
          <p:nvPr/>
        </p:nvGrpSpPr>
        <p:grpSpPr>
          <a:xfrm>
            <a:off x="1920028" y="1463705"/>
            <a:ext cx="4001350" cy="3671151"/>
            <a:chOff x="0" y="0"/>
            <a:chExt cx="4001349" cy="3671149"/>
          </a:xfrm>
        </p:grpSpPr>
        <p:grpSp>
          <p:nvGrpSpPr>
            <p:cNvPr id="2494" name="Group 1094"/>
            <p:cNvGrpSpPr/>
            <p:nvPr/>
          </p:nvGrpSpPr>
          <p:grpSpPr>
            <a:xfrm>
              <a:off x="771032" y="42896"/>
              <a:ext cx="3221852" cy="571221"/>
              <a:chOff x="0" y="0"/>
              <a:chExt cx="3221850" cy="571220"/>
            </a:xfrm>
          </p:grpSpPr>
          <p:sp>
            <p:nvSpPr>
              <p:cNvPr id="2486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87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88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89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90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91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92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93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495" name="Shape 1095"/>
            <p:cNvSpPr/>
            <p:nvPr/>
          </p:nvSpPr>
          <p:spPr>
            <a:xfrm>
              <a:off x="777805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96" name="Shape 1096"/>
            <p:cNvSpPr/>
            <p:nvPr/>
          </p:nvSpPr>
          <p:spPr>
            <a:xfrm>
              <a:off x="1613182" y="151948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97" name="Shape 1097"/>
            <p:cNvSpPr/>
            <p:nvPr/>
          </p:nvSpPr>
          <p:spPr>
            <a:xfrm>
              <a:off x="2225041" y="1524000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98" name="Shape 1098"/>
            <p:cNvSpPr/>
            <p:nvPr/>
          </p:nvSpPr>
          <p:spPr>
            <a:xfrm>
              <a:off x="798124" y="1799449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99" name="Shape 1099"/>
            <p:cNvSpPr/>
            <p:nvPr/>
          </p:nvSpPr>
          <p:spPr>
            <a:xfrm flipH="1">
              <a:off x="2225041" y="1708855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00" name="Shape 1100"/>
            <p:cNvSpPr/>
            <p:nvPr/>
          </p:nvSpPr>
          <p:spPr>
            <a:xfrm>
              <a:off x="2328898" y="1708855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509" name="Group 1109"/>
            <p:cNvGrpSpPr/>
            <p:nvPr/>
          </p:nvGrpSpPr>
          <p:grpSpPr>
            <a:xfrm>
              <a:off x="777806" y="2275840"/>
              <a:ext cx="3221851" cy="550901"/>
              <a:chOff x="0" y="0"/>
              <a:chExt cx="3221850" cy="550900"/>
            </a:xfrm>
          </p:grpSpPr>
          <p:sp>
            <p:nvSpPr>
              <p:cNvPr id="2501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2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3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4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5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6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7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08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510" name="Shape 1110"/>
            <p:cNvSpPr/>
            <p:nvPr/>
          </p:nvSpPr>
          <p:spPr>
            <a:xfrm>
              <a:off x="1653823" y="3043485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1" name="Shape 1111"/>
            <p:cNvSpPr/>
            <p:nvPr/>
          </p:nvSpPr>
          <p:spPr>
            <a:xfrm>
              <a:off x="2270196" y="304800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2" name="Shape 1112"/>
            <p:cNvSpPr/>
            <p:nvPr/>
          </p:nvSpPr>
          <p:spPr>
            <a:xfrm>
              <a:off x="798124" y="3305388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3" name="Shape 1113"/>
            <p:cNvSpPr/>
            <p:nvPr/>
          </p:nvSpPr>
          <p:spPr>
            <a:xfrm flipH="1">
              <a:off x="2270196" y="322410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4" name="Shape 1114"/>
            <p:cNvSpPr/>
            <p:nvPr/>
          </p:nvSpPr>
          <p:spPr>
            <a:xfrm>
              <a:off x="2369538" y="322410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5" name="Shape 1079"/>
            <p:cNvSpPr/>
            <p:nvPr/>
          </p:nvSpPr>
          <p:spPr>
            <a:xfrm>
              <a:off x="413455" y="0"/>
              <a:ext cx="716551" cy="367115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6" name="Shape 1080"/>
            <p:cNvSpPr/>
            <p:nvPr/>
          </p:nvSpPr>
          <p:spPr>
            <a:xfrm>
              <a:off x="413455" y="71571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7" name="Shape 1081"/>
            <p:cNvSpPr/>
            <p:nvPr/>
          </p:nvSpPr>
          <p:spPr>
            <a:xfrm>
              <a:off x="413455" y="143368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8" name="Shape 1082"/>
            <p:cNvSpPr/>
            <p:nvPr/>
          </p:nvSpPr>
          <p:spPr>
            <a:xfrm>
              <a:off x="413455" y="2149406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19" name="Shape 1083"/>
            <p:cNvSpPr/>
            <p:nvPr/>
          </p:nvSpPr>
          <p:spPr>
            <a:xfrm>
              <a:off x="413455" y="286737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20" name="Shape 1115"/>
            <p:cNvSpPr txBox="1"/>
            <p:nvPr/>
          </p:nvSpPr>
          <p:spPr>
            <a:xfrm>
              <a:off x="0" y="1365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521" name="Shape 1116"/>
            <p:cNvSpPr txBox="1"/>
            <p:nvPr/>
          </p:nvSpPr>
          <p:spPr>
            <a:xfrm>
              <a:off x="0" y="9155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22" name="Shape 1117"/>
            <p:cNvSpPr txBox="1"/>
            <p:nvPr/>
          </p:nvSpPr>
          <p:spPr>
            <a:xfrm>
              <a:off x="0" y="16470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523" name="Shape 1118"/>
            <p:cNvSpPr txBox="1"/>
            <p:nvPr/>
          </p:nvSpPr>
          <p:spPr>
            <a:xfrm>
              <a:off x="0" y="236727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524" name="Shape 1119"/>
            <p:cNvSpPr txBox="1"/>
            <p:nvPr/>
          </p:nvSpPr>
          <p:spPr>
            <a:xfrm>
              <a:off x="0" y="30852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525" name="Shape 1125"/>
            <p:cNvSpPr txBox="1"/>
            <p:nvPr/>
          </p:nvSpPr>
          <p:spPr>
            <a:xfrm>
              <a:off x="1739617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26" name="Shape 1126"/>
            <p:cNvSpPr txBox="1"/>
            <p:nvPr/>
          </p:nvSpPr>
          <p:spPr>
            <a:xfrm>
              <a:off x="3264748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527" name="Shape 1127"/>
            <p:cNvSpPr txBox="1"/>
            <p:nvPr/>
          </p:nvSpPr>
          <p:spPr>
            <a:xfrm>
              <a:off x="1735385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528" name="Shape 1128"/>
            <p:cNvSpPr txBox="1"/>
            <p:nvPr/>
          </p:nvSpPr>
          <p:spPr>
            <a:xfrm>
              <a:off x="1739617" y="233736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529" name="Shape 1129"/>
            <p:cNvSpPr txBox="1"/>
            <p:nvPr/>
          </p:nvSpPr>
          <p:spPr>
            <a:xfrm>
              <a:off x="3262207" y="235768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30" name="Shape 1130"/>
            <p:cNvSpPr txBox="1"/>
            <p:nvPr/>
          </p:nvSpPr>
          <p:spPr>
            <a:xfrm>
              <a:off x="1743005" y="310585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531" name="Shape 1131"/>
            <p:cNvSpPr/>
            <p:nvPr/>
          </p:nvSpPr>
          <p:spPr>
            <a:xfrm>
              <a:off x="1595121" y="803768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32" name="Shape 1132"/>
            <p:cNvSpPr/>
            <p:nvPr/>
          </p:nvSpPr>
          <p:spPr>
            <a:xfrm>
              <a:off x="2206978" y="80828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33" name="Shape 1133"/>
            <p:cNvSpPr/>
            <p:nvPr/>
          </p:nvSpPr>
          <p:spPr>
            <a:xfrm flipH="1">
              <a:off x="2206978" y="98439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34" name="Shape 1134"/>
            <p:cNvSpPr/>
            <p:nvPr/>
          </p:nvSpPr>
          <p:spPr>
            <a:xfrm>
              <a:off x="2310836" y="98439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35" name="Shape 1135"/>
            <p:cNvSpPr txBox="1"/>
            <p:nvPr/>
          </p:nvSpPr>
          <p:spPr>
            <a:xfrm>
              <a:off x="1737642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2537" name="Shape 1137"/>
          <p:cNvSpPr txBox="1"/>
          <p:nvPr/>
        </p:nvSpPr>
        <p:spPr>
          <a:xfrm>
            <a:off x="1753164" y="80433"/>
            <a:ext cx="8813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有向图-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邻接表-&gt;Node</a:t>
            </a:r>
          </a:p>
        </p:txBody>
      </p:sp>
      <p:grpSp>
        <p:nvGrpSpPr>
          <p:cNvPr id="2553" name="成组"/>
          <p:cNvGrpSpPr/>
          <p:nvPr/>
        </p:nvGrpSpPr>
        <p:grpSpPr>
          <a:xfrm>
            <a:off x="117213" y="1460565"/>
            <a:ext cx="1432438" cy="3677430"/>
            <a:chOff x="0" y="0"/>
            <a:chExt cx="1432437" cy="3677429"/>
          </a:xfrm>
        </p:grpSpPr>
        <p:sp>
          <p:nvSpPr>
            <p:cNvPr id="2538" name="Shape 753"/>
            <p:cNvSpPr/>
            <p:nvPr/>
          </p:nvSpPr>
          <p:spPr>
            <a:xfrm>
              <a:off x="438854" y="0"/>
              <a:ext cx="993584" cy="367743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39" name="Shape 754"/>
            <p:cNvSpPr/>
            <p:nvPr/>
          </p:nvSpPr>
          <p:spPr>
            <a:xfrm>
              <a:off x="438855" y="715715"/>
              <a:ext cx="991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40" name="Shape 755"/>
            <p:cNvSpPr/>
            <p:nvPr/>
          </p:nvSpPr>
          <p:spPr>
            <a:xfrm>
              <a:off x="438855" y="1433689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41" name="Shape 756"/>
            <p:cNvSpPr/>
            <p:nvPr/>
          </p:nvSpPr>
          <p:spPr>
            <a:xfrm>
              <a:off x="438855" y="2149406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42" name="Shape 757"/>
            <p:cNvSpPr/>
            <p:nvPr/>
          </p:nvSpPr>
          <p:spPr>
            <a:xfrm>
              <a:off x="438855" y="2867380"/>
              <a:ext cx="991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43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544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45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546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547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548" name="Shape 815"/>
            <p:cNvSpPr txBox="1"/>
            <p:nvPr/>
          </p:nvSpPr>
          <p:spPr>
            <a:xfrm>
              <a:off x="629354" y="64063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549" name="Shape 816"/>
            <p:cNvSpPr txBox="1"/>
            <p:nvPr/>
          </p:nvSpPr>
          <p:spPr>
            <a:xfrm>
              <a:off x="629354" y="804616"/>
              <a:ext cx="736603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550" name="Shape 817"/>
            <p:cNvSpPr txBox="1"/>
            <p:nvPr/>
          </p:nvSpPr>
          <p:spPr>
            <a:xfrm>
              <a:off x="629354" y="152258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551" name="Shape 818"/>
            <p:cNvSpPr txBox="1"/>
            <p:nvPr/>
          </p:nvSpPr>
          <p:spPr>
            <a:xfrm>
              <a:off x="629354" y="2238304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552" name="Shape 819"/>
            <p:cNvSpPr txBox="1"/>
            <p:nvPr/>
          </p:nvSpPr>
          <p:spPr>
            <a:xfrm>
              <a:off x="629354" y="2956279"/>
              <a:ext cx="736603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2615" name="成组"/>
          <p:cNvGrpSpPr/>
          <p:nvPr/>
        </p:nvGrpSpPr>
        <p:grpSpPr>
          <a:xfrm>
            <a:off x="7407013" y="1183649"/>
            <a:ext cx="5029465" cy="3677430"/>
            <a:chOff x="0" y="0"/>
            <a:chExt cx="5029463" cy="3677429"/>
          </a:xfrm>
        </p:grpSpPr>
        <p:grpSp>
          <p:nvGrpSpPr>
            <p:cNvPr id="2562" name="Group 1094"/>
            <p:cNvGrpSpPr/>
            <p:nvPr/>
          </p:nvGrpSpPr>
          <p:grpSpPr>
            <a:xfrm>
              <a:off x="1799147" y="46036"/>
              <a:ext cx="3221851" cy="571221"/>
              <a:chOff x="0" y="0"/>
              <a:chExt cx="3221850" cy="571220"/>
            </a:xfrm>
          </p:grpSpPr>
          <p:sp>
            <p:nvSpPr>
              <p:cNvPr id="2554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55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56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57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58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59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60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61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563" name="Shape 1095"/>
            <p:cNvSpPr/>
            <p:nvPr/>
          </p:nvSpPr>
          <p:spPr>
            <a:xfrm>
              <a:off x="1805919" y="1068810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64" name="Shape 1096"/>
            <p:cNvSpPr/>
            <p:nvPr/>
          </p:nvSpPr>
          <p:spPr>
            <a:xfrm>
              <a:off x="2641297" y="152262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65" name="Shape 1097"/>
            <p:cNvSpPr/>
            <p:nvPr/>
          </p:nvSpPr>
          <p:spPr>
            <a:xfrm>
              <a:off x="3253155" y="1527139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66" name="Shape 1098"/>
            <p:cNvSpPr/>
            <p:nvPr/>
          </p:nvSpPr>
          <p:spPr>
            <a:xfrm>
              <a:off x="1826239" y="1802589"/>
              <a:ext cx="844411" cy="2258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67" name="Shape 1099"/>
            <p:cNvSpPr/>
            <p:nvPr/>
          </p:nvSpPr>
          <p:spPr>
            <a:xfrm flipH="1">
              <a:off x="3253155" y="1711994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68" name="Shape 1100"/>
            <p:cNvSpPr/>
            <p:nvPr/>
          </p:nvSpPr>
          <p:spPr>
            <a:xfrm>
              <a:off x="3357013" y="1711994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577" name="Group 1109"/>
            <p:cNvGrpSpPr/>
            <p:nvPr/>
          </p:nvGrpSpPr>
          <p:grpSpPr>
            <a:xfrm>
              <a:off x="1805920" y="2278979"/>
              <a:ext cx="3221852" cy="550901"/>
              <a:chOff x="0" y="0"/>
              <a:chExt cx="3221850" cy="550900"/>
            </a:xfrm>
          </p:grpSpPr>
          <p:sp>
            <p:nvSpPr>
              <p:cNvPr id="2569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70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71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72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73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74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75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76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578" name="Shape 1110"/>
            <p:cNvSpPr/>
            <p:nvPr/>
          </p:nvSpPr>
          <p:spPr>
            <a:xfrm>
              <a:off x="2681937" y="3046624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79" name="Shape 1111"/>
            <p:cNvSpPr/>
            <p:nvPr/>
          </p:nvSpPr>
          <p:spPr>
            <a:xfrm>
              <a:off x="3298310" y="305114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0" name="Shape 1112"/>
            <p:cNvSpPr/>
            <p:nvPr/>
          </p:nvSpPr>
          <p:spPr>
            <a:xfrm>
              <a:off x="1826239" y="3308527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1" name="Shape 1113"/>
            <p:cNvSpPr/>
            <p:nvPr/>
          </p:nvSpPr>
          <p:spPr>
            <a:xfrm flipH="1">
              <a:off x="3298311" y="322724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2" name="Shape 1114"/>
            <p:cNvSpPr/>
            <p:nvPr/>
          </p:nvSpPr>
          <p:spPr>
            <a:xfrm>
              <a:off x="3397653" y="322724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3" name="Shape 1079"/>
            <p:cNvSpPr/>
            <p:nvPr/>
          </p:nvSpPr>
          <p:spPr>
            <a:xfrm>
              <a:off x="1441570" y="3139"/>
              <a:ext cx="716551" cy="367115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4" name="Shape 1080"/>
            <p:cNvSpPr/>
            <p:nvPr/>
          </p:nvSpPr>
          <p:spPr>
            <a:xfrm>
              <a:off x="1441570" y="718855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5" name="Shape 1081"/>
            <p:cNvSpPr/>
            <p:nvPr/>
          </p:nvSpPr>
          <p:spPr>
            <a:xfrm>
              <a:off x="1441570" y="143682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6" name="Shape 1082"/>
            <p:cNvSpPr/>
            <p:nvPr/>
          </p:nvSpPr>
          <p:spPr>
            <a:xfrm>
              <a:off x="1441570" y="215254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7" name="Shape 1083"/>
            <p:cNvSpPr/>
            <p:nvPr/>
          </p:nvSpPr>
          <p:spPr>
            <a:xfrm>
              <a:off x="1441570" y="287051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8" name="Shape 1125"/>
            <p:cNvSpPr txBox="1"/>
            <p:nvPr/>
          </p:nvSpPr>
          <p:spPr>
            <a:xfrm>
              <a:off x="2767732" y="13013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89" name="Shape 1126"/>
            <p:cNvSpPr txBox="1"/>
            <p:nvPr/>
          </p:nvSpPr>
          <p:spPr>
            <a:xfrm>
              <a:off x="4292862" y="13013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590" name="Shape 1127"/>
            <p:cNvSpPr txBox="1"/>
            <p:nvPr/>
          </p:nvSpPr>
          <p:spPr>
            <a:xfrm>
              <a:off x="2763500" y="1584148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591" name="Shape 1128"/>
            <p:cNvSpPr txBox="1"/>
            <p:nvPr/>
          </p:nvSpPr>
          <p:spPr>
            <a:xfrm>
              <a:off x="2767732" y="234050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592" name="Shape 1129"/>
            <p:cNvSpPr txBox="1"/>
            <p:nvPr/>
          </p:nvSpPr>
          <p:spPr>
            <a:xfrm>
              <a:off x="4290322" y="236082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93" name="Shape 1130"/>
            <p:cNvSpPr txBox="1"/>
            <p:nvPr/>
          </p:nvSpPr>
          <p:spPr>
            <a:xfrm>
              <a:off x="2771120" y="310899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594" name="Shape 1131"/>
            <p:cNvSpPr/>
            <p:nvPr/>
          </p:nvSpPr>
          <p:spPr>
            <a:xfrm>
              <a:off x="2623236" y="806908"/>
              <a:ext cx="844410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95" name="Shape 1132"/>
            <p:cNvSpPr/>
            <p:nvPr/>
          </p:nvSpPr>
          <p:spPr>
            <a:xfrm>
              <a:off x="3235092" y="81142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96" name="Shape 1133"/>
            <p:cNvSpPr/>
            <p:nvPr/>
          </p:nvSpPr>
          <p:spPr>
            <a:xfrm flipH="1">
              <a:off x="3235093" y="98753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97" name="Shape 1134"/>
            <p:cNvSpPr/>
            <p:nvPr/>
          </p:nvSpPr>
          <p:spPr>
            <a:xfrm>
              <a:off x="3338951" y="98753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98" name="Shape 1135"/>
            <p:cNvSpPr txBox="1"/>
            <p:nvPr/>
          </p:nvSpPr>
          <p:spPr>
            <a:xfrm>
              <a:off x="2765757" y="84585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grpSp>
          <p:nvGrpSpPr>
            <p:cNvPr id="2614" name="成组"/>
            <p:cNvGrpSpPr/>
            <p:nvPr/>
          </p:nvGrpSpPr>
          <p:grpSpPr>
            <a:xfrm>
              <a:off x="0" y="0"/>
              <a:ext cx="1432438" cy="3677430"/>
              <a:chOff x="0" y="0"/>
              <a:chExt cx="1432437" cy="3677429"/>
            </a:xfrm>
          </p:grpSpPr>
          <p:sp>
            <p:nvSpPr>
              <p:cNvPr id="2599" name="Shape 753"/>
              <p:cNvSpPr/>
              <p:nvPr/>
            </p:nvSpPr>
            <p:spPr>
              <a:xfrm>
                <a:off x="438854" y="0"/>
                <a:ext cx="993584" cy="367743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00" name="Shape 754"/>
              <p:cNvSpPr/>
              <p:nvPr/>
            </p:nvSpPr>
            <p:spPr>
              <a:xfrm>
                <a:off x="438855" y="715715"/>
                <a:ext cx="991450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01" name="Shape 755"/>
              <p:cNvSpPr/>
              <p:nvPr/>
            </p:nvSpPr>
            <p:spPr>
              <a:xfrm>
                <a:off x="438855" y="1433689"/>
                <a:ext cx="991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02" name="Shape 756"/>
              <p:cNvSpPr/>
              <p:nvPr/>
            </p:nvSpPr>
            <p:spPr>
              <a:xfrm>
                <a:off x="438855" y="2149406"/>
                <a:ext cx="991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03" name="Shape 757"/>
              <p:cNvSpPr/>
              <p:nvPr/>
            </p:nvSpPr>
            <p:spPr>
              <a:xfrm>
                <a:off x="438855" y="2867380"/>
                <a:ext cx="991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04" name="Shape 809"/>
              <p:cNvSpPr txBox="1"/>
              <p:nvPr/>
            </p:nvSpPr>
            <p:spPr>
              <a:xfrm>
                <a:off x="0" y="98495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605" name="Shape 810"/>
              <p:cNvSpPr txBox="1"/>
              <p:nvPr/>
            </p:nvSpPr>
            <p:spPr>
              <a:xfrm>
                <a:off x="0" y="877429"/>
                <a:ext cx="73660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  <p:sp>
            <p:nvSpPr>
              <p:cNvPr id="2606" name="Shape 811"/>
              <p:cNvSpPr txBox="1"/>
              <p:nvPr/>
            </p:nvSpPr>
            <p:spPr>
              <a:xfrm>
                <a:off x="0" y="1608949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2607" name="Shape 812"/>
              <p:cNvSpPr txBox="1"/>
              <p:nvPr/>
            </p:nvSpPr>
            <p:spPr>
              <a:xfrm>
                <a:off x="0" y="2329180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  <p:sp>
            <p:nvSpPr>
              <p:cNvPr id="2608" name="Shape 813"/>
              <p:cNvSpPr txBox="1"/>
              <p:nvPr/>
            </p:nvSpPr>
            <p:spPr>
              <a:xfrm>
                <a:off x="0" y="3047154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2609" name="Shape 815"/>
              <p:cNvSpPr txBox="1"/>
              <p:nvPr/>
            </p:nvSpPr>
            <p:spPr>
              <a:xfrm>
                <a:off x="629354" y="64063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2610" name="Shape 816"/>
              <p:cNvSpPr txBox="1"/>
              <p:nvPr/>
            </p:nvSpPr>
            <p:spPr>
              <a:xfrm>
                <a:off x="629354" y="804616"/>
                <a:ext cx="736603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  <p:sp>
            <p:nvSpPr>
              <p:cNvPr id="2611" name="Shape 817"/>
              <p:cNvSpPr txBox="1"/>
              <p:nvPr/>
            </p:nvSpPr>
            <p:spPr>
              <a:xfrm>
                <a:off x="629354" y="1522589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  <p:sp>
            <p:nvSpPr>
              <p:cNvPr id="2612" name="Shape 818"/>
              <p:cNvSpPr txBox="1"/>
              <p:nvPr/>
            </p:nvSpPr>
            <p:spPr>
              <a:xfrm>
                <a:off x="629354" y="2238304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  <p:sp>
            <p:nvSpPr>
              <p:cNvPr id="2613" name="Shape 819"/>
              <p:cNvSpPr txBox="1"/>
              <p:nvPr/>
            </p:nvSpPr>
            <p:spPr>
              <a:xfrm>
                <a:off x="629354" y="2956279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// 将顶点数组和邻接表合并到Node数组，使用LinkedList表示邻接关系…"/>
          <p:cNvSpPr txBox="1"/>
          <p:nvPr/>
        </p:nvSpPr>
        <p:spPr>
          <a:xfrm>
            <a:off x="465783" y="1420999"/>
            <a:ext cx="12140543" cy="6487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// 将顶点数组和邻接表合并到Node数组，使用LinkedList表示邻接关系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NodeDirectedGraph&lt;T&gt;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IGraph&lt;T&gt; {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GraphKind </a:t>
            </a:r>
            <a:r>
              <a:rPr>
                <a:solidFill>
                  <a:srgbClr val="0326CC"/>
                </a:solidFill>
              </a:rPr>
              <a:t>graghKind</a:t>
            </a:r>
            <a:r>
              <a:t> = GraphKind.</a:t>
            </a:r>
            <a:r>
              <a:rPr>
                <a:solidFill>
                  <a:srgbClr val="0326CC"/>
                </a:solidFill>
              </a:rPr>
              <a:t>DirectedGraph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Node&lt;?&gt;[]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顶点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List&lt;Integer&gt; </a:t>
            </a:r>
            <a:r>
              <a:t>to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邻接点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Node(T </a:t>
            </a:r>
            <a:r>
              <a:rPr>
                <a:solidFill>
                  <a:srgbClr val="7E504F"/>
                </a:solidFill>
              </a:rPr>
              <a:t>node</a:t>
            </a:r>
            <a:r>
              <a:t>) {</a:t>
            </a: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to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LinkedList&lt;&gt;();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618" name="Shape 1137"/>
          <p:cNvSpPr txBox="1"/>
          <p:nvPr/>
        </p:nvSpPr>
        <p:spPr>
          <a:xfrm>
            <a:off x="1753164" y="80433"/>
            <a:ext cx="8813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有向图-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邻接表-&gt;Node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Shape 872"/>
          <p:cNvSpPr txBox="1"/>
          <p:nvPr/>
        </p:nvSpPr>
        <p:spPr>
          <a:xfrm>
            <a:off x="2032564" y="131233"/>
            <a:ext cx="8813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泛型数组</a:t>
            </a:r>
          </a:p>
        </p:txBody>
      </p:sp>
      <p:sp>
        <p:nvSpPr>
          <p:cNvPr id="2621" name="T[]   =&gt; Object[]…"/>
          <p:cNvSpPr txBox="1"/>
          <p:nvPr/>
        </p:nvSpPr>
        <p:spPr>
          <a:xfrm>
            <a:off x="579896" y="1605346"/>
            <a:ext cx="11825958" cy="4777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buSzPct val="60000"/>
              <a:buBlip>
                <a:blip r:embed="rId2"/>
              </a:buBlip>
            </a:pPr>
            <a:r>
              <a:t>T[]   =&gt; Object[]</a:t>
            </a:r>
          </a:p>
          <a:p>
            <a:pPr indent="0"/>
            <a:r>
              <a:t>    Object[] a = new Object[10]; // T[] a = (T[]) Object[10]; 不再用这种形式</a:t>
            </a:r>
          </a:p>
          <a:p>
            <a:pPr indent="0"/>
            <a:r>
              <a:t>    T b = (T) a[0];</a:t>
            </a:r>
          </a:p>
          <a:p>
            <a:pPr indent="0"/>
            <a:r>
              <a:t>    a[0] = new ***();</a:t>
            </a:r>
          </a:p>
          <a:p>
            <a:pPr indent="0"/>
          </a:p>
          <a:p>
            <a:pPr marL="300789" indent="-300789">
              <a:buSzPct val="60000"/>
              <a:buBlip>
                <a:blip r:embed="rId2"/>
              </a:buBlip>
            </a:pPr>
            <a:r>
              <a:t>Node&lt;T&gt;[]  = &gt; Node&lt;?&gt; []</a:t>
            </a:r>
          </a:p>
          <a:p>
            <a:pPr indent="0"/>
            <a:r>
              <a:t>     Node&lt;?&gt;[] a = new Node&lt;?&gt;[10];</a:t>
            </a:r>
          </a:p>
          <a:p>
            <a:pPr indent="0"/>
            <a:r>
              <a:t>     T b = (T) a[0];</a:t>
            </a:r>
          </a:p>
          <a:p>
            <a:pPr indent="0"/>
            <a:r>
              <a:t>     a[0] = new Node&lt;&gt;(....);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5" name="Group 1078"/>
          <p:cNvGrpSpPr/>
          <p:nvPr/>
        </p:nvGrpSpPr>
        <p:grpSpPr>
          <a:xfrm>
            <a:off x="4466165" y="5646794"/>
            <a:ext cx="4301070" cy="2867380"/>
            <a:chOff x="0" y="0"/>
            <a:chExt cx="4301069" cy="2867379"/>
          </a:xfrm>
        </p:grpSpPr>
        <p:sp>
          <p:nvSpPr>
            <p:cNvPr id="2623" name="Shape 1056"/>
            <p:cNvSpPr/>
            <p:nvPr/>
          </p:nvSpPr>
          <p:spPr>
            <a:xfrm flipH="1">
              <a:off x="280504" y="277488"/>
              <a:ext cx="1587502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24" name="Shape 1057"/>
            <p:cNvSpPr/>
            <p:nvPr/>
          </p:nvSpPr>
          <p:spPr>
            <a:xfrm>
              <a:off x="467507" y="1664929"/>
              <a:ext cx="561010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25" name="Shape 1058"/>
            <p:cNvSpPr/>
            <p:nvPr/>
          </p:nvSpPr>
          <p:spPr>
            <a:xfrm>
              <a:off x="1589524" y="2497392"/>
              <a:ext cx="1122021" cy="226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26" name="Shape 1059"/>
            <p:cNvSpPr/>
            <p:nvPr/>
          </p:nvSpPr>
          <p:spPr>
            <a:xfrm flipH="1" flipV="1">
              <a:off x="2337535" y="554976"/>
              <a:ext cx="654512" cy="1664931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27" name="Shape 1060"/>
            <p:cNvSpPr/>
            <p:nvPr/>
          </p:nvSpPr>
          <p:spPr>
            <a:xfrm>
              <a:off x="2431038" y="277488"/>
              <a:ext cx="1496026" cy="832466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28" name="Shape 1061"/>
            <p:cNvSpPr/>
            <p:nvPr/>
          </p:nvSpPr>
          <p:spPr>
            <a:xfrm flipH="1" flipV="1">
              <a:off x="561009" y="1387441"/>
              <a:ext cx="2150536" cy="924962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29" name="Shape 1062"/>
            <p:cNvSpPr/>
            <p:nvPr/>
          </p:nvSpPr>
          <p:spPr>
            <a:xfrm flipH="1">
              <a:off x="1309020" y="1387440"/>
              <a:ext cx="2431040" cy="832467"/>
            </a:xfrm>
            <a:prstGeom prst="line">
              <a:avLst/>
            </a:prstGeom>
            <a:noFill/>
            <a:ln w="25400" cap="sq">
              <a:solidFill>
                <a:srgbClr val="000066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632" name="Group 1065"/>
            <p:cNvGrpSpPr/>
            <p:nvPr/>
          </p:nvGrpSpPr>
          <p:grpSpPr>
            <a:xfrm>
              <a:off x="1870029" y="-1"/>
              <a:ext cx="561011" cy="647475"/>
              <a:chOff x="0" y="0"/>
              <a:chExt cx="561009" cy="647473"/>
            </a:xfrm>
          </p:grpSpPr>
          <p:sp>
            <p:nvSpPr>
              <p:cNvPr id="2630" name="Shape 1063"/>
              <p:cNvSpPr/>
              <p:nvPr/>
            </p:nvSpPr>
            <p:spPr>
              <a:xfrm>
                <a:off x="0" y="0"/>
                <a:ext cx="561011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31" name="Shape 1064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635" name="Group 1068"/>
            <p:cNvGrpSpPr/>
            <p:nvPr/>
          </p:nvGrpSpPr>
          <p:grpSpPr>
            <a:xfrm>
              <a:off x="0" y="1109952"/>
              <a:ext cx="561011" cy="647475"/>
              <a:chOff x="0" y="0"/>
              <a:chExt cx="561009" cy="647473"/>
            </a:xfrm>
          </p:grpSpPr>
          <p:sp>
            <p:nvSpPr>
              <p:cNvPr id="2633" name="Shape 1066"/>
              <p:cNvSpPr/>
              <p:nvPr/>
            </p:nvSpPr>
            <p:spPr>
              <a:xfrm>
                <a:off x="0" y="0"/>
                <a:ext cx="561011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34" name="Shape 1067"/>
              <p:cNvSpPr txBox="1"/>
              <p:nvPr/>
            </p:nvSpPr>
            <p:spPr>
              <a:xfrm>
                <a:off x="46701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638" name="Group 1071"/>
            <p:cNvGrpSpPr/>
            <p:nvPr/>
          </p:nvGrpSpPr>
          <p:grpSpPr>
            <a:xfrm>
              <a:off x="3740057" y="1109952"/>
              <a:ext cx="561013" cy="647475"/>
              <a:chOff x="0" y="0"/>
              <a:chExt cx="561011" cy="647473"/>
            </a:xfrm>
          </p:grpSpPr>
          <p:sp>
            <p:nvSpPr>
              <p:cNvPr id="2636" name="Shape 1069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37" name="Shape 1070"/>
              <p:cNvSpPr txBox="1"/>
              <p:nvPr/>
            </p:nvSpPr>
            <p:spPr>
              <a:xfrm>
                <a:off x="46700" y="18885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641" name="Group 1074"/>
            <p:cNvGrpSpPr/>
            <p:nvPr/>
          </p:nvGrpSpPr>
          <p:grpSpPr>
            <a:xfrm>
              <a:off x="1028516" y="2219905"/>
              <a:ext cx="561013" cy="647475"/>
              <a:chOff x="0" y="0"/>
              <a:chExt cx="561011" cy="647473"/>
            </a:xfrm>
          </p:grpSpPr>
          <p:sp>
            <p:nvSpPr>
              <p:cNvPr id="2639" name="Shape 1072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40" name="Shape 1073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644" name="Group 1077"/>
            <p:cNvGrpSpPr/>
            <p:nvPr/>
          </p:nvGrpSpPr>
          <p:grpSpPr>
            <a:xfrm>
              <a:off x="2711541" y="2219905"/>
              <a:ext cx="561013" cy="647475"/>
              <a:chOff x="0" y="0"/>
              <a:chExt cx="561011" cy="647473"/>
            </a:xfrm>
          </p:grpSpPr>
          <p:sp>
            <p:nvSpPr>
              <p:cNvPr id="2642" name="Shape 1075"/>
              <p:cNvSpPr/>
              <p:nvPr/>
            </p:nvSpPr>
            <p:spPr>
              <a:xfrm>
                <a:off x="0" y="0"/>
                <a:ext cx="561012" cy="647474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5400" cap="sq">
                <a:solidFill>
                  <a:srgbClr val="00008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43" name="Shape 1076"/>
              <p:cNvSpPr txBox="1"/>
              <p:nvPr/>
            </p:nvSpPr>
            <p:spPr>
              <a:xfrm>
                <a:off x="33387" y="18885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b="1" sz="3800">
                    <a:solidFill>
                      <a:srgbClr val="000066"/>
                    </a:solidFill>
                    <a:uFill>
                      <a:solidFill>
                        <a:srgbClr val="000066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</p:grpSp>
      <p:sp>
        <p:nvSpPr>
          <p:cNvPr id="2646" name="Shape 1137"/>
          <p:cNvSpPr txBox="1"/>
          <p:nvPr/>
        </p:nvSpPr>
        <p:spPr>
          <a:xfrm>
            <a:off x="1753164" y="80433"/>
            <a:ext cx="8813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有向图-</a:t>
            </a:r>
            <a:r>
              <a:rPr>
                <a:uFill>
                  <a:solidFill>
                    <a:srgbClr val="0000FF"/>
                  </a:solidFill>
                </a:uFill>
              </a:rPr>
              <a:t>邻接</a:t>
            </a:r>
            <a:r>
              <a:rPr>
                <a:solidFill>
                  <a:schemeClr val="accent5"/>
                </a:solidFill>
                <a:uFill>
                  <a:solidFill>
                    <a:srgbClr val="0000FF"/>
                  </a:solidFill>
                </a:uFill>
              </a:rPr>
              <a:t>表</a:t>
            </a:r>
          </a:p>
        </p:txBody>
      </p:sp>
      <p:grpSp>
        <p:nvGrpSpPr>
          <p:cNvPr id="2708" name="成组"/>
          <p:cNvGrpSpPr/>
          <p:nvPr/>
        </p:nvGrpSpPr>
        <p:grpSpPr>
          <a:xfrm>
            <a:off x="1107813" y="2199649"/>
            <a:ext cx="5029465" cy="3677430"/>
            <a:chOff x="0" y="0"/>
            <a:chExt cx="5029463" cy="3677429"/>
          </a:xfrm>
        </p:grpSpPr>
        <p:grpSp>
          <p:nvGrpSpPr>
            <p:cNvPr id="2655" name="Group 1094"/>
            <p:cNvGrpSpPr/>
            <p:nvPr/>
          </p:nvGrpSpPr>
          <p:grpSpPr>
            <a:xfrm>
              <a:off x="1799147" y="46036"/>
              <a:ext cx="3221851" cy="571221"/>
              <a:chOff x="0" y="0"/>
              <a:chExt cx="3221850" cy="571220"/>
            </a:xfrm>
          </p:grpSpPr>
          <p:sp>
            <p:nvSpPr>
              <p:cNvPr id="2647" name="Shape 1086"/>
              <p:cNvSpPr/>
              <p:nvPr/>
            </p:nvSpPr>
            <p:spPr>
              <a:xfrm>
                <a:off x="2378086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48" name="Shape 1087"/>
              <p:cNvSpPr/>
              <p:nvPr/>
            </p:nvSpPr>
            <p:spPr>
              <a:xfrm>
                <a:off x="2988616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49" name="Shape 1088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50" name="Shape 1089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51" name="Shape 1090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52" name="Shape 1091"/>
              <p:cNvSpPr/>
              <p:nvPr/>
            </p:nvSpPr>
            <p:spPr>
              <a:xfrm>
                <a:off x="-1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53" name="Shape 1092"/>
              <p:cNvSpPr/>
              <p:nvPr/>
            </p:nvSpPr>
            <p:spPr>
              <a:xfrm flipH="1">
                <a:off x="2988616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54" name="Shape 1093"/>
              <p:cNvSpPr/>
              <p:nvPr/>
            </p:nvSpPr>
            <p:spPr>
              <a:xfrm>
                <a:off x="3093799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656" name="Shape 1095"/>
            <p:cNvSpPr/>
            <p:nvPr/>
          </p:nvSpPr>
          <p:spPr>
            <a:xfrm>
              <a:off x="1805919" y="1068810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57" name="Shape 1096"/>
            <p:cNvSpPr/>
            <p:nvPr/>
          </p:nvSpPr>
          <p:spPr>
            <a:xfrm>
              <a:off x="2641297" y="1522623"/>
              <a:ext cx="844411" cy="564447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58" name="Shape 1097"/>
            <p:cNvSpPr/>
            <p:nvPr/>
          </p:nvSpPr>
          <p:spPr>
            <a:xfrm>
              <a:off x="3253155" y="1527139"/>
              <a:ext cx="2259" cy="5644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59" name="Shape 1098"/>
            <p:cNvSpPr/>
            <p:nvPr/>
          </p:nvSpPr>
          <p:spPr>
            <a:xfrm>
              <a:off x="1826239" y="1802589"/>
              <a:ext cx="844411" cy="2258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60" name="Shape 1099"/>
            <p:cNvSpPr/>
            <p:nvPr/>
          </p:nvSpPr>
          <p:spPr>
            <a:xfrm flipH="1">
              <a:off x="3253155" y="1711994"/>
              <a:ext cx="103859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61" name="Shape 1100"/>
            <p:cNvSpPr/>
            <p:nvPr/>
          </p:nvSpPr>
          <p:spPr>
            <a:xfrm>
              <a:off x="3357013" y="1711994"/>
              <a:ext cx="106118" cy="27996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670" name="Group 1109"/>
            <p:cNvGrpSpPr/>
            <p:nvPr/>
          </p:nvGrpSpPr>
          <p:grpSpPr>
            <a:xfrm>
              <a:off x="1805920" y="2278979"/>
              <a:ext cx="3221852" cy="550901"/>
              <a:chOff x="0" y="0"/>
              <a:chExt cx="3221850" cy="550900"/>
            </a:xfrm>
          </p:grpSpPr>
          <p:sp>
            <p:nvSpPr>
              <p:cNvPr id="2662" name="Shape 1101"/>
              <p:cNvSpPr/>
              <p:nvPr/>
            </p:nvSpPr>
            <p:spPr>
              <a:xfrm>
                <a:off x="2378086" y="-1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63" name="Shape 1102"/>
              <p:cNvSpPr/>
              <p:nvPr/>
            </p:nvSpPr>
            <p:spPr>
              <a:xfrm>
                <a:off x="298861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64" name="Shape 1103"/>
              <p:cNvSpPr/>
              <p:nvPr/>
            </p:nvSpPr>
            <p:spPr>
              <a:xfrm>
                <a:off x="1577768" y="27193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65" name="Shape 1104"/>
              <p:cNvSpPr/>
              <p:nvPr/>
            </p:nvSpPr>
            <p:spPr>
              <a:xfrm>
                <a:off x="843762" y="-1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66" name="Shape 1105"/>
              <p:cNvSpPr/>
              <p:nvPr/>
            </p:nvSpPr>
            <p:spPr>
              <a:xfrm>
                <a:off x="1452004" y="4687"/>
                <a:ext cx="2288" cy="54621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67" name="Shape 1106"/>
              <p:cNvSpPr/>
              <p:nvPr/>
            </p:nvSpPr>
            <p:spPr>
              <a:xfrm>
                <a:off x="0" y="27193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68" name="Shape 1107"/>
              <p:cNvSpPr/>
              <p:nvPr/>
            </p:nvSpPr>
            <p:spPr>
              <a:xfrm flipH="1">
                <a:off x="2988616" y="187539"/>
                <a:ext cx="105186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69" name="Shape 1108"/>
              <p:cNvSpPr/>
              <p:nvPr/>
            </p:nvSpPr>
            <p:spPr>
              <a:xfrm>
                <a:off x="3093799" y="187539"/>
                <a:ext cx="105187" cy="27193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671" name="Shape 1110"/>
            <p:cNvSpPr/>
            <p:nvPr/>
          </p:nvSpPr>
          <p:spPr>
            <a:xfrm>
              <a:off x="2681937" y="3046624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72" name="Shape 1111"/>
            <p:cNvSpPr/>
            <p:nvPr/>
          </p:nvSpPr>
          <p:spPr>
            <a:xfrm>
              <a:off x="3298310" y="3051140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73" name="Shape 1112"/>
            <p:cNvSpPr/>
            <p:nvPr/>
          </p:nvSpPr>
          <p:spPr>
            <a:xfrm>
              <a:off x="1826239" y="3308527"/>
              <a:ext cx="844411" cy="2259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74" name="Shape 1113"/>
            <p:cNvSpPr/>
            <p:nvPr/>
          </p:nvSpPr>
          <p:spPr>
            <a:xfrm flipH="1">
              <a:off x="3298311" y="3227246"/>
              <a:ext cx="103860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75" name="Shape 1114"/>
            <p:cNvSpPr/>
            <p:nvPr/>
          </p:nvSpPr>
          <p:spPr>
            <a:xfrm>
              <a:off x="3397653" y="3227246"/>
              <a:ext cx="106118" cy="259647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76" name="Shape 1079"/>
            <p:cNvSpPr/>
            <p:nvPr/>
          </p:nvSpPr>
          <p:spPr>
            <a:xfrm>
              <a:off x="1441570" y="3139"/>
              <a:ext cx="716551" cy="367115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77" name="Shape 1080"/>
            <p:cNvSpPr/>
            <p:nvPr/>
          </p:nvSpPr>
          <p:spPr>
            <a:xfrm>
              <a:off x="1441570" y="718855"/>
              <a:ext cx="7374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78" name="Shape 1081"/>
            <p:cNvSpPr/>
            <p:nvPr/>
          </p:nvSpPr>
          <p:spPr>
            <a:xfrm>
              <a:off x="1441570" y="143682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79" name="Shape 1082"/>
            <p:cNvSpPr/>
            <p:nvPr/>
          </p:nvSpPr>
          <p:spPr>
            <a:xfrm>
              <a:off x="1441570" y="2152545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80" name="Shape 1083"/>
            <p:cNvSpPr/>
            <p:nvPr/>
          </p:nvSpPr>
          <p:spPr>
            <a:xfrm>
              <a:off x="1441570" y="2870518"/>
              <a:ext cx="737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81" name="Shape 1125"/>
            <p:cNvSpPr txBox="1"/>
            <p:nvPr/>
          </p:nvSpPr>
          <p:spPr>
            <a:xfrm>
              <a:off x="2767732" y="13013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682" name="Shape 1126"/>
            <p:cNvSpPr txBox="1"/>
            <p:nvPr/>
          </p:nvSpPr>
          <p:spPr>
            <a:xfrm>
              <a:off x="4292862" y="13013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683" name="Shape 1127"/>
            <p:cNvSpPr txBox="1"/>
            <p:nvPr/>
          </p:nvSpPr>
          <p:spPr>
            <a:xfrm>
              <a:off x="2763500" y="1584148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684" name="Shape 1128"/>
            <p:cNvSpPr txBox="1"/>
            <p:nvPr/>
          </p:nvSpPr>
          <p:spPr>
            <a:xfrm>
              <a:off x="2767732" y="234050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685" name="Shape 1129"/>
            <p:cNvSpPr txBox="1"/>
            <p:nvPr/>
          </p:nvSpPr>
          <p:spPr>
            <a:xfrm>
              <a:off x="4290322" y="236082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686" name="Shape 1130"/>
            <p:cNvSpPr txBox="1"/>
            <p:nvPr/>
          </p:nvSpPr>
          <p:spPr>
            <a:xfrm>
              <a:off x="2771120" y="310899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687" name="Shape 1131"/>
            <p:cNvSpPr/>
            <p:nvPr/>
          </p:nvSpPr>
          <p:spPr>
            <a:xfrm>
              <a:off x="2623236" y="806908"/>
              <a:ext cx="844410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88" name="Shape 1132"/>
            <p:cNvSpPr/>
            <p:nvPr/>
          </p:nvSpPr>
          <p:spPr>
            <a:xfrm>
              <a:off x="3235092" y="811423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89" name="Shape 1133"/>
            <p:cNvSpPr/>
            <p:nvPr/>
          </p:nvSpPr>
          <p:spPr>
            <a:xfrm flipH="1">
              <a:off x="3235093" y="987530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90" name="Shape 1134"/>
            <p:cNvSpPr/>
            <p:nvPr/>
          </p:nvSpPr>
          <p:spPr>
            <a:xfrm>
              <a:off x="3338951" y="98753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91" name="Shape 1135"/>
            <p:cNvSpPr txBox="1"/>
            <p:nvPr/>
          </p:nvSpPr>
          <p:spPr>
            <a:xfrm>
              <a:off x="2765757" y="84585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grpSp>
          <p:nvGrpSpPr>
            <p:cNvPr id="2707" name="成组"/>
            <p:cNvGrpSpPr/>
            <p:nvPr/>
          </p:nvGrpSpPr>
          <p:grpSpPr>
            <a:xfrm>
              <a:off x="0" y="0"/>
              <a:ext cx="1432438" cy="3677430"/>
              <a:chOff x="0" y="0"/>
              <a:chExt cx="1432437" cy="3677429"/>
            </a:xfrm>
          </p:grpSpPr>
          <p:sp>
            <p:nvSpPr>
              <p:cNvPr id="2692" name="Shape 753"/>
              <p:cNvSpPr/>
              <p:nvPr/>
            </p:nvSpPr>
            <p:spPr>
              <a:xfrm>
                <a:off x="438854" y="0"/>
                <a:ext cx="993584" cy="367743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93" name="Shape 754"/>
              <p:cNvSpPr/>
              <p:nvPr/>
            </p:nvSpPr>
            <p:spPr>
              <a:xfrm>
                <a:off x="438855" y="715715"/>
                <a:ext cx="991450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94" name="Shape 755"/>
              <p:cNvSpPr/>
              <p:nvPr/>
            </p:nvSpPr>
            <p:spPr>
              <a:xfrm>
                <a:off x="438855" y="1433689"/>
                <a:ext cx="991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95" name="Shape 756"/>
              <p:cNvSpPr/>
              <p:nvPr/>
            </p:nvSpPr>
            <p:spPr>
              <a:xfrm>
                <a:off x="438855" y="2149406"/>
                <a:ext cx="991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96" name="Shape 757"/>
              <p:cNvSpPr/>
              <p:nvPr/>
            </p:nvSpPr>
            <p:spPr>
              <a:xfrm>
                <a:off x="438855" y="2867380"/>
                <a:ext cx="991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97" name="Shape 809"/>
              <p:cNvSpPr txBox="1"/>
              <p:nvPr/>
            </p:nvSpPr>
            <p:spPr>
              <a:xfrm>
                <a:off x="0" y="98495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698" name="Shape 810"/>
              <p:cNvSpPr txBox="1"/>
              <p:nvPr/>
            </p:nvSpPr>
            <p:spPr>
              <a:xfrm>
                <a:off x="0" y="877429"/>
                <a:ext cx="73660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  <p:sp>
            <p:nvSpPr>
              <p:cNvPr id="2699" name="Shape 811"/>
              <p:cNvSpPr txBox="1"/>
              <p:nvPr/>
            </p:nvSpPr>
            <p:spPr>
              <a:xfrm>
                <a:off x="0" y="1608949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2700" name="Shape 812"/>
              <p:cNvSpPr txBox="1"/>
              <p:nvPr/>
            </p:nvSpPr>
            <p:spPr>
              <a:xfrm>
                <a:off x="0" y="2329180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  <p:sp>
            <p:nvSpPr>
              <p:cNvPr id="2701" name="Shape 813"/>
              <p:cNvSpPr txBox="1"/>
              <p:nvPr/>
            </p:nvSpPr>
            <p:spPr>
              <a:xfrm>
                <a:off x="0" y="3047154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2702" name="Shape 815"/>
              <p:cNvSpPr txBox="1"/>
              <p:nvPr/>
            </p:nvSpPr>
            <p:spPr>
              <a:xfrm>
                <a:off x="629354" y="64063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2703" name="Shape 816"/>
              <p:cNvSpPr txBox="1"/>
              <p:nvPr/>
            </p:nvSpPr>
            <p:spPr>
              <a:xfrm>
                <a:off x="629354" y="804616"/>
                <a:ext cx="736603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  <p:sp>
            <p:nvSpPr>
              <p:cNvPr id="2704" name="Shape 817"/>
              <p:cNvSpPr txBox="1"/>
              <p:nvPr/>
            </p:nvSpPr>
            <p:spPr>
              <a:xfrm>
                <a:off x="629354" y="1522589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  <p:sp>
            <p:nvSpPr>
              <p:cNvPr id="2705" name="Shape 818"/>
              <p:cNvSpPr txBox="1"/>
              <p:nvPr/>
            </p:nvSpPr>
            <p:spPr>
              <a:xfrm>
                <a:off x="629354" y="2238304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  <p:sp>
            <p:nvSpPr>
              <p:cNvPr id="2706" name="Shape 819"/>
              <p:cNvSpPr txBox="1"/>
              <p:nvPr/>
            </p:nvSpPr>
            <p:spPr>
              <a:xfrm>
                <a:off x="629354" y="2956279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2730" name="成组"/>
          <p:cNvGrpSpPr/>
          <p:nvPr/>
        </p:nvGrpSpPr>
        <p:grpSpPr>
          <a:xfrm>
            <a:off x="8138504" y="2078435"/>
            <a:ext cx="4156732" cy="3677430"/>
            <a:chOff x="0" y="0"/>
            <a:chExt cx="4156731" cy="3677429"/>
          </a:xfrm>
        </p:grpSpPr>
        <p:graphicFrame>
          <p:nvGraphicFramePr>
            <p:cNvPr id="2709" name="表格"/>
            <p:cNvGraphicFramePr/>
            <p:nvPr/>
          </p:nvGraphicFramePr>
          <p:xfrm>
            <a:off x="1441306" y="74295"/>
            <a:ext cx="2715426" cy="61809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4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grpSp>
          <p:nvGrpSpPr>
            <p:cNvPr id="2725" name="成组"/>
            <p:cNvGrpSpPr/>
            <p:nvPr/>
          </p:nvGrpSpPr>
          <p:grpSpPr>
            <a:xfrm>
              <a:off x="0" y="0"/>
              <a:ext cx="1432438" cy="3677430"/>
              <a:chOff x="0" y="0"/>
              <a:chExt cx="1432437" cy="3677429"/>
            </a:xfrm>
          </p:grpSpPr>
          <p:sp>
            <p:nvSpPr>
              <p:cNvPr id="2710" name="Shape 753"/>
              <p:cNvSpPr/>
              <p:nvPr/>
            </p:nvSpPr>
            <p:spPr>
              <a:xfrm>
                <a:off x="438854" y="0"/>
                <a:ext cx="993584" cy="3677430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11" name="Shape 754"/>
              <p:cNvSpPr/>
              <p:nvPr/>
            </p:nvSpPr>
            <p:spPr>
              <a:xfrm>
                <a:off x="438855" y="715715"/>
                <a:ext cx="991450" cy="225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12" name="Shape 755"/>
              <p:cNvSpPr/>
              <p:nvPr/>
            </p:nvSpPr>
            <p:spPr>
              <a:xfrm>
                <a:off x="438855" y="1433689"/>
                <a:ext cx="991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13" name="Shape 756"/>
              <p:cNvSpPr/>
              <p:nvPr/>
            </p:nvSpPr>
            <p:spPr>
              <a:xfrm>
                <a:off x="438855" y="2149406"/>
                <a:ext cx="991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14" name="Shape 757"/>
              <p:cNvSpPr/>
              <p:nvPr/>
            </p:nvSpPr>
            <p:spPr>
              <a:xfrm>
                <a:off x="438855" y="2867380"/>
                <a:ext cx="991450" cy="226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15" name="Shape 809"/>
              <p:cNvSpPr txBox="1"/>
              <p:nvPr/>
            </p:nvSpPr>
            <p:spPr>
              <a:xfrm>
                <a:off x="0" y="98495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716" name="Shape 810"/>
              <p:cNvSpPr txBox="1"/>
              <p:nvPr/>
            </p:nvSpPr>
            <p:spPr>
              <a:xfrm>
                <a:off x="0" y="877429"/>
                <a:ext cx="736602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  <p:sp>
            <p:nvSpPr>
              <p:cNvPr id="2717" name="Shape 811"/>
              <p:cNvSpPr txBox="1"/>
              <p:nvPr/>
            </p:nvSpPr>
            <p:spPr>
              <a:xfrm>
                <a:off x="0" y="1608949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2718" name="Shape 812"/>
              <p:cNvSpPr txBox="1"/>
              <p:nvPr/>
            </p:nvSpPr>
            <p:spPr>
              <a:xfrm>
                <a:off x="0" y="2329180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  <p:sp>
            <p:nvSpPr>
              <p:cNvPr id="2719" name="Shape 813"/>
              <p:cNvSpPr txBox="1"/>
              <p:nvPr/>
            </p:nvSpPr>
            <p:spPr>
              <a:xfrm>
                <a:off x="0" y="3047154"/>
                <a:ext cx="7366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2720" name="Shape 815"/>
              <p:cNvSpPr txBox="1"/>
              <p:nvPr/>
            </p:nvSpPr>
            <p:spPr>
              <a:xfrm>
                <a:off x="629354" y="64063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2721" name="Shape 816"/>
              <p:cNvSpPr txBox="1"/>
              <p:nvPr/>
            </p:nvSpPr>
            <p:spPr>
              <a:xfrm>
                <a:off x="629354" y="804616"/>
                <a:ext cx="736603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  <p:sp>
            <p:nvSpPr>
              <p:cNvPr id="2722" name="Shape 817"/>
              <p:cNvSpPr txBox="1"/>
              <p:nvPr/>
            </p:nvSpPr>
            <p:spPr>
              <a:xfrm>
                <a:off x="629354" y="1522589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  <p:sp>
            <p:nvSpPr>
              <p:cNvPr id="2723" name="Shape 818"/>
              <p:cNvSpPr txBox="1"/>
              <p:nvPr/>
            </p:nvSpPr>
            <p:spPr>
              <a:xfrm>
                <a:off x="629354" y="2238304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  <p:sp>
            <p:nvSpPr>
              <p:cNvPr id="2724" name="Shape 819"/>
              <p:cNvSpPr txBox="1"/>
              <p:nvPr/>
            </p:nvSpPr>
            <p:spPr>
              <a:xfrm>
                <a:off x="629354" y="2956279"/>
                <a:ext cx="736603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lnSpc>
                    <a:spcPct val="100000"/>
                  </a:lnSpc>
                  <a:spcBef>
                    <a:spcPts val="2300"/>
                  </a:spcBef>
                  <a:defRPr b="1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aphicFrame>
          <p:nvGraphicFramePr>
            <p:cNvPr id="2726" name="表格"/>
            <p:cNvGraphicFramePr/>
            <p:nvPr/>
          </p:nvGraphicFramePr>
          <p:xfrm>
            <a:off x="1441306" y="784960"/>
            <a:ext cx="2715426" cy="61809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graphicFrame>
          <p:nvGraphicFramePr>
            <p:cNvPr id="2727" name="表格"/>
            <p:cNvGraphicFramePr/>
            <p:nvPr/>
          </p:nvGraphicFramePr>
          <p:xfrm>
            <a:off x="1438483" y="1504265"/>
            <a:ext cx="2715426" cy="61809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3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graphicFrame>
          <p:nvGraphicFramePr>
            <p:cNvPr id="2728" name="表格"/>
            <p:cNvGraphicFramePr/>
            <p:nvPr/>
          </p:nvGraphicFramePr>
          <p:xfrm>
            <a:off x="1438483" y="2217220"/>
            <a:ext cx="2715426" cy="61809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/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  <p:graphicFrame>
          <p:nvGraphicFramePr>
            <p:cNvPr id="2729" name="表格"/>
            <p:cNvGraphicFramePr/>
            <p:nvPr/>
          </p:nvGraphicFramePr>
          <p:xfrm>
            <a:off x="1438483" y="2996777"/>
            <a:ext cx="2715426" cy="61809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lnSpc>
                            <a:spcPct val="100000"/>
                          </a:lnSpc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2</a:t>
                        </a:r>
                      </a:p>
                    </a:txBody>
                    <a:tcPr marL="0" marR="0" marT="0" marB="0" anchor="ctr" anchorCtr="0" horzOverflow="overflow"/>
                  </a:tc>
                </a:tr>
              </a:tbl>
            </a:graphicData>
          </a:graphic>
        </p:graphicFrame>
      </p:grpSp>
      <p:sp>
        <p:nvSpPr>
          <p:cNvPr id="2731" name="适用的场合???"/>
          <p:cNvSpPr txBox="1"/>
          <p:nvPr/>
        </p:nvSpPr>
        <p:spPr>
          <a:xfrm>
            <a:off x="637850" y="1406177"/>
            <a:ext cx="258441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适用的场合???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树的链式存储</a:t>
            </a:r>
          </a:p>
        </p:txBody>
      </p:sp>
      <p:grpSp>
        <p:nvGrpSpPr>
          <p:cNvPr id="2740" name="成组"/>
          <p:cNvGrpSpPr/>
          <p:nvPr/>
        </p:nvGrpSpPr>
        <p:grpSpPr>
          <a:xfrm>
            <a:off x="2214385" y="2197100"/>
            <a:ext cx="1831576" cy="1511358"/>
            <a:chOff x="0" y="0"/>
            <a:chExt cx="1831574" cy="1511357"/>
          </a:xfrm>
        </p:grpSpPr>
        <p:sp>
          <p:nvSpPr>
            <p:cNvPr id="2734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5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6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7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8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39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741" name="Shape 135"/>
          <p:cNvSpPr txBox="1"/>
          <p:nvPr/>
        </p:nvSpPr>
        <p:spPr>
          <a:xfrm>
            <a:off x="5333100" y="3997450"/>
            <a:ext cx="184123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a.顶点同构</a:t>
            </a:r>
          </a:p>
        </p:txBody>
      </p:sp>
      <p:grpSp>
        <p:nvGrpSpPr>
          <p:cNvPr id="2746" name="成组"/>
          <p:cNvGrpSpPr/>
          <p:nvPr/>
        </p:nvGrpSpPr>
        <p:grpSpPr>
          <a:xfrm>
            <a:off x="2489278" y="4899150"/>
            <a:ext cx="1078273" cy="1511359"/>
            <a:chOff x="0" y="0"/>
            <a:chExt cx="1078272" cy="1511357"/>
          </a:xfrm>
        </p:grpSpPr>
        <p:sp>
          <p:nvSpPr>
            <p:cNvPr id="2742" name="Shape 136"/>
            <p:cNvSpPr/>
            <p:nvPr/>
          </p:nvSpPr>
          <p:spPr>
            <a:xfrm>
              <a:off x="222208" y="0"/>
              <a:ext cx="790577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3" name="Shape 137"/>
            <p:cNvSpPr/>
            <p:nvPr/>
          </p:nvSpPr>
          <p:spPr>
            <a:xfrm flipH="1">
              <a:off x="-1" y="705167"/>
              <a:ext cx="463511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4" name="Shape 138"/>
            <p:cNvSpPr/>
            <p:nvPr/>
          </p:nvSpPr>
          <p:spPr>
            <a:xfrm>
              <a:off x="742908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5" name="Shape 139"/>
            <p:cNvSpPr/>
            <p:nvPr/>
          </p:nvSpPr>
          <p:spPr>
            <a:xfrm flipH="1">
              <a:off x="593357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752" name="成组"/>
          <p:cNvGrpSpPr/>
          <p:nvPr/>
        </p:nvGrpSpPr>
        <p:grpSpPr>
          <a:xfrm>
            <a:off x="5240179" y="4899150"/>
            <a:ext cx="1793476" cy="1492874"/>
            <a:chOff x="0" y="0"/>
            <a:chExt cx="1793474" cy="1492872"/>
          </a:xfrm>
        </p:grpSpPr>
        <p:sp>
          <p:nvSpPr>
            <p:cNvPr id="2747" name="Shape 141"/>
            <p:cNvSpPr/>
            <p:nvPr/>
          </p:nvSpPr>
          <p:spPr>
            <a:xfrm>
              <a:off x="5066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8" name="Shape 142"/>
            <p:cNvSpPr/>
            <p:nvPr/>
          </p:nvSpPr>
          <p:spPr>
            <a:xfrm flipH="1">
              <a:off x="-1" y="7051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49" name="Shape 143"/>
            <p:cNvSpPr/>
            <p:nvPr/>
          </p:nvSpPr>
          <p:spPr>
            <a:xfrm flipH="1">
              <a:off x="373299" y="733671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50" name="Shape 144"/>
            <p:cNvSpPr/>
            <p:nvPr/>
          </p:nvSpPr>
          <p:spPr>
            <a:xfrm>
              <a:off x="11217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51" name="Shape 145"/>
            <p:cNvSpPr/>
            <p:nvPr/>
          </p:nvSpPr>
          <p:spPr>
            <a:xfrm>
              <a:off x="970439" y="736219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759" name="成组"/>
          <p:cNvGrpSpPr/>
          <p:nvPr/>
        </p:nvGrpSpPr>
        <p:grpSpPr>
          <a:xfrm>
            <a:off x="8186579" y="4899150"/>
            <a:ext cx="1831575" cy="1511392"/>
            <a:chOff x="0" y="0"/>
            <a:chExt cx="1831574" cy="1511390"/>
          </a:xfrm>
        </p:grpSpPr>
        <p:sp>
          <p:nvSpPr>
            <p:cNvPr id="2753" name="Shape 147"/>
            <p:cNvSpPr/>
            <p:nvPr/>
          </p:nvSpPr>
          <p:spPr>
            <a:xfrm>
              <a:off x="544706" y="0"/>
              <a:ext cx="790579" cy="75247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54" name="Shape 148"/>
            <p:cNvSpPr/>
            <p:nvPr/>
          </p:nvSpPr>
          <p:spPr>
            <a:xfrm flipH="1">
              <a:off x="-1" y="641667"/>
              <a:ext cx="671709" cy="67171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55" name="Shape 149"/>
            <p:cNvSpPr/>
            <p:nvPr/>
          </p:nvSpPr>
          <p:spPr>
            <a:xfrm flipH="1">
              <a:off x="322499" y="705167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56" name="Shape 150"/>
            <p:cNvSpPr/>
            <p:nvPr/>
          </p:nvSpPr>
          <p:spPr>
            <a:xfrm>
              <a:off x="1159865" y="705168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57" name="Shape 151"/>
            <p:cNvSpPr/>
            <p:nvPr/>
          </p:nvSpPr>
          <p:spPr>
            <a:xfrm>
              <a:off x="1065407" y="754577"/>
              <a:ext cx="335365" cy="7535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58" name="Shape 152"/>
            <p:cNvSpPr/>
            <p:nvPr/>
          </p:nvSpPr>
          <p:spPr>
            <a:xfrm flipH="1">
              <a:off x="918866" y="749388"/>
              <a:ext cx="2" cy="76200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760" name="Shape 155"/>
          <p:cNvSpPr txBox="1"/>
          <p:nvPr/>
        </p:nvSpPr>
        <p:spPr>
          <a:xfrm>
            <a:off x="5434260" y="6991602"/>
            <a:ext cx="18612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lnSpc>
                <a:spcPct val="10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b.顶点异构</a:t>
            </a:r>
          </a:p>
        </p:txBody>
      </p:sp>
      <p:grpSp>
        <p:nvGrpSpPr>
          <p:cNvPr id="2767" name="成组"/>
          <p:cNvGrpSpPr/>
          <p:nvPr/>
        </p:nvGrpSpPr>
        <p:grpSpPr>
          <a:xfrm>
            <a:off x="5449072" y="2193994"/>
            <a:ext cx="1831576" cy="1511359"/>
            <a:chOff x="0" y="0"/>
            <a:chExt cx="1831574" cy="1511357"/>
          </a:xfrm>
        </p:grpSpPr>
        <p:sp>
          <p:nvSpPr>
            <p:cNvPr id="2761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62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63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64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65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66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774" name="成组"/>
          <p:cNvGrpSpPr/>
          <p:nvPr/>
        </p:nvGrpSpPr>
        <p:grpSpPr>
          <a:xfrm>
            <a:off x="8446228" y="2197100"/>
            <a:ext cx="1831576" cy="1511358"/>
            <a:chOff x="0" y="0"/>
            <a:chExt cx="1831574" cy="1511357"/>
          </a:xfrm>
        </p:grpSpPr>
        <p:sp>
          <p:nvSpPr>
            <p:cNvPr id="2768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69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0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1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2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3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775" name="树的每个顶点的子树个数不一样，如何设计结构？"/>
          <p:cNvSpPr txBox="1"/>
          <p:nvPr/>
        </p:nvSpPr>
        <p:spPr>
          <a:xfrm>
            <a:off x="294950" y="1238671"/>
            <a:ext cx="8554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树的每个顶点的子树个数不一样，如何设计结构？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树的链式存储</a:t>
            </a:r>
          </a:p>
        </p:txBody>
      </p:sp>
      <p:grpSp>
        <p:nvGrpSpPr>
          <p:cNvPr id="2784" name="成组"/>
          <p:cNvGrpSpPr/>
          <p:nvPr/>
        </p:nvGrpSpPr>
        <p:grpSpPr>
          <a:xfrm>
            <a:off x="2328685" y="1422400"/>
            <a:ext cx="1831576" cy="1511358"/>
            <a:chOff x="0" y="0"/>
            <a:chExt cx="1831574" cy="1511357"/>
          </a:xfrm>
        </p:grpSpPr>
        <p:sp>
          <p:nvSpPr>
            <p:cNvPr id="2778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9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0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1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2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3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791" name="成组"/>
          <p:cNvGrpSpPr/>
          <p:nvPr/>
        </p:nvGrpSpPr>
        <p:grpSpPr>
          <a:xfrm>
            <a:off x="5563372" y="1419294"/>
            <a:ext cx="1831576" cy="1511359"/>
            <a:chOff x="0" y="0"/>
            <a:chExt cx="1831574" cy="1511357"/>
          </a:xfrm>
        </p:grpSpPr>
        <p:sp>
          <p:nvSpPr>
            <p:cNvPr id="2785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6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7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8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9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90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798" name="成组"/>
          <p:cNvGrpSpPr/>
          <p:nvPr/>
        </p:nvGrpSpPr>
        <p:grpSpPr>
          <a:xfrm>
            <a:off x="8560528" y="1422400"/>
            <a:ext cx="1831576" cy="1511358"/>
            <a:chOff x="0" y="0"/>
            <a:chExt cx="1831574" cy="1511357"/>
          </a:xfrm>
        </p:grpSpPr>
        <p:sp>
          <p:nvSpPr>
            <p:cNvPr id="2792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93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94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95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96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97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799" name="public class  Node&lt;T&gt;{…"/>
          <p:cNvSpPr txBox="1"/>
          <p:nvPr/>
        </p:nvSpPr>
        <p:spPr>
          <a:xfrm>
            <a:off x="2707950" y="3569254"/>
            <a:ext cx="7430617" cy="3427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 Node&lt;T&gt;{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T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Node&lt;?&gt;[] </a:t>
            </a:r>
            <a:r>
              <a:rPr>
                <a:solidFill>
                  <a:srgbClr val="0326CC"/>
                </a:solidFill>
              </a:rPr>
              <a:t>subtrees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Node&lt;?&gt;[5];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Node(T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树的链式存储</a:t>
            </a:r>
          </a:p>
        </p:txBody>
      </p:sp>
      <p:grpSp>
        <p:nvGrpSpPr>
          <p:cNvPr id="2806" name="成组"/>
          <p:cNvGrpSpPr/>
          <p:nvPr/>
        </p:nvGrpSpPr>
        <p:grpSpPr>
          <a:xfrm>
            <a:off x="2715384" y="1203450"/>
            <a:ext cx="1078274" cy="1511359"/>
            <a:chOff x="0" y="0"/>
            <a:chExt cx="1078272" cy="1511357"/>
          </a:xfrm>
        </p:grpSpPr>
        <p:sp>
          <p:nvSpPr>
            <p:cNvPr id="2802" name="Shape 136"/>
            <p:cNvSpPr/>
            <p:nvPr/>
          </p:nvSpPr>
          <p:spPr>
            <a:xfrm>
              <a:off x="222208" y="0"/>
              <a:ext cx="790577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03" name="Shape 137"/>
            <p:cNvSpPr/>
            <p:nvPr/>
          </p:nvSpPr>
          <p:spPr>
            <a:xfrm flipH="1">
              <a:off x="-1" y="705167"/>
              <a:ext cx="463511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04" name="Shape 138"/>
            <p:cNvSpPr/>
            <p:nvPr/>
          </p:nvSpPr>
          <p:spPr>
            <a:xfrm>
              <a:off x="742908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05" name="Shape 139"/>
            <p:cNvSpPr/>
            <p:nvPr/>
          </p:nvSpPr>
          <p:spPr>
            <a:xfrm flipH="1">
              <a:off x="593357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812" name="成组"/>
          <p:cNvGrpSpPr/>
          <p:nvPr/>
        </p:nvGrpSpPr>
        <p:grpSpPr>
          <a:xfrm>
            <a:off x="5466286" y="1203450"/>
            <a:ext cx="1793475" cy="1492874"/>
            <a:chOff x="0" y="0"/>
            <a:chExt cx="1793474" cy="1492872"/>
          </a:xfrm>
        </p:grpSpPr>
        <p:sp>
          <p:nvSpPr>
            <p:cNvPr id="2807" name="Shape 141"/>
            <p:cNvSpPr/>
            <p:nvPr/>
          </p:nvSpPr>
          <p:spPr>
            <a:xfrm>
              <a:off x="5066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08" name="Shape 142"/>
            <p:cNvSpPr/>
            <p:nvPr/>
          </p:nvSpPr>
          <p:spPr>
            <a:xfrm flipH="1">
              <a:off x="-1" y="7051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09" name="Shape 143"/>
            <p:cNvSpPr/>
            <p:nvPr/>
          </p:nvSpPr>
          <p:spPr>
            <a:xfrm flipH="1">
              <a:off x="373299" y="733671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10" name="Shape 144"/>
            <p:cNvSpPr/>
            <p:nvPr/>
          </p:nvSpPr>
          <p:spPr>
            <a:xfrm>
              <a:off x="11217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11" name="Shape 145"/>
            <p:cNvSpPr/>
            <p:nvPr/>
          </p:nvSpPr>
          <p:spPr>
            <a:xfrm>
              <a:off x="970439" y="736219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819" name="成组"/>
          <p:cNvGrpSpPr/>
          <p:nvPr/>
        </p:nvGrpSpPr>
        <p:grpSpPr>
          <a:xfrm>
            <a:off x="8412685" y="1203450"/>
            <a:ext cx="1831576" cy="1511392"/>
            <a:chOff x="0" y="0"/>
            <a:chExt cx="1831574" cy="1511390"/>
          </a:xfrm>
        </p:grpSpPr>
        <p:sp>
          <p:nvSpPr>
            <p:cNvPr id="2813" name="Shape 147"/>
            <p:cNvSpPr/>
            <p:nvPr/>
          </p:nvSpPr>
          <p:spPr>
            <a:xfrm>
              <a:off x="544706" y="0"/>
              <a:ext cx="790579" cy="75247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14" name="Shape 148"/>
            <p:cNvSpPr/>
            <p:nvPr/>
          </p:nvSpPr>
          <p:spPr>
            <a:xfrm flipH="1">
              <a:off x="-1" y="641667"/>
              <a:ext cx="671709" cy="67171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15" name="Shape 149"/>
            <p:cNvSpPr/>
            <p:nvPr/>
          </p:nvSpPr>
          <p:spPr>
            <a:xfrm flipH="1">
              <a:off x="322499" y="705167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16" name="Shape 150"/>
            <p:cNvSpPr/>
            <p:nvPr/>
          </p:nvSpPr>
          <p:spPr>
            <a:xfrm>
              <a:off x="1159865" y="705168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17" name="Shape 151"/>
            <p:cNvSpPr/>
            <p:nvPr/>
          </p:nvSpPr>
          <p:spPr>
            <a:xfrm>
              <a:off x="1065407" y="754577"/>
              <a:ext cx="335365" cy="7535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18" name="Shape 152"/>
            <p:cNvSpPr/>
            <p:nvPr/>
          </p:nvSpPr>
          <p:spPr>
            <a:xfrm flipH="1">
              <a:off x="918866" y="749388"/>
              <a:ext cx="2" cy="76200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820" name="public class  Node&lt;T&gt;{…"/>
          <p:cNvSpPr txBox="1"/>
          <p:nvPr/>
        </p:nvSpPr>
        <p:spPr>
          <a:xfrm>
            <a:off x="3276504" y="3140487"/>
            <a:ext cx="5982507" cy="384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 Node&lt;T&gt;{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T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Node&lt;?&gt;[] </a:t>
            </a:r>
            <a:r>
              <a:rPr>
                <a:solidFill>
                  <a:srgbClr val="0326CC"/>
                </a:solidFill>
              </a:rPr>
              <a:t>subtrees</a:t>
            </a:r>
            <a:r>
              <a:t>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Node(T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</a:t>
            </a:r>
            <a:r>
              <a:t>) {</a:t>
            </a:r>
          </a:p>
          <a:p>
            <a:pPr indent="0">
              <a:lnSpc>
                <a:spcPct val="10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subtrees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Node&lt;?&gt;[</a:t>
            </a:r>
            <a:r>
              <a:rPr>
                <a:solidFill>
                  <a:srgbClr val="7E504F"/>
                </a:solidFill>
              </a:rPr>
              <a:t>n</a:t>
            </a:r>
            <a:r>
              <a:t>];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树的链式存储</a:t>
            </a:r>
          </a:p>
        </p:txBody>
      </p:sp>
      <p:grpSp>
        <p:nvGrpSpPr>
          <p:cNvPr id="2827" name="成组"/>
          <p:cNvGrpSpPr/>
          <p:nvPr/>
        </p:nvGrpSpPr>
        <p:grpSpPr>
          <a:xfrm>
            <a:off x="2715384" y="1178050"/>
            <a:ext cx="1078274" cy="1511359"/>
            <a:chOff x="0" y="0"/>
            <a:chExt cx="1078272" cy="1511357"/>
          </a:xfrm>
        </p:grpSpPr>
        <p:sp>
          <p:nvSpPr>
            <p:cNvPr id="2823" name="Shape 136"/>
            <p:cNvSpPr/>
            <p:nvPr/>
          </p:nvSpPr>
          <p:spPr>
            <a:xfrm>
              <a:off x="222208" y="0"/>
              <a:ext cx="790577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24" name="Shape 137"/>
            <p:cNvSpPr/>
            <p:nvPr/>
          </p:nvSpPr>
          <p:spPr>
            <a:xfrm flipH="1">
              <a:off x="-1" y="705167"/>
              <a:ext cx="463511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25" name="Shape 138"/>
            <p:cNvSpPr/>
            <p:nvPr/>
          </p:nvSpPr>
          <p:spPr>
            <a:xfrm>
              <a:off x="742908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26" name="Shape 139"/>
            <p:cNvSpPr/>
            <p:nvPr/>
          </p:nvSpPr>
          <p:spPr>
            <a:xfrm flipH="1">
              <a:off x="593357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833" name="成组"/>
          <p:cNvGrpSpPr/>
          <p:nvPr/>
        </p:nvGrpSpPr>
        <p:grpSpPr>
          <a:xfrm>
            <a:off x="5466286" y="1178050"/>
            <a:ext cx="1793475" cy="1492874"/>
            <a:chOff x="0" y="0"/>
            <a:chExt cx="1793474" cy="1492872"/>
          </a:xfrm>
        </p:grpSpPr>
        <p:sp>
          <p:nvSpPr>
            <p:cNvPr id="2828" name="Shape 141"/>
            <p:cNvSpPr/>
            <p:nvPr/>
          </p:nvSpPr>
          <p:spPr>
            <a:xfrm>
              <a:off x="5066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29" name="Shape 142"/>
            <p:cNvSpPr/>
            <p:nvPr/>
          </p:nvSpPr>
          <p:spPr>
            <a:xfrm flipH="1">
              <a:off x="-1" y="7051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30" name="Shape 143"/>
            <p:cNvSpPr/>
            <p:nvPr/>
          </p:nvSpPr>
          <p:spPr>
            <a:xfrm flipH="1">
              <a:off x="373299" y="733671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31" name="Shape 144"/>
            <p:cNvSpPr/>
            <p:nvPr/>
          </p:nvSpPr>
          <p:spPr>
            <a:xfrm>
              <a:off x="11217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32" name="Shape 145"/>
            <p:cNvSpPr/>
            <p:nvPr/>
          </p:nvSpPr>
          <p:spPr>
            <a:xfrm>
              <a:off x="970439" y="736219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840" name="成组"/>
          <p:cNvGrpSpPr/>
          <p:nvPr/>
        </p:nvGrpSpPr>
        <p:grpSpPr>
          <a:xfrm>
            <a:off x="8412685" y="1178050"/>
            <a:ext cx="1831576" cy="1511392"/>
            <a:chOff x="0" y="0"/>
            <a:chExt cx="1831574" cy="1511390"/>
          </a:xfrm>
        </p:grpSpPr>
        <p:sp>
          <p:nvSpPr>
            <p:cNvPr id="2834" name="Shape 147"/>
            <p:cNvSpPr/>
            <p:nvPr/>
          </p:nvSpPr>
          <p:spPr>
            <a:xfrm>
              <a:off x="544706" y="0"/>
              <a:ext cx="790579" cy="75247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35" name="Shape 148"/>
            <p:cNvSpPr/>
            <p:nvPr/>
          </p:nvSpPr>
          <p:spPr>
            <a:xfrm flipH="1">
              <a:off x="-1" y="641667"/>
              <a:ext cx="671709" cy="67171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36" name="Shape 149"/>
            <p:cNvSpPr/>
            <p:nvPr/>
          </p:nvSpPr>
          <p:spPr>
            <a:xfrm flipH="1">
              <a:off x="322499" y="705167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37" name="Shape 150"/>
            <p:cNvSpPr/>
            <p:nvPr/>
          </p:nvSpPr>
          <p:spPr>
            <a:xfrm>
              <a:off x="1159865" y="705168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38" name="Shape 151"/>
            <p:cNvSpPr/>
            <p:nvPr/>
          </p:nvSpPr>
          <p:spPr>
            <a:xfrm>
              <a:off x="1065407" y="754577"/>
              <a:ext cx="335365" cy="7535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39" name="Shape 152"/>
            <p:cNvSpPr/>
            <p:nvPr/>
          </p:nvSpPr>
          <p:spPr>
            <a:xfrm flipH="1">
              <a:off x="918866" y="749388"/>
              <a:ext cx="2" cy="76200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841" name="import java.util.LinkedList;…"/>
          <p:cNvSpPr txBox="1"/>
          <p:nvPr/>
        </p:nvSpPr>
        <p:spPr>
          <a:xfrm>
            <a:off x="3152948" y="2955807"/>
            <a:ext cx="6515994" cy="4952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import</a:t>
            </a:r>
            <a:r>
              <a:t> java.util.LinkedList;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import</a:t>
            </a:r>
            <a:r>
              <a:t> java.util.List;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T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List&lt;Node&lt;?&gt;&gt; </a:t>
            </a:r>
            <a:r>
              <a:rPr>
                <a:solidFill>
                  <a:srgbClr val="0326CC"/>
                </a:solidFill>
              </a:rPr>
              <a:t>subtrees</a:t>
            </a:r>
            <a:r>
              <a:t>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Node(T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) {</a:t>
            </a:r>
          </a:p>
          <a:p>
            <a:pPr indent="0">
              <a:lnSpc>
                <a:spcPct val="100000"/>
              </a:lnSpc>
              <a:defRPr sz="2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subtrees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LinkedList&lt;&gt;();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数据结构</a:t>
            </a:r>
          </a:p>
        </p:txBody>
      </p:sp>
      <p:sp>
        <p:nvSpPr>
          <p:cNvPr id="2844" name="public class Node&lt;T&gt; {…"/>
          <p:cNvSpPr txBox="1"/>
          <p:nvPr/>
        </p:nvSpPr>
        <p:spPr>
          <a:xfrm>
            <a:off x="3151105" y="1301943"/>
            <a:ext cx="5982656" cy="2937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35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defRPr sz="3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T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;// 数据</a:t>
            </a:r>
            <a:endParaRPr>
              <a:solidFill>
                <a:srgbClr val="000000"/>
              </a:solidFill>
            </a:endParaRPr>
          </a:p>
          <a:p>
            <a:pPr indent="0">
              <a:defRPr sz="3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</a:t>
            </a:r>
            <a:r>
              <a:rPr>
                <a:solidFill>
                  <a:schemeClr val="accent5"/>
                </a:solidFill>
              </a:rPr>
              <a:t>Node&lt;T&gt; ???  //关系</a:t>
            </a:r>
            <a:endParaRPr>
              <a:solidFill>
                <a:srgbClr val="000000"/>
              </a:solidFill>
            </a:endParaRPr>
          </a:p>
          <a:p>
            <a:pPr indent="0">
              <a:defRPr sz="35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数据结构</a:t>
            </a:r>
          </a:p>
        </p:txBody>
      </p:sp>
      <p:sp>
        <p:nvSpPr>
          <p:cNvPr id="2847" name="private static class Node&lt;T&gt; {…"/>
          <p:cNvSpPr txBox="1"/>
          <p:nvPr/>
        </p:nvSpPr>
        <p:spPr>
          <a:xfrm>
            <a:off x="320827" y="1095290"/>
            <a:ext cx="5830156" cy="1652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rPr>
                <a:solidFill>
                  <a:srgbClr val="000000"/>
                </a:solidFill>
              </a:rPr>
              <a:t> Node&lt;T&gt;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;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848" name="private static class Node&lt;T&gt; {…"/>
          <p:cNvSpPr txBox="1"/>
          <p:nvPr/>
        </p:nvSpPr>
        <p:spPr>
          <a:xfrm>
            <a:off x="6857486" y="1095290"/>
            <a:ext cx="5601520" cy="1983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T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;</a:t>
            </a:r>
          </a:p>
          <a:p>
            <a:pPr indent="0">
              <a:lnSpc>
                <a:spcPct val="100000"/>
              </a:lnSpc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849" name="private static class Node&lt;T&gt; {…"/>
          <p:cNvSpPr txBox="1"/>
          <p:nvPr/>
        </p:nvSpPr>
        <p:spPr>
          <a:xfrm>
            <a:off x="286615" y="3347599"/>
            <a:ext cx="5830157" cy="1726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顶点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List&lt;Integer&gt; </a:t>
            </a:r>
            <a:r>
              <a:t>to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邻接点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850" name="private static class Node&lt;T&gt; {…"/>
          <p:cNvSpPr txBox="1"/>
          <p:nvPr/>
        </p:nvSpPr>
        <p:spPr>
          <a:xfrm>
            <a:off x="318713" y="5182635"/>
            <a:ext cx="5830156" cy="1726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顶点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to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邻接点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数据结构</a:t>
            </a:r>
          </a:p>
        </p:txBody>
      </p:sp>
      <p:sp>
        <p:nvSpPr>
          <p:cNvPr id="2853" name="private static class Node&lt;T&gt; {…"/>
          <p:cNvSpPr txBox="1"/>
          <p:nvPr/>
        </p:nvSpPr>
        <p:spPr>
          <a:xfrm>
            <a:off x="-181062" y="1088342"/>
            <a:ext cx="6820497" cy="1778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顶点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List&lt;Node&lt;T&gt;&gt; </a:t>
            </a:r>
            <a:r>
              <a:rPr>
                <a:solidFill>
                  <a:srgbClr val="0326CC"/>
                </a:solidFill>
              </a:rPr>
              <a:t>to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指向其它的顶点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854" name="private static class Node&lt;T&gt; {…"/>
          <p:cNvSpPr txBox="1"/>
          <p:nvPr/>
        </p:nvSpPr>
        <p:spPr>
          <a:xfrm>
            <a:off x="2754975" y="3428713"/>
            <a:ext cx="6929749" cy="215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rPr>
                <a:solidFill>
                  <a:srgbClr val="000000"/>
                </a:solidFill>
              </a:rPr>
              <a:t> Node&lt;T&gt; {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顶点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List&lt;Node&lt;T&gt;&gt; </a:t>
            </a:r>
            <a:r>
              <a:rPr>
                <a:solidFill>
                  <a:srgbClr val="0326CC"/>
                </a:solidFill>
              </a:rPr>
              <a:t>to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指向其它的顶点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List&lt;Node&lt;T&gt;&gt; </a:t>
            </a:r>
            <a:r>
              <a:rPr>
                <a:solidFill>
                  <a:srgbClr val="0326CC"/>
                </a:solidFill>
              </a:rPr>
              <a:t>from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来自的其它顶点</a:t>
            </a:r>
          </a:p>
          <a:p>
            <a:pPr indent="0">
              <a:lnSpc>
                <a:spcPct val="100000"/>
              </a:lnSpc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855" name="private static class Node&lt;T&gt; {…"/>
          <p:cNvSpPr txBox="1"/>
          <p:nvPr/>
        </p:nvSpPr>
        <p:spPr>
          <a:xfrm>
            <a:off x="6674396" y="1088342"/>
            <a:ext cx="6088857" cy="1778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 {</a:t>
            </a:r>
          </a:p>
          <a:p>
            <a:pPr indent="0">
              <a:lnSpc>
                <a:spcPct val="100000"/>
              </a:lnSpc>
              <a:defRPr sz="2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vertex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顶点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	Node&lt;?&gt;[] </a:t>
            </a:r>
            <a:r>
              <a:rPr>
                <a:solidFill>
                  <a:srgbClr val="0326CC"/>
                </a:solidFill>
              </a:rPr>
              <a:t>to</a:t>
            </a:r>
            <a:r>
              <a:t>;</a:t>
            </a:r>
            <a:r>
              <a:rPr>
                <a:solidFill>
                  <a:srgbClr val="4E9072"/>
                </a:solidFill>
              </a:rPr>
              <a:t>// 指向其它的顶点</a:t>
            </a:r>
          </a:p>
          <a:p>
            <a:pPr indent="0">
              <a:lnSpc>
                <a:spcPct val="100000"/>
              </a:lnSpc>
              <a:defRPr sz="2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Shape 1400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作业</a:t>
            </a:r>
          </a:p>
        </p:txBody>
      </p:sp>
      <p:sp>
        <p:nvSpPr>
          <p:cNvPr id="2858" name="为graph包添加类LinkedListUnDirectedGraph，实现基于邻接表的无向图的各种操作(即实现IGraph接口)。…"/>
          <p:cNvSpPr txBox="1"/>
          <p:nvPr/>
        </p:nvSpPr>
        <p:spPr>
          <a:xfrm>
            <a:off x="1330082" y="1512660"/>
            <a:ext cx="10043915" cy="3894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457200" indent="0" defTabSz="1295400">
              <a:lnSpc>
                <a:spcPct val="100000"/>
              </a:lnSpc>
              <a:spcBef>
                <a:spcPts val="300"/>
              </a:spcBef>
              <a:defRPr sz="2700">
                <a:latin typeface="SimSun"/>
                <a:ea typeface="SimSun"/>
                <a:cs typeface="SimSun"/>
                <a:sym typeface="SimSun"/>
              </a:defRPr>
            </a:pPr>
            <a:r>
              <a:t>为graph包添加类LinkedListUnDirectedGraph，实现基于邻接表的无向图的各种操作(即实现IGraph接口)。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457200" indent="0" defTabSz="1295400">
              <a:lnSpc>
                <a:spcPct val="100000"/>
              </a:lnSpc>
              <a:spcBef>
                <a:spcPts val="300"/>
              </a:spcBef>
              <a:defRPr sz="2700">
                <a:latin typeface="SimSun"/>
                <a:ea typeface="SimSun"/>
                <a:cs typeface="SimSun"/>
                <a:sym typeface="SimSun"/>
              </a:defRPr>
            </a:pPr>
            <a:r>
              <a:t>提交测试用例、运行结果的截图和代码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>
              <a:lnSpc>
                <a:spcPct val="100000"/>
              </a:lnSpc>
              <a:defRPr sz="2700"/>
            </a:pPr>
          </a:p>
          <a:p>
            <a:pPr indent="0">
              <a:lnSpc>
                <a:spcPct val="100000"/>
              </a:lnSpc>
              <a:defRPr sz="2700"/>
            </a:pPr>
            <a:r>
              <a:t>选做：去除包graph的MultiLinkedListUnDirectedGraph.java的抽象类MultiLinkedListUnDirectedGraph的abstract修饰，补齐缺少的方法，运行测试代码。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Shape 1400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实验三</a:t>
            </a:r>
          </a:p>
        </p:txBody>
      </p:sp>
      <p:sp>
        <p:nvSpPr>
          <p:cNvPr id="2861" name="复制、修改LinkedListWeightedDirectedGraph&lt;T&gt;，为包graph增加基于邻接表的带权无向图类：…"/>
          <p:cNvSpPr txBox="1"/>
          <p:nvPr/>
        </p:nvSpPr>
        <p:spPr>
          <a:xfrm>
            <a:off x="175122" y="1684245"/>
            <a:ext cx="12654556" cy="1948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400"/>
            </a:pPr>
            <a:r>
              <a:t>复制、修改LinkedListWeightedDirectedGraph&lt;T&gt;，为包graph增加基于邻接表的带权无向图类：</a:t>
            </a:r>
          </a:p>
          <a:p>
            <a:pPr indent="0">
              <a:defRPr sz="2400"/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LinkedListWeightedUnDirectedGraph&lt;T&gt;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IGraph&lt;T&gt;</a:t>
            </a:r>
          </a:p>
          <a:p>
            <a:pPr indent="0">
              <a:defRPr sz="2400"/>
            </a:pPr>
            <a:r>
              <a:t>采取非对称存储边(即1条边只存储1次)的加5分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Shape 1400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实验三</a:t>
            </a:r>
          </a:p>
        </p:txBody>
      </p:sp>
      <p:sp>
        <p:nvSpPr>
          <p:cNvPr id="2864" name="public class AjacencyMatrixWeightedDirectedGraph2&lt;T&gt; implements IGraph&lt;T&gt; {…"/>
          <p:cNvSpPr txBox="1"/>
          <p:nvPr/>
        </p:nvSpPr>
        <p:spPr>
          <a:xfrm>
            <a:off x="1385561" y="2451476"/>
            <a:ext cx="8467106" cy="156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AjacencyMatrixWeightedDirectedGraph2&lt;T&gt;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IGraph&lt;T&gt; {</a:t>
            </a:r>
          </a:p>
          <a:p>
            <a:pPr indent="0">
              <a:lnSpc>
                <a:spcPct val="100000"/>
              </a:lnSpc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GraphKind </a:t>
            </a:r>
            <a:r>
              <a:t>graghKind</a:t>
            </a:r>
            <a:r>
              <a:rPr>
                <a:solidFill>
                  <a:srgbClr val="000000"/>
                </a:solidFill>
              </a:rPr>
              <a:t> = GraphKind.</a:t>
            </a:r>
            <a:r>
              <a:t>WeightedDirectedGraph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final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rPr>
                <a:solidFill>
                  <a:srgbClr val="000000"/>
                </a:solidFill>
              </a:rPr>
              <a:t> Object </a:t>
            </a:r>
            <a:r>
              <a:rPr>
                <a:solidFill>
                  <a:srgbClr val="0326CC"/>
                </a:solidFill>
              </a:rPr>
              <a:t>noEdge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 </a:t>
            </a:r>
            <a:r>
              <a:t>// 使用null作为无边的标志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vertices</a:t>
            </a:r>
            <a:r>
              <a:t>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Object[][]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;</a:t>
            </a:r>
          </a:p>
        </p:txBody>
      </p:sp>
      <p:sp>
        <p:nvSpPr>
          <p:cNvPr id="2865" name="public void addWeightedEdge(int u, int v, double w) {…"/>
          <p:cNvSpPr txBox="1"/>
          <p:nvPr/>
        </p:nvSpPr>
        <p:spPr>
          <a:xfrm>
            <a:off x="6035350" y="3464954"/>
            <a:ext cx="6363309" cy="2823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addWeightedEdge(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,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</a:t>
            </a:r>
            <a:r>
              <a:rPr>
                <a:solidFill>
                  <a:srgbClr val="7E504F"/>
                </a:solidFill>
              </a:rPr>
              <a:t>w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== </a:t>
            </a:r>
            <a:r>
              <a:rPr>
                <a:solidFill>
                  <a:srgbClr val="0326CC"/>
                </a:solidFill>
              </a:rPr>
              <a:t>noEdge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null表示顶点之间没有边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w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装箱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++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lnSpc>
                <a:spcPct val="100000"/>
              </a:lnSpc>
              <a:defRPr sz="14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7E504F"/>
                </a:solidFill>
              </a:rPr>
              <a:t>w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已经有的边，认为是修改权重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2866" name="public double getWeight(int u, int v) {…"/>
          <p:cNvSpPr txBox="1"/>
          <p:nvPr/>
        </p:nvSpPr>
        <p:spPr>
          <a:xfrm>
            <a:off x="806022" y="6442158"/>
            <a:ext cx="12515727" cy="204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double</a:t>
            </a:r>
            <a:r>
              <a:t> getWeight(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== </a:t>
            </a:r>
            <a:r>
              <a:t>noEdge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NoSuchElementException();</a:t>
            </a:r>
          </a:p>
          <a:p>
            <a:pPr indent="0">
              <a:lnSpc>
                <a:spcPct val="100000"/>
              </a:lnSpc>
              <a:defRPr sz="14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(Double)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][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];</a:t>
            </a:r>
            <a:r>
              <a:t>// noEdge= null,会抛出异常NullPointerException,让使用者感到不解,所以，没有权重时抛出异常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defRPr sz="14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Shape 875"/>
          <p:cNvSpPr txBox="1"/>
          <p:nvPr/>
        </p:nvSpPr>
        <p:spPr>
          <a:xfrm>
            <a:off x="889564" y="190500"/>
            <a:ext cx="11002188" cy="901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5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无向图-邻接多重表(adjacency multilist)</a:t>
            </a:r>
          </a:p>
        </p:txBody>
      </p:sp>
      <p:grpSp>
        <p:nvGrpSpPr>
          <p:cNvPr id="2893" name="成组"/>
          <p:cNvGrpSpPr/>
          <p:nvPr/>
        </p:nvGrpSpPr>
        <p:grpSpPr>
          <a:xfrm>
            <a:off x="1713425" y="2867180"/>
            <a:ext cx="4196401" cy="2763474"/>
            <a:chOff x="0" y="26354"/>
            <a:chExt cx="4196400" cy="2763472"/>
          </a:xfrm>
        </p:grpSpPr>
        <p:grpSp>
          <p:nvGrpSpPr>
            <p:cNvPr id="2871" name="成组"/>
            <p:cNvGrpSpPr/>
            <p:nvPr/>
          </p:nvGrpSpPr>
          <p:grpSpPr>
            <a:xfrm>
              <a:off x="855043" y="1353772"/>
              <a:ext cx="381001" cy="382911"/>
              <a:chOff x="0" y="0"/>
              <a:chExt cx="381000" cy="382909"/>
            </a:xfrm>
          </p:grpSpPr>
          <p:sp>
            <p:nvSpPr>
              <p:cNvPr id="2869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70" name="+"/>
              <p:cNvSpPr txBox="1"/>
              <p:nvPr/>
            </p:nvSpPr>
            <p:spPr>
              <a:xfrm>
                <a:off x="20126" y="0"/>
                <a:ext cx="315347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+</a:t>
                </a:r>
              </a:p>
            </p:txBody>
          </p:sp>
        </p:grpSp>
        <p:grpSp>
          <p:nvGrpSpPr>
            <p:cNvPr id="2874" name="成组"/>
            <p:cNvGrpSpPr/>
            <p:nvPr/>
          </p:nvGrpSpPr>
          <p:grpSpPr>
            <a:xfrm>
              <a:off x="0" y="2122795"/>
              <a:ext cx="381000" cy="394656"/>
              <a:chOff x="0" y="-12699"/>
              <a:chExt cx="381000" cy="394654"/>
            </a:xfrm>
          </p:grpSpPr>
          <p:sp>
            <p:nvSpPr>
              <p:cNvPr id="2872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73" name="a"/>
              <p:cNvSpPr txBox="1"/>
              <p:nvPr/>
            </p:nvSpPr>
            <p:spPr>
              <a:xfrm>
                <a:off x="32826" y="-12700"/>
                <a:ext cx="284838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877" name="成组"/>
            <p:cNvGrpSpPr/>
            <p:nvPr/>
          </p:nvGrpSpPr>
          <p:grpSpPr>
            <a:xfrm>
              <a:off x="1703941" y="2122795"/>
              <a:ext cx="381001" cy="382911"/>
              <a:chOff x="0" y="0"/>
              <a:chExt cx="381000" cy="382909"/>
            </a:xfrm>
          </p:grpSpPr>
          <p:sp>
            <p:nvSpPr>
              <p:cNvPr id="2875" name="圆形"/>
              <p:cNvSpPr/>
              <p:nvPr/>
            </p:nvSpPr>
            <p:spPr>
              <a:xfrm>
                <a:off x="0" y="9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76" name="b"/>
              <p:cNvSpPr txBox="1"/>
              <p:nvPr/>
            </p:nvSpPr>
            <p:spPr>
              <a:xfrm>
                <a:off x="20126" y="0"/>
                <a:ext cx="299100" cy="3829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b</a:t>
                </a:r>
              </a:p>
            </p:txBody>
          </p:sp>
        </p:grpSp>
        <p:sp>
          <p:nvSpPr>
            <p:cNvPr id="2878" name="线条"/>
            <p:cNvSpPr/>
            <p:nvPr/>
          </p:nvSpPr>
          <p:spPr>
            <a:xfrm flipH="1">
              <a:off x="203458" y="1654751"/>
              <a:ext cx="683233" cy="46084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79" name="线条"/>
            <p:cNvSpPr/>
            <p:nvPr/>
          </p:nvSpPr>
          <p:spPr>
            <a:xfrm>
              <a:off x="1208268" y="1654751"/>
              <a:ext cx="683232" cy="46084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882" name="成组"/>
            <p:cNvGrpSpPr/>
            <p:nvPr/>
          </p:nvGrpSpPr>
          <p:grpSpPr>
            <a:xfrm>
              <a:off x="1815361" y="605755"/>
              <a:ext cx="1290128" cy="1498601"/>
              <a:chOff x="0" y="0"/>
              <a:chExt cx="1290126" cy="1498600"/>
            </a:xfrm>
          </p:grpSpPr>
          <p:sp>
            <p:nvSpPr>
              <p:cNvPr id="288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81" name="*"/>
              <p:cNvSpPr/>
              <p:nvPr/>
            </p:nvSpPr>
            <p:spPr>
              <a:xfrm>
                <a:off x="20126" y="228600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*</a:t>
                </a:r>
              </a:p>
            </p:txBody>
          </p:sp>
        </p:grpSp>
        <p:grpSp>
          <p:nvGrpSpPr>
            <p:cNvPr id="2885" name="成组"/>
            <p:cNvGrpSpPr/>
            <p:nvPr/>
          </p:nvGrpSpPr>
          <p:grpSpPr>
            <a:xfrm>
              <a:off x="2747810" y="1354727"/>
              <a:ext cx="1302828" cy="1435101"/>
              <a:chOff x="0" y="26354"/>
              <a:chExt cx="1302826" cy="1435100"/>
            </a:xfrm>
          </p:grpSpPr>
          <p:sp>
            <p:nvSpPr>
              <p:cNvPr id="2883" name="圆形"/>
              <p:cNvSpPr/>
              <p:nvPr/>
            </p:nvSpPr>
            <p:spPr>
              <a:xfrm>
                <a:off x="0" y="263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84" name="c"/>
              <p:cNvSpPr/>
              <p:nvPr/>
            </p:nvSpPr>
            <p:spPr>
              <a:xfrm>
                <a:off x="32826" y="19145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2886" name="线条"/>
            <p:cNvSpPr/>
            <p:nvPr/>
          </p:nvSpPr>
          <p:spPr>
            <a:xfrm flipH="1">
              <a:off x="1190120" y="953699"/>
              <a:ext cx="683233" cy="46084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87" name="线条"/>
            <p:cNvSpPr/>
            <p:nvPr/>
          </p:nvSpPr>
          <p:spPr>
            <a:xfrm>
              <a:off x="2144130" y="953699"/>
              <a:ext cx="683232" cy="46084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890" name="成组"/>
            <p:cNvGrpSpPr/>
            <p:nvPr/>
          </p:nvGrpSpPr>
          <p:grpSpPr>
            <a:xfrm>
              <a:off x="2880873" y="26354"/>
              <a:ext cx="1315528" cy="1435101"/>
              <a:chOff x="0" y="26354"/>
              <a:chExt cx="1315526" cy="1435100"/>
            </a:xfrm>
          </p:grpSpPr>
          <p:sp>
            <p:nvSpPr>
              <p:cNvPr id="2888" name="圆形"/>
              <p:cNvSpPr/>
              <p:nvPr/>
            </p:nvSpPr>
            <p:spPr>
              <a:xfrm>
                <a:off x="0" y="26354"/>
                <a:ext cx="381000" cy="381001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89" name="-"/>
              <p:cNvSpPr/>
              <p:nvPr/>
            </p:nvSpPr>
            <p:spPr>
              <a:xfrm>
                <a:off x="45526" y="19145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-</a:t>
                </a:r>
              </a:p>
            </p:txBody>
          </p:sp>
        </p:grpSp>
        <p:sp>
          <p:nvSpPr>
            <p:cNvPr id="2891" name="线条"/>
            <p:cNvSpPr/>
            <p:nvPr/>
          </p:nvSpPr>
          <p:spPr>
            <a:xfrm flipH="1">
              <a:off x="2189833" y="245586"/>
              <a:ext cx="683232" cy="46084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15" name="连接线"/>
            <p:cNvSpPr/>
            <p:nvPr/>
          </p:nvSpPr>
          <p:spPr>
            <a:xfrm>
              <a:off x="1240929" y="382984"/>
              <a:ext cx="1716284" cy="11377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096" y="12232"/>
                    <a:pt x="8896" y="19432"/>
                    <a:pt x="0" y="21600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/>
            <a:lstStyle/>
            <a:p>
              <a:pPr/>
            </a:p>
          </p:txBody>
        </p:sp>
      </p:grpSp>
      <p:grpSp>
        <p:nvGrpSpPr>
          <p:cNvPr id="2914" name="成组"/>
          <p:cNvGrpSpPr/>
          <p:nvPr/>
        </p:nvGrpSpPr>
        <p:grpSpPr>
          <a:xfrm>
            <a:off x="7505283" y="4195553"/>
            <a:ext cx="3947921" cy="2774500"/>
            <a:chOff x="0" y="0"/>
            <a:chExt cx="3947919" cy="2774498"/>
          </a:xfrm>
        </p:grpSpPr>
        <p:sp>
          <p:nvSpPr>
            <p:cNvPr id="2894" name="线条"/>
            <p:cNvSpPr/>
            <p:nvPr/>
          </p:nvSpPr>
          <p:spPr>
            <a:xfrm>
              <a:off x="1665053" y="269801"/>
              <a:ext cx="1012327" cy="52823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95" name="线条"/>
            <p:cNvSpPr/>
            <p:nvPr/>
          </p:nvSpPr>
          <p:spPr>
            <a:xfrm flipV="1">
              <a:off x="305059" y="317871"/>
              <a:ext cx="1104385" cy="106649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898" name="成组"/>
            <p:cNvGrpSpPr/>
            <p:nvPr/>
          </p:nvGrpSpPr>
          <p:grpSpPr>
            <a:xfrm>
              <a:off x="0" y="0"/>
              <a:ext cx="1270000" cy="1460501"/>
              <a:chOff x="0" y="0"/>
              <a:chExt cx="1270000" cy="1460500"/>
            </a:xfrm>
          </p:grpSpPr>
          <p:sp>
            <p:nvSpPr>
              <p:cNvPr id="2896" name="圆形"/>
              <p:cNvSpPr/>
              <p:nvPr/>
            </p:nvSpPr>
            <p:spPr>
              <a:xfrm>
                <a:off x="5273" y="0"/>
                <a:ext cx="381001" cy="381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97" name="C1"/>
              <p:cNvSpPr/>
              <p:nvPr/>
            </p:nvSpPr>
            <p:spPr>
              <a:xfrm>
                <a:off x="0" y="190500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500"/>
                </a:lvl1pPr>
              </a:lstStyle>
              <a:p>
                <a:pPr/>
                <a:r>
                  <a:t>C1</a:t>
                </a:r>
              </a:p>
            </p:txBody>
          </p:sp>
        </p:grpSp>
        <p:grpSp>
          <p:nvGrpSpPr>
            <p:cNvPr id="2901" name="成组"/>
            <p:cNvGrpSpPr/>
            <p:nvPr/>
          </p:nvGrpSpPr>
          <p:grpSpPr>
            <a:xfrm>
              <a:off x="0" y="1313998"/>
              <a:ext cx="1270000" cy="1460501"/>
              <a:chOff x="0" y="0"/>
              <a:chExt cx="1270000" cy="1460500"/>
            </a:xfrm>
          </p:grpSpPr>
          <p:sp>
            <p:nvSpPr>
              <p:cNvPr id="2899" name="圆形"/>
              <p:cNvSpPr/>
              <p:nvPr/>
            </p:nvSpPr>
            <p:spPr>
              <a:xfrm>
                <a:off x="5273" y="0"/>
                <a:ext cx="381001" cy="381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00" name="C2"/>
              <p:cNvSpPr/>
              <p:nvPr/>
            </p:nvSpPr>
            <p:spPr>
              <a:xfrm>
                <a:off x="0" y="190500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500"/>
                </a:lvl1pPr>
              </a:lstStyle>
              <a:p>
                <a:pPr/>
                <a:r>
                  <a:t>C2</a:t>
                </a:r>
              </a:p>
            </p:txBody>
          </p:sp>
        </p:grpSp>
        <p:grpSp>
          <p:nvGrpSpPr>
            <p:cNvPr id="2904" name="成组"/>
            <p:cNvGrpSpPr/>
            <p:nvPr/>
          </p:nvGrpSpPr>
          <p:grpSpPr>
            <a:xfrm>
              <a:off x="1344829" y="0"/>
              <a:ext cx="1270001" cy="1460501"/>
              <a:chOff x="0" y="0"/>
              <a:chExt cx="1270000" cy="1460500"/>
            </a:xfrm>
          </p:grpSpPr>
          <p:sp>
            <p:nvSpPr>
              <p:cNvPr id="2902" name="圆形"/>
              <p:cNvSpPr/>
              <p:nvPr/>
            </p:nvSpPr>
            <p:spPr>
              <a:xfrm>
                <a:off x="5273" y="0"/>
                <a:ext cx="381001" cy="381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03" name="C3"/>
              <p:cNvSpPr/>
              <p:nvPr/>
            </p:nvSpPr>
            <p:spPr>
              <a:xfrm>
                <a:off x="0" y="190500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500"/>
                </a:lvl1pPr>
              </a:lstStyle>
              <a:p>
                <a:pPr/>
                <a:r>
                  <a:t>C3</a:t>
                </a:r>
              </a:p>
            </p:txBody>
          </p:sp>
        </p:grpSp>
        <p:grpSp>
          <p:nvGrpSpPr>
            <p:cNvPr id="2907" name="成组"/>
            <p:cNvGrpSpPr/>
            <p:nvPr/>
          </p:nvGrpSpPr>
          <p:grpSpPr>
            <a:xfrm>
              <a:off x="1344829" y="1313998"/>
              <a:ext cx="1270001" cy="1460501"/>
              <a:chOff x="0" y="0"/>
              <a:chExt cx="1270000" cy="1460500"/>
            </a:xfrm>
          </p:grpSpPr>
          <p:sp>
            <p:nvSpPr>
              <p:cNvPr id="2905" name="圆形"/>
              <p:cNvSpPr/>
              <p:nvPr/>
            </p:nvSpPr>
            <p:spPr>
              <a:xfrm>
                <a:off x="5273" y="0"/>
                <a:ext cx="381001" cy="381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06" name="C4"/>
              <p:cNvSpPr/>
              <p:nvPr/>
            </p:nvSpPr>
            <p:spPr>
              <a:xfrm>
                <a:off x="0" y="190500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500"/>
                </a:lvl1pPr>
              </a:lstStyle>
              <a:p>
                <a:pPr/>
                <a:r>
                  <a:t>C4</a:t>
                </a:r>
              </a:p>
            </p:txBody>
          </p:sp>
        </p:grpSp>
        <p:grpSp>
          <p:nvGrpSpPr>
            <p:cNvPr id="2910" name="成组"/>
            <p:cNvGrpSpPr/>
            <p:nvPr/>
          </p:nvGrpSpPr>
          <p:grpSpPr>
            <a:xfrm>
              <a:off x="2677919" y="633958"/>
              <a:ext cx="1270001" cy="1460501"/>
              <a:chOff x="0" y="0"/>
              <a:chExt cx="1270000" cy="1460500"/>
            </a:xfrm>
          </p:grpSpPr>
          <p:sp>
            <p:nvSpPr>
              <p:cNvPr id="2908" name="圆形"/>
              <p:cNvSpPr/>
              <p:nvPr/>
            </p:nvSpPr>
            <p:spPr>
              <a:xfrm>
                <a:off x="5273" y="0"/>
                <a:ext cx="381001" cy="38100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09" name="C5"/>
              <p:cNvSpPr/>
              <p:nvPr/>
            </p:nvSpPr>
            <p:spPr>
              <a:xfrm>
                <a:off x="0" y="190500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500"/>
                </a:lvl1pPr>
              </a:lstStyle>
              <a:p>
                <a:pPr/>
                <a:r>
                  <a:t>C5</a:t>
                </a:r>
              </a:p>
            </p:txBody>
          </p:sp>
        </p:grpSp>
        <p:sp>
          <p:nvSpPr>
            <p:cNvPr id="2911" name="线条"/>
            <p:cNvSpPr/>
            <p:nvPr/>
          </p:nvSpPr>
          <p:spPr>
            <a:xfrm>
              <a:off x="356155" y="323341"/>
              <a:ext cx="1037298" cy="103729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12" name="线条"/>
            <p:cNvSpPr/>
            <p:nvPr/>
          </p:nvSpPr>
          <p:spPr>
            <a:xfrm>
              <a:off x="387937" y="1500337"/>
              <a:ext cx="971380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13" name="线条"/>
            <p:cNvSpPr/>
            <p:nvPr/>
          </p:nvSpPr>
          <p:spPr>
            <a:xfrm flipV="1">
              <a:off x="1738401" y="916423"/>
              <a:ext cx="967224" cy="51122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Shape 875"/>
          <p:cNvSpPr txBox="1"/>
          <p:nvPr/>
        </p:nvSpPr>
        <p:spPr>
          <a:xfrm>
            <a:off x="889564" y="190500"/>
            <a:ext cx="11002188" cy="901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5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无向图-邻接多重表(adjacency multilist)</a:t>
            </a:r>
          </a:p>
        </p:txBody>
      </p:sp>
      <p:grpSp>
        <p:nvGrpSpPr>
          <p:cNvPr id="2935" name="成组"/>
          <p:cNvGrpSpPr/>
          <p:nvPr/>
        </p:nvGrpSpPr>
        <p:grpSpPr>
          <a:xfrm>
            <a:off x="1142361" y="1253348"/>
            <a:ext cx="2270132" cy="2248764"/>
            <a:chOff x="0" y="0"/>
            <a:chExt cx="2270131" cy="2248763"/>
          </a:xfrm>
        </p:grpSpPr>
        <p:sp>
          <p:nvSpPr>
            <p:cNvPr id="2918" name="Shape 877"/>
            <p:cNvSpPr/>
            <p:nvPr/>
          </p:nvSpPr>
          <p:spPr>
            <a:xfrm>
              <a:off x="0" y="0"/>
              <a:ext cx="526104" cy="512623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19" name="Shape 878"/>
            <p:cNvSpPr txBox="1"/>
            <p:nvPr/>
          </p:nvSpPr>
          <p:spPr>
            <a:xfrm>
              <a:off x="47677" y="78685"/>
              <a:ext cx="329148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920" name="Shape 880"/>
            <p:cNvSpPr/>
            <p:nvPr/>
          </p:nvSpPr>
          <p:spPr>
            <a:xfrm>
              <a:off x="1744027" y="1736141"/>
              <a:ext cx="526105" cy="512623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21" name="Shape 881"/>
            <p:cNvSpPr txBox="1"/>
            <p:nvPr/>
          </p:nvSpPr>
          <p:spPr>
            <a:xfrm>
              <a:off x="1856643" y="1814825"/>
              <a:ext cx="300871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grpSp>
          <p:nvGrpSpPr>
            <p:cNvPr id="2924" name="Group 885"/>
            <p:cNvGrpSpPr/>
            <p:nvPr/>
          </p:nvGrpSpPr>
          <p:grpSpPr>
            <a:xfrm>
              <a:off x="878588" y="930939"/>
              <a:ext cx="526105" cy="512623"/>
              <a:chOff x="0" y="0"/>
              <a:chExt cx="526104" cy="512622"/>
            </a:xfrm>
          </p:grpSpPr>
          <p:sp>
            <p:nvSpPr>
              <p:cNvPr id="2922" name="Shape 883"/>
              <p:cNvSpPr/>
              <p:nvPr/>
            </p:nvSpPr>
            <p:spPr>
              <a:xfrm>
                <a:off x="0" y="-1"/>
                <a:ext cx="526105" cy="512623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lnSpc>
                    <a:spcPct val="100000"/>
                  </a:lnSpc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23" name="Shape 884"/>
              <p:cNvSpPr txBox="1"/>
              <p:nvPr/>
            </p:nvSpPr>
            <p:spPr>
              <a:xfrm>
                <a:off x="105485" y="78685"/>
                <a:ext cx="315133" cy="3575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lnSpc>
                    <a:spcPct val="100000"/>
                  </a:lnSpc>
                  <a:spcBef>
                    <a:spcPts val="1900"/>
                  </a:spcBef>
                  <a:defRPr sz="20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2925" name="Shape 886"/>
            <p:cNvSpPr/>
            <p:nvPr/>
          </p:nvSpPr>
          <p:spPr>
            <a:xfrm>
              <a:off x="1744027" y="16926"/>
              <a:ext cx="526105" cy="512623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26" name="Shape 887"/>
            <p:cNvSpPr txBox="1"/>
            <p:nvPr/>
          </p:nvSpPr>
          <p:spPr>
            <a:xfrm>
              <a:off x="1849512" y="95610"/>
              <a:ext cx="315133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927" name="Shape 889"/>
            <p:cNvSpPr/>
            <p:nvPr/>
          </p:nvSpPr>
          <p:spPr>
            <a:xfrm>
              <a:off x="0" y="1736141"/>
              <a:ext cx="526104" cy="512623"/>
            </a:xfrm>
            <a:prstGeom prst="ellips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28" name="Shape 890"/>
            <p:cNvSpPr txBox="1"/>
            <p:nvPr/>
          </p:nvSpPr>
          <p:spPr>
            <a:xfrm>
              <a:off x="98477" y="1814825"/>
              <a:ext cx="329148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929" name="Shape 892"/>
            <p:cNvSpPr/>
            <p:nvPr/>
          </p:nvSpPr>
          <p:spPr>
            <a:xfrm>
              <a:off x="520839" y="278072"/>
              <a:ext cx="12284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30" name="Shape 893"/>
            <p:cNvSpPr/>
            <p:nvPr/>
          </p:nvSpPr>
          <p:spPr>
            <a:xfrm>
              <a:off x="228853" y="519874"/>
              <a:ext cx="2260" cy="12090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31" name="Shape 894"/>
            <p:cNvSpPr/>
            <p:nvPr/>
          </p:nvSpPr>
          <p:spPr>
            <a:xfrm>
              <a:off x="2070209" y="519874"/>
              <a:ext cx="2260" cy="12090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32" name="Shape 895"/>
            <p:cNvSpPr/>
            <p:nvPr/>
          </p:nvSpPr>
          <p:spPr>
            <a:xfrm>
              <a:off x="1319157" y="1380690"/>
              <a:ext cx="466692" cy="46669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33" name="Shape 896"/>
            <p:cNvSpPr/>
            <p:nvPr/>
          </p:nvSpPr>
          <p:spPr>
            <a:xfrm flipH="1">
              <a:off x="1346083" y="493276"/>
              <a:ext cx="515413" cy="51541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34" name="Shape 897"/>
            <p:cNvSpPr/>
            <p:nvPr/>
          </p:nvSpPr>
          <p:spPr>
            <a:xfrm flipH="1">
              <a:off x="462968" y="1380690"/>
              <a:ext cx="497168" cy="45700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3030" name="成组"/>
          <p:cNvGrpSpPr/>
          <p:nvPr/>
        </p:nvGrpSpPr>
        <p:grpSpPr>
          <a:xfrm>
            <a:off x="2521419" y="3889335"/>
            <a:ext cx="9401144" cy="4034651"/>
            <a:chOff x="0" y="0"/>
            <a:chExt cx="9401142" cy="4034649"/>
          </a:xfrm>
        </p:grpSpPr>
        <p:sp>
          <p:nvSpPr>
            <p:cNvPr id="2936" name="Shape 909"/>
            <p:cNvSpPr/>
            <p:nvPr/>
          </p:nvSpPr>
          <p:spPr>
            <a:xfrm>
              <a:off x="2704488" y="12700"/>
              <a:ext cx="2959949" cy="225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37" name="Shape 900"/>
            <p:cNvSpPr/>
            <p:nvPr/>
          </p:nvSpPr>
          <p:spPr>
            <a:xfrm>
              <a:off x="2002335" y="871502"/>
              <a:ext cx="918623" cy="225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38" name="Shape 901"/>
            <p:cNvSpPr/>
            <p:nvPr/>
          </p:nvSpPr>
          <p:spPr>
            <a:xfrm>
              <a:off x="2002333" y="2188068"/>
              <a:ext cx="931324" cy="225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39" name="Shape 902"/>
            <p:cNvSpPr/>
            <p:nvPr/>
          </p:nvSpPr>
          <p:spPr>
            <a:xfrm>
              <a:off x="2002334" y="3555999"/>
              <a:ext cx="944024" cy="225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0" name="Shape 903"/>
            <p:cNvSpPr/>
            <p:nvPr/>
          </p:nvSpPr>
          <p:spPr>
            <a:xfrm flipV="1">
              <a:off x="4436203" y="369711"/>
              <a:ext cx="2259" cy="45720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1" name="Shape 904"/>
            <p:cNvSpPr/>
            <p:nvPr/>
          </p:nvSpPr>
          <p:spPr>
            <a:xfrm>
              <a:off x="4436203" y="370275"/>
              <a:ext cx="3535682" cy="225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2" name="Shape 905"/>
            <p:cNvSpPr/>
            <p:nvPr/>
          </p:nvSpPr>
          <p:spPr>
            <a:xfrm flipH="1">
              <a:off x="7962857" y="370275"/>
              <a:ext cx="3102" cy="21262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3" name="Shape 907"/>
            <p:cNvSpPr/>
            <p:nvPr/>
          </p:nvSpPr>
          <p:spPr>
            <a:xfrm>
              <a:off x="2002340" y="1600765"/>
              <a:ext cx="702718" cy="225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4" name="Shape 908"/>
            <p:cNvSpPr/>
            <p:nvPr/>
          </p:nvSpPr>
          <p:spPr>
            <a:xfrm flipV="1">
              <a:off x="2704488" y="0"/>
              <a:ext cx="2260" cy="160528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5" name="Shape 910"/>
            <p:cNvSpPr/>
            <p:nvPr/>
          </p:nvSpPr>
          <p:spPr>
            <a:xfrm>
              <a:off x="5665097" y="20319"/>
              <a:ext cx="2260" cy="54988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6" name="Shape 912"/>
            <p:cNvSpPr/>
            <p:nvPr/>
          </p:nvSpPr>
          <p:spPr>
            <a:xfrm>
              <a:off x="5664999" y="984672"/>
              <a:ext cx="2260" cy="92794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7" name="Shape 913"/>
            <p:cNvSpPr/>
            <p:nvPr/>
          </p:nvSpPr>
          <p:spPr>
            <a:xfrm>
              <a:off x="5664995" y="2327767"/>
              <a:ext cx="2260" cy="9527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8" name="Shape 914"/>
            <p:cNvSpPr/>
            <p:nvPr/>
          </p:nvSpPr>
          <p:spPr>
            <a:xfrm flipV="1">
              <a:off x="4461039" y="1676400"/>
              <a:ext cx="2259" cy="47639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9" name="Shape 915"/>
            <p:cNvSpPr/>
            <p:nvPr/>
          </p:nvSpPr>
          <p:spPr>
            <a:xfrm>
              <a:off x="4461039" y="1676399"/>
              <a:ext cx="3476418" cy="226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0" name="Shape 916"/>
            <p:cNvSpPr/>
            <p:nvPr/>
          </p:nvSpPr>
          <p:spPr>
            <a:xfrm>
              <a:off x="7934349" y="1676399"/>
              <a:ext cx="2260" cy="2379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1" name="Shape 918"/>
            <p:cNvSpPr/>
            <p:nvPr/>
          </p:nvSpPr>
          <p:spPr>
            <a:xfrm>
              <a:off x="7935477" y="2226169"/>
              <a:ext cx="2260" cy="105438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2" name="Shape 919"/>
            <p:cNvSpPr/>
            <p:nvPr/>
          </p:nvSpPr>
          <p:spPr>
            <a:xfrm flipV="1">
              <a:off x="2002320" y="2816296"/>
              <a:ext cx="7179737" cy="226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3" name="Shape 920"/>
            <p:cNvSpPr/>
            <p:nvPr/>
          </p:nvSpPr>
          <p:spPr>
            <a:xfrm flipV="1">
              <a:off x="9177205" y="2451100"/>
              <a:ext cx="2259" cy="36700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4" name="Shape 922"/>
            <p:cNvSpPr/>
            <p:nvPr/>
          </p:nvSpPr>
          <p:spPr>
            <a:xfrm flipV="1">
              <a:off x="9176937" y="1129002"/>
              <a:ext cx="2260" cy="92332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5" name="Shape 923"/>
            <p:cNvSpPr/>
            <p:nvPr/>
          </p:nvSpPr>
          <p:spPr>
            <a:xfrm>
              <a:off x="4461039" y="3632764"/>
              <a:ext cx="2259" cy="39962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6" name="Shape 924"/>
            <p:cNvSpPr/>
            <p:nvPr/>
          </p:nvSpPr>
          <p:spPr>
            <a:xfrm>
              <a:off x="4461040" y="4032391"/>
              <a:ext cx="4716500" cy="225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7" name="Shape 925"/>
            <p:cNvSpPr/>
            <p:nvPr/>
          </p:nvSpPr>
          <p:spPr>
            <a:xfrm flipV="1">
              <a:off x="9177540" y="3831449"/>
              <a:ext cx="2259" cy="20094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8" name="Shape 927"/>
            <p:cNvSpPr txBox="1"/>
            <p:nvPr/>
          </p:nvSpPr>
          <p:spPr>
            <a:xfrm>
              <a:off x="7786182" y="669100"/>
              <a:ext cx="29128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^</a:t>
              </a:r>
            </a:p>
          </p:txBody>
        </p:sp>
        <p:sp>
          <p:nvSpPr>
            <p:cNvPr id="2959" name="Shape 928"/>
            <p:cNvSpPr txBox="1"/>
            <p:nvPr/>
          </p:nvSpPr>
          <p:spPr>
            <a:xfrm>
              <a:off x="7786182" y="3390573"/>
              <a:ext cx="29128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^</a:t>
              </a:r>
            </a:p>
          </p:txBody>
        </p:sp>
        <p:sp>
          <p:nvSpPr>
            <p:cNvPr id="2960" name="Shape 929"/>
            <p:cNvSpPr txBox="1"/>
            <p:nvPr/>
          </p:nvSpPr>
          <p:spPr>
            <a:xfrm>
              <a:off x="9003689" y="669100"/>
              <a:ext cx="29128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^</a:t>
              </a:r>
            </a:p>
          </p:txBody>
        </p:sp>
        <p:sp>
          <p:nvSpPr>
            <p:cNvPr id="2961" name="Shape 930"/>
            <p:cNvSpPr txBox="1"/>
            <p:nvPr/>
          </p:nvSpPr>
          <p:spPr>
            <a:xfrm>
              <a:off x="9003689" y="3390573"/>
              <a:ext cx="29128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^</a:t>
              </a:r>
            </a:p>
          </p:txBody>
        </p:sp>
        <p:sp>
          <p:nvSpPr>
            <p:cNvPr id="2962" name="Shape 931"/>
            <p:cNvSpPr txBox="1"/>
            <p:nvPr/>
          </p:nvSpPr>
          <p:spPr>
            <a:xfrm>
              <a:off x="5484941" y="3390573"/>
              <a:ext cx="29128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^</a:t>
              </a:r>
            </a:p>
          </p:txBody>
        </p:sp>
        <p:sp>
          <p:nvSpPr>
            <p:cNvPr id="2963" name="Shape 933"/>
            <p:cNvSpPr/>
            <p:nvPr/>
          </p:nvSpPr>
          <p:spPr>
            <a:xfrm flipV="1">
              <a:off x="384719" y="1219554"/>
              <a:ext cx="1836640" cy="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64" name="Shape 934"/>
            <p:cNvSpPr/>
            <p:nvPr/>
          </p:nvSpPr>
          <p:spPr>
            <a:xfrm flipV="1">
              <a:off x="384719" y="1862124"/>
              <a:ext cx="1836640" cy="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65" name="Shape 935"/>
            <p:cNvSpPr/>
            <p:nvPr/>
          </p:nvSpPr>
          <p:spPr>
            <a:xfrm flipV="1">
              <a:off x="384719" y="2507011"/>
              <a:ext cx="1836640" cy="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66" name="Shape 936"/>
            <p:cNvSpPr/>
            <p:nvPr/>
          </p:nvSpPr>
          <p:spPr>
            <a:xfrm>
              <a:off x="1351490" y="571498"/>
              <a:ext cx="2258" cy="32731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67" name="Shape 937"/>
            <p:cNvSpPr txBox="1"/>
            <p:nvPr/>
          </p:nvSpPr>
          <p:spPr>
            <a:xfrm>
              <a:off x="0" y="743817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968" name="Shape 938"/>
            <p:cNvSpPr txBox="1"/>
            <p:nvPr/>
          </p:nvSpPr>
          <p:spPr>
            <a:xfrm>
              <a:off x="0" y="1378267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969" name="Shape 939"/>
            <p:cNvSpPr txBox="1"/>
            <p:nvPr/>
          </p:nvSpPr>
          <p:spPr>
            <a:xfrm>
              <a:off x="0" y="2033477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970" name="Shape 940"/>
            <p:cNvSpPr txBox="1"/>
            <p:nvPr/>
          </p:nvSpPr>
          <p:spPr>
            <a:xfrm>
              <a:off x="0" y="268062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971" name="Shape 941"/>
            <p:cNvSpPr txBox="1"/>
            <p:nvPr/>
          </p:nvSpPr>
          <p:spPr>
            <a:xfrm>
              <a:off x="734301" y="720561"/>
              <a:ext cx="35553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972" name="Shape 942"/>
            <p:cNvSpPr txBox="1"/>
            <p:nvPr/>
          </p:nvSpPr>
          <p:spPr>
            <a:xfrm>
              <a:off x="741309" y="1996421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973" name="Shape 943"/>
            <p:cNvSpPr txBox="1"/>
            <p:nvPr/>
          </p:nvSpPr>
          <p:spPr>
            <a:xfrm>
              <a:off x="741433" y="2633190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974" name="Shape 944"/>
            <p:cNvSpPr txBox="1"/>
            <p:nvPr/>
          </p:nvSpPr>
          <p:spPr>
            <a:xfrm>
              <a:off x="748440" y="1300795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975" name="Shape 945"/>
            <p:cNvSpPr/>
            <p:nvPr/>
          </p:nvSpPr>
          <p:spPr>
            <a:xfrm>
              <a:off x="384929" y="3186698"/>
              <a:ext cx="1852414" cy="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76" name="Shape 946"/>
            <p:cNvSpPr txBox="1"/>
            <p:nvPr/>
          </p:nvSpPr>
          <p:spPr>
            <a:xfrm>
              <a:off x="0" y="3354924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977" name="Shape 947"/>
            <p:cNvSpPr txBox="1"/>
            <p:nvPr/>
          </p:nvSpPr>
          <p:spPr>
            <a:xfrm>
              <a:off x="748440" y="3345495"/>
              <a:ext cx="32725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978" name="Shape 948"/>
            <p:cNvSpPr/>
            <p:nvPr/>
          </p:nvSpPr>
          <p:spPr>
            <a:xfrm>
              <a:off x="2924460" y="571217"/>
              <a:ext cx="2981440" cy="542824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79" name="Shape 951"/>
            <p:cNvSpPr/>
            <p:nvPr/>
          </p:nvSpPr>
          <p:spPr>
            <a:xfrm flipH="1">
              <a:off x="3477704" y="558515"/>
              <a:ext cx="7" cy="55519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0" name="Shape 952"/>
            <p:cNvSpPr/>
            <p:nvPr/>
          </p:nvSpPr>
          <p:spPr>
            <a:xfrm flipH="1">
              <a:off x="4092921" y="558515"/>
              <a:ext cx="8" cy="55519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1" name="Shape 953"/>
            <p:cNvSpPr/>
            <p:nvPr/>
          </p:nvSpPr>
          <p:spPr>
            <a:xfrm flipH="1">
              <a:off x="4710391" y="558515"/>
              <a:ext cx="7" cy="55519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2" name="Shape 954"/>
            <p:cNvSpPr/>
            <p:nvPr/>
          </p:nvSpPr>
          <p:spPr>
            <a:xfrm flipH="1">
              <a:off x="5327862" y="558515"/>
              <a:ext cx="8" cy="55519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3" name="Shape 956"/>
            <p:cNvSpPr/>
            <p:nvPr/>
          </p:nvSpPr>
          <p:spPr>
            <a:xfrm>
              <a:off x="6419703" y="571217"/>
              <a:ext cx="2981440" cy="542824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4" name="Shape 959"/>
            <p:cNvSpPr/>
            <p:nvPr/>
          </p:nvSpPr>
          <p:spPr>
            <a:xfrm flipH="1">
              <a:off x="6999990" y="558515"/>
              <a:ext cx="6" cy="555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5" name="Shape 960"/>
            <p:cNvSpPr/>
            <p:nvPr/>
          </p:nvSpPr>
          <p:spPr>
            <a:xfrm flipH="1">
              <a:off x="7615208" y="558515"/>
              <a:ext cx="8" cy="555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6" name="Shape 961"/>
            <p:cNvSpPr/>
            <p:nvPr/>
          </p:nvSpPr>
          <p:spPr>
            <a:xfrm flipH="1">
              <a:off x="8232678" y="558515"/>
              <a:ext cx="7" cy="555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7" name="Shape 962"/>
            <p:cNvSpPr/>
            <p:nvPr/>
          </p:nvSpPr>
          <p:spPr>
            <a:xfrm flipH="1">
              <a:off x="8850149" y="558515"/>
              <a:ext cx="8" cy="55595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8" name="Shape 964"/>
            <p:cNvSpPr/>
            <p:nvPr/>
          </p:nvSpPr>
          <p:spPr>
            <a:xfrm>
              <a:off x="6419703" y="1900430"/>
              <a:ext cx="2981440" cy="54282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9" name="Shape 967"/>
            <p:cNvSpPr/>
            <p:nvPr/>
          </p:nvSpPr>
          <p:spPr>
            <a:xfrm flipH="1">
              <a:off x="7014582" y="1901864"/>
              <a:ext cx="8" cy="55420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0" name="Shape 968"/>
            <p:cNvSpPr/>
            <p:nvPr/>
          </p:nvSpPr>
          <p:spPr>
            <a:xfrm flipH="1">
              <a:off x="7630981" y="1901864"/>
              <a:ext cx="8" cy="55420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1" name="Shape 969"/>
            <p:cNvSpPr/>
            <p:nvPr/>
          </p:nvSpPr>
          <p:spPr>
            <a:xfrm flipH="1">
              <a:off x="8248451" y="1901864"/>
              <a:ext cx="7" cy="55420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2" name="Shape 970"/>
            <p:cNvSpPr/>
            <p:nvPr/>
          </p:nvSpPr>
          <p:spPr>
            <a:xfrm flipH="1">
              <a:off x="8865921" y="1901864"/>
              <a:ext cx="9" cy="55420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3" name="Shape 972"/>
            <p:cNvSpPr/>
            <p:nvPr/>
          </p:nvSpPr>
          <p:spPr>
            <a:xfrm>
              <a:off x="2924460" y="1900430"/>
              <a:ext cx="2981440" cy="542824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4" name="Shape 975"/>
            <p:cNvSpPr/>
            <p:nvPr/>
          </p:nvSpPr>
          <p:spPr>
            <a:xfrm flipH="1">
              <a:off x="3477704" y="1906286"/>
              <a:ext cx="8" cy="5543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5" name="Shape 976"/>
            <p:cNvSpPr/>
            <p:nvPr/>
          </p:nvSpPr>
          <p:spPr>
            <a:xfrm flipH="1">
              <a:off x="4092921" y="1906286"/>
              <a:ext cx="7" cy="5543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6" name="Shape 977"/>
            <p:cNvSpPr/>
            <p:nvPr/>
          </p:nvSpPr>
          <p:spPr>
            <a:xfrm flipH="1">
              <a:off x="4710392" y="1906286"/>
              <a:ext cx="8" cy="5543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7" name="Shape 978"/>
            <p:cNvSpPr/>
            <p:nvPr/>
          </p:nvSpPr>
          <p:spPr>
            <a:xfrm flipH="1">
              <a:off x="5327862" y="1906286"/>
              <a:ext cx="8" cy="5543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8" name="Shape 980"/>
            <p:cNvSpPr/>
            <p:nvPr/>
          </p:nvSpPr>
          <p:spPr>
            <a:xfrm>
              <a:off x="6419703" y="3292277"/>
              <a:ext cx="2981440" cy="54282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9" name="Shape 983"/>
            <p:cNvSpPr/>
            <p:nvPr/>
          </p:nvSpPr>
          <p:spPr>
            <a:xfrm flipH="1">
              <a:off x="6972946" y="3286164"/>
              <a:ext cx="7" cy="558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0" name="Shape 984"/>
            <p:cNvSpPr/>
            <p:nvPr/>
          </p:nvSpPr>
          <p:spPr>
            <a:xfrm flipH="1">
              <a:off x="7588164" y="3286164"/>
              <a:ext cx="7" cy="558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1" name="Shape 985"/>
            <p:cNvSpPr/>
            <p:nvPr/>
          </p:nvSpPr>
          <p:spPr>
            <a:xfrm flipH="1">
              <a:off x="8205634" y="3286164"/>
              <a:ext cx="7" cy="558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2" name="Shape 986"/>
            <p:cNvSpPr/>
            <p:nvPr/>
          </p:nvSpPr>
          <p:spPr>
            <a:xfrm flipH="1">
              <a:off x="8823106" y="3286164"/>
              <a:ext cx="7" cy="558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3" name="Shape 988"/>
            <p:cNvSpPr/>
            <p:nvPr/>
          </p:nvSpPr>
          <p:spPr>
            <a:xfrm>
              <a:off x="2924460" y="3292277"/>
              <a:ext cx="2981440" cy="54282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4" name="Shape 991"/>
            <p:cNvSpPr/>
            <p:nvPr/>
          </p:nvSpPr>
          <p:spPr>
            <a:xfrm flipH="1">
              <a:off x="3477704" y="3279575"/>
              <a:ext cx="7" cy="56834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5" name="Shape 992"/>
            <p:cNvSpPr/>
            <p:nvPr/>
          </p:nvSpPr>
          <p:spPr>
            <a:xfrm flipH="1">
              <a:off x="4092921" y="3286164"/>
              <a:ext cx="8" cy="56175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6" name="Shape 993"/>
            <p:cNvSpPr/>
            <p:nvPr/>
          </p:nvSpPr>
          <p:spPr>
            <a:xfrm flipH="1">
              <a:off x="4710391" y="3286164"/>
              <a:ext cx="7" cy="56175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7" name="Shape 994"/>
            <p:cNvSpPr/>
            <p:nvPr/>
          </p:nvSpPr>
          <p:spPr>
            <a:xfrm flipH="1">
              <a:off x="5327862" y="3286164"/>
              <a:ext cx="7" cy="56175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8" name="Shape 997"/>
            <p:cNvSpPr/>
            <p:nvPr/>
          </p:nvSpPr>
          <p:spPr>
            <a:xfrm>
              <a:off x="2225556" y="571498"/>
              <a:ext cx="2260" cy="32731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9" name="Shape 998"/>
            <p:cNvSpPr/>
            <p:nvPr/>
          </p:nvSpPr>
          <p:spPr>
            <a:xfrm>
              <a:off x="384056" y="571498"/>
              <a:ext cx="2260" cy="32731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10" name="Shape 999"/>
            <p:cNvSpPr/>
            <p:nvPr/>
          </p:nvSpPr>
          <p:spPr>
            <a:xfrm>
              <a:off x="384056" y="3850357"/>
              <a:ext cx="1852414" cy="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11" name="Shape 1001"/>
            <p:cNvSpPr/>
            <p:nvPr/>
          </p:nvSpPr>
          <p:spPr>
            <a:xfrm>
              <a:off x="384057" y="573756"/>
              <a:ext cx="1852414" cy="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12" name="Shape 949"/>
            <p:cNvSpPr txBox="1"/>
            <p:nvPr/>
          </p:nvSpPr>
          <p:spPr>
            <a:xfrm>
              <a:off x="2972705" y="669100"/>
              <a:ext cx="45425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E1</a:t>
              </a:r>
            </a:p>
          </p:txBody>
        </p:sp>
        <p:sp>
          <p:nvSpPr>
            <p:cNvPr id="3013" name="Shape 949"/>
            <p:cNvSpPr txBox="1"/>
            <p:nvPr/>
          </p:nvSpPr>
          <p:spPr>
            <a:xfrm>
              <a:off x="3610366" y="66910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014" name="Shape 949"/>
            <p:cNvSpPr txBox="1"/>
            <p:nvPr/>
          </p:nvSpPr>
          <p:spPr>
            <a:xfrm>
              <a:off x="4897046" y="66910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015" name="Shape 949"/>
            <p:cNvSpPr txBox="1"/>
            <p:nvPr/>
          </p:nvSpPr>
          <p:spPr>
            <a:xfrm>
              <a:off x="7147735" y="66910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016" name="Shape 949"/>
            <p:cNvSpPr txBox="1"/>
            <p:nvPr/>
          </p:nvSpPr>
          <p:spPr>
            <a:xfrm>
              <a:off x="8389164" y="66910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017" name="Shape 949"/>
            <p:cNvSpPr txBox="1"/>
            <p:nvPr/>
          </p:nvSpPr>
          <p:spPr>
            <a:xfrm>
              <a:off x="6472680" y="669100"/>
              <a:ext cx="45425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E2</a:t>
              </a:r>
            </a:p>
          </p:txBody>
        </p:sp>
        <p:sp>
          <p:nvSpPr>
            <p:cNvPr id="3018" name="Shape 949"/>
            <p:cNvSpPr txBox="1"/>
            <p:nvPr/>
          </p:nvSpPr>
          <p:spPr>
            <a:xfrm>
              <a:off x="2972705" y="2016892"/>
              <a:ext cx="45425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E3</a:t>
              </a:r>
            </a:p>
          </p:txBody>
        </p:sp>
        <p:sp>
          <p:nvSpPr>
            <p:cNvPr id="3019" name="Shape 949"/>
            <p:cNvSpPr txBox="1"/>
            <p:nvPr/>
          </p:nvSpPr>
          <p:spPr>
            <a:xfrm>
              <a:off x="3610366" y="201689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020" name="Shape 949"/>
            <p:cNvSpPr txBox="1"/>
            <p:nvPr/>
          </p:nvSpPr>
          <p:spPr>
            <a:xfrm>
              <a:off x="4897046" y="201689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021" name="Shape 949"/>
            <p:cNvSpPr txBox="1"/>
            <p:nvPr/>
          </p:nvSpPr>
          <p:spPr>
            <a:xfrm>
              <a:off x="6472680" y="2016892"/>
              <a:ext cx="45425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E4</a:t>
              </a:r>
            </a:p>
          </p:txBody>
        </p:sp>
        <p:sp>
          <p:nvSpPr>
            <p:cNvPr id="3022" name="Shape 949"/>
            <p:cNvSpPr txBox="1"/>
            <p:nvPr/>
          </p:nvSpPr>
          <p:spPr>
            <a:xfrm>
              <a:off x="8389164" y="201689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023" name="Shape 949"/>
            <p:cNvSpPr txBox="1"/>
            <p:nvPr/>
          </p:nvSpPr>
          <p:spPr>
            <a:xfrm>
              <a:off x="7147735" y="201689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024" name="Shape 949"/>
            <p:cNvSpPr txBox="1"/>
            <p:nvPr/>
          </p:nvSpPr>
          <p:spPr>
            <a:xfrm>
              <a:off x="2972705" y="3390573"/>
              <a:ext cx="45425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E5</a:t>
              </a:r>
            </a:p>
          </p:txBody>
        </p:sp>
        <p:sp>
          <p:nvSpPr>
            <p:cNvPr id="3025" name="Shape 949"/>
            <p:cNvSpPr txBox="1"/>
            <p:nvPr/>
          </p:nvSpPr>
          <p:spPr>
            <a:xfrm>
              <a:off x="3610366" y="339057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3026" name="Shape 949"/>
            <p:cNvSpPr txBox="1"/>
            <p:nvPr/>
          </p:nvSpPr>
          <p:spPr>
            <a:xfrm>
              <a:off x="4897046" y="339057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027" name="Shape 949"/>
            <p:cNvSpPr txBox="1"/>
            <p:nvPr/>
          </p:nvSpPr>
          <p:spPr>
            <a:xfrm>
              <a:off x="6472680" y="3390573"/>
              <a:ext cx="45425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E6</a:t>
              </a:r>
            </a:p>
          </p:txBody>
        </p:sp>
        <p:sp>
          <p:nvSpPr>
            <p:cNvPr id="3028" name="Shape 949"/>
            <p:cNvSpPr txBox="1"/>
            <p:nvPr/>
          </p:nvSpPr>
          <p:spPr>
            <a:xfrm>
              <a:off x="7147735" y="339057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029" name="Shape 949"/>
            <p:cNvSpPr txBox="1"/>
            <p:nvPr/>
          </p:nvSpPr>
          <p:spPr>
            <a:xfrm>
              <a:off x="8389164" y="339057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2" name="Shape 1220"/>
          <p:cNvSpPr txBox="1"/>
          <p:nvPr/>
        </p:nvSpPr>
        <p:spPr>
          <a:xfrm>
            <a:off x="1663475" y="85654"/>
            <a:ext cx="950223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00000"/>
              </a:lnSpc>
              <a:spcBef>
                <a:spcPts val="1900"/>
              </a:spcBef>
              <a:defRPr sz="4800">
                <a:solidFill>
                  <a:srgbClr val="001A40"/>
                </a:solidFill>
                <a:uFill>
                  <a:solidFill>
                    <a:srgbClr val="0000FF"/>
                  </a:solidFill>
                </a:uFill>
              </a:defRPr>
            </a:lvl1pPr>
          </a:lstStyle>
          <a:p>
            <a:pPr/>
            <a:r>
              <a:t>有向图-十字链表</a:t>
            </a:r>
          </a:p>
        </p:txBody>
      </p:sp>
      <p:grpSp>
        <p:nvGrpSpPr>
          <p:cNvPr id="3043" name="成组"/>
          <p:cNvGrpSpPr/>
          <p:nvPr/>
        </p:nvGrpSpPr>
        <p:grpSpPr>
          <a:xfrm>
            <a:off x="198118" y="1722270"/>
            <a:ext cx="2458724" cy="2255137"/>
            <a:chOff x="0" y="163249"/>
            <a:chExt cx="2458723" cy="2255136"/>
          </a:xfrm>
        </p:grpSpPr>
        <p:sp>
          <p:nvSpPr>
            <p:cNvPr id="3033" name="Shape 1221"/>
            <p:cNvSpPr/>
            <p:nvPr/>
          </p:nvSpPr>
          <p:spPr>
            <a:xfrm>
              <a:off x="0" y="163249"/>
              <a:ext cx="661964" cy="65775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34" name="Shape 1222"/>
            <p:cNvSpPr txBox="1"/>
            <p:nvPr/>
          </p:nvSpPr>
          <p:spPr>
            <a:xfrm>
              <a:off x="166408" y="315062"/>
              <a:ext cx="329148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035" name="Shape 1224"/>
            <p:cNvSpPr/>
            <p:nvPr/>
          </p:nvSpPr>
          <p:spPr>
            <a:xfrm>
              <a:off x="851095" y="1760635"/>
              <a:ext cx="661967" cy="65775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36" name="Shape 1225"/>
            <p:cNvSpPr txBox="1"/>
            <p:nvPr/>
          </p:nvSpPr>
          <p:spPr>
            <a:xfrm>
              <a:off x="1024511" y="1912448"/>
              <a:ext cx="315133" cy="357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037" name="Shape 1227"/>
            <p:cNvSpPr/>
            <p:nvPr/>
          </p:nvSpPr>
          <p:spPr>
            <a:xfrm>
              <a:off x="1796757" y="257212"/>
              <a:ext cx="661967" cy="657751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38" name="Shape 1228"/>
            <p:cNvSpPr txBox="1"/>
            <p:nvPr/>
          </p:nvSpPr>
          <p:spPr>
            <a:xfrm>
              <a:off x="1970174" y="409025"/>
              <a:ext cx="315133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lnSpc>
                  <a:spcPct val="100000"/>
                </a:lnSpc>
                <a:spcBef>
                  <a:spcPts val="1900"/>
                </a:spcBef>
                <a:defRPr sz="2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039" name="Shape 1230"/>
            <p:cNvSpPr/>
            <p:nvPr/>
          </p:nvSpPr>
          <p:spPr>
            <a:xfrm>
              <a:off x="516427" y="774879"/>
              <a:ext cx="447602" cy="105432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40" name="Shape 1231"/>
            <p:cNvSpPr/>
            <p:nvPr/>
          </p:nvSpPr>
          <p:spPr>
            <a:xfrm>
              <a:off x="652781" y="559440"/>
              <a:ext cx="1133981" cy="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41" name="Shape 1232"/>
            <p:cNvSpPr/>
            <p:nvPr/>
          </p:nvSpPr>
          <p:spPr>
            <a:xfrm flipH="1">
              <a:off x="1364943" y="914959"/>
              <a:ext cx="664715" cy="89583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cxnSp>
          <p:nvCxnSpPr>
            <p:cNvPr id="3042" name="连接线"/>
            <p:cNvCxnSpPr>
              <a:stCxn id="3033" idx="0"/>
              <a:endCxn id="3037" idx="0"/>
            </p:cNvCxnSpPr>
            <p:nvPr/>
          </p:nvCxnSpPr>
          <p:spPr>
            <a:xfrm>
              <a:off x="330981" y="492124"/>
              <a:ext cx="1796760" cy="93964"/>
            </a:xfrm>
            <a:prstGeom prst="straightConnector1">
              <a:avLst/>
            </a:prstGeom>
            <a:ln w="12700" cap="flat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</p:cxnSp>
      </p:grpSp>
      <p:grpSp>
        <p:nvGrpSpPr>
          <p:cNvPr id="3113" name="成组"/>
          <p:cNvGrpSpPr/>
          <p:nvPr/>
        </p:nvGrpSpPr>
        <p:grpSpPr>
          <a:xfrm>
            <a:off x="3199571" y="3740150"/>
            <a:ext cx="8878130" cy="2273301"/>
            <a:chOff x="0" y="0"/>
            <a:chExt cx="8878128" cy="2273300"/>
          </a:xfrm>
        </p:grpSpPr>
        <p:sp>
          <p:nvSpPr>
            <p:cNvPr id="3044" name="线条"/>
            <p:cNvSpPr/>
            <p:nvPr/>
          </p:nvSpPr>
          <p:spPr>
            <a:xfrm>
              <a:off x="1272886" y="2273300"/>
              <a:ext cx="7605243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45" name="Shape 1276"/>
            <p:cNvSpPr txBox="1"/>
            <p:nvPr/>
          </p:nvSpPr>
          <p:spPr>
            <a:xfrm>
              <a:off x="0" y="364294"/>
              <a:ext cx="299099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046" name="Shape 1277"/>
            <p:cNvSpPr txBox="1"/>
            <p:nvPr/>
          </p:nvSpPr>
          <p:spPr>
            <a:xfrm>
              <a:off x="0" y="846894"/>
              <a:ext cx="299099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047" name="Shape 1278"/>
            <p:cNvSpPr txBox="1"/>
            <p:nvPr/>
          </p:nvSpPr>
          <p:spPr>
            <a:xfrm>
              <a:off x="0" y="1316794"/>
              <a:ext cx="299099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lnSpc>
                  <a:spcPct val="100000"/>
                </a:lnSpc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048" name="矩形"/>
            <p:cNvSpPr/>
            <p:nvPr/>
          </p:nvSpPr>
          <p:spPr>
            <a:xfrm>
              <a:off x="428512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49" name="A"/>
            <p:cNvSpPr txBox="1"/>
            <p:nvPr/>
          </p:nvSpPr>
          <p:spPr>
            <a:xfrm>
              <a:off x="503432" y="361176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050" name="矩形"/>
            <p:cNvSpPr/>
            <p:nvPr/>
          </p:nvSpPr>
          <p:spPr>
            <a:xfrm>
              <a:off x="936512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51" name="矩形"/>
            <p:cNvSpPr/>
            <p:nvPr/>
          </p:nvSpPr>
          <p:spPr>
            <a:xfrm>
              <a:off x="1445807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52" name="矩形"/>
            <p:cNvSpPr/>
            <p:nvPr/>
          </p:nvSpPr>
          <p:spPr>
            <a:xfrm>
              <a:off x="3259468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53" name="0"/>
            <p:cNvSpPr txBox="1"/>
            <p:nvPr/>
          </p:nvSpPr>
          <p:spPr>
            <a:xfrm>
              <a:off x="3334387" y="36117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054" name="矩形"/>
            <p:cNvSpPr/>
            <p:nvPr/>
          </p:nvSpPr>
          <p:spPr>
            <a:xfrm>
              <a:off x="3767467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55" name="矩形"/>
            <p:cNvSpPr/>
            <p:nvPr/>
          </p:nvSpPr>
          <p:spPr>
            <a:xfrm>
              <a:off x="4276763" y="308131"/>
              <a:ext cx="509162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56" name="1"/>
            <p:cNvSpPr txBox="1"/>
            <p:nvPr/>
          </p:nvSpPr>
          <p:spPr>
            <a:xfrm>
              <a:off x="3842388" y="36117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057" name="矩形"/>
            <p:cNvSpPr/>
            <p:nvPr/>
          </p:nvSpPr>
          <p:spPr>
            <a:xfrm>
              <a:off x="4784763" y="308131"/>
              <a:ext cx="509162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58" name="矩形"/>
            <p:cNvSpPr/>
            <p:nvPr/>
          </p:nvSpPr>
          <p:spPr>
            <a:xfrm>
              <a:off x="428512" y="78508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59" name="B"/>
            <p:cNvSpPr txBox="1"/>
            <p:nvPr/>
          </p:nvSpPr>
          <p:spPr>
            <a:xfrm>
              <a:off x="503432" y="838134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060" name="矩形"/>
            <p:cNvSpPr/>
            <p:nvPr/>
          </p:nvSpPr>
          <p:spPr>
            <a:xfrm>
              <a:off x="936512" y="78508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61" name="矩形"/>
            <p:cNvSpPr/>
            <p:nvPr/>
          </p:nvSpPr>
          <p:spPr>
            <a:xfrm>
              <a:off x="1445807" y="78508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62" name="矩形"/>
            <p:cNvSpPr/>
            <p:nvPr/>
          </p:nvSpPr>
          <p:spPr>
            <a:xfrm>
              <a:off x="428512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63" name="C"/>
            <p:cNvSpPr txBox="1"/>
            <p:nvPr/>
          </p:nvSpPr>
          <p:spPr>
            <a:xfrm>
              <a:off x="503432" y="1313643"/>
              <a:ext cx="341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064" name="矩形"/>
            <p:cNvSpPr/>
            <p:nvPr/>
          </p:nvSpPr>
          <p:spPr>
            <a:xfrm>
              <a:off x="936512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65" name="矩形"/>
            <p:cNvSpPr/>
            <p:nvPr/>
          </p:nvSpPr>
          <p:spPr>
            <a:xfrm>
              <a:off x="1445807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66" name="矩形"/>
            <p:cNvSpPr/>
            <p:nvPr/>
          </p:nvSpPr>
          <p:spPr>
            <a:xfrm>
              <a:off x="6525487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67" name="0"/>
            <p:cNvSpPr txBox="1"/>
            <p:nvPr/>
          </p:nvSpPr>
          <p:spPr>
            <a:xfrm>
              <a:off x="6600407" y="36117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068" name="矩形"/>
            <p:cNvSpPr/>
            <p:nvPr/>
          </p:nvSpPr>
          <p:spPr>
            <a:xfrm>
              <a:off x="7033487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69" name="矩形"/>
            <p:cNvSpPr/>
            <p:nvPr/>
          </p:nvSpPr>
          <p:spPr>
            <a:xfrm>
              <a:off x="7542783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70" name="2"/>
            <p:cNvSpPr txBox="1"/>
            <p:nvPr/>
          </p:nvSpPr>
          <p:spPr>
            <a:xfrm>
              <a:off x="7108407" y="36117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071" name="∧"/>
            <p:cNvSpPr txBox="1"/>
            <p:nvPr/>
          </p:nvSpPr>
          <p:spPr>
            <a:xfrm>
              <a:off x="7629107" y="399276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072" name="矩形"/>
            <p:cNvSpPr/>
            <p:nvPr/>
          </p:nvSpPr>
          <p:spPr>
            <a:xfrm>
              <a:off x="8050783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73" name="∧"/>
            <p:cNvSpPr txBox="1"/>
            <p:nvPr/>
          </p:nvSpPr>
          <p:spPr>
            <a:xfrm>
              <a:off x="8124407" y="386576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074" name="矩形"/>
            <p:cNvSpPr/>
            <p:nvPr/>
          </p:nvSpPr>
          <p:spPr>
            <a:xfrm>
              <a:off x="3247741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75" name="2"/>
            <p:cNvSpPr txBox="1"/>
            <p:nvPr/>
          </p:nvSpPr>
          <p:spPr>
            <a:xfrm>
              <a:off x="3322660" y="13136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076" name="矩形"/>
            <p:cNvSpPr/>
            <p:nvPr/>
          </p:nvSpPr>
          <p:spPr>
            <a:xfrm>
              <a:off x="3755740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77" name="矩形"/>
            <p:cNvSpPr/>
            <p:nvPr/>
          </p:nvSpPr>
          <p:spPr>
            <a:xfrm>
              <a:off x="4265036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78" name="1"/>
            <p:cNvSpPr txBox="1"/>
            <p:nvPr/>
          </p:nvSpPr>
          <p:spPr>
            <a:xfrm>
              <a:off x="3830661" y="13136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079" name="∧"/>
            <p:cNvSpPr txBox="1"/>
            <p:nvPr/>
          </p:nvSpPr>
          <p:spPr>
            <a:xfrm>
              <a:off x="4351361" y="1351743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080" name="矩形"/>
            <p:cNvSpPr/>
            <p:nvPr/>
          </p:nvSpPr>
          <p:spPr>
            <a:xfrm>
              <a:off x="4773036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81" name="矩形"/>
            <p:cNvSpPr/>
            <p:nvPr/>
          </p:nvSpPr>
          <p:spPr>
            <a:xfrm>
              <a:off x="6550887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82" name="2"/>
            <p:cNvSpPr txBox="1"/>
            <p:nvPr/>
          </p:nvSpPr>
          <p:spPr>
            <a:xfrm>
              <a:off x="6625807" y="13136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083" name="矩形"/>
            <p:cNvSpPr/>
            <p:nvPr/>
          </p:nvSpPr>
          <p:spPr>
            <a:xfrm>
              <a:off x="7058887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84" name="矩形"/>
            <p:cNvSpPr/>
            <p:nvPr/>
          </p:nvSpPr>
          <p:spPr>
            <a:xfrm>
              <a:off x="7568183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85" name="0"/>
            <p:cNvSpPr txBox="1"/>
            <p:nvPr/>
          </p:nvSpPr>
          <p:spPr>
            <a:xfrm>
              <a:off x="7133807" y="13136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086" name="∧"/>
            <p:cNvSpPr txBox="1"/>
            <p:nvPr/>
          </p:nvSpPr>
          <p:spPr>
            <a:xfrm>
              <a:off x="7654507" y="1351743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087" name="矩形"/>
            <p:cNvSpPr/>
            <p:nvPr/>
          </p:nvSpPr>
          <p:spPr>
            <a:xfrm>
              <a:off x="8076183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88" name="∧"/>
            <p:cNvSpPr txBox="1"/>
            <p:nvPr/>
          </p:nvSpPr>
          <p:spPr>
            <a:xfrm>
              <a:off x="8149807" y="1339043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089" name="∧"/>
            <p:cNvSpPr txBox="1"/>
            <p:nvPr/>
          </p:nvSpPr>
          <p:spPr>
            <a:xfrm>
              <a:off x="1540630" y="858828"/>
              <a:ext cx="325269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>
                  <a:uFill>
                    <a:solidFill>
                      <a:srgbClr val="CC3300"/>
                    </a:solidFill>
                  </a:uFill>
                </a:defRPr>
              </a:lvl1pPr>
            </a:lstStyle>
            <a:p>
              <a:pPr>
                <a:defRPr>
                  <a:uFillTx/>
                </a:defRPr>
              </a:pPr>
              <a:r>
                <a:rPr>
                  <a:uFill>
                    <a:solidFill>
                      <a:srgbClr val="CC3300"/>
                    </a:solidFill>
                  </a:uFill>
                </a:rPr>
                <a:t>∧</a:t>
              </a:r>
            </a:p>
          </p:txBody>
        </p:sp>
        <p:sp>
          <p:nvSpPr>
            <p:cNvPr id="3090" name="线条"/>
            <p:cNvSpPr/>
            <p:nvPr/>
          </p:nvSpPr>
          <p:spPr>
            <a:xfrm>
              <a:off x="1734966" y="549754"/>
              <a:ext cx="99093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1" name="线条"/>
            <p:cNvSpPr/>
            <p:nvPr/>
          </p:nvSpPr>
          <p:spPr>
            <a:xfrm>
              <a:off x="1734966" y="1508249"/>
              <a:ext cx="99093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2" name="线条"/>
            <p:cNvSpPr/>
            <p:nvPr/>
          </p:nvSpPr>
          <p:spPr>
            <a:xfrm>
              <a:off x="5035360" y="549754"/>
              <a:ext cx="99093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3" name="线条"/>
            <p:cNvSpPr/>
            <p:nvPr/>
          </p:nvSpPr>
          <p:spPr>
            <a:xfrm>
              <a:off x="5035360" y="1508249"/>
              <a:ext cx="99093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4" name="线条"/>
            <p:cNvSpPr/>
            <p:nvPr/>
          </p:nvSpPr>
          <p:spPr>
            <a:xfrm>
              <a:off x="4523461" y="585446"/>
              <a:ext cx="1" cy="65915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5" name="线条"/>
            <p:cNvSpPr/>
            <p:nvPr/>
          </p:nvSpPr>
          <p:spPr>
            <a:xfrm>
              <a:off x="4523461" y="1948"/>
              <a:ext cx="1" cy="28448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6" name="线条"/>
            <p:cNvSpPr/>
            <p:nvPr/>
          </p:nvSpPr>
          <p:spPr>
            <a:xfrm>
              <a:off x="7809415" y="1948"/>
              <a:ext cx="1" cy="28448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7" name="线条"/>
            <p:cNvSpPr/>
            <p:nvPr/>
          </p:nvSpPr>
          <p:spPr>
            <a:xfrm flipV="1">
              <a:off x="7809415" y="1756602"/>
              <a:ext cx="1" cy="28448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8" name="线条"/>
            <p:cNvSpPr/>
            <p:nvPr/>
          </p:nvSpPr>
          <p:spPr>
            <a:xfrm>
              <a:off x="1209386" y="0"/>
              <a:ext cx="331264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99" name="线条"/>
            <p:cNvSpPr/>
            <p:nvPr/>
          </p:nvSpPr>
          <p:spPr>
            <a:xfrm>
              <a:off x="7811327" y="0"/>
              <a:ext cx="106680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0" name="线条"/>
            <p:cNvSpPr/>
            <p:nvPr/>
          </p:nvSpPr>
          <p:spPr>
            <a:xfrm flipH="1">
              <a:off x="1214597" y="0"/>
              <a:ext cx="1" cy="105410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1" name="线条"/>
            <p:cNvSpPr/>
            <p:nvPr/>
          </p:nvSpPr>
          <p:spPr>
            <a:xfrm flipH="1">
              <a:off x="1076212" y="532243"/>
              <a:ext cx="1" cy="151245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2" name="线条"/>
            <p:cNvSpPr/>
            <p:nvPr/>
          </p:nvSpPr>
          <p:spPr>
            <a:xfrm>
              <a:off x="1074896" y="2044700"/>
              <a:ext cx="6736432" cy="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3" name="线条"/>
            <p:cNvSpPr/>
            <p:nvPr/>
          </p:nvSpPr>
          <p:spPr>
            <a:xfrm flipH="1">
              <a:off x="1266118" y="1500453"/>
              <a:ext cx="1" cy="77284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4" name="线条"/>
            <p:cNvSpPr/>
            <p:nvPr/>
          </p:nvSpPr>
          <p:spPr>
            <a:xfrm>
              <a:off x="8872697" y="0"/>
              <a:ext cx="1" cy="22733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5" name="矩形"/>
            <p:cNvSpPr/>
            <p:nvPr/>
          </p:nvSpPr>
          <p:spPr>
            <a:xfrm>
              <a:off x="2751468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6" name="矩形"/>
            <p:cNvSpPr/>
            <p:nvPr/>
          </p:nvSpPr>
          <p:spPr>
            <a:xfrm>
              <a:off x="2751468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7" name="矩形"/>
            <p:cNvSpPr/>
            <p:nvPr/>
          </p:nvSpPr>
          <p:spPr>
            <a:xfrm>
              <a:off x="6042887" y="308131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8" name="矩形"/>
            <p:cNvSpPr/>
            <p:nvPr/>
          </p:nvSpPr>
          <p:spPr>
            <a:xfrm>
              <a:off x="6042887" y="1260599"/>
              <a:ext cx="509161" cy="489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lnSpc>
                  <a:spcPct val="100000"/>
                </a:lnSpc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09" name="E1"/>
            <p:cNvSpPr txBox="1"/>
            <p:nvPr/>
          </p:nvSpPr>
          <p:spPr>
            <a:xfrm>
              <a:off x="2775588" y="361176"/>
              <a:ext cx="45425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E1</a:t>
              </a:r>
            </a:p>
          </p:txBody>
        </p:sp>
        <p:sp>
          <p:nvSpPr>
            <p:cNvPr id="3110" name="E2"/>
            <p:cNvSpPr txBox="1"/>
            <p:nvPr/>
          </p:nvSpPr>
          <p:spPr>
            <a:xfrm>
              <a:off x="6080836" y="361176"/>
              <a:ext cx="45425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E2</a:t>
              </a:r>
            </a:p>
          </p:txBody>
        </p:sp>
        <p:sp>
          <p:nvSpPr>
            <p:cNvPr id="3111" name="E3"/>
            <p:cNvSpPr txBox="1"/>
            <p:nvPr/>
          </p:nvSpPr>
          <p:spPr>
            <a:xfrm>
              <a:off x="2775588" y="1313643"/>
              <a:ext cx="45425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E3</a:t>
              </a:r>
            </a:p>
          </p:txBody>
        </p:sp>
        <p:sp>
          <p:nvSpPr>
            <p:cNvPr id="3112" name="E4"/>
            <p:cNvSpPr txBox="1"/>
            <p:nvPr/>
          </p:nvSpPr>
          <p:spPr>
            <a:xfrm>
              <a:off x="6080836" y="1314482"/>
              <a:ext cx="454253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E4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