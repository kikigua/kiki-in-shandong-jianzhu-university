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s/comment2.xml" ContentType="application/vnd.openxmlformats-officedocument.presentationml.comments+xml"/>
  <Override PartName="/ppt/slides/slide4.xml" ContentType="application/vnd.openxmlformats-officedocument.presentationml.slide+xml"/>
  <Override PartName="/ppt/comments/comment3.xml" ContentType="application/vnd.openxmlformats-officedocument.presentationml.comment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s/comment4.xml" ContentType="application/vnd.openxmlformats-officedocument.presentationml.comment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s/comment5.xml" ContentType="application/vnd.openxmlformats-officedocument.presentationml.comments+xml"/>
  <Override PartName="/ppt/slides/slide11.xml" ContentType="application/vnd.openxmlformats-officedocument.presentationml.slide+xml"/>
  <Override PartName="/ppt/comments/comment6.xml" ContentType="application/vnd.openxmlformats-officedocument.presentationml.comment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10"/>
    <p:sldId id="258" r:id="rId11"/>
    <p:sldId id="259" r:id="rId13"/>
    <p:sldId id="260" r:id="rId15"/>
    <p:sldId id="261" r:id="rId16"/>
    <p:sldId id="262" r:id="rId18"/>
    <p:sldId id="263" r:id="rId19"/>
    <p:sldId id="264" r:id="rId20"/>
    <p:sldId id="265" r:id="rId21"/>
    <p:sldId id="266" r:id="rId23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comments" Target="comments/comment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comments" Target="comments/comment2.xml"/><Relationship Id="rId13" Type="http://schemas.openxmlformats.org/officeDocument/2006/relationships/slide" Target="slides/slide4.xml"/><Relationship Id="rId14" Type="http://schemas.openxmlformats.org/officeDocument/2006/relationships/comments" Target="comments/comment3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comments" Target="comments/comment4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comments" Target="comments/comment5.xml"/><Relationship Id="rId23" Type="http://schemas.openxmlformats.org/officeDocument/2006/relationships/slide" Target="slides/slide11.xml"/><Relationship Id="rId24" Type="http://schemas.openxmlformats.org/officeDocument/2006/relationships/comments" Target="comments/comment6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2-28T11:48:37.870" idx="1">
    <p:pos x="1581" y="3460"/>
    <p:text>这是一个很直观的定义，适应于多数情况。
但是对于哈希表不是很适合，因为很难描述数据之间的关系
对于广义表，也不是很适合，因为不仅有单个元素之间的联系，
还有单个元素和多个元素之间联系等。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8-24T10:06:07.304" idx="2">
    <p:pos x="2819" y="4347"/>
    <p:text>希腊字母
lambda 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18-05-07T21:43:49.549" idx="3">
    <p:pos x="6133" y="1104"/>
    <p:text>后面的二叉堆就是完全二叉树，用的是顺序存储。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3T07:19:50.533" idx="4">
    <p:pos x="1164" y="4574"/>
    <p:text>严格的讲：顺序+链式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7-28T10:06:34.025" idx="5">
    <p:pos x="686" y="4765"/>
    <p:text>还可以用Map实现：
key：结点，如A,B,C...
value：链表，链表的元素是A,B,C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3T07:20:41.593" idx="6">
    <p:pos x="4465" y="3109"/>
    <p:text>数组的实现一般是需要连续的空间
但也未必，例如，java规范对数组的描述就是无名数据的集合</p:text>
    <p:extLst>
      <p:ext uri="{C676402C-5697-4E1C-873F-D02D1690AC5C}">
        <p15:threadingInfo xmlns:p15="http://schemas.microsoft.com/office/powerpoint/2012/main" timeZoneBias="-480"/>
      </p:ext>
    </p:extLst>
  </p:cm>
  <p:cm authorId="0" dt="2021-10-13T10:09:36.237" idx="7">
    <p:pos x="238" y="3525"/>
    <p:text>Knuth教授的node是既包含数据也
包含关系
本页的node指的是我们创建的Node类，
本质上，二者一样；但我们引入Node
的目的是为了不改变数据，用Node对象之间
的关系代替数据之间的关系，可以理解为
将数据“装入”了Node
建立的不同的Node表示不同的数据结构：
线性表、树、网，数据“装入”了数据结构
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0" name="Shape 3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∧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0" name="Shape 3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用一组连续空间存储树的结点，同时在每个结点中附设一个指示器指示其双亲结点在链表中的位置。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4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20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5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6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27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57798" indent="57798" algn="ctr" defTabSz="1295400">
              <a:defRPr b="0" sz="4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9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7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"/>
          <p:cNvSpPr/>
          <p:nvPr/>
        </p:nvSpPr>
        <p:spPr>
          <a:xfrm>
            <a:off x="1142999" y="103857"/>
            <a:ext cx="467361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0" name="Group 7"/>
          <p:cNvGrpSpPr/>
          <p:nvPr/>
        </p:nvGrpSpPr>
        <p:grpSpPr>
          <a:xfrm>
            <a:off x="165099" y="103857"/>
            <a:ext cx="1435101" cy="1041402"/>
            <a:chOff x="0" y="0"/>
            <a:chExt cx="1435099" cy="1041401"/>
          </a:xfrm>
        </p:grpSpPr>
        <p:sp>
          <p:nvSpPr>
            <p:cNvPr id="46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1" name="Shape 8"/>
          <p:cNvSpPr/>
          <p:nvPr/>
        </p:nvSpPr>
        <p:spPr>
          <a:xfrm>
            <a:off x="1087401" y="-63784"/>
            <a:ext cx="45157" cy="1298225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" name="Shape 9"/>
          <p:cNvSpPr/>
          <p:nvPr/>
        </p:nvSpPr>
        <p:spPr>
          <a:xfrm>
            <a:off x="629919" y="997936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3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40922"/>
            <a:ext cx="992719" cy="945446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标题文本"/>
          <p:cNvSpPr txBox="1"/>
          <p:nvPr>
            <p:ph type="title"/>
          </p:nvPr>
        </p:nvSpPr>
        <p:spPr>
          <a:xfrm>
            <a:off x="1648741" y="18766"/>
            <a:ext cx="9448803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57798" indent="57798" algn="ctr" defTabSz="1295400">
              <a:defRPr b="0" sz="5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5" name="幻灯片编号"/>
          <p:cNvSpPr txBox="1"/>
          <p:nvPr>
            <p:ph type="sldNum" sz="quarter" idx="2"/>
          </p:nvPr>
        </p:nvSpPr>
        <p:spPr>
          <a:xfrm>
            <a:off x="6285230" y="9080500"/>
            <a:ext cx="419101" cy="431552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lnSpc>
                <a:spcPct val="120000"/>
              </a:lnSpc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/>
          <p:nvPr/>
        </p:nvSpPr>
        <p:spPr>
          <a:xfrm>
            <a:off x="593795" y="28504"/>
            <a:ext cx="623149" cy="675078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3" name="矩形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4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5" name="矩形"/>
          <p:cNvSpPr/>
          <p:nvPr/>
        </p:nvSpPr>
        <p:spPr>
          <a:xfrm>
            <a:off x="1295964" y="381000"/>
            <a:ext cx="520702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" name="矩形"/>
          <p:cNvSpPr/>
          <p:nvPr/>
        </p:nvSpPr>
        <p:spPr>
          <a:xfrm>
            <a:off x="190498" y="449015"/>
            <a:ext cx="796998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7" name="矩形"/>
          <p:cNvSpPr/>
          <p:nvPr/>
        </p:nvSpPr>
        <p:spPr>
          <a:xfrm>
            <a:off x="1131405" y="26528"/>
            <a:ext cx="46050" cy="106990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8" name="矩形"/>
          <p:cNvSpPr/>
          <p:nvPr/>
        </p:nvSpPr>
        <p:spPr>
          <a:xfrm>
            <a:off x="629919" y="10247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6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5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标题文本"/>
          <p:cNvSpPr txBox="1"/>
          <p:nvPr>
            <p:ph type="title"/>
          </p:nvPr>
        </p:nvSpPr>
        <p:spPr>
          <a:xfrm>
            <a:off x="1960574" y="40780"/>
            <a:ext cx="9398002" cy="1003302"/>
          </a:xfrm>
          <a:prstGeom prst="rect">
            <a:avLst/>
          </a:prstGeom>
        </p:spPr>
        <p:txBody>
          <a:bodyPr lIns="50800" tIns="50800" rIns="50800" bIns="50800"/>
          <a:lstStyle>
            <a:lvl1pPr marL="0" marR="57798" indent="57798" algn="ctr" defTabSz="1295400">
              <a:defRPr b="0"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71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2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83" name="Group 7"/>
          <p:cNvGrpSpPr/>
          <p:nvPr/>
        </p:nvGrpSpPr>
        <p:grpSpPr>
          <a:xfrm>
            <a:off x="165099" y="41203"/>
            <a:ext cx="1435101" cy="1041403"/>
            <a:chOff x="0" y="0"/>
            <a:chExt cx="1435099" cy="1041401"/>
          </a:xfrm>
        </p:grpSpPr>
        <p:sp>
          <p:nvSpPr>
            <p:cNvPr id="79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4" name="Shape 8"/>
          <p:cNvSpPr/>
          <p:nvPr/>
        </p:nvSpPr>
        <p:spPr>
          <a:xfrm>
            <a:off x="1087402" y="-24272"/>
            <a:ext cx="45157" cy="11667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5" name="Shape 9"/>
          <p:cNvSpPr/>
          <p:nvPr/>
        </p:nvSpPr>
        <p:spPr>
          <a:xfrm>
            <a:off x="629919" y="9485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86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17779"/>
            <a:ext cx="971382" cy="925127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标题文本"/>
          <p:cNvSpPr txBox="1"/>
          <p:nvPr>
            <p:ph type="title"/>
          </p:nvPr>
        </p:nvSpPr>
        <p:spPr>
          <a:xfrm>
            <a:off x="1611487" y="112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57798" indent="57798" algn="ctr" defTabSz="1295400">
              <a:defRPr b="0" sz="37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8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320604"/>
            <a:ext cx="623148" cy="675076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37919" y="320604"/>
            <a:ext cx="467361" cy="675076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921173"/>
            <a:ext cx="600569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921173"/>
            <a:ext cx="523805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80622" y="817315"/>
            <a:ext cx="796996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074702" y="153528"/>
            <a:ext cx="45156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291448"/>
            <a:ext cx="11699806" cy="45157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320604"/>
            <a:ext cx="1074704" cy="100245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636888" y="-1"/>
            <a:ext cx="11083433" cy="134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1682044" y="2869635"/>
            <a:ext cx="11054081" cy="688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normAutofit fontScale="100000" lnSpcReduction="0"/>
          </a:bodyPr>
          <a:lstStyle>
            <a:lvl2pPr marL="885643" indent="-387803">
              <a:spcBef>
                <a:spcPts val="900"/>
              </a:spcBef>
              <a:buClr>
                <a:srgbClr val="FF0000"/>
              </a:buClr>
              <a:defRPr sz="3800"/>
            </a:lvl2pPr>
            <a:lvl3pPr marL="1278889" indent="-323850">
              <a:spcBef>
                <a:spcPts val="800"/>
              </a:spcBef>
              <a:defRPr sz="3400"/>
            </a:lvl3pPr>
            <a:lvl4pPr marL="1732279" indent="-320039">
              <a:spcBef>
                <a:spcPts val="600"/>
              </a:spcBef>
              <a:buClr>
                <a:srgbClr val="F81F08"/>
              </a:buClr>
              <a:defRPr sz="2800"/>
            </a:lvl4pPr>
            <a:lvl5pPr marL="2189479" indent="-320039">
              <a:spcBef>
                <a:spcPts val="600"/>
              </a:spcBef>
              <a:buClr>
                <a:srgbClr val="FFFFFF"/>
              </a:buClr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04373" y="9085298"/>
            <a:ext cx="596054" cy="60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>
            <a:spAutoFit/>
          </a:bodyPr>
          <a:lstStyle>
            <a:lvl1pPr indent="0" algn="ctr" defTabSz="830862">
              <a:lnSpc>
                <a:spcPct val="100000"/>
              </a:lnSpc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transition xmlns:p14="http://schemas.microsoft.com/office/powerpoint/2010/main" spd="med" advClick="1"/>
  <p:txStyles>
    <p:titleStyle>
      <a:lvl1pPr marL="57799" marR="57799" indent="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1pPr>
      <a:lvl2pPr marL="57799" marR="57799" indent="3429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2pPr>
      <a:lvl3pPr marL="57799" marR="57799" indent="6858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3pPr>
      <a:lvl4pPr marL="57799" marR="57799" indent="10287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4pPr>
      <a:lvl5pPr marL="57799" marR="57799" indent="13716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5pPr>
      <a:lvl6pPr marL="57799" marR="57799" indent="17145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6pPr>
      <a:lvl7pPr marL="57799" marR="57799" indent="20574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7pPr>
      <a:lvl8pPr marL="57799" marR="57799" indent="24003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8pPr>
      <a:lvl9pPr marL="57799" marR="57799" indent="27432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"/>
          <a:ea typeface="Tahoma"/>
          <a:cs typeface="Tahoma"/>
          <a:sym typeface="Tahoma"/>
        </a:defRPr>
      </a:lvl9pPr>
    </p:titleStyle>
    <p:bodyStyle>
      <a:lvl1pPr marL="512127" marR="57799" indent="-471487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1pPr>
      <a:lvl2pPr marL="946875" marR="57799" indent="-449035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2pPr>
      <a:lvl3pPr marL="1374139" marR="57799" indent="-419100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3pPr>
      <a:lvl4pPr marL="19151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4pPr>
      <a:lvl5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5pPr>
      <a:lvl6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6pPr>
      <a:lvl7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7pPr>
      <a:lvl8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8pPr>
      <a:lvl9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宋体"/>
          <a:ea typeface="宋体"/>
          <a:cs typeface="宋体"/>
          <a:sym typeface="宋体"/>
        </a:defRPr>
      </a:lvl9pPr>
    </p:bodyStyle>
    <p:otherStyle>
      <a:lvl1pPr marL="0" marR="0" indent="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3429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6858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10287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13716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17145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20574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24003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27432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omments" Target="../comments/commen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omments" Target="../comments/comment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omments" Target="../comments/commen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a data stru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0"/>
          </a:lstStyle>
          <a:p>
            <a:pPr/>
            <a:r>
              <a:t>a data structure</a:t>
            </a:r>
          </a:p>
        </p:txBody>
      </p:sp>
      <p:sp>
        <p:nvSpPr>
          <p:cNvPr id="98" name="DS = (D, R)…"/>
          <p:cNvSpPr txBox="1"/>
          <p:nvPr/>
        </p:nvSpPr>
        <p:spPr>
          <a:xfrm>
            <a:off x="1230296" y="1528662"/>
            <a:ext cx="7230623" cy="2532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/>
          <a:p>
            <a:pPr marL="3612" marR="3612" indent="18062" defTabSz="65024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</a:defRPr>
            </a:pPr>
            <a:r>
              <a:t>DS = (D, R)</a:t>
            </a:r>
          </a:p>
          <a:p>
            <a:pPr marL="3612" marR="3612" indent="18062" defTabSz="65024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</a:defRPr>
            </a:pPr>
            <a:r>
              <a:t>              D = {a</a:t>
            </a:r>
            <a:r>
              <a:rPr baseline="-5999"/>
              <a:t>1</a:t>
            </a:r>
            <a:r>
              <a:t>, a</a:t>
            </a:r>
            <a:r>
              <a:rPr baseline="-5999"/>
              <a:t>2</a:t>
            </a:r>
            <a:r>
              <a:t>, ..., a</a:t>
            </a:r>
            <a:r>
              <a:rPr baseline="-5999"/>
              <a:t>n</a:t>
            </a:r>
            <a:r>
              <a:t>}</a:t>
            </a:r>
          </a:p>
          <a:p>
            <a:pPr marL="3612" marR="3612" indent="18062" defTabSz="650240">
              <a:lnSpc>
                <a:spcPct val="100000"/>
              </a:lnSpc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</a:defRPr>
            </a:pPr>
            <a:r>
              <a:t>              R={&lt;a</a:t>
            </a:r>
            <a:r>
              <a:rPr baseline="-5999"/>
              <a:t>i</a:t>
            </a:r>
            <a:r>
              <a:t>, a</a:t>
            </a:r>
            <a:r>
              <a:rPr baseline="-5999"/>
              <a:t>j</a:t>
            </a:r>
            <a:r>
              <a:t>&gt; | a</a:t>
            </a:r>
            <a:r>
              <a:rPr baseline="-5999"/>
              <a:t>i</a:t>
            </a:r>
            <a:r>
              <a:t>, a</a:t>
            </a:r>
            <a:r>
              <a:rPr baseline="-5999"/>
              <a:t>j</a:t>
            </a:r>
            <a:r>
              <a:t>  ∈ D}</a:t>
            </a:r>
          </a:p>
        </p:txBody>
      </p:sp>
      <p:sp>
        <p:nvSpPr>
          <p:cNvPr id="99" name="一组数据和数据之间的关系共同构成了一个数据结构"/>
          <p:cNvSpPr txBox="1"/>
          <p:nvPr/>
        </p:nvSpPr>
        <p:spPr>
          <a:xfrm>
            <a:off x="257273" y="4448951"/>
            <a:ext cx="11862874" cy="855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L="3612" marR="3612" indent="18062" defTabSz="650240">
              <a:lnSpc>
                <a:spcPct val="100000"/>
              </a:lnSpc>
              <a:spcBef>
                <a:spcPts val="1900"/>
              </a:spcBef>
              <a:defRPr sz="4000">
                <a:solidFill>
                  <a:srgbClr val="1781FB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一组数据和数据之间的关系共同构成了一个数据结构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线性表的数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49707" indent="0" defTabSz="1114044">
              <a:defRPr sz="4816"/>
            </a:lvl1pPr>
          </a:lstStyle>
          <a:p>
            <a:pPr/>
            <a:r>
              <a:t>线性表的数组实现</a:t>
            </a:r>
          </a:p>
        </p:txBody>
      </p:sp>
      <p:grpSp>
        <p:nvGrpSpPr>
          <p:cNvPr id="105" name="成组"/>
          <p:cNvGrpSpPr/>
          <p:nvPr/>
        </p:nvGrpSpPr>
        <p:grpSpPr>
          <a:xfrm>
            <a:off x="4487892" y="1174673"/>
            <a:ext cx="1421554" cy="1962012"/>
            <a:chOff x="0" y="0"/>
            <a:chExt cx="1421553" cy="1962010"/>
          </a:xfrm>
        </p:grpSpPr>
        <p:sp>
          <p:nvSpPr>
            <p:cNvPr id="102" name="云飞扬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云飞扬</a:t>
              </a:r>
            </a:p>
          </p:txBody>
        </p:sp>
        <p:sp>
          <p:nvSpPr>
            <p:cNvPr id="103" name="17"/>
            <p:cNvSpPr/>
            <p:nvPr/>
          </p:nvSpPr>
          <p:spPr>
            <a:xfrm>
              <a:off x="0" y="650239"/>
              <a:ext cx="1421554" cy="6615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17</a:t>
              </a:r>
            </a:p>
          </p:txBody>
        </p:sp>
        <p:sp>
          <p:nvSpPr>
            <p:cNvPr id="104" name="181"/>
            <p:cNvSpPr/>
            <p:nvPr/>
          </p:nvSpPr>
          <p:spPr>
            <a:xfrm>
              <a:off x="0" y="130048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181</a:t>
              </a:r>
            </a:p>
          </p:txBody>
        </p:sp>
      </p:grpSp>
      <p:grpSp>
        <p:nvGrpSpPr>
          <p:cNvPr id="109" name="成组"/>
          <p:cNvGrpSpPr/>
          <p:nvPr/>
        </p:nvGrpSpPr>
        <p:grpSpPr>
          <a:xfrm>
            <a:off x="4174850" y="4537157"/>
            <a:ext cx="6218118" cy="1285101"/>
            <a:chOff x="0" y="0"/>
            <a:chExt cx="6218116" cy="1285099"/>
          </a:xfrm>
        </p:grpSpPr>
        <p:sp>
          <p:nvSpPr>
            <p:cNvPr id="106" name="矩形"/>
            <p:cNvSpPr/>
            <p:nvPr/>
          </p:nvSpPr>
          <p:spPr>
            <a:xfrm>
              <a:off x="0" y="0"/>
              <a:ext cx="2096733" cy="128467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algn="ctr" defTabSz="65024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" name="矩形"/>
            <p:cNvSpPr/>
            <p:nvPr/>
          </p:nvSpPr>
          <p:spPr>
            <a:xfrm>
              <a:off x="2043384" y="422"/>
              <a:ext cx="2096733" cy="128467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algn="ctr" defTabSz="65024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" name="矩形"/>
            <p:cNvSpPr/>
            <p:nvPr/>
          </p:nvSpPr>
          <p:spPr>
            <a:xfrm>
              <a:off x="4121384" y="422"/>
              <a:ext cx="2096733" cy="128467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algn="ctr" defTabSz="65024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10" name="矩形"/>
          <p:cNvSpPr/>
          <p:nvPr/>
        </p:nvSpPr>
        <p:spPr>
          <a:xfrm>
            <a:off x="835338" y="4829838"/>
            <a:ext cx="1421554" cy="6615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L="3612" marR="3612" indent="18062" defTabSz="650240">
              <a:lnSpc>
                <a:spcPct val="100000"/>
              </a:lnSpc>
              <a:spcBef>
                <a:spcPts val="1900"/>
              </a:spcBef>
              <a:defRPr sz="2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" name="[0]"/>
          <p:cNvSpPr txBox="1"/>
          <p:nvPr/>
        </p:nvSpPr>
        <p:spPr>
          <a:xfrm>
            <a:off x="4681716" y="5941871"/>
            <a:ext cx="800826" cy="73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L="3612" marR="3612" indent="18062" defTabSz="650240">
              <a:lnSpc>
                <a:spcPct val="100000"/>
              </a:lnSpc>
              <a:spcBef>
                <a:spcPts val="1900"/>
              </a:spcBef>
              <a:defRPr sz="4200">
                <a:solidFill>
                  <a:srgbClr val="E4454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[0]</a:t>
            </a:r>
          </a:p>
        </p:txBody>
      </p:sp>
      <p:sp>
        <p:nvSpPr>
          <p:cNvPr id="112" name="[1]"/>
          <p:cNvSpPr txBox="1"/>
          <p:nvPr/>
        </p:nvSpPr>
        <p:spPr>
          <a:xfrm>
            <a:off x="6857817" y="5941871"/>
            <a:ext cx="800827" cy="73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L="3612" marR="3612" indent="18062" defTabSz="650240">
              <a:lnSpc>
                <a:spcPct val="100000"/>
              </a:lnSpc>
              <a:spcBef>
                <a:spcPts val="1900"/>
              </a:spcBef>
              <a:defRPr sz="4200">
                <a:solidFill>
                  <a:srgbClr val="E4454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[1]</a:t>
            </a:r>
          </a:p>
        </p:txBody>
      </p:sp>
      <p:sp>
        <p:nvSpPr>
          <p:cNvPr id="113" name="[2]"/>
          <p:cNvSpPr txBox="1"/>
          <p:nvPr/>
        </p:nvSpPr>
        <p:spPr>
          <a:xfrm>
            <a:off x="8952895" y="5941871"/>
            <a:ext cx="800826" cy="73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 anchor="ctr">
            <a:spAutoFit/>
          </a:bodyPr>
          <a:lstStyle>
            <a:lvl1pPr marL="3612" marR="3612" indent="18062" defTabSz="650240">
              <a:lnSpc>
                <a:spcPct val="100000"/>
              </a:lnSpc>
              <a:spcBef>
                <a:spcPts val="1900"/>
              </a:spcBef>
              <a:defRPr sz="4200">
                <a:solidFill>
                  <a:srgbClr val="E44545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[2]</a:t>
            </a:r>
          </a:p>
        </p:txBody>
      </p:sp>
      <p:grpSp>
        <p:nvGrpSpPr>
          <p:cNvPr id="117" name="成组"/>
          <p:cNvGrpSpPr/>
          <p:nvPr/>
        </p:nvGrpSpPr>
        <p:grpSpPr>
          <a:xfrm>
            <a:off x="6574257" y="1174673"/>
            <a:ext cx="1421555" cy="1962012"/>
            <a:chOff x="0" y="0"/>
            <a:chExt cx="1421553" cy="1962010"/>
          </a:xfrm>
        </p:grpSpPr>
        <p:sp>
          <p:nvSpPr>
            <p:cNvPr id="114" name="浪淘沙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浪淘沙</a:t>
              </a:r>
            </a:p>
          </p:txBody>
        </p:sp>
        <p:sp>
          <p:nvSpPr>
            <p:cNvPr id="115" name="18"/>
            <p:cNvSpPr/>
            <p:nvPr/>
          </p:nvSpPr>
          <p:spPr>
            <a:xfrm>
              <a:off x="0" y="650239"/>
              <a:ext cx="1421554" cy="6615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116" name="170"/>
            <p:cNvSpPr/>
            <p:nvPr/>
          </p:nvSpPr>
          <p:spPr>
            <a:xfrm>
              <a:off x="0" y="130048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170</a:t>
              </a:r>
            </a:p>
          </p:txBody>
        </p:sp>
      </p:grpSp>
      <p:grpSp>
        <p:nvGrpSpPr>
          <p:cNvPr id="121" name="成组"/>
          <p:cNvGrpSpPr/>
          <p:nvPr/>
        </p:nvGrpSpPr>
        <p:grpSpPr>
          <a:xfrm>
            <a:off x="8645646" y="1174673"/>
            <a:ext cx="1421554" cy="1962012"/>
            <a:chOff x="0" y="0"/>
            <a:chExt cx="1421553" cy="1962010"/>
          </a:xfrm>
        </p:grpSpPr>
        <p:sp>
          <p:nvSpPr>
            <p:cNvPr id="118" name="万山红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万山红</a:t>
              </a:r>
            </a:p>
          </p:txBody>
        </p:sp>
        <p:sp>
          <p:nvSpPr>
            <p:cNvPr id="119" name="17"/>
            <p:cNvSpPr/>
            <p:nvPr/>
          </p:nvSpPr>
          <p:spPr>
            <a:xfrm>
              <a:off x="0" y="650239"/>
              <a:ext cx="1421554" cy="6615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17</a:t>
              </a:r>
            </a:p>
          </p:txBody>
        </p:sp>
        <p:sp>
          <p:nvSpPr>
            <p:cNvPr id="120" name="165"/>
            <p:cNvSpPr/>
            <p:nvPr/>
          </p:nvSpPr>
          <p:spPr>
            <a:xfrm>
              <a:off x="0" y="130048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165</a:t>
              </a:r>
            </a:p>
          </p:txBody>
        </p:sp>
      </p:grpSp>
      <p:sp>
        <p:nvSpPr>
          <p:cNvPr id="122" name="线条"/>
          <p:cNvSpPr/>
          <p:nvPr/>
        </p:nvSpPr>
        <p:spPr>
          <a:xfrm flipV="1">
            <a:off x="5192606" y="3167081"/>
            <a:ext cx="1" cy="1806223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" name="线条"/>
          <p:cNvSpPr/>
          <p:nvPr/>
        </p:nvSpPr>
        <p:spPr>
          <a:xfrm flipV="1">
            <a:off x="7275147" y="3167081"/>
            <a:ext cx="1" cy="1806223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" name="线条"/>
          <p:cNvSpPr/>
          <p:nvPr/>
        </p:nvSpPr>
        <p:spPr>
          <a:xfrm flipV="1">
            <a:off x="9342071" y="3167081"/>
            <a:ext cx="1" cy="1806223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5" name="线条"/>
          <p:cNvSpPr/>
          <p:nvPr/>
        </p:nvSpPr>
        <p:spPr>
          <a:xfrm>
            <a:off x="1875278" y="5190614"/>
            <a:ext cx="2276082" cy="1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线性表的链式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49707" indent="0" defTabSz="1114044">
              <a:defRPr sz="4816"/>
            </a:lvl1pPr>
          </a:lstStyle>
          <a:p>
            <a:pPr/>
            <a:r>
              <a:t>线性表的链式实现</a:t>
            </a:r>
          </a:p>
        </p:txBody>
      </p:sp>
      <p:grpSp>
        <p:nvGrpSpPr>
          <p:cNvPr id="131" name="成组"/>
          <p:cNvGrpSpPr/>
          <p:nvPr/>
        </p:nvGrpSpPr>
        <p:grpSpPr>
          <a:xfrm>
            <a:off x="4186681" y="1262096"/>
            <a:ext cx="1421554" cy="1962011"/>
            <a:chOff x="0" y="0"/>
            <a:chExt cx="1421553" cy="1962010"/>
          </a:xfrm>
        </p:grpSpPr>
        <p:sp>
          <p:nvSpPr>
            <p:cNvPr id="128" name="云飞扬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云飞扬</a:t>
              </a:r>
            </a:p>
          </p:txBody>
        </p:sp>
        <p:sp>
          <p:nvSpPr>
            <p:cNvPr id="129" name="17"/>
            <p:cNvSpPr/>
            <p:nvPr/>
          </p:nvSpPr>
          <p:spPr>
            <a:xfrm>
              <a:off x="0" y="650239"/>
              <a:ext cx="1421554" cy="6615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17</a:t>
              </a:r>
            </a:p>
          </p:txBody>
        </p:sp>
        <p:sp>
          <p:nvSpPr>
            <p:cNvPr id="130" name="181"/>
            <p:cNvSpPr/>
            <p:nvPr/>
          </p:nvSpPr>
          <p:spPr>
            <a:xfrm>
              <a:off x="0" y="130048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181</a:t>
              </a:r>
            </a:p>
          </p:txBody>
        </p:sp>
      </p:grpSp>
      <p:sp>
        <p:nvSpPr>
          <p:cNvPr id="132" name="矩形"/>
          <p:cNvSpPr/>
          <p:nvPr/>
        </p:nvSpPr>
        <p:spPr>
          <a:xfrm>
            <a:off x="708983" y="4350293"/>
            <a:ext cx="1421555" cy="6615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lIns="72248" tIns="72248" rIns="72248" bIns="72248" anchor="ctr"/>
          <a:lstStyle/>
          <a:p>
            <a:pPr marL="3612" marR="3612" indent="18062" defTabSz="650240">
              <a:lnSpc>
                <a:spcPct val="100000"/>
              </a:lnSpc>
              <a:spcBef>
                <a:spcPts val="1900"/>
              </a:spcBef>
              <a:defRPr sz="26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35" name="成组"/>
          <p:cNvGrpSpPr/>
          <p:nvPr/>
        </p:nvGrpSpPr>
        <p:grpSpPr>
          <a:xfrm>
            <a:off x="4202471" y="4332347"/>
            <a:ext cx="1421554" cy="1311772"/>
            <a:chOff x="0" y="0"/>
            <a:chExt cx="1421553" cy="1311770"/>
          </a:xfrm>
        </p:grpSpPr>
        <p:sp>
          <p:nvSpPr>
            <p:cNvPr id="133" name="矩形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" name="矩形"/>
            <p:cNvSpPr/>
            <p:nvPr/>
          </p:nvSpPr>
          <p:spPr>
            <a:xfrm>
              <a:off x="0" y="65024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38" name="成组"/>
          <p:cNvGrpSpPr/>
          <p:nvPr/>
        </p:nvGrpSpPr>
        <p:grpSpPr>
          <a:xfrm>
            <a:off x="6916762" y="4332347"/>
            <a:ext cx="1421554" cy="1311772"/>
            <a:chOff x="0" y="0"/>
            <a:chExt cx="1421553" cy="1311770"/>
          </a:xfrm>
        </p:grpSpPr>
        <p:sp>
          <p:nvSpPr>
            <p:cNvPr id="136" name="矩形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" name="矩形"/>
            <p:cNvSpPr/>
            <p:nvPr/>
          </p:nvSpPr>
          <p:spPr>
            <a:xfrm>
              <a:off x="0" y="65024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44" name="成组"/>
          <p:cNvGrpSpPr/>
          <p:nvPr/>
        </p:nvGrpSpPr>
        <p:grpSpPr>
          <a:xfrm>
            <a:off x="9594928" y="4332347"/>
            <a:ext cx="1421554" cy="1311772"/>
            <a:chOff x="0" y="0"/>
            <a:chExt cx="1421553" cy="1311770"/>
          </a:xfrm>
        </p:grpSpPr>
        <p:sp>
          <p:nvSpPr>
            <p:cNvPr id="139" name="矩形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" name="矩形"/>
            <p:cNvSpPr/>
            <p:nvPr/>
          </p:nvSpPr>
          <p:spPr>
            <a:xfrm>
              <a:off x="0" y="65024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     </a:t>
              </a:r>
            </a:p>
          </p:txBody>
        </p:sp>
        <p:grpSp>
          <p:nvGrpSpPr>
            <p:cNvPr id="143" name="成组"/>
            <p:cNvGrpSpPr/>
            <p:nvPr/>
          </p:nvGrpSpPr>
          <p:grpSpPr>
            <a:xfrm>
              <a:off x="0" y="650239"/>
              <a:ext cx="152401" cy="228602"/>
              <a:chOff x="0" y="0"/>
              <a:chExt cx="152399" cy="228600"/>
            </a:xfrm>
          </p:grpSpPr>
          <p:sp>
            <p:nvSpPr>
              <p:cNvPr id="141" name="线条"/>
              <p:cNvSpPr/>
              <p:nvPr/>
            </p:nvSpPr>
            <p:spPr>
              <a:xfrm flipH="1">
                <a:off x="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2" tIns="65022" rIns="65022" bIns="65022" numCol="1" anchor="t">
                <a:noAutofit/>
              </a:bodyPr>
              <a:lstStyle/>
              <a:p>
                <a:pPr marR="57799" indent="40640" defTabSz="1300480">
                  <a:lnSpc>
                    <a:spcPct val="100000"/>
                  </a:lnSpc>
                  <a:spcBef>
                    <a:spcPts val="18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" name="线条"/>
              <p:cNvSpPr/>
              <p:nvPr/>
            </p:nvSpPr>
            <p:spPr>
              <a:xfrm>
                <a:off x="76200" y="-1"/>
                <a:ext cx="76201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65022" tIns="65022" rIns="65022" bIns="65022" numCol="1" anchor="t">
                <a:noAutofit/>
              </a:bodyPr>
              <a:lstStyle/>
              <a:p>
                <a:pPr marR="57799" indent="40640" defTabSz="1300480">
                  <a:lnSpc>
                    <a:spcPct val="100000"/>
                  </a:lnSpc>
                  <a:spcBef>
                    <a:spcPts val="18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45" name="线条"/>
          <p:cNvSpPr/>
          <p:nvPr/>
        </p:nvSpPr>
        <p:spPr>
          <a:xfrm>
            <a:off x="4946572" y="5307635"/>
            <a:ext cx="1934589" cy="1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" name="线条"/>
          <p:cNvSpPr/>
          <p:nvPr/>
        </p:nvSpPr>
        <p:spPr>
          <a:xfrm>
            <a:off x="7689186" y="5271511"/>
            <a:ext cx="1934589" cy="1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7" name="线条"/>
          <p:cNvSpPr/>
          <p:nvPr/>
        </p:nvSpPr>
        <p:spPr>
          <a:xfrm>
            <a:off x="1542945" y="4675458"/>
            <a:ext cx="2595602" cy="1"/>
          </a:xfrm>
          <a:prstGeom prst="line">
            <a:avLst/>
          </a:prstGeom>
          <a:ln w="25400">
            <a:solidFill>
              <a:srgbClr val="1781FB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8" name="线条"/>
          <p:cNvSpPr/>
          <p:nvPr/>
        </p:nvSpPr>
        <p:spPr>
          <a:xfrm flipV="1">
            <a:off x="4907872" y="3256342"/>
            <a:ext cx="1" cy="1453573"/>
          </a:xfrm>
          <a:prstGeom prst="line">
            <a:avLst/>
          </a:prstGeom>
          <a:ln w="25400">
            <a:solidFill>
              <a:srgbClr val="E44545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9" name="线条"/>
          <p:cNvSpPr/>
          <p:nvPr/>
        </p:nvSpPr>
        <p:spPr>
          <a:xfrm flipV="1">
            <a:off x="7620957" y="3256342"/>
            <a:ext cx="1" cy="1453573"/>
          </a:xfrm>
          <a:prstGeom prst="line">
            <a:avLst/>
          </a:prstGeom>
          <a:ln w="25400">
            <a:solidFill>
              <a:srgbClr val="E44545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0" name="线条"/>
          <p:cNvSpPr/>
          <p:nvPr/>
        </p:nvSpPr>
        <p:spPr>
          <a:xfrm flipV="1">
            <a:off x="10276609" y="3256342"/>
            <a:ext cx="1" cy="1453573"/>
          </a:xfrm>
          <a:prstGeom prst="line">
            <a:avLst/>
          </a:prstGeom>
          <a:ln w="25400">
            <a:solidFill>
              <a:srgbClr val="E44545"/>
            </a:solidFill>
            <a:tailEnd type="triangle"/>
          </a:ln>
        </p:spPr>
        <p:txBody>
          <a:bodyPr lIns="0" tIns="0" rIns="0" bIns="0"/>
          <a:lstStyle/>
          <a:p>
            <a:pPr marR="57798" algn="ctr" defTabSz="1295400">
              <a:lnSpc>
                <a:spcPct val="100000"/>
              </a:lnSpc>
              <a:defRPr sz="56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54" name="成组"/>
          <p:cNvGrpSpPr/>
          <p:nvPr/>
        </p:nvGrpSpPr>
        <p:grpSpPr>
          <a:xfrm>
            <a:off x="6915647" y="1262096"/>
            <a:ext cx="1421554" cy="1962011"/>
            <a:chOff x="0" y="0"/>
            <a:chExt cx="1421553" cy="1962010"/>
          </a:xfrm>
        </p:grpSpPr>
        <p:sp>
          <p:nvSpPr>
            <p:cNvPr id="151" name="浪淘沙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浪淘沙</a:t>
              </a:r>
            </a:p>
          </p:txBody>
        </p:sp>
        <p:sp>
          <p:nvSpPr>
            <p:cNvPr id="152" name="18"/>
            <p:cNvSpPr/>
            <p:nvPr/>
          </p:nvSpPr>
          <p:spPr>
            <a:xfrm>
              <a:off x="0" y="650239"/>
              <a:ext cx="1421554" cy="6615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153" name="170"/>
            <p:cNvSpPr/>
            <p:nvPr/>
          </p:nvSpPr>
          <p:spPr>
            <a:xfrm>
              <a:off x="0" y="130048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170</a:t>
              </a:r>
            </a:p>
          </p:txBody>
        </p:sp>
      </p:grpSp>
      <p:grpSp>
        <p:nvGrpSpPr>
          <p:cNvPr id="158" name="成组"/>
          <p:cNvGrpSpPr/>
          <p:nvPr/>
        </p:nvGrpSpPr>
        <p:grpSpPr>
          <a:xfrm>
            <a:off x="9593813" y="1262096"/>
            <a:ext cx="1421554" cy="1962011"/>
            <a:chOff x="0" y="0"/>
            <a:chExt cx="1421553" cy="1962010"/>
          </a:xfrm>
        </p:grpSpPr>
        <p:sp>
          <p:nvSpPr>
            <p:cNvPr id="155" name="万山红"/>
            <p:cNvSpPr/>
            <p:nvPr/>
          </p:nvSpPr>
          <p:spPr>
            <a:xfrm>
              <a:off x="0" y="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万山红</a:t>
              </a:r>
            </a:p>
          </p:txBody>
        </p:sp>
        <p:sp>
          <p:nvSpPr>
            <p:cNvPr id="156" name="17"/>
            <p:cNvSpPr/>
            <p:nvPr/>
          </p:nvSpPr>
          <p:spPr>
            <a:xfrm>
              <a:off x="0" y="650239"/>
              <a:ext cx="1421554" cy="66153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17</a:t>
              </a:r>
            </a:p>
          </p:txBody>
        </p:sp>
        <p:sp>
          <p:nvSpPr>
            <p:cNvPr id="157" name="165"/>
            <p:cNvSpPr/>
            <p:nvPr/>
          </p:nvSpPr>
          <p:spPr>
            <a:xfrm>
              <a:off x="0" y="1300480"/>
              <a:ext cx="1421554" cy="6615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2248" tIns="72248" rIns="72248" bIns="72248" numCol="1" anchor="ctr">
              <a:noAutofit/>
            </a:bodyPr>
            <a:lstStyle>
              <a:lvl1pPr marL="3612" marR="3612" indent="18062" defTabSz="650240">
                <a:lnSpc>
                  <a:spcPct val="100000"/>
                </a:lnSpc>
                <a:spcBef>
                  <a:spcPts val="1900"/>
                </a:spcBef>
                <a:defRPr sz="2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165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392"/>
          <p:cNvGrpSpPr/>
          <p:nvPr/>
        </p:nvGrpSpPr>
        <p:grpSpPr>
          <a:xfrm>
            <a:off x="3384408" y="1069621"/>
            <a:ext cx="5871920" cy="4094350"/>
            <a:chOff x="0" y="0"/>
            <a:chExt cx="5871919" cy="4094348"/>
          </a:xfrm>
        </p:grpSpPr>
        <p:sp>
          <p:nvSpPr>
            <p:cNvPr id="160" name="Shape 1353"/>
            <p:cNvSpPr/>
            <p:nvPr/>
          </p:nvSpPr>
          <p:spPr>
            <a:xfrm>
              <a:off x="3416018" y="787078"/>
              <a:ext cx="1291451" cy="540268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61" name="Shape 1354"/>
            <p:cNvSpPr/>
            <p:nvPr/>
          </p:nvSpPr>
          <p:spPr>
            <a:xfrm flipH="1">
              <a:off x="1886092" y="765700"/>
              <a:ext cx="1106313" cy="540269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62" name="Shape 1355"/>
            <p:cNvSpPr/>
            <p:nvPr/>
          </p:nvSpPr>
          <p:spPr>
            <a:xfrm>
              <a:off x="1993617" y="1595534"/>
              <a:ext cx="566705" cy="439211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63" name="Shape 1356"/>
            <p:cNvSpPr/>
            <p:nvPr/>
          </p:nvSpPr>
          <p:spPr>
            <a:xfrm>
              <a:off x="869244" y="2475896"/>
              <a:ext cx="304802" cy="618005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64" name="Shape 1357"/>
            <p:cNvSpPr/>
            <p:nvPr/>
          </p:nvSpPr>
          <p:spPr>
            <a:xfrm>
              <a:off x="2862863" y="450869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" name="Shape 1358"/>
            <p:cNvSpPr/>
            <p:nvPr/>
          </p:nvSpPr>
          <p:spPr>
            <a:xfrm>
              <a:off x="1481102" y="1191306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6" name="Shape 1359"/>
            <p:cNvSpPr/>
            <p:nvPr/>
          </p:nvSpPr>
          <p:spPr>
            <a:xfrm>
              <a:off x="4289778" y="1191306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" name="Shape 1360"/>
            <p:cNvSpPr/>
            <p:nvPr/>
          </p:nvSpPr>
          <p:spPr>
            <a:xfrm>
              <a:off x="501226" y="2034744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" name="Shape 1361"/>
            <p:cNvSpPr/>
            <p:nvPr/>
          </p:nvSpPr>
          <p:spPr>
            <a:xfrm>
              <a:off x="2199075" y="2034744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" name="Shape 1362"/>
            <p:cNvSpPr/>
            <p:nvPr/>
          </p:nvSpPr>
          <p:spPr>
            <a:xfrm>
              <a:off x="3705014" y="2034744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0" name="Shape 1363"/>
            <p:cNvSpPr/>
            <p:nvPr/>
          </p:nvSpPr>
          <p:spPr>
            <a:xfrm>
              <a:off x="5226193" y="2034744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" name="Shape 1364"/>
            <p:cNvSpPr/>
            <p:nvPr/>
          </p:nvSpPr>
          <p:spPr>
            <a:xfrm>
              <a:off x="-1" y="3062805"/>
              <a:ext cx="643469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" name="Shape 1365"/>
            <p:cNvSpPr/>
            <p:nvPr/>
          </p:nvSpPr>
          <p:spPr>
            <a:xfrm>
              <a:off x="1790417" y="3060861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" name="Shape 1366"/>
            <p:cNvSpPr txBox="1"/>
            <p:nvPr/>
          </p:nvSpPr>
          <p:spPr>
            <a:xfrm>
              <a:off x="2972830" y="361272"/>
              <a:ext cx="520618" cy="6319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74" name="Shape 1367"/>
            <p:cNvSpPr txBox="1"/>
            <p:nvPr/>
          </p:nvSpPr>
          <p:spPr>
            <a:xfrm>
              <a:off x="4399745" y="1104624"/>
              <a:ext cx="520618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75" name="Shape 1368"/>
            <p:cNvSpPr txBox="1"/>
            <p:nvPr/>
          </p:nvSpPr>
          <p:spPr>
            <a:xfrm>
              <a:off x="5293940" y="1947089"/>
              <a:ext cx="547482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76" name="Shape 1369"/>
            <p:cNvSpPr txBox="1"/>
            <p:nvPr/>
          </p:nvSpPr>
          <p:spPr>
            <a:xfrm>
              <a:off x="1591069" y="1104624"/>
              <a:ext cx="520618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77" name="Shape 1370"/>
            <p:cNvSpPr txBox="1"/>
            <p:nvPr/>
          </p:nvSpPr>
          <p:spPr>
            <a:xfrm>
              <a:off x="611193" y="1947089"/>
              <a:ext cx="520618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78" name="Shape 1371"/>
            <p:cNvSpPr txBox="1"/>
            <p:nvPr/>
          </p:nvSpPr>
          <p:spPr>
            <a:xfrm>
              <a:off x="2324339" y="1947089"/>
              <a:ext cx="493991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79" name="Shape 1372"/>
            <p:cNvSpPr txBox="1"/>
            <p:nvPr/>
          </p:nvSpPr>
          <p:spPr>
            <a:xfrm>
              <a:off x="3829426" y="1947089"/>
              <a:ext cx="466891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80" name="Shape 1373"/>
            <p:cNvSpPr txBox="1"/>
            <p:nvPr/>
          </p:nvSpPr>
          <p:spPr>
            <a:xfrm>
              <a:off x="98677" y="2986811"/>
              <a:ext cx="520619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81" name="Shape 1374"/>
            <p:cNvSpPr txBox="1"/>
            <p:nvPr/>
          </p:nvSpPr>
          <p:spPr>
            <a:xfrm>
              <a:off x="1928026" y="2986811"/>
              <a:ext cx="440499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182" name="Shape 1375"/>
            <p:cNvSpPr/>
            <p:nvPr/>
          </p:nvSpPr>
          <p:spPr>
            <a:xfrm>
              <a:off x="869244" y="3078352"/>
              <a:ext cx="645727" cy="472249"/>
            </a:xfrm>
            <a:prstGeom prst="ellipse">
              <a:avLst/>
            </a:prstGeom>
            <a:gradFill flip="none" rotWithShape="1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" name="Shape 1376"/>
            <p:cNvSpPr txBox="1"/>
            <p:nvPr/>
          </p:nvSpPr>
          <p:spPr>
            <a:xfrm>
              <a:off x="1070624" y="2986811"/>
              <a:ext cx="306182" cy="631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defRPr b="1" sz="3800">
                  <a:solidFill>
                    <a:srgbClr val="FFFFCC"/>
                  </a:solidFill>
                  <a:uFill>
                    <a:solidFill>
                      <a:srgbClr val="FFFFCC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184" name="Shape 1377"/>
            <p:cNvSpPr/>
            <p:nvPr/>
          </p:nvSpPr>
          <p:spPr>
            <a:xfrm flipH="1">
              <a:off x="1072444" y="1595534"/>
              <a:ext cx="512518" cy="528608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85" name="Shape 1378"/>
            <p:cNvSpPr/>
            <p:nvPr/>
          </p:nvSpPr>
          <p:spPr>
            <a:xfrm flipH="1">
              <a:off x="4145281" y="1595534"/>
              <a:ext cx="304802" cy="439211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86" name="Shape 1379"/>
            <p:cNvSpPr/>
            <p:nvPr/>
          </p:nvSpPr>
          <p:spPr>
            <a:xfrm>
              <a:off x="4863254" y="1595534"/>
              <a:ext cx="609602" cy="439211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87" name="Shape 1380"/>
            <p:cNvSpPr/>
            <p:nvPr/>
          </p:nvSpPr>
          <p:spPr>
            <a:xfrm flipH="1">
              <a:off x="356729" y="2475896"/>
              <a:ext cx="408659" cy="618005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88" name="Shape 1381"/>
            <p:cNvSpPr/>
            <p:nvPr/>
          </p:nvSpPr>
          <p:spPr>
            <a:xfrm flipH="1">
              <a:off x="2097475" y="2475896"/>
              <a:ext cx="408660" cy="618005"/>
            </a:xfrm>
            <a:prstGeom prst="line">
              <a:avLst/>
            </a:prstGeom>
            <a:noFill/>
            <a:ln w="38100" cap="flat">
              <a:solidFill>
                <a:srgbClr val="0099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189" name="Shape 1382"/>
            <p:cNvSpPr txBox="1"/>
            <p:nvPr/>
          </p:nvSpPr>
          <p:spPr>
            <a:xfrm>
              <a:off x="2917050" y="-1"/>
              <a:ext cx="4191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90" name="Shape 1383"/>
            <p:cNvSpPr txBox="1"/>
            <p:nvPr/>
          </p:nvSpPr>
          <p:spPr>
            <a:xfrm>
              <a:off x="970844" y="1154381"/>
              <a:ext cx="7366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91" name="Shape 1384"/>
            <p:cNvSpPr txBox="1"/>
            <p:nvPr/>
          </p:nvSpPr>
          <p:spPr>
            <a:xfrm>
              <a:off x="3736623" y="1154381"/>
              <a:ext cx="7366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92" name="Shape 1385"/>
            <p:cNvSpPr txBox="1"/>
            <p:nvPr/>
          </p:nvSpPr>
          <p:spPr>
            <a:xfrm>
              <a:off x="49669" y="2034744"/>
              <a:ext cx="7366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93" name="Shape 1386"/>
            <p:cNvSpPr txBox="1"/>
            <p:nvPr/>
          </p:nvSpPr>
          <p:spPr>
            <a:xfrm>
              <a:off x="1688817" y="2034744"/>
              <a:ext cx="5207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94" name="Shape 1387"/>
            <p:cNvSpPr txBox="1"/>
            <p:nvPr/>
          </p:nvSpPr>
          <p:spPr>
            <a:xfrm>
              <a:off x="3327965" y="2034744"/>
              <a:ext cx="5207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95" name="Shape 1388"/>
            <p:cNvSpPr txBox="1"/>
            <p:nvPr/>
          </p:nvSpPr>
          <p:spPr>
            <a:xfrm>
              <a:off x="4759396" y="2034744"/>
              <a:ext cx="5207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96" name="Shape 1389"/>
            <p:cNvSpPr txBox="1"/>
            <p:nvPr/>
          </p:nvSpPr>
          <p:spPr>
            <a:xfrm>
              <a:off x="49669" y="3614731"/>
              <a:ext cx="5207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97" name="Shape 1390"/>
            <p:cNvSpPr txBox="1"/>
            <p:nvPr/>
          </p:nvSpPr>
          <p:spPr>
            <a:xfrm>
              <a:off x="970844" y="3614731"/>
              <a:ext cx="5207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98" name="Shape 1391"/>
            <p:cNvSpPr txBox="1"/>
            <p:nvPr/>
          </p:nvSpPr>
          <p:spPr>
            <a:xfrm>
              <a:off x="1790417" y="3624448"/>
              <a:ext cx="736602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200" name="Shape 1394"/>
          <p:cNvSpPr txBox="1"/>
          <p:nvPr/>
        </p:nvSpPr>
        <p:spPr>
          <a:xfrm>
            <a:off x="2223910" y="6261100"/>
            <a:ext cx="8763001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defRPr b="1" sz="3400">
                <a:uFill>
                  <a:solidFill>
                    <a:srgbClr val="000000"/>
                  </a:solidFill>
                </a:uFill>
              </a:defRPr>
            </a:pPr>
            <a:r>
              <a:t> </a:t>
            </a:r>
            <a:r>
              <a:rPr b="0" sz="3800"/>
              <a:t>0    1    2     3     4    5     6    7     8    9   10  </a:t>
            </a:r>
          </a:p>
        </p:txBody>
      </p:sp>
      <p:grpSp>
        <p:nvGrpSpPr>
          <p:cNvPr id="211" name="Group 1405"/>
          <p:cNvGrpSpPr/>
          <p:nvPr/>
        </p:nvGrpSpPr>
        <p:grpSpPr>
          <a:xfrm>
            <a:off x="3111500" y="5397782"/>
            <a:ext cx="7483405" cy="639900"/>
            <a:chOff x="0" y="0"/>
            <a:chExt cx="7483404" cy="639898"/>
          </a:xfrm>
        </p:grpSpPr>
        <p:sp>
          <p:nvSpPr>
            <p:cNvPr id="201" name="Shape 1395"/>
            <p:cNvSpPr txBox="1"/>
            <p:nvPr/>
          </p:nvSpPr>
          <p:spPr>
            <a:xfrm>
              <a:off x="-1" y="-1"/>
              <a:ext cx="52070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02" name="Shape 1396"/>
            <p:cNvSpPr txBox="1"/>
            <p:nvPr/>
          </p:nvSpPr>
          <p:spPr>
            <a:xfrm>
              <a:off x="613832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03" name="Shape 1397"/>
            <p:cNvSpPr txBox="1"/>
            <p:nvPr/>
          </p:nvSpPr>
          <p:spPr>
            <a:xfrm>
              <a:off x="1327291" y="-1"/>
              <a:ext cx="7366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04" name="Shape 1398"/>
            <p:cNvSpPr txBox="1"/>
            <p:nvPr/>
          </p:nvSpPr>
          <p:spPr>
            <a:xfrm>
              <a:off x="2966437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05" name="Shape 1399"/>
            <p:cNvSpPr txBox="1"/>
            <p:nvPr/>
          </p:nvSpPr>
          <p:spPr>
            <a:xfrm>
              <a:off x="3786010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06" name="Shape 1400"/>
            <p:cNvSpPr txBox="1"/>
            <p:nvPr/>
          </p:nvSpPr>
          <p:spPr>
            <a:xfrm>
              <a:off x="2146864" y="-1"/>
              <a:ext cx="7366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07" name="Shape 1401"/>
            <p:cNvSpPr txBox="1"/>
            <p:nvPr/>
          </p:nvSpPr>
          <p:spPr>
            <a:xfrm>
              <a:off x="4605583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08" name="Shape 1402"/>
            <p:cNvSpPr txBox="1"/>
            <p:nvPr/>
          </p:nvSpPr>
          <p:spPr>
            <a:xfrm>
              <a:off x="5427416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209" name="Shape 1403"/>
            <p:cNvSpPr txBox="1"/>
            <p:nvPr/>
          </p:nvSpPr>
          <p:spPr>
            <a:xfrm>
              <a:off x="6143130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210" name="Shape 1404"/>
            <p:cNvSpPr txBox="1"/>
            <p:nvPr/>
          </p:nvSpPr>
          <p:spPr>
            <a:xfrm>
              <a:off x="6962703" y="-1"/>
              <a:ext cx="52070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226" name="Group 1420"/>
          <p:cNvGrpSpPr/>
          <p:nvPr/>
        </p:nvGrpSpPr>
        <p:grpSpPr>
          <a:xfrm>
            <a:off x="2324100" y="5282634"/>
            <a:ext cx="8393574" cy="936980"/>
            <a:chOff x="0" y="0"/>
            <a:chExt cx="8393573" cy="936978"/>
          </a:xfrm>
        </p:grpSpPr>
        <p:sp>
          <p:nvSpPr>
            <p:cNvPr id="212" name="Shape 1406"/>
            <p:cNvSpPr/>
            <p:nvPr/>
          </p:nvSpPr>
          <p:spPr>
            <a:xfrm>
              <a:off x="67310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3" name="Shape 1407"/>
            <p:cNvSpPr/>
            <p:nvPr/>
          </p:nvSpPr>
          <p:spPr>
            <a:xfrm>
              <a:off x="143510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4" name="Shape 1408"/>
            <p:cNvSpPr/>
            <p:nvPr/>
          </p:nvSpPr>
          <p:spPr>
            <a:xfrm>
              <a:off x="2198229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5" name="Shape 1409"/>
            <p:cNvSpPr/>
            <p:nvPr/>
          </p:nvSpPr>
          <p:spPr>
            <a:xfrm>
              <a:off x="295910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6" name="Shape 1410"/>
            <p:cNvSpPr/>
            <p:nvPr/>
          </p:nvSpPr>
          <p:spPr>
            <a:xfrm>
              <a:off x="3722229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7" name="Shape 1411"/>
            <p:cNvSpPr/>
            <p:nvPr/>
          </p:nvSpPr>
          <p:spPr>
            <a:xfrm>
              <a:off x="4580184" y="0"/>
              <a:ext cx="2260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8" name="Shape 1412"/>
            <p:cNvSpPr/>
            <p:nvPr/>
          </p:nvSpPr>
          <p:spPr>
            <a:xfrm>
              <a:off x="543814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19" name="Shape 1413"/>
            <p:cNvSpPr/>
            <p:nvPr/>
          </p:nvSpPr>
          <p:spPr>
            <a:xfrm>
              <a:off x="6199011" y="0"/>
              <a:ext cx="2260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20" name="Shape 1414"/>
            <p:cNvSpPr/>
            <p:nvPr/>
          </p:nvSpPr>
          <p:spPr>
            <a:xfrm>
              <a:off x="696214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21" name="Shape 1415"/>
            <p:cNvSpPr/>
            <p:nvPr/>
          </p:nvSpPr>
          <p:spPr>
            <a:xfrm>
              <a:off x="763270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22" name="Shape 1416"/>
            <p:cNvSpPr/>
            <p:nvPr/>
          </p:nvSpPr>
          <p:spPr>
            <a:xfrm>
              <a:off x="8391314" y="0"/>
              <a:ext cx="2260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23" name="Shape 1417"/>
            <p:cNvSpPr/>
            <p:nvPr/>
          </p:nvSpPr>
          <p:spPr>
            <a:xfrm>
              <a:off x="0" y="0"/>
              <a:ext cx="2259" cy="91891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24" name="Shape 1418"/>
            <p:cNvSpPr/>
            <p:nvPr/>
          </p:nvSpPr>
          <p:spPr>
            <a:xfrm>
              <a:off x="14957" y="13546"/>
              <a:ext cx="8347008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25" name="Shape 1419"/>
            <p:cNvSpPr/>
            <p:nvPr/>
          </p:nvSpPr>
          <p:spPr>
            <a:xfrm>
              <a:off x="14957" y="934720"/>
              <a:ext cx="8347008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</p:grpSp>
      <p:sp>
        <p:nvSpPr>
          <p:cNvPr id="227" name="完全二叉树的数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完全二叉树的数组实现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二叉树的链式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二叉树的链式实现</a:t>
            </a:r>
          </a:p>
        </p:txBody>
      </p:sp>
      <p:grpSp>
        <p:nvGrpSpPr>
          <p:cNvPr id="274" name="Group 1671"/>
          <p:cNvGrpSpPr/>
          <p:nvPr/>
        </p:nvGrpSpPr>
        <p:grpSpPr>
          <a:xfrm>
            <a:off x="2708486" y="3036428"/>
            <a:ext cx="8232931" cy="4686925"/>
            <a:chOff x="0" y="0"/>
            <a:chExt cx="8232931" cy="4686923"/>
          </a:xfrm>
        </p:grpSpPr>
        <p:grpSp>
          <p:nvGrpSpPr>
            <p:cNvPr id="232" name="Group 1629"/>
            <p:cNvGrpSpPr/>
            <p:nvPr/>
          </p:nvGrpSpPr>
          <p:grpSpPr>
            <a:xfrm>
              <a:off x="2632568" y="914058"/>
              <a:ext cx="1989106" cy="811226"/>
              <a:chOff x="0" y="0"/>
              <a:chExt cx="1989104" cy="811224"/>
            </a:xfrm>
          </p:grpSpPr>
          <p:sp>
            <p:nvSpPr>
              <p:cNvPr id="230" name="Shape 1627"/>
              <p:cNvSpPr/>
              <p:nvPr/>
            </p:nvSpPr>
            <p:spPr>
              <a:xfrm>
                <a:off x="-1" y="106457"/>
                <a:ext cx="1989106" cy="609603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1" name="Shape 1628"/>
              <p:cNvSpPr txBox="1"/>
              <p:nvPr/>
            </p:nvSpPr>
            <p:spPr>
              <a:xfrm>
                <a:off x="679213" y="-1"/>
                <a:ext cx="630677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33" name="Shape 1630"/>
            <p:cNvSpPr/>
            <p:nvPr/>
          </p:nvSpPr>
          <p:spPr>
            <a:xfrm>
              <a:off x="3129280" y="1020515"/>
              <a:ext cx="2260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34" name="Shape 1631"/>
            <p:cNvSpPr/>
            <p:nvPr/>
          </p:nvSpPr>
          <p:spPr>
            <a:xfrm>
              <a:off x="4124960" y="1020515"/>
              <a:ext cx="2260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grpSp>
          <p:nvGrpSpPr>
            <p:cNvPr id="237" name="Group 1634"/>
            <p:cNvGrpSpPr/>
            <p:nvPr/>
          </p:nvGrpSpPr>
          <p:grpSpPr>
            <a:xfrm>
              <a:off x="5186116" y="3875698"/>
              <a:ext cx="1989105" cy="811226"/>
              <a:chOff x="0" y="0"/>
              <a:chExt cx="1989103" cy="811224"/>
            </a:xfrm>
          </p:grpSpPr>
          <p:sp>
            <p:nvSpPr>
              <p:cNvPr id="235" name="Shape 1632"/>
              <p:cNvSpPr/>
              <p:nvPr/>
            </p:nvSpPr>
            <p:spPr>
              <a:xfrm>
                <a:off x="0" y="102506"/>
                <a:ext cx="1989105" cy="609603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6" name="Shape 1633"/>
              <p:cNvSpPr txBox="1"/>
              <p:nvPr/>
            </p:nvSpPr>
            <p:spPr>
              <a:xfrm>
                <a:off x="714561" y="-1"/>
                <a:ext cx="559983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38" name="Shape 1635"/>
            <p:cNvSpPr/>
            <p:nvPr/>
          </p:nvSpPr>
          <p:spPr>
            <a:xfrm>
              <a:off x="5671537" y="3957884"/>
              <a:ext cx="2260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39" name="Shape 1636"/>
            <p:cNvSpPr/>
            <p:nvPr/>
          </p:nvSpPr>
          <p:spPr>
            <a:xfrm>
              <a:off x="6678507" y="3978204"/>
              <a:ext cx="2259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40" name="Shape 1637"/>
            <p:cNvSpPr txBox="1"/>
            <p:nvPr/>
          </p:nvSpPr>
          <p:spPr>
            <a:xfrm>
              <a:off x="5100320" y="4050453"/>
              <a:ext cx="603900" cy="5361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41" name="Shape 1638"/>
            <p:cNvSpPr txBox="1"/>
            <p:nvPr/>
          </p:nvSpPr>
          <p:spPr>
            <a:xfrm>
              <a:off x="6558844" y="4018845"/>
              <a:ext cx="603900" cy="5361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44" name="Group 1641"/>
            <p:cNvGrpSpPr/>
            <p:nvPr/>
          </p:nvGrpSpPr>
          <p:grpSpPr>
            <a:xfrm>
              <a:off x="6235982" y="2882558"/>
              <a:ext cx="1989105" cy="811226"/>
              <a:chOff x="0" y="0"/>
              <a:chExt cx="1989103" cy="811224"/>
            </a:xfrm>
          </p:grpSpPr>
          <p:sp>
            <p:nvSpPr>
              <p:cNvPr id="242" name="Shape 1639"/>
              <p:cNvSpPr/>
              <p:nvPr/>
            </p:nvSpPr>
            <p:spPr>
              <a:xfrm>
                <a:off x="0" y="106739"/>
                <a:ext cx="1989105" cy="609603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3" name="Shape 1640"/>
              <p:cNvSpPr txBox="1"/>
              <p:nvPr/>
            </p:nvSpPr>
            <p:spPr>
              <a:xfrm>
                <a:off x="696731" y="-1"/>
                <a:ext cx="595640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245" name="Shape 1642"/>
            <p:cNvSpPr/>
            <p:nvPr/>
          </p:nvSpPr>
          <p:spPr>
            <a:xfrm>
              <a:off x="6732694" y="2989297"/>
              <a:ext cx="2259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46" name="Shape 1643"/>
            <p:cNvSpPr/>
            <p:nvPr/>
          </p:nvSpPr>
          <p:spPr>
            <a:xfrm>
              <a:off x="7730913" y="2989297"/>
              <a:ext cx="2260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47" name="Shape 1644"/>
            <p:cNvSpPr txBox="1"/>
            <p:nvPr/>
          </p:nvSpPr>
          <p:spPr>
            <a:xfrm>
              <a:off x="7629032" y="3029937"/>
              <a:ext cx="603900" cy="5361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0" name="Group 1647"/>
            <p:cNvGrpSpPr/>
            <p:nvPr/>
          </p:nvGrpSpPr>
          <p:grpSpPr>
            <a:xfrm>
              <a:off x="4314613" y="1981423"/>
              <a:ext cx="1981202" cy="811226"/>
              <a:chOff x="0" y="0"/>
              <a:chExt cx="1981200" cy="811224"/>
            </a:xfrm>
          </p:grpSpPr>
          <p:sp>
            <p:nvSpPr>
              <p:cNvPr id="248" name="Shape 1645"/>
              <p:cNvSpPr/>
              <p:nvPr/>
            </p:nvSpPr>
            <p:spPr>
              <a:xfrm>
                <a:off x="0" y="100248"/>
                <a:ext cx="1981201" cy="609603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" name="Shape 1646"/>
              <p:cNvSpPr txBox="1"/>
              <p:nvPr/>
            </p:nvSpPr>
            <p:spPr>
              <a:xfrm>
                <a:off x="678085" y="-1"/>
                <a:ext cx="630677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51" name="Shape 1648"/>
            <p:cNvSpPr/>
            <p:nvPr/>
          </p:nvSpPr>
          <p:spPr>
            <a:xfrm>
              <a:off x="4811324" y="2081670"/>
              <a:ext cx="2260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52" name="Shape 1649"/>
            <p:cNvSpPr/>
            <p:nvPr/>
          </p:nvSpPr>
          <p:spPr>
            <a:xfrm>
              <a:off x="5804746" y="2081670"/>
              <a:ext cx="2260" cy="609602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53" name="Shape 1650"/>
            <p:cNvSpPr txBox="1"/>
            <p:nvPr/>
          </p:nvSpPr>
          <p:spPr>
            <a:xfrm>
              <a:off x="4215271" y="2124568"/>
              <a:ext cx="603900" cy="5361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56" name="Group 1653"/>
            <p:cNvGrpSpPr/>
            <p:nvPr/>
          </p:nvGrpSpPr>
          <p:grpSpPr>
            <a:xfrm>
              <a:off x="1871697" y="2881147"/>
              <a:ext cx="1981202" cy="811226"/>
              <a:chOff x="0" y="0"/>
              <a:chExt cx="1981200" cy="811224"/>
            </a:xfrm>
          </p:grpSpPr>
          <p:sp>
            <p:nvSpPr>
              <p:cNvPr id="254" name="Shape 1651"/>
              <p:cNvSpPr/>
              <p:nvPr/>
            </p:nvSpPr>
            <p:spPr>
              <a:xfrm>
                <a:off x="0" y="103635"/>
                <a:ext cx="1981201" cy="60734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" name="Shape 1652"/>
              <p:cNvSpPr txBox="1"/>
              <p:nvPr/>
            </p:nvSpPr>
            <p:spPr>
              <a:xfrm>
                <a:off x="678084" y="-1"/>
                <a:ext cx="630677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57" name="Shape 1654"/>
            <p:cNvSpPr/>
            <p:nvPr/>
          </p:nvSpPr>
          <p:spPr>
            <a:xfrm>
              <a:off x="2368408" y="2984781"/>
              <a:ext cx="2260" cy="60734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58" name="Shape 1655"/>
            <p:cNvSpPr/>
            <p:nvPr/>
          </p:nvSpPr>
          <p:spPr>
            <a:xfrm>
              <a:off x="3361831" y="2984781"/>
              <a:ext cx="2260" cy="60734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59" name="Shape 1656"/>
            <p:cNvSpPr txBox="1"/>
            <p:nvPr/>
          </p:nvSpPr>
          <p:spPr>
            <a:xfrm>
              <a:off x="1754293" y="3021470"/>
              <a:ext cx="603900" cy="5361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60" name="Shape 1657"/>
            <p:cNvSpPr txBox="1"/>
            <p:nvPr/>
          </p:nvSpPr>
          <p:spPr>
            <a:xfrm>
              <a:off x="3226364" y="3025422"/>
              <a:ext cx="603900" cy="5361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63" name="Group 1660"/>
            <p:cNvGrpSpPr/>
            <p:nvPr/>
          </p:nvGrpSpPr>
          <p:grpSpPr>
            <a:xfrm>
              <a:off x="914400" y="1962232"/>
              <a:ext cx="1981201" cy="811226"/>
              <a:chOff x="0" y="0"/>
              <a:chExt cx="1981200" cy="811224"/>
            </a:xfrm>
          </p:grpSpPr>
          <p:sp>
            <p:nvSpPr>
              <p:cNvPr id="261" name="Shape 1658"/>
              <p:cNvSpPr/>
              <p:nvPr/>
            </p:nvSpPr>
            <p:spPr>
              <a:xfrm>
                <a:off x="-1" y="106739"/>
                <a:ext cx="1981201" cy="607345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2" name="Shape 1659"/>
              <p:cNvSpPr txBox="1"/>
              <p:nvPr/>
            </p:nvSpPr>
            <p:spPr>
              <a:xfrm>
                <a:off x="695602" y="-1"/>
                <a:ext cx="595640" cy="8112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264" name="Shape 1661"/>
            <p:cNvSpPr/>
            <p:nvPr/>
          </p:nvSpPr>
          <p:spPr>
            <a:xfrm>
              <a:off x="1411111" y="2068970"/>
              <a:ext cx="2259" cy="60734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65" name="Shape 1662"/>
            <p:cNvSpPr/>
            <p:nvPr/>
          </p:nvSpPr>
          <p:spPr>
            <a:xfrm>
              <a:off x="2404533" y="2068970"/>
              <a:ext cx="2260" cy="607345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66" name="Shape 1663"/>
            <p:cNvSpPr txBox="1"/>
            <p:nvPr/>
          </p:nvSpPr>
          <p:spPr>
            <a:xfrm>
              <a:off x="815057" y="2122310"/>
              <a:ext cx="603900" cy="5361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宋体"/>
                  <a:ea typeface="宋体"/>
                  <a:cs typeface="宋体"/>
                  <a:sym typeface="宋体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67" name="Shape 1664"/>
            <p:cNvSpPr/>
            <p:nvPr/>
          </p:nvSpPr>
          <p:spPr>
            <a:xfrm flipH="1">
              <a:off x="1842346" y="1314026"/>
              <a:ext cx="1058900" cy="73378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68" name="Shape 1665"/>
            <p:cNvSpPr/>
            <p:nvPr/>
          </p:nvSpPr>
          <p:spPr>
            <a:xfrm>
              <a:off x="4438791" y="1282417"/>
              <a:ext cx="988908" cy="765389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69" name="Shape 1666"/>
            <p:cNvSpPr/>
            <p:nvPr/>
          </p:nvSpPr>
          <p:spPr>
            <a:xfrm>
              <a:off x="2731911" y="2377440"/>
              <a:ext cx="282224" cy="573477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70" name="Shape 1667"/>
            <p:cNvSpPr/>
            <p:nvPr/>
          </p:nvSpPr>
          <p:spPr>
            <a:xfrm>
              <a:off x="6093742" y="2424853"/>
              <a:ext cx="923433" cy="53735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71" name="Shape 1668"/>
            <p:cNvSpPr/>
            <p:nvPr/>
          </p:nvSpPr>
          <p:spPr>
            <a:xfrm flipH="1">
              <a:off x="6217920" y="3313570"/>
              <a:ext cx="254002" cy="661531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72" name="Shape 1669"/>
            <p:cNvSpPr/>
            <p:nvPr/>
          </p:nvSpPr>
          <p:spPr>
            <a:xfrm>
              <a:off x="1241777" y="379870"/>
              <a:ext cx="2273585" cy="602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" name="Shape 1670"/>
            <p:cNvSpPr txBox="1"/>
            <p:nvPr/>
          </p:nvSpPr>
          <p:spPr>
            <a:xfrm>
              <a:off x="-1" y="0"/>
              <a:ext cx="1358901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b="1" sz="38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</a:defRPr>
              </a:lvl1pPr>
            </a:lstStyle>
            <a:p>
              <a:pPr/>
              <a:r>
                <a:t>root</a:t>
              </a:r>
            </a:p>
          </p:txBody>
        </p:sp>
      </p:grpSp>
      <p:grpSp>
        <p:nvGrpSpPr>
          <p:cNvPr id="298" name="Group 1720"/>
          <p:cNvGrpSpPr/>
          <p:nvPr/>
        </p:nvGrpSpPr>
        <p:grpSpPr>
          <a:xfrm>
            <a:off x="3647082" y="1083401"/>
            <a:ext cx="5723274" cy="2209796"/>
            <a:chOff x="0" y="0"/>
            <a:chExt cx="5723273" cy="2209794"/>
          </a:xfrm>
        </p:grpSpPr>
        <p:grpSp>
          <p:nvGrpSpPr>
            <p:cNvPr id="277" name="Group 1699"/>
            <p:cNvGrpSpPr/>
            <p:nvPr/>
          </p:nvGrpSpPr>
          <p:grpSpPr>
            <a:xfrm>
              <a:off x="1730291" y="0"/>
              <a:ext cx="665499" cy="614499"/>
              <a:chOff x="0" y="0"/>
              <a:chExt cx="665497" cy="614498"/>
            </a:xfrm>
          </p:grpSpPr>
          <p:sp>
            <p:nvSpPr>
              <p:cNvPr id="275" name="Shape 1697"/>
              <p:cNvSpPr/>
              <p:nvPr/>
            </p:nvSpPr>
            <p:spPr>
              <a:xfrm>
                <a:off x="0" y="94943"/>
                <a:ext cx="665498" cy="419819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6" name="Shape 1698"/>
              <p:cNvSpPr txBox="1"/>
              <p:nvPr/>
            </p:nvSpPr>
            <p:spPr>
              <a:xfrm>
                <a:off x="8563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80" name="Group 1702"/>
            <p:cNvGrpSpPr/>
            <p:nvPr/>
          </p:nvGrpSpPr>
          <p:grpSpPr>
            <a:xfrm>
              <a:off x="-1" y="482786"/>
              <a:ext cx="732049" cy="614500"/>
              <a:chOff x="0" y="0"/>
              <a:chExt cx="732048" cy="614498"/>
            </a:xfrm>
          </p:grpSpPr>
          <p:sp>
            <p:nvSpPr>
              <p:cNvPr id="278" name="Shape 1700"/>
              <p:cNvSpPr/>
              <p:nvPr/>
            </p:nvSpPr>
            <p:spPr>
              <a:xfrm>
                <a:off x="0" y="73953"/>
                <a:ext cx="732049" cy="461799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" name="Shape 1701"/>
              <p:cNvSpPr txBox="1"/>
              <p:nvPr/>
            </p:nvSpPr>
            <p:spPr>
              <a:xfrm>
                <a:off x="132219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83" name="Group 1705"/>
            <p:cNvGrpSpPr/>
            <p:nvPr/>
          </p:nvGrpSpPr>
          <p:grpSpPr>
            <a:xfrm>
              <a:off x="865145" y="1049537"/>
              <a:ext cx="665501" cy="614500"/>
              <a:chOff x="0" y="0"/>
              <a:chExt cx="665499" cy="614498"/>
            </a:xfrm>
          </p:grpSpPr>
          <p:sp>
            <p:nvSpPr>
              <p:cNvPr id="281" name="Shape 1703"/>
              <p:cNvSpPr/>
              <p:nvPr/>
            </p:nvSpPr>
            <p:spPr>
              <a:xfrm>
                <a:off x="0" y="94943"/>
                <a:ext cx="665500" cy="419819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2" name="Shape 1704"/>
              <p:cNvSpPr txBox="1"/>
              <p:nvPr/>
            </p:nvSpPr>
            <p:spPr>
              <a:xfrm>
                <a:off x="8563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86" name="Group 1708"/>
            <p:cNvGrpSpPr/>
            <p:nvPr/>
          </p:nvGrpSpPr>
          <p:grpSpPr>
            <a:xfrm>
              <a:off x="3394032" y="482786"/>
              <a:ext cx="732049" cy="614500"/>
              <a:chOff x="0" y="0"/>
              <a:chExt cx="732048" cy="614498"/>
            </a:xfrm>
          </p:grpSpPr>
          <p:sp>
            <p:nvSpPr>
              <p:cNvPr id="284" name="Shape 1706"/>
              <p:cNvSpPr/>
              <p:nvPr/>
            </p:nvSpPr>
            <p:spPr>
              <a:xfrm>
                <a:off x="0" y="73953"/>
                <a:ext cx="732049" cy="461799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5" name="Shape 1707"/>
              <p:cNvSpPr txBox="1"/>
              <p:nvPr/>
            </p:nvSpPr>
            <p:spPr>
              <a:xfrm>
                <a:off x="118905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89" name="Group 1711"/>
            <p:cNvGrpSpPr/>
            <p:nvPr/>
          </p:nvGrpSpPr>
          <p:grpSpPr>
            <a:xfrm>
              <a:off x="4991225" y="1028546"/>
              <a:ext cx="732049" cy="614500"/>
              <a:chOff x="0" y="0"/>
              <a:chExt cx="732048" cy="614498"/>
            </a:xfrm>
          </p:grpSpPr>
          <p:sp>
            <p:nvSpPr>
              <p:cNvPr id="287" name="Shape 1709"/>
              <p:cNvSpPr/>
              <p:nvPr/>
            </p:nvSpPr>
            <p:spPr>
              <a:xfrm>
                <a:off x="0" y="73952"/>
                <a:ext cx="732049" cy="461801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8" name="Shape 1710"/>
              <p:cNvSpPr txBox="1"/>
              <p:nvPr/>
            </p:nvSpPr>
            <p:spPr>
              <a:xfrm>
                <a:off x="132219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92" name="Group 1714"/>
            <p:cNvGrpSpPr/>
            <p:nvPr/>
          </p:nvGrpSpPr>
          <p:grpSpPr>
            <a:xfrm>
              <a:off x="4192629" y="1595295"/>
              <a:ext cx="732049" cy="614500"/>
              <a:chOff x="0" y="0"/>
              <a:chExt cx="732048" cy="614498"/>
            </a:xfrm>
          </p:grpSpPr>
          <p:sp>
            <p:nvSpPr>
              <p:cNvPr id="290" name="Shape 1712"/>
              <p:cNvSpPr/>
              <p:nvPr/>
            </p:nvSpPr>
            <p:spPr>
              <a:xfrm>
                <a:off x="0" y="94943"/>
                <a:ext cx="732049" cy="419819"/>
              </a:xfrm>
              <a:prstGeom prst="ellipse">
                <a:avLst/>
              </a:prstGeom>
              <a:noFill/>
              <a:ln w="38100" cap="sq">
                <a:solidFill>
                  <a:srgbClr val="008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1" name="Shape 1713"/>
              <p:cNvSpPr txBox="1"/>
              <p:nvPr/>
            </p:nvSpPr>
            <p:spPr>
              <a:xfrm>
                <a:off x="145768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defRPr b="1" sz="3800">
                    <a:solidFill>
                      <a:srgbClr val="990033"/>
                    </a:solidFill>
                    <a:uFill>
                      <a:solidFill>
                        <a:srgbClr val="990033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93" name="Shape 1715"/>
            <p:cNvSpPr/>
            <p:nvPr/>
          </p:nvSpPr>
          <p:spPr>
            <a:xfrm flipH="1">
              <a:off x="399298" y="304851"/>
              <a:ext cx="1330995" cy="251890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94" name="Shape 1716"/>
            <p:cNvSpPr/>
            <p:nvPr/>
          </p:nvSpPr>
          <p:spPr>
            <a:xfrm>
              <a:off x="732045" y="766647"/>
              <a:ext cx="465850" cy="377834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95" name="Shape 1717"/>
            <p:cNvSpPr/>
            <p:nvPr/>
          </p:nvSpPr>
          <p:spPr>
            <a:xfrm>
              <a:off x="2395788" y="304851"/>
              <a:ext cx="1330994" cy="251890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96" name="Shape 1718"/>
            <p:cNvSpPr/>
            <p:nvPr/>
          </p:nvSpPr>
          <p:spPr>
            <a:xfrm>
              <a:off x="4126078" y="766648"/>
              <a:ext cx="1270002" cy="335852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97" name="Shape 1719"/>
            <p:cNvSpPr/>
            <p:nvPr/>
          </p:nvSpPr>
          <p:spPr>
            <a:xfrm flipH="1">
              <a:off x="4591927" y="1312406"/>
              <a:ext cx="399300" cy="377835"/>
            </a:xfrm>
            <a:prstGeom prst="line">
              <a:avLst/>
            </a:prstGeom>
            <a:noFill/>
            <a:ln w="38100" cap="sq">
              <a:solidFill>
                <a:srgbClr val="AE68A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53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树的数组实现</a:t>
            </a:r>
          </a:p>
        </p:txBody>
      </p:sp>
      <p:grpSp>
        <p:nvGrpSpPr>
          <p:cNvPr id="323" name="成组"/>
          <p:cNvGrpSpPr/>
          <p:nvPr/>
        </p:nvGrpSpPr>
        <p:grpSpPr>
          <a:xfrm>
            <a:off x="8487459" y="3415489"/>
            <a:ext cx="3134928" cy="4507374"/>
            <a:chOff x="0" y="0"/>
            <a:chExt cx="3134926" cy="4507373"/>
          </a:xfrm>
        </p:grpSpPr>
        <p:sp>
          <p:nvSpPr>
            <p:cNvPr id="303" name="Shape 54"/>
            <p:cNvSpPr/>
            <p:nvPr/>
          </p:nvSpPr>
          <p:spPr>
            <a:xfrm>
              <a:off x="1919675" y="549486"/>
              <a:ext cx="745069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4" name="Shape 55"/>
            <p:cNvSpPr/>
            <p:nvPr/>
          </p:nvSpPr>
          <p:spPr>
            <a:xfrm flipH="1">
              <a:off x="373097" y="590126"/>
              <a:ext cx="934722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" name="Shape 56"/>
            <p:cNvSpPr/>
            <p:nvPr/>
          </p:nvSpPr>
          <p:spPr>
            <a:xfrm>
              <a:off x="1212991" y="79867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" name="Shape 57"/>
            <p:cNvSpPr txBox="1"/>
            <p:nvPr/>
          </p:nvSpPr>
          <p:spPr>
            <a:xfrm>
              <a:off x="1334247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07" name="Shape 58"/>
            <p:cNvSpPr/>
            <p:nvPr/>
          </p:nvSpPr>
          <p:spPr>
            <a:xfrm>
              <a:off x="1212991" y="127197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" name="Shape 59"/>
            <p:cNvSpPr/>
            <p:nvPr/>
          </p:nvSpPr>
          <p:spPr>
            <a:xfrm>
              <a:off x="0" y="1271975"/>
              <a:ext cx="747326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" name="Shape 60"/>
            <p:cNvSpPr/>
            <p:nvPr/>
          </p:nvSpPr>
          <p:spPr>
            <a:xfrm>
              <a:off x="2387600" y="123133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" name="Shape 61"/>
            <p:cNvSpPr/>
            <p:nvPr/>
          </p:nvSpPr>
          <p:spPr>
            <a:xfrm>
              <a:off x="747889" y="2549877"/>
              <a:ext cx="745069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1" name="Shape 62"/>
            <p:cNvSpPr/>
            <p:nvPr/>
          </p:nvSpPr>
          <p:spPr>
            <a:xfrm>
              <a:off x="1865488" y="2549877"/>
              <a:ext cx="747327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2" name="Shape 63"/>
            <p:cNvSpPr/>
            <p:nvPr/>
          </p:nvSpPr>
          <p:spPr>
            <a:xfrm>
              <a:off x="1865488" y="3825523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" name="Shape 64"/>
            <p:cNvSpPr txBox="1"/>
            <p:nvPr/>
          </p:nvSpPr>
          <p:spPr>
            <a:xfrm>
              <a:off x="111426" y="1258429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14" name="Shape 65"/>
            <p:cNvSpPr txBox="1"/>
            <p:nvPr/>
          </p:nvSpPr>
          <p:spPr>
            <a:xfrm>
              <a:off x="1334014" y="125842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15" name="Shape 66"/>
            <p:cNvSpPr txBox="1"/>
            <p:nvPr/>
          </p:nvSpPr>
          <p:spPr>
            <a:xfrm>
              <a:off x="2526353" y="1197468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16" name="Shape 67"/>
            <p:cNvSpPr txBox="1"/>
            <p:nvPr/>
          </p:nvSpPr>
          <p:spPr>
            <a:xfrm>
              <a:off x="879074" y="253633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17" name="Shape 68"/>
            <p:cNvSpPr txBox="1"/>
            <p:nvPr/>
          </p:nvSpPr>
          <p:spPr>
            <a:xfrm>
              <a:off x="2018902" y="253633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18" name="Shape 69"/>
            <p:cNvSpPr txBox="1"/>
            <p:nvPr/>
          </p:nvSpPr>
          <p:spPr>
            <a:xfrm>
              <a:off x="1986744" y="3834553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19" name="Shape 70"/>
            <p:cNvSpPr/>
            <p:nvPr/>
          </p:nvSpPr>
          <p:spPr>
            <a:xfrm>
              <a:off x="1587782" y="761717"/>
              <a:ext cx="2259" cy="5102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0" name="Shape 71"/>
            <p:cNvSpPr/>
            <p:nvPr/>
          </p:nvSpPr>
          <p:spPr>
            <a:xfrm flipH="1">
              <a:off x="1117600" y="1868029"/>
              <a:ext cx="187397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1" name="Shape 72"/>
            <p:cNvSpPr/>
            <p:nvPr/>
          </p:nvSpPr>
          <p:spPr>
            <a:xfrm>
              <a:off x="1865488" y="1868029"/>
              <a:ext cx="374793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" name="Shape 73"/>
            <p:cNvSpPr/>
            <p:nvPr/>
          </p:nvSpPr>
          <p:spPr>
            <a:xfrm>
              <a:off x="2235200" y="3229469"/>
              <a:ext cx="2259" cy="5969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24" name="public class Node&lt;T&gt;{…"/>
          <p:cNvSpPr txBox="1"/>
          <p:nvPr/>
        </p:nvSpPr>
        <p:spPr>
          <a:xfrm>
            <a:off x="7914077" y="1286410"/>
            <a:ext cx="4808985" cy="1951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8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Node&lt;T&gt;{</a:t>
            </a:r>
          </a:p>
          <a:p>
            <a:pPr indent="0">
              <a:lnSpc>
                <a:spcPct val="100000"/>
              </a:lnSpc>
              <a:defRPr sz="2800">
                <a:latin typeface="Monaco"/>
                <a:ea typeface="Monaco"/>
                <a:cs typeface="Monaco"/>
                <a:sym typeface="Monaco"/>
              </a:defRPr>
            </a:pPr>
            <a:r>
              <a:t>	T data;</a:t>
            </a:r>
          </a:p>
          <a:p>
            <a:pPr indent="0">
              <a:lnSpc>
                <a:spcPct val="100000"/>
              </a:lnSpc>
              <a:defRPr sz="2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next;</a:t>
            </a:r>
          </a:p>
          <a:p>
            <a:pPr indent="0">
              <a:lnSpc>
                <a:spcPct val="100000"/>
              </a:lnSpc>
              <a:defRPr sz="28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grpSp>
        <p:nvGrpSpPr>
          <p:cNvPr id="357" name="成组"/>
          <p:cNvGrpSpPr/>
          <p:nvPr/>
        </p:nvGrpSpPr>
        <p:grpSpPr>
          <a:xfrm>
            <a:off x="3685876" y="1186778"/>
            <a:ext cx="4188179" cy="5423749"/>
            <a:chOff x="0" y="0"/>
            <a:chExt cx="4188177" cy="5423748"/>
          </a:xfrm>
        </p:grpSpPr>
        <p:grpSp>
          <p:nvGrpSpPr>
            <p:cNvPr id="333" name="Group 85"/>
            <p:cNvGrpSpPr/>
            <p:nvPr/>
          </p:nvGrpSpPr>
          <p:grpSpPr>
            <a:xfrm>
              <a:off x="782883" y="723052"/>
              <a:ext cx="3048003" cy="4700697"/>
              <a:chOff x="0" y="0"/>
              <a:chExt cx="3048001" cy="4700695"/>
            </a:xfrm>
          </p:grpSpPr>
          <p:sp>
            <p:nvSpPr>
              <p:cNvPr id="325" name="Shape 77"/>
              <p:cNvSpPr/>
              <p:nvPr/>
            </p:nvSpPr>
            <p:spPr>
              <a:xfrm>
                <a:off x="0" y="-1"/>
                <a:ext cx="3048001" cy="4700697"/>
              </a:xfrm>
              <a:prstGeom prst="rect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" name="Shape 78"/>
              <p:cNvSpPr/>
              <p:nvPr/>
            </p:nvSpPr>
            <p:spPr>
              <a:xfrm>
                <a:off x="0" y="611293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" name="Shape 79"/>
              <p:cNvSpPr/>
              <p:nvPr/>
            </p:nvSpPr>
            <p:spPr>
              <a:xfrm>
                <a:off x="0" y="1293142"/>
                <a:ext cx="3048002" cy="22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8" name="Shape 80"/>
              <p:cNvSpPr/>
              <p:nvPr/>
            </p:nvSpPr>
            <p:spPr>
              <a:xfrm>
                <a:off x="0" y="1974991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9" name="Shape 81"/>
              <p:cNvSpPr/>
              <p:nvPr/>
            </p:nvSpPr>
            <p:spPr>
              <a:xfrm>
                <a:off x="0" y="2656841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0" name="Shape 82"/>
              <p:cNvSpPr/>
              <p:nvPr/>
            </p:nvSpPr>
            <p:spPr>
              <a:xfrm>
                <a:off x="0" y="3340947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1" name="Shape 83"/>
              <p:cNvSpPr/>
              <p:nvPr/>
            </p:nvSpPr>
            <p:spPr>
              <a:xfrm>
                <a:off x="0" y="4022796"/>
                <a:ext cx="3048002" cy="22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2" name="Shape 84"/>
              <p:cNvSpPr/>
              <p:nvPr/>
            </p:nvSpPr>
            <p:spPr>
              <a:xfrm>
                <a:off x="1178559" y="-1"/>
                <a:ext cx="2260" cy="470069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34" name="Shape 86"/>
            <p:cNvSpPr/>
            <p:nvPr/>
          </p:nvSpPr>
          <p:spPr>
            <a:xfrm>
              <a:off x="703861" y="0"/>
              <a:ext cx="1498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data</a:t>
              </a:r>
            </a:p>
          </p:txBody>
        </p:sp>
        <p:sp>
          <p:nvSpPr>
            <p:cNvPr id="335" name="Shape 87"/>
            <p:cNvSpPr/>
            <p:nvPr/>
          </p:nvSpPr>
          <p:spPr>
            <a:xfrm>
              <a:off x="2455898" y="675075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336" name="Shape 88"/>
            <p:cNvSpPr/>
            <p:nvPr/>
          </p:nvSpPr>
          <p:spPr>
            <a:xfrm>
              <a:off x="2455898" y="1329830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37" name="Shape 89"/>
            <p:cNvSpPr/>
            <p:nvPr/>
          </p:nvSpPr>
          <p:spPr>
            <a:xfrm>
              <a:off x="2455898" y="1946205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38" name="Shape 90"/>
            <p:cNvSpPr/>
            <p:nvPr/>
          </p:nvSpPr>
          <p:spPr>
            <a:xfrm>
              <a:off x="2455898" y="2560320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39" name="Shape 91"/>
            <p:cNvSpPr/>
            <p:nvPr/>
          </p:nvSpPr>
          <p:spPr>
            <a:xfrm>
              <a:off x="2455898" y="3276036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40" name="Shape 92"/>
            <p:cNvSpPr/>
            <p:nvPr/>
          </p:nvSpPr>
          <p:spPr>
            <a:xfrm>
              <a:off x="2455898" y="3994008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41" name="Shape 93"/>
            <p:cNvSpPr/>
            <p:nvPr/>
          </p:nvSpPr>
          <p:spPr>
            <a:xfrm>
              <a:off x="2450534" y="4709724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42" name="Shape 94"/>
            <p:cNvSpPr/>
            <p:nvPr/>
          </p:nvSpPr>
          <p:spPr>
            <a:xfrm>
              <a:off x="2130776" y="13546"/>
              <a:ext cx="20574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parent</a:t>
              </a:r>
            </a:p>
          </p:txBody>
        </p:sp>
        <p:sp>
          <p:nvSpPr>
            <p:cNvPr id="343" name="Shape 95"/>
            <p:cNvSpPr/>
            <p:nvPr/>
          </p:nvSpPr>
          <p:spPr>
            <a:xfrm>
              <a:off x="1016000" y="7230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44" name="Shape 96"/>
            <p:cNvSpPr/>
            <p:nvPr/>
          </p:nvSpPr>
          <p:spPr>
            <a:xfrm>
              <a:off x="1016000" y="13834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45" name="Shape 97"/>
            <p:cNvSpPr/>
            <p:nvPr/>
          </p:nvSpPr>
          <p:spPr>
            <a:xfrm>
              <a:off x="1016000" y="19930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46" name="Shape 98"/>
            <p:cNvSpPr/>
            <p:nvPr/>
          </p:nvSpPr>
          <p:spPr>
            <a:xfrm>
              <a:off x="1016000" y="26153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47" name="Shape 99"/>
            <p:cNvSpPr/>
            <p:nvPr/>
          </p:nvSpPr>
          <p:spPr>
            <a:xfrm>
              <a:off x="1016000" y="33265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48" name="Shape 100"/>
            <p:cNvSpPr/>
            <p:nvPr/>
          </p:nvSpPr>
          <p:spPr>
            <a:xfrm>
              <a:off x="1016000" y="40504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49" name="Shape 101"/>
            <p:cNvSpPr/>
            <p:nvPr/>
          </p:nvSpPr>
          <p:spPr>
            <a:xfrm>
              <a:off x="1016000" y="47616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50" name="Shape 102"/>
            <p:cNvSpPr/>
            <p:nvPr/>
          </p:nvSpPr>
          <p:spPr>
            <a:xfrm>
              <a:off x="0" y="7230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51" name="Shape 103"/>
            <p:cNvSpPr/>
            <p:nvPr/>
          </p:nvSpPr>
          <p:spPr>
            <a:xfrm>
              <a:off x="0" y="13834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52" name="Shape 104"/>
            <p:cNvSpPr/>
            <p:nvPr/>
          </p:nvSpPr>
          <p:spPr>
            <a:xfrm>
              <a:off x="0" y="19930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53" name="Shape 105"/>
            <p:cNvSpPr/>
            <p:nvPr/>
          </p:nvSpPr>
          <p:spPr>
            <a:xfrm>
              <a:off x="0" y="26153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54" name="Shape 106"/>
            <p:cNvSpPr/>
            <p:nvPr/>
          </p:nvSpPr>
          <p:spPr>
            <a:xfrm>
              <a:off x="0" y="33265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55" name="Shape 107"/>
            <p:cNvSpPr/>
            <p:nvPr/>
          </p:nvSpPr>
          <p:spPr>
            <a:xfrm>
              <a:off x="0" y="40504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56" name="Shape 108"/>
            <p:cNvSpPr/>
            <p:nvPr/>
          </p:nvSpPr>
          <p:spPr>
            <a:xfrm>
              <a:off x="0" y="47616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78" name="Group 74"/>
          <p:cNvGrpSpPr/>
          <p:nvPr/>
        </p:nvGrpSpPr>
        <p:grpSpPr>
          <a:xfrm>
            <a:off x="223722" y="1821918"/>
            <a:ext cx="3134928" cy="4507374"/>
            <a:chOff x="0" y="0"/>
            <a:chExt cx="3134926" cy="4507373"/>
          </a:xfrm>
        </p:grpSpPr>
        <p:sp>
          <p:nvSpPr>
            <p:cNvPr id="358" name="Shape 54"/>
            <p:cNvSpPr/>
            <p:nvPr/>
          </p:nvSpPr>
          <p:spPr>
            <a:xfrm>
              <a:off x="1919675" y="549486"/>
              <a:ext cx="745069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9" name="Shape 55"/>
            <p:cNvSpPr/>
            <p:nvPr/>
          </p:nvSpPr>
          <p:spPr>
            <a:xfrm flipH="1">
              <a:off x="373097" y="590126"/>
              <a:ext cx="934722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0" name="Shape 56"/>
            <p:cNvSpPr/>
            <p:nvPr/>
          </p:nvSpPr>
          <p:spPr>
            <a:xfrm>
              <a:off x="1212991" y="79867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1" name="Shape 57"/>
            <p:cNvSpPr txBox="1"/>
            <p:nvPr/>
          </p:nvSpPr>
          <p:spPr>
            <a:xfrm>
              <a:off x="1334247" y="-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62" name="Shape 58"/>
            <p:cNvSpPr/>
            <p:nvPr/>
          </p:nvSpPr>
          <p:spPr>
            <a:xfrm>
              <a:off x="1212991" y="127197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3" name="Shape 59"/>
            <p:cNvSpPr/>
            <p:nvPr/>
          </p:nvSpPr>
          <p:spPr>
            <a:xfrm>
              <a:off x="0" y="127197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4" name="Shape 60"/>
            <p:cNvSpPr/>
            <p:nvPr/>
          </p:nvSpPr>
          <p:spPr>
            <a:xfrm>
              <a:off x="2387600" y="123133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5" name="Shape 61"/>
            <p:cNvSpPr/>
            <p:nvPr/>
          </p:nvSpPr>
          <p:spPr>
            <a:xfrm>
              <a:off x="747889" y="2549877"/>
              <a:ext cx="745069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6" name="Shape 62"/>
            <p:cNvSpPr/>
            <p:nvPr/>
          </p:nvSpPr>
          <p:spPr>
            <a:xfrm>
              <a:off x="1865488" y="2549877"/>
              <a:ext cx="747327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7" name="Shape 63"/>
            <p:cNvSpPr/>
            <p:nvPr/>
          </p:nvSpPr>
          <p:spPr>
            <a:xfrm>
              <a:off x="1865488" y="3825523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8" name="Shape 64"/>
            <p:cNvSpPr txBox="1"/>
            <p:nvPr/>
          </p:nvSpPr>
          <p:spPr>
            <a:xfrm>
              <a:off x="111427" y="125842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69" name="Shape 65"/>
            <p:cNvSpPr txBox="1"/>
            <p:nvPr/>
          </p:nvSpPr>
          <p:spPr>
            <a:xfrm>
              <a:off x="1334014" y="125842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70" name="Shape 66"/>
            <p:cNvSpPr txBox="1"/>
            <p:nvPr/>
          </p:nvSpPr>
          <p:spPr>
            <a:xfrm>
              <a:off x="2526353" y="1197468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71" name="Shape 67"/>
            <p:cNvSpPr txBox="1"/>
            <p:nvPr/>
          </p:nvSpPr>
          <p:spPr>
            <a:xfrm>
              <a:off x="879074" y="253633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72" name="Shape 68"/>
            <p:cNvSpPr txBox="1"/>
            <p:nvPr/>
          </p:nvSpPr>
          <p:spPr>
            <a:xfrm>
              <a:off x="2018902" y="253633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73" name="Shape 69"/>
            <p:cNvSpPr txBox="1"/>
            <p:nvPr/>
          </p:nvSpPr>
          <p:spPr>
            <a:xfrm>
              <a:off x="1986744" y="3834553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74" name="Shape 70"/>
            <p:cNvSpPr/>
            <p:nvPr/>
          </p:nvSpPr>
          <p:spPr>
            <a:xfrm>
              <a:off x="1587782" y="761717"/>
              <a:ext cx="2259" cy="5102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5" name="Shape 71"/>
            <p:cNvSpPr/>
            <p:nvPr/>
          </p:nvSpPr>
          <p:spPr>
            <a:xfrm flipH="1">
              <a:off x="1117600" y="1868029"/>
              <a:ext cx="187397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6" name="Shape 72"/>
            <p:cNvSpPr/>
            <p:nvPr/>
          </p:nvSpPr>
          <p:spPr>
            <a:xfrm>
              <a:off x="1865488" y="1868029"/>
              <a:ext cx="374793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Shape 73"/>
            <p:cNvSpPr/>
            <p:nvPr/>
          </p:nvSpPr>
          <p:spPr>
            <a:xfrm>
              <a:off x="2235200" y="3229469"/>
              <a:ext cx="2259" cy="5969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树的链式实现</a:t>
            </a:r>
          </a:p>
        </p:txBody>
      </p:sp>
      <p:grpSp>
        <p:nvGrpSpPr>
          <p:cNvPr id="389" name="成组"/>
          <p:cNvGrpSpPr/>
          <p:nvPr/>
        </p:nvGrpSpPr>
        <p:grpSpPr>
          <a:xfrm>
            <a:off x="2328685" y="1422400"/>
            <a:ext cx="1831576" cy="1511358"/>
            <a:chOff x="0" y="0"/>
            <a:chExt cx="1831574" cy="1511357"/>
          </a:xfrm>
        </p:grpSpPr>
        <p:sp>
          <p:nvSpPr>
            <p:cNvPr id="383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4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5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7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90" name="Shape 135"/>
          <p:cNvSpPr txBox="1"/>
          <p:nvPr/>
        </p:nvSpPr>
        <p:spPr>
          <a:xfrm>
            <a:off x="5447400" y="3222750"/>
            <a:ext cx="184123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a.结点同构</a:t>
            </a:r>
          </a:p>
        </p:txBody>
      </p:sp>
      <p:grpSp>
        <p:nvGrpSpPr>
          <p:cNvPr id="395" name="成组"/>
          <p:cNvGrpSpPr/>
          <p:nvPr/>
        </p:nvGrpSpPr>
        <p:grpSpPr>
          <a:xfrm>
            <a:off x="2603578" y="4124450"/>
            <a:ext cx="1078273" cy="1511359"/>
            <a:chOff x="0" y="0"/>
            <a:chExt cx="1078272" cy="1511357"/>
          </a:xfrm>
        </p:grpSpPr>
        <p:sp>
          <p:nvSpPr>
            <p:cNvPr id="391" name="Shape 136"/>
            <p:cNvSpPr/>
            <p:nvPr/>
          </p:nvSpPr>
          <p:spPr>
            <a:xfrm>
              <a:off x="222208" y="0"/>
              <a:ext cx="790577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" name="Shape 137"/>
            <p:cNvSpPr/>
            <p:nvPr/>
          </p:nvSpPr>
          <p:spPr>
            <a:xfrm flipH="1">
              <a:off x="-1" y="705167"/>
              <a:ext cx="463511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3" name="Shape 138"/>
            <p:cNvSpPr/>
            <p:nvPr/>
          </p:nvSpPr>
          <p:spPr>
            <a:xfrm>
              <a:off x="742908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4" name="Shape 139"/>
            <p:cNvSpPr/>
            <p:nvPr/>
          </p:nvSpPr>
          <p:spPr>
            <a:xfrm flipH="1">
              <a:off x="593357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01" name="成组"/>
          <p:cNvGrpSpPr/>
          <p:nvPr/>
        </p:nvGrpSpPr>
        <p:grpSpPr>
          <a:xfrm>
            <a:off x="5354479" y="4124450"/>
            <a:ext cx="1793476" cy="1492874"/>
            <a:chOff x="0" y="0"/>
            <a:chExt cx="1793474" cy="1492872"/>
          </a:xfrm>
        </p:grpSpPr>
        <p:sp>
          <p:nvSpPr>
            <p:cNvPr id="396" name="Shape 141"/>
            <p:cNvSpPr/>
            <p:nvPr/>
          </p:nvSpPr>
          <p:spPr>
            <a:xfrm>
              <a:off x="5066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7" name="Shape 142"/>
            <p:cNvSpPr/>
            <p:nvPr/>
          </p:nvSpPr>
          <p:spPr>
            <a:xfrm flipH="1">
              <a:off x="-1" y="7051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8" name="Shape 143"/>
            <p:cNvSpPr/>
            <p:nvPr/>
          </p:nvSpPr>
          <p:spPr>
            <a:xfrm flipH="1">
              <a:off x="373299" y="733671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9" name="Shape 144"/>
            <p:cNvSpPr/>
            <p:nvPr/>
          </p:nvSpPr>
          <p:spPr>
            <a:xfrm>
              <a:off x="11217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0" name="Shape 145"/>
            <p:cNvSpPr/>
            <p:nvPr/>
          </p:nvSpPr>
          <p:spPr>
            <a:xfrm>
              <a:off x="970439" y="736219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08" name="成组"/>
          <p:cNvGrpSpPr/>
          <p:nvPr/>
        </p:nvGrpSpPr>
        <p:grpSpPr>
          <a:xfrm>
            <a:off x="8300879" y="4124450"/>
            <a:ext cx="1831575" cy="1511392"/>
            <a:chOff x="0" y="0"/>
            <a:chExt cx="1831574" cy="1511390"/>
          </a:xfrm>
        </p:grpSpPr>
        <p:sp>
          <p:nvSpPr>
            <p:cNvPr id="402" name="Shape 147"/>
            <p:cNvSpPr/>
            <p:nvPr/>
          </p:nvSpPr>
          <p:spPr>
            <a:xfrm>
              <a:off x="544706" y="0"/>
              <a:ext cx="790579" cy="75247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3" name="Shape 148"/>
            <p:cNvSpPr/>
            <p:nvPr/>
          </p:nvSpPr>
          <p:spPr>
            <a:xfrm flipH="1">
              <a:off x="-1" y="641667"/>
              <a:ext cx="671709" cy="67171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4" name="Shape 149"/>
            <p:cNvSpPr/>
            <p:nvPr/>
          </p:nvSpPr>
          <p:spPr>
            <a:xfrm flipH="1">
              <a:off x="322499" y="705167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5" name="Shape 150"/>
            <p:cNvSpPr/>
            <p:nvPr/>
          </p:nvSpPr>
          <p:spPr>
            <a:xfrm>
              <a:off x="1159865" y="705168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6" name="Shape 151"/>
            <p:cNvSpPr/>
            <p:nvPr/>
          </p:nvSpPr>
          <p:spPr>
            <a:xfrm>
              <a:off x="1065407" y="754577"/>
              <a:ext cx="335365" cy="7535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7" name="Shape 152"/>
            <p:cNvSpPr/>
            <p:nvPr/>
          </p:nvSpPr>
          <p:spPr>
            <a:xfrm flipH="1">
              <a:off x="918866" y="749388"/>
              <a:ext cx="2" cy="76200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409" name="Shape 155"/>
          <p:cNvSpPr txBox="1"/>
          <p:nvPr/>
        </p:nvSpPr>
        <p:spPr>
          <a:xfrm>
            <a:off x="5256460" y="6001002"/>
            <a:ext cx="18612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b.结点异构</a:t>
            </a:r>
          </a:p>
        </p:txBody>
      </p:sp>
      <p:grpSp>
        <p:nvGrpSpPr>
          <p:cNvPr id="416" name="成组"/>
          <p:cNvGrpSpPr/>
          <p:nvPr/>
        </p:nvGrpSpPr>
        <p:grpSpPr>
          <a:xfrm>
            <a:off x="5563372" y="1419294"/>
            <a:ext cx="1831576" cy="1511359"/>
            <a:chOff x="0" y="0"/>
            <a:chExt cx="1831574" cy="1511357"/>
          </a:xfrm>
        </p:grpSpPr>
        <p:sp>
          <p:nvSpPr>
            <p:cNvPr id="410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1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2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3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4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5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23" name="成组"/>
          <p:cNvGrpSpPr/>
          <p:nvPr/>
        </p:nvGrpSpPr>
        <p:grpSpPr>
          <a:xfrm>
            <a:off x="8560528" y="1422400"/>
            <a:ext cx="1831576" cy="1511358"/>
            <a:chOff x="0" y="0"/>
            <a:chExt cx="1831574" cy="1511357"/>
          </a:xfrm>
        </p:grpSpPr>
        <p:sp>
          <p:nvSpPr>
            <p:cNvPr id="417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8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9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0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1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2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树的链式实现</a:t>
            </a:r>
          </a:p>
        </p:txBody>
      </p:sp>
      <p:sp>
        <p:nvSpPr>
          <p:cNvPr id="426" name="节点有可变个引用："/>
          <p:cNvSpPr txBox="1"/>
          <p:nvPr/>
        </p:nvSpPr>
        <p:spPr>
          <a:xfrm>
            <a:off x="281500" y="1082306"/>
            <a:ext cx="3601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节点有</a:t>
            </a:r>
            <a:r>
              <a:rPr>
                <a:solidFill>
                  <a:schemeClr val="accent1"/>
                </a:solidFill>
              </a:rPr>
              <a:t>可变个引用：</a:t>
            </a:r>
          </a:p>
        </p:txBody>
      </p:sp>
      <p:sp>
        <p:nvSpPr>
          <p:cNvPr id="427" name="public class Node&lt;T&gt;{…"/>
          <p:cNvSpPr txBox="1"/>
          <p:nvPr/>
        </p:nvSpPr>
        <p:spPr>
          <a:xfrm>
            <a:off x="1675919" y="1897912"/>
            <a:ext cx="9652962" cy="349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T[] </a:t>
            </a:r>
            <a:r>
              <a:t>subTrees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public</a:t>
            </a:r>
            <a:r>
              <a:rPr>
                <a:solidFill>
                  <a:srgbClr val="000000"/>
                </a:solidFill>
              </a:rPr>
              <a:t> Node(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){// new 的时候给定子树的个数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 = (T[])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Object[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342"/>
          <p:cNvSpPr/>
          <p:nvPr/>
        </p:nvSpPr>
        <p:spPr>
          <a:xfrm flipH="1">
            <a:off x="8946443" y="2431626"/>
            <a:ext cx="609602" cy="609602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0" name="Shape 343"/>
          <p:cNvSpPr/>
          <p:nvPr/>
        </p:nvSpPr>
        <p:spPr>
          <a:xfrm>
            <a:off x="9425092" y="3273776"/>
            <a:ext cx="1025034" cy="715718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1" name="Shape 344"/>
          <p:cNvSpPr/>
          <p:nvPr/>
        </p:nvSpPr>
        <p:spPr>
          <a:xfrm flipH="1">
            <a:off x="9398000" y="4287520"/>
            <a:ext cx="591539" cy="681850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2" name="Shape 345"/>
          <p:cNvSpPr/>
          <p:nvPr/>
        </p:nvSpPr>
        <p:spPr>
          <a:xfrm>
            <a:off x="11095849" y="4273972"/>
            <a:ext cx="1025033" cy="715718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3" name="Shape 346"/>
          <p:cNvSpPr/>
          <p:nvPr/>
        </p:nvSpPr>
        <p:spPr>
          <a:xfrm>
            <a:off x="9766017" y="5389314"/>
            <a:ext cx="611860" cy="609602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4" name="Shape 347"/>
          <p:cNvSpPr/>
          <p:nvPr/>
        </p:nvSpPr>
        <p:spPr>
          <a:xfrm flipH="1">
            <a:off x="9458959" y="6310488"/>
            <a:ext cx="408660" cy="609602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5" name="Shape 348"/>
          <p:cNvSpPr/>
          <p:nvPr/>
        </p:nvSpPr>
        <p:spPr>
          <a:xfrm>
            <a:off x="2537741" y="2209800"/>
            <a:ext cx="672820" cy="609600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6" name="Shape 349"/>
          <p:cNvSpPr/>
          <p:nvPr/>
        </p:nvSpPr>
        <p:spPr>
          <a:xfrm flipH="1">
            <a:off x="1126631" y="2226168"/>
            <a:ext cx="844411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7" name="Shape 350"/>
          <p:cNvSpPr/>
          <p:nvPr/>
        </p:nvSpPr>
        <p:spPr>
          <a:xfrm flipH="1">
            <a:off x="1801705" y="3325705"/>
            <a:ext cx="169336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8" name="Shape 351"/>
          <p:cNvSpPr/>
          <p:nvPr/>
        </p:nvSpPr>
        <p:spPr>
          <a:xfrm>
            <a:off x="2223911" y="2422595"/>
            <a:ext cx="2258" cy="458331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39" name="Shape 352"/>
          <p:cNvSpPr/>
          <p:nvPr/>
        </p:nvSpPr>
        <p:spPr>
          <a:xfrm>
            <a:off x="2476499" y="3339253"/>
            <a:ext cx="338668" cy="6858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0" name="Shape 353"/>
          <p:cNvSpPr/>
          <p:nvPr/>
        </p:nvSpPr>
        <p:spPr>
          <a:xfrm>
            <a:off x="2813190" y="4483099"/>
            <a:ext cx="2261" cy="532837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1" name="Shape 354"/>
          <p:cNvSpPr/>
          <p:nvPr/>
        </p:nvSpPr>
        <p:spPr>
          <a:xfrm>
            <a:off x="1885244" y="1812994"/>
            <a:ext cx="675077" cy="609603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2" name="Shape 355"/>
          <p:cNvSpPr txBox="1"/>
          <p:nvPr/>
        </p:nvSpPr>
        <p:spPr>
          <a:xfrm>
            <a:off x="1925883" y="1702363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443" name="Shape 356"/>
          <p:cNvSpPr/>
          <p:nvPr/>
        </p:nvSpPr>
        <p:spPr>
          <a:xfrm>
            <a:off x="1885244" y="2832100"/>
            <a:ext cx="675077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4" name="Shape 357"/>
          <p:cNvSpPr/>
          <p:nvPr/>
        </p:nvSpPr>
        <p:spPr>
          <a:xfrm>
            <a:off x="767643" y="2832100"/>
            <a:ext cx="675080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5" name="Shape 358"/>
          <p:cNvSpPr/>
          <p:nvPr/>
        </p:nvSpPr>
        <p:spPr>
          <a:xfrm>
            <a:off x="2912533" y="2790612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6" name="Shape 359"/>
          <p:cNvSpPr/>
          <p:nvPr/>
        </p:nvSpPr>
        <p:spPr>
          <a:xfrm>
            <a:off x="1465296" y="3935305"/>
            <a:ext cx="672822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7" name="Shape 360"/>
          <p:cNvSpPr/>
          <p:nvPr/>
        </p:nvSpPr>
        <p:spPr>
          <a:xfrm>
            <a:off x="2476500" y="3912729"/>
            <a:ext cx="675076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8" name="Shape 361"/>
          <p:cNvSpPr/>
          <p:nvPr/>
        </p:nvSpPr>
        <p:spPr>
          <a:xfrm>
            <a:off x="2476500" y="5012266"/>
            <a:ext cx="675076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49" name="Shape 362"/>
          <p:cNvSpPr txBox="1"/>
          <p:nvPr/>
        </p:nvSpPr>
        <p:spPr>
          <a:xfrm>
            <a:off x="799253" y="2747715"/>
            <a:ext cx="493990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450" name="Shape 363"/>
          <p:cNvSpPr txBox="1"/>
          <p:nvPr/>
        </p:nvSpPr>
        <p:spPr>
          <a:xfrm>
            <a:off x="1901047" y="2770292"/>
            <a:ext cx="493991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451" name="Shape 364"/>
          <p:cNvSpPr txBox="1"/>
          <p:nvPr/>
        </p:nvSpPr>
        <p:spPr>
          <a:xfrm>
            <a:off x="2950915" y="2725136"/>
            <a:ext cx="520618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452" name="Shape 365"/>
          <p:cNvSpPr txBox="1"/>
          <p:nvPr/>
        </p:nvSpPr>
        <p:spPr>
          <a:xfrm>
            <a:off x="1496906" y="3824675"/>
            <a:ext cx="466891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453" name="Shape 366"/>
          <p:cNvSpPr txBox="1"/>
          <p:nvPr/>
        </p:nvSpPr>
        <p:spPr>
          <a:xfrm>
            <a:off x="2555804" y="3802096"/>
            <a:ext cx="44049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454" name="Shape 367"/>
          <p:cNvSpPr txBox="1"/>
          <p:nvPr/>
        </p:nvSpPr>
        <p:spPr>
          <a:xfrm>
            <a:off x="2467750" y="4924212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grpSp>
        <p:nvGrpSpPr>
          <p:cNvPr id="461" name="Group 374"/>
          <p:cNvGrpSpPr/>
          <p:nvPr/>
        </p:nvGrpSpPr>
        <p:grpSpPr>
          <a:xfrm>
            <a:off x="8025271" y="3045742"/>
            <a:ext cx="1625602" cy="616375"/>
            <a:chOff x="0" y="0"/>
            <a:chExt cx="1625600" cy="616374"/>
          </a:xfrm>
        </p:grpSpPr>
        <p:sp>
          <p:nvSpPr>
            <p:cNvPr id="455" name="Shape 368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6" name="Shape 369"/>
            <p:cNvSpPr/>
            <p:nvPr/>
          </p:nvSpPr>
          <p:spPr>
            <a:xfrm>
              <a:off x="433492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7" name="Shape 370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8" name="Shape 371"/>
            <p:cNvSpPr/>
            <p:nvPr/>
          </p:nvSpPr>
          <p:spPr>
            <a:xfrm flipH="1">
              <a:off x="108373" y="129257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9" name="Shape 372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0" name="Shape 373"/>
            <p:cNvSpPr txBox="1"/>
            <p:nvPr/>
          </p:nvSpPr>
          <p:spPr>
            <a:xfrm>
              <a:off x="535092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466" name="Group 379"/>
          <p:cNvGrpSpPr/>
          <p:nvPr/>
        </p:nvGrpSpPr>
        <p:grpSpPr>
          <a:xfrm>
            <a:off x="9698284" y="4012071"/>
            <a:ext cx="1625601" cy="616375"/>
            <a:chOff x="0" y="0"/>
            <a:chExt cx="1625600" cy="616374"/>
          </a:xfrm>
        </p:grpSpPr>
        <p:sp>
          <p:nvSpPr>
            <p:cNvPr id="462" name="Shape 375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3" name="Shape 376"/>
            <p:cNvSpPr/>
            <p:nvPr/>
          </p:nvSpPr>
          <p:spPr>
            <a:xfrm>
              <a:off x="433492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4" name="Shape 377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5" name="Shape 378"/>
            <p:cNvSpPr txBox="1"/>
            <p:nvPr/>
          </p:nvSpPr>
          <p:spPr>
            <a:xfrm>
              <a:off x="535092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473" name="Group 386"/>
          <p:cNvGrpSpPr/>
          <p:nvPr/>
        </p:nvGrpSpPr>
        <p:grpSpPr>
          <a:xfrm>
            <a:off x="8363938" y="4969369"/>
            <a:ext cx="1625602" cy="616376"/>
            <a:chOff x="0" y="0"/>
            <a:chExt cx="1625600" cy="616374"/>
          </a:xfrm>
        </p:grpSpPr>
        <p:sp>
          <p:nvSpPr>
            <p:cNvPr id="467" name="Shape 380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8" name="Shape 381"/>
            <p:cNvSpPr/>
            <p:nvPr/>
          </p:nvSpPr>
          <p:spPr>
            <a:xfrm>
              <a:off x="433492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9" name="Shape 382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0" name="Shape 383"/>
            <p:cNvSpPr/>
            <p:nvPr/>
          </p:nvSpPr>
          <p:spPr>
            <a:xfrm flipH="1">
              <a:off x="108373" y="133208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1" name="Shape 384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2" name="Shape 385"/>
            <p:cNvSpPr txBox="1"/>
            <p:nvPr/>
          </p:nvSpPr>
          <p:spPr>
            <a:xfrm>
              <a:off x="535092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481" name="Group 394"/>
          <p:cNvGrpSpPr/>
          <p:nvPr/>
        </p:nvGrpSpPr>
        <p:grpSpPr>
          <a:xfrm>
            <a:off x="9603458" y="6005688"/>
            <a:ext cx="1625601" cy="616377"/>
            <a:chOff x="0" y="0"/>
            <a:chExt cx="1625600" cy="616376"/>
          </a:xfrm>
        </p:grpSpPr>
        <p:grpSp>
          <p:nvGrpSpPr>
            <p:cNvPr id="476" name="Group 389"/>
            <p:cNvGrpSpPr/>
            <p:nvPr/>
          </p:nvGrpSpPr>
          <p:grpSpPr>
            <a:xfrm>
              <a:off x="1338863" y="158044"/>
              <a:ext cx="222675" cy="298030"/>
              <a:chOff x="0" y="0"/>
              <a:chExt cx="222673" cy="298029"/>
            </a:xfrm>
          </p:grpSpPr>
          <p:sp>
            <p:nvSpPr>
              <p:cNvPr id="474" name="Shape 387"/>
              <p:cNvSpPr/>
              <p:nvPr/>
            </p:nvSpPr>
            <p:spPr>
              <a:xfrm flipH="1">
                <a:off x="0" y="-1"/>
                <a:ext cx="114301" cy="264165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5" name="Shape 388"/>
              <p:cNvSpPr/>
              <p:nvPr/>
            </p:nvSpPr>
            <p:spPr>
              <a:xfrm>
                <a:off x="108373" y="33866"/>
                <a:ext cx="114302" cy="264164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77" name="Shape 390"/>
            <p:cNvSpPr/>
            <p:nvPr/>
          </p:nvSpPr>
          <p:spPr>
            <a:xfrm>
              <a:off x="0" y="0"/>
              <a:ext cx="1625601" cy="616377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8" name="Shape 391"/>
            <p:cNvSpPr/>
            <p:nvPr/>
          </p:nvSpPr>
          <p:spPr>
            <a:xfrm>
              <a:off x="433493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9" name="Shape 392"/>
            <p:cNvSpPr/>
            <p:nvPr/>
          </p:nvSpPr>
          <p:spPr>
            <a:xfrm>
              <a:off x="1242341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0" name="Shape 393"/>
            <p:cNvSpPr txBox="1"/>
            <p:nvPr/>
          </p:nvSpPr>
          <p:spPr>
            <a:xfrm>
              <a:off x="535093" y="-1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491" name="Group 404"/>
          <p:cNvGrpSpPr/>
          <p:nvPr/>
        </p:nvGrpSpPr>
        <p:grpSpPr>
          <a:xfrm>
            <a:off x="8454249" y="6926861"/>
            <a:ext cx="1625602" cy="616376"/>
            <a:chOff x="0" y="0"/>
            <a:chExt cx="1625600" cy="616374"/>
          </a:xfrm>
        </p:grpSpPr>
        <p:grpSp>
          <p:nvGrpSpPr>
            <p:cNvPr id="484" name="Group 397"/>
            <p:cNvGrpSpPr/>
            <p:nvPr/>
          </p:nvGrpSpPr>
          <p:grpSpPr>
            <a:xfrm>
              <a:off x="1318541" y="205458"/>
              <a:ext cx="222677" cy="298029"/>
              <a:chOff x="0" y="0"/>
              <a:chExt cx="222675" cy="298028"/>
            </a:xfrm>
          </p:grpSpPr>
          <p:sp>
            <p:nvSpPr>
              <p:cNvPr id="482" name="Shape 395"/>
              <p:cNvSpPr/>
              <p:nvPr/>
            </p:nvSpPr>
            <p:spPr>
              <a:xfrm flipH="1">
                <a:off x="0" y="0"/>
                <a:ext cx="114302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3" name="Shape 396"/>
              <p:cNvSpPr/>
              <p:nvPr/>
            </p:nvSpPr>
            <p:spPr>
              <a:xfrm>
                <a:off x="108374" y="33866"/>
                <a:ext cx="114303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85" name="Shape 398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6" name="Shape 399"/>
            <p:cNvSpPr/>
            <p:nvPr/>
          </p:nvSpPr>
          <p:spPr>
            <a:xfrm>
              <a:off x="433493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7" name="Shape 400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8" name="Shape 401"/>
            <p:cNvSpPr/>
            <p:nvPr/>
          </p:nvSpPr>
          <p:spPr>
            <a:xfrm flipH="1">
              <a:off x="108373" y="133208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9" name="Shape 402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0" name="Shape 403"/>
            <p:cNvSpPr txBox="1"/>
            <p:nvPr/>
          </p:nvSpPr>
          <p:spPr>
            <a:xfrm>
              <a:off x="535093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499" name="Group 412"/>
          <p:cNvGrpSpPr/>
          <p:nvPr/>
        </p:nvGrpSpPr>
        <p:grpSpPr>
          <a:xfrm>
            <a:off x="9355101" y="2124567"/>
            <a:ext cx="1625602" cy="616378"/>
            <a:chOff x="0" y="0"/>
            <a:chExt cx="1625600" cy="616376"/>
          </a:xfrm>
        </p:grpSpPr>
        <p:sp>
          <p:nvSpPr>
            <p:cNvPr id="492" name="Shape 405"/>
            <p:cNvSpPr/>
            <p:nvPr/>
          </p:nvSpPr>
          <p:spPr>
            <a:xfrm>
              <a:off x="0" y="0"/>
              <a:ext cx="1625601" cy="616377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3" name="Shape 406"/>
            <p:cNvSpPr/>
            <p:nvPr/>
          </p:nvSpPr>
          <p:spPr>
            <a:xfrm>
              <a:off x="433492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4" name="Shape 407"/>
            <p:cNvSpPr/>
            <p:nvPr/>
          </p:nvSpPr>
          <p:spPr>
            <a:xfrm>
              <a:off x="1241777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5" name="Shape 408"/>
            <p:cNvSpPr txBox="1"/>
            <p:nvPr/>
          </p:nvSpPr>
          <p:spPr>
            <a:xfrm>
              <a:off x="512515" y="-1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A</a:t>
              </a:r>
            </a:p>
          </p:txBody>
        </p:sp>
        <p:grpSp>
          <p:nvGrpSpPr>
            <p:cNvPr id="498" name="Group 411"/>
            <p:cNvGrpSpPr/>
            <p:nvPr/>
          </p:nvGrpSpPr>
          <p:grpSpPr>
            <a:xfrm>
              <a:off x="1341120" y="160302"/>
              <a:ext cx="222675" cy="298029"/>
              <a:chOff x="0" y="0"/>
              <a:chExt cx="222673" cy="298028"/>
            </a:xfrm>
          </p:grpSpPr>
          <p:sp>
            <p:nvSpPr>
              <p:cNvPr id="496" name="Shape 409"/>
              <p:cNvSpPr/>
              <p:nvPr/>
            </p:nvSpPr>
            <p:spPr>
              <a:xfrm flipH="1">
                <a:off x="0" y="-1"/>
                <a:ext cx="114301" cy="264164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7" name="Shape 410"/>
              <p:cNvSpPr/>
              <p:nvPr/>
            </p:nvSpPr>
            <p:spPr>
              <a:xfrm>
                <a:off x="108373" y="33866"/>
                <a:ext cx="114302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grpSp>
        <p:nvGrpSpPr>
          <p:cNvPr id="509" name="Group 422"/>
          <p:cNvGrpSpPr/>
          <p:nvPr/>
        </p:nvGrpSpPr>
        <p:grpSpPr>
          <a:xfrm>
            <a:off x="11174871" y="4991946"/>
            <a:ext cx="1625602" cy="616377"/>
            <a:chOff x="0" y="0"/>
            <a:chExt cx="1625600" cy="616376"/>
          </a:xfrm>
        </p:grpSpPr>
        <p:sp>
          <p:nvSpPr>
            <p:cNvPr id="500" name="Shape 413"/>
            <p:cNvSpPr/>
            <p:nvPr/>
          </p:nvSpPr>
          <p:spPr>
            <a:xfrm>
              <a:off x="0" y="0"/>
              <a:ext cx="1625601" cy="616377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1" name="Shape 414"/>
            <p:cNvSpPr/>
            <p:nvPr/>
          </p:nvSpPr>
          <p:spPr>
            <a:xfrm>
              <a:off x="433493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2" name="Shape 415"/>
            <p:cNvSpPr/>
            <p:nvPr/>
          </p:nvSpPr>
          <p:spPr>
            <a:xfrm>
              <a:off x="1245728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3" name="Shape 416"/>
            <p:cNvSpPr/>
            <p:nvPr/>
          </p:nvSpPr>
          <p:spPr>
            <a:xfrm flipH="1">
              <a:off x="108373" y="133208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4" name="Shape 417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5" name="Shape 418"/>
            <p:cNvSpPr txBox="1"/>
            <p:nvPr/>
          </p:nvSpPr>
          <p:spPr>
            <a:xfrm>
              <a:off x="535093" y="-1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/>
              <a:r>
                <a:t>D</a:t>
              </a:r>
            </a:p>
          </p:txBody>
        </p:sp>
        <p:grpSp>
          <p:nvGrpSpPr>
            <p:cNvPr id="508" name="Group 421"/>
            <p:cNvGrpSpPr/>
            <p:nvPr/>
          </p:nvGrpSpPr>
          <p:grpSpPr>
            <a:xfrm>
              <a:off x="1338863" y="160302"/>
              <a:ext cx="222675" cy="298029"/>
              <a:chOff x="0" y="0"/>
              <a:chExt cx="222673" cy="298028"/>
            </a:xfrm>
          </p:grpSpPr>
          <p:sp>
            <p:nvSpPr>
              <p:cNvPr id="506" name="Shape 419"/>
              <p:cNvSpPr/>
              <p:nvPr/>
            </p:nvSpPr>
            <p:spPr>
              <a:xfrm flipH="1">
                <a:off x="0" y="-1"/>
                <a:ext cx="114301" cy="264164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7" name="Shape 420"/>
              <p:cNvSpPr/>
              <p:nvPr/>
            </p:nvSpPr>
            <p:spPr>
              <a:xfrm>
                <a:off x="108373" y="33866"/>
                <a:ext cx="114302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510" name="Shape 423"/>
          <p:cNvSpPr txBox="1"/>
          <p:nvPr/>
        </p:nvSpPr>
        <p:spPr>
          <a:xfrm>
            <a:off x="7456110" y="1011258"/>
            <a:ext cx="1266133" cy="725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44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root</a:t>
            </a:r>
          </a:p>
        </p:txBody>
      </p:sp>
      <p:sp>
        <p:nvSpPr>
          <p:cNvPr id="511" name="Shape 424"/>
          <p:cNvSpPr/>
          <p:nvPr/>
        </p:nvSpPr>
        <p:spPr>
          <a:xfrm>
            <a:off x="8147191" y="1682044"/>
            <a:ext cx="1636890" cy="4109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040" y="2800"/>
                  <a:pt x="10080" y="5600"/>
                  <a:pt x="10800" y="7200"/>
                </a:cubicBezTo>
                <a:cubicBezTo>
                  <a:pt x="11520" y="8800"/>
                  <a:pt x="2520" y="7200"/>
                  <a:pt x="4320" y="9600"/>
                </a:cubicBezTo>
                <a:cubicBezTo>
                  <a:pt x="6120" y="12000"/>
                  <a:pt x="13860" y="16800"/>
                  <a:pt x="21600" y="21600"/>
                </a:cubicBezTo>
              </a:path>
            </a:pathLst>
          </a:custGeom>
          <a:ln w="28575" cap="sq">
            <a:solidFill>
              <a:srgbClr val="333399"/>
            </a:solidFill>
            <a:tailEnd type="triangle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2" name="Shape 425"/>
          <p:cNvSpPr/>
          <p:nvPr/>
        </p:nvSpPr>
        <p:spPr>
          <a:xfrm>
            <a:off x="5547359" y="3707270"/>
            <a:ext cx="810545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3" name="Shape 426"/>
          <p:cNvSpPr/>
          <p:nvPr/>
        </p:nvSpPr>
        <p:spPr>
          <a:xfrm flipH="1">
            <a:off x="4418470" y="2388729"/>
            <a:ext cx="844411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4" name="Shape 427"/>
          <p:cNvSpPr/>
          <p:nvPr/>
        </p:nvSpPr>
        <p:spPr>
          <a:xfrm flipH="1">
            <a:off x="4763911" y="3809999"/>
            <a:ext cx="609602" cy="408660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5" name="Shape 428"/>
          <p:cNvSpPr/>
          <p:nvPr/>
        </p:nvSpPr>
        <p:spPr>
          <a:xfrm>
            <a:off x="4727785" y="3093154"/>
            <a:ext cx="819575" cy="512518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6" name="Shape 429"/>
          <p:cNvSpPr/>
          <p:nvPr/>
        </p:nvSpPr>
        <p:spPr>
          <a:xfrm>
            <a:off x="4727786" y="4526843"/>
            <a:ext cx="1063414" cy="745069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7" name="Shape 430"/>
          <p:cNvSpPr/>
          <p:nvPr/>
        </p:nvSpPr>
        <p:spPr>
          <a:xfrm flipH="1">
            <a:off x="4793262" y="5346699"/>
            <a:ext cx="754100" cy="471877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8" name="Shape 431"/>
          <p:cNvSpPr/>
          <p:nvPr/>
        </p:nvSpPr>
        <p:spPr>
          <a:xfrm>
            <a:off x="5177083" y="1975554"/>
            <a:ext cx="675077" cy="609603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19" name="Shape 432"/>
          <p:cNvSpPr txBox="1"/>
          <p:nvPr/>
        </p:nvSpPr>
        <p:spPr>
          <a:xfrm>
            <a:off x="5217724" y="1864923"/>
            <a:ext cx="520618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20" name="Shape 433"/>
          <p:cNvSpPr/>
          <p:nvPr/>
        </p:nvSpPr>
        <p:spPr>
          <a:xfrm>
            <a:off x="5177083" y="3390900"/>
            <a:ext cx="675077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1" name="Shape 434"/>
          <p:cNvSpPr/>
          <p:nvPr/>
        </p:nvSpPr>
        <p:spPr>
          <a:xfrm>
            <a:off x="4156569" y="2668692"/>
            <a:ext cx="675077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2" name="Shape 435"/>
          <p:cNvSpPr/>
          <p:nvPr/>
        </p:nvSpPr>
        <p:spPr>
          <a:xfrm>
            <a:off x="6114062" y="4161083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3" name="Shape 436"/>
          <p:cNvSpPr/>
          <p:nvPr/>
        </p:nvSpPr>
        <p:spPr>
          <a:xfrm>
            <a:off x="4292600" y="4224301"/>
            <a:ext cx="672818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4" name="Shape 437"/>
          <p:cNvSpPr/>
          <p:nvPr/>
        </p:nvSpPr>
        <p:spPr>
          <a:xfrm>
            <a:off x="5348675" y="4944533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5" name="Shape 438"/>
          <p:cNvSpPr/>
          <p:nvPr/>
        </p:nvSpPr>
        <p:spPr>
          <a:xfrm>
            <a:off x="4452337" y="5818292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6" name="Shape 439"/>
          <p:cNvSpPr txBox="1"/>
          <p:nvPr/>
        </p:nvSpPr>
        <p:spPr>
          <a:xfrm>
            <a:off x="4188176" y="2580639"/>
            <a:ext cx="493991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527" name="Shape 440"/>
          <p:cNvSpPr txBox="1"/>
          <p:nvPr/>
        </p:nvSpPr>
        <p:spPr>
          <a:xfrm>
            <a:off x="5192888" y="3330221"/>
            <a:ext cx="49399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528" name="Shape 441"/>
          <p:cNvSpPr txBox="1"/>
          <p:nvPr/>
        </p:nvSpPr>
        <p:spPr>
          <a:xfrm>
            <a:off x="6152443" y="4095608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529" name="Shape 442"/>
          <p:cNvSpPr txBox="1"/>
          <p:nvPr/>
        </p:nvSpPr>
        <p:spPr>
          <a:xfrm>
            <a:off x="4330417" y="4113670"/>
            <a:ext cx="466891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530" name="Shape 443"/>
          <p:cNvSpPr txBox="1"/>
          <p:nvPr/>
        </p:nvSpPr>
        <p:spPr>
          <a:xfrm>
            <a:off x="5429954" y="4833901"/>
            <a:ext cx="44050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531" name="Shape 444"/>
          <p:cNvSpPr txBox="1"/>
          <p:nvPr/>
        </p:nvSpPr>
        <p:spPr>
          <a:xfrm>
            <a:off x="4445563" y="5730240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532" name="Shape 445"/>
          <p:cNvSpPr/>
          <p:nvPr/>
        </p:nvSpPr>
        <p:spPr>
          <a:xfrm>
            <a:off x="3840478" y="1141587"/>
            <a:ext cx="4" cy="6348310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33" name="Shape 446"/>
          <p:cNvSpPr/>
          <p:nvPr/>
        </p:nvSpPr>
        <p:spPr>
          <a:xfrm>
            <a:off x="7063456" y="1154287"/>
            <a:ext cx="5" cy="6535236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34" name="Shape 447"/>
          <p:cNvSpPr txBox="1"/>
          <p:nvPr/>
        </p:nvSpPr>
        <p:spPr>
          <a:xfrm>
            <a:off x="2212183" y="86642"/>
            <a:ext cx="831175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roup 177"/>
          <p:cNvGrpSpPr/>
          <p:nvPr/>
        </p:nvGrpSpPr>
        <p:grpSpPr>
          <a:xfrm>
            <a:off x="2640215" y="1978582"/>
            <a:ext cx="2799648" cy="4406727"/>
            <a:chOff x="0" y="0"/>
            <a:chExt cx="2799647" cy="4406725"/>
          </a:xfrm>
        </p:grpSpPr>
        <p:sp>
          <p:nvSpPr>
            <p:cNvPr id="536" name="Shape 157"/>
            <p:cNvSpPr/>
            <p:nvPr/>
          </p:nvSpPr>
          <p:spPr>
            <a:xfrm>
              <a:off x="1715716" y="536489"/>
              <a:ext cx="666104" cy="6667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7" name="Shape 158"/>
            <p:cNvSpPr/>
            <p:nvPr/>
          </p:nvSpPr>
          <p:spPr>
            <a:xfrm flipH="1">
              <a:off x="333050" y="576229"/>
              <a:ext cx="83565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8" name="Shape 159"/>
            <p:cNvSpPr/>
            <p:nvPr/>
          </p:nvSpPr>
          <p:spPr>
            <a:xfrm>
              <a:off x="1083928" y="77271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9" name="Shape 160"/>
            <p:cNvSpPr txBox="1"/>
            <p:nvPr/>
          </p:nvSpPr>
          <p:spPr>
            <a:xfrm>
              <a:off x="1166711" y="-1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540" name="Shape 161"/>
            <p:cNvSpPr/>
            <p:nvPr/>
          </p:nvSpPr>
          <p:spPr>
            <a:xfrm>
              <a:off x="1083928" y="124297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1" name="Shape 162"/>
            <p:cNvSpPr/>
            <p:nvPr/>
          </p:nvSpPr>
          <p:spPr>
            <a:xfrm>
              <a:off x="0" y="1242978"/>
              <a:ext cx="668121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2" name="Shape 163"/>
            <p:cNvSpPr/>
            <p:nvPr/>
          </p:nvSpPr>
          <p:spPr>
            <a:xfrm>
              <a:off x="2131525" y="120323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3" name="Shape 164"/>
            <p:cNvSpPr/>
            <p:nvPr/>
          </p:nvSpPr>
          <p:spPr>
            <a:xfrm>
              <a:off x="668119" y="2492580"/>
              <a:ext cx="666105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4" name="Shape 165"/>
            <p:cNvSpPr/>
            <p:nvPr/>
          </p:nvSpPr>
          <p:spPr>
            <a:xfrm>
              <a:off x="1667272" y="2492580"/>
              <a:ext cx="668123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5" name="Shape 166"/>
            <p:cNvSpPr/>
            <p:nvPr/>
          </p:nvSpPr>
          <p:spPr>
            <a:xfrm>
              <a:off x="1667272" y="3739975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6" name="Shape 167"/>
            <p:cNvSpPr txBox="1"/>
            <p:nvPr/>
          </p:nvSpPr>
          <p:spPr>
            <a:xfrm>
              <a:off x="74901" y="1229731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547" name="Shape 168"/>
            <p:cNvSpPr txBox="1"/>
            <p:nvPr/>
          </p:nvSpPr>
          <p:spPr>
            <a:xfrm>
              <a:off x="1167914" y="1229731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548" name="Shape 169"/>
            <p:cNvSpPr txBox="1"/>
            <p:nvPr/>
          </p:nvSpPr>
          <p:spPr>
            <a:xfrm>
              <a:off x="2232474" y="1170122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49" name="Shape 170"/>
            <p:cNvSpPr txBox="1"/>
            <p:nvPr/>
          </p:nvSpPr>
          <p:spPr>
            <a:xfrm>
              <a:off x="760608" y="2479334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50" name="Shape 171"/>
            <p:cNvSpPr txBox="1"/>
            <p:nvPr/>
          </p:nvSpPr>
          <p:spPr>
            <a:xfrm>
              <a:off x="1784059" y="2479334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551" name="Shape 172"/>
            <p:cNvSpPr txBox="1"/>
            <p:nvPr/>
          </p:nvSpPr>
          <p:spPr>
            <a:xfrm>
              <a:off x="1749045" y="3748806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lnSpc>
                  <a:spcPct val="100000"/>
                </a:lnSpc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552" name="Shape 173"/>
            <p:cNvSpPr/>
            <p:nvPr/>
          </p:nvSpPr>
          <p:spPr>
            <a:xfrm>
              <a:off x="1418998" y="744021"/>
              <a:ext cx="2260" cy="49895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3" name="Shape 174"/>
            <p:cNvSpPr/>
            <p:nvPr/>
          </p:nvSpPr>
          <p:spPr>
            <a:xfrm flipH="1">
              <a:off x="1001170" y="1825831"/>
              <a:ext cx="16753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4" name="Shape 175"/>
            <p:cNvSpPr/>
            <p:nvPr/>
          </p:nvSpPr>
          <p:spPr>
            <a:xfrm>
              <a:off x="1667272" y="1825831"/>
              <a:ext cx="335071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5" name="Shape 176"/>
            <p:cNvSpPr/>
            <p:nvPr/>
          </p:nvSpPr>
          <p:spPr>
            <a:xfrm>
              <a:off x="2002341" y="3157122"/>
              <a:ext cx="2260" cy="58285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57" name="Shape 178"/>
          <p:cNvSpPr/>
          <p:nvPr/>
        </p:nvSpPr>
        <p:spPr>
          <a:xfrm flipH="1">
            <a:off x="5692730" y="1168040"/>
            <a:ext cx="1" cy="5419623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58" name="Shape 179"/>
          <p:cNvSpPr txBox="1"/>
          <p:nvPr/>
        </p:nvSpPr>
        <p:spPr>
          <a:xfrm>
            <a:off x="10458898" y="5015293"/>
            <a:ext cx="2044702" cy="119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defRPr b="1" sz="3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t>root = 0</a:t>
            </a:r>
          </a:p>
          <a:p>
            <a:pPr marR="57798" defTabSz="1295400">
              <a:lnSpc>
                <a:spcPct val="100000"/>
              </a:lnSpc>
              <a:defRPr b="1" sz="3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t>n = 7</a:t>
            </a:r>
          </a:p>
        </p:txBody>
      </p:sp>
      <p:sp>
        <p:nvSpPr>
          <p:cNvPr id="559" name="Shape 180"/>
          <p:cNvSpPr txBox="1"/>
          <p:nvPr/>
        </p:nvSpPr>
        <p:spPr>
          <a:xfrm>
            <a:off x="6361033" y="1716679"/>
            <a:ext cx="1295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8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lvl1pPr>
          </a:lstStyle>
          <a:p>
            <a:pPr/>
            <a:r>
              <a:t> data</a:t>
            </a:r>
          </a:p>
        </p:txBody>
      </p:sp>
      <p:grpSp>
        <p:nvGrpSpPr>
          <p:cNvPr id="568" name="Group 189"/>
          <p:cNvGrpSpPr/>
          <p:nvPr/>
        </p:nvGrpSpPr>
        <p:grpSpPr>
          <a:xfrm>
            <a:off x="6566489" y="2308217"/>
            <a:ext cx="2253266" cy="3935310"/>
            <a:chOff x="0" y="0"/>
            <a:chExt cx="2253264" cy="3935308"/>
          </a:xfrm>
        </p:grpSpPr>
        <p:sp>
          <p:nvSpPr>
            <p:cNvPr id="560" name="Shape 181"/>
            <p:cNvSpPr/>
            <p:nvPr/>
          </p:nvSpPr>
          <p:spPr>
            <a:xfrm>
              <a:off x="0" y="-1"/>
              <a:ext cx="2253265" cy="393531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1" name="Shape 182"/>
            <p:cNvSpPr/>
            <p:nvPr/>
          </p:nvSpPr>
          <p:spPr>
            <a:xfrm>
              <a:off x="0" y="507602"/>
              <a:ext cx="2253265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2" name="Shape 183"/>
            <p:cNvSpPr/>
            <p:nvPr/>
          </p:nvSpPr>
          <p:spPr>
            <a:xfrm>
              <a:off x="0" y="1079809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3" name="Shape 184"/>
            <p:cNvSpPr/>
            <p:nvPr/>
          </p:nvSpPr>
          <p:spPr>
            <a:xfrm>
              <a:off x="0" y="1650170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4" name="Shape 185"/>
            <p:cNvSpPr/>
            <p:nvPr/>
          </p:nvSpPr>
          <p:spPr>
            <a:xfrm>
              <a:off x="0" y="2222377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5" name="Shape 186"/>
            <p:cNvSpPr/>
            <p:nvPr/>
          </p:nvSpPr>
          <p:spPr>
            <a:xfrm>
              <a:off x="0" y="2795975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6" name="Shape 187"/>
            <p:cNvSpPr/>
            <p:nvPr/>
          </p:nvSpPr>
          <p:spPr>
            <a:xfrm>
              <a:off x="0" y="3364946"/>
              <a:ext cx="2253265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7" name="Shape 188"/>
            <p:cNvSpPr/>
            <p:nvPr/>
          </p:nvSpPr>
          <p:spPr>
            <a:xfrm>
              <a:off x="945476" y="-1"/>
              <a:ext cx="2261" cy="393531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71" name="Group 192"/>
          <p:cNvGrpSpPr/>
          <p:nvPr/>
        </p:nvGrpSpPr>
        <p:grpSpPr>
          <a:xfrm>
            <a:off x="8126614" y="4685093"/>
            <a:ext cx="158047" cy="300288"/>
            <a:chOff x="0" y="0"/>
            <a:chExt cx="158046" cy="300287"/>
          </a:xfrm>
        </p:grpSpPr>
        <p:sp>
          <p:nvSpPr>
            <p:cNvPr id="569" name="Shape 190"/>
            <p:cNvSpPr/>
            <p:nvPr/>
          </p:nvSpPr>
          <p:spPr>
            <a:xfrm flipH="1">
              <a:off x="0" y="0"/>
              <a:ext cx="79024" cy="300288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0" name="Shape 191"/>
            <p:cNvSpPr/>
            <p:nvPr/>
          </p:nvSpPr>
          <p:spPr>
            <a:xfrm>
              <a:off x="79023" y="-1"/>
              <a:ext cx="79024" cy="300289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74" name="Group 195"/>
          <p:cNvGrpSpPr/>
          <p:nvPr/>
        </p:nvGrpSpPr>
        <p:grpSpPr>
          <a:xfrm>
            <a:off x="8082023" y="5814547"/>
            <a:ext cx="161997" cy="300287"/>
            <a:chOff x="0" y="0"/>
            <a:chExt cx="161996" cy="300286"/>
          </a:xfrm>
        </p:grpSpPr>
        <p:sp>
          <p:nvSpPr>
            <p:cNvPr id="572" name="Shape 193"/>
            <p:cNvSpPr/>
            <p:nvPr/>
          </p:nvSpPr>
          <p:spPr>
            <a:xfrm flipH="1">
              <a:off x="0" y="-1"/>
              <a:ext cx="79024" cy="300288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3" name="Shape 194"/>
            <p:cNvSpPr/>
            <p:nvPr/>
          </p:nvSpPr>
          <p:spPr>
            <a:xfrm>
              <a:off x="82974" y="-1"/>
              <a:ext cx="79024" cy="300288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77" name="Group 198"/>
          <p:cNvGrpSpPr/>
          <p:nvPr/>
        </p:nvGrpSpPr>
        <p:grpSpPr>
          <a:xfrm>
            <a:off x="8107422" y="2967489"/>
            <a:ext cx="154661" cy="302545"/>
            <a:chOff x="0" y="0"/>
            <a:chExt cx="154659" cy="302543"/>
          </a:xfrm>
        </p:grpSpPr>
        <p:sp>
          <p:nvSpPr>
            <p:cNvPr id="575" name="Shape 196"/>
            <p:cNvSpPr/>
            <p:nvPr/>
          </p:nvSpPr>
          <p:spPr>
            <a:xfrm flipH="1">
              <a:off x="0" y="0"/>
              <a:ext cx="79025" cy="302544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6" name="Shape 197"/>
            <p:cNvSpPr/>
            <p:nvPr/>
          </p:nvSpPr>
          <p:spPr>
            <a:xfrm>
              <a:off x="75635" y="0"/>
              <a:ext cx="79025" cy="302544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80" name="Group 201"/>
          <p:cNvGrpSpPr/>
          <p:nvPr/>
        </p:nvGrpSpPr>
        <p:grpSpPr>
          <a:xfrm>
            <a:off x="8106295" y="4134759"/>
            <a:ext cx="158046" cy="302547"/>
            <a:chOff x="0" y="0"/>
            <a:chExt cx="158044" cy="302545"/>
          </a:xfrm>
        </p:grpSpPr>
        <p:sp>
          <p:nvSpPr>
            <p:cNvPr id="578" name="Shape 199"/>
            <p:cNvSpPr/>
            <p:nvPr/>
          </p:nvSpPr>
          <p:spPr>
            <a:xfrm flipH="1">
              <a:off x="0" y="-1"/>
              <a:ext cx="79024" cy="302546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9" name="Shape 200"/>
            <p:cNvSpPr/>
            <p:nvPr/>
          </p:nvSpPr>
          <p:spPr>
            <a:xfrm>
              <a:off x="79022" y="-1"/>
              <a:ext cx="79024" cy="302546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81" name="Shape 202"/>
          <p:cNvSpPr txBox="1"/>
          <p:nvPr/>
        </p:nvSpPr>
        <p:spPr>
          <a:xfrm>
            <a:off x="8894822" y="2186297"/>
            <a:ext cx="282640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 1       2       3</a:t>
            </a:r>
          </a:p>
        </p:txBody>
      </p:sp>
      <p:sp>
        <p:nvSpPr>
          <p:cNvPr id="582" name="Shape 203"/>
          <p:cNvSpPr/>
          <p:nvPr/>
        </p:nvSpPr>
        <p:spPr>
          <a:xfrm>
            <a:off x="9047222" y="2246692"/>
            <a:ext cx="774702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3" name="Shape 204"/>
          <p:cNvSpPr/>
          <p:nvPr/>
        </p:nvSpPr>
        <p:spPr>
          <a:xfrm>
            <a:off x="9528695" y="2246692"/>
            <a:ext cx="2259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4" name="Shape 205"/>
          <p:cNvSpPr/>
          <p:nvPr/>
        </p:nvSpPr>
        <p:spPr>
          <a:xfrm>
            <a:off x="8101778" y="2549799"/>
            <a:ext cx="961814" cy="2261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5" name="Shape 206"/>
          <p:cNvSpPr/>
          <p:nvPr/>
        </p:nvSpPr>
        <p:spPr>
          <a:xfrm>
            <a:off x="10208286" y="2246692"/>
            <a:ext cx="774419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6" name="Shape 207"/>
          <p:cNvSpPr/>
          <p:nvPr/>
        </p:nvSpPr>
        <p:spPr>
          <a:xfrm>
            <a:off x="10691449" y="2246692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7" name="Shape 208"/>
          <p:cNvSpPr/>
          <p:nvPr/>
        </p:nvSpPr>
        <p:spPr>
          <a:xfrm>
            <a:off x="9625778" y="2549800"/>
            <a:ext cx="582510" cy="2260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8" name="Shape 209"/>
          <p:cNvSpPr/>
          <p:nvPr/>
        </p:nvSpPr>
        <p:spPr>
          <a:xfrm>
            <a:off x="11371040" y="2246692"/>
            <a:ext cx="774702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89" name="Shape 210"/>
          <p:cNvSpPr/>
          <p:nvPr/>
        </p:nvSpPr>
        <p:spPr>
          <a:xfrm>
            <a:off x="11856462" y="2246692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90" name="Shape 211"/>
          <p:cNvSpPr/>
          <p:nvPr/>
        </p:nvSpPr>
        <p:spPr>
          <a:xfrm>
            <a:off x="10788535" y="2549800"/>
            <a:ext cx="582508" cy="2260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93" name="Group 214"/>
          <p:cNvGrpSpPr/>
          <p:nvPr/>
        </p:nvGrpSpPr>
        <p:grpSpPr>
          <a:xfrm>
            <a:off x="11924196" y="2351115"/>
            <a:ext cx="158047" cy="300287"/>
            <a:chOff x="0" y="0"/>
            <a:chExt cx="158045" cy="300286"/>
          </a:xfrm>
        </p:grpSpPr>
        <p:sp>
          <p:nvSpPr>
            <p:cNvPr id="591" name="Shape 212"/>
            <p:cNvSpPr/>
            <p:nvPr/>
          </p:nvSpPr>
          <p:spPr>
            <a:xfrm flipH="1">
              <a:off x="0" y="-1"/>
              <a:ext cx="79024" cy="300287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2" name="Shape 213"/>
            <p:cNvSpPr/>
            <p:nvPr/>
          </p:nvSpPr>
          <p:spPr>
            <a:xfrm>
              <a:off x="79022" y="-1"/>
              <a:ext cx="79024" cy="300287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94" name="Shape 215"/>
          <p:cNvSpPr txBox="1"/>
          <p:nvPr/>
        </p:nvSpPr>
        <p:spPr>
          <a:xfrm>
            <a:off x="7336391" y="1696360"/>
            <a:ext cx="227330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8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firstchild</a:t>
            </a:r>
          </a:p>
        </p:txBody>
      </p:sp>
      <p:sp>
        <p:nvSpPr>
          <p:cNvPr id="595" name="Shape 216"/>
          <p:cNvSpPr txBox="1"/>
          <p:nvPr/>
        </p:nvSpPr>
        <p:spPr>
          <a:xfrm>
            <a:off x="9100846" y="3287247"/>
            <a:ext cx="2044702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4       5</a:t>
            </a:r>
          </a:p>
        </p:txBody>
      </p:sp>
      <p:sp>
        <p:nvSpPr>
          <p:cNvPr id="596" name="Shape 217"/>
          <p:cNvSpPr/>
          <p:nvPr/>
        </p:nvSpPr>
        <p:spPr>
          <a:xfrm>
            <a:off x="9052304" y="3335506"/>
            <a:ext cx="747326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97" name="Shape 218"/>
          <p:cNvSpPr/>
          <p:nvPr/>
        </p:nvSpPr>
        <p:spPr>
          <a:xfrm>
            <a:off x="9519662" y="3335506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98" name="Shape 219"/>
          <p:cNvSpPr/>
          <p:nvPr/>
        </p:nvSpPr>
        <p:spPr>
          <a:xfrm>
            <a:off x="10174419" y="3335506"/>
            <a:ext cx="747326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99" name="Shape 220"/>
          <p:cNvSpPr/>
          <p:nvPr/>
        </p:nvSpPr>
        <p:spPr>
          <a:xfrm>
            <a:off x="10641778" y="3335506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00" name="Shape 221"/>
          <p:cNvSpPr/>
          <p:nvPr/>
        </p:nvSpPr>
        <p:spPr>
          <a:xfrm>
            <a:off x="9614489" y="3643692"/>
            <a:ext cx="558802" cy="2261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03" name="Group 224"/>
          <p:cNvGrpSpPr/>
          <p:nvPr/>
        </p:nvGrpSpPr>
        <p:grpSpPr>
          <a:xfrm>
            <a:off x="10716286" y="3459684"/>
            <a:ext cx="162561" cy="300288"/>
            <a:chOff x="0" y="0"/>
            <a:chExt cx="162560" cy="300287"/>
          </a:xfrm>
        </p:grpSpPr>
        <p:sp>
          <p:nvSpPr>
            <p:cNvPr id="601" name="Shape 222"/>
            <p:cNvSpPr/>
            <p:nvPr/>
          </p:nvSpPr>
          <p:spPr>
            <a:xfrm flipH="1">
              <a:off x="0" y="-1"/>
              <a:ext cx="79024" cy="300289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2" name="Shape 223"/>
            <p:cNvSpPr/>
            <p:nvPr/>
          </p:nvSpPr>
          <p:spPr>
            <a:xfrm>
              <a:off x="83537" y="0"/>
              <a:ext cx="79024" cy="300287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04" name="Shape 225"/>
          <p:cNvSpPr/>
          <p:nvPr/>
        </p:nvSpPr>
        <p:spPr>
          <a:xfrm>
            <a:off x="8107422" y="3581604"/>
            <a:ext cx="961816" cy="2260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12" name="Group 233"/>
          <p:cNvGrpSpPr/>
          <p:nvPr/>
        </p:nvGrpSpPr>
        <p:grpSpPr>
          <a:xfrm>
            <a:off x="8083716" y="5049160"/>
            <a:ext cx="1740749" cy="639899"/>
            <a:chOff x="0" y="0"/>
            <a:chExt cx="1740748" cy="639898"/>
          </a:xfrm>
        </p:grpSpPr>
        <p:sp>
          <p:nvSpPr>
            <p:cNvPr id="605" name="Shape 226"/>
            <p:cNvSpPr txBox="1"/>
            <p:nvPr/>
          </p:nvSpPr>
          <p:spPr>
            <a:xfrm>
              <a:off x="968587" y="-1"/>
              <a:ext cx="41340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defRPr sz="3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606" name="Shape 227"/>
            <p:cNvSpPr/>
            <p:nvPr/>
          </p:nvSpPr>
          <p:spPr>
            <a:xfrm>
              <a:off x="968587" y="60959"/>
              <a:ext cx="772162" cy="503488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7" name="Shape 228"/>
            <p:cNvSpPr/>
            <p:nvPr/>
          </p:nvSpPr>
          <p:spPr>
            <a:xfrm>
              <a:off x="1451751" y="60959"/>
              <a:ext cx="2260" cy="50348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10" name="Group 231"/>
            <p:cNvGrpSpPr/>
            <p:nvPr/>
          </p:nvGrpSpPr>
          <p:grpSpPr>
            <a:xfrm>
              <a:off x="1535290" y="185137"/>
              <a:ext cx="158046" cy="300288"/>
              <a:chOff x="0" y="0"/>
              <a:chExt cx="158045" cy="300287"/>
            </a:xfrm>
          </p:grpSpPr>
          <p:sp>
            <p:nvSpPr>
              <p:cNvPr id="608" name="Shape 229"/>
              <p:cNvSpPr/>
              <p:nvPr/>
            </p:nvSpPr>
            <p:spPr>
              <a:xfrm flipH="1">
                <a:off x="0" y="-1"/>
                <a:ext cx="79024" cy="300289"/>
              </a:xfrm>
              <a:prstGeom prst="line">
                <a:avLst/>
              </a:prstGeom>
              <a:noFill/>
              <a:ln w="38100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9" name="Shape 230"/>
              <p:cNvSpPr/>
              <p:nvPr/>
            </p:nvSpPr>
            <p:spPr>
              <a:xfrm>
                <a:off x="79022" y="0"/>
                <a:ext cx="79024" cy="300287"/>
              </a:xfrm>
              <a:prstGeom prst="line">
                <a:avLst/>
              </a:prstGeom>
              <a:noFill/>
              <a:ln w="38100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11" name="Shape 232"/>
            <p:cNvSpPr/>
            <p:nvPr/>
          </p:nvSpPr>
          <p:spPr>
            <a:xfrm>
              <a:off x="-1" y="349955"/>
              <a:ext cx="961816" cy="226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13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树的数组＋链式实现</a:t>
            </a:r>
          </a:p>
        </p:txBody>
      </p:sp>
      <p:sp>
        <p:nvSpPr>
          <p:cNvPr id="614" name="Shape 235"/>
          <p:cNvSpPr txBox="1"/>
          <p:nvPr/>
        </p:nvSpPr>
        <p:spPr>
          <a:xfrm>
            <a:off x="6875522" y="23482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615" name="Shape 236"/>
          <p:cNvSpPr txBox="1"/>
          <p:nvPr/>
        </p:nvSpPr>
        <p:spPr>
          <a:xfrm>
            <a:off x="6875522" y="28816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616" name="Shape 237"/>
          <p:cNvSpPr txBox="1"/>
          <p:nvPr/>
        </p:nvSpPr>
        <p:spPr>
          <a:xfrm>
            <a:off x="6875522" y="34658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617" name="Shape 238"/>
          <p:cNvSpPr txBox="1"/>
          <p:nvPr/>
        </p:nvSpPr>
        <p:spPr>
          <a:xfrm>
            <a:off x="6875522" y="40373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618" name="Shape 239"/>
          <p:cNvSpPr txBox="1"/>
          <p:nvPr/>
        </p:nvSpPr>
        <p:spPr>
          <a:xfrm>
            <a:off x="6875522" y="46088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619" name="Shape 240"/>
          <p:cNvSpPr txBox="1"/>
          <p:nvPr/>
        </p:nvSpPr>
        <p:spPr>
          <a:xfrm>
            <a:off x="6875522" y="51676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620" name="Shape 241"/>
          <p:cNvSpPr txBox="1"/>
          <p:nvPr/>
        </p:nvSpPr>
        <p:spPr>
          <a:xfrm>
            <a:off x="6875522" y="57391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621" name="Shape 242"/>
          <p:cNvSpPr txBox="1"/>
          <p:nvPr/>
        </p:nvSpPr>
        <p:spPr>
          <a:xfrm>
            <a:off x="6100824" y="23736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22" name="Shape 243"/>
          <p:cNvSpPr txBox="1"/>
          <p:nvPr/>
        </p:nvSpPr>
        <p:spPr>
          <a:xfrm>
            <a:off x="6100824" y="29070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3" name="Shape 244"/>
          <p:cNvSpPr txBox="1"/>
          <p:nvPr/>
        </p:nvSpPr>
        <p:spPr>
          <a:xfrm>
            <a:off x="6100824" y="34912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24" name="Shape 245"/>
          <p:cNvSpPr txBox="1"/>
          <p:nvPr/>
        </p:nvSpPr>
        <p:spPr>
          <a:xfrm>
            <a:off x="6100824" y="40627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5" name="Shape 246"/>
          <p:cNvSpPr txBox="1"/>
          <p:nvPr/>
        </p:nvSpPr>
        <p:spPr>
          <a:xfrm>
            <a:off x="6100824" y="46342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26" name="Shape 247"/>
          <p:cNvSpPr txBox="1"/>
          <p:nvPr/>
        </p:nvSpPr>
        <p:spPr>
          <a:xfrm>
            <a:off x="6100824" y="51930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27" name="Shape 248"/>
          <p:cNvSpPr txBox="1"/>
          <p:nvPr/>
        </p:nvSpPr>
        <p:spPr>
          <a:xfrm>
            <a:off x="6100824" y="57645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28" name="Shape 249"/>
          <p:cNvSpPr txBox="1"/>
          <p:nvPr/>
        </p:nvSpPr>
        <p:spPr>
          <a:xfrm>
            <a:off x="3044203" y="6761997"/>
            <a:ext cx="7268713" cy="479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/>
            <a:r>
              <a:t>孩子链表：找孩子方便，如何找双亲？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31" name="数组实现：随机存取、受限的关系、连续的空间(？)…"/>
          <p:cNvSpPr txBox="1"/>
          <p:nvPr/>
        </p:nvSpPr>
        <p:spPr>
          <a:xfrm>
            <a:off x="49763" y="1252911"/>
            <a:ext cx="8612068" cy="1262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数组实现：随机存取、受限的关系、连续的空间(？)</a:t>
            </a:r>
          </a:p>
          <a:p>
            <a:pPr>
              <a:defRPr sz="2900"/>
            </a:pPr>
            <a:r>
              <a:t>链式实现：顺序存取、任意的关系、零散的空间</a:t>
            </a:r>
          </a:p>
        </p:txBody>
      </p:sp>
      <p:sp>
        <p:nvSpPr>
          <p:cNvPr id="632" name="描述关系并没有修改数据，而是创建了Node，借助于Node表达数据之间的关系"/>
          <p:cNvSpPr txBox="1"/>
          <p:nvPr/>
        </p:nvSpPr>
        <p:spPr>
          <a:xfrm>
            <a:off x="49763" y="3137891"/>
            <a:ext cx="1281658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描述关系并没有修改数据，而是创建了</a:t>
            </a:r>
            <a:r>
              <a:rPr>
                <a:solidFill>
                  <a:schemeClr val="accent1"/>
                </a:solidFill>
              </a:rPr>
              <a:t>Node，借助于Node表达数据之间的关系</a:t>
            </a:r>
          </a:p>
        </p:txBody>
      </p:sp>
      <p:sp>
        <p:nvSpPr>
          <p:cNvPr id="633" name="关系：线性、层次、multilinked structure(网状？)"/>
          <p:cNvSpPr txBox="1"/>
          <p:nvPr/>
        </p:nvSpPr>
        <p:spPr>
          <a:xfrm>
            <a:off x="49763" y="4249725"/>
            <a:ext cx="7915751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/>
            </a:lvl1pPr>
          </a:lstStyle>
          <a:p>
            <a:pPr/>
            <a:r>
              <a:t>关系：线性、层次、multilinked structure(网状？)</a:t>
            </a:r>
          </a:p>
        </p:txBody>
      </p:sp>
      <p:grpSp>
        <p:nvGrpSpPr>
          <p:cNvPr id="643" name="成组"/>
          <p:cNvGrpSpPr/>
          <p:nvPr/>
        </p:nvGrpSpPr>
        <p:grpSpPr>
          <a:xfrm>
            <a:off x="4808792" y="5248129"/>
            <a:ext cx="1793475" cy="2005306"/>
            <a:chOff x="0" y="0"/>
            <a:chExt cx="1793474" cy="2005304"/>
          </a:xfrm>
        </p:grpSpPr>
        <p:sp>
          <p:nvSpPr>
            <p:cNvPr id="634" name="Shape 141"/>
            <p:cNvSpPr/>
            <p:nvPr/>
          </p:nvSpPr>
          <p:spPr>
            <a:xfrm>
              <a:off x="506606" y="512431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5" name="Shape 142"/>
            <p:cNvSpPr/>
            <p:nvPr/>
          </p:nvSpPr>
          <p:spPr>
            <a:xfrm flipH="1">
              <a:off x="-1" y="1217599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6" name="Shape 143"/>
            <p:cNvSpPr/>
            <p:nvPr/>
          </p:nvSpPr>
          <p:spPr>
            <a:xfrm flipH="1">
              <a:off x="373299" y="1246103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7" name="Shape 144"/>
            <p:cNvSpPr/>
            <p:nvPr/>
          </p:nvSpPr>
          <p:spPr>
            <a:xfrm>
              <a:off x="1121765" y="1217599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8" name="Shape 145"/>
            <p:cNvSpPr/>
            <p:nvPr/>
          </p:nvSpPr>
          <p:spPr>
            <a:xfrm>
              <a:off x="970439" y="1248651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9" name="Shape 143"/>
            <p:cNvSpPr/>
            <p:nvPr/>
          </p:nvSpPr>
          <p:spPr>
            <a:xfrm>
              <a:off x="38174" y="43359"/>
              <a:ext cx="613320" cy="61332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0" name="Shape 143"/>
            <p:cNvSpPr/>
            <p:nvPr/>
          </p:nvSpPr>
          <p:spPr>
            <a:xfrm flipH="1">
              <a:off x="1157412" y="43359"/>
              <a:ext cx="582455" cy="58245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1" name="..."/>
            <p:cNvSpPr txBox="1"/>
            <p:nvPr/>
          </p:nvSpPr>
          <p:spPr>
            <a:xfrm>
              <a:off x="612645" y="0"/>
              <a:ext cx="45785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...</a:t>
              </a:r>
            </a:p>
          </p:txBody>
        </p:sp>
        <p:sp>
          <p:nvSpPr>
            <p:cNvPr id="642" name="..."/>
            <p:cNvSpPr txBox="1"/>
            <p:nvPr/>
          </p:nvSpPr>
          <p:spPr>
            <a:xfrm>
              <a:off x="612645" y="1363787"/>
              <a:ext cx="45785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...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grpSp>
        <p:nvGrpSpPr>
          <p:cNvPr id="659" name="成组"/>
          <p:cNvGrpSpPr/>
          <p:nvPr/>
        </p:nvGrpSpPr>
        <p:grpSpPr>
          <a:xfrm>
            <a:off x="1191685" y="1486465"/>
            <a:ext cx="3402105" cy="2615490"/>
            <a:chOff x="0" y="0"/>
            <a:chExt cx="3402104" cy="2615488"/>
          </a:xfrm>
        </p:grpSpPr>
        <p:sp>
          <p:nvSpPr>
            <p:cNvPr id="646" name="d4"/>
            <p:cNvSpPr/>
            <p:nvPr/>
          </p:nvSpPr>
          <p:spPr>
            <a:xfrm>
              <a:off x="0" y="1965811"/>
              <a:ext cx="651670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d4</a:t>
              </a:r>
            </a:p>
          </p:txBody>
        </p:sp>
        <p:sp>
          <p:nvSpPr>
            <p:cNvPr id="647" name="d1"/>
            <p:cNvSpPr/>
            <p:nvPr/>
          </p:nvSpPr>
          <p:spPr>
            <a:xfrm>
              <a:off x="0" y="0"/>
              <a:ext cx="651670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d1</a:t>
              </a:r>
            </a:p>
          </p:txBody>
        </p:sp>
        <p:sp>
          <p:nvSpPr>
            <p:cNvPr id="648" name="d5"/>
            <p:cNvSpPr/>
            <p:nvPr/>
          </p:nvSpPr>
          <p:spPr>
            <a:xfrm>
              <a:off x="1386880" y="1132214"/>
              <a:ext cx="651671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d5</a:t>
              </a:r>
            </a:p>
          </p:txBody>
        </p:sp>
        <p:sp>
          <p:nvSpPr>
            <p:cNvPr id="649" name="d3"/>
            <p:cNvSpPr/>
            <p:nvPr/>
          </p:nvSpPr>
          <p:spPr>
            <a:xfrm>
              <a:off x="2750434" y="1965811"/>
              <a:ext cx="651671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d3</a:t>
              </a:r>
            </a:p>
          </p:txBody>
        </p:sp>
        <p:sp>
          <p:nvSpPr>
            <p:cNvPr id="650" name="d2"/>
            <p:cNvSpPr/>
            <p:nvPr/>
          </p:nvSpPr>
          <p:spPr>
            <a:xfrm>
              <a:off x="2750434" y="0"/>
              <a:ext cx="651671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d2</a:t>
              </a:r>
            </a:p>
          </p:txBody>
        </p:sp>
        <p:sp>
          <p:nvSpPr>
            <p:cNvPr id="651" name="线条"/>
            <p:cNvSpPr/>
            <p:nvPr/>
          </p:nvSpPr>
          <p:spPr>
            <a:xfrm>
              <a:off x="660569" y="310108"/>
              <a:ext cx="208096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2" name="线条"/>
            <p:cNvSpPr/>
            <p:nvPr/>
          </p:nvSpPr>
          <p:spPr>
            <a:xfrm flipH="1">
              <a:off x="329053" y="648293"/>
              <a:ext cx="1" cy="13439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3" name="线条"/>
            <p:cNvSpPr/>
            <p:nvPr/>
          </p:nvSpPr>
          <p:spPr>
            <a:xfrm flipH="1">
              <a:off x="3076269" y="670802"/>
              <a:ext cx="1" cy="13439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4" name="线条"/>
            <p:cNvSpPr/>
            <p:nvPr/>
          </p:nvSpPr>
          <p:spPr>
            <a:xfrm>
              <a:off x="576112" y="504706"/>
              <a:ext cx="865654" cy="77943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5" name="线条"/>
            <p:cNvSpPr/>
            <p:nvPr/>
          </p:nvSpPr>
          <p:spPr>
            <a:xfrm flipH="1">
              <a:off x="1976567" y="517406"/>
              <a:ext cx="865654" cy="77943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6" name="线条"/>
            <p:cNvSpPr/>
            <p:nvPr/>
          </p:nvSpPr>
          <p:spPr>
            <a:xfrm flipH="1">
              <a:off x="608467" y="1530489"/>
              <a:ext cx="785384" cy="66452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7" name="线条"/>
            <p:cNvSpPr/>
            <p:nvPr/>
          </p:nvSpPr>
          <p:spPr>
            <a:xfrm>
              <a:off x="2023103" y="1532570"/>
              <a:ext cx="737873" cy="6354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8" name="线条"/>
            <p:cNvSpPr/>
            <p:nvPr/>
          </p:nvSpPr>
          <p:spPr>
            <a:xfrm flipV="1">
              <a:off x="2046031" y="601220"/>
              <a:ext cx="879125" cy="76421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60" name="d4"/>
          <p:cNvSpPr/>
          <p:nvPr/>
        </p:nvSpPr>
        <p:spPr>
          <a:xfrm>
            <a:off x="6406730" y="3452277"/>
            <a:ext cx="651670" cy="6496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d4</a:t>
            </a:r>
          </a:p>
        </p:txBody>
      </p:sp>
      <p:sp>
        <p:nvSpPr>
          <p:cNvPr id="661" name="d1"/>
          <p:cNvSpPr/>
          <p:nvPr/>
        </p:nvSpPr>
        <p:spPr>
          <a:xfrm>
            <a:off x="6406730" y="1486465"/>
            <a:ext cx="651670" cy="6496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d1</a:t>
            </a:r>
          </a:p>
        </p:txBody>
      </p:sp>
      <p:sp>
        <p:nvSpPr>
          <p:cNvPr id="662" name="d5"/>
          <p:cNvSpPr/>
          <p:nvPr/>
        </p:nvSpPr>
        <p:spPr>
          <a:xfrm>
            <a:off x="7793611" y="2618679"/>
            <a:ext cx="651670" cy="6496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d5</a:t>
            </a:r>
          </a:p>
        </p:txBody>
      </p:sp>
      <p:sp>
        <p:nvSpPr>
          <p:cNvPr id="663" name="d3"/>
          <p:cNvSpPr/>
          <p:nvPr/>
        </p:nvSpPr>
        <p:spPr>
          <a:xfrm>
            <a:off x="9157165" y="3452277"/>
            <a:ext cx="651670" cy="6496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d3</a:t>
            </a:r>
          </a:p>
        </p:txBody>
      </p:sp>
      <p:sp>
        <p:nvSpPr>
          <p:cNvPr id="664" name="d2"/>
          <p:cNvSpPr/>
          <p:nvPr/>
        </p:nvSpPr>
        <p:spPr>
          <a:xfrm>
            <a:off x="9157165" y="1486465"/>
            <a:ext cx="651670" cy="649678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d2</a:t>
            </a:r>
          </a:p>
        </p:txBody>
      </p:sp>
      <p:sp>
        <p:nvSpPr>
          <p:cNvPr id="665" name="线条"/>
          <p:cNvSpPr/>
          <p:nvPr/>
        </p:nvSpPr>
        <p:spPr>
          <a:xfrm>
            <a:off x="7067299" y="1796573"/>
            <a:ext cx="2080966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6" name="线条"/>
          <p:cNvSpPr/>
          <p:nvPr/>
        </p:nvSpPr>
        <p:spPr>
          <a:xfrm>
            <a:off x="6735783" y="2134758"/>
            <a:ext cx="1" cy="13439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7" name="线条"/>
          <p:cNvSpPr/>
          <p:nvPr/>
        </p:nvSpPr>
        <p:spPr>
          <a:xfrm>
            <a:off x="9482999" y="2157267"/>
            <a:ext cx="1" cy="13439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8" name="线条"/>
          <p:cNvSpPr/>
          <p:nvPr/>
        </p:nvSpPr>
        <p:spPr>
          <a:xfrm>
            <a:off x="6982843" y="1991171"/>
            <a:ext cx="865654" cy="77943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9" name="线条"/>
          <p:cNvSpPr/>
          <p:nvPr/>
        </p:nvSpPr>
        <p:spPr>
          <a:xfrm flipH="1">
            <a:off x="8383297" y="2003872"/>
            <a:ext cx="865654" cy="779438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70" name="线条"/>
          <p:cNvSpPr/>
          <p:nvPr/>
        </p:nvSpPr>
        <p:spPr>
          <a:xfrm flipH="1">
            <a:off x="7015198" y="3016955"/>
            <a:ext cx="785384" cy="66452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71" name="线条"/>
          <p:cNvSpPr/>
          <p:nvPr/>
        </p:nvSpPr>
        <p:spPr>
          <a:xfrm>
            <a:off x="8429834" y="3019035"/>
            <a:ext cx="737872" cy="635446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72" name="线条"/>
          <p:cNvSpPr/>
          <p:nvPr/>
        </p:nvSpPr>
        <p:spPr>
          <a:xfrm flipV="1">
            <a:off x="8452761" y="2087685"/>
            <a:ext cx="879126" cy="76421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73" name="classmate"/>
          <p:cNvSpPr txBox="1"/>
          <p:nvPr/>
        </p:nvSpPr>
        <p:spPr>
          <a:xfrm>
            <a:off x="5758801" y="2602754"/>
            <a:ext cx="115945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classmate</a:t>
            </a:r>
          </a:p>
        </p:txBody>
      </p:sp>
      <p:sp>
        <p:nvSpPr>
          <p:cNvPr id="674" name="classmate"/>
          <p:cNvSpPr txBox="1"/>
          <p:nvPr/>
        </p:nvSpPr>
        <p:spPr>
          <a:xfrm>
            <a:off x="7439808" y="1423823"/>
            <a:ext cx="1159451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classmate</a:t>
            </a:r>
          </a:p>
        </p:txBody>
      </p:sp>
      <p:sp>
        <p:nvSpPr>
          <p:cNvPr id="675" name="classmate"/>
          <p:cNvSpPr txBox="1"/>
          <p:nvPr/>
        </p:nvSpPr>
        <p:spPr>
          <a:xfrm>
            <a:off x="6838295" y="2196095"/>
            <a:ext cx="115945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classmate</a:t>
            </a:r>
          </a:p>
        </p:txBody>
      </p:sp>
      <p:sp>
        <p:nvSpPr>
          <p:cNvPr id="676" name="roommate"/>
          <p:cNvSpPr txBox="1"/>
          <p:nvPr/>
        </p:nvSpPr>
        <p:spPr>
          <a:xfrm>
            <a:off x="6876395" y="3123196"/>
            <a:ext cx="1201866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roommate</a:t>
            </a:r>
          </a:p>
        </p:txBody>
      </p:sp>
      <p:sp>
        <p:nvSpPr>
          <p:cNvPr id="677" name="roommate"/>
          <p:cNvSpPr txBox="1"/>
          <p:nvPr/>
        </p:nvSpPr>
        <p:spPr>
          <a:xfrm>
            <a:off x="8212717" y="3152912"/>
            <a:ext cx="1201866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roommate</a:t>
            </a:r>
          </a:p>
        </p:txBody>
      </p:sp>
      <p:sp>
        <p:nvSpPr>
          <p:cNvPr id="678" name="roommate"/>
          <p:cNvSpPr txBox="1"/>
          <p:nvPr/>
        </p:nvSpPr>
        <p:spPr>
          <a:xfrm>
            <a:off x="9493725" y="2831354"/>
            <a:ext cx="1201866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roommate</a:t>
            </a:r>
          </a:p>
        </p:txBody>
      </p:sp>
      <p:sp>
        <p:nvSpPr>
          <p:cNvPr id="679" name="roommate"/>
          <p:cNvSpPr txBox="1"/>
          <p:nvPr/>
        </p:nvSpPr>
        <p:spPr>
          <a:xfrm>
            <a:off x="8437324" y="2488454"/>
            <a:ext cx="1201867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roommate</a:t>
            </a:r>
          </a:p>
        </p:txBody>
      </p:sp>
      <p:sp>
        <p:nvSpPr>
          <p:cNvPr id="680" name="classmate"/>
          <p:cNvSpPr txBox="1"/>
          <p:nvPr/>
        </p:nvSpPr>
        <p:spPr>
          <a:xfrm>
            <a:off x="7909708" y="1931823"/>
            <a:ext cx="1159451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classmate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83" name="public class MultiLinkStructure&lt;T&gt; implements Iterable&lt;T&gt; {…"/>
          <p:cNvSpPr txBox="1"/>
          <p:nvPr/>
        </p:nvSpPr>
        <p:spPr>
          <a:xfrm>
            <a:off x="1187449" y="1386697"/>
            <a:ext cx="8395743" cy="5209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MultiLinkStructure&lt;T&gt;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Iterable&lt;T&gt;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Map&lt;T, Node&lt;T&gt;&gt;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HashMap&lt;&gt;();</a:t>
            </a:r>
            <a:r>
              <a:rPr>
                <a:solidFill>
                  <a:srgbClr val="4E9072"/>
                </a:solidFill>
              </a:rPr>
              <a:t>// 数据绑定到了哪个node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List&lt;Node&lt;T&gt;&gt; </a:t>
            </a:r>
            <a:r>
              <a:rPr>
                <a:solidFill>
                  <a:srgbClr val="0326CC"/>
                </a:solidFill>
              </a:rPr>
              <a:t>to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与哪些其它的数据有联系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Node(T 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to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LinkedList&lt;&gt;();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data2node</a:t>
            </a:r>
            <a:r>
              <a:rPr>
                <a:solidFill>
                  <a:srgbClr val="000000"/>
                </a:solidFill>
              </a:rPr>
              <a:t>.put(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86" name="public void remove(T data) {…"/>
          <p:cNvSpPr txBox="1"/>
          <p:nvPr/>
        </p:nvSpPr>
        <p:spPr>
          <a:xfrm>
            <a:off x="1187449" y="1058642"/>
            <a:ext cx="5540401" cy="6119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remove(T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data2node</a:t>
            </a:r>
            <a:r>
              <a:rPr>
                <a:solidFill>
                  <a:srgbClr val="000000"/>
                </a:solidFill>
              </a:rPr>
              <a:t>.remove(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: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.values())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n2</a:t>
            </a:r>
            <a:r>
              <a:t>.</a:t>
            </a:r>
            <a:r>
              <a:rPr>
                <a:solidFill>
                  <a:srgbClr val="0326CC"/>
                </a:solidFill>
              </a:rPr>
              <a:t>to</a:t>
            </a:r>
            <a:r>
              <a:t>.remove(</a:t>
            </a:r>
            <a:r>
              <a:rPr>
                <a:solidFill>
                  <a:srgbClr val="7E504F"/>
                </a:solidFill>
              </a:rPr>
              <a:t>n1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addRelation(T 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d2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||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to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n2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removeRelation(T 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d2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||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to</a:t>
            </a:r>
            <a:r>
              <a:t>.remove(</a:t>
            </a:r>
            <a:r>
              <a:rPr>
                <a:solidFill>
                  <a:srgbClr val="7E504F"/>
                </a:solidFill>
              </a:rPr>
              <a:t>n2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89" name="public List&lt;T&gt; dataSet(T d) {…"/>
          <p:cNvSpPr txBox="1"/>
          <p:nvPr/>
        </p:nvSpPr>
        <p:spPr>
          <a:xfrm>
            <a:off x="932296" y="1238672"/>
            <a:ext cx="6470267" cy="3464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List&lt;T&gt; dataSet(T </a:t>
            </a:r>
            <a:r>
              <a:rPr>
                <a:solidFill>
                  <a:srgbClr val="7E504F"/>
                </a:solidFill>
              </a:rPr>
              <a:t>d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ArrayList&lt;T&gt;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ArrayList&lt;&gt;(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to</a:t>
            </a:r>
            <a:r>
              <a:t>.size());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: 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to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n2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list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Iterator&lt;T&gt; iterator()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.keySet().iterator();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92" name="public static void main(String[] args) {…"/>
          <p:cNvSpPr txBox="1"/>
          <p:nvPr/>
        </p:nvSpPr>
        <p:spPr>
          <a:xfrm>
            <a:off x="1652727" y="1022772"/>
            <a:ext cx="8497517" cy="8532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MultiLinkStructure&lt;Character&gt;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MultiLinkStructure&lt;&gt;();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d1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'a'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d2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'b'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d3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'c'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d4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'd'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d5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'e'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d1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d2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d3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d4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d5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3933FF"/>
                </a:solidFill>
              </a:rPr>
              <a:t>"data :"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(Character </a:t>
            </a:r>
            <a:r>
              <a:rPr>
                <a:solidFill>
                  <a:srgbClr val="7E504F"/>
                </a:solidFill>
              </a:rPr>
              <a:t>c</a:t>
            </a:r>
            <a:r>
              <a:t> :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c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</a:t>
            </a:r>
            <a:r>
              <a:rPr>
                <a:solidFill>
                  <a:srgbClr val="7E504F"/>
                </a:solidFill>
              </a:rPr>
              <a:t>d2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</a:t>
            </a:r>
            <a:r>
              <a:rPr>
                <a:solidFill>
                  <a:srgbClr val="7E504F"/>
                </a:solidFill>
              </a:rPr>
              <a:t>d3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</a:t>
            </a:r>
            <a:r>
              <a:rPr>
                <a:solidFill>
                  <a:srgbClr val="7E504F"/>
                </a:solidFill>
              </a:rPr>
              <a:t>d5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7E504F"/>
                </a:solidFill>
              </a:rPr>
              <a:t>d2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7E504F"/>
                </a:solidFill>
              </a:rPr>
              <a:t>d3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7E504F"/>
                </a:solidFill>
              </a:rPr>
              <a:t>d4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List&lt;Character&gt;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.dataSet(</a:t>
            </a:r>
            <a:r>
              <a:rPr>
                <a:solidFill>
                  <a:srgbClr val="7E504F"/>
                </a:solidFill>
              </a:rPr>
              <a:t>d5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.remove(</a:t>
            </a:r>
            <a:r>
              <a:t>d1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list</a:t>
            </a:r>
            <a:r>
              <a:rPr>
                <a:solidFill>
                  <a:srgbClr val="000000"/>
                </a:solidFill>
              </a:rPr>
              <a:t> = 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.dataSet(</a:t>
            </a:r>
            <a:r>
              <a:t>d5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95" name="public class MultiLinkLabledStructure&lt;T, E&gt; implements Iterable&lt;T&gt; {…"/>
          <p:cNvSpPr txBox="1"/>
          <p:nvPr/>
        </p:nvSpPr>
        <p:spPr>
          <a:xfrm>
            <a:off x="6035350" y="2165350"/>
            <a:ext cx="7476419" cy="542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MultiLinkLabledStructure&lt;T, E&gt;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Iterable&lt;T&gt;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Map&lt;T, Node&lt;T, E&gt;&gt;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HashMap&lt;&gt;();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Node&lt;T, E&gt;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Map&lt;Node&lt;T, E&gt;, E&gt; </a:t>
            </a:r>
            <a:r>
              <a:rPr>
                <a:solidFill>
                  <a:srgbClr val="0326CC"/>
                </a:solidFill>
              </a:rPr>
              <a:t>map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联系和标签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Node(T 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map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HashMap&lt;&gt;();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Node&lt;&gt;(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data2node</a:t>
            </a:r>
            <a:r>
              <a:rPr>
                <a:solidFill>
                  <a:srgbClr val="000000"/>
                </a:solidFill>
              </a:rPr>
              <a:t>.put(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698" name="public void remove(T data) {…"/>
          <p:cNvSpPr txBox="1"/>
          <p:nvPr/>
        </p:nvSpPr>
        <p:spPr>
          <a:xfrm>
            <a:off x="6035350" y="1817172"/>
            <a:ext cx="5540401" cy="6119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remove(T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data2node</a:t>
            </a:r>
            <a:r>
              <a:rPr>
                <a:solidFill>
                  <a:srgbClr val="000000"/>
                </a:solidFill>
              </a:rPr>
              <a:t>.remove(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(Node&lt;T, E&gt;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: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.values())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n2</a:t>
            </a:r>
            <a:r>
              <a:t>.</a:t>
            </a:r>
            <a:r>
              <a:rPr>
                <a:solidFill>
                  <a:srgbClr val="0326CC"/>
                </a:solidFill>
              </a:rPr>
              <a:t>map</a:t>
            </a:r>
            <a:r>
              <a:t>.remove(</a:t>
            </a:r>
            <a:r>
              <a:rPr>
                <a:solidFill>
                  <a:srgbClr val="7E504F"/>
                </a:solidFill>
              </a:rPr>
              <a:t>n1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addRelation(T 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d2</a:t>
            </a:r>
            <a:r>
              <a:t>, E </a:t>
            </a:r>
            <a:r>
              <a:rPr>
                <a:solidFill>
                  <a:srgbClr val="7E504F"/>
                </a:solidFill>
              </a:rPr>
              <a:t>r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||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map</a:t>
            </a:r>
            <a:r>
              <a:t>.put(</a:t>
            </a:r>
            <a:r>
              <a:rPr>
                <a:solidFill>
                  <a:srgbClr val="7E504F"/>
                </a:solidFill>
              </a:rPr>
              <a:t>n2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removeRelation(T 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d2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||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map</a:t>
            </a:r>
            <a:r>
              <a:t>.remove(</a:t>
            </a:r>
            <a:r>
              <a:rPr>
                <a:solidFill>
                  <a:srgbClr val="7E504F"/>
                </a:solidFill>
              </a:rPr>
              <a:t>n2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701" name="public List&lt;T&gt; dataSet(T d) {…"/>
          <p:cNvSpPr txBox="1"/>
          <p:nvPr/>
        </p:nvSpPr>
        <p:spPr>
          <a:xfrm>
            <a:off x="2253087" y="1384803"/>
            <a:ext cx="6256871" cy="4912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List&lt;T&gt; dataSet(T </a:t>
            </a:r>
            <a:r>
              <a:rPr>
                <a:solidFill>
                  <a:srgbClr val="7E504F"/>
                </a:solidFill>
              </a:rPr>
              <a:t>d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n1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Set&lt;Node&lt;T, E&gt;&gt; </a:t>
            </a:r>
            <a:r>
              <a:rPr>
                <a:solidFill>
                  <a:srgbClr val="7E504F"/>
                </a:solidFill>
              </a:rPr>
              <a:t>set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n1</a:t>
            </a:r>
            <a:r>
              <a:t>.</a:t>
            </a:r>
            <a:r>
              <a:rPr>
                <a:solidFill>
                  <a:srgbClr val="0326CC"/>
                </a:solidFill>
              </a:rPr>
              <a:t>map</a:t>
            </a:r>
            <a:r>
              <a:t>.keySet();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ArrayList&lt;T&gt;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ArrayList&lt;&gt;(</a:t>
            </a:r>
            <a:r>
              <a:rPr>
                <a:solidFill>
                  <a:srgbClr val="7E504F"/>
                </a:solidFill>
              </a:rPr>
              <a:t>set</a:t>
            </a:r>
            <a:r>
              <a:t>.size());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(Node&lt;T, E&gt; </a:t>
            </a:r>
            <a:r>
              <a:rPr>
                <a:solidFill>
                  <a:srgbClr val="7E504F"/>
                </a:solidFill>
              </a:rPr>
              <a:t>n2</a:t>
            </a:r>
            <a:r>
              <a:t> : </a:t>
            </a:r>
            <a:r>
              <a:rPr>
                <a:solidFill>
                  <a:srgbClr val="7E504F"/>
                </a:solidFill>
              </a:rPr>
              <a:t>set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n2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list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Collection&lt;E&gt; labelCollection(T </a:t>
            </a:r>
            <a:r>
              <a:rPr>
                <a:solidFill>
                  <a:srgbClr val="7E504F"/>
                </a:solidFill>
              </a:rPr>
              <a:t>d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Node&lt;T, E&gt;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d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map</a:t>
            </a:r>
            <a:r>
              <a:t>.values();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Iterator&lt;T&gt; iterator()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data2node</a:t>
            </a:r>
            <a:r>
              <a:t>.keySet().iterator();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704" name="public static void main(String[] args) {…"/>
          <p:cNvSpPr txBox="1"/>
          <p:nvPr/>
        </p:nvSpPr>
        <p:spPr>
          <a:xfrm>
            <a:off x="6035350" y="248722"/>
            <a:ext cx="10631464" cy="9256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MultiLinkLabledStructure&lt;Character, String&gt;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MultiLinkLabledStructure&lt;&gt;();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d1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'a'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d2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'b'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d3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'c'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d4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'd'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Character </a:t>
            </a:r>
            <a:r>
              <a:rPr>
                <a:solidFill>
                  <a:srgbClr val="7E504F"/>
                </a:solidFill>
              </a:rPr>
              <a:t>d5</a:t>
            </a:r>
            <a:r>
              <a:t> = Character.</a:t>
            </a:r>
            <a:r>
              <a:t>valueOf</a:t>
            </a:r>
            <a:r>
              <a:t>(</a:t>
            </a:r>
            <a:r>
              <a:rPr>
                <a:solidFill>
                  <a:srgbClr val="3933FF"/>
                </a:solidFill>
              </a:rPr>
              <a:t>'e'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d1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d2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d3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d4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.add(</a:t>
            </a:r>
            <a:r>
              <a:t>d5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3933FF"/>
                </a:solidFill>
              </a:rPr>
              <a:t>"data :"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(Character </a:t>
            </a:r>
            <a:r>
              <a:rPr>
                <a:solidFill>
                  <a:srgbClr val="7E504F"/>
                </a:solidFill>
              </a:rPr>
              <a:t>c</a:t>
            </a:r>
            <a:r>
              <a:t> :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c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</a:t>
            </a:r>
            <a:r>
              <a:rPr>
                <a:solidFill>
                  <a:srgbClr val="7E504F"/>
                </a:solidFill>
              </a:rPr>
              <a:t>d2</a:t>
            </a:r>
            <a:r>
              <a:t>, </a:t>
            </a:r>
            <a:r>
              <a:rPr>
                <a:solidFill>
                  <a:srgbClr val="3933FF"/>
                </a:solidFill>
              </a:rPr>
              <a:t>"classmate"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</a:t>
            </a:r>
            <a:r>
              <a:rPr>
                <a:solidFill>
                  <a:srgbClr val="7E504F"/>
                </a:solidFill>
              </a:rPr>
              <a:t>d4</a:t>
            </a:r>
            <a:r>
              <a:t>, </a:t>
            </a:r>
            <a:r>
              <a:rPr>
                <a:solidFill>
                  <a:srgbClr val="3933FF"/>
                </a:solidFill>
              </a:rPr>
              <a:t>"classmate"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, 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3933FF"/>
                </a:solidFill>
              </a:rPr>
              <a:t>"classmate"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d2</a:t>
            </a:r>
            <a:r>
              <a:t>, </a:t>
            </a:r>
            <a:r>
              <a:rPr>
                <a:solidFill>
                  <a:srgbClr val="7E504F"/>
                </a:solidFill>
              </a:rPr>
              <a:t>d3</a:t>
            </a:r>
            <a:r>
              <a:t>, </a:t>
            </a:r>
            <a:r>
              <a:rPr>
                <a:solidFill>
                  <a:srgbClr val="3933FF"/>
                </a:solidFill>
              </a:rPr>
              <a:t>"roommate"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d2</a:t>
            </a:r>
            <a:r>
              <a:t>, 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3933FF"/>
                </a:solidFill>
              </a:rPr>
              <a:t>"classmate"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7E504F"/>
                </a:solidFill>
              </a:rPr>
              <a:t>d3</a:t>
            </a:r>
            <a:r>
              <a:t>, </a:t>
            </a:r>
            <a:r>
              <a:rPr>
                <a:solidFill>
                  <a:srgbClr val="3933FF"/>
                </a:solidFill>
              </a:rPr>
              <a:t>"roommate"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.addRelation(</a:t>
            </a:r>
            <a:r>
              <a:rPr>
                <a:solidFill>
                  <a:srgbClr val="7E504F"/>
                </a:solidFill>
              </a:rPr>
              <a:t>d5</a:t>
            </a:r>
            <a:r>
              <a:t>, </a:t>
            </a:r>
            <a:r>
              <a:rPr>
                <a:solidFill>
                  <a:srgbClr val="7E504F"/>
                </a:solidFill>
              </a:rPr>
              <a:t>d4</a:t>
            </a:r>
            <a:r>
              <a:t>, </a:t>
            </a:r>
            <a:r>
              <a:rPr>
                <a:solidFill>
                  <a:srgbClr val="3933FF"/>
                </a:solidFill>
              </a:rPr>
              <a:t>"roommate"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List&lt;Character&gt;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.dataSet(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.remove(</a:t>
            </a:r>
            <a:r>
              <a:t>d5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list</a:t>
            </a:r>
            <a:r>
              <a:rPr>
                <a:solidFill>
                  <a:srgbClr val="000000"/>
                </a:solidFill>
              </a:rPr>
              <a:t> = </a:t>
            </a:r>
            <a:r>
              <a:t>structure</a:t>
            </a:r>
            <a:r>
              <a:rPr>
                <a:solidFill>
                  <a:srgbClr val="000000"/>
                </a:solidFill>
              </a:rPr>
              <a:t>.dataSet(</a:t>
            </a:r>
            <a:r>
              <a:t>d1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.size();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Collection&lt;String&gt; </a:t>
            </a:r>
            <a:r>
              <a:rPr>
                <a:solidFill>
                  <a:srgbClr val="7E504F"/>
                </a:solidFill>
              </a:rPr>
              <a:t>coll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structure</a:t>
            </a:r>
            <a:r>
              <a:t>.labelCollection(</a:t>
            </a:r>
            <a:r>
              <a:rPr>
                <a:solidFill>
                  <a:srgbClr val="7E504F"/>
                </a:solidFill>
              </a:rPr>
              <a:t>d1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(String </a:t>
            </a:r>
            <a:r>
              <a:rPr>
                <a:solidFill>
                  <a:srgbClr val="7E504F"/>
                </a:solidFill>
              </a:rPr>
              <a:t>s</a:t>
            </a:r>
            <a:r>
              <a:t> : </a:t>
            </a:r>
            <a:r>
              <a:rPr>
                <a:solidFill>
                  <a:srgbClr val="7E504F"/>
                </a:solidFill>
              </a:rPr>
              <a:t>coll</a:t>
            </a:r>
            <a:r>
              <a:t>)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s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