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CDFE2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2E78C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394F8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4EB3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 b="def" i="def"/>
      <a:tcStyle>
        <a:tcBdr/>
        <a:fill>
          <a:solidFill>
            <a:srgbClr val="E6E9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4CB"/>
          </a:solidFill>
        </a:fill>
      </a:tcStyle>
    </a:wholeTbl>
    <a:band2H>
      <a:tcTxStyle b="def" i="def"/>
      <a:tcStyle>
        <a:tcBdr/>
        <a:fill>
          <a:solidFill>
            <a:srgbClr val="F7F2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BD9"/>
          </a:solidFill>
        </a:fill>
      </a:tcStyle>
    </a:wholeTbl>
    <a:band2H>
      <a:tcTxStyle b="def" i="def"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" name="Shape 4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"/>
          <p:cNvSpPr/>
          <p:nvPr/>
        </p:nvSpPr>
        <p:spPr>
          <a:xfrm>
            <a:off x="682694" y="135184"/>
            <a:ext cx="585049" cy="586177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spcBef>
                <a:spcPts val="18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" name="矩形"/>
          <p:cNvSpPr/>
          <p:nvPr/>
        </p:nvSpPr>
        <p:spPr>
          <a:xfrm>
            <a:off x="1010919" y="135184"/>
            <a:ext cx="467362" cy="586177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spcBef>
                <a:spcPts val="18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9" name="矩形"/>
          <p:cNvSpPr/>
          <p:nvPr/>
        </p:nvSpPr>
        <p:spPr>
          <a:xfrm>
            <a:off x="769901" y="505742"/>
            <a:ext cx="575171" cy="675077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spcBef>
                <a:spcPts val="18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0" name="矩形"/>
          <p:cNvSpPr/>
          <p:nvPr/>
        </p:nvSpPr>
        <p:spPr>
          <a:xfrm>
            <a:off x="1168964" y="505742"/>
            <a:ext cx="523805" cy="675077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spcBef>
                <a:spcPts val="18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1" name="矩形"/>
          <p:cNvSpPr/>
          <p:nvPr/>
        </p:nvSpPr>
        <p:spPr>
          <a:xfrm>
            <a:off x="294922" y="492195"/>
            <a:ext cx="796997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spcBef>
                <a:spcPts val="18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" name="矩形"/>
          <p:cNvSpPr/>
          <p:nvPr/>
        </p:nvSpPr>
        <p:spPr>
          <a:xfrm>
            <a:off x="1094444" y="9031"/>
            <a:ext cx="48839" cy="1226304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spcBef>
                <a:spcPts val="1800"/>
              </a:spcBef>
              <a:defRPr b="1" sz="33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3" name="矩形"/>
          <p:cNvSpPr/>
          <p:nvPr/>
        </p:nvSpPr>
        <p:spPr>
          <a:xfrm>
            <a:off x="629919" y="1025877"/>
            <a:ext cx="11699807" cy="32457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spcBef>
                <a:spcPts val="18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34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3" y="31608"/>
            <a:ext cx="1074705" cy="1002455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6207901" y="9085298"/>
            <a:ext cx="588998" cy="608755"/>
          </a:xfrm>
          <a:prstGeom prst="rect">
            <a:avLst/>
          </a:prstGeom>
        </p:spPr>
        <p:txBody>
          <a:bodyPr lIns="72248" tIns="72248" rIns="72248" bIns="72248"/>
          <a:lstStyle>
            <a:lvl1pPr defTabSz="830862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593795" y="28504"/>
            <a:ext cx="623149" cy="675078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" name="矩形"/>
          <p:cNvSpPr/>
          <p:nvPr/>
        </p:nvSpPr>
        <p:spPr>
          <a:xfrm>
            <a:off x="1143000" y="285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" name="矩形"/>
          <p:cNvSpPr/>
          <p:nvPr/>
        </p:nvSpPr>
        <p:spPr>
          <a:xfrm>
            <a:off x="769902" y="381000"/>
            <a:ext cx="600570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" name="矩形"/>
          <p:cNvSpPr/>
          <p:nvPr/>
        </p:nvSpPr>
        <p:spPr>
          <a:xfrm>
            <a:off x="1295964" y="381000"/>
            <a:ext cx="520702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" name="矩形"/>
          <p:cNvSpPr/>
          <p:nvPr/>
        </p:nvSpPr>
        <p:spPr>
          <a:xfrm>
            <a:off x="190498" y="449015"/>
            <a:ext cx="796998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" name="矩形"/>
          <p:cNvSpPr/>
          <p:nvPr/>
        </p:nvSpPr>
        <p:spPr>
          <a:xfrm>
            <a:off x="1131405" y="26528"/>
            <a:ext cx="46050" cy="1069906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" name="矩形"/>
          <p:cNvSpPr/>
          <p:nvPr/>
        </p:nvSpPr>
        <p:spPr>
          <a:xfrm>
            <a:off x="629919" y="10247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28504"/>
            <a:ext cx="1074705" cy="100245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960574" y="40780"/>
            <a:ext cx="9398002" cy="1003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  <p:transition xmlns:p14="http://schemas.microsoft.com/office/powerpoint/2010/main" spd="med" advClick="1"/>
  <p:txStyles>
    <p:titleStyle>
      <a:lvl1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40" marR="57798" indent="-3429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28708" marR="57798" indent="-33086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50874" marR="57798" indent="-295835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771467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28667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课后练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课后练习</a:t>
            </a:r>
          </a:p>
        </p:txBody>
      </p:sp>
      <p:sp>
        <p:nvSpPr>
          <p:cNvPr id="45" name="// 生成滑动窗口的最大值数组…"/>
          <p:cNvSpPr txBox="1"/>
          <p:nvPr/>
        </p:nvSpPr>
        <p:spPr>
          <a:xfrm>
            <a:off x="741397" y="1228636"/>
            <a:ext cx="11699806" cy="4879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生成滑动窗口的最大值数组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例如，k = 3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4, 3, 5, 4, 3, 3, 6, 7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[4, 3, 5], 4, 3, 3, 6, 7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4, [3, 5, 4], 3, 3, 6, 7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4, 3, [5, 4, 3], 3, 6, 7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4, 3, 5, [4, 3, 3], 6, 7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4, 3, 5, 4, [3, 3, 6], 7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4, 3, 5, 4, 3, [3, 6, 7]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//结果：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5, 5, 5, 4, 6, 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课后练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课后练习</a:t>
            </a:r>
          </a:p>
        </p:txBody>
      </p:sp>
      <p:sp>
        <p:nvSpPr>
          <p:cNvPr id="48" name="public static int[] slideWindowMax(int[] a, int k) {…"/>
          <p:cNvSpPr txBox="1"/>
          <p:nvPr/>
        </p:nvSpPr>
        <p:spPr>
          <a:xfrm>
            <a:off x="629920" y="2196238"/>
            <a:ext cx="11699805" cy="7155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slideWindowMax(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) {</a:t>
            </a:r>
          </a:p>
          <a:p>
            <a:pPr indent="0"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 ||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Deque&lt;Integer&gt; 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</a:t>
            </a:r>
            <a:r>
              <a:rPr>
                <a:solidFill>
                  <a:srgbClr val="7E504F"/>
                </a:solidFill>
              </a:rPr>
              <a:t>k</a:t>
            </a:r>
            <a:r>
              <a:t>);</a:t>
            </a:r>
          </a:p>
          <a:p>
            <a:pPr indent="0">
              <a:defRPr sz="17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保证队头是滑动窗口中的最大值</a:t>
            </a:r>
            <a:endParaRPr>
              <a:solidFill>
                <a:srgbClr val="000000"/>
              </a:solidFill>
            </a:endParaRP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k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.isEmpty() &amp;&amp;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&gt; 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.peekLast()])) {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.pollLast();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.addLast(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);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+ 1];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0;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.peekFirst()];</a:t>
            </a:r>
          </a:p>
          <a:p>
            <a:pPr indent="0"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 {</a:t>
            </a:r>
            <a:endParaRPr>
              <a:solidFill>
                <a:srgbClr val="000000"/>
              </a:solidFill>
            </a:endParaRPr>
          </a:p>
          <a:p>
            <a:pPr indent="0">
              <a:defRPr sz="17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7E504F"/>
                </a:solidFill>
              </a:rPr>
              <a:t>deck</a:t>
            </a:r>
            <a:r>
              <a:rPr>
                <a:solidFill>
                  <a:srgbClr val="000000"/>
                </a:solidFill>
              </a:rPr>
              <a:t>.peekFirst() &gt;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 - 1)</a:t>
            </a:r>
            <a:r>
              <a:t>// 超过了当前滑动窗口的最左边的位置</a:t>
            </a:r>
            <a:endParaRPr>
              <a:solidFill>
                <a:srgbClr val="000000"/>
              </a:solidFill>
            </a:endParaRP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.pollFirst();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.isEmpty() &amp;&amp;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&gt; 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.peekLast()])) {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.pollLast();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.addLast(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);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.peekFirst()];</a:t>
            </a: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49" name="基本数据类型int，使用了比较运算符 &gt; 比较大小"/>
          <p:cNvSpPr txBox="1"/>
          <p:nvPr/>
        </p:nvSpPr>
        <p:spPr>
          <a:xfrm>
            <a:off x="909630" y="1328836"/>
            <a:ext cx="821867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基本数据类型int，使用了比较运算符 &gt; 比较大小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课后练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课后练习</a:t>
            </a:r>
          </a:p>
        </p:txBody>
      </p:sp>
      <p:sp>
        <p:nvSpPr>
          <p:cNvPr id="52" name="// 适用于泛型…"/>
          <p:cNvSpPr txBox="1"/>
          <p:nvPr/>
        </p:nvSpPr>
        <p:spPr>
          <a:xfrm>
            <a:off x="629920" y="2019499"/>
            <a:ext cx="11699805" cy="7508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indent="0">
              <a:defRPr sz="1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// 适用于泛型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&lt;E&gt; E[] slideWindowMax(E[]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) {</a:t>
            </a:r>
          </a:p>
          <a:p>
            <a:pPr indent="0">
              <a:defRPr sz="1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 ||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Deque&lt;Integer&gt; 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</a:t>
            </a:r>
            <a:r>
              <a:rPr>
                <a:solidFill>
                  <a:srgbClr val="7E504F"/>
                </a:solidFill>
              </a:rPr>
              <a:t>k</a:t>
            </a:r>
            <a:r>
              <a:t>);</a:t>
            </a:r>
          </a:p>
          <a:p>
            <a:pPr indent="0">
              <a:defRPr sz="1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保证队头是滑动窗口中的最大值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k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E&gt;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 = (Comparable&lt;?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E&gt;)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.isEmpty() &amp;&amp;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.peekLast()]) &gt; 0) {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.pollLast();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.addLast(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E[]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(E[]) Array.newInstance(</a:t>
            </a:r>
            <a:r>
              <a:rPr>
                <a:solidFill>
                  <a:srgbClr val="7E504F"/>
                </a:solidFill>
              </a:rPr>
              <a:t>a</a:t>
            </a:r>
            <a:r>
              <a:t>.getClass().getComponentType(),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+ 1);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0;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.peekFirst()];</a:t>
            </a:r>
          </a:p>
          <a:p>
            <a:pPr indent="0">
              <a:defRPr sz="1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 {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- 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.peekFirst() &gt; </a:t>
            </a:r>
            <a:r>
              <a:rPr>
                <a:solidFill>
                  <a:srgbClr val="7E504F"/>
                </a:solidFill>
              </a:rPr>
              <a:t>k</a:t>
            </a:r>
            <a:r>
              <a:t> - 1)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.pollFirst();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E&gt;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 = (Comparable&lt;?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E&gt;)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.isEmpty() &amp;&amp;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.peekLast()]) &gt; 0) {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.pollLast();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.addLast(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.peekFirst()];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1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53" name="引用类型使用compareTo比较大小，要求该类型实现了 Compable接口"/>
          <p:cNvSpPr txBox="1"/>
          <p:nvPr/>
        </p:nvSpPr>
        <p:spPr>
          <a:xfrm>
            <a:off x="909630" y="1328836"/>
            <a:ext cx="1154256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引用类型使用compareTo比较大小，要求该类型实现了 Compable接口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课后练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课后练习</a:t>
            </a:r>
          </a:p>
        </p:txBody>
      </p:sp>
      <p:sp>
        <p:nvSpPr>
          <p:cNvPr id="56" name="// 这种写法，去除了重复的代码，但for循环中多了1个if语句(执行时间会多一点)，…"/>
          <p:cNvSpPr txBox="1"/>
          <p:nvPr/>
        </p:nvSpPr>
        <p:spPr>
          <a:xfrm>
            <a:off x="652497" y="1391072"/>
            <a:ext cx="11699806" cy="573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indent="0">
              <a:defRPr sz="1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// 这种写法，去除了重复的代码，但for循环中多了1个if语句(执行时间会多一点)，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&lt;E&gt; E[] slideWindowMax1(E[]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) {</a:t>
            </a:r>
          </a:p>
          <a:p>
            <a:pPr indent="0">
              <a:defRPr sz="1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 ||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 ||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 &lt; 1)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Deque&lt;Integer&gt; 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</a:t>
            </a:r>
            <a:r>
              <a:rPr>
                <a:solidFill>
                  <a:srgbClr val="7E504F"/>
                </a:solidFill>
              </a:rPr>
              <a:t>k</a:t>
            </a:r>
            <a:r>
              <a:t>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E[]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(E[]) Array.newInstance(</a:t>
            </a:r>
            <a:r>
              <a:rPr>
                <a:solidFill>
                  <a:srgbClr val="7E504F"/>
                </a:solidFill>
              </a:rPr>
              <a:t>a</a:t>
            </a:r>
            <a:r>
              <a:t>.getClass().getComponentType(),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+ 1);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0;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E&gt;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 = (Comparable&lt;?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E&gt;)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.isEmpty() &amp;&amp;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.peekLast()]) &gt; 0) {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.pollLast();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.addLast(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);</a:t>
            </a:r>
          </a:p>
          <a:p>
            <a:pPr indent="0">
              <a:defRPr sz="1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7E504F"/>
                </a:solidFill>
              </a:rPr>
              <a:t>deck</a:t>
            </a:r>
            <a:r>
              <a:rPr>
                <a:solidFill>
                  <a:srgbClr val="000000"/>
                </a:solidFill>
              </a:rPr>
              <a:t>.peekFirst() &gt;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 - 1)</a:t>
            </a:r>
            <a:r>
              <a:t>// 次序必须在这里，如果是for的第1句，deck为空则抛异常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.pollFirst();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&gt;= </a:t>
            </a:r>
            <a:r>
              <a:rPr>
                <a:solidFill>
                  <a:srgbClr val="7E504F"/>
                </a:solidFill>
              </a:rPr>
              <a:t>k</a:t>
            </a:r>
            <a:r>
              <a:t> - 1)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[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deck</a:t>
            </a:r>
            <a:r>
              <a:t>.peekFirst()];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1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